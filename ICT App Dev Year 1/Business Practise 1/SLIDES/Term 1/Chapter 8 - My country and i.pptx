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6" r:id="rId3"/>
    <p:sldId id="267" r:id="rId4"/>
    <p:sldId id="268" r:id="rId5"/>
    <p:sldId id="269" r:id="rId6"/>
    <p:sldId id="270" r:id="rId7"/>
    <p:sldId id="257" r:id="rId8"/>
    <p:sldId id="259" r:id="rId9"/>
    <p:sldId id="260" r:id="rId10"/>
    <p:sldId id="261" r:id="rId11"/>
    <p:sldId id="262" r:id="rId12"/>
    <p:sldId id="263" r:id="rId13"/>
    <p:sldId id="264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61" autoAdjust="0"/>
    <p:restoredTop sz="94660"/>
  </p:normalViewPr>
  <p:slideViewPr>
    <p:cSldViewPr snapToGrid="0">
      <p:cViewPr varScale="1">
        <p:scale>
          <a:sx n="74" d="100"/>
          <a:sy n="74" d="100"/>
        </p:scale>
        <p:origin x="58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5/7/2018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5/7/2018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5/7/2018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5/7/2018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5/7/2018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5/7/2018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5/7/2018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5/7/2018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5/7/2018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5/7/2018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5/7/2018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5/7/2018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5/7/2018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5/7/2018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5/7/2018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5/7/2018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5/7/2018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/>
              <a:t>My country, myself and I</a:t>
            </a:r>
            <a:endParaRPr lang="en-ZA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ZA" sz="2800" b="1" dirty="0" smtClean="0"/>
              <a:t>Chapter </a:t>
            </a:r>
            <a:r>
              <a:rPr lang="en-ZA" sz="2800" b="1" dirty="0"/>
              <a:t>8</a:t>
            </a:r>
            <a:endParaRPr lang="en-ZA" sz="2800" b="1" dirty="0"/>
          </a:p>
        </p:txBody>
      </p:sp>
    </p:spTree>
    <p:extLst>
      <p:ext uri="{BB962C8B-B14F-4D97-AF65-F5344CB8AC3E}">
        <p14:creationId xmlns:p14="http://schemas.microsoft.com/office/powerpoint/2010/main" val="338976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ZA" b="1" dirty="0" smtClean="0"/>
              <a:t>What is Entrepreneurship</a:t>
            </a:r>
            <a:endParaRPr lang="en-ZA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 smtClean="0"/>
              <a:t>It’s a process of taking a business idea and turning it into a viable business opportunity.</a:t>
            </a:r>
          </a:p>
          <a:p>
            <a:r>
              <a:rPr lang="en-ZA" dirty="0" smtClean="0"/>
              <a:t>Involves some form of risk</a:t>
            </a:r>
          </a:p>
          <a:p>
            <a:r>
              <a:rPr lang="en-ZA" dirty="0" smtClean="0"/>
              <a:t>Resources include Human, Financial, Material and Informational.</a:t>
            </a:r>
          </a:p>
          <a:p>
            <a:r>
              <a:rPr lang="en-ZA" dirty="0" smtClean="0"/>
              <a:t>Entrepreneurs need to manage these resources effectively in order to make a profit.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5557868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ZA" b="1" dirty="0"/>
              <a:t>MYTHS OF AN ENTREPRENEUR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>
                <a:latin typeface="Times New Roman" panose="02020603050405020304" pitchFamily="18" charset="0"/>
              </a:rPr>
              <a:t>Myth 1: Entrepreneurs Are Born Not Made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</a:rPr>
              <a:t>This myth is based on the mistaken belief that some people are genetically predisposed to be entrepreneurs.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</a:rPr>
              <a:t>The consensus of many studies is that no one is “born” to be an entrepreneur; everyone has the potential to become one. 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</a:rPr>
              <a:t>Whether someone does or doesn’t become an entrepreneur, is a function of the environment, life experiences, and personal choices. </a:t>
            </a:r>
          </a:p>
          <a:p>
            <a:pPr marL="0" indent="0">
              <a:buNone/>
            </a:pP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0141951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ZA" b="1" dirty="0"/>
              <a:t>MYTHS OF AN ENTREPRENEUR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>
                <a:latin typeface="Times New Roman" panose="02020603050405020304" pitchFamily="18" charset="0"/>
              </a:rPr>
              <a:t>Myth 2: Entrepreneurs Are Gamblers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</a:rPr>
              <a:t>Most entrepreneurs are moderate risk takers.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</a:rPr>
              <a:t>The idea that entrepreneurs are gamblers originates from two sources:</a:t>
            </a:r>
          </a:p>
          <a:p>
            <a:pPr lvl="2"/>
            <a:r>
              <a:rPr lang="en-US" sz="2000" dirty="0">
                <a:latin typeface="Times New Roman" panose="02020603050405020304" pitchFamily="18" charset="0"/>
              </a:rPr>
              <a:t>Entrepreneurs typically have jobs that are less structured, and so they face a more uncertain set of possibilities than people in traditional jobs.</a:t>
            </a:r>
          </a:p>
          <a:p>
            <a:pPr lvl="2"/>
            <a:r>
              <a:rPr lang="en-US" sz="2000" dirty="0">
                <a:latin typeface="Times New Roman" panose="02020603050405020304" pitchFamily="18" charset="0"/>
              </a:rPr>
              <a:t>Many entrepreneurs have a strong need to achieve and set challenging goals, a behavior that is often equated with risk taking.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5459052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ZA" b="1" dirty="0"/>
              <a:t>MYTHS OF AN ENTREPRENEUR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b="1" dirty="0"/>
              <a:t>Myth 3: Entrepreneurs Are Motivated Primarily by Money.</a:t>
            </a:r>
          </a:p>
          <a:p>
            <a:r>
              <a:rPr lang="en-ZA" dirty="0"/>
              <a:t>While it is naïve to think that entrepreneurs don’t seek financial rewards, money is rarely the reason entrepreneurs start new firms.</a:t>
            </a:r>
          </a:p>
          <a:p>
            <a:r>
              <a:rPr lang="en-ZA" dirty="0"/>
              <a:t>In fact, some entrepreneurs warn that the pursuit of money can be distracting.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3834715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ZA" b="1" dirty="0"/>
              <a:t>MYTHS OF AN ENTREPRENEUR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99059" y="2288147"/>
            <a:ext cx="8915400" cy="3777622"/>
          </a:xfrm>
        </p:spPr>
        <p:txBody>
          <a:bodyPr/>
          <a:lstStyle/>
          <a:p>
            <a:r>
              <a:rPr lang="en-US" sz="2800" dirty="0">
                <a:latin typeface="Times New Roman" panose="02020603050405020304" pitchFamily="18" charset="0"/>
              </a:rPr>
              <a:t>Myth 4: Entrepreneurs Should Be Young and Energetic.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</a:rPr>
              <a:t>The most active age for business ownership is 35 to 45 years old.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</a:rPr>
              <a:t>While it is important to be energetic, investors often cite the strength of the entrepreneur as their most important criteria in making investment decisions.</a:t>
            </a:r>
          </a:p>
          <a:p>
            <a:pPr lvl="2"/>
            <a:r>
              <a:rPr lang="en-US" sz="2000" dirty="0">
                <a:latin typeface="Times New Roman" panose="02020603050405020304" pitchFamily="18" charset="0"/>
              </a:rPr>
              <a:t>What makes an entrepreneur “strong” in the eyes of an investor is experience, maturity, a solid reputation, and a track record of success.</a:t>
            </a:r>
          </a:p>
          <a:p>
            <a:pPr lvl="2"/>
            <a:r>
              <a:rPr lang="en-US" sz="2000" dirty="0">
                <a:latin typeface="Times New Roman" panose="02020603050405020304" pitchFamily="18" charset="0"/>
              </a:rPr>
              <a:t>These criteria favor older rather than younger entrepreneurs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1860188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</a:rPr>
              <a:t>Why Become an Entrepreneur?</a:t>
            </a:r>
            <a:endParaRPr lang="en-ZA" dirty="0"/>
          </a:p>
        </p:txBody>
      </p:sp>
      <p:sp>
        <p:nvSpPr>
          <p:cNvPr id="8" name="TextBox 7"/>
          <p:cNvSpPr txBox="1"/>
          <p:nvPr/>
        </p:nvSpPr>
        <p:spPr>
          <a:xfrm>
            <a:off x="3359994" y="1577424"/>
            <a:ext cx="73775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b="1" dirty="0"/>
              <a:t>The three primary reasons that people become entrepreneurs and start their own firms</a:t>
            </a:r>
          </a:p>
        </p:txBody>
      </p:sp>
      <p:pic>
        <p:nvPicPr>
          <p:cNvPr id="9" name="Picture 14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9213" y="2632049"/>
            <a:ext cx="4343400" cy="3187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7862454" y="2992582"/>
            <a:ext cx="3387437" cy="685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ZA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3966" y="2969931"/>
            <a:ext cx="3383573" cy="68281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606145" y="2992582"/>
            <a:ext cx="33874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Desire to be their own boss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1242" y="3807575"/>
            <a:ext cx="287508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Desire</a:t>
            </a:r>
            <a:r>
              <a:rPr lang="en-US" b="1" dirty="0"/>
              <a:t> to pursue their</a:t>
            </a:r>
          </a:p>
          <a:p>
            <a:pPr algn="ctr"/>
            <a:r>
              <a:rPr lang="en-US" b="1" dirty="0"/>
              <a:t>own ideas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2454" y="5008418"/>
            <a:ext cx="28750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Financial rewards</a:t>
            </a:r>
          </a:p>
        </p:txBody>
      </p:sp>
    </p:spTree>
    <p:extLst>
      <p:ext uri="{BB962C8B-B14F-4D97-AF65-F5344CB8AC3E}">
        <p14:creationId xmlns:p14="http://schemas.microsoft.com/office/powerpoint/2010/main" val="1441746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ZA" b="1" dirty="0" smtClean="0"/>
              <a:t>Next Entrepreneurial Phase</a:t>
            </a:r>
            <a:endParaRPr lang="en-ZA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ZA" sz="2000" b="1" dirty="0" smtClean="0"/>
              <a:t>Developing the business idea – </a:t>
            </a:r>
            <a:r>
              <a:rPr lang="en-ZA" sz="2000" dirty="0" smtClean="0"/>
              <a:t>gap in market; doing research by feasibility study, </a:t>
            </a:r>
          </a:p>
          <a:p>
            <a:pPr marL="0" indent="0">
              <a:buNone/>
            </a:pPr>
            <a:endParaRPr lang="en-ZA" sz="2000" dirty="0" smtClean="0"/>
          </a:p>
          <a:p>
            <a:pPr>
              <a:buFont typeface="Wingdings" panose="05000000000000000000" pitchFamily="2" charset="2"/>
              <a:buChar char="q"/>
            </a:pPr>
            <a:r>
              <a:rPr lang="en-ZA" sz="2000" b="1" dirty="0" smtClean="0"/>
              <a:t>The business plan – </a:t>
            </a:r>
            <a:r>
              <a:rPr lang="en-ZA" sz="2000" dirty="0" smtClean="0"/>
              <a:t>blue print</a:t>
            </a:r>
          </a:p>
          <a:p>
            <a:pPr marL="0" indent="0">
              <a:buNone/>
            </a:pPr>
            <a:endParaRPr lang="en-ZA" sz="2000" dirty="0" smtClean="0"/>
          </a:p>
          <a:p>
            <a:pPr>
              <a:buFont typeface="Wingdings" panose="05000000000000000000" pitchFamily="2" charset="2"/>
              <a:buChar char="q"/>
            </a:pPr>
            <a:r>
              <a:rPr lang="en-ZA" sz="2000" b="1" dirty="0" smtClean="0"/>
              <a:t>Idea to Business – </a:t>
            </a:r>
            <a:r>
              <a:rPr lang="en-ZA" sz="2000" dirty="0" smtClean="0"/>
              <a:t>registering and opening the business; finance </a:t>
            </a:r>
          </a:p>
          <a:p>
            <a:pPr marL="0" indent="0">
              <a:buNone/>
            </a:pPr>
            <a:endParaRPr lang="en-ZA" sz="2000" dirty="0" smtClean="0"/>
          </a:p>
          <a:p>
            <a:pPr>
              <a:buFont typeface="Wingdings" panose="05000000000000000000" pitchFamily="2" charset="2"/>
              <a:buChar char="q"/>
            </a:pPr>
            <a:r>
              <a:rPr lang="en-ZA" sz="2000" b="1" dirty="0" smtClean="0"/>
              <a:t>Managing and growing your business – </a:t>
            </a:r>
            <a:r>
              <a:rPr lang="en-ZA" sz="2000" dirty="0" smtClean="0"/>
              <a:t>ensure ongoing success</a:t>
            </a:r>
          </a:p>
          <a:p>
            <a:pPr>
              <a:buFont typeface="Wingdings" panose="05000000000000000000" pitchFamily="2" charset="2"/>
              <a:buChar char="q"/>
            </a:pPr>
            <a:endParaRPr lang="en-ZA" sz="2000" dirty="0" smtClean="0"/>
          </a:p>
          <a:p>
            <a:pPr>
              <a:buFont typeface="Wingdings" panose="05000000000000000000" pitchFamily="2" charset="2"/>
              <a:buChar char="q"/>
            </a:pP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242212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ZA" b="1" dirty="0" smtClean="0"/>
              <a:t>Economics and Entrepreneurship</a:t>
            </a:r>
            <a:endParaRPr lang="en-ZA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>
              <a:lnSpc>
                <a:spcPct val="200000"/>
              </a:lnSpc>
            </a:pPr>
            <a:r>
              <a:rPr lang="en-ZA" sz="2000" b="1" dirty="0" smtClean="0"/>
              <a:t>Entrepreneurship</a:t>
            </a:r>
            <a:r>
              <a:rPr lang="en-ZA" sz="2000" dirty="0" smtClean="0"/>
              <a:t> – new business – new jobs- taxes paid to govt – people earn salary leads demand for goods and services result increase in production leads to increase in GDP resulting economic growth.</a:t>
            </a:r>
            <a:endParaRPr lang="en-ZA" sz="2000" dirty="0"/>
          </a:p>
        </p:txBody>
      </p:sp>
    </p:spTree>
    <p:extLst>
      <p:ext uri="{BB962C8B-B14F-4D97-AF65-F5344CB8AC3E}">
        <p14:creationId xmlns:p14="http://schemas.microsoft.com/office/powerpoint/2010/main" val="1756948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ZA" b="1" dirty="0" smtClean="0"/>
              <a:t>Entrepreneurship in Emerging market</a:t>
            </a:r>
            <a:endParaRPr lang="en-ZA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ZA" sz="2000" b="1" dirty="0" smtClean="0"/>
              <a:t>Emerging economy is </a:t>
            </a:r>
            <a:r>
              <a:rPr lang="en-ZA" sz="2000" dirty="0" smtClean="0"/>
              <a:t>progressing towards advanced growth and industrialization</a:t>
            </a:r>
          </a:p>
          <a:p>
            <a:pPr marL="0" indent="0">
              <a:buNone/>
            </a:pPr>
            <a:endParaRPr lang="en-ZA" sz="2000" dirty="0" smtClean="0"/>
          </a:p>
          <a:p>
            <a:r>
              <a:rPr lang="en-ZA" sz="2000" b="1" dirty="0" smtClean="0"/>
              <a:t>Emerging vs. developed country</a:t>
            </a:r>
          </a:p>
          <a:p>
            <a:pPr marL="0" indent="0">
              <a:buNone/>
            </a:pPr>
            <a:endParaRPr lang="en-ZA" sz="2000" b="1" dirty="0" smtClean="0"/>
          </a:p>
          <a:p>
            <a:r>
              <a:rPr lang="en-ZA" sz="2000" b="1" dirty="0" smtClean="0"/>
              <a:t>Constraints in Emerging countries </a:t>
            </a:r>
            <a:r>
              <a:rPr lang="en-ZA" sz="2000" dirty="0" smtClean="0"/>
              <a:t>include lack of skilled, unemployment, political issues, technology.</a:t>
            </a:r>
            <a:endParaRPr lang="en-ZA" sz="2000" dirty="0"/>
          </a:p>
        </p:txBody>
      </p:sp>
    </p:spTree>
    <p:extLst>
      <p:ext uri="{BB962C8B-B14F-4D97-AF65-F5344CB8AC3E}">
        <p14:creationId xmlns:p14="http://schemas.microsoft.com/office/powerpoint/2010/main" val="534613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 algn="ctr"/>
            <a:r>
              <a:rPr lang="en-ZA" b="1" dirty="0"/>
              <a:t>Entrepreneurship – A South African perspective</a:t>
            </a:r>
            <a:r>
              <a:rPr lang="en-ZA" dirty="0"/>
              <a:t/>
            </a:r>
            <a:br>
              <a:rPr lang="en-ZA" dirty="0"/>
            </a:b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3083" y="1676399"/>
            <a:ext cx="10828917" cy="4329545"/>
          </a:xfrm>
        </p:spPr>
        <p:txBody>
          <a:bodyPr>
            <a:normAutofit fontScale="70000" lnSpcReduction="20000"/>
          </a:bodyPr>
          <a:lstStyle/>
          <a:p>
            <a:r>
              <a:rPr lang="en-ZA" sz="3200" dirty="0" smtClean="0"/>
              <a:t>Stats – 26% unemployment and 40% of youth unemployed.</a:t>
            </a:r>
          </a:p>
          <a:p>
            <a:pPr marL="0" indent="0">
              <a:buNone/>
            </a:pPr>
            <a:r>
              <a:rPr lang="en-ZA" sz="3200" dirty="0" smtClean="0"/>
              <a:t>Reasons : HIV/Aids ; political uncertainty; high crime etc.</a:t>
            </a:r>
          </a:p>
          <a:p>
            <a:pPr marL="0" indent="0">
              <a:buNone/>
            </a:pPr>
            <a:endParaRPr lang="en-ZA" sz="3200" dirty="0"/>
          </a:p>
          <a:p>
            <a:pPr>
              <a:buFont typeface="Wingdings" panose="05000000000000000000" pitchFamily="2" charset="2"/>
              <a:buChar char="§"/>
            </a:pPr>
            <a:r>
              <a:rPr lang="en-ZA" sz="3200" b="1" dirty="0" smtClean="0"/>
              <a:t>Total Entrepreneurial Activity(TEA) </a:t>
            </a:r>
            <a:r>
              <a:rPr lang="en-ZA" sz="3200" dirty="0" smtClean="0"/>
              <a:t>in SA compared to rest of Africa is low – Why?</a:t>
            </a:r>
          </a:p>
          <a:p>
            <a:pPr marL="0" indent="0">
              <a:buNone/>
            </a:pPr>
            <a:r>
              <a:rPr lang="en-ZA" sz="3200" dirty="0" smtClean="0"/>
              <a:t>	Constraints include : </a:t>
            </a:r>
            <a:r>
              <a:rPr lang="en-ZA" sz="3200" b="1" dirty="0" smtClean="0"/>
              <a:t>Education and Training </a:t>
            </a:r>
            <a:r>
              <a:rPr lang="en-ZA" sz="3200" dirty="0" smtClean="0"/>
              <a:t>issues at school i.e. lack 						                  of textbooks and high absenteeism amongst</a:t>
            </a:r>
          </a:p>
          <a:p>
            <a:pPr marL="0" indent="0">
              <a:buNone/>
            </a:pPr>
            <a:r>
              <a:rPr lang="en-ZA" sz="3200" dirty="0"/>
              <a:t> </a:t>
            </a:r>
            <a:r>
              <a:rPr lang="en-ZA" sz="3200" dirty="0" smtClean="0"/>
              <a:t>                                         teachers and pupil.</a:t>
            </a:r>
          </a:p>
          <a:p>
            <a:pPr marL="0" indent="0">
              <a:buNone/>
            </a:pPr>
            <a:r>
              <a:rPr lang="en-ZA" sz="3200" b="1" dirty="0" smtClean="0"/>
              <a:t>					            Government Policies </a:t>
            </a:r>
            <a:r>
              <a:rPr lang="en-ZA" sz="3200" dirty="0" smtClean="0"/>
              <a:t>– red tape starting business       											                 and   restrictive labour  policies</a:t>
            </a:r>
          </a:p>
          <a:p>
            <a:pPr marL="0" indent="0">
              <a:buNone/>
            </a:pPr>
            <a:r>
              <a:rPr lang="en-ZA" sz="3200" dirty="0"/>
              <a:t>	</a:t>
            </a:r>
            <a:r>
              <a:rPr lang="en-ZA" sz="3200" dirty="0" smtClean="0"/>
              <a:t>					</a:t>
            </a:r>
            <a:r>
              <a:rPr lang="en-ZA" sz="3200" b="1" dirty="0" smtClean="0"/>
              <a:t>Market openness  </a:t>
            </a:r>
            <a:r>
              <a:rPr lang="en-ZA" sz="3200" dirty="0" smtClean="0"/>
              <a:t>-        lack of competition</a:t>
            </a:r>
          </a:p>
          <a:p>
            <a:pPr marL="0" indent="0">
              <a:buNone/>
            </a:pP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107727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ZA" b="1" dirty="0" smtClean="0"/>
              <a:t>Solutions to South Africa</a:t>
            </a:r>
            <a:endParaRPr lang="en-ZA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ZA" sz="2400" dirty="0" smtClean="0"/>
              <a:t>Transfer of wealth based on political or ethnic affiliation to focus on entrepreneurial activities instead.</a:t>
            </a:r>
          </a:p>
          <a:p>
            <a:pPr marL="0" indent="0">
              <a:buNone/>
            </a:pPr>
            <a:endParaRPr lang="en-ZA" sz="2400" dirty="0" smtClean="0"/>
          </a:p>
          <a:p>
            <a:r>
              <a:rPr lang="en-ZA" sz="2400" dirty="0" smtClean="0"/>
              <a:t>Promote Migrant entrepreneurs in South Africa.</a:t>
            </a:r>
            <a:endParaRPr lang="en-ZA" sz="2400" dirty="0"/>
          </a:p>
        </p:txBody>
      </p:sp>
    </p:spTree>
    <p:extLst>
      <p:ext uri="{BB962C8B-B14F-4D97-AF65-F5344CB8AC3E}">
        <p14:creationId xmlns:p14="http://schemas.microsoft.com/office/powerpoint/2010/main" val="1564347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ZA" b="1" dirty="0" smtClean="0"/>
              <a:t>Social Entrepreneurship</a:t>
            </a:r>
            <a:endParaRPr lang="en-ZA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599"/>
            <a:ext cx="8915400" cy="4142509"/>
          </a:xfrm>
        </p:spPr>
        <p:txBody>
          <a:bodyPr>
            <a:normAutofit/>
          </a:bodyPr>
          <a:lstStyle/>
          <a:p>
            <a:r>
              <a:rPr lang="en-ZA" dirty="0" smtClean="0"/>
              <a:t>What is Social Entrepreneurship – Is it for profit or non profit means</a:t>
            </a:r>
          </a:p>
          <a:p>
            <a:endParaRPr lang="en-ZA" dirty="0"/>
          </a:p>
          <a:p>
            <a:pPr marL="0" indent="0" algn="ctr">
              <a:buNone/>
            </a:pPr>
            <a:r>
              <a:rPr lang="en-ZA" b="1" dirty="0" smtClean="0"/>
              <a:t>Group Work</a:t>
            </a:r>
          </a:p>
          <a:p>
            <a:pPr marL="0" indent="0" algn="ctr">
              <a:buNone/>
            </a:pPr>
            <a:endParaRPr lang="en-ZA" b="1" dirty="0"/>
          </a:p>
          <a:p>
            <a:pPr marL="0" lvl="0" indent="0">
              <a:buNone/>
            </a:pPr>
            <a:r>
              <a:rPr lang="en-ZA" dirty="0" smtClean="0"/>
              <a:t>1, Based </a:t>
            </a:r>
            <a:r>
              <a:rPr lang="en-ZA" dirty="0"/>
              <a:t>on Kenneth Fullerton interview with Thabo </a:t>
            </a:r>
            <a:r>
              <a:rPr lang="en-ZA" dirty="0" err="1"/>
              <a:t>Kuene</a:t>
            </a:r>
            <a:r>
              <a:rPr lang="en-ZA" dirty="0"/>
              <a:t> who talks about social entrepreneurship in South Africa, what do you thing are some of the difficulties he faced as a social entrepreneur</a:t>
            </a:r>
            <a:r>
              <a:rPr lang="en-ZA" dirty="0" smtClean="0"/>
              <a:t>.</a:t>
            </a:r>
          </a:p>
          <a:p>
            <a:pPr marL="0" lvl="0" indent="0">
              <a:buNone/>
            </a:pPr>
            <a:endParaRPr lang="en-ZA" dirty="0"/>
          </a:p>
          <a:p>
            <a:pPr marL="0" indent="0">
              <a:buNone/>
            </a:pPr>
            <a:r>
              <a:rPr lang="en-ZA" dirty="0" smtClean="0"/>
              <a:t>2,</a:t>
            </a:r>
            <a:r>
              <a:rPr lang="en-ZA" dirty="0"/>
              <a:t> In your groups explore and research the role of social entrepreneurs in using ICT’s(Information, communication and technology) for youth and community development in South Africa.</a:t>
            </a:r>
          </a:p>
          <a:p>
            <a:pPr marL="0" lvl="0" indent="0">
              <a:buNone/>
            </a:pPr>
            <a:endParaRPr lang="en-ZA" dirty="0"/>
          </a:p>
          <a:p>
            <a:pPr marL="0" indent="0">
              <a:buNone/>
            </a:pPr>
            <a:endParaRPr lang="en-ZA" b="1" dirty="0"/>
          </a:p>
        </p:txBody>
      </p:sp>
    </p:spTree>
    <p:extLst>
      <p:ext uri="{BB962C8B-B14F-4D97-AF65-F5344CB8AC3E}">
        <p14:creationId xmlns:p14="http://schemas.microsoft.com/office/powerpoint/2010/main" val="3691254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139</TotalTime>
  <Words>656</Words>
  <Application>Microsoft Office PowerPoint</Application>
  <PresentationFormat>Widescreen</PresentationFormat>
  <Paragraphs>71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Century Gothic</vt:lpstr>
      <vt:lpstr>Times New Roman</vt:lpstr>
      <vt:lpstr>Wingdings</vt:lpstr>
      <vt:lpstr>Wingdings 3</vt:lpstr>
      <vt:lpstr>Wisp</vt:lpstr>
      <vt:lpstr>My country, myself and I</vt:lpstr>
      <vt:lpstr>What is Entrepreneurship</vt:lpstr>
      <vt:lpstr>MYTHS OF AN ENTREPRENEUR</vt:lpstr>
      <vt:lpstr>MYTHS OF AN ENTREPRENEUR</vt:lpstr>
      <vt:lpstr>MYTHS OF AN ENTREPRENEUR</vt:lpstr>
      <vt:lpstr>MYTHS OF AN ENTREPRENEUR</vt:lpstr>
      <vt:lpstr>Why Become an Entrepreneur?</vt:lpstr>
      <vt:lpstr>Next Entrepreneurial Phase</vt:lpstr>
      <vt:lpstr>Economics and Entrepreneurship</vt:lpstr>
      <vt:lpstr>Entrepreneurship in Emerging market</vt:lpstr>
      <vt:lpstr>Entrepreneurship – A South African perspective </vt:lpstr>
      <vt:lpstr>Solutions to South Africa</vt:lpstr>
      <vt:lpstr>Social Entrepreneurship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Why is Entrepreneurship important in current day South Africa</dc:title>
  <dc:creator>Bhadra Ranchod</dc:creator>
  <cp:lastModifiedBy>Bhadra Ranchod</cp:lastModifiedBy>
  <cp:revision>14</cp:revision>
  <dcterms:created xsi:type="dcterms:W3CDTF">2017-08-07T11:35:46Z</dcterms:created>
  <dcterms:modified xsi:type="dcterms:W3CDTF">2018-05-07T11:02:53Z</dcterms:modified>
</cp:coreProperties>
</file>