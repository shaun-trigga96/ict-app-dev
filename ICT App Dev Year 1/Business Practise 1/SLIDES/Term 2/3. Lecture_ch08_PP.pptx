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8"/>
  </p:notesMasterIdLst>
  <p:handoutMasterIdLst>
    <p:handoutMasterId r:id="rId39"/>
  </p:handoutMasterIdLst>
  <p:sldIdLst>
    <p:sldId id="323" r:id="rId2"/>
    <p:sldId id="340" r:id="rId3"/>
    <p:sldId id="395" r:id="rId4"/>
    <p:sldId id="391" r:id="rId5"/>
    <p:sldId id="392" r:id="rId6"/>
    <p:sldId id="393" r:id="rId7"/>
    <p:sldId id="394" r:id="rId8"/>
    <p:sldId id="397" r:id="rId9"/>
    <p:sldId id="399" r:id="rId10"/>
    <p:sldId id="400" r:id="rId11"/>
    <p:sldId id="402" r:id="rId12"/>
    <p:sldId id="403" r:id="rId13"/>
    <p:sldId id="407" r:id="rId14"/>
    <p:sldId id="408" r:id="rId15"/>
    <p:sldId id="409" r:id="rId16"/>
    <p:sldId id="410" r:id="rId17"/>
    <p:sldId id="434" r:id="rId18"/>
    <p:sldId id="411" r:id="rId19"/>
    <p:sldId id="412" r:id="rId20"/>
    <p:sldId id="414" r:id="rId21"/>
    <p:sldId id="415" r:id="rId22"/>
    <p:sldId id="416" r:id="rId23"/>
    <p:sldId id="417" r:id="rId24"/>
    <p:sldId id="419" r:id="rId25"/>
    <p:sldId id="420" r:id="rId26"/>
    <p:sldId id="421" r:id="rId27"/>
    <p:sldId id="422" r:id="rId28"/>
    <p:sldId id="423" r:id="rId29"/>
    <p:sldId id="424" r:id="rId30"/>
    <p:sldId id="425" r:id="rId31"/>
    <p:sldId id="427" r:id="rId32"/>
    <p:sldId id="429" r:id="rId33"/>
    <p:sldId id="430" r:id="rId34"/>
    <p:sldId id="431" r:id="rId35"/>
    <p:sldId id="432" r:id="rId36"/>
    <p:sldId id="433" r:id="rId37"/>
  </p:sldIdLst>
  <p:sldSz cx="9144000" cy="6858000" type="screen4x3"/>
  <p:notesSz cx="6858000" cy="9144000"/>
  <p:custDataLst>
    <p:tags r:id="rId40"/>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orient="horz" pos="960">
          <p15:clr>
            <a:srgbClr val="A4A3A4"/>
          </p15:clr>
        </p15:guide>
        <p15:guide id="3" orient="horz" pos="3984">
          <p15:clr>
            <a:srgbClr val="A4A3A4"/>
          </p15:clr>
        </p15:guide>
        <p15:guide id="4" pos="2880">
          <p15:clr>
            <a:srgbClr val="A4A3A4"/>
          </p15:clr>
        </p15:guide>
        <p15:guide id="5" pos="432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D2A"/>
    <a:srgbClr val="84A5D4"/>
    <a:srgbClr val="13BDD0"/>
    <a:srgbClr val="AEB9BF"/>
    <a:srgbClr val="00AEC5"/>
    <a:srgbClr val="EE655D"/>
    <a:srgbClr val="8EB244"/>
    <a:srgbClr val="CCECFF"/>
    <a:srgbClr val="CCFF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07" autoAdjust="0"/>
    <p:restoredTop sz="99408" autoAdjust="0"/>
  </p:normalViewPr>
  <p:slideViewPr>
    <p:cSldViewPr>
      <p:cViewPr varScale="1">
        <p:scale>
          <a:sx n="73" d="100"/>
          <a:sy n="73" d="100"/>
        </p:scale>
        <p:origin x="1302" y="54"/>
      </p:cViewPr>
      <p:guideLst>
        <p:guide orient="horz" pos="2160"/>
        <p:guide orient="horz" pos="960"/>
        <p:guide orient="horz" pos="3984"/>
        <p:guide pos="2880"/>
        <p:guide pos="43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75" d="100"/>
          <a:sy n="75" d="100"/>
        </p:scale>
        <p:origin x="-2052"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US"/>
          </a:p>
        </p:txBody>
      </p:sp>
      <p:sp>
        <p:nvSpPr>
          <p:cNvPr id="26624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US"/>
          </a:p>
        </p:txBody>
      </p:sp>
      <p:sp>
        <p:nvSpPr>
          <p:cNvPr id="26624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US"/>
          </a:p>
        </p:txBody>
      </p:sp>
      <p:sp>
        <p:nvSpPr>
          <p:cNvPr id="26624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E181C7A1-02BB-4983-B7E0-62E8325A94F7}" type="slidenum">
              <a:rPr lang="en-US"/>
              <a:pPr>
                <a:defRPr/>
              </a:pPr>
              <a:t>‹#›</a:t>
            </a:fld>
            <a:endParaRPr lang="en-US"/>
          </a:p>
        </p:txBody>
      </p:sp>
    </p:spTree>
    <p:extLst>
      <p:ext uri="{BB962C8B-B14F-4D97-AF65-F5344CB8AC3E}">
        <p14:creationId xmlns:p14="http://schemas.microsoft.com/office/powerpoint/2010/main" val="3574294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4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US"/>
          </a:p>
        </p:txBody>
      </p:sp>
      <p:sp>
        <p:nvSpPr>
          <p:cNvPr id="16486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US"/>
          </a:p>
        </p:txBody>
      </p:sp>
      <p:sp>
        <p:nvSpPr>
          <p:cNvPr id="6349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6486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6487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US"/>
          </a:p>
        </p:txBody>
      </p:sp>
      <p:sp>
        <p:nvSpPr>
          <p:cNvPr id="16487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C336705E-97BB-4D59-8E89-242B75A4F7AB}" type="slidenum">
              <a:rPr lang="en-US"/>
              <a:pPr>
                <a:defRPr/>
              </a:pPr>
              <a:t>‹#›</a:t>
            </a:fld>
            <a:endParaRPr lang="en-US"/>
          </a:p>
        </p:txBody>
      </p:sp>
    </p:spTree>
    <p:extLst>
      <p:ext uri="{BB962C8B-B14F-4D97-AF65-F5344CB8AC3E}">
        <p14:creationId xmlns:p14="http://schemas.microsoft.com/office/powerpoint/2010/main" val="22855529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p:txBody>
          <a:bodyPr/>
          <a:lstStyle/>
          <a:p>
            <a:pPr>
              <a:defRPr/>
            </a:pPr>
            <a:fld id="{91710AA8-AFE8-4035-A946-AD408098D94F}" type="slidenum">
              <a:rPr lang="en-US" smtClean="0"/>
              <a:pPr>
                <a:defRPr/>
              </a:pPr>
              <a:t>1</a:t>
            </a:fld>
            <a:endParaRPr lang="en-US" dirty="0" smtClean="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24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26</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27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28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29</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30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31</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32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33</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34</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35</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C336705E-97BB-4D59-8E89-242B75A4F7AB}" type="slidenum">
              <a:rPr lang="en-US" smtClean="0"/>
              <a:pPr>
                <a:defRPr/>
              </a:pPr>
              <a:t>36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28706" name="Rectangle 2"/>
          <p:cNvSpPr>
            <a:spLocks noGrp="1" noChangeArrowheads="1"/>
          </p:cNvSpPr>
          <p:nvPr>
            <p:ph type="ctrTitle"/>
          </p:nvPr>
        </p:nvSpPr>
        <p:spPr>
          <a:xfrm>
            <a:off x="4724400" y="2133600"/>
            <a:ext cx="4191000" cy="990600"/>
          </a:xfrm>
        </p:spPr>
        <p:txBody>
          <a:bodyPr/>
          <a:lstStyle>
            <a:lvl1pPr>
              <a:defRPr sz="3600" spc="-50" baseline="0">
                <a:solidFill>
                  <a:srgbClr val="8EB244"/>
                </a:solidFill>
              </a:defRPr>
            </a:lvl1pPr>
          </a:lstStyle>
          <a:p>
            <a:r>
              <a:rPr lang="en-US" dirty="0"/>
              <a:t>Click to edit</a:t>
            </a:r>
          </a:p>
        </p:txBody>
      </p:sp>
      <p:sp>
        <p:nvSpPr>
          <p:cNvPr id="328707" name="Rectangle 3"/>
          <p:cNvSpPr>
            <a:spLocks noGrp="1" noChangeArrowheads="1"/>
          </p:cNvSpPr>
          <p:nvPr>
            <p:ph type="subTitle" idx="1"/>
          </p:nvPr>
        </p:nvSpPr>
        <p:spPr>
          <a:xfrm>
            <a:off x="4572000" y="3124200"/>
            <a:ext cx="4419600" cy="1752600"/>
          </a:xfrm>
        </p:spPr>
        <p:txBody>
          <a:bodyPr/>
          <a:lstStyle>
            <a:lvl1pPr marL="0" indent="0" algn="ctr">
              <a:lnSpc>
                <a:spcPct val="90000"/>
              </a:lnSpc>
              <a:buFontTx/>
              <a:buNone/>
              <a:defRPr sz="2800" b="1">
                <a:solidFill>
                  <a:schemeClr val="accent6">
                    <a:lumMod val="50000"/>
                  </a:schemeClr>
                </a:solidFill>
              </a:defRPr>
            </a:lvl1pPr>
          </a:lstStyle>
          <a:p>
            <a:r>
              <a:rPr lang="en-US" dirty="0"/>
              <a:t>Click to edit Master subtitle style</a:t>
            </a:r>
          </a:p>
        </p:txBody>
      </p:sp>
      <p:cxnSp>
        <p:nvCxnSpPr>
          <p:cNvPr id="4" name="Straight Connector 3"/>
          <p:cNvCxnSpPr/>
          <p:nvPr userDrawn="1"/>
        </p:nvCxnSpPr>
        <p:spPr>
          <a:xfrm>
            <a:off x="4953000" y="2971800"/>
            <a:ext cx="3581400" cy="0"/>
          </a:xfrm>
          <a:prstGeom prst="line">
            <a:avLst/>
          </a:prstGeom>
          <a:ln>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Full Screen">
    <p:spTree>
      <p:nvGrpSpPr>
        <p:cNvPr id="1" name=""/>
        <p:cNvGrpSpPr/>
        <p:nvPr/>
      </p:nvGrpSpPr>
      <p:grpSpPr>
        <a:xfrm>
          <a:off x="0" y="0"/>
          <a:ext cx="0" cy="0"/>
          <a:chOff x="0" y="0"/>
          <a:chExt cx="0" cy="0"/>
        </a:xfrm>
      </p:grpSpPr>
      <p:sp>
        <p:nvSpPr>
          <p:cNvPr id="5" name="Rounded Rectangle 4"/>
          <p:cNvSpPr/>
          <p:nvPr userDrawn="1"/>
        </p:nvSpPr>
        <p:spPr>
          <a:xfrm>
            <a:off x="228600" y="304800"/>
            <a:ext cx="8686800" cy="6287386"/>
          </a:xfrm>
          <a:prstGeom prst="roundRect">
            <a:avLst>
              <a:gd name="adj" fmla="val 2206"/>
            </a:avLst>
          </a:prstGeom>
          <a:solidFill>
            <a:schemeClr val="tx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706" name="Rectangle 2"/>
          <p:cNvSpPr>
            <a:spLocks noGrp="1" noChangeArrowheads="1"/>
          </p:cNvSpPr>
          <p:nvPr>
            <p:ph type="ctrTitle"/>
          </p:nvPr>
        </p:nvSpPr>
        <p:spPr>
          <a:xfrm>
            <a:off x="4724400" y="1752600"/>
            <a:ext cx="4191000" cy="990600"/>
          </a:xfrm>
        </p:spPr>
        <p:txBody>
          <a:bodyPr/>
          <a:lstStyle>
            <a:lvl1pPr>
              <a:defRPr sz="3600" spc="-50" baseline="0">
                <a:solidFill>
                  <a:srgbClr val="8EB244"/>
                </a:solidFill>
              </a:defRPr>
            </a:lvl1pPr>
          </a:lstStyle>
          <a:p>
            <a:r>
              <a:rPr lang="en-US" dirty="0"/>
              <a:t>Click to edit</a:t>
            </a:r>
          </a:p>
        </p:txBody>
      </p:sp>
      <p:sp>
        <p:nvSpPr>
          <p:cNvPr id="328707" name="Rectangle 3"/>
          <p:cNvSpPr>
            <a:spLocks noGrp="1" noChangeArrowheads="1"/>
          </p:cNvSpPr>
          <p:nvPr>
            <p:ph type="subTitle" idx="1"/>
          </p:nvPr>
        </p:nvSpPr>
        <p:spPr>
          <a:xfrm>
            <a:off x="4572000" y="2743200"/>
            <a:ext cx="4419600" cy="1752600"/>
          </a:xfrm>
        </p:spPr>
        <p:txBody>
          <a:bodyPr/>
          <a:lstStyle>
            <a:lvl1pPr marL="0" indent="0" algn="ctr">
              <a:lnSpc>
                <a:spcPct val="90000"/>
              </a:lnSpc>
              <a:buFontTx/>
              <a:buNone/>
              <a:defRPr sz="2800" b="1">
                <a:solidFill>
                  <a:schemeClr val="accent6">
                    <a:lumMod val="50000"/>
                  </a:schemeClr>
                </a:solidFill>
              </a:defRPr>
            </a:lvl1pPr>
          </a:lstStyle>
          <a:p>
            <a:r>
              <a:rPr lang="en-US" dirty="0"/>
              <a:t>Click to edit Master subtitle style</a:t>
            </a:r>
          </a:p>
        </p:txBody>
      </p:sp>
      <p:cxnSp>
        <p:nvCxnSpPr>
          <p:cNvPr id="4" name="Straight Connector 3"/>
          <p:cNvCxnSpPr/>
          <p:nvPr userDrawn="1"/>
        </p:nvCxnSpPr>
        <p:spPr>
          <a:xfrm>
            <a:off x="4953000" y="2590800"/>
            <a:ext cx="3581400" cy="0"/>
          </a:xfrm>
          <a:prstGeom prst="line">
            <a:avLst/>
          </a:prstGeom>
          <a:ln>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40080" y="1554480"/>
            <a:ext cx="8077200" cy="4953000"/>
          </a:xfrm>
        </p:spPr>
        <p:txBody>
          <a:bodyPr/>
          <a:lstStyle>
            <a:lvl1pPr>
              <a:lnSpc>
                <a:spcPct val="90000"/>
              </a:lnSpc>
              <a:spcBef>
                <a:spcPts val="0"/>
              </a:spcBef>
              <a:spcAft>
                <a:spcPts val="600"/>
              </a:spcAft>
              <a:buClr>
                <a:srgbClr val="1B459B"/>
              </a:buClr>
              <a:buSzPct val="80000"/>
              <a:buFont typeface="Wingdings" pitchFamily="2" charset="2"/>
              <a:buChar char="§"/>
              <a:defRPr b="1">
                <a:solidFill>
                  <a:srgbClr val="8EB244"/>
                </a:solidFill>
              </a:defRPr>
            </a:lvl1pPr>
            <a:lvl2pPr>
              <a:lnSpc>
                <a:spcPct val="90000"/>
              </a:lnSpc>
              <a:spcBef>
                <a:spcPts val="0"/>
              </a:spcBef>
              <a:spcAft>
                <a:spcPts val="600"/>
              </a:spcAft>
              <a:buClr>
                <a:srgbClr val="8EB244"/>
              </a:buClr>
              <a:buSzPct val="90000"/>
              <a:buFont typeface="Arial" pitchFamily="34" charset="0"/>
              <a:buChar char="•"/>
              <a:defRPr sz="2400">
                <a:solidFill>
                  <a:schemeClr val="accent6">
                    <a:lumMod val="50000"/>
                  </a:schemeClr>
                </a:solidFill>
              </a:defRPr>
            </a:lvl2pPr>
            <a:lvl3pPr>
              <a:lnSpc>
                <a:spcPct val="90000"/>
              </a:lnSpc>
              <a:spcBef>
                <a:spcPts val="0"/>
              </a:spcBef>
              <a:spcAft>
                <a:spcPts val="600"/>
              </a:spcAft>
              <a:buClrTx/>
              <a:buSzPct val="80000"/>
              <a:buFont typeface="Arial" pitchFamily="34" charset="0"/>
              <a:buChar char="–"/>
              <a:defRPr sz="2200">
                <a:solidFill>
                  <a:schemeClr val="accent6">
                    <a:lumMod val="50000"/>
                  </a:schemeClr>
                </a:solidFill>
              </a:defRPr>
            </a:lvl3pPr>
            <a:lvl4pPr>
              <a:lnSpc>
                <a:spcPct val="90000"/>
              </a:lnSpc>
              <a:spcBef>
                <a:spcPts val="0"/>
              </a:spcBef>
              <a:spcAft>
                <a:spcPts val="600"/>
              </a:spcAft>
              <a:buClr>
                <a:schemeClr val="accent5">
                  <a:lumMod val="50000"/>
                </a:schemeClr>
              </a:buClr>
              <a:buSzPct val="80000"/>
              <a:buFont typeface="Arial" pitchFamily="34" charset="0"/>
              <a:buChar char="–"/>
              <a:defRPr sz="2000">
                <a:solidFill>
                  <a:schemeClr val="accent6">
                    <a:lumMod val="50000"/>
                  </a:schemeClr>
                </a:solidFill>
              </a:defRPr>
            </a:lvl4pPr>
            <a:lvl5pPr>
              <a:lnSpc>
                <a:spcPct val="90000"/>
              </a:lnSpc>
              <a:spcBef>
                <a:spcPts val="0"/>
              </a:spcBef>
              <a:spcAft>
                <a:spcPts val="600"/>
              </a:spcAft>
              <a:buClr>
                <a:schemeClr val="accent5">
                  <a:lumMod val="50000"/>
                </a:schemeClr>
              </a:buClr>
              <a:buSzPct val="60000"/>
              <a:buFont typeface="Courier New" pitchFamily="49" charset="0"/>
              <a:buChar char="o"/>
              <a:defRPr sz="2000">
                <a:solidFill>
                  <a:schemeClr val="accent6">
                    <a:lumMod val="50000"/>
                  </a:schemeClr>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itle 1"/>
          <p:cNvSpPr>
            <a:spLocks noGrp="1"/>
          </p:cNvSpPr>
          <p:nvPr>
            <p:ph type="title"/>
          </p:nvPr>
        </p:nvSpPr>
        <p:spPr>
          <a:xfrm>
            <a:off x="457200" y="91440"/>
            <a:ext cx="8229600" cy="990600"/>
          </a:xfrm>
        </p:spPr>
        <p:txBody>
          <a:bodyPr/>
          <a:lstStyle>
            <a:lvl1pPr>
              <a:lnSpc>
                <a:spcPct val="90000"/>
              </a:lnSpc>
              <a:defRPr>
                <a:solidFill>
                  <a:schemeClr val="tx1"/>
                </a:solidFill>
                <a:effectLst>
                  <a:outerShdw blurRad="38100" dist="38100" dir="2700000" algn="tl">
                    <a:srgbClr val="000000">
                      <a:alpha val="43137"/>
                    </a:srgbClr>
                  </a:outerShdw>
                </a:effectLst>
              </a:defRPr>
            </a:lvl1pPr>
          </a:lstStyle>
          <a:p>
            <a:r>
              <a:rPr lang="en-US" dirty="0" smtClean="0"/>
              <a:t>Click to edit Master title style</a:t>
            </a:r>
            <a:endParaRPr lang="en-US" dirty="0"/>
          </a:p>
        </p:txBody>
      </p:sp>
    </p:spTree>
  </p:cSld>
  <p:clrMapOvr>
    <a:masterClrMapping/>
  </p:clrMapOvr>
  <p:transition spd="slow">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finition Style">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8700" y="1828800"/>
            <a:ext cx="7086600" cy="3962400"/>
          </a:xfrm>
        </p:spPr>
        <p:txBody>
          <a:bodyPr/>
          <a:lstStyle>
            <a:lvl1pPr marL="0" indent="0" algn="ctr">
              <a:lnSpc>
                <a:spcPct val="90000"/>
              </a:lnSpc>
              <a:spcBef>
                <a:spcPts val="0"/>
              </a:spcBef>
              <a:buFontTx/>
              <a:buNone/>
              <a:defRPr sz="2400" b="1">
                <a:solidFill>
                  <a:schemeClr val="accent6">
                    <a:lumMod val="50000"/>
                  </a:schemeClr>
                </a:solidFill>
              </a:defRPr>
            </a:lvl1pPr>
            <a:lvl2pPr algn="ctr">
              <a:buClr>
                <a:schemeClr val="accent5">
                  <a:lumMod val="50000"/>
                </a:schemeClr>
              </a:buClr>
              <a:buSzPct val="90000"/>
              <a:buFont typeface="Wingdings" pitchFamily="2" charset="2"/>
              <a:buChar char="§"/>
              <a:defRPr>
                <a:solidFill>
                  <a:schemeClr val="accent6">
                    <a:lumMod val="50000"/>
                  </a:schemeClr>
                </a:solidFill>
              </a:defRPr>
            </a:lvl2pPr>
            <a:lvl3pPr>
              <a:buClr>
                <a:schemeClr val="accent5">
                  <a:lumMod val="50000"/>
                </a:schemeClr>
              </a:buClr>
              <a:buSzPct val="100000"/>
              <a:buFont typeface="Arial" pitchFamily="34" charset="0"/>
              <a:buChar char="•"/>
              <a:defRPr>
                <a:solidFill>
                  <a:schemeClr val="accent6">
                    <a:lumMod val="50000"/>
                  </a:schemeClr>
                </a:solidFill>
              </a:defRPr>
            </a:lvl3pPr>
            <a:lvl4pPr>
              <a:buClr>
                <a:schemeClr val="accent5">
                  <a:lumMod val="50000"/>
                </a:schemeClr>
              </a:buClr>
              <a:buSzPct val="80000"/>
              <a:buFont typeface="Arial" pitchFamily="34" charset="0"/>
              <a:buChar char="–"/>
              <a:defRPr>
                <a:solidFill>
                  <a:schemeClr val="accent6">
                    <a:lumMod val="50000"/>
                  </a:schemeClr>
                </a:solidFill>
              </a:defRPr>
            </a:lvl4pPr>
            <a:lvl5pPr>
              <a:buClr>
                <a:schemeClr val="accent5">
                  <a:lumMod val="50000"/>
                </a:schemeClr>
              </a:buClr>
              <a:buSzPct val="60000"/>
              <a:buFont typeface="Courier New" pitchFamily="49" charset="0"/>
              <a:buChar char="o"/>
              <a:defRPr>
                <a:solidFill>
                  <a:schemeClr val="accent6">
                    <a:lumMod val="50000"/>
                  </a:schemeClr>
                </a:solidFill>
              </a:defRPr>
            </a:lvl5pPr>
          </a:lstStyle>
          <a:p>
            <a:pPr lvl="0"/>
            <a:r>
              <a:rPr lang="en-US" dirty="0" smtClean="0"/>
              <a:t>Click to edit Master text styles</a:t>
            </a:r>
          </a:p>
          <a:p>
            <a:pPr lvl="1"/>
            <a:r>
              <a:rPr lang="en-US" dirty="0" smtClean="0"/>
              <a:t>Second level</a:t>
            </a:r>
          </a:p>
        </p:txBody>
      </p:sp>
      <p:sp>
        <p:nvSpPr>
          <p:cNvPr id="4" name="Title 1"/>
          <p:cNvSpPr>
            <a:spLocks noGrp="1"/>
          </p:cNvSpPr>
          <p:nvPr>
            <p:ph type="title"/>
          </p:nvPr>
        </p:nvSpPr>
        <p:spPr>
          <a:xfrm>
            <a:off x="457200" y="91440"/>
            <a:ext cx="8229600" cy="990600"/>
          </a:xfrm>
        </p:spPr>
        <p:txBody>
          <a:bodyPr/>
          <a:lstStyle>
            <a:lvl1pPr>
              <a:lnSpc>
                <a:spcPct val="90000"/>
              </a:lnSpc>
              <a:defRPr>
                <a:solidFill>
                  <a:schemeClr val="tx1"/>
                </a:solidFill>
                <a:effectLst>
                  <a:outerShdw blurRad="38100" dist="38100" dir="2700000" algn="tl">
                    <a:srgbClr val="000000">
                      <a:alpha val="43137"/>
                    </a:srgbClr>
                  </a:outerShdw>
                </a:effectLst>
              </a:defRPr>
            </a:lvl1pPr>
          </a:lstStyle>
          <a:p>
            <a:r>
              <a:rPr lang="en-US" dirty="0" smtClean="0"/>
              <a:t>Click to edit Master title style</a:t>
            </a:r>
            <a:endParaRPr lang="en-US" dirty="0"/>
          </a:p>
        </p:txBody>
      </p:sp>
    </p:spTree>
  </p:cSld>
  <p:clrMapOvr>
    <a:masterClrMapping/>
  </p:clrMapOvr>
  <p:transition spd="slow">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62088"/>
            <a:ext cx="4038600"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62088"/>
            <a:ext cx="4038600"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itle 1"/>
          <p:cNvSpPr>
            <a:spLocks noGrp="1"/>
          </p:cNvSpPr>
          <p:nvPr>
            <p:ph type="title"/>
          </p:nvPr>
        </p:nvSpPr>
        <p:spPr>
          <a:xfrm>
            <a:off x="457200" y="91440"/>
            <a:ext cx="8229600" cy="990600"/>
          </a:xfrm>
        </p:spPr>
        <p:txBody>
          <a:bodyPr/>
          <a:lstStyle>
            <a:lvl1pPr>
              <a:lnSpc>
                <a:spcPct val="90000"/>
              </a:lnSpc>
              <a:defRPr>
                <a:solidFill>
                  <a:schemeClr val="tx1"/>
                </a:solidFill>
                <a:effectLst>
                  <a:outerShdw blurRad="38100" dist="38100" dir="2700000" algn="tl">
                    <a:srgbClr val="000000">
                      <a:alpha val="43137"/>
                    </a:srgbClr>
                  </a:outerShdw>
                </a:effectLst>
              </a:defRPr>
            </a:lvl1pPr>
          </a:lstStyle>
          <a:p>
            <a:r>
              <a:rPr lang="en-US" dirty="0" smtClean="0"/>
              <a:t>Click to edit Master title style</a:t>
            </a:r>
            <a:endParaRPr lang="en-US" dirty="0"/>
          </a:p>
        </p:txBody>
      </p:sp>
    </p:spTree>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itle 1"/>
          <p:cNvSpPr>
            <a:spLocks noGrp="1"/>
          </p:cNvSpPr>
          <p:nvPr>
            <p:ph type="title"/>
          </p:nvPr>
        </p:nvSpPr>
        <p:spPr>
          <a:xfrm>
            <a:off x="457200" y="76200"/>
            <a:ext cx="8229600" cy="990600"/>
          </a:xfrm>
        </p:spPr>
        <p:txBody>
          <a:bodyPr/>
          <a:lstStyle>
            <a:lvl1pPr>
              <a:lnSpc>
                <a:spcPct val="90000"/>
              </a:lnSpc>
              <a:defRPr>
                <a:solidFill>
                  <a:schemeClr val="tx1"/>
                </a:solidFill>
                <a:effectLst>
                  <a:outerShdw blurRad="38100" dist="38100" dir="2700000" algn="tl">
                    <a:srgbClr val="000000">
                      <a:alpha val="43137"/>
                    </a:srgbClr>
                  </a:outerShdw>
                </a:effectLst>
              </a:defRPr>
            </a:lvl1pPr>
          </a:lstStyle>
          <a:p>
            <a:r>
              <a:rPr lang="en-US" dirty="0" smtClean="0"/>
              <a:t>Click to edit Master title style</a:t>
            </a:r>
            <a:endParaRPr lang="en-US" dirty="0"/>
          </a:p>
        </p:txBody>
      </p:sp>
    </p:spTree>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iz Layout">
    <p:spTree>
      <p:nvGrpSpPr>
        <p:cNvPr id="1" name=""/>
        <p:cNvGrpSpPr/>
        <p:nvPr/>
      </p:nvGrpSpPr>
      <p:grpSpPr>
        <a:xfrm>
          <a:off x="0" y="0"/>
          <a:ext cx="0" cy="0"/>
          <a:chOff x="0" y="0"/>
          <a:chExt cx="0" cy="0"/>
        </a:xfrm>
      </p:grpSpPr>
      <p:sp>
        <p:nvSpPr>
          <p:cNvPr id="3" name="Title 1"/>
          <p:cNvSpPr>
            <a:spLocks noGrp="1"/>
          </p:cNvSpPr>
          <p:nvPr>
            <p:ph type="title"/>
          </p:nvPr>
        </p:nvSpPr>
        <p:spPr>
          <a:xfrm>
            <a:off x="457200" y="91440"/>
            <a:ext cx="8229600" cy="990600"/>
          </a:xfrm>
        </p:spPr>
        <p:txBody>
          <a:bodyPr/>
          <a:lstStyle>
            <a:lvl1pPr>
              <a:lnSpc>
                <a:spcPct val="90000"/>
              </a:lnSpc>
              <a:defRPr>
                <a:solidFill>
                  <a:schemeClr val="tx1"/>
                </a:solidFill>
                <a:effectLst>
                  <a:outerShdw blurRad="38100" dist="38100" dir="2700000" algn="tl">
                    <a:srgbClr val="000000">
                      <a:alpha val="43137"/>
                    </a:srgbClr>
                  </a:outerShdw>
                </a:effectLst>
              </a:defRPr>
            </a:lvl1pPr>
          </a:lstStyle>
          <a:p>
            <a:r>
              <a:rPr lang="en-US" dirty="0" smtClean="0"/>
              <a:t>Click to edit Master title style</a:t>
            </a:r>
            <a:endParaRPr lang="en-US" dirty="0"/>
          </a:p>
        </p:txBody>
      </p:sp>
      <p:sp>
        <p:nvSpPr>
          <p:cNvPr id="6" name="Content Placeholder 2"/>
          <p:cNvSpPr>
            <a:spLocks noGrp="1"/>
          </p:cNvSpPr>
          <p:nvPr>
            <p:ph idx="1"/>
          </p:nvPr>
        </p:nvSpPr>
        <p:spPr>
          <a:xfrm>
            <a:off x="990600" y="1676400"/>
            <a:ext cx="7391400" cy="4739640"/>
          </a:xfrm>
        </p:spPr>
        <p:txBody>
          <a:bodyPr/>
          <a:lstStyle>
            <a:lvl1pPr marL="457200" indent="-457200">
              <a:lnSpc>
                <a:spcPct val="90000"/>
              </a:lnSpc>
              <a:spcBef>
                <a:spcPts val="0"/>
              </a:spcBef>
              <a:spcAft>
                <a:spcPts val="1800"/>
              </a:spcAft>
              <a:buClr>
                <a:srgbClr val="1B459B"/>
              </a:buClr>
              <a:buSzPct val="110000"/>
              <a:buFont typeface="+mj-lt"/>
              <a:buAutoNum type="arabicPeriod"/>
              <a:defRPr sz="2600" b="0">
                <a:solidFill>
                  <a:schemeClr val="accent6">
                    <a:lumMod val="50000"/>
                  </a:schemeClr>
                </a:solidFill>
              </a:defRPr>
            </a:lvl1pPr>
            <a:lvl2pPr marL="1005840" indent="-457200">
              <a:lnSpc>
                <a:spcPct val="90000"/>
              </a:lnSpc>
              <a:spcBef>
                <a:spcPts val="0"/>
              </a:spcBef>
              <a:spcAft>
                <a:spcPts val="600"/>
              </a:spcAft>
              <a:buClr>
                <a:srgbClr val="8EB244"/>
              </a:buClr>
              <a:buSzPct val="90000"/>
              <a:buFont typeface="+mj-lt"/>
              <a:buAutoNum type="alphaUcPeriod"/>
              <a:defRPr sz="2400" b="0">
                <a:solidFill>
                  <a:schemeClr val="accent6">
                    <a:lumMod val="50000"/>
                  </a:schemeClr>
                </a:solidFill>
              </a:defRPr>
            </a:lvl2pPr>
            <a:lvl3pPr>
              <a:lnSpc>
                <a:spcPct val="90000"/>
              </a:lnSpc>
              <a:spcBef>
                <a:spcPts val="0"/>
              </a:spcBef>
              <a:spcAft>
                <a:spcPts val="600"/>
              </a:spcAft>
              <a:buClrTx/>
              <a:buSzPct val="80000"/>
              <a:buFont typeface="Arial" pitchFamily="34" charset="0"/>
              <a:buChar char="–"/>
              <a:defRPr sz="2000">
                <a:solidFill>
                  <a:schemeClr val="accent6">
                    <a:lumMod val="50000"/>
                  </a:schemeClr>
                </a:solidFill>
              </a:defRPr>
            </a:lvl3pPr>
            <a:lvl4pPr>
              <a:lnSpc>
                <a:spcPct val="90000"/>
              </a:lnSpc>
              <a:spcBef>
                <a:spcPts val="0"/>
              </a:spcBef>
              <a:spcAft>
                <a:spcPts val="600"/>
              </a:spcAft>
              <a:buClr>
                <a:schemeClr val="accent5">
                  <a:lumMod val="50000"/>
                </a:schemeClr>
              </a:buClr>
              <a:buSzPct val="80000"/>
              <a:buFont typeface="Arial" pitchFamily="34" charset="0"/>
              <a:buChar char="–"/>
              <a:defRPr>
                <a:solidFill>
                  <a:schemeClr val="accent6">
                    <a:lumMod val="50000"/>
                  </a:schemeClr>
                </a:solidFill>
              </a:defRPr>
            </a:lvl4pPr>
            <a:lvl5pPr>
              <a:lnSpc>
                <a:spcPct val="90000"/>
              </a:lnSpc>
              <a:spcBef>
                <a:spcPts val="0"/>
              </a:spcBef>
              <a:spcAft>
                <a:spcPts val="600"/>
              </a:spcAft>
              <a:buClr>
                <a:schemeClr val="accent5">
                  <a:lumMod val="50000"/>
                </a:schemeClr>
              </a:buClr>
              <a:buSzPct val="60000"/>
              <a:buFont typeface="Courier New" pitchFamily="49" charset="0"/>
              <a:buChar char="o"/>
              <a:defRPr>
                <a:solidFill>
                  <a:schemeClr val="accent6">
                    <a:lumMod val="50000"/>
                  </a:schemeClr>
                </a:solidFill>
              </a:defRPr>
            </a:lvl5pPr>
          </a:lstStyle>
          <a:p>
            <a:pPr lvl="0"/>
            <a:r>
              <a:rPr lang="en-US" dirty="0" smtClean="0"/>
              <a:t>Click to edit Master text styles</a:t>
            </a:r>
          </a:p>
          <a:p>
            <a:pPr lvl="1"/>
            <a:r>
              <a:rPr lang="en-US" dirty="0" smtClean="0"/>
              <a:t>Second level</a:t>
            </a:r>
          </a:p>
          <a:p>
            <a:pPr lvl="2"/>
            <a:r>
              <a:rPr lang="en-US" dirty="0" smtClean="0"/>
              <a:t>Third level</a:t>
            </a:r>
          </a:p>
        </p:txBody>
      </p:sp>
    </p:spTree>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 name="Chart Placeholder 2"/>
          <p:cNvSpPr>
            <a:spLocks noGrp="1"/>
          </p:cNvSpPr>
          <p:nvPr>
            <p:ph type="chart" idx="1"/>
          </p:nvPr>
        </p:nvSpPr>
        <p:spPr>
          <a:xfrm>
            <a:off x="457200" y="1462088"/>
            <a:ext cx="8229600" cy="4862512"/>
          </a:xfrm>
        </p:spPr>
        <p:txBody>
          <a:bodyPr/>
          <a:lstStyle/>
          <a:p>
            <a:pPr lvl="0"/>
            <a:endParaRPr lang="en-US" noProof="0" smtClean="0"/>
          </a:p>
        </p:txBody>
      </p:sp>
      <p:sp>
        <p:nvSpPr>
          <p:cNvPr id="4" name="Title 1"/>
          <p:cNvSpPr>
            <a:spLocks noGrp="1"/>
          </p:cNvSpPr>
          <p:nvPr>
            <p:ph type="title"/>
          </p:nvPr>
        </p:nvSpPr>
        <p:spPr>
          <a:xfrm>
            <a:off x="457200" y="91440"/>
            <a:ext cx="8229600" cy="990600"/>
          </a:xfrm>
        </p:spPr>
        <p:txBody>
          <a:bodyPr/>
          <a:lstStyle>
            <a:lvl1pPr>
              <a:lnSpc>
                <a:spcPct val="90000"/>
              </a:lnSpc>
              <a:defRPr>
                <a:solidFill>
                  <a:schemeClr val="tx1"/>
                </a:solidFill>
                <a:effectLst>
                  <a:outerShdw blurRad="38100" dist="38100" dir="2700000" algn="tl">
                    <a:srgbClr val="000000">
                      <a:alpha val="43137"/>
                    </a:srgbClr>
                  </a:outerShdw>
                </a:effectLst>
              </a:defRPr>
            </a:lvl1pPr>
          </a:lstStyle>
          <a:p>
            <a:r>
              <a:rPr lang="en-US" dirty="0" smtClean="0"/>
              <a:t>Click to edit Master title style</a:t>
            </a:r>
            <a:endParaRPr lang="en-US" dirty="0"/>
          </a:p>
        </p:txBody>
      </p:sp>
    </p:spTree>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1" cstate="print">
            <a:lum/>
          </a:blip>
          <a:srcRect/>
          <a:stretch>
            <a:fillRect/>
          </a:stretch>
        </a:blipFill>
        <a:effectLst/>
      </p:bgPr>
    </p:bg>
    <p:spTree>
      <p:nvGrpSpPr>
        <p:cNvPr id="1" name=""/>
        <p:cNvGrpSpPr/>
        <p:nvPr/>
      </p:nvGrpSpPr>
      <p:grpSpPr>
        <a:xfrm>
          <a:off x="0" y="0"/>
          <a:ext cx="0" cy="0"/>
          <a:chOff x="0" y="0"/>
          <a:chExt cx="0" cy="0"/>
        </a:xfrm>
      </p:grpSpPr>
      <p:sp>
        <p:nvSpPr>
          <p:cNvPr id="11" name="Rectangle 10"/>
          <p:cNvSpPr/>
          <p:nvPr userDrawn="1"/>
        </p:nvSpPr>
        <p:spPr>
          <a:xfrm>
            <a:off x="0" y="0"/>
            <a:ext cx="9144000" cy="6858000"/>
          </a:xfrm>
          <a:prstGeom prst="rect">
            <a:avLst/>
          </a:prstGeom>
          <a:gradFill>
            <a:gsLst>
              <a:gs pos="0">
                <a:schemeClr val="tx1">
                  <a:alpha val="80000"/>
                </a:schemeClr>
              </a:gs>
              <a:gs pos="20000">
                <a:schemeClr val="tx1">
                  <a:alpha val="16000"/>
                </a:schemeClr>
              </a:gs>
              <a:gs pos="100000">
                <a:schemeClr val="tx1">
                  <a:alpha val="0"/>
                </a:schemeClr>
              </a:gs>
            </a:gsLst>
            <a:lin ang="5400000" scaled="0"/>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4" name="Rectangle 2"/>
          <p:cNvSpPr>
            <a:spLocks noGrp="1" noChangeArrowheads="1"/>
          </p:cNvSpPr>
          <p:nvPr>
            <p:ph type="title"/>
          </p:nvPr>
        </p:nvSpPr>
        <p:spPr bwMode="auto">
          <a:xfrm>
            <a:off x="457200" y="123825"/>
            <a:ext cx="8229600" cy="8667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Rectangle 3"/>
          <p:cNvSpPr>
            <a:spLocks noGrp="1" noChangeArrowheads="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327684" name="Text Box 4"/>
          <p:cNvSpPr txBox="1">
            <a:spLocks noChangeArrowheads="1"/>
          </p:cNvSpPr>
          <p:nvPr/>
        </p:nvSpPr>
        <p:spPr bwMode="auto">
          <a:xfrm>
            <a:off x="188955" y="6611779"/>
            <a:ext cx="3847528" cy="230832"/>
          </a:xfrm>
          <a:prstGeom prst="rect">
            <a:avLst/>
          </a:prstGeom>
          <a:noFill/>
          <a:ln w="9525">
            <a:noFill/>
            <a:miter lim="800000"/>
            <a:headEnd/>
            <a:tailEnd/>
          </a:ln>
          <a:effectLst/>
        </p:spPr>
        <p:txBody>
          <a:bodyPr wrap="none">
            <a:spAutoFit/>
          </a:bodyPr>
          <a:lstStyle/>
          <a:p>
            <a:pPr algn="l">
              <a:spcBef>
                <a:spcPct val="20000"/>
              </a:spcBef>
              <a:buSzPct val="75000"/>
              <a:buFont typeface="Wingdings" pitchFamily="2" charset="2"/>
              <a:buNone/>
              <a:defRPr/>
            </a:pPr>
            <a:r>
              <a:rPr lang="en-US" sz="900" b="0" dirty="0" smtClean="0">
                <a:solidFill>
                  <a:schemeClr val="tx1"/>
                </a:solidFill>
                <a:cs typeface="+mn-cs"/>
              </a:rPr>
              <a:t>© 2013 South-Western, a part of </a:t>
            </a:r>
            <a:r>
              <a:rPr lang="en-US" sz="900" b="0" dirty="0" err="1" smtClean="0">
                <a:solidFill>
                  <a:schemeClr val="tx1"/>
                </a:solidFill>
                <a:cs typeface="+mn-cs"/>
              </a:rPr>
              <a:t>Cengage</a:t>
            </a:r>
            <a:r>
              <a:rPr lang="en-US" sz="900" b="0" dirty="0" smtClean="0">
                <a:solidFill>
                  <a:schemeClr val="tx1"/>
                </a:solidFill>
                <a:cs typeface="+mn-cs"/>
              </a:rPr>
              <a:t> Learning. All rights reserved.</a:t>
            </a:r>
            <a:endParaRPr lang="en-US" sz="900" b="0" dirty="0">
              <a:solidFill>
                <a:schemeClr val="tx1"/>
              </a:solidFill>
              <a:cs typeface="+mn-cs"/>
            </a:endParaRPr>
          </a:p>
        </p:txBody>
      </p:sp>
      <p:sp>
        <p:nvSpPr>
          <p:cNvPr id="327685" name="Text Box 5"/>
          <p:cNvSpPr txBox="1">
            <a:spLocks noChangeArrowheads="1"/>
          </p:cNvSpPr>
          <p:nvPr/>
        </p:nvSpPr>
        <p:spPr bwMode="auto">
          <a:xfrm>
            <a:off x="7590287" y="6627168"/>
            <a:ext cx="1215397" cy="230832"/>
          </a:xfrm>
          <a:prstGeom prst="rect">
            <a:avLst/>
          </a:prstGeom>
          <a:noFill/>
          <a:ln w="9525">
            <a:noFill/>
            <a:miter lim="800000"/>
            <a:headEnd/>
            <a:tailEnd/>
          </a:ln>
          <a:effectLst/>
        </p:spPr>
        <p:txBody>
          <a:bodyPr wrap="none">
            <a:spAutoFit/>
          </a:bodyPr>
          <a:lstStyle/>
          <a:p>
            <a:pPr algn="r">
              <a:spcBef>
                <a:spcPct val="20000"/>
              </a:spcBef>
              <a:buSzPct val="75000"/>
              <a:buFont typeface="Wingdings" pitchFamily="2" charset="2"/>
              <a:buNone/>
              <a:defRPr/>
            </a:pPr>
            <a:r>
              <a:rPr lang="en-US" sz="900" b="0" dirty="0" smtClean="0">
                <a:solidFill>
                  <a:schemeClr val="tx1"/>
                </a:solidFill>
                <a:cs typeface="+mn-cs"/>
              </a:rPr>
              <a:t>Chapter 8 </a:t>
            </a:r>
            <a:r>
              <a:rPr lang="en-US" sz="900" b="0" dirty="0">
                <a:solidFill>
                  <a:schemeClr val="tx1"/>
                </a:solidFill>
                <a:cs typeface="+mn-cs"/>
              </a:rPr>
              <a:t>| Slide </a:t>
            </a:r>
            <a:fld id="{47482E30-F718-42A7-B11B-30F6F3F16431}" type="slidenum">
              <a:rPr lang="en-US" sz="900" b="0">
                <a:solidFill>
                  <a:schemeClr val="tx1"/>
                </a:solidFill>
                <a:cs typeface="+mn-cs"/>
              </a:rPr>
              <a:pPr algn="r">
                <a:spcBef>
                  <a:spcPct val="20000"/>
                </a:spcBef>
                <a:buSzPct val="75000"/>
                <a:buFont typeface="Wingdings" pitchFamily="2" charset="2"/>
                <a:buNone/>
                <a:defRPr/>
              </a:pPr>
              <a:t>‹#›</a:t>
            </a:fld>
            <a:endParaRPr lang="en-US" sz="900" b="0" dirty="0">
              <a:solidFill>
                <a:schemeClr val="tx1"/>
              </a:solidFill>
              <a:cs typeface="+mn-cs"/>
            </a:endParaRPr>
          </a:p>
        </p:txBody>
      </p:sp>
      <p:sp>
        <p:nvSpPr>
          <p:cNvPr id="6" name="Rectangle 5" hidden="1"/>
          <p:cNvSpPr/>
          <p:nvPr userDrawn="1"/>
        </p:nvSpPr>
        <p:spPr>
          <a:xfrm>
            <a:off x="0" y="0"/>
            <a:ext cx="9144000" cy="152400"/>
          </a:xfrm>
          <a:prstGeom prst="rect">
            <a:avLst/>
          </a:prstGeom>
          <a:solidFill>
            <a:srgbClr val="8EB2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hidden="1"/>
          <p:cNvSpPr/>
          <p:nvPr userDrawn="1"/>
        </p:nvSpPr>
        <p:spPr>
          <a:xfrm>
            <a:off x="0" y="0"/>
            <a:ext cx="9144000" cy="685800"/>
          </a:xfrm>
          <a:prstGeom prst="rect">
            <a:avLst/>
          </a:prstGeom>
          <a:solidFill>
            <a:srgbClr val="8EB2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userDrawn="1"/>
        </p:nvSpPr>
        <p:spPr>
          <a:xfrm>
            <a:off x="106879" y="76200"/>
            <a:ext cx="8930243" cy="990600"/>
          </a:xfrm>
          <a:prstGeom prst="roundRect">
            <a:avLst/>
          </a:prstGeom>
          <a:solidFill>
            <a:srgbClr val="1B459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userDrawn="1"/>
        </p:nvSpPr>
        <p:spPr>
          <a:xfrm>
            <a:off x="228600" y="1163782"/>
            <a:ext cx="8686800" cy="5428404"/>
          </a:xfrm>
          <a:prstGeom prst="roundRect">
            <a:avLst>
              <a:gd name="adj" fmla="val 2206"/>
            </a:avLst>
          </a:prstGeom>
          <a:solidFill>
            <a:schemeClr val="tx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slow">
    <p:fade/>
  </p:transition>
  <p:txStyles>
    <p:titleStyle>
      <a:lvl1pPr algn="ctr" rtl="0" eaLnBrk="0" fontAlgn="base" hangingPunct="0">
        <a:lnSpc>
          <a:spcPts val="3300"/>
        </a:lnSpc>
        <a:spcBef>
          <a:spcPct val="0"/>
        </a:spcBef>
        <a:spcAft>
          <a:spcPct val="0"/>
        </a:spcAft>
        <a:defRPr sz="2800" b="1" spc="-50">
          <a:solidFill>
            <a:srgbClr val="2D2E5E"/>
          </a:solidFill>
          <a:latin typeface="+mj-lt"/>
          <a:ea typeface="+mj-ea"/>
          <a:cs typeface="+mj-cs"/>
        </a:defRPr>
      </a:lvl1pPr>
      <a:lvl2pPr algn="ctr" rtl="0" eaLnBrk="0" fontAlgn="base" hangingPunct="0">
        <a:lnSpc>
          <a:spcPts val="3300"/>
        </a:lnSpc>
        <a:spcBef>
          <a:spcPct val="0"/>
        </a:spcBef>
        <a:spcAft>
          <a:spcPct val="0"/>
        </a:spcAft>
        <a:defRPr sz="3000" b="1">
          <a:solidFill>
            <a:srgbClr val="2D2E5E"/>
          </a:solidFill>
          <a:latin typeface="Arial" charset="0"/>
        </a:defRPr>
      </a:lvl2pPr>
      <a:lvl3pPr algn="ctr" rtl="0" eaLnBrk="0" fontAlgn="base" hangingPunct="0">
        <a:lnSpc>
          <a:spcPts val="3300"/>
        </a:lnSpc>
        <a:spcBef>
          <a:spcPct val="0"/>
        </a:spcBef>
        <a:spcAft>
          <a:spcPct val="0"/>
        </a:spcAft>
        <a:defRPr sz="3000" b="1">
          <a:solidFill>
            <a:srgbClr val="2D2E5E"/>
          </a:solidFill>
          <a:latin typeface="Arial" charset="0"/>
        </a:defRPr>
      </a:lvl3pPr>
      <a:lvl4pPr algn="ctr" rtl="0" eaLnBrk="0" fontAlgn="base" hangingPunct="0">
        <a:lnSpc>
          <a:spcPts val="3300"/>
        </a:lnSpc>
        <a:spcBef>
          <a:spcPct val="0"/>
        </a:spcBef>
        <a:spcAft>
          <a:spcPct val="0"/>
        </a:spcAft>
        <a:defRPr sz="3000" b="1">
          <a:solidFill>
            <a:srgbClr val="2D2E5E"/>
          </a:solidFill>
          <a:latin typeface="Arial" charset="0"/>
        </a:defRPr>
      </a:lvl4pPr>
      <a:lvl5pPr algn="ctr" rtl="0" eaLnBrk="0" fontAlgn="base" hangingPunct="0">
        <a:lnSpc>
          <a:spcPts val="3300"/>
        </a:lnSpc>
        <a:spcBef>
          <a:spcPct val="0"/>
        </a:spcBef>
        <a:spcAft>
          <a:spcPct val="0"/>
        </a:spcAft>
        <a:defRPr sz="3000" b="1">
          <a:solidFill>
            <a:srgbClr val="2D2E5E"/>
          </a:solidFill>
          <a:latin typeface="Arial" charset="0"/>
        </a:defRPr>
      </a:lvl5pPr>
      <a:lvl6pPr marL="457200" algn="ctr" rtl="0" fontAlgn="base">
        <a:spcBef>
          <a:spcPct val="0"/>
        </a:spcBef>
        <a:spcAft>
          <a:spcPct val="0"/>
        </a:spcAft>
        <a:defRPr sz="3600" b="1" u="sng">
          <a:solidFill>
            <a:schemeClr val="tx1"/>
          </a:solidFill>
          <a:latin typeface="Arial" charset="0"/>
        </a:defRPr>
      </a:lvl6pPr>
      <a:lvl7pPr marL="914400" algn="ctr" rtl="0" fontAlgn="base">
        <a:spcBef>
          <a:spcPct val="0"/>
        </a:spcBef>
        <a:spcAft>
          <a:spcPct val="0"/>
        </a:spcAft>
        <a:defRPr sz="3600" b="1" u="sng">
          <a:solidFill>
            <a:schemeClr val="tx1"/>
          </a:solidFill>
          <a:latin typeface="Arial" charset="0"/>
        </a:defRPr>
      </a:lvl7pPr>
      <a:lvl8pPr marL="1371600" algn="ctr" rtl="0" fontAlgn="base">
        <a:spcBef>
          <a:spcPct val="0"/>
        </a:spcBef>
        <a:spcAft>
          <a:spcPct val="0"/>
        </a:spcAft>
        <a:defRPr sz="3600" b="1" u="sng">
          <a:solidFill>
            <a:schemeClr val="tx1"/>
          </a:solidFill>
          <a:latin typeface="Arial" charset="0"/>
        </a:defRPr>
      </a:lvl8pPr>
      <a:lvl9pPr marL="1828800" algn="ctr" rtl="0" fontAlgn="base">
        <a:spcBef>
          <a:spcPct val="0"/>
        </a:spcBef>
        <a:spcAft>
          <a:spcPct val="0"/>
        </a:spcAft>
        <a:defRPr sz="3600" b="1" u="sng">
          <a:solidFill>
            <a:schemeClr val="tx1"/>
          </a:solidFill>
          <a:latin typeface="Arial" charset="0"/>
        </a:defRPr>
      </a:lvl9pPr>
    </p:titleStyle>
    <p:bodyStyle>
      <a:lvl1pPr marL="342900" indent="-342900" algn="l" rtl="0" eaLnBrk="0" fontAlgn="base" hangingPunct="0">
        <a:spcBef>
          <a:spcPct val="20000"/>
        </a:spcBef>
        <a:spcAft>
          <a:spcPct val="0"/>
        </a:spcAft>
        <a:buClr>
          <a:schemeClr val="tx1"/>
        </a:buClr>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800">
          <a:solidFill>
            <a:schemeClr val="tx1"/>
          </a:solidFill>
          <a:latin typeface="+mn-lt"/>
        </a:defRPr>
      </a:lvl3pPr>
      <a:lvl4pPr marL="1600200" indent="-228600" algn="l" rtl="0" eaLnBrk="0" fontAlgn="base" hangingPunct="0">
        <a:spcBef>
          <a:spcPct val="20000"/>
        </a:spcBef>
        <a:spcAft>
          <a:spcPct val="0"/>
        </a:spcAft>
        <a:buClr>
          <a:schemeClr val="tx1"/>
        </a:buClr>
        <a:buChar char="–"/>
        <a:defRPr sz="2800">
          <a:solidFill>
            <a:schemeClr val="tx1"/>
          </a:solidFill>
          <a:latin typeface="+mn-lt"/>
        </a:defRPr>
      </a:lvl4pPr>
      <a:lvl5pPr marL="2057400" indent="-228600" algn="l" rtl="0" eaLnBrk="0" fontAlgn="base" hangingPunct="0">
        <a:spcBef>
          <a:spcPct val="20000"/>
        </a:spcBef>
        <a:spcAft>
          <a:spcPct val="0"/>
        </a:spcAft>
        <a:buClr>
          <a:schemeClr val="tx1"/>
        </a:buClr>
        <a:buChar char="»"/>
        <a:defRPr sz="2800">
          <a:solidFill>
            <a:schemeClr val="tx1"/>
          </a:solidFill>
          <a:latin typeface="+mn-lt"/>
        </a:defRPr>
      </a:lvl5pPr>
      <a:lvl6pPr marL="2514600" indent="-228600" algn="l" rtl="0" fontAlgn="base">
        <a:spcBef>
          <a:spcPct val="20000"/>
        </a:spcBef>
        <a:spcAft>
          <a:spcPct val="0"/>
        </a:spcAft>
        <a:buClr>
          <a:schemeClr val="tx1"/>
        </a:buClr>
        <a:buChar char="»"/>
        <a:defRPr sz="2800">
          <a:solidFill>
            <a:schemeClr val="tx1"/>
          </a:solidFill>
          <a:latin typeface="+mn-lt"/>
        </a:defRPr>
      </a:lvl6pPr>
      <a:lvl7pPr marL="2971800" indent="-228600" algn="l" rtl="0" fontAlgn="base">
        <a:spcBef>
          <a:spcPct val="20000"/>
        </a:spcBef>
        <a:spcAft>
          <a:spcPct val="0"/>
        </a:spcAft>
        <a:buClr>
          <a:schemeClr val="tx1"/>
        </a:buClr>
        <a:buChar char="»"/>
        <a:defRPr sz="2800">
          <a:solidFill>
            <a:schemeClr val="tx1"/>
          </a:solidFill>
          <a:latin typeface="+mn-lt"/>
        </a:defRPr>
      </a:lvl7pPr>
      <a:lvl8pPr marL="3429000" indent="-228600" algn="l" rtl="0" fontAlgn="base">
        <a:spcBef>
          <a:spcPct val="20000"/>
        </a:spcBef>
        <a:spcAft>
          <a:spcPct val="0"/>
        </a:spcAft>
        <a:buClr>
          <a:schemeClr val="tx1"/>
        </a:buClr>
        <a:buChar char="»"/>
        <a:defRPr sz="2800">
          <a:solidFill>
            <a:schemeClr val="tx1"/>
          </a:solidFill>
          <a:latin typeface="+mn-lt"/>
        </a:defRPr>
      </a:lvl8pPr>
      <a:lvl9pPr marL="3886200" indent="-228600" algn="l" rtl="0" fontAlgn="base">
        <a:spcBef>
          <a:spcPct val="20000"/>
        </a:spcBef>
        <a:spcAft>
          <a:spcPct val="0"/>
        </a:spcAft>
        <a:buClr>
          <a:schemeClr val="tx1"/>
        </a:buClr>
        <a:buChar char="»"/>
        <a:defRPr sz="28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ctrTitle"/>
          </p:nvPr>
        </p:nvSpPr>
        <p:spPr>
          <a:xfrm>
            <a:off x="762000" y="1524000"/>
            <a:ext cx="7848600" cy="990600"/>
          </a:xfrm>
        </p:spPr>
        <p:txBody>
          <a:bodyPr/>
          <a:lstStyle/>
          <a:p>
            <a:r>
              <a:rPr lang="en-US" sz="4400" dirty="0" smtClean="0"/>
              <a:t>Business Foundations 3e</a:t>
            </a:r>
          </a:p>
        </p:txBody>
      </p:sp>
      <p:sp>
        <p:nvSpPr>
          <p:cNvPr id="5123" name="Rectangle 5"/>
          <p:cNvSpPr>
            <a:spLocks noGrp="1" noChangeArrowheads="1"/>
          </p:cNvSpPr>
          <p:nvPr>
            <p:ph type="subTitle" idx="1"/>
          </p:nvPr>
        </p:nvSpPr>
        <p:spPr>
          <a:xfrm>
            <a:off x="4800600" y="2743200"/>
            <a:ext cx="3886200" cy="1752600"/>
          </a:xfrm>
        </p:spPr>
        <p:txBody>
          <a:bodyPr/>
          <a:lstStyle/>
          <a:p>
            <a:r>
              <a:rPr lang="en-US" dirty="0" smtClean="0"/>
              <a:t>Hughes, Pride, &amp; </a:t>
            </a:r>
            <a:r>
              <a:rPr lang="en-US" dirty="0" err="1" smtClean="0"/>
              <a:t>Kapoor</a:t>
            </a:r>
            <a:endParaRPr lang="en-US" dirty="0" smtClean="0"/>
          </a:p>
        </p:txBody>
      </p:sp>
    </p:spTree>
  </p:cSld>
  <p:clrMapOvr>
    <a:masterClrMapping/>
  </p:clrMapOvr>
  <p:transition spd="slow">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MainImage1.png"/>
          <p:cNvPicPr>
            <a:picLocks noChangeAspect="1"/>
          </p:cNvPicPr>
          <p:nvPr/>
        </p:nvPicPr>
        <p:blipFill>
          <a:blip r:embed="rId3" cstate="print"/>
          <a:stretch>
            <a:fillRect/>
          </a:stretch>
        </p:blipFill>
        <p:spPr>
          <a:xfrm>
            <a:off x="1131092" y="1371600"/>
            <a:ext cx="6881816" cy="4900779"/>
          </a:xfrm>
          <a:prstGeom prst="rect">
            <a:avLst/>
          </a:prstGeom>
          <a:effectLst>
            <a:outerShdw blurRad="114300" dist="38100" dir="5400000" algn="t" rotWithShape="0">
              <a:prstClr val="black">
                <a:alpha val="47000"/>
              </a:prstClr>
            </a:outerShdw>
          </a:effectLst>
        </p:spPr>
      </p:pic>
      <p:sp>
        <p:nvSpPr>
          <p:cNvPr id="3" name="Title 2"/>
          <p:cNvSpPr>
            <a:spLocks noGrp="1"/>
          </p:cNvSpPr>
          <p:nvPr>
            <p:ph type="title"/>
          </p:nvPr>
        </p:nvSpPr>
        <p:spPr/>
        <p:txBody>
          <a:bodyPr/>
          <a:lstStyle/>
          <a:p>
            <a:r>
              <a:rPr lang="en-US" dirty="0" smtClean="0"/>
              <a:t>Mastering Financial Management</a:t>
            </a:r>
            <a:endParaRPr lang="en-US" dirty="0"/>
          </a:p>
        </p:txBody>
      </p:sp>
      <p:sp>
        <p:nvSpPr>
          <p:cNvPr id="7" name="Freeform 6"/>
          <p:cNvSpPr/>
          <p:nvPr/>
        </p:nvSpPr>
        <p:spPr>
          <a:xfrm>
            <a:off x="762000" y="2286000"/>
            <a:ext cx="1676400" cy="1143000"/>
          </a:xfrm>
          <a:custGeom>
            <a:avLst/>
            <a:gdLst>
              <a:gd name="connsiteX0" fmla="*/ 0 w 1752600"/>
              <a:gd name="connsiteY0" fmla="*/ 1295400 h 1295400"/>
              <a:gd name="connsiteX1" fmla="*/ 50715 w 1752600"/>
              <a:gd name="connsiteY1" fmla="*/ 0 h 1295400"/>
              <a:gd name="connsiteX2" fmla="*/ 1752600 w 1752600"/>
              <a:gd name="connsiteY2" fmla="*/ 0 h 1295400"/>
              <a:gd name="connsiteX3" fmla="*/ 1701885 w 1752600"/>
              <a:gd name="connsiteY3" fmla="*/ 1295400 h 1295400"/>
              <a:gd name="connsiteX4" fmla="*/ 0 w 1752600"/>
              <a:gd name="connsiteY4" fmla="*/ 1295400 h 1295400"/>
              <a:gd name="connsiteX0" fmla="*/ 0 w 1752600"/>
              <a:gd name="connsiteY0" fmla="*/ 1295400 h 1295400"/>
              <a:gd name="connsiteX1" fmla="*/ 0 w 1752600"/>
              <a:gd name="connsiteY1" fmla="*/ 0 h 1295400"/>
              <a:gd name="connsiteX2" fmla="*/ 1752600 w 1752600"/>
              <a:gd name="connsiteY2" fmla="*/ 0 h 1295400"/>
              <a:gd name="connsiteX3" fmla="*/ 1701885 w 1752600"/>
              <a:gd name="connsiteY3" fmla="*/ 1295400 h 1295400"/>
              <a:gd name="connsiteX4" fmla="*/ 0 w 1752600"/>
              <a:gd name="connsiteY4" fmla="*/ 1295400 h 1295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2600" h="1295400">
                <a:moveTo>
                  <a:pt x="0" y="1295400"/>
                </a:moveTo>
                <a:lnTo>
                  <a:pt x="0" y="0"/>
                </a:lnTo>
                <a:lnTo>
                  <a:pt x="1752600" y="0"/>
                </a:lnTo>
                <a:lnTo>
                  <a:pt x="1701885" y="1295400"/>
                </a:lnTo>
                <a:lnTo>
                  <a:pt x="0" y="1295400"/>
                </a:lnTo>
                <a:close/>
              </a:path>
            </a:pathLst>
          </a:custGeom>
          <a:solidFill>
            <a:srgbClr val="8EB244"/>
          </a:solidFill>
          <a:ln>
            <a:noFill/>
          </a:ln>
          <a:effectLst>
            <a:outerShdw blurRad="50800" dist="50800" dir="30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838200" y="2286000"/>
            <a:ext cx="1447800" cy="1138773"/>
          </a:xfrm>
          <a:prstGeom prst="rect">
            <a:avLst/>
          </a:prstGeom>
          <a:noFill/>
        </p:spPr>
        <p:txBody>
          <a:bodyPr wrap="square" rtlCol="0" anchor="ctr">
            <a:spAutoFit/>
          </a:bodyPr>
          <a:lstStyle/>
          <a:p>
            <a:pPr algn="ctr"/>
            <a:r>
              <a:rPr lang="en-US" sz="2000" b="1" dirty="0" smtClean="0">
                <a:effectLst>
                  <a:outerShdw blurRad="38100" dist="38100" dir="2700000" algn="tl">
                    <a:srgbClr val="000000">
                      <a:alpha val="43137"/>
                    </a:srgbClr>
                  </a:outerShdw>
                </a:effectLst>
              </a:rPr>
              <a:t>Chapter</a:t>
            </a:r>
            <a:r>
              <a:rPr lang="en-US" sz="1600" b="1" dirty="0" smtClean="0">
                <a:effectLst>
                  <a:outerShdw blurRad="38100" dist="38100" dir="2700000" algn="tl">
                    <a:srgbClr val="000000">
                      <a:alpha val="43137"/>
                    </a:srgbClr>
                  </a:outerShdw>
                </a:effectLst>
              </a:rPr>
              <a:t> </a:t>
            </a:r>
          </a:p>
          <a:p>
            <a:pPr algn="ctr"/>
            <a:r>
              <a:rPr lang="en-US" sz="4800" b="1" dirty="0" smtClean="0">
                <a:effectLst>
                  <a:outerShdw blurRad="38100" dist="38100" dir="2700000" algn="tl">
                    <a:srgbClr val="000000">
                      <a:alpha val="43137"/>
                    </a:srgbClr>
                  </a:outerShdw>
                </a:effectLst>
                <a:latin typeface="Arial Black" pitchFamily="34" charset="0"/>
              </a:rPr>
              <a:t>8</a:t>
            </a:r>
            <a:endParaRPr lang="en-US" sz="4800" b="1" dirty="0">
              <a:effectLst>
                <a:outerShdw blurRad="38100" dist="38100" dir="2700000" algn="tl">
                  <a:srgbClr val="000000">
                    <a:alpha val="43137"/>
                  </a:srgbClr>
                </a:outerShdw>
              </a:effectLst>
              <a:latin typeface="Arial Black" pitchFamily="34" charset="0"/>
            </a:endParaRPr>
          </a:p>
        </p:txBody>
      </p:sp>
    </p:spTree>
  </p:cSld>
  <p:clrMapOvr>
    <a:masterClrMapping/>
  </p:clrMapOvr>
  <p:transition spd="slow">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p:txBody>
          <a:bodyPr/>
          <a:lstStyle/>
          <a:p>
            <a:pPr marL="457200" indent="-457200">
              <a:spcAft>
                <a:spcPts val="900"/>
              </a:spcAft>
              <a:buClr>
                <a:srgbClr val="8EB244"/>
              </a:buClr>
              <a:buSzPct val="100000"/>
              <a:buFont typeface="+mj-lt"/>
              <a:buAutoNum type="arabicPeriod"/>
            </a:pPr>
            <a:r>
              <a:rPr lang="en-US" sz="2400" b="0" dirty="0" smtClean="0">
                <a:solidFill>
                  <a:srgbClr val="002060"/>
                </a:solidFill>
              </a:rPr>
              <a:t>Explain the need for financial management </a:t>
            </a:r>
            <a:br>
              <a:rPr lang="en-US" sz="2400" b="0" dirty="0" smtClean="0">
                <a:solidFill>
                  <a:srgbClr val="002060"/>
                </a:solidFill>
              </a:rPr>
            </a:br>
            <a:r>
              <a:rPr lang="en-US" sz="2400" b="0" dirty="0" smtClean="0">
                <a:solidFill>
                  <a:srgbClr val="002060"/>
                </a:solidFill>
              </a:rPr>
              <a:t>in business.</a:t>
            </a:r>
          </a:p>
          <a:p>
            <a:pPr marL="457200" indent="-457200">
              <a:spcAft>
                <a:spcPts val="900"/>
              </a:spcAft>
              <a:buClr>
                <a:srgbClr val="8EB244"/>
              </a:buClr>
              <a:buSzPct val="100000"/>
              <a:buFont typeface="+mj-lt"/>
              <a:buAutoNum type="arabicPeriod"/>
            </a:pPr>
            <a:r>
              <a:rPr lang="en-US" sz="2400" b="0" dirty="0" smtClean="0">
                <a:solidFill>
                  <a:srgbClr val="002060"/>
                </a:solidFill>
              </a:rPr>
              <a:t>Summarize the process of planning for </a:t>
            </a:r>
            <a:br>
              <a:rPr lang="en-US" sz="2400" b="0" dirty="0" smtClean="0">
                <a:solidFill>
                  <a:srgbClr val="002060"/>
                </a:solidFill>
              </a:rPr>
            </a:br>
            <a:r>
              <a:rPr lang="en-US" sz="2400" b="0" dirty="0" smtClean="0">
                <a:solidFill>
                  <a:srgbClr val="002060"/>
                </a:solidFill>
              </a:rPr>
              <a:t>financial management.</a:t>
            </a:r>
          </a:p>
          <a:p>
            <a:pPr marL="457200" indent="-457200">
              <a:spcAft>
                <a:spcPts val="900"/>
              </a:spcAft>
              <a:buClr>
                <a:srgbClr val="8EB244"/>
              </a:buClr>
              <a:buSzPct val="100000"/>
              <a:buFont typeface="+mj-lt"/>
              <a:buAutoNum type="arabicPeriod"/>
            </a:pPr>
            <a:r>
              <a:rPr lang="en-US" sz="2400" b="0" dirty="0" smtClean="0">
                <a:solidFill>
                  <a:srgbClr val="002060"/>
                </a:solidFill>
              </a:rPr>
              <a:t>Identify the services provided by banks and financial institutions for their business customers.</a:t>
            </a:r>
          </a:p>
          <a:p>
            <a:pPr marL="457200" indent="-457200">
              <a:spcAft>
                <a:spcPts val="900"/>
              </a:spcAft>
              <a:buClr>
                <a:srgbClr val="8EB244"/>
              </a:buClr>
              <a:buSzPct val="100000"/>
              <a:buFont typeface="+mj-lt"/>
              <a:buAutoNum type="arabicPeriod"/>
            </a:pPr>
            <a:r>
              <a:rPr lang="en-US" sz="2400" b="0" dirty="0" smtClean="0">
                <a:solidFill>
                  <a:srgbClr val="002060"/>
                </a:solidFill>
              </a:rPr>
              <a:t>Describe the advantages and disadvantages of different methods of short-term debt financing.</a:t>
            </a:r>
          </a:p>
          <a:p>
            <a:pPr marL="457200" indent="-457200">
              <a:spcAft>
                <a:spcPts val="900"/>
              </a:spcAft>
              <a:buClr>
                <a:srgbClr val="8EB244"/>
              </a:buClr>
              <a:buSzPct val="100000"/>
              <a:buFont typeface="+mj-lt"/>
              <a:buAutoNum type="arabicPeriod"/>
            </a:pPr>
            <a:r>
              <a:rPr lang="en-US" sz="2400" b="0" dirty="0" smtClean="0">
                <a:solidFill>
                  <a:srgbClr val="002060"/>
                </a:solidFill>
              </a:rPr>
              <a:t>Evaluate the advantages and disadvantages </a:t>
            </a:r>
            <a:br>
              <a:rPr lang="en-US" sz="2400" b="0" dirty="0" smtClean="0">
                <a:solidFill>
                  <a:srgbClr val="002060"/>
                </a:solidFill>
              </a:rPr>
            </a:br>
            <a:r>
              <a:rPr lang="en-US" sz="2400" b="0" dirty="0" smtClean="0">
                <a:solidFill>
                  <a:srgbClr val="002060"/>
                </a:solidFill>
              </a:rPr>
              <a:t>of equity financing.</a:t>
            </a:r>
          </a:p>
          <a:p>
            <a:pPr marL="457200" indent="-457200">
              <a:spcAft>
                <a:spcPts val="900"/>
              </a:spcAft>
              <a:buClr>
                <a:srgbClr val="8EB244"/>
              </a:buClr>
              <a:buSzPct val="100000"/>
              <a:buFont typeface="+mj-lt"/>
              <a:buAutoNum type="arabicPeriod"/>
            </a:pPr>
            <a:r>
              <a:rPr lang="en-US" sz="2400" b="0" dirty="0" smtClean="0">
                <a:solidFill>
                  <a:srgbClr val="002060"/>
                </a:solidFill>
              </a:rPr>
              <a:t>Evaluate the advantages and disadvantages </a:t>
            </a:r>
            <a:br>
              <a:rPr lang="en-US" sz="2400" b="0" dirty="0" smtClean="0">
                <a:solidFill>
                  <a:srgbClr val="002060"/>
                </a:solidFill>
              </a:rPr>
            </a:br>
            <a:r>
              <a:rPr lang="en-US" sz="2400" b="0" dirty="0" smtClean="0">
                <a:solidFill>
                  <a:srgbClr val="002060"/>
                </a:solidFill>
              </a:rPr>
              <a:t>of long-term debt financing.</a:t>
            </a:r>
            <a:endParaRPr lang="en-US" sz="2400" b="0" dirty="0">
              <a:solidFill>
                <a:srgbClr val="002060"/>
              </a:solidFill>
            </a:endParaRPr>
          </a:p>
        </p:txBody>
      </p:sp>
      <p:sp>
        <p:nvSpPr>
          <p:cNvPr id="3" name="Title 2"/>
          <p:cNvSpPr>
            <a:spLocks noGrp="1"/>
          </p:cNvSpPr>
          <p:nvPr>
            <p:ph type="title"/>
          </p:nvPr>
        </p:nvSpPr>
        <p:spPr/>
        <p:txBody>
          <a:bodyPr/>
          <a:lstStyle/>
          <a:p>
            <a:r>
              <a:rPr lang="en-US" smtClean="0"/>
              <a:t>Learning Objectives</a:t>
            </a:r>
            <a:endParaRPr lang="en-US"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78"/>
          <p:cNvSpPr>
            <a:spLocks noGrp="1" noChangeArrowheads="1"/>
          </p:cNvSpPr>
          <p:nvPr>
            <p:ph idx="1"/>
          </p:nvPr>
        </p:nvSpPr>
        <p:spPr/>
        <p:txBody>
          <a:bodyPr/>
          <a:lstStyle/>
          <a:p>
            <a:r>
              <a:rPr lang="en-US" dirty="0" smtClean="0"/>
              <a:t>All the activities concerned with obtaining money and using it effectively</a:t>
            </a:r>
          </a:p>
          <a:p>
            <a:pPr lvl="1"/>
            <a:r>
              <a:rPr lang="en-US" dirty="0" smtClean="0"/>
              <a:t>Determining the best ways to raise money</a:t>
            </a:r>
          </a:p>
          <a:p>
            <a:pPr lvl="1">
              <a:spcAft>
                <a:spcPts val="1200"/>
              </a:spcAft>
            </a:pPr>
            <a:r>
              <a:rPr lang="en-US" dirty="0" smtClean="0"/>
              <a:t>Ensuring money is used in keeping with the organization’s goal</a:t>
            </a:r>
          </a:p>
          <a:p>
            <a:r>
              <a:rPr lang="en-US" dirty="0" smtClean="0"/>
              <a:t>The need for financing</a:t>
            </a:r>
          </a:p>
          <a:p>
            <a:pPr lvl="1"/>
            <a:r>
              <a:rPr lang="en-US" dirty="0" smtClean="0"/>
              <a:t>When expenses are high or sales are low</a:t>
            </a:r>
          </a:p>
          <a:p>
            <a:pPr lvl="1"/>
            <a:r>
              <a:rPr lang="en-US" dirty="0" smtClean="0"/>
              <a:t>Opportunities to expand</a:t>
            </a:r>
          </a:p>
        </p:txBody>
      </p:sp>
      <p:sp>
        <p:nvSpPr>
          <p:cNvPr id="3" name="Title 2"/>
          <p:cNvSpPr>
            <a:spLocks noGrp="1"/>
          </p:cNvSpPr>
          <p:nvPr>
            <p:ph type="title"/>
          </p:nvPr>
        </p:nvSpPr>
        <p:spPr/>
        <p:txBody>
          <a:bodyPr/>
          <a:lstStyle/>
          <a:p>
            <a:r>
              <a:rPr lang="en-US" smtClean="0"/>
              <a:t>What Is Financial Management?</a:t>
            </a:r>
            <a:endParaRPr lang="en-US"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Types of Financing</a:t>
            </a:r>
            <a:endParaRPr lang="en-US" dirty="0"/>
          </a:p>
        </p:txBody>
      </p:sp>
      <p:sp>
        <p:nvSpPr>
          <p:cNvPr id="4" name="Rectangle 12"/>
          <p:cNvSpPr>
            <a:spLocks noGrp="1" noChangeArrowheads="1"/>
          </p:cNvSpPr>
          <p:nvPr>
            <p:ph idx="1"/>
          </p:nvPr>
        </p:nvSpPr>
        <p:spPr/>
        <p:txBody>
          <a:bodyPr/>
          <a:lstStyle/>
          <a:p>
            <a:r>
              <a:rPr lang="en-US" b="1" dirty="0" smtClean="0">
                <a:solidFill>
                  <a:srgbClr val="8EB244"/>
                </a:solidFill>
              </a:rPr>
              <a:t>Short-term financing</a:t>
            </a:r>
          </a:p>
          <a:p>
            <a:pPr lvl="1"/>
            <a:r>
              <a:rPr lang="en-US" dirty="0" smtClean="0"/>
              <a:t>Money that will be used for one year or less</a:t>
            </a:r>
          </a:p>
          <a:p>
            <a:pPr lvl="2"/>
            <a:r>
              <a:rPr lang="en-US" sz="2400" dirty="0" smtClean="0"/>
              <a:t>Cash flow—the movement of money into and out </a:t>
            </a:r>
            <a:br>
              <a:rPr lang="en-US" sz="2400" dirty="0" smtClean="0"/>
            </a:br>
            <a:r>
              <a:rPr lang="en-US" sz="2400" dirty="0" smtClean="0"/>
              <a:t>of an organization</a:t>
            </a:r>
          </a:p>
          <a:p>
            <a:pPr lvl="2">
              <a:spcAft>
                <a:spcPts val="1200"/>
              </a:spcAft>
            </a:pPr>
            <a:r>
              <a:rPr lang="en-US" sz="2400" dirty="0" smtClean="0"/>
              <a:t>Inventory—speculative production (the time lag between the actual production of goods and when the goods are sold)</a:t>
            </a:r>
          </a:p>
          <a:p>
            <a:r>
              <a:rPr lang="en-US" b="1" dirty="0" smtClean="0">
                <a:solidFill>
                  <a:srgbClr val="8EB244"/>
                </a:solidFill>
              </a:rPr>
              <a:t>Long-term financing</a:t>
            </a:r>
          </a:p>
          <a:p>
            <a:pPr lvl="1"/>
            <a:r>
              <a:rPr lang="en-US" sz="2400" dirty="0" smtClean="0"/>
              <a:t>Money that will be used for longer than one year</a:t>
            </a:r>
          </a:p>
          <a:p>
            <a:pPr lvl="1"/>
            <a:r>
              <a:rPr lang="en-US" sz="2400" dirty="0" smtClean="0"/>
              <a:t>Often involves large amounts of money</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5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Comparison of </a:t>
            </a:r>
            <a:br>
              <a:rPr lang="en-US" dirty="0" smtClean="0"/>
            </a:br>
            <a:r>
              <a:rPr lang="en-US" dirty="0" smtClean="0"/>
              <a:t>Short- and Long-Term Financing</a:t>
            </a:r>
            <a:endParaRPr lang="en-US" dirty="0"/>
          </a:p>
        </p:txBody>
      </p:sp>
      <p:pic>
        <p:nvPicPr>
          <p:cNvPr id="1026" name="Picture 2"/>
          <p:cNvPicPr>
            <a:picLocks noChangeAspect="1" noChangeArrowheads="1"/>
          </p:cNvPicPr>
          <p:nvPr/>
        </p:nvPicPr>
        <p:blipFill>
          <a:blip r:embed="rId3" cstate="print"/>
          <a:srcRect/>
          <a:stretch>
            <a:fillRect/>
          </a:stretch>
        </p:blipFill>
        <p:spPr bwMode="auto">
          <a:xfrm>
            <a:off x="1304925" y="1747838"/>
            <a:ext cx="6534150" cy="3362325"/>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Cash Flow for a Manufacturing Business</a:t>
            </a:r>
            <a:endParaRPr lang="en-US" dirty="0"/>
          </a:p>
        </p:txBody>
      </p:sp>
      <p:pic>
        <p:nvPicPr>
          <p:cNvPr id="2050" name="Picture 2"/>
          <p:cNvPicPr>
            <a:picLocks noChangeAspect="1" noChangeArrowheads="1"/>
          </p:cNvPicPr>
          <p:nvPr/>
        </p:nvPicPr>
        <p:blipFill>
          <a:blip r:embed="rId3" cstate="print"/>
          <a:srcRect/>
          <a:stretch>
            <a:fillRect/>
          </a:stretch>
        </p:blipFill>
        <p:spPr bwMode="auto">
          <a:xfrm>
            <a:off x="1371600" y="1371600"/>
            <a:ext cx="6543675" cy="5000625"/>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a:xfrm>
            <a:off x="640080" y="1554480"/>
            <a:ext cx="7589520" cy="4953000"/>
          </a:xfrm>
        </p:spPr>
        <p:txBody>
          <a:bodyPr/>
          <a:lstStyle/>
          <a:p>
            <a:r>
              <a:rPr lang="en-US" dirty="0" smtClean="0"/>
              <a:t>Financial management during the </a:t>
            </a:r>
            <a:br>
              <a:rPr lang="en-US" dirty="0" smtClean="0"/>
            </a:br>
            <a:r>
              <a:rPr lang="en-US" dirty="0" smtClean="0"/>
              <a:t>economic crisis</a:t>
            </a:r>
          </a:p>
          <a:p>
            <a:pPr lvl="1">
              <a:spcAft>
                <a:spcPts val="1200"/>
              </a:spcAft>
            </a:pPr>
            <a:r>
              <a:rPr lang="en-US" dirty="0" smtClean="0"/>
              <a:t>More difficult to use many traditional sources </a:t>
            </a:r>
            <a:br>
              <a:rPr lang="en-US" dirty="0" smtClean="0"/>
            </a:br>
            <a:r>
              <a:rPr lang="en-US" dirty="0" smtClean="0"/>
              <a:t>of short- and long-term financing</a:t>
            </a:r>
          </a:p>
          <a:p>
            <a:pPr lvl="1">
              <a:spcAft>
                <a:spcPts val="1200"/>
              </a:spcAft>
            </a:pPr>
            <a:r>
              <a:rPr lang="en-US" dirty="0" smtClean="0"/>
              <a:t>More difficult for companies to sell </a:t>
            </a:r>
            <a:br>
              <a:rPr lang="en-US" dirty="0" smtClean="0"/>
            </a:br>
            <a:r>
              <a:rPr lang="en-US" dirty="0" smtClean="0"/>
              <a:t>commercial paper</a:t>
            </a:r>
          </a:p>
          <a:p>
            <a:pPr lvl="1">
              <a:spcAft>
                <a:spcPts val="1200"/>
              </a:spcAft>
            </a:pPr>
            <a:r>
              <a:rPr lang="en-US" dirty="0" smtClean="0"/>
              <a:t>Number of corporations selling stock for the first time to the general public decreased</a:t>
            </a:r>
          </a:p>
          <a:p>
            <a:pPr lvl="1">
              <a:spcAft>
                <a:spcPts val="1200"/>
              </a:spcAft>
            </a:pPr>
            <a:r>
              <a:rPr lang="en-US" dirty="0" smtClean="0"/>
              <a:t>The number of businesses filing for bankruptcy increased</a:t>
            </a:r>
          </a:p>
          <a:p>
            <a:pPr lvl="1"/>
            <a:endParaRPr lang="en-US" dirty="0" smtClean="0"/>
          </a:p>
          <a:p>
            <a:endParaRPr lang="en-US" dirty="0" smtClean="0"/>
          </a:p>
        </p:txBody>
      </p:sp>
      <p:sp>
        <p:nvSpPr>
          <p:cNvPr id="3" name="Title 2"/>
          <p:cNvSpPr>
            <a:spLocks noGrp="1"/>
          </p:cNvSpPr>
          <p:nvPr>
            <p:ph type="title"/>
          </p:nvPr>
        </p:nvSpPr>
        <p:spPr/>
        <p:txBody>
          <a:bodyPr/>
          <a:lstStyle/>
          <a:p>
            <a:r>
              <a:rPr lang="en-US" smtClean="0"/>
              <a:t>Financial Management During the </a:t>
            </a:r>
            <a:br>
              <a:rPr lang="en-US" smtClean="0"/>
            </a:br>
            <a:r>
              <a:rPr lang="en-US" smtClean="0"/>
              <a:t>Economic Crisis</a:t>
            </a:r>
            <a:endParaRPr lang="en-US"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a:xfrm>
            <a:off x="640080" y="1447800"/>
            <a:ext cx="8077200" cy="4953000"/>
          </a:xfrm>
        </p:spPr>
        <p:txBody>
          <a:bodyPr/>
          <a:lstStyle/>
          <a:p>
            <a:r>
              <a:rPr lang="en-US" dirty="0" smtClean="0"/>
              <a:t>Proper financial management at all times must ensure that:</a:t>
            </a:r>
          </a:p>
          <a:p>
            <a:pPr lvl="1"/>
            <a:r>
              <a:rPr lang="en-US" sz="2200" dirty="0" smtClean="0"/>
              <a:t>Financing priorities are established in line with organizational goals</a:t>
            </a:r>
          </a:p>
          <a:p>
            <a:pPr lvl="1"/>
            <a:r>
              <a:rPr lang="en-US" sz="2200" dirty="0" smtClean="0"/>
              <a:t>Spending is planned and controlled</a:t>
            </a:r>
          </a:p>
          <a:p>
            <a:pPr lvl="1"/>
            <a:r>
              <a:rPr lang="en-US" sz="2200" dirty="0" smtClean="0"/>
              <a:t>Sufficient financing is available when it is needed</a:t>
            </a:r>
          </a:p>
          <a:p>
            <a:pPr lvl="1"/>
            <a:r>
              <a:rPr lang="en-US" sz="2200" dirty="0" smtClean="0"/>
              <a:t>Credit customers pay their bills on time and past-due or delinquent accounts are reduced</a:t>
            </a:r>
          </a:p>
          <a:p>
            <a:pPr lvl="1"/>
            <a:r>
              <a:rPr lang="en-US" sz="2200" dirty="0" smtClean="0"/>
              <a:t>Bills are paid promptly to protect the firm’s credit rating and ability to borrow money</a:t>
            </a:r>
          </a:p>
          <a:p>
            <a:pPr lvl="1"/>
            <a:r>
              <a:rPr lang="en-US" sz="2200" dirty="0" smtClean="0"/>
              <a:t>Funds are always available to pay taxes on time</a:t>
            </a:r>
          </a:p>
          <a:p>
            <a:pPr lvl="1"/>
            <a:r>
              <a:rPr lang="en-US" sz="2200" dirty="0" smtClean="0"/>
              <a:t>Excess cash is invested in CDs, government securities, or conservative marketable securities</a:t>
            </a:r>
          </a:p>
          <a:p>
            <a:endParaRPr lang="en-US" dirty="0" smtClean="0"/>
          </a:p>
        </p:txBody>
      </p:sp>
      <p:sp>
        <p:nvSpPr>
          <p:cNvPr id="3" name="Title 2"/>
          <p:cNvSpPr>
            <a:spLocks noGrp="1"/>
          </p:cNvSpPr>
          <p:nvPr>
            <p:ph type="title"/>
          </p:nvPr>
        </p:nvSpPr>
        <p:spPr/>
        <p:txBody>
          <a:bodyPr/>
          <a:lstStyle/>
          <a:p>
            <a:r>
              <a:rPr lang="en-US" dirty="0" smtClean="0"/>
              <a:t>Financial Management During the </a:t>
            </a:r>
            <a:br>
              <a:rPr lang="en-US" dirty="0" smtClean="0"/>
            </a:br>
            <a:r>
              <a:rPr lang="en-US" dirty="0" smtClean="0"/>
              <a:t>Economic Crisis </a:t>
            </a:r>
            <a:r>
              <a:rPr lang="en-US" sz="2400" b="0" dirty="0" smtClean="0"/>
              <a:t>(cont.)</a:t>
            </a:r>
            <a:endParaRPr lang="en-US" sz="2400" b="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500"/>
                                        <p:tgtEl>
                                          <p:spTgt spid="4">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fade">
                                      <p:cBhvr>
                                        <p:cTn id="16" dur="500"/>
                                        <p:tgtEl>
                                          <p:spTgt spid="4">
                                            <p:txEl>
                                              <p:pRg st="4" end="4"/>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fade">
                                      <p:cBhvr>
                                        <p:cTn id="19" dur="500"/>
                                        <p:tgtEl>
                                          <p:spTgt spid="4">
                                            <p:txEl>
                                              <p:pRg st="5" end="5"/>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Effect transition="in" filter="fade">
                                      <p:cBhvr>
                                        <p:cTn id="25"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FFFFFF"/>
                </a:solidFill>
              </a:rPr>
              <a:t>Risk-Return Ratio</a:t>
            </a:r>
            <a:endParaRPr lang="en-US" dirty="0">
              <a:solidFill>
                <a:srgbClr val="FFFFFF"/>
              </a:solidFill>
            </a:endParaRPr>
          </a:p>
        </p:txBody>
      </p:sp>
      <p:sp>
        <p:nvSpPr>
          <p:cNvPr id="4" name="Rectangle 3"/>
          <p:cNvSpPr>
            <a:spLocks noGrp="1" noChangeArrowheads="1"/>
          </p:cNvSpPr>
          <p:nvPr>
            <p:ph idx="1"/>
          </p:nvPr>
        </p:nvSpPr>
        <p:spPr>
          <a:xfrm>
            <a:off x="640080" y="1371600"/>
            <a:ext cx="8077200" cy="4953000"/>
          </a:xfrm>
        </p:spPr>
        <p:txBody>
          <a:bodyPr/>
          <a:lstStyle/>
          <a:p>
            <a:endParaRPr lang="en-US" sz="2000" dirty="0" smtClean="0"/>
          </a:p>
          <a:p>
            <a:r>
              <a:rPr lang="en-US" sz="2400" b="1" dirty="0" smtClean="0">
                <a:solidFill>
                  <a:srgbClr val="8EB244"/>
                </a:solidFill>
              </a:rPr>
              <a:t>The risk-return </a:t>
            </a:r>
            <a:r>
              <a:rPr lang="en-US" sz="2400" dirty="0" smtClean="0"/>
              <a:t>r</a:t>
            </a:r>
            <a:r>
              <a:rPr lang="en-US" sz="2400" b="1" dirty="0" smtClean="0">
                <a:solidFill>
                  <a:srgbClr val="8EB244"/>
                </a:solidFill>
              </a:rPr>
              <a:t>atio</a:t>
            </a:r>
          </a:p>
          <a:p>
            <a:pPr lvl="1">
              <a:spcBef>
                <a:spcPct val="0"/>
              </a:spcBef>
            </a:pPr>
            <a:r>
              <a:rPr lang="en-US" sz="2200" dirty="0" smtClean="0"/>
              <a:t>Based on the principle that a high-risk decision should generate higher financial returns for a business and more conservative decisions often generate lesser returns</a:t>
            </a:r>
          </a:p>
          <a:p>
            <a:pPr lvl="1"/>
            <a:endParaRPr lang="en-US" dirty="0" smtClean="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idx="1"/>
          </p:nvPr>
        </p:nvSpPr>
        <p:spPr/>
        <p:txBody>
          <a:bodyPr/>
          <a:lstStyle/>
          <a:p>
            <a:r>
              <a:rPr lang="en-US" dirty="0" smtClean="0"/>
              <a:t>Financial plan</a:t>
            </a:r>
          </a:p>
          <a:p>
            <a:pPr lvl="1">
              <a:spcAft>
                <a:spcPts val="1800"/>
              </a:spcAft>
            </a:pPr>
            <a:r>
              <a:rPr lang="en-US" dirty="0" smtClean="0"/>
              <a:t>A plan for obtaining and using the money needed to implement an organization’s goals</a:t>
            </a:r>
          </a:p>
          <a:p>
            <a:r>
              <a:rPr lang="en-US" dirty="0" smtClean="0"/>
              <a:t>Developing the financial plan</a:t>
            </a:r>
          </a:p>
          <a:p>
            <a:pPr lvl="1"/>
            <a:r>
              <a:rPr lang="en-US" dirty="0" smtClean="0"/>
              <a:t>Establish organizational goals</a:t>
            </a:r>
          </a:p>
          <a:p>
            <a:pPr lvl="1"/>
            <a:r>
              <a:rPr lang="en-US" dirty="0" smtClean="0"/>
              <a:t>Determine how much money is needed to </a:t>
            </a:r>
            <a:br>
              <a:rPr lang="en-US" dirty="0" smtClean="0"/>
            </a:br>
            <a:r>
              <a:rPr lang="en-US" dirty="0" smtClean="0"/>
              <a:t>accomplish each goal</a:t>
            </a:r>
          </a:p>
          <a:p>
            <a:pPr lvl="1"/>
            <a:r>
              <a:rPr lang="en-US" dirty="0" smtClean="0"/>
              <a:t>Identify sources of funds and which to use</a:t>
            </a:r>
          </a:p>
        </p:txBody>
      </p:sp>
      <p:sp>
        <p:nvSpPr>
          <p:cNvPr id="3" name="Title 2"/>
          <p:cNvSpPr>
            <a:spLocks noGrp="1"/>
          </p:cNvSpPr>
          <p:nvPr>
            <p:ph type="title"/>
          </p:nvPr>
        </p:nvSpPr>
        <p:spPr/>
        <p:txBody>
          <a:bodyPr/>
          <a:lstStyle/>
          <a:p>
            <a:r>
              <a:rPr lang="en-US" dirty="0" smtClean="0"/>
              <a:t>Planning—the Basis of Sound </a:t>
            </a:r>
            <a:br>
              <a:rPr lang="en-US" dirty="0" smtClean="0"/>
            </a:br>
            <a:r>
              <a:rPr lang="en-US" dirty="0" smtClean="0"/>
              <a:t>Financial Management</a:t>
            </a:r>
            <a:endParaRPr lang="en-US"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The Three Steps of Financial Planning</a:t>
            </a:r>
            <a:endParaRPr lang="en-US" dirty="0"/>
          </a:p>
        </p:txBody>
      </p:sp>
      <p:pic>
        <p:nvPicPr>
          <p:cNvPr id="4098" name="Picture 2"/>
          <p:cNvPicPr>
            <a:picLocks noChangeAspect="1" noChangeArrowheads="1"/>
          </p:cNvPicPr>
          <p:nvPr/>
        </p:nvPicPr>
        <p:blipFill>
          <a:blip r:embed="rId3" cstate="print"/>
          <a:srcRect/>
          <a:stretch>
            <a:fillRect/>
          </a:stretch>
        </p:blipFill>
        <p:spPr bwMode="auto">
          <a:xfrm>
            <a:off x="1233487" y="1295399"/>
            <a:ext cx="6677025" cy="5014913"/>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p:txBody>
          <a:bodyPr/>
          <a:lstStyle/>
          <a:p>
            <a:r>
              <a:rPr lang="en-US" dirty="0" smtClean="0"/>
              <a:t>Establishing organizational goals</a:t>
            </a:r>
          </a:p>
          <a:p>
            <a:pPr lvl="1"/>
            <a:r>
              <a:rPr lang="en-US" b="1" dirty="0" smtClean="0"/>
              <a:t>Goal</a:t>
            </a:r>
          </a:p>
          <a:p>
            <a:pPr lvl="2"/>
            <a:r>
              <a:rPr lang="en-US" dirty="0" smtClean="0"/>
              <a:t>An end result that an organization expects to achieve over a one- to ten-year period</a:t>
            </a:r>
          </a:p>
          <a:p>
            <a:pPr lvl="3"/>
            <a:r>
              <a:rPr lang="en-US" dirty="0" smtClean="0"/>
              <a:t>Must be specific and measurable</a:t>
            </a:r>
          </a:p>
          <a:p>
            <a:pPr lvl="3"/>
            <a:r>
              <a:rPr lang="en-US" dirty="0" smtClean="0"/>
              <a:t>Must be realistic</a:t>
            </a:r>
          </a:p>
        </p:txBody>
      </p:sp>
      <p:sp>
        <p:nvSpPr>
          <p:cNvPr id="3" name="Title 2"/>
          <p:cNvSpPr>
            <a:spLocks noGrp="1"/>
          </p:cNvSpPr>
          <p:nvPr>
            <p:ph type="title"/>
          </p:nvPr>
        </p:nvSpPr>
        <p:spPr/>
        <p:txBody>
          <a:bodyPr/>
          <a:lstStyle/>
          <a:p>
            <a:r>
              <a:rPr lang="en-US" smtClean="0"/>
              <a:t>Developing the Financial Plan</a:t>
            </a:r>
            <a:endParaRPr lang="en-US"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Developing the Financial Plan </a:t>
            </a:r>
            <a:r>
              <a:rPr lang="en-US" sz="2400" b="0" dirty="0" smtClean="0"/>
              <a:t>(cont.)</a:t>
            </a:r>
            <a:endParaRPr lang="en-US" sz="2400" dirty="0"/>
          </a:p>
        </p:txBody>
      </p:sp>
      <p:sp>
        <p:nvSpPr>
          <p:cNvPr id="4" name="Rectangle 6"/>
          <p:cNvSpPr>
            <a:spLocks noGrp="1" noChangeArrowheads="1"/>
          </p:cNvSpPr>
          <p:nvPr>
            <p:ph idx="1"/>
          </p:nvPr>
        </p:nvSpPr>
        <p:spPr>
          <a:xfrm>
            <a:off x="640080" y="1554480"/>
            <a:ext cx="7818120" cy="4953000"/>
          </a:xfrm>
        </p:spPr>
        <p:txBody>
          <a:bodyPr/>
          <a:lstStyle/>
          <a:p>
            <a:r>
              <a:rPr lang="en-US" sz="2400" b="1" dirty="0" smtClean="0">
                <a:solidFill>
                  <a:srgbClr val="8EB244"/>
                </a:solidFill>
              </a:rPr>
              <a:t>Budgeting for financial needs</a:t>
            </a:r>
          </a:p>
          <a:p>
            <a:pPr lvl="1">
              <a:spcAft>
                <a:spcPts val="0"/>
              </a:spcAft>
            </a:pPr>
            <a:r>
              <a:rPr lang="en-US" sz="2200" b="1" dirty="0" smtClean="0"/>
              <a:t>Budget</a:t>
            </a:r>
          </a:p>
          <a:p>
            <a:pPr marL="1004888" lvl="2">
              <a:spcBef>
                <a:spcPct val="0"/>
              </a:spcBef>
            </a:pPr>
            <a:r>
              <a:rPr lang="en-US" sz="1800" dirty="0" smtClean="0"/>
              <a:t>A financial statement that projects income and/or expenditures over a specified future period</a:t>
            </a:r>
          </a:p>
          <a:p>
            <a:pPr marL="1004888" lvl="2">
              <a:spcAft>
                <a:spcPts val="1200"/>
              </a:spcAft>
            </a:pPr>
            <a:r>
              <a:rPr lang="en-US" sz="1800" dirty="0" smtClean="0"/>
              <a:t>Usually begins with sales and various types of expenses</a:t>
            </a:r>
          </a:p>
          <a:p>
            <a:pPr lvl="1">
              <a:spcAft>
                <a:spcPts val="0"/>
              </a:spcAft>
            </a:pPr>
            <a:r>
              <a:rPr lang="en-US" sz="2200" b="1" dirty="0" smtClean="0"/>
              <a:t>Cash budget</a:t>
            </a:r>
          </a:p>
          <a:p>
            <a:pPr marL="1004888" lvl="2">
              <a:spcBef>
                <a:spcPct val="0"/>
              </a:spcBef>
            </a:pPr>
            <a:r>
              <a:rPr lang="en-US" sz="1800" dirty="0" smtClean="0"/>
              <a:t>Projects cash receipts and expenditures over a specified period</a:t>
            </a:r>
          </a:p>
          <a:p>
            <a:pPr marL="1004888" lvl="2"/>
            <a:r>
              <a:rPr lang="en-US" sz="1800" dirty="0" smtClean="0"/>
              <a:t>Traditional</a:t>
            </a:r>
          </a:p>
          <a:p>
            <a:pPr lvl="3">
              <a:spcBef>
                <a:spcPct val="0"/>
              </a:spcBef>
            </a:pPr>
            <a:r>
              <a:rPr lang="en-US" sz="1800" dirty="0" smtClean="0"/>
              <a:t>Based on dollar amounts in budget for preceding year</a:t>
            </a:r>
          </a:p>
          <a:p>
            <a:pPr marL="1004888" lvl="2"/>
            <a:r>
              <a:rPr lang="en-US" sz="1800" dirty="0" smtClean="0"/>
              <a:t>Zero-based budgeting</a:t>
            </a:r>
          </a:p>
          <a:p>
            <a:pPr lvl="3">
              <a:spcBef>
                <a:spcPct val="0"/>
              </a:spcBef>
              <a:spcAft>
                <a:spcPts val="1200"/>
              </a:spcAft>
            </a:pPr>
            <a:r>
              <a:rPr lang="en-US" sz="1800" dirty="0" smtClean="0"/>
              <a:t>Every expense in every budget must be justified</a:t>
            </a:r>
          </a:p>
          <a:p>
            <a:pPr lvl="1">
              <a:spcAft>
                <a:spcPts val="0"/>
              </a:spcAft>
            </a:pPr>
            <a:r>
              <a:rPr lang="en-US" sz="2200" b="1" dirty="0" smtClean="0"/>
              <a:t>Capital budget</a:t>
            </a:r>
          </a:p>
          <a:p>
            <a:pPr marL="1004888" lvl="2">
              <a:spcBef>
                <a:spcPct val="0"/>
              </a:spcBef>
            </a:pPr>
            <a:r>
              <a:rPr lang="en-US" sz="1800" dirty="0" smtClean="0"/>
              <a:t>Estimates a firm’s expenditures for major assets and its </a:t>
            </a:r>
            <a:br>
              <a:rPr lang="en-US" sz="1800" dirty="0" smtClean="0"/>
            </a:br>
            <a:r>
              <a:rPr lang="en-US" sz="1800" dirty="0" smtClean="0"/>
              <a:t>long-term financing needs </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500"/>
                                        <p:tgtEl>
                                          <p:spTgt spid="4">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fade">
                                      <p:cBhvr>
                                        <p:cTn id="18" dur="500"/>
                                        <p:tgtEl>
                                          <p:spTgt spid="4">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500"/>
                                        <p:tgtEl>
                                          <p:spTgt spid="4">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6" end="6"/>
                                            </p:txEl>
                                          </p:spTgt>
                                        </p:tgtEl>
                                        <p:attrNameLst>
                                          <p:attrName>style.visibility</p:attrName>
                                        </p:attrNameLst>
                                      </p:cBhvr>
                                      <p:to>
                                        <p:strVal val="visible"/>
                                      </p:to>
                                    </p:set>
                                    <p:animEffect transition="in" filter="fade">
                                      <p:cBhvr>
                                        <p:cTn id="24" dur="500"/>
                                        <p:tgtEl>
                                          <p:spTgt spid="4">
                                            <p:txEl>
                                              <p:pRg st="6" end="6"/>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500"/>
                                        <p:tgtEl>
                                          <p:spTgt spid="4">
                                            <p:txEl>
                                              <p:pRg st="7" end="7"/>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xEl>
                                              <p:pRg st="8" end="8"/>
                                            </p:txEl>
                                          </p:spTgt>
                                        </p:tgtEl>
                                        <p:attrNameLst>
                                          <p:attrName>style.visibility</p:attrName>
                                        </p:attrNameLst>
                                      </p:cBhvr>
                                      <p:to>
                                        <p:strVal val="visible"/>
                                      </p:to>
                                    </p:set>
                                    <p:animEffect transition="in" filter="fade">
                                      <p:cBhvr>
                                        <p:cTn id="30" dur="500"/>
                                        <p:tgtEl>
                                          <p:spTgt spid="4">
                                            <p:txEl>
                                              <p:pRg st="8" end="8"/>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animEffect transition="in" filter="fade">
                                      <p:cBhvr>
                                        <p:cTn id="33" dur="500"/>
                                        <p:tgtEl>
                                          <p:spTgt spid="4">
                                            <p:txEl>
                                              <p:pRg st="9" end="9"/>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
                                            <p:txEl>
                                              <p:pRg st="10" end="10"/>
                                            </p:txEl>
                                          </p:spTgt>
                                        </p:tgtEl>
                                        <p:attrNameLst>
                                          <p:attrName>style.visibility</p:attrName>
                                        </p:attrNameLst>
                                      </p:cBhvr>
                                      <p:to>
                                        <p:strVal val="visible"/>
                                      </p:to>
                                    </p:set>
                                    <p:animEffect transition="in" filter="fade">
                                      <p:cBhvr>
                                        <p:cTn id="38" dur="500"/>
                                        <p:tgtEl>
                                          <p:spTgt spid="4">
                                            <p:txEl>
                                              <p:pRg st="10" end="10"/>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
                                            <p:txEl>
                                              <p:pRg st="11" end="11"/>
                                            </p:txEl>
                                          </p:spTgt>
                                        </p:tgtEl>
                                        <p:attrNameLst>
                                          <p:attrName>style.visibility</p:attrName>
                                        </p:attrNameLst>
                                      </p:cBhvr>
                                      <p:to>
                                        <p:strVal val="visible"/>
                                      </p:to>
                                    </p:set>
                                    <p:animEffect transition="in" filter="fade">
                                      <p:cBhvr>
                                        <p:cTn id="41"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Developing the Financial Plan </a:t>
            </a:r>
            <a:r>
              <a:rPr lang="en-US" sz="2400" b="0" dirty="0" smtClean="0"/>
              <a:t>(cont.)</a:t>
            </a:r>
            <a:endParaRPr lang="en-US" sz="2400" dirty="0"/>
          </a:p>
        </p:txBody>
      </p:sp>
      <p:sp>
        <p:nvSpPr>
          <p:cNvPr id="4" name="Rectangle 7"/>
          <p:cNvSpPr>
            <a:spLocks noGrp="1" noChangeArrowheads="1"/>
          </p:cNvSpPr>
          <p:nvPr>
            <p:ph idx="1"/>
          </p:nvPr>
        </p:nvSpPr>
        <p:spPr/>
        <p:txBody>
          <a:bodyPr/>
          <a:lstStyle/>
          <a:p>
            <a:r>
              <a:rPr lang="en-US" sz="2400" b="1" dirty="0" smtClean="0">
                <a:solidFill>
                  <a:srgbClr val="8EB244"/>
                </a:solidFill>
              </a:rPr>
              <a:t>Identifying sources of funds</a:t>
            </a:r>
          </a:p>
          <a:p>
            <a:pPr lvl="1"/>
            <a:r>
              <a:rPr lang="en-US" sz="2200" b="1" dirty="0" smtClean="0"/>
              <a:t>Sales revenues</a:t>
            </a:r>
          </a:p>
          <a:p>
            <a:pPr lvl="2"/>
            <a:r>
              <a:rPr lang="en-US" sz="2000" dirty="0" smtClean="0"/>
              <a:t>Provide the greatest part of the firm’s financing</a:t>
            </a:r>
          </a:p>
          <a:p>
            <a:pPr lvl="1"/>
            <a:r>
              <a:rPr lang="en-US" sz="2200" b="1" dirty="0" smtClean="0"/>
              <a:t>Equity capital</a:t>
            </a:r>
          </a:p>
          <a:p>
            <a:pPr lvl="2"/>
            <a:r>
              <a:rPr lang="en-US" sz="2000" dirty="0" smtClean="0"/>
              <a:t>Money received from the owners or from the sale of shares of ownership in the business; long-term financing</a:t>
            </a:r>
          </a:p>
          <a:p>
            <a:pPr lvl="1"/>
            <a:r>
              <a:rPr lang="en-US" sz="2200" b="1" dirty="0" smtClean="0"/>
              <a:t>Debt capital</a:t>
            </a:r>
          </a:p>
          <a:p>
            <a:pPr lvl="2"/>
            <a:r>
              <a:rPr lang="en-US" sz="2000" dirty="0" smtClean="0"/>
              <a:t>Borrowed money obtained through loans</a:t>
            </a:r>
          </a:p>
          <a:p>
            <a:pPr lvl="1"/>
            <a:r>
              <a:rPr lang="en-US" sz="2200" b="1" dirty="0" smtClean="0"/>
              <a:t>Proceeds from the sale of assets</a:t>
            </a:r>
          </a:p>
          <a:p>
            <a:pPr lvl="2">
              <a:spcAft>
                <a:spcPts val="1200"/>
              </a:spcAft>
            </a:pPr>
            <a:r>
              <a:rPr lang="en-US" sz="2000" dirty="0" smtClean="0"/>
              <a:t>If absolutely necessary or when no longer needed</a:t>
            </a:r>
          </a:p>
          <a:p>
            <a:r>
              <a:rPr lang="en-US" sz="2400" b="1" dirty="0" smtClean="0">
                <a:solidFill>
                  <a:srgbClr val="8EB244"/>
                </a:solidFill>
              </a:rPr>
              <a:t>Monitoring and evaluating financial performance</a:t>
            </a:r>
          </a:p>
          <a:p>
            <a:pPr lvl="1"/>
            <a:r>
              <a:rPr lang="en-US" sz="2200" b="1" dirty="0" smtClean="0"/>
              <a:t>Prevents minor problems from becoming major ones</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500"/>
                                        <p:tgtEl>
                                          <p:spTgt spid="4">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fade">
                                      <p:cBhvr>
                                        <p:cTn id="18" dur="500"/>
                                        <p:tgtEl>
                                          <p:spTgt spid="4">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animEffect transition="in" filter="fade">
                                      <p:cBhvr>
                                        <p:cTn id="23" dur="500"/>
                                        <p:tgtEl>
                                          <p:spTgt spid="4">
                                            <p:txEl>
                                              <p:pRg st="5" end="5"/>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6" end="6"/>
                                            </p:txEl>
                                          </p:spTgt>
                                        </p:tgtEl>
                                        <p:attrNameLst>
                                          <p:attrName>style.visibility</p:attrName>
                                        </p:attrNameLst>
                                      </p:cBhvr>
                                      <p:to>
                                        <p:strVal val="visible"/>
                                      </p:to>
                                    </p:set>
                                    <p:animEffect transition="in" filter="fade">
                                      <p:cBhvr>
                                        <p:cTn id="26" dur="500"/>
                                        <p:tgtEl>
                                          <p:spTgt spid="4">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animEffect transition="in" filter="fade">
                                      <p:cBhvr>
                                        <p:cTn id="31" dur="500"/>
                                        <p:tgtEl>
                                          <p:spTgt spid="4">
                                            <p:txEl>
                                              <p:pRg st="7" end="7"/>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
                                            <p:txEl>
                                              <p:pRg st="8" end="8"/>
                                            </p:txEl>
                                          </p:spTgt>
                                        </p:tgtEl>
                                        <p:attrNameLst>
                                          <p:attrName>style.visibility</p:attrName>
                                        </p:attrNameLst>
                                      </p:cBhvr>
                                      <p:to>
                                        <p:strVal val="visible"/>
                                      </p:to>
                                    </p:set>
                                    <p:animEffect transition="in" filter="fade">
                                      <p:cBhvr>
                                        <p:cTn id="34" dur="500"/>
                                        <p:tgtEl>
                                          <p:spTgt spid="4">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animEffect transition="in" filter="fade">
                                      <p:cBhvr>
                                        <p:cTn id="39" dur="500"/>
                                        <p:tgtEl>
                                          <p:spTgt spid="4">
                                            <p:txEl>
                                              <p:pRg st="9" end="9"/>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
                                            <p:txEl>
                                              <p:pRg st="10" end="10"/>
                                            </p:txEl>
                                          </p:spTgt>
                                        </p:tgtEl>
                                        <p:attrNameLst>
                                          <p:attrName>style.visibility</p:attrName>
                                        </p:attrNameLst>
                                      </p:cBhvr>
                                      <p:to>
                                        <p:strVal val="visible"/>
                                      </p:to>
                                    </p:set>
                                    <p:animEffect transition="in" filter="fade">
                                      <p:cBhvr>
                                        <p:cTn id="42"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Cash Budget for Stars and </a:t>
            </a:r>
            <a:br>
              <a:rPr lang="en-US" dirty="0" smtClean="0"/>
            </a:br>
            <a:r>
              <a:rPr lang="en-US" dirty="0" smtClean="0"/>
              <a:t>Stripes Clothing</a:t>
            </a:r>
            <a:endParaRPr lang="en-US" dirty="0"/>
          </a:p>
        </p:txBody>
      </p:sp>
      <p:pic>
        <p:nvPicPr>
          <p:cNvPr id="5122" name="Picture 2"/>
          <p:cNvPicPr>
            <a:picLocks noGrp="1" noChangeAspect="1" noChangeArrowheads="1"/>
          </p:cNvPicPr>
          <p:nvPr>
            <p:ph idx="1"/>
          </p:nvPr>
        </p:nvPicPr>
        <p:blipFill>
          <a:blip r:embed="rId3" cstate="print"/>
          <a:srcRect/>
          <a:stretch>
            <a:fillRect/>
          </a:stretch>
        </p:blipFill>
        <p:spPr bwMode="auto">
          <a:xfrm>
            <a:off x="533400" y="1447800"/>
            <a:ext cx="8077200" cy="4661599"/>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Class Exercise</a:t>
            </a:r>
          </a:p>
          <a:p>
            <a:r>
              <a:rPr lang="en-US"/>
              <a:t> </a:t>
            </a:r>
            <a:r>
              <a:rPr lang="en-US" sz="2000" smtClean="0"/>
              <a:t>Exercise</a:t>
            </a:r>
            <a:r>
              <a:rPr lang="en-US" sz="2000" dirty="0"/>
              <a:t>:  Divide the class into groups of three or four students.  Each group represents a household with a monthly net income of R21 000.  Rent costs R6500 per month, car payment is R4000 per month, and insurance is R800 per month.  Students loan payments equal R2400 per month and utilities total about R2700 per month, depending on the season.  Ask each group to prepare a budget to include the above expenses as well as additional expenses for groceries, clothing, entertainment, and miscellaneous items of you have allocated R 1000 for each. After each group has prepared a budget, tell each group that it has just been announced that, due to an economic downturn, monthly net incomes will be reduced by 20 percent.  Ask each group to then make a plan for cutting expenses, where necessary, to accommodate the pay cut.</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030583847"/>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Traditional Banking Services </a:t>
            </a:r>
            <a:br>
              <a:rPr lang="en-US" dirty="0" smtClean="0"/>
            </a:br>
            <a:r>
              <a:rPr lang="en-US" dirty="0" smtClean="0"/>
              <a:t>for Business Clients</a:t>
            </a:r>
            <a:endParaRPr lang="en-US" dirty="0"/>
          </a:p>
        </p:txBody>
      </p:sp>
      <p:sp>
        <p:nvSpPr>
          <p:cNvPr id="5" name="Rectangle 5"/>
          <p:cNvSpPr>
            <a:spLocks noGrp="1" noChangeArrowheads="1"/>
          </p:cNvSpPr>
          <p:nvPr>
            <p:ph idx="1"/>
          </p:nvPr>
        </p:nvSpPr>
        <p:spPr>
          <a:xfrm>
            <a:off x="640080" y="1554480"/>
            <a:ext cx="7589520" cy="4953000"/>
          </a:xfrm>
        </p:spPr>
        <p:txBody>
          <a:bodyPr/>
          <a:lstStyle/>
          <a:p>
            <a:pPr eaLnBrk="1" hangingPunct="1">
              <a:spcAft>
                <a:spcPts val="0"/>
              </a:spcAft>
            </a:pPr>
            <a:r>
              <a:rPr lang="en-US" sz="2400" b="1" dirty="0" smtClean="0">
                <a:solidFill>
                  <a:srgbClr val="8EB244"/>
                </a:solidFill>
              </a:rPr>
              <a:t>Checking accounts</a:t>
            </a:r>
          </a:p>
          <a:p>
            <a:pPr lvl="1" eaLnBrk="1" hangingPunct="1">
              <a:spcBef>
                <a:spcPct val="0"/>
              </a:spcBef>
            </a:pPr>
            <a:r>
              <a:rPr lang="en-US" sz="1800" b="1" dirty="0" smtClean="0"/>
              <a:t>Check</a:t>
            </a:r>
            <a:r>
              <a:rPr lang="en-US" sz="1800" dirty="0" smtClean="0"/>
              <a:t>—a written order for a bank or other financial institution to pay a stated dollar amount to the business or person indicated on the check</a:t>
            </a:r>
          </a:p>
          <a:p>
            <a:pPr lvl="1" eaLnBrk="1" hangingPunct="1">
              <a:spcAft>
                <a:spcPts val="1200"/>
              </a:spcAft>
            </a:pPr>
            <a:r>
              <a:rPr lang="en-US" sz="1800" b="1" dirty="0" smtClean="0"/>
              <a:t>NOW account</a:t>
            </a:r>
            <a:r>
              <a:rPr lang="en-US" sz="1800" dirty="0" smtClean="0"/>
              <a:t>—an interest-bearing checking account</a:t>
            </a:r>
            <a:endParaRPr lang="en-US" sz="2000" dirty="0" smtClean="0"/>
          </a:p>
          <a:p>
            <a:pPr eaLnBrk="1" hangingPunct="1">
              <a:spcAft>
                <a:spcPts val="0"/>
              </a:spcAft>
            </a:pPr>
            <a:r>
              <a:rPr lang="en-US" sz="2400" b="1" dirty="0" smtClean="0">
                <a:solidFill>
                  <a:srgbClr val="8EB244"/>
                </a:solidFill>
              </a:rPr>
              <a:t>Savings accounts</a:t>
            </a:r>
          </a:p>
          <a:p>
            <a:pPr lvl="1" eaLnBrk="1" hangingPunct="1">
              <a:spcBef>
                <a:spcPct val="0"/>
              </a:spcBef>
            </a:pPr>
            <a:r>
              <a:rPr lang="en-US" sz="1800" b="1" dirty="0" smtClean="0"/>
              <a:t>Passbook savings account</a:t>
            </a:r>
          </a:p>
          <a:p>
            <a:pPr lvl="1" eaLnBrk="1" hangingPunct="1">
              <a:spcAft>
                <a:spcPts val="1200"/>
              </a:spcAft>
            </a:pPr>
            <a:r>
              <a:rPr lang="en-US" sz="1800" b="1" dirty="0" smtClean="0"/>
              <a:t>Certificate of deposit (CD)—</a:t>
            </a:r>
            <a:r>
              <a:rPr lang="en-US" sz="1800" dirty="0" smtClean="0"/>
              <a:t>a document stating that the bank will pay the depositor a guaranteed interest rate for money left on deposit for a specified period of time</a:t>
            </a:r>
          </a:p>
          <a:p>
            <a:pPr eaLnBrk="1" hangingPunct="1">
              <a:spcAft>
                <a:spcPts val="0"/>
              </a:spcAft>
            </a:pPr>
            <a:r>
              <a:rPr lang="en-US" sz="2400" b="1" dirty="0" smtClean="0">
                <a:solidFill>
                  <a:srgbClr val="8EB244"/>
                </a:solidFill>
              </a:rPr>
              <a:t>Short- and long-term loans</a:t>
            </a:r>
          </a:p>
          <a:p>
            <a:pPr lvl="1" eaLnBrk="1" hangingPunct="1">
              <a:spcBef>
                <a:spcPct val="0"/>
              </a:spcBef>
            </a:pPr>
            <a:r>
              <a:rPr lang="en-US" sz="1800" b="1" dirty="0" smtClean="0"/>
              <a:t>Line of credit</a:t>
            </a:r>
            <a:r>
              <a:rPr lang="en-US" sz="1800" dirty="0" smtClean="0"/>
              <a:t>—a loan that is approved before the money is actually needed</a:t>
            </a:r>
          </a:p>
          <a:p>
            <a:pPr lvl="1" eaLnBrk="1" hangingPunct="1"/>
            <a:r>
              <a:rPr lang="en-US" sz="1800" b="1" dirty="0" smtClean="0"/>
              <a:t>Revolving credit agreement</a:t>
            </a:r>
            <a:r>
              <a:rPr lang="en-US" sz="1800" dirty="0" smtClean="0"/>
              <a:t>—a guaranteed line of credit</a:t>
            </a:r>
          </a:p>
          <a:p>
            <a:pPr lvl="1" eaLnBrk="1" hangingPunct="1"/>
            <a:r>
              <a:rPr lang="en-US" sz="1800" b="1" dirty="0" smtClean="0"/>
              <a:t>Collateral</a:t>
            </a:r>
            <a:r>
              <a:rPr lang="en-US" sz="1800" dirty="0" smtClean="0"/>
              <a:t>—real estate or property pledged as security for a loan</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500"/>
                                        <p:tgtEl>
                                          <p:spTgt spid="5">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fade">
                                      <p:cBhvr>
                                        <p:cTn id="29" dur="500"/>
                                        <p:tgtEl>
                                          <p:spTgt spid="5">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500"/>
                                        <p:tgtEl>
                                          <p:spTgt spid="5">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Effect transition="in" filter="fade">
                                      <p:cBhvr>
                                        <p:cTn id="35" dur="500"/>
                                        <p:tgtEl>
                                          <p:spTgt spid="5">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
                                            <p:txEl>
                                              <p:pRg st="9" end="9"/>
                                            </p:txEl>
                                          </p:spTgt>
                                        </p:tgtEl>
                                        <p:attrNameLst>
                                          <p:attrName>style.visibility</p:attrName>
                                        </p:attrNameLst>
                                      </p:cBhvr>
                                      <p:to>
                                        <p:strVal val="visible"/>
                                      </p:to>
                                    </p:set>
                                    <p:animEffect transition="in" filter="fade">
                                      <p:cBhvr>
                                        <p:cTn id="38"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idx="1"/>
          </p:nvPr>
        </p:nvSpPr>
        <p:spPr/>
        <p:txBody>
          <a:bodyPr/>
          <a:lstStyle/>
          <a:p>
            <a:r>
              <a:rPr lang="en-US" dirty="0" smtClean="0"/>
              <a:t>Credit card and debit card transactions</a:t>
            </a:r>
          </a:p>
          <a:p>
            <a:pPr lvl="1">
              <a:spcAft>
                <a:spcPts val="1200"/>
              </a:spcAft>
            </a:pPr>
            <a:r>
              <a:rPr lang="en-US" dirty="0" smtClean="0"/>
              <a:t>Banks and other financial institutions charge merchants fees (a percentage of each credit card transaction) for handling the transactions for the merchant</a:t>
            </a:r>
          </a:p>
          <a:p>
            <a:pPr lvl="1"/>
            <a:r>
              <a:rPr lang="en-US" dirty="0" smtClean="0"/>
              <a:t>Debit card—a card that electronically subtracts the amount of a purchase from the cardholder’s bank account at the moment the purchase is made</a:t>
            </a:r>
          </a:p>
        </p:txBody>
      </p:sp>
      <p:sp>
        <p:nvSpPr>
          <p:cNvPr id="3" name="Title 2"/>
          <p:cNvSpPr>
            <a:spLocks noGrp="1"/>
          </p:cNvSpPr>
          <p:nvPr>
            <p:ph type="title"/>
          </p:nvPr>
        </p:nvSpPr>
        <p:spPr/>
        <p:txBody>
          <a:bodyPr/>
          <a:lstStyle/>
          <a:p>
            <a:r>
              <a:rPr lang="en-US" dirty="0" smtClean="0"/>
              <a:t>Traditional Banking Services for </a:t>
            </a:r>
            <a:br>
              <a:rPr lang="en-US" dirty="0" smtClean="0"/>
            </a:br>
            <a:r>
              <a:rPr lang="en-US" dirty="0" smtClean="0"/>
              <a:t>Business Clients </a:t>
            </a:r>
            <a:r>
              <a:rPr lang="en-US" sz="2400" b="0" dirty="0" smtClean="0"/>
              <a:t>(cont.)</a:t>
            </a:r>
            <a:endParaRPr lang="en-US" sz="2400" b="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idx="1"/>
          </p:nvPr>
        </p:nvSpPr>
        <p:spPr/>
        <p:txBody>
          <a:bodyPr/>
          <a:lstStyle/>
          <a:p>
            <a:r>
              <a:rPr lang="en-US" dirty="0" smtClean="0"/>
              <a:t>Electronic funds transfer (EFT) system</a:t>
            </a:r>
          </a:p>
          <a:p>
            <a:pPr lvl="1">
              <a:spcAft>
                <a:spcPts val="1200"/>
              </a:spcAft>
            </a:pPr>
            <a:r>
              <a:rPr lang="en-US" dirty="0" smtClean="0"/>
              <a:t>A means of performing financial transactions </a:t>
            </a:r>
            <a:br>
              <a:rPr lang="en-US" dirty="0" smtClean="0"/>
            </a:br>
            <a:r>
              <a:rPr lang="en-US" dirty="0" smtClean="0"/>
              <a:t>through a computer terminal or telephone hookup</a:t>
            </a:r>
          </a:p>
          <a:p>
            <a:pPr lvl="1"/>
            <a:r>
              <a:rPr lang="en-US" dirty="0" smtClean="0"/>
              <a:t>Changing how banks do business</a:t>
            </a:r>
          </a:p>
          <a:p>
            <a:pPr lvl="2"/>
            <a:r>
              <a:rPr lang="en-US" dirty="0" smtClean="0"/>
              <a:t>Automated teller machines (ATMs)</a:t>
            </a:r>
          </a:p>
          <a:p>
            <a:pPr lvl="2"/>
            <a:r>
              <a:rPr lang="en-US" dirty="0" smtClean="0"/>
              <a:t>Automated clearinghouses (ACHs)</a:t>
            </a:r>
          </a:p>
          <a:p>
            <a:pPr lvl="2"/>
            <a:r>
              <a:rPr lang="en-US" dirty="0" smtClean="0"/>
              <a:t>Point-of-sale (POS) terminals </a:t>
            </a:r>
          </a:p>
          <a:p>
            <a:pPr lvl="2"/>
            <a:r>
              <a:rPr lang="en-US" dirty="0" smtClean="0"/>
              <a:t>Electronic check conversion (ECC)</a:t>
            </a:r>
          </a:p>
        </p:txBody>
      </p:sp>
      <p:sp>
        <p:nvSpPr>
          <p:cNvPr id="3" name="Title 2"/>
          <p:cNvSpPr>
            <a:spLocks noGrp="1"/>
          </p:cNvSpPr>
          <p:nvPr>
            <p:ph type="title"/>
          </p:nvPr>
        </p:nvSpPr>
        <p:spPr/>
        <p:txBody>
          <a:bodyPr/>
          <a:lstStyle/>
          <a:p>
            <a:r>
              <a:rPr lang="en-US" smtClean="0"/>
              <a:t>Online Banking</a:t>
            </a:r>
            <a:endParaRPr lang="en-US"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500"/>
                                        <p:tgtEl>
                                          <p:spTgt spid="4">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idx="1"/>
          </p:nvPr>
        </p:nvSpPr>
        <p:spPr/>
        <p:txBody>
          <a:bodyPr/>
          <a:lstStyle/>
          <a:p>
            <a:r>
              <a:rPr lang="en-US" dirty="0" smtClean="0"/>
              <a:t>Popular methods of paying for import </a:t>
            </a:r>
            <a:br>
              <a:rPr lang="en-US" dirty="0" smtClean="0"/>
            </a:br>
            <a:r>
              <a:rPr lang="en-US" dirty="0" smtClean="0"/>
              <a:t>and export transactions</a:t>
            </a:r>
          </a:p>
          <a:p>
            <a:pPr lvl="1">
              <a:spcAft>
                <a:spcPts val="0"/>
              </a:spcAft>
            </a:pPr>
            <a:r>
              <a:rPr lang="en-US" b="1" dirty="0" smtClean="0"/>
              <a:t>Letter of credit</a:t>
            </a:r>
          </a:p>
          <a:p>
            <a:pPr lvl="2">
              <a:spcAft>
                <a:spcPts val="1200"/>
              </a:spcAft>
            </a:pPr>
            <a:r>
              <a:rPr lang="en-US" dirty="0" smtClean="0"/>
              <a:t>A legal document issued by a bank or other financial institution guaranteeing to pay a seller a stated amount for a specified period of time</a:t>
            </a:r>
          </a:p>
          <a:p>
            <a:pPr lvl="1">
              <a:spcAft>
                <a:spcPts val="0"/>
              </a:spcAft>
            </a:pPr>
            <a:r>
              <a:rPr lang="en-US" b="1" dirty="0" smtClean="0"/>
              <a:t>Banker’s acceptance</a:t>
            </a:r>
          </a:p>
          <a:p>
            <a:pPr lvl="2">
              <a:spcAft>
                <a:spcPts val="1800"/>
              </a:spcAft>
            </a:pPr>
            <a:r>
              <a:rPr lang="en-US" dirty="0" smtClean="0"/>
              <a:t>A written order for the bank to pay a third party a stated amount of money on a specific date</a:t>
            </a:r>
          </a:p>
          <a:p>
            <a:r>
              <a:rPr lang="en-US" dirty="0" smtClean="0"/>
              <a:t>Currency exchange</a:t>
            </a:r>
          </a:p>
        </p:txBody>
      </p:sp>
      <p:sp>
        <p:nvSpPr>
          <p:cNvPr id="3" name="Title 2"/>
          <p:cNvSpPr>
            <a:spLocks noGrp="1"/>
          </p:cNvSpPr>
          <p:nvPr>
            <p:ph type="title"/>
          </p:nvPr>
        </p:nvSpPr>
        <p:spPr/>
        <p:txBody>
          <a:bodyPr/>
          <a:lstStyle/>
          <a:p>
            <a:r>
              <a:rPr lang="en-US" smtClean="0"/>
              <a:t>International Banking</a:t>
            </a:r>
            <a:endParaRPr lang="en-US"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500"/>
                                        <p:tgtEl>
                                          <p:spTgt spid="4">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fade">
                                      <p:cBhvr>
                                        <p:cTn id="28"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Sources of Unsecured </a:t>
            </a:r>
            <a:br>
              <a:rPr lang="en-US" dirty="0" smtClean="0"/>
            </a:br>
            <a:r>
              <a:rPr lang="en-US" dirty="0" smtClean="0"/>
              <a:t>Short-Term Financing</a:t>
            </a:r>
            <a:endParaRPr lang="en-US" dirty="0"/>
          </a:p>
        </p:txBody>
      </p:sp>
      <p:sp>
        <p:nvSpPr>
          <p:cNvPr id="4" name="Rectangle 5"/>
          <p:cNvSpPr>
            <a:spLocks noGrp="1" noChangeArrowheads="1"/>
          </p:cNvSpPr>
          <p:nvPr>
            <p:ph idx="1"/>
          </p:nvPr>
        </p:nvSpPr>
        <p:spPr/>
        <p:txBody>
          <a:bodyPr/>
          <a:lstStyle/>
          <a:p>
            <a:pPr>
              <a:spcAft>
                <a:spcPts val="300"/>
              </a:spcAft>
            </a:pPr>
            <a:r>
              <a:rPr lang="en-US" b="1" dirty="0" smtClean="0">
                <a:solidFill>
                  <a:srgbClr val="8EB244"/>
                </a:solidFill>
              </a:rPr>
              <a:t>Unsecured financing</a:t>
            </a:r>
          </a:p>
          <a:p>
            <a:pPr lvl="1">
              <a:spcAft>
                <a:spcPts val="1200"/>
              </a:spcAft>
            </a:pPr>
            <a:r>
              <a:rPr lang="en-US" sz="2200" dirty="0" smtClean="0"/>
              <a:t>Financing not backed by collateral</a:t>
            </a:r>
          </a:p>
          <a:p>
            <a:pPr>
              <a:spcAft>
                <a:spcPts val="300"/>
              </a:spcAft>
            </a:pPr>
            <a:r>
              <a:rPr lang="en-US" b="1" dirty="0" smtClean="0">
                <a:solidFill>
                  <a:srgbClr val="8EB244"/>
                </a:solidFill>
              </a:rPr>
              <a:t>Trade credit</a:t>
            </a:r>
          </a:p>
          <a:p>
            <a:pPr lvl="1">
              <a:spcAft>
                <a:spcPts val="1200"/>
              </a:spcAft>
            </a:pPr>
            <a:r>
              <a:rPr lang="en-US" sz="2200" dirty="0" smtClean="0"/>
              <a:t>Financing extended by a seller who does not require immediate payment after the delivery of the merchandise</a:t>
            </a:r>
          </a:p>
          <a:p>
            <a:pPr>
              <a:spcAft>
                <a:spcPts val="300"/>
              </a:spcAft>
            </a:pPr>
            <a:r>
              <a:rPr lang="en-US" b="1" dirty="0" smtClean="0">
                <a:solidFill>
                  <a:srgbClr val="8EB244"/>
                </a:solidFill>
              </a:rPr>
              <a:t>Promissory notes</a:t>
            </a:r>
          </a:p>
          <a:p>
            <a:pPr lvl="1"/>
            <a:r>
              <a:rPr lang="en-US" sz="2200" dirty="0" smtClean="0"/>
              <a:t>A written pledge by a borrower to pay a certain sum of money to a creditor at a specified future date</a:t>
            </a:r>
          </a:p>
          <a:p>
            <a:pPr lvl="1"/>
            <a:r>
              <a:rPr lang="en-US" sz="2200" dirty="0" smtClean="0"/>
              <a:t>Unlike trade credit, promissory notes usually include interest</a:t>
            </a:r>
          </a:p>
          <a:p>
            <a:pPr lvl="1"/>
            <a:r>
              <a:rPr lang="en-US" sz="2200" dirty="0" smtClean="0"/>
              <a:t>Legally binding</a:t>
            </a:r>
          </a:p>
          <a:p>
            <a:pPr lvl="1"/>
            <a:r>
              <a:rPr lang="en-US" sz="2200" dirty="0" smtClean="0"/>
              <a:t>Negotiable instruments</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500"/>
                                        <p:tgtEl>
                                          <p:spTgt spid="4">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fade">
                                      <p:cBhvr>
                                        <p:cTn id="35"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Sources of Unsecured </a:t>
            </a:r>
            <a:br>
              <a:rPr lang="en-US" dirty="0" smtClean="0"/>
            </a:br>
            <a:r>
              <a:rPr lang="en-US" dirty="0" smtClean="0"/>
              <a:t>Short-Term Financing </a:t>
            </a:r>
            <a:r>
              <a:rPr lang="en-US" sz="2400" b="0" dirty="0" smtClean="0"/>
              <a:t>(cont.)</a:t>
            </a:r>
            <a:endParaRPr lang="en-US" sz="2400" dirty="0"/>
          </a:p>
        </p:txBody>
      </p:sp>
      <p:sp>
        <p:nvSpPr>
          <p:cNvPr id="4" name="Rectangle 9"/>
          <p:cNvSpPr>
            <a:spLocks noGrp="1" noChangeArrowheads="1"/>
          </p:cNvSpPr>
          <p:nvPr>
            <p:ph idx="1"/>
          </p:nvPr>
        </p:nvSpPr>
        <p:spPr/>
        <p:txBody>
          <a:bodyPr/>
          <a:lstStyle/>
          <a:p>
            <a:r>
              <a:rPr lang="en-US" b="1" dirty="0" smtClean="0">
                <a:solidFill>
                  <a:srgbClr val="8EB244"/>
                </a:solidFill>
              </a:rPr>
              <a:t>Unsecured bank loans</a:t>
            </a:r>
          </a:p>
          <a:p>
            <a:pPr lvl="1"/>
            <a:r>
              <a:rPr lang="en-US" sz="2400" dirty="0" smtClean="0"/>
              <a:t>Interest rates vary with each borrower’s credit rating</a:t>
            </a:r>
          </a:p>
          <a:p>
            <a:pPr lvl="1">
              <a:spcAft>
                <a:spcPts val="0"/>
              </a:spcAft>
            </a:pPr>
            <a:r>
              <a:rPr lang="en-US" sz="2400" dirty="0" smtClean="0"/>
              <a:t>Prime interest rate</a:t>
            </a:r>
          </a:p>
          <a:p>
            <a:pPr lvl="2"/>
            <a:r>
              <a:rPr lang="en-US" sz="1800" dirty="0" smtClean="0"/>
              <a:t>The lowest rate charged by a bank for a short-term loan</a:t>
            </a:r>
          </a:p>
          <a:p>
            <a:pPr lvl="1">
              <a:spcAft>
                <a:spcPts val="1200"/>
              </a:spcAft>
            </a:pPr>
            <a:r>
              <a:rPr lang="en-US" sz="2400" dirty="0" smtClean="0"/>
              <a:t>Offered through promissory notes, a line of credit, </a:t>
            </a:r>
            <a:br>
              <a:rPr lang="en-US" sz="2400" dirty="0" smtClean="0"/>
            </a:br>
            <a:r>
              <a:rPr lang="en-US" sz="2400" dirty="0" smtClean="0"/>
              <a:t>or revolving credit agreement</a:t>
            </a:r>
          </a:p>
          <a:p>
            <a:r>
              <a:rPr lang="en-US" b="1" dirty="0" smtClean="0">
                <a:solidFill>
                  <a:srgbClr val="8EB244"/>
                </a:solidFill>
              </a:rPr>
              <a:t>Commercial paper</a:t>
            </a:r>
          </a:p>
          <a:p>
            <a:pPr lvl="1"/>
            <a:r>
              <a:rPr lang="en-US" sz="2400" dirty="0" smtClean="0"/>
              <a:t>Short-term promissory note issued by a </a:t>
            </a:r>
            <a:br>
              <a:rPr lang="en-US" sz="2400" dirty="0" smtClean="0"/>
            </a:br>
            <a:r>
              <a:rPr lang="en-US" sz="2400" dirty="0" smtClean="0"/>
              <a:t>large corporation</a:t>
            </a:r>
          </a:p>
          <a:p>
            <a:pPr lvl="1"/>
            <a:r>
              <a:rPr lang="en-US" sz="2400" dirty="0" smtClean="0"/>
              <a:t>Interest rates are usually below that charged by banks for short-term loans</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500"/>
                                        <p:tgtEl>
                                          <p:spTgt spid="4">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500"/>
                                        <p:tgtEl>
                                          <p:spTgt spid="4">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500"/>
                                        <p:tgtEl>
                                          <p:spTgt spid="4">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xEl>
                                              <p:pRg st="7" end="7"/>
                                            </p:txEl>
                                          </p:spTgt>
                                        </p:tgtEl>
                                        <p:attrNameLst>
                                          <p:attrName>style.visibility</p:attrName>
                                        </p:attrNameLst>
                                      </p:cBhvr>
                                      <p:to>
                                        <p:strVal val="visible"/>
                                      </p:to>
                                    </p:set>
                                    <p:animEffect transition="in" filter="fade">
                                      <p:cBhvr>
                                        <p:cTn id="30"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Sources of Secured Short-Term Financing</a:t>
            </a:r>
            <a:endParaRPr lang="en-US" dirty="0"/>
          </a:p>
        </p:txBody>
      </p:sp>
      <p:sp>
        <p:nvSpPr>
          <p:cNvPr id="4" name="Rectangle 5"/>
          <p:cNvSpPr>
            <a:spLocks noGrp="1" noChangeArrowheads="1"/>
          </p:cNvSpPr>
          <p:nvPr>
            <p:ph idx="1"/>
          </p:nvPr>
        </p:nvSpPr>
        <p:spPr/>
        <p:txBody>
          <a:bodyPr/>
          <a:lstStyle/>
          <a:p>
            <a:r>
              <a:rPr lang="en-US" b="1" dirty="0" smtClean="0">
                <a:solidFill>
                  <a:srgbClr val="8EB244"/>
                </a:solidFill>
              </a:rPr>
              <a:t>Loans secured by inventory</a:t>
            </a:r>
          </a:p>
          <a:p>
            <a:pPr lvl="1"/>
            <a:r>
              <a:rPr lang="en-US" sz="2400" dirty="0" smtClean="0"/>
              <a:t>Inventory is pledged as collateral</a:t>
            </a:r>
          </a:p>
          <a:p>
            <a:pPr lvl="1"/>
            <a:r>
              <a:rPr lang="en-US" sz="2400" dirty="0" smtClean="0"/>
              <a:t>Control of the inventory passes to the lender </a:t>
            </a:r>
            <a:br>
              <a:rPr lang="en-US" sz="2400" dirty="0" smtClean="0"/>
            </a:br>
            <a:r>
              <a:rPr lang="en-US" sz="2400" dirty="0" smtClean="0"/>
              <a:t>until the loan is repaid</a:t>
            </a:r>
          </a:p>
          <a:p>
            <a:pPr lvl="1">
              <a:spcAft>
                <a:spcPts val="1200"/>
              </a:spcAft>
            </a:pPr>
            <a:r>
              <a:rPr lang="en-US" sz="2400" dirty="0" smtClean="0"/>
              <a:t>If the lender requires storage of inventory used </a:t>
            </a:r>
            <a:br>
              <a:rPr lang="en-US" sz="2400" dirty="0" smtClean="0"/>
            </a:br>
            <a:r>
              <a:rPr lang="en-US" sz="2400" dirty="0" smtClean="0"/>
              <a:t>as collateral in a public warehouse, the borrower</a:t>
            </a:r>
            <a:br>
              <a:rPr lang="en-US" sz="2400" dirty="0" smtClean="0"/>
            </a:br>
            <a:r>
              <a:rPr lang="en-US" sz="2400" dirty="0" smtClean="0"/>
              <a:t>pays storage fees</a:t>
            </a:r>
          </a:p>
          <a:p>
            <a:r>
              <a:rPr lang="en-US" b="1" dirty="0" smtClean="0">
                <a:solidFill>
                  <a:srgbClr val="8EB244"/>
                </a:solidFill>
              </a:rPr>
              <a:t>Loans secured by receivables</a:t>
            </a:r>
          </a:p>
          <a:p>
            <a:pPr lvl="1"/>
            <a:r>
              <a:rPr lang="en-US" sz="2400" dirty="0" smtClean="0"/>
              <a:t>Amounts owed to a firm by its customers are pledged as collateral</a:t>
            </a:r>
          </a:p>
          <a:p>
            <a:pPr lvl="1"/>
            <a:r>
              <a:rPr lang="en-US" sz="2400" dirty="0" smtClean="0"/>
              <a:t>Quality of receivables is considered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5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Sources of Secured Short-Term Financing </a:t>
            </a:r>
            <a:r>
              <a:rPr lang="en-US" sz="2400" b="0" dirty="0" smtClean="0"/>
              <a:t>(cont.)</a:t>
            </a:r>
            <a:endParaRPr lang="en-US" sz="2400" dirty="0"/>
          </a:p>
        </p:txBody>
      </p:sp>
      <p:sp>
        <p:nvSpPr>
          <p:cNvPr id="4" name="Rectangle 13"/>
          <p:cNvSpPr>
            <a:spLocks noGrp="1" noChangeArrowheads="1"/>
          </p:cNvSpPr>
          <p:nvPr>
            <p:ph idx="1"/>
          </p:nvPr>
        </p:nvSpPr>
        <p:spPr/>
        <p:txBody>
          <a:bodyPr/>
          <a:lstStyle/>
          <a:p>
            <a:r>
              <a:rPr lang="en-US" b="1" dirty="0" smtClean="0">
                <a:solidFill>
                  <a:srgbClr val="8EB244"/>
                </a:solidFill>
              </a:rPr>
              <a:t>Factoring accounts </a:t>
            </a:r>
            <a:r>
              <a:rPr lang="en-US" dirty="0" smtClean="0"/>
              <a:t>r</a:t>
            </a:r>
            <a:r>
              <a:rPr lang="en-US" b="1" dirty="0" smtClean="0">
                <a:solidFill>
                  <a:srgbClr val="8EB244"/>
                </a:solidFill>
              </a:rPr>
              <a:t>eceivable</a:t>
            </a:r>
          </a:p>
          <a:p>
            <a:pPr lvl="1">
              <a:spcAft>
                <a:spcPts val="0"/>
              </a:spcAft>
            </a:pPr>
            <a:r>
              <a:rPr lang="en-US" sz="2400" dirty="0" smtClean="0"/>
              <a:t>Factor</a:t>
            </a:r>
          </a:p>
          <a:p>
            <a:pPr lvl="2"/>
            <a:r>
              <a:rPr lang="en-US" sz="1800" dirty="0" smtClean="0"/>
              <a:t>A firm that specializes in buying other firms’ accounts receivable</a:t>
            </a:r>
          </a:p>
          <a:p>
            <a:pPr lvl="1">
              <a:spcAft>
                <a:spcPts val="800"/>
              </a:spcAft>
            </a:pPr>
            <a:r>
              <a:rPr lang="en-US" sz="2400" dirty="0" smtClean="0"/>
              <a:t>The factor buys accounts receivable for less than their face value</a:t>
            </a:r>
          </a:p>
          <a:p>
            <a:pPr lvl="1">
              <a:spcAft>
                <a:spcPts val="800"/>
              </a:spcAft>
            </a:pPr>
            <a:r>
              <a:rPr lang="en-US" sz="2400" dirty="0" smtClean="0"/>
              <a:t>The factor collects the full dollar amounts when each account is due</a:t>
            </a:r>
          </a:p>
          <a:p>
            <a:pPr lvl="1">
              <a:spcAft>
                <a:spcPts val="800"/>
              </a:spcAft>
            </a:pPr>
            <a:r>
              <a:rPr lang="en-US" sz="2400" dirty="0" smtClean="0"/>
              <a:t>The factor’s profit is the difference between the face value and what it paid for the accounts receivable</a:t>
            </a:r>
          </a:p>
          <a:p>
            <a:pPr lvl="1">
              <a:spcAft>
                <a:spcPts val="800"/>
              </a:spcAft>
            </a:pPr>
            <a:r>
              <a:rPr lang="en-US" sz="2400" dirty="0" smtClean="0"/>
              <a:t>Profit is based on the risk (the probability that the accounts receivable will not be paid) the factor assumes</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500"/>
                                        <p:tgtEl>
                                          <p:spTgt spid="4">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xEl>
                                              <p:pRg st="4" end="4"/>
                                            </p:txEl>
                                          </p:spTgt>
                                        </p:tgtEl>
                                        <p:attrNameLst>
                                          <p:attrName>style.visibility</p:attrName>
                                        </p:attrNameLst>
                                      </p:cBhvr>
                                      <p:to>
                                        <p:strVal val="visible"/>
                                      </p:to>
                                    </p:set>
                                    <p:animEffect transition="in" filter="fade">
                                      <p:cBhvr>
                                        <p:cTn id="20" dur="500"/>
                                        <p:tgtEl>
                                          <p:spTgt spid="4">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Effect transition="in" filter="fade">
                                      <p:cBhvr>
                                        <p:cTn id="25" dur="500"/>
                                        <p:tgtEl>
                                          <p:spTgt spid="4">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
                                            <p:txEl>
                                              <p:pRg st="6" end="6"/>
                                            </p:txEl>
                                          </p:spTgt>
                                        </p:tgtEl>
                                        <p:attrNameLst>
                                          <p:attrName>style.visibility</p:attrName>
                                        </p:attrNameLst>
                                      </p:cBhvr>
                                      <p:to>
                                        <p:strVal val="visible"/>
                                      </p:to>
                                    </p:set>
                                    <p:animEffect transition="in" filter="fade">
                                      <p:cBhvr>
                                        <p:cTn id="30"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Comparison of Short-Term Financing Methods</a:t>
            </a:r>
            <a:endParaRPr lang="en-US" dirty="0"/>
          </a:p>
        </p:txBody>
      </p:sp>
      <p:pic>
        <p:nvPicPr>
          <p:cNvPr id="7170" name="Picture 2"/>
          <p:cNvPicPr>
            <a:picLocks noChangeAspect="1" noChangeArrowheads="1"/>
          </p:cNvPicPr>
          <p:nvPr/>
        </p:nvPicPr>
        <p:blipFill>
          <a:blip r:embed="rId3" cstate="print"/>
          <a:srcRect/>
          <a:stretch>
            <a:fillRect/>
          </a:stretch>
        </p:blipFill>
        <p:spPr bwMode="auto">
          <a:xfrm>
            <a:off x="457200" y="1495425"/>
            <a:ext cx="8153400" cy="3867150"/>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Sources of Equity Financing</a:t>
            </a:r>
            <a:endParaRPr lang="en-US" dirty="0"/>
          </a:p>
        </p:txBody>
      </p:sp>
      <p:sp>
        <p:nvSpPr>
          <p:cNvPr id="4" name="Rectangle 7"/>
          <p:cNvSpPr>
            <a:spLocks noGrp="1" noChangeArrowheads="1"/>
          </p:cNvSpPr>
          <p:nvPr>
            <p:ph idx="1"/>
          </p:nvPr>
        </p:nvSpPr>
        <p:spPr/>
        <p:txBody>
          <a:bodyPr/>
          <a:lstStyle/>
          <a:p>
            <a:r>
              <a:rPr lang="en-US" b="1" dirty="0" smtClean="0">
                <a:solidFill>
                  <a:srgbClr val="8EB244"/>
                </a:solidFill>
              </a:rPr>
              <a:t>For sole proprietorships or partnerships</a:t>
            </a:r>
          </a:p>
          <a:p>
            <a:pPr lvl="1"/>
            <a:r>
              <a:rPr lang="en-US" dirty="0" smtClean="0"/>
              <a:t>Owner or owners invest money in the business</a:t>
            </a:r>
          </a:p>
          <a:p>
            <a:pPr lvl="1">
              <a:spcAft>
                <a:spcPts val="1800"/>
              </a:spcAft>
            </a:pPr>
            <a:r>
              <a:rPr lang="en-US" dirty="0" smtClean="0"/>
              <a:t>Venture capital</a:t>
            </a:r>
          </a:p>
          <a:p>
            <a:r>
              <a:rPr lang="en-US" b="1" dirty="0" smtClean="0">
                <a:solidFill>
                  <a:srgbClr val="8EB244"/>
                </a:solidFill>
              </a:rPr>
              <a:t>For corporations</a:t>
            </a:r>
          </a:p>
          <a:p>
            <a:pPr lvl="1"/>
            <a:r>
              <a:rPr lang="en-US" dirty="0" smtClean="0"/>
              <a:t>Sale of stock(shares)</a:t>
            </a:r>
          </a:p>
          <a:p>
            <a:pPr lvl="1"/>
            <a:r>
              <a:rPr lang="en-US" dirty="0" smtClean="0"/>
              <a:t>Use of profits not distributed to owners</a:t>
            </a:r>
          </a:p>
          <a:p>
            <a:pPr lvl="1"/>
            <a:r>
              <a:rPr lang="en-US" dirty="0" smtClean="0"/>
              <a:t>Venture capital</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Sources of Equity Financing </a:t>
            </a:r>
            <a:r>
              <a:rPr lang="en-US" sz="2400" b="0" dirty="0" smtClean="0"/>
              <a:t>(cont.)</a:t>
            </a:r>
            <a:endParaRPr lang="en-US" sz="2400" dirty="0"/>
          </a:p>
        </p:txBody>
      </p:sp>
      <p:sp>
        <p:nvSpPr>
          <p:cNvPr id="4" name="Rectangle 3"/>
          <p:cNvSpPr>
            <a:spLocks noGrp="1" noChangeArrowheads="1"/>
          </p:cNvSpPr>
          <p:nvPr>
            <p:ph idx="1"/>
          </p:nvPr>
        </p:nvSpPr>
        <p:spPr>
          <a:xfrm>
            <a:off x="640080" y="1554480"/>
            <a:ext cx="7970520" cy="4953000"/>
          </a:xfrm>
        </p:spPr>
        <p:txBody>
          <a:bodyPr/>
          <a:lstStyle/>
          <a:p>
            <a:r>
              <a:rPr lang="en-US" b="1" dirty="0" smtClean="0">
                <a:solidFill>
                  <a:srgbClr val="8EB244"/>
                </a:solidFill>
              </a:rPr>
              <a:t>Selling shares</a:t>
            </a:r>
          </a:p>
          <a:p>
            <a:pPr lvl="1"/>
            <a:r>
              <a:rPr lang="en-US" b="1" dirty="0" smtClean="0"/>
              <a:t>Initial public offering</a:t>
            </a:r>
          </a:p>
          <a:p>
            <a:pPr lvl="2">
              <a:spcAft>
                <a:spcPts val="1200"/>
              </a:spcAft>
            </a:pPr>
            <a:r>
              <a:rPr lang="en-US" dirty="0" smtClean="0"/>
              <a:t>When a corporation sells ordinary shares to the general public for the first time</a:t>
            </a:r>
          </a:p>
          <a:p>
            <a:pPr lvl="1"/>
            <a:r>
              <a:rPr lang="en-US" b="1" dirty="0" smtClean="0"/>
              <a:t>Advantages of selling shares</a:t>
            </a:r>
          </a:p>
          <a:p>
            <a:pPr lvl="2">
              <a:spcAft>
                <a:spcPts val="600"/>
              </a:spcAft>
            </a:pPr>
            <a:r>
              <a:rPr lang="en-US" dirty="0" smtClean="0"/>
              <a:t>Firm does not have to repay money received </a:t>
            </a:r>
            <a:br>
              <a:rPr lang="en-US" dirty="0" smtClean="0"/>
            </a:br>
            <a:r>
              <a:rPr lang="en-US" dirty="0" smtClean="0"/>
              <a:t>from sale of shares</a:t>
            </a:r>
          </a:p>
          <a:p>
            <a:pPr lvl="2"/>
            <a:r>
              <a:rPr lang="en-US" dirty="0" smtClean="0"/>
              <a:t>Firm does not have to pay dividends to stockholders(shareholders)</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500"/>
                                        <p:tgtEl>
                                          <p:spTgt spid="4">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fade">
                                      <p:cBhvr>
                                        <p:cTn id="18" dur="500"/>
                                        <p:tgtEl>
                                          <p:spTgt spid="4">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Sources of Equity Financing </a:t>
            </a:r>
            <a:r>
              <a:rPr lang="en-US" sz="2400" b="0" dirty="0" smtClean="0"/>
              <a:t>(cont.)</a:t>
            </a:r>
            <a:endParaRPr lang="en-US" sz="2400" dirty="0"/>
          </a:p>
        </p:txBody>
      </p:sp>
      <p:sp>
        <p:nvSpPr>
          <p:cNvPr id="4" name="Rectangle 3"/>
          <p:cNvSpPr>
            <a:spLocks noGrp="1" noChangeArrowheads="1"/>
          </p:cNvSpPr>
          <p:nvPr>
            <p:ph idx="1"/>
          </p:nvPr>
        </p:nvSpPr>
        <p:spPr/>
        <p:txBody>
          <a:bodyPr/>
          <a:lstStyle/>
          <a:p>
            <a:r>
              <a:rPr lang="en-US" dirty="0" smtClean="0"/>
              <a:t>Selling Shares </a:t>
            </a:r>
            <a:r>
              <a:rPr lang="en-US" sz="2400" b="0" dirty="0" smtClean="0"/>
              <a:t>(cont.)</a:t>
            </a:r>
            <a:endParaRPr lang="en-US" sz="2400" b="1" dirty="0" smtClean="0"/>
          </a:p>
          <a:p>
            <a:pPr lvl="1"/>
            <a:r>
              <a:rPr lang="en-US" b="1" dirty="0" smtClean="0"/>
              <a:t>Primary market </a:t>
            </a:r>
          </a:p>
          <a:p>
            <a:pPr lvl="2">
              <a:spcAft>
                <a:spcPts val="1800"/>
              </a:spcAft>
            </a:pPr>
            <a:r>
              <a:rPr lang="en-US" dirty="0" smtClean="0"/>
              <a:t>A market in which an investor purchases financial securities (via an investment bank) directly from the issuer of those securities</a:t>
            </a:r>
            <a:endParaRPr lang="en-US" b="1" dirty="0" smtClean="0"/>
          </a:p>
          <a:p>
            <a:pPr lvl="1"/>
            <a:r>
              <a:rPr lang="en-US" b="1" dirty="0" smtClean="0"/>
              <a:t>Secondary market</a:t>
            </a:r>
          </a:p>
          <a:p>
            <a:pPr lvl="2"/>
            <a:r>
              <a:rPr lang="en-US" dirty="0" smtClean="0"/>
              <a:t>A market for existing financial securities that are traded between investors</a:t>
            </a:r>
          </a:p>
          <a:p>
            <a:pPr lvl="3"/>
            <a:r>
              <a:rPr lang="en-US" dirty="0" smtClean="0"/>
              <a:t>Securities exchange market</a:t>
            </a:r>
          </a:p>
          <a:p>
            <a:pPr lvl="3"/>
            <a:r>
              <a:rPr lang="en-US" dirty="0" smtClean="0"/>
              <a:t>Over-the-counter (OTC) market</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Effect transition="in" filter="fade">
                                      <p:cBhvr>
                                        <p:cTn id="25" dur="500"/>
                                        <p:tgtEl>
                                          <p:spTgt spid="4">
                                            <p:txEl>
                                              <p:pRg st="5" end="5"/>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Sources of Equity Financing </a:t>
            </a:r>
            <a:r>
              <a:rPr lang="en-US" sz="2400" b="0" dirty="0" smtClean="0"/>
              <a:t>(cont.)</a:t>
            </a:r>
            <a:endParaRPr lang="en-US" sz="2400" dirty="0"/>
          </a:p>
        </p:txBody>
      </p:sp>
      <p:sp>
        <p:nvSpPr>
          <p:cNvPr id="4" name="Rectangle 3"/>
          <p:cNvSpPr>
            <a:spLocks noGrp="1" noChangeArrowheads="1"/>
          </p:cNvSpPr>
          <p:nvPr>
            <p:ph idx="1"/>
          </p:nvPr>
        </p:nvSpPr>
        <p:spPr/>
        <p:txBody>
          <a:bodyPr/>
          <a:lstStyle/>
          <a:p>
            <a:r>
              <a:rPr lang="en-US" dirty="0" smtClean="0"/>
              <a:t>Selling Shares </a:t>
            </a:r>
            <a:r>
              <a:rPr lang="en-US" sz="2400" b="0" dirty="0" smtClean="0"/>
              <a:t>(cont.)</a:t>
            </a:r>
          </a:p>
          <a:p>
            <a:pPr lvl="1">
              <a:spcAft>
                <a:spcPts val="0"/>
              </a:spcAft>
            </a:pPr>
            <a:r>
              <a:rPr lang="en-US" b="1" dirty="0" smtClean="0"/>
              <a:t>Common shares(Ordinary shares)</a:t>
            </a:r>
          </a:p>
          <a:p>
            <a:pPr lvl="2">
              <a:spcAft>
                <a:spcPts val="1200"/>
              </a:spcAft>
            </a:pPr>
            <a:r>
              <a:rPr lang="en-US" dirty="0" smtClean="0"/>
              <a:t>shares whose owners may vote on corporate matters but whose claims on profits and assets are subordinate to the claims of others</a:t>
            </a:r>
          </a:p>
          <a:p>
            <a:pPr lvl="1">
              <a:spcAft>
                <a:spcPts val="0"/>
              </a:spcAft>
            </a:pPr>
            <a:r>
              <a:rPr lang="en-US" b="1" dirty="0" smtClean="0"/>
              <a:t>Preferred stock( Preferential shares)</a:t>
            </a:r>
          </a:p>
          <a:p>
            <a:pPr lvl="2">
              <a:spcAft>
                <a:spcPts val="1200"/>
              </a:spcAft>
            </a:pPr>
            <a:r>
              <a:rPr lang="en-US" dirty="0" smtClean="0"/>
              <a:t>Shares whose owners usually do not have voting rights, but whose claims on dividends and assets are paid before those of ordinary share owners</a:t>
            </a:r>
          </a:p>
          <a:p>
            <a:pPr lvl="1">
              <a:spcAft>
                <a:spcPts val="0"/>
              </a:spcAft>
            </a:pPr>
            <a:r>
              <a:rPr lang="en-US" b="1" dirty="0" smtClean="0"/>
              <a:t>Par value</a:t>
            </a:r>
          </a:p>
          <a:p>
            <a:pPr lvl="2"/>
            <a:r>
              <a:rPr lang="en-US" dirty="0" smtClean="0"/>
              <a:t>An assigned (and often arbitrary) dollar value printed on a stock certificate</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500"/>
                                        <p:tgtEl>
                                          <p:spTgt spid="4">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fade">
                                      <p:cBhvr>
                                        <p:cTn id="18" dur="500"/>
                                        <p:tgtEl>
                                          <p:spTgt spid="4">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animEffect transition="in" filter="fade">
                                      <p:cBhvr>
                                        <p:cTn id="23" dur="500"/>
                                        <p:tgtEl>
                                          <p:spTgt spid="4">
                                            <p:txEl>
                                              <p:pRg st="5" end="5"/>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6" end="6"/>
                                            </p:txEl>
                                          </p:spTgt>
                                        </p:tgtEl>
                                        <p:attrNameLst>
                                          <p:attrName>style.visibility</p:attrName>
                                        </p:attrNameLst>
                                      </p:cBhvr>
                                      <p:to>
                                        <p:strVal val="visible"/>
                                      </p:to>
                                    </p:set>
                                    <p:animEffect transition="in" filter="fade">
                                      <p:cBhvr>
                                        <p:cTn id="26"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Sources of Equity Financing </a:t>
            </a:r>
            <a:r>
              <a:rPr lang="en-US" sz="2400" b="0" dirty="0" smtClean="0"/>
              <a:t>(cont.)</a:t>
            </a:r>
            <a:endParaRPr lang="en-US" sz="2400" dirty="0"/>
          </a:p>
        </p:txBody>
      </p:sp>
      <p:sp>
        <p:nvSpPr>
          <p:cNvPr id="4" name="Rectangle 3"/>
          <p:cNvSpPr>
            <a:spLocks noGrp="1" noChangeArrowheads="1"/>
          </p:cNvSpPr>
          <p:nvPr>
            <p:ph idx="1"/>
          </p:nvPr>
        </p:nvSpPr>
        <p:spPr>
          <a:xfrm>
            <a:off x="640080" y="1554480"/>
            <a:ext cx="7741920" cy="4953000"/>
          </a:xfrm>
        </p:spPr>
        <p:txBody>
          <a:bodyPr/>
          <a:lstStyle/>
          <a:p>
            <a:pPr>
              <a:spcAft>
                <a:spcPts val="0"/>
              </a:spcAft>
            </a:pPr>
            <a:r>
              <a:rPr lang="en-US" b="1" dirty="0" smtClean="0">
                <a:solidFill>
                  <a:srgbClr val="8EB244"/>
                </a:solidFill>
              </a:rPr>
              <a:t>Retained earnings</a:t>
            </a:r>
          </a:p>
          <a:p>
            <a:pPr lvl="1">
              <a:spcAft>
                <a:spcPts val="1200"/>
              </a:spcAft>
            </a:pPr>
            <a:r>
              <a:rPr lang="en-US" sz="2200" dirty="0" smtClean="0"/>
              <a:t>The portion of a corporation’s profits not distributed </a:t>
            </a:r>
            <a:br>
              <a:rPr lang="en-US" sz="2200" dirty="0" smtClean="0"/>
            </a:br>
            <a:r>
              <a:rPr lang="en-US" sz="2200" dirty="0" smtClean="0"/>
              <a:t>to stockholders</a:t>
            </a:r>
          </a:p>
          <a:p>
            <a:pPr>
              <a:spcAft>
                <a:spcPts val="0"/>
              </a:spcAft>
            </a:pPr>
            <a:r>
              <a:rPr lang="en-US" b="1" dirty="0" smtClean="0">
                <a:solidFill>
                  <a:srgbClr val="8EB244"/>
                </a:solidFill>
              </a:rPr>
              <a:t>Venture capital</a:t>
            </a:r>
          </a:p>
          <a:p>
            <a:pPr lvl="1"/>
            <a:r>
              <a:rPr lang="en-US" sz="2200" dirty="0" smtClean="0"/>
              <a:t>Money invested in small (and sometimes struggling) firms that have the potential to become very successful and extremely profitable</a:t>
            </a:r>
          </a:p>
          <a:p>
            <a:pPr lvl="1">
              <a:spcAft>
                <a:spcPts val="1200"/>
              </a:spcAft>
            </a:pPr>
            <a:r>
              <a:rPr lang="en-US" sz="2200" dirty="0" smtClean="0"/>
              <a:t>Investors usually receive an equity or ownership position in the business and share in its profits</a:t>
            </a:r>
          </a:p>
          <a:p>
            <a:pPr>
              <a:spcAft>
                <a:spcPts val="0"/>
              </a:spcAft>
            </a:pPr>
            <a:r>
              <a:rPr lang="en-US" b="1" dirty="0" smtClean="0">
                <a:solidFill>
                  <a:srgbClr val="8EB244"/>
                </a:solidFill>
              </a:rPr>
              <a:t>Private placement</a:t>
            </a:r>
          </a:p>
          <a:p>
            <a:pPr lvl="1"/>
            <a:r>
              <a:rPr lang="en-US" sz="2200" dirty="0" smtClean="0"/>
              <a:t>Stock and other corporate securities are sold directly to insurance companies, pension funds, or large institutional investors</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Effects of Additional Capital</a:t>
            </a:r>
            <a:endParaRPr lang="en-US" dirty="0"/>
          </a:p>
        </p:txBody>
      </p:sp>
      <p:pic>
        <p:nvPicPr>
          <p:cNvPr id="8194" name="Picture 2"/>
          <p:cNvPicPr>
            <a:picLocks noChangeAspect="1" noChangeArrowheads="1"/>
          </p:cNvPicPr>
          <p:nvPr/>
        </p:nvPicPr>
        <p:blipFill>
          <a:blip r:embed="rId3" cstate="print"/>
          <a:srcRect/>
          <a:stretch>
            <a:fillRect/>
          </a:stretch>
        </p:blipFill>
        <p:spPr bwMode="auto">
          <a:xfrm>
            <a:off x="1295400" y="1600200"/>
            <a:ext cx="6505575" cy="4295775"/>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Sources of Long-Term Debt Financing </a:t>
            </a:r>
            <a:r>
              <a:rPr lang="en-US" sz="2400" b="0" dirty="0" smtClean="0"/>
              <a:t>(cont.)</a:t>
            </a:r>
            <a:endParaRPr lang="en-US" sz="2400" dirty="0"/>
          </a:p>
        </p:txBody>
      </p:sp>
      <p:sp>
        <p:nvSpPr>
          <p:cNvPr id="4" name="Rectangle 6"/>
          <p:cNvSpPr>
            <a:spLocks noGrp="1" noChangeArrowheads="1"/>
          </p:cNvSpPr>
          <p:nvPr>
            <p:ph idx="1"/>
          </p:nvPr>
        </p:nvSpPr>
        <p:spPr/>
        <p:txBody>
          <a:bodyPr/>
          <a:lstStyle/>
          <a:p>
            <a:r>
              <a:rPr lang="en-US" b="1" dirty="0" smtClean="0">
                <a:solidFill>
                  <a:srgbClr val="8EB244"/>
                </a:solidFill>
              </a:rPr>
              <a:t>Long-term loans</a:t>
            </a:r>
          </a:p>
          <a:p>
            <a:pPr lvl="1"/>
            <a:r>
              <a:rPr lang="en-US" b="1" dirty="0" smtClean="0"/>
              <a:t>Term-loan agreement</a:t>
            </a:r>
          </a:p>
          <a:p>
            <a:pPr lvl="2">
              <a:spcAft>
                <a:spcPts val="300"/>
              </a:spcAft>
            </a:pPr>
            <a:r>
              <a:rPr lang="en-US" sz="1800" dirty="0" smtClean="0"/>
              <a:t>For loans longer than one year.</a:t>
            </a:r>
          </a:p>
          <a:p>
            <a:pPr lvl="2">
              <a:spcAft>
                <a:spcPts val="300"/>
              </a:spcAft>
            </a:pPr>
            <a:r>
              <a:rPr lang="en-US" sz="1800" dirty="0" smtClean="0"/>
              <a:t>A promissory note requires a borrower to repay a loan in monthly, quarterly, semiannual, or annual installments.</a:t>
            </a:r>
          </a:p>
          <a:p>
            <a:pPr lvl="2">
              <a:spcAft>
                <a:spcPts val="300"/>
              </a:spcAft>
            </a:pPr>
            <a:r>
              <a:rPr lang="en-US" sz="1800" dirty="0" smtClean="0"/>
              <a:t>Interest rate and repayment terms are based on the reasons for borrowing, the firm’s credit rating, and the value of collateral.</a:t>
            </a:r>
          </a:p>
          <a:p>
            <a:pPr lvl="1"/>
            <a:r>
              <a:rPr lang="en-US" b="1" dirty="0" smtClean="0"/>
              <a:t>The basics of getting a loan</a:t>
            </a:r>
          </a:p>
          <a:p>
            <a:pPr lvl="2"/>
            <a:r>
              <a:rPr lang="en-US" sz="1800" dirty="0" smtClean="0"/>
              <a:t>Know potential lenders.</a:t>
            </a:r>
          </a:p>
          <a:p>
            <a:pPr lvl="2"/>
            <a:r>
              <a:rPr lang="en-US" sz="1800" dirty="0" smtClean="0"/>
              <a:t>Maintain a good credit rating.</a:t>
            </a:r>
          </a:p>
          <a:p>
            <a:pPr lvl="2"/>
            <a:r>
              <a:rPr lang="en-US" sz="1800" dirty="0" smtClean="0"/>
              <a:t>Fill out an application, submit a business plan </a:t>
            </a:r>
            <a:br>
              <a:rPr lang="en-US" sz="1800" dirty="0" smtClean="0"/>
            </a:br>
            <a:r>
              <a:rPr lang="en-US" sz="1800" dirty="0" smtClean="0"/>
              <a:t>and financial statements, and compile references.</a:t>
            </a:r>
          </a:p>
          <a:p>
            <a:pPr lvl="2"/>
            <a:r>
              <a:rPr lang="en-US" sz="1800" dirty="0" smtClean="0"/>
              <a:t>Meet with loan officer.</a:t>
            </a:r>
          </a:p>
          <a:p>
            <a:pPr lvl="2"/>
            <a:r>
              <a:rPr lang="en-US" sz="1800" dirty="0" smtClean="0"/>
              <a:t>If denied, determine why.</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500"/>
                                        <p:tgtEl>
                                          <p:spTgt spid="4">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fade">
                                      <p:cBhvr>
                                        <p:cTn id="16" dur="500"/>
                                        <p:tgtEl>
                                          <p:spTgt spid="4">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500"/>
                                        <p:tgtEl>
                                          <p:spTgt spid="4">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6" end="6"/>
                                            </p:txEl>
                                          </p:spTgt>
                                        </p:tgtEl>
                                        <p:attrNameLst>
                                          <p:attrName>style.visibility</p:attrName>
                                        </p:attrNameLst>
                                      </p:cBhvr>
                                      <p:to>
                                        <p:strVal val="visible"/>
                                      </p:to>
                                    </p:set>
                                    <p:animEffect transition="in" filter="fade">
                                      <p:cBhvr>
                                        <p:cTn id="24" dur="500"/>
                                        <p:tgtEl>
                                          <p:spTgt spid="4">
                                            <p:txEl>
                                              <p:pRg st="6" end="6"/>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500"/>
                                        <p:tgtEl>
                                          <p:spTgt spid="4">
                                            <p:txEl>
                                              <p:pRg st="7" end="7"/>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xEl>
                                              <p:pRg st="8" end="8"/>
                                            </p:txEl>
                                          </p:spTgt>
                                        </p:tgtEl>
                                        <p:attrNameLst>
                                          <p:attrName>style.visibility</p:attrName>
                                        </p:attrNameLst>
                                      </p:cBhvr>
                                      <p:to>
                                        <p:strVal val="visible"/>
                                      </p:to>
                                    </p:set>
                                    <p:animEffect transition="in" filter="fade">
                                      <p:cBhvr>
                                        <p:cTn id="30" dur="500"/>
                                        <p:tgtEl>
                                          <p:spTgt spid="4">
                                            <p:txEl>
                                              <p:pRg st="8" end="8"/>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animEffect transition="in" filter="fade">
                                      <p:cBhvr>
                                        <p:cTn id="33" dur="500"/>
                                        <p:tgtEl>
                                          <p:spTgt spid="4">
                                            <p:txEl>
                                              <p:pRg st="9" end="9"/>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
                                            <p:txEl>
                                              <p:pRg st="10" end="10"/>
                                            </p:txEl>
                                          </p:spTgt>
                                        </p:tgtEl>
                                        <p:attrNameLst>
                                          <p:attrName>style.visibility</p:attrName>
                                        </p:attrNameLst>
                                      </p:cBhvr>
                                      <p:to>
                                        <p:strVal val="visible"/>
                                      </p:to>
                                    </p:set>
                                    <p:animEffect transition="in" filter="fade">
                                      <p:cBhvr>
                                        <p:cTn id="36"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Sources of Long-Term Debt Financing </a:t>
            </a:r>
            <a:r>
              <a:rPr lang="en-US" sz="2400" b="0" dirty="0" smtClean="0"/>
              <a:t>(cont.)</a:t>
            </a:r>
            <a:endParaRPr lang="en-US" sz="2400" dirty="0"/>
          </a:p>
        </p:txBody>
      </p:sp>
      <p:sp>
        <p:nvSpPr>
          <p:cNvPr id="4" name="Rectangle 5"/>
          <p:cNvSpPr>
            <a:spLocks noGrp="1" noChangeArrowheads="1"/>
          </p:cNvSpPr>
          <p:nvPr>
            <p:ph idx="1"/>
          </p:nvPr>
        </p:nvSpPr>
        <p:spPr>
          <a:xfrm>
            <a:off x="640080" y="1524000"/>
            <a:ext cx="8077200" cy="4953000"/>
          </a:xfrm>
        </p:spPr>
        <p:txBody>
          <a:bodyPr/>
          <a:lstStyle/>
          <a:p>
            <a:pPr>
              <a:spcAft>
                <a:spcPts val="0"/>
              </a:spcAft>
            </a:pPr>
            <a:r>
              <a:rPr lang="en-US" sz="2400" b="1" dirty="0" smtClean="0">
                <a:solidFill>
                  <a:srgbClr val="8EB244"/>
                </a:solidFill>
              </a:rPr>
              <a:t>Corporate bonds</a:t>
            </a:r>
          </a:p>
          <a:p>
            <a:pPr lvl="1">
              <a:spcBef>
                <a:spcPct val="0"/>
              </a:spcBef>
            </a:pPr>
            <a:r>
              <a:rPr lang="en-US" sz="2200" dirty="0" smtClean="0"/>
              <a:t>A corporation’s written pledge that it will repay a </a:t>
            </a:r>
            <a:br>
              <a:rPr lang="en-US" sz="2200" dirty="0" smtClean="0"/>
            </a:br>
            <a:r>
              <a:rPr lang="en-US" sz="2200" dirty="0" smtClean="0"/>
              <a:t>specified amount of money with interest</a:t>
            </a:r>
          </a:p>
          <a:p>
            <a:pPr lvl="1"/>
            <a:r>
              <a:rPr lang="en-US" sz="2200" dirty="0" smtClean="0"/>
              <a:t>Maturity date—the date on which a corporation is </a:t>
            </a:r>
            <a:br>
              <a:rPr lang="en-US" sz="2200" dirty="0" smtClean="0"/>
            </a:br>
            <a:r>
              <a:rPr lang="en-US" sz="2200" dirty="0" smtClean="0"/>
              <a:t>to repay borrowed money</a:t>
            </a:r>
          </a:p>
          <a:p>
            <a:pPr lvl="1"/>
            <a:r>
              <a:rPr lang="en-US" sz="2200" dirty="0" smtClean="0"/>
              <a:t>Interest is paid until maturity</a:t>
            </a:r>
          </a:p>
          <a:p>
            <a:pPr lvl="1"/>
            <a:r>
              <a:rPr lang="en-US" sz="2200" dirty="0" smtClean="0"/>
              <a:t>Types of bonds</a:t>
            </a:r>
          </a:p>
          <a:p>
            <a:pPr marL="1004888" lvl="2"/>
            <a:r>
              <a:rPr lang="en-US" sz="1800" b="1" dirty="0" smtClean="0"/>
              <a:t>Registered bond</a:t>
            </a:r>
            <a:r>
              <a:rPr lang="en-US" sz="1800" dirty="0" smtClean="0"/>
              <a:t>—a bond registered in the owner’s name by the issuing company</a:t>
            </a:r>
          </a:p>
          <a:p>
            <a:pPr marL="1004888" lvl="2"/>
            <a:r>
              <a:rPr lang="en-US" sz="1800" b="1" dirty="0" smtClean="0"/>
              <a:t>Debenture bond</a:t>
            </a:r>
            <a:r>
              <a:rPr lang="en-US" sz="1800" dirty="0" smtClean="0"/>
              <a:t>—a bond backed only by the reputation of the issuing corporation</a:t>
            </a:r>
          </a:p>
          <a:p>
            <a:pPr marL="1004888" lvl="2"/>
            <a:r>
              <a:rPr lang="en-US" sz="1800" b="1" dirty="0" smtClean="0"/>
              <a:t>Mortgage bond</a:t>
            </a:r>
            <a:r>
              <a:rPr lang="en-US" sz="1800" dirty="0" smtClean="0"/>
              <a:t>—a bond secured by various assets of issuing firm</a:t>
            </a:r>
          </a:p>
          <a:p>
            <a:pPr marL="1004888" lvl="2">
              <a:spcAft>
                <a:spcPts val="400"/>
              </a:spcAft>
            </a:pPr>
            <a:r>
              <a:rPr lang="en-US" sz="1800" b="1" dirty="0" smtClean="0"/>
              <a:t>Convertible bond</a:t>
            </a:r>
            <a:r>
              <a:rPr lang="en-US" sz="1800" dirty="0" smtClean="0"/>
              <a:t>—a bond that can be exchanged, at the owner’s option, for a specified number of shares of the corporation’s common stock</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animEffect transition="in" filter="fade">
                                      <p:cBhvr>
                                        <p:cTn id="25" dur="500"/>
                                        <p:tgtEl>
                                          <p:spTgt spid="4">
                                            <p:txEl>
                                              <p:pRg st="5" end="5"/>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500"/>
                                        <p:tgtEl>
                                          <p:spTgt spid="4">
                                            <p:txEl>
                                              <p:pRg st="6" end="6"/>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animEffect transition="in" filter="fade">
                                      <p:cBhvr>
                                        <p:cTn id="31" dur="500"/>
                                        <p:tgtEl>
                                          <p:spTgt spid="4">
                                            <p:txEl>
                                              <p:pRg st="7" end="7"/>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
                                            <p:txEl>
                                              <p:pRg st="8" end="8"/>
                                            </p:txEl>
                                          </p:spTgt>
                                        </p:tgtEl>
                                        <p:attrNameLst>
                                          <p:attrName>style.visibility</p:attrName>
                                        </p:attrNameLst>
                                      </p:cBhvr>
                                      <p:to>
                                        <p:strVal val="visible"/>
                                      </p:to>
                                    </p:set>
                                    <p:animEffect transition="in" filter="fade">
                                      <p:cBhvr>
                                        <p:cTn id="34"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Sources of Long-Term Debt Financing </a:t>
            </a:r>
            <a:r>
              <a:rPr lang="en-US" sz="2400" b="0" dirty="0" smtClean="0"/>
              <a:t>(cont.)</a:t>
            </a:r>
            <a:endParaRPr lang="en-US" sz="2400" dirty="0"/>
          </a:p>
        </p:txBody>
      </p:sp>
      <p:sp>
        <p:nvSpPr>
          <p:cNvPr id="4" name="Rectangle 5"/>
          <p:cNvSpPr>
            <a:spLocks noGrp="1" noChangeArrowheads="1"/>
          </p:cNvSpPr>
          <p:nvPr>
            <p:ph idx="1"/>
          </p:nvPr>
        </p:nvSpPr>
        <p:spPr/>
        <p:txBody>
          <a:bodyPr/>
          <a:lstStyle/>
          <a:p>
            <a:r>
              <a:rPr lang="en-US" dirty="0" smtClean="0"/>
              <a:t>Corporate bonds </a:t>
            </a:r>
            <a:r>
              <a:rPr lang="en-US" sz="2400" b="0" dirty="0" smtClean="0"/>
              <a:t>(cont.)</a:t>
            </a:r>
          </a:p>
          <a:p>
            <a:pPr lvl="1"/>
            <a:r>
              <a:rPr lang="en-US" b="1" dirty="0" smtClean="0"/>
              <a:t>Repayment provisions for corporate bonds</a:t>
            </a:r>
          </a:p>
          <a:p>
            <a:pPr lvl="2">
              <a:spcAft>
                <a:spcPts val="800"/>
              </a:spcAft>
            </a:pPr>
            <a:r>
              <a:rPr lang="en-US" sz="2000" b="1" dirty="0" smtClean="0"/>
              <a:t>Bond indenture</a:t>
            </a:r>
            <a:r>
              <a:rPr lang="en-US" sz="2000" dirty="0" smtClean="0"/>
              <a:t>—a legal document that details all the conditions relating to a bond issue</a:t>
            </a:r>
          </a:p>
          <a:p>
            <a:pPr lvl="2">
              <a:spcAft>
                <a:spcPts val="800"/>
              </a:spcAft>
            </a:pPr>
            <a:r>
              <a:rPr lang="en-US" sz="2000" b="1" dirty="0" smtClean="0"/>
              <a:t>Call premium</a:t>
            </a:r>
            <a:r>
              <a:rPr lang="en-US" sz="2000" dirty="0" smtClean="0"/>
              <a:t>—an amount paid to the bond owner if the corporation buys back the bond before the maturity date</a:t>
            </a:r>
          </a:p>
          <a:p>
            <a:pPr lvl="2">
              <a:spcAft>
                <a:spcPts val="800"/>
              </a:spcAft>
            </a:pPr>
            <a:r>
              <a:rPr lang="en-US" sz="2000" b="1" dirty="0" smtClean="0"/>
              <a:t>Serial bonds</a:t>
            </a:r>
            <a:r>
              <a:rPr lang="en-US" sz="2000" dirty="0" smtClean="0"/>
              <a:t>—bonds of a single issue that mature on different dates</a:t>
            </a:r>
          </a:p>
          <a:p>
            <a:pPr lvl="2">
              <a:spcAft>
                <a:spcPts val="800"/>
              </a:spcAft>
            </a:pPr>
            <a:r>
              <a:rPr lang="en-US" sz="2000" b="1" dirty="0" smtClean="0"/>
              <a:t>Sinking fund</a:t>
            </a:r>
            <a:r>
              <a:rPr lang="en-US" sz="2000" dirty="0" smtClean="0"/>
              <a:t>—a sum of money to which deposits are made each year for the purpose of redeeming a bond issue</a:t>
            </a:r>
          </a:p>
          <a:p>
            <a:pPr lvl="2">
              <a:spcAft>
                <a:spcPts val="800"/>
              </a:spcAft>
            </a:pPr>
            <a:r>
              <a:rPr lang="en-US" sz="2000" b="1" dirty="0" smtClean="0"/>
              <a:t>Trustee</a:t>
            </a:r>
            <a:r>
              <a:rPr lang="en-US" sz="2000" dirty="0" smtClean="0"/>
              <a:t>—an individual or an independent firm that acts as the bond owner’s representative</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Comparison of Long-Term Financing Methods</a:t>
            </a:r>
            <a:endParaRPr lang="en-US" dirty="0"/>
          </a:p>
        </p:txBody>
      </p:sp>
      <p:pic>
        <p:nvPicPr>
          <p:cNvPr id="9218" name="Picture 2"/>
          <p:cNvPicPr>
            <a:picLocks noGrp="1" noChangeAspect="1" noChangeArrowheads="1"/>
          </p:cNvPicPr>
          <p:nvPr>
            <p:ph idx="1"/>
          </p:nvPr>
        </p:nvPicPr>
        <p:blipFill>
          <a:blip r:embed="rId3" cstate="print"/>
          <a:srcRect/>
          <a:stretch>
            <a:fillRect/>
          </a:stretch>
        </p:blipFill>
        <p:spPr bwMode="auto">
          <a:xfrm>
            <a:off x="609600" y="1828800"/>
            <a:ext cx="8077200" cy="4051586"/>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ESENTER_VERSION" val="6"/>
  <p:tag name="ARTICULATE_PROJECT_OPEN" val="0"/>
</p:tagLst>
</file>

<file path=ppt/theme/theme1.xml><?xml version="1.0" encoding="utf-8"?>
<a:theme xmlns:a="http://schemas.openxmlformats.org/drawingml/2006/main" name="PHK, SAS: Foundations of Business">
  <a:themeElements>
    <a:clrScheme name="Custom 1">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2060"/>
      </a:hlink>
      <a:folHlink>
        <a:srgbClr val="0070C0"/>
      </a:folHlink>
    </a:clrScheme>
    <a:fontScheme name="PHK, SAS: Foundations of Busines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HK, SAS: Foundations of Busines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HK, SAS: Foundations of Busines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HK, SAS: Foundations of Busines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HK, SAS: Foundations of Busines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HK, SAS: Foundations of Busines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HK, SAS: Foundations of Busines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HK, SAS: Foundations of Busines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HK, SAS: Foundations of Busines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HK, SAS: Foundations of Busines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HK, SAS: Foundations of Busines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HK, SAS: Foundations of Busines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HK, SAS: Foundations of Busines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PHK, SAS: Foundations of Business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FFFF00"/>
        </a:hlink>
        <a:folHlink>
          <a:srgbClr val="99CC00"/>
        </a:folHlink>
      </a:clrScheme>
      <a:clrMap bg1="lt1" tx1="dk1" bg2="lt2" tx2="dk2" accent1="accent1" accent2="accent2" accent3="accent3" accent4="accent4" accent5="accent5" accent6="accent6" hlink="hlink" folHlink="folHlink"/>
    </a:extraClrScheme>
    <a:extraClrScheme>
      <a:clrScheme name="PHK, SAS: Foundations of Business 14">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CC6600"/>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PHK Foundations 1e</Template>
  <TotalTime>6044</TotalTime>
  <Words>1333</Words>
  <Application>Microsoft Office PowerPoint</Application>
  <PresentationFormat>On-screen Show (4:3)</PresentationFormat>
  <Paragraphs>262</Paragraphs>
  <Slides>36</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Arial Black</vt:lpstr>
      <vt:lpstr>Courier New</vt:lpstr>
      <vt:lpstr>Wingdings</vt:lpstr>
      <vt:lpstr>PHK, SAS: Foundations of Business</vt:lpstr>
      <vt:lpstr>Business Foundations 3e</vt:lpstr>
      <vt:lpstr>Mastering Financial Management</vt:lpstr>
      <vt:lpstr>Learning Objectives</vt:lpstr>
      <vt:lpstr>What Is Financial Management?</vt:lpstr>
      <vt:lpstr>Types of Financing</vt:lpstr>
      <vt:lpstr>Comparison of  Short- and Long-Term Financing</vt:lpstr>
      <vt:lpstr>Cash Flow for a Manufacturing Business</vt:lpstr>
      <vt:lpstr>Financial Management During the  Economic Crisis</vt:lpstr>
      <vt:lpstr>Financial Management During the  Economic Crisis (cont.)</vt:lpstr>
      <vt:lpstr>Risk-Return Ratio</vt:lpstr>
      <vt:lpstr>Planning—the Basis of Sound  Financial Management</vt:lpstr>
      <vt:lpstr>The Three Steps of Financial Planning</vt:lpstr>
      <vt:lpstr>Developing the Financial Plan</vt:lpstr>
      <vt:lpstr>Developing the Financial Plan (cont.)</vt:lpstr>
      <vt:lpstr>Developing the Financial Plan (cont.)</vt:lpstr>
      <vt:lpstr>Cash Budget for Stars and  Stripes Clothing</vt:lpstr>
      <vt:lpstr>PowerPoint Presentation</vt:lpstr>
      <vt:lpstr>Traditional Banking Services  for Business Clients</vt:lpstr>
      <vt:lpstr>Traditional Banking Services for  Business Clients (cont.)</vt:lpstr>
      <vt:lpstr>Online Banking</vt:lpstr>
      <vt:lpstr>International Banking</vt:lpstr>
      <vt:lpstr>Sources of Unsecured  Short-Term Financing</vt:lpstr>
      <vt:lpstr>Sources of Unsecured  Short-Term Financing (cont.)</vt:lpstr>
      <vt:lpstr>Sources of Secured Short-Term Financing</vt:lpstr>
      <vt:lpstr>Sources of Secured Short-Term Financing (cont.)</vt:lpstr>
      <vt:lpstr>Comparison of Short-Term Financing Methods</vt:lpstr>
      <vt:lpstr>Sources of Equity Financing</vt:lpstr>
      <vt:lpstr>Sources of Equity Financing (cont.)</vt:lpstr>
      <vt:lpstr>Sources of Equity Financing (cont.)</vt:lpstr>
      <vt:lpstr>Sources of Equity Financing (cont.)</vt:lpstr>
      <vt:lpstr>Sources of Equity Financing (cont.)</vt:lpstr>
      <vt:lpstr>Effects of Additional Capital</vt:lpstr>
      <vt:lpstr>Sources of Long-Term Debt Financing (cont.)</vt:lpstr>
      <vt:lpstr>Sources of Long-Term Debt Financing (cont.)</vt:lpstr>
      <vt:lpstr>Sources of Long-Term Debt Financing (cont.)</vt:lpstr>
      <vt:lpstr>Comparison of Long-Term Financing Methods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Larry Flick</dc:creator>
  <cp:lastModifiedBy>Bhadra Ranchod</cp:lastModifiedBy>
  <cp:revision>630</cp:revision>
  <cp:lastPrinted>1601-01-01T00:00:00Z</cp:lastPrinted>
  <dcterms:created xsi:type="dcterms:W3CDTF">2011-11-01T15:20:50Z</dcterms:created>
  <dcterms:modified xsi:type="dcterms:W3CDTF">2019-04-17T16:43:09Z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8</vt:i4>
  </property>
  <property fmtid="{D5CDD505-2E9C-101B-9397-08002B2CF9AE}" pid="3" name="ArticulateUseProject">
    <vt:lpwstr>1</vt:lpwstr>
  </property>
  <property fmtid="{D5CDD505-2E9C-101B-9397-08002B2CF9AE}" pid="4" name="ArticulatePath">
    <vt:lpwstr>fob 3e Ch1_izzo_E</vt:lpwstr>
  </property>
  <property fmtid="{D5CDD505-2E9C-101B-9397-08002B2CF9AE}" pid="5" name="ArticulateGUID">
    <vt:lpwstr>456BF0CB-9881-4B3A-A834-D40AE83281EF</vt:lpwstr>
  </property>
  <property fmtid="{D5CDD505-2E9C-101B-9397-08002B2CF9AE}" pid="6" name="ArticulateProjectFull">
    <vt:lpwstr>C:\Documents and Settings\Don\My Documents\Don Izzo\LarryFlick\2011 fob3e\Premium PPT\fob 3e Ch1_izzo_E.ppta</vt:lpwstr>
  </property>
</Properties>
</file>