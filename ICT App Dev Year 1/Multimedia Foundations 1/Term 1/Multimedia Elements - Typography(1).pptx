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1" r:id="rId1"/>
  </p:sldMasterIdLst>
  <p:sldIdLst>
    <p:sldId id="256" r:id="rId2"/>
    <p:sldId id="258" r:id="rId3"/>
    <p:sldId id="259" r:id="rId4"/>
    <p:sldId id="260" r:id="rId5"/>
    <p:sldId id="271" r:id="rId6"/>
    <p:sldId id="270" r:id="rId7"/>
    <p:sldId id="272" r:id="rId8"/>
    <p:sldId id="273" r:id="rId9"/>
    <p:sldId id="274" r:id="rId10"/>
    <p:sldId id="275" r:id="rId11"/>
    <p:sldId id="279" r:id="rId12"/>
    <p:sldId id="280" r:id="rId13"/>
    <p:sldId id="278" r:id="rId14"/>
    <p:sldId id="282" r:id="rId15"/>
    <p:sldId id="283" r:id="rId16"/>
    <p:sldId id="290" r:id="rId17"/>
    <p:sldId id="281" r:id="rId18"/>
    <p:sldId id="284" r:id="rId19"/>
    <p:sldId id="286" r:id="rId20"/>
    <p:sldId id="285" r:id="rId21"/>
    <p:sldId id="287" r:id="rId22"/>
    <p:sldId id="288" r:id="rId23"/>
    <p:sldId id="291" r:id="rId24"/>
    <p:sldId id="263" r:id="rId25"/>
    <p:sldId id="264" r:id="rId26"/>
    <p:sldId id="265" r:id="rId27"/>
    <p:sldId id="261" r:id="rId28"/>
    <p:sldId id="262" r:id="rId29"/>
    <p:sldId id="266" r:id="rId30"/>
    <p:sldId id="267" r:id="rId31"/>
    <p:sldId id="268" r:id="rId32"/>
    <p:sldId id="269" r:id="rId33"/>
    <p:sldId id="27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C0C"/>
    <a:srgbClr val="3C3C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117" d="100"/>
          <a:sy n="117" d="100"/>
        </p:scale>
        <p:origin x="10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4153598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2296775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1402457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203916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121490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704219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3583194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3778387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7CC021E5-9D95-41D9-A669-9EA210A20F7C}" type="datetimeFigureOut">
              <a:rPr lang="en-ZA" smtClean="0"/>
              <a:pPr/>
              <a:t>2020/02/16</a:t>
            </a:fld>
            <a:endParaRPr lang="en-ZA"/>
          </a:p>
        </p:txBody>
      </p:sp>
      <p:sp>
        <p:nvSpPr>
          <p:cNvPr id="6" name="Footer Placeholder 5"/>
          <p:cNvSpPr>
            <a:spLocks noGrp="1"/>
          </p:cNvSpPr>
          <p:nvPr>
            <p:ph type="ftr" sz="quarter" idx="11"/>
          </p:nvPr>
        </p:nvSpPr>
        <p:spPr>
          <a:xfrm>
            <a:off x="590396" y="6041362"/>
            <a:ext cx="3295413" cy="365125"/>
          </a:xfrm>
        </p:spPr>
        <p:txBody>
          <a:bodyPr/>
          <a:lstStyle/>
          <a:p>
            <a:endParaRPr lang="en-ZA"/>
          </a:p>
        </p:txBody>
      </p:sp>
      <p:sp>
        <p:nvSpPr>
          <p:cNvPr id="7" name="Slide Number Placeholder 6"/>
          <p:cNvSpPr>
            <a:spLocks noGrp="1"/>
          </p:cNvSpPr>
          <p:nvPr>
            <p:ph type="sldNum" sz="quarter" idx="12"/>
          </p:nvPr>
        </p:nvSpPr>
        <p:spPr>
          <a:xfrm>
            <a:off x="4862689" y="5915888"/>
            <a:ext cx="1062155" cy="490599"/>
          </a:xfrm>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313096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2132568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Click to edit Master text styles</a:t>
            </a:r>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120094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Click to edit Master text styles</a:t>
            </a:r>
          </a:p>
        </p:txBody>
      </p:sp>
      <p:sp>
        <p:nvSpPr>
          <p:cNvPr id="2" name="Date Placeholder 1"/>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1915894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1952145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CC021E5-9D95-41D9-A669-9EA210A20F7C}" type="datetimeFigureOut">
              <a:rPr lang="en-ZA" smtClean="0"/>
              <a:pPr/>
              <a:t>2020/02/16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38A224A-FF4F-45DF-B41C-93A3F3B9ECF6}" type="slidenum">
              <a:rPr lang="en-ZA" smtClean="0"/>
              <a:pPr/>
              <a:t>‹#›</a:t>
            </a:fld>
            <a:endParaRPr lang="en-ZA"/>
          </a:p>
        </p:txBody>
      </p:sp>
    </p:spTree>
    <p:extLst>
      <p:ext uri="{BB962C8B-B14F-4D97-AF65-F5344CB8AC3E}">
        <p14:creationId xmlns:p14="http://schemas.microsoft.com/office/powerpoint/2010/main" val="2566333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ZA"/>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7CC021E5-9D95-41D9-A669-9EA210A20F7C}" type="datetimeFigureOut">
              <a:rPr lang="en-ZA" smtClean="0"/>
              <a:pPr/>
              <a:t>2020/02/16</a:t>
            </a:fld>
            <a:endParaRPr lang="en-ZA"/>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B38A224A-FF4F-45DF-B41C-93A3F3B9ECF6}" type="slidenum">
              <a:rPr lang="en-ZA" smtClean="0"/>
              <a:pPr/>
              <a:t>‹#›</a:t>
            </a:fld>
            <a:endParaRPr lang="en-ZA"/>
          </a:p>
        </p:txBody>
      </p:sp>
    </p:spTree>
    <p:extLst>
      <p:ext uri="{BB962C8B-B14F-4D97-AF65-F5344CB8AC3E}">
        <p14:creationId xmlns:p14="http://schemas.microsoft.com/office/powerpoint/2010/main" val="3878934536"/>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www.vangardemusic.com/" TargetMode="External"/><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www.vangardemusic.com/" TargetMode="External"/><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www.ijb.ca/" TargetMode="External"/><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www.ijb.ca/"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mccollcenter.org/"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mccollcenter.org/"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hyperlink" Target="http://www.guilddesignfair.com/" TargetMode="External"/><Relationship Id="rId13" Type="http://schemas.openxmlformats.org/officeDocument/2006/relationships/hyperlink" Target="http://www.typewolf.com/guides" TargetMode="External"/><Relationship Id="rId3" Type="http://schemas.openxmlformats.org/officeDocument/2006/relationships/hyperlink" Target="http://www.yuppiechef.com/" TargetMode="External"/><Relationship Id="rId7" Type="http://schemas.openxmlformats.org/officeDocument/2006/relationships/hyperlink" Target="https://www.pelicanbooks.com/" TargetMode="External"/><Relationship Id="rId12" Type="http://schemas.openxmlformats.org/officeDocument/2006/relationships/hyperlink" Target="http://www.buzzfeed.com/annehelenpetersen/nick-krolls-walk-in-the-park" TargetMode="External"/><Relationship Id="rId2" Type="http://schemas.openxmlformats.org/officeDocument/2006/relationships/hyperlink" Target="http://superbalist.com/" TargetMode="External"/><Relationship Id="rId1" Type="http://schemas.openxmlformats.org/officeDocument/2006/relationships/slideLayout" Target="../slideLayouts/slideLayout8.xml"/><Relationship Id="rId6" Type="http://schemas.openxmlformats.org/officeDocument/2006/relationships/hyperlink" Target="http://simplygum.com/" TargetMode="External"/><Relationship Id="rId11" Type="http://schemas.openxmlformats.org/officeDocument/2006/relationships/hyperlink" Target="http://www.cartelle.nl/" TargetMode="External"/><Relationship Id="rId5" Type="http://schemas.openxmlformats.org/officeDocument/2006/relationships/hyperlink" Target="http://unitedstrands.com/" TargetMode="External"/><Relationship Id="rId10" Type="http://schemas.openxmlformats.org/officeDocument/2006/relationships/hyperlink" Target="http://ff0000.com/" TargetMode="External"/><Relationship Id="rId4" Type="http://schemas.openxmlformats.org/officeDocument/2006/relationships/hyperlink" Target="http://norwegianrain.com/" TargetMode="External"/><Relationship Id="rId9" Type="http://schemas.openxmlformats.org/officeDocument/2006/relationships/hyperlink" Target="http://redbullkingoftheair.com/" TargetMode="External"/><Relationship Id="rId14" Type="http://schemas.openxmlformats.org/officeDocument/2006/relationships/hyperlink" Target="https://www.fontshop.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4567" y="1543664"/>
            <a:ext cx="10898549" cy="1169886"/>
          </a:xfrm>
        </p:spPr>
        <p:txBody>
          <a:bodyPr>
            <a:normAutofit fontScale="90000"/>
          </a:bodyPr>
          <a:lstStyle/>
          <a:p>
            <a:r>
              <a:rPr lang="en-ZA" sz="7200" dirty="0" smtClean="0"/>
              <a:t>MULTIMEDIA: THE ELEMENTS</a:t>
            </a:r>
            <a:endParaRPr lang="en-ZA" sz="7200" dirty="0"/>
          </a:p>
        </p:txBody>
      </p:sp>
      <p:sp>
        <p:nvSpPr>
          <p:cNvPr id="3" name="Subtitle 2"/>
          <p:cNvSpPr>
            <a:spLocks noGrp="1"/>
          </p:cNvSpPr>
          <p:nvPr>
            <p:ph type="subTitle" idx="1"/>
          </p:nvPr>
        </p:nvSpPr>
        <p:spPr>
          <a:xfrm>
            <a:off x="1524000" y="2713550"/>
            <a:ext cx="9144000" cy="668747"/>
          </a:xfrm>
        </p:spPr>
        <p:txBody>
          <a:bodyPr>
            <a:noAutofit/>
          </a:bodyPr>
          <a:lstStyle/>
          <a:p>
            <a:r>
              <a:rPr lang="en-ZA" sz="4400" dirty="0" smtClean="0"/>
              <a:t>Typography</a:t>
            </a:r>
            <a:endParaRPr lang="en-ZA" sz="4400" dirty="0"/>
          </a:p>
        </p:txBody>
      </p:sp>
    </p:spTree>
    <p:extLst>
      <p:ext uri="{BB962C8B-B14F-4D97-AF65-F5344CB8AC3E}">
        <p14:creationId xmlns:p14="http://schemas.microsoft.com/office/powerpoint/2010/main" val="573003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A Brief Look at </a:t>
            </a:r>
            <a:r>
              <a:rPr lang="en-ZA" b="1" dirty="0" smtClean="0"/>
              <a:t>Typography</a:t>
            </a:r>
            <a:endParaRPr lang="en-ZA" b="1" dirty="0"/>
          </a:p>
        </p:txBody>
      </p:sp>
      <p:sp>
        <p:nvSpPr>
          <p:cNvPr id="3" name="Content Placeholder 2"/>
          <p:cNvSpPr>
            <a:spLocks noGrp="1"/>
          </p:cNvSpPr>
          <p:nvPr>
            <p:ph idx="1"/>
          </p:nvPr>
        </p:nvSpPr>
        <p:spPr>
          <a:xfrm>
            <a:off x="818712" y="2222287"/>
            <a:ext cx="10554574" cy="3499420"/>
          </a:xfrm>
        </p:spPr>
        <p:txBody>
          <a:bodyPr wrap="square" anchor="t">
            <a:spAutoFit/>
          </a:bodyPr>
          <a:lstStyle/>
          <a:p>
            <a:pPr marL="0" indent="0">
              <a:buNone/>
            </a:pPr>
            <a:r>
              <a:rPr lang="en-ZA" sz="2400" dirty="0" smtClean="0"/>
              <a:t>At one time, all web content was disseminated with text.</a:t>
            </a:r>
          </a:p>
          <a:p>
            <a:pPr marL="0" indent="0">
              <a:buNone/>
            </a:pPr>
            <a:r>
              <a:rPr lang="en-ZA" sz="2400" dirty="0" smtClean="0"/>
              <a:t>Although graphics and other media elements have since been added, text is still the primary vehicle for communicating.</a:t>
            </a:r>
          </a:p>
          <a:p>
            <a:pPr marL="0" indent="0">
              <a:buNone/>
            </a:pPr>
            <a:r>
              <a:rPr lang="en-ZA" sz="2400" dirty="0" smtClean="0"/>
              <a:t>Similar to the way text is used in print, text on web pages is used for headlines, subtitles, captions, and body copy. </a:t>
            </a:r>
          </a:p>
          <a:p>
            <a:pPr marL="0" indent="0">
              <a:buNone/>
            </a:pPr>
            <a:r>
              <a:rPr lang="en-ZA" sz="2400" dirty="0" smtClean="0"/>
              <a:t>In addition to being the primary type of online content, text is also used as anchor text for hyperlinking; it links content and concepts within as well as between web pages. </a:t>
            </a:r>
            <a:endParaRPr lang="en-ZA" sz="2400" dirty="0"/>
          </a:p>
        </p:txBody>
      </p:sp>
    </p:spTree>
    <p:extLst>
      <p:ext uri="{BB962C8B-B14F-4D97-AF65-F5344CB8AC3E}">
        <p14:creationId xmlns:p14="http://schemas.microsoft.com/office/powerpoint/2010/main" val="26815664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A Brief Look at </a:t>
            </a:r>
            <a:r>
              <a:rPr lang="en-ZA" b="1" dirty="0" smtClean="0"/>
              <a:t>Typography</a:t>
            </a:r>
            <a:endParaRPr lang="en-ZA" b="1" dirty="0"/>
          </a:p>
        </p:txBody>
      </p:sp>
      <p:sp>
        <p:nvSpPr>
          <p:cNvPr id="3" name="Content Placeholder 2"/>
          <p:cNvSpPr>
            <a:spLocks noGrp="1"/>
          </p:cNvSpPr>
          <p:nvPr>
            <p:ph idx="1"/>
          </p:nvPr>
        </p:nvSpPr>
        <p:spPr>
          <a:xfrm>
            <a:off x="818712" y="2222287"/>
            <a:ext cx="10407181" cy="4324261"/>
          </a:xfrm>
        </p:spPr>
        <p:txBody>
          <a:bodyPr wrap="square" anchor="t" anchorCtr="0">
            <a:spAutoFit/>
          </a:bodyPr>
          <a:lstStyle/>
          <a:p>
            <a:pPr marL="0" indent="0">
              <a:buNone/>
            </a:pPr>
            <a:r>
              <a:rPr lang="en-ZA" sz="2400" dirty="0" smtClean="0"/>
              <a:t>Essentially meaning that, text-based </a:t>
            </a:r>
            <a:r>
              <a:rPr lang="en-ZA" sz="2400" dirty="0"/>
              <a:t>menus and buttons provide navigational tools that help guide </a:t>
            </a:r>
            <a:r>
              <a:rPr lang="en-ZA" sz="2400" dirty="0" smtClean="0"/>
              <a:t>users through their online experience.</a:t>
            </a:r>
          </a:p>
          <a:p>
            <a:pPr marL="0" indent="0">
              <a:lnSpc>
                <a:spcPct val="100000"/>
              </a:lnSpc>
              <a:spcBef>
                <a:spcPts val="0"/>
              </a:spcBef>
              <a:spcAft>
                <a:spcPts val="1800"/>
              </a:spcAft>
              <a:buNone/>
            </a:pPr>
            <a:r>
              <a:rPr lang="en-ZA" sz="2400" dirty="0" smtClean="0"/>
              <a:t>Similarly popular </a:t>
            </a:r>
            <a:r>
              <a:rPr lang="en-ZA" sz="2400" dirty="0"/>
              <a:t>web-based products, such as electronic books, magazines, and reference materials, use text to inform and </a:t>
            </a:r>
            <a:r>
              <a:rPr lang="en-ZA" sz="2400" dirty="0" smtClean="0"/>
              <a:t>educate</a:t>
            </a:r>
            <a:r>
              <a:rPr lang="en-ZA" sz="2400" dirty="0" smtClean="0"/>
              <a:t>.</a:t>
            </a:r>
          </a:p>
          <a:p>
            <a:pPr marL="0" indent="0">
              <a:lnSpc>
                <a:spcPct val="100000"/>
              </a:lnSpc>
              <a:spcBef>
                <a:spcPts val="0"/>
              </a:spcBef>
              <a:spcAft>
                <a:spcPts val="1800"/>
              </a:spcAft>
              <a:buNone/>
            </a:pPr>
            <a:r>
              <a:rPr lang="en-ZA" sz="2400" dirty="0" smtClean="0"/>
              <a:t>Typography </a:t>
            </a:r>
            <a:r>
              <a:rPr lang="en-ZA" sz="2400" dirty="0"/>
              <a:t>is more than 300 years old. Since its inception, many aspects to type design have evolved and grown into an expansive collection of knowledge. </a:t>
            </a:r>
          </a:p>
          <a:p>
            <a:pPr marL="0" indent="0">
              <a:lnSpc>
                <a:spcPct val="100000"/>
              </a:lnSpc>
              <a:spcBef>
                <a:spcPts val="0"/>
              </a:spcBef>
              <a:spcAft>
                <a:spcPts val="1800"/>
              </a:spcAft>
              <a:buNone/>
            </a:pPr>
            <a:r>
              <a:rPr lang="en-ZA" sz="2400" dirty="0"/>
              <a:t>Type design is an incredible art form and a wonderful communication tool</a:t>
            </a:r>
            <a:r>
              <a:rPr lang="en-ZA" sz="2400" dirty="0" smtClean="0"/>
              <a:t>.</a:t>
            </a:r>
            <a:endParaRPr lang="en-ZA" sz="2400" dirty="0"/>
          </a:p>
        </p:txBody>
      </p:sp>
    </p:spTree>
    <p:extLst>
      <p:ext uri="{BB962C8B-B14F-4D97-AF65-F5344CB8AC3E}">
        <p14:creationId xmlns:p14="http://schemas.microsoft.com/office/powerpoint/2010/main" val="12499820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A Brief Look at </a:t>
            </a:r>
            <a:r>
              <a:rPr lang="en-ZA" b="1" dirty="0" smtClean="0"/>
              <a:t>Typography</a:t>
            </a:r>
            <a:endParaRPr lang="en-ZA" b="1" dirty="0"/>
          </a:p>
        </p:txBody>
      </p:sp>
      <p:sp>
        <p:nvSpPr>
          <p:cNvPr id="3" name="Content Placeholder 2"/>
          <p:cNvSpPr>
            <a:spLocks noGrp="1"/>
          </p:cNvSpPr>
          <p:nvPr>
            <p:ph idx="1"/>
          </p:nvPr>
        </p:nvSpPr>
        <p:spPr>
          <a:xfrm>
            <a:off x="818712" y="2222287"/>
            <a:ext cx="10554574" cy="1720471"/>
          </a:xfrm>
        </p:spPr>
        <p:txBody>
          <a:bodyPr anchor="t" anchorCtr="0">
            <a:spAutoFit/>
          </a:bodyPr>
          <a:lstStyle/>
          <a:p>
            <a:pPr marL="0" indent="0">
              <a:buNone/>
            </a:pPr>
            <a:r>
              <a:rPr lang="en-ZA" sz="2400" dirty="0"/>
              <a:t>The effective use of text on web pages is dependent upon typography and the typefaces used. </a:t>
            </a:r>
            <a:endParaRPr lang="en-ZA" sz="2400" dirty="0" smtClean="0"/>
          </a:p>
          <a:p>
            <a:pPr marL="0" indent="0">
              <a:buNone/>
            </a:pPr>
            <a:r>
              <a:rPr lang="en-ZA" sz="2400" dirty="0" smtClean="0"/>
              <a:t>Typography </a:t>
            </a:r>
            <a:r>
              <a:rPr lang="en-ZA" sz="2400" dirty="0"/>
              <a:t>is type design; it is the typeface used and the way the type is arranged to communicate an idea.</a:t>
            </a:r>
          </a:p>
        </p:txBody>
      </p:sp>
    </p:spTree>
    <p:extLst>
      <p:ext uri="{BB962C8B-B14F-4D97-AF65-F5344CB8AC3E}">
        <p14:creationId xmlns:p14="http://schemas.microsoft.com/office/powerpoint/2010/main" val="26037071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smtClean="0"/>
              <a:t>Typefaces VS. Fonts</a:t>
            </a:r>
            <a:endParaRPr lang="en-ZA" b="1" dirty="0"/>
          </a:p>
        </p:txBody>
      </p:sp>
      <p:sp>
        <p:nvSpPr>
          <p:cNvPr id="3" name="Content Placeholder 2"/>
          <p:cNvSpPr>
            <a:spLocks noGrp="1"/>
          </p:cNvSpPr>
          <p:nvPr>
            <p:ph idx="1"/>
          </p:nvPr>
        </p:nvSpPr>
        <p:spPr>
          <a:xfrm>
            <a:off x="818712" y="2222287"/>
            <a:ext cx="10554574" cy="3748719"/>
          </a:xfrm>
        </p:spPr>
        <p:txBody>
          <a:bodyPr anchor="t" anchorCtr="0">
            <a:spAutoFit/>
          </a:bodyPr>
          <a:lstStyle/>
          <a:p>
            <a:pPr marL="0" indent="0">
              <a:buNone/>
            </a:pPr>
            <a:r>
              <a:rPr lang="en-ZA" sz="2400" b="1" dirty="0"/>
              <a:t>TYPEFACE: </a:t>
            </a:r>
            <a:r>
              <a:rPr lang="en-ZA" sz="2400" dirty="0"/>
              <a:t>A typeface is a set of characters </a:t>
            </a:r>
            <a:r>
              <a:rPr lang="en-ZA" sz="2400" b="1" dirty="0"/>
              <a:t>that all follow the same rules within the set</a:t>
            </a:r>
            <a:r>
              <a:rPr lang="en-ZA" sz="2400" dirty="0"/>
              <a:t>. </a:t>
            </a:r>
          </a:p>
          <a:p>
            <a:pPr marL="457200" lvl="1" indent="0">
              <a:buNone/>
            </a:pPr>
            <a:r>
              <a:rPr lang="en-ZA" sz="2000" dirty="0"/>
              <a:t>This is usually made up of alphabet letters, numerals, and symbols.</a:t>
            </a:r>
          </a:p>
          <a:p>
            <a:pPr marL="0" indent="0">
              <a:buNone/>
            </a:pPr>
            <a:endParaRPr lang="en-ZA" sz="2400" b="1" dirty="0" smtClean="0"/>
          </a:p>
          <a:p>
            <a:pPr marL="0" indent="0">
              <a:buNone/>
            </a:pPr>
            <a:r>
              <a:rPr lang="en-ZA" sz="2400" b="1" dirty="0" smtClean="0"/>
              <a:t>FONT: </a:t>
            </a:r>
            <a:r>
              <a:rPr lang="en-ZA" sz="2400" dirty="0" smtClean="0"/>
              <a:t>A font is a </a:t>
            </a:r>
            <a:r>
              <a:rPr lang="en-ZA" sz="2400" b="1" dirty="0" smtClean="0"/>
              <a:t>set of characters</a:t>
            </a:r>
            <a:r>
              <a:rPr lang="en-ZA" sz="2400" dirty="0" smtClean="0"/>
              <a:t> </a:t>
            </a:r>
            <a:r>
              <a:rPr lang="en-ZA" sz="2400" i="1" dirty="0" smtClean="0"/>
              <a:t>within</a:t>
            </a:r>
            <a:r>
              <a:rPr lang="en-ZA" sz="2400" dirty="0" smtClean="0"/>
              <a:t> a typeface that has </a:t>
            </a:r>
            <a:r>
              <a:rPr lang="en-ZA" sz="2400" b="1" dirty="0" smtClean="0"/>
              <a:t>specific characteristics</a:t>
            </a:r>
            <a:r>
              <a:rPr lang="en-ZA" sz="2400" dirty="0" smtClean="0"/>
              <a:t> associated with it. </a:t>
            </a:r>
          </a:p>
          <a:p>
            <a:pPr marL="457200" lvl="1" indent="0">
              <a:buNone/>
            </a:pPr>
            <a:r>
              <a:rPr lang="en-ZA" sz="2000" dirty="0" smtClean="0"/>
              <a:t>This refers to the size (the height of the characters), weight (how dark the characters appear), and style (such as italic/oblique, condensed, extended, etc.).</a:t>
            </a:r>
            <a:endParaRPr lang="en-ZA" sz="2000" dirty="0"/>
          </a:p>
        </p:txBody>
      </p:sp>
    </p:spTree>
    <p:extLst>
      <p:ext uri="{BB962C8B-B14F-4D97-AF65-F5344CB8AC3E}">
        <p14:creationId xmlns:p14="http://schemas.microsoft.com/office/powerpoint/2010/main" val="11100707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smtClean="0"/>
              <a:t>Typefaces VS. Fonts</a:t>
            </a:r>
            <a:endParaRPr lang="en-ZA" b="1" dirty="0"/>
          </a:p>
        </p:txBody>
      </p:sp>
      <p:sp>
        <p:nvSpPr>
          <p:cNvPr id="3" name="Content Placeholder 2"/>
          <p:cNvSpPr>
            <a:spLocks noGrp="1"/>
          </p:cNvSpPr>
          <p:nvPr>
            <p:ph idx="1"/>
          </p:nvPr>
        </p:nvSpPr>
        <p:spPr>
          <a:xfrm>
            <a:off x="818712" y="2222287"/>
            <a:ext cx="10554574" cy="3717941"/>
          </a:xfrm>
        </p:spPr>
        <p:txBody>
          <a:bodyPr anchor="t">
            <a:spAutoFit/>
          </a:bodyPr>
          <a:lstStyle/>
          <a:p>
            <a:pPr marL="0" indent="0">
              <a:buNone/>
            </a:pPr>
            <a:r>
              <a:rPr lang="en-ZA" sz="2400" dirty="0"/>
              <a:t>Back in the good </a:t>
            </a:r>
            <a:r>
              <a:rPr lang="en-ZA" sz="2400" dirty="0" smtClean="0"/>
              <a:t>ol’ </a:t>
            </a:r>
            <a:r>
              <a:rPr lang="en-ZA" sz="2400" dirty="0"/>
              <a:t>days of </a:t>
            </a:r>
            <a:r>
              <a:rPr lang="en-ZA" sz="2400" dirty="0" smtClean="0"/>
              <a:t>analogue </a:t>
            </a:r>
            <a:r>
              <a:rPr lang="en-ZA" sz="2400" dirty="0"/>
              <a:t>printing, every page was laboriously set out in frames with metal letters. That was rolled in ink, and then it was pressed down onto a clean piece of paper. That was a page layout. </a:t>
            </a:r>
            <a:endParaRPr lang="en-ZA" sz="2400" dirty="0" smtClean="0"/>
          </a:p>
          <a:p>
            <a:pPr marL="0" indent="0">
              <a:buNone/>
            </a:pPr>
            <a:r>
              <a:rPr lang="en-ZA" sz="2400" dirty="0" smtClean="0"/>
              <a:t>Printers </a:t>
            </a:r>
            <a:r>
              <a:rPr lang="en-ZA" sz="2400" dirty="0"/>
              <a:t>needed thousands of physical metal blocks, each with the character it was meant to represent set out in relief (the type</a:t>
            </a:r>
            <a:r>
              <a:rPr lang="en-ZA" sz="2400" i="1" dirty="0"/>
              <a:t>face</a:t>
            </a:r>
            <a:r>
              <a:rPr lang="en-ZA" sz="2400" dirty="0"/>
              <a:t>). </a:t>
            </a:r>
            <a:endParaRPr lang="en-ZA" sz="2400" dirty="0" smtClean="0"/>
          </a:p>
          <a:p>
            <a:pPr marL="0" indent="0">
              <a:buNone/>
            </a:pPr>
            <a:r>
              <a:rPr lang="en-ZA" sz="2400" dirty="0" smtClean="0"/>
              <a:t>If </a:t>
            </a:r>
            <a:r>
              <a:rPr lang="en-ZA" sz="2400" dirty="0"/>
              <a:t>you wanted to print Garamond, for example, you needed different blocks for every different size (10 point, 12 point, 14 point, and so on) and weight (bold, light, medium</a:t>
            </a:r>
            <a:r>
              <a:rPr lang="en-ZA" sz="2400" dirty="0" smtClean="0"/>
              <a:t>).</a:t>
            </a:r>
            <a:endParaRPr lang="en-ZA" sz="2400" b="1" dirty="0" smtClean="0"/>
          </a:p>
        </p:txBody>
      </p:sp>
      <p:sp>
        <p:nvSpPr>
          <p:cNvPr id="5" name="Rectangle 4"/>
          <p:cNvSpPr/>
          <p:nvPr/>
        </p:nvSpPr>
        <p:spPr>
          <a:xfrm>
            <a:off x="9282228" y="6311900"/>
            <a:ext cx="2909772" cy="369332"/>
          </a:xfrm>
          <a:prstGeom prst="rect">
            <a:avLst/>
          </a:prstGeom>
        </p:spPr>
        <p:txBody>
          <a:bodyPr wrap="none">
            <a:spAutoFit/>
          </a:bodyPr>
          <a:lstStyle/>
          <a:p>
            <a:pPr algn="r"/>
            <a:r>
              <a:rPr lang="en-ZA" dirty="0" smtClean="0"/>
              <a:t>www.fastcodesign.com</a:t>
            </a:r>
            <a:endParaRPr lang="en-ZA" dirty="0"/>
          </a:p>
        </p:txBody>
      </p:sp>
    </p:spTree>
    <p:extLst>
      <p:ext uri="{BB962C8B-B14F-4D97-AF65-F5344CB8AC3E}">
        <p14:creationId xmlns:p14="http://schemas.microsoft.com/office/powerpoint/2010/main" val="3064358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smtClean="0"/>
              <a:t>Typefaces VS. Fonts</a:t>
            </a:r>
            <a:endParaRPr lang="en-ZA" b="1" dirty="0"/>
          </a:p>
        </p:txBody>
      </p:sp>
      <p:sp>
        <p:nvSpPr>
          <p:cNvPr id="3" name="Content Placeholder 2"/>
          <p:cNvSpPr>
            <a:spLocks noGrp="1"/>
          </p:cNvSpPr>
          <p:nvPr>
            <p:ph idx="1"/>
          </p:nvPr>
        </p:nvSpPr>
        <p:spPr>
          <a:xfrm>
            <a:off x="818712" y="2222287"/>
            <a:ext cx="10554574" cy="4333494"/>
          </a:xfrm>
        </p:spPr>
        <p:txBody>
          <a:bodyPr anchor="t">
            <a:spAutoFit/>
          </a:bodyPr>
          <a:lstStyle/>
          <a:p>
            <a:pPr marL="0" indent="0">
              <a:buNone/>
            </a:pPr>
            <a:r>
              <a:rPr lang="en-ZA" sz="2400" dirty="0"/>
              <a:t>This is where we get the terms </a:t>
            </a:r>
            <a:r>
              <a:rPr lang="en-ZA" sz="2400" i="1" dirty="0"/>
              <a:t>typeface</a:t>
            </a:r>
            <a:r>
              <a:rPr lang="en-ZA" sz="2400" dirty="0"/>
              <a:t> and </a:t>
            </a:r>
            <a:r>
              <a:rPr lang="en-ZA" sz="2400" i="1" dirty="0"/>
              <a:t>font</a:t>
            </a:r>
            <a:r>
              <a:rPr lang="en-ZA" sz="2400" dirty="0"/>
              <a:t>. </a:t>
            </a:r>
            <a:endParaRPr lang="en-ZA" sz="2400" dirty="0" smtClean="0"/>
          </a:p>
          <a:p>
            <a:pPr marL="0" indent="0">
              <a:buNone/>
            </a:pPr>
            <a:r>
              <a:rPr lang="en-ZA" sz="2400" dirty="0" smtClean="0"/>
              <a:t>In </a:t>
            </a:r>
            <a:r>
              <a:rPr lang="en-ZA" sz="2400" dirty="0"/>
              <a:t>the </a:t>
            </a:r>
            <a:r>
              <a:rPr lang="en-ZA" sz="2400" dirty="0" smtClean="0"/>
              <a:t>example, </a:t>
            </a:r>
            <a:r>
              <a:rPr lang="en-ZA" sz="2400" dirty="0">
                <a:latin typeface="Garamond" panose="02020404030301010803" pitchFamily="18" charset="0"/>
              </a:rPr>
              <a:t>Garamond</a:t>
            </a:r>
            <a:r>
              <a:rPr lang="en-ZA" sz="2400" dirty="0"/>
              <a:t> would be the typeface: It described all of the thousands of metal blocks </a:t>
            </a:r>
            <a:r>
              <a:rPr lang="en-ZA" sz="2400" dirty="0" smtClean="0"/>
              <a:t>which </a:t>
            </a:r>
            <a:r>
              <a:rPr lang="en-ZA" sz="2400" dirty="0"/>
              <a:t>had been designed with the same basic design principles. </a:t>
            </a:r>
            <a:endParaRPr lang="en-ZA" sz="2400" dirty="0" smtClean="0"/>
          </a:p>
          <a:p>
            <a:pPr marL="0" indent="0">
              <a:buNone/>
            </a:pPr>
            <a:r>
              <a:rPr lang="en-ZA" sz="2400" dirty="0" smtClean="0"/>
              <a:t>A font </a:t>
            </a:r>
            <a:r>
              <a:rPr lang="en-ZA" sz="2400" dirty="0"/>
              <a:t>described a subset of blocks in that very </a:t>
            </a:r>
            <a:r>
              <a:rPr lang="en-ZA" sz="2400" dirty="0" smtClean="0"/>
              <a:t>typeface — but </a:t>
            </a:r>
            <a:r>
              <a:rPr lang="en-ZA" sz="2400" dirty="0"/>
              <a:t>each font embodied a particular size and weight. For example, </a:t>
            </a:r>
            <a:r>
              <a:rPr lang="en-ZA" sz="2400" b="1" dirty="0">
                <a:latin typeface="Garamond" panose="02020404030301010803" pitchFamily="18" charset="0"/>
              </a:rPr>
              <a:t>bolded Garamond</a:t>
            </a:r>
            <a:r>
              <a:rPr lang="en-ZA" sz="2400" b="1" dirty="0"/>
              <a:t> </a:t>
            </a:r>
            <a:r>
              <a:rPr lang="en-ZA" sz="2400" dirty="0"/>
              <a:t>in </a:t>
            </a:r>
            <a:r>
              <a:rPr lang="en-ZA" sz="2400" dirty="0" smtClean="0"/>
              <a:t>28 </a:t>
            </a:r>
            <a:r>
              <a:rPr lang="en-ZA" sz="2400" dirty="0"/>
              <a:t>point was considered a different font than normal </a:t>
            </a:r>
            <a:r>
              <a:rPr lang="en-ZA" sz="3600" dirty="0">
                <a:latin typeface="Garamond" panose="02020404030301010803" pitchFamily="18" charset="0"/>
              </a:rPr>
              <a:t>Garamond</a:t>
            </a:r>
            <a:r>
              <a:rPr lang="en-ZA" sz="2400" dirty="0"/>
              <a:t> in </a:t>
            </a:r>
            <a:r>
              <a:rPr lang="en-ZA" sz="2400" dirty="0" smtClean="0"/>
              <a:t>30 </a:t>
            </a:r>
            <a:r>
              <a:rPr lang="en-ZA" sz="2400" dirty="0"/>
              <a:t>point, and </a:t>
            </a:r>
            <a:r>
              <a:rPr lang="en-ZA" sz="2400" i="1" dirty="0">
                <a:latin typeface="Times New Roman" panose="02020603050405020304" pitchFamily="18" charset="0"/>
                <a:cs typeface="Times New Roman" panose="02020603050405020304" pitchFamily="18" charset="0"/>
              </a:rPr>
              <a:t>italicized Times New Roman</a:t>
            </a:r>
            <a:r>
              <a:rPr lang="en-ZA" sz="2400" dirty="0"/>
              <a:t> at 24 point would be considered a different font than </a:t>
            </a:r>
            <a:r>
              <a:rPr lang="en-ZA" sz="2800" i="1" dirty="0">
                <a:latin typeface="Times New Roman" panose="02020603050405020304" pitchFamily="18" charset="0"/>
                <a:cs typeface="Times New Roman" panose="02020603050405020304" pitchFamily="18" charset="0"/>
              </a:rPr>
              <a:t>italicized Times New Roman</a:t>
            </a:r>
            <a:r>
              <a:rPr lang="en-ZA" sz="2400" i="1" dirty="0">
                <a:latin typeface="Times New Roman" panose="02020603050405020304" pitchFamily="18" charset="0"/>
                <a:cs typeface="Times New Roman" panose="02020603050405020304" pitchFamily="18" charset="0"/>
              </a:rPr>
              <a:t> </a:t>
            </a:r>
            <a:r>
              <a:rPr lang="en-ZA" sz="2400" dirty="0">
                <a:latin typeface="+mj-lt"/>
                <a:cs typeface="Times New Roman" panose="02020603050405020304" pitchFamily="18" charset="0"/>
              </a:rPr>
              <a:t>at 28 point</a:t>
            </a:r>
            <a:r>
              <a:rPr lang="en-ZA" sz="2400" dirty="0">
                <a:latin typeface="+mj-lt"/>
              </a:rPr>
              <a:t>.</a:t>
            </a:r>
            <a:endParaRPr lang="en-ZA" sz="2400" b="1" dirty="0" smtClean="0">
              <a:latin typeface="+mj-lt"/>
            </a:endParaRPr>
          </a:p>
        </p:txBody>
      </p:sp>
      <p:sp>
        <p:nvSpPr>
          <p:cNvPr id="5" name="Rectangle 4"/>
          <p:cNvSpPr/>
          <p:nvPr/>
        </p:nvSpPr>
        <p:spPr>
          <a:xfrm>
            <a:off x="9282228" y="6311900"/>
            <a:ext cx="2909772" cy="369332"/>
          </a:xfrm>
          <a:prstGeom prst="rect">
            <a:avLst/>
          </a:prstGeom>
        </p:spPr>
        <p:txBody>
          <a:bodyPr wrap="none">
            <a:spAutoFit/>
          </a:bodyPr>
          <a:lstStyle/>
          <a:p>
            <a:pPr algn="r"/>
            <a:r>
              <a:rPr lang="en-ZA" dirty="0" smtClean="0"/>
              <a:t>www.fastcodesign.com</a:t>
            </a:r>
            <a:endParaRPr lang="en-ZA" dirty="0"/>
          </a:p>
        </p:txBody>
      </p:sp>
    </p:spTree>
    <p:extLst>
      <p:ext uri="{BB962C8B-B14F-4D97-AF65-F5344CB8AC3E}">
        <p14:creationId xmlns:p14="http://schemas.microsoft.com/office/powerpoint/2010/main" val="26787892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Typefaces VS. Fonts</a:t>
            </a:r>
          </a:p>
        </p:txBody>
      </p:sp>
      <p:sp>
        <p:nvSpPr>
          <p:cNvPr id="3" name="Content Placeholder 2"/>
          <p:cNvSpPr>
            <a:spLocks noGrp="1"/>
          </p:cNvSpPr>
          <p:nvPr>
            <p:ph idx="1"/>
          </p:nvPr>
        </p:nvSpPr>
        <p:spPr>
          <a:xfrm>
            <a:off x="818712" y="2222287"/>
            <a:ext cx="10554574" cy="4019562"/>
          </a:xfrm>
        </p:spPr>
        <p:txBody>
          <a:bodyPr anchor="t" anchorCtr="0">
            <a:spAutoFit/>
          </a:bodyPr>
          <a:lstStyle/>
          <a:p>
            <a:pPr marL="0" indent="0">
              <a:buNone/>
            </a:pPr>
            <a:r>
              <a:rPr lang="en-ZA" sz="2400" dirty="0"/>
              <a:t>The distinction between the two terms, and the processes they encapsulated, got muddied with the rise of desktop publishing. </a:t>
            </a:r>
            <a:endParaRPr lang="en-ZA" sz="2400" dirty="0" smtClean="0"/>
          </a:p>
          <a:p>
            <a:pPr marL="0" indent="0">
              <a:buNone/>
            </a:pPr>
            <a:r>
              <a:rPr lang="en-ZA" sz="2400" b="1" cap="all" dirty="0"/>
              <a:t>DOES IT </a:t>
            </a:r>
            <a:r>
              <a:rPr lang="en-ZA" sz="2400" b="1" cap="all" dirty="0" smtClean="0"/>
              <a:t>EVEN </a:t>
            </a:r>
            <a:r>
              <a:rPr lang="en-ZA" sz="2400" b="1" cap="all" dirty="0"/>
              <a:t>MATTER ANYMORE</a:t>
            </a:r>
            <a:r>
              <a:rPr lang="en-ZA" sz="2400" b="1" cap="all" dirty="0" smtClean="0"/>
              <a:t>?</a:t>
            </a:r>
          </a:p>
          <a:p>
            <a:pPr marL="0" indent="0">
              <a:buNone/>
            </a:pPr>
            <a:r>
              <a:rPr lang="en-ZA" sz="2400" dirty="0"/>
              <a:t>Even among type professionals, there's a growing acceptance that for most people, the </a:t>
            </a:r>
            <a:r>
              <a:rPr lang="en-ZA" sz="2400" dirty="0" smtClean="0"/>
              <a:t>terms </a:t>
            </a:r>
            <a:r>
              <a:rPr lang="en-ZA" sz="2400" i="1" dirty="0" smtClean="0"/>
              <a:t>font</a:t>
            </a:r>
            <a:r>
              <a:rPr lang="en-ZA" sz="2400" dirty="0" smtClean="0"/>
              <a:t> and </a:t>
            </a:r>
            <a:r>
              <a:rPr lang="en-ZA" sz="2400" i="1" dirty="0" smtClean="0"/>
              <a:t>typeface</a:t>
            </a:r>
            <a:r>
              <a:rPr lang="en-ZA" sz="2400" dirty="0" smtClean="0"/>
              <a:t> can </a:t>
            </a:r>
            <a:r>
              <a:rPr lang="en-ZA" sz="2400" dirty="0"/>
              <a:t>be used interchangeably</a:t>
            </a:r>
            <a:r>
              <a:rPr lang="en-ZA" sz="2400" dirty="0" smtClean="0"/>
              <a:t>.</a:t>
            </a:r>
          </a:p>
          <a:p>
            <a:pPr marL="0" indent="0">
              <a:buNone/>
            </a:pPr>
            <a:r>
              <a:rPr lang="en-ZA" sz="2400" dirty="0" smtClean="0"/>
              <a:t>Only </a:t>
            </a:r>
            <a:r>
              <a:rPr lang="en-ZA" sz="2400" dirty="0"/>
              <a:t>experts really need to worry about it</a:t>
            </a:r>
            <a:r>
              <a:rPr lang="en-ZA" sz="2400" dirty="0" smtClean="0"/>
              <a:t>. </a:t>
            </a:r>
          </a:p>
          <a:p>
            <a:pPr marL="0" indent="0">
              <a:buNone/>
            </a:pPr>
            <a:r>
              <a:rPr lang="en-ZA" sz="2400" dirty="0" smtClean="0"/>
              <a:t>Though, these definitions aid in understanding the various syntax terms used in HTML. </a:t>
            </a:r>
          </a:p>
        </p:txBody>
      </p:sp>
      <p:sp>
        <p:nvSpPr>
          <p:cNvPr id="5" name="Rectangle 4"/>
          <p:cNvSpPr/>
          <p:nvPr/>
        </p:nvSpPr>
        <p:spPr>
          <a:xfrm>
            <a:off x="9282228" y="6311900"/>
            <a:ext cx="2909772" cy="369332"/>
          </a:xfrm>
          <a:prstGeom prst="rect">
            <a:avLst/>
          </a:prstGeom>
        </p:spPr>
        <p:txBody>
          <a:bodyPr wrap="none">
            <a:spAutoFit/>
          </a:bodyPr>
          <a:lstStyle/>
          <a:p>
            <a:pPr algn="r"/>
            <a:r>
              <a:rPr lang="en-ZA" dirty="0" smtClean="0"/>
              <a:t>www.fastcodesign.com</a:t>
            </a:r>
            <a:endParaRPr lang="en-ZA" dirty="0"/>
          </a:p>
        </p:txBody>
      </p:sp>
    </p:spTree>
    <p:extLst>
      <p:ext uri="{BB962C8B-B14F-4D97-AF65-F5344CB8AC3E}">
        <p14:creationId xmlns:p14="http://schemas.microsoft.com/office/powerpoint/2010/main" val="33936505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3" name="Content Placeholder 2"/>
          <p:cNvSpPr>
            <a:spLocks noGrp="1"/>
          </p:cNvSpPr>
          <p:nvPr>
            <p:ph idx="1"/>
          </p:nvPr>
        </p:nvSpPr>
        <p:spPr>
          <a:xfrm>
            <a:off x="818712" y="2222287"/>
            <a:ext cx="10554574" cy="3348609"/>
          </a:xfrm>
        </p:spPr>
        <p:txBody>
          <a:bodyPr anchor="t" anchorCtr="0">
            <a:spAutoFit/>
          </a:bodyPr>
          <a:lstStyle/>
          <a:p>
            <a:pPr marL="0" indent="0">
              <a:buNone/>
            </a:pPr>
            <a:r>
              <a:rPr lang="en-ZA" sz="2400" dirty="0"/>
              <a:t>Good typography is as important on a web page as it is on paper. Text should be easy to read and visually </a:t>
            </a:r>
            <a:r>
              <a:rPr lang="en-ZA" sz="2400" dirty="0" smtClean="0"/>
              <a:t>pleasing, and one of the many challenges of using </a:t>
            </a:r>
            <a:r>
              <a:rPr lang="en-ZA" sz="2400" dirty="0"/>
              <a:t>text on a web page is getting the message across in an exciting, creative, and visual way</a:t>
            </a:r>
            <a:r>
              <a:rPr lang="en-ZA" sz="2400" dirty="0" smtClean="0"/>
              <a:t>.</a:t>
            </a:r>
          </a:p>
          <a:p>
            <a:pPr marL="0" indent="0">
              <a:buNone/>
            </a:pPr>
            <a:r>
              <a:rPr lang="en-ZA" sz="2400" dirty="0"/>
              <a:t>Meeting this challenge means </a:t>
            </a:r>
            <a:r>
              <a:rPr lang="en-ZA" sz="2400" dirty="0" smtClean="0"/>
              <a:t>recognising </a:t>
            </a:r>
            <a:r>
              <a:rPr lang="en-ZA" sz="2400" dirty="0"/>
              <a:t>how text is used differently on the web than in print</a:t>
            </a:r>
            <a:r>
              <a:rPr lang="en-ZA" sz="2400" dirty="0" smtClean="0"/>
              <a:t>.</a:t>
            </a:r>
          </a:p>
          <a:p>
            <a:pPr marL="0" indent="0">
              <a:buNone/>
            </a:pPr>
            <a:r>
              <a:rPr lang="en-ZA" sz="2400" dirty="0"/>
              <a:t>Although the results need to be the same, print </a:t>
            </a:r>
            <a:r>
              <a:rPr lang="en-ZA" sz="2400" dirty="0" smtClean="0"/>
              <a:t>and </a:t>
            </a:r>
            <a:r>
              <a:rPr lang="en-ZA" sz="2400" dirty="0"/>
              <a:t>web typography </a:t>
            </a:r>
            <a:r>
              <a:rPr lang="en-ZA" sz="2400" dirty="0" smtClean="0"/>
              <a:t>are very different from each other.</a:t>
            </a:r>
            <a:endParaRPr lang="en-ZA" sz="2400" cap="all" dirty="0"/>
          </a:p>
        </p:txBody>
      </p:sp>
    </p:spTree>
    <p:extLst>
      <p:ext uri="{BB962C8B-B14F-4D97-AF65-F5344CB8AC3E}">
        <p14:creationId xmlns:p14="http://schemas.microsoft.com/office/powerpoint/2010/main" val="9906753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3" name="Content Placeholder 2"/>
          <p:cNvSpPr>
            <a:spLocks noGrp="1"/>
          </p:cNvSpPr>
          <p:nvPr>
            <p:ph idx="1"/>
          </p:nvPr>
        </p:nvSpPr>
        <p:spPr>
          <a:xfrm>
            <a:off x="870665" y="2222287"/>
            <a:ext cx="10554574" cy="3636511"/>
          </a:xfrm>
          <a:noFill/>
          <a:ln>
            <a:noFill/>
          </a:ln>
        </p:spPr>
        <p:txBody>
          <a:bodyPr>
            <a:normAutofit lnSpcReduction="10000"/>
          </a:bodyPr>
          <a:lstStyle/>
          <a:p>
            <a:pPr marL="0" indent="0" algn="ctr">
              <a:buNone/>
            </a:pPr>
            <a:r>
              <a:rPr lang="en-ZA" sz="23900" b="1" cap="all" dirty="0" smtClean="0"/>
              <a:t>WHY?</a:t>
            </a:r>
            <a:endParaRPr lang="en-ZA" sz="23900" b="1" cap="all" dirty="0"/>
          </a:p>
        </p:txBody>
      </p:sp>
      <p:sp>
        <p:nvSpPr>
          <p:cNvPr id="6" name="Content Placeholder 2"/>
          <p:cNvSpPr txBox="1">
            <a:spLocks/>
          </p:cNvSpPr>
          <p:nvPr/>
        </p:nvSpPr>
        <p:spPr>
          <a:xfrm>
            <a:off x="644140" y="5858798"/>
            <a:ext cx="11211376" cy="759904"/>
          </a:xfrm>
          <a:prstGeom prst="rect">
            <a:avLst/>
          </a:prstGeom>
          <a:effectLst>
            <a:outerShdw blurRad="50800" dir="14400000">
              <a:srgbClr val="000000">
                <a:alpha val="40000"/>
              </a:srgbClr>
            </a:outerShdw>
          </a:effectLst>
        </p:spPr>
        <p:txBody>
          <a:bodyPr vert="horz" lIns="91440" tIns="45720" rIns="91440" bIns="45720"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Wingdings 2" charset="2"/>
              <a:buNone/>
            </a:pPr>
            <a:r>
              <a:rPr lang="en-ZA" sz="2400" dirty="0" smtClean="0"/>
              <a:t>Simply put, web designers need to design for computer screens of various sizes and resolutions, which comes with its own unique set of issues.</a:t>
            </a:r>
          </a:p>
        </p:txBody>
      </p:sp>
    </p:spTree>
    <p:extLst>
      <p:ext uri="{BB962C8B-B14F-4D97-AF65-F5344CB8AC3E}">
        <p14:creationId xmlns:p14="http://schemas.microsoft.com/office/powerpoint/2010/main" val="426288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3717941"/>
          </a:xfrm>
        </p:spPr>
        <p:txBody>
          <a:bodyPr anchor="t" anchorCtr="0">
            <a:spAutoFit/>
          </a:bodyPr>
          <a:lstStyle/>
          <a:p>
            <a:pPr marL="0" indent="0">
              <a:buNone/>
            </a:pPr>
            <a:r>
              <a:rPr lang="en-ZA" sz="2400" dirty="0"/>
              <a:t>People who work with print know that when the copy is printed, it does not always print the way it looked on screen in a desktop publishing program. </a:t>
            </a:r>
            <a:endParaRPr lang="en-ZA" sz="2400" dirty="0" smtClean="0"/>
          </a:p>
          <a:p>
            <a:pPr marL="0" indent="0">
              <a:buNone/>
            </a:pPr>
            <a:r>
              <a:rPr lang="en-ZA" sz="2400" dirty="0" smtClean="0"/>
              <a:t>This </a:t>
            </a:r>
            <a:r>
              <a:rPr lang="en-ZA" sz="2400" dirty="0"/>
              <a:t>difference in print material can occur for a number of reasons: the printer may not be properly calibrated, which means the colour may be off-register and print outside the intended image, making text blurry, or the text may bleed on the paper. </a:t>
            </a:r>
            <a:endParaRPr lang="en-ZA" sz="2400" dirty="0" smtClean="0"/>
          </a:p>
          <a:p>
            <a:pPr marL="0" indent="0">
              <a:buNone/>
            </a:pPr>
            <a:r>
              <a:rPr lang="en-ZA" sz="2400" dirty="0" smtClean="0"/>
              <a:t>The </a:t>
            </a:r>
            <a:r>
              <a:rPr lang="en-ZA" sz="2400" dirty="0"/>
              <a:t>print designer can correct these problems and end up with a printed piece that remains consistent each time it is printed</a:t>
            </a:r>
            <a:r>
              <a:rPr lang="en-ZA" sz="2400" dirty="0" smtClean="0"/>
              <a:t>.</a:t>
            </a:r>
          </a:p>
        </p:txBody>
      </p:sp>
    </p:spTree>
    <p:extLst>
      <p:ext uri="{BB962C8B-B14F-4D97-AF65-F5344CB8AC3E}">
        <p14:creationId xmlns:p14="http://schemas.microsoft.com/office/powerpoint/2010/main" val="5267154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2240613"/>
          </a:xfrm>
        </p:spPr>
        <p:txBody>
          <a:bodyPr anchor="t" anchorCtr="0">
            <a:spAutoFit/>
          </a:bodyPr>
          <a:lstStyle/>
          <a:p>
            <a:pPr marL="0" indent="0">
              <a:buNone/>
            </a:pPr>
            <a:r>
              <a:rPr lang="en-ZA" sz="2400" dirty="0"/>
              <a:t>A web designer, however, does not have this luxury. </a:t>
            </a:r>
            <a:endParaRPr lang="en-ZA" sz="2400" dirty="0" smtClean="0"/>
          </a:p>
          <a:p>
            <a:pPr marL="0" indent="0">
              <a:buNone/>
            </a:pPr>
            <a:r>
              <a:rPr lang="en-ZA" sz="2400" dirty="0" smtClean="0"/>
              <a:t>The </a:t>
            </a:r>
            <a:r>
              <a:rPr lang="en-ZA" sz="2400" dirty="0"/>
              <a:t>web is an elastic medium that must work across different computer platforms, screen sizes, and available font sets. </a:t>
            </a:r>
            <a:endParaRPr lang="en-ZA" sz="2400" dirty="0" smtClean="0"/>
          </a:p>
          <a:p>
            <a:pPr marL="0" indent="0">
              <a:buNone/>
            </a:pPr>
            <a:r>
              <a:rPr lang="en-ZA" sz="2400" dirty="0" smtClean="0"/>
              <a:t>As </a:t>
            </a:r>
            <a:r>
              <a:rPr lang="en-ZA" sz="2400" dirty="0"/>
              <a:t>a digital designer, it will be your job to understand these issues and to try to control them or at least minimize their negative impact. </a:t>
            </a:r>
            <a:endParaRPr lang="en-ZA" sz="2400" dirty="0" smtClean="0"/>
          </a:p>
        </p:txBody>
      </p:sp>
    </p:spTree>
    <p:extLst>
      <p:ext uri="{BB962C8B-B14F-4D97-AF65-F5344CB8AC3E}">
        <p14:creationId xmlns:p14="http://schemas.microsoft.com/office/powerpoint/2010/main" val="41871006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830997"/>
          </a:xfrm>
        </p:spPr>
        <p:txBody>
          <a:bodyPr anchor="t" anchorCtr="0">
            <a:spAutoFit/>
          </a:bodyPr>
          <a:lstStyle/>
          <a:p>
            <a:pPr marL="0" indent="0">
              <a:buNone/>
            </a:pPr>
            <a:r>
              <a:rPr lang="en-ZA" sz="2400" dirty="0" smtClean="0"/>
              <a:t>The advent </a:t>
            </a:r>
            <a:r>
              <a:rPr lang="en-ZA" sz="2400" dirty="0"/>
              <a:t>of </a:t>
            </a:r>
            <a:r>
              <a:rPr lang="en-ZA" sz="2400" dirty="0" smtClean="0"/>
              <a:t>Cascading </a:t>
            </a:r>
            <a:r>
              <a:rPr lang="en-ZA" sz="2400" dirty="0"/>
              <a:t>Style Sheets (CSS</a:t>
            </a:r>
            <a:r>
              <a:rPr lang="en-ZA" sz="2400" dirty="0" smtClean="0"/>
              <a:t>) has in many ways solved some of the issues of typefaces rendering across platforms.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724332"/>
            <a:ext cx="9042400" cy="4133668"/>
          </a:xfrm>
          <a:prstGeom prst="rect">
            <a:avLst/>
          </a:prstGeom>
        </p:spPr>
      </p:pic>
    </p:spTree>
    <p:extLst>
      <p:ext uri="{BB962C8B-B14F-4D97-AF65-F5344CB8AC3E}">
        <p14:creationId xmlns:p14="http://schemas.microsoft.com/office/powerpoint/2010/main" val="5722421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3717941"/>
          </a:xfrm>
        </p:spPr>
        <p:txBody>
          <a:bodyPr anchor="t" anchorCtr="0">
            <a:spAutoFit/>
          </a:bodyPr>
          <a:lstStyle/>
          <a:p>
            <a:pPr marL="0" indent="0">
              <a:buNone/>
            </a:pPr>
            <a:r>
              <a:rPr lang="en-ZA" sz="2400" dirty="0"/>
              <a:t>When your content is mostly text, the way you use typography to create readable and visually interesting text is of paramount importance. </a:t>
            </a:r>
            <a:endParaRPr lang="en-ZA" sz="2400" dirty="0" smtClean="0"/>
          </a:p>
          <a:p>
            <a:pPr marL="0" indent="0">
              <a:buNone/>
            </a:pPr>
            <a:r>
              <a:rPr lang="en-ZA" sz="2400" dirty="0" smtClean="0"/>
              <a:t>You </a:t>
            </a:r>
            <a:r>
              <a:rPr lang="en-ZA" sz="2400" dirty="0"/>
              <a:t>must understand many issues to effectively control how text appears on the web. For example, users may not have the fonts you specify in your XHTML document installed on their computers. </a:t>
            </a:r>
            <a:endParaRPr lang="en-ZA" sz="2400" dirty="0" smtClean="0"/>
          </a:p>
          <a:p>
            <a:pPr marL="0" indent="0">
              <a:buNone/>
            </a:pPr>
            <a:r>
              <a:rPr lang="en-ZA" sz="2400" dirty="0" smtClean="0"/>
              <a:t>This </a:t>
            </a:r>
            <a:r>
              <a:rPr lang="en-ZA" sz="2400" dirty="0"/>
              <a:t>means that if you use fonts haphazardly, what you see on your screen may not be anything close to what your users see on their screens</a:t>
            </a:r>
            <a:r>
              <a:rPr lang="en-ZA" sz="2400" dirty="0" smtClean="0"/>
              <a:t>.</a:t>
            </a:r>
            <a:endParaRPr lang="en-ZA" sz="2400" dirty="0"/>
          </a:p>
        </p:txBody>
      </p:sp>
    </p:spTree>
    <p:extLst>
      <p:ext uri="{BB962C8B-B14F-4D97-AF65-F5344CB8AC3E}">
        <p14:creationId xmlns:p14="http://schemas.microsoft.com/office/powerpoint/2010/main" val="155928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2459135"/>
          </a:xfrm>
        </p:spPr>
        <p:txBody>
          <a:bodyPr anchor="t" anchorCtr="0">
            <a:spAutoFit/>
          </a:bodyPr>
          <a:lstStyle/>
          <a:p>
            <a:pPr marL="0" indent="0">
              <a:buNone/>
            </a:pPr>
            <a:r>
              <a:rPr lang="en-ZA" sz="2400" dirty="0" smtClean="0"/>
              <a:t>Although </a:t>
            </a:r>
            <a:r>
              <a:rPr lang="en-ZA" sz="2400" dirty="0"/>
              <a:t>readability is a vital part of type design, most web designers also want the ability to use different fonts to help create the desired look and feel of the site for the target audience. </a:t>
            </a:r>
            <a:endParaRPr lang="en-ZA" sz="2400" dirty="0" smtClean="0"/>
          </a:p>
          <a:p>
            <a:pPr marL="0" indent="0">
              <a:buNone/>
            </a:pPr>
            <a:r>
              <a:rPr lang="en-ZA" sz="2400" dirty="0" smtClean="0"/>
              <a:t>Different </a:t>
            </a:r>
            <a:r>
              <a:rPr lang="en-ZA" sz="2400" dirty="0"/>
              <a:t>fonts, when used properly, can help focus attention on certain text on the screen, enhance readability, set a tone (serious, light-hearted), and project an image (progressive, conservative</a:t>
            </a:r>
            <a:r>
              <a:rPr lang="en-ZA" sz="2400" dirty="0" smtClean="0"/>
              <a:t>).</a:t>
            </a:r>
            <a:endParaRPr lang="en-ZA" sz="2400" dirty="0"/>
          </a:p>
        </p:txBody>
      </p:sp>
    </p:spTree>
    <p:extLst>
      <p:ext uri="{BB962C8B-B14F-4D97-AF65-F5344CB8AC3E}">
        <p14:creationId xmlns:p14="http://schemas.microsoft.com/office/powerpoint/2010/main" val="22423481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err="1" smtClean="0"/>
              <a:t>WTFont</a:t>
            </a:r>
            <a:r>
              <a:rPr lang="en-ZA" b="1" dirty="0" smtClean="0"/>
              <a:t> has that got to do with me?</a:t>
            </a:r>
            <a:endParaRPr lang="en-ZA" b="1" dirty="0"/>
          </a:p>
        </p:txBody>
      </p:sp>
      <p:sp>
        <p:nvSpPr>
          <p:cNvPr id="5" name="Content Placeholder 2"/>
          <p:cNvSpPr>
            <a:spLocks noGrp="1"/>
          </p:cNvSpPr>
          <p:nvPr>
            <p:ph idx="1"/>
          </p:nvPr>
        </p:nvSpPr>
        <p:spPr>
          <a:xfrm>
            <a:off x="818712" y="2222287"/>
            <a:ext cx="10554574" cy="2459135"/>
          </a:xfrm>
        </p:spPr>
        <p:txBody>
          <a:bodyPr anchor="t" anchorCtr="0">
            <a:spAutoFit/>
          </a:bodyPr>
          <a:lstStyle/>
          <a:p>
            <a:pPr marL="0" indent="0">
              <a:buNone/>
            </a:pPr>
            <a:r>
              <a:rPr lang="en-ZA" sz="2400" dirty="0" smtClean="0"/>
              <a:t>There </a:t>
            </a:r>
            <a:r>
              <a:rPr lang="en-ZA" sz="2400" dirty="0"/>
              <a:t>are default fonts that come </a:t>
            </a:r>
            <a:r>
              <a:rPr lang="en-ZA" sz="2400" dirty="0" smtClean="0"/>
              <a:t>pre-installed </a:t>
            </a:r>
            <a:r>
              <a:rPr lang="en-ZA" sz="2400" dirty="0"/>
              <a:t>with each operating </a:t>
            </a:r>
            <a:r>
              <a:rPr lang="en-ZA" sz="2400" dirty="0" smtClean="0"/>
              <a:t>system. </a:t>
            </a:r>
          </a:p>
          <a:p>
            <a:pPr marL="0" indent="0">
              <a:buNone/>
            </a:pPr>
            <a:r>
              <a:rPr lang="en-ZA" sz="2400" dirty="0" smtClean="0"/>
              <a:t>See </a:t>
            </a:r>
            <a:r>
              <a:rPr lang="en-ZA" sz="2400" dirty="0"/>
              <a:t>below for a list of common default fonts currently pre-installed </a:t>
            </a:r>
            <a:r>
              <a:rPr lang="en-ZA" sz="2400" dirty="0" smtClean="0"/>
              <a:t>computers</a:t>
            </a:r>
            <a:r>
              <a:rPr lang="en-ZA" sz="2400" dirty="0"/>
              <a:t>, and unless a user has specifically deleted a default font, these default fonts will be available for displaying text on a web page</a:t>
            </a:r>
            <a:r>
              <a:rPr lang="en-ZA" sz="2400" dirty="0" smtClean="0"/>
              <a:t>.</a:t>
            </a:r>
            <a:endParaRPr lang="en-ZA" sz="2400" dirty="0"/>
          </a:p>
        </p:txBody>
      </p:sp>
    </p:spTree>
    <p:extLst>
      <p:ext uri="{BB962C8B-B14F-4D97-AF65-F5344CB8AC3E}">
        <p14:creationId xmlns:p14="http://schemas.microsoft.com/office/powerpoint/2010/main" val="402977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73151" y="655691"/>
            <a:ext cx="3547533" cy="1326611"/>
          </a:xfrm>
        </p:spPr>
        <p:txBody>
          <a:bodyPr/>
          <a:lstStyle/>
          <a:p>
            <a:r>
              <a:rPr lang="en-ZA" dirty="0" smtClean="0"/>
              <a:t>QUICK TIP: </a:t>
            </a:r>
            <a:r>
              <a:rPr lang="en-ZA" sz="1600" dirty="0"/>
              <a:t>Use default fonts to maintain consistency and obtain a certain degree of insurance that the text will appear on the Web page as you intended</a:t>
            </a:r>
            <a:r>
              <a:rPr lang="en-ZA" sz="1600" dirty="0" smtClean="0"/>
              <a:t>.</a:t>
            </a:r>
            <a:endParaRPr lang="en-ZA"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3796" r="3564"/>
          <a:stretch/>
        </p:blipFill>
        <p:spPr>
          <a:xfrm>
            <a:off x="1351005" y="2289380"/>
            <a:ext cx="8880389" cy="4573684"/>
          </a:xfrm>
          <a:prstGeom prst="rect">
            <a:avLst/>
          </a:prstGeom>
        </p:spPr>
      </p:pic>
      <p:sp>
        <p:nvSpPr>
          <p:cNvPr id="12" name="Content Placeholder 2"/>
          <p:cNvSpPr>
            <a:spLocks noGrp="1"/>
          </p:cNvSpPr>
          <p:nvPr>
            <p:ph idx="1"/>
          </p:nvPr>
        </p:nvSpPr>
        <p:spPr>
          <a:xfrm>
            <a:off x="4802908" y="256091"/>
            <a:ext cx="7287492" cy="1938992"/>
          </a:xfrm>
        </p:spPr>
        <p:txBody>
          <a:bodyPr wrap="square" anchor="t" anchorCtr="0">
            <a:spAutoFit/>
          </a:bodyPr>
          <a:lstStyle/>
          <a:p>
            <a:pPr marL="0" indent="0">
              <a:buNone/>
            </a:pPr>
            <a:r>
              <a:rPr lang="en-ZA" sz="2000" dirty="0"/>
              <a:t>As you work with fonts, you will probably begin to recognize which fonts are the more commonly used default fonts. You can also view the fonts installed on a specific computer from the Fonts folder on </a:t>
            </a:r>
            <a:r>
              <a:rPr lang="en-ZA" sz="2000" dirty="0" smtClean="0"/>
              <a:t>a </a:t>
            </a:r>
            <a:r>
              <a:rPr lang="en-ZA" sz="2000" dirty="0"/>
              <a:t>computer. The Fonts folder is located in the Windows folder on a PC and in the System folder on a </a:t>
            </a:r>
            <a:r>
              <a:rPr lang="en-ZA" sz="2000" dirty="0" smtClean="0"/>
              <a:t>Mac.</a:t>
            </a:r>
            <a:endParaRPr lang="en-ZA" sz="2000" dirty="0"/>
          </a:p>
        </p:txBody>
      </p:sp>
    </p:spTree>
    <p:extLst>
      <p:ext uri="{BB962C8B-B14F-4D97-AF65-F5344CB8AC3E}">
        <p14:creationId xmlns:p14="http://schemas.microsoft.com/office/powerpoint/2010/main" val="36405636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14728" y="727522"/>
            <a:ext cx="4852988" cy="707886"/>
          </a:xfrm>
        </p:spPr>
        <p:txBody>
          <a:bodyPr anchor="t" anchorCtr="0">
            <a:spAutoFit/>
          </a:bodyPr>
          <a:lstStyle/>
          <a:p>
            <a:r>
              <a:rPr lang="en-ZA" sz="4000" b="1" dirty="0" smtClean="0"/>
              <a:t>That’s </a:t>
            </a:r>
            <a:r>
              <a:rPr lang="en-ZA" sz="4000" b="1" dirty="0" err="1" smtClean="0"/>
              <a:t>FONTastic</a:t>
            </a:r>
            <a:r>
              <a:rPr lang="en-ZA" sz="4000" b="1" dirty="0" smtClean="0"/>
              <a:t>!</a:t>
            </a:r>
            <a:endParaRPr lang="en-ZA" sz="4000" b="1" dirty="0"/>
          </a:p>
        </p:txBody>
      </p:sp>
      <p:sp>
        <p:nvSpPr>
          <p:cNvPr id="6" name="Text Placeholder 5"/>
          <p:cNvSpPr>
            <a:spLocks noGrp="1"/>
          </p:cNvSpPr>
          <p:nvPr>
            <p:ph type="body" sz="half" idx="2"/>
          </p:nvPr>
        </p:nvSpPr>
        <p:spPr>
          <a:xfrm>
            <a:off x="271849" y="1670817"/>
            <a:ext cx="5681479" cy="4816703"/>
          </a:xfrm>
        </p:spPr>
        <p:txBody>
          <a:bodyPr wrap="square">
            <a:spAutoFit/>
          </a:bodyPr>
          <a:lstStyle/>
          <a:p>
            <a:r>
              <a:rPr lang="en-ZA" sz="2000" dirty="0"/>
              <a:t>In addition to the operating system installing default fonts, most software programs come with default fonts that are installed when the programs are installed. </a:t>
            </a:r>
            <a:endParaRPr lang="en-ZA" sz="2000" dirty="0" smtClean="0"/>
          </a:p>
          <a:p>
            <a:r>
              <a:rPr lang="en-ZA" sz="2000" dirty="0" smtClean="0"/>
              <a:t>To </a:t>
            </a:r>
            <a:r>
              <a:rPr lang="en-ZA" sz="2000" dirty="0"/>
              <a:t>further complicate matters, font sets can be downloaded from the Internet or purchased. Type designers often sell their fonts or offer royalty-free options with licensing criteria. </a:t>
            </a:r>
            <a:endParaRPr lang="en-ZA" sz="2000" dirty="0" smtClean="0"/>
          </a:p>
          <a:p>
            <a:r>
              <a:rPr lang="en-ZA" sz="2000" b="1" dirty="0" smtClean="0"/>
              <a:t>Remember </a:t>
            </a:r>
            <a:r>
              <a:rPr lang="en-ZA" sz="2000" b="1" dirty="0"/>
              <a:t>that fonts are original creations. </a:t>
            </a:r>
            <a:endParaRPr lang="en-ZA" sz="2000" b="1" dirty="0" smtClean="0"/>
          </a:p>
          <a:p>
            <a:r>
              <a:rPr lang="en-ZA" sz="2000" dirty="0" smtClean="0"/>
              <a:t>If </a:t>
            </a:r>
            <a:r>
              <a:rPr lang="en-ZA" sz="2000" dirty="0"/>
              <a:t>you purchase the rights to use the font, be sure to read the licensing agreements very carefully. If you do not purchase the rights to use the font, make certain it is royalty free</a:t>
            </a:r>
            <a:r>
              <a:rPr lang="en-ZA" sz="2000" dirty="0" smtClean="0"/>
              <a:t>.</a:t>
            </a:r>
            <a:endParaRPr lang="en-ZA" sz="1400" dirty="0"/>
          </a:p>
        </p:txBody>
      </p:sp>
      <p:pic>
        <p:nvPicPr>
          <p:cNvPr id="14" name="Picture Placeholder 13"/>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0209" b="10209"/>
          <a:stretch>
            <a:fillRect/>
          </a:stretch>
        </p:blipFill>
        <p:spPr/>
      </p:pic>
    </p:spTree>
    <p:extLst>
      <p:ext uri="{BB962C8B-B14F-4D97-AF65-F5344CB8AC3E}">
        <p14:creationId xmlns:p14="http://schemas.microsoft.com/office/powerpoint/2010/main" val="28248164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p:cNvSpPr txBox="1">
            <a:spLocks/>
          </p:cNvSpPr>
          <p:nvPr/>
        </p:nvSpPr>
        <p:spPr>
          <a:xfrm>
            <a:off x="271849" y="1670817"/>
            <a:ext cx="5681479" cy="3616375"/>
          </a:xfrm>
          <a:prstGeom prst="rect">
            <a:avLst/>
          </a:prstGeom>
          <a:effectLst>
            <a:outerShdw blurRad="50800" dir="14400000">
              <a:srgbClr val="000000">
                <a:alpha val="40000"/>
              </a:srgbClr>
            </a:outerShdw>
          </a:effectLst>
        </p:spPr>
        <p:txBody>
          <a:bodyPr vert="horz" wrap="square" lIns="91440" tIns="45720" rIns="91440" bIns="45720" rtlCol="0" anchor="t">
            <a:spAutoFit/>
          </a:bodyPr>
          <a:lstStyle>
            <a:lvl1pPr marL="0" indent="0" algn="l" defTabSz="457200" rtl="0" eaLnBrk="1" latinLnBrk="0" hangingPunct="1">
              <a:spcBef>
                <a:spcPct val="20000"/>
              </a:spcBef>
              <a:spcAft>
                <a:spcPts val="600"/>
              </a:spcAft>
              <a:buClr>
                <a:schemeClr val="accent1"/>
              </a:buClr>
              <a:buFont typeface="Wingdings 2" charset="2"/>
              <a:buNone/>
              <a:defRPr sz="1200" kern="1200">
                <a:solidFill>
                  <a:schemeClr val="tx1"/>
                </a:solidFill>
                <a:latin typeface="+mn-lt"/>
                <a:ea typeface="+mn-ea"/>
                <a:cs typeface="+mn-cs"/>
              </a:defRPr>
            </a:lvl1pPr>
            <a:lvl2pPr marL="457200" indent="0" algn="l" defTabSz="457200" rtl="0" eaLnBrk="1" latinLnBrk="0" hangingPunct="1">
              <a:spcBef>
                <a:spcPct val="20000"/>
              </a:spcBef>
              <a:spcAft>
                <a:spcPts val="600"/>
              </a:spcAft>
              <a:buClr>
                <a:schemeClr val="accent1"/>
              </a:buClr>
              <a:buFont typeface="Wingdings 2" charset="2"/>
              <a:buNone/>
              <a:defRPr sz="1200" kern="1200">
                <a:solidFill>
                  <a:schemeClr val="tx1"/>
                </a:solidFill>
                <a:latin typeface="+mn-lt"/>
                <a:ea typeface="+mn-ea"/>
                <a:cs typeface="+mn-cs"/>
              </a:defRPr>
            </a:lvl2pPr>
            <a:lvl3pPr marL="914400" indent="0" algn="l" defTabSz="457200" rtl="0" eaLnBrk="1" latinLnBrk="0" hangingPunct="1">
              <a:spcBef>
                <a:spcPct val="20000"/>
              </a:spcBef>
              <a:spcAft>
                <a:spcPts val="600"/>
              </a:spcAft>
              <a:buClr>
                <a:schemeClr val="accent1"/>
              </a:buClr>
              <a:buFont typeface="Wingdings 2" charset="2"/>
              <a:buNone/>
              <a:defRPr sz="1000" kern="1200">
                <a:solidFill>
                  <a:schemeClr val="tx1"/>
                </a:solidFill>
                <a:latin typeface="+mn-lt"/>
                <a:ea typeface="+mn-ea"/>
                <a:cs typeface="+mn-cs"/>
              </a:defRPr>
            </a:lvl3pPr>
            <a:lvl4pPr marL="13716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4pPr>
            <a:lvl5pPr marL="18288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5pPr>
            <a:lvl6pPr marL="22860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6pPr>
            <a:lvl7pPr marL="27432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7pPr>
            <a:lvl8pPr marL="32004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8pPr>
            <a:lvl9pPr marL="3657600" indent="0" algn="l" defTabSz="457200" rtl="0" eaLnBrk="1" latinLnBrk="0" hangingPunct="1">
              <a:spcBef>
                <a:spcPct val="20000"/>
              </a:spcBef>
              <a:spcAft>
                <a:spcPts val="600"/>
              </a:spcAft>
              <a:buClr>
                <a:schemeClr val="accent1"/>
              </a:buClr>
              <a:buFont typeface="Wingdings 2" charset="2"/>
              <a:buNone/>
              <a:defRPr sz="900" kern="1200">
                <a:solidFill>
                  <a:schemeClr val="tx1"/>
                </a:solidFill>
                <a:latin typeface="+mn-lt"/>
                <a:ea typeface="+mn-ea"/>
                <a:cs typeface="+mn-cs"/>
              </a:defRPr>
            </a:lvl9pPr>
          </a:lstStyle>
          <a:p>
            <a:r>
              <a:rPr lang="en-ZA" sz="2000" dirty="0"/>
              <a:t>Good typography is anything but boring. There are literally hundreds of thousands of fonts on the market today. Slight differences between two fonts can create vast differences in the look and feel of a website. </a:t>
            </a:r>
          </a:p>
          <a:p>
            <a:r>
              <a:rPr lang="en-ZA" sz="2000" dirty="0"/>
              <a:t>There are times when it is difficult to describe what distinguishes one font from another in technical terms, yet fonts often have a certain look or feel associated with them – in much the same way that colours often have emotions associated with them.</a:t>
            </a:r>
          </a:p>
        </p:txBody>
      </p:sp>
      <p:sp>
        <p:nvSpPr>
          <p:cNvPr id="5" name="Title 4"/>
          <p:cNvSpPr>
            <a:spLocks noGrp="1"/>
          </p:cNvSpPr>
          <p:nvPr>
            <p:ph type="title"/>
          </p:nvPr>
        </p:nvSpPr>
        <p:spPr>
          <a:xfrm>
            <a:off x="814728" y="727522"/>
            <a:ext cx="4852988" cy="707886"/>
          </a:xfrm>
        </p:spPr>
        <p:txBody>
          <a:bodyPr anchor="t" anchorCtr="0">
            <a:spAutoFit/>
          </a:bodyPr>
          <a:lstStyle/>
          <a:p>
            <a:r>
              <a:rPr lang="en-ZA" sz="4000" b="1" dirty="0" smtClean="0"/>
              <a:t>I Know Your TYPE!</a:t>
            </a:r>
            <a:endParaRPr lang="en-ZA" sz="4000" b="1" dirty="0"/>
          </a:p>
        </p:txBody>
      </p:sp>
      <p:pic>
        <p:nvPicPr>
          <p:cNvPr id="14" name="Picture Placeholder 13"/>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b="11930"/>
          <a:stretch/>
        </p:blipFill>
        <p:spPr>
          <a:xfrm>
            <a:off x="6721738" y="0"/>
            <a:ext cx="5492915" cy="6848272"/>
          </a:xfrm>
        </p:spPr>
      </p:pic>
    </p:spTree>
    <p:extLst>
      <p:ext uri="{BB962C8B-B14F-4D97-AF65-F5344CB8AC3E}">
        <p14:creationId xmlns:p14="http://schemas.microsoft.com/office/powerpoint/2010/main" val="22195399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I Know Your Typeface!</a:t>
            </a:r>
            <a:endParaRPr lang="en-ZA" b="1" dirty="0"/>
          </a:p>
        </p:txBody>
      </p:sp>
      <p:sp>
        <p:nvSpPr>
          <p:cNvPr id="5" name="Content Placeholder 2"/>
          <p:cNvSpPr>
            <a:spLocks noGrp="1"/>
          </p:cNvSpPr>
          <p:nvPr>
            <p:ph idx="1"/>
          </p:nvPr>
        </p:nvSpPr>
        <p:spPr>
          <a:xfrm>
            <a:off x="818712" y="2222287"/>
            <a:ext cx="10554574" cy="4238083"/>
          </a:xfrm>
        </p:spPr>
        <p:txBody>
          <a:bodyPr anchor="t" anchorCtr="0">
            <a:spAutoFit/>
          </a:bodyPr>
          <a:lstStyle/>
          <a:p>
            <a:pPr marL="0" indent="0">
              <a:buNone/>
            </a:pPr>
            <a:r>
              <a:rPr lang="en-ZA" sz="2400" dirty="0"/>
              <a:t>Fonts are classified as either serif, sans serif, or decorative. </a:t>
            </a:r>
          </a:p>
          <a:p>
            <a:pPr marL="0" indent="0">
              <a:buNone/>
            </a:pPr>
            <a:r>
              <a:rPr lang="en-ZA" sz="2400" dirty="0" smtClean="0"/>
              <a:t>Serif </a:t>
            </a:r>
            <a:r>
              <a:rPr lang="en-ZA" sz="2400" dirty="0"/>
              <a:t>fonts have feet or short lines at the ends of the strokes of the letter, whereas sans serif fonts do not. </a:t>
            </a:r>
            <a:r>
              <a:rPr lang="en-ZA" sz="2400" i="1" dirty="0"/>
              <a:t>Sans </a:t>
            </a:r>
            <a:r>
              <a:rPr lang="en-ZA" sz="2400" dirty="0"/>
              <a:t>means “without”, so a sans serif font is one without serifs or without feet. </a:t>
            </a:r>
            <a:endParaRPr lang="en-ZA" sz="2400" dirty="0" smtClean="0"/>
          </a:p>
          <a:p>
            <a:pPr marL="0" indent="0">
              <a:buNone/>
            </a:pPr>
            <a:r>
              <a:rPr lang="en-ZA" sz="2400" dirty="0" smtClean="0"/>
              <a:t>A </a:t>
            </a:r>
            <a:r>
              <a:rPr lang="en-ZA" sz="2400" dirty="0"/>
              <a:t>decorative font may have a combination of serif and sans serif fonts or it may be one that cannot be categorized either way. </a:t>
            </a:r>
            <a:endParaRPr lang="en-ZA" sz="2400" dirty="0" smtClean="0"/>
          </a:p>
          <a:p>
            <a:pPr marL="0" indent="0">
              <a:buNone/>
            </a:pPr>
            <a:r>
              <a:rPr lang="en-ZA" sz="2400" dirty="0" smtClean="0"/>
              <a:t>Perhaps </a:t>
            </a:r>
            <a:r>
              <a:rPr lang="en-ZA" sz="2400" dirty="0"/>
              <a:t>the overriding concern with text is readability. In print, serif fonts are used for long or dense bodies of texts, such as paragraphs, because, according to readability studies, serif fonts are more readable than sans serif fonts. </a:t>
            </a:r>
            <a:endParaRPr lang="en-ZA" sz="2400" dirty="0" smtClean="0"/>
          </a:p>
        </p:txBody>
      </p:sp>
    </p:spTree>
    <p:extLst>
      <p:ext uri="{BB962C8B-B14F-4D97-AF65-F5344CB8AC3E}">
        <p14:creationId xmlns:p14="http://schemas.microsoft.com/office/powerpoint/2010/main" val="7634655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I Know Your Typeface!</a:t>
            </a:r>
            <a:endParaRPr lang="en-ZA" b="1" dirty="0"/>
          </a:p>
        </p:txBody>
      </p:sp>
      <p:sp>
        <p:nvSpPr>
          <p:cNvPr id="5" name="Content Placeholder 2"/>
          <p:cNvSpPr>
            <a:spLocks noGrp="1"/>
          </p:cNvSpPr>
          <p:nvPr>
            <p:ph idx="1"/>
          </p:nvPr>
        </p:nvSpPr>
        <p:spPr>
          <a:xfrm>
            <a:off x="818712" y="2222287"/>
            <a:ext cx="10554574" cy="4087273"/>
          </a:xfrm>
        </p:spPr>
        <p:txBody>
          <a:bodyPr anchor="t" anchorCtr="0">
            <a:spAutoFit/>
          </a:bodyPr>
          <a:lstStyle/>
          <a:p>
            <a:pPr marL="0" indent="0">
              <a:buNone/>
            </a:pPr>
            <a:r>
              <a:rPr lang="en-ZA" sz="2400" dirty="0"/>
              <a:t>The research indicates that the serifs create an imaginary line at the top and bottom of a text line, which helps guide the eye across the page. Generally, people in western culture are accustomed to reading text set with serif fonts because they use the little feet to track or lead their eyes along the horizontal line. </a:t>
            </a:r>
            <a:endParaRPr lang="en-ZA" sz="2400" dirty="0" smtClean="0"/>
          </a:p>
          <a:p>
            <a:pPr marL="0" indent="0">
              <a:buNone/>
            </a:pPr>
            <a:r>
              <a:rPr lang="en-ZA" sz="2400" dirty="0" smtClean="0"/>
              <a:t>Many </a:t>
            </a:r>
            <a:r>
              <a:rPr lang="en-ZA" sz="2400" dirty="0"/>
              <a:t>people think serif fonts are easier to read on screen as well, however, other users believe that the serifs actually interfere with readability on the screen. </a:t>
            </a:r>
            <a:endParaRPr lang="en-ZA" sz="2400" dirty="0" smtClean="0"/>
          </a:p>
          <a:p>
            <a:pPr marL="0" indent="0">
              <a:buNone/>
            </a:pPr>
            <a:r>
              <a:rPr lang="en-ZA" sz="2400" dirty="0" smtClean="0"/>
              <a:t>Serif fonts are great for reading on e-readers because they simulate the way we read actual books.</a:t>
            </a:r>
          </a:p>
        </p:txBody>
      </p:sp>
    </p:spTree>
    <p:extLst>
      <p:ext uri="{BB962C8B-B14F-4D97-AF65-F5344CB8AC3E}">
        <p14:creationId xmlns:p14="http://schemas.microsoft.com/office/powerpoint/2010/main" val="21965083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I Know Your Typeface!</a:t>
            </a:r>
            <a:endParaRPr lang="en-ZA" b="1" dirty="0"/>
          </a:p>
        </p:txBody>
      </p:sp>
      <p:sp>
        <p:nvSpPr>
          <p:cNvPr id="5" name="Content Placeholder 2"/>
          <p:cNvSpPr>
            <a:spLocks noGrp="1"/>
          </p:cNvSpPr>
          <p:nvPr>
            <p:ph idx="1"/>
          </p:nvPr>
        </p:nvSpPr>
        <p:spPr>
          <a:xfrm>
            <a:off x="818712" y="2222287"/>
            <a:ext cx="10554574" cy="3868751"/>
          </a:xfrm>
        </p:spPr>
        <p:txBody>
          <a:bodyPr anchor="t" anchorCtr="0">
            <a:spAutoFit/>
          </a:bodyPr>
          <a:lstStyle/>
          <a:p>
            <a:pPr marL="0" indent="0">
              <a:buNone/>
            </a:pPr>
            <a:r>
              <a:rPr lang="en-ZA" sz="2400" dirty="0"/>
              <a:t>Sans serif fonts do not create the imaginary line, </a:t>
            </a:r>
            <a:r>
              <a:rPr lang="en-ZA" sz="2400" dirty="0" smtClean="0"/>
              <a:t>so the eye wanders through the body of text. This aspect makes sans serif fonts better for scrolling up and down pages of text on-screen. </a:t>
            </a:r>
          </a:p>
          <a:p>
            <a:pPr marL="0" indent="0">
              <a:buNone/>
            </a:pPr>
            <a:r>
              <a:rPr lang="en-ZA" sz="2400" dirty="0" smtClean="0"/>
              <a:t>Sans </a:t>
            </a:r>
            <a:r>
              <a:rPr lang="en-ZA" sz="2400" dirty="0"/>
              <a:t>serif fonts are most often used for headings, titles, and callouts because they are more likely to draw attention. </a:t>
            </a:r>
          </a:p>
          <a:p>
            <a:pPr marL="0" indent="0">
              <a:buNone/>
            </a:pPr>
            <a:r>
              <a:rPr lang="en-ZA" sz="2400" dirty="0"/>
              <a:t>They are also considered more </a:t>
            </a:r>
            <a:r>
              <a:rPr lang="en-ZA" sz="2400" dirty="0" smtClean="0"/>
              <a:t>recognisable </a:t>
            </a:r>
            <a:r>
              <a:rPr lang="en-ZA" sz="2400" dirty="0"/>
              <a:t>at a glance than serif fonts, which makes them perfect for short bits of text</a:t>
            </a:r>
            <a:r>
              <a:rPr lang="en-ZA" sz="2400" dirty="0" smtClean="0"/>
              <a:t>.</a:t>
            </a:r>
          </a:p>
          <a:p>
            <a:pPr marL="0" indent="0">
              <a:buNone/>
            </a:pPr>
            <a:r>
              <a:rPr lang="en-ZA" sz="2400" dirty="0" smtClean="0"/>
              <a:t>Though, today, web and app design and development is pushing the boundaries, and is redefining the way fonts are used on-screen.</a:t>
            </a:r>
          </a:p>
        </p:txBody>
      </p:sp>
    </p:spTree>
    <p:extLst>
      <p:ext uri="{BB962C8B-B14F-4D97-AF65-F5344CB8AC3E}">
        <p14:creationId xmlns:p14="http://schemas.microsoft.com/office/powerpoint/2010/main" val="2046839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I Know Your Typeface!</a:t>
            </a:r>
            <a:endParaRPr lang="en-ZA" b="1" dirty="0"/>
          </a:p>
        </p:txBody>
      </p:sp>
      <p:sp>
        <p:nvSpPr>
          <p:cNvPr id="5" name="Content Placeholder 2"/>
          <p:cNvSpPr>
            <a:spLocks noGrp="1"/>
          </p:cNvSpPr>
          <p:nvPr>
            <p:ph idx="1"/>
          </p:nvPr>
        </p:nvSpPr>
        <p:spPr>
          <a:xfrm>
            <a:off x="818712" y="2222287"/>
            <a:ext cx="10554574" cy="2979277"/>
          </a:xfrm>
        </p:spPr>
        <p:txBody>
          <a:bodyPr anchor="t" anchorCtr="0">
            <a:spAutoFit/>
          </a:bodyPr>
          <a:lstStyle/>
          <a:p>
            <a:pPr marL="0" indent="0">
              <a:buNone/>
            </a:pPr>
            <a:r>
              <a:rPr lang="en-ZA" sz="2400" dirty="0" smtClean="0"/>
              <a:t>Both </a:t>
            </a:r>
            <a:r>
              <a:rPr lang="en-ZA" sz="2400" dirty="0"/>
              <a:t>serif and sans serif fonts can be used on web pages. </a:t>
            </a:r>
          </a:p>
          <a:p>
            <a:pPr marL="0" indent="0">
              <a:buNone/>
            </a:pPr>
            <a:r>
              <a:rPr lang="en-ZA" sz="2400" dirty="0"/>
              <a:t>Serif fonts tend to be more traditional fonts so they are great for website sites designed to set a conservative tone, while sans serif fonts tend to convey a more contemporary and modern feel. </a:t>
            </a:r>
          </a:p>
          <a:p>
            <a:pPr marL="0" indent="0">
              <a:buNone/>
            </a:pPr>
            <a:r>
              <a:rPr lang="en-ZA" sz="2400" dirty="0"/>
              <a:t>Because much of our text in multimedia applications is often quite short, sans serif fonts are used extensively </a:t>
            </a:r>
            <a:r>
              <a:rPr lang="en-ZA" sz="2400" dirty="0" smtClean="0"/>
              <a:t>in body copy while serif fonts are applied to headings, subtitles, etc. on website </a:t>
            </a:r>
            <a:r>
              <a:rPr lang="en-ZA" sz="2400" dirty="0"/>
              <a:t>sites. </a:t>
            </a:r>
          </a:p>
        </p:txBody>
      </p:sp>
    </p:spTree>
    <p:extLst>
      <p:ext uri="{BB962C8B-B14F-4D97-AF65-F5344CB8AC3E}">
        <p14:creationId xmlns:p14="http://schemas.microsoft.com/office/powerpoint/2010/main" val="21618168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Typography in Web </a:t>
            </a:r>
            <a:r>
              <a:rPr lang="en-ZA" b="1" dirty="0" smtClean="0"/>
              <a:t>Design</a:t>
            </a:r>
            <a:endParaRPr lang="en-ZA" b="1" dirty="0"/>
          </a:p>
        </p:txBody>
      </p:sp>
      <p:sp>
        <p:nvSpPr>
          <p:cNvPr id="3" name="Content Placeholder 2"/>
          <p:cNvSpPr>
            <a:spLocks noGrp="1"/>
          </p:cNvSpPr>
          <p:nvPr>
            <p:ph idx="1"/>
          </p:nvPr>
        </p:nvSpPr>
        <p:spPr>
          <a:xfrm>
            <a:off x="818712" y="2222287"/>
            <a:ext cx="10554574" cy="3868751"/>
          </a:xfrm>
        </p:spPr>
        <p:txBody>
          <a:bodyPr anchor="t" anchorCtr="0">
            <a:spAutoFit/>
          </a:bodyPr>
          <a:lstStyle/>
          <a:p>
            <a:pPr marL="0" indent="0">
              <a:buNone/>
            </a:pPr>
            <a:r>
              <a:rPr lang="en-ZA" sz="2400" dirty="0"/>
              <a:t>Typography plays an important role in setting the tone, theme, and message of a </a:t>
            </a:r>
            <a:r>
              <a:rPr lang="en-ZA" sz="2400" dirty="0" smtClean="0"/>
              <a:t>website.</a:t>
            </a:r>
          </a:p>
          <a:p>
            <a:pPr marL="0" indent="0">
              <a:buNone/>
            </a:pPr>
            <a:r>
              <a:rPr lang="en-ZA" sz="2400" dirty="0" smtClean="0"/>
              <a:t>It i</a:t>
            </a:r>
            <a:r>
              <a:rPr lang="en-ZA" sz="2400" dirty="0"/>
              <a:t>s the art and technique of arranging </a:t>
            </a:r>
            <a:r>
              <a:rPr lang="en-ZA" sz="2400" dirty="0" smtClean="0"/>
              <a:t>type, which involves </a:t>
            </a:r>
            <a:r>
              <a:rPr lang="en-ZA" sz="2400" dirty="0"/>
              <a:t>the thoughtful and deliberate selection of typefaces, point size, line length, leading, tracking, kerning, </a:t>
            </a:r>
            <a:r>
              <a:rPr lang="en-ZA" sz="2400" dirty="0" smtClean="0"/>
              <a:t>colour </a:t>
            </a:r>
            <a:r>
              <a:rPr lang="en-ZA" sz="2400" dirty="0"/>
              <a:t>and any element that can affect a </a:t>
            </a:r>
            <a:r>
              <a:rPr lang="en-ZA" sz="2400" dirty="0" smtClean="0"/>
              <a:t>design. </a:t>
            </a:r>
          </a:p>
          <a:p>
            <a:pPr marL="0" indent="0">
              <a:buNone/>
            </a:pPr>
            <a:r>
              <a:rPr lang="en-ZA" sz="2400" dirty="0" smtClean="0"/>
              <a:t>Readability </a:t>
            </a:r>
            <a:r>
              <a:rPr lang="en-ZA" sz="2400" dirty="0"/>
              <a:t>is primarily the concern of the typographer or information designer. </a:t>
            </a:r>
            <a:endParaRPr lang="en-ZA" sz="2400" dirty="0" smtClean="0"/>
          </a:p>
          <a:p>
            <a:pPr marL="0" indent="0">
              <a:buNone/>
            </a:pPr>
            <a:r>
              <a:rPr lang="en-ZA" sz="2400" b="1" i="1" dirty="0" smtClean="0"/>
              <a:t>In </a:t>
            </a:r>
            <a:r>
              <a:rPr lang="en-ZA" sz="2400" b="1" i="1" dirty="0"/>
              <a:t>websites, consistency is key in the use of typography</a:t>
            </a:r>
            <a:r>
              <a:rPr lang="en-ZA" sz="2400" b="1" i="1" dirty="0" smtClean="0"/>
              <a:t>.</a:t>
            </a:r>
            <a:endParaRPr lang="en-ZA" sz="2400" b="1" i="1" dirty="0"/>
          </a:p>
        </p:txBody>
      </p:sp>
      <p:sp>
        <p:nvSpPr>
          <p:cNvPr id="4" name="Rectangle 3"/>
          <p:cNvSpPr/>
          <p:nvPr/>
        </p:nvSpPr>
        <p:spPr>
          <a:xfrm>
            <a:off x="9476192" y="6311900"/>
            <a:ext cx="2715808" cy="369332"/>
          </a:xfrm>
          <a:prstGeom prst="rect">
            <a:avLst/>
          </a:prstGeom>
        </p:spPr>
        <p:txBody>
          <a:bodyPr wrap="none">
            <a:spAutoFit/>
          </a:bodyPr>
          <a:lstStyle/>
          <a:p>
            <a:pPr algn="r"/>
            <a:r>
              <a:rPr lang="en-ZA" dirty="0" smtClean="0"/>
              <a:t>www.awwwards.com</a:t>
            </a:r>
            <a:endParaRPr lang="en-ZA" dirty="0"/>
          </a:p>
        </p:txBody>
      </p:sp>
    </p:spTree>
    <p:extLst>
      <p:ext uri="{BB962C8B-B14F-4D97-AF65-F5344CB8AC3E}">
        <p14:creationId xmlns:p14="http://schemas.microsoft.com/office/powerpoint/2010/main" val="8413023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b="1" dirty="0"/>
              <a:t>Typography in Web </a:t>
            </a:r>
            <a:r>
              <a:rPr lang="en-ZA" b="1" dirty="0" smtClean="0"/>
              <a:t>Design</a:t>
            </a:r>
            <a:endParaRPr lang="en-ZA" b="1" dirty="0"/>
          </a:p>
        </p:txBody>
      </p:sp>
      <p:sp>
        <p:nvSpPr>
          <p:cNvPr id="3" name="Content Placeholder 2"/>
          <p:cNvSpPr>
            <a:spLocks noGrp="1"/>
          </p:cNvSpPr>
          <p:nvPr>
            <p:ph idx="1"/>
          </p:nvPr>
        </p:nvSpPr>
        <p:spPr>
          <a:xfrm>
            <a:off x="818712" y="2222287"/>
            <a:ext cx="10554574" cy="3348609"/>
          </a:xfrm>
        </p:spPr>
        <p:txBody>
          <a:bodyPr anchor="t" anchorCtr="0">
            <a:spAutoFit/>
          </a:bodyPr>
          <a:lstStyle/>
          <a:p>
            <a:pPr marL="0" indent="0">
              <a:buNone/>
            </a:pPr>
            <a:r>
              <a:rPr lang="en-ZA" sz="2400" dirty="0"/>
              <a:t>We've come a long way since the start of the </a:t>
            </a:r>
            <a:r>
              <a:rPr lang="en-ZA" sz="2400" dirty="0" smtClean="0"/>
              <a:t>internet, and for </a:t>
            </a:r>
            <a:r>
              <a:rPr lang="en-ZA" sz="2400" dirty="0"/>
              <a:t>a long time typography has been overlooked by web </a:t>
            </a:r>
            <a:r>
              <a:rPr lang="en-ZA" sz="2400" dirty="0" smtClean="0"/>
              <a:t>designers. </a:t>
            </a:r>
          </a:p>
          <a:p>
            <a:pPr marL="0" indent="0">
              <a:buNone/>
            </a:pPr>
            <a:r>
              <a:rPr lang="en-ZA" sz="2400" dirty="0" smtClean="0"/>
              <a:t>In recent years, but </a:t>
            </a:r>
            <a:r>
              <a:rPr lang="en-ZA" sz="2400" dirty="0"/>
              <a:t>it has gained recognition as an important part of web </a:t>
            </a:r>
            <a:r>
              <a:rPr lang="en-ZA" sz="2400" dirty="0" smtClean="0"/>
              <a:t>design, and digitisation has opened </a:t>
            </a:r>
            <a:r>
              <a:rPr lang="en-ZA" sz="2400" dirty="0"/>
              <a:t>up typography to new generations of designers. </a:t>
            </a:r>
            <a:endParaRPr lang="en-ZA" sz="2400" dirty="0" smtClean="0"/>
          </a:p>
          <a:p>
            <a:pPr marL="0" indent="0">
              <a:buNone/>
            </a:pPr>
            <a:r>
              <a:rPr lang="en-ZA" sz="2400" dirty="0" smtClean="0"/>
              <a:t>These days, typography is not only used as a means of communication, it has become a design tool and will continue to enhance the online experience through its evolution. </a:t>
            </a:r>
            <a:endParaRPr lang="en-ZA" sz="2400" dirty="0"/>
          </a:p>
        </p:txBody>
      </p:sp>
      <p:sp>
        <p:nvSpPr>
          <p:cNvPr id="4" name="Rectangle 3"/>
          <p:cNvSpPr/>
          <p:nvPr/>
        </p:nvSpPr>
        <p:spPr>
          <a:xfrm>
            <a:off x="9476192" y="6311900"/>
            <a:ext cx="2715808" cy="369332"/>
          </a:xfrm>
          <a:prstGeom prst="rect">
            <a:avLst/>
          </a:prstGeom>
        </p:spPr>
        <p:txBody>
          <a:bodyPr wrap="none">
            <a:spAutoFit/>
          </a:bodyPr>
          <a:lstStyle/>
          <a:p>
            <a:pPr algn="r"/>
            <a:r>
              <a:rPr lang="en-ZA" dirty="0" smtClean="0"/>
              <a:t>www.awwwards.com</a:t>
            </a:r>
            <a:endParaRPr lang="en-ZA" dirty="0"/>
          </a:p>
        </p:txBody>
      </p:sp>
    </p:spTree>
    <p:extLst>
      <p:ext uri="{BB962C8B-B14F-4D97-AF65-F5344CB8AC3E}">
        <p14:creationId xmlns:p14="http://schemas.microsoft.com/office/powerpoint/2010/main" val="40379340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ZA" dirty="0" smtClean="0"/>
              <a:t>Discussion</a:t>
            </a:r>
            <a:endParaRPr lang="en-ZA" dirty="0"/>
          </a:p>
        </p:txBody>
      </p:sp>
      <p:sp>
        <p:nvSpPr>
          <p:cNvPr id="5" name="Text Placeholder 4"/>
          <p:cNvSpPr>
            <a:spLocks noGrp="1"/>
          </p:cNvSpPr>
          <p:nvPr>
            <p:ph type="body" idx="1"/>
          </p:nvPr>
        </p:nvSpPr>
        <p:spPr>
          <a:xfrm>
            <a:off x="280086" y="5181599"/>
            <a:ext cx="11067364" cy="1445343"/>
          </a:xfrm>
        </p:spPr>
        <p:txBody>
          <a:bodyPr>
            <a:noAutofit/>
          </a:bodyPr>
          <a:lstStyle/>
          <a:p>
            <a:r>
              <a:rPr lang="en-ZA" dirty="0" smtClean="0"/>
              <a:t>Let’s take a look at a couple of examples of where typography has been used as a design tool.</a:t>
            </a:r>
          </a:p>
          <a:p>
            <a:r>
              <a:rPr lang="en-ZA" dirty="0" smtClean="0"/>
              <a:t>What are the pros and cons of using typefaces as a design tool?</a:t>
            </a:r>
          </a:p>
          <a:p>
            <a:r>
              <a:rPr lang="en-ZA" dirty="0" smtClean="0"/>
              <a:t>How do you, as a designer/developer, breach the issue of cross-platform compatibility when using various font types?</a:t>
            </a:r>
            <a:endParaRPr lang="en-ZA" dirty="0"/>
          </a:p>
        </p:txBody>
      </p:sp>
    </p:spTree>
    <p:extLst>
      <p:ext uri="{BB962C8B-B14F-4D97-AF65-F5344CB8AC3E}">
        <p14:creationId xmlns:p14="http://schemas.microsoft.com/office/powerpoint/2010/main" val="15785099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C3C3C"/>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29200"/>
            <a:ext cx="12191997" cy="6228800"/>
          </a:xfrm>
          <a:prstGeom prst="rect">
            <a:avLst/>
          </a:prstGeom>
        </p:spPr>
      </p:pic>
      <p:sp>
        <p:nvSpPr>
          <p:cNvPr id="5"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3"/>
              </a:rPr>
              <a:t>www.vangardemusic.com</a:t>
            </a:r>
            <a:r>
              <a:rPr lang="en-ZA" sz="3600" b="1" dirty="0" smtClean="0"/>
              <a:t> </a:t>
            </a:r>
            <a:endParaRPr lang="en-ZA" sz="3600" b="1" dirty="0"/>
          </a:p>
        </p:txBody>
      </p:sp>
    </p:spTree>
    <p:extLst>
      <p:ext uri="{BB962C8B-B14F-4D97-AF65-F5344CB8AC3E}">
        <p14:creationId xmlns:p14="http://schemas.microsoft.com/office/powerpoint/2010/main" val="1290989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9200"/>
            <a:ext cx="12192000" cy="6228800"/>
          </a:xfrm>
          <a:prstGeom prst="rect">
            <a:avLst/>
          </a:prstGeom>
        </p:spPr>
      </p:pic>
      <p:sp>
        <p:nvSpPr>
          <p:cNvPr id="3"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3"/>
              </a:rPr>
              <a:t>www.vangardemusic.com</a:t>
            </a:r>
            <a:r>
              <a:rPr lang="en-ZA" sz="3600" b="1" dirty="0" smtClean="0"/>
              <a:t> </a:t>
            </a:r>
            <a:endParaRPr lang="en-ZA" sz="3600" b="1" dirty="0"/>
          </a:p>
        </p:txBody>
      </p:sp>
    </p:spTree>
    <p:extLst>
      <p:ext uri="{BB962C8B-B14F-4D97-AF65-F5344CB8AC3E}">
        <p14:creationId xmlns:p14="http://schemas.microsoft.com/office/powerpoint/2010/main" val="1557501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583" y="629200"/>
            <a:ext cx="10518834" cy="6228800"/>
          </a:xfrm>
          <a:prstGeom prst="rect">
            <a:avLst/>
          </a:prstGeom>
        </p:spPr>
      </p:pic>
      <p:sp>
        <p:nvSpPr>
          <p:cNvPr id="3"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3"/>
              </a:rPr>
              <a:t>www.ijb.ca</a:t>
            </a:r>
            <a:r>
              <a:rPr lang="en-ZA" sz="3600" b="1" dirty="0" smtClean="0"/>
              <a:t> </a:t>
            </a:r>
            <a:endParaRPr lang="en-ZA" sz="3600" b="1" dirty="0"/>
          </a:p>
        </p:txBody>
      </p:sp>
    </p:spTree>
    <p:extLst>
      <p:ext uri="{BB962C8B-B14F-4D97-AF65-F5344CB8AC3E}">
        <p14:creationId xmlns:p14="http://schemas.microsoft.com/office/powerpoint/2010/main" val="1856094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583" y="629200"/>
            <a:ext cx="10518834" cy="6228799"/>
          </a:xfrm>
          <a:prstGeom prst="rect">
            <a:avLst/>
          </a:prstGeom>
        </p:spPr>
      </p:pic>
      <p:sp>
        <p:nvSpPr>
          <p:cNvPr id="3"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3"/>
              </a:rPr>
              <a:t>www.ijb.ca</a:t>
            </a:r>
            <a:r>
              <a:rPr lang="en-ZA" sz="3600" b="1" dirty="0" smtClean="0"/>
              <a:t> </a:t>
            </a:r>
            <a:endParaRPr lang="en-ZA" sz="3600" b="1" dirty="0"/>
          </a:p>
        </p:txBody>
      </p:sp>
    </p:spTree>
    <p:extLst>
      <p:ext uri="{BB962C8B-B14F-4D97-AF65-F5344CB8AC3E}">
        <p14:creationId xmlns:p14="http://schemas.microsoft.com/office/powerpoint/2010/main" val="3503835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2"/>
              </a:rPr>
              <a:t>mccollcenter.org</a:t>
            </a:r>
            <a:r>
              <a:rPr lang="en-ZA" sz="3600" b="1" dirty="0" smtClean="0"/>
              <a:t>  </a:t>
            </a:r>
            <a:endParaRPr lang="en-ZA" sz="36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40903"/>
            <a:ext cx="12192000" cy="5817097"/>
          </a:xfrm>
          <a:prstGeom prst="rect">
            <a:avLst/>
          </a:prstGeom>
        </p:spPr>
      </p:pic>
    </p:spTree>
    <p:extLst>
      <p:ext uri="{BB962C8B-B14F-4D97-AF65-F5344CB8AC3E}">
        <p14:creationId xmlns:p14="http://schemas.microsoft.com/office/powerpoint/2010/main" val="28170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1"/>
          <p:cNvSpPr txBox="1">
            <a:spLocks/>
          </p:cNvSpPr>
          <p:nvPr/>
        </p:nvSpPr>
        <p:spPr>
          <a:xfrm>
            <a:off x="5950971" y="1"/>
            <a:ext cx="6241027" cy="6292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ZA" sz="3600" b="1" dirty="0" smtClean="0">
                <a:hlinkClick r:id="rId2"/>
              </a:rPr>
              <a:t>mccollcenter.org</a:t>
            </a:r>
            <a:r>
              <a:rPr lang="en-ZA" sz="3600" b="1" dirty="0" smtClean="0"/>
              <a:t>  </a:t>
            </a:r>
            <a:endParaRPr lang="en-ZA" sz="36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040903"/>
            <a:ext cx="12191997" cy="5817097"/>
          </a:xfrm>
          <a:prstGeom prst="rect">
            <a:avLst/>
          </a:prstGeom>
        </p:spPr>
      </p:pic>
    </p:spTree>
    <p:extLst>
      <p:ext uri="{BB962C8B-B14F-4D97-AF65-F5344CB8AC3E}">
        <p14:creationId xmlns:p14="http://schemas.microsoft.com/office/powerpoint/2010/main" val="31048029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sz="3200" dirty="0" smtClean="0"/>
              <a:t>Typographic Web Design Examples</a:t>
            </a:r>
            <a:endParaRPr lang="en-ZA" sz="3200" dirty="0"/>
          </a:p>
        </p:txBody>
      </p:sp>
      <p:sp>
        <p:nvSpPr>
          <p:cNvPr id="3" name="Content Placeholder 2"/>
          <p:cNvSpPr>
            <a:spLocks noGrp="1"/>
          </p:cNvSpPr>
          <p:nvPr>
            <p:ph idx="1"/>
          </p:nvPr>
        </p:nvSpPr>
        <p:spPr/>
        <p:txBody>
          <a:bodyPr>
            <a:normAutofit fontScale="77500" lnSpcReduction="20000"/>
          </a:bodyPr>
          <a:lstStyle/>
          <a:p>
            <a:r>
              <a:rPr lang="en-ZA" sz="2400" dirty="0" smtClean="0">
                <a:hlinkClick r:id="rId2"/>
              </a:rPr>
              <a:t>www.benoitchalland.com</a:t>
            </a:r>
            <a:endParaRPr lang="en-ZA" sz="2400" dirty="0">
              <a:hlinkClick r:id="rId2"/>
            </a:endParaRPr>
          </a:p>
          <a:p>
            <a:r>
              <a:rPr lang="en-ZA" sz="2400" dirty="0" smtClean="0">
                <a:hlinkClick r:id="rId2"/>
              </a:rPr>
              <a:t>www.akqa.com</a:t>
            </a:r>
            <a:endParaRPr lang="en-ZA" sz="2400" dirty="0">
              <a:hlinkClick r:id="rId2"/>
            </a:endParaRPr>
          </a:p>
          <a:p>
            <a:r>
              <a:rPr lang="en-ZA" sz="2400" dirty="0" smtClean="0">
                <a:hlinkClick r:id="rId2"/>
              </a:rPr>
              <a:t>oyafestivalen.com</a:t>
            </a:r>
            <a:endParaRPr lang="en-ZA" sz="2400" dirty="0">
              <a:hlinkClick r:id="rId2"/>
            </a:endParaRPr>
          </a:p>
          <a:p>
            <a:r>
              <a:rPr lang="en-ZA" sz="2400" dirty="0" smtClean="0">
                <a:hlinkClick r:id="rId2"/>
              </a:rPr>
              <a:t>superbalist.com</a:t>
            </a:r>
            <a:endParaRPr lang="en-ZA" sz="2400" dirty="0"/>
          </a:p>
          <a:p>
            <a:r>
              <a:rPr lang="en-ZA" sz="2400" dirty="0" smtClean="0">
                <a:hlinkClick r:id="rId3"/>
              </a:rPr>
              <a:t>www.yuppiechef.com</a:t>
            </a:r>
            <a:r>
              <a:rPr lang="en-ZA" sz="2400" dirty="0" smtClean="0"/>
              <a:t> </a:t>
            </a:r>
            <a:endParaRPr lang="en-ZA" sz="2400" dirty="0"/>
          </a:p>
          <a:p>
            <a:r>
              <a:rPr lang="en-ZA" sz="2400" dirty="0" smtClean="0">
                <a:hlinkClick r:id="rId4"/>
              </a:rPr>
              <a:t>norwegianrain.com</a:t>
            </a:r>
            <a:endParaRPr lang="en-ZA" sz="2400" dirty="0"/>
          </a:p>
          <a:p>
            <a:r>
              <a:rPr lang="en-ZA" sz="2400" dirty="0" smtClean="0">
                <a:hlinkClick r:id="rId5"/>
              </a:rPr>
              <a:t>unitedstrands.com</a:t>
            </a:r>
            <a:endParaRPr lang="en-ZA" sz="2400" dirty="0"/>
          </a:p>
          <a:p>
            <a:r>
              <a:rPr lang="en-ZA" sz="2400" dirty="0" smtClean="0">
                <a:hlinkClick r:id="rId6"/>
              </a:rPr>
              <a:t>simplygum.com</a:t>
            </a:r>
            <a:endParaRPr lang="en-ZA" sz="2400" dirty="0"/>
          </a:p>
          <a:p>
            <a:r>
              <a:rPr lang="en-ZA" sz="2400" dirty="0" smtClean="0">
                <a:hlinkClick r:id="rId7"/>
              </a:rPr>
              <a:t>www.pelicanbooks.com</a:t>
            </a:r>
            <a:endParaRPr lang="en-ZA" sz="2400" dirty="0"/>
          </a:p>
          <a:p>
            <a:r>
              <a:rPr lang="en-ZA" sz="2400" dirty="0" smtClean="0">
                <a:hlinkClick r:id="rId8"/>
              </a:rPr>
              <a:t>www.guilddesignfair.com</a:t>
            </a:r>
            <a:endParaRPr lang="en-ZA" sz="2400" dirty="0" smtClean="0"/>
          </a:p>
          <a:p>
            <a:r>
              <a:rPr lang="en-ZA" sz="2400" dirty="0" smtClean="0">
                <a:hlinkClick r:id="rId9"/>
              </a:rPr>
              <a:t>redbullkingoftheair.com</a:t>
            </a:r>
            <a:endParaRPr lang="en-ZA" sz="2400" dirty="0" smtClean="0"/>
          </a:p>
          <a:p>
            <a:r>
              <a:rPr lang="en-ZA" sz="2400" dirty="0" smtClean="0">
                <a:hlinkClick r:id="rId10"/>
              </a:rPr>
              <a:t>ff0000.com</a:t>
            </a:r>
            <a:r>
              <a:rPr lang="en-ZA" sz="2400" dirty="0" smtClean="0"/>
              <a:t> </a:t>
            </a:r>
          </a:p>
          <a:p>
            <a:r>
              <a:rPr lang="en-ZA" sz="2400" dirty="0" smtClean="0">
                <a:hlinkClick r:id="rId11"/>
              </a:rPr>
              <a:t>www.cartelle.nl</a:t>
            </a:r>
            <a:r>
              <a:rPr lang="en-ZA" sz="2400" dirty="0" smtClean="0"/>
              <a:t> </a:t>
            </a:r>
          </a:p>
          <a:p>
            <a:r>
              <a:rPr lang="en-ZA" sz="2400" dirty="0" smtClean="0">
                <a:hlinkClick r:id="rId12"/>
              </a:rPr>
              <a:t>www.buzzfeed.com/annehelenpetersen/nick-krolls-walk-in-the-park</a:t>
            </a:r>
            <a:r>
              <a:rPr lang="en-ZA" sz="2400" dirty="0">
                <a:hlinkClick r:id="rId12"/>
              </a:rPr>
              <a:t>#.</a:t>
            </a:r>
            <a:r>
              <a:rPr lang="en-ZA" sz="2400" dirty="0" smtClean="0">
                <a:hlinkClick r:id="rId12"/>
              </a:rPr>
              <a:t>tcXoN7eK3j</a:t>
            </a:r>
            <a:r>
              <a:rPr lang="en-ZA" sz="2400" dirty="0" smtClean="0"/>
              <a:t> </a:t>
            </a:r>
          </a:p>
        </p:txBody>
      </p:sp>
      <p:sp>
        <p:nvSpPr>
          <p:cNvPr id="4" name="Text Placeholder 3"/>
          <p:cNvSpPr>
            <a:spLocks noGrp="1"/>
          </p:cNvSpPr>
          <p:nvPr>
            <p:ph type="body" sz="half" idx="2"/>
          </p:nvPr>
        </p:nvSpPr>
        <p:spPr/>
        <p:txBody>
          <a:bodyPr/>
          <a:lstStyle/>
          <a:p>
            <a:r>
              <a:rPr lang="en-ZA" sz="1800" dirty="0" smtClean="0"/>
              <a:t>Check out the links listed for examples of how typography can be applied to websites in various categories and how companies maintain their brand identities through the use of their web fonts.</a:t>
            </a:r>
          </a:p>
          <a:p>
            <a:r>
              <a:rPr lang="en-ZA" sz="1800" dirty="0"/>
              <a:t>Resources: </a:t>
            </a:r>
            <a:r>
              <a:rPr lang="en-ZA" sz="1800" dirty="0" smtClean="0">
                <a:hlinkClick r:id="rId13"/>
              </a:rPr>
              <a:t>www.typewolf.com/guides</a:t>
            </a:r>
            <a:r>
              <a:rPr lang="en-ZA" sz="1800" dirty="0" smtClean="0"/>
              <a:t> </a:t>
            </a:r>
          </a:p>
          <a:p>
            <a:r>
              <a:rPr lang="en-ZA" sz="1800" dirty="0" smtClean="0">
                <a:hlinkClick r:id="rId14"/>
              </a:rPr>
              <a:t>www.fontshop.com</a:t>
            </a:r>
            <a:r>
              <a:rPr lang="en-ZA" sz="1800" dirty="0" smtClean="0"/>
              <a:t> </a:t>
            </a:r>
            <a:endParaRPr lang="en-ZA" sz="1800" dirty="0"/>
          </a:p>
          <a:p>
            <a:endParaRPr lang="en-ZA" sz="1800" b="1" dirty="0"/>
          </a:p>
        </p:txBody>
      </p:sp>
    </p:spTree>
    <p:extLst>
      <p:ext uri="{BB962C8B-B14F-4D97-AF65-F5344CB8AC3E}">
        <p14:creationId xmlns:p14="http://schemas.microsoft.com/office/powerpoint/2010/main" val="4756818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2653</TotalTime>
  <Words>2055</Words>
  <Application>Microsoft Office PowerPoint</Application>
  <PresentationFormat>Widescreen</PresentationFormat>
  <Paragraphs>132</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Century Gothic</vt:lpstr>
      <vt:lpstr>Garamond</vt:lpstr>
      <vt:lpstr>Times New Roman</vt:lpstr>
      <vt:lpstr>Wingdings 2</vt:lpstr>
      <vt:lpstr>Quotable</vt:lpstr>
      <vt:lpstr>MULTIMEDIA: THE ELEMENTS</vt:lpstr>
      <vt:lpstr>A Brief Look at Typography</vt:lpstr>
      <vt:lpstr>A Brief Look at Typography</vt:lpstr>
      <vt:lpstr>A Brief Look at Typography</vt:lpstr>
      <vt:lpstr>Typefaces VS. Fonts</vt:lpstr>
      <vt:lpstr>Typefaces VS. Fonts</vt:lpstr>
      <vt:lpstr>Typefaces VS. Fonts</vt:lpstr>
      <vt:lpstr>Typefaces VS. Fonts</vt:lpstr>
      <vt:lpstr>WTFont has that got to do with me?</vt:lpstr>
      <vt:lpstr>WTFont has that got to do with me?</vt:lpstr>
      <vt:lpstr>WTFont has that got to do with me?</vt:lpstr>
      <vt:lpstr>WTFont has that got to do with me?</vt:lpstr>
      <vt:lpstr>WTFont has that got to do with me?</vt:lpstr>
      <vt:lpstr>WTFont has that got to do with me?</vt:lpstr>
      <vt:lpstr>WTFont has that got to do with me?</vt:lpstr>
      <vt:lpstr>WTFont has that got to do with me?</vt:lpstr>
      <vt:lpstr>QUICK TIP: Use default fonts to maintain consistency and obtain a certain degree of insurance that the text will appear on the Web page as you intended.</vt:lpstr>
      <vt:lpstr>That’s FONTastic!</vt:lpstr>
      <vt:lpstr>I Know Your TYPE!</vt:lpstr>
      <vt:lpstr>I Know Your Typeface!</vt:lpstr>
      <vt:lpstr>I Know Your Typeface!</vt:lpstr>
      <vt:lpstr>I Know Your Typeface!</vt:lpstr>
      <vt:lpstr>I Know Your Typeface!</vt:lpstr>
      <vt:lpstr>Typography in Web Design</vt:lpstr>
      <vt:lpstr>Typography in Web Design</vt:lpstr>
      <vt:lpstr>Discussion</vt:lpstr>
      <vt:lpstr>PowerPoint Presentation</vt:lpstr>
      <vt:lpstr>PowerPoint Presentation</vt:lpstr>
      <vt:lpstr>PowerPoint Presentation</vt:lpstr>
      <vt:lpstr>PowerPoint Presentation</vt:lpstr>
      <vt:lpstr>PowerPoint Presentation</vt:lpstr>
      <vt:lpstr>PowerPoint Presentation</vt:lpstr>
      <vt:lpstr>Typographic Web Design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ELEMENTS</dc:title>
  <dc:creator>Meagan Hamman</dc:creator>
  <cp:lastModifiedBy>Meagan Hamman</cp:lastModifiedBy>
  <cp:revision>179</cp:revision>
  <dcterms:created xsi:type="dcterms:W3CDTF">2015-04-16T19:40:09Z</dcterms:created>
  <dcterms:modified xsi:type="dcterms:W3CDTF">2020-02-16T20:54:37Z</dcterms:modified>
</cp:coreProperties>
</file>