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notesMasterIdLst>
    <p:notesMasterId r:id="rId54"/>
  </p:notesMasterIdLst>
  <p:handoutMasterIdLst>
    <p:handoutMasterId r:id="rId55"/>
  </p:handoutMasterIdLst>
  <p:sldIdLst>
    <p:sldId id="257" r:id="rId2"/>
    <p:sldId id="258" r:id="rId3"/>
    <p:sldId id="311" r:id="rId4"/>
    <p:sldId id="312" r:id="rId5"/>
    <p:sldId id="259" r:id="rId6"/>
    <p:sldId id="260"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Lst>
  <p:sldSz cx="9144000" cy="6858000" type="screen4x3"/>
  <p:notesSz cx="9372600" cy="70866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0A5"/>
    <a:srgbClr val="FFFFFF"/>
    <a:srgbClr val="96CDEE"/>
    <a:srgbClr val="0F3F5D"/>
    <a:srgbClr val="01773A"/>
    <a:srgbClr val="156B13"/>
    <a:srgbClr val="008000"/>
    <a:srgbClr val="F20000"/>
    <a:srgbClr val="66C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80842" autoAdjust="0"/>
  </p:normalViewPr>
  <p:slideViewPr>
    <p:cSldViewPr>
      <p:cViewPr varScale="1">
        <p:scale>
          <a:sx n="59" d="100"/>
          <a:sy n="59" d="100"/>
        </p:scale>
        <p:origin x="1740"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endParaRPr lang="en-US" dirty="0"/>
          </a:p>
        </p:txBody>
      </p:sp>
      <p:sp>
        <p:nvSpPr>
          <p:cNvPr id="3" name="Date Placeholder 2"/>
          <p:cNvSpPr>
            <a:spLocks noGrp="1"/>
          </p:cNvSpPr>
          <p:nvPr>
            <p:ph type="dt" sz="quarter" idx="1"/>
          </p:nvPr>
        </p:nvSpPr>
        <p:spPr>
          <a:xfrm>
            <a:off x="5308971" y="0"/>
            <a:ext cx="4061460" cy="354330"/>
          </a:xfrm>
          <a:prstGeom prst="rect">
            <a:avLst/>
          </a:prstGeom>
        </p:spPr>
        <p:txBody>
          <a:bodyPr vert="horz" lIns="94046" tIns="47023" rIns="94046" bIns="47023" rtlCol="0"/>
          <a:lstStyle>
            <a:lvl1pPr algn="r">
              <a:defRPr sz="1200"/>
            </a:lvl1pPr>
          </a:lstStyle>
          <a:p>
            <a:fld id="{4EE4060F-EC6E-45B5-96F1-A60F0585115B}" type="datetimeFigureOut">
              <a:rPr lang="en-US" smtClean="0"/>
              <a:pPr/>
              <a:t>2/12/2020</a:t>
            </a:fld>
            <a:endParaRPr lang="en-US" dirty="0"/>
          </a:p>
        </p:txBody>
      </p:sp>
      <p:sp>
        <p:nvSpPr>
          <p:cNvPr id="4" name="Footer Placeholder 3"/>
          <p:cNvSpPr>
            <a:spLocks noGrp="1"/>
          </p:cNvSpPr>
          <p:nvPr>
            <p:ph type="ftr" sz="quarter" idx="2"/>
          </p:nvPr>
        </p:nvSpPr>
        <p:spPr>
          <a:xfrm>
            <a:off x="0" y="6731040"/>
            <a:ext cx="4061460" cy="354330"/>
          </a:xfrm>
          <a:prstGeom prst="rect">
            <a:avLst/>
          </a:prstGeom>
        </p:spPr>
        <p:txBody>
          <a:bodyPr vert="horz" lIns="94046" tIns="47023" rIns="94046" bIns="47023" rtlCol="0" anchor="b"/>
          <a:lstStyle>
            <a:lvl1pPr algn="l">
              <a:defRPr sz="1200"/>
            </a:lvl1pPr>
          </a:lstStyle>
          <a:p>
            <a:endParaRPr lang="en-US" dirty="0"/>
          </a:p>
        </p:txBody>
      </p:sp>
      <p:sp>
        <p:nvSpPr>
          <p:cNvPr id="5" name="Slide Number Placeholder 4"/>
          <p:cNvSpPr>
            <a:spLocks noGrp="1"/>
          </p:cNvSpPr>
          <p:nvPr>
            <p:ph type="sldNum" sz="quarter" idx="3"/>
          </p:nvPr>
        </p:nvSpPr>
        <p:spPr>
          <a:xfrm>
            <a:off x="5308971" y="6731040"/>
            <a:ext cx="4061460" cy="354330"/>
          </a:xfrm>
          <a:prstGeom prst="rect">
            <a:avLst/>
          </a:prstGeom>
        </p:spPr>
        <p:txBody>
          <a:bodyPr vert="horz" lIns="94046" tIns="47023" rIns="94046" bIns="47023" rtlCol="0" anchor="b"/>
          <a:lstStyle>
            <a:lvl1pPr algn="r">
              <a:defRPr sz="1200"/>
            </a:lvl1pPr>
          </a:lstStyle>
          <a:p>
            <a:fld id="{A987596C-5E44-4393-BE44-DB7D499825F1}" type="slidenum">
              <a:rPr lang="en-US" smtClean="0"/>
              <a:pPr/>
              <a:t>‹#›</a:t>
            </a:fld>
            <a:endParaRPr lang="en-US" dirty="0"/>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pPr>
              <a:defRPr/>
            </a:pPr>
            <a:endParaRPr lang="en-US" dirty="0"/>
          </a:p>
        </p:txBody>
      </p:sp>
      <p:sp>
        <p:nvSpPr>
          <p:cNvPr id="3" name="Date Placeholder 2"/>
          <p:cNvSpPr>
            <a:spLocks noGrp="1"/>
          </p:cNvSpPr>
          <p:nvPr>
            <p:ph type="dt" idx="1"/>
          </p:nvPr>
        </p:nvSpPr>
        <p:spPr>
          <a:xfrm>
            <a:off x="5308971" y="0"/>
            <a:ext cx="4061460" cy="354330"/>
          </a:xfrm>
          <a:prstGeom prst="rect">
            <a:avLst/>
          </a:prstGeom>
        </p:spPr>
        <p:txBody>
          <a:bodyPr vert="horz" lIns="94046" tIns="47023" rIns="94046" bIns="47023" rtlCol="0"/>
          <a:lstStyle>
            <a:lvl1pPr algn="r">
              <a:defRPr sz="1200"/>
            </a:lvl1pPr>
          </a:lstStyle>
          <a:p>
            <a:pPr>
              <a:defRPr/>
            </a:pPr>
            <a:fld id="{46950642-C6F2-4E46-90C1-0B12B643B3D7}" type="datetimeFigureOut">
              <a:rPr lang="en-US"/>
              <a:pPr>
                <a:defRPr/>
              </a:pPr>
              <a:t>2/12/2020</a:t>
            </a:fld>
            <a:endParaRPr lang="en-US" dirty="0"/>
          </a:p>
        </p:txBody>
      </p:sp>
      <p:sp>
        <p:nvSpPr>
          <p:cNvPr id="4" name="Slide Image Placeholder 3"/>
          <p:cNvSpPr>
            <a:spLocks noGrp="1" noRot="1" noChangeAspect="1"/>
          </p:cNvSpPr>
          <p:nvPr>
            <p:ph type="sldImg" idx="2"/>
          </p:nvPr>
        </p:nvSpPr>
        <p:spPr>
          <a:xfrm>
            <a:off x="2914650" y="531813"/>
            <a:ext cx="3543300" cy="2657475"/>
          </a:xfrm>
          <a:prstGeom prst="rect">
            <a:avLst/>
          </a:prstGeom>
          <a:noFill/>
          <a:ln w="12700">
            <a:solidFill>
              <a:prstClr val="black"/>
            </a:solidFill>
          </a:ln>
        </p:spPr>
        <p:txBody>
          <a:bodyPr vert="horz" lIns="94046" tIns="47023" rIns="94046" bIns="47023" rtlCol="0" anchor="ctr"/>
          <a:lstStyle/>
          <a:p>
            <a:pPr lvl="0"/>
            <a:endParaRPr lang="en-US" noProof="0" dirty="0"/>
          </a:p>
        </p:txBody>
      </p:sp>
      <p:sp>
        <p:nvSpPr>
          <p:cNvPr id="5" name="Notes Placeholder 4"/>
          <p:cNvSpPr>
            <a:spLocks noGrp="1"/>
          </p:cNvSpPr>
          <p:nvPr>
            <p:ph type="body" sz="quarter" idx="3"/>
          </p:nvPr>
        </p:nvSpPr>
        <p:spPr>
          <a:xfrm>
            <a:off x="937260" y="3366135"/>
            <a:ext cx="7498080" cy="3188970"/>
          </a:xfrm>
          <a:prstGeom prst="rect">
            <a:avLst/>
          </a:prstGeom>
        </p:spPr>
        <p:txBody>
          <a:bodyPr vert="horz" lIns="94046" tIns="47023" rIns="94046" bIns="4702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731040"/>
            <a:ext cx="4061460" cy="354330"/>
          </a:xfrm>
          <a:prstGeom prst="rect">
            <a:avLst/>
          </a:prstGeom>
        </p:spPr>
        <p:txBody>
          <a:bodyPr vert="horz" lIns="94046" tIns="47023" rIns="94046" bIns="47023"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5308971" y="6731040"/>
            <a:ext cx="4061460" cy="354330"/>
          </a:xfrm>
          <a:prstGeom prst="rect">
            <a:avLst/>
          </a:prstGeom>
        </p:spPr>
        <p:txBody>
          <a:bodyPr vert="horz" lIns="94046" tIns="47023" rIns="94046" bIns="47023"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F40940C-6389-4005-B356-28402A411BBE}" type="slidenum">
              <a:rPr lang="en-US" altLang="en-US" smtClean="0"/>
              <a:pPr>
                <a:spcBef>
                  <a:spcPct val="0"/>
                </a:spcBef>
              </a:pPr>
              <a:t>1</a:t>
            </a:fld>
            <a:endParaRPr lang="en-US" altLang="en-US" dirty="0"/>
          </a:p>
        </p:txBody>
      </p:sp>
      <p:sp>
        <p:nvSpPr>
          <p:cNvPr id="10243" name="Rectangle 2"/>
          <p:cNvSpPr>
            <a:spLocks noGrp="1" noRot="1" noChangeAspect="1" noChangeArrowheads="1" noTextEdit="1"/>
          </p:cNvSpPr>
          <p:nvPr>
            <p:ph type="sldImg"/>
          </p:nvPr>
        </p:nvSpPr>
        <p:spPr>
          <a:ln/>
        </p:spPr>
      </p:sp>
      <p:sp>
        <p:nvSpPr>
          <p:cNvPr id="102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Principles of Information Systems, Thirteenth Edition</a:t>
            </a:r>
            <a:r>
              <a:rPr lang="en-US" altLang="en-US" sz="1100" dirty="0"/>
              <a:t/>
            </a:r>
            <a:br>
              <a:rPr lang="en-US" altLang="en-US" sz="1100" dirty="0"/>
            </a:br>
            <a:endParaRPr lang="en-US" altLang="en-US" sz="1100" dirty="0"/>
          </a:p>
          <a:p>
            <a:pPr eaLnBrk="1" hangingPunct="1"/>
            <a:r>
              <a:rPr lang="en-US" altLang="en-US" i="1" dirty="0"/>
              <a:t>Chapter 1</a:t>
            </a:r>
          </a:p>
          <a:p>
            <a:pPr eaLnBrk="1" hangingPunct="1">
              <a:lnSpc>
                <a:spcPct val="90000"/>
              </a:lnSpc>
            </a:pPr>
            <a:r>
              <a:rPr lang="en-US" altLang="en-US" i="1" dirty="0"/>
              <a:t>An Introduction to Information Systems</a:t>
            </a:r>
          </a:p>
          <a:p>
            <a:pPr eaLnBrk="1" hangingPunct="1"/>
            <a:endParaRPr lang="es-EC" altLang="en-US" dirty="0"/>
          </a:p>
        </p:txBody>
      </p:sp>
    </p:spTree>
    <p:extLst>
      <p:ext uri="{BB962C8B-B14F-4D97-AF65-F5344CB8AC3E}">
        <p14:creationId xmlns:p14="http://schemas.microsoft.com/office/powerpoint/2010/main" val="1662822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a:ln/>
        </p:spPr>
      </p:sp>
      <p:sp>
        <p:nvSpPr>
          <p:cNvPr id="122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Objectives</a:t>
            </a:r>
          </a:p>
          <a:p>
            <a:endParaRPr lang="en-US" altLang="en-US" dirty="0"/>
          </a:p>
          <a:p>
            <a:r>
              <a:rPr lang="en-US" altLang="en-US" dirty="0"/>
              <a:t>After completing this chapter, you will be able to:</a:t>
            </a:r>
          </a:p>
          <a:p>
            <a:pPr>
              <a:defRPr/>
            </a:pPr>
            <a:r>
              <a:rPr lang="en-US" dirty="0" smtClean="0"/>
              <a:t>Distinguish data from information and knowledge, and describe the characteristics of quality data</a:t>
            </a:r>
          </a:p>
          <a:p>
            <a:pPr>
              <a:defRPr/>
            </a:pPr>
            <a:r>
              <a:rPr lang="en-US" dirty="0" smtClean="0"/>
              <a:t>Identify the fundamental components of an information system and describe their function</a:t>
            </a:r>
          </a:p>
          <a:p>
            <a:pPr>
              <a:defRPr/>
            </a:pPr>
            <a:r>
              <a:rPr lang="en-US" dirty="0" smtClean="0"/>
              <a:t>Identify the three fundamental information system types and explain what organizational complements must be in place to ensure successful implementation and use of the system</a:t>
            </a:r>
          </a:p>
          <a:p>
            <a:pPr>
              <a:defRPr/>
            </a:pPr>
            <a:endParaRPr lang="en-US" dirty="0"/>
          </a:p>
        </p:txBody>
      </p:sp>
      <p:sp>
        <p:nvSpPr>
          <p:cNvPr id="122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6DE6E8B-63CF-497B-8C89-BC45BF36BDB4}" type="slidenum">
              <a:rPr lang="en-US" altLang="en-US" smtClean="0"/>
              <a:pPr>
                <a:spcBef>
                  <a:spcPct val="0"/>
                </a:spcBef>
              </a:pPr>
              <a:t>2</a:t>
            </a:fld>
            <a:endParaRPr lang="en-US" altLang="en-US" dirty="0"/>
          </a:p>
        </p:txBody>
      </p:sp>
    </p:spTree>
    <p:extLst>
      <p:ext uri="{BB962C8B-B14F-4D97-AF65-F5344CB8AC3E}">
        <p14:creationId xmlns:p14="http://schemas.microsoft.com/office/powerpoint/2010/main" val="4099676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a:ln/>
        </p:spPr>
      </p:sp>
      <p:sp>
        <p:nvSpPr>
          <p:cNvPr id="122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Objectives</a:t>
            </a:r>
          </a:p>
          <a:p>
            <a:endParaRPr lang="en-US" altLang="en-US" dirty="0"/>
          </a:p>
          <a:p>
            <a:pPr marL="0" indent="0">
              <a:buFontTx/>
              <a:buNone/>
              <a:defRPr/>
            </a:pPr>
            <a:r>
              <a:rPr lang="en-US" dirty="0" smtClean="0"/>
              <a:t>After completing this chapter, you will be able to (cont’d):</a:t>
            </a:r>
          </a:p>
          <a:p>
            <a:pPr>
              <a:defRPr/>
            </a:pPr>
            <a:r>
              <a:rPr lang="en-US" dirty="0" smtClean="0"/>
              <a:t>Identify and briefly describe the role of each component of an organization’s technology infrastructure</a:t>
            </a:r>
          </a:p>
          <a:p>
            <a:pPr>
              <a:defRPr/>
            </a:pPr>
            <a:r>
              <a:rPr lang="en-US" dirty="0" smtClean="0"/>
              <a:t>Identify the basic types of business information systems, including who uses them, how they are used, and what kinds of benefits they deliver</a:t>
            </a:r>
          </a:p>
          <a:p>
            <a:pPr>
              <a:defRPr/>
            </a:pPr>
            <a:r>
              <a:rPr lang="en-US" dirty="0" smtClean="0"/>
              <a:t>Describe how organizations are using business intelligence and business analytics to capitalize on the vast amount of data becoming available</a:t>
            </a:r>
            <a:endParaRPr lang="en-US" dirty="0"/>
          </a:p>
        </p:txBody>
      </p:sp>
      <p:sp>
        <p:nvSpPr>
          <p:cNvPr id="122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6DE6E8B-63CF-497B-8C89-BC45BF36BDB4}" type="slidenum">
              <a:rPr lang="en-US" altLang="en-US" smtClean="0"/>
              <a:pPr>
                <a:spcBef>
                  <a:spcPct val="0"/>
                </a:spcBef>
              </a:pPr>
              <a:t>3</a:t>
            </a:fld>
            <a:endParaRPr lang="en-US" altLang="en-US" dirty="0"/>
          </a:p>
        </p:txBody>
      </p:sp>
    </p:spTree>
    <p:extLst>
      <p:ext uri="{BB962C8B-B14F-4D97-AF65-F5344CB8AC3E}">
        <p14:creationId xmlns:p14="http://schemas.microsoft.com/office/powerpoint/2010/main" val="14783097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a:ln/>
        </p:spPr>
      </p:sp>
      <p:sp>
        <p:nvSpPr>
          <p:cNvPr id="122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Objectives</a:t>
            </a:r>
          </a:p>
          <a:p>
            <a:endParaRPr lang="en-US" altLang="en-US" dirty="0"/>
          </a:p>
          <a:p>
            <a:pPr marL="0" indent="0">
              <a:buFontTx/>
              <a:buNone/>
              <a:defRPr/>
            </a:pPr>
            <a:r>
              <a:rPr lang="en-US" dirty="0" smtClean="0"/>
              <a:t>After completing this chapter, you will be able to (cont’d):</a:t>
            </a:r>
          </a:p>
          <a:p>
            <a:pPr>
              <a:defRPr/>
            </a:pPr>
            <a:r>
              <a:rPr lang="en-US" dirty="0" smtClean="0"/>
              <a:t>Discuss why it is critical for business objectives and IS activities to be well aligned through system planning, development, and acquisition</a:t>
            </a:r>
          </a:p>
          <a:p>
            <a:pPr>
              <a:defRPr/>
            </a:pPr>
            <a:r>
              <a:rPr lang="en-US" dirty="0" smtClean="0"/>
              <a:t>Identify several major IT security threats as well as some of the legal, social, and ethical issues associated with information systems</a:t>
            </a:r>
            <a:endParaRPr lang="en-US" dirty="0"/>
          </a:p>
        </p:txBody>
      </p:sp>
      <p:sp>
        <p:nvSpPr>
          <p:cNvPr id="122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6DE6E8B-63CF-497B-8C89-BC45BF36BDB4}" type="slidenum">
              <a:rPr lang="en-US" altLang="en-US" smtClean="0"/>
              <a:pPr>
                <a:spcBef>
                  <a:spcPct val="0"/>
                </a:spcBef>
              </a:pPr>
              <a:t>4</a:t>
            </a:fld>
            <a:endParaRPr lang="en-US" altLang="en-US" dirty="0"/>
          </a:p>
        </p:txBody>
      </p:sp>
    </p:spTree>
    <p:extLst>
      <p:ext uri="{BB962C8B-B14F-4D97-AF65-F5344CB8AC3E}">
        <p14:creationId xmlns:p14="http://schemas.microsoft.com/office/powerpoint/2010/main" val="12707840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An Introduction to Information Systems</a:t>
            </a:r>
          </a:p>
          <a:p>
            <a:endParaRPr lang="en-US" altLang="en-US" dirty="0"/>
          </a:p>
          <a:p>
            <a:r>
              <a:rPr lang="en-US" altLang="en-US" dirty="0"/>
              <a:t>Information </a:t>
            </a:r>
          </a:p>
          <a:p>
            <a:pPr lvl="1"/>
            <a:r>
              <a:rPr lang="en-US" altLang="en-US" dirty="0"/>
              <a:t>One of an organization’s most valuable resources </a:t>
            </a:r>
          </a:p>
          <a:p>
            <a:pPr lvl="1"/>
            <a:r>
              <a:rPr lang="en-US" altLang="en-US" dirty="0"/>
              <a:t>Often confused with the term data</a:t>
            </a:r>
          </a:p>
          <a:p>
            <a:endParaRPr lang="en-US" altLang="en-US" dirty="0"/>
          </a:p>
          <a:p>
            <a:endParaRPr lang="en-US" altLang="en-US" dirty="0"/>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FFFFFF"/>
                </a:solidFill>
                <a:latin typeface="Times New Roman" panose="02020603050405020304" pitchFamily="18" charset="0"/>
                <a:cs typeface="Arial" panose="020B0604020202020204" pitchFamily="34" charset="0"/>
              </a:defRPr>
            </a:lvl1pPr>
            <a:lvl2pPr marL="742950" indent="-285750">
              <a:defRPr sz="2000">
                <a:solidFill>
                  <a:srgbClr val="FFFFFF"/>
                </a:solidFill>
                <a:latin typeface="Times New Roman" panose="02020603050405020304" pitchFamily="18" charset="0"/>
                <a:cs typeface="Arial" panose="020B0604020202020204" pitchFamily="34" charset="0"/>
              </a:defRPr>
            </a:lvl2pPr>
            <a:lvl3pPr marL="1143000" indent="-228600">
              <a:defRPr sz="2000">
                <a:solidFill>
                  <a:srgbClr val="FFFFFF"/>
                </a:solidFill>
                <a:latin typeface="Times New Roman" panose="02020603050405020304" pitchFamily="18" charset="0"/>
                <a:cs typeface="Arial" panose="020B0604020202020204" pitchFamily="34" charset="0"/>
              </a:defRPr>
            </a:lvl3pPr>
            <a:lvl4pPr marL="1600200" indent="-228600">
              <a:defRPr sz="2000">
                <a:solidFill>
                  <a:srgbClr val="FFFFFF"/>
                </a:solidFill>
                <a:latin typeface="Times New Roman" panose="02020603050405020304" pitchFamily="18" charset="0"/>
                <a:cs typeface="Arial" panose="020B0604020202020204" pitchFamily="34" charset="0"/>
              </a:defRPr>
            </a:lvl4pPr>
            <a:lvl5pPr marL="2057400" indent="-228600">
              <a:defRPr sz="2000">
                <a:solidFill>
                  <a:srgbClr val="FFFFFF"/>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cs typeface="Arial" panose="020B0604020202020204" pitchFamily="34" charset="0"/>
              </a:defRPr>
            </a:lvl9pPr>
          </a:lstStyle>
          <a:p>
            <a:fld id="{D797DE33-E142-485F-ACED-2A0FBC2FA623}" type="slidenum">
              <a:rPr lang="en-US" altLang="en-US" sz="1200" smtClean="0">
                <a:solidFill>
                  <a:schemeClr val="tx1"/>
                </a:solidFill>
              </a:rPr>
              <a:pPr/>
              <a:t>5</a:t>
            </a:fld>
            <a:endParaRPr lang="en-US" altLang="en-US" sz="1200" dirty="0">
              <a:solidFill>
                <a:schemeClr val="tx1"/>
              </a:solidFill>
            </a:endParaRPr>
          </a:p>
        </p:txBody>
      </p:sp>
    </p:spTree>
    <p:extLst>
      <p:ext uri="{BB962C8B-B14F-4D97-AF65-F5344CB8AC3E}">
        <p14:creationId xmlns:p14="http://schemas.microsoft.com/office/powerpoint/2010/main" val="33976288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Data, Information, and Knowledge</a:t>
            </a:r>
          </a:p>
          <a:p>
            <a:endParaRPr lang="en-US" dirty="0" smtClean="0"/>
          </a:p>
          <a:p>
            <a:r>
              <a:rPr lang="en-US" altLang="en-US" dirty="0" smtClean="0"/>
              <a:t>Data: raw facts</a:t>
            </a:r>
          </a:p>
          <a:p>
            <a:r>
              <a:rPr lang="en-US" altLang="en-US" dirty="0" smtClean="0"/>
              <a:t>Information: collection of data organized in such a way that they have value beyond the facts themselves</a:t>
            </a:r>
          </a:p>
          <a:p>
            <a:r>
              <a:rPr lang="en-US" altLang="en-US" dirty="0" smtClean="0"/>
              <a:t>Process: set of logically related tasks  performed to achieve a defined outcome</a:t>
            </a:r>
          </a:p>
          <a:p>
            <a:pPr lvl="1"/>
            <a:r>
              <a:rPr lang="en-US" altLang="en-US" dirty="0" smtClean="0"/>
              <a:t>Turning data into information is a process</a:t>
            </a:r>
          </a:p>
          <a:p>
            <a:r>
              <a:rPr lang="en-US" altLang="en-US" dirty="0" smtClean="0"/>
              <a:t>Knowledge: awareness and understanding of a set of information and the ways it can be made useful to support a task</a:t>
            </a:r>
          </a:p>
          <a:p>
            <a:pPr lvl="1"/>
            <a:r>
              <a:rPr lang="en-US" altLang="en-US" dirty="0" smtClean="0"/>
              <a:t>The process of defining relationships among data to create useful information requires knowledge</a:t>
            </a:r>
          </a:p>
          <a:p>
            <a:pPr lvl="1"/>
            <a:endParaRPr lang="en-US" altLang="en-US" dirty="0" smtClean="0"/>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6</a:t>
            </a:fld>
            <a:endParaRPr lang="en-US" dirty="0"/>
          </a:p>
        </p:txBody>
      </p:sp>
    </p:spTree>
    <p:extLst>
      <p:ext uri="{BB962C8B-B14F-4D97-AF65-F5344CB8AC3E}">
        <p14:creationId xmlns:p14="http://schemas.microsoft.com/office/powerpoint/2010/main" val="24793595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ln/>
        </p:spPr>
      </p:sp>
      <p:sp>
        <p:nvSpPr>
          <p:cNvPr id="184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t>Data, Information,</a:t>
            </a:r>
            <a:r>
              <a:rPr lang="en-US" altLang="en-US" baseline="0" dirty="0" smtClean="0"/>
              <a:t> </a:t>
            </a:r>
            <a:r>
              <a:rPr lang="en-US" altLang="en-US" dirty="0" smtClean="0"/>
              <a:t>and </a:t>
            </a:r>
            <a:r>
              <a:rPr lang="en-US" altLang="en-US" dirty="0"/>
              <a:t>Knowledge</a:t>
            </a:r>
          </a:p>
        </p:txBody>
      </p:sp>
      <p:sp>
        <p:nvSpPr>
          <p:cNvPr id="184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FFFFFF"/>
                </a:solidFill>
                <a:latin typeface="Times New Roman" panose="02020603050405020304" pitchFamily="18" charset="0"/>
                <a:cs typeface="Arial" panose="020B0604020202020204" pitchFamily="34" charset="0"/>
              </a:defRPr>
            </a:lvl1pPr>
            <a:lvl2pPr marL="742950" indent="-285750">
              <a:defRPr sz="2000">
                <a:solidFill>
                  <a:srgbClr val="FFFFFF"/>
                </a:solidFill>
                <a:latin typeface="Times New Roman" panose="02020603050405020304" pitchFamily="18" charset="0"/>
                <a:cs typeface="Arial" panose="020B0604020202020204" pitchFamily="34" charset="0"/>
              </a:defRPr>
            </a:lvl2pPr>
            <a:lvl3pPr marL="1143000" indent="-228600">
              <a:defRPr sz="2000">
                <a:solidFill>
                  <a:srgbClr val="FFFFFF"/>
                </a:solidFill>
                <a:latin typeface="Times New Roman" panose="02020603050405020304" pitchFamily="18" charset="0"/>
                <a:cs typeface="Arial" panose="020B0604020202020204" pitchFamily="34" charset="0"/>
              </a:defRPr>
            </a:lvl3pPr>
            <a:lvl4pPr marL="1600200" indent="-228600">
              <a:defRPr sz="2000">
                <a:solidFill>
                  <a:srgbClr val="FFFFFF"/>
                </a:solidFill>
                <a:latin typeface="Times New Roman" panose="02020603050405020304" pitchFamily="18" charset="0"/>
                <a:cs typeface="Arial" panose="020B0604020202020204" pitchFamily="34" charset="0"/>
              </a:defRPr>
            </a:lvl4pPr>
            <a:lvl5pPr marL="2057400" indent="-228600">
              <a:defRPr sz="2000">
                <a:solidFill>
                  <a:srgbClr val="FFFFFF"/>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cs typeface="Arial" panose="020B0604020202020204" pitchFamily="34" charset="0"/>
              </a:defRPr>
            </a:lvl9pPr>
          </a:lstStyle>
          <a:p>
            <a:fld id="{F3AA679C-FF78-4078-9FBA-14762F1374CC}" type="slidenum">
              <a:rPr lang="en-US" altLang="en-US" sz="1200" smtClean="0">
                <a:solidFill>
                  <a:schemeClr val="tx1"/>
                </a:solidFill>
              </a:rPr>
              <a:pPr/>
              <a:t>7</a:t>
            </a:fld>
            <a:endParaRPr lang="en-US" altLang="en-US" sz="1200" dirty="0">
              <a:solidFill>
                <a:schemeClr val="tx1"/>
              </a:solidFill>
            </a:endParaRPr>
          </a:p>
        </p:txBody>
      </p:sp>
    </p:spTree>
    <p:extLst>
      <p:ext uri="{BB962C8B-B14F-4D97-AF65-F5344CB8AC3E}">
        <p14:creationId xmlns:p14="http://schemas.microsoft.com/office/powerpoint/2010/main" val="6179730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ln/>
        </p:spPr>
      </p:sp>
      <p:sp>
        <p:nvSpPr>
          <p:cNvPr id="204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t>Data, Information, and Knowledge</a:t>
            </a:r>
            <a:endParaRPr lang="en-US" altLang="en-US" dirty="0"/>
          </a:p>
        </p:txBody>
      </p:sp>
      <p:sp>
        <p:nvSpPr>
          <p:cNvPr id="204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FFFFFF"/>
                </a:solidFill>
                <a:latin typeface="Times New Roman" panose="02020603050405020304" pitchFamily="18" charset="0"/>
                <a:cs typeface="Arial" panose="020B0604020202020204" pitchFamily="34" charset="0"/>
              </a:defRPr>
            </a:lvl1pPr>
            <a:lvl2pPr marL="742950" indent="-285750">
              <a:defRPr sz="2000">
                <a:solidFill>
                  <a:srgbClr val="FFFFFF"/>
                </a:solidFill>
                <a:latin typeface="Times New Roman" panose="02020603050405020304" pitchFamily="18" charset="0"/>
                <a:cs typeface="Arial" panose="020B0604020202020204" pitchFamily="34" charset="0"/>
              </a:defRPr>
            </a:lvl2pPr>
            <a:lvl3pPr marL="1143000" indent="-228600">
              <a:defRPr sz="2000">
                <a:solidFill>
                  <a:srgbClr val="FFFFFF"/>
                </a:solidFill>
                <a:latin typeface="Times New Roman" panose="02020603050405020304" pitchFamily="18" charset="0"/>
                <a:cs typeface="Arial" panose="020B0604020202020204" pitchFamily="34" charset="0"/>
              </a:defRPr>
            </a:lvl3pPr>
            <a:lvl4pPr marL="1600200" indent="-228600">
              <a:defRPr sz="2000">
                <a:solidFill>
                  <a:srgbClr val="FFFFFF"/>
                </a:solidFill>
                <a:latin typeface="Times New Roman" panose="02020603050405020304" pitchFamily="18" charset="0"/>
                <a:cs typeface="Arial" panose="020B0604020202020204" pitchFamily="34" charset="0"/>
              </a:defRPr>
            </a:lvl4pPr>
            <a:lvl5pPr marL="2057400" indent="-228600">
              <a:defRPr sz="2000">
                <a:solidFill>
                  <a:srgbClr val="FFFFFF"/>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cs typeface="Arial" panose="020B0604020202020204" pitchFamily="34" charset="0"/>
              </a:defRPr>
            </a:lvl9pPr>
          </a:lstStyle>
          <a:p>
            <a:fld id="{7D9A8EB1-3BF5-4C60-910D-E521A61FA665}" type="slidenum">
              <a:rPr lang="en-US" altLang="en-US" sz="1200" smtClean="0">
                <a:solidFill>
                  <a:schemeClr val="tx1"/>
                </a:solidFill>
              </a:rPr>
              <a:pPr/>
              <a:t>8</a:t>
            </a:fld>
            <a:endParaRPr lang="en-US" altLang="en-US" sz="1200" dirty="0">
              <a:solidFill>
                <a:schemeClr val="tx1"/>
              </a:solidFill>
            </a:endParaRPr>
          </a:p>
        </p:txBody>
      </p:sp>
    </p:spTree>
    <p:extLst>
      <p:ext uri="{BB962C8B-B14F-4D97-AF65-F5344CB8AC3E}">
        <p14:creationId xmlns:p14="http://schemas.microsoft.com/office/powerpoint/2010/main" val="2480613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The Value of Information</a:t>
            </a:r>
          </a:p>
          <a:p>
            <a:endParaRPr lang="en-US" dirty="0" smtClean="0"/>
          </a:p>
          <a:p>
            <a:r>
              <a:rPr lang="en-US" altLang="en-US" dirty="0" smtClean="0"/>
              <a:t>Valuable information helps people perform tasks more efficiently and effectively</a:t>
            </a:r>
          </a:p>
          <a:p>
            <a:pPr lvl="1"/>
            <a:r>
              <a:rPr lang="en-US" altLang="en-US" dirty="0" smtClean="0"/>
              <a:t>Inaccurate data can result in loss of potential new customers and reduced customer satisfaction</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9</a:t>
            </a:fld>
            <a:endParaRPr lang="en-US" dirty="0"/>
          </a:p>
        </p:txBody>
      </p:sp>
    </p:spTree>
    <p:extLst>
      <p:ext uri="{BB962C8B-B14F-4D97-AF65-F5344CB8AC3E}">
        <p14:creationId xmlns:p14="http://schemas.microsoft.com/office/powerpoint/2010/main" val="36356636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Characteristics of Quality Information</a:t>
            </a:r>
          </a:p>
          <a:p>
            <a:endParaRPr lang="en-US" dirty="0" smtClean="0"/>
          </a:p>
          <a:p>
            <a:r>
              <a:rPr lang="en-US" altLang="en-US" dirty="0" smtClean="0"/>
              <a:t>If an organization’s information is not accurate or complete:</a:t>
            </a:r>
          </a:p>
          <a:p>
            <a:pPr lvl="1"/>
            <a:r>
              <a:rPr lang="en-US" altLang="en-US" dirty="0" smtClean="0"/>
              <a:t>People can make poor decisions, costing thousands, or even millions, of dollars</a:t>
            </a:r>
          </a:p>
          <a:p>
            <a:r>
              <a:rPr lang="en-US" altLang="en-US" dirty="0" smtClean="0"/>
              <a:t>Depending on the type of data you need:</a:t>
            </a:r>
          </a:p>
          <a:p>
            <a:pPr lvl="1"/>
            <a:r>
              <a:rPr lang="en-US" altLang="en-US" dirty="0" smtClean="0"/>
              <a:t>Some characteristics become more important than others</a:t>
            </a:r>
          </a:p>
          <a:p>
            <a:r>
              <a:rPr lang="en-US" altLang="en-US" dirty="0" smtClean="0"/>
              <a:t>Accuracy and completeness are critical for data used in accounting for the management of company assets</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10</a:t>
            </a:fld>
            <a:endParaRPr lang="en-US" dirty="0"/>
          </a:p>
        </p:txBody>
      </p:sp>
    </p:spTree>
    <p:extLst>
      <p:ext uri="{BB962C8B-B14F-4D97-AF65-F5344CB8AC3E}">
        <p14:creationId xmlns:p14="http://schemas.microsoft.com/office/powerpoint/2010/main" val="1389032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altLang="en-US" dirty="0" smtClean="0"/>
              <a:t>What is an Information System?</a:t>
            </a:r>
          </a:p>
          <a:p>
            <a:endParaRPr lang="en-US" dirty="0" smtClean="0"/>
          </a:p>
          <a:p>
            <a:r>
              <a:rPr lang="en-US" altLang="en-US" dirty="0" smtClean="0"/>
              <a:t>An information system (IS) is a set of interrelated elements that: </a:t>
            </a:r>
          </a:p>
          <a:p>
            <a:pPr lvl="1"/>
            <a:r>
              <a:rPr lang="en-US" altLang="en-US" dirty="0" smtClean="0"/>
              <a:t>Collect (input)</a:t>
            </a:r>
          </a:p>
          <a:p>
            <a:pPr lvl="1"/>
            <a:r>
              <a:rPr lang="en-US" altLang="en-US" dirty="0" smtClean="0"/>
              <a:t>Process</a:t>
            </a:r>
          </a:p>
          <a:p>
            <a:pPr lvl="1"/>
            <a:r>
              <a:rPr lang="en-US" altLang="en-US" dirty="0" smtClean="0"/>
              <a:t>Store</a:t>
            </a:r>
          </a:p>
          <a:p>
            <a:pPr lvl="1"/>
            <a:r>
              <a:rPr lang="en-US" altLang="en-US" dirty="0" smtClean="0"/>
              <a:t>Disseminate data and information</a:t>
            </a:r>
          </a:p>
          <a:p>
            <a:pPr lvl="1"/>
            <a:r>
              <a:rPr lang="en-US" altLang="en-US" dirty="0" smtClean="0"/>
              <a:t>Provides a feedback mechanism to monitor and control its operation to make sure it continues to meet its goals and objectives</a:t>
            </a:r>
          </a:p>
          <a:p>
            <a:r>
              <a:rPr lang="en-US" altLang="en-US" dirty="0" smtClean="0"/>
              <a:t>A computer-based information system (CBIS) is a single set of hardware, software, databases, networks, people, and procedures</a:t>
            </a:r>
          </a:p>
          <a:p>
            <a:pPr lvl="1"/>
            <a:r>
              <a:rPr lang="en-US" altLang="en-US" dirty="0" smtClean="0"/>
              <a:t>That are configured to collect, manipulate, store, and process data into information</a:t>
            </a:r>
          </a:p>
          <a:p>
            <a:r>
              <a:rPr lang="en-US" altLang="en-US" dirty="0" smtClean="0"/>
              <a:t>An organization’s technology infrastructure includes all the hardware, software, databases, networks, people, and procedures </a:t>
            </a:r>
          </a:p>
          <a:p>
            <a:pPr lvl="1"/>
            <a:r>
              <a:rPr lang="en-US" altLang="en-US" dirty="0" smtClean="0"/>
              <a:t>That are configured to collect, manipulate, store, and process data into information</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11</a:t>
            </a:fld>
            <a:endParaRPr lang="en-US" dirty="0"/>
          </a:p>
        </p:txBody>
      </p:sp>
    </p:spTree>
    <p:extLst>
      <p:ext uri="{BB962C8B-B14F-4D97-AF65-F5344CB8AC3E}">
        <p14:creationId xmlns:p14="http://schemas.microsoft.com/office/powerpoint/2010/main" val="17118191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What is an Information System?</a:t>
            </a:r>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12</a:t>
            </a:fld>
            <a:endParaRPr lang="en-US" dirty="0"/>
          </a:p>
        </p:txBody>
      </p:sp>
    </p:spTree>
    <p:extLst>
      <p:ext uri="{BB962C8B-B14F-4D97-AF65-F5344CB8AC3E}">
        <p14:creationId xmlns:p14="http://schemas.microsoft.com/office/powerpoint/2010/main" val="17332017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What is an Information System?</a:t>
            </a:r>
          </a:p>
          <a:p>
            <a:endParaRPr lang="en-US" dirty="0" smtClean="0"/>
          </a:p>
          <a:p>
            <a:r>
              <a:rPr lang="en-US" altLang="en-US" dirty="0" smtClean="0"/>
              <a:t>Procedure defines the steps to follow to achieve a specific end result</a:t>
            </a:r>
          </a:p>
          <a:p>
            <a:pPr lvl="1"/>
            <a:r>
              <a:rPr lang="en-US" altLang="en-US" dirty="0" smtClean="0"/>
              <a:t>Such as enter a customer order, pay a supplier invoice, or request a current inventory report</a:t>
            </a:r>
          </a:p>
          <a:p>
            <a:r>
              <a:rPr lang="en-US" altLang="en-US" dirty="0" smtClean="0"/>
              <a:t>Using a CBIS involves setting and following many procedures, including those for the</a:t>
            </a:r>
          </a:p>
          <a:p>
            <a:pPr lvl="1"/>
            <a:r>
              <a:rPr lang="en-US" altLang="en-US" dirty="0" smtClean="0"/>
              <a:t>Operation, maintenance, and security of the system</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13</a:t>
            </a:fld>
            <a:endParaRPr lang="en-US" dirty="0"/>
          </a:p>
        </p:txBody>
      </p:sp>
    </p:spTree>
    <p:extLst>
      <p:ext uri="{BB962C8B-B14F-4D97-AF65-F5344CB8AC3E}">
        <p14:creationId xmlns:p14="http://schemas.microsoft.com/office/powerpoint/2010/main" val="14182279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Information Systems in Organizations</a:t>
            </a:r>
          </a:p>
          <a:p>
            <a:endParaRPr lang="en-US" dirty="0" smtClean="0"/>
          </a:p>
          <a:p>
            <a:r>
              <a:rPr lang="en-US" altLang="en-US" dirty="0" smtClean="0"/>
              <a:t>Information systems can be divided into three types:</a:t>
            </a:r>
          </a:p>
          <a:p>
            <a:pPr lvl="1"/>
            <a:r>
              <a:rPr lang="en-US" altLang="en-US" dirty="0" smtClean="0"/>
              <a:t>Personal IS – includes information systems that improve the productivity of individual users</a:t>
            </a:r>
          </a:p>
          <a:p>
            <a:pPr lvl="1"/>
            <a:r>
              <a:rPr lang="en-US" altLang="en-US" dirty="0" smtClean="0"/>
              <a:t>Group IS –includes information systems that improve communications and support collaboration among members of a workgroup</a:t>
            </a:r>
          </a:p>
          <a:p>
            <a:pPr lvl="1"/>
            <a:r>
              <a:rPr lang="en-US" altLang="en-US" dirty="0" smtClean="0"/>
              <a:t>Enterprise IS – includes information systems that organizations use to define structured interactions among their own employees and/or external  customers, suppliers, government agencies, etc…</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14</a:t>
            </a:fld>
            <a:endParaRPr lang="en-US" dirty="0"/>
          </a:p>
        </p:txBody>
      </p:sp>
    </p:spTree>
    <p:extLst>
      <p:ext uri="{BB962C8B-B14F-4D97-AF65-F5344CB8AC3E}">
        <p14:creationId xmlns:p14="http://schemas.microsoft.com/office/powerpoint/2010/main" val="35594750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Information Systems in Organizations</a:t>
            </a:r>
          </a:p>
          <a:p>
            <a:endParaRPr lang="en-US" dirty="0" smtClean="0"/>
          </a:p>
          <a:p>
            <a:r>
              <a:rPr lang="en-US" altLang="en-US" dirty="0" smtClean="0"/>
              <a:t>For each type of IS, certain key organizational complements must be in place:</a:t>
            </a:r>
          </a:p>
          <a:p>
            <a:pPr lvl="1"/>
            <a:r>
              <a:rPr lang="en-US" altLang="en-US" dirty="0" smtClean="0"/>
              <a:t>Well-trained workers</a:t>
            </a:r>
          </a:p>
          <a:p>
            <a:pPr lvl="1"/>
            <a:r>
              <a:rPr lang="en-US" altLang="en-US" dirty="0" smtClean="0"/>
              <a:t>System support</a:t>
            </a:r>
          </a:p>
          <a:p>
            <a:pPr lvl="1"/>
            <a:r>
              <a:rPr lang="en-US" altLang="en-US" dirty="0" smtClean="0"/>
              <a:t>Better teamwork</a:t>
            </a:r>
          </a:p>
          <a:p>
            <a:pPr lvl="1"/>
            <a:r>
              <a:rPr lang="en-US" altLang="en-US" dirty="0" smtClean="0"/>
              <a:t>Redesigned processes</a:t>
            </a:r>
          </a:p>
          <a:p>
            <a:pPr lvl="1"/>
            <a:r>
              <a:rPr lang="en-US" altLang="en-US" dirty="0" smtClean="0"/>
              <a:t>New decision rights</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15</a:t>
            </a:fld>
            <a:endParaRPr lang="en-US" dirty="0"/>
          </a:p>
        </p:txBody>
      </p:sp>
    </p:spTree>
    <p:extLst>
      <p:ext uri="{BB962C8B-B14F-4D97-AF65-F5344CB8AC3E}">
        <p14:creationId xmlns:p14="http://schemas.microsoft.com/office/powerpoint/2010/main" val="16288608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Information Systems in Organizations</a:t>
            </a:r>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16</a:t>
            </a:fld>
            <a:endParaRPr lang="en-US" dirty="0"/>
          </a:p>
        </p:txBody>
      </p:sp>
    </p:spTree>
    <p:extLst>
      <p:ext uri="{BB962C8B-B14F-4D97-AF65-F5344CB8AC3E}">
        <p14:creationId xmlns:p14="http://schemas.microsoft.com/office/powerpoint/2010/main" val="26619598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Hardware and Mobile Devices</a:t>
            </a:r>
          </a:p>
          <a:p>
            <a:endParaRPr lang="en-US" dirty="0" smtClean="0"/>
          </a:p>
          <a:p>
            <a:r>
              <a:rPr lang="en-US" altLang="en-US" dirty="0" smtClean="0"/>
              <a:t>Hardware</a:t>
            </a:r>
          </a:p>
          <a:p>
            <a:pPr lvl="1"/>
            <a:r>
              <a:rPr lang="en-US" altLang="en-US" dirty="0" smtClean="0"/>
              <a:t>Consists of computer equipment used to perform input, processing, storage, and output activities</a:t>
            </a:r>
          </a:p>
          <a:p>
            <a:r>
              <a:rPr lang="en-US" altLang="en-US" dirty="0" smtClean="0"/>
              <a:t>A trend in the industry is to produce smaller, faster, and more mobile hardware</a:t>
            </a:r>
          </a:p>
          <a:p>
            <a:r>
              <a:rPr lang="en-US" altLang="en-US" dirty="0" smtClean="0"/>
              <a:t>Innovative new hardware devices include:</a:t>
            </a:r>
          </a:p>
          <a:p>
            <a:pPr lvl="1"/>
            <a:r>
              <a:rPr lang="en-US" altLang="en-US" dirty="0" smtClean="0"/>
              <a:t>Advanced keyboards</a:t>
            </a:r>
          </a:p>
          <a:p>
            <a:pPr lvl="1"/>
            <a:r>
              <a:rPr lang="en-US" altLang="en-US" dirty="0" smtClean="0"/>
              <a:t>Laptops and displays that connect wirelessly</a:t>
            </a:r>
          </a:p>
          <a:p>
            <a:pPr lvl="1"/>
            <a:r>
              <a:rPr lang="en-US" altLang="en-US" dirty="0" smtClean="0"/>
              <a:t>Embedded 3D cameras</a:t>
            </a:r>
          </a:p>
          <a:p>
            <a:pPr lvl="1"/>
            <a:r>
              <a:rPr lang="en-US" altLang="en-US" dirty="0" smtClean="0"/>
              <a:t>Very-high resolution display devices</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17</a:t>
            </a:fld>
            <a:endParaRPr lang="en-US" dirty="0"/>
          </a:p>
        </p:txBody>
      </p:sp>
    </p:spTree>
    <p:extLst>
      <p:ext uri="{BB962C8B-B14F-4D97-AF65-F5344CB8AC3E}">
        <p14:creationId xmlns:p14="http://schemas.microsoft.com/office/powerpoint/2010/main" val="26858266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Software and Mobile Applications</a:t>
            </a:r>
          </a:p>
          <a:p>
            <a:endParaRPr lang="en-US" dirty="0" smtClean="0"/>
          </a:p>
          <a:p>
            <a:r>
              <a:rPr lang="en-US" altLang="en-US" dirty="0" smtClean="0"/>
              <a:t>Software</a:t>
            </a:r>
          </a:p>
          <a:p>
            <a:pPr lvl="1"/>
            <a:r>
              <a:rPr lang="en-US" altLang="en-US" dirty="0" smtClean="0"/>
              <a:t>Consists of the computer programs that govern the operation of a particular computing device</a:t>
            </a:r>
          </a:p>
          <a:p>
            <a:r>
              <a:rPr lang="en-US" altLang="en-US" dirty="0" smtClean="0"/>
              <a:t>Two types of software:</a:t>
            </a:r>
          </a:p>
          <a:p>
            <a:pPr lvl="1"/>
            <a:r>
              <a:rPr lang="en-US" altLang="en-US" dirty="0" smtClean="0"/>
              <a:t>System software – oversee basic computer operations such as start-up, controls access to system resources, and manages memory and files</a:t>
            </a:r>
          </a:p>
          <a:p>
            <a:pPr lvl="1"/>
            <a:r>
              <a:rPr lang="en-US" altLang="en-US" dirty="0" smtClean="0"/>
              <a:t>Application software – allows you to accomplish specific tasks, including editing text documents, creating graphs, and playing games</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18</a:t>
            </a:fld>
            <a:endParaRPr lang="en-US" dirty="0"/>
          </a:p>
        </p:txBody>
      </p:sp>
    </p:spTree>
    <p:extLst>
      <p:ext uri="{BB962C8B-B14F-4D97-AF65-F5344CB8AC3E}">
        <p14:creationId xmlns:p14="http://schemas.microsoft.com/office/powerpoint/2010/main" val="21391638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Software and Mobile Applications</a:t>
            </a:r>
          </a:p>
          <a:p>
            <a:endParaRPr lang="en-US" dirty="0" smtClean="0"/>
          </a:p>
          <a:p>
            <a:r>
              <a:rPr lang="en-US" altLang="en-US" dirty="0" smtClean="0"/>
              <a:t>Business application software</a:t>
            </a:r>
          </a:p>
          <a:p>
            <a:pPr lvl="1"/>
            <a:r>
              <a:rPr lang="en-US" altLang="en-US" dirty="0" smtClean="0"/>
              <a:t>Can be categorized by whether it is intended to be used by an individual, a small business, or a large multinational enterprise</a:t>
            </a:r>
          </a:p>
          <a:p>
            <a:r>
              <a:rPr lang="en-US" altLang="en-US" dirty="0" smtClean="0"/>
              <a:t>Consumerization of IT</a:t>
            </a:r>
          </a:p>
          <a:p>
            <a:pPr lvl="1"/>
            <a:r>
              <a:rPr lang="en-US" altLang="en-US" dirty="0" smtClean="0"/>
              <a:t>The trend of consumer technology practices influencing the way business software is designed and delivered</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19</a:t>
            </a:fld>
            <a:endParaRPr lang="en-US" dirty="0"/>
          </a:p>
        </p:txBody>
      </p:sp>
    </p:spTree>
    <p:extLst>
      <p:ext uri="{BB962C8B-B14F-4D97-AF65-F5344CB8AC3E}">
        <p14:creationId xmlns:p14="http://schemas.microsoft.com/office/powerpoint/2010/main" val="13230935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Database Systems and Big Data</a:t>
            </a:r>
          </a:p>
          <a:p>
            <a:endParaRPr lang="en-US" dirty="0" smtClean="0"/>
          </a:p>
          <a:p>
            <a:r>
              <a:rPr lang="en-US" altLang="en-US" dirty="0" smtClean="0"/>
              <a:t>Database</a:t>
            </a:r>
          </a:p>
          <a:p>
            <a:pPr lvl="1"/>
            <a:r>
              <a:rPr lang="en-US" altLang="en-US" dirty="0" smtClean="0"/>
              <a:t>An organized collection of facts and information, typically consisting of two or more related data files</a:t>
            </a:r>
          </a:p>
          <a:p>
            <a:pPr lvl="1"/>
            <a:r>
              <a:rPr lang="en-US" altLang="en-US" dirty="0" smtClean="0"/>
              <a:t>Can contain facts and information on customers, employees, inventory, sales, online purchases, etc…</a:t>
            </a:r>
          </a:p>
          <a:p>
            <a:r>
              <a:rPr lang="en-US" altLang="en-US" dirty="0" smtClean="0"/>
              <a:t>Data warehouse</a:t>
            </a:r>
          </a:p>
          <a:p>
            <a:pPr lvl="1"/>
            <a:r>
              <a:rPr lang="en-US" altLang="en-US" dirty="0" smtClean="0"/>
              <a:t>A database that stores large amounts of historical data in a form that readily supports analysis and management decision making</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20</a:t>
            </a:fld>
            <a:endParaRPr lang="en-US" dirty="0"/>
          </a:p>
        </p:txBody>
      </p:sp>
    </p:spTree>
    <p:extLst>
      <p:ext uri="{BB962C8B-B14F-4D97-AF65-F5344CB8AC3E}">
        <p14:creationId xmlns:p14="http://schemas.microsoft.com/office/powerpoint/2010/main" val="16222860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Database Systems and Big Data</a:t>
            </a:r>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21</a:t>
            </a:fld>
            <a:endParaRPr lang="en-US" dirty="0"/>
          </a:p>
        </p:txBody>
      </p:sp>
    </p:spTree>
    <p:extLst>
      <p:ext uri="{BB962C8B-B14F-4D97-AF65-F5344CB8AC3E}">
        <p14:creationId xmlns:p14="http://schemas.microsoft.com/office/powerpoint/2010/main" val="15418223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Database Systems and Big Data</a:t>
            </a:r>
          </a:p>
          <a:p>
            <a:endParaRPr lang="en-US" dirty="0" smtClean="0"/>
          </a:p>
          <a:p>
            <a:r>
              <a:rPr lang="en-US" altLang="en-US" dirty="0" smtClean="0"/>
              <a:t>Extract-transform-lead (ETL) process</a:t>
            </a:r>
          </a:p>
          <a:p>
            <a:pPr lvl="1"/>
            <a:r>
              <a:rPr lang="en-US" altLang="en-US" dirty="0" smtClean="0"/>
              <a:t>Raw data is extracted from various sources, transformed into a format that will support analysis, and then loaded into the data warehouse</a:t>
            </a:r>
          </a:p>
          <a:p>
            <a:r>
              <a:rPr lang="en-US" altLang="en-US" dirty="0" smtClean="0"/>
              <a:t>Big data</a:t>
            </a:r>
          </a:p>
          <a:p>
            <a:pPr lvl="1"/>
            <a:r>
              <a:rPr lang="en-US" altLang="en-US" dirty="0" smtClean="0"/>
              <a:t>A term used to describe data collections that are so enormous that traditional data management software, hardware, and analysis processes are incapable of dealing with them</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22</a:t>
            </a:fld>
            <a:endParaRPr lang="en-US" dirty="0"/>
          </a:p>
        </p:txBody>
      </p:sp>
    </p:spTree>
    <p:extLst>
      <p:ext uri="{BB962C8B-B14F-4D97-AF65-F5344CB8AC3E}">
        <p14:creationId xmlns:p14="http://schemas.microsoft.com/office/powerpoint/2010/main" val="23057497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Database Systems and Big Data</a:t>
            </a:r>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23</a:t>
            </a:fld>
            <a:endParaRPr lang="en-US" dirty="0"/>
          </a:p>
        </p:txBody>
      </p:sp>
    </p:spTree>
    <p:extLst>
      <p:ext uri="{BB962C8B-B14F-4D97-AF65-F5344CB8AC3E}">
        <p14:creationId xmlns:p14="http://schemas.microsoft.com/office/powerpoint/2010/main" val="26244650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Networks and Cloud Computing</a:t>
            </a:r>
          </a:p>
          <a:p>
            <a:endParaRPr lang="en-US" dirty="0" smtClean="0"/>
          </a:p>
          <a:p>
            <a:r>
              <a:rPr lang="en-US" altLang="en-US" dirty="0" smtClean="0"/>
              <a:t>Networks</a:t>
            </a:r>
          </a:p>
          <a:p>
            <a:pPr lvl="1"/>
            <a:r>
              <a:rPr lang="en-US" altLang="en-US" dirty="0" smtClean="0"/>
              <a:t>Connect computers and equipment in a room, building, campus, city, or globally to enable electronic communication</a:t>
            </a:r>
          </a:p>
          <a:p>
            <a:r>
              <a:rPr lang="en-US" altLang="en-US" dirty="0" smtClean="0"/>
              <a:t>Internet</a:t>
            </a:r>
          </a:p>
          <a:p>
            <a:pPr lvl="1"/>
            <a:r>
              <a:rPr lang="en-US" altLang="en-US" dirty="0" smtClean="0"/>
              <a:t>World’s largest computer network</a:t>
            </a:r>
          </a:p>
          <a:p>
            <a:r>
              <a:rPr lang="en-US" altLang="en-US" dirty="0" smtClean="0"/>
              <a:t>Public cloud computing</a:t>
            </a:r>
          </a:p>
          <a:p>
            <a:pPr lvl="1"/>
            <a:r>
              <a:rPr lang="en-US" altLang="en-US" dirty="0" smtClean="0"/>
              <a:t>A service provider organization owns and manages the hardware, software, networking, and storage devices in order to provide shared resources to users via the Internet</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24</a:t>
            </a:fld>
            <a:endParaRPr lang="en-US" dirty="0"/>
          </a:p>
        </p:txBody>
      </p:sp>
    </p:spTree>
    <p:extLst>
      <p:ext uri="{BB962C8B-B14F-4D97-AF65-F5344CB8AC3E}">
        <p14:creationId xmlns:p14="http://schemas.microsoft.com/office/powerpoint/2010/main" val="7747951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Networks and Cloud Computing</a:t>
            </a:r>
          </a:p>
          <a:p>
            <a:endParaRPr lang="en-US" dirty="0" smtClean="0"/>
          </a:p>
          <a:p>
            <a:r>
              <a:rPr lang="en-US" altLang="en-US" dirty="0" smtClean="0"/>
              <a:t>Intranet</a:t>
            </a:r>
          </a:p>
          <a:p>
            <a:pPr lvl="1"/>
            <a:r>
              <a:rPr lang="en-US" altLang="en-US" dirty="0" smtClean="0"/>
              <a:t>Enable communication, collaboration, search functions, and information sharing between member of an organization using a Web browser</a:t>
            </a:r>
          </a:p>
          <a:p>
            <a:r>
              <a:rPr lang="en-US" altLang="en-US" dirty="0" smtClean="0"/>
              <a:t>Extranet</a:t>
            </a:r>
          </a:p>
          <a:p>
            <a:pPr lvl="1"/>
            <a:r>
              <a:rPr lang="en-US" altLang="en-US" dirty="0" smtClean="0"/>
              <a:t>A network based on Web technologies that allows selected outsiders to access authorized resources of a company’s intranet</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25</a:t>
            </a:fld>
            <a:endParaRPr lang="en-US" dirty="0"/>
          </a:p>
        </p:txBody>
      </p:sp>
    </p:spTree>
    <p:extLst>
      <p:ext uri="{BB962C8B-B14F-4D97-AF65-F5344CB8AC3E}">
        <p14:creationId xmlns:p14="http://schemas.microsoft.com/office/powerpoint/2010/main" val="42256476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Networks and Cloud Computing</a:t>
            </a:r>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26</a:t>
            </a:fld>
            <a:endParaRPr lang="en-US" dirty="0"/>
          </a:p>
        </p:txBody>
      </p:sp>
    </p:spTree>
    <p:extLst>
      <p:ext uri="{BB962C8B-B14F-4D97-AF65-F5344CB8AC3E}">
        <p14:creationId xmlns:p14="http://schemas.microsoft.com/office/powerpoint/2010/main" val="31862652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Networks and Cloud Computing</a:t>
            </a:r>
          </a:p>
          <a:p>
            <a:endParaRPr lang="en-US" dirty="0" smtClean="0"/>
          </a:p>
          <a:p>
            <a:r>
              <a:rPr lang="en-US" altLang="en-US" dirty="0" smtClean="0"/>
              <a:t>Internet of Things (IoT)</a:t>
            </a:r>
          </a:p>
          <a:p>
            <a:pPr lvl="1"/>
            <a:r>
              <a:rPr lang="en-US" altLang="en-US" dirty="0" smtClean="0"/>
              <a:t>A network of physical objects embedded with sensors, processors, software, and network connectivity capability to enable them to exchange data with the manufacturer of the device, device operators, and other connected devices</a:t>
            </a:r>
          </a:p>
          <a:p>
            <a:r>
              <a:rPr lang="en-US" altLang="en-US" dirty="0" smtClean="0"/>
              <a:t>Internet of Everything (IoE)</a:t>
            </a:r>
          </a:p>
          <a:p>
            <a:pPr lvl="1"/>
            <a:r>
              <a:rPr lang="en-US" altLang="en-US" dirty="0" smtClean="0"/>
              <a:t>Encompasses not only machine-to-machine but also people-to-people and people-to-machine connections</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27</a:t>
            </a:fld>
            <a:endParaRPr lang="en-US" dirty="0"/>
          </a:p>
        </p:txBody>
      </p:sp>
    </p:spTree>
    <p:extLst>
      <p:ext uri="{BB962C8B-B14F-4D97-AF65-F5344CB8AC3E}">
        <p14:creationId xmlns:p14="http://schemas.microsoft.com/office/powerpoint/2010/main" val="25233030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Networks and Cloud Computing</a:t>
            </a:r>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28</a:t>
            </a:fld>
            <a:endParaRPr lang="en-US" dirty="0"/>
          </a:p>
        </p:txBody>
      </p:sp>
    </p:spTree>
    <p:extLst>
      <p:ext uri="{BB962C8B-B14F-4D97-AF65-F5344CB8AC3E}">
        <p14:creationId xmlns:p14="http://schemas.microsoft.com/office/powerpoint/2010/main" val="16550156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Business Information Systems</a:t>
            </a:r>
          </a:p>
          <a:p>
            <a:endParaRPr lang="en-US" dirty="0" smtClean="0"/>
          </a:p>
          <a:p>
            <a:r>
              <a:rPr lang="en-US" altLang="en-US" dirty="0" smtClean="0"/>
              <a:t>Information systems are used in all functional areas of business organizations, such as:</a:t>
            </a:r>
          </a:p>
          <a:p>
            <a:pPr lvl="1"/>
            <a:r>
              <a:rPr lang="en-US" altLang="en-US" dirty="0" smtClean="0"/>
              <a:t>Accounting and finance</a:t>
            </a:r>
          </a:p>
          <a:p>
            <a:pPr lvl="1"/>
            <a:r>
              <a:rPr lang="en-US" altLang="en-US" dirty="0" smtClean="0"/>
              <a:t>Customer service</a:t>
            </a:r>
          </a:p>
          <a:p>
            <a:pPr lvl="1"/>
            <a:r>
              <a:rPr lang="en-US" altLang="en-US" dirty="0" smtClean="0"/>
              <a:t>Human resources</a:t>
            </a:r>
          </a:p>
          <a:p>
            <a:pPr lvl="1"/>
            <a:r>
              <a:rPr lang="en-US" altLang="en-US" dirty="0" smtClean="0"/>
              <a:t>Manufacturing</a:t>
            </a:r>
          </a:p>
          <a:p>
            <a:pPr lvl="1"/>
            <a:r>
              <a:rPr lang="en-US" altLang="en-US" dirty="0" smtClean="0"/>
              <a:t>Research and development</a:t>
            </a:r>
          </a:p>
          <a:p>
            <a:pPr lvl="1"/>
            <a:r>
              <a:rPr lang="en-US" altLang="en-US" dirty="0" smtClean="0"/>
              <a:t>Sales and marketing</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29</a:t>
            </a:fld>
            <a:endParaRPr lang="en-US" dirty="0"/>
          </a:p>
        </p:txBody>
      </p:sp>
    </p:spTree>
    <p:extLst>
      <p:ext uri="{BB962C8B-B14F-4D97-AF65-F5344CB8AC3E}">
        <p14:creationId xmlns:p14="http://schemas.microsoft.com/office/powerpoint/2010/main" val="9762271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Business Information Systems</a:t>
            </a:r>
          </a:p>
          <a:p>
            <a:endParaRPr lang="en-US" dirty="0" smtClean="0"/>
          </a:p>
          <a:p>
            <a:r>
              <a:rPr lang="en-US" altLang="en-US" dirty="0" smtClean="0"/>
              <a:t>Information systems are also used in nearly every industry, such as:</a:t>
            </a:r>
          </a:p>
          <a:p>
            <a:pPr lvl="1"/>
            <a:r>
              <a:rPr lang="en-US" altLang="en-US" dirty="0" smtClean="0"/>
              <a:t>Agriculture</a:t>
            </a:r>
          </a:p>
          <a:p>
            <a:pPr lvl="1"/>
            <a:r>
              <a:rPr lang="en-US" altLang="en-US" dirty="0" smtClean="0"/>
              <a:t>Finance</a:t>
            </a:r>
          </a:p>
          <a:p>
            <a:pPr lvl="1"/>
            <a:r>
              <a:rPr lang="en-US" altLang="en-US" dirty="0" smtClean="0"/>
              <a:t>Health care</a:t>
            </a:r>
          </a:p>
          <a:p>
            <a:pPr lvl="1"/>
            <a:r>
              <a:rPr lang="en-US" altLang="en-US" dirty="0" smtClean="0"/>
              <a:t>Mining</a:t>
            </a:r>
          </a:p>
          <a:p>
            <a:pPr lvl="1"/>
            <a:r>
              <a:rPr lang="en-US" altLang="en-US" dirty="0" smtClean="0"/>
              <a:t>Professional services</a:t>
            </a:r>
          </a:p>
          <a:p>
            <a:pPr lvl="1"/>
            <a:r>
              <a:rPr lang="en-US" altLang="en-US" dirty="0" smtClean="0"/>
              <a:t>Retail</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30</a:t>
            </a:fld>
            <a:endParaRPr lang="en-US" dirty="0"/>
          </a:p>
        </p:txBody>
      </p:sp>
    </p:spTree>
    <p:extLst>
      <p:ext uri="{BB962C8B-B14F-4D97-AF65-F5344CB8AC3E}">
        <p14:creationId xmlns:p14="http://schemas.microsoft.com/office/powerpoint/2010/main" val="27911150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t>Electronic and Mobile Commerce</a:t>
            </a:r>
          </a:p>
          <a:p>
            <a:endParaRPr lang="en-US" alt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dirty="0" smtClean="0"/>
              <a:t>E-commerce involves the exchange of money for goods and services over electronic networks</a:t>
            </a:r>
          </a:p>
          <a:p>
            <a:endParaRPr lang="en-US" altLang="en-US" dirty="0"/>
          </a:p>
        </p:txBody>
      </p:sp>
      <p:sp>
        <p:nvSpPr>
          <p:cNvPr id="460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FFFFFF"/>
                </a:solidFill>
                <a:latin typeface="Times New Roman" panose="02020603050405020304" pitchFamily="18" charset="0"/>
                <a:cs typeface="Arial" panose="020B0604020202020204" pitchFamily="34" charset="0"/>
              </a:defRPr>
            </a:lvl1pPr>
            <a:lvl2pPr marL="742950" indent="-285750">
              <a:defRPr sz="2000">
                <a:solidFill>
                  <a:srgbClr val="FFFFFF"/>
                </a:solidFill>
                <a:latin typeface="Times New Roman" panose="02020603050405020304" pitchFamily="18" charset="0"/>
                <a:cs typeface="Arial" panose="020B0604020202020204" pitchFamily="34" charset="0"/>
              </a:defRPr>
            </a:lvl2pPr>
            <a:lvl3pPr marL="1143000" indent="-228600">
              <a:defRPr sz="2000">
                <a:solidFill>
                  <a:srgbClr val="FFFFFF"/>
                </a:solidFill>
                <a:latin typeface="Times New Roman" panose="02020603050405020304" pitchFamily="18" charset="0"/>
                <a:cs typeface="Arial" panose="020B0604020202020204" pitchFamily="34" charset="0"/>
              </a:defRPr>
            </a:lvl3pPr>
            <a:lvl4pPr marL="1600200" indent="-228600">
              <a:defRPr sz="2000">
                <a:solidFill>
                  <a:srgbClr val="FFFFFF"/>
                </a:solidFill>
                <a:latin typeface="Times New Roman" panose="02020603050405020304" pitchFamily="18" charset="0"/>
                <a:cs typeface="Arial" panose="020B0604020202020204" pitchFamily="34" charset="0"/>
              </a:defRPr>
            </a:lvl4pPr>
            <a:lvl5pPr marL="2057400" indent="-228600">
              <a:defRPr sz="2000">
                <a:solidFill>
                  <a:srgbClr val="FFFFFF"/>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cs typeface="Arial" panose="020B0604020202020204" pitchFamily="34" charset="0"/>
              </a:defRPr>
            </a:lvl9pPr>
          </a:lstStyle>
          <a:p>
            <a:fld id="{AA0EC4EB-D3AA-49BE-89CC-118BC501CEBE}" type="slidenum">
              <a:rPr lang="en-US" altLang="en-US" sz="1200" smtClean="0">
                <a:solidFill>
                  <a:schemeClr val="tx1"/>
                </a:solidFill>
              </a:rPr>
              <a:pPr/>
              <a:t>31</a:t>
            </a:fld>
            <a:endParaRPr lang="en-US" altLang="en-US" sz="1200" dirty="0">
              <a:solidFill>
                <a:schemeClr val="tx1"/>
              </a:solidFill>
            </a:endParaRPr>
          </a:p>
        </p:txBody>
      </p:sp>
    </p:spTree>
    <p:extLst>
      <p:ext uri="{BB962C8B-B14F-4D97-AF65-F5344CB8AC3E}">
        <p14:creationId xmlns:p14="http://schemas.microsoft.com/office/powerpoint/2010/main" val="25761534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t>Electronic and Mobile Commerce</a:t>
            </a:r>
            <a:endParaRPr lang="en-US" altLang="en-US" dirty="0"/>
          </a:p>
        </p:txBody>
      </p:sp>
      <p:sp>
        <p:nvSpPr>
          <p:cNvPr id="481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FFFFFF"/>
                </a:solidFill>
                <a:latin typeface="Times New Roman" panose="02020603050405020304" pitchFamily="18" charset="0"/>
                <a:cs typeface="Arial" panose="020B0604020202020204" pitchFamily="34" charset="0"/>
              </a:defRPr>
            </a:lvl1pPr>
            <a:lvl2pPr marL="742950" indent="-285750">
              <a:defRPr sz="2000">
                <a:solidFill>
                  <a:srgbClr val="FFFFFF"/>
                </a:solidFill>
                <a:latin typeface="Times New Roman" panose="02020603050405020304" pitchFamily="18" charset="0"/>
                <a:cs typeface="Arial" panose="020B0604020202020204" pitchFamily="34" charset="0"/>
              </a:defRPr>
            </a:lvl2pPr>
            <a:lvl3pPr marL="1143000" indent="-228600">
              <a:defRPr sz="2000">
                <a:solidFill>
                  <a:srgbClr val="FFFFFF"/>
                </a:solidFill>
                <a:latin typeface="Times New Roman" panose="02020603050405020304" pitchFamily="18" charset="0"/>
                <a:cs typeface="Arial" panose="020B0604020202020204" pitchFamily="34" charset="0"/>
              </a:defRPr>
            </a:lvl3pPr>
            <a:lvl4pPr marL="1600200" indent="-228600">
              <a:defRPr sz="2000">
                <a:solidFill>
                  <a:srgbClr val="FFFFFF"/>
                </a:solidFill>
                <a:latin typeface="Times New Roman" panose="02020603050405020304" pitchFamily="18" charset="0"/>
                <a:cs typeface="Arial" panose="020B0604020202020204" pitchFamily="34" charset="0"/>
              </a:defRPr>
            </a:lvl4pPr>
            <a:lvl5pPr marL="2057400" indent="-228600">
              <a:defRPr sz="2000">
                <a:solidFill>
                  <a:srgbClr val="FFFFFF"/>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cs typeface="Arial" panose="020B0604020202020204" pitchFamily="34" charset="0"/>
              </a:defRPr>
            </a:lvl9pPr>
          </a:lstStyle>
          <a:p>
            <a:fld id="{4AA190E5-8D3E-4CED-9C6C-3C587603852A}" type="slidenum">
              <a:rPr lang="en-US" altLang="en-US" sz="1200" smtClean="0">
                <a:solidFill>
                  <a:schemeClr val="tx1"/>
                </a:solidFill>
              </a:rPr>
              <a:pPr/>
              <a:t>32</a:t>
            </a:fld>
            <a:endParaRPr lang="en-US" altLang="en-US" sz="1200" dirty="0">
              <a:solidFill>
                <a:schemeClr val="tx1"/>
              </a:solidFill>
            </a:endParaRPr>
          </a:p>
        </p:txBody>
      </p:sp>
    </p:spTree>
    <p:extLst>
      <p:ext uri="{BB962C8B-B14F-4D97-AF65-F5344CB8AC3E}">
        <p14:creationId xmlns:p14="http://schemas.microsoft.com/office/powerpoint/2010/main" val="33182742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t>Electronic and Mobile Commerce</a:t>
            </a:r>
          </a:p>
          <a:p>
            <a:endParaRPr lang="en-US" altLang="en-US" dirty="0" smtClean="0"/>
          </a:p>
          <a:p>
            <a:r>
              <a:rPr lang="en-US" altLang="en-US" dirty="0" smtClean="0"/>
              <a:t>Mobile commerce (m-commerce): the use of mobile, wireless devices to place orders and conduct business</a:t>
            </a:r>
          </a:p>
          <a:p>
            <a:pPr lvl="1"/>
            <a:r>
              <a:rPr lang="en-US" altLang="en-US" dirty="0" smtClean="0"/>
              <a:t>Used to support all forms of e-commerce:</a:t>
            </a:r>
          </a:p>
          <a:p>
            <a:pPr lvl="2"/>
            <a:r>
              <a:rPr lang="en-US" altLang="en-US" dirty="0" smtClean="0"/>
              <a:t>Business-to-business (B2B)</a:t>
            </a:r>
          </a:p>
          <a:p>
            <a:pPr lvl="2"/>
            <a:r>
              <a:rPr lang="en-US" altLang="en-US" dirty="0" smtClean="0"/>
              <a:t>Business-to-consumer (B2C)</a:t>
            </a:r>
          </a:p>
          <a:p>
            <a:pPr lvl="2"/>
            <a:r>
              <a:rPr lang="en-US" altLang="en-US" dirty="0" smtClean="0"/>
              <a:t>Consumer-to-consumer (C2C)</a:t>
            </a:r>
          </a:p>
          <a:p>
            <a:pPr lvl="2"/>
            <a:r>
              <a:rPr lang="en-US" altLang="en-US" dirty="0" smtClean="0"/>
              <a:t>Government-to-citizen (G2C)</a:t>
            </a:r>
          </a:p>
          <a:p>
            <a:r>
              <a:rPr lang="en-US" altLang="en-US" dirty="0" smtClean="0"/>
              <a:t>E-business: use of information systems and the Internet to perform business-related tasks and functions</a:t>
            </a:r>
          </a:p>
          <a:p>
            <a:endParaRPr lang="en-US" altLang="en-US" dirty="0"/>
          </a:p>
        </p:txBody>
      </p:sp>
      <p:sp>
        <p:nvSpPr>
          <p:cNvPr id="501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FFFFFF"/>
                </a:solidFill>
                <a:latin typeface="Times New Roman" panose="02020603050405020304" pitchFamily="18" charset="0"/>
                <a:cs typeface="Arial" panose="020B0604020202020204" pitchFamily="34" charset="0"/>
              </a:defRPr>
            </a:lvl1pPr>
            <a:lvl2pPr marL="742950" indent="-285750">
              <a:defRPr sz="2000">
                <a:solidFill>
                  <a:srgbClr val="FFFFFF"/>
                </a:solidFill>
                <a:latin typeface="Times New Roman" panose="02020603050405020304" pitchFamily="18" charset="0"/>
                <a:cs typeface="Arial" panose="020B0604020202020204" pitchFamily="34" charset="0"/>
              </a:defRPr>
            </a:lvl2pPr>
            <a:lvl3pPr marL="1143000" indent="-228600">
              <a:defRPr sz="2000">
                <a:solidFill>
                  <a:srgbClr val="FFFFFF"/>
                </a:solidFill>
                <a:latin typeface="Times New Roman" panose="02020603050405020304" pitchFamily="18" charset="0"/>
                <a:cs typeface="Arial" panose="020B0604020202020204" pitchFamily="34" charset="0"/>
              </a:defRPr>
            </a:lvl3pPr>
            <a:lvl4pPr marL="1600200" indent="-228600">
              <a:defRPr sz="2000">
                <a:solidFill>
                  <a:srgbClr val="FFFFFF"/>
                </a:solidFill>
                <a:latin typeface="Times New Roman" panose="02020603050405020304" pitchFamily="18" charset="0"/>
                <a:cs typeface="Arial" panose="020B0604020202020204" pitchFamily="34" charset="0"/>
              </a:defRPr>
            </a:lvl4pPr>
            <a:lvl5pPr marL="2057400" indent="-228600">
              <a:defRPr sz="2000">
                <a:solidFill>
                  <a:srgbClr val="FFFFFF"/>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cs typeface="Arial" panose="020B0604020202020204" pitchFamily="34" charset="0"/>
              </a:defRPr>
            </a:lvl9pPr>
          </a:lstStyle>
          <a:p>
            <a:fld id="{6D406AE3-1D6E-4E40-9B84-2143A501A7B3}" type="slidenum">
              <a:rPr lang="en-US" altLang="en-US" sz="1200" smtClean="0">
                <a:solidFill>
                  <a:schemeClr val="tx1"/>
                </a:solidFill>
              </a:rPr>
              <a:pPr/>
              <a:t>33</a:t>
            </a:fld>
            <a:endParaRPr lang="en-US" altLang="en-US" sz="1200" dirty="0">
              <a:solidFill>
                <a:schemeClr val="tx1"/>
              </a:solidFill>
            </a:endParaRPr>
          </a:p>
        </p:txBody>
      </p:sp>
    </p:spTree>
    <p:extLst>
      <p:ext uri="{BB962C8B-B14F-4D97-AF65-F5344CB8AC3E}">
        <p14:creationId xmlns:p14="http://schemas.microsoft.com/office/powerpoint/2010/main" val="38978325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Enterprise Systems</a:t>
            </a:r>
          </a:p>
          <a:p>
            <a:endParaRPr lang="en-US" dirty="0" smtClean="0"/>
          </a:p>
          <a:p>
            <a:r>
              <a:rPr lang="en-US" altLang="en-US" dirty="0" smtClean="0"/>
              <a:t>Transaction </a:t>
            </a:r>
          </a:p>
          <a:p>
            <a:pPr lvl="1"/>
            <a:r>
              <a:rPr lang="en-US" altLang="en-US" dirty="0" smtClean="0"/>
              <a:t>Any business-related exchange, such as payments to employees and suppliers and sales to customers  </a:t>
            </a:r>
          </a:p>
          <a:p>
            <a:r>
              <a:rPr lang="en-US" altLang="en-US" dirty="0" smtClean="0"/>
              <a:t>Transaction processing system (TPS)</a:t>
            </a:r>
          </a:p>
          <a:p>
            <a:pPr lvl="1"/>
            <a:r>
              <a:rPr lang="en-US" altLang="en-US" dirty="0" smtClean="0"/>
              <a:t>An organized collection of people, procedures, software, databases, and devices</a:t>
            </a:r>
          </a:p>
          <a:p>
            <a:pPr lvl="1"/>
            <a:r>
              <a:rPr lang="en-US" altLang="en-US" dirty="0" smtClean="0"/>
              <a:t>Used to perform and record completed business transactions</a:t>
            </a:r>
          </a:p>
          <a:p>
            <a:r>
              <a:rPr lang="en-US" altLang="en-US" dirty="0" smtClean="0"/>
              <a:t>Management information system (MIS) </a:t>
            </a:r>
          </a:p>
          <a:p>
            <a:pPr lvl="1"/>
            <a:r>
              <a:rPr lang="en-US" altLang="en-US" dirty="0" smtClean="0"/>
              <a:t>Organized collection of people, procedures, software, databases, and devices </a:t>
            </a:r>
          </a:p>
          <a:p>
            <a:pPr lvl="1"/>
            <a:r>
              <a:rPr lang="en-US" altLang="en-US" dirty="0" smtClean="0"/>
              <a:t>Provides routine information to managers and decision makers</a:t>
            </a:r>
          </a:p>
          <a:p>
            <a:pPr lvl="1"/>
            <a:r>
              <a:rPr lang="en-US" altLang="en-US" dirty="0" smtClean="0"/>
              <a:t>Focuses on operational efficiency</a:t>
            </a:r>
          </a:p>
          <a:p>
            <a:pPr lvl="1"/>
            <a:r>
              <a:rPr lang="en-US" altLang="en-US" dirty="0" smtClean="0"/>
              <a:t>Provides standard reports generated with data and information from the TPS or ERP</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34</a:t>
            </a:fld>
            <a:endParaRPr lang="en-US" dirty="0"/>
          </a:p>
        </p:txBody>
      </p:sp>
    </p:spTree>
    <p:extLst>
      <p:ext uri="{BB962C8B-B14F-4D97-AF65-F5344CB8AC3E}">
        <p14:creationId xmlns:p14="http://schemas.microsoft.com/office/powerpoint/2010/main" val="3150977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Enterprise Systems</a:t>
            </a:r>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35</a:t>
            </a:fld>
            <a:endParaRPr lang="en-US" dirty="0"/>
          </a:p>
        </p:txBody>
      </p:sp>
    </p:spTree>
    <p:extLst>
      <p:ext uri="{BB962C8B-B14F-4D97-AF65-F5344CB8AC3E}">
        <p14:creationId xmlns:p14="http://schemas.microsoft.com/office/powerpoint/2010/main" val="26916097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Enterprise Systems</a:t>
            </a:r>
          </a:p>
          <a:p>
            <a:endParaRPr lang="en-US" dirty="0" smtClean="0"/>
          </a:p>
          <a:p>
            <a:r>
              <a:rPr lang="en-US" altLang="en-US" dirty="0" smtClean="0"/>
              <a:t>Enterprise resource planning (ERP)</a:t>
            </a:r>
          </a:p>
          <a:p>
            <a:pPr lvl="1"/>
            <a:r>
              <a:rPr lang="en-US" altLang="en-US" dirty="0" smtClean="0"/>
              <a:t>A set of integrated programs  </a:t>
            </a:r>
          </a:p>
          <a:p>
            <a:pPr lvl="1"/>
            <a:r>
              <a:rPr lang="en-US" altLang="en-US" dirty="0" smtClean="0"/>
              <a:t>Manages the vital business operations for an entire multisite, global organization</a:t>
            </a:r>
          </a:p>
          <a:p>
            <a:r>
              <a:rPr lang="en-US" altLang="en-US" dirty="0" smtClean="0"/>
              <a:t>Most ERP systems provide integrated software to support manufacturing and finance</a:t>
            </a:r>
          </a:p>
          <a:p>
            <a:pPr lvl="1"/>
            <a:r>
              <a:rPr lang="en-US" altLang="en-US" dirty="0" smtClean="0"/>
              <a:t>Also provide support for business analytics and e-business</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36</a:t>
            </a:fld>
            <a:endParaRPr lang="en-US" dirty="0"/>
          </a:p>
        </p:txBody>
      </p:sp>
    </p:spTree>
    <p:extLst>
      <p:ext uri="{BB962C8B-B14F-4D97-AF65-F5344CB8AC3E}">
        <p14:creationId xmlns:p14="http://schemas.microsoft.com/office/powerpoint/2010/main" val="19319873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Enterprise Systems</a:t>
            </a:r>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37</a:t>
            </a:fld>
            <a:endParaRPr lang="en-US" dirty="0"/>
          </a:p>
        </p:txBody>
      </p:sp>
    </p:spTree>
    <p:extLst>
      <p:ext uri="{BB962C8B-B14F-4D97-AF65-F5344CB8AC3E}">
        <p14:creationId xmlns:p14="http://schemas.microsoft.com/office/powerpoint/2010/main" val="19401085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Enterprise Systems</a:t>
            </a:r>
          </a:p>
          <a:p>
            <a:endParaRPr lang="en-US" dirty="0" smtClean="0"/>
          </a:p>
          <a:p>
            <a:r>
              <a:rPr lang="en-US" altLang="en-US" dirty="0" smtClean="0"/>
              <a:t>ERP system benefits:</a:t>
            </a:r>
          </a:p>
          <a:p>
            <a:pPr lvl="1"/>
            <a:r>
              <a:rPr lang="en-US" altLang="en-US" dirty="0" smtClean="0"/>
              <a:t>Provide a global view of operational/planning data</a:t>
            </a:r>
          </a:p>
          <a:p>
            <a:pPr lvl="1"/>
            <a:r>
              <a:rPr lang="en-US" altLang="en-US" dirty="0" smtClean="0"/>
              <a:t>Lower the cost of doing business</a:t>
            </a:r>
          </a:p>
          <a:p>
            <a:pPr lvl="1"/>
            <a:r>
              <a:rPr lang="en-US" altLang="en-US" dirty="0" smtClean="0"/>
              <a:t>Ensure compliance</a:t>
            </a:r>
          </a:p>
          <a:p>
            <a:pPr lvl="1"/>
            <a:r>
              <a:rPr lang="en-US" altLang="en-US" dirty="0" smtClean="0"/>
              <a:t>Automate core business operations</a:t>
            </a:r>
          </a:p>
          <a:p>
            <a:pPr lvl="1"/>
            <a:r>
              <a:rPr lang="en-US" altLang="en-US" dirty="0" smtClean="0"/>
              <a:t>Improve customer service</a:t>
            </a:r>
          </a:p>
          <a:p>
            <a:pPr lvl="1"/>
            <a:r>
              <a:rPr lang="en-US" altLang="en-US" dirty="0" smtClean="0"/>
              <a:t>Reduce time to market by sharing evolving product data</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38</a:t>
            </a:fld>
            <a:endParaRPr lang="en-US" dirty="0"/>
          </a:p>
        </p:txBody>
      </p:sp>
    </p:spTree>
    <p:extLst>
      <p:ext uri="{BB962C8B-B14F-4D97-AF65-F5344CB8AC3E}">
        <p14:creationId xmlns:p14="http://schemas.microsoft.com/office/powerpoint/2010/main" val="12381546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Business Intelligence and Analytics</a:t>
            </a:r>
          </a:p>
          <a:p>
            <a:endParaRPr lang="en-US" dirty="0" smtClean="0"/>
          </a:p>
          <a:p>
            <a:r>
              <a:rPr lang="en-US" altLang="en-US" dirty="0" smtClean="0"/>
              <a:t>Business intelligence (BI)</a:t>
            </a:r>
          </a:p>
          <a:p>
            <a:pPr lvl="1"/>
            <a:r>
              <a:rPr lang="en-US" altLang="en-US" dirty="0" smtClean="0"/>
              <a:t>Includes a wide range of applications, practices, and technologies for the extraction, transformation, integration, visualization, analysis, interpretation, and presentation of data to support improved decision making</a:t>
            </a:r>
          </a:p>
          <a:p>
            <a:r>
              <a:rPr lang="en-US" altLang="en-US" dirty="0" smtClean="0"/>
              <a:t>Business analytics</a:t>
            </a:r>
          </a:p>
          <a:p>
            <a:pPr lvl="1"/>
            <a:r>
              <a:rPr lang="en-US" altLang="en-US" dirty="0" smtClean="0"/>
              <a:t>The extensive use of data and quantitative analysis to support fact-based decision making within organizations</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39</a:t>
            </a:fld>
            <a:endParaRPr lang="en-US" dirty="0"/>
          </a:p>
        </p:txBody>
      </p:sp>
    </p:spTree>
    <p:extLst>
      <p:ext uri="{BB962C8B-B14F-4D97-AF65-F5344CB8AC3E}">
        <p14:creationId xmlns:p14="http://schemas.microsoft.com/office/powerpoint/2010/main" val="263540834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Knowledge Management and Specialized Information Systems</a:t>
            </a:r>
          </a:p>
          <a:p>
            <a:endParaRPr lang="en-US" dirty="0" smtClean="0"/>
          </a:p>
          <a:p>
            <a:r>
              <a:rPr lang="en-US" altLang="en-US" dirty="0" smtClean="0"/>
              <a:t>Knowledge management systems (KMSs)</a:t>
            </a:r>
          </a:p>
          <a:p>
            <a:pPr lvl="1"/>
            <a:r>
              <a:rPr lang="en-US" altLang="en-US" dirty="0" smtClean="0"/>
              <a:t>An organized collection of people, procedures, software, databases, and devices that:</a:t>
            </a:r>
          </a:p>
          <a:p>
            <a:pPr lvl="2"/>
            <a:r>
              <a:rPr lang="en-US" altLang="en-US" dirty="0" smtClean="0"/>
              <a:t>Stores and retrieves knowledge</a:t>
            </a:r>
          </a:p>
          <a:p>
            <a:pPr lvl="2"/>
            <a:r>
              <a:rPr lang="en-US" altLang="en-US" dirty="0" smtClean="0"/>
              <a:t>Improves collaboration</a:t>
            </a:r>
          </a:p>
          <a:p>
            <a:pPr lvl="2"/>
            <a:r>
              <a:rPr lang="en-US" altLang="en-US" dirty="0" smtClean="0"/>
              <a:t>Locates knowledge sources</a:t>
            </a:r>
          </a:p>
          <a:p>
            <a:pPr lvl="2"/>
            <a:r>
              <a:rPr lang="en-US" altLang="en-US" dirty="0" smtClean="0"/>
              <a:t>Captures and uses knowledge</a:t>
            </a:r>
          </a:p>
          <a:p>
            <a:pPr lvl="2"/>
            <a:r>
              <a:rPr lang="en-US" altLang="en-US" dirty="0" smtClean="0"/>
              <a:t>Enhances the knowledge management process</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40</a:t>
            </a:fld>
            <a:endParaRPr lang="en-US" dirty="0"/>
          </a:p>
        </p:txBody>
      </p:sp>
    </p:spTree>
    <p:extLst>
      <p:ext uri="{BB962C8B-B14F-4D97-AF65-F5344CB8AC3E}">
        <p14:creationId xmlns:p14="http://schemas.microsoft.com/office/powerpoint/2010/main" val="3915347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Planning, Acquiring, and Building Systems</a:t>
            </a:r>
          </a:p>
          <a:p>
            <a:endParaRPr lang="en-US" dirty="0" smtClean="0"/>
          </a:p>
          <a:p>
            <a:r>
              <a:rPr lang="en-US" altLang="en-US" dirty="0" smtClean="0"/>
              <a:t>Project</a:t>
            </a:r>
          </a:p>
          <a:p>
            <a:pPr lvl="1"/>
            <a:r>
              <a:rPr lang="en-US" altLang="en-US" dirty="0" smtClean="0"/>
              <a:t>A temporary endeavor undertaken to create a unique product, service, or result</a:t>
            </a:r>
          </a:p>
          <a:p>
            <a:pPr lvl="1"/>
            <a:r>
              <a:rPr lang="en-US" altLang="en-US" dirty="0" smtClean="0"/>
              <a:t>Attempts to achieve specific business objectives and is subject to certain constraints</a:t>
            </a:r>
          </a:p>
          <a:p>
            <a:pPr lvl="1"/>
            <a:r>
              <a:rPr lang="en-US" altLang="en-US" dirty="0" smtClean="0"/>
              <a:t>They way much of an organization’s work gets done</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41</a:t>
            </a:fld>
            <a:endParaRPr lang="en-US" dirty="0"/>
          </a:p>
        </p:txBody>
      </p:sp>
    </p:spTree>
    <p:extLst>
      <p:ext uri="{BB962C8B-B14F-4D97-AF65-F5344CB8AC3E}">
        <p14:creationId xmlns:p14="http://schemas.microsoft.com/office/powerpoint/2010/main" val="188621103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Strategic Planning and Project Management</a:t>
            </a:r>
          </a:p>
          <a:p>
            <a:endParaRPr lang="en-US" dirty="0" smtClean="0"/>
          </a:p>
          <a:p>
            <a:r>
              <a:rPr lang="en-US" altLang="en-US" dirty="0" smtClean="0"/>
              <a:t>Strategic planning</a:t>
            </a:r>
          </a:p>
          <a:p>
            <a:pPr lvl="1"/>
            <a:r>
              <a:rPr lang="en-US" altLang="en-US" dirty="0" smtClean="0"/>
              <a:t>Used to improve alignment between the needs of the business and the activities of the information systems organization</a:t>
            </a:r>
          </a:p>
          <a:p>
            <a:pPr lvl="1"/>
            <a:r>
              <a:rPr lang="en-US" altLang="en-US" dirty="0" smtClean="0"/>
              <a:t>Alignment means that the IS organization and its resources are focused on efforts that support the key objectives defined in the strategic plan of business</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42</a:t>
            </a:fld>
            <a:endParaRPr lang="en-US" dirty="0"/>
          </a:p>
        </p:txBody>
      </p:sp>
    </p:spTree>
    <p:extLst>
      <p:ext uri="{BB962C8B-B14F-4D97-AF65-F5344CB8AC3E}">
        <p14:creationId xmlns:p14="http://schemas.microsoft.com/office/powerpoint/2010/main" val="158356371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System Acquisition and Development</a:t>
            </a:r>
          </a:p>
          <a:p>
            <a:endParaRPr lang="en-US" dirty="0" smtClean="0"/>
          </a:p>
          <a:p>
            <a:r>
              <a:rPr lang="en-US" altLang="en-US" dirty="0" smtClean="0"/>
              <a:t>System acquisition</a:t>
            </a:r>
          </a:p>
          <a:p>
            <a:pPr lvl="1"/>
            <a:r>
              <a:rPr lang="en-US" altLang="en-US" dirty="0" smtClean="0"/>
              <a:t>Process used to obtain the information system resources needed to provide the services necessary to meet a specific set of needs</a:t>
            </a:r>
          </a:p>
          <a:p>
            <a:r>
              <a:rPr lang="en-US" altLang="en-US" dirty="0" smtClean="0"/>
              <a:t>System development</a:t>
            </a:r>
          </a:p>
          <a:p>
            <a:pPr lvl="1"/>
            <a:r>
              <a:rPr lang="en-US" altLang="en-US" dirty="0" smtClean="0"/>
              <a:t>The activity of building information systems to meet users’ needs</a:t>
            </a:r>
          </a:p>
          <a:p>
            <a:pPr lvl="1"/>
            <a:r>
              <a:rPr lang="en-US" altLang="en-US" dirty="0" smtClean="0"/>
              <a:t>Projects can range from small to very large</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43</a:t>
            </a:fld>
            <a:endParaRPr lang="en-US" dirty="0"/>
          </a:p>
        </p:txBody>
      </p:sp>
    </p:spTree>
    <p:extLst>
      <p:ext uri="{BB962C8B-B14F-4D97-AF65-F5344CB8AC3E}">
        <p14:creationId xmlns:p14="http://schemas.microsoft.com/office/powerpoint/2010/main" val="18028905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System Acquisition and Development</a:t>
            </a:r>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44</a:t>
            </a:fld>
            <a:endParaRPr lang="en-US" dirty="0"/>
          </a:p>
        </p:txBody>
      </p:sp>
    </p:spTree>
    <p:extLst>
      <p:ext uri="{BB962C8B-B14F-4D97-AF65-F5344CB8AC3E}">
        <p14:creationId xmlns:p14="http://schemas.microsoft.com/office/powerpoint/2010/main" val="377966581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Information Systems in Business and Society</a:t>
            </a:r>
          </a:p>
          <a:p>
            <a:endParaRPr lang="en-US" dirty="0" smtClean="0"/>
          </a:p>
          <a:p>
            <a:r>
              <a:rPr lang="en-US" altLang="en-US" dirty="0" smtClean="0"/>
              <a:t>The speed and widespread use of information systems</a:t>
            </a:r>
          </a:p>
          <a:p>
            <a:pPr lvl="1"/>
            <a:r>
              <a:rPr lang="en-US" altLang="en-US" dirty="0" smtClean="0"/>
              <a:t>Opens users to a variety of threats from unethical people</a:t>
            </a:r>
          </a:p>
          <a:p>
            <a:r>
              <a:rPr lang="en-US" altLang="en-US" dirty="0" smtClean="0"/>
              <a:t>Computer-related attacks can come from individuals, groups, companies, and countries</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45</a:t>
            </a:fld>
            <a:endParaRPr lang="en-US" dirty="0"/>
          </a:p>
        </p:txBody>
      </p:sp>
    </p:spTree>
    <p:extLst>
      <p:ext uri="{BB962C8B-B14F-4D97-AF65-F5344CB8AC3E}">
        <p14:creationId xmlns:p14="http://schemas.microsoft.com/office/powerpoint/2010/main" val="416913551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Cybercrime and Information System Security</a:t>
            </a:r>
          </a:p>
          <a:p>
            <a:endParaRPr lang="en-US" dirty="0" smtClean="0"/>
          </a:p>
          <a:p>
            <a:r>
              <a:rPr lang="en-US" altLang="en-US" dirty="0" smtClean="0"/>
              <a:t>Cybercriminals</a:t>
            </a:r>
          </a:p>
          <a:p>
            <a:pPr lvl="1"/>
            <a:r>
              <a:rPr lang="en-US" altLang="en-US" dirty="0" smtClean="0"/>
              <a:t>Motivated by the potential for monetary gain</a:t>
            </a:r>
          </a:p>
          <a:p>
            <a:pPr lvl="1"/>
            <a:r>
              <a:rPr lang="en-US" altLang="en-US" dirty="0" smtClean="0"/>
              <a:t>Hack into computers systems to steal</a:t>
            </a:r>
          </a:p>
          <a:p>
            <a:r>
              <a:rPr lang="en-US" altLang="en-US" dirty="0" smtClean="0"/>
              <a:t>Cyberterrorism</a:t>
            </a:r>
          </a:p>
          <a:p>
            <a:pPr lvl="1"/>
            <a:r>
              <a:rPr lang="en-US" altLang="en-US" dirty="0" smtClean="0"/>
              <a:t>The intimidation of a government or a civilian population by using information technology to disable critical national infrastructure</a:t>
            </a:r>
          </a:p>
          <a:p>
            <a:pPr lvl="1"/>
            <a:r>
              <a:rPr lang="en-US" altLang="en-US" dirty="0" smtClean="0"/>
              <a:t>To achieve political, religious, or ideological goals</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46</a:t>
            </a:fld>
            <a:endParaRPr lang="en-US" dirty="0"/>
          </a:p>
        </p:txBody>
      </p:sp>
    </p:spTree>
    <p:extLst>
      <p:ext uri="{BB962C8B-B14F-4D97-AF65-F5344CB8AC3E}">
        <p14:creationId xmlns:p14="http://schemas.microsoft.com/office/powerpoint/2010/main" val="276710047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Cybercrime and Information System Security</a:t>
            </a:r>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47</a:t>
            </a:fld>
            <a:endParaRPr lang="en-US" dirty="0"/>
          </a:p>
        </p:txBody>
      </p:sp>
    </p:spTree>
    <p:extLst>
      <p:ext uri="{BB962C8B-B14F-4D97-AF65-F5344CB8AC3E}">
        <p14:creationId xmlns:p14="http://schemas.microsoft.com/office/powerpoint/2010/main" val="100003913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Ethical, Legal, and Social Issues of Information Systems</a:t>
            </a:r>
          </a:p>
          <a:p>
            <a:endParaRPr lang="en-US" dirty="0" smtClean="0"/>
          </a:p>
          <a:p>
            <a:r>
              <a:rPr lang="en-US" altLang="en-US" dirty="0" smtClean="0"/>
              <a:t>Ethics</a:t>
            </a:r>
          </a:p>
          <a:p>
            <a:pPr lvl="1"/>
            <a:r>
              <a:rPr lang="en-US" altLang="en-US" dirty="0" smtClean="0"/>
              <a:t>A set of beliefs about right and wrong behavior</a:t>
            </a:r>
          </a:p>
          <a:p>
            <a:r>
              <a:rPr lang="en-US" altLang="en-US" dirty="0" smtClean="0"/>
              <a:t>Ethical behavior</a:t>
            </a:r>
          </a:p>
          <a:p>
            <a:pPr lvl="1"/>
            <a:r>
              <a:rPr lang="en-US" altLang="en-US" dirty="0" smtClean="0"/>
              <a:t>Conforms to generally accepted social norms</a:t>
            </a:r>
          </a:p>
          <a:p>
            <a:r>
              <a:rPr lang="en-US" altLang="en-US" dirty="0" smtClean="0"/>
              <a:t>The use of information about people</a:t>
            </a:r>
          </a:p>
          <a:p>
            <a:pPr lvl="1"/>
            <a:r>
              <a:rPr lang="en-US" altLang="en-US" dirty="0" smtClean="0"/>
              <a:t>Requires balancing the needs of those who want to use the information against the rights and desires of the people whose information may be used</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48</a:t>
            </a:fld>
            <a:endParaRPr lang="en-US" dirty="0"/>
          </a:p>
        </p:txBody>
      </p:sp>
    </p:spTree>
    <p:extLst>
      <p:ext uri="{BB962C8B-B14F-4D97-AF65-F5344CB8AC3E}">
        <p14:creationId xmlns:p14="http://schemas.microsoft.com/office/powerpoint/2010/main" val="52571842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Ethical, Legal, and Social Issues of Information Systems</a:t>
            </a:r>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49</a:t>
            </a:fld>
            <a:endParaRPr lang="en-US" dirty="0"/>
          </a:p>
        </p:txBody>
      </p:sp>
    </p:spTree>
    <p:extLst>
      <p:ext uri="{BB962C8B-B14F-4D97-AF65-F5344CB8AC3E}">
        <p14:creationId xmlns:p14="http://schemas.microsoft.com/office/powerpoint/2010/main" val="26167766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Ethical, Legal, and Social Issues of Information Systems</a:t>
            </a:r>
          </a:p>
          <a:p>
            <a:endParaRPr lang="en-US" dirty="0" smtClean="0"/>
          </a:p>
          <a:p>
            <a:r>
              <a:rPr lang="en-US" altLang="en-US" dirty="0" smtClean="0"/>
              <a:t>Internet censorship</a:t>
            </a:r>
          </a:p>
          <a:p>
            <a:pPr lvl="1"/>
            <a:r>
              <a:rPr lang="en-US" altLang="en-US" dirty="0" smtClean="0"/>
              <a:t>The control or suppression of the publishing or accessing of information on the Internet</a:t>
            </a:r>
          </a:p>
          <a:p>
            <a:r>
              <a:rPr lang="en-US" altLang="en-US" dirty="0" smtClean="0"/>
              <a:t>Digital divide</a:t>
            </a:r>
          </a:p>
          <a:p>
            <a:pPr lvl="1"/>
            <a:r>
              <a:rPr lang="en-US" altLang="en-US" dirty="0" smtClean="0"/>
              <a:t>A term used to describe the gulf between those who do and those who don’t have access to modern information and communications technology</a:t>
            </a:r>
          </a:p>
          <a:p>
            <a:r>
              <a:rPr lang="en-US" altLang="en-US" dirty="0" smtClean="0"/>
              <a:t>Net neutrality</a:t>
            </a:r>
          </a:p>
          <a:p>
            <a:pPr lvl="1"/>
            <a:r>
              <a:rPr lang="en-US" altLang="en-US" dirty="0" smtClean="0"/>
              <a:t>The principle that Internet service providers (ISPs) should be required to treat all Internet traffic running over their networks the same</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50</a:t>
            </a:fld>
            <a:endParaRPr lang="en-US" dirty="0"/>
          </a:p>
        </p:txBody>
      </p:sp>
    </p:spTree>
    <p:extLst>
      <p:ext uri="{BB962C8B-B14F-4D97-AF65-F5344CB8AC3E}">
        <p14:creationId xmlns:p14="http://schemas.microsoft.com/office/powerpoint/2010/main" val="292573422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Summary</a:t>
            </a:r>
          </a:p>
          <a:p>
            <a:endParaRPr lang="en-US" altLang="en-US" dirty="0"/>
          </a:p>
          <a:p>
            <a:pPr eaLnBrk="1" hangingPunct="1"/>
            <a:r>
              <a:rPr lang="en-US" altLang="en-US" dirty="0"/>
              <a:t>The value of information is directly linked to how it helps decision makers achieve the organization’s goals</a:t>
            </a:r>
          </a:p>
          <a:p>
            <a:pPr eaLnBrk="1" hangingPunct="1"/>
            <a:r>
              <a:rPr lang="en-US" altLang="en-US" dirty="0"/>
              <a:t>Information systems are composed of fundamental components that must be carefully assembled and integrated to work well together</a:t>
            </a:r>
          </a:p>
          <a:p>
            <a:pPr eaLnBrk="1" hangingPunct="1"/>
            <a:r>
              <a:rPr lang="en-US" altLang="en-US" dirty="0"/>
              <a:t>Managers have an essential role to play in the successful implementation and use of information systems-that role changes depending on which type of IS system is being implemented</a:t>
            </a:r>
          </a:p>
        </p:txBody>
      </p:sp>
      <p:sp>
        <p:nvSpPr>
          <p:cNvPr id="706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125A54B-9274-488E-8963-5C536A8669DB}" type="slidenum">
              <a:rPr lang="en-US" altLang="en-US" smtClean="0"/>
              <a:pPr>
                <a:spcBef>
                  <a:spcPct val="0"/>
                </a:spcBef>
              </a:pPr>
              <a:t>51</a:t>
            </a:fld>
            <a:endParaRPr lang="en-US" altLang="en-US" dirty="0"/>
          </a:p>
        </p:txBody>
      </p:sp>
    </p:spTree>
    <p:extLst>
      <p:ext uri="{BB962C8B-B14F-4D97-AF65-F5344CB8AC3E}">
        <p14:creationId xmlns:p14="http://schemas.microsoft.com/office/powerpoint/2010/main" val="370966402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Summary</a:t>
            </a:r>
          </a:p>
          <a:p>
            <a:endParaRPr lang="en-US" altLang="en-US" dirty="0"/>
          </a:p>
          <a:p>
            <a:pPr eaLnBrk="1" hangingPunct="1"/>
            <a:r>
              <a:rPr lang="en-US" altLang="en-US" dirty="0"/>
              <a:t>An organization’s infrastructure technology forms the foundation upon which its systems and applications are built</a:t>
            </a:r>
          </a:p>
          <a:p>
            <a:pPr eaLnBrk="1" hangingPunct="1"/>
            <a:r>
              <a:rPr lang="en-US" altLang="en-US" dirty="0"/>
              <a:t>Organizations employ a variety of information systems to improve the way they conduct business and make fact-based decisions</a:t>
            </a:r>
          </a:p>
          <a:p>
            <a:pPr eaLnBrk="1" hangingPunct="1"/>
            <a:r>
              <a:rPr lang="en-US" altLang="en-US" dirty="0"/>
              <a:t>Strategic planning and project management are keys to ensuring that the organization is working effectively on the right </a:t>
            </a:r>
            <a:r>
              <a:rPr lang="en-US" altLang="en-US" dirty="0" smtClean="0"/>
              <a:t>projects</a:t>
            </a:r>
          </a:p>
          <a:p>
            <a:pPr marL="0" marR="0" indent="0" algn="l" defTabSz="914400" rtl="0" eaLnBrk="1" fontAlgn="base" latinLnBrk="0" hangingPunct="1">
              <a:lnSpc>
                <a:spcPct val="100000"/>
              </a:lnSpc>
              <a:spcBef>
                <a:spcPct val="30000"/>
              </a:spcBef>
              <a:spcAft>
                <a:spcPct val="0"/>
              </a:spcAft>
              <a:buClrTx/>
              <a:buSzTx/>
              <a:buFontTx/>
              <a:buNone/>
              <a:tabLst/>
              <a:defRPr/>
            </a:pPr>
            <a:r>
              <a:rPr lang="en-US" altLang="en-US" dirty="0" smtClean="0"/>
              <a:t>Information systems must be applied thoughtfully and carefully so that society, organizations, and individuals around the globe can reap their enormous benefits</a:t>
            </a:r>
          </a:p>
          <a:p>
            <a:pPr eaLnBrk="1" hangingPunct="1"/>
            <a:endParaRPr lang="en-US" altLang="en-US" dirty="0"/>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32FCE53-5696-4F47-A638-D94E277248EC}" type="slidenum">
              <a:rPr lang="en-US" altLang="en-US" smtClean="0"/>
              <a:pPr>
                <a:spcBef>
                  <a:spcPct val="0"/>
                </a:spcBef>
              </a:pPr>
              <a:t>52</a:t>
            </a:fld>
            <a:endParaRPr lang="en-US" altLang="en-US" dirty="0"/>
          </a:p>
        </p:txBody>
      </p:sp>
    </p:spTree>
    <p:extLst>
      <p:ext uri="{BB962C8B-B14F-4D97-AF65-F5344CB8AC3E}">
        <p14:creationId xmlns:p14="http://schemas.microsoft.com/office/powerpoint/2010/main" val="1953007622"/>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2" name="Title 1"/>
          <p:cNvSpPr>
            <a:spLocks noGrp="1"/>
          </p:cNvSpPr>
          <p:nvPr>
            <p:ph type="ctrTitle"/>
          </p:nvPr>
        </p:nvSpPr>
        <p:spPr>
          <a:xfrm>
            <a:off x="698500" y="2712698"/>
            <a:ext cx="7747000" cy="377026"/>
          </a:xfrm>
        </p:spPr>
        <p:txBody>
          <a:bodyPr anchor="b"/>
          <a:lstStyle>
            <a:lvl1pPr algn="ctr">
              <a:defRPr sz="2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698500" y="3352800"/>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Rectangle 3"/>
          <p:cNvSpPr/>
          <p:nvPr userDrawn="1"/>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Rules_Single_A.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sp>
        <p:nvSpPr>
          <p:cNvPr id="5" name="Rectangle 4"/>
          <p:cNvSpPr/>
          <p:nvPr userDrawn="1"/>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udio.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userDrawn="1"/>
        </p:nvPicPr>
        <p:blipFill rotWithShape="1">
          <a:blip r:embed="rId5"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sp>
        <p:nvSpPr>
          <p:cNvPr id="6" name="Footer Placeholder 5"/>
          <p:cNvSpPr>
            <a:spLocks noGrp="1"/>
          </p:cNvSpPr>
          <p:nvPr>
            <p:ph type="ftr" sz="quarter" idx="10"/>
          </p:nvPr>
        </p:nvSpPr>
        <p:spPr>
          <a:xfrm>
            <a:off x="1015922" y="6456817"/>
            <a:ext cx="6399830" cy="366183"/>
          </a:xfrm>
        </p:spPr>
        <p:txBody>
          <a:bodyPr/>
          <a:lstStyle>
            <a:lvl1pPr>
              <a:defRPr sz="600"/>
            </a:lvl1pPr>
          </a:lstStyle>
          <a:p>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9"/>
          <a:stretch>
            <a:fillRect/>
          </a:stretch>
        </p:blipFill>
        <p:spPr>
          <a:xfrm>
            <a:off x="0" y="6415635"/>
            <a:ext cx="1151034" cy="354164"/>
          </a:xfrm>
          <a:prstGeom prst="rect">
            <a:avLst/>
          </a:prstGeom>
        </p:spPr>
      </p:pic>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sp>
        <p:nvSpPr>
          <p:cNvPr id="7" name="Footer Placeholder 6"/>
          <p:cNvSpPr>
            <a:spLocks noGrp="1"/>
          </p:cNvSpPr>
          <p:nvPr>
            <p:ph type="ftr" sz="quarter" idx="10"/>
          </p:nvPr>
        </p:nvSpPr>
        <p:spPr>
          <a:xfrm>
            <a:off x="1597682" y="6578465"/>
            <a:ext cx="6781693" cy="244535"/>
          </a:xfrm>
        </p:spPr>
        <p:txBody>
          <a:bodyPr/>
          <a:lstStyle>
            <a:lvl1pPr>
              <a:defRPr sz="600"/>
            </a:lvl1pPr>
          </a:lstStyle>
          <a:p>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2" name="Footer Placeholder 1"/>
          <p:cNvSpPr>
            <a:spLocks noGrp="1"/>
          </p:cNvSpPr>
          <p:nvPr>
            <p:ph type="ftr" sz="quarter" idx="10"/>
          </p:nvPr>
        </p:nvSpPr>
        <p:spPr>
          <a:xfrm>
            <a:off x="1597682" y="6578465"/>
            <a:ext cx="6781693" cy="244535"/>
          </a:xfrm>
        </p:spPr>
        <p:txBody>
          <a:bodyPr/>
          <a:lstStyle>
            <a:lvl1pPr>
              <a:defRPr sz="600"/>
            </a:lvl1pPr>
          </a:lstStyle>
          <a:p>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pic>
        <p:nvPicPr>
          <p:cNvPr id="5" name="Picture 4"/>
          <p:cNvPicPr>
            <a:picLocks noChangeAspect="1"/>
          </p:cNvPicPr>
          <p:nvPr userDrawn="1"/>
        </p:nvPicPr>
        <p:blipFill>
          <a:blip r:embed="rId5"/>
          <a:stretch>
            <a:fillRect/>
          </a:stretch>
        </p:blipFill>
        <p:spPr>
          <a:xfrm>
            <a:off x="47177" y="6324600"/>
            <a:ext cx="1439449" cy="442907"/>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2" name="Picture 21"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5"/>
          <a:stretch>
            <a:fillRect/>
          </a:stretch>
        </p:blipFill>
        <p:spPr>
          <a:xfrm>
            <a:off x="60488" y="6305978"/>
            <a:ext cx="1403024" cy="431699"/>
          </a:xfrm>
          <a:prstGeom prst="rect">
            <a:avLst/>
          </a:prstGeom>
        </p:spPr>
      </p:pic>
    </p:spTree>
    <p:extLst>
      <p:ext uri="{BB962C8B-B14F-4D97-AF65-F5344CB8AC3E}">
        <p14:creationId xmlns:p14="http://schemas.microsoft.com/office/powerpoint/2010/main" val="133639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365126" y="6611007"/>
            <a:ext cx="8014247" cy="211991"/>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Lst>
  <p:hf sldNum="0"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6"/>
          <p:cNvSpPr>
            <a:spLocks noGrp="1" noChangeArrowheads="1"/>
          </p:cNvSpPr>
          <p:nvPr>
            <p:ph type="ctrTitle"/>
          </p:nvPr>
        </p:nvSpPr>
        <p:spPr/>
        <p:txBody>
          <a:bodyPr/>
          <a:lstStyle/>
          <a:p>
            <a:pPr eaLnBrk="1" hangingPunct="1"/>
            <a:r>
              <a:rPr lang="en-US" altLang="en-US" sz="4400" dirty="0"/>
              <a:t>Principles of Information Systems, Thirteenth Edition</a:t>
            </a:r>
            <a:r>
              <a:rPr lang="en-US" altLang="en-US" sz="4000" dirty="0"/>
              <a:t/>
            </a:r>
            <a:br>
              <a:rPr lang="en-US" altLang="en-US" sz="4000" dirty="0"/>
            </a:br>
            <a:endParaRPr lang="en-US" altLang="en-US" sz="4000" dirty="0"/>
          </a:p>
        </p:txBody>
      </p:sp>
      <p:sp>
        <p:nvSpPr>
          <p:cNvPr id="9219" name="Rectangle 1027"/>
          <p:cNvSpPr>
            <a:spLocks noGrp="1" noChangeArrowheads="1"/>
          </p:cNvSpPr>
          <p:nvPr>
            <p:ph type="subTitle" idx="1"/>
          </p:nvPr>
        </p:nvSpPr>
        <p:spPr>
          <a:xfrm>
            <a:off x="1371600" y="3733800"/>
            <a:ext cx="6400800" cy="1752600"/>
          </a:xfrm>
        </p:spPr>
        <p:txBody>
          <a:bodyPr/>
          <a:lstStyle/>
          <a:p>
            <a:pPr eaLnBrk="1" hangingPunct="1">
              <a:lnSpc>
                <a:spcPct val="90000"/>
              </a:lnSpc>
            </a:pPr>
            <a:endParaRPr lang="en-US" altLang="en-US" sz="3400" i="1" dirty="0"/>
          </a:p>
          <a:p>
            <a:pPr eaLnBrk="1" hangingPunct="1">
              <a:lnSpc>
                <a:spcPct val="90000"/>
              </a:lnSpc>
            </a:pPr>
            <a:r>
              <a:rPr lang="en-US" altLang="en-US" sz="3400" i="1" dirty="0"/>
              <a:t>Chapter 1</a:t>
            </a:r>
          </a:p>
          <a:p>
            <a:pPr eaLnBrk="1" hangingPunct="1">
              <a:lnSpc>
                <a:spcPct val="90000"/>
              </a:lnSpc>
            </a:pPr>
            <a:r>
              <a:rPr lang="en-US" altLang="en-US" sz="3400" i="1" dirty="0"/>
              <a:t>An Introduction to Information Systems</a:t>
            </a:r>
          </a:p>
        </p:txBody>
      </p:sp>
      <p:sp>
        <p:nvSpPr>
          <p:cNvPr id="2" name="Footer Placeholder 1"/>
          <p:cNvSpPr>
            <a:spLocks noGrp="1"/>
          </p:cNvSpPr>
          <p:nvPr>
            <p:ph type="ftr" sz="quarter" idx="10"/>
          </p:nvPr>
        </p:nvSpPr>
        <p:spPr/>
        <p:txBody>
          <a:bodyPr/>
          <a:lstStyle/>
          <a:p>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63558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en-US" dirty="0"/>
              <a:t>Objectives</a:t>
            </a:r>
          </a:p>
        </p:txBody>
      </p:sp>
      <p:sp>
        <p:nvSpPr>
          <p:cNvPr id="6149" name="Rectangle 3"/>
          <p:cNvSpPr>
            <a:spLocks noGrp="1" noChangeArrowheads="1"/>
          </p:cNvSpPr>
          <p:nvPr>
            <p:ph type="body" idx="1"/>
          </p:nvPr>
        </p:nvSpPr>
        <p:spPr>
          <a:xfrm>
            <a:off x="2641600" y="2942670"/>
            <a:ext cx="6172200" cy="2983894"/>
          </a:xfrm>
        </p:spPr>
        <p:txBody>
          <a:bodyPr/>
          <a:lstStyle/>
          <a:p>
            <a:pPr marL="0" indent="0">
              <a:buFontTx/>
              <a:buNone/>
              <a:defRPr/>
            </a:pPr>
            <a:r>
              <a:rPr lang="en-US" dirty="0"/>
              <a:t>After completing this chapter, you will be able to:</a:t>
            </a:r>
          </a:p>
          <a:p>
            <a:pPr>
              <a:defRPr/>
            </a:pPr>
            <a:r>
              <a:rPr lang="en-US" dirty="0" smtClean="0"/>
              <a:t>Distinguish data from information and knowledge, and describe the characteristics of quality data</a:t>
            </a:r>
          </a:p>
          <a:p>
            <a:pPr>
              <a:defRPr/>
            </a:pPr>
            <a:r>
              <a:rPr lang="en-US" dirty="0" smtClean="0"/>
              <a:t>Identify the fundamental components of an information system and describe their function</a:t>
            </a:r>
          </a:p>
          <a:p>
            <a:pPr>
              <a:defRPr/>
            </a:pPr>
            <a:r>
              <a:rPr lang="en-US" dirty="0" smtClean="0"/>
              <a:t>Identify the three fundamental information system types and explain what organizational complements must be in place to ensure successful implementation and use of the system</a:t>
            </a:r>
            <a:endParaRPr lang="en-US" dirty="0"/>
          </a:p>
          <a:p>
            <a:pPr>
              <a:defRPr/>
            </a:pPr>
            <a:endParaRPr lang="en-US" dirty="0"/>
          </a:p>
        </p:txBody>
      </p:sp>
      <p:sp>
        <p:nvSpPr>
          <p:cNvPr id="7173" name="Footer Placeholder 21"/>
          <p:cNvSpPr>
            <a:spLocks noGrp="1"/>
          </p:cNvSpPr>
          <p:nvPr>
            <p:ph type="ftr" sz="quarter" idx="10"/>
          </p:nvPr>
        </p:nvSpPr>
        <p:spPr>
          <a:extLst/>
        </p:spPr>
        <p:txBody>
          <a:bodyPr/>
          <a:lstStyle>
            <a:lvl1pPr eaLnBrk="0" hangingPunct="0">
              <a:defRPr sz="2000">
                <a:solidFill>
                  <a:srgbClr val="FFFFFF"/>
                </a:solidFill>
                <a:latin typeface="Times New Roman" pitchFamily="18" charset="0"/>
              </a:defRPr>
            </a:lvl1pPr>
            <a:lvl2pPr marL="742950" indent="-285750" eaLnBrk="0" hangingPunct="0">
              <a:defRPr sz="2000">
                <a:solidFill>
                  <a:srgbClr val="FFFFFF"/>
                </a:solidFill>
                <a:latin typeface="Times New Roman" pitchFamily="18" charset="0"/>
              </a:defRPr>
            </a:lvl2pPr>
            <a:lvl3pPr marL="1143000" indent="-228600" eaLnBrk="0" hangingPunct="0">
              <a:defRPr sz="2000">
                <a:solidFill>
                  <a:srgbClr val="FFFFFF"/>
                </a:solidFill>
                <a:latin typeface="Times New Roman" pitchFamily="18" charset="0"/>
              </a:defRPr>
            </a:lvl3pPr>
            <a:lvl4pPr marL="1600200" indent="-228600" eaLnBrk="0" hangingPunct="0">
              <a:defRPr sz="2000">
                <a:solidFill>
                  <a:srgbClr val="FFFFFF"/>
                </a:solidFill>
                <a:latin typeface="Times New Roman" pitchFamily="18" charset="0"/>
              </a:defRPr>
            </a:lvl4pPr>
            <a:lvl5pPr marL="2057400" indent="-228600" eaLnBrk="0" hangingPunct="0">
              <a:defRPr sz="2000">
                <a:solidFill>
                  <a:srgbClr val="FFFFFF"/>
                </a:solidFill>
                <a:latin typeface="Times New Roman" pitchFamily="18" charset="0"/>
              </a:defRPr>
            </a:lvl5pPr>
            <a:lvl6pPr marL="2514600" indent="-228600" eaLnBrk="0" fontAlgn="base" hangingPunct="0">
              <a:spcBef>
                <a:spcPct val="0"/>
              </a:spcBef>
              <a:spcAft>
                <a:spcPct val="0"/>
              </a:spcAft>
              <a:defRPr sz="2000">
                <a:solidFill>
                  <a:srgbClr val="FFFFFF"/>
                </a:solidFill>
                <a:latin typeface="Times New Roman" pitchFamily="18" charset="0"/>
              </a:defRPr>
            </a:lvl6pPr>
            <a:lvl7pPr marL="2971800" indent="-228600" eaLnBrk="0" fontAlgn="base" hangingPunct="0">
              <a:spcBef>
                <a:spcPct val="0"/>
              </a:spcBef>
              <a:spcAft>
                <a:spcPct val="0"/>
              </a:spcAft>
              <a:defRPr sz="2000">
                <a:solidFill>
                  <a:srgbClr val="FFFFFF"/>
                </a:solidFill>
                <a:latin typeface="Times New Roman" pitchFamily="18" charset="0"/>
              </a:defRPr>
            </a:lvl7pPr>
            <a:lvl8pPr marL="3429000" indent="-228600" eaLnBrk="0" fontAlgn="base" hangingPunct="0">
              <a:spcBef>
                <a:spcPct val="0"/>
              </a:spcBef>
              <a:spcAft>
                <a:spcPct val="0"/>
              </a:spcAft>
              <a:defRPr sz="2000">
                <a:solidFill>
                  <a:srgbClr val="FFFFFF"/>
                </a:solidFill>
                <a:latin typeface="Times New Roman" pitchFamily="18" charset="0"/>
              </a:defRPr>
            </a:lvl8pPr>
            <a:lvl9pPr marL="3886200" indent="-228600" eaLnBrk="0" fontAlgn="base" hangingPunct="0">
              <a:spcBef>
                <a:spcPct val="0"/>
              </a:spcBef>
              <a:spcAft>
                <a:spcPct val="0"/>
              </a:spcAft>
              <a:defRPr sz="2000">
                <a:solidFill>
                  <a:srgbClr val="FFFFFF"/>
                </a:solidFill>
                <a:latin typeface="Times New Roman" pitchFamily="18" charset="0"/>
              </a:defRPr>
            </a:lvl9pPr>
          </a:lstStyle>
          <a:p>
            <a:pPr eaLnBrk="1" hangingPunct="1">
              <a:defRPr/>
            </a:pPr>
            <a:r>
              <a:rPr lang="en-US" sz="600" dirty="0">
                <a:solidFill>
                  <a:srgbClr val="222222"/>
                </a:solidFill>
                <a:latin typeface="Arial" charset="0"/>
              </a:rPr>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449451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en-US" dirty="0"/>
              <a:t>Objectives</a:t>
            </a:r>
          </a:p>
        </p:txBody>
      </p:sp>
      <p:sp>
        <p:nvSpPr>
          <p:cNvPr id="6149" name="Rectangle 3"/>
          <p:cNvSpPr>
            <a:spLocks noGrp="1" noChangeArrowheads="1"/>
          </p:cNvSpPr>
          <p:nvPr>
            <p:ph type="body" idx="1"/>
          </p:nvPr>
        </p:nvSpPr>
        <p:spPr>
          <a:xfrm>
            <a:off x="2641600" y="2942670"/>
            <a:ext cx="6172200" cy="2830005"/>
          </a:xfrm>
        </p:spPr>
        <p:txBody>
          <a:bodyPr/>
          <a:lstStyle/>
          <a:p>
            <a:pPr marL="0" indent="0">
              <a:buFontTx/>
              <a:buNone/>
              <a:defRPr/>
            </a:pPr>
            <a:r>
              <a:rPr lang="en-US" dirty="0"/>
              <a:t>After completing this chapter, you will be able </a:t>
            </a:r>
            <a:r>
              <a:rPr lang="en-US" dirty="0" smtClean="0"/>
              <a:t>to (cont’d):</a:t>
            </a:r>
            <a:endParaRPr lang="en-US" dirty="0"/>
          </a:p>
          <a:p>
            <a:pPr>
              <a:defRPr/>
            </a:pPr>
            <a:r>
              <a:rPr lang="en-US" dirty="0" smtClean="0"/>
              <a:t>Identify and briefly describe the role of each component of an organization’s technology infrastructure</a:t>
            </a:r>
          </a:p>
          <a:p>
            <a:pPr>
              <a:defRPr/>
            </a:pPr>
            <a:r>
              <a:rPr lang="en-US" dirty="0" smtClean="0"/>
              <a:t>Identify the basic types of business information systems, including who uses them, how they are used, and what kinds of benefits they deliver</a:t>
            </a:r>
          </a:p>
          <a:p>
            <a:pPr>
              <a:defRPr/>
            </a:pPr>
            <a:r>
              <a:rPr lang="en-US" dirty="0" smtClean="0"/>
              <a:t>Describe how organizations are using business intelligence and business analytics to capitalize on the vast amount of data becoming available</a:t>
            </a:r>
            <a:endParaRPr lang="en-US" dirty="0"/>
          </a:p>
        </p:txBody>
      </p:sp>
      <p:sp>
        <p:nvSpPr>
          <p:cNvPr id="7173" name="Footer Placeholder 21"/>
          <p:cNvSpPr>
            <a:spLocks noGrp="1"/>
          </p:cNvSpPr>
          <p:nvPr>
            <p:ph type="ftr" sz="quarter" idx="10"/>
          </p:nvPr>
        </p:nvSpPr>
        <p:spPr>
          <a:extLst/>
        </p:spPr>
        <p:txBody>
          <a:bodyPr/>
          <a:lstStyle>
            <a:lvl1pPr eaLnBrk="0" hangingPunct="0">
              <a:defRPr sz="2000">
                <a:solidFill>
                  <a:srgbClr val="FFFFFF"/>
                </a:solidFill>
                <a:latin typeface="Times New Roman" pitchFamily="18" charset="0"/>
              </a:defRPr>
            </a:lvl1pPr>
            <a:lvl2pPr marL="742950" indent="-285750" eaLnBrk="0" hangingPunct="0">
              <a:defRPr sz="2000">
                <a:solidFill>
                  <a:srgbClr val="FFFFFF"/>
                </a:solidFill>
                <a:latin typeface="Times New Roman" pitchFamily="18" charset="0"/>
              </a:defRPr>
            </a:lvl2pPr>
            <a:lvl3pPr marL="1143000" indent="-228600" eaLnBrk="0" hangingPunct="0">
              <a:defRPr sz="2000">
                <a:solidFill>
                  <a:srgbClr val="FFFFFF"/>
                </a:solidFill>
                <a:latin typeface="Times New Roman" pitchFamily="18" charset="0"/>
              </a:defRPr>
            </a:lvl3pPr>
            <a:lvl4pPr marL="1600200" indent="-228600" eaLnBrk="0" hangingPunct="0">
              <a:defRPr sz="2000">
                <a:solidFill>
                  <a:srgbClr val="FFFFFF"/>
                </a:solidFill>
                <a:latin typeface="Times New Roman" pitchFamily="18" charset="0"/>
              </a:defRPr>
            </a:lvl4pPr>
            <a:lvl5pPr marL="2057400" indent="-228600" eaLnBrk="0" hangingPunct="0">
              <a:defRPr sz="2000">
                <a:solidFill>
                  <a:srgbClr val="FFFFFF"/>
                </a:solidFill>
                <a:latin typeface="Times New Roman" pitchFamily="18" charset="0"/>
              </a:defRPr>
            </a:lvl5pPr>
            <a:lvl6pPr marL="2514600" indent="-228600" eaLnBrk="0" fontAlgn="base" hangingPunct="0">
              <a:spcBef>
                <a:spcPct val="0"/>
              </a:spcBef>
              <a:spcAft>
                <a:spcPct val="0"/>
              </a:spcAft>
              <a:defRPr sz="2000">
                <a:solidFill>
                  <a:srgbClr val="FFFFFF"/>
                </a:solidFill>
                <a:latin typeface="Times New Roman" pitchFamily="18" charset="0"/>
              </a:defRPr>
            </a:lvl6pPr>
            <a:lvl7pPr marL="2971800" indent="-228600" eaLnBrk="0" fontAlgn="base" hangingPunct="0">
              <a:spcBef>
                <a:spcPct val="0"/>
              </a:spcBef>
              <a:spcAft>
                <a:spcPct val="0"/>
              </a:spcAft>
              <a:defRPr sz="2000">
                <a:solidFill>
                  <a:srgbClr val="FFFFFF"/>
                </a:solidFill>
                <a:latin typeface="Times New Roman" pitchFamily="18" charset="0"/>
              </a:defRPr>
            </a:lvl7pPr>
            <a:lvl8pPr marL="3429000" indent="-228600" eaLnBrk="0" fontAlgn="base" hangingPunct="0">
              <a:spcBef>
                <a:spcPct val="0"/>
              </a:spcBef>
              <a:spcAft>
                <a:spcPct val="0"/>
              </a:spcAft>
              <a:defRPr sz="2000">
                <a:solidFill>
                  <a:srgbClr val="FFFFFF"/>
                </a:solidFill>
                <a:latin typeface="Times New Roman" pitchFamily="18" charset="0"/>
              </a:defRPr>
            </a:lvl8pPr>
            <a:lvl9pPr marL="3886200" indent="-228600" eaLnBrk="0" fontAlgn="base" hangingPunct="0">
              <a:spcBef>
                <a:spcPct val="0"/>
              </a:spcBef>
              <a:spcAft>
                <a:spcPct val="0"/>
              </a:spcAft>
              <a:defRPr sz="2000">
                <a:solidFill>
                  <a:srgbClr val="FFFFFF"/>
                </a:solidFill>
                <a:latin typeface="Times New Roman" pitchFamily="18" charset="0"/>
              </a:defRPr>
            </a:lvl9pPr>
          </a:lstStyle>
          <a:p>
            <a:pPr eaLnBrk="1" hangingPunct="1">
              <a:defRPr/>
            </a:pPr>
            <a:r>
              <a:rPr lang="en-US" sz="600" dirty="0">
                <a:solidFill>
                  <a:srgbClr val="222222"/>
                </a:solidFill>
                <a:latin typeface="Arial" charset="0"/>
              </a:rPr>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58646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en-US" dirty="0"/>
              <a:t>Objectives</a:t>
            </a:r>
          </a:p>
        </p:txBody>
      </p:sp>
      <p:sp>
        <p:nvSpPr>
          <p:cNvPr id="6149" name="Rectangle 3"/>
          <p:cNvSpPr>
            <a:spLocks noGrp="1" noChangeArrowheads="1"/>
          </p:cNvSpPr>
          <p:nvPr>
            <p:ph type="body" idx="1"/>
          </p:nvPr>
        </p:nvSpPr>
        <p:spPr>
          <a:xfrm>
            <a:off x="2641600" y="2942670"/>
            <a:ext cx="6172200" cy="2149819"/>
          </a:xfrm>
        </p:spPr>
        <p:txBody>
          <a:bodyPr/>
          <a:lstStyle/>
          <a:p>
            <a:pPr marL="0" indent="0">
              <a:buFontTx/>
              <a:buNone/>
              <a:defRPr/>
            </a:pPr>
            <a:r>
              <a:rPr lang="en-US" dirty="0"/>
              <a:t>After completing this chapter, you will be able </a:t>
            </a:r>
            <a:r>
              <a:rPr lang="en-US" dirty="0" smtClean="0"/>
              <a:t>to (cont’d):</a:t>
            </a:r>
            <a:endParaRPr lang="en-US" dirty="0"/>
          </a:p>
          <a:p>
            <a:pPr>
              <a:defRPr/>
            </a:pPr>
            <a:r>
              <a:rPr lang="en-US" dirty="0" smtClean="0"/>
              <a:t>Discuss why it is critical for business objectives and IS activities to be well aligned through system planning, development, and acquisition</a:t>
            </a:r>
          </a:p>
          <a:p>
            <a:pPr>
              <a:defRPr/>
            </a:pPr>
            <a:r>
              <a:rPr lang="en-US" dirty="0" smtClean="0"/>
              <a:t>Identify several major IT security threats as well as some of the legal, social, and ethical issues associated with information systems</a:t>
            </a:r>
            <a:endParaRPr lang="en-US" dirty="0"/>
          </a:p>
        </p:txBody>
      </p:sp>
      <p:sp>
        <p:nvSpPr>
          <p:cNvPr id="7173" name="Footer Placeholder 21"/>
          <p:cNvSpPr>
            <a:spLocks noGrp="1"/>
          </p:cNvSpPr>
          <p:nvPr>
            <p:ph type="ftr" sz="quarter" idx="10"/>
          </p:nvPr>
        </p:nvSpPr>
        <p:spPr>
          <a:extLst/>
        </p:spPr>
        <p:txBody>
          <a:bodyPr/>
          <a:lstStyle>
            <a:lvl1pPr eaLnBrk="0" hangingPunct="0">
              <a:defRPr sz="2000">
                <a:solidFill>
                  <a:srgbClr val="FFFFFF"/>
                </a:solidFill>
                <a:latin typeface="Times New Roman" pitchFamily="18" charset="0"/>
              </a:defRPr>
            </a:lvl1pPr>
            <a:lvl2pPr marL="742950" indent="-285750" eaLnBrk="0" hangingPunct="0">
              <a:defRPr sz="2000">
                <a:solidFill>
                  <a:srgbClr val="FFFFFF"/>
                </a:solidFill>
                <a:latin typeface="Times New Roman" pitchFamily="18" charset="0"/>
              </a:defRPr>
            </a:lvl2pPr>
            <a:lvl3pPr marL="1143000" indent="-228600" eaLnBrk="0" hangingPunct="0">
              <a:defRPr sz="2000">
                <a:solidFill>
                  <a:srgbClr val="FFFFFF"/>
                </a:solidFill>
                <a:latin typeface="Times New Roman" pitchFamily="18" charset="0"/>
              </a:defRPr>
            </a:lvl3pPr>
            <a:lvl4pPr marL="1600200" indent="-228600" eaLnBrk="0" hangingPunct="0">
              <a:defRPr sz="2000">
                <a:solidFill>
                  <a:srgbClr val="FFFFFF"/>
                </a:solidFill>
                <a:latin typeface="Times New Roman" pitchFamily="18" charset="0"/>
              </a:defRPr>
            </a:lvl4pPr>
            <a:lvl5pPr marL="2057400" indent="-228600" eaLnBrk="0" hangingPunct="0">
              <a:defRPr sz="2000">
                <a:solidFill>
                  <a:srgbClr val="FFFFFF"/>
                </a:solidFill>
                <a:latin typeface="Times New Roman" pitchFamily="18" charset="0"/>
              </a:defRPr>
            </a:lvl5pPr>
            <a:lvl6pPr marL="2514600" indent="-228600" eaLnBrk="0" fontAlgn="base" hangingPunct="0">
              <a:spcBef>
                <a:spcPct val="0"/>
              </a:spcBef>
              <a:spcAft>
                <a:spcPct val="0"/>
              </a:spcAft>
              <a:defRPr sz="2000">
                <a:solidFill>
                  <a:srgbClr val="FFFFFF"/>
                </a:solidFill>
                <a:latin typeface="Times New Roman" pitchFamily="18" charset="0"/>
              </a:defRPr>
            </a:lvl6pPr>
            <a:lvl7pPr marL="2971800" indent="-228600" eaLnBrk="0" fontAlgn="base" hangingPunct="0">
              <a:spcBef>
                <a:spcPct val="0"/>
              </a:spcBef>
              <a:spcAft>
                <a:spcPct val="0"/>
              </a:spcAft>
              <a:defRPr sz="2000">
                <a:solidFill>
                  <a:srgbClr val="FFFFFF"/>
                </a:solidFill>
                <a:latin typeface="Times New Roman" pitchFamily="18" charset="0"/>
              </a:defRPr>
            </a:lvl7pPr>
            <a:lvl8pPr marL="3429000" indent="-228600" eaLnBrk="0" fontAlgn="base" hangingPunct="0">
              <a:spcBef>
                <a:spcPct val="0"/>
              </a:spcBef>
              <a:spcAft>
                <a:spcPct val="0"/>
              </a:spcAft>
              <a:defRPr sz="2000">
                <a:solidFill>
                  <a:srgbClr val="FFFFFF"/>
                </a:solidFill>
                <a:latin typeface="Times New Roman" pitchFamily="18" charset="0"/>
              </a:defRPr>
            </a:lvl8pPr>
            <a:lvl9pPr marL="3886200" indent="-228600" eaLnBrk="0" fontAlgn="base" hangingPunct="0">
              <a:spcBef>
                <a:spcPct val="0"/>
              </a:spcBef>
              <a:spcAft>
                <a:spcPct val="0"/>
              </a:spcAft>
              <a:defRPr sz="2000">
                <a:solidFill>
                  <a:srgbClr val="FFFFFF"/>
                </a:solidFill>
                <a:latin typeface="Times New Roman" pitchFamily="18" charset="0"/>
              </a:defRPr>
            </a:lvl9pPr>
          </a:lstStyle>
          <a:p>
            <a:pPr eaLnBrk="1" hangingPunct="1">
              <a:defRPr/>
            </a:pPr>
            <a:r>
              <a:rPr lang="en-US" sz="600" dirty="0">
                <a:solidFill>
                  <a:srgbClr val="222222"/>
                </a:solidFill>
                <a:latin typeface="Arial" charset="0"/>
              </a:rPr>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11267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dirty="0"/>
              <a:t>An Introduction to Information Systems</a:t>
            </a:r>
          </a:p>
        </p:txBody>
      </p:sp>
      <p:sp>
        <p:nvSpPr>
          <p:cNvPr id="13315" name="Content Placeholder 2"/>
          <p:cNvSpPr>
            <a:spLocks noGrp="1"/>
          </p:cNvSpPr>
          <p:nvPr>
            <p:ph idx="1"/>
          </p:nvPr>
        </p:nvSpPr>
        <p:spPr>
          <a:xfrm>
            <a:off x="533400" y="1543050"/>
            <a:ext cx="8077200" cy="4572000"/>
          </a:xfrm>
        </p:spPr>
        <p:txBody>
          <a:bodyPr/>
          <a:lstStyle/>
          <a:p>
            <a:r>
              <a:rPr lang="en-US" altLang="en-US" dirty="0"/>
              <a:t>Information </a:t>
            </a:r>
          </a:p>
          <a:p>
            <a:pPr lvl="1"/>
            <a:r>
              <a:rPr lang="en-US" altLang="en-US" dirty="0"/>
              <a:t>One of an organization’s most valuable resources </a:t>
            </a:r>
          </a:p>
          <a:p>
            <a:pPr lvl="1"/>
            <a:r>
              <a:rPr lang="en-US" altLang="en-US" dirty="0"/>
              <a:t>Often confused with the term data</a:t>
            </a:r>
          </a:p>
          <a:p>
            <a:endParaRPr lang="en-US" altLang="en-US" dirty="0"/>
          </a:p>
          <a:p>
            <a:endParaRPr lang="en-US" altLang="en-US" dirty="0"/>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669039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altLang="en-US" dirty="0"/>
              <a:t>Data, Information, and Knowledge</a:t>
            </a:r>
          </a:p>
        </p:txBody>
      </p:sp>
      <p:sp>
        <p:nvSpPr>
          <p:cNvPr id="15363" name="Content Placeholder 2"/>
          <p:cNvSpPr>
            <a:spLocks noGrp="1"/>
          </p:cNvSpPr>
          <p:nvPr>
            <p:ph idx="1"/>
          </p:nvPr>
        </p:nvSpPr>
        <p:spPr>
          <a:xfrm>
            <a:off x="365125" y="1538818"/>
            <a:ext cx="8415338" cy="4051878"/>
          </a:xfrm>
        </p:spPr>
        <p:txBody>
          <a:bodyPr/>
          <a:lstStyle/>
          <a:p>
            <a:r>
              <a:rPr lang="en-US" altLang="en-US" dirty="0"/>
              <a:t>Data: raw facts</a:t>
            </a:r>
          </a:p>
          <a:p>
            <a:r>
              <a:rPr lang="en-US" altLang="en-US" dirty="0"/>
              <a:t>Information: collection of data organized in such a way that they have value beyond the facts themselves</a:t>
            </a:r>
          </a:p>
          <a:p>
            <a:r>
              <a:rPr lang="en-US" altLang="en-US" dirty="0"/>
              <a:t>Process: set of logically related tasks  performed to achieve a defined outcome</a:t>
            </a:r>
          </a:p>
          <a:p>
            <a:pPr lvl="1"/>
            <a:r>
              <a:rPr lang="en-US" altLang="en-US" dirty="0"/>
              <a:t>Turning data into information is a </a:t>
            </a:r>
            <a:r>
              <a:rPr lang="en-US" altLang="en-US" dirty="0" smtClean="0"/>
              <a:t>process</a:t>
            </a:r>
          </a:p>
          <a:p>
            <a:r>
              <a:rPr lang="en-US" altLang="en-US" dirty="0"/>
              <a:t>Knowledge: awareness and understanding of a set of information and the ways it can be made useful to support a task</a:t>
            </a:r>
          </a:p>
          <a:p>
            <a:pPr lvl="1"/>
            <a:r>
              <a:rPr lang="en-US" altLang="en-US" dirty="0"/>
              <a:t>The process of defining relationships among data to create useful information requires knowledge</a:t>
            </a:r>
          </a:p>
          <a:p>
            <a:endParaRPr lang="en-US" altLang="en-US" dirty="0"/>
          </a:p>
          <a:p>
            <a:endParaRPr lang="en-US" altLang="en-US" dirty="0"/>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17139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altLang="en-US" dirty="0"/>
              <a:t>Data, Information, and Knowledge</a:t>
            </a:r>
          </a:p>
        </p:txBody>
      </p:sp>
      <p:pic>
        <p:nvPicPr>
          <p:cNvPr id="6" name="Content Placeholder 5" descr="Types of data" title="Table 1.1"/>
          <p:cNvPicPr>
            <a:picLocks noGrp="1" noChangeAspect="1"/>
          </p:cNvPicPr>
          <p:nvPr>
            <p:ph idx="1"/>
          </p:nvPr>
        </p:nvPicPr>
        <p:blipFill>
          <a:blip r:embed="rId3"/>
          <a:stretch>
            <a:fillRect/>
          </a:stretch>
        </p:blipFill>
        <p:spPr>
          <a:xfrm>
            <a:off x="1147763" y="2590800"/>
            <a:ext cx="6848475" cy="2076450"/>
          </a:xfrm>
        </p:spPr>
      </p:pic>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345461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ltLang="en-US" dirty="0"/>
              <a:t>Data, Information, and Knowledge</a:t>
            </a:r>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pic>
        <p:nvPicPr>
          <p:cNvPr id="7" name="Content Placeholder 6" descr="Process of transforming data into information" title="Figure 1.1"/>
          <p:cNvPicPr>
            <a:picLocks noGrp="1" noChangeAspect="1"/>
          </p:cNvPicPr>
          <p:nvPr>
            <p:ph idx="1"/>
          </p:nvPr>
        </p:nvPicPr>
        <p:blipFill>
          <a:blip r:embed="rId3"/>
          <a:stretch>
            <a:fillRect/>
          </a:stretch>
        </p:blipFill>
        <p:spPr>
          <a:xfrm>
            <a:off x="1125538" y="1608138"/>
            <a:ext cx="6891337" cy="4565650"/>
          </a:xfrm>
        </p:spPr>
      </p:pic>
    </p:spTree>
    <p:extLst>
      <p:ext uri="{BB962C8B-B14F-4D97-AF65-F5344CB8AC3E}">
        <p14:creationId xmlns:p14="http://schemas.microsoft.com/office/powerpoint/2010/main" val="519955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ltLang="en-US" dirty="0"/>
              <a:t>The Value of Information</a:t>
            </a:r>
          </a:p>
        </p:txBody>
      </p:sp>
      <p:sp>
        <p:nvSpPr>
          <p:cNvPr id="21507" name="Content Placeholder 2"/>
          <p:cNvSpPr>
            <a:spLocks noGrp="1"/>
          </p:cNvSpPr>
          <p:nvPr>
            <p:ph idx="1"/>
          </p:nvPr>
        </p:nvSpPr>
        <p:spPr/>
        <p:txBody>
          <a:bodyPr/>
          <a:lstStyle/>
          <a:p>
            <a:r>
              <a:rPr lang="en-US" altLang="en-US" dirty="0"/>
              <a:t>Valuable information helps people perform tasks more efficiently and effectively</a:t>
            </a:r>
          </a:p>
          <a:p>
            <a:pPr lvl="1"/>
            <a:r>
              <a:rPr lang="en-US" altLang="en-US" dirty="0"/>
              <a:t>Inaccurate data can result in loss of potential new customers and reduced customer satisfaction</a:t>
            </a:r>
          </a:p>
          <a:p>
            <a:endParaRPr lang="en-US" altLang="en-US" dirty="0"/>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10746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altLang="en-US" dirty="0"/>
              <a:t>Characteristics of Quality Information</a:t>
            </a:r>
          </a:p>
        </p:txBody>
      </p:sp>
      <p:sp>
        <p:nvSpPr>
          <p:cNvPr id="22531" name="Content Placeholder 2"/>
          <p:cNvSpPr>
            <a:spLocks noGrp="1"/>
          </p:cNvSpPr>
          <p:nvPr>
            <p:ph idx="1"/>
          </p:nvPr>
        </p:nvSpPr>
        <p:spPr/>
        <p:txBody>
          <a:bodyPr/>
          <a:lstStyle/>
          <a:p>
            <a:r>
              <a:rPr lang="en-US" altLang="en-US" dirty="0"/>
              <a:t>If an organization’s information is not accurate or complete:</a:t>
            </a:r>
          </a:p>
          <a:p>
            <a:pPr lvl="1"/>
            <a:r>
              <a:rPr lang="en-US" altLang="en-US" dirty="0"/>
              <a:t>People can make poor decisions, costing thousands, or even millions, of dollars</a:t>
            </a:r>
          </a:p>
          <a:p>
            <a:r>
              <a:rPr lang="en-US" altLang="en-US" dirty="0"/>
              <a:t>Depending on the type of data you need:</a:t>
            </a:r>
          </a:p>
          <a:p>
            <a:pPr lvl="1"/>
            <a:r>
              <a:rPr lang="en-US" altLang="en-US" dirty="0"/>
              <a:t>Some characteristics become more important than others</a:t>
            </a:r>
          </a:p>
          <a:p>
            <a:r>
              <a:rPr lang="en-US" altLang="en-US" dirty="0"/>
              <a:t>Accuracy and completeness are critical for data used in accounting for the management of company assets</a:t>
            </a:r>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37856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altLang="en-US" dirty="0"/>
              <a:t>What is an Information System?</a:t>
            </a:r>
          </a:p>
        </p:txBody>
      </p:sp>
      <p:sp>
        <p:nvSpPr>
          <p:cNvPr id="23555" name="Content Placeholder 2"/>
          <p:cNvSpPr>
            <a:spLocks noGrp="1"/>
          </p:cNvSpPr>
          <p:nvPr>
            <p:ph idx="1"/>
          </p:nvPr>
        </p:nvSpPr>
        <p:spPr>
          <a:xfrm>
            <a:off x="365125" y="1538818"/>
            <a:ext cx="8415338" cy="5306068"/>
          </a:xfrm>
        </p:spPr>
        <p:txBody>
          <a:bodyPr/>
          <a:lstStyle/>
          <a:p>
            <a:r>
              <a:rPr lang="en-US" altLang="en-US" dirty="0"/>
              <a:t>An information system (IS) is a set of interrelated elements that: </a:t>
            </a:r>
          </a:p>
          <a:p>
            <a:pPr lvl="1"/>
            <a:r>
              <a:rPr lang="en-US" altLang="en-US" dirty="0"/>
              <a:t>Collect (input)</a:t>
            </a:r>
          </a:p>
          <a:p>
            <a:pPr lvl="1"/>
            <a:r>
              <a:rPr lang="en-US" altLang="en-US" dirty="0"/>
              <a:t>Process</a:t>
            </a:r>
          </a:p>
          <a:p>
            <a:pPr lvl="1"/>
            <a:r>
              <a:rPr lang="en-US" altLang="en-US" dirty="0"/>
              <a:t>Store</a:t>
            </a:r>
          </a:p>
          <a:p>
            <a:pPr lvl="1"/>
            <a:r>
              <a:rPr lang="en-US" altLang="en-US" dirty="0"/>
              <a:t>Disseminate data and information</a:t>
            </a:r>
          </a:p>
          <a:p>
            <a:pPr lvl="1"/>
            <a:r>
              <a:rPr lang="en-US" altLang="en-US" dirty="0"/>
              <a:t>Provides a feedback mechanism to monitor and control its operation to make sure it continues to meet its goals and objectives</a:t>
            </a:r>
          </a:p>
          <a:p>
            <a:r>
              <a:rPr lang="en-US" altLang="en-US" dirty="0"/>
              <a:t>A computer-based information system (CBIS) is a single set of hardware, software, databases, networks, people, and procedures</a:t>
            </a:r>
          </a:p>
          <a:p>
            <a:pPr lvl="1"/>
            <a:r>
              <a:rPr lang="en-US" altLang="en-US" dirty="0"/>
              <a:t>That are configured to collect, manipulate, store, and process data into information</a:t>
            </a:r>
          </a:p>
          <a:p>
            <a:r>
              <a:rPr lang="en-US" altLang="en-US" dirty="0"/>
              <a:t>An organization’s technology infrastructure includes all the hardware, software, databases, networks, people, and procedures </a:t>
            </a:r>
          </a:p>
          <a:p>
            <a:pPr lvl="1"/>
            <a:r>
              <a:rPr lang="en-US" altLang="en-US" dirty="0"/>
              <a:t>That are configured to collect, manipulate, store, and process data into information</a:t>
            </a:r>
          </a:p>
          <a:p>
            <a:endParaRPr lang="en-US" altLang="en-US" dirty="0"/>
          </a:p>
          <a:p>
            <a:endParaRPr lang="en-US" altLang="en-US" dirty="0"/>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583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ltLang="en-US" dirty="0"/>
              <a:t>What is an Information System?</a:t>
            </a:r>
          </a:p>
        </p:txBody>
      </p:sp>
      <p:pic>
        <p:nvPicPr>
          <p:cNvPr id="25603" name="Content Placeholder 5" descr="Components of a computer-based information system" title="Figure 1.2"/>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1371600" y="1524000"/>
            <a:ext cx="6457950" cy="4572000"/>
          </a:xfrm>
        </p:spPr>
      </p:pic>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125538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ltLang="en-US" dirty="0"/>
              <a:t>What is an Information System?</a:t>
            </a:r>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26629" name="Content Placeholder 2"/>
          <p:cNvSpPr>
            <a:spLocks noGrp="1"/>
          </p:cNvSpPr>
          <p:nvPr>
            <p:ph idx="1"/>
          </p:nvPr>
        </p:nvSpPr>
        <p:spPr/>
        <p:txBody>
          <a:bodyPr/>
          <a:lstStyle/>
          <a:p>
            <a:r>
              <a:rPr lang="en-US" altLang="en-US" dirty="0"/>
              <a:t>Procedure defines the steps to follow to achieve a specific end result</a:t>
            </a:r>
          </a:p>
          <a:p>
            <a:pPr lvl="1"/>
            <a:r>
              <a:rPr lang="en-US" altLang="en-US" dirty="0"/>
              <a:t>Such as enter a customer order, pay a supplier invoice, or request a current inventory report</a:t>
            </a:r>
          </a:p>
          <a:p>
            <a:r>
              <a:rPr lang="en-US" altLang="en-US" dirty="0"/>
              <a:t>Using a CBIS involves setting and following many procedures, including those for the</a:t>
            </a:r>
          </a:p>
          <a:p>
            <a:pPr lvl="1"/>
            <a:r>
              <a:rPr lang="en-US" altLang="en-US" dirty="0"/>
              <a:t>Operation, maintenance, and security of the system</a:t>
            </a:r>
          </a:p>
        </p:txBody>
      </p:sp>
    </p:spTree>
    <p:extLst>
      <p:ext uri="{BB962C8B-B14F-4D97-AF65-F5344CB8AC3E}">
        <p14:creationId xmlns:p14="http://schemas.microsoft.com/office/powerpoint/2010/main" val="704859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altLang="en-US" dirty="0"/>
              <a:t>Information Systems in Organizations</a:t>
            </a:r>
          </a:p>
        </p:txBody>
      </p:sp>
      <p:sp>
        <p:nvSpPr>
          <p:cNvPr id="27651" name="Content Placeholder 2"/>
          <p:cNvSpPr>
            <a:spLocks noGrp="1"/>
          </p:cNvSpPr>
          <p:nvPr>
            <p:ph idx="1"/>
          </p:nvPr>
        </p:nvSpPr>
        <p:spPr/>
        <p:txBody>
          <a:bodyPr/>
          <a:lstStyle/>
          <a:p>
            <a:r>
              <a:rPr lang="en-US" altLang="en-US" dirty="0"/>
              <a:t>Information systems can be divided into three types:</a:t>
            </a:r>
          </a:p>
          <a:p>
            <a:pPr lvl="1"/>
            <a:r>
              <a:rPr lang="en-US" altLang="en-US" dirty="0"/>
              <a:t>Personal IS – includes information systems that improve the productivity of individual users</a:t>
            </a:r>
          </a:p>
          <a:p>
            <a:pPr lvl="1"/>
            <a:r>
              <a:rPr lang="en-US" altLang="en-US" dirty="0"/>
              <a:t>Group IS –includes information systems that improve communications and support collaboration among members of a workgroup</a:t>
            </a:r>
          </a:p>
          <a:p>
            <a:pPr lvl="1"/>
            <a:r>
              <a:rPr lang="en-US" altLang="en-US" dirty="0"/>
              <a:t>Enterprise IS – includes information systems that organizations use to define structured interactions among their own employees and/or external  customers, suppliers, government agencies, etc…</a:t>
            </a:r>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568651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altLang="en-US" dirty="0"/>
              <a:t>Information Systems in Organizations</a:t>
            </a:r>
          </a:p>
        </p:txBody>
      </p:sp>
      <p:sp>
        <p:nvSpPr>
          <p:cNvPr id="28675" name="Content Placeholder 2"/>
          <p:cNvSpPr>
            <a:spLocks noGrp="1"/>
          </p:cNvSpPr>
          <p:nvPr>
            <p:ph idx="1"/>
          </p:nvPr>
        </p:nvSpPr>
        <p:spPr/>
        <p:txBody>
          <a:bodyPr/>
          <a:lstStyle/>
          <a:p>
            <a:r>
              <a:rPr lang="en-US" altLang="en-US" dirty="0"/>
              <a:t>For each type of IS, certain key organizational complements must be in place:</a:t>
            </a:r>
          </a:p>
          <a:p>
            <a:pPr lvl="1"/>
            <a:r>
              <a:rPr lang="en-US" altLang="en-US" dirty="0"/>
              <a:t>Well-trained workers</a:t>
            </a:r>
          </a:p>
          <a:p>
            <a:pPr lvl="1"/>
            <a:r>
              <a:rPr lang="en-US" altLang="en-US" dirty="0"/>
              <a:t>System support</a:t>
            </a:r>
          </a:p>
          <a:p>
            <a:pPr lvl="1"/>
            <a:r>
              <a:rPr lang="en-US" altLang="en-US" dirty="0"/>
              <a:t>Better teamwork</a:t>
            </a:r>
          </a:p>
          <a:p>
            <a:pPr lvl="1"/>
            <a:r>
              <a:rPr lang="en-US" altLang="en-US" dirty="0"/>
              <a:t>Redesigned processes</a:t>
            </a:r>
          </a:p>
          <a:p>
            <a:pPr lvl="1"/>
            <a:r>
              <a:rPr lang="en-US" altLang="en-US" dirty="0"/>
              <a:t>New decision rights</a:t>
            </a:r>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375184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altLang="en-US" dirty="0"/>
              <a:t>Information Systems in Organizations</a:t>
            </a:r>
          </a:p>
        </p:txBody>
      </p:sp>
      <p:pic>
        <p:nvPicPr>
          <p:cNvPr id="6" name="Content Placeholder 5" descr="Examples and characteristics of each type of information system" title="Table 1-3"/>
          <p:cNvPicPr>
            <a:picLocks noGrp="1" noChangeAspect="1"/>
          </p:cNvPicPr>
          <p:nvPr>
            <p:ph idx="1"/>
          </p:nvPr>
        </p:nvPicPr>
        <p:blipFill>
          <a:blip r:embed="rId3"/>
          <a:stretch>
            <a:fillRect/>
          </a:stretch>
        </p:blipFill>
        <p:spPr>
          <a:xfrm>
            <a:off x="833438" y="1838325"/>
            <a:ext cx="7477125" cy="3952875"/>
          </a:xfrm>
        </p:spPr>
      </p:pic>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149673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altLang="en-US" dirty="0"/>
              <a:t>Hardware and Mobile Devices</a:t>
            </a:r>
          </a:p>
        </p:txBody>
      </p:sp>
      <p:sp>
        <p:nvSpPr>
          <p:cNvPr id="30723" name="Content Placeholder 2"/>
          <p:cNvSpPr>
            <a:spLocks noGrp="1"/>
          </p:cNvSpPr>
          <p:nvPr>
            <p:ph idx="1"/>
          </p:nvPr>
        </p:nvSpPr>
        <p:spPr/>
        <p:txBody>
          <a:bodyPr/>
          <a:lstStyle/>
          <a:p>
            <a:r>
              <a:rPr lang="en-US" altLang="en-US" dirty="0"/>
              <a:t>Hardware</a:t>
            </a:r>
          </a:p>
          <a:p>
            <a:pPr lvl="1"/>
            <a:r>
              <a:rPr lang="en-US" altLang="en-US" dirty="0"/>
              <a:t>Consists of computer equipment used to perform input, processing, storage, and output activities</a:t>
            </a:r>
          </a:p>
          <a:p>
            <a:r>
              <a:rPr lang="en-US" altLang="en-US" dirty="0"/>
              <a:t>A trend in the industry is to produce smaller, faster, and more mobile hardware</a:t>
            </a:r>
          </a:p>
          <a:p>
            <a:r>
              <a:rPr lang="en-US" altLang="en-US" dirty="0"/>
              <a:t>Innovative new hardware devices include:</a:t>
            </a:r>
          </a:p>
          <a:p>
            <a:pPr lvl="1"/>
            <a:r>
              <a:rPr lang="en-US" altLang="en-US" dirty="0"/>
              <a:t>Advanced keyboards</a:t>
            </a:r>
          </a:p>
          <a:p>
            <a:pPr lvl="1"/>
            <a:r>
              <a:rPr lang="en-US" altLang="en-US" dirty="0"/>
              <a:t>Laptops and displays that connect wirelessly</a:t>
            </a:r>
          </a:p>
          <a:p>
            <a:pPr lvl="1"/>
            <a:r>
              <a:rPr lang="en-US" altLang="en-US" dirty="0"/>
              <a:t>Embedded 3D cameras</a:t>
            </a:r>
          </a:p>
          <a:p>
            <a:pPr lvl="1"/>
            <a:r>
              <a:rPr lang="en-US" altLang="en-US" dirty="0"/>
              <a:t>Very-high resolution display devices</a:t>
            </a:r>
          </a:p>
          <a:p>
            <a:endParaRPr lang="en-US" altLang="en-US" dirty="0"/>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06986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altLang="en-US" dirty="0"/>
              <a:t>Software and Mobile Applications</a:t>
            </a:r>
          </a:p>
        </p:txBody>
      </p:sp>
      <p:sp>
        <p:nvSpPr>
          <p:cNvPr id="31747" name="Content Placeholder 2"/>
          <p:cNvSpPr>
            <a:spLocks noGrp="1"/>
          </p:cNvSpPr>
          <p:nvPr>
            <p:ph idx="1"/>
          </p:nvPr>
        </p:nvSpPr>
        <p:spPr/>
        <p:txBody>
          <a:bodyPr/>
          <a:lstStyle/>
          <a:p>
            <a:r>
              <a:rPr lang="en-US" altLang="en-US" dirty="0"/>
              <a:t>Software</a:t>
            </a:r>
          </a:p>
          <a:p>
            <a:pPr lvl="1"/>
            <a:r>
              <a:rPr lang="en-US" altLang="en-US" dirty="0"/>
              <a:t>Consists of the computer programs that govern the operation of a particular computing device</a:t>
            </a:r>
          </a:p>
          <a:p>
            <a:r>
              <a:rPr lang="en-US" altLang="en-US" dirty="0"/>
              <a:t>Two types of software:</a:t>
            </a:r>
          </a:p>
          <a:p>
            <a:pPr lvl="1"/>
            <a:r>
              <a:rPr lang="en-US" altLang="en-US" dirty="0"/>
              <a:t>System software – oversee basic computer operations such as start-up, controls access to system resources, and manages memory and files</a:t>
            </a:r>
          </a:p>
          <a:p>
            <a:pPr lvl="1"/>
            <a:r>
              <a:rPr lang="en-US" altLang="en-US" dirty="0"/>
              <a:t>Application software – allows you to accomplish specific tasks, including editing text documents, creating graphs, and playing games</a:t>
            </a:r>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231518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ltLang="en-US" dirty="0"/>
              <a:t>Software and Mobile Applications</a:t>
            </a:r>
          </a:p>
        </p:txBody>
      </p:sp>
      <p:sp>
        <p:nvSpPr>
          <p:cNvPr id="32771" name="Content Placeholder 2"/>
          <p:cNvSpPr>
            <a:spLocks noGrp="1"/>
          </p:cNvSpPr>
          <p:nvPr>
            <p:ph idx="1"/>
          </p:nvPr>
        </p:nvSpPr>
        <p:spPr/>
        <p:txBody>
          <a:bodyPr/>
          <a:lstStyle/>
          <a:p>
            <a:r>
              <a:rPr lang="en-US" altLang="en-US" dirty="0"/>
              <a:t>Business application software</a:t>
            </a:r>
          </a:p>
          <a:p>
            <a:pPr lvl="1"/>
            <a:r>
              <a:rPr lang="en-US" altLang="en-US" dirty="0"/>
              <a:t>Can be categorized by whether it is intended to be used by an individual, a small business, or a large multinational enterprise</a:t>
            </a:r>
          </a:p>
          <a:p>
            <a:r>
              <a:rPr lang="en-US" altLang="en-US" dirty="0"/>
              <a:t>Consumerization of IT</a:t>
            </a:r>
          </a:p>
          <a:p>
            <a:pPr lvl="1"/>
            <a:r>
              <a:rPr lang="en-US" altLang="en-US" dirty="0"/>
              <a:t>The trend of consumer technology practices influencing the way business software is designed and delivered</a:t>
            </a:r>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517248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altLang="en-US" dirty="0"/>
              <a:t>Database Systems and Big Data</a:t>
            </a:r>
          </a:p>
        </p:txBody>
      </p:sp>
      <p:sp>
        <p:nvSpPr>
          <p:cNvPr id="33795" name="Content Placeholder 2"/>
          <p:cNvSpPr>
            <a:spLocks noGrp="1"/>
          </p:cNvSpPr>
          <p:nvPr>
            <p:ph idx="1"/>
          </p:nvPr>
        </p:nvSpPr>
        <p:spPr/>
        <p:txBody>
          <a:bodyPr/>
          <a:lstStyle/>
          <a:p>
            <a:r>
              <a:rPr lang="en-US" altLang="en-US" dirty="0"/>
              <a:t>Database</a:t>
            </a:r>
          </a:p>
          <a:p>
            <a:pPr lvl="1"/>
            <a:r>
              <a:rPr lang="en-US" altLang="en-US" dirty="0"/>
              <a:t>An organized collection of facts and information, typically consisting of two or more related data files</a:t>
            </a:r>
          </a:p>
          <a:p>
            <a:pPr lvl="1"/>
            <a:r>
              <a:rPr lang="en-US" altLang="en-US" dirty="0"/>
              <a:t>Can contain facts and information on customers, employees, inventory, sales, online purchases, etc…</a:t>
            </a:r>
          </a:p>
          <a:p>
            <a:r>
              <a:rPr lang="en-US" altLang="en-US" dirty="0"/>
              <a:t>Data warehouse</a:t>
            </a:r>
          </a:p>
          <a:p>
            <a:pPr lvl="1"/>
            <a:r>
              <a:rPr lang="en-US" altLang="en-US" dirty="0"/>
              <a:t>A database that stores large amounts of historical data in a form that readily supports analysis and management decision making</a:t>
            </a:r>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9626949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altLang="en-US" dirty="0"/>
              <a:t>Database Systems and Big Data</a:t>
            </a:r>
          </a:p>
        </p:txBody>
      </p:sp>
      <p:pic>
        <p:nvPicPr>
          <p:cNvPr id="6" name="Content Placeholder 5" descr="Sample of marketing databases used to generate sales leads" title="Table 1-4"/>
          <p:cNvPicPr>
            <a:picLocks noGrp="1" noChangeAspect="1"/>
          </p:cNvPicPr>
          <p:nvPr>
            <p:ph idx="1"/>
          </p:nvPr>
        </p:nvPicPr>
        <p:blipFill>
          <a:blip r:embed="rId3"/>
          <a:stretch>
            <a:fillRect/>
          </a:stretch>
        </p:blipFill>
        <p:spPr>
          <a:xfrm>
            <a:off x="890588" y="2438400"/>
            <a:ext cx="7362825" cy="2486025"/>
          </a:xfrm>
        </p:spPr>
      </p:pic>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87043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altLang="en-US" dirty="0"/>
              <a:t>Database Systems and Big Data</a:t>
            </a:r>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35845" name="Content Placeholder 2"/>
          <p:cNvSpPr>
            <a:spLocks noGrp="1"/>
          </p:cNvSpPr>
          <p:nvPr>
            <p:ph idx="1"/>
          </p:nvPr>
        </p:nvSpPr>
        <p:spPr>
          <a:xfrm>
            <a:off x="365125" y="1538818"/>
            <a:ext cx="8415338" cy="2208297"/>
          </a:xfrm>
        </p:spPr>
        <p:txBody>
          <a:bodyPr/>
          <a:lstStyle/>
          <a:p>
            <a:r>
              <a:rPr lang="en-US" altLang="en-US" dirty="0"/>
              <a:t>Extract-transform-lead (ETL) process</a:t>
            </a:r>
          </a:p>
          <a:p>
            <a:pPr lvl="1"/>
            <a:r>
              <a:rPr lang="en-US" altLang="en-US" dirty="0"/>
              <a:t>Raw data is extracted from various sources, transformed into a format that will support </a:t>
            </a:r>
            <a:r>
              <a:rPr lang="en-US" altLang="en-US" dirty="0" smtClean="0"/>
              <a:t>analysis, </a:t>
            </a:r>
            <a:r>
              <a:rPr lang="en-US" altLang="en-US" dirty="0"/>
              <a:t>and then loaded into the data warehouse</a:t>
            </a:r>
          </a:p>
          <a:p>
            <a:r>
              <a:rPr lang="en-US" altLang="en-US" dirty="0"/>
              <a:t>Big data</a:t>
            </a:r>
          </a:p>
          <a:p>
            <a:pPr lvl="1"/>
            <a:r>
              <a:rPr lang="en-US" altLang="en-US" dirty="0"/>
              <a:t>A term used to describe data collections that are so enormous that traditional data management software, hardware, and analysis processes are incapable of dealing with them</a:t>
            </a:r>
          </a:p>
        </p:txBody>
      </p:sp>
    </p:spTree>
    <p:extLst>
      <p:ext uri="{BB962C8B-B14F-4D97-AF65-F5344CB8AC3E}">
        <p14:creationId xmlns:p14="http://schemas.microsoft.com/office/powerpoint/2010/main" val="10623599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altLang="en-US" dirty="0"/>
              <a:t>Database Systems and Big Data</a:t>
            </a:r>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pic>
        <p:nvPicPr>
          <p:cNvPr id="6" name="Content Placeholder 5" descr="The size of the digital universe (zettabytes) doubles every two years" title="Figure 1-4"/>
          <p:cNvPicPr>
            <a:picLocks noGrp="1" noChangeAspect="1"/>
          </p:cNvPicPr>
          <p:nvPr>
            <p:ph idx="1"/>
          </p:nvPr>
        </p:nvPicPr>
        <p:blipFill>
          <a:blip r:embed="rId3"/>
          <a:stretch>
            <a:fillRect/>
          </a:stretch>
        </p:blipFill>
        <p:spPr>
          <a:xfrm>
            <a:off x="1038225" y="2419350"/>
            <a:ext cx="7067550" cy="3086100"/>
          </a:xfrm>
        </p:spPr>
      </p:pic>
    </p:spTree>
    <p:extLst>
      <p:ext uri="{BB962C8B-B14F-4D97-AF65-F5344CB8AC3E}">
        <p14:creationId xmlns:p14="http://schemas.microsoft.com/office/powerpoint/2010/main" val="23787365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altLang="en-US" dirty="0"/>
              <a:t>Networks and Cloud Computing</a:t>
            </a:r>
          </a:p>
        </p:txBody>
      </p:sp>
      <p:sp>
        <p:nvSpPr>
          <p:cNvPr id="37891" name="Content Placeholder 2"/>
          <p:cNvSpPr>
            <a:spLocks noGrp="1"/>
          </p:cNvSpPr>
          <p:nvPr>
            <p:ph idx="1"/>
          </p:nvPr>
        </p:nvSpPr>
        <p:spPr/>
        <p:txBody>
          <a:bodyPr/>
          <a:lstStyle/>
          <a:p>
            <a:r>
              <a:rPr lang="en-US" altLang="en-US" dirty="0"/>
              <a:t>Networks</a:t>
            </a:r>
          </a:p>
          <a:p>
            <a:pPr lvl="1"/>
            <a:r>
              <a:rPr lang="en-US" altLang="en-US" dirty="0"/>
              <a:t>Connect computers and equipment in a room, building, campus, city, or globally to enable electronic communication</a:t>
            </a:r>
          </a:p>
          <a:p>
            <a:r>
              <a:rPr lang="en-US" altLang="en-US" dirty="0"/>
              <a:t>Internet</a:t>
            </a:r>
          </a:p>
          <a:p>
            <a:pPr lvl="1"/>
            <a:r>
              <a:rPr lang="en-US" altLang="en-US" dirty="0"/>
              <a:t>World’s largest computer network</a:t>
            </a:r>
          </a:p>
          <a:p>
            <a:r>
              <a:rPr lang="en-US" altLang="en-US" dirty="0"/>
              <a:t>Public cloud computing</a:t>
            </a:r>
          </a:p>
          <a:p>
            <a:pPr lvl="1"/>
            <a:r>
              <a:rPr lang="en-US" altLang="en-US" dirty="0"/>
              <a:t>A service provider organization owns and manages the hardware, software, networking, and storage devices in order to provide shared resources to users via the Internet</a:t>
            </a:r>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748954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altLang="en-US" dirty="0"/>
              <a:t>Networks and Cloud Computing</a:t>
            </a:r>
          </a:p>
        </p:txBody>
      </p:sp>
      <p:sp>
        <p:nvSpPr>
          <p:cNvPr id="38915" name="Content Placeholder 2"/>
          <p:cNvSpPr>
            <a:spLocks noGrp="1"/>
          </p:cNvSpPr>
          <p:nvPr>
            <p:ph idx="1"/>
          </p:nvPr>
        </p:nvSpPr>
        <p:spPr/>
        <p:txBody>
          <a:bodyPr/>
          <a:lstStyle/>
          <a:p>
            <a:r>
              <a:rPr lang="en-US" altLang="en-US" dirty="0"/>
              <a:t>Intranet</a:t>
            </a:r>
          </a:p>
          <a:p>
            <a:pPr lvl="1"/>
            <a:r>
              <a:rPr lang="en-US" altLang="en-US" dirty="0"/>
              <a:t>Enable communication, collaboration, search functions, and information sharing between member of an organization using a Web browser</a:t>
            </a:r>
          </a:p>
          <a:p>
            <a:r>
              <a:rPr lang="en-US" altLang="en-US" dirty="0"/>
              <a:t>Extranet</a:t>
            </a:r>
          </a:p>
          <a:p>
            <a:pPr lvl="1"/>
            <a:r>
              <a:rPr lang="en-US" altLang="en-US" dirty="0"/>
              <a:t>A network based on Web technologies that allows selected outsiders to access authorized resources of a company’s intranet</a:t>
            </a:r>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180293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altLang="en-US" dirty="0"/>
              <a:t>Networks and Cloud Computing</a:t>
            </a:r>
          </a:p>
        </p:txBody>
      </p:sp>
      <p:pic>
        <p:nvPicPr>
          <p:cNvPr id="6" name="Content Placeholder 5" descr="When you sign into the FedEx site to check the status of a package, you are using an extranet" title="Figure 1-5"/>
          <p:cNvPicPr>
            <a:picLocks noGrp="1" noChangeAspect="1"/>
          </p:cNvPicPr>
          <p:nvPr>
            <p:ph idx="1"/>
          </p:nvPr>
        </p:nvPicPr>
        <p:blipFill>
          <a:blip r:embed="rId3"/>
          <a:stretch>
            <a:fillRect/>
          </a:stretch>
        </p:blipFill>
        <p:spPr>
          <a:xfrm>
            <a:off x="795338" y="2281238"/>
            <a:ext cx="7553325" cy="3362325"/>
          </a:xfrm>
        </p:spPr>
      </p:pic>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442388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altLang="en-US" dirty="0"/>
              <a:t>Networks and Cloud Computing</a:t>
            </a:r>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40965" name="Content Placeholder 2"/>
          <p:cNvSpPr>
            <a:spLocks noGrp="1"/>
          </p:cNvSpPr>
          <p:nvPr>
            <p:ph idx="1"/>
          </p:nvPr>
        </p:nvSpPr>
        <p:spPr/>
        <p:txBody>
          <a:bodyPr/>
          <a:lstStyle/>
          <a:p>
            <a:r>
              <a:rPr lang="en-US" altLang="en-US" dirty="0"/>
              <a:t>Internet of Things (IoT)</a:t>
            </a:r>
          </a:p>
          <a:p>
            <a:pPr lvl="1"/>
            <a:r>
              <a:rPr lang="en-US" altLang="en-US" dirty="0"/>
              <a:t>A network of physical objects embedded with sensors, processors, software, and network connectivity capability to enable them to exchange data with the manufacturer of the device, device operators, and other connected devices</a:t>
            </a:r>
          </a:p>
          <a:p>
            <a:r>
              <a:rPr lang="en-US" altLang="en-US" dirty="0"/>
              <a:t>Internet of Everything (IoE)</a:t>
            </a:r>
          </a:p>
          <a:p>
            <a:pPr lvl="1"/>
            <a:r>
              <a:rPr lang="en-US" altLang="en-US" dirty="0"/>
              <a:t>Encompasses not only machine-to-machine but also people-to-people and people-to-machine connections</a:t>
            </a:r>
          </a:p>
        </p:txBody>
      </p:sp>
    </p:spTree>
    <p:extLst>
      <p:ext uri="{BB962C8B-B14F-4D97-AF65-F5344CB8AC3E}">
        <p14:creationId xmlns:p14="http://schemas.microsoft.com/office/powerpoint/2010/main" val="26763975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US" altLang="en-US" dirty="0"/>
              <a:t>Networks and Cloud Computing</a:t>
            </a:r>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pic>
        <p:nvPicPr>
          <p:cNvPr id="6" name="Content Placeholder 5" descr="Growth of Internet of Everything (IoE)" title="Figure 1-6"/>
          <p:cNvPicPr>
            <a:picLocks noGrp="1" noChangeAspect="1"/>
          </p:cNvPicPr>
          <p:nvPr>
            <p:ph idx="1"/>
          </p:nvPr>
        </p:nvPicPr>
        <p:blipFill>
          <a:blip r:embed="rId3"/>
          <a:stretch>
            <a:fillRect/>
          </a:stretch>
        </p:blipFill>
        <p:spPr>
          <a:xfrm>
            <a:off x="1009650" y="2543175"/>
            <a:ext cx="7124700" cy="2838450"/>
          </a:xfrm>
        </p:spPr>
      </p:pic>
    </p:spTree>
    <p:extLst>
      <p:ext uri="{BB962C8B-B14F-4D97-AF65-F5344CB8AC3E}">
        <p14:creationId xmlns:p14="http://schemas.microsoft.com/office/powerpoint/2010/main" val="42080533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r>
              <a:rPr lang="en-US" altLang="en-US" dirty="0"/>
              <a:t>Business Information Systems</a:t>
            </a:r>
          </a:p>
        </p:txBody>
      </p:sp>
      <p:sp>
        <p:nvSpPr>
          <p:cNvPr id="43011" name="Content Placeholder 2"/>
          <p:cNvSpPr>
            <a:spLocks noGrp="1"/>
          </p:cNvSpPr>
          <p:nvPr>
            <p:ph idx="1"/>
          </p:nvPr>
        </p:nvSpPr>
        <p:spPr/>
        <p:txBody>
          <a:bodyPr/>
          <a:lstStyle/>
          <a:p>
            <a:r>
              <a:rPr lang="en-US" altLang="en-US" dirty="0"/>
              <a:t>Information systems are used in all functional areas of business organizations, such as:</a:t>
            </a:r>
          </a:p>
          <a:p>
            <a:pPr lvl="1"/>
            <a:r>
              <a:rPr lang="en-US" altLang="en-US" dirty="0"/>
              <a:t>Accounting and finance</a:t>
            </a:r>
          </a:p>
          <a:p>
            <a:pPr lvl="1"/>
            <a:r>
              <a:rPr lang="en-US" altLang="en-US" dirty="0"/>
              <a:t>Customer service</a:t>
            </a:r>
          </a:p>
          <a:p>
            <a:pPr lvl="1"/>
            <a:r>
              <a:rPr lang="en-US" altLang="en-US" dirty="0"/>
              <a:t>Human resources</a:t>
            </a:r>
          </a:p>
          <a:p>
            <a:pPr lvl="1"/>
            <a:r>
              <a:rPr lang="en-US" altLang="en-US" dirty="0"/>
              <a:t>Manufacturing</a:t>
            </a:r>
          </a:p>
          <a:p>
            <a:pPr lvl="1"/>
            <a:r>
              <a:rPr lang="en-US" altLang="en-US" dirty="0"/>
              <a:t>Research and development</a:t>
            </a:r>
          </a:p>
          <a:p>
            <a:pPr lvl="1"/>
            <a:r>
              <a:rPr lang="en-US" altLang="en-US" dirty="0"/>
              <a:t>Sales and marketing</a:t>
            </a:r>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377553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r>
              <a:rPr lang="en-US" altLang="en-US" dirty="0"/>
              <a:t>Business Information Systems</a:t>
            </a:r>
          </a:p>
        </p:txBody>
      </p:sp>
      <p:sp>
        <p:nvSpPr>
          <p:cNvPr id="44035" name="Content Placeholder 2"/>
          <p:cNvSpPr>
            <a:spLocks noGrp="1"/>
          </p:cNvSpPr>
          <p:nvPr>
            <p:ph idx="1"/>
          </p:nvPr>
        </p:nvSpPr>
        <p:spPr/>
        <p:txBody>
          <a:bodyPr/>
          <a:lstStyle/>
          <a:p>
            <a:r>
              <a:rPr lang="en-US" altLang="en-US" dirty="0"/>
              <a:t>Information systems are also used in nearly every industry, such as:</a:t>
            </a:r>
          </a:p>
          <a:p>
            <a:pPr lvl="1"/>
            <a:r>
              <a:rPr lang="en-US" altLang="en-US" dirty="0"/>
              <a:t>Agriculture</a:t>
            </a:r>
          </a:p>
          <a:p>
            <a:pPr lvl="1"/>
            <a:r>
              <a:rPr lang="en-US" altLang="en-US" dirty="0"/>
              <a:t>Finance</a:t>
            </a:r>
          </a:p>
          <a:p>
            <a:pPr lvl="1"/>
            <a:r>
              <a:rPr lang="en-US" altLang="en-US" dirty="0"/>
              <a:t>Health care</a:t>
            </a:r>
          </a:p>
          <a:p>
            <a:pPr lvl="1"/>
            <a:r>
              <a:rPr lang="en-US" altLang="en-US" dirty="0"/>
              <a:t>Mining</a:t>
            </a:r>
          </a:p>
          <a:p>
            <a:pPr lvl="1"/>
            <a:r>
              <a:rPr lang="en-US" altLang="en-US" dirty="0"/>
              <a:t>Professional services</a:t>
            </a:r>
          </a:p>
          <a:p>
            <a:pPr lvl="1"/>
            <a:r>
              <a:rPr lang="en-US" altLang="en-US" dirty="0"/>
              <a:t>Retail</a:t>
            </a:r>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089966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US" altLang="en-US" dirty="0"/>
              <a:t>Electronic and Mobile Commerce</a:t>
            </a:r>
          </a:p>
        </p:txBody>
      </p:sp>
      <p:sp>
        <p:nvSpPr>
          <p:cNvPr id="45059" name="Content Placeholder 2"/>
          <p:cNvSpPr>
            <a:spLocks noGrp="1"/>
          </p:cNvSpPr>
          <p:nvPr>
            <p:ph idx="1"/>
          </p:nvPr>
        </p:nvSpPr>
        <p:spPr/>
        <p:txBody>
          <a:bodyPr/>
          <a:lstStyle/>
          <a:p>
            <a:r>
              <a:rPr lang="en-US" altLang="en-US" dirty="0"/>
              <a:t>E-commerce involves the exchange of money for goods and services over electronic networks</a:t>
            </a:r>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pic>
        <p:nvPicPr>
          <p:cNvPr id="45062"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5257800"/>
            <a:ext cx="2181225"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The scope of e-commerce" title="Figure 1-8"/>
          <p:cNvPicPr>
            <a:picLocks noChangeAspect="1"/>
          </p:cNvPicPr>
          <p:nvPr/>
        </p:nvPicPr>
        <p:blipFill>
          <a:blip r:embed="rId4"/>
          <a:stretch>
            <a:fillRect/>
          </a:stretch>
        </p:blipFill>
        <p:spPr>
          <a:xfrm>
            <a:off x="3087688" y="2590800"/>
            <a:ext cx="4030662" cy="3733800"/>
          </a:xfrm>
          <a:prstGeom prst="rect">
            <a:avLst/>
          </a:prstGeom>
        </p:spPr>
      </p:pic>
    </p:spTree>
    <p:extLst>
      <p:ext uri="{BB962C8B-B14F-4D97-AF65-F5344CB8AC3E}">
        <p14:creationId xmlns:p14="http://schemas.microsoft.com/office/powerpoint/2010/main" val="9097254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altLang="en-US" dirty="0"/>
              <a:t>Electronic and Mobile Commerce</a:t>
            </a:r>
          </a:p>
        </p:txBody>
      </p:sp>
      <p:pic>
        <p:nvPicPr>
          <p:cNvPr id="8" name="Content Placeholder 7" descr="Benefits of e-commerce" title="Table 1-6"/>
          <p:cNvPicPr>
            <a:picLocks noGrp="1" noChangeAspect="1"/>
          </p:cNvPicPr>
          <p:nvPr>
            <p:ph idx="1"/>
          </p:nvPr>
        </p:nvPicPr>
        <p:blipFill>
          <a:blip r:embed="rId3"/>
          <a:stretch>
            <a:fillRect/>
          </a:stretch>
        </p:blipFill>
        <p:spPr>
          <a:xfrm>
            <a:off x="1065213" y="1828800"/>
            <a:ext cx="7013575" cy="3500438"/>
          </a:xfrm>
        </p:spPr>
      </p:pic>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9947075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altLang="en-US" dirty="0"/>
              <a:t>Electronic and Mobile Commerce</a:t>
            </a:r>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49157" name="Content Placeholder 2"/>
          <p:cNvSpPr>
            <a:spLocks noGrp="1"/>
          </p:cNvSpPr>
          <p:nvPr>
            <p:ph idx="1"/>
          </p:nvPr>
        </p:nvSpPr>
        <p:spPr/>
        <p:txBody>
          <a:bodyPr/>
          <a:lstStyle/>
          <a:p>
            <a:r>
              <a:rPr lang="en-US" altLang="en-US" dirty="0"/>
              <a:t>Mobile commerce (m-commerce): the use of mobile, wireless devices to place orders and conduct business</a:t>
            </a:r>
          </a:p>
          <a:p>
            <a:pPr lvl="1"/>
            <a:r>
              <a:rPr lang="en-US" altLang="en-US" dirty="0"/>
              <a:t>Used to support all forms of e-commerce:</a:t>
            </a:r>
          </a:p>
          <a:p>
            <a:pPr lvl="2"/>
            <a:r>
              <a:rPr lang="en-US" altLang="en-US" dirty="0"/>
              <a:t>Business-to-business (B2B)</a:t>
            </a:r>
          </a:p>
          <a:p>
            <a:pPr lvl="2"/>
            <a:r>
              <a:rPr lang="en-US" altLang="en-US" dirty="0"/>
              <a:t>Business-to-consumer (B2C)</a:t>
            </a:r>
          </a:p>
          <a:p>
            <a:pPr lvl="2"/>
            <a:r>
              <a:rPr lang="en-US" altLang="en-US" dirty="0"/>
              <a:t>Consumer-to-consumer (C2C)</a:t>
            </a:r>
          </a:p>
          <a:p>
            <a:pPr lvl="2"/>
            <a:r>
              <a:rPr lang="en-US" altLang="en-US" dirty="0"/>
              <a:t>Government-to-citizen (G2C)</a:t>
            </a:r>
          </a:p>
          <a:p>
            <a:r>
              <a:rPr lang="en-US" altLang="en-US" dirty="0"/>
              <a:t>E-business: use of information systems and the Internet to perform business-related tasks and functions</a:t>
            </a:r>
          </a:p>
          <a:p>
            <a:endParaRPr lang="en-US" altLang="en-US" dirty="0"/>
          </a:p>
        </p:txBody>
      </p:sp>
    </p:spTree>
    <p:extLst>
      <p:ext uri="{BB962C8B-B14F-4D97-AF65-F5344CB8AC3E}">
        <p14:creationId xmlns:p14="http://schemas.microsoft.com/office/powerpoint/2010/main" val="36928131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altLang="en-US" dirty="0"/>
              <a:t>Enterprise Systems</a:t>
            </a:r>
          </a:p>
        </p:txBody>
      </p:sp>
      <p:sp>
        <p:nvSpPr>
          <p:cNvPr id="51203" name="Content Placeholder 2"/>
          <p:cNvSpPr>
            <a:spLocks noGrp="1"/>
          </p:cNvSpPr>
          <p:nvPr>
            <p:ph idx="1"/>
          </p:nvPr>
        </p:nvSpPr>
        <p:spPr>
          <a:xfrm>
            <a:off x="365125" y="1538818"/>
            <a:ext cx="8415338" cy="4275016"/>
          </a:xfrm>
        </p:spPr>
        <p:txBody>
          <a:bodyPr/>
          <a:lstStyle/>
          <a:p>
            <a:r>
              <a:rPr lang="en-US" altLang="en-US" dirty="0"/>
              <a:t>Transaction </a:t>
            </a:r>
          </a:p>
          <a:p>
            <a:pPr lvl="1"/>
            <a:r>
              <a:rPr lang="en-US" altLang="en-US" dirty="0"/>
              <a:t>Any business-related exchange, such as payments to employees and suppliers and sales to customers  </a:t>
            </a:r>
          </a:p>
          <a:p>
            <a:r>
              <a:rPr lang="en-US" altLang="en-US" dirty="0"/>
              <a:t>Transaction processing system (TPS)</a:t>
            </a:r>
          </a:p>
          <a:p>
            <a:pPr lvl="1"/>
            <a:r>
              <a:rPr lang="en-US" altLang="en-US" dirty="0"/>
              <a:t>An organized collection of people, procedures, software, databases, and devices</a:t>
            </a:r>
          </a:p>
          <a:p>
            <a:pPr lvl="1"/>
            <a:r>
              <a:rPr lang="en-US" altLang="en-US" dirty="0"/>
              <a:t>Used to perform and record completed business transactions</a:t>
            </a:r>
          </a:p>
          <a:p>
            <a:r>
              <a:rPr lang="en-US" altLang="en-US" dirty="0"/>
              <a:t>Management information system (MIS) </a:t>
            </a:r>
          </a:p>
          <a:p>
            <a:pPr lvl="1"/>
            <a:r>
              <a:rPr lang="en-US" altLang="en-US" dirty="0"/>
              <a:t>Organized collection of people, procedures, software, databases, and devices </a:t>
            </a:r>
          </a:p>
          <a:p>
            <a:pPr lvl="1"/>
            <a:r>
              <a:rPr lang="en-US" altLang="en-US" dirty="0"/>
              <a:t>Provides routine information to managers and decision makers</a:t>
            </a:r>
          </a:p>
          <a:p>
            <a:pPr lvl="1"/>
            <a:r>
              <a:rPr lang="en-US" altLang="en-US" dirty="0"/>
              <a:t>Focuses on operational efficiency</a:t>
            </a:r>
          </a:p>
          <a:p>
            <a:pPr lvl="1"/>
            <a:r>
              <a:rPr lang="en-US" altLang="en-US" dirty="0"/>
              <a:t>Provides standard reports generated with data and information from the TPS or ERP</a:t>
            </a:r>
          </a:p>
          <a:p>
            <a:endParaRPr lang="en-US" altLang="en-US" dirty="0"/>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635819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r>
              <a:rPr lang="en-US" altLang="en-US" dirty="0"/>
              <a:t>Enterprise Systems</a:t>
            </a:r>
          </a:p>
        </p:txBody>
      </p:sp>
      <p:pic>
        <p:nvPicPr>
          <p:cNvPr id="53251" name="Content Placeholder 5" descr="TPS and MIS" title="Figure 1-9"/>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852488" y="2590800"/>
            <a:ext cx="7439025" cy="2181225"/>
          </a:xfrm>
        </p:spPr>
      </p:pic>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160472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r>
              <a:rPr lang="en-US" altLang="en-US" dirty="0"/>
              <a:t>Enterprise Systems</a:t>
            </a:r>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4277" name="Content Placeholder 2"/>
          <p:cNvSpPr>
            <a:spLocks noGrp="1"/>
          </p:cNvSpPr>
          <p:nvPr>
            <p:ph idx="1"/>
          </p:nvPr>
        </p:nvSpPr>
        <p:spPr/>
        <p:txBody>
          <a:bodyPr/>
          <a:lstStyle/>
          <a:p>
            <a:r>
              <a:rPr lang="en-US" altLang="en-US" dirty="0"/>
              <a:t>Enterprise resource planning (ERP)</a:t>
            </a:r>
          </a:p>
          <a:p>
            <a:pPr lvl="1"/>
            <a:r>
              <a:rPr lang="en-US" altLang="en-US" dirty="0"/>
              <a:t>A set of integrated programs  </a:t>
            </a:r>
          </a:p>
          <a:p>
            <a:pPr lvl="1"/>
            <a:r>
              <a:rPr lang="en-US" altLang="en-US" dirty="0"/>
              <a:t>Manages the vital business operations for an entire multisite, global organization</a:t>
            </a:r>
          </a:p>
          <a:p>
            <a:r>
              <a:rPr lang="en-US" altLang="en-US" dirty="0"/>
              <a:t>Most ERP systems provide integrated software to support manufacturing and finance</a:t>
            </a:r>
          </a:p>
          <a:p>
            <a:pPr lvl="1"/>
            <a:r>
              <a:rPr lang="en-US" altLang="en-US" dirty="0"/>
              <a:t>Also provide support for business analytics and e-business</a:t>
            </a:r>
          </a:p>
          <a:p>
            <a:endParaRPr lang="en-US" altLang="en-US" dirty="0"/>
          </a:p>
        </p:txBody>
      </p:sp>
    </p:spTree>
    <p:extLst>
      <p:ext uri="{BB962C8B-B14F-4D97-AF65-F5344CB8AC3E}">
        <p14:creationId xmlns:p14="http://schemas.microsoft.com/office/powerpoint/2010/main" val="27898126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lstStyle/>
          <a:p>
            <a:r>
              <a:rPr lang="en-US" altLang="en-US" dirty="0"/>
              <a:t>Enterprise Systems</a:t>
            </a:r>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pic>
        <p:nvPicPr>
          <p:cNvPr id="55301" name="Content Placeholder 5" descr="Primary components of an ERP system for a manufacturing organization" title="Table 1-7"/>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2251075" y="1524000"/>
            <a:ext cx="4641850" cy="4572000"/>
          </a:xfrm>
        </p:spPr>
      </p:pic>
    </p:spTree>
    <p:extLst>
      <p:ext uri="{BB962C8B-B14F-4D97-AF65-F5344CB8AC3E}">
        <p14:creationId xmlns:p14="http://schemas.microsoft.com/office/powerpoint/2010/main" val="786804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r>
              <a:rPr lang="en-US" altLang="en-US" dirty="0"/>
              <a:t>Enterprise Systems</a:t>
            </a:r>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6325" name="Content Placeholder 2"/>
          <p:cNvSpPr>
            <a:spLocks noGrp="1"/>
          </p:cNvSpPr>
          <p:nvPr>
            <p:ph idx="1"/>
          </p:nvPr>
        </p:nvSpPr>
        <p:spPr/>
        <p:txBody>
          <a:bodyPr/>
          <a:lstStyle/>
          <a:p>
            <a:r>
              <a:rPr lang="en-US" altLang="en-US" dirty="0"/>
              <a:t>ERP system benefits:</a:t>
            </a:r>
          </a:p>
          <a:p>
            <a:pPr lvl="1"/>
            <a:r>
              <a:rPr lang="en-US" altLang="en-US" dirty="0"/>
              <a:t>Provide a global view of operational/planning data</a:t>
            </a:r>
          </a:p>
          <a:p>
            <a:pPr lvl="1"/>
            <a:r>
              <a:rPr lang="en-US" altLang="en-US" dirty="0"/>
              <a:t>Lower the cost of doing business</a:t>
            </a:r>
          </a:p>
          <a:p>
            <a:pPr lvl="1"/>
            <a:r>
              <a:rPr lang="en-US" altLang="en-US" dirty="0"/>
              <a:t>Ensure compliance</a:t>
            </a:r>
          </a:p>
          <a:p>
            <a:pPr lvl="1"/>
            <a:r>
              <a:rPr lang="en-US" altLang="en-US" dirty="0"/>
              <a:t>Automate core business operations</a:t>
            </a:r>
          </a:p>
          <a:p>
            <a:pPr lvl="1"/>
            <a:r>
              <a:rPr lang="en-US" altLang="en-US" dirty="0"/>
              <a:t>Improve customer service</a:t>
            </a:r>
          </a:p>
          <a:p>
            <a:pPr lvl="1"/>
            <a:r>
              <a:rPr lang="en-US" altLang="en-US" dirty="0"/>
              <a:t>Reduce time to market by sharing evolving product data</a:t>
            </a:r>
          </a:p>
        </p:txBody>
      </p:sp>
    </p:spTree>
    <p:extLst>
      <p:ext uri="{BB962C8B-B14F-4D97-AF65-F5344CB8AC3E}">
        <p14:creationId xmlns:p14="http://schemas.microsoft.com/office/powerpoint/2010/main" val="42313967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lstStyle/>
          <a:p>
            <a:r>
              <a:rPr lang="en-US" altLang="en-US" dirty="0"/>
              <a:t>Business Intelligence and Analytics</a:t>
            </a:r>
          </a:p>
        </p:txBody>
      </p:sp>
      <p:sp>
        <p:nvSpPr>
          <p:cNvPr id="57347" name="Content Placeholder 2"/>
          <p:cNvSpPr>
            <a:spLocks noGrp="1"/>
          </p:cNvSpPr>
          <p:nvPr>
            <p:ph idx="1"/>
          </p:nvPr>
        </p:nvSpPr>
        <p:spPr/>
        <p:txBody>
          <a:bodyPr/>
          <a:lstStyle/>
          <a:p>
            <a:r>
              <a:rPr lang="en-US" altLang="en-US" dirty="0"/>
              <a:t>Business intelligence (BI)</a:t>
            </a:r>
          </a:p>
          <a:p>
            <a:pPr lvl="1"/>
            <a:r>
              <a:rPr lang="en-US" altLang="en-US" dirty="0"/>
              <a:t>Includes a wide range of applications, practices, and technologies for the extraction, transformation, integration, visualization, analysis, interpretation, and presentation of data to support improved decision making</a:t>
            </a:r>
          </a:p>
          <a:p>
            <a:r>
              <a:rPr lang="en-US" altLang="en-US" dirty="0"/>
              <a:t>Business analytics</a:t>
            </a:r>
          </a:p>
          <a:p>
            <a:pPr lvl="1"/>
            <a:r>
              <a:rPr lang="en-US" altLang="en-US" dirty="0"/>
              <a:t>The extensive use of data and quantitative analysis to support fact-based decision making within organizations</a:t>
            </a:r>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355582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p:txBody>
          <a:bodyPr/>
          <a:lstStyle/>
          <a:p>
            <a:r>
              <a:rPr lang="en-US" altLang="en-US" dirty="0"/>
              <a:t>Knowledge Management and Specialized Information Systems</a:t>
            </a:r>
          </a:p>
        </p:txBody>
      </p:sp>
      <p:sp>
        <p:nvSpPr>
          <p:cNvPr id="58371" name="Content Placeholder 2"/>
          <p:cNvSpPr>
            <a:spLocks noGrp="1"/>
          </p:cNvSpPr>
          <p:nvPr>
            <p:ph idx="1"/>
          </p:nvPr>
        </p:nvSpPr>
        <p:spPr>
          <a:xfrm>
            <a:off x="365125" y="1538818"/>
            <a:ext cx="8415338" cy="2494529"/>
          </a:xfrm>
        </p:spPr>
        <p:txBody>
          <a:bodyPr/>
          <a:lstStyle/>
          <a:p>
            <a:r>
              <a:rPr lang="en-US" altLang="en-US" dirty="0"/>
              <a:t>Knowledge management systems (KMSs)</a:t>
            </a:r>
          </a:p>
          <a:p>
            <a:pPr lvl="1"/>
            <a:r>
              <a:rPr lang="en-US" altLang="en-US" dirty="0"/>
              <a:t>An organized collection of people, procedures, software, databases, and devices that:</a:t>
            </a:r>
          </a:p>
          <a:p>
            <a:pPr lvl="2"/>
            <a:r>
              <a:rPr lang="en-US" altLang="en-US" dirty="0" smtClean="0"/>
              <a:t>Stores </a:t>
            </a:r>
            <a:r>
              <a:rPr lang="en-US" altLang="en-US" dirty="0"/>
              <a:t>and retrieves knowledge</a:t>
            </a:r>
          </a:p>
          <a:p>
            <a:pPr lvl="2"/>
            <a:r>
              <a:rPr lang="en-US" altLang="en-US" dirty="0"/>
              <a:t>Improves collaboration</a:t>
            </a:r>
          </a:p>
          <a:p>
            <a:pPr lvl="2"/>
            <a:r>
              <a:rPr lang="en-US" altLang="en-US" dirty="0"/>
              <a:t>Locates knowledge sources</a:t>
            </a:r>
          </a:p>
          <a:p>
            <a:pPr lvl="2"/>
            <a:r>
              <a:rPr lang="en-US" altLang="en-US" dirty="0"/>
              <a:t>Captures and uses knowledge</a:t>
            </a:r>
          </a:p>
          <a:p>
            <a:pPr lvl="2"/>
            <a:r>
              <a:rPr lang="en-US" altLang="en-US" dirty="0"/>
              <a:t>Enhances the knowledge management process</a:t>
            </a:r>
          </a:p>
          <a:p>
            <a:endParaRPr lang="en-US" altLang="en-US" dirty="0"/>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275839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r>
              <a:rPr lang="en-US" altLang="en-US" dirty="0"/>
              <a:t>Planning, Acquiring, and Building Systems</a:t>
            </a:r>
          </a:p>
        </p:txBody>
      </p:sp>
      <p:sp>
        <p:nvSpPr>
          <p:cNvPr id="59395" name="Content Placeholder 2"/>
          <p:cNvSpPr>
            <a:spLocks noGrp="1"/>
          </p:cNvSpPr>
          <p:nvPr>
            <p:ph idx="1"/>
          </p:nvPr>
        </p:nvSpPr>
        <p:spPr/>
        <p:txBody>
          <a:bodyPr/>
          <a:lstStyle/>
          <a:p>
            <a:r>
              <a:rPr lang="en-US" altLang="en-US" dirty="0"/>
              <a:t>Project</a:t>
            </a:r>
          </a:p>
          <a:p>
            <a:pPr lvl="1"/>
            <a:r>
              <a:rPr lang="en-US" altLang="en-US" dirty="0"/>
              <a:t>A temporary endeavor undertaken to create a unique product, service, or result</a:t>
            </a:r>
          </a:p>
          <a:p>
            <a:pPr lvl="1"/>
            <a:r>
              <a:rPr lang="en-US" altLang="en-US" dirty="0"/>
              <a:t>Attempts to achieve specific business objectives and is subject to certain constraints</a:t>
            </a:r>
          </a:p>
          <a:p>
            <a:pPr lvl="1"/>
            <a:r>
              <a:rPr lang="en-US" altLang="en-US" dirty="0"/>
              <a:t>They way much of an organization’s work gets done</a:t>
            </a:r>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708579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p:txBody>
          <a:bodyPr/>
          <a:lstStyle/>
          <a:p>
            <a:r>
              <a:rPr lang="en-US" altLang="en-US" dirty="0"/>
              <a:t>Strategic Planning and Project Management</a:t>
            </a:r>
          </a:p>
        </p:txBody>
      </p:sp>
      <p:sp>
        <p:nvSpPr>
          <p:cNvPr id="60419" name="Content Placeholder 2"/>
          <p:cNvSpPr>
            <a:spLocks noGrp="1"/>
          </p:cNvSpPr>
          <p:nvPr>
            <p:ph idx="1"/>
          </p:nvPr>
        </p:nvSpPr>
        <p:spPr/>
        <p:txBody>
          <a:bodyPr/>
          <a:lstStyle/>
          <a:p>
            <a:r>
              <a:rPr lang="en-US" altLang="en-US" dirty="0"/>
              <a:t>Strategic planning</a:t>
            </a:r>
          </a:p>
          <a:p>
            <a:pPr lvl="1"/>
            <a:r>
              <a:rPr lang="en-US" altLang="en-US" dirty="0"/>
              <a:t>Used to improve alignment between the needs of the business and the activities of the information systems organization</a:t>
            </a:r>
          </a:p>
          <a:p>
            <a:pPr lvl="1"/>
            <a:r>
              <a:rPr lang="en-US" altLang="en-US" dirty="0"/>
              <a:t>Alignment means that the IS organization and its resources are focused on efforts that support the key objectives defined in the strategic plan of business</a:t>
            </a:r>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360961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p:txBody>
          <a:bodyPr/>
          <a:lstStyle/>
          <a:p>
            <a:r>
              <a:rPr lang="en-US" altLang="en-US" dirty="0"/>
              <a:t>System Acquisition and Development</a:t>
            </a:r>
          </a:p>
        </p:txBody>
      </p:sp>
      <p:sp>
        <p:nvSpPr>
          <p:cNvPr id="61443" name="Content Placeholder 2"/>
          <p:cNvSpPr>
            <a:spLocks noGrp="1"/>
          </p:cNvSpPr>
          <p:nvPr>
            <p:ph idx="1"/>
          </p:nvPr>
        </p:nvSpPr>
        <p:spPr/>
        <p:txBody>
          <a:bodyPr/>
          <a:lstStyle/>
          <a:p>
            <a:r>
              <a:rPr lang="en-US" altLang="en-US" dirty="0"/>
              <a:t>System acquisition</a:t>
            </a:r>
          </a:p>
          <a:p>
            <a:pPr lvl="1"/>
            <a:r>
              <a:rPr lang="en-US" altLang="en-US" dirty="0"/>
              <a:t>Process used to obtain the information system resources needed to provide the services necessary to meet a specific set of needs</a:t>
            </a:r>
          </a:p>
          <a:p>
            <a:r>
              <a:rPr lang="en-US" altLang="en-US" dirty="0"/>
              <a:t>System development</a:t>
            </a:r>
          </a:p>
          <a:p>
            <a:pPr lvl="1"/>
            <a:r>
              <a:rPr lang="en-US" altLang="en-US" dirty="0"/>
              <a:t>The activity of building information systems to meet users’ needs</a:t>
            </a:r>
          </a:p>
          <a:p>
            <a:pPr lvl="1"/>
            <a:r>
              <a:rPr lang="en-US" altLang="en-US" dirty="0"/>
              <a:t>Projects can range from small to very large</a:t>
            </a:r>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615676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p:txBody>
          <a:bodyPr/>
          <a:lstStyle/>
          <a:p>
            <a:r>
              <a:rPr lang="en-US" altLang="en-US" dirty="0"/>
              <a:t>System Acquisition and Development</a:t>
            </a:r>
          </a:p>
        </p:txBody>
      </p:sp>
      <p:pic>
        <p:nvPicPr>
          <p:cNvPr id="62467" name="Content Placeholder 5" descr="Alternatives for meeting users' information system needs" title="Table 1-8"/>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828675" y="2133600"/>
            <a:ext cx="7486650" cy="3209925"/>
          </a:xfrm>
        </p:spPr>
      </p:pic>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303326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lstStyle/>
          <a:p>
            <a:r>
              <a:rPr lang="en-US" altLang="en-US" dirty="0"/>
              <a:t>Information Systems in Business and Society</a:t>
            </a:r>
          </a:p>
        </p:txBody>
      </p:sp>
      <p:sp>
        <p:nvSpPr>
          <p:cNvPr id="63491" name="Content Placeholder 2"/>
          <p:cNvSpPr>
            <a:spLocks noGrp="1"/>
          </p:cNvSpPr>
          <p:nvPr>
            <p:ph idx="1"/>
          </p:nvPr>
        </p:nvSpPr>
        <p:spPr/>
        <p:txBody>
          <a:bodyPr/>
          <a:lstStyle/>
          <a:p>
            <a:r>
              <a:rPr lang="en-US" altLang="en-US" dirty="0"/>
              <a:t>The speed and widespread use of information systems</a:t>
            </a:r>
          </a:p>
          <a:p>
            <a:pPr lvl="1"/>
            <a:r>
              <a:rPr lang="en-US" altLang="en-US" dirty="0"/>
              <a:t>Opens users to a variety of threats from unethical people</a:t>
            </a:r>
          </a:p>
          <a:p>
            <a:r>
              <a:rPr lang="en-US" altLang="en-US" dirty="0"/>
              <a:t>Computer-related attacks can come from individuals, groups, companies, and countries</a:t>
            </a:r>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472016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r>
              <a:rPr lang="en-US" altLang="en-US" dirty="0"/>
              <a:t>Cybercrime and Information System Security</a:t>
            </a:r>
          </a:p>
        </p:txBody>
      </p:sp>
      <p:sp>
        <p:nvSpPr>
          <p:cNvPr id="64515" name="Content Placeholder 2"/>
          <p:cNvSpPr>
            <a:spLocks noGrp="1"/>
          </p:cNvSpPr>
          <p:nvPr>
            <p:ph idx="1"/>
          </p:nvPr>
        </p:nvSpPr>
        <p:spPr/>
        <p:txBody>
          <a:bodyPr/>
          <a:lstStyle/>
          <a:p>
            <a:r>
              <a:rPr lang="en-US" altLang="en-US" dirty="0"/>
              <a:t>Cybercriminals</a:t>
            </a:r>
          </a:p>
          <a:p>
            <a:pPr lvl="1"/>
            <a:r>
              <a:rPr lang="en-US" altLang="en-US" dirty="0"/>
              <a:t>Motivated by the potential for monetary gain</a:t>
            </a:r>
          </a:p>
          <a:p>
            <a:pPr lvl="1"/>
            <a:r>
              <a:rPr lang="en-US" altLang="en-US" dirty="0"/>
              <a:t>Hack into computers systems to steal</a:t>
            </a:r>
          </a:p>
          <a:p>
            <a:r>
              <a:rPr lang="en-US" altLang="en-US" dirty="0"/>
              <a:t>Cyberterrorism</a:t>
            </a:r>
          </a:p>
          <a:p>
            <a:pPr lvl="1"/>
            <a:r>
              <a:rPr lang="en-US" altLang="en-US" dirty="0"/>
              <a:t>The intimidation of a government or a civilian population by using information technology to disable critical national infrastructure</a:t>
            </a:r>
          </a:p>
          <a:p>
            <a:pPr lvl="1"/>
            <a:r>
              <a:rPr lang="en-US" altLang="en-US" dirty="0"/>
              <a:t>To achieve political, religious, or ideological goals</a:t>
            </a:r>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68540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p:txBody>
          <a:bodyPr/>
          <a:lstStyle/>
          <a:p>
            <a:r>
              <a:rPr lang="en-US" altLang="en-US" dirty="0"/>
              <a:t>Cybercrime and Information System Security</a:t>
            </a:r>
          </a:p>
        </p:txBody>
      </p:sp>
      <p:pic>
        <p:nvPicPr>
          <p:cNvPr id="6" name="Content Placeholder 5" descr="Commonly occuring cybercrime incidences" title="Figure 1-13"/>
          <p:cNvPicPr>
            <a:picLocks noGrp="1" noChangeAspect="1"/>
          </p:cNvPicPr>
          <p:nvPr>
            <p:ph idx="1"/>
          </p:nvPr>
        </p:nvPicPr>
        <p:blipFill>
          <a:blip r:embed="rId3"/>
          <a:stretch>
            <a:fillRect/>
          </a:stretch>
        </p:blipFill>
        <p:spPr>
          <a:xfrm>
            <a:off x="1042988" y="2519363"/>
            <a:ext cx="7058025" cy="2886075"/>
          </a:xfrm>
        </p:spPr>
      </p:pic>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948568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r>
              <a:rPr lang="en-US" altLang="en-US" dirty="0"/>
              <a:t>Ethical, Legal, and Social Issues of Information Systems</a:t>
            </a:r>
          </a:p>
        </p:txBody>
      </p:sp>
      <p:sp>
        <p:nvSpPr>
          <p:cNvPr id="66563" name="Content Placeholder 2"/>
          <p:cNvSpPr>
            <a:spLocks noGrp="1"/>
          </p:cNvSpPr>
          <p:nvPr>
            <p:ph idx="1"/>
          </p:nvPr>
        </p:nvSpPr>
        <p:spPr/>
        <p:txBody>
          <a:bodyPr/>
          <a:lstStyle/>
          <a:p>
            <a:r>
              <a:rPr lang="en-US" altLang="en-US" dirty="0"/>
              <a:t>Ethics</a:t>
            </a:r>
          </a:p>
          <a:p>
            <a:pPr lvl="1"/>
            <a:r>
              <a:rPr lang="en-US" altLang="en-US" dirty="0"/>
              <a:t>A set of beliefs about right and wrong behavior</a:t>
            </a:r>
          </a:p>
          <a:p>
            <a:r>
              <a:rPr lang="en-US" altLang="en-US" dirty="0"/>
              <a:t>Ethical behavior</a:t>
            </a:r>
          </a:p>
          <a:p>
            <a:pPr lvl="1"/>
            <a:r>
              <a:rPr lang="en-US" altLang="en-US" dirty="0"/>
              <a:t>Conforms to generally accepted social norms</a:t>
            </a:r>
          </a:p>
          <a:p>
            <a:r>
              <a:rPr lang="en-US" altLang="en-US" dirty="0"/>
              <a:t>The use of information about people</a:t>
            </a:r>
          </a:p>
          <a:p>
            <a:pPr lvl="1"/>
            <a:r>
              <a:rPr lang="en-US" altLang="en-US" dirty="0"/>
              <a:t>Requires balancing the needs of those who want to use the information against the rights and desires of the people whose information may be used</a:t>
            </a:r>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237176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p:txBody>
          <a:bodyPr/>
          <a:lstStyle/>
          <a:p>
            <a:r>
              <a:rPr lang="en-US" altLang="en-US" dirty="0"/>
              <a:t>Ethical, Legal, and Social Issues of Information Systems</a:t>
            </a:r>
          </a:p>
        </p:txBody>
      </p:sp>
      <p:pic>
        <p:nvPicPr>
          <p:cNvPr id="67587" name="Content Placeholder 5" descr="Much information is being gathered about people" title="Figure 1-14"/>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1328738" y="1990725"/>
            <a:ext cx="6486525" cy="3943350"/>
          </a:xfrm>
        </p:spPr>
      </p:pic>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697313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r>
              <a:rPr lang="en-US" altLang="en-US" dirty="0"/>
              <a:t>Ethical, Legal, and Social Issues of Information Systems</a:t>
            </a:r>
          </a:p>
        </p:txBody>
      </p:sp>
      <p:sp>
        <p:nvSpPr>
          <p:cNvPr id="4" name="Footer Placeholder 3"/>
          <p:cNvSpPr>
            <a:spLocks noGrp="1"/>
          </p:cNvSpPr>
          <p:nvPr>
            <p:ph type="ftr" sz="quarter" idx="10"/>
          </p:nvPr>
        </p:nvSpPr>
        <p:spPr/>
        <p:txBody>
          <a:bodyPr/>
          <a:lstStyle/>
          <a:p>
            <a:pPr>
              <a:defRPr/>
            </a:pPr>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68613" name="Content Placeholder 2"/>
          <p:cNvSpPr>
            <a:spLocks noGrp="1"/>
          </p:cNvSpPr>
          <p:nvPr>
            <p:ph idx="1"/>
          </p:nvPr>
        </p:nvSpPr>
        <p:spPr/>
        <p:txBody>
          <a:bodyPr/>
          <a:lstStyle/>
          <a:p>
            <a:r>
              <a:rPr lang="en-US" altLang="en-US" dirty="0"/>
              <a:t>Internet censorship</a:t>
            </a:r>
          </a:p>
          <a:p>
            <a:pPr lvl="1"/>
            <a:r>
              <a:rPr lang="en-US" altLang="en-US" dirty="0"/>
              <a:t>The control or suppression of the publishing or accessing of information on the Internet</a:t>
            </a:r>
          </a:p>
          <a:p>
            <a:r>
              <a:rPr lang="en-US" altLang="en-US" dirty="0"/>
              <a:t>Digital divide</a:t>
            </a:r>
          </a:p>
          <a:p>
            <a:pPr lvl="1"/>
            <a:r>
              <a:rPr lang="en-US" altLang="en-US" dirty="0"/>
              <a:t>A term used to describe the gulf between those who do and those who don’t have access to modern information and communications technology</a:t>
            </a:r>
          </a:p>
          <a:p>
            <a:r>
              <a:rPr lang="en-US" altLang="en-US" dirty="0"/>
              <a:t>Net neutrality</a:t>
            </a:r>
          </a:p>
          <a:p>
            <a:pPr lvl="1"/>
            <a:r>
              <a:rPr lang="en-US" altLang="en-US" dirty="0"/>
              <a:t>The principle that Internet service providers (ISPs) should be required to treat all Internet traffic running over their networks the same</a:t>
            </a:r>
          </a:p>
        </p:txBody>
      </p:sp>
    </p:spTree>
    <p:extLst>
      <p:ext uri="{BB962C8B-B14F-4D97-AF65-F5344CB8AC3E}">
        <p14:creationId xmlns:p14="http://schemas.microsoft.com/office/powerpoint/2010/main" val="19769334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en-US" altLang="en-US" dirty="0"/>
              <a:t>Summary</a:t>
            </a:r>
          </a:p>
        </p:txBody>
      </p:sp>
      <p:sp>
        <p:nvSpPr>
          <p:cNvPr id="69635" name="Rectangle 3"/>
          <p:cNvSpPr>
            <a:spLocks noGrp="1" noChangeArrowheads="1"/>
          </p:cNvSpPr>
          <p:nvPr>
            <p:ph type="body" idx="1"/>
          </p:nvPr>
        </p:nvSpPr>
        <p:spPr/>
        <p:txBody>
          <a:bodyPr/>
          <a:lstStyle/>
          <a:p>
            <a:pPr eaLnBrk="1" hangingPunct="1"/>
            <a:r>
              <a:rPr lang="en-US" altLang="en-US" dirty="0"/>
              <a:t>The value of information is directly linked to how it helps decision makers achieve the organization’s goals</a:t>
            </a:r>
          </a:p>
          <a:p>
            <a:pPr eaLnBrk="1" hangingPunct="1"/>
            <a:r>
              <a:rPr lang="en-US" altLang="en-US" dirty="0"/>
              <a:t>Information systems are composed of fundamental components that must be carefully assembled and integrated to work well together</a:t>
            </a:r>
          </a:p>
          <a:p>
            <a:pPr eaLnBrk="1" hangingPunct="1"/>
            <a:r>
              <a:rPr lang="en-US" altLang="en-US" dirty="0"/>
              <a:t>Managers have an essential role to play in the successful implementation and use of information systems-that role changes depending on which type of IS system is being implemented</a:t>
            </a:r>
          </a:p>
        </p:txBody>
      </p:sp>
      <p:sp>
        <p:nvSpPr>
          <p:cNvPr id="46084" name="Rectangle 5"/>
          <p:cNvSpPr>
            <a:spLocks noGrp="1" noChangeArrowheads="1"/>
          </p:cNvSpPr>
          <p:nvPr>
            <p:ph type="ftr" sz="quarter" idx="10"/>
          </p:nvPr>
        </p:nvSpPr>
        <p:spPr>
          <a:extLst/>
        </p:spPr>
        <p:txBody>
          <a:bodyPr/>
          <a:lstStyle>
            <a:lvl1pPr eaLnBrk="0" hangingPunct="0">
              <a:defRPr sz="2000">
                <a:solidFill>
                  <a:srgbClr val="FFFFFF"/>
                </a:solidFill>
                <a:latin typeface="Times New Roman" pitchFamily="18" charset="0"/>
              </a:defRPr>
            </a:lvl1pPr>
            <a:lvl2pPr marL="742950" indent="-285750" eaLnBrk="0" hangingPunct="0">
              <a:defRPr sz="2000">
                <a:solidFill>
                  <a:srgbClr val="FFFFFF"/>
                </a:solidFill>
                <a:latin typeface="Times New Roman" pitchFamily="18" charset="0"/>
              </a:defRPr>
            </a:lvl2pPr>
            <a:lvl3pPr marL="1143000" indent="-228600" eaLnBrk="0" hangingPunct="0">
              <a:defRPr sz="2000">
                <a:solidFill>
                  <a:srgbClr val="FFFFFF"/>
                </a:solidFill>
                <a:latin typeface="Times New Roman" pitchFamily="18" charset="0"/>
              </a:defRPr>
            </a:lvl3pPr>
            <a:lvl4pPr marL="1600200" indent="-228600" eaLnBrk="0" hangingPunct="0">
              <a:defRPr sz="2000">
                <a:solidFill>
                  <a:srgbClr val="FFFFFF"/>
                </a:solidFill>
                <a:latin typeface="Times New Roman" pitchFamily="18" charset="0"/>
              </a:defRPr>
            </a:lvl4pPr>
            <a:lvl5pPr marL="2057400" indent="-228600" eaLnBrk="0" hangingPunct="0">
              <a:defRPr sz="2000">
                <a:solidFill>
                  <a:srgbClr val="FFFFFF"/>
                </a:solidFill>
                <a:latin typeface="Times New Roman" pitchFamily="18" charset="0"/>
              </a:defRPr>
            </a:lvl5pPr>
            <a:lvl6pPr marL="2514600" indent="-228600" eaLnBrk="0" fontAlgn="base" hangingPunct="0">
              <a:spcBef>
                <a:spcPct val="0"/>
              </a:spcBef>
              <a:spcAft>
                <a:spcPct val="0"/>
              </a:spcAft>
              <a:defRPr sz="2000">
                <a:solidFill>
                  <a:srgbClr val="FFFFFF"/>
                </a:solidFill>
                <a:latin typeface="Times New Roman" pitchFamily="18" charset="0"/>
              </a:defRPr>
            </a:lvl6pPr>
            <a:lvl7pPr marL="2971800" indent="-228600" eaLnBrk="0" fontAlgn="base" hangingPunct="0">
              <a:spcBef>
                <a:spcPct val="0"/>
              </a:spcBef>
              <a:spcAft>
                <a:spcPct val="0"/>
              </a:spcAft>
              <a:defRPr sz="2000">
                <a:solidFill>
                  <a:srgbClr val="FFFFFF"/>
                </a:solidFill>
                <a:latin typeface="Times New Roman" pitchFamily="18" charset="0"/>
              </a:defRPr>
            </a:lvl7pPr>
            <a:lvl8pPr marL="3429000" indent="-228600" eaLnBrk="0" fontAlgn="base" hangingPunct="0">
              <a:spcBef>
                <a:spcPct val="0"/>
              </a:spcBef>
              <a:spcAft>
                <a:spcPct val="0"/>
              </a:spcAft>
              <a:defRPr sz="2000">
                <a:solidFill>
                  <a:srgbClr val="FFFFFF"/>
                </a:solidFill>
                <a:latin typeface="Times New Roman" pitchFamily="18" charset="0"/>
              </a:defRPr>
            </a:lvl8pPr>
            <a:lvl9pPr marL="3886200" indent="-228600" eaLnBrk="0" fontAlgn="base" hangingPunct="0">
              <a:spcBef>
                <a:spcPct val="0"/>
              </a:spcBef>
              <a:spcAft>
                <a:spcPct val="0"/>
              </a:spcAft>
              <a:defRPr sz="2000">
                <a:solidFill>
                  <a:srgbClr val="FFFFFF"/>
                </a:solidFill>
                <a:latin typeface="Times New Roman" pitchFamily="18" charset="0"/>
              </a:defRPr>
            </a:lvl9pPr>
          </a:lstStyle>
          <a:p>
            <a:pPr eaLnBrk="1" hangingPunct="1">
              <a:defRPr/>
            </a:pPr>
            <a:r>
              <a:rPr lang="en-US" sz="600" dirty="0">
                <a:solidFill>
                  <a:srgbClr val="222222"/>
                </a:solidFill>
                <a:latin typeface="Arial" charset="0"/>
              </a:rPr>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614452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en-US" altLang="en-US" dirty="0"/>
              <a:t>Summary</a:t>
            </a:r>
          </a:p>
        </p:txBody>
      </p:sp>
      <p:sp>
        <p:nvSpPr>
          <p:cNvPr id="71683" name="Rectangle 3"/>
          <p:cNvSpPr>
            <a:spLocks noGrp="1" noChangeArrowheads="1"/>
          </p:cNvSpPr>
          <p:nvPr>
            <p:ph type="body" idx="1"/>
          </p:nvPr>
        </p:nvSpPr>
        <p:spPr>
          <a:xfrm>
            <a:off x="365125" y="1538818"/>
            <a:ext cx="8415338" cy="3539430"/>
          </a:xfrm>
        </p:spPr>
        <p:txBody>
          <a:bodyPr/>
          <a:lstStyle/>
          <a:p>
            <a:pPr eaLnBrk="1" hangingPunct="1"/>
            <a:r>
              <a:rPr lang="en-US" altLang="en-US" dirty="0"/>
              <a:t>An organization’s infrastructure technology forms the foundation upon which its systems and applications are built</a:t>
            </a:r>
          </a:p>
          <a:p>
            <a:pPr eaLnBrk="1" hangingPunct="1"/>
            <a:r>
              <a:rPr lang="en-US" altLang="en-US" dirty="0"/>
              <a:t>Organizations employ a variety of information systems to improve the way they conduct business and make fact-based decisions</a:t>
            </a:r>
          </a:p>
          <a:p>
            <a:pPr eaLnBrk="1" hangingPunct="1"/>
            <a:r>
              <a:rPr lang="en-US" altLang="en-US" dirty="0"/>
              <a:t>Strategic planning and project management are keys to ensuring that the organization is working effectively on the right </a:t>
            </a:r>
            <a:r>
              <a:rPr lang="en-US" altLang="en-US" dirty="0" smtClean="0"/>
              <a:t>projects</a:t>
            </a:r>
          </a:p>
          <a:p>
            <a:r>
              <a:rPr lang="en-US" altLang="en-US" dirty="0"/>
              <a:t>Information systems must be applied thoughtfully and carefully so that society, organizations, and individuals around the globe can reap their enormous benefits</a:t>
            </a:r>
          </a:p>
          <a:p>
            <a:pPr eaLnBrk="1" hangingPunct="1"/>
            <a:endParaRPr lang="en-US" altLang="en-US" dirty="0"/>
          </a:p>
        </p:txBody>
      </p:sp>
      <p:sp>
        <p:nvSpPr>
          <p:cNvPr id="46084" name="Rectangle 5"/>
          <p:cNvSpPr>
            <a:spLocks noGrp="1" noChangeArrowheads="1"/>
          </p:cNvSpPr>
          <p:nvPr>
            <p:ph type="ftr" sz="quarter" idx="10"/>
          </p:nvPr>
        </p:nvSpPr>
        <p:spPr>
          <a:extLst/>
        </p:spPr>
        <p:txBody>
          <a:bodyPr/>
          <a:lstStyle>
            <a:lvl1pPr eaLnBrk="0" hangingPunct="0">
              <a:defRPr sz="2000">
                <a:solidFill>
                  <a:srgbClr val="FFFFFF"/>
                </a:solidFill>
                <a:latin typeface="Times New Roman" pitchFamily="18" charset="0"/>
              </a:defRPr>
            </a:lvl1pPr>
            <a:lvl2pPr marL="742950" indent="-285750" eaLnBrk="0" hangingPunct="0">
              <a:defRPr sz="2000">
                <a:solidFill>
                  <a:srgbClr val="FFFFFF"/>
                </a:solidFill>
                <a:latin typeface="Times New Roman" pitchFamily="18" charset="0"/>
              </a:defRPr>
            </a:lvl2pPr>
            <a:lvl3pPr marL="1143000" indent="-228600" eaLnBrk="0" hangingPunct="0">
              <a:defRPr sz="2000">
                <a:solidFill>
                  <a:srgbClr val="FFFFFF"/>
                </a:solidFill>
                <a:latin typeface="Times New Roman" pitchFamily="18" charset="0"/>
              </a:defRPr>
            </a:lvl3pPr>
            <a:lvl4pPr marL="1600200" indent="-228600" eaLnBrk="0" hangingPunct="0">
              <a:defRPr sz="2000">
                <a:solidFill>
                  <a:srgbClr val="FFFFFF"/>
                </a:solidFill>
                <a:latin typeface="Times New Roman" pitchFamily="18" charset="0"/>
              </a:defRPr>
            </a:lvl4pPr>
            <a:lvl5pPr marL="2057400" indent="-228600" eaLnBrk="0" hangingPunct="0">
              <a:defRPr sz="2000">
                <a:solidFill>
                  <a:srgbClr val="FFFFFF"/>
                </a:solidFill>
                <a:latin typeface="Times New Roman" pitchFamily="18" charset="0"/>
              </a:defRPr>
            </a:lvl5pPr>
            <a:lvl6pPr marL="2514600" indent="-228600" eaLnBrk="0" fontAlgn="base" hangingPunct="0">
              <a:spcBef>
                <a:spcPct val="0"/>
              </a:spcBef>
              <a:spcAft>
                <a:spcPct val="0"/>
              </a:spcAft>
              <a:defRPr sz="2000">
                <a:solidFill>
                  <a:srgbClr val="FFFFFF"/>
                </a:solidFill>
                <a:latin typeface="Times New Roman" pitchFamily="18" charset="0"/>
              </a:defRPr>
            </a:lvl6pPr>
            <a:lvl7pPr marL="2971800" indent="-228600" eaLnBrk="0" fontAlgn="base" hangingPunct="0">
              <a:spcBef>
                <a:spcPct val="0"/>
              </a:spcBef>
              <a:spcAft>
                <a:spcPct val="0"/>
              </a:spcAft>
              <a:defRPr sz="2000">
                <a:solidFill>
                  <a:srgbClr val="FFFFFF"/>
                </a:solidFill>
                <a:latin typeface="Times New Roman" pitchFamily="18" charset="0"/>
              </a:defRPr>
            </a:lvl7pPr>
            <a:lvl8pPr marL="3429000" indent="-228600" eaLnBrk="0" fontAlgn="base" hangingPunct="0">
              <a:spcBef>
                <a:spcPct val="0"/>
              </a:spcBef>
              <a:spcAft>
                <a:spcPct val="0"/>
              </a:spcAft>
              <a:defRPr sz="2000">
                <a:solidFill>
                  <a:srgbClr val="FFFFFF"/>
                </a:solidFill>
                <a:latin typeface="Times New Roman" pitchFamily="18" charset="0"/>
              </a:defRPr>
            </a:lvl8pPr>
            <a:lvl9pPr marL="3886200" indent="-228600" eaLnBrk="0" fontAlgn="base" hangingPunct="0">
              <a:spcBef>
                <a:spcPct val="0"/>
              </a:spcBef>
              <a:spcAft>
                <a:spcPct val="0"/>
              </a:spcAft>
              <a:defRPr sz="2000">
                <a:solidFill>
                  <a:srgbClr val="FFFFFF"/>
                </a:solidFill>
                <a:latin typeface="Times New Roman" pitchFamily="18" charset="0"/>
              </a:defRPr>
            </a:lvl9pPr>
          </a:lstStyle>
          <a:p>
            <a:pPr eaLnBrk="1" hangingPunct="1">
              <a:defRPr/>
            </a:pPr>
            <a:r>
              <a:rPr lang="en-US" sz="600" dirty="0">
                <a:solidFill>
                  <a:srgbClr val="222222"/>
                </a:solidFill>
                <a:latin typeface="Arial" charset="0"/>
              </a:rPr>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60811449"/>
      </p:ext>
    </p:extLst>
  </p:cSld>
  <p:clrMapOvr>
    <a:masterClrMapping/>
  </p:clrMapOvr>
</p:sld>
</file>

<file path=ppt/theme/theme1.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5018</TotalTime>
  <Words>6915</Words>
  <Application>Microsoft Office PowerPoint</Application>
  <PresentationFormat>On-screen Show (4:3)</PresentationFormat>
  <Paragraphs>622</Paragraphs>
  <Slides>52</Slides>
  <Notes>52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Calibri</vt:lpstr>
      <vt:lpstr>Calibri Light</vt:lpstr>
      <vt:lpstr>Times New Roman</vt:lpstr>
      <vt:lpstr>Office Theme</vt:lpstr>
      <vt:lpstr>Principles of Information Systems, Thirteenth Edition </vt:lpstr>
      <vt:lpstr>Objectives</vt:lpstr>
      <vt:lpstr>Objectives</vt:lpstr>
      <vt:lpstr>Objectives</vt:lpstr>
      <vt:lpstr>An Introduction to Information Systems</vt:lpstr>
      <vt:lpstr>Data, Information, and Knowledge</vt:lpstr>
      <vt:lpstr>Data, Information, and Knowledge</vt:lpstr>
      <vt:lpstr>Data, Information, and Knowledge</vt:lpstr>
      <vt:lpstr>The Value of Information</vt:lpstr>
      <vt:lpstr>Characteristics of Quality Information</vt:lpstr>
      <vt:lpstr>What is an Information System?</vt:lpstr>
      <vt:lpstr>What is an Information System?</vt:lpstr>
      <vt:lpstr>What is an Information System?</vt:lpstr>
      <vt:lpstr>Information Systems in Organizations</vt:lpstr>
      <vt:lpstr>Information Systems in Organizations</vt:lpstr>
      <vt:lpstr>Information Systems in Organizations</vt:lpstr>
      <vt:lpstr>Hardware and Mobile Devices</vt:lpstr>
      <vt:lpstr>Software and Mobile Applications</vt:lpstr>
      <vt:lpstr>Software and Mobile Applications</vt:lpstr>
      <vt:lpstr>Database Systems and Big Data</vt:lpstr>
      <vt:lpstr>Database Systems and Big Data</vt:lpstr>
      <vt:lpstr>Database Systems and Big Data</vt:lpstr>
      <vt:lpstr>Database Systems and Big Data</vt:lpstr>
      <vt:lpstr>Networks and Cloud Computing</vt:lpstr>
      <vt:lpstr>Networks and Cloud Computing</vt:lpstr>
      <vt:lpstr>Networks and Cloud Computing</vt:lpstr>
      <vt:lpstr>Networks and Cloud Computing</vt:lpstr>
      <vt:lpstr>Networks and Cloud Computing</vt:lpstr>
      <vt:lpstr>Business Information Systems</vt:lpstr>
      <vt:lpstr>Business Information Systems</vt:lpstr>
      <vt:lpstr>Electronic and Mobile Commerce</vt:lpstr>
      <vt:lpstr>Electronic and Mobile Commerce</vt:lpstr>
      <vt:lpstr>Electronic and Mobile Commerce</vt:lpstr>
      <vt:lpstr>Enterprise Systems</vt:lpstr>
      <vt:lpstr>Enterprise Systems</vt:lpstr>
      <vt:lpstr>Enterprise Systems</vt:lpstr>
      <vt:lpstr>Enterprise Systems</vt:lpstr>
      <vt:lpstr>Enterprise Systems</vt:lpstr>
      <vt:lpstr>Business Intelligence and Analytics</vt:lpstr>
      <vt:lpstr>Knowledge Management and Specialized Information Systems</vt:lpstr>
      <vt:lpstr>Planning, Acquiring, and Building Systems</vt:lpstr>
      <vt:lpstr>Strategic Planning and Project Management</vt:lpstr>
      <vt:lpstr>System Acquisition and Development</vt:lpstr>
      <vt:lpstr>System Acquisition and Development</vt:lpstr>
      <vt:lpstr>Information Systems in Business and Society</vt:lpstr>
      <vt:lpstr>Cybercrime and Information System Security</vt:lpstr>
      <vt:lpstr>Cybercrime and Information System Security</vt:lpstr>
      <vt:lpstr>Ethical, Legal, and Social Issues of Information Systems</vt:lpstr>
      <vt:lpstr>Ethical, Legal, and Social Issues of Information Systems</vt:lpstr>
      <vt:lpstr>Ethical, Legal, and Social Issues of Information Systems</vt:lpstr>
      <vt:lpstr>Summary</vt:lpstr>
      <vt:lpstr>Summary</vt:lpstr>
    </vt:vector>
  </TitlesOfParts>
  <Company>Course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Author</dc:creator>
  <cp:lastModifiedBy>Admin</cp:lastModifiedBy>
  <cp:revision>215</cp:revision>
  <cp:lastPrinted>2010-11-12T17:54:40Z</cp:lastPrinted>
  <dcterms:created xsi:type="dcterms:W3CDTF">2007-02-15T20:50:52Z</dcterms:created>
  <dcterms:modified xsi:type="dcterms:W3CDTF">2020-02-12T11:59:06Z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1439603344</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maria.garguilo@cengage.com</vt:lpwstr>
  </property>
  <property fmtid="{D5CDD505-2E9C-101B-9397-08002B2CF9AE}" pid="6" name="_AuthorEmailDisplayName">
    <vt:lpwstr>Garguilo, Maria</vt:lpwstr>
  </property>
  <property fmtid="{D5CDD505-2E9C-101B-9397-08002B2CF9AE}" pid="7" name="_PreviousAdHocReviewCycleID">
    <vt:i4>1933890983</vt:i4>
  </property>
</Properties>
</file>