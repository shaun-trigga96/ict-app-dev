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notesMasterIdLst>
    <p:notesMasterId r:id="rId51"/>
  </p:notesMasterIdLst>
  <p:handoutMasterIdLst>
    <p:handoutMasterId r:id="rId5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</p:sldIdLst>
  <p:sldSz cx="12192000" cy="6858000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0A5"/>
    <a:srgbClr val="FFFFFF"/>
    <a:srgbClr val="96CDEE"/>
    <a:srgbClr val="0F3F5D"/>
    <a:srgbClr val="01773A"/>
    <a:srgbClr val="156B13"/>
    <a:srgbClr val="008000"/>
    <a:srgbClr val="F20000"/>
    <a:srgbClr val="66CC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25" autoAdjust="0"/>
    <p:restoredTop sz="76197" autoAdjust="0"/>
  </p:normalViewPr>
  <p:slideViewPr>
    <p:cSldViewPr>
      <p:cViewPr varScale="1">
        <p:scale>
          <a:sx n="72" d="100"/>
          <a:sy n="72" d="100"/>
        </p:scale>
        <p:origin x="10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2/17/2020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2/17/2020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24100" y="531813"/>
            <a:ext cx="47244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8E15741-3D7D-4040-B8D6-1FB96ED7622F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dirty="0"/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24100" y="531813"/>
            <a:ext cx="4724400" cy="2657475"/>
          </a:xfrm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Principles of Information Systems, Thirteenth Edition</a:t>
            </a:r>
            <a:r>
              <a:rPr lang="en-US" altLang="en-US" sz="1100" dirty="0"/>
              <a:t/>
            </a:r>
            <a:br>
              <a:rPr lang="en-US" altLang="en-US" sz="1100" dirty="0"/>
            </a:br>
            <a:endParaRPr lang="en-US" altLang="en-US" sz="1100" dirty="0"/>
          </a:p>
          <a:p>
            <a:pPr eaLnBrk="1" hangingPunct="1">
              <a:lnSpc>
                <a:spcPct val="90000"/>
              </a:lnSpc>
            </a:pPr>
            <a:r>
              <a:rPr lang="en-US" altLang="en-US" i="1" dirty="0"/>
              <a:t>Chapter 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i="1" dirty="0"/>
              <a:t>Information Systems in Organizations</a:t>
            </a:r>
          </a:p>
          <a:p>
            <a:pPr eaLnBrk="1" hangingPunct="1"/>
            <a:endParaRPr lang="es-EC" altLang="en-US" dirty="0"/>
          </a:p>
        </p:txBody>
      </p:sp>
    </p:spTree>
    <p:extLst>
      <p:ext uri="{BB962C8B-B14F-4D97-AF65-F5344CB8AC3E}">
        <p14:creationId xmlns:p14="http://schemas.microsoft.com/office/powerpoint/2010/main" val="10575698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24100" y="531813"/>
            <a:ext cx="4724400" cy="2657475"/>
          </a:xfrm>
          <a:ln/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Objectives</a:t>
            </a:r>
          </a:p>
          <a:p>
            <a:endParaRPr lang="en-US" altLang="en-US" dirty="0"/>
          </a:p>
          <a:p>
            <a:r>
              <a:rPr lang="en-US" altLang="en-US" dirty="0"/>
              <a:t>After completing this chapter, you will be able to:</a:t>
            </a:r>
          </a:p>
          <a:p>
            <a:r>
              <a:rPr lang="en-US" altLang="en-US" dirty="0"/>
              <a:t>Sketch a general model of an organization showing how information systems support and work within  automated portions of an organizational process</a:t>
            </a:r>
          </a:p>
          <a:p>
            <a:r>
              <a:rPr lang="en-US" altLang="en-US" dirty="0"/>
              <a:t>Define the term value chain and identify several examples within a typical manufacturing or service organization</a:t>
            </a:r>
          </a:p>
          <a:p>
            <a:r>
              <a:rPr lang="en-US" altLang="en-US" dirty="0"/>
              <a:t>Define the term innovation and identify two types</a:t>
            </a:r>
          </a:p>
          <a:p>
            <a:r>
              <a:rPr lang="en-US" altLang="en-US" dirty="0"/>
              <a:t>Define reengineering and continuous improvement and explain how they are different</a:t>
            </a:r>
          </a:p>
          <a:p>
            <a:endParaRPr lang="en-US" alt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4097760-DAB3-4F3E-BDB0-ECFF7E2DBD25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33652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24100" y="531813"/>
            <a:ext cx="4724400" cy="2657475"/>
          </a:xfrm>
          <a:ln/>
        </p:spPr>
      </p:sp>
      <p:sp>
        <p:nvSpPr>
          <p:cNvPr id="122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Objectives</a:t>
            </a:r>
          </a:p>
          <a:p>
            <a:endParaRPr lang="en-US" altLang="en-US" dirty="0"/>
          </a:p>
          <a:p>
            <a:r>
              <a:rPr lang="en-US" altLang="en-US" dirty="0"/>
              <a:t>After completing this chapter, you will be able to:</a:t>
            </a:r>
          </a:p>
          <a:p>
            <a:r>
              <a:rPr lang="en-US" altLang="en-US" dirty="0"/>
              <a:t>Discuss pros and cons of outsourcing, offshoring, and downsizing</a:t>
            </a:r>
          </a:p>
          <a:p>
            <a:r>
              <a:rPr lang="en-US" altLang="en-US" dirty="0"/>
              <a:t>Define the term “the soft side of implementing change” and explain why it is a critical factor in the successful adoption of any major change</a:t>
            </a:r>
          </a:p>
          <a:p>
            <a:r>
              <a:rPr lang="en-US" altLang="en-US" dirty="0"/>
              <a:t>Identify and describe four change models used to increase the likelihood of successfully introducing a new IS into an organization</a:t>
            </a:r>
          </a:p>
          <a:p>
            <a:r>
              <a:rPr lang="en-US" altLang="en-US" dirty="0"/>
              <a:t>Define the types of roles, functions and careers available in the field of IS</a:t>
            </a:r>
          </a:p>
          <a:p>
            <a:endParaRPr lang="en-US" altLang="en-US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39CE380-1D56-46C7-A85A-A17D675C4FC6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3067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24100" y="531813"/>
            <a:ext cx="4724400" cy="2657475"/>
          </a:xfrm>
          <a:ln/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/>
              <a:t>Organizations and Information Systems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Organization: a group of people that is structured and managed to meet its mission or set of group goals</a:t>
            </a:r>
          </a:p>
          <a:p>
            <a:pPr lvl="1"/>
            <a:r>
              <a:rPr lang="en-US" altLang="en-US" dirty="0" smtClean="0"/>
              <a:t>There are relationships between members of the organization and their various activities</a:t>
            </a:r>
          </a:p>
          <a:p>
            <a:pPr lvl="1"/>
            <a:r>
              <a:rPr lang="en-US" altLang="en-US" dirty="0" smtClean="0"/>
              <a:t>Processes are defined that assign roles, responsibilities, and authority to complete the various activities</a:t>
            </a:r>
          </a:p>
          <a:p>
            <a:r>
              <a:rPr lang="en-US" altLang="en-US" dirty="0" smtClean="0"/>
              <a:t>Organizations are open systems</a:t>
            </a:r>
          </a:p>
          <a:p>
            <a:pPr lvl="1"/>
            <a:r>
              <a:rPr lang="en-US" altLang="en-US" dirty="0" smtClean="0"/>
              <a:t>They affect and are affected by their surrounding environments</a:t>
            </a:r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DFF5DE3-982B-4F40-84C2-3E9000DC0A08}" type="slidenum">
              <a:rPr lang="en-US" altLang="en-US" sz="1200" smtClean="0">
                <a:solidFill>
                  <a:schemeClr val="tx1"/>
                </a:solidFill>
              </a:rPr>
              <a:pPr/>
              <a:t>4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634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24100" y="531813"/>
            <a:ext cx="4724400" cy="2657475"/>
          </a:xfrm>
          <a:ln/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/>
              <a:t>Organizations and Information Systems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51269205-7356-439E-A951-36EEFE4259C2}" type="slidenum">
              <a:rPr lang="en-US" altLang="en-US" sz="1200" smtClean="0">
                <a:solidFill>
                  <a:schemeClr val="tx1"/>
                </a:solidFill>
              </a:rPr>
              <a:pPr/>
              <a:t>5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98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24100" y="531813"/>
            <a:ext cx="4724400" cy="2657475"/>
          </a:xfrm>
          <a:ln/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/>
              <a:t>Organizations and Information Systems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Value chain: a series (chain) of activities that an organization performs to transform inputs into outputs</a:t>
            </a:r>
          </a:p>
          <a:p>
            <a:pPr lvl="1"/>
            <a:r>
              <a:rPr lang="en-US" altLang="en-US" dirty="0" smtClean="0"/>
              <a:t>The value of the input is increased</a:t>
            </a:r>
          </a:p>
          <a:p>
            <a:r>
              <a:rPr lang="en-US" altLang="en-US" dirty="0" smtClean="0"/>
              <a:t>Supply chain: key value chain in a manufacturing organization</a:t>
            </a:r>
          </a:p>
          <a:p>
            <a:r>
              <a:rPr lang="en-US" altLang="en-US" dirty="0" smtClean="0"/>
              <a:t>Supply chain management (SCM): encompasses all the activities required to get the right product into the right consumer’s hands in the right quantity at the right time and at the right cost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BD851C66-8A73-4B5B-9E32-CB148E39AC78}" type="slidenum">
              <a:rPr lang="en-US" altLang="en-US" sz="1200" smtClean="0">
                <a:solidFill>
                  <a:schemeClr val="tx1"/>
                </a:solidFill>
              </a:rPr>
              <a:pPr/>
              <a:t>6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0111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24100" y="531813"/>
            <a:ext cx="4724400" cy="2657475"/>
          </a:xfrm>
          <a:ln/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/>
              <a:t>Organizations and Information Systems</a:t>
            </a:r>
            <a:endParaRPr lang="en-US" altLang="en-US" dirty="0"/>
          </a:p>
          <a:p>
            <a:endParaRPr lang="en-US" altLang="en-US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CE36F32-29E4-42D5-893B-4623796E790E}" type="slidenum">
              <a:rPr lang="en-US" altLang="en-US" sz="1200" smtClean="0">
                <a:solidFill>
                  <a:schemeClr val="tx1"/>
                </a:solidFill>
              </a:rPr>
              <a:pPr/>
              <a:t>7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461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24100" y="531813"/>
            <a:ext cx="4724400" cy="2657475"/>
          </a:xfrm>
          <a:ln/>
        </p:spPr>
      </p:sp>
      <p:sp>
        <p:nvSpPr>
          <p:cNvPr id="22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 smtClean="0"/>
              <a:t>Organizations and Information Systems</a:t>
            </a:r>
            <a:endParaRPr lang="en-US" altLang="en-US" dirty="0"/>
          </a:p>
          <a:p>
            <a:endParaRPr lang="en-US" altLang="en-US" dirty="0" smtClean="0"/>
          </a:p>
          <a:p>
            <a:r>
              <a:rPr lang="en-US" altLang="en-US" dirty="0" smtClean="0"/>
              <a:t>Supply chain organizations are “linked” together through both physical flows and information flows</a:t>
            </a:r>
          </a:p>
          <a:p>
            <a:pPr lvl="1"/>
            <a:r>
              <a:rPr lang="en-US" altLang="en-US" dirty="0" smtClean="0"/>
              <a:t>Physical: supplies and raw materials</a:t>
            </a:r>
          </a:p>
          <a:p>
            <a:pPr lvl="1"/>
            <a:r>
              <a:rPr lang="en-US" altLang="en-US" dirty="0" smtClean="0"/>
              <a:t>Information: participants communicating their plans, coordinating their work, and managing the efficient flow of goods and material</a:t>
            </a:r>
          </a:p>
          <a:p>
            <a:r>
              <a:rPr lang="en-US" altLang="en-US" dirty="0" smtClean="0"/>
              <a:t>The information system can play an integral role in the supply chain process:</a:t>
            </a:r>
          </a:p>
          <a:p>
            <a:pPr lvl="1"/>
            <a:r>
              <a:rPr lang="en-US" altLang="en-US" dirty="0" smtClean="0"/>
              <a:t>Providing input</a:t>
            </a:r>
          </a:p>
          <a:p>
            <a:pPr lvl="1"/>
            <a:r>
              <a:rPr lang="en-US" altLang="en-US" dirty="0" smtClean="0"/>
              <a:t>Aiding product transformation</a:t>
            </a:r>
          </a:p>
          <a:p>
            <a:pPr lvl="1"/>
            <a:r>
              <a:rPr lang="en-US" altLang="en-US" dirty="0" smtClean="0"/>
              <a:t>Producing output</a:t>
            </a:r>
          </a:p>
          <a:p>
            <a:endParaRPr lang="en-US" altLang="en-US" dirty="0"/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E1742F59-8EF3-482C-9163-A12F3180B636}" type="slidenum">
              <a:rPr lang="en-US" altLang="en-US" sz="1200" smtClean="0">
                <a:solidFill>
                  <a:schemeClr val="tx1"/>
                </a:solidFill>
              </a:rPr>
              <a:pPr/>
              <a:t>8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3808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Virtual Teams and Collaborative Work</a:t>
            </a:r>
          </a:p>
          <a:p>
            <a:endParaRPr lang="en-US" dirty="0" smtClean="0"/>
          </a:p>
          <a:p>
            <a:r>
              <a:rPr lang="en-US" altLang="en-US" dirty="0" smtClean="0"/>
              <a:t>Virtual team: a group of individuals whose members are distributed geographically, but work as a coherent unit through the use of information systems technology</a:t>
            </a:r>
          </a:p>
          <a:p>
            <a:pPr lvl="1"/>
            <a:r>
              <a:rPr lang="en-US" altLang="en-US" dirty="0" smtClean="0"/>
              <a:t>Strength: the best available people are enlisted to solve important organizational problems</a:t>
            </a:r>
          </a:p>
          <a:p>
            <a:pPr lvl="1"/>
            <a:r>
              <a:rPr lang="en-US" altLang="en-US" dirty="0" smtClean="0"/>
              <a:t>Supported by electronic communications: email, instant messages, video conferences, etc.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9657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Innovation</a:t>
            </a:r>
          </a:p>
          <a:p>
            <a:endParaRPr lang="en-US" dirty="0" smtClean="0"/>
          </a:p>
          <a:p>
            <a:r>
              <a:rPr lang="en-US" altLang="en-US" dirty="0" smtClean="0"/>
              <a:t>Innovation: the application of new ideas to the products, processes, and activities of a firm, leading to increased value</a:t>
            </a:r>
          </a:p>
          <a:p>
            <a:pPr lvl="1"/>
            <a:r>
              <a:rPr lang="en-US" altLang="en-US" dirty="0" smtClean="0"/>
              <a:t>A catalyst for the growth and success of an organization</a:t>
            </a:r>
          </a:p>
          <a:p>
            <a:r>
              <a:rPr lang="en-US" altLang="en-US" dirty="0" smtClean="0"/>
              <a:t>Can lead to cutting-edge products</a:t>
            </a:r>
          </a:p>
          <a:p>
            <a:pPr lvl="1"/>
            <a:r>
              <a:rPr lang="en-US" altLang="en-US" dirty="0" smtClean="0"/>
              <a:t>New revenue streams</a:t>
            </a:r>
          </a:p>
          <a:p>
            <a:pPr lvl="1"/>
            <a:r>
              <a:rPr lang="en-US" altLang="en-US" dirty="0" smtClean="0"/>
              <a:t>Increased profits</a:t>
            </a:r>
          </a:p>
          <a:p>
            <a:r>
              <a:rPr lang="en-US" altLang="en-US" dirty="0" smtClean="0"/>
              <a:t>Types of innovation</a:t>
            </a:r>
          </a:p>
          <a:p>
            <a:pPr lvl="1"/>
            <a:r>
              <a:rPr lang="en-US" altLang="en-US" dirty="0" smtClean="0"/>
              <a:t>Sustaining innovation: results in enhancements to existing products, services, and ways of operating</a:t>
            </a:r>
          </a:p>
          <a:p>
            <a:pPr lvl="2"/>
            <a:r>
              <a:rPr lang="en-US" altLang="en-US" dirty="0" smtClean="0"/>
              <a:t>Enable an organization to continually increase profits, lower costs, and gain market share</a:t>
            </a:r>
          </a:p>
          <a:p>
            <a:pPr lvl="1"/>
            <a:r>
              <a:rPr lang="en-US" altLang="en-US" dirty="0" smtClean="0"/>
              <a:t>Disruptive innovation: one that initially provides a lower level of performance than the marketplace has grown to accept</a:t>
            </a:r>
          </a:p>
          <a:p>
            <a:pPr lvl="2"/>
            <a:r>
              <a:rPr lang="en-US" altLang="en-US" dirty="0" smtClean="0"/>
              <a:t>Improved to provide new performance characteristics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1527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Reengineering and Continuous Improvement</a:t>
            </a:r>
          </a:p>
          <a:p>
            <a:endParaRPr lang="en-US" dirty="0" smtClean="0"/>
          </a:p>
          <a:p>
            <a:r>
              <a:rPr lang="en-US" altLang="en-US" dirty="0" smtClean="0"/>
              <a:t>Reengineering</a:t>
            </a:r>
          </a:p>
          <a:p>
            <a:pPr lvl="1"/>
            <a:r>
              <a:rPr lang="en-US" altLang="en-US" dirty="0" smtClean="0"/>
              <a:t>Also called process redesign and business process reengineering (BPR)</a:t>
            </a:r>
          </a:p>
          <a:p>
            <a:pPr lvl="1"/>
            <a:r>
              <a:rPr lang="en-US" altLang="en-US" dirty="0" smtClean="0"/>
              <a:t>Involves the radical redesign of business processes, organizational structures, information systems, and values of the organization to achieve a breakthrough in business results</a:t>
            </a:r>
          </a:p>
          <a:p>
            <a:r>
              <a:rPr lang="en-US" altLang="en-US" dirty="0" smtClean="0"/>
              <a:t>Continuous improvement </a:t>
            </a:r>
          </a:p>
          <a:p>
            <a:pPr lvl="1"/>
            <a:r>
              <a:rPr lang="en-US" altLang="en-US" dirty="0" smtClean="0"/>
              <a:t>Constantly seeking ways to improve business processes and add value to products and services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9915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Reengineering and Continuous Improvement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430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Reengineering and Continuous Improvement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6893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Outsourcing, Offshoring, and Downsizing</a:t>
            </a:r>
          </a:p>
          <a:p>
            <a:endParaRPr lang="en-US" dirty="0" smtClean="0"/>
          </a:p>
          <a:p>
            <a:r>
              <a:rPr lang="en-US" altLang="en-US" dirty="0" smtClean="0"/>
              <a:t>Outsourcing</a:t>
            </a:r>
          </a:p>
          <a:p>
            <a:pPr lvl="1"/>
            <a:r>
              <a:rPr lang="en-US" altLang="en-US" dirty="0" smtClean="0"/>
              <a:t>A long-term business arrangement in which a company contracts for services with an outside organization that has expertise in providing a specific function</a:t>
            </a:r>
          </a:p>
          <a:p>
            <a:r>
              <a:rPr lang="en-US" altLang="en-US" dirty="0" smtClean="0"/>
              <a:t>Offshore outsourcing (offshoring)</a:t>
            </a:r>
          </a:p>
          <a:p>
            <a:pPr lvl="1"/>
            <a:r>
              <a:rPr lang="en-US" altLang="en-US" dirty="0" smtClean="0"/>
              <a:t>The service is located in a country different than the firm obtaining the services</a:t>
            </a:r>
          </a:p>
          <a:p>
            <a:r>
              <a:rPr lang="en-US" altLang="en-US" dirty="0" smtClean="0"/>
              <a:t>A number of companies are finding that outsourcing does not necessarily lead to reduced costs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8391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Outsourcing, Offshoring, and Downsizing</a:t>
            </a:r>
          </a:p>
          <a:p>
            <a:endParaRPr lang="en-US" dirty="0" smtClean="0"/>
          </a:p>
          <a:p>
            <a:r>
              <a:rPr lang="en-US" altLang="en-US" dirty="0" smtClean="0"/>
              <a:t>Downsizing</a:t>
            </a:r>
          </a:p>
          <a:p>
            <a:pPr lvl="1"/>
            <a:r>
              <a:rPr lang="en-US" altLang="en-US" dirty="0" smtClean="0"/>
              <a:t>Reducing the number of employees to cut costs</a:t>
            </a:r>
          </a:p>
          <a:p>
            <a:pPr lvl="1"/>
            <a:r>
              <a:rPr lang="en-US" altLang="en-US" dirty="0" smtClean="0"/>
              <a:t>Also referred to as “rightsizing”</a:t>
            </a:r>
          </a:p>
          <a:p>
            <a:pPr lvl="1"/>
            <a:r>
              <a:rPr lang="en-US" altLang="en-US" dirty="0" smtClean="0"/>
              <a:t>Product quality and employee morale can suffer</a:t>
            </a:r>
          </a:p>
          <a:p>
            <a:endParaRPr lang="en-US" altLang="en-US" dirty="0" smtClean="0"/>
          </a:p>
          <a:p>
            <a:endParaRPr lang="en-US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9531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Organizational Culture and Change</a:t>
            </a:r>
          </a:p>
          <a:p>
            <a:endParaRPr lang="en-US" dirty="0" smtClean="0"/>
          </a:p>
          <a:p>
            <a:r>
              <a:rPr lang="en-US" altLang="en-US" dirty="0" smtClean="0"/>
              <a:t>Culture: a set of major understandings and assumptions shared by a group</a:t>
            </a:r>
          </a:p>
          <a:p>
            <a:r>
              <a:rPr lang="en-US" altLang="en-US" dirty="0" smtClean="0"/>
              <a:t>Organizational culture: the major understandings and assumptions for a business, corporation, or other organization</a:t>
            </a:r>
          </a:p>
          <a:p>
            <a:r>
              <a:rPr lang="en-US" altLang="en-US" dirty="0" smtClean="0"/>
              <a:t>Organizational change: how organizations plan for, implement, and handle change</a:t>
            </a:r>
          </a:p>
          <a:p>
            <a:r>
              <a:rPr lang="en-US" altLang="en-US" dirty="0" smtClean="0"/>
              <a:t>Soft side of implementing change: involves work designed to help employees embrace a new information system and way of working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6282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Organizational Culture and Change</a:t>
            </a:r>
          </a:p>
          <a:p>
            <a:endParaRPr lang="en-US" dirty="0" smtClean="0"/>
          </a:p>
          <a:p>
            <a:r>
              <a:rPr lang="en-US" altLang="en-US" dirty="0" smtClean="0"/>
              <a:t>Change management model</a:t>
            </a:r>
          </a:p>
          <a:p>
            <a:pPr lvl="1"/>
            <a:r>
              <a:rPr lang="en-US" altLang="en-US" dirty="0" smtClean="0"/>
              <a:t>Describes the phases an individual or organization goes through in making a change</a:t>
            </a:r>
          </a:p>
          <a:p>
            <a:pPr lvl="1"/>
            <a:r>
              <a:rPr lang="en-US" altLang="en-US" dirty="0" smtClean="0"/>
              <a:t>Provides principles for successful implementation of change</a:t>
            </a:r>
          </a:p>
          <a:p>
            <a:pPr lvl="1"/>
            <a:r>
              <a:rPr lang="en-US" altLang="en-US" dirty="0" smtClean="0"/>
              <a:t>There are a number of models for dealing with the soft side of implementing change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5060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Lewin’s Change Model</a:t>
            </a:r>
          </a:p>
          <a:p>
            <a:endParaRPr lang="en-US" dirty="0" smtClean="0"/>
          </a:p>
          <a:p>
            <a:r>
              <a:rPr lang="en-US" altLang="en-US" dirty="0" smtClean="0"/>
              <a:t>Lewin’s change model consists of a three-stage approach for change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 smtClean="0"/>
              <a:t>Unfreezing: preparing for change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 smtClean="0"/>
              <a:t>Moving: making the change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 smtClean="0"/>
              <a:t>Refreezing: institutionalizing</a:t>
            </a:r>
          </a:p>
          <a:p>
            <a:endParaRPr lang="en-US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7139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Lewin’s Change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062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Lewin’s Force Field Analysis</a:t>
            </a:r>
          </a:p>
          <a:p>
            <a:endParaRPr lang="en-US" dirty="0" smtClean="0"/>
          </a:p>
          <a:p>
            <a:r>
              <a:rPr lang="en-US" altLang="en-US" dirty="0" smtClean="0"/>
              <a:t>Lewin extended his change model theory to include force field analysis</a:t>
            </a:r>
          </a:p>
          <a:p>
            <a:pPr lvl="1"/>
            <a:r>
              <a:rPr lang="en-US" altLang="en-US" dirty="0" smtClean="0"/>
              <a:t>Identifies both the driving (positive) and restraining (negative) forces that influence whether change can occur</a:t>
            </a:r>
          </a:p>
          <a:p>
            <a:r>
              <a:rPr lang="en-US" altLang="en-US" dirty="0" smtClean="0"/>
              <a:t>Driving forces: beliefs, expectations, and cultural norms that tend to encourage a change and give it momentum</a:t>
            </a:r>
          </a:p>
          <a:p>
            <a:r>
              <a:rPr lang="en-US" altLang="en-US" dirty="0" smtClean="0"/>
              <a:t>Restraining forces: those that make it difficult to accept a change or to work to implement a change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480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Lewin’s Force Field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4598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Lewin’s Force Field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347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Leavitt’s Diamond</a:t>
            </a:r>
          </a:p>
          <a:p>
            <a:endParaRPr lang="en-US" dirty="0" smtClean="0"/>
          </a:p>
          <a:p>
            <a:r>
              <a:rPr lang="en-US" altLang="en-US" dirty="0" smtClean="0"/>
              <a:t>A theory that proposes that every organizational system is made up of four main components—people, tasks, structure, and technology—with an interaction among the four components</a:t>
            </a:r>
          </a:p>
          <a:p>
            <a:pPr lvl="1"/>
            <a:r>
              <a:rPr lang="en-US" altLang="en-US" dirty="0" smtClean="0"/>
              <a:t>Any change in one of these elements will necessitate a change in the other three elements</a:t>
            </a:r>
          </a:p>
          <a:p>
            <a:r>
              <a:rPr lang="en-US" altLang="en-US" dirty="0" smtClean="0"/>
              <a:t>Organizational learning</a:t>
            </a:r>
          </a:p>
          <a:p>
            <a:pPr lvl="1"/>
            <a:r>
              <a:rPr lang="en-US" altLang="en-US" dirty="0" smtClean="0"/>
              <a:t>The adaptations and adjustments based on experience and ideas over time</a:t>
            </a:r>
          </a:p>
          <a:p>
            <a:pPr lvl="1"/>
            <a:r>
              <a:rPr lang="en-US" altLang="en-US" dirty="0" smtClean="0"/>
              <a:t>Adjustments can require reengineering or can result from continuous improvement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64156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Leavitt’s Diamond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3899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User Satisfaction and Technology Acceptance</a:t>
            </a:r>
          </a:p>
          <a:p>
            <a:endParaRPr lang="en-US" dirty="0" smtClean="0"/>
          </a:p>
          <a:p>
            <a:r>
              <a:rPr lang="en-US" altLang="en-US" dirty="0" smtClean="0"/>
              <a:t>Technology acceptance model (TAM)</a:t>
            </a:r>
          </a:p>
          <a:p>
            <a:pPr lvl="1"/>
            <a:r>
              <a:rPr lang="en-US" altLang="en-US" dirty="0" smtClean="0"/>
              <a:t>Specifies the factors that can lead to better attitudes about the information system</a:t>
            </a:r>
          </a:p>
          <a:p>
            <a:endParaRPr lang="en-US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0656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Diffusion of Innovation Theory</a:t>
            </a:r>
          </a:p>
          <a:p>
            <a:endParaRPr lang="en-US" dirty="0" smtClean="0"/>
          </a:p>
          <a:p>
            <a:r>
              <a:rPr lang="en-US" altLang="en-US" dirty="0" smtClean="0"/>
              <a:t>A theory developed by E.M. Rogers</a:t>
            </a:r>
          </a:p>
          <a:p>
            <a:r>
              <a:rPr lang="en-US" altLang="en-US" dirty="0" smtClean="0"/>
              <a:t>Explains how a new idea or product gains acceptance and diffuses (or spreads) through a specific population or subset of an organization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2756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Diffusion of Innovation Theory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9508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Careers in Information Systems</a:t>
            </a:r>
          </a:p>
          <a:p>
            <a:endParaRPr lang="en-US" dirty="0" smtClean="0"/>
          </a:p>
          <a:p>
            <a:r>
              <a:rPr lang="en-US" altLang="en-US" dirty="0" smtClean="0"/>
              <a:t>Successful IS workers must:</a:t>
            </a:r>
          </a:p>
          <a:p>
            <a:pPr lvl="1"/>
            <a:r>
              <a:rPr lang="en-US" altLang="en-US" dirty="0" smtClean="0"/>
              <a:t>Enjoy working in a fast-paced, dynamic environment</a:t>
            </a:r>
          </a:p>
          <a:p>
            <a:pPr lvl="1"/>
            <a:r>
              <a:rPr lang="en-US" altLang="en-US" dirty="0" smtClean="0"/>
              <a:t>Meet deadlines and solving unexpected challenges</a:t>
            </a:r>
          </a:p>
          <a:p>
            <a:pPr lvl="1"/>
            <a:r>
              <a:rPr lang="en-US" altLang="en-US" dirty="0" smtClean="0"/>
              <a:t>Possess good communication skills</a:t>
            </a:r>
          </a:p>
          <a:p>
            <a:pPr lvl="1"/>
            <a:r>
              <a:rPr lang="en-US" altLang="en-US" dirty="0" smtClean="0"/>
              <a:t>Have solid analytical and decision-making skills </a:t>
            </a:r>
          </a:p>
          <a:p>
            <a:pPr lvl="1"/>
            <a:r>
              <a:rPr lang="en-US" altLang="en-US" dirty="0" smtClean="0"/>
              <a:t>Develop effective team and leadership skills </a:t>
            </a:r>
          </a:p>
          <a:p>
            <a:pPr lvl="1"/>
            <a:r>
              <a:rPr lang="en-US" altLang="en-US" dirty="0" smtClean="0"/>
              <a:t>Be adept at implementing organization change</a:t>
            </a:r>
          </a:p>
          <a:p>
            <a:pPr lvl="1"/>
            <a:r>
              <a:rPr lang="en-US" altLang="en-US" dirty="0" smtClean="0"/>
              <a:t>Be prepared to engage in life-long learning in a rapidly changing field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62868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Careers in Information Systems</a:t>
            </a:r>
          </a:p>
          <a:p>
            <a:endParaRPr lang="en-US" dirty="0" smtClean="0"/>
          </a:p>
          <a:p>
            <a:r>
              <a:rPr lang="en-US" altLang="en-US" dirty="0" smtClean="0"/>
              <a:t>Technical skills important for IS workers to have:</a:t>
            </a:r>
          </a:p>
          <a:p>
            <a:pPr lvl="1"/>
            <a:r>
              <a:rPr lang="en-US" altLang="en-US" dirty="0" smtClean="0"/>
              <a:t>Capability to analyze large amounts of structured and unstructured data</a:t>
            </a:r>
          </a:p>
          <a:p>
            <a:pPr lvl="1"/>
            <a:r>
              <a:rPr lang="en-US" altLang="en-US" dirty="0" smtClean="0"/>
              <a:t>Ability to design/build applications for mobile devices</a:t>
            </a:r>
          </a:p>
          <a:p>
            <a:pPr lvl="1"/>
            <a:r>
              <a:rPr lang="en-US" altLang="en-US" dirty="0" smtClean="0"/>
              <a:t>Programing and application development skills</a:t>
            </a:r>
          </a:p>
          <a:p>
            <a:pPr lvl="1"/>
            <a:r>
              <a:rPr lang="en-US" altLang="en-US" dirty="0" smtClean="0"/>
              <a:t>Technical support expertise</a:t>
            </a:r>
          </a:p>
          <a:p>
            <a:pPr lvl="1"/>
            <a:r>
              <a:rPr lang="en-US" altLang="en-US" dirty="0" smtClean="0"/>
              <a:t>Project management skills</a:t>
            </a:r>
          </a:p>
          <a:p>
            <a:pPr lvl="1"/>
            <a:r>
              <a:rPr lang="en-US" altLang="en-US" dirty="0" smtClean="0"/>
              <a:t>Knowledge of networking and cloud computing</a:t>
            </a:r>
          </a:p>
          <a:p>
            <a:pPr lvl="1"/>
            <a:r>
              <a:rPr lang="en-US" altLang="en-US" dirty="0" smtClean="0"/>
              <a:t>Ability to audit systems and implement necessary security measures</a:t>
            </a:r>
          </a:p>
          <a:p>
            <a:pPr lvl="1"/>
            <a:endParaRPr lang="en-US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4106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Careers in Information Systems</a:t>
            </a:r>
          </a:p>
          <a:p>
            <a:endParaRPr lang="en-US" dirty="0" smtClean="0"/>
          </a:p>
          <a:p>
            <a:r>
              <a:rPr lang="en-US" altLang="en-US" dirty="0" smtClean="0"/>
              <a:t>Technical skills important for IS workers to have (cont’d):</a:t>
            </a:r>
          </a:p>
          <a:p>
            <a:pPr lvl="1"/>
            <a:r>
              <a:rPr lang="en-US" altLang="en-US" dirty="0" smtClean="0"/>
              <a:t>Web design and development skills</a:t>
            </a:r>
          </a:p>
          <a:p>
            <a:pPr lvl="1"/>
            <a:r>
              <a:rPr lang="en-US" altLang="en-US" dirty="0" smtClean="0"/>
              <a:t>Knowledge of data center operations</a:t>
            </a:r>
          </a:p>
          <a:p>
            <a:r>
              <a:rPr lang="en-US" altLang="en-US" dirty="0" smtClean="0"/>
              <a:t>The U.S. Bureau of Labor Statistics (BLS) forecasts an increase of 1.2 million new computing jobs between 2012-2022</a:t>
            </a:r>
          </a:p>
          <a:p>
            <a:endParaRPr lang="en-US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02750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Careers in Information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5396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Careers in Information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3147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Careers in Information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00369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Careers in Information Systems</a:t>
            </a:r>
          </a:p>
          <a:p>
            <a:endParaRPr lang="en-US" dirty="0" smtClean="0"/>
          </a:p>
          <a:p>
            <a:r>
              <a:rPr lang="en-US" altLang="en-US" dirty="0" smtClean="0"/>
              <a:t>U.S. H-1B and L-1 visa programs seek to allow skilled employees from foreign lands into the United States</a:t>
            </a:r>
          </a:p>
          <a:p>
            <a:pPr lvl="1"/>
            <a:r>
              <a:rPr lang="en-US" altLang="en-US" dirty="0" smtClean="0"/>
              <a:t>Programs are limited and are high demand</a:t>
            </a:r>
          </a:p>
          <a:p>
            <a:pPr lvl="1"/>
            <a:r>
              <a:rPr lang="en-US" altLang="en-US" dirty="0" smtClean="0"/>
              <a:t>L-1 visa program is often used for intracompany transfers for multinational companies </a:t>
            </a:r>
          </a:p>
          <a:p>
            <a:pPr lvl="1"/>
            <a:r>
              <a:rPr lang="en-US" altLang="en-US" dirty="0" smtClean="0"/>
              <a:t>H-1B program can be used for new employees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070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Careers in Information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8740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Careers in Information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0617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Roles, Functions, and Careers in IS</a:t>
            </a:r>
          </a:p>
          <a:p>
            <a:endParaRPr lang="en-US" dirty="0" smtClean="0"/>
          </a:p>
          <a:p>
            <a:r>
              <a:rPr lang="en-US" altLang="en-US" dirty="0" smtClean="0"/>
              <a:t>In addition to technical skills, IS professionals need:</a:t>
            </a:r>
          </a:p>
          <a:p>
            <a:pPr lvl="1"/>
            <a:r>
              <a:rPr lang="en-US" altLang="en-US" dirty="0" smtClean="0"/>
              <a:t>Skills in written and verbal communication</a:t>
            </a:r>
          </a:p>
          <a:p>
            <a:pPr lvl="1"/>
            <a:r>
              <a:rPr lang="en-US" altLang="en-US" dirty="0" smtClean="0"/>
              <a:t>An understanding of organizations and the way they operate</a:t>
            </a:r>
          </a:p>
          <a:p>
            <a:pPr lvl="1"/>
            <a:r>
              <a:rPr lang="en-US" altLang="en-US" dirty="0" smtClean="0"/>
              <a:t>The ability to work with people and in groups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914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Roles, Functions, and Careers in 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27743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Typical IS Titles and Functions</a:t>
            </a:r>
          </a:p>
          <a:p>
            <a:endParaRPr lang="en-US" dirty="0" smtClean="0"/>
          </a:p>
          <a:p>
            <a:r>
              <a:rPr lang="en-US" altLang="en-US" dirty="0" smtClean="0"/>
              <a:t>Chief information officer (CIO) employs the IS department’s equipment and personnel to help the organization attain its goals</a:t>
            </a:r>
          </a:p>
          <a:p>
            <a:r>
              <a:rPr lang="en-US" altLang="en-US" dirty="0" smtClean="0"/>
              <a:t>Senior IS Managers</a:t>
            </a:r>
          </a:p>
          <a:p>
            <a:pPr lvl="1"/>
            <a:r>
              <a:rPr lang="en-US" altLang="en-US" dirty="0" smtClean="0"/>
              <a:t>Vice president of information systems</a:t>
            </a:r>
          </a:p>
          <a:p>
            <a:pPr lvl="1"/>
            <a:r>
              <a:rPr lang="en-US" altLang="en-US" dirty="0" smtClean="0"/>
              <a:t>Manager of information systems</a:t>
            </a:r>
          </a:p>
          <a:p>
            <a:pPr lvl="1"/>
            <a:r>
              <a:rPr lang="en-US" altLang="en-US" dirty="0" smtClean="0"/>
              <a:t>Chief technology officer (CTO)</a:t>
            </a:r>
          </a:p>
          <a:p>
            <a:pPr lvl="1"/>
            <a:r>
              <a:rPr lang="en-US" altLang="en-US" dirty="0" smtClean="0"/>
              <a:t>Central role of all of the above is to communicate with other areas of the organization to determine changing business needs</a:t>
            </a:r>
          </a:p>
          <a:p>
            <a:endParaRPr lang="en-US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12793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Typical IS Titles and Functions: Operations Roles</a:t>
            </a:r>
          </a:p>
          <a:p>
            <a:endParaRPr lang="en-US" dirty="0" smtClean="0"/>
          </a:p>
          <a:p>
            <a:r>
              <a:rPr lang="en-US" altLang="en-US" dirty="0" smtClean="0"/>
              <a:t>Data center managers are responsible for the maintenance and operation of the organization’s computing facilities</a:t>
            </a:r>
          </a:p>
          <a:p>
            <a:r>
              <a:rPr lang="en-US" altLang="en-US" dirty="0" smtClean="0"/>
              <a:t>System operators run and maintain IS equipment</a:t>
            </a:r>
          </a:p>
          <a:p>
            <a:r>
              <a:rPr lang="en-US" altLang="en-US" dirty="0" smtClean="0"/>
              <a:t>IS security analysts are responsible for maintaining the security and integrity of their organizations’ systems and data</a:t>
            </a:r>
          </a:p>
          <a:p>
            <a:r>
              <a:rPr lang="en-US" altLang="en-US" dirty="0" smtClean="0"/>
              <a:t>Local area network (LAN) administrators set up and manage the network hardware, software, and security processes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52959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Typical IS Titles and Functions: Development Roles</a:t>
            </a:r>
          </a:p>
          <a:p>
            <a:endParaRPr lang="en-US" dirty="0" smtClean="0"/>
          </a:p>
          <a:p>
            <a:r>
              <a:rPr lang="en-US" altLang="en-US" dirty="0" smtClean="0"/>
              <a:t>Software developers write the software that customers and employees use</a:t>
            </a:r>
          </a:p>
          <a:p>
            <a:r>
              <a:rPr lang="en-US" altLang="en-US" dirty="0" smtClean="0"/>
              <a:t>Systems analysts consult with management and users, as well as convey system requirements to software developers and network architects</a:t>
            </a:r>
          </a:p>
          <a:p>
            <a:r>
              <a:rPr lang="en-US" altLang="en-US" dirty="0" smtClean="0"/>
              <a:t>Programmers convert a program design developed by a systems analyst or software developer into one of many computer languages</a:t>
            </a:r>
          </a:p>
          <a:p>
            <a:r>
              <a:rPr lang="en-US" altLang="en-US" dirty="0" smtClean="0"/>
              <a:t>Web developers design and maintain Web sites, including site layout and function, to meet the client’s requirements</a:t>
            </a:r>
          </a:p>
          <a:p>
            <a:endParaRPr lang="en-US" alt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5774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Typical IS Titles and Functions: Support</a:t>
            </a:r>
          </a:p>
          <a:p>
            <a:endParaRPr lang="en-US" dirty="0" smtClean="0"/>
          </a:p>
          <a:p>
            <a:r>
              <a:rPr lang="en-US" altLang="en-US" dirty="0" smtClean="0"/>
              <a:t>Database administrators (DBAs) design and set up databases to meet an organization’s needs</a:t>
            </a:r>
          </a:p>
          <a:p>
            <a:r>
              <a:rPr lang="en-US" altLang="en-US" dirty="0" smtClean="0"/>
              <a:t>System support specialists respond to telephone calls, email, and other inquiries from computer users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1816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IS-Related Roles outside the IS Organization</a:t>
            </a:r>
          </a:p>
          <a:p>
            <a:endParaRPr lang="en-US" dirty="0" smtClean="0"/>
          </a:p>
          <a:p>
            <a:r>
              <a:rPr lang="en-US" altLang="en-US" dirty="0" smtClean="0"/>
              <a:t>Shadow IT</a:t>
            </a:r>
          </a:p>
          <a:p>
            <a:pPr lvl="1"/>
            <a:r>
              <a:rPr lang="en-US" altLang="en-US" dirty="0" smtClean="0"/>
              <a:t>A term used to describe the IS and solutions built and deployed by departments other than the information systems department</a:t>
            </a:r>
          </a:p>
          <a:p>
            <a:pPr lvl="1"/>
            <a:r>
              <a:rPr lang="en-US" altLang="en-US" dirty="0" smtClean="0"/>
              <a:t>Enables business managers to quickly create highly innovative solutions to real business problems and to test these solutions out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48234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IS-Related Roles outside the IS Organization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87579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Certification</a:t>
            </a:r>
          </a:p>
          <a:p>
            <a:endParaRPr lang="en-US" dirty="0" smtClean="0"/>
          </a:p>
          <a:p>
            <a:r>
              <a:rPr lang="en-US" altLang="en-US" dirty="0" smtClean="0"/>
              <a:t>Certification</a:t>
            </a:r>
          </a:p>
          <a:p>
            <a:pPr lvl="1"/>
            <a:r>
              <a:rPr lang="en-US" altLang="en-US" dirty="0" smtClean="0"/>
              <a:t>A process for testing skills and knowledge </a:t>
            </a:r>
          </a:p>
          <a:p>
            <a:pPr lvl="1"/>
            <a:r>
              <a:rPr lang="en-US" altLang="en-US" dirty="0" smtClean="0"/>
              <a:t>Results in a statement by the certifying authority that confirms an individual is capable of performing particular tasks</a:t>
            </a:r>
          </a:p>
          <a:p>
            <a:r>
              <a:rPr lang="en-US" altLang="en-US" dirty="0" smtClean="0"/>
              <a:t>Frequently involves specific, vendor-provided or vendor-endorsed coursework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81466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Other IS Careers</a:t>
            </a:r>
          </a:p>
          <a:p>
            <a:endParaRPr lang="en-US" dirty="0" smtClean="0"/>
          </a:p>
          <a:p>
            <a:r>
              <a:rPr lang="en-US" altLang="en-US" dirty="0" smtClean="0"/>
              <a:t>Consulting opportunities</a:t>
            </a:r>
          </a:p>
          <a:p>
            <a:r>
              <a:rPr lang="en-US" altLang="en-US" dirty="0" smtClean="0"/>
              <a:t>Computer training</a:t>
            </a:r>
          </a:p>
          <a:p>
            <a:r>
              <a:rPr lang="en-US" altLang="en-US" dirty="0" smtClean="0"/>
              <a:t>Computer and computer-equipment sales</a:t>
            </a:r>
          </a:p>
          <a:p>
            <a:r>
              <a:rPr lang="en-US" altLang="en-US" dirty="0" smtClean="0"/>
              <a:t>Computer repair and maintenance</a:t>
            </a:r>
          </a:p>
          <a:p>
            <a:r>
              <a:rPr lang="en-US" altLang="en-US" dirty="0" smtClean="0"/>
              <a:t>Support services</a:t>
            </a:r>
          </a:p>
          <a:p>
            <a:r>
              <a:rPr lang="en-US" altLang="en-US" dirty="0" smtClean="0"/>
              <a:t>Employment with technology companies</a:t>
            </a:r>
          </a:p>
          <a:p>
            <a:r>
              <a:rPr lang="en-US" altLang="en-US" dirty="0" smtClean="0"/>
              <a:t>Entrepreneurial ventures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1736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Working in Teams</a:t>
            </a:r>
          </a:p>
          <a:p>
            <a:endParaRPr lang="en-US" dirty="0" smtClean="0"/>
          </a:p>
          <a:p>
            <a:r>
              <a:rPr lang="en-US" altLang="en-US" dirty="0" smtClean="0"/>
              <a:t>Most IS careers involve working in project teams that can consist of many of the positions and roles</a:t>
            </a:r>
          </a:p>
          <a:p>
            <a:r>
              <a:rPr lang="en-US" altLang="en-US" dirty="0" smtClean="0"/>
              <a:t>It is always good for IS professionals to:</a:t>
            </a:r>
          </a:p>
          <a:p>
            <a:pPr lvl="1"/>
            <a:r>
              <a:rPr lang="en-US" altLang="en-US" dirty="0" smtClean="0"/>
              <a:t>Have good communications skills and the ability to work with other people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917085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24100" y="531813"/>
            <a:ext cx="4724400" cy="26574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 smtClean="0"/>
              <a:t>Finding a Job in IS</a:t>
            </a:r>
          </a:p>
          <a:p>
            <a:endParaRPr lang="en-US" dirty="0" smtClean="0"/>
          </a:p>
          <a:p>
            <a:r>
              <a:rPr lang="en-US" altLang="en-US" dirty="0" smtClean="0"/>
              <a:t>Developing an online résumé can be critical to finding a good job</a:t>
            </a:r>
          </a:p>
          <a:p>
            <a:r>
              <a:rPr lang="en-US" altLang="en-US" dirty="0" smtClean="0"/>
              <a:t>The Internet</a:t>
            </a:r>
          </a:p>
          <a:p>
            <a:pPr lvl="1"/>
            <a:r>
              <a:rPr lang="en-US" altLang="en-US" dirty="0" smtClean="0"/>
              <a:t>Online job sites</a:t>
            </a:r>
          </a:p>
          <a:p>
            <a:pPr lvl="1"/>
            <a:r>
              <a:rPr lang="en-US" altLang="en-US" dirty="0" smtClean="0"/>
              <a:t>Company Web sites</a:t>
            </a:r>
          </a:p>
          <a:p>
            <a:pPr lvl="1"/>
            <a:r>
              <a:rPr lang="en-US" altLang="en-US" dirty="0" smtClean="0"/>
              <a:t>Social networking sites</a:t>
            </a:r>
          </a:p>
          <a:p>
            <a:r>
              <a:rPr lang="en-US" altLang="en-US" dirty="0" smtClean="0"/>
              <a:t>Informal networks of colleagues or business acquaintances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7134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2324100" y="531813"/>
            <a:ext cx="4724400" cy="2657475"/>
          </a:xfrm>
          <a:ln/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Summary</a:t>
            </a:r>
          </a:p>
          <a:p>
            <a:endParaRPr lang="en-US" altLang="en-US" dirty="0"/>
          </a:p>
          <a:p>
            <a:pPr eaLnBrk="1" hangingPunct="1"/>
            <a:r>
              <a:rPr lang="en-US" altLang="en-US" dirty="0"/>
              <a:t>Organizations are open systems that affect and are affected by their surrounding environment</a:t>
            </a:r>
          </a:p>
          <a:p>
            <a:pPr eaLnBrk="1" hangingPunct="1"/>
            <a:r>
              <a:rPr lang="en-US" altLang="en-US" dirty="0"/>
              <a:t>Positive change is a key ingredient for any successful organization</a:t>
            </a:r>
          </a:p>
          <a:p>
            <a:pPr eaLnBrk="1" hangingPunct="1"/>
            <a:r>
              <a:rPr lang="en-US" altLang="en-US" dirty="0"/>
              <a:t>Information systems must be implemented in such a manner that they are accepted and work well within the context of an organization and support its fundamental business goals and </a:t>
            </a:r>
            <a:r>
              <a:rPr lang="en-US" altLang="en-US" dirty="0" smtClean="0"/>
              <a:t>strategies</a:t>
            </a:r>
          </a:p>
          <a:p>
            <a:pPr eaLnBrk="1" hangingPunct="1"/>
            <a:r>
              <a:rPr lang="en-US" altLang="en-US" dirty="0" smtClean="0"/>
              <a:t>The information system worker functions at the intersection of business and technology and designs, builds, and implements solutions that allow organizations to effectively leverage information technology systems</a:t>
            </a: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78D70D9-A503-45AB-8879-8FCBE2B737DA}" type="slidenum">
              <a:rPr lang="en-US" altLang="en-US" smtClean="0"/>
              <a:pPr>
                <a:spcBef>
                  <a:spcPct val="0"/>
                </a:spcBef>
              </a:pPr>
              <a:t>49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58015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846" y="254000"/>
            <a:ext cx="11617953" cy="65267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334" y="2712698"/>
            <a:ext cx="10329333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1334" y="3352800"/>
            <a:ext cx="10329333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4643120" y="223520"/>
            <a:ext cx="283464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2169499" y="481305"/>
            <a:ext cx="13378688" cy="99113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9083045" y="4885107"/>
            <a:ext cx="277372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825" y="5389519"/>
            <a:ext cx="1316075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11565985" y="5121742"/>
            <a:ext cx="367343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9921425" y="6393019"/>
            <a:ext cx="514729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10643085" y="5408381"/>
            <a:ext cx="591497" cy="32758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10585831" y="5831840"/>
            <a:ext cx="897143" cy="745880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354563" y="6456818"/>
            <a:ext cx="8533107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6415635"/>
            <a:ext cx="1534712" cy="35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2133" y="2228188"/>
            <a:ext cx="82296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2133" y="2942671"/>
            <a:ext cx="82296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6" name="Picture 5" descr="Rules_Single_A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2130243" y="6487630"/>
            <a:ext cx="15231660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10" y="361954"/>
            <a:ext cx="2453993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908921" y="1916271"/>
            <a:ext cx="1211427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423336" y="3412226"/>
            <a:ext cx="795867" cy="111100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1172865" y="2604921"/>
            <a:ext cx="1468733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605" y="4534755"/>
            <a:ext cx="795784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983389" y="4804754"/>
            <a:ext cx="336456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2130244" y="6578466"/>
            <a:ext cx="9042257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58294" y="6363035"/>
            <a:ext cx="1867052" cy="4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016000" y="406259"/>
            <a:ext cx="10701867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87867" y="948267"/>
            <a:ext cx="11448288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106224" y="222264"/>
            <a:ext cx="838656" cy="697255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2130243" y="6487630"/>
            <a:ext cx="15231660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2130244" y="6578466"/>
            <a:ext cx="9042257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2904" y="6324601"/>
            <a:ext cx="1919265" cy="44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406259"/>
            <a:ext cx="10701867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87867" y="948267"/>
            <a:ext cx="11448288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106224" y="222264"/>
            <a:ext cx="838656" cy="697255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2130243" y="6487630"/>
            <a:ext cx="15231660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2130244" y="6578466"/>
            <a:ext cx="9042257" cy="244535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80651" y="6305979"/>
            <a:ext cx="1870699" cy="43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6833" y="1538819"/>
            <a:ext cx="11220451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11278935" y="6513743"/>
            <a:ext cx="306494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6833" y="480786"/>
            <a:ext cx="11220451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86835" y="6611008"/>
            <a:ext cx="10685663" cy="2119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2455335" y="1415420"/>
            <a:ext cx="10329333" cy="1674305"/>
          </a:xfrm>
        </p:spPr>
        <p:txBody>
          <a:bodyPr/>
          <a:lstStyle/>
          <a:p>
            <a:pPr eaLnBrk="1" hangingPunct="1"/>
            <a:r>
              <a:rPr lang="en-US" altLang="en-US" sz="4400" dirty="0"/>
              <a:t>Principles of Information Systems, Thirteenth Edition</a:t>
            </a:r>
            <a:r>
              <a:rPr lang="en-US" altLang="en-US" sz="4000" dirty="0"/>
              <a:t/>
            </a:r>
            <a:br>
              <a:rPr lang="en-US" altLang="en-US" sz="4000" dirty="0"/>
            </a:br>
            <a:endParaRPr lang="en-US" altLang="en-US" sz="4000" dirty="0"/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895600" y="4191001"/>
            <a:ext cx="6400800" cy="156658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400" i="1" dirty="0"/>
              <a:t>Chapter </a:t>
            </a:r>
            <a:r>
              <a:rPr lang="en-US" altLang="en-US" sz="3400" i="1" dirty="0"/>
              <a:t>2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400" i="1" dirty="0"/>
              <a:t>Information Systems in Organizations</a:t>
            </a:r>
          </a:p>
        </p:txBody>
      </p:sp>
      <p:pic>
        <p:nvPicPr>
          <p:cNvPr id="717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24717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2539922" y="6456818"/>
            <a:ext cx="6399830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259476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165600" y="560581"/>
            <a:ext cx="6172200" cy="475066"/>
          </a:xfrm>
        </p:spPr>
        <p:txBody>
          <a:bodyPr/>
          <a:lstStyle/>
          <a:p>
            <a:r>
              <a:rPr lang="en-US" altLang="en-US" sz="3600" b="1" dirty="0"/>
              <a:t>Objectives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71800" y="1219200"/>
            <a:ext cx="9067800" cy="5090624"/>
          </a:xfrm>
        </p:spPr>
        <p:txBody>
          <a:bodyPr/>
          <a:lstStyle/>
          <a:p>
            <a:pPr algn="just">
              <a:defRPr/>
            </a:pPr>
            <a:r>
              <a:rPr lang="en-US" sz="2200" dirty="0"/>
              <a:t>After completing this chapter, you will be able to:</a:t>
            </a:r>
          </a:p>
          <a:p>
            <a:pPr algn="just">
              <a:defRPr/>
            </a:pPr>
            <a:endParaRPr lang="en-US" sz="2200" dirty="0" smtClean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200" dirty="0" smtClean="0"/>
              <a:t>Sketch </a:t>
            </a:r>
            <a:r>
              <a:rPr lang="en-US" sz="2200" dirty="0"/>
              <a:t>a general model of an organization showing how information systems support and work within  automated portions of an organizational process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 smtClean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200" dirty="0" smtClean="0"/>
              <a:t>Define </a:t>
            </a:r>
            <a:r>
              <a:rPr lang="en-US" sz="2200" dirty="0"/>
              <a:t>the term value chain and identify several examples within a typical manufacturing or service organization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 smtClean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200" dirty="0" smtClean="0"/>
              <a:t>Define </a:t>
            </a:r>
            <a:r>
              <a:rPr lang="en-US" sz="2200" dirty="0"/>
              <a:t>the term innovation and identify two types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 smtClean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200" dirty="0" smtClean="0"/>
              <a:t>Define </a:t>
            </a:r>
            <a:r>
              <a:rPr lang="en-US" sz="2200" dirty="0"/>
              <a:t>reengineering and continuous improvement and explain how they are different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9220" name="Rectangle 6"/>
          <p:cNvSpPr>
            <a:spLocks noGrp="1" noChangeArrowheads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982520-4C58-46BA-9FD0-1EAD5246BF3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3541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581400" y="865381"/>
            <a:ext cx="8229600" cy="475066"/>
          </a:xfrm>
        </p:spPr>
        <p:txBody>
          <a:bodyPr/>
          <a:lstStyle/>
          <a:p>
            <a:r>
              <a:rPr lang="en-US" altLang="en-US" sz="3600" b="1" dirty="0"/>
              <a:t>Objectives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6600" y="1524000"/>
            <a:ext cx="8686800" cy="4768998"/>
          </a:xfrm>
        </p:spPr>
        <p:txBody>
          <a:bodyPr/>
          <a:lstStyle/>
          <a:p>
            <a:pPr algn="just">
              <a:defRPr/>
            </a:pPr>
            <a:r>
              <a:rPr lang="en-US" sz="2200" dirty="0"/>
              <a:t>After completing this chapter, you will be able to: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 smtClean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200" dirty="0" smtClean="0"/>
              <a:t>Discuss </a:t>
            </a:r>
            <a:r>
              <a:rPr lang="en-US" sz="2200" dirty="0"/>
              <a:t>pros and cons of outsourcing, offshoring, and downsizing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 smtClean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200" dirty="0" smtClean="0"/>
              <a:t>Define </a:t>
            </a:r>
            <a:r>
              <a:rPr lang="en-US" sz="2200" dirty="0"/>
              <a:t>the term “the soft side of implementing change” and explain why it is a critical factor in the successful adoption of any major change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 smtClean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200" dirty="0" smtClean="0"/>
              <a:t>Identify </a:t>
            </a:r>
            <a:r>
              <a:rPr lang="en-US" sz="2200" dirty="0"/>
              <a:t>and describe four change models used to increase the likelihood of successfully introducing a new IS into an organization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endParaRPr lang="en-US" sz="2200" dirty="0" smtClean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US" sz="2200" dirty="0" smtClean="0"/>
              <a:t>Define </a:t>
            </a:r>
            <a:r>
              <a:rPr lang="en-US" sz="2200" dirty="0"/>
              <a:t>the types of roles, functions and careers available in the field of IS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11268" name="Rectangle 6"/>
          <p:cNvSpPr>
            <a:spLocks noGrp="1" noChangeArrowheads="1"/>
          </p:cNvSpPr>
          <p:nvPr>
            <p:ph type="sldNum" sz="quarter" idx="429496729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4E628B-E7E6-41EC-B750-BED490D0B2E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2981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Organizations and Information Systems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016000" y="1543050"/>
            <a:ext cx="10185400" cy="4307333"/>
          </a:xfrm>
        </p:spPr>
        <p:txBody>
          <a:bodyPr/>
          <a:lstStyle/>
          <a:p>
            <a:pPr algn="just"/>
            <a:r>
              <a:rPr lang="en-US" altLang="en-US" sz="2200" b="1" i="1" dirty="0"/>
              <a:t>Organization</a:t>
            </a:r>
            <a:r>
              <a:rPr lang="en-US" altLang="en-US" sz="2200" dirty="0"/>
              <a:t>: a group of people that is structured and managed to meet its mission or set of group </a:t>
            </a:r>
            <a:r>
              <a:rPr lang="en-US" altLang="en-US" sz="2200" dirty="0" smtClean="0"/>
              <a:t>goals</a:t>
            </a:r>
          </a:p>
          <a:p>
            <a:pPr algn="just"/>
            <a:endParaRPr lang="en-US" altLang="en-US" sz="2200" dirty="0"/>
          </a:p>
          <a:p>
            <a:pPr lvl="1" algn="just"/>
            <a:r>
              <a:rPr lang="en-US" altLang="en-US" sz="2200" dirty="0"/>
              <a:t>There are relationships between members of the organization and their various activities</a:t>
            </a:r>
          </a:p>
          <a:p>
            <a:pPr lvl="1" algn="just"/>
            <a:r>
              <a:rPr lang="en-US" altLang="en-US" sz="2200" dirty="0"/>
              <a:t>Processes are defined that assign roles, responsibilities, and authority to complete the various </a:t>
            </a:r>
            <a:r>
              <a:rPr lang="en-US" altLang="en-US" sz="2200" dirty="0" smtClean="0"/>
              <a:t>activities</a:t>
            </a:r>
          </a:p>
          <a:p>
            <a:pPr lvl="1" algn="just"/>
            <a:endParaRPr lang="en-US" altLang="en-US" sz="2200" dirty="0"/>
          </a:p>
          <a:p>
            <a:pPr algn="just"/>
            <a:r>
              <a:rPr lang="en-US" altLang="en-US" sz="2200" dirty="0"/>
              <a:t>Organizations are open systems</a:t>
            </a:r>
          </a:p>
          <a:p>
            <a:pPr lvl="1" algn="just"/>
            <a:r>
              <a:rPr lang="en-US" altLang="en-US" sz="2200" dirty="0"/>
              <a:t>They affect and are affected by their surrounding environments</a:t>
            </a:r>
          </a:p>
          <a:p>
            <a:pPr algn="just"/>
            <a:endParaRPr lang="en-US" altLang="en-US" sz="2200" dirty="0"/>
          </a:p>
        </p:txBody>
      </p:sp>
      <p:sp>
        <p:nvSpPr>
          <p:cNvPr id="133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E48316-568E-4EF6-A9D4-F4D98E2385C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2896085" y="6484323"/>
            <a:ext cx="6399830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1665587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1016000" y="343230"/>
            <a:ext cx="10701867" cy="422295"/>
          </a:xfrm>
        </p:spPr>
        <p:txBody>
          <a:bodyPr/>
          <a:lstStyle/>
          <a:p>
            <a:pPr algn="ctr"/>
            <a:r>
              <a:rPr lang="en-US" altLang="en-US" sz="3200" b="1" dirty="0"/>
              <a:t>Organizations and Information Systems</a:t>
            </a:r>
          </a:p>
        </p:txBody>
      </p:sp>
      <p:pic>
        <p:nvPicPr>
          <p:cNvPr id="2" name="Content Placeholder 1" descr="General model of an organization" title="Figure 2-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28800" y="1036864"/>
            <a:ext cx="9448800" cy="5287736"/>
          </a:xfrm>
        </p:spPr>
      </p:pic>
      <p:sp>
        <p:nvSpPr>
          <p:cNvPr id="1536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002ACA-5A16-4C3F-878F-4939B7C0DE6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4053856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1016000" y="343230"/>
            <a:ext cx="10701867" cy="422295"/>
          </a:xfrm>
        </p:spPr>
        <p:txBody>
          <a:bodyPr/>
          <a:lstStyle/>
          <a:p>
            <a:pPr algn="ctr"/>
            <a:r>
              <a:rPr lang="en-US" altLang="en-US" sz="3200" b="1" dirty="0"/>
              <a:t>Organizations and Information Systems</a:t>
            </a:r>
          </a:p>
        </p:txBody>
      </p:sp>
      <p:sp>
        <p:nvSpPr>
          <p:cNvPr id="1741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FA1729-1A2A-4904-9487-EF57D5AB4FA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dirty="0"/>
          </a:p>
        </p:txBody>
      </p:sp>
      <p:sp>
        <p:nvSpPr>
          <p:cNvPr id="17413" name="Content Placeholder 2"/>
          <p:cNvSpPr>
            <a:spLocks noGrp="1"/>
          </p:cNvSpPr>
          <p:nvPr>
            <p:ph idx="1"/>
          </p:nvPr>
        </p:nvSpPr>
        <p:spPr>
          <a:xfrm>
            <a:off x="1016000" y="1295400"/>
            <a:ext cx="10261600" cy="4062651"/>
          </a:xfrm>
        </p:spPr>
        <p:txBody>
          <a:bodyPr/>
          <a:lstStyle/>
          <a:p>
            <a:pPr algn="just"/>
            <a:r>
              <a:rPr lang="en-US" altLang="en-US" sz="2200" b="1" i="1" dirty="0"/>
              <a:t>Value chain</a:t>
            </a:r>
            <a:r>
              <a:rPr lang="en-US" altLang="en-US" sz="2200" dirty="0"/>
              <a:t>: a series (chain) of activities that an organization performs to transform inputs into outputs</a:t>
            </a:r>
          </a:p>
          <a:p>
            <a:pPr lvl="1" algn="just"/>
            <a:r>
              <a:rPr lang="en-US" altLang="en-US" sz="2200" dirty="0"/>
              <a:t>The value of the input is increased</a:t>
            </a:r>
          </a:p>
          <a:p>
            <a:pPr algn="just"/>
            <a:endParaRPr lang="en-US" altLang="en-US" sz="2200" dirty="0" smtClean="0"/>
          </a:p>
          <a:p>
            <a:pPr algn="just"/>
            <a:r>
              <a:rPr lang="en-US" altLang="en-US" sz="2200" dirty="0" smtClean="0"/>
              <a:t>Supply </a:t>
            </a:r>
            <a:r>
              <a:rPr lang="en-US" altLang="en-US" sz="2200" dirty="0"/>
              <a:t>chain: key value chain in a manufacturing organization</a:t>
            </a:r>
          </a:p>
          <a:p>
            <a:pPr algn="just"/>
            <a:endParaRPr lang="en-US" altLang="en-US" sz="2200" dirty="0" smtClean="0"/>
          </a:p>
          <a:p>
            <a:pPr algn="just"/>
            <a:r>
              <a:rPr lang="en-US" altLang="en-US" sz="2200" b="1" i="1" dirty="0" smtClean="0"/>
              <a:t>Supply </a:t>
            </a:r>
            <a:r>
              <a:rPr lang="en-US" altLang="en-US" sz="2200" b="1" i="1" dirty="0"/>
              <a:t>chain management (SCM): </a:t>
            </a:r>
            <a:r>
              <a:rPr lang="en-US" altLang="en-US" sz="2200" dirty="0"/>
              <a:t>encompasses all the activities required to get the right product into the right consumer’s hands in the right quantity at the right time and at the right cost</a:t>
            </a:r>
          </a:p>
          <a:p>
            <a:pPr algn="just"/>
            <a:endParaRPr lang="en-US" altLang="en-US" sz="22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3688856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1016000" y="316845"/>
            <a:ext cx="10701867" cy="475066"/>
          </a:xfrm>
        </p:spPr>
        <p:txBody>
          <a:bodyPr/>
          <a:lstStyle/>
          <a:p>
            <a:pPr algn="ctr"/>
            <a:r>
              <a:rPr lang="en-US" altLang="en-US" sz="3600" b="1" dirty="0"/>
              <a:t>Organizations and Information Systems</a:t>
            </a:r>
          </a:p>
        </p:txBody>
      </p:sp>
      <p:sp>
        <p:nvSpPr>
          <p:cNvPr id="1946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4EC61B-BFA6-4208-9FD2-83A398B3E33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dirty="0"/>
          </a:p>
        </p:txBody>
      </p:sp>
      <p:pic>
        <p:nvPicPr>
          <p:cNvPr id="6" name="Content Placeholder 5" descr="Supply chain" title="Figure 2-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8400" y="1143000"/>
            <a:ext cx="8734101" cy="5278581"/>
          </a:xfrm>
        </p:spPr>
      </p:pic>
      <p:pic>
        <p:nvPicPr>
          <p:cNvPr id="19462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953000"/>
            <a:ext cx="20955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</p:spTree>
    <p:extLst>
      <p:ext uri="{BB962C8B-B14F-4D97-AF65-F5344CB8AC3E}">
        <p14:creationId xmlns:p14="http://schemas.microsoft.com/office/powerpoint/2010/main" val="285475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981200" y="310173"/>
            <a:ext cx="7557789" cy="475066"/>
          </a:xfrm>
        </p:spPr>
        <p:txBody>
          <a:bodyPr/>
          <a:lstStyle/>
          <a:p>
            <a:pPr algn="ctr"/>
            <a:r>
              <a:rPr lang="en-US" altLang="en-US" sz="3600" b="1" dirty="0"/>
              <a:t>Organizations and Information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150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650E2E-1833-409B-A980-0F36FC830B8D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dirty="0"/>
          </a:p>
        </p:txBody>
      </p:sp>
      <p:sp>
        <p:nvSpPr>
          <p:cNvPr id="21509" name="Content Placeholder 2"/>
          <p:cNvSpPr>
            <a:spLocks noGrp="1"/>
          </p:cNvSpPr>
          <p:nvPr>
            <p:ph idx="1"/>
          </p:nvPr>
        </p:nvSpPr>
        <p:spPr>
          <a:xfrm>
            <a:off x="486833" y="1219200"/>
            <a:ext cx="11220451" cy="4859792"/>
          </a:xfrm>
        </p:spPr>
        <p:txBody>
          <a:bodyPr/>
          <a:lstStyle/>
          <a:p>
            <a:pPr algn="just"/>
            <a:r>
              <a:rPr lang="en-US" altLang="en-US" sz="2200" dirty="0"/>
              <a:t>Supply chain organizations are “linked” together through both physical flows and information flows</a:t>
            </a:r>
          </a:p>
          <a:p>
            <a:pPr lvl="1" algn="just"/>
            <a:r>
              <a:rPr lang="en-US" altLang="en-US" sz="2200" b="1" dirty="0"/>
              <a:t>Physical</a:t>
            </a:r>
            <a:r>
              <a:rPr lang="en-US" altLang="en-US" sz="2200" dirty="0"/>
              <a:t>: supplies and raw materials</a:t>
            </a:r>
          </a:p>
          <a:p>
            <a:pPr lvl="1" algn="just"/>
            <a:r>
              <a:rPr lang="en-US" altLang="en-US" sz="2200" b="1" dirty="0"/>
              <a:t>Information</a:t>
            </a:r>
            <a:r>
              <a:rPr lang="en-US" altLang="en-US" sz="2200" dirty="0"/>
              <a:t>: participants communicating their plans, coordinating their work, and managing the efficient flow of goods and material</a:t>
            </a:r>
          </a:p>
          <a:p>
            <a:pPr algn="just"/>
            <a:endParaRPr lang="en-US" altLang="en-US" sz="2200" dirty="0" smtClean="0"/>
          </a:p>
          <a:p>
            <a:pPr algn="just"/>
            <a:endParaRPr lang="en-US" altLang="en-US" sz="2200" dirty="0"/>
          </a:p>
          <a:p>
            <a:pPr algn="just"/>
            <a:r>
              <a:rPr lang="en-US" altLang="en-US" sz="2200" dirty="0" smtClean="0"/>
              <a:t>The </a:t>
            </a:r>
            <a:r>
              <a:rPr lang="en-US" altLang="en-US" sz="2200" dirty="0"/>
              <a:t>information system can play an integral role in the supply chain process:</a:t>
            </a:r>
          </a:p>
          <a:p>
            <a:pPr lvl="1" algn="just"/>
            <a:r>
              <a:rPr lang="en-US" altLang="en-US" sz="2200" dirty="0"/>
              <a:t>Providing input</a:t>
            </a:r>
          </a:p>
          <a:p>
            <a:pPr lvl="1" algn="just"/>
            <a:r>
              <a:rPr lang="en-US" altLang="en-US" sz="2200" dirty="0"/>
              <a:t>Aiding product transformation</a:t>
            </a:r>
          </a:p>
          <a:p>
            <a:pPr lvl="1" algn="just"/>
            <a:r>
              <a:rPr lang="en-US" altLang="en-US" sz="2200" dirty="0"/>
              <a:t>Producing output</a:t>
            </a:r>
          </a:p>
          <a:p>
            <a:pPr algn="just"/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051793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1016000" y="316845"/>
            <a:ext cx="10701867" cy="475066"/>
          </a:xfrm>
        </p:spPr>
        <p:txBody>
          <a:bodyPr/>
          <a:lstStyle/>
          <a:p>
            <a:pPr algn="ctr"/>
            <a:r>
              <a:rPr lang="en-US" altLang="en-US" sz="3600" b="1" dirty="0"/>
              <a:t>Virtual Teams and Collaborative Work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2391424"/>
          </a:xfrm>
        </p:spPr>
        <p:txBody>
          <a:bodyPr/>
          <a:lstStyle/>
          <a:p>
            <a:pPr algn="just"/>
            <a:r>
              <a:rPr lang="en-US" altLang="en-US" sz="2200" b="1" i="1" dirty="0"/>
              <a:t>Virtual team: </a:t>
            </a:r>
            <a:r>
              <a:rPr lang="en-US" altLang="en-US" sz="2200" dirty="0"/>
              <a:t>a group of individuals whose members are distributed geographically, but work as a coherent unit through the use of information systems </a:t>
            </a:r>
            <a:r>
              <a:rPr lang="en-US" altLang="en-US" sz="2200" dirty="0" smtClean="0"/>
              <a:t>technology</a:t>
            </a:r>
          </a:p>
          <a:p>
            <a:pPr algn="just"/>
            <a:endParaRPr lang="en-US" altLang="en-US" sz="2200" dirty="0"/>
          </a:p>
          <a:p>
            <a:pPr lvl="1" algn="just"/>
            <a:r>
              <a:rPr lang="en-US" altLang="en-US" sz="2200" dirty="0"/>
              <a:t>Strength: the best available people are enlisted to solve important organizational problems</a:t>
            </a:r>
          </a:p>
          <a:p>
            <a:pPr lvl="1" algn="just"/>
            <a:r>
              <a:rPr lang="en-US" altLang="en-US" sz="2200" dirty="0"/>
              <a:t>Supported by electronic communications: email, instant messages, video conferences, etc.</a:t>
            </a:r>
          </a:p>
          <a:p>
            <a:pPr algn="just"/>
            <a:endParaRPr lang="en-US" alt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A96B8EA-A5CC-416D-8715-7D3EFBEC79C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57654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1016000" y="316845"/>
            <a:ext cx="10701867" cy="475066"/>
          </a:xfrm>
        </p:spPr>
        <p:txBody>
          <a:bodyPr/>
          <a:lstStyle/>
          <a:p>
            <a:pPr algn="ctr"/>
            <a:r>
              <a:rPr lang="en-US" altLang="en-US" sz="3600" b="1" dirty="0"/>
              <a:t>Innovation</a:t>
            </a:r>
            <a:endParaRPr lang="en-US" altLang="en-US" b="1" dirty="0"/>
          </a:p>
        </p:txBody>
      </p:sp>
      <p:sp>
        <p:nvSpPr>
          <p:cNvPr id="24579" name="Content Placeholder 2"/>
          <p:cNvSpPr>
            <a:spLocks noGrp="1"/>
          </p:cNvSpPr>
          <p:nvPr>
            <p:ph idx="1"/>
          </p:nvPr>
        </p:nvSpPr>
        <p:spPr>
          <a:xfrm>
            <a:off x="838200" y="1143000"/>
            <a:ext cx="10820400" cy="5484578"/>
          </a:xfrm>
        </p:spPr>
        <p:txBody>
          <a:bodyPr/>
          <a:lstStyle/>
          <a:p>
            <a:pPr algn="just"/>
            <a:r>
              <a:rPr lang="en-US" altLang="en-US" sz="2200" b="1" i="1" dirty="0"/>
              <a:t>Innovation: </a:t>
            </a:r>
            <a:r>
              <a:rPr lang="en-US" altLang="en-US" sz="2200" dirty="0"/>
              <a:t>the application of new ideas to the products, processes, and activities of a firm, leading to increased value</a:t>
            </a:r>
          </a:p>
          <a:p>
            <a:pPr lvl="1" algn="just"/>
            <a:r>
              <a:rPr lang="en-US" altLang="en-US" sz="2200" dirty="0"/>
              <a:t>A catalyst for the growth and success of an organization</a:t>
            </a:r>
          </a:p>
          <a:p>
            <a:pPr algn="just"/>
            <a:r>
              <a:rPr lang="en-US" altLang="en-US" sz="2200" dirty="0"/>
              <a:t>Can lead to cutting-edge products</a:t>
            </a:r>
          </a:p>
          <a:p>
            <a:pPr lvl="1" algn="just"/>
            <a:r>
              <a:rPr lang="en-US" altLang="en-US" sz="2200" dirty="0"/>
              <a:t>New revenue streams</a:t>
            </a:r>
          </a:p>
          <a:p>
            <a:pPr lvl="1" algn="just"/>
            <a:r>
              <a:rPr lang="en-US" altLang="en-US" sz="2200" dirty="0"/>
              <a:t>Increased profits</a:t>
            </a:r>
          </a:p>
          <a:p>
            <a:pPr algn="just"/>
            <a:r>
              <a:rPr lang="en-US" altLang="en-US" sz="2200" dirty="0"/>
              <a:t>Types of innovation</a:t>
            </a:r>
          </a:p>
          <a:p>
            <a:pPr lvl="1" algn="just"/>
            <a:r>
              <a:rPr lang="en-US" altLang="en-US" sz="2200" dirty="0"/>
              <a:t>Sustaining innovation: results in enhancements to existing products, services, and ways of operating</a:t>
            </a:r>
          </a:p>
          <a:p>
            <a:pPr lvl="2" algn="just"/>
            <a:r>
              <a:rPr lang="en-US" altLang="en-US" sz="2200" dirty="0"/>
              <a:t>Enable an organization to continually increase profits, lower costs, and gain market share</a:t>
            </a:r>
          </a:p>
          <a:p>
            <a:pPr lvl="1" algn="just"/>
            <a:r>
              <a:rPr lang="en-US" altLang="en-US" sz="2200" dirty="0"/>
              <a:t>Disruptive innovation: one that initially provides a lower level of performance than the marketplace has grown to accept</a:t>
            </a:r>
          </a:p>
          <a:p>
            <a:pPr lvl="2" algn="just"/>
            <a:r>
              <a:rPr lang="en-US" altLang="en-US" sz="2200" dirty="0"/>
              <a:t>Improved to provide new performance characteristics</a:t>
            </a:r>
          </a:p>
          <a:p>
            <a:pPr algn="just"/>
            <a:endParaRPr lang="en-US" alt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458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317ECD-4F52-4B33-AA6A-D2B89206703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65764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016000" y="316845"/>
            <a:ext cx="10701867" cy="475066"/>
          </a:xfrm>
        </p:spPr>
        <p:txBody>
          <a:bodyPr/>
          <a:lstStyle/>
          <a:p>
            <a:pPr algn="ctr"/>
            <a:r>
              <a:rPr lang="en-US" altLang="en-US" sz="3600" b="1" dirty="0"/>
              <a:t>Reengineering and Continuous Improvement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2789995"/>
          </a:xfrm>
        </p:spPr>
        <p:txBody>
          <a:bodyPr/>
          <a:lstStyle/>
          <a:p>
            <a:r>
              <a:rPr lang="en-US" altLang="en-US" sz="2200" b="1" i="1" dirty="0"/>
              <a:t>Reengineering</a:t>
            </a:r>
          </a:p>
          <a:p>
            <a:pPr lvl="1"/>
            <a:r>
              <a:rPr lang="en-US" altLang="en-US" sz="2200" dirty="0"/>
              <a:t>Also called process redesign and business process reengineering (BPR)</a:t>
            </a:r>
          </a:p>
          <a:p>
            <a:pPr lvl="1"/>
            <a:r>
              <a:rPr lang="en-US" altLang="en-US" sz="2200" dirty="0"/>
              <a:t>Involves the radical redesign of business processes, organizational structures, information systems, and values of the organization to achieve a breakthrough in business results</a:t>
            </a:r>
          </a:p>
          <a:p>
            <a:r>
              <a:rPr lang="en-US" altLang="en-US" sz="2200" b="1" i="1" dirty="0"/>
              <a:t>Continuous improvement </a:t>
            </a:r>
          </a:p>
          <a:p>
            <a:pPr lvl="1"/>
            <a:r>
              <a:rPr lang="en-US" altLang="en-US" sz="2200" dirty="0"/>
              <a:t>Constantly seeking ways to improve business processes and add value to products and services</a:t>
            </a:r>
          </a:p>
          <a:p>
            <a:endParaRPr lang="en-US" alt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662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E560CB-804E-4F27-A04C-E2358CD91B0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85084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>
          <a:xfrm>
            <a:off x="1016000" y="316845"/>
            <a:ext cx="10701867" cy="475066"/>
          </a:xfrm>
        </p:spPr>
        <p:txBody>
          <a:bodyPr/>
          <a:lstStyle/>
          <a:p>
            <a:pPr algn="ctr"/>
            <a:r>
              <a:rPr lang="en-US" altLang="en-US" sz="3600" b="1" dirty="0"/>
              <a:t>Reengineering and Continuous Improvement</a:t>
            </a:r>
          </a:p>
        </p:txBody>
      </p:sp>
      <p:pic>
        <p:nvPicPr>
          <p:cNvPr id="27651" name="Content Placeholder 5" descr="Reengineering" title="Figure 2-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8800" y="1219200"/>
            <a:ext cx="9587630" cy="4814627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765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F2590E-6374-4EAD-81D9-9E4826F6C47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48214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1016000" y="318928"/>
            <a:ext cx="10701867" cy="470898"/>
          </a:xfrm>
        </p:spPr>
        <p:txBody>
          <a:bodyPr/>
          <a:lstStyle/>
          <a:p>
            <a:pPr algn="ctr"/>
            <a:r>
              <a:rPr lang="en-US" altLang="en-US" sz="3600" dirty="0"/>
              <a:t>Reengineering and Continuous Improvement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867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636FB4-DB67-481D-AC4C-6792B934164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dirty="0"/>
          </a:p>
        </p:txBody>
      </p:sp>
      <p:pic>
        <p:nvPicPr>
          <p:cNvPr id="7" name="Content Placeholder 6" descr="Comparing business process reengineering with continuous improvement" title="Table 2-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57400" y="1481581"/>
            <a:ext cx="8478801" cy="5096885"/>
          </a:xfrm>
        </p:spPr>
      </p:pic>
    </p:spTree>
    <p:extLst>
      <p:ext uri="{BB962C8B-B14F-4D97-AF65-F5344CB8AC3E}">
        <p14:creationId xmlns:p14="http://schemas.microsoft.com/office/powerpoint/2010/main" val="35258233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1016000" y="316845"/>
            <a:ext cx="10701867" cy="475066"/>
          </a:xfrm>
        </p:spPr>
        <p:txBody>
          <a:bodyPr/>
          <a:lstStyle/>
          <a:p>
            <a:pPr algn="ctr"/>
            <a:r>
              <a:rPr lang="en-US" altLang="en-US" sz="3600" b="1" dirty="0"/>
              <a:t>Outsourcing, Offshoring, and Downsizing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3817968"/>
          </a:xfrm>
        </p:spPr>
        <p:txBody>
          <a:bodyPr/>
          <a:lstStyle/>
          <a:p>
            <a:pPr algn="just"/>
            <a:r>
              <a:rPr lang="en-US" altLang="en-US" sz="2200" b="1" i="1" dirty="0"/>
              <a:t>Outsourcing</a:t>
            </a:r>
          </a:p>
          <a:p>
            <a:pPr lvl="1" algn="just"/>
            <a:r>
              <a:rPr lang="en-US" altLang="en-US" sz="2200" dirty="0"/>
              <a:t>A long-term business arrangement in which a company contracts for services with an outside organization that has expertise in providing a specific function</a:t>
            </a:r>
          </a:p>
          <a:p>
            <a:pPr algn="just"/>
            <a:endParaRPr lang="en-US" altLang="en-US" sz="2200" b="1" i="1" dirty="0" smtClean="0"/>
          </a:p>
          <a:p>
            <a:pPr algn="just"/>
            <a:endParaRPr lang="en-US" altLang="en-US" sz="2200" b="1" i="1" dirty="0"/>
          </a:p>
          <a:p>
            <a:pPr algn="just"/>
            <a:r>
              <a:rPr lang="en-US" altLang="en-US" sz="2200" b="1" i="1" dirty="0" smtClean="0"/>
              <a:t>Offshore </a:t>
            </a:r>
            <a:r>
              <a:rPr lang="en-US" altLang="en-US" sz="2200" b="1" i="1" dirty="0"/>
              <a:t>outsourcing (offshoring)</a:t>
            </a:r>
          </a:p>
          <a:p>
            <a:pPr lvl="1" algn="just"/>
            <a:r>
              <a:rPr lang="en-US" altLang="en-US" sz="2200" dirty="0"/>
              <a:t>The service is located in a country different than the firm obtaining the services</a:t>
            </a:r>
          </a:p>
          <a:p>
            <a:pPr algn="just"/>
            <a:r>
              <a:rPr lang="en-US" altLang="en-US" sz="2200" dirty="0"/>
              <a:t>A number of companies are finding that outsourcing does not necessarily lead to reduced costs</a:t>
            </a:r>
          </a:p>
          <a:p>
            <a:pPr algn="just"/>
            <a:endParaRPr lang="en-US" alt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E1E5B9-0C4D-458D-9813-A40F5509CFB7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92616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1016000" y="316845"/>
            <a:ext cx="10701867" cy="475066"/>
          </a:xfrm>
        </p:spPr>
        <p:txBody>
          <a:bodyPr/>
          <a:lstStyle/>
          <a:p>
            <a:pPr algn="ctr"/>
            <a:r>
              <a:rPr lang="en-US" altLang="en-US" sz="3600" b="1" dirty="0"/>
              <a:t>Outsourcing, Offshoring, and Downsizing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2468368"/>
          </a:xfrm>
        </p:spPr>
        <p:txBody>
          <a:bodyPr/>
          <a:lstStyle/>
          <a:p>
            <a:pPr algn="just"/>
            <a:r>
              <a:rPr lang="en-US" altLang="en-US" sz="2200" b="1" i="1" dirty="0"/>
              <a:t>Downsizing</a:t>
            </a:r>
          </a:p>
          <a:p>
            <a:pPr lvl="1" algn="just"/>
            <a:r>
              <a:rPr lang="en-US" altLang="en-US" sz="2200" dirty="0"/>
              <a:t>Reducing the number of employees to cut costs</a:t>
            </a:r>
          </a:p>
          <a:p>
            <a:pPr lvl="1" algn="just"/>
            <a:r>
              <a:rPr lang="en-US" altLang="en-US" sz="2200" dirty="0"/>
              <a:t>Also referred to as “rightsizing”</a:t>
            </a:r>
          </a:p>
          <a:p>
            <a:pPr lvl="1" algn="just"/>
            <a:r>
              <a:rPr lang="en-US" altLang="en-US" sz="2200" dirty="0"/>
              <a:t>Product quality and employee morale can suffer</a:t>
            </a:r>
          </a:p>
          <a:p>
            <a:pPr algn="just"/>
            <a:endParaRPr lang="en-US" altLang="en-US" sz="2200" dirty="0"/>
          </a:p>
          <a:p>
            <a:pPr algn="just"/>
            <a:endParaRPr lang="en-US" alt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366DF5-579F-4C10-925B-FC6702F5CD9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09231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016000" y="316845"/>
            <a:ext cx="10701867" cy="475066"/>
          </a:xfrm>
        </p:spPr>
        <p:txBody>
          <a:bodyPr/>
          <a:lstStyle/>
          <a:p>
            <a:pPr algn="ctr"/>
            <a:r>
              <a:rPr lang="en-US" altLang="en-US" sz="3600" b="1" dirty="0"/>
              <a:t>Organizational Culture and Change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3817968"/>
          </a:xfrm>
        </p:spPr>
        <p:txBody>
          <a:bodyPr/>
          <a:lstStyle/>
          <a:p>
            <a:pPr algn="just"/>
            <a:r>
              <a:rPr lang="en-US" altLang="en-US" sz="2200" dirty="0"/>
              <a:t>Culture: a set of major understandings and assumptions shared by a group</a:t>
            </a:r>
          </a:p>
          <a:p>
            <a:pPr algn="just"/>
            <a:endParaRPr lang="en-US" altLang="en-US" sz="2200" dirty="0" smtClean="0"/>
          </a:p>
          <a:p>
            <a:pPr algn="just"/>
            <a:r>
              <a:rPr lang="en-US" altLang="en-US" sz="2200" dirty="0" smtClean="0"/>
              <a:t>Organizational </a:t>
            </a:r>
            <a:r>
              <a:rPr lang="en-US" altLang="en-US" sz="2200" dirty="0"/>
              <a:t>culture: the major understandings and assumptions for a business, corporation, or other organization</a:t>
            </a:r>
          </a:p>
          <a:p>
            <a:pPr algn="just"/>
            <a:endParaRPr lang="en-US" altLang="en-US" sz="2200" dirty="0" smtClean="0"/>
          </a:p>
          <a:p>
            <a:pPr algn="just"/>
            <a:r>
              <a:rPr lang="en-US" altLang="en-US" sz="2200" dirty="0" smtClean="0"/>
              <a:t>Organizational </a:t>
            </a:r>
            <a:r>
              <a:rPr lang="en-US" altLang="en-US" sz="2200" dirty="0"/>
              <a:t>change: how organizations plan for, implement, and handle change</a:t>
            </a:r>
          </a:p>
          <a:p>
            <a:pPr algn="just"/>
            <a:endParaRPr lang="en-US" altLang="en-US" sz="2200" smtClean="0"/>
          </a:p>
          <a:p>
            <a:pPr algn="just"/>
            <a:r>
              <a:rPr lang="en-US" altLang="en-US" sz="2200" smtClean="0"/>
              <a:t>Soft </a:t>
            </a:r>
            <a:r>
              <a:rPr lang="en-US" altLang="en-US" sz="2200" dirty="0"/>
              <a:t>side of implementing change: involves work designed to help employees embrace a new information system and way of working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17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DF0AA3C-6B5F-40FF-BC84-B4CAE1EAC888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937734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Organizational Culture and Change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1312667"/>
          </a:xfrm>
        </p:spPr>
        <p:txBody>
          <a:bodyPr/>
          <a:lstStyle/>
          <a:p>
            <a:r>
              <a:rPr lang="en-US" altLang="en-US" dirty="0"/>
              <a:t>Change management model</a:t>
            </a:r>
          </a:p>
          <a:p>
            <a:pPr lvl="1"/>
            <a:r>
              <a:rPr lang="en-US" altLang="en-US" dirty="0"/>
              <a:t>Describes the phases an individual or organization goes through in making a change</a:t>
            </a:r>
          </a:p>
          <a:p>
            <a:pPr lvl="1"/>
            <a:r>
              <a:rPr lang="en-US" altLang="en-US" dirty="0"/>
              <a:t>Provides principles for successful implementation of change</a:t>
            </a:r>
          </a:p>
          <a:p>
            <a:pPr lvl="1"/>
            <a:r>
              <a:rPr lang="en-US" altLang="en-US" dirty="0"/>
              <a:t>There are a number of models for dealing with the soft side of implementing change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27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A2518-A95B-40A8-8C3D-B5FD1F6C98E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01471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Lewin’s Change Model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2010834" y="1538820"/>
            <a:ext cx="11220451" cy="1758943"/>
          </a:xfrm>
        </p:spPr>
        <p:txBody>
          <a:bodyPr/>
          <a:lstStyle/>
          <a:p>
            <a:r>
              <a:rPr lang="en-US" altLang="en-US" dirty="0"/>
              <a:t>Lewin’s change model consists of a three-stage approach for change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/>
              <a:t>Unfreezing: preparing for change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/>
              <a:t>Moving: making the change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/>
              <a:t>Refreezing: institutionalizing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5E8EBB-66C2-4DA9-ACE2-5D095041A24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9078074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Lewin’s Change Model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2010834" y="1538820"/>
            <a:ext cx="11220451" cy="1758943"/>
          </a:xfrm>
        </p:spPr>
        <p:txBody>
          <a:bodyPr/>
          <a:lstStyle/>
          <a:p>
            <a:r>
              <a:rPr lang="en-US" altLang="en-US" dirty="0"/>
              <a:t>Lewin’s change model consists of a three-stage approach for change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/>
              <a:t>Unfreezing: preparing for change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/>
              <a:t>Moving: making the change</a:t>
            </a:r>
          </a:p>
          <a:p>
            <a:pPr marL="971550" lvl="1" indent="-514350">
              <a:buFontTx/>
              <a:buAutoNum type="arabicPeriod"/>
            </a:pPr>
            <a:r>
              <a:rPr lang="en-US" altLang="en-US" dirty="0"/>
              <a:t>Refreezing: institutionalizing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48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3C6C12-34FB-4234-BC8B-9D1E581920E1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 dirty="0"/>
          </a:p>
        </p:txBody>
      </p:sp>
      <p:pic>
        <p:nvPicPr>
          <p:cNvPr id="6" name="Picture 5" descr="Lewin's change model" title="Figure 2-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5" y="1600201"/>
            <a:ext cx="8401050" cy="43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889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Lewin’s Force Field Analysis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1817421"/>
          </a:xfrm>
        </p:spPr>
        <p:txBody>
          <a:bodyPr/>
          <a:lstStyle/>
          <a:p>
            <a:r>
              <a:rPr lang="en-US" altLang="en-US" dirty="0"/>
              <a:t>Lewin extended his change model theory to include force field analysis</a:t>
            </a:r>
          </a:p>
          <a:p>
            <a:pPr lvl="1"/>
            <a:r>
              <a:rPr lang="en-US" altLang="en-US" dirty="0"/>
              <a:t>Identifies both the driving (positive) and restraining (negative) forces that influence whether change can occur</a:t>
            </a:r>
          </a:p>
          <a:p>
            <a:r>
              <a:rPr lang="en-US" altLang="en-US" dirty="0"/>
              <a:t>Driving forces: beliefs, expectations, and cultural norms that tend to encourage a change and give it momentum</a:t>
            </a:r>
          </a:p>
          <a:p>
            <a:r>
              <a:rPr lang="en-US" altLang="en-US" dirty="0"/>
              <a:t>Restraining forces: those that make it difficult to accept a change or to work to implement a change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96A707-6B35-4EAB-9DBB-1C56CA14E69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91640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Lewin’s Force Field Analysis</a:t>
            </a:r>
          </a:p>
        </p:txBody>
      </p:sp>
      <p:pic>
        <p:nvPicPr>
          <p:cNvPr id="6" name="Content Placeholder 5" descr="Lewin's force field analysis before addressing concerns" title="Figure 2-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43175" y="2200275"/>
            <a:ext cx="7105650" cy="352425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68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3DA29D5-5E84-46E5-92D2-63748622BDB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019110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Lewin’s Force Field Analysis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789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9EE146-B44C-43D2-934C-158533340F8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dirty="0"/>
          </a:p>
        </p:txBody>
      </p:sp>
      <p:pic>
        <p:nvPicPr>
          <p:cNvPr id="7" name="Content Placeholder 6" descr="Lewin's force field analysis after addressing concerns" title="Figure 2-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71764" y="2166939"/>
            <a:ext cx="6848475" cy="3590925"/>
          </a:xfrm>
        </p:spPr>
      </p:pic>
    </p:spTree>
    <p:extLst>
      <p:ext uri="{BB962C8B-B14F-4D97-AF65-F5344CB8AC3E}">
        <p14:creationId xmlns:p14="http://schemas.microsoft.com/office/powerpoint/2010/main" val="5416974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Leavitt’s Diamond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2391424"/>
          </a:xfrm>
        </p:spPr>
        <p:txBody>
          <a:bodyPr/>
          <a:lstStyle/>
          <a:p>
            <a:r>
              <a:rPr lang="en-US" altLang="en-US" dirty="0"/>
              <a:t>A theory that proposes that every organizational system is made up of four main components—people, tasks, structure, and technology—with an interaction among the four components</a:t>
            </a:r>
          </a:p>
          <a:p>
            <a:pPr lvl="1"/>
            <a:r>
              <a:rPr lang="en-US" altLang="en-US" dirty="0"/>
              <a:t>Any change in one of these elements will necessitate a change in the other three elements</a:t>
            </a:r>
          </a:p>
          <a:p>
            <a:r>
              <a:rPr lang="en-US" altLang="en-US" dirty="0"/>
              <a:t>Organizational learning</a:t>
            </a:r>
          </a:p>
          <a:p>
            <a:pPr lvl="1"/>
            <a:r>
              <a:rPr lang="en-US" altLang="en-US" dirty="0"/>
              <a:t>The adaptations and adjustments based on experience and ideas over time</a:t>
            </a:r>
          </a:p>
          <a:p>
            <a:pPr lvl="1"/>
            <a:r>
              <a:rPr lang="en-US" altLang="en-US" dirty="0"/>
              <a:t>Adjustments can require reengineering or can result from continuous improvement</a:t>
            </a:r>
          </a:p>
          <a:p>
            <a:pPr lvl="1"/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89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2DC8A0-932A-46B4-845A-E7A21D075D8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092422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Leavitt’s Diamond</a:t>
            </a:r>
          </a:p>
        </p:txBody>
      </p:sp>
      <p:pic>
        <p:nvPicPr>
          <p:cNvPr id="2" name="Content Placeholder 1" descr="Leavitt's diamond" title="Figure 2-9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05114" y="2047875"/>
            <a:ext cx="6581775" cy="375285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3994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A180BBF-DF4B-4FD7-A7CB-92B30A14F11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15609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User Satisfaction and Technology Acceptance</a:t>
            </a:r>
          </a:p>
        </p:txBody>
      </p:sp>
      <p:sp>
        <p:nvSpPr>
          <p:cNvPr id="40963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1078757"/>
          </a:xfrm>
        </p:spPr>
        <p:txBody>
          <a:bodyPr/>
          <a:lstStyle/>
          <a:p>
            <a:r>
              <a:rPr lang="en-US" altLang="en-US" dirty="0"/>
              <a:t>Technology acceptance model (TAM)</a:t>
            </a:r>
          </a:p>
          <a:p>
            <a:pPr lvl="1"/>
            <a:r>
              <a:rPr lang="en-US" altLang="en-US" dirty="0"/>
              <a:t>Specifies the factors that can lead to better attitudes about the information system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096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B8C69F9-8C44-42E7-9EBA-5667432F5106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dirty="0"/>
          </a:p>
        </p:txBody>
      </p:sp>
      <p:pic>
        <p:nvPicPr>
          <p:cNvPr id="40966" name="Picture 5" descr="Technology acceptance model" title="Figure 2-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739" y="3200401"/>
            <a:ext cx="6486525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7092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Diffusion of Innovation Theory</a:t>
            </a:r>
          </a:p>
        </p:txBody>
      </p:sp>
      <p:sp>
        <p:nvSpPr>
          <p:cNvPr id="41987" name="Content Placeholder 2"/>
          <p:cNvSpPr>
            <a:spLocks noGrp="1"/>
          </p:cNvSpPr>
          <p:nvPr>
            <p:ph idx="1"/>
          </p:nvPr>
        </p:nvSpPr>
        <p:spPr>
          <a:xfrm>
            <a:off x="2057400" y="1576388"/>
            <a:ext cx="8077200" cy="1477328"/>
          </a:xfrm>
        </p:spPr>
        <p:txBody>
          <a:bodyPr/>
          <a:lstStyle/>
          <a:p>
            <a:r>
              <a:rPr lang="en-US" altLang="en-US" dirty="0"/>
              <a:t>A theory developed by E.M. Rogers</a:t>
            </a:r>
          </a:p>
          <a:p>
            <a:r>
              <a:rPr lang="en-US" altLang="en-US" dirty="0"/>
              <a:t>Explains how a new idea or product gains acceptance and diffuses (or spreads) through a specific population or subset of an organization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198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937B6D-9B15-47F9-B0F6-FAC834B42E72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dirty="0"/>
          </a:p>
        </p:txBody>
      </p:sp>
      <p:pic>
        <p:nvPicPr>
          <p:cNvPr id="6" name="Picture 5" descr="Innovation diffusion" title="Figure 2-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1" y="3352800"/>
            <a:ext cx="5070475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111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Diffusion of Innovation Theory</a:t>
            </a:r>
          </a:p>
        </p:txBody>
      </p:sp>
      <p:pic>
        <p:nvPicPr>
          <p:cNvPr id="43011" name="Content Placeholder 6" descr="Five categories of innovation adopters" title="Table 2-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62200" y="2509838"/>
            <a:ext cx="7467600" cy="27051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301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7BB168A-D00C-4CFC-A373-9C2AE5E8EFB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223329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Careers in Information Systems</a:t>
            </a:r>
          </a:p>
        </p:txBody>
      </p:sp>
      <p:sp>
        <p:nvSpPr>
          <p:cNvPr id="44035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3119315"/>
          </a:xfrm>
        </p:spPr>
        <p:txBody>
          <a:bodyPr/>
          <a:lstStyle/>
          <a:p>
            <a:r>
              <a:rPr lang="en-US" altLang="en-US" dirty="0"/>
              <a:t>Successful IS workers must:</a:t>
            </a:r>
          </a:p>
          <a:p>
            <a:pPr lvl="1"/>
            <a:r>
              <a:rPr lang="en-US" altLang="en-US" dirty="0"/>
              <a:t>Enjoy working in a fast-paced, dynamic environment</a:t>
            </a:r>
          </a:p>
          <a:p>
            <a:pPr lvl="1"/>
            <a:r>
              <a:rPr lang="en-US" altLang="en-US" dirty="0"/>
              <a:t>Meet deadlines and solving unexpected challenges</a:t>
            </a:r>
          </a:p>
          <a:p>
            <a:pPr lvl="1"/>
            <a:r>
              <a:rPr lang="en-US" altLang="en-US" dirty="0"/>
              <a:t>Possess good communication skills</a:t>
            </a:r>
          </a:p>
          <a:p>
            <a:pPr lvl="1"/>
            <a:r>
              <a:rPr lang="en-US" altLang="en-US" dirty="0"/>
              <a:t>Have solid analytical and decision-making skills </a:t>
            </a:r>
          </a:p>
          <a:p>
            <a:pPr lvl="1"/>
            <a:r>
              <a:rPr lang="en-US" altLang="en-US" dirty="0"/>
              <a:t>Develop effective team and leadership skills </a:t>
            </a:r>
          </a:p>
          <a:p>
            <a:pPr lvl="1"/>
            <a:r>
              <a:rPr lang="en-US" altLang="en-US" dirty="0"/>
              <a:t>Be adept at implementing organization change</a:t>
            </a:r>
          </a:p>
          <a:p>
            <a:pPr lvl="1"/>
            <a:r>
              <a:rPr lang="en-US" altLang="en-US" dirty="0"/>
              <a:t>Be prepared to engage in life-long learning in a rapidly changing field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403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5784E3-DA33-4E15-8CD8-A231FF515FB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917292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Careers in Information Systems</a:t>
            </a:r>
          </a:p>
        </p:txBody>
      </p:sp>
      <p:sp>
        <p:nvSpPr>
          <p:cNvPr id="45059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3353226"/>
          </a:xfrm>
        </p:spPr>
        <p:txBody>
          <a:bodyPr/>
          <a:lstStyle/>
          <a:p>
            <a:r>
              <a:rPr lang="en-US" altLang="en-US" dirty="0"/>
              <a:t>Technical skills important for IS workers to have:</a:t>
            </a:r>
          </a:p>
          <a:p>
            <a:pPr lvl="1"/>
            <a:r>
              <a:rPr lang="en-US" altLang="en-US" dirty="0"/>
              <a:t>Capability to analyze large amounts of structured and unstructured data</a:t>
            </a:r>
          </a:p>
          <a:p>
            <a:pPr lvl="1"/>
            <a:r>
              <a:rPr lang="en-US" altLang="en-US" dirty="0"/>
              <a:t>Ability to design/build applications for mobile devices</a:t>
            </a:r>
          </a:p>
          <a:p>
            <a:pPr lvl="1"/>
            <a:r>
              <a:rPr lang="en-US" altLang="en-US" dirty="0"/>
              <a:t>Programing and application development skills</a:t>
            </a:r>
          </a:p>
          <a:p>
            <a:pPr lvl="1"/>
            <a:r>
              <a:rPr lang="en-US" altLang="en-US" dirty="0"/>
              <a:t>Technical support expertise</a:t>
            </a:r>
          </a:p>
          <a:p>
            <a:pPr lvl="1"/>
            <a:r>
              <a:rPr lang="en-US" altLang="en-US" dirty="0"/>
              <a:t>Project management skills</a:t>
            </a:r>
          </a:p>
          <a:p>
            <a:pPr lvl="1"/>
            <a:r>
              <a:rPr lang="en-US" altLang="en-US" dirty="0"/>
              <a:t>Knowledge of networking and cloud computing</a:t>
            </a:r>
          </a:p>
          <a:p>
            <a:pPr lvl="1"/>
            <a:r>
              <a:rPr lang="en-US" altLang="en-US" dirty="0"/>
              <a:t>Ability to audit systems and implement necessary security measures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506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3B34494-2555-498D-A556-7997530FA0D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35466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Careers in Information Systems</a:t>
            </a:r>
          </a:p>
        </p:txBody>
      </p:sp>
      <p:sp>
        <p:nvSpPr>
          <p:cNvPr id="46083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2497607"/>
          </a:xfrm>
        </p:spPr>
        <p:txBody>
          <a:bodyPr/>
          <a:lstStyle/>
          <a:p>
            <a:r>
              <a:rPr lang="en-US" altLang="en-US" dirty="0"/>
              <a:t>Technical skills important for IS workers to have (cont’d):</a:t>
            </a:r>
          </a:p>
          <a:p>
            <a:pPr lvl="1"/>
            <a:r>
              <a:rPr lang="en-US" altLang="en-US" dirty="0"/>
              <a:t>Web design and development skills</a:t>
            </a:r>
          </a:p>
          <a:p>
            <a:pPr lvl="1"/>
            <a:r>
              <a:rPr lang="en-US" altLang="en-US" dirty="0"/>
              <a:t>Knowledge of data center operations</a:t>
            </a:r>
          </a:p>
          <a:p>
            <a:r>
              <a:rPr lang="en-US" altLang="en-US" dirty="0"/>
              <a:t>The U.S. Bureau of Labor Statistics (BLS) forecasts an increase of 1.2 million new computing jobs between 2012-2022</a:t>
            </a:r>
          </a:p>
          <a:p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608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2ABBA2F-8FF8-47F6-982B-E5F5F66A7A6A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530968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Careers in Information Systems</a:t>
            </a:r>
          </a:p>
        </p:txBody>
      </p:sp>
      <p:pic>
        <p:nvPicPr>
          <p:cNvPr id="6" name="Content Placeholder 5" descr="BLS projections of computer-related jobs, 2012 to 2022" title="Table 2-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14589" y="1528763"/>
            <a:ext cx="7362825" cy="45720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710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3B170C-DC29-45FF-B0E2-23A0A6C96310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550265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Careers in Information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813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DAB596-3468-4892-A3D0-55EB62B2BF59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 dirty="0"/>
          </a:p>
        </p:txBody>
      </p:sp>
      <p:pic>
        <p:nvPicPr>
          <p:cNvPr id="7" name="Content Placeholder 6" descr="Occupational outlook for selected information systems positions" title="Figure 2-1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06789" y="1524000"/>
            <a:ext cx="5178425" cy="4572000"/>
          </a:xfrm>
        </p:spPr>
      </p:pic>
    </p:spTree>
    <p:extLst>
      <p:ext uri="{BB962C8B-B14F-4D97-AF65-F5344CB8AC3E}">
        <p14:creationId xmlns:p14="http://schemas.microsoft.com/office/powerpoint/2010/main" val="33194701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Careers in Information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4915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D0CFC2-ACFA-42EE-A12E-AB25E723397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 dirty="0"/>
          </a:p>
        </p:txBody>
      </p:sp>
      <p:pic>
        <p:nvPicPr>
          <p:cNvPr id="6" name="Content Placeholder 5" descr="Supply versus demand for IS workers" title="Figure 2-1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57464" y="2819400"/>
            <a:ext cx="7077075" cy="2286000"/>
          </a:xfrm>
        </p:spPr>
      </p:pic>
    </p:spTree>
    <p:extLst>
      <p:ext uri="{BB962C8B-B14F-4D97-AF65-F5344CB8AC3E}">
        <p14:creationId xmlns:p14="http://schemas.microsoft.com/office/powerpoint/2010/main" val="36440312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Careers in Information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018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4C7A8B5-40C4-4E01-8EC8-7F97795D599C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 dirty="0"/>
          </a:p>
        </p:txBody>
      </p:sp>
      <p:sp>
        <p:nvSpPr>
          <p:cNvPr id="50181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1758943"/>
          </a:xfrm>
        </p:spPr>
        <p:txBody>
          <a:bodyPr/>
          <a:lstStyle/>
          <a:p>
            <a:r>
              <a:rPr lang="en-US" altLang="en-US" dirty="0"/>
              <a:t>U.S. H-1B and L-1 visa programs seek to allow skilled employees from foreign lands into the United States</a:t>
            </a:r>
          </a:p>
          <a:p>
            <a:pPr lvl="1"/>
            <a:r>
              <a:rPr lang="en-US" altLang="en-US" dirty="0"/>
              <a:t>Programs are limited and are high demand</a:t>
            </a:r>
          </a:p>
          <a:p>
            <a:pPr lvl="1"/>
            <a:r>
              <a:rPr lang="en-US" altLang="en-US" dirty="0"/>
              <a:t>L-1 visa program is often used for intracompany transfers for multinational companies </a:t>
            </a:r>
          </a:p>
          <a:p>
            <a:pPr lvl="1"/>
            <a:r>
              <a:rPr lang="en-US" altLang="en-US" dirty="0"/>
              <a:t>H-1B program can be used for new employees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48182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Careers in Information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120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D2552D-6FB4-4D5D-92E7-5186AD61B184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 dirty="0"/>
          </a:p>
        </p:txBody>
      </p:sp>
      <p:pic>
        <p:nvPicPr>
          <p:cNvPr id="7" name="Content Placeholder 6" descr="Top H-1B visa employers in 2013 to 2014" title="Table 2-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14725" y="1547813"/>
            <a:ext cx="5162550" cy="4457700"/>
          </a:xfrm>
        </p:spPr>
      </p:pic>
    </p:spTree>
    <p:extLst>
      <p:ext uri="{BB962C8B-B14F-4D97-AF65-F5344CB8AC3E}">
        <p14:creationId xmlns:p14="http://schemas.microsoft.com/office/powerpoint/2010/main" val="30287368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Careers in Information Systems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222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667531-888A-4BE7-AFBC-8D8F4F48BCA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 dirty="0"/>
          </a:p>
        </p:txBody>
      </p:sp>
      <p:pic>
        <p:nvPicPr>
          <p:cNvPr id="6" name="Content Placeholder 5" descr="Best places to work as an IS professional" title="Table 2-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52675" y="2181225"/>
            <a:ext cx="7486650" cy="3562350"/>
          </a:xfrm>
        </p:spPr>
      </p:pic>
    </p:spTree>
    <p:extLst>
      <p:ext uri="{BB962C8B-B14F-4D97-AF65-F5344CB8AC3E}">
        <p14:creationId xmlns:p14="http://schemas.microsoft.com/office/powerpoint/2010/main" val="9197097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Roles, Functions, and Careers in IS</a:t>
            </a:r>
          </a:p>
        </p:txBody>
      </p:sp>
      <p:sp>
        <p:nvSpPr>
          <p:cNvPr id="53251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1758943"/>
          </a:xfrm>
        </p:spPr>
        <p:txBody>
          <a:bodyPr/>
          <a:lstStyle/>
          <a:p>
            <a:r>
              <a:rPr lang="en-US" altLang="en-US" dirty="0"/>
              <a:t>In addition to technical skills, IS professionals need:</a:t>
            </a:r>
          </a:p>
          <a:p>
            <a:pPr lvl="1"/>
            <a:r>
              <a:rPr lang="en-US" altLang="en-US" dirty="0"/>
              <a:t>Skills in written and verbal communication</a:t>
            </a:r>
          </a:p>
          <a:p>
            <a:pPr lvl="1"/>
            <a:r>
              <a:rPr lang="en-US" altLang="en-US" dirty="0"/>
              <a:t>An understanding of organizations and the way they operate</a:t>
            </a:r>
          </a:p>
          <a:p>
            <a:pPr lvl="1"/>
            <a:r>
              <a:rPr lang="en-US" altLang="en-US" dirty="0"/>
              <a:t>The ability to work with people and in groups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325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2BE2E5-87BD-43B0-8051-7BA58191888B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330003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Roles, Functions, and Careers in IS</a:t>
            </a:r>
          </a:p>
        </p:txBody>
      </p:sp>
      <p:pic>
        <p:nvPicPr>
          <p:cNvPr id="6" name="Content Placeholder 5" descr="Three primary functions of the information systems organization" title="Figure 2-1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97275" y="1676400"/>
            <a:ext cx="4997450" cy="45720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427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F363A8-C183-4EDC-A08A-A766EE00037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268750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Typical IS Titles and Functions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3100849"/>
          </a:xfrm>
        </p:spPr>
        <p:txBody>
          <a:bodyPr/>
          <a:lstStyle/>
          <a:p>
            <a:r>
              <a:rPr lang="en-US" altLang="en-US" dirty="0"/>
              <a:t>Chief information officer (CIO) employs the IS department’s equipment and personnel to help the organization attain its goals</a:t>
            </a:r>
          </a:p>
          <a:p>
            <a:r>
              <a:rPr lang="en-US" altLang="en-US" dirty="0"/>
              <a:t>Senior IS Managers</a:t>
            </a:r>
          </a:p>
          <a:p>
            <a:pPr lvl="1"/>
            <a:r>
              <a:rPr lang="en-US" altLang="en-US" dirty="0"/>
              <a:t>Vice president of information systems</a:t>
            </a:r>
          </a:p>
          <a:p>
            <a:pPr lvl="1"/>
            <a:r>
              <a:rPr lang="en-US" altLang="en-US" dirty="0"/>
              <a:t>Manager of information systems</a:t>
            </a:r>
          </a:p>
          <a:p>
            <a:pPr lvl="1"/>
            <a:r>
              <a:rPr lang="en-US" altLang="en-US" dirty="0"/>
              <a:t>Chief technology officer (CTO)</a:t>
            </a:r>
          </a:p>
          <a:p>
            <a:pPr lvl="1"/>
            <a:r>
              <a:rPr lang="en-US" altLang="en-US" dirty="0"/>
              <a:t>Central role of all of the above is to communicate with other areas of the organization to determine changing business needs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530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8D9A8A-39F7-47E4-8C35-B88DDBFD572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5479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Typical IS Titles and Functions: Operations Roles</a:t>
            </a:r>
          </a:p>
        </p:txBody>
      </p:sp>
      <p:sp>
        <p:nvSpPr>
          <p:cNvPr id="56323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2954655"/>
          </a:xfrm>
        </p:spPr>
        <p:txBody>
          <a:bodyPr/>
          <a:lstStyle/>
          <a:p>
            <a:r>
              <a:rPr lang="en-US" altLang="en-US" dirty="0"/>
              <a:t>Data center managers are responsible for the maintenance and operation of the organization’s computing facilities</a:t>
            </a:r>
          </a:p>
          <a:p>
            <a:r>
              <a:rPr lang="en-US" altLang="en-US" dirty="0"/>
              <a:t>System operators run and maintain IS equipment</a:t>
            </a:r>
          </a:p>
          <a:p>
            <a:r>
              <a:rPr lang="en-US" altLang="en-US" dirty="0"/>
              <a:t>IS security analysts are responsible for maintaining the security and integrity of their organizations’ systems and data</a:t>
            </a:r>
          </a:p>
          <a:p>
            <a:r>
              <a:rPr lang="en-US" altLang="en-US" dirty="0"/>
              <a:t>Local area network (LAN) administrators set up and manage the network hardware, software, and security processes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632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ED1651-FBA3-42B5-8EE3-868C4E7924DF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020584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Typical IS Titles and Functions: Development Roles</a:t>
            </a:r>
          </a:p>
        </p:txBody>
      </p:sp>
      <p:sp>
        <p:nvSpPr>
          <p:cNvPr id="57347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2954655"/>
          </a:xfrm>
        </p:spPr>
        <p:txBody>
          <a:bodyPr/>
          <a:lstStyle/>
          <a:p>
            <a:r>
              <a:rPr lang="en-US" altLang="en-US" dirty="0"/>
              <a:t>Software developers write the software that customers and employees use</a:t>
            </a:r>
          </a:p>
          <a:p>
            <a:r>
              <a:rPr lang="en-US" altLang="en-US" dirty="0"/>
              <a:t>Systems analysts consult with management and users, as well as convey system requirements to software developers and network architects</a:t>
            </a:r>
          </a:p>
          <a:p>
            <a:r>
              <a:rPr lang="en-US" altLang="en-US" dirty="0"/>
              <a:t>Programmers convert a program design developed by a systems analyst or software developer into one of many computer languages</a:t>
            </a:r>
          </a:p>
          <a:p>
            <a:r>
              <a:rPr lang="en-US" altLang="en-US" dirty="0"/>
              <a:t>Web developers design and maintain Web sites, including site layout and function, to meet the client’s requirements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734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82385C-BAA7-4ABF-9782-97311B8DCA1E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381989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Typical IS Titles and Functions: Support</a:t>
            </a:r>
          </a:p>
        </p:txBody>
      </p:sp>
      <p:sp>
        <p:nvSpPr>
          <p:cNvPr id="58371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1184940"/>
          </a:xfrm>
        </p:spPr>
        <p:txBody>
          <a:bodyPr/>
          <a:lstStyle/>
          <a:p>
            <a:r>
              <a:rPr lang="en-US" altLang="en-US" dirty="0"/>
              <a:t>Database administrators (DBAs) design and set up databases to meet an organization’s needs</a:t>
            </a:r>
          </a:p>
          <a:p>
            <a:r>
              <a:rPr lang="en-US" altLang="en-US" dirty="0"/>
              <a:t>System support specialists respond to telephone calls, email, and other inquiries from computer users 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837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B30B1C9-BD53-4B3E-A22C-222D38AEF605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47536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IS-Related Roles outside the IS Organization</a:t>
            </a:r>
          </a:p>
        </p:txBody>
      </p:sp>
      <p:sp>
        <p:nvSpPr>
          <p:cNvPr id="59395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1498872"/>
          </a:xfrm>
        </p:spPr>
        <p:txBody>
          <a:bodyPr/>
          <a:lstStyle/>
          <a:p>
            <a:r>
              <a:rPr lang="en-US" altLang="en-US" dirty="0"/>
              <a:t>Shadow IT</a:t>
            </a:r>
          </a:p>
          <a:p>
            <a:pPr lvl="1"/>
            <a:r>
              <a:rPr lang="en-US" altLang="en-US" dirty="0"/>
              <a:t>A term used to describe the IS and solutions built and deployed by departments other than the information systems department</a:t>
            </a:r>
          </a:p>
          <a:p>
            <a:pPr lvl="1"/>
            <a:r>
              <a:rPr lang="en-US" altLang="en-US" dirty="0"/>
              <a:t>Enables business managers to quickly create highly innovative solutions to real business problems and to test these solutions out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5939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B1D8D99-6657-4FE3-B110-9BC07D2EAEF1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</a:rPr>
              <a:pPr/>
              <a:t>43</a:t>
            </a:fld>
            <a:endParaRPr lang="en-US" alt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9014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IS-Related Roles outside the IS Organization</a:t>
            </a:r>
          </a:p>
        </p:txBody>
      </p:sp>
      <p:pic>
        <p:nvPicPr>
          <p:cNvPr id="60419" name="Content Placeholder 5" descr="Pros and cons of shadow IT efforts" title="Table 2-6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352800" y="1828801"/>
            <a:ext cx="5219700" cy="3838575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0421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149FCAC-71DE-4216-B065-1BAD025FB49F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</a:rPr>
              <a:pPr/>
              <a:t>44</a:t>
            </a:fld>
            <a:endParaRPr lang="en-US" alt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6088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Certification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2128275"/>
          </a:xfrm>
        </p:spPr>
        <p:txBody>
          <a:bodyPr/>
          <a:lstStyle/>
          <a:p>
            <a:r>
              <a:rPr lang="en-US" altLang="en-US" dirty="0"/>
              <a:t>Certification</a:t>
            </a:r>
          </a:p>
          <a:p>
            <a:pPr lvl="1"/>
            <a:r>
              <a:rPr lang="en-US" altLang="en-US" dirty="0"/>
              <a:t>A process for testing skills and knowledge </a:t>
            </a:r>
          </a:p>
          <a:p>
            <a:pPr lvl="1"/>
            <a:r>
              <a:rPr lang="en-US" altLang="en-US" dirty="0"/>
              <a:t>Results in a statement by the certifying authority that confirms an individual is capable of performing particular tasks</a:t>
            </a:r>
          </a:p>
          <a:p>
            <a:r>
              <a:rPr lang="en-US" altLang="en-US" dirty="0"/>
              <a:t>Frequently involves specific, vendor-provided or vendor-endorsed coursework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1445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27AAE103-0DEB-45E4-A551-541D8857D78E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</a:rPr>
              <a:pPr/>
              <a:t>45</a:t>
            </a:fld>
            <a:endParaRPr lang="en-US" alt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1268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IS Careers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3416320"/>
          </a:xfrm>
        </p:spPr>
        <p:txBody>
          <a:bodyPr/>
          <a:lstStyle/>
          <a:p>
            <a:r>
              <a:rPr lang="en-US" altLang="en-US" dirty="0"/>
              <a:t>Consulting opportunities</a:t>
            </a:r>
          </a:p>
          <a:p>
            <a:r>
              <a:rPr lang="en-US" altLang="en-US" dirty="0"/>
              <a:t>Computer training</a:t>
            </a:r>
          </a:p>
          <a:p>
            <a:r>
              <a:rPr lang="en-US" altLang="en-US" dirty="0"/>
              <a:t>Computer and computer-equipment sales</a:t>
            </a:r>
          </a:p>
          <a:p>
            <a:r>
              <a:rPr lang="en-US" altLang="en-US" dirty="0"/>
              <a:t>Computer repair and maintenance</a:t>
            </a:r>
          </a:p>
          <a:p>
            <a:r>
              <a:rPr lang="en-US" altLang="en-US" dirty="0"/>
              <a:t>Support services</a:t>
            </a:r>
          </a:p>
          <a:p>
            <a:r>
              <a:rPr lang="en-US" altLang="en-US" dirty="0"/>
              <a:t>Employment with technology companies</a:t>
            </a:r>
          </a:p>
          <a:p>
            <a:r>
              <a:rPr lang="en-US" altLang="en-US" dirty="0"/>
              <a:t>Entrepreneurial ventures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2469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F6C63A01-8C65-4723-B7B0-600D5DC80975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</a:rPr>
              <a:pPr/>
              <a:t>46</a:t>
            </a:fld>
            <a:endParaRPr lang="en-US" alt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0762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Working in Teams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1525033"/>
          </a:xfrm>
        </p:spPr>
        <p:txBody>
          <a:bodyPr/>
          <a:lstStyle/>
          <a:p>
            <a:r>
              <a:rPr lang="en-US" altLang="en-US" dirty="0"/>
              <a:t>Most IS careers involve working in project teams that can consist of many of the positions and roles</a:t>
            </a:r>
          </a:p>
          <a:p>
            <a:r>
              <a:rPr lang="en-US" altLang="en-US" dirty="0"/>
              <a:t>It is always good for IS professionals to:</a:t>
            </a:r>
          </a:p>
          <a:p>
            <a:pPr lvl="1"/>
            <a:r>
              <a:rPr lang="en-US" altLang="en-US" dirty="0"/>
              <a:t>Have good communications skills and the ability to work with other people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3493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934A707D-3D2E-473A-B8CB-ACCF3B478BA9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</a:rPr>
              <a:pPr/>
              <a:t>47</a:t>
            </a:fld>
            <a:endParaRPr lang="en-US" alt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2005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a Job in IS</a:t>
            </a:r>
          </a:p>
        </p:txBody>
      </p:sp>
      <p:sp>
        <p:nvSpPr>
          <p:cNvPr id="64515" name="Content Placeholder 2"/>
          <p:cNvSpPr>
            <a:spLocks noGrp="1"/>
          </p:cNvSpPr>
          <p:nvPr>
            <p:ph idx="1"/>
          </p:nvPr>
        </p:nvSpPr>
        <p:spPr>
          <a:xfrm>
            <a:off x="486833" y="1538819"/>
            <a:ext cx="11220451" cy="2651495"/>
          </a:xfrm>
        </p:spPr>
        <p:txBody>
          <a:bodyPr/>
          <a:lstStyle/>
          <a:p>
            <a:r>
              <a:rPr lang="en-US" altLang="en-US" dirty="0"/>
              <a:t>Developing an online résumé can be critical to finding a good job</a:t>
            </a:r>
          </a:p>
          <a:p>
            <a:r>
              <a:rPr lang="en-US" altLang="en-US" dirty="0"/>
              <a:t>The Internet</a:t>
            </a:r>
          </a:p>
          <a:p>
            <a:pPr lvl="1"/>
            <a:r>
              <a:rPr lang="en-US" altLang="en-US" dirty="0"/>
              <a:t>Online job sites</a:t>
            </a:r>
          </a:p>
          <a:p>
            <a:pPr lvl="1"/>
            <a:r>
              <a:rPr lang="en-US" altLang="en-US" dirty="0"/>
              <a:t>Company Web sites</a:t>
            </a:r>
          </a:p>
          <a:p>
            <a:pPr lvl="1"/>
            <a:r>
              <a:rPr lang="en-US" altLang="en-US" dirty="0"/>
              <a:t>Social networking sites</a:t>
            </a:r>
          </a:p>
          <a:p>
            <a:r>
              <a:rPr lang="en-US" altLang="en-US" dirty="0"/>
              <a:t>Informal networks of colleagues or business acquaintances</a:t>
            </a:r>
          </a:p>
          <a:p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4517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A41606D6-183D-4F95-A4ED-D5FBC28D7973}" type="slidenum">
              <a:rPr lang="en-US" altLang="en-US" sz="1400">
                <a:solidFill>
                  <a:srgbClr val="222222"/>
                </a:solidFill>
                <a:latin typeface="Arial" panose="020B0604020202020204" pitchFamily="34" charset="0"/>
              </a:rPr>
              <a:pPr/>
              <a:t>48</a:t>
            </a:fld>
            <a:endParaRPr lang="en-US" altLang="en-US" sz="14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806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9125" y="1538818"/>
            <a:ext cx="8415338" cy="3539430"/>
          </a:xfrm>
        </p:spPr>
        <p:txBody>
          <a:bodyPr/>
          <a:lstStyle/>
          <a:p>
            <a:pPr eaLnBrk="1" hangingPunct="1"/>
            <a:r>
              <a:rPr lang="en-US" altLang="en-US" dirty="0"/>
              <a:t>Organizations are open systems that affect and are affected by their surrounding environment</a:t>
            </a:r>
          </a:p>
          <a:p>
            <a:pPr eaLnBrk="1" hangingPunct="1"/>
            <a:r>
              <a:rPr lang="en-US" altLang="en-US" dirty="0"/>
              <a:t>Positive change is a key ingredient for any successful organization</a:t>
            </a:r>
          </a:p>
          <a:p>
            <a:pPr eaLnBrk="1" hangingPunct="1"/>
            <a:r>
              <a:rPr lang="en-US" altLang="en-US" dirty="0"/>
              <a:t>Information systems must be implemented in such a manner that they are accepted and work well within the context of an organization and support its fundamental business goals and </a:t>
            </a:r>
            <a:r>
              <a:rPr lang="en-US" altLang="en-US" dirty="0" smtClean="0"/>
              <a:t>strategies</a:t>
            </a:r>
          </a:p>
          <a:p>
            <a:r>
              <a:rPr lang="en-US" altLang="en-US" dirty="0"/>
              <a:t>The information system worker functions at the intersection of business and technology and designs, builds, and implements solutions that allow organizations to effectively leverage information technology systems</a:t>
            </a:r>
          </a:p>
          <a:p>
            <a:endParaRPr lang="en-US" altLang="en-US" dirty="0"/>
          </a:p>
        </p:txBody>
      </p:sp>
      <p:sp>
        <p:nvSpPr>
          <p:cNvPr id="46084" name="Rectangle 5"/>
          <p:cNvSpPr>
            <a:spLocks noGrp="1" noChangeArrowheads="1"/>
          </p:cNvSpPr>
          <p:nvPr>
            <p:ph type="ftr" sz="quarter" idx="10"/>
          </p:nvPr>
        </p:nvSpPr>
        <p:spPr>
          <a:extLst/>
        </p:spPr>
        <p:txBody>
          <a:bodyPr vert="horz" lIns="91440" tIns="45720" rIns="91440" bIns="45720" rtlCol="0" anchor="ctr"/>
          <a:lstStyle/>
          <a:p>
            <a:r>
              <a:rPr lang="en-US" dirty="0"/>
              <a:t>© 2017 Cengage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</a:p>
        </p:txBody>
      </p:sp>
      <p:sp>
        <p:nvSpPr>
          <p:cNvPr id="65541" name="Rectangle 6"/>
          <p:cNvSpPr>
            <a:spLocks noGrp="1" noChangeArrowheads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E0490A-092C-4B47-9B42-F725B1529E93}" type="slidenum">
              <a:rPr lang="en-US" altLang="en-US" sz="140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8411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4985</TotalTime>
  <Words>6264</Words>
  <Application>Microsoft Office PowerPoint</Application>
  <PresentationFormat>Widescreen</PresentationFormat>
  <Paragraphs>605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Times New Roman</vt:lpstr>
      <vt:lpstr>Office Theme</vt:lpstr>
      <vt:lpstr>Principles of Information Systems, Thirteenth Edition </vt:lpstr>
      <vt:lpstr>Objectives</vt:lpstr>
      <vt:lpstr>Objectives</vt:lpstr>
      <vt:lpstr>Organizations and Information Systems</vt:lpstr>
      <vt:lpstr>Organizations and Information Systems</vt:lpstr>
      <vt:lpstr>Organizations and Information Systems</vt:lpstr>
      <vt:lpstr>Organizations and Information Systems</vt:lpstr>
      <vt:lpstr>Organizations and Information Systems</vt:lpstr>
      <vt:lpstr>Virtual Teams and Collaborative Work</vt:lpstr>
      <vt:lpstr>Innovation</vt:lpstr>
      <vt:lpstr>Reengineering and Continuous Improvement</vt:lpstr>
      <vt:lpstr>Reengineering and Continuous Improvement</vt:lpstr>
      <vt:lpstr>Reengineering and Continuous Improvement</vt:lpstr>
      <vt:lpstr>Outsourcing, Offshoring, and Downsizing</vt:lpstr>
      <vt:lpstr>Outsourcing, Offshoring, and Downsizing</vt:lpstr>
      <vt:lpstr>Organizational Culture and Change</vt:lpstr>
      <vt:lpstr>Organizational Culture and Change</vt:lpstr>
      <vt:lpstr>Lewin’s Change Model</vt:lpstr>
      <vt:lpstr>Lewin’s Change Model</vt:lpstr>
      <vt:lpstr>Lewin’s Force Field Analysis</vt:lpstr>
      <vt:lpstr>Lewin’s Force Field Analysis</vt:lpstr>
      <vt:lpstr>Lewin’s Force Field Analysis</vt:lpstr>
      <vt:lpstr>Leavitt’s Diamond</vt:lpstr>
      <vt:lpstr>Leavitt’s Diamond</vt:lpstr>
      <vt:lpstr>User Satisfaction and Technology Acceptance</vt:lpstr>
      <vt:lpstr>Diffusion of Innovation Theory</vt:lpstr>
      <vt:lpstr>Diffusion of Innovation Theory</vt:lpstr>
      <vt:lpstr>Careers in Information Systems</vt:lpstr>
      <vt:lpstr>Careers in Information Systems</vt:lpstr>
      <vt:lpstr>Careers in Information Systems</vt:lpstr>
      <vt:lpstr>Careers in Information Systems</vt:lpstr>
      <vt:lpstr>Careers in Information Systems</vt:lpstr>
      <vt:lpstr>Careers in Information Systems</vt:lpstr>
      <vt:lpstr>Careers in Information Systems</vt:lpstr>
      <vt:lpstr>Careers in Information Systems</vt:lpstr>
      <vt:lpstr>Careers in Information Systems</vt:lpstr>
      <vt:lpstr>Roles, Functions, and Careers in IS</vt:lpstr>
      <vt:lpstr>Roles, Functions, and Careers in IS</vt:lpstr>
      <vt:lpstr>Typical IS Titles and Functions</vt:lpstr>
      <vt:lpstr>Typical IS Titles and Functions: Operations Roles</vt:lpstr>
      <vt:lpstr>Typical IS Titles and Functions: Development Roles</vt:lpstr>
      <vt:lpstr>Typical IS Titles and Functions: Support</vt:lpstr>
      <vt:lpstr>IS-Related Roles outside the IS Organization</vt:lpstr>
      <vt:lpstr>IS-Related Roles outside the IS Organization</vt:lpstr>
      <vt:lpstr>Certification</vt:lpstr>
      <vt:lpstr>Other IS Careers</vt:lpstr>
      <vt:lpstr>Working in Teams</vt:lpstr>
      <vt:lpstr>Finding a Job in IS</vt:lpstr>
      <vt:lpstr>Summary</vt:lpstr>
    </vt:vector>
  </TitlesOfParts>
  <Company>Course Technology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Author</dc:creator>
  <cp:lastModifiedBy>Mourine Achieng</cp:lastModifiedBy>
  <cp:revision>208</cp:revision>
  <cp:lastPrinted>2010-11-12T17:54:40Z</cp:lastPrinted>
  <dcterms:created xsi:type="dcterms:W3CDTF">2007-02-15T20:50:52Z</dcterms:created>
  <dcterms:modified xsi:type="dcterms:W3CDTF">2020-02-17T07:56:12Z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1439603344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maria.garguilo@cengage.com</vt:lpwstr>
  </property>
  <property fmtid="{D5CDD505-2E9C-101B-9397-08002B2CF9AE}" pid="6" name="_AuthorEmailDisplayName">
    <vt:lpwstr>Garguilo, Maria</vt:lpwstr>
  </property>
  <property fmtid="{D5CDD505-2E9C-101B-9397-08002B2CF9AE}" pid="7" name="_PreviousAdHocReviewCycleID">
    <vt:i4>1933890983</vt:i4>
  </property>
</Properties>
</file>