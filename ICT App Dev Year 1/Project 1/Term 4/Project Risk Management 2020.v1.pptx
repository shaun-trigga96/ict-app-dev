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908" r:id="rId2"/>
  </p:sldMasterIdLst>
  <p:notesMasterIdLst>
    <p:notesMasterId r:id="rId34"/>
  </p:notesMasterIdLst>
  <p:handoutMasterIdLst>
    <p:handoutMasterId r:id="rId35"/>
  </p:handoutMasterIdLst>
  <p:sldIdLst>
    <p:sldId id="257" r:id="rId3"/>
    <p:sldId id="335" r:id="rId4"/>
    <p:sldId id="399" r:id="rId5"/>
    <p:sldId id="398" r:id="rId6"/>
    <p:sldId id="338" r:id="rId7"/>
    <p:sldId id="343" r:id="rId8"/>
    <p:sldId id="344" r:id="rId9"/>
    <p:sldId id="346" r:id="rId10"/>
    <p:sldId id="393" r:id="rId11"/>
    <p:sldId id="348" r:id="rId12"/>
    <p:sldId id="349" r:id="rId13"/>
    <p:sldId id="350" r:id="rId14"/>
    <p:sldId id="351" r:id="rId15"/>
    <p:sldId id="352" r:id="rId16"/>
    <p:sldId id="353" r:id="rId17"/>
    <p:sldId id="354" r:id="rId18"/>
    <p:sldId id="356" r:id="rId19"/>
    <p:sldId id="357" r:id="rId20"/>
    <p:sldId id="358" r:id="rId21"/>
    <p:sldId id="359" r:id="rId22"/>
    <p:sldId id="360" r:id="rId23"/>
    <p:sldId id="361" r:id="rId24"/>
    <p:sldId id="362" r:id="rId25"/>
    <p:sldId id="366" r:id="rId26"/>
    <p:sldId id="401" r:id="rId27"/>
    <p:sldId id="383" r:id="rId28"/>
    <p:sldId id="385" r:id="rId29"/>
    <p:sldId id="386" r:id="rId30"/>
    <p:sldId id="388" r:id="rId31"/>
    <p:sldId id="390" r:id="rId32"/>
    <p:sldId id="391" r:id="rId33"/>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s" lastIdx="1" clrIdx="0"/>
  <p:cmAuthor id="1" name="schwalbe" initials="k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76604" autoAdjust="0"/>
  </p:normalViewPr>
  <p:slideViewPr>
    <p:cSldViewPr>
      <p:cViewPr varScale="1">
        <p:scale>
          <a:sx n="67" d="100"/>
          <a:sy n="67" d="100"/>
        </p:scale>
        <p:origin x="1906"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4B09B4B-2CA1-476B-AD00-5AEEE8EEA368}" type="slidenum">
              <a:rPr lang="en-US"/>
              <a:pPr>
                <a:defRPr/>
              </a:pPr>
              <a:t>‹#›</a:t>
            </a:fld>
            <a:endParaRPr lang="en-US" dirty="0"/>
          </a:p>
        </p:txBody>
      </p:sp>
    </p:spTree>
    <p:extLst>
      <p:ext uri="{BB962C8B-B14F-4D97-AF65-F5344CB8AC3E}">
        <p14:creationId xmlns:p14="http://schemas.microsoft.com/office/powerpoint/2010/main" val="907700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5643CF3-3CBA-4666-8D1B-A3F17C5F892C}" type="slidenum">
              <a:rPr lang="en-US"/>
              <a:pPr>
                <a:defRPr/>
              </a:pPr>
              <a:t>‹#›</a:t>
            </a:fld>
            <a:endParaRPr lang="en-US" dirty="0"/>
          </a:p>
        </p:txBody>
      </p:sp>
    </p:spTree>
    <p:extLst>
      <p:ext uri="{BB962C8B-B14F-4D97-AF65-F5344CB8AC3E}">
        <p14:creationId xmlns:p14="http://schemas.microsoft.com/office/powerpoint/2010/main" val="9841344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pPr eaLnBrk="1" hangingPunct="1"/>
            <a:endParaRPr lang="en-US" dirty="0" smtClean="0"/>
          </a:p>
        </p:txBody>
      </p:sp>
      <p:sp>
        <p:nvSpPr>
          <p:cNvPr id="72708" name="Slide Number Placeholder 3"/>
          <p:cNvSpPr>
            <a:spLocks noGrp="1"/>
          </p:cNvSpPr>
          <p:nvPr>
            <p:ph type="sldNum" sz="quarter" idx="5"/>
          </p:nvPr>
        </p:nvSpPr>
        <p:spPr>
          <a:noFill/>
        </p:spPr>
        <p:txBody>
          <a:bodyPr/>
          <a:lstStyle/>
          <a:p>
            <a:fld id="{6C7781DC-CA90-4928-8051-8CF0D059367C}" type="slidenum">
              <a:rPr lang="en-US" smtClean="0"/>
              <a:pPr/>
              <a:t>1</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smtClean="0"/>
              <a:t>Goals &amp; Objectives:</a:t>
            </a:r>
          </a:p>
          <a:p>
            <a:r>
              <a:rPr lang="en-US" altLang="en-US" dirty="0" smtClean="0"/>
              <a:t>Project Risk – What is it, and how do you known when you have found it</a:t>
            </a:r>
          </a:p>
          <a:p>
            <a:r>
              <a:rPr lang="en-US" altLang="en-US" dirty="0" smtClean="0"/>
              <a:t>Risk </a:t>
            </a:r>
            <a:r>
              <a:rPr lang="en-US" altLang="en-US" dirty="0" err="1" smtClean="0"/>
              <a:t>Mgmt</a:t>
            </a:r>
            <a:r>
              <a:rPr lang="en-US" altLang="en-US" dirty="0" smtClean="0"/>
              <a:t> – PMBOK Definition, and steps to the entire management process</a:t>
            </a:r>
          </a:p>
          <a:p>
            <a:r>
              <a:rPr lang="en-US" altLang="en-US" dirty="0" smtClean="0"/>
              <a:t>Risk </a:t>
            </a:r>
            <a:r>
              <a:rPr lang="en-US" altLang="en-US" dirty="0" err="1" smtClean="0"/>
              <a:t>Mgmt</a:t>
            </a:r>
            <a:r>
              <a:rPr lang="en-US" altLang="en-US" dirty="0" smtClean="0"/>
              <a:t> Planning – Discuss “planning for the plan”, appropriateness (6 questions to ask yourself before planning.)</a:t>
            </a:r>
          </a:p>
          <a:p>
            <a:r>
              <a:rPr lang="en-US" altLang="en-US" dirty="0" smtClean="0"/>
              <a:t>Identify – What is a risk and how do you identify it</a:t>
            </a:r>
          </a:p>
          <a:p>
            <a:r>
              <a:rPr lang="en-US" altLang="en-US" dirty="0" smtClean="0"/>
              <a:t>Qualify –  Create a prioritized list based on gut/history</a:t>
            </a:r>
          </a:p>
          <a:p>
            <a:r>
              <a:rPr lang="en-US" altLang="en-US" dirty="0" smtClean="0"/>
              <a:t>Quantify – Top risks should be quantified for probability and impact (examples)</a:t>
            </a:r>
          </a:p>
          <a:p>
            <a:r>
              <a:rPr lang="en-US" altLang="en-US" dirty="0" smtClean="0"/>
              <a:t>Response Planning – What are we going to do if?  Who is going to be responsible?  The Risk Register!</a:t>
            </a:r>
          </a:p>
          <a:p>
            <a:r>
              <a:rPr lang="en-US" altLang="en-US" dirty="0" smtClean="0"/>
              <a:t>Risk Monitoring &amp; Control – Keeping and eye open and following your plan.</a:t>
            </a:r>
          </a:p>
          <a:p>
            <a:r>
              <a:rPr lang="en-US" altLang="en-US" dirty="0" smtClean="0"/>
              <a:t>Tools… - Give you some ideas of where to go, how to do this, and what some examples look like.</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a:t>
            </a:fld>
            <a:endParaRPr lang="en-US" dirty="0"/>
          </a:p>
        </p:txBody>
      </p:sp>
    </p:spTree>
    <p:extLst>
      <p:ext uri="{BB962C8B-B14F-4D97-AF65-F5344CB8AC3E}">
        <p14:creationId xmlns:p14="http://schemas.microsoft.com/office/powerpoint/2010/main" val="319274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en-US" altLang="en-US" dirty="0" smtClean="0"/>
              <a:t>CAN NOT be done until a WBS has been developed…you must know WHAT the project is and is not.</a:t>
            </a:r>
          </a:p>
          <a:p>
            <a:pPr marL="228600" indent="-228600"/>
            <a:r>
              <a:rPr lang="en-US" altLang="en-US" dirty="0" smtClean="0"/>
              <a:t>It is not just the BIG stuff…the little things can hurt the most</a:t>
            </a:r>
          </a:p>
          <a:p>
            <a:pPr marL="228600" indent="-228600"/>
            <a:r>
              <a:rPr lang="en-US" altLang="en-US" dirty="0" smtClean="0"/>
              <a:t>KEYS:</a:t>
            </a:r>
          </a:p>
          <a:p>
            <a:pPr marL="228600" indent="-228600">
              <a:buFontTx/>
              <a:buAutoNum type="arabicPeriod"/>
            </a:pPr>
            <a:r>
              <a:rPr lang="en-US" altLang="en-US" dirty="0" smtClean="0"/>
              <a:t>Uncertainty – It could happen, and well it might not, too.</a:t>
            </a:r>
          </a:p>
          <a:p>
            <a:pPr marL="228600" indent="-228600">
              <a:buFontTx/>
              <a:buAutoNum type="arabicPeriod"/>
            </a:pPr>
            <a:r>
              <a:rPr lang="en-US" altLang="en-US" dirty="0" smtClean="0"/>
              <a:t>Focus for this presentation is on Negative, but there are positive risks (AKA – opportunities)</a:t>
            </a:r>
          </a:p>
          <a:p>
            <a:pPr marL="228600" indent="-228600">
              <a:buFontTx/>
              <a:buAutoNum type="arabicPeriod"/>
            </a:pPr>
            <a:r>
              <a:rPr lang="en-US" altLang="en-US" dirty="0" smtClean="0"/>
              <a:t>All risks have a cause and a consequence.  Your job through this process is to identify these.</a:t>
            </a:r>
          </a:p>
          <a:p>
            <a:pPr marL="228600" indent="-228600">
              <a:buFontTx/>
              <a:buAutoNum type="arabicPeriod"/>
            </a:pPr>
            <a:r>
              <a:rPr lang="en-US" altLang="en-US" dirty="0" smtClean="0"/>
              <a:t>Known – identified and addressed…Unknown – those risks you cannot identify or know about and cannot be managed (budget for them only)</a:t>
            </a:r>
          </a:p>
          <a:p>
            <a:pPr marL="228600" indent="-228600">
              <a:buFontTx/>
              <a:buAutoNum type="arabicPeriod"/>
            </a:pPr>
            <a:r>
              <a:rPr lang="en-US" altLang="en-US" dirty="0" smtClean="0"/>
              <a:t>Risk overall guide project success…a company/agency may be more or less risk averse which will determine how they view risks and the responses required for them.  Some risk can be good if the reward is offsetting the risk.</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3</a:t>
            </a:fld>
            <a:endParaRPr lang="en-US" dirty="0"/>
          </a:p>
        </p:txBody>
      </p:sp>
    </p:spTree>
    <p:extLst>
      <p:ext uri="{BB962C8B-B14F-4D97-AF65-F5344CB8AC3E}">
        <p14:creationId xmlns:p14="http://schemas.microsoft.com/office/powerpoint/2010/main" val="1297487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2400" i="1" dirty="0" smtClean="0"/>
              <a:t>Murphy’s Laws</a:t>
            </a:r>
            <a:r>
              <a:rPr lang="en-US" altLang="en-US" sz="2400" dirty="0" smtClean="0"/>
              <a:t> is an adage or epigram</a:t>
            </a:r>
          </a:p>
          <a:p>
            <a:pPr lvl="1">
              <a:lnSpc>
                <a:spcPct val="90000"/>
              </a:lnSpc>
            </a:pPr>
            <a:r>
              <a:rPr lang="en-US" altLang="en-US" sz="2000" dirty="0" smtClean="0"/>
              <a:t>“If anything can go wrong, it will!”</a:t>
            </a:r>
          </a:p>
          <a:p>
            <a:pPr lvl="1">
              <a:lnSpc>
                <a:spcPct val="90000"/>
              </a:lnSpc>
            </a:pPr>
            <a:r>
              <a:rPr lang="en-US" altLang="en-US" sz="2000" dirty="0" smtClean="0"/>
              <a:t>“Of things that could go wrong, the one that causes the most damage will occur!”</a:t>
            </a:r>
          </a:p>
          <a:p>
            <a:endParaRPr lang="en-ZA"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4</a:t>
            </a:fld>
            <a:endParaRPr lang="en-US" dirty="0"/>
          </a:p>
        </p:txBody>
      </p:sp>
    </p:spTree>
    <p:extLst>
      <p:ext uri="{BB962C8B-B14F-4D97-AF65-F5344CB8AC3E}">
        <p14:creationId xmlns:p14="http://schemas.microsoft.com/office/powerpoint/2010/main" val="1521881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GB" altLang="en-US" dirty="0" smtClean="0"/>
              <a:t>Risk management is concerned with identifying risks and drawing up plans to minimise their effect on a project.</a:t>
            </a:r>
          </a:p>
          <a:p>
            <a:pPr>
              <a:lnSpc>
                <a:spcPct val="90000"/>
              </a:lnSpc>
            </a:pPr>
            <a:r>
              <a:rPr lang="en-GB" altLang="en-US" dirty="0" smtClean="0"/>
              <a:t>A risk is a probability that some adverse (or positive) circumstance will occur </a:t>
            </a:r>
          </a:p>
          <a:p>
            <a:pPr lvl="1">
              <a:lnSpc>
                <a:spcPct val="90000"/>
              </a:lnSpc>
            </a:pPr>
            <a:r>
              <a:rPr lang="en-GB" altLang="en-US" b="1" dirty="0" smtClean="0"/>
              <a:t>Project risks</a:t>
            </a:r>
            <a:r>
              <a:rPr lang="en-GB" altLang="en-US" dirty="0" smtClean="0"/>
              <a:t> affect schedule or resources;</a:t>
            </a:r>
          </a:p>
          <a:p>
            <a:pPr lvl="1">
              <a:lnSpc>
                <a:spcPct val="90000"/>
              </a:lnSpc>
            </a:pPr>
            <a:r>
              <a:rPr lang="en-GB" altLang="en-US" b="1" dirty="0" smtClean="0"/>
              <a:t>Product risks </a:t>
            </a:r>
            <a:r>
              <a:rPr lang="en-GB" altLang="en-US" dirty="0" smtClean="0"/>
              <a:t>affect the quality or performance of the software being developed;</a:t>
            </a:r>
          </a:p>
          <a:p>
            <a:pPr lvl="1">
              <a:lnSpc>
                <a:spcPct val="90000"/>
              </a:lnSpc>
            </a:pPr>
            <a:r>
              <a:rPr lang="en-GB" altLang="en-US" b="1" dirty="0" smtClean="0"/>
              <a:t>Business risks </a:t>
            </a:r>
            <a:r>
              <a:rPr lang="en-GB" altLang="en-US" dirty="0" smtClean="0"/>
              <a:t>affect the organization developing or procuring the software.</a:t>
            </a:r>
          </a:p>
          <a:p>
            <a:pPr lvl="1">
              <a:lnSpc>
                <a:spcPct val="90000"/>
              </a:lnSpc>
            </a:pPr>
            <a:endParaRPr lang="en-GB" altLang="en-US" dirty="0" smtClean="0"/>
          </a:p>
          <a:p>
            <a:pPr marL="457200" indent="-457200">
              <a:lnSpc>
                <a:spcPct val="90000"/>
              </a:lnSpc>
            </a:pPr>
            <a:r>
              <a:rPr lang="en-US" altLang="en-US" sz="2400" dirty="0" smtClean="0"/>
              <a:t>With so much benefit to managing risk, why is it often overlooked? :</a:t>
            </a:r>
          </a:p>
          <a:p>
            <a:pPr marL="838200" lvl="1" indent="-381000">
              <a:lnSpc>
                <a:spcPct val="90000"/>
              </a:lnSpc>
              <a:buFontTx/>
              <a:buAutoNum type="arabicPeriod"/>
            </a:pPr>
            <a:r>
              <a:rPr lang="en-US" altLang="en-US" sz="2000" dirty="0" smtClean="0"/>
              <a:t>The organization is too busy with </a:t>
            </a:r>
            <a:r>
              <a:rPr lang="en-US" altLang="en-US" sz="2000" b="1" u="sng" dirty="0" smtClean="0"/>
              <a:t>real</a:t>
            </a:r>
            <a:r>
              <a:rPr lang="en-US" altLang="en-US" sz="2000" dirty="0" smtClean="0"/>
              <a:t> problems to worry about potential ones, </a:t>
            </a:r>
          </a:p>
          <a:p>
            <a:pPr marL="838200" lvl="1" indent="-381000">
              <a:lnSpc>
                <a:spcPct val="90000"/>
              </a:lnSpc>
              <a:buFontTx/>
              <a:buAutoNum type="arabicPeriod"/>
            </a:pPr>
            <a:r>
              <a:rPr lang="en-US" altLang="en-US" sz="2000" dirty="0" smtClean="0"/>
              <a:t>There is a perception that there is not too much that can go wrong, or </a:t>
            </a:r>
          </a:p>
          <a:p>
            <a:pPr marL="838200" lvl="1" indent="-381000">
              <a:lnSpc>
                <a:spcPct val="90000"/>
              </a:lnSpc>
              <a:buFontTx/>
              <a:buAutoNum type="arabicPeriod"/>
            </a:pPr>
            <a:r>
              <a:rPr lang="en-US" altLang="en-US" sz="2000" dirty="0" smtClean="0"/>
              <a:t>They have a fatalistic belief that not much can be done about risks, or </a:t>
            </a:r>
          </a:p>
          <a:p>
            <a:pPr marL="838200" lvl="1" indent="-381000">
              <a:lnSpc>
                <a:spcPct val="90000"/>
              </a:lnSpc>
              <a:buFontTx/>
              <a:buAutoNum type="arabicPeriod"/>
            </a:pPr>
            <a:r>
              <a:rPr lang="en-US" altLang="en-US" sz="2000" dirty="0" smtClean="0"/>
              <a:t>“Shoot the messenger mentality”; fear that disclosure of project risks will be seen as an indication of project  weakness.</a:t>
            </a:r>
          </a:p>
          <a:p>
            <a:pPr marL="838200" lvl="1" indent="-381000">
              <a:lnSpc>
                <a:spcPct val="90000"/>
              </a:lnSpc>
              <a:buFontTx/>
              <a:buAutoNum type="arabicPeriod"/>
            </a:pPr>
            <a:endParaRPr lang="en-US" altLang="en-US" sz="2000" b="1" dirty="0" smtClean="0"/>
          </a:p>
          <a:p>
            <a:pPr>
              <a:lnSpc>
                <a:spcPct val="90000"/>
              </a:lnSpc>
            </a:pPr>
            <a:r>
              <a:rPr lang="en-US" altLang="en-US" sz="2400" b="1" dirty="0" smtClean="0"/>
              <a:t>Value From Managing Risks</a:t>
            </a:r>
          </a:p>
          <a:p>
            <a:pPr>
              <a:lnSpc>
                <a:spcPct val="90000"/>
              </a:lnSpc>
            </a:pPr>
            <a:endParaRPr lang="en-US" altLang="en-US" sz="2400" dirty="0" smtClean="0"/>
          </a:p>
          <a:p>
            <a:pPr>
              <a:lnSpc>
                <a:spcPct val="90000"/>
              </a:lnSpc>
            </a:pPr>
            <a:r>
              <a:rPr lang="en-US" altLang="en-US" sz="2400" dirty="0" smtClean="0"/>
              <a:t>Opportunity to move from “fire-fighting” to proactive decision making on the project.</a:t>
            </a:r>
          </a:p>
          <a:p>
            <a:pPr>
              <a:lnSpc>
                <a:spcPct val="90000"/>
              </a:lnSpc>
            </a:pPr>
            <a:r>
              <a:rPr lang="en-US" altLang="en-US" sz="2400" dirty="0" smtClean="0"/>
              <a:t>Better chance of project success.</a:t>
            </a:r>
          </a:p>
          <a:p>
            <a:pPr>
              <a:lnSpc>
                <a:spcPct val="90000"/>
              </a:lnSpc>
            </a:pPr>
            <a:r>
              <a:rPr lang="en-US" altLang="en-US" sz="2400" dirty="0" smtClean="0"/>
              <a:t>Improved project schedule and cost performance.</a:t>
            </a:r>
          </a:p>
          <a:p>
            <a:pPr>
              <a:lnSpc>
                <a:spcPct val="90000"/>
              </a:lnSpc>
            </a:pPr>
            <a:r>
              <a:rPr lang="en-US" altLang="en-US" sz="2400" dirty="0" smtClean="0"/>
              <a:t>Stakeholders and team members better understand the nature of the project.</a:t>
            </a:r>
          </a:p>
          <a:p>
            <a:pPr>
              <a:lnSpc>
                <a:spcPct val="90000"/>
              </a:lnSpc>
            </a:pPr>
            <a:r>
              <a:rPr lang="en-US" altLang="en-US" sz="2400" dirty="0" smtClean="0"/>
              <a:t>Helps define the strengths and weaknesses of the project.</a:t>
            </a:r>
          </a:p>
          <a:p>
            <a:pPr marL="838200" lvl="1" indent="-381000">
              <a:lnSpc>
                <a:spcPct val="90000"/>
              </a:lnSpc>
              <a:buFontTx/>
              <a:buAutoNum type="arabicPeriod"/>
            </a:pPr>
            <a:endParaRPr lang="en-US" altLang="en-US" sz="2000" b="1" dirty="0" smtClean="0"/>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5</a:t>
            </a:fld>
            <a:endParaRPr lang="en-US" dirty="0"/>
          </a:p>
        </p:txBody>
      </p:sp>
    </p:spTree>
    <p:extLst>
      <p:ext uri="{BB962C8B-B14F-4D97-AF65-F5344CB8AC3E}">
        <p14:creationId xmlns:p14="http://schemas.microsoft.com/office/powerpoint/2010/main" val="2244671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dirty="0" smtClean="0"/>
              <a:t>All projects have risks, denial does not make them go away, it just makes you unprepared for them if they occur.</a:t>
            </a:r>
          </a:p>
          <a:p>
            <a:pPr marL="0" marR="0" indent="0" algn="l" defTabSz="914400" rtl="0" eaLnBrk="0" fontAlgn="base" latinLnBrk="0" hangingPunct="0">
              <a:lnSpc>
                <a:spcPct val="90000"/>
              </a:lnSpc>
              <a:spcBef>
                <a:spcPct val="30000"/>
              </a:spcBef>
              <a:spcAft>
                <a:spcPct val="0"/>
              </a:spcAft>
              <a:buClrTx/>
              <a:buSzTx/>
              <a:buFontTx/>
              <a:buNone/>
              <a:tabLst/>
              <a:defRPr/>
            </a:pPr>
            <a:r>
              <a:rPr lang="en-ZA" dirty="0" smtClean="0"/>
              <a:t>Risk</a:t>
            </a:r>
            <a:r>
              <a:rPr lang="en-ZA" baseline="0" dirty="0" smtClean="0"/>
              <a:t> -  an uncertain event or condition that if it occurs can present </a:t>
            </a:r>
            <a:r>
              <a:rPr lang="en-ZA" b="1" baseline="0" dirty="0" smtClean="0"/>
              <a:t>a positive or a negative </a:t>
            </a:r>
            <a:r>
              <a:rPr lang="en-ZA" b="0" baseline="0" dirty="0" smtClean="0"/>
              <a:t>effect one or more project objectives.  </a:t>
            </a:r>
          </a:p>
          <a:p>
            <a:pPr>
              <a:lnSpc>
                <a:spcPct val="90000"/>
              </a:lnSpc>
            </a:pPr>
            <a:endParaRPr lang="en-US" altLang="en-US" sz="1200" dirty="0" smtClean="0"/>
          </a:p>
          <a:p>
            <a:pPr>
              <a:lnSpc>
                <a:spcPct val="90000"/>
              </a:lnSpc>
            </a:pPr>
            <a:r>
              <a:rPr lang="en-US" altLang="en-US" sz="1200" dirty="0" smtClean="0"/>
              <a:t>Risk in itself is not bad, it is how well the project plans for and reacts to risks that counts.</a:t>
            </a:r>
          </a:p>
          <a:p>
            <a:pPr>
              <a:lnSpc>
                <a:spcPct val="90000"/>
              </a:lnSpc>
            </a:pPr>
            <a:r>
              <a:rPr lang="en-US" altLang="en-US" sz="1200" dirty="0" smtClean="0"/>
              <a:t>Formal risk management is a cornerstone of good project management. Stakeholder visibility into project risks makes it easier to get additional resources and organizational support when risks do occur. </a:t>
            </a:r>
          </a:p>
          <a:p>
            <a:endParaRPr lang="en-ZA" dirty="0" smtClean="0"/>
          </a:p>
          <a:p>
            <a:r>
              <a:rPr lang="en-ZA" b="1" baseline="0" dirty="0" smtClean="0"/>
              <a:t>Positive risk  =  opportunity</a:t>
            </a:r>
          </a:p>
          <a:p>
            <a:r>
              <a:rPr lang="en-ZA" b="1" baseline="0" dirty="0" smtClean="0"/>
              <a:t>Negative risk = threat</a:t>
            </a:r>
            <a:r>
              <a:rPr lang="en-ZA" b="0" baseline="0" dirty="0" smtClean="0"/>
              <a:t> </a:t>
            </a:r>
            <a:endParaRPr lang="en-ZA" dirty="0" smtClean="0"/>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6</a:t>
            </a:fld>
            <a:endParaRPr lang="en-US" dirty="0"/>
          </a:p>
        </p:txBody>
      </p:sp>
    </p:spTree>
    <p:extLst>
      <p:ext uri="{BB962C8B-B14F-4D97-AF65-F5344CB8AC3E}">
        <p14:creationId xmlns:p14="http://schemas.microsoft.com/office/powerpoint/2010/main" val="1860596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Risk Utility</a:t>
            </a:r>
            <a:r>
              <a:rPr lang="en-ZA" baseline="0" dirty="0" smtClean="0"/>
              <a:t> = risk vs payoff</a:t>
            </a:r>
            <a:endParaRPr lang="en-ZA" dirty="0" smtClean="0"/>
          </a:p>
          <a:p>
            <a:endParaRPr lang="en-ZA" dirty="0" smtClean="0"/>
          </a:p>
          <a:p>
            <a:r>
              <a:rPr lang="en-ZA" dirty="0" smtClean="0"/>
              <a:t>Risk</a:t>
            </a:r>
            <a:r>
              <a:rPr lang="en-ZA" baseline="0" dirty="0" smtClean="0"/>
              <a:t> Aversion -  low risk</a:t>
            </a:r>
          </a:p>
          <a:p>
            <a:endParaRPr lang="en-ZA"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7</a:t>
            </a:fld>
            <a:endParaRPr lang="en-US" dirty="0"/>
          </a:p>
        </p:txBody>
      </p:sp>
    </p:spTree>
    <p:extLst>
      <p:ext uri="{BB962C8B-B14F-4D97-AF65-F5344CB8AC3E}">
        <p14:creationId xmlns:p14="http://schemas.microsoft.com/office/powerpoint/2010/main" val="988662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Risk management is a process</a:t>
            </a:r>
          </a:p>
          <a:p>
            <a:endParaRPr lang="en-US" altLang="en-US" dirty="0" smtClean="0"/>
          </a:p>
          <a:p>
            <a:r>
              <a:rPr lang="en-US" altLang="en-US" dirty="0" smtClean="0"/>
              <a:t>PMBOK </a:t>
            </a:r>
            <a:r>
              <a:rPr lang="en-US" altLang="en-US" i="1" dirty="0" smtClean="0"/>
              <a:t>®</a:t>
            </a:r>
            <a:r>
              <a:rPr lang="en-US" altLang="en-US" dirty="0" smtClean="0"/>
              <a:t> Definition</a:t>
            </a:r>
          </a:p>
          <a:p>
            <a:pPr lvl="1"/>
            <a:r>
              <a:rPr lang="en-US" altLang="en-US" dirty="0" smtClean="0"/>
              <a:t>“The systematic process of identifying, analyzing, and responding to project risk”</a:t>
            </a:r>
          </a:p>
          <a:p>
            <a:endParaRPr lang="en-US" altLang="en-US" dirty="0" smtClean="0"/>
          </a:p>
          <a:p>
            <a:r>
              <a:rPr lang="en-US" altLang="en-US" dirty="0" smtClean="0"/>
              <a:t>It is iterative, continuous and can be done in many different ways</a:t>
            </a:r>
          </a:p>
          <a:p>
            <a:r>
              <a:rPr lang="en-US" altLang="en-US" dirty="0" smtClean="0"/>
              <a:t>This is PMI’s approach that can be tailored to your specific agency/business</a:t>
            </a:r>
          </a:p>
          <a:p>
            <a:r>
              <a:rPr lang="en-US" altLang="en-US" dirty="0" smtClean="0"/>
              <a:t>Identify….Analyze….Respond</a:t>
            </a:r>
          </a:p>
          <a:p>
            <a:endParaRPr lang="en-US" dirty="0" smtClean="0"/>
          </a:p>
          <a:p>
            <a:pPr>
              <a:lnSpc>
                <a:spcPct val="90000"/>
              </a:lnSpc>
            </a:pPr>
            <a:r>
              <a:rPr lang="en-GB" altLang="en-US" dirty="0" smtClean="0"/>
              <a:t>Risk identification</a:t>
            </a:r>
          </a:p>
          <a:p>
            <a:pPr lvl="1">
              <a:lnSpc>
                <a:spcPct val="90000"/>
              </a:lnSpc>
            </a:pPr>
            <a:r>
              <a:rPr lang="en-GB" altLang="en-US" dirty="0" smtClean="0"/>
              <a:t>Identify project, product and business risks;</a:t>
            </a:r>
          </a:p>
          <a:p>
            <a:pPr>
              <a:lnSpc>
                <a:spcPct val="90000"/>
              </a:lnSpc>
            </a:pPr>
            <a:r>
              <a:rPr lang="en-GB" altLang="en-US" dirty="0" smtClean="0"/>
              <a:t>Risk analysis</a:t>
            </a:r>
          </a:p>
          <a:p>
            <a:pPr lvl="1">
              <a:lnSpc>
                <a:spcPct val="90000"/>
              </a:lnSpc>
            </a:pPr>
            <a:r>
              <a:rPr lang="en-GB" altLang="en-US" dirty="0" smtClean="0"/>
              <a:t>Assess the likelihood and consequences of these risks;</a:t>
            </a:r>
          </a:p>
          <a:p>
            <a:pPr>
              <a:lnSpc>
                <a:spcPct val="90000"/>
              </a:lnSpc>
            </a:pPr>
            <a:r>
              <a:rPr lang="en-GB" altLang="en-US" dirty="0" smtClean="0"/>
              <a:t>Risk response planning</a:t>
            </a:r>
          </a:p>
          <a:p>
            <a:pPr lvl="1">
              <a:lnSpc>
                <a:spcPct val="90000"/>
              </a:lnSpc>
            </a:pPr>
            <a:r>
              <a:rPr lang="en-GB" altLang="en-US" dirty="0" smtClean="0"/>
              <a:t>Draw up plans to avoid or minimize the effects of the risk;</a:t>
            </a:r>
          </a:p>
          <a:p>
            <a:pPr>
              <a:lnSpc>
                <a:spcPct val="90000"/>
              </a:lnSpc>
            </a:pPr>
            <a:r>
              <a:rPr lang="en-GB" altLang="en-US" dirty="0" smtClean="0"/>
              <a:t>Risk monitoring</a:t>
            </a:r>
          </a:p>
          <a:p>
            <a:pPr lvl="1">
              <a:lnSpc>
                <a:spcPct val="90000"/>
              </a:lnSpc>
            </a:pPr>
            <a:r>
              <a:rPr lang="en-GB" altLang="en-US" dirty="0" smtClean="0"/>
              <a:t>Monitor the risks throughout the project;</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8</a:t>
            </a:fld>
            <a:endParaRPr lang="en-US" dirty="0"/>
          </a:p>
        </p:txBody>
      </p:sp>
    </p:spTree>
    <p:extLst>
      <p:ext uri="{BB962C8B-B14F-4D97-AF65-F5344CB8AC3E}">
        <p14:creationId xmlns:p14="http://schemas.microsoft.com/office/powerpoint/2010/main" val="2162818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09600" indent="-609600"/>
            <a:r>
              <a:rPr lang="en-US" altLang="en-US" dirty="0" smtClean="0"/>
              <a:t>Plan for the Planning</a:t>
            </a:r>
          </a:p>
          <a:p>
            <a:pPr marL="990600" lvl="1" indent="-533400"/>
            <a:r>
              <a:rPr lang="en-US" altLang="en-US" dirty="0" smtClean="0"/>
              <a:t>Risk planning should be appropriate for the project</a:t>
            </a:r>
          </a:p>
          <a:p>
            <a:pPr marL="990600" lvl="1" indent="-533400"/>
            <a:r>
              <a:rPr lang="en-US" altLang="en-US" dirty="0" smtClean="0"/>
              <a:t>Question you should ask:</a:t>
            </a:r>
          </a:p>
          <a:p>
            <a:pPr marL="1371600" lvl="2" indent="-457200">
              <a:buFont typeface="Wingdings" panose="05000000000000000000" pitchFamily="2" charset="2"/>
              <a:buAutoNum type="arabicPeriod"/>
            </a:pPr>
            <a:r>
              <a:rPr lang="en-US" altLang="en-US" dirty="0" smtClean="0"/>
              <a:t>How risky is the project?</a:t>
            </a:r>
          </a:p>
          <a:p>
            <a:pPr marL="1371600" lvl="2" indent="-457200">
              <a:buFont typeface="Wingdings" panose="05000000000000000000" pitchFamily="2" charset="2"/>
              <a:buAutoNum type="arabicPeriod"/>
            </a:pPr>
            <a:r>
              <a:rPr lang="en-US" altLang="en-US" dirty="0" smtClean="0"/>
              <a:t>Is it a new technology or something your organization is familiar with?</a:t>
            </a:r>
          </a:p>
          <a:p>
            <a:pPr marL="1371600" lvl="2" indent="-457200">
              <a:buFont typeface="Wingdings" panose="05000000000000000000" pitchFamily="2" charset="2"/>
              <a:buAutoNum type="arabicPeriod"/>
            </a:pPr>
            <a:r>
              <a:rPr lang="en-US" altLang="en-US" dirty="0" smtClean="0"/>
              <a:t>Do you have past projects to reference?</a:t>
            </a:r>
          </a:p>
          <a:p>
            <a:pPr marL="1371600" lvl="2" indent="-457200">
              <a:buFont typeface="Wingdings" panose="05000000000000000000" pitchFamily="2" charset="2"/>
              <a:buAutoNum type="arabicPeriod"/>
            </a:pPr>
            <a:r>
              <a:rPr lang="en-US" altLang="en-US" dirty="0" smtClean="0"/>
              <a:t>What is the visibility of the project?</a:t>
            </a:r>
          </a:p>
          <a:p>
            <a:pPr marL="1371600" lvl="2" indent="-457200">
              <a:buFont typeface="Wingdings" panose="05000000000000000000" pitchFamily="2" charset="2"/>
              <a:buAutoNum type="arabicPeriod"/>
            </a:pPr>
            <a:r>
              <a:rPr lang="en-US" altLang="en-US" dirty="0" smtClean="0"/>
              <a:t>How big is the project?</a:t>
            </a:r>
          </a:p>
          <a:p>
            <a:pPr marL="1371600" lvl="2" indent="-457200">
              <a:buFont typeface="Wingdings" panose="05000000000000000000" pitchFamily="2" charset="2"/>
              <a:buAutoNum type="arabicPeriod"/>
            </a:pPr>
            <a:r>
              <a:rPr lang="en-US" altLang="en-US" dirty="0" smtClean="0"/>
              <a:t>How important is the project?</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10</a:t>
            </a:fld>
            <a:endParaRPr lang="en-US" dirty="0"/>
          </a:p>
        </p:txBody>
      </p:sp>
    </p:spTree>
    <p:extLst>
      <p:ext uri="{BB962C8B-B14F-4D97-AF65-F5344CB8AC3E}">
        <p14:creationId xmlns:p14="http://schemas.microsoft.com/office/powerpoint/2010/main" val="53576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smtClean="0"/>
              <a:t>What should it include?</a:t>
            </a:r>
          </a:p>
          <a:p>
            <a:pPr lvl="1"/>
            <a:r>
              <a:rPr lang="en-US" altLang="en-US" dirty="0" smtClean="0"/>
              <a:t>How you will identify, quantify or qualify risk</a:t>
            </a:r>
          </a:p>
          <a:p>
            <a:pPr lvl="2"/>
            <a:r>
              <a:rPr lang="en-US" altLang="en-US" dirty="0" smtClean="0"/>
              <a:t>Methods and tools</a:t>
            </a:r>
          </a:p>
          <a:p>
            <a:pPr lvl="1"/>
            <a:r>
              <a:rPr lang="en-US" altLang="en-US" dirty="0" smtClean="0"/>
              <a:t>Budget…yes budget</a:t>
            </a:r>
          </a:p>
          <a:p>
            <a:pPr lvl="1"/>
            <a:r>
              <a:rPr lang="en-US" altLang="en-US" dirty="0" smtClean="0"/>
              <a:t>Who is doing what</a:t>
            </a:r>
          </a:p>
          <a:p>
            <a:pPr lvl="1"/>
            <a:r>
              <a:rPr lang="en-US" altLang="en-US" dirty="0" smtClean="0"/>
              <a:t>How often</a:t>
            </a:r>
          </a:p>
          <a:p>
            <a:pPr lvl="1"/>
            <a:r>
              <a:rPr lang="en-US" altLang="en-US" dirty="0" smtClean="0"/>
              <a:t>Risk categories, levels, and thresholds for action.</a:t>
            </a:r>
          </a:p>
          <a:p>
            <a:pPr lvl="1"/>
            <a:r>
              <a:rPr lang="en-US" altLang="en-US" dirty="0" smtClean="0"/>
              <a:t>Reporting requirements</a:t>
            </a:r>
          </a:p>
          <a:p>
            <a:pPr lvl="1"/>
            <a:r>
              <a:rPr lang="en-US" altLang="en-US" dirty="0" smtClean="0"/>
              <a:t>Monitoring, tracking and documenting strategies</a:t>
            </a:r>
          </a:p>
          <a:p>
            <a:pPr lvl="1"/>
            <a:endParaRPr lang="en-US" altLang="en-US" dirty="0" smtClean="0"/>
          </a:p>
          <a:p>
            <a:r>
              <a:rPr lang="en-US" altLang="en-US" dirty="0" smtClean="0"/>
              <a:t>Budget – should include contingency funding for unknown risks, also should include the cost of the process itself (people’s time and efforts to identify, monitor and control)</a:t>
            </a:r>
          </a:p>
          <a:p>
            <a:r>
              <a:rPr lang="en-US" altLang="en-US" dirty="0" smtClean="0"/>
              <a:t>WHO… - Every risk “above the line” should have a sponsor or watcher responsible for it.</a:t>
            </a:r>
          </a:p>
          <a:p>
            <a:r>
              <a:rPr lang="en-US" altLang="en-US" dirty="0" smtClean="0"/>
              <a:t>WHEN… - Establishes the risk tolerance threshold for the project</a:t>
            </a:r>
          </a:p>
          <a:p>
            <a:r>
              <a:rPr lang="en-US" altLang="en-US" dirty="0" smtClean="0"/>
              <a:t>Reports – Who, when, how often, what, etc.</a:t>
            </a:r>
          </a:p>
          <a:p>
            <a:r>
              <a:rPr lang="en-US" altLang="en-US" dirty="0" smtClean="0"/>
              <a:t>Monitoring… - Again…WHO, HOW, HOW OFTEN, etc.  It is iterative.  Also, record keeping is essential to assist in future projects</a:t>
            </a:r>
          </a:p>
          <a:p>
            <a:pPr lvl="1"/>
            <a:endParaRPr lang="en-US" altLang="en-US" dirty="0" smtClean="0"/>
          </a:p>
          <a:p>
            <a:endParaRPr lang="en-GB" b="1"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11</a:t>
            </a:fld>
            <a:endParaRPr lang="en-US" dirty="0"/>
          </a:p>
        </p:txBody>
      </p:sp>
    </p:spTree>
    <p:extLst>
      <p:ext uri="{BB962C8B-B14F-4D97-AF65-F5344CB8AC3E}">
        <p14:creationId xmlns:p14="http://schemas.microsoft.com/office/powerpoint/2010/main" val="3283307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13</a:t>
            </a:fld>
            <a:endParaRPr lang="en-US" dirty="0"/>
          </a:p>
        </p:txBody>
      </p:sp>
    </p:spTree>
    <p:extLst>
      <p:ext uri="{BB962C8B-B14F-4D97-AF65-F5344CB8AC3E}">
        <p14:creationId xmlns:p14="http://schemas.microsoft.com/office/powerpoint/2010/main" val="4166471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Risk type	Possible risks</a:t>
            </a:r>
          </a:p>
          <a:p>
            <a:r>
              <a:rPr lang="en-US" b="1" dirty="0" smtClean="0"/>
              <a:t>Technology</a:t>
            </a:r>
            <a:r>
              <a:rPr lang="en-US" dirty="0" smtClean="0"/>
              <a:t>	The database used in the system cannot process as many transactions per second as expected. Software components that should be reused contain defects that limit their functionality.</a:t>
            </a:r>
          </a:p>
          <a:p>
            <a:r>
              <a:rPr lang="en-US" b="1" dirty="0" smtClean="0"/>
              <a:t>People</a:t>
            </a:r>
            <a:r>
              <a:rPr lang="en-US" dirty="0" smtClean="0"/>
              <a:t>	It is impossible to recruit staff with the skills required. Key staff are ill and unavailable at critical times.</a:t>
            </a:r>
            <a:r>
              <a:rPr lang="en-US" baseline="0" dirty="0" smtClean="0"/>
              <a:t> </a:t>
            </a:r>
            <a:r>
              <a:rPr lang="en-US" dirty="0" smtClean="0"/>
              <a:t>Required training for staff is not available.</a:t>
            </a:r>
          </a:p>
          <a:p>
            <a:r>
              <a:rPr lang="en-US" b="1" dirty="0" smtClean="0"/>
              <a:t>Organizational	</a:t>
            </a:r>
            <a:r>
              <a:rPr lang="en-US" dirty="0" smtClean="0"/>
              <a:t>The organization is restructured so that different management are responsible for the project.</a:t>
            </a:r>
          </a:p>
          <a:p>
            <a:r>
              <a:rPr lang="en-US" dirty="0" smtClean="0"/>
              <a:t>Organizational financial problems force reductions in the project budget.</a:t>
            </a:r>
          </a:p>
          <a:p>
            <a:r>
              <a:rPr lang="en-US" dirty="0" smtClean="0"/>
              <a:t>Tools	The code generated by CASE tools is inefficient.</a:t>
            </a:r>
          </a:p>
          <a:p>
            <a:r>
              <a:rPr lang="en-US" dirty="0" smtClean="0"/>
              <a:t>CASE tools cannot be integrated.</a:t>
            </a:r>
          </a:p>
          <a:p>
            <a:r>
              <a:rPr lang="en-US" dirty="0" smtClean="0"/>
              <a:t>Requirements	Changes to requirements that require major design rework are proposed.</a:t>
            </a:r>
          </a:p>
          <a:p>
            <a:r>
              <a:rPr lang="en-US" dirty="0" smtClean="0"/>
              <a:t>Customers fail to understand the impact of requirements changes. </a:t>
            </a:r>
          </a:p>
          <a:p>
            <a:r>
              <a:rPr lang="en-US" dirty="0" smtClean="0"/>
              <a:t>Estimation	The time required to develop the software is underestimated.</a:t>
            </a:r>
          </a:p>
          <a:p>
            <a:r>
              <a:rPr lang="en-US" dirty="0" smtClean="0"/>
              <a:t>The rate of defect repair is underestimated.</a:t>
            </a:r>
          </a:p>
          <a:p>
            <a:r>
              <a:rPr lang="en-US" dirty="0" smtClean="0"/>
              <a:t>The size of the software is underestimated.</a:t>
            </a:r>
          </a:p>
          <a:p>
            <a:endParaRPr lang="en-US" dirty="0" smtClean="0"/>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15</a:t>
            </a:fld>
            <a:endParaRPr lang="en-US" dirty="0"/>
          </a:p>
        </p:txBody>
      </p:sp>
    </p:spTree>
    <p:extLst>
      <p:ext uri="{BB962C8B-B14F-4D97-AF65-F5344CB8AC3E}">
        <p14:creationId xmlns:p14="http://schemas.microsoft.com/office/powerpoint/2010/main" val="385813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Continuous, Iterative Process</a:t>
            </a:r>
          </a:p>
          <a:p>
            <a:r>
              <a:rPr lang="en-US" altLang="en-US" dirty="0" smtClean="0"/>
              <a:t>What – Can’t tell you…Different for each project and person consulted.  In the end it is a long list.</a:t>
            </a:r>
          </a:p>
          <a:p>
            <a:r>
              <a:rPr lang="en-US" altLang="en-US" dirty="0" smtClean="0"/>
              <a:t>Sooner – Needs to be done as soon as a project is identified, and in some cases before the project is even approved</a:t>
            </a:r>
          </a:p>
          <a:p>
            <a:r>
              <a:rPr lang="en-US" altLang="en-US" dirty="0" smtClean="0"/>
              <a:t>More – The more heads you involve (stakeholders) the better the process outcome will be</a:t>
            </a:r>
          </a:p>
          <a:p>
            <a:r>
              <a:rPr lang="en-US" altLang="en-US" dirty="0" smtClean="0"/>
              <a:t>Fact – That which is a known is by definition not an uncertainty.  If you know something is going to occur then you plan for it not the risk of it.</a:t>
            </a:r>
          </a:p>
          <a:p>
            <a:r>
              <a:rPr lang="en-US" altLang="en-US" dirty="0" smtClean="0"/>
              <a:t>Specific – You should be able to identify the risk and a trigger/cause of the risk.  Example: The hardware may arrive late (TRIGGER) causing a delay in the schedule (RISK).</a:t>
            </a:r>
          </a:p>
          <a:p>
            <a:r>
              <a:rPr lang="en-US" altLang="en-US" dirty="0" smtClean="0"/>
              <a:t>Should be able to answer – WHAT &amp; WHY</a:t>
            </a:r>
          </a:p>
          <a:p>
            <a:r>
              <a:rPr lang="en-US" altLang="en-US" dirty="0" smtClean="0"/>
              <a:t>Don’t… - Don’t try to qualify, quantify, or remedy at this point…that is coming.</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18</a:t>
            </a:fld>
            <a:endParaRPr lang="en-US" dirty="0"/>
          </a:p>
        </p:txBody>
      </p:sp>
    </p:spTree>
    <p:extLst>
      <p:ext uri="{BB962C8B-B14F-4D97-AF65-F5344CB8AC3E}">
        <p14:creationId xmlns:p14="http://schemas.microsoft.com/office/powerpoint/2010/main" val="1174624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GB" altLang="en-US" dirty="0" smtClean="0"/>
              <a:t>Assess probability, seriousness, and urgency of each risk.</a:t>
            </a:r>
          </a:p>
          <a:p>
            <a:pPr>
              <a:lnSpc>
                <a:spcPct val="90000"/>
              </a:lnSpc>
            </a:pPr>
            <a:r>
              <a:rPr lang="en-GB" altLang="en-US" dirty="0" smtClean="0"/>
              <a:t>Probability may be very low, low, moderate, high or very high.</a:t>
            </a:r>
          </a:p>
          <a:p>
            <a:pPr>
              <a:lnSpc>
                <a:spcPct val="90000"/>
              </a:lnSpc>
            </a:pPr>
            <a:r>
              <a:rPr lang="en-GB" altLang="en-US" dirty="0" smtClean="0"/>
              <a:t>Risk effects might be catastrophic, serious, tolerable or insignificant.</a:t>
            </a:r>
          </a:p>
          <a:p>
            <a:pPr>
              <a:lnSpc>
                <a:spcPct val="90000"/>
              </a:lnSpc>
            </a:pPr>
            <a:r>
              <a:rPr lang="en-GB" altLang="en-US" dirty="0" smtClean="0"/>
              <a:t>Urgency might be immediate, short term, or long term.</a:t>
            </a:r>
          </a:p>
          <a:p>
            <a:endParaRPr lang="en-US" dirty="0" smtClean="0"/>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24</a:t>
            </a:fld>
            <a:endParaRPr lang="en-US" dirty="0"/>
          </a:p>
        </p:txBody>
      </p:sp>
    </p:spTree>
    <p:extLst>
      <p:ext uri="{BB962C8B-B14F-4D97-AF65-F5344CB8AC3E}">
        <p14:creationId xmlns:p14="http://schemas.microsoft.com/office/powerpoint/2010/main" val="475092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E3C434-B91A-4156-8ADF-99C90D213C80}" type="slidenum">
              <a:rPr lang="en-US" altLang="en-US"/>
              <a:pPr/>
              <a:t>25</a:t>
            </a:fld>
            <a:endParaRPr lang="en-US" alt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05068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2000" dirty="0" smtClean="0"/>
              <a:t>“What are we going to do about it?”</a:t>
            </a:r>
          </a:p>
          <a:p>
            <a:r>
              <a:rPr lang="en-US" altLang="en-US" sz="2000" dirty="0" smtClean="0"/>
              <a:t>Techniques/Strategies:</a:t>
            </a:r>
          </a:p>
          <a:p>
            <a:pPr lvl="1"/>
            <a:r>
              <a:rPr lang="en-US" altLang="en-US" sz="2000" dirty="0" smtClean="0"/>
              <a:t>Avoidance – Eliminate it</a:t>
            </a:r>
          </a:p>
          <a:p>
            <a:pPr lvl="1"/>
            <a:r>
              <a:rPr lang="en-US" altLang="en-US" sz="2000" dirty="0" smtClean="0"/>
              <a:t>Transference – Pawn it off</a:t>
            </a:r>
          </a:p>
          <a:p>
            <a:pPr lvl="1"/>
            <a:r>
              <a:rPr lang="en-US" altLang="en-US" sz="2000" dirty="0" smtClean="0"/>
              <a:t>Mitigation – Reduce probability or impact of it</a:t>
            </a:r>
          </a:p>
          <a:p>
            <a:pPr lvl="1"/>
            <a:r>
              <a:rPr lang="en-US" altLang="en-US" sz="2000" dirty="0" smtClean="0"/>
              <a:t>Acceptance – Do nothing</a:t>
            </a:r>
          </a:p>
          <a:p>
            <a:r>
              <a:rPr lang="en-US" altLang="en-US" sz="2000" dirty="0" smtClean="0"/>
              <a:t>Strategy should be commensurate with risk</a:t>
            </a:r>
          </a:p>
          <a:p>
            <a:pPr lvl="1"/>
            <a:r>
              <a:rPr lang="en-US" altLang="en-US" sz="2000" dirty="0" smtClean="0"/>
              <a:t>Hint: Don’t spend more money preventing the risk than the impact of the risk would be if it occurs </a:t>
            </a:r>
            <a:r>
              <a:rPr lang="en-US" altLang="en-US" sz="2000" dirty="0" smtClean="0">
                <a:sym typeface="Wingdings" panose="05000000000000000000" pitchFamily="2" charset="2"/>
              </a:rPr>
              <a:t></a:t>
            </a:r>
          </a:p>
          <a:p>
            <a:r>
              <a:rPr lang="en-US" altLang="en-US" sz="2000" dirty="0" smtClean="0"/>
              <a:t>The Risk Response Plan/Risk Response Register</a:t>
            </a:r>
          </a:p>
          <a:p>
            <a:endParaRPr lang="en-ZA"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ZA" b="1" dirty="0" smtClean="0"/>
              <a:t>Risk </a:t>
            </a:r>
            <a:r>
              <a:rPr lang="en-ZA" b="1" dirty="0" smtClean="0"/>
              <a:t>avoidance</a:t>
            </a:r>
            <a:r>
              <a:rPr lang="en-ZA" dirty="0" smtClean="0"/>
              <a:t> is the elimination of hazards, activities and exposures that can negatively affect an organization's assets. Whereas </a:t>
            </a:r>
            <a:r>
              <a:rPr lang="en-ZA" b="1" dirty="0" smtClean="0"/>
              <a:t>risk</a:t>
            </a:r>
            <a:r>
              <a:rPr lang="en-ZA" dirty="0" smtClean="0"/>
              <a:t> management aims to control the damages and financial consequences of threatening events</a:t>
            </a:r>
            <a:r>
              <a:rPr lang="en-ZA" dirty="0" smtClean="0"/>
              <a:t>,.</a:t>
            </a:r>
            <a:r>
              <a:rPr lang="en-ZA" baseline="0" dirty="0" smtClean="0"/>
              <a:t> </a:t>
            </a:r>
            <a:r>
              <a:rPr lang="en-ZA" baseline="0" dirty="0" err="1" smtClean="0"/>
              <a:t>i.e</a:t>
            </a:r>
            <a:r>
              <a:rPr lang="en-ZA" baseline="0" dirty="0" smtClean="0"/>
              <a:t> </a:t>
            </a:r>
            <a:r>
              <a:rPr lang="en-US" altLang="en-US" dirty="0" smtClean="0"/>
              <a:t>–</a:t>
            </a:r>
            <a:r>
              <a:rPr lang="en-US" altLang="en-US" b="1" dirty="0" smtClean="0"/>
              <a:t> can we change the plan to avoid the risk.</a:t>
            </a:r>
          </a:p>
          <a:p>
            <a:endParaRPr lang="en-ZA" dirty="0" smtClean="0"/>
          </a:p>
          <a:p>
            <a:endParaRPr lang="en-ZA" dirty="0" smtClean="0"/>
          </a:p>
          <a:p>
            <a:r>
              <a:rPr lang="en-ZA" b="1" dirty="0" smtClean="0"/>
              <a:t>Accepting risk</a:t>
            </a:r>
            <a:r>
              <a:rPr lang="en-ZA" dirty="0" smtClean="0"/>
              <a:t> occurs when the cost of managing a certain type of </a:t>
            </a:r>
            <a:r>
              <a:rPr lang="en-ZA" b="1" dirty="0" smtClean="0"/>
              <a:t>risk</a:t>
            </a:r>
            <a:r>
              <a:rPr lang="en-ZA" dirty="0" smtClean="0"/>
              <a:t> is accepted, because the </a:t>
            </a:r>
            <a:r>
              <a:rPr lang="en-ZA" b="1" dirty="0" smtClean="0"/>
              <a:t>risk</a:t>
            </a:r>
            <a:r>
              <a:rPr lang="en-ZA" dirty="0" smtClean="0"/>
              <a:t> involved is not adequate enough to warrant the added cost it will take to avoid that </a:t>
            </a:r>
            <a:r>
              <a:rPr lang="en-ZA" b="1" dirty="0" smtClean="0"/>
              <a:t>risk</a:t>
            </a:r>
            <a:r>
              <a:rPr lang="en-ZA" dirty="0" smtClean="0"/>
              <a:t>.</a:t>
            </a:r>
          </a:p>
          <a:p>
            <a:endParaRPr lang="en-ZA" dirty="0" smtClean="0"/>
          </a:p>
          <a:p>
            <a:r>
              <a:rPr lang="en-ZA" b="1" dirty="0" smtClean="0"/>
              <a:t>risk avoidance</a:t>
            </a:r>
            <a:r>
              <a:rPr lang="en-ZA" dirty="0" smtClean="0"/>
              <a:t> seeks to avoid compromising events entirely. </a:t>
            </a:r>
          </a:p>
          <a:p>
            <a:r>
              <a:rPr lang="en-ZA" b="1" i="1" dirty="0" smtClean="0"/>
              <a:t>Risk Transference </a:t>
            </a:r>
            <a:r>
              <a:rPr lang="en-ZA" dirty="0" smtClean="0"/>
              <a:t>refers to the shifting of the burden of loss for a risk to another party through legislation, contract, insurance or other means</a:t>
            </a:r>
            <a:r>
              <a:rPr lang="en-ZA" dirty="0" smtClean="0"/>
              <a:t>. </a:t>
            </a:r>
            <a:r>
              <a:rPr lang="en-US" altLang="en-US" dirty="0" smtClean="0"/>
              <a:t>Transfer the risk or responsibility of the risk to a third party.  Insurance, performance bonds, warranties, guarantees.</a:t>
            </a:r>
            <a:endParaRPr lang="en-ZA" dirty="0" smtClean="0"/>
          </a:p>
          <a:p>
            <a:endParaRPr lang="en-ZA" dirty="0" smtClean="0"/>
          </a:p>
          <a:p>
            <a:r>
              <a:rPr lang="en-ZA" b="1" dirty="0" smtClean="0"/>
              <a:t>Risk mitigation</a:t>
            </a:r>
            <a:r>
              <a:rPr lang="en-ZA" dirty="0" smtClean="0"/>
              <a:t> is defined as taking steps to reduce adverse effects. There are four types of </a:t>
            </a:r>
            <a:r>
              <a:rPr lang="en-ZA" b="1" dirty="0" smtClean="0"/>
              <a:t>risk mitigation</a:t>
            </a:r>
            <a:r>
              <a:rPr lang="en-ZA" dirty="0" smtClean="0"/>
              <a:t> strategies that hold unique to Business Continuity and Disaster Recovery. It's important to develop a strategy that closely relates to and matches your company's profile</a:t>
            </a:r>
            <a:r>
              <a:rPr lang="en-ZA" dirty="0" smtClean="0"/>
              <a:t>. </a:t>
            </a:r>
            <a:r>
              <a:rPr lang="en-US" altLang="en-US" dirty="0" smtClean="0"/>
              <a:t>Usually involves increased costs/budget, but overall the goal is to try and lessen the risk to an acceptable level.</a:t>
            </a:r>
          </a:p>
          <a:p>
            <a:r>
              <a:rPr lang="en-US" altLang="en-US" dirty="0" smtClean="0"/>
              <a:t>Examples:</a:t>
            </a:r>
          </a:p>
          <a:p>
            <a:pPr>
              <a:buFontTx/>
              <a:buChar char="•"/>
            </a:pPr>
            <a:r>
              <a:rPr lang="en-US" altLang="en-US" dirty="0" smtClean="0"/>
              <a:t>Conducting more tests	(reduces the problem)</a:t>
            </a:r>
          </a:p>
          <a:p>
            <a:pPr>
              <a:buFontTx/>
              <a:buChar char="•"/>
            </a:pPr>
            <a:r>
              <a:rPr lang="en-US" altLang="en-US" dirty="0" smtClean="0"/>
              <a:t>Choosing a more established vendor (reduces the problem)</a:t>
            </a:r>
          </a:p>
          <a:p>
            <a:pPr>
              <a:buFontTx/>
              <a:buChar char="•"/>
            </a:pPr>
            <a:r>
              <a:rPr lang="en-US" altLang="en-US" dirty="0" smtClean="0"/>
              <a:t>Adding resources or time to project (reduces impact)</a:t>
            </a:r>
          </a:p>
          <a:p>
            <a:pPr>
              <a:buFontTx/>
              <a:buChar char="•"/>
            </a:pPr>
            <a:r>
              <a:rPr lang="en-US" altLang="en-US" dirty="0" smtClean="0"/>
              <a:t>Designing redundancy into a system (reduces impact)</a:t>
            </a:r>
          </a:p>
          <a:p>
            <a:endParaRPr lang="en-ZA"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26</a:t>
            </a:fld>
            <a:endParaRPr lang="en-US" dirty="0"/>
          </a:p>
        </p:txBody>
      </p:sp>
    </p:spTree>
    <p:extLst>
      <p:ext uri="{BB962C8B-B14F-4D97-AF65-F5344CB8AC3E}">
        <p14:creationId xmlns:p14="http://schemas.microsoft.com/office/powerpoint/2010/main" val="689319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t>Assess each identified risk regularly to decide whether or not it is becoming less or more probable.</a:t>
            </a:r>
          </a:p>
          <a:p>
            <a:r>
              <a:rPr lang="en-GB" altLang="en-US" dirty="0" smtClean="0"/>
              <a:t>Also assess whether the effects of the risk have changed.</a:t>
            </a:r>
          </a:p>
          <a:p>
            <a:r>
              <a:rPr lang="en-GB" altLang="en-US" dirty="0" smtClean="0"/>
              <a:t>Each key risk should be discussed at management progress meetings.</a:t>
            </a:r>
          </a:p>
          <a:p>
            <a:endParaRPr lang="en-US" dirty="0" smtClean="0"/>
          </a:p>
          <a:p>
            <a:pPr>
              <a:lnSpc>
                <a:spcPct val="90000"/>
              </a:lnSpc>
            </a:pPr>
            <a:r>
              <a:rPr lang="en-US" altLang="en-US" dirty="0" smtClean="0"/>
              <a:t>Continuous, Iterative Process</a:t>
            </a:r>
          </a:p>
          <a:p>
            <a:pPr>
              <a:lnSpc>
                <a:spcPct val="90000"/>
              </a:lnSpc>
            </a:pPr>
            <a:r>
              <a:rPr lang="en-US" altLang="en-US" dirty="0" smtClean="0"/>
              <a:t>Done right the risk impact will be minimized:</a:t>
            </a:r>
          </a:p>
          <a:p>
            <a:pPr lvl="1">
              <a:lnSpc>
                <a:spcPct val="90000"/>
              </a:lnSpc>
            </a:pPr>
            <a:r>
              <a:rPr lang="en-US" altLang="en-US" dirty="0" smtClean="0"/>
              <a:t>Someone IS responsible</a:t>
            </a:r>
          </a:p>
          <a:p>
            <a:pPr lvl="1">
              <a:lnSpc>
                <a:spcPct val="90000"/>
              </a:lnSpc>
            </a:pPr>
            <a:r>
              <a:rPr lang="en-US" altLang="en-US" dirty="0" smtClean="0"/>
              <a:t>Watch for risk triggers</a:t>
            </a:r>
          </a:p>
          <a:p>
            <a:pPr lvl="1">
              <a:lnSpc>
                <a:spcPct val="90000"/>
              </a:lnSpc>
            </a:pPr>
            <a:r>
              <a:rPr lang="en-US" altLang="en-US" dirty="0" smtClean="0"/>
              <a:t>Communicate…Communicate…Communicate</a:t>
            </a:r>
          </a:p>
          <a:p>
            <a:pPr lvl="1">
              <a:lnSpc>
                <a:spcPct val="90000"/>
              </a:lnSpc>
            </a:pPr>
            <a:r>
              <a:rPr lang="en-US" altLang="en-US" dirty="0" smtClean="0"/>
              <a:t>Take corrective action - Execute</a:t>
            </a:r>
          </a:p>
          <a:p>
            <a:pPr lvl="1">
              <a:lnSpc>
                <a:spcPct val="90000"/>
              </a:lnSpc>
            </a:pPr>
            <a:r>
              <a:rPr lang="en-US" altLang="en-US" dirty="0" smtClean="0"/>
              <a:t>Re-evaluate and look for new risk constantly</a:t>
            </a:r>
          </a:p>
          <a:p>
            <a:pPr>
              <a:lnSpc>
                <a:spcPct val="90000"/>
              </a:lnSpc>
            </a:pPr>
            <a:r>
              <a:rPr lang="en-US" altLang="en-US" dirty="0" smtClean="0"/>
              <a:t>Tools:</a:t>
            </a:r>
          </a:p>
          <a:p>
            <a:pPr lvl="1">
              <a:lnSpc>
                <a:spcPct val="90000"/>
              </a:lnSpc>
            </a:pPr>
            <a:r>
              <a:rPr lang="en-US" altLang="en-US" dirty="0" smtClean="0"/>
              <a:t>Risk Reviews</a:t>
            </a:r>
          </a:p>
          <a:p>
            <a:pPr lvl="1">
              <a:lnSpc>
                <a:spcPct val="90000"/>
              </a:lnSpc>
            </a:pPr>
            <a:r>
              <a:rPr lang="en-US" altLang="en-US" dirty="0" smtClean="0"/>
              <a:t>Risk Audits</a:t>
            </a:r>
          </a:p>
          <a:p>
            <a:endParaRPr lang="en-GB"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29</a:t>
            </a:fld>
            <a:endParaRPr lang="en-US" dirty="0"/>
          </a:p>
        </p:txBody>
      </p:sp>
    </p:spTree>
    <p:extLst>
      <p:ext uri="{BB962C8B-B14F-4D97-AF65-F5344CB8AC3E}">
        <p14:creationId xmlns:p14="http://schemas.microsoft.com/office/powerpoint/2010/main" val="742925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31</a:t>
            </a:fld>
            <a:endParaRPr lang="en-US" dirty="0"/>
          </a:p>
        </p:txBody>
      </p:sp>
    </p:spTree>
    <p:extLst>
      <p:ext uri="{BB962C8B-B14F-4D97-AF65-F5344CB8AC3E}">
        <p14:creationId xmlns:p14="http://schemas.microsoft.com/office/powerpoint/2010/main" val="3682774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1417D67-679A-4B7F-A0C4-D902A8B1132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215A4AE-A8C7-49BB-BF58-DAE72774D4D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5411E35-7199-481F-8182-C68E9858593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E19E86B-86AD-4BA0-980C-FFB20E562E8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3EBE388-700A-45D2-8947-598D94FF97F2}"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896B6BDA-43EE-4C8F-B5AC-7FD800A0B8B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A15FE25-6F37-4238-83DA-738D335F0AF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3905405-BF70-43D6-ACC7-45DF4F7F6C3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D4C0B0C-B2CD-4453-B23B-D9DDFFD2D04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4FEA8A7-A2CD-43B2-8FD7-F7A39D4C0568}"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286A31B-FA9F-46CE-A021-98CB08B0CF7D}"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Rectangle 3"/>
          <p:cNvSpPr/>
          <p:nvPr/>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015922" y="6456817"/>
            <a:ext cx="6399830" cy="366183"/>
          </a:xfrm>
        </p:spPr>
        <p:txBody>
          <a:bodyPr/>
          <a:lstStyle>
            <a:lvl1pPr>
              <a:defRPr sz="600"/>
            </a:lvl1pPr>
          </a:lstStyle>
          <a:p>
            <a:pPr>
              <a:defRPr/>
            </a:pPr>
            <a:r>
              <a:rPr lang="en-US" smtClean="0"/>
              <a:t>Information Technology Project Management, Seventh Edition</a:t>
            </a:r>
            <a:endParaRPr lang="en-US" dirty="0"/>
          </a:p>
        </p:txBody>
      </p:sp>
      <p:pic>
        <p:nvPicPr>
          <p:cNvPr id="9" name="Picture 8"/>
          <p:cNvPicPr>
            <a:picLocks noChangeAspect="1"/>
          </p:cNvPicPr>
          <p:nvPr/>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986874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pic>
        <p:nvPicPr>
          <p:cNvPr id="6" name="Picture 5" descr="Rules_Single_A.png"/>
          <p:cNvPicPr>
            <a:picLocks noChangeAspect="1"/>
          </p:cNvPicPr>
          <p:nvPr/>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pPr>
              <a:defRPr/>
            </a:pPr>
            <a:r>
              <a:rPr lang="en-US" smtClean="0"/>
              <a:t>Information Technology Project Management, Seventh Edition</a:t>
            </a:r>
            <a:endParaRPr lang="en-US" dirty="0"/>
          </a:p>
        </p:txBody>
      </p:sp>
      <p:pic>
        <p:nvPicPr>
          <p:cNvPr id="17" name="Picture 16"/>
          <p:cNvPicPr>
            <a:picLocks noChangeAspect="1"/>
          </p:cNvPicPr>
          <p:nvPr/>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3945704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smtClean="0"/>
              <a:t>Information Technology Project Management, Seventh Edition</a:t>
            </a:r>
            <a:endParaRPr lang="en-US" dirty="0"/>
          </a:p>
        </p:txBody>
      </p:sp>
      <p:pic>
        <p:nvPicPr>
          <p:cNvPr id="5" name="Picture 4"/>
          <p:cNvPicPr>
            <a:picLocks noChangeAspect="1"/>
          </p:cNvPicPr>
          <p:nvPr/>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32462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smtClean="0"/>
              <a:t>Information Technology Project Management, Seventh Edition</a:t>
            </a:r>
            <a:endParaRPr lang="en-US" dirty="0"/>
          </a:p>
        </p:txBody>
      </p:sp>
      <p:pic>
        <p:nvPicPr>
          <p:cNvPr id="9" name="Picture 8"/>
          <p:cNvPicPr>
            <a:picLocks noChangeAspect="1"/>
          </p:cNvPicPr>
          <p:nvPr/>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3855696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smtClean="0"/>
              <a:t>Information Technology Project Management, Seventh Edition</a:t>
            </a:r>
            <a:endParaRPr lang="en-US" dirty="0"/>
          </a:p>
        </p:txBody>
      </p:sp>
    </p:spTree>
    <p:extLst>
      <p:ext uri="{BB962C8B-B14F-4D97-AF65-F5344CB8AC3E}">
        <p14:creationId xmlns:p14="http://schemas.microsoft.com/office/powerpoint/2010/main" val="2947918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smtClean="0"/>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84F16418-8E52-47D1-8005-6165535EBAD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5"/>
          <p:cNvSpPr txBox="1">
            <a:spLocks/>
          </p:cNvSpPr>
          <p:nvPr/>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smtClean="0"/>
              <a:t>Click to edit Master title style</a:t>
            </a:r>
            <a:endParaRPr lang="en-US" dirty="0"/>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pPr>
              <a:defRPr/>
            </a:pPr>
            <a:r>
              <a:rPr lang="en-US" smtClean="0"/>
              <a:t>Information Technology Project Management, Seventh Edition</a:t>
            </a:r>
            <a:endParaRPr lang="en-US" dirty="0"/>
          </a:p>
        </p:txBody>
      </p:sp>
    </p:spTree>
    <p:extLst>
      <p:ext uri="{BB962C8B-B14F-4D97-AF65-F5344CB8AC3E}">
        <p14:creationId xmlns:p14="http://schemas.microsoft.com/office/powerpoint/2010/main" val="3093211432"/>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hyperlink" Target="http://www.darwinawards.com/stupid/stupid1997-11.html"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hyperlink" Target="http://www.darwinawards.com/misc/index.zeebarf.html" TargetMode="External"/><Relationship Id="rId4" Type="http://schemas.openxmlformats.org/officeDocument/2006/relationships/image" Target="../media/image1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sz="4000" dirty="0">
                <a:effectLst>
                  <a:outerShdw blurRad="38100" dist="38100" dir="2700000" algn="tl">
                    <a:srgbClr val="FFFFFF"/>
                  </a:outerShdw>
                </a:effectLst>
                <a:latin typeface="Arial Rounded MT Bold" pitchFamily="34" charset="0"/>
              </a:rPr>
              <a:t>Chapter </a:t>
            </a:r>
            <a:r>
              <a:rPr sz="4000" dirty="0" smtClean="0">
                <a:effectLst>
                  <a:outerShdw blurRad="38100" dist="38100" dir="2700000" algn="tl">
                    <a:srgbClr val="FFFFFF"/>
                  </a:outerShdw>
                </a:effectLst>
                <a:latin typeface="Arial Rounded MT Bold" pitchFamily="34" charset="0"/>
              </a:rPr>
              <a:t>11:</a:t>
            </a:r>
            <a:r>
              <a:rPr sz="4000" dirty="0">
                <a:effectLst>
                  <a:outerShdw blurRad="38100" dist="38100" dir="2700000" algn="tl">
                    <a:srgbClr val="FFFFFF"/>
                  </a:outerShdw>
                </a:effectLst>
                <a:latin typeface="Arial Rounded MT Bold" pitchFamily="34" charset="0"/>
              </a:rPr>
              <a:t/>
            </a:r>
            <a:br>
              <a:rPr sz="4000" dirty="0">
                <a:effectLst>
                  <a:outerShdw blurRad="38100" dist="38100" dir="2700000" algn="tl">
                    <a:srgbClr val="FFFFFF"/>
                  </a:outerShdw>
                </a:effectLst>
                <a:latin typeface="Arial Rounded MT Bold" pitchFamily="34" charset="0"/>
              </a:rPr>
            </a:br>
            <a:r>
              <a:rPr sz="4000" dirty="0" smtClean="0">
                <a:effectLst>
                  <a:outerShdw blurRad="38100" dist="38100" dir="2700000" algn="tl">
                    <a:srgbClr val="FFFFFF"/>
                  </a:outerShdw>
                </a:effectLst>
                <a:latin typeface="Arial Rounded MT Bold" pitchFamily="34" charset="0"/>
              </a:rPr>
              <a:t>Project Risk Management</a:t>
            </a:r>
            <a:endParaRPr sz="4000" dirty="0">
              <a:effectLst>
                <a:outerShdw blurRad="38100" dist="38100" dir="2700000" algn="tl">
                  <a:srgbClr val="FFFFFF"/>
                </a:outerShdw>
              </a:effectLst>
              <a:latin typeface="Arial Rounded MT Bold" pitchFamily="34" charset="0"/>
            </a:endParaRPr>
          </a:p>
        </p:txBody>
      </p:sp>
      <p:sp>
        <p:nvSpPr>
          <p:cNvPr id="7" name="Rectangle 3"/>
          <p:cNvSpPr>
            <a:spLocks noChangeArrowheads="1"/>
          </p:cNvSpPr>
          <p:nvPr/>
        </p:nvSpPr>
        <p:spPr bwMode="auto">
          <a:xfrm>
            <a:off x="1524000" y="3429000"/>
            <a:ext cx="5791200" cy="1349375"/>
          </a:xfrm>
          <a:prstGeom prst="rect">
            <a:avLst/>
          </a:prstGeom>
          <a:noFill/>
          <a:ln w="9525">
            <a:noFill/>
            <a:miter lim="800000"/>
            <a:headEnd/>
            <a:tailEnd/>
          </a:ln>
          <a:effectLst/>
        </p:spPr>
        <p:txBody>
          <a:bodyPr/>
          <a:lstStyle/>
          <a:p>
            <a:pPr>
              <a:defRPr/>
            </a:pPr>
            <a:r>
              <a:rPr lang="en-US" sz="20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a:t>
            </a:r>
            <a:r>
              <a:rPr lang="en-US" sz="2000" b="1" dirty="0" smtClean="0">
                <a:solidFill>
                  <a:schemeClr val="tx2"/>
                </a:solidFill>
                <a:effectLst>
                  <a:outerShdw blurRad="38100" dist="38100" dir="2700000" algn="tl">
                    <a:srgbClr val="FFFFFF"/>
                  </a:outerShdw>
                </a:effectLst>
                <a:latin typeface="Arial Rounded MT Bold" pitchFamily="34" charset="0"/>
                <a:ea typeface="+mj-ea"/>
                <a:cs typeface="+mj-cs"/>
              </a:rPr>
              <a:t>Management</a:t>
            </a:r>
            <a:r>
              <a:rPr lang="en-US" sz="2000" b="1" dirty="0" smtClean="0">
                <a:solidFill>
                  <a:schemeClr val="tx2"/>
                </a:solidFill>
                <a:effectLst>
                  <a:outerShdw blurRad="38100" dist="38100" dir="2700000" algn="tl">
                    <a:srgbClr val="FFFFFF"/>
                  </a:outerShdw>
                </a:effectLst>
                <a:latin typeface="Arial Rounded MT Bold" pitchFamily="34" charset="0"/>
                <a:ea typeface="+mj-ea"/>
                <a:cs typeface="+mj-cs"/>
              </a:rPr>
              <a:t>, 8</a:t>
            </a:r>
            <a:r>
              <a:rPr lang="en-US" sz="2000" b="1" baseline="30000" dirty="0" smtClean="0">
                <a:solidFill>
                  <a:schemeClr val="tx2"/>
                </a:solidFill>
                <a:effectLst>
                  <a:outerShdw blurRad="38100" dist="38100" dir="2700000" algn="tl">
                    <a:srgbClr val="FFFFFF"/>
                  </a:outerShdw>
                </a:effectLst>
                <a:latin typeface="Arial Rounded MT Bold" pitchFamily="34" charset="0"/>
                <a:ea typeface="+mj-ea"/>
                <a:cs typeface="+mj-cs"/>
              </a:rPr>
              <a:t>th</a:t>
            </a:r>
            <a:r>
              <a:rPr lang="en-US" sz="2000" b="1" dirty="0" smtClean="0">
                <a:solidFill>
                  <a:schemeClr val="tx2"/>
                </a:solidFill>
                <a:effectLst>
                  <a:outerShdw blurRad="38100" dist="38100" dir="2700000" algn="tl">
                    <a:srgbClr val="FFFFFF"/>
                  </a:outerShdw>
                </a:effectLst>
                <a:latin typeface="Arial Rounded MT Bold" pitchFamily="34" charset="0"/>
                <a:ea typeface="+mj-ea"/>
                <a:cs typeface="+mj-cs"/>
              </a:rPr>
              <a:t> Edition</a:t>
            </a:r>
            <a:endParaRPr lang="en-US" sz="2000" b="1" dirty="0">
              <a:solidFill>
                <a:schemeClr val="tx2"/>
              </a:solidFill>
              <a:effectLst>
                <a:outerShdw blurRad="38100" dist="38100" dir="2700000" algn="tl">
                  <a:srgbClr val="FFFFFF"/>
                </a:outerShdw>
              </a:effectLst>
              <a:latin typeface="Arial Rounded MT Bold" pitchFamily="34" charset="0"/>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381000" y="1371600"/>
            <a:ext cx="8229600" cy="5302990"/>
          </a:xfrm>
        </p:spPr>
        <p:txBody>
          <a:bodyPr/>
          <a:lstStyle/>
          <a:p>
            <a:r>
              <a:rPr lang="en-US" sz="2200" dirty="0"/>
              <a:t>Understand risk and the importance of good project risk </a:t>
            </a:r>
            <a:r>
              <a:rPr lang="en-US" sz="2200" dirty="0" smtClean="0"/>
              <a:t>management</a:t>
            </a:r>
          </a:p>
          <a:p>
            <a:r>
              <a:rPr lang="en-US" sz="2200" dirty="0" smtClean="0"/>
              <a:t>Discuss </a:t>
            </a:r>
            <a:r>
              <a:rPr lang="en-US" sz="2200" dirty="0"/>
              <a:t>the elements of planning risk management and the contents of </a:t>
            </a:r>
            <a:r>
              <a:rPr lang="en-US" sz="2200" dirty="0" smtClean="0"/>
              <a:t>a risk </a:t>
            </a:r>
            <a:r>
              <a:rPr lang="en-US" sz="2200" dirty="0"/>
              <a:t>management plan</a:t>
            </a:r>
          </a:p>
          <a:p>
            <a:r>
              <a:rPr lang="en-US" sz="2200" dirty="0" smtClean="0"/>
              <a:t>List </a:t>
            </a:r>
            <a:r>
              <a:rPr lang="en-US" sz="2200" dirty="0"/>
              <a:t>common sources of risks on information technology (IT) projects</a:t>
            </a:r>
          </a:p>
          <a:p>
            <a:r>
              <a:rPr lang="en-US" sz="2200" dirty="0" smtClean="0"/>
              <a:t>Describe </a:t>
            </a:r>
            <a:r>
              <a:rPr lang="en-US" sz="2200" dirty="0"/>
              <a:t>the process of identifying risks and create a risk register</a:t>
            </a:r>
          </a:p>
          <a:p>
            <a:r>
              <a:rPr lang="en-US" sz="2200" dirty="0" smtClean="0">
                <a:solidFill>
                  <a:schemeClr val="tx1"/>
                </a:solidFill>
              </a:rPr>
              <a:t>Discuss </a:t>
            </a:r>
            <a:r>
              <a:rPr lang="en-US" sz="2200" dirty="0">
                <a:solidFill>
                  <a:schemeClr val="tx1"/>
                </a:solidFill>
              </a:rPr>
              <a:t>qualitative risk </a:t>
            </a:r>
            <a:r>
              <a:rPr lang="en-US" sz="2200" dirty="0" smtClean="0">
                <a:solidFill>
                  <a:schemeClr val="tx1"/>
                </a:solidFill>
              </a:rPr>
              <a:t>analysis</a:t>
            </a:r>
          </a:p>
          <a:p>
            <a:r>
              <a:rPr lang="en-US" sz="2200" dirty="0"/>
              <a:t>Explain quantitative risk analysis </a:t>
            </a:r>
            <a:endParaRPr lang="en-US" sz="2200" dirty="0" smtClean="0"/>
          </a:p>
          <a:p>
            <a:r>
              <a:rPr lang="en-US" sz="2200" dirty="0"/>
              <a:t>Provide examples of using different risk response planning strategies to address both negative and positive risks</a:t>
            </a:r>
          </a:p>
          <a:p>
            <a:r>
              <a:rPr lang="en-US" sz="2200" dirty="0"/>
              <a:t>Discuss how to control risks</a:t>
            </a:r>
          </a:p>
          <a:p>
            <a:endParaRPr lang="en-US" sz="2400" dirty="0"/>
          </a:p>
          <a:p>
            <a:endParaRPr lang="en-US" sz="2400" dirty="0" smtClean="0">
              <a:solidFill>
                <a:srgbClr val="00B0F0"/>
              </a:solidFill>
            </a:endParaRPr>
          </a:p>
        </p:txBody>
      </p:sp>
      <p:sp>
        <p:nvSpPr>
          <p:cNvPr id="12290" name="Rectangle 2"/>
          <p:cNvSpPr>
            <a:spLocks noGrp="1" noChangeArrowheads="1"/>
          </p:cNvSpPr>
          <p:nvPr>
            <p:ph type="title"/>
          </p:nvPr>
        </p:nvSpPr>
        <p:spPr>
          <a:xfrm>
            <a:off x="762000" y="343228"/>
            <a:ext cx="8026400" cy="422295"/>
          </a:xfrm>
        </p:spPr>
        <p:txBody>
          <a:bodyPr/>
          <a:lstStyle/>
          <a:p>
            <a:r>
              <a:rPr lang="en-US" sz="3200" dirty="0" smtClean="0"/>
              <a:t>Learning Objectives</a:t>
            </a:r>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8068E7E8-4FE3-4027-9557-A3A89E9881B6}"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6873875" cy="6372044"/>
          </a:xfrm>
        </p:spPr>
        <p:txBody>
          <a:bodyPr/>
          <a:lstStyle/>
          <a:p>
            <a:pPr>
              <a:lnSpc>
                <a:spcPct val="90000"/>
              </a:lnSpc>
            </a:pPr>
            <a:r>
              <a:rPr lang="en-US" altLang="en-US" sz="2400" dirty="0"/>
              <a:t>It is a fact of life that chance events will occur and affect the outcome of your project</a:t>
            </a:r>
          </a:p>
          <a:p>
            <a:pPr>
              <a:lnSpc>
                <a:spcPct val="90000"/>
              </a:lnSpc>
            </a:pPr>
            <a:r>
              <a:rPr lang="en-US" altLang="en-US" sz="2400" dirty="0"/>
              <a:t> </a:t>
            </a:r>
            <a:r>
              <a:rPr lang="en-US" altLang="en-US" sz="2400" i="1" dirty="0"/>
              <a:t>Murphy’s Laws</a:t>
            </a:r>
            <a:r>
              <a:rPr lang="en-US" altLang="en-US" sz="2400" dirty="0"/>
              <a:t> codify this “knowledge”</a:t>
            </a:r>
          </a:p>
          <a:p>
            <a:pPr lvl="1">
              <a:lnSpc>
                <a:spcPct val="90000"/>
              </a:lnSpc>
            </a:pPr>
            <a:r>
              <a:rPr lang="en-US" altLang="en-US" sz="2000" dirty="0"/>
              <a:t>If anything can go wrong, it will! </a:t>
            </a:r>
          </a:p>
          <a:p>
            <a:pPr lvl="1">
              <a:lnSpc>
                <a:spcPct val="90000"/>
              </a:lnSpc>
            </a:pPr>
            <a:r>
              <a:rPr lang="en-US" altLang="en-US" sz="2000" dirty="0"/>
              <a:t>Of things that could go wrong, the one that causes the most damage will occur!</a:t>
            </a:r>
          </a:p>
          <a:p>
            <a:r>
              <a:rPr lang="en-US" altLang="en-US" sz="2400" dirty="0" smtClean="0"/>
              <a:t>Project </a:t>
            </a:r>
            <a:r>
              <a:rPr lang="en-US" altLang="en-US" sz="2400" dirty="0"/>
              <a:t>risks are defined as the undesirable event, the chance this event might occur and the consequences of all possible </a:t>
            </a:r>
            <a:r>
              <a:rPr lang="en-US" altLang="en-US" sz="2400" dirty="0" smtClean="0"/>
              <a:t>outcomes</a:t>
            </a:r>
          </a:p>
          <a:p>
            <a:pPr lvl="1"/>
            <a:r>
              <a:rPr lang="en-US" sz="2000" dirty="0" smtClean="0"/>
              <a:t>Simply put “An </a:t>
            </a:r>
            <a:r>
              <a:rPr lang="en-US" sz="2000" dirty="0"/>
              <a:t>event that, if it occurs, causes either a positive or negative impact on a </a:t>
            </a:r>
            <a:r>
              <a:rPr lang="en-US" sz="2000" dirty="0" smtClean="0"/>
              <a:t>project”</a:t>
            </a:r>
          </a:p>
          <a:p>
            <a:r>
              <a:rPr lang="en-US" altLang="en-US" sz="2400" dirty="0"/>
              <a:t>Keys attributes of Risk</a:t>
            </a:r>
          </a:p>
          <a:p>
            <a:pPr lvl="1"/>
            <a:r>
              <a:rPr lang="en-US" altLang="en-US" sz="2000" dirty="0"/>
              <a:t>Uncertainty</a:t>
            </a:r>
          </a:p>
          <a:p>
            <a:pPr lvl="1"/>
            <a:r>
              <a:rPr lang="en-US" altLang="en-US" sz="2000" dirty="0"/>
              <a:t>Positive and Negative</a:t>
            </a:r>
          </a:p>
          <a:p>
            <a:pPr lvl="1"/>
            <a:r>
              <a:rPr lang="en-US" altLang="en-US" sz="2000" dirty="0"/>
              <a:t>Cause and Consequence</a:t>
            </a:r>
          </a:p>
          <a:p>
            <a:pPr lvl="1"/>
            <a:endParaRPr lang="en-US" dirty="0" smtClean="0"/>
          </a:p>
          <a:p>
            <a:endParaRPr lang="en-GB" dirty="0"/>
          </a:p>
        </p:txBody>
      </p:sp>
      <p:sp>
        <p:nvSpPr>
          <p:cNvPr id="3" name="Title 2"/>
          <p:cNvSpPr>
            <a:spLocks noGrp="1"/>
          </p:cNvSpPr>
          <p:nvPr>
            <p:ph type="title"/>
          </p:nvPr>
        </p:nvSpPr>
        <p:spPr>
          <a:xfrm>
            <a:off x="764949" y="317970"/>
            <a:ext cx="8026400" cy="422295"/>
          </a:xfrm>
        </p:spPr>
        <p:txBody>
          <a:bodyPr/>
          <a:lstStyle/>
          <a:p>
            <a:r>
              <a:rPr lang="en-GB" sz="3200" dirty="0"/>
              <a:t>What is Project Risk?</a:t>
            </a:r>
          </a:p>
        </p:txBody>
      </p:sp>
      <p:pic>
        <p:nvPicPr>
          <p:cNvPr id="5" name="Picture 5" descr="D:\LaACES\Student Ballooning Course\Project Management\Lesson 7\Images\larry.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152400"/>
            <a:ext cx="2209800" cy="18161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6"/>
          <p:cNvSpPr txBox="1">
            <a:spLocks noChangeArrowheads="1"/>
          </p:cNvSpPr>
          <p:nvPr/>
        </p:nvSpPr>
        <p:spPr bwMode="auto">
          <a:xfrm>
            <a:off x="6934200" y="1965325"/>
            <a:ext cx="22676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1000" dirty="0"/>
              <a:t>1982 Darwin Award Honorable Mention given to “Lawn Chair” Larry Walters. </a:t>
            </a:r>
            <a:r>
              <a:rPr lang="en-US" altLang="en-US" sz="1000" dirty="0">
                <a:hlinkClick r:id="rId5"/>
              </a:rPr>
              <a:t>Cartoon by Jay </a:t>
            </a:r>
            <a:r>
              <a:rPr lang="en-US" altLang="en-US" sz="1000" dirty="0" err="1">
                <a:hlinkClick r:id="rId5"/>
              </a:rPr>
              <a:t>Ziebarth</a:t>
            </a:r>
            <a:r>
              <a:rPr lang="en-US" altLang="en-US" sz="1000" dirty="0">
                <a:hlinkClick r:id="rId5"/>
              </a:rPr>
              <a:t>, 2002</a:t>
            </a:r>
            <a:endParaRPr lang="en-US" altLang="en-US" sz="1000" dirty="0"/>
          </a:p>
        </p:txBody>
      </p:sp>
    </p:spTree>
    <p:extLst>
      <p:ext uri="{BB962C8B-B14F-4D97-AF65-F5344CB8AC3E}">
        <p14:creationId xmlns:p14="http://schemas.microsoft.com/office/powerpoint/2010/main" val="372873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381000"/>
            <a:ext cx="6324600" cy="533400"/>
          </a:xfrm>
        </p:spPr>
        <p:txBody>
          <a:bodyPr>
            <a:normAutofit/>
          </a:bodyPr>
          <a:lstStyle/>
          <a:p>
            <a:r>
              <a:rPr lang="en-US" altLang="en-US" sz="3600" dirty="0"/>
              <a:t>Why manage risks?</a:t>
            </a:r>
          </a:p>
        </p:txBody>
      </p:sp>
      <p:sp>
        <p:nvSpPr>
          <p:cNvPr id="8" name="Footer Placeholder 7"/>
          <p:cNvSpPr>
            <a:spLocks noGrp="1"/>
          </p:cNvSpPr>
          <p:nvPr>
            <p:ph type="ftr" sz="quarter" idx="10"/>
          </p:nvPr>
        </p:nvSpPr>
        <p:spPr/>
        <p:txBody>
          <a:bodyPr/>
          <a:lstStyle/>
          <a:p>
            <a:r>
              <a:rPr lang="en-US" altLang="en-US" dirty="0"/>
              <a:t>Risk Management</a:t>
            </a:r>
          </a:p>
        </p:txBody>
      </p:sp>
      <p:sp>
        <p:nvSpPr>
          <p:cNvPr id="5127" name="Rectangle 7"/>
          <p:cNvSpPr>
            <a:spLocks noChangeArrowheads="1"/>
          </p:cNvSpPr>
          <p:nvPr/>
        </p:nvSpPr>
        <p:spPr bwMode="auto">
          <a:xfrm>
            <a:off x="381000" y="1066800"/>
            <a:ext cx="83058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charset="0"/>
              </a:defRPr>
            </a:lvl1pPr>
            <a:lvl2pPr marL="742950" indent="-285750">
              <a:spcBef>
                <a:spcPct val="20000"/>
              </a:spcBef>
              <a:buChar char="–"/>
              <a:defRPr sz="2800">
                <a:solidFill>
                  <a:schemeClr val="tx1"/>
                </a:solidFill>
                <a:latin typeface="Times New Roman" charset="0"/>
              </a:defRPr>
            </a:lvl2pPr>
            <a:lvl3pPr marL="1143000" indent="-228600">
              <a:spcBef>
                <a:spcPct val="20000"/>
              </a:spcBef>
              <a:buChar char="•"/>
              <a:defRPr sz="2400">
                <a:solidFill>
                  <a:schemeClr val="tx1"/>
                </a:solidFill>
                <a:latin typeface="Times New Roman" charset="0"/>
              </a:defRPr>
            </a:lvl3pPr>
            <a:lvl4pPr marL="1600200" indent="-228600">
              <a:spcBef>
                <a:spcPct val="20000"/>
              </a:spcBef>
              <a:buChar char="–"/>
              <a:defRPr sz="2000">
                <a:solidFill>
                  <a:schemeClr val="tx1"/>
                </a:solidFill>
                <a:latin typeface="Times New Roman" charset="0"/>
              </a:defRPr>
            </a:lvl4pPr>
            <a:lvl5pPr marL="2057400" indent="-228600">
              <a:spcBef>
                <a:spcPct val="20000"/>
              </a:spcBef>
              <a:buChar char="»"/>
              <a:defRPr sz="2000">
                <a:solidFill>
                  <a:schemeClr val="tx1"/>
                </a:solidFill>
                <a:latin typeface="Times New Roman" charset="0"/>
              </a:defRPr>
            </a:lvl5pPr>
            <a:lvl6pPr marL="2514600" indent="-228600" fontAlgn="base">
              <a:spcBef>
                <a:spcPct val="20000"/>
              </a:spcBef>
              <a:spcAft>
                <a:spcPct val="0"/>
              </a:spcAft>
              <a:buChar char="»"/>
              <a:defRPr sz="2000">
                <a:solidFill>
                  <a:schemeClr val="tx1"/>
                </a:solidFill>
                <a:latin typeface="Times New Roman" charset="0"/>
              </a:defRPr>
            </a:lvl6pPr>
            <a:lvl7pPr marL="2971800" indent="-228600" fontAlgn="base">
              <a:spcBef>
                <a:spcPct val="20000"/>
              </a:spcBef>
              <a:spcAft>
                <a:spcPct val="0"/>
              </a:spcAft>
              <a:buChar char="»"/>
              <a:defRPr sz="2000">
                <a:solidFill>
                  <a:schemeClr val="tx1"/>
                </a:solidFill>
                <a:latin typeface="Times New Roman" charset="0"/>
              </a:defRPr>
            </a:lvl7pPr>
            <a:lvl8pPr marL="3429000" indent="-228600" fontAlgn="base">
              <a:spcBef>
                <a:spcPct val="20000"/>
              </a:spcBef>
              <a:spcAft>
                <a:spcPct val="0"/>
              </a:spcAft>
              <a:buChar char="»"/>
              <a:defRPr sz="2000">
                <a:solidFill>
                  <a:schemeClr val="tx1"/>
                </a:solidFill>
                <a:latin typeface="Times New Roman" charset="0"/>
              </a:defRPr>
            </a:lvl8pPr>
            <a:lvl9pPr marL="3886200" indent="-228600" fontAlgn="base">
              <a:spcBef>
                <a:spcPct val="20000"/>
              </a:spcBef>
              <a:spcAft>
                <a:spcPct val="0"/>
              </a:spcAft>
              <a:buChar char="»"/>
              <a:defRPr sz="2000">
                <a:solidFill>
                  <a:schemeClr val="tx1"/>
                </a:solidFill>
                <a:latin typeface="Times New Roman" charset="0"/>
              </a:defRPr>
            </a:lvl9pPr>
          </a:lstStyle>
          <a:p>
            <a:pPr marL="171450" indent="-171450">
              <a:lnSpc>
                <a:spcPct val="95000"/>
              </a:lnSpc>
              <a:spcBef>
                <a:spcPts val="1200"/>
              </a:spcBef>
              <a:buClr>
                <a:schemeClr val="accent2"/>
              </a:buClr>
              <a:buFont typeface="Arial" pitchFamily="34" charset="0"/>
              <a:buChar char="•"/>
            </a:pPr>
            <a:r>
              <a:rPr lang="en-US" altLang="en-US" sz="2400" dirty="0">
                <a:solidFill>
                  <a:schemeClr val="tx1">
                    <a:lumMod val="75000"/>
                    <a:lumOff val="25000"/>
                  </a:schemeClr>
                </a:solidFill>
                <a:latin typeface="+mn-lt"/>
              </a:rPr>
              <a:t>Risk </a:t>
            </a:r>
            <a:r>
              <a:rPr lang="en-US" altLang="en-US" sz="2400" dirty="0">
                <a:solidFill>
                  <a:schemeClr val="tx1">
                    <a:lumMod val="75000"/>
                    <a:lumOff val="25000"/>
                  </a:schemeClr>
                </a:solidFill>
                <a:latin typeface="+mn-lt"/>
              </a:rPr>
              <a:t>management attempts to identify such events, minimize their impact &amp; provide a response if the event is detected</a:t>
            </a:r>
          </a:p>
          <a:p>
            <a:pPr marL="571500" lvl="2" indent="-171450">
              <a:lnSpc>
                <a:spcPct val="95000"/>
              </a:lnSpc>
              <a:spcBef>
                <a:spcPts val="1200"/>
              </a:spcBef>
              <a:buClr>
                <a:schemeClr val="accent2"/>
              </a:buClr>
              <a:buFont typeface="Arial" pitchFamily="34" charset="0"/>
              <a:buChar char="•"/>
            </a:pPr>
            <a:r>
              <a:rPr lang="en-US" altLang="en-US" sz="2000" dirty="0">
                <a:solidFill>
                  <a:schemeClr val="tx1">
                    <a:lumMod val="75000"/>
                    <a:lumOff val="25000"/>
                  </a:schemeClr>
                </a:solidFill>
                <a:latin typeface="+mn-lt"/>
              </a:rPr>
              <a:t>The essence of Project Management is Risk Management</a:t>
            </a:r>
            <a:r>
              <a:rPr lang="en-US" altLang="en-US" sz="2000" dirty="0">
                <a:solidFill>
                  <a:schemeClr val="tx1">
                    <a:lumMod val="75000"/>
                    <a:lumOff val="25000"/>
                  </a:schemeClr>
                </a:solidFill>
                <a:latin typeface="+mn-lt"/>
              </a:rPr>
              <a:t>!</a:t>
            </a:r>
          </a:p>
          <a:p>
            <a:pPr lvl="1">
              <a:lnSpc>
                <a:spcPct val="90000"/>
              </a:lnSpc>
            </a:pPr>
            <a:endParaRPr lang="en-US" altLang="en-US" sz="2000" i="1" dirty="0" smtClean="0"/>
          </a:p>
          <a:p>
            <a:pPr marL="171450" indent="-171450">
              <a:lnSpc>
                <a:spcPct val="95000"/>
              </a:lnSpc>
              <a:spcBef>
                <a:spcPts val="1200"/>
              </a:spcBef>
              <a:buClr>
                <a:schemeClr val="accent2"/>
              </a:buClr>
              <a:buFont typeface="Arial" pitchFamily="34" charset="0"/>
              <a:buChar char="•"/>
            </a:pPr>
            <a:r>
              <a:rPr lang="en-US" altLang="en-US" sz="2400" dirty="0">
                <a:solidFill>
                  <a:schemeClr val="tx1">
                    <a:lumMod val="75000"/>
                    <a:lumOff val="25000"/>
                  </a:schemeClr>
                </a:solidFill>
                <a:latin typeface="+mn-lt"/>
              </a:rPr>
              <a:t>A risk is a probability that some adverse (or positive) circumstance will occur </a:t>
            </a:r>
          </a:p>
          <a:p>
            <a:pPr marL="571500" lvl="2" indent="-171450">
              <a:lnSpc>
                <a:spcPct val="95000"/>
              </a:lnSpc>
              <a:spcBef>
                <a:spcPts val="1200"/>
              </a:spcBef>
              <a:buClr>
                <a:schemeClr val="accent2"/>
              </a:buClr>
              <a:buFont typeface="Arial" pitchFamily="34" charset="0"/>
              <a:buChar char="•"/>
            </a:pPr>
            <a:r>
              <a:rPr lang="en-US" altLang="en-US" sz="2000" dirty="0">
                <a:solidFill>
                  <a:schemeClr val="tx1">
                    <a:lumMod val="75000"/>
                    <a:lumOff val="25000"/>
                  </a:schemeClr>
                </a:solidFill>
                <a:latin typeface="+mn-lt"/>
              </a:rPr>
              <a:t>Project risks affect schedule or resources;</a:t>
            </a:r>
          </a:p>
          <a:p>
            <a:pPr marL="571500" lvl="2" indent="-171450">
              <a:lnSpc>
                <a:spcPct val="95000"/>
              </a:lnSpc>
              <a:spcBef>
                <a:spcPts val="1200"/>
              </a:spcBef>
              <a:buClr>
                <a:schemeClr val="accent2"/>
              </a:buClr>
              <a:buFont typeface="Arial" pitchFamily="34" charset="0"/>
              <a:buChar char="•"/>
            </a:pPr>
            <a:r>
              <a:rPr lang="en-US" altLang="en-US" sz="2000" dirty="0">
                <a:solidFill>
                  <a:schemeClr val="tx1">
                    <a:lumMod val="75000"/>
                    <a:lumOff val="25000"/>
                  </a:schemeClr>
                </a:solidFill>
                <a:latin typeface="+mn-lt"/>
              </a:rPr>
              <a:t>Product risks affect the quality or performance of the software being developed;</a:t>
            </a:r>
          </a:p>
          <a:p>
            <a:pPr marL="571500" lvl="2" indent="-171450">
              <a:lnSpc>
                <a:spcPct val="95000"/>
              </a:lnSpc>
              <a:spcBef>
                <a:spcPts val="1200"/>
              </a:spcBef>
              <a:buClr>
                <a:schemeClr val="accent2"/>
              </a:buClr>
              <a:buFont typeface="Arial" pitchFamily="34" charset="0"/>
              <a:buChar char="•"/>
            </a:pPr>
            <a:r>
              <a:rPr lang="en-US" altLang="en-US" sz="2000" dirty="0">
                <a:solidFill>
                  <a:schemeClr val="tx1">
                    <a:lumMod val="75000"/>
                    <a:lumOff val="25000"/>
                  </a:schemeClr>
                </a:solidFill>
                <a:latin typeface="+mn-lt"/>
              </a:rPr>
              <a:t>Business risks affect the organization developing or procuring the software.</a:t>
            </a:r>
          </a:p>
          <a:p>
            <a:pPr>
              <a:lnSpc>
                <a:spcPct val="90000"/>
              </a:lnSpc>
            </a:pPr>
            <a:endParaRPr lang="en-US" altLang="en-US" sz="2400" dirty="0"/>
          </a:p>
        </p:txBody>
      </p:sp>
    </p:spTree>
    <p:extLst>
      <p:ext uri="{BB962C8B-B14F-4D97-AF65-F5344CB8AC3E}">
        <p14:creationId xmlns:p14="http://schemas.microsoft.com/office/powerpoint/2010/main" val="11816010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8600" y="272591"/>
            <a:ext cx="8153400" cy="1143000"/>
          </a:xfrm>
        </p:spPr>
        <p:txBody>
          <a:bodyPr>
            <a:normAutofit/>
          </a:bodyPr>
          <a:lstStyle/>
          <a:p>
            <a:r>
              <a:rPr lang="en-US" sz="3200" dirty="0">
                <a:solidFill>
                  <a:schemeClr val="tx2"/>
                </a:solidFill>
              </a:rPr>
              <a:t>The </a:t>
            </a:r>
            <a:r>
              <a:rPr lang="en-US" sz="3200" dirty="0">
                <a:solidFill>
                  <a:schemeClr val="tx2"/>
                </a:solidFill>
              </a:rPr>
              <a:t>Importance</a:t>
            </a:r>
            <a:r>
              <a:rPr lang="en-US" sz="3200" dirty="0">
                <a:solidFill>
                  <a:schemeClr val="tx2"/>
                </a:solidFill>
              </a:rPr>
              <a:t> of Project Risk </a:t>
            </a:r>
            <a:r>
              <a:rPr lang="en-US" sz="3200" dirty="0">
                <a:solidFill>
                  <a:schemeClr val="tx2"/>
                </a:solidFill>
              </a:rPr>
              <a:t>Management</a:t>
            </a:r>
          </a:p>
        </p:txBody>
      </p:sp>
      <p:sp>
        <p:nvSpPr>
          <p:cNvPr id="15363" name="Rectangle 3"/>
          <p:cNvSpPr>
            <a:spLocks noGrp="1" noChangeArrowheads="1"/>
          </p:cNvSpPr>
          <p:nvPr>
            <p:ph sz="half" idx="1"/>
          </p:nvPr>
        </p:nvSpPr>
        <p:spPr>
          <a:xfrm>
            <a:off x="459259" y="1219200"/>
            <a:ext cx="4038600" cy="4525963"/>
          </a:xfrm>
        </p:spPr>
        <p:txBody>
          <a:bodyPr/>
          <a:lstStyle/>
          <a:p>
            <a:pPr marL="171450" indent="-171450">
              <a:lnSpc>
                <a:spcPct val="95000"/>
              </a:lnSpc>
              <a:spcBef>
                <a:spcPts val="1200"/>
              </a:spcBef>
              <a:buClr>
                <a:schemeClr val="accent2"/>
              </a:buClr>
              <a:buFont typeface="Arial" pitchFamily="34" charset="0"/>
              <a:buChar char="•"/>
            </a:pPr>
            <a:r>
              <a:rPr lang="en-US" sz="2200" dirty="0">
                <a:solidFill>
                  <a:schemeClr val="tx1">
                    <a:lumMod val="75000"/>
                    <a:lumOff val="25000"/>
                  </a:schemeClr>
                </a:solidFill>
              </a:rPr>
              <a:t>Project risk management is the art and science of identifying, analyzing, and responding to risk throughout the life of a project and in the best interests of meeting project objectives</a:t>
            </a:r>
          </a:p>
          <a:p>
            <a:pPr marL="171450" indent="-171450">
              <a:lnSpc>
                <a:spcPct val="95000"/>
              </a:lnSpc>
              <a:spcBef>
                <a:spcPts val="1200"/>
              </a:spcBef>
              <a:buClr>
                <a:schemeClr val="accent2"/>
              </a:buClr>
              <a:buFont typeface="Arial" pitchFamily="34" charset="0"/>
              <a:buChar char="•"/>
            </a:pPr>
            <a:r>
              <a:rPr lang="en-US" sz="2200" dirty="0">
                <a:solidFill>
                  <a:schemeClr val="tx1">
                    <a:lumMod val="75000"/>
                    <a:lumOff val="25000"/>
                  </a:schemeClr>
                </a:solidFill>
              </a:rPr>
              <a:t>Risk management is often overlooked in projects, but it can help improve project success by helping select good projects, determining project scope, and developing realistic estimates</a:t>
            </a:r>
          </a:p>
        </p:txBody>
      </p:sp>
      <p:sp>
        <p:nvSpPr>
          <p:cNvPr id="2" name="Content Placeholder 1"/>
          <p:cNvSpPr>
            <a:spLocks noGrp="1"/>
          </p:cNvSpPr>
          <p:nvPr>
            <p:ph sz="half" idx="2"/>
          </p:nvPr>
        </p:nvSpPr>
        <p:spPr>
          <a:xfrm>
            <a:off x="4648200" y="1219200"/>
            <a:ext cx="4038600" cy="4906963"/>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sz="3200" dirty="0" smtClean="0"/>
          </a:p>
          <a:p>
            <a:pPr marL="0" indent="0">
              <a:buNone/>
            </a:pPr>
            <a:endParaRPr lang="en-US" sz="1800" dirty="0" smtClean="0">
              <a:solidFill>
                <a:schemeClr val="tx1">
                  <a:lumMod val="75000"/>
                  <a:lumOff val="25000"/>
                </a:schemeClr>
              </a:solidFill>
            </a:endParaRPr>
          </a:p>
          <a:p>
            <a:pPr marL="0" indent="0">
              <a:buNone/>
            </a:pPr>
            <a:r>
              <a:rPr lang="en-US" sz="1800" dirty="0" smtClean="0">
                <a:solidFill>
                  <a:schemeClr val="tx1">
                    <a:lumMod val="75000"/>
                    <a:lumOff val="25000"/>
                  </a:schemeClr>
                </a:solidFill>
              </a:rPr>
              <a:t>Figure </a:t>
            </a:r>
            <a:r>
              <a:rPr lang="en-US" sz="1800" dirty="0">
                <a:solidFill>
                  <a:schemeClr val="tx1">
                    <a:lumMod val="75000"/>
                    <a:lumOff val="25000"/>
                  </a:schemeClr>
                </a:solidFill>
              </a:rPr>
              <a:t>11-1. </a:t>
            </a:r>
            <a:r>
              <a:rPr lang="en-US" sz="1800" dirty="0">
                <a:solidFill>
                  <a:schemeClr val="tx1">
                    <a:lumMod val="75000"/>
                    <a:lumOff val="25000"/>
                  </a:schemeClr>
                </a:solidFill>
              </a:rPr>
              <a:t>Benefits from Software Risk Management Practices*</a:t>
            </a:r>
            <a:endParaRPr lang="en-GB" sz="1800" dirty="0">
              <a:solidFill>
                <a:schemeClr val="tx1">
                  <a:lumMod val="75000"/>
                  <a:lumOff val="25000"/>
                </a:schemeClr>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217154"/>
            <a:ext cx="4418571" cy="396444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1803747"/>
            <a:ext cx="4495800" cy="3524042"/>
          </a:xfrm>
        </p:spPr>
        <p:txBody>
          <a:bodyPr/>
          <a:lstStyle/>
          <a:p>
            <a:r>
              <a:rPr lang="en-US" sz="2200" dirty="0"/>
              <a:t>Positive risks are risks that result in good things happening; sometimes called </a:t>
            </a:r>
            <a:r>
              <a:rPr lang="en-US" sz="2200" i="1" dirty="0"/>
              <a:t>opportunities</a:t>
            </a:r>
          </a:p>
          <a:p>
            <a:r>
              <a:rPr lang="en-US" sz="2200" dirty="0"/>
              <a:t>A general definition of </a:t>
            </a:r>
            <a:r>
              <a:rPr lang="en-US" sz="2200" b="1" dirty="0"/>
              <a:t>project risk is an uncertainty that can have a negative or positive effect on meeting project objectives</a:t>
            </a:r>
          </a:p>
          <a:p>
            <a:r>
              <a:rPr lang="en-US" sz="2200" dirty="0"/>
              <a:t>The goal of project risk management is to minimize potential negative risks while maximizing potential positive risks</a:t>
            </a:r>
          </a:p>
        </p:txBody>
      </p:sp>
      <p:sp>
        <p:nvSpPr>
          <p:cNvPr id="20482" name="Rectangle 2"/>
          <p:cNvSpPr>
            <a:spLocks noGrp="1" noChangeArrowheads="1"/>
          </p:cNvSpPr>
          <p:nvPr>
            <p:ph type="title"/>
          </p:nvPr>
        </p:nvSpPr>
        <p:spPr>
          <a:xfrm>
            <a:off x="833846" y="341923"/>
            <a:ext cx="8305800" cy="422295"/>
          </a:xfrm>
        </p:spPr>
        <p:txBody>
          <a:bodyPr/>
          <a:lstStyle/>
          <a:p>
            <a:r>
              <a:rPr lang="en-US" sz="3200" dirty="0" smtClean="0"/>
              <a:t>Positive and Negative Risk</a:t>
            </a:r>
            <a:endParaRPr lang="en-US" sz="3200" dirty="0" smtClean="0"/>
          </a:p>
        </p:txBody>
      </p:sp>
      <p:sp>
        <p:nvSpPr>
          <p:cNvPr id="2048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2" name="Rectangle 1"/>
          <p:cNvSpPr/>
          <p:nvPr/>
        </p:nvSpPr>
        <p:spPr>
          <a:xfrm>
            <a:off x="4728754" y="1810278"/>
            <a:ext cx="4023360" cy="2819233"/>
          </a:xfrm>
          <a:prstGeom prst="rect">
            <a:avLst/>
          </a:prstGeom>
        </p:spPr>
        <p:txBody>
          <a:bodyPr wrap="square">
            <a:spAutoFit/>
          </a:bodyPr>
          <a:lstStyle/>
          <a:p>
            <a:pPr marL="171450" indent="-171450">
              <a:lnSpc>
                <a:spcPct val="95000"/>
              </a:lnSpc>
              <a:spcBef>
                <a:spcPts val="1200"/>
              </a:spcBef>
              <a:buClr>
                <a:schemeClr val="accent2"/>
              </a:buClr>
              <a:buFont typeface="Arial" pitchFamily="34" charset="0"/>
              <a:buChar char="•"/>
            </a:pPr>
            <a:r>
              <a:rPr lang="en-US" dirty="0">
                <a:solidFill>
                  <a:schemeClr val="tx1">
                    <a:lumMod val="75000"/>
                    <a:lumOff val="25000"/>
                  </a:schemeClr>
                </a:solidFill>
                <a:latin typeface="+mn-lt"/>
              </a:rPr>
              <a:t>Negative </a:t>
            </a:r>
            <a:r>
              <a:rPr lang="en-US" dirty="0">
                <a:solidFill>
                  <a:schemeClr val="tx1">
                    <a:lumMod val="75000"/>
                    <a:lumOff val="25000"/>
                  </a:schemeClr>
                </a:solidFill>
                <a:latin typeface="+mn-lt"/>
              </a:rPr>
              <a:t>risk involves understanding potential problems that might occur in the project and how they might impede project success</a:t>
            </a:r>
          </a:p>
          <a:p>
            <a:pPr marL="171450" indent="-171450">
              <a:lnSpc>
                <a:spcPct val="95000"/>
              </a:lnSpc>
              <a:spcBef>
                <a:spcPts val="1200"/>
              </a:spcBef>
              <a:buClr>
                <a:schemeClr val="accent2"/>
              </a:buClr>
              <a:buFont typeface="Arial" pitchFamily="34" charset="0"/>
              <a:buChar char="•"/>
            </a:pPr>
            <a:r>
              <a:rPr lang="en-US" dirty="0">
                <a:solidFill>
                  <a:schemeClr val="tx1">
                    <a:lumMod val="75000"/>
                    <a:lumOff val="25000"/>
                  </a:schemeClr>
                </a:solidFill>
                <a:latin typeface="+mn-lt"/>
              </a:rPr>
              <a:t>Negative risk management is like a form of insurance; it is an investment</a:t>
            </a:r>
          </a:p>
        </p:txBody>
      </p:sp>
      <p:sp>
        <p:nvSpPr>
          <p:cNvPr id="3" name="Rectangle 2"/>
          <p:cNvSpPr/>
          <p:nvPr/>
        </p:nvSpPr>
        <p:spPr>
          <a:xfrm>
            <a:off x="261257" y="1204237"/>
            <a:ext cx="1776640" cy="461665"/>
          </a:xfrm>
          <a:prstGeom prst="rect">
            <a:avLst/>
          </a:prstGeom>
        </p:spPr>
        <p:txBody>
          <a:bodyPr wrap="none">
            <a:spAutoFit/>
          </a:bodyPr>
          <a:lstStyle/>
          <a:p>
            <a:r>
              <a:rPr lang="en-US" sz="2400" b="1" u="sng" dirty="0">
                <a:solidFill>
                  <a:schemeClr val="tx1">
                    <a:lumMod val="75000"/>
                    <a:lumOff val="25000"/>
                  </a:schemeClr>
                </a:solidFill>
                <a:latin typeface="+mn-lt"/>
              </a:rPr>
              <a:t>Positive </a:t>
            </a:r>
            <a:r>
              <a:rPr lang="en-US" sz="2400" b="1" u="sng" dirty="0">
                <a:solidFill>
                  <a:schemeClr val="tx1">
                    <a:lumMod val="75000"/>
                    <a:lumOff val="25000"/>
                  </a:schemeClr>
                </a:solidFill>
                <a:latin typeface="+mn-lt"/>
              </a:rPr>
              <a:t>Risk</a:t>
            </a:r>
            <a:endParaRPr lang="en-GB" sz="2400" b="1" u="sng" dirty="0">
              <a:solidFill>
                <a:schemeClr val="tx1">
                  <a:lumMod val="75000"/>
                  <a:lumOff val="25000"/>
                </a:schemeClr>
              </a:solidFill>
              <a:latin typeface="+mn-lt"/>
            </a:endParaRPr>
          </a:p>
        </p:txBody>
      </p:sp>
      <p:sp>
        <p:nvSpPr>
          <p:cNvPr id="4" name="Rectangle 3"/>
          <p:cNvSpPr/>
          <p:nvPr/>
        </p:nvSpPr>
        <p:spPr>
          <a:xfrm>
            <a:off x="4728754" y="1206691"/>
            <a:ext cx="1901674" cy="461665"/>
          </a:xfrm>
          <a:prstGeom prst="rect">
            <a:avLst/>
          </a:prstGeom>
        </p:spPr>
        <p:txBody>
          <a:bodyPr wrap="none">
            <a:spAutoFit/>
          </a:bodyPr>
          <a:lstStyle/>
          <a:p>
            <a:r>
              <a:rPr lang="en-US" sz="2400" b="1" u="sng" dirty="0">
                <a:solidFill>
                  <a:schemeClr val="tx1">
                    <a:lumMod val="75000"/>
                    <a:lumOff val="25000"/>
                  </a:schemeClr>
                </a:solidFill>
                <a:latin typeface="+mn-lt"/>
              </a:rPr>
              <a:t>Negative </a:t>
            </a:r>
            <a:r>
              <a:rPr lang="en-US" sz="2400" b="1" u="sng" dirty="0">
                <a:solidFill>
                  <a:schemeClr val="tx1">
                    <a:lumMod val="75000"/>
                    <a:lumOff val="25000"/>
                  </a:schemeClr>
                </a:solidFill>
                <a:latin typeface="+mn-lt"/>
              </a:rPr>
              <a:t>Risk</a:t>
            </a:r>
            <a:endParaRPr lang="en-GB" sz="2400" b="1" u="sng" dirty="0">
              <a:solidFill>
                <a:schemeClr val="tx1">
                  <a:lumMod val="75000"/>
                  <a:lumOff val="25000"/>
                </a:schemeClr>
              </a:solidFill>
              <a:latin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533400" y="1219200"/>
            <a:ext cx="8186738" cy="2759217"/>
          </a:xfrm>
        </p:spPr>
        <p:txBody>
          <a:bodyPr/>
          <a:lstStyle/>
          <a:p>
            <a:pPr>
              <a:spcBef>
                <a:spcPct val="50000"/>
              </a:spcBef>
            </a:pPr>
            <a:r>
              <a:rPr lang="en-US" sz="2200" b="1" dirty="0" smtClean="0"/>
              <a:t>Risk utility</a:t>
            </a:r>
            <a:r>
              <a:rPr lang="en-US" sz="2200" dirty="0" smtClean="0"/>
              <a:t> or </a:t>
            </a:r>
            <a:r>
              <a:rPr lang="en-US" sz="2200" b="1" dirty="0" smtClean="0"/>
              <a:t>risk tolerance</a:t>
            </a:r>
            <a:r>
              <a:rPr lang="en-US" sz="2200" dirty="0" smtClean="0"/>
              <a:t> is the amount of satisfaction or pleasure received from a potential payoff</a:t>
            </a:r>
          </a:p>
          <a:p>
            <a:pPr lvl="1">
              <a:spcBef>
                <a:spcPct val="50000"/>
              </a:spcBef>
            </a:pPr>
            <a:r>
              <a:rPr lang="en-US" sz="2200" dirty="0" smtClean="0"/>
              <a:t>Utility rises at a decreasing rate for people who are risk-averse</a:t>
            </a:r>
          </a:p>
          <a:p>
            <a:pPr lvl="1">
              <a:spcBef>
                <a:spcPct val="50000"/>
              </a:spcBef>
            </a:pPr>
            <a:r>
              <a:rPr lang="en-US" sz="2200" dirty="0" smtClean="0"/>
              <a:t>Those who are risk-seeking have a higher tolerance for risk and their satisfaction increases when more payoff is at stake</a:t>
            </a:r>
          </a:p>
          <a:p>
            <a:pPr lvl="1">
              <a:spcBef>
                <a:spcPct val="50000"/>
              </a:spcBef>
            </a:pPr>
            <a:r>
              <a:rPr lang="en-US" sz="2200" dirty="0" smtClean="0"/>
              <a:t>The risk-neutral approach achieves a balance between risk and payoff</a:t>
            </a:r>
          </a:p>
        </p:txBody>
      </p:sp>
      <p:sp>
        <p:nvSpPr>
          <p:cNvPr id="22530" name="Rectangle 2"/>
          <p:cNvSpPr>
            <a:spLocks noGrp="1" noChangeArrowheads="1"/>
          </p:cNvSpPr>
          <p:nvPr>
            <p:ph type="title"/>
          </p:nvPr>
        </p:nvSpPr>
        <p:spPr>
          <a:xfrm>
            <a:off x="990600" y="540543"/>
            <a:ext cx="8382000" cy="392113"/>
          </a:xfrm>
        </p:spPr>
        <p:txBody>
          <a:bodyPr>
            <a:noAutofit/>
          </a:bodyPr>
          <a:lstStyle/>
          <a:p>
            <a:r>
              <a:rPr lang="en-US" sz="3200" dirty="0" smtClean="0"/>
              <a:t>Risk Utility</a:t>
            </a:r>
            <a:endParaRPr lang="en-US" sz="3200" dirty="0" smtClean="0"/>
          </a:p>
        </p:txBody>
      </p:sp>
      <p:sp>
        <p:nvSpPr>
          <p:cNvPr id="2253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58ABAB08-9948-4967-A148-ED63955E7C80}" type="slidenum">
              <a:rPr lang="en-US" smtClean="0"/>
              <a:pPr>
                <a:defRPr/>
              </a:pPr>
              <a:t>7</a:t>
            </a:fld>
            <a:endParaRPr lang="en-US" dirty="0"/>
          </a:p>
        </p:txBody>
      </p:sp>
      <p:pic>
        <p:nvPicPr>
          <p:cNvPr id="7" name="Picture 6" descr="86921_11_F02.jpg"/>
          <p:cNvPicPr>
            <a:picLocks noChangeAspect="1"/>
          </p:cNvPicPr>
          <p:nvPr/>
        </p:nvPicPr>
        <p:blipFill>
          <a:blip r:embed="rId3"/>
          <a:stretch>
            <a:fillRect/>
          </a:stretch>
        </p:blipFill>
        <p:spPr>
          <a:xfrm>
            <a:off x="243392" y="4228642"/>
            <a:ext cx="8153400" cy="205946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381000" y="1143000"/>
            <a:ext cx="8458200" cy="5838521"/>
          </a:xfrm>
        </p:spPr>
        <p:txBody>
          <a:bodyPr/>
          <a:lstStyle/>
          <a:p>
            <a:pPr>
              <a:lnSpc>
                <a:spcPct val="90000"/>
              </a:lnSpc>
            </a:pPr>
            <a:r>
              <a:rPr lang="en-US" sz="2200" b="1" dirty="0"/>
              <a:t>Planning risk management </a:t>
            </a:r>
            <a:r>
              <a:rPr lang="en-US" sz="2200" dirty="0"/>
              <a:t>: Deciding how to approach and plan the risk management activities for the project</a:t>
            </a:r>
          </a:p>
          <a:p>
            <a:r>
              <a:rPr lang="en-US" sz="2200" b="1" dirty="0"/>
              <a:t>Identifying risks</a:t>
            </a:r>
            <a:r>
              <a:rPr lang="en-US" sz="2200" dirty="0"/>
              <a:t>: Determining which risks are likely to affect a project and documenting the characteristics of each</a:t>
            </a:r>
          </a:p>
          <a:p>
            <a:r>
              <a:rPr lang="en-US" sz="2200" b="1" dirty="0"/>
              <a:t>Performing qualitative risk analysis</a:t>
            </a:r>
            <a:r>
              <a:rPr lang="en-US" sz="2200" dirty="0"/>
              <a:t>: Prioritizing risks based on their probability and impact of </a:t>
            </a:r>
            <a:r>
              <a:rPr lang="en-US" sz="2200" dirty="0" smtClean="0"/>
              <a:t>occurrence</a:t>
            </a:r>
          </a:p>
          <a:p>
            <a:r>
              <a:rPr lang="en-US" sz="2200" b="1" dirty="0"/>
              <a:t>Performing quantitative risk analysis</a:t>
            </a:r>
            <a:r>
              <a:rPr lang="en-US" sz="2200" dirty="0"/>
              <a:t>:</a:t>
            </a:r>
            <a:r>
              <a:rPr lang="en-US" sz="2200" b="1" dirty="0"/>
              <a:t> </a:t>
            </a:r>
            <a:r>
              <a:rPr lang="en-US" sz="2200" dirty="0"/>
              <a:t>Numerically estimating the effects of risks on project objectives</a:t>
            </a:r>
          </a:p>
          <a:p>
            <a:r>
              <a:rPr lang="en-US" sz="2200" b="1" dirty="0" smtClean="0"/>
              <a:t>Planning </a:t>
            </a:r>
            <a:r>
              <a:rPr lang="en-US" sz="2200" b="1" dirty="0"/>
              <a:t>risk responses</a:t>
            </a:r>
            <a:r>
              <a:rPr lang="en-US" sz="2200" dirty="0"/>
              <a:t>:</a:t>
            </a:r>
            <a:r>
              <a:rPr lang="en-US" sz="2200" b="1" dirty="0"/>
              <a:t> </a:t>
            </a:r>
            <a:r>
              <a:rPr lang="en-US" sz="2200" dirty="0"/>
              <a:t>Taking steps to enhance opportunities and reduce threats to meeting project objectives</a:t>
            </a:r>
          </a:p>
          <a:p>
            <a:r>
              <a:rPr lang="en-US" sz="2200" b="1" dirty="0" smtClean="0"/>
              <a:t>Monitoring and Controlling </a:t>
            </a:r>
            <a:r>
              <a:rPr lang="en-US" sz="2200" b="1" dirty="0"/>
              <a:t>risk</a:t>
            </a:r>
            <a:r>
              <a:rPr lang="en-US" sz="2200" dirty="0"/>
              <a:t>: Monitoring identified and residual risks, identifying new risks, carrying out risk response plans, and evaluating the effectiveness of risk strategies throughout the life of the project</a:t>
            </a:r>
          </a:p>
          <a:p>
            <a:endParaRPr lang="en-US" sz="2200" dirty="0" smtClean="0"/>
          </a:p>
          <a:p>
            <a:endParaRPr lang="en-US" dirty="0"/>
          </a:p>
        </p:txBody>
      </p:sp>
      <p:sp>
        <p:nvSpPr>
          <p:cNvPr id="24578" name="Rectangle 2"/>
          <p:cNvSpPr>
            <a:spLocks noGrp="1" noChangeArrowheads="1"/>
          </p:cNvSpPr>
          <p:nvPr>
            <p:ph type="title"/>
          </p:nvPr>
        </p:nvSpPr>
        <p:spPr>
          <a:xfrm>
            <a:off x="914400" y="304800"/>
            <a:ext cx="8382000" cy="587375"/>
          </a:xfrm>
        </p:spPr>
        <p:txBody>
          <a:bodyPr>
            <a:normAutofit/>
          </a:bodyPr>
          <a:lstStyle/>
          <a:p>
            <a:r>
              <a:rPr lang="en-US" sz="3200" dirty="0" smtClean="0"/>
              <a:t>Project Risk Management Processes</a:t>
            </a:r>
          </a:p>
        </p:txBody>
      </p:sp>
      <p:sp>
        <p:nvSpPr>
          <p:cNvPr id="2458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a:bodyPr>
          <a:lstStyle/>
          <a:p>
            <a:r>
              <a:rPr lang="en-US" dirty="0" smtClean="0"/>
              <a:t>Figure 11-3. Project Risk Management Summary</a:t>
            </a:r>
          </a:p>
        </p:txBody>
      </p:sp>
      <p:sp>
        <p:nvSpPr>
          <p:cNvPr id="26627" name="Footer Placeholder 3"/>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1447800"/>
            <a:ext cx="8131175" cy="491761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21934" y="1524000"/>
            <a:ext cx="8415338" cy="2763834"/>
          </a:xfrm>
        </p:spPr>
        <p:txBody>
          <a:bodyPr/>
          <a:lstStyle/>
          <a:p>
            <a:r>
              <a:rPr lang="en-US" sz="2400" dirty="0"/>
              <a:t>The main output of this process is a </a:t>
            </a:r>
            <a:r>
              <a:rPr lang="en-US" sz="2400" b="1" dirty="0"/>
              <a:t>risk management plan</a:t>
            </a:r>
            <a:r>
              <a:rPr lang="en-US" sz="2400" dirty="0"/>
              <a:t>—a plan that documents the procedures for managing risk throughout a project</a:t>
            </a:r>
          </a:p>
          <a:p>
            <a:r>
              <a:rPr lang="en-US" sz="2400" dirty="0"/>
              <a:t>The project team should review project documents and understand the organization’s and the sponsor’s approaches to risk</a:t>
            </a:r>
          </a:p>
          <a:p>
            <a:r>
              <a:rPr lang="en-US" sz="2400" dirty="0"/>
              <a:t>The level of detail will vary with the needs of the project</a:t>
            </a:r>
          </a:p>
        </p:txBody>
      </p:sp>
      <p:sp>
        <p:nvSpPr>
          <p:cNvPr id="27650" name="Rectangle 2"/>
          <p:cNvSpPr>
            <a:spLocks noGrp="1" noChangeArrowheads="1"/>
          </p:cNvSpPr>
          <p:nvPr>
            <p:ph type="title"/>
          </p:nvPr>
        </p:nvSpPr>
        <p:spPr/>
        <p:txBody>
          <a:bodyPr>
            <a:noAutofit/>
          </a:bodyPr>
          <a:lstStyle/>
          <a:p>
            <a:r>
              <a:rPr lang="en-US" sz="3200" dirty="0" smtClean="0"/>
              <a:t>Planning Risk Management</a:t>
            </a:r>
          </a:p>
        </p:txBody>
      </p:sp>
      <p:sp>
        <p:nvSpPr>
          <p:cNvPr id="2765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7"/>
          <p:cNvSpPr>
            <a:spLocks noGrp="1" noChangeArrowheads="1"/>
          </p:cNvSpPr>
          <p:nvPr>
            <p:ph idx="1"/>
          </p:nvPr>
        </p:nvSpPr>
        <p:spPr>
          <a:xfrm>
            <a:off x="407987" y="1371600"/>
            <a:ext cx="8458200" cy="4495800"/>
          </a:xfrm>
        </p:spPr>
        <p:txBody>
          <a:bodyPr/>
          <a:lstStyle/>
          <a:p>
            <a:r>
              <a:rPr lang="en-US" sz="2800" dirty="0"/>
              <a:t>Methodology</a:t>
            </a:r>
          </a:p>
          <a:p>
            <a:r>
              <a:rPr lang="en-US" sz="2800" dirty="0"/>
              <a:t>Roles and responsibilities</a:t>
            </a:r>
          </a:p>
          <a:p>
            <a:r>
              <a:rPr lang="en-US" sz="2800" dirty="0"/>
              <a:t>Budget and schedule</a:t>
            </a:r>
          </a:p>
          <a:p>
            <a:r>
              <a:rPr lang="en-US" sz="2800" dirty="0"/>
              <a:t>Risk categories</a:t>
            </a:r>
          </a:p>
          <a:p>
            <a:r>
              <a:rPr lang="en-US" sz="2800" dirty="0"/>
              <a:t>Risk probability and </a:t>
            </a:r>
            <a:r>
              <a:rPr lang="en-US" sz="2800" dirty="0" smtClean="0"/>
              <a:t>impact</a:t>
            </a:r>
          </a:p>
          <a:p>
            <a:r>
              <a:rPr lang="en-US" sz="2800" dirty="0" smtClean="0"/>
              <a:t>Revised stakeholders’ tolerances</a:t>
            </a:r>
          </a:p>
          <a:p>
            <a:r>
              <a:rPr lang="en-US" sz="2800" dirty="0" smtClean="0"/>
              <a:t>Tracking</a:t>
            </a:r>
            <a:endParaRPr lang="en-US" sz="2800" dirty="0"/>
          </a:p>
          <a:p>
            <a:r>
              <a:rPr lang="en-US" sz="2800" dirty="0"/>
              <a:t>Risk documentation</a:t>
            </a:r>
          </a:p>
        </p:txBody>
      </p:sp>
      <p:sp>
        <p:nvSpPr>
          <p:cNvPr id="28674" name="Rectangle 2"/>
          <p:cNvSpPr>
            <a:spLocks noGrp="1" noChangeArrowheads="1"/>
          </p:cNvSpPr>
          <p:nvPr>
            <p:ph type="title"/>
          </p:nvPr>
        </p:nvSpPr>
        <p:spPr>
          <a:xfrm>
            <a:off x="914400" y="152400"/>
            <a:ext cx="8382000" cy="914400"/>
          </a:xfrm>
        </p:spPr>
        <p:txBody>
          <a:bodyPr>
            <a:normAutofit/>
          </a:bodyPr>
          <a:lstStyle/>
          <a:p>
            <a:r>
              <a:rPr lang="en-US" sz="3200" dirty="0" smtClean="0"/>
              <a:t>Topics </a:t>
            </a:r>
            <a:r>
              <a:rPr lang="en-US" sz="3200" dirty="0" smtClean="0"/>
              <a:t>Addressed in a </a:t>
            </a:r>
            <a:r>
              <a:rPr lang="en-US" sz="3200" b="1" dirty="0" smtClean="0"/>
              <a:t>Risk Management Plan</a:t>
            </a:r>
          </a:p>
        </p:txBody>
      </p:sp>
      <p:sp>
        <p:nvSpPr>
          <p:cNvPr id="2867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A0D2F1F7-188A-44F1-B32C-32477365EB71}"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609599" y="1295400"/>
            <a:ext cx="8256587" cy="3600986"/>
          </a:xfrm>
        </p:spPr>
        <p:txBody>
          <a:bodyPr/>
          <a:lstStyle/>
          <a:p>
            <a:pPr>
              <a:spcBef>
                <a:spcPct val="60000"/>
              </a:spcBef>
            </a:pPr>
            <a:r>
              <a:rPr lang="en-US" sz="2400" b="1" dirty="0" smtClean="0"/>
              <a:t>Contingency plans</a:t>
            </a:r>
            <a:r>
              <a:rPr lang="en-US" sz="2400" dirty="0" smtClean="0"/>
              <a:t> are predefined actions that the project team will take if an identified risk event occurs</a:t>
            </a:r>
          </a:p>
          <a:p>
            <a:pPr>
              <a:spcBef>
                <a:spcPct val="60000"/>
              </a:spcBef>
            </a:pPr>
            <a:r>
              <a:rPr lang="en-US" sz="2400" b="1" dirty="0" smtClean="0"/>
              <a:t>Fallback plans</a:t>
            </a:r>
            <a:r>
              <a:rPr lang="en-US" sz="2400" dirty="0" smtClean="0"/>
              <a:t> are developed for risks that have a high impact on meeting project objectives, and are put into effect if attempts to reduce the risk are not effective</a:t>
            </a:r>
          </a:p>
          <a:p>
            <a:pPr>
              <a:spcBef>
                <a:spcPct val="60000"/>
              </a:spcBef>
            </a:pPr>
            <a:r>
              <a:rPr lang="en-US" sz="2400" b="1" dirty="0" smtClean="0"/>
              <a:t>Contingency reserves</a:t>
            </a:r>
            <a:r>
              <a:rPr lang="en-US" sz="2400" dirty="0" smtClean="0"/>
              <a:t> or </a:t>
            </a:r>
            <a:r>
              <a:rPr lang="en-US" sz="2400" b="1" dirty="0" smtClean="0"/>
              <a:t>allowances</a:t>
            </a:r>
            <a:r>
              <a:rPr lang="en-US" sz="2400" dirty="0" smtClean="0"/>
              <a:t> are provisions held by the project sponsor or organization to reduce the risk of cost or schedule overruns to an acceptable level; </a:t>
            </a:r>
            <a:r>
              <a:rPr lang="en-US" sz="2400" b="1" dirty="0" smtClean="0"/>
              <a:t>management </a:t>
            </a:r>
            <a:r>
              <a:rPr lang="en-US" sz="2400" b="1" dirty="0"/>
              <a:t>reserves </a:t>
            </a:r>
            <a:r>
              <a:rPr lang="en-US" sz="2400" dirty="0"/>
              <a:t>are funds held for unknown risks</a:t>
            </a:r>
            <a:endParaRPr lang="en-US" sz="2400" dirty="0" smtClean="0"/>
          </a:p>
        </p:txBody>
      </p:sp>
      <p:sp>
        <p:nvSpPr>
          <p:cNvPr id="29698" name="Rectangle 2"/>
          <p:cNvSpPr>
            <a:spLocks noGrp="1" noChangeArrowheads="1"/>
          </p:cNvSpPr>
          <p:nvPr>
            <p:ph type="title"/>
          </p:nvPr>
        </p:nvSpPr>
        <p:spPr>
          <a:xfrm>
            <a:off x="838200" y="152400"/>
            <a:ext cx="8305800" cy="914400"/>
          </a:xfrm>
        </p:spPr>
        <p:txBody>
          <a:bodyPr>
            <a:normAutofit/>
          </a:bodyPr>
          <a:lstStyle/>
          <a:p>
            <a:r>
              <a:rPr lang="en-US" sz="3200" dirty="0" smtClean="0"/>
              <a:t>Contingency </a:t>
            </a:r>
            <a:r>
              <a:rPr lang="en-US" sz="3200" dirty="0" smtClean="0"/>
              <a:t>and Fallback Plans, Contingency </a:t>
            </a:r>
            <a:r>
              <a:rPr lang="en-US" sz="3200" dirty="0" smtClean="0"/>
              <a:t>Reserves</a:t>
            </a:r>
            <a:endParaRPr lang="en-US" sz="3200" dirty="0" smtClean="0"/>
          </a:p>
        </p:txBody>
      </p:sp>
      <p:sp>
        <p:nvSpPr>
          <p:cNvPr id="2970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F0168EBD-A927-405F-8B2A-DE7F1F6E9C5D}"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48343" y="1141985"/>
            <a:ext cx="8207375" cy="2492990"/>
          </a:xfrm>
        </p:spPr>
        <p:txBody>
          <a:bodyPr/>
          <a:lstStyle/>
          <a:p>
            <a:pPr>
              <a:spcBef>
                <a:spcPct val="100000"/>
              </a:spcBef>
            </a:pPr>
            <a:r>
              <a:rPr lang="en-US" sz="2400" dirty="0" smtClean="0"/>
              <a:t>Several studies show that IT projects share some common sources of risk</a:t>
            </a:r>
          </a:p>
          <a:p>
            <a:pPr>
              <a:spcBef>
                <a:spcPct val="100000"/>
              </a:spcBef>
            </a:pPr>
            <a:r>
              <a:rPr lang="en-US" sz="2400" dirty="0" smtClean="0"/>
              <a:t>The Standish Group developed an IT success potential scoring sheet based on potential risks</a:t>
            </a:r>
          </a:p>
          <a:p>
            <a:pPr>
              <a:spcBef>
                <a:spcPct val="100000"/>
              </a:spcBef>
            </a:pPr>
            <a:r>
              <a:rPr lang="en-US" sz="2400" dirty="0" smtClean="0"/>
              <a:t>Other broad categories of risk help identify potential risks</a:t>
            </a:r>
          </a:p>
        </p:txBody>
      </p:sp>
      <p:sp>
        <p:nvSpPr>
          <p:cNvPr id="30722" name="Rectangle 2"/>
          <p:cNvSpPr>
            <a:spLocks noGrp="1" noChangeArrowheads="1"/>
          </p:cNvSpPr>
          <p:nvPr>
            <p:ph type="title"/>
          </p:nvPr>
        </p:nvSpPr>
        <p:spPr>
          <a:xfrm>
            <a:off x="839787" y="480840"/>
            <a:ext cx="8026400" cy="296235"/>
          </a:xfrm>
        </p:spPr>
        <p:txBody>
          <a:bodyPr>
            <a:normAutofit/>
          </a:bodyPr>
          <a:lstStyle/>
          <a:p>
            <a:r>
              <a:rPr lang="en-US" dirty="0" smtClean="0"/>
              <a:t>Common Sources of Risk in Information Technology Projects</a:t>
            </a:r>
          </a:p>
        </p:txBody>
      </p:sp>
      <p:sp>
        <p:nvSpPr>
          <p:cNvPr id="3072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96506652-F25D-4BDC-916B-8FFAC3EB4E82}" type="slidenum">
              <a:rPr lang="en-US" smtClean="0"/>
              <a:pPr>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909145" y="228600"/>
            <a:ext cx="8229600" cy="1143000"/>
          </a:xfrm>
        </p:spPr>
        <p:txBody>
          <a:bodyPr>
            <a:normAutofit/>
          </a:bodyPr>
          <a:lstStyle/>
          <a:p>
            <a:r>
              <a:rPr lang="en-US" dirty="0" smtClean="0"/>
              <a:t>Table 11-3. IT Success Potential Scoring Sheet</a:t>
            </a:r>
          </a:p>
        </p:txBody>
      </p:sp>
      <p:sp>
        <p:nvSpPr>
          <p:cNvPr id="1029"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endParaRPr lang="en-US" dirty="0" smtClean="0"/>
          </a:p>
        </p:txBody>
      </p:sp>
      <p:graphicFrame>
        <p:nvGraphicFramePr>
          <p:cNvPr id="1026" name="Object 2"/>
          <p:cNvGraphicFramePr>
            <a:graphicFrameLocks noChangeAspect="1"/>
          </p:cNvGraphicFramePr>
          <p:nvPr>
            <p:extLst>
              <p:ext uri="{D42A27DB-BD31-4B8C-83A1-F6EECF244321}">
                <p14:modId xmlns:p14="http://schemas.microsoft.com/office/powerpoint/2010/main" val="2355457974"/>
              </p:ext>
            </p:extLst>
          </p:nvPr>
        </p:nvGraphicFramePr>
        <p:xfrm>
          <a:off x="533400" y="1371600"/>
          <a:ext cx="7315200" cy="5160963"/>
        </p:xfrm>
        <a:graphic>
          <a:graphicData uri="http://schemas.openxmlformats.org/presentationml/2006/ole">
            <mc:AlternateContent xmlns:mc="http://schemas.openxmlformats.org/markup-compatibility/2006">
              <mc:Choice xmlns:v="urn:schemas-microsoft-com:vml" Requires="v">
                <p:oleObj spid="_x0000_s1068" name="Document" r:id="rId3" imgW="5655898" imgH="3280753" progId="Word.Document.8">
                  <p:embed/>
                </p:oleObj>
              </mc:Choice>
              <mc:Fallback>
                <p:oleObj name="Document" r:id="rId3" imgW="5655898" imgH="3280753"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12888" r="11508"/>
                      <a:stretch>
                        <a:fillRect/>
                      </a:stretch>
                    </p:blipFill>
                    <p:spPr bwMode="auto">
                      <a:xfrm>
                        <a:off x="533400" y="1371600"/>
                        <a:ext cx="7315200" cy="5160963"/>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1371600"/>
            <a:ext cx="8186738" cy="3231654"/>
          </a:xfrm>
        </p:spPr>
        <p:txBody>
          <a:bodyPr/>
          <a:lstStyle/>
          <a:p>
            <a:pPr>
              <a:spcBef>
                <a:spcPct val="100000"/>
              </a:spcBef>
            </a:pPr>
            <a:r>
              <a:rPr lang="en-US" sz="2400" dirty="0" smtClean="0"/>
              <a:t>Market risk</a:t>
            </a:r>
          </a:p>
          <a:p>
            <a:pPr>
              <a:spcBef>
                <a:spcPct val="100000"/>
              </a:spcBef>
            </a:pPr>
            <a:r>
              <a:rPr lang="en-US" sz="2400" dirty="0" smtClean="0"/>
              <a:t>Financial risk</a:t>
            </a:r>
          </a:p>
          <a:p>
            <a:pPr>
              <a:spcBef>
                <a:spcPct val="100000"/>
              </a:spcBef>
            </a:pPr>
            <a:r>
              <a:rPr lang="en-US" sz="2400" dirty="0" smtClean="0"/>
              <a:t>Technology risk</a:t>
            </a:r>
          </a:p>
          <a:p>
            <a:pPr>
              <a:spcBef>
                <a:spcPct val="100000"/>
              </a:spcBef>
            </a:pPr>
            <a:r>
              <a:rPr lang="en-US" sz="2400" dirty="0" smtClean="0"/>
              <a:t>People risk</a:t>
            </a:r>
          </a:p>
          <a:p>
            <a:pPr>
              <a:spcBef>
                <a:spcPct val="100000"/>
              </a:spcBef>
            </a:pPr>
            <a:r>
              <a:rPr lang="en-US" sz="2400" dirty="0" smtClean="0"/>
              <a:t>Structure/process risk</a:t>
            </a:r>
          </a:p>
        </p:txBody>
      </p:sp>
      <p:sp>
        <p:nvSpPr>
          <p:cNvPr id="31746" name="Rectangle 2"/>
          <p:cNvSpPr>
            <a:spLocks noGrp="1" noChangeArrowheads="1"/>
          </p:cNvSpPr>
          <p:nvPr>
            <p:ph type="title"/>
          </p:nvPr>
        </p:nvSpPr>
        <p:spPr>
          <a:xfrm>
            <a:off x="1219200" y="444490"/>
            <a:ext cx="7543800" cy="422295"/>
          </a:xfrm>
        </p:spPr>
        <p:txBody>
          <a:bodyPr/>
          <a:lstStyle/>
          <a:p>
            <a:r>
              <a:rPr lang="en-US" sz="3200" dirty="0" smtClean="0"/>
              <a:t>Broad Categories of Risk</a:t>
            </a:r>
          </a:p>
        </p:txBody>
      </p:sp>
      <p:sp>
        <p:nvSpPr>
          <p:cNvPr id="31749" name="Footer Placeholder 6"/>
          <p:cNvSpPr>
            <a:spLocks noGrp="1"/>
          </p:cNvSpPr>
          <p:nvPr>
            <p:ph type="ftr" sz="quarter" idx="10"/>
          </p:nvPr>
        </p:nvSpPr>
        <p:spPr bwMode="auto">
          <a:xfrm>
            <a:off x="1600253" y="6624351"/>
            <a:ext cx="6781693" cy="244535"/>
          </a:xfrm>
          <a:noFill/>
          <a:ln>
            <a:miter lim="800000"/>
            <a:headEnd/>
            <a:tailEnd/>
          </a:ln>
        </p:spPr>
        <p:txBody>
          <a:bodyPr/>
          <a:lstStyle/>
          <a:p>
            <a:r>
              <a:rPr lang="en-US" smtClean="0"/>
              <a:t>Information Technology Project Management, Seventh Edition</a:t>
            </a:r>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365125" y="1066801"/>
            <a:ext cx="8415338" cy="1828800"/>
          </a:xfrm>
        </p:spPr>
        <p:txBody>
          <a:bodyPr/>
          <a:lstStyle/>
          <a:p>
            <a:pPr>
              <a:spcBef>
                <a:spcPct val="100000"/>
              </a:spcBef>
            </a:pPr>
            <a:r>
              <a:rPr lang="en-US" sz="2400" dirty="0" smtClean="0"/>
              <a:t>A </a:t>
            </a:r>
            <a:r>
              <a:rPr lang="en-US" sz="2400" b="1" dirty="0" smtClean="0"/>
              <a:t>risk breakdown structure</a:t>
            </a:r>
            <a:r>
              <a:rPr lang="en-US" sz="2400" dirty="0" smtClean="0"/>
              <a:t> is a hierarchy of potential risk categories for a project</a:t>
            </a:r>
          </a:p>
          <a:p>
            <a:pPr>
              <a:spcBef>
                <a:spcPct val="100000"/>
              </a:spcBef>
            </a:pPr>
            <a:r>
              <a:rPr lang="en-US" sz="2400" dirty="0" smtClean="0"/>
              <a:t>Similar to a work breakdown structure but used to identify and categorize risks</a:t>
            </a:r>
          </a:p>
        </p:txBody>
      </p:sp>
      <p:sp>
        <p:nvSpPr>
          <p:cNvPr id="33794" name="Rectangle 2"/>
          <p:cNvSpPr>
            <a:spLocks noGrp="1" noChangeArrowheads="1"/>
          </p:cNvSpPr>
          <p:nvPr>
            <p:ph type="title"/>
          </p:nvPr>
        </p:nvSpPr>
        <p:spPr>
          <a:xfrm>
            <a:off x="762000" y="343228"/>
            <a:ext cx="8026400" cy="422295"/>
          </a:xfrm>
        </p:spPr>
        <p:txBody>
          <a:bodyPr/>
          <a:lstStyle/>
          <a:p>
            <a:r>
              <a:rPr lang="en-US" sz="3200" dirty="0" smtClean="0"/>
              <a:t>Risk Breakdown Structure</a:t>
            </a:r>
          </a:p>
        </p:txBody>
      </p:sp>
      <p:sp>
        <p:nvSpPr>
          <p:cNvPr id="3379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895601"/>
            <a:ext cx="7467600" cy="361033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152400"/>
            <a:ext cx="8013212" cy="860365"/>
          </a:xfrm>
        </p:spPr>
        <p:txBody>
          <a:bodyPr>
            <a:normAutofit/>
          </a:bodyPr>
          <a:lstStyle/>
          <a:p>
            <a:r>
              <a:rPr lang="en-US" sz="3200" dirty="0" smtClean="0"/>
              <a:t>Potential </a:t>
            </a:r>
            <a:r>
              <a:rPr lang="en-US" sz="3200" dirty="0" smtClean="0"/>
              <a:t>Negative Risk Conditions Associated With Each Knowledge Area</a:t>
            </a:r>
          </a:p>
        </p:txBody>
      </p:sp>
      <p:sp>
        <p:nvSpPr>
          <p:cNvPr id="35844"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buFontTx/>
              <a:buNone/>
              <a:defRPr/>
            </a:pPr>
            <a:fld id="{4D1252FD-2CC6-495F-9384-CE9717794234}" type="slidenum">
              <a:rPr lang="en-US" smtClean="0"/>
              <a:pPr>
                <a:buFontTx/>
                <a:buNone/>
                <a:defRPr/>
              </a:pPr>
              <a:t>17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58" y="1295400"/>
            <a:ext cx="8560454" cy="500043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457200" y="990600"/>
            <a:ext cx="8229600" cy="4579715"/>
          </a:xfrm>
        </p:spPr>
        <p:txBody>
          <a:bodyPr/>
          <a:lstStyle/>
          <a:p>
            <a:pPr>
              <a:spcBef>
                <a:spcPct val="55000"/>
              </a:spcBef>
            </a:pPr>
            <a:r>
              <a:rPr lang="en-US" sz="2400" dirty="0" smtClean="0"/>
              <a:t>Identifying risks is the process of understanding what potential events might hurt or enhance a particular project</a:t>
            </a:r>
          </a:p>
          <a:p>
            <a:pPr>
              <a:spcBef>
                <a:spcPct val="55000"/>
              </a:spcBef>
            </a:pPr>
            <a:r>
              <a:rPr lang="en-US" sz="2400" dirty="0" smtClean="0"/>
              <a:t>Another consideration is the likelihood of advanced discovery</a:t>
            </a:r>
          </a:p>
          <a:p>
            <a:pPr>
              <a:spcBef>
                <a:spcPct val="55000"/>
              </a:spcBef>
            </a:pPr>
            <a:r>
              <a:rPr lang="en-US" sz="2400" dirty="0" smtClean="0"/>
              <a:t>Risk identification tools and techniques include:</a:t>
            </a:r>
          </a:p>
          <a:p>
            <a:pPr lvl="1">
              <a:spcBef>
                <a:spcPct val="55000"/>
              </a:spcBef>
            </a:pPr>
            <a:r>
              <a:rPr lang="en-US" sz="2000" dirty="0" smtClean="0"/>
              <a:t>Brainstorming</a:t>
            </a:r>
          </a:p>
          <a:p>
            <a:pPr lvl="1">
              <a:spcBef>
                <a:spcPct val="55000"/>
              </a:spcBef>
            </a:pPr>
            <a:r>
              <a:rPr lang="en-US" sz="2000" dirty="0" smtClean="0"/>
              <a:t>The Delphi Technique</a:t>
            </a:r>
          </a:p>
          <a:p>
            <a:pPr lvl="1">
              <a:spcBef>
                <a:spcPct val="55000"/>
              </a:spcBef>
            </a:pPr>
            <a:r>
              <a:rPr lang="en-US" sz="2000" dirty="0" smtClean="0"/>
              <a:t>Interviewing</a:t>
            </a:r>
          </a:p>
          <a:p>
            <a:pPr lvl="1">
              <a:spcBef>
                <a:spcPct val="55000"/>
              </a:spcBef>
            </a:pPr>
            <a:r>
              <a:rPr lang="en-US" sz="2000" dirty="0" smtClean="0"/>
              <a:t>SWOT </a:t>
            </a:r>
            <a:r>
              <a:rPr lang="en-US" sz="2000" dirty="0" smtClean="0"/>
              <a:t>analysis</a:t>
            </a:r>
          </a:p>
          <a:p>
            <a:pPr lvl="1">
              <a:spcBef>
                <a:spcPct val="55000"/>
              </a:spcBef>
            </a:pPr>
            <a:r>
              <a:rPr lang="en-US" sz="2000" dirty="0" smtClean="0"/>
              <a:t>Checklist</a:t>
            </a:r>
          </a:p>
          <a:p>
            <a:pPr marL="228600" lvl="1" indent="0">
              <a:spcBef>
                <a:spcPct val="55000"/>
              </a:spcBef>
              <a:buNone/>
            </a:pPr>
            <a:endParaRPr lang="en-US" sz="2000" dirty="0" smtClean="0"/>
          </a:p>
        </p:txBody>
      </p:sp>
      <p:sp>
        <p:nvSpPr>
          <p:cNvPr id="36866" name="Rectangle 2"/>
          <p:cNvSpPr>
            <a:spLocks noGrp="1" noChangeArrowheads="1"/>
          </p:cNvSpPr>
          <p:nvPr>
            <p:ph type="title"/>
          </p:nvPr>
        </p:nvSpPr>
        <p:spPr>
          <a:xfrm>
            <a:off x="873728" y="381000"/>
            <a:ext cx="8229600" cy="422295"/>
          </a:xfrm>
        </p:spPr>
        <p:txBody>
          <a:bodyPr/>
          <a:lstStyle/>
          <a:p>
            <a:r>
              <a:rPr lang="en-US" sz="3200" dirty="0" smtClean="0"/>
              <a:t>Identifying Risks</a:t>
            </a:r>
          </a:p>
        </p:txBody>
      </p:sp>
      <p:sp>
        <p:nvSpPr>
          <p:cNvPr id="3686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E76D94AB-283F-4DB4-953C-B7C642775F48}" type="slidenum">
              <a:rPr lang="en-US" smtClean="0"/>
              <a:pPr>
                <a:defRPr/>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371600"/>
            <a:ext cx="8458200" cy="3385542"/>
          </a:xfrm>
        </p:spPr>
        <p:txBody>
          <a:bodyPr/>
          <a:lstStyle/>
          <a:p>
            <a:r>
              <a:rPr lang="en-US" sz="2400" b="1" dirty="0" smtClean="0"/>
              <a:t>Brainstorming</a:t>
            </a:r>
            <a:r>
              <a:rPr lang="en-US" sz="2400" dirty="0" smtClean="0"/>
              <a:t> is a technique by which a group attempts to generate ideas or find a solution for a specific problem by amassing ideas spontaneously and without judgment</a:t>
            </a:r>
          </a:p>
          <a:p>
            <a:r>
              <a:rPr lang="en-US" sz="2400" dirty="0" smtClean="0"/>
              <a:t>An experienced facilitator should run the brainstorming session</a:t>
            </a:r>
          </a:p>
          <a:p>
            <a:r>
              <a:rPr lang="en-US" sz="2400" dirty="0" smtClean="0"/>
              <a:t>Be careful not to overuse or misuse brainstorming.</a:t>
            </a:r>
          </a:p>
          <a:p>
            <a:pPr lvl="1"/>
            <a:r>
              <a:rPr lang="en-US" sz="2000" dirty="0" smtClean="0"/>
              <a:t>Psychology literature shows that individuals produce a greater number of ideas working alone than they do through brainstorming in small, face-to-face groups</a:t>
            </a:r>
          </a:p>
          <a:p>
            <a:pPr lvl="1"/>
            <a:r>
              <a:rPr lang="en-US" sz="2000" dirty="0" smtClean="0"/>
              <a:t>Group effects often inhibit idea generation</a:t>
            </a:r>
            <a:endParaRPr lang="en-US" sz="2400" dirty="0" smtClean="0"/>
          </a:p>
        </p:txBody>
      </p:sp>
      <p:sp>
        <p:nvSpPr>
          <p:cNvPr id="37890" name="Rectangle 2"/>
          <p:cNvSpPr>
            <a:spLocks noGrp="1" noChangeArrowheads="1"/>
          </p:cNvSpPr>
          <p:nvPr>
            <p:ph type="title"/>
          </p:nvPr>
        </p:nvSpPr>
        <p:spPr>
          <a:xfrm>
            <a:off x="762000" y="343228"/>
            <a:ext cx="8026400" cy="422295"/>
          </a:xfrm>
        </p:spPr>
        <p:txBody>
          <a:bodyPr/>
          <a:lstStyle/>
          <a:p>
            <a:r>
              <a:rPr lang="en-US" sz="3200" dirty="0" smtClean="0"/>
              <a:t>Brainstorming</a:t>
            </a:r>
          </a:p>
        </p:txBody>
      </p:sp>
      <p:sp>
        <p:nvSpPr>
          <p:cNvPr id="3789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7208EE35-A128-4D08-B16A-7F18F3102B9E}" type="slidenum">
              <a:rPr lang="en-US" smtClean="0"/>
              <a:pPr>
                <a:defRPr/>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65125" y="1538818"/>
            <a:ext cx="8415338" cy="3545586"/>
          </a:xfrm>
        </p:spPr>
        <p:txBody>
          <a:bodyPr/>
          <a:lstStyle/>
          <a:p>
            <a:pPr>
              <a:spcBef>
                <a:spcPct val="100000"/>
              </a:spcBef>
            </a:pPr>
            <a:r>
              <a:rPr lang="en-US" sz="2400" dirty="0" smtClean="0"/>
              <a:t>The </a:t>
            </a:r>
            <a:r>
              <a:rPr lang="en-US" sz="2400" b="1" dirty="0" smtClean="0"/>
              <a:t>Delphi Technique</a:t>
            </a:r>
            <a:r>
              <a:rPr lang="en-US" sz="2400" dirty="0" smtClean="0"/>
              <a:t> is used to derive a consensus among a panel of experts who make predictions about future developments</a:t>
            </a:r>
          </a:p>
          <a:p>
            <a:pPr>
              <a:spcBef>
                <a:spcPct val="100000"/>
              </a:spcBef>
            </a:pPr>
            <a:r>
              <a:rPr lang="en-US" sz="2400" dirty="0" smtClean="0"/>
              <a:t>Provides independent and anonymous input regarding future events</a:t>
            </a:r>
          </a:p>
          <a:p>
            <a:pPr>
              <a:spcBef>
                <a:spcPct val="100000"/>
              </a:spcBef>
            </a:pPr>
            <a:r>
              <a:rPr lang="en-US" sz="2400" dirty="0" smtClean="0"/>
              <a:t>Uses repeated rounds of questioning and written responses and avoids the biasing effects possible in oral methods, such as brainstorming</a:t>
            </a:r>
          </a:p>
        </p:txBody>
      </p:sp>
      <p:sp>
        <p:nvSpPr>
          <p:cNvPr id="38914" name="Rectangle 2"/>
          <p:cNvSpPr>
            <a:spLocks noGrp="1" noChangeArrowheads="1"/>
          </p:cNvSpPr>
          <p:nvPr>
            <p:ph type="title"/>
          </p:nvPr>
        </p:nvSpPr>
        <p:spPr>
          <a:xfrm>
            <a:off x="762000" y="343229"/>
            <a:ext cx="8026400" cy="422295"/>
          </a:xfrm>
        </p:spPr>
        <p:txBody>
          <a:bodyPr/>
          <a:lstStyle/>
          <a:p>
            <a:r>
              <a:rPr lang="en-US" sz="3200" dirty="0" smtClean="0"/>
              <a:t>Delphi Technique</a:t>
            </a:r>
          </a:p>
        </p:txBody>
      </p:sp>
      <p:sp>
        <p:nvSpPr>
          <p:cNvPr id="3891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B67E35EF-C2EF-4EF0-BA88-2A154ACA3F78}" type="slidenum">
              <a:rPr lang="en-US" smtClean="0"/>
              <a:pPr>
                <a:defRPr/>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365125" y="1538818"/>
            <a:ext cx="8415338" cy="1772793"/>
          </a:xfrm>
        </p:spPr>
        <p:txBody>
          <a:bodyPr/>
          <a:lstStyle/>
          <a:p>
            <a:pPr>
              <a:spcBef>
                <a:spcPct val="100000"/>
              </a:spcBef>
            </a:pPr>
            <a:r>
              <a:rPr lang="en-US" sz="2400" b="1" dirty="0" smtClean="0"/>
              <a:t>Interviewing</a:t>
            </a:r>
            <a:r>
              <a:rPr lang="en-US" sz="2400" dirty="0" smtClean="0"/>
              <a:t> is a fact-finding technique for collecting information in face-to-face, phone, e-mail, or instant-messaging discussions</a:t>
            </a:r>
          </a:p>
          <a:p>
            <a:pPr>
              <a:spcBef>
                <a:spcPct val="100000"/>
              </a:spcBef>
            </a:pPr>
            <a:r>
              <a:rPr lang="en-US" sz="2400" dirty="0" smtClean="0"/>
              <a:t>Interviewing people with similar project experience is an important tool for identifying potential risks</a:t>
            </a:r>
          </a:p>
        </p:txBody>
      </p:sp>
      <p:sp>
        <p:nvSpPr>
          <p:cNvPr id="39938" name="Rectangle 2"/>
          <p:cNvSpPr>
            <a:spLocks noGrp="1" noChangeArrowheads="1"/>
          </p:cNvSpPr>
          <p:nvPr>
            <p:ph type="title"/>
          </p:nvPr>
        </p:nvSpPr>
        <p:spPr>
          <a:xfrm>
            <a:off x="762000" y="343229"/>
            <a:ext cx="8026400" cy="422295"/>
          </a:xfrm>
        </p:spPr>
        <p:txBody>
          <a:bodyPr/>
          <a:lstStyle/>
          <a:p>
            <a:r>
              <a:rPr lang="en-US" sz="3200" dirty="0" smtClean="0"/>
              <a:t>Interviewing</a:t>
            </a:r>
            <a:endParaRPr lang="en-US" dirty="0" smtClean="0"/>
          </a:p>
        </p:txBody>
      </p:sp>
      <p:sp>
        <p:nvSpPr>
          <p:cNvPr id="3994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9E252DC2-606F-467A-9154-9742EEEB11B9}" type="slidenum">
              <a:rPr lang="en-US" smtClean="0"/>
              <a:pPr>
                <a:defRPr/>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365125" y="1538818"/>
            <a:ext cx="8415338" cy="1772793"/>
          </a:xfrm>
        </p:spPr>
        <p:txBody>
          <a:bodyPr/>
          <a:lstStyle/>
          <a:p>
            <a:pPr>
              <a:spcBef>
                <a:spcPct val="100000"/>
              </a:spcBef>
            </a:pPr>
            <a:r>
              <a:rPr lang="en-US" sz="2400" dirty="0" smtClean="0"/>
              <a:t>SWOT analysis (strengths, weaknesses, opportunities, and threats) can also be used during risk identification</a:t>
            </a:r>
          </a:p>
          <a:p>
            <a:pPr>
              <a:spcBef>
                <a:spcPct val="100000"/>
              </a:spcBef>
            </a:pPr>
            <a:r>
              <a:rPr lang="en-US" sz="2400" dirty="0" smtClean="0"/>
              <a:t>Helps identify the broad negative and positive risks that apply to a project</a:t>
            </a:r>
          </a:p>
        </p:txBody>
      </p:sp>
      <p:sp>
        <p:nvSpPr>
          <p:cNvPr id="40962" name="Rectangle 2"/>
          <p:cNvSpPr>
            <a:spLocks noGrp="1" noChangeArrowheads="1"/>
          </p:cNvSpPr>
          <p:nvPr>
            <p:ph type="title"/>
          </p:nvPr>
        </p:nvSpPr>
        <p:spPr>
          <a:xfrm>
            <a:off x="762000" y="343228"/>
            <a:ext cx="8026400" cy="422295"/>
          </a:xfrm>
        </p:spPr>
        <p:txBody>
          <a:bodyPr/>
          <a:lstStyle/>
          <a:p>
            <a:r>
              <a:rPr lang="en-US" sz="3200" dirty="0" smtClean="0"/>
              <a:t>SWOT Analysis</a:t>
            </a:r>
          </a:p>
        </p:txBody>
      </p:sp>
      <p:sp>
        <p:nvSpPr>
          <p:cNvPr id="4096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027F6CBC-DFF7-4D05-AA3C-642E2AF79AA2}" type="slidenum">
              <a:rPr lang="en-US" smtClean="0"/>
              <a:pPr>
                <a:defRPr/>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p:txBody>
          <a:bodyPr/>
          <a:lstStyle/>
          <a:p>
            <a:r>
              <a:rPr lang="en-US" sz="2400" dirty="0" smtClean="0"/>
              <a:t>The main output of the risk identification process is a list of identified risks and other information needed to begin creating a risk register</a:t>
            </a:r>
          </a:p>
          <a:p>
            <a:r>
              <a:rPr lang="en-US" sz="2400" dirty="0" smtClean="0"/>
              <a:t>A </a:t>
            </a:r>
            <a:r>
              <a:rPr lang="en-US" sz="2400" b="1" dirty="0" smtClean="0"/>
              <a:t>risk register</a:t>
            </a:r>
            <a:r>
              <a:rPr lang="en-US" sz="2400" dirty="0" smtClean="0"/>
              <a:t> is:</a:t>
            </a:r>
            <a:endParaRPr lang="en-US" sz="2400" b="1" dirty="0" smtClean="0"/>
          </a:p>
          <a:p>
            <a:pPr lvl="1"/>
            <a:r>
              <a:rPr lang="en-US" sz="2200" dirty="0" smtClean="0"/>
              <a:t>A document that contains the results of various risk management processes and that is often displayed in a table or spreadsheet format</a:t>
            </a:r>
          </a:p>
          <a:p>
            <a:pPr lvl="1"/>
            <a:r>
              <a:rPr lang="en-US" sz="2200" dirty="0" smtClean="0"/>
              <a:t>A tool for documenting potential risk events and related information</a:t>
            </a:r>
          </a:p>
          <a:p>
            <a:r>
              <a:rPr lang="en-US" sz="2400" b="1" dirty="0" smtClean="0"/>
              <a:t>Risk events </a:t>
            </a:r>
            <a:r>
              <a:rPr lang="en-US" sz="2400" dirty="0" smtClean="0"/>
              <a:t>refer to specific, uncertain events that may occur to the detriment or enhancement of the project</a:t>
            </a:r>
          </a:p>
        </p:txBody>
      </p:sp>
      <p:sp>
        <p:nvSpPr>
          <p:cNvPr id="41986" name="Rectangle 2"/>
          <p:cNvSpPr>
            <a:spLocks noGrp="1" noChangeArrowheads="1"/>
          </p:cNvSpPr>
          <p:nvPr>
            <p:ph type="title"/>
          </p:nvPr>
        </p:nvSpPr>
        <p:spPr>
          <a:xfrm>
            <a:off x="762000" y="343229"/>
            <a:ext cx="8026400" cy="422295"/>
          </a:xfrm>
        </p:spPr>
        <p:txBody>
          <a:bodyPr/>
          <a:lstStyle/>
          <a:p>
            <a:r>
              <a:rPr lang="en-US" sz="3200" dirty="0" smtClean="0"/>
              <a:t>Risk Register</a:t>
            </a:r>
          </a:p>
        </p:txBody>
      </p:sp>
      <p:sp>
        <p:nvSpPr>
          <p:cNvPr id="4198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E8A48635-0E67-4D9F-9B26-786207B35030}" type="slidenum">
              <a:rPr lang="en-US" smtClean="0"/>
              <a:pPr>
                <a:defRPr/>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530094" y="1219200"/>
            <a:ext cx="7881938" cy="5099858"/>
          </a:xfrm>
        </p:spPr>
        <p:txBody>
          <a:bodyPr/>
          <a:lstStyle/>
          <a:p>
            <a:r>
              <a:rPr lang="en-US" sz="2800" dirty="0" smtClean="0"/>
              <a:t>Assess the likelihood and impact of identified risks to determine their magnitude and </a:t>
            </a:r>
            <a:r>
              <a:rPr lang="en-US" sz="2800" dirty="0" smtClean="0"/>
              <a:t>priority</a:t>
            </a:r>
          </a:p>
          <a:p>
            <a:pPr>
              <a:lnSpc>
                <a:spcPct val="90000"/>
              </a:lnSpc>
            </a:pPr>
            <a:r>
              <a:rPr lang="en-GB" altLang="en-US" sz="2800" dirty="0"/>
              <a:t>Assess probability, seriousness, and urgency of each risk.</a:t>
            </a:r>
          </a:p>
          <a:p>
            <a:pPr>
              <a:lnSpc>
                <a:spcPct val="90000"/>
              </a:lnSpc>
            </a:pPr>
            <a:r>
              <a:rPr lang="en-GB" altLang="en-US" sz="2800" dirty="0"/>
              <a:t>Probability may be very low, low, moderate, high or very high.</a:t>
            </a:r>
          </a:p>
          <a:p>
            <a:pPr>
              <a:lnSpc>
                <a:spcPct val="90000"/>
              </a:lnSpc>
            </a:pPr>
            <a:r>
              <a:rPr lang="en-GB" altLang="en-US" sz="2800" dirty="0"/>
              <a:t>Risk effects might be catastrophic, serious, tolerable or insignificant.</a:t>
            </a:r>
          </a:p>
          <a:p>
            <a:pPr>
              <a:lnSpc>
                <a:spcPct val="90000"/>
              </a:lnSpc>
            </a:pPr>
            <a:r>
              <a:rPr lang="en-GB" altLang="en-US" sz="2800" dirty="0"/>
              <a:t>Urgency might be immediate, short term, or long term.</a:t>
            </a:r>
          </a:p>
          <a:p>
            <a:endParaRPr lang="en-US" sz="2800" dirty="0" smtClean="0"/>
          </a:p>
        </p:txBody>
      </p:sp>
      <p:sp>
        <p:nvSpPr>
          <p:cNvPr id="46082" name="Rectangle 2"/>
          <p:cNvSpPr>
            <a:spLocks noGrp="1" noChangeArrowheads="1"/>
          </p:cNvSpPr>
          <p:nvPr>
            <p:ph type="title"/>
          </p:nvPr>
        </p:nvSpPr>
        <p:spPr/>
        <p:txBody>
          <a:bodyPr>
            <a:noAutofit/>
          </a:bodyPr>
          <a:lstStyle/>
          <a:p>
            <a:r>
              <a:rPr lang="en-US" sz="3200" dirty="0" smtClean="0"/>
              <a:t>Risk </a:t>
            </a:r>
            <a:r>
              <a:rPr lang="en-US" sz="3200" dirty="0" smtClean="0"/>
              <a:t>Analysis</a:t>
            </a:r>
          </a:p>
        </p:txBody>
      </p:sp>
      <p:sp>
        <p:nvSpPr>
          <p:cNvPr id="4608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F61167FE-60E6-4207-8A49-8520B00B1D31}" type="slidenum">
              <a:rPr lang="en-US" smtClean="0"/>
              <a:pPr>
                <a:defRPr/>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p:txBody>
          <a:bodyPr/>
          <a:lstStyle/>
          <a:p>
            <a:fld id="{9F32E1BA-6B07-439A-840C-873A27B27E72}" type="slidenum">
              <a:rPr lang="en-US" altLang="en-US"/>
              <a:pPr/>
              <a:t>25</a:t>
            </a:fld>
            <a:endParaRPr lang="en-US" altLang="en-US"/>
          </a:p>
        </p:txBody>
      </p:sp>
      <p:sp>
        <p:nvSpPr>
          <p:cNvPr id="13314" name="AutoShape 2"/>
          <p:cNvSpPr>
            <a:spLocks noGrp="1" noChangeArrowheads="1"/>
          </p:cNvSpPr>
          <p:nvPr>
            <p:ph type="title"/>
          </p:nvPr>
        </p:nvSpPr>
        <p:spPr>
          <a:xfrm>
            <a:off x="762000" y="396031"/>
            <a:ext cx="8026400" cy="316690"/>
          </a:xfrm>
        </p:spPr>
        <p:txBody>
          <a:bodyPr/>
          <a:lstStyle/>
          <a:p>
            <a:r>
              <a:rPr lang="en-US" altLang="en-US" sz="2400" dirty="0"/>
              <a:t>Analyzing </a:t>
            </a:r>
            <a:r>
              <a:rPr lang="en-US" altLang="en-US" sz="2400" dirty="0" smtClean="0"/>
              <a:t>Risk</a:t>
            </a:r>
            <a:endParaRPr lang="en-US" altLang="en-US" sz="2400" dirty="0"/>
          </a:p>
        </p:txBody>
      </p:sp>
      <p:sp>
        <p:nvSpPr>
          <p:cNvPr id="13315" name="Rectangle 3"/>
          <p:cNvSpPr>
            <a:spLocks noGrp="1" noChangeArrowheads="1"/>
          </p:cNvSpPr>
          <p:nvPr>
            <p:ph type="body" idx="1"/>
          </p:nvPr>
        </p:nvSpPr>
        <p:spPr>
          <a:xfrm>
            <a:off x="304800" y="2057400"/>
            <a:ext cx="3521075" cy="3581400"/>
          </a:xfrm>
        </p:spPr>
        <p:txBody>
          <a:bodyPr/>
          <a:lstStyle/>
          <a:p>
            <a:r>
              <a:rPr lang="en-US" altLang="en-US" dirty="0"/>
              <a:t>Subjective</a:t>
            </a:r>
          </a:p>
          <a:p>
            <a:r>
              <a:rPr lang="en-US" altLang="en-US" dirty="0"/>
              <a:t>Educated Guess</a:t>
            </a:r>
          </a:p>
          <a:p>
            <a:r>
              <a:rPr lang="en-US" altLang="en-US" dirty="0"/>
              <a:t>High, Medium, Low</a:t>
            </a:r>
          </a:p>
          <a:p>
            <a:r>
              <a:rPr lang="en-US" altLang="en-US" dirty="0"/>
              <a:t>Red, Yellow, Green</a:t>
            </a:r>
          </a:p>
          <a:p>
            <a:r>
              <a:rPr lang="en-US" altLang="en-US" dirty="0"/>
              <a:t>1-10</a:t>
            </a:r>
          </a:p>
          <a:p>
            <a:r>
              <a:rPr lang="en-US" altLang="en-US" dirty="0"/>
              <a:t>Prioritized/Ranked list of ALL identified risks</a:t>
            </a:r>
          </a:p>
          <a:p>
            <a:r>
              <a:rPr lang="en-US" altLang="en-US" dirty="0"/>
              <a:t>First step in risk analysis!</a:t>
            </a:r>
          </a:p>
        </p:txBody>
      </p:sp>
      <p:sp>
        <p:nvSpPr>
          <p:cNvPr id="6" name="Rectangle 3"/>
          <p:cNvSpPr txBox="1">
            <a:spLocks noChangeArrowheads="1"/>
          </p:cNvSpPr>
          <p:nvPr/>
        </p:nvSpPr>
        <p:spPr>
          <a:xfrm>
            <a:off x="4343400" y="2362200"/>
            <a:ext cx="4187825" cy="2966966"/>
          </a:xfrm>
          <a:prstGeom prst="rect">
            <a:avLst/>
          </a:prstGeom>
        </p:spPr>
        <p:txBody>
          <a:bodyPr vert="horz" wrap="square" lIns="0" tIns="0" rIns="0" bIns="0" rtlCol="0">
            <a:spAutoFit/>
          </a:bodyPr>
          <a:lst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90000"/>
              </a:lnSpc>
              <a:spcAft>
                <a:spcPts val="0"/>
              </a:spcAft>
            </a:pPr>
            <a:r>
              <a:rPr lang="en-US" altLang="en-US" sz="2400" dirty="0" smtClean="0"/>
              <a:t>Numerical/Statistical Analysis</a:t>
            </a:r>
          </a:p>
          <a:p>
            <a:pPr fontAlgn="auto">
              <a:lnSpc>
                <a:spcPct val="90000"/>
              </a:lnSpc>
              <a:spcAft>
                <a:spcPts val="0"/>
              </a:spcAft>
            </a:pPr>
            <a:r>
              <a:rPr lang="en-US" altLang="en-US" sz="2400" dirty="0" smtClean="0"/>
              <a:t>Determines probability of occurrence and consequences of risks</a:t>
            </a:r>
          </a:p>
          <a:p>
            <a:pPr fontAlgn="auto">
              <a:lnSpc>
                <a:spcPct val="90000"/>
              </a:lnSpc>
              <a:spcAft>
                <a:spcPts val="0"/>
              </a:spcAft>
            </a:pPr>
            <a:r>
              <a:rPr lang="en-US" altLang="en-US" sz="2400" dirty="0" smtClean="0"/>
              <a:t>Should be focused to highest risks as determined by Qualitative Risk Analysis and Risk Threshold</a:t>
            </a:r>
            <a:endParaRPr lang="en-US" altLang="en-US" sz="2400" dirty="0"/>
          </a:p>
        </p:txBody>
      </p:sp>
      <p:sp>
        <p:nvSpPr>
          <p:cNvPr id="3" name="Rectangle 2"/>
          <p:cNvSpPr/>
          <p:nvPr/>
        </p:nvSpPr>
        <p:spPr>
          <a:xfrm>
            <a:off x="4495800" y="1275791"/>
            <a:ext cx="3505200" cy="461665"/>
          </a:xfrm>
          <a:prstGeom prst="rect">
            <a:avLst/>
          </a:prstGeom>
        </p:spPr>
        <p:txBody>
          <a:bodyPr wrap="square">
            <a:spAutoFit/>
          </a:bodyPr>
          <a:lstStyle/>
          <a:p>
            <a:r>
              <a:rPr lang="en-US" altLang="en-US" sz="2400" u="sng" dirty="0">
                <a:solidFill>
                  <a:schemeClr val="tx1">
                    <a:lumMod val="75000"/>
                    <a:lumOff val="25000"/>
                  </a:schemeClr>
                </a:solidFill>
                <a:latin typeface="+mn-lt"/>
              </a:rPr>
              <a:t>Quantitative Risk Analysis</a:t>
            </a:r>
            <a:endParaRPr lang="en-GB" sz="2400" u="sng" dirty="0">
              <a:solidFill>
                <a:schemeClr val="tx1">
                  <a:lumMod val="75000"/>
                  <a:lumOff val="25000"/>
                </a:schemeClr>
              </a:solidFill>
              <a:latin typeface="+mn-lt"/>
            </a:endParaRPr>
          </a:p>
        </p:txBody>
      </p:sp>
      <p:sp>
        <p:nvSpPr>
          <p:cNvPr id="9" name="Rectangle 8"/>
          <p:cNvSpPr/>
          <p:nvPr/>
        </p:nvSpPr>
        <p:spPr>
          <a:xfrm>
            <a:off x="381000" y="1295043"/>
            <a:ext cx="3733800" cy="461665"/>
          </a:xfrm>
          <a:prstGeom prst="rect">
            <a:avLst/>
          </a:prstGeom>
        </p:spPr>
        <p:txBody>
          <a:bodyPr wrap="square">
            <a:spAutoFit/>
          </a:bodyPr>
          <a:lstStyle/>
          <a:p>
            <a:r>
              <a:rPr lang="en-US" altLang="en-US" sz="2400" u="sng" dirty="0">
                <a:solidFill>
                  <a:schemeClr val="tx1">
                    <a:lumMod val="75000"/>
                    <a:lumOff val="25000"/>
                  </a:schemeClr>
                </a:solidFill>
                <a:latin typeface="+mn-lt"/>
              </a:rPr>
              <a:t>Qualitative Risk Analysis</a:t>
            </a:r>
            <a:endParaRPr lang="en-GB" sz="2400" u="sng" dirty="0">
              <a:solidFill>
                <a:schemeClr val="tx1">
                  <a:lumMod val="75000"/>
                  <a:lumOff val="25000"/>
                </a:schemeClr>
              </a:solidFill>
              <a:latin typeface="+mn-lt"/>
            </a:endParaRPr>
          </a:p>
        </p:txBody>
      </p:sp>
    </p:spTree>
    <p:extLst>
      <p:ext uri="{BB962C8B-B14F-4D97-AF65-F5344CB8AC3E}">
        <p14:creationId xmlns:p14="http://schemas.microsoft.com/office/powerpoint/2010/main" val="21246059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304800" y="1143000"/>
            <a:ext cx="8458200" cy="3810000"/>
          </a:xfrm>
        </p:spPr>
        <p:txBody>
          <a:bodyPr/>
          <a:lstStyle/>
          <a:p>
            <a:r>
              <a:rPr lang="en-US" sz="2800" dirty="0" smtClean="0"/>
              <a:t>After identifying and quantifying risks, you must decide how to respond to them</a:t>
            </a:r>
          </a:p>
          <a:p>
            <a:r>
              <a:rPr lang="en-US" sz="2800" dirty="0" smtClean="0"/>
              <a:t>Four main response strategies for negative risks:</a:t>
            </a:r>
          </a:p>
          <a:p>
            <a:pPr lvl="1"/>
            <a:r>
              <a:rPr lang="en-US" sz="2400" dirty="0" smtClean="0"/>
              <a:t>Risk avoidance</a:t>
            </a:r>
          </a:p>
          <a:p>
            <a:pPr lvl="1"/>
            <a:r>
              <a:rPr lang="en-US" sz="2400" dirty="0" smtClean="0"/>
              <a:t>Risk acceptance</a:t>
            </a:r>
          </a:p>
          <a:p>
            <a:pPr lvl="1"/>
            <a:r>
              <a:rPr lang="en-US" sz="2400" dirty="0" smtClean="0"/>
              <a:t>Risk transference</a:t>
            </a:r>
          </a:p>
          <a:p>
            <a:pPr lvl="1"/>
            <a:r>
              <a:rPr lang="en-US" sz="2400" dirty="0" smtClean="0"/>
              <a:t>Risk mitigation</a:t>
            </a:r>
          </a:p>
        </p:txBody>
      </p:sp>
      <p:sp>
        <p:nvSpPr>
          <p:cNvPr id="62466" name="Rectangle 2"/>
          <p:cNvSpPr>
            <a:spLocks noGrp="1" noChangeArrowheads="1"/>
          </p:cNvSpPr>
          <p:nvPr>
            <p:ph type="title"/>
          </p:nvPr>
        </p:nvSpPr>
        <p:spPr>
          <a:xfrm>
            <a:off x="1066800" y="350838"/>
            <a:ext cx="8305800" cy="792162"/>
          </a:xfrm>
        </p:spPr>
        <p:txBody>
          <a:bodyPr>
            <a:normAutofit/>
          </a:bodyPr>
          <a:lstStyle/>
          <a:p>
            <a:r>
              <a:rPr lang="en-US" sz="3200" dirty="0" smtClean="0"/>
              <a:t>Planning Risk Responses</a:t>
            </a:r>
          </a:p>
        </p:txBody>
      </p:sp>
      <p:sp>
        <p:nvSpPr>
          <p:cNvPr id="6246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AF9B80BF-4B15-47CC-B710-DAF212700692}" type="slidenum">
              <a:rPr lang="en-US" smtClean="0"/>
              <a:pPr>
                <a:defRPr/>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304800" y="1524000"/>
            <a:ext cx="8458200" cy="1865126"/>
          </a:xfrm>
        </p:spPr>
        <p:txBody>
          <a:bodyPr/>
          <a:lstStyle/>
          <a:p>
            <a:r>
              <a:rPr lang="en-US" sz="2400" dirty="0" smtClean="0"/>
              <a:t>Risk exploitation</a:t>
            </a:r>
          </a:p>
          <a:p>
            <a:r>
              <a:rPr lang="en-US" sz="2400" dirty="0" smtClean="0"/>
              <a:t>Risk sharing</a:t>
            </a:r>
          </a:p>
          <a:p>
            <a:r>
              <a:rPr lang="en-US" sz="2400" dirty="0" smtClean="0"/>
              <a:t>Risk enhancement</a:t>
            </a:r>
          </a:p>
          <a:p>
            <a:r>
              <a:rPr lang="en-US" sz="2400" dirty="0" smtClean="0"/>
              <a:t>Risk acceptance</a:t>
            </a:r>
          </a:p>
        </p:txBody>
      </p:sp>
      <p:sp>
        <p:nvSpPr>
          <p:cNvPr id="64514" name="Rectangle 2"/>
          <p:cNvSpPr>
            <a:spLocks noGrp="1" noChangeArrowheads="1"/>
          </p:cNvSpPr>
          <p:nvPr>
            <p:ph type="title"/>
          </p:nvPr>
        </p:nvSpPr>
        <p:spPr>
          <a:xfrm>
            <a:off x="914400" y="228600"/>
            <a:ext cx="8382000" cy="914400"/>
          </a:xfrm>
        </p:spPr>
        <p:txBody>
          <a:bodyPr>
            <a:normAutofit/>
          </a:bodyPr>
          <a:lstStyle/>
          <a:p>
            <a:r>
              <a:rPr lang="en-US" sz="3200" dirty="0" smtClean="0"/>
              <a:t>Response Strategies for Positive Risks</a:t>
            </a:r>
          </a:p>
        </p:txBody>
      </p:sp>
      <p:sp>
        <p:nvSpPr>
          <p:cNvPr id="6451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8FE7571D-7F21-4BEA-AB98-A86F11288594}" type="slidenum">
              <a:rPr lang="en-US" smtClean="0"/>
              <a:pPr>
                <a:defRPr/>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365125" y="1538818"/>
            <a:ext cx="8415338" cy="2763834"/>
          </a:xfrm>
        </p:spPr>
        <p:txBody>
          <a:bodyPr/>
          <a:lstStyle/>
          <a:p>
            <a:r>
              <a:rPr lang="en-US" sz="2800" dirty="0" smtClean="0"/>
              <a:t>It’s also important to identify residual and secondary risks</a:t>
            </a:r>
          </a:p>
          <a:p>
            <a:r>
              <a:rPr lang="en-US" sz="2800" b="1" dirty="0" smtClean="0"/>
              <a:t>Residual risks</a:t>
            </a:r>
            <a:r>
              <a:rPr lang="en-US" sz="2800" dirty="0" smtClean="0"/>
              <a:t> are risks that remain after all of the response strategies have been implemented</a:t>
            </a:r>
          </a:p>
          <a:p>
            <a:r>
              <a:rPr lang="en-US" sz="2800" b="1" dirty="0" smtClean="0"/>
              <a:t>Secondary risks</a:t>
            </a:r>
            <a:r>
              <a:rPr lang="en-US" sz="2800" dirty="0" smtClean="0"/>
              <a:t> are a direct result of implementing a risk response</a:t>
            </a:r>
          </a:p>
        </p:txBody>
      </p:sp>
      <p:sp>
        <p:nvSpPr>
          <p:cNvPr id="65538" name="Rectangle 2"/>
          <p:cNvSpPr>
            <a:spLocks noGrp="1" noChangeArrowheads="1"/>
          </p:cNvSpPr>
          <p:nvPr>
            <p:ph type="title"/>
          </p:nvPr>
        </p:nvSpPr>
        <p:spPr>
          <a:xfrm>
            <a:off x="859971" y="527834"/>
            <a:ext cx="8305800" cy="422295"/>
          </a:xfrm>
        </p:spPr>
        <p:txBody>
          <a:bodyPr/>
          <a:lstStyle/>
          <a:p>
            <a:r>
              <a:rPr lang="en-US" sz="3200" dirty="0" smtClean="0"/>
              <a:t>Residual and Secondary Risks</a:t>
            </a:r>
          </a:p>
        </p:txBody>
      </p:sp>
      <p:sp>
        <p:nvSpPr>
          <p:cNvPr id="6554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CBE5EE92-422E-487F-9C87-A317F0017355}" type="slidenum">
              <a:rPr lang="en-US" smtClean="0"/>
              <a:pPr>
                <a:defRPr/>
              </a:pPr>
              <a:t>28</a:t>
            </a:fld>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152400" y="1143000"/>
            <a:ext cx="8991600" cy="4876800"/>
          </a:xfrm>
        </p:spPr>
        <p:txBody>
          <a:bodyPr/>
          <a:lstStyle/>
          <a:p>
            <a:r>
              <a:rPr lang="en-US" sz="2400" dirty="0" smtClean="0"/>
              <a:t>Involves executing the risk management process to respond to risk events and ensuring </a:t>
            </a:r>
            <a:r>
              <a:rPr lang="en-US" sz="2400" dirty="0"/>
              <a:t>that risk awareness is an ongoing activity performed by the </a:t>
            </a:r>
            <a:r>
              <a:rPr lang="en-US" sz="2400" dirty="0" smtClean="0"/>
              <a:t>entire project </a:t>
            </a:r>
            <a:r>
              <a:rPr lang="en-US" sz="2400" dirty="0"/>
              <a:t>team throughout the entire project</a:t>
            </a:r>
            <a:endParaRPr lang="en-US" sz="2400" dirty="0" smtClean="0"/>
          </a:p>
          <a:p>
            <a:r>
              <a:rPr lang="en-US" sz="2400" b="1" dirty="0" smtClean="0"/>
              <a:t>Workarounds </a:t>
            </a:r>
            <a:r>
              <a:rPr lang="en-US" sz="2400" dirty="0" smtClean="0"/>
              <a:t>are unplanned responses to risk events that must be done when there are no contingency plans</a:t>
            </a:r>
          </a:p>
          <a:p>
            <a:r>
              <a:rPr lang="en-US" sz="2400" dirty="0" smtClean="0"/>
              <a:t>Main outputs of risk control are:</a:t>
            </a:r>
          </a:p>
          <a:p>
            <a:pPr lvl="1"/>
            <a:r>
              <a:rPr lang="en-US" sz="2000" dirty="0" smtClean="0"/>
              <a:t>Work performance information</a:t>
            </a:r>
          </a:p>
          <a:p>
            <a:pPr lvl="1"/>
            <a:r>
              <a:rPr lang="en-US" sz="2000" dirty="0" smtClean="0"/>
              <a:t>change requests</a:t>
            </a:r>
          </a:p>
          <a:p>
            <a:pPr lvl="1"/>
            <a:r>
              <a:rPr lang="en-US" sz="2000" dirty="0" smtClean="0"/>
              <a:t>updates to the project management plan, other project documents, and organizational process assets</a:t>
            </a:r>
            <a:endParaRPr lang="en-US" sz="2400" dirty="0" smtClean="0"/>
          </a:p>
        </p:txBody>
      </p:sp>
      <p:sp>
        <p:nvSpPr>
          <p:cNvPr id="67586" name="Rectangle 2"/>
          <p:cNvSpPr>
            <a:spLocks noGrp="1" noChangeArrowheads="1"/>
          </p:cNvSpPr>
          <p:nvPr>
            <p:ph type="title"/>
          </p:nvPr>
        </p:nvSpPr>
        <p:spPr>
          <a:xfrm>
            <a:off x="835628" y="274638"/>
            <a:ext cx="8305800" cy="868362"/>
          </a:xfrm>
        </p:spPr>
        <p:txBody>
          <a:bodyPr>
            <a:normAutofit/>
          </a:bodyPr>
          <a:lstStyle/>
          <a:p>
            <a:r>
              <a:rPr lang="en-US" sz="3200" dirty="0" smtClean="0"/>
              <a:t>Monitoring </a:t>
            </a:r>
            <a:r>
              <a:rPr lang="en-US" sz="3200" dirty="0" smtClean="0"/>
              <a:t>and </a:t>
            </a:r>
            <a:r>
              <a:rPr lang="en-US" sz="3200" dirty="0" smtClean="0"/>
              <a:t>Controlling </a:t>
            </a:r>
            <a:r>
              <a:rPr lang="en-US" sz="3200" dirty="0" smtClean="0"/>
              <a:t>Risks</a:t>
            </a:r>
          </a:p>
        </p:txBody>
      </p:sp>
      <p:sp>
        <p:nvSpPr>
          <p:cNvPr id="6758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281533BC-9945-4415-AE44-7B9AF21B05E1}" type="slidenum">
              <a:rPr lang="en-US" smtClean="0"/>
              <a:pPr>
                <a:defRPr/>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04800" y="1447800"/>
            <a:ext cx="8458200" cy="2412968"/>
          </a:xfrm>
        </p:spPr>
        <p:txBody>
          <a:bodyPr/>
          <a:lstStyle/>
          <a:p>
            <a:r>
              <a:rPr lang="en-US" sz="2400" dirty="0" smtClean="0"/>
              <a:t>Unlike crisis management, good project risk management often goes unnoticed</a:t>
            </a:r>
          </a:p>
          <a:p>
            <a:r>
              <a:rPr lang="en-US" sz="2400" dirty="0" smtClean="0"/>
              <a:t>Well-run projects appear to be almost effortless, but a lot of work goes into running a project well</a:t>
            </a:r>
          </a:p>
          <a:p>
            <a:r>
              <a:rPr lang="en-US" sz="2400" dirty="0" smtClean="0"/>
              <a:t>Project managers should strive to make their jobs look easy to reflect the results of well-run projects</a:t>
            </a:r>
          </a:p>
        </p:txBody>
      </p:sp>
      <p:sp>
        <p:nvSpPr>
          <p:cNvPr id="69634" name="Rectangle 2"/>
          <p:cNvSpPr>
            <a:spLocks noGrp="1" noChangeArrowheads="1"/>
          </p:cNvSpPr>
          <p:nvPr>
            <p:ph type="title"/>
          </p:nvPr>
        </p:nvSpPr>
        <p:spPr/>
        <p:txBody>
          <a:bodyPr>
            <a:noAutofit/>
          </a:bodyPr>
          <a:lstStyle/>
          <a:p>
            <a:r>
              <a:rPr lang="en-US" sz="3200" dirty="0" smtClean="0"/>
              <a:t>Results of Good Project Risk Management</a:t>
            </a:r>
          </a:p>
        </p:txBody>
      </p:sp>
      <p:sp>
        <p:nvSpPr>
          <p:cNvPr id="6963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C022DA2C-E156-4E5C-B119-0689D3C0A598}" type="slidenum">
              <a:rPr lang="en-US" smtClean="0"/>
              <a:pPr>
                <a:defRPr/>
              </a:pPr>
              <a:t>30</a:t>
            </a:fld>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a:xfrm>
            <a:off x="365125" y="1371600"/>
            <a:ext cx="8415338" cy="4072903"/>
          </a:xfrm>
        </p:spPr>
        <p:txBody>
          <a:bodyPr/>
          <a:lstStyle/>
          <a:p>
            <a:pPr>
              <a:lnSpc>
                <a:spcPct val="90000"/>
              </a:lnSpc>
            </a:pPr>
            <a:r>
              <a:rPr lang="en-US" sz="2400" dirty="0" smtClean="0"/>
              <a:t>Project risk management is the art and science of identifying, analyzing, and responding to risk throughout the life of a project and in the best interests of meeting project objectives</a:t>
            </a:r>
          </a:p>
          <a:p>
            <a:pPr>
              <a:lnSpc>
                <a:spcPct val="90000"/>
              </a:lnSpc>
            </a:pPr>
            <a:r>
              <a:rPr lang="en-US" sz="2400" dirty="0" smtClean="0"/>
              <a:t>Main processes include:</a:t>
            </a:r>
          </a:p>
          <a:p>
            <a:pPr lvl="1">
              <a:lnSpc>
                <a:spcPct val="90000"/>
              </a:lnSpc>
            </a:pPr>
            <a:r>
              <a:rPr lang="en-US" sz="2000" dirty="0" smtClean="0"/>
              <a:t>Plan risk management</a:t>
            </a:r>
          </a:p>
          <a:p>
            <a:pPr lvl="1">
              <a:lnSpc>
                <a:spcPct val="90000"/>
              </a:lnSpc>
            </a:pPr>
            <a:r>
              <a:rPr lang="en-US" sz="2000" dirty="0" smtClean="0"/>
              <a:t>Identify risks</a:t>
            </a:r>
          </a:p>
          <a:p>
            <a:pPr lvl="1">
              <a:lnSpc>
                <a:spcPct val="90000"/>
              </a:lnSpc>
            </a:pPr>
            <a:r>
              <a:rPr lang="en-US" sz="2000" dirty="0" smtClean="0"/>
              <a:t>Perform qualitative risk analysis</a:t>
            </a:r>
          </a:p>
          <a:p>
            <a:pPr lvl="1">
              <a:lnSpc>
                <a:spcPct val="90000"/>
              </a:lnSpc>
            </a:pPr>
            <a:r>
              <a:rPr lang="en-US" sz="2000" dirty="0" smtClean="0"/>
              <a:t>Perform quantitative risk analysis</a:t>
            </a:r>
          </a:p>
          <a:p>
            <a:pPr lvl="1">
              <a:lnSpc>
                <a:spcPct val="90000"/>
              </a:lnSpc>
            </a:pPr>
            <a:r>
              <a:rPr lang="en-US" sz="2000" dirty="0" smtClean="0"/>
              <a:t>Plan risk responses</a:t>
            </a:r>
          </a:p>
          <a:p>
            <a:pPr lvl="1">
              <a:lnSpc>
                <a:spcPct val="90000"/>
              </a:lnSpc>
            </a:pPr>
            <a:r>
              <a:rPr lang="en-US" sz="2000" dirty="0" smtClean="0"/>
              <a:t>Control risks</a:t>
            </a:r>
          </a:p>
          <a:p>
            <a:pPr lvl="1">
              <a:lnSpc>
                <a:spcPct val="80000"/>
              </a:lnSpc>
            </a:pPr>
            <a:endParaRPr lang="en-US" dirty="0" smtClean="0"/>
          </a:p>
        </p:txBody>
      </p:sp>
      <p:sp>
        <p:nvSpPr>
          <p:cNvPr id="70658" name="Rectangle 2"/>
          <p:cNvSpPr>
            <a:spLocks noGrp="1" noChangeArrowheads="1"/>
          </p:cNvSpPr>
          <p:nvPr>
            <p:ph type="title"/>
          </p:nvPr>
        </p:nvSpPr>
        <p:spPr>
          <a:xfrm>
            <a:off x="990600" y="381000"/>
            <a:ext cx="8305800" cy="422295"/>
          </a:xfrm>
        </p:spPr>
        <p:txBody>
          <a:bodyPr/>
          <a:lstStyle/>
          <a:p>
            <a:r>
              <a:rPr lang="en-US" sz="3200" dirty="0" smtClean="0"/>
              <a:t>Chapter Summary</a:t>
            </a:r>
          </a:p>
        </p:txBody>
      </p:sp>
      <p:sp>
        <p:nvSpPr>
          <p:cNvPr id="7066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endParaRPr lang="en-US" dirty="0" smtClean="0"/>
          </a:p>
        </p:txBody>
      </p:sp>
      <p:sp>
        <p:nvSpPr>
          <p:cNvPr id="6" name="Slide Number Placeholder 5"/>
          <p:cNvSpPr>
            <a:spLocks noGrp="1"/>
          </p:cNvSpPr>
          <p:nvPr>
            <p:ph type="sldNum" sz="quarter" idx="4294967295"/>
          </p:nvPr>
        </p:nvSpPr>
        <p:spPr>
          <a:xfrm>
            <a:off x="8588375" y="6492875"/>
            <a:ext cx="555625" cy="365125"/>
          </a:xfrm>
          <a:prstGeom prst="rect">
            <a:avLst/>
          </a:prstGeom>
        </p:spPr>
        <p:txBody>
          <a:bodyPr/>
          <a:lstStyle/>
          <a:p>
            <a:pPr>
              <a:defRPr/>
            </a:pPr>
            <a:fld id="{2141E065-B20F-4D43-B684-C7ED378BA178}" type="slidenum">
              <a:rPr lang="en-US" smtClean="0"/>
              <a:pPr>
                <a:defRPr/>
              </a:pPr>
              <a:t>31</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 Cengag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 Cengage" id="{22112E61-9843-402D-AAC3-001F96583965}" vid="{C6D58800-E948-48AB-8A0B-0B9965B3E0CB}"/>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4575</TotalTime>
  <Words>3394</Words>
  <Application>Microsoft Office PowerPoint</Application>
  <PresentationFormat>On-screen Show (4:3)</PresentationFormat>
  <Paragraphs>400</Paragraphs>
  <Slides>31</Slides>
  <Notes>18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0" baseType="lpstr">
      <vt:lpstr>Arial</vt:lpstr>
      <vt:lpstr>Arial Rounded MT Bold</vt:lpstr>
      <vt:lpstr>Calibri</vt:lpstr>
      <vt:lpstr>Calibri Light</vt:lpstr>
      <vt:lpstr>Times New Roman</vt:lpstr>
      <vt:lpstr>Wingdings</vt:lpstr>
      <vt:lpstr>Custom Design</vt:lpstr>
      <vt:lpstr>Theme Cengage</vt:lpstr>
      <vt:lpstr>Document</vt:lpstr>
      <vt:lpstr>Chapter 11: Project Risk Management</vt:lpstr>
      <vt:lpstr>Learning Objectives</vt:lpstr>
      <vt:lpstr>What is Project Risk?</vt:lpstr>
      <vt:lpstr>Why manage risks?</vt:lpstr>
      <vt:lpstr>The Importance of Project Risk Management</vt:lpstr>
      <vt:lpstr>Positive and Negative Risk</vt:lpstr>
      <vt:lpstr>Risk Utility</vt:lpstr>
      <vt:lpstr>Project Risk Management Processes</vt:lpstr>
      <vt:lpstr>Figure 11-3. Project Risk Management Summary</vt:lpstr>
      <vt:lpstr>Planning Risk Management</vt:lpstr>
      <vt:lpstr>Topics Addressed in a Risk Management Plan</vt:lpstr>
      <vt:lpstr>Contingency and Fallback Plans, Contingency Reserves</vt:lpstr>
      <vt:lpstr>Common Sources of Risk in Information Technology Projects</vt:lpstr>
      <vt:lpstr>Table 11-3. IT Success Potential Scoring Sheet</vt:lpstr>
      <vt:lpstr>Broad Categories of Risk</vt:lpstr>
      <vt:lpstr>Risk Breakdown Structure</vt:lpstr>
      <vt:lpstr>Potential Negative Risk Conditions Associated With Each Knowledge Area</vt:lpstr>
      <vt:lpstr>Identifying Risks</vt:lpstr>
      <vt:lpstr>Brainstorming</vt:lpstr>
      <vt:lpstr>Delphi Technique</vt:lpstr>
      <vt:lpstr>Interviewing</vt:lpstr>
      <vt:lpstr>SWOT Analysis</vt:lpstr>
      <vt:lpstr>Risk Register</vt:lpstr>
      <vt:lpstr>Risk Analysis</vt:lpstr>
      <vt:lpstr>Analyzing Risk</vt:lpstr>
      <vt:lpstr>Planning Risk Responses</vt:lpstr>
      <vt:lpstr>Response Strategies for Positive Risks</vt:lpstr>
      <vt:lpstr>Residual and Secondary Risks</vt:lpstr>
      <vt:lpstr>Monitoring and Controlling Risks</vt:lpstr>
      <vt:lpstr>Results of Good Project Risk Management</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Siphokazi Tswane</cp:lastModifiedBy>
  <cp:revision>204</cp:revision>
  <dcterms:created xsi:type="dcterms:W3CDTF">2001-07-05T23:10:12Z</dcterms:created>
  <dcterms:modified xsi:type="dcterms:W3CDTF">2020-10-26T10:21:27Z</dcterms:modified>
</cp:coreProperties>
</file>