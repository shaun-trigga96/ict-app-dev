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1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5" r:id="rId9"/>
    <p:sldId id="264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4" autoAdjust="0"/>
    <p:restoredTop sz="94660"/>
  </p:normalViewPr>
  <p:slideViewPr>
    <p:cSldViewPr snapToGrid="0">
      <p:cViewPr varScale="1">
        <p:scale>
          <a:sx n="59" d="100"/>
          <a:sy n="59" d="100"/>
        </p:scale>
        <p:origin x="77" y="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00B27-DE4C-4B9E-BB11-B9027034A00F}" type="datetimeFigureOut">
              <a:rPr lang="en-US" smtClean="0"/>
              <a:pPr/>
              <a:t>10/28/2020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407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1FCE-E4BB-4680-8E50-3C0E348D2609}" type="datetimeFigureOut">
              <a:rPr lang="en-US" smtClean="0"/>
              <a:t>10/28/2020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964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smtClean="0"/>
              <a:t>10/28/2020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236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smtClean="0"/>
              <a:t>10/28/2020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168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smtClean="0"/>
              <a:t>10/28/2020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900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smtClean="0"/>
              <a:t>10/28/2020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03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smtClean="0"/>
              <a:t>10/28/2020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812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smtClean="0"/>
              <a:t>10/28/2020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71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smtClean="0"/>
              <a:t>10/28/2020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472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4739-9812-4A9F-890D-2AD6BA5F6EE8}" type="datetimeFigureOut">
              <a:rPr lang="en-US" smtClean="0"/>
              <a:t>10/28/2020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80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5AC5-A3F8-44AA-BA8F-596CDCC976D3}" type="datetimeFigureOut">
              <a:rPr lang="en-US" smtClean="0"/>
              <a:t>10/28/2020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207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B183-A821-4095-A363-9EC968635539}" type="datetimeFigureOut">
              <a:rPr lang="en-US" smtClean="0"/>
              <a:t>10/28/2020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0240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01B4-0AA5-45E6-B2E6-5FA4078AEBCF}" type="datetimeFigureOut">
              <a:rPr lang="en-US" smtClean="0"/>
              <a:t>10/28/2020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19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335C-0450-40D7-8612-B3203BED4F28}" type="datetimeFigureOut">
              <a:rPr lang="en-US" smtClean="0"/>
              <a:t>10/28/2020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411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105-2A1C-4284-B4EA-07CF89B1A393}" type="datetimeFigureOut">
              <a:rPr lang="en-US" smtClean="0"/>
              <a:t>10/28/2020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1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smtClean="0"/>
              <a:t>10/28/2020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715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smtClean="0"/>
              <a:t>10/28/2020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00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E0D914D-B099-4142-A885-11F276715148}" type="datetimeFigureOut">
              <a:rPr lang="en-US" smtClean="0"/>
              <a:t>10/28/2020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0159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Website &amp; JavaScript Features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PROGRAMMING 1 ONLINE CLASS</a:t>
            </a:r>
          </a:p>
          <a:p>
            <a:r>
              <a:rPr lang="en-US" dirty="0" smtClean="0"/>
              <a:t>21 October 2020</a:t>
            </a:r>
            <a:endParaRPr lang="en-GB" dirty="0"/>
          </a:p>
        </p:txBody>
      </p:sp>
      <p:pic>
        <p:nvPicPr>
          <p:cNvPr id="4" name="Picture 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31" t="19729" r="14389" b="68891"/>
          <a:stretch/>
        </p:blipFill>
        <p:spPr bwMode="auto">
          <a:xfrm>
            <a:off x="1" y="0"/>
            <a:ext cx="3813048" cy="115214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99986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0318" y="1534510"/>
            <a:ext cx="9219536" cy="471388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Login Forms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Form Validation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err="1" smtClean="0"/>
              <a:t>Javascript</a:t>
            </a:r>
            <a:r>
              <a:rPr lang="en-US" sz="3200" dirty="0" smtClean="0"/>
              <a:t> JSON – data elements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387203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Login Forms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4672" y="1372260"/>
            <a:ext cx="5690782" cy="43750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Oval 4"/>
          <p:cNvSpPr/>
          <p:nvPr/>
        </p:nvSpPr>
        <p:spPr>
          <a:xfrm>
            <a:off x="8046294" y="869511"/>
            <a:ext cx="1851779" cy="1609344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9124944" y="2804982"/>
            <a:ext cx="1851779" cy="1609344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7679103" y="4584514"/>
            <a:ext cx="1851779" cy="1609344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Left Arrow 7"/>
          <p:cNvSpPr/>
          <p:nvPr/>
        </p:nvSpPr>
        <p:spPr>
          <a:xfrm>
            <a:off x="7473801" y="3287977"/>
            <a:ext cx="1767630" cy="283779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eft Arrow 8"/>
          <p:cNvSpPr/>
          <p:nvPr/>
        </p:nvSpPr>
        <p:spPr>
          <a:xfrm rot="1736580">
            <a:off x="6315801" y="4498951"/>
            <a:ext cx="1767630" cy="283779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Left Arrow 9"/>
          <p:cNvSpPr/>
          <p:nvPr/>
        </p:nvSpPr>
        <p:spPr>
          <a:xfrm rot="20105136">
            <a:off x="6589986" y="1799403"/>
            <a:ext cx="1767630" cy="283779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9422407" y="1178954"/>
            <a:ext cx="190949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HTML</a:t>
            </a:r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172570" y="3717945"/>
            <a:ext cx="14366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CSS</a:t>
            </a:r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852136" y="5344524"/>
            <a:ext cx="86273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JS</a:t>
            </a:r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80940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676" y="1271752"/>
            <a:ext cx="11750565" cy="49766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&lt;body&gt;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&lt;h2&gt;Login Form&lt;/h2&gt;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&lt;form action="/</a:t>
            </a:r>
            <a:r>
              <a:rPr lang="en-GB" dirty="0" err="1"/>
              <a:t>action_page.php</a:t>
            </a:r>
            <a:r>
              <a:rPr lang="en-GB" dirty="0"/>
              <a:t>" method="post"&gt;</a:t>
            </a:r>
          </a:p>
          <a:p>
            <a:pPr marL="0" indent="0">
              <a:buNone/>
            </a:pPr>
            <a:r>
              <a:rPr lang="en-GB" dirty="0"/>
              <a:t>  &lt;div class="</a:t>
            </a:r>
            <a:r>
              <a:rPr lang="en-GB" dirty="0" err="1"/>
              <a:t>imgcontainer</a:t>
            </a:r>
            <a:r>
              <a:rPr lang="en-GB" dirty="0"/>
              <a:t>"&gt;</a:t>
            </a:r>
          </a:p>
          <a:p>
            <a:pPr marL="0" indent="0">
              <a:buNone/>
            </a:pPr>
            <a:r>
              <a:rPr lang="en-GB" dirty="0"/>
              <a:t>    &lt;</a:t>
            </a:r>
            <a:r>
              <a:rPr lang="en-GB" dirty="0" err="1"/>
              <a:t>img</a:t>
            </a:r>
            <a:r>
              <a:rPr lang="en-GB" dirty="0"/>
              <a:t> </a:t>
            </a:r>
            <a:r>
              <a:rPr lang="en-GB" dirty="0" err="1"/>
              <a:t>src</a:t>
            </a:r>
            <a:r>
              <a:rPr lang="en-GB" dirty="0"/>
              <a:t>="img_avatar2.png" alt="Avatar" class="avatar"&gt;</a:t>
            </a:r>
          </a:p>
          <a:p>
            <a:pPr marL="0" indent="0">
              <a:buNone/>
            </a:pPr>
            <a:r>
              <a:rPr lang="en-GB" dirty="0"/>
              <a:t>  &lt;/div&gt;</a:t>
            </a:r>
          </a:p>
          <a:p>
            <a:pPr marL="0" indent="0">
              <a:buNone/>
            </a:pPr>
            <a:r>
              <a:rPr lang="en-US" dirty="0" smtClean="0"/>
              <a:t>…..</a:t>
            </a:r>
            <a:endParaRPr lang="en-GB" dirty="0"/>
          </a:p>
          <a:p>
            <a:pPr marL="0" indent="0">
              <a:buNone/>
            </a:pPr>
            <a:r>
              <a:rPr lang="en-GB" dirty="0" smtClean="0"/>
              <a:t>&lt;/</a:t>
            </a:r>
            <a:r>
              <a:rPr lang="en-GB" dirty="0"/>
              <a:t>form&gt;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&lt;/body&gt;</a:t>
            </a:r>
          </a:p>
        </p:txBody>
      </p:sp>
    </p:spTree>
    <p:extLst>
      <p:ext uri="{BB962C8B-B14F-4D97-AF65-F5344CB8AC3E}">
        <p14:creationId xmlns:p14="http://schemas.microsoft.com/office/powerpoint/2010/main" val="384605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8523"/>
          </a:xfrm>
        </p:spPr>
        <p:txBody>
          <a:bodyPr/>
          <a:lstStyle/>
          <a:p>
            <a:r>
              <a:rPr lang="en-US" dirty="0" smtClean="0"/>
              <a:t>CSS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501" y="1261241"/>
            <a:ext cx="5194347" cy="4195481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body {font-family: Arial, Helvetica, sans-serif;}</a:t>
            </a:r>
          </a:p>
          <a:p>
            <a:pPr marL="0" indent="0">
              <a:buNone/>
            </a:pPr>
            <a:r>
              <a:rPr lang="en-GB" dirty="0"/>
              <a:t>form {border: 3px solid #f1f1f1;}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input[type=text], input[type=password] {</a:t>
            </a:r>
          </a:p>
          <a:p>
            <a:pPr marL="0" indent="0">
              <a:buNone/>
            </a:pPr>
            <a:r>
              <a:rPr lang="en-GB" dirty="0"/>
              <a:t>  width: 100%;</a:t>
            </a:r>
          </a:p>
          <a:p>
            <a:pPr marL="0" indent="0">
              <a:buNone/>
            </a:pPr>
            <a:r>
              <a:rPr lang="en-GB" dirty="0"/>
              <a:t>  padding: 12px 20px;</a:t>
            </a:r>
          </a:p>
          <a:p>
            <a:pPr marL="0" indent="0">
              <a:buNone/>
            </a:pPr>
            <a:r>
              <a:rPr lang="en-GB" dirty="0"/>
              <a:t>  margin: 8px 0;</a:t>
            </a:r>
          </a:p>
          <a:p>
            <a:pPr marL="0" indent="0">
              <a:buNone/>
            </a:pPr>
            <a:r>
              <a:rPr lang="en-GB" dirty="0"/>
              <a:t>  display: inline-block;</a:t>
            </a:r>
          </a:p>
          <a:p>
            <a:pPr marL="0" indent="0">
              <a:buNone/>
            </a:pPr>
            <a:r>
              <a:rPr lang="en-GB" dirty="0"/>
              <a:t>  border: 1px solid #ccc;</a:t>
            </a:r>
          </a:p>
          <a:p>
            <a:pPr marL="0" indent="0">
              <a:buNone/>
            </a:pPr>
            <a:r>
              <a:rPr lang="en-GB" dirty="0"/>
              <a:t>  box-sizing: border-box;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967639" y="1432807"/>
            <a:ext cx="4952609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GB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372287" y="2364827"/>
            <a:ext cx="5194347" cy="41954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GB" dirty="0"/>
              <a:t>button {</a:t>
            </a:r>
          </a:p>
          <a:p>
            <a:pPr marL="0" indent="0">
              <a:buNone/>
            </a:pPr>
            <a:r>
              <a:rPr lang="en-GB" dirty="0"/>
              <a:t>  background-</a:t>
            </a:r>
            <a:r>
              <a:rPr lang="en-GB" dirty="0" err="1"/>
              <a:t>color</a:t>
            </a:r>
            <a:r>
              <a:rPr lang="en-GB" dirty="0"/>
              <a:t>: #4CAF50;</a:t>
            </a:r>
          </a:p>
          <a:p>
            <a:pPr marL="0" indent="0">
              <a:buNone/>
            </a:pPr>
            <a:r>
              <a:rPr lang="en-GB" dirty="0"/>
              <a:t>  </a:t>
            </a:r>
            <a:r>
              <a:rPr lang="en-GB" dirty="0" err="1"/>
              <a:t>color</a:t>
            </a:r>
            <a:r>
              <a:rPr lang="en-GB" dirty="0"/>
              <a:t>: white;</a:t>
            </a:r>
          </a:p>
          <a:p>
            <a:pPr marL="0" indent="0">
              <a:buNone/>
            </a:pPr>
            <a:r>
              <a:rPr lang="en-GB" dirty="0"/>
              <a:t>  padding: 14px 20px;</a:t>
            </a:r>
          </a:p>
          <a:p>
            <a:pPr marL="0" indent="0">
              <a:buNone/>
            </a:pPr>
            <a:r>
              <a:rPr lang="en-GB" dirty="0"/>
              <a:t>  margin: 8px 0;</a:t>
            </a:r>
          </a:p>
          <a:p>
            <a:pPr marL="0" indent="0">
              <a:buNone/>
            </a:pPr>
            <a:r>
              <a:rPr lang="en-GB" dirty="0"/>
              <a:t>  border: none;</a:t>
            </a:r>
          </a:p>
          <a:p>
            <a:pPr marL="0" indent="0">
              <a:buNone/>
            </a:pPr>
            <a:r>
              <a:rPr lang="en-GB" dirty="0"/>
              <a:t>  cursor: pointer;</a:t>
            </a:r>
          </a:p>
          <a:p>
            <a:pPr marL="0" indent="0">
              <a:buNone/>
            </a:pPr>
            <a:r>
              <a:rPr lang="en-GB" dirty="0"/>
              <a:t>  width: 100%;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err="1"/>
              <a:t>button:hover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opacity: 0.8;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02156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19034"/>
          </a:xfrm>
        </p:spPr>
        <p:txBody>
          <a:bodyPr/>
          <a:lstStyle/>
          <a:p>
            <a:r>
              <a:rPr lang="en-US" dirty="0" smtClean="0"/>
              <a:t>JavaScript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8276" y="1376856"/>
            <a:ext cx="10110952" cy="4871544"/>
          </a:xfrm>
        </p:spPr>
        <p:txBody>
          <a:bodyPr/>
          <a:lstStyle/>
          <a:p>
            <a:r>
              <a:rPr lang="en-US" dirty="0" smtClean="0"/>
              <a:t>The Actions to be taken when for instance:</a:t>
            </a:r>
          </a:p>
          <a:p>
            <a:pPr lvl="1"/>
            <a:r>
              <a:rPr lang="en-US" dirty="0" smtClean="0"/>
              <a:t>A button is pressed</a:t>
            </a:r>
          </a:p>
          <a:p>
            <a:r>
              <a:rPr lang="en-US" dirty="0" smtClean="0"/>
              <a:t>Is normally called as a function</a:t>
            </a:r>
          </a:p>
          <a:p>
            <a:pPr lvl="1"/>
            <a:r>
              <a:rPr lang="en-US" dirty="0" smtClean="0"/>
              <a:t>Validate()</a:t>
            </a:r>
          </a:p>
          <a:p>
            <a:pPr lvl="1"/>
            <a:r>
              <a:rPr lang="en-US" dirty="0" err="1" smtClean="0"/>
              <a:t>onclick</a:t>
            </a:r>
            <a:r>
              <a:rPr lang="en-US" dirty="0" smtClean="0"/>
              <a:t>  is an attribute of a button element</a:t>
            </a:r>
          </a:p>
          <a:p>
            <a:pPr lvl="1"/>
            <a:r>
              <a:rPr lang="en-US" dirty="0" err="1" smtClean="0"/>
              <a:t>Eg</a:t>
            </a:r>
            <a:r>
              <a:rPr lang="en-US" dirty="0" smtClean="0"/>
              <a:t>.     </a:t>
            </a:r>
            <a:r>
              <a:rPr lang="en-US" b="1" i="1" dirty="0" smtClean="0"/>
              <a:t>(The line below appears in the html section)</a:t>
            </a:r>
          </a:p>
          <a:p>
            <a:pPr lvl="1"/>
            <a:r>
              <a:rPr lang="en-US" sz="2000" b="1" dirty="0"/>
              <a:t>&lt;input type="button" value="Login" id="submit" </a:t>
            </a:r>
            <a:r>
              <a:rPr lang="en-US" sz="2000" b="1" dirty="0" err="1"/>
              <a:t>onclick</a:t>
            </a:r>
            <a:r>
              <a:rPr lang="en-US" sz="2000" b="1" dirty="0"/>
              <a:t>="validate()"/&gt;</a:t>
            </a: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1392803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JSON</a:t>
            </a:r>
            <a:br>
              <a:rPr lang="en-US" dirty="0" smtClean="0"/>
            </a:br>
            <a:r>
              <a:rPr lang="en-GB" b="1" dirty="0"/>
              <a:t>What is JSON?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1776248"/>
            <a:ext cx="10694550" cy="1868289"/>
          </a:xfrm>
        </p:spPr>
        <p:txBody>
          <a:bodyPr/>
          <a:lstStyle/>
          <a:p>
            <a:r>
              <a:rPr lang="en-GB" dirty="0" smtClean="0"/>
              <a:t>JSON </a:t>
            </a:r>
            <a:r>
              <a:rPr lang="en-GB" dirty="0"/>
              <a:t>stands for </a:t>
            </a:r>
            <a:r>
              <a:rPr lang="en-GB" b="1" dirty="0"/>
              <a:t>J</a:t>
            </a:r>
            <a:r>
              <a:rPr lang="en-GB" dirty="0"/>
              <a:t>ava</a:t>
            </a:r>
            <a:r>
              <a:rPr lang="en-GB" b="1" dirty="0"/>
              <a:t>S</a:t>
            </a:r>
            <a:r>
              <a:rPr lang="en-GB" dirty="0"/>
              <a:t>cript </a:t>
            </a:r>
            <a:r>
              <a:rPr lang="en-GB" b="1" dirty="0"/>
              <a:t>O</a:t>
            </a:r>
            <a:r>
              <a:rPr lang="en-GB" dirty="0"/>
              <a:t>bject </a:t>
            </a:r>
            <a:r>
              <a:rPr lang="en-GB" b="1" dirty="0"/>
              <a:t>N</a:t>
            </a:r>
            <a:r>
              <a:rPr lang="en-GB" dirty="0"/>
              <a:t>otation </a:t>
            </a:r>
          </a:p>
          <a:p>
            <a:r>
              <a:rPr lang="en-US" dirty="0" smtClean="0"/>
              <a:t>JSON </a:t>
            </a:r>
            <a:r>
              <a:rPr lang="en-US" dirty="0"/>
              <a:t>is a lightweight data interchange format </a:t>
            </a:r>
          </a:p>
          <a:p>
            <a:r>
              <a:rPr lang="en-GB" dirty="0" smtClean="0"/>
              <a:t>JSON </a:t>
            </a:r>
            <a:r>
              <a:rPr lang="en-GB" dirty="0"/>
              <a:t>is language independent </a:t>
            </a:r>
            <a:r>
              <a:rPr lang="en-GB" b="1" dirty="0"/>
              <a:t>* </a:t>
            </a:r>
            <a:endParaRPr lang="en-GB" dirty="0"/>
          </a:p>
          <a:p>
            <a:r>
              <a:rPr lang="en-US" dirty="0" smtClean="0"/>
              <a:t>JSON </a:t>
            </a:r>
            <a:r>
              <a:rPr lang="en-US" dirty="0"/>
              <a:t>is "self-describing" and easy to understand </a:t>
            </a:r>
          </a:p>
          <a:p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1110343" y="3767738"/>
            <a:ext cx="8765177" cy="15696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222222"/>
                </a:solidFill>
                <a:latin typeface="Source Sans Pro"/>
              </a:rPr>
              <a:t>JSON is used to store information in an organized, and easy-to-access manner. Its full form is</a:t>
            </a:r>
            <a:r>
              <a:rPr lang="en-US" sz="2400" b="1" dirty="0">
                <a:solidFill>
                  <a:srgbClr val="222222"/>
                </a:solidFill>
                <a:latin typeface="Source Sans Pro"/>
              </a:rPr>
              <a:t> </a:t>
            </a:r>
            <a:r>
              <a:rPr lang="en-US" sz="2400" dirty="0">
                <a:solidFill>
                  <a:srgbClr val="222222"/>
                </a:solidFill>
                <a:latin typeface="Source Sans Pro"/>
              </a:rPr>
              <a:t>JavaScript Object Notation. It offers a human-readable collection of data which can be accessed logically.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972289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40505"/>
          </a:xfrm>
        </p:spPr>
        <p:txBody>
          <a:bodyPr/>
          <a:lstStyle/>
          <a:p>
            <a:r>
              <a:rPr lang="en-US" sz="4000" dirty="0" smtClean="0"/>
              <a:t>JSON Syntax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8168" y="1293223"/>
            <a:ext cx="10168953" cy="5074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800" dirty="0"/>
              <a:t>v</a:t>
            </a:r>
            <a:r>
              <a:rPr lang="en-GB" sz="2800" dirty="0" smtClean="0"/>
              <a:t>ar   </a:t>
            </a:r>
            <a:r>
              <a:rPr lang="en-GB" sz="2800" dirty="0" err="1"/>
              <a:t>json</a:t>
            </a:r>
            <a:r>
              <a:rPr lang="en-GB" sz="2800" dirty="0"/>
              <a:t>-object-name = { string : number_value,......}</a:t>
            </a:r>
          </a:p>
          <a:p>
            <a:endParaRPr lang="en-GB" sz="28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46111" y="2053671"/>
            <a:ext cx="4936084" cy="84050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dirty="0" smtClean="0"/>
              <a:t>Example</a:t>
            </a:r>
            <a:endParaRPr lang="en-GB" sz="40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767684" y="2867124"/>
            <a:ext cx="5606990" cy="236873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GB" sz="28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var   emp = {name: “Sally”, </a:t>
            </a:r>
          </a:p>
          <a:p>
            <a:pPr marL="0" indent="0">
              <a:buFont typeface="Wingdings 3" charset="2"/>
              <a:buNone/>
            </a:pPr>
            <a:r>
              <a:rPr lang="en-GB" sz="28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  <a:r>
              <a:rPr lang="en-GB" sz="28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                      “Salary”: 2600, </a:t>
            </a:r>
          </a:p>
          <a:p>
            <a:pPr marL="0" indent="0">
              <a:buFont typeface="Wingdings 3" charset="2"/>
              <a:buNone/>
            </a:pPr>
            <a:r>
              <a:rPr lang="en-GB" sz="28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  <a:r>
              <a:rPr lang="en-GB" sz="28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                      “depart”: “Sales”, </a:t>
            </a:r>
          </a:p>
          <a:p>
            <a:pPr marL="0" indent="0">
              <a:buFont typeface="Wingdings 3" charset="2"/>
              <a:buNone/>
            </a:pPr>
            <a:r>
              <a:rPr lang="en-GB" sz="28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  <a:r>
              <a:rPr lang="en-GB" sz="28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                      active: true}</a:t>
            </a:r>
          </a:p>
          <a:p>
            <a:endParaRPr lang="en-GB" sz="28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6544492" y="3648857"/>
            <a:ext cx="5473338" cy="84050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i="1" dirty="0"/>
              <a:t>Rules for JSON Syntax</a:t>
            </a:r>
            <a:endParaRPr lang="en-GB" sz="3600" i="1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544492" y="4331590"/>
            <a:ext cx="5473338" cy="2368734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 smtClean="0"/>
              <a:t>Data should be in name/value pairs</a:t>
            </a:r>
          </a:p>
          <a:p>
            <a:r>
              <a:rPr lang="en-US" dirty="0" smtClean="0"/>
              <a:t>Data should be separated by commas</a:t>
            </a:r>
          </a:p>
          <a:p>
            <a:r>
              <a:rPr lang="en-US" dirty="0" smtClean="0"/>
              <a:t>Curly braces should hold objects</a:t>
            </a:r>
          </a:p>
          <a:p>
            <a:r>
              <a:rPr lang="en-US" dirty="0" smtClean="0"/>
              <a:t>Square brackets hold arrays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3550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697" y="452718"/>
            <a:ext cx="9698137" cy="1023385"/>
          </a:xfrm>
        </p:spPr>
        <p:txBody>
          <a:bodyPr/>
          <a:lstStyle/>
          <a:p>
            <a:r>
              <a:rPr lang="en-GB" b="1" dirty="0"/>
              <a:t>Data Types in </a:t>
            </a:r>
            <a:r>
              <a:rPr lang="en-GB" b="1" dirty="0" smtClean="0"/>
              <a:t>JSON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180" y="1358538"/>
            <a:ext cx="9592654" cy="4863737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80" y="1358538"/>
            <a:ext cx="11395938" cy="515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241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263" y="452718"/>
            <a:ext cx="9580571" cy="762128"/>
          </a:xfrm>
        </p:spPr>
        <p:txBody>
          <a:bodyPr/>
          <a:lstStyle/>
          <a:p>
            <a:r>
              <a:rPr lang="en-US" dirty="0" smtClean="0"/>
              <a:t>Example - Write to page content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264" y="1449978"/>
            <a:ext cx="9579590" cy="4798422"/>
          </a:xfrm>
        </p:spPr>
        <p:txBody>
          <a:bodyPr/>
          <a:lstStyle/>
          <a:p>
            <a:pPr marL="0" indent="0">
              <a:buNone/>
            </a:pPr>
            <a:r>
              <a:rPr lang="en-GB" sz="2400" dirty="0"/>
              <a:t>var </a:t>
            </a:r>
            <a:r>
              <a:rPr lang="en-GB" sz="2400" dirty="0" err="1"/>
              <a:t>myJSON</a:t>
            </a:r>
            <a:r>
              <a:rPr lang="en-GB" sz="2400" dirty="0"/>
              <a:t> = '{"</a:t>
            </a:r>
            <a:r>
              <a:rPr lang="en-GB" sz="2400" dirty="0" err="1"/>
              <a:t>name":"John</a:t>
            </a:r>
            <a:r>
              <a:rPr lang="en-GB" sz="2400" dirty="0" smtClean="0"/>
              <a:t>",</a:t>
            </a:r>
          </a:p>
          <a:p>
            <a:pPr marL="0" indent="0">
              <a:buNone/>
            </a:pPr>
            <a:r>
              <a:rPr lang="en-GB" sz="2400" dirty="0"/>
              <a:t> </a:t>
            </a:r>
            <a:r>
              <a:rPr lang="en-GB" sz="2400" dirty="0" smtClean="0"/>
              <a:t>                            </a:t>
            </a:r>
            <a:r>
              <a:rPr lang="en-GB" sz="2400" dirty="0"/>
              <a:t>"age":31, </a:t>
            </a:r>
            <a:endParaRPr lang="en-GB" sz="2400" dirty="0" smtClean="0"/>
          </a:p>
          <a:p>
            <a:pPr marL="0" indent="0">
              <a:buNone/>
            </a:pPr>
            <a:r>
              <a:rPr lang="en-GB" sz="2400" dirty="0"/>
              <a:t> </a:t>
            </a:r>
            <a:r>
              <a:rPr lang="en-GB" sz="2400" dirty="0" smtClean="0"/>
              <a:t>                               "</a:t>
            </a:r>
            <a:r>
              <a:rPr lang="en-GB" sz="2400" dirty="0" err="1"/>
              <a:t>city":"New</a:t>
            </a:r>
            <a:r>
              <a:rPr lang="en-GB" sz="2400" dirty="0"/>
              <a:t> York</a:t>
            </a:r>
            <a:r>
              <a:rPr lang="en-GB" sz="2400" dirty="0" smtClean="0"/>
              <a:t>"}';</a:t>
            </a:r>
          </a:p>
          <a:p>
            <a:pPr marL="0" indent="0">
              <a:buNone/>
            </a:pPr>
            <a:r>
              <a:rPr lang="en-GB" dirty="0"/>
              <a:t/>
            </a:r>
            <a:br>
              <a:rPr lang="en-GB" dirty="0"/>
            </a:br>
            <a:r>
              <a:rPr lang="en-GB" sz="2400" dirty="0" err="1" smtClean="0"/>
              <a:t>document.getElementById</a:t>
            </a:r>
            <a:r>
              <a:rPr lang="en-GB" sz="2400" dirty="0"/>
              <a:t>("demo").</a:t>
            </a:r>
            <a:r>
              <a:rPr lang="en-GB" sz="2400" dirty="0" err="1"/>
              <a:t>innerHTML</a:t>
            </a:r>
            <a:r>
              <a:rPr lang="en-GB" sz="2400" dirty="0"/>
              <a:t> = myObj.name;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845106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22939"/>
          </a:xfrm>
        </p:spPr>
        <p:txBody>
          <a:bodyPr/>
          <a:lstStyle/>
          <a:p>
            <a:r>
              <a:rPr lang="en-US" dirty="0" smtClean="0"/>
              <a:t>JSON Arrays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5197" y="1606730"/>
            <a:ext cx="8275820" cy="442831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u="sng" dirty="0" smtClean="0"/>
              <a:t>Syntax</a:t>
            </a:r>
          </a:p>
          <a:p>
            <a:pPr marL="457200" lvl="1" indent="0">
              <a:buNone/>
            </a:pPr>
            <a:r>
              <a:rPr lang="en-US" sz="2400" dirty="0" smtClean="0"/>
              <a:t>jsonObj = {“ArrayObj”:    [   {“field1” : “value”,  </a:t>
            </a:r>
          </a:p>
          <a:p>
            <a:pPr marL="457200" lvl="1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                                  “field2” : “value”,</a:t>
            </a:r>
          </a:p>
          <a:p>
            <a:pPr marL="457200" lvl="1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                                   “field3” : “value”, ….}, </a:t>
            </a:r>
          </a:p>
          <a:p>
            <a:pPr marL="457200" lvl="1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                                 {“</a:t>
            </a:r>
            <a:r>
              <a:rPr lang="en-US" sz="2400" dirty="0"/>
              <a:t>field1” : “value”,  </a:t>
            </a:r>
          </a:p>
          <a:p>
            <a:pPr marL="457200" lvl="1" indent="0">
              <a:buNone/>
            </a:pPr>
            <a:r>
              <a:rPr lang="en-US" sz="2400" dirty="0"/>
              <a:t>                                                “field2” : “value</a:t>
            </a:r>
            <a:r>
              <a:rPr lang="en-US" sz="2400" dirty="0" smtClean="0"/>
              <a:t>”,</a:t>
            </a:r>
            <a:r>
              <a:rPr lang="en-US" sz="2400" dirty="0"/>
              <a:t> </a:t>
            </a:r>
            <a:endParaRPr lang="en-US" sz="2400" dirty="0" smtClean="0"/>
          </a:p>
          <a:p>
            <a:pPr marL="457200" lvl="1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                                  “field3” </a:t>
            </a:r>
            <a:r>
              <a:rPr lang="en-US" sz="2400" dirty="0"/>
              <a:t>: “value”, </a:t>
            </a:r>
            <a:r>
              <a:rPr lang="en-US" sz="2400" dirty="0" smtClean="0"/>
              <a:t>….}, </a:t>
            </a:r>
          </a:p>
          <a:p>
            <a:pPr marL="457200" lvl="1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                            ]</a:t>
            </a:r>
          </a:p>
          <a:p>
            <a:pPr marL="457200" lvl="1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     }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35531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JSON Array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06477" y="1152984"/>
            <a:ext cx="7557364" cy="48789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2400" b="1" u="sng" dirty="0" smtClean="0"/>
              <a:t>Example</a:t>
            </a:r>
          </a:p>
          <a:p>
            <a:pPr marL="457200" lvl="1" indent="0">
              <a:buNone/>
            </a:pPr>
            <a:r>
              <a:rPr lang="en-US" sz="2000" dirty="0" err="1" smtClean="0"/>
              <a:t>EmpObj</a:t>
            </a:r>
            <a:r>
              <a:rPr lang="en-US" sz="2000" dirty="0" smtClean="0"/>
              <a:t> = {       [ {name</a:t>
            </a:r>
            <a:r>
              <a:rPr lang="en-US" sz="2000" dirty="0"/>
              <a:t>: “Sally”, </a:t>
            </a:r>
          </a:p>
          <a:p>
            <a:pPr marL="457200" lvl="1" indent="0">
              <a:buNone/>
            </a:pPr>
            <a:r>
              <a:rPr lang="en-US" sz="2000" dirty="0"/>
              <a:t>                       </a:t>
            </a:r>
            <a:r>
              <a:rPr lang="en-US" sz="2000" dirty="0" smtClean="0"/>
              <a:t>       “Salary</a:t>
            </a:r>
            <a:r>
              <a:rPr lang="en-US" sz="2000" dirty="0"/>
              <a:t>”: 2600, </a:t>
            </a:r>
          </a:p>
          <a:p>
            <a:pPr marL="457200" lvl="1" indent="0">
              <a:buNone/>
            </a:pPr>
            <a:r>
              <a:rPr lang="en-US" sz="2000" dirty="0"/>
              <a:t>                      </a:t>
            </a:r>
            <a:r>
              <a:rPr lang="en-US" sz="2000" dirty="0" smtClean="0"/>
              <a:t>          “</a:t>
            </a:r>
            <a:r>
              <a:rPr lang="en-US" sz="2000" dirty="0"/>
              <a:t>depart”: “Sales”, </a:t>
            </a:r>
          </a:p>
          <a:p>
            <a:pPr marL="457200" lvl="1" indent="0">
              <a:buNone/>
            </a:pPr>
            <a:r>
              <a:rPr lang="en-US" sz="2000" dirty="0"/>
              <a:t>                      </a:t>
            </a:r>
            <a:r>
              <a:rPr lang="en-US" sz="2000" dirty="0" smtClean="0"/>
              <a:t>           </a:t>
            </a:r>
            <a:r>
              <a:rPr lang="en-US" sz="2000" dirty="0"/>
              <a:t>active: true</a:t>
            </a:r>
            <a:r>
              <a:rPr lang="en-US" sz="2000" dirty="0" smtClean="0"/>
              <a:t>,}, </a:t>
            </a:r>
          </a:p>
          <a:p>
            <a:pPr marL="457200" lvl="1" indent="0">
              <a:buNone/>
            </a:pPr>
            <a:r>
              <a:rPr lang="en-US" sz="2000" dirty="0" smtClean="0"/>
              <a:t>                              {</a:t>
            </a:r>
            <a:r>
              <a:rPr lang="en-US" sz="2000" dirty="0"/>
              <a:t>name: </a:t>
            </a:r>
            <a:r>
              <a:rPr lang="en-US" sz="2000" dirty="0" smtClean="0"/>
              <a:t>“Peter”, </a:t>
            </a:r>
            <a:endParaRPr lang="en-US" sz="2000" dirty="0"/>
          </a:p>
          <a:p>
            <a:pPr marL="457200" lvl="1" indent="0">
              <a:buNone/>
            </a:pPr>
            <a:r>
              <a:rPr lang="en-US" sz="2000" dirty="0"/>
              <a:t>                           </a:t>
            </a:r>
            <a:r>
              <a:rPr lang="en-US" sz="2000" dirty="0" smtClean="0"/>
              <a:t>     </a:t>
            </a:r>
            <a:r>
              <a:rPr lang="en-US" sz="2000" dirty="0"/>
              <a:t>“Salary”: </a:t>
            </a:r>
            <a:r>
              <a:rPr lang="en-US" sz="2000" dirty="0" smtClean="0"/>
              <a:t>1950, </a:t>
            </a:r>
            <a:endParaRPr lang="en-US" sz="2000" dirty="0"/>
          </a:p>
          <a:p>
            <a:pPr marL="457200" lvl="1" indent="0">
              <a:buNone/>
            </a:pPr>
            <a:r>
              <a:rPr lang="en-US" sz="2000" dirty="0"/>
              <a:t>                         </a:t>
            </a:r>
            <a:r>
              <a:rPr lang="en-US" sz="2000" dirty="0" smtClean="0"/>
              <a:t>       </a:t>
            </a:r>
            <a:r>
              <a:rPr lang="en-US" sz="2000" dirty="0"/>
              <a:t>“depart”: </a:t>
            </a:r>
            <a:r>
              <a:rPr lang="en-US" sz="2000" dirty="0" smtClean="0"/>
              <a:t>“Transport”, </a:t>
            </a:r>
            <a:endParaRPr lang="en-US" sz="2000" dirty="0"/>
          </a:p>
          <a:p>
            <a:pPr marL="457200" lvl="1" indent="0">
              <a:buNone/>
            </a:pPr>
            <a:r>
              <a:rPr lang="en-US" sz="2000" dirty="0"/>
              <a:t>                              </a:t>
            </a:r>
            <a:r>
              <a:rPr lang="en-US" sz="2000" dirty="0" smtClean="0"/>
              <a:t>    </a:t>
            </a:r>
            <a:r>
              <a:rPr lang="en-US" sz="2000" dirty="0"/>
              <a:t>active: true,}, </a:t>
            </a:r>
          </a:p>
          <a:p>
            <a:pPr marL="457200" lvl="1" indent="0">
              <a:buFont typeface="Wingdings 3" charset="2"/>
              <a:buNone/>
            </a:pPr>
            <a:r>
              <a:rPr lang="en-US" sz="2000" dirty="0" smtClean="0"/>
              <a:t>                              ]</a:t>
            </a:r>
          </a:p>
          <a:p>
            <a:pPr marL="457200" lvl="1" indent="0">
              <a:buFont typeface="Wingdings 3" charset="2"/>
              <a:buNone/>
            </a:pPr>
            <a:r>
              <a:rPr lang="en-US" sz="2000" dirty="0" smtClean="0"/>
              <a:t>                   }</a:t>
            </a: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502420" y="6162544"/>
            <a:ext cx="100728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 err="1"/>
              <a:t>document.getElementById</a:t>
            </a:r>
            <a:r>
              <a:rPr lang="en-GB" sz="2000" b="1" dirty="0"/>
              <a:t>("demo").</a:t>
            </a:r>
            <a:r>
              <a:rPr lang="en-GB" sz="2000" b="1" dirty="0" err="1"/>
              <a:t>innerHTML</a:t>
            </a:r>
            <a:r>
              <a:rPr lang="en-GB" sz="2000" b="1" dirty="0"/>
              <a:t> = </a:t>
            </a:r>
            <a:r>
              <a:rPr lang="en-GB" sz="2000" b="1" dirty="0" err="1" smtClean="0"/>
              <a:t>EmpObj</a:t>
            </a:r>
            <a:r>
              <a:rPr lang="en-GB" sz="2000" b="1" dirty="0" smtClean="0"/>
              <a:t>[1].name;</a:t>
            </a: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438081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509" y="452718"/>
            <a:ext cx="10450285" cy="736002"/>
          </a:xfrm>
        </p:spPr>
        <p:txBody>
          <a:bodyPr/>
          <a:lstStyle/>
          <a:p>
            <a:r>
              <a:rPr lang="en-US" dirty="0" smtClean="0"/>
              <a:t>JSON Array – more complete example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509" y="1097280"/>
            <a:ext cx="11220993" cy="5760720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/>
              <a:t>&lt;!DOCTYPE html&gt;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/>
              <a:t>&lt;html&gt;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/>
              <a:t>&lt;body&gt;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/>
              <a:t>&lt;p&gt;Looping through arrays inside arrays.&lt;/p&gt;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/>
              <a:t>&lt;p id="demo"&gt;&lt;/p&gt;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/>
              <a:t>&lt;script&gt;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/>
              <a:t>var </a:t>
            </a:r>
            <a:r>
              <a:rPr lang="en-GB" dirty="0" err="1"/>
              <a:t>myObj</a:t>
            </a:r>
            <a:r>
              <a:rPr lang="en-GB" dirty="0"/>
              <a:t>, </a:t>
            </a:r>
            <a:r>
              <a:rPr lang="en-GB" dirty="0" err="1"/>
              <a:t>i</a:t>
            </a:r>
            <a:r>
              <a:rPr lang="en-GB" dirty="0"/>
              <a:t>, j, x = "";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 err="1"/>
              <a:t>myObj</a:t>
            </a:r>
            <a:r>
              <a:rPr lang="en-GB" dirty="0"/>
              <a:t> =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/>
              <a:t>  "</a:t>
            </a:r>
            <a:r>
              <a:rPr lang="en-GB" dirty="0" err="1"/>
              <a:t>name":"John</a:t>
            </a:r>
            <a:r>
              <a:rPr lang="en-GB" dirty="0"/>
              <a:t>",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/>
              <a:t>  "age":30,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/>
              <a:t>  "cars": [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/>
              <a:t>    {"</a:t>
            </a:r>
            <a:r>
              <a:rPr lang="en-GB" dirty="0" err="1"/>
              <a:t>name":"Ford</a:t>
            </a:r>
            <a:r>
              <a:rPr lang="en-GB" dirty="0"/>
              <a:t>", "models":["Fiesta", "Focus", "Mustang"]},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/>
              <a:t>    {"</a:t>
            </a:r>
            <a:r>
              <a:rPr lang="en-GB" dirty="0" err="1"/>
              <a:t>name":"BMW</a:t>
            </a:r>
            <a:r>
              <a:rPr lang="en-GB" dirty="0"/>
              <a:t>", "models":["320", "X3", "X5"]},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/>
              <a:t>    {"</a:t>
            </a:r>
            <a:r>
              <a:rPr lang="en-GB" dirty="0" err="1"/>
              <a:t>name":"Fiat</a:t>
            </a:r>
            <a:r>
              <a:rPr lang="en-GB" dirty="0"/>
              <a:t>", "models":["500", "Panda"]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/>
              <a:t>  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/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/>
              <a:t>for (</a:t>
            </a:r>
            <a:r>
              <a:rPr lang="en-GB" dirty="0" err="1"/>
              <a:t>i</a:t>
            </a:r>
            <a:r>
              <a:rPr lang="en-GB" dirty="0"/>
              <a:t> in </a:t>
            </a:r>
            <a:r>
              <a:rPr lang="en-GB" dirty="0" err="1"/>
              <a:t>myObj.cars</a:t>
            </a:r>
            <a:r>
              <a:rPr lang="en-GB" dirty="0"/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/>
              <a:t>  x += "&lt;h2&gt;" + </a:t>
            </a:r>
            <a:r>
              <a:rPr lang="en-GB" dirty="0" err="1"/>
              <a:t>myObj.cars</a:t>
            </a:r>
            <a:r>
              <a:rPr lang="en-GB" dirty="0"/>
              <a:t>[</a:t>
            </a:r>
            <a:r>
              <a:rPr lang="en-GB" dirty="0" err="1"/>
              <a:t>i</a:t>
            </a:r>
            <a:r>
              <a:rPr lang="en-GB" dirty="0"/>
              <a:t>].name + "&lt;/h2&gt;";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/>
              <a:t>  for (j in </a:t>
            </a:r>
            <a:r>
              <a:rPr lang="en-GB" dirty="0" err="1"/>
              <a:t>myObj.cars</a:t>
            </a:r>
            <a:r>
              <a:rPr lang="en-GB" dirty="0"/>
              <a:t>[</a:t>
            </a:r>
            <a:r>
              <a:rPr lang="en-GB" dirty="0" err="1"/>
              <a:t>i</a:t>
            </a:r>
            <a:r>
              <a:rPr lang="en-GB" dirty="0"/>
              <a:t>].models)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/>
              <a:t>    x += </a:t>
            </a:r>
            <a:r>
              <a:rPr lang="en-GB" dirty="0" err="1"/>
              <a:t>myObj.cars</a:t>
            </a:r>
            <a:r>
              <a:rPr lang="en-GB" dirty="0"/>
              <a:t>[</a:t>
            </a:r>
            <a:r>
              <a:rPr lang="en-GB" dirty="0" err="1"/>
              <a:t>i</a:t>
            </a:r>
            <a:r>
              <a:rPr lang="en-GB" dirty="0"/>
              <a:t>].models[j] + "&lt;</a:t>
            </a:r>
            <a:r>
              <a:rPr lang="en-GB" dirty="0" err="1"/>
              <a:t>br</a:t>
            </a:r>
            <a:r>
              <a:rPr lang="en-GB" dirty="0"/>
              <a:t>&gt;";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/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/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 err="1"/>
              <a:t>document.getElementById</a:t>
            </a:r>
            <a:r>
              <a:rPr lang="en-GB" dirty="0"/>
              <a:t>("demo").</a:t>
            </a:r>
            <a:r>
              <a:rPr lang="en-GB" dirty="0" err="1"/>
              <a:t>innerHTML</a:t>
            </a:r>
            <a:r>
              <a:rPr lang="en-GB" dirty="0"/>
              <a:t> = x;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/>
              <a:t>&lt;/script&gt;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/>
              <a:t>&lt;/body&gt;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/>
              <a:t>&lt;/html&gt;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8491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83" y="452718"/>
            <a:ext cx="9763451" cy="840505"/>
          </a:xfrm>
        </p:spPr>
        <p:txBody>
          <a:bodyPr/>
          <a:lstStyle/>
          <a:p>
            <a:r>
              <a:rPr lang="en-US" dirty="0" smtClean="0"/>
              <a:t>External JSON Files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981" y="1098809"/>
            <a:ext cx="5271362" cy="51269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JSON Data File   (</a:t>
            </a:r>
            <a:r>
              <a:rPr lang="en-US" sz="2400" b="1" dirty="0" err="1" smtClean="0"/>
              <a:t>data.json</a:t>
            </a:r>
            <a:r>
              <a:rPr lang="en-US" sz="2400" b="1" dirty="0" smtClean="0"/>
              <a:t>)</a:t>
            </a:r>
            <a:endParaRPr lang="en-GB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287382" y="1611498"/>
            <a:ext cx="10881361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n-US" dirty="0" err="1"/>
              <a:t>EmpObj</a:t>
            </a:r>
            <a:r>
              <a:rPr lang="en-US" dirty="0"/>
              <a:t> = {       [ {name: “Sally”, </a:t>
            </a:r>
            <a:r>
              <a:rPr lang="en-US" dirty="0" smtClean="0"/>
              <a:t> “</a:t>
            </a:r>
            <a:r>
              <a:rPr lang="en-US" dirty="0"/>
              <a:t>Salary”: 2600</a:t>
            </a:r>
            <a:r>
              <a:rPr lang="en-US" dirty="0" smtClean="0"/>
              <a:t>,  “</a:t>
            </a:r>
            <a:r>
              <a:rPr lang="en-US" dirty="0"/>
              <a:t>depart”: “Sales”, </a:t>
            </a:r>
            <a:r>
              <a:rPr lang="en-US" dirty="0" smtClean="0"/>
              <a:t>active</a:t>
            </a:r>
            <a:r>
              <a:rPr lang="en-US" dirty="0"/>
              <a:t>: true,}, </a:t>
            </a:r>
          </a:p>
          <a:p>
            <a:pPr lvl="1"/>
            <a:r>
              <a:rPr lang="en-US" dirty="0"/>
              <a:t>                            </a:t>
            </a:r>
            <a:r>
              <a:rPr lang="en-US" dirty="0" smtClean="0"/>
              <a:t> </a:t>
            </a:r>
            <a:r>
              <a:rPr lang="en-US" dirty="0"/>
              <a:t>{name: </a:t>
            </a:r>
            <a:r>
              <a:rPr lang="en-US" dirty="0" smtClean="0"/>
              <a:t>“Peter”,  “</a:t>
            </a:r>
            <a:r>
              <a:rPr lang="en-US" dirty="0"/>
              <a:t>Salary”: </a:t>
            </a:r>
            <a:r>
              <a:rPr lang="en-US" dirty="0" smtClean="0"/>
              <a:t>1950,  “</a:t>
            </a:r>
            <a:r>
              <a:rPr lang="en-US" dirty="0"/>
              <a:t>depart”: </a:t>
            </a:r>
            <a:r>
              <a:rPr lang="en-US" dirty="0" smtClean="0"/>
              <a:t>“Transport”, active</a:t>
            </a:r>
            <a:r>
              <a:rPr lang="en-US" dirty="0"/>
              <a:t>: true</a:t>
            </a:r>
            <a:r>
              <a:rPr lang="en-US" dirty="0" smtClean="0"/>
              <a:t>,},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                            </a:t>
            </a:r>
            <a:r>
              <a:rPr lang="en-US" dirty="0"/>
              <a:t>{name: </a:t>
            </a:r>
            <a:r>
              <a:rPr lang="en-US" dirty="0" smtClean="0"/>
              <a:t>“Frank”,  “Salary”: 3700,  </a:t>
            </a:r>
            <a:r>
              <a:rPr lang="en-US" dirty="0"/>
              <a:t>“depart”: </a:t>
            </a:r>
            <a:r>
              <a:rPr lang="en-US" dirty="0" smtClean="0"/>
              <a:t>“Management”, </a:t>
            </a:r>
            <a:r>
              <a:rPr lang="en-US" dirty="0"/>
              <a:t>active: true,},</a:t>
            </a:r>
          </a:p>
          <a:p>
            <a:pPr lvl="1"/>
            <a:r>
              <a:rPr lang="en-US" dirty="0" smtClean="0"/>
              <a:t>                          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                   }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94902" y="3088826"/>
            <a:ext cx="3912825" cy="5126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24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HTML File    (Test.html)</a:t>
            </a:r>
            <a:endParaRPr lang="en-GB" sz="24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1303" y="3601515"/>
            <a:ext cx="10881361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n-US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&lt;head&gt; 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     &lt;script type="text/</a:t>
            </a:r>
            <a:r>
              <a:rPr lang="en-US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javascript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" </a:t>
            </a:r>
            <a:r>
              <a:rPr lang="en-US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src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="</a:t>
            </a:r>
            <a:r>
              <a:rPr lang="en-US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data.json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"&gt;&lt;/script&gt;</a:t>
            </a:r>
          </a:p>
          <a:p>
            <a:pPr lvl="1"/>
            <a:r>
              <a:rPr lang="en-US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    &lt;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script type="text/</a:t>
            </a:r>
            <a:r>
              <a:rPr lang="en-US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javascript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" </a:t>
            </a:r>
            <a:r>
              <a:rPr lang="en-US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src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="javascrip.js"&gt;&lt;/script&gt;</a:t>
            </a:r>
            <a:endParaRPr lang="en-US" dirty="0" smtClean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lvl="1"/>
            <a:endParaRPr lang="en-US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n-US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&lt;/head&gt;</a:t>
            </a:r>
            <a:endParaRPr lang="en-US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860423" y="5133252"/>
            <a:ext cx="8190411" cy="163858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24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&lt;script&gt;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     </a:t>
            </a:r>
            <a:r>
              <a:rPr lang="en-US" sz="2400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var</a:t>
            </a:r>
            <a:r>
              <a:rPr lang="en-US" sz="2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4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Employees </a:t>
            </a:r>
            <a:r>
              <a:rPr lang="en-US" sz="2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= </a:t>
            </a:r>
            <a:r>
              <a:rPr lang="en-US" sz="2400" b="1" dirty="0" err="1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JSON.parse</a:t>
            </a:r>
            <a:r>
              <a:rPr lang="en-US" sz="24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(</a:t>
            </a:r>
            <a:r>
              <a:rPr lang="en-US" sz="2400" b="1" dirty="0" err="1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EmpObj</a:t>
            </a:r>
            <a:r>
              <a:rPr lang="en-US" sz="24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);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     …..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&lt;/script&gt;</a:t>
            </a:r>
            <a:endParaRPr lang="en-GB" sz="24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1173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366</TotalTime>
  <Words>809</Words>
  <Application>Microsoft Office PowerPoint</Application>
  <PresentationFormat>Widescreen</PresentationFormat>
  <Paragraphs>152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Century Gothic</vt:lpstr>
      <vt:lpstr>Source Sans Pro</vt:lpstr>
      <vt:lpstr>Wingdings 3</vt:lpstr>
      <vt:lpstr>Ion</vt:lpstr>
      <vt:lpstr>Website &amp; JavaScript Features</vt:lpstr>
      <vt:lpstr>Agenda</vt:lpstr>
      <vt:lpstr>Login Forms</vt:lpstr>
      <vt:lpstr>HTML</vt:lpstr>
      <vt:lpstr>CSS</vt:lpstr>
      <vt:lpstr>JavaScript</vt:lpstr>
      <vt:lpstr>JSON What is JSON? </vt:lpstr>
      <vt:lpstr>JSON Syntax</vt:lpstr>
      <vt:lpstr>Data Types in JSON</vt:lpstr>
      <vt:lpstr>Example - Write to page content</vt:lpstr>
      <vt:lpstr>JSON Arrays</vt:lpstr>
      <vt:lpstr>JSON Array</vt:lpstr>
      <vt:lpstr>JSON Array – more complete example</vt:lpstr>
      <vt:lpstr>External JSON Files</vt:lpstr>
    </vt:vector>
  </TitlesOfParts>
  <Company>CPUT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Assignment</dc:title>
  <dc:creator>William Olivier</dc:creator>
  <cp:lastModifiedBy>William Olivier</cp:lastModifiedBy>
  <cp:revision>18</cp:revision>
  <dcterms:created xsi:type="dcterms:W3CDTF">2020-10-21T05:10:08Z</dcterms:created>
  <dcterms:modified xsi:type="dcterms:W3CDTF">2020-10-28T06:45:34Z</dcterms:modified>
</cp:coreProperties>
</file>