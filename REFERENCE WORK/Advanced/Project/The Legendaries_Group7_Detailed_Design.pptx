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76" r:id="rId4"/>
    <p:sldId id="277" r:id="rId5"/>
    <p:sldId id="280" r:id="rId6"/>
    <p:sldId id="278" r:id="rId7"/>
    <p:sldId id="258" r:id="rId8"/>
    <p:sldId id="279" r:id="rId9"/>
    <p:sldId id="282" r:id="rId10"/>
    <p:sldId id="261" r:id="rId11"/>
    <p:sldId id="269" r:id="rId12"/>
    <p:sldId id="262" r:id="rId13"/>
    <p:sldId id="270" r:id="rId14"/>
    <p:sldId id="271" r:id="rId15"/>
    <p:sldId id="272" r:id="rId16"/>
    <p:sldId id="273" r:id="rId17"/>
    <p:sldId id="264" r:id="rId18"/>
    <p:sldId id="283" r:id="rId19"/>
    <p:sldId id="259" r:id="rId20"/>
    <p:sldId id="274" r:id="rId21"/>
    <p:sldId id="260" r:id="rId22"/>
    <p:sldId id="266" r:id="rId23"/>
    <p:sldId id="267" r:id="rId24"/>
    <p:sldId id="275" r:id="rId25"/>
    <p:sldId id="281" r:id="rId26"/>
    <p:sldId id="26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40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10/26/2020</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10/26/2020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10/26/2020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10/26/2020</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sacoronavirus.co.z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2398" y="1654562"/>
            <a:ext cx="6815669" cy="1729734"/>
          </a:xfrm>
        </p:spPr>
        <p:txBody>
          <a:bodyPr/>
          <a:lstStyle/>
          <a:p>
            <a:r>
              <a:rPr lang="en-ZA" sz="2400" b="1" dirty="0" smtClean="0"/>
              <a:t>Term </a:t>
            </a:r>
            <a:r>
              <a:rPr lang="en-ZA" sz="2400" b="1" dirty="0"/>
              <a:t>2 Assignment</a:t>
            </a:r>
            <a:r>
              <a:rPr lang="en-ZA" sz="2400" dirty="0"/>
              <a:t/>
            </a:r>
            <a:br>
              <a:rPr lang="en-ZA" sz="2400" dirty="0"/>
            </a:br>
            <a:r>
              <a:rPr lang="en-GB" sz="2400" u="sng" dirty="0"/>
              <a:t>Group Number: 7</a:t>
            </a:r>
            <a:r>
              <a:rPr lang="en-ZA" sz="2400" dirty="0"/>
              <a:t/>
            </a:r>
            <a:br>
              <a:rPr lang="en-ZA" sz="2400" dirty="0"/>
            </a:br>
            <a:r>
              <a:rPr lang="en-GB" sz="2400" u="sng" dirty="0"/>
              <a:t>Group Name: The </a:t>
            </a:r>
            <a:r>
              <a:rPr lang="en-GB" sz="2400" u="sng" dirty="0" err="1" smtClean="0"/>
              <a:t>Legendaries</a:t>
            </a:r>
            <a:r>
              <a:rPr lang="en-GB" sz="2400" u="sng" dirty="0" smtClean="0"/>
              <a:t/>
            </a:r>
            <a:br>
              <a:rPr lang="en-GB" sz="2400" u="sng" dirty="0" smtClean="0"/>
            </a:br>
            <a:r>
              <a:rPr lang="en-GB" sz="2400" dirty="0"/>
              <a:t>F</a:t>
            </a:r>
            <a:r>
              <a:rPr lang="en-GB" sz="2400" dirty="0" smtClean="0"/>
              <a:t>ake News detection</a:t>
            </a:r>
            <a:endParaRPr lang="en-ZA" sz="2400" dirty="0"/>
          </a:p>
        </p:txBody>
      </p:sp>
      <p:graphicFrame>
        <p:nvGraphicFramePr>
          <p:cNvPr id="5" name="Table 4"/>
          <p:cNvGraphicFramePr>
            <a:graphicFrameLocks noGrp="1"/>
          </p:cNvGraphicFramePr>
          <p:nvPr>
            <p:extLst>
              <p:ext uri="{D42A27DB-BD31-4B8C-83A1-F6EECF244321}">
                <p14:modId xmlns:p14="http://schemas.microsoft.com/office/powerpoint/2010/main" val="2310603223"/>
              </p:ext>
            </p:extLst>
          </p:nvPr>
        </p:nvGraphicFramePr>
        <p:xfrm>
          <a:off x="3320720" y="3585407"/>
          <a:ext cx="5506288" cy="832104"/>
        </p:xfrm>
        <a:graphic>
          <a:graphicData uri="http://schemas.openxmlformats.org/drawingml/2006/table">
            <a:tbl>
              <a:tblPr firstRow="1" firstCol="1" bandRow="1">
                <a:tableStyleId>{5C22544A-7EE6-4342-B048-85BDC9FD1C3A}</a:tableStyleId>
              </a:tblPr>
              <a:tblGrid>
                <a:gridCol w="483903"/>
                <a:gridCol w="2829394"/>
                <a:gridCol w="242869"/>
                <a:gridCol w="242869"/>
                <a:gridCol w="243480"/>
                <a:gridCol w="243480"/>
                <a:gridCol w="243480"/>
                <a:gridCol w="243480"/>
                <a:gridCol w="243480"/>
                <a:gridCol w="243480"/>
                <a:gridCol w="246373"/>
              </a:tblGrid>
              <a:tr h="70826">
                <a:tc>
                  <a:txBody>
                    <a:bodyPr/>
                    <a:lstStyle/>
                    <a:p>
                      <a:pPr>
                        <a:lnSpc>
                          <a:spcPct val="130000"/>
                        </a:lnSpc>
                        <a:spcAft>
                          <a:spcPts val="1125"/>
                        </a:spcAft>
                      </a:pPr>
                      <a:r>
                        <a:rPr lang="en-GB" sz="1400" kern="1800" dirty="0">
                          <a:effectLst/>
                        </a:rPr>
                        <a:t>No.</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dirty="0">
                          <a:effectLst/>
                        </a:rPr>
                        <a:t>Surname, Initial</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gridSpan="9">
                  <a:txBody>
                    <a:bodyPr/>
                    <a:lstStyle/>
                    <a:p>
                      <a:pPr>
                        <a:lnSpc>
                          <a:spcPct val="130000"/>
                        </a:lnSpc>
                        <a:spcAft>
                          <a:spcPts val="1125"/>
                        </a:spcAft>
                      </a:pPr>
                      <a:r>
                        <a:rPr lang="en-GB" sz="1400" kern="1800">
                          <a:effectLst/>
                        </a:rPr>
                        <a:t>Student Number</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ZA"/>
                    </a:p>
                  </a:txBody>
                  <a:tcPr/>
                </a:tc>
                <a:tc hMerge="1">
                  <a:txBody>
                    <a:bodyPr/>
                    <a:lstStyle/>
                    <a:p>
                      <a:endParaRPr lang="en-ZA"/>
                    </a:p>
                  </a:txBody>
                  <a:tcPr/>
                </a:tc>
                <a:tc hMerge="1">
                  <a:txBody>
                    <a:bodyPr/>
                    <a:lstStyle/>
                    <a:p>
                      <a:endParaRPr lang="en-ZA"/>
                    </a:p>
                  </a:txBody>
                  <a:tcPr/>
                </a:tc>
                <a:tc hMerge="1">
                  <a:txBody>
                    <a:bodyPr/>
                    <a:lstStyle/>
                    <a:p>
                      <a:endParaRPr lang="en-ZA"/>
                    </a:p>
                  </a:txBody>
                  <a:tcPr/>
                </a:tc>
                <a:tc hMerge="1">
                  <a:txBody>
                    <a:bodyPr/>
                    <a:lstStyle/>
                    <a:p>
                      <a:endParaRPr lang="en-ZA"/>
                    </a:p>
                  </a:txBody>
                  <a:tcPr/>
                </a:tc>
                <a:tc hMerge="1">
                  <a:txBody>
                    <a:bodyPr/>
                    <a:lstStyle/>
                    <a:p>
                      <a:endParaRPr lang="en-ZA"/>
                    </a:p>
                  </a:txBody>
                  <a:tcPr/>
                </a:tc>
                <a:tc hMerge="1">
                  <a:txBody>
                    <a:bodyPr/>
                    <a:lstStyle/>
                    <a:p>
                      <a:endParaRPr lang="en-ZA"/>
                    </a:p>
                  </a:txBody>
                  <a:tcPr/>
                </a:tc>
                <a:tc hMerge="1">
                  <a:txBody>
                    <a:bodyPr/>
                    <a:lstStyle/>
                    <a:p>
                      <a:endParaRPr lang="en-ZA"/>
                    </a:p>
                  </a:txBody>
                  <a:tcPr/>
                </a:tc>
              </a:tr>
              <a:tr h="70826">
                <a:tc>
                  <a:txBody>
                    <a:bodyPr/>
                    <a:lstStyle/>
                    <a:p>
                      <a:pPr>
                        <a:lnSpc>
                          <a:spcPct val="130000"/>
                        </a:lnSpc>
                        <a:spcAft>
                          <a:spcPts val="1125"/>
                        </a:spcAft>
                      </a:pPr>
                      <a:r>
                        <a:rPr lang="en-GB" sz="1400" kern="1800" dirty="0">
                          <a:effectLst/>
                        </a:rPr>
                        <a:t>2</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dirty="0" err="1">
                          <a:effectLst/>
                        </a:rPr>
                        <a:t>Mkalali</a:t>
                      </a:r>
                      <a:r>
                        <a:rPr lang="en-GB" sz="1400" kern="1800" dirty="0">
                          <a:effectLst/>
                        </a:rPr>
                        <a:t> </a:t>
                      </a:r>
                      <a:r>
                        <a:rPr lang="en-GB" sz="1400" kern="1800" dirty="0" smtClean="0">
                          <a:effectLst/>
                        </a:rPr>
                        <a:t>S</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4</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dirty="0">
                          <a:effectLst/>
                        </a:rPr>
                        <a:t>2</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9</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6</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70826">
                <a:tc>
                  <a:txBody>
                    <a:bodyPr/>
                    <a:lstStyle/>
                    <a:p>
                      <a:pPr>
                        <a:lnSpc>
                          <a:spcPct val="130000"/>
                        </a:lnSpc>
                        <a:spcAft>
                          <a:spcPts val="1125"/>
                        </a:spcAft>
                      </a:pPr>
                      <a:r>
                        <a:rPr lang="en-GB" sz="1400" kern="1800">
                          <a:effectLst/>
                        </a:rPr>
                        <a:t>3</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dirty="0">
                          <a:effectLst/>
                        </a:rPr>
                        <a:t>Msomi </a:t>
                      </a:r>
                      <a:r>
                        <a:rPr lang="en-GB" sz="1400" kern="1800" dirty="0" smtClean="0">
                          <a:effectLst/>
                        </a:rPr>
                        <a:t>S</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1</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6</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2</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8</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6</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a:effectLst/>
                        </a:rPr>
                        <a:t>0</a:t>
                      </a:r>
                      <a:endParaRPr lang="en-ZA"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30000"/>
                        </a:lnSpc>
                        <a:spcAft>
                          <a:spcPts val="1125"/>
                        </a:spcAft>
                      </a:pPr>
                      <a:r>
                        <a:rPr lang="en-GB" sz="1400" kern="1800" dirty="0">
                          <a:effectLst/>
                        </a:rPr>
                        <a:t>4</a:t>
                      </a:r>
                      <a:endParaRPr lang="en-ZA"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1489983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smtClean="0"/>
              <a:t>Domain area of the Problem</a:t>
            </a:r>
            <a:endParaRPr lang="en-ZA" dirty="0"/>
          </a:p>
        </p:txBody>
      </p:sp>
      <p:sp>
        <p:nvSpPr>
          <p:cNvPr id="3" name="Content Placeholder 2"/>
          <p:cNvSpPr>
            <a:spLocks noGrp="1"/>
          </p:cNvSpPr>
          <p:nvPr>
            <p:ph idx="1"/>
          </p:nvPr>
        </p:nvSpPr>
        <p:spPr>
          <a:xfrm>
            <a:off x="1295400" y="2556931"/>
            <a:ext cx="9797715" cy="3579173"/>
          </a:xfrm>
        </p:spPr>
        <p:txBody>
          <a:bodyPr>
            <a:normAutofit fontScale="92500"/>
          </a:bodyPr>
          <a:lstStyle/>
          <a:p>
            <a:r>
              <a:rPr lang="en-US" dirty="0"/>
              <a:t>Our domain area of the problem </a:t>
            </a:r>
            <a:r>
              <a:rPr lang="en-ZA" dirty="0" smtClean="0"/>
              <a:t>is the </a:t>
            </a:r>
            <a:r>
              <a:rPr lang="en-ZA" dirty="0"/>
              <a:t>spread of </a:t>
            </a:r>
            <a:r>
              <a:rPr lang="en-ZA" dirty="0" smtClean="0"/>
              <a:t>Covid-19 fake news, </a:t>
            </a:r>
            <a:r>
              <a:rPr lang="en-ZA" dirty="0"/>
              <a:t>mostly on social media. Social media has allowed people the ability to exchange information at a much greater pace, to a far wider audience than ever before. However, this information is not always truthful.</a:t>
            </a:r>
          </a:p>
          <a:p>
            <a:r>
              <a:rPr lang="en-US" dirty="0" smtClean="0"/>
              <a:t>Since </a:t>
            </a:r>
            <a:r>
              <a:rPr lang="en-US" dirty="0"/>
              <a:t>we have found out that </a:t>
            </a:r>
            <a:r>
              <a:rPr lang="en-US" dirty="0" smtClean="0"/>
              <a:t>more consumption of news was though the corona virus pandemic, the </a:t>
            </a:r>
            <a:r>
              <a:rPr lang="en-US" dirty="0"/>
              <a:t>spread of COVID-19 fake news </a:t>
            </a:r>
            <a:r>
              <a:rPr lang="en-US" dirty="0" smtClean="0"/>
              <a:t>aroused on </a:t>
            </a:r>
            <a:r>
              <a:rPr lang="en-US" dirty="0"/>
              <a:t>social media. </a:t>
            </a:r>
            <a:endParaRPr lang="en-US" dirty="0" smtClean="0"/>
          </a:p>
          <a:p>
            <a:r>
              <a:rPr lang="en-US" dirty="0" smtClean="0"/>
              <a:t>In </a:t>
            </a:r>
            <a:r>
              <a:rPr lang="en-US" dirty="0"/>
              <a:t>our </a:t>
            </a:r>
            <a:r>
              <a:rPr lang="en-US" dirty="0" smtClean="0"/>
              <a:t>communities this excessive rise of </a:t>
            </a:r>
            <a:r>
              <a:rPr lang="en-US" dirty="0"/>
              <a:t>fake news </a:t>
            </a:r>
            <a:r>
              <a:rPr lang="en-US" dirty="0" smtClean="0"/>
              <a:t>has had </a:t>
            </a:r>
            <a:r>
              <a:rPr lang="en-US" dirty="0"/>
              <a:t>a bad </a:t>
            </a:r>
            <a:r>
              <a:rPr lang="en-US" dirty="0" smtClean="0"/>
              <a:t>impact where by people were scammed </a:t>
            </a:r>
            <a:r>
              <a:rPr lang="en-US" dirty="0"/>
              <a:t>through </a:t>
            </a:r>
            <a:r>
              <a:rPr lang="en-US" dirty="0" smtClean="0"/>
              <a:t>applications </a:t>
            </a:r>
            <a:r>
              <a:rPr lang="en-US" dirty="0"/>
              <a:t>of RDC </a:t>
            </a:r>
            <a:r>
              <a:rPr lang="en-US" dirty="0" smtClean="0"/>
              <a:t>grant. Their  </a:t>
            </a:r>
            <a:r>
              <a:rPr lang="en-US" dirty="0"/>
              <a:t>personal information like identity </a:t>
            </a:r>
            <a:r>
              <a:rPr lang="en-US" dirty="0" smtClean="0"/>
              <a:t>numbers, contacts, addresses </a:t>
            </a:r>
            <a:r>
              <a:rPr lang="en-US" dirty="0"/>
              <a:t>were </a:t>
            </a:r>
            <a:r>
              <a:rPr lang="en-US" dirty="0" smtClean="0"/>
              <a:t>gathered.</a:t>
            </a:r>
          </a:p>
        </p:txBody>
      </p:sp>
    </p:spTree>
    <p:extLst>
      <p:ext uri="{BB962C8B-B14F-4D97-AF65-F5344CB8AC3E}">
        <p14:creationId xmlns:p14="http://schemas.microsoft.com/office/powerpoint/2010/main" val="2576427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Domain area </a:t>
            </a:r>
            <a:r>
              <a:rPr lang="en-ZA" dirty="0" smtClean="0"/>
              <a:t>continues…</a:t>
            </a:r>
            <a:endParaRPr lang="en-ZA" dirty="0"/>
          </a:p>
        </p:txBody>
      </p:sp>
      <p:sp>
        <p:nvSpPr>
          <p:cNvPr id="3" name="Content Placeholder 2"/>
          <p:cNvSpPr>
            <a:spLocks noGrp="1"/>
          </p:cNvSpPr>
          <p:nvPr>
            <p:ph idx="1"/>
          </p:nvPr>
        </p:nvSpPr>
        <p:spPr>
          <a:xfrm>
            <a:off x="1295401" y="2556932"/>
            <a:ext cx="9833810" cy="3603236"/>
          </a:xfrm>
        </p:spPr>
        <p:txBody>
          <a:bodyPr>
            <a:normAutofit/>
          </a:bodyPr>
          <a:lstStyle/>
          <a:p>
            <a:r>
              <a:rPr lang="en-US" dirty="0"/>
              <a:t>Cybercriminals have quickly adapted to use the </a:t>
            </a:r>
            <a:r>
              <a:rPr lang="en-US" dirty="0" smtClean="0"/>
              <a:t>Covid-19 </a:t>
            </a:r>
            <a:r>
              <a:rPr lang="en-US" dirty="0"/>
              <a:t>pandemic as an opportunity to launch  attacks in vulnerable </a:t>
            </a:r>
            <a:r>
              <a:rPr lang="en-US" dirty="0" smtClean="0"/>
              <a:t>environments. For </a:t>
            </a:r>
            <a:r>
              <a:rPr lang="en-US" dirty="0"/>
              <a:t>instance people were given </a:t>
            </a:r>
            <a:r>
              <a:rPr lang="en-US" dirty="0" smtClean="0"/>
              <a:t>links </a:t>
            </a:r>
            <a:r>
              <a:rPr lang="en-US" dirty="0"/>
              <a:t>for Covid-19 “youth </a:t>
            </a:r>
            <a:r>
              <a:rPr lang="en-US" dirty="0" smtClean="0"/>
              <a:t>brigade” </a:t>
            </a:r>
            <a:r>
              <a:rPr lang="en-US" dirty="0"/>
              <a:t>recruitment, </a:t>
            </a:r>
            <a:r>
              <a:rPr lang="en-US" dirty="0" smtClean="0"/>
              <a:t>learner-ships </a:t>
            </a:r>
            <a:r>
              <a:rPr lang="en-US" dirty="0"/>
              <a:t>to send their documents </a:t>
            </a:r>
            <a:r>
              <a:rPr lang="en-US" dirty="0" smtClean="0"/>
              <a:t>to all in the name of scamming.</a:t>
            </a:r>
            <a:endParaRPr lang="en-US" dirty="0"/>
          </a:p>
          <a:p>
            <a:r>
              <a:rPr lang="en-US" dirty="0"/>
              <a:t>There was also helpline  claiming that it provide food parcel, where people would be asked to provide their details (name ID number and their income)in order to provide them  food </a:t>
            </a:r>
            <a:r>
              <a:rPr lang="en-US" dirty="0" smtClean="0"/>
              <a:t>parcel </a:t>
            </a:r>
            <a:r>
              <a:rPr lang="en-US" dirty="0"/>
              <a:t>while </a:t>
            </a:r>
            <a:r>
              <a:rPr lang="en-US" dirty="0" smtClean="0"/>
              <a:t>they were </a:t>
            </a:r>
            <a:r>
              <a:rPr lang="en-US" dirty="0"/>
              <a:t>going to use their details to do fraud. </a:t>
            </a:r>
            <a:endParaRPr lang="en-US" dirty="0" smtClean="0"/>
          </a:p>
        </p:txBody>
      </p:sp>
    </p:spTree>
    <p:extLst>
      <p:ext uri="{BB962C8B-B14F-4D97-AF65-F5344CB8AC3E}">
        <p14:creationId xmlns:p14="http://schemas.microsoft.com/office/powerpoint/2010/main" val="2999058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Domain area continues…</a:t>
            </a:r>
          </a:p>
        </p:txBody>
      </p:sp>
      <p:sp>
        <p:nvSpPr>
          <p:cNvPr id="3" name="Content Placeholder 2"/>
          <p:cNvSpPr>
            <a:spLocks noGrp="1"/>
          </p:cNvSpPr>
          <p:nvPr>
            <p:ph idx="1"/>
          </p:nvPr>
        </p:nvSpPr>
        <p:spPr>
          <a:xfrm>
            <a:off x="1295399" y="2556930"/>
            <a:ext cx="10050379" cy="3795743"/>
          </a:xfrm>
        </p:spPr>
        <p:txBody>
          <a:bodyPr>
            <a:normAutofit lnSpcReduction="10000"/>
          </a:bodyPr>
          <a:lstStyle/>
          <a:p>
            <a:r>
              <a:rPr lang="en-US" dirty="0" smtClean="0"/>
              <a:t>A WhatsApp </a:t>
            </a:r>
            <a:r>
              <a:rPr lang="en-US" dirty="0"/>
              <a:t>video that was misleading </a:t>
            </a:r>
            <a:r>
              <a:rPr lang="en-US" dirty="0" smtClean="0"/>
              <a:t>people to </a:t>
            </a:r>
            <a:r>
              <a:rPr lang="en-US" dirty="0"/>
              <a:t>deny to test because </a:t>
            </a:r>
            <a:r>
              <a:rPr lang="en-US" dirty="0" smtClean="0"/>
              <a:t>it claimed </a:t>
            </a:r>
            <a:r>
              <a:rPr lang="en-US" dirty="0"/>
              <a:t>that testing kits are </a:t>
            </a:r>
            <a:r>
              <a:rPr lang="en-US" dirty="0" smtClean="0"/>
              <a:t>contaminated with the virus, </a:t>
            </a:r>
            <a:r>
              <a:rPr lang="en-US" dirty="0"/>
              <a:t>and  vaccines are being tested on Africans </a:t>
            </a:r>
            <a:r>
              <a:rPr lang="en-US" dirty="0" smtClean="0"/>
              <a:t>only to kill them, </a:t>
            </a:r>
            <a:r>
              <a:rPr lang="en-US" dirty="0"/>
              <a:t>voice note circulating claiming that one recovered after drinking the Old Brown Sherryl alcohol which was not true.</a:t>
            </a:r>
            <a:endParaRPr lang="en-ZA" dirty="0"/>
          </a:p>
          <a:p>
            <a:r>
              <a:rPr lang="en-GB" dirty="0"/>
              <a:t>After all these harmful issues we </a:t>
            </a:r>
            <a:r>
              <a:rPr lang="en-GB" dirty="0" smtClean="0"/>
              <a:t>have </a:t>
            </a:r>
            <a:r>
              <a:rPr lang="en-GB" dirty="0"/>
              <a:t>decided to raise awareness about fake news so people can be able to determine and differentiate </a:t>
            </a:r>
            <a:r>
              <a:rPr lang="en-GB" dirty="0" smtClean="0"/>
              <a:t>when something is real </a:t>
            </a:r>
            <a:r>
              <a:rPr lang="en-GB" dirty="0"/>
              <a:t>or </a:t>
            </a:r>
            <a:r>
              <a:rPr lang="en-GB" dirty="0" smtClean="0"/>
              <a:t>fake. </a:t>
            </a:r>
          </a:p>
          <a:p>
            <a:r>
              <a:rPr lang="en-GB" dirty="0" smtClean="0"/>
              <a:t>We </a:t>
            </a:r>
            <a:r>
              <a:rPr lang="en-GB" dirty="0"/>
              <a:t>have decided to design the web application that will help to </a:t>
            </a:r>
            <a:r>
              <a:rPr lang="en-GB" dirty="0" smtClean="0"/>
              <a:t>eliminate the </a:t>
            </a:r>
            <a:r>
              <a:rPr lang="en-GB" dirty="0"/>
              <a:t>spread of fake news in social media that is misleading people to be victims of such </a:t>
            </a:r>
            <a:r>
              <a:rPr lang="en-GB" dirty="0" smtClean="0"/>
              <a:t>incidents.</a:t>
            </a:r>
            <a:endParaRPr lang="en-ZA" dirty="0"/>
          </a:p>
        </p:txBody>
      </p:sp>
    </p:spTree>
    <p:extLst>
      <p:ext uri="{BB962C8B-B14F-4D97-AF65-F5344CB8AC3E}">
        <p14:creationId xmlns:p14="http://schemas.microsoft.com/office/powerpoint/2010/main" val="2132514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Aim and objectives</a:t>
            </a:r>
          </a:p>
        </p:txBody>
      </p:sp>
      <p:sp>
        <p:nvSpPr>
          <p:cNvPr id="3" name="Content Placeholder 2"/>
          <p:cNvSpPr>
            <a:spLocks noGrp="1"/>
          </p:cNvSpPr>
          <p:nvPr>
            <p:ph idx="1"/>
          </p:nvPr>
        </p:nvSpPr>
        <p:spPr>
          <a:xfrm>
            <a:off x="1295401" y="2556932"/>
            <a:ext cx="9869904" cy="3627300"/>
          </a:xfrm>
        </p:spPr>
        <p:txBody>
          <a:bodyPr>
            <a:normAutofit lnSpcReduction="10000"/>
          </a:bodyPr>
          <a:lstStyle/>
          <a:p>
            <a:r>
              <a:rPr lang="en-US" dirty="0"/>
              <a:t>The </a:t>
            </a:r>
            <a:r>
              <a:rPr lang="en-US" dirty="0" smtClean="0"/>
              <a:t>main aim </a:t>
            </a:r>
            <a:r>
              <a:rPr lang="en-US" dirty="0"/>
              <a:t>of this project is to raise </a:t>
            </a:r>
            <a:r>
              <a:rPr lang="en-US" dirty="0" smtClean="0"/>
              <a:t>awareness about </a:t>
            </a:r>
            <a:r>
              <a:rPr lang="en-US" dirty="0"/>
              <a:t>the impact of fake news across the country. </a:t>
            </a:r>
            <a:endParaRPr lang="en-US" dirty="0" smtClean="0"/>
          </a:p>
          <a:p>
            <a:r>
              <a:rPr lang="en-US" dirty="0" smtClean="0"/>
              <a:t>We </a:t>
            </a:r>
            <a:r>
              <a:rPr lang="en-US" dirty="0"/>
              <a:t>will raise this awareness by creating a web application reason being that we are a digital generation therefore news travel faster through social media networks. The motivation behind this is the new laws about the impact of fake news. </a:t>
            </a:r>
            <a:endParaRPr lang="en-US" dirty="0" smtClean="0"/>
          </a:p>
          <a:p>
            <a:r>
              <a:rPr lang="en-US" dirty="0" smtClean="0"/>
              <a:t>By </a:t>
            </a:r>
            <a:r>
              <a:rPr lang="en-US" dirty="0"/>
              <a:t>creating this app we will not only be raising awareness but we will also be sharing knowledge and eliminating the knowledge gap within the digital space where news are </a:t>
            </a:r>
            <a:r>
              <a:rPr lang="en-US" dirty="0" smtClean="0"/>
              <a:t>concerned.</a:t>
            </a:r>
            <a:endParaRPr lang="en-ZA" dirty="0"/>
          </a:p>
        </p:txBody>
      </p:sp>
    </p:spTree>
    <p:extLst>
      <p:ext uri="{BB962C8B-B14F-4D97-AF65-F5344CB8AC3E}">
        <p14:creationId xmlns:p14="http://schemas.microsoft.com/office/powerpoint/2010/main" val="2733060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Aim and objectives continues…</a:t>
            </a:r>
            <a:endParaRPr lang="en-ZA" dirty="0"/>
          </a:p>
        </p:txBody>
      </p:sp>
      <p:sp>
        <p:nvSpPr>
          <p:cNvPr id="3" name="Content Placeholder 2"/>
          <p:cNvSpPr>
            <a:spLocks noGrp="1"/>
          </p:cNvSpPr>
          <p:nvPr>
            <p:ph idx="1"/>
          </p:nvPr>
        </p:nvSpPr>
        <p:spPr>
          <a:xfrm>
            <a:off x="1295400" y="2556931"/>
            <a:ext cx="9725525" cy="3519015"/>
          </a:xfrm>
        </p:spPr>
        <p:txBody>
          <a:bodyPr>
            <a:normAutofit fontScale="92500" lnSpcReduction="10000"/>
          </a:bodyPr>
          <a:lstStyle/>
          <a:p>
            <a:r>
              <a:rPr lang="en-ZA" dirty="0" smtClean="0"/>
              <a:t>The main </a:t>
            </a:r>
            <a:r>
              <a:rPr lang="en-ZA" dirty="0"/>
              <a:t>objective of our research is to implement a solution that will fact-check information on social media before allowing publication, where misinformation will be collected and tracked and denied publications where necessary. </a:t>
            </a:r>
            <a:endParaRPr lang="en-ZA" dirty="0" smtClean="0"/>
          </a:p>
          <a:p>
            <a:r>
              <a:rPr lang="en-ZA" dirty="0" smtClean="0"/>
              <a:t>We </a:t>
            </a:r>
            <a:r>
              <a:rPr lang="en-ZA" dirty="0"/>
              <a:t>plan on taking a closer look to checking the source of the story, and if it is unfamiliar or no factual source relates to the claims, there will be no publication allowed unless otherwise the person appears to the authorities on their new claims with sufficient </a:t>
            </a:r>
            <a:r>
              <a:rPr lang="en-ZA" dirty="0" smtClean="0"/>
              <a:t>references.</a:t>
            </a:r>
            <a:endParaRPr lang="en-GB" dirty="0" smtClean="0"/>
          </a:p>
          <a:p>
            <a:r>
              <a:rPr lang="en-GB" dirty="0" smtClean="0"/>
              <a:t>This will help everyone who has once been affected by fake news to know best next time, and also the future generation to be able to identify what’s real, and fake on the media. </a:t>
            </a:r>
            <a:endParaRPr lang="en-ZA" dirty="0"/>
          </a:p>
        </p:txBody>
      </p:sp>
    </p:spTree>
    <p:extLst>
      <p:ext uri="{BB962C8B-B14F-4D97-AF65-F5344CB8AC3E}">
        <p14:creationId xmlns:p14="http://schemas.microsoft.com/office/powerpoint/2010/main" val="1912497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Pre-conditions</a:t>
            </a:r>
            <a:endParaRPr lang="en-ZA" dirty="0"/>
          </a:p>
        </p:txBody>
      </p:sp>
      <p:sp>
        <p:nvSpPr>
          <p:cNvPr id="3" name="Content Placeholder 2"/>
          <p:cNvSpPr>
            <a:spLocks noGrp="1"/>
          </p:cNvSpPr>
          <p:nvPr>
            <p:ph idx="1"/>
          </p:nvPr>
        </p:nvSpPr>
        <p:spPr>
          <a:xfrm>
            <a:off x="1295401" y="2556932"/>
            <a:ext cx="9601196" cy="3603236"/>
          </a:xfrm>
        </p:spPr>
        <p:txBody>
          <a:bodyPr>
            <a:normAutofit/>
          </a:bodyPr>
          <a:lstStyle/>
          <a:p>
            <a:r>
              <a:rPr lang="en-ZA" dirty="0" smtClean="0"/>
              <a:t>Before developing our application, we need to know if this application is feasible or not, which in this case it is.</a:t>
            </a:r>
          </a:p>
          <a:p>
            <a:r>
              <a:rPr lang="en-ZA" dirty="0" smtClean="0"/>
              <a:t>We should also have researched briefly about fake news in general and specifically about Covid-19 news so that we may have a clear understanding of what is factual, so that it will be much easier to detect what is untrue.</a:t>
            </a:r>
          </a:p>
          <a:p>
            <a:r>
              <a:rPr lang="en-ZA" dirty="0" smtClean="0"/>
              <a:t>We will need the equipment and enough resources to develop. This includes machines and resources suitable software for development, good programming language, good testing skills.</a:t>
            </a:r>
          </a:p>
        </p:txBody>
      </p:sp>
    </p:spTree>
    <p:extLst>
      <p:ext uri="{BB962C8B-B14F-4D97-AF65-F5344CB8AC3E}">
        <p14:creationId xmlns:p14="http://schemas.microsoft.com/office/powerpoint/2010/main" val="1434084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Pre-conditions continues…</a:t>
            </a:r>
            <a:endParaRPr lang="en-ZA" dirty="0"/>
          </a:p>
        </p:txBody>
      </p:sp>
      <p:sp>
        <p:nvSpPr>
          <p:cNvPr id="3" name="Content Placeholder 2"/>
          <p:cNvSpPr>
            <a:spLocks noGrp="1"/>
          </p:cNvSpPr>
          <p:nvPr>
            <p:ph idx="1"/>
          </p:nvPr>
        </p:nvSpPr>
        <p:spPr>
          <a:xfrm>
            <a:off x="1295402" y="2593026"/>
            <a:ext cx="9725524" cy="3531047"/>
          </a:xfrm>
        </p:spPr>
        <p:txBody>
          <a:bodyPr>
            <a:normAutofit fontScale="92500" lnSpcReduction="10000"/>
          </a:bodyPr>
          <a:lstStyle/>
          <a:p>
            <a:r>
              <a:rPr lang="en-ZA" dirty="0"/>
              <a:t>The following are the </a:t>
            </a:r>
            <a:r>
              <a:rPr lang="en-ZA" dirty="0" smtClean="0"/>
              <a:t>pre-conditions of the application itself:</a:t>
            </a:r>
          </a:p>
          <a:p>
            <a:pPr>
              <a:buFont typeface="Courier New" panose="02070309020205020404" pitchFamily="49" charset="0"/>
              <a:buChar char="o"/>
            </a:pPr>
            <a:r>
              <a:rPr lang="en-ZA" dirty="0" smtClean="0"/>
              <a:t>We will require a user to be registered to the application before they can be able to access the services provided.</a:t>
            </a:r>
          </a:p>
          <a:p>
            <a:pPr>
              <a:buFont typeface="Courier New" panose="02070309020205020404" pitchFamily="49" charset="0"/>
              <a:buChar char="o"/>
            </a:pPr>
            <a:r>
              <a:rPr lang="en-ZA" dirty="0" smtClean="0"/>
              <a:t>There will be a data validation check for the login details so that a user logs into the website even when the credentials don’t match.</a:t>
            </a:r>
          </a:p>
          <a:p>
            <a:pPr>
              <a:buFont typeface="Courier New" panose="02070309020205020404" pitchFamily="49" charset="0"/>
              <a:buChar char="o"/>
            </a:pPr>
            <a:r>
              <a:rPr lang="en-ZA" dirty="0" smtClean="0"/>
              <a:t>Because we will be working with people’s information, we will make sure that our security is very secure and no data will be breached in anyway.</a:t>
            </a:r>
          </a:p>
          <a:p>
            <a:pPr>
              <a:buFont typeface="Courier New" panose="02070309020205020404" pitchFamily="49" charset="0"/>
              <a:buChar char="o"/>
            </a:pPr>
            <a:r>
              <a:rPr lang="en-ZA" dirty="0" smtClean="0"/>
              <a:t>The data that we will use to prove whether the data searched by users is true or false should be scientifically proven because Covid-19 is a medical issue.</a:t>
            </a:r>
          </a:p>
          <a:p>
            <a:pPr>
              <a:buFont typeface="Courier New" panose="02070309020205020404" pitchFamily="49" charset="0"/>
              <a:buChar char="o"/>
            </a:pPr>
            <a:endParaRPr lang="en-ZA" dirty="0"/>
          </a:p>
          <a:p>
            <a:endParaRPr lang="en-ZA" dirty="0"/>
          </a:p>
        </p:txBody>
      </p:sp>
    </p:spTree>
    <p:extLst>
      <p:ext uri="{BB962C8B-B14F-4D97-AF65-F5344CB8AC3E}">
        <p14:creationId xmlns:p14="http://schemas.microsoft.com/office/powerpoint/2010/main" val="3202476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Pre-conditions continues…</a:t>
            </a:r>
          </a:p>
        </p:txBody>
      </p:sp>
      <p:sp>
        <p:nvSpPr>
          <p:cNvPr id="3" name="Content Placeholder 2"/>
          <p:cNvSpPr>
            <a:spLocks noGrp="1"/>
          </p:cNvSpPr>
          <p:nvPr>
            <p:ph idx="1"/>
          </p:nvPr>
        </p:nvSpPr>
        <p:spPr/>
        <p:txBody>
          <a:bodyPr/>
          <a:lstStyle/>
          <a:p>
            <a:pPr>
              <a:buFont typeface="Courier New" panose="02070309020205020404" pitchFamily="49" charset="0"/>
              <a:buChar char="o"/>
            </a:pPr>
            <a:r>
              <a:rPr lang="en-ZA" dirty="0" smtClean="0"/>
              <a:t>Under a user’s profile, there will be a history set up to keep anything that goes on the search box in that particular profile to keep it in case a use needs to search it again.</a:t>
            </a:r>
          </a:p>
          <a:p>
            <a:pPr>
              <a:buFont typeface="Courier New" panose="02070309020205020404" pitchFamily="49" charset="0"/>
              <a:buChar char="o"/>
            </a:pPr>
            <a:r>
              <a:rPr lang="en-ZA" dirty="0" smtClean="0"/>
              <a:t>We will use all words of a heading or line on a search box to identify whether the article or news are real or not, not just a portion of it. This will be much more easier for links to certain new and/ articles.</a:t>
            </a:r>
            <a:endParaRPr lang="en-ZA" dirty="0"/>
          </a:p>
        </p:txBody>
      </p:sp>
    </p:spTree>
    <p:extLst>
      <p:ext uri="{BB962C8B-B14F-4D97-AF65-F5344CB8AC3E}">
        <p14:creationId xmlns:p14="http://schemas.microsoft.com/office/powerpoint/2010/main" val="2101749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smtClean="0"/>
              <a:t>Dataset required for testing</a:t>
            </a:r>
            <a:endParaRPr lang="en-ZA" dirty="0"/>
          </a:p>
        </p:txBody>
      </p:sp>
      <p:sp>
        <p:nvSpPr>
          <p:cNvPr id="3" name="Content Placeholder 2"/>
          <p:cNvSpPr>
            <a:spLocks noGrp="1"/>
          </p:cNvSpPr>
          <p:nvPr>
            <p:ph idx="1"/>
          </p:nvPr>
        </p:nvSpPr>
        <p:spPr>
          <a:xfrm>
            <a:off x="1295400" y="2556931"/>
            <a:ext cx="9785683" cy="3422763"/>
          </a:xfrm>
        </p:spPr>
        <p:txBody>
          <a:bodyPr>
            <a:normAutofit/>
          </a:bodyPr>
          <a:lstStyle/>
          <a:p>
            <a:r>
              <a:rPr lang="en-US" dirty="0"/>
              <a:t>Online news can be collected from different sources, such as news agency homepages, search engines, and social media websites</a:t>
            </a:r>
            <a:r>
              <a:rPr lang="en-US" dirty="0" smtClean="0"/>
              <a:t>.</a:t>
            </a:r>
          </a:p>
          <a:p>
            <a:r>
              <a:rPr lang="en-US" dirty="0"/>
              <a:t>We will have two parts to the data gaining process, ‘’fake news’’ and ‘’real news’’. Having this fake news was easy as </a:t>
            </a:r>
            <a:r>
              <a:rPr lang="en-US" dirty="0" err="1"/>
              <a:t>Kaggle</a:t>
            </a:r>
            <a:r>
              <a:rPr lang="en-US" dirty="0"/>
              <a:t> released a fake news dataset consisting 10 articles that about corona virus.  It will be easy to get the real news for the fake news dataset. The real news can be found on reliable sources. The real news was generated from </a:t>
            </a:r>
            <a:r>
              <a:rPr lang="en-US" dirty="0">
                <a:hlinkClick r:id="rId2"/>
              </a:rPr>
              <a:t>https://sacoronavirus.co.za</a:t>
            </a:r>
            <a:r>
              <a:rPr lang="en-US" dirty="0" smtClean="0">
                <a:hlinkClick r:id="rId2"/>
              </a:rPr>
              <a:t>/</a:t>
            </a:r>
            <a:endParaRPr lang="en-US" dirty="0" smtClean="0"/>
          </a:p>
          <a:p>
            <a:r>
              <a:rPr lang="en-US" dirty="0"/>
              <a:t>We will use Fact-checking and Text-classification algorithms for our output. </a:t>
            </a:r>
          </a:p>
        </p:txBody>
      </p:sp>
    </p:spTree>
    <p:extLst>
      <p:ext uri="{BB962C8B-B14F-4D97-AF65-F5344CB8AC3E}">
        <p14:creationId xmlns:p14="http://schemas.microsoft.com/office/powerpoint/2010/main" val="913521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Dataset required for </a:t>
            </a:r>
            <a:r>
              <a:rPr lang="en-ZA" dirty="0" smtClean="0"/>
              <a:t>testing continues…</a:t>
            </a:r>
            <a:endParaRPr lang="en-ZA" dirty="0"/>
          </a:p>
        </p:txBody>
      </p:sp>
      <p:sp>
        <p:nvSpPr>
          <p:cNvPr id="3" name="Content Placeholder 2"/>
          <p:cNvSpPr>
            <a:spLocks noGrp="1"/>
          </p:cNvSpPr>
          <p:nvPr>
            <p:ph idx="1"/>
          </p:nvPr>
        </p:nvSpPr>
        <p:spPr>
          <a:xfrm>
            <a:off x="1295400" y="2556931"/>
            <a:ext cx="9725525" cy="3519015"/>
          </a:xfrm>
        </p:spPr>
        <p:txBody>
          <a:bodyPr>
            <a:normAutofit lnSpcReduction="10000"/>
          </a:bodyPr>
          <a:lstStyle/>
          <a:p>
            <a:r>
              <a:rPr lang="en-US" dirty="0"/>
              <a:t>We will have our algorithm choice, given the dataset, after selecting the features, we should choose the suitable algorithm to extract these features from the dataset. </a:t>
            </a:r>
            <a:endParaRPr lang="en-US" dirty="0" smtClean="0"/>
          </a:p>
          <a:p>
            <a:r>
              <a:rPr lang="en-US" dirty="0" smtClean="0"/>
              <a:t>Specified </a:t>
            </a:r>
            <a:r>
              <a:rPr lang="en-US" dirty="0"/>
              <a:t>the dataset, algorithm, and parameters, training uses computational resources in order to build a model of the data in order to predict the outputs on new data. </a:t>
            </a:r>
            <a:endParaRPr lang="en-US" dirty="0" smtClean="0"/>
          </a:p>
          <a:p>
            <a:r>
              <a:rPr lang="en-US" dirty="0" smtClean="0"/>
              <a:t>When </a:t>
            </a:r>
            <a:r>
              <a:rPr lang="en-US" dirty="0"/>
              <a:t>we want to solve a problem using machine learning. A dataset with several explanations is provided for the classifier to help it finding the category of a new given observation. </a:t>
            </a:r>
            <a:endParaRPr lang="en-ZA" dirty="0"/>
          </a:p>
        </p:txBody>
      </p:sp>
    </p:spTree>
    <p:extLst>
      <p:ext uri="{BB962C8B-B14F-4D97-AF65-F5344CB8AC3E}">
        <p14:creationId xmlns:p14="http://schemas.microsoft.com/office/powerpoint/2010/main" val="2615531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smtClean="0"/>
              <a:t>Normal flow of events</a:t>
            </a:r>
            <a:endParaRPr lang="en-ZA" dirty="0"/>
          </a:p>
        </p:txBody>
      </p:sp>
      <p:sp>
        <p:nvSpPr>
          <p:cNvPr id="3" name="Content Placeholder 2"/>
          <p:cNvSpPr>
            <a:spLocks noGrp="1"/>
          </p:cNvSpPr>
          <p:nvPr>
            <p:ph idx="1"/>
          </p:nvPr>
        </p:nvSpPr>
        <p:spPr>
          <a:xfrm>
            <a:off x="1295402" y="2617089"/>
            <a:ext cx="9601196" cy="3318936"/>
          </a:xfrm>
        </p:spPr>
        <p:txBody>
          <a:bodyPr>
            <a:normAutofit fontScale="92500" lnSpcReduction="10000"/>
          </a:bodyPr>
          <a:lstStyle/>
          <a:p>
            <a:r>
              <a:rPr lang="en-US" b="1" dirty="0"/>
              <a:t>Algorithm 1</a:t>
            </a:r>
            <a:r>
              <a:rPr lang="en-US" dirty="0"/>
              <a:t>: </a:t>
            </a:r>
            <a:r>
              <a:rPr lang="en-US" dirty="0" smtClean="0"/>
              <a:t>Analyze </a:t>
            </a:r>
            <a:r>
              <a:rPr lang="en-US" dirty="0"/>
              <a:t>Web link </a:t>
            </a:r>
          </a:p>
          <a:p>
            <a:pPr marL="0" indent="0">
              <a:buNone/>
            </a:pPr>
            <a:r>
              <a:rPr lang="en-US" dirty="0" smtClean="0"/>
              <a:t>Input: </a:t>
            </a:r>
            <a:r>
              <a:rPr lang="en-US" dirty="0"/>
              <a:t>Web link to a news article.</a:t>
            </a:r>
          </a:p>
          <a:p>
            <a:pPr marL="0" indent="0">
              <a:buNone/>
            </a:pPr>
            <a:r>
              <a:rPr lang="en-US" dirty="0" smtClean="0"/>
              <a:t>Output</a:t>
            </a:r>
            <a:r>
              <a:rPr lang="en-US" dirty="0"/>
              <a:t>: (1) Domain name. </a:t>
            </a:r>
          </a:p>
          <a:p>
            <a:pPr marL="0" indent="0">
              <a:buNone/>
            </a:pPr>
            <a:r>
              <a:rPr lang="en-US" dirty="0" smtClean="0"/>
              <a:t>Title</a:t>
            </a:r>
            <a:r>
              <a:rPr lang="en-US" dirty="0"/>
              <a:t>: Real/fake. </a:t>
            </a:r>
          </a:p>
          <a:p>
            <a:pPr marL="0" indent="0">
              <a:buNone/>
            </a:pPr>
            <a:r>
              <a:rPr lang="en-US" dirty="0" smtClean="0"/>
              <a:t>Content</a:t>
            </a:r>
            <a:r>
              <a:rPr lang="en-US" dirty="0"/>
              <a:t>: </a:t>
            </a:r>
            <a:r>
              <a:rPr lang="en-US" dirty="0" smtClean="0"/>
              <a:t>fake/real.</a:t>
            </a:r>
          </a:p>
          <a:p>
            <a:r>
              <a:rPr lang="en-US" dirty="0"/>
              <a:t>Step 1. Verify if the introduced link is trusted or not </a:t>
            </a:r>
          </a:p>
          <a:p>
            <a:r>
              <a:rPr lang="en-US" dirty="0"/>
              <a:t>Step 2. If the introduced link is classified as trusted output:</a:t>
            </a:r>
          </a:p>
          <a:p>
            <a:pPr marL="0" indent="0">
              <a:buNone/>
            </a:pPr>
            <a:endParaRPr lang="en-US" dirty="0"/>
          </a:p>
        </p:txBody>
      </p:sp>
    </p:spTree>
    <p:extLst>
      <p:ext uri="{BB962C8B-B14F-4D97-AF65-F5344CB8AC3E}">
        <p14:creationId xmlns:p14="http://schemas.microsoft.com/office/powerpoint/2010/main" val="2803599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Normal flow of </a:t>
            </a:r>
            <a:r>
              <a:rPr lang="en-ZA" dirty="0" smtClean="0"/>
              <a:t>events continues…</a:t>
            </a:r>
            <a:endParaRPr lang="en-ZA" dirty="0"/>
          </a:p>
        </p:txBody>
      </p:sp>
      <p:sp>
        <p:nvSpPr>
          <p:cNvPr id="3" name="Content Placeholder 2"/>
          <p:cNvSpPr>
            <a:spLocks noGrp="1"/>
          </p:cNvSpPr>
          <p:nvPr>
            <p:ph idx="1"/>
          </p:nvPr>
        </p:nvSpPr>
        <p:spPr>
          <a:xfrm>
            <a:off x="1295400" y="2556931"/>
            <a:ext cx="9601197" cy="3470889"/>
          </a:xfrm>
        </p:spPr>
        <p:txBody>
          <a:bodyPr>
            <a:normAutofit/>
          </a:bodyPr>
          <a:lstStyle/>
          <a:p>
            <a:pPr marL="0" indent="0">
              <a:buNone/>
            </a:pPr>
            <a:r>
              <a:rPr lang="en-US" dirty="0" smtClean="0"/>
              <a:t>(</a:t>
            </a:r>
            <a:r>
              <a:rPr lang="en-US" dirty="0"/>
              <a:t>1) Domain name. </a:t>
            </a:r>
          </a:p>
          <a:p>
            <a:pPr marL="0" indent="0">
              <a:buNone/>
            </a:pPr>
            <a:r>
              <a:rPr lang="en-US" dirty="0"/>
              <a:t>3) The title of the article. </a:t>
            </a:r>
          </a:p>
          <a:p>
            <a:pPr marL="0" indent="0">
              <a:buNone/>
            </a:pPr>
            <a:r>
              <a:rPr lang="en-US" dirty="0"/>
              <a:t>(4) The content of the article.</a:t>
            </a:r>
          </a:p>
          <a:p>
            <a:pPr marL="0" indent="0">
              <a:buNone/>
            </a:pPr>
            <a:r>
              <a:rPr lang="en-US" dirty="0"/>
              <a:t>Else, print not </a:t>
            </a:r>
            <a:r>
              <a:rPr lang="en-US" dirty="0" smtClean="0"/>
              <a:t>trusted</a:t>
            </a:r>
          </a:p>
          <a:p>
            <a:r>
              <a:rPr lang="en-ZA" b="1" dirty="0" smtClean="0"/>
              <a:t>Error conditions</a:t>
            </a:r>
            <a:r>
              <a:rPr lang="en-ZA" dirty="0" smtClean="0"/>
              <a:t>: If </a:t>
            </a:r>
            <a:r>
              <a:rPr lang="en-ZA" dirty="0"/>
              <a:t>web link is invalid a banner message will be populated stating that the link is invalid or does not exist. We will use error handling</a:t>
            </a:r>
            <a:endParaRPr lang="en-US" dirty="0"/>
          </a:p>
        </p:txBody>
      </p:sp>
    </p:spTree>
    <p:extLst>
      <p:ext uri="{BB962C8B-B14F-4D97-AF65-F5344CB8AC3E}">
        <p14:creationId xmlns:p14="http://schemas.microsoft.com/office/powerpoint/2010/main" val="507963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Normal flow of events continues…</a:t>
            </a:r>
          </a:p>
        </p:txBody>
      </p:sp>
      <p:sp>
        <p:nvSpPr>
          <p:cNvPr id="3" name="Content Placeholder 2"/>
          <p:cNvSpPr>
            <a:spLocks noGrp="1"/>
          </p:cNvSpPr>
          <p:nvPr>
            <p:ph idx="1"/>
          </p:nvPr>
        </p:nvSpPr>
        <p:spPr>
          <a:xfrm>
            <a:off x="1295402" y="2544900"/>
            <a:ext cx="9725524" cy="3579173"/>
          </a:xfrm>
        </p:spPr>
        <p:txBody>
          <a:bodyPr>
            <a:normAutofit lnSpcReduction="10000"/>
          </a:bodyPr>
          <a:lstStyle/>
          <a:p>
            <a:r>
              <a:rPr lang="en-ZA" b="1" dirty="0"/>
              <a:t>Algorithm 2:</a:t>
            </a:r>
            <a:r>
              <a:rPr lang="en-ZA" dirty="0"/>
              <a:t> Analyse Title of the article</a:t>
            </a:r>
          </a:p>
          <a:p>
            <a:pPr marL="0" indent="0">
              <a:buNone/>
            </a:pPr>
            <a:r>
              <a:rPr lang="en-ZA" dirty="0"/>
              <a:t>Input: Title of the article</a:t>
            </a:r>
          </a:p>
          <a:p>
            <a:pPr marL="0" indent="0">
              <a:buNone/>
            </a:pPr>
            <a:r>
              <a:rPr lang="en-ZA" dirty="0"/>
              <a:t>Output: fake/real</a:t>
            </a:r>
          </a:p>
          <a:p>
            <a:r>
              <a:rPr lang="en-ZA" dirty="0"/>
              <a:t>Step 1. Get the title of the article from the datasets</a:t>
            </a:r>
          </a:p>
          <a:p>
            <a:r>
              <a:rPr lang="en-ZA" dirty="0"/>
              <a:t>Step 2. Print the title</a:t>
            </a:r>
          </a:p>
          <a:p>
            <a:r>
              <a:rPr lang="en-ZA" b="1" dirty="0"/>
              <a:t>Possible error </a:t>
            </a:r>
            <a:r>
              <a:rPr lang="en-ZA" b="1" dirty="0" smtClean="0"/>
              <a:t>conditions</a:t>
            </a:r>
            <a:r>
              <a:rPr lang="en-ZA" dirty="0" smtClean="0"/>
              <a:t>: If </a:t>
            </a:r>
            <a:r>
              <a:rPr lang="en-ZA" dirty="0"/>
              <a:t>Title is invalid a banner message will be populated stating that the link is invalid or does not exist. We will use error handling.</a:t>
            </a:r>
          </a:p>
          <a:p>
            <a:endParaRPr lang="en-ZA" dirty="0"/>
          </a:p>
        </p:txBody>
      </p:sp>
    </p:spTree>
    <p:extLst>
      <p:ext uri="{BB962C8B-B14F-4D97-AF65-F5344CB8AC3E}">
        <p14:creationId xmlns:p14="http://schemas.microsoft.com/office/powerpoint/2010/main" val="2979584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Normal flow of events continues…</a:t>
            </a:r>
          </a:p>
        </p:txBody>
      </p:sp>
      <p:sp>
        <p:nvSpPr>
          <p:cNvPr id="3" name="Content Placeholder 2"/>
          <p:cNvSpPr>
            <a:spLocks noGrp="1"/>
          </p:cNvSpPr>
          <p:nvPr>
            <p:ph idx="1"/>
          </p:nvPr>
        </p:nvSpPr>
        <p:spPr/>
        <p:txBody>
          <a:bodyPr>
            <a:normAutofit fontScale="85000" lnSpcReduction="20000"/>
          </a:bodyPr>
          <a:lstStyle/>
          <a:p>
            <a:r>
              <a:rPr lang="en-ZA" b="1" dirty="0"/>
              <a:t>Algorithm 3</a:t>
            </a:r>
            <a:r>
              <a:rPr lang="en-ZA" dirty="0"/>
              <a:t>: Analyse the content</a:t>
            </a:r>
          </a:p>
          <a:p>
            <a:r>
              <a:rPr lang="en-ZA" dirty="0"/>
              <a:t>Input content of the article.</a:t>
            </a:r>
          </a:p>
          <a:p>
            <a:r>
              <a:rPr lang="en-ZA" dirty="0"/>
              <a:t>Output: Real/fake</a:t>
            </a:r>
          </a:p>
          <a:p>
            <a:r>
              <a:rPr lang="en-ZA" dirty="0"/>
              <a:t>Step 1. Read the dataset with fake and real news and divided it into train and test sets.</a:t>
            </a:r>
          </a:p>
          <a:p>
            <a:r>
              <a:rPr lang="en-ZA" dirty="0"/>
              <a:t>Step 2. Build the text representation model</a:t>
            </a:r>
          </a:p>
          <a:p>
            <a:r>
              <a:rPr lang="en-ZA" dirty="0"/>
              <a:t>Step 3. Fit the train data to machine learning classifiers</a:t>
            </a:r>
          </a:p>
          <a:p>
            <a:r>
              <a:rPr lang="en-ZA" dirty="0"/>
              <a:t>Step 4. Predict the label (fake/real) of the article content using the machine learning classifiers</a:t>
            </a:r>
          </a:p>
          <a:p>
            <a:r>
              <a:rPr lang="en-ZA" dirty="0"/>
              <a:t>Step 5. Use the test data to calculate the accuracy score for the machine learning </a:t>
            </a:r>
            <a:r>
              <a:rPr lang="en-ZA" dirty="0" smtClean="0"/>
              <a:t>classifiers</a:t>
            </a:r>
            <a:endParaRPr lang="en-ZA" dirty="0"/>
          </a:p>
        </p:txBody>
      </p:sp>
    </p:spTree>
    <p:extLst>
      <p:ext uri="{BB962C8B-B14F-4D97-AF65-F5344CB8AC3E}">
        <p14:creationId xmlns:p14="http://schemas.microsoft.com/office/powerpoint/2010/main" val="3767578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Normal flow of events continues…</a:t>
            </a:r>
          </a:p>
        </p:txBody>
      </p:sp>
      <p:sp>
        <p:nvSpPr>
          <p:cNvPr id="3" name="Content Placeholder 2"/>
          <p:cNvSpPr>
            <a:spLocks noGrp="1"/>
          </p:cNvSpPr>
          <p:nvPr>
            <p:ph idx="1"/>
          </p:nvPr>
        </p:nvSpPr>
        <p:spPr/>
        <p:txBody>
          <a:bodyPr/>
          <a:lstStyle/>
          <a:p>
            <a:r>
              <a:rPr lang="en-ZA" b="1" dirty="0"/>
              <a:t>Possible error </a:t>
            </a:r>
            <a:r>
              <a:rPr lang="en-ZA" b="1" dirty="0" smtClean="0"/>
              <a:t>conditions</a:t>
            </a:r>
            <a:r>
              <a:rPr lang="en-ZA" dirty="0" smtClean="0"/>
              <a:t>: If </a:t>
            </a:r>
            <a:r>
              <a:rPr lang="en-ZA" dirty="0"/>
              <a:t>content is invalid a banner message will be populated stating that the link is invalid or does not exist. We will use error </a:t>
            </a:r>
            <a:r>
              <a:rPr lang="en-ZA" dirty="0" smtClean="0"/>
              <a:t>handling.</a:t>
            </a:r>
            <a:endParaRPr lang="en-ZA" dirty="0"/>
          </a:p>
          <a:p>
            <a:r>
              <a:rPr lang="en-ZA" dirty="0"/>
              <a:t>Machine learning (ML</a:t>
            </a:r>
            <a:r>
              <a:rPr lang="en-ZA" dirty="0" smtClean="0"/>
              <a:t>): to </a:t>
            </a:r>
            <a:r>
              <a:rPr lang="en-ZA" dirty="0"/>
              <a:t>solve the problem of constructing computer programs that improve by experience. We used machine learning models to verify the article content and title. Using machine learning, we will be able to: check if the title is fake or real; decide if the article content is fake or real</a:t>
            </a:r>
            <a:r>
              <a:rPr lang="en-ZA" dirty="0" smtClean="0"/>
              <a:t>.</a:t>
            </a:r>
            <a:endParaRPr lang="en-ZA" dirty="0"/>
          </a:p>
        </p:txBody>
      </p:sp>
    </p:spTree>
    <p:extLst>
      <p:ext uri="{BB962C8B-B14F-4D97-AF65-F5344CB8AC3E}">
        <p14:creationId xmlns:p14="http://schemas.microsoft.com/office/powerpoint/2010/main" val="1474454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smtClean="0"/>
              <a:t>Post-conditions</a:t>
            </a:r>
            <a:endParaRPr lang="en-ZA" dirty="0"/>
          </a:p>
        </p:txBody>
      </p:sp>
      <p:sp>
        <p:nvSpPr>
          <p:cNvPr id="3" name="Content Placeholder 2"/>
          <p:cNvSpPr>
            <a:spLocks noGrp="1"/>
          </p:cNvSpPr>
          <p:nvPr>
            <p:ph idx="1"/>
          </p:nvPr>
        </p:nvSpPr>
        <p:spPr>
          <a:xfrm>
            <a:off x="1295401" y="2556932"/>
            <a:ext cx="9601196" cy="3627300"/>
          </a:xfrm>
        </p:spPr>
        <p:txBody>
          <a:bodyPr>
            <a:normAutofit/>
          </a:bodyPr>
          <a:lstStyle/>
          <a:p>
            <a:r>
              <a:rPr lang="en-US" dirty="0"/>
              <a:t>The system will prohibit the </a:t>
            </a:r>
            <a:r>
              <a:rPr lang="en-US" dirty="0" smtClean="0"/>
              <a:t>users </a:t>
            </a:r>
            <a:r>
              <a:rPr lang="en-US" dirty="0"/>
              <a:t>from registering for </a:t>
            </a:r>
            <a:r>
              <a:rPr lang="en-US" dirty="0" smtClean="0"/>
              <a:t>more than once. They can only continue to login, not multiple registrations for one user.</a:t>
            </a:r>
          </a:p>
          <a:p>
            <a:r>
              <a:rPr lang="en-US" dirty="0" smtClean="0"/>
              <a:t>After a user has entered their search data, the results will show underneath the search title whether it is false, or factual.</a:t>
            </a:r>
          </a:p>
          <a:p>
            <a:r>
              <a:rPr lang="en-US" dirty="0" smtClean="0"/>
              <a:t>After outputting the results, the system still allows the user to make more searches and it will still bring the results because there is no limit for the searches a user can make per entry.</a:t>
            </a:r>
          </a:p>
        </p:txBody>
      </p:sp>
    </p:spTree>
    <p:extLst>
      <p:ext uri="{BB962C8B-B14F-4D97-AF65-F5344CB8AC3E}">
        <p14:creationId xmlns:p14="http://schemas.microsoft.com/office/powerpoint/2010/main" val="1351065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Post-conditions continues…</a:t>
            </a:r>
            <a:endParaRPr lang="en-ZA" dirty="0"/>
          </a:p>
        </p:txBody>
      </p:sp>
      <p:sp>
        <p:nvSpPr>
          <p:cNvPr id="3" name="Content Placeholder 2"/>
          <p:cNvSpPr>
            <a:spLocks noGrp="1"/>
          </p:cNvSpPr>
          <p:nvPr>
            <p:ph idx="1"/>
          </p:nvPr>
        </p:nvSpPr>
        <p:spPr/>
        <p:txBody>
          <a:bodyPr/>
          <a:lstStyle/>
          <a:p>
            <a:r>
              <a:rPr lang="en-US" dirty="0" smtClean="0"/>
              <a:t>Users will have a sense of the real news and the fake news to their attention than they did before.</a:t>
            </a:r>
          </a:p>
          <a:p>
            <a:r>
              <a:rPr lang="en-US" dirty="0" smtClean="0"/>
              <a:t>We </a:t>
            </a:r>
            <a:r>
              <a:rPr lang="en-US" dirty="0"/>
              <a:t>will make sure no data is breached. If you build an app or software that collects user data, such as names, email addresses, dates of birth, or telephone numbers, then it is our responsibility to keep that data secure. That means complying with data protection laws.</a:t>
            </a:r>
            <a:r>
              <a:rPr lang="en-ZA" dirty="0"/>
              <a:t> </a:t>
            </a:r>
          </a:p>
          <a:p>
            <a:endParaRPr lang="en-ZA" dirty="0"/>
          </a:p>
        </p:txBody>
      </p:sp>
    </p:spTree>
    <p:extLst>
      <p:ext uri="{BB962C8B-B14F-4D97-AF65-F5344CB8AC3E}">
        <p14:creationId xmlns:p14="http://schemas.microsoft.com/office/powerpoint/2010/main" val="3800902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Features to be tested</a:t>
            </a:r>
            <a:endParaRPr lang="en-ZA" dirty="0"/>
          </a:p>
        </p:txBody>
      </p:sp>
      <p:sp>
        <p:nvSpPr>
          <p:cNvPr id="3" name="Content Placeholder 2"/>
          <p:cNvSpPr>
            <a:spLocks noGrp="1"/>
          </p:cNvSpPr>
          <p:nvPr>
            <p:ph idx="1"/>
          </p:nvPr>
        </p:nvSpPr>
        <p:spPr>
          <a:xfrm>
            <a:off x="1295400" y="2556931"/>
            <a:ext cx="9881937" cy="3591206"/>
          </a:xfrm>
        </p:spPr>
        <p:txBody>
          <a:bodyPr>
            <a:normAutofit lnSpcReduction="10000"/>
          </a:bodyPr>
          <a:lstStyle/>
          <a:p>
            <a:r>
              <a:rPr lang="en-US" dirty="0" smtClean="0"/>
              <a:t>Domain </a:t>
            </a:r>
            <a:r>
              <a:rPr lang="en-US" dirty="0"/>
              <a:t>name of the website: </a:t>
            </a:r>
            <a:r>
              <a:rPr lang="en-US" dirty="0" smtClean="0"/>
              <a:t>We </a:t>
            </a:r>
            <a:r>
              <a:rPr lang="en-US" dirty="0"/>
              <a:t>will test the domain name if it’s credible or not. The test will fail if the domain link is </a:t>
            </a:r>
            <a:r>
              <a:rPr lang="en-US" dirty="0" smtClean="0"/>
              <a:t>invalid.</a:t>
            </a:r>
            <a:endParaRPr lang="en-ZA" dirty="0"/>
          </a:p>
          <a:p>
            <a:r>
              <a:rPr lang="en-US" dirty="0" smtClean="0"/>
              <a:t>For title</a:t>
            </a:r>
            <a:r>
              <a:rPr lang="en-US" dirty="0"/>
              <a:t>: </a:t>
            </a:r>
            <a:r>
              <a:rPr lang="en-US" dirty="0" smtClean="0"/>
              <a:t>If </a:t>
            </a:r>
            <a:r>
              <a:rPr lang="en-US" dirty="0"/>
              <a:t>the title is real or fake. We will test the title of the article. The </a:t>
            </a:r>
            <a:r>
              <a:rPr lang="en-US" dirty="0" smtClean="0"/>
              <a:t>test will </a:t>
            </a:r>
            <a:r>
              <a:rPr lang="en-US" dirty="0"/>
              <a:t>fail if the title can’t be found.</a:t>
            </a:r>
            <a:endParaRPr lang="en-ZA" dirty="0"/>
          </a:p>
          <a:p>
            <a:r>
              <a:rPr lang="en-US" dirty="0" smtClean="0"/>
              <a:t>For content</a:t>
            </a:r>
            <a:r>
              <a:rPr lang="en-US" dirty="0"/>
              <a:t>: </a:t>
            </a:r>
            <a:r>
              <a:rPr lang="en-US" dirty="0" smtClean="0"/>
              <a:t>If </a:t>
            </a:r>
            <a:r>
              <a:rPr lang="en-US" dirty="0"/>
              <a:t>the content is real or fake</a:t>
            </a:r>
            <a:r>
              <a:rPr lang="en-US" dirty="0" smtClean="0"/>
              <a:t>. The test will fail if the content searched is invalid, or not found.</a:t>
            </a:r>
            <a:endParaRPr lang="en-ZA" dirty="0"/>
          </a:p>
          <a:p>
            <a:r>
              <a:rPr lang="en-US" dirty="0"/>
              <a:t>We will test if the application is compatible with every device. </a:t>
            </a:r>
            <a:r>
              <a:rPr lang="en-US" dirty="0" smtClean="0"/>
              <a:t>We </a:t>
            </a:r>
            <a:r>
              <a:rPr lang="en-US" dirty="0"/>
              <a:t>will perform a unit test because we will be testing individual functions or methods with objects to access the functionalities. </a:t>
            </a:r>
            <a:endParaRPr lang="en-ZA" dirty="0"/>
          </a:p>
        </p:txBody>
      </p:sp>
    </p:spTree>
    <p:extLst>
      <p:ext uri="{BB962C8B-B14F-4D97-AF65-F5344CB8AC3E}">
        <p14:creationId xmlns:p14="http://schemas.microsoft.com/office/powerpoint/2010/main" val="3809192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Features to be </a:t>
            </a:r>
            <a:r>
              <a:rPr lang="en-ZA" dirty="0" smtClean="0"/>
              <a:t>tested continues…</a:t>
            </a:r>
            <a:endParaRPr lang="en-ZA" dirty="0"/>
          </a:p>
        </p:txBody>
      </p:sp>
      <p:sp>
        <p:nvSpPr>
          <p:cNvPr id="3" name="Content Placeholder 2"/>
          <p:cNvSpPr>
            <a:spLocks noGrp="1"/>
          </p:cNvSpPr>
          <p:nvPr>
            <p:ph idx="1"/>
          </p:nvPr>
        </p:nvSpPr>
        <p:spPr>
          <a:xfrm>
            <a:off x="1295401" y="2556931"/>
            <a:ext cx="9749588" cy="3639331"/>
          </a:xfrm>
        </p:spPr>
        <p:txBody>
          <a:bodyPr>
            <a:normAutofit lnSpcReduction="10000"/>
          </a:bodyPr>
          <a:lstStyle/>
          <a:p>
            <a:r>
              <a:rPr lang="en-US" dirty="0"/>
              <a:t>We will also </a:t>
            </a:r>
            <a:r>
              <a:rPr lang="en-US" dirty="0" smtClean="0"/>
              <a:t>test the non-functional requirements a follows:</a:t>
            </a:r>
          </a:p>
          <a:p>
            <a:r>
              <a:rPr lang="en-US" dirty="0" smtClean="0"/>
              <a:t>Performance: how long does the application take to retrieve the results from the application back to the user.</a:t>
            </a:r>
          </a:p>
          <a:p>
            <a:r>
              <a:rPr lang="en-US" dirty="0" smtClean="0"/>
              <a:t>Reliability: how can the system be trusted to bring accurate results.</a:t>
            </a:r>
          </a:p>
          <a:p>
            <a:r>
              <a:rPr lang="en-US" dirty="0" smtClean="0"/>
              <a:t>Quality: the system will not randomly crash and very user-friendly.</a:t>
            </a:r>
          </a:p>
          <a:p>
            <a:r>
              <a:rPr lang="en-US" dirty="0" smtClean="0"/>
              <a:t>Security: how secure the system is to keep people’s data only to themselves.</a:t>
            </a:r>
          </a:p>
          <a:p>
            <a:r>
              <a:rPr lang="en-US" dirty="0" smtClean="0"/>
              <a:t>Maintainability: can the system be maintained and adapt to changing environments.</a:t>
            </a:r>
            <a:endParaRPr lang="en-ZA" dirty="0"/>
          </a:p>
        </p:txBody>
      </p:sp>
    </p:spTree>
    <p:extLst>
      <p:ext uri="{BB962C8B-B14F-4D97-AF65-F5344CB8AC3E}">
        <p14:creationId xmlns:p14="http://schemas.microsoft.com/office/powerpoint/2010/main" val="1850575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Entrance and Exit criteria</a:t>
            </a:r>
            <a:endParaRPr lang="en-ZA" dirty="0"/>
          </a:p>
        </p:txBody>
      </p:sp>
      <p:sp>
        <p:nvSpPr>
          <p:cNvPr id="3" name="Content Placeholder 2"/>
          <p:cNvSpPr>
            <a:spLocks noGrp="1"/>
          </p:cNvSpPr>
          <p:nvPr>
            <p:ph idx="1"/>
          </p:nvPr>
        </p:nvSpPr>
        <p:spPr/>
        <p:txBody>
          <a:bodyPr/>
          <a:lstStyle/>
          <a:p>
            <a:r>
              <a:rPr lang="en-US" dirty="0"/>
              <a:t>We take a dataset as input; the output of the algorithm will depend on the input dataset. If the input is fake/real news dataset, then the output displays if the article is fake/real. </a:t>
            </a:r>
            <a:endParaRPr lang="en-US" dirty="0" smtClean="0"/>
          </a:p>
          <a:p>
            <a:r>
              <a:rPr lang="en-US" dirty="0" smtClean="0"/>
              <a:t>The </a:t>
            </a:r>
            <a:r>
              <a:rPr lang="en-US" dirty="0"/>
              <a:t>entrance criteria will be the dataset, if the dataset is inputted the test pass else fail. </a:t>
            </a:r>
            <a:endParaRPr lang="en-US" dirty="0" smtClean="0"/>
          </a:p>
          <a:p>
            <a:r>
              <a:rPr lang="en-US" dirty="0" smtClean="0"/>
              <a:t>The </a:t>
            </a:r>
            <a:r>
              <a:rPr lang="en-US" dirty="0"/>
              <a:t>exit criteria will include validated tests cases, test data and pass/fail criteria. The exit criteria will populate a banner message conforming that if a user want to exit the application. </a:t>
            </a:r>
            <a:endParaRPr lang="en-ZA" dirty="0"/>
          </a:p>
        </p:txBody>
      </p:sp>
    </p:spTree>
    <p:extLst>
      <p:ext uri="{BB962C8B-B14F-4D97-AF65-F5344CB8AC3E}">
        <p14:creationId xmlns:p14="http://schemas.microsoft.com/office/powerpoint/2010/main" val="874086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Acronyms </a:t>
            </a:r>
            <a:endParaRPr lang="en-ZA" dirty="0"/>
          </a:p>
        </p:txBody>
      </p:sp>
      <p:sp>
        <p:nvSpPr>
          <p:cNvPr id="3" name="Content Placeholder 2"/>
          <p:cNvSpPr>
            <a:spLocks noGrp="1"/>
          </p:cNvSpPr>
          <p:nvPr>
            <p:ph idx="1"/>
          </p:nvPr>
        </p:nvSpPr>
        <p:spPr>
          <a:xfrm>
            <a:off x="1295402" y="2526632"/>
            <a:ext cx="9412703" cy="2863515"/>
          </a:xfrm>
        </p:spPr>
        <p:txBody>
          <a:bodyPr/>
          <a:lstStyle/>
          <a:p>
            <a:r>
              <a:rPr lang="en-ZA" dirty="0" smtClean="0"/>
              <a:t>ML: Machine Learning</a:t>
            </a:r>
          </a:p>
          <a:p>
            <a:r>
              <a:rPr lang="en-ZA" dirty="0" smtClean="0"/>
              <a:t>DB: Database</a:t>
            </a:r>
          </a:p>
          <a:p>
            <a:r>
              <a:rPr lang="en-ZA" dirty="0" smtClean="0"/>
              <a:t>AI: Artificial Intelligence</a:t>
            </a:r>
          </a:p>
          <a:p>
            <a:r>
              <a:rPr lang="en-ZA" dirty="0" smtClean="0"/>
              <a:t>API: Application Programming Interface</a:t>
            </a:r>
          </a:p>
          <a:p>
            <a:endParaRPr lang="en-ZA" dirty="0" smtClean="0"/>
          </a:p>
        </p:txBody>
      </p:sp>
    </p:spTree>
    <p:extLst>
      <p:ext uri="{BB962C8B-B14F-4D97-AF65-F5344CB8AC3E}">
        <p14:creationId xmlns:p14="http://schemas.microsoft.com/office/powerpoint/2010/main" val="1592196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Graphics to explain the problem</a:t>
            </a:r>
            <a:endParaRPr lang="en-ZA" dirty="0"/>
          </a:p>
        </p:txBody>
      </p:sp>
      <p:sp>
        <p:nvSpPr>
          <p:cNvPr id="3" name="Content Placeholder 2"/>
          <p:cNvSpPr>
            <a:spLocks noGrp="1"/>
          </p:cNvSpPr>
          <p:nvPr>
            <p:ph idx="1"/>
          </p:nvPr>
        </p:nvSpPr>
        <p:spPr/>
        <p:txBody>
          <a:bodyPr/>
          <a:lstStyle/>
          <a:p>
            <a:r>
              <a:rPr lang="en-ZA" dirty="0" smtClean="0"/>
              <a:t>Dataset</a:t>
            </a:r>
          </a:p>
          <a:p>
            <a:pPr marL="0" indent="0">
              <a:buNone/>
            </a:pPr>
            <a:endParaRPr lang="en-ZA" dirty="0"/>
          </a:p>
        </p:txBody>
      </p:sp>
      <p:pic>
        <p:nvPicPr>
          <p:cNvPr id="5" name="Picture 4"/>
          <p:cNvPicPr>
            <a:picLocks noChangeAspect="1"/>
          </p:cNvPicPr>
          <p:nvPr/>
        </p:nvPicPr>
        <p:blipFill>
          <a:blip r:embed="rId2"/>
          <a:stretch>
            <a:fillRect/>
          </a:stretch>
        </p:blipFill>
        <p:spPr>
          <a:xfrm>
            <a:off x="2857668" y="2683681"/>
            <a:ext cx="5664563" cy="3344140"/>
          </a:xfrm>
          <a:prstGeom prst="rect">
            <a:avLst/>
          </a:prstGeom>
        </p:spPr>
      </p:pic>
    </p:spTree>
    <p:extLst>
      <p:ext uri="{BB962C8B-B14F-4D97-AF65-F5344CB8AC3E}">
        <p14:creationId xmlns:p14="http://schemas.microsoft.com/office/powerpoint/2010/main" val="2496074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Graphics continues…</a:t>
            </a:r>
            <a:endParaRPr lang="en-ZA" dirty="0"/>
          </a:p>
        </p:txBody>
      </p:sp>
      <p:sp>
        <p:nvSpPr>
          <p:cNvPr id="3" name="Content Placeholder 2"/>
          <p:cNvSpPr>
            <a:spLocks noGrp="1"/>
          </p:cNvSpPr>
          <p:nvPr>
            <p:ph idx="1"/>
          </p:nvPr>
        </p:nvSpPr>
        <p:spPr>
          <a:xfrm>
            <a:off x="1295402" y="2454443"/>
            <a:ext cx="9797713" cy="3693694"/>
          </a:xfrm>
        </p:spPr>
        <p:txBody>
          <a:bodyPr>
            <a:normAutofit fontScale="85000" lnSpcReduction="20000"/>
          </a:bodyPr>
          <a:lstStyle/>
          <a:p>
            <a:endParaRPr lang="en-ZA" dirty="0" smtClean="0"/>
          </a:p>
          <a:p>
            <a:endParaRPr lang="en-ZA" dirty="0"/>
          </a:p>
          <a:p>
            <a:endParaRPr lang="en-ZA" dirty="0" smtClean="0"/>
          </a:p>
          <a:p>
            <a:endParaRPr lang="en-ZA" dirty="0"/>
          </a:p>
          <a:p>
            <a:endParaRPr lang="en-ZA" dirty="0" smtClean="0"/>
          </a:p>
          <a:p>
            <a:endParaRPr lang="en-ZA" dirty="0"/>
          </a:p>
          <a:p>
            <a:endParaRPr lang="en-US" dirty="0" smtClean="0"/>
          </a:p>
          <a:p>
            <a:endParaRPr lang="en-US" dirty="0" smtClean="0"/>
          </a:p>
          <a:p>
            <a:r>
              <a:rPr lang="en-US" dirty="0" smtClean="0"/>
              <a:t>The </a:t>
            </a:r>
            <a:r>
              <a:rPr lang="en-US" dirty="0"/>
              <a:t>graph above shows that how fake news about Corona virus spread through social networks. </a:t>
            </a:r>
            <a:endParaRPr lang="en-ZA" dirty="0"/>
          </a:p>
        </p:txBody>
      </p:sp>
      <p:pic>
        <p:nvPicPr>
          <p:cNvPr id="4" name="Picture 3"/>
          <p:cNvPicPr/>
          <p:nvPr/>
        </p:nvPicPr>
        <p:blipFill rotWithShape="1">
          <a:blip r:embed="rId2" cstate="print">
            <a:extLst>
              <a:ext uri="{28A0092B-C50C-407E-A947-70E740481C1C}">
                <a14:useLocalDpi xmlns:a14="http://schemas.microsoft.com/office/drawing/2010/main" val="0"/>
              </a:ext>
            </a:extLst>
          </a:blip>
          <a:srcRect l="1" r="166" b="7084"/>
          <a:stretch/>
        </p:blipFill>
        <p:spPr bwMode="auto">
          <a:xfrm>
            <a:off x="2624889" y="2454443"/>
            <a:ext cx="6543174" cy="3068052"/>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29545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Conclusion </a:t>
            </a:r>
            <a:endParaRPr lang="en-ZA" dirty="0"/>
          </a:p>
        </p:txBody>
      </p:sp>
      <p:sp>
        <p:nvSpPr>
          <p:cNvPr id="3" name="Content Placeholder 2"/>
          <p:cNvSpPr>
            <a:spLocks noGrp="1"/>
          </p:cNvSpPr>
          <p:nvPr>
            <p:ph idx="1"/>
          </p:nvPr>
        </p:nvSpPr>
        <p:spPr/>
        <p:txBody>
          <a:bodyPr/>
          <a:lstStyle/>
          <a:p>
            <a:r>
              <a:rPr lang="en-ZA" dirty="0"/>
              <a:t>Our project is only limited in focusing on detecting the integrity of the news found in articles, journals, blogs or any other platform providing news, meaning it will only accept links with information. </a:t>
            </a:r>
            <a:endParaRPr lang="en-ZA" dirty="0" smtClean="0"/>
          </a:p>
          <a:p>
            <a:r>
              <a:rPr lang="en-ZA" dirty="0" smtClean="0"/>
              <a:t>For </a:t>
            </a:r>
            <a:r>
              <a:rPr lang="en-ZA" dirty="0"/>
              <a:t>example, if you paste a Facebook link, an error should pop up that tells you the application does not support the source of information you are trying to retrieve.</a:t>
            </a:r>
          </a:p>
          <a:p>
            <a:endParaRPr lang="en-ZA" dirty="0"/>
          </a:p>
        </p:txBody>
      </p:sp>
    </p:spTree>
    <p:extLst>
      <p:ext uri="{BB962C8B-B14F-4D97-AF65-F5344CB8AC3E}">
        <p14:creationId xmlns:p14="http://schemas.microsoft.com/office/powerpoint/2010/main" val="3641749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77916" y="2695073"/>
            <a:ext cx="5763126" cy="1569660"/>
          </a:xfrm>
          <a:prstGeom prst="rect">
            <a:avLst/>
          </a:prstGeom>
          <a:noFill/>
        </p:spPr>
        <p:txBody>
          <a:bodyPr wrap="square" rtlCol="0">
            <a:spAutoFit/>
          </a:bodyPr>
          <a:lstStyle/>
          <a:p>
            <a:r>
              <a:rPr lang="en-ZA" sz="9600" dirty="0" smtClean="0">
                <a:latin typeface="+mj-lt"/>
              </a:rPr>
              <a:t>The end</a:t>
            </a:r>
            <a:endParaRPr lang="en-ZA" sz="9600" dirty="0">
              <a:latin typeface="+mj-lt"/>
            </a:endParaRPr>
          </a:p>
        </p:txBody>
      </p:sp>
    </p:spTree>
    <p:extLst>
      <p:ext uri="{BB962C8B-B14F-4D97-AF65-F5344CB8AC3E}">
        <p14:creationId xmlns:p14="http://schemas.microsoft.com/office/powerpoint/2010/main" val="256037643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2319</TotalTime>
  <Words>2095</Words>
  <Application>Microsoft Office PowerPoint</Application>
  <PresentationFormat>Widescreen</PresentationFormat>
  <Paragraphs>143</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Courier New</vt:lpstr>
      <vt:lpstr>Garamond</vt:lpstr>
      <vt:lpstr>Times New Roman</vt:lpstr>
      <vt:lpstr>Organic</vt:lpstr>
      <vt:lpstr>Term 2 Assignment Group Number: 7 Group Name: The Legendaries Fake News detection</vt:lpstr>
      <vt:lpstr>Domain area of the Problem</vt:lpstr>
      <vt:lpstr>Domain area continues…</vt:lpstr>
      <vt:lpstr>Domain area continues…</vt:lpstr>
      <vt:lpstr>Aim and objectives</vt:lpstr>
      <vt:lpstr>Aim and objectives continues…</vt:lpstr>
      <vt:lpstr>Pre-conditions</vt:lpstr>
      <vt:lpstr>Pre-conditions continues…</vt:lpstr>
      <vt:lpstr>Pre-conditions continues…</vt:lpstr>
      <vt:lpstr>Dataset required for testing</vt:lpstr>
      <vt:lpstr>Dataset required for testing continues…</vt:lpstr>
      <vt:lpstr>Normal flow of events</vt:lpstr>
      <vt:lpstr>Normal flow of events continues…</vt:lpstr>
      <vt:lpstr>Normal flow of events continues…</vt:lpstr>
      <vt:lpstr>Normal flow of events continues…</vt:lpstr>
      <vt:lpstr>Normal flow of events continues…</vt:lpstr>
      <vt:lpstr>Post-conditions</vt:lpstr>
      <vt:lpstr>Post-conditions continues…</vt:lpstr>
      <vt:lpstr>Features to be tested</vt:lpstr>
      <vt:lpstr>Features to be tested continues…</vt:lpstr>
      <vt:lpstr>Entrance and Exit criteria</vt:lpstr>
      <vt:lpstr>Acronyms </vt:lpstr>
      <vt:lpstr>Graphics to explain the problem</vt:lpstr>
      <vt:lpstr>Graphics continues…</vt:lpstr>
      <vt:lpstr>Conclusion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Kabai M. 215203569 Participating Member: Msomi S.</dc:title>
  <dc:creator>Moipone Kabai</dc:creator>
  <cp:lastModifiedBy>Moipone Kabai</cp:lastModifiedBy>
  <cp:revision>48</cp:revision>
  <dcterms:created xsi:type="dcterms:W3CDTF">2020-07-27T14:13:19Z</dcterms:created>
  <dcterms:modified xsi:type="dcterms:W3CDTF">2020-10-26T14:03:51Z</dcterms:modified>
</cp:coreProperties>
</file>