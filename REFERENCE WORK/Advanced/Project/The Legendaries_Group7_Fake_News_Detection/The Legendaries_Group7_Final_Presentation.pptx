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80" r:id="rId4"/>
    <p:sldId id="278" r:id="rId5"/>
    <p:sldId id="270" r:id="rId6"/>
    <p:sldId id="284" r:id="rId7"/>
    <p:sldId id="285" r:id="rId8"/>
    <p:sldId id="286" r:id="rId9"/>
    <p:sldId id="282" r:id="rId10"/>
    <p:sldId id="267" r:id="rId11"/>
    <p:sldId id="261" r:id="rId12"/>
    <p:sldId id="269" r:id="rId13"/>
    <p:sldId id="262" r:id="rId14"/>
    <p:sldId id="279" r:id="rId15"/>
    <p:sldId id="271" r:id="rId16"/>
    <p:sldId id="272" r:id="rId17"/>
    <p:sldId id="264" r:id="rId18"/>
    <p:sldId id="283"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11/10/2020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654562"/>
            <a:ext cx="6815669" cy="1729734"/>
          </a:xfrm>
        </p:spPr>
        <p:txBody>
          <a:bodyPr/>
          <a:lstStyle/>
          <a:p>
            <a:r>
              <a:rPr lang="en-ZA" sz="2400" b="1" dirty="0" smtClean="0"/>
              <a:t>Term </a:t>
            </a:r>
            <a:r>
              <a:rPr lang="en-ZA" sz="2400" b="1" dirty="0"/>
              <a:t>4</a:t>
            </a:r>
            <a:r>
              <a:rPr lang="en-ZA" sz="2400" b="1" dirty="0" smtClean="0"/>
              <a:t> Final Presentation</a:t>
            </a:r>
            <a:r>
              <a:rPr lang="en-ZA" sz="2400" dirty="0"/>
              <a:t/>
            </a:r>
            <a:br>
              <a:rPr lang="en-ZA" sz="2400" dirty="0"/>
            </a:br>
            <a:r>
              <a:rPr lang="en-GB" sz="2400" u="sng" dirty="0"/>
              <a:t>Group Number: 7</a:t>
            </a:r>
            <a:r>
              <a:rPr lang="en-ZA" sz="2400" dirty="0"/>
              <a:t/>
            </a:r>
            <a:br>
              <a:rPr lang="en-ZA" sz="2400" dirty="0"/>
            </a:br>
            <a:r>
              <a:rPr lang="en-GB" sz="2400" u="sng" dirty="0"/>
              <a:t>Group Name: The </a:t>
            </a:r>
            <a:r>
              <a:rPr lang="en-GB" sz="2400" u="sng" dirty="0" err="1" smtClean="0"/>
              <a:t>Legendaries</a:t>
            </a:r>
            <a:r>
              <a:rPr lang="en-GB" sz="2400" u="sng" dirty="0" smtClean="0"/>
              <a:t/>
            </a:r>
            <a:br>
              <a:rPr lang="en-GB" sz="2400" u="sng" dirty="0" smtClean="0"/>
            </a:br>
            <a:r>
              <a:rPr lang="en-GB" sz="2400" dirty="0"/>
              <a:t>F</a:t>
            </a:r>
            <a:r>
              <a:rPr lang="en-GB" sz="2400" dirty="0" smtClean="0"/>
              <a:t>ake News detection</a:t>
            </a:r>
            <a:endParaRPr lang="en-ZA" sz="2400" dirty="0"/>
          </a:p>
        </p:txBody>
      </p:sp>
      <p:graphicFrame>
        <p:nvGraphicFramePr>
          <p:cNvPr id="3" name="Table 2"/>
          <p:cNvGraphicFramePr>
            <a:graphicFrameLocks noGrp="1"/>
          </p:cNvGraphicFramePr>
          <p:nvPr>
            <p:extLst>
              <p:ext uri="{D42A27DB-BD31-4B8C-83A1-F6EECF244321}">
                <p14:modId xmlns:p14="http://schemas.microsoft.com/office/powerpoint/2010/main" val="3216273060"/>
              </p:ext>
            </p:extLst>
          </p:nvPr>
        </p:nvGraphicFramePr>
        <p:xfrm>
          <a:off x="3244002" y="3636959"/>
          <a:ext cx="5712460" cy="1664208"/>
        </p:xfrm>
        <a:graphic>
          <a:graphicData uri="http://schemas.openxmlformats.org/drawingml/2006/table">
            <a:tbl>
              <a:tblPr firstRow="1" firstCol="1" bandRow="1">
                <a:tableStyleId>{5C22544A-7EE6-4342-B048-85BDC9FD1C3A}</a:tableStyleId>
              </a:tblPr>
              <a:tblGrid>
                <a:gridCol w="502285"/>
                <a:gridCol w="2936875"/>
                <a:gridCol w="252095"/>
                <a:gridCol w="252095"/>
                <a:gridCol w="252730"/>
                <a:gridCol w="252730"/>
                <a:gridCol w="252730"/>
                <a:gridCol w="252730"/>
                <a:gridCol w="252730"/>
                <a:gridCol w="252730"/>
                <a:gridCol w="252730"/>
              </a:tblGrid>
              <a:tr h="0">
                <a:tc>
                  <a:txBody>
                    <a:bodyPr/>
                    <a:lstStyle/>
                    <a:p>
                      <a:pPr>
                        <a:lnSpc>
                          <a:spcPct val="130000"/>
                        </a:lnSpc>
                        <a:spcAft>
                          <a:spcPts val="1125"/>
                        </a:spcAft>
                      </a:pPr>
                      <a:r>
                        <a:rPr lang="en-GB" sz="1400" kern="1800">
                          <a:effectLst/>
                        </a:rPr>
                        <a:t>No.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Surname, Initial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9">
                  <a:txBody>
                    <a:bodyPr/>
                    <a:lstStyle/>
                    <a:p>
                      <a:pPr>
                        <a:lnSpc>
                          <a:spcPct val="130000"/>
                        </a:lnSpc>
                        <a:spcAft>
                          <a:spcPts val="1125"/>
                        </a:spcAft>
                      </a:pPr>
                      <a:r>
                        <a:rPr lang="en-GB" sz="1400" kern="1800">
                          <a:effectLst/>
                        </a:rPr>
                        <a:t>Student Number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r>
              <a:tr h="0">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Kabai Moipone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Mkalali Siphelele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30000"/>
                        </a:lnSpc>
                        <a:spcAft>
                          <a:spcPts val="1125"/>
                        </a:spcAft>
                      </a:pPr>
                      <a:r>
                        <a:rPr lang="en-GB" sz="1400" kern="1800">
                          <a:effectLst/>
                        </a:rPr>
                        <a:t>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Msomi Sebe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30000"/>
                        </a:lnSpc>
                        <a:spcAft>
                          <a:spcPts val="1125"/>
                        </a:spcAft>
                      </a:pPr>
                      <a:r>
                        <a:rPr lang="en-GB" sz="1400" kern="1800">
                          <a:effectLst/>
                        </a:rPr>
                        <a:t>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Ncubukezi Bongeka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Tshizana Busiswa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7</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a:effectLst/>
                        </a:rPr>
                        <a:t>1</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489983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Domain area of the Problem</a:t>
            </a:r>
            <a:endParaRPr lang="en-ZA" dirty="0"/>
          </a:p>
        </p:txBody>
      </p:sp>
      <p:sp>
        <p:nvSpPr>
          <p:cNvPr id="3" name="Content Placeholder 2"/>
          <p:cNvSpPr>
            <a:spLocks noGrp="1"/>
          </p:cNvSpPr>
          <p:nvPr>
            <p:ph idx="1"/>
          </p:nvPr>
        </p:nvSpPr>
        <p:spPr>
          <a:xfrm>
            <a:off x="1295400" y="2556931"/>
            <a:ext cx="9797715" cy="3579173"/>
          </a:xfrm>
        </p:spPr>
        <p:txBody>
          <a:bodyPr>
            <a:normAutofit fontScale="92500"/>
          </a:bodyPr>
          <a:lstStyle/>
          <a:p>
            <a:r>
              <a:rPr lang="en-US" dirty="0"/>
              <a:t>Our domain area of the problem </a:t>
            </a:r>
            <a:r>
              <a:rPr lang="en-ZA" dirty="0" smtClean="0"/>
              <a:t>is the </a:t>
            </a:r>
            <a:r>
              <a:rPr lang="en-ZA" dirty="0"/>
              <a:t>spread of </a:t>
            </a:r>
            <a:r>
              <a:rPr lang="en-ZA" dirty="0" smtClean="0"/>
              <a:t>Covid-19 fake news, </a:t>
            </a:r>
            <a:r>
              <a:rPr lang="en-ZA" dirty="0"/>
              <a:t>mostly on social media. Social media has allowed people the ability to exchange information at a much greater pace, to a far wider audience than ever before. However, this information is not always truthful.</a:t>
            </a:r>
          </a:p>
          <a:p>
            <a:r>
              <a:rPr lang="en-US" dirty="0" smtClean="0"/>
              <a:t>Since </a:t>
            </a:r>
            <a:r>
              <a:rPr lang="en-US" dirty="0"/>
              <a:t>we have found out that </a:t>
            </a:r>
            <a:r>
              <a:rPr lang="en-US" dirty="0" smtClean="0"/>
              <a:t>more consumption of news was though the corona virus pandemic, the </a:t>
            </a:r>
            <a:r>
              <a:rPr lang="en-US" dirty="0"/>
              <a:t>spread of COVID-19 fake news </a:t>
            </a:r>
            <a:r>
              <a:rPr lang="en-US" dirty="0" smtClean="0"/>
              <a:t>aroused on </a:t>
            </a:r>
            <a:r>
              <a:rPr lang="en-US" dirty="0"/>
              <a:t>social media. </a:t>
            </a:r>
            <a:endParaRPr lang="en-US" dirty="0" smtClean="0"/>
          </a:p>
          <a:p>
            <a:r>
              <a:rPr lang="en-US" dirty="0" smtClean="0"/>
              <a:t>In </a:t>
            </a:r>
            <a:r>
              <a:rPr lang="en-US" dirty="0"/>
              <a:t>our </a:t>
            </a:r>
            <a:r>
              <a:rPr lang="en-US" dirty="0" smtClean="0"/>
              <a:t>communities this excessive rise of </a:t>
            </a:r>
            <a:r>
              <a:rPr lang="en-US" dirty="0"/>
              <a:t>fake news </a:t>
            </a:r>
            <a:r>
              <a:rPr lang="en-US" dirty="0" smtClean="0"/>
              <a:t>has had </a:t>
            </a:r>
            <a:r>
              <a:rPr lang="en-US" dirty="0"/>
              <a:t>a bad </a:t>
            </a:r>
            <a:r>
              <a:rPr lang="en-US" dirty="0" smtClean="0"/>
              <a:t>impact where by people were scammed </a:t>
            </a:r>
            <a:r>
              <a:rPr lang="en-US" dirty="0"/>
              <a:t>through </a:t>
            </a:r>
            <a:r>
              <a:rPr lang="en-US" dirty="0" smtClean="0"/>
              <a:t>applications </a:t>
            </a:r>
            <a:r>
              <a:rPr lang="en-US" dirty="0"/>
              <a:t>of RDC </a:t>
            </a:r>
            <a:r>
              <a:rPr lang="en-US" dirty="0" smtClean="0"/>
              <a:t>grant. Their  </a:t>
            </a:r>
            <a:r>
              <a:rPr lang="en-US" dirty="0"/>
              <a:t>personal information like identity </a:t>
            </a:r>
            <a:r>
              <a:rPr lang="en-US" dirty="0" smtClean="0"/>
              <a:t>numbers, contacts, addresses </a:t>
            </a:r>
            <a:r>
              <a:rPr lang="en-US" dirty="0"/>
              <a:t>were </a:t>
            </a:r>
            <a:r>
              <a:rPr lang="en-US" dirty="0" smtClean="0"/>
              <a:t>gathered.</a:t>
            </a:r>
          </a:p>
        </p:txBody>
      </p:sp>
    </p:spTree>
    <p:extLst>
      <p:ext uri="{BB962C8B-B14F-4D97-AF65-F5344CB8AC3E}">
        <p14:creationId xmlns:p14="http://schemas.microsoft.com/office/powerpoint/2010/main" val="2576427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Aim and objectives</a:t>
            </a:r>
          </a:p>
        </p:txBody>
      </p:sp>
      <p:sp>
        <p:nvSpPr>
          <p:cNvPr id="3" name="Content Placeholder 2"/>
          <p:cNvSpPr>
            <a:spLocks noGrp="1"/>
          </p:cNvSpPr>
          <p:nvPr>
            <p:ph idx="1"/>
          </p:nvPr>
        </p:nvSpPr>
        <p:spPr>
          <a:xfrm>
            <a:off x="1295401" y="2556932"/>
            <a:ext cx="9869904" cy="3627300"/>
          </a:xfrm>
        </p:spPr>
        <p:txBody>
          <a:bodyPr>
            <a:normAutofit/>
          </a:bodyPr>
          <a:lstStyle/>
          <a:p>
            <a:r>
              <a:rPr lang="en-US" dirty="0"/>
              <a:t>The </a:t>
            </a:r>
            <a:r>
              <a:rPr lang="en-US" dirty="0" smtClean="0"/>
              <a:t>main aim </a:t>
            </a:r>
            <a:r>
              <a:rPr lang="en-US" dirty="0"/>
              <a:t>of this project is to raise </a:t>
            </a:r>
            <a:r>
              <a:rPr lang="en-US" dirty="0" smtClean="0"/>
              <a:t>awareness about </a:t>
            </a:r>
            <a:r>
              <a:rPr lang="en-US" dirty="0"/>
              <a:t>the impact of fake news across the country. </a:t>
            </a:r>
            <a:endParaRPr lang="en-US" dirty="0" smtClean="0"/>
          </a:p>
          <a:p>
            <a:r>
              <a:rPr lang="en-US" dirty="0" smtClean="0"/>
              <a:t>We proposed to </a:t>
            </a:r>
            <a:r>
              <a:rPr lang="en-US" dirty="0"/>
              <a:t>raise this awareness by creating a web application reason </a:t>
            </a:r>
            <a:r>
              <a:rPr lang="en-US" dirty="0" smtClean="0"/>
              <a:t>being we </a:t>
            </a:r>
            <a:r>
              <a:rPr lang="en-US" dirty="0"/>
              <a:t>are a digital generation therefore news travel faster through social media networks. </a:t>
            </a:r>
            <a:endParaRPr lang="en-US" dirty="0" smtClean="0"/>
          </a:p>
          <a:p>
            <a:r>
              <a:rPr lang="en-US" dirty="0" smtClean="0"/>
              <a:t>This application we will not only raise awareness but will also be sharing knowledge and eliminating the knowledge gap within the digital space where news are concerned.</a:t>
            </a:r>
            <a:endParaRPr lang="en-ZA" dirty="0"/>
          </a:p>
        </p:txBody>
      </p:sp>
    </p:spTree>
    <p:extLst>
      <p:ext uri="{BB962C8B-B14F-4D97-AF65-F5344CB8AC3E}">
        <p14:creationId xmlns:p14="http://schemas.microsoft.com/office/powerpoint/2010/main" val="2733060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Aim and objectives continues…</a:t>
            </a:r>
            <a:endParaRPr lang="en-ZA" dirty="0"/>
          </a:p>
        </p:txBody>
      </p:sp>
      <p:sp>
        <p:nvSpPr>
          <p:cNvPr id="3" name="Content Placeholder 2"/>
          <p:cNvSpPr>
            <a:spLocks noGrp="1"/>
          </p:cNvSpPr>
          <p:nvPr>
            <p:ph idx="1"/>
          </p:nvPr>
        </p:nvSpPr>
        <p:spPr>
          <a:xfrm>
            <a:off x="1295400" y="2556931"/>
            <a:ext cx="9725525" cy="3519015"/>
          </a:xfrm>
        </p:spPr>
        <p:txBody>
          <a:bodyPr>
            <a:normAutofit/>
          </a:bodyPr>
          <a:lstStyle/>
          <a:p>
            <a:r>
              <a:rPr lang="en-ZA" dirty="0" smtClean="0"/>
              <a:t>The main </a:t>
            </a:r>
            <a:r>
              <a:rPr lang="en-ZA" dirty="0"/>
              <a:t>objective of our research </a:t>
            </a:r>
            <a:r>
              <a:rPr lang="en-ZA" dirty="0" smtClean="0"/>
              <a:t>was </a:t>
            </a:r>
            <a:r>
              <a:rPr lang="en-ZA" dirty="0"/>
              <a:t>to implement a solution that will fact-check information </a:t>
            </a:r>
            <a:r>
              <a:rPr lang="en-ZA" dirty="0" smtClean="0"/>
              <a:t>before </a:t>
            </a:r>
            <a:r>
              <a:rPr lang="en-ZA" dirty="0"/>
              <a:t>allowing publication, where misinformation will be collected and tracked and denied publications where necessary. </a:t>
            </a:r>
            <a:endParaRPr lang="en-ZA" dirty="0" smtClean="0"/>
          </a:p>
          <a:p>
            <a:r>
              <a:rPr lang="en-GB" dirty="0" smtClean="0"/>
              <a:t>This will help everyone who has once been affected by fake news to know best </a:t>
            </a:r>
            <a:r>
              <a:rPr lang="en-GB" dirty="0" smtClean="0"/>
              <a:t>in future, </a:t>
            </a:r>
            <a:r>
              <a:rPr lang="en-GB" dirty="0" smtClean="0"/>
              <a:t>and also the future generation to be able to identify what’s real, and fake on the media. </a:t>
            </a:r>
            <a:endParaRPr lang="en-ZA" dirty="0"/>
          </a:p>
        </p:txBody>
      </p:sp>
    </p:spTree>
    <p:extLst>
      <p:ext uri="{BB962C8B-B14F-4D97-AF65-F5344CB8AC3E}">
        <p14:creationId xmlns:p14="http://schemas.microsoft.com/office/powerpoint/2010/main" val="1912497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Application GUI functionality</a:t>
            </a:r>
            <a:endParaRPr lang="en-ZA" dirty="0"/>
          </a:p>
        </p:txBody>
      </p:sp>
      <p:sp>
        <p:nvSpPr>
          <p:cNvPr id="3" name="Content Placeholder 2"/>
          <p:cNvSpPr>
            <a:spLocks noGrp="1"/>
          </p:cNvSpPr>
          <p:nvPr>
            <p:ph idx="1"/>
          </p:nvPr>
        </p:nvSpPr>
        <p:spPr>
          <a:xfrm>
            <a:off x="1295400" y="2556931"/>
            <a:ext cx="9601197" cy="3470889"/>
          </a:xfrm>
        </p:spPr>
        <p:txBody>
          <a:bodyPr>
            <a:normAutofit/>
          </a:bodyPr>
          <a:lstStyle/>
          <a:p>
            <a:r>
              <a:rPr lang="en-ZA" dirty="0" smtClean="0"/>
              <a:t>For the GUI we used flask, which is a back-end for python.</a:t>
            </a:r>
          </a:p>
          <a:p>
            <a:endParaRPr lang="en-ZA" dirty="0" smtClean="0"/>
          </a:p>
          <a:p>
            <a:r>
              <a:rPr lang="en-ZA" dirty="0" smtClean="0"/>
              <a:t>For the GUI front-end we used HTML, JavaScript, Java, </a:t>
            </a:r>
            <a:r>
              <a:rPr lang="en-ZA" dirty="0" err="1" smtClean="0"/>
              <a:t>css</a:t>
            </a:r>
            <a:r>
              <a:rPr lang="en-ZA" dirty="0" smtClean="0"/>
              <a:t> and </a:t>
            </a:r>
            <a:r>
              <a:rPr lang="en-ZA" dirty="0" err="1" smtClean="0"/>
              <a:t>Json</a:t>
            </a:r>
            <a:r>
              <a:rPr lang="en-ZA" dirty="0" smtClean="0"/>
              <a:t>.</a:t>
            </a:r>
          </a:p>
          <a:p>
            <a:endParaRPr lang="en-US" dirty="0" smtClean="0"/>
          </a:p>
          <a:p>
            <a:r>
              <a:rPr lang="en-US" dirty="0" err="1" smtClean="0"/>
              <a:t>Json</a:t>
            </a:r>
            <a:r>
              <a:rPr lang="en-US" dirty="0" smtClean="0"/>
              <a:t> is not mainly utilized, we just call some functions from it.</a:t>
            </a:r>
            <a:endParaRPr lang="en-US" dirty="0"/>
          </a:p>
        </p:txBody>
      </p:sp>
    </p:spTree>
    <p:extLst>
      <p:ext uri="{BB962C8B-B14F-4D97-AF65-F5344CB8AC3E}">
        <p14:creationId xmlns:p14="http://schemas.microsoft.com/office/powerpoint/2010/main" val="50796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Application design</a:t>
            </a:r>
          </a:p>
        </p:txBody>
      </p:sp>
      <p:sp>
        <p:nvSpPr>
          <p:cNvPr id="3" name="Content Placeholder 2"/>
          <p:cNvSpPr>
            <a:spLocks noGrp="1"/>
          </p:cNvSpPr>
          <p:nvPr>
            <p:ph idx="1"/>
          </p:nvPr>
        </p:nvSpPr>
        <p:spPr/>
        <p:txBody>
          <a:bodyPr/>
          <a:lstStyle/>
          <a:p>
            <a:r>
              <a:rPr lang="en-ZA" dirty="0"/>
              <a:t>For our project as a multimedia designer my role was to provide wireframes also known as blue prints as to how the web app would look.</a:t>
            </a:r>
          </a:p>
          <a:p>
            <a:r>
              <a:rPr lang="en-ZA" dirty="0"/>
              <a:t>I used the pencil software to execute the activity before handing over to the programmers</a:t>
            </a:r>
          </a:p>
          <a:p>
            <a:r>
              <a:rPr lang="en-ZA" dirty="0"/>
              <a:t>The purpose of this was to give an overview of what is expected in the outcomes of the </a:t>
            </a:r>
            <a:r>
              <a:rPr lang="en-ZA" dirty="0" smtClean="0"/>
              <a:t>app.</a:t>
            </a:r>
            <a:endParaRPr lang="en-ZA" dirty="0"/>
          </a:p>
        </p:txBody>
      </p:sp>
    </p:spTree>
    <p:extLst>
      <p:ext uri="{BB962C8B-B14F-4D97-AF65-F5344CB8AC3E}">
        <p14:creationId xmlns:p14="http://schemas.microsoft.com/office/powerpoint/2010/main" val="74644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Application </a:t>
            </a:r>
            <a:r>
              <a:rPr lang="en-ZA" dirty="0" smtClean="0"/>
              <a:t>design continues…</a:t>
            </a:r>
            <a:endParaRPr lang="en-ZA"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333712" y="2557463"/>
            <a:ext cx="7524575" cy="3317875"/>
          </a:xfrm>
          <a:prstGeom prst="rect">
            <a:avLst/>
          </a:prstGeom>
        </p:spPr>
      </p:pic>
    </p:spTree>
    <p:extLst>
      <p:ext uri="{BB962C8B-B14F-4D97-AF65-F5344CB8AC3E}">
        <p14:creationId xmlns:p14="http://schemas.microsoft.com/office/powerpoint/2010/main" val="3442697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Application design continues…</a:t>
            </a:r>
          </a:p>
        </p:txBody>
      </p:sp>
      <p:sp>
        <p:nvSpPr>
          <p:cNvPr id="3" name="Content Placeholder 2"/>
          <p:cNvSpPr>
            <a:spLocks noGrp="1"/>
          </p:cNvSpPr>
          <p:nvPr>
            <p:ph idx="1"/>
          </p:nvPr>
        </p:nvSpPr>
        <p:spPr/>
        <p:txBody>
          <a:bodyPr/>
          <a:lstStyle/>
          <a:p>
            <a:pPr marL="0" indent="0">
              <a:buNone/>
            </a:pPr>
            <a:r>
              <a:rPr lang="en-ZA" dirty="0"/>
              <a:t>.</a:t>
            </a: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431758" y="2430379"/>
            <a:ext cx="8434137" cy="3188367"/>
          </a:xfrm>
          <a:prstGeom prst="rect">
            <a:avLst/>
          </a:prstGeom>
        </p:spPr>
      </p:pic>
    </p:spTree>
    <p:extLst>
      <p:ext uri="{BB962C8B-B14F-4D97-AF65-F5344CB8AC3E}">
        <p14:creationId xmlns:p14="http://schemas.microsoft.com/office/powerpoint/2010/main" val="400379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Application functionality</a:t>
            </a:r>
            <a:endParaRPr lang="en-ZA" dirty="0"/>
          </a:p>
        </p:txBody>
      </p:sp>
      <p:sp>
        <p:nvSpPr>
          <p:cNvPr id="3" name="Content Placeholder 2"/>
          <p:cNvSpPr>
            <a:spLocks noGrp="1"/>
          </p:cNvSpPr>
          <p:nvPr>
            <p:ph idx="1"/>
          </p:nvPr>
        </p:nvSpPr>
        <p:spPr>
          <a:xfrm>
            <a:off x="1295401" y="2556932"/>
            <a:ext cx="9496925" cy="3494952"/>
          </a:xfrm>
        </p:spPr>
        <p:txBody>
          <a:bodyPr/>
          <a:lstStyle/>
          <a:p>
            <a:r>
              <a:rPr lang="en-ZA" dirty="0" smtClean="0"/>
              <a:t>Initially we used the logistic regression algorithm because it was easy to use, but it only returned true results in all inputs whether the fake input was captured.</a:t>
            </a:r>
          </a:p>
          <a:p>
            <a:r>
              <a:rPr lang="en-ZA" dirty="0" smtClean="0"/>
              <a:t>We changed to passive aggressive classifier algorithm which returned false results whether the correct input was captured.</a:t>
            </a:r>
          </a:p>
          <a:p>
            <a:r>
              <a:rPr lang="en-ZA" dirty="0" smtClean="0"/>
              <a:t>We used </a:t>
            </a:r>
            <a:r>
              <a:rPr lang="en-ZA" dirty="0" err="1" smtClean="0"/>
              <a:t>TfidfVectorizer</a:t>
            </a:r>
            <a:r>
              <a:rPr lang="en-ZA" dirty="0" smtClean="0"/>
              <a:t> together with passive aggressive classifier algorithms.</a:t>
            </a:r>
          </a:p>
          <a:p>
            <a:endParaRPr lang="en-ZA" dirty="0"/>
          </a:p>
        </p:txBody>
      </p:sp>
    </p:spTree>
    <p:extLst>
      <p:ext uri="{BB962C8B-B14F-4D97-AF65-F5344CB8AC3E}">
        <p14:creationId xmlns:p14="http://schemas.microsoft.com/office/powerpoint/2010/main" val="210174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Dataset of the application</a:t>
            </a:r>
            <a:endParaRPr lang="en-ZA" dirty="0"/>
          </a:p>
        </p:txBody>
      </p:sp>
      <p:sp>
        <p:nvSpPr>
          <p:cNvPr id="3" name="Content Placeholder 2"/>
          <p:cNvSpPr>
            <a:spLocks noGrp="1"/>
          </p:cNvSpPr>
          <p:nvPr>
            <p:ph idx="1"/>
          </p:nvPr>
        </p:nvSpPr>
        <p:spPr/>
        <p:txBody>
          <a:bodyPr/>
          <a:lstStyle/>
          <a:p>
            <a:r>
              <a:rPr lang="en-ZA" dirty="0" smtClean="0"/>
              <a:t>Dataset</a:t>
            </a:r>
          </a:p>
          <a:p>
            <a:pPr marL="0" indent="0">
              <a:buNone/>
            </a:pPr>
            <a:endParaRPr lang="en-ZA" dirty="0"/>
          </a:p>
        </p:txBody>
      </p:sp>
      <p:pic>
        <p:nvPicPr>
          <p:cNvPr id="5" name="Picture 4"/>
          <p:cNvPicPr>
            <a:picLocks noChangeAspect="1"/>
          </p:cNvPicPr>
          <p:nvPr/>
        </p:nvPicPr>
        <p:blipFill>
          <a:blip r:embed="rId2"/>
          <a:stretch>
            <a:fillRect/>
          </a:stretch>
        </p:blipFill>
        <p:spPr>
          <a:xfrm>
            <a:off x="2857668" y="2683681"/>
            <a:ext cx="5664563" cy="3344140"/>
          </a:xfrm>
          <a:prstGeom prst="rect">
            <a:avLst/>
          </a:prstGeom>
        </p:spPr>
      </p:pic>
    </p:spTree>
    <p:extLst>
      <p:ext uri="{BB962C8B-B14F-4D97-AF65-F5344CB8AC3E}">
        <p14:creationId xmlns:p14="http://schemas.microsoft.com/office/powerpoint/2010/main" val="2496074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Application </a:t>
            </a:r>
            <a:r>
              <a:rPr lang="en-ZA" dirty="0" smtClean="0"/>
              <a:t>functionality continues…</a:t>
            </a:r>
            <a:endParaRPr lang="en-ZA" dirty="0"/>
          </a:p>
        </p:txBody>
      </p:sp>
      <p:sp>
        <p:nvSpPr>
          <p:cNvPr id="3" name="Content Placeholder 2"/>
          <p:cNvSpPr>
            <a:spLocks noGrp="1"/>
          </p:cNvSpPr>
          <p:nvPr>
            <p:ph idx="1"/>
          </p:nvPr>
        </p:nvSpPr>
        <p:spPr>
          <a:xfrm>
            <a:off x="1295400" y="2556931"/>
            <a:ext cx="9785683" cy="3422763"/>
          </a:xfrm>
        </p:spPr>
        <p:txBody>
          <a:bodyPr>
            <a:normAutofit/>
          </a:bodyPr>
          <a:lstStyle/>
          <a:p>
            <a:r>
              <a:rPr lang="en-US" dirty="0" smtClean="0"/>
              <a:t>This is the returned output when the Title of the article is captured on its specific field.</a:t>
            </a:r>
            <a:endParaRPr lang="en-US" dirty="0"/>
          </a:p>
        </p:txBody>
      </p:sp>
      <p:pic>
        <p:nvPicPr>
          <p:cNvPr id="5" name="Picture 4"/>
          <p:cNvPicPr/>
          <p:nvPr/>
        </p:nvPicPr>
        <p:blipFill rotWithShape="1">
          <a:blip r:embed="rId2"/>
          <a:srcRect l="6058" t="14159" r="6196" b="6692"/>
          <a:stretch/>
        </p:blipFill>
        <p:spPr>
          <a:xfrm>
            <a:off x="3428999" y="2992964"/>
            <a:ext cx="6497053" cy="2986730"/>
          </a:xfrm>
          <a:prstGeom prst="rect">
            <a:avLst/>
          </a:prstGeom>
        </p:spPr>
      </p:pic>
    </p:spTree>
    <p:extLst>
      <p:ext uri="{BB962C8B-B14F-4D97-AF65-F5344CB8AC3E}">
        <p14:creationId xmlns:p14="http://schemas.microsoft.com/office/powerpoint/2010/main" val="913521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Application functionality continues</a:t>
            </a:r>
            <a:r>
              <a:rPr lang="en-ZA" dirty="0" smtClean="0"/>
              <a:t>…</a:t>
            </a:r>
            <a:endParaRPr lang="en-ZA" dirty="0"/>
          </a:p>
        </p:txBody>
      </p:sp>
      <p:sp>
        <p:nvSpPr>
          <p:cNvPr id="3" name="Content Placeholder 2"/>
          <p:cNvSpPr>
            <a:spLocks noGrp="1"/>
          </p:cNvSpPr>
          <p:nvPr>
            <p:ph idx="1"/>
          </p:nvPr>
        </p:nvSpPr>
        <p:spPr>
          <a:xfrm>
            <a:off x="1295400" y="2556931"/>
            <a:ext cx="9725525" cy="3519015"/>
          </a:xfrm>
        </p:spPr>
        <p:txBody>
          <a:bodyPr>
            <a:normAutofit/>
          </a:bodyPr>
          <a:lstStyle/>
          <a:p>
            <a:r>
              <a:rPr lang="en-US" dirty="0"/>
              <a:t>This is the returned output when the </a:t>
            </a:r>
            <a:r>
              <a:rPr lang="en-US" dirty="0" smtClean="0"/>
              <a:t>link </a:t>
            </a:r>
            <a:r>
              <a:rPr lang="en-US" dirty="0"/>
              <a:t>of the </a:t>
            </a:r>
            <a:r>
              <a:rPr lang="en-US" dirty="0" smtClean="0"/>
              <a:t>news </a:t>
            </a:r>
            <a:r>
              <a:rPr lang="en-US" dirty="0"/>
              <a:t>is captured on its specific field.</a:t>
            </a:r>
          </a:p>
        </p:txBody>
      </p:sp>
      <p:pic>
        <p:nvPicPr>
          <p:cNvPr id="4" name="Picture 3"/>
          <p:cNvPicPr/>
          <p:nvPr/>
        </p:nvPicPr>
        <p:blipFill rotWithShape="1">
          <a:blip r:embed="rId2"/>
          <a:srcRect l="10186" t="14130" r="8995" b="8586"/>
          <a:stretch/>
        </p:blipFill>
        <p:spPr>
          <a:xfrm>
            <a:off x="3501190" y="3071169"/>
            <a:ext cx="6376736" cy="2884463"/>
          </a:xfrm>
          <a:prstGeom prst="rect">
            <a:avLst/>
          </a:prstGeom>
        </p:spPr>
      </p:pic>
    </p:spTree>
    <p:extLst>
      <p:ext uri="{BB962C8B-B14F-4D97-AF65-F5344CB8AC3E}">
        <p14:creationId xmlns:p14="http://schemas.microsoft.com/office/powerpoint/2010/main" val="2615531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Application functionality continues…</a:t>
            </a:r>
          </a:p>
        </p:txBody>
      </p:sp>
      <p:sp>
        <p:nvSpPr>
          <p:cNvPr id="3" name="Content Placeholder 2"/>
          <p:cNvSpPr>
            <a:spLocks noGrp="1"/>
          </p:cNvSpPr>
          <p:nvPr>
            <p:ph idx="1"/>
          </p:nvPr>
        </p:nvSpPr>
        <p:spPr>
          <a:xfrm>
            <a:off x="1295402" y="2617089"/>
            <a:ext cx="9601196" cy="3318936"/>
          </a:xfrm>
        </p:spPr>
        <p:txBody>
          <a:bodyPr>
            <a:normAutofit/>
          </a:bodyPr>
          <a:lstStyle/>
          <a:p>
            <a:r>
              <a:rPr lang="en-US" dirty="0"/>
              <a:t>This is the returned output when the </a:t>
            </a:r>
            <a:r>
              <a:rPr lang="en-US" dirty="0" smtClean="0"/>
              <a:t>content of the </a:t>
            </a:r>
            <a:r>
              <a:rPr lang="en-US" dirty="0"/>
              <a:t>news is captured on its specific field</a:t>
            </a:r>
            <a:r>
              <a:rPr lang="en-US" dirty="0" smtClean="0"/>
              <a:t>.</a:t>
            </a:r>
            <a:endParaRPr lang="en-US" dirty="0"/>
          </a:p>
        </p:txBody>
      </p:sp>
      <p:pic>
        <p:nvPicPr>
          <p:cNvPr id="4" name="Picture 3"/>
          <p:cNvPicPr/>
          <p:nvPr/>
        </p:nvPicPr>
        <p:blipFill rotWithShape="1">
          <a:blip r:embed="rId2"/>
          <a:srcRect l="11865" t="13799" r="8995" b="5932"/>
          <a:stretch/>
        </p:blipFill>
        <p:spPr>
          <a:xfrm>
            <a:off x="3465095" y="3068053"/>
            <a:ext cx="6003758" cy="2995863"/>
          </a:xfrm>
          <a:prstGeom prst="rect">
            <a:avLst/>
          </a:prstGeom>
        </p:spPr>
      </p:pic>
    </p:spTree>
    <p:extLst>
      <p:ext uri="{BB962C8B-B14F-4D97-AF65-F5344CB8AC3E}">
        <p14:creationId xmlns:p14="http://schemas.microsoft.com/office/powerpoint/2010/main" val="2803599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Constraints of the application</a:t>
            </a:r>
            <a:endParaRPr lang="en-ZA" dirty="0"/>
          </a:p>
        </p:txBody>
      </p:sp>
      <p:sp>
        <p:nvSpPr>
          <p:cNvPr id="3" name="Content Placeholder 2"/>
          <p:cNvSpPr>
            <a:spLocks noGrp="1"/>
          </p:cNvSpPr>
          <p:nvPr>
            <p:ph idx="1"/>
          </p:nvPr>
        </p:nvSpPr>
        <p:spPr>
          <a:xfrm>
            <a:off x="1295402" y="2593026"/>
            <a:ext cx="9725524" cy="3531047"/>
          </a:xfrm>
        </p:spPr>
        <p:txBody>
          <a:bodyPr>
            <a:normAutofit lnSpcReduction="10000"/>
          </a:bodyPr>
          <a:lstStyle/>
          <a:p>
            <a:r>
              <a:rPr lang="en-ZA" dirty="0" smtClean="0"/>
              <a:t>We could not create the register and login page where a user was supposed to start before accessing the login page to access the main fact checking page.</a:t>
            </a:r>
          </a:p>
          <a:p>
            <a:r>
              <a:rPr lang="en-ZA" dirty="0" smtClean="0"/>
              <a:t>Now we only have the main page where the fake news detection happen.</a:t>
            </a:r>
          </a:p>
          <a:p>
            <a:r>
              <a:rPr lang="en-ZA" dirty="0" smtClean="0"/>
              <a:t>For someone who would want to create a similar application we would not advice them to use the algorithms we used for this application as they did not bring the required </a:t>
            </a:r>
            <a:r>
              <a:rPr lang="en-ZA" dirty="0" smtClean="0"/>
              <a:t>output</a:t>
            </a:r>
            <a:r>
              <a:rPr lang="en-ZA" dirty="0" smtClean="0"/>
              <a:t>, which resulted in an application not delivering entirely what was required.</a:t>
            </a:r>
          </a:p>
          <a:p>
            <a:r>
              <a:rPr lang="en-ZA" dirty="0" smtClean="0"/>
              <a:t>We would advice them to use better algorithms.</a:t>
            </a:r>
            <a:endParaRPr lang="en-ZA" dirty="0"/>
          </a:p>
          <a:p>
            <a:endParaRPr lang="en-ZA" dirty="0"/>
          </a:p>
        </p:txBody>
      </p:sp>
    </p:spTree>
    <p:extLst>
      <p:ext uri="{BB962C8B-B14F-4D97-AF65-F5344CB8AC3E}">
        <p14:creationId xmlns:p14="http://schemas.microsoft.com/office/powerpoint/2010/main" val="3202476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Security measures</a:t>
            </a:r>
            <a:endParaRPr lang="en-ZA" dirty="0"/>
          </a:p>
        </p:txBody>
      </p:sp>
      <p:sp>
        <p:nvSpPr>
          <p:cNvPr id="3" name="Content Placeholder 2"/>
          <p:cNvSpPr>
            <a:spLocks noGrp="1"/>
          </p:cNvSpPr>
          <p:nvPr>
            <p:ph idx="1"/>
          </p:nvPr>
        </p:nvSpPr>
        <p:spPr>
          <a:xfrm>
            <a:off x="1295402" y="2544900"/>
            <a:ext cx="9725524" cy="3579173"/>
          </a:xfrm>
        </p:spPr>
        <p:txBody>
          <a:bodyPr>
            <a:normAutofit/>
          </a:bodyPr>
          <a:lstStyle/>
          <a:p>
            <a:r>
              <a:rPr lang="en-US" dirty="0" smtClean="0"/>
              <a:t>We </a:t>
            </a:r>
            <a:r>
              <a:rPr lang="en-US" dirty="0"/>
              <a:t>have a proxy firewalls, which operate at the application layer to filter incoming traffic between the network and the traffic source. </a:t>
            </a:r>
            <a:endParaRPr lang="en-US" dirty="0" smtClean="0"/>
          </a:p>
          <a:p>
            <a:r>
              <a:rPr lang="en-US" dirty="0" smtClean="0"/>
              <a:t>These </a:t>
            </a:r>
            <a:r>
              <a:rPr lang="en-US" dirty="0"/>
              <a:t>firewalls are delivered via a cloud- based solution. </a:t>
            </a:r>
            <a:r>
              <a:rPr lang="en-US" dirty="0" smtClean="0"/>
              <a:t>Rather </a:t>
            </a:r>
            <a:r>
              <a:rPr lang="en-US" dirty="0"/>
              <a:t>than letting traffic connect directly, the proxy firewall first establishes a connection to the source of the traffic and inspect the incoming data packet</a:t>
            </a:r>
            <a:r>
              <a:rPr lang="en-US" dirty="0" smtClean="0"/>
              <a:t>.</a:t>
            </a:r>
          </a:p>
          <a:p>
            <a:r>
              <a:rPr lang="en-US" dirty="0"/>
              <a:t>The firewall will least allow incoming traffic on ports 80 and 443 (that is HTTP and HTTPS) and doesn’t know who or what is passing through those ports.</a:t>
            </a:r>
            <a:endParaRPr lang="en-ZA" dirty="0"/>
          </a:p>
        </p:txBody>
      </p:sp>
    </p:spTree>
    <p:extLst>
      <p:ext uri="{BB962C8B-B14F-4D97-AF65-F5344CB8AC3E}">
        <p14:creationId xmlns:p14="http://schemas.microsoft.com/office/powerpoint/2010/main" val="2979584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Security </a:t>
            </a:r>
            <a:r>
              <a:rPr lang="en-ZA" dirty="0" smtClean="0"/>
              <a:t>measures continues</a:t>
            </a:r>
            <a:r>
              <a:rPr lang="en-ZA" dirty="0"/>
              <a:t>…</a:t>
            </a:r>
          </a:p>
        </p:txBody>
      </p:sp>
      <p:sp>
        <p:nvSpPr>
          <p:cNvPr id="3" name="Content Placeholder 2"/>
          <p:cNvSpPr>
            <a:spLocks noGrp="1"/>
          </p:cNvSpPr>
          <p:nvPr>
            <p:ph idx="1"/>
          </p:nvPr>
        </p:nvSpPr>
        <p:spPr/>
        <p:txBody>
          <a:bodyPr>
            <a:normAutofit/>
          </a:bodyPr>
          <a:lstStyle/>
          <a:p>
            <a:r>
              <a:rPr lang="en-US" dirty="0"/>
              <a:t>We will protect our application by web application firewall (WAF) that specifically analyzes web traffic and blocks any attempt to exploit vulnerabilities such as cross-site scripting or code injection. </a:t>
            </a:r>
            <a:endParaRPr lang="en-US" dirty="0" smtClean="0"/>
          </a:p>
          <a:p>
            <a:r>
              <a:rPr lang="en-US" dirty="0" smtClean="0"/>
              <a:t>A </a:t>
            </a:r>
            <a:r>
              <a:rPr lang="en-US" dirty="0"/>
              <a:t>WAF operates like a typical antivirus and antimalware: it looks for known patterns in the data stream and blocks it when it detects a malicious request it protects the organization from botnets, malware, and potential data exfiltration</a:t>
            </a:r>
            <a:r>
              <a:rPr lang="en-ZA" dirty="0" smtClean="0"/>
              <a:t>Input </a:t>
            </a:r>
            <a:r>
              <a:rPr lang="en-ZA" dirty="0"/>
              <a:t>content of the article</a:t>
            </a:r>
            <a:r>
              <a:rPr lang="en-ZA" dirty="0" smtClean="0"/>
              <a:t>.</a:t>
            </a:r>
            <a:endParaRPr lang="en-ZA" dirty="0"/>
          </a:p>
        </p:txBody>
      </p:sp>
    </p:spTree>
    <p:extLst>
      <p:ext uri="{BB962C8B-B14F-4D97-AF65-F5344CB8AC3E}">
        <p14:creationId xmlns:p14="http://schemas.microsoft.com/office/powerpoint/2010/main" val="3767578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Security </a:t>
            </a:r>
            <a:r>
              <a:rPr lang="en-ZA" dirty="0" smtClean="0"/>
              <a:t>measures </a:t>
            </a:r>
            <a:r>
              <a:rPr lang="en-ZA" dirty="0"/>
              <a:t>continues…</a:t>
            </a:r>
          </a:p>
        </p:txBody>
      </p:sp>
      <p:sp>
        <p:nvSpPr>
          <p:cNvPr id="3" name="Content Placeholder 2"/>
          <p:cNvSpPr>
            <a:spLocks noGrp="1"/>
          </p:cNvSpPr>
          <p:nvPr>
            <p:ph idx="1"/>
          </p:nvPr>
        </p:nvSpPr>
        <p:spPr>
          <a:xfrm>
            <a:off x="1295401" y="2556932"/>
            <a:ext cx="9601196" cy="3627300"/>
          </a:xfrm>
        </p:spPr>
        <p:txBody>
          <a:bodyPr>
            <a:normAutofit/>
          </a:bodyPr>
          <a:lstStyle/>
          <a:p>
            <a:r>
              <a:rPr lang="en-US" dirty="0" smtClean="0"/>
              <a:t>We will </a:t>
            </a:r>
            <a:r>
              <a:rPr lang="en-US" dirty="0"/>
              <a:t>implement and configure HTTPS and TLS to provide communication security on our web </a:t>
            </a:r>
            <a:r>
              <a:rPr lang="en-US" dirty="0" smtClean="0"/>
              <a:t>application.</a:t>
            </a:r>
            <a:endParaRPr lang="en-US" dirty="0"/>
          </a:p>
          <a:p>
            <a:r>
              <a:rPr lang="en-US" dirty="0" smtClean="0"/>
              <a:t>This will </a:t>
            </a:r>
            <a:r>
              <a:rPr lang="en-US" dirty="0"/>
              <a:t>verify the authentication on remote server encrypt all the data traversing between users and web application server which will provide Multi factor authentication to verify when there before accessing to prevent attackers that create a fake login page similar to the web application to trick users to log in to steal users’ login credentials</a:t>
            </a:r>
            <a:r>
              <a:rPr lang="en-US" dirty="0" smtClean="0"/>
              <a:t>.</a:t>
            </a:r>
            <a:endParaRPr lang="en-US" dirty="0"/>
          </a:p>
        </p:txBody>
      </p:sp>
    </p:spTree>
    <p:extLst>
      <p:ext uri="{BB962C8B-B14F-4D97-AF65-F5344CB8AC3E}">
        <p14:creationId xmlns:p14="http://schemas.microsoft.com/office/powerpoint/2010/main" val="1351065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Security </a:t>
            </a:r>
            <a:r>
              <a:rPr lang="en-ZA" dirty="0" smtClean="0"/>
              <a:t>measures continues</a:t>
            </a:r>
            <a:r>
              <a:rPr lang="en-ZA" dirty="0"/>
              <a:t>…</a:t>
            </a:r>
          </a:p>
        </p:txBody>
      </p:sp>
      <p:sp>
        <p:nvSpPr>
          <p:cNvPr id="3" name="Content Placeholder 2"/>
          <p:cNvSpPr>
            <a:spLocks noGrp="1"/>
          </p:cNvSpPr>
          <p:nvPr>
            <p:ph idx="1"/>
          </p:nvPr>
        </p:nvSpPr>
        <p:spPr/>
        <p:txBody>
          <a:bodyPr/>
          <a:lstStyle/>
          <a:p>
            <a:r>
              <a:rPr lang="en-US" dirty="0" smtClean="0"/>
              <a:t>To </a:t>
            </a:r>
            <a:r>
              <a:rPr lang="en-US" dirty="0"/>
              <a:t>secure the cookies and session HTTPS will be the best protocol used to secure the data by setting cookie period expiry and removing the session after because the attackers use session hijacking to modify data in transit from the client to the web server.</a:t>
            </a:r>
          </a:p>
          <a:p>
            <a:r>
              <a:rPr lang="en-US" dirty="0" smtClean="0"/>
              <a:t>The </a:t>
            </a:r>
            <a:r>
              <a:rPr lang="en-US" dirty="0"/>
              <a:t>implementation of SSL and TLS will help to encrypt the username and password use hashing called Blowfish for the user and for sensitive data and set access control.</a:t>
            </a:r>
          </a:p>
          <a:p>
            <a:endParaRPr lang="en-ZA" dirty="0"/>
          </a:p>
        </p:txBody>
      </p:sp>
    </p:spTree>
    <p:extLst>
      <p:ext uri="{BB962C8B-B14F-4D97-AF65-F5344CB8AC3E}">
        <p14:creationId xmlns:p14="http://schemas.microsoft.com/office/powerpoint/2010/main" val="3800902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7916" y="2695073"/>
            <a:ext cx="5763126" cy="1569660"/>
          </a:xfrm>
          <a:prstGeom prst="rect">
            <a:avLst/>
          </a:prstGeom>
          <a:noFill/>
        </p:spPr>
        <p:txBody>
          <a:bodyPr wrap="square" rtlCol="0">
            <a:spAutoFit/>
          </a:bodyPr>
          <a:lstStyle/>
          <a:p>
            <a:r>
              <a:rPr lang="en-ZA" sz="9600" dirty="0" smtClean="0">
                <a:latin typeface="+mj-lt"/>
              </a:rPr>
              <a:t>The end</a:t>
            </a:r>
            <a:endParaRPr lang="en-ZA" sz="9600" dirty="0">
              <a:latin typeface="+mj-lt"/>
            </a:endParaRPr>
          </a:p>
        </p:txBody>
      </p:sp>
    </p:spTree>
    <p:extLst>
      <p:ext uri="{BB962C8B-B14F-4D97-AF65-F5344CB8AC3E}">
        <p14:creationId xmlns:p14="http://schemas.microsoft.com/office/powerpoint/2010/main" val="256037643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2538</TotalTime>
  <Words>1037</Words>
  <Application>Microsoft Office PowerPoint</Application>
  <PresentationFormat>Widescreen</PresentationFormat>
  <Paragraphs>114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Garamond</vt:lpstr>
      <vt:lpstr>Times New Roman</vt:lpstr>
      <vt:lpstr>Organic</vt:lpstr>
      <vt:lpstr>Term 4 Final Presentation Group Number: 7 Group Name: The Legendaries Fake News detection</vt:lpstr>
      <vt:lpstr>Domain area of the Problem</vt:lpstr>
      <vt:lpstr>Aim and objectives</vt:lpstr>
      <vt:lpstr>Aim and objectives continues…</vt:lpstr>
      <vt:lpstr>Application GUI functionality</vt:lpstr>
      <vt:lpstr>Application design</vt:lpstr>
      <vt:lpstr>Application design continues…</vt:lpstr>
      <vt:lpstr>Application design continues…</vt:lpstr>
      <vt:lpstr>Application functionality</vt:lpstr>
      <vt:lpstr>Dataset of the application</vt:lpstr>
      <vt:lpstr>Application functionality continues…</vt:lpstr>
      <vt:lpstr>Application functionality continues…</vt:lpstr>
      <vt:lpstr>Application functionality continues…</vt:lpstr>
      <vt:lpstr>Constraints of the application</vt:lpstr>
      <vt:lpstr>Security measures</vt:lpstr>
      <vt:lpstr>Security measures continues…</vt:lpstr>
      <vt:lpstr>Security measures continues…</vt:lpstr>
      <vt:lpstr>Security measures continues…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Kabai M. 215203569 Participating Member: Msomi S.</dc:title>
  <dc:creator>Moipone Kabai</dc:creator>
  <cp:lastModifiedBy>Moipone Kabai</cp:lastModifiedBy>
  <cp:revision>63</cp:revision>
  <dcterms:created xsi:type="dcterms:W3CDTF">2020-07-27T14:13:19Z</dcterms:created>
  <dcterms:modified xsi:type="dcterms:W3CDTF">2020-11-10T10:54:05Z</dcterms:modified>
</cp:coreProperties>
</file>