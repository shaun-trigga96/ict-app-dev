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9" r:id="rId3"/>
    <p:sldId id="27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  <a:srgbClr val="FF9933"/>
    <a:srgbClr val="00FF00"/>
    <a:srgbClr val="CC00FF"/>
    <a:srgbClr val="9966FF"/>
    <a:srgbClr val="9999FF"/>
    <a:srgbClr val="00CC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63D9E-9883-4E30-AEB4-57C5B00F4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187" y="408403"/>
            <a:ext cx="4252402" cy="1198455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Reuse-based Software engineering </a:t>
            </a:r>
            <a:endParaRPr lang="en-GB" sz="24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EEF39-553B-4167-BBC7-C8FF84DEF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186" y="2645547"/>
            <a:ext cx="4252403" cy="3804049"/>
          </a:xfrm>
          <a:solidFill>
            <a:schemeClr val="bg2"/>
          </a:solidFill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3200" i="1" dirty="0">
                <a:solidFill>
                  <a:srgbClr val="222222"/>
                </a:solidFill>
                <a:latin typeface="arial" panose="020B0604020202020204" pitchFamily="34" charset="0"/>
              </a:rPr>
              <a:t>A </a:t>
            </a:r>
            <a:r>
              <a:rPr lang="en-US" sz="3200" b="1" i="1" dirty="0">
                <a:solidFill>
                  <a:schemeClr val="tx1"/>
                </a:solidFill>
                <a:latin typeface="arial" panose="020B0604020202020204" pitchFamily="34" charset="0"/>
              </a:rPr>
              <a:t>software engineering strategy </a:t>
            </a:r>
            <a:r>
              <a:rPr lang="en-US" sz="3200" i="1" dirty="0">
                <a:solidFill>
                  <a:srgbClr val="222222"/>
                </a:solidFill>
                <a:latin typeface="arial" panose="020B0604020202020204" pitchFamily="34" charset="0"/>
              </a:rPr>
              <a:t>where the </a:t>
            </a:r>
            <a:r>
              <a:rPr lang="en-US" sz="3200" b="1" i="1" dirty="0">
                <a:solidFill>
                  <a:srgbClr val="006600"/>
                </a:solidFill>
                <a:latin typeface="arial" panose="020B0604020202020204" pitchFamily="34" charset="0"/>
              </a:rPr>
              <a:t>development process is geared to</a:t>
            </a:r>
            <a:r>
              <a:rPr lang="en-US" sz="3200" i="1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</a:rPr>
              <a:t>reusing existing software.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CC81D-5F83-483D-AEDC-71E3660B78EB}"/>
              </a:ext>
            </a:extLst>
          </p:cNvPr>
          <p:cNvSpPr/>
          <p:nvPr/>
        </p:nvSpPr>
        <p:spPr>
          <a:xfrm>
            <a:off x="4992213" y="674717"/>
            <a:ext cx="6096000" cy="5322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Application system reuse</a:t>
            </a:r>
          </a:p>
          <a:p>
            <a:pPr marL="742950" lvl="1" indent="-28575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The </a:t>
            </a:r>
            <a:r>
              <a:rPr lang="en-GB" sz="2400" b="1" dirty="0">
                <a:latin typeface="Arial"/>
                <a:ea typeface="ＭＳ Ｐゴシック" charset="-128"/>
                <a:cs typeface="Arial"/>
              </a:rPr>
              <a:t>whole of an application system may be reused 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either by incorporating it without change into other systems (COTS reuse) or by developing application families.</a:t>
            </a:r>
          </a:p>
          <a:p>
            <a:pPr marL="342900" lvl="0" indent="-342900" fontAlgn="base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Component reuse</a:t>
            </a:r>
          </a:p>
          <a:p>
            <a:pPr marL="742950" lvl="1" indent="-28575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</a:pPr>
            <a:r>
              <a:rPr lang="en-GB" sz="2400" b="1" dirty="0">
                <a:latin typeface="Arial"/>
                <a:ea typeface="ＭＳ Ｐゴシック" charset="-128"/>
                <a:cs typeface="Arial"/>
              </a:rPr>
              <a:t>Components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of an application from sub-systems to single objects may be reused. </a:t>
            </a:r>
          </a:p>
          <a:p>
            <a:pPr marL="342900" lvl="0" indent="-342900" fontAlgn="base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Object and function reuse</a:t>
            </a:r>
          </a:p>
          <a:p>
            <a:pPr marL="742950" lvl="1" indent="-285750" fontAlgn="base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Software components that implement a </a:t>
            </a:r>
            <a:r>
              <a:rPr lang="en-GB" sz="2400" b="1" dirty="0">
                <a:latin typeface="Arial"/>
                <a:ea typeface="ＭＳ Ｐゴシック" charset="-128"/>
                <a:cs typeface="Arial"/>
              </a:rPr>
              <a:t>single well-defined object or function 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may be reused.</a:t>
            </a:r>
          </a:p>
        </p:txBody>
      </p:sp>
    </p:spTree>
    <p:extLst>
      <p:ext uri="{BB962C8B-B14F-4D97-AF65-F5344CB8AC3E}">
        <p14:creationId xmlns:p14="http://schemas.microsoft.com/office/powerpoint/2010/main" val="3130192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200" advTm="200000"/>
    </mc:Choice>
    <mc:Fallback xmlns="">
      <p:transition spd="slow" advTm="20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EE9F-191F-4CF3-A988-94075F4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10329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The reuse landscape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4D95-F5A4-40EF-B52A-DD7149CF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351" y="610329"/>
            <a:ext cx="4815840" cy="5817104"/>
          </a:xfrm>
        </p:spPr>
        <p:txBody>
          <a:bodyPr>
            <a:normAutofit/>
          </a:bodyPr>
          <a:lstStyle/>
          <a:p>
            <a:r>
              <a:rPr lang="en-US" sz="2800" dirty="0"/>
              <a:t>Although reuse is often simply thought of as the reuse of system components, there are many different approaches to reuse that may be used.</a:t>
            </a:r>
          </a:p>
          <a:p>
            <a:r>
              <a:rPr lang="en-US" sz="2800" dirty="0"/>
              <a:t>Reuse is possible at a range of levels from simple functions to complete application systems.</a:t>
            </a:r>
          </a:p>
          <a:p>
            <a:r>
              <a:rPr lang="en-US" sz="2800" dirty="0"/>
              <a:t>The reuse landscape covers the range of possible reuse techniques.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A5421-301D-497E-AE1C-34D44E4E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77374"/>
            <a:ext cx="6096000" cy="450097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D1585-D64A-44D3-8495-4F65E84A5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7351" y="2148395"/>
            <a:ext cx="5441340" cy="4429957"/>
          </a:xfrm>
        </p:spPr>
        <p:txBody>
          <a:bodyPr>
            <a:normAutofit/>
          </a:bodyPr>
          <a:lstStyle/>
          <a:p>
            <a:pPr lvl="0" algn="l" defTabSz="457200" fontAlgn="base">
              <a:spcBef>
                <a:spcPts val="600"/>
              </a:spcBef>
              <a:spcAft>
                <a:spcPts val="600"/>
              </a:spcAft>
              <a:buClrTx/>
            </a:pPr>
            <a:endParaRPr lang="en-US" sz="2400" dirty="0">
              <a:solidFill>
                <a:srgbClr val="46424D"/>
              </a:solidFill>
              <a:latin typeface="Arial"/>
              <a:ea typeface="ＭＳ Ｐゴシック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3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" advTm="160000"/>
    </mc:Choice>
    <mc:Fallback xmlns="">
      <p:transition spd="slow" advTm="16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F963-6A58-4DD2-A8F7-3EAF5FC8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0538"/>
            <a:ext cx="4486656" cy="1141497"/>
          </a:xfrm>
        </p:spPr>
        <p:txBody>
          <a:bodyPr/>
          <a:lstStyle/>
          <a:p>
            <a:r>
              <a:rPr lang="en-US" dirty="0"/>
              <a:t>In 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ACAC4-1B48-46A8-B8B3-57233203B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718" y="476197"/>
            <a:ext cx="5576338" cy="5248656"/>
          </a:xfrm>
        </p:spPr>
        <p:txBody>
          <a:bodyPr>
            <a:noAutofit/>
          </a:bodyPr>
          <a:lstStyle/>
          <a:p>
            <a:pPr marL="342900" lvl="0" indent="-342900" defTabSz="457200" fontAlgn="base">
              <a:spcBef>
                <a:spcPts val="600"/>
              </a:spcBef>
              <a:buClrTx/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The advantages of software reuse are lower costs, faster software development and lower risks. </a:t>
            </a:r>
            <a:r>
              <a:rPr lang="en-GB" sz="2400" b="1" dirty="0">
                <a:latin typeface="Arial"/>
                <a:ea typeface="ＭＳ Ｐゴシック" charset="-128"/>
                <a:cs typeface="Arial"/>
              </a:rPr>
              <a:t>System dependability is increased</a:t>
            </a:r>
            <a:r>
              <a:rPr lang="en-GB" sz="2400" b="1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. </a:t>
            </a:r>
            <a:r>
              <a:rPr lang="en-GB" sz="2400" b="1" dirty="0">
                <a:solidFill>
                  <a:srgbClr val="006600"/>
                </a:solidFill>
                <a:latin typeface="Arial"/>
                <a:ea typeface="ＭＳ Ｐゴシック" charset="-128"/>
                <a:cs typeface="Arial"/>
              </a:rPr>
              <a:t>Specialists can be used more effectively 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by concentrating their expertise on the design of reusable components.</a:t>
            </a:r>
          </a:p>
          <a:p>
            <a:pPr marL="342900" lvl="0" indent="-342900" defTabSz="457200" fontAlgn="base">
              <a:spcBef>
                <a:spcPts val="600"/>
              </a:spcBef>
              <a:buClrTx/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Application frameworks are </a:t>
            </a:r>
            <a:r>
              <a:rPr lang="en-GB" sz="2400" b="1" dirty="0">
                <a:solidFill>
                  <a:srgbClr val="C00000"/>
                </a:solidFill>
                <a:latin typeface="Arial"/>
                <a:ea typeface="ＭＳ Ｐゴシック" charset="-128"/>
                <a:cs typeface="Arial"/>
              </a:rPr>
              <a:t>collections of concrete and abstract objects that are designed for reuse through specialization 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and the addition of new objects. They usually </a:t>
            </a:r>
            <a:r>
              <a:rPr lang="en-GB" sz="2400" b="1" dirty="0">
                <a:solidFill>
                  <a:srgbClr val="000099"/>
                </a:solidFill>
                <a:latin typeface="Arial"/>
                <a:ea typeface="ＭＳ Ｐゴシック" charset="-128"/>
                <a:cs typeface="Arial"/>
              </a:rPr>
              <a:t>incorporate good design practice through design patterns.</a:t>
            </a:r>
          </a:p>
          <a:p>
            <a:pPr marL="0" lvl="0" indent="0" defTabSz="457200" fontAlgn="base">
              <a:spcBef>
                <a:spcPts val="600"/>
              </a:spcBef>
              <a:spcAft>
                <a:spcPts val="600"/>
              </a:spcAft>
              <a:buClrTx/>
              <a:buNone/>
            </a:pPr>
            <a:endParaRPr lang="en-GB" sz="2400" dirty="0">
              <a:solidFill>
                <a:srgbClr val="46424D"/>
              </a:solidFill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B97A0-1F58-4CD2-972B-4442C396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542" y="1935332"/>
            <a:ext cx="4643786" cy="4394447"/>
          </a:xfrm>
        </p:spPr>
        <p:txBody>
          <a:bodyPr>
            <a:noAutofit/>
          </a:bodyPr>
          <a:lstStyle/>
          <a:p>
            <a:pPr marL="342900" lvl="0" indent="-342900" algn="l" defTabSz="457200" fontAlgn="base">
              <a:spcBef>
                <a:spcPts val="600"/>
              </a:spcBef>
              <a:buClrTx/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Most new business software systems are now developed by reusing knowledge and code from previously implemented systems.</a:t>
            </a:r>
          </a:p>
          <a:p>
            <a:pPr marL="342900" lvl="0" indent="-342900" algn="l" defTabSz="457200" fontAlgn="base">
              <a:spcBef>
                <a:spcPts val="600"/>
              </a:spcBef>
              <a:buClrTx/>
              <a:buFont typeface="Wingdings" charset="2"/>
              <a:buChar char="²"/>
            </a:pP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There are </a:t>
            </a:r>
            <a:r>
              <a:rPr lang="en-GB" sz="2400" b="1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many different ways to reuse software</a:t>
            </a:r>
            <a:r>
              <a:rPr lang="en-GB" sz="24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. These range from the reuse of classes and methods in libraries to the reuse of complete application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65617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00"/>
    </mc:Choice>
    <mc:Fallback xmlns="">
      <p:transition spd="slow" advTm="120000"/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257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</vt:lpstr>
      <vt:lpstr>Gill Sans MT</vt:lpstr>
      <vt:lpstr>Wingdings</vt:lpstr>
      <vt:lpstr>Parcel</vt:lpstr>
      <vt:lpstr>Reuse-based Software engineering </vt:lpstr>
      <vt:lpstr>The reuse landscape</vt:lpstr>
      <vt:lpstr>In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Design and Architecture Stack</dc:title>
  <dc:creator>Gillian Khan</dc:creator>
  <cp:lastModifiedBy>Gillian Khan</cp:lastModifiedBy>
  <cp:revision>85</cp:revision>
  <dcterms:created xsi:type="dcterms:W3CDTF">2020-07-03T09:57:44Z</dcterms:created>
  <dcterms:modified xsi:type="dcterms:W3CDTF">2020-09-23T13:21:57Z</dcterms:modified>
</cp:coreProperties>
</file>