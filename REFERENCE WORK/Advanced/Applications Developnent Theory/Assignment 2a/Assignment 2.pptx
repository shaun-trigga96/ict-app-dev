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11"/>
  </p:notesMasterIdLst>
  <p:sldIdLst>
    <p:sldId id="256" r:id="rId2"/>
    <p:sldId id="260" r:id="rId3"/>
    <p:sldId id="257" r:id="rId4"/>
    <p:sldId id="261" r:id="rId5"/>
    <p:sldId id="262" r:id="rId6"/>
    <p:sldId id="264" r:id="rId7"/>
    <p:sldId id="263" r:id="rId8"/>
    <p:sldId id="266" r:id="rId9"/>
    <p:sldId id="25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62" autoAdjust="0"/>
    <p:restoredTop sz="28356" autoAdjust="0"/>
  </p:normalViewPr>
  <p:slideViewPr>
    <p:cSldViewPr snapToGrid="0">
      <p:cViewPr varScale="1">
        <p:scale>
          <a:sx n="22" d="100"/>
          <a:sy n="22" d="100"/>
        </p:scale>
        <p:origin x="2244" y="36"/>
      </p:cViewPr>
      <p:guideLst/>
    </p:cSldViewPr>
  </p:slideViewPr>
  <p:notesTextViewPr>
    <p:cViewPr>
      <p:scale>
        <a:sx n="1" d="1"/>
        <a:sy n="1" d="1"/>
      </p:scale>
      <p:origin x="0" y="-1104"/>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93E5B-811E-4BF0-8DAC-23533253D994}" type="datetimeFigureOut">
              <a:rPr lang="en-US" smtClean="0"/>
              <a:t>2/26/2020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651EE4-E247-46BD-8322-7979AF1545F1}" type="slidenum">
              <a:rPr lang="en-US" smtClean="0"/>
              <a:t>‹#›</a:t>
            </a:fld>
            <a:endParaRPr lang="en-US"/>
          </a:p>
        </p:txBody>
      </p:sp>
    </p:spTree>
    <p:extLst>
      <p:ext uri="{BB962C8B-B14F-4D97-AF65-F5344CB8AC3E}">
        <p14:creationId xmlns:p14="http://schemas.microsoft.com/office/powerpoint/2010/main" val="812541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Brainstorm (2020/02/19)</a:t>
            </a:r>
          </a:p>
          <a:p>
            <a:r>
              <a:rPr lang="en-US" dirty="0"/>
              <a:t>Conducting a research </a:t>
            </a:r>
            <a:r>
              <a:rPr lang="en-US" dirty="0" smtClean="0"/>
              <a:t>on a tourism to find a solution that</a:t>
            </a:r>
            <a:r>
              <a:rPr lang="en-US" baseline="0" dirty="0" smtClean="0"/>
              <a:t> will help the Tourism increase in Cape Town</a:t>
            </a:r>
            <a:r>
              <a:rPr lang="en-US" dirty="0" smtClean="0"/>
              <a:t>: By </a:t>
            </a:r>
            <a:r>
              <a:rPr lang="en-US" dirty="0"/>
              <a:t>Sebe and Moipone</a:t>
            </a:r>
          </a:p>
          <a:p>
            <a:endParaRPr lang="en-US" dirty="0"/>
          </a:p>
          <a:p>
            <a:r>
              <a:rPr lang="en-US" dirty="0"/>
              <a:t>Visit Tourist </a:t>
            </a:r>
            <a:r>
              <a:rPr lang="en-US" dirty="0" smtClean="0"/>
              <a:t>Agent called</a:t>
            </a:r>
            <a:r>
              <a:rPr lang="en-US" baseline="0" dirty="0" smtClean="0"/>
              <a:t> </a:t>
            </a:r>
            <a:r>
              <a:rPr lang="en-US" dirty="0" err="1" smtClean="0"/>
              <a:t>LoveCapeTown</a:t>
            </a:r>
            <a:r>
              <a:rPr lang="en-US" dirty="0" smtClean="0"/>
              <a:t> </a:t>
            </a:r>
            <a:r>
              <a:rPr lang="en-US" dirty="0"/>
              <a:t>(2020/02/21</a:t>
            </a:r>
            <a:r>
              <a:rPr lang="en-US" dirty="0" smtClean="0"/>
              <a:t>)</a:t>
            </a:r>
            <a:endParaRPr lang="en-US" dirty="0"/>
          </a:p>
          <a:p>
            <a:r>
              <a:rPr lang="en-US" dirty="0"/>
              <a:t>Visit a </a:t>
            </a:r>
            <a:r>
              <a:rPr lang="en-US" dirty="0" smtClean="0"/>
              <a:t>tourism </a:t>
            </a:r>
            <a:r>
              <a:rPr lang="en-US" dirty="0"/>
              <a:t>agency to get brilliant ideas on how </a:t>
            </a:r>
            <a:r>
              <a:rPr lang="en-US" dirty="0" smtClean="0"/>
              <a:t>their system works in helping tourists</a:t>
            </a:r>
            <a:r>
              <a:rPr lang="en-US" baseline="0" dirty="0" smtClean="0"/>
              <a:t> have a luxurious vacation in Cape Town to help us have a view and understanding of how actually the tourism space is structured and what tourists actually need and do</a:t>
            </a:r>
            <a:r>
              <a:rPr lang="en-US" dirty="0" smtClean="0"/>
              <a:t>: By </a:t>
            </a:r>
            <a:r>
              <a:rPr lang="en-US" dirty="0" err="1" smtClean="0"/>
              <a:t>Sebe</a:t>
            </a:r>
            <a:r>
              <a:rPr lang="en-US" dirty="0" smtClean="0"/>
              <a:t> </a:t>
            </a:r>
            <a:r>
              <a:rPr lang="en-US" dirty="0"/>
              <a:t>and Moipone</a:t>
            </a:r>
          </a:p>
          <a:p>
            <a:endParaRPr lang="en-US" dirty="0"/>
          </a:p>
          <a:p>
            <a:r>
              <a:rPr lang="en-US" dirty="0"/>
              <a:t>Requirement </a:t>
            </a:r>
            <a:r>
              <a:rPr lang="en-US" dirty="0" smtClean="0"/>
              <a:t>Specification </a:t>
            </a:r>
            <a:r>
              <a:rPr lang="en-US" dirty="0"/>
              <a:t>(2020/02/22) to (2020/02/25)</a:t>
            </a:r>
          </a:p>
          <a:p>
            <a:r>
              <a:rPr lang="en-US" dirty="0"/>
              <a:t>Documenting down the user and system requirements </a:t>
            </a:r>
            <a:r>
              <a:rPr lang="en-US" dirty="0" smtClean="0"/>
              <a:t>of</a:t>
            </a:r>
            <a:r>
              <a:rPr lang="en-US" baseline="0" dirty="0" smtClean="0"/>
              <a:t> how our mobile system is going </a:t>
            </a:r>
            <a:r>
              <a:rPr lang="en-US" dirty="0" smtClean="0"/>
              <a:t>to be built</a:t>
            </a:r>
            <a:r>
              <a:rPr lang="en-US" baseline="0" dirty="0" smtClean="0"/>
              <a:t> and operate: By</a:t>
            </a:r>
            <a:r>
              <a:rPr lang="en-US" dirty="0" smtClean="0"/>
              <a:t> </a:t>
            </a:r>
            <a:r>
              <a:rPr lang="en-US" dirty="0"/>
              <a:t>Sebe and Moipone</a:t>
            </a:r>
          </a:p>
          <a:p>
            <a:endParaRPr lang="en-US" dirty="0"/>
          </a:p>
          <a:p>
            <a:r>
              <a:rPr lang="en-US" dirty="0"/>
              <a:t>Use </a:t>
            </a:r>
            <a:r>
              <a:rPr lang="en-US" dirty="0" smtClean="0"/>
              <a:t>Case Diagram - (</a:t>
            </a:r>
            <a:r>
              <a:rPr lang="en-US" dirty="0"/>
              <a:t>2020/03/01) </a:t>
            </a:r>
            <a:r>
              <a:rPr lang="en-US" dirty="0" smtClean="0"/>
              <a:t>to </a:t>
            </a:r>
            <a:r>
              <a:rPr lang="en-US" dirty="0"/>
              <a:t>(2020/03/02)</a:t>
            </a:r>
          </a:p>
          <a:p>
            <a:r>
              <a:rPr lang="en-US" dirty="0" smtClean="0"/>
              <a:t>Designing </a:t>
            </a:r>
            <a:r>
              <a:rPr lang="en-US" dirty="0"/>
              <a:t>a </a:t>
            </a:r>
            <a:r>
              <a:rPr lang="en-US" dirty="0" smtClean="0"/>
              <a:t>Use </a:t>
            </a:r>
            <a:r>
              <a:rPr lang="en-US" dirty="0"/>
              <a:t>C</a:t>
            </a:r>
            <a:r>
              <a:rPr lang="en-US" dirty="0" smtClean="0"/>
              <a:t>ase </a:t>
            </a:r>
            <a:r>
              <a:rPr lang="en-US" dirty="0"/>
              <a:t>D</a:t>
            </a:r>
            <a:r>
              <a:rPr lang="en-US" dirty="0" smtClean="0"/>
              <a:t>iagram </a:t>
            </a:r>
            <a:r>
              <a:rPr lang="en-US" dirty="0"/>
              <a:t>to show </a:t>
            </a:r>
            <a:r>
              <a:rPr lang="en-US" dirty="0" smtClean="0"/>
              <a:t>how</a:t>
            </a:r>
            <a:r>
              <a:rPr lang="en-US" baseline="0" dirty="0" smtClean="0"/>
              <a:t> users(</a:t>
            </a:r>
            <a:r>
              <a:rPr lang="en-US" dirty="0" smtClean="0"/>
              <a:t>actors) </a:t>
            </a:r>
            <a:r>
              <a:rPr lang="en-US" dirty="0"/>
              <a:t>interact with the </a:t>
            </a:r>
            <a:r>
              <a:rPr lang="en-US" dirty="0" smtClean="0"/>
              <a:t>system. By </a:t>
            </a:r>
            <a:r>
              <a:rPr lang="en-US" dirty="0"/>
              <a:t>Moipone.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Data Design (</a:t>
            </a:r>
            <a:r>
              <a:rPr lang="en-US" dirty="0" smtClean="0"/>
              <a:t>ERD/Class Diagram) - </a:t>
            </a:r>
            <a:r>
              <a:rPr lang="en-US" dirty="0"/>
              <a:t>(2020/04/09) to (2020/04/10)</a:t>
            </a:r>
          </a:p>
          <a:p>
            <a:r>
              <a:rPr lang="en-US" dirty="0" smtClean="0"/>
              <a:t>This is to help show how</a:t>
            </a:r>
            <a:r>
              <a:rPr lang="en-US" baseline="0" dirty="0" smtClean="0"/>
              <a:t> the parts of the system are connected together and the relationship within the system: By </a:t>
            </a:r>
            <a:r>
              <a:rPr lang="en-US" dirty="0" err="1" smtClean="0"/>
              <a:t>Sebe</a:t>
            </a:r>
            <a:endParaRPr lang="en-US" dirty="0"/>
          </a:p>
          <a:p>
            <a:endParaRPr lang="en-US" dirty="0"/>
          </a:p>
          <a:p>
            <a:r>
              <a:rPr lang="en-US" dirty="0"/>
              <a:t> </a:t>
            </a:r>
            <a:r>
              <a:rPr lang="en-US" dirty="0" smtClean="0"/>
              <a:t>Storyboard - </a:t>
            </a:r>
            <a:r>
              <a:rPr lang="en-US" dirty="0"/>
              <a:t>(2020/04/17) to (2020/04/19)</a:t>
            </a:r>
          </a:p>
          <a:p>
            <a:r>
              <a:rPr lang="en-US" dirty="0"/>
              <a:t>Design a storyboard for our </a:t>
            </a:r>
            <a:r>
              <a:rPr lang="en-US" dirty="0" err="1"/>
              <a:t>TourSpace</a:t>
            </a:r>
            <a:r>
              <a:rPr lang="en-US" dirty="0"/>
              <a:t> </a:t>
            </a:r>
            <a:r>
              <a:rPr lang="en-US" dirty="0" smtClean="0"/>
              <a:t>application: By </a:t>
            </a:r>
            <a:r>
              <a:rPr lang="en-US" dirty="0"/>
              <a:t>Moipone</a:t>
            </a:r>
          </a:p>
          <a:p>
            <a:endParaRPr lang="en-US" dirty="0"/>
          </a:p>
          <a:p>
            <a:r>
              <a:rPr lang="en-US" dirty="0"/>
              <a:t>Architectural Design using 4 + 1 Method </a:t>
            </a:r>
            <a:r>
              <a:rPr lang="en-US" dirty="0" smtClean="0"/>
              <a:t>- (</a:t>
            </a:r>
            <a:r>
              <a:rPr lang="en-US" dirty="0"/>
              <a:t>2020/04/20) to (2020/04/21</a:t>
            </a:r>
            <a:r>
              <a:rPr lang="en-US" dirty="0" smtClean="0"/>
              <a:t>): By Moipone</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Story (</a:t>
            </a:r>
            <a:r>
              <a:rPr lang="en-US" dirty="0" smtClean="0"/>
              <a:t>Prototype) - </a:t>
            </a:r>
            <a:r>
              <a:rPr lang="en-US" dirty="0"/>
              <a:t>(2020/04/21) to (2020/04/21</a:t>
            </a:r>
            <a:r>
              <a:rPr lang="en-US" dirty="0" smtClean="0"/>
              <a:t>): By </a:t>
            </a:r>
            <a:r>
              <a:rPr lang="en-US" dirty="0"/>
              <a:t>Sebe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Demonstration using </a:t>
            </a:r>
            <a:r>
              <a:rPr lang="en-US" dirty="0" err="1"/>
              <a:t>MarvelApp</a:t>
            </a:r>
            <a:r>
              <a:rPr lang="en-US" dirty="0"/>
              <a:t> and QR code - (2020/04/23) to (</a:t>
            </a:r>
            <a:r>
              <a:rPr lang="en-US" dirty="0" smtClean="0"/>
              <a:t>2020/04/28):</a:t>
            </a:r>
            <a:r>
              <a:rPr lang="en-US" baseline="0" dirty="0" smtClean="0"/>
              <a:t> B</a:t>
            </a:r>
            <a:r>
              <a:rPr lang="en-US" dirty="0" smtClean="0"/>
              <a:t>y </a:t>
            </a:r>
            <a:r>
              <a:rPr lang="en-US" dirty="0"/>
              <a:t>Sebe and Moipone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Component design - (2020/04/30)  to (2020/05/05</a:t>
            </a:r>
            <a:r>
              <a:rPr lang="en-US" dirty="0" smtClean="0"/>
              <a:t>): By </a:t>
            </a:r>
            <a:r>
              <a:rPr lang="en-US" dirty="0" err="1" smtClean="0"/>
              <a:t>Sebe</a:t>
            </a:r>
            <a:r>
              <a:rPr lang="en-US" dirty="0" smtClean="0"/>
              <a:t> and</a:t>
            </a:r>
            <a:r>
              <a:rPr lang="en-US" baseline="0" dirty="0" smtClean="0"/>
              <a:t> Moipone</a:t>
            </a:r>
            <a:r>
              <a:rPr lang="en-US" dirty="0" smtClean="0"/>
              <a:t>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Test Cases - (2020/05/05) to (2020/05/05</a:t>
            </a:r>
            <a:r>
              <a:rPr lang="en-US" dirty="0" smtClean="0"/>
              <a:t>):</a:t>
            </a:r>
            <a:r>
              <a:rPr lang="en-US" baseline="0" dirty="0" smtClean="0"/>
              <a:t> By Moipone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Peer test of prototype </a:t>
            </a:r>
            <a:r>
              <a:rPr lang="en-US" dirty="0" smtClean="0"/>
              <a:t>- (</a:t>
            </a:r>
            <a:r>
              <a:rPr lang="en-US" dirty="0"/>
              <a:t>2020/05/11) to (2020/05/11</a:t>
            </a:r>
            <a:r>
              <a:rPr lang="en-US" dirty="0" smtClean="0"/>
              <a:t>): By </a:t>
            </a:r>
            <a:r>
              <a:rPr lang="en-US" dirty="0" err="1" smtClean="0"/>
              <a:t>Sebe</a:t>
            </a:r>
            <a:r>
              <a:rPr lang="en-US" dirty="0" smtClean="0"/>
              <a:t> and Moipone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Component  &amp; Interface Functionality (Demo) - (2020/05/13) to (2020/05/13</a:t>
            </a:r>
            <a:r>
              <a:rPr lang="en-US" dirty="0" smtClean="0"/>
              <a:t>): By </a:t>
            </a:r>
            <a:r>
              <a:rPr lang="en-US" dirty="0" err="1" smtClean="0"/>
              <a:t>Sebe</a:t>
            </a:r>
            <a:r>
              <a:rPr lang="en-US" dirty="0" smtClean="0"/>
              <a:t> and Moipone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Code Review and Retrospectives (write up) (2020/05/13) to (2020/05/13</a:t>
            </a:r>
            <a:r>
              <a:rPr lang="en-US" dirty="0" smtClean="0"/>
              <a:t>):</a:t>
            </a:r>
            <a:r>
              <a:rPr lang="en-US" baseline="0" dirty="0" smtClean="0"/>
              <a:t> By </a:t>
            </a:r>
            <a:r>
              <a:rPr lang="en-US" baseline="0" dirty="0" err="1" smtClean="0"/>
              <a:t>Sebe</a:t>
            </a:r>
            <a:r>
              <a:rPr lang="en-US" baseline="0" dirty="0" smtClean="0"/>
              <a:t> </a:t>
            </a:r>
            <a:r>
              <a:rPr lang="en-US" baseline="0" smtClean="0"/>
              <a:t>and Moipone</a:t>
            </a:r>
            <a:endParaRPr lang="en-US" dirty="0"/>
          </a:p>
        </p:txBody>
      </p:sp>
      <p:sp>
        <p:nvSpPr>
          <p:cNvPr id="4" name="Slide Number Placeholder 3"/>
          <p:cNvSpPr>
            <a:spLocks noGrp="1"/>
          </p:cNvSpPr>
          <p:nvPr>
            <p:ph type="sldNum" sz="quarter" idx="5"/>
          </p:nvPr>
        </p:nvSpPr>
        <p:spPr/>
        <p:txBody>
          <a:bodyPr/>
          <a:lstStyle/>
          <a:p>
            <a:fld id="{59651EE4-E247-46BD-8322-7979AF1545F1}" type="slidenum">
              <a:rPr lang="en-US" smtClean="0"/>
              <a:t>8</a:t>
            </a:fld>
            <a:endParaRPr lang="en-US"/>
          </a:p>
        </p:txBody>
      </p:sp>
    </p:spTree>
    <p:extLst>
      <p:ext uri="{BB962C8B-B14F-4D97-AF65-F5344CB8AC3E}">
        <p14:creationId xmlns:p14="http://schemas.microsoft.com/office/powerpoint/2010/main" val="3901157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6620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45687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25162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2876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02914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31439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40547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939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6884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61287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12796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9128649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964576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3876120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671116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855522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8515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48A87A34-81AB-432B-8DAE-1953F412C126}" type="datetimeFigureOut">
              <a:rPr lang="en-US" smtClean="0"/>
              <a:pPr/>
              <a:t>2/26/2020</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38528224"/>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1579" y="336884"/>
            <a:ext cx="11567971" cy="2021305"/>
          </a:xfrm>
        </p:spPr>
        <p:txBody>
          <a:bodyPr>
            <a:normAutofit/>
          </a:bodyPr>
          <a:lstStyle/>
          <a:p>
            <a:r>
              <a:rPr lang="en-US" sz="6000" cap="none" dirty="0">
                <a:solidFill>
                  <a:schemeClr val="bg2">
                    <a:lumMod val="75000"/>
                  </a:schemeClr>
                </a:solidFill>
                <a:latin typeface="Adobe Caslon Pro" panose="0205050205050A020403" pitchFamily="18" charset="0"/>
              </a:rPr>
              <a:t>Applications Development Theory 4</a:t>
            </a:r>
            <a:r>
              <a:rPr lang="en-US" cap="none" dirty="0">
                <a:latin typeface="Adobe Caslon Pro" panose="0205050205050A020403" pitchFamily="18" charset="0"/>
              </a:rPr>
              <a:t/>
            </a:r>
            <a:br>
              <a:rPr lang="en-US" cap="none" dirty="0">
                <a:latin typeface="Adobe Caslon Pro" panose="0205050205050A020403" pitchFamily="18" charset="0"/>
              </a:rPr>
            </a:br>
            <a:r>
              <a:rPr lang="en-US" cap="none" dirty="0">
                <a:latin typeface="Adobe Caslon Pro" panose="0205050205050A020403" pitchFamily="18" charset="0"/>
              </a:rPr>
              <a:t>		</a:t>
            </a:r>
            <a:r>
              <a:rPr lang="en-US" sz="4000" cap="none" dirty="0">
                <a:latin typeface="Adobe Caslon Pro" panose="0205050205050A020403" pitchFamily="18" charset="0"/>
              </a:rPr>
              <a:t>Tourism Boom Resolution: </a:t>
            </a:r>
            <a:r>
              <a:rPr lang="en-US" sz="4000" cap="none" dirty="0" err="1">
                <a:latin typeface="Adobe Caslon Pro" panose="0205050205050A020403" pitchFamily="18" charset="0"/>
              </a:rPr>
              <a:t>TourSpace</a:t>
            </a:r>
            <a:endParaRPr lang="en-US" sz="4000" cap="none" dirty="0">
              <a:latin typeface="Adobe Caslon Pro" panose="0205050205050A020403" pitchFamily="18" charset="0"/>
            </a:endParaRPr>
          </a:p>
        </p:txBody>
      </p:sp>
      <p:sp>
        <p:nvSpPr>
          <p:cNvPr id="3" name="Subtitle 2"/>
          <p:cNvSpPr>
            <a:spLocks noGrp="1"/>
          </p:cNvSpPr>
          <p:nvPr>
            <p:ph type="subTitle" idx="1"/>
          </p:nvPr>
        </p:nvSpPr>
        <p:spPr>
          <a:xfrm>
            <a:off x="1015995" y="2995617"/>
            <a:ext cx="7984541" cy="1371599"/>
          </a:xfrm>
        </p:spPr>
        <p:txBody>
          <a:bodyPr>
            <a:normAutofit/>
          </a:bodyPr>
          <a:lstStyle/>
          <a:p>
            <a:r>
              <a:rPr lang="en-ZA" sz="3000" dirty="0">
                <a:latin typeface="Adobe Arabic" panose="02040503050201020203" pitchFamily="18" charset="-78"/>
                <a:cs typeface="Adobe Arabic" panose="02040503050201020203" pitchFamily="18" charset="-78"/>
              </a:rPr>
              <a:t>Kabai Moipone 215203569</a:t>
            </a:r>
            <a:endParaRPr lang="en-US" sz="3000" dirty="0">
              <a:latin typeface="Adobe Arabic" panose="02040503050201020203" pitchFamily="18" charset="-78"/>
              <a:cs typeface="Adobe Arabic" panose="02040503050201020203" pitchFamily="18" charset="-78"/>
            </a:endParaRPr>
          </a:p>
          <a:p>
            <a:r>
              <a:rPr lang="en-US" sz="3000" dirty="0">
                <a:latin typeface="Adobe Arabic" panose="02040503050201020203" pitchFamily="18" charset="-78"/>
                <a:cs typeface="Adobe Arabic" panose="02040503050201020203" pitchFamily="18" charset="-78"/>
              </a:rPr>
              <a:t>Msomi </a:t>
            </a:r>
            <a:r>
              <a:rPr lang="en-US" sz="3000" dirty="0" err="1">
                <a:latin typeface="Adobe Arabic" panose="02040503050201020203" pitchFamily="18" charset="-78"/>
                <a:cs typeface="Adobe Arabic" panose="02040503050201020203" pitchFamily="18" charset="-78"/>
              </a:rPr>
              <a:t>Sebe</a:t>
            </a:r>
            <a:r>
              <a:rPr lang="en-US" sz="3000" dirty="0">
                <a:latin typeface="Adobe Arabic" panose="02040503050201020203" pitchFamily="18" charset="-78"/>
                <a:cs typeface="Adobe Arabic" panose="02040503050201020203" pitchFamily="18" charset="-78"/>
              </a:rPr>
              <a:t> 216028604</a:t>
            </a:r>
          </a:p>
          <a:p>
            <a:endParaRPr lang="en-US" sz="3000" dirty="0">
              <a:latin typeface="Adobe Arabic" panose="02040503050201020203" pitchFamily="18" charset="-78"/>
              <a:cs typeface="Adobe Arabic" panose="02040503050201020203" pitchFamily="18" charset="-78"/>
            </a:endParaRPr>
          </a:p>
        </p:txBody>
      </p:sp>
      <p:pic>
        <p:nvPicPr>
          <p:cNvPr id="4" name="Picture 2" descr="Image result for tourism boom in cape tow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5768" y="2563947"/>
            <a:ext cx="6415963" cy="3608980"/>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p:cNvSpPr txBox="1">
            <a:spLocks/>
          </p:cNvSpPr>
          <p:nvPr/>
        </p:nvSpPr>
        <p:spPr>
          <a:xfrm>
            <a:off x="3953129" y="6368605"/>
            <a:ext cx="3537436" cy="489395"/>
          </a:xfrm>
          <a:prstGeom prst="rect">
            <a:avLst/>
          </a:prstGeom>
        </p:spPr>
        <p:txBody>
          <a:bodyPr vert="horz" lIns="91440" tIns="45720" rIns="91440" bIns="45720" rtlCol="0" anchor="t">
            <a:normAutofit fontScale="85000" lnSpcReduction="20000"/>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r>
              <a:rPr lang="en-US" sz="3000" dirty="0">
                <a:solidFill>
                  <a:schemeClr val="tx1"/>
                </a:solidFill>
                <a:latin typeface="Adobe Arabic" panose="02040503050201020203" pitchFamily="18" charset="-78"/>
                <a:cs typeface="Adobe Arabic" panose="02040503050201020203" pitchFamily="18" charset="-78"/>
              </a:rPr>
              <a:t>Due Date: 26 February 2019</a:t>
            </a:r>
          </a:p>
          <a:p>
            <a:endParaRPr lang="en-US" sz="3000" dirty="0">
              <a:latin typeface="Adobe Arabic" panose="02040503050201020203" pitchFamily="18" charset="-78"/>
              <a:cs typeface="Adobe Arabic" panose="02040503050201020203" pitchFamily="18" charset="-78"/>
            </a:endParaRPr>
          </a:p>
        </p:txBody>
      </p:sp>
    </p:spTree>
    <p:extLst>
      <p:ext uri="{BB962C8B-B14F-4D97-AF65-F5344CB8AC3E}">
        <p14:creationId xmlns:p14="http://schemas.microsoft.com/office/powerpoint/2010/main" val="429368981"/>
      </p:ext>
    </p:extLst>
  </p:cSld>
  <p:clrMapOvr>
    <a:masterClrMapping/>
  </p:clrMapOvr>
  <p:transition spd="slow" advClick="0" advTm="60000">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458" y="470127"/>
            <a:ext cx="10364451" cy="1130074"/>
          </a:xfrm>
        </p:spPr>
        <p:txBody>
          <a:bodyPr>
            <a:normAutofit/>
          </a:bodyPr>
          <a:lstStyle/>
          <a:p>
            <a:r>
              <a:rPr lang="en-ZA" sz="6000" dirty="0">
                <a:latin typeface="Adobe Caslon Pro" panose="0205050205050A020403" pitchFamily="18" charset="0"/>
              </a:rPr>
              <a:t>			</a:t>
            </a:r>
            <a:r>
              <a:rPr lang="en-ZA" sz="4800" u="sng" dirty="0">
                <a:latin typeface="Adobe Caslon Pro" panose="0205050205050A020403" pitchFamily="18" charset="0"/>
              </a:rPr>
              <a:t>Feasibility REPORT</a:t>
            </a:r>
            <a:endParaRPr lang="en-ZA" sz="6000" u="sng" dirty="0">
              <a:latin typeface="Adobe Caslon Pro" panose="0205050205050A020403" pitchFamily="18" charset="0"/>
            </a:endParaRPr>
          </a:p>
        </p:txBody>
      </p:sp>
      <p:sp>
        <p:nvSpPr>
          <p:cNvPr id="3" name="Content Placeholder 2"/>
          <p:cNvSpPr>
            <a:spLocks noGrp="1"/>
          </p:cNvSpPr>
          <p:nvPr>
            <p:ph idx="1"/>
          </p:nvPr>
        </p:nvSpPr>
        <p:spPr>
          <a:xfrm>
            <a:off x="300633" y="1035164"/>
            <a:ext cx="11350100" cy="6063916"/>
          </a:xfrm>
        </p:spPr>
        <p:txBody>
          <a:bodyPr>
            <a:noAutofit/>
          </a:bodyPr>
          <a:lstStyle/>
          <a:p>
            <a:pPr>
              <a:lnSpc>
                <a:spcPct val="150000"/>
              </a:lnSpc>
            </a:pPr>
            <a:r>
              <a:rPr lang="en-ZA" sz="1400" dirty="0">
                <a:solidFill>
                  <a:schemeClr val="tx1"/>
                </a:solidFill>
              </a:rPr>
              <a:t>Before considering an implementation for our tourism system, we first checked with </a:t>
            </a:r>
            <a:r>
              <a:rPr lang="en-ZA" sz="1400" b="1" dirty="0" err="1">
                <a:solidFill>
                  <a:schemeClr val="tx1"/>
                </a:solidFill>
              </a:rPr>
              <a:t>LoveCapeTown</a:t>
            </a:r>
            <a:r>
              <a:rPr lang="en-ZA" sz="1400" dirty="0">
                <a:solidFill>
                  <a:schemeClr val="tx1"/>
                </a:solidFill>
              </a:rPr>
              <a:t> tourism system and tried to understand how their system works in accommodating the increasing population of tourists and how they help them in making their journey to Cape Town enjoyable. </a:t>
            </a:r>
          </a:p>
          <a:p>
            <a:pPr>
              <a:lnSpc>
                <a:spcPct val="150000"/>
              </a:lnSpc>
            </a:pPr>
            <a:r>
              <a:rPr lang="en-ZA" sz="1400" dirty="0">
                <a:solidFill>
                  <a:schemeClr val="tx1"/>
                </a:solidFill>
              </a:rPr>
              <a:t>So, we propose to implement a mobile system called </a:t>
            </a:r>
            <a:r>
              <a:rPr lang="en-ZA" sz="1400" b="1" dirty="0" err="1">
                <a:solidFill>
                  <a:schemeClr val="tx1"/>
                </a:solidFill>
              </a:rPr>
              <a:t>TourSpace</a:t>
            </a:r>
            <a:r>
              <a:rPr lang="en-ZA" sz="1400" b="1" dirty="0">
                <a:solidFill>
                  <a:schemeClr val="tx1"/>
                </a:solidFill>
              </a:rPr>
              <a:t> </a:t>
            </a:r>
            <a:r>
              <a:rPr lang="en-ZA" sz="1400" dirty="0">
                <a:solidFill>
                  <a:schemeClr val="tx1"/>
                </a:solidFill>
              </a:rPr>
              <a:t>that will be accessible using any mobile device, and it is only for tourist who are visiting Cape Town.</a:t>
            </a:r>
          </a:p>
          <a:p>
            <a:pPr>
              <a:lnSpc>
                <a:spcPct val="150000"/>
              </a:lnSpc>
            </a:pPr>
            <a:r>
              <a:rPr lang="en-ZA" sz="1400" dirty="0">
                <a:solidFill>
                  <a:schemeClr val="tx1"/>
                </a:solidFill>
              </a:rPr>
              <a:t>The objective of this is to help them find the safest accommodations and the best activities in the City to entertain them as the </a:t>
            </a:r>
            <a:r>
              <a:rPr lang="en-ZA" sz="1400" dirty="0" err="1">
                <a:solidFill>
                  <a:schemeClr val="tx1"/>
                </a:solidFill>
              </a:rPr>
              <a:t>LoveCapeTown</a:t>
            </a:r>
            <a:r>
              <a:rPr lang="en-ZA" sz="1400" dirty="0">
                <a:solidFill>
                  <a:schemeClr val="tx1"/>
                </a:solidFill>
              </a:rPr>
              <a:t> claims that the way to attract tourists is to assure them of their security.</a:t>
            </a:r>
          </a:p>
          <a:p>
            <a:pPr>
              <a:lnSpc>
                <a:spcPct val="150000"/>
              </a:lnSpc>
            </a:pPr>
            <a:r>
              <a:rPr lang="en-ZA" sz="1400" dirty="0">
                <a:solidFill>
                  <a:schemeClr val="tx1"/>
                </a:solidFill>
              </a:rPr>
              <a:t>At the moment we know that our system is feasible and it can be implemented within a certain period of time, which </a:t>
            </a:r>
          </a:p>
          <a:p>
            <a:pPr marL="0" indent="0">
              <a:lnSpc>
                <a:spcPct val="150000"/>
              </a:lnSpc>
              <a:buNone/>
            </a:pPr>
            <a:r>
              <a:rPr lang="en-ZA" sz="1400" dirty="0">
                <a:solidFill>
                  <a:schemeClr val="tx1"/>
                </a:solidFill>
              </a:rPr>
              <a:t>is May. It is valuable to the tourists to help them plan their tour to Cape Town by finding the most safest faces for accommodation an also the activities or things that they can do so that they don’t get bored when they get to Cape Town.</a:t>
            </a:r>
          </a:p>
          <a:p>
            <a:pPr marL="0" indent="0">
              <a:lnSpc>
                <a:spcPct val="150000"/>
              </a:lnSpc>
              <a:buNone/>
            </a:pPr>
            <a:endParaRPr lang="en-ZA" sz="1400" dirty="0">
              <a:solidFill>
                <a:schemeClr val="tx1"/>
              </a:solidFill>
            </a:endParaRPr>
          </a:p>
          <a:p>
            <a:pPr>
              <a:lnSpc>
                <a:spcPct val="150000"/>
              </a:lnSpc>
            </a:pPr>
            <a:endParaRPr lang="en-ZA" sz="1400" dirty="0">
              <a:solidFill>
                <a:schemeClr val="tx1"/>
              </a:solidFill>
            </a:endParaRPr>
          </a:p>
        </p:txBody>
      </p:sp>
    </p:spTree>
    <p:extLst>
      <p:ext uri="{BB962C8B-B14F-4D97-AF65-F5344CB8AC3E}">
        <p14:creationId xmlns:p14="http://schemas.microsoft.com/office/powerpoint/2010/main" val="274745696"/>
      </p:ext>
    </p:extLst>
  </p:cSld>
  <p:clrMapOvr>
    <a:masterClrMapping/>
  </p:clrMapOvr>
  <p:transition spd="slow" advClick="0" advTm="60000">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794" y="137255"/>
            <a:ext cx="10364451" cy="1596177"/>
          </a:xfrm>
        </p:spPr>
        <p:txBody>
          <a:bodyPr>
            <a:normAutofit/>
          </a:bodyPr>
          <a:lstStyle/>
          <a:p>
            <a:r>
              <a:rPr lang="en-ZA" sz="6000" dirty="0">
                <a:latin typeface="Adobe Caslon Pro" panose="0205050205050A020403" pitchFamily="18" charset="0"/>
              </a:rPr>
              <a:t>				</a:t>
            </a:r>
            <a:r>
              <a:rPr lang="en-ZA" sz="4800" u="sng" dirty="0">
                <a:latin typeface="Adobe Caslon Pro" panose="0205050205050A020403" pitchFamily="18" charset="0"/>
              </a:rPr>
              <a:t>Stakeholder list</a:t>
            </a:r>
          </a:p>
        </p:txBody>
      </p:sp>
      <p:sp>
        <p:nvSpPr>
          <p:cNvPr id="3" name="Content Placeholder 2"/>
          <p:cNvSpPr>
            <a:spLocks noGrp="1"/>
          </p:cNvSpPr>
          <p:nvPr>
            <p:ph idx="1"/>
          </p:nvPr>
        </p:nvSpPr>
        <p:spPr>
          <a:xfrm>
            <a:off x="916403" y="446053"/>
            <a:ext cx="9613231" cy="4247148"/>
          </a:xfrm>
        </p:spPr>
        <p:txBody>
          <a:bodyPr/>
          <a:lstStyle/>
          <a:p>
            <a:r>
              <a:rPr lang="en-US" sz="2400" cap="none" dirty="0">
                <a:solidFill>
                  <a:schemeClr val="tx1"/>
                </a:solidFill>
              </a:rPr>
              <a:t>Owner</a:t>
            </a:r>
          </a:p>
          <a:p>
            <a:r>
              <a:rPr lang="en-US" sz="2400" dirty="0">
                <a:solidFill>
                  <a:schemeClr val="tx1"/>
                </a:solidFill>
              </a:rPr>
              <a:t>Manager</a:t>
            </a:r>
          </a:p>
          <a:p>
            <a:r>
              <a:rPr lang="en-US" sz="2400" cap="none" dirty="0">
                <a:solidFill>
                  <a:schemeClr val="tx1"/>
                </a:solidFill>
              </a:rPr>
              <a:t>Software Developers</a:t>
            </a:r>
          </a:p>
          <a:p>
            <a:r>
              <a:rPr lang="en-US" sz="2400" cap="none" dirty="0">
                <a:solidFill>
                  <a:schemeClr val="tx1"/>
                </a:solidFill>
              </a:rPr>
              <a:t>Tourists</a:t>
            </a:r>
          </a:p>
        </p:txBody>
      </p:sp>
      <p:pic>
        <p:nvPicPr>
          <p:cNvPr id="2056" name="Picture 8" descr="Image result for stakeholders in a tourism proj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0585" y="3189696"/>
            <a:ext cx="6431139" cy="322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38243"/>
      </p:ext>
    </p:extLst>
  </p:cSld>
  <p:clrMapOvr>
    <a:masterClrMapping/>
  </p:clrMapOvr>
  <p:transition spd="slow" advClick="0" advTm="60000">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8342" y="385904"/>
            <a:ext cx="11454063" cy="1596177"/>
          </a:xfrm>
        </p:spPr>
        <p:txBody>
          <a:bodyPr>
            <a:noAutofit/>
          </a:bodyPr>
          <a:lstStyle/>
          <a:p>
            <a:r>
              <a:rPr lang="en-ZA" sz="4800" dirty="0">
                <a:latin typeface="Adobe Caslon Pro" panose="0205050205050A020403" pitchFamily="18" charset="0"/>
              </a:rPr>
              <a:t>	</a:t>
            </a:r>
            <a:r>
              <a:rPr lang="en-ZA" sz="4800" u="sng" dirty="0">
                <a:latin typeface="Adobe Caslon Pro" panose="0205050205050A020403" pitchFamily="18" charset="0"/>
              </a:rPr>
              <a:t>Requirements specification</a:t>
            </a:r>
          </a:p>
        </p:txBody>
      </p:sp>
      <p:sp>
        <p:nvSpPr>
          <p:cNvPr id="3" name="Content Placeholder 2"/>
          <p:cNvSpPr>
            <a:spLocks noGrp="1"/>
          </p:cNvSpPr>
          <p:nvPr>
            <p:ph idx="1"/>
          </p:nvPr>
        </p:nvSpPr>
        <p:spPr>
          <a:xfrm>
            <a:off x="368342" y="1491918"/>
            <a:ext cx="11155279" cy="5149514"/>
          </a:xfrm>
        </p:spPr>
        <p:txBody>
          <a:bodyPr>
            <a:normAutofit/>
          </a:bodyPr>
          <a:lstStyle/>
          <a:p>
            <a:pPr>
              <a:lnSpc>
                <a:spcPct val="150000"/>
              </a:lnSpc>
            </a:pPr>
            <a:r>
              <a:rPr lang="en-US" sz="1200" dirty="0">
                <a:solidFill>
                  <a:schemeClr val="tx1"/>
                </a:solidFill>
              </a:rPr>
              <a:t>Requirements specification is the process of writing down the user and system requirements in a requirements document. The user requirements for a system should describe the functional and nonfunctional requirements so that they are understandable by system users who don’t have a detailed, and technical knowledge.</a:t>
            </a:r>
          </a:p>
          <a:p>
            <a:pPr>
              <a:lnSpc>
                <a:spcPct val="150000"/>
              </a:lnSpc>
            </a:pPr>
            <a:r>
              <a:rPr lang="en-US" sz="1600" dirty="0">
                <a:solidFill>
                  <a:schemeClr val="tx1"/>
                </a:solidFill>
              </a:rPr>
              <a:t>For our system, the </a:t>
            </a:r>
            <a:r>
              <a:rPr lang="en-US" sz="1600" b="1" dirty="0">
                <a:solidFill>
                  <a:schemeClr val="tx1"/>
                </a:solidFill>
              </a:rPr>
              <a:t>user requirements</a:t>
            </a:r>
            <a:r>
              <a:rPr lang="en-US" sz="1600" dirty="0">
                <a:solidFill>
                  <a:schemeClr val="tx1"/>
                </a:solidFill>
              </a:rPr>
              <a:t> are as follows:</a:t>
            </a:r>
          </a:p>
          <a:p>
            <a:pPr marL="0" indent="0">
              <a:lnSpc>
                <a:spcPct val="150000"/>
              </a:lnSpc>
              <a:buNone/>
            </a:pPr>
            <a:r>
              <a:rPr lang="en-US" sz="1200" dirty="0">
                <a:solidFill>
                  <a:schemeClr val="tx1"/>
                </a:solidFill>
              </a:rPr>
              <a:t>The software consultancy IT team should come with a development of a user-friendly software application which stands out from the multitude of  options currently available to tourists, that will be beneficial for the tourism market. </a:t>
            </a:r>
          </a:p>
          <a:p>
            <a:pPr marL="0" indent="0">
              <a:lnSpc>
                <a:spcPct val="150000"/>
              </a:lnSpc>
              <a:buNone/>
            </a:pPr>
            <a:r>
              <a:rPr lang="en-US" sz="1200" dirty="0">
                <a:solidFill>
                  <a:schemeClr val="tx1"/>
                </a:solidFill>
              </a:rPr>
              <a:t>Among other benefits, it will provide the most safest places for accommodation, and a variety of the best activities to do in Cape Town and exactly where they are located. No time will be wasted juggling around the Internet looking and typing out the hotel names and struggling to get the right places to go to for activities.</a:t>
            </a:r>
          </a:p>
          <a:p>
            <a:pPr marL="0" indent="0">
              <a:lnSpc>
                <a:spcPct val="150000"/>
              </a:lnSpc>
              <a:buNone/>
            </a:pPr>
            <a:endParaRPr lang="en-US" sz="1200" dirty="0">
              <a:solidFill>
                <a:schemeClr val="tx1"/>
              </a:solidFill>
            </a:endParaRPr>
          </a:p>
          <a:p>
            <a:pPr marL="0" indent="0">
              <a:lnSpc>
                <a:spcPct val="150000"/>
              </a:lnSpc>
              <a:buNone/>
            </a:pPr>
            <a:endParaRPr lang="en-US" sz="1200" dirty="0">
              <a:solidFill>
                <a:schemeClr val="tx1"/>
              </a:solidFill>
            </a:endParaRPr>
          </a:p>
          <a:p>
            <a:pPr marL="0" indent="0">
              <a:lnSpc>
                <a:spcPct val="150000"/>
              </a:lnSpc>
              <a:buNone/>
            </a:pPr>
            <a:endParaRPr lang="en-US" sz="1200" dirty="0">
              <a:solidFill>
                <a:schemeClr val="tx1"/>
              </a:solidFill>
            </a:endParaRPr>
          </a:p>
          <a:p>
            <a:pPr marL="0" indent="0">
              <a:lnSpc>
                <a:spcPct val="150000"/>
              </a:lnSpc>
              <a:buNone/>
            </a:pPr>
            <a:endParaRPr lang="en-US" sz="1200" dirty="0">
              <a:solidFill>
                <a:schemeClr val="tx1"/>
              </a:solidFill>
            </a:endParaRPr>
          </a:p>
          <a:p>
            <a:pPr marL="0" indent="0">
              <a:lnSpc>
                <a:spcPct val="150000"/>
              </a:lnSpc>
              <a:buNone/>
            </a:pPr>
            <a:endParaRPr lang="en-US" sz="1200" dirty="0">
              <a:solidFill>
                <a:schemeClr val="tx1"/>
              </a:solidFill>
            </a:endParaRPr>
          </a:p>
        </p:txBody>
      </p:sp>
      <p:pic>
        <p:nvPicPr>
          <p:cNvPr id="5" name="Picture 6" descr="Image result for login scre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3553" y="4329746"/>
            <a:ext cx="3238509" cy="2428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024657"/>
      </p:ext>
    </p:extLst>
  </p:cSld>
  <p:clrMapOvr>
    <a:masterClrMapping/>
  </p:clrMapOvr>
  <p:transition spd="slow" advClick="0" advTm="60000">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858" y="469231"/>
            <a:ext cx="11334373" cy="1263317"/>
          </a:xfrm>
        </p:spPr>
        <p:txBody>
          <a:bodyPr>
            <a:noAutofit/>
          </a:bodyPr>
          <a:lstStyle/>
          <a:p>
            <a:r>
              <a:rPr lang="en-ZA" sz="4800" u="sng" dirty="0">
                <a:latin typeface="Adobe Caslon Pro" panose="0205050205050A020403" pitchFamily="18" charset="0"/>
              </a:rPr>
              <a:t>Requirements specification</a:t>
            </a:r>
            <a:r>
              <a:rPr lang="en-ZA" sz="4800" dirty="0">
                <a:latin typeface="Adobe Caslon Pro" panose="0205050205050A020403" pitchFamily="18" charset="0"/>
              </a:rPr>
              <a:t>									</a:t>
            </a:r>
            <a:r>
              <a:rPr lang="en-ZA" sz="4800" u="sng" dirty="0">
                <a:latin typeface="Adobe Caslon Pro" panose="0205050205050A020403" pitchFamily="18" charset="0"/>
              </a:rPr>
              <a:t>continues</a:t>
            </a:r>
            <a:r>
              <a:rPr lang="en-ZA" sz="4800" dirty="0">
                <a:latin typeface="Adobe Caslon Pro" panose="0205050205050A020403" pitchFamily="18" charset="0"/>
              </a:rPr>
              <a:t>…</a:t>
            </a:r>
          </a:p>
        </p:txBody>
      </p:sp>
      <p:sp>
        <p:nvSpPr>
          <p:cNvPr id="3" name="Content Placeholder 2"/>
          <p:cNvSpPr>
            <a:spLocks noGrp="1"/>
          </p:cNvSpPr>
          <p:nvPr>
            <p:ph idx="1"/>
          </p:nvPr>
        </p:nvSpPr>
        <p:spPr>
          <a:xfrm>
            <a:off x="805488" y="1732548"/>
            <a:ext cx="11093743" cy="4367463"/>
          </a:xfrm>
        </p:spPr>
        <p:txBody>
          <a:bodyPr>
            <a:normAutofit/>
          </a:bodyPr>
          <a:lstStyle/>
          <a:p>
            <a:r>
              <a:rPr lang="en-US" sz="1600" b="1" dirty="0">
                <a:solidFill>
                  <a:schemeClr val="tx1"/>
                </a:solidFill>
              </a:rPr>
              <a:t>System requirements:</a:t>
            </a:r>
          </a:p>
          <a:p>
            <a:pPr marL="0" indent="0">
              <a:lnSpc>
                <a:spcPct val="150000"/>
              </a:lnSpc>
              <a:buNone/>
            </a:pPr>
            <a:r>
              <a:rPr lang="en-US" sz="1200" dirty="0">
                <a:solidFill>
                  <a:schemeClr val="tx1"/>
                </a:solidFill>
              </a:rPr>
              <a:t>The system aims to put the tourists’ safety first above all else so that they get accommodated in the safest places in Cape Town and also not get easily scammed while they search the accommodation and get false alarms about places which turned out to be not accommodating anyone in the first place. This will reduce the number of deaths that happen on vacation because of unsafety. </a:t>
            </a:r>
          </a:p>
          <a:p>
            <a:pPr marL="0" indent="0">
              <a:lnSpc>
                <a:spcPct val="150000"/>
              </a:lnSpc>
              <a:buNone/>
            </a:pPr>
            <a:r>
              <a:rPr lang="en-US" sz="1200" dirty="0">
                <a:solidFill>
                  <a:schemeClr val="tx1"/>
                </a:solidFill>
              </a:rPr>
              <a:t>(Nypost.com, 2020) states that “..the trip turned tragic when the Prince George’s County couple was found dead in their room five days after they checked into the hotel”. It continues by emphasizing “On the same day that Day and Holmes’ bodies were found, a Pennsylvania woman, died at the Luxury Bahía Principe </a:t>
            </a:r>
            <a:r>
              <a:rPr lang="en-US" sz="1200" dirty="0" err="1">
                <a:solidFill>
                  <a:schemeClr val="tx1"/>
                </a:solidFill>
              </a:rPr>
              <a:t>Bouganville</a:t>
            </a:r>
            <a:r>
              <a:rPr lang="en-US" sz="1200" dirty="0">
                <a:solidFill>
                  <a:schemeClr val="tx1"/>
                </a:solidFill>
              </a:rPr>
              <a:t>, another property under the same resort chain.” </a:t>
            </a:r>
          </a:p>
          <a:p>
            <a:pPr marL="0" indent="0">
              <a:lnSpc>
                <a:spcPct val="150000"/>
              </a:lnSpc>
              <a:buNone/>
            </a:pPr>
            <a:r>
              <a:rPr lang="en-US" sz="1200" dirty="0">
                <a:solidFill>
                  <a:schemeClr val="tx1"/>
                </a:solidFill>
              </a:rPr>
              <a:t>In overall, this shows how most tourists get trapped in places they thought were the safest places to be. Our aim is to ensure that the tourists in our City are healthy are safe at all times so that they come back knowing they will enjoy their entertaining activities to their outmost best knowing they are going back to a very safe and secure place. </a:t>
            </a:r>
          </a:p>
          <a:p>
            <a:pPr marL="0" indent="0">
              <a:lnSpc>
                <a:spcPct val="150000"/>
              </a:lnSpc>
              <a:buNone/>
            </a:pPr>
            <a:endParaRPr lang="en-US" sz="1200" dirty="0">
              <a:solidFill>
                <a:schemeClr val="tx1"/>
              </a:solidFill>
            </a:endParaRPr>
          </a:p>
        </p:txBody>
      </p:sp>
    </p:spTree>
    <p:extLst>
      <p:ext uri="{BB962C8B-B14F-4D97-AF65-F5344CB8AC3E}">
        <p14:creationId xmlns:p14="http://schemas.microsoft.com/office/powerpoint/2010/main" val="3359262523"/>
      </p:ext>
    </p:extLst>
  </p:cSld>
  <p:clrMapOvr>
    <a:masterClrMapping/>
  </p:clrMapOvr>
  <p:transition spd="slow" advClick="0" advTm="60000">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64" y="300790"/>
            <a:ext cx="11575004" cy="1600199"/>
          </a:xfrm>
        </p:spPr>
        <p:txBody>
          <a:bodyPr>
            <a:noAutofit/>
          </a:bodyPr>
          <a:lstStyle/>
          <a:p>
            <a:r>
              <a:rPr lang="en-ZA" sz="4800" u="sng" dirty="0">
                <a:latin typeface="Adobe Caslon Pro" panose="0205050205050A020403" pitchFamily="18" charset="0"/>
              </a:rPr>
              <a:t>Requirements specification</a:t>
            </a:r>
            <a:r>
              <a:rPr lang="en-ZA" sz="4800" dirty="0">
                <a:latin typeface="Adobe Caslon Pro" panose="0205050205050A020403" pitchFamily="18" charset="0"/>
              </a:rPr>
              <a:t>									</a:t>
            </a:r>
            <a:r>
              <a:rPr lang="en-ZA" sz="4800" u="sng" dirty="0">
                <a:latin typeface="Adobe Caslon Pro" panose="0205050205050A020403" pitchFamily="18" charset="0"/>
              </a:rPr>
              <a:t>continues</a:t>
            </a:r>
            <a:r>
              <a:rPr lang="en-ZA" sz="4800" dirty="0">
                <a:latin typeface="Adobe Caslon Pro" panose="0205050205050A020403" pitchFamily="18" charset="0"/>
              </a:rPr>
              <a:t>…</a:t>
            </a:r>
          </a:p>
        </p:txBody>
      </p:sp>
      <p:sp>
        <p:nvSpPr>
          <p:cNvPr id="3" name="Content Placeholder 2"/>
          <p:cNvSpPr>
            <a:spLocks noGrp="1"/>
          </p:cNvSpPr>
          <p:nvPr>
            <p:ph idx="1"/>
          </p:nvPr>
        </p:nvSpPr>
        <p:spPr>
          <a:xfrm>
            <a:off x="619000" y="1900989"/>
            <a:ext cx="11087726" cy="4704348"/>
          </a:xfrm>
        </p:spPr>
        <p:txBody>
          <a:bodyPr>
            <a:normAutofit lnSpcReduction="10000"/>
          </a:bodyPr>
          <a:lstStyle/>
          <a:p>
            <a:pPr marL="0" indent="0">
              <a:lnSpc>
                <a:spcPct val="150000"/>
              </a:lnSpc>
              <a:buNone/>
            </a:pPr>
            <a:r>
              <a:rPr lang="en-US" sz="1600" dirty="0">
                <a:solidFill>
                  <a:schemeClr val="tx1"/>
                </a:solidFill>
              </a:rPr>
              <a:t>System Requirements continues…</a:t>
            </a:r>
          </a:p>
          <a:p>
            <a:pPr>
              <a:lnSpc>
                <a:spcPct val="150000"/>
              </a:lnSpc>
            </a:pPr>
            <a:r>
              <a:rPr lang="en-US" sz="1200" dirty="0">
                <a:solidFill>
                  <a:schemeClr val="tx1"/>
                </a:solidFill>
              </a:rPr>
              <a:t>The following are the </a:t>
            </a:r>
            <a:r>
              <a:rPr lang="en-US" sz="1200" u="sng" dirty="0">
                <a:solidFill>
                  <a:schemeClr val="tx1"/>
                </a:solidFill>
              </a:rPr>
              <a:t>functional requirements</a:t>
            </a:r>
            <a:r>
              <a:rPr lang="en-US" sz="1200" b="1" dirty="0">
                <a:solidFill>
                  <a:schemeClr val="tx1"/>
                </a:solidFill>
              </a:rPr>
              <a:t> </a:t>
            </a:r>
            <a:r>
              <a:rPr lang="en-US" sz="1200" dirty="0">
                <a:solidFill>
                  <a:schemeClr val="tx1"/>
                </a:solidFill>
              </a:rPr>
              <a:t>for our system:</a:t>
            </a:r>
          </a:p>
          <a:p>
            <a:pPr>
              <a:lnSpc>
                <a:spcPct val="150000"/>
              </a:lnSpc>
            </a:pPr>
            <a:r>
              <a:rPr lang="en-US" sz="1200" dirty="0">
                <a:solidFill>
                  <a:schemeClr val="tx1"/>
                </a:solidFill>
              </a:rPr>
              <a:t>Every tourist is supposed be a registered member in the system so that they will be able to login to the system every time they need to interact with the application in order to access the system’s functionality.</a:t>
            </a:r>
          </a:p>
          <a:p>
            <a:pPr>
              <a:lnSpc>
                <a:spcPct val="150000"/>
              </a:lnSpc>
            </a:pPr>
            <a:r>
              <a:rPr lang="en-ZA" sz="1200" dirty="0">
                <a:solidFill>
                  <a:schemeClr val="tx1"/>
                </a:solidFill>
              </a:rPr>
              <a:t>When the tourist is logged in, on the Welcome screen they will see </a:t>
            </a:r>
            <a:r>
              <a:rPr lang="en-ZA" sz="1200" b="1" dirty="0">
                <a:solidFill>
                  <a:schemeClr val="tx1"/>
                </a:solidFill>
              </a:rPr>
              <a:t>two buttons </a:t>
            </a:r>
            <a:r>
              <a:rPr lang="en-ZA" sz="1200" dirty="0">
                <a:solidFill>
                  <a:schemeClr val="tx1"/>
                </a:solidFill>
              </a:rPr>
              <a:t>with a little description of what the system does and a very heart-warming welcome message.</a:t>
            </a:r>
          </a:p>
          <a:p>
            <a:pPr>
              <a:lnSpc>
                <a:spcPct val="150000"/>
              </a:lnSpc>
            </a:pPr>
            <a:r>
              <a:rPr lang="en-ZA" sz="1200" cap="none" dirty="0">
                <a:solidFill>
                  <a:schemeClr val="tx1"/>
                </a:solidFill>
              </a:rPr>
              <a:t>The buttons will be labe</a:t>
            </a:r>
            <a:r>
              <a:rPr lang="en-ZA" sz="1200" dirty="0">
                <a:solidFill>
                  <a:schemeClr val="tx1"/>
                </a:solidFill>
              </a:rPr>
              <a:t>lled ‘Safest Accommodations’ and ‘Thrilling places for Activities’ respectively to give them an outlook feel of what our system provides.</a:t>
            </a:r>
          </a:p>
          <a:p>
            <a:pPr>
              <a:lnSpc>
                <a:spcPct val="150000"/>
              </a:lnSpc>
            </a:pPr>
            <a:r>
              <a:rPr lang="en-ZA" sz="1200" cap="none" dirty="0">
                <a:solidFill>
                  <a:schemeClr val="tx1"/>
                </a:solidFill>
              </a:rPr>
              <a:t>When the ‘Safest Accommodations</a:t>
            </a:r>
            <a:r>
              <a:rPr lang="en-ZA" sz="1200" dirty="0">
                <a:solidFill>
                  <a:schemeClr val="tx1"/>
                </a:solidFill>
              </a:rPr>
              <a:t>’ button is clicked, a variety of </a:t>
            </a:r>
            <a:r>
              <a:rPr lang="en-ZA" sz="1200" b="1" dirty="0">
                <a:solidFill>
                  <a:schemeClr val="tx1"/>
                </a:solidFill>
              </a:rPr>
              <a:t>only</a:t>
            </a:r>
            <a:r>
              <a:rPr lang="en-ZA" sz="1200" dirty="0">
                <a:solidFill>
                  <a:schemeClr val="tx1"/>
                </a:solidFill>
              </a:rPr>
              <a:t> the recommended hotels and resorts or B&amp;Bs will be shown so that a user can choose from them which one best suits them depending on the services provided in each.</a:t>
            </a:r>
          </a:p>
          <a:p>
            <a:pPr>
              <a:lnSpc>
                <a:spcPct val="150000"/>
              </a:lnSpc>
            </a:pPr>
            <a:r>
              <a:rPr lang="en-ZA" sz="1200" cap="none" dirty="0">
                <a:solidFill>
                  <a:schemeClr val="tx1"/>
                </a:solidFill>
              </a:rPr>
              <a:t>When the user has decided on the suitable accommodation, they can click on the link corresponding to it and it will direct them to their side where they can make the bookings.</a:t>
            </a:r>
          </a:p>
          <a:p>
            <a:pPr>
              <a:lnSpc>
                <a:spcPct val="150000"/>
              </a:lnSpc>
            </a:pPr>
            <a:r>
              <a:rPr lang="en-ZA" sz="1200" dirty="0">
                <a:solidFill>
                  <a:schemeClr val="tx1"/>
                </a:solidFill>
              </a:rPr>
              <a:t>If they are done booking an accommodation and still want to continue using our services, they can click the back button until they are back to the home page or they can click the ‘Home’ button that will take them back to the welcome screen.</a:t>
            </a:r>
            <a:endParaRPr lang="en-ZA" sz="1200" cap="none" dirty="0">
              <a:solidFill>
                <a:schemeClr val="tx1"/>
              </a:solidFill>
            </a:endParaRPr>
          </a:p>
        </p:txBody>
      </p:sp>
    </p:spTree>
    <p:extLst>
      <p:ext uri="{BB962C8B-B14F-4D97-AF65-F5344CB8AC3E}">
        <p14:creationId xmlns:p14="http://schemas.microsoft.com/office/powerpoint/2010/main" val="1713914573"/>
      </p:ext>
    </p:extLst>
  </p:cSld>
  <p:clrMapOvr>
    <a:masterClrMapping/>
  </p:clrMapOvr>
  <p:transition spd="slow" advClick="0" advTm="60000">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016" y="216568"/>
            <a:ext cx="10364451" cy="1636295"/>
          </a:xfrm>
        </p:spPr>
        <p:txBody>
          <a:bodyPr>
            <a:normAutofit fontScale="90000"/>
          </a:bodyPr>
          <a:lstStyle/>
          <a:p>
            <a:r>
              <a:rPr lang="en-ZA" sz="5300" u="sng" dirty="0">
                <a:latin typeface="Adobe Caslon Pro" panose="0205050205050A020403" pitchFamily="18" charset="0"/>
              </a:rPr>
              <a:t>Requirements specification</a:t>
            </a:r>
            <a:r>
              <a:rPr lang="en-ZA" sz="5300" dirty="0">
                <a:latin typeface="Adobe Caslon Pro" panose="0205050205050A020403" pitchFamily="18" charset="0"/>
              </a:rPr>
              <a:t>							</a:t>
            </a:r>
            <a:r>
              <a:rPr lang="en-ZA" sz="5300" u="sng" dirty="0">
                <a:latin typeface="Adobe Caslon Pro" panose="0205050205050A020403" pitchFamily="18" charset="0"/>
              </a:rPr>
              <a:t>continues</a:t>
            </a:r>
            <a:r>
              <a:rPr lang="en-ZA" sz="5300" dirty="0">
                <a:latin typeface="Adobe Caslon Pro" panose="0205050205050A020403" pitchFamily="18" charset="0"/>
              </a:rPr>
              <a:t>…</a:t>
            </a:r>
            <a:endParaRPr lang="en-ZA" sz="8000" u="sng" dirty="0">
              <a:latin typeface="Adobe Caslon Pro" panose="0205050205050A020403" pitchFamily="18" charset="0"/>
            </a:endParaRPr>
          </a:p>
        </p:txBody>
      </p:sp>
      <p:sp>
        <p:nvSpPr>
          <p:cNvPr id="3" name="Content Placeholder 2"/>
          <p:cNvSpPr>
            <a:spLocks noGrp="1"/>
          </p:cNvSpPr>
          <p:nvPr>
            <p:ph idx="1"/>
          </p:nvPr>
        </p:nvSpPr>
        <p:spPr>
          <a:xfrm>
            <a:off x="360949" y="1852863"/>
            <a:ext cx="11490157" cy="4439653"/>
          </a:xfrm>
        </p:spPr>
        <p:txBody>
          <a:bodyPr>
            <a:normAutofit lnSpcReduction="10000"/>
          </a:bodyPr>
          <a:lstStyle/>
          <a:p>
            <a:pPr marL="0" indent="0">
              <a:lnSpc>
                <a:spcPct val="150000"/>
              </a:lnSpc>
              <a:buNone/>
            </a:pPr>
            <a:r>
              <a:rPr lang="en-US" sz="1600" dirty="0">
                <a:solidFill>
                  <a:schemeClr val="tx1"/>
                </a:solidFill>
              </a:rPr>
              <a:t>System Requirements continues on functional requirements…</a:t>
            </a:r>
          </a:p>
          <a:p>
            <a:pPr>
              <a:lnSpc>
                <a:spcPct val="150000"/>
              </a:lnSpc>
            </a:pPr>
            <a:r>
              <a:rPr lang="en-ZA" sz="1200" dirty="0">
                <a:solidFill>
                  <a:schemeClr val="tx1"/>
                </a:solidFill>
              </a:rPr>
              <a:t>When the ‘Thrilling places for Activities’ button is clicked, a variety of the exciting activities will be shown and where they are situated also so that they know where are.</a:t>
            </a:r>
          </a:p>
          <a:p>
            <a:pPr>
              <a:lnSpc>
                <a:spcPct val="150000"/>
              </a:lnSpc>
            </a:pPr>
            <a:r>
              <a:rPr lang="en-ZA" sz="1200" dirty="0">
                <a:solidFill>
                  <a:schemeClr val="tx1"/>
                </a:solidFill>
              </a:rPr>
              <a:t>Like in the accommodation category, these places will have the corresponding links to them that the user can click in order to go to their website to find out more information about a certain activity and the bookings that should be made as well prior.</a:t>
            </a:r>
          </a:p>
          <a:p>
            <a:pPr>
              <a:lnSpc>
                <a:spcPct val="150000"/>
              </a:lnSpc>
            </a:pPr>
            <a:r>
              <a:rPr lang="en-ZA" sz="1200" dirty="0">
                <a:solidFill>
                  <a:schemeClr val="tx1"/>
                </a:solidFill>
              </a:rPr>
              <a:t>If they are done booking an for activities and places they want to visit, yet still want to continue using our services, they can click the back button until they are back to the home page or they can click the ‘Home’ button that will take them back to the welcome screen where they will restart the process again.</a:t>
            </a:r>
          </a:p>
          <a:p>
            <a:pPr>
              <a:lnSpc>
                <a:spcPct val="150000"/>
              </a:lnSpc>
            </a:pPr>
            <a:r>
              <a:rPr lang="en-ZA" sz="1200" dirty="0">
                <a:solidFill>
                  <a:schemeClr val="tx1"/>
                </a:solidFill>
              </a:rPr>
              <a:t>Our system will have a ‘Favourites’ panel where the user can save the places that they like so that if they want to visit or view that place again, they can just click the favourites button on the home page and got directly where they need to go. This will save them time of having to go through every list of places and just allow them to have easy access to what they need.</a:t>
            </a:r>
          </a:p>
          <a:p>
            <a:pPr>
              <a:lnSpc>
                <a:spcPct val="150000"/>
              </a:lnSpc>
            </a:pPr>
            <a:r>
              <a:rPr lang="en-ZA" sz="1200" dirty="0">
                <a:solidFill>
                  <a:schemeClr val="tx1"/>
                </a:solidFill>
              </a:rPr>
              <a:t>The system is just collecting these places and putting them in one application so easy access. We do not have any connection with the places and no user can be able to book or make any payments to us. We are just providing a platform for users to be able to use in making their vacation the best on in the Cape Town City.</a:t>
            </a:r>
          </a:p>
        </p:txBody>
      </p:sp>
    </p:spTree>
    <p:extLst>
      <p:ext uri="{BB962C8B-B14F-4D97-AF65-F5344CB8AC3E}">
        <p14:creationId xmlns:p14="http://schemas.microsoft.com/office/powerpoint/2010/main" val="3844255755"/>
      </p:ext>
    </p:extLst>
  </p:cSld>
  <p:clrMapOvr>
    <a:masterClrMapping/>
  </p:clrMapOvr>
  <p:transition spd="slow" advClick="0" advTm="60000">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258" y="337778"/>
            <a:ext cx="11157911" cy="1503054"/>
          </a:xfrm>
        </p:spPr>
        <p:txBody>
          <a:bodyPr>
            <a:normAutofit fontScale="90000"/>
          </a:bodyPr>
          <a:lstStyle/>
          <a:p>
            <a:r>
              <a:rPr lang="en-ZA" sz="8000" u="sng" dirty="0">
                <a:latin typeface="Adobe Caslon Pro" panose="0205050205050A020403" pitchFamily="18" charset="0"/>
              </a:rPr>
              <a:t> </a:t>
            </a:r>
            <a:r>
              <a:rPr lang="en-ZA" sz="5300" u="sng" dirty="0">
                <a:latin typeface="Adobe Caslon Pro" panose="0205050205050A020403" pitchFamily="18" charset="0"/>
              </a:rPr>
              <a:t>Roadmap with Release Plan</a:t>
            </a:r>
          </a:p>
        </p:txBody>
      </p:sp>
      <p:sp>
        <p:nvSpPr>
          <p:cNvPr id="3" name="Content Placeholder 2"/>
          <p:cNvSpPr>
            <a:spLocks noGrp="1"/>
          </p:cNvSpPr>
          <p:nvPr>
            <p:ph idx="1"/>
          </p:nvPr>
        </p:nvSpPr>
        <p:spPr>
          <a:xfrm>
            <a:off x="336258" y="1672389"/>
            <a:ext cx="11157911" cy="4812631"/>
          </a:xfrm>
        </p:spPr>
        <p:txBody>
          <a:bodyPr>
            <a:normAutofit/>
          </a:bodyPr>
          <a:lstStyle/>
          <a:p>
            <a:r>
              <a:rPr lang="en-ZA" sz="2400" cap="none" dirty="0">
                <a:latin typeface="Adobe Caslon Pro" panose="0205050205050A020403" pitchFamily="18" charset="0"/>
              </a:rPr>
              <a:t>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257" y="1451324"/>
            <a:ext cx="11157911" cy="5259130"/>
          </a:xfrm>
          <a:prstGeom prst="rect">
            <a:avLst/>
          </a:prstGeom>
        </p:spPr>
      </p:pic>
    </p:spTree>
    <p:extLst>
      <p:ext uri="{BB962C8B-B14F-4D97-AF65-F5344CB8AC3E}">
        <p14:creationId xmlns:p14="http://schemas.microsoft.com/office/powerpoint/2010/main" val="3022297942"/>
      </p:ext>
    </p:extLst>
  </p:cSld>
  <p:clrMapOvr>
    <a:masterClrMapping/>
  </p:clrMapOvr>
  <p:transition spd="slow" advClick="0" advTm="60000">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5505" y="1576136"/>
            <a:ext cx="10447421" cy="3994485"/>
          </a:xfrm>
        </p:spPr>
        <p:txBody>
          <a:bodyPr>
            <a:noAutofit/>
          </a:bodyPr>
          <a:lstStyle/>
          <a:p>
            <a:pPr marL="0" indent="0">
              <a:buNone/>
            </a:pPr>
            <a:r>
              <a:rPr lang="en-ZA" sz="16700" cap="none" dirty="0">
                <a:latin typeface="Adobe Caslon Pro" panose="0205050205050A020403" pitchFamily="18" charset="0"/>
              </a:rPr>
              <a:t>Thank you.</a:t>
            </a:r>
          </a:p>
        </p:txBody>
      </p:sp>
    </p:spTree>
    <p:extLst>
      <p:ext uri="{BB962C8B-B14F-4D97-AF65-F5344CB8AC3E}">
        <p14:creationId xmlns:p14="http://schemas.microsoft.com/office/powerpoint/2010/main" val="1860656957"/>
      </p:ext>
    </p:extLst>
  </p:cSld>
  <p:clrMapOvr>
    <a:masterClrMapping/>
  </p:clrMapOvr>
  <p:transition spd="slow" advClick="0" advTm="60000">
    <p:push dir="u"/>
  </p:transition>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1291</TotalTime>
  <Words>1477</Words>
  <Application>Microsoft Office PowerPoint</Application>
  <PresentationFormat>Widescreen</PresentationFormat>
  <Paragraphs>81</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Adobe Arabic</vt:lpstr>
      <vt:lpstr>Adobe Caslon Pro</vt:lpstr>
      <vt:lpstr>Calibri</vt:lpstr>
      <vt:lpstr>Century Gothic</vt:lpstr>
      <vt:lpstr>Wingdings 3</vt:lpstr>
      <vt:lpstr>Slice</vt:lpstr>
      <vt:lpstr>Applications Development Theory 4   Tourism Boom Resolution: TourSpace</vt:lpstr>
      <vt:lpstr>   Feasibility REPORT</vt:lpstr>
      <vt:lpstr>    Stakeholder list</vt:lpstr>
      <vt:lpstr> Requirements specification</vt:lpstr>
      <vt:lpstr>Requirements specification         continues…</vt:lpstr>
      <vt:lpstr>Requirements specification         continues…</vt:lpstr>
      <vt:lpstr>Requirements specification       continues…</vt:lpstr>
      <vt:lpstr> Roadmap with Release Plan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Moipone Kabai</dc:creator>
  <cp:lastModifiedBy>Moipone Kabai</cp:lastModifiedBy>
  <cp:revision>63</cp:revision>
  <dcterms:created xsi:type="dcterms:W3CDTF">2019-04-17T21:04:05Z</dcterms:created>
  <dcterms:modified xsi:type="dcterms:W3CDTF">2020-02-26T19:34:00Z</dcterms:modified>
</cp:coreProperties>
</file>