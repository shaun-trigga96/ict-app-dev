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1"/>
  </p:handoutMasterIdLst>
  <p:sldIdLst>
    <p:sldId id="256" r:id="rId2"/>
    <p:sldId id="268" r:id="rId3"/>
    <p:sldId id="274" r:id="rId4"/>
    <p:sldId id="275" r:id="rId5"/>
    <p:sldId id="272" r:id="rId6"/>
    <p:sldId id="269" r:id="rId7"/>
    <p:sldId id="270" r:id="rId8"/>
    <p:sldId id="271" r:id="rId9"/>
    <p:sldId id="273" r:id="rId10"/>
    <p:sldId id="257" r:id="rId11"/>
    <p:sldId id="260" r:id="rId12"/>
    <p:sldId id="261" r:id="rId13"/>
    <p:sldId id="262" r:id="rId14"/>
    <p:sldId id="263" r:id="rId15"/>
    <p:sldId id="264" r:id="rId16"/>
    <p:sldId id="265" r:id="rId17"/>
    <p:sldId id="266" r:id="rId18"/>
    <p:sldId id="267" r:id="rId19"/>
    <p:sldId id="259" r:id="rId20"/>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1" autoAdjust="0"/>
    <p:restoredTop sz="94660"/>
  </p:normalViewPr>
  <p:slideViewPr>
    <p:cSldViewPr>
      <p:cViewPr varScale="1">
        <p:scale>
          <a:sx n="84" d="100"/>
          <a:sy n="84" d="100"/>
        </p:scale>
        <p:origin x="-1068"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757191D0-87B2-4B2E-8C81-D961E97161C0}" type="datetimeFigureOut">
              <a:rPr lang="en-US" smtClean="0"/>
              <a:pPr/>
              <a:t>8/15/2012</a:t>
            </a:fld>
            <a:endParaRPr lang="en-US"/>
          </a:p>
        </p:txBody>
      </p:sp>
      <p:sp>
        <p:nvSpPr>
          <p:cNvPr id="4" name="Footer Placeholder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a:defRPr sz="1200"/>
            </a:lvl1pPr>
          </a:lstStyle>
          <a:p>
            <a:fld id="{7B674DF6-7BEF-4D4A-BF44-B6E96C724FD9}"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48A7AABA-6DD9-49E6-8AB0-D32587D00F8E}" type="datetimeFigureOut">
              <a:rPr lang="en-US"/>
              <a:pPr>
                <a:defRPr/>
              </a:pPr>
              <a:t>8/15/2012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C604EBE-63F6-4192-AE81-A11E7162BB9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7E75A83-40D4-49F7-822C-94BF894B200A}" type="datetimeFigureOut">
              <a:rPr lang="en-US"/>
              <a:pPr>
                <a:defRPr/>
              </a:pPr>
              <a:t>8/15/2012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E3D5173-AD59-4D5C-B3CC-DBE34E3ABC9C}"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C2D32C97-2DAE-47FC-A8D3-717AA77BB1A5}" type="datetimeFigureOut">
              <a:rPr lang="en-US"/>
              <a:pPr>
                <a:defRPr/>
              </a:pPr>
              <a:t>8/15/2012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AF59C31-E9BA-4AE0-A064-26AFCCD1D9D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2AE7F6CF-0430-4164-AF40-46836268D194}" type="datetimeFigureOut">
              <a:rPr lang="en-US"/>
              <a:pPr>
                <a:defRPr/>
              </a:pPr>
              <a:t>8/15/2012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4463AAB-D522-4DC0-9D9F-4F4DB102A6F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605FB925-CD24-4C01-BE95-B83934D6136B}" type="datetimeFigureOut">
              <a:rPr lang="en-US"/>
              <a:pPr>
                <a:defRPr/>
              </a:pPr>
              <a:t>8/15/2012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D200EEE-E537-4114-9483-50506B96BCE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B2BC862A-8DAC-40D5-9D1D-4E0C0EB37D43}" type="datetimeFigureOut">
              <a:rPr lang="en-US"/>
              <a:pPr>
                <a:defRPr/>
              </a:pPr>
              <a:t>8/15/2012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93224DE-D403-4A9F-8D3A-8980DDE6BB7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C0BF27C-F637-46D0-BDD8-373336522312}" type="datetimeFigureOut">
              <a:rPr lang="en-US"/>
              <a:pPr>
                <a:defRPr/>
              </a:pPr>
              <a:t>8/15/2012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BFF7B3C-FB16-4C15-ACA9-8F5CCDD255E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34B8DFB7-9AD2-4632-B6A3-6D57FA5BDAA7}" type="datetimeFigureOut">
              <a:rPr lang="en-US"/>
              <a:pPr>
                <a:defRPr/>
              </a:pPr>
              <a:t>8/15/2012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4AF0A3B-4F6C-4D4B-95C7-F90BB590703A}"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2963913D-524B-403C-845D-7E2B3F1BE4A6}" type="datetimeFigureOut">
              <a:rPr lang="en-US"/>
              <a:pPr>
                <a:defRPr/>
              </a:pPr>
              <a:t>8/15/2012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0E79A12-6BD5-42D0-AFE4-5F2684029AC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34F30939-3437-4E37-837E-2DEC2EA77E27}" type="datetimeFigureOut">
              <a:rPr lang="en-US"/>
              <a:pPr>
                <a:defRPr/>
              </a:pPr>
              <a:t>8/15/2012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0EDDA0B-A995-44B3-9E42-43320EA1DA6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2CB5E49-E4AA-417D-8703-78079AFB729A}" type="datetimeFigureOut">
              <a:rPr lang="en-US"/>
              <a:pPr>
                <a:defRPr/>
              </a:pPr>
              <a:t>8/15/2012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72C44DE-7C48-4224-B701-6019D977A2F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DAD53966-0DF2-4104-948F-4ECF8589D8FC}" type="datetimeFigureOut">
              <a:rPr lang="en-US"/>
              <a:pPr>
                <a:defRPr/>
              </a:pPr>
              <a:t>8/15/2012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6D927C63-3597-48D4-9194-FBA0978B474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dirty="0" smtClean="0"/>
              <a:t>Strategic Project Planning and Execution</a:t>
            </a:r>
          </a:p>
        </p:txBody>
      </p:sp>
      <p:sp>
        <p:nvSpPr>
          <p:cNvPr id="3" name="Subtitle 2"/>
          <p:cNvSpPr>
            <a:spLocks noGrp="1"/>
          </p:cNvSpPr>
          <p:nvPr>
            <p:ph type="subTitle" idx="1"/>
          </p:nvPr>
        </p:nvSpPr>
        <p:spPr/>
        <p:txBody>
          <a:bodyPr rtlCol="0">
            <a:normAutofit/>
          </a:bodyPr>
          <a:lstStyle/>
          <a:p>
            <a:pPr eaLnBrk="1" fontAlgn="auto" hangingPunct="1">
              <a:spcAft>
                <a:spcPts val="0"/>
              </a:spcAft>
              <a:buFont typeface="Arial" pitchFamily="34" charset="0"/>
              <a:buNone/>
              <a:defRPr/>
            </a:pP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Levels of Management</a:t>
            </a:r>
            <a:endParaRPr lang="en-US" dirty="0"/>
          </a:p>
        </p:txBody>
      </p:sp>
      <p:sp>
        <p:nvSpPr>
          <p:cNvPr id="3" name="Content Placeholder 2"/>
          <p:cNvSpPr>
            <a:spLocks noGrp="1"/>
          </p:cNvSpPr>
          <p:nvPr>
            <p:ph idx="1"/>
          </p:nvPr>
        </p:nvSpPr>
        <p:spPr/>
        <p:txBody>
          <a:bodyPr/>
          <a:lstStyle/>
          <a:p>
            <a:r>
              <a:rPr lang="en-US" dirty="0" smtClean="0"/>
              <a:t>Strategic</a:t>
            </a:r>
          </a:p>
          <a:p>
            <a:pPr lvl="1"/>
            <a:r>
              <a:rPr lang="en-US" dirty="0" smtClean="0"/>
              <a:t>Highest level of management</a:t>
            </a:r>
          </a:p>
          <a:p>
            <a:r>
              <a:rPr lang="en-US" dirty="0" smtClean="0"/>
              <a:t>Tactical</a:t>
            </a:r>
          </a:p>
          <a:p>
            <a:pPr lvl="1"/>
            <a:r>
              <a:rPr lang="en-US" dirty="0" smtClean="0"/>
              <a:t>Middle level</a:t>
            </a:r>
          </a:p>
          <a:p>
            <a:r>
              <a:rPr lang="en-US" dirty="0" smtClean="0"/>
              <a:t>Operational</a:t>
            </a:r>
          </a:p>
          <a:p>
            <a:pPr lvl="1"/>
            <a:r>
              <a:rPr lang="en-US" dirty="0" smtClean="0"/>
              <a:t>Day-to-day control</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Mintzberg’s</a:t>
            </a:r>
            <a:r>
              <a:rPr lang="en-US" dirty="0" smtClean="0"/>
              <a:t> view of Organizations</a:t>
            </a:r>
            <a:endParaRPr lang="en-US" dirty="0"/>
          </a:p>
        </p:txBody>
      </p:sp>
      <p:pic>
        <p:nvPicPr>
          <p:cNvPr id="1027" name="Picture 3"/>
          <p:cNvPicPr>
            <a:picLocks noGrp="1" noChangeAspect="1" noChangeArrowheads="1"/>
          </p:cNvPicPr>
          <p:nvPr>
            <p:ph idx="1"/>
          </p:nvPr>
        </p:nvPicPr>
        <p:blipFill>
          <a:blip r:embed="rId2" cstate="print"/>
          <a:srcRect/>
          <a:stretch>
            <a:fillRect/>
          </a:stretch>
        </p:blipFill>
        <p:spPr bwMode="auto">
          <a:xfrm>
            <a:off x="1835696" y="1196752"/>
            <a:ext cx="5400600" cy="554222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parts of an organization</a:t>
            </a:r>
            <a:endParaRPr lang="en-US" dirty="0"/>
          </a:p>
        </p:txBody>
      </p:sp>
      <p:sp>
        <p:nvSpPr>
          <p:cNvPr id="3" name="Content Placeholder 2"/>
          <p:cNvSpPr>
            <a:spLocks noGrp="1"/>
          </p:cNvSpPr>
          <p:nvPr>
            <p:ph idx="1"/>
          </p:nvPr>
        </p:nvSpPr>
        <p:spPr/>
        <p:txBody>
          <a:bodyPr/>
          <a:lstStyle/>
          <a:p>
            <a:r>
              <a:rPr lang="en-US" sz="2000" b="1" dirty="0" smtClean="0"/>
              <a:t>The strategic apex</a:t>
            </a:r>
          </a:p>
          <a:p>
            <a:pPr lvl="1"/>
            <a:r>
              <a:rPr lang="en-US" sz="2000" dirty="0" smtClean="0"/>
              <a:t>Top management and its support staff</a:t>
            </a:r>
          </a:p>
          <a:p>
            <a:r>
              <a:rPr lang="en-US" sz="2000" b="1" dirty="0" smtClean="0"/>
              <a:t>The </a:t>
            </a:r>
            <a:r>
              <a:rPr lang="en-US" sz="2000" b="1" dirty="0" smtClean="0"/>
              <a:t>o</a:t>
            </a:r>
            <a:r>
              <a:rPr lang="en-US" sz="2000" b="1" dirty="0" smtClean="0"/>
              <a:t>perating core</a:t>
            </a:r>
          </a:p>
          <a:p>
            <a:pPr lvl="1"/>
            <a:r>
              <a:rPr lang="en-US" sz="2000" dirty="0" smtClean="0"/>
              <a:t>The workers who actually carry out the organization’s tasks</a:t>
            </a:r>
          </a:p>
          <a:p>
            <a:r>
              <a:rPr lang="en-US" sz="2000" b="1" dirty="0" smtClean="0"/>
              <a:t>The middle line</a:t>
            </a:r>
          </a:p>
          <a:p>
            <a:pPr lvl="1"/>
            <a:r>
              <a:rPr lang="en-US" sz="2000" dirty="0" smtClean="0"/>
              <a:t>Middle and lower level management</a:t>
            </a:r>
          </a:p>
          <a:p>
            <a:r>
              <a:rPr lang="en-US" sz="2000" b="1" dirty="0" smtClean="0"/>
              <a:t>The </a:t>
            </a:r>
            <a:r>
              <a:rPr lang="en-US" sz="2000" b="1" dirty="0" err="1" smtClean="0"/>
              <a:t>technostructure</a:t>
            </a:r>
            <a:endParaRPr lang="en-US" sz="2000" b="1" dirty="0" smtClean="0"/>
          </a:p>
          <a:p>
            <a:pPr lvl="1"/>
            <a:r>
              <a:rPr lang="en-US" sz="2000" dirty="0" smtClean="0"/>
              <a:t>Analysts such as engineers, accountants, planners, researchers and personnel managers</a:t>
            </a:r>
          </a:p>
          <a:p>
            <a:r>
              <a:rPr lang="en-US" sz="2000" b="1" dirty="0" smtClean="0"/>
              <a:t>The support staff</a:t>
            </a:r>
          </a:p>
          <a:p>
            <a:pPr lvl="1"/>
            <a:r>
              <a:rPr lang="en-US" sz="2000" dirty="0" smtClean="0"/>
              <a:t>The people who provide indirect services. These include maintenance, clerical, food service, transport, legal services and consulting to provide support</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sosceles Triangle 3"/>
          <p:cNvSpPr/>
          <p:nvPr/>
        </p:nvSpPr>
        <p:spPr>
          <a:xfrm>
            <a:off x="179512" y="260648"/>
            <a:ext cx="8712968" cy="6048672"/>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2876550" y="2559050"/>
            <a:ext cx="3321050" cy="6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403648" y="4581128"/>
            <a:ext cx="626469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923928" y="1772816"/>
            <a:ext cx="1531188" cy="646331"/>
          </a:xfrm>
          <a:prstGeom prst="rect">
            <a:avLst/>
          </a:prstGeom>
          <a:noFill/>
        </p:spPr>
        <p:txBody>
          <a:bodyPr wrap="none" rtlCol="0">
            <a:spAutoFit/>
          </a:bodyPr>
          <a:lstStyle/>
          <a:p>
            <a:r>
              <a:rPr lang="en-US" dirty="0" smtClean="0"/>
              <a:t>Strategic</a:t>
            </a:r>
          </a:p>
          <a:p>
            <a:r>
              <a:rPr lang="en-US" dirty="0" smtClean="0"/>
              <a:t>Management</a:t>
            </a:r>
            <a:endParaRPr lang="en-US" dirty="0"/>
          </a:p>
        </p:txBody>
      </p:sp>
      <p:sp>
        <p:nvSpPr>
          <p:cNvPr id="15" name="TextBox 14"/>
          <p:cNvSpPr txBox="1"/>
          <p:nvPr/>
        </p:nvSpPr>
        <p:spPr>
          <a:xfrm>
            <a:off x="3851920" y="3284984"/>
            <a:ext cx="1531188" cy="646331"/>
          </a:xfrm>
          <a:prstGeom prst="rect">
            <a:avLst/>
          </a:prstGeom>
          <a:noFill/>
        </p:spPr>
        <p:txBody>
          <a:bodyPr wrap="none" rtlCol="0">
            <a:spAutoFit/>
          </a:bodyPr>
          <a:lstStyle/>
          <a:p>
            <a:r>
              <a:rPr lang="en-US" dirty="0" smtClean="0"/>
              <a:t>Tactical</a:t>
            </a:r>
          </a:p>
          <a:p>
            <a:r>
              <a:rPr lang="en-US" dirty="0" smtClean="0"/>
              <a:t>Management</a:t>
            </a:r>
            <a:endParaRPr lang="en-US" dirty="0"/>
          </a:p>
        </p:txBody>
      </p:sp>
      <p:sp>
        <p:nvSpPr>
          <p:cNvPr id="16" name="TextBox 15"/>
          <p:cNvSpPr txBox="1"/>
          <p:nvPr/>
        </p:nvSpPr>
        <p:spPr>
          <a:xfrm>
            <a:off x="3851920" y="5157192"/>
            <a:ext cx="1531188" cy="646331"/>
          </a:xfrm>
          <a:prstGeom prst="rect">
            <a:avLst/>
          </a:prstGeom>
          <a:noFill/>
        </p:spPr>
        <p:txBody>
          <a:bodyPr wrap="none" rtlCol="0">
            <a:spAutoFit/>
          </a:bodyPr>
          <a:lstStyle/>
          <a:p>
            <a:r>
              <a:rPr lang="en-US" dirty="0" smtClean="0"/>
              <a:t>Operational</a:t>
            </a:r>
          </a:p>
          <a:p>
            <a:r>
              <a:rPr lang="en-US" dirty="0" smtClean="0"/>
              <a:t>Management</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Strategic</a:t>
            </a:r>
            <a:endParaRPr lang="en-US" dirty="0"/>
          </a:p>
        </p:txBody>
      </p:sp>
      <p:sp>
        <p:nvSpPr>
          <p:cNvPr id="3" name="Content Placeholder 2"/>
          <p:cNvSpPr>
            <a:spLocks noGrp="1"/>
          </p:cNvSpPr>
          <p:nvPr>
            <p:ph idx="1"/>
          </p:nvPr>
        </p:nvSpPr>
        <p:spPr/>
        <p:txBody>
          <a:bodyPr/>
          <a:lstStyle/>
          <a:p>
            <a:pPr marL="0" indent="0">
              <a:buNone/>
            </a:pPr>
            <a:r>
              <a:rPr lang="en-US" sz="1800" dirty="0" smtClean="0"/>
              <a:t>Strategic decisions deal with the big picture of your business. The focus of strategic decisions is typically external to the business and usually future oriented. Strategic decision-making creates the forward thrust in the business.</a:t>
            </a:r>
          </a:p>
          <a:p>
            <a:r>
              <a:rPr lang="en-US" sz="1800" dirty="0" smtClean="0"/>
              <a:t>What business are you in?</a:t>
            </a:r>
          </a:p>
          <a:p>
            <a:r>
              <a:rPr lang="en-US" sz="1800" dirty="0" smtClean="0"/>
              <a:t>What is your vision for the business?</a:t>
            </a:r>
          </a:p>
          <a:p>
            <a:r>
              <a:rPr lang="en-US" sz="1800" dirty="0" smtClean="0"/>
              <a:t>What's your business' identity?</a:t>
            </a:r>
          </a:p>
          <a:p>
            <a:r>
              <a:rPr lang="en-US" sz="1800" dirty="0" smtClean="0"/>
              <a:t>What do you stand for?</a:t>
            </a:r>
          </a:p>
          <a:p>
            <a:r>
              <a:rPr lang="en-US" sz="1800" dirty="0" smtClean="0"/>
              <a:t>Which direction is the business headed?</a:t>
            </a:r>
          </a:p>
          <a:p>
            <a:r>
              <a:rPr lang="en-US" sz="1800" dirty="0" smtClean="0"/>
              <a:t>How will the business compete?</a:t>
            </a:r>
          </a:p>
          <a:p>
            <a:r>
              <a:rPr lang="en-US" sz="1800" dirty="0" smtClean="0"/>
              <a:t>Corporations often capture their overall business strategy in a "Statement of Intent” </a:t>
            </a:r>
          </a:p>
          <a:p>
            <a:r>
              <a:rPr lang="en-US" sz="1800" dirty="0" smtClean="0"/>
              <a:t>Its about policy over the long term</a:t>
            </a:r>
          </a:p>
          <a:p>
            <a:r>
              <a:rPr lang="en-US" sz="1800" dirty="0" smtClean="0"/>
              <a:t>Decision making is focused on unstructured problems, based mainly on data from outside of the organization.</a:t>
            </a:r>
            <a:endParaRPr lang="en-US" sz="1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Tactical</a:t>
            </a:r>
            <a:endParaRPr lang="en-US" dirty="0"/>
          </a:p>
        </p:txBody>
      </p:sp>
      <p:sp>
        <p:nvSpPr>
          <p:cNvPr id="3" name="Content Placeholder 2"/>
          <p:cNvSpPr>
            <a:spLocks noGrp="1"/>
          </p:cNvSpPr>
          <p:nvPr>
            <p:ph idx="1"/>
          </p:nvPr>
        </p:nvSpPr>
        <p:spPr/>
        <p:txBody>
          <a:bodyPr/>
          <a:lstStyle/>
          <a:p>
            <a:r>
              <a:rPr lang="en-US" sz="2400" dirty="0" smtClean="0"/>
              <a:t>Tactical management involves making decisions about how an organization should go about achieving the overall objectives determined by strategic management.</a:t>
            </a:r>
          </a:p>
          <a:p>
            <a:r>
              <a:rPr lang="en-US" sz="2400" dirty="0" smtClean="0"/>
              <a:t>Short- and medium-range plans, schedules, and budgets and specify the policies, procedures, and business objectives for their subunits of the company.</a:t>
            </a:r>
          </a:p>
          <a:p>
            <a:r>
              <a:rPr lang="en-US" sz="2400" dirty="0" smtClean="0"/>
              <a:t>Decisions may be of an unstructured type, semi-structured or programmed type. But predominantly of a semi-structured type based on data from within and outside of the organization.</a:t>
            </a:r>
            <a:endParaRPr 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Operational</a:t>
            </a:r>
            <a:endParaRPr lang="en-US" dirty="0"/>
          </a:p>
        </p:txBody>
      </p:sp>
      <p:sp>
        <p:nvSpPr>
          <p:cNvPr id="3" name="Content Placeholder 2"/>
          <p:cNvSpPr>
            <a:spLocks noGrp="1"/>
          </p:cNvSpPr>
          <p:nvPr>
            <p:ph idx="1"/>
          </p:nvPr>
        </p:nvSpPr>
        <p:spPr/>
        <p:txBody>
          <a:bodyPr/>
          <a:lstStyle/>
          <a:p>
            <a:r>
              <a:rPr lang="en-US" dirty="0" smtClean="0"/>
              <a:t>This management translates the goal of tactical management into daily operations</a:t>
            </a:r>
          </a:p>
          <a:p>
            <a:r>
              <a:rPr lang="en-US" dirty="0" smtClean="0"/>
              <a:t>Decisions are predominantly of a programmed type based on data from within the organization.</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5576" y="476672"/>
            <a:ext cx="7632848" cy="51845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a:off x="755576" y="1196752"/>
            <a:ext cx="7632848" cy="432048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347864" y="1700808"/>
            <a:ext cx="3005951" cy="369332"/>
          </a:xfrm>
          <a:prstGeom prst="rect">
            <a:avLst/>
          </a:prstGeom>
          <a:noFill/>
        </p:spPr>
        <p:txBody>
          <a:bodyPr wrap="none" rtlCol="0">
            <a:spAutoFit/>
          </a:bodyPr>
          <a:lstStyle/>
          <a:p>
            <a:r>
              <a:rPr lang="en-US" dirty="0" smtClean="0"/>
              <a:t>Non programmed decisions</a:t>
            </a:r>
            <a:endParaRPr lang="en-US" dirty="0"/>
          </a:p>
        </p:txBody>
      </p:sp>
      <p:sp>
        <p:nvSpPr>
          <p:cNvPr id="8" name="TextBox 7"/>
          <p:cNvSpPr txBox="1"/>
          <p:nvPr/>
        </p:nvSpPr>
        <p:spPr>
          <a:xfrm>
            <a:off x="1835696" y="4293096"/>
            <a:ext cx="2544286" cy="369332"/>
          </a:xfrm>
          <a:prstGeom prst="rect">
            <a:avLst/>
          </a:prstGeom>
          <a:noFill/>
        </p:spPr>
        <p:txBody>
          <a:bodyPr wrap="none" rtlCol="0">
            <a:spAutoFit/>
          </a:bodyPr>
          <a:lstStyle/>
          <a:p>
            <a:r>
              <a:rPr lang="en-US" dirty="0" smtClean="0"/>
              <a:t>Programmed decisions</a:t>
            </a:r>
            <a:endParaRPr lang="en-US" dirty="0"/>
          </a:p>
        </p:txBody>
      </p:sp>
      <p:sp>
        <p:nvSpPr>
          <p:cNvPr id="9" name="TextBox 8"/>
          <p:cNvSpPr txBox="1"/>
          <p:nvPr/>
        </p:nvSpPr>
        <p:spPr>
          <a:xfrm>
            <a:off x="611560" y="5661248"/>
            <a:ext cx="1377300" cy="369332"/>
          </a:xfrm>
          <a:prstGeom prst="rect">
            <a:avLst/>
          </a:prstGeom>
          <a:noFill/>
        </p:spPr>
        <p:txBody>
          <a:bodyPr wrap="none" rtlCol="0">
            <a:spAutoFit/>
          </a:bodyPr>
          <a:lstStyle/>
          <a:p>
            <a:r>
              <a:rPr lang="en-US" dirty="0" smtClean="0"/>
              <a:t>Operational</a:t>
            </a:r>
            <a:endParaRPr lang="en-US" dirty="0"/>
          </a:p>
        </p:txBody>
      </p:sp>
      <p:sp>
        <p:nvSpPr>
          <p:cNvPr id="10" name="TextBox 9"/>
          <p:cNvSpPr txBox="1"/>
          <p:nvPr/>
        </p:nvSpPr>
        <p:spPr>
          <a:xfrm>
            <a:off x="4283968" y="5661248"/>
            <a:ext cx="954172" cy="369332"/>
          </a:xfrm>
          <a:prstGeom prst="rect">
            <a:avLst/>
          </a:prstGeom>
          <a:noFill/>
        </p:spPr>
        <p:txBody>
          <a:bodyPr wrap="none" rtlCol="0">
            <a:spAutoFit/>
          </a:bodyPr>
          <a:lstStyle/>
          <a:p>
            <a:r>
              <a:rPr lang="en-US" dirty="0" smtClean="0"/>
              <a:t>Tactical</a:t>
            </a:r>
            <a:endParaRPr lang="en-US" dirty="0"/>
          </a:p>
        </p:txBody>
      </p:sp>
      <p:sp>
        <p:nvSpPr>
          <p:cNvPr id="11" name="TextBox 10"/>
          <p:cNvSpPr txBox="1"/>
          <p:nvPr/>
        </p:nvSpPr>
        <p:spPr>
          <a:xfrm>
            <a:off x="7596336" y="5661248"/>
            <a:ext cx="1095172" cy="369332"/>
          </a:xfrm>
          <a:prstGeom prst="rect">
            <a:avLst/>
          </a:prstGeom>
          <a:noFill/>
        </p:spPr>
        <p:txBody>
          <a:bodyPr wrap="none" rtlCol="0">
            <a:spAutoFit/>
          </a:bodyPr>
          <a:lstStyle/>
          <a:p>
            <a:r>
              <a:rPr lang="en-US" dirty="0" smtClean="0"/>
              <a:t>Strategic</a:t>
            </a:r>
            <a:endParaRPr lang="en-US" dirty="0"/>
          </a:p>
        </p:txBody>
      </p:sp>
      <p:sp>
        <p:nvSpPr>
          <p:cNvPr id="14" name="TextBox 13"/>
          <p:cNvSpPr txBox="1"/>
          <p:nvPr/>
        </p:nvSpPr>
        <p:spPr>
          <a:xfrm>
            <a:off x="3347864" y="6237312"/>
            <a:ext cx="2249334" cy="369332"/>
          </a:xfrm>
          <a:prstGeom prst="rect">
            <a:avLst/>
          </a:prstGeom>
          <a:noFill/>
        </p:spPr>
        <p:txBody>
          <a:bodyPr wrap="none" rtlCol="0">
            <a:spAutoFit/>
          </a:bodyPr>
          <a:lstStyle/>
          <a:p>
            <a:r>
              <a:rPr lang="en-US" b="1" dirty="0" smtClean="0"/>
              <a:t>Management Level</a:t>
            </a:r>
            <a:endParaRPr lang="en-US" b="1" dirty="0"/>
          </a:p>
        </p:txBody>
      </p:sp>
      <p:sp>
        <p:nvSpPr>
          <p:cNvPr id="15" name="TextBox 14"/>
          <p:cNvSpPr txBox="1"/>
          <p:nvPr/>
        </p:nvSpPr>
        <p:spPr>
          <a:xfrm rot="16200000">
            <a:off x="-535922" y="2632266"/>
            <a:ext cx="1800200" cy="369332"/>
          </a:xfrm>
          <a:prstGeom prst="rect">
            <a:avLst/>
          </a:prstGeom>
          <a:noFill/>
        </p:spPr>
        <p:txBody>
          <a:bodyPr wrap="square" rtlCol="0">
            <a:spAutoFit/>
          </a:bodyPr>
          <a:lstStyle/>
          <a:p>
            <a:r>
              <a:rPr lang="en-US" b="1" dirty="0" smtClean="0"/>
              <a:t>Decision Type</a:t>
            </a:r>
            <a:endParaRPr lang="en-US" b="1"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smtClean="0"/>
              <a:t>Strategic Project Management Model</a:t>
            </a:r>
            <a:endParaRPr lang="en-US" dirty="0"/>
          </a:p>
        </p:txBody>
      </p:sp>
      <p:sp>
        <p:nvSpPr>
          <p:cNvPr id="3075" name="TextBox 3"/>
          <p:cNvSpPr txBox="1">
            <a:spLocks noChangeArrowheads="1"/>
          </p:cNvSpPr>
          <p:nvPr/>
        </p:nvSpPr>
        <p:spPr bwMode="auto">
          <a:xfrm>
            <a:off x="3571875" y="1428750"/>
            <a:ext cx="1643063" cy="1200150"/>
          </a:xfrm>
          <a:prstGeom prst="rect">
            <a:avLst/>
          </a:prstGeom>
          <a:noFill/>
          <a:ln w="3175">
            <a:solidFill>
              <a:schemeClr val="tx1"/>
            </a:solidFill>
            <a:miter lim="800000"/>
            <a:headEnd/>
            <a:tailEnd/>
          </a:ln>
        </p:spPr>
        <p:txBody>
          <a:bodyPr>
            <a:spAutoFit/>
          </a:bodyPr>
          <a:lstStyle/>
          <a:p>
            <a:pPr algn="ctr"/>
            <a:r>
              <a:rPr lang="en-US">
                <a:latin typeface="Calibri" pitchFamily="34" charset="0"/>
              </a:rPr>
              <a:t>Defining the expectations and deliverables</a:t>
            </a:r>
          </a:p>
        </p:txBody>
      </p:sp>
      <p:sp>
        <p:nvSpPr>
          <p:cNvPr id="3076" name="TextBox 4"/>
          <p:cNvSpPr txBox="1">
            <a:spLocks noChangeArrowheads="1"/>
          </p:cNvSpPr>
          <p:nvPr/>
        </p:nvSpPr>
        <p:spPr bwMode="auto">
          <a:xfrm>
            <a:off x="6357938" y="2357438"/>
            <a:ext cx="1643062" cy="646112"/>
          </a:xfrm>
          <a:prstGeom prst="rect">
            <a:avLst/>
          </a:prstGeom>
          <a:noFill/>
          <a:ln w="3175">
            <a:solidFill>
              <a:schemeClr val="tx1"/>
            </a:solidFill>
            <a:miter lim="800000"/>
            <a:headEnd/>
            <a:tailEnd/>
          </a:ln>
        </p:spPr>
        <p:txBody>
          <a:bodyPr>
            <a:spAutoFit/>
          </a:bodyPr>
          <a:lstStyle/>
          <a:p>
            <a:pPr algn="ctr"/>
            <a:r>
              <a:rPr lang="en-US">
                <a:latin typeface="Calibri" pitchFamily="34" charset="0"/>
              </a:rPr>
              <a:t>Establishing the guidelines</a:t>
            </a:r>
          </a:p>
        </p:txBody>
      </p:sp>
      <p:sp>
        <p:nvSpPr>
          <p:cNvPr id="3077" name="TextBox 5"/>
          <p:cNvSpPr txBox="1">
            <a:spLocks noChangeArrowheads="1"/>
          </p:cNvSpPr>
          <p:nvPr/>
        </p:nvSpPr>
        <p:spPr bwMode="auto">
          <a:xfrm>
            <a:off x="6357938" y="3643313"/>
            <a:ext cx="1643062" cy="923925"/>
          </a:xfrm>
          <a:prstGeom prst="rect">
            <a:avLst/>
          </a:prstGeom>
          <a:noFill/>
          <a:ln w="3175">
            <a:solidFill>
              <a:schemeClr val="tx1"/>
            </a:solidFill>
            <a:miter lim="800000"/>
            <a:headEnd/>
            <a:tailEnd/>
          </a:ln>
        </p:spPr>
        <p:txBody>
          <a:bodyPr>
            <a:spAutoFit/>
          </a:bodyPr>
          <a:lstStyle/>
          <a:p>
            <a:pPr algn="ctr"/>
            <a:r>
              <a:rPr lang="en-US">
                <a:latin typeface="Calibri" pitchFamily="34" charset="0"/>
              </a:rPr>
              <a:t>Defining the project scope and metrics</a:t>
            </a:r>
          </a:p>
        </p:txBody>
      </p:sp>
      <p:sp>
        <p:nvSpPr>
          <p:cNvPr id="3078" name="TextBox 6"/>
          <p:cNvSpPr txBox="1">
            <a:spLocks noChangeArrowheads="1"/>
          </p:cNvSpPr>
          <p:nvPr/>
        </p:nvSpPr>
        <p:spPr bwMode="auto">
          <a:xfrm>
            <a:off x="6357938" y="4857750"/>
            <a:ext cx="1643062" cy="646113"/>
          </a:xfrm>
          <a:prstGeom prst="rect">
            <a:avLst/>
          </a:prstGeom>
          <a:noFill/>
          <a:ln w="3175">
            <a:solidFill>
              <a:schemeClr val="tx1"/>
            </a:solidFill>
            <a:miter lim="800000"/>
            <a:headEnd/>
            <a:tailEnd/>
          </a:ln>
        </p:spPr>
        <p:txBody>
          <a:bodyPr>
            <a:spAutoFit/>
          </a:bodyPr>
          <a:lstStyle/>
          <a:p>
            <a:pPr algn="ctr"/>
            <a:r>
              <a:rPr lang="en-US">
                <a:latin typeface="Calibri" pitchFamily="34" charset="0"/>
              </a:rPr>
              <a:t>Organizing the project team</a:t>
            </a:r>
          </a:p>
        </p:txBody>
      </p:sp>
      <p:sp>
        <p:nvSpPr>
          <p:cNvPr id="3079" name="TextBox 7"/>
          <p:cNvSpPr txBox="1">
            <a:spLocks noChangeArrowheads="1"/>
          </p:cNvSpPr>
          <p:nvPr/>
        </p:nvSpPr>
        <p:spPr bwMode="auto">
          <a:xfrm>
            <a:off x="3571875" y="5572125"/>
            <a:ext cx="1643063" cy="923925"/>
          </a:xfrm>
          <a:prstGeom prst="rect">
            <a:avLst/>
          </a:prstGeom>
          <a:noFill/>
          <a:ln w="3175">
            <a:solidFill>
              <a:schemeClr val="tx1"/>
            </a:solidFill>
            <a:miter lim="800000"/>
            <a:headEnd/>
            <a:tailEnd/>
          </a:ln>
        </p:spPr>
        <p:txBody>
          <a:bodyPr>
            <a:spAutoFit/>
          </a:bodyPr>
          <a:lstStyle/>
          <a:p>
            <a:pPr algn="ctr"/>
            <a:r>
              <a:rPr lang="en-US">
                <a:latin typeface="Calibri" pitchFamily="34" charset="0"/>
              </a:rPr>
              <a:t>Situational review and assessment</a:t>
            </a:r>
          </a:p>
        </p:txBody>
      </p:sp>
      <p:sp>
        <p:nvSpPr>
          <p:cNvPr id="3080" name="TextBox 8"/>
          <p:cNvSpPr txBox="1">
            <a:spLocks noChangeArrowheads="1"/>
          </p:cNvSpPr>
          <p:nvPr/>
        </p:nvSpPr>
        <p:spPr bwMode="auto">
          <a:xfrm>
            <a:off x="928688" y="4929188"/>
            <a:ext cx="1643062" cy="923925"/>
          </a:xfrm>
          <a:prstGeom prst="rect">
            <a:avLst/>
          </a:prstGeom>
          <a:noFill/>
          <a:ln w="3175">
            <a:solidFill>
              <a:schemeClr val="tx1"/>
            </a:solidFill>
            <a:miter lim="800000"/>
            <a:headEnd/>
            <a:tailEnd/>
          </a:ln>
        </p:spPr>
        <p:txBody>
          <a:bodyPr>
            <a:spAutoFit/>
          </a:bodyPr>
          <a:lstStyle/>
          <a:p>
            <a:pPr algn="ctr"/>
            <a:r>
              <a:rPr lang="en-US">
                <a:latin typeface="Calibri" pitchFamily="34" charset="0"/>
              </a:rPr>
              <a:t>Problem and opportunity analysis</a:t>
            </a:r>
          </a:p>
        </p:txBody>
      </p:sp>
      <p:sp>
        <p:nvSpPr>
          <p:cNvPr id="3081" name="TextBox 9"/>
          <p:cNvSpPr txBox="1">
            <a:spLocks noChangeArrowheads="1"/>
          </p:cNvSpPr>
          <p:nvPr/>
        </p:nvSpPr>
        <p:spPr bwMode="auto">
          <a:xfrm>
            <a:off x="928688" y="3643313"/>
            <a:ext cx="1643062" cy="923925"/>
          </a:xfrm>
          <a:prstGeom prst="rect">
            <a:avLst/>
          </a:prstGeom>
          <a:noFill/>
          <a:ln w="3175">
            <a:solidFill>
              <a:schemeClr val="tx1"/>
            </a:solidFill>
            <a:miter lim="800000"/>
            <a:headEnd/>
            <a:tailEnd/>
          </a:ln>
        </p:spPr>
        <p:txBody>
          <a:bodyPr>
            <a:spAutoFit/>
          </a:bodyPr>
          <a:lstStyle/>
          <a:p>
            <a:pPr algn="ctr"/>
            <a:r>
              <a:rPr lang="en-US">
                <a:latin typeface="Calibri" pitchFamily="34" charset="0"/>
              </a:rPr>
              <a:t>Decision and alternative analysis</a:t>
            </a:r>
          </a:p>
        </p:txBody>
      </p:sp>
      <p:sp>
        <p:nvSpPr>
          <p:cNvPr id="3082" name="TextBox 10"/>
          <p:cNvSpPr txBox="1">
            <a:spLocks noChangeArrowheads="1"/>
          </p:cNvSpPr>
          <p:nvPr/>
        </p:nvSpPr>
        <p:spPr bwMode="auto">
          <a:xfrm>
            <a:off x="928688" y="2357438"/>
            <a:ext cx="1643062" cy="646112"/>
          </a:xfrm>
          <a:prstGeom prst="rect">
            <a:avLst/>
          </a:prstGeom>
          <a:noFill/>
          <a:ln w="3175">
            <a:solidFill>
              <a:schemeClr val="tx1"/>
            </a:solidFill>
            <a:miter lim="800000"/>
            <a:headEnd/>
            <a:tailEnd/>
          </a:ln>
        </p:spPr>
        <p:txBody>
          <a:bodyPr>
            <a:spAutoFit/>
          </a:bodyPr>
          <a:lstStyle/>
          <a:p>
            <a:pPr algn="ctr"/>
            <a:r>
              <a:rPr lang="en-US">
                <a:latin typeface="Calibri" pitchFamily="34" charset="0"/>
              </a:rPr>
              <a:t>Tactical project execution</a:t>
            </a:r>
          </a:p>
        </p:txBody>
      </p:sp>
      <p:sp>
        <p:nvSpPr>
          <p:cNvPr id="3083" name="TextBox 11"/>
          <p:cNvSpPr txBox="1">
            <a:spLocks noChangeArrowheads="1"/>
          </p:cNvSpPr>
          <p:nvPr/>
        </p:nvSpPr>
        <p:spPr bwMode="auto">
          <a:xfrm>
            <a:off x="3571875" y="3643313"/>
            <a:ext cx="1643063" cy="923925"/>
          </a:xfrm>
          <a:prstGeom prst="rect">
            <a:avLst/>
          </a:prstGeom>
          <a:noFill/>
          <a:ln w="3175">
            <a:solidFill>
              <a:schemeClr val="tx1"/>
            </a:solidFill>
            <a:miter lim="800000"/>
            <a:headEnd/>
            <a:tailEnd/>
          </a:ln>
        </p:spPr>
        <p:txBody>
          <a:bodyPr>
            <a:spAutoFit/>
          </a:bodyPr>
          <a:lstStyle/>
          <a:p>
            <a:pPr algn="ctr"/>
            <a:r>
              <a:rPr lang="en-US">
                <a:latin typeface="Calibri" pitchFamily="34" charset="0"/>
              </a:rPr>
              <a:t>Strategic Project Planning</a:t>
            </a:r>
          </a:p>
        </p:txBody>
      </p:sp>
      <p:cxnSp>
        <p:nvCxnSpPr>
          <p:cNvPr id="14" name="Elbow Connector 13"/>
          <p:cNvCxnSpPr>
            <a:stCxn id="3075" idx="3"/>
            <a:endCxn id="3076" idx="0"/>
          </p:cNvCxnSpPr>
          <p:nvPr/>
        </p:nvCxnSpPr>
        <p:spPr>
          <a:xfrm>
            <a:off x="5214938" y="2028825"/>
            <a:ext cx="1965325" cy="328613"/>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9" name="Shape 18"/>
          <p:cNvCxnSpPr>
            <a:stCxn id="3082" idx="0"/>
            <a:endCxn id="3075" idx="1"/>
          </p:cNvCxnSpPr>
          <p:nvPr/>
        </p:nvCxnSpPr>
        <p:spPr>
          <a:xfrm rot="5400000" flipH="1" flipV="1">
            <a:off x="2496343" y="1281907"/>
            <a:ext cx="328613" cy="182245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2" name="Elbow Connector 21"/>
          <p:cNvCxnSpPr>
            <a:stCxn id="3082" idx="2"/>
            <a:endCxn id="3081" idx="0"/>
          </p:cNvCxnSpPr>
          <p:nvPr/>
        </p:nvCxnSpPr>
        <p:spPr>
          <a:xfrm rot="5400000">
            <a:off x="1430338" y="3324225"/>
            <a:ext cx="639762" cy="15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3081" idx="2"/>
            <a:endCxn id="3080" idx="0"/>
          </p:cNvCxnSpPr>
          <p:nvPr/>
        </p:nvCxnSpPr>
        <p:spPr>
          <a:xfrm rot="5400000">
            <a:off x="1568450" y="4748213"/>
            <a:ext cx="363537" cy="15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8" name="Elbow Connector 27"/>
          <p:cNvCxnSpPr>
            <a:stCxn id="3080" idx="2"/>
            <a:endCxn id="3079" idx="1"/>
          </p:cNvCxnSpPr>
          <p:nvPr/>
        </p:nvCxnSpPr>
        <p:spPr>
          <a:xfrm rot="16200000" flipH="1">
            <a:off x="2570162" y="5032376"/>
            <a:ext cx="180975" cy="182245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1" name="Elbow Connector 30"/>
          <p:cNvCxnSpPr>
            <a:stCxn id="3079" idx="3"/>
            <a:endCxn id="3078" idx="2"/>
          </p:cNvCxnSpPr>
          <p:nvPr/>
        </p:nvCxnSpPr>
        <p:spPr>
          <a:xfrm flipV="1">
            <a:off x="5214938" y="5503863"/>
            <a:ext cx="1965325" cy="53022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3078" idx="0"/>
            <a:endCxn id="3077" idx="2"/>
          </p:cNvCxnSpPr>
          <p:nvPr/>
        </p:nvCxnSpPr>
        <p:spPr>
          <a:xfrm rot="5400000" flipH="1" flipV="1">
            <a:off x="7033419" y="4712494"/>
            <a:ext cx="292100" cy="15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7" name="Elbow Connector 36"/>
          <p:cNvCxnSpPr>
            <a:stCxn id="3077" idx="0"/>
            <a:endCxn id="3076" idx="2"/>
          </p:cNvCxnSpPr>
          <p:nvPr/>
        </p:nvCxnSpPr>
        <p:spPr>
          <a:xfrm rot="5400000" flipH="1" flipV="1">
            <a:off x="6859588" y="3324225"/>
            <a:ext cx="639762" cy="15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3079" idx="0"/>
          </p:cNvCxnSpPr>
          <p:nvPr/>
        </p:nvCxnSpPr>
        <p:spPr>
          <a:xfrm rot="16200000" flipV="1">
            <a:off x="4106863" y="5286375"/>
            <a:ext cx="5715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75" idx="2"/>
          </p:cNvCxnSpPr>
          <p:nvPr/>
        </p:nvCxnSpPr>
        <p:spPr>
          <a:xfrm rot="16200000" flipH="1">
            <a:off x="4100513" y="2921000"/>
            <a:ext cx="585788"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smtClean="0"/>
              <a:t/>
            </a:r>
            <a:br>
              <a:rPr lang="en-US" dirty="0" smtClean="0"/>
            </a:br>
            <a:r>
              <a:rPr lang="en-US" dirty="0" smtClean="0"/>
              <a:t>Defining the expectations and deliverables</a:t>
            </a:r>
            <a:br>
              <a:rPr lang="en-US" dirty="0" smtClean="0"/>
            </a:br>
            <a:endParaRPr lang="en-US" dirty="0"/>
          </a:p>
        </p:txBody>
      </p:sp>
      <p:sp>
        <p:nvSpPr>
          <p:cNvPr id="3" name="Content Placeholder 2"/>
          <p:cNvSpPr>
            <a:spLocks noGrp="1"/>
          </p:cNvSpPr>
          <p:nvPr>
            <p:ph idx="1"/>
          </p:nvPr>
        </p:nvSpPr>
        <p:spPr/>
        <p:txBody>
          <a:bodyPr rtlCol="0">
            <a:normAutofit lnSpcReduction="10000"/>
          </a:bodyPr>
          <a:lstStyle/>
          <a:p>
            <a:pPr eaLnBrk="1" fontAlgn="auto" hangingPunct="1">
              <a:spcAft>
                <a:spcPts val="0"/>
              </a:spcAft>
              <a:buFont typeface="Arial" pitchFamily="34" charset="0"/>
              <a:buChar char="•"/>
              <a:defRPr/>
            </a:pPr>
            <a:r>
              <a:rPr lang="en-US" dirty="0" smtClean="0"/>
              <a:t>The strategic project management model begins with a definition of the expected project deliverables and expectations as defined through rigorous analysis and discussion with the customer or project sponsor.</a:t>
            </a:r>
          </a:p>
          <a:p>
            <a:pPr eaLnBrk="1" fontAlgn="auto" hangingPunct="1">
              <a:spcAft>
                <a:spcPts val="0"/>
              </a:spcAft>
              <a:buFont typeface="Arial" pitchFamily="34" charset="0"/>
              <a:buChar char="•"/>
              <a:defRPr/>
            </a:pPr>
            <a:r>
              <a:rPr lang="en-US" dirty="0" smtClean="0"/>
              <a:t>Determines the scope of the project.</a:t>
            </a:r>
          </a:p>
          <a:p>
            <a:pPr eaLnBrk="1" fontAlgn="auto" hangingPunct="1">
              <a:spcAft>
                <a:spcPts val="0"/>
              </a:spcAft>
              <a:buFont typeface="Arial" pitchFamily="34" charset="0"/>
              <a:buChar char="•"/>
              <a:defRPr/>
            </a:pPr>
            <a:r>
              <a:rPr lang="en-US" dirty="0" smtClean="0"/>
              <a:t>This does not define the project, only determines the intended output of the project</a:t>
            </a:r>
          </a:p>
          <a:p>
            <a:pPr eaLnBrk="1" fontAlgn="auto" hangingPunct="1">
              <a:spcAft>
                <a:spcPts val="0"/>
              </a:spcAft>
              <a:buFont typeface="Arial" pitchFamily="34" charset="0"/>
              <a:buChar char="•"/>
              <a:defRPr/>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smtClean="0"/>
              <a:t>Establishing the guidelines</a:t>
            </a:r>
          </a:p>
        </p:txBody>
      </p:sp>
      <p:sp>
        <p:nvSpPr>
          <p:cNvPr id="3" name="Content Placeholder 2"/>
          <p:cNvSpPr>
            <a:spLocks noGrp="1"/>
          </p:cNvSpPr>
          <p:nvPr>
            <p:ph idx="1"/>
          </p:nvPr>
        </p:nvSpPr>
        <p:spPr>
          <a:xfrm>
            <a:off x="457200" y="1600200"/>
            <a:ext cx="8229600" cy="4543425"/>
          </a:xfrm>
        </p:spPr>
        <p:txBody>
          <a:bodyPr rtlCol="0">
            <a:normAutofit fontScale="92500" lnSpcReduction="10000"/>
          </a:bodyPr>
          <a:lstStyle/>
          <a:p>
            <a:pPr eaLnBrk="1" fontAlgn="auto" hangingPunct="1">
              <a:spcAft>
                <a:spcPts val="0"/>
              </a:spcAft>
              <a:buFont typeface="Arial" pitchFamily="34" charset="0"/>
              <a:buChar char="•"/>
              <a:defRPr/>
            </a:pPr>
            <a:r>
              <a:rPr lang="en-US" dirty="0" smtClean="0"/>
              <a:t>Developing the rules and guidelines that define the operational policies and procedures the project team will follow throughout the project’s duration.</a:t>
            </a:r>
          </a:p>
          <a:p>
            <a:pPr eaLnBrk="1" fontAlgn="auto" hangingPunct="1">
              <a:spcAft>
                <a:spcPts val="0"/>
              </a:spcAft>
              <a:buFont typeface="Arial" pitchFamily="34" charset="0"/>
              <a:buChar char="•"/>
              <a:defRPr/>
            </a:pPr>
            <a:endParaRPr lang="en-US" dirty="0"/>
          </a:p>
          <a:p>
            <a:pPr eaLnBrk="1" fontAlgn="auto" hangingPunct="1">
              <a:spcAft>
                <a:spcPts val="0"/>
              </a:spcAft>
              <a:buFont typeface="Arial" pitchFamily="34" charset="0"/>
              <a:buChar char="•"/>
              <a:defRPr/>
            </a:pPr>
            <a:endParaRPr lang="en-US" dirty="0" smtClean="0"/>
          </a:p>
          <a:p>
            <a:pPr eaLnBrk="1" fontAlgn="auto" hangingPunct="1">
              <a:spcAft>
                <a:spcPts val="0"/>
              </a:spcAft>
              <a:buFont typeface="Arial" pitchFamily="34" charset="0"/>
              <a:buChar char="•"/>
              <a:defRPr/>
            </a:pPr>
            <a:endParaRPr lang="en-US" dirty="0" smtClean="0"/>
          </a:p>
          <a:p>
            <a:pPr eaLnBrk="1" fontAlgn="auto" hangingPunct="1">
              <a:spcAft>
                <a:spcPts val="0"/>
              </a:spcAft>
              <a:buFont typeface="Arial" pitchFamily="34" charset="0"/>
              <a:buChar char="•"/>
              <a:defRPr/>
            </a:pPr>
            <a:r>
              <a:rPr lang="en-US" dirty="0" smtClean="0"/>
              <a:t>A refinement of the project’s scope, along with a definition of the project performance metrics</a:t>
            </a:r>
            <a:endParaRPr lang="en-US" dirty="0"/>
          </a:p>
        </p:txBody>
      </p:sp>
      <p:sp>
        <p:nvSpPr>
          <p:cNvPr id="4" name="Title 1"/>
          <p:cNvSpPr txBox="1">
            <a:spLocks/>
          </p:cNvSpPr>
          <p:nvPr/>
        </p:nvSpPr>
        <p:spPr>
          <a:xfrm>
            <a:off x="571500" y="3786188"/>
            <a:ext cx="8229600" cy="1143000"/>
          </a:xfrm>
          <a:prstGeom prst="rect">
            <a:avLst/>
          </a:prstGeom>
        </p:spPr>
        <p:txBody>
          <a:bodyPr anchor="ctr">
            <a:normAutofit fontScale="90000"/>
          </a:bodyPr>
          <a:lstStyle/>
          <a:p>
            <a:pPr algn="ctr" fontAlgn="auto">
              <a:spcAft>
                <a:spcPts val="0"/>
              </a:spcAft>
              <a:defRPr/>
            </a:pPr>
            <a:r>
              <a:rPr lang="en-US" sz="4400">
                <a:latin typeface="+mj-lt"/>
                <a:ea typeface="+mj-ea"/>
                <a:cs typeface="+mj-cs"/>
              </a:rPr>
              <a:t>Defining the project scope and metrics</a:t>
            </a:r>
            <a:endParaRPr lang="en-US" sz="4400" dirty="0">
              <a:latin typeface="+mj-lt"/>
              <a:ea typeface="+mj-ea"/>
              <a:cs typeface="+mj-cs"/>
            </a:endParaRPr>
          </a:p>
        </p:txBody>
      </p:sp>
      <p:sp>
        <p:nvSpPr>
          <p:cNvPr id="5125" name="Content Placeholder 2"/>
          <p:cNvSpPr txBox="1">
            <a:spLocks/>
          </p:cNvSpPr>
          <p:nvPr/>
        </p:nvSpPr>
        <p:spPr bwMode="auto">
          <a:xfrm>
            <a:off x="571500" y="4929188"/>
            <a:ext cx="8229600" cy="1143000"/>
          </a:xfrm>
          <a:prstGeom prst="rect">
            <a:avLst/>
          </a:prstGeom>
          <a:noFill/>
          <a:ln w="9525">
            <a:noFill/>
            <a:miter lim="800000"/>
            <a:headEnd/>
            <a:tailEnd/>
          </a:ln>
        </p:spPr>
        <p:txBody>
          <a:bodyPr/>
          <a:lstStyle/>
          <a:p>
            <a:pPr marL="342900" indent="-342900">
              <a:spcBef>
                <a:spcPct val="20000"/>
              </a:spcBef>
              <a:buFont typeface="Arial" charset="0"/>
              <a:buNone/>
            </a:pPr>
            <a:endParaRPr lang="en-US" sz="3200">
              <a:latin typeface="Calibri"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smtClean="0"/>
              <a:t>Organizing the project team</a:t>
            </a:r>
          </a:p>
        </p:txBody>
      </p:sp>
      <p:sp>
        <p:nvSpPr>
          <p:cNvPr id="6147" name="Content Placeholder 2"/>
          <p:cNvSpPr>
            <a:spLocks noGrp="1"/>
          </p:cNvSpPr>
          <p:nvPr>
            <p:ph idx="1"/>
          </p:nvPr>
        </p:nvSpPr>
        <p:spPr>
          <a:xfrm>
            <a:off x="500063" y="1571625"/>
            <a:ext cx="8229600" cy="4525963"/>
          </a:xfrm>
        </p:spPr>
        <p:txBody>
          <a:bodyPr/>
          <a:lstStyle/>
          <a:p>
            <a:pPr eaLnBrk="1" hangingPunct="1"/>
            <a:r>
              <a:rPr lang="en-US" smtClean="0"/>
              <a:t>Selecting the project team based upon the skill set required for the project.</a:t>
            </a:r>
          </a:p>
          <a:p>
            <a:pPr eaLnBrk="1" hangingPunct="1"/>
            <a:r>
              <a:rPr lang="en-US" smtClean="0"/>
              <a:t>While the project team is often preselected for the project manager by his/her executive management, responsibility for analysis and adjustment of the project team to meet unique project requirements remains with the project manager.</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smtClean="0"/>
              <a:t>Situational review and assessment</a:t>
            </a:r>
          </a:p>
        </p:txBody>
      </p:sp>
      <p:sp>
        <p:nvSpPr>
          <p:cNvPr id="3" name="Content Placeholder 2"/>
          <p:cNvSpPr>
            <a:spLocks noGrp="1"/>
          </p:cNvSpPr>
          <p:nvPr>
            <p:ph idx="1"/>
          </p:nvPr>
        </p:nvSpPr>
        <p:spPr/>
        <p:txBody>
          <a:bodyPr rtlCol="0">
            <a:normAutofit fontScale="92500" lnSpcReduction="10000"/>
          </a:bodyPr>
          <a:lstStyle/>
          <a:p>
            <a:pPr eaLnBrk="1" fontAlgn="auto" hangingPunct="1">
              <a:spcAft>
                <a:spcPts val="0"/>
              </a:spcAft>
              <a:buFont typeface="Arial" pitchFamily="34" charset="0"/>
              <a:buChar char="•"/>
              <a:defRPr/>
            </a:pPr>
            <a:r>
              <a:rPr lang="en-US" dirty="0" smtClean="0"/>
              <a:t>An assessment of the project management environment to isolate the real and potential problems, issues, and opportunities the project team is likely to face during the project life cycle.</a:t>
            </a:r>
          </a:p>
          <a:p>
            <a:pPr eaLnBrk="1" fontAlgn="auto" hangingPunct="1">
              <a:spcAft>
                <a:spcPts val="0"/>
              </a:spcAft>
              <a:buFont typeface="Arial" pitchFamily="34" charset="0"/>
              <a:buChar char="•"/>
              <a:defRPr/>
            </a:pPr>
            <a:r>
              <a:rPr lang="en-US" dirty="0" smtClean="0"/>
              <a:t>A critical element in the project planning cycle, situational analysis seeks to identify what is currently happening, what happened in the past that must now be dealt with, and what will likely happen in the future that could positively or negatively impact the project</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smtClean="0"/>
              <a:t>Problem and opportunity analysis</a:t>
            </a:r>
          </a:p>
        </p:txBody>
      </p:sp>
      <p:sp>
        <p:nvSpPr>
          <p:cNvPr id="3" name="Content Placeholder 2"/>
          <p:cNvSpPr>
            <a:spLocks noGrp="1"/>
          </p:cNvSpPr>
          <p:nvPr>
            <p:ph idx="1"/>
          </p:nvPr>
        </p:nvSpPr>
        <p:spPr/>
        <p:txBody>
          <a:bodyPr rtlCol="0">
            <a:normAutofit fontScale="92500" lnSpcReduction="10000"/>
          </a:bodyPr>
          <a:lstStyle/>
          <a:p>
            <a:pPr eaLnBrk="1" fontAlgn="auto" hangingPunct="1">
              <a:spcAft>
                <a:spcPts val="0"/>
              </a:spcAft>
              <a:buFont typeface="Arial" pitchFamily="34" charset="0"/>
              <a:buChar char="•"/>
              <a:defRPr/>
            </a:pPr>
            <a:r>
              <a:rPr lang="en-US" dirty="0" smtClean="0"/>
              <a:t>Problems and issues identified during situational assessment are then addressed through structured problem analysis to determine the true root cause(s) behind those issues so that alternatives can be developed and assessed against the project objectives.</a:t>
            </a:r>
          </a:p>
          <a:p>
            <a:pPr eaLnBrk="1" fontAlgn="auto" hangingPunct="1">
              <a:spcAft>
                <a:spcPts val="0"/>
              </a:spcAft>
              <a:buFont typeface="Arial" pitchFamily="34" charset="0"/>
              <a:buChar char="•"/>
              <a:defRPr/>
            </a:pPr>
            <a:r>
              <a:rPr lang="en-US" dirty="0" smtClean="0"/>
              <a:t>This, like situational assessment, is a part of risk management, focusing on identifying real and potential issues to be assessed and then addressed through contingency planning.</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smtClean="0"/>
              <a:t>Decision and alternative analysis</a:t>
            </a:r>
          </a:p>
        </p:txBody>
      </p:sp>
      <p:sp>
        <p:nvSpPr>
          <p:cNvPr id="9219" name="Content Placeholder 2"/>
          <p:cNvSpPr>
            <a:spLocks noGrp="1"/>
          </p:cNvSpPr>
          <p:nvPr>
            <p:ph idx="1"/>
          </p:nvPr>
        </p:nvSpPr>
        <p:spPr/>
        <p:txBody>
          <a:bodyPr/>
          <a:lstStyle/>
          <a:p>
            <a:pPr eaLnBrk="1" hangingPunct="1"/>
            <a:r>
              <a:rPr lang="en-US" smtClean="0"/>
              <a:t>Identify all alternatives available to the project team, determine their respective risks and costs, and then to quantitatively analyse each alternative against the project objectives. The alternative selected becomes the definition of the project. In essence, “how the project objectives will be met.”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mtClean="0"/>
              <a:t>Tactical project execution</a:t>
            </a:r>
          </a:p>
        </p:txBody>
      </p:sp>
      <p:sp>
        <p:nvSpPr>
          <p:cNvPr id="3" name="Content Placeholder 2"/>
          <p:cNvSpPr>
            <a:spLocks noGrp="1"/>
          </p:cNvSpPr>
          <p:nvPr>
            <p:ph idx="1"/>
          </p:nvPr>
        </p:nvSpPr>
        <p:spPr/>
        <p:txBody>
          <a:bodyPr rtlCol="0">
            <a:normAutofit fontScale="92500" lnSpcReduction="10000"/>
          </a:bodyPr>
          <a:lstStyle/>
          <a:p>
            <a:pPr eaLnBrk="1" fontAlgn="auto" hangingPunct="1">
              <a:spcAft>
                <a:spcPts val="0"/>
              </a:spcAft>
              <a:buFont typeface="Arial" pitchFamily="34" charset="0"/>
              <a:buChar char="•"/>
              <a:defRPr/>
            </a:pPr>
            <a:r>
              <a:rPr lang="en-US" dirty="0" smtClean="0"/>
              <a:t>Here the selected project alternative is detailed through development and execution tools like the work breakdown structure, cycle time modeling, PERT techniques and Gantt charts. </a:t>
            </a:r>
          </a:p>
          <a:p>
            <a:pPr eaLnBrk="1" fontAlgn="auto" hangingPunct="1">
              <a:spcAft>
                <a:spcPts val="0"/>
              </a:spcAft>
              <a:buFont typeface="Arial" pitchFamily="34" charset="0"/>
              <a:buChar char="•"/>
              <a:defRPr/>
            </a:pPr>
            <a:r>
              <a:rPr lang="en-US" dirty="0" smtClean="0"/>
              <a:t>These become the tools used by the project management team to control and monitor the project, assess performance against established project objectives, and initiate corrective actions should a problem occur or a trade-off in one or more of the project variables become necessary.</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smtClean="0"/>
              <a:t>Summary</a:t>
            </a:r>
          </a:p>
        </p:txBody>
      </p:sp>
      <p:sp>
        <p:nvSpPr>
          <p:cNvPr id="3" name="Content Placeholder 2"/>
          <p:cNvSpPr>
            <a:spLocks noGrp="1"/>
          </p:cNvSpPr>
          <p:nvPr>
            <p:ph idx="1"/>
          </p:nvPr>
        </p:nvSpPr>
        <p:spPr/>
        <p:txBody>
          <a:bodyPr rtlCol="0">
            <a:normAutofit fontScale="92500" lnSpcReduction="20000"/>
          </a:bodyPr>
          <a:lstStyle/>
          <a:p>
            <a:pPr eaLnBrk="1" fontAlgn="auto" hangingPunct="1">
              <a:spcAft>
                <a:spcPts val="0"/>
              </a:spcAft>
              <a:buFont typeface="Arial" pitchFamily="34" charset="0"/>
              <a:buChar char="•"/>
              <a:defRPr/>
            </a:pPr>
            <a:r>
              <a:rPr lang="en-US" dirty="0" smtClean="0"/>
              <a:t>Strategic project management is a structured methodology for analyzing and managing complex projects that are, or will likely be, impacted by a multitude of variables, constraints, and internal or external influences.</a:t>
            </a:r>
          </a:p>
          <a:p>
            <a:pPr eaLnBrk="1" fontAlgn="auto" hangingPunct="1">
              <a:spcAft>
                <a:spcPts val="0"/>
              </a:spcAft>
              <a:buFont typeface="Arial" pitchFamily="34" charset="0"/>
              <a:buChar char="•"/>
              <a:defRPr/>
            </a:pPr>
            <a:r>
              <a:rPr lang="en-US" dirty="0" smtClean="0"/>
              <a:t>The secret to effective project planning is to utilize these tools to break down the project into several manageable, easy-to-understand-and-monitor subprojects or activities that can be effectively controlled by the project management team throughout the project’s duration.</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smtClean="0"/>
              <a:t>Tactical Project Management Model</a:t>
            </a:r>
            <a:endParaRPr lang="en-US" dirty="0"/>
          </a:p>
        </p:txBody>
      </p:sp>
      <p:sp>
        <p:nvSpPr>
          <p:cNvPr id="12291" name="TextBox 3"/>
          <p:cNvSpPr txBox="1">
            <a:spLocks noChangeArrowheads="1"/>
          </p:cNvSpPr>
          <p:nvPr/>
        </p:nvSpPr>
        <p:spPr bwMode="auto">
          <a:xfrm>
            <a:off x="3643313" y="1428750"/>
            <a:ext cx="1643062" cy="1200150"/>
          </a:xfrm>
          <a:prstGeom prst="rect">
            <a:avLst/>
          </a:prstGeom>
          <a:noFill/>
          <a:ln w="3175">
            <a:solidFill>
              <a:schemeClr val="tx1"/>
            </a:solidFill>
            <a:miter lim="800000"/>
            <a:headEnd/>
            <a:tailEnd/>
          </a:ln>
        </p:spPr>
        <p:txBody>
          <a:bodyPr>
            <a:spAutoFit/>
          </a:bodyPr>
          <a:lstStyle/>
          <a:p>
            <a:pPr algn="ctr"/>
            <a:r>
              <a:rPr lang="en-US">
                <a:latin typeface="Calibri" pitchFamily="34" charset="0"/>
              </a:rPr>
              <a:t>Development of Work breakdown structure</a:t>
            </a:r>
          </a:p>
        </p:txBody>
      </p:sp>
      <p:sp>
        <p:nvSpPr>
          <p:cNvPr id="12292" name="TextBox 4"/>
          <p:cNvSpPr txBox="1">
            <a:spLocks noChangeArrowheads="1"/>
          </p:cNvSpPr>
          <p:nvPr/>
        </p:nvSpPr>
        <p:spPr bwMode="auto">
          <a:xfrm>
            <a:off x="6357938" y="2357438"/>
            <a:ext cx="1643062" cy="646112"/>
          </a:xfrm>
          <a:prstGeom prst="rect">
            <a:avLst/>
          </a:prstGeom>
          <a:noFill/>
          <a:ln w="3175">
            <a:solidFill>
              <a:schemeClr val="tx1"/>
            </a:solidFill>
            <a:miter lim="800000"/>
            <a:headEnd/>
            <a:tailEnd/>
          </a:ln>
        </p:spPr>
        <p:txBody>
          <a:bodyPr>
            <a:spAutoFit/>
          </a:bodyPr>
          <a:lstStyle/>
          <a:p>
            <a:pPr algn="ctr"/>
            <a:r>
              <a:rPr lang="en-US">
                <a:latin typeface="Calibri" pitchFamily="34" charset="0"/>
              </a:rPr>
              <a:t>Activity listing detail</a:t>
            </a:r>
          </a:p>
        </p:txBody>
      </p:sp>
      <p:sp>
        <p:nvSpPr>
          <p:cNvPr id="12293" name="TextBox 5"/>
          <p:cNvSpPr txBox="1">
            <a:spLocks noChangeArrowheads="1"/>
          </p:cNvSpPr>
          <p:nvPr/>
        </p:nvSpPr>
        <p:spPr bwMode="auto">
          <a:xfrm>
            <a:off x="6357938" y="3643313"/>
            <a:ext cx="1643062" cy="646112"/>
          </a:xfrm>
          <a:prstGeom prst="rect">
            <a:avLst/>
          </a:prstGeom>
          <a:noFill/>
          <a:ln w="3175">
            <a:solidFill>
              <a:schemeClr val="tx1"/>
            </a:solidFill>
            <a:miter lim="800000"/>
            <a:headEnd/>
            <a:tailEnd/>
          </a:ln>
        </p:spPr>
        <p:txBody>
          <a:bodyPr>
            <a:spAutoFit/>
          </a:bodyPr>
          <a:lstStyle/>
          <a:p>
            <a:pPr algn="ctr"/>
            <a:r>
              <a:rPr lang="en-US">
                <a:latin typeface="Calibri" pitchFamily="34" charset="0"/>
              </a:rPr>
              <a:t>Dependency analyses</a:t>
            </a:r>
          </a:p>
        </p:txBody>
      </p:sp>
      <p:sp>
        <p:nvSpPr>
          <p:cNvPr id="12294" name="TextBox 6"/>
          <p:cNvSpPr txBox="1">
            <a:spLocks noChangeArrowheads="1"/>
          </p:cNvSpPr>
          <p:nvPr/>
        </p:nvSpPr>
        <p:spPr bwMode="auto">
          <a:xfrm>
            <a:off x="6357938" y="4857750"/>
            <a:ext cx="1643062" cy="646113"/>
          </a:xfrm>
          <a:prstGeom prst="rect">
            <a:avLst/>
          </a:prstGeom>
          <a:noFill/>
          <a:ln w="3175">
            <a:solidFill>
              <a:schemeClr val="tx1"/>
            </a:solidFill>
            <a:miter lim="800000"/>
            <a:headEnd/>
            <a:tailEnd/>
          </a:ln>
        </p:spPr>
        <p:txBody>
          <a:bodyPr>
            <a:spAutoFit/>
          </a:bodyPr>
          <a:lstStyle/>
          <a:p>
            <a:pPr algn="ctr"/>
            <a:r>
              <a:rPr lang="en-US">
                <a:latin typeface="Calibri" pitchFamily="34" charset="0"/>
              </a:rPr>
              <a:t>Cycle time calculations</a:t>
            </a:r>
          </a:p>
        </p:txBody>
      </p:sp>
      <p:sp>
        <p:nvSpPr>
          <p:cNvPr id="12295" name="TextBox 7"/>
          <p:cNvSpPr txBox="1">
            <a:spLocks noChangeArrowheads="1"/>
          </p:cNvSpPr>
          <p:nvPr/>
        </p:nvSpPr>
        <p:spPr bwMode="auto">
          <a:xfrm>
            <a:off x="3643313" y="6000750"/>
            <a:ext cx="1643062" cy="646113"/>
          </a:xfrm>
          <a:prstGeom prst="rect">
            <a:avLst/>
          </a:prstGeom>
          <a:noFill/>
          <a:ln w="3175">
            <a:solidFill>
              <a:schemeClr val="tx1"/>
            </a:solidFill>
            <a:miter lim="800000"/>
            <a:headEnd/>
            <a:tailEnd/>
          </a:ln>
        </p:spPr>
        <p:txBody>
          <a:bodyPr>
            <a:spAutoFit/>
          </a:bodyPr>
          <a:lstStyle/>
          <a:p>
            <a:pPr algn="ctr"/>
            <a:r>
              <a:rPr lang="en-US">
                <a:latin typeface="Calibri" pitchFamily="34" charset="0"/>
              </a:rPr>
              <a:t>Calendar time conversion</a:t>
            </a:r>
          </a:p>
        </p:txBody>
      </p:sp>
      <p:sp>
        <p:nvSpPr>
          <p:cNvPr id="12296" name="TextBox 8"/>
          <p:cNvSpPr txBox="1">
            <a:spLocks noChangeArrowheads="1"/>
          </p:cNvSpPr>
          <p:nvPr/>
        </p:nvSpPr>
        <p:spPr bwMode="auto">
          <a:xfrm>
            <a:off x="928688" y="4929188"/>
            <a:ext cx="1643062" cy="1200150"/>
          </a:xfrm>
          <a:prstGeom prst="rect">
            <a:avLst/>
          </a:prstGeom>
          <a:noFill/>
          <a:ln w="3175">
            <a:solidFill>
              <a:schemeClr val="tx1"/>
            </a:solidFill>
            <a:miter lim="800000"/>
            <a:headEnd/>
            <a:tailEnd/>
          </a:ln>
        </p:spPr>
        <p:txBody>
          <a:bodyPr>
            <a:spAutoFit/>
          </a:bodyPr>
          <a:lstStyle/>
          <a:p>
            <a:pPr algn="ctr"/>
            <a:r>
              <a:rPr lang="en-US">
                <a:latin typeface="Calibri" pitchFamily="34" charset="0"/>
              </a:rPr>
              <a:t>PERT critical path and slack (float) time analyses</a:t>
            </a:r>
          </a:p>
        </p:txBody>
      </p:sp>
      <p:sp>
        <p:nvSpPr>
          <p:cNvPr id="12297" name="TextBox 9"/>
          <p:cNvSpPr txBox="1">
            <a:spLocks noChangeArrowheads="1"/>
          </p:cNvSpPr>
          <p:nvPr/>
        </p:nvSpPr>
        <p:spPr bwMode="auto">
          <a:xfrm>
            <a:off x="928688" y="3643313"/>
            <a:ext cx="1643062" cy="646112"/>
          </a:xfrm>
          <a:prstGeom prst="rect">
            <a:avLst/>
          </a:prstGeom>
          <a:noFill/>
          <a:ln w="3175">
            <a:solidFill>
              <a:schemeClr val="tx1"/>
            </a:solidFill>
            <a:miter lim="800000"/>
            <a:headEnd/>
            <a:tailEnd/>
          </a:ln>
        </p:spPr>
        <p:txBody>
          <a:bodyPr>
            <a:spAutoFit/>
          </a:bodyPr>
          <a:lstStyle/>
          <a:p>
            <a:pPr algn="ctr"/>
            <a:r>
              <a:rPr lang="en-US">
                <a:latin typeface="Calibri" pitchFamily="34" charset="0"/>
              </a:rPr>
              <a:t>Gantt chart development</a:t>
            </a:r>
          </a:p>
        </p:txBody>
      </p:sp>
      <p:sp>
        <p:nvSpPr>
          <p:cNvPr id="12298" name="TextBox 10"/>
          <p:cNvSpPr txBox="1">
            <a:spLocks noChangeArrowheads="1"/>
          </p:cNvSpPr>
          <p:nvPr/>
        </p:nvSpPr>
        <p:spPr bwMode="auto">
          <a:xfrm>
            <a:off x="928688" y="2357438"/>
            <a:ext cx="1643062" cy="646112"/>
          </a:xfrm>
          <a:prstGeom prst="rect">
            <a:avLst/>
          </a:prstGeom>
          <a:noFill/>
          <a:ln w="3175">
            <a:solidFill>
              <a:schemeClr val="tx1"/>
            </a:solidFill>
            <a:miter lim="800000"/>
            <a:headEnd/>
            <a:tailEnd/>
          </a:ln>
        </p:spPr>
        <p:txBody>
          <a:bodyPr>
            <a:spAutoFit/>
          </a:bodyPr>
          <a:lstStyle/>
          <a:p>
            <a:pPr algn="ctr"/>
            <a:r>
              <a:rPr lang="en-US">
                <a:latin typeface="Calibri" pitchFamily="34" charset="0"/>
              </a:rPr>
              <a:t>Trade off analyses</a:t>
            </a:r>
          </a:p>
        </p:txBody>
      </p:sp>
      <p:sp>
        <p:nvSpPr>
          <p:cNvPr id="12299" name="TextBox 11"/>
          <p:cNvSpPr txBox="1">
            <a:spLocks noChangeArrowheads="1"/>
          </p:cNvSpPr>
          <p:nvPr/>
        </p:nvSpPr>
        <p:spPr bwMode="auto">
          <a:xfrm>
            <a:off x="3643313" y="3643313"/>
            <a:ext cx="1643062" cy="646112"/>
          </a:xfrm>
          <a:prstGeom prst="rect">
            <a:avLst/>
          </a:prstGeom>
          <a:noFill/>
          <a:ln w="3175">
            <a:solidFill>
              <a:schemeClr val="tx1"/>
            </a:solidFill>
            <a:miter lim="800000"/>
            <a:headEnd/>
            <a:tailEnd/>
          </a:ln>
        </p:spPr>
        <p:txBody>
          <a:bodyPr>
            <a:spAutoFit/>
          </a:bodyPr>
          <a:lstStyle/>
          <a:p>
            <a:pPr algn="ctr"/>
            <a:r>
              <a:rPr lang="en-US">
                <a:latin typeface="Calibri" pitchFamily="34" charset="0"/>
              </a:rPr>
              <a:t>Tactical Project Planning</a:t>
            </a:r>
          </a:p>
        </p:txBody>
      </p:sp>
      <p:cxnSp>
        <p:nvCxnSpPr>
          <p:cNvPr id="14" name="Elbow Connector 13"/>
          <p:cNvCxnSpPr>
            <a:stCxn id="12298" idx="0"/>
            <a:endCxn id="12291" idx="1"/>
          </p:cNvCxnSpPr>
          <p:nvPr/>
        </p:nvCxnSpPr>
        <p:spPr>
          <a:xfrm rot="5400000" flipH="1" flipV="1">
            <a:off x="2532062" y="1246188"/>
            <a:ext cx="328613" cy="1893888"/>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7" name="Elbow Connector 16"/>
          <p:cNvCxnSpPr>
            <a:stCxn id="12291" idx="3"/>
            <a:endCxn id="12292" idx="0"/>
          </p:cNvCxnSpPr>
          <p:nvPr/>
        </p:nvCxnSpPr>
        <p:spPr>
          <a:xfrm>
            <a:off x="5286375" y="2028825"/>
            <a:ext cx="1893888" cy="328613"/>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12296" idx="2"/>
            <a:endCxn id="12295" idx="1"/>
          </p:cNvCxnSpPr>
          <p:nvPr/>
        </p:nvCxnSpPr>
        <p:spPr>
          <a:xfrm rot="16200000" flipH="1">
            <a:off x="2598738" y="5280025"/>
            <a:ext cx="195262" cy="1893888"/>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4" name="Elbow Connector 23"/>
          <p:cNvCxnSpPr>
            <a:stCxn id="12295" idx="3"/>
            <a:endCxn id="12294" idx="2"/>
          </p:cNvCxnSpPr>
          <p:nvPr/>
        </p:nvCxnSpPr>
        <p:spPr>
          <a:xfrm flipV="1">
            <a:off x="5286375" y="5503863"/>
            <a:ext cx="1893888" cy="820737"/>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2292" idx="2"/>
            <a:endCxn id="12293" idx="0"/>
          </p:cNvCxnSpPr>
          <p:nvPr/>
        </p:nvCxnSpPr>
        <p:spPr>
          <a:xfrm rot="5400000">
            <a:off x="6859588" y="3324225"/>
            <a:ext cx="639762" cy="15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12293" idx="2"/>
            <a:endCxn id="12294" idx="0"/>
          </p:cNvCxnSpPr>
          <p:nvPr/>
        </p:nvCxnSpPr>
        <p:spPr>
          <a:xfrm rot="5400000">
            <a:off x="6895306" y="4574382"/>
            <a:ext cx="568325" cy="15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3" name="Elbow Connector 32"/>
          <p:cNvCxnSpPr>
            <a:stCxn id="12298" idx="2"/>
            <a:endCxn id="12297" idx="0"/>
          </p:cNvCxnSpPr>
          <p:nvPr/>
        </p:nvCxnSpPr>
        <p:spPr>
          <a:xfrm rot="5400000">
            <a:off x="1430338" y="3324225"/>
            <a:ext cx="639762" cy="15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6" name="Elbow Connector 35"/>
          <p:cNvCxnSpPr>
            <a:stCxn id="12297" idx="2"/>
            <a:endCxn id="12296" idx="0"/>
          </p:cNvCxnSpPr>
          <p:nvPr/>
        </p:nvCxnSpPr>
        <p:spPr>
          <a:xfrm rot="5400000">
            <a:off x="1430338" y="4610100"/>
            <a:ext cx="639762" cy="15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2291" idx="2"/>
          </p:cNvCxnSpPr>
          <p:nvPr/>
        </p:nvCxnSpPr>
        <p:spPr>
          <a:xfrm rot="16200000" flipH="1">
            <a:off x="4171950" y="2921000"/>
            <a:ext cx="58578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2295" idx="0"/>
          </p:cNvCxnSpPr>
          <p:nvPr/>
        </p:nvCxnSpPr>
        <p:spPr>
          <a:xfrm rot="16200000" flipV="1">
            <a:off x="4035425" y="5572125"/>
            <a:ext cx="85725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TotalTime>
  <Words>907</Words>
  <Application>Microsoft Office PowerPoint</Application>
  <PresentationFormat>On-screen Show (4:3)</PresentationFormat>
  <Paragraphs>99</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Strategic Project Planning and Execution</vt:lpstr>
      <vt:lpstr>Levels of Management</vt:lpstr>
      <vt:lpstr>Mintzberg’s view of Organizations</vt:lpstr>
      <vt:lpstr>Key parts of an organization</vt:lpstr>
      <vt:lpstr>Slide 5</vt:lpstr>
      <vt:lpstr>Strategic</vt:lpstr>
      <vt:lpstr>Tactical</vt:lpstr>
      <vt:lpstr>Operational</vt:lpstr>
      <vt:lpstr>Slide 9</vt:lpstr>
      <vt:lpstr>Strategic Project Management Model</vt:lpstr>
      <vt:lpstr> Defining the expectations and deliverables </vt:lpstr>
      <vt:lpstr>Establishing the guidelines</vt:lpstr>
      <vt:lpstr>Organizing the project team</vt:lpstr>
      <vt:lpstr>Situational review and assessment</vt:lpstr>
      <vt:lpstr>Problem and opportunity analysis</vt:lpstr>
      <vt:lpstr>Decision and alternative analysis</vt:lpstr>
      <vt:lpstr>Tactical project execution</vt:lpstr>
      <vt:lpstr>Summary</vt:lpstr>
      <vt:lpstr>Tactical Project Management Model</vt:lpstr>
    </vt:vector>
  </TitlesOfParts>
  <Company>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Project Planning and Execution</dc:title>
  <dc:creator>MakhuraneT</dc:creator>
  <cp:lastModifiedBy>MakhuraneT</cp:lastModifiedBy>
  <cp:revision>10</cp:revision>
  <dcterms:created xsi:type="dcterms:W3CDTF">2009-10-20T10:36:33Z</dcterms:created>
  <dcterms:modified xsi:type="dcterms:W3CDTF">2012-08-15T15:06:10Z</dcterms:modified>
</cp:coreProperties>
</file>