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39"/>
  </p:notesMasterIdLst>
  <p:handoutMasterIdLst>
    <p:handoutMasterId r:id="rId40"/>
  </p:handoutMasterIdLst>
  <p:sldIdLst>
    <p:sldId id="256" r:id="rId5"/>
    <p:sldId id="258" r:id="rId6"/>
    <p:sldId id="267" r:id="rId7"/>
    <p:sldId id="260" r:id="rId8"/>
    <p:sldId id="292" r:id="rId9"/>
    <p:sldId id="268" r:id="rId10"/>
    <p:sldId id="265" r:id="rId11"/>
    <p:sldId id="263" r:id="rId12"/>
    <p:sldId id="257" r:id="rId13"/>
    <p:sldId id="269" r:id="rId14"/>
    <p:sldId id="270" r:id="rId15"/>
    <p:sldId id="271" r:id="rId16"/>
    <p:sldId id="272" r:id="rId17"/>
    <p:sldId id="274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64" r:id="rId33"/>
    <p:sldId id="288" r:id="rId34"/>
    <p:sldId id="289" r:id="rId35"/>
    <p:sldId id="290" r:id="rId36"/>
    <p:sldId id="291" r:id="rId37"/>
    <p:sldId id="266" r:id="rId38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0C1F"/>
    <a:srgbClr val="903163"/>
    <a:srgbClr val="E1E1E1"/>
    <a:srgbClr val="AA2C71"/>
    <a:srgbClr val="A62C6F"/>
    <a:srgbClr val="F9E7F1"/>
    <a:srgbClr val="852359"/>
    <a:srgbClr val="969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1" autoAdjust="0"/>
    <p:restoredTop sz="94660"/>
  </p:normalViewPr>
  <p:slideViewPr>
    <p:cSldViewPr snapToGrid="0">
      <p:cViewPr>
        <p:scale>
          <a:sx n="92" d="100"/>
          <a:sy n="92" d="100"/>
        </p:scale>
        <p:origin x="106" y="-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BDC8D5-9F2E-4D75-BAEE-90A7222312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7A6F2-2E55-423C-935C-925413569C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6E9299-4E8A-4BB2-9AA7-863DADCC4931}" type="datetime1">
              <a:rPr lang="en-GB" smtClean="0"/>
              <a:t>31/08/2025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3ABEBD-355E-4010-8101-DFA2D9F9056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DE3BFC-BA40-4B4D-9A7D-25A56E2F48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34A419-76DC-4350-B872-894E435241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95819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1ED0794-9995-430A-B305-37B685009D0F}" type="datetime1">
              <a:rPr lang="en-GB" noProof="0" smtClean="0"/>
              <a:t>31/08/2025</a:t>
            </a:fld>
            <a:endParaRPr lang="en-GB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2E1C88-3939-4832-BAAB-091D6FA96EB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050048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Delete this slide when you’ve finished preparing the other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12E1C88-3939-4832-BAAB-091D6FA96EB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2598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1010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4DEB2-10A7-89F2-BD92-50C070C42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C3ED0-DB06-C062-1B40-978C80E62D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D65E0-C99B-C801-7C5A-0D2DAFFBC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4D2D0-6D2A-AFF0-CBC9-88FC83E763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9276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451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94D5C-5C77-E6F5-EA6F-41C2732A3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8C40CC-20D1-8FB2-B543-742C7FE0AB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E8A644-A7AA-B832-4E96-4FB2EAF259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83430-A75C-9270-FACB-16E1907BEF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138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F9F51-C1DC-C273-0DC6-58587E187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9E41E3-CE50-A1B8-9DFC-8900A3C9B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3F193A-ABB0-2F4E-53FE-226C7785F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E32B4-7B8C-55B8-1944-25CED2243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8373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7347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7820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22856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661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D953A-A66F-1557-9693-DB1A4A6FF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38CAD3-60B1-19D6-58C2-69758AA70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A2BF4A-187C-2181-71F9-8EC4DF833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87CAE-127D-74BE-8BAF-AE62D13164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0136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2F229-436F-689C-8A81-956A85307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73EE88-EE3A-1FDA-9499-98E77DC65B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4D3561-331B-9E0A-133C-3C7F201AA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43F69-14FD-28FF-1CB5-7D8C031B29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32685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D8B25-AB7C-AD31-9BA3-6322E8C00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C2D01F-A43B-D3A1-0BC1-8895863D5C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3D9B4-6422-2A08-0CF7-FAD3E7CBB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F701D-63D4-D9EF-A003-2004685F3C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87502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9C7E8-636A-FEEA-1B63-0C2F8D346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9B58F6-B17F-A452-0DFE-7F519521E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444FB1-13A9-4BBC-C995-C7C979704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BAD0F-1E33-1450-AC33-A07F81E6BA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65317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3A456-2188-B869-BDA7-336F37D57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6328DD-8A37-7C4E-1E4A-B8BA579E0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5174E8-7AED-9CAB-17B9-D9443728E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AE97E-0326-A201-3FA0-EB49DBF4F7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63888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2F022-1A7F-B964-22F7-EFA390E23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6C53DF-12AD-A42D-0F68-9D3F7C38D3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37BCBA-7D4D-A39B-017B-E95C3F772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7CEE9-4067-2A7A-8E1D-D33FD8E305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14184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D55D1-2239-2A8A-7DA4-5117F7FB5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7D2BB-062A-3922-ED5A-A6FC6F8A83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180D77-B389-AA9A-D308-01A5D491B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E64E0-0C3C-21B0-87F6-0D730C9EAE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19498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6A054-0E5A-0C15-15E9-98F526D4B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3FB084-E387-CE33-951D-1B5181CD4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6D07F-4FF0-38FA-1AF4-8002D74B7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839E3-FAC1-4B49-D02D-F40D7A832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52353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A6C08-1B44-DFB7-5DC2-916436163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F591B8-A296-BC86-F246-0D0718DB3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B532EB-4D67-CAFB-2ABC-929C71361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9218B-3EEE-03B1-9A02-CC643DC4A8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44166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30043-FDB5-8757-1BA4-115D91FFF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F53E48-AF5D-DD67-13BA-53817D244F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5EFEF2-AFFA-906C-A5B1-C56A8CBFB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8D1E0-89A8-1408-7670-D626560D98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60818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78A3F-1116-0270-318A-2001ABFA8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D0417F-6E62-D7E2-C30F-6D92C037A6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59ED5E-B112-22A6-BF28-187F439B9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7E426-441F-A700-8526-605EBB03E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78593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266D0-4C47-3F9E-6FEC-F9E5BA31D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F15EFB-721D-5744-541B-7F641557B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4B810B-9F34-9B18-AA54-4657A3B9F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6D01C-AAE5-5840-2DA0-E7BAAFD633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93027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BA4E-C79A-0C73-6840-8B940CBBF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F34CE1-9C05-FB6A-8964-50555F13B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0474B8-DB8C-8E36-CFD4-AE87D74A7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7751D-6AE0-FB9B-0F1C-91EFB53D9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64446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F935A-AD8E-5292-CB93-E1749F4C3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D8B6FB-04C5-40BE-4384-274991533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8DD9D9-2C96-3D32-D65F-05E78FF08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57899-518D-3D09-7AB7-30FC166296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10199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04735-C669-9AAF-07CF-F626E5ACE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D2553B-FF73-50EF-00BF-F0B61D752B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22E1D1-A8B0-60F8-EDE0-92B21CED9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150EC-6F16-C26A-358A-A19B10B94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62589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98CFF-4738-7942-E7F9-64B407EB4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F11F7-13CF-B3F9-43CA-35B4465C5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FE5531-68E0-8711-D687-00F7A0FBD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48F75-943E-4FD9-311E-8A61ADD0E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92565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E0956-C7F1-A4C6-7E91-3DA765522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CFAD6D-C676-E624-5A93-BB1E179850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31C3C5-5036-3B6A-EAE7-B815E88A0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961CE-CF59-1B9C-E185-F3B857D41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96683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15408-A167-91F3-4288-4BBB569B7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3D62F2-022C-DFA9-9B66-974E7D4D1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01A9A7-999E-07D0-F0DE-CFBF943C8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13FA7-C358-655B-9A09-6643DC7ED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61773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7520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65740-869A-0452-6AB9-249FFA776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617BE5-582C-24FF-1591-4DE53B63C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FF3CFD-8EAC-1DC7-72D2-13E6C318F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6698D-5FCB-7FC7-1657-BF9A36B76E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50700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1374F-F721-97BD-04B3-746805FF4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E49F65-2B0A-8857-BB34-DD2C6D423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17EA76-7B59-FC43-0202-C48CB0AFD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8CBC5-A658-A09E-9A90-158FB5D986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7944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54043-F38C-6C3A-522F-0449FF823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2E7E80-ADA5-CAA2-7B08-E7CD459EE1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A34DCF-2384-9EC9-0F7A-EFA4ED4BF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721EF-E94A-0CA7-3C6A-C7B7B4A368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5700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1BE81-7DD5-41C1-94AD-56082E4F7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F929F6-C1A4-8ECA-83DC-A99BFC1825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4C3259-B1D2-E0AC-A701-493E81888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9CBEB-78F1-23EE-02B3-E5E0F818EB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64114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2E1C88-3939-4832-BAAB-091D6FA96EB5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6341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464567" y="3085765"/>
            <a:ext cx="11262866" cy="3304800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58000">
                <a:schemeClr val="accent2">
                  <a:lumMod val="7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9226" y="1020431"/>
            <a:ext cx="10993549" cy="1475013"/>
          </a:xfrm>
          <a:effectLst/>
        </p:spPr>
        <p:txBody>
          <a:bodyPr rtlCol="0" anchor="ctr" anchorCtr="0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20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7A78F742-61F2-4FBD-B743-761C8864724A}" type="datetime8">
              <a:rPr lang="en-GB" noProof="0" smtClean="0"/>
              <a:t>31/08/2025 21:42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5C3056E-1632-4A65-A24F-3F10A1450A6E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68848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C994CB-2BC6-164B-80D4-304B4CB6D8C3}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445982" y="606554"/>
            <a:ext cx="11300036" cy="125882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60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4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047E1E8-52C1-4CF6-8E50-E4E6A81E9407}" type="datetime8">
              <a:rPr lang="en-GB" noProof="0" smtClean="0"/>
              <a:t>31/08/2025 21:42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C5C3056E-1632-4A65-A24F-3F10A1450A6E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BE0FDB-DB48-E242-8A1F-5B06F79B4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 anchorCtr="0">
            <a:normAutofit/>
          </a:bodyPr>
          <a:lstStyle>
            <a:lvl1pPr algn="ctr">
              <a:defRPr sz="40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46653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5655714" cy="524439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65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5292" y="773724"/>
            <a:ext cx="5315516" cy="4958862"/>
          </a:xfrm>
        </p:spPr>
        <p:txBody>
          <a:bodyPr rtlCol="0" anchor="ctr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81192" y="773724"/>
            <a:ext cx="5388785" cy="4958862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D08601-CFEC-4BE2-87AD-1550934A45D3}" type="datetime8">
              <a:rPr lang="en-GB" noProof="0" smtClean="0"/>
              <a:t>31/08/2025 21:42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C5C3056E-1632-4A65-A24F-3F10A1450A6E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37820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 bwMode="white">
          <a:xfrm>
            <a:off x="447817" y="5141974"/>
            <a:ext cx="11290860" cy="1258827"/>
          </a:xfrm>
          <a:prstGeom prst="rect">
            <a:avLst/>
          </a:prstGeom>
          <a:gradFill flip="none" rotWithShape="1">
            <a:gsLst>
              <a:gs pos="100000">
                <a:srgbClr val="903163"/>
              </a:gs>
              <a:gs pos="60000">
                <a:schemeClr val="accent1">
                  <a:lumMod val="95000"/>
                  <a:lumOff val="5000"/>
                </a:schemeClr>
              </a:gs>
              <a:gs pos="1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313E7AC-0A89-4AE3-945A-C41498967886}" type="datetime8">
              <a:rPr lang="en-GB" noProof="0" smtClean="0"/>
              <a:t>31/08/2025 21:42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5C3056E-1632-4A65-A24F-3F10A1450A6E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9244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 bwMode="white">
          <a:xfrm>
            <a:off x="445982" y="606554"/>
            <a:ext cx="11300036" cy="125882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60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 anchorCtr="0">
            <a:normAutofit/>
          </a:bodyPr>
          <a:lstStyle>
            <a:lvl1pPr algn="ctr">
              <a:defRPr sz="40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AA70CA8-7103-4BDE-AFB1-E1448C9A38DF}" type="datetime8">
              <a:rPr lang="en-GB" noProof="0" smtClean="0"/>
              <a:t>31/08/2025 21:42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5C3056E-1632-4A65-A24F-3F10A1450A6E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36966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 bwMode="white">
          <a:xfrm>
            <a:off x="445982" y="606554"/>
            <a:ext cx="11300036" cy="125882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60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 anchorCtr="0">
            <a:normAutofit/>
          </a:bodyPr>
          <a:lstStyle>
            <a:lvl1pPr algn="ctr">
              <a:defRPr sz="40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77396" y="2023139"/>
            <a:ext cx="3198328" cy="536005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81194" y="2714624"/>
            <a:ext cx="3378403" cy="3194051"/>
          </a:xfrm>
        </p:spPr>
        <p:txBody>
          <a:bodyPr rtlCol="0" anchor="t"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fld id="{BE91ABD0-E850-4988-B093-1434C1973204}" type="datetime8">
              <a:rPr lang="en-GB" noProof="0" smtClean="0"/>
              <a:t>31/08/2025 21:42</a:t>
            </a:fld>
            <a:endParaRPr lang="en-GB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D289ABA-BA71-41AF-AA30-58CB8F426F6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145430" y="2714624"/>
            <a:ext cx="3378403" cy="3194051"/>
          </a:xfrm>
        </p:spPr>
        <p:txBody>
          <a:bodyPr rtlCol="0" anchor="t"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fld id="{C5C3056E-1632-4A65-A24F-3F10A1450A6E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06DFC81-3912-4844-B25C-E1D7CBCD80A0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00414" y="2714624"/>
            <a:ext cx="3378403" cy="3194051"/>
          </a:xfrm>
        </p:spPr>
        <p:txBody>
          <a:bodyPr rtlCol="0" anchor="t"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1556C46-FD2A-4916-B30C-DB066CAEA471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852" y="2023139"/>
            <a:ext cx="3198328" cy="536005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328988-0888-4C1A-8F73-17D455B6F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80115" y="2714625"/>
            <a:ext cx="0" cy="3194051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81892BA-72AB-4029-BF58-4D6F90C43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62123" y="2714625"/>
            <a:ext cx="0" cy="3194051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E232301-6803-418F-8637-ABBAC64416D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496836" y="2023139"/>
            <a:ext cx="3198328" cy="536005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1190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 bwMode="white">
          <a:xfrm>
            <a:off x="445982" y="606554"/>
            <a:ext cx="11300036" cy="125882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60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 anchorCtr="0">
            <a:normAutofit/>
          </a:bodyPr>
          <a:lstStyle>
            <a:lvl1pPr algn="ctr">
              <a:defRPr sz="40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81193" y="2250892"/>
            <a:ext cx="5393102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17707" y="2250892"/>
            <a:ext cx="5393102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fld id="{38F7A71A-475B-4E9B-84F2-DFC406A3A06F}" type="datetime8">
              <a:rPr lang="en-GB" noProof="0" smtClean="0"/>
              <a:t>31/08/2025 21:42</a:t>
            </a:fld>
            <a:endParaRPr lang="en-GB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fld id="{C5C3056E-1632-4A65-A24F-3F10A1450A6E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16690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 bwMode="white">
          <a:xfrm>
            <a:off x="440683" y="606554"/>
            <a:ext cx="11300036" cy="125882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60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FDCD6C7-E4EE-4F90-96F6-3EFFFF399AE7}" type="datetime8">
              <a:rPr lang="en-GB" noProof="0" smtClean="0"/>
              <a:t>31/08/2025 21:42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5C3056E-1632-4A65-A24F-3F10A1450A6E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CEC16FA-81A4-6F41-9FCE-6262A4533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 anchorCtr="0">
            <a:normAutofit/>
          </a:bodyPr>
          <a:lstStyle>
            <a:lvl1pPr algn="ctr">
              <a:defRPr sz="40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45445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fld id="{CA6BB528-6198-45A4-8D5E-6DD94DE6646F}" type="datetime8">
              <a:rPr lang="en-GB" noProof="0" smtClean="0"/>
              <a:t>31/08/2025 21:42</a:t>
            </a:fld>
            <a:endParaRPr lang="en-GB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pPr rtl="0"/>
            <a:fld id="{C5C3056E-1632-4A65-A24F-3F10A1450A6E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BB0525-CFF9-4A39-B5EA-579253994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5869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 bwMode="white">
          <a:xfrm>
            <a:off x="447817" y="5141973"/>
            <a:ext cx="11298200" cy="127470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59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t" anchorCtr="0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835C5EB1-7A73-4E93-BA6A-2BFECF8E86DE}" type="datetime8">
              <a:rPr lang="en-GB" noProof="0" smtClean="0"/>
              <a:t>31/08/2025 21:42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C5C3056E-1632-4A65-A24F-3F10A1450A6E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16972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D714BA3-99F4-4C00-B895-1AFEE58ECBA1}" type="datetime8">
              <a:rPr lang="en-GB" noProof="0" smtClean="0"/>
              <a:t>31/08/2025 21:42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5C3056E-1632-4A65-A24F-3F10A1450A6E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69210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gradFill flip="none"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04F017CE-065A-4C2C-9C15-92CA7F8C3661}" type="datetime8">
              <a:rPr lang="en-GB" noProof="0" smtClean="0"/>
              <a:t>31/08/2025 21:42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C5C3056E-1632-4A65-A24F-3F10A1450A6E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7073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63" r:id="rId4"/>
    <p:sldLayoutId id="2147483664" r:id="rId5"/>
    <p:sldLayoutId id="2147483665" r:id="rId6"/>
    <p:sldLayoutId id="2147483673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jelix.com/data/qualitative-data-visualization/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60000"/>
                <a:lumOff val="40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9EA0F-FD88-464F-99D9-0E151D11E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39" y="1321988"/>
            <a:ext cx="11029615" cy="1497507"/>
          </a:xfrm>
        </p:spPr>
        <p:txBody>
          <a:bodyPr rtlCol="0" anchor="b">
            <a:normAutofit/>
          </a:bodyPr>
          <a:lstStyle/>
          <a:p>
            <a:pPr rtl="0"/>
            <a:r>
              <a:rPr lang="en-GB" dirty="0"/>
              <a:t>Semester Two - Week 2: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32A20C-8823-4E5C-BF21-C75BA56E76DE}"/>
              </a:ext>
            </a:extLst>
          </p:cNvPr>
          <p:cNvSpPr>
            <a:spLocks noGrp="1"/>
          </p:cNvSpPr>
          <p:nvPr>
            <p:ph type="body" idx="1"/>
          </p:nvPr>
        </p:nvSpPr>
        <p:spPr bwMode="black">
          <a:xfrm>
            <a:off x="581193" y="3515096"/>
            <a:ext cx="6496502" cy="1626877"/>
          </a:xfrm>
        </p:spPr>
        <p:txBody>
          <a:bodyPr rtlCol="0" anchor="t">
            <a:noAutofit/>
          </a:bodyPr>
          <a:lstStyle/>
          <a:p>
            <a:pPr rtl="0">
              <a:spcAft>
                <a:spcPts val="3000"/>
              </a:spcAft>
            </a:pPr>
            <a:r>
              <a:rPr lang="en-US" sz="2800" cap="none" dirty="0"/>
              <a:t>Designing the Data Collection Methods for Qualitative and Quantitative Research</a:t>
            </a:r>
            <a:endParaRPr lang="en-GB" sz="2800" cap="none" dirty="0"/>
          </a:p>
        </p:txBody>
      </p:sp>
    </p:spTree>
    <p:extLst>
      <p:ext uri="{BB962C8B-B14F-4D97-AF65-F5344CB8AC3E}">
        <p14:creationId xmlns:p14="http://schemas.microsoft.com/office/powerpoint/2010/main" val="1806037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60000"/>
                <a:lumOff val="40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Teacher">
            <a:extLst>
              <a:ext uri="{FF2B5EF4-FFF2-40B4-BE49-F238E27FC236}">
                <a16:creationId xmlns:a16="http://schemas.microsoft.com/office/drawing/2014/main" id="{5614277E-CACC-4F9D-8C27-FB73FCBFB4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925" y="633056"/>
            <a:ext cx="1152000" cy="1152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13C35-702B-4BCE-824F-AAADB3090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172803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n-US" sz="2400" dirty="0"/>
              <a:t>In research, a data collection method is used to gather valuable insights from respondents. </a:t>
            </a:r>
          </a:p>
          <a:p>
            <a:pPr rtl="0"/>
            <a:r>
              <a:rPr lang="en-US" sz="2400" dirty="0"/>
              <a:t>There are several ways to collect primary data in IT studies, making the process adaptable to different needs, including: </a:t>
            </a:r>
          </a:p>
          <a:p>
            <a:pPr lvl="1"/>
            <a:r>
              <a:rPr lang="en-US" sz="2400" dirty="0"/>
              <a:t>questionnaires, </a:t>
            </a:r>
            <a:endParaRPr lang="en-GB" sz="2400" dirty="0"/>
          </a:p>
          <a:p>
            <a:pPr lvl="1"/>
            <a:r>
              <a:rPr lang="en-US" sz="2400" dirty="0"/>
              <a:t>interviews (face-to-face, telephone, or online), </a:t>
            </a:r>
            <a:endParaRPr lang="en-GB" sz="2400" dirty="0"/>
          </a:p>
          <a:p>
            <a:pPr lvl="1"/>
            <a:r>
              <a:rPr lang="en-US" sz="2400" dirty="0"/>
              <a:t>focus groups, </a:t>
            </a:r>
            <a:endParaRPr lang="en-GB" sz="2400" dirty="0"/>
          </a:p>
          <a:p>
            <a:pPr lvl="1"/>
            <a:r>
              <a:rPr lang="en-US" sz="2400" dirty="0"/>
              <a:t>controlled experiments,</a:t>
            </a:r>
            <a:endParaRPr lang="en-GB" sz="2400" dirty="0"/>
          </a:p>
          <a:p>
            <a:pPr lvl="1"/>
            <a:r>
              <a:rPr lang="en-US" sz="2400" dirty="0"/>
              <a:t>and observation formats, depending on what fits the research approach. </a:t>
            </a:r>
            <a:endParaRPr lang="en-GB" sz="2400" dirty="0"/>
          </a:p>
          <a:p>
            <a:pPr rtl="0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93C0E1-1796-41B4-AF64-2A823C4C8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5925" y="729658"/>
            <a:ext cx="8878275" cy="988332"/>
          </a:xfrm>
        </p:spPr>
        <p:txBody>
          <a:bodyPr rtlCol="0">
            <a:normAutofit fontScale="90000"/>
          </a:bodyPr>
          <a:lstStyle/>
          <a:p>
            <a:pPr rtl="0"/>
            <a:r>
              <a:rPr lang="en-US" dirty="0"/>
              <a:t>A.	Introduction to Data Collection Methods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803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60000"/>
                <a:lumOff val="40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9EA133-4FC0-3B6F-69B4-038B80563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D9C4A-E78A-062F-4561-38163E59D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/>
            <a:r>
              <a:rPr lang="en-US" sz="3700"/>
              <a:t>A.	Introduction to Data Collection Methods</a:t>
            </a:r>
            <a:endParaRPr lang="en-GB" sz="3700"/>
          </a:p>
        </p:txBody>
      </p:sp>
      <p:pic>
        <p:nvPicPr>
          <p:cNvPr id="4" name="Graphic 3" descr="Teacher">
            <a:extLst>
              <a:ext uri="{FF2B5EF4-FFF2-40B4-BE49-F238E27FC236}">
                <a16:creationId xmlns:a16="http://schemas.microsoft.com/office/drawing/2014/main" id="{D92C7E96-6D4D-30C9-9F10-08DAD04010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75864" y="2228003"/>
            <a:ext cx="3633047" cy="363304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914C8-3C5F-69C8-8902-0DE307CA4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 anchor="t">
            <a:noAutofit/>
          </a:bodyPr>
          <a:lstStyle/>
          <a:p>
            <a:r>
              <a:rPr lang="en-US" sz="2400" dirty="0"/>
              <a:t>The design of these methods affects the quality and usefulness of the data collected. </a:t>
            </a:r>
          </a:p>
          <a:p>
            <a:r>
              <a:rPr lang="en-US" sz="2400" dirty="0"/>
              <a:t>A well-crafted data collection method should match the research goals and suit the research type. </a:t>
            </a:r>
          </a:p>
          <a:p>
            <a:r>
              <a:rPr lang="en-US" sz="2400" dirty="0"/>
              <a:t>The design process can vary, especially depending on whether you focus on a quantitative or qualitative approach. </a:t>
            </a:r>
            <a:endParaRPr lang="en-GB" sz="2400" dirty="0"/>
          </a:p>
          <a:p>
            <a:pPr rtl="0"/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338609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7AA8-036D-4F28-96BA-A52B66A3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en-GB" dirty="0"/>
              <a:t>B.	Quantitative versus Qualitative Data Collection Methods</a:t>
            </a:r>
          </a:p>
        </p:txBody>
      </p:sp>
      <p:pic>
        <p:nvPicPr>
          <p:cNvPr id="5" name="Graphic 4" descr="Checklist">
            <a:extLst>
              <a:ext uri="{FF2B5EF4-FFF2-40B4-BE49-F238E27FC236}">
                <a16:creationId xmlns:a16="http://schemas.microsoft.com/office/drawing/2014/main" id="{DEF978AA-586E-4790-8E74-51E8F5CE4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192" y="751856"/>
            <a:ext cx="914400" cy="914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3E6858-E821-48EF-BDE3-FC52AD7D94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4900" y="2166267"/>
            <a:ext cx="7442200" cy="41789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149E1D-1B95-7253-EEEA-EBF793B08665}"/>
              </a:ext>
            </a:extLst>
          </p:cNvPr>
          <p:cNvSpPr txBox="1"/>
          <p:nvPr/>
        </p:nvSpPr>
        <p:spPr>
          <a:xfrm>
            <a:off x="3479800" y="634523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Credit: </a:t>
            </a:r>
            <a:r>
              <a:rPr lang="en-GB" dirty="0">
                <a:hlinkClick r:id="rId6"/>
              </a:rPr>
              <a:t>https://ajelix.com/data/qualitative-data-visualization/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1083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C91BA-6A80-A2B2-483A-1B4296101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9D62B-51CF-7B2C-7B5C-C4706144D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US" sz="2000" dirty="0"/>
              <a:t>It is really helpful to understand the basic differences between quantitative and qualitative methods. </a:t>
            </a:r>
          </a:p>
          <a:p>
            <a:pPr rtl="0"/>
            <a:r>
              <a:rPr lang="en-US" sz="2000" dirty="0"/>
              <a:t>Quantitative methods are effective for measuring patterns, frequencies, and the relationships between variables. </a:t>
            </a:r>
          </a:p>
          <a:p>
            <a:pPr rtl="0"/>
            <a:r>
              <a:rPr lang="en-US" sz="2000" dirty="0"/>
              <a:t>They usually have a clear, organised structure with closed-ended questions and response scales, such as Likert items. </a:t>
            </a:r>
          </a:p>
          <a:p>
            <a:pPr rtl="0"/>
            <a:r>
              <a:rPr lang="en-US" sz="2000" dirty="0"/>
              <a:t>The data gathered is numerical and analysed using statistical methods, making it easier to find meaningful insights.</a:t>
            </a:r>
            <a:endParaRPr lang="en-GB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DCE61A-4802-CF36-6EF3-4812ADF2C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en-GB" dirty="0"/>
              <a:t>B.	Quantitative versus Qualitative Data Collection Methods</a:t>
            </a:r>
          </a:p>
        </p:txBody>
      </p:sp>
      <p:pic>
        <p:nvPicPr>
          <p:cNvPr id="5" name="Graphic 4" descr="Checklist">
            <a:extLst>
              <a:ext uri="{FF2B5EF4-FFF2-40B4-BE49-F238E27FC236}">
                <a16:creationId xmlns:a16="http://schemas.microsoft.com/office/drawing/2014/main" id="{19A35695-1E9A-A717-8A37-6F37202555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192" y="751856"/>
            <a:ext cx="914400" cy="914400"/>
          </a:xfrm>
          <a:prstGeom prst="rect">
            <a:avLst/>
          </a:prstGeom>
        </p:spPr>
      </p:pic>
      <p:pic>
        <p:nvPicPr>
          <p:cNvPr id="1026" name="Picture 2" descr="Likert scale: How to use the popular ...">
            <a:extLst>
              <a:ext uri="{FF2B5EF4-FFF2-40B4-BE49-F238E27FC236}">
                <a16:creationId xmlns:a16="http://schemas.microsoft.com/office/drawing/2014/main" id="{EA0F27B5-79FC-999B-3F7A-2E45D185A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1230" y="4746755"/>
            <a:ext cx="5189539" cy="2224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D4769F-33E4-2C24-59F3-229F2D48F5B4}"/>
              </a:ext>
            </a:extLst>
          </p:cNvPr>
          <p:cNvSpPr txBox="1"/>
          <p:nvPr/>
        </p:nvSpPr>
        <p:spPr>
          <a:xfrm>
            <a:off x="8286401" y="6596390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Credit: https://www.cultureamp.com/blog/what-is-a-likert-scale</a:t>
            </a:r>
          </a:p>
        </p:txBody>
      </p:sp>
    </p:spTree>
    <p:extLst>
      <p:ext uri="{BB962C8B-B14F-4D97-AF65-F5344CB8AC3E}">
        <p14:creationId xmlns:p14="http://schemas.microsoft.com/office/powerpoint/2010/main" val="574754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FDD21-28FE-DC92-082A-17F0EA19C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4009F-E684-DFD5-41DC-FA9EDDC6C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US" sz="2000" dirty="0"/>
              <a:t>Qualitative methods are well-suited for exploring lived experiences, perspectives, and meanings. </a:t>
            </a:r>
          </a:p>
          <a:p>
            <a:pPr rtl="0"/>
            <a:r>
              <a:rPr lang="en-US" sz="2000" dirty="0"/>
              <a:t>They are more flexible and employ open-ended questions that invite detailed and thoughtful responses. </a:t>
            </a:r>
          </a:p>
          <a:p>
            <a:pPr rtl="0"/>
            <a:r>
              <a:rPr lang="en-US" sz="2000" dirty="0"/>
              <a:t>The resulting rich data is typically in text form and is often analysed through thematic or narrative approaches, facilitating the uncovering of deeper insights.</a:t>
            </a:r>
            <a:endParaRPr lang="en-GB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7CDC5-5219-6973-751F-17100C163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en-GB" dirty="0"/>
              <a:t>B.	Quantitative versus Qualitative Data Collection Methods</a:t>
            </a:r>
          </a:p>
        </p:txBody>
      </p:sp>
      <p:pic>
        <p:nvPicPr>
          <p:cNvPr id="5" name="Graphic 4" descr="Checklist">
            <a:extLst>
              <a:ext uri="{FF2B5EF4-FFF2-40B4-BE49-F238E27FC236}">
                <a16:creationId xmlns:a16="http://schemas.microsoft.com/office/drawing/2014/main" id="{410F03A1-7F4C-B1A0-899A-B6C43C6C72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192" y="75185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032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4F641-0AA4-46DF-B52D-011067E28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r>
              <a:rPr lang="en-GB" dirty="0"/>
              <a:t>B.	Quantitative versus Qualitative Data Collection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67446-11AA-4C25-B44F-42C94FDE4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231" y="2716835"/>
            <a:ext cx="3198328" cy="536005"/>
          </a:xfrm>
        </p:spPr>
        <p:txBody>
          <a:bodyPr rtlCol="0"/>
          <a:lstStyle/>
          <a:p>
            <a:pPr rtl="0"/>
            <a:r>
              <a:rPr lang="en-US" dirty="0"/>
              <a:t>E.g., a quantitative question might be: 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6B75F4-ECF0-452D-BB80-1416C7E14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4" y="3632200"/>
            <a:ext cx="3378403" cy="2276475"/>
          </a:xfrm>
        </p:spPr>
        <p:txBody>
          <a:bodyPr rtlCol="0"/>
          <a:lstStyle/>
          <a:p>
            <a:pPr marL="0" indent="0" algn="ctr" rtl="0">
              <a:buNone/>
            </a:pPr>
            <a:r>
              <a:rPr lang="en-US" dirty="0"/>
              <a:t>“On a scale of 1 to 5, how satisfied are you with this IT platform?” </a:t>
            </a:r>
            <a:endParaRPr lang="en-GB" dirty="0"/>
          </a:p>
        </p:txBody>
      </p:sp>
      <p:pic>
        <p:nvPicPr>
          <p:cNvPr id="9" name="Graphic 8" descr="Head with Gears">
            <a:extLst>
              <a:ext uri="{FF2B5EF4-FFF2-40B4-BE49-F238E27FC236}">
                <a16:creationId xmlns:a16="http://schemas.microsoft.com/office/drawing/2014/main" id="{753F3215-AE85-4BAC-BB66-27697DDC57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666" y="766624"/>
            <a:ext cx="972000" cy="972000"/>
          </a:xfrm>
          <a:prstGeom prst="rect">
            <a:avLst/>
          </a:prstGeom>
        </p:spPr>
      </p:pic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1D53338C-0789-5212-C35B-51E823ACCE0E}"/>
              </a:ext>
            </a:extLst>
          </p:cNvPr>
          <p:cNvSpPr txBox="1">
            <a:spLocks/>
          </p:cNvSpPr>
          <p:nvPr/>
        </p:nvSpPr>
        <p:spPr>
          <a:xfrm>
            <a:off x="4498173" y="2716836"/>
            <a:ext cx="3198328" cy="53600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4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E.g., a qualitative question might be: </a:t>
            </a:r>
            <a:endParaRPr lang="en-GB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36CA7D9B-37D5-0AE9-3602-EBB2249B5AB9}"/>
              </a:ext>
            </a:extLst>
          </p:cNvPr>
          <p:cNvSpPr txBox="1">
            <a:spLocks/>
          </p:cNvSpPr>
          <p:nvPr/>
        </p:nvSpPr>
        <p:spPr>
          <a:xfrm>
            <a:off x="4408136" y="3632201"/>
            <a:ext cx="3378403" cy="22764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“</a:t>
            </a:r>
            <a:r>
              <a:rPr lang="en-US" i="1" dirty="0"/>
              <a:t>Can you describe a time you felt satisfied or dissatisfied with using this IT platform? Tell me why?</a:t>
            </a:r>
            <a:r>
              <a:rPr lang="en-US" dirty="0"/>
              <a:t>”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7599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9C974-1FBD-45F1-9D81-5427101D1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482771"/>
          </a:xfrm>
        </p:spPr>
        <p:txBody>
          <a:bodyPr rtlCol="0"/>
          <a:lstStyle/>
          <a:p>
            <a:pPr rtl="0"/>
            <a:r>
              <a:rPr lang="en-US" sz="2000" dirty="0"/>
              <a:t>When you are working on either quantitative or qualitative research, some guiding principles can help with the design of data collection methods. These include:</a:t>
            </a:r>
          </a:p>
          <a:p>
            <a:pPr marL="594000" lvl="2" indent="0">
              <a:buNone/>
            </a:pPr>
            <a:r>
              <a:rPr lang="en-US" sz="1700" b="1" dirty="0"/>
              <a:t>I. Clarity: </a:t>
            </a:r>
            <a:r>
              <a:rPr lang="en-US" sz="1700" dirty="0"/>
              <a:t>Questions should be easy to understand and free from jargon. Respondents should interpret questions in the same way.</a:t>
            </a:r>
          </a:p>
          <a:p>
            <a:pPr marL="594000" lvl="2" indent="0">
              <a:buNone/>
            </a:pPr>
            <a:r>
              <a:rPr lang="en-US" sz="1700" b="1" dirty="0"/>
              <a:t>II. Relevance: </a:t>
            </a:r>
            <a:r>
              <a:rPr lang="en-US" sz="1700" dirty="0"/>
              <a:t>Each question should relate directly to the research objectives.</a:t>
            </a:r>
          </a:p>
          <a:p>
            <a:pPr marL="594000" lvl="2" indent="0">
              <a:buNone/>
            </a:pPr>
            <a:r>
              <a:rPr lang="en-US" sz="1700" b="1" dirty="0"/>
              <a:t>III. Sequencing: </a:t>
            </a:r>
            <a:r>
              <a:rPr lang="en-US" sz="1700" dirty="0"/>
              <a:t>Questions should follow a logical order, usually starting from general to more specific.</a:t>
            </a:r>
          </a:p>
          <a:p>
            <a:pPr marL="594000" lvl="2" indent="0">
              <a:buNone/>
            </a:pPr>
            <a:r>
              <a:rPr lang="en-US" sz="1700" b="1" dirty="0"/>
              <a:t>IV. Ethical Sensitivity: </a:t>
            </a:r>
            <a:r>
              <a:rPr lang="en-US" sz="1700" dirty="0"/>
              <a:t>Instruments must be designed in a way that respects respondents’ privacy and emotional comfort.</a:t>
            </a:r>
          </a:p>
          <a:p>
            <a:pPr marL="594000" lvl="2" indent="0">
              <a:buNone/>
            </a:pPr>
            <a:r>
              <a:rPr lang="en-US" sz="1700" b="1" dirty="0"/>
              <a:t>V. Cultural Appropriateness: </a:t>
            </a:r>
            <a:r>
              <a:rPr lang="en-US" sz="1700" dirty="0"/>
              <a:t>Language and content should be suitable for the context and audience.</a:t>
            </a:r>
          </a:p>
          <a:p>
            <a:pPr marL="594000" lvl="2" indent="0">
              <a:buNone/>
            </a:pPr>
            <a:r>
              <a:rPr lang="en-US" sz="1700" b="1" dirty="0"/>
              <a:t>VI. Pilot Testing: </a:t>
            </a:r>
            <a:r>
              <a:rPr lang="en-US" sz="1700" dirty="0"/>
              <a:t>Instruments should be pre-tested with a small sample to identify and correct any issues before full deployment.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51106-A246-4D28-94E0-0BCD20C76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562" y="751856"/>
            <a:ext cx="9942874" cy="988332"/>
          </a:xfrm>
        </p:spPr>
        <p:txBody>
          <a:bodyPr rtlCol="0">
            <a:normAutofit fontScale="90000"/>
          </a:bodyPr>
          <a:lstStyle/>
          <a:p>
            <a:pPr rtl="0"/>
            <a:r>
              <a:rPr lang="en-US" dirty="0"/>
              <a:t>C.	General Considerations for the Design of Data Collection Methods</a:t>
            </a:r>
            <a:endParaRPr lang="en-GB" dirty="0"/>
          </a:p>
        </p:txBody>
      </p:sp>
      <p:pic>
        <p:nvPicPr>
          <p:cNvPr id="5" name="Graphic 4" descr="Stopwatch">
            <a:extLst>
              <a:ext uri="{FF2B5EF4-FFF2-40B4-BE49-F238E27FC236}">
                <a16:creationId xmlns:a16="http://schemas.microsoft.com/office/drawing/2014/main" id="{EDECF593-A2F8-4D73-A987-C3F058D1F1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192" y="75185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282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94250-8D97-401F-A36C-5B5DB39DD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GB" sz="3100" dirty="0"/>
              <a:t>D.	Designing Quantitative Data Collection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55F7CC-C3DE-41F7-8BE1-39A9489FC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250892"/>
            <a:ext cx="11029615" cy="2388384"/>
          </a:xfrm>
        </p:spPr>
        <p:txBody>
          <a:bodyPr rtlCol="0" anchor="b">
            <a:normAutofit/>
          </a:bodyPr>
          <a:lstStyle/>
          <a:p>
            <a:pPr algn="ctr" rtl="0">
              <a:lnSpc>
                <a:spcPct val="90000"/>
              </a:lnSpc>
            </a:pPr>
            <a:r>
              <a:rPr lang="en-US" sz="2800" dirty="0"/>
              <a:t>When designing quantitative data collection methods, the key aim is to generate measurable, structured data that can be systematically analysed. </a:t>
            </a:r>
          </a:p>
          <a:p>
            <a:pPr algn="ctr" rtl="0">
              <a:lnSpc>
                <a:spcPct val="90000"/>
              </a:lnSpc>
            </a:pPr>
            <a:r>
              <a:rPr lang="en-US" sz="2800" dirty="0"/>
              <a:t>This involves creating questionnaires or other tools that gather consistent and comparable information from all participants.</a:t>
            </a:r>
            <a:endParaRPr lang="en-GB" sz="2800" dirty="0"/>
          </a:p>
        </p:txBody>
      </p:sp>
      <p:pic>
        <p:nvPicPr>
          <p:cNvPr id="5" name="Video 4" descr="Hand Drawn Floating Icons">
            <a:extLst>
              <a:ext uri="{FF2B5EF4-FFF2-40B4-BE49-F238E27FC236}">
                <a16:creationId xmlns:a16="http://schemas.microsoft.com/office/drawing/2014/main" id="{B6816F67-3E2D-74D5-6845-8DBC6E7027B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t="18850" b="15144"/>
          <a:stretch>
            <a:fillRect/>
          </a:stretch>
        </p:blipFill>
        <p:spPr>
          <a:xfrm>
            <a:off x="3399449" y="4766276"/>
            <a:ext cx="5393100" cy="200236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94075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6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94250-8D97-401F-A36C-5B5DB39DD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GB" sz="3100" dirty="0"/>
              <a:t>D.	Designing Quantitative Data Collection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55F7CC-C3DE-41F7-8BE1-39A9489FC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250891"/>
            <a:ext cx="11029615" cy="3989041"/>
          </a:xfrm>
        </p:spPr>
        <p:txBody>
          <a:bodyPr rtlCol="0" anchor="b">
            <a:normAutofit fontScale="92500"/>
          </a:bodyPr>
          <a:lstStyle/>
          <a:p>
            <a:pPr rtl="0">
              <a:lnSpc>
                <a:spcPct val="90000"/>
              </a:lnSpc>
            </a:pPr>
            <a:r>
              <a:rPr lang="en-US" sz="2800" b="1" dirty="0"/>
              <a:t>I.	Avoiding Complexity and Ambiguity</a:t>
            </a:r>
          </a:p>
          <a:p>
            <a:pPr rtl="0">
              <a:lnSpc>
                <a:spcPct val="90000"/>
              </a:lnSpc>
            </a:pPr>
            <a:r>
              <a:rPr lang="en-US" sz="2800" dirty="0"/>
              <a:t>Quantitative questions must be clear and specific to avoid misinterpretation. Vague or confusing questions result in unreliable data.</a:t>
            </a:r>
          </a:p>
          <a:p>
            <a:pPr rtl="0">
              <a:lnSpc>
                <a:spcPct val="90000"/>
              </a:lnSpc>
            </a:pPr>
            <a:r>
              <a:rPr lang="en-US" sz="2800" dirty="0"/>
              <a:t>So, instead of asking:</a:t>
            </a:r>
          </a:p>
          <a:p>
            <a:pPr rtl="0">
              <a:lnSpc>
                <a:spcPct val="90000"/>
              </a:lnSpc>
            </a:pPr>
            <a:r>
              <a:rPr lang="en-US" sz="2800" i="1" dirty="0"/>
              <a:t>	“How satisfied are you with the usability, latency, and data handling 	capabilities of your cloud-based development environment?”</a:t>
            </a:r>
          </a:p>
          <a:p>
            <a:pPr rtl="0">
              <a:lnSpc>
                <a:spcPct val="90000"/>
              </a:lnSpc>
            </a:pPr>
            <a:r>
              <a:rPr lang="en-US" sz="2800" dirty="0"/>
              <a:t>This question is too complex as it combines multiple technical concepts and assumes the respondent understands terms like latency and data handling capabilities.</a:t>
            </a:r>
          </a:p>
        </p:txBody>
      </p:sp>
    </p:spTree>
    <p:extLst>
      <p:ext uri="{BB962C8B-B14F-4D97-AF65-F5344CB8AC3E}">
        <p14:creationId xmlns:p14="http://schemas.microsoft.com/office/powerpoint/2010/main" val="1362301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F0BD5-5DB1-2283-2472-6839B3BA1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4F4F6-0083-EEEC-5783-548C5CFCE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GB" sz="3100" dirty="0"/>
              <a:t>D.	Designing Quantitative Data Collection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3D8FB-08EB-0C5B-A320-B36790ABD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250891"/>
            <a:ext cx="11029615" cy="3989041"/>
          </a:xfrm>
        </p:spPr>
        <p:txBody>
          <a:bodyPr rtlCol="0" anchor="b">
            <a:normAutofit lnSpcReduction="10000"/>
          </a:bodyPr>
          <a:lstStyle/>
          <a:p>
            <a:pPr rtl="0">
              <a:lnSpc>
                <a:spcPct val="90000"/>
              </a:lnSpc>
            </a:pPr>
            <a:r>
              <a:rPr lang="en-US" sz="2800" b="1" dirty="0"/>
              <a:t>I.	Avoiding Complexity and Ambiguity</a:t>
            </a:r>
          </a:p>
          <a:p>
            <a:pPr rtl="0">
              <a:lnSpc>
                <a:spcPct val="90000"/>
              </a:lnSpc>
            </a:pPr>
            <a:r>
              <a:rPr lang="en-US" sz="2800" dirty="0"/>
              <a:t>Improve it by breaking it down into separate, clear questions:</a:t>
            </a:r>
          </a:p>
          <a:p>
            <a:pPr lvl="1">
              <a:lnSpc>
                <a:spcPct val="90000"/>
              </a:lnSpc>
            </a:pPr>
            <a:r>
              <a:rPr lang="en-US" sz="2600" b="0" i="1" dirty="0"/>
              <a:t>a.	“How easy is it to use your cloud-based development environment?”</a:t>
            </a:r>
          </a:p>
          <a:p>
            <a:pPr lvl="1">
              <a:lnSpc>
                <a:spcPct val="90000"/>
              </a:lnSpc>
            </a:pPr>
            <a:r>
              <a:rPr lang="en-US" sz="2600" b="0" i="1" dirty="0"/>
              <a:t>b.	“How would you rate the speed (low delay or latency) of your cloud-based environment?”</a:t>
            </a:r>
          </a:p>
          <a:p>
            <a:pPr lvl="1">
              <a:lnSpc>
                <a:spcPct val="90000"/>
              </a:lnSpc>
            </a:pPr>
            <a:r>
              <a:rPr lang="en-US" sz="2600" b="0" i="1" dirty="0"/>
              <a:t>c.	“How satisfied are you with how your cloud-based platform manages data?”</a:t>
            </a:r>
          </a:p>
          <a:p>
            <a:pPr rtl="0">
              <a:lnSpc>
                <a:spcPct val="90000"/>
              </a:lnSpc>
            </a:pPr>
            <a:r>
              <a:rPr lang="en-US" sz="2800" dirty="0"/>
              <a:t>This version avoids technical confusion and allows respondents to give focused answers that are easier to interpret and analyse.</a:t>
            </a:r>
          </a:p>
        </p:txBody>
      </p:sp>
    </p:spTree>
    <p:extLst>
      <p:ext uri="{BB962C8B-B14F-4D97-AF65-F5344CB8AC3E}">
        <p14:creationId xmlns:p14="http://schemas.microsoft.com/office/powerpoint/2010/main" val="541119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1976E-A28B-28F2-90E0-1AA510587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0CC7D-6EAD-1809-F275-746BBB98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GB" sz="3100" dirty="0"/>
              <a:t>D.	Designing Quantitative Data Collection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81A2F0-B58A-622D-2A08-C33E13FD3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250891"/>
            <a:ext cx="11029615" cy="3989041"/>
          </a:xfrm>
        </p:spPr>
        <p:txBody>
          <a:bodyPr rtlCol="0" anchor="b">
            <a:normAutofit fontScale="92500"/>
          </a:bodyPr>
          <a:lstStyle/>
          <a:p>
            <a:pPr marL="571500" indent="-571500" rtl="0">
              <a:lnSpc>
                <a:spcPct val="90000"/>
              </a:lnSpc>
              <a:buAutoNum type="romanUcPeriod" startAt="2"/>
            </a:pPr>
            <a:r>
              <a:rPr lang="en-US" sz="2800" b="1" dirty="0"/>
              <a:t>Avoiding Double-</a:t>
            </a:r>
            <a:r>
              <a:rPr lang="en-US" sz="2800" b="1" dirty="0" err="1"/>
              <a:t>Barrelled</a:t>
            </a:r>
            <a:r>
              <a:rPr lang="en-US" sz="2800" b="1" dirty="0"/>
              <a:t> Questions</a:t>
            </a:r>
          </a:p>
          <a:p>
            <a:pPr rtl="0">
              <a:lnSpc>
                <a:spcPct val="90000"/>
              </a:lnSpc>
            </a:pPr>
            <a:r>
              <a:rPr lang="en-US" sz="2800" dirty="0"/>
              <a:t>Questions that ask about more than one issue at once make it difficult for respondents to answer clearly.</a:t>
            </a:r>
          </a:p>
          <a:p>
            <a:pPr rtl="0">
              <a:lnSpc>
                <a:spcPct val="90000"/>
              </a:lnSpc>
            </a:pPr>
            <a:r>
              <a:rPr lang="en-US" sz="2800" dirty="0"/>
              <a:t>Example:</a:t>
            </a:r>
          </a:p>
          <a:p>
            <a:pPr rtl="0">
              <a:lnSpc>
                <a:spcPct val="90000"/>
              </a:lnSpc>
            </a:pPr>
            <a:r>
              <a:rPr lang="en-US" sz="2800" i="1" dirty="0"/>
              <a:t>	“Do you agree that online learning is cost-effective and efficient?”</a:t>
            </a:r>
          </a:p>
          <a:p>
            <a:pPr rtl="0">
              <a:lnSpc>
                <a:spcPct val="90000"/>
              </a:lnSpc>
            </a:pPr>
            <a:r>
              <a:rPr lang="en-US" sz="2800" dirty="0"/>
              <a:t>This should be split into two separate items to get more accurate responses.</a:t>
            </a:r>
          </a:p>
          <a:p>
            <a:pPr rtl="0">
              <a:lnSpc>
                <a:spcPct val="90000"/>
              </a:lnSpc>
            </a:pPr>
            <a:r>
              <a:rPr lang="en-US" sz="2800" dirty="0"/>
              <a:t>a.	</a:t>
            </a:r>
            <a:r>
              <a:rPr lang="en-US" sz="2800" i="1" dirty="0"/>
              <a:t>“Do you agree that online learning is cost-effective?”</a:t>
            </a:r>
          </a:p>
          <a:p>
            <a:pPr rtl="0">
              <a:lnSpc>
                <a:spcPct val="90000"/>
              </a:lnSpc>
            </a:pPr>
            <a:r>
              <a:rPr lang="en-US" sz="2800" dirty="0"/>
              <a:t>b.</a:t>
            </a:r>
            <a:r>
              <a:rPr lang="en-US" sz="2800" i="1" dirty="0"/>
              <a:t>	“Do you agree that online learning is efficient?”</a:t>
            </a:r>
          </a:p>
        </p:txBody>
      </p:sp>
    </p:spTree>
    <p:extLst>
      <p:ext uri="{BB962C8B-B14F-4D97-AF65-F5344CB8AC3E}">
        <p14:creationId xmlns:p14="http://schemas.microsoft.com/office/powerpoint/2010/main" val="770333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A214C-7678-16CF-94D2-592AB706A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04ED9-C5AD-6EBF-A49E-BEA30792F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2296"/>
            <a:ext cx="11044751" cy="689514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GB" sz="3200" dirty="0"/>
              <a:t>D.	Designing Quantitative Data Collection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3AF685-5F9F-4EEC-9806-7AB0745A7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t">
            <a:normAutofit fontScale="92500" lnSpcReduction="10000"/>
          </a:bodyPr>
          <a:lstStyle/>
          <a:p>
            <a:pPr marL="0" indent="0" rtl="0">
              <a:buNone/>
            </a:pPr>
            <a:r>
              <a:rPr lang="en-US" b="1" dirty="0"/>
              <a:t>III.	Ensuring Exhaustiveness and Mutual Exclusivity</a:t>
            </a:r>
          </a:p>
          <a:p>
            <a:pPr marL="0" indent="0" rtl="0">
              <a:buNone/>
            </a:pPr>
            <a:r>
              <a:rPr lang="en-US" dirty="0"/>
              <a:t>Closed-ended response options should cover all possible answers (exhaustiveness) and should not overlap (mutual exclusivity).</a:t>
            </a:r>
          </a:p>
          <a:p>
            <a:pPr marL="0" indent="0" rtl="0">
              <a:buNone/>
            </a:pPr>
            <a:r>
              <a:rPr lang="en-US" dirty="0"/>
              <a:t>Example:</a:t>
            </a:r>
          </a:p>
          <a:p>
            <a:pPr marL="0" indent="0" rtl="0">
              <a:buNone/>
            </a:pPr>
            <a:r>
              <a:rPr lang="en-US" b="1" dirty="0"/>
              <a:t>A. Please indicate your ICT experience:</a:t>
            </a:r>
          </a:p>
          <a:p>
            <a:pPr marL="324000" lvl="1" indent="0">
              <a:buNone/>
            </a:pPr>
            <a:r>
              <a:rPr lang="en-US" dirty="0"/>
              <a:t>a.	Less than 1 year</a:t>
            </a:r>
          </a:p>
          <a:p>
            <a:pPr marL="324000" lvl="1" indent="0">
              <a:buNone/>
            </a:pPr>
            <a:r>
              <a:rPr lang="en-US" dirty="0"/>
              <a:t>b.	1–3 years</a:t>
            </a:r>
          </a:p>
          <a:p>
            <a:pPr marL="324000" lvl="1" indent="0">
              <a:buNone/>
            </a:pPr>
            <a:r>
              <a:rPr lang="en-US" dirty="0"/>
              <a:t>c.	3–5 years</a:t>
            </a:r>
          </a:p>
          <a:p>
            <a:pPr marL="324000" lvl="1" indent="0">
              <a:buNone/>
            </a:pPr>
            <a:r>
              <a:rPr lang="en-US" dirty="0"/>
              <a:t>d.	More than 5 years</a:t>
            </a:r>
          </a:p>
          <a:p>
            <a:pPr marL="0" indent="0" rtl="0">
              <a:buNone/>
            </a:pPr>
            <a:endParaRPr lang="en-US" dirty="0"/>
          </a:p>
          <a:p>
            <a:pPr marL="0" indent="0" rtl="0">
              <a:buNone/>
            </a:pPr>
            <a:r>
              <a:rPr lang="en-US" dirty="0"/>
              <a:t>Ensure that no two categories overlap, and all possible responses are included.</a:t>
            </a:r>
          </a:p>
        </p:txBody>
      </p:sp>
    </p:spTree>
    <p:extLst>
      <p:ext uri="{BB962C8B-B14F-4D97-AF65-F5344CB8AC3E}">
        <p14:creationId xmlns:p14="http://schemas.microsoft.com/office/powerpoint/2010/main" val="472987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2B4D2-E84F-0534-D44D-79363126A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5FF56-1CCD-CED4-D58F-E497A5307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2296"/>
            <a:ext cx="11044751" cy="689514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GB" sz="3200" dirty="0"/>
              <a:t>D.	Designing Quantitative Data Collection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7FEDD6-846F-7167-5ABD-97E536490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816" y="601199"/>
            <a:ext cx="11292840" cy="4461867"/>
          </a:xfrm>
        </p:spPr>
        <p:txBody>
          <a:bodyPr rtlCol="0" anchor="t"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 b="1" dirty="0"/>
              <a:t>IV.   Using Balanced and Consistent Scales</a:t>
            </a:r>
            <a:endParaRPr lang="en-GB" dirty="0"/>
          </a:p>
          <a:p>
            <a:pPr marL="0" indent="0" rtl="0">
              <a:buNone/>
            </a:pPr>
            <a:r>
              <a:rPr lang="en-US" dirty="0"/>
              <a:t>Likert-type items should consistently use the same scales throughout the instrument to prevent confusion. (A Likert scale is a widely used rating scale in surveys and questionnaires that measures people's attitudes, opinions, or perceptions towards a specific statement. It is named after </a:t>
            </a:r>
            <a:r>
              <a:rPr lang="en-US" dirty="0" err="1"/>
              <a:t>Rensis</a:t>
            </a:r>
            <a:r>
              <a:rPr lang="en-US" dirty="0"/>
              <a:t> Likert, the psychologist who developed it.)</a:t>
            </a:r>
          </a:p>
          <a:p>
            <a:pPr marL="0" indent="0" rtl="0">
              <a:buNone/>
            </a:pPr>
            <a:r>
              <a:rPr lang="en-US" dirty="0"/>
              <a:t>Example of a good Likert scale question:</a:t>
            </a:r>
          </a:p>
          <a:p>
            <a:pPr marL="0" indent="0" rtl="0">
              <a:buNone/>
            </a:pPr>
            <a:r>
              <a:rPr lang="en-US" b="1" dirty="0"/>
              <a:t>“Rate your agreement: ‘The learning management system is user-friendly.’”</a:t>
            </a:r>
          </a:p>
          <a:p>
            <a:pPr marL="0" indent="0" rtl="0">
              <a:buNone/>
            </a:pPr>
            <a:r>
              <a:rPr lang="en-US" dirty="0"/>
              <a:t>	a.	Strongly Disagree</a:t>
            </a:r>
          </a:p>
          <a:p>
            <a:pPr marL="0" indent="0" rtl="0">
              <a:buNone/>
            </a:pPr>
            <a:r>
              <a:rPr lang="en-US" dirty="0"/>
              <a:t>	b.	Disagree</a:t>
            </a:r>
          </a:p>
          <a:p>
            <a:pPr marL="0" indent="0" rtl="0">
              <a:buNone/>
            </a:pPr>
            <a:r>
              <a:rPr lang="en-US" dirty="0"/>
              <a:t>	c.	Neutral</a:t>
            </a:r>
          </a:p>
          <a:p>
            <a:pPr marL="0" indent="0" rtl="0">
              <a:buNone/>
            </a:pPr>
            <a:r>
              <a:rPr lang="en-US" dirty="0"/>
              <a:t>	d.	Agree</a:t>
            </a:r>
          </a:p>
          <a:p>
            <a:pPr marL="0" indent="0" rtl="0">
              <a:buNone/>
            </a:pPr>
            <a:r>
              <a:rPr lang="en-US" dirty="0"/>
              <a:t>	e.	Strongly Agree</a:t>
            </a:r>
          </a:p>
          <a:p>
            <a:pPr marL="0" indent="0" rtl="0">
              <a:buNone/>
            </a:pPr>
            <a:r>
              <a:rPr lang="en-US" dirty="0"/>
              <a:t>Maintain this same scale throughout the questionnaire to enhance reliability.</a:t>
            </a:r>
          </a:p>
        </p:txBody>
      </p:sp>
    </p:spTree>
    <p:extLst>
      <p:ext uri="{BB962C8B-B14F-4D97-AF65-F5344CB8AC3E}">
        <p14:creationId xmlns:p14="http://schemas.microsoft.com/office/powerpoint/2010/main" val="2810748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02CD6-47B9-F8FF-1ACB-4E26C2198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E8235-DD59-1382-7021-4D0C64B3E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5292" y="773724"/>
            <a:ext cx="5315516" cy="4958862"/>
          </a:xfrm>
        </p:spPr>
        <p:txBody>
          <a:bodyPr rtlCol="0"/>
          <a:lstStyle/>
          <a:p>
            <a:pPr rtl="0"/>
            <a:r>
              <a:rPr lang="en-GB" b="1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V.	Preventing Respondent Fatigue</a:t>
            </a:r>
            <a:br>
              <a:rPr lang="en-GB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GB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GB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cap="none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A long, repetitive, or poorly organised questionnaire can lead to incomplete answers or disengagement. </a:t>
            </a:r>
            <a:br>
              <a:rPr lang="en-US" cap="none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cap="none" dirty="0"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t>Only include questions directly linked to the research objectives.</a:t>
            </a:r>
            <a:endParaRPr lang="en-GB" dirty="0">
              <a:latin typeface="+mn-lt"/>
            </a:endParaRPr>
          </a:p>
        </p:txBody>
      </p:sp>
      <p:pic>
        <p:nvPicPr>
          <p:cNvPr id="6" name="Graphic 5" descr="Lightbulb">
            <a:extLst>
              <a:ext uri="{FF2B5EF4-FFF2-40B4-BE49-F238E27FC236}">
                <a16:creationId xmlns:a16="http://schemas.microsoft.com/office/drawing/2014/main" id="{AC1C5EF0-B7BB-4EF5-35EB-01906B7775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6900" y="1939155"/>
            <a:ext cx="2628000" cy="26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666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9E595-E749-2699-FC3A-B6614FF19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28B1C-07E2-D486-DF28-364430043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GB" sz="3100" dirty="0"/>
              <a:t>V.	Preventing Respondent Fatigue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C85CE0-A73A-F884-F930-A93854645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159001"/>
            <a:ext cx="11029615" cy="4080932"/>
          </a:xfrm>
        </p:spPr>
        <p:txBody>
          <a:bodyPr rtlCol="0" anchor="b">
            <a:normAutofit fontScale="77500" lnSpcReduction="20000"/>
          </a:bodyPr>
          <a:lstStyle/>
          <a:p>
            <a:r>
              <a:rPr lang="en-GB" sz="2300" b="1" dirty="0"/>
              <a:t>Example</a:t>
            </a:r>
            <a:r>
              <a:rPr lang="en-GB" sz="2300" dirty="0"/>
              <a:t>:</a:t>
            </a:r>
          </a:p>
          <a:p>
            <a:r>
              <a:rPr lang="en-GB" dirty="0"/>
              <a:t>Research objective: </a:t>
            </a:r>
            <a:r>
              <a:rPr lang="en-GB" i="1" dirty="0"/>
              <a:t>To investigate how often and how effectively ICT students use virtual lab environments in completing programming assignments.</a:t>
            </a:r>
          </a:p>
          <a:p>
            <a:r>
              <a:rPr lang="en-GB" b="1" dirty="0"/>
              <a:t>Problematic questionnaire design that may lead to fatigue:</a:t>
            </a:r>
            <a:endParaRPr lang="en-GB" dirty="0"/>
          </a:p>
          <a:p>
            <a:pPr marL="457200" lvl="0" indent="-457200">
              <a:buFont typeface="+mj-lt"/>
              <a:buAutoNum type="alphaLcParenR"/>
            </a:pPr>
            <a:r>
              <a:rPr lang="en-GB" dirty="0"/>
              <a:t>What is your age? </a:t>
            </a:r>
          </a:p>
          <a:p>
            <a:pPr marL="457200" lvl="0" indent="-457200">
              <a:buFont typeface="+mj-lt"/>
              <a:buAutoNum type="alphaLcParenR"/>
            </a:pPr>
            <a:r>
              <a:rPr lang="en-GB" dirty="0"/>
              <a:t>What is your marital status? </a:t>
            </a:r>
          </a:p>
          <a:p>
            <a:pPr marL="457200" lvl="0" indent="-457200">
              <a:buFont typeface="+mj-lt"/>
              <a:buAutoNum type="alphaLcParenR"/>
            </a:pPr>
            <a:r>
              <a:rPr lang="en-GB" dirty="0"/>
              <a:t>What is your parents' educational background? </a:t>
            </a:r>
          </a:p>
          <a:p>
            <a:pPr marL="457200" lvl="0" indent="-457200">
              <a:buFont typeface="+mj-lt"/>
              <a:buAutoNum type="alphaLcParenR"/>
            </a:pPr>
            <a:r>
              <a:rPr lang="en-GB" dirty="0"/>
              <a:t>What operating system do you use at home? </a:t>
            </a:r>
          </a:p>
          <a:p>
            <a:pPr marL="457200" lvl="0" indent="-457200">
              <a:buFont typeface="+mj-lt"/>
              <a:buAutoNum type="alphaLcParenR"/>
            </a:pPr>
            <a:r>
              <a:rPr lang="en-GB" dirty="0"/>
              <a:t>Do you use a smartphone? </a:t>
            </a:r>
          </a:p>
          <a:p>
            <a:pPr marL="457200" lvl="0" indent="-457200">
              <a:buFont typeface="+mj-lt"/>
              <a:buAutoNum type="alphaLcParenR"/>
            </a:pPr>
            <a:r>
              <a:rPr lang="en-GB" dirty="0"/>
              <a:t>Have you used the university's virtual lab environment before? </a:t>
            </a:r>
          </a:p>
          <a:p>
            <a:pPr marL="457200" lvl="0" indent="-457200">
              <a:buFont typeface="+mj-lt"/>
              <a:buAutoNum type="alphaLcParenR"/>
            </a:pPr>
            <a:r>
              <a:rPr lang="en-GB" dirty="0"/>
              <a:t>How often do you use the virtual lab? </a:t>
            </a:r>
          </a:p>
          <a:p>
            <a:pPr marL="457200" lvl="0" indent="-457200">
              <a:buFont typeface="+mj-lt"/>
              <a:buAutoNum type="alphaLcParenR"/>
            </a:pPr>
            <a:r>
              <a:rPr lang="en-GB" dirty="0"/>
              <a:t>What features of the virtual lab do you find most useful?</a:t>
            </a:r>
          </a:p>
        </p:txBody>
      </p:sp>
    </p:spTree>
    <p:extLst>
      <p:ext uri="{BB962C8B-B14F-4D97-AF65-F5344CB8AC3E}">
        <p14:creationId xmlns:p14="http://schemas.microsoft.com/office/powerpoint/2010/main" val="3307965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3579D-A371-DECC-2C49-F45385260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16ED3-E03C-070A-1425-893E696B6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GB" sz="3100" dirty="0"/>
              <a:t>V.	Preventing Respondent Fatigue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DD34D1-0EDC-44EE-3523-751565350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159001"/>
            <a:ext cx="11029615" cy="4080932"/>
          </a:xfrm>
        </p:spPr>
        <p:txBody>
          <a:bodyPr rtlCol="0" anchor="b">
            <a:normAutofit lnSpcReduction="10000"/>
          </a:bodyPr>
          <a:lstStyle/>
          <a:p>
            <a:r>
              <a:rPr lang="en-GB" sz="2300" b="1" dirty="0"/>
              <a:t>Example</a:t>
            </a:r>
            <a:r>
              <a:rPr lang="en-GB" sz="2300" dirty="0"/>
              <a:t>:</a:t>
            </a:r>
          </a:p>
          <a:p>
            <a:r>
              <a:rPr lang="en-GB" dirty="0"/>
              <a:t>Research objective: </a:t>
            </a:r>
            <a:r>
              <a:rPr lang="en-GB" i="1" dirty="0"/>
              <a:t>To investigate how often and how effectively ICT students use virtual lab environments in completing programming assignments.</a:t>
            </a:r>
          </a:p>
          <a:p>
            <a:r>
              <a:rPr lang="en-US" b="1" dirty="0"/>
              <a:t>Enhanced, targeted version (reduces fatigue):</a:t>
            </a:r>
            <a:endParaRPr lang="en-GB" dirty="0"/>
          </a:p>
          <a:p>
            <a:pPr marL="457200" lvl="0" indent="-457200">
              <a:buFont typeface="+mj-lt"/>
              <a:buAutoNum type="alphaLcParenR"/>
            </a:pPr>
            <a:r>
              <a:rPr lang="en-US" dirty="0"/>
              <a:t>Have you used the university's virtual lab environment for programming tasks?</a:t>
            </a:r>
          </a:p>
          <a:p>
            <a:pPr marL="457200" lvl="0" indent="-457200">
              <a:buFont typeface="+mj-lt"/>
              <a:buAutoNum type="alphaLcParenR"/>
            </a:pPr>
            <a:r>
              <a:rPr lang="en-US" dirty="0"/>
              <a:t>How often do you access the virtual lab in a typical week?</a:t>
            </a:r>
          </a:p>
          <a:p>
            <a:pPr marL="457200" lvl="0" indent="-457200">
              <a:buFont typeface="+mj-lt"/>
              <a:buAutoNum type="alphaLcParenR"/>
            </a:pPr>
            <a:r>
              <a:rPr lang="en-US" dirty="0"/>
              <a:t>What challenges do you face when using the virtual lab?</a:t>
            </a:r>
          </a:p>
          <a:p>
            <a:pPr marL="457200" lvl="0" indent="-457200">
              <a:buFont typeface="+mj-lt"/>
              <a:buAutoNum type="alphaLcParenR"/>
            </a:pPr>
            <a:r>
              <a:rPr lang="en-US" dirty="0"/>
              <a:t>Rate your satisfaction with the virtual lab's performance and usability.</a:t>
            </a:r>
          </a:p>
          <a:p>
            <a:pPr marL="457200" lvl="0" indent="-457200">
              <a:buFont typeface="+mj-lt"/>
              <a:buAutoNum type="alphaLcParenR"/>
            </a:pPr>
            <a:r>
              <a:rPr lang="en-US" dirty="0"/>
              <a:t>Which features do you find most beneficial for completing programming assignments?</a:t>
            </a:r>
          </a:p>
        </p:txBody>
      </p:sp>
    </p:spTree>
    <p:extLst>
      <p:ext uri="{BB962C8B-B14F-4D97-AF65-F5344CB8AC3E}">
        <p14:creationId xmlns:p14="http://schemas.microsoft.com/office/powerpoint/2010/main" val="4103667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0399D-1DB4-191A-3288-0B5B8FBF2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26A28-44A2-0D2C-6E76-1EE52EE28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3100" dirty="0"/>
              <a:t>VI.	Contribution to Data Analysis Plan</a:t>
            </a:r>
            <a:endParaRPr lang="en-GB" sz="3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14D59-C5E0-A60E-6813-BA28F987D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159001"/>
            <a:ext cx="11029615" cy="4080932"/>
          </a:xfrm>
        </p:spPr>
        <p:txBody>
          <a:bodyPr rtlCol="0" anchor="b">
            <a:normAutofit fontScale="92500" lnSpcReduction="10000"/>
          </a:bodyPr>
          <a:lstStyle/>
          <a:p>
            <a:r>
              <a:rPr lang="en-US" sz="2300" dirty="0"/>
              <a:t>Every question should align with the research objectives and be carefully chosen to contribute directly to the final data analysis.</a:t>
            </a:r>
          </a:p>
          <a:p>
            <a:r>
              <a:rPr lang="en-US" sz="2300" b="1" dirty="0"/>
              <a:t>Example:</a:t>
            </a:r>
          </a:p>
          <a:p>
            <a:r>
              <a:rPr lang="en-US" sz="2300" dirty="0"/>
              <a:t>If your objective is to examine the frequency of ICT tool usage, include questions like:</a:t>
            </a:r>
          </a:p>
          <a:p>
            <a:r>
              <a:rPr lang="en-US" sz="2300" b="1" dirty="0"/>
              <a:t>“How many hours per week do you use cloud-based collaboration tools (e.g., Google Docs, Microsoft Teams)?”</a:t>
            </a:r>
          </a:p>
          <a:p>
            <a:pPr marL="457200" indent="-457200">
              <a:buFont typeface="+mj-lt"/>
              <a:buAutoNum type="arabicPeriod"/>
              <a:tabLst>
                <a:tab pos="1346200" algn="l"/>
              </a:tabLst>
            </a:pPr>
            <a:r>
              <a:rPr lang="en-US" sz="2300" dirty="0"/>
              <a:t>0–2 hours</a:t>
            </a:r>
          </a:p>
          <a:p>
            <a:pPr marL="457200" indent="-457200">
              <a:buFont typeface="+mj-lt"/>
              <a:buAutoNum type="arabicPeriod"/>
              <a:tabLst>
                <a:tab pos="1346200" algn="l"/>
              </a:tabLst>
            </a:pPr>
            <a:r>
              <a:rPr lang="en-US" sz="2300" dirty="0"/>
              <a:t>3–5 hours</a:t>
            </a:r>
          </a:p>
          <a:p>
            <a:pPr marL="457200" indent="-457200">
              <a:buFont typeface="+mj-lt"/>
              <a:buAutoNum type="arabicPeriod"/>
              <a:tabLst>
                <a:tab pos="1346200" algn="l"/>
              </a:tabLst>
            </a:pPr>
            <a:r>
              <a:rPr lang="en-US" sz="2300" dirty="0"/>
              <a:t>6–10 hours</a:t>
            </a:r>
          </a:p>
          <a:p>
            <a:pPr marL="457200" indent="-457200">
              <a:buFont typeface="+mj-lt"/>
              <a:buAutoNum type="arabicPeriod"/>
              <a:tabLst>
                <a:tab pos="1346200" algn="l"/>
              </a:tabLst>
            </a:pPr>
            <a:r>
              <a:rPr lang="en-US" sz="2300" dirty="0"/>
              <a:t>More than 10 hours</a:t>
            </a:r>
          </a:p>
        </p:txBody>
      </p:sp>
    </p:spTree>
    <p:extLst>
      <p:ext uri="{BB962C8B-B14F-4D97-AF65-F5344CB8AC3E}">
        <p14:creationId xmlns:p14="http://schemas.microsoft.com/office/powerpoint/2010/main" val="1955575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42897-B503-707D-E721-03FE5AB78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437B4-C3B5-D092-52F7-D1E5A822E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3100" dirty="0"/>
              <a:t>VII.	</a:t>
            </a:r>
            <a:r>
              <a:rPr lang="en-US" sz="3100" dirty="0" err="1"/>
              <a:t>Standardising</a:t>
            </a:r>
            <a:r>
              <a:rPr lang="en-US" sz="3100" dirty="0"/>
              <a:t> Responses</a:t>
            </a:r>
            <a:endParaRPr lang="en-GB" sz="3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9CB579-A775-E52F-DFFE-5822B0A62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159001"/>
            <a:ext cx="11029615" cy="4080932"/>
          </a:xfrm>
        </p:spPr>
        <p:txBody>
          <a:bodyPr rtlCol="0" anchor="b">
            <a:normAutofit fontScale="92500" lnSpcReduction="10000"/>
          </a:bodyPr>
          <a:lstStyle/>
          <a:p>
            <a:r>
              <a:rPr lang="en-US" sz="2300" dirty="0"/>
              <a:t>Ensure common terms and scales are used to avoid confusion.</a:t>
            </a:r>
          </a:p>
          <a:p>
            <a:r>
              <a:rPr lang="en-US" sz="2300" b="1" dirty="0"/>
              <a:t>Example:</a:t>
            </a:r>
          </a:p>
          <a:p>
            <a:r>
              <a:rPr lang="en-US" sz="2300" dirty="0"/>
              <a:t>When asking about data consumption patterns, clearly define ranges:</a:t>
            </a:r>
          </a:p>
          <a:p>
            <a:r>
              <a:rPr lang="en-US" sz="2300" dirty="0"/>
              <a:t>“What is your monthly data usage?”</a:t>
            </a:r>
          </a:p>
          <a:p>
            <a:pPr marL="457200" indent="-457200">
              <a:buFont typeface="+mj-lt"/>
              <a:buAutoNum type="arabicPeriod"/>
              <a:tabLst>
                <a:tab pos="1346200" algn="l"/>
              </a:tabLst>
            </a:pPr>
            <a:r>
              <a:rPr lang="en-US" sz="2300" dirty="0"/>
              <a:t>Less than 2GB</a:t>
            </a:r>
          </a:p>
          <a:p>
            <a:pPr marL="457200" indent="-457200">
              <a:buFont typeface="+mj-lt"/>
              <a:buAutoNum type="arabicPeriod"/>
              <a:tabLst>
                <a:tab pos="1346200" algn="l"/>
              </a:tabLst>
            </a:pPr>
            <a:r>
              <a:rPr lang="en-US" sz="2300" dirty="0"/>
              <a:t>2–5GB</a:t>
            </a:r>
          </a:p>
          <a:p>
            <a:pPr marL="457200" indent="-457200">
              <a:buFont typeface="+mj-lt"/>
              <a:buAutoNum type="arabicPeriod"/>
              <a:tabLst>
                <a:tab pos="1346200" algn="l"/>
              </a:tabLst>
            </a:pPr>
            <a:r>
              <a:rPr lang="en-US" sz="2300" dirty="0"/>
              <a:t>6–10GB</a:t>
            </a:r>
          </a:p>
          <a:p>
            <a:pPr marL="457200" indent="-457200">
              <a:buFont typeface="+mj-lt"/>
              <a:buAutoNum type="arabicPeriod"/>
              <a:tabLst>
                <a:tab pos="1346200" algn="l"/>
              </a:tabLst>
            </a:pPr>
            <a:r>
              <a:rPr lang="en-US" sz="2300" dirty="0"/>
              <a:t>More than 10GB</a:t>
            </a:r>
          </a:p>
          <a:p>
            <a:r>
              <a:rPr lang="en-US" sz="2300" dirty="0"/>
              <a:t>This helps during statistical analysis, where standardised ranges support easy comparison.</a:t>
            </a:r>
          </a:p>
        </p:txBody>
      </p:sp>
    </p:spTree>
    <p:extLst>
      <p:ext uri="{BB962C8B-B14F-4D97-AF65-F5344CB8AC3E}">
        <p14:creationId xmlns:p14="http://schemas.microsoft.com/office/powerpoint/2010/main" val="894613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25000"/>
                <a:lumOff val="75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2723DA-EEAF-3D3B-EF03-4399D1BFA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5B12A-0318-3E91-93AB-D00E7BEFD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3100" dirty="0"/>
              <a:t>E.	Designing Qualitative Data Collection Methods</a:t>
            </a:r>
            <a:endParaRPr lang="en-GB" sz="3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55C8E6-0478-4C18-DB04-7AF9302D3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159001"/>
            <a:ext cx="11029615" cy="4080932"/>
          </a:xfrm>
        </p:spPr>
        <p:txBody>
          <a:bodyPr rtlCol="0" anchor="ctr">
            <a:normAutofit/>
          </a:bodyPr>
          <a:lstStyle/>
          <a:p>
            <a:r>
              <a:rPr lang="en-US" sz="2800" dirty="0"/>
              <a:t>When planning to gather qualitative data, researchers must shift their focus from fixed-response questions to open-ended formats that foster rich, detailed explanations. </a:t>
            </a:r>
          </a:p>
          <a:p>
            <a:r>
              <a:rPr lang="en-US" sz="2800" dirty="0"/>
              <a:t>Unlike quantitative methods, which measure frequency or magnitude, qualitative methods aim to understand experiences, perceptions, and meanings.</a:t>
            </a:r>
          </a:p>
        </p:txBody>
      </p:sp>
    </p:spTree>
    <p:extLst>
      <p:ext uri="{BB962C8B-B14F-4D97-AF65-F5344CB8AC3E}">
        <p14:creationId xmlns:p14="http://schemas.microsoft.com/office/powerpoint/2010/main" val="5381519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25000"/>
                <a:lumOff val="75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C60323-9316-A577-030A-F151AB460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5A0D2-463F-3809-1E8B-1A6FF5D8F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3100" dirty="0"/>
              <a:t>E.	Designing Qualitative Data Collection Methods</a:t>
            </a:r>
            <a:endParaRPr lang="en-GB" sz="3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11805F-828E-B445-E86C-8DDC8BA30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159000"/>
            <a:ext cx="12192000" cy="4473153"/>
          </a:xfrm>
        </p:spPr>
        <p:txBody>
          <a:bodyPr rtlCol="0" anchor="ctr">
            <a:normAutofit fontScale="85000" lnSpcReduction="10000"/>
          </a:bodyPr>
          <a:lstStyle/>
          <a:p>
            <a:pPr marL="571500" indent="-571500">
              <a:buAutoNum type="romanUcPeriod"/>
            </a:pPr>
            <a:r>
              <a:rPr lang="en-US" sz="2800" b="1" dirty="0"/>
              <a:t>Crafting Open-Ended Questions</a:t>
            </a:r>
          </a:p>
          <a:p>
            <a:r>
              <a:rPr lang="en-US" sz="2800" dirty="0"/>
              <a:t>Good qualitative questions begin with words like how, what, or why, and avoid yes/no answers. They are designed to explore rather than measure.</a:t>
            </a:r>
          </a:p>
          <a:p>
            <a:r>
              <a:rPr lang="en-US" sz="2800" b="1" dirty="0"/>
              <a:t>Example</a:t>
            </a:r>
            <a:r>
              <a:rPr lang="en-US" sz="2800" dirty="0"/>
              <a:t>:</a:t>
            </a:r>
          </a:p>
          <a:p>
            <a:r>
              <a:rPr lang="en-US" sz="2800" dirty="0"/>
              <a:t>Instead of asking:</a:t>
            </a:r>
          </a:p>
          <a:p>
            <a:r>
              <a:rPr lang="en-US" sz="2800" dirty="0"/>
              <a:t>	</a:t>
            </a:r>
            <a:r>
              <a:rPr lang="en-US" sz="2800" i="1" dirty="0"/>
              <a:t>“Do you like using Microsoft Teams for group work?”</a:t>
            </a:r>
          </a:p>
          <a:p>
            <a:r>
              <a:rPr lang="en-US" sz="2800" dirty="0"/>
              <a:t>(which would be closed), ask:</a:t>
            </a:r>
          </a:p>
          <a:p>
            <a:r>
              <a:rPr lang="en-US" sz="2800" dirty="0"/>
              <a:t>	</a:t>
            </a:r>
            <a:r>
              <a:rPr lang="en-US" sz="2800" i="1" dirty="0"/>
              <a:t>“How do you experience using Microsoft Teams for collaborating on group assignments?”</a:t>
            </a:r>
          </a:p>
          <a:p>
            <a:r>
              <a:rPr lang="en-US" sz="2800" dirty="0"/>
              <a:t>This allows the respondent to elaborate on their thoughts, challenges, benefits, and feelings.</a:t>
            </a:r>
          </a:p>
        </p:txBody>
      </p:sp>
    </p:spTree>
    <p:extLst>
      <p:ext uri="{BB962C8B-B14F-4D97-AF65-F5344CB8AC3E}">
        <p14:creationId xmlns:p14="http://schemas.microsoft.com/office/powerpoint/2010/main" val="3947572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25000"/>
                <a:lumOff val="75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7C02CC-9552-1E0D-BAB7-2F1B10084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86D45-7DCC-FA9D-D600-E83F014D8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3100" dirty="0"/>
              <a:t>E.	Designing Qualitative Data Collection Methods</a:t>
            </a:r>
            <a:endParaRPr lang="en-GB" sz="3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B53FC0-4FB9-0A81-5E12-ABA9CB7C5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159000"/>
            <a:ext cx="12192000" cy="4473153"/>
          </a:xfrm>
        </p:spPr>
        <p:txBody>
          <a:bodyPr rtlCol="0" anchor="ctr">
            <a:normAutofit fontScale="85000" lnSpcReduction="10000"/>
          </a:bodyPr>
          <a:lstStyle/>
          <a:p>
            <a:r>
              <a:rPr lang="en-US" sz="2800" b="1" dirty="0"/>
              <a:t>II.	Using Probes and Follow-Up Questions</a:t>
            </a:r>
          </a:p>
          <a:p>
            <a:r>
              <a:rPr lang="en-US" sz="2800" dirty="0"/>
              <a:t>One of the strengths of qualitative data collection, particularly in interviews and focus groups, is the ability to probe more deeply. This involves asking follow-up questions based on the participant’s initial response to gain a more comprehensive understanding.</a:t>
            </a:r>
          </a:p>
          <a:p>
            <a:r>
              <a:rPr lang="en-US" sz="2800" b="1" dirty="0"/>
              <a:t>Example</a:t>
            </a:r>
            <a:r>
              <a:rPr lang="en-US" sz="2800" dirty="0"/>
              <a:t>:</a:t>
            </a:r>
          </a:p>
          <a:p>
            <a:r>
              <a:rPr lang="en-US" sz="2800" dirty="0"/>
              <a:t>If a participant says:</a:t>
            </a:r>
          </a:p>
          <a:p>
            <a:r>
              <a:rPr lang="en-US" sz="2800" i="1" dirty="0"/>
              <a:t>	“I find online programming tutorials helpful.”</a:t>
            </a:r>
          </a:p>
          <a:p>
            <a:r>
              <a:rPr lang="en-US" sz="2800" dirty="0"/>
              <a:t>The researcher might follow up with:</a:t>
            </a:r>
          </a:p>
          <a:p>
            <a:r>
              <a:rPr lang="en-US" sz="2800" i="1" dirty="0"/>
              <a:t>	“Can you tell me more about what makes them helpful for you?”</a:t>
            </a:r>
          </a:p>
          <a:p>
            <a:r>
              <a:rPr lang="en-US" sz="2800" dirty="0"/>
              <a:t>This builds depth and clarity into the response.</a:t>
            </a:r>
          </a:p>
        </p:txBody>
      </p:sp>
    </p:spTree>
    <p:extLst>
      <p:ext uri="{BB962C8B-B14F-4D97-AF65-F5344CB8AC3E}">
        <p14:creationId xmlns:p14="http://schemas.microsoft.com/office/powerpoint/2010/main" val="2855793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25000"/>
                <a:lumOff val="75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7EF33D-4A05-FF10-347E-9C8A33E70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89C10-5FAB-6530-0FE5-1B60AD1EC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3100" dirty="0"/>
              <a:t>E.	Designing Qualitative Data Collection Methods</a:t>
            </a:r>
            <a:endParaRPr lang="en-GB" sz="3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6D6A11-4614-C751-5BF4-D9714E4C7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159000"/>
            <a:ext cx="12192000" cy="4473153"/>
          </a:xfrm>
        </p:spPr>
        <p:txBody>
          <a:bodyPr rtlCol="0" anchor="ctr">
            <a:normAutofit fontScale="85000" lnSpcReduction="10000"/>
          </a:bodyPr>
          <a:lstStyle/>
          <a:p>
            <a:r>
              <a:rPr lang="en-US" sz="2800" b="1" dirty="0"/>
              <a:t>III.	Maintaining a Neutral and Respectful Tone</a:t>
            </a:r>
          </a:p>
          <a:p>
            <a:r>
              <a:rPr lang="en-US" sz="2800" dirty="0"/>
              <a:t>It is essential that questions are non-leading, implying a specific answer. Participants should feel safe, respected, and free from judgment when expressing their views.</a:t>
            </a:r>
          </a:p>
          <a:p>
            <a:r>
              <a:rPr lang="en-US" sz="2800" b="1" dirty="0"/>
              <a:t>Leading question (to avoid):</a:t>
            </a:r>
          </a:p>
          <a:p>
            <a:r>
              <a:rPr lang="en-US" sz="2800" dirty="0"/>
              <a:t>	</a:t>
            </a:r>
            <a:r>
              <a:rPr lang="en-US" sz="2800" i="1" dirty="0"/>
              <a:t>“Don’t you think learning through simulations is more effective than traditional methods?”</a:t>
            </a:r>
          </a:p>
          <a:p>
            <a:r>
              <a:rPr lang="en-US" sz="2800" b="1" dirty="0"/>
              <a:t>Better version:</a:t>
            </a:r>
          </a:p>
          <a:p>
            <a:r>
              <a:rPr lang="en-US" sz="2800" i="1" dirty="0"/>
              <a:t>	“What are your thoughts on using simulations compared to traditional classroom learning in 	IT training?”</a:t>
            </a:r>
          </a:p>
          <a:p>
            <a:r>
              <a:rPr lang="en-US" sz="2800" dirty="0"/>
              <a:t>This approach invites multiple viewpoints rather than guiding the respondent toward a specific answer.</a:t>
            </a:r>
          </a:p>
        </p:txBody>
      </p:sp>
    </p:spTree>
    <p:extLst>
      <p:ext uri="{BB962C8B-B14F-4D97-AF65-F5344CB8AC3E}">
        <p14:creationId xmlns:p14="http://schemas.microsoft.com/office/powerpoint/2010/main" val="16473769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25000"/>
                <a:lumOff val="75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F1E633-DE41-B521-6394-D816318BE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DCE3-1EA4-03B4-F2B5-CD2E51257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3100" dirty="0"/>
              <a:t>E.	Designing Qualitative Data Collection Methods</a:t>
            </a:r>
            <a:endParaRPr lang="en-GB" sz="3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A63AE2-0530-6A86-F3AA-72C0287DA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175626"/>
            <a:ext cx="12192000" cy="4473153"/>
          </a:xfrm>
        </p:spPr>
        <p:txBody>
          <a:bodyPr rtlCol="0" anchor="ctr">
            <a:normAutofit fontScale="85000" lnSpcReduction="20000"/>
          </a:bodyPr>
          <a:lstStyle/>
          <a:p>
            <a:r>
              <a:rPr lang="en-US" sz="2800" b="1" dirty="0"/>
              <a:t>IV.	Using an Interview or Discussion Guide</a:t>
            </a:r>
          </a:p>
          <a:p>
            <a:r>
              <a:rPr lang="en-US" sz="2800" dirty="0"/>
              <a:t>A qualitative data collection method typically appears as an interview schedule or focus group guide, which comprises:</a:t>
            </a:r>
          </a:p>
          <a:p>
            <a:r>
              <a:rPr lang="en-US" sz="2800" dirty="0"/>
              <a:t>•	A short list of key themes or questions</a:t>
            </a:r>
          </a:p>
          <a:p>
            <a:r>
              <a:rPr lang="en-US" sz="2800" dirty="0"/>
              <a:t>•	Space for probes</a:t>
            </a:r>
          </a:p>
          <a:p>
            <a:r>
              <a:rPr lang="en-US" sz="2800" dirty="0"/>
              <a:t>•	Reminders about tone, ethical considerations, and consent</a:t>
            </a:r>
          </a:p>
          <a:p>
            <a:r>
              <a:rPr lang="en-US" sz="2800" b="1" dirty="0"/>
              <a:t>An interview guide for a study exploring mobile learning might include:</a:t>
            </a:r>
          </a:p>
          <a:p>
            <a:r>
              <a:rPr lang="en-US" sz="2800" dirty="0"/>
              <a:t>•	“Tell me about your experience using educational mobile apps.”</a:t>
            </a:r>
          </a:p>
          <a:p>
            <a:r>
              <a:rPr lang="en-US" sz="2800" dirty="0"/>
              <a:t>•	“What challenges have you faced when trying to learn with your phone?”</a:t>
            </a:r>
          </a:p>
          <a:p>
            <a:r>
              <a:rPr lang="en-US" sz="2800" dirty="0"/>
              <a:t>•	“In what ways do mobile apps support your IT coursework?”</a:t>
            </a:r>
          </a:p>
        </p:txBody>
      </p:sp>
    </p:spTree>
    <p:extLst>
      <p:ext uri="{BB962C8B-B14F-4D97-AF65-F5344CB8AC3E}">
        <p14:creationId xmlns:p14="http://schemas.microsoft.com/office/powerpoint/2010/main" val="35157253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25000"/>
                <a:lumOff val="75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625505-A381-3FCD-1940-9E7678E56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62E68-3466-92BD-FC6B-445B6152D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3100" dirty="0"/>
              <a:t>E.	Designing Qualitative Data Collection Methods</a:t>
            </a:r>
            <a:endParaRPr lang="en-GB" sz="3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FA82A-88A4-9A26-C52C-616258FA2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159000"/>
            <a:ext cx="12192000" cy="4473153"/>
          </a:xfrm>
        </p:spPr>
        <p:txBody>
          <a:bodyPr rtlCol="0" anchor="ctr">
            <a:normAutofit/>
          </a:bodyPr>
          <a:lstStyle/>
          <a:p>
            <a:r>
              <a:rPr lang="en-US" sz="2800" b="1" dirty="0"/>
              <a:t>V.	Ethical Sensitivity and Contextual Awareness</a:t>
            </a:r>
          </a:p>
          <a:p>
            <a:r>
              <a:rPr lang="en-US" sz="2800" dirty="0"/>
              <a:t>Participants should feel at ease discussing even sensitive topics, such as inequalities in access to technology or digital stress. Ensuring confidentiality and fostering a welcoming environment promote honest and valuable responses.</a:t>
            </a:r>
          </a:p>
          <a:p>
            <a:r>
              <a:rPr lang="en-US" sz="2800" b="1" dirty="0"/>
              <a:t>A participant in a rural area may be hesitant to discuss poor internet access. A good researcher might reassure them:</a:t>
            </a:r>
          </a:p>
          <a:p>
            <a:r>
              <a:rPr lang="en-US" sz="2800" dirty="0"/>
              <a:t>	</a:t>
            </a:r>
            <a:r>
              <a:rPr lang="en-US" sz="2800" i="1" dirty="0"/>
              <a:t>“There are no right or wrong answers. Your experience is important, and it 	helps us understand different realities.”</a:t>
            </a:r>
          </a:p>
        </p:txBody>
      </p:sp>
    </p:spTree>
    <p:extLst>
      <p:ext uri="{BB962C8B-B14F-4D97-AF65-F5344CB8AC3E}">
        <p14:creationId xmlns:p14="http://schemas.microsoft.com/office/powerpoint/2010/main" val="20901929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25000"/>
                <a:lumOff val="75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95DEB7-D67D-BEDD-F948-D4E5B42B3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3894A-2545-BF25-D13A-10477650C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3100" dirty="0"/>
              <a:t>E.	Designing Qualitative Data Collection Methods</a:t>
            </a:r>
            <a:endParaRPr lang="en-GB" sz="3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CF61F7-4AF8-9042-E4D8-9645221BF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159000"/>
            <a:ext cx="12192000" cy="4473153"/>
          </a:xfrm>
        </p:spPr>
        <p:txBody>
          <a:bodyPr rtlCol="0" anchor="ctr">
            <a:normAutofit/>
          </a:bodyPr>
          <a:lstStyle/>
          <a:p>
            <a:r>
              <a:rPr lang="en-US" sz="2800" b="1" dirty="0"/>
              <a:t>V.	Ethical Sensitivity and Contextual Awareness</a:t>
            </a:r>
          </a:p>
          <a:p>
            <a:r>
              <a:rPr lang="en-US" sz="2800" dirty="0"/>
              <a:t>Designing qualitative data collection tools is more of an art than a strict formula. </a:t>
            </a:r>
          </a:p>
          <a:p>
            <a:r>
              <a:rPr lang="en-US" sz="2800" dirty="0"/>
              <a:t>It involves creating space for individuals to share their stories and perspectives. </a:t>
            </a:r>
          </a:p>
          <a:p>
            <a:r>
              <a:rPr lang="en-US" sz="2800" dirty="0"/>
              <a:t>In the ICT field, qualitative methods can reveal how students interact with technology, perceive learning platforms, and navigate digital environments; insights that numbers alone cannot capture.</a:t>
            </a:r>
          </a:p>
          <a:p>
            <a:r>
              <a:rPr lang="en-US" sz="2800" dirty="0"/>
              <a:t>By carefully designing open, flexible, and empathetic questions, researchers can gather rich data that thoroughly illuminates their research topic.</a:t>
            </a:r>
          </a:p>
        </p:txBody>
      </p:sp>
    </p:spTree>
    <p:extLst>
      <p:ext uri="{BB962C8B-B14F-4D97-AF65-F5344CB8AC3E}">
        <p14:creationId xmlns:p14="http://schemas.microsoft.com/office/powerpoint/2010/main" val="14063664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D74ED-227C-A300-0F8B-B193C39C3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B5B20-6321-7540-AF50-0CAA34122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5292" y="773724"/>
            <a:ext cx="5315516" cy="4958862"/>
          </a:xfrm>
        </p:spPr>
        <p:txBody>
          <a:bodyPr rtlCol="0" anchor="ctr">
            <a:normAutofit/>
          </a:bodyPr>
          <a:lstStyle/>
          <a:p>
            <a:pPr rtl="0"/>
            <a:r>
              <a:rPr lang="en-US" dirty="0"/>
              <a:t>F.	Aligning Data Collection Methods with Research Design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C4EF6A-4A7F-5BB4-3CDB-CD033D9E0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773724"/>
            <a:ext cx="5388785" cy="4958862"/>
          </a:xfrm>
        </p:spPr>
        <p:txBody>
          <a:bodyPr rtlCol="0" anchor="t">
            <a:normAutofit/>
          </a:bodyPr>
          <a:lstStyle/>
          <a:p>
            <a:r>
              <a:rPr lang="en-US" sz="2300" dirty="0"/>
              <a:t>Ultimately, the choice and design of the data collection methods must align with the broader research paradigm. </a:t>
            </a:r>
          </a:p>
          <a:p>
            <a:r>
              <a:rPr lang="en-US" sz="2300" dirty="0"/>
              <a:t>Quantitative studies, which often seek </a:t>
            </a:r>
            <a:r>
              <a:rPr lang="en-US" sz="2300" dirty="0" err="1"/>
              <a:t>generalisability</a:t>
            </a:r>
            <a:r>
              <a:rPr lang="en-US" sz="2300" dirty="0"/>
              <a:t>, rely on structured data collection instruments suitable for large samples. </a:t>
            </a:r>
          </a:p>
          <a:p>
            <a:r>
              <a:rPr lang="en-US" sz="2300" dirty="0"/>
              <a:t>Qualitative studies, which seek depth and meaning, use flexible data collection instruments designed for rich data collection.</a:t>
            </a:r>
          </a:p>
        </p:txBody>
      </p:sp>
    </p:spTree>
    <p:extLst>
      <p:ext uri="{BB962C8B-B14F-4D97-AF65-F5344CB8AC3E}">
        <p14:creationId xmlns:p14="http://schemas.microsoft.com/office/powerpoint/2010/main" val="16701264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F6645-A8B8-50A9-5FD6-7661103DE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882BF-FCF4-C1C6-C55F-6E06F9A40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2296"/>
            <a:ext cx="11044751" cy="689514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3600" dirty="0"/>
              <a:t>G.	In conclusion</a:t>
            </a:r>
            <a:endParaRPr lang="en-GB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2019CF-3FE6-9BB9-A310-E1F1270A5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t">
            <a:normAutofit/>
          </a:bodyPr>
          <a:lstStyle/>
          <a:p>
            <a:r>
              <a:rPr lang="en-US" sz="3200" dirty="0"/>
              <a:t>This introductory session lays the foundation for understanding how the quality of a research instrument directly influences the quality of the data collected. </a:t>
            </a:r>
          </a:p>
          <a:p>
            <a:r>
              <a:rPr lang="en-US" sz="3200" dirty="0"/>
              <a:t>A thoughtful, well-constructed instrument is key to credible and meaningful research outcomes.</a:t>
            </a:r>
          </a:p>
          <a:p>
            <a:r>
              <a:rPr lang="en-US" sz="3200" dirty="0"/>
              <a:t>You are encouraged to review Chapters 9 and 10 of the course text by Kumar, which cover data collection in detail. </a:t>
            </a:r>
          </a:p>
        </p:txBody>
      </p:sp>
    </p:spTree>
    <p:extLst>
      <p:ext uri="{BB962C8B-B14F-4D97-AF65-F5344CB8AC3E}">
        <p14:creationId xmlns:p14="http://schemas.microsoft.com/office/powerpoint/2010/main" val="14589074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2D050"/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F00EC9B-79F8-4A58-B6CF-D855783541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768306"/>
              </p:ext>
            </p:extLst>
          </p:nvPr>
        </p:nvGraphicFramePr>
        <p:xfrm>
          <a:off x="466530" y="719666"/>
          <a:ext cx="11331893" cy="4234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1893">
                  <a:extLst>
                    <a:ext uri="{9D8B030D-6E8A-4147-A177-3AD203B41FA5}">
                      <a16:colId xmlns:a16="http://schemas.microsoft.com/office/drawing/2014/main" val="2307261631"/>
                    </a:ext>
                  </a:extLst>
                </a:gridCol>
              </a:tblGrid>
              <a:tr h="1059456">
                <a:tc>
                  <a:txBody>
                    <a:bodyPr/>
                    <a:lstStyle/>
                    <a:p>
                      <a:pPr algn="ctr" rtl="0"/>
                      <a:r>
                        <a:rPr lang="en-GB" sz="2800" b="0" noProof="0" dirty="0"/>
                        <a:t>Lower-Order MCQs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3221031"/>
                  </a:ext>
                </a:extLst>
              </a:tr>
              <a:tr h="130873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noProof="0" dirty="0"/>
                        <a:t>I.	What is the primary purpose of pilot testing a data collection instrument?</a:t>
                      </a:r>
                      <a:endParaRPr lang="en-GB" sz="2400" b="1" noProof="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300895"/>
                  </a:ext>
                </a:extLst>
              </a:tr>
              <a:tr h="1865878">
                <a:tc>
                  <a:txBody>
                    <a:bodyPr/>
                    <a:lstStyle/>
                    <a:p>
                      <a:pPr rtl="0"/>
                      <a:r>
                        <a:rPr lang="en-US" sz="2400" noProof="0" dirty="0"/>
                        <a:t>A. To collect more responses from participants</a:t>
                      </a:r>
                    </a:p>
                    <a:p>
                      <a:pPr rtl="0"/>
                      <a:r>
                        <a:rPr lang="en-US" sz="2400" noProof="0" dirty="0"/>
                        <a:t>B. To finalise the research objectives</a:t>
                      </a:r>
                    </a:p>
                    <a:p>
                      <a:pPr rtl="0"/>
                      <a:r>
                        <a:rPr lang="en-US" sz="2400" noProof="0" dirty="0"/>
                        <a:t>C. To increase the sample size</a:t>
                      </a:r>
                      <a:endParaRPr lang="en-US" sz="2400" b="1" noProof="0" dirty="0"/>
                    </a:p>
                    <a:p>
                      <a:pPr rtl="0"/>
                      <a:r>
                        <a:rPr lang="en-US" sz="2400" noProof="0" dirty="0"/>
                        <a:t>D. </a:t>
                      </a:r>
                      <a:r>
                        <a:rPr lang="en-US" sz="2400" noProof="0" dirty="0">
                          <a:solidFill>
                            <a:srgbClr val="92D050"/>
                          </a:solidFill>
                        </a:rPr>
                        <a:t>To identify and correct problems before full us</a:t>
                      </a:r>
                      <a:r>
                        <a:rPr lang="en-US" sz="2400" b="1" noProof="0" dirty="0">
                          <a:solidFill>
                            <a:srgbClr val="92D050"/>
                          </a:solidFill>
                        </a:rPr>
                        <a:t>e</a:t>
                      </a:r>
                      <a:endParaRPr lang="en-US" sz="2400" noProof="0" dirty="0">
                        <a:solidFill>
                          <a:srgbClr val="92D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9988094"/>
                  </a:ext>
                </a:extLst>
              </a:tr>
            </a:tbl>
          </a:graphicData>
        </a:graphic>
      </p:graphicFrame>
      <p:pic>
        <p:nvPicPr>
          <p:cNvPr id="5" name="Graphic 4" descr="Eye">
            <a:extLst>
              <a:ext uri="{FF2B5EF4-FFF2-40B4-BE49-F238E27FC236}">
                <a16:creationId xmlns:a16="http://schemas.microsoft.com/office/drawing/2014/main" id="{CADF07AA-E7FE-4655-B1DD-FAA38D63EA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29093" y="844028"/>
            <a:ext cx="720000" cy="720000"/>
          </a:xfrm>
          <a:prstGeom prst="rect">
            <a:avLst/>
          </a:prstGeom>
        </p:spPr>
      </p:pic>
      <p:pic>
        <p:nvPicPr>
          <p:cNvPr id="7" name="Graphic 6" descr="Headphones">
            <a:extLst>
              <a:ext uri="{FF2B5EF4-FFF2-40B4-BE49-F238E27FC236}">
                <a16:creationId xmlns:a16="http://schemas.microsoft.com/office/drawing/2014/main" id="{F635F5BA-C272-4069-B935-AC0C3709E5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53093" y="916028"/>
            <a:ext cx="576000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8897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2D050"/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893D47-0ED5-A78F-4F86-2A2F1EA20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78A0D6-F470-164F-0A3E-33929646D0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412853"/>
              </p:ext>
            </p:extLst>
          </p:nvPr>
        </p:nvGraphicFramePr>
        <p:xfrm>
          <a:off x="466530" y="719666"/>
          <a:ext cx="11331893" cy="4234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1893">
                  <a:extLst>
                    <a:ext uri="{9D8B030D-6E8A-4147-A177-3AD203B41FA5}">
                      <a16:colId xmlns:a16="http://schemas.microsoft.com/office/drawing/2014/main" val="2307261631"/>
                    </a:ext>
                  </a:extLst>
                </a:gridCol>
              </a:tblGrid>
              <a:tr h="1059456">
                <a:tc>
                  <a:txBody>
                    <a:bodyPr/>
                    <a:lstStyle/>
                    <a:p>
                      <a:pPr algn="ctr" rtl="0"/>
                      <a:r>
                        <a:rPr lang="en-GB" sz="2800" b="0" noProof="0" dirty="0"/>
                        <a:t>Lower-Order MCQs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3221031"/>
                  </a:ext>
                </a:extLst>
              </a:tr>
              <a:tr h="130873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noProof="0" dirty="0"/>
                        <a:t>II.	Which of the following best defines 'clarity' in instrument design?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300895"/>
                  </a:ext>
                </a:extLst>
              </a:tr>
              <a:tr h="18658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noProof="0" dirty="0"/>
                        <a:t>A</a:t>
                      </a:r>
                      <a:r>
                        <a:rPr lang="en-US" sz="2400" noProof="0" dirty="0">
                          <a:solidFill>
                            <a:srgbClr val="92D050"/>
                          </a:solidFill>
                        </a:rPr>
                        <a:t>. Making questions easy to understand and free from jargo</a:t>
                      </a:r>
                      <a:r>
                        <a:rPr lang="en-US" sz="2400" b="1" noProof="0" dirty="0">
                          <a:solidFill>
                            <a:srgbClr val="92D050"/>
                          </a:solidFill>
                        </a:rPr>
                        <a:t>n</a:t>
                      </a:r>
                    </a:p>
                    <a:p>
                      <a:pPr rtl="0"/>
                      <a:r>
                        <a:rPr lang="en-US" sz="2400" noProof="0" dirty="0"/>
                        <a:t>B. Using technical terms to enhance accuracy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noProof="0" dirty="0"/>
                        <a:t>C. Ensuring questions are long and detailed</a:t>
                      </a:r>
                    </a:p>
                    <a:p>
                      <a:pPr rtl="0"/>
                      <a:r>
                        <a:rPr lang="en-US" sz="2400" noProof="0" dirty="0"/>
                        <a:t>D. Asking multiple questions at once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9988094"/>
                  </a:ext>
                </a:extLst>
              </a:tr>
            </a:tbl>
          </a:graphicData>
        </a:graphic>
      </p:graphicFrame>
      <p:pic>
        <p:nvPicPr>
          <p:cNvPr id="5" name="Graphic 4" descr="Eye">
            <a:extLst>
              <a:ext uri="{FF2B5EF4-FFF2-40B4-BE49-F238E27FC236}">
                <a16:creationId xmlns:a16="http://schemas.microsoft.com/office/drawing/2014/main" id="{DEDA1F29-C439-6ED8-1450-297CFAD9C0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29093" y="844028"/>
            <a:ext cx="720000" cy="720000"/>
          </a:xfrm>
          <a:prstGeom prst="rect">
            <a:avLst/>
          </a:prstGeom>
        </p:spPr>
      </p:pic>
      <p:pic>
        <p:nvPicPr>
          <p:cNvPr id="7" name="Graphic 6" descr="Headphones">
            <a:extLst>
              <a:ext uri="{FF2B5EF4-FFF2-40B4-BE49-F238E27FC236}">
                <a16:creationId xmlns:a16="http://schemas.microsoft.com/office/drawing/2014/main" id="{3C6A7FB8-CBDB-063B-1B40-1528245D8C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53093" y="916028"/>
            <a:ext cx="576000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2260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2D050"/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398598-70DF-4761-6607-F0C8C06AE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C5FAA1A-27E0-257F-30B7-8C99A1331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754227"/>
              </p:ext>
            </p:extLst>
          </p:nvPr>
        </p:nvGraphicFramePr>
        <p:xfrm>
          <a:off x="466530" y="719666"/>
          <a:ext cx="11331893" cy="4234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1893">
                  <a:extLst>
                    <a:ext uri="{9D8B030D-6E8A-4147-A177-3AD203B41FA5}">
                      <a16:colId xmlns:a16="http://schemas.microsoft.com/office/drawing/2014/main" val="2307261631"/>
                    </a:ext>
                  </a:extLst>
                </a:gridCol>
              </a:tblGrid>
              <a:tr h="1059456">
                <a:tc>
                  <a:txBody>
                    <a:bodyPr/>
                    <a:lstStyle/>
                    <a:p>
                      <a:pPr algn="ctr" rtl="0"/>
                      <a:r>
                        <a:rPr lang="en-GB" sz="2800" b="0" noProof="0" dirty="0"/>
                        <a:t>Lower-Order MCQs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3221031"/>
                  </a:ext>
                </a:extLst>
              </a:tr>
              <a:tr h="130873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noProof="0" dirty="0"/>
                        <a:t>III.	In survey design, what does ‘sequencing’ refer to?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300895"/>
                  </a:ext>
                </a:extLst>
              </a:tr>
              <a:tr h="18658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noProof="0" dirty="0"/>
                        <a:t>A. Numbering each questionnaire page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noProof="0" dirty="0"/>
                        <a:t>B. </a:t>
                      </a:r>
                      <a:r>
                        <a:rPr lang="en-US" sz="2400" noProof="0" dirty="0">
                          <a:solidFill>
                            <a:srgbClr val="92D050"/>
                          </a:solidFill>
                        </a:rPr>
                        <a:t>Arranging questions in a logical orde</a:t>
                      </a:r>
                      <a:r>
                        <a:rPr lang="en-US" sz="2400" b="1" noProof="0" dirty="0">
                          <a:solidFill>
                            <a:srgbClr val="92D050"/>
                          </a:solidFill>
                        </a:rPr>
                        <a:t>r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noProof="0" dirty="0"/>
                        <a:t>C. Placing all demographic questions at the end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noProof="0" dirty="0"/>
                        <a:t>D. Using different </a:t>
                      </a:r>
                      <a:r>
                        <a:rPr lang="en-US" sz="2400" noProof="0" dirty="0" err="1"/>
                        <a:t>colours</a:t>
                      </a:r>
                      <a:r>
                        <a:rPr lang="en-US" sz="2400" noProof="0" dirty="0"/>
                        <a:t> for sections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9988094"/>
                  </a:ext>
                </a:extLst>
              </a:tr>
            </a:tbl>
          </a:graphicData>
        </a:graphic>
      </p:graphicFrame>
      <p:pic>
        <p:nvPicPr>
          <p:cNvPr id="5" name="Graphic 4" descr="Eye">
            <a:extLst>
              <a:ext uri="{FF2B5EF4-FFF2-40B4-BE49-F238E27FC236}">
                <a16:creationId xmlns:a16="http://schemas.microsoft.com/office/drawing/2014/main" id="{D1584331-C10E-4C62-975D-1464D32E66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29093" y="844028"/>
            <a:ext cx="720000" cy="720000"/>
          </a:xfrm>
          <a:prstGeom prst="rect">
            <a:avLst/>
          </a:prstGeom>
        </p:spPr>
      </p:pic>
      <p:pic>
        <p:nvPicPr>
          <p:cNvPr id="7" name="Graphic 6" descr="Headphones">
            <a:extLst>
              <a:ext uri="{FF2B5EF4-FFF2-40B4-BE49-F238E27FC236}">
                <a16:creationId xmlns:a16="http://schemas.microsoft.com/office/drawing/2014/main" id="{CF6E9CF5-7D32-1A5B-45E1-591BB8301F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53093" y="916028"/>
            <a:ext cx="576000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7203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2D050"/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CD0041-B521-8723-65CF-9EA3D506E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9B927A-741F-1D3D-E95C-CA21657260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590306"/>
              </p:ext>
            </p:extLst>
          </p:nvPr>
        </p:nvGraphicFramePr>
        <p:xfrm>
          <a:off x="466530" y="719666"/>
          <a:ext cx="11331893" cy="4234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1893">
                  <a:extLst>
                    <a:ext uri="{9D8B030D-6E8A-4147-A177-3AD203B41FA5}">
                      <a16:colId xmlns:a16="http://schemas.microsoft.com/office/drawing/2014/main" val="2307261631"/>
                    </a:ext>
                  </a:extLst>
                </a:gridCol>
              </a:tblGrid>
              <a:tr h="1059456">
                <a:tc>
                  <a:txBody>
                    <a:bodyPr/>
                    <a:lstStyle/>
                    <a:p>
                      <a:pPr algn="ctr" rtl="0"/>
                      <a:r>
                        <a:rPr lang="en-GB" sz="2800" b="0" noProof="0" dirty="0"/>
                        <a:t>Lower-Order MCQs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3221031"/>
                  </a:ext>
                </a:extLst>
              </a:tr>
              <a:tr h="130873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noProof="0" dirty="0"/>
                        <a:t>IV.	Which of the following is an example of a qualitative data collection method?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300895"/>
                  </a:ext>
                </a:extLst>
              </a:tr>
              <a:tr h="18658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noProof="0" dirty="0"/>
                        <a:t>A. Online survey with numerical responses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noProof="0" dirty="0"/>
                        <a:t>B. Structured multiple-choice questionnaire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noProof="0" dirty="0"/>
                        <a:t>C. Tally sheet for frequency counts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noProof="0" dirty="0"/>
                        <a:t>D</a:t>
                      </a:r>
                      <a:r>
                        <a:rPr lang="en-US" sz="2400" noProof="0" dirty="0">
                          <a:solidFill>
                            <a:srgbClr val="92D050"/>
                          </a:solidFill>
                        </a:rPr>
                        <a:t>. Semi-structured intervie</a:t>
                      </a:r>
                      <a:r>
                        <a:rPr lang="en-US" sz="2400" b="1" noProof="0" dirty="0">
                          <a:solidFill>
                            <a:srgbClr val="92D050"/>
                          </a:solidFill>
                        </a:rPr>
                        <a:t>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9988094"/>
                  </a:ext>
                </a:extLst>
              </a:tr>
            </a:tbl>
          </a:graphicData>
        </a:graphic>
      </p:graphicFrame>
      <p:pic>
        <p:nvPicPr>
          <p:cNvPr id="5" name="Graphic 4" descr="Eye">
            <a:extLst>
              <a:ext uri="{FF2B5EF4-FFF2-40B4-BE49-F238E27FC236}">
                <a16:creationId xmlns:a16="http://schemas.microsoft.com/office/drawing/2014/main" id="{D3A735D8-B0E8-5D42-F2B9-A97DA9247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29093" y="844028"/>
            <a:ext cx="720000" cy="720000"/>
          </a:xfrm>
          <a:prstGeom prst="rect">
            <a:avLst/>
          </a:prstGeom>
        </p:spPr>
      </p:pic>
      <p:pic>
        <p:nvPicPr>
          <p:cNvPr id="7" name="Graphic 6" descr="Headphones">
            <a:extLst>
              <a:ext uri="{FF2B5EF4-FFF2-40B4-BE49-F238E27FC236}">
                <a16:creationId xmlns:a16="http://schemas.microsoft.com/office/drawing/2014/main" id="{5719BA33-BA4A-7F65-A02B-A14B1EA670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53093" y="916028"/>
            <a:ext cx="576000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5450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2D050"/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A0541A-F20C-5E5E-1E06-D49AB5DD1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9E9A06-F729-9380-FCB4-337DAE456B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950396"/>
              </p:ext>
            </p:extLst>
          </p:nvPr>
        </p:nvGraphicFramePr>
        <p:xfrm>
          <a:off x="466530" y="719666"/>
          <a:ext cx="11331893" cy="4234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1893">
                  <a:extLst>
                    <a:ext uri="{9D8B030D-6E8A-4147-A177-3AD203B41FA5}">
                      <a16:colId xmlns:a16="http://schemas.microsoft.com/office/drawing/2014/main" val="2307261631"/>
                    </a:ext>
                  </a:extLst>
                </a:gridCol>
              </a:tblGrid>
              <a:tr h="1059456">
                <a:tc>
                  <a:txBody>
                    <a:bodyPr/>
                    <a:lstStyle/>
                    <a:p>
                      <a:pPr algn="ctr" rtl="0"/>
                      <a:r>
                        <a:rPr lang="en-GB" sz="2800" b="0" noProof="0" dirty="0"/>
                        <a:t>Lower-Order MCQs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3221031"/>
                  </a:ext>
                </a:extLst>
              </a:tr>
              <a:tr h="130873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noProof="0" dirty="0"/>
                        <a:t>V.	What does 'ethical sensitivity' in instrument design primarily ensure?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300895"/>
                  </a:ext>
                </a:extLst>
              </a:tr>
              <a:tr h="186587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noProof="0" dirty="0"/>
                        <a:t>A. That questions are long and comprehensive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noProof="0" dirty="0"/>
                        <a:t>B. That the researcher saves time during analysis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noProof="0" dirty="0"/>
                        <a:t>C. </a:t>
                      </a:r>
                      <a:r>
                        <a:rPr lang="en-US" sz="2400" noProof="0" dirty="0">
                          <a:solidFill>
                            <a:srgbClr val="92D050"/>
                          </a:solidFill>
                        </a:rPr>
                        <a:t>That respondents’ privacy and comfort are respecte</a:t>
                      </a:r>
                      <a:r>
                        <a:rPr lang="en-US" sz="2400" b="1" noProof="0" dirty="0">
                          <a:solidFill>
                            <a:srgbClr val="92D050"/>
                          </a:solidFill>
                        </a:rPr>
                        <a:t>d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noProof="0" dirty="0"/>
                        <a:t>D. That more data is collected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9988094"/>
                  </a:ext>
                </a:extLst>
              </a:tr>
            </a:tbl>
          </a:graphicData>
        </a:graphic>
      </p:graphicFrame>
      <p:pic>
        <p:nvPicPr>
          <p:cNvPr id="5" name="Graphic 4" descr="Eye">
            <a:extLst>
              <a:ext uri="{FF2B5EF4-FFF2-40B4-BE49-F238E27FC236}">
                <a16:creationId xmlns:a16="http://schemas.microsoft.com/office/drawing/2014/main" id="{E6A174BF-952E-DAA6-5443-D2B6CBE979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29093" y="844028"/>
            <a:ext cx="720000" cy="720000"/>
          </a:xfrm>
          <a:prstGeom prst="rect">
            <a:avLst/>
          </a:prstGeom>
        </p:spPr>
      </p:pic>
      <p:pic>
        <p:nvPicPr>
          <p:cNvPr id="7" name="Graphic 6" descr="Headphones">
            <a:extLst>
              <a:ext uri="{FF2B5EF4-FFF2-40B4-BE49-F238E27FC236}">
                <a16:creationId xmlns:a16="http://schemas.microsoft.com/office/drawing/2014/main" id="{F1440903-7399-B76F-80E5-1C2DC5498F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53093" y="916028"/>
            <a:ext cx="576000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53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THAT’S IT!!!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304CEA-E169-7120-F228-9C1CE8E50814}"/>
              </a:ext>
            </a:extLst>
          </p:cNvPr>
          <p:cNvSpPr txBox="1"/>
          <p:nvPr/>
        </p:nvSpPr>
        <p:spPr>
          <a:xfrm>
            <a:off x="418641" y="2773363"/>
            <a:ext cx="1135839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GB" sz="4400" dirty="0">
                <a:solidFill>
                  <a:srgbClr val="0070C0"/>
                </a:solidFill>
              </a:rPr>
              <a:t>See you next week for </a:t>
            </a:r>
          </a:p>
          <a:p>
            <a:pPr algn="ctr" rtl="0"/>
            <a:r>
              <a:rPr lang="en-GB" sz="4400" b="1" dirty="0">
                <a:solidFill>
                  <a:srgbClr val="0070C0"/>
                </a:solidFill>
              </a:rPr>
              <a:t>SAMPLING</a:t>
            </a:r>
            <a:r>
              <a:rPr lang="en-GB" sz="4400" dirty="0">
                <a:solidFill>
                  <a:srgbClr val="0070C0"/>
                </a:solidFill>
              </a:rPr>
              <a:t> IN RESEARCH!</a:t>
            </a:r>
          </a:p>
        </p:txBody>
      </p:sp>
    </p:spTree>
    <p:extLst>
      <p:ext uri="{BB962C8B-B14F-4D97-AF65-F5344CB8AC3E}">
        <p14:creationId xmlns:p14="http://schemas.microsoft.com/office/powerpoint/2010/main" val="239459820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Custom 11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Custom 2">
      <a:majorFont>
        <a:latin typeface="Candara"/>
        <a:ea typeface=""/>
        <a:cs typeface=""/>
      </a:majorFont>
      <a:minorFont>
        <a:latin typeface="Candara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30478012_TF00315753" id="{5DE6C40A-5A20-487B-AD8D-7270118E6749}" vid="{9CE065D8-4B43-48C3-B9AB-204ADCE793E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658AF07-9E42-47AF-83DF-C9E8FADF71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FC4EF74-2977-4065-95FE-55F8E4B639D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653253B1-1887-43EF-BBA6-7E1941C427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Looks like sounds like presentation</Template>
  <TotalTime>287</TotalTime>
  <Words>2564</Words>
  <Application>Microsoft Office PowerPoint</Application>
  <PresentationFormat>Widescreen</PresentationFormat>
  <Paragraphs>252</Paragraphs>
  <Slides>34</Slides>
  <Notes>34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Candara</vt:lpstr>
      <vt:lpstr>Tahoma</vt:lpstr>
      <vt:lpstr>Wingdings 2</vt:lpstr>
      <vt:lpstr>Dividend</vt:lpstr>
      <vt:lpstr>Semester Two - Week 2: </vt:lpstr>
      <vt:lpstr>A. Introduction to Data Collection Methods</vt:lpstr>
      <vt:lpstr>A. Introduction to Data Collection Methods</vt:lpstr>
      <vt:lpstr>B. Quantitative versus Qualitative Data Collection Methods</vt:lpstr>
      <vt:lpstr>B. Quantitative versus Qualitative Data Collection Methods</vt:lpstr>
      <vt:lpstr>B. Quantitative versus Qualitative Data Collection Methods</vt:lpstr>
      <vt:lpstr>B. Quantitative versus Qualitative Data Collection Methods</vt:lpstr>
      <vt:lpstr>C. General Considerations for the Design of Data Collection Methods</vt:lpstr>
      <vt:lpstr>D. Designing Quantitative Data Collection Methods</vt:lpstr>
      <vt:lpstr>D. Designing Quantitative Data Collection Methods</vt:lpstr>
      <vt:lpstr>D. Designing Quantitative Data Collection Methods</vt:lpstr>
      <vt:lpstr>D. Designing Quantitative Data Collection Methods</vt:lpstr>
      <vt:lpstr>D. Designing Quantitative Data Collection Methods</vt:lpstr>
      <vt:lpstr>D. Designing Quantitative Data Collection Methods</vt:lpstr>
      <vt:lpstr>V. Preventing Respondent Fatigue   A long, repetitive, or poorly organised questionnaire can lead to incomplete answers or disengagement.  Only include questions directly linked to the research objectives.</vt:lpstr>
      <vt:lpstr>V. Preventing Respondent Fatigue</vt:lpstr>
      <vt:lpstr>V. Preventing Respondent Fatigue</vt:lpstr>
      <vt:lpstr>VI. Contribution to Data Analysis Plan</vt:lpstr>
      <vt:lpstr>VII. Standardising Responses</vt:lpstr>
      <vt:lpstr>E. Designing Qualitative Data Collection Methods</vt:lpstr>
      <vt:lpstr>E. Designing Qualitative Data Collection Methods</vt:lpstr>
      <vt:lpstr>E. Designing Qualitative Data Collection Methods</vt:lpstr>
      <vt:lpstr>E. Designing Qualitative Data Collection Methods</vt:lpstr>
      <vt:lpstr>E. Designing Qualitative Data Collection Methods</vt:lpstr>
      <vt:lpstr>E. Designing Qualitative Data Collection Methods</vt:lpstr>
      <vt:lpstr>E. Designing Qualitative Data Collection Methods</vt:lpstr>
      <vt:lpstr>F. Aligning Data Collection Methods with Research Design</vt:lpstr>
      <vt:lpstr>G. In conclusion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THAT’S IT!!!</vt:lpstr>
    </vt:vector>
  </TitlesOfParts>
  <Company>Cape Peninsula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Errol Francke</dc:creator>
  <cp:lastModifiedBy>Chuma Edward Nxazonke</cp:lastModifiedBy>
  <cp:revision>3</cp:revision>
  <dcterms:created xsi:type="dcterms:W3CDTF">2025-07-17T09:57:23Z</dcterms:created>
  <dcterms:modified xsi:type="dcterms:W3CDTF">2025-08-31T21:13:23Z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