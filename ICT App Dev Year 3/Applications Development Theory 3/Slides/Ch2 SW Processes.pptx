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0"/>
  </p:notesMasterIdLst>
  <p:handoutMasterIdLst>
    <p:handoutMasterId r:id="rId61"/>
  </p:handoutMasterIdLst>
  <p:sldIdLst>
    <p:sldId id="256" r:id="rId2"/>
    <p:sldId id="270" r:id="rId3"/>
    <p:sldId id="281" r:id="rId4"/>
    <p:sldId id="318" r:id="rId5"/>
    <p:sldId id="319" r:id="rId6"/>
    <p:sldId id="333" r:id="rId7"/>
    <p:sldId id="282" r:id="rId8"/>
    <p:sldId id="257" r:id="rId9"/>
    <p:sldId id="284" r:id="rId10"/>
    <p:sldId id="285" r:id="rId11"/>
    <p:sldId id="258" r:id="rId12"/>
    <p:sldId id="288" r:id="rId13"/>
    <p:sldId id="320" r:id="rId14"/>
    <p:sldId id="289" r:id="rId15"/>
    <p:sldId id="322" r:id="rId16"/>
    <p:sldId id="259" r:id="rId17"/>
    <p:sldId id="346" r:id="rId18"/>
    <p:sldId id="347" r:id="rId19"/>
    <p:sldId id="334" r:id="rId20"/>
    <p:sldId id="272" r:id="rId21"/>
    <p:sldId id="260" r:id="rId22"/>
    <p:sldId id="291" r:id="rId23"/>
    <p:sldId id="293" r:id="rId24"/>
    <p:sldId id="261" r:id="rId25"/>
    <p:sldId id="323" r:id="rId26"/>
    <p:sldId id="348" r:id="rId27"/>
    <p:sldId id="299" r:id="rId28"/>
    <p:sldId id="262" r:id="rId29"/>
    <p:sldId id="301" r:id="rId30"/>
    <p:sldId id="263" r:id="rId31"/>
    <p:sldId id="303" r:id="rId32"/>
    <p:sldId id="264" r:id="rId33"/>
    <p:sldId id="337" r:id="rId34"/>
    <p:sldId id="273" r:id="rId35"/>
    <p:sldId id="325" r:id="rId36"/>
    <p:sldId id="349" r:id="rId37"/>
    <p:sldId id="312" r:id="rId38"/>
    <p:sldId id="313" r:id="rId39"/>
    <p:sldId id="265" r:id="rId40"/>
    <p:sldId id="328" r:id="rId41"/>
    <p:sldId id="316" r:id="rId42"/>
    <p:sldId id="305" r:id="rId43"/>
    <p:sldId id="329" r:id="rId44"/>
    <p:sldId id="266" r:id="rId45"/>
    <p:sldId id="307" r:id="rId46"/>
    <p:sldId id="326" r:id="rId47"/>
    <p:sldId id="338" r:id="rId48"/>
    <p:sldId id="339" r:id="rId49"/>
    <p:sldId id="340" r:id="rId50"/>
    <p:sldId id="341" r:id="rId51"/>
    <p:sldId id="350" r:id="rId52"/>
    <p:sldId id="342" r:id="rId53"/>
    <p:sldId id="343" r:id="rId54"/>
    <p:sldId id="344" r:id="rId55"/>
    <p:sldId id="345" r:id="rId56"/>
    <p:sldId id="335" r:id="rId57"/>
    <p:sldId id="336" r:id="rId58"/>
    <p:sldId id="280" r:id="rId5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2/15/2022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2/15/2022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  <a:p>
            <a:r>
              <a:rPr lang="en-GB" dirty="0"/>
              <a:t>Coping with change</a:t>
            </a:r>
          </a:p>
          <a:p>
            <a:r>
              <a:rPr lang="en-GB" dirty="0"/>
              <a:t>Process improvement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structured </a:t>
            </a:r>
            <a:r>
              <a:rPr lang="en-GB" dirty="0">
                <a:highlight>
                  <a:srgbClr val="FFFF00"/>
                </a:highlight>
              </a:rPr>
              <a:t>set of activities </a:t>
            </a:r>
            <a:r>
              <a:rPr lang="en-GB" dirty="0"/>
              <a:t>required </a:t>
            </a:r>
            <a:r>
              <a:rPr lang="en-GB" dirty="0">
                <a:highlight>
                  <a:srgbClr val="FFFF00"/>
                </a:highlight>
              </a:rPr>
              <a:t>to develop a </a:t>
            </a:r>
            <a:br>
              <a:rPr lang="en-GB" dirty="0">
                <a:highlight>
                  <a:srgbClr val="FFFF00"/>
                </a:highlight>
              </a:rPr>
            </a:br>
            <a:r>
              <a:rPr lang="en-GB" dirty="0">
                <a:highlight>
                  <a:srgbClr val="FFFF00"/>
                </a:highlight>
              </a:rPr>
              <a:t>software system. </a:t>
            </a:r>
          </a:p>
          <a:p>
            <a:r>
              <a:rPr lang="en-GB" dirty="0"/>
              <a:t>Many different software processes but all involve:</a:t>
            </a:r>
          </a:p>
          <a:p>
            <a:pPr lvl="1"/>
            <a:r>
              <a:rPr lang="en-GB" dirty="0"/>
              <a:t>Specification – </a:t>
            </a:r>
            <a:r>
              <a:rPr lang="en-GB" dirty="0">
                <a:highlight>
                  <a:srgbClr val="FFFF00"/>
                </a:highlight>
              </a:rPr>
              <a:t>defining what the system should do</a:t>
            </a:r>
            <a:r>
              <a:rPr lang="en-GB" dirty="0"/>
              <a:t>;</a:t>
            </a:r>
          </a:p>
          <a:p>
            <a:pPr lvl="1"/>
            <a:r>
              <a:rPr lang="en-GB" dirty="0"/>
              <a:t>Design and implementation – defining the organization of the system and implementing the system;</a:t>
            </a:r>
          </a:p>
          <a:p>
            <a:pPr lvl="1"/>
            <a:r>
              <a:rPr lang="en-GB" dirty="0"/>
              <a:t>Validation – checking that it does what the customer wants;</a:t>
            </a:r>
          </a:p>
          <a:p>
            <a:pPr lvl="1"/>
            <a:r>
              <a:rPr lang="en-GB" dirty="0"/>
              <a:t>Evolution – changing the system in response to changing customer needs.</a:t>
            </a:r>
          </a:p>
          <a:p>
            <a:r>
              <a:rPr lang="en-GB" dirty="0"/>
              <a:t>A </a:t>
            </a:r>
            <a:r>
              <a:rPr lang="en-GB" dirty="0">
                <a:highlight>
                  <a:srgbClr val="FFFF00"/>
                </a:highlight>
              </a:rPr>
              <a:t>software process model </a:t>
            </a:r>
            <a:r>
              <a:rPr lang="en-GB" dirty="0"/>
              <a:t>is an </a:t>
            </a:r>
            <a:r>
              <a:rPr lang="en-GB" dirty="0">
                <a:highlight>
                  <a:srgbClr val="FFFF00"/>
                </a:highlight>
              </a:rPr>
              <a:t>abstract representation of a process.</a:t>
            </a:r>
            <a:r>
              <a:rPr lang="en-GB" dirty="0"/>
              <a:t> It presents a description of a process from some particular perspective.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we describe and </a:t>
            </a:r>
            <a:r>
              <a:rPr lang="en-GB" dirty="0">
                <a:highlight>
                  <a:srgbClr val="FFFF00"/>
                </a:highlight>
              </a:rPr>
              <a:t>discuss processes</a:t>
            </a:r>
            <a:r>
              <a:rPr lang="en-GB" dirty="0"/>
              <a:t>, we usually </a:t>
            </a:r>
            <a:r>
              <a:rPr lang="en-GB" dirty="0">
                <a:highlight>
                  <a:srgbClr val="FFFF00"/>
                </a:highlight>
              </a:rPr>
              <a:t>talk about the activities </a:t>
            </a:r>
            <a:r>
              <a:rPr lang="en-GB" dirty="0"/>
              <a:t>in these processes such as specifying a data model, designing a user interface, etc. and the ordering of these activities.</a:t>
            </a:r>
          </a:p>
          <a:p>
            <a:r>
              <a:rPr lang="en-GB" dirty="0"/>
              <a:t>Process descriptions may also include: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Products</a:t>
            </a:r>
            <a:r>
              <a:rPr lang="en-GB" dirty="0"/>
              <a:t>, which are the outcomes of a process activity; 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Roles</a:t>
            </a:r>
            <a:r>
              <a:rPr lang="en-GB" dirty="0"/>
              <a:t>, which reflect the responsibilities of the people involved in the process;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Pre- and post-conditions</a:t>
            </a:r>
            <a:r>
              <a:rPr lang="en-GB" dirty="0"/>
              <a:t>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Plan-driven processes</a:t>
            </a:r>
            <a:r>
              <a:rPr lang="en-GB" dirty="0"/>
              <a:t> are processes where </a:t>
            </a:r>
            <a:r>
              <a:rPr lang="en-GB" dirty="0">
                <a:highlight>
                  <a:srgbClr val="FFFF00"/>
                </a:highlight>
              </a:rPr>
              <a:t>all of the process activities are planned in advance </a:t>
            </a:r>
            <a:r>
              <a:rPr lang="en-GB" dirty="0"/>
              <a:t>and progress is measured against this plan. </a:t>
            </a:r>
          </a:p>
          <a:p>
            <a:r>
              <a:rPr lang="en-GB" dirty="0"/>
              <a:t>In agile processes, </a:t>
            </a:r>
            <a:r>
              <a:rPr lang="en-GB" dirty="0">
                <a:highlight>
                  <a:srgbClr val="FFFF00"/>
                </a:highlight>
              </a:rPr>
              <a:t>planning is incremental </a:t>
            </a:r>
            <a:r>
              <a:rPr lang="en-GB" dirty="0"/>
              <a:t>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</a:t>
            </a:r>
            <a:r>
              <a:rPr lang="en-GB" dirty="0">
                <a:highlight>
                  <a:srgbClr val="FFFF00"/>
                </a:highlight>
              </a:rPr>
              <a:t>no right or wrong software processes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>
                <a:highlight>
                  <a:srgbClr val="FFFF00"/>
                </a:highlight>
              </a:rPr>
              <a:t>Incremental development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>
                <a:highlight>
                  <a:srgbClr val="FFFF00"/>
                </a:highlight>
              </a:rPr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components. May be plan-driven or agile.</a:t>
            </a:r>
          </a:p>
          <a:p>
            <a:r>
              <a:rPr lang="en-GB" dirty="0"/>
              <a:t>In practice, most large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</a:t>
            </a:r>
            <a:r>
              <a:rPr lang="en-GB" dirty="0">
                <a:highlight>
                  <a:srgbClr val="FFFF00"/>
                </a:highlight>
              </a:rPr>
              <a:t>identified phases </a:t>
            </a:r>
            <a:r>
              <a:rPr lang="en-GB" dirty="0"/>
              <a:t>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main </a:t>
            </a:r>
            <a:r>
              <a:rPr lang="en-GB" dirty="0">
                <a:highlight>
                  <a:srgbClr val="FFFF00"/>
                </a:highlight>
              </a:rPr>
              <a:t>drawback of the waterfall model is the difficulty of accommodating change </a:t>
            </a:r>
            <a:r>
              <a:rPr lang="en-GB" dirty="0"/>
              <a:t>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</a:t>
            </a:r>
            <a:r>
              <a:rPr lang="en-GB" dirty="0">
                <a:highlight>
                  <a:srgbClr val="FFFF00"/>
                </a:highlight>
              </a:rPr>
              <a:t>difficult to respond to changing customer requirements.</a:t>
            </a:r>
          </a:p>
          <a:p>
            <a:pPr lvl="1"/>
            <a:r>
              <a:rPr lang="en-GB" dirty="0"/>
              <a:t>Therefore, this model is only </a:t>
            </a:r>
            <a:r>
              <a:rPr lang="en-GB" dirty="0">
                <a:highlight>
                  <a:srgbClr val="FFFF00"/>
                </a:highlight>
              </a:rPr>
              <a:t>appropriate when the requirements are well-understood </a:t>
            </a:r>
            <a:r>
              <a:rPr lang="en-GB" dirty="0"/>
              <a:t>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</a:t>
            </a:r>
            <a:r>
              <a:rPr lang="en-GB" dirty="0">
                <a:highlight>
                  <a:srgbClr val="FFFF00"/>
                </a:highlight>
              </a:rPr>
              <a:t>used for large systems </a:t>
            </a:r>
            <a:r>
              <a:rPr lang="en-GB" dirty="0"/>
              <a:t>engineering projects where a system is developed at several sites.</a:t>
            </a:r>
          </a:p>
          <a:p>
            <a:pPr lvl="1"/>
            <a:r>
              <a:rPr lang="en-GB" dirty="0"/>
              <a:t>In those circumstances, the plan-driven nature of the waterfall model helps coordinate the work.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cost of accommodating changing customer requirements is reduced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</a:t>
            </a:r>
            <a:r>
              <a:rPr lang="en-GB" dirty="0">
                <a:highlight>
                  <a:srgbClr val="FFFF00"/>
                </a:highlight>
              </a:rPr>
              <a:t>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</a:t>
            </a:r>
            <a:r>
              <a:rPr lang="en-GB" dirty="0">
                <a:highlight>
                  <a:srgbClr val="FFFF00"/>
                </a:highlight>
              </a:rPr>
              <a:t>tends to degrade as new increments are added</a:t>
            </a:r>
            <a:r>
              <a:rPr lang="en-GB" i="1" dirty="0">
                <a:highlight>
                  <a:srgbClr val="FFFF00"/>
                </a:highlight>
              </a:rPr>
              <a:t>. </a:t>
            </a:r>
            <a:r>
              <a:rPr lang="en-GB" dirty="0">
                <a:highlight>
                  <a:srgbClr val="FFFF00"/>
                </a:highlight>
              </a:rPr>
              <a:t> </a:t>
            </a:r>
          </a:p>
          <a:p>
            <a:pPr lvl="1"/>
            <a:r>
              <a:rPr lang="en-GB" dirty="0"/>
              <a:t>Unless time and money is spent on refactoring to improve the software, </a:t>
            </a:r>
            <a:r>
              <a:rPr lang="en-GB" dirty="0">
                <a:highlight>
                  <a:srgbClr val="FFFF00"/>
                </a:highlight>
              </a:rPr>
              <a:t>regular change tends to corrupt its structure</a:t>
            </a:r>
            <a:r>
              <a:rPr lang="en-GB" dirty="0"/>
              <a:t>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Based on software reuse </a:t>
            </a:r>
            <a:r>
              <a:rPr lang="en-GB" dirty="0"/>
              <a:t>where systems are integrated from existing components or application systems (sometimes called COTS -Commercial-off-the-shelf) systems).</a:t>
            </a:r>
          </a:p>
          <a:p>
            <a:r>
              <a:rPr lang="en-GB" dirty="0">
                <a:highlight>
                  <a:srgbClr val="FFFF00"/>
                </a:highlight>
              </a:rPr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pPr lvl="1"/>
            <a:r>
              <a:rPr lang="en-GB" dirty="0"/>
              <a:t>Reuse covered in more depth in Chapter 15.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reusable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Stand-alone application systems </a:t>
            </a:r>
            <a:r>
              <a:rPr lang="en-GB" dirty="0"/>
              <a:t>(sometimes called COTS) that are configured for use in a particular environment.</a:t>
            </a:r>
          </a:p>
          <a:p>
            <a:r>
              <a:rPr lang="en-GB" dirty="0"/>
              <a:t>Collections of objects that are developed as a package to be integrated with a component framework such as .NET or J2EE.</a:t>
            </a:r>
          </a:p>
          <a:p>
            <a:r>
              <a:rPr lang="en-GB" dirty="0">
                <a:highlight>
                  <a:srgbClr val="FFFF00"/>
                </a:highlight>
              </a:rPr>
              <a:t>Web services </a:t>
            </a:r>
            <a:r>
              <a:rPr lang="en-GB" dirty="0"/>
              <a:t>that are developed according to service standards and which are available for remote invocation. 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Reuse-oriented software engineering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0" y="2326734"/>
            <a:ext cx="8793575" cy="36546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process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  <a:p>
            <a:r>
              <a:rPr lang="en-US" dirty="0"/>
              <a:t>Software discovery and evaluation</a:t>
            </a:r>
          </a:p>
          <a:p>
            <a:r>
              <a:rPr lang="en-US" dirty="0"/>
              <a:t>Requirements refinement</a:t>
            </a:r>
          </a:p>
          <a:p>
            <a:r>
              <a:rPr lang="en-US" dirty="0"/>
              <a:t>Application system configuration</a:t>
            </a:r>
          </a:p>
          <a:p>
            <a:r>
              <a:rPr lang="en-US" dirty="0"/>
              <a:t>Component adaptation and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Reduced costs and risks</a:t>
            </a:r>
            <a:r>
              <a:rPr lang="en-US" dirty="0"/>
              <a:t> as less software is developed from scratch</a:t>
            </a:r>
          </a:p>
          <a:p>
            <a:r>
              <a:rPr lang="en-US" dirty="0">
                <a:highlight>
                  <a:srgbClr val="FFFF00"/>
                </a:highlight>
              </a:rPr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</a:t>
            </a:r>
            <a:r>
              <a:rPr lang="en-GB" dirty="0">
                <a:highlight>
                  <a:srgbClr val="FFFF00"/>
                </a:highlight>
              </a:rPr>
              <a:t>software processes are inter-leaved sequences of technical, collaborative and managerial activities </a:t>
            </a:r>
            <a:r>
              <a:rPr lang="en-GB" dirty="0"/>
              <a:t>with the overall goal of specifying, designing, implementing and testing a software system. </a:t>
            </a:r>
          </a:p>
          <a:p>
            <a:r>
              <a:rPr lang="en-GB" dirty="0"/>
              <a:t>The four </a:t>
            </a:r>
            <a:r>
              <a:rPr lang="en-GB" dirty="0">
                <a:highlight>
                  <a:srgbClr val="FFFF00"/>
                </a:highlight>
              </a:rPr>
              <a:t>basic process activities </a:t>
            </a:r>
            <a:r>
              <a:rPr lang="en-GB" dirty="0"/>
              <a:t>of </a:t>
            </a:r>
            <a:r>
              <a:rPr lang="en-GB" dirty="0">
                <a:highlight>
                  <a:srgbClr val="FFFF00"/>
                </a:highlight>
              </a:rPr>
              <a:t>specification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development, validation and evolution</a:t>
            </a:r>
            <a:r>
              <a:rPr lang="en-GB" dirty="0"/>
              <a:t> are organized differently in different development processes. </a:t>
            </a:r>
          </a:p>
          <a:p>
            <a:r>
              <a:rPr lang="en-GB" dirty="0"/>
              <a:t>For example, in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</a:t>
            </a:r>
            <a:r>
              <a:rPr lang="en-GB" dirty="0">
                <a:highlight>
                  <a:srgbClr val="FFFF00"/>
                </a:highlight>
              </a:rPr>
              <a:t>establishing what services are required </a:t>
            </a:r>
            <a:r>
              <a:rPr lang="en-GB" dirty="0"/>
              <a:t>and the constraints on the system’s operation and development.</a:t>
            </a:r>
          </a:p>
          <a:p>
            <a:r>
              <a:rPr lang="en-GB" dirty="0">
                <a:highlight>
                  <a:srgbClr val="FFFF00"/>
                </a:highlight>
              </a:rPr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of </a:t>
            </a:r>
            <a:r>
              <a:rPr lang="en-GB" dirty="0">
                <a:highlight>
                  <a:srgbClr val="FFFF00"/>
                </a:highlight>
              </a:rPr>
              <a:t>converting the system specification into an executable system.</a:t>
            </a:r>
          </a:p>
          <a:p>
            <a:r>
              <a:rPr lang="en-GB" dirty="0"/>
              <a:t>Software design</a:t>
            </a:r>
          </a:p>
          <a:p>
            <a:pPr lvl="1"/>
            <a:r>
              <a:rPr lang="en-GB" dirty="0"/>
              <a:t>Design a software structure that realises the specification;</a:t>
            </a:r>
          </a:p>
          <a:p>
            <a:r>
              <a:rPr lang="en-GB" dirty="0">
                <a:highlight>
                  <a:srgbClr val="FFFF00"/>
                </a:highlight>
              </a:rPr>
              <a:t>Implementation</a:t>
            </a:r>
          </a:p>
          <a:p>
            <a:pPr lvl="1"/>
            <a:r>
              <a:rPr lang="en-GB" dirty="0"/>
              <a:t>Translate this structure into an executable program;</a:t>
            </a:r>
          </a:p>
          <a:p>
            <a:r>
              <a:rPr lang="en-GB" dirty="0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</a:t>
            </a:r>
            <a:r>
              <a:rPr lang="en-GB" dirty="0">
                <a:highlight>
                  <a:srgbClr val="FFFF00"/>
                </a:highlight>
              </a:rPr>
              <a:t>identify the overall structure of the system</a:t>
            </a:r>
            <a:r>
              <a:rPr lang="en-GB" dirty="0"/>
              <a:t>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</a:t>
            </a:r>
            <a:r>
              <a:rPr lang="en-GB" dirty="0">
                <a:highlight>
                  <a:srgbClr val="FFFF00"/>
                </a:highlight>
              </a:rPr>
              <a:t>design the system data structures</a:t>
            </a:r>
            <a:r>
              <a:rPr lang="en-GB" dirty="0"/>
              <a:t>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</a:t>
            </a:r>
            <a:r>
              <a:rPr lang="en-GB" dirty="0">
                <a:highlight>
                  <a:srgbClr val="FFFF00"/>
                </a:highlight>
              </a:rPr>
              <a:t>define the interfaces between system components.</a:t>
            </a:r>
            <a:r>
              <a:rPr lang="en-GB" dirty="0"/>
              <a:t>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</a:t>
            </a:r>
            <a:r>
              <a:rPr lang="en-GB" dirty="0">
                <a:highlight>
                  <a:srgbClr val="FFFF00"/>
                </a:highlight>
              </a:rPr>
              <a:t>search for reusable components.</a:t>
            </a:r>
            <a:r>
              <a:rPr lang="en-GB" dirty="0"/>
              <a:t>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</a:t>
            </a:r>
            <a:r>
              <a:rPr lang="en-US" dirty="0">
                <a:highlight>
                  <a:srgbClr val="FFFF00"/>
                </a:highlight>
              </a:rPr>
              <a:t>is implemented either by developing a program</a:t>
            </a:r>
            <a:r>
              <a:rPr lang="en-US" dirty="0"/>
              <a:t> or programs or by configuring an application system.</a:t>
            </a:r>
          </a:p>
          <a:p>
            <a:r>
              <a:rPr lang="en-US" dirty="0"/>
              <a:t>Design and implementation are </a:t>
            </a:r>
            <a:r>
              <a:rPr lang="en-US" dirty="0">
                <a:highlight>
                  <a:srgbClr val="FFFF00"/>
                </a:highlight>
              </a:rPr>
              <a:t>interleaved activities</a:t>
            </a:r>
            <a:r>
              <a:rPr lang="en-US" dirty="0"/>
              <a:t> for most types of software system.</a:t>
            </a:r>
          </a:p>
          <a:p>
            <a:r>
              <a:rPr lang="en-US" dirty="0">
                <a:highlight>
                  <a:srgbClr val="FFFF00"/>
                </a:highlight>
              </a:rPr>
              <a:t>Programming is an individual activity </a:t>
            </a:r>
            <a:r>
              <a:rPr lang="en-US" dirty="0"/>
              <a:t>with no standard process.</a:t>
            </a:r>
          </a:p>
          <a:p>
            <a:r>
              <a:rPr lang="en-US" dirty="0">
                <a:highlight>
                  <a:srgbClr val="FFFF00"/>
                </a:highlight>
              </a:rPr>
              <a:t>Debugging </a:t>
            </a:r>
            <a:r>
              <a:rPr lang="en-US" dirty="0"/>
              <a:t>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</a:t>
            </a:r>
            <a:r>
              <a:rPr lang="en-GB" dirty="0">
                <a:highlight>
                  <a:srgbClr val="FFFF00"/>
                </a:highlight>
              </a:rPr>
              <a:t>show that a system conforms to its specification </a:t>
            </a:r>
            <a:r>
              <a:rPr lang="en-GB" dirty="0"/>
              <a:t>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</a:t>
            </a:r>
            <a:r>
              <a:rPr lang="en-GB" dirty="0">
                <a:highlight>
                  <a:srgbClr val="FFFF00"/>
                </a:highlight>
              </a:rPr>
              <a:t>involves executing the system </a:t>
            </a:r>
            <a:r>
              <a:rPr lang="en-GB" dirty="0"/>
              <a:t>with test cases that are derived from the specification of the real data to be processed by the system.</a:t>
            </a:r>
          </a:p>
          <a:p>
            <a:r>
              <a:rPr lang="en-GB" dirty="0">
                <a:highlight>
                  <a:srgbClr val="FFFF00"/>
                </a:highlight>
              </a:rPr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</a:t>
            </a:r>
            <a:r>
              <a:rPr lang="en-GB" dirty="0">
                <a:highlight>
                  <a:srgbClr val="FFFF00"/>
                </a:highlight>
              </a:rPr>
              <a:t>functions or objects</a:t>
            </a:r>
            <a:r>
              <a:rPr lang="en-GB" dirty="0"/>
              <a:t> or coherent groupings of these entities.</a:t>
            </a:r>
          </a:p>
          <a:p>
            <a:r>
              <a:rPr lang="en-GB" dirty="0">
                <a:highlight>
                  <a:srgbClr val="FFFF00"/>
                </a:highlight>
              </a:rPr>
              <a:t>System testing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Testing of the system as a whole</a:t>
            </a:r>
            <a:r>
              <a:rPr lang="en-GB" dirty="0"/>
              <a:t>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phases in a plan-driven software process (V-model)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is </a:t>
            </a:r>
            <a:r>
              <a:rPr lang="en-GB" dirty="0">
                <a:highlight>
                  <a:srgbClr val="FFFF00"/>
                </a:highlight>
              </a:rPr>
              <a:t>inherently flexible and can change</a:t>
            </a:r>
            <a:r>
              <a:rPr lang="en-GB" dirty="0"/>
              <a:t>. </a:t>
            </a:r>
          </a:p>
          <a:p>
            <a:r>
              <a:rPr lang="en-GB" dirty="0"/>
              <a:t>As requirements change through changing business circumstances, </a:t>
            </a:r>
            <a:r>
              <a:rPr lang="en-GB" dirty="0">
                <a:highlight>
                  <a:srgbClr val="FFFF00"/>
                </a:highlight>
              </a:rPr>
              <a:t>the software that supports the business must also evolve and change.</a:t>
            </a:r>
          </a:p>
          <a:p>
            <a:r>
              <a:rPr lang="en-GB" dirty="0"/>
              <a:t>Although there has been a demarcation between development and evolution (maintenance) this is increasingly irrelevant as fewer and fewer systems are </a:t>
            </a:r>
            <a:r>
              <a:rPr lang="en-GB" dirty="0">
                <a:highlight>
                  <a:srgbClr val="FFFF00"/>
                </a:highlight>
              </a:rPr>
              <a:t>completely new</a:t>
            </a:r>
            <a:r>
              <a:rPr lang="en-GB" dirty="0"/>
              <a:t>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Coping with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Coping with change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Change is inevitable in all large software projects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Business changes lead to new and changed system requirements</a:t>
            </a:r>
          </a:p>
          <a:p>
            <a:pPr lvl="1"/>
            <a:r>
              <a:rPr lang="en-US" dirty="0"/>
              <a:t>New technologies open up new possibilities for improving implementations</a:t>
            </a:r>
          </a:p>
          <a:p>
            <a:pPr lvl="1"/>
            <a:r>
              <a:rPr lang="en-US" dirty="0"/>
              <a:t>Changing platforms require application changes</a:t>
            </a:r>
          </a:p>
          <a:p>
            <a:r>
              <a:rPr lang="en-US" dirty="0">
                <a:highlight>
                  <a:srgbClr val="FFFF00"/>
                </a:highlight>
              </a:rPr>
              <a:t>Change leads to rework so the costs of change include both rework </a:t>
            </a:r>
            <a:r>
              <a:rPr lang="en-US" dirty="0"/>
              <a:t>(e.g. re-</a:t>
            </a:r>
            <a:r>
              <a:rPr lang="en-US" dirty="0" err="1"/>
              <a:t>analysing</a:t>
            </a:r>
            <a:r>
              <a:rPr lang="en-US" dirty="0"/>
              <a:t> requirements) as well as the costs of implementing new functionality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costs of rework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Change anticipation, </a:t>
            </a:r>
            <a:r>
              <a:rPr lang="en-GB" dirty="0">
                <a:highlight>
                  <a:srgbClr val="FFFF00"/>
                </a:highlight>
              </a:rPr>
              <a:t>where the software process includes activities that can anticipate possible changes</a:t>
            </a:r>
            <a:r>
              <a:rPr lang="en-GB" dirty="0"/>
              <a:t> before significant rework is required. </a:t>
            </a:r>
          </a:p>
          <a:p>
            <a:pPr lvl="1"/>
            <a:r>
              <a:rPr lang="en-GB" dirty="0"/>
              <a:t>For example, a prototype system may be developed to show some key features of the system to customers. </a:t>
            </a:r>
          </a:p>
          <a:p>
            <a:r>
              <a:rPr lang="en-GB" dirty="0">
                <a:highlight>
                  <a:srgbClr val="FFFF00"/>
                </a:highlight>
              </a:rPr>
              <a:t>Change tolerance</a:t>
            </a:r>
            <a:r>
              <a:rPr lang="en-GB" dirty="0"/>
              <a:t>, where the process is designed so that </a:t>
            </a:r>
            <a:r>
              <a:rPr lang="en-GB" dirty="0">
                <a:highlight>
                  <a:srgbClr val="FFFF00"/>
                </a:highlight>
              </a:rPr>
              <a:t>changes can be accommodated at relatively low cost.</a:t>
            </a:r>
          </a:p>
          <a:p>
            <a:pPr lvl="1"/>
            <a:r>
              <a:rPr lang="en-GB" dirty="0"/>
              <a:t>This normally </a:t>
            </a:r>
            <a:r>
              <a:rPr lang="en-GB" dirty="0">
                <a:highlight>
                  <a:srgbClr val="FFFF00"/>
                </a:highlight>
              </a:rPr>
              <a:t>involves some form of incremental development</a:t>
            </a:r>
            <a:r>
              <a:rPr lang="en-GB" dirty="0"/>
              <a:t>. Proposed changes may be implemented in increments that have not yet been developed. If this is impossible, then only a single increment (a small part of the system) may have be altered to incorporate the change.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System prototyping</a:t>
            </a:r>
            <a:r>
              <a:rPr lang="en-GB" dirty="0"/>
              <a:t>, where a </a:t>
            </a:r>
            <a:r>
              <a:rPr lang="en-GB" dirty="0">
                <a:highlight>
                  <a:srgbClr val="FFFF00"/>
                </a:highlight>
              </a:rPr>
              <a:t>version of the system or part of the system is developed quickly </a:t>
            </a:r>
            <a:r>
              <a:rPr lang="en-GB" dirty="0"/>
              <a:t>to check the customer’s requirements and the feasibility of design decisions. This approach supports change anticipation. </a:t>
            </a:r>
          </a:p>
          <a:p>
            <a:r>
              <a:rPr lang="en-GB" dirty="0">
                <a:highlight>
                  <a:srgbClr val="FFFF00"/>
                </a:highlight>
              </a:rPr>
              <a:t>Incremental delivery</a:t>
            </a:r>
            <a:r>
              <a:rPr lang="en-GB" dirty="0"/>
              <a:t>, where system increments are delivered to the customer for comment and experimentation. This supports both change avoidance and change tolerance.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prototyping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prototype is an </a:t>
            </a:r>
            <a:r>
              <a:rPr lang="en-US" dirty="0">
                <a:highlight>
                  <a:srgbClr val="FFFF00"/>
                </a:highlight>
              </a:rPr>
              <a:t>initial version of a system </a:t>
            </a:r>
            <a:r>
              <a:rPr lang="en-US" dirty="0"/>
              <a:t>used to demonstrate concepts and try out design options.</a:t>
            </a:r>
          </a:p>
          <a:p>
            <a:r>
              <a:rPr lang="en-US" dirty="0"/>
              <a:t>A prototype can be used in: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requirements engineering </a:t>
            </a:r>
            <a:r>
              <a:rPr lang="en-US" dirty="0"/>
              <a:t>process to help with requirements elicitation and validation;</a:t>
            </a:r>
          </a:p>
          <a:p>
            <a:pPr lvl="1"/>
            <a:r>
              <a:rPr lang="en-US" dirty="0"/>
              <a:t>In </a:t>
            </a:r>
            <a:r>
              <a:rPr lang="en-US" dirty="0">
                <a:highlight>
                  <a:srgbClr val="FFFF00"/>
                </a:highlight>
              </a:rPr>
              <a:t>design processes </a:t>
            </a:r>
            <a:r>
              <a:rPr lang="en-US" dirty="0"/>
              <a:t>to explore options and develop a UI design;</a:t>
            </a:r>
          </a:p>
          <a:p>
            <a:pPr lvl="1"/>
            <a:r>
              <a:rPr lang="en-US" dirty="0"/>
              <a:t>In the </a:t>
            </a:r>
            <a:r>
              <a:rPr lang="en-US" dirty="0">
                <a:highlight>
                  <a:srgbClr val="FFFF00"/>
                </a:highlight>
              </a:rPr>
              <a:t>testing process </a:t>
            </a:r>
            <a:r>
              <a:rPr lang="en-US" dirty="0"/>
              <a:t>to run back-to-back tests.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prototyping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Improved system usability.</a:t>
            </a:r>
          </a:p>
          <a:p>
            <a:r>
              <a:rPr lang="en-US" dirty="0"/>
              <a:t>A closer match to users’ real needs.</a:t>
            </a:r>
          </a:p>
          <a:p>
            <a:r>
              <a:rPr lang="en-US" dirty="0">
                <a:highlight>
                  <a:srgbClr val="FFFF00"/>
                </a:highlight>
              </a:rPr>
              <a:t>Improved design quality.</a:t>
            </a:r>
          </a:p>
          <a:p>
            <a:r>
              <a:rPr lang="en-US" dirty="0">
                <a:highlight>
                  <a:srgbClr val="FFFF00"/>
                </a:highlight>
              </a:rPr>
              <a:t>Improved maintainability</a:t>
            </a:r>
            <a:r>
              <a:rPr lang="en-US" dirty="0"/>
              <a:t>.</a:t>
            </a:r>
          </a:p>
          <a:p>
            <a:r>
              <a:rPr lang="en-US" dirty="0"/>
              <a:t>Reduced development effort.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process of prototype development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75" y="2608352"/>
            <a:ext cx="7627164" cy="216292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be </a:t>
            </a:r>
            <a:r>
              <a:rPr lang="en-US" dirty="0">
                <a:highlight>
                  <a:srgbClr val="FFFF00"/>
                </a:highlight>
              </a:rPr>
              <a:t>based on rapid prototyping languages </a:t>
            </a:r>
            <a:r>
              <a:rPr lang="en-US" dirty="0"/>
              <a:t>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Error checking </a:t>
            </a:r>
            <a:r>
              <a:rPr lang="en-US" dirty="0"/>
              <a:t>and recovery may </a:t>
            </a:r>
            <a:r>
              <a:rPr lang="en-US" dirty="0">
                <a:highlight>
                  <a:srgbClr val="FFFF00"/>
                </a:highlight>
              </a:rPr>
              <a:t>not be included </a:t>
            </a:r>
            <a:r>
              <a:rPr lang="en-US" dirty="0"/>
              <a:t>in the prototype;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Focus on functional </a:t>
            </a:r>
            <a:r>
              <a:rPr lang="en-US" dirty="0"/>
              <a:t>rather than non-functional </a:t>
            </a:r>
            <a:r>
              <a:rPr lang="en-US" dirty="0">
                <a:highlight>
                  <a:srgbClr val="FFFF00"/>
                </a:highlight>
              </a:rPr>
              <a:t>requirements</a:t>
            </a:r>
            <a:r>
              <a:rPr lang="en-US" dirty="0"/>
              <a:t> such as reliability and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prototypes</a:t>
            </a:r>
          </a:p>
        </p:txBody>
      </p:sp>
      <p:sp>
        <p:nvSpPr>
          <p:cNvPr id="118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Prototypes </a:t>
            </a:r>
            <a:r>
              <a:rPr lang="en-US" dirty="0">
                <a:highlight>
                  <a:srgbClr val="FFFF00"/>
                </a:highlight>
              </a:rPr>
              <a:t>should be discarded after development </a:t>
            </a:r>
            <a:r>
              <a:rPr lang="en-US" dirty="0"/>
              <a:t>as they are not a good basis for a production system:</a:t>
            </a:r>
          </a:p>
          <a:p>
            <a:pPr lvl="1"/>
            <a:r>
              <a:rPr lang="en-US" dirty="0"/>
              <a:t>It may be impossible to tune the system to meet non-functional requirements;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Prototypes are normally undocumented</a:t>
            </a:r>
            <a:r>
              <a:rPr lang="en-US" dirty="0"/>
              <a:t>;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The prototype structure is usually degraded through rapid change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The prototype probably will not meet normal organizational quality standards.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Incremental delivery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Rather than deliver the system as a single delivery, the </a:t>
            </a:r>
            <a:r>
              <a:rPr lang="en-GB" dirty="0">
                <a:highlight>
                  <a:srgbClr val="FFFF00"/>
                </a:highlight>
              </a:rPr>
              <a:t>development and delivery is broken down into increments </a:t>
            </a:r>
            <a:r>
              <a:rPr lang="en-GB" dirty="0"/>
              <a:t>with each increment delivering part of the required functionality.</a:t>
            </a:r>
          </a:p>
          <a:p>
            <a:r>
              <a:rPr lang="en-GB" dirty="0">
                <a:highlight>
                  <a:srgbClr val="FFFF00"/>
                </a:highlight>
              </a:rPr>
              <a:t>User requirements are prioritised </a:t>
            </a:r>
            <a:r>
              <a:rPr lang="en-GB" dirty="0"/>
              <a:t>and the highest priority requirements are included in early increments.</a:t>
            </a:r>
          </a:p>
          <a:p>
            <a:r>
              <a:rPr lang="en-GB" dirty="0"/>
              <a:t>Once the development of an increment is started, the requirements are frozen though requirements for later increments can continue to evolve.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Develop the system in increments </a:t>
            </a:r>
            <a:r>
              <a:rPr lang="en-US" dirty="0"/>
              <a:t>and evaluate each increment before proceeding to the development of the next increment;</a:t>
            </a:r>
          </a:p>
          <a:p>
            <a:pPr lvl="1"/>
            <a:r>
              <a:rPr lang="en-US" dirty="0"/>
              <a:t>Normal approach </a:t>
            </a:r>
            <a:r>
              <a:rPr lang="en-US" dirty="0">
                <a:highlight>
                  <a:srgbClr val="FFFF00"/>
                </a:highlight>
              </a:rPr>
              <a:t>used in agile methods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Evaluation done by user/customer proxy.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Deploy an </a:t>
            </a:r>
            <a:r>
              <a:rPr lang="en-US" dirty="0">
                <a:highlight>
                  <a:srgbClr val="FFFF00"/>
                </a:highlight>
              </a:rPr>
              <a:t>increment for use by end-users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More realistic evaluation about practical use of software;</a:t>
            </a:r>
          </a:p>
          <a:p>
            <a:pPr lvl="1"/>
            <a:r>
              <a:rPr lang="en-US" dirty="0"/>
              <a:t>Difficult to implement for replacement systems as increments have less functionality than the system being replaced.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3036"/>
            <a:ext cx="8172017" cy="276724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Customer value can be delivered with each increment so system functionality is available earlier.</a:t>
            </a:r>
          </a:p>
          <a:p>
            <a:r>
              <a:rPr lang="en-GB" dirty="0"/>
              <a:t>Early increments act as a prototype to help elicit requirements for later increments.</a:t>
            </a:r>
          </a:p>
          <a:p>
            <a:r>
              <a:rPr lang="en-GB" dirty="0">
                <a:highlight>
                  <a:srgbClr val="FFFF00"/>
                </a:highlight>
              </a:rPr>
              <a:t>Lower risk of overall project failure</a:t>
            </a:r>
            <a:r>
              <a:rPr lang="en-GB" dirty="0"/>
              <a:t>.</a:t>
            </a:r>
          </a:p>
          <a:p>
            <a:r>
              <a:rPr lang="en-GB" dirty="0">
                <a:highlight>
                  <a:srgbClr val="FFFF00"/>
                </a:highlight>
              </a:rPr>
              <a:t>The highest priority system services tend to receive the most testing.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/>
              <a:t>Most systems </a:t>
            </a:r>
            <a:r>
              <a:rPr lang="en-GB" dirty="0">
                <a:highlight>
                  <a:srgbClr val="FFFF00"/>
                </a:highlight>
              </a:rPr>
              <a:t>require a set of basic facilities that are used by different parts of the system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</a:t>
            </a:r>
            <a:r>
              <a:rPr lang="en-GB" dirty="0">
                <a:highlight>
                  <a:srgbClr val="FFFF00"/>
                </a:highlight>
              </a:rPr>
              <a:t>specification is developed in conjunction with the software. </a:t>
            </a:r>
          </a:p>
          <a:p>
            <a:pPr lvl="1"/>
            <a:r>
              <a:rPr lang="en-GB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7804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improvement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7055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software companies have turned to software process improvement as a way of </a:t>
            </a:r>
            <a:r>
              <a:rPr lang="en-US" dirty="0">
                <a:highlight>
                  <a:srgbClr val="FFFF00"/>
                </a:highlight>
              </a:rPr>
              <a:t>enhancing the quality of their software</a:t>
            </a:r>
            <a:r>
              <a:rPr lang="en-US" dirty="0"/>
              <a:t>, reducing costs or accelerating their development processes. </a:t>
            </a:r>
          </a:p>
          <a:p>
            <a:r>
              <a:rPr lang="en-US" dirty="0"/>
              <a:t>Process improvement means understanding existing processes and changing these processes to increase product quality and/or reduce costs and development time. 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42665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process maturity approach</a:t>
            </a:r>
            <a:r>
              <a:rPr lang="en-US" dirty="0"/>
              <a:t>, which focuses on improving process  and project management and </a:t>
            </a:r>
            <a:r>
              <a:rPr lang="en-US" dirty="0">
                <a:highlight>
                  <a:srgbClr val="FFFF00"/>
                </a:highlight>
              </a:rPr>
              <a:t>introducing good software engineering practice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level of process maturity reflects the extent to which good technical and management practice has been adopted in organizational software development processes. </a:t>
            </a:r>
            <a:endParaRPr lang="en-GB" dirty="0"/>
          </a:p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agile approach</a:t>
            </a:r>
            <a:r>
              <a:rPr lang="en-US" dirty="0"/>
              <a:t>, which focuses on iterative development and the reduction of overheads in the software process. </a:t>
            </a:r>
          </a:p>
          <a:p>
            <a:pPr lvl="1"/>
            <a:r>
              <a:rPr lang="en-US" dirty="0"/>
              <a:t>The primary characteristics of agile methods </a:t>
            </a:r>
            <a:r>
              <a:rPr lang="en-US" dirty="0">
                <a:highlight>
                  <a:srgbClr val="FFFF00"/>
                </a:highlight>
              </a:rPr>
              <a:t>are rapid delivery of functionality</a:t>
            </a:r>
            <a:r>
              <a:rPr lang="en-US" dirty="0"/>
              <a:t> and responsiveness to changing customer requirements.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36099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improvement cycle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26.3 Process improvement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976" b="-2227"/>
          <a:stretch/>
        </p:blipFill>
        <p:spPr>
          <a:xfrm>
            <a:off x="1760331" y="1698510"/>
            <a:ext cx="4876799" cy="4110668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2720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Process measurement </a:t>
            </a:r>
          </a:p>
          <a:p>
            <a:pPr lvl="1"/>
            <a:r>
              <a:rPr lang="en-US" dirty="0"/>
              <a:t>You </a:t>
            </a:r>
            <a:r>
              <a:rPr lang="en-US" dirty="0">
                <a:highlight>
                  <a:srgbClr val="FFFF00"/>
                </a:highlight>
              </a:rPr>
              <a:t>measure one or more attributes </a:t>
            </a:r>
            <a:r>
              <a:rPr lang="en-US" dirty="0"/>
              <a:t>of the </a:t>
            </a:r>
            <a:r>
              <a:rPr lang="en-US" dirty="0">
                <a:highlight>
                  <a:srgbClr val="FFFF00"/>
                </a:highlight>
              </a:rPr>
              <a:t>software process </a:t>
            </a:r>
            <a:r>
              <a:rPr lang="en-US" dirty="0"/>
              <a:t>or product. These measurements forms a baseline that helps you decide if process improvements have been effective. </a:t>
            </a:r>
            <a:r>
              <a:rPr lang="en-GB" dirty="0"/>
              <a:t> </a:t>
            </a:r>
          </a:p>
          <a:p>
            <a:r>
              <a:rPr lang="en-US" i="1" dirty="0"/>
              <a:t>Process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current process is assessed, and process weaknesses and bottlenecks are identified</a:t>
            </a:r>
            <a:r>
              <a:rPr lang="en-US" dirty="0"/>
              <a:t>. Process models (sometimes called process maps) that describe the process may be developed. </a:t>
            </a:r>
            <a:r>
              <a:rPr lang="en-GB" dirty="0"/>
              <a:t> </a:t>
            </a:r>
          </a:p>
          <a:p>
            <a:r>
              <a:rPr lang="en-US" i="1" dirty="0"/>
              <a:t>Process change </a:t>
            </a:r>
          </a:p>
          <a:p>
            <a:pPr lvl="1"/>
            <a:r>
              <a:rPr lang="en-US" dirty="0"/>
              <a:t>Process changes are </a:t>
            </a:r>
            <a:r>
              <a:rPr lang="en-US" dirty="0">
                <a:highlight>
                  <a:srgbClr val="FFFF00"/>
                </a:highlight>
              </a:rPr>
              <a:t>proposed to address some of the identified process weaknesses</a:t>
            </a:r>
            <a:r>
              <a:rPr lang="en-US" dirty="0"/>
              <a:t>. These are introduced and the cycle resumes to collect data about the effectiveness of the changes.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08528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Process measurement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 dirty="0"/>
              <a:t>Wherever possible, quantitative process data </a:t>
            </a:r>
            <a:br>
              <a:rPr lang="en-GB" sz="2400" dirty="0"/>
            </a:br>
            <a:r>
              <a:rPr lang="en-GB" sz="2400" dirty="0"/>
              <a:t>should be collected</a:t>
            </a:r>
          </a:p>
          <a:p>
            <a:pPr lvl="1"/>
            <a:r>
              <a:rPr lang="en-GB" sz="2000" dirty="0"/>
              <a:t>However, where organisations do not have clearly defined process standards this is </a:t>
            </a:r>
            <a:r>
              <a:rPr lang="en-GB" sz="2000" dirty="0">
                <a:highlight>
                  <a:srgbClr val="FFFF00"/>
                </a:highlight>
              </a:rPr>
              <a:t>very difficult as you don’t know what to measure. </a:t>
            </a:r>
            <a:r>
              <a:rPr lang="en-GB" sz="2000" dirty="0"/>
              <a:t>A process may have to be defined before any measurement is possible.</a:t>
            </a:r>
          </a:p>
          <a:p>
            <a:r>
              <a:rPr lang="en-GB" sz="2400" dirty="0"/>
              <a:t>Process measurements should be used to </a:t>
            </a:r>
            <a:br>
              <a:rPr lang="en-GB" sz="2400" dirty="0"/>
            </a:br>
            <a:r>
              <a:rPr lang="en-GB" sz="2400" dirty="0"/>
              <a:t>assess process improvements</a:t>
            </a:r>
          </a:p>
          <a:p>
            <a:pPr lvl="1"/>
            <a:r>
              <a:rPr lang="en-GB" sz="2000" dirty="0"/>
              <a:t>But this does not mean that measurements should drive the improvements. The improvement driver should be the organizational objectives.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825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Process metrics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Time taken for process activities to be </a:t>
            </a:r>
            <a:br>
              <a:rPr lang="en-GB" dirty="0"/>
            </a:br>
            <a:r>
              <a:rPr lang="en-GB" dirty="0"/>
              <a:t>completed</a:t>
            </a:r>
          </a:p>
          <a:p>
            <a:pPr lvl="1"/>
            <a:r>
              <a:rPr lang="en-GB" dirty="0"/>
              <a:t>E.g. Calendar time or effort to complete an activity or process.</a:t>
            </a:r>
          </a:p>
          <a:p>
            <a:r>
              <a:rPr lang="en-GB" dirty="0"/>
              <a:t>Resources required for processes or activities</a:t>
            </a:r>
          </a:p>
          <a:p>
            <a:pPr lvl="1"/>
            <a:r>
              <a:rPr lang="en-GB" dirty="0"/>
              <a:t>E.g. Total effort in person-days.</a:t>
            </a:r>
          </a:p>
          <a:p>
            <a:r>
              <a:rPr lang="en-GB" dirty="0">
                <a:highlight>
                  <a:srgbClr val="FFFF00"/>
                </a:highlight>
              </a:rPr>
              <a:t>Number of occurrences of a particular event</a:t>
            </a:r>
          </a:p>
          <a:p>
            <a:pPr lvl="1"/>
            <a:r>
              <a:rPr lang="en-GB" dirty="0"/>
              <a:t>E.g. Number of defects discovered.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27100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Capability maturity levels</a:t>
            </a:r>
            <a:endParaRPr lang="en-US" dirty="0"/>
          </a:p>
        </p:txBody>
      </p:sp>
      <p:pic>
        <p:nvPicPr>
          <p:cNvPr id="4" name="Content Placeholder 3" descr="26.10 StagesCMMI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2585" b="-4028"/>
          <a:stretch/>
        </p:blipFill>
        <p:spPr>
          <a:xfrm>
            <a:off x="938696" y="1567571"/>
            <a:ext cx="6681304" cy="5008625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5750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SEI capability maturity model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Initial</a:t>
            </a:r>
          </a:p>
          <a:p>
            <a:pPr lvl="1"/>
            <a:r>
              <a:rPr lang="en-GB"/>
              <a:t>Essentially uncontrolled</a:t>
            </a:r>
          </a:p>
          <a:p>
            <a:r>
              <a:rPr lang="en-GB"/>
              <a:t>Repeatable</a:t>
            </a:r>
          </a:p>
          <a:p>
            <a:pPr lvl="1"/>
            <a:r>
              <a:rPr lang="en-GB"/>
              <a:t>Product management procedures defined and used</a:t>
            </a:r>
          </a:p>
          <a:p>
            <a:r>
              <a:rPr lang="en-GB"/>
              <a:t>Defined</a:t>
            </a:r>
          </a:p>
          <a:p>
            <a:pPr lvl="1"/>
            <a:r>
              <a:rPr lang="en-GB"/>
              <a:t>Process management procedures and strategies defined </a:t>
            </a:r>
            <a:br>
              <a:rPr lang="en-GB"/>
            </a:br>
            <a:r>
              <a:rPr lang="en-GB"/>
              <a:t>and used</a:t>
            </a:r>
          </a:p>
          <a:p>
            <a:r>
              <a:rPr lang="en-GB"/>
              <a:t>Managed</a:t>
            </a:r>
          </a:p>
          <a:p>
            <a:pPr lvl="1"/>
            <a:r>
              <a:rPr lang="en-GB"/>
              <a:t>Quality management strategies defined and used</a:t>
            </a:r>
          </a:p>
          <a:p>
            <a:r>
              <a:rPr lang="en-GB"/>
              <a:t>Optimising</a:t>
            </a:r>
          </a:p>
          <a:p>
            <a:pPr lvl="1"/>
            <a:r>
              <a:rPr lang="en-GB"/>
              <a:t>Process improvement strategies defined and used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728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processes are the activities involved in producing a software system. Software process models are abstract representations of these processes.</a:t>
            </a:r>
          </a:p>
          <a:p>
            <a:r>
              <a:rPr lang="en-GB" dirty="0"/>
              <a:t>General process models describe the organization of software processes. </a:t>
            </a:r>
          </a:p>
          <a:p>
            <a:pPr lvl="1"/>
            <a:r>
              <a:rPr lang="en-GB" dirty="0"/>
              <a:t>Examples of these general models include the ‘waterfall’ model,  incremental development, and reuse-oriented development.</a:t>
            </a:r>
          </a:p>
          <a:p>
            <a:r>
              <a:rPr lang="en-GB" dirty="0"/>
              <a:t>Requirements engineering is the process of developing a software specification.</a:t>
            </a:r>
          </a:p>
          <a:p>
            <a:pPr lvl="1"/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79458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and implementation processes are concerned with transforming a requirements specification into an executable software system. </a:t>
            </a:r>
          </a:p>
          <a:p>
            <a:r>
              <a:rPr lang="en-GB" dirty="0"/>
              <a:t>Software validation is the process of checking that the system conforms to its specification and that it meets the real needs of the users of the system.</a:t>
            </a:r>
          </a:p>
          <a:p>
            <a:r>
              <a:rPr lang="en-GB" dirty="0"/>
              <a:t>Software evolution takes place when you change existing software systems to meet new requirements. The software must evolve to remain useful.</a:t>
            </a:r>
          </a:p>
          <a:p>
            <a:r>
              <a:rPr lang="en-GB" dirty="0"/>
              <a:t>Processes should include activities such as prototyping and incremental delivery to cope with change.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0701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Processes may be structured for iterative development and delivery so that changes may be made without disrupting the system as a whole.</a:t>
            </a:r>
          </a:p>
          <a:p>
            <a:r>
              <a:rPr lang="en-GB" dirty="0"/>
              <a:t> The principal approaches to process improvement are agile approaches, geared to reducing process overheads, and maturity-based approaches based on better process management and the use of good software engineering practice.</a:t>
            </a:r>
          </a:p>
          <a:p>
            <a:r>
              <a:rPr lang="en-GB" dirty="0"/>
              <a:t>The SEI process maturity framework identifies maturity levels that essentially correspond to the use of good software engineering practice.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9418</TotalTime>
  <Words>3162</Words>
  <Application>Microsoft Office PowerPoint</Application>
  <PresentationFormat>On-screen Show (4:3)</PresentationFormat>
  <Paragraphs>429</Paragraphs>
  <Slides>58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Calibri</vt:lpstr>
      <vt:lpstr>Wingdings</vt:lpstr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  <vt:lpstr>Coping with change</vt:lpstr>
      <vt:lpstr>Coping with change</vt:lpstr>
      <vt:lpstr>Reducing the costs of rework</vt:lpstr>
      <vt:lpstr>Coping with changing requirements</vt:lpstr>
      <vt:lpstr>Software prototyping</vt:lpstr>
      <vt:lpstr>Benefits of prototyping</vt:lpstr>
      <vt:lpstr>The process of prototype development 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Process improvement</vt:lpstr>
      <vt:lpstr>Process improvement</vt:lpstr>
      <vt:lpstr>Approaches to improvement</vt:lpstr>
      <vt:lpstr>The process improvement cycle </vt:lpstr>
      <vt:lpstr>Process improvement activities</vt:lpstr>
      <vt:lpstr>Process measurement</vt:lpstr>
      <vt:lpstr>Process metrics</vt:lpstr>
      <vt:lpstr>Capability maturity levels</vt:lpstr>
      <vt:lpstr>The SEI capability maturity model</vt:lpstr>
      <vt:lpstr>Key points</vt:lpstr>
      <vt:lpstr>Key points</vt:lpstr>
      <vt:lpstr>Key points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Breyton Sean Ernstzen</cp:lastModifiedBy>
  <cp:revision>74</cp:revision>
  <dcterms:created xsi:type="dcterms:W3CDTF">2010-01-06T19:57:16Z</dcterms:created>
  <dcterms:modified xsi:type="dcterms:W3CDTF">2022-02-15T19:58:20Z</dcterms:modified>
</cp:coreProperties>
</file>