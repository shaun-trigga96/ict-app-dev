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sldIdLst>
    <p:sldId id="256" r:id="rId2"/>
    <p:sldId id="259" r:id="rId3"/>
    <p:sldId id="260" r:id="rId4"/>
    <p:sldId id="261" r:id="rId5"/>
    <p:sldId id="258" r:id="rId6"/>
    <p:sldId id="262" r:id="rId7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1" d="100"/>
          <a:sy n="81" d="100"/>
        </p:scale>
        <p:origin x="1498" y="6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ZA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7D81146-4D84-4CE0-9691-267F15D41D5D}" type="datetimeFigureOut">
              <a:rPr lang="en-ZA" smtClean="0"/>
              <a:t>2022/03/28</a:t>
            </a:fld>
            <a:endParaRPr lang="en-ZA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ZA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Z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CA8F045-FA19-446C-B051-5C3E03E4E77F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41155569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Z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CA8F045-FA19-446C-B051-5C3E03E4E77F}" type="slidenum">
              <a:rPr lang="en-ZA" smtClean="0"/>
              <a:t>3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35780154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ZA" dirty="0"/>
              <a:t>Adapted from https://online.visual-paradigm.com/diagrams/tutorials/use-case-diagram-tutorial/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CA8F045-FA19-446C-B051-5C3E03E4E77F}" type="slidenum">
              <a:rPr lang="en-ZA" smtClean="0"/>
              <a:t>5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87383584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ZA" dirty="0"/>
              <a:t>N.B</a:t>
            </a:r>
            <a:r>
              <a:rPr lang="en-ZA" baseline="0" dirty="0"/>
              <a:t> Marks would be allocated for the following elements – actors, use cases, correct relationships and notation (lines not crossing), the system name and boundary.</a:t>
            </a:r>
          </a:p>
          <a:p>
            <a:endParaRPr lang="en-Z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CA8F045-FA19-446C-B051-5C3E03E4E77F}" type="slidenum">
              <a:rPr lang="en-ZA" smtClean="0"/>
              <a:t>6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4938504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ZA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8C0D4F-11D2-4188-AC2A-E0EE859D12E6}" type="datetimeFigureOut">
              <a:rPr lang="en-ZA" smtClean="0"/>
              <a:t>2022/03/28</a:t>
            </a:fld>
            <a:endParaRPr lang="en-Z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765A8F-C0A7-4ADB-970E-9348AA2FCCDA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8175192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8C0D4F-11D2-4188-AC2A-E0EE859D12E6}" type="datetimeFigureOut">
              <a:rPr lang="en-ZA" smtClean="0"/>
              <a:t>2022/03/28</a:t>
            </a:fld>
            <a:endParaRPr lang="en-Z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765A8F-C0A7-4ADB-970E-9348AA2FCCDA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2812021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8C0D4F-11D2-4188-AC2A-E0EE859D12E6}" type="datetimeFigureOut">
              <a:rPr lang="en-ZA" smtClean="0"/>
              <a:t>2022/03/28</a:t>
            </a:fld>
            <a:endParaRPr lang="en-Z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765A8F-C0A7-4ADB-970E-9348AA2FCCDA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4174110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8C0D4F-11D2-4188-AC2A-E0EE859D12E6}" type="datetimeFigureOut">
              <a:rPr lang="en-ZA" smtClean="0"/>
              <a:t>2022/03/28</a:t>
            </a:fld>
            <a:endParaRPr lang="en-Z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765A8F-C0A7-4ADB-970E-9348AA2FCCDA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9107535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8C0D4F-11D2-4188-AC2A-E0EE859D12E6}" type="datetimeFigureOut">
              <a:rPr lang="en-ZA" smtClean="0"/>
              <a:t>2022/03/28</a:t>
            </a:fld>
            <a:endParaRPr lang="en-ZA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765A8F-C0A7-4ADB-970E-9348AA2FCCDA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6141760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8C0D4F-11D2-4188-AC2A-E0EE859D12E6}" type="datetimeFigureOut">
              <a:rPr lang="en-ZA" smtClean="0"/>
              <a:t>2022/03/28</a:t>
            </a:fld>
            <a:endParaRPr lang="en-ZA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765A8F-C0A7-4ADB-970E-9348AA2FCCDA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1660262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8C0D4F-11D2-4188-AC2A-E0EE859D12E6}" type="datetimeFigureOut">
              <a:rPr lang="en-ZA" smtClean="0"/>
              <a:t>2022/03/28</a:t>
            </a:fld>
            <a:endParaRPr lang="en-ZA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765A8F-C0A7-4ADB-970E-9348AA2FCCDA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8590421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8C0D4F-11D2-4188-AC2A-E0EE859D12E6}" type="datetimeFigureOut">
              <a:rPr lang="en-ZA" smtClean="0"/>
              <a:t>2022/03/28</a:t>
            </a:fld>
            <a:endParaRPr lang="en-Z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765A8F-C0A7-4ADB-970E-9348AA2FCCDA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4317436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ZA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8C0D4F-11D2-4188-AC2A-E0EE859D12E6}" type="datetimeFigureOut">
              <a:rPr lang="en-ZA" smtClean="0"/>
              <a:t>2022/03/28</a:t>
            </a:fld>
            <a:endParaRPr lang="en-Z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765A8F-C0A7-4ADB-970E-9348AA2FCCDA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8511219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8C0D4F-11D2-4188-AC2A-E0EE859D12E6}" type="datetimeFigureOut">
              <a:rPr lang="en-ZA" smtClean="0"/>
              <a:t>2022/03/28</a:t>
            </a:fld>
            <a:endParaRPr lang="en-Z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765A8F-C0A7-4ADB-970E-9348AA2FCCDA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2660982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8C0D4F-11D2-4188-AC2A-E0EE859D12E6}" type="datetimeFigureOut">
              <a:rPr lang="en-ZA" smtClean="0"/>
              <a:t>2022/03/28</a:t>
            </a:fld>
            <a:endParaRPr lang="en-Z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765A8F-C0A7-4ADB-970E-9348AA2FCCDA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6462004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D8C0D4F-11D2-4188-AC2A-E0EE859D12E6}" type="datetimeFigureOut">
              <a:rPr lang="en-ZA" smtClean="0"/>
              <a:t>2022/03/28</a:t>
            </a:fld>
            <a:endParaRPr lang="en-Z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Z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3765A8F-C0A7-4ADB-970E-9348AA2FCCDA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5613731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emf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l"/>
            <a:r>
              <a:rPr lang="en-ZA" dirty="0"/>
              <a:t>Use Case Diagrams (UCD)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31640" y="4005064"/>
            <a:ext cx="6400800" cy="1633736"/>
          </a:xfrm>
        </p:spPr>
        <p:txBody>
          <a:bodyPr>
            <a:normAutofit/>
          </a:bodyPr>
          <a:lstStyle/>
          <a:p>
            <a:pPr algn="just"/>
            <a:r>
              <a:rPr lang="en-ZA" sz="2400" b="1" dirty="0">
                <a:solidFill>
                  <a:schemeClr val="tx2"/>
                </a:solidFill>
                <a:latin typeface="Arial Narrow" panose="020B0606020202030204" pitchFamily="34" charset="0"/>
                <a:ea typeface="Batang" panose="02030600000101010101" pitchFamily="18" charset="-127"/>
                <a:cs typeface="Tahoma" panose="020B0604030504040204" pitchFamily="34" charset="0"/>
              </a:rPr>
              <a:t>A list of actions, event steps or use cases typically defining the interactions between an actor and a system to achieve a goal.</a:t>
            </a:r>
          </a:p>
          <a:p>
            <a:pPr algn="r"/>
            <a:endParaRPr lang="en-ZA" sz="1200" dirty="0"/>
          </a:p>
          <a:p>
            <a:pPr algn="r"/>
            <a:r>
              <a:rPr lang="en-ZA" sz="1200" b="1" dirty="0">
                <a:solidFill>
                  <a:schemeClr val="tx1"/>
                </a:solidFill>
              </a:rPr>
              <a:t>Notes prepared by G Khan</a:t>
            </a:r>
          </a:p>
        </p:txBody>
      </p:sp>
    </p:spTree>
    <p:extLst>
      <p:ext uri="{BB962C8B-B14F-4D97-AF65-F5344CB8AC3E}">
        <p14:creationId xmlns:p14="http://schemas.microsoft.com/office/powerpoint/2010/main" val="14710158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dirty="0"/>
              <a:t>Symbols and their purpose </a:t>
            </a:r>
          </a:p>
        </p:txBody>
      </p:sp>
      <p:pic>
        <p:nvPicPr>
          <p:cNvPr id="2051" name="Picture 3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75656" y="1340768"/>
            <a:ext cx="5732132" cy="23042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75656" y="3645024"/>
            <a:ext cx="5729287" cy="21602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7160600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dirty="0"/>
              <a:t>Structured use cases</a:t>
            </a:r>
          </a:p>
        </p:txBody>
      </p:sp>
      <p:pic>
        <p:nvPicPr>
          <p:cNvPr id="307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11760" y="3344069"/>
            <a:ext cx="4536504" cy="152509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Rectangle 3"/>
          <p:cNvSpPr/>
          <p:nvPr/>
        </p:nvSpPr>
        <p:spPr>
          <a:xfrm>
            <a:off x="539552" y="1700808"/>
            <a:ext cx="8136904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ZA" dirty="0"/>
              <a:t>&lt;&lt;include&gt;&gt; Use Case</a:t>
            </a:r>
          </a:p>
          <a:p>
            <a:r>
              <a:rPr lang="en-ZA" dirty="0"/>
              <a:t>The time to use the &lt;&lt;include&gt;&gt; relationship is after you have completed the first cut description of all your main Use Cases. You can now look at the Use Cases and identify common sequences of user-system interaction.</a:t>
            </a:r>
          </a:p>
        </p:txBody>
      </p:sp>
    </p:spTree>
    <p:extLst>
      <p:ext uri="{BB962C8B-B14F-4D97-AF65-F5344CB8AC3E}">
        <p14:creationId xmlns:p14="http://schemas.microsoft.com/office/powerpoint/2010/main" val="27654757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dirty="0"/>
              <a:t>Structured use cases </a:t>
            </a:r>
            <a:r>
              <a:rPr lang="en-ZA" sz="1200" dirty="0"/>
              <a:t>cont.</a:t>
            </a:r>
            <a:endParaRPr lang="en-ZA" dirty="0"/>
          </a:p>
        </p:txBody>
      </p:sp>
      <p:pic>
        <p:nvPicPr>
          <p:cNvPr id="4098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7704" y="3667919"/>
            <a:ext cx="4752527" cy="12012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Rectangle 3"/>
          <p:cNvSpPr/>
          <p:nvPr/>
        </p:nvSpPr>
        <p:spPr>
          <a:xfrm>
            <a:off x="1115616" y="1700808"/>
            <a:ext cx="6192688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ZA" dirty="0"/>
              <a:t>&lt;&lt;extend&gt;&gt; Use Case</a:t>
            </a:r>
          </a:p>
          <a:p>
            <a:r>
              <a:rPr lang="en-ZA" dirty="0"/>
              <a:t>An extending use case is, effectively, an alternate course of the base use case. The &lt;&lt;extend&gt;&gt; use case accomplishes this by conceptually inserting additional action sequences into the base use-case sequence.</a:t>
            </a:r>
          </a:p>
        </p:txBody>
      </p:sp>
    </p:spTree>
    <p:extLst>
      <p:ext uri="{BB962C8B-B14F-4D97-AF65-F5344CB8AC3E}">
        <p14:creationId xmlns:p14="http://schemas.microsoft.com/office/powerpoint/2010/main" val="32824342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dirty="0"/>
              <a:t>Symbols </a:t>
            </a:r>
            <a:r>
              <a:rPr lang="en-ZA" sz="1200" dirty="0" err="1"/>
              <a:t>cont</a:t>
            </a:r>
            <a:endParaRPr lang="en-ZA" dirty="0"/>
          </a:p>
        </p:txBody>
      </p:sp>
      <p:pic>
        <p:nvPicPr>
          <p:cNvPr id="1032" name="Picture 8"/>
          <p:cNvPicPr>
            <a:picLocks noGrp="1" noChangeAspect="1" noChangeArrowheads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1640" y="1628800"/>
            <a:ext cx="5996669" cy="20162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33" name="Picture 9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1639" y="3645024"/>
            <a:ext cx="6104211" cy="21602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8190322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dirty="0"/>
              <a:t>Example from a past paper</a:t>
            </a:r>
          </a:p>
        </p:txBody>
      </p:sp>
      <p:pic>
        <p:nvPicPr>
          <p:cNvPr id="5123" name="Picture 3"/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23728" y="1268760"/>
            <a:ext cx="4609524" cy="453650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56102085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207</TotalTime>
  <Words>194</Words>
  <Application>Microsoft Office PowerPoint</Application>
  <PresentationFormat>On-screen Show (4:3)</PresentationFormat>
  <Paragraphs>18</Paragraphs>
  <Slides>6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Arial Narrow</vt:lpstr>
      <vt:lpstr>Calibri</vt:lpstr>
      <vt:lpstr>Office Theme</vt:lpstr>
      <vt:lpstr>Use Case Diagrams (UCD)</vt:lpstr>
      <vt:lpstr>Symbols and their purpose </vt:lpstr>
      <vt:lpstr>Structured use cases</vt:lpstr>
      <vt:lpstr>Structured use cases cont.</vt:lpstr>
      <vt:lpstr>Symbols cont</vt:lpstr>
      <vt:lpstr>Example from a past paper</vt:lpstr>
    </vt:vector>
  </TitlesOfParts>
  <Company>CPUT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Developing Use Case Diagrams (UCD)</dc:title>
  <dc:creator>Gillian</dc:creator>
  <cp:lastModifiedBy>Gillian Khan</cp:lastModifiedBy>
  <cp:revision>8</cp:revision>
  <dcterms:created xsi:type="dcterms:W3CDTF">2020-06-18T07:44:53Z</dcterms:created>
  <dcterms:modified xsi:type="dcterms:W3CDTF">2022-03-28T04:48:18Z</dcterms:modified>
</cp:coreProperties>
</file>