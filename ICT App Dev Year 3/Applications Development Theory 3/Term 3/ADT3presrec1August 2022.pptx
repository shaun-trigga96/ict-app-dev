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9" r:id="rId3"/>
    <p:sldId id="265" r:id="rId4"/>
    <p:sldId id="266" r:id="rId5"/>
    <p:sldId id="267" r:id="rId6"/>
    <p:sldId id="268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63D9E-9883-4E30-AEB4-57C5B00F4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883" y="1766697"/>
            <a:ext cx="3405739" cy="1627792"/>
          </a:xfrm>
        </p:spPr>
        <p:txBody>
          <a:bodyPr>
            <a:normAutofit/>
          </a:bodyPr>
          <a:lstStyle/>
          <a:p>
            <a:r>
              <a:rPr lang="en-US" sz="2000" dirty="0"/>
              <a:t>Software evolution</a:t>
            </a:r>
            <a:endParaRPr lang="en-GB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EEF39-553B-4167-BBC7-C8FF84DEF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22" y="4352543"/>
            <a:ext cx="2410650" cy="1486281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i="1" dirty="0"/>
              <a:t>Change is inevitable</a:t>
            </a:r>
          </a:p>
          <a:p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93A9E98-DB37-4612-AFA6-210252B84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840" y="232151"/>
            <a:ext cx="558034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 </a:t>
            </a:r>
            <a:r>
              <a:rPr lang="en-GB" altLang="en-US" sz="4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</a:t>
            </a:r>
            <a:r>
              <a:rPr kumimoji="0" lang="en-GB" altLang="en-US" sz="4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/08/2022 </a:t>
            </a:r>
            <a:endParaRPr kumimoji="0" lang="en-GB" altLang="en-US" sz="4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48AF6-DD38-43B2-9311-0AA7F48EC1F0}"/>
              </a:ext>
            </a:extLst>
          </p:cNvPr>
          <p:cNvSpPr/>
          <p:nvPr/>
        </p:nvSpPr>
        <p:spPr>
          <a:xfrm>
            <a:off x="5418342" y="2152657"/>
            <a:ext cx="6096000" cy="3029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lvl="0" indent="-5715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 in the SDLC</a:t>
            </a:r>
          </a:p>
          <a:p>
            <a:pPr marL="571500" lvl="0" indent="-5715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Change</a:t>
            </a:r>
          </a:p>
          <a:p>
            <a:pPr marL="571500" lvl="0" indent="-5715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processes</a:t>
            </a:r>
          </a:p>
          <a:p>
            <a:pPr marL="571500" lvl="0" indent="-5715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evolution process</a:t>
            </a:r>
          </a:p>
          <a:p>
            <a:pPr marL="571500" lvl="0" indent="-5715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30192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300" advTm="30000"/>
    </mc:Choice>
    <mc:Fallback xmlns="">
      <p:transition advTm="3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EE9F-191F-4CF3-A988-94075F4B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47182"/>
            <a:ext cx="4486656" cy="1141497"/>
          </a:xfrm>
        </p:spPr>
        <p:txBody>
          <a:bodyPr/>
          <a:lstStyle/>
          <a:p>
            <a:r>
              <a:rPr lang="en-US" dirty="0"/>
              <a:t>Location in the SDLC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4D95-F5A4-40EF-B52A-DD7149CF1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457200">
              <a:lnSpc>
                <a:spcPct val="107000"/>
              </a:lnSpc>
              <a:spcBef>
                <a:spcPts val="0"/>
              </a:spcBef>
              <a:buClrTx/>
              <a:buNone/>
            </a:pP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F18BD-C6F3-4228-8370-3BD5F064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656" y="914400"/>
            <a:ext cx="5222540" cy="54024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D1585-D64A-44D3-8495-4F65E84A5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Post-deployment</a:t>
            </a:r>
          </a:p>
          <a:p>
            <a:r>
              <a:rPr lang="en-US" sz="2800" dirty="0"/>
              <a:t>Remainder of life</a:t>
            </a:r>
          </a:p>
          <a:p>
            <a:r>
              <a:rPr lang="en-US" sz="2800" dirty="0"/>
              <a:t>Use and value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8325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F71F-A1EE-4BBD-A85A-4679D647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24628"/>
            <a:ext cx="4486656" cy="1141497"/>
          </a:xfrm>
        </p:spPr>
        <p:txBody>
          <a:bodyPr/>
          <a:lstStyle/>
          <a:p>
            <a:r>
              <a:rPr lang="en-US" dirty="0"/>
              <a:t>Software change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AE51-34A8-466C-A231-91D859F7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Why should software evolve?</a:t>
            </a:r>
          </a:p>
          <a:p>
            <a:pPr marL="0" indent="0">
              <a:buNone/>
            </a:pPr>
            <a:endParaRPr lang="en-US" sz="3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 Where </a:t>
            </a:r>
            <a:r>
              <a:rPr lang="en-US" sz="3200" b="1" dirty="0">
                <a:solidFill>
                  <a:srgbClr val="FF0000"/>
                </a:solidFill>
              </a:rPr>
              <a:t>did</a:t>
            </a:r>
            <a:r>
              <a:rPr lang="en-US" sz="3200" dirty="0"/>
              <a:t> things go wrong?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Where </a:t>
            </a:r>
            <a:r>
              <a:rPr lang="en-US" sz="3200" b="1" dirty="0">
                <a:solidFill>
                  <a:srgbClr val="0070C0"/>
                </a:solidFill>
              </a:rPr>
              <a:t>can or will </a:t>
            </a:r>
            <a:r>
              <a:rPr lang="en-US" sz="3200" dirty="0"/>
              <a:t>things go wrong?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How can we </a:t>
            </a:r>
            <a:r>
              <a:rPr lang="en-US" sz="3200" b="1" dirty="0">
                <a:solidFill>
                  <a:srgbClr val="00B050"/>
                </a:solidFill>
              </a:rPr>
              <a:t>prevent</a:t>
            </a:r>
            <a:r>
              <a:rPr lang="en-US" sz="3200" dirty="0"/>
              <a:t> things from going wrong?</a:t>
            </a:r>
          </a:p>
          <a:p>
            <a:pPr>
              <a:buFont typeface="Wingdings" panose="05000000000000000000" pitchFamily="2" charset="2"/>
              <a:buChar char="v"/>
            </a:pPr>
            <a:endParaRPr lang="en-GB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95E10-FF01-4569-ADDC-416764DE0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Reasons</a:t>
            </a:r>
          </a:p>
          <a:p>
            <a:r>
              <a:rPr lang="en-US" sz="3600" dirty="0"/>
              <a:t>Importance</a:t>
            </a:r>
          </a:p>
          <a:p>
            <a:r>
              <a:rPr lang="en-US" sz="3600" dirty="0"/>
              <a:t>Cycles </a:t>
            </a:r>
          </a:p>
        </p:txBody>
      </p:sp>
    </p:spTree>
    <p:extLst>
      <p:ext uri="{BB962C8B-B14F-4D97-AF65-F5344CB8AC3E}">
        <p14:creationId xmlns:p14="http://schemas.microsoft.com/office/powerpoint/2010/main" val="384381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DD4E-02DC-4D99-8D1E-85ABA89A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processes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F8963A-F961-4619-8CDF-AE72A5FCC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1725" y="1238623"/>
            <a:ext cx="5808663" cy="41604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D654B-79B6-4479-8737-3DE03570C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Planned or urgent</a:t>
            </a:r>
          </a:p>
          <a:p>
            <a:r>
              <a:rPr lang="en-US" sz="3200" dirty="0">
                <a:solidFill>
                  <a:srgbClr val="002060"/>
                </a:solidFill>
              </a:rPr>
              <a:t>Agile </a:t>
            </a:r>
          </a:p>
          <a:p>
            <a:r>
              <a:rPr lang="en-US" sz="3200" dirty="0">
                <a:solidFill>
                  <a:srgbClr val="002060"/>
                </a:solidFill>
              </a:rPr>
              <a:t>Handover problems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47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BAA4-1B24-42D6-8766-3DCAB7BD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evolution process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AFBC6-D435-4AD8-8E0C-2F71682C7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43" y="2117108"/>
            <a:ext cx="8230313" cy="45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91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1447-16F1-4AB7-94DD-635BB3248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592580"/>
            <a:ext cx="4486656" cy="1141497"/>
          </a:xfrm>
        </p:spPr>
        <p:txBody>
          <a:bodyPr/>
          <a:lstStyle/>
          <a:p>
            <a:r>
              <a:rPr lang="en-US" dirty="0"/>
              <a:t>Dynamics of Program Evolution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FB10-8CB4-4008-87AA-B682B8329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804671"/>
            <a:ext cx="4815840" cy="5525107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Evolution vs Servicing</a:t>
            </a:r>
          </a:p>
          <a:p>
            <a:r>
              <a:rPr lang="en-US" sz="3200" dirty="0"/>
              <a:t>Phase out</a:t>
            </a:r>
          </a:p>
          <a:p>
            <a:r>
              <a:rPr lang="en-US" sz="3200" dirty="0"/>
              <a:t>Lehman’s Laws</a:t>
            </a:r>
          </a:p>
          <a:p>
            <a:pPr lvl="1"/>
            <a:r>
              <a:rPr lang="en-US" sz="2400" dirty="0"/>
              <a:t>Change is inevitable</a:t>
            </a:r>
          </a:p>
          <a:p>
            <a:pPr lvl="1"/>
            <a:r>
              <a:rPr lang="en-US" sz="2400" dirty="0"/>
              <a:t>Complexity increases, structure decreases</a:t>
            </a:r>
          </a:p>
          <a:p>
            <a:pPr lvl="1"/>
            <a:r>
              <a:rPr lang="en-US" sz="2400" dirty="0"/>
              <a:t>In large systems, evolution is controlled by organizational factors</a:t>
            </a:r>
          </a:p>
          <a:p>
            <a:pPr lvl="1"/>
            <a:r>
              <a:rPr lang="en-US" sz="2400" dirty="0"/>
              <a:t>Evolution is constant – not resource related</a:t>
            </a:r>
          </a:p>
          <a:p>
            <a:pPr lvl="1"/>
            <a:r>
              <a:rPr lang="en-US" sz="2400" dirty="0"/>
              <a:t>Rate at which new functionality can be introduced is limited</a:t>
            </a:r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82A9D-F870-45ED-BB91-7F8CF400E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97" y="2352583"/>
            <a:ext cx="5575177" cy="391283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E85A9-3558-477C-92DA-B59C585DE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61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F963-6A58-4DD2-A8F7-3EAF5FC8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exercise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ACAC4-1B48-46A8-B8B3-57233203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sz="2800" dirty="0"/>
              <a:t>Which programs would need to evolve to ensure that the system is compliant with the requirements for operating within COVID-19 Lockdown 3 restrictions ?</a:t>
            </a:r>
          </a:p>
          <a:p>
            <a:pPr marL="457200" indent="-457200">
              <a:buAutoNum type="arabicPeriod"/>
            </a:pPr>
            <a:endParaRPr lang="en-US" sz="2800" dirty="0"/>
          </a:p>
          <a:p>
            <a:pPr marL="457200" indent="-457200">
              <a:buAutoNum type="arabicPeriod"/>
            </a:pPr>
            <a:r>
              <a:rPr lang="en-US" sz="2800" dirty="0"/>
              <a:t>How would the system(s) need to evolve?</a:t>
            </a:r>
          </a:p>
          <a:p>
            <a:pPr marL="457200" indent="-457200">
              <a:buAutoNum type="arabicPeriod"/>
            </a:pPr>
            <a:endParaRPr lang="en-US" sz="2800" dirty="0"/>
          </a:p>
          <a:p>
            <a:pPr marL="457200" indent="-457200">
              <a:buAutoNum type="arabicPeriod"/>
            </a:pPr>
            <a:r>
              <a:rPr lang="en-US" sz="2800" dirty="0"/>
              <a:t>What needs </a:t>
            </a:r>
            <a:r>
              <a:rPr lang="en-US" sz="2800"/>
              <a:t>to evolve?</a:t>
            </a:r>
            <a:endParaRPr lang="en-GB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B97A0-1F58-4CD2-972B-4442C396E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Answer the following questions based on the Restaurant System for the project assigned in Term 1 and determine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617717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181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Wingdings</vt:lpstr>
      <vt:lpstr>Parcel</vt:lpstr>
      <vt:lpstr>Software evolution</vt:lpstr>
      <vt:lpstr>Location in the SDLC </vt:lpstr>
      <vt:lpstr>Software change</vt:lpstr>
      <vt:lpstr>The processes</vt:lpstr>
      <vt:lpstr>Software evolution process</vt:lpstr>
      <vt:lpstr>Dynamics of Program Evolution </vt:lpstr>
      <vt:lpstr>Today’s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Software Design and Architecture Stack</dc:title>
  <dc:creator>Gillian Khan</dc:creator>
  <cp:lastModifiedBy>Faiza Allie</cp:lastModifiedBy>
  <cp:revision>47</cp:revision>
  <dcterms:created xsi:type="dcterms:W3CDTF">2020-07-03T09:57:44Z</dcterms:created>
  <dcterms:modified xsi:type="dcterms:W3CDTF">2022-07-27T08:49:03Z</dcterms:modified>
</cp:coreProperties>
</file>