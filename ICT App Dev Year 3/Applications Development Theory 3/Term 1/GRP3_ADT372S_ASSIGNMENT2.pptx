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4/3/2021</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01962-2828-4A5F-B52C-55B049EB5C1A}"/>
              </a:ext>
            </a:extLst>
          </p:cNvPr>
          <p:cNvSpPr>
            <a:spLocks noGrp="1"/>
          </p:cNvSpPr>
          <p:nvPr>
            <p:ph type="ctrTitle"/>
          </p:nvPr>
        </p:nvSpPr>
        <p:spPr/>
        <p:txBody>
          <a:bodyPr/>
          <a:lstStyle/>
          <a:p>
            <a:r>
              <a:rPr lang="en-GB" dirty="0"/>
              <a:t>ADT372S ASSIGNMENT 2</a:t>
            </a:r>
          </a:p>
        </p:txBody>
      </p:sp>
      <p:sp>
        <p:nvSpPr>
          <p:cNvPr id="3" name="Subtitle 2">
            <a:extLst>
              <a:ext uri="{FF2B5EF4-FFF2-40B4-BE49-F238E27FC236}">
                <a16:creationId xmlns:a16="http://schemas.microsoft.com/office/drawing/2014/main" id="{DE4792FE-CC66-40E0-A60C-0917D1F74437}"/>
              </a:ext>
            </a:extLst>
          </p:cNvPr>
          <p:cNvSpPr>
            <a:spLocks noGrp="1"/>
          </p:cNvSpPr>
          <p:nvPr>
            <p:ph type="subTitle" idx="1"/>
          </p:nvPr>
        </p:nvSpPr>
        <p:spPr>
          <a:xfrm>
            <a:off x="1370693" y="3598339"/>
            <a:ext cx="9440034" cy="1451833"/>
          </a:xfrm>
        </p:spPr>
        <p:txBody>
          <a:bodyPr>
            <a:normAutofit fontScale="92500" lnSpcReduction="20000"/>
          </a:bodyPr>
          <a:lstStyle/>
          <a:p>
            <a:r>
              <a:rPr lang="en-GB" dirty="0"/>
              <a:t>By Casey Crafford</a:t>
            </a:r>
          </a:p>
          <a:p>
            <a:r>
              <a:rPr lang="en-GB" dirty="0"/>
              <a:t>Group 3</a:t>
            </a:r>
          </a:p>
          <a:p>
            <a:r>
              <a:rPr lang="en-GB" dirty="0"/>
              <a:t>219169640</a:t>
            </a:r>
          </a:p>
          <a:p>
            <a:r>
              <a:rPr lang="en-GB" dirty="0"/>
              <a:t>Diploma: ICT Applications Development</a:t>
            </a:r>
          </a:p>
        </p:txBody>
      </p:sp>
    </p:spTree>
    <p:extLst>
      <p:ext uri="{BB962C8B-B14F-4D97-AF65-F5344CB8AC3E}">
        <p14:creationId xmlns:p14="http://schemas.microsoft.com/office/powerpoint/2010/main" val="74849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3083E-22E8-4802-AEA1-6771CD9FB6AE}"/>
              </a:ext>
            </a:extLst>
          </p:cNvPr>
          <p:cNvSpPr>
            <a:spLocks noGrp="1"/>
          </p:cNvSpPr>
          <p:nvPr>
            <p:ph type="title"/>
          </p:nvPr>
        </p:nvSpPr>
        <p:spPr/>
        <p:txBody>
          <a:bodyPr/>
          <a:lstStyle/>
          <a:p>
            <a:r>
              <a:rPr lang="en-GB" dirty="0"/>
              <a:t>PURPOSE</a:t>
            </a:r>
          </a:p>
        </p:txBody>
      </p:sp>
      <p:sp>
        <p:nvSpPr>
          <p:cNvPr id="3" name="Content Placeholder 2">
            <a:extLst>
              <a:ext uri="{FF2B5EF4-FFF2-40B4-BE49-F238E27FC236}">
                <a16:creationId xmlns:a16="http://schemas.microsoft.com/office/drawing/2014/main" id="{B93798DE-CBDF-4020-A6C7-FDBB3BCA39D7}"/>
              </a:ext>
            </a:extLst>
          </p:cNvPr>
          <p:cNvSpPr>
            <a:spLocks noGrp="1"/>
          </p:cNvSpPr>
          <p:nvPr>
            <p:ph idx="1"/>
          </p:nvPr>
        </p:nvSpPr>
        <p:spPr/>
        <p:txBody>
          <a:bodyPr/>
          <a:lstStyle/>
          <a:p>
            <a:r>
              <a:rPr lang="en-GB" dirty="0"/>
              <a:t>A family- owned restaurant is expanding since its rise in popularity, however before doing so changes need to be made.</a:t>
            </a:r>
          </a:p>
          <a:p>
            <a:r>
              <a:rPr lang="en-GB" dirty="0"/>
              <a:t>With the increase in staff, orders, tables and more, the restaurant would have far too much paperwork if it were to continue using it’s paper-based system.</a:t>
            </a:r>
          </a:p>
          <a:p>
            <a:r>
              <a:rPr lang="en-GB" dirty="0"/>
              <a:t>The family-owned restaurant wants to “go digital”: all order-taking, delivery of orders and receipt keeping needs to be computerized.</a:t>
            </a:r>
          </a:p>
          <a:p>
            <a:r>
              <a:rPr lang="en-GB" dirty="0"/>
              <a:t>Furthermore, being in the middle of a pandemic, these changes need to ensure the restaurant remains compliant with COVID regulations.</a:t>
            </a:r>
          </a:p>
          <a:p>
            <a:pPr marL="36900" indent="0">
              <a:buNone/>
            </a:pPr>
            <a:endParaRPr lang="en-GB" dirty="0"/>
          </a:p>
          <a:p>
            <a:endParaRPr lang="en-GB" dirty="0"/>
          </a:p>
        </p:txBody>
      </p:sp>
    </p:spTree>
    <p:extLst>
      <p:ext uri="{BB962C8B-B14F-4D97-AF65-F5344CB8AC3E}">
        <p14:creationId xmlns:p14="http://schemas.microsoft.com/office/powerpoint/2010/main" val="653733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FCEC-AFB0-40B3-94D2-0D597966BDD3}"/>
              </a:ext>
            </a:extLst>
          </p:cNvPr>
          <p:cNvSpPr>
            <a:spLocks noGrp="1"/>
          </p:cNvSpPr>
          <p:nvPr>
            <p:ph type="title"/>
          </p:nvPr>
        </p:nvSpPr>
        <p:spPr/>
        <p:txBody>
          <a:bodyPr/>
          <a:lstStyle/>
          <a:p>
            <a:r>
              <a:rPr lang="en-GB" dirty="0"/>
              <a:t>SCOPE &amp; STAKEHOLDERS</a:t>
            </a:r>
          </a:p>
        </p:txBody>
      </p:sp>
      <p:sp>
        <p:nvSpPr>
          <p:cNvPr id="4" name="Text Placeholder 3">
            <a:extLst>
              <a:ext uri="{FF2B5EF4-FFF2-40B4-BE49-F238E27FC236}">
                <a16:creationId xmlns:a16="http://schemas.microsoft.com/office/drawing/2014/main" id="{A85FA3C2-799C-48EA-BDBC-3762FFACB044}"/>
              </a:ext>
            </a:extLst>
          </p:cNvPr>
          <p:cNvSpPr>
            <a:spLocks noGrp="1"/>
          </p:cNvSpPr>
          <p:nvPr>
            <p:ph type="body" idx="1"/>
          </p:nvPr>
        </p:nvSpPr>
        <p:spPr/>
        <p:txBody>
          <a:bodyPr/>
          <a:lstStyle/>
          <a:p>
            <a:r>
              <a:rPr lang="en-GB" dirty="0"/>
              <a:t>Scope</a:t>
            </a:r>
          </a:p>
        </p:txBody>
      </p:sp>
      <p:sp>
        <p:nvSpPr>
          <p:cNvPr id="3" name="Content Placeholder 2">
            <a:extLst>
              <a:ext uri="{FF2B5EF4-FFF2-40B4-BE49-F238E27FC236}">
                <a16:creationId xmlns:a16="http://schemas.microsoft.com/office/drawing/2014/main" id="{BF09C7CE-B29C-4E08-93E3-DB6150B27D73}"/>
              </a:ext>
            </a:extLst>
          </p:cNvPr>
          <p:cNvSpPr>
            <a:spLocks noGrp="1"/>
          </p:cNvSpPr>
          <p:nvPr>
            <p:ph sz="half" idx="2"/>
          </p:nvPr>
        </p:nvSpPr>
        <p:spPr/>
        <p:txBody>
          <a:bodyPr/>
          <a:lstStyle/>
          <a:p>
            <a:pPr marL="36900" indent="0">
              <a:buNone/>
            </a:pPr>
            <a:r>
              <a:rPr lang="en-GB" dirty="0"/>
              <a:t>Deliverables:</a:t>
            </a:r>
          </a:p>
          <a:p>
            <a:r>
              <a:rPr lang="en-GB" dirty="0"/>
              <a:t>Develop a point of sale software for a family-owned restaurant.</a:t>
            </a:r>
          </a:p>
          <a:p>
            <a:r>
              <a:rPr lang="en-GB" dirty="0"/>
              <a:t>Develop a database to work alongside the POS software.</a:t>
            </a:r>
          </a:p>
          <a:p>
            <a:r>
              <a:rPr lang="en-GB" dirty="0"/>
              <a:t>Maintain compliance with COVID regulations.</a:t>
            </a:r>
          </a:p>
          <a:p>
            <a:endParaRPr lang="en-GB" dirty="0"/>
          </a:p>
        </p:txBody>
      </p:sp>
      <p:sp>
        <p:nvSpPr>
          <p:cNvPr id="5" name="Text Placeholder 4">
            <a:extLst>
              <a:ext uri="{FF2B5EF4-FFF2-40B4-BE49-F238E27FC236}">
                <a16:creationId xmlns:a16="http://schemas.microsoft.com/office/drawing/2014/main" id="{67981070-6576-4B13-93B6-F477EDAAF7F8}"/>
              </a:ext>
            </a:extLst>
          </p:cNvPr>
          <p:cNvSpPr>
            <a:spLocks noGrp="1"/>
          </p:cNvSpPr>
          <p:nvPr>
            <p:ph type="body" sz="quarter" idx="3"/>
          </p:nvPr>
        </p:nvSpPr>
        <p:spPr/>
        <p:txBody>
          <a:bodyPr/>
          <a:lstStyle/>
          <a:p>
            <a:r>
              <a:rPr lang="en-GB" dirty="0"/>
              <a:t>Stakeholders</a:t>
            </a:r>
          </a:p>
        </p:txBody>
      </p:sp>
      <p:sp>
        <p:nvSpPr>
          <p:cNvPr id="6" name="Content Placeholder 5">
            <a:extLst>
              <a:ext uri="{FF2B5EF4-FFF2-40B4-BE49-F238E27FC236}">
                <a16:creationId xmlns:a16="http://schemas.microsoft.com/office/drawing/2014/main" id="{5F569121-A94A-44AF-846F-5A531F61B06F}"/>
              </a:ext>
            </a:extLst>
          </p:cNvPr>
          <p:cNvSpPr>
            <a:spLocks noGrp="1"/>
          </p:cNvSpPr>
          <p:nvPr>
            <p:ph sz="quarter" idx="4"/>
          </p:nvPr>
        </p:nvSpPr>
        <p:spPr/>
        <p:txBody>
          <a:bodyPr/>
          <a:lstStyle/>
          <a:p>
            <a:r>
              <a:rPr lang="en-GB" dirty="0"/>
              <a:t>Customers</a:t>
            </a:r>
          </a:p>
          <a:p>
            <a:r>
              <a:rPr lang="en-GB" dirty="0"/>
              <a:t>Wait staff of restaurant</a:t>
            </a:r>
          </a:p>
          <a:p>
            <a:r>
              <a:rPr lang="en-GB" dirty="0"/>
              <a:t>Management of restaurant</a:t>
            </a:r>
          </a:p>
          <a:p>
            <a:r>
              <a:rPr lang="en-GB" dirty="0"/>
              <a:t>Investors(including banks loaned from)</a:t>
            </a:r>
          </a:p>
          <a:p>
            <a:endParaRPr lang="en-GB" dirty="0"/>
          </a:p>
        </p:txBody>
      </p:sp>
    </p:spTree>
    <p:extLst>
      <p:ext uri="{BB962C8B-B14F-4D97-AF65-F5344CB8AC3E}">
        <p14:creationId xmlns:p14="http://schemas.microsoft.com/office/powerpoint/2010/main" val="409864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8B1EE-9F22-4967-9869-2260165EC705}"/>
              </a:ext>
            </a:extLst>
          </p:cNvPr>
          <p:cNvSpPr>
            <a:spLocks noGrp="1"/>
          </p:cNvSpPr>
          <p:nvPr>
            <p:ph type="title"/>
          </p:nvPr>
        </p:nvSpPr>
        <p:spPr/>
        <p:txBody>
          <a:bodyPr/>
          <a:lstStyle/>
          <a:p>
            <a:r>
              <a:rPr lang="en-GB" dirty="0"/>
              <a:t>FEASIBILITY</a:t>
            </a:r>
          </a:p>
        </p:txBody>
      </p:sp>
      <p:sp>
        <p:nvSpPr>
          <p:cNvPr id="3" name="Content Placeholder 2">
            <a:extLst>
              <a:ext uri="{FF2B5EF4-FFF2-40B4-BE49-F238E27FC236}">
                <a16:creationId xmlns:a16="http://schemas.microsoft.com/office/drawing/2014/main" id="{9B8A384E-F2A0-433A-B47B-540EE9D44EEB}"/>
              </a:ext>
            </a:extLst>
          </p:cNvPr>
          <p:cNvSpPr>
            <a:spLocks noGrp="1"/>
          </p:cNvSpPr>
          <p:nvPr>
            <p:ph idx="1"/>
          </p:nvPr>
        </p:nvSpPr>
        <p:spPr>
          <a:xfrm>
            <a:off x="913795" y="1580050"/>
            <a:ext cx="10353762" cy="4953577"/>
          </a:xfrm>
        </p:spPr>
        <p:txBody>
          <a:bodyPr>
            <a:normAutofit/>
          </a:bodyPr>
          <a:lstStyle/>
          <a:p>
            <a:r>
              <a:rPr lang="en-GB" dirty="0"/>
              <a:t>The system would contribute significantly to the restaurant’s overall objectives by making the ordering process far more efficient, providing up-to-date analysis on restaurant performance and decreasing the time put into paperwork to allow more time for improving the restaurant itself.</a:t>
            </a:r>
          </a:p>
          <a:p>
            <a:r>
              <a:rPr lang="en-GB" dirty="0"/>
              <a:t>The completion date has not been finalised as of yet, however looking at the date for the component demonstration, this project can be completed on schedule. Furthermore, this project can definitely be completed within the budget. Both of these statements have been created taking into account only the use of technology currently available.</a:t>
            </a:r>
          </a:p>
          <a:p>
            <a:r>
              <a:rPr lang="en-GB" dirty="0"/>
              <a:t>The system will integrate with the old paper-based system because it will be mostly replacing the paper-based system. Transactions and analysis of data before the system will however, not be possible because the transactions were on paper, not a previous system, and the data needed for the restaurant analysis were not tracked.</a:t>
            </a:r>
          </a:p>
        </p:txBody>
      </p:sp>
    </p:spTree>
    <p:extLst>
      <p:ext uri="{BB962C8B-B14F-4D97-AF65-F5344CB8AC3E}">
        <p14:creationId xmlns:p14="http://schemas.microsoft.com/office/powerpoint/2010/main" val="2959362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161C8-1C2D-4CD3-A2CC-6D77A1115448}"/>
              </a:ext>
            </a:extLst>
          </p:cNvPr>
          <p:cNvSpPr>
            <a:spLocks noGrp="1"/>
          </p:cNvSpPr>
          <p:nvPr>
            <p:ph type="title"/>
          </p:nvPr>
        </p:nvSpPr>
        <p:spPr/>
        <p:txBody>
          <a:bodyPr/>
          <a:lstStyle/>
          <a:p>
            <a:r>
              <a:rPr lang="en-GB" dirty="0"/>
              <a:t>PROJECT ROADMAP</a:t>
            </a:r>
          </a:p>
        </p:txBody>
      </p:sp>
      <p:pic>
        <p:nvPicPr>
          <p:cNvPr id="5" name="Content Placeholder 4">
            <a:extLst>
              <a:ext uri="{FF2B5EF4-FFF2-40B4-BE49-F238E27FC236}">
                <a16:creationId xmlns:a16="http://schemas.microsoft.com/office/drawing/2014/main" id="{3911D018-B5C1-4481-A6A8-C1C98F309E16}"/>
              </a:ext>
            </a:extLst>
          </p:cNvPr>
          <p:cNvPicPr>
            <a:picLocks noGrp="1" noChangeAspect="1"/>
          </p:cNvPicPr>
          <p:nvPr>
            <p:ph idx="1"/>
          </p:nvPr>
        </p:nvPicPr>
        <p:blipFill>
          <a:blip r:embed="rId2"/>
          <a:stretch>
            <a:fillRect/>
          </a:stretch>
        </p:blipFill>
        <p:spPr>
          <a:xfrm>
            <a:off x="914400" y="1943761"/>
            <a:ext cx="10353675" cy="3635641"/>
          </a:xfrm>
        </p:spPr>
      </p:pic>
    </p:spTree>
    <p:extLst>
      <p:ext uri="{BB962C8B-B14F-4D97-AF65-F5344CB8AC3E}">
        <p14:creationId xmlns:p14="http://schemas.microsoft.com/office/powerpoint/2010/main" val="2111573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E0C98-88F8-44B4-87D2-9ABDC4F53532}"/>
              </a:ext>
            </a:extLst>
          </p:cNvPr>
          <p:cNvSpPr>
            <a:spLocks noGrp="1"/>
          </p:cNvSpPr>
          <p:nvPr>
            <p:ph type="title"/>
          </p:nvPr>
        </p:nvSpPr>
        <p:spPr/>
        <p:txBody>
          <a:bodyPr/>
          <a:lstStyle/>
          <a:p>
            <a:r>
              <a:rPr lang="en-GB" dirty="0"/>
              <a:t>ETHICAL POLICY</a:t>
            </a:r>
          </a:p>
        </p:txBody>
      </p:sp>
      <p:sp>
        <p:nvSpPr>
          <p:cNvPr id="3" name="Content Placeholder 2">
            <a:extLst>
              <a:ext uri="{FF2B5EF4-FFF2-40B4-BE49-F238E27FC236}">
                <a16:creationId xmlns:a16="http://schemas.microsoft.com/office/drawing/2014/main" id="{E7AB6EFA-47CC-4BC5-9AB9-F10B60DCAE05}"/>
              </a:ext>
            </a:extLst>
          </p:cNvPr>
          <p:cNvSpPr>
            <a:spLocks noGrp="1"/>
          </p:cNvSpPr>
          <p:nvPr>
            <p:ph idx="1"/>
          </p:nvPr>
        </p:nvSpPr>
        <p:spPr/>
        <p:txBody>
          <a:bodyPr/>
          <a:lstStyle/>
          <a:p>
            <a:pPr marL="36900" indent="0">
              <a:buNone/>
            </a:pPr>
            <a:r>
              <a:rPr lang="en-GB" dirty="0"/>
              <a:t>I follow the 4 principles of ethics:</a:t>
            </a:r>
          </a:p>
          <a:p>
            <a:r>
              <a:rPr lang="en-GB" dirty="0"/>
              <a:t>I respect the confidentiality between the employer/client and myself, regardless of a formal agreement.</a:t>
            </a:r>
          </a:p>
          <a:p>
            <a:r>
              <a:rPr lang="en-GB" dirty="0"/>
              <a:t>I am honest about my competency and do not take on work that is out of my depth..</a:t>
            </a:r>
          </a:p>
          <a:p>
            <a:r>
              <a:rPr lang="en-GB" dirty="0"/>
              <a:t>I respect intellectual property rights and their respective owners.</a:t>
            </a:r>
          </a:p>
          <a:p>
            <a:r>
              <a:rPr lang="en-GB" dirty="0"/>
              <a:t>I do not partake in any form of computer misuse.</a:t>
            </a:r>
          </a:p>
          <a:p>
            <a:endParaRPr lang="en-GB" dirty="0"/>
          </a:p>
          <a:p>
            <a:r>
              <a:rPr lang="en-GB" dirty="0"/>
              <a:t>Additionally, I follow the ACM/IEEE-CS code of ethics and professional practice.</a:t>
            </a:r>
          </a:p>
          <a:p>
            <a:endParaRPr lang="en-GB" dirty="0"/>
          </a:p>
        </p:txBody>
      </p:sp>
    </p:spTree>
    <p:extLst>
      <p:ext uri="{BB962C8B-B14F-4D97-AF65-F5344CB8AC3E}">
        <p14:creationId xmlns:p14="http://schemas.microsoft.com/office/powerpoint/2010/main" val="2461158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60D58-97CC-4041-AF6B-961641A3D8A0}"/>
              </a:ext>
            </a:extLst>
          </p:cNvPr>
          <p:cNvSpPr>
            <a:spLocks noGrp="1"/>
          </p:cNvSpPr>
          <p:nvPr>
            <p:ph type="title"/>
          </p:nvPr>
        </p:nvSpPr>
        <p:spPr/>
        <p:txBody>
          <a:bodyPr/>
          <a:lstStyle/>
          <a:p>
            <a:r>
              <a:rPr lang="en-GB" dirty="0"/>
              <a:t>USE CASE DIAGRAM</a:t>
            </a:r>
          </a:p>
        </p:txBody>
      </p:sp>
      <p:pic>
        <p:nvPicPr>
          <p:cNvPr id="5" name="Content Placeholder 4">
            <a:extLst>
              <a:ext uri="{FF2B5EF4-FFF2-40B4-BE49-F238E27FC236}">
                <a16:creationId xmlns:a16="http://schemas.microsoft.com/office/drawing/2014/main" id="{FB2B25A6-ED3E-4898-A042-5369A4948EF6}"/>
              </a:ext>
            </a:extLst>
          </p:cNvPr>
          <p:cNvPicPr>
            <a:picLocks noGrp="1" noChangeAspect="1"/>
          </p:cNvPicPr>
          <p:nvPr>
            <p:ph idx="1"/>
          </p:nvPr>
        </p:nvPicPr>
        <p:blipFill>
          <a:blip r:embed="rId2"/>
          <a:stretch>
            <a:fillRect/>
          </a:stretch>
        </p:blipFill>
        <p:spPr>
          <a:xfrm>
            <a:off x="3454579" y="1513850"/>
            <a:ext cx="5272194" cy="5152372"/>
          </a:xfrm>
        </p:spPr>
      </p:pic>
    </p:spTree>
    <p:extLst>
      <p:ext uri="{BB962C8B-B14F-4D97-AF65-F5344CB8AC3E}">
        <p14:creationId xmlns:p14="http://schemas.microsoft.com/office/powerpoint/2010/main" val="20370267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826F61"/>
      </a:accent1>
      <a:accent2>
        <a:srgbClr val="A19C7F"/>
      </a:accent2>
      <a:accent3>
        <a:srgbClr val="9AA489"/>
      </a:accent3>
      <a:accent4>
        <a:srgbClr val="7C938B"/>
      </a:accent4>
      <a:accent5>
        <a:srgbClr val="7C7D92"/>
      </a:accent5>
      <a:accent6>
        <a:srgbClr val="897376"/>
      </a:accent6>
      <a:hlink>
        <a:srgbClr val="D29B73"/>
      </a:hlink>
      <a:folHlink>
        <a:srgbClr val="F4C5A4"/>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FF747C5C-A8E8-4833-9E55-3D08FE4E487A}"/>
    </a:ext>
  </a:extLst>
</a:theme>
</file>

<file path=docProps/app.xml><?xml version="1.0" encoding="utf-8"?>
<Properties xmlns="http://schemas.openxmlformats.org/officeDocument/2006/extended-properties" xmlns:vt="http://schemas.openxmlformats.org/officeDocument/2006/docPropsVTypes">
  <Template>TM04033929[[fn=Slate]]</Template>
  <TotalTime>347</TotalTime>
  <Words>409</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Calisto MT</vt:lpstr>
      <vt:lpstr>Wingdings 2</vt:lpstr>
      <vt:lpstr>Slate</vt:lpstr>
      <vt:lpstr>ADT372S ASSIGNMENT 2</vt:lpstr>
      <vt:lpstr>PURPOSE</vt:lpstr>
      <vt:lpstr>SCOPE &amp; STAKEHOLDERS</vt:lpstr>
      <vt:lpstr>FEASIBILITY</vt:lpstr>
      <vt:lpstr>PROJECT ROADMAP</vt:lpstr>
      <vt:lpstr>ETHICAL POLICY</vt:lpstr>
      <vt:lpstr>USE CASE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ADT372S ASSIGNMENT 2</dc:title>
  <dc:creator>Casey Crafford</dc:creator>
  <cp:lastModifiedBy>Casey Crafford</cp:lastModifiedBy>
  <cp:revision>17</cp:revision>
  <dcterms:created xsi:type="dcterms:W3CDTF">2021-04-03T15:04:39Z</dcterms:created>
  <dcterms:modified xsi:type="dcterms:W3CDTF">2021-04-03T20:52:37Z</dcterms:modified>
</cp:coreProperties>
</file>