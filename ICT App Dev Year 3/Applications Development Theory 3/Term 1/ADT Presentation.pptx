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7" r:id="rId1"/>
  </p:sldMasterIdLst>
  <p:sldIdLst>
    <p:sldId id="256" r:id="rId2"/>
    <p:sldId id="267" r:id="rId3"/>
    <p:sldId id="261" r:id="rId4"/>
    <p:sldId id="259" r:id="rId5"/>
    <p:sldId id="260" r:id="rId6"/>
    <p:sldId id="266" r:id="rId7"/>
    <p:sldId id="264" r:id="rId8"/>
    <p:sldId id="265"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63"/>
    <p:restoredTop sz="95408"/>
  </p:normalViewPr>
  <p:slideViewPr>
    <p:cSldViewPr snapToGrid="0" snapToObjects="1">
      <p:cViewPr varScale="1">
        <p:scale>
          <a:sx n="101" d="100"/>
          <a:sy n="101" d="100"/>
        </p:scale>
        <p:origin x="47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GB"/>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787D3E6B-A972-564C-B53B-3AB6177363D3}" type="datetimeFigureOut">
              <a:rPr lang="en-US" smtClean="0"/>
              <a:t>2/26/20</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40ACF7B7-EF80-E240-A0EE-B902B4BA2A21}"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92522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87D3E6B-A972-564C-B53B-3AB6177363D3}" type="datetimeFigureOut">
              <a:rPr lang="en-US" smtClean="0"/>
              <a:t>2/26/20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ACF7B7-EF80-E240-A0EE-B902B4BA2A21}"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9350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GB"/>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87D3E6B-A972-564C-B53B-3AB6177363D3}" type="datetimeFigureOut">
              <a:rPr lang="en-US" smtClean="0"/>
              <a:t>2/26/20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ACF7B7-EF80-E240-A0EE-B902B4BA2A21}"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45526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87D3E6B-A972-564C-B53B-3AB6177363D3}" type="datetimeFigureOut">
              <a:rPr lang="en-US" smtClean="0"/>
              <a:t>2/26/20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ACF7B7-EF80-E240-A0EE-B902B4BA2A21}"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67646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87D3E6B-A972-564C-B53B-3AB6177363D3}" type="datetimeFigureOut">
              <a:rPr lang="en-US" smtClean="0"/>
              <a:t>2/26/20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ACF7B7-EF80-E240-A0EE-B902B4BA2A21}"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31134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87D3E6B-A972-564C-B53B-3AB6177363D3}" type="datetimeFigureOut">
              <a:rPr lang="en-US" smtClean="0"/>
              <a:t>2/26/20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ACF7B7-EF80-E240-A0EE-B902B4BA2A21}"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72232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7D3E6B-A972-564C-B53B-3AB6177363D3}" type="datetimeFigureOut">
              <a:rPr lang="en-US" smtClean="0"/>
              <a:t>2/26/20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ACF7B7-EF80-E240-A0EE-B902B4BA2A21}" type="slidenum">
              <a:rPr lang="en-US" smtClean="0"/>
              <a:t>‹#›</a:t>
            </a:fld>
            <a:endParaRPr lang="en-US"/>
          </a:p>
        </p:txBody>
      </p:sp>
    </p:spTree>
    <p:extLst>
      <p:ext uri="{BB962C8B-B14F-4D97-AF65-F5344CB8AC3E}">
        <p14:creationId xmlns:p14="http://schemas.microsoft.com/office/powerpoint/2010/main" val="901604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87D3E6B-A972-564C-B53B-3AB6177363D3}" type="datetimeFigureOut">
              <a:rPr lang="en-US" smtClean="0"/>
              <a:t>2/26/20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ACF7B7-EF80-E240-A0EE-B902B4BA2A21}"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68837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787D3E6B-A972-564C-B53B-3AB6177363D3}" type="datetimeFigureOut">
              <a:rPr lang="en-US" smtClean="0"/>
              <a:t>2/26/20</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40ACF7B7-EF80-E240-A0EE-B902B4BA2A21}"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21136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87D3E6B-A972-564C-B53B-3AB6177363D3}" type="datetimeFigureOut">
              <a:rPr lang="en-US" smtClean="0"/>
              <a:t>2/26/20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ACF7B7-EF80-E240-A0EE-B902B4BA2A21}"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28756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87D3E6B-A972-564C-B53B-3AB6177363D3}" type="datetimeFigureOut">
              <a:rPr lang="en-US" smtClean="0"/>
              <a:t>2/26/20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ACF7B7-EF80-E240-A0EE-B902B4BA2A21}"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96885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87D3E6B-A972-564C-B53B-3AB6177363D3}" type="datetimeFigureOut">
              <a:rPr lang="en-US" smtClean="0"/>
              <a:t>2/26/20</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0ACF7B7-EF80-E240-A0EE-B902B4BA2A21}"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323892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F173F-24FD-2543-A025-0C2C109479F5}"/>
              </a:ext>
            </a:extLst>
          </p:cNvPr>
          <p:cNvSpPr>
            <a:spLocks noGrp="1"/>
          </p:cNvSpPr>
          <p:nvPr>
            <p:ph type="ctrTitle"/>
          </p:nvPr>
        </p:nvSpPr>
        <p:spPr/>
        <p:txBody>
          <a:bodyPr>
            <a:normAutofit/>
          </a:bodyPr>
          <a:lstStyle/>
          <a:p>
            <a:pPr algn="l"/>
            <a:r>
              <a:rPr lang="en-US" sz="3600" dirty="0"/>
              <a:t>APPLICATION DEVELPOMENT THEORY </a:t>
            </a:r>
            <a:br>
              <a:rPr lang="en-US" sz="3600" dirty="0"/>
            </a:br>
            <a:br>
              <a:rPr lang="en-US" sz="3600" dirty="0"/>
            </a:br>
            <a:r>
              <a:rPr lang="en-US" sz="3600" dirty="0"/>
              <a:t>ASSIGNMENT 2</a:t>
            </a:r>
            <a:br>
              <a:rPr lang="en-ZA" dirty="0"/>
            </a:br>
            <a:br>
              <a:rPr lang="en-US" sz="3600" dirty="0"/>
            </a:br>
            <a:r>
              <a:rPr lang="en-US" sz="3600" dirty="0"/>
              <a:t>GROUP MEMBERS </a:t>
            </a:r>
          </a:p>
        </p:txBody>
      </p:sp>
      <p:sp>
        <p:nvSpPr>
          <p:cNvPr id="3" name="Subtitle 2">
            <a:extLst>
              <a:ext uri="{FF2B5EF4-FFF2-40B4-BE49-F238E27FC236}">
                <a16:creationId xmlns:a16="http://schemas.microsoft.com/office/drawing/2014/main" id="{5AA2D266-F045-ED48-AD3A-36862BF3494E}"/>
              </a:ext>
            </a:extLst>
          </p:cNvPr>
          <p:cNvSpPr>
            <a:spLocks noGrp="1"/>
          </p:cNvSpPr>
          <p:nvPr>
            <p:ph type="subTitle" idx="1"/>
          </p:nvPr>
        </p:nvSpPr>
        <p:spPr/>
        <p:txBody>
          <a:bodyPr>
            <a:normAutofit fontScale="62500" lnSpcReduction="20000"/>
          </a:bodyPr>
          <a:lstStyle/>
          <a:p>
            <a:pPr algn="l"/>
            <a:r>
              <a:rPr lang="en-ZA" dirty="0"/>
              <a:t>Sinethemba 		</a:t>
            </a:r>
            <a:r>
              <a:rPr lang="en-ZA" dirty="0" err="1"/>
              <a:t>Poni</a:t>
            </a:r>
            <a:r>
              <a:rPr lang="en-ZA" dirty="0"/>
              <a:t> 		213276968</a:t>
            </a:r>
          </a:p>
          <a:p>
            <a:pPr algn="l"/>
            <a:r>
              <a:rPr lang="en-ZA" dirty="0"/>
              <a:t>Stefano 		</a:t>
            </a:r>
            <a:r>
              <a:rPr lang="en-ZA" dirty="0" err="1"/>
              <a:t>Ngantweni</a:t>
            </a:r>
            <a:r>
              <a:rPr lang="en-ZA" dirty="0"/>
              <a:t> 		216283132</a:t>
            </a:r>
          </a:p>
          <a:p>
            <a:pPr algn="l"/>
            <a:r>
              <a:rPr lang="en-ZA" dirty="0" err="1"/>
              <a:t>Mthuthuzeli</a:t>
            </a:r>
            <a:r>
              <a:rPr lang="en-ZA" dirty="0"/>
              <a:t> 	</a:t>
            </a:r>
            <a:r>
              <a:rPr lang="en-ZA" dirty="0" err="1"/>
              <a:t>Magidigidi</a:t>
            </a:r>
            <a:r>
              <a:rPr lang="en-ZA" dirty="0"/>
              <a:t>		210076763</a:t>
            </a:r>
          </a:p>
          <a:p>
            <a:endParaRPr lang="en-US" dirty="0"/>
          </a:p>
        </p:txBody>
      </p:sp>
    </p:spTree>
    <p:extLst>
      <p:ext uri="{BB962C8B-B14F-4D97-AF65-F5344CB8AC3E}">
        <p14:creationId xmlns:p14="http://schemas.microsoft.com/office/powerpoint/2010/main" val="8917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026D9-521C-EE49-BDCD-B0E2B338F206}"/>
              </a:ext>
            </a:extLst>
          </p:cNvPr>
          <p:cNvSpPr>
            <a:spLocks noGrp="1"/>
          </p:cNvSpPr>
          <p:nvPr>
            <p:ph type="title"/>
          </p:nvPr>
        </p:nvSpPr>
        <p:spPr/>
        <p:txBody>
          <a:bodyPr/>
          <a:lstStyle/>
          <a:p>
            <a:pPr algn="ctr"/>
            <a:r>
              <a:rPr lang="en-US" dirty="0"/>
              <a:t>Restaurant Stakeholders </a:t>
            </a:r>
          </a:p>
        </p:txBody>
      </p:sp>
      <p:sp>
        <p:nvSpPr>
          <p:cNvPr id="3" name="Content Placeholder 2">
            <a:extLst>
              <a:ext uri="{FF2B5EF4-FFF2-40B4-BE49-F238E27FC236}">
                <a16:creationId xmlns:a16="http://schemas.microsoft.com/office/drawing/2014/main" id="{2D02E48B-8070-C542-AE52-A38365A8B110}"/>
              </a:ext>
            </a:extLst>
          </p:cNvPr>
          <p:cNvSpPr>
            <a:spLocks noGrp="1"/>
          </p:cNvSpPr>
          <p:nvPr>
            <p:ph sz="half" idx="1"/>
          </p:nvPr>
        </p:nvSpPr>
        <p:spPr>
          <a:xfrm>
            <a:off x="838200" y="1587501"/>
            <a:ext cx="5181600" cy="5118100"/>
          </a:xfrm>
        </p:spPr>
        <p:txBody>
          <a:bodyPr/>
          <a:lstStyle/>
          <a:p>
            <a:pPr lvl="0">
              <a:buFont typeface="Wingdings" pitchFamily="2" charset="2"/>
              <a:buChar char="§"/>
            </a:pPr>
            <a:endParaRPr lang="en-ZA" dirty="0"/>
          </a:p>
          <a:p>
            <a:pPr lvl="0">
              <a:buFont typeface="Wingdings" pitchFamily="2" charset="2"/>
              <a:buChar char="§"/>
            </a:pPr>
            <a:r>
              <a:rPr lang="en-ZA" dirty="0"/>
              <a:t>Customers.</a:t>
            </a:r>
          </a:p>
          <a:p>
            <a:pPr lvl="0">
              <a:buFont typeface="Wingdings" pitchFamily="2" charset="2"/>
              <a:buChar char="§"/>
            </a:pPr>
            <a:r>
              <a:rPr lang="en-ZA" dirty="0"/>
              <a:t>Busboys.</a:t>
            </a:r>
          </a:p>
          <a:p>
            <a:pPr lvl="0">
              <a:buFont typeface="Wingdings" pitchFamily="2" charset="2"/>
              <a:buChar char="§"/>
            </a:pPr>
            <a:r>
              <a:rPr lang="en-ZA" dirty="0"/>
              <a:t>Waiter.</a:t>
            </a:r>
          </a:p>
          <a:p>
            <a:pPr lvl="0">
              <a:buFont typeface="Wingdings" pitchFamily="2" charset="2"/>
              <a:buChar char="§"/>
            </a:pPr>
            <a:r>
              <a:rPr lang="en-ZA" dirty="0"/>
              <a:t>Manager.</a:t>
            </a:r>
          </a:p>
          <a:p>
            <a:pPr lvl="0">
              <a:buFont typeface="Wingdings" pitchFamily="2" charset="2"/>
              <a:buChar char="§"/>
            </a:pPr>
            <a:r>
              <a:rPr lang="en-ZA" dirty="0"/>
              <a:t>Chef.</a:t>
            </a:r>
          </a:p>
          <a:p>
            <a:endParaRPr lang="en-US" dirty="0"/>
          </a:p>
        </p:txBody>
      </p:sp>
      <p:pic>
        <p:nvPicPr>
          <p:cNvPr id="5" name="Content Placeholder 5">
            <a:extLst>
              <a:ext uri="{FF2B5EF4-FFF2-40B4-BE49-F238E27FC236}">
                <a16:creationId xmlns:a16="http://schemas.microsoft.com/office/drawing/2014/main" id="{FCA80272-74E6-AF46-BB2F-3F5534D626A9}"/>
              </a:ext>
            </a:extLst>
          </p:cNvPr>
          <p:cNvPicPr>
            <a:picLocks noGrp="1" noChangeAspect="1"/>
          </p:cNvPicPr>
          <p:nvPr>
            <p:ph sz="half" idx="2"/>
          </p:nvPr>
        </p:nvPicPr>
        <p:blipFill>
          <a:blip r:embed="rId2"/>
          <a:stretch>
            <a:fillRect/>
          </a:stretch>
        </p:blipFill>
        <p:spPr>
          <a:xfrm>
            <a:off x="3522948" y="1993900"/>
            <a:ext cx="7531904" cy="3467099"/>
          </a:xfrm>
        </p:spPr>
      </p:pic>
    </p:spTree>
    <p:extLst>
      <p:ext uri="{BB962C8B-B14F-4D97-AF65-F5344CB8AC3E}">
        <p14:creationId xmlns:p14="http://schemas.microsoft.com/office/powerpoint/2010/main" val="3744466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D216B-7AF5-FB40-9B69-18279D9A5D0E}"/>
              </a:ext>
            </a:extLst>
          </p:cNvPr>
          <p:cNvSpPr>
            <a:spLocks noGrp="1"/>
          </p:cNvSpPr>
          <p:nvPr>
            <p:ph type="title"/>
          </p:nvPr>
        </p:nvSpPr>
        <p:spPr>
          <a:xfrm>
            <a:off x="838200" y="365125"/>
            <a:ext cx="10515600" cy="688975"/>
          </a:xfrm>
        </p:spPr>
        <p:txBody>
          <a:bodyPr>
            <a:normAutofit/>
          </a:bodyPr>
          <a:lstStyle/>
          <a:p>
            <a:r>
              <a:rPr lang="en-ZA" dirty="0"/>
              <a:t>Requirements Engineering</a:t>
            </a:r>
            <a:endParaRPr lang="en-US" dirty="0"/>
          </a:p>
        </p:txBody>
      </p:sp>
      <p:sp>
        <p:nvSpPr>
          <p:cNvPr id="3" name="Content Placeholder 2">
            <a:extLst>
              <a:ext uri="{FF2B5EF4-FFF2-40B4-BE49-F238E27FC236}">
                <a16:creationId xmlns:a16="http://schemas.microsoft.com/office/drawing/2014/main" id="{296110BA-40E9-A84A-A99C-1E2F84BDC3EA}"/>
              </a:ext>
            </a:extLst>
          </p:cNvPr>
          <p:cNvSpPr>
            <a:spLocks noGrp="1"/>
          </p:cNvSpPr>
          <p:nvPr>
            <p:ph idx="1"/>
          </p:nvPr>
        </p:nvSpPr>
        <p:spPr>
          <a:xfrm>
            <a:off x="838200" y="1054100"/>
            <a:ext cx="10515600" cy="5562600"/>
          </a:xfrm>
        </p:spPr>
        <p:txBody>
          <a:bodyPr>
            <a:normAutofit fontScale="92500" lnSpcReduction="10000"/>
          </a:bodyPr>
          <a:lstStyle/>
          <a:p>
            <a:pPr>
              <a:buFont typeface="Wingdings" pitchFamily="2" charset="2"/>
              <a:buChar char="§"/>
            </a:pPr>
            <a:r>
              <a:rPr lang="en-ZA" b="1" dirty="0"/>
              <a:t>Requirements engineering is the process of defining, documenting, and maintaining requirements in the engineering design process.</a:t>
            </a:r>
          </a:p>
          <a:p>
            <a:pPr lvl="0">
              <a:buFont typeface="Wingdings" pitchFamily="2" charset="2"/>
              <a:buChar char="v"/>
            </a:pPr>
            <a:r>
              <a:rPr lang="en-ZA" sz="2400" dirty="0"/>
              <a:t>The system should allow a customer to place an order </a:t>
            </a:r>
          </a:p>
          <a:p>
            <a:pPr lvl="0">
              <a:buFont typeface="Wingdings" pitchFamily="2" charset="2"/>
              <a:buChar char="v"/>
            </a:pPr>
            <a:r>
              <a:rPr lang="en-ZA" sz="2400" dirty="0"/>
              <a:t>The system must redirect the customer’s order to the kitchen staff</a:t>
            </a:r>
          </a:p>
          <a:p>
            <a:pPr lvl="0">
              <a:buFont typeface="Wingdings" pitchFamily="2" charset="2"/>
              <a:buChar char="v"/>
            </a:pPr>
            <a:r>
              <a:rPr lang="en-ZA" sz="2400" dirty="0"/>
              <a:t>Once the order is placed the kitchen staff must confirm that the order has been received and is being prepared, by clicking on their tablet.</a:t>
            </a:r>
          </a:p>
          <a:p>
            <a:pPr lvl="0">
              <a:buFont typeface="Wingdings" pitchFamily="2" charset="2"/>
              <a:buChar char="v"/>
            </a:pPr>
            <a:r>
              <a:rPr lang="en-ZA" sz="2400" dirty="0"/>
              <a:t>When the kitchen staff/chef is done preparing the order the chef must notify the system that the order is complete and prepared so that a waiter can pick up an order and deliver it to the customer</a:t>
            </a:r>
          </a:p>
          <a:p>
            <a:pPr lvl="0">
              <a:buFont typeface="Wingdings" pitchFamily="2" charset="2"/>
              <a:buChar char="v"/>
            </a:pPr>
            <a:r>
              <a:rPr lang="en-ZA" sz="2400" dirty="0"/>
              <a:t>There should be three buttons at the table that will be used to determine the status of the table which will be linked to the system</a:t>
            </a:r>
          </a:p>
          <a:p>
            <a:pPr lvl="0">
              <a:buFont typeface="Wingdings" pitchFamily="2" charset="2"/>
              <a:buChar char="v"/>
            </a:pPr>
            <a:r>
              <a:rPr lang="en-ZA" sz="2400" dirty="0"/>
              <a:t>Once the customer is finished enjoying his/her meal, the customer will use the table tablet to indicate he/she is done with the meal. </a:t>
            </a:r>
          </a:p>
          <a:p>
            <a:pPr>
              <a:buFont typeface="Wingdings" pitchFamily="2" charset="2"/>
              <a:buChar char="§"/>
            </a:pPr>
            <a:endParaRPr lang="en-US" dirty="0"/>
          </a:p>
        </p:txBody>
      </p:sp>
    </p:spTree>
    <p:extLst>
      <p:ext uri="{BB962C8B-B14F-4D97-AF65-F5344CB8AC3E}">
        <p14:creationId xmlns:p14="http://schemas.microsoft.com/office/powerpoint/2010/main" val="2388092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1EACD-C4D5-0B42-9AD5-E3258E97BD51}"/>
              </a:ext>
            </a:extLst>
          </p:cNvPr>
          <p:cNvSpPr>
            <a:spLocks noGrp="1"/>
          </p:cNvSpPr>
          <p:nvPr>
            <p:ph type="title"/>
          </p:nvPr>
        </p:nvSpPr>
        <p:spPr/>
        <p:txBody>
          <a:bodyPr/>
          <a:lstStyle/>
          <a:p>
            <a:r>
              <a:rPr lang="en-ZA" dirty="0"/>
              <a:t>Requirements Engineering cont.…</a:t>
            </a:r>
            <a:endParaRPr lang="en-US" dirty="0"/>
          </a:p>
        </p:txBody>
      </p:sp>
      <p:sp>
        <p:nvSpPr>
          <p:cNvPr id="3" name="Content Placeholder 2">
            <a:extLst>
              <a:ext uri="{FF2B5EF4-FFF2-40B4-BE49-F238E27FC236}">
                <a16:creationId xmlns:a16="http://schemas.microsoft.com/office/drawing/2014/main" id="{F4AC9644-A562-2449-B1C2-B79DD0FAECC2}"/>
              </a:ext>
            </a:extLst>
          </p:cNvPr>
          <p:cNvSpPr>
            <a:spLocks noGrp="1"/>
          </p:cNvSpPr>
          <p:nvPr>
            <p:ph idx="1"/>
          </p:nvPr>
        </p:nvSpPr>
        <p:spPr/>
        <p:txBody>
          <a:bodyPr/>
          <a:lstStyle/>
          <a:p>
            <a:pPr lvl="0"/>
            <a:r>
              <a:rPr lang="en-ZA" dirty="0"/>
              <a:t>The system should allow a customer to place an order </a:t>
            </a:r>
          </a:p>
          <a:p>
            <a:pPr marL="514350" lvl="0" indent="-514350">
              <a:buFont typeface="+mj-lt"/>
              <a:buAutoNum type="alphaLcParenR"/>
            </a:pPr>
            <a:r>
              <a:rPr lang="en-ZA" dirty="0"/>
              <a:t>Economic feasibility – Achievable at no cost.</a:t>
            </a:r>
          </a:p>
          <a:p>
            <a:pPr marL="514350" lvl="0" indent="-514350">
              <a:buFont typeface="+mj-lt"/>
              <a:buAutoNum type="alphaLcParenR"/>
            </a:pPr>
            <a:r>
              <a:rPr lang="en-ZA" dirty="0"/>
              <a:t>Operational feasibility – Straight forward and easy to use.</a:t>
            </a:r>
          </a:p>
          <a:p>
            <a:pPr marL="514350" indent="-514350">
              <a:buFont typeface="+mj-lt"/>
              <a:buAutoNum type="alphaLcParenR"/>
            </a:pPr>
            <a:r>
              <a:rPr lang="en-ZA" dirty="0"/>
              <a:t>Elderly people with no knowledge of Technology might struggle to use the system. Therefore, a person who can assist those who are struggling to utilize the system might be needed. </a:t>
            </a:r>
          </a:p>
          <a:p>
            <a:pPr marL="514350" lvl="0" indent="-514350">
              <a:buFont typeface="+mj-lt"/>
              <a:buAutoNum type="alphaLcParenR"/>
            </a:pPr>
            <a:r>
              <a:rPr lang="en-ZA" dirty="0"/>
              <a:t>Technical feasibility – Similar technology already exist, so it is a practical proposition. </a:t>
            </a:r>
          </a:p>
          <a:p>
            <a:endParaRPr lang="en-US" dirty="0"/>
          </a:p>
        </p:txBody>
      </p:sp>
    </p:spTree>
    <p:extLst>
      <p:ext uri="{BB962C8B-B14F-4D97-AF65-F5344CB8AC3E}">
        <p14:creationId xmlns:p14="http://schemas.microsoft.com/office/powerpoint/2010/main" val="598399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FDC7A-850A-484D-AD2D-75372432F8BA}"/>
              </a:ext>
            </a:extLst>
          </p:cNvPr>
          <p:cNvSpPr>
            <a:spLocks noGrp="1"/>
          </p:cNvSpPr>
          <p:nvPr>
            <p:ph type="title"/>
          </p:nvPr>
        </p:nvSpPr>
        <p:spPr/>
        <p:txBody>
          <a:bodyPr/>
          <a:lstStyle/>
          <a:p>
            <a:r>
              <a:rPr lang="en-ZA" dirty="0"/>
              <a:t>Requirements Engineering cont.…</a:t>
            </a:r>
            <a:endParaRPr lang="en-US" dirty="0"/>
          </a:p>
        </p:txBody>
      </p:sp>
      <p:sp>
        <p:nvSpPr>
          <p:cNvPr id="3" name="Text Placeholder 2">
            <a:extLst>
              <a:ext uri="{FF2B5EF4-FFF2-40B4-BE49-F238E27FC236}">
                <a16:creationId xmlns:a16="http://schemas.microsoft.com/office/drawing/2014/main" id="{F32B2C82-D181-8842-B747-24683707F75A}"/>
              </a:ext>
            </a:extLst>
          </p:cNvPr>
          <p:cNvSpPr>
            <a:spLocks noGrp="1"/>
          </p:cNvSpPr>
          <p:nvPr>
            <p:ph type="body" idx="1"/>
          </p:nvPr>
        </p:nvSpPr>
        <p:spPr>
          <a:xfrm>
            <a:off x="839788" y="1397000"/>
            <a:ext cx="10512424" cy="1108075"/>
          </a:xfrm>
        </p:spPr>
        <p:txBody>
          <a:bodyPr>
            <a:normAutofit/>
          </a:bodyPr>
          <a:lstStyle/>
          <a:p>
            <a:pPr algn="ctr"/>
            <a:r>
              <a:rPr lang="en-ZA" sz="4000" dirty="0"/>
              <a:t>Feasibility Study</a:t>
            </a:r>
            <a:r>
              <a:rPr lang="en-ZA" sz="4000" dirty="0">
                <a:effectLst/>
              </a:rPr>
              <a:t> </a:t>
            </a:r>
            <a:endParaRPr lang="en-US" sz="4000" dirty="0"/>
          </a:p>
        </p:txBody>
      </p:sp>
      <p:sp>
        <p:nvSpPr>
          <p:cNvPr id="4" name="Content Placeholder 3">
            <a:extLst>
              <a:ext uri="{FF2B5EF4-FFF2-40B4-BE49-F238E27FC236}">
                <a16:creationId xmlns:a16="http://schemas.microsoft.com/office/drawing/2014/main" id="{898A768A-A52E-984F-8392-1ACEEEAD9774}"/>
              </a:ext>
            </a:extLst>
          </p:cNvPr>
          <p:cNvSpPr>
            <a:spLocks noGrp="1"/>
          </p:cNvSpPr>
          <p:nvPr>
            <p:ph sz="half" idx="2"/>
          </p:nvPr>
        </p:nvSpPr>
        <p:spPr/>
        <p:txBody>
          <a:bodyPr>
            <a:normAutofit fontScale="55000" lnSpcReduction="20000"/>
          </a:bodyPr>
          <a:lstStyle/>
          <a:p>
            <a:pPr marL="0" lvl="0" indent="0">
              <a:buNone/>
            </a:pPr>
            <a:r>
              <a:rPr lang="en-ZA" sz="2500" dirty="0"/>
              <a:t>The system must redirect the customer’s order to the kitchen staff.</a:t>
            </a:r>
          </a:p>
          <a:p>
            <a:pPr lvl="0">
              <a:buFont typeface="Wingdings" pitchFamily="2" charset="2"/>
              <a:buChar char="Ø"/>
            </a:pPr>
            <a:r>
              <a:rPr lang="en-ZA" dirty="0"/>
              <a:t>Economic feasibility – Cost effective. </a:t>
            </a:r>
          </a:p>
          <a:p>
            <a:pPr>
              <a:buFont typeface="Wingdings" pitchFamily="2" charset="2"/>
              <a:buChar char="Ø"/>
            </a:pPr>
            <a:r>
              <a:rPr lang="en-ZA" dirty="0"/>
              <a:t>Cost of guideline for customers on how to use the system.  </a:t>
            </a:r>
          </a:p>
          <a:p>
            <a:pPr lvl="0">
              <a:buFont typeface="Wingdings" pitchFamily="2" charset="2"/>
              <a:buChar char="Ø"/>
            </a:pPr>
            <a:r>
              <a:rPr lang="en-ZA" dirty="0"/>
              <a:t>Operational feasibility – Provides customers and managers with timely, pertinent, accurate and useful formatted information. </a:t>
            </a:r>
          </a:p>
          <a:p>
            <a:pPr>
              <a:buFont typeface="Wingdings" pitchFamily="2" charset="2"/>
              <a:buChar char="Ø"/>
            </a:pPr>
            <a:r>
              <a:rPr lang="en-ZA" dirty="0"/>
              <a:t>No training needed, can be utilized by intuition. </a:t>
            </a:r>
          </a:p>
          <a:p>
            <a:pPr>
              <a:buFont typeface="Wingdings" pitchFamily="2" charset="2"/>
              <a:buChar char="Ø"/>
            </a:pPr>
            <a:r>
              <a:rPr lang="en-ZA" dirty="0"/>
              <a:t>End users and management will easily adapt to change.  </a:t>
            </a:r>
          </a:p>
          <a:p>
            <a:pPr lvl="0">
              <a:buFont typeface="Wingdings" pitchFamily="2" charset="2"/>
              <a:buChar char="Ø"/>
            </a:pPr>
            <a:r>
              <a:rPr lang="en-ZA" dirty="0"/>
              <a:t>Technical feasibility – Currently don’t possess necessary technology. </a:t>
            </a:r>
          </a:p>
          <a:p>
            <a:endParaRPr lang="en-US" dirty="0"/>
          </a:p>
        </p:txBody>
      </p:sp>
      <p:sp>
        <p:nvSpPr>
          <p:cNvPr id="6" name="Content Placeholder 5">
            <a:extLst>
              <a:ext uri="{FF2B5EF4-FFF2-40B4-BE49-F238E27FC236}">
                <a16:creationId xmlns:a16="http://schemas.microsoft.com/office/drawing/2014/main" id="{1570C040-CC25-0E45-96BF-71A468FADCB9}"/>
              </a:ext>
            </a:extLst>
          </p:cNvPr>
          <p:cNvSpPr>
            <a:spLocks noGrp="1"/>
          </p:cNvSpPr>
          <p:nvPr>
            <p:ph sz="quarter" idx="4"/>
          </p:nvPr>
        </p:nvSpPr>
        <p:spPr/>
        <p:txBody>
          <a:bodyPr>
            <a:normAutofit fontScale="55000" lnSpcReduction="20000"/>
          </a:bodyPr>
          <a:lstStyle/>
          <a:p>
            <a:pPr marL="0" lvl="0" indent="0">
              <a:buNone/>
            </a:pPr>
            <a:r>
              <a:rPr lang="en-ZA" sz="2900" dirty="0"/>
              <a:t>Once the order is placed the kitchen staff must confirm that the order has been received and is being prepared, by clicking on their tablet.</a:t>
            </a:r>
          </a:p>
          <a:p>
            <a:pPr marL="0" lvl="0" indent="0">
              <a:buNone/>
            </a:pPr>
            <a:endParaRPr lang="en-ZA" dirty="0"/>
          </a:p>
          <a:p>
            <a:pPr lvl="0">
              <a:buFont typeface="Wingdings" pitchFamily="2" charset="2"/>
              <a:buChar char="Ø"/>
            </a:pPr>
            <a:r>
              <a:rPr lang="en-ZA" sz="2500" dirty="0"/>
              <a:t>Economic feasibility – Cost of hardware and development software (Software and the Tablet). </a:t>
            </a:r>
          </a:p>
          <a:p>
            <a:pPr marL="0" lvl="0" indent="0">
              <a:buNone/>
            </a:pPr>
            <a:endParaRPr lang="en-ZA" sz="2500" dirty="0"/>
          </a:p>
          <a:p>
            <a:pPr>
              <a:buFont typeface="Wingdings" pitchFamily="2" charset="2"/>
              <a:buChar char="Ø"/>
            </a:pPr>
            <a:r>
              <a:rPr lang="en-ZA" sz="2500" dirty="0"/>
              <a:t>Possible with the given recourse constraints. </a:t>
            </a:r>
          </a:p>
          <a:p>
            <a:pPr marL="0" indent="0">
              <a:buNone/>
            </a:pPr>
            <a:endParaRPr lang="en-US" dirty="0"/>
          </a:p>
        </p:txBody>
      </p:sp>
    </p:spTree>
    <p:extLst>
      <p:ext uri="{BB962C8B-B14F-4D97-AF65-F5344CB8AC3E}">
        <p14:creationId xmlns:p14="http://schemas.microsoft.com/office/powerpoint/2010/main" val="1494587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B32F5-1C47-5C4D-A134-3CBB3629F2E9}"/>
              </a:ext>
            </a:extLst>
          </p:cNvPr>
          <p:cNvSpPr>
            <a:spLocks noGrp="1"/>
          </p:cNvSpPr>
          <p:nvPr>
            <p:ph type="title"/>
          </p:nvPr>
        </p:nvSpPr>
        <p:spPr/>
        <p:txBody>
          <a:bodyPr>
            <a:normAutofit/>
          </a:bodyPr>
          <a:lstStyle/>
          <a:p>
            <a:r>
              <a:rPr lang="en-US" dirty="0"/>
              <a:t>Software approach that is not suitable for the restaurant system. </a:t>
            </a:r>
          </a:p>
        </p:txBody>
      </p:sp>
      <p:sp>
        <p:nvSpPr>
          <p:cNvPr id="3" name="Content Placeholder 2">
            <a:extLst>
              <a:ext uri="{FF2B5EF4-FFF2-40B4-BE49-F238E27FC236}">
                <a16:creationId xmlns:a16="http://schemas.microsoft.com/office/drawing/2014/main" id="{AAE61AF0-39BA-6441-BBD0-98E827FD57D9}"/>
              </a:ext>
            </a:extLst>
          </p:cNvPr>
          <p:cNvSpPr>
            <a:spLocks noGrp="1"/>
          </p:cNvSpPr>
          <p:nvPr>
            <p:ph idx="1"/>
          </p:nvPr>
        </p:nvSpPr>
        <p:spPr/>
        <p:txBody>
          <a:bodyPr>
            <a:normAutofit fontScale="85000" lnSpcReduction="10000"/>
          </a:bodyPr>
          <a:lstStyle/>
          <a:p>
            <a:r>
              <a:rPr lang="en-ZA" sz="2400" dirty="0"/>
              <a:t>The software development approach that is not suitable for our project is the waterfall model because the waterfall approach is inflexible. This means that it does not accommodate change after the process is underway. A phase needs to be complete before moving on to the next phase. </a:t>
            </a:r>
          </a:p>
          <a:p>
            <a:endParaRPr lang="en-ZA" sz="2400" dirty="0"/>
          </a:p>
          <a:p>
            <a:r>
              <a:rPr lang="en-ZA" sz="2400" dirty="0"/>
              <a:t>This model is only appropriate when the requirements are well understood. Changes during the design process also need to be minimal. Since our project requirements are not well defined and our project is going to require constant change, hence we have therefore concluded that the waterfall approach is not suitable for our project.</a:t>
            </a:r>
          </a:p>
          <a:p>
            <a:endParaRPr lang="en-US" dirty="0"/>
          </a:p>
        </p:txBody>
      </p:sp>
    </p:spTree>
    <p:extLst>
      <p:ext uri="{BB962C8B-B14F-4D97-AF65-F5344CB8AC3E}">
        <p14:creationId xmlns:p14="http://schemas.microsoft.com/office/powerpoint/2010/main" val="4007864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BC3AB-FDD4-7D41-A8DB-48E17E3A9454}"/>
              </a:ext>
            </a:extLst>
          </p:cNvPr>
          <p:cNvSpPr>
            <a:spLocks noGrp="1"/>
          </p:cNvSpPr>
          <p:nvPr>
            <p:ph type="title"/>
          </p:nvPr>
        </p:nvSpPr>
        <p:spPr/>
        <p:txBody>
          <a:bodyPr/>
          <a:lstStyle/>
          <a:p>
            <a:pPr algn="ctr"/>
            <a:r>
              <a:rPr lang="en-ZA" dirty="0"/>
              <a:t>Roadmap</a:t>
            </a:r>
            <a:r>
              <a:rPr lang="en-ZA" dirty="0">
                <a:effectLst/>
              </a:rPr>
              <a:t> </a:t>
            </a:r>
            <a:endParaRPr lang="en-US" dirty="0"/>
          </a:p>
        </p:txBody>
      </p:sp>
      <p:pic>
        <p:nvPicPr>
          <p:cNvPr id="4" name="Content Placeholder 3">
            <a:extLst>
              <a:ext uri="{FF2B5EF4-FFF2-40B4-BE49-F238E27FC236}">
                <a16:creationId xmlns:a16="http://schemas.microsoft.com/office/drawing/2014/main" id="{78D2DC06-FC15-2B47-9663-DF1A10E8E8F7}"/>
              </a:ext>
            </a:extLst>
          </p:cNvPr>
          <p:cNvPicPr>
            <a:picLocks noGrp="1"/>
          </p:cNvPicPr>
          <p:nvPr>
            <p:ph idx="1"/>
          </p:nvPr>
        </p:nvPicPr>
        <p:blipFill rotWithShape="1">
          <a:blip r:embed="rId2">
            <a:extLst>
              <a:ext uri="{28A0092B-C50C-407E-A947-70E740481C1C}">
                <a14:useLocalDpi xmlns:a14="http://schemas.microsoft.com/office/drawing/2010/main" val="0"/>
              </a:ext>
            </a:extLst>
          </a:blip>
          <a:stretch/>
        </p:blipFill>
        <p:spPr bwMode="auto">
          <a:xfrm>
            <a:off x="1813351" y="2016125"/>
            <a:ext cx="8879623" cy="3449638"/>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24187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CB542C6-9A2A-DD4D-96E8-B38DDCDB816A}"/>
              </a:ext>
            </a:extLst>
          </p:cNvPr>
          <p:cNvPicPr/>
          <p:nvPr/>
        </p:nvPicPr>
        <p:blipFill rotWithShape="1">
          <a:blip r:embed="rId2" cstate="print">
            <a:extLst>
              <a:ext uri="{28A0092B-C50C-407E-A947-70E740481C1C}">
                <a14:useLocalDpi xmlns:a14="http://schemas.microsoft.com/office/drawing/2010/main" val="0"/>
              </a:ext>
            </a:extLst>
          </a:blip>
          <a:srcRect l="10734" t="3671" r="14830" b="3671"/>
          <a:stretch/>
        </p:blipFill>
        <p:spPr bwMode="auto">
          <a:xfrm>
            <a:off x="1828800" y="0"/>
            <a:ext cx="8775700" cy="6134100"/>
          </a:xfrm>
          <a:prstGeom prst="rect">
            <a:avLst/>
          </a:prstGeom>
          <a:noFill/>
          <a:ln>
            <a:noFill/>
          </a:ln>
        </p:spPr>
      </p:pic>
    </p:spTree>
    <p:extLst>
      <p:ext uri="{BB962C8B-B14F-4D97-AF65-F5344CB8AC3E}">
        <p14:creationId xmlns:p14="http://schemas.microsoft.com/office/powerpoint/2010/main" val="244140956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{B1BA8F53-132E-F247-8BE7-C6E133F89956}tf10001119</Template>
  <TotalTime>78</TotalTime>
  <Words>537</Words>
  <Application>Microsoft Macintosh PowerPoint</Application>
  <PresentationFormat>Widescreen</PresentationFormat>
  <Paragraphs>44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Gill Sans MT</vt:lpstr>
      <vt:lpstr>Wingdings</vt:lpstr>
      <vt:lpstr>Gallery</vt:lpstr>
      <vt:lpstr>APPLICATION DEVELPOMENT THEORY   ASSIGNMENT 2  GROUP MEMBERS </vt:lpstr>
      <vt:lpstr>Restaurant Stakeholders </vt:lpstr>
      <vt:lpstr>Requirements Engineering</vt:lpstr>
      <vt:lpstr>Requirements Engineering cont.…</vt:lpstr>
      <vt:lpstr>Requirements Engineering cont.…</vt:lpstr>
      <vt:lpstr>Software approach that is not suitable for the restaurant system. </vt:lpstr>
      <vt:lpstr>Roadmap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DEVELPOMENT THEORY   ASSIGNMENT 2  GROUP MEMBERS </dc:title>
  <dc:creator>Sinethemba Poni</dc:creator>
  <cp:lastModifiedBy>Sinethemba Poni</cp:lastModifiedBy>
  <cp:revision>8</cp:revision>
  <dcterms:created xsi:type="dcterms:W3CDTF">2020-02-26T13:45:52Z</dcterms:created>
  <dcterms:modified xsi:type="dcterms:W3CDTF">2020-02-26T15:04:26Z</dcterms:modified>
</cp:coreProperties>
</file>