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20"/>
  </p:notesMasterIdLst>
  <p:sldIdLst>
    <p:sldId id="257" r:id="rId3"/>
    <p:sldId id="297" r:id="rId4"/>
    <p:sldId id="291" r:id="rId5"/>
    <p:sldId id="300" r:id="rId6"/>
    <p:sldId id="305" r:id="rId7"/>
    <p:sldId id="306" r:id="rId8"/>
    <p:sldId id="301" r:id="rId9"/>
    <p:sldId id="307" r:id="rId10"/>
    <p:sldId id="308" r:id="rId11"/>
    <p:sldId id="302" r:id="rId12"/>
    <p:sldId id="310" r:id="rId13"/>
    <p:sldId id="311" r:id="rId14"/>
    <p:sldId id="312" r:id="rId15"/>
    <p:sldId id="313" r:id="rId16"/>
    <p:sldId id="314" r:id="rId17"/>
    <p:sldId id="304" r:id="rId18"/>
    <p:sldId id="299" r:id="rId1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57799" marR="57799" indent="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1pPr>
    <a:lvl2pPr marL="57799" marR="57799" indent="34290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2pPr>
    <a:lvl3pPr marL="57799" marR="57799" indent="68580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3pPr>
    <a:lvl4pPr marL="57799" marR="57799" indent="102870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4pPr>
    <a:lvl5pPr marL="57799" marR="57799" indent="137160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5pPr>
    <a:lvl6pPr marL="57799" marR="57799" indent="171450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6pPr>
    <a:lvl7pPr marL="57799" marR="57799" indent="205740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7pPr>
    <a:lvl8pPr marL="57799" marR="57799" indent="240030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8pPr>
    <a:lvl9pPr marL="57799" marR="57799" indent="2743200" algn="l" defTabSz="1295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ruben Naidoo" initials="KN" lastIdx="4" clrIdx="0">
    <p:extLst>
      <p:ext uri="{19B8F6BF-5375-455C-9EA6-DF929625EA0E}">
        <p15:presenceInfo xmlns:p15="http://schemas.microsoft.com/office/powerpoint/2012/main" userId="S::NAIDOOK@cput.ac.za::c903a73b-d01f-4770-bf68-61cc66711b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5763"/>
    <a:srgbClr val="FFFFFF"/>
    <a:srgbClr val="3FA4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285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8575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85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9"/>
    <p:restoredTop sz="89686" autoAdjust="0"/>
  </p:normalViewPr>
  <p:slideViewPr>
    <p:cSldViewPr snapToGrid="0" snapToObjects="1">
      <p:cViewPr varScale="1">
        <p:scale>
          <a:sx n="54" d="100"/>
          <a:sy n="54" d="100"/>
        </p:scale>
        <p:origin x="744" y="72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63321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825500" latinLnBrk="0">
      <a:defRPr sz="2200">
        <a:latin typeface="Lucida Grande"/>
        <a:ea typeface="Lucida Grande"/>
        <a:cs typeface="Lucida Grande"/>
        <a:sym typeface="Lucida Grande"/>
      </a:defRPr>
    </a:lvl1pPr>
    <a:lvl2pPr indent="228600" defTabSz="825500" latinLnBrk="0">
      <a:defRPr sz="2200">
        <a:latin typeface="Lucida Grande"/>
        <a:ea typeface="Lucida Grande"/>
        <a:cs typeface="Lucida Grande"/>
        <a:sym typeface="Lucida Grande"/>
      </a:defRPr>
    </a:lvl2pPr>
    <a:lvl3pPr indent="457200" defTabSz="825500" latinLnBrk="0">
      <a:defRPr sz="2200">
        <a:latin typeface="Lucida Grande"/>
        <a:ea typeface="Lucida Grande"/>
        <a:cs typeface="Lucida Grande"/>
        <a:sym typeface="Lucida Grande"/>
      </a:defRPr>
    </a:lvl3pPr>
    <a:lvl4pPr indent="685800" defTabSz="825500" latinLnBrk="0">
      <a:defRPr sz="2200">
        <a:latin typeface="Lucida Grande"/>
        <a:ea typeface="Lucida Grande"/>
        <a:cs typeface="Lucida Grande"/>
        <a:sym typeface="Lucida Grande"/>
      </a:defRPr>
    </a:lvl4pPr>
    <a:lvl5pPr indent="914400" defTabSz="825500" latinLnBrk="0">
      <a:defRPr sz="2200">
        <a:latin typeface="Lucida Grande"/>
        <a:ea typeface="Lucida Grande"/>
        <a:cs typeface="Lucida Grande"/>
        <a:sym typeface="Lucida Grande"/>
      </a:defRPr>
    </a:lvl5pPr>
    <a:lvl6pPr indent="1143000" defTabSz="825500" latinLnBrk="0">
      <a:defRPr sz="2200">
        <a:latin typeface="Lucida Grande"/>
        <a:ea typeface="Lucida Grande"/>
        <a:cs typeface="Lucida Grande"/>
        <a:sym typeface="Lucida Grande"/>
      </a:defRPr>
    </a:lvl6pPr>
    <a:lvl7pPr indent="1371600" defTabSz="825500" latinLnBrk="0">
      <a:defRPr sz="2200">
        <a:latin typeface="Lucida Grande"/>
        <a:ea typeface="Lucida Grande"/>
        <a:cs typeface="Lucida Grande"/>
        <a:sym typeface="Lucida Grande"/>
      </a:defRPr>
    </a:lvl7pPr>
    <a:lvl8pPr indent="1600200" defTabSz="825500" latinLnBrk="0">
      <a:defRPr sz="2200">
        <a:latin typeface="Lucida Grande"/>
        <a:ea typeface="Lucida Grande"/>
        <a:cs typeface="Lucida Grande"/>
        <a:sym typeface="Lucida Grande"/>
      </a:defRPr>
    </a:lvl8pPr>
    <a:lvl9pPr indent="1828800" defTabSz="8255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9282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1970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3084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3369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ster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58613" y="1950720"/>
            <a:ext cx="11166788" cy="260096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7964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58613" y="4591695"/>
            <a:ext cx="11171123" cy="2492587"/>
          </a:xfrm>
        </p:spPr>
        <p:txBody>
          <a:bodyPr lIns="0" rIns="18288"/>
          <a:lstStyle>
            <a:lvl1pPr marL="0" marR="65023" indent="0" algn="r">
              <a:buNone/>
              <a:defRPr>
                <a:solidFill>
                  <a:schemeClr val="tx1"/>
                </a:solidFill>
              </a:defRPr>
            </a:lvl1pPr>
            <a:lvl2pPr marL="650230" indent="0" algn="ctr">
              <a:buNone/>
            </a:lvl2pPr>
            <a:lvl3pPr marL="1300460" indent="0" algn="ctr">
              <a:buNone/>
            </a:lvl3pPr>
            <a:lvl4pPr marL="1950690" indent="0" algn="ctr">
              <a:buNone/>
            </a:lvl4pPr>
            <a:lvl5pPr marL="2600919" indent="0" algn="ctr">
              <a:buNone/>
            </a:lvl5pPr>
            <a:lvl6pPr marL="3251149" indent="0" algn="ctr">
              <a:buNone/>
            </a:lvl6pPr>
            <a:lvl7pPr marL="3901379" indent="0" algn="ctr">
              <a:buNone/>
            </a:lvl7pPr>
            <a:lvl8pPr marL="4551609" indent="0" algn="ctr">
              <a:buNone/>
            </a:lvl8pPr>
            <a:lvl9pPr marL="5201839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9C9245-06E4-4AF3-AC98-4FE9758843C1}" type="datetimeFigureOut">
              <a:rPr lang="en-US"/>
              <a:pPr>
                <a:defRPr/>
              </a:pPr>
              <a:t>10/9/2022</a:t>
            </a:fld>
            <a:endParaRPr lang="en-GB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891E39-1BC2-4699-8468-95083447B6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012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0CE181-F570-4C9E-BAC6-68CBB307E45E}" type="datetimeFigureOut">
              <a:rPr lang="en-US"/>
              <a:pPr>
                <a:defRPr/>
              </a:pPr>
              <a:t>10/9/2022</a:t>
            </a:fld>
            <a:endParaRPr lang="en-GB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E0F17-C114-4627-ABFD-46056CC0C2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423915273"/>
              </p:ext>
            </p:extLst>
          </p:nvPr>
        </p:nvGraphicFramePr>
        <p:xfrm>
          <a:off x="8448217" y="7949142"/>
          <a:ext cx="4456853" cy="174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" r:id="rId3" imgW="3352381" imgH="885949" progId="">
                  <p:embed/>
                </p:oleObj>
              </mc:Choice>
              <mc:Fallback>
                <p:oleObj r:id="rId3" imgW="3352381" imgH="885949" progId="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827" r="11563"/>
                      <a:stretch>
                        <a:fillRect/>
                      </a:stretch>
                    </p:blipFill>
                    <p:spPr bwMode="auto">
                      <a:xfrm>
                        <a:off x="8448217" y="7949142"/>
                        <a:ext cx="4456853" cy="1747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204" y="8403362"/>
            <a:ext cx="6162962" cy="128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1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278" y="1872691"/>
            <a:ext cx="11054080" cy="1937715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7964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278" y="3846633"/>
            <a:ext cx="11054080" cy="2147146"/>
          </a:xfrm>
        </p:spPr>
        <p:txBody>
          <a:bodyPr lIns="45720" rIns="45720"/>
          <a:lstStyle>
            <a:lvl1pPr marL="0" indent="0">
              <a:buNone/>
              <a:defRPr sz="3129">
                <a:solidFill>
                  <a:schemeClr val="tx1"/>
                </a:solidFill>
              </a:defRPr>
            </a:lvl1pPr>
            <a:lvl2pPr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4A2EC-1F90-46F0-BFA7-D9EA5069DBC7}" type="datetimeFigureOut">
              <a:rPr lang="en-US"/>
              <a:pPr>
                <a:defRPr/>
              </a:pPr>
              <a:t>10/9/2022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1CD1E-F723-4684-96AB-C3A4237862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368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1001370"/>
            <a:ext cx="11704320" cy="1625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240" y="2730788"/>
            <a:ext cx="5743787" cy="6307328"/>
          </a:xfrm>
        </p:spPr>
        <p:txBody>
          <a:bodyPr/>
          <a:lstStyle>
            <a:lvl1pPr>
              <a:defRPr sz="3698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0773" y="2730788"/>
            <a:ext cx="5743787" cy="6307328"/>
          </a:xfrm>
        </p:spPr>
        <p:txBody>
          <a:bodyPr/>
          <a:lstStyle>
            <a:lvl1pPr>
              <a:defRPr sz="3698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B2F0A-1164-4234-A261-3AB7C3CCB10F}" type="datetimeFigureOut">
              <a:rPr lang="en-US"/>
              <a:pPr>
                <a:defRPr/>
              </a:pPr>
              <a:t>10/9/2022</a:t>
            </a:fld>
            <a:endParaRPr lang="en-GB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52D0DA-4DE2-4A93-B88E-040AB0493D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585985757"/>
              </p:ext>
            </p:extLst>
          </p:nvPr>
        </p:nvGraphicFramePr>
        <p:xfrm>
          <a:off x="8448217" y="7949142"/>
          <a:ext cx="4456853" cy="174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r:id="rId3" imgW="3352381" imgH="885949" progId="">
                  <p:embed/>
                </p:oleObj>
              </mc:Choice>
              <mc:Fallback>
                <p:oleObj r:id="rId3" imgW="3352381" imgH="885949" progId="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827" r="11563"/>
                      <a:stretch>
                        <a:fillRect/>
                      </a:stretch>
                    </p:blipFill>
                    <p:spPr bwMode="auto">
                      <a:xfrm>
                        <a:off x="8448217" y="7949142"/>
                        <a:ext cx="4456853" cy="1747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204" y="8403362"/>
            <a:ext cx="6162962" cy="128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7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1001370"/>
            <a:ext cx="1170432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2638575"/>
            <a:ext cx="5746045" cy="937745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3413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844" b="1"/>
            </a:lvl2pPr>
            <a:lvl3pPr>
              <a:buNone/>
              <a:defRPr sz="2560" b="1"/>
            </a:lvl3pPr>
            <a:lvl4pPr>
              <a:buNone/>
              <a:defRPr sz="2276" b="1"/>
            </a:lvl4pPr>
            <a:lvl5pPr>
              <a:buNone/>
              <a:defRPr sz="2276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6259" y="2644989"/>
            <a:ext cx="5748302" cy="931332"/>
          </a:xfrm>
        </p:spPr>
        <p:txBody>
          <a:bodyPr lIns="45720" tIns="0" rIns="45720" bIns="0" anchor="ctr"/>
          <a:lstStyle>
            <a:lvl1pPr marL="0" indent="0">
              <a:buNone/>
              <a:defRPr sz="3413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844" b="1"/>
            </a:lvl2pPr>
            <a:lvl3pPr>
              <a:buNone/>
              <a:defRPr sz="2560" b="1"/>
            </a:lvl3pPr>
            <a:lvl4pPr>
              <a:buNone/>
              <a:defRPr sz="2276" b="1"/>
            </a:lvl4pPr>
            <a:lvl5pPr>
              <a:buNone/>
              <a:defRPr sz="2276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50240" y="3576320"/>
            <a:ext cx="5746045" cy="5469468"/>
          </a:xfrm>
        </p:spPr>
        <p:txBody>
          <a:bodyPr tIns="0"/>
          <a:lstStyle>
            <a:lvl1pPr>
              <a:defRPr sz="3129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6259" y="3576320"/>
            <a:ext cx="5748302" cy="5469468"/>
          </a:xfrm>
        </p:spPr>
        <p:txBody>
          <a:bodyPr tIns="0"/>
          <a:lstStyle>
            <a:lvl1pPr>
              <a:defRPr sz="3129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840F9-C69C-4197-AD4E-DB91B2A872DF}" type="datetimeFigureOut">
              <a:rPr lang="en-US"/>
              <a:pPr>
                <a:defRPr/>
              </a:pPr>
              <a:t>10/9/2022</a:t>
            </a:fld>
            <a:endParaRPr lang="en-GB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CB4D1-04C4-47D7-9E05-47A93FD889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673399009"/>
              </p:ext>
            </p:extLst>
          </p:nvPr>
        </p:nvGraphicFramePr>
        <p:xfrm>
          <a:off x="8448217" y="7949142"/>
          <a:ext cx="4456853" cy="174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" r:id="rId3" imgW="3352381" imgH="885949" progId="">
                  <p:embed/>
                </p:oleObj>
              </mc:Choice>
              <mc:Fallback>
                <p:oleObj r:id="rId3" imgW="3352381" imgH="885949" progId="">
                  <p:embed/>
                  <p:pic>
                    <p:nvPicPr>
                      <p:cNvPr id="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827" r="11563"/>
                      <a:stretch>
                        <a:fillRect/>
                      </a:stretch>
                    </p:blipFill>
                    <p:spPr bwMode="auto">
                      <a:xfrm>
                        <a:off x="8448217" y="7949142"/>
                        <a:ext cx="4456853" cy="1747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204" y="8403362"/>
            <a:ext cx="6162962" cy="128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54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1001370"/>
            <a:ext cx="11812693" cy="16256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7111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5884E-7715-4647-96A9-01B1B67FC6B7}" type="datetimeFigureOut">
              <a:rPr lang="en-US"/>
              <a:pPr>
                <a:defRPr/>
              </a:pPr>
              <a:t>10/9/2022</a:t>
            </a:fld>
            <a:endParaRPr lang="en-GB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B8BC3-CC61-4885-BA11-C956DB67DE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015952668"/>
              </p:ext>
            </p:extLst>
          </p:nvPr>
        </p:nvGraphicFramePr>
        <p:xfrm>
          <a:off x="8448217" y="7949142"/>
          <a:ext cx="4456853" cy="174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" r:id="rId3" imgW="3352381" imgH="885949" progId="">
                  <p:embed/>
                </p:oleObj>
              </mc:Choice>
              <mc:Fallback>
                <p:oleObj r:id="rId3" imgW="3352381" imgH="885949" progId="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827" r="11563"/>
                      <a:stretch>
                        <a:fillRect/>
                      </a:stretch>
                    </p:blipFill>
                    <p:spPr bwMode="auto">
                      <a:xfrm>
                        <a:off x="8448217" y="7949142"/>
                        <a:ext cx="4456853" cy="1747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204" y="8403362"/>
            <a:ext cx="6162962" cy="128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189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30F53-5BAC-4AC5-AB8F-BB753561654C}" type="datetimeFigureOut">
              <a:rPr lang="en-US"/>
              <a:pPr>
                <a:defRPr/>
              </a:pPr>
              <a:t>10/9/2022</a:t>
            </a:fld>
            <a:endParaRPr lang="en-GB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4397FC-00C9-438D-A172-5590E1C5E4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303210035"/>
              </p:ext>
            </p:extLst>
          </p:nvPr>
        </p:nvGraphicFramePr>
        <p:xfrm>
          <a:off x="8448217" y="7949142"/>
          <a:ext cx="4456853" cy="174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5" r:id="rId3" imgW="3352381" imgH="885949" progId="">
                  <p:embed/>
                </p:oleObj>
              </mc:Choice>
              <mc:Fallback>
                <p:oleObj r:id="rId3" imgW="3352381" imgH="885949" progId="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827" r="11563"/>
                      <a:stretch>
                        <a:fillRect/>
                      </a:stretch>
                    </p:blipFill>
                    <p:spPr bwMode="auto">
                      <a:xfrm>
                        <a:off x="8448217" y="7949142"/>
                        <a:ext cx="4456853" cy="1747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204" y="8403362"/>
            <a:ext cx="6162962" cy="128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8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731523"/>
            <a:ext cx="3901440" cy="1652693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3698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75360" y="2384213"/>
            <a:ext cx="3901440" cy="6502400"/>
          </a:xfrm>
        </p:spPr>
        <p:txBody>
          <a:bodyPr lIns="18288" rIns="18288"/>
          <a:lstStyle>
            <a:lvl1pPr marL="0" indent="0" algn="l">
              <a:buNone/>
              <a:defRPr sz="1991"/>
            </a:lvl1pPr>
            <a:lvl2pPr indent="0" algn="l">
              <a:buNone/>
              <a:defRPr sz="1707"/>
            </a:lvl2pPr>
            <a:lvl3pPr indent="0" algn="l">
              <a:buNone/>
              <a:defRPr sz="1422"/>
            </a:lvl3pPr>
            <a:lvl4pPr indent="0" algn="l">
              <a:buNone/>
              <a:defRPr sz="1280"/>
            </a:lvl4pPr>
            <a:lvl5pPr indent="0" algn="l">
              <a:buNone/>
              <a:defRPr sz="128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084516" y="2384213"/>
            <a:ext cx="7270044" cy="6502400"/>
          </a:xfrm>
        </p:spPr>
        <p:txBody>
          <a:bodyPr tIns="0"/>
          <a:lstStyle>
            <a:lvl1pPr>
              <a:defRPr sz="3982"/>
            </a:lvl1pPr>
            <a:lvl2pPr>
              <a:defRPr sz="3698"/>
            </a:lvl2pPr>
            <a:lvl3pPr>
              <a:defRPr sz="3413"/>
            </a:lvl3pPr>
            <a:lvl4pPr>
              <a:defRPr sz="2844"/>
            </a:lvl4pPr>
            <a:lvl5pPr>
              <a:defRPr sz="256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D1C79-6771-4F5B-B345-6C250E326AD8}" type="datetimeFigureOut">
              <a:rPr lang="en-US"/>
              <a:pPr>
                <a:defRPr/>
              </a:pPr>
              <a:t>10/9/2022</a:t>
            </a:fld>
            <a:endParaRPr lang="en-GB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A93FD-F93C-4024-A689-8C2C7470A0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878070718"/>
              </p:ext>
            </p:extLst>
          </p:nvPr>
        </p:nvGraphicFramePr>
        <p:xfrm>
          <a:off x="8448217" y="7949142"/>
          <a:ext cx="4456853" cy="174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9" r:id="rId3" imgW="3352381" imgH="885949" progId="">
                  <p:embed/>
                </p:oleObj>
              </mc:Choice>
              <mc:Fallback>
                <p:oleObj r:id="rId3" imgW="3352381" imgH="885949" progId="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827" r="11563"/>
                      <a:stretch>
                        <a:fillRect/>
                      </a:stretch>
                    </p:blipFill>
                    <p:spPr bwMode="auto">
                      <a:xfrm>
                        <a:off x="8448217" y="7949142"/>
                        <a:ext cx="4456853" cy="1747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204" y="8403362"/>
            <a:ext cx="6162962" cy="128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04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4502009" y="1575929"/>
            <a:ext cx="7477760" cy="585216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3413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11383716" y="7622259"/>
            <a:ext cx="221262" cy="221262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3413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13547" y="8272498"/>
            <a:ext cx="13031893" cy="148110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3413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6231467" y="8845974"/>
            <a:ext cx="6773333" cy="90762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3413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986" y="1673950"/>
            <a:ext cx="3147162" cy="2250839"/>
          </a:xfrm>
        </p:spPr>
        <p:txBody>
          <a:bodyPr lIns="45720" rIns="45720" bIns="45720"/>
          <a:lstStyle>
            <a:lvl1pPr algn="l">
              <a:buNone/>
              <a:defRPr sz="2844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987" y="4023161"/>
            <a:ext cx="3142827" cy="3099477"/>
          </a:xfrm>
        </p:spPr>
        <p:txBody>
          <a:bodyPr lIns="64008" rIns="45720"/>
          <a:lstStyle>
            <a:lvl1pPr marL="0" indent="0" algn="l">
              <a:spcBef>
                <a:spcPts val="356"/>
              </a:spcBef>
              <a:buFontTx/>
              <a:buNone/>
              <a:defRPr sz="1849"/>
            </a:lvl1pPr>
            <a:lvl2pPr>
              <a:defRPr sz="1707"/>
            </a:lvl2pPr>
            <a:lvl3pPr>
              <a:defRPr sz="1422"/>
            </a:lvl3pPr>
            <a:lvl4pPr>
              <a:defRPr sz="1280"/>
            </a:lvl4pPr>
            <a:lvl5pPr>
              <a:defRPr sz="128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957572" y="1705980"/>
            <a:ext cx="6567424" cy="5592064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4551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722AF-8045-4763-A1A2-EE921A02E5AB}" type="datetimeFigureOut">
              <a:rPr lang="en-US"/>
              <a:pPr>
                <a:defRPr/>
              </a:pPr>
              <a:t>10/9/2022</a:t>
            </a:fld>
            <a:endParaRPr lang="en-GB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87573" y="9040143"/>
            <a:ext cx="866987" cy="51928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BF37E5-C166-421B-AE5F-E6634EAF06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913574349"/>
              </p:ext>
            </p:extLst>
          </p:nvPr>
        </p:nvGraphicFramePr>
        <p:xfrm>
          <a:off x="8448217" y="7949142"/>
          <a:ext cx="4456853" cy="174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3" r:id="rId3" imgW="3352381" imgH="885949" progId="">
                  <p:embed/>
                </p:oleObj>
              </mc:Choice>
              <mc:Fallback>
                <p:oleObj r:id="rId3" imgW="3352381" imgH="885949" progId="">
                  <p:embed/>
                  <p:pic>
                    <p:nvPicPr>
                      <p:cNvPr id="1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827" r="11563"/>
                      <a:stretch>
                        <a:fillRect/>
                      </a:stretch>
                    </p:blipFill>
                    <p:spPr bwMode="auto">
                      <a:xfrm>
                        <a:off x="8448217" y="7949142"/>
                        <a:ext cx="4456853" cy="1747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204" y="8403362"/>
            <a:ext cx="6162962" cy="128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80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015C8-5902-4E1E-A9AE-7353A9559ED2}" type="datetimeFigureOut">
              <a:rPr lang="en-US"/>
              <a:pPr>
                <a:defRPr/>
              </a:pPr>
              <a:t>10/9/2022</a:t>
            </a:fld>
            <a:endParaRPr lang="en-GB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7ADE1-E83D-4DDC-9D52-A58007E729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080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480" y="1300482"/>
            <a:ext cx="2926080" cy="74122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240" y="1300482"/>
            <a:ext cx="8561493" cy="74122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B830CD-7D28-4067-A06C-2F00894D0656}" type="datetimeFigureOut">
              <a:rPr lang="en-US"/>
              <a:pPr>
                <a:defRPr/>
              </a:pPr>
              <a:t>10/9/2022</a:t>
            </a:fld>
            <a:endParaRPr lang="en-GB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DBA0A-980C-4916-94E6-12627226C1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72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aves PP~2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822" y="-3791"/>
            <a:ext cx="13805094" cy="9761182"/>
          </a:xfrm>
          <a:prstGeom prst="rect">
            <a:avLst/>
          </a:prstGeom>
        </p:spPr>
      </p:pic>
      <p:sp>
        <p:nvSpPr>
          <p:cNvPr id="3" name="Shape 3"/>
          <p:cNvSpPr>
            <a:spLocks noGrp="1"/>
          </p:cNvSpPr>
          <p:nvPr>
            <p:ph type="title"/>
          </p:nvPr>
        </p:nvSpPr>
        <p:spPr>
          <a:xfrm>
            <a:off x="647700" y="0"/>
            <a:ext cx="11709400" cy="2406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4" name="Shape 4"/>
          <p:cNvSpPr>
            <a:spLocks noGrp="1"/>
          </p:cNvSpPr>
          <p:nvPr>
            <p:ph type="body" idx="1"/>
          </p:nvPr>
        </p:nvSpPr>
        <p:spPr>
          <a:xfrm>
            <a:off x="647700" y="2273300"/>
            <a:ext cx="11709400" cy="7480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/>
          <a:lstStyle>
            <a:lvl2pPr marL="783590" indent="-285750">
              <a:spcBef>
                <a:spcPts val="900"/>
              </a:spcBef>
              <a:buChar char="–"/>
              <a:defRPr sz="3800"/>
            </a:lvl2pPr>
            <a:lvl3pPr marL="1183639" indent="-228600">
              <a:spcBef>
                <a:spcPts val="800"/>
              </a:spcBef>
              <a:defRPr sz="3400"/>
            </a:lvl3pPr>
            <a:lvl4pPr marL="1640839" indent="-228600">
              <a:spcBef>
                <a:spcPts val="600"/>
              </a:spcBef>
              <a:buChar char="–"/>
              <a:defRPr sz="2800"/>
            </a:lvl4pPr>
            <a:lvl5pPr marL="2098039" indent="-228600">
              <a:spcBef>
                <a:spcPts val="600"/>
              </a:spcBef>
              <a:buChar char="»"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hape 5"/>
          <p:cNvSpPr>
            <a:spLocks noGrp="1"/>
          </p:cNvSpPr>
          <p:nvPr>
            <p:ph type="sldNum" sz="quarter" idx="2"/>
          </p:nvPr>
        </p:nvSpPr>
        <p:spPr>
          <a:xfrm>
            <a:off x="10667173" y="9126502"/>
            <a:ext cx="340322" cy="342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0" marR="0" algn="ctr" defTabSz="825500">
              <a:defRPr sz="1600">
                <a:solidFill>
                  <a:srgbClr val="9B9B9B"/>
                </a:solidFill>
                <a:uFill>
                  <a:solidFill>
                    <a:srgbClr val="9B9B9B"/>
                  </a:solidFill>
                </a:u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57799" marR="57799" indent="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1pPr>
      <a:lvl2pPr marL="57799" marR="57799" indent="2286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2pPr>
      <a:lvl3pPr marL="57799" marR="57799" indent="4572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3pPr>
      <a:lvl4pPr marL="57799" marR="57799" indent="6858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4pPr>
      <a:lvl5pPr marL="57799" marR="57799" indent="9144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5pPr>
      <a:lvl6pPr marL="57799" marR="57799" indent="11430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6pPr>
      <a:lvl7pPr marL="57799" marR="57799" indent="13716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7pPr>
      <a:lvl8pPr marL="57799" marR="57799" indent="16002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8pPr>
      <a:lvl9pPr marL="57799" marR="57799" indent="18288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2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9pPr>
    </p:titleStyle>
    <p:bodyStyle>
      <a:lvl1pPr marL="383540" marR="57799" indent="-342900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1pPr>
      <a:lvl2pPr marL="828708" marR="57799" indent="-330868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2pPr>
      <a:lvl3pPr marL="1250875" marR="57799" indent="-295835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3pPr>
      <a:lvl4pPr marL="1771468" marR="57799" indent="-359228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4pPr>
      <a:lvl5pPr marL="2228668" marR="57799" indent="-359228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5pPr>
      <a:lvl6pPr marL="2228668" marR="57799" indent="-359228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6pPr>
      <a:lvl7pPr marL="2228668" marR="57799" indent="-359228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7pPr>
      <a:lvl8pPr marL="2228668" marR="57799" indent="-359228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8pPr>
      <a:lvl9pPr marL="2228668" marR="57799" indent="-359228" algn="l" defTabSz="647700" latinLnBrk="0">
        <a:lnSpc>
          <a:spcPct val="10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Helvetica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3547" y="-11289"/>
            <a:ext cx="13031893" cy="1481104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3413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231467" y="-11290"/>
            <a:ext cx="6773333" cy="90762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3413">
              <a:latin typeface="+mn-lt"/>
              <a:cs typeface="+mn-cs"/>
            </a:endParaRPr>
          </a:p>
        </p:txBody>
      </p:sp>
      <p:sp>
        <p:nvSpPr>
          <p:cNvPr id="17412" name="Title Placeholder 8"/>
          <p:cNvSpPr>
            <a:spLocks noGrp="1"/>
          </p:cNvSpPr>
          <p:nvPr>
            <p:ph type="title"/>
          </p:nvPr>
        </p:nvSpPr>
        <p:spPr bwMode="auto">
          <a:xfrm>
            <a:off x="650240" y="1002453"/>
            <a:ext cx="11704320" cy="162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741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50240" y="2752232"/>
            <a:ext cx="11704320" cy="6242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50240" y="9040143"/>
            <a:ext cx="3034453" cy="519289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707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6FB3AE56-0F51-4C80-BBA2-26B61B704FF5}" type="datetimeFigureOut">
              <a:rPr lang="en-US"/>
              <a:pPr>
                <a:defRPr/>
              </a:pPr>
              <a:t>10/9/2022</a:t>
            </a:fld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793067" y="9040143"/>
            <a:ext cx="4768427" cy="519289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707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270827" y="9040143"/>
            <a:ext cx="1083733" cy="519289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707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851A044C-F8C9-422A-AD66-1E59822E40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pSp>
        <p:nvGrpSpPr>
          <p:cNvPr id="17417" name="Group 1"/>
          <p:cNvGrpSpPr>
            <a:grpSpLocks/>
          </p:cNvGrpSpPr>
          <p:nvPr/>
        </p:nvGrpSpPr>
        <p:grpSpPr bwMode="auto">
          <a:xfrm>
            <a:off x="-27093" y="288996"/>
            <a:ext cx="13056730" cy="921173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3413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3413"/>
            </a:p>
          </p:txBody>
        </p:sp>
      </p:grpSp>
    </p:spTree>
    <p:extLst>
      <p:ext uri="{BB962C8B-B14F-4D97-AF65-F5344CB8AC3E}">
        <p14:creationId xmlns:p14="http://schemas.microsoft.com/office/powerpoint/2010/main" val="3536874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711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7111">
          <a:solidFill>
            <a:schemeClr val="tx2"/>
          </a:solidFill>
          <a:latin typeface="Calibri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7111">
          <a:solidFill>
            <a:schemeClr val="tx2"/>
          </a:solidFill>
          <a:latin typeface="Calibri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7111">
          <a:solidFill>
            <a:schemeClr val="tx2"/>
          </a:solidFill>
          <a:latin typeface="Calibri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7111">
          <a:solidFill>
            <a:schemeClr val="tx2"/>
          </a:solidFill>
          <a:latin typeface="Calibri" pitchFamily="34" charset="0"/>
        </a:defRPr>
      </a:lvl5pPr>
      <a:lvl6pPr marL="650230" algn="l" rtl="0" fontAlgn="base">
        <a:spcBef>
          <a:spcPct val="0"/>
        </a:spcBef>
        <a:spcAft>
          <a:spcPct val="0"/>
        </a:spcAft>
        <a:defRPr sz="7111">
          <a:solidFill>
            <a:schemeClr val="tx2"/>
          </a:solidFill>
          <a:latin typeface="Calibri" pitchFamily="34" charset="0"/>
        </a:defRPr>
      </a:lvl6pPr>
      <a:lvl7pPr marL="1300460" algn="l" rtl="0" fontAlgn="base">
        <a:spcBef>
          <a:spcPct val="0"/>
        </a:spcBef>
        <a:spcAft>
          <a:spcPct val="0"/>
        </a:spcAft>
        <a:defRPr sz="7111">
          <a:solidFill>
            <a:schemeClr val="tx2"/>
          </a:solidFill>
          <a:latin typeface="Calibri" pitchFamily="34" charset="0"/>
        </a:defRPr>
      </a:lvl7pPr>
      <a:lvl8pPr marL="1950690" algn="l" rtl="0" fontAlgn="base">
        <a:spcBef>
          <a:spcPct val="0"/>
        </a:spcBef>
        <a:spcAft>
          <a:spcPct val="0"/>
        </a:spcAft>
        <a:defRPr sz="7111">
          <a:solidFill>
            <a:schemeClr val="tx2"/>
          </a:solidFill>
          <a:latin typeface="Calibri" pitchFamily="34" charset="0"/>
        </a:defRPr>
      </a:lvl8pPr>
      <a:lvl9pPr marL="2600919" algn="l" rtl="0" fontAlgn="base">
        <a:spcBef>
          <a:spcPct val="0"/>
        </a:spcBef>
        <a:spcAft>
          <a:spcPct val="0"/>
        </a:spcAft>
        <a:defRPr sz="7111">
          <a:solidFill>
            <a:schemeClr val="tx2"/>
          </a:solidFill>
          <a:latin typeface="Calibri" pitchFamily="34" charset="0"/>
        </a:defRPr>
      </a:lvl9pPr>
    </p:titleStyle>
    <p:bodyStyle>
      <a:lvl1pPr marL="388332" indent="-388332" algn="l" rtl="0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3698" kern="1200">
          <a:solidFill>
            <a:schemeClr val="tx1"/>
          </a:solidFill>
          <a:latin typeface="+mn-lt"/>
          <a:ea typeface="+mn-ea"/>
          <a:cs typeface="+mn-cs"/>
        </a:defRPr>
      </a:lvl1pPr>
      <a:lvl2pPr marL="909871" indent="-349951" algn="l" rtl="0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indent="-349951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987" kern="1200">
          <a:solidFill>
            <a:schemeClr val="tx1"/>
          </a:solidFill>
          <a:latin typeface="+mn-lt"/>
          <a:ea typeface="+mn-ea"/>
          <a:cs typeface="+mn-cs"/>
        </a:defRPr>
      </a:lvl3pPr>
      <a:lvl4pPr marL="1688791" indent="-298022" algn="l" rtl="0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844" kern="1200">
          <a:solidFill>
            <a:schemeClr val="tx1"/>
          </a:solidFill>
          <a:latin typeface="+mn-lt"/>
          <a:ea typeface="+mn-ea"/>
          <a:cs typeface="+mn-cs"/>
        </a:defRPr>
      </a:lvl4pPr>
      <a:lvl5pPr marL="2079382" indent="-298022" algn="l" rtl="0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844" kern="1200">
          <a:solidFill>
            <a:schemeClr val="tx1"/>
          </a:solidFill>
          <a:latin typeface="+mn-lt"/>
          <a:ea typeface="+mn-ea"/>
          <a:cs typeface="+mn-cs"/>
        </a:defRPr>
      </a:lvl5pPr>
      <a:lvl6pPr marL="2470873" indent="-299106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2730965" indent="-260092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2276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121103" indent="-260092" algn="l" rtl="0" eaLnBrk="1" latinLnBrk="0" hangingPunct="1">
        <a:spcBef>
          <a:spcPct val="20000"/>
        </a:spcBef>
        <a:buClr>
          <a:schemeClr val="tx2"/>
        </a:buClr>
        <a:buChar char="•"/>
        <a:defRPr kumimoji="0" sz="2276" kern="1200">
          <a:solidFill>
            <a:schemeClr val="tx1"/>
          </a:solidFill>
          <a:latin typeface="+mn-lt"/>
          <a:ea typeface="+mn-ea"/>
          <a:cs typeface="+mn-cs"/>
        </a:defRPr>
      </a:lvl8pPr>
      <a:lvl9pPr marL="3511241" indent="-260092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991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aidooK@cput.ac.za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fGD60BYzPM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5F8DD3-69D1-4BDA-96BE-96F39BD0E7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577" y="0"/>
            <a:ext cx="8713694" cy="386583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DE785FE-1275-4D69-859E-F42E172FD5DF}"/>
              </a:ext>
            </a:extLst>
          </p:cNvPr>
          <p:cNvSpPr/>
          <p:nvPr/>
        </p:nvSpPr>
        <p:spPr>
          <a:xfrm>
            <a:off x="8606117" y="0"/>
            <a:ext cx="5082989" cy="3865831"/>
          </a:xfrm>
          <a:prstGeom prst="rect">
            <a:avLst/>
          </a:prstGeom>
          <a:solidFill>
            <a:srgbClr val="FFFFFF"/>
          </a:solidFill>
          <a:ln w="9525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799" marR="57799" indent="0" algn="l" defTabSz="1295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6762C-AFDA-46E7-B649-C535176FB264}"/>
              </a:ext>
            </a:extLst>
          </p:cNvPr>
          <p:cNvSpPr txBox="1"/>
          <p:nvPr/>
        </p:nvSpPr>
        <p:spPr>
          <a:xfrm>
            <a:off x="1035424" y="4564216"/>
            <a:ext cx="11725836" cy="29956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799" marR="57799" indent="0" algn="l" defTabSz="1295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b="1" dirty="0">
                <a:solidFill>
                  <a:srgbClr val="FFFF00"/>
                </a:solidFill>
                <a:latin typeface="Abadi" panose="020B0604020104020204" pitchFamily="34" charset="0"/>
              </a:rPr>
              <a:t>Applications Development Practice 3 (ADP372S)</a:t>
            </a:r>
          </a:p>
          <a:p>
            <a:pPr marL="57799" marR="57799" indent="0" algn="l" defTabSz="1295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b="1" dirty="0">
                <a:solidFill>
                  <a:srgbClr val="FFFF00"/>
                </a:solidFill>
                <a:latin typeface="Abadi" panose="020B0604020104020204" pitchFamily="34" charset="0"/>
              </a:rPr>
              <a:t>Lecturer: Kruben Naidoo</a:t>
            </a:r>
          </a:p>
          <a:p>
            <a:pPr marL="57799" marR="57799" indent="0" algn="l" defTabSz="1295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2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Abadi" panose="020B0604020104020204" pitchFamily="34" charset="0"/>
                <a:sym typeface="Helvetica"/>
              </a:rPr>
              <a:t>Email: </a:t>
            </a:r>
            <a:r>
              <a:rPr lang="en-GB" sz="3200" dirty="0">
                <a:solidFill>
                  <a:schemeClr val="bg1"/>
                </a:solidFill>
                <a:latin typeface="Abadi" panose="020B06040201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NaidooK@cput.ac.za</a:t>
            </a:r>
            <a:r>
              <a:rPr lang="en-GB" sz="32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endParaRPr kumimoji="0" lang="en-GB" sz="320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>
                <a:solidFill>
                  <a:srgbClr val="000000"/>
                </a:solidFill>
              </a:uFill>
              <a:latin typeface="Abadi" panose="020B0604020104020204" pitchFamily="34" charset="0"/>
              <a:sym typeface="Helvetica"/>
            </a:endParaRPr>
          </a:p>
          <a:p>
            <a:pPr marL="57799" marR="57799" indent="0" algn="l" defTabSz="1295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200" dirty="0">
                <a:solidFill>
                  <a:schemeClr val="tx1"/>
                </a:solidFill>
                <a:latin typeface="Abadi" panose="020B0604020104020204" pitchFamily="34" charset="0"/>
              </a:rPr>
              <a:t>Office: Rm 2.11 – Engineering Building, District Six Campus, Cape Town, South Africa</a:t>
            </a:r>
            <a:r>
              <a:rPr lang="en-GB" sz="1600" dirty="0">
                <a:solidFill>
                  <a:schemeClr val="tx1"/>
                </a:solidFill>
                <a:latin typeface="Abadi" panose="020B0604020104020204" pitchFamily="34" charset="0"/>
              </a:rPr>
              <a:t>.</a:t>
            </a:r>
          </a:p>
          <a:p>
            <a:pPr marL="57799" marR="57799" indent="0" algn="l" defTabSz="1295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Lesson objectives:</a:t>
            </a:r>
            <a:endParaRPr lang="en-GB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Welcome</a:t>
            </a:r>
          </a:p>
          <a:p>
            <a:pPr lvl="1">
              <a:spcBef>
                <a:spcPts val="0"/>
              </a:spcBef>
            </a:pPr>
            <a:r>
              <a:rPr lang="en-US" sz="303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Capstone group project presentations on campus</a:t>
            </a:r>
          </a:p>
          <a:p>
            <a:pPr lvl="1">
              <a:spcBef>
                <a:spcPts val="0"/>
              </a:spcBef>
            </a:pPr>
            <a:r>
              <a:rPr lang="en-US" sz="303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September Test Results and Queries</a:t>
            </a:r>
          </a:p>
          <a:p>
            <a:pPr lvl="1">
              <a:spcBef>
                <a:spcPts val="0"/>
              </a:spcBef>
            </a:pPr>
            <a:r>
              <a:rPr lang="en-US" sz="303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September (</a:t>
            </a:r>
            <a:r>
              <a:rPr lang="en-US" sz="3030" dirty="0">
                <a:solidFill>
                  <a:srgbClr val="00B050"/>
                </a:solidFill>
                <a:latin typeface="Abadi" panose="020B0604020104020204" pitchFamily="34" charset="0"/>
              </a:rPr>
              <a:t>Sick</a:t>
            </a:r>
            <a:r>
              <a:rPr lang="en-US" sz="303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) Test</a:t>
            </a:r>
            <a:endParaRPr lang="en-US" sz="3030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 marL="559920" lvl="1" indent="0">
              <a:spcBef>
                <a:spcPts val="0"/>
              </a:spcBef>
              <a:buNone/>
            </a:pPr>
            <a:endParaRPr lang="en-US" sz="3030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The Command Design Pattern</a:t>
            </a: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rgbClr val="FFC000"/>
                </a:solidFill>
                <a:latin typeface="Abadi" panose="020B0604020104020204" pitchFamily="34" charset="0"/>
              </a:rPr>
              <a:t>The Interpreter Design Pattern</a:t>
            </a: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rgbClr val="FF0000"/>
                </a:solidFill>
                <a:latin typeface="Abadi" panose="020B0604020104020204" pitchFamily="34" charset="0"/>
              </a:rPr>
              <a:t>The Visitor Design Pattern</a:t>
            </a:r>
          </a:p>
          <a:p>
            <a:pPr>
              <a:spcBef>
                <a:spcPts val="0"/>
              </a:spcBef>
            </a:pPr>
            <a:endParaRPr lang="en-GB" sz="3600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Summary </a:t>
            </a:r>
          </a:p>
        </p:txBody>
      </p:sp>
    </p:spTree>
    <p:extLst>
      <p:ext uri="{BB962C8B-B14F-4D97-AF65-F5344CB8AC3E}">
        <p14:creationId xmlns:p14="http://schemas.microsoft.com/office/powerpoint/2010/main" val="222536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3B6EE62E-8177-4793-9125-A797174F5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7" y="2082475"/>
            <a:ext cx="12860545" cy="59920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5901E5-C02E-4CD6-9BC0-14EEB7EE88AB}"/>
              </a:ext>
            </a:extLst>
          </p:cNvPr>
          <p:cNvSpPr txBox="1"/>
          <p:nvPr/>
        </p:nvSpPr>
        <p:spPr>
          <a:xfrm>
            <a:off x="4190869" y="7283090"/>
            <a:ext cx="46230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dirty="0">
                <a:latin typeface="Abadi" panose="020B0604020104020204" pitchFamily="34" charset="0"/>
              </a:rPr>
              <a:t>Figure: 23 Gang of Four (GOF) Patterns</a:t>
            </a:r>
            <a:endParaRPr lang="en-GB" sz="2000" u="sng" dirty="0"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275C6E0-488A-417B-BA0B-F41F05D2D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</a:t>
            </a:r>
            <a:endParaRPr lang="en-GB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13451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Command Design Pattern</a:t>
            </a:r>
            <a:endParaRPr lang="en-GB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3315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A Command pattern is an object behavioral pattern that allows us to achieve complete decoupling between the sender and the receiver. (A sender is an object that invokes an operation, and a receiver is an object that receives the request to execute a certain operation.)</a:t>
            </a:r>
          </a:p>
          <a:p>
            <a:pPr marL="0" indent="0">
              <a:spcBef>
                <a:spcPts val="0"/>
              </a:spcBef>
              <a:buNone/>
            </a:pPr>
            <a:endParaRPr lang="en-US" sz="3315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3315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In a classic implementation, the command pattern requires implementing four components: the Command, the Receiver, the Invoker, and the Client.</a:t>
            </a:r>
            <a:endParaRPr lang="en-GB" sz="3315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035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Command Design Pattern class diagram</a:t>
            </a:r>
            <a:endParaRPr lang="en-GB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2EB60549-B382-4C83-BEF7-6C921E52F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108" y="2837329"/>
            <a:ext cx="9014583" cy="5901300"/>
          </a:xfrm>
        </p:spPr>
      </p:pic>
    </p:spTree>
    <p:extLst>
      <p:ext uri="{BB962C8B-B14F-4D97-AF65-F5344CB8AC3E}">
        <p14:creationId xmlns:p14="http://schemas.microsoft.com/office/powerpoint/2010/main" val="1199849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Command Design Pattern</a:t>
            </a:r>
            <a:endParaRPr lang="en-GB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Watch the following video by </a:t>
            </a:r>
            <a:r>
              <a:rPr lang="en-US" sz="36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Geekific</a:t>
            </a:r>
            <a:endParaRPr lang="en-US" sz="3600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  <a:hlinkClick r:id="rId2"/>
              </a:rPr>
              <a:t>https://www.youtube.com/watch?v=UfGD60BYzPM</a:t>
            </a: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 </a:t>
            </a:r>
            <a:endParaRPr lang="en-GB" sz="3315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634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Interpreter Design Pattern</a:t>
            </a:r>
            <a:endParaRPr lang="en-GB" sz="72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31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Interpreter design pattern is one of the behavioral design pattern. Interpreter pattern is used to defines a grammatical representation for a language and provides an interpreter to deal with this grammar.</a:t>
            </a:r>
          </a:p>
          <a:p>
            <a:pPr>
              <a:spcBef>
                <a:spcPts val="0"/>
              </a:spcBef>
            </a:pPr>
            <a:r>
              <a:rPr lang="en-US" sz="3100" dirty="0">
                <a:solidFill>
                  <a:schemeClr val="accent5">
                    <a:lumMod val="75000"/>
                  </a:schemeClr>
                </a:solidFill>
                <a:latin typeface="Abadi" panose="020B0604020104020204" pitchFamily="34" charset="0"/>
              </a:rPr>
              <a:t>This pattern involves implementing an expression interface which tells to interpret a particular context. This pattern is used in SQL parsing, symbol processing engine etc.</a:t>
            </a:r>
          </a:p>
          <a:p>
            <a:pPr>
              <a:spcBef>
                <a:spcPts val="0"/>
              </a:spcBef>
            </a:pPr>
            <a:r>
              <a:rPr lang="en-US" sz="31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Perhaps the best example of the interpreter design pattern is the java compiler that interprets the source code into bytecode that is understandable by the JVM.</a:t>
            </a:r>
          </a:p>
          <a:p>
            <a:pPr>
              <a:spcBef>
                <a:spcPts val="0"/>
              </a:spcBef>
            </a:pPr>
            <a:r>
              <a:rPr lang="en-US" sz="3100" dirty="0">
                <a:solidFill>
                  <a:schemeClr val="accent5">
                    <a:lumMod val="75000"/>
                  </a:schemeClr>
                </a:solidFill>
                <a:latin typeface="Abadi" panose="020B0604020104020204" pitchFamily="34" charset="0"/>
              </a:rPr>
              <a:t>Google Translator is also another example of the interpreter pattern.</a:t>
            </a:r>
            <a:endParaRPr lang="en-GB" sz="3100" dirty="0">
              <a:solidFill>
                <a:schemeClr val="accent5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263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Interpreter Design Pattern class diagram</a:t>
            </a:r>
            <a:endParaRPr lang="en-GB" sz="72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D583A760-41A2-42F9-8856-A004A489B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558" y="2528047"/>
            <a:ext cx="8933683" cy="6218255"/>
          </a:xfrm>
        </p:spPr>
      </p:pic>
    </p:spTree>
    <p:extLst>
      <p:ext uri="{BB962C8B-B14F-4D97-AF65-F5344CB8AC3E}">
        <p14:creationId xmlns:p14="http://schemas.microsoft.com/office/powerpoint/2010/main" val="293495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60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Interpeter</a:t>
            </a: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Design Pattern</a:t>
            </a:r>
            <a:endParaRPr lang="en-GB" sz="72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Example </a:t>
            </a:r>
          </a:p>
          <a:p>
            <a:pPr lvl="1">
              <a:spcBef>
                <a:spcPts val="0"/>
              </a:spcBef>
            </a:pPr>
            <a:r>
              <a:rPr lang="en-GB" sz="3315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add 200 and 75</a:t>
            </a:r>
          </a:p>
          <a:p>
            <a:pPr lvl="1">
              <a:spcBef>
                <a:spcPts val="0"/>
              </a:spcBef>
            </a:pPr>
            <a:endParaRPr lang="en-GB" sz="3315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 lvl="1">
              <a:spcBef>
                <a:spcPts val="0"/>
              </a:spcBef>
            </a:pPr>
            <a:r>
              <a:rPr lang="en-GB" sz="3315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or</a:t>
            </a:r>
          </a:p>
          <a:p>
            <a:pPr lvl="1">
              <a:spcBef>
                <a:spcPts val="0"/>
              </a:spcBef>
            </a:pPr>
            <a:endParaRPr lang="en-GB" sz="3315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 lvl="1">
              <a:spcBef>
                <a:spcPts val="0"/>
              </a:spcBef>
            </a:pPr>
            <a:r>
              <a:rPr lang="en-GB" sz="3315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subtract 35 from 100</a:t>
            </a:r>
          </a:p>
          <a:p>
            <a:pPr lvl="1">
              <a:spcBef>
                <a:spcPts val="0"/>
              </a:spcBef>
            </a:pPr>
            <a:endParaRPr lang="en-GB" sz="3315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 lvl="1">
              <a:spcBef>
                <a:spcPts val="0"/>
              </a:spcBef>
            </a:pPr>
            <a:r>
              <a:rPr lang="en-GB" sz="3315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Let us turn to IntelliJ to review the sample code.</a:t>
            </a:r>
          </a:p>
          <a:p>
            <a:pPr marL="0" indent="0">
              <a:spcBef>
                <a:spcPts val="0"/>
              </a:spcBef>
              <a:buNone/>
            </a:pPr>
            <a:endParaRPr lang="en-GB" sz="3600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046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6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Vistor</a:t>
            </a:r>
            <a:r>
              <a:rPr 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Design Pattern</a:t>
            </a:r>
            <a:endParaRPr lang="en-GB" sz="7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Visitor design pattern is one of the behavioral design patterns. It is used when we have to perform an operation on a group of similar kind of Objects. </a:t>
            </a: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With the help of visitor pattern, we can move the operational logic from the objects to another class.</a:t>
            </a: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The visitor pattern consists of two parts:</a:t>
            </a:r>
          </a:p>
          <a:p>
            <a:pPr lvl="1">
              <a:spcBef>
                <a:spcPts val="0"/>
              </a:spcBef>
            </a:pPr>
            <a:r>
              <a:rPr lang="en-US" sz="3315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a method called Visit() which is implemented by the visitor and is called for every element in the data structure</a:t>
            </a:r>
          </a:p>
          <a:p>
            <a:pPr lvl="1">
              <a:spcBef>
                <a:spcPts val="0"/>
              </a:spcBef>
            </a:pPr>
            <a:r>
              <a:rPr lang="en-US" sz="3315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visitable</a:t>
            </a:r>
            <a:r>
              <a:rPr lang="en-US" sz="3315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 classes providing Accept() methods that accept a visitor</a:t>
            </a:r>
          </a:p>
        </p:txBody>
      </p:sp>
    </p:spTree>
    <p:extLst>
      <p:ext uri="{BB962C8B-B14F-4D97-AF65-F5344CB8AC3E}">
        <p14:creationId xmlns:p14="http://schemas.microsoft.com/office/powerpoint/2010/main" val="533796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Visitor Design Pattern class diagram</a:t>
            </a:r>
            <a:endParaRPr lang="en-GB" sz="7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Content Placeholder 7" descr="A picture containing text&#10;&#10;Description automatically generated">
            <a:extLst>
              <a:ext uri="{FF2B5EF4-FFF2-40B4-BE49-F238E27FC236}">
                <a16:creationId xmlns:a16="http://schemas.microsoft.com/office/drawing/2014/main" id="{154F8D3E-64D0-4E44-ABFC-75A4BFE602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367" y="2524015"/>
            <a:ext cx="7516066" cy="6605698"/>
          </a:xfrm>
        </p:spPr>
      </p:pic>
    </p:spTree>
    <p:extLst>
      <p:ext uri="{BB962C8B-B14F-4D97-AF65-F5344CB8AC3E}">
        <p14:creationId xmlns:p14="http://schemas.microsoft.com/office/powerpoint/2010/main" val="329699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Visitor Design Pattern Example</a:t>
            </a:r>
            <a:endParaRPr lang="en-GB" sz="7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Let’s revisit an old example:</a:t>
            </a:r>
          </a:p>
          <a:p>
            <a:pPr>
              <a:spcBef>
                <a:spcPts val="0"/>
              </a:spcBef>
            </a:pPr>
            <a:endParaRPr lang="en-US" sz="3600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  <a:p>
            <a:pPr lvl="1">
              <a:spcBef>
                <a:spcPts val="0"/>
              </a:spcBef>
            </a:pPr>
            <a:endParaRPr lang="en-GB" sz="3315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E15B4E-2344-468F-80AB-7B9C744AFFC9}"/>
              </a:ext>
            </a:extLst>
          </p:cNvPr>
          <p:cNvSpPr txBox="1"/>
          <p:nvPr/>
        </p:nvSpPr>
        <p:spPr>
          <a:xfrm>
            <a:off x="5161755" y="3712756"/>
            <a:ext cx="2871788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/>
            <a:r>
              <a:rPr lang="en-US" dirty="0">
                <a:latin typeface="Abadi" panose="020B0604020104020204" pitchFamily="34" charset="0"/>
              </a:rPr>
              <a:t>Interface Animal</a:t>
            </a:r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5FFA8-A5AE-44CC-8A56-DDF067394CE8}"/>
              </a:ext>
            </a:extLst>
          </p:cNvPr>
          <p:cNvSpPr txBox="1"/>
          <p:nvPr/>
        </p:nvSpPr>
        <p:spPr>
          <a:xfrm>
            <a:off x="1481137" y="5925996"/>
            <a:ext cx="3062287" cy="15696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/>
            <a:r>
              <a:rPr lang="en-US" dirty="0">
                <a:latin typeface="Abadi" panose="020B0604020104020204" pitchFamily="34" charset="0"/>
              </a:rPr>
              <a:t>Class Dog implements Animal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0DE98-FA9C-4CF5-AC94-D89CEB988BB8}"/>
              </a:ext>
            </a:extLst>
          </p:cNvPr>
          <p:cNvSpPr txBox="1"/>
          <p:nvPr/>
        </p:nvSpPr>
        <p:spPr>
          <a:xfrm>
            <a:off x="5066505" y="5951254"/>
            <a:ext cx="3062287" cy="15696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/>
            <a:r>
              <a:rPr lang="en-US" dirty="0">
                <a:latin typeface="Abadi" panose="020B0604020104020204" pitchFamily="34" charset="0"/>
              </a:rPr>
              <a:t>Class Cat implements Animal</a:t>
            </a:r>
          </a:p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E7F36E-9EE0-42FB-8F89-939C2781339B}"/>
              </a:ext>
            </a:extLst>
          </p:cNvPr>
          <p:cNvSpPr txBox="1"/>
          <p:nvPr/>
        </p:nvSpPr>
        <p:spPr>
          <a:xfrm>
            <a:off x="8651874" y="5913155"/>
            <a:ext cx="3062286" cy="15696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/>
            <a:r>
              <a:rPr lang="en-US" dirty="0">
                <a:latin typeface="Abadi" panose="020B0604020104020204" pitchFamily="34" charset="0"/>
              </a:rPr>
              <a:t>Class Parrot implements  Animal</a:t>
            </a:r>
          </a:p>
          <a:p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AE2100-B95D-4DCB-ABCA-24E077F99753}"/>
              </a:ext>
            </a:extLst>
          </p:cNvPr>
          <p:cNvCxnSpPr>
            <a:cxnSpLocks/>
          </p:cNvCxnSpPr>
          <p:nvPr/>
        </p:nvCxnSpPr>
        <p:spPr>
          <a:xfrm flipV="1">
            <a:off x="2409029" y="4925714"/>
            <a:ext cx="2859882" cy="1012911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E46542-E035-4AE9-AE8D-EFB3D5809B2D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V="1">
            <a:off x="6597649" y="4913085"/>
            <a:ext cx="0" cy="1038169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CE0489F-4199-43DC-BE51-180B3383631F}"/>
              </a:ext>
            </a:extLst>
          </p:cNvPr>
          <p:cNvCxnSpPr>
            <a:cxnSpLocks/>
          </p:cNvCxnSpPr>
          <p:nvPr/>
        </p:nvCxnSpPr>
        <p:spPr>
          <a:xfrm flipH="1" flipV="1">
            <a:off x="7926387" y="4913085"/>
            <a:ext cx="2161381" cy="1038169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07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Visitor Design Pattern Example</a:t>
            </a:r>
            <a:endParaRPr lang="en-GB" sz="7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Let’s look an example:</a:t>
            </a:r>
          </a:p>
          <a:p>
            <a:pPr>
              <a:spcBef>
                <a:spcPts val="0"/>
              </a:spcBef>
            </a:pPr>
            <a:endParaRPr lang="en-US" sz="3600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  <a:p>
            <a:pPr lvl="1">
              <a:spcBef>
                <a:spcPts val="0"/>
              </a:spcBef>
            </a:pPr>
            <a:endParaRPr lang="en-GB" sz="3315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E15B4E-2344-468F-80AB-7B9C744AFFC9}"/>
              </a:ext>
            </a:extLst>
          </p:cNvPr>
          <p:cNvSpPr txBox="1"/>
          <p:nvPr/>
        </p:nvSpPr>
        <p:spPr>
          <a:xfrm>
            <a:off x="5161755" y="3712756"/>
            <a:ext cx="2871788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/>
            <a:r>
              <a:rPr lang="en-US" dirty="0">
                <a:latin typeface="Abadi" panose="020B0604020104020204" pitchFamily="34" charset="0"/>
              </a:rPr>
              <a:t>Interface Animal</a:t>
            </a:r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5FFA8-A5AE-44CC-8A56-DDF067394CE8}"/>
              </a:ext>
            </a:extLst>
          </p:cNvPr>
          <p:cNvSpPr txBox="1"/>
          <p:nvPr/>
        </p:nvSpPr>
        <p:spPr>
          <a:xfrm>
            <a:off x="1481137" y="5925996"/>
            <a:ext cx="3062287" cy="15696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/>
            <a:r>
              <a:rPr lang="en-US" dirty="0">
                <a:latin typeface="Abadi" panose="020B0604020104020204" pitchFamily="34" charset="0"/>
              </a:rPr>
              <a:t>Class Dog implements Animal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0DE98-FA9C-4CF5-AC94-D89CEB988BB8}"/>
              </a:ext>
            </a:extLst>
          </p:cNvPr>
          <p:cNvSpPr txBox="1"/>
          <p:nvPr/>
        </p:nvSpPr>
        <p:spPr>
          <a:xfrm>
            <a:off x="5066505" y="5951254"/>
            <a:ext cx="3062287" cy="15696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/>
            <a:r>
              <a:rPr lang="en-US" dirty="0">
                <a:latin typeface="Abadi" panose="020B0604020104020204" pitchFamily="34" charset="0"/>
              </a:rPr>
              <a:t>Class Cat implements Animal</a:t>
            </a:r>
          </a:p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E7F36E-9EE0-42FB-8F89-939C2781339B}"/>
              </a:ext>
            </a:extLst>
          </p:cNvPr>
          <p:cNvSpPr txBox="1"/>
          <p:nvPr/>
        </p:nvSpPr>
        <p:spPr>
          <a:xfrm>
            <a:off x="8651874" y="5913155"/>
            <a:ext cx="3062286" cy="15696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/>
            <a:r>
              <a:rPr lang="en-US" dirty="0">
                <a:latin typeface="Abadi" panose="020B0604020104020204" pitchFamily="34" charset="0"/>
              </a:rPr>
              <a:t>Class Parrot implements  Animal</a:t>
            </a:r>
          </a:p>
          <a:p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AE2100-B95D-4DCB-ABCA-24E077F99753}"/>
              </a:ext>
            </a:extLst>
          </p:cNvPr>
          <p:cNvCxnSpPr>
            <a:cxnSpLocks/>
          </p:cNvCxnSpPr>
          <p:nvPr/>
        </p:nvCxnSpPr>
        <p:spPr>
          <a:xfrm flipV="1">
            <a:off x="2409029" y="4925714"/>
            <a:ext cx="2859882" cy="1012911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E46542-E035-4AE9-AE8D-EFB3D5809B2D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V="1">
            <a:off x="6597649" y="4913085"/>
            <a:ext cx="0" cy="1038169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CE0489F-4199-43DC-BE51-180B3383631F}"/>
              </a:ext>
            </a:extLst>
          </p:cNvPr>
          <p:cNvCxnSpPr>
            <a:cxnSpLocks/>
          </p:cNvCxnSpPr>
          <p:nvPr/>
        </p:nvCxnSpPr>
        <p:spPr>
          <a:xfrm flipH="1" flipV="1">
            <a:off x="7926387" y="4913085"/>
            <a:ext cx="2161381" cy="1038169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317E2AA-4883-4C63-95AF-4545F01A3FCC}"/>
              </a:ext>
            </a:extLst>
          </p:cNvPr>
          <p:cNvSpPr txBox="1"/>
          <p:nvPr/>
        </p:nvSpPr>
        <p:spPr>
          <a:xfrm>
            <a:off x="8128792" y="4165680"/>
            <a:ext cx="2871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  <a:latin typeface="Abadi" panose="020B0604020104020204" pitchFamily="34" charset="0"/>
              </a:rPr>
              <a:t>+ </a:t>
            </a:r>
            <a:r>
              <a:rPr lang="en-US" sz="2800" dirty="0" err="1">
                <a:solidFill>
                  <a:srgbClr val="FFC000"/>
                </a:solidFill>
                <a:latin typeface="Abadi" panose="020B0604020104020204" pitchFamily="34" charset="0"/>
              </a:rPr>
              <a:t>makeSound</a:t>
            </a:r>
            <a:r>
              <a:rPr lang="en-US" sz="2800" dirty="0">
                <a:solidFill>
                  <a:srgbClr val="FFC000"/>
                </a:solidFill>
                <a:latin typeface="Abadi" panose="020B0604020104020204" pitchFamily="34" charset="0"/>
              </a:rPr>
              <a:t>()</a:t>
            </a:r>
            <a:endParaRPr lang="en-GB" sz="2800" dirty="0">
              <a:solidFill>
                <a:srgbClr val="FFC000"/>
              </a:solidFill>
              <a:latin typeface="Abadi" panose="020B06040201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AC1902-BB78-46C1-A0B0-F89B1358C57C}"/>
              </a:ext>
            </a:extLst>
          </p:cNvPr>
          <p:cNvSpPr txBox="1"/>
          <p:nvPr/>
        </p:nvSpPr>
        <p:spPr>
          <a:xfrm>
            <a:off x="1481137" y="7615557"/>
            <a:ext cx="2871788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makeSound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() {</a:t>
            </a:r>
          </a:p>
          <a:p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	// dog</a:t>
            </a:r>
          </a:p>
          <a:p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}</a:t>
            </a:r>
            <a:endParaRPr lang="en-GB" sz="2800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913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Visitor Design Pattern Example</a:t>
            </a:r>
            <a:endParaRPr lang="en-GB" sz="7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In the example, we note a few problems in the implementation:</a:t>
            </a:r>
          </a:p>
          <a:p>
            <a:pPr lvl="1">
              <a:spcBef>
                <a:spcPts val="0"/>
              </a:spcBef>
            </a:pPr>
            <a:r>
              <a:rPr lang="en-US" sz="3315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Nightmare to manage code changes across concrete classes</a:t>
            </a:r>
          </a:p>
          <a:p>
            <a:pPr lvl="1">
              <a:spcBef>
                <a:spcPts val="0"/>
              </a:spcBef>
            </a:pPr>
            <a:r>
              <a:rPr lang="en-US" sz="3315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Violation of the Open Closed Principle (OCP)</a:t>
            </a:r>
          </a:p>
          <a:p>
            <a:pPr lvl="1">
              <a:spcBef>
                <a:spcPts val="0"/>
              </a:spcBef>
            </a:pPr>
            <a:r>
              <a:rPr lang="en-US" sz="3315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Violation of the Single Responsibility Principle (SRP)</a:t>
            </a:r>
          </a:p>
          <a:p>
            <a:pPr>
              <a:spcBef>
                <a:spcPts val="0"/>
              </a:spcBef>
            </a:pPr>
            <a:endParaRPr lang="en-US" sz="3600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Single Dispatch vs Double Dispatch</a:t>
            </a:r>
          </a:p>
          <a:p>
            <a:pPr lvl="1">
              <a:spcBef>
                <a:spcPts val="0"/>
              </a:spcBef>
            </a:pPr>
            <a:endParaRPr lang="en-US" sz="3315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Let move to IntelliJ to discuss further…</a:t>
            </a:r>
          </a:p>
          <a:p>
            <a:pPr>
              <a:spcBef>
                <a:spcPts val="0"/>
              </a:spcBef>
            </a:pPr>
            <a:endParaRPr lang="en-US" sz="3600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  <a:p>
            <a:pPr lvl="1">
              <a:spcBef>
                <a:spcPts val="0"/>
              </a:spcBef>
            </a:pPr>
            <a:endParaRPr lang="en-GB" sz="3315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474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Visitor Design Pattern Example</a:t>
            </a:r>
            <a:endParaRPr lang="en-GB" sz="7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E9946D1-E6F6-426C-83AE-21DDEA2648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0407399"/>
              </p:ext>
            </p:extLst>
          </p:nvPr>
        </p:nvGraphicFramePr>
        <p:xfrm>
          <a:off x="650875" y="2752724"/>
          <a:ext cx="11703048" cy="49625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5762">
                  <a:extLst>
                    <a:ext uri="{9D8B030D-6E8A-4147-A177-3AD203B41FA5}">
                      <a16:colId xmlns:a16="http://schemas.microsoft.com/office/drawing/2014/main" val="2245395363"/>
                    </a:ext>
                  </a:extLst>
                </a:gridCol>
                <a:gridCol w="2925762">
                  <a:extLst>
                    <a:ext uri="{9D8B030D-6E8A-4147-A177-3AD203B41FA5}">
                      <a16:colId xmlns:a16="http://schemas.microsoft.com/office/drawing/2014/main" val="1478410120"/>
                    </a:ext>
                  </a:extLst>
                </a:gridCol>
                <a:gridCol w="2925762">
                  <a:extLst>
                    <a:ext uri="{9D8B030D-6E8A-4147-A177-3AD203B41FA5}">
                      <a16:colId xmlns:a16="http://schemas.microsoft.com/office/drawing/2014/main" val="1172624771"/>
                    </a:ext>
                  </a:extLst>
                </a:gridCol>
                <a:gridCol w="2925762">
                  <a:extLst>
                    <a:ext uri="{9D8B030D-6E8A-4147-A177-3AD203B41FA5}">
                      <a16:colId xmlns:a16="http://schemas.microsoft.com/office/drawing/2014/main" val="2448776735"/>
                    </a:ext>
                  </a:extLst>
                </a:gridCol>
              </a:tblGrid>
              <a:tr h="827088">
                <a:tc>
                  <a:txBody>
                    <a:bodyPr/>
                    <a:lstStyle/>
                    <a:p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badi" panose="020B0604020104020204" pitchFamily="34" charset="0"/>
                        </a:rPr>
                        <a:t>(R1000)</a:t>
                      </a:r>
                      <a:endParaRPr lang="en-GB" sz="24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badi" panose="020B0604020104020204" pitchFamily="34" charset="0"/>
                        </a:rPr>
                        <a:t>(R5000)</a:t>
                      </a:r>
                      <a:endParaRPr lang="en-GB" sz="24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badi" panose="020B0604020104020204" pitchFamily="34" charset="0"/>
                        </a:rPr>
                        <a:t>(R20000)</a:t>
                      </a:r>
                      <a:endParaRPr lang="en-GB" sz="24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936200"/>
                  </a:ext>
                </a:extLst>
              </a:tr>
              <a:tr h="827088">
                <a:tc>
                  <a:txBody>
                    <a:bodyPr/>
                    <a:lstStyle/>
                    <a:p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Abadi" panose="020B0604020104020204" pitchFamily="34" charset="0"/>
                        </a:rPr>
                        <a:t>Bronze</a:t>
                      </a:r>
                      <a:endParaRPr lang="en-GB" sz="32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Abadi" panose="020B0604020104020204" pitchFamily="34" charset="0"/>
                        </a:rPr>
                        <a:t>Silver</a:t>
                      </a:r>
                      <a:endParaRPr lang="en-GB" sz="32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Abadi" panose="020B0604020104020204" pitchFamily="34" charset="0"/>
                        </a:rPr>
                        <a:t>Gold</a:t>
                      </a:r>
                      <a:endParaRPr lang="en-GB" sz="32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98194"/>
                  </a:ext>
                </a:extLst>
              </a:tr>
              <a:tr h="827088">
                <a:tc>
                  <a:txBody>
                    <a:bodyPr/>
                    <a:lstStyle/>
                    <a:p>
                      <a:r>
                        <a:rPr lang="en-US" sz="2800" dirty="0" err="1">
                          <a:latin typeface="Abadi" panose="020B0604020104020204" pitchFamily="34" charset="0"/>
                        </a:rPr>
                        <a:t>Kulula</a:t>
                      </a:r>
                      <a:r>
                        <a:rPr lang="en-US" sz="2800" dirty="0">
                          <a:latin typeface="Abadi" panose="020B0604020104020204" pitchFamily="34" charset="0"/>
                        </a:rPr>
                        <a:t> Flights</a:t>
                      </a:r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badi" panose="020B0604020104020204" pitchFamily="34" charset="0"/>
                        </a:rPr>
                        <a:t>15%</a:t>
                      </a:r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badi" panose="020B0604020104020204" pitchFamily="34" charset="0"/>
                        </a:rPr>
                        <a:t>25%</a:t>
                      </a:r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badi" panose="020B0604020104020204" pitchFamily="34" charset="0"/>
                        </a:rPr>
                        <a:t>50%</a:t>
                      </a:r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673958"/>
                  </a:ext>
                </a:extLst>
              </a:tr>
              <a:tr h="82708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badi" panose="020B0604020104020204" pitchFamily="34" charset="0"/>
                        </a:rPr>
                        <a:t>Nike Store</a:t>
                      </a:r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badi" panose="020B0604020104020204" pitchFamily="34" charset="0"/>
                        </a:rPr>
                        <a:t>5%</a:t>
                      </a:r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badi" panose="020B0604020104020204" pitchFamily="34" charset="0"/>
                        </a:rPr>
                        <a:t>7%</a:t>
                      </a:r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badi" panose="020B0604020104020204" pitchFamily="34" charset="0"/>
                        </a:rPr>
                        <a:t>10%</a:t>
                      </a:r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3215"/>
                  </a:ext>
                </a:extLst>
              </a:tr>
              <a:tr h="82708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badi" panose="020B0604020104020204" pitchFamily="34" charset="0"/>
                        </a:rPr>
                        <a:t>Hotel </a:t>
                      </a:r>
                      <a:r>
                        <a:rPr lang="en-US" sz="2800" dirty="0" err="1">
                          <a:latin typeface="Abadi" panose="020B0604020104020204" pitchFamily="34" charset="0"/>
                        </a:rPr>
                        <a:t>accom</a:t>
                      </a:r>
                      <a:r>
                        <a:rPr lang="en-US" sz="2800" dirty="0">
                          <a:latin typeface="Abadi" panose="020B0604020104020204" pitchFamily="34" charset="0"/>
                        </a:rPr>
                        <a:t>.</a:t>
                      </a:r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badi" panose="020B0604020104020204" pitchFamily="34" charset="0"/>
                        </a:rPr>
                        <a:t>25%</a:t>
                      </a:r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badi" panose="020B0604020104020204" pitchFamily="34" charset="0"/>
                        </a:rPr>
                        <a:t>35%</a:t>
                      </a:r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badi" panose="020B0604020104020204" pitchFamily="34" charset="0"/>
                        </a:rPr>
                        <a:t>60%</a:t>
                      </a:r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913868"/>
                  </a:ext>
                </a:extLst>
              </a:tr>
              <a:tr h="82708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badi" panose="020B0604020104020204" pitchFamily="34" charset="0"/>
                        </a:rPr>
                        <a:t>???</a:t>
                      </a:r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119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496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9DFCAA5-E12B-4867-BACA-CA096A5B6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7" y="2190051"/>
            <a:ext cx="12860545" cy="59920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Summary</a:t>
            </a:r>
            <a:endParaRPr lang="en-GB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04F9-E7C5-4E8E-B511-15C522F4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en-US" sz="3600" dirty="0">
              <a:solidFill>
                <a:schemeClr val="tx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  <a:p>
            <a:pPr lvl="1">
              <a:spcBef>
                <a:spcPts val="0"/>
              </a:spcBef>
            </a:pPr>
            <a:endParaRPr lang="en-GB" sz="3315" dirty="0">
              <a:solidFill>
                <a:schemeClr val="accent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91C29-E3FC-42AC-9B75-8B3F0A134A83}"/>
              </a:ext>
            </a:extLst>
          </p:cNvPr>
          <p:cNvSpPr txBox="1"/>
          <p:nvPr/>
        </p:nvSpPr>
        <p:spPr>
          <a:xfrm>
            <a:off x="4190869" y="7363494"/>
            <a:ext cx="46230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dirty="0">
                <a:latin typeface="Abadi" panose="020B0604020104020204" pitchFamily="34" charset="0"/>
              </a:rPr>
              <a:t>Figure: 23 Gang of Four (GOF) Patterns</a:t>
            </a:r>
            <a:endParaRPr lang="en-GB" sz="2000" u="sng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807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ED21-8887-4731-B88C-65216B8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1126632"/>
            <a:ext cx="11704320" cy="1401415"/>
          </a:xfrm>
        </p:spPr>
        <p:txBody>
          <a:bodyPr/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 questions?</a:t>
            </a:r>
            <a:endParaRPr lang="en-GB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42" name="Picture 2" descr="Questions GIFs - Get the best gif on GIFER">
            <a:extLst>
              <a:ext uri="{FF2B5EF4-FFF2-40B4-BE49-F238E27FC236}">
                <a16:creationId xmlns:a16="http://schemas.microsoft.com/office/drawing/2014/main" id="{ED3F54E5-7125-4F3C-B582-1E21538D343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900" y="2657475"/>
            <a:ext cx="1905000" cy="443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88938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095C9"/>
        </a:solidFill>
        <a:ln w="9525" cap="flat">
          <a:solidFill>
            <a:srgbClr val="000000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57799" marR="57799" indent="0" algn="l" defTabSz="1295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rgbClr val="000000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57799" marR="57799" indent="0" algn="l" defTabSz="1295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095C9"/>
        </a:solidFill>
        <a:ln w="9525" cap="flat">
          <a:solidFill>
            <a:srgbClr val="000000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57799" marR="57799" indent="0" algn="l" defTabSz="1295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rgbClr val="000000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57799" marR="57799" indent="0" algn="l" defTabSz="1295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11597</TotalTime>
  <Words>596</Words>
  <Application>Microsoft Office PowerPoint</Application>
  <PresentationFormat>Custom</PresentationFormat>
  <Paragraphs>103</Paragraphs>
  <Slides>17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Abadi</vt:lpstr>
      <vt:lpstr>Calibri</vt:lpstr>
      <vt:lpstr>Constantia</vt:lpstr>
      <vt:lpstr>Helvetica</vt:lpstr>
      <vt:lpstr>Lucida Grande</vt:lpstr>
      <vt:lpstr>Wingdings 2</vt:lpstr>
      <vt:lpstr>White</vt:lpstr>
      <vt:lpstr>Flow</vt:lpstr>
      <vt:lpstr>PowerPoint Presentation</vt:lpstr>
      <vt:lpstr>Lesson objectives:</vt:lpstr>
      <vt:lpstr>Recap</vt:lpstr>
      <vt:lpstr>The Command Design Pattern</vt:lpstr>
      <vt:lpstr>The Command Design Pattern class diagram</vt:lpstr>
      <vt:lpstr>The Command Design Pattern</vt:lpstr>
      <vt:lpstr>The Interpreter Design Pattern</vt:lpstr>
      <vt:lpstr>The Interpreter Design Pattern class diagram</vt:lpstr>
      <vt:lpstr>The Interpeter Design Pattern</vt:lpstr>
      <vt:lpstr>The Vistor Design Pattern</vt:lpstr>
      <vt:lpstr>The Visitor Design Pattern class diagram</vt:lpstr>
      <vt:lpstr>The Visitor Design Pattern Example</vt:lpstr>
      <vt:lpstr>The Visitor Design Pattern Example</vt:lpstr>
      <vt:lpstr>The Visitor Design Pattern Example</vt:lpstr>
      <vt:lpstr>The Visitor Design Pattern Example</vt:lpstr>
      <vt:lpstr>Summary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Marick Hornsveld</dc:creator>
  <cp:lastModifiedBy>Kruben Naidoo</cp:lastModifiedBy>
  <cp:revision>54</cp:revision>
  <cp:lastPrinted>2017-10-31T10:25:57Z</cp:lastPrinted>
  <dcterms:modified xsi:type="dcterms:W3CDTF">2022-10-10T06:07:57Z</dcterms:modified>
</cp:coreProperties>
</file>