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</p:sldMasterIdLst>
  <p:notesMasterIdLst>
    <p:notesMasterId r:id="rId19"/>
  </p:notesMasterIdLst>
  <p:sldIdLst>
    <p:sldId id="257" r:id="rId3"/>
    <p:sldId id="297" r:id="rId4"/>
    <p:sldId id="291" r:id="rId5"/>
    <p:sldId id="300" r:id="rId6"/>
    <p:sldId id="305" r:id="rId7"/>
    <p:sldId id="306" r:id="rId8"/>
    <p:sldId id="301" r:id="rId9"/>
    <p:sldId id="307" r:id="rId10"/>
    <p:sldId id="308" r:id="rId11"/>
    <p:sldId id="302" r:id="rId12"/>
    <p:sldId id="310" r:id="rId13"/>
    <p:sldId id="311" r:id="rId14"/>
    <p:sldId id="303" r:id="rId15"/>
    <p:sldId id="309" r:id="rId16"/>
    <p:sldId id="304" r:id="rId17"/>
    <p:sldId id="299" r:id="rId18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57799" marR="57799" indent="0" algn="l" defTabSz="1295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+mn-lt"/>
        <a:ea typeface="+mn-ea"/>
        <a:cs typeface="+mn-cs"/>
        <a:sym typeface="Helvetica"/>
      </a:defRPr>
    </a:lvl1pPr>
    <a:lvl2pPr marL="57799" marR="57799" indent="342900" algn="l" defTabSz="1295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+mn-lt"/>
        <a:ea typeface="+mn-ea"/>
        <a:cs typeface="+mn-cs"/>
        <a:sym typeface="Helvetica"/>
      </a:defRPr>
    </a:lvl2pPr>
    <a:lvl3pPr marL="57799" marR="57799" indent="685800" algn="l" defTabSz="1295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+mn-lt"/>
        <a:ea typeface="+mn-ea"/>
        <a:cs typeface="+mn-cs"/>
        <a:sym typeface="Helvetica"/>
      </a:defRPr>
    </a:lvl3pPr>
    <a:lvl4pPr marL="57799" marR="57799" indent="1028700" algn="l" defTabSz="1295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+mn-lt"/>
        <a:ea typeface="+mn-ea"/>
        <a:cs typeface="+mn-cs"/>
        <a:sym typeface="Helvetica"/>
      </a:defRPr>
    </a:lvl4pPr>
    <a:lvl5pPr marL="57799" marR="57799" indent="1371600" algn="l" defTabSz="1295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+mn-lt"/>
        <a:ea typeface="+mn-ea"/>
        <a:cs typeface="+mn-cs"/>
        <a:sym typeface="Helvetica"/>
      </a:defRPr>
    </a:lvl5pPr>
    <a:lvl6pPr marL="57799" marR="57799" indent="1714500" algn="l" defTabSz="1295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+mn-lt"/>
        <a:ea typeface="+mn-ea"/>
        <a:cs typeface="+mn-cs"/>
        <a:sym typeface="Helvetica"/>
      </a:defRPr>
    </a:lvl6pPr>
    <a:lvl7pPr marL="57799" marR="57799" indent="2057400" algn="l" defTabSz="1295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+mn-lt"/>
        <a:ea typeface="+mn-ea"/>
        <a:cs typeface="+mn-cs"/>
        <a:sym typeface="Helvetica"/>
      </a:defRPr>
    </a:lvl7pPr>
    <a:lvl8pPr marL="57799" marR="57799" indent="2400300" algn="l" defTabSz="1295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+mn-lt"/>
        <a:ea typeface="+mn-ea"/>
        <a:cs typeface="+mn-cs"/>
        <a:sym typeface="Helvetica"/>
      </a:defRPr>
    </a:lvl8pPr>
    <a:lvl9pPr marL="57799" marR="57799" indent="2743200" algn="l" defTabSz="1295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ruben Naidoo" initials="KN" lastIdx="4" clrIdx="0">
    <p:extLst>
      <p:ext uri="{19B8F6BF-5375-455C-9EA6-DF929625EA0E}">
        <p15:presenceInfo xmlns:p15="http://schemas.microsoft.com/office/powerpoint/2012/main" userId="S::NAIDOOK@cput.ac.za::c903a73b-d01f-4770-bf68-61cc66711b7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5763"/>
    <a:srgbClr val="FFFFFF"/>
    <a:srgbClr val="3FA4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5C7C9">
              <a:alpha val="30000"/>
            </a:srgbClr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28575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8575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85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Row>
  </a:tblStyle>
  <a:tblStyle styleId="{C7B018BB-80A7-4F77-B60F-C8B233D01FF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39"/>
    <p:restoredTop sz="94740"/>
  </p:normalViewPr>
  <p:slideViewPr>
    <p:cSldViewPr snapToGrid="0" snapToObjects="1">
      <p:cViewPr varScale="1">
        <p:scale>
          <a:sx n="57" d="100"/>
          <a:sy n="57" d="100"/>
        </p:scale>
        <p:origin x="1286" y="67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6" name="Shape 3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633215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825500" latinLnBrk="0">
      <a:defRPr sz="2200">
        <a:latin typeface="Lucida Grande"/>
        <a:ea typeface="Lucida Grande"/>
        <a:cs typeface="Lucida Grande"/>
        <a:sym typeface="Lucida Grande"/>
      </a:defRPr>
    </a:lvl1pPr>
    <a:lvl2pPr indent="228600" defTabSz="825500" latinLnBrk="0">
      <a:defRPr sz="2200">
        <a:latin typeface="Lucida Grande"/>
        <a:ea typeface="Lucida Grande"/>
        <a:cs typeface="Lucida Grande"/>
        <a:sym typeface="Lucida Grande"/>
      </a:defRPr>
    </a:lvl2pPr>
    <a:lvl3pPr indent="457200" defTabSz="825500" latinLnBrk="0">
      <a:defRPr sz="2200">
        <a:latin typeface="Lucida Grande"/>
        <a:ea typeface="Lucida Grande"/>
        <a:cs typeface="Lucida Grande"/>
        <a:sym typeface="Lucida Grande"/>
      </a:defRPr>
    </a:lvl3pPr>
    <a:lvl4pPr indent="685800" defTabSz="825500" latinLnBrk="0">
      <a:defRPr sz="2200">
        <a:latin typeface="Lucida Grande"/>
        <a:ea typeface="Lucida Grande"/>
        <a:cs typeface="Lucida Grande"/>
        <a:sym typeface="Lucida Grande"/>
      </a:defRPr>
    </a:lvl4pPr>
    <a:lvl5pPr indent="914400" defTabSz="825500" latinLnBrk="0">
      <a:defRPr sz="2200">
        <a:latin typeface="Lucida Grande"/>
        <a:ea typeface="Lucida Grande"/>
        <a:cs typeface="Lucida Grande"/>
        <a:sym typeface="Lucida Grande"/>
      </a:defRPr>
    </a:lvl5pPr>
    <a:lvl6pPr indent="1143000" defTabSz="825500" latinLnBrk="0">
      <a:defRPr sz="2200">
        <a:latin typeface="Lucida Grande"/>
        <a:ea typeface="Lucida Grande"/>
        <a:cs typeface="Lucida Grande"/>
        <a:sym typeface="Lucida Grande"/>
      </a:defRPr>
    </a:lvl6pPr>
    <a:lvl7pPr indent="1371600" defTabSz="825500" latinLnBrk="0">
      <a:defRPr sz="2200">
        <a:latin typeface="Lucida Grande"/>
        <a:ea typeface="Lucida Grande"/>
        <a:cs typeface="Lucida Grande"/>
        <a:sym typeface="Lucida Grande"/>
      </a:defRPr>
    </a:lvl7pPr>
    <a:lvl8pPr indent="1600200" defTabSz="825500" latinLnBrk="0">
      <a:defRPr sz="2200">
        <a:latin typeface="Lucida Grande"/>
        <a:ea typeface="Lucida Grande"/>
        <a:cs typeface="Lucida Grande"/>
        <a:sym typeface="Lucida Grande"/>
      </a:defRPr>
    </a:lvl8pPr>
    <a:lvl9pPr indent="1828800" defTabSz="825500" latinLnBrk="0">
      <a:defRPr sz="2200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9282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ster #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58613" y="1950720"/>
            <a:ext cx="11166788" cy="260096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7964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58613" y="4591695"/>
            <a:ext cx="11171123" cy="2492587"/>
          </a:xfrm>
        </p:spPr>
        <p:txBody>
          <a:bodyPr lIns="0" rIns="18288"/>
          <a:lstStyle>
            <a:lvl1pPr marL="0" marR="65023" indent="0" algn="r">
              <a:buNone/>
              <a:defRPr>
                <a:solidFill>
                  <a:schemeClr val="tx1"/>
                </a:solidFill>
              </a:defRPr>
            </a:lvl1pPr>
            <a:lvl2pPr marL="650230" indent="0" algn="ctr">
              <a:buNone/>
            </a:lvl2pPr>
            <a:lvl3pPr marL="1300460" indent="0" algn="ctr">
              <a:buNone/>
            </a:lvl3pPr>
            <a:lvl4pPr marL="1950690" indent="0" algn="ctr">
              <a:buNone/>
            </a:lvl4pPr>
            <a:lvl5pPr marL="2600919" indent="0" algn="ctr">
              <a:buNone/>
            </a:lvl5pPr>
            <a:lvl6pPr marL="3251149" indent="0" algn="ctr">
              <a:buNone/>
            </a:lvl6pPr>
            <a:lvl7pPr marL="3901379" indent="0" algn="ctr">
              <a:buNone/>
            </a:lvl7pPr>
            <a:lvl8pPr marL="4551609" indent="0" algn="ctr">
              <a:buNone/>
            </a:lvl8pPr>
            <a:lvl9pPr marL="5201839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9C9245-06E4-4AF3-AC98-4FE9758843C1}" type="datetimeFigureOut">
              <a:rPr lang="en-US"/>
              <a:pPr>
                <a:defRPr/>
              </a:pPr>
              <a:t>10/2/2022</a:t>
            </a:fld>
            <a:endParaRPr lang="en-GB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891E39-1BC2-4699-8468-95083447B63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9012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0CE181-F570-4C9E-BAC6-68CBB307E45E}" type="datetimeFigureOut">
              <a:rPr lang="en-US"/>
              <a:pPr>
                <a:defRPr/>
              </a:pPr>
              <a:t>10/2/2022</a:t>
            </a:fld>
            <a:endParaRPr lang="en-GB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6E0F17-C114-4627-ABFD-46056CC0C2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423915273"/>
              </p:ext>
            </p:extLst>
          </p:nvPr>
        </p:nvGraphicFramePr>
        <p:xfrm>
          <a:off x="8448217" y="7949142"/>
          <a:ext cx="4456853" cy="1747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2" r:id="rId3" imgW="3352381" imgH="885949" progId="">
                  <p:embed/>
                </p:oleObj>
              </mc:Choice>
              <mc:Fallback>
                <p:oleObj r:id="rId3" imgW="3352381" imgH="885949" progId="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0827" r="11563"/>
                      <a:stretch>
                        <a:fillRect/>
                      </a:stretch>
                    </p:blipFill>
                    <p:spPr bwMode="auto">
                      <a:xfrm>
                        <a:off x="8448217" y="7949142"/>
                        <a:ext cx="4456853" cy="17475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2204" y="8403362"/>
            <a:ext cx="6162962" cy="128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017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278" y="1872691"/>
            <a:ext cx="11054080" cy="1937715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7964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278" y="3846633"/>
            <a:ext cx="11054080" cy="2147146"/>
          </a:xfrm>
        </p:spPr>
        <p:txBody>
          <a:bodyPr lIns="45720" rIns="45720"/>
          <a:lstStyle>
            <a:lvl1pPr marL="0" indent="0">
              <a:buNone/>
              <a:defRPr sz="3129">
                <a:solidFill>
                  <a:schemeClr val="tx1"/>
                </a:solidFill>
              </a:defRPr>
            </a:lvl1pPr>
            <a:lvl2pPr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F4A2EC-1F90-46F0-BFA7-D9EA5069DBC7}" type="datetimeFigureOut">
              <a:rPr lang="en-US"/>
              <a:pPr>
                <a:defRPr/>
              </a:pPr>
              <a:t>10/2/2022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C1CD1E-F723-4684-96AB-C3A4237862B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93684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0" y="1001370"/>
            <a:ext cx="11704320" cy="1625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240" y="2730788"/>
            <a:ext cx="5743787" cy="6307328"/>
          </a:xfrm>
        </p:spPr>
        <p:txBody>
          <a:bodyPr/>
          <a:lstStyle>
            <a:lvl1pPr>
              <a:defRPr sz="3698"/>
            </a:lvl1pPr>
            <a:lvl2pPr>
              <a:defRPr sz="3413"/>
            </a:lvl2pPr>
            <a:lvl3pPr>
              <a:defRPr sz="2844"/>
            </a:lvl3pPr>
            <a:lvl4pPr>
              <a:defRPr sz="2560"/>
            </a:lvl4pPr>
            <a:lvl5pPr>
              <a:defRPr sz="256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0773" y="2730788"/>
            <a:ext cx="5743787" cy="6307328"/>
          </a:xfrm>
        </p:spPr>
        <p:txBody>
          <a:bodyPr/>
          <a:lstStyle>
            <a:lvl1pPr>
              <a:defRPr sz="3698"/>
            </a:lvl1pPr>
            <a:lvl2pPr>
              <a:defRPr sz="3413"/>
            </a:lvl2pPr>
            <a:lvl3pPr>
              <a:defRPr sz="2844"/>
            </a:lvl3pPr>
            <a:lvl4pPr>
              <a:defRPr sz="2560"/>
            </a:lvl4pPr>
            <a:lvl5pPr>
              <a:defRPr sz="256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B2F0A-1164-4234-A261-3AB7C3CCB10F}" type="datetimeFigureOut">
              <a:rPr lang="en-US"/>
              <a:pPr>
                <a:defRPr/>
              </a:pPr>
              <a:t>10/2/2022</a:t>
            </a:fld>
            <a:endParaRPr lang="en-GB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52D0DA-4DE2-4A93-B88E-040AB0493D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585985757"/>
              </p:ext>
            </p:extLst>
          </p:nvPr>
        </p:nvGraphicFramePr>
        <p:xfrm>
          <a:off x="8448217" y="7949142"/>
          <a:ext cx="4456853" cy="1747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r:id="rId3" imgW="3352381" imgH="885949" progId="">
                  <p:embed/>
                </p:oleObj>
              </mc:Choice>
              <mc:Fallback>
                <p:oleObj r:id="rId3" imgW="3352381" imgH="885949" progId="">
                  <p:embed/>
                  <p:pic>
                    <p:nvPicPr>
                      <p:cNvPr id="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0827" r="11563"/>
                      <a:stretch>
                        <a:fillRect/>
                      </a:stretch>
                    </p:blipFill>
                    <p:spPr bwMode="auto">
                      <a:xfrm>
                        <a:off x="8448217" y="7949142"/>
                        <a:ext cx="4456853" cy="17475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2204" y="8403362"/>
            <a:ext cx="6162962" cy="128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47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0" y="1001370"/>
            <a:ext cx="1170432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240" y="2638575"/>
            <a:ext cx="5746045" cy="937745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3413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844" b="1"/>
            </a:lvl2pPr>
            <a:lvl3pPr>
              <a:buNone/>
              <a:defRPr sz="2560" b="1"/>
            </a:lvl3pPr>
            <a:lvl4pPr>
              <a:buNone/>
              <a:defRPr sz="2276" b="1"/>
            </a:lvl4pPr>
            <a:lvl5pPr>
              <a:buNone/>
              <a:defRPr sz="2276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06259" y="2644989"/>
            <a:ext cx="5748302" cy="931332"/>
          </a:xfrm>
        </p:spPr>
        <p:txBody>
          <a:bodyPr lIns="45720" tIns="0" rIns="45720" bIns="0" anchor="ctr"/>
          <a:lstStyle>
            <a:lvl1pPr marL="0" indent="0">
              <a:buNone/>
              <a:defRPr sz="3413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844" b="1"/>
            </a:lvl2pPr>
            <a:lvl3pPr>
              <a:buNone/>
              <a:defRPr sz="2560" b="1"/>
            </a:lvl3pPr>
            <a:lvl4pPr>
              <a:buNone/>
              <a:defRPr sz="2276" b="1"/>
            </a:lvl4pPr>
            <a:lvl5pPr>
              <a:buNone/>
              <a:defRPr sz="2276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50240" y="3576320"/>
            <a:ext cx="5746045" cy="5469468"/>
          </a:xfrm>
        </p:spPr>
        <p:txBody>
          <a:bodyPr tIns="0"/>
          <a:lstStyle>
            <a:lvl1pPr>
              <a:defRPr sz="3129"/>
            </a:lvl1pPr>
            <a:lvl2pPr>
              <a:defRPr sz="2844"/>
            </a:lvl2pPr>
            <a:lvl3pPr>
              <a:defRPr sz="2560"/>
            </a:lvl3pPr>
            <a:lvl4pPr>
              <a:defRPr sz="2276"/>
            </a:lvl4pPr>
            <a:lvl5pPr>
              <a:defRPr sz="227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6259" y="3576320"/>
            <a:ext cx="5748302" cy="5469468"/>
          </a:xfrm>
        </p:spPr>
        <p:txBody>
          <a:bodyPr tIns="0"/>
          <a:lstStyle>
            <a:lvl1pPr>
              <a:defRPr sz="3129"/>
            </a:lvl1pPr>
            <a:lvl2pPr>
              <a:defRPr sz="2844"/>
            </a:lvl2pPr>
            <a:lvl3pPr>
              <a:defRPr sz="2560"/>
            </a:lvl3pPr>
            <a:lvl4pPr>
              <a:defRPr sz="2276"/>
            </a:lvl4pPr>
            <a:lvl5pPr>
              <a:defRPr sz="227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6840F9-C69C-4197-AD4E-DB91B2A872DF}" type="datetimeFigureOut">
              <a:rPr lang="en-US"/>
              <a:pPr>
                <a:defRPr/>
              </a:pPr>
              <a:t>10/2/2022</a:t>
            </a:fld>
            <a:endParaRPr lang="en-GB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ACB4D1-04C4-47D7-9E05-47A93FD889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graphicFrame>
        <p:nvGraphicFramePr>
          <p:cNvPr id="11" name="Object 4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673399009"/>
              </p:ext>
            </p:extLst>
          </p:nvPr>
        </p:nvGraphicFramePr>
        <p:xfrm>
          <a:off x="8448217" y="7949142"/>
          <a:ext cx="4456853" cy="1747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0" r:id="rId3" imgW="3352381" imgH="885949" progId="">
                  <p:embed/>
                </p:oleObj>
              </mc:Choice>
              <mc:Fallback>
                <p:oleObj r:id="rId3" imgW="3352381" imgH="885949" progId="">
                  <p:embed/>
                  <p:pic>
                    <p:nvPicPr>
                      <p:cNvPr id="1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0827" r="11563"/>
                      <a:stretch>
                        <a:fillRect/>
                      </a:stretch>
                    </p:blipFill>
                    <p:spPr bwMode="auto">
                      <a:xfrm>
                        <a:off x="8448217" y="7949142"/>
                        <a:ext cx="4456853" cy="17475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2204" y="8403362"/>
            <a:ext cx="6162962" cy="128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954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0" y="1001370"/>
            <a:ext cx="11812693" cy="16256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7111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85884E-7715-4647-96A9-01B1B67FC6B7}" type="datetimeFigureOut">
              <a:rPr lang="en-US"/>
              <a:pPr>
                <a:defRPr/>
              </a:pPr>
              <a:t>10/2/2022</a:t>
            </a:fld>
            <a:endParaRPr lang="en-GB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3B8BC3-CC61-4885-BA11-C956DB67DE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015952668"/>
              </p:ext>
            </p:extLst>
          </p:nvPr>
        </p:nvGraphicFramePr>
        <p:xfrm>
          <a:off x="8448217" y="7949142"/>
          <a:ext cx="4456853" cy="1747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4" r:id="rId3" imgW="3352381" imgH="885949" progId="">
                  <p:embed/>
                </p:oleObj>
              </mc:Choice>
              <mc:Fallback>
                <p:oleObj r:id="rId3" imgW="3352381" imgH="885949" progId="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0827" r="11563"/>
                      <a:stretch>
                        <a:fillRect/>
                      </a:stretch>
                    </p:blipFill>
                    <p:spPr bwMode="auto">
                      <a:xfrm>
                        <a:off x="8448217" y="7949142"/>
                        <a:ext cx="4456853" cy="17475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2204" y="8403362"/>
            <a:ext cx="6162962" cy="128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189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30F53-5BAC-4AC5-AB8F-BB753561654C}" type="datetimeFigureOut">
              <a:rPr lang="en-US"/>
              <a:pPr>
                <a:defRPr/>
              </a:pPr>
              <a:t>10/2/2022</a:t>
            </a:fld>
            <a:endParaRPr lang="en-GB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4397FC-00C9-438D-A172-5590E1C5E4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2303210035"/>
              </p:ext>
            </p:extLst>
          </p:nvPr>
        </p:nvGraphicFramePr>
        <p:xfrm>
          <a:off x="8448217" y="7949142"/>
          <a:ext cx="4456853" cy="1747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8" r:id="rId3" imgW="3352381" imgH="885949" progId="">
                  <p:embed/>
                </p:oleObj>
              </mc:Choice>
              <mc:Fallback>
                <p:oleObj r:id="rId3" imgW="3352381" imgH="885949" progId="">
                  <p:embed/>
                  <p:pic>
                    <p:nvPicPr>
                      <p:cNvPr id="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0827" r="11563"/>
                      <a:stretch>
                        <a:fillRect/>
                      </a:stretch>
                    </p:blipFill>
                    <p:spPr bwMode="auto">
                      <a:xfrm>
                        <a:off x="8448217" y="7949142"/>
                        <a:ext cx="4456853" cy="17475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2204" y="8403362"/>
            <a:ext cx="6162962" cy="128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78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60" y="731523"/>
            <a:ext cx="3901440" cy="1652693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3698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75360" y="2384213"/>
            <a:ext cx="3901440" cy="6502400"/>
          </a:xfrm>
        </p:spPr>
        <p:txBody>
          <a:bodyPr lIns="18288" rIns="18288"/>
          <a:lstStyle>
            <a:lvl1pPr marL="0" indent="0" algn="l">
              <a:buNone/>
              <a:defRPr sz="1991"/>
            </a:lvl1pPr>
            <a:lvl2pPr indent="0" algn="l">
              <a:buNone/>
              <a:defRPr sz="1707"/>
            </a:lvl2pPr>
            <a:lvl3pPr indent="0" algn="l">
              <a:buNone/>
              <a:defRPr sz="1422"/>
            </a:lvl3pPr>
            <a:lvl4pPr indent="0" algn="l">
              <a:buNone/>
              <a:defRPr sz="1280"/>
            </a:lvl4pPr>
            <a:lvl5pPr indent="0" algn="l">
              <a:buNone/>
              <a:defRPr sz="128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5084516" y="2384213"/>
            <a:ext cx="7270044" cy="6502400"/>
          </a:xfrm>
        </p:spPr>
        <p:txBody>
          <a:bodyPr tIns="0"/>
          <a:lstStyle>
            <a:lvl1pPr>
              <a:defRPr sz="3982"/>
            </a:lvl1pPr>
            <a:lvl2pPr>
              <a:defRPr sz="3698"/>
            </a:lvl2pPr>
            <a:lvl3pPr>
              <a:defRPr sz="3413"/>
            </a:lvl3pPr>
            <a:lvl4pPr>
              <a:defRPr sz="2844"/>
            </a:lvl4pPr>
            <a:lvl5pPr>
              <a:defRPr sz="256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BD1C79-6771-4F5B-B345-6C250E326AD8}" type="datetimeFigureOut">
              <a:rPr lang="en-US"/>
              <a:pPr>
                <a:defRPr/>
              </a:pPr>
              <a:t>10/2/2022</a:t>
            </a:fld>
            <a:endParaRPr lang="en-GB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3A93FD-F93C-4024-A689-8C2C7470A0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878070718"/>
              </p:ext>
            </p:extLst>
          </p:nvPr>
        </p:nvGraphicFramePr>
        <p:xfrm>
          <a:off x="8448217" y="7949142"/>
          <a:ext cx="4456853" cy="1747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2" r:id="rId3" imgW="3352381" imgH="885949" progId="">
                  <p:embed/>
                </p:oleObj>
              </mc:Choice>
              <mc:Fallback>
                <p:oleObj r:id="rId3" imgW="3352381" imgH="885949" progId="">
                  <p:embed/>
                  <p:pic>
                    <p:nvPicPr>
                      <p:cNvPr id="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0827" r="11563"/>
                      <a:stretch>
                        <a:fillRect/>
                      </a:stretch>
                    </p:blipFill>
                    <p:spPr bwMode="auto">
                      <a:xfrm>
                        <a:off x="8448217" y="7949142"/>
                        <a:ext cx="4456853" cy="17475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2204" y="8403362"/>
            <a:ext cx="6162962" cy="128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504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4502009" y="1575929"/>
            <a:ext cx="7477760" cy="585216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3413"/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11383716" y="7622259"/>
            <a:ext cx="221262" cy="221262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3413"/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13547" y="8272498"/>
            <a:ext cx="13031893" cy="148110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3413">
              <a:latin typeface="+mn-lt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6231467" y="8845974"/>
            <a:ext cx="6773333" cy="90762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3413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986" y="1673950"/>
            <a:ext cx="3147162" cy="2250839"/>
          </a:xfrm>
        </p:spPr>
        <p:txBody>
          <a:bodyPr lIns="45720" rIns="45720" bIns="45720"/>
          <a:lstStyle>
            <a:lvl1pPr algn="l">
              <a:buNone/>
              <a:defRPr sz="2844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987" y="4023161"/>
            <a:ext cx="3142827" cy="3099477"/>
          </a:xfrm>
        </p:spPr>
        <p:txBody>
          <a:bodyPr lIns="64008" rIns="45720"/>
          <a:lstStyle>
            <a:lvl1pPr marL="0" indent="0" algn="l">
              <a:spcBef>
                <a:spcPts val="356"/>
              </a:spcBef>
              <a:buFontTx/>
              <a:buNone/>
              <a:defRPr sz="1849"/>
            </a:lvl1pPr>
            <a:lvl2pPr>
              <a:defRPr sz="1707"/>
            </a:lvl2pPr>
            <a:lvl3pPr>
              <a:defRPr sz="1422"/>
            </a:lvl3pPr>
            <a:lvl4pPr>
              <a:defRPr sz="1280"/>
            </a:lvl4pPr>
            <a:lvl5pPr>
              <a:defRPr sz="128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957572" y="1705980"/>
            <a:ext cx="6567424" cy="5592064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4551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C722AF-8045-4763-A1A2-EE921A02E5AB}" type="datetimeFigureOut">
              <a:rPr lang="en-US"/>
              <a:pPr>
                <a:defRPr/>
              </a:pPr>
              <a:t>10/2/2022</a:t>
            </a:fld>
            <a:endParaRPr lang="en-GB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487573" y="9040143"/>
            <a:ext cx="866987" cy="519289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BF37E5-C166-421B-AE5F-E6634EAF063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graphicFrame>
        <p:nvGraphicFramePr>
          <p:cNvPr id="13" name="Object 4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913574349"/>
              </p:ext>
            </p:extLst>
          </p:nvPr>
        </p:nvGraphicFramePr>
        <p:xfrm>
          <a:off x="8448217" y="7949142"/>
          <a:ext cx="4456853" cy="1747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6" r:id="rId3" imgW="3352381" imgH="885949" progId="">
                  <p:embed/>
                </p:oleObj>
              </mc:Choice>
              <mc:Fallback>
                <p:oleObj r:id="rId3" imgW="3352381" imgH="885949" progId="">
                  <p:embed/>
                  <p:pic>
                    <p:nvPicPr>
                      <p:cNvPr id="1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0827" r="11563"/>
                      <a:stretch>
                        <a:fillRect/>
                      </a:stretch>
                    </p:blipFill>
                    <p:spPr bwMode="auto">
                      <a:xfrm>
                        <a:off x="8448217" y="7949142"/>
                        <a:ext cx="4456853" cy="17475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2204" y="8403362"/>
            <a:ext cx="6162962" cy="128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880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015C8-5902-4E1E-A9AE-7353A9559ED2}" type="datetimeFigureOut">
              <a:rPr lang="en-US"/>
              <a:pPr>
                <a:defRPr/>
              </a:pPr>
              <a:t>10/2/2022</a:t>
            </a:fld>
            <a:endParaRPr lang="en-GB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7ADE1-E83D-4DDC-9D52-A58007E729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60807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480" y="1300482"/>
            <a:ext cx="2926080" cy="74122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240" y="1300482"/>
            <a:ext cx="8561493" cy="74122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B830CD-7D28-4067-A06C-2F00894D0656}" type="datetimeFigureOut">
              <a:rPr lang="en-US"/>
              <a:pPr>
                <a:defRPr/>
              </a:pPr>
              <a:t>10/2/2022</a:t>
            </a:fld>
            <a:endParaRPr lang="en-GB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DBA0A-980C-4916-94E6-12627226C19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772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aves PP~2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822" y="-3791"/>
            <a:ext cx="13805094" cy="9761182"/>
          </a:xfrm>
          <a:prstGeom prst="rect">
            <a:avLst/>
          </a:prstGeom>
        </p:spPr>
      </p:pic>
      <p:sp>
        <p:nvSpPr>
          <p:cNvPr id="3" name="Shape 3"/>
          <p:cNvSpPr>
            <a:spLocks noGrp="1"/>
          </p:cNvSpPr>
          <p:nvPr>
            <p:ph type="title"/>
          </p:nvPr>
        </p:nvSpPr>
        <p:spPr>
          <a:xfrm>
            <a:off x="647700" y="0"/>
            <a:ext cx="11709400" cy="2406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/>
          <a:p>
            <a:r>
              <a:t>Title Text</a:t>
            </a:r>
          </a:p>
        </p:txBody>
      </p:sp>
      <p:sp>
        <p:nvSpPr>
          <p:cNvPr id="4" name="Shape 4"/>
          <p:cNvSpPr>
            <a:spLocks noGrp="1"/>
          </p:cNvSpPr>
          <p:nvPr>
            <p:ph type="body" idx="1"/>
          </p:nvPr>
        </p:nvSpPr>
        <p:spPr>
          <a:xfrm>
            <a:off x="647700" y="2273300"/>
            <a:ext cx="11709400" cy="7480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/>
          <a:lstStyle>
            <a:lvl2pPr marL="783590" indent="-285750">
              <a:spcBef>
                <a:spcPts val="900"/>
              </a:spcBef>
              <a:buChar char="–"/>
              <a:defRPr sz="3800"/>
            </a:lvl2pPr>
            <a:lvl3pPr marL="1183639" indent="-228600">
              <a:spcBef>
                <a:spcPts val="800"/>
              </a:spcBef>
              <a:defRPr sz="3400"/>
            </a:lvl3pPr>
            <a:lvl4pPr marL="1640839" indent="-228600">
              <a:spcBef>
                <a:spcPts val="600"/>
              </a:spcBef>
              <a:buChar char="–"/>
              <a:defRPr sz="2800"/>
            </a:lvl4pPr>
            <a:lvl5pPr marL="2098039" indent="-228600">
              <a:spcBef>
                <a:spcPts val="600"/>
              </a:spcBef>
              <a:buChar char="»"/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hape 5"/>
          <p:cNvSpPr>
            <a:spLocks noGrp="1"/>
          </p:cNvSpPr>
          <p:nvPr>
            <p:ph type="sldNum" sz="quarter" idx="2"/>
          </p:nvPr>
        </p:nvSpPr>
        <p:spPr>
          <a:xfrm>
            <a:off x="10667173" y="9126502"/>
            <a:ext cx="340322" cy="342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L="0" marR="0" algn="ctr" defTabSz="825500">
              <a:defRPr sz="1600">
                <a:solidFill>
                  <a:srgbClr val="9B9B9B"/>
                </a:solidFill>
                <a:uFill>
                  <a:solidFill>
                    <a:srgbClr val="9B9B9B"/>
                  </a:solidFill>
                </a:u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57799" marR="57799" indent="0" algn="ctr" defTabSz="647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2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"/>
        </a:defRPr>
      </a:lvl1pPr>
      <a:lvl2pPr marL="57799" marR="57799" indent="228600" algn="ctr" defTabSz="647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2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"/>
        </a:defRPr>
      </a:lvl2pPr>
      <a:lvl3pPr marL="57799" marR="57799" indent="457200" algn="ctr" defTabSz="647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2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"/>
        </a:defRPr>
      </a:lvl3pPr>
      <a:lvl4pPr marL="57799" marR="57799" indent="685800" algn="ctr" defTabSz="647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2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"/>
        </a:defRPr>
      </a:lvl4pPr>
      <a:lvl5pPr marL="57799" marR="57799" indent="914400" algn="ctr" defTabSz="647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2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"/>
        </a:defRPr>
      </a:lvl5pPr>
      <a:lvl6pPr marL="57799" marR="57799" indent="1143000" algn="ctr" defTabSz="647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2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"/>
        </a:defRPr>
      </a:lvl6pPr>
      <a:lvl7pPr marL="57799" marR="57799" indent="1371600" algn="ctr" defTabSz="647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2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"/>
        </a:defRPr>
      </a:lvl7pPr>
      <a:lvl8pPr marL="57799" marR="57799" indent="1600200" algn="ctr" defTabSz="647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2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"/>
        </a:defRPr>
      </a:lvl8pPr>
      <a:lvl9pPr marL="57799" marR="57799" indent="1828800" algn="ctr" defTabSz="647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2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"/>
        </a:defRPr>
      </a:lvl9pPr>
    </p:titleStyle>
    <p:bodyStyle>
      <a:lvl1pPr marL="383540" marR="57799" indent="-342900" algn="l" defTabSz="647700" latinLnBrk="0">
        <a:lnSpc>
          <a:spcPct val="100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 typeface="Helvetica"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"/>
        </a:defRPr>
      </a:lvl1pPr>
      <a:lvl2pPr marL="828708" marR="57799" indent="-330868" algn="l" defTabSz="647700" latinLnBrk="0">
        <a:lnSpc>
          <a:spcPct val="100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 typeface="Helvetica"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"/>
        </a:defRPr>
      </a:lvl2pPr>
      <a:lvl3pPr marL="1250875" marR="57799" indent="-295835" algn="l" defTabSz="647700" latinLnBrk="0">
        <a:lnSpc>
          <a:spcPct val="100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 typeface="Helvetica"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"/>
        </a:defRPr>
      </a:lvl3pPr>
      <a:lvl4pPr marL="1771468" marR="57799" indent="-359228" algn="l" defTabSz="647700" latinLnBrk="0">
        <a:lnSpc>
          <a:spcPct val="100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 typeface="Helvetica"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"/>
        </a:defRPr>
      </a:lvl4pPr>
      <a:lvl5pPr marL="2228668" marR="57799" indent="-359228" algn="l" defTabSz="647700" latinLnBrk="0">
        <a:lnSpc>
          <a:spcPct val="100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 typeface="Helvetica"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"/>
        </a:defRPr>
      </a:lvl5pPr>
      <a:lvl6pPr marL="2228668" marR="57799" indent="-359228" algn="l" defTabSz="647700" latinLnBrk="0">
        <a:lnSpc>
          <a:spcPct val="100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 typeface="Helvetica"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"/>
        </a:defRPr>
      </a:lvl6pPr>
      <a:lvl7pPr marL="2228668" marR="57799" indent="-359228" algn="l" defTabSz="647700" latinLnBrk="0">
        <a:lnSpc>
          <a:spcPct val="100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 typeface="Helvetica"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"/>
        </a:defRPr>
      </a:lvl7pPr>
      <a:lvl8pPr marL="2228668" marR="57799" indent="-359228" algn="l" defTabSz="647700" latinLnBrk="0">
        <a:lnSpc>
          <a:spcPct val="100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 typeface="Helvetica"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"/>
        </a:defRPr>
      </a:lvl8pPr>
      <a:lvl9pPr marL="2228668" marR="57799" indent="-359228" algn="l" defTabSz="647700" latinLnBrk="0">
        <a:lnSpc>
          <a:spcPct val="100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 typeface="Helvetica"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>
            <a:solidFill>
              <a:srgbClr val="9B9B9B"/>
            </a:solidFill>
          </a:uFill>
          <a:latin typeface="+mn-lt"/>
          <a:ea typeface="+mn-ea"/>
          <a:cs typeface="+mn-cs"/>
          <a:sym typeface="Helvetica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>
            <a:solidFill>
              <a:srgbClr val="9B9B9B"/>
            </a:solidFill>
          </a:uFill>
          <a:latin typeface="+mn-lt"/>
          <a:ea typeface="+mn-ea"/>
          <a:cs typeface="+mn-cs"/>
          <a:sym typeface="Helvetica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>
            <a:solidFill>
              <a:srgbClr val="9B9B9B"/>
            </a:solidFill>
          </a:uFill>
          <a:latin typeface="+mn-lt"/>
          <a:ea typeface="+mn-ea"/>
          <a:cs typeface="+mn-cs"/>
          <a:sym typeface="Helvetica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>
            <a:solidFill>
              <a:srgbClr val="9B9B9B"/>
            </a:solidFill>
          </a:uFill>
          <a:latin typeface="+mn-lt"/>
          <a:ea typeface="+mn-ea"/>
          <a:cs typeface="+mn-cs"/>
          <a:sym typeface="Helvetica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>
            <a:solidFill>
              <a:srgbClr val="9B9B9B"/>
            </a:solidFill>
          </a:uFill>
          <a:latin typeface="+mn-lt"/>
          <a:ea typeface="+mn-ea"/>
          <a:cs typeface="+mn-cs"/>
          <a:sym typeface="Helvetica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>
            <a:solidFill>
              <a:srgbClr val="9B9B9B"/>
            </a:solidFill>
          </a:uFill>
          <a:latin typeface="+mn-lt"/>
          <a:ea typeface="+mn-ea"/>
          <a:cs typeface="+mn-cs"/>
          <a:sym typeface="Helvetica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>
            <a:solidFill>
              <a:srgbClr val="9B9B9B"/>
            </a:solidFill>
          </a:uFill>
          <a:latin typeface="+mn-lt"/>
          <a:ea typeface="+mn-ea"/>
          <a:cs typeface="+mn-cs"/>
          <a:sym typeface="Helvetica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>
            <a:solidFill>
              <a:srgbClr val="9B9B9B"/>
            </a:solidFill>
          </a:uFill>
          <a:latin typeface="+mn-lt"/>
          <a:ea typeface="+mn-ea"/>
          <a:cs typeface="+mn-cs"/>
          <a:sym typeface="Helvetica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>
            <a:solidFill>
              <a:srgbClr val="9B9B9B"/>
            </a:solidFill>
          </a:uFill>
          <a:latin typeface="+mn-lt"/>
          <a:ea typeface="+mn-ea"/>
          <a:cs typeface="+mn-cs"/>
          <a:sym typeface="Helvetica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13547" y="-11289"/>
            <a:ext cx="13031893" cy="1481104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3413">
              <a:latin typeface="+mn-lt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231467" y="-11290"/>
            <a:ext cx="6773333" cy="90762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3413">
              <a:latin typeface="+mn-lt"/>
              <a:cs typeface="+mn-cs"/>
            </a:endParaRPr>
          </a:p>
        </p:txBody>
      </p:sp>
      <p:sp>
        <p:nvSpPr>
          <p:cNvPr id="17412" name="Title Placeholder 8"/>
          <p:cNvSpPr>
            <a:spLocks noGrp="1"/>
          </p:cNvSpPr>
          <p:nvPr>
            <p:ph type="title"/>
          </p:nvPr>
        </p:nvSpPr>
        <p:spPr bwMode="auto">
          <a:xfrm>
            <a:off x="650240" y="1002453"/>
            <a:ext cx="11704320" cy="162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741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50240" y="2752232"/>
            <a:ext cx="11704320" cy="6242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50240" y="9040143"/>
            <a:ext cx="3034453" cy="519289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707" smtClean="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6FB3AE56-0F51-4C80-BBA2-26B61B704FF5}" type="datetimeFigureOut">
              <a:rPr lang="en-US"/>
              <a:pPr>
                <a:defRPr/>
              </a:pPr>
              <a:t>10/2/2022</a:t>
            </a:fld>
            <a:endParaRPr lang="en-GB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793067" y="9040143"/>
            <a:ext cx="4768427" cy="519289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707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270827" y="9040143"/>
            <a:ext cx="1083733" cy="519289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707" smtClean="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851A044C-F8C9-422A-AD66-1E59822E40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grpSp>
        <p:nvGrpSpPr>
          <p:cNvPr id="17417" name="Group 1"/>
          <p:cNvGrpSpPr>
            <a:grpSpLocks/>
          </p:cNvGrpSpPr>
          <p:nvPr/>
        </p:nvGrpSpPr>
        <p:grpSpPr bwMode="auto">
          <a:xfrm>
            <a:off x="-27093" y="288996"/>
            <a:ext cx="13056730" cy="921173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sz="3413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sz="3413"/>
            </a:p>
          </p:txBody>
        </p:sp>
      </p:grpSp>
    </p:spTree>
    <p:extLst>
      <p:ext uri="{BB962C8B-B14F-4D97-AF65-F5344CB8AC3E}">
        <p14:creationId xmlns:p14="http://schemas.microsoft.com/office/powerpoint/2010/main" val="3536874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711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7111">
          <a:solidFill>
            <a:schemeClr val="tx2"/>
          </a:solidFill>
          <a:latin typeface="Calibri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7111">
          <a:solidFill>
            <a:schemeClr val="tx2"/>
          </a:solidFill>
          <a:latin typeface="Calibri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7111">
          <a:solidFill>
            <a:schemeClr val="tx2"/>
          </a:solidFill>
          <a:latin typeface="Calibri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7111">
          <a:solidFill>
            <a:schemeClr val="tx2"/>
          </a:solidFill>
          <a:latin typeface="Calibri" pitchFamily="34" charset="0"/>
        </a:defRPr>
      </a:lvl5pPr>
      <a:lvl6pPr marL="650230" algn="l" rtl="0" fontAlgn="base">
        <a:spcBef>
          <a:spcPct val="0"/>
        </a:spcBef>
        <a:spcAft>
          <a:spcPct val="0"/>
        </a:spcAft>
        <a:defRPr sz="7111">
          <a:solidFill>
            <a:schemeClr val="tx2"/>
          </a:solidFill>
          <a:latin typeface="Calibri" pitchFamily="34" charset="0"/>
        </a:defRPr>
      </a:lvl6pPr>
      <a:lvl7pPr marL="1300460" algn="l" rtl="0" fontAlgn="base">
        <a:spcBef>
          <a:spcPct val="0"/>
        </a:spcBef>
        <a:spcAft>
          <a:spcPct val="0"/>
        </a:spcAft>
        <a:defRPr sz="7111">
          <a:solidFill>
            <a:schemeClr val="tx2"/>
          </a:solidFill>
          <a:latin typeface="Calibri" pitchFamily="34" charset="0"/>
        </a:defRPr>
      </a:lvl7pPr>
      <a:lvl8pPr marL="1950690" algn="l" rtl="0" fontAlgn="base">
        <a:spcBef>
          <a:spcPct val="0"/>
        </a:spcBef>
        <a:spcAft>
          <a:spcPct val="0"/>
        </a:spcAft>
        <a:defRPr sz="7111">
          <a:solidFill>
            <a:schemeClr val="tx2"/>
          </a:solidFill>
          <a:latin typeface="Calibri" pitchFamily="34" charset="0"/>
        </a:defRPr>
      </a:lvl8pPr>
      <a:lvl9pPr marL="2600919" algn="l" rtl="0" fontAlgn="base">
        <a:spcBef>
          <a:spcPct val="0"/>
        </a:spcBef>
        <a:spcAft>
          <a:spcPct val="0"/>
        </a:spcAft>
        <a:defRPr sz="7111">
          <a:solidFill>
            <a:schemeClr val="tx2"/>
          </a:solidFill>
          <a:latin typeface="Calibri" pitchFamily="34" charset="0"/>
        </a:defRPr>
      </a:lvl9pPr>
    </p:titleStyle>
    <p:bodyStyle>
      <a:lvl1pPr marL="388332" indent="-388332" algn="l" rtl="0" fontAlgn="base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itchFamily="18" charset="2"/>
        <a:buChar char=""/>
        <a:defRPr sz="3698" kern="1200">
          <a:solidFill>
            <a:schemeClr val="tx1"/>
          </a:solidFill>
          <a:latin typeface="+mn-lt"/>
          <a:ea typeface="+mn-ea"/>
          <a:cs typeface="+mn-cs"/>
        </a:defRPr>
      </a:lvl1pPr>
      <a:lvl2pPr marL="909871" indent="-349951" algn="l" rtl="0" fontAlgn="base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3413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indent="-349951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987" kern="1200">
          <a:solidFill>
            <a:schemeClr val="tx1"/>
          </a:solidFill>
          <a:latin typeface="+mn-lt"/>
          <a:ea typeface="+mn-ea"/>
          <a:cs typeface="+mn-cs"/>
        </a:defRPr>
      </a:lvl3pPr>
      <a:lvl4pPr marL="1688791" indent="-298022" algn="l" rtl="0" fontAlgn="base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itchFamily="18" charset="2"/>
        <a:buChar char=""/>
        <a:defRPr sz="2844" kern="1200">
          <a:solidFill>
            <a:schemeClr val="tx1"/>
          </a:solidFill>
          <a:latin typeface="+mn-lt"/>
          <a:ea typeface="+mn-ea"/>
          <a:cs typeface="+mn-cs"/>
        </a:defRPr>
      </a:lvl4pPr>
      <a:lvl5pPr marL="2079382" indent="-298022" algn="l" rtl="0" fontAlgn="base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itchFamily="18" charset="2"/>
        <a:buChar char=""/>
        <a:defRPr sz="2844" kern="1200">
          <a:solidFill>
            <a:schemeClr val="tx1"/>
          </a:solidFill>
          <a:latin typeface="+mn-lt"/>
          <a:ea typeface="+mn-ea"/>
          <a:cs typeface="+mn-cs"/>
        </a:defRPr>
      </a:lvl5pPr>
      <a:lvl6pPr marL="2470873" indent="-299106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2730965" indent="-260092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2276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121103" indent="-260092" algn="l" rtl="0" eaLnBrk="1" latinLnBrk="0" hangingPunct="1">
        <a:spcBef>
          <a:spcPct val="20000"/>
        </a:spcBef>
        <a:buClr>
          <a:schemeClr val="tx2"/>
        </a:buClr>
        <a:buChar char="•"/>
        <a:defRPr kumimoji="0" sz="2276" kern="1200">
          <a:solidFill>
            <a:schemeClr val="tx1"/>
          </a:solidFill>
          <a:latin typeface="+mn-lt"/>
          <a:ea typeface="+mn-ea"/>
          <a:cs typeface="+mn-cs"/>
        </a:defRPr>
      </a:lvl8pPr>
      <a:lvl9pPr marL="3511241" indent="-260092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991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aidooK@cput.ac.za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9jIgSsIfh_8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gi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C5F8DD3-69D1-4BDA-96BE-96F39BD0E7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577" y="0"/>
            <a:ext cx="8713694" cy="386583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DE785FE-1275-4D69-859E-F42E172FD5DF}"/>
              </a:ext>
            </a:extLst>
          </p:cNvPr>
          <p:cNvSpPr/>
          <p:nvPr/>
        </p:nvSpPr>
        <p:spPr>
          <a:xfrm>
            <a:off x="8606117" y="0"/>
            <a:ext cx="5082989" cy="3865831"/>
          </a:xfrm>
          <a:prstGeom prst="rect">
            <a:avLst/>
          </a:prstGeom>
          <a:solidFill>
            <a:srgbClr val="FFFFFF"/>
          </a:solidFill>
          <a:ln w="9525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57799" marR="57799" indent="0" algn="l" defTabSz="1295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76762C-AFDA-46E7-B649-C535176FB264}"/>
              </a:ext>
            </a:extLst>
          </p:cNvPr>
          <p:cNvSpPr txBox="1"/>
          <p:nvPr/>
        </p:nvSpPr>
        <p:spPr>
          <a:xfrm>
            <a:off x="1035424" y="4564216"/>
            <a:ext cx="11725836" cy="29956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57799" marR="57799" indent="0" algn="l" defTabSz="1295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b="1" dirty="0">
                <a:solidFill>
                  <a:srgbClr val="FFFF00"/>
                </a:solidFill>
                <a:latin typeface="Abadi" panose="020B0604020104020204" pitchFamily="34" charset="0"/>
              </a:rPr>
              <a:t>Applications Development Practice 3 (ADP372S)</a:t>
            </a:r>
          </a:p>
          <a:p>
            <a:pPr marL="57799" marR="57799" indent="0" algn="l" defTabSz="1295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b="1" dirty="0">
                <a:solidFill>
                  <a:srgbClr val="FFFF00"/>
                </a:solidFill>
                <a:latin typeface="Abadi" panose="020B0604020104020204" pitchFamily="34" charset="0"/>
              </a:rPr>
              <a:t>Lecturer: Kruben Naidoo</a:t>
            </a:r>
          </a:p>
          <a:p>
            <a:pPr marL="57799" marR="57799" indent="0" algn="l" defTabSz="1295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Abadi" panose="020B0604020104020204" pitchFamily="34" charset="0"/>
                <a:sym typeface="Helvetica"/>
              </a:rPr>
              <a:t>Email: </a:t>
            </a:r>
            <a:r>
              <a:rPr lang="en-GB" sz="3200" dirty="0">
                <a:solidFill>
                  <a:schemeClr val="bg1"/>
                </a:solidFill>
                <a:latin typeface="Abadi" panose="020B0604020104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NaidooK@cput.ac.za</a:t>
            </a:r>
            <a:r>
              <a:rPr lang="en-GB" sz="32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endParaRPr kumimoji="0" lang="en-GB" sz="320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>
                <a:solidFill>
                  <a:srgbClr val="000000"/>
                </a:solidFill>
              </a:uFill>
              <a:latin typeface="Abadi" panose="020B0604020104020204" pitchFamily="34" charset="0"/>
              <a:sym typeface="Helvetica"/>
            </a:endParaRPr>
          </a:p>
          <a:p>
            <a:pPr marL="57799" marR="57799" indent="0" algn="l" defTabSz="1295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 dirty="0">
                <a:solidFill>
                  <a:schemeClr val="tx1"/>
                </a:solidFill>
                <a:latin typeface="Abadi" panose="020B0604020104020204" pitchFamily="34" charset="0"/>
              </a:rPr>
              <a:t>Office: Rm 2.11 – Engineering Building, District Six Campus, Cape Town, South Africa</a:t>
            </a:r>
            <a:r>
              <a:rPr lang="en-GB" sz="1600" dirty="0">
                <a:solidFill>
                  <a:schemeClr val="tx1"/>
                </a:solidFill>
                <a:latin typeface="Abadi" panose="020B0604020104020204" pitchFamily="34" charset="0"/>
              </a:rPr>
              <a:t>.</a:t>
            </a:r>
          </a:p>
          <a:p>
            <a:pPr marL="57799" marR="57799" indent="0" algn="l" defTabSz="1295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+mn-lt"/>
              <a:ea typeface="+mn-ea"/>
              <a:cs typeface="+mn-cs"/>
              <a:sym typeface="Helvetica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ED21-8887-4731-B88C-65216B8E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40" y="1126632"/>
            <a:ext cx="11704320" cy="1401415"/>
          </a:xfrm>
        </p:spPr>
        <p:txBody>
          <a:bodyPr/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Lesson objectives:</a:t>
            </a:r>
            <a:endParaRPr lang="en-GB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704F9-E7C5-4E8E-B511-15C522F4B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Welcome</a:t>
            </a:r>
          </a:p>
          <a:p>
            <a:pPr lvl="1">
              <a:spcBef>
                <a:spcPts val="0"/>
              </a:spcBef>
            </a:pPr>
            <a:r>
              <a:rPr lang="en-US" sz="303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Capstone group project presentations on campus</a:t>
            </a:r>
          </a:p>
          <a:p>
            <a:pPr marL="559920" lvl="1" indent="0">
              <a:spcBef>
                <a:spcPts val="0"/>
              </a:spcBef>
              <a:buNone/>
            </a:pPr>
            <a:endParaRPr lang="en-US" sz="3030" dirty="0">
              <a:solidFill>
                <a:schemeClr val="accent2">
                  <a:lumMod val="75000"/>
                </a:schemeClr>
              </a:solidFill>
              <a:latin typeface="Abadi" panose="020B0604020104020204" pitchFamily="34" charset="0"/>
            </a:endParaRPr>
          </a:p>
          <a:p>
            <a:pPr>
              <a:spcBef>
                <a:spcPts val="0"/>
              </a:spcBef>
            </a:pP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Abadi" panose="020B0604020104020204" pitchFamily="34" charset="0"/>
              </a:rPr>
              <a:t>The Bridge Design Pattern</a:t>
            </a:r>
          </a:p>
          <a:p>
            <a:pPr>
              <a:spcBef>
                <a:spcPts val="0"/>
              </a:spcBef>
            </a:pPr>
            <a:r>
              <a:rPr lang="en-US" sz="3600" dirty="0">
                <a:solidFill>
                  <a:srgbClr val="FFC000"/>
                </a:solidFill>
                <a:latin typeface="Abadi" panose="020B0604020104020204" pitchFamily="34" charset="0"/>
              </a:rPr>
              <a:t>The Composite Design Pattern</a:t>
            </a:r>
          </a:p>
          <a:p>
            <a:pPr>
              <a:spcBef>
                <a:spcPts val="0"/>
              </a:spcBef>
            </a:pPr>
            <a:r>
              <a:rPr lang="en-US" sz="3600" dirty="0">
                <a:solidFill>
                  <a:srgbClr val="FF0000"/>
                </a:solidFill>
                <a:latin typeface="Abadi" panose="020B0604020104020204" pitchFamily="34" charset="0"/>
              </a:rPr>
              <a:t>The Decorator Design Pattern</a:t>
            </a:r>
          </a:p>
          <a:p>
            <a:pPr>
              <a:spcBef>
                <a:spcPts val="0"/>
              </a:spcBef>
            </a:pPr>
            <a:r>
              <a:rPr lang="en-US" sz="3600" dirty="0">
                <a:solidFill>
                  <a:srgbClr val="00B050"/>
                </a:solidFill>
                <a:latin typeface="Abadi" panose="020B0604020104020204" pitchFamily="34" charset="0"/>
              </a:rPr>
              <a:t>The Flyweight Design Pattern</a:t>
            </a:r>
          </a:p>
          <a:p>
            <a:pPr>
              <a:spcBef>
                <a:spcPts val="0"/>
              </a:spcBef>
            </a:pPr>
            <a:endParaRPr lang="en-GB" sz="3600" dirty="0">
              <a:solidFill>
                <a:schemeClr val="accent2">
                  <a:lumMod val="75000"/>
                </a:schemeClr>
              </a:solidFill>
              <a:latin typeface="Abadi" panose="020B0604020104020204" pitchFamily="34" charset="0"/>
            </a:endParaRP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Summary </a:t>
            </a:r>
          </a:p>
          <a:p>
            <a:pPr lvl="1">
              <a:spcBef>
                <a:spcPts val="0"/>
              </a:spcBef>
            </a:pPr>
            <a:r>
              <a:rPr lang="en-GB" sz="303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Reminder of Capstone project group consultation sessions</a:t>
            </a:r>
          </a:p>
          <a:p>
            <a:pPr lvl="1">
              <a:spcBef>
                <a:spcPts val="0"/>
              </a:spcBef>
            </a:pPr>
            <a:endParaRPr lang="en-GB" sz="3315" dirty="0">
              <a:solidFill>
                <a:schemeClr val="accent2">
                  <a:lumMod val="75000"/>
                </a:schemeClr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36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3B6EE62E-8177-4793-9125-A797174F51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7" y="2082475"/>
            <a:ext cx="12860545" cy="599206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E5901E5-C02E-4CD6-9BC0-14EEB7EE88AB}"/>
              </a:ext>
            </a:extLst>
          </p:cNvPr>
          <p:cNvSpPr txBox="1"/>
          <p:nvPr/>
        </p:nvSpPr>
        <p:spPr>
          <a:xfrm>
            <a:off x="4190869" y="7283090"/>
            <a:ext cx="46230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u="sng" dirty="0">
                <a:latin typeface="Abadi" panose="020B0604020104020204" pitchFamily="34" charset="0"/>
              </a:rPr>
              <a:t>Figure: 23 Gang of Four (GOF) Patterns</a:t>
            </a:r>
            <a:endParaRPr lang="en-GB" sz="2000" u="sng" dirty="0">
              <a:latin typeface="Abadi" panose="020B0604020104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275C6E0-488A-417B-BA0B-F41F05D2D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40" y="1126632"/>
            <a:ext cx="11704320" cy="1401415"/>
          </a:xfrm>
        </p:spPr>
        <p:txBody>
          <a:bodyPr/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Recap</a:t>
            </a:r>
            <a:endParaRPr lang="en-GB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13451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ED21-8887-4731-B88C-65216B8E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40" y="1126632"/>
            <a:ext cx="11704320" cy="1401415"/>
          </a:xfrm>
        </p:spPr>
        <p:txBody>
          <a:bodyPr/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Bridge Design Pattern</a:t>
            </a:r>
            <a:endParaRPr lang="en-GB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704F9-E7C5-4E8E-B511-15C522F4B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sz="3315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The Bridge design pattern allows you to separate the abstraction from the implementation so that the two can vary independently. </a:t>
            </a:r>
          </a:p>
          <a:p>
            <a:pPr>
              <a:spcBef>
                <a:spcPts val="0"/>
              </a:spcBef>
            </a:pPr>
            <a:r>
              <a:rPr lang="en-US" sz="3315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It is a structural design pattern.</a:t>
            </a:r>
            <a:endParaRPr lang="en-GB" sz="3315" dirty="0">
              <a:solidFill>
                <a:schemeClr val="tx2">
                  <a:lumMod val="60000"/>
                  <a:lumOff val="40000"/>
                </a:schemeClr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8035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ED21-8887-4731-B88C-65216B8E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40" y="1126632"/>
            <a:ext cx="11704320" cy="1401415"/>
          </a:xfrm>
        </p:spPr>
        <p:txBody>
          <a:bodyPr/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Bridge Design Pattern</a:t>
            </a:r>
            <a:endParaRPr lang="en-GB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B96003A5-D60D-4A52-8FEC-984478DC78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681" y="2837329"/>
            <a:ext cx="7929777" cy="5186216"/>
          </a:xfrm>
        </p:spPr>
      </p:pic>
    </p:spTree>
    <p:extLst>
      <p:ext uri="{BB962C8B-B14F-4D97-AF65-F5344CB8AC3E}">
        <p14:creationId xmlns:p14="http://schemas.microsoft.com/office/powerpoint/2010/main" val="1199849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ED21-8887-4731-B88C-65216B8E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40" y="1126632"/>
            <a:ext cx="11704320" cy="1401415"/>
          </a:xfrm>
        </p:spPr>
        <p:txBody>
          <a:bodyPr/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Bridge Design Pattern</a:t>
            </a:r>
            <a:endParaRPr lang="en-GB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704F9-E7C5-4E8E-B511-15C522F4B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Watch the following video by Derek Banas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  <a:hlinkClick r:id="rId2"/>
              </a:rPr>
              <a:t>https://www.youtube.com/watch?v=9jIgSsIfh_8</a:t>
            </a: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 </a:t>
            </a:r>
          </a:p>
          <a:p>
            <a:pPr lvl="1">
              <a:spcBef>
                <a:spcPts val="0"/>
              </a:spcBef>
            </a:pPr>
            <a:endParaRPr lang="en-GB" sz="3315" dirty="0">
              <a:solidFill>
                <a:schemeClr val="accent2">
                  <a:lumMod val="75000"/>
                </a:schemeClr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634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ED21-8887-4731-B88C-65216B8E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40" y="1126632"/>
            <a:ext cx="11704320" cy="1401415"/>
          </a:xfrm>
        </p:spPr>
        <p:txBody>
          <a:bodyPr/>
          <a:lstStyle/>
          <a:p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Composite Design Pattern</a:t>
            </a:r>
            <a:endParaRPr lang="en-GB" sz="72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704F9-E7C5-4E8E-B511-15C522F4B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Allows you to treat individual objects and composition of objects uniformly</a:t>
            </a:r>
          </a:p>
          <a:p>
            <a:pPr>
              <a:spcBef>
                <a:spcPts val="0"/>
              </a:spcBef>
            </a:pP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They allow you to represent part-whole hierarchies </a:t>
            </a:r>
          </a:p>
          <a:p>
            <a:pPr lvl="1">
              <a:spcBef>
                <a:spcPts val="0"/>
              </a:spcBef>
            </a:pPr>
            <a:r>
              <a:rPr lang="en-US" sz="3315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Components can be further divided into smaller components</a:t>
            </a:r>
          </a:p>
          <a:p>
            <a:pPr>
              <a:spcBef>
                <a:spcPts val="0"/>
              </a:spcBef>
            </a:pP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You can structure data, or represent the inner working of every part of a whole object individually. </a:t>
            </a:r>
          </a:p>
          <a:p>
            <a:pPr lvl="1">
              <a:spcBef>
                <a:spcPts val="0"/>
              </a:spcBef>
            </a:pPr>
            <a:endParaRPr lang="en-GB" sz="3315" dirty="0">
              <a:solidFill>
                <a:schemeClr val="accent2">
                  <a:lumMod val="75000"/>
                </a:schemeClr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263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ED21-8887-4731-B88C-65216B8E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40" y="1126632"/>
            <a:ext cx="11704320" cy="1401415"/>
          </a:xfrm>
        </p:spPr>
        <p:txBody>
          <a:bodyPr/>
          <a:lstStyle/>
          <a:p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Composite Design Pattern</a:t>
            </a:r>
            <a:endParaRPr lang="en-GB" sz="72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1173E136-238B-4309-9EBC-5369DF3204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953" y="2646589"/>
            <a:ext cx="8552329" cy="6190438"/>
          </a:xfrm>
        </p:spPr>
      </p:pic>
    </p:spTree>
    <p:extLst>
      <p:ext uri="{BB962C8B-B14F-4D97-AF65-F5344CB8AC3E}">
        <p14:creationId xmlns:p14="http://schemas.microsoft.com/office/powerpoint/2010/main" val="293495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ED21-8887-4731-B88C-65216B8E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40" y="1126632"/>
            <a:ext cx="11704320" cy="1401415"/>
          </a:xfrm>
        </p:spPr>
        <p:txBody>
          <a:bodyPr/>
          <a:lstStyle/>
          <a:p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Composite Design Pattern</a:t>
            </a:r>
            <a:endParaRPr lang="en-GB" sz="72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704F9-E7C5-4E8E-B511-15C522F4B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Example </a:t>
            </a:r>
          </a:p>
          <a:p>
            <a:pPr lvl="1">
              <a:spcBef>
                <a:spcPts val="0"/>
              </a:spcBef>
            </a:pPr>
            <a:r>
              <a:rPr lang="en-GB" sz="3315" dirty="0">
                <a:solidFill>
                  <a:schemeClr val="accent2">
                    <a:lumMod val="75000"/>
                  </a:schemeClr>
                </a:solidFill>
                <a:latin typeface="Abadi" panose="020B0604020104020204" pitchFamily="34" charset="0"/>
              </a:rPr>
              <a:t>Let us turn to IntelliJ to review the following code example.</a:t>
            </a:r>
          </a:p>
          <a:p>
            <a:pPr marL="0" indent="0">
              <a:spcBef>
                <a:spcPts val="0"/>
              </a:spcBef>
              <a:buNone/>
            </a:pPr>
            <a:endParaRPr lang="en-GB" sz="3600" dirty="0">
              <a:solidFill>
                <a:schemeClr val="accent2">
                  <a:lumMod val="75000"/>
                </a:schemeClr>
              </a:solidFill>
              <a:latin typeface="Abadi" panose="020B0604020104020204" pitchFamily="34" charset="0"/>
            </a:endParaRPr>
          </a:p>
        </p:txBody>
      </p:sp>
      <p:pic>
        <p:nvPicPr>
          <p:cNvPr id="5" name="Picture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FBBAEA25-5F60-435A-95C9-29CCEF3299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53" y="4318297"/>
            <a:ext cx="12741744" cy="520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046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ED21-8887-4731-B88C-65216B8E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40" y="1126632"/>
            <a:ext cx="11704320" cy="1401415"/>
          </a:xfrm>
        </p:spPr>
        <p:txBody>
          <a:bodyPr/>
          <a:lstStyle/>
          <a:p>
            <a:r>
              <a:rPr lang="en-US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Decorator Design Pattern</a:t>
            </a:r>
            <a:endParaRPr lang="en-GB" sz="7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704F9-E7C5-4E8E-B511-15C522F4B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The Decorator allows you to modify an object dynamically</a:t>
            </a:r>
          </a:p>
          <a:p>
            <a:pPr>
              <a:spcBef>
                <a:spcPts val="0"/>
              </a:spcBef>
            </a:pP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You would use it when you want the capabilities of inheritance with subclasses, but you need to add functionality at run-time</a:t>
            </a:r>
          </a:p>
          <a:p>
            <a:pPr>
              <a:spcBef>
                <a:spcPts val="0"/>
              </a:spcBef>
            </a:pP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It is more flexible than inheritance.</a:t>
            </a:r>
          </a:p>
          <a:p>
            <a:pPr>
              <a:spcBef>
                <a:spcPts val="0"/>
              </a:spcBef>
            </a:pP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Simplifies code because you add functionality using many simple classes</a:t>
            </a:r>
          </a:p>
          <a:p>
            <a:pPr>
              <a:spcBef>
                <a:spcPts val="0"/>
              </a:spcBef>
            </a:pP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Rather than rewrite old code you can extend with new code</a:t>
            </a:r>
          </a:p>
          <a:p>
            <a:pPr lvl="1">
              <a:spcBef>
                <a:spcPts val="0"/>
              </a:spcBef>
            </a:pPr>
            <a:endParaRPr lang="en-GB" sz="3315" dirty="0">
              <a:solidFill>
                <a:schemeClr val="accent2">
                  <a:lumMod val="75000"/>
                </a:schemeClr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796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ED21-8887-4731-B88C-65216B8E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40" y="1126632"/>
            <a:ext cx="11704320" cy="1401415"/>
          </a:xfrm>
        </p:spPr>
        <p:txBody>
          <a:bodyPr/>
          <a:lstStyle/>
          <a:p>
            <a:r>
              <a:rPr lang="en-US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Decorator Design Pattern class diagram</a:t>
            </a:r>
            <a:endParaRPr lang="en-GB" sz="7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704F9-E7C5-4E8E-B511-15C522F4B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endParaRPr lang="en-US" sz="3600" dirty="0">
              <a:solidFill>
                <a:schemeClr val="tx2">
                  <a:lumMod val="60000"/>
                  <a:lumOff val="40000"/>
                </a:schemeClr>
              </a:solidFill>
              <a:latin typeface="Abadi" panose="020B0604020104020204" pitchFamily="34" charset="0"/>
            </a:endParaRPr>
          </a:p>
          <a:p>
            <a:pPr lvl="1">
              <a:spcBef>
                <a:spcPts val="0"/>
              </a:spcBef>
            </a:pPr>
            <a:endParaRPr lang="en-GB" sz="3315" dirty="0">
              <a:solidFill>
                <a:schemeClr val="accent2">
                  <a:lumMod val="75000"/>
                </a:schemeClr>
              </a:solidFill>
              <a:latin typeface="Abadi" panose="020B06040201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296AE1-FC7A-499B-87D7-127CDCC4D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1459" y="2528047"/>
            <a:ext cx="6871447" cy="566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99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diagram&#10;&#10;Description automatically generated">
            <a:extLst>
              <a:ext uri="{FF2B5EF4-FFF2-40B4-BE49-F238E27FC236}">
                <a16:creationId xmlns:a16="http://schemas.microsoft.com/office/drawing/2014/main" id="{9D1ACE8D-256E-4530-B3D1-38291B0CB5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493" y="4193108"/>
            <a:ext cx="12619814" cy="53274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05EED21-8887-4731-B88C-65216B8E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40" y="1126632"/>
            <a:ext cx="11704320" cy="1401415"/>
          </a:xfrm>
        </p:spPr>
        <p:txBody>
          <a:bodyPr/>
          <a:lstStyle/>
          <a:p>
            <a:r>
              <a:rPr lang="en-US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Decorator Design Pattern Example</a:t>
            </a:r>
            <a:endParaRPr lang="en-GB" sz="7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704F9-E7C5-4E8E-B511-15C522F4B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Let us turn to IntelliJ to look at the following Pizza example and how we implement the Decorator pattern.</a:t>
            </a:r>
          </a:p>
          <a:p>
            <a:pPr>
              <a:spcBef>
                <a:spcPts val="0"/>
              </a:spcBef>
            </a:pPr>
            <a:endParaRPr lang="en-US" sz="3600" dirty="0">
              <a:solidFill>
                <a:schemeClr val="tx2">
                  <a:lumMod val="60000"/>
                  <a:lumOff val="40000"/>
                </a:schemeClr>
              </a:solidFill>
              <a:latin typeface="Abadi" panose="020B0604020104020204" pitchFamily="34" charset="0"/>
            </a:endParaRPr>
          </a:p>
          <a:p>
            <a:pPr lvl="1">
              <a:spcBef>
                <a:spcPts val="0"/>
              </a:spcBef>
            </a:pPr>
            <a:endParaRPr lang="en-GB" sz="3315" dirty="0">
              <a:solidFill>
                <a:schemeClr val="accent2">
                  <a:lumMod val="75000"/>
                </a:schemeClr>
              </a:solidFill>
              <a:latin typeface="Abadi" panose="020B0604020104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4B8A62-F583-42C2-B178-A7F1385C50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681" y="1126632"/>
            <a:ext cx="2704626" cy="152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07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ED21-8887-4731-B88C-65216B8E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40" y="1126632"/>
            <a:ext cx="11704320" cy="1401415"/>
          </a:xfrm>
        </p:spPr>
        <p:txBody>
          <a:bodyPr/>
          <a:lstStyle/>
          <a:p>
            <a:r>
              <a:rPr lang="en-US" sz="6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Flyweight Design Pattern</a:t>
            </a:r>
            <a:endParaRPr lang="en-GB" sz="72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704F9-E7C5-4E8E-B511-15C522F4B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Used when you need to create a large number of objects</a:t>
            </a:r>
          </a:p>
          <a:p>
            <a:pPr>
              <a:spcBef>
                <a:spcPts val="0"/>
              </a:spcBef>
            </a:pP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To reduce the memory usage you share Objects that are similar in some way rather than creating new ones</a:t>
            </a:r>
          </a:p>
          <a:p>
            <a:pPr>
              <a:spcBef>
                <a:spcPts val="0"/>
              </a:spcBef>
            </a:pPr>
            <a:endParaRPr lang="en-US" sz="3600" dirty="0">
              <a:solidFill>
                <a:schemeClr val="tx2">
                  <a:lumMod val="60000"/>
                  <a:lumOff val="40000"/>
                </a:schemeClr>
              </a:solidFill>
              <a:latin typeface="Abadi" panose="020B0604020104020204" pitchFamily="34" charset="0"/>
            </a:endParaRPr>
          </a:p>
          <a:p>
            <a:pPr>
              <a:spcBef>
                <a:spcPts val="0"/>
              </a:spcBef>
            </a:pP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Let us look at an example… creating 500000 rectangles</a:t>
            </a:r>
          </a:p>
          <a:p>
            <a:pPr>
              <a:spcBef>
                <a:spcPts val="0"/>
              </a:spcBef>
            </a:pPr>
            <a:endParaRPr lang="en-US" sz="3600" dirty="0">
              <a:solidFill>
                <a:schemeClr val="tx2">
                  <a:lumMod val="60000"/>
                  <a:lumOff val="40000"/>
                </a:schemeClr>
              </a:solidFill>
              <a:latin typeface="Abadi" panose="020B0604020104020204" pitchFamily="34" charset="0"/>
            </a:endParaRPr>
          </a:p>
          <a:p>
            <a:pPr>
              <a:spcBef>
                <a:spcPts val="0"/>
              </a:spcBef>
            </a:pP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Intrinsic State : </a:t>
            </a:r>
            <a:r>
              <a:rPr lang="en-US" sz="36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Colour</a:t>
            </a:r>
            <a:endParaRPr lang="en-US" sz="3600" dirty="0">
              <a:solidFill>
                <a:schemeClr val="tx2">
                  <a:lumMod val="60000"/>
                  <a:lumOff val="40000"/>
                </a:schemeClr>
              </a:solidFill>
              <a:latin typeface="Abadi" panose="020B0604020104020204" pitchFamily="34" charset="0"/>
            </a:endParaRPr>
          </a:p>
          <a:p>
            <a:pPr>
              <a:spcBef>
                <a:spcPts val="0"/>
              </a:spcBef>
            </a:pP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Extrinsic State: Size</a:t>
            </a:r>
          </a:p>
          <a:p>
            <a:pPr lvl="1">
              <a:spcBef>
                <a:spcPts val="0"/>
              </a:spcBef>
            </a:pPr>
            <a:endParaRPr lang="en-GB" sz="3315" dirty="0">
              <a:solidFill>
                <a:schemeClr val="accent2">
                  <a:lumMod val="75000"/>
                </a:schemeClr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681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ED21-8887-4731-B88C-65216B8E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40" y="1126632"/>
            <a:ext cx="11704320" cy="1401415"/>
          </a:xfrm>
        </p:spPr>
        <p:txBody>
          <a:bodyPr/>
          <a:lstStyle/>
          <a:p>
            <a:r>
              <a:rPr lang="en-US" sz="6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Flyweight Design Pattern class diagram</a:t>
            </a:r>
            <a:endParaRPr lang="en-GB" sz="72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704F9-E7C5-4E8E-B511-15C522F4B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endParaRPr lang="en-US" sz="3600" dirty="0">
              <a:solidFill>
                <a:schemeClr val="tx2">
                  <a:lumMod val="60000"/>
                  <a:lumOff val="40000"/>
                </a:schemeClr>
              </a:solidFill>
              <a:latin typeface="Abadi" panose="020B0604020104020204" pitchFamily="34" charset="0"/>
            </a:endParaRPr>
          </a:p>
          <a:p>
            <a:pPr lvl="1">
              <a:spcBef>
                <a:spcPts val="0"/>
              </a:spcBef>
            </a:pPr>
            <a:endParaRPr lang="en-GB" sz="3315" dirty="0">
              <a:solidFill>
                <a:schemeClr val="accent2">
                  <a:lumMod val="75000"/>
                </a:schemeClr>
              </a:solidFill>
              <a:latin typeface="Abadi" panose="020B0604020104020204" pitchFamily="34" charset="0"/>
            </a:endParaRP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8E06CDF2-231D-4E95-8DB5-A9AF9A918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077" y="2528047"/>
            <a:ext cx="9614646" cy="594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850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9DFCAA5-E12B-4867-BACA-CA096A5B6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7" y="2190051"/>
            <a:ext cx="12860545" cy="59920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05EED21-8887-4731-B88C-65216B8E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40" y="1126632"/>
            <a:ext cx="11704320" cy="1401415"/>
          </a:xfrm>
        </p:spPr>
        <p:txBody>
          <a:bodyPr/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Summary</a:t>
            </a:r>
            <a:endParaRPr lang="en-GB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704F9-E7C5-4E8E-B511-15C522F4B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endParaRPr lang="en-US" sz="3600" dirty="0">
              <a:solidFill>
                <a:schemeClr val="tx2">
                  <a:lumMod val="60000"/>
                  <a:lumOff val="40000"/>
                </a:schemeClr>
              </a:solidFill>
              <a:latin typeface="Abadi" panose="020B0604020104020204" pitchFamily="34" charset="0"/>
            </a:endParaRPr>
          </a:p>
          <a:p>
            <a:pPr lvl="1">
              <a:spcBef>
                <a:spcPts val="0"/>
              </a:spcBef>
            </a:pPr>
            <a:endParaRPr lang="en-GB" sz="3315" dirty="0">
              <a:solidFill>
                <a:schemeClr val="accent2">
                  <a:lumMod val="7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591C29-E3FC-42AC-9B75-8B3F0A134A83}"/>
              </a:ext>
            </a:extLst>
          </p:cNvPr>
          <p:cNvSpPr txBox="1"/>
          <p:nvPr/>
        </p:nvSpPr>
        <p:spPr>
          <a:xfrm>
            <a:off x="4190869" y="7363494"/>
            <a:ext cx="46230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u="sng" dirty="0">
                <a:latin typeface="Abadi" panose="020B0604020104020204" pitchFamily="34" charset="0"/>
              </a:rPr>
              <a:t>Figure: 23 Gang of Four (GOF) Patterns</a:t>
            </a:r>
            <a:endParaRPr lang="en-GB" sz="2000" u="sng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807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ED21-8887-4731-B88C-65216B8E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40" y="1126632"/>
            <a:ext cx="11704320" cy="1401415"/>
          </a:xfrm>
        </p:spPr>
        <p:txBody>
          <a:bodyPr/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Any questions?</a:t>
            </a:r>
            <a:endParaRPr lang="en-GB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42" name="Picture 2" descr="Questions GIFs - Get the best gif on GIFER">
            <a:extLst>
              <a:ext uri="{FF2B5EF4-FFF2-40B4-BE49-F238E27FC236}">
                <a16:creationId xmlns:a16="http://schemas.microsoft.com/office/drawing/2014/main" id="{ED3F54E5-7125-4F3C-B582-1E21538D343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900" y="2657475"/>
            <a:ext cx="1905000" cy="443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8889383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095C9"/>
        </a:solidFill>
        <a:ln w="9525" cap="flat">
          <a:solidFill>
            <a:srgbClr val="000000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57799" marR="57799" indent="0" algn="l" defTabSz="1295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9525" cap="flat">
          <a:solidFill>
            <a:srgbClr val="000000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57799" marR="57799" indent="0" algn="l" defTabSz="1295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095C9"/>
        </a:solidFill>
        <a:ln w="9525" cap="flat">
          <a:solidFill>
            <a:srgbClr val="000000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57799" marR="57799" indent="0" algn="l" defTabSz="1295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9525" cap="flat">
          <a:solidFill>
            <a:srgbClr val="000000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57799" marR="57799" indent="0" algn="l" defTabSz="1295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8014</TotalTime>
  <Words>381</Words>
  <Application>Microsoft Office PowerPoint</Application>
  <PresentationFormat>Custom</PresentationFormat>
  <Paragraphs>54</Paragraphs>
  <Slides>16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Abadi</vt:lpstr>
      <vt:lpstr>Calibri</vt:lpstr>
      <vt:lpstr>Constantia</vt:lpstr>
      <vt:lpstr>Helvetica</vt:lpstr>
      <vt:lpstr>Lucida Grande</vt:lpstr>
      <vt:lpstr>Wingdings 2</vt:lpstr>
      <vt:lpstr>White</vt:lpstr>
      <vt:lpstr>Flow</vt:lpstr>
      <vt:lpstr>PowerPoint Presentation</vt:lpstr>
      <vt:lpstr>Lesson objectives:</vt:lpstr>
      <vt:lpstr>Recap</vt:lpstr>
      <vt:lpstr>The Bridge Design Pattern</vt:lpstr>
      <vt:lpstr>The Bridge Design Pattern</vt:lpstr>
      <vt:lpstr>The Bridge Design Pattern</vt:lpstr>
      <vt:lpstr>The Composite Design Pattern</vt:lpstr>
      <vt:lpstr>The Composite Design Pattern</vt:lpstr>
      <vt:lpstr>The Composite Design Pattern</vt:lpstr>
      <vt:lpstr>The Decorator Design Pattern</vt:lpstr>
      <vt:lpstr>The Decorator Design Pattern class diagram</vt:lpstr>
      <vt:lpstr>The Decorator Design Pattern Example</vt:lpstr>
      <vt:lpstr>The Flyweight Design Pattern</vt:lpstr>
      <vt:lpstr>The Flyweight Design Pattern class diagram</vt:lpstr>
      <vt:lpstr>Summary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Marick Hornsveld</dc:creator>
  <cp:lastModifiedBy>Kruben Naidoo</cp:lastModifiedBy>
  <cp:revision>49</cp:revision>
  <cp:lastPrinted>2017-10-31T10:25:57Z</cp:lastPrinted>
  <dcterms:modified xsi:type="dcterms:W3CDTF">2022-10-02T15:52:56Z</dcterms:modified>
</cp:coreProperties>
</file>