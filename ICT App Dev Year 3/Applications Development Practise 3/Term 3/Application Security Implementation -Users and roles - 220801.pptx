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20"/>
  </p:notesMasterIdLst>
  <p:sldIdLst>
    <p:sldId id="272" r:id="rId5"/>
    <p:sldId id="300" r:id="rId6"/>
    <p:sldId id="301" r:id="rId7"/>
    <p:sldId id="316" r:id="rId8"/>
    <p:sldId id="317" r:id="rId9"/>
    <p:sldId id="318" r:id="rId10"/>
    <p:sldId id="319" r:id="rId11"/>
    <p:sldId id="302" r:id="rId12"/>
    <p:sldId id="320" r:id="rId13"/>
    <p:sldId id="321" r:id="rId14"/>
    <p:sldId id="322" r:id="rId15"/>
    <p:sldId id="323" r:id="rId16"/>
    <p:sldId id="324" r:id="rId17"/>
    <p:sldId id="325" r:id="rId18"/>
    <p:sldId id="32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619AC-2FBA-4CBF-ADE6-F1BA76DAED5C}" type="datetimeFigureOut">
              <a:rPr lang="en-GB" smtClean="0"/>
              <a:t>01/08/2022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C042F-D38B-4D1A-B172-EE7FF8C1A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730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CDC7-CCB2-4DCD-A28B-320DC92160A8}" type="datetime1">
              <a:rPr lang="en-GB" smtClean="0"/>
              <a:t>01/08/2022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033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5442-BC92-4D59-BD27-B9B0E58A7EC4}" type="datetime1">
              <a:rPr lang="en-GB" smtClean="0"/>
              <a:t>01/08/2022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9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6242-F52E-41D4-A6B0-057930A6B1E2}" type="datetime1">
              <a:rPr lang="en-GB" smtClean="0"/>
              <a:t>01/08/2022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305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ABF8-0790-4969-84B6-640C0FC2E4B0}" type="datetime1">
              <a:rPr lang="en-GB" smtClean="0"/>
              <a:t>01/08/2022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29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205C-F939-4829-8862-8A7F8AD8D7E7}" type="datetime1">
              <a:rPr lang="en-GB" smtClean="0"/>
              <a:t>01/08/2022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65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1B1F-0C44-4C0B-9F1C-69D55F308447}" type="datetime1">
              <a:rPr lang="en-GB" smtClean="0"/>
              <a:t>01/08/2022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46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1692-B158-4046-A052-ABF383F86A3F}" type="datetime1">
              <a:rPr lang="en-GB" smtClean="0"/>
              <a:t>01/08/2022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312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E07EF8-888D-40F3-9E44-231856DEE24A}" type="datetime1">
              <a:rPr lang="en-GB" smtClean="0"/>
              <a:t>01/08/2022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534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41F8-95FC-467B-8264-F5F83BB80994}" type="datetime1">
              <a:rPr lang="en-GB" smtClean="0"/>
              <a:t>01/08/2022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476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F885C-5C3F-4883-9FFF-93A2BEC01413}" type="datetime1">
              <a:rPr lang="en-GB" smtClean="0"/>
              <a:t>01/08/2022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4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D061-A8F1-4490-8E25-5926F2F902A7}" type="datetime1">
              <a:rPr lang="en-GB" smtClean="0"/>
              <a:t>01/08/2022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79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11D3383-231C-4620-BAF1-91B5FD2B5C3A}" type="datetime1">
              <a:rPr lang="en-GB" smtClean="0"/>
              <a:t>01/08/2022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50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blog/2022/02/21/spring-security-without-the-websecurityconfigureradapte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8" y="497150"/>
            <a:ext cx="5504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smtClean="0"/>
              <a:t>Application security: users and roles</a:t>
            </a:r>
            <a:endParaRPr lang="en-ZA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40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err="1" smtClean="0"/>
              <a:t>application.properties</a:t>
            </a:r>
            <a:endParaRPr lang="en-ZA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2</a:t>
            </a:fld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security</a:t>
            </a:r>
            <a:br>
              <a:rPr lang="en-ZA" dirty="0"/>
            </a:br>
            <a:r>
              <a:rPr lang="en-ZA" dirty="0">
                <a:solidFill>
                  <a:srgbClr val="C00000"/>
                </a:solidFill>
              </a:rPr>
              <a:t>#</a:t>
            </a:r>
            <a:r>
              <a:rPr lang="en-ZA" dirty="0" smtClean="0">
                <a:solidFill>
                  <a:srgbClr val="C00000"/>
                </a:solidFill>
              </a:rPr>
              <a:t>spring.security.user.name=user</a:t>
            </a:r>
            <a:r>
              <a:rPr lang="en-ZA" dirty="0">
                <a:solidFill>
                  <a:srgbClr val="C00000"/>
                </a:solidFill>
              </a:rPr>
              <a:t/>
            </a:r>
            <a:br>
              <a:rPr lang="en-ZA" dirty="0">
                <a:solidFill>
                  <a:srgbClr val="C00000"/>
                </a:solidFill>
              </a:rPr>
            </a:br>
            <a:r>
              <a:rPr lang="en-ZA" dirty="0">
                <a:solidFill>
                  <a:srgbClr val="C00000"/>
                </a:solidFill>
              </a:rPr>
              <a:t>#</a:t>
            </a:r>
            <a:r>
              <a:rPr lang="en-ZA" dirty="0" err="1" smtClean="0">
                <a:solidFill>
                  <a:srgbClr val="C00000"/>
                </a:solidFill>
              </a:rPr>
              <a:t>spring.security.user.password</a:t>
            </a:r>
            <a:r>
              <a:rPr lang="en-ZA" dirty="0" smtClean="0">
                <a:solidFill>
                  <a:srgbClr val="C00000"/>
                </a:solidFill>
              </a:rPr>
              <a:t>=password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53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err="1" smtClean="0"/>
              <a:t>security.SecurityConfig</a:t>
            </a:r>
            <a:endParaRPr lang="en-ZA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3</a:t>
            </a:fld>
            <a:endParaRPr lang="en-GB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29" y="950976"/>
            <a:ext cx="9426427" cy="5272270"/>
          </a:xfrm>
        </p:spPr>
      </p:pic>
      <p:sp>
        <p:nvSpPr>
          <p:cNvPr id="7" name="Oval 6"/>
          <p:cNvSpPr/>
          <p:nvPr/>
        </p:nvSpPr>
        <p:spPr>
          <a:xfrm>
            <a:off x="1168478" y="2903530"/>
            <a:ext cx="2024109" cy="6835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662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err="1" smtClean="0"/>
              <a:t>security.SecurityConfig</a:t>
            </a:r>
            <a:endParaRPr lang="en-ZA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4</a:t>
            </a:fld>
            <a:endParaRPr lang="en-GB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18" y="1837944"/>
            <a:ext cx="11931589" cy="3410712"/>
          </a:xfrm>
        </p:spPr>
      </p:pic>
      <p:sp>
        <p:nvSpPr>
          <p:cNvPr id="7" name="Oval 6"/>
          <p:cNvSpPr/>
          <p:nvPr/>
        </p:nvSpPr>
        <p:spPr>
          <a:xfrm>
            <a:off x="3575305" y="3737500"/>
            <a:ext cx="2683454" cy="9899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Down Arrow 10"/>
          <p:cNvSpPr/>
          <p:nvPr/>
        </p:nvSpPr>
        <p:spPr>
          <a:xfrm>
            <a:off x="7111013" y="3320248"/>
            <a:ext cx="674703" cy="103868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0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err="1" smtClean="0"/>
              <a:t>security.SecurityConfig</a:t>
            </a:r>
            <a:endParaRPr lang="en-ZA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5</a:t>
            </a:fld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1926455" y="2352583"/>
            <a:ext cx="78744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Right-click on class-name &gt; generate &gt; override methods</a:t>
            </a:r>
          </a:p>
          <a:p>
            <a:endParaRPr lang="en-ZA" dirty="0"/>
          </a:p>
          <a:p>
            <a:r>
              <a:rPr lang="en-ZA" dirty="0" smtClean="0"/>
              <a:t>Select 2 methods:</a:t>
            </a:r>
          </a:p>
          <a:p>
            <a:endParaRPr lang="en-ZA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configure(</a:t>
            </a:r>
            <a:r>
              <a:rPr lang="en-ZA" b="1" dirty="0" err="1"/>
              <a:t>AuthenticationManagerBuilder</a:t>
            </a:r>
            <a:r>
              <a:rPr lang="en-ZA" b="1" dirty="0"/>
              <a:t> </a:t>
            </a:r>
            <a:r>
              <a:rPr lang="en-ZA" b="1" dirty="0" err="1"/>
              <a:t>auth</a:t>
            </a:r>
            <a:r>
              <a:rPr lang="en-ZA" b="1" dirty="0"/>
              <a:t>) </a:t>
            </a:r>
            <a:r>
              <a:rPr lang="en-ZA" dirty="0"/>
              <a:t>– configures user </a:t>
            </a:r>
            <a:r>
              <a:rPr lang="en-ZA" dirty="0" smtClean="0"/>
              <a:t>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configure(</a:t>
            </a:r>
            <a:r>
              <a:rPr lang="en-ZA" b="1" dirty="0" err="1"/>
              <a:t>HttpSecurity</a:t>
            </a:r>
            <a:r>
              <a:rPr lang="en-ZA" b="1" dirty="0"/>
              <a:t> http) </a:t>
            </a:r>
            <a:r>
              <a:rPr lang="en-ZA" dirty="0"/>
              <a:t>– configures required </a:t>
            </a:r>
            <a:r>
              <a:rPr lang="en-ZA" dirty="0" err="1" smtClean="0"/>
              <a:t>urls</a:t>
            </a:r>
            <a:r>
              <a:rPr lang="en-ZA" dirty="0" smtClean="0"/>
              <a:t> or endpoints</a:t>
            </a:r>
            <a:endParaRPr lang="en-ZA" dirty="0"/>
          </a:p>
          <a:p>
            <a:endParaRPr lang="en-ZA" dirty="0" smtClean="0"/>
          </a:p>
        </p:txBody>
      </p:sp>
    </p:spTree>
    <p:extLst>
      <p:ext uri="{BB962C8B-B14F-4D97-AF65-F5344CB8AC3E}">
        <p14:creationId xmlns:p14="http://schemas.microsoft.com/office/powerpoint/2010/main" val="4056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8" y="497150"/>
            <a:ext cx="65872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err="1" smtClean="0"/>
              <a:t>security.SecurityConfig</a:t>
            </a:r>
            <a:r>
              <a:rPr lang="en-ZA" sz="2800" dirty="0" smtClean="0"/>
              <a:t>:</a:t>
            </a:r>
          </a:p>
          <a:p>
            <a:r>
              <a:rPr lang="en-ZA" dirty="0" smtClean="0"/>
              <a:t>Override method: </a:t>
            </a:r>
            <a:r>
              <a:rPr lang="en-ZA" b="1" dirty="0"/>
              <a:t>configure(</a:t>
            </a:r>
            <a:r>
              <a:rPr lang="en-ZA" b="1" dirty="0" err="1"/>
              <a:t>AuthenticationManagerBuilder</a:t>
            </a:r>
            <a:r>
              <a:rPr lang="en-ZA" b="1" dirty="0"/>
              <a:t> </a:t>
            </a:r>
            <a:r>
              <a:rPr lang="en-ZA" b="1" dirty="0" err="1"/>
              <a:t>auth</a:t>
            </a:r>
            <a:r>
              <a:rPr lang="en-ZA" b="1" dirty="0"/>
              <a:t>)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6</a:t>
            </a:fld>
            <a:endParaRPr lang="en-GB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8" y="1297369"/>
            <a:ext cx="11681015" cy="4739447"/>
          </a:xfrm>
        </p:spPr>
      </p:pic>
      <p:sp>
        <p:nvSpPr>
          <p:cNvPr id="7" name="Right Arrow 6"/>
          <p:cNvSpPr/>
          <p:nvPr/>
        </p:nvSpPr>
        <p:spPr>
          <a:xfrm>
            <a:off x="379432" y="2117939"/>
            <a:ext cx="674703" cy="26633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ight Arrow 8"/>
          <p:cNvSpPr/>
          <p:nvPr/>
        </p:nvSpPr>
        <p:spPr>
          <a:xfrm>
            <a:off x="248575" y="3093997"/>
            <a:ext cx="1775533" cy="9587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smtClean="0"/>
              <a:t>Match user with role</a:t>
            </a:r>
            <a:endParaRPr lang="en-ZA" dirty="0"/>
          </a:p>
        </p:txBody>
      </p:sp>
      <p:sp>
        <p:nvSpPr>
          <p:cNvPr id="10" name="Right Arrow 9"/>
          <p:cNvSpPr/>
          <p:nvPr/>
        </p:nvSpPr>
        <p:spPr>
          <a:xfrm>
            <a:off x="248575" y="4565406"/>
            <a:ext cx="1775533" cy="9587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smtClean="0"/>
              <a:t>Match user with role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4154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2975" y="497150"/>
            <a:ext cx="101915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err="1" smtClean="0"/>
              <a:t>security.SecurityConfig</a:t>
            </a:r>
            <a:r>
              <a:rPr lang="en-ZA" sz="2800" dirty="0" smtClean="0"/>
              <a:t>:</a:t>
            </a:r>
          </a:p>
          <a:p>
            <a:r>
              <a:rPr lang="en-ZA" dirty="0" smtClean="0"/>
              <a:t>Override method: </a:t>
            </a:r>
            <a:r>
              <a:rPr lang="en-ZA" b="1" dirty="0" smtClean="0"/>
              <a:t>configure(</a:t>
            </a:r>
            <a:r>
              <a:rPr lang="en-ZA" b="1" dirty="0" err="1"/>
              <a:t>HttpSecurity</a:t>
            </a:r>
            <a:r>
              <a:rPr lang="en-ZA" b="1" dirty="0"/>
              <a:t> </a:t>
            </a:r>
            <a:r>
              <a:rPr lang="en-ZA" b="1" dirty="0" smtClean="0"/>
              <a:t>http)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define endpoints for each of the roles, to specify who has access to different </a:t>
            </a:r>
            <a:r>
              <a:rPr lang="en-ZA" dirty="0" smtClean="0"/>
              <a:t>functionality</a:t>
            </a:r>
            <a:r>
              <a:rPr lang="en-ZA" b="1" dirty="0" smtClean="0"/>
              <a:t> </a:t>
            </a:r>
            <a:endParaRPr lang="en-ZA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7</a:t>
            </a:fld>
            <a:endParaRPr lang="en-GB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00" y="1574368"/>
            <a:ext cx="11577797" cy="4762424"/>
          </a:xfrm>
        </p:spPr>
      </p:pic>
      <p:sp>
        <p:nvSpPr>
          <p:cNvPr id="7" name="Right Arrow 6"/>
          <p:cNvSpPr/>
          <p:nvPr/>
        </p:nvSpPr>
        <p:spPr>
          <a:xfrm>
            <a:off x="412278" y="2413868"/>
            <a:ext cx="674703" cy="26633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ight Arrow 8"/>
          <p:cNvSpPr/>
          <p:nvPr/>
        </p:nvSpPr>
        <p:spPr>
          <a:xfrm>
            <a:off x="275208" y="3519697"/>
            <a:ext cx="1775533" cy="9587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200" dirty="0" smtClean="0"/>
              <a:t>Assign functionality to role</a:t>
            </a:r>
            <a:endParaRPr lang="en-ZA" sz="1200" dirty="0"/>
          </a:p>
        </p:txBody>
      </p:sp>
    </p:spTree>
    <p:extLst>
      <p:ext uri="{BB962C8B-B14F-4D97-AF65-F5344CB8AC3E}">
        <p14:creationId xmlns:p14="http://schemas.microsoft.com/office/powerpoint/2010/main" val="426864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smtClean="0"/>
              <a:t>Run application</a:t>
            </a:r>
            <a:endParaRPr lang="en-Z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we run the application, an error occurs: </a:t>
            </a:r>
            <a:r>
              <a:rPr lang="en-US" b="1" i="1" dirty="0" smtClean="0"/>
              <a:t>password needs to be encoded</a:t>
            </a:r>
            <a:r>
              <a:rPr lang="en-US" dirty="0" smtClean="0"/>
              <a:t>.</a:t>
            </a:r>
          </a:p>
          <a:p>
            <a:r>
              <a:rPr lang="en-ZA" b="1" dirty="0" smtClean="0"/>
              <a:t>{</a:t>
            </a:r>
            <a:r>
              <a:rPr lang="en-ZA" b="1" dirty="0" err="1" smtClean="0"/>
              <a:t>noop</a:t>
            </a:r>
            <a:r>
              <a:rPr lang="en-ZA" b="1" dirty="0" smtClean="0"/>
              <a:t>} </a:t>
            </a:r>
            <a:r>
              <a:rPr lang="en-ZA" dirty="0" smtClean="0"/>
              <a:t>- Spring </a:t>
            </a:r>
            <a:r>
              <a:rPr lang="en-ZA" dirty="0"/>
              <a:t>security provides a password encoder that does nothing. Useful for testing where working with plain text passwords may be </a:t>
            </a:r>
            <a:r>
              <a:rPr lang="en-ZA" dirty="0" smtClean="0"/>
              <a:t>preferred.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45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8" y="497150"/>
            <a:ext cx="65872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err="1" smtClean="0"/>
              <a:t>security.SecurityConfig</a:t>
            </a:r>
            <a:r>
              <a:rPr lang="en-ZA" sz="2800" dirty="0" smtClean="0"/>
              <a:t>:</a:t>
            </a:r>
          </a:p>
          <a:p>
            <a:r>
              <a:rPr lang="en-ZA" dirty="0" smtClean="0"/>
              <a:t>Override method: </a:t>
            </a:r>
            <a:r>
              <a:rPr lang="en-ZA" b="1" dirty="0"/>
              <a:t>configure(</a:t>
            </a:r>
            <a:r>
              <a:rPr lang="en-ZA" b="1" dirty="0" err="1"/>
              <a:t>AuthenticationManagerBuilder</a:t>
            </a:r>
            <a:r>
              <a:rPr lang="en-ZA" b="1" dirty="0"/>
              <a:t> </a:t>
            </a:r>
            <a:r>
              <a:rPr lang="en-ZA" b="1" dirty="0" err="1"/>
              <a:t>auth</a:t>
            </a:r>
            <a:r>
              <a:rPr lang="en-ZA" b="1" dirty="0"/>
              <a:t>)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9</a:t>
            </a:fld>
            <a:endParaRPr lang="en-GB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04" y="1472184"/>
            <a:ext cx="11404438" cy="4517135"/>
          </a:xfrm>
        </p:spPr>
      </p:pic>
      <p:sp>
        <p:nvSpPr>
          <p:cNvPr id="7" name="Right Arrow 6"/>
          <p:cNvSpPr/>
          <p:nvPr/>
        </p:nvSpPr>
        <p:spPr>
          <a:xfrm>
            <a:off x="1349403" y="3318961"/>
            <a:ext cx="674703" cy="26633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ight Arrow 11"/>
          <p:cNvSpPr/>
          <p:nvPr/>
        </p:nvSpPr>
        <p:spPr>
          <a:xfrm>
            <a:off x="1349404" y="4785692"/>
            <a:ext cx="674703" cy="26633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924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smtClean="0"/>
              <a:t>Run application again</a:t>
            </a:r>
            <a:endParaRPr lang="en-Z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 should run successfully.</a:t>
            </a:r>
          </a:p>
          <a:p>
            <a:r>
              <a:rPr lang="en-ZA" b="1" dirty="0"/>
              <a:t>Postman</a:t>
            </a:r>
            <a:r>
              <a:rPr lang="en-ZA" dirty="0"/>
              <a:t>&gt; run </a:t>
            </a:r>
            <a:r>
              <a:rPr lang="en-ZA" b="1" dirty="0" err="1"/>
              <a:t>getAll</a:t>
            </a:r>
            <a:r>
              <a:rPr lang="en-ZA" dirty="0"/>
              <a:t> with </a:t>
            </a:r>
            <a:r>
              <a:rPr lang="en-ZA" dirty="0" err="1"/>
              <a:t>BasicAuth</a:t>
            </a:r>
            <a:r>
              <a:rPr lang="en-ZA" dirty="0"/>
              <a:t> for Client</a:t>
            </a:r>
          </a:p>
          <a:p>
            <a:r>
              <a:rPr lang="en-ZA" dirty="0"/>
              <a:t>&gt; run </a:t>
            </a:r>
            <a:r>
              <a:rPr lang="en-ZA" b="1" dirty="0"/>
              <a:t>create</a:t>
            </a:r>
            <a:r>
              <a:rPr lang="en-ZA" dirty="0"/>
              <a:t> with </a:t>
            </a:r>
            <a:r>
              <a:rPr lang="en-ZA" dirty="0" err="1"/>
              <a:t>BasicAuth</a:t>
            </a:r>
            <a:r>
              <a:rPr lang="en-ZA" dirty="0"/>
              <a:t> for Client : should get error message ‘Unauthorized’</a:t>
            </a:r>
          </a:p>
          <a:p>
            <a:r>
              <a:rPr lang="en-ZA" dirty="0"/>
              <a:t>&gt; run </a:t>
            </a:r>
            <a:r>
              <a:rPr lang="en-ZA" b="1" dirty="0"/>
              <a:t>create</a:t>
            </a:r>
            <a:r>
              <a:rPr lang="en-ZA" dirty="0"/>
              <a:t> with </a:t>
            </a:r>
            <a:r>
              <a:rPr lang="en-ZA" dirty="0" err="1"/>
              <a:t>BasicAuth</a:t>
            </a:r>
            <a:r>
              <a:rPr lang="en-ZA" dirty="0"/>
              <a:t> for ADMIN : should work</a:t>
            </a:r>
          </a:p>
          <a:p>
            <a:r>
              <a:rPr lang="en-ZA" dirty="0"/>
              <a:t>Postman session will hold on to authentication details, so you will have to close Postman and restart to test different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87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smtClean="0"/>
              <a:t>Password encoding</a:t>
            </a:r>
            <a:endParaRPr lang="en-Z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/>
              <a:t>is </a:t>
            </a:r>
            <a:r>
              <a:rPr lang="en-ZA" dirty="0"/>
              <a:t>basically not storing the password in plaintext.</a:t>
            </a:r>
          </a:p>
          <a:p>
            <a:r>
              <a:rPr lang="en-ZA" dirty="0"/>
              <a:t>There are a few encoding mechanisms supported by Spring Security.</a:t>
            </a:r>
          </a:p>
          <a:p>
            <a:r>
              <a:rPr lang="en-ZA" b="1" dirty="0" err="1"/>
              <a:t>BCrypt</a:t>
            </a:r>
            <a:r>
              <a:rPr lang="en-ZA" dirty="0"/>
              <a:t> is usually the best solution available.</a:t>
            </a:r>
          </a:p>
          <a:p>
            <a:r>
              <a:rPr lang="en-ZA" dirty="0"/>
              <a:t>Most of the other mechanisms, such as the </a:t>
            </a:r>
            <a:r>
              <a:rPr lang="en-ZA" i="1" dirty="0"/>
              <a:t>MD5PasswordEncoder</a:t>
            </a:r>
            <a:r>
              <a:rPr lang="en-ZA" dirty="0"/>
              <a:t> and </a:t>
            </a:r>
            <a:r>
              <a:rPr lang="en-ZA" i="1" dirty="0" err="1"/>
              <a:t>ShaPasswordEncoder</a:t>
            </a:r>
            <a:r>
              <a:rPr lang="en-ZA" i="1" dirty="0"/>
              <a:t>,</a:t>
            </a:r>
            <a:r>
              <a:rPr lang="en-ZA" dirty="0"/>
              <a:t> </a:t>
            </a:r>
            <a:endParaRPr lang="en-ZA" dirty="0" smtClean="0"/>
          </a:p>
          <a:p>
            <a:r>
              <a:rPr lang="en-ZA" dirty="0"/>
              <a:t> </a:t>
            </a:r>
            <a:r>
              <a:rPr lang="en-ZA" dirty="0" smtClean="0"/>
              <a:t>  use </a:t>
            </a:r>
            <a:r>
              <a:rPr lang="en-ZA" dirty="0"/>
              <a:t>weaker algorithms and are now deprecated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45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smtClean="0"/>
              <a:t>Password encoding</a:t>
            </a:r>
            <a:endParaRPr lang="en-Z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In </a:t>
            </a:r>
            <a:r>
              <a:rPr lang="en-ZA" dirty="0" err="1"/>
              <a:t>SecurityConfig</a:t>
            </a:r>
            <a:r>
              <a:rPr lang="en-ZA" dirty="0"/>
              <a:t> class, add another method with a tag</a:t>
            </a:r>
            <a:r>
              <a:rPr lang="en-ZA" dirty="0" smtClean="0"/>
              <a:t>:</a:t>
            </a:r>
          </a:p>
          <a:p>
            <a:endParaRPr lang="en-ZA" dirty="0"/>
          </a:p>
          <a:p>
            <a:r>
              <a:rPr lang="en-Z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@Bean</a:t>
            </a:r>
          </a:p>
          <a:p>
            <a:r>
              <a:rPr lang="en-Z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ZA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PasswordEncoder</a:t>
            </a:r>
            <a:r>
              <a:rPr lang="en-Z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encoder(){</a:t>
            </a:r>
          </a:p>
          <a:p>
            <a:r>
              <a:rPr lang="en-Z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</a:t>
            </a:r>
            <a:r>
              <a:rPr lang="en-ZA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newBCryptPasswordEncoder</a:t>
            </a:r>
            <a:r>
              <a:rPr lang="en-Z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ZA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// </a:t>
            </a:r>
            <a:r>
              <a:rPr lang="en-Z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preferred implementation </a:t>
            </a:r>
          </a:p>
          <a:p>
            <a:r>
              <a:rPr lang="en-Z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64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smtClean="0"/>
              <a:t>Password encoding</a:t>
            </a:r>
            <a:endParaRPr lang="en-Z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 smtClean="0"/>
              <a:t>in configure(</a:t>
            </a:r>
            <a:r>
              <a:rPr lang="en-ZA" dirty="0" err="1" smtClean="0"/>
              <a:t>AuthenticationManagerBuilder</a:t>
            </a:r>
            <a:r>
              <a:rPr lang="en-ZA" dirty="0" smtClean="0"/>
              <a:t> </a:t>
            </a:r>
            <a:r>
              <a:rPr lang="en-ZA" dirty="0" err="1"/>
              <a:t>auth</a:t>
            </a:r>
            <a:r>
              <a:rPr lang="en-ZA" dirty="0"/>
              <a:t>) </a:t>
            </a:r>
            <a:r>
              <a:rPr lang="en-ZA" dirty="0" smtClean="0"/>
              <a:t>:</a:t>
            </a:r>
          </a:p>
          <a:p>
            <a:endParaRPr lang="en-ZA" dirty="0"/>
          </a:p>
          <a:p>
            <a:r>
              <a:rPr lang="en-ZA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auth.inMemoryAuthentication</a:t>
            </a:r>
            <a:r>
              <a:rPr lang="en-Z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Z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r>
              <a:rPr lang="en-ZA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withUser</a:t>
            </a:r>
            <a:r>
              <a:rPr lang="en-Z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ZA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userA</a:t>
            </a:r>
            <a:r>
              <a:rPr lang="en-Z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r>
              <a:rPr lang="en-Z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.password(encoder().encode( “12345”))</a:t>
            </a:r>
            <a:endParaRPr lang="en-ZA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Z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.roles(“ADMIN”)	- matches a user with a role.</a:t>
            </a:r>
          </a:p>
          <a:p>
            <a:r>
              <a:rPr lang="en-Z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.and()			</a:t>
            </a:r>
          </a:p>
          <a:p>
            <a:r>
              <a:rPr lang="en-Z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r>
              <a:rPr lang="en-ZA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withUser</a:t>
            </a:r>
            <a:r>
              <a:rPr lang="en-Z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(“client”)</a:t>
            </a:r>
          </a:p>
          <a:p>
            <a:r>
              <a:rPr lang="en-Z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.password(encoder().encode(“54321”)</a:t>
            </a:r>
            <a:endParaRPr lang="en-ZA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Z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.roles(“USER”);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62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smtClean="0"/>
              <a:t>Run application again</a:t>
            </a:r>
            <a:endParaRPr lang="en-Z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272" y="1020370"/>
            <a:ext cx="10058400" cy="4023360"/>
          </a:xfrm>
        </p:spPr>
        <p:txBody>
          <a:bodyPr/>
          <a:lstStyle/>
          <a:p>
            <a:r>
              <a:rPr lang="en-US" dirty="0" smtClean="0"/>
              <a:t>Application should run successfully.</a:t>
            </a:r>
          </a:p>
          <a:p>
            <a:r>
              <a:rPr lang="en-ZA" dirty="0" smtClean="0"/>
              <a:t>Run Postman and test endpoints and authorization for different users/roles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14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2" y="1819656"/>
            <a:ext cx="9941973" cy="474032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451498" y="2244895"/>
            <a:ext cx="2512381" cy="6924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Oval 6"/>
          <p:cNvSpPr/>
          <p:nvPr/>
        </p:nvSpPr>
        <p:spPr>
          <a:xfrm>
            <a:off x="5451127" y="3508707"/>
            <a:ext cx="1987118" cy="7917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ight Arrow 7"/>
          <p:cNvSpPr/>
          <p:nvPr/>
        </p:nvSpPr>
        <p:spPr>
          <a:xfrm>
            <a:off x="1720301" y="4300426"/>
            <a:ext cx="825623" cy="204186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882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497150"/>
            <a:ext cx="9994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smtClean="0"/>
              <a:t>Note: class </a:t>
            </a:r>
            <a:r>
              <a:rPr lang="en-ZA" sz="2800" b="1" dirty="0" err="1" smtClean="0"/>
              <a:t>WebSecurityConfigurerAdapter</a:t>
            </a:r>
            <a:r>
              <a:rPr lang="en-ZA" sz="2800" dirty="0" smtClean="0"/>
              <a:t> has been deprecated.</a:t>
            </a:r>
            <a:endParaRPr lang="en-ZA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15</a:t>
            </a:fld>
            <a:endParaRPr lang="en-GB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30" y="1133856"/>
            <a:ext cx="11931589" cy="3410712"/>
          </a:xfrm>
        </p:spPr>
      </p:pic>
      <p:sp>
        <p:nvSpPr>
          <p:cNvPr id="11" name="Down Arrow 10"/>
          <p:cNvSpPr/>
          <p:nvPr/>
        </p:nvSpPr>
        <p:spPr>
          <a:xfrm>
            <a:off x="8226581" y="2762464"/>
            <a:ext cx="674703" cy="103868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/>
          <p:cNvSpPr txBox="1"/>
          <p:nvPr/>
        </p:nvSpPr>
        <p:spPr>
          <a:xfrm>
            <a:off x="1024128" y="4695848"/>
            <a:ext cx="9262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u="sng" dirty="0" smtClean="0">
                <a:hlinkClick r:id="rId3"/>
              </a:rPr>
              <a:t>spring.io/blog/2022/02/21/spring-security-without-the-</a:t>
            </a:r>
            <a:r>
              <a:rPr lang="en-ZA" u="sng" dirty="0" err="1" smtClean="0">
                <a:hlinkClick r:id="rId3"/>
              </a:rPr>
              <a:t>websecurityconfigureradapter</a:t>
            </a:r>
            <a:endParaRPr lang="en-ZA" u="sng" dirty="0" smtClean="0"/>
          </a:p>
          <a:p>
            <a:endParaRPr lang="en-ZA" u="sng" dirty="0" smtClean="0"/>
          </a:p>
          <a:p>
            <a:r>
              <a:rPr lang="en-ZA" dirty="0" smtClean="0"/>
              <a:t>Please read the link provided here to see details on the class and methods that have since replaced </a:t>
            </a:r>
            <a:r>
              <a:rPr lang="en-ZA" dirty="0" err="1" smtClean="0"/>
              <a:t>WebSecurityConfigurerAdapter</a:t>
            </a:r>
            <a:r>
              <a:rPr lang="en-ZA" dirty="0" smtClean="0"/>
              <a:t>. 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1030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55EA94E4046E47A47B067566292199" ma:contentTypeVersion="12" ma:contentTypeDescription="Create a new document." ma:contentTypeScope="" ma:versionID="84a69996606a48457edb479a550a2dc3">
  <xsd:schema xmlns:xsd="http://www.w3.org/2001/XMLSchema" xmlns:xs="http://www.w3.org/2001/XMLSchema" xmlns:p="http://schemas.microsoft.com/office/2006/metadata/properties" xmlns:ns3="30ad1be0-ffa7-4f03-b101-b062beb68c87" xmlns:ns4="a06245fd-dbba-4df9-b84b-a9faff5c659d" targetNamespace="http://schemas.microsoft.com/office/2006/metadata/properties" ma:root="true" ma:fieldsID="ac722aeb5ef9913f88e0d3a76515d86c" ns3:_="" ns4:_="">
    <xsd:import namespace="30ad1be0-ffa7-4f03-b101-b062beb68c87"/>
    <xsd:import namespace="a06245fd-dbba-4df9-b84b-a9faff5c659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d1be0-ffa7-4f03-b101-b062beb68c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6245fd-dbba-4df9-b84b-a9faff5c659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110D7-11C7-4E14-9E73-F5FD8FF4D3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EEB635-5C17-4849-A132-FAB76F82ED78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purl.org/dc/terms/"/>
    <ds:schemaRef ds:uri="http://purl.org/dc/dcmitype/"/>
    <ds:schemaRef ds:uri="a06245fd-dbba-4df9-b84b-a9faff5c659d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30ad1be0-ffa7-4f03-b101-b062beb68c87"/>
  </ds:schemaRefs>
</ds:datastoreItem>
</file>

<file path=customXml/itemProps3.xml><?xml version="1.0" encoding="utf-8"?>
<ds:datastoreItem xmlns:ds="http://schemas.openxmlformats.org/officeDocument/2006/customXml" ds:itemID="{25B442C2-F865-4503-BEAB-270B8C1255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d1be0-ffa7-4f03-b101-b062beb68c87"/>
    <ds:schemaRef ds:uri="a06245fd-dbba-4df9-b84b-a9faff5c65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5693</TotalTime>
  <Words>329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Amlan Mukherjee</dc:creator>
  <cp:lastModifiedBy>Radford Burger</cp:lastModifiedBy>
  <cp:revision>109</cp:revision>
  <dcterms:created xsi:type="dcterms:W3CDTF">2021-08-19T10:15:38Z</dcterms:created>
  <dcterms:modified xsi:type="dcterms:W3CDTF">2022-08-01T08:47:25Z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0x010100CF55EA94E4046E47A47B067566292199</vt:lpwstr>
  </property>
</Properties>
</file>