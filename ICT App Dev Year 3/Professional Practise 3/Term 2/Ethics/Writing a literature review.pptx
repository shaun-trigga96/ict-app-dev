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1" r:id="rId7"/>
    <p:sldId id="262" r:id="rId8"/>
    <p:sldId id="263" r:id="rId9"/>
    <p:sldId id="264" r:id="rId10"/>
    <p:sldId id="266" r:id="rId11"/>
    <p:sldId id="265"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9" r:id="rId26"/>
    <p:sldId id="280" r:id="rId27"/>
    <p:sldId id="281" r:id="rId28"/>
    <p:sldId id="282" r:id="rId29"/>
    <p:sldId id="283" r:id="rId30"/>
    <p:sldId id="284" r:id="rId31"/>
    <p:sldId id="285" r:id="rId32"/>
    <p:sldId id="286" r:id="rId33"/>
    <p:sldId id="287" r:id="rId34"/>
    <p:sldId id="288"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99"/>
    <a:srgbClr val="CC0099"/>
    <a:srgbClr val="FF3300"/>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3" d="100"/>
          <a:sy n="83" d="100"/>
        </p:scale>
        <p:origin x="178" y="1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ole Wessels" userId="e771acc8-ecbb-4505-a306-f38d70d34d18" providerId="ADAL" clId="{79A25900-ADB6-4D92-A485-A94B1BD0DD0F}"/>
    <pc:docChg chg="undo custSel modSld">
      <pc:chgData name="Nicole Wessels" userId="e771acc8-ecbb-4505-a306-f38d70d34d18" providerId="ADAL" clId="{79A25900-ADB6-4D92-A485-A94B1BD0DD0F}" dt="2022-05-12T07:29:38.974" v="19" actId="20577"/>
      <pc:docMkLst>
        <pc:docMk/>
      </pc:docMkLst>
      <pc:sldChg chg="modSp mod">
        <pc:chgData name="Nicole Wessels" userId="e771acc8-ecbb-4505-a306-f38d70d34d18" providerId="ADAL" clId="{79A25900-ADB6-4D92-A485-A94B1BD0DD0F}" dt="2022-05-12T07:27:56.642" v="18" actId="20577"/>
        <pc:sldMkLst>
          <pc:docMk/>
          <pc:sldMk cId="288728081" sldId="261"/>
        </pc:sldMkLst>
        <pc:graphicFrameChg chg="modGraphic">
          <ac:chgData name="Nicole Wessels" userId="e771acc8-ecbb-4505-a306-f38d70d34d18" providerId="ADAL" clId="{79A25900-ADB6-4D92-A485-A94B1BD0DD0F}" dt="2022-05-12T07:27:56.642" v="18" actId="20577"/>
          <ac:graphicFrameMkLst>
            <pc:docMk/>
            <pc:sldMk cId="288728081" sldId="261"/>
            <ac:graphicFrameMk id="4" creationId="{00000000-0000-0000-0000-000000000000}"/>
          </ac:graphicFrameMkLst>
        </pc:graphicFrameChg>
      </pc:sldChg>
      <pc:sldChg chg="modSp mod">
        <pc:chgData name="Nicole Wessels" userId="e771acc8-ecbb-4505-a306-f38d70d34d18" providerId="ADAL" clId="{79A25900-ADB6-4D92-A485-A94B1BD0DD0F}" dt="2022-05-12T07:29:38.974" v="19" actId="20577"/>
        <pc:sldMkLst>
          <pc:docMk/>
          <pc:sldMk cId="3142867907" sldId="262"/>
        </pc:sldMkLst>
        <pc:spChg chg="mod">
          <ac:chgData name="Nicole Wessels" userId="e771acc8-ecbb-4505-a306-f38d70d34d18" providerId="ADAL" clId="{79A25900-ADB6-4D92-A485-A94B1BD0DD0F}" dt="2022-05-12T07:29:38.974" v="19" actId="20577"/>
          <ac:spMkLst>
            <pc:docMk/>
            <pc:sldMk cId="3142867907" sldId="262"/>
            <ac:spMk id="5"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90E754-CB55-4D5C-879E-C3B7B16B4935}" type="doc">
      <dgm:prSet loTypeId="urn:microsoft.com/office/officeart/2005/8/layout/vList2" loCatId="list" qsTypeId="urn:microsoft.com/office/officeart/2005/8/quickstyle/simple1" qsCatId="simple" csTypeId="urn:microsoft.com/office/officeart/2005/8/colors/colorful4" csCatId="colorful" phldr="1"/>
      <dgm:spPr/>
      <dgm:t>
        <a:bodyPr/>
        <a:lstStyle/>
        <a:p>
          <a:endParaRPr lang="en-ZA"/>
        </a:p>
      </dgm:t>
    </dgm:pt>
    <dgm:pt modelId="{5C23EE67-826F-43BC-8858-AA5D0115084A}">
      <dgm:prSet phldrT="[Text]"/>
      <dgm:spPr/>
      <dgm:t>
        <a:bodyPr/>
        <a:lstStyle/>
        <a:p>
          <a:r>
            <a:rPr lang="en-ZA" dirty="0"/>
            <a:t>Chronological</a:t>
          </a:r>
        </a:p>
      </dgm:t>
    </dgm:pt>
    <dgm:pt modelId="{66E75909-90BA-409E-88A3-299684E48807}" type="parTrans" cxnId="{A29E18D7-8B0F-4AA0-98AF-19718B4254E9}">
      <dgm:prSet/>
      <dgm:spPr/>
      <dgm:t>
        <a:bodyPr/>
        <a:lstStyle/>
        <a:p>
          <a:endParaRPr lang="en-ZA"/>
        </a:p>
      </dgm:t>
    </dgm:pt>
    <dgm:pt modelId="{B98B8CDA-F4B0-49A7-A123-94C597E0D4C5}" type="sibTrans" cxnId="{A29E18D7-8B0F-4AA0-98AF-19718B4254E9}">
      <dgm:prSet/>
      <dgm:spPr/>
      <dgm:t>
        <a:bodyPr/>
        <a:lstStyle/>
        <a:p>
          <a:endParaRPr lang="en-ZA"/>
        </a:p>
      </dgm:t>
    </dgm:pt>
    <dgm:pt modelId="{33F9B592-BB11-41B1-9182-D7BFF0522746}">
      <dgm:prSet phldrT="[Text]"/>
      <dgm:spPr/>
      <dgm:t>
        <a:bodyPr/>
        <a:lstStyle/>
        <a:p>
          <a:r>
            <a:rPr lang="en-ZA" dirty="0">
              <a:solidFill>
                <a:schemeClr val="bg1"/>
              </a:solidFill>
            </a:rPr>
            <a:t>.</a:t>
          </a:r>
        </a:p>
      </dgm:t>
    </dgm:pt>
    <dgm:pt modelId="{0DD531D4-257D-4C48-A0F1-84DFED9FCA8A}" type="parTrans" cxnId="{82757FC1-2E88-471B-8C7F-E9BB7B2C7C20}">
      <dgm:prSet/>
      <dgm:spPr/>
      <dgm:t>
        <a:bodyPr/>
        <a:lstStyle/>
        <a:p>
          <a:endParaRPr lang="en-ZA"/>
        </a:p>
      </dgm:t>
    </dgm:pt>
    <dgm:pt modelId="{274D545F-5AEE-4446-97C8-74DB2E90004C}" type="sibTrans" cxnId="{82757FC1-2E88-471B-8C7F-E9BB7B2C7C20}">
      <dgm:prSet/>
      <dgm:spPr/>
      <dgm:t>
        <a:bodyPr/>
        <a:lstStyle/>
        <a:p>
          <a:endParaRPr lang="en-ZA"/>
        </a:p>
      </dgm:t>
    </dgm:pt>
    <dgm:pt modelId="{2FA553FF-30B3-4362-8398-E11756139B36}">
      <dgm:prSet phldrT="[Text]"/>
      <dgm:spPr/>
      <dgm:t>
        <a:bodyPr/>
        <a:lstStyle/>
        <a:p>
          <a:r>
            <a:rPr lang="en-ZA" dirty="0"/>
            <a:t>Thematic</a:t>
          </a:r>
        </a:p>
      </dgm:t>
    </dgm:pt>
    <dgm:pt modelId="{BA910F93-3AEB-4442-8D0F-73D4467CD28B}" type="parTrans" cxnId="{41D3E8C4-9296-400F-9561-0FE4C8AC7FA0}">
      <dgm:prSet/>
      <dgm:spPr/>
      <dgm:t>
        <a:bodyPr/>
        <a:lstStyle/>
        <a:p>
          <a:endParaRPr lang="en-ZA"/>
        </a:p>
      </dgm:t>
    </dgm:pt>
    <dgm:pt modelId="{4141EF8C-C318-4AA2-9B30-17BDB42AEF6E}" type="sibTrans" cxnId="{41D3E8C4-9296-400F-9561-0FE4C8AC7FA0}">
      <dgm:prSet/>
      <dgm:spPr/>
      <dgm:t>
        <a:bodyPr/>
        <a:lstStyle/>
        <a:p>
          <a:endParaRPr lang="en-ZA"/>
        </a:p>
      </dgm:t>
    </dgm:pt>
    <dgm:pt modelId="{8A42BECE-5DE9-4D1D-90A8-0F922BB5BE3C}">
      <dgm:prSet phldrT="[Text]"/>
      <dgm:spPr/>
      <dgm:t>
        <a:bodyPr/>
        <a:lstStyle/>
        <a:p>
          <a:r>
            <a:rPr lang="en-ZA" dirty="0"/>
            <a:t>.</a:t>
          </a:r>
        </a:p>
      </dgm:t>
    </dgm:pt>
    <dgm:pt modelId="{6ADAAECA-4BAF-4CF9-80F1-A14E381FBD7C}" type="parTrans" cxnId="{980658F0-0BD6-4238-891A-4B5A7FA513DD}">
      <dgm:prSet/>
      <dgm:spPr/>
      <dgm:t>
        <a:bodyPr/>
        <a:lstStyle/>
        <a:p>
          <a:endParaRPr lang="en-ZA"/>
        </a:p>
      </dgm:t>
    </dgm:pt>
    <dgm:pt modelId="{1ACD7870-3101-4A47-B2F3-048269277EA5}" type="sibTrans" cxnId="{980658F0-0BD6-4238-891A-4B5A7FA513DD}">
      <dgm:prSet/>
      <dgm:spPr/>
      <dgm:t>
        <a:bodyPr/>
        <a:lstStyle/>
        <a:p>
          <a:endParaRPr lang="en-ZA"/>
        </a:p>
      </dgm:t>
    </dgm:pt>
    <dgm:pt modelId="{D60E69AE-E263-42E9-9F90-D674E0C1E065}">
      <dgm:prSet/>
      <dgm:spPr/>
      <dgm:t>
        <a:bodyPr/>
        <a:lstStyle/>
        <a:p>
          <a:r>
            <a:rPr lang="en-ZA" dirty="0"/>
            <a:t>Methodological</a:t>
          </a:r>
        </a:p>
      </dgm:t>
    </dgm:pt>
    <dgm:pt modelId="{FFA6791D-CBC5-44FE-8E2E-C14F7D9200E4}" type="parTrans" cxnId="{F40A676D-BAA8-47D0-AE09-73C22E4E2D2E}">
      <dgm:prSet/>
      <dgm:spPr/>
      <dgm:t>
        <a:bodyPr/>
        <a:lstStyle/>
        <a:p>
          <a:endParaRPr lang="en-ZA"/>
        </a:p>
      </dgm:t>
    </dgm:pt>
    <dgm:pt modelId="{E3D1BE6C-AD13-4924-A377-6EEE4F879DFA}" type="sibTrans" cxnId="{F40A676D-BAA8-47D0-AE09-73C22E4E2D2E}">
      <dgm:prSet/>
      <dgm:spPr/>
      <dgm:t>
        <a:bodyPr/>
        <a:lstStyle/>
        <a:p>
          <a:endParaRPr lang="en-ZA"/>
        </a:p>
      </dgm:t>
    </dgm:pt>
    <dgm:pt modelId="{12DD3E33-B90B-46A6-9381-606DCBAEFFC9}">
      <dgm:prSet/>
      <dgm:spPr/>
      <dgm:t>
        <a:bodyPr/>
        <a:lstStyle/>
        <a:p>
          <a:r>
            <a:rPr lang="en-ZA" dirty="0"/>
            <a:t>Theoretical</a:t>
          </a:r>
        </a:p>
      </dgm:t>
    </dgm:pt>
    <dgm:pt modelId="{F6535AFE-B680-4D66-8583-A96D85D37549}" type="parTrans" cxnId="{AFE4F9F2-B36D-4D59-9679-CC9EB01996E5}">
      <dgm:prSet/>
      <dgm:spPr/>
      <dgm:t>
        <a:bodyPr/>
        <a:lstStyle/>
        <a:p>
          <a:endParaRPr lang="en-ZA"/>
        </a:p>
      </dgm:t>
    </dgm:pt>
    <dgm:pt modelId="{EC2883C9-5DA4-4109-B997-593271CC4709}" type="sibTrans" cxnId="{AFE4F9F2-B36D-4D59-9679-CC9EB01996E5}">
      <dgm:prSet/>
      <dgm:spPr/>
      <dgm:t>
        <a:bodyPr/>
        <a:lstStyle/>
        <a:p>
          <a:endParaRPr lang="en-ZA"/>
        </a:p>
      </dgm:t>
    </dgm:pt>
    <dgm:pt modelId="{1ED867C7-0DF3-4CE4-8B21-6F69EBF2863C}" type="pres">
      <dgm:prSet presAssocID="{A490E754-CB55-4D5C-879E-C3B7B16B4935}" presName="linear" presStyleCnt="0">
        <dgm:presLayoutVars>
          <dgm:animLvl val="lvl"/>
          <dgm:resizeHandles val="exact"/>
        </dgm:presLayoutVars>
      </dgm:prSet>
      <dgm:spPr/>
    </dgm:pt>
    <dgm:pt modelId="{906F52E9-C61D-4316-A557-C0C847B5909E}" type="pres">
      <dgm:prSet presAssocID="{5C23EE67-826F-43BC-8858-AA5D0115084A}" presName="parentText" presStyleLbl="node1" presStyleIdx="0" presStyleCnt="4" custLinFactNeighborX="872" custLinFactNeighborY="-67671">
        <dgm:presLayoutVars>
          <dgm:chMax val="0"/>
          <dgm:bulletEnabled val="1"/>
        </dgm:presLayoutVars>
      </dgm:prSet>
      <dgm:spPr/>
    </dgm:pt>
    <dgm:pt modelId="{C771FC19-7C2D-497E-A5A7-DC799EEFC57B}" type="pres">
      <dgm:prSet presAssocID="{5C23EE67-826F-43BC-8858-AA5D0115084A}" presName="childText" presStyleLbl="revTx" presStyleIdx="0" presStyleCnt="2">
        <dgm:presLayoutVars>
          <dgm:bulletEnabled val="1"/>
        </dgm:presLayoutVars>
      </dgm:prSet>
      <dgm:spPr/>
    </dgm:pt>
    <dgm:pt modelId="{BB249486-986A-4881-8A51-2085C24F8647}" type="pres">
      <dgm:prSet presAssocID="{2FA553FF-30B3-4362-8398-E11756139B36}" presName="parentText" presStyleLbl="node1" presStyleIdx="1" presStyleCnt="4" custLinFactNeighborX="-581" custLinFactNeighborY="-39382">
        <dgm:presLayoutVars>
          <dgm:chMax val="0"/>
          <dgm:bulletEnabled val="1"/>
        </dgm:presLayoutVars>
      </dgm:prSet>
      <dgm:spPr/>
    </dgm:pt>
    <dgm:pt modelId="{67EA2B5F-8357-4867-95DE-B508F1ED0BF9}" type="pres">
      <dgm:prSet presAssocID="{2FA553FF-30B3-4362-8398-E11756139B36}" presName="childText" presStyleLbl="revTx" presStyleIdx="1" presStyleCnt="2">
        <dgm:presLayoutVars>
          <dgm:bulletEnabled val="1"/>
        </dgm:presLayoutVars>
      </dgm:prSet>
      <dgm:spPr/>
    </dgm:pt>
    <dgm:pt modelId="{3272D20D-CDE6-4F31-B246-1D717BC82E29}" type="pres">
      <dgm:prSet presAssocID="{D60E69AE-E263-42E9-9F90-D674E0C1E065}" presName="parentText" presStyleLbl="node1" presStyleIdx="2" presStyleCnt="4" custLinFactY="-43558" custLinFactNeighborY="-100000">
        <dgm:presLayoutVars>
          <dgm:chMax val="0"/>
          <dgm:bulletEnabled val="1"/>
        </dgm:presLayoutVars>
      </dgm:prSet>
      <dgm:spPr/>
    </dgm:pt>
    <dgm:pt modelId="{DB8B1EEF-A8AD-466D-8F8B-984B9707F903}" type="pres">
      <dgm:prSet presAssocID="{E3D1BE6C-AD13-4924-A377-6EEE4F879DFA}" presName="spacer" presStyleCnt="0"/>
      <dgm:spPr/>
    </dgm:pt>
    <dgm:pt modelId="{724692D9-5C36-4815-A9A1-BC620F83D622}" type="pres">
      <dgm:prSet presAssocID="{12DD3E33-B90B-46A6-9381-606DCBAEFFC9}" presName="parentText" presStyleLbl="node1" presStyleIdx="3" presStyleCnt="4" custLinFactY="-21287" custLinFactNeighborY="-100000">
        <dgm:presLayoutVars>
          <dgm:chMax val="0"/>
          <dgm:bulletEnabled val="1"/>
        </dgm:presLayoutVars>
      </dgm:prSet>
      <dgm:spPr/>
    </dgm:pt>
  </dgm:ptLst>
  <dgm:cxnLst>
    <dgm:cxn modelId="{0B63453B-BF42-4BE4-BBA8-BB7F9ACE94FD}" type="presOf" srcId="{33F9B592-BB11-41B1-9182-D7BFF0522746}" destId="{C771FC19-7C2D-497E-A5A7-DC799EEFC57B}" srcOrd="0" destOrd="0" presId="urn:microsoft.com/office/officeart/2005/8/layout/vList2"/>
    <dgm:cxn modelId="{F40A676D-BAA8-47D0-AE09-73C22E4E2D2E}" srcId="{A490E754-CB55-4D5C-879E-C3B7B16B4935}" destId="{D60E69AE-E263-42E9-9F90-D674E0C1E065}" srcOrd="2" destOrd="0" parTransId="{FFA6791D-CBC5-44FE-8E2E-C14F7D9200E4}" sibTransId="{E3D1BE6C-AD13-4924-A377-6EEE4F879DFA}"/>
    <dgm:cxn modelId="{8349FC82-77E6-42F2-94AE-62426D4CBE16}" type="presOf" srcId="{5C23EE67-826F-43BC-8858-AA5D0115084A}" destId="{906F52E9-C61D-4316-A557-C0C847B5909E}" srcOrd="0" destOrd="0" presId="urn:microsoft.com/office/officeart/2005/8/layout/vList2"/>
    <dgm:cxn modelId="{EF26A88A-2C1D-4291-B3CB-DC973F84BD78}" type="presOf" srcId="{12DD3E33-B90B-46A6-9381-606DCBAEFFC9}" destId="{724692D9-5C36-4815-A9A1-BC620F83D622}" srcOrd="0" destOrd="0" presId="urn:microsoft.com/office/officeart/2005/8/layout/vList2"/>
    <dgm:cxn modelId="{50B7EF97-DF16-4363-A447-34A1738D8379}" type="presOf" srcId="{D60E69AE-E263-42E9-9F90-D674E0C1E065}" destId="{3272D20D-CDE6-4F31-B246-1D717BC82E29}" srcOrd="0" destOrd="0" presId="urn:microsoft.com/office/officeart/2005/8/layout/vList2"/>
    <dgm:cxn modelId="{48BF14BA-1226-4A10-A47C-653767EA89BB}" type="presOf" srcId="{2FA553FF-30B3-4362-8398-E11756139B36}" destId="{BB249486-986A-4881-8A51-2085C24F8647}" srcOrd="0" destOrd="0" presId="urn:microsoft.com/office/officeart/2005/8/layout/vList2"/>
    <dgm:cxn modelId="{82757FC1-2E88-471B-8C7F-E9BB7B2C7C20}" srcId="{5C23EE67-826F-43BC-8858-AA5D0115084A}" destId="{33F9B592-BB11-41B1-9182-D7BFF0522746}" srcOrd="0" destOrd="0" parTransId="{0DD531D4-257D-4C48-A0F1-84DFED9FCA8A}" sibTransId="{274D545F-5AEE-4446-97C8-74DB2E90004C}"/>
    <dgm:cxn modelId="{41D3E8C4-9296-400F-9561-0FE4C8AC7FA0}" srcId="{A490E754-CB55-4D5C-879E-C3B7B16B4935}" destId="{2FA553FF-30B3-4362-8398-E11756139B36}" srcOrd="1" destOrd="0" parTransId="{BA910F93-3AEB-4442-8D0F-73D4467CD28B}" sibTransId="{4141EF8C-C318-4AA2-9B30-17BDB42AEF6E}"/>
    <dgm:cxn modelId="{A29E18D7-8B0F-4AA0-98AF-19718B4254E9}" srcId="{A490E754-CB55-4D5C-879E-C3B7B16B4935}" destId="{5C23EE67-826F-43BC-8858-AA5D0115084A}" srcOrd="0" destOrd="0" parTransId="{66E75909-90BA-409E-88A3-299684E48807}" sibTransId="{B98B8CDA-F4B0-49A7-A123-94C597E0D4C5}"/>
    <dgm:cxn modelId="{9A8A2CD8-3AC6-41AE-95E5-7F9315580CF3}" type="presOf" srcId="{A490E754-CB55-4D5C-879E-C3B7B16B4935}" destId="{1ED867C7-0DF3-4CE4-8B21-6F69EBF2863C}" srcOrd="0" destOrd="0" presId="urn:microsoft.com/office/officeart/2005/8/layout/vList2"/>
    <dgm:cxn modelId="{876E07ED-1490-42D5-8197-5B9F2B995F15}" type="presOf" srcId="{8A42BECE-5DE9-4D1D-90A8-0F922BB5BE3C}" destId="{67EA2B5F-8357-4867-95DE-B508F1ED0BF9}" srcOrd="0" destOrd="0" presId="urn:microsoft.com/office/officeart/2005/8/layout/vList2"/>
    <dgm:cxn modelId="{980658F0-0BD6-4238-891A-4B5A7FA513DD}" srcId="{2FA553FF-30B3-4362-8398-E11756139B36}" destId="{8A42BECE-5DE9-4D1D-90A8-0F922BB5BE3C}" srcOrd="0" destOrd="0" parTransId="{6ADAAECA-4BAF-4CF9-80F1-A14E381FBD7C}" sibTransId="{1ACD7870-3101-4A47-B2F3-048269277EA5}"/>
    <dgm:cxn modelId="{AFE4F9F2-B36D-4D59-9679-CC9EB01996E5}" srcId="{A490E754-CB55-4D5C-879E-C3B7B16B4935}" destId="{12DD3E33-B90B-46A6-9381-606DCBAEFFC9}" srcOrd="3" destOrd="0" parTransId="{F6535AFE-B680-4D66-8583-A96D85D37549}" sibTransId="{EC2883C9-5DA4-4109-B997-593271CC4709}"/>
    <dgm:cxn modelId="{00A89013-B713-4D7D-8622-60CCD108E3C9}" type="presParOf" srcId="{1ED867C7-0DF3-4CE4-8B21-6F69EBF2863C}" destId="{906F52E9-C61D-4316-A557-C0C847B5909E}" srcOrd="0" destOrd="0" presId="urn:microsoft.com/office/officeart/2005/8/layout/vList2"/>
    <dgm:cxn modelId="{A9C82146-E94C-45A4-B40D-4C9ACAAD7DAB}" type="presParOf" srcId="{1ED867C7-0DF3-4CE4-8B21-6F69EBF2863C}" destId="{C771FC19-7C2D-497E-A5A7-DC799EEFC57B}" srcOrd="1" destOrd="0" presId="urn:microsoft.com/office/officeart/2005/8/layout/vList2"/>
    <dgm:cxn modelId="{F42A3459-1C91-4310-A2B4-0EAE13227C48}" type="presParOf" srcId="{1ED867C7-0DF3-4CE4-8B21-6F69EBF2863C}" destId="{BB249486-986A-4881-8A51-2085C24F8647}" srcOrd="2" destOrd="0" presId="urn:microsoft.com/office/officeart/2005/8/layout/vList2"/>
    <dgm:cxn modelId="{E2DA9A5F-839E-4D5F-A659-68B2A6BB2CC2}" type="presParOf" srcId="{1ED867C7-0DF3-4CE4-8B21-6F69EBF2863C}" destId="{67EA2B5F-8357-4867-95DE-B508F1ED0BF9}" srcOrd="3" destOrd="0" presId="urn:microsoft.com/office/officeart/2005/8/layout/vList2"/>
    <dgm:cxn modelId="{B9DF049A-4272-41B1-99FD-5CDCE68467CD}" type="presParOf" srcId="{1ED867C7-0DF3-4CE4-8B21-6F69EBF2863C}" destId="{3272D20D-CDE6-4F31-B246-1D717BC82E29}" srcOrd="4" destOrd="0" presId="urn:microsoft.com/office/officeart/2005/8/layout/vList2"/>
    <dgm:cxn modelId="{9EBE8C02-4042-40B9-A810-C210A6EEE442}" type="presParOf" srcId="{1ED867C7-0DF3-4CE4-8B21-6F69EBF2863C}" destId="{DB8B1EEF-A8AD-466D-8F8B-984B9707F903}" srcOrd="5" destOrd="0" presId="urn:microsoft.com/office/officeart/2005/8/layout/vList2"/>
    <dgm:cxn modelId="{E442F7CD-4EDF-4343-A601-8C57EED877C1}" type="presParOf" srcId="{1ED867C7-0DF3-4CE4-8B21-6F69EBF2863C}" destId="{724692D9-5C36-4815-A9A1-BC620F83D622}"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6F52E9-C61D-4316-A557-C0C847B5909E}">
      <dsp:nvSpPr>
        <dsp:cNvPr id="0" name=""/>
        <dsp:cNvSpPr/>
      </dsp:nvSpPr>
      <dsp:spPr>
        <a:xfrm>
          <a:off x="0" y="0"/>
          <a:ext cx="4368800" cy="887445"/>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ZA" sz="3700" kern="1200" dirty="0"/>
            <a:t>Chronological</a:t>
          </a:r>
        </a:p>
      </dsp:txBody>
      <dsp:txXfrm>
        <a:off x="43321" y="43321"/>
        <a:ext cx="4282158" cy="800803"/>
      </dsp:txXfrm>
    </dsp:sp>
    <dsp:sp modelId="{C771FC19-7C2D-497E-A5A7-DC799EEFC57B}">
      <dsp:nvSpPr>
        <dsp:cNvPr id="0" name=""/>
        <dsp:cNvSpPr/>
      </dsp:nvSpPr>
      <dsp:spPr>
        <a:xfrm>
          <a:off x="0" y="912471"/>
          <a:ext cx="4368800" cy="6127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709" tIns="46990" rIns="263144" bIns="46990" numCol="1" spcCol="1270" anchor="t" anchorCtr="0">
          <a:noAutofit/>
        </a:bodyPr>
        <a:lstStyle/>
        <a:p>
          <a:pPr marL="285750" lvl="1" indent="-285750" algn="l" defTabSz="1289050">
            <a:lnSpc>
              <a:spcPct val="90000"/>
            </a:lnSpc>
            <a:spcBef>
              <a:spcPct val="0"/>
            </a:spcBef>
            <a:spcAft>
              <a:spcPct val="20000"/>
            </a:spcAft>
            <a:buChar char="•"/>
          </a:pPr>
          <a:r>
            <a:rPr lang="en-ZA" sz="2900" kern="1200" dirty="0">
              <a:solidFill>
                <a:schemeClr val="bg1"/>
              </a:solidFill>
            </a:rPr>
            <a:t>.</a:t>
          </a:r>
        </a:p>
      </dsp:txBody>
      <dsp:txXfrm>
        <a:off x="0" y="912471"/>
        <a:ext cx="4368800" cy="612720"/>
      </dsp:txXfrm>
    </dsp:sp>
    <dsp:sp modelId="{BB249486-986A-4881-8A51-2085C24F8647}">
      <dsp:nvSpPr>
        <dsp:cNvPr id="0" name=""/>
        <dsp:cNvSpPr/>
      </dsp:nvSpPr>
      <dsp:spPr>
        <a:xfrm>
          <a:off x="0" y="1283890"/>
          <a:ext cx="4368800" cy="887445"/>
        </a:xfrm>
        <a:prstGeom prst="roundRect">
          <a:avLst/>
        </a:prstGeom>
        <a:solidFill>
          <a:schemeClr val="accent4">
            <a:hueOff val="3465231"/>
            <a:satOff val="-15989"/>
            <a:lumOff val="5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ZA" sz="3700" kern="1200" dirty="0"/>
            <a:t>Thematic</a:t>
          </a:r>
        </a:p>
      </dsp:txBody>
      <dsp:txXfrm>
        <a:off x="43321" y="1327211"/>
        <a:ext cx="4282158" cy="800803"/>
      </dsp:txXfrm>
    </dsp:sp>
    <dsp:sp modelId="{67EA2B5F-8357-4867-95DE-B508F1ED0BF9}">
      <dsp:nvSpPr>
        <dsp:cNvPr id="0" name=""/>
        <dsp:cNvSpPr/>
      </dsp:nvSpPr>
      <dsp:spPr>
        <a:xfrm>
          <a:off x="0" y="2412636"/>
          <a:ext cx="4368800" cy="6127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709" tIns="46990" rIns="263144" bIns="46990" numCol="1" spcCol="1270" anchor="t" anchorCtr="0">
          <a:noAutofit/>
        </a:bodyPr>
        <a:lstStyle/>
        <a:p>
          <a:pPr marL="285750" lvl="1" indent="-285750" algn="l" defTabSz="1289050">
            <a:lnSpc>
              <a:spcPct val="90000"/>
            </a:lnSpc>
            <a:spcBef>
              <a:spcPct val="0"/>
            </a:spcBef>
            <a:spcAft>
              <a:spcPct val="20000"/>
            </a:spcAft>
            <a:buChar char="•"/>
          </a:pPr>
          <a:r>
            <a:rPr lang="en-ZA" sz="2900" kern="1200" dirty="0"/>
            <a:t>.</a:t>
          </a:r>
        </a:p>
      </dsp:txBody>
      <dsp:txXfrm>
        <a:off x="0" y="2412636"/>
        <a:ext cx="4368800" cy="612720"/>
      </dsp:txXfrm>
    </dsp:sp>
    <dsp:sp modelId="{3272D20D-CDE6-4F31-B246-1D717BC82E29}">
      <dsp:nvSpPr>
        <dsp:cNvPr id="0" name=""/>
        <dsp:cNvSpPr/>
      </dsp:nvSpPr>
      <dsp:spPr>
        <a:xfrm>
          <a:off x="0" y="2532243"/>
          <a:ext cx="4368800" cy="887445"/>
        </a:xfrm>
        <a:prstGeom prst="roundRect">
          <a:avLst/>
        </a:prstGeom>
        <a:solidFill>
          <a:schemeClr val="accent4">
            <a:hueOff val="6930461"/>
            <a:satOff val="-31979"/>
            <a:lumOff val="1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ZA" sz="3700" kern="1200" dirty="0"/>
            <a:t>Methodological</a:t>
          </a:r>
        </a:p>
      </dsp:txBody>
      <dsp:txXfrm>
        <a:off x="43321" y="2575564"/>
        <a:ext cx="4282158" cy="800803"/>
      </dsp:txXfrm>
    </dsp:sp>
    <dsp:sp modelId="{724692D9-5C36-4815-A9A1-BC620F83D622}">
      <dsp:nvSpPr>
        <dsp:cNvPr id="0" name=""/>
        <dsp:cNvSpPr/>
      </dsp:nvSpPr>
      <dsp:spPr>
        <a:xfrm>
          <a:off x="0" y="3723891"/>
          <a:ext cx="4368800" cy="887445"/>
        </a:xfrm>
        <a:prstGeom prst="roundRect">
          <a:avLst/>
        </a:prstGeom>
        <a:solidFill>
          <a:schemeClr val="accent4">
            <a:hueOff val="10395692"/>
            <a:satOff val="-47968"/>
            <a:lumOff val="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ZA" sz="3700" kern="1200" dirty="0"/>
            <a:t>Theoretical</a:t>
          </a:r>
        </a:p>
      </dsp:txBody>
      <dsp:txXfrm>
        <a:off x="43321" y="3767212"/>
        <a:ext cx="4282158" cy="80080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p:cNvSpPr>
            <a:spLocks noGrp="1"/>
          </p:cNvSpPr>
          <p:nvPr>
            <p:ph type="dt" sz="half" idx="10"/>
          </p:nvPr>
        </p:nvSpPr>
        <p:spPr/>
        <p:txBody>
          <a:bodyPr/>
          <a:lstStyle/>
          <a:p>
            <a:fld id="{9349AE06-1E36-4ED9-9701-E828306D65FF}" type="datetimeFigureOut">
              <a:rPr lang="en-ZA" smtClean="0"/>
              <a:t>2022/05/12</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ED10525-9E76-4B0D-8D32-100C92F2DFD7}" type="slidenum">
              <a:rPr lang="en-ZA" smtClean="0"/>
              <a:t>‹#›</a:t>
            </a:fld>
            <a:endParaRPr lang="en-ZA"/>
          </a:p>
        </p:txBody>
      </p:sp>
    </p:spTree>
    <p:extLst>
      <p:ext uri="{BB962C8B-B14F-4D97-AF65-F5344CB8AC3E}">
        <p14:creationId xmlns:p14="http://schemas.microsoft.com/office/powerpoint/2010/main" val="9536907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10"/>
          </p:nvPr>
        </p:nvSpPr>
        <p:spPr/>
        <p:txBody>
          <a:bodyPr/>
          <a:lstStyle/>
          <a:p>
            <a:fld id="{9349AE06-1E36-4ED9-9701-E828306D65FF}" type="datetimeFigureOut">
              <a:rPr lang="en-ZA" smtClean="0"/>
              <a:t>2022/05/12</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ED10525-9E76-4B0D-8D32-100C92F2DFD7}" type="slidenum">
              <a:rPr lang="en-ZA" smtClean="0"/>
              <a:t>‹#›</a:t>
            </a:fld>
            <a:endParaRPr lang="en-ZA"/>
          </a:p>
        </p:txBody>
      </p:sp>
    </p:spTree>
    <p:extLst>
      <p:ext uri="{BB962C8B-B14F-4D97-AF65-F5344CB8AC3E}">
        <p14:creationId xmlns:p14="http://schemas.microsoft.com/office/powerpoint/2010/main" val="30872237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49AE06-1E36-4ED9-9701-E828306D65FF}" type="datetimeFigureOut">
              <a:rPr lang="en-ZA" smtClean="0"/>
              <a:t>2022/05/12</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ED10525-9E76-4B0D-8D32-100C92F2DFD7}" type="slidenum">
              <a:rPr lang="en-ZA" smtClean="0"/>
              <a:t>‹#›</a:t>
            </a:fld>
            <a:endParaRPr lang="en-ZA"/>
          </a:p>
        </p:txBody>
      </p:sp>
    </p:spTree>
    <p:extLst>
      <p:ext uri="{BB962C8B-B14F-4D97-AF65-F5344CB8AC3E}">
        <p14:creationId xmlns:p14="http://schemas.microsoft.com/office/powerpoint/2010/main" val="24272693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p:cNvSpPr>
            <a:spLocks noGrp="1"/>
          </p:cNvSpPr>
          <p:nvPr>
            <p:ph type="dt" sz="half" idx="10"/>
          </p:nvPr>
        </p:nvSpPr>
        <p:spPr/>
        <p:txBody>
          <a:bodyPr/>
          <a:lstStyle/>
          <a:p>
            <a:fld id="{9349AE06-1E36-4ED9-9701-E828306D65FF}" type="datetimeFigureOut">
              <a:rPr lang="en-ZA" smtClean="0"/>
              <a:t>2022/05/12</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5ED10525-9E76-4B0D-8D32-100C92F2DFD7}" type="slidenum">
              <a:rPr lang="en-ZA" smtClean="0"/>
              <a:t>‹#›</a:t>
            </a:fld>
            <a:endParaRPr lang="en-ZA"/>
          </a:p>
        </p:txBody>
      </p:sp>
    </p:spTree>
    <p:extLst>
      <p:ext uri="{BB962C8B-B14F-4D97-AF65-F5344CB8AC3E}">
        <p14:creationId xmlns:p14="http://schemas.microsoft.com/office/powerpoint/2010/main" val="1961725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p:cNvSpPr>
            <a:spLocks noGrp="1"/>
          </p:cNvSpPr>
          <p:nvPr>
            <p:ph type="dt" sz="half" idx="10"/>
          </p:nvPr>
        </p:nvSpPr>
        <p:spPr/>
        <p:txBody>
          <a:bodyPr/>
          <a:lstStyle/>
          <a:p>
            <a:fld id="{9349AE06-1E36-4ED9-9701-E828306D65FF}" type="datetimeFigureOut">
              <a:rPr lang="en-ZA" smtClean="0"/>
              <a:t>2022/05/12</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5ED10525-9E76-4B0D-8D32-100C92F2DFD7}" type="slidenum">
              <a:rPr lang="en-ZA" smtClean="0"/>
              <a:t>‹#›</a:t>
            </a:fld>
            <a:endParaRPr lang="en-ZA"/>
          </a:p>
        </p:txBody>
      </p:sp>
    </p:spTree>
    <p:extLst>
      <p:ext uri="{BB962C8B-B14F-4D97-AF65-F5344CB8AC3E}">
        <p14:creationId xmlns:p14="http://schemas.microsoft.com/office/powerpoint/2010/main" val="230793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Date Placeholder 2"/>
          <p:cNvSpPr>
            <a:spLocks noGrp="1"/>
          </p:cNvSpPr>
          <p:nvPr>
            <p:ph type="dt" sz="half" idx="10"/>
          </p:nvPr>
        </p:nvSpPr>
        <p:spPr/>
        <p:txBody>
          <a:bodyPr/>
          <a:lstStyle/>
          <a:p>
            <a:fld id="{9349AE06-1E36-4ED9-9701-E828306D65FF}" type="datetimeFigureOut">
              <a:rPr lang="en-ZA" smtClean="0"/>
              <a:t>2022/05/12</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5ED10525-9E76-4B0D-8D32-100C92F2DFD7}" type="slidenum">
              <a:rPr lang="en-ZA" smtClean="0"/>
              <a:t>‹#›</a:t>
            </a:fld>
            <a:endParaRPr lang="en-ZA"/>
          </a:p>
        </p:txBody>
      </p:sp>
    </p:spTree>
    <p:extLst>
      <p:ext uri="{BB962C8B-B14F-4D97-AF65-F5344CB8AC3E}">
        <p14:creationId xmlns:p14="http://schemas.microsoft.com/office/powerpoint/2010/main" val="32160698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49AE06-1E36-4ED9-9701-E828306D65FF}" type="datetimeFigureOut">
              <a:rPr lang="en-ZA" smtClean="0"/>
              <a:t>2022/05/12</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5ED10525-9E76-4B0D-8D32-100C92F2DFD7}" type="slidenum">
              <a:rPr lang="en-ZA" smtClean="0"/>
              <a:t>‹#›</a:t>
            </a:fld>
            <a:endParaRPr lang="en-ZA"/>
          </a:p>
        </p:txBody>
      </p:sp>
    </p:spTree>
    <p:extLst>
      <p:ext uri="{BB962C8B-B14F-4D97-AF65-F5344CB8AC3E}">
        <p14:creationId xmlns:p14="http://schemas.microsoft.com/office/powerpoint/2010/main" val="4096594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349AE06-1E36-4ED9-9701-E828306D65FF}" type="datetimeFigureOut">
              <a:rPr lang="en-ZA" smtClean="0"/>
              <a:t>2022/05/12</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5ED10525-9E76-4B0D-8D32-100C92F2DFD7}" type="slidenum">
              <a:rPr lang="en-ZA" smtClean="0"/>
              <a:t>‹#›</a:t>
            </a:fld>
            <a:endParaRPr lang="en-ZA"/>
          </a:p>
        </p:txBody>
      </p:sp>
    </p:spTree>
    <p:extLst>
      <p:ext uri="{BB962C8B-B14F-4D97-AF65-F5344CB8AC3E}">
        <p14:creationId xmlns:p14="http://schemas.microsoft.com/office/powerpoint/2010/main" val="2204936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349AE06-1E36-4ED9-9701-E828306D65FF}" type="datetimeFigureOut">
              <a:rPr lang="en-ZA" smtClean="0"/>
              <a:t>2022/05/12</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5ED10525-9E76-4B0D-8D32-100C92F2DFD7}" type="slidenum">
              <a:rPr lang="en-ZA" smtClean="0"/>
              <a:t>‹#›</a:t>
            </a:fld>
            <a:endParaRPr lang="en-ZA"/>
          </a:p>
        </p:txBody>
      </p:sp>
    </p:spTree>
    <p:extLst>
      <p:ext uri="{BB962C8B-B14F-4D97-AF65-F5344CB8AC3E}">
        <p14:creationId xmlns:p14="http://schemas.microsoft.com/office/powerpoint/2010/main" val="22583410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10"/>
          </p:nvPr>
        </p:nvSpPr>
        <p:spPr/>
        <p:txBody>
          <a:bodyPr/>
          <a:lstStyle/>
          <a:p>
            <a:fld id="{9349AE06-1E36-4ED9-9701-E828306D65FF}" type="datetimeFigureOut">
              <a:rPr lang="en-ZA" smtClean="0"/>
              <a:t>2022/05/12</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ED10525-9E76-4B0D-8D32-100C92F2DFD7}" type="slidenum">
              <a:rPr lang="en-ZA" smtClean="0"/>
              <a:t>‹#›</a:t>
            </a:fld>
            <a:endParaRPr lang="en-ZA"/>
          </a:p>
        </p:txBody>
      </p:sp>
    </p:spTree>
    <p:extLst>
      <p:ext uri="{BB962C8B-B14F-4D97-AF65-F5344CB8AC3E}">
        <p14:creationId xmlns:p14="http://schemas.microsoft.com/office/powerpoint/2010/main" val="9160883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10"/>
          </p:nvPr>
        </p:nvSpPr>
        <p:spPr/>
        <p:txBody>
          <a:bodyPr/>
          <a:lstStyle/>
          <a:p>
            <a:fld id="{9349AE06-1E36-4ED9-9701-E828306D65FF}" type="datetimeFigureOut">
              <a:rPr lang="en-ZA" smtClean="0"/>
              <a:t>2022/05/12</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ED10525-9E76-4B0D-8D32-100C92F2DFD7}" type="slidenum">
              <a:rPr lang="en-ZA" smtClean="0"/>
              <a:t>‹#›</a:t>
            </a:fld>
            <a:endParaRPr lang="en-ZA"/>
          </a:p>
        </p:txBody>
      </p:sp>
    </p:spTree>
    <p:extLst>
      <p:ext uri="{BB962C8B-B14F-4D97-AF65-F5344CB8AC3E}">
        <p14:creationId xmlns:p14="http://schemas.microsoft.com/office/powerpoint/2010/main" val="1792019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49AE06-1E36-4ED9-9701-E828306D65FF}" type="datetimeFigureOut">
              <a:rPr lang="en-ZA" smtClean="0"/>
              <a:t>2022/05/12</a:t>
            </a:fld>
            <a:endParaRPr lang="en-Z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D10525-9E76-4B0D-8D32-100C92F2DFD7}" type="slidenum">
              <a:rPr lang="en-ZA" smtClean="0"/>
              <a:t>‹#›</a:t>
            </a:fld>
            <a:endParaRPr lang="en-ZA"/>
          </a:p>
        </p:txBody>
      </p:sp>
    </p:spTree>
    <p:extLst>
      <p:ext uri="{BB962C8B-B14F-4D97-AF65-F5344CB8AC3E}">
        <p14:creationId xmlns:p14="http://schemas.microsoft.com/office/powerpoint/2010/main" val="20911680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hyperlink" Target="https://www.aeaweb.org/econlit/" TargetMode="External"/><Relationship Id="rId3" Type="http://schemas.openxmlformats.org/officeDocument/2006/relationships/hyperlink" Target="https://scholar.google.com/" TargetMode="External"/><Relationship Id="rId7" Type="http://schemas.openxmlformats.org/officeDocument/2006/relationships/hyperlink" Target="https://www.nlm.nih.gov/bsd/medline.html" TargetMode="External"/><Relationship Id="rId2" Type="http://schemas.openxmlformats.org/officeDocument/2006/relationships/hyperlink" Target="https://www.cput.ac.za/lib" TargetMode="External"/><Relationship Id="rId1" Type="http://schemas.openxmlformats.org/officeDocument/2006/relationships/slideLayout" Target="../slideLayouts/slideLayout2.xml"/><Relationship Id="rId6" Type="http://schemas.openxmlformats.org/officeDocument/2006/relationships/hyperlink" Target="http://muse.jhu.edu/" TargetMode="External"/><Relationship Id="rId5" Type="http://schemas.openxmlformats.org/officeDocument/2006/relationships/hyperlink" Target="https://www.ebsco.com/products/research-databases" TargetMode="External"/><Relationship Id="rId10" Type="http://schemas.openxmlformats.org/officeDocument/2006/relationships/image" Target="../media/image3.png"/><Relationship Id="rId4" Type="http://schemas.openxmlformats.org/officeDocument/2006/relationships/hyperlink" Target="https://www.jstor.org/" TargetMode="External"/><Relationship Id="rId9" Type="http://schemas.openxmlformats.org/officeDocument/2006/relationships/hyperlink" Target="https://www.theiet.org/publishing/inspec/"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scribbr.com/category/plagiarism/" TargetMode="External"/><Relationship Id="rId2" Type="http://schemas.openxmlformats.org/officeDocument/2006/relationships/hyperlink" Target="https://www.scribbr.com/citing-sources/craap-test/" TargetMode="External"/><Relationship Id="rId1" Type="http://schemas.openxmlformats.org/officeDocument/2006/relationships/slideLayout" Target="../slideLayouts/slideLayout2.xml"/><Relationship Id="rId4" Type="http://schemas.openxmlformats.org/officeDocument/2006/relationships/hyperlink" Target="https://www.scribbr.com/chicago-style/annotated-bibliography/"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scribbr.com/category/methodology/"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scribbr.com/dissertation/theoretical-framework/"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scribbr.com/category/academic-writing/"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www.cput.ac.za/storage/faculties/business/research/school_of_accounting/soa_harvard_reference.pdf"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hyperlink" Target="http://www2.le.ac.uk/offices/ld/resources/writing/writing-resources/literature-review" TargetMode="External"/><Relationship Id="rId3" Type="http://schemas.openxmlformats.org/officeDocument/2006/relationships/hyperlink" Target="http://www.ldoceonline.com/dictionary/evaluate" TargetMode="External"/><Relationship Id="rId7" Type="http://schemas.openxmlformats.org/officeDocument/2006/relationships/hyperlink" Target="http://www.brooklyn.cuny.edu/web/aca_facultywac/Mini-Lessons-LiteratureReview.pdf" TargetMode="External"/><Relationship Id="rId2" Type="http://schemas.openxmlformats.org/officeDocument/2006/relationships/hyperlink" Target="https://www.scribbr.com/dissertation/literature-review/" TargetMode="External"/><Relationship Id="rId1" Type="http://schemas.openxmlformats.org/officeDocument/2006/relationships/slideLayout" Target="../slideLayouts/slideLayout2.xml"/><Relationship Id="rId6" Type="http://schemas.openxmlformats.org/officeDocument/2006/relationships/hyperlink" Target="https://ltl.lincoln.ac.nz/research/writing-a-literature-review/what-is-a-literature-review/" TargetMode="External"/><Relationship Id="rId5" Type="http://schemas.openxmlformats.org/officeDocument/2006/relationships/hyperlink" Target="http://dictionary.cambridge.org/dictionary/english/scholarship" TargetMode="External"/><Relationship Id="rId4" Type="http://schemas.openxmlformats.org/officeDocument/2006/relationships/hyperlink" Target="https://en.oxforddictionaries.com/definition/scholarship" TargetMode="External"/><Relationship Id="rId9" Type="http://schemas.openxmlformats.org/officeDocument/2006/relationships/hyperlink" Target="http://www.monash.edu.au/lls/llonline/writing/general/lit-reviews/index.x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ZA" b="1" dirty="0"/>
              <a:t>Writing a literature </a:t>
            </a:r>
            <a:r>
              <a:rPr lang="en-ZA" b="1" dirty="0">
                <a:solidFill>
                  <a:srgbClr val="FF0000"/>
                </a:solidFill>
              </a:rPr>
              <a:t>review</a:t>
            </a:r>
          </a:p>
        </p:txBody>
      </p:sp>
      <p:sp>
        <p:nvSpPr>
          <p:cNvPr id="3" name="Subtitle 2"/>
          <p:cNvSpPr>
            <a:spLocks noGrp="1"/>
          </p:cNvSpPr>
          <p:nvPr>
            <p:ph type="subTitle" idx="1"/>
          </p:nvPr>
        </p:nvSpPr>
        <p:spPr/>
        <p:txBody>
          <a:bodyPr/>
          <a:lstStyle/>
          <a:p>
            <a:r>
              <a:rPr lang="en-ZA" dirty="0"/>
              <a:t>Professional Practice 3</a:t>
            </a:r>
          </a:p>
          <a:p>
            <a:r>
              <a:rPr lang="en-ZA" dirty="0"/>
              <a:t>N. Wessels</a:t>
            </a:r>
          </a:p>
          <a:p>
            <a:endParaRPr lang="en-ZA" dirty="0"/>
          </a:p>
        </p:txBody>
      </p:sp>
    </p:spTree>
    <p:extLst>
      <p:ext uri="{BB962C8B-B14F-4D97-AF65-F5344CB8AC3E}">
        <p14:creationId xmlns:p14="http://schemas.microsoft.com/office/powerpoint/2010/main" val="15598518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a:t>Definition</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716670890"/>
              </p:ext>
            </p:extLst>
          </p:nvPr>
        </p:nvGraphicFramePr>
        <p:xfrm>
          <a:off x="838200" y="1803400"/>
          <a:ext cx="5842000" cy="4432300"/>
        </p:xfrm>
        <a:graphic>
          <a:graphicData uri="http://schemas.openxmlformats.org/drawingml/2006/table">
            <a:tbl>
              <a:tblPr firstRow="1" bandRow="1">
                <a:tableStyleId>{5DA37D80-6434-44D0-A028-1B22A696006F}</a:tableStyleId>
              </a:tblPr>
              <a:tblGrid>
                <a:gridCol w="5842000">
                  <a:extLst>
                    <a:ext uri="{9D8B030D-6E8A-4147-A177-3AD203B41FA5}">
                      <a16:colId xmlns:a16="http://schemas.microsoft.com/office/drawing/2014/main" val="20000"/>
                    </a:ext>
                  </a:extLst>
                </a:gridCol>
              </a:tblGrid>
              <a:tr h="4432300">
                <a:tc>
                  <a:txBody>
                    <a:body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ZA" sz="1800" b="0" u="none" strike="noStrike" kern="1200" cap="none" spc="0" normalizeH="0" baseline="0" noProof="0" dirty="0">
                          <a:ln>
                            <a:noFill/>
                          </a:ln>
                          <a:effectLst/>
                          <a:uLnTx/>
                          <a:uFillTx/>
                        </a:rPr>
                        <a:t>A literature review is a critical </a:t>
                      </a:r>
                      <a:r>
                        <a:rPr kumimoji="0" lang="en-ZA" sz="1800" b="1" u="none" strike="noStrike" kern="1200" cap="none" spc="0" normalizeH="0" baseline="0" noProof="0" dirty="0">
                          <a:ln>
                            <a:noFill/>
                          </a:ln>
                          <a:effectLst/>
                          <a:uLnTx/>
                          <a:uFillTx/>
                        </a:rPr>
                        <a:t>analysis</a:t>
                      </a:r>
                      <a:r>
                        <a:rPr kumimoji="0" lang="en-ZA" sz="1800" b="0" u="none" strike="noStrike" kern="1200" cap="none" spc="0" normalizeH="0" baseline="0" noProof="0" dirty="0">
                          <a:ln>
                            <a:noFill/>
                          </a:ln>
                          <a:effectLst/>
                          <a:uLnTx/>
                          <a:uFillTx/>
                        </a:rPr>
                        <a:t> of the literature, or research, related to a specific topic or research question. A literature review synthesizes and evaluates the relevant scholarship on a particular topic, usually one that is fairly narrow in scope. </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ZA" sz="1800" b="0" u="none" strike="noStrike" kern="1200" cap="none" spc="0" normalizeH="0" baseline="0" noProof="0" dirty="0">
                        <a:ln>
                          <a:noFill/>
                        </a:ln>
                        <a:effectLst/>
                        <a:uLnTx/>
                        <a:uFillTx/>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ZA" sz="1800" b="0" u="none" strike="noStrike" kern="1200" cap="none" spc="0" normalizeH="0" baseline="0" noProof="0" dirty="0">
                          <a:ln>
                            <a:noFill/>
                          </a:ln>
                          <a:effectLst/>
                          <a:uLnTx/>
                          <a:uFillTx/>
                        </a:rPr>
                        <a:t>A literature review </a:t>
                      </a:r>
                      <a:r>
                        <a:rPr kumimoji="0" lang="en-ZA" sz="1800" b="1" u="none" strike="noStrike" kern="1200" cap="none" spc="0" normalizeH="0" baseline="0" noProof="0" dirty="0">
                          <a:ln>
                            <a:noFill/>
                          </a:ln>
                          <a:effectLst/>
                          <a:uLnTx/>
                          <a:uFillTx/>
                        </a:rPr>
                        <a:t>does not </a:t>
                      </a:r>
                      <a:r>
                        <a:rPr kumimoji="0" lang="en-ZA" sz="1800" b="0" u="none" strike="noStrike" kern="1200" cap="none" spc="0" normalizeH="0" baseline="0" noProof="0" dirty="0">
                          <a:ln>
                            <a:noFill/>
                          </a:ln>
                          <a:effectLst/>
                          <a:uLnTx/>
                          <a:uFillTx/>
                        </a:rPr>
                        <a:t>contain any new research, but rather is an overview and critique of work that already has been published. </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ZA" sz="1800" b="0" u="none" strike="noStrike" kern="1200" cap="none" spc="0" normalizeH="0" baseline="0" noProof="0" dirty="0">
                        <a:ln>
                          <a:noFill/>
                        </a:ln>
                        <a:effectLst/>
                        <a:uLnTx/>
                        <a:uFillTx/>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ZA" sz="1800" b="0" u="none" strike="noStrike" kern="1200" cap="none" spc="0" normalizeH="0" baseline="0" noProof="0" dirty="0">
                          <a:ln>
                            <a:noFill/>
                          </a:ln>
                          <a:effectLst/>
                          <a:uLnTx/>
                          <a:uFillTx/>
                        </a:rPr>
                        <a:t>Forms of this kind of essay are used in almost every field across the natural sciences, social sciences, and humanities.</a:t>
                      </a:r>
                    </a:p>
                    <a:p>
                      <a:endParaRPr lang="en-ZA" b="0" dirty="0"/>
                    </a:p>
                  </a:txBody>
                  <a:tcPr/>
                </a:tc>
                <a:extLst>
                  <a:ext uri="{0D108BD9-81ED-4DB2-BD59-A6C34878D82A}">
                    <a16:rowId xmlns:a16="http://schemas.microsoft.com/office/drawing/2014/main" val="10000"/>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538191021"/>
              </p:ext>
            </p:extLst>
          </p:nvPr>
        </p:nvGraphicFramePr>
        <p:xfrm>
          <a:off x="7112000" y="1786466"/>
          <a:ext cx="4343400" cy="4425696"/>
        </p:xfrm>
        <a:graphic>
          <a:graphicData uri="http://schemas.openxmlformats.org/drawingml/2006/table">
            <a:tbl>
              <a:tblPr firstRow="1" bandRow="1">
                <a:tableStyleId>{ED083AE6-46FA-4A59-8FB0-9F97EB10719F}</a:tableStyleId>
              </a:tblPr>
              <a:tblGrid>
                <a:gridCol w="4343400">
                  <a:extLst>
                    <a:ext uri="{9D8B030D-6E8A-4147-A177-3AD203B41FA5}">
                      <a16:colId xmlns:a16="http://schemas.microsoft.com/office/drawing/2014/main" val="20000"/>
                    </a:ext>
                  </a:extLst>
                </a:gridCol>
              </a:tblGrid>
              <a:tr h="4220634">
                <a:tc>
                  <a:txBody>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ZA" sz="1800" b="0" i="1" u="none" strike="noStrike" kern="1200" cap="none" spc="0" normalizeH="0" baseline="0" noProof="0" dirty="0">
                          <a:ln>
                            <a:noFill/>
                          </a:ln>
                          <a:effectLst/>
                          <a:uLnTx/>
                          <a:uFillTx/>
                        </a:rPr>
                        <a:t>*</a:t>
                      </a:r>
                      <a:r>
                        <a:rPr kumimoji="0" lang="en-ZA" sz="1800" b="1" i="1" u="none" strike="noStrike" kern="1200" cap="none" spc="0" normalizeH="0" baseline="0" noProof="0" dirty="0">
                          <a:ln>
                            <a:noFill/>
                          </a:ln>
                          <a:solidFill>
                            <a:srgbClr val="FF0000"/>
                          </a:solidFill>
                          <a:effectLst/>
                          <a:uLnTx/>
                          <a:uFillTx/>
                        </a:rPr>
                        <a:t>synthesize</a:t>
                      </a:r>
                      <a:r>
                        <a:rPr kumimoji="0" lang="en-ZA" sz="1800" b="0" i="1" u="none" strike="noStrike" kern="1200" cap="none" spc="0" normalizeH="0" baseline="0" noProof="0" dirty="0">
                          <a:ln>
                            <a:noFill/>
                          </a:ln>
                          <a:effectLst/>
                          <a:uLnTx/>
                          <a:uFillTx/>
                        </a:rPr>
                        <a:t>: to combine a number of things into a coherent whole/ to combine different things in order to make something new.</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ZA" sz="1800" b="0" i="1" u="none" strike="noStrike" kern="1200" cap="none" spc="0" normalizeH="0" baseline="0" noProof="0" dirty="0">
                        <a:ln>
                          <a:noFill/>
                        </a:ln>
                        <a:effectLst/>
                        <a:uLnTx/>
                        <a:uFillTx/>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ZA" sz="1800" b="0" i="1" u="none" strike="noStrike" kern="1200" cap="none" spc="0" normalizeH="0" baseline="0" noProof="0" dirty="0">
                          <a:ln>
                            <a:noFill/>
                          </a:ln>
                          <a:effectLst/>
                          <a:uLnTx/>
                          <a:uFillTx/>
                        </a:rPr>
                        <a:t>*</a:t>
                      </a:r>
                      <a:r>
                        <a:rPr kumimoji="0" lang="en-ZA" sz="1800" b="1" i="1" u="none" strike="noStrike" kern="1200" cap="none" spc="0" normalizeH="0" baseline="0" noProof="0" dirty="0">
                          <a:ln>
                            <a:noFill/>
                          </a:ln>
                          <a:solidFill>
                            <a:srgbClr val="FF0000"/>
                          </a:solidFill>
                          <a:effectLst/>
                          <a:uLnTx/>
                          <a:uFillTx/>
                        </a:rPr>
                        <a:t>evaluate</a:t>
                      </a:r>
                      <a:r>
                        <a:rPr kumimoji="0" lang="en-ZA" sz="1800" b="0" i="1" u="none" strike="noStrike" kern="1200" cap="none" spc="0" normalizeH="0" baseline="0" noProof="0" dirty="0">
                          <a:ln>
                            <a:noFill/>
                          </a:ln>
                          <a:effectLst/>
                          <a:uLnTx/>
                          <a:uFillTx/>
                        </a:rPr>
                        <a:t>: to judge how good, useful or successful something is/ when you evaluate something, you are making a judgment, one that most likely results from some degree of analysis.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ZA" sz="1800" b="0" i="1" u="none" strike="noStrike" kern="1200" cap="none" spc="0" normalizeH="0" baseline="0" noProof="0" dirty="0">
                        <a:ln>
                          <a:noFill/>
                        </a:ln>
                        <a:effectLst/>
                        <a:uLnTx/>
                        <a:uFillTx/>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ZA" sz="1800" b="0" i="1" u="none" strike="noStrike" kern="1200" cap="none" spc="0" normalizeH="0" baseline="0" noProof="0" dirty="0">
                          <a:ln>
                            <a:noFill/>
                          </a:ln>
                          <a:effectLst/>
                          <a:uLnTx/>
                          <a:uFillTx/>
                        </a:rPr>
                        <a:t>*</a:t>
                      </a:r>
                      <a:r>
                        <a:rPr kumimoji="0" lang="en-ZA" sz="1800" b="1" i="1" u="none" strike="noStrike" kern="1200" cap="none" spc="0" normalizeH="0" baseline="0" noProof="0" dirty="0">
                          <a:ln>
                            <a:noFill/>
                          </a:ln>
                          <a:solidFill>
                            <a:srgbClr val="FF0000"/>
                          </a:solidFill>
                          <a:effectLst/>
                          <a:uLnTx/>
                          <a:uFillTx/>
                        </a:rPr>
                        <a:t>scholarship</a:t>
                      </a:r>
                      <a:r>
                        <a:rPr kumimoji="0" lang="en-ZA" sz="1800" b="0" i="1" u="none" strike="noStrike" kern="1200" cap="none" spc="0" normalizeH="0" baseline="0" noProof="0" dirty="0">
                          <a:ln>
                            <a:noFill/>
                          </a:ln>
                          <a:effectLst/>
                          <a:uLnTx/>
                          <a:uFillTx/>
                        </a:rPr>
                        <a:t>: academic study or achievement, learning at a higher level/ serious, detailed study, for example: a work of great scholarship.</a:t>
                      </a:r>
                    </a:p>
                    <a:p>
                      <a:endParaRPr lang="en-ZA" sz="1800" b="0" i="1" u="none" dirty="0"/>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428456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711199"/>
          </a:xfrm>
        </p:spPr>
        <p:txBody>
          <a:bodyPr/>
          <a:lstStyle/>
          <a:p>
            <a:r>
              <a:rPr lang="en-ZA" b="1" dirty="0"/>
              <a:t>Definition</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341623238"/>
              </p:ext>
            </p:extLst>
          </p:nvPr>
        </p:nvGraphicFramePr>
        <p:xfrm>
          <a:off x="838200" y="901700"/>
          <a:ext cx="5727700" cy="5228336"/>
        </p:xfrm>
        <a:graphic>
          <a:graphicData uri="http://schemas.openxmlformats.org/drawingml/2006/table">
            <a:tbl>
              <a:tblPr firstRow="1" bandRow="1">
                <a:tableStyleId>{5FD0F851-EC5A-4D38-B0AD-8093EC10F338}</a:tableStyleId>
              </a:tblPr>
              <a:tblGrid>
                <a:gridCol w="5727700">
                  <a:extLst>
                    <a:ext uri="{9D8B030D-6E8A-4147-A177-3AD203B41FA5}">
                      <a16:colId xmlns:a16="http://schemas.microsoft.com/office/drawing/2014/main" val="20000"/>
                    </a:ext>
                  </a:extLst>
                </a:gridCol>
              </a:tblGrid>
              <a:tr h="370840">
                <a:tc>
                  <a:txBody>
                    <a:bodyPr/>
                    <a:lstStyle/>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u="none" strike="noStrike" kern="1200" cap="none" spc="0" normalizeH="0" baseline="0" noProof="0" dirty="0">
                          <a:ln>
                            <a:noFill/>
                          </a:ln>
                          <a:effectLst/>
                          <a:uLnTx/>
                          <a:uFillTx/>
                        </a:rPr>
                        <a:t>A literature review is a survey of scholarly sources on a specific topic. It provides an overview of current knowledge, allowing you to identify relevant theories, methods, and gaps in the existing research.</a:t>
                      </a: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u="none" strike="noStrike" kern="1200" cap="none" spc="0" normalizeH="0" baseline="0" noProof="0" dirty="0">
                        <a:ln>
                          <a:noFill/>
                        </a:ln>
                        <a:effectLst/>
                        <a:uLnTx/>
                        <a:uFillTx/>
                      </a:endParaRP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u="none" strike="noStrike" kern="1200" cap="none" spc="0" normalizeH="0" baseline="0" noProof="0" dirty="0">
                          <a:ln>
                            <a:noFill/>
                          </a:ln>
                          <a:effectLst/>
                          <a:uLnTx/>
                          <a:uFillTx/>
                        </a:rPr>
                        <a:t>Writing a literature review involves finding relevant publications (such as books and journal articles), critically analyzing them, and explaining what you found. </a:t>
                      </a:r>
                    </a:p>
                    <a:p>
                      <a:endParaRPr lang="en-ZA" dirty="0"/>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580806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8899"/>
            <a:ext cx="10515600" cy="990599"/>
          </a:xfrm>
        </p:spPr>
        <p:txBody>
          <a:bodyPr/>
          <a:lstStyle/>
          <a:p>
            <a:r>
              <a:rPr lang="en-ZA" b="1" dirty="0"/>
              <a:t>Why write a literature review?</a:t>
            </a:r>
          </a:p>
        </p:txBody>
      </p:sp>
      <p:sp>
        <p:nvSpPr>
          <p:cNvPr id="5" name="Content Placeholder 4"/>
          <p:cNvSpPr>
            <a:spLocks noGrp="1"/>
          </p:cNvSpPr>
          <p:nvPr>
            <p:ph idx="1"/>
          </p:nvPr>
        </p:nvSpPr>
        <p:spPr>
          <a:xfrm>
            <a:off x="838200" y="1473200"/>
            <a:ext cx="10515600" cy="4703763"/>
          </a:xfrm>
        </p:spPr>
        <p:txBody>
          <a:bodyPr>
            <a:normAutofit/>
          </a:bodyPr>
          <a:lstStyle/>
          <a:p>
            <a:pPr marL="0" indent="0">
              <a:buNone/>
            </a:pPr>
            <a:endParaRPr lang="en-US" b="1" dirty="0"/>
          </a:p>
          <a:p>
            <a:endParaRPr lang="en-ZA" dirty="0"/>
          </a:p>
        </p:txBody>
      </p:sp>
      <p:graphicFrame>
        <p:nvGraphicFramePr>
          <p:cNvPr id="6" name="Table 5"/>
          <p:cNvGraphicFramePr>
            <a:graphicFrameLocks noGrp="1"/>
          </p:cNvGraphicFramePr>
          <p:nvPr>
            <p:extLst>
              <p:ext uri="{D42A27DB-BD31-4B8C-83A1-F6EECF244321}">
                <p14:modId xmlns:p14="http://schemas.microsoft.com/office/powerpoint/2010/main" val="1512356622"/>
              </p:ext>
            </p:extLst>
          </p:nvPr>
        </p:nvGraphicFramePr>
        <p:xfrm>
          <a:off x="1092200" y="1079500"/>
          <a:ext cx="9093200" cy="5547360"/>
        </p:xfrm>
        <a:graphic>
          <a:graphicData uri="http://schemas.openxmlformats.org/drawingml/2006/table">
            <a:tbl>
              <a:tblPr firstRow="1" bandRow="1">
                <a:tableStyleId>{ED083AE6-46FA-4A59-8FB0-9F97EB10719F}</a:tableStyleId>
              </a:tblPr>
              <a:tblGrid>
                <a:gridCol w="9093200">
                  <a:extLst>
                    <a:ext uri="{9D8B030D-6E8A-4147-A177-3AD203B41FA5}">
                      <a16:colId xmlns:a16="http://schemas.microsoft.com/office/drawing/2014/main" val="20000"/>
                    </a:ext>
                  </a:extLst>
                </a:gridCol>
              </a:tblGrid>
              <a:tr h="5314525">
                <a:tc>
                  <a:txBody>
                    <a:bodyPr/>
                    <a:lstStyle/>
                    <a:p>
                      <a:pPr marL="342900" indent="-342900">
                        <a:buFont typeface="Arial" panose="020B0604020202020204" pitchFamily="34" charset="0"/>
                        <a:buChar char="•"/>
                      </a:pPr>
                      <a:r>
                        <a:rPr lang="en-US" sz="2000" b="0" dirty="0"/>
                        <a:t>When you write a thesis, dissertation, or research paper you will have to conduct a literature review to </a:t>
                      </a:r>
                      <a:r>
                        <a:rPr lang="en-US" sz="2000" b="0" u="sng" dirty="0"/>
                        <a:t>situate</a:t>
                      </a:r>
                      <a:r>
                        <a:rPr lang="en-US" sz="2000" b="0" dirty="0"/>
                        <a:t> your research within existing knowledge. A literature</a:t>
                      </a:r>
                      <a:r>
                        <a:rPr lang="en-US" sz="2000" b="0" baseline="0" dirty="0"/>
                        <a:t> review can therefore appear as a chapter or section in a bigger research report/proposal/thesis. It helps provide context and rationale for the research.</a:t>
                      </a:r>
                      <a:endParaRPr lang="en-US" sz="2000" b="0" dirty="0"/>
                    </a:p>
                    <a:p>
                      <a:pPr marL="0" indent="0">
                        <a:buFont typeface="Arial" panose="020B0604020202020204" pitchFamily="34" charset="0"/>
                        <a:buNone/>
                      </a:pPr>
                      <a:endParaRPr lang="en-US" sz="2000" b="0" dirty="0"/>
                    </a:p>
                    <a:p>
                      <a:pPr marL="342900" indent="-342900">
                        <a:buFont typeface="Arial" panose="020B0604020202020204" pitchFamily="34" charset="0"/>
                        <a:buChar char="•"/>
                      </a:pPr>
                      <a:r>
                        <a:rPr lang="en-US" sz="2000" b="0" u="sng" dirty="0"/>
                        <a:t>The literature review gives you a chance to:</a:t>
                      </a:r>
                    </a:p>
                    <a:p>
                      <a:r>
                        <a:rPr lang="en-US" sz="2000" b="0" dirty="0"/>
                        <a:t> - Demonstrate your </a:t>
                      </a:r>
                      <a:r>
                        <a:rPr lang="en-US" sz="2000" b="0" u="sng" dirty="0"/>
                        <a:t>familiarity</a:t>
                      </a:r>
                      <a:r>
                        <a:rPr lang="en-US" sz="2000" b="0" dirty="0"/>
                        <a:t> with the topic and scholarly context;</a:t>
                      </a:r>
                    </a:p>
                    <a:p>
                      <a:r>
                        <a:rPr lang="en-US" sz="2000" b="0" dirty="0"/>
                        <a:t> - Develop a </a:t>
                      </a:r>
                      <a:r>
                        <a:rPr lang="en-US" sz="2000" b="0" u="sng" dirty="0"/>
                        <a:t>theoretical framework </a:t>
                      </a:r>
                      <a:r>
                        <a:rPr lang="en-US" sz="2000" b="0" dirty="0"/>
                        <a:t>and </a:t>
                      </a:r>
                      <a:r>
                        <a:rPr lang="en-US" sz="2000" b="0" u="sng" dirty="0"/>
                        <a:t>methodology</a:t>
                      </a:r>
                      <a:r>
                        <a:rPr lang="en-US" sz="2000" b="0" dirty="0"/>
                        <a:t> for your research;</a:t>
                      </a:r>
                    </a:p>
                    <a:p>
                      <a:r>
                        <a:rPr lang="en-US" sz="2000" b="0" dirty="0"/>
                        <a:t> </a:t>
                      </a:r>
                      <a:r>
                        <a:rPr lang="en-US" sz="2000" b="0" u="sng" dirty="0"/>
                        <a:t>- Position yourself </a:t>
                      </a:r>
                      <a:r>
                        <a:rPr lang="en-US" sz="2000" b="0" dirty="0"/>
                        <a:t>in relation to other researchers and theorists;</a:t>
                      </a:r>
                    </a:p>
                    <a:p>
                      <a:r>
                        <a:rPr lang="en-US" sz="2000" b="0" dirty="0"/>
                        <a:t> - Show how your research </a:t>
                      </a:r>
                      <a:r>
                        <a:rPr lang="en-US" sz="2000" b="0" u="sng" dirty="0"/>
                        <a:t>addresses a gap </a:t>
                      </a:r>
                      <a:r>
                        <a:rPr lang="en-US" sz="2000" b="0" dirty="0"/>
                        <a:t>or contributes to a debate.</a:t>
                      </a:r>
                    </a:p>
                    <a:p>
                      <a:pPr marL="0" indent="0">
                        <a:buFont typeface="Arial" panose="020B0604020202020204" pitchFamily="34" charset="0"/>
                        <a:buNone/>
                      </a:pPr>
                      <a:endParaRPr lang="en-US" sz="2000" b="0" dirty="0"/>
                    </a:p>
                    <a:p>
                      <a:pPr marL="342900" indent="-342900">
                        <a:buFont typeface="Arial" panose="020B0604020202020204" pitchFamily="34" charset="0"/>
                        <a:buChar char="•"/>
                      </a:pPr>
                      <a:r>
                        <a:rPr lang="en-US" sz="2000" b="0" dirty="0"/>
                        <a:t>You might also have to write a literature review as a </a:t>
                      </a:r>
                      <a:r>
                        <a:rPr lang="en-US" sz="2000" b="1" dirty="0"/>
                        <a:t>stand-alone assignment</a:t>
                      </a:r>
                      <a:r>
                        <a:rPr lang="en-US" sz="2000" b="0" dirty="0"/>
                        <a:t>. In this case, the purpose is to evaluate the current state of research and demonstrate your knowledge of scholarly debates around a topic.</a:t>
                      </a:r>
                    </a:p>
                    <a:p>
                      <a:pPr marL="0" indent="0">
                        <a:buFont typeface="Arial" panose="020B0604020202020204" pitchFamily="34" charset="0"/>
                        <a:buNone/>
                      </a:pPr>
                      <a:endParaRPr lang="en-US" sz="2000" b="0" dirty="0"/>
                    </a:p>
                    <a:p>
                      <a:pPr marL="342900" indent="-342900">
                        <a:buFont typeface="Arial" panose="020B0604020202020204" pitchFamily="34" charset="0"/>
                        <a:buChar char="•"/>
                      </a:pPr>
                      <a:r>
                        <a:rPr lang="en-US" sz="2000" b="0" dirty="0"/>
                        <a:t>The content will look slightly different in each case, but the process of conducting a literature review follows the same steps.</a:t>
                      </a:r>
                    </a:p>
                    <a:p>
                      <a:endParaRPr lang="en-ZA" dirty="0"/>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9671987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a:t>Writing a literature review</a:t>
            </a:r>
          </a:p>
        </p:txBody>
      </p:sp>
      <p:pic>
        <p:nvPicPr>
          <p:cNvPr id="4" name="Content Placeholder 3"/>
          <p:cNvPicPr>
            <a:picLocks noGrp="1" noChangeAspect="1"/>
          </p:cNvPicPr>
          <p:nvPr>
            <p:ph idx="1"/>
          </p:nvPr>
        </p:nvPicPr>
        <p:blipFill>
          <a:blip r:embed="rId2"/>
          <a:stretch>
            <a:fillRect/>
          </a:stretch>
        </p:blipFill>
        <p:spPr>
          <a:xfrm>
            <a:off x="3687015" y="1825625"/>
            <a:ext cx="4817969" cy="4351338"/>
          </a:xfrm>
          <a:prstGeom prst="rect">
            <a:avLst/>
          </a:prstGeom>
        </p:spPr>
      </p:pic>
    </p:spTree>
    <p:extLst>
      <p:ext uri="{BB962C8B-B14F-4D97-AF65-F5344CB8AC3E}">
        <p14:creationId xmlns:p14="http://schemas.microsoft.com/office/powerpoint/2010/main" val="22620049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1601"/>
            <a:ext cx="10515600" cy="952499"/>
          </a:xfrm>
        </p:spPr>
        <p:txBody>
          <a:bodyPr/>
          <a:lstStyle/>
          <a:p>
            <a:r>
              <a:rPr lang="en-ZA" b="1" dirty="0">
                <a:solidFill>
                  <a:srgbClr val="92D050"/>
                </a:solidFill>
              </a:rPr>
              <a:t>Step 1: Search for relevant literature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78144137"/>
              </p:ext>
            </p:extLst>
          </p:nvPr>
        </p:nvGraphicFramePr>
        <p:xfrm>
          <a:off x="838200" y="1054100"/>
          <a:ext cx="8928100" cy="5516880"/>
        </p:xfrm>
        <a:graphic>
          <a:graphicData uri="http://schemas.openxmlformats.org/drawingml/2006/table">
            <a:tbl>
              <a:tblPr firstRow="1" bandRow="1">
                <a:tableStyleId>{ED083AE6-46FA-4A59-8FB0-9F97EB10719F}</a:tableStyleId>
              </a:tblPr>
              <a:tblGrid>
                <a:gridCol w="8928100">
                  <a:extLst>
                    <a:ext uri="{9D8B030D-6E8A-4147-A177-3AD203B41FA5}">
                      <a16:colId xmlns:a16="http://schemas.microsoft.com/office/drawing/2014/main" val="20000"/>
                    </a:ext>
                  </a:extLst>
                </a:gridCol>
              </a:tblGrid>
              <a:tr h="4775200">
                <a:tc>
                  <a:txBody>
                    <a:bodyPr/>
                    <a:lstStyle/>
                    <a:p>
                      <a:pPr marL="342900" indent="-342900">
                        <a:buFont typeface="Arial" panose="020B0604020202020204" pitchFamily="34" charset="0"/>
                        <a:buChar char="•"/>
                      </a:pPr>
                      <a:r>
                        <a:rPr lang="en-US" sz="2400" b="0" kern="1200" dirty="0">
                          <a:effectLst/>
                        </a:rPr>
                        <a:t>Before you begin searching for literature, you need a clearly defined </a:t>
                      </a:r>
                      <a:r>
                        <a:rPr lang="en-US" sz="2400" b="1" u="none" strike="noStrike" kern="1200" dirty="0">
                          <a:effectLst/>
                        </a:rPr>
                        <a:t>topic</a:t>
                      </a:r>
                      <a:r>
                        <a:rPr lang="en-US" sz="2400" b="0" kern="1200" dirty="0">
                          <a:effectLst/>
                        </a:rPr>
                        <a:t>.</a:t>
                      </a:r>
                    </a:p>
                    <a:p>
                      <a:pPr marL="342900" indent="-342900">
                        <a:buFont typeface="Arial" panose="020B0604020202020204" pitchFamily="34" charset="0"/>
                        <a:buChar char="•"/>
                      </a:pPr>
                      <a:endParaRPr lang="en-US" sz="2400" b="0" kern="1200" dirty="0">
                        <a:effectLst/>
                      </a:endParaRPr>
                    </a:p>
                    <a:p>
                      <a:pPr marL="342900" indent="-342900">
                        <a:buFont typeface="Arial" panose="020B0604020202020204" pitchFamily="34" charset="0"/>
                        <a:buChar char="•"/>
                      </a:pPr>
                      <a:r>
                        <a:rPr lang="en-US" sz="2400" b="0" kern="1200" dirty="0">
                          <a:effectLst/>
                        </a:rPr>
                        <a:t>If you are writing the literature review section of a dissertation or research paper, you will search for literature related to your </a:t>
                      </a:r>
                      <a:r>
                        <a:rPr lang="en-US" sz="2400" b="1" u="none" strike="noStrike" kern="1200" dirty="0">
                          <a:effectLst/>
                        </a:rPr>
                        <a:t>research problem</a:t>
                      </a:r>
                      <a:r>
                        <a:rPr lang="en-US" sz="2400" b="0" kern="1200" dirty="0">
                          <a:effectLst/>
                        </a:rPr>
                        <a:t> and </a:t>
                      </a:r>
                      <a:r>
                        <a:rPr lang="en-US" sz="2400" b="1" u="none" strike="noStrike" kern="1200" dirty="0">
                          <a:effectLst/>
                        </a:rPr>
                        <a:t>questions</a:t>
                      </a:r>
                      <a:r>
                        <a:rPr lang="en-US" sz="2400" b="0" kern="1200" dirty="0">
                          <a:effectLst/>
                        </a:rPr>
                        <a:t>.</a:t>
                      </a:r>
                    </a:p>
                    <a:p>
                      <a:pPr marL="342900" indent="-342900">
                        <a:buFont typeface="Arial" panose="020B0604020202020204" pitchFamily="34" charset="0"/>
                        <a:buChar char="•"/>
                      </a:pPr>
                      <a:endParaRPr lang="en-US" sz="2400" b="0" kern="1200" dirty="0">
                        <a:effectLst/>
                      </a:endParaRPr>
                    </a:p>
                    <a:p>
                      <a:pPr marL="342900" indent="-342900">
                        <a:buFont typeface="Arial" panose="020B0604020202020204" pitchFamily="34" charset="0"/>
                        <a:buChar char="•"/>
                      </a:pPr>
                      <a:r>
                        <a:rPr lang="en-US" sz="2400" b="0" kern="1200" dirty="0">
                          <a:effectLst/>
                        </a:rPr>
                        <a:t>If you are writing a literature review as a stand-alone assignment, you will have to choose a focus and develop a central question to direct your search. </a:t>
                      </a:r>
                    </a:p>
                    <a:p>
                      <a:pPr marL="0" indent="0" algn="l">
                        <a:buFont typeface="Arial" panose="020B0604020202020204" pitchFamily="34" charset="0"/>
                        <a:buNone/>
                      </a:pPr>
                      <a:r>
                        <a:rPr lang="en-US" sz="2400" b="0" kern="1200" dirty="0">
                          <a:effectLst/>
                        </a:rPr>
                        <a:t>Unlike a dissertation research question, this questio</a:t>
                      </a:r>
                      <a:r>
                        <a:rPr lang="en-US" sz="2400" b="0" kern="1200" dirty="0">
                          <a:solidFill>
                            <a:schemeClr val="tx1"/>
                          </a:solidFill>
                          <a:effectLst/>
                        </a:rPr>
                        <a:t>n </a:t>
                      </a:r>
                      <a:r>
                        <a:rPr lang="en-US" sz="2400" b="0" kern="1200" dirty="0">
                          <a:effectLst/>
                        </a:rPr>
                        <a:t>has to be answerable </a:t>
                      </a:r>
                      <a:r>
                        <a:rPr lang="en-US" sz="2400" b="0" u="sng" kern="1200" dirty="0">
                          <a:effectLst/>
                        </a:rPr>
                        <a:t>without collecting original data</a:t>
                      </a:r>
                      <a:r>
                        <a:rPr lang="en-US" sz="2400" b="0" kern="1200" dirty="0">
                          <a:effectLst/>
                        </a:rPr>
                        <a:t>. </a:t>
                      </a:r>
                    </a:p>
                    <a:p>
                      <a:pPr marL="0" indent="0">
                        <a:buFont typeface="Arial" panose="020B0604020202020204" pitchFamily="34" charset="0"/>
                        <a:buNone/>
                      </a:pPr>
                      <a:r>
                        <a:rPr lang="en-US" sz="2400" b="0" kern="1200" dirty="0">
                          <a:effectLst/>
                        </a:rPr>
                        <a:t>You should be able to answer it based </a:t>
                      </a:r>
                      <a:r>
                        <a:rPr lang="en-US" sz="2400" b="1" kern="1200" dirty="0">
                          <a:effectLst/>
                        </a:rPr>
                        <a:t>only</a:t>
                      </a:r>
                      <a:r>
                        <a:rPr lang="en-US" sz="2400" b="0" kern="1200" dirty="0">
                          <a:effectLst/>
                        </a:rPr>
                        <a:t> on a review of existing publications.</a:t>
                      </a:r>
                    </a:p>
                    <a:p>
                      <a:endParaRPr lang="en-ZA" sz="2000" b="0" dirty="0"/>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88728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9211"/>
            <a:ext cx="11595100" cy="925512"/>
          </a:xfrm>
        </p:spPr>
        <p:txBody>
          <a:bodyPr/>
          <a:lstStyle/>
          <a:p>
            <a:r>
              <a:rPr lang="en-ZA" b="1" dirty="0">
                <a:solidFill>
                  <a:srgbClr val="92D050"/>
                </a:solidFill>
              </a:rPr>
              <a:t>Step 1: Search for relevant literature </a:t>
            </a:r>
          </a:p>
        </p:txBody>
      </p:sp>
      <p:sp>
        <p:nvSpPr>
          <p:cNvPr id="5" name="Content Placeholder 4"/>
          <p:cNvSpPr>
            <a:spLocks noGrp="1"/>
          </p:cNvSpPr>
          <p:nvPr>
            <p:ph idx="1"/>
          </p:nvPr>
        </p:nvSpPr>
        <p:spPr>
          <a:xfrm>
            <a:off x="0" y="1016000"/>
            <a:ext cx="11353800" cy="5562600"/>
          </a:xfrm>
        </p:spPr>
        <p:txBody>
          <a:bodyPr>
            <a:normAutofit fontScale="92500" lnSpcReduction="20000"/>
          </a:bodyPr>
          <a:lstStyle/>
          <a:p>
            <a:pPr marL="0" indent="0">
              <a:buNone/>
            </a:pPr>
            <a:r>
              <a:rPr lang="en-ZA" sz="3100" b="1" dirty="0"/>
              <a:t>1.1. Clearly define your topic</a:t>
            </a:r>
          </a:p>
          <a:p>
            <a:endParaRPr lang="en-ZA" dirty="0"/>
          </a:p>
          <a:p>
            <a:endParaRPr lang="en-ZA" dirty="0"/>
          </a:p>
          <a:p>
            <a:endParaRPr lang="en-US" dirty="0"/>
          </a:p>
          <a:p>
            <a:pPr marL="0" indent="0">
              <a:buNone/>
            </a:pPr>
            <a:r>
              <a:rPr lang="en-US" b="1" dirty="0"/>
              <a:t>1.2. Make a list of keywords</a:t>
            </a:r>
          </a:p>
          <a:p>
            <a:r>
              <a:rPr lang="en-US" dirty="0"/>
              <a:t>Start by creating a list of keywords related to your research question. Include each of the key concepts or variables you’re </a:t>
            </a:r>
            <a:r>
              <a:rPr lang="en-US"/>
              <a:t>interested in </a:t>
            </a:r>
            <a:r>
              <a:rPr lang="en-US" dirty="0"/>
              <a:t>and list any synonyms and related terms. You can add to this list if you discover new keywords in the process of your literature search.</a:t>
            </a:r>
          </a:p>
          <a:p>
            <a:endParaRPr lang="en-US" dirty="0"/>
          </a:p>
          <a:p>
            <a:pPr marL="0" indent="0">
              <a:buNone/>
            </a:pPr>
            <a:r>
              <a:rPr lang="en-US" b="1" dirty="0"/>
              <a:t>Keywords example</a:t>
            </a:r>
          </a:p>
          <a:p>
            <a:r>
              <a:rPr lang="en-US" dirty="0"/>
              <a:t>Social media, Facebook, </a:t>
            </a:r>
            <a:r>
              <a:rPr lang="en-US" dirty="0" err="1"/>
              <a:t>Instagram</a:t>
            </a:r>
            <a:r>
              <a:rPr lang="en-US" dirty="0"/>
              <a:t>, Twitter, </a:t>
            </a:r>
            <a:r>
              <a:rPr lang="en-US" dirty="0" err="1"/>
              <a:t>Snapchat</a:t>
            </a:r>
            <a:r>
              <a:rPr lang="en-US" dirty="0"/>
              <a:t>, </a:t>
            </a:r>
            <a:r>
              <a:rPr lang="en-US" dirty="0" err="1"/>
              <a:t>TikTok</a:t>
            </a:r>
            <a:endParaRPr lang="en-US" dirty="0"/>
          </a:p>
          <a:p>
            <a:r>
              <a:rPr lang="en-US" dirty="0"/>
              <a:t>Body image, self-perception, self-esteem, mental health</a:t>
            </a:r>
          </a:p>
          <a:p>
            <a:r>
              <a:rPr lang="en-US" dirty="0"/>
              <a:t>Generation Z, teenagers, adolescents, youth</a:t>
            </a:r>
            <a:endParaRPr lang="en-ZA" dirty="0"/>
          </a:p>
        </p:txBody>
      </p:sp>
      <p:pic>
        <p:nvPicPr>
          <p:cNvPr id="6" name="Picture 5"/>
          <p:cNvPicPr>
            <a:picLocks noChangeAspect="1"/>
          </p:cNvPicPr>
          <p:nvPr/>
        </p:nvPicPr>
        <p:blipFill>
          <a:blip r:embed="rId2"/>
          <a:stretch>
            <a:fillRect/>
          </a:stretch>
        </p:blipFill>
        <p:spPr>
          <a:xfrm>
            <a:off x="717906" y="1589890"/>
            <a:ext cx="10546994" cy="1012024"/>
          </a:xfrm>
          <a:prstGeom prst="rect">
            <a:avLst/>
          </a:prstGeom>
        </p:spPr>
      </p:pic>
    </p:spTree>
    <p:extLst>
      <p:ext uri="{BB962C8B-B14F-4D97-AF65-F5344CB8AC3E}">
        <p14:creationId xmlns:p14="http://schemas.microsoft.com/office/powerpoint/2010/main" val="31428679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88899"/>
            <a:ext cx="11353800" cy="1168399"/>
          </a:xfrm>
        </p:spPr>
        <p:txBody>
          <a:bodyPr/>
          <a:lstStyle/>
          <a:p>
            <a:r>
              <a:rPr lang="en-ZA" b="1" dirty="0">
                <a:solidFill>
                  <a:srgbClr val="92D050"/>
                </a:solidFill>
              </a:rPr>
              <a:t>Step 1: Search for relevant literature</a:t>
            </a:r>
          </a:p>
        </p:txBody>
      </p:sp>
      <p:sp>
        <p:nvSpPr>
          <p:cNvPr id="3" name="Content Placeholder 2"/>
          <p:cNvSpPr>
            <a:spLocks noGrp="1"/>
          </p:cNvSpPr>
          <p:nvPr>
            <p:ph idx="1"/>
          </p:nvPr>
        </p:nvSpPr>
        <p:spPr>
          <a:xfrm>
            <a:off x="419100" y="1079500"/>
            <a:ext cx="10934700" cy="5097463"/>
          </a:xfrm>
        </p:spPr>
        <p:txBody>
          <a:bodyPr>
            <a:normAutofit/>
          </a:bodyPr>
          <a:lstStyle/>
          <a:p>
            <a:pPr marL="0" indent="0">
              <a:buNone/>
            </a:pPr>
            <a:r>
              <a:rPr lang="en-US" b="1" dirty="0"/>
              <a:t>1.3. Search for relevant sources</a:t>
            </a:r>
          </a:p>
          <a:p>
            <a:r>
              <a:rPr lang="en-US" dirty="0"/>
              <a:t>Use your </a:t>
            </a:r>
            <a:r>
              <a:rPr lang="en-US" b="1" dirty="0"/>
              <a:t>keywords</a:t>
            </a:r>
            <a:r>
              <a:rPr lang="en-US" dirty="0"/>
              <a:t> to begin searching for sources. Some useful databases to search for journals and articles include:</a:t>
            </a:r>
          </a:p>
          <a:p>
            <a:endParaRPr lang="en-ZA" dirty="0"/>
          </a:p>
        </p:txBody>
      </p:sp>
      <p:graphicFrame>
        <p:nvGraphicFramePr>
          <p:cNvPr id="4" name="Table 3"/>
          <p:cNvGraphicFramePr>
            <a:graphicFrameLocks noGrp="1"/>
          </p:cNvGraphicFramePr>
          <p:nvPr>
            <p:extLst>
              <p:ext uri="{D42A27DB-BD31-4B8C-83A1-F6EECF244321}">
                <p14:modId xmlns:p14="http://schemas.microsoft.com/office/powerpoint/2010/main" val="1759254643"/>
              </p:ext>
            </p:extLst>
          </p:nvPr>
        </p:nvGraphicFramePr>
        <p:xfrm>
          <a:off x="749300" y="2484966"/>
          <a:ext cx="5842000" cy="4055534"/>
        </p:xfrm>
        <a:graphic>
          <a:graphicData uri="http://schemas.openxmlformats.org/drawingml/2006/table">
            <a:tbl>
              <a:tblPr firstRow="1" bandRow="1">
                <a:tableStyleId>{ED083AE6-46FA-4A59-8FB0-9F97EB10719F}</a:tableStyleId>
              </a:tblPr>
              <a:tblGrid>
                <a:gridCol w="5842000">
                  <a:extLst>
                    <a:ext uri="{9D8B030D-6E8A-4147-A177-3AD203B41FA5}">
                      <a16:colId xmlns:a16="http://schemas.microsoft.com/office/drawing/2014/main" val="20000"/>
                    </a:ext>
                  </a:extLst>
                </a:gridCol>
              </a:tblGrid>
              <a:tr h="4055534">
                <a:tc>
                  <a: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n-lt"/>
                        </a:rPr>
                        <a:t>Your university’s library catalogue - </a:t>
                      </a:r>
                      <a:r>
                        <a:rPr lang="en-ZA" sz="2000" dirty="0">
                          <a:hlinkClick r:id="rId2"/>
                        </a:rPr>
                        <a:t>https://www.cput.ac.za/lib</a:t>
                      </a:r>
                      <a:endParaRPr kumimoji="0" lang="en-US" sz="2000" b="0" i="0" u="none" strike="noStrike" kern="1200" cap="none" spc="0" normalizeH="0" baseline="0" noProof="0" dirty="0">
                        <a:ln>
                          <a:noFill/>
                        </a:ln>
                        <a:solidFill>
                          <a:prstClr val="black"/>
                        </a:solidFill>
                        <a:effectLst/>
                        <a:uLnTx/>
                        <a:uFillTx/>
                        <a:latin typeface="+mn-lt"/>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n-lt"/>
                          <a:hlinkClick r:id="rId3"/>
                        </a:rPr>
                        <a:t>Google Scholar</a:t>
                      </a:r>
                      <a:endParaRPr kumimoji="0" lang="en-US" sz="2000" b="0" i="0" u="none" strike="noStrike" kern="1200" cap="none" spc="0" normalizeH="0" baseline="0" noProof="0" dirty="0">
                        <a:ln>
                          <a:noFill/>
                        </a:ln>
                        <a:solidFill>
                          <a:prstClr val="black"/>
                        </a:solidFill>
                        <a:effectLst/>
                        <a:uLnTx/>
                        <a:uFillTx/>
                        <a:latin typeface="+mn-lt"/>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n-lt"/>
                          <a:hlinkClick r:id="rId4"/>
                        </a:rPr>
                        <a:t>JSTOR</a:t>
                      </a:r>
                      <a:endParaRPr kumimoji="0" lang="en-US" sz="2000" b="0" i="0" u="none" strike="noStrike" kern="1200" cap="none" spc="0" normalizeH="0" baseline="0" noProof="0" dirty="0">
                        <a:ln>
                          <a:noFill/>
                        </a:ln>
                        <a:solidFill>
                          <a:prstClr val="black"/>
                        </a:solidFill>
                        <a:effectLst/>
                        <a:uLnTx/>
                        <a:uFillTx/>
                        <a:latin typeface="+mn-lt"/>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n-lt"/>
                          <a:hlinkClick r:id="rId5"/>
                        </a:rPr>
                        <a:t>EBSCO</a:t>
                      </a:r>
                      <a:endParaRPr kumimoji="0" lang="en-US" sz="2000" b="0" i="0" u="none" strike="noStrike" kern="1200" cap="none" spc="0" normalizeH="0" baseline="0" noProof="0" dirty="0">
                        <a:ln>
                          <a:noFill/>
                        </a:ln>
                        <a:solidFill>
                          <a:prstClr val="black"/>
                        </a:solidFill>
                        <a:effectLst/>
                        <a:uLnTx/>
                        <a:uFillTx/>
                        <a:latin typeface="+mn-lt"/>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n-lt"/>
                          <a:hlinkClick r:id="rId6"/>
                        </a:rPr>
                        <a:t>Project Muse</a:t>
                      </a:r>
                      <a:r>
                        <a:rPr kumimoji="0" lang="en-US" sz="2000" b="0" i="0" u="none" strike="noStrike" kern="1200" cap="none" spc="0" normalizeH="0" baseline="0" noProof="0" dirty="0">
                          <a:ln>
                            <a:noFill/>
                          </a:ln>
                          <a:solidFill>
                            <a:prstClr val="black"/>
                          </a:solidFill>
                          <a:effectLst/>
                          <a:uLnTx/>
                          <a:uFillTx/>
                          <a:latin typeface="+mn-lt"/>
                        </a:rPr>
                        <a:t> (humanities and social sciences)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n-lt"/>
                          <a:hlinkClick r:id="rId7"/>
                        </a:rPr>
                        <a:t>Medline</a:t>
                      </a:r>
                      <a:r>
                        <a:rPr kumimoji="0" lang="en-US" sz="2000" b="0" i="0" u="none" strike="noStrike" kern="1200" cap="none" spc="0" normalizeH="0" baseline="0" noProof="0" dirty="0">
                          <a:ln>
                            <a:noFill/>
                          </a:ln>
                          <a:solidFill>
                            <a:prstClr val="black"/>
                          </a:solidFill>
                          <a:effectLst/>
                          <a:uLnTx/>
                          <a:uFillTx/>
                          <a:latin typeface="+mn-lt"/>
                        </a:rPr>
                        <a:t> (life sciences and biomedicine)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err="1">
                          <a:ln>
                            <a:noFill/>
                          </a:ln>
                          <a:solidFill>
                            <a:prstClr val="black"/>
                          </a:solidFill>
                          <a:effectLst/>
                          <a:uLnTx/>
                          <a:uFillTx/>
                          <a:latin typeface="+mn-lt"/>
                          <a:hlinkClick r:id="rId8"/>
                        </a:rPr>
                        <a:t>EconLit</a:t>
                      </a:r>
                      <a:r>
                        <a:rPr kumimoji="0" lang="en-US" sz="2000" b="0" i="0" u="none" strike="noStrike" kern="1200" cap="none" spc="0" normalizeH="0" baseline="0" noProof="0" dirty="0">
                          <a:ln>
                            <a:noFill/>
                          </a:ln>
                          <a:solidFill>
                            <a:prstClr val="black"/>
                          </a:solidFill>
                          <a:effectLst/>
                          <a:uLnTx/>
                          <a:uFillTx/>
                          <a:latin typeface="+mn-lt"/>
                        </a:rPr>
                        <a:t> (economics)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err="1">
                          <a:ln>
                            <a:noFill/>
                          </a:ln>
                          <a:solidFill>
                            <a:prstClr val="black"/>
                          </a:solidFill>
                          <a:effectLst/>
                          <a:uLnTx/>
                          <a:uFillTx/>
                          <a:latin typeface="+mn-lt"/>
                          <a:hlinkClick r:id="rId9"/>
                        </a:rPr>
                        <a:t>Inspec</a:t>
                      </a:r>
                      <a:r>
                        <a:rPr kumimoji="0" lang="en-US" sz="2000" b="0" i="0" u="none" strike="noStrike" kern="1200" cap="none" spc="0" normalizeH="0" baseline="0" noProof="0" dirty="0">
                          <a:ln>
                            <a:noFill/>
                          </a:ln>
                          <a:solidFill>
                            <a:prstClr val="black"/>
                          </a:solidFill>
                          <a:effectLst/>
                          <a:uLnTx/>
                          <a:uFillTx/>
                          <a:latin typeface="+mn-lt"/>
                        </a:rPr>
                        <a:t> (physics, engineering and computer science)</a:t>
                      </a:r>
                    </a:p>
                    <a:p>
                      <a:endParaRPr lang="en-ZA" dirty="0"/>
                    </a:p>
                  </a:txBody>
                  <a:tcPr/>
                </a:tc>
                <a:extLst>
                  <a:ext uri="{0D108BD9-81ED-4DB2-BD59-A6C34878D82A}">
                    <a16:rowId xmlns:a16="http://schemas.microsoft.com/office/drawing/2014/main" val="10000"/>
                  </a:ext>
                </a:extLst>
              </a:tr>
            </a:tbl>
          </a:graphicData>
        </a:graphic>
      </p:graphicFrame>
      <p:pic>
        <p:nvPicPr>
          <p:cNvPr id="6" name="Picture 5"/>
          <p:cNvPicPr>
            <a:picLocks noChangeAspect="1"/>
          </p:cNvPicPr>
          <p:nvPr/>
        </p:nvPicPr>
        <p:blipFill>
          <a:blip r:embed="rId10"/>
          <a:stretch>
            <a:fillRect/>
          </a:stretch>
        </p:blipFill>
        <p:spPr>
          <a:xfrm>
            <a:off x="6921500" y="2463799"/>
            <a:ext cx="5080000" cy="4152901"/>
          </a:xfrm>
          <a:prstGeom prst="rect">
            <a:avLst/>
          </a:prstGeom>
        </p:spPr>
      </p:pic>
    </p:spTree>
    <p:extLst>
      <p:ext uri="{BB962C8B-B14F-4D97-AF65-F5344CB8AC3E}">
        <p14:creationId xmlns:p14="http://schemas.microsoft.com/office/powerpoint/2010/main" val="1257730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1353800" cy="888999"/>
          </a:xfrm>
        </p:spPr>
        <p:txBody>
          <a:bodyPr/>
          <a:lstStyle/>
          <a:p>
            <a:r>
              <a:rPr lang="en-ZA" b="1" dirty="0">
                <a:solidFill>
                  <a:srgbClr val="92D050"/>
                </a:solidFill>
              </a:rPr>
              <a:t>Step 1: Search for relevant literature</a:t>
            </a:r>
          </a:p>
        </p:txBody>
      </p:sp>
      <p:sp>
        <p:nvSpPr>
          <p:cNvPr id="3" name="Content Placeholder 2"/>
          <p:cNvSpPr>
            <a:spLocks noGrp="1"/>
          </p:cNvSpPr>
          <p:nvPr>
            <p:ph idx="1"/>
          </p:nvPr>
        </p:nvSpPr>
        <p:spPr>
          <a:xfrm>
            <a:off x="838200" y="1076324"/>
            <a:ext cx="10782300" cy="5375275"/>
          </a:xfrm>
        </p:spPr>
        <p:txBody>
          <a:bodyPr>
            <a:normAutofit fontScale="77500" lnSpcReduction="20000"/>
          </a:bodyPr>
          <a:lstStyle/>
          <a:p>
            <a:pPr marL="0" indent="0">
              <a:buNone/>
            </a:pPr>
            <a:r>
              <a:rPr lang="en-ZA" dirty="0"/>
              <a:t>1.3. Search for relevant sources continued…</a:t>
            </a:r>
          </a:p>
          <a:p>
            <a:pPr marL="0" indent="0">
              <a:buNone/>
            </a:pPr>
            <a:endParaRPr lang="en-ZA" dirty="0"/>
          </a:p>
          <a:p>
            <a:r>
              <a:rPr lang="en-US" dirty="0"/>
              <a:t>You can use </a:t>
            </a:r>
            <a:r>
              <a:rPr lang="en-US" b="1" u="sng" dirty="0"/>
              <a:t>Boolean operators </a:t>
            </a:r>
            <a:r>
              <a:rPr lang="en-US" dirty="0"/>
              <a:t>to help narrow down your search:</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r>
              <a:rPr lang="en-US" dirty="0"/>
              <a:t>Read the </a:t>
            </a:r>
            <a:r>
              <a:rPr lang="en-US" b="1" dirty="0"/>
              <a:t>abstract</a:t>
            </a:r>
            <a:r>
              <a:rPr lang="en-US" dirty="0"/>
              <a:t> to find out whether an article is relevant to your question. When you find a useful book or article, you can check the </a:t>
            </a:r>
            <a:r>
              <a:rPr lang="en-US" u="sng" dirty="0"/>
              <a:t>bibliography</a:t>
            </a:r>
            <a:r>
              <a:rPr lang="en-US" dirty="0"/>
              <a:t> to find other relevant sources.</a:t>
            </a:r>
          </a:p>
          <a:p>
            <a:pPr marL="0" indent="0">
              <a:buNone/>
            </a:pPr>
            <a:endParaRPr lang="en-US" dirty="0"/>
          </a:p>
          <a:p>
            <a:pPr marL="0" indent="0">
              <a:buNone/>
            </a:pPr>
            <a:r>
              <a:rPr lang="en-US" dirty="0"/>
              <a:t>To identify the most important publications on your topic, take note of </a:t>
            </a:r>
            <a:r>
              <a:rPr lang="en-US" b="1" dirty="0"/>
              <a:t>recurring</a:t>
            </a:r>
            <a:r>
              <a:rPr lang="en-US" dirty="0"/>
              <a:t> citations. If the same authors, books or articles keep appearing in your reading, </a:t>
            </a:r>
            <a:r>
              <a:rPr lang="en-US" u="sng" dirty="0"/>
              <a:t>make sure to seek them out</a:t>
            </a:r>
            <a:r>
              <a:rPr lang="en-US" dirty="0"/>
              <a:t>.</a:t>
            </a:r>
            <a:endParaRPr lang="en-ZA" dirty="0"/>
          </a:p>
        </p:txBody>
      </p:sp>
      <p:graphicFrame>
        <p:nvGraphicFramePr>
          <p:cNvPr id="4" name="Table 3"/>
          <p:cNvGraphicFramePr>
            <a:graphicFrameLocks noGrp="1"/>
          </p:cNvGraphicFramePr>
          <p:nvPr>
            <p:extLst>
              <p:ext uri="{D42A27DB-BD31-4B8C-83A1-F6EECF244321}">
                <p14:modId xmlns:p14="http://schemas.microsoft.com/office/powerpoint/2010/main" val="1051172457"/>
              </p:ext>
            </p:extLst>
          </p:nvPr>
        </p:nvGraphicFramePr>
        <p:xfrm>
          <a:off x="838200" y="2413000"/>
          <a:ext cx="10642600" cy="1737360"/>
        </p:xfrm>
        <a:graphic>
          <a:graphicData uri="http://schemas.openxmlformats.org/drawingml/2006/table">
            <a:tbl>
              <a:tblPr firstRow="1" bandRow="1">
                <a:tableStyleId>{ED083AE6-46FA-4A59-8FB0-9F97EB10719F}</a:tableStyleId>
              </a:tblPr>
              <a:tblGrid>
                <a:gridCol w="10642600">
                  <a:extLst>
                    <a:ext uri="{9D8B030D-6E8A-4147-A177-3AD203B41FA5}">
                      <a16:colId xmlns:a16="http://schemas.microsoft.com/office/drawing/2014/main" val="20000"/>
                    </a:ext>
                  </a:extLst>
                </a:gridCol>
              </a:tblGrid>
              <a:tr h="1328420">
                <a:tc>
                  <a:txBody>
                    <a:bodyPr/>
                    <a:lstStyle/>
                    <a:p>
                      <a:r>
                        <a:rPr lang="en-US" dirty="0"/>
                        <a:t>AND </a:t>
                      </a:r>
                      <a:r>
                        <a:rPr lang="en-US" b="0" dirty="0"/>
                        <a:t>to find sources that contain more than one keyword (e.g. social media AND body image AND generation Z</a:t>
                      </a:r>
                    </a:p>
                    <a:p>
                      <a:endParaRPr lang="en-US" b="0" dirty="0"/>
                    </a:p>
                    <a:p>
                      <a:r>
                        <a:rPr lang="en-US" dirty="0"/>
                        <a:t>OR </a:t>
                      </a:r>
                      <a:r>
                        <a:rPr lang="en-US" b="0" dirty="0"/>
                        <a:t>to find sources that contain one of a range of synonyms (e.g. generation Z OR teenagers OR adolescents)</a:t>
                      </a:r>
                    </a:p>
                    <a:p>
                      <a:endParaRPr lang="en-US" b="0" dirty="0"/>
                    </a:p>
                    <a:p>
                      <a:r>
                        <a:rPr lang="en-US" dirty="0"/>
                        <a:t>NOT </a:t>
                      </a:r>
                      <a:r>
                        <a:rPr lang="en-US" b="0" dirty="0"/>
                        <a:t>to exclude results containing certain terms (e.g. apple NOT fruit)</a:t>
                      </a:r>
                    </a:p>
                    <a:p>
                      <a:endParaRPr lang="en-ZA" b="0" dirty="0"/>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446367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1353800" cy="1003299"/>
          </a:xfrm>
        </p:spPr>
        <p:txBody>
          <a:bodyPr/>
          <a:lstStyle/>
          <a:p>
            <a:r>
              <a:rPr lang="en-ZA" b="1" dirty="0">
                <a:solidFill>
                  <a:schemeClr val="accent4">
                    <a:lumMod val="60000"/>
                    <a:lumOff val="40000"/>
                  </a:schemeClr>
                </a:solidFill>
              </a:rPr>
              <a:t>Step 2: Evaluating your sources</a:t>
            </a:r>
          </a:p>
        </p:txBody>
      </p:sp>
      <p:sp>
        <p:nvSpPr>
          <p:cNvPr id="3" name="Content Placeholder 2"/>
          <p:cNvSpPr>
            <a:spLocks noGrp="1"/>
          </p:cNvSpPr>
          <p:nvPr>
            <p:ph idx="1"/>
          </p:nvPr>
        </p:nvSpPr>
        <p:spPr>
          <a:xfrm>
            <a:off x="838200" y="1181100"/>
            <a:ext cx="10515600" cy="4995863"/>
          </a:xfrm>
        </p:spPr>
        <p:txBody>
          <a:bodyPr/>
          <a:lstStyle/>
          <a:p>
            <a:r>
              <a:rPr lang="en-ZA" dirty="0"/>
              <a:t>After you have found a number of articles or books related to a topic, you must </a:t>
            </a:r>
            <a:r>
              <a:rPr lang="en-ZA" b="1" dirty="0">
                <a:solidFill>
                  <a:srgbClr val="C00000"/>
                </a:solidFill>
              </a:rPr>
              <a:t>evaluate</a:t>
            </a:r>
            <a:r>
              <a:rPr lang="en-ZA" dirty="0">
                <a:solidFill>
                  <a:srgbClr val="C00000"/>
                </a:solidFill>
              </a:rPr>
              <a:t> </a:t>
            </a:r>
            <a:r>
              <a:rPr lang="en-ZA" dirty="0"/>
              <a:t>them to determine which ones seem to make the most important contributions to the scholarship on the topic. </a:t>
            </a:r>
          </a:p>
          <a:p>
            <a:endParaRPr lang="en-ZA" dirty="0"/>
          </a:p>
          <a:p>
            <a:r>
              <a:rPr lang="en-ZA" dirty="0"/>
              <a:t>For undergraduate students, this step is often difficult since they are not experts and are just beginning to learn about major themes and debates within a field. </a:t>
            </a:r>
          </a:p>
          <a:p>
            <a:endParaRPr lang="en-ZA" dirty="0"/>
          </a:p>
          <a:p>
            <a:pPr marL="0" indent="0">
              <a:buNone/>
            </a:pPr>
            <a:endParaRPr lang="en-ZA" dirty="0"/>
          </a:p>
        </p:txBody>
      </p:sp>
      <p:graphicFrame>
        <p:nvGraphicFramePr>
          <p:cNvPr id="4" name="Table 3"/>
          <p:cNvGraphicFramePr>
            <a:graphicFrameLocks noGrp="1"/>
          </p:cNvGraphicFramePr>
          <p:nvPr>
            <p:extLst>
              <p:ext uri="{D42A27DB-BD31-4B8C-83A1-F6EECF244321}">
                <p14:modId xmlns:p14="http://schemas.microsoft.com/office/powerpoint/2010/main" val="3598970"/>
              </p:ext>
            </p:extLst>
          </p:nvPr>
        </p:nvGraphicFramePr>
        <p:xfrm>
          <a:off x="1079500" y="4674446"/>
          <a:ext cx="10274300" cy="1572768"/>
        </p:xfrm>
        <a:graphic>
          <a:graphicData uri="http://schemas.openxmlformats.org/drawingml/2006/table">
            <a:tbl>
              <a:tblPr firstRow="1" bandRow="1">
                <a:tableStyleId>{ED083AE6-46FA-4A59-8FB0-9F97EB10719F}</a:tableStyleId>
              </a:tblPr>
              <a:tblGrid>
                <a:gridCol w="10274300">
                  <a:extLst>
                    <a:ext uri="{9D8B030D-6E8A-4147-A177-3AD203B41FA5}">
                      <a16:colId xmlns:a16="http://schemas.microsoft.com/office/drawing/2014/main" val="20000"/>
                    </a:ext>
                  </a:extLst>
                </a:gridCol>
              </a:tblGrid>
              <a:tr h="303106">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ZA" sz="2800" b="0" u="none" strike="noStrike" kern="1200" cap="none" spc="0" normalizeH="0" baseline="0" noProof="0" dirty="0">
                          <a:ln>
                            <a:noFill/>
                          </a:ln>
                          <a:effectLst/>
                          <a:uLnTx/>
                          <a:uFillTx/>
                        </a:rPr>
                        <a:t>For guidelines on determining the credibility on information and the information’s source, refer to your Prof </a:t>
                      </a:r>
                      <a:r>
                        <a:rPr kumimoji="0" lang="en-ZA" sz="2800" b="0" u="none" strike="noStrike" kern="1200" cap="none" spc="0" normalizeH="0" baseline="0" noProof="0" dirty="0" err="1">
                          <a:ln>
                            <a:noFill/>
                          </a:ln>
                          <a:effectLst/>
                          <a:uLnTx/>
                          <a:uFillTx/>
                        </a:rPr>
                        <a:t>Comm</a:t>
                      </a:r>
                      <a:r>
                        <a:rPr kumimoji="0" lang="en-ZA" sz="2800" b="0" u="none" strike="noStrike" kern="1200" cap="none" spc="0" normalizeH="0" baseline="0" noProof="0" dirty="0">
                          <a:ln>
                            <a:noFill/>
                          </a:ln>
                          <a:effectLst/>
                          <a:uLnTx/>
                          <a:uFillTx/>
                        </a:rPr>
                        <a:t> 2 Critical Thinking notes: </a:t>
                      </a:r>
                      <a:r>
                        <a:rPr kumimoji="0" lang="en-ZA" sz="3200" b="0" i="1" u="sng" strike="noStrike" kern="1200" cap="none" spc="0" normalizeH="0" baseline="0" noProof="0" dirty="0">
                          <a:ln>
                            <a:noFill/>
                          </a:ln>
                          <a:effectLst/>
                          <a:uLnTx/>
                          <a:uFillTx/>
                        </a:rPr>
                        <a:t>Evaluating information and the information’s source</a:t>
                      </a:r>
                      <a:r>
                        <a:rPr kumimoji="0" lang="en-ZA" sz="3200" b="0" i="1" u="none" strike="noStrike" kern="1200" cap="none" spc="0" normalizeH="0" baseline="0" noProof="0" dirty="0">
                          <a:ln>
                            <a:noFill/>
                          </a:ln>
                          <a:effectLst/>
                          <a:uLnTx/>
                          <a:uFillTx/>
                        </a:rPr>
                        <a:t>.</a:t>
                      </a:r>
                    </a:p>
                    <a:p>
                      <a:endParaRPr lang="en-ZA" dirty="0"/>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6643045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1353800" cy="1041399"/>
          </a:xfrm>
        </p:spPr>
        <p:txBody>
          <a:bodyPr/>
          <a:lstStyle/>
          <a:p>
            <a:r>
              <a:rPr lang="en-ZA" b="1" dirty="0">
                <a:solidFill>
                  <a:schemeClr val="accent4">
                    <a:lumMod val="60000"/>
                    <a:lumOff val="40000"/>
                  </a:schemeClr>
                </a:solidFill>
              </a:rPr>
              <a:t>Step 2: Evaluate your sources</a:t>
            </a:r>
          </a:p>
        </p:txBody>
      </p:sp>
      <p:sp>
        <p:nvSpPr>
          <p:cNvPr id="3" name="Content Placeholder 2"/>
          <p:cNvSpPr>
            <a:spLocks noGrp="1"/>
          </p:cNvSpPr>
          <p:nvPr>
            <p:ph idx="1"/>
          </p:nvPr>
        </p:nvSpPr>
        <p:spPr>
          <a:xfrm>
            <a:off x="215900" y="1041400"/>
            <a:ext cx="11137900" cy="5715000"/>
          </a:xfrm>
        </p:spPr>
        <p:txBody>
          <a:bodyPr/>
          <a:lstStyle/>
          <a:p>
            <a:pPr marL="0" indent="0">
              <a:buNone/>
            </a:pPr>
            <a:r>
              <a:rPr lang="en-US" sz="2400" dirty="0"/>
              <a:t>You probably won’t be able to read absolutely everything that has been written on the topic – you’ll have to evaluate which sources are most relevant to your questions.</a:t>
            </a:r>
          </a:p>
          <a:p>
            <a:pPr marL="0" indent="0">
              <a:buNone/>
            </a:pPr>
            <a:r>
              <a:rPr lang="en-US" sz="2400" u="sng" dirty="0"/>
              <a:t>For each publication, ask yourself:</a:t>
            </a:r>
          </a:p>
          <a:p>
            <a:endParaRPr lang="en-US" dirty="0"/>
          </a:p>
          <a:p>
            <a:endParaRPr lang="en-ZA" dirty="0"/>
          </a:p>
        </p:txBody>
      </p:sp>
      <p:graphicFrame>
        <p:nvGraphicFramePr>
          <p:cNvPr id="4" name="Table 3"/>
          <p:cNvGraphicFramePr>
            <a:graphicFrameLocks noGrp="1"/>
          </p:cNvGraphicFramePr>
          <p:nvPr>
            <p:extLst>
              <p:ext uri="{D42A27DB-BD31-4B8C-83A1-F6EECF244321}">
                <p14:modId xmlns:p14="http://schemas.microsoft.com/office/powerpoint/2010/main" val="1971322266"/>
              </p:ext>
            </p:extLst>
          </p:nvPr>
        </p:nvGraphicFramePr>
        <p:xfrm>
          <a:off x="584200" y="2565400"/>
          <a:ext cx="11010900" cy="3139440"/>
        </p:xfrm>
        <a:graphic>
          <a:graphicData uri="http://schemas.openxmlformats.org/drawingml/2006/table">
            <a:tbl>
              <a:tblPr firstRow="1" bandRow="1">
                <a:tableStyleId>{ED083AE6-46FA-4A59-8FB0-9F97EB10719F}</a:tableStyleId>
              </a:tblPr>
              <a:tblGrid>
                <a:gridCol w="11010900">
                  <a:extLst>
                    <a:ext uri="{9D8B030D-6E8A-4147-A177-3AD203B41FA5}">
                      <a16:colId xmlns:a16="http://schemas.microsoft.com/office/drawing/2014/main" val="20000"/>
                    </a:ext>
                  </a:extLst>
                </a:gridCol>
              </a:tblGrid>
              <a:tr h="2427395">
                <a:tc>
                  <a:txBody>
                    <a:bodyPr/>
                    <a:lstStyle/>
                    <a:p>
                      <a:pPr marL="285750" indent="-285750">
                        <a:buFont typeface="Wingdings" panose="05000000000000000000" pitchFamily="2" charset="2"/>
                        <a:buChar char="ü"/>
                      </a:pPr>
                      <a:r>
                        <a:rPr lang="en-US" sz="2000" b="0" i="1" kern="1200" dirty="0">
                          <a:effectLst/>
                        </a:rPr>
                        <a:t>What question or problem is the author addressing?</a:t>
                      </a:r>
                    </a:p>
                    <a:p>
                      <a:pPr marL="285750" indent="-285750">
                        <a:buFont typeface="Wingdings" panose="05000000000000000000" pitchFamily="2" charset="2"/>
                        <a:buChar char="ü"/>
                      </a:pPr>
                      <a:r>
                        <a:rPr lang="en-US" sz="2000" b="0" i="1" kern="1200" dirty="0">
                          <a:effectLst/>
                        </a:rPr>
                        <a:t>What are the key concepts and how are they defined?</a:t>
                      </a:r>
                    </a:p>
                    <a:p>
                      <a:pPr marL="285750" indent="-285750">
                        <a:buFont typeface="Wingdings" panose="05000000000000000000" pitchFamily="2" charset="2"/>
                        <a:buChar char="ü"/>
                      </a:pPr>
                      <a:r>
                        <a:rPr lang="en-US" sz="2000" b="0" i="1" kern="1200" dirty="0">
                          <a:effectLst/>
                        </a:rPr>
                        <a:t>What are the key theories, models and methods? Does the research use established frameworks or take an innovative approach?</a:t>
                      </a:r>
                    </a:p>
                    <a:p>
                      <a:pPr marL="285750" indent="-285750">
                        <a:buFont typeface="Wingdings" panose="05000000000000000000" pitchFamily="2" charset="2"/>
                        <a:buChar char="ü"/>
                      </a:pPr>
                      <a:r>
                        <a:rPr lang="en-US" sz="2000" b="0" i="1" kern="1200" dirty="0">
                          <a:effectLst/>
                        </a:rPr>
                        <a:t>What are the results and conclusions of the study?</a:t>
                      </a:r>
                    </a:p>
                    <a:p>
                      <a:pPr marL="285750" indent="-285750">
                        <a:buFont typeface="Wingdings" panose="05000000000000000000" pitchFamily="2" charset="2"/>
                        <a:buChar char="ü"/>
                      </a:pPr>
                      <a:r>
                        <a:rPr lang="en-US" sz="2000" b="0" i="1" kern="1200" dirty="0">
                          <a:effectLst/>
                        </a:rPr>
                        <a:t>How does the publication relate to other literature in the field? Does it confirm, add to, or challenge established knowledge?</a:t>
                      </a:r>
                    </a:p>
                    <a:p>
                      <a:pPr marL="285750" indent="-285750">
                        <a:buFont typeface="Wingdings" panose="05000000000000000000" pitchFamily="2" charset="2"/>
                        <a:buChar char="ü"/>
                      </a:pPr>
                      <a:r>
                        <a:rPr lang="en-US" sz="2000" b="0" i="1" kern="1200" dirty="0">
                          <a:effectLst/>
                        </a:rPr>
                        <a:t>How does the publication contribute to your understanding of the topic? What are its key insights and arguments?</a:t>
                      </a:r>
                    </a:p>
                    <a:p>
                      <a:pPr marL="285750" indent="-285750">
                        <a:buFont typeface="Wingdings" panose="05000000000000000000" pitchFamily="2" charset="2"/>
                        <a:buChar char="ü"/>
                      </a:pPr>
                      <a:r>
                        <a:rPr lang="en-US" sz="2000" b="0" i="1" kern="1200" dirty="0">
                          <a:effectLst/>
                        </a:rPr>
                        <a:t>What are the strengths and weaknesses of the research?</a:t>
                      </a:r>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7756364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1353800" cy="1130299"/>
          </a:xfrm>
        </p:spPr>
        <p:txBody>
          <a:bodyPr/>
          <a:lstStyle/>
          <a:p>
            <a:r>
              <a:rPr lang="en-ZA" b="1" dirty="0">
                <a:solidFill>
                  <a:schemeClr val="accent4">
                    <a:lumMod val="60000"/>
                    <a:lumOff val="40000"/>
                  </a:schemeClr>
                </a:solidFill>
              </a:rPr>
              <a:t>Step 2: Evaluate your sources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43100746"/>
              </p:ext>
            </p:extLst>
          </p:nvPr>
        </p:nvGraphicFramePr>
        <p:xfrm>
          <a:off x="317500" y="1333500"/>
          <a:ext cx="5334000" cy="5273040"/>
        </p:xfrm>
        <a:graphic>
          <a:graphicData uri="http://schemas.openxmlformats.org/drawingml/2006/table">
            <a:tbl>
              <a:tblPr firstRow="1" bandRow="1">
                <a:tableStyleId>{ED083AE6-46FA-4A59-8FB0-9F97EB10719F}</a:tableStyleId>
              </a:tblPr>
              <a:tblGrid>
                <a:gridCol w="5334000">
                  <a:extLst>
                    <a:ext uri="{9D8B030D-6E8A-4147-A177-3AD203B41FA5}">
                      <a16:colId xmlns:a16="http://schemas.microsoft.com/office/drawing/2014/main" val="20000"/>
                    </a:ext>
                  </a:extLst>
                </a:gridCol>
              </a:tblGrid>
              <a:tr h="370840">
                <a:tc>
                  <a:txBody>
                    <a:bodyPr/>
                    <a:lstStyle/>
                    <a:p>
                      <a:pPr marL="342900" indent="-342900">
                        <a:buFont typeface="Arial" panose="020B0604020202020204" pitchFamily="34" charset="0"/>
                        <a:buChar char="•"/>
                      </a:pPr>
                      <a:r>
                        <a:rPr lang="en-US" sz="2000" b="0" dirty="0"/>
                        <a:t>Make sure the sources you use are </a:t>
                      </a:r>
                      <a:r>
                        <a:rPr lang="en-US" sz="2000" b="0" dirty="0">
                          <a:hlinkClick r:id="rId2"/>
                        </a:rPr>
                        <a:t>credible</a:t>
                      </a:r>
                      <a:r>
                        <a:rPr lang="en-US" sz="2000" b="0" dirty="0"/>
                        <a:t>, and make sure you read any landmark studies and major theories in your field of research.</a:t>
                      </a:r>
                    </a:p>
                    <a:p>
                      <a:pPr marL="0" indent="0">
                        <a:buNone/>
                      </a:pPr>
                      <a:endParaRPr lang="en-US" sz="2000" b="0" dirty="0"/>
                    </a:p>
                    <a:p>
                      <a:pPr marL="342900" indent="-342900">
                        <a:buFont typeface="Arial" panose="020B0604020202020204" pitchFamily="34" charset="0"/>
                        <a:buChar char="•"/>
                      </a:pPr>
                      <a:r>
                        <a:rPr lang="en-US" sz="2000" b="0" dirty="0"/>
                        <a:t>You can find out how many times an article has been cited on Google Scholar – a high citation count means the article has been influential in the field, and should certainly be included in your literature review.</a:t>
                      </a:r>
                    </a:p>
                    <a:p>
                      <a:endParaRPr lang="en-US" sz="2000" b="0" dirty="0"/>
                    </a:p>
                    <a:p>
                      <a:pPr marL="342900" indent="-342900">
                        <a:buFont typeface="Arial" panose="020B0604020202020204" pitchFamily="34" charset="0"/>
                        <a:buChar char="•"/>
                      </a:pPr>
                      <a:r>
                        <a:rPr lang="en-US" sz="2000" b="0" dirty="0"/>
                        <a:t>The scope of your review will depend on your topic and discipline: in the sciences you usually only review recent literature, but in the humanities you might take a long historical perspective (for example, to trace how a concept has changed in meaning over time).</a:t>
                      </a:r>
                      <a:endParaRPr lang="en-ZA" sz="2000" b="0" dirty="0"/>
                    </a:p>
                  </a:txBody>
                  <a:tcPr/>
                </a:tc>
                <a:extLst>
                  <a:ext uri="{0D108BD9-81ED-4DB2-BD59-A6C34878D82A}">
                    <a16:rowId xmlns:a16="http://schemas.microsoft.com/office/drawing/2014/main" val="10000"/>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781153119"/>
              </p:ext>
            </p:extLst>
          </p:nvPr>
        </p:nvGraphicFramePr>
        <p:xfrm>
          <a:off x="5994400" y="1333500"/>
          <a:ext cx="5981700" cy="4053840"/>
        </p:xfrm>
        <a:graphic>
          <a:graphicData uri="http://schemas.openxmlformats.org/drawingml/2006/table">
            <a:tbl>
              <a:tblPr firstRow="1" bandRow="1">
                <a:tableStyleId>{ED083AE6-46FA-4A59-8FB0-9F97EB10719F}</a:tableStyleId>
              </a:tblPr>
              <a:tblGrid>
                <a:gridCol w="5981700">
                  <a:extLst>
                    <a:ext uri="{9D8B030D-6E8A-4147-A177-3AD203B41FA5}">
                      <a16:colId xmlns:a16="http://schemas.microsoft.com/office/drawing/2014/main" val="20000"/>
                    </a:ext>
                  </a:extLst>
                </a:gridCol>
              </a:tblGrid>
              <a:tr h="506306">
                <a:tc>
                  <a:txBody>
                    <a:bodyPr/>
                    <a:lstStyle/>
                    <a:p>
                      <a:r>
                        <a:rPr lang="en-US" sz="2000" b="1" u="sng" kern="1200" dirty="0">
                          <a:effectLst/>
                        </a:rPr>
                        <a:t>Take notes and cite your sources:</a:t>
                      </a:r>
                    </a:p>
                    <a:p>
                      <a:pPr marL="342900" indent="-342900">
                        <a:buFont typeface="Arial" panose="020B0604020202020204" pitchFamily="34" charset="0"/>
                        <a:buChar char="•"/>
                      </a:pPr>
                      <a:r>
                        <a:rPr lang="en-US" sz="2000" b="0" kern="1200" dirty="0">
                          <a:effectLst/>
                        </a:rPr>
                        <a:t>As you read, you should also begin the writing process. Take notes that you can later incorporate into the text of your literature review.</a:t>
                      </a:r>
                    </a:p>
                    <a:p>
                      <a:pPr marL="0" indent="0">
                        <a:buFont typeface="Arial" panose="020B0604020202020204" pitchFamily="34" charset="0"/>
                        <a:buNone/>
                      </a:pPr>
                      <a:endParaRPr lang="en-US" sz="2000" b="0" kern="1200" dirty="0">
                        <a:effectLst/>
                      </a:endParaRPr>
                    </a:p>
                    <a:p>
                      <a:pPr marL="342900" indent="-342900">
                        <a:buFont typeface="Arial" panose="020B0604020202020204" pitchFamily="34" charset="0"/>
                        <a:buChar char="•"/>
                      </a:pPr>
                      <a:r>
                        <a:rPr lang="en-US" sz="2000" b="0" kern="1200" dirty="0">
                          <a:effectLst/>
                        </a:rPr>
                        <a:t>It is important to keep track of your sources with </a:t>
                      </a:r>
                      <a:r>
                        <a:rPr lang="en-US" sz="2000" b="0" u="none" strike="noStrike" kern="1200" dirty="0">
                          <a:effectLst/>
                        </a:rPr>
                        <a:t>citations</a:t>
                      </a:r>
                      <a:r>
                        <a:rPr lang="en-US" sz="2000" b="0" kern="1200" dirty="0">
                          <a:effectLst/>
                        </a:rPr>
                        <a:t> to </a:t>
                      </a:r>
                      <a:r>
                        <a:rPr lang="en-US" sz="2000" b="0" u="none" strike="noStrike" kern="1200" dirty="0">
                          <a:effectLst/>
                          <a:hlinkClick r:id="rId3"/>
                        </a:rPr>
                        <a:t>avoid plagiarism</a:t>
                      </a:r>
                      <a:r>
                        <a:rPr lang="en-US" sz="2000" b="0" kern="1200" dirty="0">
                          <a:effectLst/>
                        </a:rPr>
                        <a:t>. It can be helpful to make an </a:t>
                      </a:r>
                      <a:r>
                        <a:rPr lang="en-US" sz="2000" b="0" u="none" strike="noStrike" kern="1200" dirty="0">
                          <a:effectLst/>
                          <a:hlinkClick r:id="rId4"/>
                        </a:rPr>
                        <a:t>annotated bibliography</a:t>
                      </a:r>
                      <a:r>
                        <a:rPr lang="en-US" sz="2000" b="0" kern="1200" dirty="0">
                          <a:effectLst/>
                        </a:rPr>
                        <a:t>, where you compile full citation information and write a paragraph of summary and analysis for each source.</a:t>
                      </a:r>
                    </a:p>
                    <a:p>
                      <a:pPr marL="342900" indent="-342900">
                        <a:buFont typeface="Arial" panose="020B0604020202020204" pitchFamily="34" charset="0"/>
                        <a:buChar char="•"/>
                      </a:pPr>
                      <a:endParaRPr lang="en-US" sz="2000" b="0" kern="1200" dirty="0">
                        <a:effectLst/>
                      </a:endParaRPr>
                    </a:p>
                    <a:p>
                      <a:pPr marL="342900" indent="-342900">
                        <a:buFont typeface="Arial" panose="020B0604020202020204" pitchFamily="34" charset="0"/>
                        <a:buChar char="•"/>
                      </a:pPr>
                      <a:r>
                        <a:rPr lang="en-US" sz="2000" b="0" kern="1200" dirty="0">
                          <a:effectLst/>
                        </a:rPr>
                        <a:t>This helps you remember what you read and saves time later in the process.</a:t>
                      </a:r>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9190813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1353800" cy="1295399"/>
          </a:xfrm>
        </p:spPr>
        <p:txBody>
          <a:bodyPr>
            <a:normAutofit fontScale="90000"/>
          </a:bodyPr>
          <a:lstStyle/>
          <a:p>
            <a:r>
              <a:rPr lang="en-US" b="1" dirty="0">
                <a:solidFill>
                  <a:srgbClr val="00B0F0"/>
                </a:solidFill>
              </a:rPr>
              <a:t>Step 3: Identify themes, debates, and gaps</a:t>
            </a:r>
            <a:br>
              <a:rPr lang="en-US" b="1" dirty="0">
                <a:solidFill>
                  <a:srgbClr val="00B0F0"/>
                </a:solidFill>
              </a:rPr>
            </a:br>
            <a:endParaRPr lang="en-ZA" dirty="0">
              <a:solidFill>
                <a:srgbClr val="00B0F0"/>
              </a:solidFill>
            </a:endParaRPr>
          </a:p>
        </p:txBody>
      </p:sp>
      <p:sp>
        <p:nvSpPr>
          <p:cNvPr id="3" name="Content Placeholder 2"/>
          <p:cNvSpPr>
            <a:spLocks noGrp="1"/>
          </p:cNvSpPr>
          <p:nvPr>
            <p:ph idx="1"/>
          </p:nvPr>
        </p:nvSpPr>
        <p:spPr>
          <a:xfrm>
            <a:off x="292100" y="927100"/>
            <a:ext cx="11633200" cy="5930900"/>
          </a:xfrm>
        </p:spPr>
        <p:txBody>
          <a:bodyPr>
            <a:normAutofit fontScale="92500" lnSpcReduction="20000"/>
          </a:bodyPr>
          <a:lstStyle/>
          <a:p>
            <a:r>
              <a:rPr lang="en-US" sz="2200" dirty="0"/>
              <a:t>To begin </a:t>
            </a:r>
            <a:r>
              <a:rPr lang="en-US" sz="2200" b="1" dirty="0">
                <a:solidFill>
                  <a:srgbClr val="FF0000"/>
                </a:solidFill>
              </a:rPr>
              <a:t>organizing</a:t>
            </a:r>
            <a:r>
              <a:rPr lang="en-US" sz="2200" dirty="0">
                <a:solidFill>
                  <a:srgbClr val="FF0000"/>
                </a:solidFill>
              </a:rPr>
              <a:t> </a:t>
            </a:r>
            <a:r>
              <a:rPr lang="en-US" sz="2200" dirty="0"/>
              <a:t>your literature review’s argument and structure, you need to understand the </a:t>
            </a:r>
            <a:r>
              <a:rPr lang="en-US" sz="2200" u="sng" dirty="0"/>
              <a:t>connections and relationships </a:t>
            </a:r>
            <a:r>
              <a:rPr lang="en-US" sz="2200" dirty="0"/>
              <a:t>between the sources you’ve read. Based on your reading and notes, you can look for:</a:t>
            </a:r>
          </a:p>
          <a:p>
            <a:endParaRPr lang="en-US" sz="2000" dirty="0"/>
          </a:p>
          <a:p>
            <a:endParaRPr lang="en-US" sz="2000" dirty="0"/>
          </a:p>
          <a:p>
            <a:endParaRPr lang="en-US" sz="2000" dirty="0"/>
          </a:p>
          <a:p>
            <a:endParaRPr lang="en-US" sz="20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pPr marL="0" indent="0">
              <a:buNone/>
            </a:pPr>
            <a:endParaRPr lang="en-US" sz="2400" dirty="0"/>
          </a:p>
          <a:p>
            <a:r>
              <a:rPr lang="en-US" sz="2200" dirty="0"/>
              <a:t>This step will help you work out the structure of your literature review and (if applicable) show how your own research will contribute to existing knowledge.</a:t>
            </a:r>
            <a:endParaRPr lang="en-ZA" sz="2200" dirty="0"/>
          </a:p>
        </p:txBody>
      </p:sp>
      <p:graphicFrame>
        <p:nvGraphicFramePr>
          <p:cNvPr id="4" name="Table 3"/>
          <p:cNvGraphicFramePr>
            <a:graphicFrameLocks noGrp="1"/>
          </p:cNvGraphicFramePr>
          <p:nvPr>
            <p:extLst>
              <p:ext uri="{D42A27DB-BD31-4B8C-83A1-F6EECF244321}">
                <p14:modId xmlns:p14="http://schemas.microsoft.com/office/powerpoint/2010/main" val="2367755653"/>
              </p:ext>
            </p:extLst>
          </p:nvPr>
        </p:nvGraphicFramePr>
        <p:xfrm>
          <a:off x="914400" y="1739900"/>
          <a:ext cx="10629900" cy="3931920"/>
        </p:xfrm>
        <a:graphic>
          <a:graphicData uri="http://schemas.openxmlformats.org/drawingml/2006/table">
            <a:tbl>
              <a:tblPr firstRow="1" bandRow="1">
                <a:tableStyleId>{ED083AE6-46FA-4A59-8FB0-9F97EB10719F}</a:tableStyleId>
              </a:tblPr>
              <a:tblGrid>
                <a:gridCol w="10629900">
                  <a:extLst>
                    <a:ext uri="{9D8B030D-6E8A-4147-A177-3AD203B41FA5}">
                      <a16:colId xmlns:a16="http://schemas.microsoft.com/office/drawing/2014/main" val="20000"/>
                    </a:ext>
                  </a:extLst>
                </a:gridCol>
              </a:tblGrid>
              <a:tr h="1930400">
                <a:tc>
                  <a:txBody>
                    <a:bodyPr/>
                    <a:lstStyle/>
                    <a:p>
                      <a:pPr marL="285750" indent="-285750">
                        <a:buFont typeface="Wingdings" panose="05000000000000000000" pitchFamily="2" charset="2"/>
                        <a:buChar char="v"/>
                      </a:pPr>
                      <a:r>
                        <a:rPr lang="en-US" sz="1800" b="1" dirty="0"/>
                        <a:t>Trends</a:t>
                      </a:r>
                      <a:r>
                        <a:rPr lang="en-US" sz="1800" b="0" dirty="0"/>
                        <a:t> </a:t>
                      </a:r>
                      <a:r>
                        <a:rPr lang="en-US" sz="1800" b="1" dirty="0"/>
                        <a:t>and patterns (in theory, method or results): </a:t>
                      </a:r>
                    </a:p>
                    <a:p>
                      <a:r>
                        <a:rPr lang="en-US" sz="1800" b="1" dirty="0"/>
                        <a:t>          </a:t>
                      </a:r>
                      <a:r>
                        <a:rPr lang="en-US" sz="1800" b="0" dirty="0"/>
                        <a:t>Do certain approaches become more or less popular over time?</a:t>
                      </a:r>
                    </a:p>
                    <a:p>
                      <a:endParaRPr lang="en-US" sz="1800" b="0" dirty="0"/>
                    </a:p>
                    <a:p>
                      <a:pPr marL="285750" indent="-285750">
                        <a:buFont typeface="Wingdings" panose="05000000000000000000" pitchFamily="2" charset="2"/>
                        <a:buChar char="v"/>
                      </a:pPr>
                      <a:r>
                        <a:rPr lang="en-US" sz="1800" b="1" dirty="0"/>
                        <a:t>Themes: </a:t>
                      </a:r>
                    </a:p>
                    <a:p>
                      <a:pPr marL="0" indent="0">
                        <a:buFont typeface="Wingdings" panose="05000000000000000000" pitchFamily="2" charset="2"/>
                        <a:buNone/>
                      </a:pPr>
                      <a:r>
                        <a:rPr lang="en-US" sz="1800" b="1" dirty="0"/>
                        <a:t>          </a:t>
                      </a:r>
                      <a:r>
                        <a:rPr lang="en-US" sz="1800" b="0" dirty="0"/>
                        <a:t>What questions or concepts recur across the literature?</a:t>
                      </a:r>
                    </a:p>
                    <a:p>
                      <a:pPr marL="0" indent="0">
                        <a:buFont typeface="Wingdings" panose="05000000000000000000" pitchFamily="2" charset="2"/>
                        <a:buNone/>
                      </a:pPr>
                      <a:endParaRPr lang="en-US" sz="1800" b="0" dirty="0"/>
                    </a:p>
                    <a:p>
                      <a:pPr marL="285750" indent="-285750">
                        <a:buFont typeface="Wingdings" panose="05000000000000000000" pitchFamily="2" charset="2"/>
                        <a:buChar char="v"/>
                      </a:pPr>
                      <a:r>
                        <a:rPr lang="en-US" sz="1800" b="1" dirty="0"/>
                        <a:t>Debates, conflicts and contradictions:</a:t>
                      </a:r>
                      <a:r>
                        <a:rPr lang="en-US" sz="1800" b="0" dirty="0"/>
                        <a:t> </a:t>
                      </a:r>
                    </a:p>
                    <a:p>
                      <a:pPr marL="0" indent="0">
                        <a:buFont typeface="Wingdings" panose="05000000000000000000" pitchFamily="2" charset="2"/>
                        <a:buNone/>
                      </a:pPr>
                      <a:r>
                        <a:rPr lang="en-US" sz="1800" b="0" dirty="0"/>
                        <a:t>           Where do sources disagree?</a:t>
                      </a:r>
                    </a:p>
                    <a:p>
                      <a:pPr marL="0" indent="0">
                        <a:buFont typeface="Wingdings" panose="05000000000000000000" pitchFamily="2" charset="2"/>
                        <a:buNone/>
                      </a:pPr>
                      <a:endParaRPr lang="en-US" sz="1800" b="0" dirty="0"/>
                    </a:p>
                    <a:p>
                      <a:pPr marL="285750" indent="-285750">
                        <a:buFont typeface="Wingdings" panose="05000000000000000000" pitchFamily="2" charset="2"/>
                        <a:buChar char="v"/>
                      </a:pPr>
                      <a:r>
                        <a:rPr lang="en-US" sz="1800" b="1" dirty="0"/>
                        <a:t>Pivotal publications:</a:t>
                      </a:r>
                      <a:r>
                        <a:rPr lang="en-US" sz="1800" b="0" dirty="0"/>
                        <a:t> </a:t>
                      </a:r>
                    </a:p>
                    <a:p>
                      <a:pPr marL="0" indent="0">
                        <a:buFont typeface="Wingdings" panose="05000000000000000000" pitchFamily="2" charset="2"/>
                        <a:buNone/>
                      </a:pPr>
                      <a:r>
                        <a:rPr lang="en-US" sz="1800" b="0" dirty="0"/>
                        <a:t>           Are there any influential theories or studies that changed the direction of the field?</a:t>
                      </a:r>
                    </a:p>
                    <a:p>
                      <a:pPr marL="0" indent="0">
                        <a:buFont typeface="Wingdings" panose="05000000000000000000" pitchFamily="2" charset="2"/>
                        <a:buNone/>
                      </a:pPr>
                      <a:endParaRPr lang="en-US" sz="1800" b="0" dirty="0"/>
                    </a:p>
                    <a:p>
                      <a:pPr marL="285750" indent="-285750">
                        <a:buFont typeface="Wingdings" panose="05000000000000000000" pitchFamily="2" charset="2"/>
                        <a:buChar char="v"/>
                      </a:pPr>
                      <a:r>
                        <a:rPr lang="en-US" sz="1800" b="1" dirty="0"/>
                        <a:t>Gaps:</a:t>
                      </a:r>
                      <a:r>
                        <a:rPr lang="en-US" sz="1800" b="0" dirty="0"/>
                        <a:t> </a:t>
                      </a:r>
                    </a:p>
                    <a:p>
                      <a:pPr marL="0" indent="0">
                        <a:buFont typeface="Wingdings" panose="05000000000000000000" pitchFamily="2" charset="2"/>
                        <a:buNone/>
                      </a:pPr>
                      <a:r>
                        <a:rPr lang="en-US" sz="1800" b="0" dirty="0"/>
                        <a:t>           What is missing from the literature? Are there weaknesses that need to be addressed?</a:t>
                      </a:r>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2924200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1353800" cy="1244599"/>
          </a:xfrm>
        </p:spPr>
        <p:txBody>
          <a:bodyPr>
            <a:normAutofit fontScale="90000"/>
          </a:bodyPr>
          <a:lstStyle/>
          <a:p>
            <a:r>
              <a:rPr lang="en-US" b="1" dirty="0">
                <a:solidFill>
                  <a:srgbClr val="00B0F0"/>
                </a:solidFill>
              </a:rPr>
              <a:t>Step 3: Identify themes, debates, and gaps</a:t>
            </a:r>
            <a:br>
              <a:rPr lang="en-US" b="1" dirty="0">
                <a:solidFill>
                  <a:srgbClr val="00B0F0"/>
                </a:solidFill>
              </a:rPr>
            </a:br>
            <a:endParaRPr lang="en-ZA" dirty="0">
              <a:solidFill>
                <a:srgbClr val="00B0F0"/>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746641056"/>
              </p:ext>
            </p:extLst>
          </p:nvPr>
        </p:nvGraphicFramePr>
        <p:xfrm>
          <a:off x="838200" y="1825625"/>
          <a:ext cx="10515600" cy="3291840"/>
        </p:xfrm>
        <a:graphic>
          <a:graphicData uri="http://schemas.openxmlformats.org/drawingml/2006/table">
            <a:tbl>
              <a:tblPr firstRow="1" bandRow="1">
                <a:tableStyleId>{ED083AE6-46FA-4A59-8FB0-9F97EB10719F}</a:tableStyleId>
              </a:tblPr>
              <a:tblGrid>
                <a:gridCol w="10515600">
                  <a:extLst>
                    <a:ext uri="{9D8B030D-6E8A-4147-A177-3AD203B41FA5}">
                      <a16:colId xmlns:a16="http://schemas.microsoft.com/office/drawing/2014/main" val="20000"/>
                    </a:ext>
                  </a:extLst>
                </a:gridCol>
              </a:tblGrid>
              <a:tr h="370840">
                <a:tc>
                  <a:txBody>
                    <a:bodyPr/>
                    <a:lstStyle/>
                    <a:p>
                      <a:r>
                        <a:rPr lang="en-US" sz="2400" b="0" dirty="0"/>
                        <a:t>Example of </a:t>
                      </a:r>
                      <a:r>
                        <a:rPr lang="en-US" sz="2400" dirty="0"/>
                        <a:t>trends and gaps:</a:t>
                      </a:r>
                    </a:p>
                    <a:p>
                      <a:endParaRPr lang="en-US" sz="2400" kern="1200" dirty="0">
                        <a:effectLst/>
                      </a:endParaRPr>
                    </a:p>
                    <a:p>
                      <a:r>
                        <a:rPr lang="en-US" sz="2400" b="0" u="sng" kern="1200" dirty="0">
                          <a:effectLst/>
                        </a:rPr>
                        <a:t>In reviewing the literature on social media and body image, you note that:</a:t>
                      </a:r>
                    </a:p>
                    <a:p>
                      <a:endParaRPr lang="en-US" sz="2400" b="0" kern="1200" dirty="0">
                        <a:effectLst/>
                      </a:endParaRPr>
                    </a:p>
                    <a:p>
                      <a:r>
                        <a:rPr lang="en-US" sz="2400" b="0" i="1" kern="1200" dirty="0">
                          <a:effectLst/>
                        </a:rPr>
                        <a:t>- Most research has focused on young women.</a:t>
                      </a:r>
                    </a:p>
                    <a:p>
                      <a:r>
                        <a:rPr lang="en-US" sz="2400" b="0" i="1" kern="1200" dirty="0">
                          <a:effectLst/>
                        </a:rPr>
                        <a:t>- There is an increasing interest in the visual aspects of social media.</a:t>
                      </a:r>
                    </a:p>
                    <a:p>
                      <a:r>
                        <a:rPr lang="en-US" sz="2400" b="0" i="1" kern="1200" dirty="0">
                          <a:effectLst/>
                        </a:rPr>
                        <a:t>- But there is still a lack of robust research on highly-visual platforms like </a:t>
                      </a:r>
                      <a:r>
                        <a:rPr lang="en-US" sz="2400" b="0" i="1" kern="1200" dirty="0" err="1">
                          <a:effectLst/>
                        </a:rPr>
                        <a:t>Instagram</a:t>
                      </a:r>
                      <a:r>
                        <a:rPr lang="en-US" sz="2400" b="0" i="1" kern="1200" dirty="0">
                          <a:effectLst/>
                        </a:rPr>
                        <a:t> and </a:t>
                      </a:r>
                      <a:r>
                        <a:rPr lang="en-US" sz="2400" b="0" i="1" kern="1200" dirty="0" err="1">
                          <a:effectLst/>
                        </a:rPr>
                        <a:t>Snapchat</a:t>
                      </a:r>
                      <a:r>
                        <a:rPr lang="en-US" sz="2400" b="0" i="1" kern="1200" dirty="0">
                          <a:effectLst/>
                        </a:rPr>
                        <a:t> – this is a gap that you could address in your own research.</a:t>
                      </a:r>
                    </a:p>
                    <a:p>
                      <a:endParaRPr lang="en-ZA" i="1" dirty="0"/>
                    </a:p>
                  </a:txBody>
                  <a:tcPr>
                    <a:solidFill>
                      <a:schemeClr val="accent4">
                        <a:lumMod val="20000"/>
                        <a:lumOff val="80000"/>
                      </a:scheme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8149743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1353800" cy="1206499"/>
          </a:xfrm>
        </p:spPr>
        <p:txBody>
          <a:bodyPr>
            <a:normAutofit fontScale="90000"/>
          </a:bodyPr>
          <a:lstStyle/>
          <a:p>
            <a:r>
              <a:rPr lang="en-US" b="1" dirty="0">
                <a:solidFill>
                  <a:srgbClr val="CC0099"/>
                </a:solidFill>
              </a:rPr>
              <a:t>Step 4: Outline your literature review’s structure</a:t>
            </a:r>
            <a:br>
              <a:rPr lang="en-US" b="1" dirty="0">
                <a:solidFill>
                  <a:srgbClr val="CC0099"/>
                </a:solidFill>
              </a:rPr>
            </a:br>
            <a:endParaRPr lang="en-ZA" b="1" dirty="0">
              <a:solidFill>
                <a:srgbClr val="CC0099"/>
              </a:solidFill>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291190917"/>
              </p:ext>
            </p:extLst>
          </p:nvPr>
        </p:nvGraphicFramePr>
        <p:xfrm>
          <a:off x="838200" y="1206500"/>
          <a:ext cx="4597400" cy="5120640"/>
        </p:xfrm>
        <a:graphic>
          <a:graphicData uri="http://schemas.openxmlformats.org/drawingml/2006/table">
            <a:tbl>
              <a:tblPr firstRow="1" bandRow="1">
                <a:tableStyleId>{ED083AE6-46FA-4A59-8FB0-9F97EB10719F}</a:tableStyleId>
              </a:tblPr>
              <a:tblGrid>
                <a:gridCol w="4597400">
                  <a:extLst>
                    <a:ext uri="{9D8B030D-6E8A-4147-A177-3AD203B41FA5}">
                      <a16:colId xmlns:a16="http://schemas.microsoft.com/office/drawing/2014/main" val="20000"/>
                    </a:ext>
                  </a:extLst>
                </a:gridCol>
              </a:tblGrid>
              <a:tr h="370840">
                <a:tc>
                  <a:txBody>
                    <a:bodyPr/>
                    <a:lstStyle/>
                    <a:p>
                      <a:pPr marL="342900" indent="-342900">
                        <a:buFont typeface="Arial" panose="020B0604020202020204" pitchFamily="34" charset="0"/>
                        <a:buChar char="•"/>
                      </a:pPr>
                      <a:r>
                        <a:rPr lang="en-US" sz="2400" b="0" dirty="0"/>
                        <a:t>There are various approaches to organizing the </a:t>
                      </a:r>
                      <a:r>
                        <a:rPr lang="en-US" sz="2400" b="1" dirty="0"/>
                        <a:t>BODY</a:t>
                      </a:r>
                      <a:r>
                        <a:rPr lang="en-US" sz="2400" b="0" dirty="0"/>
                        <a:t> of a literature review. You should have a rough idea of your strategy before you start writing.</a:t>
                      </a:r>
                    </a:p>
                    <a:p>
                      <a:endParaRPr lang="en-US" sz="2400" b="0" dirty="0"/>
                    </a:p>
                    <a:p>
                      <a:pPr marL="342900" indent="-342900">
                        <a:buFont typeface="Arial" panose="020B0604020202020204" pitchFamily="34" charset="0"/>
                        <a:buChar char="•"/>
                      </a:pPr>
                      <a:r>
                        <a:rPr lang="en-US" sz="2400" b="0" dirty="0"/>
                        <a:t>Depending on the length of your literature review, you can combine several of the following strategies (for example, your overall structure might be thematic, but each theme is discussed chronologically).</a:t>
                      </a:r>
                    </a:p>
                    <a:p>
                      <a:endParaRPr lang="en-ZA" dirty="0"/>
                    </a:p>
                  </a:txBody>
                  <a:tcPr/>
                </a:tc>
                <a:extLst>
                  <a:ext uri="{0D108BD9-81ED-4DB2-BD59-A6C34878D82A}">
                    <a16:rowId xmlns:a16="http://schemas.microsoft.com/office/drawing/2014/main" val="10000"/>
                  </a:ext>
                </a:extLst>
              </a:tr>
            </a:tbl>
          </a:graphicData>
        </a:graphic>
      </p:graphicFrame>
      <p:graphicFrame>
        <p:nvGraphicFramePr>
          <p:cNvPr id="8" name="Diagram 7"/>
          <p:cNvGraphicFramePr/>
          <p:nvPr>
            <p:extLst>
              <p:ext uri="{D42A27DB-BD31-4B8C-83A1-F6EECF244321}">
                <p14:modId xmlns:p14="http://schemas.microsoft.com/office/powerpoint/2010/main" val="4073262670"/>
              </p:ext>
            </p:extLst>
          </p:nvPr>
        </p:nvGraphicFramePr>
        <p:xfrm>
          <a:off x="6591300" y="1219200"/>
          <a:ext cx="4368800" cy="49318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627533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700" y="152401"/>
            <a:ext cx="11214100" cy="1003300"/>
          </a:xfrm>
        </p:spPr>
        <p:txBody>
          <a:bodyPr>
            <a:normAutofit fontScale="90000"/>
          </a:bodyPr>
          <a:lstStyle/>
          <a:p>
            <a:r>
              <a:rPr lang="en-US" b="1" dirty="0">
                <a:solidFill>
                  <a:srgbClr val="CC0099"/>
                </a:solidFill>
              </a:rPr>
              <a:t>Step 4: Outline your literature review’s structure</a:t>
            </a:r>
            <a:br>
              <a:rPr lang="en-US" b="1" dirty="0">
                <a:solidFill>
                  <a:srgbClr val="CC0099"/>
                </a:solidFill>
              </a:rPr>
            </a:br>
            <a:endParaRPr lang="en-ZA" dirty="0">
              <a:solidFill>
                <a:srgbClr val="CC0099"/>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20581889"/>
              </p:ext>
            </p:extLst>
          </p:nvPr>
        </p:nvGraphicFramePr>
        <p:xfrm>
          <a:off x="660400" y="974725"/>
          <a:ext cx="11252200" cy="5421068"/>
        </p:xfrm>
        <a:graphic>
          <a:graphicData uri="http://schemas.openxmlformats.org/drawingml/2006/table">
            <a:tbl>
              <a:tblPr firstRow="1" bandRow="1">
                <a:tableStyleId>{00A15C55-8517-42AA-B614-E9B94910E393}</a:tableStyleId>
              </a:tblPr>
              <a:tblGrid>
                <a:gridCol w="11252200">
                  <a:extLst>
                    <a:ext uri="{9D8B030D-6E8A-4147-A177-3AD203B41FA5}">
                      <a16:colId xmlns:a16="http://schemas.microsoft.com/office/drawing/2014/main" val="20000"/>
                    </a:ext>
                  </a:extLst>
                </a:gridCol>
              </a:tblGrid>
              <a:tr h="516611">
                <a:tc>
                  <a:txBody>
                    <a:bodyPr/>
                    <a:lstStyle/>
                    <a:p>
                      <a:r>
                        <a:rPr lang="en-ZA" sz="2800" dirty="0"/>
                        <a:t>Chronological</a:t>
                      </a:r>
                    </a:p>
                  </a:txBody>
                  <a:tcPr/>
                </a:tc>
                <a:extLst>
                  <a:ext uri="{0D108BD9-81ED-4DB2-BD59-A6C34878D82A}">
                    <a16:rowId xmlns:a16="http://schemas.microsoft.com/office/drawing/2014/main" val="10000"/>
                  </a:ext>
                </a:extLst>
              </a:tr>
              <a:tr h="3184097">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2000" dirty="0"/>
                        <a:t>With this method, you can group material according to </a:t>
                      </a:r>
                      <a:r>
                        <a:rPr lang="en-ZA" sz="2000" b="1" dirty="0"/>
                        <a:t>when</a:t>
                      </a:r>
                      <a:r>
                        <a:rPr lang="en-ZA" sz="2000" dirty="0"/>
                        <a:t> it was published or the time period the material addresses. </a:t>
                      </a:r>
                    </a:p>
                    <a:p>
                      <a:pPr marL="285750" indent="-285750">
                        <a:buFont typeface="Arial" panose="020B0604020202020204" pitchFamily="34" charset="0"/>
                        <a:buChar char="•"/>
                      </a:pPr>
                      <a:endParaRPr lang="en-US" sz="2000" kern="1200" dirty="0">
                        <a:effectLst/>
                      </a:endParaRPr>
                    </a:p>
                    <a:p>
                      <a:pPr marL="285750" indent="-285750">
                        <a:buFont typeface="Arial" panose="020B0604020202020204" pitchFamily="34" charset="0"/>
                        <a:buChar char="•"/>
                      </a:pPr>
                      <a:r>
                        <a:rPr lang="en-US" sz="2000" kern="1200" dirty="0">
                          <a:effectLst/>
                        </a:rPr>
                        <a:t>The simplest approach is to trace the development of the topic over time. However, if you choose this strategy, be careful to </a:t>
                      </a:r>
                      <a:r>
                        <a:rPr lang="en-US" sz="2000" b="1" kern="1200" dirty="0">
                          <a:effectLst/>
                        </a:rPr>
                        <a:t>avoid simply listing and summarizing sources in order.</a:t>
                      </a:r>
                    </a:p>
                    <a:p>
                      <a:pPr marL="285750" indent="-285750">
                        <a:buFont typeface="Arial" panose="020B0604020202020204" pitchFamily="34" charset="0"/>
                        <a:buChar char="•"/>
                      </a:pPr>
                      <a:endParaRPr lang="en-US" sz="2000" b="1" kern="1200" dirty="0">
                        <a:effectLst/>
                      </a:endParaRPr>
                    </a:p>
                    <a:p>
                      <a:pPr marL="285750" indent="-285750">
                        <a:buFont typeface="Arial" panose="020B0604020202020204" pitchFamily="34" charset="0"/>
                        <a:buChar char="•"/>
                      </a:pPr>
                      <a:r>
                        <a:rPr lang="en-US" sz="2000" kern="1200" dirty="0">
                          <a:effectLst/>
                        </a:rPr>
                        <a:t>Try to analyze patterns, turning points and key debates that have shaped the direction of the field. Give your interpretation of how and why certain developments occurred.</a:t>
                      </a:r>
                    </a:p>
                    <a:p>
                      <a:pPr marL="285750" indent="-285750">
                        <a:buFont typeface="Arial" panose="020B0604020202020204" pitchFamily="34" charset="0"/>
                        <a:buChar char="•"/>
                      </a:pPr>
                      <a:endParaRPr lang="en-US" sz="2000" kern="1200" dirty="0">
                        <a:effectLst/>
                      </a:endParaRP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2000" dirty="0"/>
                        <a:t>This method works well in essays that trace the evolution of a certain theme or idea over time, but can be less coherent in other contexts. </a:t>
                      </a:r>
                    </a:p>
                  </a:txBody>
                  <a:tcPr/>
                </a:tc>
                <a:extLst>
                  <a:ext uri="{0D108BD9-81ED-4DB2-BD59-A6C34878D82A}">
                    <a16:rowId xmlns:a16="http://schemas.microsoft.com/office/drawing/2014/main" val="10001"/>
                  </a:ext>
                </a:extLst>
              </a:tr>
              <a:tr h="1458668">
                <a:tc>
                  <a:txBody>
                    <a:bodyPr/>
                    <a:lstStyle/>
                    <a:p>
                      <a:pPr marL="0" indent="0">
                        <a:buNone/>
                      </a:pPr>
                      <a:r>
                        <a:rPr lang="en-ZA" sz="2000" b="1" u="sng" dirty="0"/>
                        <a:t>For example:</a:t>
                      </a:r>
                    </a:p>
                    <a:p>
                      <a:pPr marL="0" indent="0">
                        <a:buNone/>
                      </a:pPr>
                      <a:r>
                        <a:rPr lang="en-ZA" sz="2000" dirty="0"/>
                        <a:t> For a literature review about post-1965 immigration to</a:t>
                      </a:r>
                      <a:r>
                        <a:rPr lang="en-ZA" sz="2000" baseline="0" dirty="0"/>
                        <a:t> </a:t>
                      </a:r>
                      <a:r>
                        <a:rPr lang="en-ZA" sz="2000" dirty="0"/>
                        <a:t>New York City, you might group the material that addresses the 1960s and 1970s in one section, and the 1980s and 1990s in another etcetera. </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6371534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 y="127001"/>
            <a:ext cx="11239500" cy="1066799"/>
          </a:xfrm>
        </p:spPr>
        <p:txBody>
          <a:bodyPr>
            <a:normAutofit fontScale="90000"/>
          </a:bodyPr>
          <a:lstStyle/>
          <a:p>
            <a:r>
              <a:rPr lang="en-US" b="1" dirty="0">
                <a:solidFill>
                  <a:srgbClr val="CC0099"/>
                </a:solidFill>
              </a:rPr>
              <a:t>Step 4: Outline your literature review’s structure</a:t>
            </a:r>
            <a:br>
              <a:rPr lang="en-US" b="1" dirty="0">
                <a:solidFill>
                  <a:srgbClr val="CC0099"/>
                </a:solidFill>
              </a:rPr>
            </a:br>
            <a:endParaRPr lang="en-ZA" dirty="0">
              <a:solidFill>
                <a:srgbClr val="CC0099"/>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534789957"/>
              </p:ext>
            </p:extLst>
          </p:nvPr>
        </p:nvGraphicFramePr>
        <p:xfrm>
          <a:off x="838200" y="1193800"/>
          <a:ext cx="10515600" cy="5029200"/>
        </p:xfrm>
        <a:graphic>
          <a:graphicData uri="http://schemas.openxmlformats.org/drawingml/2006/table">
            <a:tbl>
              <a:tblPr firstRow="1" bandRow="1">
                <a:tableStyleId>{10A1B5D5-9B99-4C35-A422-299274C87663}</a:tableStyleId>
              </a:tblPr>
              <a:tblGrid>
                <a:gridCol w="10515600">
                  <a:extLst>
                    <a:ext uri="{9D8B030D-6E8A-4147-A177-3AD203B41FA5}">
                      <a16:colId xmlns:a16="http://schemas.microsoft.com/office/drawing/2014/main" val="20000"/>
                    </a:ext>
                  </a:extLst>
                </a:gridCol>
              </a:tblGrid>
              <a:tr h="0">
                <a:tc>
                  <a:txBody>
                    <a:bodyPr/>
                    <a:lstStyle/>
                    <a:p>
                      <a:r>
                        <a:rPr lang="en-ZA" sz="3200" dirty="0"/>
                        <a:t>Thematic</a:t>
                      </a:r>
                    </a:p>
                  </a:txBody>
                  <a:tcPr/>
                </a:tc>
                <a:extLst>
                  <a:ext uri="{0D108BD9-81ED-4DB2-BD59-A6C34878D82A}">
                    <a16:rowId xmlns:a16="http://schemas.microsoft.com/office/drawing/2014/main" val="10000"/>
                  </a:ext>
                </a:extLst>
              </a:tr>
              <a:tr h="370840">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2000" dirty="0"/>
                        <a:t>In this approach, sections might be organized around particular subthemes within the essay’s topic. </a:t>
                      </a:r>
                    </a:p>
                    <a:p>
                      <a:pPr marL="285750" indent="-285750">
                        <a:buFont typeface="Arial" panose="020B0604020202020204" pitchFamily="34" charset="0"/>
                        <a:buChar char="•"/>
                      </a:pPr>
                      <a:endParaRPr lang="en-US" sz="2000" kern="1200" dirty="0">
                        <a:effectLst/>
                      </a:endParaRPr>
                    </a:p>
                    <a:p>
                      <a:pPr marL="285750" indent="-285750">
                        <a:buFont typeface="Arial" panose="020B0604020202020204" pitchFamily="34" charset="0"/>
                        <a:buChar char="•"/>
                      </a:pPr>
                      <a:r>
                        <a:rPr lang="en-US" sz="2000" kern="1200" dirty="0">
                          <a:effectLst/>
                        </a:rPr>
                        <a:t>If you have found some recurring central themes, you can organize your literature review into subsections that address different aspects of the topic.</a:t>
                      </a:r>
                      <a:endParaRPr lang="en-ZA" sz="2000" dirty="0"/>
                    </a:p>
                  </a:txBody>
                  <a:tcPr/>
                </a:tc>
                <a:extLst>
                  <a:ext uri="{0D108BD9-81ED-4DB2-BD59-A6C34878D82A}">
                    <a16:rowId xmlns:a16="http://schemas.microsoft.com/office/drawing/2014/main" val="10001"/>
                  </a:ext>
                </a:extLst>
              </a:tr>
              <a:tr h="370840">
                <a:tc>
                  <a:txBody>
                    <a:bodyPr/>
                    <a:lstStyle/>
                    <a:p>
                      <a:r>
                        <a:rPr lang="en-US" sz="2000" u="sng" kern="1200" dirty="0">
                          <a:effectLst/>
                        </a:rPr>
                        <a:t>For example:</a:t>
                      </a:r>
                    </a:p>
                    <a:p>
                      <a:pPr marL="0" indent="0">
                        <a:buNone/>
                      </a:pPr>
                      <a:r>
                        <a:rPr lang="en-ZA" sz="2000" dirty="0"/>
                        <a:t>For the post-1965 immigration essay mentioned above, you might organize separate sections</a:t>
                      </a:r>
                    </a:p>
                    <a:p>
                      <a:pPr marL="0" indent="0">
                        <a:buNone/>
                      </a:pPr>
                      <a:r>
                        <a:rPr lang="en-ZA" sz="2000" dirty="0"/>
                        <a:t>on literature dealing with different nationalities: Italians, Irish, Mexicans, etcetera. </a:t>
                      </a:r>
                    </a:p>
                    <a:p>
                      <a:pPr marL="0" indent="0">
                        <a:buNone/>
                      </a:pPr>
                      <a:endParaRPr lang="en-ZA" sz="2000" dirty="0"/>
                    </a:p>
                    <a:p>
                      <a:pPr marL="0" indent="0">
                        <a:buNone/>
                      </a:pPr>
                      <a:r>
                        <a:rPr lang="en-ZA" sz="2000" u="sng" dirty="0"/>
                        <a:t>Another</a:t>
                      </a:r>
                      <a:r>
                        <a:rPr lang="en-ZA" sz="2000" u="sng" baseline="0" dirty="0"/>
                        <a:t> example:</a:t>
                      </a:r>
                      <a:endParaRPr lang="en-US" sz="2000" u="sng" kern="1200" dirty="0">
                        <a:effectLst/>
                      </a:endParaRPr>
                    </a:p>
                    <a:p>
                      <a:r>
                        <a:rPr lang="en-US" sz="2000" kern="1200" dirty="0">
                          <a:effectLst/>
                        </a:rPr>
                        <a:t> If you are reviewing literature about inequalities in migrant health outcomes, key themes might include healthcare policy, language barriers, cultural attitudes, legal status, and economic access.</a:t>
                      </a:r>
                    </a:p>
                    <a:p>
                      <a:pPr marL="0" indent="0">
                        <a:buNone/>
                      </a:pPr>
                      <a:endParaRPr lang="en-ZA" sz="2000" dirty="0"/>
                    </a:p>
                    <a:p>
                      <a:endParaRPr lang="en-ZA" sz="2000"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755570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700" y="88901"/>
            <a:ext cx="11214100" cy="1041399"/>
          </a:xfrm>
        </p:spPr>
        <p:txBody>
          <a:bodyPr>
            <a:normAutofit fontScale="90000"/>
          </a:bodyPr>
          <a:lstStyle/>
          <a:p>
            <a:r>
              <a:rPr lang="en-US" b="1" dirty="0">
                <a:solidFill>
                  <a:srgbClr val="CC0099"/>
                </a:solidFill>
              </a:rPr>
              <a:t>Step 4: Outline your literature review’s structure</a:t>
            </a:r>
            <a:br>
              <a:rPr lang="en-US" b="1" dirty="0">
                <a:solidFill>
                  <a:srgbClr val="CC0099"/>
                </a:solidFill>
              </a:rPr>
            </a:br>
            <a:endParaRPr lang="en-ZA" dirty="0">
              <a:solidFill>
                <a:srgbClr val="CC0099"/>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02642599"/>
              </p:ext>
            </p:extLst>
          </p:nvPr>
        </p:nvGraphicFramePr>
        <p:xfrm>
          <a:off x="838200" y="1130300"/>
          <a:ext cx="10515600" cy="4968240"/>
        </p:xfrm>
        <a:graphic>
          <a:graphicData uri="http://schemas.openxmlformats.org/drawingml/2006/table">
            <a:tbl>
              <a:tblPr firstRow="1" bandRow="1">
                <a:tableStyleId>{B301B821-A1FF-4177-AEE7-76D212191A09}</a:tableStyleId>
              </a:tblPr>
              <a:tblGrid>
                <a:gridCol w="10515600">
                  <a:extLst>
                    <a:ext uri="{9D8B030D-6E8A-4147-A177-3AD203B41FA5}">
                      <a16:colId xmlns:a16="http://schemas.microsoft.com/office/drawing/2014/main" val="20000"/>
                    </a:ext>
                  </a:extLst>
                </a:gridCol>
              </a:tblGrid>
              <a:tr h="370840">
                <a:tc>
                  <a:txBody>
                    <a:bodyPr/>
                    <a:lstStyle/>
                    <a:p>
                      <a:r>
                        <a:rPr lang="en-ZA" sz="2800" dirty="0"/>
                        <a:t>Methodological</a:t>
                      </a:r>
                    </a:p>
                  </a:txBody>
                  <a:tcPr/>
                </a:tc>
                <a:extLst>
                  <a:ext uri="{0D108BD9-81ED-4DB2-BD59-A6C34878D82A}">
                    <a16:rowId xmlns:a16="http://schemas.microsoft.com/office/drawing/2014/main" val="10000"/>
                  </a:ext>
                </a:extLst>
              </a:tr>
              <a:tr h="370840">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2000" dirty="0"/>
                        <a:t>A methodological approach differs from the two above in that it does not focus so much on the content, but the “methods” of the researcher or writer.</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0" i="0" kern="1200" dirty="0">
                          <a:solidFill>
                            <a:schemeClr val="dk1"/>
                          </a:solidFill>
                          <a:effectLst/>
                          <a:latin typeface="+mn-lt"/>
                          <a:ea typeface="+mn-ea"/>
                          <a:cs typeface="+mn-cs"/>
                        </a:rPr>
                        <a:t>If you draw your sources from different disciplines or fields that use a variety of </a:t>
                      </a:r>
                      <a:r>
                        <a:rPr lang="en-US" sz="2000" b="1" i="0" u="none" strike="noStrike" kern="1200" dirty="0">
                          <a:solidFill>
                            <a:schemeClr val="dk1"/>
                          </a:solidFill>
                          <a:effectLst/>
                          <a:latin typeface="+mn-lt"/>
                          <a:ea typeface="+mn-ea"/>
                          <a:cs typeface="+mn-cs"/>
                          <a:hlinkClick r:id="rId2"/>
                        </a:rPr>
                        <a:t>research methods</a:t>
                      </a:r>
                      <a:r>
                        <a:rPr lang="en-US" sz="2000" b="0" i="0" kern="1200" dirty="0">
                          <a:solidFill>
                            <a:schemeClr val="dk1"/>
                          </a:solidFill>
                          <a:effectLst/>
                          <a:latin typeface="+mn-lt"/>
                          <a:ea typeface="+mn-ea"/>
                          <a:cs typeface="+mn-cs"/>
                        </a:rPr>
                        <a:t>, you might want to compare the results and conclusions that emerge from different approaches. </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0" i="0" u="sng" kern="1200" dirty="0">
                          <a:solidFill>
                            <a:schemeClr val="dk1"/>
                          </a:solidFill>
                          <a:effectLst/>
                          <a:latin typeface="+mn-lt"/>
                          <a:ea typeface="+mn-ea"/>
                          <a:cs typeface="+mn-cs"/>
                        </a:rPr>
                        <a:t>For example:</a:t>
                      </a:r>
                    </a:p>
                    <a:p>
                      <a:r>
                        <a:rPr lang="en-US" sz="2000" b="0" i="0" kern="1200" dirty="0">
                          <a:solidFill>
                            <a:schemeClr val="dk1"/>
                          </a:solidFill>
                          <a:effectLst/>
                          <a:latin typeface="+mn-lt"/>
                          <a:ea typeface="+mn-ea"/>
                          <a:cs typeface="+mn-cs"/>
                        </a:rPr>
                        <a:t>  - Look at what results have emerged in</a:t>
                      </a:r>
                      <a:r>
                        <a:rPr lang="en-US" sz="2000" b="0" i="0" u="none" strike="noStrike" kern="1200" dirty="0">
                          <a:solidFill>
                            <a:schemeClr val="dk1"/>
                          </a:solidFill>
                          <a:effectLst/>
                          <a:latin typeface="+mn-lt"/>
                          <a:ea typeface="+mn-ea"/>
                          <a:cs typeface="+mn-cs"/>
                        </a:rPr>
                        <a:t> qualitative versus quantitative research;</a:t>
                      </a:r>
                      <a:endParaRPr lang="en-US" sz="2000" b="0" i="0" kern="1200" dirty="0">
                        <a:solidFill>
                          <a:schemeClr val="dk1"/>
                        </a:solidFill>
                        <a:effectLst/>
                        <a:latin typeface="+mn-lt"/>
                        <a:ea typeface="+mn-ea"/>
                        <a:cs typeface="+mn-cs"/>
                      </a:endParaRPr>
                    </a:p>
                    <a:p>
                      <a:r>
                        <a:rPr lang="en-US" sz="2000" b="0" i="0" kern="1200" dirty="0">
                          <a:solidFill>
                            <a:schemeClr val="dk1"/>
                          </a:solidFill>
                          <a:effectLst/>
                          <a:latin typeface="+mn-lt"/>
                          <a:ea typeface="+mn-ea"/>
                          <a:cs typeface="+mn-cs"/>
                        </a:rPr>
                        <a:t> </a:t>
                      </a:r>
                      <a:r>
                        <a:rPr lang="en-US" sz="2000" b="0" i="0" kern="1200" baseline="0" dirty="0">
                          <a:solidFill>
                            <a:schemeClr val="dk1"/>
                          </a:solidFill>
                          <a:effectLst/>
                          <a:latin typeface="+mn-lt"/>
                          <a:ea typeface="+mn-ea"/>
                          <a:cs typeface="+mn-cs"/>
                        </a:rPr>
                        <a:t> - </a:t>
                      </a:r>
                      <a:r>
                        <a:rPr lang="en-US" sz="2000" b="0" i="0" kern="1200" dirty="0">
                          <a:solidFill>
                            <a:schemeClr val="dk1"/>
                          </a:solidFill>
                          <a:effectLst/>
                          <a:latin typeface="+mn-lt"/>
                          <a:ea typeface="+mn-ea"/>
                          <a:cs typeface="+mn-cs"/>
                        </a:rPr>
                        <a:t>Discuss how the topic has been approached by empirical versus theoretical scholarship;</a:t>
                      </a:r>
                    </a:p>
                    <a:p>
                      <a:r>
                        <a:rPr lang="en-US" sz="2000" b="0" i="0" kern="1200" dirty="0">
                          <a:solidFill>
                            <a:schemeClr val="dk1"/>
                          </a:solidFill>
                          <a:effectLst/>
                          <a:latin typeface="+mn-lt"/>
                          <a:ea typeface="+mn-ea"/>
                          <a:cs typeface="+mn-cs"/>
                        </a:rPr>
                        <a:t> </a:t>
                      </a:r>
                      <a:r>
                        <a:rPr lang="en-US" sz="2000" b="0" i="0" kern="1200" baseline="0" dirty="0">
                          <a:solidFill>
                            <a:schemeClr val="dk1"/>
                          </a:solidFill>
                          <a:effectLst/>
                          <a:latin typeface="+mn-lt"/>
                          <a:ea typeface="+mn-ea"/>
                          <a:cs typeface="+mn-cs"/>
                        </a:rPr>
                        <a:t> - </a:t>
                      </a:r>
                      <a:r>
                        <a:rPr lang="en-US" sz="2000" b="0" i="0" kern="1200" dirty="0">
                          <a:solidFill>
                            <a:schemeClr val="dk1"/>
                          </a:solidFill>
                          <a:effectLst/>
                          <a:latin typeface="+mn-lt"/>
                          <a:ea typeface="+mn-ea"/>
                          <a:cs typeface="+mn-cs"/>
                        </a:rPr>
                        <a:t>Divide the literature into sociological, historical, and cultural sources.</a:t>
                      </a:r>
                    </a:p>
                    <a:p>
                      <a:endParaRPr lang="en-ZA" sz="2000" dirty="0"/>
                    </a:p>
                  </a:txBody>
                  <a:tcPr/>
                </a:tc>
                <a:extLst>
                  <a:ext uri="{0D108BD9-81ED-4DB2-BD59-A6C34878D82A}">
                    <a16:rowId xmlns:a16="http://schemas.microsoft.com/office/drawing/2014/main" val="10001"/>
                  </a:ext>
                </a:extLst>
              </a:tr>
              <a:tr h="370840">
                <a:tc>
                  <a:txBody>
                    <a:bodyPr/>
                    <a:lstStyle/>
                    <a:p>
                      <a:pPr marL="0" indent="0">
                        <a:buNone/>
                      </a:pPr>
                      <a:r>
                        <a:rPr lang="en-ZA" sz="2000" b="1" i="0" u="sng" dirty="0"/>
                        <a:t>For example:</a:t>
                      </a:r>
                    </a:p>
                    <a:p>
                      <a:pPr marL="0" indent="0">
                        <a:buNone/>
                      </a:pPr>
                      <a:r>
                        <a:rPr lang="en-ZA" sz="2000" dirty="0"/>
                        <a:t>In the previous example, authors who interpret demographic data from the census might be put in one group, while another group might be formed around work that uses </a:t>
                      </a:r>
                      <a:r>
                        <a:rPr lang="en-ZA" sz="2000" b="1" dirty="0"/>
                        <a:t>ethnographic</a:t>
                      </a:r>
                      <a:r>
                        <a:rPr lang="en-ZA" sz="2000" dirty="0"/>
                        <a:t> approaches. </a:t>
                      </a:r>
                    </a:p>
                    <a:p>
                      <a:endParaRPr lang="en-ZA" sz="2000"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7233152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1353800" cy="1193799"/>
          </a:xfrm>
        </p:spPr>
        <p:txBody>
          <a:bodyPr>
            <a:normAutofit fontScale="90000"/>
          </a:bodyPr>
          <a:lstStyle/>
          <a:p>
            <a:r>
              <a:rPr lang="en-US" b="1" dirty="0">
                <a:solidFill>
                  <a:srgbClr val="CC0099"/>
                </a:solidFill>
              </a:rPr>
              <a:t>Step 4: Outline your literature review’s structure</a:t>
            </a:r>
            <a:br>
              <a:rPr lang="en-US" b="1" dirty="0">
                <a:solidFill>
                  <a:srgbClr val="CC0099"/>
                </a:solidFill>
              </a:rPr>
            </a:br>
            <a:endParaRPr lang="en-ZA" dirty="0">
              <a:solidFill>
                <a:srgbClr val="CC0099"/>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68294912"/>
              </p:ext>
            </p:extLst>
          </p:nvPr>
        </p:nvGraphicFramePr>
        <p:xfrm>
          <a:off x="838200" y="812800"/>
          <a:ext cx="10515600" cy="2667000"/>
        </p:xfrm>
        <a:graphic>
          <a:graphicData uri="http://schemas.openxmlformats.org/drawingml/2006/table">
            <a:tbl>
              <a:tblPr firstRow="1" bandRow="1">
                <a:tableStyleId>{073A0DAA-6AF3-43AB-8588-CEC1D06C72B9}</a:tableStyleId>
              </a:tblPr>
              <a:tblGrid>
                <a:gridCol w="10515600">
                  <a:extLst>
                    <a:ext uri="{9D8B030D-6E8A-4147-A177-3AD203B41FA5}">
                      <a16:colId xmlns:a16="http://schemas.microsoft.com/office/drawing/2014/main" val="20000"/>
                    </a:ext>
                  </a:extLst>
                </a:gridCol>
              </a:tblGrid>
              <a:tr h="558800">
                <a:tc>
                  <a:txBody>
                    <a:bodyPr/>
                    <a:lstStyle/>
                    <a:p>
                      <a:r>
                        <a:rPr lang="en-ZA" sz="2800" dirty="0"/>
                        <a:t>Theoretical</a:t>
                      </a:r>
                    </a:p>
                  </a:txBody>
                  <a:tcPr/>
                </a:tc>
                <a:extLst>
                  <a:ext uri="{0D108BD9-81ED-4DB2-BD59-A6C34878D82A}">
                    <a16:rowId xmlns:a16="http://schemas.microsoft.com/office/drawing/2014/main" val="10000"/>
                  </a:ext>
                </a:extLst>
              </a:tr>
              <a:tr h="370840">
                <a:tc>
                  <a:txBody>
                    <a:bodyPr/>
                    <a:lstStyle/>
                    <a:p>
                      <a:pPr marL="285750" indent="-285750">
                        <a:buFont typeface="Arial" panose="020B0604020202020204" pitchFamily="34" charset="0"/>
                        <a:buChar char="•"/>
                      </a:pPr>
                      <a:r>
                        <a:rPr lang="en-US" sz="1800" kern="1200" dirty="0">
                          <a:effectLst/>
                        </a:rPr>
                        <a:t>A literature review is often the foundation for a </a:t>
                      </a:r>
                      <a:r>
                        <a:rPr lang="en-US" sz="1800" u="none" strike="noStrike" kern="1200" dirty="0">
                          <a:effectLst/>
                          <a:hlinkClick r:id="rId2"/>
                        </a:rPr>
                        <a:t>theoretical framework</a:t>
                      </a:r>
                      <a:r>
                        <a:rPr lang="en-US" sz="1800" kern="1200" dirty="0">
                          <a:effectLst/>
                        </a:rPr>
                        <a:t>. You can use it to discuss various theories, models, and definitions of key concepts.</a:t>
                      </a:r>
                    </a:p>
                    <a:p>
                      <a:pPr marL="0" indent="0">
                        <a:buFont typeface="Arial" panose="020B0604020202020204" pitchFamily="34" charset="0"/>
                        <a:buNone/>
                      </a:pPr>
                      <a:endParaRPr lang="en-US" sz="1800" kern="1200" dirty="0">
                        <a:effectLst/>
                      </a:endParaRPr>
                    </a:p>
                    <a:p>
                      <a:pPr marL="285750" indent="-285750">
                        <a:buFont typeface="Arial" panose="020B0604020202020204" pitchFamily="34" charset="0"/>
                        <a:buChar char="•"/>
                      </a:pPr>
                      <a:r>
                        <a:rPr lang="en-US" sz="1800" kern="1200" dirty="0">
                          <a:effectLst/>
                        </a:rPr>
                        <a:t>You might argue for the relevance of a specific theoretical approach, or combine various theoretical concepts to create a framework for your research.</a:t>
                      </a:r>
                    </a:p>
                    <a:p>
                      <a:endParaRPr lang="en-ZA" dirty="0"/>
                    </a:p>
                  </a:txBody>
                  <a:tcPr/>
                </a:tc>
                <a:extLst>
                  <a:ext uri="{0D108BD9-81ED-4DB2-BD59-A6C34878D82A}">
                    <a16:rowId xmlns:a16="http://schemas.microsoft.com/office/drawing/2014/main" val="10001"/>
                  </a:ext>
                </a:extLst>
              </a:tr>
              <a:tr h="370840">
                <a:tc>
                  <a:txBody>
                    <a:bodyPr/>
                    <a:lstStyle/>
                    <a:p>
                      <a:endParaRPr lang="en-ZA" dirty="0"/>
                    </a:p>
                  </a:txBody>
                  <a:tcPr/>
                </a:tc>
                <a:extLst>
                  <a:ext uri="{0D108BD9-81ED-4DB2-BD59-A6C34878D82A}">
                    <a16:rowId xmlns:a16="http://schemas.microsoft.com/office/drawing/2014/main" val="10002"/>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298558319"/>
              </p:ext>
            </p:extLst>
          </p:nvPr>
        </p:nvGraphicFramePr>
        <p:xfrm>
          <a:off x="787400" y="3640666"/>
          <a:ext cx="10566400" cy="3022600"/>
        </p:xfrm>
        <a:graphic>
          <a:graphicData uri="http://schemas.openxmlformats.org/drawingml/2006/table">
            <a:tbl>
              <a:tblPr firstRow="1" bandRow="1">
                <a:tableStyleId>{17292A2E-F333-43FB-9621-5CBBE7FDCDCB}</a:tableStyleId>
              </a:tblPr>
              <a:tblGrid>
                <a:gridCol w="3764280">
                  <a:extLst>
                    <a:ext uri="{9D8B030D-6E8A-4147-A177-3AD203B41FA5}">
                      <a16:colId xmlns:a16="http://schemas.microsoft.com/office/drawing/2014/main" val="20000"/>
                    </a:ext>
                  </a:extLst>
                </a:gridCol>
                <a:gridCol w="6802120">
                  <a:extLst>
                    <a:ext uri="{9D8B030D-6E8A-4147-A177-3AD203B41FA5}">
                      <a16:colId xmlns:a16="http://schemas.microsoft.com/office/drawing/2014/main" val="20001"/>
                    </a:ext>
                  </a:extLst>
                </a:gridCol>
              </a:tblGrid>
              <a:tr h="370840">
                <a:tc gridSpan="2">
                  <a:txBody>
                    <a:bodyPr/>
                    <a:lstStyle/>
                    <a:p>
                      <a:r>
                        <a:rPr lang="en-ZA" sz="2400" dirty="0"/>
                        <a:t>Some</a:t>
                      </a:r>
                      <a:r>
                        <a:rPr lang="en-ZA" sz="2400" baseline="0" dirty="0"/>
                        <a:t> other structures include:</a:t>
                      </a:r>
                      <a:endParaRPr lang="en-ZA" sz="2400" dirty="0"/>
                    </a:p>
                  </a:txBody>
                  <a:tcPr/>
                </a:tc>
                <a:tc hMerge="1">
                  <a:txBody>
                    <a:bodyPr/>
                    <a:lstStyle/>
                    <a:p>
                      <a:endParaRPr lang="en-ZA" dirty="0"/>
                    </a:p>
                  </a:txBody>
                  <a:tcPr/>
                </a:tc>
                <a:extLst>
                  <a:ext uri="{0D108BD9-81ED-4DB2-BD59-A6C34878D82A}">
                    <a16:rowId xmlns:a16="http://schemas.microsoft.com/office/drawing/2014/main" val="10000"/>
                  </a:ext>
                </a:extLst>
              </a:tr>
              <a:tr h="370840">
                <a:tc>
                  <a:txBody>
                    <a:bodyPr/>
                    <a:lstStyle/>
                    <a:p>
                      <a:r>
                        <a:rPr lang="en-ZA" b="1" dirty="0"/>
                        <a:t>By sector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ZA" dirty="0"/>
                        <a:t>For example, political background, practice background, methodological background, geographical background, literary background.</a:t>
                      </a:r>
                    </a:p>
                  </a:txBody>
                  <a:tcPr/>
                </a:tc>
                <a:extLst>
                  <a:ext uri="{0D108BD9-81ED-4DB2-BD59-A6C34878D82A}">
                    <a16:rowId xmlns:a16="http://schemas.microsoft.com/office/drawing/2014/main" val="10001"/>
                  </a:ext>
                </a:extLst>
              </a:tr>
              <a:tr h="370840">
                <a:tc>
                  <a:txBody>
                    <a:bodyPr/>
                    <a:lstStyle/>
                    <a:p>
                      <a:r>
                        <a:rPr lang="en-ZA" b="1" dirty="0"/>
                        <a:t>By development</a:t>
                      </a:r>
                      <a:r>
                        <a:rPr lang="en-ZA" b="1" baseline="0" dirty="0"/>
                        <a:t> of ideas</a:t>
                      </a:r>
                      <a:endParaRPr lang="en-ZA"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ZA" dirty="0"/>
                        <a:t>This could be useful if there are identifiable stages of idea development that can be looked at in turn.</a:t>
                      </a:r>
                    </a:p>
                  </a:txBody>
                  <a:tcPr/>
                </a:tc>
                <a:extLst>
                  <a:ext uri="{0D108BD9-81ED-4DB2-BD59-A6C34878D82A}">
                    <a16:rowId xmlns:a16="http://schemas.microsoft.com/office/drawing/2014/main" val="10002"/>
                  </a:ext>
                </a:extLst>
              </a:tr>
              <a:tr h="370840">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ZA" dirty="0"/>
                        <a:t>By some </a:t>
                      </a:r>
                      <a:r>
                        <a:rPr lang="en-ZA" b="1" dirty="0"/>
                        <a:t>combination</a:t>
                      </a:r>
                      <a:r>
                        <a:rPr lang="en-ZA" dirty="0"/>
                        <a:t> of any  of the afore-mentioned structures, or by another structure you create.</a:t>
                      </a:r>
                    </a:p>
                  </a:txBody>
                  <a:tcPr/>
                </a:tc>
                <a:tc hMerge="1">
                  <a:txBody>
                    <a:bodyPr/>
                    <a:lstStyle/>
                    <a:p>
                      <a:endParaRPr lang="en-ZA" dirty="0"/>
                    </a:p>
                  </a:txBody>
                  <a:tcPr/>
                </a:tc>
                <a:extLst>
                  <a:ext uri="{0D108BD9-81ED-4DB2-BD59-A6C34878D82A}">
                    <a16:rowId xmlns:a16="http://schemas.microsoft.com/office/drawing/2014/main" val="10003"/>
                  </a:ext>
                </a:extLst>
              </a:tr>
              <a:tr h="370840">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ZA" dirty="0"/>
                        <a:t>There are many possible structures, and you need to establish one that will best fit the ‘story’ you are telling of the </a:t>
                      </a:r>
                      <a:r>
                        <a:rPr lang="en-ZA" b="1" dirty="0"/>
                        <a:t>reason</a:t>
                      </a:r>
                      <a:r>
                        <a:rPr lang="en-ZA" dirty="0"/>
                        <a:t> for your study. </a:t>
                      </a:r>
                    </a:p>
                  </a:txBody>
                  <a:tcPr/>
                </a:tc>
                <a:tc hMerge="1">
                  <a:txBody>
                    <a:bodyPr/>
                    <a:lstStyle/>
                    <a:p>
                      <a:endParaRPr lang="en-ZA"/>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177921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6541"/>
            <a:ext cx="11528612" cy="848659"/>
          </a:xfrm>
        </p:spPr>
        <p:txBody>
          <a:bodyPr>
            <a:normAutofit fontScale="90000"/>
          </a:bodyPr>
          <a:lstStyle/>
          <a:p>
            <a:br>
              <a:rPr lang="en-US" b="1" dirty="0">
                <a:solidFill>
                  <a:srgbClr val="333399"/>
                </a:solidFill>
              </a:rPr>
            </a:br>
            <a:br>
              <a:rPr lang="en-US" b="1" dirty="0">
                <a:solidFill>
                  <a:srgbClr val="333399"/>
                </a:solidFill>
              </a:rPr>
            </a:br>
            <a:r>
              <a:rPr lang="en-US" b="1" dirty="0">
                <a:solidFill>
                  <a:srgbClr val="333399"/>
                </a:solidFill>
              </a:rPr>
              <a:t>Step 5: Write your literature review</a:t>
            </a:r>
            <a:br>
              <a:rPr lang="en-US" b="1" dirty="0">
                <a:solidFill>
                  <a:srgbClr val="333399"/>
                </a:solidFill>
              </a:rPr>
            </a:br>
            <a:br>
              <a:rPr lang="en-US" b="1" dirty="0">
                <a:solidFill>
                  <a:srgbClr val="333399"/>
                </a:solidFill>
              </a:rPr>
            </a:br>
            <a:endParaRPr lang="en-ZA" b="1" dirty="0">
              <a:solidFill>
                <a:srgbClr val="333399"/>
              </a:solidFill>
            </a:endParaRPr>
          </a:p>
        </p:txBody>
      </p:sp>
      <p:sp>
        <p:nvSpPr>
          <p:cNvPr id="3" name="Content Placeholder 2"/>
          <p:cNvSpPr>
            <a:spLocks noGrp="1"/>
          </p:cNvSpPr>
          <p:nvPr>
            <p:ph idx="1"/>
          </p:nvPr>
        </p:nvSpPr>
        <p:spPr>
          <a:xfrm>
            <a:off x="838200" y="842682"/>
            <a:ext cx="10985500" cy="5494618"/>
          </a:xfrm>
        </p:spPr>
        <p:txBody>
          <a:bodyPr>
            <a:normAutofit fontScale="92500" lnSpcReduction="10000"/>
          </a:bodyPr>
          <a:lstStyle/>
          <a:p>
            <a:r>
              <a:rPr lang="en-ZA" dirty="0"/>
              <a:t>Having a lot of literature to report on can feel overwhelming. It is important to keep the focus on your study, rather than on the literature (Wellington 2005). </a:t>
            </a:r>
          </a:p>
          <a:p>
            <a:pPr marL="0" indent="0">
              <a:buNone/>
            </a:pPr>
            <a:endParaRPr lang="en-ZA" dirty="0"/>
          </a:p>
          <a:p>
            <a:r>
              <a:rPr lang="en-ZA" dirty="0"/>
              <a:t>To help you do this, you will need to establish a structure to work to. A good, well-explained structure is a huge help to the reader. </a:t>
            </a:r>
          </a:p>
          <a:p>
            <a:endParaRPr lang="en-ZA" dirty="0"/>
          </a:p>
          <a:p>
            <a:r>
              <a:rPr lang="en-US" dirty="0"/>
              <a:t>A successful literature review, like any other </a:t>
            </a:r>
            <a:r>
              <a:rPr lang="en-US" dirty="0">
                <a:hlinkClick r:id="rId2"/>
              </a:rPr>
              <a:t>academic text</a:t>
            </a:r>
            <a:r>
              <a:rPr lang="en-US" dirty="0"/>
              <a:t>,  should have 3 parts that break down in the following way: </a:t>
            </a:r>
          </a:p>
          <a:p>
            <a:endParaRPr lang="en-US" dirty="0"/>
          </a:p>
          <a:p>
            <a:pPr marL="0" indent="0">
              <a:buNone/>
            </a:pPr>
            <a:endParaRPr lang="en-US" dirty="0"/>
          </a:p>
          <a:p>
            <a:pPr marL="0" indent="0">
              <a:buNone/>
            </a:pPr>
            <a:endParaRPr lang="en-US" dirty="0"/>
          </a:p>
          <a:p>
            <a:pPr marL="0" indent="0">
              <a:buNone/>
            </a:pPr>
            <a:endParaRPr lang="en-US" dirty="0"/>
          </a:p>
          <a:p>
            <a:r>
              <a:rPr lang="en-US" dirty="0"/>
              <a:t>What you include in each depends on the objective of your literature review.</a:t>
            </a:r>
            <a:endParaRPr lang="en-ZA" dirty="0"/>
          </a:p>
        </p:txBody>
      </p:sp>
      <p:graphicFrame>
        <p:nvGraphicFramePr>
          <p:cNvPr id="4" name="Table 3"/>
          <p:cNvGraphicFramePr>
            <a:graphicFrameLocks noGrp="1"/>
          </p:cNvGraphicFramePr>
          <p:nvPr>
            <p:extLst>
              <p:ext uri="{D42A27DB-BD31-4B8C-83A1-F6EECF244321}">
                <p14:modId xmlns:p14="http://schemas.microsoft.com/office/powerpoint/2010/main" val="2026129719"/>
              </p:ext>
            </p:extLst>
          </p:nvPr>
        </p:nvGraphicFramePr>
        <p:xfrm>
          <a:off x="4781550" y="4236323"/>
          <a:ext cx="2628900" cy="1371600"/>
        </p:xfrm>
        <a:graphic>
          <a:graphicData uri="http://schemas.openxmlformats.org/drawingml/2006/table">
            <a:tbl>
              <a:tblPr firstRow="1" bandRow="1">
                <a:tableStyleId>{ED083AE6-46FA-4A59-8FB0-9F97EB10719F}</a:tableStyleId>
              </a:tblPr>
              <a:tblGrid>
                <a:gridCol w="2628900">
                  <a:extLst>
                    <a:ext uri="{9D8B030D-6E8A-4147-A177-3AD203B41FA5}">
                      <a16:colId xmlns:a16="http://schemas.microsoft.com/office/drawing/2014/main" val="20000"/>
                    </a:ext>
                  </a:extLst>
                </a:gridCol>
              </a:tblGrid>
              <a:tr h="914648">
                <a:tc>
                  <a:txBody>
                    <a:bodyPr/>
                    <a:lstStyle/>
                    <a:p>
                      <a:r>
                        <a:rPr lang="en-ZA" sz="2800" dirty="0"/>
                        <a:t>1. Introduction</a:t>
                      </a:r>
                    </a:p>
                    <a:p>
                      <a:r>
                        <a:rPr lang="en-ZA" sz="2800" dirty="0"/>
                        <a:t>2. Main</a:t>
                      </a:r>
                      <a:r>
                        <a:rPr lang="en-ZA" sz="2800" baseline="0" dirty="0"/>
                        <a:t> body</a:t>
                      </a:r>
                    </a:p>
                    <a:p>
                      <a:r>
                        <a:rPr lang="en-ZA" sz="2800" baseline="0" dirty="0"/>
                        <a:t>3. Conclusion</a:t>
                      </a:r>
                      <a:endParaRPr lang="en-ZA" sz="2800" dirty="0"/>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42200098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4301"/>
            <a:ext cx="10515600" cy="1015999"/>
          </a:xfrm>
        </p:spPr>
        <p:txBody>
          <a:bodyPr>
            <a:normAutofit fontScale="90000"/>
          </a:bodyPr>
          <a:lstStyle/>
          <a:p>
            <a:br>
              <a:rPr lang="en-US" b="1" dirty="0">
                <a:solidFill>
                  <a:srgbClr val="333399"/>
                </a:solidFill>
              </a:rPr>
            </a:br>
            <a:br>
              <a:rPr lang="en-US" b="1" dirty="0">
                <a:solidFill>
                  <a:srgbClr val="333399"/>
                </a:solidFill>
              </a:rPr>
            </a:br>
            <a:r>
              <a:rPr lang="en-US" b="1" dirty="0">
                <a:solidFill>
                  <a:srgbClr val="333399"/>
                </a:solidFill>
              </a:rPr>
              <a:t>Step 5: Write your literature review</a:t>
            </a:r>
            <a:br>
              <a:rPr lang="en-US" b="1" dirty="0">
                <a:solidFill>
                  <a:srgbClr val="333399"/>
                </a:solidFill>
              </a:rPr>
            </a:br>
            <a:br>
              <a:rPr lang="en-US" b="1" dirty="0">
                <a:solidFill>
                  <a:srgbClr val="333399"/>
                </a:solidFill>
              </a:rPr>
            </a:br>
            <a:endParaRPr lang="en-ZA" dirty="0">
              <a:solidFill>
                <a:srgbClr val="333399"/>
              </a:solidFill>
            </a:endParaRPr>
          </a:p>
        </p:txBody>
      </p:sp>
      <p:sp>
        <p:nvSpPr>
          <p:cNvPr id="3" name="Content Placeholder 2"/>
          <p:cNvSpPr>
            <a:spLocks noGrp="1"/>
          </p:cNvSpPr>
          <p:nvPr>
            <p:ph idx="1"/>
          </p:nvPr>
        </p:nvSpPr>
        <p:spPr>
          <a:xfrm>
            <a:off x="838200" y="1130300"/>
            <a:ext cx="10515600" cy="5046663"/>
          </a:xfrm>
        </p:spPr>
        <p:txBody>
          <a:bodyPr>
            <a:normAutofit/>
          </a:bodyPr>
          <a:lstStyle/>
          <a:p>
            <a:pPr marL="0" indent="0">
              <a:buNone/>
            </a:pPr>
            <a:r>
              <a:rPr lang="en-ZA" b="1" u="sng" dirty="0"/>
              <a:t>INTRODUCTION</a:t>
            </a:r>
          </a:p>
          <a:p>
            <a:pPr marL="0" indent="0">
              <a:buNone/>
            </a:pPr>
            <a:r>
              <a:rPr lang="en-US" dirty="0"/>
              <a:t>The introduction should clearly establish the focus and purpose of the literature review. It should:</a:t>
            </a:r>
          </a:p>
          <a:p>
            <a:pPr marL="514350" indent="-514350">
              <a:buFont typeface="+mj-lt"/>
              <a:buAutoNum type="arabicPeriod"/>
            </a:pPr>
            <a:r>
              <a:rPr lang="en-ZA" dirty="0"/>
              <a:t>Define and identify the topic and establish the reason for the literature review.</a:t>
            </a:r>
          </a:p>
          <a:p>
            <a:pPr marL="514350" indent="-514350">
              <a:buFont typeface="+mj-lt"/>
              <a:buAutoNum type="arabicPeriod"/>
            </a:pPr>
            <a:endParaRPr lang="en-ZA" dirty="0"/>
          </a:p>
          <a:p>
            <a:pPr marL="514350" indent="-514350">
              <a:buFont typeface="+mj-lt"/>
              <a:buAutoNum type="arabicPeriod"/>
            </a:pPr>
            <a:r>
              <a:rPr lang="en-ZA" dirty="0"/>
              <a:t>Point to general trends in what has been published about the topic.</a:t>
            </a:r>
          </a:p>
          <a:p>
            <a:pPr marL="514350" indent="-514350">
              <a:buFont typeface="+mj-lt"/>
              <a:buAutoNum type="arabicPeriod"/>
            </a:pPr>
            <a:endParaRPr lang="en-ZA" dirty="0"/>
          </a:p>
          <a:p>
            <a:pPr marL="514350" indent="-514350">
              <a:buFont typeface="+mj-lt"/>
              <a:buAutoNum type="arabicPeriod"/>
            </a:pPr>
            <a:r>
              <a:rPr lang="en-ZA" dirty="0"/>
              <a:t>Explain the criteria used in analysing and comparing articles. </a:t>
            </a:r>
          </a:p>
          <a:p>
            <a:pPr marL="0" indent="0">
              <a:buNone/>
            </a:pPr>
            <a:endParaRPr lang="en-ZA" dirty="0"/>
          </a:p>
        </p:txBody>
      </p:sp>
    </p:spTree>
    <p:extLst>
      <p:ext uri="{BB962C8B-B14F-4D97-AF65-F5344CB8AC3E}">
        <p14:creationId xmlns:p14="http://schemas.microsoft.com/office/powerpoint/2010/main" val="26240056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114301"/>
            <a:ext cx="11087100" cy="1066799"/>
          </a:xfrm>
        </p:spPr>
        <p:txBody>
          <a:bodyPr/>
          <a:lstStyle/>
          <a:p>
            <a:r>
              <a:rPr lang="en-US" b="1" dirty="0">
                <a:solidFill>
                  <a:srgbClr val="333399"/>
                </a:solidFill>
              </a:rPr>
              <a:t>Step 5: Write your literature review</a:t>
            </a:r>
            <a:endParaRPr lang="en-ZA" dirty="0">
              <a:solidFill>
                <a:srgbClr val="333399"/>
              </a:solidFill>
            </a:endParaRPr>
          </a:p>
        </p:txBody>
      </p:sp>
      <p:sp>
        <p:nvSpPr>
          <p:cNvPr id="3" name="Content Placeholder 2"/>
          <p:cNvSpPr>
            <a:spLocks noGrp="1"/>
          </p:cNvSpPr>
          <p:nvPr>
            <p:ph idx="1"/>
          </p:nvPr>
        </p:nvSpPr>
        <p:spPr>
          <a:xfrm>
            <a:off x="838200" y="1295400"/>
            <a:ext cx="10515600" cy="4881563"/>
          </a:xfrm>
        </p:spPr>
        <p:txBody>
          <a:bodyPr/>
          <a:lstStyle/>
          <a:p>
            <a:pPr marL="0" indent="0">
              <a:buNone/>
            </a:pPr>
            <a:r>
              <a:rPr lang="en-ZA" b="1" u="sng" dirty="0"/>
              <a:t>INTRODUCTION</a:t>
            </a:r>
          </a:p>
          <a:p>
            <a:pPr marL="0" indent="0">
              <a:buNone/>
            </a:pPr>
            <a:endParaRPr lang="en-ZA" dirty="0"/>
          </a:p>
        </p:txBody>
      </p:sp>
      <p:graphicFrame>
        <p:nvGraphicFramePr>
          <p:cNvPr id="4" name="Table 3"/>
          <p:cNvGraphicFramePr>
            <a:graphicFrameLocks noGrp="1"/>
          </p:cNvGraphicFramePr>
          <p:nvPr>
            <p:extLst>
              <p:ext uri="{D42A27DB-BD31-4B8C-83A1-F6EECF244321}">
                <p14:modId xmlns:p14="http://schemas.microsoft.com/office/powerpoint/2010/main" val="4122161158"/>
              </p:ext>
            </p:extLst>
          </p:nvPr>
        </p:nvGraphicFramePr>
        <p:xfrm>
          <a:off x="1054100" y="2095500"/>
          <a:ext cx="9385300" cy="4138506"/>
        </p:xfrm>
        <a:graphic>
          <a:graphicData uri="http://schemas.openxmlformats.org/drawingml/2006/table">
            <a:tbl>
              <a:tblPr firstRow="1" bandRow="1">
                <a:tableStyleId>{ED083AE6-46FA-4A59-8FB0-9F97EB10719F}</a:tableStyleId>
              </a:tblPr>
              <a:tblGrid>
                <a:gridCol w="9385300">
                  <a:extLst>
                    <a:ext uri="{9D8B030D-6E8A-4147-A177-3AD203B41FA5}">
                      <a16:colId xmlns:a16="http://schemas.microsoft.com/office/drawing/2014/main" val="20000"/>
                    </a:ext>
                  </a:extLst>
                </a:gridCol>
              </a:tblGrid>
              <a:tr h="4138506">
                <a:tc>
                  <a:txBody>
                    <a:bodyPr/>
                    <a:lstStyle/>
                    <a:p>
                      <a:r>
                        <a:rPr lang="en-US" sz="2000" b="1" dirty="0"/>
                        <a:t>Dissertation literature review (as a</a:t>
                      </a:r>
                      <a:r>
                        <a:rPr lang="en-US" sz="2000" b="1" baseline="0" dirty="0"/>
                        <a:t> chapter)</a:t>
                      </a:r>
                      <a:endParaRPr lang="en-US" sz="2000" b="1" dirty="0"/>
                    </a:p>
                    <a:p>
                      <a:r>
                        <a:rPr lang="en-US" sz="2000" b="0" dirty="0"/>
                        <a:t>If you are writing the literature review as part of your dissertation or thesis, reiterate your central problem or research question and give a brief summary of the scholarly context. You can emphasize the timeliness of the topic (“many recent studies have focused on the problem of x”) or highlight a gap in the literature (“while there has been much research on x, few researchers have taken y into consideration”).</a:t>
                      </a:r>
                    </a:p>
                    <a:p>
                      <a:endParaRPr lang="en-US" sz="2000" b="0" dirty="0"/>
                    </a:p>
                    <a:p>
                      <a:r>
                        <a:rPr lang="en-US" sz="2000" b="1" dirty="0"/>
                        <a:t>Stand-alone literature review</a:t>
                      </a:r>
                    </a:p>
                    <a:p>
                      <a:r>
                        <a:rPr lang="en-US" sz="2000" b="0" dirty="0"/>
                        <a:t>If you are writing a stand-alone paper, give some background on the topic and its importance, discuss the scope of the literature you will review (for example, the time period of your sources), and state your objective. What new insight will you draw from the literature?</a:t>
                      </a:r>
                      <a:endParaRPr lang="en-ZA" sz="2000" b="0" dirty="0"/>
                    </a:p>
                  </a:txBody>
                  <a:tcPr>
                    <a:solidFill>
                      <a:schemeClr val="accent4">
                        <a:lumMod val="40000"/>
                        <a:lumOff val="60000"/>
                      </a:scheme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9914425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38545"/>
            <a:ext cx="11353800" cy="1080655"/>
          </a:xfrm>
        </p:spPr>
        <p:txBody>
          <a:bodyPr/>
          <a:lstStyle/>
          <a:p>
            <a:r>
              <a:rPr lang="en-US" b="1" dirty="0">
                <a:solidFill>
                  <a:srgbClr val="333399"/>
                </a:solidFill>
              </a:rPr>
              <a:t>Step 5: Write your literature review</a:t>
            </a:r>
            <a:endParaRPr lang="en-ZA" dirty="0">
              <a:solidFill>
                <a:srgbClr val="333399"/>
              </a:solidFill>
            </a:endParaRPr>
          </a:p>
        </p:txBody>
      </p:sp>
      <p:sp>
        <p:nvSpPr>
          <p:cNvPr id="3" name="Content Placeholder 2"/>
          <p:cNvSpPr>
            <a:spLocks noGrp="1"/>
          </p:cNvSpPr>
          <p:nvPr>
            <p:ph idx="1"/>
          </p:nvPr>
        </p:nvSpPr>
        <p:spPr>
          <a:xfrm>
            <a:off x="431800" y="1219200"/>
            <a:ext cx="10922000" cy="5880100"/>
          </a:xfrm>
        </p:spPr>
        <p:txBody>
          <a:bodyPr/>
          <a:lstStyle/>
          <a:p>
            <a:pPr marL="0" indent="0">
              <a:buNone/>
            </a:pPr>
            <a:r>
              <a:rPr lang="en-ZA" b="1" u="sng" dirty="0"/>
              <a:t>BODY</a:t>
            </a:r>
          </a:p>
          <a:p>
            <a:pPr marL="0" indent="0">
              <a:buNone/>
            </a:pPr>
            <a:r>
              <a:rPr lang="en-US" sz="2400" dirty="0"/>
              <a:t>Depending on the length of your literature review, you might want to divide the body into subsections. You can use a subheading for each theme, time period, or methodological approach.</a:t>
            </a:r>
          </a:p>
          <a:p>
            <a:pPr marL="0" indent="0">
              <a:buNone/>
            </a:pPr>
            <a:endParaRPr lang="en-ZA" sz="2400" b="1" u="sng" dirty="0"/>
          </a:p>
          <a:p>
            <a:pPr marL="0" indent="0">
              <a:buNone/>
            </a:pPr>
            <a:endParaRPr lang="en-ZA" b="1" u="sng" dirty="0"/>
          </a:p>
        </p:txBody>
      </p:sp>
      <p:graphicFrame>
        <p:nvGraphicFramePr>
          <p:cNvPr id="4" name="Table 3"/>
          <p:cNvGraphicFramePr>
            <a:graphicFrameLocks noGrp="1"/>
          </p:cNvGraphicFramePr>
          <p:nvPr>
            <p:extLst>
              <p:ext uri="{D42A27DB-BD31-4B8C-83A1-F6EECF244321}">
                <p14:modId xmlns:p14="http://schemas.microsoft.com/office/powerpoint/2010/main" val="6983544"/>
              </p:ext>
            </p:extLst>
          </p:nvPr>
        </p:nvGraphicFramePr>
        <p:xfrm>
          <a:off x="662708" y="3195781"/>
          <a:ext cx="9469583" cy="2916535"/>
        </p:xfrm>
        <a:graphic>
          <a:graphicData uri="http://schemas.openxmlformats.org/drawingml/2006/table">
            <a:tbl>
              <a:tblPr firstRow="1" bandRow="1">
                <a:tableStyleId>{ED083AE6-46FA-4A59-8FB0-9F97EB10719F}</a:tableStyleId>
              </a:tblPr>
              <a:tblGrid>
                <a:gridCol w="9469583">
                  <a:extLst>
                    <a:ext uri="{9D8B030D-6E8A-4147-A177-3AD203B41FA5}">
                      <a16:colId xmlns:a16="http://schemas.microsoft.com/office/drawing/2014/main" val="20000"/>
                    </a:ext>
                  </a:extLst>
                </a:gridCol>
              </a:tblGrid>
              <a:tr h="2916535">
                <a:tc>
                  <a:txBody>
                    <a:bodyPr/>
                    <a:lstStyle/>
                    <a:p>
                      <a:pPr marL="514350" indent="-514350">
                        <a:buFont typeface="+mj-lt"/>
                        <a:buAutoNum type="arabicPeriod"/>
                      </a:pPr>
                      <a:r>
                        <a:rPr lang="en-ZA" sz="2000" b="0" dirty="0"/>
                        <a:t>Groups articles into thematic clusters, or subtopics. Clusters may be grouped together chronologically, thematically, or methodologically (as</a:t>
                      </a:r>
                      <a:r>
                        <a:rPr lang="en-ZA" sz="2000" b="0" baseline="0" dirty="0"/>
                        <a:t> organised in Step 4</a:t>
                      </a:r>
                      <a:r>
                        <a:rPr lang="en-ZA" sz="2000" b="0" dirty="0"/>
                        <a:t>).</a:t>
                      </a:r>
                    </a:p>
                    <a:p>
                      <a:pPr marL="514350" indent="-514350">
                        <a:buFont typeface="+mj-lt"/>
                        <a:buAutoNum type="arabicPeriod"/>
                      </a:pPr>
                      <a:endParaRPr lang="en-ZA" sz="2000" b="0" dirty="0"/>
                    </a:p>
                    <a:p>
                      <a:pPr marL="514350" indent="-514350">
                        <a:buFont typeface="+mj-lt"/>
                        <a:buAutoNum type="arabicPeriod"/>
                      </a:pPr>
                      <a:r>
                        <a:rPr lang="en-ZA" sz="2000" b="0" dirty="0"/>
                        <a:t>Proceeds in a logical order from cluster to cluster.</a:t>
                      </a:r>
                    </a:p>
                    <a:p>
                      <a:pPr marL="514350" indent="-514350">
                        <a:buFont typeface="+mj-lt"/>
                        <a:buAutoNum type="arabicPeriod"/>
                      </a:pPr>
                      <a:endParaRPr lang="en-ZA" sz="2000" b="0" dirty="0"/>
                    </a:p>
                    <a:p>
                      <a:pPr marL="514350" indent="-514350">
                        <a:buFont typeface="+mj-lt"/>
                        <a:buAutoNum type="arabicPeriod"/>
                      </a:pPr>
                      <a:r>
                        <a:rPr lang="en-ZA" sz="2000" b="0" dirty="0"/>
                        <a:t>Emphasizes the main findings or arguments of the articles in</a:t>
                      </a:r>
                      <a:r>
                        <a:rPr lang="en-ZA" sz="2000" b="0" baseline="0" dirty="0"/>
                        <a:t> your</a:t>
                      </a:r>
                      <a:r>
                        <a:rPr lang="en-ZA" sz="2000" b="0" dirty="0"/>
                        <a:t> own words. DO NOT overuse quotations from sources (only use where necessary). </a:t>
                      </a:r>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0516604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600" y="1"/>
            <a:ext cx="11455400" cy="787399"/>
          </a:xfrm>
        </p:spPr>
        <p:txBody>
          <a:bodyPr/>
          <a:lstStyle/>
          <a:p>
            <a:r>
              <a:rPr lang="en-US" b="1" dirty="0">
                <a:solidFill>
                  <a:srgbClr val="333399"/>
                </a:solidFill>
              </a:rPr>
              <a:t>Step 5: Write your literature review</a:t>
            </a:r>
            <a:endParaRPr lang="en-ZA" dirty="0">
              <a:solidFill>
                <a:srgbClr val="333399"/>
              </a:solidFill>
            </a:endParaRPr>
          </a:p>
        </p:txBody>
      </p:sp>
      <p:sp>
        <p:nvSpPr>
          <p:cNvPr id="3" name="Content Placeholder 2"/>
          <p:cNvSpPr>
            <a:spLocks noGrp="1"/>
          </p:cNvSpPr>
          <p:nvPr>
            <p:ph idx="1"/>
          </p:nvPr>
        </p:nvSpPr>
        <p:spPr>
          <a:xfrm>
            <a:off x="279400" y="787400"/>
            <a:ext cx="11074400" cy="5389563"/>
          </a:xfrm>
        </p:spPr>
        <p:txBody>
          <a:bodyPr/>
          <a:lstStyle/>
          <a:p>
            <a:pPr marL="0" indent="0">
              <a:buNone/>
            </a:pPr>
            <a:r>
              <a:rPr lang="en-ZA" b="1" dirty="0"/>
              <a:t>BODY</a:t>
            </a:r>
          </a:p>
          <a:p>
            <a:pPr marL="0" indent="0">
              <a:buNone/>
            </a:pPr>
            <a:endParaRPr lang="en-ZA" dirty="0"/>
          </a:p>
        </p:txBody>
      </p:sp>
      <p:pic>
        <p:nvPicPr>
          <p:cNvPr id="5" name="Picture 4">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049318" y="1435101"/>
            <a:ext cx="7279409" cy="5173680"/>
          </a:xfrm>
          <a:prstGeom prst="rect">
            <a:avLst/>
          </a:prstGeom>
        </p:spPr>
      </p:pic>
    </p:spTree>
    <p:extLst>
      <p:ext uri="{BB962C8B-B14F-4D97-AF65-F5344CB8AC3E}">
        <p14:creationId xmlns:p14="http://schemas.microsoft.com/office/powerpoint/2010/main" val="8773109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838200" y="-45719"/>
            <a:ext cx="10515600" cy="392082"/>
          </a:xfrm>
        </p:spPr>
        <p:txBody>
          <a:bodyPr>
            <a:normAutofit fontScale="90000"/>
          </a:bodyPr>
          <a:lstStyle/>
          <a:p>
            <a:r>
              <a:rPr lang="en-ZA" dirty="0"/>
              <a:t>.</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4125626217"/>
              </p:ext>
            </p:extLst>
          </p:nvPr>
        </p:nvGraphicFramePr>
        <p:xfrm>
          <a:off x="0" y="138545"/>
          <a:ext cx="8298873" cy="6675120"/>
        </p:xfrm>
        <a:graphic>
          <a:graphicData uri="http://schemas.openxmlformats.org/drawingml/2006/table">
            <a:tbl>
              <a:tblPr firstRow="1" bandRow="1">
                <a:tableStyleId>{BDBED569-4797-4DF1-A0F4-6AAB3CD982D8}</a:tableStyleId>
              </a:tblPr>
              <a:tblGrid>
                <a:gridCol w="8298873">
                  <a:extLst>
                    <a:ext uri="{9D8B030D-6E8A-4147-A177-3AD203B41FA5}">
                      <a16:colId xmlns:a16="http://schemas.microsoft.com/office/drawing/2014/main" val="20000"/>
                    </a:ext>
                  </a:extLst>
                </a:gridCol>
              </a:tblGrid>
              <a:tr h="5942216">
                <a:tc>
                  <a:txBody>
                    <a:bodyPr/>
                    <a:lstStyle/>
                    <a:p>
                      <a:r>
                        <a:rPr lang="en-US" sz="1800" b="1" u="sng" dirty="0"/>
                        <a:t>Let’s unpack how</a:t>
                      </a:r>
                      <a:r>
                        <a:rPr lang="en-US" sz="1800" b="1" u="sng" baseline="0" dirty="0"/>
                        <a:t> the following paragraph has been formulated using a topic sentence, transition words, evidence, critical evaluation and theory: </a:t>
                      </a:r>
                    </a:p>
                    <a:p>
                      <a:pPr algn="just"/>
                      <a:r>
                        <a:rPr lang="en-US" sz="1800" b="0" dirty="0">
                          <a:solidFill>
                            <a:srgbClr val="7030A0"/>
                          </a:solidFill>
                        </a:rPr>
                        <a:t>Body image issues have been widely associated with social media usage, particularly in young women.</a:t>
                      </a:r>
                      <a:r>
                        <a:rPr lang="en-US" sz="1800" b="0" kern="1200" dirty="0">
                          <a:effectLst/>
                        </a:rPr>
                        <a:t> </a:t>
                      </a:r>
                      <a:r>
                        <a:rPr lang="en-US" sz="1800" b="0" dirty="0">
                          <a:solidFill>
                            <a:srgbClr val="0070C0"/>
                          </a:solidFill>
                        </a:rPr>
                        <a:t>The relation between media depictions and body image concerns is well-established; a meta-analysis by </a:t>
                      </a:r>
                      <a:r>
                        <a:rPr lang="en-US" sz="1800" b="0" dirty="0" err="1">
                          <a:solidFill>
                            <a:srgbClr val="0070C0"/>
                          </a:solidFill>
                        </a:rPr>
                        <a:t>Grabe</a:t>
                      </a:r>
                      <a:r>
                        <a:rPr lang="en-US" sz="1800" b="0" dirty="0">
                          <a:solidFill>
                            <a:srgbClr val="0070C0"/>
                          </a:solidFill>
                        </a:rPr>
                        <a:t>, Ward and Hyde (2008) concluded that exposure to mass media is linked to body image dissatisfaction among women.</a:t>
                      </a:r>
                      <a:r>
                        <a:rPr lang="en-US" sz="1800" b="0" kern="1200" dirty="0">
                          <a:effectLst/>
                        </a:rPr>
                        <a:t> </a:t>
                      </a:r>
                      <a:r>
                        <a:rPr lang="en-US" sz="1800" b="1" dirty="0">
                          <a:solidFill>
                            <a:schemeClr val="accent6"/>
                          </a:solidFill>
                        </a:rPr>
                        <a:t>However</a:t>
                      </a:r>
                      <a:r>
                        <a:rPr lang="en-US" sz="1800" b="0" dirty="0">
                          <a:solidFill>
                            <a:schemeClr val="accent6"/>
                          </a:solidFill>
                        </a:rPr>
                        <a:t>, in an era of rapidly changing digital technologies, the mass media paradigm is no longer adequate for understanding how people engage with images, and the findings of older studies like this one may not be generalizable to younger generations.</a:t>
                      </a:r>
                      <a:r>
                        <a:rPr lang="en-US" sz="1800" b="0" kern="1200" dirty="0">
                          <a:solidFill>
                            <a:schemeClr val="accent6"/>
                          </a:solidFill>
                          <a:effectLst/>
                        </a:rPr>
                        <a:t> </a:t>
                      </a:r>
                      <a:r>
                        <a:rPr lang="en-US" sz="1800" b="0" dirty="0">
                          <a:solidFill>
                            <a:schemeClr val="accent4"/>
                          </a:solidFill>
                        </a:rPr>
                        <a:t>In light of this changing landscape, researchers have become increasingly interested in the specific effects of social media. </a:t>
                      </a:r>
                      <a:r>
                        <a:rPr lang="en-US" sz="1800" b="0" dirty="0" err="1">
                          <a:solidFill>
                            <a:schemeClr val="accent4"/>
                          </a:solidFill>
                        </a:rPr>
                        <a:t>Perloff</a:t>
                      </a:r>
                      <a:r>
                        <a:rPr lang="en-US" sz="1800" b="0" dirty="0">
                          <a:solidFill>
                            <a:schemeClr val="accent4"/>
                          </a:solidFill>
                        </a:rPr>
                        <a:t> (2014) theorizes that the interactive aspects of social media may influence its impact on body image, and mentions that young women are among the most active social media users.</a:t>
                      </a:r>
                      <a:r>
                        <a:rPr lang="en-US" sz="1800" b="0" kern="1200" dirty="0">
                          <a:effectLst/>
                        </a:rPr>
                        <a:t> </a:t>
                      </a:r>
                      <a:r>
                        <a:rPr lang="en-US" sz="1800" b="0" dirty="0">
                          <a:solidFill>
                            <a:srgbClr val="FF3300"/>
                          </a:solidFill>
                        </a:rPr>
                        <a:t>Several empirical studies have focused on Facebook usage in adolescent girls (</a:t>
                      </a:r>
                      <a:r>
                        <a:rPr lang="en-US" sz="1800" b="0" dirty="0" err="1">
                          <a:solidFill>
                            <a:srgbClr val="FF3300"/>
                          </a:solidFill>
                        </a:rPr>
                        <a:t>Tiggermann</a:t>
                      </a:r>
                      <a:r>
                        <a:rPr lang="en-US" sz="1800" b="0" dirty="0">
                          <a:solidFill>
                            <a:srgbClr val="FF3300"/>
                          </a:solidFill>
                        </a:rPr>
                        <a:t> &amp; Slater, 2013; Meier &amp; Gray, 2014) and in young adult women (Smith, Hames, &amp; Joiner, 2013; </a:t>
                      </a:r>
                      <a:r>
                        <a:rPr lang="en-US" sz="1800" b="0" dirty="0" err="1">
                          <a:solidFill>
                            <a:srgbClr val="FF3300"/>
                          </a:solidFill>
                        </a:rPr>
                        <a:t>Fardouly</a:t>
                      </a:r>
                      <a:r>
                        <a:rPr lang="en-US" sz="1800" b="0" dirty="0">
                          <a:solidFill>
                            <a:srgbClr val="FF3300"/>
                          </a:solidFill>
                        </a:rPr>
                        <a:t> et al., 2015; Cohen, Newton-John &amp; Slater, 2017), while a systematic review by Holland and Timmerman (2016) </a:t>
                      </a:r>
                      <a:r>
                        <a:rPr lang="en-US" sz="1800" b="1" dirty="0">
                          <a:solidFill>
                            <a:srgbClr val="FF3300"/>
                          </a:solidFill>
                        </a:rPr>
                        <a:t>confirmed</a:t>
                      </a:r>
                      <a:r>
                        <a:rPr lang="en-US" sz="1800" b="0" dirty="0">
                          <a:solidFill>
                            <a:srgbClr val="FF3300"/>
                          </a:solidFill>
                        </a:rPr>
                        <a:t> a relationship between social networking and body image for both women and men. Across these studies, there is consistent evidence that body image issues are influenced not by social media usage in general, but by engagement with the visual and interactive aspects of these platforms.</a:t>
                      </a:r>
                      <a:r>
                        <a:rPr lang="en-US" sz="1800" b="0" kern="1200" dirty="0">
                          <a:solidFill>
                            <a:srgbClr val="FF3300"/>
                          </a:solidFill>
                          <a:effectLst/>
                        </a:rPr>
                        <a:t> </a:t>
                      </a:r>
                      <a:r>
                        <a:rPr lang="en-US" sz="1800" b="1" dirty="0">
                          <a:solidFill>
                            <a:srgbClr val="A50021"/>
                          </a:solidFill>
                        </a:rPr>
                        <a:t>Nonetheless</a:t>
                      </a:r>
                      <a:r>
                        <a:rPr lang="en-US" sz="1800" b="0" dirty="0">
                          <a:solidFill>
                            <a:srgbClr val="A50021"/>
                          </a:solidFill>
                        </a:rPr>
                        <a:t>, there is a lack of robust research on more highly-visual social media (HVSM) such as Instagram and Snapchat that have gained more recent popularity among younger generations.</a:t>
                      </a:r>
                      <a:endParaRPr lang="en-ZA" sz="1800" b="0" dirty="0">
                        <a:solidFill>
                          <a:srgbClr val="A50021"/>
                        </a:solidFill>
                      </a:endParaRPr>
                    </a:p>
                    <a:p>
                      <a:endParaRPr lang="en-ZA" dirty="0"/>
                    </a:p>
                  </a:txBody>
                  <a:tcPr/>
                </a:tc>
                <a:extLst>
                  <a:ext uri="{0D108BD9-81ED-4DB2-BD59-A6C34878D82A}">
                    <a16:rowId xmlns:a16="http://schemas.microsoft.com/office/drawing/2014/main" val="10000"/>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516084357"/>
              </p:ext>
            </p:extLst>
          </p:nvPr>
        </p:nvGraphicFramePr>
        <p:xfrm>
          <a:off x="8451273" y="150322"/>
          <a:ext cx="3740727" cy="6834738"/>
        </p:xfrm>
        <a:graphic>
          <a:graphicData uri="http://schemas.openxmlformats.org/drawingml/2006/table">
            <a:tbl>
              <a:tblPr firstRow="1" bandRow="1">
                <a:tableStyleId>{BDBED569-4797-4DF1-A0F4-6AAB3CD982D8}</a:tableStyleId>
              </a:tblPr>
              <a:tblGrid>
                <a:gridCol w="457200">
                  <a:extLst>
                    <a:ext uri="{9D8B030D-6E8A-4147-A177-3AD203B41FA5}">
                      <a16:colId xmlns:a16="http://schemas.microsoft.com/office/drawing/2014/main" val="20000"/>
                    </a:ext>
                  </a:extLst>
                </a:gridCol>
                <a:gridCol w="3283527">
                  <a:extLst>
                    <a:ext uri="{9D8B030D-6E8A-4147-A177-3AD203B41FA5}">
                      <a16:colId xmlns:a16="http://schemas.microsoft.com/office/drawing/2014/main" val="20001"/>
                    </a:ext>
                  </a:extLst>
                </a:gridCol>
              </a:tblGrid>
              <a:tr h="914020">
                <a:tc>
                  <a:txBody>
                    <a:bodyPr/>
                    <a:lstStyle/>
                    <a:p>
                      <a:r>
                        <a:rPr lang="en-ZA" sz="5400" dirty="0">
                          <a:solidFill>
                            <a:srgbClr val="7030A0"/>
                          </a:solidFill>
                        </a:rPr>
                        <a:t>.</a:t>
                      </a:r>
                    </a:p>
                  </a:txBody>
                  <a:tcPr/>
                </a:tc>
                <a:tc>
                  <a:txBody>
                    <a:bodyPr/>
                    <a:lstStyle/>
                    <a:p>
                      <a:r>
                        <a:rPr lang="en-ZA" dirty="0">
                          <a:solidFill>
                            <a:srgbClr val="7030A0"/>
                          </a:solidFill>
                        </a:rPr>
                        <a:t>Topic sentence </a:t>
                      </a:r>
                      <a:r>
                        <a:rPr lang="en-ZA" b="0" dirty="0">
                          <a:solidFill>
                            <a:schemeClr val="tx1"/>
                          </a:solidFill>
                        </a:rPr>
                        <a:t>– the first sentence establishes the main point of the paragraph.</a:t>
                      </a:r>
                      <a:endParaRPr lang="en-ZA" dirty="0">
                        <a:solidFill>
                          <a:schemeClr val="tx1"/>
                        </a:solidFill>
                      </a:endParaRPr>
                    </a:p>
                  </a:txBody>
                  <a:tcPr/>
                </a:tc>
                <a:extLst>
                  <a:ext uri="{0D108BD9-81ED-4DB2-BD59-A6C34878D82A}">
                    <a16:rowId xmlns:a16="http://schemas.microsoft.com/office/drawing/2014/main" val="10000"/>
                  </a:ext>
                </a:extLst>
              </a:tr>
              <a:tr h="1018693">
                <a:tc>
                  <a:txBody>
                    <a:bodyPr/>
                    <a:lstStyle/>
                    <a:p>
                      <a:r>
                        <a:rPr lang="en-ZA" sz="6000" dirty="0">
                          <a:solidFill>
                            <a:srgbClr val="0070C0"/>
                          </a:solidFill>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1" i="0" u="none" strike="noStrike" kern="1200" cap="none" spc="0" normalizeH="0" baseline="0" noProof="0" dirty="0">
                          <a:ln>
                            <a:noFill/>
                          </a:ln>
                          <a:solidFill>
                            <a:srgbClr val="0070C0"/>
                          </a:solidFill>
                          <a:effectLst/>
                          <a:uLnTx/>
                          <a:uFillTx/>
                          <a:latin typeface="+mn-lt"/>
                          <a:ea typeface="+mn-ea"/>
                          <a:cs typeface="+mn-cs"/>
                        </a:rPr>
                        <a:t>Pivotal study </a:t>
                      </a:r>
                      <a:r>
                        <a:rPr kumimoji="0" lang="en-ZA" sz="1800" b="0" i="0" u="none" strike="noStrike" kern="1200" cap="none" spc="0" normalizeH="0" baseline="0" noProof="0" dirty="0">
                          <a:ln>
                            <a:noFill/>
                          </a:ln>
                          <a:solidFill>
                            <a:prstClr val="black"/>
                          </a:solidFill>
                          <a:effectLst/>
                          <a:uLnTx/>
                          <a:uFillTx/>
                          <a:latin typeface="+mn-lt"/>
                          <a:ea typeface="+mn-ea"/>
                          <a:cs typeface="+mn-cs"/>
                        </a:rPr>
                        <a:t>– this sentence summarizes a pivotal publication in the field.</a:t>
                      </a:r>
                    </a:p>
                    <a:p>
                      <a:endParaRPr lang="en-ZA" dirty="0"/>
                    </a:p>
                  </a:txBody>
                  <a:tcPr/>
                </a:tc>
                <a:extLst>
                  <a:ext uri="{0D108BD9-81ED-4DB2-BD59-A6C34878D82A}">
                    <a16:rowId xmlns:a16="http://schemas.microsoft.com/office/drawing/2014/main" val="10001"/>
                  </a:ext>
                </a:extLst>
              </a:tr>
              <a:tr h="1018693">
                <a:tc>
                  <a:txBody>
                    <a:bodyPr/>
                    <a:lstStyle/>
                    <a:p>
                      <a:r>
                        <a:rPr lang="en-ZA" sz="6000" dirty="0">
                          <a:solidFill>
                            <a:srgbClr val="92D050"/>
                          </a:solidFill>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1" i="0" u="none" strike="noStrike" kern="1200" cap="none" spc="0" normalizeH="0" baseline="0" noProof="0" dirty="0">
                          <a:ln>
                            <a:noFill/>
                          </a:ln>
                          <a:solidFill>
                            <a:srgbClr val="92D050"/>
                          </a:solidFill>
                          <a:effectLst/>
                          <a:uLnTx/>
                          <a:uFillTx/>
                          <a:latin typeface="+mn-lt"/>
                          <a:ea typeface="+mn-ea"/>
                          <a:cs typeface="+mn-cs"/>
                        </a:rPr>
                        <a:t>Critical evaluation </a:t>
                      </a:r>
                      <a:r>
                        <a:rPr kumimoji="0" lang="en-ZA" sz="1800" b="0" i="0" u="none" strike="noStrike" kern="1200" cap="none" spc="0" normalizeH="0" baseline="0" noProof="0" dirty="0">
                          <a:ln>
                            <a:noFill/>
                          </a:ln>
                          <a:solidFill>
                            <a:prstClr val="black"/>
                          </a:solidFill>
                          <a:effectLst/>
                          <a:uLnTx/>
                          <a:uFillTx/>
                          <a:latin typeface="+mn-lt"/>
                          <a:ea typeface="+mn-ea"/>
                          <a:cs typeface="+mn-cs"/>
                        </a:rPr>
                        <a:t>– this sentence critiques a weakness of that study.</a:t>
                      </a:r>
                    </a:p>
                  </a:txBody>
                  <a:tcPr/>
                </a:tc>
                <a:extLst>
                  <a:ext uri="{0D108BD9-81ED-4DB2-BD59-A6C34878D82A}">
                    <a16:rowId xmlns:a16="http://schemas.microsoft.com/office/drawing/2014/main" val="10002"/>
                  </a:ext>
                </a:extLst>
              </a:tr>
              <a:tr h="1188226">
                <a:tc>
                  <a:txBody>
                    <a:bodyPr/>
                    <a:lstStyle/>
                    <a:p>
                      <a:r>
                        <a:rPr lang="en-ZA" sz="6000" dirty="0">
                          <a:solidFill>
                            <a:schemeClr val="accent4"/>
                          </a:solidFill>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1" i="0" u="none" strike="noStrike" kern="1200" cap="none" spc="0" normalizeH="0" baseline="0" noProof="0" dirty="0">
                          <a:ln>
                            <a:noFill/>
                          </a:ln>
                          <a:solidFill>
                            <a:srgbClr val="FFC000"/>
                          </a:solidFill>
                          <a:effectLst/>
                          <a:uLnTx/>
                          <a:uFillTx/>
                          <a:latin typeface="+mn-lt"/>
                          <a:ea typeface="+mn-ea"/>
                          <a:cs typeface="+mn-cs"/>
                        </a:rPr>
                        <a:t>Theory</a:t>
                      </a:r>
                      <a:r>
                        <a:rPr kumimoji="0" lang="en-ZA" sz="1800" b="0" i="0" u="none" strike="noStrike" kern="1200" cap="none" spc="0" normalizeH="0" baseline="0" noProof="0" dirty="0">
                          <a:ln>
                            <a:noFill/>
                          </a:ln>
                          <a:solidFill>
                            <a:prstClr val="black"/>
                          </a:solidFill>
                          <a:effectLst/>
                          <a:uLnTx/>
                          <a:uFillTx/>
                          <a:latin typeface="+mn-lt"/>
                          <a:ea typeface="+mn-ea"/>
                          <a:cs typeface="+mn-cs"/>
                        </a:rPr>
                        <a:t> – these sentences summarize a more recent theoretical perspective on the topic</a:t>
                      </a:r>
                      <a:r>
                        <a:rPr kumimoji="0" lang="en-ZA" sz="1800" b="0" i="0" u="none" strike="noStrike" kern="1200" cap="none" spc="0" normalizeH="0" baseline="0" noProof="0" dirty="0">
                          <a:ln>
                            <a:noFill/>
                          </a:ln>
                          <a:solidFill>
                            <a:schemeClr val="tx1"/>
                          </a:solidFill>
                          <a:effectLst/>
                          <a:uLnTx/>
                          <a:uFillTx/>
                          <a:latin typeface="+mn-lt"/>
                          <a:ea typeface="+mn-ea"/>
                          <a:cs typeface="+mn-cs"/>
                        </a:rPr>
                        <a:t>.</a:t>
                      </a:r>
                      <a:endParaRPr kumimoji="0" lang="en-ZA" sz="1800" b="0" i="0" u="none" strike="noStrike" kern="1200" cap="none" spc="0" normalizeH="0" baseline="0" noProof="0" dirty="0">
                        <a:ln>
                          <a:noFill/>
                        </a:ln>
                        <a:solidFill>
                          <a:prstClr val="black"/>
                        </a:solidFill>
                        <a:effectLst/>
                        <a:uLnTx/>
                        <a:uFillTx/>
                        <a:latin typeface="+mn-lt"/>
                        <a:ea typeface="+mn-ea"/>
                        <a:cs typeface="+mn-cs"/>
                      </a:endParaRPr>
                    </a:p>
                  </a:txBody>
                  <a:tcPr/>
                </a:tc>
                <a:extLst>
                  <a:ext uri="{0D108BD9-81ED-4DB2-BD59-A6C34878D82A}">
                    <a16:rowId xmlns:a16="http://schemas.microsoft.com/office/drawing/2014/main" val="10003"/>
                  </a:ext>
                </a:extLst>
              </a:tr>
              <a:tr h="1188226">
                <a:tc>
                  <a:txBody>
                    <a:bodyPr/>
                    <a:lstStyle/>
                    <a:p>
                      <a:r>
                        <a:rPr lang="en-ZA" sz="6000" dirty="0">
                          <a:solidFill>
                            <a:srgbClr val="FF3300"/>
                          </a:solidFill>
                        </a:rPr>
                        <a:t>.</a:t>
                      </a:r>
                    </a:p>
                  </a:txBody>
                  <a:tcPr/>
                </a:tc>
                <a:tc>
                  <a:txBody>
                    <a:bodyPr/>
                    <a:lstStyle/>
                    <a:p>
                      <a:r>
                        <a:rPr lang="en-ZA" b="1" dirty="0">
                          <a:solidFill>
                            <a:srgbClr val="FF3300"/>
                          </a:solidFill>
                        </a:rPr>
                        <a:t>Synthesis</a:t>
                      </a:r>
                      <a:r>
                        <a:rPr lang="en-ZA" dirty="0"/>
                        <a:t> – several empirical studies</a:t>
                      </a:r>
                      <a:r>
                        <a:rPr lang="en-ZA" baseline="0" dirty="0"/>
                        <a:t> are synthesised to show a clear pattern of finding in support of the theory.</a:t>
                      </a:r>
                      <a:endParaRPr lang="en-ZA" dirty="0"/>
                    </a:p>
                  </a:txBody>
                  <a:tcPr/>
                </a:tc>
                <a:extLst>
                  <a:ext uri="{0D108BD9-81ED-4DB2-BD59-A6C34878D82A}">
                    <a16:rowId xmlns:a16="http://schemas.microsoft.com/office/drawing/2014/main" val="10004"/>
                  </a:ext>
                </a:extLst>
              </a:tr>
              <a:tr h="1335485">
                <a:tc>
                  <a:txBody>
                    <a:bodyPr/>
                    <a:lstStyle/>
                    <a:p>
                      <a:r>
                        <a:rPr lang="en-ZA" sz="6000" dirty="0">
                          <a:solidFill>
                            <a:srgbClr val="A50021"/>
                          </a:solidFill>
                        </a:rPr>
                        <a:t>.</a:t>
                      </a:r>
                    </a:p>
                  </a:txBody>
                  <a:tcPr/>
                </a:tc>
                <a:tc>
                  <a:txBody>
                    <a:bodyPr/>
                    <a:lstStyle/>
                    <a:p>
                      <a:r>
                        <a:rPr lang="en-ZA" b="1" dirty="0">
                          <a:solidFill>
                            <a:srgbClr val="A50021"/>
                          </a:solidFill>
                        </a:rPr>
                        <a:t>Gap</a:t>
                      </a:r>
                      <a:r>
                        <a:rPr lang="en-ZA" dirty="0">
                          <a:solidFill>
                            <a:srgbClr val="A50021"/>
                          </a:solidFill>
                        </a:rPr>
                        <a:t> </a:t>
                      </a:r>
                      <a:r>
                        <a:rPr lang="en-ZA" dirty="0"/>
                        <a:t>– A gap in the literature</a:t>
                      </a:r>
                      <a:r>
                        <a:rPr lang="en-ZA" baseline="0" dirty="0"/>
                        <a:t> is identified, making way for the relevance of the author’s own research.</a:t>
                      </a:r>
                      <a:endParaRPr lang="en-ZA"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463192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1353800" cy="1015999"/>
          </a:xfrm>
        </p:spPr>
        <p:txBody>
          <a:bodyPr/>
          <a:lstStyle/>
          <a:p>
            <a:r>
              <a:rPr lang="en-US" b="1" dirty="0">
                <a:solidFill>
                  <a:srgbClr val="333399"/>
                </a:solidFill>
              </a:rPr>
              <a:t>Step 5: Write your literature review</a:t>
            </a:r>
            <a:endParaRPr lang="en-ZA" dirty="0">
              <a:solidFill>
                <a:srgbClr val="333399"/>
              </a:solidFill>
            </a:endParaRPr>
          </a:p>
        </p:txBody>
      </p:sp>
      <p:sp>
        <p:nvSpPr>
          <p:cNvPr id="3" name="Content Placeholder 2"/>
          <p:cNvSpPr>
            <a:spLocks noGrp="1"/>
          </p:cNvSpPr>
          <p:nvPr>
            <p:ph idx="1"/>
          </p:nvPr>
        </p:nvSpPr>
        <p:spPr>
          <a:xfrm>
            <a:off x="0" y="1206500"/>
            <a:ext cx="11353800" cy="5021263"/>
          </a:xfrm>
        </p:spPr>
        <p:txBody>
          <a:bodyPr/>
          <a:lstStyle/>
          <a:p>
            <a:pPr marL="0" indent="0">
              <a:buNone/>
            </a:pPr>
            <a:r>
              <a:rPr lang="en-ZA" b="1" dirty="0"/>
              <a:t>CONCLUSION</a:t>
            </a:r>
          </a:p>
          <a:p>
            <a:pPr marL="0" indent="0">
              <a:buNone/>
            </a:pPr>
            <a:endParaRPr lang="en-ZA" dirty="0"/>
          </a:p>
          <a:p>
            <a:pPr marL="0" indent="0">
              <a:buNone/>
            </a:pPr>
            <a:endParaRPr lang="en-ZA" dirty="0"/>
          </a:p>
          <a:p>
            <a:pPr marL="0" indent="0">
              <a:buNone/>
            </a:pPr>
            <a:endParaRPr lang="en-ZA"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818" y="1756498"/>
            <a:ext cx="8229600" cy="4185657"/>
          </a:xfrm>
          <a:prstGeom prst="rect">
            <a:avLst/>
          </a:prstGeom>
          <a:ln w="19050">
            <a:solidFill>
              <a:srgbClr val="FFC000"/>
            </a:solidFill>
            <a:headEnd/>
            <a:tailEnd/>
          </a:ln>
        </p:spPr>
        <p:style>
          <a:lnRef idx="2">
            <a:schemeClr val="accent4"/>
          </a:lnRef>
          <a:fillRef idx="1">
            <a:schemeClr val="lt1"/>
          </a:fillRef>
          <a:effectRef idx="0">
            <a:schemeClr val="accent4"/>
          </a:effectRef>
          <a:fontRef idx="minor">
            <a:schemeClr val="dk1"/>
          </a:fontRef>
        </p:style>
      </p:pic>
      <p:sp>
        <p:nvSpPr>
          <p:cNvPr id="6" name="Rectangle 5"/>
          <p:cNvSpPr/>
          <p:nvPr/>
        </p:nvSpPr>
        <p:spPr>
          <a:xfrm>
            <a:off x="8645236" y="1016000"/>
            <a:ext cx="6096000" cy="2585323"/>
          </a:xfrm>
          <a:prstGeom prst="rect">
            <a:avLst/>
          </a:prstGeom>
        </p:spPr>
        <p:txBody>
          <a:bodyPr>
            <a:spAutoFit/>
          </a:bodyPr>
          <a:lstStyle/>
          <a:p>
            <a:endParaRPr lang="en-ZA" dirty="0"/>
          </a:p>
          <a:p>
            <a:endParaRPr lang="en-ZA" dirty="0"/>
          </a:p>
          <a:p>
            <a:endParaRPr lang="en-ZA" dirty="0"/>
          </a:p>
          <a:p>
            <a:endParaRPr lang="en-ZA" dirty="0"/>
          </a:p>
          <a:p>
            <a:endParaRPr lang="en-ZA" dirty="0"/>
          </a:p>
          <a:p>
            <a:endParaRPr lang="en-ZA" dirty="0"/>
          </a:p>
          <a:p>
            <a:endParaRPr lang="en-ZA" dirty="0"/>
          </a:p>
          <a:p>
            <a:endParaRPr lang="en-ZA" dirty="0"/>
          </a:p>
          <a:p>
            <a:endParaRPr lang="en-ZA" dirty="0"/>
          </a:p>
        </p:txBody>
      </p:sp>
    </p:spTree>
    <p:extLst>
      <p:ext uri="{BB962C8B-B14F-4D97-AF65-F5344CB8AC3E}">
        <p14:creationId xmlns:p14="http://schemas.microsoft.com/office/powerpoint/2010/main" val="28085845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27001"/>
            <a:ext cx="11353800" cy="1079499"/>
          </a:xfrm>
        </p:spPr>
        <p:txBody>
          <a:bodyPr/>
          <a:lstStyle/>
          <a:p>
            <a:r>
              <a:rPr lang="en-US" b="1" dirty="0">
                <a:solidFill>
                  <a:srgbClr val="333399"/>
                </a:solidFill>
              </a:rPr>
              <a:t>Step 5: Write your literature review</a:t>
            </a:r>
            <a:endParaRPr lang="en-ZA" dirty="0">
              <a:solidFill>
                <a:srgbClr val="333399"/>
              </a:solidFill>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385104134"/>
              </p:ext>
            </p:extLst>
          </p:nvPr>
        </p:nvGraphicFramePr>
        <p:xfrm>
          <a:off x="838200" y="1825625"/>
          <a:ext cx="10515600" cy="3383280"/>
        </p:xfrm>
        <a:graphic>
          <a:graphicData uri="http://schemas.openxmlformats.org/drawingml/2006/table">
            <a:tbl>
              <a:tblPr firstRow="1" bandRow="1">
                <a:tableStyleId>{ED083AE6-46FA-4A59-8FB0-9F97EB10719F}</a:tableStyleId>
              </a:tblPr>
              <a:tblGrid>
                <a:gridCol w="10515600">
                  <a:extLst>
                    <a:ext uri="{9D8B030D-6E8A-4147-A177-3AD203B41FA5}">
                      <a16:colId xmlns:a16="http://schemas.microsoft.com/office/drawing/2014/main" val="20000"/>
                    </a:ext>
                  </a:extLst>
                </a:gridCol>
              </a:tblGrid>
              <a:tr h="370840">
                <a:tc>
                  <a:txBody>
                    <a:bodyPr/>
                    <a:lstStyle/>
                    <a:p>
                      <a:r>
                        <a:rPr lang="en-US" sz="2400" b="1" dirty="0"/>
                        <a:t>Dissertation literature review (as a chapter)</a:t>
                      </a:r>
                    </a:p>
                    <a:p>
                      <a:r>
                        <a:rPr lang="en-US" sz="2400" b="0" dirty="0"/>
                        <a:t>If the literature review is part of your thesis or dissertation, show how your research addresses gaps and contributes new knowledge, or discuss how you have drawn on existing theories and methods to build a framework for your research.</a:t>
                      </a:r>
                    </a:p>
                    <a:p>
                      <a:endParaRPr lang="en-US" sz="2400" b="0" dirty="0"/>
                    </a:p>
                    <a:p>
                      <a:r>
                        <a:rPr lang="en-US" sz="2400" b="1" dirty="0"/>
                        <a:t>Stand-alone literature review</a:t>
                      </a:r>
                    </a:p>
                    <a:p>
                      <a:r>
                        <a:rPr lang="en-US" sz="2400" b="0" dirty="0"/>
                        <a:t>If you are writing a stand-alone paper, you can discuss the overall implications of the literature or make suggestions for future research based on the gaps you have identified.</a:t>
                      </a:r>
                      <a:endParaRPr lang="en-ZA" sz="2400" b="0" dirty="0"/>
                    </a:p>
                  </a:txBody>
                  <a:tcPr>
                    <a:solidFill>
                      <a:schemeClr val="accent4">
                        <a:lumMod val="40000"/>
                        <a:lumOff val="60000"/>
                      </a:scheme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6307086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812799"/>
          </a:xfrm>
        </p:spPr>
        <p:txBody>
          <a:bodyPr/>
          <a:lstStyle/>
          <a:p>
            <a:r>
              <a:rPr lang="en-ZA" b="1" dirty="0"/>
              <a:t>Additional notes</a:t>
            </a:r>
          </a:p>
        </p:txBody>
      </p:sp>
      <p:sp>
        <p:nvSpPr>
          <p:cNvPr id="3" name="Content Placeholder 2"/>
          <p:cNvSpPr>
            <a:spLocks noGrp="1"/>
          </p:cNvSpPr>
          <p:nvPr>
            <p:ph idx="1"/>
          </p:nvPr>
        </p:nvSpPr>
        <p:spPr>
          <a:xfrm>
            <a:off x="838200" y="812800"/>
            <a:ext cx="10515600" cy="5364163"/>
          </a:xfrm>
        </p:spPr>
        <p:txBody>
          <a:bodyPr>
            <a:normAutofit fontScale="92500" lnSpcReduction="20000"/>
          </a:bodyPr>
          <a:lstStyle/>
          <a:p>
            <a:r>
              <a:rPr lang="en-ZA" dirty="0"/>
              <a:t>The entire point of writing a literature review is to </a:t>
            </a:r>
            <a:r>
              <a:rPr lang="en-ZA" b="1" dirty="0">
                <a:solidFill>
                  <a:srgbClr val="FF0000"/>
                </a:solidFill>
              </a:rPr>
              <a:t>synthesize</a:t>
            </a:r>
            <a:r>
              <a:rPr lang="en-ZA" dirty="0"/>
              <a:t>, or write about </a:t>
            </a:r>
            <a:r>
              <a:rPr lang="en-ZA" i="1" dirty="0"/>
              <a:t>the relationships between</a:t>
            </a:r>
            <a:r>
              <a:rPr lang="en-ZA" dirty="0"/>
              <a:t>, the articles you’re using, defining the connection between them and explaining how they come together to represent a body of knowledge on a subject. </a:t>
            </a:r>
          </a:p>
          <a:p>
            <a:endParaRPr lang="en-ZA" dirty="0"/>
          </a:p>
          <a:p>
            <a:r>
              <a:rPr lang="en-US" b="1" dirty="0"/>
              <a:t>Linking words are important</a:t>
            </a:r>
            <a:r>
              <a:rPr lang="en-US" dirty="0"/>
              <a:t>. These are also known as </a:t>
            </a:r>
            <a:r>
              <a:rPr lang="en-US" b="1" dirty="0">
                <a:solidFill>
                  <a:srgbClr val="FF0000"/>
                </a:solidFill>
              </a:rPr>
              <a:t>transitional</a:t>
            </a:r>
            <a:r>
              <a:rPr lang="en-US" dirty="0"/>
              <a:t> or </a:t>
            </a:r>
            <a:r>
              <a:rPr lang="en-US" b="1" dirty="0">
                <a:solidFill>
                  <a:srgbClr val="FF0000"/>
                </a:solidFill>
              </a:rPr>
              <a:t>relational</a:t>
            </a:r>
            <a:r>
              <a:rPr lang="en-US" dirty="0"/>
              <a:t> words and phrases. If you are grouping together writers with similar opinions, you would use words or phrases such as: </a:t>
            </a:r>
            <a:r>
              <a:rPr lang="en-US" i="1" dirty="0">
                <a:solidFill>
                  <a:schemeClr val="accent4">
                    <a:lumMod val="75000"/>
                  </a:schemeClr>
                </a:solidFill>
              </a:rPr>
              <a:t>similarly</a:t>
            </a:r>
            <a:r>
              <a:rPr lang="en-US" dirty="0"/>
              <a:t>, </a:t>
            </a:r>
            <a:r>
              <a:rPr lang="en-US" i="1" dirty="0">
                <a:solidFill>
                  <a:schemeClr val="accent6">
                    <a:lumMod val="75000"/>
                  </a:schemeClr>
                </a:solidFill>
              </a:rPr>
              <a:t>in addition</a:t>
            </a:r>
            <a:r>
              <a:rPr lang="en-US" dirty="0"/>
              <a:t>, </a:t>
            </a:r>
            <a:r>
              <a:rPr lang="en-US" i="1" dirty="0">
                <a:solidFill>
                  <a:schemeClr val="accent3">
                    <a:lumMod val="75000"/>
                  </a:schemeClr>
                </a:solidFill>
              </a:rPr>
              <a:t>also</a:t>
            </a:r>
            <a:r>
              <a:rPr lang="en-US" dirty="0"/>
              <a:t>, </a:t>
            </a:r>
            <a:r>
              <a:rPr lang="en-US" i="1" dirty="0">
                <a:solidFill>
                  <a:schemeClr val="accent1">
                    <a:lumMod val="75000"/>
                  </a:schemeClr>
                </a:solidFill>
              </a:rPr>
              <a:t>again</a:t>
            </a:r>
            <a:r>
              <a:rPr lang="en-US" dirty="0"/>
              <a:t>.</a:t>
            </a:r>
          </a:p>
          <a:p>
            <a:endParaRPr lang="en-US" dirty="0"/>
          </a:p>
          <a:p>
            <a:r>
              <a:rPr lang="en-US" dirty="0"/>
              <a:t>More importantly, if there is disagreement, you need to indicate clearly that you </a:t>
            </a:r>
            <a:r>
              <a:rPr lang="en-US" b="1" u="sng" dirty="0"/>
              <a:t>are aware </a:t>
            </a:r>
            <a:r>
              <a:rPr lang="en-US" dirty="0"/>
              <a:t>of this by the use of linkers such as: </a:t>
            </a:r>
            <a:r>
              <a:rPr lang="en-US" i="1" dirty="0">
                <a:solidFill>
                  <a:schemeClr val="accent4">
                    <a:lumMod val="75000"/>
                  </a:schemeClr>
                </a:solidFill>
              </a:rPr>
              <a:t>however</a:t>
            </a:r>
            <a:r>
              <a:rPr lang="en-US" dirty="0"/>
              <a:t>, </a:t>
            </a:r>
            <a:r>
              <a:rPr lang="en-US" i="1" dirty="0">
                <a:solidFill>
                  <a:schemeClr val="accent2">
                    <a:lumMod val="50000"/>
                  </a:schemeClr>
                </a:solidFill>
              </a:rPr>
              <a:t>on the other hand</a:t>
            </a:r>
            <a:r>
              <a:rPr lang="en-US" dirty="0"/>
              <a:t>, </a:t>
            </a:r>
            <a:r>
              <a:rPr lang="en-US" i="1" dirty="0">
                <a:solidFill>
                  <a:schemeClr val="tx2">
                    <a:lumMod val="50000"/>
                  </a:schemeClr>
                </a:solidFill>
              </a:rPr>
              <a:t>conversely</a:t>
            </a:r>
            <a:r>
              <a:rPr lang="en-US" i="1" dirty="0"/>
              <a:t>, </a:t>
            </a:r>
            <a:r>
              <a:rPr lang="en-US" i="1" dirty="0">
                <a:solidFill>
                  <a:schemeClr val="accent3">
                    <a:lumMod val="50000"/>
                  </a:schemeClr>
                </a:solidFill>
              </a:rPr>
              <a:t>nevertheless</a:t>
            </a:r>
            <a:r>
              <a:rPr lang="en-US" dirty="0"/>
              <a:t>.</a:t>
            </a:r>
          </a:p>
          <a:p>
            <a:endParaRPr lang="en-ZA" dirty="0"/>
          </a:p>
          <a:p>
            <a:r>
              <a:rPr lang="en-ZA" dirty="0"/>
              <a:t>The following words and phrases are useful because they express specific types of relationships </a:t>
            </a:r>
            <a:r>
              <a:rPr lang="en-ZA" b="1" dirty="0"/>
              <a:t>between</a:t>
            </a:r>
            <a:r>
              <a:rPr lang="en-ZA" dirty="0"/>
              <a:t> ideas:  </a:t>
            </a:r>
          </a:p>
          <a:p>
            <a:endParaRPr lang="en-ZA" dirty="0"/>
          </a:p>
        </p:txBody>
      </p:sp>
    </p:spTree>
    <p:extLst>
      <p:ext uri="{BB962C8B-B14F-4D97-AF65-F5344CB8AC3E}">
        <p14:creationId xmlns:p14="http://schemas.microsoft.com/office/powerpoint/2010/main" val="4916207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5564" y="219219"/>
            <a:ext cx="11058236" cy="606281"/>
          </a:xfrm>
        </p:spPr>
        <p:txBody>
          <a:bodyPr>
            <a:normAutofit/>
          </a:bodyPr>
          <a:lstStyle/>
          <a:p>
            <a:r>
              <a:rPr lang="en-ZA" sz="3600" b="1" dirty="0"/>
              <a:t>Examples of transitional words and phrases</a:t>
            </a:r>
          </a:p>
        </p:txBody>
      </p:sp>
      <p:pic>
        <p:nvPicPr>
          <p:cNvPr id="8" name="Content Placeholder 7"/>
          <p:cNvPicPr>
            <a:picLocks noGrp="1" noChangeAspect="1"/>
          </p:cNvPicPr>
          <p:nvPr>
            <p:ph idx="1"/>
          </p:nvPr>
        </p:nvPicPr>
        <p:blipFill>
          <a:blip r:embed="rId2"/>
          <a:stretch>
            <a:fillRect/>
          </a:stretch>
        </p:blipFill>
        <p:spPr>
          <a:xfrm>
            <a:off x="2124149" y="1198418"/>
            <a:ext cx="7263673" cy="5440363"/>
          </a:xfrm>
          <a:prstGeom prst="rect">
            <a:avLst/>
          </a:prstGeom>
        </p:spPr>
      </p:pic>
    </p:spTree>
    <p:extLst>
      <p:ext uri="{BB962C8B-B14F-4D97-AF65-F5344CB8AC3E}">
        <p14:creationId xmlns:p14="http://schemas.microsoft.com/office/powerpoint/2010/main" val="751409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888999"/>
          </a:xfrm>
        </p:spPr>
        <p:txBody>
          <a:bodyPr/>
          <a:lstStyle/>
          <a:p>
            <a:r>
              <a:rPr lang="en-ZA" b="1" dirty="0"/>
              <a:t>Additional notes:</a:t>
            </a:r>
          </a:p>
        </p:txBody>
      </p:sp>
      <p:sp>
        <p:nvSpPr>
          <p:cNvPr id="3" name="Content Placeholder 2"/>
          <p:cNvSpPr>
            <a:spLocks noGrp="1"/>
          </p:cNvSpPr>
          <p:nvPr>
            <p:ph idx="1"/>
          </p:nvPr>
        </p:nvSpPr>
        <p:spPr>
          <a:xfrm>
            <a:off x="838200" y="1079500"/>
            <a:ext cx="10515600" cy="5097463"/>
          </a:xfrm>
        </p:spPr>
        <p:txBody>
          <a:bodyPr>
            <a:normAutofit/>
          </a:bodyPr>
          <a:lstStyle/>
          <a:p>
            <a:r>
              <a:rPr lang="en-US" dirty="0"/>
              <a:t>When you’ve finished writing and revising your literature review, don’t forget to edit and proofread thoroughly before submitting.</a:t>
            </a:r>
          </a:p>
          <a:p>
            <a:endParaRPr lang="en-US" dirty="0"/>
          </a:p>
          <a:p>
            <a:r>
              <a:rPr lang="en-US" dirty="0"/>
              <a:t>DO NOT PLAGIARISE. Use the referencing convention required by your lecturer/supervisor/faculty. Use the selected format consistently. We require you to use the Harvard Method of referencing. Refer to your Prof </a:t>
            </a:r>
            <a:r>
              <a:rPr lang="en-US" dirty="0" err="1"/>
              <a:t>Comm</a:t>
            </a:r>
            <a:r>
              <a:rPr lang="en-US" dirty="0"/>
              <a:t> 1 and Prof </a:t>
            </a:r>
            <a:r>
              <a:rPr lang="en-US" dirty="0" err="1"/>
              <a:t>Comm</a:t>
            </a:r>
            <a:r>
              <a:rPr lang="en-US" dirty="0"/>
              <a:t> 2 notes or follow the link below for CPUT’s quick guide to referencing:</a:t>
            </a:r>
          </a:p>
          <a:p>
            <a:pPr marL="0" indent="0">
              <a:buNone/>
            </a:pPr>
            <a:r>
              <a:rPr lang="en-ZA" dirty="0">
                <a:hlinkClick r:id="rId2"/>
              </a:rPr>
              <a:t>https://www.cput.ac.za/storage/faculties/business/research/school_of_accounting/soa_harvard_reference.pdf</a:t>
            </a:r>
            <a:endParaRPr lang="en-ZA" dirty="0"/>
          </a:p>
          <a:p>
            <a:endParaRPr lang="en-ZA" dirty="0"/>
          </a:p>
        </p:txBody>
      </p:sp>
    </p:spTree>
    <p:extLst>
      <p:ext uri="{BB962C8B-B14F-4D97-AF65-F5344CB8AC3E}">
        <p14:creationId xmlns:p14="http://schemas.microsoft.com/office/powerpoint/2010/main" val="18395477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041399"/>
          </a:xfrm>
        </p:spPr>
        <p:txBody>
          <a:bodyPr/>
          <a:lstStyle/>
          <a:p>
            <a:r>
              <a:rPr lang="en-ZA" b="1" dirty="0"/>
              <a:t>Additional notes – reviewing your review</a:t>
            </a:r>
          </a:p>
        </p:txBody>
      </p:sp>
      <p:sp>
        <p:nvSpPr>
          <p:cNvPr id="3" name="Content Placeholder 2"/>
          <p:cNvSpPr>
            <a:spLocks noGrp="1"/>
          </p:cNvSpPr>
          <p:nvPr>
            <p:ph idx="1"/>
          </p:nvPr>
        </p:nvSpPr>
        <p:spPr>
          <a:xfrm>
            <a:off x="838200" y="1041400"/>
            <a:ext cx="10515600" cy="5588000"/>
          </a:xfrm>
        </p:spPr>
        <p:txBody>
          <a:bodyPr>
            <a:normAutofit fontScale="85000" lnSpcReduction="20000"/>
          </a:bodyPr>
          <a:lstStyle/>
          <a:p>
            <a:pPr marL="0" indent="0">
              <a:buNone/>
            </a:pPr>
            <a:r>
              <a:rPr lang="en-ZA" u="sng" dirty="0"/>
              <a:t>Once you have a first draft of your literature review it is possible for you to assess how well you have achieved your aims:</a:t>
            </a:r>
          </a:p>
          <a:p>
            <a:r>
              <a:rPr lang="en-ZA" dirty="0"/>
              <a:t>One way of doing this is to examine each paragraph , and to write in the margin a very brief summary of the content of each, and the type of content </a:t>
            </a:r>
            <a:r>
              <a:rPr lang="en-ZA" dirty="0" err="1"/>
              <a:t>e.g</a:t>
            </a:r>
            <a:r>
              <a:rPr lang="en-ZA" dirty="0"/>
              <a:t>: </a:t>
            </a:r>
          </a:p>
          <a:p>
            <a:pPr marL="0" indent="0">
              <a:buNone/>
            </a:pPr>
            <a:endParaRPr lang="en-ZA" dirty="0"/>
          </a:p>
          <a:p>
            <a:pPr marL="0" indent="0">
              <a:buNone/>
            </a:pPr>
            <a:r>
              <a:rPr lang="en-ZA" b="1" dirty="0">
                <a:solidFill>
                  <a:srgbClr val="C00000"/>
                </a:solidFill>
              </a:rPr>
              <a:t>argument for </a:t>
            </a:r>
            <a:r>
              <a:rPr lang="en-ZA" b="1" dirty="0"/>
              <a:t>- </a:t>
            </a:r>
            <a:r>
              <a:rPr lang="en-ZA" b="1" dirty="0">
                <a:solidFill>
                  <a:srgbClr val="0070C0"/>
                </a:solidFill>
              </a:rPr>
              <a:t>argument against </a:t>
            </a:r>
            <a:r>
              <a:rPr lang="en-ZA" b="1" dirty="0"/>
              <a:t>– </a:t>
            </a:r>
            <a:r>
              <a:rPr lang="en-ZA" b="1" dirty="0">
                <a:solidFill>
                  <a:srgbClr val="00B050"/>
                </a:solidFill>
              </a:rPr>
              <a:t>description</a:t>
            </a:r>
            <a:r>
              <a:rPr lang="en-ZA" b="1" dirty="0"/>
              <a:t> – </a:t>
            </a:r>
            <a:r>
              <a:rPr lang="en-ZA" b="1" dirty="0">
                <a:solidFill>
                  <a:srgbClr val="7030A0"/>
                </a:solidFill>
              </a:rPr>
              <a:t>example</a:t>
            </a:r>
            <a:r>
              <a:rPr lang="en-ZA" b="1" dirty="0"/>
              <a:t> - </a:t>
            </a:r>
            <a:r>
              <a:rPr lang="en-ZA" b="1" dirty="0">
                <a:solidFill>
                  <a:schemeClr val="accent6">
                    <a:lumMod val="50000"/>
                  </a:schemeClr>
                </a:solidFill>
              </a:rPr>
              <a:t>theory</a:t>
            </a:r>
            <a:r>
              <a:rPr lang="en-ZA" b="1" dirty="0"/>
              <a:t> – </a:t>
            </a:r>
            <a:r>
              <a:rPr lang="en-ZA" b="1" dirty="0">
                <a:solidFill>
                  <a:srgbClr val="FFC000"/>
                </a:solidFill>
              </a:rPr>
              <a:t>link</a:t>
            </a:r>
            <a:endParaRPr lang="en-ZA" b="1" dirty="0"/>
          </a:p>
          <a:p>
            <a:pPr marL="0" indent="0">
              <a:buNone/>
            </a:pPr>
            <a:endParaRPr lang="en-ZA" b="1" dirty="0"/>
          </a:p>
          <a:p>
            <a:r>
              <a:rPr lang="en-ZA" dirty="0"/>
              <a:t>These summaries then provide the </a:t>
            </a:r>
            <a:r>
              <a:rPr lang="en-ZA" b="1" dirty="0"/>
              <a:t>outline</a:t>
            </a:r>
            <a:r>
              <a:rPr lang="en-ZA" dirty="0"/>
              <a:t> of the story you are telling, and the way that you are telling it. Both of these are important and need to be critically reviewed.</a:t>
            </a:r>
          </a:p>
          <a:p>
            <a:r>
              <a:rPr lang="en-ZA" u="sng" dirty="0"/>
              <a:t>Beware of becoming too attached </a:t>
            </a:r>
            <a:r>
              <a:rPr lang="en-ZA" dirty="0"/>
              <a:t>to your writing. You need to be ready to cross out whole paragraphs or even whole sections if they do not pass the above tests. </a:t>
            </a:r>
          </a:p>
          <a:p>
            <a:r>
              <a:rPr lang="en-ZA" dirty="0"/>
              <a:t>If you find that what you’ve written is not in the best order, then re-shaping it is not a huge problem. It may be mainly a case of cutting and pasting material into a different order, with some additional explanation and linking. If this produces a more relevant and streamlined argument it is well worth the effort.</a:t>
            </a:r>
          </a:p>
          <a:p>
            <a:endParaRPr lang="en-ZA" dirty="0"/>
          </a:p>
        </p:txBody>
      </p:sp>
    </p:spTree>
    <p:extLst>
      <p:ext uri="{BB962C8B-B14F-4D97-AF65-F5344CB8AC3E}">
        <p14:creationId xmlns:p14="http://schemas.microsoft.com/office/powerpoint/2010/main" val="13853098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a:t>Reviewing your review – useful questions</a:t>
            </a:r>
          </a:p>
        </p:txBody>
      </p:sp>
      <p:sp>
        <p:nvSpPr>
          <p:cNvPr id="3" name="Content Placeholder 2"/>
          <p:cNvSpPr>
            <a:spLocks noGrp="1"/>
          </p:cNvSpPr>
          <p:nvPr>
            <p:ph idx="1"/>
          </p:nvPr>
        </p:nvSpPr>
        <p:spPr>
          <a:xfrm>
            <a:off x="838200" y="1409700"/>
            <a:ext cx="5435600" cy="4767263"/>
          </a:xfrm>
        </p:spPr>
        <p:txBody>
          <a:bodyPr>
            <a:normAutofit fontScale="62500" lnSpcReduction="20000"/>
          </a:bodyPr>
          <a:lstStyle/>
          <a:p>
            <a:pPr marL="285750" indent="-285750"/>
            <a:r>
              <a:rPr lang="en-ZA" dirty="0"/>
              <a:t>What is the balance between description and comment?</a:t>
            </a:r>
          </a:p>
          <a:p>
            <a:pPr marL="285750" indent="-285750"/>
            <a:endParaRPr lang="en-ZA" dirty="0"/>
          </a:p>
          <a:p>
            <a:pPr marL="285750" indent="-285750"/>
            <a:r>
              <a:rPr lang="en-ZA" dirty="0"/>
              <a:t>Have I missed out any important dimension of the argument, or literature?</a:t>
            </a:r>
          </a:p>
          <a:p>
            <a:pPr marL="285750" indent="-285750"/>
            <a:endParaRPr lang="en-ZA" dirty="0"/>
          </a:p>
          <a:p>
            <a:pPr marL="285750" indent="-285750"/>
            <a:r>
              <a:rPr lang="en-ZA" dirty="0"/>
              <a:t>Have I supported the development of each step in my argument effectively?</a:t>
            </a:r>
          </a:p>
          <a:p>
            <a:pPr marL="285750" indent="-285750"/>
            <a:endParaRPr lang="en-ZA" dirty="0"/>
          </a:p>
          <a:p>
            <a:pPr marL="285750" indent="-285750"/>
            <a:r>
              <a:rPr lang="en-ZA" dirty="0"/>
              <a:t>Is the material presented in the most effective order?</a:t>
            </a:r>
          </a:p>
          <a:p>
            <a:pPr marL="285750" indent="-285750"/>
            <a:endParaRPr lang="en-ZA" dirty="0"/>
          </a:p>
          <a:p>
            <a:pPr marL="285750" indent="-285750"/>
            <a:r>
              <a:rPr lang="en-ZA" dirty="0"/>
              <a:t>Are there places where the reader is left with unanswered questions?</a:t>
            </a:r>
          </a:p>
          <a:p>
            <a:pPr marL="285750" indent="-285750"/>
            <a:endParaRPr lang="en-ZA" dirty="0"/>
          </a:p>
          <a:p>
            <a:pPr marL="285750" indent="-285750"/>
            <a:r>
              <a:rPr lang="en-ZA" dirty="0"/>
              <a:t>Is every element of my research question supported by the preceding material?</a:t>
            </a:r>
          </a:p>
          <a:p>
            <a:pPr marL="285750" indent="-285750"/>
            <a:endParaRPr lang="en-ZA" dirty="0"/>
          </a:p>
          <a:p>
            <a:endParaRPr lang="en-ZA" dirty="0"/>
          </a:p>
        </p:txBody>
      </p:sp>
      <p:sp>
        <p:nvSpPr>
          <p:cNvPr id="5" name="Rectangle 4"/>
          <p:cNvSpPr/>
          <p:nvPr/>
        </p:nvSpPr>
        <p:spPr>
          <a:xfrm>
            <a:off x="6438900" y="1409700"/>
            <a:ext cx="5473700" cy="3693319"/>
          </a:xfrm>
          <a:prstGeom prst="rect">
            <a:avLst/>
          </a:prstGeom>
        </p:spPr>
        <p:txBody>
          <a:bodyPr wrap="square">
            <a:spAutoFit/>
          </a:bodyPr>
          <a:lstStyle/>
          <a:p>
            <a:pPr marL="285750" indent="-285750">
              <a:buFont typeface="Arial" panose="020B0604020202020204" pitchFamily="34" charset="0"/>
              <a:buChar char="•"/>
            </a:pPr>
            <a:r>
              <a:rPr lang="en-ZA" dirty="0"/>
              <a:t>Have I explained to the reader the relevance of each piece of evidence?</a:t>
            </a:r>
          </a:p>
          <a:p>
            <a:pPr marL="285750" indent="-285750"/>
            <a:endParaRPr lang="en-ZA" dirty="0"/>
          </a:p>
          <a:p>
            <a:pPr marL="285750" indent="-285750">
              <a:buFont typeface="Arial" panose="020B0604020202020204" pitchFamily="34" charset="0"/>
              <a:buChar char="•"/>
            </a:pPr>
            <a:r>
              <a:rPr lang="en-ZA" dirty="0"/>
              <a:t>Is there any material that is interesting but which does not contribute to the development of the argument?</a:t>
            </a:r>
          </a:p>
          <a:p>
            <a:pPr marL="285750" indent="-285750"/>
            <a:endParaRPr lang="en-ZA" dirty="0"/>
          </a:p>
          <a:p>
            <a:pPr marL="285750" indent="-285750">
              <a:buFont typeface="Arial" panose="020B0604020202020204" pitchFamily="34" charset="0"/>
              <a:buChar char="•"/>
            </a:pPr>
            <a:r>
              <a:rPr lang="en-ZA" dirty="0"/>
              <a:t>Have I explained adequately the justification for this research approach / topic / question?</a:t>
            </a:r>
          </a:p>
          <a:p>
            <a:pPr marL="285750" indent="-285750"/>
            <a:endParaRPr lang="en-ZA" dirty="0"/>
          </a:p>
          <a:p>
            <a:pPr marL="285750" indent="-285750">
              <a:buFont typeface="Arial" panose="020B0604020202020204" pitchFamily="34" charset="0"/>
              <a:buChar char="•"/>
            </a:pPr>
            <a:r>
              <a:rPr lang="en-ZA" dirty="0"/>
              <a:t>Are my references up to date?</a:t>
            </a:r>
          </a:p>
          <a:p>
            <a:pPr marL="285750" indent="-285750"/>
            <a:endParaRPr lang="en-ZA" dirty="0"/>
          </a:p>
          <a:p>
            <a:pPr marL="285750" indent="-285750">
              <a:buFont typeface="Arial" panose="020B0604020202020204" pitchFamily="34" charset="0"/>
              <a:buChar char="•"/>
            </a:pPr>
            <a:r>
              <a:rPr lang="en-ZA" dirty="0"/>
              <a:t>How effective is my linking of all the elements?</a:t>
            </a:r>
          </a:p>
        </p:txBody>
      </p:sp>
    </p:spTree>
    <p:extLst>
      <p:ext uri="{BB962C8B-B14F-4D97-AF65-F5344CB8AC3E}">
        <p14:creationId xmlns:p14="http://schemas.microsoft.com/office/powerpoint/2010/main" val="20927357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a:t>Remember….</a:t>
            </a:r>
          </a:p>
        </p:txBody>
      </p:sp>
      <p:sp>
        <p:nvSpPr>
          <p:cNvPr id="3" name="Content Placeholder 2"/>
          <p:cNvSpPr>
            <a:spLocks noGrp="1"/>
          </p:cNvSpPr>
          <p:nvPr>
            <p:ph idx="1"/>
          </p:nvPr>
        </p:nvSpPr>
        <p:spPr/>
        <p:txBody>
          <a:bodyPr>
            <a:normAutofit fontScale="70000" lnSpcReduction="20000"/>
          </a:bodyPr>
          <a:lstStyle/>
          <a:p>
            <a:pPr marL="0" indent="0">
              <a:buNone/>
            </a:pPr>
            <a:r>
              <a:rPr lang="en-ZA" b="1" dirty="0"/>
              <a:t>Use a </a:t>
            </a:r>
            <a:r>
              <a:rPr lang="en-ZA" sz="5700" b="1" dirty="0">
                <a:latin typeface="Edwardian Script ITC" panose="030303020407070D0804" pitchFamily="66" charset="0"/>
              </a:rPr>
              <a:t>narrative</a:t>
            </a:r>
            <a:r>
              <a:rPr lang="en-ZA" b="1" dirty="0"/>
              <a:t>  thread: </a:t>
            </a:r>
          </a:p>
          <a:p>
            <a:r>
              <a:rPr lang="en-ZA" dirty="0"/>
              <a:t>Although you clearly need to write in an academic style, it can be helpful to imagine that you are </a:t>
            </a:r>
            <a:r>
              <a:rPr lang="en-ZA" u="sng" dirty="0"/>
              <a:t>telling a story</a:t>
            </a:r>
            <a:r>
              <a:rPr lang="en-ZA" dirty="0"/>
              <a:t>. The </a:t>
            </a:r>
            <a:r>
              <a:rPr lang="en-ZA" b="1" dirty="0"/>
              <a:t>thread</a:t>
            </a:r>
            <a:r>
              <a:rPr lang="en-ZA" dirty="0"/>
              <a:t> running through the story is the explanation of why you decided to do the study that you are doing.</a:t>
            </a:r>
          </a:p>
          <a:p>
            <a:pPr marL="0" indent="0">
              <a:buNone/>
            </a:pPr>
            <a:r>
              <a:rPr lang="en-ZA" dirty="0"/>
              <a:t> </a:t>
            </a:r>
          </a:p>
          <a:p>
            <a:pPr marL="0" indent="0">
              <a:buNone/>
            </a:pPr>
            <a:r>
              <a:rPr lang="en-ZA" b="1" dirty="0">
                <a:solidFill>
                  <a:srgbClr val="FF0000"/>
                </a:solidFill>
              </a:rPr>
              <a:t>The story needs to be logical, informative, persuasive, comprehensive and, ideally, </a:t>
            </a:r>
            <a:r>
              <a:rPr lang="en-ZA" sz="4100" b="1" dirty="0">
                <a:solidFill>
                  <a:schemeClr val="accent5">
                    <a:lumMod val="50000"/>
                  </a:schemeClr>
                </a:solidFill>
              </a:rPr>
              <a:t>interesting</a:t>
            </a:r>
            <a:r>
              <a:rPr lang="en-ZA" b="1" dirty="0">
                <a:solidFill>
                  <a:srgbClr val="FF0000"/>
                </a:solidFill>
              </a:rPr>
              <a:t>. It needs to reach the logical conclusion that your research is a </a:t>
            </a:r>
            <a:r>
              <a:rPr lang="en-ZA" sz="4100" b="1" dirty="0"/>
              <a:t>good idea</a:t>
            </a:r>
            <a:r>
              <a:rPr lang="en-ZA" sz="4100" b="1" dirty="0">
                <a:solidFill>
                  <a:srgbClr val="FF0000"/>
                </a:solidFill>
              </a:rPr>
              <a:t>.</a:t>
            </a:r>
          </a:p>
          <a:p>
            <a:endParaRPr lang="en-ZA" sz="4100" dirty="0"/>
          </a:p>
          <a:p>
            <a:r>
              <a:rPr lang="en-ZA" dirty="0"/>
              <a:t>The aim is for the reader to reach the end of the literature review with a clear appreciation of:</a:t>
            </a:r>
          </a:p>
          <a:p>
            <a:pPr lvl="1"/>
            <a:r>
              <a:rPr lang="en-ZA" dirty="0"/>
              <a:t> what you are doing;</a:t>
            </a:r>
          </a:p>
          <a:p>
            <a:pPr lvl="1"/>
            <a:r>
              <a:rPr lang="en-ZA" dirty="0"/>
              <a:t>why you are doing it;</a:t>
            </a:r>
          </a:p>
          <a:p>
            <a:pPr lvl="1"/>
            <a:r>
              <a:rPr lang="en-ZA" dirty="0"/>
              <a:t>and how it fits in with other research in your field.</a:t>
            </a:r>
          </a:p>
          <a:p>
            <a:endParaRPr lang="en-ZA" dirty="0"/>
          </a:p>
        </p:txBody>
      </p:sp>
    </p:spTree>
    <p:extLst>
      <p:ext uri="{BB962C8B-B14F-4D97-AF65-F5344CB8AC3E}">
        <p14:creationId xmlns:p14="http://schemas.microsoft.com/office/powerpoint/2010/main" val="33219055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206499"/>
          </a:xfrm>
        </p:spPr>
        <p:txBody>
          <a:bodyPr>
            <a:normAutofit fontScale="90000"/>
          </a:bodyPr>
          <a:lstStyle/>
          <a:p>
            <a:r>
              <a:rPr lang="en-ZA" b="1" dirty="0"/>
              <a:t>Links to sources:</a:t>
            </a:r>
            <a:br>
              <a:rPr lang="en-ZA" dirty="0"/>
            </a:br>
            <a:endParaRPr lang="en-ZA" dirty="0"/>
          </a:p>
        </p:txBody>
      </p:sp>
      <p:sp>
        <p:nvSpPr>
          <p:cNvPr id="3" name="Content Placeholder 2"/>
          <p:cNvSpPr>
            <a:spLocks noGrp="1"/>
          </p:cNvSpPr>
          <p:nvPr>
            <p:ph idx="1"/>
          </p:nvPr>
        </p:nvSpPr>
        <p:spPr>
          <a:xfrm>
            <a:off x="838200" y="863600"/>
            <a:ext cx="10515600" cy="5313363"/>
          </a:xfrm>
        </p:spPr>
        <p:txBody>
          <a:bodyPr>
            <a:normAutofit fontScale="55000" lnSpcReduction="20000"/>
          </a:bodyPr>
          <a:lstStyle/>
          <a:p>
            <a:r>
              <a:rPr lang="en-ZA" dirty="0">
                <a:hlinkClick r:id="rId2"/>
              </a:rPr>
              <a:t>https://www.scribbr.com/dissertation/literature-review/</a:t>
            </a:r>
            <a:endParaRPr lang="en-ZA" dirty="0"/>
          </a:p>
          <a:p>
            <a:endParaRPr lang="en-ZA" dirty="0">
              <a:hlinkClick r:id="rId3"/>
            </a:endParaRPr>
          </a:p>
          <a:p>
            <a:r>
              <a:rPr lang="en-ZA" dirty="0">
                <a:hlinkClick r:id="rId3"/>
              </a:rPr>
              <a:t>https://www.vocabulary.com/dictionary/evaluate</a:t>
            </a:r>
          </a:p>
          <a:p>
            <a:endParaRPr lang="en-ZA" dirty="0">
              <a:hlinkClick r:id="rId3"/>
            </a:endParaRPr>
          </a:p>
          <a:p>
            <a:r>
              <a:rPr lang="en-ZA" dirty="0">
                <a:hlinkClick r:id="rId3"/>
              </a:rPr>
              <a:t>http://www.ldoceonline.com/dictionary/evaluate</a:t>
            </a:r>
            <a:endParaRPr lang="en-ZA" dirty="0"/>
          </a:p>
          <a:p>
            <a:endParaRPr lang="en-ZA" dirty="0"/>
          </a:p>
          <a:p>
            <a:r>
              <a:rPr lang="en-ZA" dirty="0">
                <a:hlinkClick r:id="rId4"/>
              </a:rPr>
              <a:t>https://en.oxforddictionaries.com/definition/scholarship</a:t>
            </a:r>
            <a:endParaRPr lang="en-ZA" dirty="0"/>
          </a:p>
          <a:p>
            <a:endParaRPr lang="en-ZA" dirty="0"/>
          </a:p>
          <a:p>
            <a:r>
              <a:rPr lang="en-ZA" dirty="0">
                <a:hlinkClick r:id="rId5"/>
              </a:rPr>
              <a:t>http://dictionary.cambridge.org/dictionary/english/scholarship</a:t>
            </a:r>
            <a:endParaRPr lang="en-ZA" dirty="0"/>
          </a:p>
          <a:p>
            <a:endParaRPr lang="en-ZA" dirty="0"/>
          </a:p>
          <a:p>
            <a:r>
              <a:rPr lang="en-ZA" dirty="0">
                <a:hlinkClick r:id="rId6"/>
              </a:rPr>
              <a:t>https://ltl.lincoln.ac.nz/research/writing-a-literature-review/what-is-a-literature-review/</a:t>
            </a:r>
            <a:endParaRPr lang="en-ZA" dirty="0"/>
          </a:p>
          <a:p>
            <a:pPr marL="0" indent="0">
              <a:buNone/>
            </a:pPr>
            <a:endParaRPr lang="en-ZA" dirty="0"/>
          </a:p>
          <a:p>
            <a:r>
              <a:rPr lang="en-ZA" dirty="0">
                <a:hlinkClick r:id="rId7"/>
              </a:rPr>
              <a:t>http://www.brooklyn.cuny.edu/web/aca_facultywac/Mini-Lessons-LiteratureReview.pdf</a:t>
            </a:r>
            <a:endParaRPr lang="en-ZA" dirty="0"/>
          </a:p>
          <a:p>
            <a:endParaRPr lang="en-ZA" dirty="0"/>
          </a:p>
          <a:p>
            <a:r>
              <a:rPr lang="en-ZA" dirty="0">
                <a:hlinkClick r:id="rId8"/>
              </a:rPr>
              <a:t>http://www2.le.ac.uk/offices/ld/resources/writing/writing-resources/literature-review</a:t>
            </a:r>
            <a:endParaRPr lang="en-ZA" dirty="0"/>
          </a:p>
          <a:p>
            <a:pPr marL="0" indent="0">
              <a:buNone/>
            </a:pPr>
            <a:endParaRPr lang="en-ZA" dirty="0"/>
          </a:p>
          <a:p>
            <a:r>
              <a:rPr lang="en-ZA" dirty="0">
                <a:hlinkClick r:id="rId9"/>
              </a:rPr>
              <a:t>http://www.monash.edu.au/lls/llonline/writing/general/lit-reviews/index.xml</a:t>
            </a:r>
            <a:endParaRPr lang="en-ZA" dirty="0"/>
          </a:p>
          <a:p>
            <a:endParaRPr lang="en-ZA" dirty="0"/>
          </a:p>
        </p:txBody>
      </p:sp>
    </p:spTree>
    <p:extLst>
      <p:ext uri="{BB962C8B-B14F-4D97-AF65-F5344CB8AC3E}">
        <p14:creationId xmlns:p14="http://schemas.microsoft.com/office/powerpoint/2010/main" val="13749848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1608</TotalTime>
  <Words>4151</Words>
  <Application>Microsoft Office PowerPoint</Application>
  <PresentationFormat>Widescreen</PresentationFormat>
  <Paragraphs>341</Paragraphs>
  <Slides>34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Calibri</vt:lpstr>
      <vt:lpstr>Calibri Light</vt:lpstr>
      <vt:lpstr>Edwardian Script ITC</vt:lpstr>
      <vt:lpstr>Wingdings</vt:lpstr>
      <vt:lpstr>Office Theme</vt:lpstr>
      <vt:lpstr>Writing a literature review</vt:lpstr>
      <vt:lpstr>Definition</vt:lpstr>
      <vt:lpstr>Definition</vt:lpstr>
      <vt:lpstr>Why write a literature review?</vt:lpstr>
      <vt:lpstr>Writing a literature review</vt:lpstr>
      <vt:lpstr>Step 1: Search for relevant literature</vt:lpstr>
      <vt:lpstr>Step 1: Search for relevant literature </vt:lpstr>
      <vt:lpstr>Step 1: Search for relevant literature</vt:lpstr>
      <vt:lpstr>Step 1: Search for relevant literature</vt:lpstr>
      <vt:lpstr>Step 2: Evaluating your sources</vt:lpstr>
      <vt:lpstr>Step 2: Evaluate your sources</vt:lpstr>
      <vt:lpstr>Step 2: Evaluate your sources</vt:lpstr>
      <vt:lpstr>Step 3: Identify themes, debates, and gaps </vt:lpstr>
      <vt:lpstr>Step 3: Identify themes, debates, and gaps </vt:lpstr>
      <vt:lpstr>Step 4: Outline your literature review’s structure </vt:lpstr>
      <vt:lpstr>Step 4: Outline your literature review’s structure </vt:lpstr>
      <vt:lpstr>Step 4: Outline your literature review’s structure </vt:lpstr>
      <vt:lpstr>Step 4: Outline your literature review’s structure </vt:lpstr>
      <vt:lpstr>Step 4: Outline your literature review’s structure </vt:lpstr>
      <vt:lpstr>  Step 5: Write your literature review  </vt:lpstr>
      <vt:lpstr>  Step 5: Write your literature review  </vt:lpstr>
      <vt:lpstr>Step 5: Write your literature review</vt:lpstr>
      <vt:lpstr>Step 5: Write your literature review</vt:lpstr>
      <vt:lpstr>Step 5: Write your literature review</vt:lpstr>
      <vt:lpstr>.</vt:lpstr>
      <vt:lpstr>Step 5: Write your literature review</vt:lpstr>
      <vt:lpstr>Step 5: Write your literature review</vt:lpstr>
      <vt:lpstr>Additional notes</vt:lpstr>
      <vt:lpstr>Examples of transitional words and phrases</vt:lpstr>
      <vt:lpstr>Additional notes:</vt:lpstr>
      <vt:lpstr>Additional notes – reviewing your review</vt:lpstr>
      <vt:lpstr>Reviewing your review – useful questions</vt:lpstr>
      <vt:lpstr>Remember….</vt:lpstr>
      <vt:lpstr>Links to sources: </vt:lpstr>
    </vt:vector>
  </TitlesOfParts>
  <Company>CPUT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Writing a literature review</dc:title>
  <dc:creator>Nicole Wessels</dc:creator>
  <cp:lastModifiedBy>Nicole Wessels</cp:lastModifiedBy>
  <cp:revision>44</cp:revision>
  <dcterms:created xsi:type="dcterms:W3CDTF">2020-07-14T11:47:52Z</dcterms:created>
  <dcterms:modified xsi:type="dcterms:W3CDTF">2022-05-12T07:29:48Z</dcterms:modified>
</cp:coreProperties>
</file>