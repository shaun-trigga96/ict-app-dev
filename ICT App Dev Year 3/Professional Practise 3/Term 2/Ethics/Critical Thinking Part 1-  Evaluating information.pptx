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708" r:id="rId4"/>
    <p:sldMasterId id="2147483720" r:id="rId5"/>
    <p:sldMasterId id="2147483732" r:id="rId6"/>
    <p:sldMasterId id="2147483744" r:id="rId7"/>
  </p:sldMasterIdLst>
  <p:sldIdLst>
    <p:sldId id="257" r:id="rId8"/>
    <p:sldId id="272" r:id="rId9"/>
    <p:sldId id="273" r:id="rId10"/>
    <p:sldId id="274" r:id="rId11"/>
    <p:sldId id="276" r:id="rId12"/>
    <p:sldId id="279" r:id="rId13"/>
    <p:sldId id="280" r:id="rId14"/>
    <p:sldId id="281" r:id="rId15"/>
    <p:sldId id="282" r:id="rId16"/>
    <p:sldId id="283" r:id="rId17"/>
    <p:sldId id="284" r:id="rId18"/>
    <p:sldId id="286" r:id="rId19"/>
    <p:sldId id="288" r:id="rId20"/>
    <p:sldId id="289" r:id="rId21"/>
    <p:sldId id="290" r:id="rId22"/>
    <p:sldId id="291" r:id="rId23"/>
    <p:sldId id="292" r:id="rId24"/>
    <p:sldId id="294" r:id="rId25"/>
    <p:sldId id="296" r:id="rId26"/>
    <p:sldId id="297"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F3BAC5-9607-4926-8024-07C4DE3364DB}" v="39" dt="2022-04-22T07:52:44.1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slideMaster" Target="slideMasters/slideMaster3.xml"/><Relationship Id="rId21" Type="http://schemas.openxmlformats.org/officeDocument/2006/relationships/slide" Target="slides/slide14.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6/11/relationships/changesInfo" Target="changesInfos/changesInfo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theme" Target="theme/theme1.xml"/><Relationship Id="rId8"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Wessels" userId="e771acc8-ecbb-4505-a306-f38d70d34d18" providerId="ADAL" clId="{5BF3BAC5-9607-4926-8024-07C4DE3364DB}"/>
    <pc:docChg chg="custSel modSld">
      <pc:chgData name="Nicole Wessels" userId="e771acc8-ecbb-4505-a306-f38d70d34d18" providerId="ADAL" clId="{5BF3BAC5-9607-4926-8024-07C4DE3364DB}" dt="2022-04-22T07:52:44.107" v="126" actId="20577"/>
      <pc:docMkLst>
        <pc:docMk/>
      </pc:docMkLst>
      <pc:sldChg chg="modSp mod">
        <pc:chgData name="Nicole Wessels" userId="e771acc8-ecbb-4505-a306-f38d70d34d18" providerId="ADAL" clId="{5BF3BAC5-9607-4926-8024-07C4DE3364DB}" dt="2022-04-22T07:47:23.968" v="60" actId="20577"/>
        <pc:sldMkLst>
          <pc:docMk/>
          <pc:sldMk cId="1658695591" sldId="276"/>
        </pc:sldMkLst>
        <pc:spChg chg="mod">
          <ac:chgData name="Nicole Wessels" userId="e771acc8-ecbb-4505-a306-f38d70d34d18" providerId="ADAL" clId="{5BF3BAC5-9607-4926-8024-07C4DE3364DB}" dt="2022-04-22T07:47:23.968" v="60" actId="20577"/>
          <ac:spMkLst>
            <pc:docMk/>
            <pc:sldMk cId="1658695591" sldId="276"/>
            <ac:spMk id="3" creationId="{00000000-0000-0000-0000-000000000000}"/>
          </ac:spMkLst>
        </pc:spChg>
      </pc:sldChg>
      <pc:sldChg chg="modSp mod">
        <pc:chgData name="Nicole Wessels" userId="e771acc8-ecbb-4505-a306-f38d70d34d18" providerId="ADAL" clId="{5BF3BAC5-9607-4926-8024-07C4DE3364DB}" dt="2022-04-22T07:47:51.877" v="65" actId="20577"/>
        <pc:sldMkLst>
          <pc:docMk/>
          <pc:sldMk cId="1181175482" sldId="279"/>
        </pc:sldMkLst>
        <pc:graphicFrameChg chg="modGraphic">
          <ac:chgData name="Nicole Wessels" userId="e771acc8-ecbb-4505-a306-f38d70d34d18" providerId="ADAL" clId="{5BF3BAC5-9607-4926-8024-07C4DE3364DB}" dt="2022-04-22T07:47:51.877" v="65" actId="20577"/>
          <ac:graphicFrameMkLst>
            <pc:docMk/>
            <pc:sldMk cId="1181175482" sldId="279"/>
            <ac:graphicFrameMk id="4" creationId="{4132B80F-C199-44EB-8EEF-D0E29588D312}"/>
          </ac:graphicFrameMkLst>
        </pc:graphicFrameChg>
        <pc:picChg chg="mod">
          <ac:chgData name="Nicole Wessels" userId="e771acc8-ecbb-4505-a306-f38d70d34d18" providerId="ADAL" clId="{5BF3BAC5-9607-4926-8024-07C4DE3364DB}" dt="2022-04-22T07:47:36.584" v="61" actId="14100"/>
          <ac:picMkLst>
            <pc:docMk/>
            <pc:sldMk cId="1181175482" sldId="279"/>
            <ac:picMk id="8" creationId="{5EF1C9B5-0E54-44C9-9C6D-88E3DE2CB10F}"/>
          </ac:picMkLst>
        </pc:picChg>
        <pc:picChg chg="mod">
          <ac:chgData name="Nicole Wessels" userId="e771acc8-ecbb-4505-a306-f38d70d34d18" providerId="ADAL" clId="{5BF3BAC5-9607-4926-8024-07C4DE3364DB}" dt="2022-04-22T07:47:45.292" v="64" actId="14100"/>
          <ac:picMkLst>
            <pc:docMk/>
            <pc:sldMk cId="1181175482" sldId="279"/>
            <ac:picMk id="10" creationId="{2C0E72C7-BE1A-4876-947D-C76443A59D6E}"/>
          </ac:picMkLst>
        </pc:picChg>
      </pc:sldChg>
      <pc:sldChg chg="modSp mod">
        <pc:chgData name="Nicole Wessels" userId="e771acc8-ecbb-4505-a306-f38d70d34d18" providerId="ADAL" clId="{5BF3BAC5-9607-4926-8024-07C4DE3364DB}" dt="2022-04-22T07:48:05.230" v="69" actId="20577"/>
        <pc:sldMkLst>
          <pc:docMk/>
          <pc:sldMk cId="3601975218" sldId="282"/>
        </pc:sldMkLst>
        <pc:graphicFrameChg chg="modGraphic">
          <ac:chgData name="Nicole Wessels" userId="e771acc8-ecbb-4505-a306-f38d70d34d18" providerId="ADAL" clId="{5BF3BAC5-9607-4926-8024-07C4DE3364DB}" dt="2022-04-22T07:48:05.230" v="69" actId="20577"/>
          <ac:graphicFrameMkLst>
            <pc:docMk/>
            <pc:sldMk cId="3601975218" sldId="282"/>
            <ac:graphicFrameMk id="4" creationId="{590E4282-1275-47CA-8D62-8D1E3AE79F24}"/>
          </ac:graphicFrameMkLst>
        </pc:graphicFrameChg>
      </pc:sldChg>
      <pc:sldChg chg="modSp mod">
        <pc:chgData name="Nicole Wessels" userId="e771acc8-ecbb-4505-a306-f38d70d34d18" providerId="ADAL" clId="{5BF3BAC5-9607-4926-8024-07C4DE3364DB}" dt="2022-04-22T07:49:14.349" v="76" actId="207"/>
        <pc:sldMkLst>
          <pc:docMk/>
          <pc:sldMk cId="2222472460" sldId="284"/>
        </pc:sldMkLst>
        <pc:graphicFrameChg chg="modGraphic">
          <ac:chgData name="Nicole Wessels" userId="e771acc8-ecbb-4505-a306-f38d70d34d18" providerId="ADAL" clId="{5BF3BAC5-9607-4926-8024-07C4DE3364DB}" dt="2022-04-22T07:49:14.349" v="76" actId="207"/>
          <ac:graphicFrameMkLst>
            <pc:docMk/>
            <pc:sldMk cId="2222472460" sldId="284"/>
            <ac:graphicFrameMk id="5" creationId="{8B243FB8-46D4-46AF-99DB-279490BE36C9}"/>
          </ac:graphicFrameMkLst>
        </pc:graphicFrameChg>
      </pc:sldChg>
      <pc:sldChg chg="modSp mod">
        <pc:chgData name="Nicole Wessels" userId="e771acc8-ecbb-4505-a306-f38d70d34d18" providerId="ADAL" clId="{5BF3BAC5-9607-4926-8024-07C4DE3364DB}" dt="2022-04-22T07:49:56.128" v="85" actId="20577"/>
        <pc:sldMkLst>
          <pc:docMk/>
          <pc:sldMk cId="3297022600" sldId="286"/>
        </pc:sldMkLst>
        <pc:graphicFrameChg chg="modGraphic">
          <ac:chgData name="Nicole Wessels" userId="e771acc8-ecbb-4505-a306-f38d70d34d18" providerId="ADAL" clId="{5BF3BAC5-9607-4926-8024-07C4DE3364DB}" dt="2022-04-22T07:49:56.128" v="85" actId="20577"/>
          <ac:graphicFrameMkLst>
            <pc:docMk/>
            <pc:sldMk cId="3297022600" sldId="286"/>
            <ac:graphicFrameMk id="5" creationId="{77E82CB5-6470-44DE-9A83-5EA8DAFAD176}"/>
          </ac:graphicFrameMkLst>
        </pc:graphicFrameChg>
      </pc:sldChg>
      <pc:sldChg chg="addSp modSp mod">
        <pc:chgData name="Nicole Wessels" userId="e771acc8-ecbb-4505-a306-f38d70d34d18" providerId="ADAL" clId="{5BF3BAC5-9607-4926-8024-07C4DE3364DB}" dt="2022-04-22T07:51:17.896" v="91" actId="14100"/>
        <pc:sldMkLst>
          <pc:docMk/>
          <pc:sldMk cId="1732927340" sldId="289"/>
        </pc:sldMkLst>
        <pc:spChg chg="mod">
          <ac:chgData name="Nicole Wessels" userId="e771acc8-ecbb-4505-a306-f38d70d34d18" providerId="ADAL" clId="{5BF3BAC5-9607-4926-8024-07C4DE3364DB}" dt="2022-04-22T07:51:17.896" v="91" actId="14100"/>
          <ac:spMkLst>
            <pc:docMk/>
            <pc:sldMk cId="1732927340" sldId="289"/>
            <ac:spMk id="2" creationId="{00000000-0000-0000-0000-000000000000}"/>
          </ac:spMkLst>
        </pc:spChg>
        <pc:spChg chg="mod">
          <ac:chgData name="Nicole Wessels" userId="e771acc8-ecbb-4505-a306-f38d70d34d18" providerId="ADAL" clId="{5BF3BAC5-9607-4926-8024-07C4DE3364DB}" dt="2022-04-22T07:51:00.891" v="86" actId="1076"/>
          <ac:spMkLst>
            <pc:docMk/>
            <pc:sldMk cId="1732927340" sldId="289"/>
            <ac:spMk id="3" creationId="{00000000-0000-0000-0000-000000000000}"/>
          </ac:spMkLst>
        </pc:spChg>
        <pc:picChg chg="add mod">
          <ac:chgData name="Nicole Wessels" userId="e771acc8-ecbb-4505-a306-f38d70d34d18" providerId="ADAL" clId="{5BF3BAC5-9607-4926-8024-07C4DE3364DB}" dt="2022-04-22T07:51:11.059" v="90" actId="14100"/>
          <ac:picMkLst>
            <pc:docMk/>
            <pc:sldMk cId="1732927340" sldId="289"/>
            <ac:picMk id="4" creationId="{EFFEC96C-2CAE-4288-AFA9-A2EA9A0E7E32}"/>
          </ac:picMkLst>
        </pc:picChg>
      </pc:sldChg>
      <pc:sldChg chg="addSp modSp">
        <pc:chgData name="Nicole Wessels" userId="e771acc8-ecbb-4505-a306-f38d70d34d18" providerId="ADAL" clId="{5BF3BAC5-9607-4926-8024-07C4DE3364DB}" dt="2022-04-22T07:39:20.737" v="5" actId="1076"/>
        <pc:sldMkLst>
          <pc:docMk/>
          <pc:sldMk cId="476987068" sldId="290"/>
        </pc:sldMkLst>
        <pc:picChg chg="add mod">
          <ac:chgData name="Nicole Wessels" userId="e771acc8-ecbb-4505-a306-f38d70d34d18" providerId="ADAL" clId="{5BF3BAC5-9607-4926-8024-07C4DE3364DB}" dt="2022-04-22T07:39:20.737" v="5" actId="1076"/>
          <ac:picMkLst>
            <pc:docMk/>
            <pc:sldMk cId="476987068" sldId="290"/>
            <ac:picMk id="1026" creationId="{D024E53C-46BD-457D-B18F-C34FFF2FEE69}"/>
          </ac:picMkLst>
        </pc:picChg>
      </pc:sldChg>
      <pc:sldChg chg="addSp modSp mod">
        <pc:chgData name="Nicole Wessels" userId="e771acc8-ecbb-4505-a306-f38d70d34d18" providerId="ADAL" clId="{5BF3BAC5-9607-4926-8024-07C4DE3364DB}" dt="2022-04-22T07:51:26.460" v="92" actId="1076"/>
        <pc:sldMkLst>
          <pc:docMk/>
          <pc:sldMk cId="4140946905" sldId="291"/>
        </pc:sldMkLst>
        <pc:spChg chg="mod">
          <ac:chgData name="Nicole Wessels" userId="e771acc8-ecbb-4505-a306-f38d70d34d18" providerId="ADAL" clId="{5BF3BAC5-9607-4926-8024-07C4DE3364DB}" dt="2022-04-22T07:39:50.195" v="7" actId="113"/>
          <ac:spMkLst>
            <pc:docMk/>
            <pc:sldMk cId="4140946905" sldId="291"/>
            <ac:spMk id="2" creationId="{00000000-0000-0000-0000-000000000000}"/>
          </ac:spMkLst>
        </pc:spChg>
        <pc:graphicFrameChg chg="mod modGraphic">
          <ac:chgData name="Nicole Wessels" userId="e771acc8-ecbb-4505-a306-f38d70d34d18" providerId="ADAL" clId="{5BF3BAC5-9607-4926-8024-07C4DE3364DB}" dt="2022-04-22T07:41:04.076" v="17"/>
          <ac:graphicFrameMkLst>
            <pc:docMk/>
            <pc:sldMk cId="4140946905" sldId="291"/>
            <ac:graphicFrameMk id="8" creationId="{775682FC-525E-4681-A06E-6469A7C682EC}"/>
          </ac:graphicFrameMkLst>
        </pc:graphicFrameChg>
        <pc:picChg chg="add mod">
          <ac:chgData name="Nicole Wessels" userId="e771acc8-ecbb-4505-a306-f38d70d34d18" providerId="ADAL" clId="{5BF3BAC5-9607-4926-8024-07C4DE3364DB}" dt="2022-04-22T07:51:26.460" v="92" actId="1076"/>
          <ac:picMkLst>
            <pc:docMk/>
            <pc:sldMk cId="4140946905" sldId="291"/>
            <ac:picMk id="4" creationId="{B2D9B2FA-14D1-4E5B-9960-4415A8040DFC}"/>
          </ac:picMkLst>
        </pc:picChg>
      </pc:sldChg>
      <pc:sldChg chg="modSp mod">
        <pc:chgData name="Nicole Wessels" userId="e771acc8-ecbb-4505-a306-f38d70d34d18" providerId="ADAL" clId="{5BF3BAC5-9607-4926-8024-07C4DE3364DB}" dt="2022-04-22T07:42:18.481" v="30" actId="20577"/>
        <pc:sldMkLst>
          <pc:docMk/>
          <pc:sldMk cId="481220474" sldId="292"/>
        </pc:sldMkLst>
        <pc:spChg chg="mod">
          <ac:chgData name="Nicole Wessels" userId="e771acc8-ecbb-4505-a306-f38d70d34d18" providerId="ADAL" clId="{5BF3BAC5-9607-4926-8024-07C4DE3364DB}" dt="2022-04-22T07:42:18.481" v="30" actId="20577"/>
          <ac:spMkLst>
            <pc:docMk/>
            <pc:sldMk cId="481220474" sldId="292"/>
            <ac:spMk id="4" creationId="{00000000-0000-0000-0000-000000000000}"/>
          </ac:spMkLst>
        </pc:spChg>
      </pc:sldChg>
      <pc:sldChg chg="addSp modSp mod">
        <pc:chgData name="Nicole Wessels" userId="e771acc8-ecbb-4505-a306-f38d70d34d18" providerId="ADAL" clId="{5BF3BAC5-9607-4926-8024-07C4DE3364DB}" dt="2022-04-22T07:45:52.023" v="45" actId="14100"/>
        <pc:sldMkLst>
          <pc:docMk/>
          <pc:sldMk cId="3977805514" sldId="294"/>
        </pc:sldMkLst>
        <pc:graphicFrameChg chg="modGraphic">
          <ac:chgData name="Nicole Wessels" userId="e771acc8-ecbb-4505-a306-f38d70d34d18" providerId="ADAL" clId="{5BF3BAC5-9607-4926-8024-07C4DE3364DB}" dt="2022-04-22T07:45:41.913" v="44" actId="20577"/>
          <ac:graphicFrameMkLst>
            <pc:docMk/>
            <pc:sldMk cId="3977805514" sldId="294"/>
            <ac:graphicFrameMk id="4" creationId="{2A80676F-B6AA-4118-B43B-49B685D8532E}"/>
          </ac:graphicFrameMkLst>
        </pc:graphicFrameChg>
        <pc:picChg chg="add mod">
          <ac:chgData name="Nicole Wessels" userId="e771acc8-ecbb-4505-a306-f38d70d34d18" providerId="ADAL" clId="{5BF3BAC5-9607-4926-8024-07C4DE3364DB}" dt="2022-04-22T07:45:52.023" v="45" actId="14100"/>
          <ac:picMkLst>
            <pc:docMk/>
            <pc:sldMk cId="3977805514" sldId="294"/>
            <ac:picMk id="6" creationId="{F44B9D46-568F-4221-A330-209C589D29B9}"/>
          </ac:picMkLst>
        </pc:picChg>
      </pc:sldChg>
      <pc:sldChg chg="addSp modSp mod">
        <pc:chgData name="Nicole Wessels" userId="e771acc8-ecbb-4505-a306-f38d70d34d18" providerId="ADAL" clId="{5BF3BAC5-9607-4926-8024-07C4DE3364DB}" dt="2022-04-22T07:51:47.710" v="96" actId="1076"/>
        <pc:sldMkLst>
          <pc:docMk/>
          <pc:sldMk cId="3228771673" sldId="296"/>
        </pc:sldMkLst>
        <pc:picChg chg="add mod">
          <ac:chgData name="Nicole Wessels" userId="e771acc8-ecbb-4505-a306-f38d70d34d18" providerId="ADAL" clId="{5BF3BAC5-9607-4926-8024-07C4DE3364DB}" dt="2022-04-22T07:51:47.710" v="96" actId="1076"/>
          <ac:picMkLst>
            <pc:docMk/>
            <pc:sldMk cId="3228771673" sldId="296"/>
            <ac:picMk id="4" creationId="{3766A7C8-0F28-47D5-AF4E-7821EB7CC491}"/>
          </ac:picMkLst>
        </pc:picChg>
      </pc:sldChg>
      <pc:sldChg chg="modSp">
        <pc:chgData name="Nicole Wessels" userId="e771acc8-ecbb-4505-a306-f38d70d34d18" providerId="ADAL" clId="{5BF3BAC5-9607-4926-8024-07C4DE3364DB}" dt="2022-04-22T07:52:44.107" v="126" actId="20577"/>
        <pc:sldMkLst>
          <pc:docMk/>
          <pc:sldMk cId="433653164" sldId="297"/>
        </pc:sldMkLst>
        <pc:graphicFrameChg chg="mod">
          <ac:chgData name="Nicole Wessels" userId="e771acc8-ecbb-4505-a306-f38d70d34d18" providerId="ADAL" clId="{5BF3BAC5-9607-4926-8024-07C4DE3364DB}" dt="2022-04-22T07:52:44.107" v="126" actId="20577"/>
          <ac:graphicFrameMkLst>
            <pc:docMk/>
            <pc:sldMk cId="433653164" sldId="297"/>
            <ac:graphicFrameMk id="4" creationId="{00000000-0000-0000-0000-000000000000}"/>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A4550C-704F-4A75-A790-98F13F629F77}" type="doc">
      <dgm:prSet loTypeId="urn:microsoft.com/office/officeart/2005/8/layout/vList6" loCatId="list" qsTypeId="urn:microsoft.com/office/officeart/2005/8/quickstyle/3d8" qsCatId="3D" csTypeId="urn:microsoft.com/office/officeart/2005/8/colors/accent1_2" csCatId="accent1" phldr="1"/>
      <dgm:spPr/>
      <dgm:t>
        <a:bodyPr/>
        <a:lstStyle/>
        <a:p>
          <a:endParaRPr lang="en-US"/>
        </a:p>
      </dgm:t>
    </dgm:pt>
    <dgm:pt modelId="{A341620E-6A86-4484-91F7-89A772ADFC79}">
      <dgm:prSet phldrT="[Text]"/>
      <dgm:spPr/>
      <dgm:t>
        <a:bodyPr/>
        <a:lstStyle/>
        <a:p>
          <a:r>
            <a:rPr lang="en-US" b="1"/>
            <a:t>Chapter 1:</a:t>
          </a:r>
        </a:p>
        <a:p>
          <a:r>
            <a:rPr lang="en-US" b="1"/>
            <a:t>Evaluating information critically</a:t>
          </a:r>
          <a:endParaRPr lang="en-US" b="1" dirty="0"/>
        </a:p>
      </dgm:t>
    </dgm:pt>
    <dgm:pt modelId="{52E18D3F-709F-46B9-A413-710F83C3830F}" type="parTrans" cxnId="{7380C021-D930-4321-ADEA-5ECEE3921876}">
      <dgm:prSet/>
      <dgm:spPr/>
      <dgm:t>
        <a:bodyPr/>
        <a:lstStyle/>
        <a:p>
          <a:endParaRPr lang="en-US"/>
        </a:p>
      </dgm:t>
    </dgm:pt>
    <dgm:pt modelId="{F4F0BC55-2EF9-4C6C-A585-00312A9B19EF}" type="sibTrans" cxnId="{7380C021-D930-4321-ADEA-5ECEE3921876}">
      <dgm:prSet/>
      <dgm:spPr/>
      <dgm:t>
        <a:bodyPr/>
        <a:lstStyle/>
        <a:p>
          <a:endParaRPr lang="en-US"/>
        </a:p>
      </dgm:t>
    </dgm:pt>
    <dgm:pt modelId="{B73B8E1E-9514-4F49-9051-EE43EFF9D00E}">
      <dgm:prSet phldrT="[Text]" custT="1"/>
      <dgm:spPr>
        <a:solidFill>
          <a:schemeClr val="tx2">
            <a:lumMod val="40000"/>
            <a:lumOff val="60000"/>
            <a:alpha val="90000"/>
          </a:schemeClr>
        </a:solidFill>
      </dgm:spPr>
      <dgm:t>
        <a:bodyPr/>
        <a:lstStyle/>
        <a:p>
          <a:r>
            <a:rPr lang="en-US" sz="2000" b="1" dirty="0">
              <a:solidFill>
                <a:schemeClr val="bg1"/>
              </a:solidFill>
            </a:rPr>
            <a:t>The source of information </a:t>
          </a:r>
        </a:p>
      </dgm:t>
    </dgm:pt>
    <dgm:pt modelId="{6CF3186F-0770-4B45-98C7-43EF48ABF2F0}" type="parTrans" cxnId="{0E2C5309-8022-4F6A-8AA9-7FE7E5F1C123}">
      <dgm:prSet/>
      <dgm:spPr/>
      <dgm:t>
        <a:bodyPr/>
        <a:lstStyle/>
        <a:p>
          <a:endParaRPr lang="en-US"/>
        </a:p>
      </dgm:t>
    </dgm:pt>
    <dgm:pt modelId="{D539FAC7-46ED-4FF6-A7ED-A4317D13AC86}" type="sibTrans" cxnId="{0E2C5309-8022-4F6A-8AA9-7FE7E5F1C123}">
      <dgm:prSet/>
      <dgm:spPr/>
      <dgm:t>
        <a:bodyPr/>
        <a:lstStyle/>
        <a:p>
          <a:endParaRPr lang="en-US"/>
        </a:p>
      </dgm:t>
    </dgm:pt>
    <dgm:pt modelId="{8A5ECA30-FBC2-4E8C-8E59-7D0AAE5AF126}">
      <dgm:prSet phldrT="[Text]" custT="1"/>
      <dgm:spPr>
        <a:solidFill>
          <a:schemeClr val="tx2">
            <a:lumMod val="40000"/>
            <a:lumOff val="60000"/>
            <a:alpha val="90000"/>
          </a:schemeClr>
        </a:solidFill>
      </dgm:spPr>
      <dgm:t>
        <a:bodyPr/>
        <a:lstStyle/>
        <a:p>
          <a:r>
            <a:rPr lang="en-US" sz="2000" b="1" dirty="0">
              <a:solidFill>
                <a:schemeClr val="bg1"/>
              </a:solidFill>
            </a:rPr>
            <a:t>Information itself</a:t>
          </a:r>
        </a:p>
      </dgm:t>
    </dgm:pt>
    <dgm:pt modelId="{68F2C240-B4AA-4944-8A53-CCDE39D59FA1}" type="parTrans" cxnId="{036DA2B5-0E82-4C3F-B514-D2B9465FD54B}">
      <dgm:prSet/>
      <dgm:spPr/>
      <dgm:t>
        <a:bodyPr/>
        <a:lstStyle/>
        <a:p>
          <a:endParaRPr lang="en-US"/>
        </a:p>
      </dgm:t>
    </dgm:pt>
    <dgm:pt modelId="{8487B888-5D90-4FDA-BF22-45CC14A4C3BE}" type="sibTrans" cxnId="{036DA2B5-0E82-4C3F-B514-D2B9465FD54B}">
      <dgm:prSet/>
      <dgm:spPr/>
      <dgm:t>
        <a:bodyPr/>
        <a:lstStyle/>
        <a:p>
          <a:endParaRPr lang="en-US"/>
        </a:p>
      </dgm:t>
    </dgm:pt>
    <dgm:pt modelId="{AC0F25C1-CFBB-4786-823D-0AE3F5686683}">
      <dgm:prSet phldrT="[Text]" custT="1"/>
      <dgm:spPr>
        <a:solidFill>
          <a:schemeClr val="tx2">
            <a:lumMod val="40000"/>
            <a:lumOff val="60000"/>
            <a:alpha val="90000"/>
          </a:schemeClr>
        </a:solidFill>
      </dgm:spPr>
      <dgm:t>
        <a:bodyPr/>
        <a:lstStyle/>
        <a:p>
          <a:endParaRPr lang="en-US" sz="2000" b="1" dirty="0">
            <a:solidFill>
              <a:schemeClr val="bg1"/>
            </a:solidFill>
          </a:endParaRPr>
        </a:p>
      </dgm:t>
    </dgm:pt>
    <dgm:pt modelId="{352FE51D-D4A2-4528-BEEF-341FF212B726}" type="parTrans" cxnId="{64DE73F3-2CEC-4050-A4F5-F3289456322F}">
      <dgm:prSet/>
      <dgm:spPr/>
      <dgm:t>
        <a:bodyPr/>
        <a:lstStyle/>
        <a:p>
          <a:endParaRPr lang="en-US"/>
        </a:p>
      </dgm:t>
    </dgm:pt>
    <dgm:pt modelId="{D86F1051-7A1C-42E6-A8C6-70A1265632FB}" type="sibTrans" cxnId="{64DE73F3-2CEC-4050-A4F5-F3289456322F}">
      <dgm:prSet/>
      <dgm:spPr/>
      <dgm:t>
        <a:bodyPr/>
        <a:lstStyle/>
        <a:p>
          <a:endParaRPr lang="en-US"/>
        </a:p>
      </dgm:t>
    </dgm:pt>
    <dgm:pt modelId="{55A32EDF-90E7-4AE6-AEBC-2D94E2B136C1}">
      <dgm:prSet phldrT="[Text]" custT="1"/>
      <dgm:spPr>
        <a:solidFill>
          <a:schemeClr val="tx2">
            <a:lumMod val="40000"/>
            <a:lumOff val="60000"/>
            <a:alpha val="90000"/>
          </a:schemeClr>
        </a:solidFill>
      </dgm:spPr>
      <dgm:t>
        <a:bodyPr/>
        <a:lstStyle/>
        <a:p>
          <a:endParaRPr lang="en-US" sz="2000" b="1" dirty="0">
            <a:solidFill>
              <a:schemeClr val="bg1"/>
            </a:solidFill>
          </a:endParaRPr>
        </a:p>
      </dgm:t>
    </dgm:pt>
    <dgm:pt modelId="{876345C6-2641-4D66-B42E-C89CDBA5A181}" type="parTrans" cxnId="{9B8BA236-0CD0-411D-A2AF-7DDC2FBE3650}">
      <dgm:prSet/>
      <dgm:spPr/>
      <dgm:t>
        <a:bodyPr/>
        <a:lstStyle/>
        <a:p>
          <a:endParaRPr lang="en-US"/>
        </a:p>
      </dgm:t>
    </dgm:pt>
    <dgm:pt modelId="{356A83D4-3F95-42D6-B349-AB32769297AD}" type="sibTrans" cxnId="{9B8BA236-0CD0-411D-A2AF-7DDC2FBE3650}">
      <dgm:prSet/>
      <dgm:spPr/>
      <dgm:t>
        <a:bodyPr/>
        <a:lstStyle/>
        <a:p>
          <a:endParaRPr lang="en-US"/>
        </a:p>
      </dgm:t>
    </dgm:pt>
    <dgm:pt modelId="{8CEAD013-277B-4353-8668-3555F1C05247}">
      <dgm:prSet phldrT="[Text]" custT="1"/>
      <dgm:spPr>
        <a:solidFill>
          <a:schemeClr val="tx2">
            <a:lumMod val="40000"/>
            <a:lumOff val="60000"/>
            <a:alpha val="90000"/>
          </a:schemeClr>
        </a:solidFill>
      </dgm:spPr>
      <dgm:t>
        <a:bodyPr/>
        <a:lstStyle/>
        <a:p>
          <a:r>
            <a:rPr lang="en-US" sz="2000" b="1" dirty="0">
              <a:solidFill>
                <a:schemeClr val="bg1"/>
              </a:solidFill>
            </a:rPr>
            <a:t>Introduction</a:t>
          </a:r>
        </a:p>
      </dgm:t>
    </dgm:pt>
    <dgm:pt modelId="{0099BF5C-0CD9-413C-9A7F-1E93CCC541E9}" type="parTrans" cxnId="{9C12B619-5F32-46CC-8DA5-D0BAAD5F2082}">
      <dgm:prSet/>
      <dgm:spPr/>
      <dgm:t>
        <a:bodyPr/>
        <a:lstStyle/>
        <a:p>
          <a:endParaRPr lang="en-US"/>
        </a:p>
      </dgm:t>
    </dgm:pt>
    <dgm:pt modelId="{2A919DE6-CD8D-42C7-AC7E-368F1C81EFEB}" type="sibTrans" cxnId="{9C12B619-5F32-46CC-8DA5-D0BAAD5F2082}">
      <dgm:prSet/>
      <dgm:spPr/>
      <dgm:t>
        <a:bodyPr/>
        <a:lstStyle/>
        <a:p>
          <a:endParaRPr lang="en-US"/>
        </a:p>
      </dgm:t>
    </dgm:pt>
    <dgm:pt modelId="{AA7FB751-62CA-4D8B-93D9-9F1AFB9462FD}">
      <dgm:prSet phldrT="[Text]" custT="1"/>
      <dgm:spPr>
        <a:solidFill>
          <a:schemeClr val="tx2">
            <a:lumMod val="40000"/>
            <a:lumOff val="60000"/>
            <a:alpha val="90000"/>
          </a:schemeClr>
        </a:solidFill>
      </dgm:spPr>
      <dgm:t>
        <a:bodyPr/>
        <a:lstStyle/>
        <a:p>
          <a:r>
            <a:rPr lang="en-US" sz="2000" b="1" dirty="0">
              <a:solidFill>
                <a:schemeClr val="bg1"/>
              </a:solidFill>
            </a:rPr>
            <a:t>Norms for critical analysis</a:t>
          </a:r>
        </a:p>
      </dgm:t>
    </dgm:pt>
    <dgm:pt modelId="{C542FF05-B52E-4A27-803A-BBA8B9E0E0E8}" type="parTrans" cxnId="{F170CAC0-CE5C-47BF-AA70-11679C1C060B}">
      <dgm:prSet/>
      <dgm:spPr/>
      <dgm:t>
        <a:bodyPr/>
        <a:lstStyle/>
        <a:p>
          <a:endParaRPr lang="en-US"/>
        </a:p>
      </dgm:t>
    </dgm:pt>
    <dgm:pt modelId="{FE8EEE30-5752-4B80-9393-00889B7EE70B}" type="sibTrans" cxnId="{F170CAC0-CE5C-47BF-AA70-11679C1C060B}">
      <dgm:prSet/>
      <dgm:spPr/>
      <dgm:t>
        <a:bodyPr/>
        <a:lstStyle/>
        <a:p>
          <a:endParaRPr lang="en-US"/>
        </a:p>
      </dgm:t>
    </dgm:pt>
    <dgm:pt modelId="{5EB30E6E-F362-410D-A955-55A92C419986}">
      <dgm:prSet phldrT="[Text]" custT="1"/>
      <dgm:spPr>
        <a:solidFill>
          <a:schemeClr val="tx2">
            <a:lumMod val="40000"/>
            <a:lumOff val="60000"/>
            <a:alpha val="90000"/>
          </a:schemeClr>
        </a:solidFill>
      </dgm:spPr>
      <dgm:t>
        <a:bodyPr/>
        <a:lstStyle/>
        <a:p>
          <a:endParaRPr lang="en-US" sz="2000" b="1" dirty="0">
            <a:solidFill>
              <a:schemeClr val="bg1"/>
            </a:solidFill>
          </a:endParaRPr>
        </a:p>
      </dgm:t>
    </dgm:pt>
    <dgm:pt modelId="{7B77F4AC-0774-426E-86E0-2B683CAFC0E1}" type="parTrans" cxnId="{6D9FD2BA-8BD0-4662-BB22-748DEC7B3A6A}">
      <dgm:prSet/>
      <dgm:spPr/>
      <dgm:t>
        <a:bodyPr/>
        <a:lstStyle/>
        <a:p>
          <a:endParaRPr lang="en-US"/>
        </a:p>
      </dgm:t>
    </dgm:pt>
    <dgm:pt modelId="{7AA7BFC4-2035-440B-987C-DB700DD7200F}" type="sibTrans" cxnId="{6D9FD2BA-8BD0-4662-BB22-748DEC7B3A6A}">
      <dgm:prSet/>
      <dgm:spPr/>
      <dgm:t>
        <a:bodyPr/>
        <a:lstStyle/>
        <a:p>
          <a:endParaRPr lang="en-US"/>
        </a:p>
      </dgm:t>
    </dgm:pt>
    <dgm:pt modelId="{295045BF-3A19-4BA2-B5E2-72E6365B7F8E}" type="pres">
      <dgm:prSet presAssocID="{CBA4550C-704F-4A75-A790-98F13F629F77}" presName="Name0" presStyleCnt="0">
        <dgm:presLayoutVars>
          <dgm:dir/>
          <dgm:animLvl val="lvl"/>
          <dgm:resizeHandles/>
        </dgm:presLayoutVars>
      </dgm:prSet>
      <dgm:spPr/>
    </dgm:pt>
    <dgm:pt modelId="{4F6C4138-7122-4A25-AE7E-1D5A1FA4A290}" type="pres">
      <dgm:prSet presAssocID="{A341620E-6A86-4484-91F7-89A772ADFC79}" presName="linNode" presStyleCnt="0"/>
      <dgm:spPr/>
    </dgm:pt>
    <dgm:pt modelId="{91C21177-5C5C-406D-90B7-02931D85EE2F}" type="pres">
      <dgm:prSet presAssocID="{A341620E-6A86-4484-91F7-89A772ADFC79}" presName="parentShp" presStyleLbl="node1" presStyleIdx="0" presStyleCnt="1">
        <dgm:presLayoutVars>
          <dgm:bulletEnabled val="1"/>
        </dgm:presLayoutVars>
      </dgm:prSet>
      <dgm:spPr/>
    </dgm:pt>
    <dgm:pt modelId="{A3ECD672-2C26-4403-A85D-03F6BE6CDB57}" type="pres">
      <dgm:prSet presAssocID="{A341620E-6A86-4484-91F7-89A772ADFC79}" presName="childShp" presStyleLbl="bgAccFollowNode1" presStyleIdx="0" presStyleCnt="1" custLinFactNeighborX="-1042">
        <dgm:presLayoutVars>
          <dgm:bulletEnabled val="1"/>
        </dgm:presLayoutVars>
      </dgm:prSet>
      <dgm:spPr/>
    </dgm:pt>
  </dgm:ptLst>
  <dgm:cxnLst>
    <dgm:cxn modelId="{0E2C5309-8022-4F6A-8AA9-7FE7E5F1C123}" srcId="{A341620E-6A86-4484-91F7-89A772ADFC79}" destId="{B73B8E1E-9514-4F49-9051-EE43EFF9D00E}" srcOrd="4" destOrd="0" parTransId="{6CF3186F-0770-4B45-98C7-43EF48ABF2F0}" sibTransId="{D539FAC7-46ED-4FF6-A7ED-A4317D13AC86}"/>
    <dgm:cxn modelId="{B6EDB60B-E4F6-4CCB-A9EB-CE32EE0409B8}" type="presOf" srcId="{CBA4550C-704F-4A75-A790-98F13F629F77}" destId="{295045BF-3A19-4BA2-B5E2-72E6365B7F8E}" srcOrd="0" destOrd="0" presId="urn:microsoft.com/office/officeart/2005/8/layout/vList6"/>
    <dgm:cxn modelId="{A96ADD18-0433-4A14-878D-3CC8AF85CC64}" type="presOf" srcId="{AA7FB751-62CA-4D8B-93D9-9F1AFB9462FD}" destId="{A3ECD672-2C26-4403-A85D-03F6BE6CDB57}" srcOrd="0" destOrd="2" presId="urn:microsoft.com/office/officeart/2005/8/layout/vList6"/>
    <dgm:cxn modelId="{9C12B619-5F32-46CC-8DA5-D0BAAD5F2082}" srcId="{A341620E-6A86-4484-91F7-89A772ADFC79}" destId="{8CEAD013-277B-4353-8668-3555F1C05247}" srcOrd="0" destOrd="0" parTransId="{0099BF5C-0CD9-413C-9A7F-1E93CCC541E9}" sibTransId="{2A919DE6-CD8D-42C7-AC7E-368F1C81EFEB}"/>
    <dgm:cxn modelId="{7380C021-D930-4321-ADEA-5ECEE3921876}" srcId="{CBA4550C-704F-4A75-A790-98F13F629F77}" destId="{A341620E-6A86-4484-91F7-89A772ADFC79}" srcOrd="0" destOrd="0" parTransId="{52E18D3F-709F-46B9-A413-710F83C3830F}" sibTransId="{F4F0BC55-2EF9-4C6C-A585-00312A9B19EF}"/>
    <dgm:cxn modelId="{A1EDD123-5F7A-414E-AF32-8082C301386D}" type="presOf" srcId="{55A32EDF-90E7-4AE6-AEBC-2D94E2B136C1}" destId="{A3ECD672-2C26-4403-A85D-03F6BE6CDB57}" srcOrd="0" destOrd="5" presId="urn:microsoft.com/office/officeart/2005/8/layout/vList6"/>
    <dgm:cxn modelId="{9B8BA236-0CD0-411D-A2AF-7DDC2FBE3650}" srcId="{A341620E-6A86-4484-91F7-89A772ADFC79}" destId="{55A32EDF-90E7-4AE6-AEBC-2D94E2B136C1}" srcOrd="5" destOrd="0" parTransId="{876345C6-2641-4D66-B42E-C89CDBA5A181}" sibTransId="{356A83D4-3F95-42D6-B349-AB32769297AD}"/>
    <dgm:cxn modelId="{C82D4463-4757-4132-B896-F477944454B5}" type="presOf" srcId="{8CEAD013-277B-4353-8668-3555F1C05247}" destId="{A3ECD672-2C26-4403-A85D-03F6BE6CDB57}" srcOrd="0" destOrd="0" presId="urn:microsoft.com/office/officeart/2005/8/layout/vList6"/>
    <dgm:cxn modelId="{9F341485-604B-47DF-A2A2-64D3B73D10A1}" type="presOf" srcId="{8A5ECA30-FBC2-4E8C-8E59-7D0AAE5AF126}" destId="{A3ECD672-2C26-4403-A85D-03F6BE6CDB57}" srcOrd="0" destOrd="6" presId="urn:microsoft.com/office/officeart/2005/8/layout/vList6"/>
    <dgm:cxn modelId="{E2DB61B2-A64B-4115-961C-0E66E753F51D}" type="presOf" srcId="{A341620E-6A86-4484-91F7-89A772ADFC79}" destId="{91C21177-5C5C-406D-90B7-02931D85EE2F}" srcOrd="0" destOrd="0" presId="urn:microsoft.com/office/officeart/2005/8/layout/vList6"/>
    <dgm:cxn modelId="{036DA2B5-0E82-4C3F-B514-D2B9465FD54B}" srcId="{A341620E-6A86-4484-91F7-89A772ADFC79}" destId="{8A5ECA30-FBC2-4E8C-8E59-7D0AAE5AF126}" srcOrd="6" destOrd="0" parTransId="{68F2C240-B4AA-4944-8A53-CCDE39D59FA1}" sibTransId="{8487B888-5D90-4FDA-BF22-45CC14A4C3BE}"/>
    <dgm:cxn modelId="{299581B6-1170-4D08-B2F4-1D5B75C12931}" type="presOf" srcId="{B73B8E1E-9514-4F49-9051-EE43EFF9D00E}" destId="{A3ECD672-2C26-4403-A85D-03F6BE6CDB57}" srcOrd="0" destOrd="4" presId="urn:microsoft.com/office/officeart/2005/8/layout/vList6"/>
    <dgm:cxn modelId="{6D9FD2BA-8BD0-4662-BB22-748DEC7B3A6A}" srcId="{A341620E-6A86-4484-91F7-89A772ADFC79}" destId="{5EB30E6E-F362-410D-A955-55A92C419986}" srcOrd="1" destOrd="0" parTransId="{7B77F4AC-0774-426E-86E0-2B683CAFC0E1}" sibTransId="{7AA7BFC4-2035-440B-987C-DB700DD7200F}"/>
    <dgm:cxn modelId="{F170CAC0-CE5C-47BF-AA70-11679C1C060B}" srcId="{A341620E-6A86-4484-91F7-89A772ADFC79}" destId="{AA7FB751-62CA-4D8B-93D9-9F1AFB9462FD}" srcOrd="2" destOrd="0" parTransId="{C542FF05-B52E-4A27-803A-BBA8B9E0E0E8}" sibTransId="{FE8EEE30-5752-4B80-9393-00889B7EE70B}"/>
    <dgm:cxn modelId="{D1C270CB-35E4-4916-8377-AE442DBC36D2}" type="presOf" srcId="{AC0F25C1-CFBB-4786-823D-0AE3F5686683}" destId="{A3ECD672-2C26-4403-A85D-03F6BE6CDB57}" srcOrd="0" destOrd="3" presId="urn:microsoft.com/office/officeart/2005/8/layout/vList6"/>
    <dgm:cxn modelId="{6E65EDDE-C66A-415A-ADEE-49C9C1C3893F}" type="presOf" srcId="{5EB30E6E-F362-410D-A955-55A92C419986}" destId="{A3ECD672-2C26-4403-A85D-03F6BE6CDB57}" srcOrd="0" destOrd="1" presId="urn:microsoft.com/office/officeart/2005/8/layout/vList6"/>
    <dgm:cxn modelId="{64DE73F3-2CEC-4050-A4F5-F3289456322F}" srcId="{A341620E-6A86-4484-91F7-89A772ADFC79}" destId="{AC0F25C1-CFBB-4786-823D-0AE3F5686683}" srcOrd="3" destOrd="0" parTransId="{352FE51D-D4A2-4528-BEEF-341FF212B726}" sibTransId="{D86F1051-7A1C-42E6-A8C6-70A1265632FB}"/>
    <dgm:cxn modelId="{C4A07070-47CA-4730-B4AB-CDAAB9BCB084}" type="presParOf" srcId="{295045BF-3A19-4BA2-B5E2-72E6365B7F8E}" destId="{4F6C4138-7122-4A25-AE7E-1D5A1FA4A290}" srcOrd="0" destOrd="0" presId="urn:microsoft.com/office/officeart/2005/8/layout/vList6"/>
    <dgm:cxn modelId="{0D0DF474-3472-46AF-BB33-352F45846524}" type="presParOf" srcId="{4F6C4138-7122-4A25-AE7E-1D5A1FA4A290}" destId="{91C21177-5C5C-406D-90B7-02931D85EE2F}" srcOrd="0" destOrd="0" presId="urn:microsoft.com/office/officeart/2005/8/layout/vList6"/>
    <dgm:cxn modelId="{C4664310-251E-4AE4-B303-C3FB44647178}" type="presParOf" srcId="{4F6C4138-7122-4A25-AE7E-1D5A1FA4A290}" destId="{A3ECD672-2C26-4403-A85D-03F6BE6CDB57}"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C02333-0F9F-4BC6-8C05-3BAC63A5718B}" type="doc">
      <dgm:prSet loTypeId="urn:microsoft.com/office/officeart/2005/8/layout/vList2" loCatId="list" qsTypeId="urn:microsoft.com/office/officeart/2005/8/quickstyle/3d1" qsCatId="3D" csTypeId="urn:microsoft.com/office/officeart/2005/8/colors/accent1_3" csCatId="accent1" phldr="1"/>
      <dgm:spPr/>
      <dgm:t>
        <a:bodyPr/>
        <a:lstStyle/>
        <a:p>
          <a:endParaRPr lang="en-US"/>
        </a:p>
      </dgm:t>
    </dgm:pt>
    <dgm:pt modelId="{D7C90AEA-DB86-4386-9980-E145BA428DDC}">
      <dgm:prSet phldrT="[Text]" custT="1"/>
      <dgm:spPr/>
      <dgm:t>
        <a:bodyPr/>
        <a:lstStyle/>
        <a:p>
          <a:r>
            <a:rPr lang="en-US" sz="2800" b="1" dirty="0"/>
            <a:t>MOTIVES</a:t>
          </a:r>
        </a:p>
      </dgm:t>
    </dgm:pt>
    <dgm:pt modelId="{E099901B-C5F5-4EDE-BC1F-72EDF75B5B0B}" type="parTrans" cxnId="{EF03AAE7-92D5-4DC3-9923-6AFE36D6F44A}">
      <dgm:prSet/>
      <dgm:spPr/>
      <dgm:t>
        <a:bodyPr/>
        <a:lstStyle/>
        <a:p>
          <a:endParaRPr lang="en-US"/>
        </a:p>
      </dgm:t>
    </dgm:pt>
    <dgm:pt modelId="{E1F1317F-D4DB-40C7-BA17-244BCC5E187E}" type="sibTrans" cxnId="{EF03AAE7-92D5-4DC3-9923-6AFE36D6F44A}">
      <dgm:prSet/>
      <dgm:spPr/>
      <dgm:t>
        <a:bodyPr/>
        <a:lstStyle/>
        <a:p>
          <a:endParaRPr lang="en-US"/>
        </a:p>
      </dgm:t>
    </dgm:pt>
    <dgm:pt modelId="{CBCDC40A-65D2-4D09-8776-8347FA01F427}">
      <dgm:prSet phldrT="[Text]"/>
      <dgm:spPr/>
      <dgm:t>
        <a:bodyPr/>
        <a:lstStyle/>
        <a:p>
          <a:r>
            <a:rPr lang="en-US" dirty="0"/>
            <a:t>Web sites are built for specific purposes – each has its own agenda. Material prepared &amp; selected to achieve those goals and not to provide an objective point of view. Approach websites expecting a bias, and evaluate information with caution.</a:t>
          </a:r>
        </a:p>
      </dgm:t>
    </dgm:pt>
    <dgm:pt modelId="{E7E85F24-D72E-478E-AA36-CD5C35AED915}" type="parTrans" cxnId="{4D54980D-10CC-4835-851E-140BA2C31A1B}">
      <dgm:prSet/>
      <dgm:spPr/>
      <dgm:t>
        <a:bodyPr/>
        <a:lstStyle/>
        <a:p>
          <a:endParaRPr lang="en-US"/>
        </a:p>
      </dgm:t>
    </dgm:pt>
    <dgm:pt modelId="{69098AA7-5430-4118-BDCC-D17FFFE23FC2}" type="sibTrans" cxnId="{4D54980D-10CC-4835-851E-140BA2C31A1B}">
      <dgm:prSet/>
      <dgm:spPr/>
      <dgm:t>
        <a:bodyPr/>
        <a:lstStyle/>
        <a:p>
          <a:endParaRPr lang="en-US"/>
        </a:p>
      </dgm:t>
    </dgm:pt>
    <dgm:pt modelId="{F39CD199-5F9E-404B-AE95-4756CE7FC540}">
      <dgm:prSet phldrT="[Text]"/>
      <dgm:spPr/>
      <dgm:t>
        <a:bodyPr/>
        <a:lstStyle/>
        <a:p>
          <a:r>
            <a:rPr lang="en-US" dirty="0"/>
            <a:t>When getting information from the Internet, you need to know both that it’s really coming from the source with which it’s identified and that it’s being accurately reported. Anyone can easily send fraudulent messages - &amp; someone else can pick them up as accurate data.</a:t>
          </a:r>
        </a:p>
      </dgm:t>
    </dgm:pt>
    <dgm:pt modelId="{F0D6E996-E170-448C-8B3F-BAD1891C795D}" type="parTrans" cxnId="{EE4A7BC4-AE33-4FBF-AE2A-D4846DB95633}">
      <dgm:prSet/>
      <dgm:spPr/>
      <dgm:t>
        <a:bodyPr/>
        <a:lstStyle/>
        <a:p>
          <a:endParaRPr lang="en-US"/>
        </a:p>
      </dgm:t>
    </dgm:pt>
    <dgm:pt modelId="{2E0C7C58-426B-4924-8477-14CA646B52DA}" type="sibTrans" cxnId="{EE4A7BC4-AE33-4FBF-AE2A-D4846DB95633}">
      <dgm:prSet/>
      <dgm:spPr/>
      <dgm:t>
        <a:bodyPr/>
        <a:lstStyle/>
        <a:p>
          <a:endParaRPr lang="en-US"/>
        </a:p>
      </dgm:t>
    </dgm:pt>
    <dgm:pt modelId="{42C08983-B816-4833-9A37-58AFE90356F7}">
      <dgm:prSet phldrT="[Text]" custT="1"/>
      <dgm:spPr/>
      <dgm:t>
        <a:bodyPr/>
        <a:lstStyle/>
        <a:p>
          <a:r>
            <a:rPr lang="en-US" sz="2800" b="1" dirty="0"/>
            <a:t>ACCURACY</a:t>
          </a:r>
        </a:p>
      </dgm:t>
    </dgm:pt>
    <dgm:pt modelId="{8E8201D5-6639-4418-A477-155EFFB22A12}" type="sibTrans" cxnId="{3D86D5EE-F4BE-4FE4-8FBF-08B9F36A7AD3}">
      <dgm:prSet/>
      <dgm:spPr/>
      <dgm:t>
        <a:bodyPr/>
        <a:lstStyle/>
        <a:p>
          <a:endParaRPr lang="en-US"/>
        </a:p>
      </dgm:t>
    </dgm:pt>
    <dgm:pt modelId="{E21A2884-3584-4AD7-972C-A3CFC8D69032}" type="parTrans" cxnId="{3D86D5EE-F4BE-4FE4-8FBF-08B9F36A7AD3}">
      <dgm:prSet/>
      <dgm:spPr/>
      <dgm:t>
        <a:bodyPr/>
        <a:lstStyle/>
        <a:p>
          <a:endParaRPr lang="en-US"/>
        </a:p>
      </dgm:t>
    </dgm:pt>
    <dgm:pt modelId="{178D54E3-5C7B-40D6-8540-C3AEF647B0E4}" type="pres">
      <dgm:prSet presAssocID="{62C02333-0F9F-4BC6-8C05-3BAC63A5718B}" presName="linear" presStyleCnt="0">
        <dgm:presLayoutVars>
          <dgm:animLvl val="lvl"/>
          <dgm:resizeHandles val="exact"/>
        </dgm:presLayoutVars>
      </dgm:prSet>
      <dgm:spPr/>
    </dgm:pt>
    <dgm:pt modelId="{B809D5A8-036A-4E87-BC68-B8794EC94AA3}" type="pres">
      <dgm:prSet presAssocID="{D7C90AEA-DB86-4386-9980-E145BA428DDC}" presName="parentText" presStyleLbl="node1" presStyleIdx="0" presStyleCnt="2" custLinFactNeighborX="4124" custLinFactNeighborY="-5249">
        <dgm:presLayoutVars>
          <dgm:chMax val="0"/>
          <dgm:bulletEnabled val="1"/>
        </dgm:presLayoutVars>
      </dgm:prSet>
      <dgm:spPr/>
    </dgm:pt>
    <dgm:pt modelId="{85917FD2-1483-40DC-BB7A-314BEEDDBCF2}" type="pres">
      <dgm:prSet presAssocID="{D7C90AEA-DB86-4386-9980-E145BA428DDC}" presName="childText" presStyleLbl="revTx" presStyleIdx="0" presStyleCnt="2">
        <dgm:presLayoutVars>
          <dgm:bulletEnabled val="1"/>
        </dgm:presLayoutVars>
      </dgm:prSet>
      <dgm:spPr/>
    </dgm:pt>
    <dgm:pt modelId="{B20DDAB6-309E-4627-A666-2F10C2D1F975}" type="pres">
      <dgm:prSet presAssocID="{42C08983-B816-4833-9A37-58AFE90356F7}" presName="parentText" presStyleLbl="node1" presStyleIdx="1" presStyleCnt="2" custLinFactNeighborY="-3171">
        <dgm:presLayoutVars>
          <dgm:chMax val="0"/>
          <dgm:bulletEnabled val="1"/>
        </dgm:presLayoutVars>
      </dgm:prSet>
      <dgm:spPr/>
    </dgm:pt>
    <dgm:pt modelId="{2CFEDC3D-19D8-4696-8506-6A6C01FB7A4B}" type="pres">
      <dgm:prSet presAssocID="{42C08983-B816-4833-9A37-58AFE90356F7}" presName="childText" presStyleLbl="revTx" presStyleIdx="1" presStyleCnt="2">
        <dgm:presLayoutVars>
          <dgm:bulletEnabled val="1"/>
        </dgm:presLayoutVars>
      </dgm:prSet>
      <dgm:spPr/>
    </dgm:pt>
  </dgm:ptLst>
  <dgm:cxnLst>
    <dgm:cxn modelId="{4D54980D-10CC-4835-851E-140BA2C31A1B}" srcId="{D7C90AEA-DB86-4386-9980-E145BA428DDC}" destId="{CBCDC40A-65D2-4D09-8776-8347FA01F427}" srcOrd="0" destOrd="0" parTransId="{E7E85F24-D72E-478E-AA36-CD5C35AED915}" sibTransId="{69098AA7-5430-4118-BDCC-D17FFFE23FC2}"/>
    <dgm:cxn modelId="{3B692963-3C1E-4E1A-BFAC-CE8013912331}" type="presOf" srcId="{F39CD199-5F9E-404B-AE95-4756CE7FC540}" destId="{2CFEDC3D-19D8-4696-8506-6A6C01FB7A4B}" srcOrd="0" destOrd="0" presId="urn:microsoft.com/office/officeart/2005/8/layout/vList2"/>
    <dgm:cxn modelId="{0263C74D-4F74-4714-9D99-0C8CBAFD03E3}" type="presOf" srcId="{D7C90AEA-DB86-4386-9980-E145BA428DDC}" destId="{B809D5A8-036A-4E87-BC68-B8794EC94AA3}" srcOrd="0" destOrd="0" presId="urn:microsoft.com/office/officeart/2005/8/layout/vList2"/>
    <dgm:cxn modelId="{A8FF8274-658B-4697-BEEF-CAFCD28C3E56}" type="presOf" srcId="{42C08983-B816-4833-9A37-58AFE90356F7}" destId="{B20DDAB6-309E-4627-A666-2F10C2D1F975}" srcOrd="0" destOrd="0" presId="urn:microsoft.com/office/officeart/2005/8/layout/vList2"/>
    <dgm:cxn modelId="{683A7580-B9C6-4203-A4CE-10FA95DA74D4}" type="presOf" srcId="{62C02333-0F9F-4BC6-8C05-3BAC63A5718B}" destId="{178D54E3-5C7B-40D6-8540-C3AEF647B0E4}" srcOrd="0" destOrd="0" presId="urn:microsoft.com/office/officeart/2005/8/layout/vList2"/>
    <dgm:cxn modelId="{EE4A7BC4-AE33-4FBF-AE2A-D4846DB95633}" srcId="{42C08983-B816-4833-9A37-58AFE90356F7}" destId="{F39CD199-5F9E-404B-AE95-4756CE7FC540}" srcOrd="0" destOrd="0" parTransId="{F0D6E996-E170-448C-8B3F-BAD1891C795D}" sibTransId="{2E0C7C58-426B-4924-8477-14CA646B52DA}"/>
    <dgm:cxn modelId="{0575FDDD-3CB4-4D77-B6CB-5A18D31BAFD8}" type="presOf" srcId="{CBCDC40A-65D2-4D09-8776-8347FA01F427}" destId="{85917FD2-1483-40DC-BB7A-314BEEDDBCF2}" srcOrd="0" destOrd="0" presId="urn:microsoft.com/office/officeart/2005/8/layout/vList2"/>
    <dgm:cxn modelId="{EF03AAE7-92D5-4DC3-9923-6AFE36D6F44A}" srcId="{62C02333-0F9F-4BC6-8C05-3BAC63A5718B}" destId="{D7C90AEA-DB86-4386-9980-E145BA428DDC}" srcOrd="0" destOrd="0" parTransId="{E099901B-C5F5-4EDE-BC1F-72EDF75B5B0B}" sibTransId="{E1F1317F-D4DB-40C7-BA17-244BCC5E187E}"/>
    <dgm:cxn modelId="{3D86D5EE-F4BE-4FE4-8FBF-08B9F36A7AD3}" srcId="{62C02333-0F9F-4BC6-8C05-3BAC63A5718B}" destId="{42C08983-B816-4833-9A37-58AFE90356F7}" srcOrd="1" destOrd="0" parTransId="{E21A2884-3584-4AD7-972C-A3CFC8D69032}" sibTransId="{8E8201D5-6639-4418-A477-155EFFB22A12}"/>
    <dgm:cxn modelId="{A191CED7-00CD-4567-92ED-168D3379A183}" type="presParOf" srcId="{178D54E3-5C7B-40D6-8540-C3AEF647B0E4}" destId="{B809D5A8-036A-4E87-BC68-B8794EC94AA3}" srcOrd="0" destOrd="0" presId="urn:microsoft.com/office/officeart/2005/8/layout/vList2"/>
    <dgm:cxn modelId="{0272DDB7-EB42-4E81-9902-92E269CFB0D1}" type="presParOf" srcId="{178D54E3-5C7B-40D6-8540-C3AEF647B0E4}" destId="{85917FD2-1483-40DC-BB7A-314BEEDDBCF2}" srcOrd="1" destOrd="0" presId="urn:microsoft.com/office/officeart/2005/8/layout/vList2"/>
    <dgm:cxn modelId="{DF4E9475-00F0-4003-8206-62C2E89F1372}" type="presParOf" srcId="{178D54E3-5C7B-40D6-8540-C3AEF647B0E4}" destId="{B20DDAB6-309E-4627-A666-2F10C2D1F975}" srcOrd="2" destOrd="0" presId="urn:microsoft.com/office/officeart/2005/8/layout/vList2"/>
    <dgm:cxn modelId="{75AB5A05-7007-4AF0-9318-F18E7DA88771}" type="presParOf" srcId="{178D54E3-5C7B-40D6-8540-C3AEF647B0E4}" destId="{2CFEDC3D-19D8-4696-8506-6A6C01FB7A4B}"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ECD672-2C26-4403-A85D-03F6BE6CDB57}">
      <dsp:nvSpPr>
        <dsp:cNvPr id="0" name=""/>
        <dsp:cNvSpPr/>
      </dsp:nvSpPr>
      <dsp:spPr>
        <a:xfrm>
          <a:off x="2821803" y="0"/>
          <a:ext cx="4277275" cy="4264248"/>
        </a:xfrm>
        <a:prstGeom prst="rightArrow">
          <a:avLst>
            <a:gd name="adj1" fmla="val 75000"/>
            <a:gd name="adj2" fmla="val 50000"/>
          </a:avLst>
        </a:prstGeom>
        <a:solidFill>
          <a:schemeClr val="tx2">
            <a:lumMod val="40000"/>
            <a:lumOff val="60000"/>
            <a:alpha val="90000"/>
          </a:schemeClr>
        </a:solidFill>
        <a:ln>
          <a:noFill/>
        </a:ln>
        <a:effectLst>
          <a:outerShdw blurRad="40000" dist="23000" dir="5400000" rotWithShape="0">
            <a:srgbClr val="000000">
              <a:alpha val="35000"/>
            </a:srgbClr>
          </a:outerShdw>
        </a:effectLst>
        <a:sp3d z="-152400" extrusionH="63500" prstMaterial="matte">
          <a:bevelT w="44450" h="6350" prst="relaxedInset"/>
          <a:contourClr>
            <a:schemeClr val="bg1"/>
          </a:contourClr>
        </a:sp3d>
      </dsp:spPr>
      <dsp:style>
        <a:lnRef idx="0">
          <a:scrgbClr r="0" g="0" b="0"/>
        </a:lnRef>
        <a:fillRef idx="1">
          <a:scrgbClr r="0" g="0" b="0"/>
        </a:fillRef>
        <a:effectRef idx="2">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1" kern="1200" dirty="0">
              <a:solidFill>
                <a:schemeClr val="bg1"/>
              </a:solidFill>
            </a:rPr>
            <a:t>Introduction</a:t>
          </a:r>
        </a:p>
        <a:p>
          <a:pPr marL="228600" lvl="1" indent="-228600" algn="l" defTabSz="889000">
            <a:lnSpc>
              <a:spcPct val="90000"/>
            </a:lnSpc>
            <a:spcBef>
              <a:spcPct val="0"/>
            </a:spcBef>
            <a:spcAft>
              <a:spcPct val="15000"/>
            </a:spcAft>
            <a:buChar char="•"/>
          </a:pPr>
          <a:endParaRPr lang="en-US" sz="2000" b="1" kern="1200" dirty="0">
            <a:solidFill>
              <a:schemeClr val="bg1"/>
            </a:solidFill>
          </a:endParaRPr>
        </a:p>
        <a:p>
          <a:pPr marL="228600" lvl="1" indent="-228600" algn="l" defTabSz="889000">
            <a:lnSpc>
              <a:spcPct val="90000"/>
            </a:lnSpc>
            <a:spcBef>
              <a:spcPct val="0"/>
            </a:spcBef>
            <a:spcAft>
              <a:spcPct val="15000"/>
            </a:spcAft>
            <a:buChar char="•"/>
          </a:pPr>
          <a:r>
            <a:rPr lang="en-US" sz="2000" b="1" kern="1200" dirty="0">
              <a:solidFill>
                <a:schemeClr val="bg1"/>
              </a:solidFill>
            </a:rPr>
            <a:t>Norms for critical analysis</a:t>
          </a:r>
        </a:p>
        <a:p>
          <a:pPr marL="228600" lvl="1" indent="-228600" algn="l" defTabSz="889000">
            <a:lnSpc>
              <a:spcPct val="90000"/>
            </a:lnSpc>
            <a:spcBef>
              <a:spcPct val="0"/>
            </a:spcBef>
            <a:spcAft>
              <a:spcPct val="15000"/>
            </a:spcAft>
            <a:buChar char="•"/>
          </a:pPr>
          <a:endParaRPr lang="en-US" sz="2000" b="1" kern="1200" dirty="0">
            <a:solidFill>
              <a:schemeClr val="bg1"/>
            </a:solidFill>
          </a:endParaRPr>
        </a:p>
        <a:p>
          <a:pPr marL="228600" lvl="1" indent="-228600" algn="l" defTabSz="889000">
            <a:lnSpc>
              <a:spcPct val="90000"/>
            </a:lnSpc>
            <a:spcBef>
              <a:spcPct val="0"/>
            </a:spcBef>
            <a:spcAft>
              <a:spcPct val="15000"/>
            </a:spcAft>
            <a:buChar char="•"/>
          </a:pPr>
          <a:r>
            <a:rPr lang="en-US" sz="2000" b="1" kern="1200" dirty="0">
              <a:solidFill>
                <a:schemeClr val="bg1"/>
              </a:solidFill>
            </a:rPr>
            <a:t>The source of information </a:t>
          </a:r>
        </a:p>
        <a:p>
          <a:pPr marL="228600" lvl="1" indent="-228600" algn="l" defTabSz="889000">
            <a:lnSpc>
              <a:spcPct val="90000"/>
            </a:lnSpc>
            <a:spcBef>
              <a:spcPct val="0"/>
            </a:spcBef>
            <a:spcAft>
              <a:spcPct val="15000"/>
            </a:spcAft>
            <a:buChar char="•"/>
          </a:pPr>
          <a:endParaRPr lang="en-US" sz="2000" b="1" kern="1200" dirty="0">
            <a:solidFill>
              <a:schemeClr val="bg1"/>
            </a:solidFill>
          </a:endParaRPr>
        </a:p>
        <a:p>
          <a:pPr marL="228600" lvl="1" indent="-228600" algn="l" defTabSz="889000">
            <a:lnSpc>
              <a:spcPct val="90000"/>
            </a:lnSpc>
            <a:spcBef>
              <a:spcPct val="0"/>
            </a:spcBef>
            <a:spcAft>
              <a:spcPct val="15000"/>
            </a:spcAft>
            <a:buChar char="•"/>
          </a:pPr>
          <a:r>
            <a:rPr lang="en-US" sz="2000" b="1" kern="1200" dirty="0">
              <a:solidFill>
                <a:schemeClr val="bg1"/>
              </a:solidFill>
            </a:rPr>
            <a:t>Information itself</a:t>
          </a:r>
        </a:p>
      </dsp:txBody>
      <dsp:txXfrm>
        <a:off x="2821803" y="533031"/>
        <a:ext cx="2678182" cy="3198186"/>
      </dsp:txXfrm>
    </dsp:sp>
    <dsp:sp modelId="{91C21177-5C5C-406D-90B7-02931D85EE2F}">
      <dsp:nvSpPr>
        <dsp:cNvPr id="0" name=""/>
        <dsp:cNvSpPr/>
      </dsp:nvSpPr>
      <dsp:spPr>
        <a:xfrm>
          <a:off x="0" y="0"/>
          <a:ext cx="2851516" cy="4264248"/>
        </a:xfrm>
        <a:prstGeom prst="roundRect">
          <a:avLst/>
        </a:prstGeom>
        <a:solidFill>
          <a:schemeClr val="accent1">
            <a:hueOff val="0"/>
            <a:satOff val="0"/>
            <a:lumOff val="0"/>
            <a:alphaOff val="0"/>
          </a:schemeClr>
        </a:solid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137160" tIns="68580" rIns="137160" bIns="68580" numCol="1" spcCol="1270" anchor="ctr" anchorCtr="0">
          <a:noAutofit/>
        </a:bodyPr>
        <a:lstStyle/>
        <a:p>
          <a:pPr marL="0" lvl="0" indent="0" algn="ctr" defTabSz="1600200">
            <a:lnSpc>
              <a:spcPct val="90000"/>
            </a:lnSpc>
            <a:spcBef>
              <a:spcPct val="0"/>
            </a:spcBef>
            <a:spcAft>
              <a:spcPct val="35000"/>
            </a:spcAft>
            <a:buNone/>
          </a:pPr>
          <a:r>
            <a:rPr lang="en-US" sz="3600" b="1" kern="1200"/>
            <a:t>Chapter 1:</a:t>
          </a:r>
        </a:p>
        <a:p>
          <a:pPr marL="0" lvl="0" indent="0" algn="ctr" defTabSz="1600200">
            <a:lnSpc>
              <a:spcPct val="90000"/>
            </a:lnSpc>
            <a:spcBef>
              <a:spcPct val="0"/>
            </a:spcBef>
            <a:spcAft>
              <a:spcPct val="35000"/>
            </a:spcAft>
            <a:buNone/>
          </a:pPr>
          <a:r>
            <a:rPr lang="en-US" sz="3600" b="1" kern="1200"/>
            <a:t>Evaluating information critically</a:t>
          </a:r>
          <a:endParaRPr lang="en-US" sz="3600" b="1" kern="1200" dirty="0"/>
        </a:p>
      </dsp:txBody>
      <dsp:txXfrm>
        <a:off x="139200" y="139200"/>
        <a:ext cx="2573116" cy="39858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09D5A8-036A-4E87-BC68-B8794EC94AA3}">
      <dsp:nvSpPr>
        <dsp:cNvPr id="0" name=""/>
        <dsp:cNvSpPr/>
      </dsp:nvSpPr>
      <dsp:spPr>
        <a:xfrm>
          <a:off x="0" y="0"/>
          <a:ext cx="6984776" cy="672750"/>
        </a:xfrm>
        <a:prstGeom prst="roundRect">
          <a:avLst/>
        </a:prstGeom>
        <a:gradFill rotWithShape="0">
          <a:gsLst>
            <a:gs pos="0">
              <a:schemeClr val="accent1">
                <a:shade val="80000"/>
                <a:hueOff val="0"/>
                <a:satOff val="0"/>
                <a:lumOff val="0"/>
                <a:alphaOff val="0"/>
                <a:shade val="51000"/>
                <a:satMod val="130000"/>
              </a:schemeClr>
            </a:gs>
            <a:gs pos="80000">
              <a:schemeClr val="accent1">
                <a:shade val="80000"/>
                <a:hueOff val="0"/>
                <a:satOff val="0"/>
                <a:lumOff val="0"/>
                <a:alphaOff val="0"/>
                <a:shade val="93000"/>
                <a:satMod val="130000"/>
              </a:schemeClr>
            </a:gs>
            <a:gs pos="100000">
              <a:schemeClr val="accent1">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MOTIVES</a:t>
          </a:r>
        </a:p>
      </dsp:txBody>
      <dsp:txXfrm>
        <a:off x="32841" y="32841"/>
        <a:ext cx="6919094" cy="607068"/>
      </dsp:txXfrm>
    </dsp:sp>
    <dsp:sp modelId="{85917FD2-1483-40DC-BB7A-314BEEDDBCF2}">
      <dsp:nvSpPr>
        <dsp:cNvPr id="0" name=""/>
        <dsp:cNvSpPr/>
      </dsp:nvSpPr>
      <dsp:spPr>
        <a:xfrm>
          <a:off x="0" y="728974"/>
          <a:ext cx="6984776" cy="10712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76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Web sites are built for specific purposes – each has its own agenda. Material prepared &amp; selected to achieve those goals and not to provide an objective point of view. Approach websites expecting a bias, and evaluate information with caution.</a:t>
          </a:r>
        </a:p>
      </dsp:txBody>
      <dsp:txXfrm>
        <a:off x="0" y="728974"/>
        <a:ext cx="6984776" cy="1071225"/>
      </dsp:txXfrm>
    </dsp:sp>
    <dsp:sp modelId="{B20DDAB6-309E-4627-A666-2F10C2D1F975}">
      <dsp:nvSpPr>
        <dsp:cNvPr id="0" name=""/>
        <dsp:cNvSpPr/>
      </dsp:nvSpPr>
      <dsp:spPr>
        <a:xfrm>
          <a:off x="0" y="1766231"/>
          <a:ext cx="6984776" cy="672750"/>
        </a:xfrm>
        <a:prstGeom prst="roundRect">
          <a:avLst/>
        </a:prstGeom>
        <a:gradFill rotWithShape="0">
          <a:gsLst>
            <a:gs pos="0">
              <a:schemeClr val="accent1">
                <a:shade val="80000"/>
                <a:hueOff val="306246"/>
                <a:satOff val="-4392"/>
                <a:lumOff val="25615"/>
                <a:alphaOff val="0"/>
                <a:shade val="51000"/>
                <a:satMod val="130000"/>
              </a:schemeClr>
            </a:gs>
            <a:gs pos="80000">
              <a:schemeClr val="accent1">
                <a:shade val="80000"/>
                <a:hueOff val="306246"/>
                <a:satOff val="-4392"/>
                <a:lumOff val="25615"/>
                <a:alphaOff val="0"/>
                <a:shade val="93000"/>
                <a:satMod val="130000"/>
              </a:schemeClr>
            </a:gs>
            <a:gs pos="100000">
              <a:schemeClr val="accent1">
                <a:shade val="80000"/>
                <a:hueOff val="306246"/>
                <a:satOff val="-4392"/>
                <a:lumOff val="2561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ACCURACY</a:t>
          </a:r>
        </a:p>
      </dsp:txBody>
      <dsp:txXfrm>
        <a:off x="32841" y="1799072"/>
        <a:ext cx="6919094" cy="607068"/>
      </dsp:txXfrm>
    </dsp:sp>
    <dsp:sp modelId="{2CFEDC3D-19D8-4696-8506-6A6C01FB7A4B}">
      <dsp:nvSpPr>
        <dsp:cNvPr id="0" name=""/>
        <dsp:cNvSpPr/>
      </dsp:nvSpPr>
      <dsp:spPr>
        <a:xfrm>
          <a:off x="0" y="2472950"/>
          <a:ext cx="6984776" cy="10712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76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When getting information from the Internet, you need to know both that it’s really coming from the source with which it’s identified and that it’s being accurately reported. Anyone can easily send fraudulent messages - &amp; someone else can pick them up as accurate data.</a:t>
          </a:r>
        </a:p>
      </dsp:txBody>
      <dsp:txXfrm>
        <a:off x="0" y="2472950"/>
        <a:ext cx="6984776" cy="1071225"/>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33030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00041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38393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35538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41954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5697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53411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15775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92468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67721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403082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01875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18345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08590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02946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552399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063059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236909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916093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484139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690473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344360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626790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59763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97013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782318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973785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570936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7950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381627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473313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737036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088164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266867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201783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916069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7575276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679243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781723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452057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533202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339076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726817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827094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617703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669343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511526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956882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845140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187358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595059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671549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280493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2334092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472676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30010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1011901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102666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2773603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4107505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6958332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081215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1681805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985508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76282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6810643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8926992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055910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3287226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7149238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59606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3865943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3114732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0194264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1554273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543548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8461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023041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207620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0105389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2367291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1640093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893982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59EE36-FB44-4236-A0D1-FA4A2F67A601}" type="datetimeFigureOut">
              <a:rPr lang="en-US" smtClean="0">
                <a:solidFill>
                  <a:prstClr val="black">
                    <a:tint val="75000"/>
                  </a:prstClr>
                </a:solidFill>
              </a:rPr>
              <a:pPr/>
              <a:t>4/22/2022</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347060-CF82-431C-8D75-D90EF3521C5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1474340"/>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8.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1560" y="2132856"/>
            <a:ext cx="7772400" cy="1470025"/>
          </a:xfrm>
          <a:solidFill>
            <a:schemeClr val="accent5">
              <a:lumMod val="40000"/>
              <a:lumOff val="60000"/>
            </a:schemeClr>
          </a:solidFill>
          <a:ln>
            <a:solidFill>
              <a:schemeClr val="accent1"/>
            </a:solidFill>
          </a:ln>
        </p:spPr>
        <p:style>
          <a:lnRef idx="0">
            <a:schemeClr val="accent2"/>
          </a:lnRef>
          <a:fillRef idx="3">
            <a:schemeClr val="accent2"/>
          </a:fillRef>
          <a:effectRef idx="3">
            <a:schemeClr val="accent2"/>
          </a:effectRef>
          <a:fontRef idx="minor">
            <a:schemeClr val="lt1"/>
          </a:fontRef>
        </p:style>
        <p:txBody>
          <a:bodyPr>
            <a:normAutofit fontScale="90000"/>
          </a:bodyPr>
          <a:lstStyle/>
          <a:p>
            <a:r>
              <a:rPr lang="en-US" b="1" dirty="0">
                <a:solidFill>
                  <a:schemeClr val="bg1"/>
                </a:solidFill>
              </a:rPr>
              <a:t>  </a:t>
            </a:r>
            <a:r>
              <a:rPr lang="en-US" b="1" dirty="0">
                <a:solidFill>
                  <a:schemeClr val="bg1">
                    <a:lumMod val="50000"/>
                  </a:schemeClr>
                </a:solidFill>
              </a:rPr>
              <a:t>Critical Thinking Skills</a:t>
            </a:r>
            <a:br>
              <a:rPr lang="en-US" b="1" dirty="0">
                <a:solidFill>
                  <a:schemeClr val="bg1">
                    <a:lumMod val="50000"/>
                  </a:schemeClr>
                </a:solidFill>
              </a:rPr>
            </a:br>
            <a:br>
              <a:rPr lang="en-US" b="1" dirty="0">
                <a:solidFill>
                  <a:schemeClr val="bg1">
                    <a:lumMod val="50000"/>
                  </a:schemeClr>
                </a:solidFill>
              </a:rPr>
            </a:br>
            <a:r>
              <a:rPr lang="en-US" b="1" dirty="0">
                <a:solidFill>
                  <a:srgbClr val="FF0000"/>
                </a:solidFill>
              </a:rPr>
              <a:t>PART 1 – Evaluating information critically </a:t>
            </a:r>
            <a:br>
              <a:rPr lang="en-US" b="1" dirty="0">
                <a:solidFill>
                  <a:schemeClr val="bg1"/>
                </a:solidFill>
              </a:rPr>
            </a:br>
            <a:br>
              <a:rPr lang="en-US" b="1" dirty="0">
                <a:solidFill>
                  <a:schemeClr val="bg1"/>
                </a:solidFill>
              </a:rPr>
            </a:br>
            <a:r>
              <a:rPr lang="en-US" dirty="0"/>
              <a:t>	</a:t>
            </a:r>
          </a:p>
        </p:txBody>
      </p:sp>
      <p:sp>
        <p:nvSpPr>
          <p:cNvPr id="3" name="Subtitle 2"/>
          <p:cNvSpPr>
            <a:spLocks noGrp="1"/>
          </p:cNvSpPr>
          <p:nvPr>
            <p:ph type="subTitle" idx="1"/>
          </p:nvPr>
        </p:nvSpPr>
        <p:spPr>
          <a:xfrm>
            <a:off x="971600" y="4437112"/>
            <a:ext cx="7488832" cy="1728192"/>
          </a:xfrm>
          <a:solidFill>
            <a:schemeClr val="accent5">
              <a:lumMod val="40000"/>
              <a:lumOff val="60000"/>
            </a:schemeClr>
          </a:solidFill>
          <a:ln>
            <a:solidFill>
              <a:schemeClr val="accent1"/>
            </a:solidFill>
          </a:ln>
        </p:spPr>
        <p:txBody>
          <a:bodyPr>
            <a:normAutofit fontScale="92500" lnSpcReduction="20000"/>
          </a:bodyPr>
          <a:lstStyle/>
          <a:p>
            <a:endParaRPr lang="en-US" sz="2000" b="1" dirty="0">
              <a:solidFill>
                <a:schemeClr val="bg1">
                  <a:lumMod val="50000"/>
                </a:schemeClr>
              </a:solidFill>
            </a:endParaRPr>
          </a:p>
          <a:p>
            <a:r>
              <a:rPr lang="en-US" sz="2000" dirty="0">
                <a:solidFill>
                  <a:schemeClr val="bg1">
                    <a:lumMod val="50000"/>
                  </a:schemeClr>
                </a:solidFill>
              </a:rPr>
              <a:t>Sourced from: </a:t>
            </a:r>
          </a:p>
          <a:p>
            <a:pPr algn="l"/>
            <a:r>
              <a:rPr lang="en-US" sz="2000" i="1" dirty="0" err="1">
                <a:solidFill>
                  <a:schemeClr val="bg1">
                    <a:lumMod val="50000"/>
                  </a:schemeClr>
                </a:solidFill>
              </a:rPr>
              <a:t>Lumsden</a:t>
            </a:r>
            <a:r>
              <a:rPr lang="en-US" sz="2000" i="1" dirty="0">
                <a:solidFill>
                  <a:schemeClr val="bg1">
                    <a:lumMod val="50000"/>
                  </a:schemeClr>
                </a:solidFill>
              </a:rPr>
              <a:t>. D, </a:t>
            </a:r>
            <a:r>
              <a:rPr lang="en-US" sz="2000" i="1" dirty="0" err="1">
                <a:solidFill>
                  <a:schemeClr val="bg1">
                    <a:lumMod val="50000"/>
                  </a:schemeClr>
                </a:solidFill>
              </a:rPr>
              <a:t>Lumsden</a:t>
            </a:r>
            <a:r>
              <a:rPr lang="en-US" sz="2000" i="1" dirty="0">
                <a:solidFill>
                  <a:schemeClr val="bg1">
                    <a:lumMod val="50000"/>
                  </a:schemeClr>
                </a:solidFill>
              </a:rPr>
              <a:t>. G &amp; </a:t>
            </a:r>
            <a:r>
              <a:rPr lang="en-US" sz="2000" i="1" dirty="0" err="1">
                <a:solidFill>
                  <a:schemeClr val="bg1">
                    <a:lumMod val="50000"/>
                  </a:schemeClr>
                </a:solidFill>
              </a:rPr>
              <a:t>Wiethoff</a:t>
            </a:r>
            <a:r>
              <a:rPr lang="en-US" sz="2000" i="1" dirty="0">
                <a:solidFill>
                  <a:schemeClr val="bg1">
                    <a:lumMod val="50000"/>
                  </a:schemeClr>
                </a:solidFill>
              </a:rPr>
              <a:t>. C. 2010. </a:t>
            </a:r>
            <a:r>
              <a:rPr lang="en-US" sz="2000" i="1" u="sng" dirty="0">
                <a:solidFill>
                  <a:schemeClr val="bg1">
                    <a:lumMod val="50000"/>
                  </a:schemeClr>
                </a:solidFill>
              </a:rPr>
              <a:t>Communicating in groups  and teams: Sharing Leadership</a:t>
            </a:r>
            <a:r>
              <a:rPr lang="en-US" sz="2000" i="1" dirty="0">
                <a:solidFill>
                  <a:schemeClr val="bg1">
                    <a:lumMod val="50000"/>
                  </a:schemeClr>
                </a:solidFill>
              </a:rPr>
              <a:t>, Part III: Sharing leadership through task processes: Logical and Critical Thinking, 5</a:t>
            </a:r>
            <a:r>
              <a:rPr lang="en-US" sz="2000" i="1" baseline="30000" dirty="0">
                <a:solidFill>
                  <a:schemeClr val="bg1">
                    <a:lumMod val="50000"/>
                  </a:schemeClr>
                </a:solidFill>
              </a:rPr>
              <a:t>th</a:t>
            </a:r>
            <a:r>
              <a:rPr lang="en-US" sz="2000" i="1" dirty="0">
                <a:solidFill>
                  <a:schemeClr val="bg1">
                    <a:lumMod val="50000"/>
                  </a:schemeClr>
                </a:solidFill>
              </a:rPr>
              <a:t> ed. </a:t>
            </a:r>
            <a:r>
              <a:rPr lang="en-US" sz="2000" i="1" dirty="0" err="1">
                <a:solidFill>
                  <a:schemeClr val="bg1">
                    <a:lumMod val="50000"/>
                  </a:schemeClr>
                </a:solidFill>
              </a:rPr>
              <a:t>Cengage</a:t>
            </a:r>
            <a:r>
              <a:rPr lang="en-US" sz="2000" i="1" dirty="0">
                <a:solidFill>
                  <a:schemeClr val="bg1">
                    <a:lumMod val="50000"/>
                  </a:schemeClr>
                </a:solidFill>
              </a:rPr>
              <a:t> Learning.</a:t>
            </a:r>
          </a:p>
          <a:p>
            <a:r>
              <a:rPr lang="en-US" sz="2000" b="1" dirty="0"/>
              <a:t>			</a:t>
            </a:r>
          </a:p>
        </p:txBody>
      </p:sp>
    </p:spTree>
    <p:extLst>
      <p:ext uri="{BB962C8B-B14F-4D97-AF65-F5344CB8AC3E}">
        <p14:creationId xmlns:p14="http://schemas.microsoft.com/office/powerpoint/2010/main" val="1166691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Autofit/>
          </a:bodyPr>
          <a:lstStyle/>
          <a:p>
            <a:r>
              <a:rPr lang="en-US" sz="3600" b="1" dirty="0"/>
              <a:t>Critical thinking:</a:t>
            </a:r>
            <a:br>
              <a:rPr lang="en-US" sz="3600" b="1" dirty="0"/>
            </a:br>
            <a:r>
              <a:rPr lang="en-US" sz="3200" b="1" dirty="0"/>
              <a:t>Learner outcomes</a:t>
            </a:r>
          </a:p>
        </p:txBody>
      </p:sp>
      <p:sp>
        <p:nvSpPr>
          <p:cNvPr id="3" name="Content Placeholder 2"/>
          <p:cNvSpPr>
            <a:spLocks noGrp="1"/>
          </p:cNvSpPr>
          <p:nvPr>
            <p:ph idx="1"/>
          </p:nvPr>
        </p:nvSpPr>
        <p:spPr>
          <a:xfrm>
            <a:off x="1763688" y="1340768"/>
            <a:ext cx="5256584" cy="5328592"/>
          </a:xfrm>
          <a:ln w="38100">
            <a:solidFill>
              <a:schemeClr val="accent5">
                <a:lumMod val="75000"/>
              </a:schemeClr>
            </a:solidFill>
          </a:ln>
        </p:spPr>
        <p:txBody>
          <a:bodyPr>
            <a:normAutofit fontScale="92500"/>
          </a:bodyPr>
          <a:lstStyle/>
          <a:p>
            <a:r>
              <a:rPr lang="en-US" sz="2800" dirty="0"/>
              <a:t>Ability to set norms for critical analysis.</a:t>
            </a:r>
          </a:p>
          <a:p>
            <a:pPr>
              <a:buNone/>
            </a:pPr>
            <a:endParaRPr lang="en-US" sz="2800" dirty="0"/>
          </a:p>
          <a:p>
            <a:r>
              <a:rPr lang="en-US" sz="2800" dirty="0"/>
              <a:t>Analyze data to determine what makes it trustworthy and usable or unacceptable &amp; not useful.</a:t>
            </a:r>
          </a:p>
          <a:p>
            <a:pPr>
              <a:buNone/>
            </a:pPr>
            <a:endParaRPr lang="en-US" sz="2800" dirty="0"/>
          </a:p>
          <a:p>
            <a:r>
              <a:rPr lang="en-US" sz="2800" dirty="0"/>
              <a:t>Find the strong points &amp; the weak points of ideas and reasoning.</a:t>
            </a:r>
          </a:p>
          <a:p>
            <a:pPr>
              <a:buNone/>
            </a:pPr>
            <a:endParaRPr lang="en-US" sz="2800" dirty="0"/>
          </a:p>
          <a:p>
            <a:r>
              <a:rPr lang="en-US" sz="2800" dirty="0"/>
              <a:t>Avoid illogical pitfalls &amp; fallacies in thinking.</a:t>
            </a:r>
          </a:p>
          <a:p>
            <a:pPr>
              <a:buNone/>
            </a:pPr>
            <a:endParaRPr lang="en-US" dirty="0"/>
          </a:p>
        </p:txBody>
      </p:sp>
    </p:spTree>
    <p:extLst>
      <p:ext uri="{BB962C8B-B14F-4D97-AF65-F5344CB8AC3E}">
        <p14:creationId xmlns:p14="http://schemas.microsoft.com/office/powerpoint/2010/main" val="1242835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5">
                    <a:lumMod val="60000"/>
                    <a:lumOff val="40000"/>
                  </a:schemeClr>
                </a:solidFill>
              </a:rPr>
              <a:t>.</a:t>
            </a:r>
          </a:p>
        </p:txBody>
      </p:sp>
      <p:sp>
        <p:nvSpPr>
          <p:cNvPr id="3" name="Content Placeholder 2"/>
          <p:cNvSpPr>
            <a:spLocks noGrp="1"/>
          </p:cNvSpPr>
          <p:nvPr>
            <p:ph idx="1"/>
          </p:nvPr>
        </p:nvSpPr>
        <p:spPr>
          <a:xfrm>
            <a:off x="0" y="476672"/>
            <a:ext cx="8686800" cy="5649491"/>
          </a:xfrm>
        </p:spPr>
        <p:txBody>
          <a:bodyPr/>
          <a:lstStyle/>
          <a:p>
            <a:pPr>
              <a:buNone/>
            </a:pPr>
            <a:r>
              <a:rPr lang="en-US" dirty="0">
                <a:solidFill>
                  <a:schemeClr val="accent5">
                    <a:lumMod val="60000"/>
                    <a:lumOff val="40000"/>
                  </a:schemeClr>
                </a:solidFill>
              </a:rPr>
              <a:t>.</a:t>
            </a:r>
          </a:p>
        </p:txBody>
      </p:sp>
      <p:graphicFrame>
        <p:nvGraphicFramePr>
          <p:cNvPr id="4" name="Diagram 3"/>
          <p:cNvGraphicFramePr/>
          <p:nvPr/>
        </p:nvGraphicFramePr>
        <p:xfrm>
          <a:off x="1331640" y="1196752"/>
          <a:ext cx="7128792" cy="42642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237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609" y="0"/>
            <a:ext cx="8229600" cy="1052736"/>
          </a:xfrm>
          <a:solidFill>
            <a:schemeClr val="bg1"/>
          </a:solidFill>
        </p:spPr>
        <p:style>
          <a:lnRef idx="0">
            <a:schemeClr val="accent5"/>
          </a:lnRef>
          <a:fillRef idx="3">
            <a:schemeClr val="accent5"/>
          </a:fillRef>
          <a:effectRef idx="3">
            <a:schemeClr val="accent5"/>
          </a:effectRef>
          <a:fontRef idx="minor">
            <a:schemeClr val="lt1"/>
          </a:fontRef>
        </p:style>
        <p:txBody>
          <a:bodyPr/>
          <a:lstStyle/>
          <a:p>
            <a:r>
              <a:rPr lang="en-US" b="1" dirty="0">
                <a:solidFill>
                  <a:schemeClr val="tx1"/>
                </a:solidFill>
              </a:rPr>
              <a:t>Introduction</a:t>
            </a:r>
          </a:p>
        </p:txBody>
      </p:sp>
      <p:graphicFrame>
        <p:nvGraphicFramePr>
          <p:cNvPr id="4" name="Table 4">
            <a:extLst>
              <a:ext uri="{FF2B5EF4-FFF2-40B4-BE49-F238E27FC236}">
                <a16:creationId xmlns:a16="http://schemas.microsoft.com/office/drawing/2014/main" id="{112519D2-4330-4EE1-9AF0-A3CEBF8A19C1}"/>
              </a:ext>
            </a:extLst>
          </p:cNvPr>
          <p:cNvGraphicFramePr>
            <a:graphicFrameLocks noGrp="1"/>
          </p:cNvGraphicFramePr>
          <p:nvPr>
            <p:ph idx="1"/>
            <p:extLst>
              <p:ext uri="{D42A27DB-BD31-4B8C-83A1-F6EECF244321}">
                <p14:modId xmlns:p14="http://schemas.microsoft.com/office/powerpoint/2010/main" val="3822312666"/>
              </p:ext>
            </p:extLst>
          </p:nvPr>
        </p:nvGraphicFramePr>
        <p:xfrm>
          <a:off x="457200" y="1340768"/>
          <a:ext cx="8229600" cy="5112568"/>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1279413451"/>
                    </a:ext>
                  </a:extLst>
                </a:gridCol>
                <a:gridCol w="4114800">
                  <a:extLst>
                    <a:ext uri="{9D8B030D-6E8A-4147-A177-3AD203B41FA5}">
                      <a16:colId xmlns:a16="http://schemas.microsoft.com/office/drawing/2014/main" val="2684113478"/>
                    </a:ext>
                  </a:extLst>
                </a:gridCol>
              </a:tblGrid>
              <a:tr h="5112568">
                <a:tc>
                  <a:txBody>
                    <a:bodyPr/>
                    <a:lstStyle/>
                    <a:p>
                      <a:pPr marL="342900" indent="-342900">
                        <a:buFont typeface="Arial" panose="020B0604020202020204" pitchFamily="34" charset="0"/>
                        <a:buChar char="•"/>
                      </a:pPr>
                      <a:r>
                        <a:rPr lang="en-US" sz="2000" b="0" dirty="0">
                          <a:solidFill>
                            <a:schemeClr val="tx1"/>
                          </a:solidFill>
                        </a:rPr>
                        <a:t>Brainpower is essential for success.</a:t>
                      </a:r>
                    </a:p>
                    <a:p>
                      <a:endParaRPr lang="en-US" sz="2000" b="0" dirty="0">
                        <a:solidFill>
                          <a:schemeClr val="tx1"/>
                        </a:solidFill>
                      </a:endParaRPr>
                    </a:p>
                    <a:p>
                      <a:pPr marL="342900" indent="-342900">
                        <a:buFont typeface="Arial" panose="020B0604020202020204" pitchFamily="34" charset="0"/>
                        <a:buChar char="•"/>
                      </a:pPr>
                      <a:r>
                        <a:rPr lang="en-US" sz="2000" b="0" dirty="0">
                          <a:solidFill>
                            <a:schemeClr val="tx1"/>
                          </a:solidFill>
                        </a:rPr>
                        <a:t>When we collect data for research, we must remember that all information is </a:t>
                      </a:r>
                      <a:r>
                        <a:rPr lang="en-US" sz="2000" b="1" dirty="0">
                          <a:solidFill>
                            <a:schemeClr val="tx1"/>
                          </a:solidFill>
                        </a:rPr>
                        <a:t>NOT</a:t>
                      </a:r>
                      <a:r>
                        <a:rPr lang="en-US" sz="2000" b="0" dirty="0">
                          <a:solidFill>
                            <a:schemeClr val="tx1"/>
                          </a:solidFill>
                        </a:rPr>
                        <a:t> equal.</a:t>
                      </a:r>
                    </a:p>
                    <a:p>
                      <a:pPr>
                        <a:buNone/>
                      </a:pPr>
                      <a:endParaRPr lang="en-US" sz="2000" b="0" dirty="0">
                        <a:solidFill>
                          <a:schemeClr val="tx1"/>
                        </a:solidFill>
                      </a:endParaRPr>
                    </a:p>
                    <a:p>
                      <a:pPr marL="342900" indent="-342900">
                        <a:buFont typeface="Arial" panose="020B0604020202020204" pitchFamily="34" charset="0"/>
                        <a:buChar char="•"/>
                      </a:pPr>
                      <a:r>
                        <a:rPr lang="en-US" sz="2000" b="0" dirty="0">
                          <a:solidFill>
                            <a:schemeClr val="tx1"/>
                          </a:solidFill>
                        </a:rPr>
                        <a:t>Your </a:t>
                      </a:r>
                      <a:r>
                        <a:rPr lang="en-US" sz="2000" b="1" dirty="0">
                          <a:solidFill>
                            <a:schemeClr val="tx1"/>
                          </a:solidFill>
                        </a:rPr>
                        <a:t>analysis</a:t>
                      </a:r>
                      <a:r>
                        <a:rPr lang="en-US" sz="2000" b="0" dirty="0">
                          <a:solidFill>
                            <a:schemeClr val="tx1"/>
                          </a:solidFill>
                        </a:rPr>
                        <a:t> can separate the garbage from the gold.</a:t>
                      </a:r>
                    </a:p>
                    <a:p>
                      <a:endParaRPr lang="en-US" sz="2000" b="0" dirty="0">
                        <a:solidFill>
                          <a:schemeClr val="tx1"/>
                        </a:solidFill>
                      </a:endParaRPr>
                    </a:p>
                    <a:p>
                      <a:pPr marL="342900" indent="-342900">
                        <a:buFont typeface="Arial" panose="020B0604020202020204" pitchFamily="34" charset="0"/>
                        <a:buChar char="•"/>
                      </a:pPr>
                      <a:r>
                        <a:rPr lang="en-US" sz="2000" b="0" dirty="0">
                          <a:solidFill>
                            <a:schemeClr val="tx1"/>
                          </a:solidFill>
                        </a:rPr>
                        <a:t>Analysis = using your brainpower to think </a:t>
                      </a:r>
                      <a:r>
                        <a:rPr lang="en-US" sz="2000" b="0" u="sng" dirty="0">
                          <a:solidFill>
                            <a:schemeClr val="tx1"/>
                          </a:solidFill>
                        </a:rPr>
                        <a:t>logically</a:t>
                      </a:r>
                      <a:r>
                        <a:rPr lang="en-US" sz="2000" b="0" dirty="0">
                          <a:solidFill>
                            <a:schemeClr val="tx1"/>
                          </a:solidFill>
                        </a:rPr>
                        <a:t> about information &amp; any conclusions you draw from it.</a:t>
                      </a:r>
                    </a:p>
                    <a:p>
                      <a:endParaRPr lang="en-GB" dirty="0"/>
                    </a:p>
                  </a:txBody>
                  <a:tcPr>
                    <a:solidFill>
                      <a:schemeClr val="bg1"/>
                    </a:solidFill>
                  </a:tcPr>
                </a:tc>
                <a:tc>
                  <a:txBody>
                    <a:bodyPr/>
                    <a:lstStyle/>
                    <a:p>
                      <a:endParaRPr lang="en-GB" dirty="0"/>
                    </a:p>
                  </a:txBody>
                  <a:tcPr>
                    <a:solidFill>
                      <a:schemeClr val="bg1"/>
                    </a:solidFill>
                  </a:tcPr>
                </a:tc>
                <a:extLst>
                  <a:ext uri="{0D108BD9-81ED-4DB2-BD59-A6C34878D82A}">
                    <a16:rowId xmlns:a16="http://schemas.microsoft.com/office/drawing/2014/main" val="1292349719"/>
                  </a:ext>
                </a:extLst>
              </a:tr>
            </a:tbl>
          </a:graphicData>
        </a:graphic>
      </p:graphicFrame>
      <p:pic>
        <p:nvPicPr>
          <p:cNvPr id="6" name="Picture 5">
            <a:extLst>
              <a:ext uri="{FF2B5EF4-FFF2-40B4-BE49-F238E27FC236}">
                <a16:creationId xmlns:a16="http://schemas.microsoft.com/office/drawing/2014/main" id="{898A5F14-CBB3-4439-B6AC-FB5A7784E31B}"/>
              </a:ext>
            </a:extLst>
          </p:cNvPr>
          <p:cNvPicPr>
            <a:picLocks noChangeAspect="1"/>
          </p:cNvPicPr>
          <p:nvPr/>
        </p:nvPicPr>
        <p:blipFill>
          <a:blip r:embed="rId2"/>
          <a:stretch>
            <a:fillRect/>
          </a:stretch>
        </p:blipFill>
        <p:spPr>
          <a:xfrm rot="10800000" flipV="1">
            <a:off x="6156175" y="1340768"/>
            <a:ext cx="2536325" cy="2232247"/>
          </a:xfrm>
          <a:prstGeom prst="rect">
            <a:avLst/>
          </a:prstGeom>
        </p:spPr>
      </p:pic>
      <p:pic>
        <p:nvPicPr>
          <p:cNvPr id="8" name="Picture 7">
            <a:extLst>
              <a:ext uri="{FF2B5EF4-FFF2-40B4-BE49-F238E27FC236}">
                <a16:creationId xmlns:a16="http://schemas.microsoft.com/office/drawing/2014/main" id="{3561BD41-3564-44C3-B455-638990A67590}"/>
              </a:ext>
            </a:extLst>
          </p:cNvPr>
          <p:cNvPicPr>
            <a:picLocks noChangeAspect="1"/>
          </p:cNvPicPr>
          <p:nvPr/>
        </p:nvPicPr>
        <p:blipFill>
          <a:blip r:embed="rId3"/>
          <a:stretch>
            <a:fillRect/>
          </a:stretch>
        </p:blipFill>
        <p:spPr>
          <a:xfrm>
            <a:off x="6037975" y="4293096"/>
            <a:ext cx="2647950" cy="1724025"/>
          </a:xfrm>
          <a:prstGeom prst="rect">
            <a:avLst/>
          </a:prstGeom>
        </p:spPr>
      </p:pic>
    </p:spTree>
    <p:extLst>
      <p:ext uri="{BB962C8B-B14F-4D97-AF65-F5344CB8AC3E}">
        <p14:creationId xmlns:p14="http://schemas.microsoft.com/office/powerpoint/2010/main" val="4240024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a:solidFill>
            <a:schemeClr val="bg1"/>
          </a:solidFill>
          <a:scene3d>
            <a:camera prst="orthographicFront"/>
            <a:lightRig rig="threePt" dir="t"/>
          </a:scene3d>
          <a:sp3d>
            <a:bevelT w="165100" prst="coolSlant"/>
          </a:sp3d>
        </p:spPr>
        <p:style>
          <a:lnRef idx="1">
            <a:schemeClr val="accent5"/>
          </a:lnRef>
          <a:fillRef idx="3">
            <a:schemeClr val="accent5"/>
          </a:fillRef>
          <a:effectRef idx="2">
            <a:schemeClr val="accent5"/>
          </a:effectRef>
          <a:fontRef idx="minor">
            <a:schemeClr val="lt1"/>
          </a:fontRef>
        </p:style>
        <p:txBody>
          <a:bodyPr/>
          <a:lstStyle/>
          <a:p>
            <a:r>
              <a:rPr lang="en-US" b="1">
                <a:solidFill>
                  <a:schemeClr val="tx1"/>
                </a:solidFill>
              </a:rPr>
              <a:t>Evaluating information critically</a:t>
            </a:r>
            <a:endParaRPr lang="en-US" b="1" dirty="0">
              <a:solidFill>
                <a:schemeClr val="tx1"/>
              </a:solidFill>
            </a:endParaRPr>
          </a:p>
        </p:txBody>
      </p:sp>
      <p:sp>
        <p:nvSpPr>
          <p:cNvPr id="3" name="Content Placeholder 2"/>
          <p:cNvSpPr>
            <a:spLocks noGrp="1"/>
          </p:cNvSpPr>
          <p:nvPr>
            <p:ph idx="1"/>
          </p:nvPr>
        </p:nvSpPr>
        <p:spPr>
          <a:xfrm>
            <a:off x="457200" y="1052736"/>
            <a:ext cx="5626968" cy="5616624"/>
          </a:xfrm>
          <a:solidFill>
            <a:schemeClr val="bg1"/>
          </a:solidFill>
          <a:ln>
            <a:noFill/>
          </a:ln>
          <a:scene3d>
            <a:camera prst="orthographicFront"/>
            <a:lightRig rig="threePt" dir="t"/>
          </a:scene3d>
          <a:sp3d>
            <a:bevelT w="165100" prst="coolSlant"/>
          </a:sp3d>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r>
              <a:rPr lang="en-US" sz="2400" dirty="0"/>
              <a:t>No matter how bright/analytical you are, </a:t>
            </a:r>
            <a:r>
              <a:rPr lang="en-US" sz="2400" b="1" i="1" dirty="0">
                <a:solidFill>
                  <a:srgbClr val="FF0000"/>
                </a:solidFill>
              </a:rPr>
              <a:t>good analysis </a:t>
            </a:r>
            <a:r>
              <a:rPr lang="en-US" sz="2400" dirty="0">
                <a:solidFill>
                  <a:schemeClr val="tx1"/>
                </a:solidFill>
              </a:rPr>
              <a:t>requires</a:t>
            </a:r>
            <a:r>
              <a:rPr lang="en-US" sz="2400" i="1" dirty="0">
                <a:solidFill>
                  <a:srgbClr val="FF0000"/>
                </a:solidFill>
              </a:rPr>
              <a:t> </a:t>
            </a:r>
            <a:r>
              <a:rPr lang="en-US" sz="2400" b="1" i="1" dirty="0">
                <a:solidFill>
                  <a:srgbClr val="FF0000"/>
                </a:solidFill>
              </a:rPr>
              <a:t>good information</a:t>
            </a:r>
            <a:r>
              <a:rPr lang="en-US" sz="2400" dirty="0"/>
              <a:t>.</a:t>
            </a:r>
          </a:p>
          <a:p>
            <a:pPr>
              <a:buNone/>
            </a:pPr>
            <a:endParaRPr lang="en-US" sz="2400" dirty="0"/>
          </a:p>
          <a:p>
            <a:r>
              <a:rPr lang="en-US" sz="2400" dirty="0"/>
              <a:t>Incomplete/false/wrong data </a:t>
            </a:r>
            <a:r>
              <a:rPr lang="en-US" sz="2400" b="1" dirty="0"/>
              <a:t>=</a:t>
            </a:r>
            <a:r>
              <a:rPr lang="en-US" sz="2400" dirty="0"/>
              <a:t> incomplete/false/wrong conclusions.</a:t>
            </a:r>
          </a:p>
          <a:p>
            <a:pPr>
              <a:buNone/>
            </a:pPr>
            <a:endParaRPr lang="en-US" sz="2400" dirty="0"/>
          </a:p>
          <a:p>
            <a:r>
              <a:rPr lang="en-US" sz="2400" b="1" dirty="0"/>
              <a:t>Evaluating</a:t>
            </a:r>
            <a:r>
              <a:rPr lang="en-US" sz="2400" dirty="0"/>
              <a:t> information is therefore crucial.</a:t>
            </a:r>
          </a:p>
          <a:p>
            <a:pPr>
              <a:buNone/>
            </a:pPr>
            <a:endParaRPr lang="en-US" sz="2400" dirty="0"/>
          </a:p>
          <a:p>
            <a:r>
              <a:rPr lang="en-US" sz="2400" dirty="0"/>
              <a:t>Curiosity, open-mindedness and conscientiousness are some of the personality traits that correlate with the desire </a:t>
            </a:r>
            <a:r>
              <a:rPr lang="en-US" sz="2400" b="1" dirty="0"/>
              <a:t>to </a:t>
            </a:r>
            <a:r>
              <a:rPr lang="en-US" sz="2400" b="1" dirty="0">
                <a:solidFill>
                  <a:schemeClr val="accent6">
                    <a:lumMod val="75000"/>
                  </a:schemeClr>
                </a:solidFill>
                <a:latin typeface="Bradley Hand ITC" pitchFamily="66" charset="0"/>
              </a:rPr>
              <a:t>think critically</a:t>
            </a:r>
            <a:r>
              <a:rPr lang="en-US" sz="2400" b="1" dirty="0">
                <a:latin typeface="Bradley Hand ITC" pitchFamily="66" charset="0"/>
              </a:rPr>
              <a:t>.</a:t>
            </a:r>
          </a:p>
          <a:p>
            <a:pPr>
              <a:buNone/>
            </a:pPr>
            <a:endParaRPr lang="en-US" sz="2400" b="1" dirty="0">
              <a:latin typeface="Bradley Hand ITC" pitchFamily="66" charset="0"/>
            </a:endParaRPr>
          </a:p>
          <a:p>
            <a:r>
              <a:rPr lang="en-US" sz="2400" dirty="0">
                <a:latin typeface="+mj-lt"/>
              </a:rPr>
              <a:t>If teams discourage members from questioning and disagreeing, members are not likely to engage their critical thinking skills.</a:t>
            </a:r>
          </a:p>
          <a:p>
            <a:endParaRPr lang="en-US" sz="2800" b="1" dirty="0">
              <a:latin typeface="Bradley Hand ITC" pitchFamily="66" charset="0"/>
            </a:endParaRPr>
          </a:p>
          <a:p>
            <a:endParaRPr lang="en-US" sz="2800" b="1" dirty="0">
              <a:latin typeface="Bradley Hand ITC" pitchFamily="66" charset="0"/>
            </a:endParaRPr>
          </a:p>
          <a:p>
            <a:endParaRPr lang="en-US" sz="2800" b="1" dirty="0">
              <a:latin typeface="Bradley Hand ITC" pitchFamily="66" charset="0"/>
            </a:endParaRPr>
          </a:p>
        </p:txBody>
      </p:sp>
      <p:pic>
        <p:nvPicPr>
          <p:cNvPr id="5" name="Picture 4">
            <a:extLst>
              <a:ext uri="{FF2B5EF4-FFF2-40B4-BE49-F238E27FC236}">
                <a16:creationId xmlns:a16="http://schemas.microsoft.com/office/drawing/2014/main" id="{C4662E45-D028-45FA-AAFE-C5DE65E1333C}"/>
              </a:ext>
            </a:extLst>
          </p:cNvPr>
          <p:cNvPicPr>
            <a:picLocks noChangeAspect="1"/>
          </p:cNvPicPr>
          <p:nvPr/>
        </p:nvPicPr>
        <p:blipFill>
          <a:blip r:embed="rId2"/>
          <a:stretch>
            <a:fillRect/>
          </a:stretch>
        </p:blipFill>
        <p:spPr>
          <a:xfrm>
            <a:off x="6324600" y="1061155"/>
            <a:ext cx="2362200" cy="1944216"/>
          </a:xfrm>
          <a:prstGeom prst="rect">
            <a:avLst/>
          </a:prstGeom>
        </p:spPr>
      </p:pic>
      <p:pic>
        <p:nvPicPr>
          <p:cNvPr id="1028" name="Picture 4" descr="Bring Intellectual Curiosity to Your Writing - Find your writing nerd">
            <a:extLst>
              <a:ext uri="{FF2B5EF4-FFF2-40B4-BE49-F238E27FC236}">
                <a16:creationId xmlns:a16="http://schemas.microsoft.com/office/drawing/2014/main" id="{AE57A2DE-9C75-4B90-BB54-66FF4CAECB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3861048"/>
            <a:ext cx="2379385" cy="169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8695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style>
          <a:lnRef idx="0">
            <a:schemeClr val="accent5"/>
          </a:lnRef>
          <a:fillRef idx="3">
            <a:schemeClr val="accent5"/>
          </a:fillRef>
          <a:effectRef idx="3">
            <a:schemeClr val="accent5"/>
          </a:effectRef>
          <a:fontRef idx="minor">
            <a:schemeClr val="lt1"/>
          </a:fontRef>
        </p:style>
        <p:txBody>
          <a:bodyPr/>
          <a:lstStyle/>
          <a:p>
            <a:r>
              <a:rPr lang="en-US" b="1" dirty="0">
                <a:solidFill>
                  <a:schemeClr val="tx1"/>
                </a:solidFill>
              </a:rPr>
              <a:t>Criteria for analysis</a:t>
            </a:r>
          </a:p>
        </p:txBody>
      </p:sp>
      <p:graphicFrame>
        <p:nvGraphicFramePr>
          <p:cNvPr id="4" name="Table 5">
            <a:extLst>
              <a:ext uri="{FF2B5EF4-FFF2-40B4-BE49-F238E27FC236}">
                <a16:creationId xmlns:a16="http://schemas.microsoft.com/office/drawing/2014/main" id="{4132B80F-C199-44EB-8EEF-D0E29588D312}"/>
              </a:ext>
            </a:extLst>
          </p:cNvPr>
          <p:cNvGraphicFramePr>
            <a:graphicFrameLocks noGrp="1"/>
          </p:cNvGraphicFramePr>
          <p:nvPr>
            <p:ph idx="1"/>
            <p:extLst>
              <p:ext uri="{D42A27DB-BD31-4B8C-83A1-F6EECF244321}">
                <p14:modId xmlns:p14="http://schemas.microsoft.com/office/powerpoint/2010/main" val="1031786619"/>
              </p:ext>
            </p:extLst>
          </p:nvPr>
        </p:nvGraphicFramePr>
        <p:xfrm>
          <a:off x="457200" y="1600200"/>
          <a:ext cx="8229600" cy="4781128"/>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3992363541"/>
                    </a:ext>
                  </a:extLst>
                </a:gridCol>
                <a:gridCol w="4114800">
                  <a:extLst>
                    <a:ext uri="{9D8B030D-6E8A-4147-A177-3AD203B41FA5}">
                      <a16:colId xmlns:a16="http://schemas.microsoft.com/office/drawing/2014/main" val="3388628517"/>
                    </a:ext>
                  </a:extLst>
                </a:gridCol>
              </a:tblGrid>
              <a:tr h="4781128">
                <a:tc>
                  <a:txBody>
                    <a:bodyPr/>
                    <a:lstStyle/>
                    <a:p>
                      <a:r>
                        <a:rPr lang="en-US" sz="2000" b="0" dirty="0">
                          <a:solidFill>
                            <a:schemeClr val="tx1"/>
                          </a:solidFill>
                        </a:rPr>
                        <a:t>You can’t </a:t>
                      </a:r>
                      <a:r>
                        <a:rPr lang="en-US" sz="2000" b="0" dirty="0" err="1">
                          <a:solidFill>
                            <a:schemeClr val="tx1"/>
                          </a:solidFill>
                        </a:rPr>
                        <a:t>analyse</a:t>
                      </a:r>
                      <a:r>
                        <a:rPr lang="en-US" sz="2000" b="0" dirty="0">
                          <a:solidFill>
                            <a:schemeClr val="tx1"/>
                          </a:solidFill>
                        </a:rPr>
                        <a:t> data critically without some </a:t>
                      </a:r>
                      <a:r>
                        <a:rPr lang="en-US" sz="2000" b="0" u="sng" dirty="0">
                          <a:solidFill>
                            <a:schemeClr val="tx1"/>
                          </a:solidFill>
                        </a:rPr>
                        <a:t>standard of measurement.  </a:t>
                      </a:r>
                    </a:p>
                    <a:p>
                      <a:endParaRPr lang="en-US" sz="2000" b="0" dirty="0">
                        <a:solidFill>
                          <a:schemeClr val="tx1"/>
                        </a:solidFill>
                      </a:endParaRPr>
                    </a:p>
                    <a:p>
                      <a:r>
                        <a:rPr lang="en-US" sz="2000" b="0" u="sng" dirty="0">
                          <a:solidFill>
                            <a:schemeClr val="tx1"/>
                          </a:solidFill>
                        </a:rPr>
                        <a:t>Consider criteria in 2 areas:</a:t>
                      </a:r>
                    </a:p>
                    <a:p>
                      <a:pPr marL="0" indent="0">
                        <a:buNone/>
                      </a:pPr>
                      <a:endParaRPr lang="en-US" dirty="0">
                        <a:solidFill>
                          <a:schemeClr val="tx1"/>
                        </a:solidFill>
                      </a:endParaRPr>
                    </a:p>
                    <a:p>
                      <a:pPr>
                        <a:buNone/>
                      </a:pPr>
                      <a:endParaRPr lang="en-US" dirty="0"/>
                    </a:p>
                    <a:p>
                      <a:pPr>
                        <a:buNone/>
                      </a:pPr>
                      <a:r>
                        <a:rPr lang="en-US" dirty="0"/>
                        <a:t>	</a:t>
                      </a:r>
                      <a:endParaRPr lang="en-GB" dirty="0"/>
                    </a:p>
                  </a:txBody>
                  <a:tcPr>
                    <a:solidFill>
                      <a:schemeClr val="bg1"/>
                    </a:solidFill>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2800" b="0" dirty="0">
                          <a:solidFill>
                            <a:schemeClr val="tx1"/>
                          </a:solidFill>
                        </a:rPr>
                        <a:t>The information’s source  </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lang="en-US" sz="2800" b="0" dirty="0">
                        <a:solidFill>
                          <a:schemeClr val="tx1"/>
                        </a:solidFill>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2800" b="0" dirty="0">
                          <a:solidFill>
                            <a:schemeClr val="tx1"/>
                          </a:solidFill>
                        </a:rPr>
                        <a:t>The information itself</a:t>
                      </a:r>
                    </a:p>
                    <a:p>
                      <a:endParaRPr lang="en-GB" dirty="0"/>
                    </a:p>
                  </a:txBody>
                  <a:tcPr>
                    <a:solidFill>
                      <a:schemeClr val="bg1"/>
                    </a:solidFill>
                  </a:tcPr>
                </a:tc>
                <a:extLst>
                  <a:ext uri="{0D108BD9-81ED-4DB2-BD59-A6C34878D82A}">
                    <a16:rowId xmlns:a16="http://schemas.microsoft.com/office/drawing/2014/main" val="198555073"/>
                  </a:ext>
                </a:extLst>
              </a:tr>
            </a:tbl>
          </a:graphicData>
        </a:graphic>
      </p:graphicFrame>
      <p:pic>
        <p:nvPicPr>
          <p:cNvPr id="8" name="Picture 7">
            <a:extLst>
              <a:ext uri="{FF2B5EF4-FFF2-40B4-BE49-F238E27FC236}">
                <a16:creationId xmlns:a16="http://schemas.microsoft.com/office/drawing/2014/main" id="{5EF1C9B5-0E54-44C9-9C6D-88E3DE2CB10F}"/>
              </a:ext>
            </a:extLst>
          </p:cNvPr>
          <p:cNvPicPr>
            <a:picLocks noChangeAspect="1"/>
          </p:cNvPicPr>
          <p:nvPr/>
        </p:nvPicPr>
        <p:blipFill>
          <a:blip r:embed="rId2"/>
          <a:stretch>
            <a:fillRect/>
          </a:stretch>
        </p:blipFill>
        <p:spPr>
          <a:xfrm>
            <a:off x="683568" y="4077073"/>
            <a:ext cx="3392259" cy="2269582"/>
          </a:xfrm>
          <a:prstGeom prst="rect">
            <a:avLst/>
          </a:prstGeom>
        </p:spPr>
      </p:pic>
      <p:pic>
        <p:nvPicPr>
          <p:cNvPr id="10" name="Picture 9">
            <a:extLst>
              <a:ext uri="{FF2B5EF4-FFF2-40B4-BE49-F238E27FC236}">
                <a16:creationId xmlns:a16="http://schemas.microsoft.com/office/drawing/2014/main" id="{2C0E72C7-BE1A-4876-947D-C76443A59D6E}"/>
              </a:ext>
            </a:extLst>
          </p:cNvPr>
          <p:cNvPicPr>
            <a:picLocks noChangeAspect="1"/>
          </p:cNvPicPr>
          <p:nvPr/>
        </p:nvPicPr>
        <p:blipFill>
          <a:blip r:embed="rId3"/>
          <a:stretch>
            <a:fillRect/>
          </a:stretch>
        </p:blipFill>
        <p:spPr>
          <a:xfrm>
            <a:off x="5069912" y="4110462"/>
            <a:ext cx="3390519" cy="2270866"/>
          </a:xfrm>
          <a:prstGeom prst="rect">
            <a:avLst/>
          </a:prstGeom>
        </p:spPr>
      </p:pic>
    </p:spTree>
    <p:extLst>
      <p:ext uri="{BB962C8B-B14F-4D97-AF65-F5344CB8AC3E}">
        <p14:creationId xmlns:p14="http://schemas.microsoft.com/office/powerpoint/2010/main" val="1181175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864096"/>
          </a:xfrm>
          <a:solidFill>
            <a:schemeClr val="bg1"/>
          </a:solidFill>
          <a:ln/>
          <a:scene3d>
            <a:camera prst="orthographicFront"/>
            <a:lightRig rig="threePt" dir="t"/>
          </a:scene3d>
          <a:sp3d>
            <a:bevelT/>
          </a:sp3d>
        </p:spPr>
        <p:style>
          <a:lnRef idx="1">
            <a:schemeClr val="accent5"/>
          </a:lnRef>
          <a:fillRef idx="3">
            <a:schemeClr val="accent5"/>
          </a:fillRef>
          <a:effectRef idx="2">
            <a:schemeClr val="accent5"/>
          </a:effectRef>
          <a:fontRef idx="minor">
            <a:schemeClr val="lt1"/>
          </a:fontRef>
        </p:style>
        <p:txBody>
          <a:bodyPr/>
          <a:lstStyle/>
          <a:p>
            <a:r>
              <a:rPr lang="en-US" b="1" dirty="0">
                <a:solidFill>
                  <a:schemeClr val="tx1"/>
                </a:solidFill>
              </a:rPr>
              <a:t>The information’s source</a:t>
            </a:r>
          </a:p>
        </p:txBody>
      </p:sp>
      <p:graphicFrame>
        <p:nvGraphicFramePr>
          <p:cNvPr id="4" name="Table 4">
            <a:extLst>
              <a:ext uri="{FF2B5EF4-FFF2-40B4-BE49-F238E27FC236}">
                <a16:creationId xmlns:a16="http://schemas.microsoft.com/office/drawing/2014/main" id="{2C8E475B-8552-43AB-A42D-D6DBD0AEFBA8}"/>
              </a:ext>
            </a:extLst>
          </p:cNvPr>
          <p:cNvGraphicFramePr>
            <a:graphicFrameLocks noGrp="1"/>
          </p:cNvGraphicFramePr>
          <p:nvPr>
            <p:ph idx="1"/>
            <p:extLst>
              <p:ext uri="{D42A27DB-BD31-4B8C-83A1-F6EECF244321}">
                <p14:modId xmlns:p14="http://schemas.microsoft.com/office/powerpoint/2010/main" val="2737223363"/>
              </p:ext>
            </p:extLst>
          </p:nvPr>
        </p:nvGraphicFramePr>
        <p:xfrm>
          <a:off x="457200" y="1600200"/>
          <a:ext cx="8229600" cy="4925144"/>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675039698"/>
                    </a:ext>
                  </a:extLst>
                </a:gridCol>
                <a:gridCol w="4114800">
                  <a:extLst>
                    <a:ext uri="{9D8B030D-6E8A-4147-A177-3AD203B41FA5}">
                      <a16:colId xmlns:a16="http://schemas.microsoft.com/office/drawing/2014/main" val="1484820686"/>
                    </a:ext>
                  </a:extLst>
                </a:gridCol>
              </a:tblGrid>
              <a:tr h="4925144">
                <a:tc>
                  <a:txBody>
                    <a:bodyPr/>
                    <a:lstStyle/>
                    <a:p>
                      <a:r>
                        <a:rPr lang="en-US" dirty="0">
                          <a:solidFill>
                            <a:schemeClr val="tx1"/>
                          </a:solidFill>
                        </a:rPr>
                        <a:t> </a:t>
                      </a:r>
                      <a:r>
                        <a:rPr lang="en-US" b="0" dirty="0">
                          <a:solidFill>
                            <a:schemeClr val="tx1"/>
                          </a:solidFill>
                        </a:rPr>
                        <a:t>Suppose Lee brings in a tape &amp; a summary of her interview with an</a:t>
                      </a:r>
                      <a:r>
                        <a:rPr lang="en-US" b="1" dirty="0">
                          <a:solidFill>
                            <a:schemeClr val="tx1"/>
                          </a:solidFill>
                        </a:rPr>
                        <a:t> expert </a:t>
                      </a:r>
                      <a:r>
                        <a:rPr lang="en-US" b="0" dirty="0">
                          <a:solidFill>
                            <a:schemeClr val="tx1"/>
                          </a:solidFill>
                        </a:rPr>
                        <a:t>– to decide whether the source is good, you evaluate the expert.</a:t>
                      </a:r>
                    </a:p>
                    <a:p>
                      <a:endParaRPr lang="en-US" b="0" dirty="0">
                        <a:solidFill>
                          <a:schemeClr val="tx1"/>
                        </a:solidFill>
                      </a:endParaRPr>
                    </a:p>
                    <a:p>
                      <a:endParaRPr lang="en-US" b="0" dirty="0">
                        <a:solidFill>
                          <a:schemeClr val="tx1"/>
                        </a:solidFill>
                      </a:endParaRPr>
                    </a:p>
                    <a:p>
                      <a:r>
                        <a:rPr lang="en-US" b="0" dirty="0">
                          <a:solidFill>
                            <a:schemeClr val="tx1"/>
                          </a:solidFill>
                        </a:rPr>
                        <a:t>Now suppose Thandi brings in statistics from an article written by a freelance </a:t>
                      </a:r>
                      <a:r>
                        <a:rPr lang="en-US" b="1" dirty="0">
                          <a:solidFill>
                            <a:schemeClr val="tx1"/>
                          </a:solidFill>
                        </a:rPr>
                        <a:t>reporter</a:t>
                      </a:r>
                      <a:r>
                        <a:rPr lang="en-US" b="0" dirty="0">
                          <a:solidFill>
                            <a:schemeClr val="tx1"/>
                          </a:solidFill>
                        </a:rPr>
                        <a:t> based on an interview with an </a:t>
                      </a:r>
                      <a:r>
                        <a:rPr lang="en-US" b="1" dirty="0">
                          <a:solidFill>
                            <a:schemeClr val="tx1"/>
                          </a:solidFill>
                        </a:rPr>
                        <a:t>expert</a:t>
                      </a:r>
                      <a:r>
                        <a:rPr lang="en-US" b="0" dirty="0">
                          <a:solidFill>
                            <a:schemeClr val="tx1"/>
                          </a:solidFill>
                        </a:rPr>
                        <a:t> and published in a </a:t>
                      </a:r>
                      <a:r>
                        <a:rPr lang="en-US" b="1" dirty="0">
                          <a:solidFill>
                            <a:schemeClr val="tx1"/>
                          </a:solidFill>
                        </a:rPr>
                        <a:t>magazine</a:t>
                      </a:r>
                      <a:r>
                        <a:rPr lang="en-US" b="0" dirty="0">
                          <a:solidFill>
                            <a:schemeClr val="tx1"/>
                          </a:solidFill>
                        </a:rPr>
                        <a:t> – you now have </a:t>
                      </a:r>
                      <a:r>
                        <a:rPr lang="en-US" b="0" u="sng" dirty="0">
                          <a:solidFill>
                            <a:schemeClr val="tx1"/>
                          </a:solidFill>
                        </a:rPr>
                        <a:t>3 sources to consider</a:t>
                      </a:r>
                      <a:r>
                        <a:rPr lang="en-US" b="0" dirty="0">
                          <a:solidFill>
                            <a:schemeClr val="tx1"/>
                          </a:solidFill>
                        </a:rPr>
                        <a:t>: </a:t>
                      </a:r>
                    </a:p>
                    <a:p>
                      <a:r>
                        <a:rPr lang="en-US" b="0" dirty="0">
                          <a:solidFill>
                            <a:schemeClr val="tx1"/>
                          </a:solidFill>
                        </a:rPr>
                        <a:t>- the expert, </a:t>
                      </a:r>
                    </a:p>
                    <a:p>
                      <a:r>
                        <a:rPr lang="en-US" b="0" dirty="0">
                          <a:solidFill>
                            <a:schemeClr val="tx1"/>
                          </a:solidFill>
                        </a:rPr>
                        <a:t>- the writer &amp; </a:t>
                      </a:r>
                    </a:p>
                    <a:p>
                      <a:r>
                        <a:rPr lang="en-US" b="0" dirty="0">
                          <a:solidFill>
                            <a:schemeClr val="tx1"/>
                          </a:solidFill>
                        </a:rPr>
                        <a:t>- the magazine. </a:t>
                      </a:r>
                    </a:p>
                    <a:p>
                      <a:endParaRPr lang="en-GB" dirty="0"/>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Fortunately, many of the </a:t>
                      </a:r>
                      <a:r>
                        <a:rPr lang="en-US" sz="2000" b="0" u="sng" dirty="0">
                          <a:solidFill>
                            <a:schemeClr val="tx1"/>
                          </a:solidFill>
                        </a:rPr>
                        <a:t>same criteria apply</a:t>
                      </a:r>
                      <a:r>
                        <a:rPr lang="en-US" sz="2000" b="0" dirty="0">
                          <a:solidFill>
                            <a:schemeClr val="tx1"/>
                          </a:solidFill>
                        </a:rPr>
                        <a:t> to each of these sources, but you cannot overlook 1 source as you </a:t>
                      </a:r>
                      <a:r>
                        <a:rPr lang="en-US" sz="2000" b="0" dirty="0" err="1">
                          <a:solidFill>
                            <a:schemeClr val="tx1"/>
                          </a:solidFill>
                        </a:rPr>
                        <a:t>analyse</a:t>
                      </a:r>
                      <a:r>
                        <a:rPr lang="en-US" sz="2000" b="0" dirty="0">
                          <a:solidFill>
                            <a:schemeClr val="tx1"/>
                          </a:solidFill>
                        </a:rPr>
                        <a:t> another.</a:t>
                      </a:r>
                    </a:p>
                    <a:p>
                      <a:endParaRPr lang="en-GB" dirty="0"/>
                    </a:p>
                  </a:txBody>
                  <a:tcPr>
                    <a:solidFill>
                      <a:schemeClr val="bg1"/>
                    </a:solidFill>
                  </a:tcPr>
                </a:tc>
                <a:extLst>
                  <a:ext uri="{0D108BD9-81ED-4DB2-BD59-A6C34878D82A}">
                    <a16:rowId xmlns:a16="http://schemas.microsoft.com/office/drawing/2014/main" val="485193004"/>
                  </a:ext>
                </a:extLst>
              </a:tr>
            </a:tbl>
          </a:graphicData>
        </a:graphic>
      </p:graphicFrame>
      <p:pic>
        <p:nvPicPr>
          <p:cNvPr id="6" name="Picture 5">
            <a:extLst>
              <a:ext uri="{FF2B5EF4-FFF2-40B4-BE49-F238E27FC236}">
                <a16:creationId xmlns:a16="http://schemas.microsoft.com/office/drawing/2014/main" id="{770BAA2E-1F66-42DE-A48D-3D1DB95FA4A4}"/>
              </a:ext>
            </a:extLst>
          </p:cNvPr>
          <p:cNvPicPr>
            <a:picLocks noChangeAspect="1"/>
          </p:cNvPicPr>
          <p:nvPr/>
        </p:nvPicPr>
        <p:blipFill>
          <a:blip r:embed="rId2"/>
          <a:stretch>
            <a:fillRect/>
          </a:stretch>
        </p:blipFill>
        <p:spPr>
          <a:xfrm>
            <a:off x="5508104" y="4149080"/>
            <a:ext cx="2791966" cy="2228081"/>
          </a:xfrm>
          <a:prstGeom prst="rect">
            <a:avLst/>
          </a:prstGeom>
        </p:spPr>
      </p:pic>
    </p:spTree>
    <p:extLst>
      <p:ext uri="{BB962C8B-B14F-4D97-AF65-F5344CB8AC3E}">
        <p14:creationId xmlns:p14="http://schemas.microsoft.com/office/powerpoint/2010/main" val="3207419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1143000"/>
          </a:xfrm>
          <a:solidFill>
            <a:schemeClr val="bg1"/>
          </a:solidFill>
        </p:spPr>
        <p:style>
          <a:lnRef idx="0">
            <a:schemeClr val="accent5"/>
          </a:lnRef>
          <a:fillRef idx="3">
            <a:schemeClr val="accent5"/>
          </a:fillRef>
          <a:effectRef idx="3">
            <a:schemeClr val="accent5"/>
          </a:effectRef>
          <a:fontRef idx="minor">
            <a:schemeClr val="lt1"/>
          </a:fontRef>
        </p:style>
        <p:txBody>
          <a:bodyPr>
            <a:noAutofit/>
          </a:bodyPr>
          <a:lstStyle/>
          <a:p>
            <a:r>
              <a:rPr lang="en-US" sz="3600" b="1" dirty="0">
                <a:solidFill>
                  <a:schemeClr val="tx1"/>
                </a:solidFill>
              </a:rPr>
              <a:t>The information’s source:</a:t>
            </a:r>
            <a:br>
              <a:rPr lang="en-US" sz="3600" b="1" dirty="0">
                <a:solidFill>
                  <a:schemeClr val="tx1"/>
                </a:solidFill>
              </a:rPr>
            </a:br>
            <a:r>
              <a:rPr lang="en-US" sz="3600" b="1" dirty="0">
                <a:solidFill>
                  <a:schemeClr val="tx1"/>
                </a:solidFill>
              </a:rPr>
              <a:t>3 broad categories of criteria</a:t>
            </a:r>
          </a:p>
        </p:txBody>
      </p:sp>
      <p:sp>
        <p:nvSpPr>
          <p:cNvPr id="3" name="Content Placeholder 2"/>
          <p:cNvSpPr>
            <a:spLocks noGrp="1"/>
          </p:cNvSpPr>
          <p:nvPr>
            <p:ph idx="1"/>
          </p:nvPr>
        </p:nvSpPr>
        <p:spPr>
          <a:xfrm>
            <a:off x="1259632" y="1600200"/>
            <a:ext cx="6120680" cy="4781128"/>
          </a:xfrm>
          <a:solidFill>
            <a:schemeClr val="bg1"/>
          </a:solidFill>
        </p:spPr>
        <p:style>
          <a:lnRef idx="1">
            <a:schemeClr val="accent5"/>
          </a:lnRef>
          <a:fillRef idx="2">
            <a:schemeClr val="accent5"/>
          </a:fillRef>
          <a:effectRef idx="1">
            <a:schemeClr val="accent5"/>
          </a:effectRef>
          <a:fontRef idx="minor">
            <a:schemeClr val="dk1"/>
          </a:fontRef>
        </p:style>
        <p:txBody>
          <a:bodyPr>
            <a:normAutofit/>
          </a:bodyPr>
          <a:lstStyle/>
          <a:p>
            <a:pPr marL="514350" indent="-514350">
              <a:buFont typeface="+mj-lt"/>
              <a:buAutoNum type="arabicPeriod"/>
            </a:pPr>
            <a:r>
              <a:rPr lang="en-US" sz="2800" dirty="0"/>
              <a:t>The external </a:t>
            </a:r>
            <a:r>
              <a:rPr lang="en-US" sz="2800" b="1" dirty="0"/>
              <a:t>credibility</a:t>
            </a:r>
            <a:r>
              <a:rPr lang="en-US" sz="2800" dirty="0"/>
              <a:t> of the source’s </a:t>
            </a:r>
            <a:r>
              <a:rPr lang="en-US" sz="2800" b="1" dirty="0"/>
              <a:t>expertise.</a:t>
            </a:r>
            <a:endParaRPr lang="en-US" sz="2800" dirty="0"/>
          </a:p>
          <a:p>
            <a:pPr marL="0" indent="0">
              <a:buNone/>
            </a:pPr>
            <a:endParaRPr lang="en-US" sz="2800" dirty="0"/>
          </a:p>
          <a:p>
            <a:pPr marL="514350" indent="-514350">
              <a:buFont typeface="+mj-lt"/>
              <a:buAutoNum type="arabicPeriod"/>
            </a:pPr>
            <a:r>
              <a:rPr lang="en-US" sz="2800" dirty="0"/>
              <a:t>The </a:t>
            </a:r>
            <a:r>
              <a:rPr lang="en-US" sz="2800" b="1" dirty="0"/>
              <a:t>habits of communication </a:t>
            </a:r>
            <a:r>
              <a:rPr lang="en-US" sz="2800" dirty="0"/>
              <a:t>the source exhibits.</a:t>
            </a:r>
          </a:p>
          <a:p>
            <a:pPr>
              <a:buNone/>
            </a:pPr>
            <a:endParaRPr lang="en-US" sz="2800" dirty="0"/>
          </a:p>
          <a:p>
            <a:pPr marL="514350" indent="-514350">
              <a:buFont typeface="+mj-lt"/>
              <a:buAutoNum type="arabicPeriod"/>
            </a:pPr>
            <a:r>
              <a:rPr lang="en-US" sz="2800" dirty="0"/>
              <a:t>The </a:t>
            </a:r>
            <a:r>
              <a:rPr lang="en-US" sz="2800" b="1" dirty="0"/>
              <a:t>ethical inferences </a:t>
            </a:r>
            <a:r>
              <a:rPr lang="en-US" sz="2800" dirty="0"/>
              <a:t>you can make from the content of the source’s messages.</a:t>
            </a:r>
          </a:p>
        </p:txBody>
      </p:sp>
    </p:spTree>
    <p:extLst>
      <p:ext uri="{BB962C8B-B14F-4D97-AF65-F5344CB8AC3E}">
        <p14:creationId xmlns:p14="http://schemas.microsoft.com/office/powerpoint/2010/main" val="804841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style>
          <a:lnRef idx="0">
            <a:schemeClr val="accent5"/>
          </a:lnRef>
          <a:fillRef idx="3">
            <a:schemeClr val="accent5"/>
          </a:fillRef>
          <a:effectRef idx="3">
            <a:schemeClr val="accent5"/>
          </a:effectRef>
          <a:fontRef idx="minor">
            <a:schemeClr val="lt1"/>
          </a:fontRef>
        </p:style>
        <p:txBody>
          <a:bodyPr/>
          <a:lstStyle/>
          <a:p>
            <a:r>
              <a:rPr lang="en-US" b="1" dirty="0">
                <a:solidFill>
                  <a:schemeClr val="tx1"/>
                </a:solidFill>
              </a:rPr>
              <a:t>3 broad categories examined:</a:t>
            </a:r>
          </a:p>
        </p:txBody>
      </p:sp>
      <p:graphicFrame>
        <p:nvGraphicFramePr>
          <p:cNvPr id="4" name="Table 4">
            <a:extLst>
              <a:ext uri="{FF2B5EF4-FFF2-40B4-BE49-F238E27FC236}">
                <a16:creationId xmlns:a16="http://schemas.microsoft.com/office/drawing/2014/main" id="{590E4282-1275-47CA-8D62-8D1E3AE79F24}"/>
              </a:ext>
            </a:extLst>
          </p:cNvPr>
          <p:cNvGraphicFramePr>
            <a:graphicFrameLocks noGrp="1"/>
          </p:cNvGraphicFramePr>
          <p:nvPr>
            <p:ph idx="1"/>
            <p:extLst>
              <p:ext uri="{D42A27DB-BD31-4B8C-83A1-F6EECF244321}">
                <p14:modId xmlns:p14="http://schemas.microsoft.com/office/powerpoint/2010/main" val="453856006"/>
              </p:ext>
            </p:extLst>
          </p:nvPr>
        </p:nvGraphicFramePr>
        <p:xfrm>
          <a:off x="179512" y="1500808"/>
          <a:ext cx="8579296" cy="5357192"/>
        </p:xfrm>
        <a:graphic>
          <a:graphicData uri="http://schemas.openxmlformats.org/drawingml/2006/table">
            <a:tbl>
              <a:tblPr firstRow="1" bandRow="1">
                <a:tableStyleId>{2D5ABB26-0587-4C30-8999-92F81FD0307C}</a:tableStyleId>
              </a:tblPr>
              <a:tblGrid>
                <a:gridCol w="4289648">
                  <a:extLst>
                    <a:ext uri="{9D8B030D-6E8A-4147-A177-3AD203B41FA5}">
                      <a16:colId xmlns:a16="http://schemas.microsoft.com/office/drawing/2014/main" val="598980872"/>
                    </a:ext>
                  </a:extLst>
                </a:gridCol>
                <a:gridCol w="4289648">
                  <a:extLst>
                    <a:ext uri="{9D8B030D-6E8A-4147-A177-3AD203B41FA5}">
                      <a16:colId xmlns:a16="http://schemas.microsoft.com/office/drawing/2014/main" val="757473398"/>
                    </a:ext>
                  </a:extLst>
                </a:gridCol>
              </a:tblGrid>
              <a:tr h="5357192">
                <a:tc>
                  <a:txBody>
                    <a:bodyPr/>
                    <a:lstStyle/>
                    <a:p>
                      <a:pPr marL="514350" indent="-514350">
                        <a:buAutoNum type="arabicPeriod"/>
                      </a:pPr>
                      <a:r>
                        <a:rPr lang="en-US" sz="2800" b="1" dirty="0"/>
                        <a:t>Expertise</a:t>
                      </a:r>
                      <a:r>
                        <a:rPr lang="en-US" sz="2800" dirty="0"/>
                        <a:t> – </a:t>
                      </a:r>
                    </a:p>
                    <a:p>
                      <a:pPr marL="514350" indent="-514350">
                        <a:buNone/>
                      </a:pPr>
                      <a:r>
                        <a:rPr lang="en-US" dirty="0"/>
                        <a:t>	</a:t>
                      </a:r>
                      <a:r>
                        <a:rPr lang="en-US" sz="2000" dirty="0"/>
                        <a:t>If the credibility of you source relies, in part, on his/her expertise, examine the source’s observable expertise &amp; ask:</a:t>
                      </a:r>
                    </a:p>
                    <a:p>
                      <a:pPr marL="514350" indent="-514350">
                        <a:buNone/>
                      </a:pPr>
                      <a:endParaRPr lang="en-US" dirty="0"/>
                    </a:p>
                    <a:p>
                      <a:pPr marL="514350" indent="-514350">
                        <a:buNone/>
                      </a:pPr>
                      <a:endParaRPr lang="en-GB" dirty="0"/>
                    </a:p>
                  </a:txBody>
                  <a:tcPr/>
                </a:tc>
                <a:tc>
                  <a:txBody>
                    <a:bodyPr/>
                    <a:lstStyle/>
                    <a:p>
                      <a:pPr marL="514350" indent="-514350">
                        <a:buNone/>
                      </a:pPr>
                      <a:r>
                        <a:rPr lang="en-US" sz="2000" b="1" dirty="0">
                          <a:solidFill>
                            <a:schemeClr val="accent2"/>
                          </a:solidFill>
                        </a:rPr>
                        <a:t>Qualifications</a:t>
                      </a:r>
                      <a:r>
                        <a:rPr lang="en-US" sz="2000" dirty="0"/>
                        <a:t>: </a:t>
                      </a:r>
                    </a:p>
                    <a:p>
                      <a:pPr marL="514350" indent="-514350">
                        <a:buNone/>
                      </a:pPr>
                      <a:r>
                        <a:rPr lang="en-US" sz="2000" dirty="0"/>
                        <a:t>         Are the person’s academic degrees/training/experience sufficient? </a:t>
                      </a:r>
                      <a:r>
                        <a:rPr lang="en-US" sz="2000" dirty="0" err="1"/>
                        <a:t>I.e</a:t>
                      </a:r>
                      <a:r>
                        <a:rPr lang="en-US" sz="2000" dirty="0"/>
                        <a:t> is the  person really an expert on the issue?</a:t>
                      </a:r>
                    </a:p>
                    <a:p>
                      <a:pPr marL="514350" indent="-514350">
                        <a:buNone/>
                      </a:pPr>
                      <a:endParaRPr lang="en-US" sz="2000" b="0" dirty="0">
                        <a:solidFill>
                          <a:schemeClr val="tx1"/>
                        </a:solidFill>
                      </a:endParaRPr>
                    </a:p>
                    <a:p>
                      <a:pPr marL="514350" indent="-514350">
                        <a:buNone/>
                      </a:pPr>
                      <a:r>
                        <a:rPr lang="en-US" sz="2000" b="1" dirty="0">
                          <a:solidFill>
                            <a:schemeClr val="accent2"/>
                          </a:solidFill>
                        </a:rPr>
                        <a:t>Reputation</a:t>
                      </a:r>
                      <a:r>
                        <a:rPr lang="en-US" sz="2000" dirty="0"/>
                        <a:t>: </a:t>
                      </a:r>
                    </a:p>
                    <a:p>
                      <a:pPr marL="514350" indent="-514350">
                        <a:buNone/>
                      </a:pPr>
                      <a:r>
                        <a:rPr lang="en-US" sz="2000" dirty="0"/>
                        <a:t>          Is the person acknowledged and respected by other experts in the field? Do other experts refer to or quote this person as a source?</a:t>
                      </a:r>
                    </a:p>
                    <a:p>
                      <a:endParaRPr lang="en-GB" dirty="0"/>
                    </a:p>
                  </a:txBody>
                  <a:tcPr>
                    <a:solidFill>
                      <a:schemeClr val="accent5">
                        <a:lumMod val="40000"/>
                        <a:lumOff val="60000"/>
                      </a:schemeClr>
                    </a:solidFill>
                  </a:tcPr>
                </a:tc>
                <a:extLst>
                  <a:ext uri="{0D108BD9-81ED-4DB2-BD59-A6C34878D82A}">
                    <a16:rowId xmlns:a16="http://schemas.microsoft.com/office/drawing/2014/main" val="2765212704"/>
                  </a:ext>
                </a:extLst>
              </a:tr>
            </a:tbl>
          </a:graphicData>
        </a:graphic>
      </p:graphicFrame>
      <p:pic>
        <p:nvPicPr>
          <p:cNvPr id="6" name="Picture 5">
            <a:extLst>
              <a:ext uri="{FF2B5EF4-FFF2-40B4-BE49-F238E27FC236}">
                <a16:creationId xmlns:a16="http://schemas.microsoft.com/office/drawing/2014/main" id="{1A66C833-30FF-4806-B708-19E605497C6C}"/>
              </a:ext>
            </a:extLst>
          </p:cNvPr>
          <p:cNvPicPr>
            <a:picLocks noChangeAspect="1"/>
          </p:cNvPicPr>
          <p:nvPr/>
        </p:nvPicPr>
        <p:blipFill>
          <a:blip r:embed="rId2"/>
          <a:stretch>
            <a:fillRect/>
          </a:stretch>
        </p:blipFill>
        <p:spPr>
          <a:xfrm>
            <a:off x="4469160" y="5377012"/>
            <a:ext cx="2376264" cy="1276350"/>
          </a:xfrm>
          <a:prstGeom prst="rect">
            <a:avLst/>
          </a:prstGeom>
        </p:spPr>
      </p:pic>
      <p:pic>
        <p:nvPicPr>
          <p:cNvPr id="8" name="Picture 7">
            <a:extLst>
              <a:ext uri="{FF2B5EF4-FFF2-40B4-BE49-F238E27FC236}">
                <a16:creationId xmlns:a16="http://schemas.microsoft.com/office/drawing/2014/main" id="{F57649EC-51D0-484C-A49D-07C5A9EA85FA}"/>
              </a:ext>
            </a:extLst>
          </p:cNvPr>
          <p:cNvPicPr>
            <a:picLocks noChangeAspect="1"/>
          </p:cNvPicPr>
          <p:nvPr/>
        </p:nvPicPr>
        <p:blipFill>
          <a:blip r:embed="rId3"/>
          <a:stretch>
            <a:fillRect/>
          </a:stretch>
        </p:blipFill>
        <p:spPr>
          <a:xfrm>
            <a:off x="6444208" y="5377012"/>
            <a:ext cx="2314600" cy="1276350"/>
          </a:xfrm>
          <a:prstGeom prst="rect">
            <a:avLst/>
          </a:prstGeom>
        </p:spPr>
      </p:pic>
    </p:spTree>
    <p:extLst>
      <p:ext uri="{BB962C8B-B14F-4D97-AF65-F5344CB8AC3E}">
        <p14:creationId xmlns:p14="http://schemas.microsoft.com/office/powerpoint/2010/main" val="3601975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style>
          <a:lnRef idx="0">
            <a:schemeClr val="accent5"/>
          </a:lnRef>
          <a:fillRef idx="3">
            <a:schemeClr val="accent5"/>
          </a:fillRef>
          <a:effectRef idx="3">
            <a:schemeClr val="accent5"/>
          </a:effectRef>
          <a:fontRef idx="minor">
            <a:schemeClr val="lt1"/>
          </a:fontRef>
        </p:style>
        <p:txBody>
          <a:bodyPr/>
          <a:lstStyle/>
          <a:p>
            <a:r>
              <a:rPr lang="en-US" b="1" dirty="0">
                <a:solidFill>
                  <a:schemeClr val="tx1"/>
                </a:solidFill>
              </a:rPr>
              <a:t>3 broad categories examined:</a:t>
            </a:r>
          </a:p>
        </p:txBody>
      </p:sp>
      <p:sp>
        <p:nvSpPr>
          <p:cNvPr id="3" name="Content Placeholder 2"/>
          <p:cNvSpPr>
            <a:spLocks noGrp="1"/>
          </p:cNvSpPr>
          <p:nvPr>
            <p:ph idx="1"/>
          </p:nvPr>
        </p:nvSpPr>
        <p:spPr>
          <a:solidFill>
            <a:schemeClr val="bg1"/>
          </a:solidFill>
        </p:spPr>
        <p:style>
          <a:lnRef idx="1">
            <a:schemeClr val="accent5"/>
          </a:lnRef>
          <a:fillRef idx="2">
            <a:schemeClr val="accent5"/>
          </a:fillRef>
          <a:effectRef idx="1">
            <a:schemeClr val="accent5"/>
          </a:effectRef>
          <a:fontRef idx="minor">
            <a:schemeClr val="dk1"/>
          </a:fontRef>
        </p:style>
        <p:txBody>
          <a:bodyPr/>
          <a:lstStyle/>
          <a:p>
            <a:pPr>
              <a:buNone/>
            </a:pPr>
            <a:r>
              <a:rPr lang="en-US" dirty="0"/>
              <a:t>	</a:t>
            </a:r>
          </a:p>
        </p:txBody>
      </p:sp>
      <p:graphicFrame>
        <p:nvGraphicFramePr>
          <p:cNvPr id="6" name="Table 6">
            <a:extLst>
              <a:ext uri="{FF2B5EF4-FFF2-40B4-BE49-F238E27FC236}">
                <a16:creationId xmlns:a16="http://schemas.microsoft.com/office/drawing/2014/main" id="{BE46AB6C-5E8E-4BCA-8BE5-6D865BB4E151}"/>
              </a:ext>
            </a:extLst>
          </p:cNvPr>
          <p:cNvGraphicFramePr>
            <a:graphicFrameLocks noGrp="1"/>
          </p:cNvGraphicFramePr>
          <p:nvPr>
            <p:extLst>
              <p:ext uri="{D42A27DB-BD31-4B8C-83A1-F6EECF244321}">
                <p14:modId xmlns:p14="http://schemas.microsoft.com/office/powerpoint/2010/main" val="484046808"/>
              </p:ext>
            </p:extLst>
          </p:nvPr>
        </p:nvGraphicFramePr>
        <p:xfrm>
          <a:off x="457200" y="1600199"/>
          <a:ext cx="8229600" cy="4525963"/>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3472502891"/>
                    </a:ext>
                  </a:extLst>
                </a:gridCol>
                <a:gridCol w="4114800">
                  <a:extLst>
                    <a:ext uri="{9D8B030D-6E8A-4147-A177-3AD203B41FA5}">
                      <a16:colId xmlns:a16="http://schemas.microsoft.com/office/drawing/2014/main" val="3468566126"/>
                    </a:ext>
                  </a:extLst>
                </a:gridCol>
              </a:tblGrid>
              <a:tr h="4525963">
                <a:tc>
                  <a:txBody>
                    <a:bodyPr/>
                    <a:lstStyle/>
                    <a:p>
                      <a:pPr>
                        <a:buNone/>
                      </a:pPr>
                      <a:r>
                        <a:rPr lang="en-US" dirty="0"/>
                        <a:t>2</a:t>
                      </a:r>
                      <a:r>
                        <a:rPr lang="en-US" sz="2800" dirty="0"/>
                        <a:t>. </a:t>
                      </a:r>
                      <a:r>
                        <a:rPr lang="en-US" sz="2400" b="1" dirty="0"/>
                        <a:t>Habits of communication </a:t>
                      </a:r>
                      <a:r>
                        <a:rPr lang="en-US" sz="2400" dirty="0"/>
                        <a:t>–</a:t>
                      </a:r>
                    </a:p>
                    <a:p>
                      <a:pPr marL="285750" indent="-285750">
                        <a:buFont typeface="Arial" panose="020B0604020202020204" pitchFamily="34" charset="0"/>
                        <a:buChar char="•"/>
                      </a:pPr>
                      <a:r>
                        <a:rPr lang="en-US" dirty="0"/>
                        <a:t>If the source passes the previous tests, you then examine other aspects of communication to  assess the source’s credibility. </a:t>
                      </a:r>
                    </a:p>
                    <a:p>
                      <a:pPr marL="0" indent="0">
                        <a:buFont typeface="Arial" panose="020B0604020202020204" pitchFamily="34" charset="0"/>
                        <a:buNone/>
                      </a:pPr>
                      <a:endParaRPr lang="en-US" dirty="0"/>
                    </a:p>
                    <a:p>
                      <a:pPr marL="285750" indent="-285750">
                        <a:buFont typeface="Arial" panose="020B0604020202020204" pitchFamily="34" charset="0"/>
                        <a:buChar char="•"/>
                      </a:pPr>
                      <a:r>
                        <a:rPr lang="en-US" b="1" dirty="0"/>
                        <a:t>Karl Wallace </a:t>
                      </a:r>
                      <a:r>
                        <a:rPr lang="en-US" dirty="0"/>
                        <a:t>(1955) provides the following 4 criteria for examining a communicator’s ethics:</a:t>
                      </a:r>
                    </a:p>
                    <a:p>
                      <a:endParaRPr lang="en-GB" dirty="0"/>
                    </a:p>
                  </a:txBody>
                  <a:tcPr/>
                </a:tc>
                <a:tc>
                  <a:txBody>
                    <a:bodyPr/>
                    <a:lstStyle/>
                    <a:p>
                      <a:pPr marL="342900" indent="-342900">
                        <a:buAutoNum type="arabicPeriod"/>
                      </a:pPr>
                      <a:r>
                        <a:rPr lang="en-US" sz="2400" dirty="0"/>
                        <a:t>Habit of search</a:t>
                      </a:r>
                    </a:p>
                    <a:p>
                      <a:pPr marL="342900" indent="-342900">
                        <a:buAutoNum type="arabicPeriod"/>
                      </a:pPr>
                      <a:endParaRPr lang="en-US" sz="2400" dirty="0"/>
                    </a:p>
                    <a:p>
                      <a:pPr marL="342900" indent="-342900">
                        <a:buAutoNum type="arabicPeriod"/>
                      </a:pPr>
                      <a:r>
                        <a:rPr lang="en-US" sz="2400" dirty="0"/>
                        <a:t>Habit of justice</a:t>
                      </a:r>
                    </a:p>
                    <a:p>
                      <a:pPr marL="342900" indent="-342900">
                        <a:buAutoNum type="arabicPeriod"/>
                      </a:pPr>
                      <a:endParaRPr lang="en-US" sz="2400" dirty="0"/>
                    </a:p>
                    <a:p>
                      <a:pPr marL="342900" indent="-342900">
                        <a:buAutoNum type="arabicPeriod"/>
                      </a:pPr>
                      <a:r>
                        <a:rPr lang="en-US" sz="2400" dirty="0"/>
                        <a:t>Habit of preferring public to private motivations</a:t>
                      </a:r>
                    </a:p>
                    <a:p>
                      <a:pPr marL="342900" indent="-342900">
                        <a:buAutoNum type="arabicPeriod"/>
                      </a:pPr>
                      <a:endParaRPr lang="en-US" sz="2400" dirty="0"/>
                    </a:p>
                    <a:p>
                      <a:pPr marL="342900" indent="-342900">
                        <a:buAutoNum type="arabicPeriod"/>
                      </a:pPr>
                      <a:r>
                        <a:rPr lang="en-GB" sz="2400" dirty="0"/>
                        <a:t>Habit of respect for dissident</a:t>
                      </a:r>
                    </a:p>
                  </a:txBody>
                  <a:tcPr>
                    <a:solidFill>
                      <a:schemeClr val="accent5">
                        <a:lumMod val="40000"/>
                        <a:lumOff val="60000"/>
                      </a:schemeClr>
                    </a:solidFill>
                  </a:tcPr>
                </a:tc>
                <a:extLst>
                  <a:ext uri="{0D108BD9-81ED-4DB2-BD59-A6C34878D82A}">
                    <a16:rowId xmlns:a16="http://schemas.microsoft.com/office/drawing/2014/main" val="2867933741"/>
                  </a:ext>
                </a:extLst>
              </a:tr>
            </a:tbl>
          </a:graphicData>
        </a:graphic>
      </p:graphicFrame>
      <p:pic>
        <p:nvPicPr>
          <p:cNvPr id="8" name="Picture 7">
            <a:extLst>
              <a:ext uri="{FF2B5EF4-FFF2-40B4-BE49-F238E27FC236}">
                <a16:creationId xmlns:a16="http://schemas.microsoft.com/office/drawing/2014/main" id="{6AFB131F-5BB3-4E35-BFEC-062EBFD9E853}"/>
              </a:ext>
            </a:extLst>
          </p:cNvPr>
          <p:cNvPicPr>
            <a:picLocks noChangeAspect="1"/>
          </p:cNvPicPr>
          <p:nvPr/>
        </p:nvPicPr>
        <p:blipFill>
          <a:blip r:embed="rId2"/>
          <a:stretch>
            <a:fillRect/>
          </a:stretch>
        </p:blipFill>
        <p:spPr>
          <a:xfrm>
            <a:off x="611560" y="4614310"/>
            <a:ext cx="3312368" cy="1419586"/>
          </a:xfrm>
          <a:prstGeom prst="rect">
            <a:avLst/>
          </a:prstGeom>
        </p:spPr>
      </p:pic>
    </p:spTree>
    <p:extLst>
      <p:ext uri="{BB962C8B-B14F-4D97-AF65-F5344CB8AC3E}">
        <p14:creationId xmlns:p14="http://schemas.microsoft.com/office/powerpoint/2010/main" val="2339513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style>
          <a:lnRef idx="0">
            <a:schemeClr val="accent5"/>
          </a:lnRef>
          <a:fillRef idx="3">
            <a:schemeClr val="accent5"/>
          </a:fillRef>
          <a:effectRef idx="3">
            <a:schemeClr val="accent5"/>
          </a:effectRef>
          <a:fontRef idx="minor">
            <a:schemeClr val="lt1"/>
          </a:fontRef>
        </p:style>
        <p:txBody>
          <a:bodyPr/>
          <a:lstStyle/>
          <a:p>
            <a:r>
              <a:rPr lang="en-US" b="1" dirty="0">
                <a:solidFill>
                  <a:schemeClr val="tx1"/>
                </a:solidFill>
              </a:rPr>
              <a:t>Karl Wallace criteria</a:t>
            </a:r>
          </a:p>
        </p:txBody>
      </p:sp>
      <p:graphicFrame>
        <p:nvGraphicFramePr>
          <p:cNvPr id="4" name="Table 4">
            <a:extLst>
              <a:ext uri="{FF2B5EF4-FFF2-40B4-BE49-F238E27FC236}">
                <a16:creationId xmlns:a16="http://schemas.microsoft.com/office/drawing/2014/main" id="{51294852-25A2-4249-93F5-6D3BA232DDF7}"/>
              </a:ext>
            </a:extLst>
          </p:cNvPr>
          <p:cNvGraphicFramePr>
            <a:graphicFrameLocks noGrp="1"/>
          </p:cNvGraphicFramePr>
          <p:nvPr>
            <p:ph idx="1"/>
            <p:extLst>
              <p:ext uri="{D42A27DB-BD31-4B8C-83A1-F6EECF244321}">
                <p14:modId xmlns:p14="http://schemas.microsoft.com/office/powerpoint/2010/main" val="1196475267"/>
              </p:ext>
            </p:extLst>
          </p:nvPr>
        </p:nvGraphicFramePr>
        <p:xfrm>
          <a:off x="457200" y="1600200"/>
          <a:ext cx="8229600" cy="4983162"/>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539284795"/>
                    </a:ext>
                  </a:extLst>
                </a:gridCol>
                <a:gridCol w="4114800">
                  <a:extLst>
                    <a:ext uri="{9D8B030D-6E8A-4147-A177-3AD203B41FA5}">
                      <a16:colId xmlns:a16="http://schemas.microsoft.com/office/drawing/2014/main" val="2426285193"/>
                    </a:ext>
                  </a:extLst>
                </a:gridCol>
              </a:tblGrid>
              <a:tr h="4983162">
                <a:tc>
                  <a:txBody>
                    <a:bodyPr/>
                    <a:lstStyle/>
                    <a:p>
                      <a:endParaRPr lang="en-GB" dirty="0"/>
                    </a:p>
                  </a:txBody>
                  <a:tcPr>
                    <a:solidFill>
                      <a:schemeClr val="bg1"/>
                    </a:solidFill>
                  </a:tcPr>
                </a:tc>
                <a:tc>
                  <a:txBody>
                    <a:bodyPr/>
                    <a:lstStyle/>
                    <a:p>
                      <a:endParaRPr lang="en-GB" dirty="0"/>
                    </a:p>
                  </a:txBody>
                  <a:tcPr>
                    <a:solidFill>
                      <a:schemeClr val="bg1"/>
                    </a:solidFill>
                  </a:tcPr>
                </a:tc>
                <a:extLst>
                  <a:ext uri="{0D108BD9-81ED-4DB2-BD59-A6C34878D82A}">
                    <a16:rowId xmlns:a16="http://schemas.microsoft.com/office/drawing/2014/main" val="3027825657"/>
                  </a:ext>
                </a:extLst>
              </a:tr>
            </a:tbl>
          </a:graphicData>
        </a:graphic>
      </p:graphicFrame>
      <p:graphicFrame>
        <p:nvGraphicFramePr>
          <p:cNvPr id="5" name="Table 5">
            <a:extLst>
              <a:ext uri="{FF2B5EF4-FFF2-40B4-BE49-F238E27FC236}">
                <a16:creationId xmlns:a16="http://schemas.microsoft.com/office/drawing/2014/main" id="{8B243FB8-46D4-46AF-99DB-279490BE36C9}"/>
              </a:ext>
            </a:extLst>
          </p:cNvPr>
          <p:cNvGraphicFramePr>
            <a:graphicFrameLocks noGrp="1"/>
          </p:cNvGraphicFramePr>
          <p:nvPr>
            <p:extLst>
              <p:ext uri="{D42A27DB-BD31-4B8C-83A1-F6EECF244321}">
                <p14:modId xmlns:p14="http://schemas.microsoft.com/office/powerpoint/2010/main" val="1828696386"/>
              </p:ext>
            </p:extLst>
          </p:nvPr>
        </p:nvGraphicFramePr>
        <p:xfrm>
          <a:off x="457200" y="1455601"/>
          <a:ext cx="8075240" cy="5272360"/>
        </p:xfrm>
        <a:graphic>
          <a:graphicData uri="http://schemas.openxmlformats.org/drawingml/2006/table">
            <a:tbl>
              <a:tblPr firstRow="1" bandRow="1">
                <a:tableStyleId>{5C22544A-7EE6-4342-B048-85BDC9FD1C3A}</a:tableStyleId>
              </a:tblPr>
              <a:tblGrid>
                <a:gridCol w="4037620">
                  <a:extLst>
                    <a:ext uri="{9D8B030D-6E8A-4147-A177-3AD203B41FA5}">
                      <a16:colId xmlns:a16="http://schemas.microsoft.com/office/drawing/2014/main" val="1702456488"/>
                    </a:ext>
                  </a:extLst>
                </a:gridCol>
                <a:gridCol w="4037620">
                  <a:extLst>
                    <a:ext uri="{9D8B030D-6E8A-4147-A177-3AD203B41FA5}">
                      <a16:colId xmlns:a16="http://schemas.microsoft.com/office/drawing/2014/main" val="165021399"/>
                    </a:ext>
                  </a:extLst>
                </a:gridCol>
              </a:tblGrid>
              <a:tr h="5272360">
                <a:tc>
                  <a:txBody>
                    <a:bodyPr/>
                    <a:lstStyle/>
                    <a:p>
                      <a:pPr marL="342900" indent="-342900">
                        <a:buAutoNum type="arabicPeriod"/>
                      </a:pPr>
                      <a:r>
                        <a:rPr lang="en-US" sz="2000" b="1" dirty="0">
                          <a:solidFill>
                            <a:srgbClr val="FF0000"/>
                          </a:solidFill>
                        </a:rPr>
                        <a:t>Habit of search</a:t>
                      </a:r>
                      <a:r>
                        <a:rPr lang="en-US" sz="2000" b="1" dirty="0">
                          <a:solidFill>
                            <a:sysClr val="windowText" lastClr="000000"/>
                          </a:solidFill>
                        </a:rPr>
                        <a:t>:</a:t>
                      </a:r>
                      <a:endParaRPr lang="en-US" sz="2000" dirty="0">
                        <a:solidFill>
                          <a:sysClr val="windowText" lastClr="000000"/>
                        </a:solidFill>
                      </a:endParaRPr>
                    </a:p>
                    <a:p>
                      <a:pPr marL="0" indent="0">
                        <a:buNone/>
                      </a:pPr>
                      <a:endParaRPr lang="en-US" sz="2000" dirty="0">
                        <a:solidFill>
                          <a:sysClr val="windowText" lastClr="000000"/>
                        </a:solidFill>
                      </a:endParaRPr>
                    </a:p>
                    <a:p>
                      <a:pPr marL="0" indent="0">
                        <a:buFont typeface="Arial" panose="020B0604020202020204" pitchFamily="34" charset="0"/>
                        <a:buNone/>
                      </a:pPr>
                      <a:r>
                        <a:rPr lang="en-US" sz="2000" b="1" dirty="0">
                          <a:solidFill>
                            <a:sysClr val="windowText" lastClr="000000"/>
                          </a:solidFill>
                        </a:rPr>
                        <a:t>The knowledgeable, thorough presentation of sound information. </a:t>
                      </a:r>
                    </a:p>
                    <a:p>
                      <a:pPr>
                        <a:buNone/>
                      </a:pPr>
                      <a:endParaRPr lang="en-US" sz="1800" b="0" dirty="0">
                        <a:solidFill>
                          <a:sysClr val="windowText" lastClr="000000"/>
                        </a:solidFill>
                      </a:endParaRPr>
                    </a:p>
                    <a:p>
                      <a:pPr marL="285750" indent="-285750">
                        <a:buFont typeface="Arial" panose="020B0604020202020204" pitchFamily="34" charset="0"/>
                        <a:buChar char="•"/>
                      </a:pPr>
                      <a:r>
                        <a:rPr lang="en-US" sz="1800" b="0" dirty="0">
                          <a:solidFill>
                            <a:sysClr val="windowText" lastClr="000000"/>
                          </a:solidFill>
                        </a:rPr>
                        <a:t>Does your source document information? </a:t>
                      </a:r>
                    </a:p>
                    <a:p>
                      <a:pPr marL="285750" indent="-285750">
                        <a:buFont typeface="Arial" panose="020B0604020202020204" pitchFamily="34" charset="0"/>
                        <a:buChar char="•"/>
                      </a:pPr>
                      <a:endParaRPr lang="en-US" sz="1800" b="0" dirty="0">
                        <a:solidFill>
                          <a:sysClr val="windowText" lastClr="000000"/>
                        </a:solidFill>
                      </a:endParaRPr>
                    </a:p>
                    <a:p>
                      <a:pPr marL="285750" indent="-285750">
                        <a:buFont typeface="Arial" panose="020B0604020202020204" pitchFamily="34" charset="0"/>
                        <a:buChar char="•"/>
                      </a:pPr>
                      <a:r>
                        <a:rPr lang="en-US" sz="1800" b="0" dirty="0">
                          <a:solidFill>
                            <a:sysClr val="windowText" lastClr="000000"/>
                          </a:solidFill>
                        </a:rPr>
                        <a:t>Prove any assertions? </a:t>
                      </a:r>
                    </a:p>
                    <a:p>
                      <a:pPr marL="285750" indent="-285750">
                        <a:buFont typeface="Arial" panose="020B0604020202020204" pitchFamily="34" charset="0"/>
                        <a:buChar char="•"/>
                      </a:pPr>
                      <a:endParaRPr lang="en-US" sz="1800" b="0" dirty="0">
                        <a:solidFill>
                          <a:sysClr val="windowText" lastClr="000000"/>
                        </a:solidFill>
                      </a:endParaRPr>
                    </a:p>
                    <a:p>
                      <a:pPr marL="285750" indent="-285750">
                        <a:buFont typeface="Arial" panose="020B0604020202020204" pitchFamily="34" charset="0"/>
                        <a:buChar char="•"/>
                      </a:pPr>
                      <a:r>
                        <a:rPr lang="en-US" sz="1800" b="0" dirty="0">
                          <a:solidFill>
                            <a:sysClr val="windowText" lastClr="000000"/>
                          </a:solidFill>
                        </a:rPr>
                        <a:t>Are the source’s data complete? </a:t>
                      </a:r>
                    </a:p>
                    <a:p>
                      <a:pPr marL="285750" indent="-285750">
                        <a:buFont typeface="Arial" panose="020B0604020202020204" pitchFamily="34" charset="0"/>
                        <a:buChar char="•"/>
                      </a:pPr>
                      <a:endParaRPr lang="en-US" sz="1800" b="0" dirty="0">
                        <a:solidFill>
                          <a:sysClr val="windowText" lastClr="000000"/>
                        </a:solidFill>
                      </a:endParaRPr>
                    </a:p>
                    <a:p>
                      <a:pPr marL="285750" indent="-285750">
                        <a:buFont typeface="Arial" panose="020B0604020202020204" pitchFamily="34" charset="0"/>
                        <a:buChar char="•"/>
                      </a:pPr>
                      <a:r>
                        <a:rPr lang="en-US" sz="1800" b="0" dirty="0">
                          <a:solidFill>
                            <a:sysClr val="windowText" lastClr="000000"/>
                          </a:solidFill>
                        </a:rPr>
                        <a:t>Is the source’s habit of search ethically acceptable (e.g. not abusing the environment or animal or human subjects)?</a:t>
                      </a:r>
                    </a:p>
                    <a:p>
                      <a:endParaRPr lang="en-GB" dirty="0"/>
                    </a:p>
                  </a:txBody>
                  <a:tcPr>
                    <a:solidFill>
                      <a:schemeClr val="bg1"/>
                    </a:solidFill>
                  </a:tcPr>
                </a:tc>
                <a:tc>
                  <a:txBody>
                    <a:bodyPr/>
                    <a:lstStyle/>
                    <a:p>
                      <a:r>
                        <a:rPr lang="en-US" b="1" dirty="0">
                          <a:solidFill>
                            <a:srgbClr val="FF0000"/>
                          </a:solidFill>
                        </a:rPr>
                        <a:t>2</a:t>
                      </a:r>
                      <a:r>
                        <a:rPr lang="en-US" sz="2000" b="1" dirty="0">
                          <a:solidFill>
                            <a:srgbClr val="FF0000"/>
                          </a:solidFill>
                        </a:rPr>
                        <a:t>. Habit of justice</a:t>
                      </a:r>
                      <a:r>
                        <a:rPr lang="en-US" sz="2000" b="1" dirty="0">
                          <a:solidFill>
                            <a:schemeClr val="tx1"/>
                          </a:solidFill>
                        </a:rPr>
                        <a:t>:</a:t>
                      </a:r>
                      <a:endParaRPr lang="en-US" sz="2000" dirty="0">
                        <a:solidFill>
                          <a:schemeClr val="tx1"/>
                        </a:solidFill>
                      </a:endParaRPr>
                    </a:p>
                    <a:p>
                      <a:endParaRPr lang="en-US" dirty="0">
                        <a:solidFill>
                          <a:schemeClr val="tx1"/>
                        </a:solidFill>
                      </a:endParaRPr>
                    </a:p>
                    <a:p>
                      <a:pPr marL="285750" indent="-285750">
                        <a:buFont typeface="Arial" panose="020B0604020202020204" pitchFamily="34" charset="0"/>
                        <a:buChar char="•"/>
                      </a:pPr>
                      <a:r>
                        <a:rPr lang="en-US" sz="2000" b="1" dirty="0">
                          <a:solidFill>
                            <a:schemeClr val="tx1"/>
                          </a:solidFill>
                        </a:rPr>
                        <a:t>Fairness in presenting information so that an audience can assess it equitably. </a:t>
                      </a:r>
                    </a:p>
                    <a:p>
                      <a:pPr>
                        <a:buNone/>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Is the source known to be trustworthy &amp; honest? </a:t>
                      </a:r>
                    </a:p>
                    <a:p>
                      <a:pPr marL="285750" indent="-285750">
                        <a:buFont typeface="Arial" panose="020B0604020202020204" pitchFamily="34" charset="0"/>
                        <a:buChar char="•"/>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Is the source normally clear &amp; direct in dealing with issues &amp; people, or does the source have a history of manipulation &amp; strategy in such dealings?</a:t>
                      </a:r>
                    </a:p>
                    <a:p>
                      <a:endParaRPr lang="en-GB" dirty="0"/>
                    </a:p>
                  </a:txBody>
                  <a:tcPr>
                    <a:solidFill>
                      <a:schemeClr val="accent5">
                        <a:lumMod val="40000"/>
                        <a:lumOff val="60000"/>
                      </a:schemeClr>
                    </a:solidFill>
                  </a:tcPr>
                </a:tc>
                <a:extLst>
                  <a:ext uri="{0D108BD9-81ED-4DB2-BD59-A6C34878D82A}">
                    <a16:rowId xmlns:a16="http://schemas.microsoft.com/office/drawing/2014/main" val="3255414232"/>
                  </a:ext>
                </a:extLst>
              </a:tr>
            </a:tbl>
          </a:graphicData>
        </a:graphic>
      </p:graphicFrame>
    </p:spTree>
    <p:extLst>
      <p:ext uri="{BB962C8B-B14F-4D97-AF65-F5344CB8AC3E}">
        <p14:creationId xmlns:p14="http://schemas.microsoft.com/office/powerpoint/2010/main" val="2222472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035" y="260648"/>
            <a:ext cx="8229600" cy="1143000"/>
          </a:xfrm>
          <a:solidFill>
            <a:schemeClr val="bg1"/>
          </a:solidFill>
        </p:spPr>
        <p:style>
          <a:lnRef idx="0">
            <a:schemeClr val="accent5"/>
          </a:lnRef>
          <a:fillRef idx="3">
            <a:schemeClr val="accent5"/>
          </a:fillRef>
          <a:effectRef idx="3">
            <a:schemeClr val="accent5"/>
          </a:effectRef>
          <a:fontRef idx="minor">
            <a:schemeClr val="lt1"/>
          </a:fontRef>
        </p:style>
        <p:txBody>
          <a:bodyPr/>
          <a:lstStyle/>
          <a:p>
            <a:r>
              <a:rPr lang="en-US" b="1" dirty="0">
                <a:solidFill>
                  <a:schemeClr val="tx1"/>
                </a:solidFill>
              </a:rPr>
              <a:t>Karl Wallace criteria</a:t>
            </a:r>
          </a:p>
        </p:txBody>
      </p:sp>
      <p:graphicFrame>
        <p:nvGraphicFramePr>
          <p:cNvPr id="4" name="Table 4">
            <a:extLst>
              <a:ext uri="{FF2B5EF4-FFF2-40B4-BE49-F238E27FC236}">
                <a16:creationId xmlns:a16="http://schemas.microsoft.com/office/drawing/2014/main" id="{C01E381A-F29E-4E62-AD4B-1D3D0F4C435E}"/>
              </a:ext>
            </a:extLst>
          </p:cNvPr>
          <p:cNvGraphicFramePr>
            <a:graphicFrameLocks noGrp="1"/>
          </p:cNvGraphicFramePr>
          <p:nvPr>
            <p:ph idx="1"/>
            <p:extLst>
              <p:ext uri="{D42A27DB-BD31-4B8C-83A1-F6EECF244321}">
                <p14:modId xmlns:p14="http://schemas.microsoft.com/office/powerpoint/2010/main" val="1451356143"/>
              </p:ext>
            </p:extLst>
          </p:nvPr>
        </p:nvGraphicFramePr>
        <p:xfrm>
          <a:off x="457200" y="1600200"/>
          <a:ext cx="8229600" cy="4853136"/>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1680053642"/>
                    </a:ext>
                  </a:extLst>
                </a:gridCol>
                <a:gridCol w="4114800">
                  <a:extLst>
                    <a:ext uri="{9D8B030D-6E8A-4147-A177-3AD203B41FA5}">
                      <a16:colId xmlns:a16="http://schemas.microsoft.com/office/drawing/2014/main" val="1425987311"/>
                    </a:ext>
                  </a:extLst>
                </a:gridCol>
              </a:tblGrid>
              <a:tr h="4853136">
                <a:tc>
                  <a:txBody>
                    <a:bodyPr/>
                    <a:lstStyle/>
                    <a:p>
                      <a:endParaRPr lang="en-GB" dirty="0"/>
                    </a:p>
                  </a:txBody>
                  <a:tcPr>
                    <a:solidFill>
                      <a:schemeClr val="bg1"/>
                    </a:solidFill>
                  </a:tcPr>
                </a:tc>
                <a:tc>
                  <a:txBody>
                    <a:bodyPr/>
                    <a:lstStyle/>
                    <a:p>
                      <a:endParaRPr lang="en-GB" dirty="0"/>
                    </a:p>
                  </a:txBody>
                  <a:tcPr>
                    <a:solidFill>
                      <a:schemeClr val="bg1"/>
                    </a:solidFill>
                  </a:tcPr>
                </a:tc>
                <a:extLst>
                  <a:ext uri="{0D108BD9-81ED-4DB2-BD59-A6C34878D82A}">
                    <a16:rowId xmlns:a16="http://schemas.microsoft.com/office/drawing/2014/main" val="1418643742"/>
                  </a:ext>
                </a:extLst>
              </a:tr>
            </a:tbl>
          </a:graphicData>
        </a:graphic>
      </p:graphicFrame>
      <p:graphicFrame>
        <p:nvGraphicFramePr>
          <p:cNvPr id="5" name="Table 5">
            <a:extLst>
              <a:ext uri="{FF2B5EF4-FFF2-40B4-BE49-F238E27FC236}">
                <a16:creationId xmlns:a16="http://schemas.microsoft.com/office/drawing/2014/main" id="{77E82CB5-6470-44DE-9A83-5EA8DAFAD176}"/>
              </a:ext>
            </a:extLst>
          </p:cNvPr>
          <p:cNvGraphicFramePr>
            <a:graphicFrameLocks noGrp="1"/>
          </p:cNvGraphicFramePr>
          <p:nvPr>
            <p:extLst>
              <p:ext uri="{D42A27DB-BD31-4B8C-83A1-F6EECF244321}">
                <p14:modId xmlns:p14="http://schemas.microsoft.com/office/powerpoint/2010/main" val="1323806882"/>
              </p:ext>
            </p:extLst>
          </p:nvPr>
        </p:nvGraphicFramePr>
        <p:xfrm>
          <a:off x="469282" y="1600200"/>
          <a:ext cx="8205436" cy="5017854"/>
        </p:xfrm>
        <a:graphic>
          <a:graphicData uri="http://schemas.openxmlformats.org/drawingml/2006/table">
            <a:tbl>
              <a:tblPr firstRow="1" bandRow="1">
                <a:tableStyleId>{5C22544A-7EE6-4342-B048-85BDC9FD1C3A}</a:tableStyleId>
              </a:tblPr>
              <a:tblGrid>
                <a:gridCol w="4102718">
                  <a:extLst>
                    <a:ext uri="{9D8B030D-6E8A-4147-A177-3AD203B41FA5}">
                      <a16:colId xmlns:a16="http://schemas.microsoft.com/office/drawing/2014/main" val="479447655"/>
                    </a:ext>
                  </a:extLst>
                </a:gridCol>
                <a:gridCol w="4102718">
                  <a:extLst>
                    <a:ext uri="{9D8B030D-6E8A-4147-A177-3AD203B41FA5}">
                      <a16:colId xmlns:a16="http://schemas.microsoft.com/office/drawing/2014/main" val="1807251690"/>
                    </a:ext>
                  </a:extLst>
                </a:gridCol>
              </a:tblGrid>
              <a:tr h="5017854">
                <a:tc>
                  <a:txBody>
                    <a:bodyPr/>
                    <a:lstStyle/>
                    <a:p>
                      <a:r>
                        <a:rPr lang="en-US" sz="2000" b="1" dirty="0">
                          <a:solidFill>
                            <a:srgbClr val="FF0000"/>
                          </a:solidFill>
                        </a:rPr>
                        <a:t>3. Habit of preferring public to private motivations</a:t>
                      </a:r>
                      <a:r>
                        <a:rPr lang="en-US" sz="2000" b="1" dirty="0">
                          <a:solidFill>
                            <a:schemeClr val="tx1"/>
                          </a:solidFill>
                        </a:rPr>
                        <a:t>:</a:t>
                      </a:r>
                      <a:r>
                        <a:rPr lang="en-US" sz="2000" dirty="0">
                          <a:solidFill>
                            <a:schemeClr val="tx1"/>
                          </a:solidFill>
                        </a:rPr>
                        <a:t> </a:t>
                      </a:r>
                    </a:p>
                    <a:p>
                      <a:pPr>
                        <a:buNone/>
                      </a:pPr>
                      <a:endParaRPr lang="en-US" b="0" dirty="0">
                        <a:solidFill>
                          <a:schemeClr val="tx1"/>
                        </a:solidFill>
                      </a:endParaRPr>
                    </a:p>
                    <a:p>
                      <a:pPr>
                        <a:buNone/>
                      </a:pPr>
                      <a:r>
                        <a:rPr lang="en-US" sz="2000" b="1" dirty="0">
                          <a:solidFill>
                            <a:schemeClr val="tx1"/>
                          </a:solidFill>
                        </a:rPr>
                        <a:t>Openly letting people know about the source’s own sources, plans and expectations. </a:t>
                      </a:r>
                    </a:p>
                    <a:p>
                      <a:pPr>
                        <a:buNone/>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Are the source’s previous actions consistent and reliable? Do contradictions in </a:t>
                      </a:r>
                      <a:r>
                        <a:rPr lang="en-US" b="0" dirty="0" err="1">
                          <a:solidFill>
                            <a:schemeClr val="tx1"/>
                          </a:solidFill>
                        </a:rPr>
                        <a:t>behaviour</a:t>
                      </a:r>
                      <a:r>
                        <a:rPr lang="en-US" b="0" dirty="0">
                          <a:solidFill>
                            <a:schemeClr val="tx1"/>
                          </a:solidFill>
                        </a:rPr>
                        <a:t> or quality put this source in doubt?</a:t>
                      </a:r>
                    </a:p>
                    <a:p>
                      <a:endParaRPr lang="en-GB" dirty="0"/>
                    </a:p>
                  </a:txBody>
                  <a:tcPr>
                    <a:solidFill>
                      <a:schemeClr val="bg1"/>
                    </a:solidFill>
                  </a:tcPr>
                </a:tc>
                <a:tc>
                  <a:txBody>
                    <a:bodyPr/>
                    <a:lstStyle/>
                    <a:p>
                      <a:r>
                        <a:rPr lang="en-US" sz="2000" b="1" dirty="0">
                          <a:solidFill>
                            <a:srgbClr val="FF0000"/>
                          </a:solidFill>
                        </a:rPr>
                        <a:t>4. Habit of respect for dissident</a:t>
                      </a:r>
                      <a:r>
                        <a:rPr lang="en-US" sz="2000" b="1" dirty="0">
                          <a:solidFill>
                            <a:schemeClr val="tx1"/>
                          </a:solidFill>
                        </a:rPr>
                        <a:t>:</a:t>
                      </a:r>
                      <a:endParaRPr lang="en-US" sz="2000" dirty="0">
                        <a:solidFill>
                          <a:schemeClr val="tx1"/>
                        </a:solidFill>
                      </a:endParaRPr>
                    </a:p>
                    <a:p>
                      <a:pPr>
                        <a:buNone/>
                      </a:pPr>
                      <a:r>
                        <a:rPr lang="en-US" sz="2000" dirty="0">
                          <a:solidFill>
                            <a:schemeClr val="tx1"/>
                          </a:solidFill>
                        </a:rPr>
                        <a:t>	</a:t>
                      </a:r>
                    </a:p>
                    <a:p>
                      <a:pPr>
                        <a:buNone/>
                      </a:pPr>
                      <a:r>
                        <a:rPr lang="en-US" sz="2000" b="1" dirty="0">
                          <a:solidFill>
                            <a:schemeClr val="tx1"/>
                          </a:solidFill>
                        </a:rPr>
                        <a:t>The ability to remain objective and to encourage dialogue about opposing arguments &amp; positions. </a:t>
                      </a:r>
                    </a:p>
                    <a:p>
                      <a:pPr>
                        <a:buNone/>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Does the source have a history of bias toward a political, social, or philosophical position, or does the source typically present &amp; listen to more than one side of an issue?</a:t>
                      </a:r>
                    </a:p>
                    <a:p>
                      <a:endParaRPr lang="en-GB" dirty="0"/>
                    </a:p>
                  </a:txBody>
                  <a:tcPr>
                    <a:solidFill>
                      <a:schemeClr val="accent5">
                        <a:lumMod val="40000"/>
                        <a:lumOff val="60000"/>
                      </a:schemeClr>
                    </a:solidFill>
                  </a:tcPr>
                </a:tc>
                <a:extLst>
                  <a:ext uri="{0D108BD9-81ED-4DB2-BD59-A6C34878D82A}">
                    <a16:rowId xmlns:a16="http://schemas.microsoft.com/office/drawing/2014/main" val="1501984040"/>
                  </a:ext>
                </a:extLst>
              </a:tr>
            </a:tbl>
          </a:graphicData>
        </a:graphic>
      </p:graphicFrame>
    </p:spTree>
    <p:extLst>
      <p:ext uri="{BB962C8B-B14F-4D97-AF65-F5344CB8AC3E}">
        <p14:creationId xmlns:p14="http://schemas.microsoft.com/office/powerpoint/2010/main" val="3297022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08720"/>
          </a:xfrm>
          <a:solidFill>
            <a:schemeClr val="bg1"/>
          </a:solidFill>
        </p:spPr>
        <p:style>
          <a:lnRef idx="0">
            <a:schemeClr val="accent5"/>
          </a:lnRef>
          <a:fillRef idx="3">
            <a:schemeClr val="accent5"/>
          </a:fillRef>
          <a:effectRef idx="3">
            <a:schemeClr val="accent5"/>
          </a:effectRef>
          <a:fontRef idx="minor">
            <a:schemeClr val="lt1"/>
          </a:fontRef>
        </p:style>
        <p:txBody>
          <a:bodyPr>
            <a:normAutofit fontScale="90000"/>
          </a:bodyPr>
          <a:lstStyle/>
          <a:p>
            <a:br>
              <a:rPr lang="en-US" b="1" dirty="0"/>
            </a:br>
            <a:r>
              <a:rPr lang="en-US" b="1" dirty="0">
                <a:solidFill>
                  <a:schemeClr val="tx1"/>
                </a:solidFill>
              </a:rPr>
              <a:t>3. Ethical inferences</a:t>
            </a:r>
            <a:br>
              <a:rPr lang="en-US" b="1" dirty="0"/>
            </a:br>
            <a:endParaRPr lang="en-US" b="1" dirty="0"/>
          </a:p>
        </p:txBody>
      </p:sp>
      <p:graphicFrame>
        <p:nvGraphicFramePr>
          <p:cNvPr id="4" name="Table 4">
            <a:extLst>
              <a:ext uri="{FF2B5EF4-FFF2-40B4-BE49-F238E27FC236}">
                <a16:creationId xmlns:a16="http://schemas.microsoft.com/office/drawing/2014/main" id="{8C4A2D11-51B2-48EA-A2F5-279E37067B10}"/>
              </a:ext>
            </a:extLst>
          </p:cNvPr>
          <p:cNvGraphicFramePr>
            <a:graphicFrameLocks noGrp="1"/>
          </p:cNvGraphicFramePr>
          <p:nvPr>
            <p:ph idx="1"/>
            <p:extLst>
              <p:ext uri="{D42A27DB-BD31-4B8C-83A1-F6EECF244321}">
                <p14:modId xmlns:p14="http://schemas.microsoft.com/office/powerpoint/2010/main" val="2366705792"/>
              </p:ext>
            </p:extLst>
          </p:nvPr>
        </p:nvGraphicFramePr>
        <p:xfrm>
          <a:off x="457200" y="1340768"/>
          <a:ext cx="8229600" cy="5328592"/>
        </p:xfrm>
        <a:graphic>
          <a:graphicData uri="http://schemas.openxmlformats.org/drawingml/2006/table">
            <a:tbl>
              <a:tblPr firstRow="1" bandRow="1">
                <a:tableStyleId>{5C22544A-7EE6-4342-B048-85BDC9FD1C3A}</a:tableStyleId>
              </a:tblPr>
              <a:tblGrid>
                <a:gridCol w="3898776">
                  <a:extLst>
                    <a:ext uri="{9D8B030D-6E8A-4147-A177-3AD203B41FA5}">
                      <a16:colId xmlns:a16="http://schemas.microsoft.com/office/drawing/2014/main" val="1981319460"/>
                    </a:ext>
                  </a:extLst>
                </a:gridCol>
                <a:gridCol w="4330824">
                  <a:extLst>
                    <a:ext uri="{9D8B030D-6E8A-4147-A177-3AD203B41FA5}">
                      <a16:colId xmlns:a16="http://schemas.microsoft.com/office/drawing/2014/main" val="3680212676"/>
                    </a:ext>
                  </a:extLst>
                </a:gridCol>
              </a:tblGrid>
              <a:tr h="5328592">
                <a:tc>
                  <a:txBody>
                    <a:bodyPr/>
                    <a:lstStyle/>
                    <a:p>
                      <a:r>
                        <a:rPr lang="en-US" sz="2400" b="0" dirty="0">
                          <a:solidFill>
                            <a:schemeClr val="tx1"/>
                          </a:solidFill>
                        </a:rPr>
                        <a:t>Messina (2007) suggests additional guidelines to use when evaluating persuasive messages.</a:t>
                      </a:r>
                    </a:p>
                    <a:p>
                      <a:endParaRPr lang="en-GB" dirty="0"/>
                    </a:p>
                  </a:txBody>
                  <a:tcPr>
                    <a:solidFill>
                      <a:schemeClr val="bg1"/>
                    </a:solidFill>
                  </a:tcPr>
                </a:tc>
                <a:tc>
                  <a:txBody>
                    <a:bodyPr/>
                    <a:lstStyle/>
                    <a:p>
                      <a:pPr>
                        <a:buFont typeface="Wingdings" panose="05000000000000000000" pitchFamily="2" charset="2"/>
                        <a:buNone/>
                      </a:pPr>
                      <a:r>
                        <a:rPr lang="en-US" sz="2000" b="1" dirty="0">
                          <a:solidFill>
                            <a:schemeClr val="tx1"/>
                          </a:solidFill>
                        </a:rPr>
                        <a:t>1</a:t>
                      </a:r>
                      <a:r>
                        <a:rPr lang="en-US" sz="2000" b="1" baseline="30000" dirty="0">
                          <a:solidFill>
                            <a:schemeClr val="tx1"/>
                          </a:solidFill>
                        </a:rPr>
                        <a:t>st</a:t>
                      </a:r>
                      <a:r>
                        <a:rPr lang="en-US" sz="2000" b="1" dirty="0">
                          <a:solidFill>
                            <a:schemeClr val="tx1"/>
                          </a:solidFill>
                        </a:rPr>
                        <a:t> = respect for the audience:</a:t>
                      </a:r>
                    </a:p>
                    <a:p>
                      <a:pPr marL="285750" indent="-285750">
                        <a:buFont typeface="Arial" panose="020B0604020202020204" pitchFamily="34" charset="0"/>
                        <a:buChar char="•"/>
                      </a:pPr>
                      <a:r>
                        <a:rPr lang="en-US" b="0" dirty="0">
                          <a:solidFill>
                            <a:schemeClr val="tx1"/>
                          </a:solidFill>
                        </a:rPr>
                        <a:t>Is the information presented in such a way that the audience can make a voluntary, informed &amp; rational judgment about it? </a:t>
                      </a:r>
                    </a:p>
                    <a:p>
                      <a:pPr marL="285750" indent="-285750">
                        <a:buFont typeface="Arial" panose="020B0604020202020204" pitchFamily="34" charset="0"/>
                        <a:buChar char="•"/>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Or is the source using “bullying” tactics that try to force agreement?</a:t>
                      </a:r>
                    </a:p>
                    <a:p>
                      <a:pPr lvl="1">
                        <a:buFont typeface="Arial" panose="020B0604020202020204" pitchFamily="34" charset="0"/>
                        <a:buNone/>
                      </a:pPr>
                      <a:endParaRPr lang="en-US" b="0" dirty="0">
                        <a:solidFill>
                          <a:schemeClr val="tx1"/>
                        </a:solidFill>
                      </a:endParaRPr>
                    </a:p>
                    <a:p>
                      <a:pPr lvl="1">
                        <a:buFont typeface="Arial" panose="020B0604020202020204" pitchFamily="34" charset="0"/>
                        <a:buChar char="•"/>
                      </a:pPr>
                      <a:endParaRPr lang="en-US" b="0" dirty="0">
                        <a:solidFill>
                          <a:schemeClr val="tx1"/>
                        </a:solidFill>
                      </a:endParaRPr>
                    </a:p>
                    <a:p>
                      <a:pPr>
                        <a:buFont typeface="Wingdings" panose="05000000000000000000" pitchFamily="2" charset="2"/>
                        <a:buNone/>
                      </a:pPr>
                      <a:r>
                        <a:rPr lang="en-US" sz="2000" b="1" baseline="30000" dirty="0">
                          <a:solidFill>
                            <a:schemeClr val="tx1"/>
                          </a:solidFill>
                        </a:rPr>
                        <a:t>2nd</a:t>
                      </a:r>
                      <a:r>
                        <a:rPr lang="en-US" sz="2000" b="1" dirty="0">
                          <a:solidFill>
                            <a:schemeClr val="tx1"/>
                          </a:solidFill>
                        </a:rPr>
                        <a:t> = does the source show respect for the material? </a:t>
                      </a:r>
                    </a:p>
                    <a:p>
                      <a:pPr marL="285750" indent="-285750">
                        <a:buFont typeface="Arial" panose="020B0604020202020204" pitchFamily="34" charset="0"/>
                        <a:buChar char="•"/>
                      </a:pPr>
                      <a:r>
                        <a:rPr lang="en-US" b="0" dirty="0">
                          <a:solidFill>
                            <a:schemeClr val="tx1"/>
                          </a:solidFill>
                        </a:rPr>
                        <a:t>Is the message presented in a way that both respects the audience’s current views &amp; adequately provides new information?</a:t>
                      </a:r>
                    </a:p>
                    <a:p>
                      <a:endParaRPr lang="en-GB" dirty="0"/>
                    </a:p>
                  </a:txBody>
                  <a:tcPr>
                    <a:solidFill>
                      <a:schemeClr val="accent5">
                        <a:lumMod val="40000"/>
                        <a:lumOff val="60000"/>
                      </a:schemeClr>
                    </a:solidFill>
                  </a:tcPr>
                </a:tc>
                <a:extLst>
                  <a:ext uri="{0D108BD9-81ED-4DB2-BD59-A6C34878D82A}">
                    <a16:rowId xmlns:a16="http://schemas.microsoft.com/office/drawing/2014/main" val="2500585971"/>
                  </a:ext>
                </a:extLst>
              </a:tr>
            </a:tbl>
          </a:graphicData>
        </a:graphic>
      </p:graphicFrame>
    </p:spTree>
    <p:extLst>
      <p:ext uri="{BB962C8B-B14F-4D97-AF65-F5344CB8AC3E}">
        <p14:creationId xmlns:p14="http://schemas.microsoft.com/office/powerpoint/2010/main" val="274042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572" cy="1143000"/>
          </a:xfrm>
          <a:solidFill>
            <a:schemeClr val="bg1"/>
          </a:solidFill>
        </p:spPr>
        <p:style>
          <a:lnRef idx="0">
            <a:schemeClr val="accent5"/>
          </a:lnRef>
          <a:fillRef idx="3">
            <a:schemeClr val="accent5"/>
          </a:fillRef>
          <a:effectRef idx="3">
            <a:schemeClr val="accent5"/>
          </a:effectRef>
          <a:fontRef idx="minor">
            <a:schemeClr val="lt1"/>
          </a:fontRef>
        </p:style>
        <p:txBody>
          <a:bodyPr/>
          <a:lstStyle/>
          <a:p>
            <a:r>
              <a:rPr lang="en-US" b="1" dirty="0">
                <a:solidFill>
                  <a:schemeClr val="tx1"/>
                </a:solidFill>
              </a:rPr>
              <a:t>Ethical inferences cont…</a:t>
            </a:r>
            <a:r>
              <a:rPr lang="en-US" b="1" dirty="0"/>
              <a:t>	</a:t>
            </a:r>
          </a:p>
        </p:txBody>
      </p:sp>
      <p:sp>
        <p:nvSpPr>
          <p:cNvPr id="3" name="Content Placeholder 2"/>
          <p:cNvSpPr>
            <a:spLocks noGrp="1"/>
          </p:cNvSpPr>
          <p:nvPr>
            <p:ph idx="1"/>
          </p:nvPr>
        </p:nvSpPr>
        <p:spPr>
          <a:xfrm>
            <a:off x="470033" y="1628800"/>
            <a:ext cx="4258816" cy="5069160"/>
          </a:xfrm>
          <a:solidFill>
            <a:schemeClr val="bg1"/>
          </a:solidFill>
        </p:spPr>
        <p:style>
          <a:lnRef idx="1">
            <a:schemeClr val="accent5"/>
          </a:lnRef>
          <a:fillRef idx="2">
            <a:schemeClr val="accent5"/>
          </a:fillRef>
          <a:effectRef idx="1">
            <a:schemeClr val="accent5"/>
          </a:effectRef>
          <a:fontRef idx="minor">
            <a:schemeClr val="dk1"/>
          </a:fontRef>
        </p:style>
        <p:txBody>
          <a:bodyPr>
            <a:normAutofit/>
          </a:bodyPr>
          <a:lstStyle/>
          <a:p>
            <a:pPr>
              <a:buNone/>
            </a:pPr>
            <a:r>
              <a:rPr lang="en-US" dirty="0"/>
              <a:t>	</a:t>
            </a:r>
            <a:r>
              <a:rPr lang="en-US" sz="2400" dirty="0"/>
              <a:t>These criteria – the external credibility of a source’s expertise, habits of communication, &amp; inferences about respect for the audience &amp; the material – can help you decide how much to </a:t>
            </a:r>
            <a:r>
              <a:rPr lang="en-US" sz="2400" u="sng" dirty="0"/>
              <a:t>trust the information’s source.</a:t>
            </a:r>
          </a:p>
        </p:txBody>
      </p:sp>
      <p:pic>
        <p:nvPicPr>
          <p:cNvPr id="4" name="Picture 3">
            <a:extLst>
              <a:ext uri="{FF2B5EF4-FFF2-40B4-BE49-F238E27FC236}">
                <a16:creationId xmlns:a16="http://schemas.microsoft.com/office/drawing/2014/main" id="{EFFEC96C-2CAE-4288-AFA9-A2EA9A0E7E32}"/>
              </a:ext>
            </a:extLst>
          </p:cNvPr>
          <p:cNvPicPr>
            <a:picLocks noChangeAspect="1"/>
          </p:cNvPicPr>
          <p:nvPr/>
        </p:nvPicPr>
        <p:blipFill>
          <a:blip r:embed="rId2"/>
          <a:stretch>
            <a:fillRect/>
          </a:stretch>
        </p:blipFill>
        <p:spPr>
          <a:xfrm>
            <a:off x="4728849" y="1628800"/>
            <a:ext cx="4091923" cy="5069160"/>
          </a:xfrm>
          <a:prstGeom prst="rect">
            <a:avLst/>
          </a:prstGeom>
        </p:spPr>
      </p:pic>
    </p:spTree>
    <p:extLst>
      <p:ext uri="{BB962C8B-B14F-4D97-AF65-F5344CB8AC3E}">
        <p14:creationId xmlns:p14="http://schemas.microsoft.com/office/powerpoint/2010/main" val="1732927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style>
          <a:lnRef idx="0">
            <a:schemeClr val="accent5"/>
          </a:lnRef>
          <a:fillRef idx="3">
            <a:schemeClr val="accent5"/>
          </a:fillRef>
          <a:effectRef idx="3">
            <a:schemeClr val="accent5"/>
          </a:effectRef>
          <a:fontRef idx="minor">
            <a:schemeClr val="lt1"/>
          </a:fontRef>
        </p:style>
        <p:txBody>
          <a:bodyPr/>
          <a:lstStyle/>
          <a:p>
            <a:r>
              <a:rPr lang="en-US" b="1" dirty="0">
                <a:solidFill>
                  <a:schemeClr val="tx1"/>
                </a:solidFill>
              </a:rPr>
              <a:t>The information itself</a:t>
            </a:r>
          </a:p>
        </p:txBody>
      </p:sp>
      <p:sp>
        <p:nvSpPr>
          <p:cNvPr id="3" name="Content Placeholder 2"/>
          <p:cNvSpPr>
            <a:spLocks noGrp="1"/>
          </p:cNvSpPr>
          <p:nvPr>
            <p:ph idx="1"/>
          </p:nvPr>
        </p:nvSpPr>
        <p:spPr>
          <a:xfrm>
            <a:off x="457200" y="1556792"/>
            <a:ext cx="3970784" cy="4569371"/>
          </a:xfrm>
          <a:solidFill>
            <a:schemeClr val="bg1"/>
          </a:solidFill>
        </p:spPr>
        <p:style>
          <a:lnRef idx="1">
            <a:schemeClr val="accent5"/>
          </a:lnRef>
          <a:fillRef idx="2">
            <a:schemeClr val="accent5"/>
          </a:fillRef>
          <a:effectRef idx="1">
            <a:schemeClr val="accent5"/>
          </a:effectRef>
          <a:fontRef idx="minor">
            <a:schemeClr val="dk1"/>
          </a:fontRef>
        </p:style>
        <p:txBody>
          <a:bodyPr>
            <a:normAutofit/>
          </a:bodyPr>
          <a:lstStyle/>
          <a:p>
            <a:pPr marL="0" indent="0">
              <a:buNone/>
            </a:pPr>
            <a:r>
              <a:rPr lang="en-US" sz="2400" dirty="0"/>
              <a:t>When you start to accumulate information, you make an interesting discovery –</a:t>
            </a:r>
          </a:p>
          <a:p>
            <a:pPr marL="0" indent="0">
              <a:buNone/>
            </a:pPr>
            <a:endParaRPr lang="en-US" sz="2400" dirty="0"/>
          </a:p>
          <a:p>
            <a:r>
              <a:rPr lang="en-US" sz="2400" dirty="0"/>
              <a:t> Conclusions from data may be possibly true, or probably true, but are hardly ever </a:t>
            </a:r>
            <a:r>
              <a:rPr lang="en-US" sz="2400" b="1" i="1" dirty="0"/>
              <a:t>absolutely</a:t>
            </a:r>
            <a:r>
              <a:rPr lang="en-US" sz="2400" dirty="0"/>
              <a:t> true.</a:t>
            </a:r>
          </a:p>
          <a:p>
            <a:pPr marL="0" indent="0">
              <a:buNone/>
            </a:pPr>
            <a:endParaRPr lang="en-US" sz="2400" dirty="0"/>
          </a:p>
          <a:p>
            <a:r>
              <a:rPr lang="en-US" sz="2400" dirty="0"/>
              <a:t>We must know how </a:t>
            </a:r>
            <a:r>
              <a:rPr lang="en-US" sz="2400" b="1" u="sng" dirty="0"/>
              <a:t>probable</a:t>
            </a:r>
            <a:r>
              <a:rPr lang="en-US" sz="2400" dirty="0"/>
              <a:t> something is. </a:t>
            </a:r>
          </a:p>
        </p:txBody>
      </p:sp>
      <p:pic>
        <p:nvPicPr>
          <p:cNvPr id="1026" name="Picture 2" descr="Chance - MISS A- 4T">
            <a:extLst>
              <a:ext uri="{FF2B5EF4-FFF2-40B4-BE49-F238E27FC236}">
                <a16:creationId xmlns:a16="http://schemas.microsoft.com/office/drawing/2014/main" id="{D024E53C-46BD-457D-B18F-C34FFF2FEE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636912"/>
            <a:ext cx="4456559" cy="2703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6987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457200" y="228918"/>
            <a:ext cx="8229600" cy="823817"/>
          </a:xfrm>
        </p:spPr>
        <p:txBody>
          <a:bodyPr>
            <a:normAutofit/>
          </a:bodyPr>
          <a:lstStyle/>
          <a:p>
            <a:r>
              <a:rPr lang="en-US" sz="2800" b="1" dirty="0"/>
              <a:t>So how do you assess probability?</a:t>
            </a:r>
          </a:p>
        </p:txBody>
      </p:sp>
      <p:graphicFrame>
        <p:nvGraphicFramePr>
          <p:cNvPr id="8" name="Table 9">
            <a:extLst>
              <a:ext uri="{FF2B5EF4-FFF2-40B4-BE49-F238E27FC236}">
                <a16:creationId xmlns:a16="http://schemas.microsoft.com/office/drawing/2014/main" id="{775682FC-525E-4681-A06E-6469A7C682EC}"/>
              </a:ext>
            </a:extLst>
          </p:cNvPr>
          <p:cNvGraphicFramePr>
            <a:graphicFrameLocks noGrp="1"/>
          </p:cNvGraphicFramePr>
          <p:nvPr>
            <p:ph idx="1"/>
            <p:extLst>
              <p:ext uri="{D42A27DB-BD31-4B8C-83A1-F6EECF244321}">
                <p14:modId xmlns:p14="http://schemas.microsoft.com/office/powerpoint/2010/main" val="3650790613"/>
              </p:ext>
            </p:extLst>
          </p:nvPr>
        </p:nvGraphicFramePr>
        <p:xfrm>
          <a:off x="457200" y="1274202"/>
          <a:ext cx="8229600" cy="535488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605429266"/>
                    </a:ext>
                  </a:extLst>
                </a:gridCol>
                <a:gridCol w="4114800">
                  <a:extLst>
                    <a:ext uri="{9D8B030D-6E8A-4147-A177-3AD203B41FA5}">
                      <a16:colId xmlns:a16="http://schemas.microsoft.com/office/drawing/2014/main" val="3044696006"/>
                    </a:ext>
                  </a:extLst>
                </a:gridCol>
              </a:tblGrid>
              <a:tr h="5354880">
                <a:tc>
                  <a:txBody>
                    <a:bodyPr/>
                    <a:lstStyle/>
                    <a:p>
                      <a:r>
                        <a:rPr lang="en-US" sz="2400" b="1" kern="1200" dirty="0">
                          <a:solidFill>
                            <a:srgbClr val="FF0000"/>
                          </a:solidFill>
                          <a:latin typeface="+mn-lt"/>
                          <a:ea typeface="+mn-ea"/>
                          <a:cs typeface="+mn-cs"/>
                        </a:rPr>
                        <a:t>Weighing</a:t>
                      </a:r>
                      <a:r>
                        <a:rPr lang="en-US" sz="2400" b="0" kern="1200" dirty="0">
                          <a:solidFill>
                            <a:schemeClr val="tx1"/>
                          </a:solidFill>
                          <a:latin typeface="+mn-lt"/>
                          <a:ea typeface="+mn-ea"/>
                          <a:cs typeface="+mn-cs"/>
                        </a:rPr>
                        <a:t> various pieces of evidence that seem to support or refute an idea.</a:t>
                      </a:r>
                    </a:p>
                    <a:p>
                      <a:endParaRPr lang="en-US" sz="1800" b="0" kern="1200" dirty="0">
                        <a:solidFill>
                          <a:schemeClr val="tx1"/>
                        </a:solidFill>
                        <a:latin typeface="+mn-lt"/>
                        <a:ea typeface="+mn-ea"/>
                        <a:cs typeface="+mn-cs"/>
                      </a:endParaRPr>
                    </a:p>
                    <a:p>
                      <a:r>
                        <a:rPr lang="en-US" sz="1800" b="0" kern="1200" dirty="0">
                          <a:solidFill>
                            <a:schemeClr val="tx1"/>
                          </a:solidFill>
                          <a:latin typeface="+mn-lt"/>
                          <a:ea typeface="+mn-ea"/>
                          <a:cs typeface="+mn-cs"/>
                        </a:rPr>
                        <a:t>As you go through the information you’ve collected, the team becomes judge and jury = you assess each piece of information in terms of its quality, and then weigh any contradictory pieces against each other.</a:t>
                      </a:r>
                    </a:p>
                    <a:p>
                      <a:pPr>
                        <a:buNone/>
                      </a:pPr>
                      <a:endParaRPr lang="en-US" sz="1800" b="1" kern="1200" dirty="0">
                        <a:solidFill>
                          <a:schemeClr val="lt1"/>
                        </a:solidFill>
                        <a:latin typeface="+mn-lt"/>
                        <a:ea typeface="+mn-ea"/>
                        <a:cs typeface="+mn-cs"/>
                      </a:endParaRPr>
                    </a:p>
                    <a:p>
                      <a:endParaRPr lang="en-GB" dirty="0"/>
                    </a:p>
                  </a:txBody>
                  <a:tcPr>
                    <a:solidFill>
                      <a:schemeClr val="bg1"/>
                    </a:solidFill>
                  </a:tcPr>
                </a:tc>
                <a:tc>
                  <a:txBody>
                    <a:bodyPr/>
                    <a:lstStyle/>
                    <a:p>
                      <a:r>
                        <a:rPr lang="en-US" sz="1800" b="1" kern="1200" dirty="0">
                          <a:solidFill>
                            <a:schemeClr val="tx1"/>
                          </a:solidFill>
                          <a:latin typeface="+mn-lt"/>
                          <a:ea typeface="+mn-ea"/>
                          <a:cs typeface="+mn-cs"/>
                        </a:rPr>
                        <a:t>Ask yourself:</a:t>
                      </a:r>
                    </a:p>
                    <a:p>
                      <a:pPr marL="742950" lvl="1" indent="-285750">
                        <a:buFont typeface="Arial" panose="020B0604020202020204" pitchFamily="34" charset="0"/>
                        <a:buChar char="•"/>
                      </a:pPr>
                      <a:r>
                        <a:rPr lang="en-US" sz="1800" b="0" kern="1200" dirty="0">
                          <a:solidFill>
                            <a:schemeClr val="tx1"/>
                          </a:solidFill>
                          <a:latin typeface="+mn-lt"/>
                          <a:ea typeface="+mn-ea"/>
                          <a:cs typeface="+mn-cs"/>
                        </a:rPr>
                        <a:t>Which evidence pertains most directly to the issue or question at hand?</a:t>
                      </a:r>
                    </a:p>
                    <a:p>
                      <a:pPr marL="457200" lvl="1" indent="0">
                        <a:buFont typeface="Arial" panose="020B0604020202020204" pitchFamily="34" charset="0"/>
                        <a:buNone/>
                      </a:pPr>
                      <a:endParaRPr lang="en-US" sz="1800" b="0" kern="1200" dirty="0">
                        <a:solidFill>
                          <a:schemeClr val="tx1"/>
                        </a:solidFill>
                        <a:latin typeface="+mn-lt"/>
                        <a:ea typeface="+mn-ea"/>
                        <a:cs typeface="+mn-cs"/>
                      </a:endParaRPr>
                    </a:p>
                    <a:p>
                      <a:pPr marL="742950" lvl="1" indent="-285750">
                        <a:buFont typeface="Arial" panose="020B0604020202020204" pitchFamily="34" charset="0"/>
                        <a:buChar char="•"/>
                      </a:pPr>
                      <a:r>
                        <a:rPr lang="en-US" sz="1800" b="0" kern="1200" dirty="0">
                          <a:solidFill>
                            <a:schemeClr val="tx1"/>
                          </a:solidFill>
                          <a:latin typeface="+mn-lt"/>
                          <a:ea typeface="+mn-ea"/>
                          <a:cs typeface="+mn-cs"/>
                        </a:rPr>
                        <a:t>Which conclusion has the most evidence on its side?</a:t>
                      </a:r>
                    </a:p>
                    <a:p>
                      <a:pPr lvl="1">
                        <a:buNone/>
                      </a:pPr>
                      <a:endParaRPr lang="en-US" sz="1800" b="0" kern="1200" dirty="0">
                        <a:solidFill>
                          <a:schemeClr val="tx1"/>
                        </a:solidFill>
                        <a:latin typeface="+mn-lt"/>
                        <a:ea typeface="+mn-ea"/>
                        <a:cs typeface="+mn-cs"/>
                      </a:endParaRPr>
                    </a:p>
                    <a:p>
                      <a:pPr marL="457200" lvl="1" indent="0">
                        <a:buNone/>
                      </a:pPr>
                      <a:r>
                        <a:rPr lang="en-US" sz="2000" b="0" kern="1200" dirty="0">
                          <a:solidFill>
                            <a:schemeClr val="tx1"/>
                          </a:solidFill>
                          <a:latin typeface="+mn-lt"/>
                          <a:ea typeface="+mn-ea"/>
                          <a:cs typeface="+mn-cs"/>
                        </a:rPr>
                        <a:t>The best conclusion = the 1 that is </a:t>
                      </a:r>
                      <a:r>
                        <a:rPr lang="en-US" sz="2000" b="1" kern="1200" dirty="0">
                          <a:solidFill>
                            <a:schemeClr val="tx1"/>
                          </a:solidFill>
                          <a:latin typeface="+mn-lt"/>
                          <a:ea typeface="+mn-ea"/>
                          <a:cs typeface="+mn-cs"/>
                        </a:rPr>
                        <a:t>most probably true </a:t>
                      </a:r>
                      <a:r>
                        <a:rPr lang="en-US" sz="2000" b="0" kern="1200" dirty="0">
                          <a:solidFill>
                            <a:schemeClr val="tx1"/>
                          </a:solidFill>
                          <a:latin typeface="+mn-lt"/>
                          <a:ea typeface="+mn-ea"/>
                          <a:cs typeface="+mn-cs"/>
                        </a:rPr>
                        <a:t>= is the 1</a:t>
                      </a:r>
                    </a:p>
                    <a:p>
                      <a:pPr lvl="1">
                        <a:buNone/>
                      </a:pPr>
                      <a:r>
                        <a:rPr lang="en-US" sz="2000" b="0" kern="1200" dirty="0">
                          <a:solidFill>
                            <a:schemeClr val="tx1"/>
                          </a:solidFill>
                          <a:latin typeface="+mn-lt"/>
                          <a:ea typeface="+mn-ea"/>
                          <a:cs typeface="+mn-cs"/>
                        </a:rPr>
                        <a:t>supported by the </a:t>
                      </a:r>
                      <a:r>
                        <a:rPr lang="en-US" sz="2000" b="1" kern="1200" dirty="0">
                          <a:solidFill>
                            <a:schemeClr val="accent2"/>
                          </a:solidFill>
                          <a:latin typeface="+mn-lt"/>
                          <a:ea typeface="+mn-ea"/>
                          <a:cs typeface="+mn-cs"/>
                        </a:rPr>
                        <a:t>preponderance of quality evidence</a:t>
                      </a:r>
                      <a:r>
                        <a:rPr lang="en-US" sz="2000" b="0" kern="1200" dirty="0">
                          <a:solidFill>
                            <a:schemeClr val="tx1"/>
                          </a:solidFill>
                          <a:latin typeface="+mn-lt"/>
                          <a:ea typeface="+mn-ea"/>
                          <a:cs typeface="+mn-cs"/>
                        </a:rPr>
                        <a:t>, </a:t>
                      </a:r>
                      <a:r>
                        <a:rPr lang="en-US" sz="2000" b="0" kern="1200" dirty="0" err="1">
                          <a:solidFill>
                            <a:schemeClr val="tx1"/>
                          </a:solidFill>
                          <a:latin typeface="+mn-lt"/>
                          <a:ea typeface="+mn-ea"/>
                          <a:cs typeface="+mn-cs"/>
                        </a:rPr>
                        <a:t>i.e</a:t>
                      </a:r>
                      <a:r>
                        <a:rPr lang="en-US" sz="2000" b="0" kern="1200" dirty="0">
                          <a:solidFill>
                            <a:schemeClr val="tx1"/>
                          </a:solidFill>
                          <a:latin typeface="+mn-lt"/>
                          <a:ea typeface="+mn-ea"/>
                          <a:cs typeface="+mn-cs"/>
                        </a:rPr>
                        <a:t>:</a:t>
                      </a:r>
                    </a:p>
                    <a:p>
                      <a:pPr lvl="1">
                        <a:buNone/>
                      </a:pPr>
                      <a:r>
                        <a:rPr lang="en-US" sz="2000" b="0" kern="1200" dirty="0">
                          <a:solidFill>
                            <a:schemeClr val="tx1"/>
                          </a:solidFill>
                          <a:latin typeface="+mn-lt"/>
                          <a:ea typeface="+mn-ea"/>
                          <a:cs typeface="+mn-cs"/>
                        </a:rPr>
                        <a:t> There’s more credible data backing that conclusion than backing </a:t>
                      </a:r>
                      <a:r>
                        <a:rPr lang="en-US" sz="2000" b="0" u="sng" kern="1200" dirty="0">
                          <a:solidFill>
                            <a:schemeClr val="tx1"/>
                          </a:solidFill>
                          <a:latin typeface="+mn-lt"/>
                          <a:ea typeface="+mn-ea"/>
                          <a:cs typeface="+mn-cs"/>
                        </a:rPr>
                        <a:t>other</a:t>
                      </a:r>
                    </a:p>
                    <a:p>
                      <a:pPr lvl="1">
                        <a:buNone/>
                      </a:pPr>
                      <a:r>
                        <a:rPr lang="en-US" sz="2000" b="0" kern="1200" dirty="0">
                          <a:solidFill>
                            <a:schemeClr val="tx1"/>
                          </a:solidFill>
                          <a:latin typeface="+mn-lt"/>
                          <a:ea typeface="+mn-ea"/>
                          <a:cs typeface="+mn-cs"/>
                        </a:rPr>
                        <a:t>conclusions.</a:t>
                      </a:r>
                    </a:p>
                    <a:p>
                      <a:endParaRPr lang="en-GB" dirty="0">
                        <a:solidFill>
                          <a:schemeClr val="tx1"/>
                        </a:solidFill>
                      </a:endParaRPr>
                    </a:p>
                  </a:txBody>
                  <a:tcPr>
                    <a:solidFill>
                      <a:schemeClr val="bg1"/>
                    </a:solidFill>
                  </a:tcPr>
                </a:tc>
                <a:extLst>
                  <a:ext uri="{0D108BD9-81ED-4DB2-BD59-A6C34878D82A}">
                    <a16:rowId xmlns:a16="http://schemas.microsoft.com/office/drawing/2014/main" val="2095605043"/>
                  </a:ext>
                </a:extLst>
              </a:tr>
            </a:tbl>
          </a:graphicData>
        </a:graphic>
      </p:graphicFrame>
      <p:pic>
        <p:nvPicPr>
          <p:cNvPr id="4" name="Picture 3">
            <a:extLst>
              <a:ext uri="{FF2B5EF4-FFF2-40B4-BE49-F238E27FC236}">
                <a16:creationId xmlns:a16="http://schemas.microsoft.com/office/drawing/2014/main" id="{B2D9B2FA-14D1-4E5B-9960-4415A8040DFC}"/>
              </a:ext>
            </a:extLst>
          </p:cNvPr>
          <p:cNvPicPr>
            <a:picLocks noChangeAspect="1"/>
          </p:cNvPicPr>
          <p:nvPr/>
        </p:nvPicPr>
        <p:blipFill>
          <a:blip r:embed="rId2"/>
          <a:stretch>
            <a:fillRect/>
          </a:stretch>
        </p:blipFill>
        <p:spPr>
          <a:xfrm>
            <a:off x="1403648" y="4529239"/>
            <a:ext cx="1950791" cy="2132260"/>
          </a:xfrm>
          <a:prstGeom prst="rect">
            <a:avLst/>
          </a:prstGeom>
        </p:spPr>
      </p:pic>
    </p:spTree>
    <p:extLst>
      <p:ext uri="{BB962C8B-B14F-4D97-AF65-F5344CB8AC3E}">
        <p14:creationId xmlns:p14="http://schemas.microsoft.com/office/powerpoint/2010/main" val="4140946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style>
          <a:lnRef idx="0">
            <a:schemeClr val="accent5"/>
          </a:lnRef>
          <a:fillRef idx="3">
            <a:schemeClr val="accent5"/>
          </a:fillRef>
          <a:effectRef idx="3">
            <a:schemeClr val="accent5"/>
          </a:effectRef>
          <a:fontRef idx="minor">
            <a:schemeClr val="lt1"/>
          </a:fontRef>
        </p:style>
        <p:txBody>
          <a:bodyPr>
            <a:normAutofit/>
          </a:bodyPr>
          <a:lstStyle/>
          <a:p>
            <a:r>
              <a:rPr lang="en-US" sz="3200" b="1" dirty="0">
                <a:solidFill>
                  <a:schemeClr val="tx1"/>
                </a:solidFill>
              </a:rPr>
              <a:t>Questions to ask when analyzing</a:t>
            </a:r>
            <a:br>
              <a:rPr lang="en-US" sz="3200" b="1" dirty="0">
                <a:solidFill>
                  <a:schemeClr val="tx1"/>
                </a:solidFill>
              </a:rPr>
            </a:br>
            <a:r>
              <a:rPr lang="en-US" sz="3200" b="1" dirty="0">
                <a:solidFill>
                  <a:schemeClr val="tx1"/>
                </a:solidFill>
              </a:rPr>
              <a:t> information in general:</a:t>
            </a:r>
          </a:p>
        </p:txBody>
      </p:sp>
      <p:sp>
        <p:nvSpPr>
          <p:cNvPr id="3" name="Content Placeholder 2"/>
          <p:cNvSpPr>
            <a:spLocks noGrp="1"/>
          </p:cNvSpPr>
          <p:nvPr>
            <p:ph idx="1"/>
          </p:nvPr>
        </p:nvSpPr>
        <p:spPr>
          <a:solidFill>
            <a:schemeClr val="bg1"/>
          </a:solidFill>
        </p:spPr>
        <p:style>
          <a:lnRef idx="1">
            <a:schemeClr val="accent5"/>
          </a:lnRef>
          <a:fillRef idx="2">
            <a:schemeClr val="accent5"/>
          </a:fillRef>
          <a:effectRef idx="1">
            <a:schemeClr val="accent5"/>
          </a:effectRef>
          <a:fontRef idx="minor">
            <a:schemeClr val="dk1"/>
          </a:fontRef>
        </p:style>
        <p:txBody>
          <a:bodyPr>
            <a:normAutofit/>
          </a:bodyPr>
          <a:lstStyle/>
          <a:p>
            <a:pPr>
              <a:buNone/>
            </a:pPr>
            <a:endParaRPr lang="en-US" dirty="0"/>
          </a:p>
          <a:p>
            <a:pPr>
              <a:buNone/>
            </a:pPr>
            <a:endParaRPr lang="en-US" dirty="0"/>
          </a:p>
          <a:p>
            <a:pPr marL="0" indent="0">
              <a:buNone/>
            </a:pPr>
            <a:endParaRPr lang="en-US" dirty="0"/>
          </a:p>
        </p:txBody>
      </p:sp>
      <p:sp>
        <p:nvSpPr>
          <p:cNvPr id="4" name="Horizontal Scroll 3"/>
          <p:cNvSpPr/>
          <p:nvPr/>
        </p:nvSpPr>
        <p:spPr>
          <a:xfrm>
            <a:off x="971600" y="1412776"/>
            <a:ext cx="7344816" cy="1080120"/>
          </a:xfrm>
          <a:prstGeom prst="horizontalScroll">
            <a:avLst>
              <a:gd name="adj" fmla="val 4532"/>
            </a:avLst>
          </a:prstGeom>
          <a:ln/>
          <a:effectLst>
            <a:innerShdw blurRad="63500" dist="50800" dir="10800000">
              <a:prstClr val="black">
                <a:alpha val="50000"/>
              </a:prstClr>
            </a:innerShdw>
          </a:effectLst>
        </p:spPr>
        <p:style>
          <a:lnRef idx="1">
            <a:schemeClr val="accent3"/>
          </a:lnRef>
          <a:fillRef idx="2">
            <a:schemeClr val="accent3"/>
          </a:fillRef>
          <a:effectRef idx="1">
            <a:schemeClr val="accent3"/>
          </a:effectRef>
          <a:fontRef idx="minor">
            <a:schemeClr val="dk1"/>
          </a:fontRef>
        </p:style>
        <p:txBody>
          <a:bodyPr rtlCol="0" anchor="ctr"/>
          <a:lstStyle/>
          <a:p>
            <a:r>
              <a:rPr lang="en-US" b="1" dirty="0">
                <a:solidFill>
                  <a:srgbClr val="8064A2">
                    <a:lumMod val="75000"/>
                  </a:srgbClr>
                </a:solidFill>
              </a:rPr>
              <a:t>For e.g. you have been asked to improve the quality of student life</a:t>
            </a:r>
          </a:p>
          <a:p>
            <a:r>
              <a:rPr lang="en-US" b="1" dirty="0">
                <a:solidFill>
                  <a:srgbClr val="8064A2">
                    <a:lumMod val="75000"/>
                  </a:srgbClr>
                </a:solidFill>
              </a:rPr>
              <a:t> and have obtained results of a survey taken at another university (UCT) </a:t>
            </a:r>
          </a:p>
          <a:p>
            <a:r>
              <a:rPr lang="en-US" b="1" dirty="0">
                <a:solidFill>
                  <a:srgbClr val="8064A2">
                    <a:lumMod val="75000"/>
                  </a:srgbClr>
                </a:solidFill>
              </a:rPr>
              <a:t>3 years ago:</a:t>
            </a:r>
          </a:p>
        </p:txBody>
      </p:sp>
      <p:graphicFrame>
        <p:nvGraphicFramePr>
          <p:cNvPr id="5" name="Table 5">
            <a:extLst>
              <a:ext uri="{FF2B5EF4-FFF2-40B4-BE49-F238E27FC236}">
                <a16:creationId xmlns:a16="http://schemas.microsoft.com/office/drawing/2014/main" id="{C6D25E3E-344F-477A-ABEB-10BD3C00E5E4}"/>
              </a:ext>
            </a:extLst>
          </p:cNvPr>
          <p:cNvGraphicFramePr>
            <a:graphicFrameLocks noGrp="1"/>
          </p:cNvGraphicFramePr>
          <p:nvPr>
            <p:extLst>
              <p:ext uri="{D42A27DB-BD31-4B8C-83A1-F6EECF244321}">
                <p14:modId xmlns:p14="http://schemas.microsoft.com/office/powerpoint/2010/main" val="2906669391"/>
              </p:ext>
            </p:extLst>
          </p:nvPr>
        </p:nvGraphicFramePr>
        <p:xfrm>
          <a:off x="457200" y="2490037"/>
          <a:ext cx="8229600" cy="3636125"/>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3287584185"/>
                    </a:ext>
                  </a:extLst>
                </a:gridCol>
                <a:gridCol w="4114800">
                  <a:extLst>
                    <a:ext uri="{9D8B030D-6E8A-4147-A177-3AD203B41FA5}">
                      <a16:colId xmlns:a16="http://schemas.microsoft.com/office/drawing/2014/main" val="940008597"/>
                    </a:ext>
                  </a:extLst>
                </a:gridCol>
              </a:tblGrid>
              <a:tr h="3636125">
                <a:tc>
                  <a:txBody>
                    <a:bodyPr/>
                    <a:lstStyle/>
                    <a:p>
                      <a:pPr marL="342900" indent="-342900">
                        <a:buAutoNum type="arabicPeriod"/>
                      </a:pPr>
                      <a:r>
                        <a:rPr lang="en-US" b="1" u="sng" dirty="0">
                          <a:solidFill>
                            <a:schemeClr val="accent2"/>
                          </a:solidFill>
                        </a:rPr>
                        <a:t>Is the information valid?</a:t>
                      </a:r>
                    </a:p>
                    <a:p>
                      <a:pPr marL="285750" indent="-285750">
                        <a:buFont typeface="Arial" panose="020B0604020202020204" pitchFamily="34" charset="0"/>
                        <a:buChar char="•"/>
                      </a:pPr>
                      <a:r>
                        <a:rPr lang="en-US" b="0" dirty="0">
                          <a:solidFill>
                            <a:schemeClr val="tx1"/>
                          </a:solidFill>
                        </a:rPr>
                        <a:t>Does it actually measure what it intends to measure?</a:t>
                      </a:r>
                    </a:p>
                    <a:p>
                      <a:pPr marL="285750" indent="-285750">
                        <a:buFont typeface="Arial" panose="020B0604020202020204" pitchFamily="34" charset="0"/>
                        <a:buChar char="•"/>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Does it apply to the issues &amp; questions relevant to the students at your university? </a:t>
                      </a:r>
                    </a:p>
                    <a:p>
                      <a:pPr marL="285750" indent="-285750">
                        <a:buFont typeface="Arial" panose="020B0604020202020204" pitchFamily="34" charset="0"/>
                        <a:buChar char="•"/>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Would students today be very different from those surveyed 3 years ago?</a:t>
                      </a:r>
                    </a:p>
                    <a:p>
                      <a:endParaRPr lang="en-GB" dirty="0"/>
                    </a:p>
                  </a:txBody>
                  <a:tcPr>
                    <a:solidFill>
                      <a:schemeClr val="bg1"/>
                    </a:solidFill>
                  </a:tcPr>
                </a:tc>
                <a:tc>
                  <a:txBody>
                    <a:bodyPr/>
                    <a:lstStyle/>
                    <a:p>
                      <a:pPr>
                        <a:buNone/>
                      </a:pPr>
                      <a:r>
                        <a:rPr lang="en-US" b="1" dirty="0">
                          <a:solidFill>
                            <a:schemeClr val="accent2"/>
                          </a:solidFill>
                        </a:rPr>
                        <a:t>2. </a:t>
                      </a:r>
                      <a:r>
                        <a:rPr lang="en-US" b="1" u="sng" dirty="0">
                          <a:solidFill>
                            <a:schemeClr val="accent2"/>
                          </a:solidFill>
                        </a:rPr>
                        <a:t>Is the data reliable?</a:t>
                      </a:r>
                    </a:p>
                    <a:p>
                      <a:pPr marL="285750" indent="-285750">
                        <a:buFont typeface="Arial" panose="020B0604020202020204" pitchFamily="34" charset="0"/>
                        <a:buChar char="•"/>
                      </a:pPr>
                      <a:r>
                        <a:rPr lang="en-US" b="0" dirty="0">
                          <a:solidFill>
                            <a:schemeClr val="tx1"/>
                          </a:solidFill>
                        </a:rPr>
                        <a:t>To what extent is the data consistent?</a:t>
                      </a:r>
                    </a:p>
                    <a:p>
                      <a:pPr marL="0" indent="0">
                        <a:buFont typeface="Arial" panose="020B0604020202020204" pitchFamily="34" charset="0"/>
                        <a:buNone/>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E.g. on this survey, if the question, “Are you comfortable at UCT?” gets a strong “YES”, but the question, “Do you feel at home at UCT?” gets a strong “NO”, then the reliability may be questionable.</a:t>
                      </a:r>
                    </a:p>
                    <a:p>
                      <a:endParaRPr lang="en-GB" dirty="0"/>
                    </a:p>
                  </a:txBody>
                  <a:tcPr>
                    <a:solidFill>
                      <a:schemeClr val="bg1"/>
                    </a:solidFill>
                  </a:tcPr>
                </a:tc>
                <a:extLst>
                  <a:ext uri="{0D108BD9-81ED-4DB2-BD59-A6C34878D82A}">
                    <a16:rowId xmlns:a16="http://schemas.microsoft.com/office/drawing/2014/main" val="2592534283"/>
                  </a:ext>
                </a:extLst>
              </a:tr>
            </a:tbl>
          </a:graphicData>
        </a:graphic>
      </p:graphicFrame>
    </p:spTree>
    <p:extLst>
      <p:ext uri="{BB962C8B-B14F-4D97-AF65-F5344CB8AC3E}">
        <p14:creationId xmlns:p14="http://schemas.microsoft.com/office/powerpoint/2010/main" val="481220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style>
          <a:lnRef idx="0">
            <a:schemeClr val="accent5"/>
          </a:lnRef>
          <a:fillRef idx="3">
            <a:schemeClr val="accent5"/>
          </a:fillRef>
          <a:effectRef idx="3">
            <a:schemeClr val="accent5"/>
          </a:effectRef>
          <a:fontRef idx="minor">
            <a:schemeClr val="lt1"/>
          </a:fontRef>
        </p:style>
        <p:txBody>
          <a:bodyPr>
            <a:normAutofit/>
          </a:bodyPr>
          <a:lstStyle/>
          <a:p>
            <a:r>
              <a:rPr lang="en-US" sz="2800" b="1" dirty="0">
                <a:solidFill>
                  <a:schemeClr val="tx1"/>
                </a:solidFill>
              </a:rPr>
              <a:t>Questions to ask when analyzing </a:t>
            </a:r>
            <a:br>
              <a:rPr lang="en-US" sz="2800" b="1" dirty="0">
                <a:solidFill>
                  <a:schemeClr val="tx1"/>
                </a:solidFill>
              </a:rPr>
            </a:br>
            <a:r>
              <a:rPr lang="en-US" sz="2800" b="1" dirty="0">
                <a:solidFill>
                  <a:schemeClr val="tx1"/>
                </a:solidFill>
              </a:rPr>
              <a:t>information in general:</a:t>
            </a:r>
          </a:p>
        </p:txBody>
      </p:sp>
      <p:sp>
        <p:nvSpPr>
          <p:cNvPr id="3" name="Content Placeholder 2"/>
          <p:cNvSpPr>
            <a:spLocks noGrp="1"/>
          </p:cNvSpPr>
          <p:nvPr>
            <p:ph idx="1"/>
          </p:nvPr>
        </p:nvSpPr>
        <p:spPr>
          <a:solidFill>
            <a:schemeClr val="bg1"/>
          </a:solidFill>
        </p:spPr>
        <p:style>
          <a:lnRef idx="1">
            <a:schemeClr val="accent5"/>
          </a:lnRef>
          <a:fillRef idx="2">
            <a:schemeClr val="accent5"/>
          </a:fillRef>
          <a:effectRef idx="1">
            <a:schemeClr val="accent5"/>
          </a:effectRef>
          <a:fontRef idx="minor">
            <a:schemeClr val="dk1"/>
          </a:fontRef>
        </p:style>
        <p:txBody>
          <a:bodyPr>
            <a:normAutofit/>
          </a:bodyPr>
          <a:lstStyle/>
          <a:p>
            <a:pPr>
              <a:buNone/>
            </a:pPr>
            <a:endParaRPr lang="en-US" dirty="0"/>
          </a:p>
          <a:p>
            <a:pPr>
              <a:buNone/>
            </a:pPr>
            <a:endParaRPr lang="en-US" dirty="0"/>
          </a:p>
        </p:txBody>
      </p:sp>
      <p:graphicFrame>
        <p:nvGraphicFramePr>
          <p:cNvPr id="4" name="Table 4">
            <a:extLst>
              <a:ext uri="{FF2B5EF4-FFF2-40B4-BE49-F238E27FC236}">
                <a16:creationId xmlns:a16="http://schemas.microsoft.com/office/drawing/2014/main" id="{2A80676F-B6AA-4118-B43B-49B685D8532E}"/>
              </a:ext>
            </a:extLst>
          </p:cNvPr>
          <p:cNvGraphicFramePr>
            <a:graphicFrameLocks noGrp="1"/>
          </p:cNvGraphicFramePr>
          <p:nvPr>
            <p:extLst>
              <p:ext uri="{D42A27DB-BD31-4B8C-83A1-F6EECF244321}">
                <p14:modId xmlns:p14="http://schemas.microsoft.com/office/powerpoint/2010/main" val="4115273528"/>
              </p:ext>
            </p:extLst>
          </p:nvPr>
        </p:nvGraphicFramePr>
        <p:xfrm>
          <a:off x="323528" y="1600200"/>
          <a:ext cx="8568952" cy="4853136"/>
        </p:xfrm>
        <a:graphic>
          <a:graphicData uri="http://schemas.openxmlformats.org/drawingml/2006/table">
            <a:tbl>
              <a:tblPr firstRow="1" bandRow="1">
                <a:tableStyleId>{5C22544A-7EE6-4342-B048-85BDC9FD1C3A}</a:tableStyleId>
              </a:tblPr>
              <a:tblGrid>
                <a:gridCol w="4284476">
                  <a:extLst>
                    <a:ext uri="{9D8B030D-6E8A-4147-A177-3AD203B41FA5}">
                      <a16:colId xmlns:a16="http://schemas.microsoft.com/office/drawing/2014/main" val="879786169"/>
                    </a:ext>
                  </a:extLst>
                </a:gridCol>
                <a:gridCol w="4284476">
                  <a:extLst>
                    <a:ext uri="{9D8B030D-6E8A-4147-A177-3AD203B41FA5}">
                      <a16:colId xmlns:a16="http://schemas.microsoft.com/office/drawing/2014/main" val="3458758887"/>
                    </a:ext>
                  </a:extLst>
                </a:gridCol>
              </a:tblGrid>
              <a:tr h="4853136">
                <a:tc>
                  <a:txBody>
                    <a:bodyPr/>
                    <a:lstStyle/>
                    <a:p>
                      <a:pPr>
                        <a:buNone/>
                      </a:pPr>
                      <a:r>
                        <a:rPr lang="en-US" b="1" dirty="0">
                          <a:solidFill>
                            <a:schemeClr val="accent2"/>
                          </a:solidFill>
                        </a:rPr>
                        <a:t>3. </a:t>
                      </a:r>
                      <a:r>
                        <a:rPr lang="en-US" b="1" u="sng" dirty="0">
                          <a:solidFill>
                            <a:schemeClr val="accent2"/>
                          </a:solidFill>
                        </a:rPr>
                        <a:t>Is the information truthful &amp; objective?</a:t>
                      </a:r>
                    </a:p>
                    <a:p>
                      <a:pPr marL="285750" indent="-285750">
                        <a:buFont typeface="Arial" panose="020B0604020202020204" pitchFamily="34" charset="0"/>
                        <a:buChar char="•"/>
                      </a:pPr>
                      <a:r>
                        <a:rPr lang="en-US" b="0" dirty="0">
                          <a:solidFill>
                            <a:schemeClr val="tx1"/>
                          </a:solidFill>
                        </a:rPr>
                        <a:t>Does the report present more than one side of the issues?</a:t>
                      </a:r>
                    </a:p>
                    <a:p>
                      <a:pPr marL="0" indent="0">
                        <a:buFont typeface="Arial" panose="020B0604020202020204" pitchFamily="34" charset="0"/>
                        <a:buNone/>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Was the data gathered objectively?</a:t>
                      </a:r>
                    </a:p>
                    <a:p>
                      <a:pPr lvl="1"/>
                      <a:r>
                        <a:rPr lang="en-US" b="0" dirty="0">
                          <a:solidFill>
                            <a:schemeClr val="tx1"/>
                          </a:solidFill>
                        </a:rPr>
                        <a:t>If the survey uses biased questions such as “Should UCT reduce its excessive fees for activities?”, it </a:t>
                      </a:r>
                      <a:r>
                        <a:rPr lang="en-US" b="0" u="sng" dirty="0">
                          <a:solidFill>
                            <a:schemeClr val="tx1"/>
                          </a:solidFill>
                        </a:rPr>
                        <a:t>lacks objectivity</a:t>
                      </a:r>
                      <a:r>
                        <a:rPr lang="en-US" b="0" dirty="0">
                          <a:solidFill>
                            <a:schemeClr val="tx1"/>
                          </a:solidFill>
                        </a:rPr>
                        <a:t>.</a:t>
                      </a:r>
                    </a:p>
                    <a:p>
                      <a:endParaRPr lang="en-GB" dirty="0"/>
                    </a:p>
                  </a:txBody>
                  <a:tcPr>
                    <a:solidFill>
                      <a:schemeClr val="bg1"/>
                    </a:solidFill>
                  </a:tcPr>
                </a:tc>
                <a:tc>
                  <a:txBody>
                    <a:bodyPr/>
                    <a:lstStyle/>
                    <a:p>
                      <a:pPr>
                        <a:buNone/>
                      </a:pPr>
                      <a:r>
                        <a:rPr lang="en-US" b="1" dirty="0">
                          <a:solidFill>
                            <a:schemeClr val="accent2"/>
                          </a:solidFill>
                        </a:rPr>
                        <a:t>4. </a:t>
                      </a:r>
                      <a:r>
                        <a:rPr lang="en-US" b="1" u="sng" dirty="0">
                          <a:solidFill>
                            <a:schemeClr val="accent2"/>
                          </a:solidFill>
                        </a:rPr>
                        <a:t>Is the information sufficient?</a:t>
                      </a:r>
                    </a:p>
                    <a:p>
                      <a:pPr marL="285750" indent="-285750">
                        <a:buFont typeface="Arial" panose="020B0604020202020204" pitchFamily="34" charset="0"/>
                        <a:buChar char="•"/>
                      </a:pPr>
                      <a:r>
                        <a:rPr lang="en-US" b="0" dirty="0">
                          <a:solidFill>
                            <a:schemeClr val="tx1"/>
                          </a:solidFill>
                        </a:rPr>
                        <a:t>How much information is enough depends on the questions involved and what you need to know about them.</a:t>
                      </a:r>
                    </a:p>
                    <a:p>
                      <a:pPr lvl="1">
                        <a:buNone/>
                      </a:pPr>
                      <a:endParaRPr lang="en-US" b="0" dirty="0">
                        <a:solidFill>
                          <a:schemeClr val="tx1"/>
                        </a:solidFill>
                      </a:endParaRPr>
                    </a:p>
                    <a:p>
                      <a:pPr lvl="1"/>
                      <a:r>
                        <a:rPr lang="en-US" b="0" dirty="0">
                          <a:solidFill>
                            <a:schemeClr val="tx1"/>
                          </a:solidFill>
                        </a:rPr>
                        <a:t>- Are the questions inclusive?</a:t>
                      </a:r>
                    </a:p>
                    <a:p>
                      <a:pPr lvl="1">
                        <a:buNone/>
                      </a:pPr>
                      <a:endParaRPr lang="en-US" b="0" dirty="0">
                        <a:solidFill>
                          <a:schemeClr val="tx1"/>
                        </a:solidFill>
                      </a:endParaRPr>
                    </a:p>
                    <a:p>
                      <a:pPr lvl="1"/>
                      <a:r>
                        <a:rPr lang="en-US" b="0" dirty="0">
                          <a:solidFill>
                            <a:schemeClr val="tx1"/>
                          </a:solidFill>
                        </a:rPr>
                        <a:t>- Do they focus on facts, values, or policies?</a:t>
                      </a:r>
                    </a:p>
                    <a:p>
                      <a:pPr lvl="1">
                        <a:buNone/>
                      </a:pPr>
                      <a:endParaRPr lang="en-US" b="0" dirty="0">
                        <a:solidFill>
                          <a:schemeClr val="tx1"/>
                        </a:solidFill>
                      </a:endParaRPr>
                    </a:p>
                    <a:p>
                      <a:pPr lvl="1"/>
                      <a:r>
                        <a:rPr lang="en-US" b="0" dirty="0">
                          <a:solidFill>
                            <a:schemeClr val="tx1"/>
                          </a:solidFill>
                        </a:rPr>
                        <a:t>- What more might you need to know?</a:t>
                      </a:r>
                    </a:p>
                    <a:p>
                      <a:endParaRPr lang="en-GB" dirty="0"/>
                    </a:p>
                  </a:txBody>
                  <a:tcPr>
                    <a:solidFill>
                      <a:schemeClr val="bg1"/>
                    </a:solidFill>
                  </a:tcPr>
                </a:tc>
                <a:extLst>
                  <a:ext uri="{0D108BD9-81ED-4DB2-BD59-A6C34878D82A}">
                    <a16:rowId xmlns:a16="http://schemas.microsoft.com/office/drawing/2014/main" val="2024060142"/>
                  </a:ext>
                </a:extLst>
              </a:tr>
            </a:tbl>
          </a:graphicData>
        </a:graphic>
      </p:graphicFrame>
      <p:pic>
        <p:nvPicPr>
          <p:cNvPr id="6" name="Picture 5">
            <a:extLst>
              <a:ext uri="{FF2B5EF4-FFF2-40B4-BE49-F238E27FC236}">
                <a16:creationId xmlns:a16="http://schemas.microsoft.com/office/drawing/2014/main" id="{F44B9D46-568F-4221-A330-209C589D29B9}"/>
              </a:ext>
            </a:extLst>
          </p:cNvPr>
          <p:cNvPicPr>
            <a:picLocks noChangeAspect="1"/>
          </p:cNvPicPr>
          <p:nvPr/>
        </p:nvPicPr>
        <p:blipFill>
          <a:blip r:embed="rId2"/>
          <a:stretch>
            <a:fillRect/>
          </a:stretch>
        </p:blipFill>
        <p:spPr>
          <a:xfrm>
            <a:off x="755577" y="4437111"/>
            <a:ext cx="3456384" cy="1893573"/>
          </a:xfrm>
          <a:prstGeom prst="rect">
            <a:avLst/>
          </a:prstGeom>
        </p:spPr>
      </p:pic>
    </p:spTree>
    <p:extLst>
      <p:ext uri="{BB962C8B-B14F-4D97-AF65-F5344CB8AC3E}">
        <p14:creationId xmlns:p14="http://schemas.microsoft.com/office/powerpoint/2010/main" val="3977805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style>
          <a:lnRef idx="0">
            <a:schemeClr val="accent5"/>
          </a:lnRef>
          <a:fillRef idx="3">
            <a:schemeClr val="accent5"/>
          </a:fillRef>
          <a:effectRef idx="3">
            <a:schemeClr val="accent5"/>
          </a:effectRef>
          <a:fontRef idx="minor">
            <a:schemeClr val="lt1"/>
          </a:fontRef>
        </p:style>
        <p:txBody>
          <a:bodyPr/>
          <a:lstStyle/>
          <a:p>
            <a:r>
              <a:rPr lang="en-US" b="1" dirty="0">
                <a:solidFill>
                  <a:schemeClr val="tx1"/>
                </a:solidFill>
              </a:rPr>
              <a:t>Internet information</a:t>
            </a:r>
          </a:p>
        </p:txBody>
      </p:sp>
      <p:graphicFrame>
        <p:nvGraphicFramePr>
          <p:cNvPr id="6" name="Table 6">
            <a:extLst>
              <a:ext uri="{FF2B5EF4-FFF2-40B4-BE49-F238E27FC236}">
                <a16:creationId xmlns:a16="http://schemas.microsoft.com/office/drawing/2014/main" id="{B607E786-AD98-4D9B-A06E-92DD83DD3755}"/>
              </a:ext>
            </a:extLst>
          </p:cNvPr>
          <p:cNvGraphicFramePr>
            <a:graphicFrameLocks noGrp="1"/>
          </p:cNvGraphicFramePr>
          <p:nvPr>
            <p:ph idx="1"/>
            <p:extLst>
              <p:ext uri="{D42A27DB-BD31-4B8C-83A1-F6EECF244321}">
                <p14:modId xmlns:p14="http://schemas.microsoft.com/office/powerpoint/2010/main" val="2244191952"/>
              </p:ext>
            </p:extLst>
          </p:nvPr>
        </p:nvGraphicFramePr>
        <p:xfrm>
          <a:off x="467419" y="1542698"/>
          <a:ext cx="8229600" cy="50292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1901972122"/>
                    </a:ext>
                  </a:extLst>
                </a:gridCol>
                <a:gridCol w="4114800">
                  <a:extLst>
                    <a:ext uri="{9D8B030D-6E8A-4147-A177-3AD203B41FA5}">
                      <a16:colId xmlns:a16="http://schemas.microsoft.com/office/drawing/2014/main" val="825974633"/>
                    </a:ext>
                  </a:extLst>
                </a:gridCol>
              </a:tblGrid>
              <a:tr h="4853136">
                <a:tc>
                  <a:txBody>
                    <a:bodyPr/>
                    <a:lstStyle/>
                    <a:p>
                      <a:r>
                        <a:rPr lang="en-US" b="0" dirty="0">
                          <a:solidFill>
                            <a:schemeClr val="tx1"/>
                          </a:solidFill>
                        </a:rPr>
                        <a:t>Web sites are often cited as source of information.</a:t>
                      </a:r>
                    </a:p>
                    <a:p>
                      <a:pPr>
                        <a:buNone/>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BUT a website is just a site (virtual location)  not a source.</a:t>
                      </a:r>
                    </a:p>
                    <a:p>
                      <a:pPr marL="0" indent="0">
                        <a:buFont typeface="Arial" panose="020B0604020202020204" pitchFamily="34" charset="0"/>
                        <a:buNone/>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Saying that info comes from a specific site is like reporting which library a book comes from!</a:t>
                      </a:r>
                    </a:p>
                    <a:p>
                      <a:pPr>
                        <a:buNone/>
                      </a:pPr>
                      <a:endParaRPr lang="en-US" b="0" dirty="0">
                        <a:solidFill>
                          <a:schemeClr val="tx1"/>
                        </a:solidFill>
                      </a:endParaRPr>
                    </a:p>
                    <a:p>
                      <a:pPr marL="285750" indent="-285750">
                        <a:buFont typeface="Arial" panose="020B0604020202020204" pitchFamily="34" charset="0"/>
                        <a:buChar char="•"/>
                      </a:pPr>
                      <a:r>
                        <a:rPr lang="en-US" b="0" dirty="0">
                          <a:solidFill>
                            <a:schemeClr val="tx1"/>
                          </a:solidFill>
                        </a:rPr>
                        <a:t>You need to know who wrote or who prepared the material you found at that location, &amp; you need to apply the </a:t>
                      </a:r>
                      <a:r>
                        <a:rPr lang="en-US" b="1" dirty="0">
                          <a:solidFill>
                            <a:schemeClr val="tx1"/>
                          </a:solidFill>
                        </a:rPr>
                        <a:t>criteria</a:t>
                      </a:r>
                      <a:r>
                        <a:rPr lang="en-US" b="0" dirty="0">
                          <a:solidFill>
                            <a:schemeClr val="tx1"/>
                          </a:solidFill>
                        </a:rPr>
                        <a:t> for analyzing the credibility of </a:t>
                      </a:r>
                      <a:r>
                        <a:rPr lang="en-US" b="0" u="sng" dirty="0">
                          <a:solidFill>
                            <a:schemeClr val="tx1"/>
                          </a:solidFill>
                        </a:rPr>
                        <a:t>the source </a:t>
                      </a:r>
                      <a:r>
                        <a:rPr lang="en-US" b="0" dirty="0">
                          <a:solidFill>
                            <a:schemeClr val="tx1"/>
                          </a:solidFill>
                        </a:rPr>
                        <a:t>&amp; the </a:t>
                      </a:r>
                      <a:r>
                        <a:rPr lang="en-US" b="0" u="sng" dirty="0">
                          <a:solidFill>
                            <a:schemeClr val="tx1"/>
                          </a:solidFill>
                        </a:rPr>
                        <a:t>quality of the information </a:t>
                      </a:r>
                      <a:r>
                        <a:rPr lang="en-US" b="0" dirty="0">
                          <a:solidFill>
                            <a:schemeClr val="tx1"/>
                          </a:solidFill>
                        </a:rPr>
                        <a:t>developed in the previous sections.</a:t>
                      </a:r>
                    </a:p>
                    <a:p>
                      <a:endParaRPr lang="en-GB" dirty="0"/>
                    </a:p>
                  </a:txBody>
                  <a:tcPr>
                    <a:solidFill>
                      <a:schemeClr val="bg1"/>
                    </a:solidFill>
                  </a:tcPr>
                </a:tc>
                <a:tc>
                  <a:txBody>
                    <a:bodyPr/>
                    <a:lstStyle/>
                    <a:p>
                      <a:endParaRPr lang="en-GB" dirty="0"/>
                    </a:p>
                  </a:txBody>
                  <a:tcPr>
                    <a:solidFill>
                      <a:schemeClr val="bg1"/>
                    </a:solidFill>
                  </a:tcPr>
                </a:tc>
                <a:extLst>
                  <a:ext uri="{0D108BD9-81ED-4DB2-BD59-A6C34878D82A}">
                    <a16:rowId xmlns:a16="http://schemas.microsoft.com/office/drawing/2014/main" val="2522793433"/>
                  </a:ext>
                </a:extLst>
              </a:tr>
            </a:tbl>
          </a:graphicData>
        </a:graphic>
      </p:graphicFrame>
      <p:pic>
        <p:nvPicPr>
          <p:cNvPr id="4" name="Picture 3">
            <a:extLst>
              <a:ext uri="{FF2B5EF4-FFF2-40B4-BE49-F238E27FC236}">
                <a16:creationId xmlns:a16="http://schemas.microsoft.com/office/drawing/2014/main" id="{3766A7C8-0F28-47D5-AF4E-7821EB7CC491}"/>
              </a:ext>
            </a:extLst>
          </p:cNvPr>
          <p:cNvPicPr>
            <a:picLocks noChangeAspect="1"/>
          </p:cNvPicPr>
          <p:nvPr/>
        </p:nvPicPr>
        <p:blipFill>
          <a:blip r:embed="rId2"/>
          <a:stretch>
            <a:fillRect/>
          </a:stretch>
        </p:blipFill>
        <p:spPr>
          <a:xfrm>
            <a:off x="4716016" y="2852936"/>
            <a:ext cx="4427984" cy="1914525"/>
          </a:xfrm>
          <a:prstGeom prst="rect">
            <a:avLst/>
          </a:prstGeom>
        </p:spPr>
      </p:pic>
    </p:spTree>
    <p:extLst>
      <p:ext uri="{BB962C8B-B14F-4D97-AF65-F5344CB8AC3E}">
        <p14:creationId xmlns:p14="http://schemas.microsoft.com/office/powerpoint/2010/main" val="3228771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style>
          <a:lnRef idx="0">
            <a:schemeClr val="accent5"/>
          </a:lnRef>
          <a:fillRef idx="3">
            <a:schemeClr val="accent5"/>
          </a:fillRef>
          <a:effectRef idx="3">
            <a:schemeClr val="accent5"/>
          </a:effectRef>
          <a:fontRef idx="minor">
            <a:schemeClr val="lt1"/>
          </a:fontRef>
        </p:style>
        <p:txBody>
          <a:bodyPr/>
          <a:lstStyle/>
          <a:p>
            <a:r>
              <a:rPr lang="en-US" b="1" dirty="0">
                <a:solidFill>
                  <a:schemeClr val="tx1"/>
                </a:solidFill>
              </a:rPr>
              <a:t>Internet information</a:t>
            </a:r>
          </a:p>
        </p:txBody>
      </p:sp>
      <p:sp>
        <p:nvSpPr>
          <p:cNvPr id="3" name="Content Placeholder 2"/>
          <p:cNvSpPr>
            <a:spLocks noGrp="1"/>
          </p:cNvSpPr>
          <p:nvPr>
            <p:ph idx="1"/>
          </p:nvPr>
        </p:nvSpPr>
        <p:spPr>
          <a:xfrm>
            <a:off x="611560" y="1628800"/>
            <a:ext cx="7355160" cy="4525963"/>
          </a:xfrm>
          <a:solidFill>
            <a:schemeClr val="bg1"/>
          </a:solidFill>
        </p:spPr>
        <p:style>
          <a:lnRef idx="1">
            <a:schemeClr val="accent5"/>
          </a:lnRef>
          <a:fillRef idx="2">
            <a:schemeClr val="accent5"/>
          </a:fillRef>
          <a:effectRef idx="1">
            <a:schemeClr val="accent5"/>
          </a:effectRef>
          <a:fontRef idx="minor">
            <a:schemeClr val="dk1"/>
          </a:fontRef>
        </p:style>
        <p:txBody>
          <a:bodyPr>
            <a:normAutofit/>
          </a:bodyPr>
          <a:lstStyle/>
          <a:p>
            <a:pPr>
              <a:buNone/>
            </a:pPr>
            <a:r>
              <a:rPr lang="en-US" sz="2400" dirty="0"/>
              <a:t>Internet information raises these additional concerns:</a:t>
            </a:r>
          </a:p>
          <a:p>
            <a:pPr>
              <a:buNone/>
            </a:pPr>
            <a:endParaRPr lang="en-US" sz="2800" dirty="0"/>
          </a:p>
        </p:txBody>
      </p:sp>
      <p:graphicFrame>
        <p:nvGraphicFramePr>
          <p:cNvPr id="4" name="Diagram 3"/>
          <p:cNvGraphicFramePr/>
          <p:nvPr>
            <p:extLst>
              <p:ext uri="{D42A27DB-BD31-4B8C-83A1-F6EECF244321}">
                <p14:modId xmlns:p14="http://schemas.microsoft.com/office/powerpoint/2010/main" val="2218154096"/>
              </p:ext>
            </p:extLst>
          </p:nvPr>
        </p:nvGraphicFramePr>
        <p:xfrm>
          <a:off x="611560" y="2132856"/>
          <a:ext cx="6984776" cy="36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3365316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329</TotalTime>
  <Words>1580</Words>
  <Application>Microsoft Office PowerPoint</Application>
  <PresentationFormat>On-screen Show (4:3)</PresentationFormat>
  <Paragraphs>192</Paragraphs>
  <Slides>20</Slides>
  <Notes>0</Notes>
  <HiddenSlides>0</HiddenSlides>
  <MMClips>0</MMClips>
  <ScaleCrop>false</ScaleCrop>
  <HeadingPairs>
    <vt:vector size="6" baseType="variant">
      <vt:variant>
        <vt:lpstr>Fonts Used</vt:lpstr>
      </vt:variant>
      <vt:variant>
        <vt:i4>4</vt:i4>
      </vt:variant>
      <vt:variant>
        <vt:lpstr>Theme</vt:lpstr>
      </vt:variant>
      <vt:variant>
        <vt:i4>7</vt:i4>
      </vt:variant>
      <vt:variant>
        <vt:lpstr>Slide Titles</vt:lpstr>
      </vt:variant>
      <vt:variant>
        <vt:i4>20</vt:i4>
      </vt:variant>
    </vt:vector>
  </HeadingPairs>
  <TitlesOfParts>
    <vt:vector size="31" baseType="lpstr">
      <vt:lpstr>Arial</vt:lpstr>
      <vt:lpstr>Bradley Hand ITC</vt:lpstr>
      <vt:lpstr>Calibri</vt:lpstr>
      <vt:lpstr>Wingdings</vt:lpstr>
      <vt:lpstr>1_Office Theme</vt:lpstr>
      <vt:lpstr>Office Theme</vt:lpstr>
      <vt:lpstr>2_Office Theme</vt:lpstr>
      <vt:lpstr>4_Office Theme</vt:lpstr>
      <vt:lpstr>5_Office Theme</vt:lpstr>
      <vt:lpstr>6_Office Theme</vt:lpstr>
      <vt:lpstr>7_Office Theme</vt:lpstr>
      <vt:lpstr>  Critical Thinking Skills  PART 1 – Evaluating information critically    </vt:lpstr>
      <vt:lpstr>Critical thinking: Learner outcomes</vt:lpstr>
      <vt:lpstr>.</vt:lpstr>
      <vt:lpstr>Introduction</vt:lpstr>
      <vt:lpstr>Evaluating information critically</vt:lpstr>
      <vt:lpstr>Criteria for analysis</vt:lpstr>
      <vt:lpstr>The information’s source</vt:lpstr>
      <vt:lpstr>The information’s source: 3 broad categories of criteria</vt:lpstr>
      <vt:lpstr>3 broad categories examined:</vt:lpstr>
      <vt:lpstr>3 broad categories examined:</vt:lpstr>
      <vt:lpstr>Karl Wallace criteria</vt:lpstr>
      <vt:lpstr>Karl Wallace criteria</vt:lpstr>
      <vt:lpstr> 3. Ethical inferences </vt:lpstr>
      <vt:lpstr>Ethical inferences cont… </vt:lpstr>
      <vt:lpstr>The information itself</vt:lpstr>
      <vt:lpstr>So how do you assess probability?</vt:lpstr>
      <vt:lpstr>Questions to ask when analyzing  information in general:</vt:lpstr>
      <vt:lpstr>Questions to ask when analyzing  information in general:</vt:lpstr>
      <vt:lpstr>Internet information</vt:lpstr>
      <vt:lpstr>Internet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Critical thinking skills</dc:title>
  <dc:creator>Admin</dc:creator>
  <cp:lastModifiedBy>Nicole Wessels</cp:lastModifiedBy>
  <cp:revision>7</cp:revision>
  <dcterms:created xsi:type="dcterms:W3CDTF">2016-03-08T09:39:30Z</dcterms:created>
  <dcterms:modified xsi:type="dcterms:W3CDTF">2022-04-22T07:52:52Z</dcterms:modified>
</cp:coreProperties>
</file>