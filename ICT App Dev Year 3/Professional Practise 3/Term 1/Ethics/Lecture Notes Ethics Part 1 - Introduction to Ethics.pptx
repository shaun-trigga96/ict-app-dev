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6" r:id="rId3"/>
    <p:sldId id="257" r:id="rId4"/>
    <p:sldId id="258" r:id="rId5"/>
    <p:sldId id="259" r:id="rId6"/>
    <p:sldId id="260" r:id="rId7"/>
    <p:sldId id="261" r:id="rId8"/>
    <p:sldId id="262" r:id="rId9"/>
    <p:sldId id="263" r:id="rId10"/>
    <p:sldId id="264" r:id="rId11"/>
    <p:sldId id="277" r:id="rId12"/>
    <p:sldId id="265" r:id="rId13"/>
    <p:sldId id="266" r:id="rId14"/>
    <p:sldId id="267" r:id="rId15"/>
    <p:sldId id="268" r:id="rId16"/>
    <p:sldId id="269" r:id="rId17"/>
    <p:sldId id="270" r:id="rId18"/>
    <p:sldId id="271" r:id="rId19"/>
    <p:sldId id="272" r:id="rId20"/>
    <p:sldId id="273" r:id="rId21"/>
    <p:sldId id="274" r:id="rId22"/>
    <p:sldId id="27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66"/>
    <a:srgbClr val="CC0066"/>
    <a:srgbClr val="006699"/>
    <a:srgbClr val="003366"/>
    <a:srgbClr val="006666"/>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FADD3F-5002-446D-B597-6E10CF7AB35E}" type="datetimeFigureOut">
              <a:rPr lang="en-ZA" smtClean="0"/>
              <a:t>2021/04/15</a:t>
            </a:fld>
            <a:endParaRPr lang="en-Z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C0FBFF-1F63-44B6-90A3-661C15FF3C2A}" type="slidenum">
              <a:rPr lang="en-ZA" smtClean="0"/>
              <a:t>‹#›</a:t>
            </a:fld>
            <a:endParaRPr lang="en-ZA"/>
          </a:p>
        </p:txBody>
      </p:sp>
    </p:spTree>
    <p:extLst>
      <p:ext uri="{BB962C8B-B14F-4D97-AF65-F5344CB8AC3E}">
        <p14:creationId xmlns:p14="http://schemas.microsoft.com/office/powerpoint/2010/main" val="1842335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42C0FBFF-1F63-44B6-90A3-661C15FF3C2A}" type="slidenum">
              <a:rPr lang="en-ZA" smtClean="0"/>
              <a:t>5</a:t>
            </a:fld>
            <a:endParaRPr lang="en-ZA"/>
          </a:p>
        </p:txBody>
      </p:sp>
    </p:spTree>
    <p:extLst>
      <p:ext uri="{BB962C8B-B14F-4D97-AF65-F5344CB8AC3E}">
        <p14:creationId xmlns:p14="http://schemas.microsoft.com/office/powerpoint/2010/main" val="2071144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6C2140AF-ABA0-43F1-83E1-1A44FD4D77D5}" type="datetimeFigureOut">
              <a:rPr lang="en-ZA" smtClean="0"/>
              <a:t>2021/04/15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1356518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6C2140AF-ABA0-43F1-83E1-1A44FD4D77D5}" type="datetimeFigureOut">
              <a:rPr lang="en-ZA" smtClean="0"/>
              <a:t>2021/04/15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3124036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140AF-ABA0-43F1-83E1-1A44FD4D77D5}" type="datetimeFigureOut">
              <a:rPr lang="en-ZA" smtClean="0"/>
              <a:t>2021/04/15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2951421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fld id="{6C2140AF-ABA0-43F1-83E1-1A44FD4D77D5}" type="datetimeFigureOut">
              <a:rPr lang="en-ZA" smtClean="0"/>
              <a:t>2021/04/15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2106334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fld id="{6C2140AF-ABA0-43F1-83E1-1A44FD4D77D5}" type="datetimeFigureOut">
              <a:rPr lang="en-ZA" smtClean="0"/>
              <a:t>2021/04/15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2526895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6C2140AF-ABA0-43F1-83E1-1A44FD4D77D5}" type="datetimeFigureOut">
              <a:rPr lang="en-ZA" smtClean="0"/>
              <a:t>2021/04/15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4194496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2140AF-ABA0-43F1-83E1-1A44FD4D77D5}" type="datetimeFigureOut">
              <a:rPr lang="en-ZA" smtClean="0"/>
              <a:t>2021/04/15</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3177548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2140AF-ABA0-43F1-83E1-1A44FD4D77D5}" type="datetimeFigureOut">
              <a:rPr lang="en-ZA" smtClean="0"/>
              <a:t>2021/04/15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1737114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2140AF-ABA0-43F1-83E1-1A44FD4D77D5}" type="datetimeFigureOut">
              <a:rPr lang="en-ZA" smtClean="0"/>
              <a:t>2021/04/15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35780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6C2140AF-ABA0-43F1-83E1-1A44FD4D77D5}" type="datetimeFigureOut">
              <a:rPr lang="en-ZA" smtClean="0"/>
              <a:t>2021/04/15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4127093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6C2140AF-ABA0-43F1-83E1-1A44FD4D77D5}" type="datetimeFigureOut">
              <a:rPr lang="en-ZA" smtClean="0"/>
              <a:t>2021/04/15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CBC8ECD-F977-4905-9A65-C85709C921B2}" type="slidenum">
              <a:rPr lang="en-ZA" smtClean="0"/>
              <a:t>‹#›</a:t>
            </a:fld>
            <a:endParaRPr lang="en-ZA"/>
          </a:p>
        </p:txBody>
      </p:sp>
    </p:spTree>
    <p:extLst>
      <p:ext uri="{BB962C8B-B14F-4D97-AF65-F5344CB8AC3E}">
        <p14:creationId xmlns:p14="http://schemas.microsoft.com/office/powerpoint/2010/main" val="3271135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2140AF-ABA0-43F1-83E1-1A44FD4D77D5}" type="datetimeFigureOut">
              <a:rPr lang="en-ZA" smtClean="0"/>
              <a:t>2021/04/15</a:t>
            </a:fld>
            <a:endParaRPr lang="en-Z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C8ECD-F977-4905-9A65-C85709C921B2}" type="slidenum">
              <a:rPr lang="en-ZA" smtClean="0"/>
              <a:t>‹#›</a:t>
            </a:fld>
            <a:endParaRPr lang="en-ZA"/>
          </a:p>
        </p:txBody>
      </p:sp>
    </p:spTree>
    <p:extLst>
      <p:ext uri="{BB962C8B-B14F-4D97-AF65-F5344CB8AC3E}">
        <p14:creationId xmlns:p14="http://schemas.microsoft.com/office/powerpoint/2010/main" val="2415474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ZA" b="1" dirty="0"/>
              <a:t>    Introduction to Ethics</a:t>
            </a:r>
          </a:p>
        </p:txBody>
      </p:sp>
      <p:sp>
        <p:nvSpPr>
          <p:cNvPr id="3" name="Subtitle 2"/>
          <p:cNvSpPr>
            <a:spLocks noGrp="1"/>
          </p:cNvSpPr>
          <p:nvPr>
            <p:ph type="subTitle" idx="1"/>
          </p:nvPr>
        </p:nvSpPr>
        <p:spPr>
          <a:xfrm>
            <a:off x="1371600" y="3886200"/>
            <a:ext cx="6400800" cy="1415008"/>
          </a:xfrm>
        </p:spPr>
        <p:txBody>
          <a:bodyPr>
            <a:normAutofit/>
          </a:bodyPr>
          <a:lstStyle/>
          <a:p>
            <a:r>
              <a:rPr lang="en-ZA" dirty="0"/>
              <a:t>Professional Practice 3</a:t>
            </a:r>
          </a:p>
          <a:p>
            <a:r>
              <a:rPr lang="en-ZA" dirty="0"/>
              <a:t>N. Wessels</a:t>
            </a:r>
          </a:p>
        </p:txBody>
      </p:sp>
      <p:pic>
        <p:nvPicPr>
          <p:cNvPr id="1026" name="Picture 2" descr="Image result for ethics gree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2502531" y="2619165"/>
            <a:ext cx="6480721" cy="1475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692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ZA" b="1" dirty="0"/>
              <a:t>Introduction</a:t>
            </a:r>
          </a:p>
        </p:txBody>
      </p:sp>
      <p:sp>
        <p:nvSpPr>
          <p:cNvPr id="3" name="Content Placeholder 2"/>
          <p:cNvSpPr>
            <a:spLocks noGrp="1"/>
          </p:cNvSpPr>
          <p:nvPr>
            <p:ph idx="1"/>
          </p:nvPr>
        </p:nvSpPr>
        <p:spPr>
          <a:xfrm>
            <a:off x="457200" y="1600200"/>
            <a:ext cx="8579296" cy="4853136"/>
          </a:xfrm>
        </p:spPr>
        <p:txBody>
          <a:bodyPr>
            <a:normAutofit fontScale="92500" lnSpcReduction="10000"/>
          </a:bodyPr>
          <a:lstStyle/>
          <a:p>
            <a:pPr marL="0" indent="0">
              <a:buNone/>
            </a:pPr>
            <a:r>
              <a:rPr lang="en-US" sz="2400" dirty="0"/>
              <a:t>According to the Centre of Ethics, ethics aims to answer one big question…</a:t>
            </a:r>
          </a:p>
          <a:p>
            <a:endParaRPr lang="en-US" sz="2400" dirty="0"/>
          </a:p>
          <a:p>
            <a:pPr marL="0" indent="0">
              <a:buNone/>
            </a:pPr>
            <a:r>
              <a:rPr lang="en-US" sz="2400" dirty="0"/>
              <a:t>			</a:t>
            </a:r>
            <a:r>
              <a:rPr lang="en-US" sz="2400" b="1" dirty="0">
                <a:solidFill>
                  <a:srgbClr val="C00000"/>
                </a:solidFill>
                <a:latin typeface="Arial Rounded MT Bold" panose="020F0704030504030204" pitchFamily="34" charset="0"/>
              </a:rPr>
              <a:t>How should I live?</a:t>
            </a:r>
          </a:p>
          <a:p>
            <a:pPr marL="0" lvl="0" indent="0">
              <a:buNone/>
            </a:pPr>
            <a:r>
              <a:rPr lang="en-ZA" sz="2400" dirty="0"/>
              <a:t>				        </a:t>
            </a:r>
            <a:r>
              <a:rPr lang="en-US" sz="1500" b="1" dirty="0">
                <a:solidFill>
                  <a:srgbClr val="006699"/>
                </a:solidFill>
                <a:latin typeface="Arial Rounded MT Bold" panose="020F0704030504030204" pitchFamily="34" charset="0"/>
              </a:rPr>
              <a:t>http://www.ethics.org.au/about/what-is-ethics</a:t>
            </a:r>
          </a:p>
          <a:p>
            <a:pPr marL="0" indent="0">
              <a:buNone/>
            </a:pPr>
            <a:endParaRPr lang="en-ZA" sz="2400" dirty="0"/>
          </a:p>
          <a:p>
            <a:pPr marL="0" indent="0">
              <a:buNone/>
            </a:pPr>
            <a:r>
              <a:rPr lang="en-ZA" sz="2400" dirty="0"/>
              <a:t>Ethical beliefs shape the way we live – what we do, what we make and the </a:t>
            </a:r>
            <a:r>
              <a:rPr lang="en-ZA" sz="2400" b="1" dirty="0"/>
              <a:t>world we create</a:t>
            </a:r>
            <a:r>
              <a:rPr lang="en-ZA" sz="2400" b="1" dirty="0">
                <a:solidFill>
                  <a:srgbClr val="FF0000"/>
                </a:solidFill>
              </a:rPr>
              <a:t> </a:t>
            </a:r>
            <a:r>
              <a:rPr lang="en-ZA" sz="2400" dirty="0"/>
              <a:t>through our choices.</a:t>
            </a:r>
          </a:p>
          <a:p>
            <a:pPr marL="0" indent="0">
              <a:buNone/>
            </a:pPr>
            <a:endParaRPr lang="en-ZA" b="1" dirty="0">
              <a:solidFill>
                <a:srgbClr val="C00000"/>
              </a:solidFill>
              <a:latin typeface="Arial Rounded MT Bold" panose="020F0704030504030204" pitchFamily="34" charset="0"/>
            </a:endParaRPr>
          </a:p>
          <a:p>
            <a:pPr marL="0" lvl="0" indent="0">
              <a:buNone/>
            </a:pPr>
            <a:r>
              <a:rPr lang="en-US" sz="2000" dirty="0">
                <a:solidFill>
                  <a:prstClr val="black"/>
                </a:solidFill>
              </a:rPr>
              <a:t>The term is derived from the Greek word </a:t>
            </a:r>
            <a:r>
              <a:rPr lang="en-US" sz="2000" i="1" dirty="0">
                <a:solidFill>
                  <a:prstClr val="black"/>
                </a:solidFill>
              </a:rPr>
              <a:t>ethos</a:t>
            </a:r>
            <a:r>
              <a:rPr lang="en-US" sz="2000" dirty="0">
                <a:solidFill>
                  <a:prstClr val="black"/>
                </a:solidFill>
              </a:rPr>
              <a:t> which can mean custom, habit, </a:t>
            </a:r>
            <a:r>
              <a:rPr lang="en-US" sz="2000" b="1" dirty="0">
                <a:solidFill>
                  <a:prstClr val="black"/>
                </a:solidFill>
              </a:rPr>
              <a:t>character</a:t>
            </a:r>
            <a:r>
              <a:rPr lang="en-US" sz="2000" dirty="0">
                <a:solidFill>
                  <a:prstClr val="black"/>
                </a:solidFill>
              </a:rPr>
              <a:t> or disposition.</a:t>
            </a:r>
          </a:p>
          <a:p>
            <a:pPr marL="0" lvl="0" indent="0">
              <a:buNone/>
            </a:pPr>
            <a:r>
              <a:rPr lang="en-US" sz="2000" dirty="0">
                <a:solidFill>
                  <a:prstClr val="black"/>
                </a:solidFill>
              </a:rPr>
              <a:t>Traits which constitute good ethics and </a:t>
            </a:r>
            <a:r>
              <a:rPr lang="en-US" sz="2000" b="1" dirty="0">
                <a:solidFill>
                  <a:prstClr val="black"/>
                </a:solidFill>
              </a:rPr>
              <a:t>character</a:t>
            </a:r>
            <a:r>
              <a:rPr lang="en-US" sz="2000" dirty="0">
                <a:solidFill>
                  <a:prstClr val="black"/>
                </a:solidFill>
              </a:rPr>
              <a:t> are:</a:t>
            </a:r>
          </a:p>
          <a:p>
            <a:pPr lvl="0"/>
            <a:r>
              <a:rPr lang="en-US" sz="2000" dirty="0">
                <a:solidFill>
                  <a:srgbClr val="0070C0"/>
                </a:solidFill>
              </a:rPr>
              <a:t>Honesty &gt; Integrity &gt; Respect &gt; Professionalism</a:t>
            </a:r>
            <a:endParaRPr lang="en-US" sz="2000" dirty="0">
              <a:solidFill>
                <a:prstClr val="black"/>
              </a:solidFill>
            </a:endParaRPr>
          </a:p>
          <a:p>
            <a:pPr marL="0" indent="0">
              <a:buNone/>
            </a:pPr>
            <a:endParaRPr lang="en-US" b="1" dirty="0">
              <a:solidFill>
                <a:srgbClr val="C00000"/>
              </a:solidFill>
              <a:latin typeface="Arial Rounded MT Bold" panose="020F0704030504030204" pitchFamily="34" charset="0"/>
            </a:endParaRPr>
          </a:p>
          <a:p>
            <a:pPr marL="0" indent="0">
              <a:buNone/>
            </a:pPr>
            <a:endParaRPr lang="en-US" b="1" dirty="0">
              <a:solidFill>
                <a:srgbClr val="C00000"/>
              </a:solidFill>
              <a:latin typeface="Arial Rounded MT Bold" panose="020F0704030504030204" pitchFamily="34" charset="0"/>
            </a:endParaRPr>
          </a:p>
          <a:p>
            <a:pPr marL="0" indent="0">
              <a:buNone/>
            </a:pPr>
            <a:endParaRPr lang="en-US" b="1" dirty="0">
              <a:solidFill>
                <a:srgbClr val="C00000"/>
              </a:solidFill>
              <a:latin typeface="Arial Rounded MT Bold" panose="020F0704030504030204" pitchFamily="34" charset="0"/>
            </a:endParaRPr>
          </a:p>
          <a:p>
            <a:endParaRPr lang="en-ZA"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0415" y="5283672"/>
            <a:ext cx="1858526" cy="1574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7470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548680"/>
          </a:xfrm>
        </p:spPr>
        <p:txBody>
          <a:bodyPr>
            <a:normAutofit fontScale="90000"/>
          </a:bodyPr>
          <a:lstStyle/>
          <a:p>
            <a:r>
              <a:rPr lang="en-ZA" b="1" dirty="0"/>
              <a:t>Definition</a:t>
            </a:r>
          </a:p>
        </p:txBody>
      </p:sp>
      <p:sp>
        <p:nvSpPr>
          <p:cNvPr id="3" name="Content Placeholder 2"/>
          <p:cNvSpPr>
            <a:spLocks noGrp="1"/>
          </p:cNvSpPr>
          <p:nvPr>
            <p:ph idx="1"/>
          </p:nvPr>
        </p:nvSpPr>
        <p:spPr>
          <a:xfrm>
            <a:off x="457200" y="980728"/>
            <a:ext cx="8229600" cy="5760640"/>
          </a:xfrm>
        </p:spPr>
        <p:txBody>
          <a:bodyPr>
            <a:normAutofit fontScale="92500" lnSpcReduction="10000"/>
          </a:bodyPr>
          <a:lstStyle/>
          <a:p>
            <a:pPr marL="0" indent="0">
              <a:buNone/>
            </a:pPr>
            <a:r>
              <a:rPr lang="en-ZA" sz="3000" b="1" u="sng" dirty="0"/>
              <a:t>What is ethics?</a:t>
            </a:r>
            <a:endParaRPr lang="en-US" sz="2000" dirty="0"/>
          </a:p>
          <a:p>
            <a:pPr marL="0" indent="0">
              <a:buNone/>
            </a:pPr>
            <a:endParaRPr lang="en-US" sz="2000" dirty="0"/>
          </a:p>
          <a:p>
            <a:pPr marL="0" indent="0">
              <a:buNone/>
            </a:pPr>
            <a:r>
              <a:rPr lang="en-US" sz="2000" dirty="0"/>
              <a:t>	</a:t>
            </a:r>
            <a:r>
              <a:rPr lang="en-US" sz="2000" b="1" dirty="0"/>
              <a:t>ETHICS IS A SET OF BELIEFS ABOUT RIGHT AND WRONG BEHAVIOUR</a:t>
            </a:r>
          </a:p>
          <a:p>
            <a:pPr marL="0" indent="0">
              <a:buNone/>
            </a:pPr>
            <a:endParaRPr lang="en-US" sz="2000" b="1" dirty="0"/>
          </a:p>
          <a:p>
            <a:r>
              <a:rPr lang="en-US" sz="2000" dirty="0"/>
              <a:t>Ethics is the branch of philosophy that examines right and wrong moral behavior, moral concepts (such as justice, virtue, duty) and moral language.</a:t>
            </a:r>
            <a:endParaRPr lang="en-ZA" sz="2000" dirty="0"/>
          </a:p>
          <a:p>
            <a:pPr marL="0" lvl="0" indent="0">
              <a:buNone/>
            </a:pPr>
            <a:r>
              <a:rPr lang="en-US" sz="1900" dirty="0">
                <a:solidFill>
                  <a:prstClr val="black"/>
                </a:solidFill>
              </a:rPr>
              <a:t>Virtues</a:t>
            </a:r>
          </a:p>
          <a:p>
            <a:pPr marL="0" lvl="0" indent="0">
              <a:buNone/>
            </a:pPr>
            <a:r>
              <a:rPr lang="en-US" sz="1900" dirty="0">
                <a:solidFill>
                  <a:prstClr val="black"/>
                </a:solidFill>
              </a:rPr>
              <a:t>– Habits that incline people to do what is acceptable</a:t>
            </a:r>
          </a:p>
          <a:p>
            <a:pPr marL="0" lvl="0" indent="0">
              <a:buNone/>
            </a:pPr>
            <a:r>
              <a:rPr lang="en-US" sz="1900" dirty="0">
                <a:solidFill>
                  <a:prstClr val="black"/>
                </a:solidFill>
              </a:rPr>
              <a:t>• Vices</a:t>
            </a:r>
          </a:p>
          <a:p>
            <a:pPr marL="0" lvl="0" indent="0">
              <a:buNone/>
            </a:pPr>
            <a:r>
              <a:rPr lang="en-US" sz="1900" dirty="0">
                <a:solidFill>
                  <a:prstClr val="black"/>
                </a:solidFill>
              </a:rPr>
              <a:t>– Habits of unacceptable behavior</a:t>
            </a:r>
          </a:p>
          <a:p>
            <a:pPr marL="0" lvl="0" indent="0">
              <a:buNone/>
            </a:pPr>
            <a:r>
              <a:rPr lang="en-US" sz="1900" dirty="0">
                <a:solidFill>
                  <a:prstClr val="black"/>
                </a:solidFill>
              </a:rPr>
              <a:t>• Virtues and vices define a personal value system</a:t>
            </a:r>
          </a:p>
          <a:p>
            <a:pPr marL="0" lvl="0" indent="0">
              <a:buNone/>
            </a:pPr>
            <a:r>
              <a:rPr lang="en-US" sz="1900" dirty="0">
                <a:solidFill>
                  <a:prstClr val="black"/>
                </a:solidFill>
              </a:rPr>
              <a:t>– Scheme of moral values</a:t>
            </a:r>
          </a:p>
          <a:p>
            <a:pPr marL="0" indent="0">
              <a:buNone/>
            </a:pPr>
            <a:endParaRPr lang="en-ZA" sz="2000" dirty="0"/>
          </a:p>
          <a:p>
            <a:r>
              <a:rPr lang="en-US" sz="2000" dirty="0"/>
              <a:t>At its simplest, ethics is a </a:t>
            </a:r>
            <a:r>
              <a:rPr lang="en-US" sz="2000" b="1" dirty="0"/>
              <a:t>system of moral principles</a:t>
            </a:r>
            <a:r>
              <a:rPr lang="en-US" sz="2000" dirty="0"/>
              <a:t>. They </a:t>
            </a:r>
            <a:r>
              <a:rPr lang="en-US" sz="2000" b="1" dirty="0">
                <a:solidFill>
                  <a:srgbClr val="FF0000"/>
                </a:solidFill>
              </a:rPr>
              <a:t>affect how </a:t>
            </a:r>
            <a:r>
              <a:rPr lang="en-US" sz="2000" dirty="0"/>
              <a:t>people make decisions and lead their lives.</a:t>
            </a:r>
          </a:p>
          <a:p>
            <a:endParaRPr lang="en-US" sz="2000" dirty="0"/>
          </a:p>
          <a:p>
            <a:r>
              <a:rPr lang="en-US" sz="2000" dirty="0"/>
              <a:t>Ethics is concerned with what is good for individuals and society and is also described as moral philosophy.</a:t>
            </a:r>
          </a:p>
          <a:p>
            <a:endParaRPr lang="en-US" sz="2000" dirty="0"/>
          </a:p>
          <a:p>
            <a:endParaRPr lang="en-US" sz="2000" dirty="0"/>
          </a:p>
          <a:p>
            <a:endParaRPr lang="en-US" sz="2000" dirty="0"/>
          </a:p>
        </p:txBody>
      </p:sp>
    </p:spTree>
    <p:extLst>
      <p:ext uri="{BB962C8B-B14F-4D97-AF65-F5344CB8AC3E}">
        <p14:creationId xmlns:p14="http://schemas.microsoft.com/office/powerpoint/2010/main" val="972960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lstStyle/>
          <a:p>
            <a:r>
              <a:rPr lang="en-ZA" b="1" dirty="0"/>
              <a:t>Definition cont’d</a:t>
            </a:r>
          </a:p>
        </p:txBody>
      </p:sp>
      <p:sp>
        <p:nvSpPr>
          <p:cNvPr id="3" name="Content Placeholder 2"/>
          <p:cNvSpPr>
            <a:spLocks noGrp="1"/>
          </p:cNvSpPr>
          <p:nvPr>
            <p:ph idx="1"/>
          </p:nvPr>
        </p:nvSpPr>
        <p:spPr>
          <a:xfrm>
            <a:off x="457200" y="764704"/>
            <a:ext cx="8229600" cy="5361459"/>
          </a:xfrm>
        </p:spPr>
        <p:txBody>
          <a:bodyPr>
            <a:normAutofit/>
          </a:bodyPr>
          <a:lstStyle/>
          <a:p>
            <a:pPr marL="0" indent="0">
              <a:buNone/>
            </a:pPr>
            <a:r>
              <a:rPr lang="en-US" sz="2400" u="sng" dirty="0"/>
              <a:t>Ethics covers the following dilemmas:</a:t>
            </a:r>
          </a:p>
          <a:p>
            <a:endParaRPr lang="en-US" sz="2000" dirty="0"/>
          </a:p>
          <a:p>
            <a:r>
              <a:rPr lang="en-US" sz="2000" dirty="0"/>
              <a:t>how to live a good life</a:t>
            </a:r>
          </a:p>
          <a:p>
            <a:r>
              <a:rPr lang="en-US" sz="2000" dirty="0"/>
              <a:t>our rights and responsibilities</a:t>
            </a:r>
          </a:p>
          <a:p>
            <a:r>
              <a:rPr lang="en-US" sz="2000" dirty="0"/>
              <a:t>the language of right and wrong</a:t>
            </a:r>
          </a:p>
          <a:p>
            <a:r>
              <a:rPr lang="en-US" sz="2000" dirty="0"/>
              <a:t>moral decisions - what is good and bad?</a:t>
            </a:r>
          </a:p>
          <a:p>
            <a:pPr marL="0" indent="0">
              <a:buNone/>
            </a:pPr>
            <a:endParaRPr lang="en-US" sz="2000" dirty="0"/>
          </a:p>
          <a:p>
            <a:pPr marL="0" indent="0">
              <a:buNone/>
            </a:pPr>
            <a:r>
              <a:rPr lang="en-US" sz="2000" dirty="0"/>
              <a:t>Our concepts of ethics have been derived from religions, philosophies and cultures. They infuse debates on topics like abortion, human rights and professional conduct.</a:t>
            </a:r>
            <a:br>
              <a:rPr lang="en-ZA" sz="2000" dirty="0"/>
            </a:br>
            <a:endParaRPr lang="en-ZA" sz="2000" dirty="0"/>
          </a:p>
          <a:p>
            <a:endParaRPr lang="en-ZA"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4437112"/>
            <a:ext cx="2143125"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4581128"/>
            <a:ext cx="3019425" cy="1514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8679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Definition cont’d</a:t>
            </a:r>
          </a:p>
        </p:txBody>
      </p:sp>
      <p:sp>
        <p:nvSpPr>
          <p:cNvPr id="3" name="Content Placeholder 2"/>
          <p:cNvSpPr>
            <a:spLocks noGrp="1"/>
          </p:cNvSpPr>
          <p:nvPr>
            <p:ph idx="1"/>
          </p:nvPr>
        </p:nvSpPr>
        <p:spPr/>
        <p:txBody>
          <a:bodyPr>
            <a:normAutofit/>
          </a:bodyPr>
          <a:lstStyle/>
          <a:p>
            <a:pPr marL="0" indent="0">
              <a:buNone/>
            </a:pPr>
            <a:r>
              <a:rPr lang="en-ZA" sz="2400" dirty="0"/>
              <a:t>Ethics are the social conventions about right and wrong, also known as </a:t>
            </a:r>
            <a:r>
              <a:rPr lang="en-ZA" sz="2400" i="1" dirty="0"/>
              <a:t>morality</a:t>
            </a:r>
            <a:r>
              <a:rPr lang="en-ZA" sz="2400" dirty="0"/>
              <a:t>. However, morality may </a:t>
            </a:r>
            <a:r>
              <a:rPr lang="en-ZA" sz="2400" b="1" dirty="0"/>
              <a:t>vary</a:t>
            </a:r>
            <a:r>
              <a:rPr lang="en-ZA" sz="2400" dirty="0"/>
              <a:t> based on different factors that may affect our </a:t>
            </a:r>
            <a:r>
              <a:rPr lang="en-ZA" sz="2400" b="1" dirty="0"/>
              <a:t>worldview</a:t>
            </a:r>
            <a:r>
              <a:rPr lang="en-ZA" sz="2400" dirty="0"/>
              <a:t> like:</a:t>
            </a:r>
          </a:p>
          <a:p>
            <a:r>
              <a:rPr lang="en-US" sz="2400" dirty="0"/>
              <a:t>Age</a:t>
            </a:r>
          </a:p>
          <a:p>
            <a:r>
              <a:rPr lang="en-US" sz="2400" dirty="0"/>
              <a:t>Cultural group</a:t>
            </a:r>
          </a:p>
          <a:p>
            <a:r>
              <a:rPr lang="en-US" sz="2400" dirty="0"/>
              <a:t>Ethnic background</a:t>
            </a:r>
          </a:p>
          <a:p>
            <a:r>
              <a:rPr lang="en-US" sz="2400" dirty="0"/>
              <a:t>Religion</a:t>
            </a:r>
          </a:p>
          <a:p>
            <a:r>
              <a:rPr lang="en-US" sz="2400" dirty="0"/>
              <a:t>Life experiences</a:t>
            </a:r>
          </a:p>
          <a:p>
            <a:r>
              <a:rPr lang="en-US" sz="2400" dirty="0"/>
              <a:t>Education</a:t>
            </a:r>
          </a:p>
          <a:p>
            <a:r>
              <a:rPr lang="en-US" sz="2400" dirty="0"/>
              <a:t>Gender</a:t>
            </a:r>
            <a:endParaRPr lang="en-ZA" sz="2400" dirty="0"/>
          </a:p>
          <a:p>
            <a:pPr marL="0" indent="0">
              <a:buNone/>
            </a:pPr>
            <a:endParaRPr lang="en-ZA" sz="2400" dirty="0"/>
          </a:p>
          <a:p>
            <a:pPr marL="0" indent="0">
              <a:buNone/>
            </a:pPr>
            <a:endParaRPr lang="en-ZA" sz="2400" dirty="0"/>
          </a:p>
          <a:p>
            <a:pPr marL="0" indent="0">
              <a:buNone/>
            </a:pPr>
            <a:endParaRPr lang="en-ZA" sz="2400" dirty="0"/>
          </a:p>
          <a:p>
            <a:endParaRPr lang="en-ZA" sz="24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0232" y="4653136"/>
            <a:ext cx="2152650" cy="212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5" y="1648"/>
            <a:ext cx="2055998" cy="1411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8305" y="1649"/>
            <a:ext cx="1835696" cy="1411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9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Why be ethical?</a:t>
            </a:r>
          </a:p>
        </p:txBody>
      </p:sp>
      <p:sp>
        <p:nvSpPr>
          <p:cNvPr id="3" name="Content Placeholder 2"/>
          <p:cNvSpPr>
            <a:spLocks noGrp="1"/>
          </p:cNvSpPr>
          <p:nvPr>
            <p:ph idx="1"/>
          </p:nvPr>
        </p:nvSpPr>
        <p:spPr>
          <a:xfrm>
            <a:off x="457200" y="1600200"/>
            <a:ext cx="8229600" cy="4997152"/>
          </a:xfrm>
        </p:spPr>
        <p:txBody>
          <a:bodyPr>
            <a:normAutofit fontScale="77500" lnSpcReduction="20000"/>
          </a:bodyPr>
          <a:lstStyle/>
          <a:p>
            <a:r>
              <a:rPr lang="en-US" sz="2900" dirty="0"/>
              <a:t>Lots of people like to play devil's advocate and ask </a:t>
            </a:r>
            <a:r>
              <a:rPr lang="en-US" sz="2900" b="1" dirty="0"/>
              <a:t>why</a:t>
            </a:r>
            <a:r>
              <a:rPr lang="en-US" sz="2900" dirty="0"/>
              <a:t> they should be ethical. After all, sometimes doing what's ethical comes at a </a:t>
            </a:r>
            <a:r>
              <a:rPr lang="en-US" sz="2900" i="1" dirty="0"/>
              <a:t>personal cost</a:t>
            </a:r>
            <a:r>
              <a:rPr lang="en-US" sz="2900" dirty="0"/>
              <a:t>. </a:t>
            </a:r>
          </a:p>
          <a:p>
            <a:endParaRPr lang="en-US" sz="2900" dirty="0"/>
          </a:p>
          <a:p>
            <a:r>
              <a:rPr lang="en-US" sz="2900" dirty="0"/>
              <a:t>If ethics means we can’t exploit other people, tell lies, or steal when these things are in our best interests, why bother?</a:t>
            </a:r>
          </a:p>
          <a:p>
            <a:pPr marL="0" indent="0">
              <a:buNone/>
            </a:pPr>
            <a:endParaRPr lang="en-US" sz="2900" dirty="0"/>
          </a:p>
          <a:p>
            <a:r>
              <a:rPr lang="en-US" sz="2900" dirty="0"/>
              <a:t>Ethical questions are an inescapable part of being human. We think and act according to ethical judgments all the time, whether we want to or not. </a:t>
            </a:r>
          </a:p>
          <a:p>
            <a:endParaRPr lang="en-US" sz="2900" dirty="0"/>
          </a:p>
          <a:p>
            <a:r>
              <a:rPr lang="en-US" sz="2900" dirty="0"/>
              <a:t>Often the things that drive our actions are </a:t>
            </a:r>
            <a:r>
              <a:rPr lang="en-US" sz="2900" i="1" dirty="0"/>
              <a:t>unknown</a:t>
            </a:r>
            <a:r>
              <a:rPr lang="en-US" sz="2900" dirty="0"/>
              <a:t> to us – underpinning habits that lead us to act for good or ill without serious thought. Ethical reflection helps us make responsible judgments that reflect what we care about most. </a:t>
            </a:r>
          </a:p>
          <a:p>
            <a:endParaRPr lang="en-ZA" dirty="0"/>
          </a:p>
        </p:txBody>
      </p:sp>
    </p:spTree>
    <p:extLst>
      <p:ext uri="{BB962C8B-B14F-4D97-AF65-F5344CB8AC3E}">
        <p14:creationId xmlns:p14="http://schemas.microsoft.com/office/powerpoint/2010/main" val="221103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432048"/>
          </a:xfrm>
        </p:spPr>
        <p:txBody>
          <a:bodyPr>
            <a:normAutofit fontScale="90000"/>
          </a:bodyPr>
          <a:lstStyle/>
          <a:p>
            <a:r>
              <a:rPr lang="en-ZA" b="1" dirty="0"/>
              <a:t>Why be ethical? </a:t>
            </a:r>
            <a:br>
              <a:rPr lang="en-ZA" b="1" dirty="0"/>
            </a:br>
            <a:r>
              <a:rPr lang="en-ZA" b="1" dirty="0"/>
              <a:t>The importance of integrity</a:t>
            </a:r>
          </a:p>
        </p:txBody>
      </p:sp>
      <p:sp>
        <p:nvSpPr>
          <p:cNvPr id="3" name="Content Placeholder 2"/>
          <p:cNvSpPr>
            <a:spLocks noGrp="1"/>
          </p:cNvSpPr>
          <p:nvPr>
            <p:ph idx="1"/>
          </p:nvPr>
        </p:nvSpPr>
        <p:spPr>
          <a:xfrm>
            <a:off x="323528" y="1268760"/>
            <a:ext cx="8424936" cy="6336704"/>
          </a:xfrm>
        </p:spPr>
        <p:txBody>
          <a:bodyPr>
            <a:normAutofit/>
          </a:bodyPr>
          <a:lstStyle/>
          <a:p>
            <a:pPr marL="0" indent="0">
              <a:buNone/>
            </a:pPr>
            <a:r>
              <a:rPr lang="en-US" sz="2000" b="1" dirty="0">
                <a:solidFill>
                  <a:srgbClr val="C00000"/>
                </a:solidFill>
              </a:rPr>
              <a:t>Integrity</a:t>
            </a:r>
            <a:r>
              <a:rPr lang="en-US" sz="2000" dirty="0">
                <a:solidFill>
                  <a:srgbClr val="C00000"/>
                </a:solidFill>
              </a:rPr>
              <a:t> </a:t>
            </a:r>
            <a:r>
              <a:rPr lang="en-US" sz="2000" b="1" dirty="0"/>
              <a:t>is a cornerstone of ethical behavior. </a:t>
            </a:r>
          </a:p>
          <a:p>
            <a:pPr marL="0" indent="0">
              <a:buNone/>
            </a:pPr>
            <a:r>
              <a:rPr lang="en-US" sz="2000" u="sng" dirty="0"/>
              <a:t>People with integrity</a:t>
            </a:r>
            <a:r>
              <a:rPr lang="en-US" sz="2000" dirty="0"/>
              <a:t>:</a:t>
            </a:r>
          </a:p>
          <a:p>
            <a:pPr marL="0" indent="0">
              <a:buNone/>
            </a:pPr>
            <a:endParaRPr lang="en-US" sz="2000" u="sng" dirty="0"/>
          </a:p>
          <a:p>
            <a:pPr lvl="1"/>
            <a:r>
              <a:rPr lang="en-US" sz="2000" b="1" dirty="0">
                <a:solidFill>
                  <a:srgbClr val="336699"/>
                </a:solidFill>
              </a:rPr>
              <a:t>Act in accordance with a personal code of principles.</a:t>
            </a:r>
          </a:p>
          <a:p>
            <a:pPr lvl="1"/>
            <a:r>
              <a:rPr lang="en-US" sz="2000" b="1" dirty="0">
                <a:solidFill>
                  <a:srgbClr val="006666"/>
                </a:solidFill>
              </a:rPr>
              <a:t>Extend to all the  same respect and consideration.</a:t>
            </a:r>
          </a:p>
          <a:p>
            <a:pPr lvl="1"/>
            <a:r>
              <a:rPr lang="en-US" sz="2000" b="1" dirty="0">
                <a:solidFill>
                  <a:srgbClr val="339966"/>
                </a:solidFill>
              </a:rPr>
              <a:t>Apply the same moral standards in all situations.</a:t>
            </a:r>
          </a:p>
          <a:p>
            <a:pPr marL="457200" lvl="1" indent="0">
              <a:buNone/>
            </a:pPr>
            <a:endParaRPr lang="en-US" sz="2000" b="1" dirty="0">
              <a:solidFill>
                <a:srgbClr val="339966"/>
              </a:solidFill>
            </a:endParaRPr>
          </a:p>
          <a:p>
            <a:pPr marL="0" indent="0">
              <a:buNone/>
            </a:pPr>
            <a:r>
              <a:rPr lang="en-ZA" sz="2000" dirty="0"/>
              <a:t>One objective of critical analysis and </a:t>
            </a:r>
            <a:r>
              <a:rPr lang="en-ZA" sz="2000" b="1" dirty="0">
                <a:solidFill>
                  <a:srgbClr val="CC0066"/>
                </a:solidFill>
              </a:rPr>
              <a:t>critical thinking </a:t>
            </a:r>
            <a:r>
              <a:rPr lang="en-ZA" sz="2000" dirty="0"/>
              <a:t>= </a:t>
            </a:r>
            <a:r>
              <a:rPr lang="en-ZA" sz="2000" b="1" dirty="0"/>
              <a:t>making ethical choices</a:t>
            </a:r>
            <a:r>
              <a:rPr lang="en-ZA" sz="2000" dirty="0"/>
              <a:t>. Ethical decisions are not just matters of etiquette or of avoiding wrongdoing. They are matters of choosing actions that are </a:t>
            </a:r>
            <a:r>
              <a:rPr lang="en-ZA" sz="2000" b="1" dirty="0"/>
              <a:t>RIGHT</a:t>
            </a:r>
            <a:r>
              <a:rPr lang="en-ZA" sz="2000" dirty="0"/>
              <a:t>. The ability to reflect and examine what drives our actions is crucial in terms of developing critical thinking and ethical behaviour.</a:t>
            </a:r>
          </a:p>
          <a:p>
            <a:pPr marL="0" indent="0">
              <a:buNone/>
            </a:pPr>
            <a:endParaRPr lang="en-US" sz="2000" dirty="0"/>
          </a:p>
          <a:p>
            <a:pPr marL="0" indent="0">
              <a:buNone/>
            </a:pPr>
            <a:r>
              <a:rPr lang="en-US" sz="2000" b="1" dirty="0"/>
              <a:t>Lack of integrity </a:t>
            </a:r>
            <a:r>
              <a:rPr lang="en-US" sz="2000" dirty="0"/>
              <a:t>emerges if you apply moral standards </a:t>
            </a:r>
            <a:r>
              <a:rPr lang="en-US" sz="2000" i="1" dirty="0"/>
              <a:t>differently</a:t>
            </a:r>
            <a:r>
              <a:rPr lang="en-US" sz="2000" dirty="0"/>
              <a:t> according to a situation or people involved.</a:t>
            </a:r>
          </a:p>
          <a:p>
            <a:pPr marL="0" indent="0">
              <a:buNone/>
            </a:pPr>
            <a:endParaRPr lang="en-US" sz="2000"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3600999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008112"/>
          </a:xfrm>
        </p:spPr>
        <p:txBody>
          <a:bodyPr>
            <a:noAutofit/>
          </a:bodyPr>
          <a:lstStyle/>
          <a:p>
            <a:r>
              <a:rPr lang="en-ZA" sz="3600" b="1" dirty="0"/>
              <a:t>Ethical dilemmas</a:t>
            </a:r>
          </a:p>
        </p:txBody>
      </p:sp>
      <p:sp>
        <p:nvSpPr>
          <p:cNvPr id="3" name="Content Placeholder 2"/>
          <p:cNvSpPr>
            <a:spLocks noGrp="1"/>
          </p:cNvSpPr>
          <p:nvPr>
            <p:ph idx="1"/>
          </p:nvPr>
        </p:nvSpPr>
        <p:spPr>
          <a:xfrm>
            <a:off x="539552" y="1052736"/>
            <a:ext cx="8229600" cy="5544616"/>
          </a:xfrm>
        </p:spPr>
        <p:txBody>
          <a:bodyPr>
            <a:normAutofit/>
          </a:bodyPr>
          <a:lstStyle/>
          <a:p>
            <a:pPr marL="0" indent="0">
              <a:buNone/>
            </a:pPr>
            <a:r>
              <a:rPr lang="en-US" sz="2000" dirty="0"/>
              <a:t>Lots of things in our lives have moral value - sometimes they come into </a:t>
            </a:r>
            <a:r>
              <a:rPr lang="en-US" sz="2000" b="1" dirty="0"/>
              <a:t>conflict</a:t>
            </a:r>
            <a:r>
              <a:rPr lang="en-US" sz="2000" dirty="0"/>
              <a:t>.  </a:t>
            </a:r>
            <a:r>
              <a:rPr lang="en-US" sz="2000" b="1" dirty="0">
                <a:solidFill>
                  <a:schemeClr val="tx2">
                    <a:lumMod val="60000"/>
                    <a:lumOff val="40000"/>
                  </a:schemeClr>
                </a:solidFill>
              </a:rPr>
              <a:t>Moral or ethical dilemmas are inevitable!  </a:t>
            </a:r>
          </a:p>
          <a:p>
            <a:pPr marL="0" lvl="0" indent="0">
              <a:buNone/>
            </a:pPr>
            <a:r>
              <a:rPr lang="en-US" sz="2000" dirty="0"/>
              <a:t>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6" y="0"/>
            <a:ext cx="1977906" cy="9807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 name="Table 3"/>
          <p:cNvGraphicFramePr>
            <a:graphicFrameLocks noGrp="1"/>
          </p:cNvGraphicFramePr>
          <p:nvPr>
            <p:extLst>
              <p:ext uri="{D42A27DB-BD31-4B8C-83A1-F6EECF244321}">
                <p14:modId xmlns:p14="http://schemas.microsoft.com/office/powerpoint/2010/main" val="2593749936"/>
              </p:ext>
            </p:extLst>
          </p:nvPr>
        </p:nvGraphicFramePr>
        <p:xfrm>
          <a:off x="107505" y="1844824"/>
          <a:ext cx="8769598" cy="5426635"/>
        </p:xfrm>
        <a:graphic>
          <a:graphicData uri="http://schemas.openxmlformats.org/drawingml/2006/table">
            <a:tbl>
              <a:tblPr firstRow="1" bandRow="1">
                <a:tableStyleId>{2D5ABB26-0587-4C30-8999-92F81FD0307C}</a:tableStyleId>
              </a:tblPr>
              <a:tblGrid>
                <a:gridCol w="5760639">
                  <a:extLst>
                    <a:ext uri="{9D8B030D-6E8A-4147-A177-3AD203B41FA5}">
                      <a16:colId xmlns:a16="http://schemas.microsoft.com/office/drawing/2014/main" val="20000"/>
                    </a:ext>
                  </a:extLst>
                </a:gridCol>
                <a:gridCol w="3008959">
                  <a:extLst>
                    <a:ext uri="{9D8B030D-6E8A-4147-A177-3AD203B41FA5}">
                      <a16:colId xmlns:a16="http://schemas.microsoft.com/office/drawing/2014/main" val="20001"/>
                    </a:ext>
                  </a:extLst>
                </a:gridCol>
              </a:tblGrid>
              <a:tr h="5426635">
                <a:tc>
                  <a:txBody>
                    <a:bodyPr/>
                    <a:lstStyle/>
                    <a:p>
                      <a:pPr marL="0" lvl="0" indent="0">
                        <a:buNone/>
                      </a:pPr>
                      <a:r>
                        <a:rPr lang="en-US" sz="1800" dirty="0">
                          <a:solidFill>
                            <a:prstClr val="black"/>
                          </a:solidFill>
                        </a:rPr>
                        <a:t>E.g. Should you tell a lie to protect a family member who has done something wrong? </a:t>
                      </a:r>
                    </a:p>
                    <a:p>
                      <a:pPr marL="0" lvl="0" indent="0">
                        <a:buNone/>
                      </a:pPr>
                      <a:r>
                        <a:rPr lang="en-US" sz="1800" dirty="0">
                          <a:solidFill>
                            <a:prstClr val="black"/>
                          </a:solidFill>
                        </a:rPr>
                        <a:t>Lots of people would say lying is always wrong. But those same people also probably think we have special duties to take care of our families. Our answer in a case like this depends on how much we value certain ideals - truth or family. </a:t>
                      </a:r>
                    </a:p>
                    <a:p>
                      <a:pPr marL="0" lvl="0" indent="0">
                        <a:buNone/>
                      </a:pPr>
                      <a:r>
                        <a:rPr lang="en-US" sz="1800" dirty="0">
                          <a:solidFill>
                            <a:prstClr val="black"/>
                          </a:solidFill>
                        </a:rPr>
                        <a:t>What if we value both equally? This is where ethics gets tough. Unfortunately, even when faced with a moral dilemma, we still have to make a decision. </a:t>
                      </a:r>
                    </a:p>
                    <a:p>
                      <a:pPr marL="0" lvl="0" indent="0">
                        <a:buNone/>
                      </a:pPr>
                      <a:r>
                        <a:rPr lang="en-US" sz="1800" dirty="0">
                          <a:solidFill>
                            <a:prstClr val="black"/>
                          </a:solidFill>
                        </a:rPr>
                        <a:t>In these cases we need to accept the limits to certainty when trying to decide what we ought to do. Sometimes our range of choice is reduced to picking the </a:t>
                      </a:r>
                      <a:r>
                        <a:rPr lang="en-US" sz="1800" i="1" dirty="0">
                          <a:solidFill>
                            <a:prstClr val="black"/>
                          </a:solidFill>
                        </a:rPr>
                        <a:t>least bad alternative</a:t>
                      </a:r>
                      <a:r>
                        <a:rPr lang="en-US" sz="1800" dirty="0">
                          <a:solidFill>
                            <a:prstClr val="black"/>
                          </a:solidFill>
                        </a:rPr>
                        <a:t>. </a:t>
                      </a:r>
                    </a:p>
                    <a:p>
                      <a:pPr marL="0" lvl="0" indent="0">
                        <a:buNone/>
                      </a:pPr>
                      <a:r>
                        <a:rPr lang="en-US" sz="1800" dirty="0">
                          <a:solidFill>
                            <a:prstClr val="black"/>
                          </a:solidFill>
                        </a:rPr>
                        <a:t> Sometimes we may feel genuinely 'stuck' by a problem. In those cases we may just have to trust our experience and our conscience.</a:t>
                      </a:r>
                    </a:p>
                    <a:p>
                      <a:pPr marL="0" lvl="0" indent="0">
                        <a:buNone/>
                      </a:pPr>
                      <a:endParaRPr lang="en-US" sz="1800" dirty="0">
                        <a:solidFill>
                          <a:prstClr val="black"/>
                        </a:solidFill>
                      </a:endParaRPr>
                    </a:p>
                    <a:p>
                      <a:pPr marL="0" lvl="0" indent="0">
                        <a:buNone/>
                      </a:pPr>
                      <a:r>
                        <a:rPr lang="en-US" sz="1800" dirty="0">
                          <a:solidFill>
                            <a:prstClr val="black"/>
                          </a:solidFill>
                        </a:rPr>
                        <a:t>		</a:t>
                      </a:r>
                      <a:endParaRPr lang="en-ZA" dirty="0"/>
                    </a:p>
                  </a:txBody>
                  <a:tcPr/>
                </a:tc>
                <a:tc>
                  <a:txBody>
                    <a:bodyPr/>
                    <a:lstStyle/>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a:p>
                      <a:pPr marL="0" lvl="0" indent="0">
                        <a:buNone/>
                      </a:pPr>
                      <a:r>
                        <a:rPr lang="en-US" sz="1800" dirty="0">
                          <a:solidFill>
                            <a:prstClr val="black"/>
                          </a:solidFill>
                        </a:rPr>
                        <a:t>Many </a:t>
                      </a:r>
                      <a:r>
                        <a:rPr lang="en-US" sz="1800" i="1" dirty="0">
                          <a:solidFill>
                            <a:prstClr val="black"/>
                          </a:solidFill>
                        </a:rPr>
                        <a:t>ethical dilemmas </a:t>
                      </a:r>
                      <a:r>
                        <a:rPr lang="en-US" sz="1800" dirty="0">
                          <a:solidFill>
                            <a:prstClr val="black"/>
                          </a:solidFill>
                        </a:rPr>
                        <a:t>are </a:t>
                      </a:r>
                      <a:r>
                        <a:rPr lang="en-US" sz="1800" b="1" dirty="0">
                          <a:solidFill>
                            <a:srgbClr val="C00000"/>
                          </a:solidFill>
                        </a:rPr>
                        <a:t>not</a:t>
                      </a:r>
                      <a:r>
                        <a:rPr lang="en-US" sz="1800" dirty="0">
                          <a:solidFill>
                            <a:srgbClr val="C00000"/>
                          </a:solidFill>
                        </a:rPr>
                        <a:t> </a:t>
                      </a:r>
                      <a:r>
                        <a:rPr lang="en-US" sz="1800" dirty="0">
                          <a:solidFill>
                            <a:prstClr val="black"/>
                          </a:solidFill>
                        </a:rPr>
                        <a:t>as simple as right versus wrong.</a:t>
                      </a:r>
                    </a:p>
                    <a:p>
                      <a:endParaRPr lang="en-ZA" dirty="0"/>
                    </a:p>
                  </a:txBody>
                  <a:tcPr/>
                </a:tc>
                <a:extLst>
                  <a:ext uri="{0D108BD9-81ED-4DB2-BD59-A6C34878D82A}">
                    <a16:rowId xmlns:a16="http://schemas.microsoft.com/office/drawing/2014/main" val="10000"/>
                  </a:ext>
                </a:extLst>
              </a:tr>
            </a:tbl>
          </a:graphicData>
        </a:graphic>
      </p:graphicFrame>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3294" y="1967938"/>
            <a:ext cx="2843808" cy="4053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5665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Autofit/>
          </a:bodyPr>
          <a:lstStyle/>
          <a:p>
            <a:r>
              <a:rPr lang="en-ZA" sz="2400" b="1" dirty="0"/>
              <a:t>Ethical dilemmas - ethical tools</a:t>
            </a:r>
          </a:p>
        </p:txBody>
      </p:sp>
      <p:sp>
        <p:nvSpPr>
          <p:cNvPr id="3" name="Content Placeholder 2"/>
          <p:cNvSpPr>
            <a:spLocks noGrp="1"/>
          </p:cNvSpPr>
          <p:nvPr>
            <p:ph idx="1"/>
          </p:nvPr>
        </p:nvSpPr>
        <p:spPr>
          <a:xfrm>
            <a:off x="457200" y="980728"/>
            <a:ext cx="8229600" cy="5544616"/>
          </a:xfrm>
        </p:spPr>
        <p:txBody>
          <a:bodyPr>
            <a:normAutofit fontScale="92500" lnSpcReduction="10000"/>
          </a:bodyPr>
          <a:lstStyle/>
          <a:p>
            <a:pPr marL="0" indent="0">
              <a:buNone/>
            </a:pPr>
            <a:r>
              <a:rPr lang="en-US" sz="2000" dirty="0"/>
              <a:t>Luckily most decisions aren't moral dilemmas and we can work out what to do with the help of a few </a:t>
            </a:r>
            <a:r>
              <a:rPr lang="en-US" sz="2000" b="1" dirty="0"/>
              <a:t>ethical tools</a:t>
            </a:r>
            <a:r>
              <a:rPr lang="en-US" sz="2000" dirty="0"/>
              <a:t>. There are questions it's worth asking before we make a decision:</a:t>
            </a:r>
          </a:p>
          <a:p>
            <a:pPr marL="0" indent="0">
              <a:buNone/>
            </a:pPr>
            <a:endParaRPr lang="en-US" sz="2000" dirty="0"/>
          </a:p>
          <a:p>
            <a:pPr marL="0" indent="0">
              <a:buNone/>
            </a:pPr>
            <a:r>
              <a:rPr lang="en-US" sz="2000" b="1" dirty="0">
                <a:solidFill>
                  <a:srgbClr val="FF0000"/>
                </a:solidFill>
              </a:rPr>
              <a:t>1. Would I be happy for this decision to be headlining the news tomorrow?</a:t>
            </a:r>
          </a:p>
          <a:p>
            <a:pPr marL="0" indent="0">
              <a:buNone/>
            </a:pPr>
            <a:r>
              <a:rPr lang="en-US" sz="2000" dirty="0"/>
              <a:t>	This question is what's known as the </a:t>
            </a:r>
            <a:r>
              <a:rPr lang="en-US" sz="2000" b="1" dirty="0">
                <a:solidFill>
                  <a:schemeClr val="accent6">
                    <a:lumMod val="75000"/>
                  </a:schemeClr>
                </a:solidFill>
              </a:rPr>
              <a:t>Sunlight Test</a:t>
            </a:r>
            <a:r>
              <a:rPr lang="en-US" sz="2000" dirty="0"/>
              <a:t>. Imagine how it might 	feel if your decision – and the reasons you made it – were public 	knowledge. What if the people you most admire knew what you'd 	done and why? Note – it’s the ‘don’t be ashamed’ test, not the ‘don’t get 	caught’ test.</a:t>
            </a:r>
          </a:p>
          <a:p>
            <a:pPr marL="0" indent="0">
              <a:buNone/>
            </a:pPr>
            <a:endParaRPr lang="en-US" sz="2000" dirty="0"/>
          </a:p>
          <a:p>
            <a:pPr marL="0" indent="0">
              <a:buNone/>
            </a:pPr>
            <a:endParaRPr lang="en-US" sz="2000" dirty="0"/>
          </a:p>
          <a:p>
            <a:pPr marL="0" indent="0">
              <a:buNone/>
            </a:pPr>
            <a:r>
              <a:rPr lang="en-US" sz="2000" b="1" dirty="0">
                <a:solidFill>
                  <a:srgbClr val="FF0000"/>
                </a:solidFill>
              </a:rPr>
              <a:t>2. Is there a universal rule that applies here? </a:t>
            </a:r>
          </a:p>
          <a:p>
            <a:pPr marL="0" indent="0">
              <a:buNone/>
            </a:pPr>
            <a:r>
              <a:rPr lang="en-US" sz="2000" dirty="0"/>
              <a:t>	Is there a rule that any reasonable person should apply to this situation 	regardless of the consequences? Some rules are unbreakable, even 	when the stakes are high. For instance, we should never act in ways 	that undermine the equality and dignity of all people – ourselves 	included. The rules are often associated with duties – some of which we 	create ourselves, like when we make a promise.</a:t>
            </a:r>
          </a:p>
          <a:p>
            <a:pPr marL="0" indent="0">
              <a:buNone/>
            </a:pPr>
            <a:endParaRPr lang="en-US" sz="2000" dirty="0"/>
          </a:p>
          <a:p>
            <a:pPr marL="0" indent="0">
              <a:buNone/>
            </a:pPr>
            <a:endParaRPr lang="en-US" sz="2000" dirty="0"/>
          </a:p>
          <a:p>
            <a:pPr marL="0" indent="0">
              <a:buNone/>
            </a:pPr>
            <a:endParaRPr lang="en-ZA" sz="2000" dirty="0"/>
          </a:p>
        </p:txBody>
      </p:sp>
    </p:spTree>
    <p:extLst>
      <p:ext uri="{BB962C8B-B14F-4D97-AF65-F5344CB8AC3E}">
        <p14:creationId xmlns:p14="http://schemas.microsoft.com/office/powerpoint/2010/main" val="3797616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20688"/>
          </a:xfrm>
        </p:spPr>
        <p:txBody>
          <a:bodyPr>
            <a:normAutofit/>
          </a:bodyPr>
          <a:lstStyle/>
          <a:p>
            <a:r>
              <a:rPr lang="en-ZA" sz="3200" b="1" dirty="0"/>
              <a:t>Ethical dilemmas - ethical tools</a:t>
            </a:r>
          </a:p>
        </p:txBody>
      </p:sp>
      <p:sp>
        <p:nvSpPr>
          <p:cNvPr id="3" name="Content Placeholder 2"/>
          <p:cNvSpPr>
            <a:spLocks noGrp="1"/>
          </p:cNvSpPr>
          <p:nvPr>
            <p:ph idx="1"/>
          </p:nvPr>
        </p:nvSpPr>
        <p:spPr>
          <a:xfrm>
            <a:off x="457200" y="620688"/>
            <a:ext cx="8507288" cy="5976664"/>
          </a:xfrm>
        </p:spPr>
        <p:txBody>
          <a:bodyPr>
            <a:noAutofit/>
          </a:bodyPr>
          <a:lstStyle/>
          <a:p>
            <a:pPr marL="0" lvl="0" indent="0">
              <a:buNone/>
            </a:pPr>
            <a:r>
              <a:rPr lang="en-US" sz="1400" b="1" dirty="0">
                <a:solidFill>
                  <a:srgbClr val="FF0000"/>
                </a:solidFill>
              </a:rPr>
              <a:t>3. Will the proposed course of action bring about a good result?</a:t>
            </a:r>
          </a:p>
          <a:p>
            <a:pPr marL="0" lvl="0" indent="0">
              <a:buNone/>
            </a:pPr>
            <a:r>
              <a:rPr lang="en-US" sz="1400" dirty="0">
                <a:solidFill>
                  <a:prstClr val="black"/>
                </a:solidFill>
              </a:rPr>
              <a:t>	We often think about ethics in terms of </a:t>
            </a:r>
            <a:r>
              <a:rPr lang="en-US" sz="1400" b="1" dirty="0">
                <a:solidFill>
                  <a:prstClr val="black"/>
                </a:solidFill>
              </a:rPr>
              <a:t>consequences</a:t>
            </a:r>
            <a:r>
              <a:rPr lang="en-US" sz="1400" dirty="0">
                <a:solidFill>
                  <a:prstClr val="black"/>
                </a:solidFill>
              </a:rPr>
              <a:t>. 'The greatest good for the greatest 	number' is a maxim many people </a:t>
            </a:r>
            <a:r>
              <a:rPr lang="en-US" sz="1400" dirty="0" err="1">
                <a:solidFill>
                  <a:prstClr val="black"/>
                </a:solidFill>
              </a:rPr>
              <a:t>recognise</a:t>
            </a:r>
            <a:r>
              <a:rPr lang="en-US" sz="1400" dirty="0">
                <a:solidFill>
                  <a:prstClr val="black"/>
                </a:solidFill>
              </a:rPr>
              <a:t> and accept. Consequences are an important part of 	ethical decisions, but are they everything? </a:t>
            </a:r>
          </a:p>
          <a:p>
            <a:pPr marL="0" lvl="0" indent="0">
              <a:buNone/>
            </a:pPr>
            <a:endParaRPr lang="en-US" sz="1400" dirty="0">
              <a:solidFill>
                <a:prstClr val="black"/>
              </a:solidFill>
            </a:endParaRPr>
          </a:p>
          <a:p>
            <a:pPr marL="0" lvl="0" indent="0">
              <a:buNone/>
            </a:pPr>
            <a:r>
              <a:rPr lang="en-US" sz="1400" dirty="0">
                <a:solidFill>
                  <a:prstClr val="black"/>
                </a:solidFill>
              </a:rPr>
              <a:t>We should be aware of what we're sacrificing when trying to bring about good consequences. Are we violating an important principle? Are we compromising our own values? If so, have we considered these facts when balancing harms and benefits?</a:t>
            </a:r>
            <a:endParaRPr lang="en-US" sz="1400" b="1" dirty="0">
              <a:solidFill>
                <a:srgbClr val="FF0000"/>
              </a:solidFill>
            </a:endParaRPr>
          </a:p>
          <a:p>
            <a:pPr marL="0" indent="0">
              <a:buNone/>
            </a:pPr>
            <a:endParaRPr lang="en-US" sz="1400" b="1" dirty="0">
              <a:solidFill>
                <a:srgbClr val="FF0000"/>
              </a:solidFill>
            </a:endParaRPr>
          </a:p>
          <a:p>
            <a:pPr marL="0" indent="0">
              <a:buNone/>
            </a:pPr>
            <a:endParaRPr lang="en-US" sz="1400" b="1" dirty="0">
              <a:solidFill>
                <a:srgbClr val="FF0000"/>
              </a:solidFill>
            </a:endParaRPr>
          </a:p>
          <a:p>
            <a:pPr marL="0" indent="0">
              <a:buNone/>
            </a:pPr>
            <a:r>
              <a:rPr lang="en-US" sz="1400" b="1" dirty="0">
                <a:solidFill>
                  <a:srgbClr val="FF0000"/>
                </a:solidFill>
              </a:rPr>
              <a:t>4. What would happen if everybody did this?</a:t>
            </a:r>
          </a:p>
          <a:p>
            <a:pPr marL="0" indent="0">
              <a:buNone/>
            </a:pPr>
            <a:r>
              <a:rPr lang="en-US" sz="1400" dirty="0"/>
              <a:t>	Would you be happy if your reason for action was used by everyone in the same circumstance? If 	not, then what makes you so special? Most ethical frameworks suggest the right decision for one 	person should be right for </a:t>
            </a:r>
            <a:r>
              <a:rPr lang="en-US" sz="1400" b="1" dirty="0"/>
              <a:t>everybody in the same position</a:t>
            </a:r>
            <a:r>
              <a:rPr lang="en-US" sz="1400" dirty="0"/>
              <a:t>. This test helps guard against </a:t>
            </a:r>
            <a:r>
              <a:rPr lang="en-US" sz="1400" b="1" dirty="0"/>
              <a:t>'special 	pleading'</a:t>
            </a:r>
            <a:r>
              <a:rPr lang="en-US" sz="1400" dirty="0"/>
              <a:t> – when we make an exception for ourselves or different groups. </a:t>
            </a:r>
          </a:p>
          <a:p>
            <a:endParaRPr lang="en-US" sz="1400" dirty="0"/>
          </a:p>
          <a:p>
            <a:endParaRPr lang="en-US" sz="1400" dirty="0"/>
          </a:p>
          <a:p>
            <a:pPr marL="0" indent="0">
              <a:buNone/>
            </a:pPr>
            <a:r>
              <a:rPr lang="en-US" sz="1400" b="1" dirty="0">
                <a:solidFill>
                  <a:srgbClr val="FF0000"/>
                </a:solidFill>
              </a:rPr>
              <a:t>5. What will this proposed action do to my character or the character of my organisation?</a:t>
            </a:r>
          </a:p>
          <a:p>
            <a:pPr marL="0" indent="0">
              <a:buNone/>
            </a:pPr>
            <a:r>
              <a:rPr lang="en-US" sz="1400" dirty="0"/>
              <a:t>	Many people believe that our decisions shape our character and vice versa. That is, we can't lie 	and cheat without becoming a fraudulent liar. Subsequently, if we're a liar we'll tend to lie more 	often. </a:t>
            </a:r>
          </a:p>
          <a:p>
            <a:endParaRPr lang="en-US" sz="1400" dirty="0"/>
          </a:p>
          <a:p>
            <a:r>
              <a:rPr lang="en-US" sz="1400" dirty="0"/>
              <a:t>Think about whether your action is establishing a habit either for you or your organisation. Is it a good habit (virtue) or a bad one (vice)? If I cut corners on a work job today am I developing a habit of laziness that may affect my future work? </a:t>
            </a:r>
          </a:p>
          <a:p>
            <a:endParaRPr lang="en-US" sz="1400" dirty="0"/>
          </a:p>
          <a:p>
            <a:endParaRPr lang="en-US" sz="1400" b="1" dirty="0">
              <a:solidFill>
                <a:srgbClr val="FF0000"/>
              </a:solidFill>
            </a:endParaRPr>
          </a:p>
        </p:txBody>
      </p:sp>
    </p:spTree>
    <p:extLst>
      <p:ext uri="{BB962C8B-B14F-4D97-AF65-F5344CB8AC3E}">
        <p14:creationId xmlns:p14="http://schemas.microsoft.com/office/powerpoint/2010/main" val="4139508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Ethical dilemmas – ethical tools</a:t>
            </a:r>
          </a:p>
        </p:txBody>
      </p:sp>
      <p:sp>
        <p:nvSpPr>
          <p:cNvPr id="3" name="Content Placeholder 2"/>
          <p:cNvSpPr>
            <a:spLocks noGrp="1"/>
          </p:cNvSpPr>
          <p:nvPr>
            <p:ph idx="1"/>
          </p:nvPr>
        </p:nvSpPr>
        <p:spPr>
          <a:xfrm>
            <a:off x="457200" y="1268760"/>
            <a:ext cx="8229600" cy="4857403"/>
          </a:xfrm>
        </p:spPr>
        <p:txBody>
          <a:bodyPr>
            <a:normAutofit/>
          </a:bodyPr>
          <a:lstStyle/>
          <a:p>
            <a:pPr marL="0" lvl="0" indent="0">
              <a:buNone/>
            </a:pPr>
            <a:r>
              <a:rPr lang="en-US" sz="1800" b="1" dirty="0">
                <a:solidFill>
                  <a:srgbClr val="FF0000"/>
                </a:solidFill>
              </a:rPr>
              <a:t>6. Is the proposed course of action consistent with my values and principles?</a:t>
            </a:r>
          </a:p>
          <a:p>
            <a:pPr marL="0" lvl="0" indent="0">
              <a:buNone/>
            </a:pPr>
            <a:r>
              <a:rPr lang="en-US" sz="1800" dirty="0">
                <a:solidFill>
                  <a:prstClr val="black"/>
                </a:solidFill>
              </a:rPr>
              <a:t>	Plenty of people and </a:t>
            </a:r>
            <a:r>
              <a:rPr lang="en-US" sz="1800" dirty="0" err="1">
                <a:solidFill>
                  <a:prstClr val="black"/>
                </a:solidFill>
              </a:rPr>
              <a:t>organisations</a:t>
            </a:r>
            <a:r>
              <a:rPr lang="en-US" sz="1800" dirty="0">
                <a:solidFill>
                  <a:prstClr val="black"/>
                </a:solidFill>
              </a:rPr>
              <a:t> are happy to tell you what they stand for 	– but do they walk the talk? 	Are my actions reflecting my ethical beliefs? 	Most ethical systems have no time for </a:t>
            </a:r>
            <a:r>
              <a:rPr lang="en-US" sz="1800" b="1" dirty="0">
                <a:solidFill>
                  <a:prstClr val="black"/>
                </a:solidFill>
              </a:rPr>
              <a:t>hypocrisy</a:t>
            </a:r>
            <a:r>
              <a:rPr lang="en-US" sz="1800" dirty="0">
                <a:solidFill>
                  <a:prstClr val="black"/>
                </a:solidFill>
              </a:rPr>
              <a:t>. </a:t>
            </a:r>
          </a:p>
          <a:p>
            <a:pPr marL="0" lvl="0" indent="0">
              <a:buNone/>
            </a:pPr>
            <a:endParaRPr lang="en-US" sz="1800" dirty="0">
              <a:solidFill>
                <a:prstClr val="black"/>
              </a:solidFill>
            </a:endParaRPr>
          </a:p>
          <a:p>
            <a:pPr marL="0" lvl="0" indent="0">
              <a:buNone/>
            </a:pPr>
            <a:endParaRPr lang="en-US" sz="1800" dirty="0">
              <a:solidFill>
                <a:prstClr val="black"/>
              </a:solidFill>
            </a:endParaRPr>
          </a:p>
          <a:p>
            <a:pPr marL="0" lvl="0" indent="0">
              <a:buNone/>
            </a:pPr>
            <a:endParaRPr lang="en-US" sz="1800" dirty="0">
              <a:solidFill>
                <a:prstClr val="black"/>
              </a:solidFill>
            </a:endParaRPr>
          </a:p>
          <a:p>
            <a:pPr marL="0" lvl="0" indent="0">
              <a:buNone/>
            </a:pPr>
            <a:endParaRPr lang="en-US" sz="1800" dirty="0">
              <a:solidFill>
                <a:prstClr val="black"/>
              </a:solidFill>
            </a:endParaRPr>
          </a:p>
          <a:p>
            <a:pPr marL="0" lvl="0" indent="0">
              <a:buNone/>
            </a:pPr>
            <a:endParaRPr lang="en-US" sz="1800" dirty="0">
              <a:solidFill>
                <a:prstClr val="black"/>
              </a:solidFill>
            </a:endParaRPr>
          </a:p>
          <a:p>
            <a:pPr marL="0" lvl="0" indent="0">
              <a:buNone/>
            </a:pPr>
            <a:endParaRPr lang="en-ZA" sz="1800" dirty="0">
              <a:solidFill>
                <a:prstClr val="black"/>
              </a:solidFill>
            </a:endParaRPr>
          </a:p>
          <a:p>
            <a:pPr marL="0" lvl="0" indent="0">
              <a:buNone/>
            </a:pPr>
            <a:r>
              <a:rPr lang="en-ZA" sz="1800" dirty="0">
                <a:solidFill>
                  <a:prstClr val="black"/>
                </a:solidFill>
              </a:rPr>
              <a:t>Answering these questions doesn't guarantee everyone will accept our decision. Moral disagreement is extremely common. But even the answer to our question doesn't achieve universal approval, </a:t>
            </a:r>
            <a:r>
              <a:rPr lang="en-ZA" sz="1800" b="1" dirty="0">
                <a:solidFill>
                  <a:prstClr val="black"/>
                </a:solidFill>
              </a:rPr>
              <a:t>the way </a:t>
            </a:r>
            <a:r>
              <a:rPr lang="en-ZA" sz="1800" dirty="0">
                <a:solidFill>
                  <a:prstClr val="black"/>
                </a:solidFill>
              </a:rPr>
              <a:t>in which we reach those answers matters. Ethics allows us to explore these questions in a way that is sincere, rational, competent and honest. </a:t>
            </a:r>
          </a:p>
          <a:p>
            <a:pPr marL="0" lvl="0" indent="0">
              <a:buNone/>
            </a:pPr>
            <a:endParaRPr lang="en-US" sz="1000" dirty="0">
              <a:solidFill>
                <a:prstClr val="black"/>
              </a:solidFill>
            </a:endParaRPr>
          </a:p>
          <a:p>
            <a:pPr marL="0" lvl="0" indent="0">
              <a:buNone/>
            </a:pPr>
            <a:endParaRPr lang="en-US" sz="1000" dirty="0">
              <a:solidFill>
                <a:prstClr val="black"/>
              </a:solidFill>
            </a:endParaRPr>
          </a:p>
          <a:p>
            <a:pPr lvl="0"/>
            <a:endParaRPr lang="en-US" sz="1000" dirty="0">
              <a:solidFill>
                <a:prstClr val="black"/>
              </a:solidFill>
            </a:endParaRPr>
          </a:p>
          <a:p>
            <a:endParaRPr lang="en-ZA"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2636912"/>
            <a:ext cx="4464496"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5860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sz="3600" b="1" dirty="0"/>
              <a:t>There are times when those questions become challenges we just can't resolve alone</a:t>
            </a:r>
            <a:br>
              <a:rPr lang="en-ZA" dirty="0"/>
            </a:br>
            <a:endParaRPr lang="en-ZA" dirty="0"/>
          </a:p>
        </p:txBody>
      </p:sp>
      <p:sp>
        <p:nvSpPr>
          <p:cNvPr id="3" name="Content Placeholder 2"/>
          <p:cNvSpPr>
            <a:spLocks noGrp="1"/>
          </p:cNvSpPr>
          <p:nvPr>
            <p:ph idx="1"/>
          </p:nvPr>
        </p:nvSpPr>
        <p:spPr>
          <a:xfrm>
            <a:off x="457200" y="1340768"/>
            <a:ext cx="8229600" cy="5328592"/>
          </a:xfrm>
        </p:spPr>
        <p:txBody>
          <a:bodyPr>
            <a:normAutofit fontScale="70000" lnSpcReduction="20000"/>
          </a:bodyPr>
          <a:lstStyle/>
          <a:p>
            <a:r>
              <a:rPr lang="en-ZA" dirty="0"/>
              <a:t>We ask ethical questions whenever we think about how we should act. Being ethical is a part of what defines us as human beings. We are </a:t>
            </a:r>
            <a:r>
              <a:rPr lang="en-ZA" dirty="0">
                <a:solidFill>
                  <a:srgbClr val="339966"/>
                </a:solidFill>
              </a:rPr>
              <a:t>rational, thinking, choosing</a:t>
            </a:r>
            <a:r>
              <a:rPr lang="en-ZA" dirty="0"/>
              <a:t> creatures. </a:t>
            </a:r>
          </a:p>
          <a:p>
            <a:endParaRPr lang="en-US" dirty="0"/>
          </a:p>
          <a:p>
            <a:r>
              <a:rPr lang="en-US" dirty="0"/>
              <a:t>Complex ethical problems can be individual and private or widespread and systemic, involving groups, </a:t>
            </a:r>
            <a:r>
              <a:rPr lang="en-US" dirty="0" err="1"/>
              <a:t>organisations</a:t>
            </a:r>
            <a:r>
              <a:rPr lang="en-US" dirty="0"/>
              <a:t> or whole communities. The distress these challenges cause is real and pervasive, leaving people stuck and struggling, anxious or broken.</a:t>
            </a:r>
          </a:p>
          <a:p>
            <a:endParaRPr lang="en-US" dirty="0"/>
          </a:p>
          <a:p>
            <a:r>
              <a:rPr lang="en-US" b="1" u="sng" dirty="0"/>
              <a:t>Ethics provides a framework for answering these questions well. It allows us to be</a:t>
            </a:r>
            <a:r>
              <a:rPr lang="en-US" b="1" dirty="0"/>
              <a:t>: 	</a:t>
            </a:r>
          </a:p>
          <a:p>
            <a:r>
              <a:rPr lang="en-US" dirty="0"/>
              <a:t>consistent in our judgements, </a:t>
            </a:r>
          </a:p>
          <a:p>
            <a:r>
              <a:rPr lang="en-US" dirty="0"/>
              <a:t>provide reasons for our beliefs and to,</a:t>
            </a:r>
          </a:p>
          <a:p>
            <a:r>
              <a:rPr lang="en-US" dirty="0"/>
              <a:t>critically examine opinions,</a:t>
            </a:r>
          </a:p>
          <a:p>
            <a:r>
              <a:rPr lang="en-US" dirty="0"/>
              <a:t>and most importantly, ethics allows us to act in a manner that accords with a set of core values and principles.</a:t>
            </a:r>
          </a:p>
          <a:p>
            <a:endParaRPr lang="en-ZA" dirty="0"/>
          </a:p>
        </p:txBody>
      </p:sp>
    </p:spTree>
    <p:extLst>
      <p:ext uri="{BB962C8B-B14F-4D97-AF65-F5344CB8AC3E}">
        <p14:creationId xmlns:p14="http://schemas.microsoft.com/office/powerpoint/2010/main" val="2791376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ZA" sz="3600" b="1" dirty="0"/>
            </a:br>
            <a:r>
              <a:rPr lang="en-ZA" sz="3600" b="1" dirty="0"/>
              <a:t>The difference between ethics and law</a:t>
            </a:r>
          </a:p>
        </p:txBody>
      </p:sp>
      <p:sp>
        <p:nvSpPr>
          <p:cNvPr id="3" name="Content Placeholder 2"/>
          <p:cNvSpPr>
            <a:spLocks noGrp="1"/>
          </p:cNvSpPr>
          <p:nvPr>
            <p:ph idx="1"/>
          </p:nvPr>
        </p:nvSpPr>
        <p:spPr>
          <a:xfrm>
            <a:off x="457200" y="1600200"/>
            <a:ext cx="8229600" cy="4925144"/>
          </a:xfrm>
        </p:spPr>
        <p:txBody>
          <a:bodyPr>
            <a:normAutofit fontScale="92500" lnSpcReduction="20000"/>
          </a:bodyPr>
          <a:lstStyle/>
          <a:p>
            <a:pPr lvl="0"/>
            <a:r>
              <a:rPr lang="en-ZA" sz="2200" dirty="0">
                <a:solidFill>
                  <a:prstClr val="black"/>
                </a:solidFill>
              </a:rPr>
              <a:t>Since childhood, our parents/caregivers have helped shape our worldview. Part of this involves instilling a fundamental </a:t>
            </a:r>
            <a:r>
              <a:rPr lang="en-ZA" sz="2200" b="1" dirty="0">
                <a:solidFill>
                  <a:prstClr val="black"/>
                </a:solidFill>
              </a:rPr>
              <a:t>awareness of what is right </a:t>
            </a:r>
            <a:r>
              <a:rPr lang="en-ZA" sz="2200" dirty="0">
                <a:solidFill>
                  <a:prstClr val="black"/>
                </a:solidFill>
              </a:rPr>
              <a:t>and wrong based on a moral code. </a:t>
            </a:r>
          </a:p>
          <a:p>
            <a:pPr lvl="0"/>
            <a:endParaRPr lang="en-ZA" sz="2200" dirty="0">
              <a:solidFill>
                <a:prstClr val="black"/>
              </a:solidFill>
            </a:endParaRPr>
          </a:p>
          <a:p>
            <a:pPr lvl="0"/>
            <a:r>
              <a:rPr lang="en-ZA" sz="2200" dirty="0">
                <a:solidFill>
                  <a:prstClr val="black"/>
                </a:solidFill>
              </a:rPr>
              <a:t>This awareness is said to be an inherent trait of all humans and grows from our desire to get along well with each other in order to live a harmonious life.</a:t>
            </a:r>
          </a:p>
          <a:p>
            <a:pPr lvl="0"/>
            <a:endParaRPr lang="en-ZA" sz="2200" dirty="0">
              <a:solidFill>
                <a:prstClr val="black"/>
              </a:solidFill>
            </a:endParaRPr>
          </a:p>
          <a:p>
            <a:pPr lvl="0"/>
            <a:r>
              <a:rPr lang="en-ZA" sz="2200" dirty="0">
                <a:solidFill>
                  <a:prstClr val="black"/>
                </a:solidFill>
              </a:rPr>
              <a:t>To achieve this goal we understand that we must do to other people what we expect them to do to us in return. </a:t>
            </a:r>
          </a:p>
          <a:p>
            <a:pPr lvl="0"/>
            <a:endParaRPr lang="en-ZA" sz="2200" dirty="0">
              <a:solidFill>
                <a:prstClr val="black"/>
              </a:solidFill>
            </a:endParaRPr>
          </a:p>
          <a:p>
            <a:pPr lvl="0"/>
            <a:r>
              <a:rPr lang="en-ZA" sz="2200" dirty="0">
                <a:solidFill>
                  <a:prstClr val="black"/>
                </a:solidFill>
              </a:rPr>
              <a:t>For this, we try very hard to do what we feel and see as the right things to do in certain situations. </a:t>
            </a:r>
          </a:p>
          <a:p>
            <a:pPr lvl="0"/>
            <a:endParaRPr lang="en-ZA" sz="2200" dirty="0">
              <a:solidFill>
                <a:prstClr val="black"/>
              </a:solidFill>
            </a:endParaRPr>
          </a:p>
          <a:p>
            <a:pPr lvl="0"/>
            <a:r>
              <a:rPr lang="en-ZA" sz="2200" dirty="0">
                <a:solidFill>
                  <a:prstClr val="black"/>
                </a:solidFill>
              </a:rPr>
              <a:t>This is the foundation of ethics. They are rules of conduct that shows how our society expects us to behave and are the</a:t>
            </a:r>
            <a:r>
              <a:rPr lang="en-ZA" sz="2200" dirty="0">
                <a:solidFill>
                  <a:srgbClr val="002060"/>
                </a:solidFill>
              </a:rPr>
              <a:t> </a:t>
            </a:r>
            <a:r>
              <a:rPr lang="en-ZA" sz="2200" b="1" dirty="0">
                <a:solidFill>
                  <a:srgbClr val="002060"/>
                </a:solidFill>
              </a:rPr>
              <a:t>guiding principles behind the creation of laws</a:t>
            </a:r>
            <a:r>
              <a:rPr lang="en-ZA" sz="2200" dirty="0">
                <a:solidFill>
                  <a:prstClr val="black"/>
                </a:solidFill>
              </a:rPr>
              <a:t>.</a:t>
            </a:r>
          </a:p>
          <a:p>
            <a:pPr lvl="0"/>
            <a:endParaRPr lang="en-ZA" sz="1300" dirty="0">
              <a:solidFill>
                <a:prstClr val="black"/>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0"/>
            <a:ext cx="6480720" cy="825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1206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Definition of law</a:t>
            </a:r>
          </a:p>
        </p:txBody>
      </p:sp>
      <p:sp>
        <p:nvSpPr>
          <p:cNvPr id="3" name="Content Placeholder 2"/>
          <p:cNvSpPr>
            <a:spLocks noGrp="1"/>
          </p:cNvSpPr>
          <p:nvPr>
            <p:ph idx="1"/>
          </p:nvPr>
        </p:nvSpPr>
        <p:spPr/>
        <p:txBody>
          <a:bodyPr>
            <a:normAutofit fontScale="92500" lnSpcReduction="10000"/>
          </a:bodyPr>
          <a:lstStyle/>
          <a:p>
            <a:pPr lvl="0"/>
            <a:r>
              <a:rPr lang="en-ZA" sz="2700" dirty="0">
                <a:solidFill>
                  <a:prstClr val="black"/>
                </a:solidFill>
              </a:rPr>
              <a:t>The law is described as a set of rules created by the government to govern the whole of society.</a:t>
            </a:r>
          </a:p>
          <a:p>
            <a:pPr lvl="0"/>
            <a:endParaRPr lang="en-ZA" sz="2700" dirty="0">
              <a:solidFill>
                <a:prstClr val="black"/>
              </a:solidFill>
            </a:endParaRPr>
          </a:p>
          <a:p>
            <a:pPr lvl="0"/>
            <a:r>
              <a:rPr lang="en-ZA" sz="2700" dirty="0">
                <a:solidFill>
                  <a:prstClr val="black"/>
                </a:solidFill>
              </a:rPr>
              <a:t>The law is universally accepted, recognised and enforced.</a:t>
            </a:r>
          </a:p>
          <a:p>
            <a:pPr lvl="0"/>
            <a:endParaRPr lang="en-ZA" sz="2700" dirty="0">
              <a:solidFill>
                <a:prstClr val="black"/>
              </a:solidFill>
            </a:endParaRPr>
          </a:p>
          <a:p>
            <a:pPr lvl="0"/>
            <a:r>
              <a:rPr lang="en-ZA" sz="2700" dirty="0">
                <a:solidFill>
                  <a:prstClr val="black"/>
                </a:solidFill>
              </a:rPr>
              <a:t>It is created with the purpose of maintaining </a:t>
            </a:r>
            <a:r>
              <a:rPr lang="en-ZA" sz="2700" dirty="0">
                <a:solidFill>
                  <a:srgbClr val="0070C0"/>
                </a:solidFill>
              </a:rPr>
              <a:t>social order, peace and justice </a:t>
            </a:r>
            <a:r>
              <a:rPr lang="en-ZA" sz="2700" dirty="0">
                <a:solidFill>
                  <a:prstClr val="black"/>
                </a:solidFill>
              </a:rPr>
              <a:t>in society and to provide </a:t>
            </a:r>
            <a:r>
              <a:rPr lang="en-ZA" sz="2700" dirty="0">
                <a:solidFill>
                  <a:srgbClr val="0070C0"/>
                </a:solidFill>
              </a:rPr>
              <a:t>protection</a:t>
            </a:r>
            <a:r>
              <a:rPr lang="en-ZA" sz="2700" dirty="0">
                <a:solidFill>
                  <a:prstClr val="black"/>
                </a:solidFill>
              </a:rPr>
              <a:t> to the general public and safeguard their interests. </a:t>
            </a:r>
          </a:p>
          <a:p>
            <a:pPr lvl="0"/>
            <a:endParaRPr lang="en-ZA" sz="2700" dirty="0">
              <a:solidFill>
                <a:prstClr val="black"/>
              </a:solidFill>
            </a:endParaRPr>
          </a:p>
          <a:p>
            <a:pPr lvl="0"/>
            <a:r>
              <a:rPr lang="en-ZA" sz="2700" b="1" dirty="0">
                <a:solidFill>
                  <a:prstClr val="black"/>
                </a:solidFill>
              </a:rPr>
              <a:t>It is made after considering ethical principles and moral values.</a:t>
            </a:r>
          </a:p>
          <a:p>
            <a:endParaRPr lang="en-ZA" dirty="0"/>
          </a:p>
        </p:txBody>
      </p:sp>
    </p:spTree>
    <p:extLst>
      <p:ext uri="{BB962C8B-B14F-4D97-AF65-F5344CB8AC3E}">
        <p14:creationId xmlns:p14="http://schemas.microsoft.com/office/powerpoint/2010/main" val="147994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Definition of law</a:t>
            </a:r>
          </a:p>
        </p:txBody>
      </p:sp>
      <p:sp>
        <p:nvSpPr>
          <p:cNvPr id="3" name="Content Placeholder 2"/>
          <p:cNvSpPr>
            <a:spLocks noGrp="1"/>
          </p:cNvSpPr>
          <p:nvPr>
            <p:ph idx="1"/>
          </p:nvPr>
        </p:nvSpPr>
        <p:spPr>
          <a:xfrm>
            <a:off x="457200" y="1844824"/>
            <a:ext cx="8229600" cy="4281339"/>
          </a:xfrm>
        </p:spPr>
        <p:txBody>
          <a:bodyPr>
            <a:normAutofit fontScale="92500" lnSpcReduction="20000"/>
          </a:bodyPr>
          <a:lstStyle/>
          <a:p>
            <a:pPr lvl="0"/>
            <a:r>
              <a:rPr lang="en-ZA" sz="2700" dirty="0">
                <a:solidFill>
                  <a:prstClr val="black"/>
                </a:solidFill>
              </a:rPr>
              <a:t>The law is made by the judicial system of the country.</a:t>
            </a:r>
          </a:p>
          <a:p>
            <a:pPr lvl="0"/>
            <a:endParaRPr lang="en-ZA" sz="2700" dirty="0">
              <a:solidFill>
                <a:prstClr val="black"/>
              </a:solidFill>
            </a:endParaRPr>
          </a:p>
          <a:p>
            <a:pPr lvl="0"/>
            <a:endParaRPr lang="en-ZA" sz="2700" dirty="0">
              <a:solidFill>
                <a:prstClr val="black"/>
              </a:solidFill>
            </a:endParaRPr>
          </a:p>
          <a:p>
            <a:pPr lvl="0"/>
            <a:r>
              <a:rPr lang="en-ZA" sz="2700" dirty="0">
                <a:solidFill>
                  <a:prstClr val="black"/>
                </a:solidFill>
              </a:rPr>
              <a:t>Every person in the country is bound to follow the law.</a:t>
            </a:r>
          </a:p>
          <a:p>
            <a:pPr lvl="0"/>
            <a:endParaRPr lang="en-ZA" sz="2700" dirty="0">
              <a:solidFill>
                <a:prstClr val="black"/>
              </a:solidFill>
            </a:endParaRPr>
          </a:p>
          <a:p>
            <a:pPr lvl="0"/>
            <a:endParaRPr lang="en-ZA" sz="2700" dirty="0">
              <a:solidFill>
                <a:prstClr val="black"/>
              </a:solidFill>
            </a:endParaRPr>
          </a:p>
          <a:p>
            <a:pPr lvl="0"/>
            <a:r>
              <a:rPr lang="en-ZA" sz="2700" dirty="0">
                <a:solidFill>
                  <a:prstClr val="black"/>
                </a:solidFill>
              </a:rPr>
              <a:t>It clearly defines what a person </a:t>
            </a:r>
            <a:r>
              <a:rPr lang="en-ZA" sz="2700" b="1" dirty="0">
                <a:solidFill>
                  <a:prstClr val="black"/>
                </a:solidFill>
              </a:rPr>
              <a:t>must and must not do</a:t>
            </a:r>
            <a:r>
              <a:rPr lang="en-ZA" sz="2700" dirty="0">
                <a:solidFill>
                  <a:prstClr val="black"/>
                </a:solidFill>
              </a:rPr>
              <a:t>.</a:t>
            </a:r>
          </a:p>
          <a:p>
            <a:pPr lvl="0"/>
            <a:endParaRPr lang="en-ZA" sz="2700" dirty="0">
              <a:solidFill>
                <a:prstClr val="black"/>
              </a:solidFill>
            </a:endParaRPr>
          </a:p>
          <a:p>
            <a:pPr lvl="0"/>
            <a:endParaRPr lang="en-ZA" sz="2700" dirty="0">
              <a:solidFill>
                <a:prstClr val="black"/>
              </a:solidFill>
            </a:endParaRPr>
          </a:p>
          <a:p>
            <a:pPr lvl="0"/>
            <a:r>
              <a:rPr lang="en-ZA" sz="2700" dirty="0">
                <a:solidFill>
                  <a:prstClr val="black"/>
                </a:solidFill>
              </a:rPr>
              <a:t>Breaching the law may result in punishment or penalty or sometimes both.</a:t>
            </a:r>
          </a:p>
          <a:p>
            <a:endParaRPr lang="en-ZA" dirty="0"/>
          </a:p>
        </p:txBody>
      </p:sp>
    </p:spTree>
    <p:extLst>
      <p:ext uri="{BB962C8B-B14F-4D97-AF65-F5344CB8AC3E}">
        <p14:creationId xmlns:p14="http://schemas.microsoft.com/office/powerpoint/2010/main" val="1864941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3200" b="1" dirty="0"/>
              <a:t>Some major differences between ethics and law</a:t>
            </a:r>
          </a:p>
        </p:txBody>
      </p:sp>
      <p:sp>
        <p:nvSpPr>
          <p:cNvPr id="3" name="Content Placeholder 2"/>
          <p:cNvSpPr>
            <a:spLocks noGrp="1"/>
          </p:cNvSpPr>
          <p:nvPr>
            <p:ph idx="1"/>
          </p:nvPr>
        </p:nvSpPr>
        <p:spPr>
          <a:xfrm>
            <a:off x="457200" y="1772816"/>
            <a:ext cx="8229600" cy="4353347"/>
          </a:xfrm>
        </p:spPr>
        <p:txBody>
          <a:bodyPr/>
          <a:lstStyle/>
          <a:p>
            <a:pPr marL="914400" lvl="1" indent="-514350">
              <a:buFont typeface="Arial" panose="020B0604020202020204" pitchFamily="34" charset="0"/>
              <a:buAutoNum type="arabicPeriod"/>
            </a:pPr>
            <a:r>
              <a:rPr lang="en-ZA" sz="2400" b="1" dirty="0">
                <a:solidFill>
                  <a:prstClr val="black"/>
                </a:solidFill>
              </a:rPr>
              <a:t>The law consists of a set of rules and regulations. </a:t>
            </a:r>
            <a:r>
              <a:rPr lang="en-ZA" sz="2400" dirty="0">
                <a:solidFill>
                  <a:prstClr val="black"/>
                </a:solidFill>
              </a:rPr>
              <a:t>As such, legal standards are set forth in the laws of the land.</a:t>
            </a:r>
          </a:p>
          <a:p>
            <a:pPr marL="400050" lvl="1" indent="0">
              <a:buNone/>
            </a:pPr>
            <a:endParaRPr lang="en-ZA" sz="2400" dirty="0">
              <a:solidFill>
                <a:prstClr val="black"/>
              </a:solidFill>
            </a:endParaRPr>
          </a:p>
          <a:p>
            <a:pPr marL="400050" lvl="1" indent="0">
              <a:buNone/>
            </a:pPr>
            <a:r>
              <a:rPr lang="en-ZA" sz="2400" dirty="0">
                <a:solidFill>
                  <a:prstClr val="black"/>
                </a:solidFill>
              </a:rPr>
              <a:t> 	Ethics is comprised of guidelines and principles that 	inform people about how to live or how to behave  in a 	particular situation. They are based on human principles 	of right and wrong, and do necessarily have a legal basis.</a:t>
            </a:r>
          </a:p>
        </p:txBody>
      </p:sp>
    </p:spTree>
    <p:extLst>
      <p:ext uri="{BB962C8B-B14F-4D97-AF65-F5344CB8AC3E}">
        <p14:creationId xmlns:p14="http://schemas.microsoft.com/office/powerpoint/2010/main" val="3661504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Law vs Ethics</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1484784"/>
            <a:ext cx="3893489"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206" y="1340768"/>
            <a:ext cx="4103687" cy="475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7228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Law vs Ethics</a:t>
            </a:r>
          </a:p>
        </p:txBody>
      </p:sp>
      <p:sp>
        <p:nvSpPr>
          <p:cNvPr id="3" name="Content Placeholder 2"/>
          <p:cNvSpPr>
            <a:spLocks noGrp="1"/>
          </p:cNvSpPr>
          <p:nvPr>
            <p:ph idx="1"/>
          </p:nvPr>
        </p:nvSpPr>
        <p:spPr/>
        <p:txBody>
          <a:bodyPr/>
          <a:lstStyle/>
          <a:p>
            <a:pPr marL="400050" lvl="1" indent="0">
              <a:buNone/>
            </a:pPr>
            <a:r>
              <a:rPr lang="en-ZA" sz="2400" dirty="0">
                <a:solidFill>
                  <a:prstClr val="black"/>
                </a:solidFill>
              </a:rPr>
              <a:t>2. 	</a:t>
            </a:r>
            <a:r>
              <a:rPr lang="en-ZA" sz="2400" b="1" dirty="0">
                <a:solidFill>
                  <a:prstClr val="black"/>
                </a:solidFill>
              </a:rPr>
              <a:t>Laws are created by the government</a:t>
            </a:r>
            <a:r>
              <a:rPr lang="en-ZA" sz="2400" dirty="0">
                <a:solidFill>
                  <a:prstClr val="black"/>
                </a:solidFill>
              </a:rPr>
              <a:t>, which may be 	local, regional, national or international. </a:t>
            </a:r>
          </a:p>
          <a:p>
            <a:pPr marL="0" lvl="0" indent="0">
              <a:buNone/>
            </a:pPr>
            <a:r>
              <a:rPr lang="en-ZA" sz="2400" dirty="0">
                <a:solidFill>
                  <a:prstClr val="black"/>
                </a:solidFill>
              </a:rPr>
              <a:t>      	On the other hand, ethics are governed by an individual 	or by professional norms - For example workplace ethics 	or environmental ethics. </a:t>
            </a:r>
          </a:p>
          <a:p>
            <a:pPr marL="0" lvl="0" indent="0">
              <a:buNone/>
            </a:pPr>
            <a:endParaRPr lang="en-ZA" sz="2400" dirty="0">
              <a:solidFill>
                <a:prstClr val="black"/>
              </a:solidFill>
            </a:endParaRPr>
          </a:p>
          <a:p>
            <a:endParaRPr lang="en-ZA"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276" y="3954710"/>
            <a:ext cx="4245724" cy="2924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1919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Law vs Ethics</a:t>
            </a:r>
          </a:p>
        </p:txBody>
      </p:sp>
      <p:sp>
        <p:nvSpPr>
          <p:cNvPr id="3" name="Content Placeholder 2"/>
          <p:cNvSpPr>
            <a:spLocks noGrp="1"/>
          </p:cNvSpPr>
          <p:nvPr>
            <p:ph idx="1"/>
          </p:nvPr>
        </p:nvSpPr>
        <p:spPr/>
        <p:txBody>
          <a:bodyPr/>
          <a:lstStyle/>
          <a:p>
            <a:pPr marL="914400" lvl="1" indent="-514350">
              <a:buAutoNum type="arabicPeriod" startAt="3"/>
            </a:pPr>
            <a:r>
              <a:rPr lang="en-ZA" b="1" dirty="0">
                <a:solidFill>
                  <a:prstClr val="black"/>
                </a:solidFill>
              </a:rPr>
              <a:t>Laws are written and expressed in various statutes and in the constitution</a:t>
            </a:r>
            <a:r>
              <a:rPr lang="en-ZA" dirty="0">
                <a:solidFill>
                  <a:prstClr val="black"/>
                </a:solidFill>
              </a:rPr>
              <a:t>, which has a legal binding on all the people of a region/nation. </a:t>
            </a:r>
          </a:p>
          <a:p>
            <a:pPr marL="400050" lvl="1" indent="0">
              <a:buNone/>
            </a:pPr>
            <a:endParaRPr lang="en-ZA" dirty="0">
              <a:solidFill>
                <a:prstClr val="black"/>
              </a:solidFill>
            </a:endParaRPr>
          </a:p>
          <a:p>
            <a:pPr marL="0" lvl="0" indent="0">
              <a:buNone/>
            </a:pPr>
            <a:r>
              <a:rPr lang="en-ZA" dirty="0">
                <a:solidFill>
                  <a:prstClr val="black"/>
                </a:solidFill>
              </a:rPr>
              <a:t>	</a:t>
            </a:r>
            <a:r>
              <a:rPr lang="en-ZA" sz="2800" dirty="0">
                <a:solidFill>
                  <a:prstClr val="black"/>
                </a:solidFill>
              </a:rPr>
              <a:t>On the other hand, not all ethics are expressed 	in writing – like much of our personal ethics 	when navigating everyday life. </a:t>
            </a:r>
          </a:p>
          <a:p>
            <a:pPr marL="0" lvl="0" indent="0">
              <a:buNone/>
            </a:pPr>
            <a:r>
              <a:rPr lang="en-ZA" sz="2800" dirty="0">
                <a:solidFill>
                  <a:prstClr val="black"/>
                </a:solidFill>
              </a:rPr>
              <a:t>	</a:t>
            </a:r>
          </a:p>
          <a:p>
            <a:endParaRPr lang="en-ZA" dirty="0"/>
          </a:p>
        </p:txBody>
      </p:sp>
    </p:spTree>
    <p:extLst>
      <p:ext uri="{BB962C8B-B14F-4D97-AF65-F5344CB8AC3E}">
        <p14:creationId xmlns:p14="http://schemas.microsoft.com/office/powerpoint/2010/main" val="3740896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Law vs Ethics</a:t>
            </a:r>
          </a:p>
        </p:txBody>
      </p:sp>
      <p:sp>
        <p:nvSpPr>
          <p:cNvPr id="3" name="Content Placeholder 2"/>
          <p:cNvSpPr>
            <a:spLocks noGrp="1"/>
          </p:cNvSpPr>
          <p:nvPr>
            <p:ph idx="1"/>
          </p:nvPr>
        </p:nvSpPr>
        <p:spPr/>
        <p:txBody>
          <a:bodyPr/>
          <a:lstStyle/>
          <a:p>
            <a:pPr marL="0" lvl="0" indent="0">
              <a:buNone/>
            </a:pPr>
            <a:endParaRPr lang="en-ZA" dirty="0">
              <a:solidFill>
                <a:prstClr val="black"/>
              </a:solidFill>
            </a:endParaRPr>
          </a:p>
          <a:p>
            <a:pPr marL="914400" lvl="1" indent="-514350">
              <a:buAutoNum type="arabicPeriod" startAt="4"/>
            </a:pPr>
            <a:r>
              <a:rPr lang="en-ZA" dirty="0">
                <a:solidFill>
                  <a:prstClr val="black"/>
                </a:solidFill>
              </a:rPr>
              <a:t>The breach (breaking) of law may result in </a:t>
            </a:r>
            <a:r>
              <a:rPr lang="en-ZA" b="1" dirty="0">
                <a:solidFill>
                  <a:srgbClr val="002060"/>
                </a:solidFill>
              </a:rPr>
              <a:t>punishment or penalty</a:t>
            </a:r>
            <a:r>
              <a:rPr lang="en-ZA" dirty="0">
                <a:solidFill>
                  <a:prstClr val="black"/>
                </a:solidFill>
              </a:rPr>
              <a:t>, or both, which is not normally the case in the breach of ethics. </a:t>
            </a:r>
          </a:p>
          <a:p>
            <a:pPr marL="0" lvl="0" indent="0">
              <a:buNone/>
            </a:pPr>
            <a:endParaRPr lang="en-ZA" dirty="0">
              <a:solidFill>
                <a:prstClr val="black"/>
              </a:solidFill>
            </a:endParaRPr>
          </a:p>
          <a:p>
            <a:endParaRPr lang="en-ZA"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09120"/>
            <a:ext cx="2975223" cy="2348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249" y="4365104"/>
            <a:ext cx="3028751" cy="2492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4389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lstStyle/>
          <a:p>
            <a:r>
              <a:rPr lang="en-ZA" b="1" dirty="0"/>
              <a:t>Breach of Law vs Breach of Ethics</a:t>
            </a: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124744"/>
            <a:ext cx="3713935"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345" y="2852936"/>
            <a:ext cx="3600400"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345" y="4509119"/>
            <a:ext cx="3600400" cy="195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Content Placeholder 3"/>
          <p:cNvPicPr>
            <a:picLocks noChangeAspect="1"/>
          </p:cNvPicPr>
          <p:nvPr/>
        </p:nvPicPr>
        <p:blipFill>
          <a:blip r:embed="rId5"/>
          <a:stretch>
            <a:fillRect/>
          </a:stretch>
        </p:blipFill>
        <p:spPr>
          <a:xfrm>
            <a:off x="4278828" y="4797152"/>
            <a:ext cx="4418314" cy="1684238"/>
          </a:xfrm>
          <a:prstGeom prst="rect">
            <a:avLst/>
          </a:prstGeom>
        </p:spPr>
      </p:pic>
      <p:pic>
        <p:nvPicPr>
          <p:cNvPr id="3" name="Picture 2"/>
          <p:cNvPicPr>
            <a:picLocks noChangeAspect="1"/>
          </p:cNvPicPr>
          <p:nvPr/>
        </p:nvPicPr>
        <p:blipFill>
          <a:blip r:embed="rId6"/>
          <a:stretch>
            <a:fillRect/>
          </a:stretch>
        </p:blipFill>
        <p:spPr>
          <a:xfrm>
            <a:off x="4266280" y="1124744"/>
            <a:ext cx="4430863" cy="1743075"/>
          </a:xfrm>
          <a:prstGeom prst="rect">
            <a:avLst/>
          </a:prstGeom>
        </p:spPr>
      </p:pic>
      <p:pic>
        <p:nvPicPr>
          <p:cNvPr id="4" name="Picture 3"/>
          <p:cNvPicPr>
            <a:picLocks noChangeAspect="1"/>
          </p:cNvPicPr>
          <p:nvPr/>
        </p:nvPicPr>
        <p:blipFill rotWithShape="1">
          <a:blip r:embed="rId7"/>
          <a:srcRect l="10237" t="42022" r="44876" b="22960"/>
          <a:stretch/>
        </p:blipFill>
        <p:spPr>
          <a:xfrm>
            <a:off x="4279988" y="2881110"/>
            <a:ext cx="4430863" cy="1916042"/>
          </a:xfrm>
          <a:prstGeom prst="rect">
            <a:avLst/>
          </a:prstGeom>
        </p:spPr>
      </p:pic>
    </p:spTree>
    <p:extLst>
      <p:ext uri="{BB962C8B-B14F-4D97-AF65-F5344CB8AC3E}">
        <p14:creationId xmlns:p14="http://schemas.microsoft.com/office/powerpoint/2010/main" val="3055727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Final thoughts…</a:t>
            </a:r>
          </a:p>
        </p:txBody>
      </p:sp>
      <p:sp>
        <p:nvSpPr>
          <p:cNvPr id="3" name="Content Placeholder 2"/>
          <p:cNvSpPr>
            <a:spLocks noGrp="1"/>
          </p:cNvSpPr>
          <p:nvPr>
            <p:ph idx="1"/>
          </p:nvPr>
        </p:nvSpPr>
        <p:spPr>
          <a:xfrm>
            <a:off x="457200" y="1600200"/>
            <a:ext cx="8229600" cy="4853136"/>
          </a:xfrm>
        </p:spPr>
        <p:txBody>
          <a:bodyPr>
            <a:normAutofit lnSpcReduction="10000"/>
          </a:bodyPr>
          <a:lstStyle/>
          <a:p>
            <a:pPr marL="0" lvl="0" indent="0">
              <a:buNone/>
            </a:pPr>
            <a:r>
              <a:rPr lang="en-ZA" sz="3000" dirty="0">
                <a:solidFill>
                  <a:prstClr val="black"/>
                </a:solidFill>
              </a:rPr>
              <a:t>Ethics comes from a person’s conscience or moral sense and desire to preserve one’s self respect. </a:t>
            </a:r>
          </a:p>
          <a:p>
            <a:pPr marL="0" lvl="0" indent="0">
              <a:buNone/>
            </a:pPr>
            <a:endParaRPr lang="en-ZA" sz="3000" dirty="0">
              <a:solidFill>
                <a:prstClr val="black"/>
              </a:solidFill>
            </a:endParaRPr>
          </a:p>
          <a:p>
            <a:pPr marL="0" lvl="0" indent="0">
              <a:buNone/>
            </a:pPr>
            <a:r>
              <a:rPr lang="en-ZA" sz="3000" dirty="0">
                <a:solidFill>
                  <a:prstClr val="black"/>
                </a:solidFill>
              </a:rPr>
              <a:t>It is not as strict as laws. </a:t>
            </a:r>
          </a:p>
          <a:p>
            <a:pPr marL="0" lvl="0" indent="0">
              <a:buNone/>
            </a:pPr>
            <a:endParaRPr lang="en-ZA" sz="3000" dirty="0">
              <a:solidFill>
                <a:prstClr val="black"/>
              </a:solidFill>
            </a:endParaRPr>
          </a:p>
          <a:p>
            <a:pPr marL="0" lvl="0" indent="0">
              <a:buNone/>
            </a:pPr>
            <a:r>
              <a:rPr lang="en-ZA" sz="3000" dirty="0">
                <a:solidFill>
                  <a:prstClr val="black"/>
                </a:solidFill>
              </a:rPr>
              <a:t>Laws are </a:t>
            </a:r>
            <a:r>
              <a:rPr lang="en-ZA" sz="3000" b="1" dirty="0">
                <a:solidFill>
                  <a:prstClr val="black"/>
                </a:solidFill>
              </a:rPr>
              <a:t>codifications</a:t>
            </a:r>
            <a:r>
              <a:rPr lang="en-ZA" sz="3000" dirty="0">
                <a:solidFill>
                  <a:prstClr val="black"/>
                </a:solidFill>
              </a:rPr>
              <a:t> of certain ethical values meant to help regulate society, and punishments for breaking them can be harsh and sometimes </a:t>
            </a:r>
            <a:r>
              <a:rPr lang="en-ZA" sz="3000" i="1" dirty="0">
                <a:solidFill>
                  <a:prstClr val="black"/>
                </a:solidFill>
              </a:rPr>
              <a:t>even break ethical standards</a:t>
            </a:r>
            <a:r>
              <a:rPr lang="en-ZA" sz="3000" dirty="0">
                <a:solidFill>
                  <a:prstClr val="black"/>
                </a:solidFill>
              </a:rPr>
              <a:t>. Can you think of an example of this in any society?</a:t>
            </a:r>
          </a:p>
          <a:p>
            <a:endParaRPr lang="en-ZA" dirty="0"/>
          </a:p>
        </p:txBody>
      </p:sp>
    </p:spTree>
    <p:extLst>
      <p:ext uri="{BB962C8B-B14F-4D97-AF65-F5344CB8AC3E}">
        <p14:creationId xmlns:p14="http://schemas.microsoft.com/office/powerpoint/2010/main" val="1494714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628</TotalTime>
  <Words>2163</Words>
  <Application>Microsoft Office PowerPoint</Application>
  <PresentationFormat>On-screen Show (4:3)</PresentationFormat>
  <Paragraphs>203</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Arial Rounded MT Bold</vt:lpstr>
      <vt:lpstr>Calibri</vt:lpstr>
      <vt:lpstr>Office Theme</vt:lpstr>
      <vt:lpstr>    Introduction to Ethics</vt:lpstr>
      <vt:lpstr>Introduction</vt:lpstr>
      <vt:lpstr>Definition</vt:lpstr>
      <vt:lpstr>Definition cont’d</vt:lpstr>
      <vt:lpstr>Definition cont’d</vt:lpstr>
      <vt:lpstr>Why be ethical?</vt:lpstr>
      <vt:lpstr>Why be ethical?  The importance of integrity</vt:lpstr>
      <vt:lpstr>Ethical dilemmas</vt:lpstr>
      <vt:lpstr>Ethical dilemmas - ethical tools</vt:lpstr>
      <vt:lpstr>Ethical dilemmas - ethical tools</vt:lpstr>
      <vt:lpstr>Ethical dilemmas – ethical tools</vt:lpstr>
      <vt:lpstr>There are times when those questions become challenges we just can't resolve alone </vt:lpstr>
      <vt:lpstr> The difference between ethics and law</vt:lpstr>
      <vt:lpstr>Definition of law</vt:lpstr>
      <vt:lpstr>Definition of law</vt:lpstr>
      <vt:lpstr>Some major differences between ethics and law</vt:lpstr>
      <vt:lpstr>Law vs Ethics</vt:lpstr>
      <vt:lpstr>Law vs Ethics</vt:lpstr>
      <vt:lpstr>Law vs Ethics</vt:lpstr>
      <vt:lpstr>Law vs Ethics</vt:lpstr>
      <vt:lpstr>Breach of Law vs Breach of Ethics</vt:lpstr>
      <vt:lpstr>Final thoughts…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Ethics</dc:title>
  <dc:creator>Nicole Sasjah Wessels</dc:creator>
  <cp:lastModifiedBy>Nicole Wessels</cp:lastModifiedBy>
  <cp:revision>43</cp:revision>
  <dcterms:created xsi:type="dcterms:W3CDTF">2018-02-15T10:18:12Z</dcterms:created>
  <dcterms:modified xsi:type="dcterms:W3CDTF">2021-04-15T09:02:57Z</dcterms:modified>
</cp:coreProperties>
</file>