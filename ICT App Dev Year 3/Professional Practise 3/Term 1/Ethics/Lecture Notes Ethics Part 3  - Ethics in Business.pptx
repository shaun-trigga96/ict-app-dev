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82" r:id="rId8"/>
    <p:sldId id="283" r:id="rId9"/>
    <p:sldId id="262" r:id="rId10"/>
    <p:sldId id="284" r:id="rId11"/>
    <p:sldId id="263" r:id="rId12"/>
    <p:sldId id="264" r:id="rId13"/>
    <p:sldId id="285" r:id="rId14"/>
    <p:sldId id="286" r:id="rId15"/>
    <p:sldId id="288" r:id="rId16"/>
    <p:sldId id="287" r:id="rId17"/>
    <p:sldId id="265" r:id="rId18"/>
    <p:sldId id="266" r:id="rId19"/>
    <p:sldId id="267" r:id="rId20"/>
    <p:sldId id="268" r:id="rId21"/>
    <p:sldId id="269" r:id="rId22"/>
    <p:sldId id="270" r:id="rId23"/>
    <p:sldId id="271" r:id="rId24"/>
    <p:sldId id="272" r:id="rId25"/>
    <p:sldId id="273" r:id="rId26"/>
    <p:sldId id="274" r:id="rId27"/>
    <p:sldId id="276" r:id="rId28"/>
    <p:sldId id="277" r:id="rId29"/>
    <p:sldId id="279" r:id="rId30"/>
    <p:sldId id="280" r:id="rId31"/>
    <p:sldId id="28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7AF1C8-D44F-4891-A624-D4D50C636142}" v="127" dt="2022-03-08T09:48:49.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2412" autoAdjust="0"/>
  </p:normalViewPr>
  <p:slideViewPr>
    <p:cSldViewPr>
      <p:cViewPr varScale="1">
        <p:scale>
          <a:sx n="70" d="100"/>
          <a:sy n="70" d="100"/>
        </p:scale>
        <p:origin x="1810" y="72"/>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3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essels" userId="e771acc8-ecbb-4505-a306-f38d70d34d18" providerId="ADAL" clId="{F67AF1C8-D44F-4891-A624-D4D50C636142}"/>
    <pc:docChg chg="undo custSel addSld delSld modSld">
      <pc:chgData name="Nicole Wessels" userId="e771acc8-ecbb-4505-a306-f38d70d34d18" providerId="ADAL" clId="{F67AF1C8-D44F-4891-A624-D4D50C636142}" dt="2022-03-08T09:50:55.348" v="780" actId="20577"/>
      <pc:docMkLst>
        <pc:docMk/>
      </pc:docMkLst>
      <pc:sldChg chg="modSp">
        <pc:chgData name="Nicole Wessels" userId="e771acc8-ecbb-4505-a306-f38d70d34d18" providerId="ADAL" clId="{F67AF1C8-D44F-4891-A624-D4D50C636142}" dt="2022-03-08T09:34:53.182" v="691" actId="1076"/>
        <pc:sldMkLst>
          <pc:docMk/>
          <pc:sldMk cId="510280957" sldId="259"/>
        </pc:sldMkLst>
        <pc:picChg chg="mod">
          <ac:chgData name="Nicole Wessels" userId="e771acc8-ecbb-4505-a306-f38d70d34d18" providerId="ADAL" clId="{F67AF1C8-D44F-4891-A624-D4D50C636142}" dt="2022-03-08T09:34:53.182" v="691" actId="1076"/>
          <ac:picMkLst>
            <pc:docMk/>
            <pc:sldMk cId="510280957" sldId="259"/>
            <ac:picMk id="1028" creationId="{F9504845-11C5-41E8-A75E-FB4EDB03381B}"/>
          </ac:picMkLst>
        </pc:picChg>
      </pc:sldChg>
      <pc:sldChg chg="addSp delSp modSp mod">
        <pc:chgData name="Nicole Wessels" userId="e771acc8-ecbb-4505-a306-f38d70d34d18" providerId="ADAL" clId="{F67AF1C8-D44F-4891-A624-D4D50C636142}" dt="2022-03-08T07:15:25.517" v="46" actId="14100"/>
        <pc:sldMkLst>
          <pc:docMk/>
          <pc:sldMk cId="190943216" sldId="262"/>
        </pc:sldMkLst>
        <pc:spChg chg="mod">
          <ac:chgData name="Nicole Wessels" userId="e771acc8-ecbb-4505-a306-f38d70d34d18" providerId="ADAL" clId="{F67AF1C8-D44F-4891-A624-D4D50C636142}" dt="2022-03-08T07:15:22.457" v="45" actId="1076"/>
          <ac:spMkLst>
            <pc:docMk/>
            <pc:sldMk cId="190943216" sldId="262"/>
            <ac:spMk id="6" creationId="{00000000-0000-0000-0000-000000000000}"/>
          </ac:spMkLst>
        </pc:spChg>
        <pc:picChg chg="add mod">
          <ac:chgData name="Nicole Wessels" userId="e771acc8-ecbb-4505-a306-f38d70d34d18" providerId="ADAL" clId="{F67AF1C8-D44F-4891-A624-D4D50C636142}" dt="2022-03-08T07:15:25.517" v="46" actId="14100"/>
          <ac:picMkLst>
            <pc:docMk/>
            <pc:sldMk cId="190943216" sldId="262"/>
            <ac:picMk id="3" creationId="{AEF64D3C-489F-43CA-B853-A22C50669908}"/>
          </ac:picMkLst>
        </pc:picChg>
        <pc:picChg chg="mod">
          <ac:chgData name="Nicole Wessels" userId="e771acc8-ecbb-4505-a306-f38d70d34d18" providerId="ADAL" clId="{F67AF1C8-D44F-4891-A624-D4D50C636142}" dt="2022-03-08T07:15:21.123" v="44" actId="14100"/>
          <ac:picMkLst>
            <pc:docMk/>
            <pc:sldMk cId="190943216" sldId="262"/>
            <ac:picMk id="1028" creationId="{00000000-0000-0000-0000-000000000000}"/>
          </ac:picMkLst>
        </pc:picChg>
        <pc:picChg chg="add del mod">
          <ac:chgData name="Nicole Wessels" userId="e771acc8-ecbb-4505-a306-f38d70d34d18" providerId="ADAL" clId="{F67AF1C8-D44F-4891-A624-D4D50C636142}" dt="2022-03-08T07:14:46.844" v="32"/>
          <ac:picMkLst>
            <pc:docMk/>
            <pc:sldMk cId="190943216" sldId="262"/>
            <ac:picMk id="2050" creationId="{04CB9D86-2257-4138-8322-830A31D7BADE}"/>
          </ac:picMkLst>
        </pc:picChg>
        <pc:picChg chg="add del mod">
          <ac:chgData name="Nicole Wessels" userId="e771acc8-ecbb-4505-a306-f38d70d34d18" providerId="ADAL" clId="{F67AF1C8-D44F-4891-A624-D4D50C636142}" dt="2022-03-08T07:15:00.568" v="38"/>
          <ac:picMkLst>
            <pc:docMk/>
            <pc:sldMk cId="190943216" sldId="262"/>
            <ac:picMk id="2052" creationId="{3B75B1F7-4276-431E-8D51-E02E28AEE925}"/>
          </ac:picMkLst>
        </pc:picChg>
      </pc:sldChg>
      <pc:sldChg chg="addSp modSp">
        <pc:chgData name="Nicole Wessels" userId="e771acc8-ecbb-4505-a306-f38d70d34d18" providerId="ADAL" clId="{F67AF1C8-D44F-4891-A624-D4D50C636142}" dt="2022-03-08T09:03:21.759" v="507" actId="14100"/>
        <pc:sldMkLst>
          <pc:docMk/>
          <pc:sldMk cId="855058580" sldId="264"/>
        </pc:sldMkLst>
        <pc:spChg chg="add">
          <ac:chgData name="Nicole Wessels" userId="e771acc8-ecbb-4505-a306-f38d70d34d18" providerId="ADAL" clId="{F67AF1C8-D44F-4891-A624-D4D50C636142}" dt="2022-03-08T08:42:59.409" v="248"/>
          <ac:spMkLst>
            <pc:docMk/>
            <pc:sldMk cId="855058580" sldId="264"/>
            <ac:spMk id="4" creationId="{D7A24622-11EB-4B3F-892A-A67A35AFC21C}"/>
          </ac:spMkLst>
        </pc:spChg>
        <pc:picChg chg="mod">
          <ac:chgData name="Nicole Wessels" userId="e771acc8-ecbb-4505-a306-f38d70d34d18" providerId="ADAL" clId="{F67AF1C8-D44F-4891-A624-D4D50C636142}" dt="2022-03-08T09:03:21.759" v="507" actId="14100"/>
          <ac:picMkLst>
            <pc:docMk/>
            <pc:sldMk cId="855058580" sldId="264"/>
            <ac:picMk id="3076" creationId="{00000000-0000-0000-0000-000000000000}"/>
          </ac:picMkLst>
        </pc:picChg>
      </pc:sldChg>
      <pc:sldChg chg="addSp delSp modSp mod">
        <pc:chgData name="Nicole Wessels" userId="e771acc8-ecbb-4505-a306-f38d70d34d18" providerId="ADAL" clId="{F67AF1C8-D44F-4891-A624-D4D50C636142}" dt="2022-03-08T08:26:45.658" v="231" actId="1076"/>
        <pc:sldMkLst>
          <pc:docMk/>
          <pc:sldMk cId="3097055490" sldId="266"/>
        </pc:sldMkLst>
        <pc:spChg chg="mod">
          <ac:chgData name="Nicole Wessels" userId="e771acc8-ecbb-4505-a306-f38d70d34d18" providerId="ADAL" clId="{F67AF1C8-D44F-4891-A624-D4D50C636142}" dt="2022-03-08T07:34:51.449" v="79" actId="207"/>
          <ac:spMkLst>
            <pc:docMk/>
            <pc:sldMk cId="3097055490" sldId="266"/>
            <ac:spMk id="2" creationId="{00000000-0000-0000-0000-000000000000}"/>
          </ac:spMkLst>
        </pc:spChg>
        <pc:spChg chg="mod">
          <ac:chgData name="Nicole Wessels" userId="e771acc8-ecbb-4505-a306-f38d70d34d18" providerId="ADAL" clId="{F67AF1C8-D44F-4891-A624-D4D50C636142}" dt="2022-03-08T07:49:42.702" v="106" actId="27636"/>
          <ac:spMkLst>
            <pc:docMk/>
            <pc:sldMk cId="3097055490" sldId="266"/>
            <ac:spMk id="3" creationId="{00000000-0000-0000-0000-000000000000}"/>
          </ac:spMkLst>
        </pc:spChg>
        <pc:picChg chg="del mod">
          <ac:chgData name="Nicole Wessels" userId="e771acc8-ecbb-4505-a306-f38d70d34d18" providerId="ADAL" clId="{F67AF1C8-D44F-4891-A624-D4D50C636142}" dt="2022-03-08T07:47:59.148" v="95" actId="478"/>
          <ac:picMkLst>
            <pc:docMk/>
            <pc:sldMk cId="3097055490" sldId="266"/>
            <ac:picMk id="2050" creationId="{0ECC58C5-5053-4043-ACF7-0A9931E65067}"/>
          </ac:picMkLst>
        </pc:picChg>
        <pc:picChg chg="add mod">
          <ac:chgData name="Nicole Wessels" userId="e771acc8-ecbb-4505-a306-f38d70d34d18" providerId="ADAL" clId="{F67AF1C8-D44F-4891-A624-D4D50C636142}" dt="2022-03-08T08:26:33.791" v="228" actId="14100"/>
          <ac:picMkLst>
            <pc:docMk/>
            <pc:sldMk cId="3097055490" sldId="266"/>
            <ac:picMk id="3074" creationId="{9CB86EDA-46B3-4204-9943-5FF9DFD7F846}"/>
          </ac:picMkLst>
        </pc:picChg>
        <pc:picChg chg="add mod">
          <ac:chgData name="Nicole Wessels" userId="e771acc8-ecbb-4505-a306-f38d70d34d18" providerId="ADAL" clId="{F67AF1C8-D44F-4891-A624-D4D50C636142}" dt="2022-03-08T08:26:45.658" v="231" actId="1076"/>
          <ac:picMkLst>
            <pc:docMk/>
            <pc:sldMk cId="3097055490" sldId="266"/>
            <ac:picMk id="3076" creationId="{32E9CF84-91CC-48F1-988E-5131E45FCB65}"/>
          </ac:picMkLst>
        </pc:picChg>
        <pc:picChg chg="add mod">
          <ac:chgData name="Nicole Wessels" userId="e771acc8-ecbb-4505-a306-f38d70d34d18" providerId="ADAL" clId="{F67AF1C8-D44F-4891-A624-D4D50C636142}" dt="2022-03-08T08:26:26.633" v="227" actId="1076"/>
          <ac:picMkLst>
            <pc:docMk/>
            <pc:sldMk cId="3097055490" sldId="266"/>
            <ac:picMk id="3078" creationId="{262B9870-40EC-4DAE-B2D2-91E2D495004E}"/>
          </ac:picMkLst>
        </pc:picChg>
      </pc:sldChg>
      <pc:sldChg chg="addSp delSp modSp mod">
        <pc:chgData name="Nicole Wessels" userId="e771acc8-ecbb-4505-a306-f38d70d34d18" providerId="ADAL" clId="{F67AF1C8-D44F-4891-A624-D4D50C636142}" dt="2022-03-08T08:26:07.440" v="226" actId="20577"/>
        <pc:sldMkLst>
          <pc:docMk/>
          <pc:sldMk cId="2070761521" sldId="267"/>
        </pc:sldMkLst>
        <pc:spChg chg="mod">
          <ac:chgData name="Nicole Wessels" userId="e771acc8-ecbb-4505-a306-f38d70d34d18" providerId="ADAL" clId="{F67AF1C8-D44F-4891-A624-D4D50C636142}" dt="2022-03-08T07:50:09.255" v="111" actId="207"/>
          <ac:spMkLst>
            <pc:docMk/>
            <pc:sldMk cId="2070761521" sldId="267"/>
            <ac:spMk id="2" creationId="{00000000-0000-0000-0000-000000000000}"/>
          </ac:spMkLst>
        </pc:spChg>
        <pc:spChg chg="mod">
          <ac:chgData name="Nicole Wessels" userId="e771acc8-ecbb-4505-a306-f38d70d34d18" providerId="ADAL" clId="{F67AF1C8-D44F-4891-A624-D4D50C636142}" dt="2022-03-08T08:26:07.440" v="226" actId="20577"/>
          <ac:spMkLst>
            <pc:docMk/>
            <pc:sldMk cId="2070761521" sldId="267"/>
            <ac:spMk id="3" creationId="{00000000-0000-0000-0000-000000000000}"/>
          </ac:spMkLst>
        </pc:spChg>
        <pc:picChg chg="add mod">
          <ac:chgData name="Nicole Wessels" userId="e771acc8-ecbb-4505-a306-f38d70d34d18" providerId="ADAL" clId="{F67AF1C8-D44F-4891-A624-D4D50C636142}" dt="2022-03-08T08:24:52.457" v="212" actId="14100"/>
          <ac:picMkLst>
            <pc:docMk/>
            <pc:sldMk cId="2070761521" sldId="267"/>
            <ac:picMk id="4098" creationId="{1396057F-DE21-42E7-A2A0-96475202F1BE}"/>
          </ac:picMkLst>
        </pc:picChg>
        <pc:picChg chg="add del mod">
          <ac:chgData name="Nicole Wessels" userId="e771acc8-ecbb-4505-a306-f38d70d34d18" providerId="ADAL" clId="{F67AF1C8-D44F-4891-A624-D4D50C636142}" dt="2022-03-08T07:58:10.620" v="129" actId="478"/>
          <ac:picMkLst>
            <pc:docMk/>
            <pc:sldMk cId="2070761521" sldId="267"/>
            <ac:picMk id="4100" creationId="{648F3897-BF4F-4BE7-9717-4570BC851FA2}"/>
          </ac:picMkLst>
        </pc:picChg>
        <pc:picChg chg="add mod">
          <ac:chgData name="Nicole Wessels" userId="e771acc8-ecbb-4505-a306-f38d70d34d18" providerId="ADAL" clId="{F67AF1C8-D44F-4891-A624-D4D50C636142}" dt="2022-03-08T08:24:47.702" v="211" actId="14100"/>
          <ac:picMkLst>
            <pc:docMk/>
            <pc:sldMk cId="2070761521" sldId="267"/>
            <ac:picMk id="4102" creationId="{C75BBD35-549E-474C-8294-EA704ECD5981}"/>
          </ac:picMkLst>
        </pc:picChg>
      </pc:sldChg>
      <pc:sldChg chg="modSp mod">
        <pc:chgData name="Nicole Wessels" userId="e771acc8-ecbb-4505-a306-f38d70d34d18" providerId="ADAL" clId="{F67AF1C8-D44F-4891-A624-D4D50C636142}" dt="2022-03-08T09:35:28.020" v="692" actId="14861"/>
        <pc:sldMkLst>
          <pc:docMk/>
          <pc:sldMk cId="4105740671" sldId="269"/>
        </pc:sldMkLst>
        <pc:graphicFrameChg chg="mod modGraphic">
          <ac:chgData name="Nicole Wessels" userId="e771acc8-ecbb-4505-a306-f38d70d34d18" providerId="ADAL" clId="{F67AF1C8-D44F-4891-A624-D4D50C636142}" dt="2022-03-08T09:35:28.020" v="692" actId="14861"/>
          <ac:graphicFrameMkLst>
            <pc:docMk/>
            <pc:sldMk cId="4105740671" sldId="269"/>
            <ac:graphicFrameMk id="4" creationId="{00000000-0000-0000-0000-000000000000}"/>
          </ac:graphicFrameMkLst>
        </pc:graphicFrameChg>
      </pc:sldChg>
      <pc:sldChg chg="modSp mod">
        <pc:chgData name="Nicole Wessels" userId="e771acc8-ecbb-4505-a306-f38d70d34d18" providerId="ADAL" clId="{F67AF1C8-D44F-4891-A624-D4D50C636142}" dt="2022-03-08T08:12:33.859" v="148" actId="113"/>
        <pc:sldMkLst>
          <pc:docMk/>
          <pc:sldMk cId="2168292609" sldId="270"/>
        </pc:sldMkLst>
        <pc:spChg chg="mod">
          <ac:chgData name="Nicole Wessels" userId="e771acc8-ecbb-4505-a306-f38d70d34d18" providerId="ADAL" clId="{F67AF1C8-D44F-4891-A624-D4D50C636142}" dt="2022-03-08T08:12:33.859" v="148" actId="113"/>
          <ac:spMkLst>
            <pc:docMk/>
            <pc:sldMk cId="2168292609" sldId="270"/>
            <ac:spMk id="3" creationId="{00000000-0000-0000-0000-000000000000}"/>
          </ac:spMkLst>
        </pc:spChg>
      </pc:sldChg>
      <pc:sldChg chg="modSp mod">
        <pc:chgData name="Nicole Wessels" userId="e771acc8-ecbb-4505-a306-f38d70d34d18" providerId="ADAL" clId="{F67AF1C8-D44F-4891-A624-D4D50C636142}" dt="2022-03-08T08:14:39.655" v="149" actId="114"/>
        <pc:sldMkLst>
          <pc:docMk/>
          <pc:sldMk cId="220719766" sldId="273"/>
        </pc:sldMkLst>
        <pc:spChg chg="mod">
          <ac:chgData name="Nicole Wessels" userId="e771acc8-ecbb-4505-a306-f38d70d34d18" providerId="ADAL" clId="{F67AF1C8-D44F-4891-A624-D4D50C636142}" dt="2022-03-08T08:14:39.655" v="149" actId="114"/>
          <ac:spMkLst>
            <pc:docMk/>
            <pc:sldMk cId="220719766" sldId="273"/>
            <ac:spMk id="3" creationId="{00000000-0000-0000-0000-000000000000}"/>
          </ac:spMkLst>
        </pc:spChg>
      </pc:sldChg>
      <pc:sldChg chg="addSp modSp mod">
        <pc:chgData name="Nicole Wessels" userId="e771acc8-ecbb-4505-a306-f38d70d34d18" providerId="ADAL" clId="{F67AF1C8-D44F-4891-A624-D4D50C636142}" dt="2022-03-08T08:17:03.902" v="171" actId="1076"/>
        <pc:sldMkLst>
          <pc:docMk/>
          <pc:sldMk cId="666468329" sldId="274"/>
        </pc:sldMkLst>
        <pc:spChg chg="mod">
          <ac:chgData name="Nicole Wessels" userId="e771acc8-ecbb-4505-a306-f38d70d34d18" providerId="ADAL" clId="{F67AF1C8-D44F-4891-A624-D4D50C636142}" dt="2022-03-08T08:16:05.311" v="159" actId="14100"/>
          <ac:spMkLst>
            <pc:docMk/>
            <pc:sldMk cId="666468329" sldId="274"/>
            <ac:spMk id="3" creationId="{00000000-0000-0000-0000-000000000000}"/>
          </ac:spMkLst>
        </pc:spChg>
        <pc:spChg chg="add mod">
          <ac:chgData name="Nicole Wessels" userId="e771acc8-ecbb-4505-a306-f38d70d34d18" providerId="ADAL" clId="{F67AF1C8-D44F-4891-A624-D4D50C636142}" dt="2022-03-08T08:17:03.902" v="171" actId="1076"/>
          <ac:spMkLst>
            <pc:docMk/>
            <pc:sldMk cId="666468329" sldId="274"/>
            <ac:spMk id="6" creationId="{D147E7CE-4792-4181-B148-65FF0B318DC2}"/>
          </ac:spMkLst>
        </pc:spChg>
        <pc:picChg chg="add mod">
          <ac:chgData name="Nicole Wessels" userId="e771acc8-ecbb-4505-a306-f38d70d34d18" providerId="ADAL" clId="{F67AF1C8-D44F-4891-A624-D4D50C636142}" dt="2022-03-08T08:16:46.431" v="168" actId="14100"/>
          <ac:picMkLst>
            <pc:docMk/>
            <pc:sldMk cId="666468329" sldId="274"/>
            <ac:picMk id="4" creationId="{313A0650-34B0-4A18-A09A-E6D4E1D8E433}"/>
          </ac:picMkLst>
        </pc:picChg>
      </pc:sldChg>
      <pc:sldChg chg="delSp modSp del mod">
        <pc:chgData name="Nicole Wessels" userId="e771acc8-ecbb-4505-a306-f38d70d34d18" providerId="ADAL" clId="{F67AF1C8-D44F-4891-A624-D4D50C636142}" dt="2022-03-08T08:17:13.382" v="172" actId="2696"/>
        <pc:sldMkLst>
          <pc:docMk/>
          <pc:sldMk cId="2524920051" sldId="275"/>
        </pc:sldMkLst>
        <pc:spChg chg="mod">
          <ac:chgData name="Nicole Wessels" userId="e771acc8-ecbb-4505-a306-f38d70d34d18" providerId="ADAL" clId="{F67AF1C8-D44F-4891-A624-D4D50C636142}" dt="2022-03-08T08:16:33.426" v="165" actId="21"/>
          <ac:spMkLst>
            <pc:docMk/>
            <pc:sldMk cId="2524920051" sldId="275"/>
            <ac:spMk id="3" creationId="{00000000-0000-0000-0000-000000000000}"/>
          </ac:spMkLst>
        </pc:spChg>
        <pc:graphicFrameChg chg="del">
          <ac:chgData name="Nicole Wessels" userId="e771acc8-ecbb-4505-a306-f38d70d34d18" providerId="ADAL" clId="{F67AF1C8-D44F-4891-A624-D4D50C636142}" dt="2022-03-08T08:15:44.294" v="152" actId="21"/>
          <ac:graphicFrameMkLst>
            <pc:docMk/>
            <pc:sldMk cId="2524920051" sldId="275"/>
            <ac:graphicFrameMk id="4" creationId="{00000000-0000-0000-0000-000000000000}"/>
          </ac:graphicFrameMkLst>
        </pc:graphicFrameChg>
      </pc:sldChg>
      <pc:sldChg chg="addSp modSp mod">
        <pc:chgData name="Nicole Wessels" userId="e771acc8-ecbb-4505-a306-f38d70d34d18" providerId="ADAL" clId="{F67AF1C8-D44F-4891-A624-D4D50C636142}" dt="2022-03-08T08:20:20.350" v="190" actId="1076"/>
        <pc:sldMkLst>
          <pc:docMk/>
          <pc:sldMk cId="3291155977" sldId="277"/>
        </pc:sldMkLst>
        <pc:spChg chg="mod">
          <ac:chgData name="Nicole Wessels" userId="e771acc8-ecbb-4505-a306-f38d70d34d18" providerId="ADAL" clId="{F67AF1C8-D44F-4891-A624-D4D50C636142}" dt="2022-03-08T08:19:35.118" v="182" actId="20577"/>
          <ac:spMkLst>
            <pc:docMk/>
            <pc:sldMk cId="3291155977" sldId="277"/>
            <ac:spMk id="3" creationId="{00000000-0000-0000-0000-000000000000}"/>
          </ac:spMkLst>
        </pc:spChg>
        <pc:spChg chg="add mod">
          <ac:chgData name="Nicole Wessels" userId="e771acc8-ecbb-4505-a306-f38d70d34d18" providerId="ADAL" clId="{F67AF1C8-D44F-4891-A624-D4D50C636142}" dt="2022-03-08T08:20:20.350" v="190" actId="1076"/>
          <ac:spMkLst>
            <pc:docMk/>
            <pc:sldMk cId="3291155977" sldId="277"/>
            <ac:spMk id="5" creationId="{FF800D47-CDC3-4170-8809-E2F2FD3174EE}"/>
          </ac:spMkLst>
        </pc:spChg>
      </pc:sldChg>
      <pc:sldChg chg="modSp del mod">
        <pc:chgData name="Nicole Wessels" userId="e771acc8-ecbb-4505-a306-f38d70d34d18" providerId="ADAL" clId="{F67AF1C8-D44F-4891-A624-D4D50C636142}" dt="2022-03-08T08:20:34.116" v="191" actId="2696"/>
        <pc:sldMkLst>
          <pc:docMk/>
          <pc:sldMk cId="563001213" sldId="278"/>
        </pc:sldMkLst>
        <pc:spChg chg="mod">
          <ac:chgData name="Nicole Wessels" userId="e771acc8-ecbb-4505-a306-f38d70d34d18" providerId="ADAL" clId="{F67AF1C8-D44F-4891-A624-D4D50C636142}" dt="2022-03-08T08:18:53.954" v="175" actId="21"/>
          <ac:spMkLst>
            <pc:docMk/>
            <pc:sldMk cId="563001213" sldId="278"/>
            <ac:spMk id="3" creationId="{00000000-0000-0000-0000-000000000000}"/>
          </ac:spMkLst>
        </pc:spChg>
      </pc:sldChg>
      <pc:sldChg chg="modSp mod">
        <pc:chgData name="Nicole Wessels" userId="e771acc8-ecbb-4505-a306-f38d70d34d18" providerId="ADAL" clId="{F67AF1C8-D44F-4891-A624-D4D50C636142}" dt="2022-03-08T08:21:26.936" v="196" actId="20577"/>
        <pc:sldMkLst>
          <pc:docMk/>
          <pc:sldMk cId="1233535393" sldId="279"/>
        </pc:sldMkLst>
        <pc:spChg chg="mod">
          <ac:chgData name="Nicole Wessels" userId="e771acc8-ecbb-4505-a306-f38d70d34d18" providerId="ADAL" clId="{F67AF1C8-D44F-4891-A624-D4D50C636142}" dt="2022-03-08T08:21:26.936" v="196" actId="20577"/>
          <ac:spMkLst>
            <pc:docMk/>
            <pc:sldMk cId="1233535393" sldId="279"/>
            <ac:spMk id="3" creationId="{00000000-0000-0000-0000-000000000000}"/>
          </ac:spMkLst>
        </pc:spChg>
      </pc:sldChg>
      <pc:sldChg chg="modSp mod">
        <pc:chgData name="Nicole Wessels" userId="e771acc8-ecbb-4505-a306-f38d70d34d18" providerId="ADAL" clId="{F67AF1C8-D44F-4891-A624-D4D50C636142}" dt="2022-03-08T08:23:38.660" v="201" actId="1076"/>
        <pc:sldMkLst>
          <pc:docMk/>
          <pc:sldMk cId="2571704353" sldId="281"/>
        </pc:sldMkLst>
        <pc:graphicFrameChg chg="mod modGraphic">
          <ac:chgData name="Nicole Wessels" userId="e771acc8-ecbb-4505-a306-f38d70d34d18" providerId="ADAL" clId="{F67AF1C8-D44F-4891-A624-D4D50C636142}" dt="2022-03-08T08:23:38.660" v="201" actId="1076"/>
          <ac:graphicFrameMkLst>
            <pc:docMk/>
            <pc:sldMk cId="2571704353" sldId="281"/>
            <ac:graphicFrameMk id="4" creationId="{00000000-0000-0000-0000-000000000000}"/>
          </ac:graphicFrameMkLst>
        </pc:graphicFrameChg>
      </pc:sldChg>
      <pc:sldChg chg="addSp delSp modSp mod">
        <pc:chgData name="Nicole Wessels" userId="e771acc8-ecbb-4505-a306-f38d70d34d18" providerId="ADAL" clId="{F67AF1C8-D44F-4891-A624-D4D50C636142}" dt="2022-03-08T09:44:16.730" v="736" actId="14100"/>
        <pc:sldMkLst>
          <pc:docMk/>
          <pc:sldMk cId="592472359" sldId="282"/>
        </pc:sldMkLst>
        <pc:spChg chg="mod">
          <ac:chgData name="Nicole Wessels" userId="e771acc8-ecbb-4505-a306-f38d70d34d18" providerId="ADAL" clId="{F67AF1C8-D44F-4891-A624-D4D50C636142}" dt="2022-03-08T09:44:16.730" v="736" actId="14100"/>
          <ac:spMkLst>
            <pc:docMk/>
            <pc:sldMk cId="592472359" sldId="282"/>
            <ac:spMk id="2" creationId="{F2C8B9A6-F8BD-4380-A703-FD482B53DE3D}"/>
          </ac:spMkLst>
        </pc:spChg>
        <pc:spChg chg="mod">
          <ac:chgData name="Nicole Wessels" userId="e771acc8-ecbb-4505-a306-f38d70d34d18" providerId="ADAL" clId="{F67AF1C8-D44F-4891-A624-D4D50C636142}" dt="2022-03-08T09:43:27.598" v="727" actId="1076"/>
          <ac:spMkLst>
            <pc:docMk/>
            <pc:sldMk cId="592472359" sldId="282"/>
            <ac:spMk id="3" creationId="{21F8E304-94F8-4AE4-ABF8-C7288B8DB46E}"/>
          </ac:spMkLst>
        </pc:spChg>
        <pc:picChg chg="add mod">
          <ac:chgData name="Nicole Wessels" userId="e771acc8-ecbb-4505-a306-f38d70d34d18" providerId="ADAL" clId="{F67AF1C8-D44F-4891-A624-D4D50C636142}" dt="2022-03-08T09:44:01.650" v="732" actId="14100"/>
          <ac:picMkLst>
            <pc:docMk/>
            <pc:sldMk cId="592472359" sldId="282"/>
            <ac:picMk id="4" creationId="{BF1C4FD3-244D-4E8C-BBF1-EA734F0D7412}"/>
          </ac:picMkLst>
        </pc:picChg>
        <pc:picChg chg="add del mod">
          <ac:chgData name="Nicole Wessels" userId="e771acc8-ecbb-4505-a306-f38d70d34d18" providerId="ADAL" clId="{F67AF1C8-D44F-4891-A624-D4D50C636142}" dt="2022-03-08T09:43:17.985" v="724"/>
          <ac:picMkLst>
            <pc:docMk/>
            <pc:sldMk cId="592472359" sldId="282"/>
            <ac:picMk id="1026" creationId="{B1141BB0-4DBA-419A-91EF-95599F0BBF6F}"/>
          </ac:picMkLst>
        </pc:picChg>
        <pc:picChg chg="add del mod">
          <ac:chgData name="Nicole Wessels" userId="e771acc8-ecbb-4505-a306-f38d70d34d18" providerId="ADAL" clId="{F67AF1C8-D44F-4891-A624-D4D50C636142}" dt="2022-03-08T09:43:29.503" v="728"/>
          <ac:picMkLst>
            <pc:docMk/>
            <pc:sldMk cId="592472359" sldId="282"/>
            <ac:picMk id="1028" creationId="{17E80C76-319E-4ED2-BEEA-ADEA617552AF}"/>
          </ac:picMkLst>
        </pc:picChg>
      </pc:sldChg>
      <pc:sldChg chg="addSp modSp mod">
        <pc:chgData name="Nicole Wessels" userId="e771acc8-ecbb-4505-a306-f38d70d34d18" providerId="ADAL" clId="{F67AF1C8-D44F-4891-A624-D4D50C636142}" dt="2022-03-08T09:50:55.348" v="780" actId="20577"/>
        <pc:sldMkLst>
          <pc:docMk/>
          <pc:sldMk cId="2437379692" sldId="283"/>
        </pc:sldMkLst>
        <pc:spChg chg="mod">
          <ac:chgData name="Nicole Wessels" userId="e771acc8-ecbb-4505-a306-f38d70d34d18" providerId="ADAL" clId="{F67AF1C8-D44F-4891-A624-D4D50C636142}" dt="2022-03-08T09:44:29.437" v="739" actId="27636"/>
          <ac:spMkLst>
            <pc:docMk/>
            <pc:sldMk cId="2437379692" sldId="283"/>
            <ac:spMk id="2" creationId="{E4DB6F2B-1B41-4F5F-ABAF-50C838897277}"/>
          </ac:spMkLst>
        </pc:spChg>
        <pc:spChg chg="mod">
          <ac:chgData name="Nicole Wessels" userId="e771acc8-ecbb-4505-a306-f38d70d34d18" providerId="ADAL" clId="{F67AF1C8-D44F-4891-A624-D4D50C636142}" dt="2022-03-08T09:50:47.330" v="777" actId="14100"/>
          <ac:spMkLst>
            <pc:docMk/>
            <pc:sldMk cId="2437379692" sldId="283"/>
            <ac:spMk id="3" creationId="{5CB5BB24-7F0B-4520-AF25-AAB0B2911375}"/>
          </ac:spMkLst>
        </pc:spChg>
        <pc:spChg chg="add mod">
          <ac:chgData name="Nicole Wessels" userId="e771acc8-ecbb-4505-a306-f38d70d34d18" providerId="ADAL" clId="{F67AF1C8-D44F-4891-A624-D4D50C636142}" dt="2022-03-08T09:50:08.734" v="770" actId="1076"/>
          <ac:spMkLst>
            <pc:docMk/>
            <pc:sldMk cId="2437379692" sldId="283"/>
            <ac:spMk id="5" creationId="{417A3DC0-F327-4A79-A2B7-6788853AF389}"/>
          </ac:spMkLst>
        </pc:spChg>
        <pc:spChg chg="add mod">
          <ac:chgData name="Nicole Wessels" userId="e771acc8-ecbb-4505-a306-f38d70d34d18" providerId="ADAL" clId="{F67AF1C8-D44F-4891-A624-D4D50C636142}" dt="2022-03-08T09:50:55.348" v="780" actId="20577"/>
          <ac:spMkLst>
            <pc:docMk/>
            <pc:sldMk cId="2437379692" sldId="283"/>
            <ac:spMk id="7" creationId="{BD83CF5C-95AB-40D0-B518-08CFBA32A4CF}"/>
          </ac:spMkLst>
        </pc:spChg>
      </pc:sldChg>
      <pc:sldChg chg="addSp delSp modSp new mod setBg">
        <pc:chgData name="Nicole Wessels" userId="e771acc8-ecbb-4505-a306-f38d70d34d18" providerId="ADAL" clId="{F67AF1C8-D44F-4891-A624-D4D50C636142}" dt="2022-03-08T08:29:15.528" v="245" actId="255"/>
        <pc:sldMkLst>
          <pc:docMk/>
          <pc:sldMk cId="2926284671" sldId="284"/>
        </pc:sldMkLst>
        <pc:spChg chg="mod ord">
          <ac:chgData name="Nicole Wessels" userId="e771acc8-ecbb-4505-a306-f38d70d34d18" providerId="ADAL" clId="{F67AF1C8-D44F-4891-A624-D4D50C636142}" dt="2022-03-08T08:28:41.927" v="237" actId="207"/>
          <ac:spMkLst>
            <pc:docMk/>
            <pc:sldMk cId="2926284671" sldId="284"/>
            <ac:spMk id="2" creationId="{16B02F85-118C-48CB-9732-467C13320615}"/>
          </ac:spMkLst>
        </pc:spChg>
        <pc:spChg chg="mod ord">
          <ac:chgData name="Nicole Wessels" userId="e771acc8-ecbb-4505-a306-f38d70d34d18" providerId="ADAL" clId="{F67AF1C8-D44F-4891-A624-D4D50C636142}" dt="2022-03-08T08:29:15.528" v="245" actId="255"/>
          <ac:spMkLst>
            <pc:docMk/>
            <pc:sldMk cId="2926284671" sldId="284"/>
            <ac:spMk id="3" creationId="{32CC61FF-9DF7-450F-A53E-B275469E4C51}"/>
          </ac:spMkLst>
        </pc:spChg>
        <pc:spChg chg="add del">
          <ac:chgData name="Nicole Wessels" userId="e771acc8-ecbb-4505-a306-f38d70d34d18" providerId="ADAL" clId="{F67AF1C8-D44F-4891-A624-D4D50C636142}" dt="2022-03-08T07:19:53.104" v="48" actId="26606"/>
          <ac:spMkLst>
            <pc:docMk/>
            <pc:sldMk cId="2926284671" sldId="284"/>
            <ac:spMk id="71" creationId="{5A0118C5-4F8D-4CF4-BADD-53FEACC6C42A}"/>
          </ac:spMkLst>
        </pc:spChg>
        <pc:spChg chg="add del">
          <ac:chgData name="Nicole Wessels" userId="e771acc8-ecbb-4505-a306-f38d70d34d18" providerId="ADAL" clId="{F67AF1C8-D44F-4891-A624-D4D50C636142}" dt="2022-03-08T07:19:53.104" v="48" actId="26606"/>
          <ac:spMkLst>
            <pc:docMk/>
            <pc:sldMk cId="2926284671" sldId="284"/>
            <ac:spMk id="77" creationId="{4E0A5C5C-2A95-428E-9F6A-0D29EBD57C9F}"/>
          </ac:spMkLst>
        </pc:spChg>
        <pc:spChg chg="add del">
          <ac:chgData name="Nicole Wessels" userId="e771acc8-ecbb-4505-a306-f38d70d34d18" providerId="ADAL" clId="{F67AF1C8-D44F-4891-A624-D4D50C636142}" dt="2022-03-08T07:19:55.611" v="50" actId="26606"/>
          <ac:spMkLst>
            <pc:docMk/>
            <pc:sldMk cId="2926284671" sldId="284"/>
            <ac:spMk id="1028" creationId="{2B566528-1B12-4246-9431-5C2D7D081168}"/>
          </ac:spMkLst>
        </pc:spChg>
        <pc:spChg chg="add del">
          <ac:chgData name="Nicole Wessels" userId="e771acc8-ecbb-4505-a306-f38d70d34d18" providerId="ADAL" clId="{F67AF1C8-D44F-4891-A624-D4D50C636142}" dt="2022-03-08T07:20:10.514" v="52" actId="26606"/>
          <ac:spMkLst>
            <pc:docMk/>
            <pc:sldMk cId="2926284671" sldId="284"/>
            <ac:spMk id="1035" creationId="{2B566528-1B12-4246-9431-5C2D7D081168}"/>
          </ac:spMkLst>
        </pc:spChg>
        <pc:spChg chg="add del">
          <ac:chgData name="Nicole Wessels" userId="e771acc8-ecbb-4505-a306-f38d70d34d18" providerId="ADAL" clId="{F67AF1C8-D44F-4891-A624-D4D50C636142}" dt="2022-03-08T07:20:11.882" v="54" actId="26606"/>
          <ac:spMkLst>
            <pc:docMk/>
            <pc:sldMk cId="2926284671" sldId="284"/>
            <ac:spMk id="1041" creationId="{2B566528-1B12-4246-9431-5C2D7D081168}"/>
          </ac:spMkLst>
        </pc:spChg>
        <pc:spChg chg="add del">
          <ac:chgData name="Nicole Wessels" userId="e771acc8-ecbb-4505-a306-f38d70d34d18" providerId="ADAL" clId="{F67AF1C8-D44F-4891-A624-D4D50C636142}" dt="2022-03-08T07:20:14.451" v="56" actId="26606"/>
          <ac:spMkLst>
            <pc:docMk/>
            <pc:sldMk cId="2926284671" sldId="284"/>
            <ac:spMk id="1048" creationId="{2B566528-1B12-4246-9431-5C2D7D081168}"/>
          </ac:spMkLst>
        </pc:spChg>
        <pc:spChg chg="add del">
          <ac:chgData name="Nicole Wessels" userId="e771acc8-ecbb-4505-a306-f38d70d34d18" providerId="ADAL" clId="{F67AF1C8-D44F-4891-A624-D4D50C636142}" dt="2022-03-08T07:20:16.075" v="58" actId="26606"/>
          <ac:spMkLst>
            <pc:docMk/>
            <pc:sldMk cId="2926284671" sldId="284"/>
            <ac:spMk id="1054" creationId="{2B566528-1B12-4246-9431-5C2D7D081168}"/>
          </ac:spMkLst>
        </pc:spChg>
        <pc:spChg chg="add del">
          <ac:chgData name="Nicole Wessels" userId="e771acc8-ecbb-4505-a306-f38d70d34d18" providerId="ADAL" clId="{F67AF1C8-D44F-4891-A624-D4D50C636142}" dt="2022-03-08T07:29:31.035" v="60" actId="26606"/>
          <ac:spMkLst>
            <pc:docMk/>
            <pc:sldMk cId="2926284671" sldId="284"/>
            <ac:spMk id="1061" creationId="{2B566528-1B12-4246-9431-5C2D7D081168}"/>
          </ac:spMkLst>
        </pc:spChg>
        <pc:grpChg chg="add del">
          <ac:chgData name="Nicole Wessels" userId="e771acc8-ecbb-4505-a306-f38d70d34d18" providerId="ADAL" clId="{F67AF1C8-D44F-4891-A624-D4D50C636142}" dt="2022-03-08T07:19:53.104" v="48" actId="26606"/>
          <ac:grpSpMkLst>
            <pc:docMk/>
            <pc:sldMk cId="2926284671" sldId="284"/>
            <ac:grpSpMk id="73" creationId="{2A638C7D-9088-41A9-88A0-7357157BC168}"/>
          </ac:grpSpMkLst>
        </pc:grpChg>
        <pc:grpChg chg="add del">
          <ac:chgData name="Nicole Wessels" userId="e771acc8-ecbb-4505-a306-f38d70d34d18" providerId="ADAL" clId="{F67AF1C8-D44F-4891-A624-D4D50C636142}" dt="2022-03-08T07:19:53.104" v="48" actId="26606"/>
          <ac:grpSpMkLst>
            <pc:docMk/>
            <pc:sldMk cId="2926284671" sldId="284"/>
            <ac:grpSpMk id="79" creationId="{3F219210-B16A-47B6-9AA8-207DAFF37E66}"/>
          </ac:grpSpMkLst>
        </pc:grpChg>
        <pc:grpChg chg="add del">
          <ac:chgData name="Nicole Wessels" userId="e771acc8-ecbb-4505-a306-f38d70d34d18" providerId="ADAL" clId="{F67AF1C8-D44F-4891-A624-D4D50C636142}" dt="2022-03-08T07:19:53.104" v="48" actId="26606"/>
          <ac:grpSpMkLst>
            <pc:docMk/>
            <pc:sldMk cId="2926284671" sldId="284"/>
            <ac:grpSpMk id="83" creationId="{582A903B-6B78-4F0A-B7C9-3D80499020B8}"/>
          </ac:grpSpMkLst>
        </pc:grpChg>
        <pc:grpChg chg="add del">
          <ac:chgData name="Nicole Wessels" userId="e771acc8-ecbb-4505-a306-f38d70d34d18" providerId="ADAL" clId="{F67AF1C8-D44F-4891-A624-D4D50C636142}" dt="2022-03-08T07:19:55.611" v="50" actId="26606"/>
          <ac:grpSpMkLst>
            <pc:docMk/>
            <pc:sldMk cId="2926284671" sldId="284"/>
            <ac:grpSpMk id="1029" creationId="{4724F874-E407-41A5-918C-1CF5DF5269E1}"/>
          </ac:grpSpMkLst>
        </pc:grpChg>
        <pc:grpChg chg="add del">
          <ac:chgData name="Nicole Wessels" userId="e771acc8-ecbb-4505-a306-f38d70d34d18" providerId="ADAL" clId="{F67AF1C8-D44F-4891-A624-D4D50C636142}" dt="2022-03-08T07:19:55.611" v="50" actId="26606"/>
          <ac:grpSpMkLst>
            <pc:docMk/>
            <pc:sldMk cId="2926284671" sldId="284"/>
            <ac:grpSpMk id="1032" creationId="{DC8D6E3B-FFED-480F-941D-FE376375B8B7}"/>
          </ac:grpSpMkLst>
        </pc:grpChg>
        <pc:grpChg chg="add del">
          <ac:chgData name="Nicole Wessels" userId="e771acc8-ecbb-4505-a306-f38d70d34d18" providerId="ADAL" clId="{F67AF1C8-D44F-4891-A624-D4D50C636142}" dt="2022-03-08T07:20:10.514" v="52" actId="26606"/>
          <ac:grpSpMkLst>
            <pc:docMk/>
            <pc:sldMk cId="2926284671" sldId="284"/>
            <ac:grpSpMk id="1036" creationId="{828A5161-06F1-46CF-8AD7-844680A59E13}"/>
          </ac:grpSpMkLst>
        </pc:grpChg>
        <pc:grpChg chg="add del">
          <ac:chgData name="Nicole Wessels" userId="e771acc8-ecbb-4505-a306-f38d70d34d18" providerId="ADAL" clId="{F67AF1C8-D44F-4891-A624-D4D50C636142}" dt="2022-03-08T07:20:10.514" v="52" actId="26606"/>
          <ac:grpSpMkLst>
            <pc:docMk/>
            <pc:sldMk cId="2926284671" sldId="284"/>
            <ac:grpSpMk id="1037" creationId="{5995D10D-E9C9-47DB-AE7E-801FEF38F5C9}"/>
          </ac:grpSpMkLst>
        </pc:grpChg>
        <pc:grpChg chg="add del">
          <ac:chgData name="Nicole Wessels" userId="e771acc8-ecbb-4505-a306-f38d70d34d18" providerId="ADAL" clId="{F67AF1C8-D44F-4891-A624-D4D50C636142}" dt="2022-03-08T07:20:11.882" v="54" actId="26606"/>
          <ac:grpSpMkLst>
            <pc:docMk/>
            <pc:sldMk cId="2926284671" sldId="284"/>
            <ac:grpSpMk id="1042" creationId="{4724F874-E407-41A5-918C-1CF5DF5269E1}"/>
          </ac:grpSpMkLst>
        </pc:grpChg>
        <pc:grpChg chg="add del">
          <ac:chgData name="Nicole Wessels" userId="e771acc8-ecbb-4505-a306-f38d70d34d18" providerId="ADAL" clId="{F67AF1C8-D44F-4891-A624-D4D50C636142}" dt="2022-03-08T07:20:11.882" v="54" actId="26606"/>
          <ac:grpSpMkLst>
            <pc:docMk/>
            <pc:sldMk cId="2926284671" sldId="284"/>
            <ac:grpSpMk id="1045" creationId="{DC8D6E3B-FFED-480F-941D-FE376375B8B7}"/>
          </ac:grpSpMkLst>
        </pc:grpChg>
        <pc:grpChg chg="add del">
          <ac:chgData name="Nicole Wessels" userId="e771acc8-ecbb-4505-a306-f38d70d34d18" providerId="ADAL" clId="{F67AF1C8-D44F-4891-A624-D4D50C636142}" dt="2022-03-08T07:20:14.451" v="56" actId="26606"/>
          <ac:grpSpMkLst>
            <pc:docMk/>
            <pc:sldMk cId="2926284671" sldId="284"/>
            <ac:grpSpMk id="1049" creationId="{828A5161-06F1-46CF-8AD7-844680A59E13}"/>
          </ac:grpSpMkLst>
        </pc:grpChg>
        <pc:grpChg chg="add del">
          <ac:chgData name="Nicole Wessels" userId="e771acc8-ecbb-4505-a306-f38d70d34d18" providerId="ADAL" clId="{F67AF1C8-D44F-4891-A624-D4D50C636142}" dt="2022-03-08T07:20:14.451" v="56" actId="26606"/>
          <ac:grpSpMkLst>
            <pc:docMk/>
            <pc:sldMk cId="2926284671" sldId="284"/>
            <ac:grpSpMk id="1050" creationId="{5995D10D-E9C9-47DB-AE7E-801FEF38F5C9}"/>
          </ac:grpSpMkLst>
        </pc:grpChg>
        <pc:grpChg chg="add del">
          <ac:chgData name="Nicole Wessels" userId="e771acc8-ecbb-4505-a306-f38d70d34d18" providerId="ADAL" clId="{F67AF1C8-D44F-4891-A624-D4D50C636142}" dt="2022-03-08T07:20:16.075" v="58" actId="26606"/>
          <ac:grpSpMkLst>
            <pc:docMk/>
            <pc:sldMk cId="2926284671" sldId="284"/>
            <ac:grpSpMk id="1055" creationId="{4724F874-E407-41A5-918C-1CF5DF5269E1}"/>
          </ac:grpSpMkLst>
        </pc:grpChg>
        <pc:grpChg chg="add del">
          <ac:chgData name="Nicole Wessels" userId="e771acc8-ecbb-4505-a306-f38d70d34d18" providerId="ADAL" clId="{F67AF1C8-D44F-4891-A624-D4D50C636142}" dt="2022-03-08T07:20:16.075" v="58" actId="26606"/>
          <ac:grpSpMkLst>
            <pc:docMk/>
            <pc:sldMk cId="2926284671" sldId="284"/>
            <ac:grpSpMk id="1058" creationId="{DC8D6E3B-FFED-480F-941D-FE376375B8B7}"/>
          </ac:grpSpMkLst>
        </pc:grpChg>
        <pc:grpChg chg="add del">
          <ac:chgData name="Nicole Wessels" userId="e771acc8-ecbb-4505-a306-f38d70d34d18" providerId="ADAL" clId="{F67AF1C8-D44F-4891-A624-D4D50C636142}" dt="2022-03-08T07:29:31.035" v="60" actId="26606"/>
          <ac:grpSpMkLst>
            <pc:docMk/>
            <pc:sldMk cId="2926284671" sldId="284"/>
            <ac:grpSpMk id="1062" creationId="{828A5161-06F1-46CF-8AD7-844680A59E13}"/>
          </ac:grpSpMkLst>
        </pc:grpChg>
        <pc:grpChg chg="add del">
          <ac:chgData name="Nicole Wessels" userId="e771acc8-ecbb-4505-a306-f38d70d34d18" providerId="ADAL" clId="{F67AF1C8-D44F-4891-A624-D4D50C636142}" dt="2022-03-08T07:29:31.035" v="60" actId="26606"/>
          <ac:grpSpMkLst>
            <pc:docMk/>
            <pc:sldMk cId="2926284671" sldId="284"/>
            <ac:grpSpMk id="1063" creationId="{5995D10D-E9C9-47DB-AE7E-801FEF38F5C9}"/>
          </ac:grpSpMkLst>
        </pc:grpChg>
        <pc:picChg chg="add mod">
          <ac:chgData name="Nicole Wessels" userId="e771acc8-ecbb-4505-a306-f38d70d34d18" providerId="ADAL" clId="{F67AF1C8-D44F-4891-A624-D4D50C636142}" dt="2022-03-08T08:29:02.436" v="243" actId="14100"/>
          <ac:picMkLst>
            <pc:docMk/>
            <pc:sldMk cId="2926284671" sldId="284"/>
            <ac:picMk id="4" creationId="{3467D377-36DE-4E15-8200-F936279C582E}"/>
          </ac:picMkLst>
        </pc:picChg>
        <pc:picChg chg="add mod">
          <ac:chgData name="Nicole Wessels" userId="e771acc8-ecbb-4505-a306-f38d70d34d18" providerId="ADAL" clId="{F67AF1C8-D44F-4891-A624-D4D50C636142}" dt="2022-03-08T08:29:00.056" v="242" actId="14100"/>
          <ac:picMkLst>
            <pc:docMk/>
            <pc:sldMk cId="2926284671" sldId="284"/>
            <ac:picMk id="1026" creationId="{DA86018B-7FB9-497B-BB98-9141E4B93138}"/>
          </ac:picMkLst>
        </pc:picChg>
      </pc:sldChg>
      <pc:sldChg chg="addSp modSp new mod">
        <pc:chgData name="Nicole Wessels" userId="e771acc8-ecbb-4505-a306-f38d70d34d18" providerId="ADAL" clId="{F67AF1C8-D44F-4891-A624-D4D50C636142}" dt="2022-03-08T09:37:01.031" v="702" actId="113"/>
        <pc:sldMkLst>
          <pc:docMk/>
          <pc:sldMk cId="263435287" sldId="285"/>
        </pc:sldMkLst>
        <pc:spChg chg="mod">
          <ac:chgData name="Nicole Wessels" userId="e771acc8-ecbb-4505-a306-f38d70d34d18" providerId="ADAL" clId="{F67AF1C8-D44F-4891-A624-D4D50C636142}" dt="2022-03-08T09:37:01.031" v="702" actId="113"/>
          <ac:spMkLst>
            <pc:docMk/>
            <pc:sldMk cId="263435287" sldId="285"/>
            <ac:spMk id="2" creationId="{9843BFC7-12A8-4A82-B272-A3A660614404}"/>
          </ac:spMkLst>
        </pc:spChg>
        <pc:spChg chg="mod">
          <ac:chgData name="Nicole Wessels" userId="e771acc8-ecbb-4505-a306-f38d70d34d18" providerId="ADAL" clId="{F67AF1C8-D44F-4891-A624-D4D50C636142}" dt="2022-03-08T08:53:52.642" v="460" actId="20577"/>
          <ac:spMkLst>
            <pc:docMk/>
            <pc:sldMk cId="263435287" sldId="285"/>
            <ac:spMk id="3" creationId="{171A8246-4808-4B0E-9DE3-D2B758698130}"/>
          </ac:spMkLst>
        </pc:spChg>
        <pc:spChg chg="add mod">
          <ac:chgData name="Nicole Wessels" userId="e771acc8-ecbb-4505-a306-f38d70d34d18" providerId="ADAL" clId="{F67AF1C8-D44F-4891-A624-D4D50C636142}" dt="2022-03-08T08:54:25.903" v="464" actId="20577"/>
          <ac:spMkLst>
            <pc:docMk/>
            <pc:sldMk cId="263435287" sldId="285"/>
            <ac:spMk id="5" creationId="{9E59F563-E660-46BD-8280-B75E770E3966}"/>
          </ac:spMkLst>
        </pc:spChg>
      </pc:sldChg>
      <pc:sldChg chg="addSp delSp modSp new mod">
        <pc:chgData name="Nicole Wessels" userId="e771acc8-ecbb-4505-a306-f38d70d34d18" providerId="ADAL" clId="{F67AF1C8-D44F-4891-A624-D4D50C636142}" dt="2022-03-08T09:37:05.671" v="703" actId="113"/>
        <pc:sldMkLst>
          <pc:docMk/>
          <pc:sldMk cId="3194836510" sldId="286"/>
        </pc:sldMkLst>
        <pc:spChg chg="mod">
          <ac:chgData name="Nicole Wessels" userId="e771acc8-ecbb-4505-a306-f38d70d34d18" providerId="ADAL" clId="{F67AF1C8-D44F-4891-A624-D4D50C636142}" dt="2022-03-08T09:37:05.671" v="703" actId="113"/>
          <ac:spMkLst>
            <pc:docMk/>
            <pc:sldMk cId="3194836510" sldId="286"/>
            <ac:spMk id="2" creationId="{845DEC10-F6CF-4304-96E0-031C9FB1E8F5}"/>
          </ac:spMkLst>
        </pc:spChg>
        <pc:spChg chg="mod">
          <ac:chgData name="Nicole Wessels" userId="e771acc8-ecbb-4505-a306-f38d70d34d18" providerId="ADAL" clId="{F67AF1C8-D44F-4891-A624-D4D50C636142}" dt="2022-03-08T09:05:33.999" v="534" actId="14100"/>
          <ac:spMkLst>
            <pc:docMk/>
            <pc:sldMk cId="3194836510" sldId="286"/>
            <ac:spMk id="3" creationId="{9E8FB1B1-DA0E-4CA4-A988-4C713383EE0A}"/>
          </ac:spMkLst>
        </pc:spChg>
        <pc:spChg chg="add mod">
          <ac:chgData name="Nicole Wessels" userId="e771acc8-ecbb-4505-a306-f38d70d34d18" providerId="ADAL" clId="{F67AF1C8-D44F-4891-A624-D4D50C636142}" dt="2022-03-08T09:05:48.637" v="535" actId="14100"/>
          <ac:spMkLst>
            <pc:docMk/>
            <pc:sldMk cId="3194836510" sldId="286"/>
            <ac:spMk id="5" creationId="{C4A9C717-07B3-40AC-B236-D70838B58F54}"/>
          </ac:spMkLst>
        </pc:spChg>
        <pc:picChg chg="add del mod">
          <ac:chgData name="Nicole Wessels" userId="e771acc8-ecbb-4505-a306-f38d70d34d18" providerId="ADAL" clId="{F67AF1C8-D44F-4891-A624-D4D50C636142}" dt="2022-03-08T09:02:31.369" v="498" actId="478"/>
          <ac:picMkLst>
            <pc:docMk/>
            <pc:sldMk cId="3194836510" sldId="286"/>
            <ac:picMk id="7" creationId="{76459822-6201-4CCE-BA1F-24F222E53006}"/>
          </ac:picMkLst>
        </pc:picChg>
        <pc:picChg chg="add del mod modCrop">
          <ac:chgData name="Nicole Wessels" userId="e771acc8-ecbb-4505-a306-f38d70d34d18" providerId="ADAL" clId="{F67AF1C8-D44F-4891-A624-D4D50C636142}" dt="2022-03-08T09:32:06.027" v="680" actId="21"/>
          <ac:picMkLst>
            <pc:docMk/>
            <pc:sldMk cId="3194836510" sldId="286"/>
            <ac:picMk id="9" creationId="{7AD517FB-783C-4388-B063-36CAA8741164}"/>
          </ac:picMkLst>
        </pc:picChg>
      </pc:sldChg>
      <pc:sldChg chg="addSp delSp modSp new mod">
        <pc:chgData name="Nicole Wessels" userId="e771acc8-ecbb-4505-a306-f38d70d34d18" providerId="ADAL" clId="{F67AF1C8-D44F-4891-A624-D4D50C636142}" dt="2022-03-08T09:37:48.703" v="714" actId="14100"/>
        <pc:sldMkLst>
          <pc:docMk/>
          <pc:sldMk cId="1682762550" sldId="287"/>
        </pc:sldMkLst>
        <pc:spChg chg="mod">
          <ac:chgData name="Nicole Wessels" userId="e771acc8-ecbb-4505-a306-f38d70d34d18" providerId="ADAL" clId="{F67AF1C8-D44F-4891-A624-D4D50C636142}" dt="2022-03-08T09:37:48.703" v="714" actId="14100"/>
          <ac:spMkLst>
            <pc:docMk/>
            <pc:sldMk cId="1682762550" sldId="287"/>
            <ac:spMk id="2" creationId="{26C7AC77-FEDA-42D9-82D6-3CF0DB18DED2}"/>
          </ac:spMkLst>
        </pc:spChg>
        <pc:spChg chg="del">
          <ac:chgData name="Nicole Wessels" userId="e771acc8-ecbb-4505-a306-f38d70d34d18" providerId="ADAL" clId="{F67AF1C8-D44F-4891-A624-D4D50C636142}" dt="2022-03-08T09:07:04.914" v="537" actId="22"/>
          <ac:spMkLst>
            <pc:docMk/>
            <pc:sldMk cId="1682762550" sldId="287"/>
            <ac:spMk id="3" creationId="{B3C51333-AA9E-45ED-8CEE-A1F21D8151B4}"/>
          </ac:spMkLst>
        </pc:spChg>
        <pc:spChg chg="add del mod">
          <ac:chgData name="Nicole Wessels" userId="e771acc8-ecbb-4505-a306-f38d70d34d18" providerId="ADAL" clId="{F67AF1C8-D44F-4891-A624-D4D50C636142}" dt="2022-03-08T09:27:42.540" v="636" actId="478"/>
          <ac:spMkLst>
            <pc:docMk/>
            <pc:sldMk cId="1682762550" sldId="287"/>
            <ac:spMk id="7" creationId="{738AB249-D703-4B05-B654-CD55C5C03D99}"/>
          </ac:spMkLst>
        </pc:spChg>
        <pc:spChg chg="add del mod">
          <ac:chgData name="Nicole Wessels" userId="e771acc8-ecbb-4505-a306-f38d70d34d18" providerId="ADAL" clId="{F67AF1C8-D44F-4891-A624-D4D50C636142}" dt="2022-03-08T09:22:45.637" v="571"/>
          <ac:spMkLst>
            <pc:docMk/>
            <pc:sldMk cId="1682762550" sldId="287"/>
            <ac:spMk id="9" creationId="{8DB4DBDC-ED10-44F1-AC36-89DC43499500}"/>
          </ac:spMkLst>
        </pc:spChg>
        <pc:spChg chg="add del mod">
          <ac:chgData name="Nicole Wessels" userId="e771acc8-ecbb-4505-a306-f38d70d34d18" providerId="ADAL" clId="{F67AF1C8-D44F-4891-A624-D4D50C636142}" dt="2022-03-08T09:27:07.810" v="625" actId="21"/>
          <ac:spMkLst>
            <pc:docMk/>
            <pc:sldMk cId="1682762550" sldId="287"/>
            <ac:spMk id="11" creationId="{7E2B1FEC-1083-4E49-B7CC-EA74D45A0FAF}"/>
          </ac:spMkLst>
        </pc:spChg>
        <pc:spChg chg="add mod">
          <ac:chgData name="Nicole Wessels" userId="e771acc8-ecbb-4505-a306-f38d70d34d18" providerId="ADAL" clId="{F67AF1C8-D44F-4891-A624-D4D50C636142}" dt="2022-03-08T09:37:17.020" v="705" actId="21"/>
          <ac:spMkLst>
            <pc:docMk/>
            <pc:sldMk cId="1682762550" sldId="287"/>
            <ac:spMk id="13" creationId="{652273B7-7587-410E-8DB5-E0E1BE9FA91E}"/>
          </ac:spMkLst>
        </pc:spChg>
        <pc:spChg chg="add mod">
          <ac:chgData name="Nicole Wessels" userId="e771acc8-ecbb-4505-a306-f38d70d34d18" providerId="ADAL" clId="{F67AF1C8-D44F-4891-A624-D4D50C636142}" dt="2022-03-08T09:36:37.676" v="700" actId="20577"/>
          <ac:spMkLst>
            <pc:docMk/>
            <pc:sldMk cId="1682762550" sldId="287"/>
            <ac:spMk id="14" creationId="{695F20F9-C3A6-4EBB-8870-FDBF68DD5E9E}"/>
          </ac:spMkLst>
        </pc:spChg>
        <pc:spChg chg="add mod">
          <ac:chgData name="Nicole Wessels" userId="e771acc8-ecbb-4505-a306-f38d70d34d18" providerId="ADAL" clId="{F67AF1C8-D44F-4891-A624-D4D50C636142}" dt="2022-03-08T09:36:34.927" v="699" actId="20577"/>
          <ac:spMkLst>
            <pc:docMk/>
            <pc:sldMk cId="1682762550" sldId="287"/>
            <ac:spMk id="16" creationId="{3BB3926F-AA3A-44B3-9C56-436CF6A3ABF7}"/>
          </ac:spMkLst>
        </pc:spChg>
        <pc:picChg chg="add del mod ord modCrop">
          <ac:chgData name="Nicole Wessels" userId="e771acc8-ecbb-4505-a306-f38d70d34d18" providerId="ADAL" clId="{F67AF1C8-D44F-4891-A624-D4D50C636142}" dt="2022-03-08T09:25:37.448" v="584" actId="21"/>
          <ac:picMkLst>
            <pc:docMk/>
            <pc:sldMk cId="1682762550" sldId="287"/>
            <ac:picMk id="5" creationId="{4FEDBDA0-CBEC-44CA-BB01-F1CC3B9CA37F}"/>
          </ac:picMkLst>
        </pc:picChg>
      </pc:sldChg>
      <pc:sldChg chg="addSp delSp modSp new mod">
        <pc:chgData name="Nicole Wessels" userId="e771acc8-ecbb-4505-a306-f38d70d34d18" providerId="ADAL" clId="{F67AF1C8-D44F-4891-A624-D4D50C636142}" dt="2022-03-08T09:32:47.019" v="690" actId="14100"/>
        <pc:sldMkLst>
          <pc:docMk/>
          <pc:sldMk cId="3827326546" sldId="288"/>
        </pc:sldMkLst>
        <pc:spChg chg="mod">
          <ac:chgData name="Nicole Wessels" userId="e771acc8-ecbb-4505-a306-f38d70d34d18" providerId="ADAL" clId="{F67AF1C8-D44F-4891-A624-D4D50C636142}" dt="2022-03-08T09:32:30.114" v="685" actId="27636"/>
          <ac:spMkLst>
            <pc:docMk/>
            <pc:sldMk cId="3827326546" sldId="288"/>
            <ac:spMk id="2" creationId="{095816C1-9C05-4661-AB1F-7FC00A68F3D3}"/>
          </ac:spMkLst>
        </pc:spChg>
        <pc:spChg chg="del">
          <ac:chgData name="Nicole Wessels" userId="e771acc8-ecbb-4505-a306-f38d70d34d18" providerId="ADAL" clId="{F67AF1C8-D44F-4891-A624-D4D50C636142}" dt="2022-03-08T09:32:33.332" v="686"/>
          <ac:spMkLst>
            <pc:docMk/>
            <pc:sldMk cId="3827326546" sldId="288"/>
            <ac:spMk id="3" creationId="{60133DFD-ECD4-4B6A-BFCF-E4ACC68C62DB}"/>
          </ac:spMkLst>
        </pc:spChg>
        <pc:picChg chg="add mod">
          <ac:chgData name="Nicole Wessels" userId="e771acc8-ecbb-4505-a306-f38d70d34d18" providerId="ADAL" clId="{F67AF1C8-D44F-4891-A624-D4D50C636142}" dt="2022-03-08T09:32:47.019" v="690" actId="14100"/>
          <ac:picMkLst>
            <pc:docMk/>
            <pc:sldMk cId="3827326546" sldId="288"/>
            <ac:picMk id="4" creationId="{80EA6634-4EBF-4E95-9971-F5F2FDE3FFE9}"/>
          </ac:picMkLst>
        </pc:picChg>
      </pc:sldChg>
    </pc:docChg>
  </pc:docChgLst>
  <pc:docChgLst>
    <pc:chgData name="Nicole Wessels" userId="e771acc8-ecbb-4505-a306-f38d70d34d18" providerId="ADAL" clId="{C56510D6-4D8D-45DD-AA08-4BCF9BAE39BD}"/>
    <pc:docChg chg="custSel addSld modSld">
      <pc:chgData name="Nicole Wessels" userId="e771acc8-ecbb-4505-a306-f38d70d34d18" providerId="ADAL" clId="{C56510D6-4D8D-45DD-AA08-4BCF9BAE39BD}" dt="2021-04-13T06:52:39.245" v="469" actId="27636"/>
      <pc:docMkLst>
        <pc:docMk/>
      </pc:docMkLst>
      <pc:sldChg chg="modSp mod">
        <pc:chgData name="Nicole Wessels" userId="e771acc8-ecbb-4505-a306-f38d70d34d18" providerId="ADAL" clId="{C56510D6-4D8D-45DD-AA08-4BCF9BAE39BD}" dt="2021-04-13T06:08:47.880" v="1" actId="20577"/>
        <pc:sldMkLst>
          <pc:docMk/>
          <pc:sldMk cId="2663334721" sldId="256"/>
        </pc:sldMkLst>
        <pc:spChg chg="mod">
          <ac:chgData name="Nicole Wessels" userId="e771acc8-ecbb-4505-a306-f38d70d34d18" providerId="ADAL" clId="{C56510D6-4D8D-45DD-AA08-4BCF9BAE39BD}" dt="2021-04-13T06:08:47.880" v="1" actId="20577"/>
          <ac:spMkLst>
            <pc:docMk/>
            <pc:sldMk cId="2663334721" sldId="256"/>
            <ac:spMk id="2" creationId="{00000000-0000-0000-0000-000000000000}"/>
          </ac:spMkLst>
        </pc:spChg>
      </pc:sldChg>
      <pc:sldChg chg="addSp modSp mod">
        <pc:chgData name="Nicole Wessels" userId="e771acc8-ecbb-4505-a306-f38d70d34d18" providerId="ADAL" clId="{C56510D6-4D8D-45DD-AA08-4BCF9BAE39BD}" dt="2021-04-13T06:17:41.278" v="25" actId="27636"/>
        <pc:sldMkLst>
          <pc:docMk/>
          <pc:sldMk cId="690677553" sldId="258"/>
        </pc:sldMkLst>
        <pc:spChg chg="mod">
          <ac:chgData name="Nicole Wessels" userId="e771acc8-ecbb-4505-a306-f38d70d34d18" providerId="ADAL" clId="{C56510D6-4D8D-45DD-AA08-4BCF9BAE39BD}" dt="2021-04-13T06:17:41.278" v="25" actId="27636"/>
          <ac:spMkLst>
            <pc:docMk/>
            <pc:sldMk cId="690677553" sldId="258"/>
            <ac:spMk id="3" creationId="{00000000-0000-0000-0000-000000000000}"/>
          </ac:spMkLst>
        </pc:spChg>
        <pc:picChg chg="add mod">
          <ac:chgData name="Nicole Wessels" userId="e771acc8-ecbb-4505-a306-f38d70d34d18" providerId="ADAL" clId="{C56510D6-4D8D-45DD-AA08-4BCF9BAE39BD}" dt="2021-04-13T06:13:47.735" v="12" actId="14100"/>
          <ac:picMkLst>
            <pc:docMk/>
            <pc:sldMk cId="690677553" sldId="258"/>
            <ac:picMk id="1026" creationId="{2040F919-E7F1-4E1B-96DF-D39F5EBE6404}"/>
          </ac:picMkLst>
        </pc:picChg>
        <pc:picChg chg="add mod">
          <ac:chgData name="Nicole Wessels" userId="e771acc8-ecbb-4505-a306-f38d70d34d18" providerId="ADAL" clId="{C56510D6-4D8D-45DD-AA08-4BCF9BAE39BD}" dt="2021-04-13T06:15:25.390" v="17" actId="14100"/>
          <ac:picMkLst>
            <pc:docMk/>
            <pc:sldMk cId="690677553" sldId="258"/>
            <ac:picMk id="1028" creationId="{53F0E051-9BC1-404E-9714-E892386C8D1A}"/>
          </ac:picMkLst>
        </pc:picChg>
      </pc:sldChg>
      <pc:sldChg chg="modSp new mod">
        <pc:chgData name="Nicole Wessels" userId="e771acc8-ecbb-4505-a306-f38d70d34d18" providerId="ADAL" clId="{C56510D6-4D8D-45DD-AA08-4BCF9BAE39BD}" dt="2021-04-13T06:52:39.245" v="469" actId="27636"/>
        <pc:sldMkLst>
          <pc:docMk/>
          <pc:sldMk cId="592472359" sldId="282"/>
        </pc:sldMkLst>
        <pc:spChg chg="mod">
          <ac:chgData name="Nicole Wessels" userId="e771acc8-ecbb-4505-a306-f38d70d34d18" providerId="ADAL" clId="{C56510D6-4D8D-45DD-AA08-4BCF9BAE39BD}" dt="2021-04-13T06:38:16.018" v="228" actId="27636"/>
          <ac:spMkLst>
            <pc:docMk/>
            <pc:sldMk cId="592472359" sldId="282"/>
            <ac:spMk id="2" creationId="{F2C8B9A6-F8BD-4380-A703-FD482B53DE3D}"/>
          </ac:spMkLst>
        </pc:spChg>
        <pc:spChg chg="mod">
          <ac:chgData name="Nicole Wessels" userId="e771acc8-ecbb-4505-a306-f38d70d34d18" providerId="ADAL" clId="{C56510D6-4D8D-45DD-AA08-4BCF9BAE39BD}" dt="2021-04-13T06:52:39.245" v="469" actId="27636"/>
          <ac:spMkLst>
            <pc:docMk/>
            <pc:sldMk cId="592472359" sldId="282"/>
            <ac:spMk id="3" creationId="{21F8E304-94F8-4AE4-ABF8-C7288B8DB46E}"/>
          </ac:spMkLst>
        </pc:spChg>
      </pc:sldChg>
      <pc:sldChg chg="modSp new mod">
        <pc:chgData name="Nicole Wessels" userId="e771acc8-ecbb-4505-a306-f38d70d34d18" providerId="ADAL" clId="{C56510D6-4D8D-45DD-AA08-4BCF9BAE39BD}" dt="2021-04-13T06:46:49.527" v="337" actId="313"/>
        <pc:sldMkLst>
          <pc:docMk/>
          <pc:sldMk cId="2437379692" sldId="283"/>
        </pc:sldMkLst>
        <pc:spChg chg="mod">
          <ac:chgData name="Nicole Wessels" userId="e771acc8-ecbb-4505-a306-f38d70d34d18" providerId="ADAL" clId="{C56510D6-4D8D-45DD-AA08-4BCF9BAE39BD}" dt="2021-04-13T06:46:49.527" v="337" actId="313"/>
          <ac:spMkLst>
            <pc:docMk/>
            <pc:sldMk cId="2437379692" sldId="283"/>
            <ac:spMk id="2" creationId="{E4DB6F2B-1B41-4F5F-ABAF-50C838897277}"/>
          </ac:spMkLst>
        </pc:spChg>
        <pc:spChg chg="mod">
          <ac:chgData name="Nicole Wessels" userId="e771acc8-ecbb-4505-a306-f38d70d34d18" providerId="ADAL" clId="{C56510D6-4D8D-45DD-AA08-4BCF9BAE39BD}" dt="2021-04-13T06:46:21.832" v="293" actId="27636"/>
          <ac:spMkLst>
            <pc:docMk/>
            <pc:sldMk cId="2437379692" sldId="283"/>
            <ac:spMk id="3" creationId="{5CB5BB24-7F0B-4520-AF25-AAB0B29113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93D864-DCAA-4872-989A-4A297755AC28}" type="datetimeFigureOut">
              <a:rPr lang="en-ZA" smtClean="0"/>
              <a:t>2022/03/08</a:t>
            </a:fld>
            <a:endParaRPr lang="en-Z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5C91E5-737A-44B1-B131-83FD1D80CB99}" type="slidenum">
              <a:rPr lang="en-ZA" smtClean="0"/>
              <a:t>‹#›</a:t>
            </a:fld>
            <a:endParaRPr lang="en-ZA"/>
          </a:p>
        </p:txBody>
      </p:sp>
    </p:spTree>
    <p:extLst>
      <p:ext uri="{BB962C8B-B14F-4D97-AF65-F5344CB8AC3E}">
        <p14:creationId xmlns:p14="http://schemas.microsoft.com/office/powerpoint/2010/main" val="4249058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5C91E5-737A-44B1-B131-83FD1D80CB99}" type="slidenum">
              <a:rPr lang="en-ZA" smtClean="0"/>
              <a:t>10</a:t>
            </a:fld>
            <a:endParaRPr lang="en-ZA"/>
          </a:p>
        </p:txBody>
      </p:sp>
    </p:spTree>
    <p:extLst>
      <p:ext uri="{BB962C8B-B14F-4D97-AF65-F5344CB8AC3E}">
        <p14:creationId xmlns:p14="http://schemas.microsoft.com/office/powerpoint/2010/main" val="533123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5C91E5-737A-44B1-B131-83FD1D80CB99}" type="slidenum">
              <a:rPr lang="en-ZA" smtClean="0"/>
              <a:t>19</a:t>
            </a:fld>
            <a:endParaRPr lang="en-ZA"/>
          </a:p>
        </p:txBody>
      </p:sp>
    </p:spTree>
    <p:extLst>
      <p:ext uri="{BB962C8B-B14F-4D97-AF65-F5344CB8AC3E}">
        <p14:creationId xmlns:p14="http://schemas.microsoft.com/office/powerpoint/2010/main" val="3054125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9E5C91E5-737A-44B1-B131-83FD1D80CB99}" type="slidenum">
              <a:rPr lang="en-ZA" smtClean="0"/>
              <a:t>25</a:t>
            </a:fld>
            <a:endParaRPr lang="en-ZA"/>
          </a:p>
        </p:txBody>
      </p:sp>
    </p:spTree>
    <p:extLst>
      <p:ext uri="{BB962C8B-B14F-4D97-AF65-F5344CB8AC3E}">
        <p14:creationId xmlns:p14="http://schemas.microsoft.com/office/powerpoint/2010/main" val="4217202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BA808F89-ACDF-427E-969B-7056BE4FBEC9}" type="datetimeFigureOut">
              <a:rPr lang="en-ZA" smtClean="0"/>
              <a:t>2022/03/08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2471443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BA808F89-ACDF-427E-969B-7056BE4FBEC9}" type="datetimeFigureOut">
              <a:rPr lang="en-ZA" smtClean="0"/>
              <a:t>2022/03/08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942205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808F89-ACDF-427E-969B-7056BE4FBEC9}" type="datetimeFigureOut">
              <a:rPr lang="en-ZA" smtClean="0"/>
              <a:t>2022/03/08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866944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BA808F89-ACDF-427E-969B-7056BE4FBEC9}" type="datetimeFigureOut">
              <a:rPr lang="en-ZA" smtClean="0"/>
              <a:t>2022/03/08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4185557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BA808F89-ACDF-427E-969B-7056BE4FBEC9}" type="datetimeFigureOut">
              <a:rPr lang="en-ZA" smtClean="0"/>
              <a:t>2022/03/08</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1556365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BA808F89-ACDF-427E-969B-7056BE4FBEC9}" type="datetimeFigureOut">
              <a:rPr lang="en-ZA" smtClean="0"/>
              <a:t>2022/03/08</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316623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808F89-ACDF-427E-969B-7056BE4FBEC9}" type="datetimeFigureOut">
              <a:rPr lang="en-ZA" smtClean="0"/>
              <a:t>2022/03/08</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2996732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808F89-ACDF-427E-969B-7056BE4FBEC9}" type="datetimeFigureOut">
              <a:rPr lang="en-ZA" smtClean="0"/>
              <a:t>2022/03/08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357562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808F89-ACDF-427E-969B-7056BE4FBEC9}" type="datetimeFigureOut">
              <a:rPr lang="en-ZA" smtClean="0"/>
              <a:t>2022/03/08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526006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BA808F89-ACDF-427E-969B-7056BE4FBEC9}" type="datetimeFigureOut">
              <a:rPr lang="en-ZA" smtClean="0"/>
              <a:t>2022/03/08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369689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BA808F89-ACDF-427E-969B-7056BE4FBEC9}" type="datetimeFigureOut">
              <a:rPr lang="en-ZA" smtClean="0"/>
              <a:t>2022/03/08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14CE60D-1F6A-4868-832A-E172A5F99F6D}" type="slidenum">
              <a:rPr lang="en-ZA" smtClean="0"/>
              <a:t>‹#›</a:t>
            </a:fld>
            <a:endParaRPr lang="en-ZA"/>
          </a:p>
        </p:txBody>
      </p:sp>
    </p:spTree>
    <p:extLst>
      <p:ext uri="{BB962C8B-B14F-4D97-AF65-F5344CB8AC3E}">
        <p14:creationId xmlns:p14="http://schemas.microsoft.com/office/powerpoint/2010/main" val="2754808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808F89-ACDF-427E-969B-7056BE4FBEC9}" type="datetimeFigureOut">
              <a:rPr lang="en-ZA" smtClean="0"/>
              <a:t>2022/03/08</a:t>
            </a:fld>
            <a:endParaRPr lang="en-Z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4CE60D-1F6A-4868-832A-E172A5F99F6D}" type="slidenum">
              <a:rPr lang="en-ZA" smtClean="0"/>
              <a:t>‹#›</a:t>
            </a:fld>
            <a:endParaRPr lang="en-ZA"/>
          </a:p>
        </p:txBody>
      </p:sp>
    </p:spTree>
    <p:extLst>
      <p:ext uri="{BB962C8B-B14F-4D97-AF65-F5344CB8AC3E}">
        <p14:creationId xmlns:p14="http://schemas.microsoft.com/office/powerpoint/2010/main" val="2224493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theguardian.com/global-development/poverty-matters/2011/apr/28/sweatshops-supplying-high-street-brands"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uters.com/article/us-steinhoff-intln-accounts-idUSKCN1QW2C2" TargetMode="External"/><Relationship Id="rId2" Type="http://schemas.openxmlformats.org/officeDocument/2006/relationships/hyperlink" Target="https://www.biznews.com/sa-investing/2018/07/06/steinhoff-scandal-unpacked-must-read-five-part-series"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s://www.moneyweb.co.za/news/companies-and-deals/around-r5-50-steinhoff-share-expected-in-shareholders-settlement/" TargetMode="External"/><Relationship Id="rId2" Type="http://schemas.openxmlformats.org/officeDocument/2006/relationships/hyperlink" Target="https://www.dailymaverick.co.za/opinionista/2017-12-13-the-steinhoff-debacle-the-biggest-fraud-in-sa-history/"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www.caranddriver.com/news/a15352518/how-volkswagen-got-busted-for-gaming-epa-diesel-emissions-standards/" TargetMode="External"/><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hyperlink" Target="https://www.caranddriver.com/news/a15339250/everything-you-need-to-know-about-the-vw-diesel-emissions-scandal/" TargetMode="External"/><Relationship Id="rId4" Type="http://schemas.openxmlformats.org/officeDocument/2006/relationships/hyperlink" Target="https://www.caranddriver.com/news/a15350541/epa-vw-guilty-of-second-epa-violation-for-v-6-diesels-including-vw-porsche-and-audi-tdi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hyperlink" Target="https://www.forbes.com/sites/jackkelly/2021/10/25/a-hard-hitting-investigative-report-into-amazon-shows-that-workers-needs-were-neglected-in-favor-of-getting-goods-delivered-quickly/?sh=fb4395b51f50"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forbes.com/sites/jackkelly/2021/10/25/a-hard-hitting-investigative-report-into-amazon-shows-that-workers-needs-were-neglected-in-favor-of-getting-goods-delivered-quickly/?sh=fb4395b51f50" TargetMode="External"/><Relationship Id="rId2" Type="http://schemas.openxmlformats.org/officeDocument/2006/relationships/hyperlink" Target="https://www.forbes.com/sites/jackkelly/2021/02/09/a-movement-to-unionize-workers-at-amazon-is-gaining-momentu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theguardian.com/technology/2021/may/04/amazon-sales-income-europe-corporation-tax-luxembourg" TargetMode="External"/><Relationship Id="rId2" Type="http://schemas.openxmlformats.org/officeDocument/2006/relationships/hyperlink" Target="https://www.theguardian.com/business/2019/dec/02/new-study-deems-amazon-worst-for-aggressive-tax-avoidanc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www.amnesty.org/en/latest/campaigns/2015/06/7-ways-the-world-has-changed-thanks-to-edward-snowden/" TargetMode="Externa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hyperlink" Target="https://www.consumerreports.org/car-recalls-defects/takata-airbag-recall-everything-you-need-to-know-a106071366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52736"/>
            <a:ext cx="7772400" cy="2304257"/>
          </a:xfrm>
        </p:spPr>
        <p:txBody>
          <a:bodyPr>
            <a:normAutofit/>
          </a:bodyPr>
          <a:lstStyle/>
          <a:p>
            <a:r>
              <a:rPr lang="en-ZA" b="1" dirty="0"/>
              <a:t>Ethics Part 3:</a:t>
            </a:r>
            <a:br>
              <a:rPr lang="en-ZA" b="1" dirty="0"/>
            </a:br>
            <a:r>
              <a:rPr lang="en-ZA" b="1" dirty="0"/>
              <a:t>Ethics in the Business World </a:t>
            </a:r>
            <a:br>
              <a:rPr lang="en-ZA" b="1" dirty="0"/>
            </a:br>
            <a:r>
              <a:rPr lang="en-ZA" b="1" dirty="0"/>
              <a:t>      </a:t>
            </a:r>
          </a:p>
        </p:txBody>
      </p:sp>
      <p:sp>
        <p:nvSpPr>
          <p:cNvPr id="3" name="Subtitle 2"/>
          <p:cNvSpPr>
            <a:spLocks noGrp="1"/>
          </p:cNvSpPr>
          <p:nvPr>
            <p:ph type="subTitle" idx="1"/>
          </p:nvPr>
        </p:nvSpPr>
        <p:spPr>
          <a:xfrm>
            <a:off x="1371600" y="4221088"/>
            <a:ext cx="6400800" cy="1728192"/>
          </a:xfrm>
        </p:spPr>
        <p:txBody>
          <a:bodyPr>
            <a:normAutofit fontScale="70000" lnSpcReduction="20000"/>
          </a:bodyPr>
          <a:lstStyle/>
          <a:p>
            <a:endParaRPr lang="en-ZA" dirty="0"/>
          </a:p>
          <a:p>
            <a:r>
              <a:rPr lang="en-ZA" dirty="0"/>
              <a:t>Professional Practice 3</a:t>
            </a:r>
          </a:p>
          <a:p>
            <a:r>
              <a:rPr lang="en-ZA" dirty="0"/>
              <a:t>N. </a:t>
            </a:r>
            <a:r>
              <a:rPr lang="en-ZA" dirty="0" err="1"/>
              <a:t>Wessels</a:t>
            </a:r>
            <a:endParaRPr lang="en-ZA" dirty="0"/>
          </a:p>
          <a:p>
            <a:r>
              <a:rPr lang="en-ZA" dirty="0"/>
              <a:t>Source: </a:t>
            </a:r>
            <a:r>
              <a:rPr lang="en-ZA" i="1" dirty="0"/>
              <a:t>Ethics in Information Technology, 2019</a:t>
            </a:r>
            <a:r>
              <a:rPr lang="en-ZA" dirty="0"/>
              <a:t>. 6</a:t>
            </a:r>
            <a:r>
              <a:rPr lang="en-ZA" baseline="30000" dirty="0"/>
              <a:t>th</a:t>
            </a:r>
            <a:r>
              <a:rPr lang="en-ZA" dirty="0"/>
              <a:t> ed. Reynolds, G.W. Cengage Learning, Inc.</a:t>
            </a:r>
          </a:p>
        </p:txBody>
      </p:sp>
    </p:spTree>
    <p:extLst>
      <p:ext uri="{BB962C8B-B14F-4D97-AF65-F5344CB8AC3E}">
        <p14:creationId xmlns:p14="http://schemas.microsoft.com/office/powerpoint/2010/main" val="2663334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ZA" sz="3200" b="1" dirty="0"/>
              <a:t>Ethics in the Business World</a:t>
            </a:r>
          </a:p>
        </p:txBody>
      </p:sp>
      <p:sp>
        <p:nvSpPr>
          <p:cNvPr id="3" name="Content Placeholder 2"/>
          <p:cNvSpPr>
            <a:spLocks noGrp="1"/>
          </p:cNvSpPr>
          <p:nvPr>
            <p:ph idx="1"/>
          </p:nvPr>
        </p:nvSpPr>
        <p:spPr>
          <a:xfrm>
            <a:off x="457200" y="908720"/>
            <a:ext cx="8507288" cy="5688632"/>
          </a:xfrm>
        </p:spPr>
        <p:txBody>
          <a:bodyPr>
            <a:normAutofit fontScale="92500" lnSpcReduction="20000"/>
          </a:bodyPr>
          <a:lstStyle/>
          <a:p>
            <a:r>
              <a:rPr lang="en-ZA" sz="2400" dirty="0"/>
              <a:t>Ethics has risen to the </a:t>
            </a:r>
            <a:r>
              <a:rPr lang="en-ZA" sz="2400" b="1" dirty="0">
                <a:solidFill>
                  <a:srgbClr val="FF0000"/>
                </a:solidFill>
              </a:rPr>
              <a:t>top of the business agenda </a:t>
            </a:r>
            <a:r>
              <a:rPr lang="en-ZA" sz="2400" dirty="0"/>
              <a:t>because the </a:t>
            </a:r>
            <a:r>
              <a:rPr lang="en-ZA" sz="2400" b="1" dirty="0"/>
              <a:t>risks</a:t>
            </a:r>
            <a:r>
              <a:rPr lang="en-ZA" sz="2400" dirty="0"/>
              <a:t> associated with inappropriate behaviour have </a:t>
            </a:r>
            <a:r>
              <a:rPr lang="en-ZA" sz="2400" b="1" dirty="0"/>
              <a:t>increased</a:t>
            </a:r>
            <a:r>
              <a:rPr lang="en-ZA" sz="2400" dirty="0"/>
              <a:t>.</a:t>
            </a:r>
          </a:p>
          <a:p>
            <a:endParaRPr lang="en-ZA" sz="2400" dirty="0"/>
          </a:p>
          <a:p>
            <a:r>
              <a:rPr lang="en-ZA" sz="2400" dirty="0"/>
              <a:t>Abroad, we have seen the collapse of and/or bailout of financial institutions such as Bank of America, Lehman Brothers and American International Group (AIG) due to unwise and/or unethical decision making regarding the approval of mortgages, loans, and lines of credit to unqualified individuals and organisations.</a:t>
            </a:r>
          </a:p>
          <a:p>
            <a:endParaRPr lang="en-ZA" sz="2400" dirty="0"/>
          </a:p>
          <a:p>
            <a:r>
              <a:rPr lang="en-ZA" sz="2400" dirty="0"/>
              <a:t>We have also seen many corporate officers and senior managers sentenced to prison terms for their unethical behaviour – e.g. Stewart Parnell, former CEO of Peanut Corporation of America, who was sentenced to 28 years in prison for knowingly shipping contaminated food product, resulting in a salmonella outbreak that killed 9 people and sickened more than 700.</a:t>
            </a:r>
          </a:p>
          <a:p>
            <a:endParaRPr lang="en-ZA" sz="2400" dirty="0"/>
          </a:p>
          <a:p>
            <a:r>
              <a:rPr lang="en-ZA" sz="2400" dirty="0"/>
              <a:t>Unethical behaviour can lead to </a:t>
            </a:r>
            <a:r>
              <a:rPr lang="en-ZA" sz="2400" u="sng" dirty="0"/>
              <a:t>negative consequences </a:t>
            </a:r>
            <a:r>
              <a:rPr lang="en-ZA" sz="2400" dirty="0"/>
              <a:t>for both organisations and individuals.</a:t>
            </a:r>
          </a:p>
        </p:txBody>
      </p:sp>
      <p:cxnSp>
        <p:nvCxnSpPr>
          <p:cNvPr id="5" name="Curved Connector 4"/>
          <p:cNvCxnSpPr/>
          <p:nvPr/>
        </p:nvCxnSpPr>
        <p:spPr>
          <a:xfrm rot="10800000" flipV="1">
            <a:off x="3635896" y="5085185"/>
            <a:ext cx="2232248" cy="457200"/>
          </a:xfrm>
          <a:prstGeom prst="curvedConnector3">
            <a:avLst>
              <a:gd name="adj1" fmla="val 50000"/>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204510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Ethics in the Business World</a:t>
            </a:r>
          </a:p>
        </p:txBody>
      </p:sp>
      <p:sp>
        <p:nvSpPr>
          <p:cNvPr id="3" name="Content Placeholder 2"/>
          <p:cNvSpPr>
            <a:spLocks noGrp="1"/>
          </p:cNvSpPr>
          <p:nvPr>
            <p:ph idx="1"/>
          </p:nvPr>
        </p:nvSpPr>
        <p:spPr>
          <a:xfrm>
            <a:off x="457200" y="1524000"/>
            <a:ext cx="4618856" cy="5217368"/>
          </a:xfrm>
        </p:spPr>
        <p:txBody>
          <a:bodyPr>
            <a:normAutofit fontScale="85000" lnSpcReduction="10000"/>
          </a:bodyPr>
          <a:lstStyle/>
          <a:p>
            <a:pPr marL="0" indent="0">
              <a:buNone/>
            </a:pPr>
            <a:r>
              <a:rPr lang="en-ZA" sz="2400" dirty="0"/>
              <a:t>Several trends have increased the likelihood of unethical behaviour. </a:t>
            </a:r>
          </a:p>
          <a:p>
            <a:r>
              <a:rPr lang="en-ZA" sz="2400" dirty="0"/>
              <a:t>First, for many organisations, </a:t>
            </a:r>
            <a:r>
              <a:rPr lang="en-ZA" sz="2400" b="1" dirty="0"/>
              <a:t>greater globalisation </a:t>
            </a:r>
            <a:r>
              <a:rPr lang="en-ZA" sz="2400" dirty="0"/>
              <a:t>has created a much more complex  work environment that spans diverse cultures and societies, making it more difficult to apply principles and codes of ethics </a:t>
            </a:r>
            <a:r>
              <a:rPr lang="en-ZA" sz="2400" b="1" dirty="0"/>
              <a:t>consistently</a:t>
            </a:r>
            <a:r>
              <a:rPr lang="en-ZA" sz="2400" dirty="0"/>
              <a:t>. 	</a:t>
            </a:r>
          </a:p>
          <a:p>
            <a:pPr marL="0" indent="0">
              <a:buNone/>
            </a:pPr>
            <a:r>
              <a:rPr lang="en-ZA" sz="2400" dirty="0"/>
              <a:t>For example, numerous U.S. and European companies have moved operations to developing countries, where employees and contractors work in conditions that would not be acceptable in the most developed countries.</a:t>
            </a:r>
          </a:p>
          <a:p>
            <a:pPr marL="0" indent="0">
              <a:buNone/>
            </a:pPr>
            <a:r>
              <a:rPr lang="en-ZA" sz="2400" dirty="0">
                <a:hlinkClick r:id="rId2"/>
              </a:rPr>
              <a:t>https://www.theguardian.com/global-development/poverty-matters/2011/apr/28/sweatshops-supplying-high-street-brands</a:t>
            </a:r>
            <a:endParaRPr lang="en-ZA" sz="2400" dirty="0"/>
          </a:p>
          <a:p>
            <a:pPr marL="0" indent="0">
              <a:buNone/>
            </a:pPr>
            <a:endParaRPr lang="en-ZA" sz="2400" dirty="0"/>
          </a:p>
        </p:txBody>
      </p:sp>
      <p:pic>
        <p:nvPicPr>
          <p:cNvPr id="1026" name="Picture 2" descr="NIKE AND CHILD LABOUR – PATH TO SUSTAINABILITY | Flagship">
            <a:extLst>
              <a:ext uri="{FF2B5EF4-FFF2-40B4-BE49-F238E27FC236}">
                <a16:creationId xmlns:a16="http://schemas.microsoft.com/office/drawing/2014/main" id="{2040F919-E7F1-4E1B-96DF-D39F5EBE6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7" y="1524000"/>
            <a:ext cx="3610744" cy="24810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weatshops are still supplying high street brands | Global development |  The Guardian">
            <a:extLst>
              <a:ext uri="{FF2B5EF4-FFF2-40B4-BE49-F238E27FC236}">
                <a16:creationId xmlns:a16="http://schemas.microsoft.com/office/drawing/2014/main" id="{53F0E051-9BC1-404E-9714-E892386C8D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510" y="4005064"/>
            <a:ext cx="3610744"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67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Ethics in the Business World</a:t>
            </a:r>
          </a:p>
        </p:txBody>
      </p:sp>
      <p:sp>
        <p:nvSpPr>
          <p:cNvPr id="3" name="Content Placeholder 2"/>
          <p:cNvSpPr>
            <a:spLocks noGrp="1"/>
          </p:cNvSpPr>
          <p:nvPr>
            <p:ph idx="1"/>
          </p:nvPr>
        </p:nvSpPr>
        <p:spPr>
          <a:xfrm>
            <a:off x="457200" y="1600200"/>
            <a:ext cx="5194920" cy="4525963"/>
          </a:xfrm>
        </p:spPr>
        <p:txBody>
          <a:bodyPr>
            <a:normAutofit fontScale="92500" lnSpcReduction="10000"/>
          </a:bodyPr>
          <a:lstStyle/>
          <a:p>
            <a:r>
              <a:rPr lang="en-ZA" sz="2400" dirty="0"/>
              <a:t>Second, in today’s challenging and uncertain </a:t>
            </a:r>
            <a:r>
              <a:rPr lang="en-ZA" sz="2400" b="1" dirty="0"/>
              <a:t>economic climate</a:t>
            </a:r>
            <a:r>
              <a:rPr lang="en-ZA" sz="2400" dirty="0"/>
              <a:t>, many organisations are finding it more difficult to maintain revenue and profits. Some organisations are tempted to </a:t>
            </a:r>
            <a:r>
              <a:rPr lang="en-ZA" sz="2400" b="1" dirty="0"/>
              <a:t>resort to unethical behaviour </a:t>
            </a:r>
            <a:r>
              <a:rPr lang="en-ZA" sz="2400" dirty="0"/>
              <a:t>to maintain profits. </a:t>
            </a:r>
          </a:p>
          <a:p>
            <a:endParaRPr lang="en-ZA" sz="2400" dirty="0"/>
          </a:p>
          <a:p>
            <a:pPr marL="0" indent="0">
              <a:buNone/>
            </a:pPr>
            <a:r>
              <a:rPr lang="en-ZA" sz="2400" dirty="0"/>
              <a:t>For example, Tesco, Britain’s largest supermarket chain, admitted its first half-year of profits for 2013 were overstated by $400 million. Fiat Chrysler Automobiles admitted its U.S. auto sales were overstated by hundreds of cars each month starting as far back as 2011.</a:t>
            </a:r>
          </a:p>
          <a:p>
            <a:endParaRPr lang="en-ZA" sz="2400" dirty="0"/>
          </a:p>
        </p:txBody>
      </p:sp>
      <p:pic>
        <p:nvPicPr>
          <p:cNvPr id="1026" name="Picture 2" descr="The dirty dozen: how unethical behaviour creeps into your organisation |  ESMT Knowledge">
            <a:extLst>
              <a:ext uri="{FF2B5EF4-FFF2-40B4-BE49-F238E27FC236}">
                <a16:creationId xmlns:a16="http://schemas.microsoft.com/office/drawing/2014/main" id="{502EDF96-1DAB-41EF-A455-E1CC91274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9664" y="1336554"/>
            <a:ext cx="3024336" cy="18002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siness Ethics Case Analyses: Amazon Prime Day Protests">
            <a:extLst>
              <a:ext uri="{FF2B5EF4-FFF2-40B4-BE49-F238E27FC236}">
                <a16:creationId xmlns:a16="http://schemas.microsoft.com/office/drawing/2014/main" id="{F9504845-11C5-41E8-A75E-FB4EDB033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3186" y="3155170"/>
            <a:ext cx="3076575" cy="1800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280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a:t>Ethics in the Business World</a:t>
            </a:r>
            <a:endParaRPr lang="en-ZA" b="1" dirty="0"/>
          </a:p>
        </p:txBody>
      </p:sp>
      <p:sp>
        <p:nvSpPr>
          <p:cNvPr id="3" name="Content Placeholder 2"/>
          <p:cNvSpPr>
            <a:spLocks noGrp="1"/>
          </p:cNvSpPr>
          <p:nvPr>
            <p:ph idx="1"/>
          </p:nvPr>
        </p:nvSpPr>
        <p:spPr>
          <a:xfrm>
            <a:off x="457200" y="1600200"/>
            <a:ext cx="8229600" cy="4997152"/>
          </a:xfrm>
        </p:spPr>
        <p:txBody>
          <a:bodyPr>
            <a:normAutofit/>
          </a:bodyPr>
          <a:lstStyle/>
          <a:p>
            <a:r>
              <a:rPr lang="en-ZA" sz="2400"/>
              <a:t>Employees, shareholders, and regulatory agencies are </a:t>
            </a:r>
            <a:r>
              <a:rPr lang="en-ZA" sz="2400" i="1"/>
              <a:t>increasingly sensitive </a:t>
            </a:r>
            <a:r>
              <a:rPr lang="en-ZA" sz="2400"/>
              <a:t>to violations of accounting standards, failures to disclose substantial changes in business conditions, nonconformance with required health and safety practices, and production of unsafe or substandard products.</a:t>
            </a:r>
          </a:p>
          <a:p>
            <a:pPr marL="0" indent="0">
              <a:buNone/>
            </a:pPr>
            <a:r>
              <a:rPr lang="en-ZA" sz="2400"/>
              <a:t> </a:t>
            </a:r>
          </a:p>
          <a:p>
            <a:r>
              <a:rPr lang="en-ZA" sz="2400"/>
              <a:t>Such heightened vigilance raises the risk of financial loss for businesses that do not foster ethical practices or that run afoul of required standards.</a:t>
            </a:r>
          </a:p>
          <a:p>
            <a:endParaRPr lang="en-ZA" sz="2400"/>
          </a:p>
          <a:p>
            <a:r>
              <a:rPr lang="en-ZA" sz="2400"/>
              <a:t>There is also a risk of criminal and civil lawsuits resulting in fines and/or incarceration for individuals.</a:t>
            </a:r>
            <a:endParaRPr lang="en-ZA" sz="2400" dirty="0"/>
          </a:p>
        </p:txBody>
      </p:sp>
    </p:spTree>
    <p:extLst>
      <p:ext uri="{BB962C8B-B14F-4D97-AF65-F5344CB8AC3E}">
        <p14:creationId xmlns:p14="http://schemas.microsoft.com/office/powerpoint/2010/main" val="2895101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sz="2400" b="1" dirty="0"/>
              <a:t>Ethics in the Business World – A classic example of the many risks associated with unethical decision making can be found in the Enron accounting scandal</a:t>
            </a:r>
          </a:p>
        </p:txBody>
      </p:sp>
      <p:sp>
        <p:nvSpPr>
          <p:cNvPr id="3" name="Content Placeholder 2"/>
          <p:cNvSpPr>
            <a:spLocks noGrp="1"/>
          </p:cNvSpPr>
          <p:nvPr>
            <p:ph idx="1"/>
          </p:nvPr>
        </p:nvSpPr>
        <p:spPr>
          <a:xfrm>
            <a:off x="457200" y="1484784"/>
            <a:ext cx="8229600" cy="4968552"/>
          </a:xfrm>
          <a:solidFill>
            <a:schemeClr val="bg1"/>
          </a:solidFill>
          <a:ln>
            <a:solidFill>
              <a:schemeClr val="accent3"/>
            </a:solidFill>
          </a:ln>
        </p:spPr>
        <p:txBody>
          <a:bodyPr>
            <a:normAutofit fontScale="77500" lnSpcReduction="20000"/>
          </a:bodyPr>
          <a:lstStyle/>
          <a:p>
            <a:pPr marL="0" indent="0">
              <a:buNone/>
            </a:pPr>
            <a:r>
              <a:rPr lang="en-ZA" i="1" dirty="0"/>
              <a:t>In 2000, Enron -  a Texas-based energy company  -  employed over 22000 people, and it reported an annual revenue of $101 billion. However, in 2001, it was revealed that much of Enron’s revenue was the result of deals with limited partnerships, which it controlled. </a:t>
            </a:r>
          </a:p>
          <a:p>
            <a:pPr marL="0" indent="0">
              <a:buNone/>
            </a:pPr>
            <a:r>
              <a:rPr lang="en-ZA" i="1" dirty="0"/>
              <a:t>In addition, as a result of actions taken contrary to generally accepted accounting practices (GAAP), many of Enron’s debts and losses were not reported in its financial statements. As the accounting scandal unfolded, Enron’s shares dropped from $90 per share to less than $1 per share, and the company was forced to file for bankruptcy.  </a:t>
            </a:r>
          </a:p>
          <a:p>
            <a:pPr marL="0" indent="0">
              <a:buNone/>
            </a:pPr>
            <a:endParaRPr lang="en-ZA" i="1" dirty="0"/>
          </a:p>
          <a:p>
            <a:pPr marL="0" indent="0">
              <a:buNone/>
            </a:pPr>
            <a:r>
              <a:rPr lang="en-ZA" i="1" dirty="0"/>
              <a:t>The Enron case was notorious, but many other corporate scandals have occurred in spite of safeguards enacted as a result of the Enron debacle.</a:t>
            </a:r>
          </a:p>
        </p:txBody>
      </p:sp>
    </p:spTree>
    <p:extLst>
      <p:ext uri="{BB962C8B-B14F-4D97-AF65-F5344CB8AC3E}">
        <p14:creationId xmlns:p14="http://schemas.microsoft.com/office/powerpoint/2010/main" val="461917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B9A6-F8BD-4380-A703-FD482B53DE3D}"/>
              </a:ext>
            </a:extLst>
          </p:cNvPr>
          <p:cNvSpPr>
            <a:spLocks noGrp="1"/>
          </p:cNvSpPr>
          <p:nvPr>
            <p:ph type="title"/>
          </p:nvPr>
        </p:nvSpPr>
        <p:spPr>
          <a:xfrm>
            <a:off x="107504" y="274638"/>
            <a:ext cx="8856984" cy="562074"/>
          </a:xfrm>
        </p:spPr>
        <p:txBody>
          <a:bodyPr>
            <a:noAutofit/>
          </a:bodyPr>
          <a:lstStyle/>
          <a:p>
            <a:r>
              <a:rPr lang="en-US" sz="2400" b="1" dirty="0"/>
              <a:t>South African example of unethical practices due to accounting irregularities </a:t>
            </a:r>
            <a:endParaRPr lang="en-GB" sz="2400" b="1" dirty="0"/>
          </a:p>
        </p:txBody>
      </p:sp>
      <p:sp>
        <p:nvSpPr>
          <p:cNvPr id="3" name="Content Placeholder 2">
            <a:extLst>
              <a:ext uri="{FF2B5EF4-FFF2-40B4-BE49-F238E27FC236}">
                <a16:creationId xmlns:a16="http://schemas.microsoft.com/office/drawing/2014/main" id="{21F8E304-94F8-4AE4-ABF8-C7288B8DB46E}"/>
              </a:ext>
            </a:extLst>
          </p:cNvPr>
          <p:cNvSpPr>
            <a:spLocks noGrp="1"/>
          </p:cNvSpPr>
          <p:nvPr>
            <p:ph idx="1"/>
          </p:nvPr>
        </p:nvSpPr>
        <p:spPr>
          <a:xfrm>
            <a:off x="457200" y="1052736"/>
            <a:ext cx="8229600" cy="5429783"/>
          </a:xfrm>
        </p:spPr>
        <p:txBody>
          <a:bodyPr>
            <a:normAutofit fontScale="85000" lnSpcReduction="20000"/>
          </a:bodyPr>
          <a:lstStyle/>
          <a:p>
            <a:pPr marL="0" indent="0">
              <a:buNone/>
            </a:pPr>
            <a:r>
              <a:rPr lang="en-US" sz="2400" dirty="0"/>
              <a:t>Steinhoff debacle –</a:t>
            </a:r>
            <a:r>
              <a:rPr lang="en-US" sz="2200" b="0" i="0" dirty="0">
                <a:solidFill>
                  <a:srgbClr val="333333"/>
                </a:solidFill>
                <a:effectLst/>
              </a:rPr>
              <a:t>Before its collapse, Steinhoff was among the top-10 companies on the Johannesburg Stock Exchange. It is considered the </a:t>
            </a:r>
            <a:r>
              <a:rPr lang="en-US" sz="2200" b="1" i="0" u="sng" dirty="0">
                <a:solidFill>
                  <a:srgbClr val="333333"/>
                </a:solidFill>
                <a:effectLst/>
              </a:rPr>
              <a:t>b</a:t>
            </a:r>
            <a:r>
              <a:rPr lang="en-US" sz="2200" b="1" u="sng" dirty="0"/>
              <a:t>iggest fraud in SA corporate history</a:t>
            </a:r>
            <a:r>
              <a:rPr lang="en-US" sz="2200" dirty="0"/>
              <a:t>:</a:t>
            </a:r>
          </a:p>
          <a:p>
            <a:pPr marL="0" indent="0">
              <a:buNone/>
            </a:pPr>
            <a:endParaRPr lang="en-US" sz="2200" dirty="0"/>
          </a:p>
          <a:p>
            <a:pPr marL="0" indent="0">
              <a:buNone/>
            </a:pPr>
            <a:r>
              <a:rPr lang="en-US" sz="2400" b="0" i="1" dirty="0">
                <a:solidFill>
                  <a:srgbClr val="070707"/>
                </a:solidFill>
                <a:effectLst/>
                <a:latin typeface="Lora"/>
              </a:rPr>
              <a:t>Steinhoff was a stock market darling and its bosses were regarded as South Africa’s experts in globalization.</a:t>
            </a:r>
          </a:p>
          <a:p>
            <a:pPr marL="0" indent="0">
              <a:buNone/>
            </a:pPr>
            <a:r>
              <a:rPr lang="en-US" sz="1800" dirty="0">
                <a:hlinkClick r:id="rId2"/>
              </a:rPr>
              <a:t>https://www.biznews.com/sa-investing/2018/07/06/steinhoff-scandal-unpacked-must-read-five-part-series</a:t>
            </a:r>
            <a:endParaRPr lang="en-US" sz="1800" dirty="0"/>
          </a:p>
          <a:p>
            <a:pPr marL="0" indent="0">
              <a:buNone/>
            </a:pPr>
            <a:r>
              <a:rPr lang="en-US" b="0" i="0" dirty="0">
                <a:solidFill>
                  <a:srgbClr val="313132"/>
                </a:solidFill>
                <a:effectLst/>
                <a:latin typeface="freight-book"/>
              </a:rPr>
              <a:t> </a:t>
            </a:r>
          </a:p>
          <a:p>
            <a:pPr marL="0" indent="0">
              <a:buNone/>
            </a:pPr>
            <a:r>
              <a:rPr lang="en-US" sz="2100" b="0" i="0" dirty="0">
                <a:solidFill>
                  <a:srgbClr val="313132"/>
                </a:solidFill>
                <a:effectLst/>
                <a:latin typeface="freight-book"/>
              </a:rPr>
              <a:t>South African retailer Steinhoff said an independent report had found it had overstated profits over several years in a $7.4 billion accounting fraud involving a small group of top executives and outsiders. The scandal has all but wiped out shareholders’ equity and led to several resignations including chief executive Markus Jooste, who was instrumental in putting Steinhoff on investor radar screens. The scandal has wiped out 216 billion rand from Steinhoff’s market value since December 2017, a dramatic turnaround of fortunes for a company that was once a must-have in fund managers’ portfolios. Steinhoff said investigators found that top management figures entered into fictitious transactions with entities purported to be independent third parties, to create the illusion of income used to hide losses at the company’s operating units.</a:t>
            </a:r>
          </a:p>
          <a:p>
            <a:pPr marL="0" indent="0">
              <a:buNone/>
            </a:pPr>
            <a:r>
              <a:rPr lang="en-US" sz="2100" dirty="0">
                <a:hlinkClick r:id="rId3"/>
              </a:rPr>
              <a:t>https://www.reuters.com/article/us-steinhoff-intln-accounts-idUSKCN1QW2C2</a:t>
            </a:r>
            <a:endParaRPr lang="en-US" sz="2100" dirty="0"/>
          </a:p>
          <a:p>
            <a:pPr marL="0" indent="0">
              <a:buNone/>
            </a:pPr>
            <a:endParaRPr lang="en-US" sz="2100" dirty="0"/>
          </a:p>
          <a:p>
            <a:pPr marL="0" indent="0">
              <a:buNone/>
            </a:pPr>
            <a:endParaRPr lang="en-US" sz="2600" dirty="0"/>
          </a:p>
          <a:p>
            <a:pPr marL="0" indent="0">
              <a:buNone/>
            </a:pPr>
            <a:endParaRPr lang="en-GB" sz="1800" dirty="0"/>
          </a:p>
        </p:txBody>
      </p:sp>
      <p:pic>
        <p:nvPicPr>
          <p:cNvPr id="4" name="Picture 3">
            <a:extLst>
              <a:ext uri="{FF2B5EF4-FFF2-40B4-BE49-F238E27FC236}">
                <a16:creationId xmlns:a16="http://schemas.microsoft.com/office/drawing/2014/main" id="{BF1C4FD3-244D-4E8C-BBF1-EA734F0D7412}"/>
              </a:ext>
            </a:extLst>
          </p:cNvPr>
          <p:cNvPicPr>
            <a:picLocks noChangeAspect="1"/>
          </p:cNvPicPr>
          <p:nvPr/>
        </p:nvPicPr>
        <p:blipFill>
          <a:blip r:embed="rId4"/>
          <a:stretch>
            <a:fillRect/>
          </a:stretch>
        </p:blipFill>
        <p:spPr>
          <a:xfrm>
            <a:off x="6267492" y="6093296"/>
            <a:ext cx="2876508" cy="764704"/>
          </a:xfrm>
          <a:prstGeom prst="rect">
            <a:avLst/>
          </a:prstGeom>
        </p:spPr>
      </p:pic>
    </p:spTree>
    <p:extLst>
      <p:ext uri="{BB962C8B-B14F-4D97-AF65-F5344CB8AC3E}">
        <p14:creationId xmlns:p14="http://schemas.microsoft.com/office/powerpoint/2010/main" val="592472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B6F2B-1B41-4F5F-ABAF-50C838897277}"/>
              </a:ext>
            </a:extLst>
          </p:cNvPr>
          <p:cNvSpPr>
            <a:spLocks noGrp="1"/>
          </p:cNvSpPr>
          <p:nvPr>
            <p:ph type="title"/>
          </p:nvPr>
        </p:nvSpPr>
        <p:spPr>
          <a:xfrm>
            <a:off x="457200" y="0"/>
            <a:ext cx="8229600" cy="692696"/>
          </a:xfrm>
        </p:spPr>
        <p:txBody>
          <a:bodyPr>
            <a:normAutofit/>
          </a:bodyPr>
          <a:lstStyle/>
          <a:p>
            <a:r>
              <a:rPr lang="en-US" sz="3600" b="1" dirty="0"/>
              <a:t>Journalist’s comments on Steinhoff</a:t>
            </a:r>
            <a:endParaRPr lang="en-GB" sz="3600" b="1" dirty="0"/>
          </a:p>
        </p:txBody>
      </p:sp>
      <p:sp>
        <p:nvSpPr>
          <p:cNvPr id="3" name="Content Placeholder 2">
            <a:extLst>
              <a:ext uri="{FF2B5EF4-FFF2-40B4-BE49-F238E27FC236}">
                <a16:creationId xmlns:a16="http://schemas.microsoft.com/office/drawing/2014/main" id="{5CB5BB24-7F0B-4520-AF25-AAB0B2911375}"/>
              </a:ext>
            </a:extLst>
          </p:cNvPr>
          <p:cNvSpPr>
            <a:spLocks noGrp="1"/>
          </p:cNvSpPr>
          <p:nvPr>
            <p:ph idx="1"/>
          </p:nvPr>
        </p:nvSpPr>
        <p:spPr>
          <a:xfrm>
            <a:off x="197768" y="836712"/>
            <a:ext cx="5814392" cy="6021288"/>
          </a:xfrm>
        </p:spPr>
        <p:txBody>
          <a:bodyPr>
            <a:normAutofit fontScale="32500" lnSpcReduction="20000"/>
          </a:bodyPr>
          <a:lstStyle/>
          <a:p>
            <a:pPr marL="0" indent="0">
              <a:buNone/>
            </a:pPr>
            <a:r>
              <a:rPr lang="en-US" sz="4000" b="0" i="0" dirty="0">
                <a:solidFill>
                  <a:srgbClr val="000000"/>
                </a:solidFill>
                <a:effectLst/>
                <a:latin typeface="+mj-lt"/>
                <a:cs typeface="Calibri" panose="020F0502020204030204" pitchFamily="34" charset="0"/>
              </a:rPr>
              <a:t>Tom Eaton (</a:t>
            </a:r>
            <a:r>
              <a:rPr lang="en-US" sz="4000" b="0" i="1" dirty="0">
                <a:solidFill>
                  <a:srgbClr val="000000"/>
                </a:solidFill>
                <a:effectLst/>
                <a:latin typeface="+mj-lt"/>
                <a:cs typeface="Calibri" panose="020F0502020204030204" pitchFamily="34" charset="0"/>
              </a:rPr>
              <a:t>The Times </a:t>
            </a:r>
            <a:r>
              <a:rPr lang="en-US" sz="4000" b="0" i="0" dirty="0">
                <a:solidFill>
                  <a:srgbClr val="000000"/>
                </a:solidFill>
                <a:effectLst/>
                <a:latin typeface="+mj-lt"/>
                <a:cs typeface="Calibri" panose="020F0502020204030204" pitchFamily="34" charset="0"/>
              </a:rPr>
              <a:t>11/12/17) comments aptly on the manner in which the corporate elite has responded to the Steinhoff debacle. Losses amounting to more than R100-billion, exceeding, in 48 hours, the amounts the Guptas are accused of looting over a decade. Apart from qualifying as the biggest fraud in South African corporate history, the scandal sheds unflattering light not only on the morals of the corporate elite, but also their reputed financial wizardry to which their enormous wealth is so regularly attributed.</a:t>
            </a:r>
          </a:p>
          <a:p>
            <a:pPr marL="0" indent="0">
              <a:buNone/>
            </a:pPr>
            <a:endParaRPr lang="en-US" sz="4000" b="0" i="0" dirty="0">
              <a:solidFill>
                <a:srgbClr val="000000"/>
              </a:solidFill>
              <a:effectLst/>
              <a:latin typeface="+mj-lt"/>
              <a:cs typeface="Calibri" panose="020F0502020204030204" pitchFamily="34" charset="0"/>
            </a:endParaRPr>
          </a:p>
          <a:p>
            <a:pPr marL="0" indent="0">
              <a:buNone/>
            </a:pPr>
            <a:r>
              <a:rPr lang="en-US" sz="4000" b="0" i="0" dirty="0">
                <a:solidFill>
                  <a:srgbClr val="000000"/>
                </a:solidFill>
                <a:effectLst/>
                <a:latin typeface="+mj-lt"/>
              </a:rPr>
              <a:t>Pointing to the use of the euphemism “accounting irregularity” to describe the actions of the Steinhoff Mafia sitting atop this multinational empire, Eaton opines “… many South Africans are demanding that stronger language be used, pointing out that the middle class and the media, always so quick to unload both barrels at state corruption, tend to go easy on dirty corporates.</a:t>
            </a:r>
          </a:p>
          <a:p>
            <a:pPr marL="0" indent="0">
              <a:buNone/>
            </a:pPr>
            <a:endParaRPr lang="en-US" sz="4000" b="0" i="0" dirty="0">
              <a:solidFill>
                <a:srgbClr val="000000"/>
              </a:solidFill>
              <a:effectLst/>
              <a:latin typeface="+mj-lt"/>
            </a:endParaRPr>
          </a:p>
          <a:p>
            <a:pPr marL="0" indent="0" algn="l">
              <a:buNone/>
            </a:pPr>
            <a:r>
              <a:rPr lang="en-US" sz="4000" b="0" i="0" dirty="0">
                <a:solidFill>
                  <a:srgbClr val="000000"/>
                </a:solidFill>
                <a:effectLst/>
                <a:latin typeface="+mj-lt"/>
              </a:rPr>
              <a:t>Condemning the tendency to create a false juxtaposition between state and private sector fraud – treating the latter as a kind of victimless crime – Eaton reminds his readers that the worst damage has been suffered not by Steinhoff’s biggest shareholder Christo Wiese. He has suffered the “indignity” of being relegated from the premier league of dollar millionaires to the ABC Motsepe League of mere millionaires. Nor, similarly, the fall guy – former CEO Markus Jooste – who can now look forward to spending more time at various race courses with his horses around the world after resigning following making some “big mistakes”.</a:t>
            </a:r>
          </a:p>
          <a:p>
            <a:pPr marL="0" indent="0" algn="l">
              <a:buNone/>
            </a:pPr>
            <a:endParaRPr lang="en-US" sz="4000" b="0" i="0" dirty="0">
              <a:solidFill>
                <a:srgbClr val="000000"/>
              </a:solidFill>
              <a:effectLst/>
              <a:latin typeface="+mj-lt"/>
            </a:endParaRPr>
          </a:p>
          <a:p>
            <a:pPr marL="0" indent="0" algn="l">
              <a:buNone/>
            </a:pPr>
            <a:r>
              <a:rPr lang="en-US" sz="4000" b="0" i="0" dirty="0">
                <a:solidFill>
                  <a:srgbClr val="000000"/>
                </a:solidFill>
                <a:effectLst/>
                <a:latin typeface="+mj-lt"/>
              </a:rPr>
              <a:t>The biggest victims are government employees – the 1.2-million who contribute towards the Government Employees Pension Fund keeping 400,000 pensions afloat – who had no say in the Steinhoff investment, and who are now poorer by R12-billion. Should Steinhoff go bankrupt, which is not ruled out, 130,000 jobs across the world are threatened.</a:t>
            </a:r>
          </a:p>
          <a:p>
            <a:pPr marL="0" indent="0">
              <a:buNone/>
            </a:pPr>
            <a:endParaRPr lang="en-US" sz="4000" b="0" i="0" dirty="0">
              <a:solidFill>
                <a:srgbClr val="000000"/>
              </a:solidFill>
              <a:effectLst/>
              <a:latin typeface="+mj-lt"/>
              <a:cs typeface="Calibri" panose="020F0502020204030204" pitchFamily="34" charset="0"/>
            </a:endParaRPr>
          </a:p>
          <a:p>
            <a:pPr marL="0" indent="0">
              <a:buNone/>
            </a:pPr>
            <a:r>
              <a:rPr lang="en-GB" sz="4000" dirty="0"/>
              <a:t>Source: </a:t>
            </a:r>
            <a:r>
              <a:rPr lang="en-GB" sz="4000" dirty="0">
                <a:hlinkClick r:id="rId2"/>
              </a:rPr>
              <a:t>https://www.dailymaverick.co.za/opinionista/2017-12-13-the-steinhoff-debacle-the-biggest-fraud-in-sa-history/</a:t>
            </a:r>
            <a:endParaRPr lang="en-GB" sz="4000" dirty="0"/>
          </a:p>
          <a:p>
            <a:endParaRPr lang="en-GB" dirty="0"/>
          </a:p>
        </p:txBody>
      </p:sp>
      <p:sp>
        <p:nvSpPr>
          <p:cNvPr id="5" name="TextBox 4">
            <a:extLst>
              <a:ext uri="{FF2B5EF4-FFF2-40B4-BE49-F238E27FC236}">
                <a16:creationId xmlns:a16="http://schemas.microsoft.com/office/drawing/2014/main" id="{417A3DC0-F327-4A79-A2B7-6788853AF389}"/>
              </a:ext>
            </a:extLst>
          </p:cNvPr>
          <p:cNvSpPr txBox="1"/>
          <p:nvPr/>
        </p:nvSpPr>
        <p:spPr>
          <a:xfrm>
            <a:off x="6012160" y="3318083"/>
            <a:ext cx="3131840" cy="1231106"/>
          </a:xfrm>
          <a:prstGeom prst="rect">
            <a:avLst/>
          </a:prstGeom>
          <a:noFill/>
        </p:spPr>
        <p:txBody>
          <a:bodyPr wrap="square">
            <a:spAutoFit/>
          </a:bodyPr>
          <a:lstStyle/>
          <a:p>
            <a:r>
              <a:rPr lang="en-GB" sz="1400" dirty="0">
                <a:hlinkClick r:id="rId3"/>
              </a:rPr>
              <a:t>https://www.moneyweb.co.za/news/companies-and-deals/around-r5-50-steinhoff-share-expected-in-shareholders-settlement/</a:t>
            </a:r>
            <a:endParaRPr lang="en-GB" sz="1400" dirty="0"/>
          </a:p>
          <a:p>
            <a:endParaRPr lang="en-GB" dirty="0"/>
          </a:p>
        </p:txBody>
      </p:sp>
      <p:sp>
        <p:nvSpPr>
          <p:cNvPr id="7" name="TextBox 6">
            <a:extLst>
              <a:ext uri="{FF2B5EF4-FFF2-40B4-BE49-F238E27FC236}">
                <a16:creationId xmlns:a16="http://schemas.microsoft.com/office/drawing/2014/main" id="{BD83CF5C-95AB-40D0-B518-08CFBA32A4CF}"/>
              </a:ext>
            </a:extLst>
          </p:cNvPr>
          <p:cNvSpPr txBox="1"/>
          <p:nvPr/>
        </p:nvSpPr>
        <p:spPr>
          <a:xfrm>
            <a:off x="6012160" y="2551021"/>
            <a:ext cx="3006080" cy="738664"/>
          </a:xfrm>
          <a:prstGeom prst="rect">
            <a:avLst/>
          </a:prstGeom>
          <a:noFill/>
        </p:spPr>
        <p:txBody>
          <a:bodyPr wrap="square">
            <a:spAutoFit/>
          </a:bodyPr>
          <a:lstStyle/>
          <a:p>
            <a:pPr algn="l"/>
            <a:r>
              <a:rPr lang="en-US" sz="1400" b="1" i="0" dirty="0">
                <a:solidFill>
                  <a:srgbClr val="212E52"/>
                </a:solidFill>
                <a:effectLst/>
                <a:latin typeface="Heebo" panose="020B0604020202020204" pitchFamily="2" charset="-79"/>
                <a:cs typeface="Heebo" panose="020B0604020202020204" pitchFamily="2" charset="-79"/>
              </a:rPr>
              <a:t>Around R5.50/Steinhoff share expected in shareholders settlement (7/03/2022):</a:t>
            </a:r>
          </a:p>
        </p:txBody>
      </p:sp>
    </p:spTree>
    <p:extLst>
      <p:ext uri="{BB962C8B-B14F-4D97-AF65-F5344CB8AC3E}">
        <p14:creationId xmlns:p14="http://schemas.microsoft.com/office/powerpoint/2010/main" val="2437379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noAutofit/>
          </a:bodyPr>
          <a:lstStyle/>
          <a:p>
            <a:r>
              <a:rPr lang="en-ZA" sz="2800" b="1" dirty="0"/>
              <a:t>Ethics in the Business World – a few examples of lapses in business ethics by employees in IT organisations:</a:t>
            </a:r>
          </a:p>
        </p:txBody>
      </p:sp>
      <p:sp>
        <p:nvSpPr>
          <p:cNvPr id="6" name="Content Placeholder 5"/>
          <p:cNvSpPr>
            <a:spLocks noGrp="1"/>
          </p:cNvSpPr>
          <p:nvPr>
            <p:ph idx="1"/>
          </p:nvPr>
        </p:nvSpPr>
        <p:spPr>
          <a:xfrm>
            <a:off x="457200" y="1651774"/>
            <a:ext cx="8229600" cy="4925144"/>
          </a:xfrm>
        </p:spPr>
        <p:txBody>
          <a:bodyPr/>
          <a:lstStyle/>
          <a:p>
            <a:endParaRPr lang="en-ZA" dirty="0"/>
          </a:p>
          <a:p>
            <a:endParaRPr lang="en-ZA" dirty="0"/>
          </a:p>
          <a:p>
            <a:endParaRPr lang="en-ZA" dirty="0"/>
          </a:p>
          <a:p>
            <a:endParaRPr lang="en-ZA" dirty="0"/>
          </a:p>
          <a:p>
            <a:pPr marL="0" indent="0">
              <a:buNone/>
            </a:pPr>
            <a:endParaRPr lang="en-ZA" sz="2400" dirty="0"/>
          </a:p>
          <a:p>
            <a:pPr marL="0" indent="0">
              <a:buNone/>
            </a:pPr>
            <a:endParaRPr lang="en-ZA" sz="2400" dirty="0"/>
          </a:p>
          <a:p>
            <a:pPr marL="0" indent="0">
              <a:buNone/>
            </a:pPr>
            <a:endParaRPr lang="en-ZA" sz="2400" dirty="0"/>
          </a:p>
          <a:p>
            <a:pPr marL="0" indent="0">
              <a:buNone/>
            </a:pPr>
            <a:r>
              <a:rPr lang="en-ZA" sz="2400" dirty="0"/>
              <a:t>Volkswagen has admitted that 11 million of its vehicles were equipped with software that was used to cheat on emissions tests.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3"/>
            <a:ext cx="3888432"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304" y="6093296"/>
            <a:ext cx="1844849" cy="764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6320" y="1588544"/>
            <a:ext cx="4032448" cy="1768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a:extLst>
              <a:ext uri="{FF2B5EF4-FFF2-40B4-BE49-F238E27FC236}">
                <a16:creationId xmlns:a16="http://schemas.microsoft.com/office/drawing/2014/main" id="{AEF64D3C-489F-43CA-B853-A22C50669908}"/>
              </a:ext>
            </a:extLst>
          </p:cNvPr>
          <p:cNvPicPr>
            <a:picLocks noChangeAspect="1"/>
          </p:cNvPicPr>
          <p:nvPr/>
        </p:nvPicPr>
        <p:blipFill>
          <a:blip r:embed="rId5"/>
          <a:stretch>
            <a:fillRect/>
          </a:stretch>
        </p:blipFill>
        <p:spPr>
          <a:xfrm>
            <a:off x="4366320" y="3180945"/>
            <a:ext cx="4022104" cy="1616207"/>
          </a:xfrm>
          <a:prstGeom prst="rect">
            <a:avLst/>
          </a:prstGeom>
        </p:spPr>
      </p:pic>
    </p:spTree>
    <p:extLst>
      <p:ext uri="{BB962C8B-B14F-4D97-AF65-F5344CB8AC3E}">
        <p14:creationId xmlns:p14="http://schemas.microsoft.com/office/powerpoint/2010/main" val="190943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2F85-118C-48CB-9732-467C13320615}"/>
              </a:ext>
            </a:extLst>
          </p:cNvPr>
          <p:cNvSpPr>
            <a:spLocks noGrp="1"/>
          </p:cNvSpPr>
          <p:nvPr>
            <p:ph type="title"/>
          </p:nvPr>
        </p:nvSpPr>
        <p:spPr>
          <a:xfrm>
            <a:off x="601216" y="83975"/>
            <a:ext cx="8229600" cy="392697"/>
          </a:xfrm>
        </p:spPr>
        <p:txBody>
          <a:bodyPr>
            <a:normAutofit fontScale="90000"/>
          </a:bodyPr>
          <a:lstStyle/>
          <a:p>
            <a:r>
              <a:rPr lang="en-US" dirty="0">
                <a:solidFill>
                  <a:schemeClr val="bg1"/>
                </a:solidFill>
              </a:rPr>
              <a:t>.</a:t>
            </a:r>
            <a:endParaRPr lang="en-GB" dirty="0">
              <a:solidFill>
                <a:schemeClr val="bg1"/>
              </a:solidFill>
            </a:endParaRPr>
          </a:p>
        </p:txBody>
      </p:sp>
      <p:sp>
        <p:nvSpPr>
          <p:cNvPr id="3" name="Content Placeholder 2">
            <a:extLst>
              <a:ext uri="{FF2B5EF4-FFF2-40B4-BE49-F238E27FC236}">
                <a16:creationId xmlns:a16="http://schemas.microsoft.com/office/drawing/2014/main" id="{32CC61FF-9DF7-450F-A53E-B275469E4C51}"/>
              </a:ext>
            </a:extLst>
          </p:cNvPr>
          <p:cNvSpPr>
            <a:spLocks noGrp="1"/>
          </p:cNvSpPr>
          <p:nvPr>
            <p:ph idx="1"/>
          </p:nvPr>
        </p:nvSpPr>
        <p:spPr>
          <a:xfrm>
            <a:off x="457200" y="836712"/>
            <a:ext cx="4690864" cy="5746650"/>
          </a:xfrm>
        </p:spPr>
        <p:txBody>
          <a:bodyPr>
            <a:normAutofit fontScale="40000" lnSpcReduction="20000"/>
          </a:bodyPr>
          <a:lstStyle/>
          <a:p>
            <a:pPr algn="l"/>
            <a:r>
              <a:rPr lang="en-US" sz="3500" b="0" i="0" dirty="0">
                <a:solidFill>
                  <a:srgbClr val="000000"/>
                </a:solidFill>
                <a:effectLst/>
                <a:latin typeface="Charter"/>
              </a:rPr>
              <a:t>Volkswagen installed emissions software on more than a half-million diesel cars in the U.S.—and roughly 10.5 million more worldwide—that allows them to sense the unique parameters of an emissions drive cycle set by the Environmental Protection Agency. According to the EPA and the California Air Resources Board, which were </a:t>
            </a:r>
            <a:r>
              <a:rPr lang="en-US" sz="3500" i="0" u="sng" strike="noStrike" dirty="0">
                <a:solidFill>
                  <a:srgbClr val="00A4DB"/>
                </a:solidFill>
                <a:effectLst/>
                <a:latin typeface="Charter"/>
                <a:hlinkClick r:id="rId3"/>
              </a:rPr>
              <a:t>tipped off by researchers in 2014</a:t>
            </a:r>
            <a:r>
              <a:rPr lang="en-US" sz="3500" b="0" i="0" dirty="0">
                <a:solidFill>
                  <a:srgbClr val="000000"/>
                </a:solidFill>
                <a:effectLst/>
                <a:latin typeface="Charter"/>
              </a:rPr>
              <a:t>, these so-called “defeat devices” detect steering, throttle, and other inputs used in the test to switch between two distinct operating modes.</a:t>
            </a:r>
          </a:p>
          <a:p>
            <a:pPr marL="0" indent="0" algn="l">
              <a:buNone/>
            </a:pPr>
            <a:endParaRPr lang="en-US" sz="3500" b="0" i="0" dirty="0">
              <a:solidFill>
                <a:srgbClr val="000000"/>
              </a:solidFill>
              <a:effectLst/>
              <a:latin typeface="Charter"/>
            </a:endParaRPr>
          </a:p>
          <a:p>
            <a:pPr algn="l"/>
            <a:r>
              <a:rPr lang="en-US" sz="3500" b="0" i="0" dirty="0">
                <a:solidFill>
                  <a:srgbClr val="000000"/>
                </a:solidFill>
                <a:effectLst/>
                <a:latin typeface="Charter"/>
              </a:rPr>
              <a:t>In the test mode, the cars are fully compliant with all federal emissions levels. But when driving normally, the computer switches to a </a:t>
            </a:r>
            <a:r>
              <a:rPr lang="en-US" sz="3500" i="0" u="none" strike="noStrike" dirty="0">
                <a:solidFill>
                  <a:srgbClr val="00A4DB"/>
                </a:solidFill>
                <a:effectLst/>
                <a:latin typeface="Charter"/>
                <a:hlinkClick r:id="rId4"/>
              </a:rPr>
              <a:t>separate mode</a:t>
            </a:r>
            <a:r>
              <a:rPr lang="en-US" sz="3500" b="0" i="0" dirty="0">
                <a:solidFill>
                  <a:srgbClr val="000000"/>
                </a:solidFill>
                <a:effectLst/>
                <a:latin typeface="Charter"/>
              </a:rPr>
              <a:t>—significantly changing the fuel pressure, injection timing, exhaust-gas recirculation, and, in models with AdBlue, the amount of urea fluid sprayed into the exhaust. While this mode likely delivers higher mileage and power, it also permits heavier nitrogen-oxide emissions (NOx)—a smog-forming pollutant linked to lung cancer—up to 40 times higher than the federal limit. That doesn’t mean every TDI is pumping 40 times as much NOx as it should. Some cars may emit just a few times over the limit, depending on driving style and load.</a:t>
            </a:r>
          </a:p>
          <a:p>
            <a:pPr marL="0" indent="0">
              <a:buNone/>
            </a:pPr>
            <a:endParaRPr lang="en-US" sz="3500" b="0" i="0" dirty="0">
              <a:solidFill>
                <a:srgbClr val="000000"/>
              </a:solidFill>
              <a:effectLst/>
              <a:latin typeface="Charter"/>
            </a:endParaRPr>
          </a:p>
          <a:p>
            <a:pPr marL="0" indent="0">
              <a:buNone/>
            </a:pPr>
            <a:br>
              <a:rPr lang="en-US" sz="3500" b="0" i="0" dirty="0">
                <a:solidFill>
                  <a:srgbClr val="000000"/>
                </a:solidFill>
                <a:effectLst/>
                <a:latin typeface="Charter"/>
              </a:rPr>
            </a:br>
            <a:r>
              <a:rPr lang="en-US" sz="3500" b="0" i="0" dirty="0">
                <a:solidFill>
                  <a:srgbClr val="000000"/>
                </a:solidFill>
                <a:effectLst/>
                <a:latin typeface="Charter"/>
                <a:hlinkClick r:id="rId5"/>
              </a:rPr>
              <a:t>https://www.caranddriver.com/news/a15339250/everything-you-need-to-know-about-the-vw-diesel-emissions-scandal/</a:t>
            </a:r>
            <a:endParaRPr lang="en-US" sz="3500" b="0" i="0" dirty="0">
              <a:solidFill>
                <a:srgbClr val="000000"/>
              </a:solidFill>
              <a:effectLst/>
              <a:latin typeface="Charter"/>
            </a:endParaRPr>
          </a:p>
          <a:p>
            <a:pPr marL="0" indent="0">
              <a:buNone/>
            </a:pPr>
            <a:endParaRPr lang="en-GB" dirty="0"/>
          </a:p>
        </p:txBody>
      </p:sp>
      <p:pic>
        <p:nvPicPr>
          <p:cNvPr id="1026" name="Picture 2" descr="Hoaxwagen | Fortune">
            <a:extLst>
              <a:ext uri="{FF2B5EF4-FFF2-40B4-BE49-F238E27FC236}">
                <a16:creationId xmlns:a16="http://schemas.microsoft.com/office/drawing/2014/main" id="{DA86018B-7FB9-497B-BB98-9141E4B931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064" y="856091"/>
            <a:ext cx="3706122" cy="24049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Volkswagen diesel emissions scandal far from over | Financial Times">
            <a:extLst>
              <a:ext uri="{FF2B5EF4-FFF2-40B4-BE49-F238E27FC236}">
                <a16:creationId xmlns:a16="http://schemas.microsoft.com/office/drawing/2014/main" id="{3467D377-36DE-4E15-8200-F936279C58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064" y="3501008"/>
            <a:ext cx="3706122" cy="240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284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sz="2800" b="1" dirty="0">
                <a:solidFill>
                  <a:prstClr val="black"/>
                </a:solidFill>
              </a:rPr>
              <a:t>Ethics in the Business World – a few examples of lapses in business ethics by employees in IT organisations:</a:t>
            </a:r>
            <a:endParaRPr lang="en-ZA" b="1" dirty="0"/>
          </a:p>
        </p:txBody>
      </p:sp>
      <p:sp>
        <p:nvSpPr>
          <p:cNvPr id="3" name="Content Placeholder 2"/>
          <p:cNvSpPr>
            <a:spLocks noGrp="1"/>
          </p:cNvSpPr>
          <p:nvPr>
            <p:ph idx="1"/>
          </p:nvPr>
        </p:nvSpPr>
        <p:spPr>
          <a:xfrm>
            <a:off x="457200" y="1600200"/>
            <a:ext cx="8229600" cy="5141168"/>
          </a:xfrm>
        </p:spPr>
        <p:txBody>
          <a:bodyPr>
            <a:normAutofit fontScale="92500"/>
          </a:bodyPr>
          <a:lstStyle/>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r>
              <a:rPr lang="en-ZA" sz="2400" dirty="0"/>
              <a:t>Toshiba, the Japanese industrial giant whose diversified products and services include information technology and communications equipment and systems, disclosed that it overstated its earnings over a 7 year period by more than $1.2 billion.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628800"/>
            <a:ext cx="3888432"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628800"/>
            <a:ext cx="3888432"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7673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sz="2800" b="1" dirty="0">
                <a:solidFill>
                  <a:prstClr val="black"/>
                </a:solidFill>
              </a:rPr>
              <a:t>Ethics in the Business World – a few examples of lapses in business ethics by employees in IT organisations:</a:t>
            </a:r>
            <a:endParaRPr lang="en-ZA" b="1" dirty="0"/>
          </a:p>
        </p:txBody>
      </p:sp>
      <p:sp>
        <p:nvSpPr>
          <p:cNvPr id="3" name="Content Placeholder 2"/>
          <p:cNvSpPr>
            <a:spLocks noGrp="1"/>
          </p:cNvSpPr>
          <p:nvPr>
            <p:ph idx="1"/>
          </p:nvPr>
        </p:nvSpPr>
        <p:spPr>
          <a:xfrm>
            <a:off x="0" y="1600200"/>
            <a:ext cx="9144000" cy="5257800"/>
          </a:xfrm>
        </p:spPr>
        <p:txBody>
          <a:bodyPr>
            <a:normAutofit/>
          </a:bodyPr>
          <a:lstStyle/>
          <a:p>
            <a:endParaRPr lang="en-ZA" sz="2400" dirty="0"/>
          </a:p>
          <a:p>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400" dirty="0"/>
          </a:p>
          <a:p>
            <a:pPr marL="0" indent="0">
              <a:buNone/>
            </a:pPr>
            <a:endParaRPr lang="en-ZA" sz="2000" dirty="0"/>
          </a:p>
          <a:p>
            <a:pPr marL="0" indent="0">
              <a:buNone/>
            </a:pPr>
            <a:r>
              <a:rPr lang="en-ZA" sz="2000" dirty="0"/>
              <a:t>Amazon has the 2</a:t>
            </a:r>
            <a:r>
              <a:rPr lang="en-ZA" sz="2000" baseline="30000" dirty="0"/>
              <a:t>nd</a:t>
            </a:r>
            <a:r>
              <a:rPr lang="en-ZA" sz="2000" dirty="0"/>
              <a:t> highest employee turnover rate of companies in the Fortune 500 and has been criticized for creating a high pressure environment in which bosses’ expectations were almost impossible to satisfy and jobs were threatened if illness or other personal issues encroached on work.</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6296" y="6021288"/>
            <a:ext cx="1907704" cy="83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4" y="1484784"/>
            <a:ext cx="4273674"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1516211"/>
            <a:ext cx="4680520" cy="3424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94" y="6287399"/>
            <a:ext cx="3210694" cy="570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95" y="3284984"/>
            <a:ext cx="4238774"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utoShape 2" descr="Amazon warehouse in Eastvale">
            <a:extLst>
              <a:ext uri="{FF2B5EF4-FFF2-40B4-BE49-F238E27FC236}">
                <a16:creationId xmlns:a16="http://schemas.microsoft.com/office/drawing/2014/main" id="{D7A24622-11EB-4B3F-892A-A67A35AFC21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55058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BFC7-12A8-4A82-B272-A3A660614404}"/>
              </a:ext>
            </a:extLst>
          </p:cNvPr>
          <p:cNvSpPr>
            <a:spLocks noGrp="1"/>
          </p:cNvSpPr>
          <p:nvPr>
            <p:ph type="title"/>
          </p:nvPr>
        </p:nvSpPr>
        <p:spPr>
          <a:xfrm>
            <a:off x="457200" y="44625"/>
            <a:ext cx="8229600" cy="432048"/>
          </a:xfrm>
        </p:spPr>
        <p:txBody>
          <a:bodyPr>
            <a:noAutofit/>
          </a:bodyPr>
          <a:lstStyle/>
          <a:p>
            <a:r>
              <a:rPr lang="en-US" sz="2400" b="1" dirty="0"/>
              <a:t>Extract from Forbes investigative report</a:t>
            </a:r>
            <a:endParaRPr lang="en-GB" sz="2400" b="1" dirty="0"/>
          </a:p>
        </p:txBody>
      </p:sp>
      <p:sp>
        <p:nvSpPr>
          <p:cNvPr id="3" name="Content Placeholder 2">
            <a:extLst>
              <a:ext uri="{FF2B5EF4-FFF2-40B4-BE49-F238E27FC236}">
                <a16:creationId xmlns:a16="http://schemas.microsoft.com/office/drawing/2014/main" id="{171A8246-4808-4B0E-9DE3-D2B758698130}"/>
              </a:ext>
            </a:extLst>
          </p:cNvPr>
          <p:cNvSpPr>
            <a:spLocks noGrp="1"/>
          </p:cNvSpPr>
          <p:nvPr>
            <p:ph idx="1"/>
          </p:nvPr>
        </p:nvSpPr>
        <p:spPr>
          <a:xfrm>
            <a:off x="179512" y="784274"/>
            <a:ext cx="3754760" cy="5289451"/>
          </a:xfrm>
        </p:spPr>
        <p:txBody>
          <a:bodyPr>
            <a:normAutofit/>
          </a:bodyPr>
          <a:lstStyle/>
          <a:p>
            <a:r>
              <a:rPr lang="en-US" sz="1400" b="0" i="0" dirty="0">
                <a:solidFill>
                  <a:srgbClr val="333333"/>
                </a:solidFill>
                <a:effectLst/>
                <a:latin typeface="Georgia Pro Light" panose="02040302050405020303" pitchFamily="18" charset="0"/>
              </a:rPr>
              <a:t>In the investigative piece….the </a:t>
            </a:r>
            <a:r>
              <a:rPr lang="en-US" sz="1400" b="0" i="1" dirty="0">
                <a:solidFill>
                  <a:srgbClr val="333333"/>
                </a:solidFill>
                <a:effectLst/>
                <a:latin typeface="Georgia Pro Light" panose="02040302050405020303" pitchFamily="18" charset="0"/>
              </a:rPr>
              <a:t>New York Time</a:t>
            </a:r>
            <a:r>
              <a:rPr lang="en-US" sz="1400" b="0" i="0" dirty="0">
                <a:solidFill>
                  <a:srgbClr val="333333"/>
                </a:solidFill>
                <a:effectLst/>
                <a:latin typeface="Georgia Pro Light" panose="02040302050405020303" pitchFamily="18" charset="0"/>
              </a:rPr>
              <a:t>s alleged, “For at least a year and a half—including during periods of record profit—Amazon had been shortchanging new parents, patients dealing with medical crises and other vulnerable workers on leave, according to a confidential report on the findings.” </a:t>
            </a:r>
          </a:p>
          <a:p>
            <a:endParaRPr lang="en-US" sz="1400" b="0" i="0" dirty="0">
              <a:solidFill>
                <a:srgbClr val="333333"/>
              </a:solidFill>
              <a:effectLst/>
              <a:latin typeface="Georgia Pro Light" panose="02040302050405020303" pitchFamily="18" charset="0"/>
            </a:endParaRPr>
          </a:p>
          <a:p>
            <a:r>
              <a:rPr lang="en-US" sz="1400" b="0" i="0" dirty="0">
                <a:solidFill>
                  <a:srgbClr val="333333"/>
                </a:solidFill>
                <a:effectLst/>
                <a:latin typeface="Georgia Pro Light" panose="02040302050405020303" pitchFamily="18" charset="0"/>
              </a:rPr>
              <a:t> The investigative findings indicated that workers at facilities across the country had to contend with questionable payroll software that led to people with “medical problems and other life crises having been fired when the attendance software mistakenly marked them as no-shows.” It was reported, “Doctors’ notes vanished into black holes in Amazon’s databases. Employees struggled to even reach their case managers, wading through automated phone trees [that gave them the runaround].”</a:t>
            </a:r>
          </a:p>
        </p:txBody>
      </p:sp>
      <p:sp>
        <p:nvSpPr>
          <p:cNvPr id="5" name="TextBox 4">
            <a:extLst>
              <a:ext uri="{FF2B5EF4-FFF2-40B4-BE49-F238E27FC236}">
                <a16:creationId xmlns:a16="http://schemas.microsoft.com/office/drawing/2014/main" id="{9E59F563-E660-46BD-8280-B75E770E3966}"/>
              </a:ext>
            </a:extLst>
          </p:cNvPr>
          <p:cNvSpPr txBox="1"/>
          <p:nvPr/>
        </p:nvSpPr>
        <p:spPr>
          <a:xfrm>
            <a:off x="4067944" y="745137"/>
            <a:ext cx="5076056" cy="6124754"/>
          </a:xfrm>
          <a:prstGeom prst="rect">
            <a:avLst/>
          </a:prstGeom>
          <a:noFill/>
        </p:spPr>
        <p:txBody>
          <a:bodyPr wrap="square">
            <a:spAutoFit/>
          </a:bodyPr>
          <a:lstStyle/>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rPr>
              <a:t>A prior New York Times investigative piece reported on the difficult working conditions Amazon employees had to endure at a fulfillment warehouse in Staten Island, New York, during the Covid-19 pandemic. The piece contended that Bezos “discovered what he thought was another inefficiency worth eliminating: hourly employees who spent years working for the same company.” Sources claim that Bezos held a theory that workers expect raises, but at the same time, they become complacent over time, and don’t work as hard. Consequently, wages increase, while productivity declines. </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rPr>
              <a:t>The solution was to replace workers before their productivity further deteriorated and pay increased. It's more efficient to hire fresh, new people. Amazon then basically encouraged workers to leave. The constant churning of workers helped keep efficiency high and wages fairly low. The prevailing wisdom was, “After three years on the job, hourly workers no longer received automatic raises, and the company offered bonuses to people who quit. It also offered limited upward mobility for hourly workers, preferring to hire managers from the outside.”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lang="en-US" sz="1400" dirty="0">
              <a:solidFill>
                <a:prstClr val="black"/>
              </a:solidFill>
              <a:latin typeface="Georgia Pro Light" panose="02040302050405020303"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hlinkClick r:id="rId2"/>
              </a:rPr>
              <a:t>https://www.forbes.com/sites/jackkelly/2021/10/25/a-hard-hitting-investigative-report-into-amazon-shows-that-workers-needs-were-neglected-in-favor-of-getting-goods-delivered-quickly/?sh=fb4395b51f50</a:t>
            </a:r>
            <a:endParaRPr kumimoji="0" lang="en-GB"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p:txBody>
      </p:sp>
    </p:spTree>
    <p:extLst>
      <p:ext uri="{BB962C8B-B14F-4D97-AF65-F5344CB8AC3E}">
        <p14:creationId xmlns:p14="http://schemas.microsoft.com/office/powerpoint/2010/main" val="263435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EC10-F6CF-4304-96E0-031C9FB1E8F5}"/>
              </a:ext>
            </a:extLst>
          </p:cNvPr>
          <p:cNvSpPr>
            <a:spLocks noGrp="1"/>
          </p:cNvSpPr>
          <p:nvPr>
            <p:ph type="title"/>
          </p:nvPr>
        </p:nvSpPr>
        <p:spPr>
          <a:xfrm>
            <a:off x="457200" y="0"/>
            <a:ext cx="8229600" cy="658129"/>
          </a:xfrm>
        </p:spPr>
        <p:txBody>
          <a:bodyPr>
            <a:normAutofit/>
          </a:bodyPr>
          <a:lstStyle/>
          <a:p>
            <a:r>
              <a:rPr kumimoji="0" lang="en-US" sz="2400" b="1" i="0" u="none" strike="noStrike" kern="1200" cap="none" spc="0" normalizeH="0" baseline="0" noProof="0" dirty="0">
                <a:ln>
                  <a:noFill/>
                </a:ln>
                <a:solidFill>
                  <a:prstClr val="black"/>
                </a:solidFill>
                <a:effectLst/>
                <a:uLnTx/>
                <a:uFillTx/>
                <a:latin typeface="Calibri"/>
                <a:ea typeface="+mj-ea"/>
                <a:cs typeface="+mj-cs"/>
              </a:rPr>
              <a:t>Extract from Forbes investigative report</a:t>
            </a:r>
            <a:endParaRPr lang="en-GB" b="1" dirty="0"/>
          </a:p>
        </p:txBody>
      </p:sp>
      <p:sp>
        <p:nvSpPr>
          <p:cNvPr id="3" name="Content Placeholder 2">
            <a:extLst>
              <a:ext uri="{FF2B5EF4-FFF2-40B4-BE49-F238E27FC236}">
                <a16:creationId xmlns:a16="http://schemas.microsoft.com/office/drawing/2014/main" id="{9E8FB1B1-DA0E-4CA4-A988-4C713383EE0A}"/>
              </a:ext>
            </a:extLst>
          </p:cNvPr>
          <p:cNvSpPr>
            <a:spLocks noGrp="1"/>
          </p:cNvSpPr>
          <p:nvPr>
            <p:ph idx="1"/>
          </p:nvPr>
        </p:nvSpPr>
        <p:spPr>
          <a:xfrm>
            <a:off x="123123" y="658129"/>
            <a:ext cx="4592893" cy="5003119"/>
          </a:xfrm>
        </p:spPr>
        <p:txBody>
          <a:bodyPr>
            <a:noAutofit/>
          </a:bodyPr>
          <a:lstStyle/>
          <a:p>
            <a:r>
              <a:rPr lang="en-US" sz="1400" b="0" i="0" dirty="0">
                <a:solidFill>
                  <a:srgbClr val="333333"/>
                </a:solidFill>
                <a:effectLst/>
                <a:latin typeface="Georgia Pro Light" panose="02040302050405020303" pitchFamily="18" charset="0"/>
              </a:rPr>
              <a:t>There have been many complaints from employees at Amazon’s fulfillment centers. Workers alleged that they are given back-breaking tasks in the warehouses. They also vent their dismay over intrusive surveillance technologies, including automated tracking systems and cameras that monitor their every move. There is a palpable fear that if workers don’t meet specified quotas, they’ll be fired. This has led to workers calling for a union. </a:t>
            </a:r>
            <a:r>
              <a:rPr lang="en-US" sz="1400" b="0" i="0" u="none" strike="noStrike" dirty="0">
                <a:solidFill>
                  <a:srgbClr val="003891"/>
                </a:solidFill>
                <a:effectLst/>
                <a:latin typeface="Georgia Pro Light" panose="02040302050405020303" pitchFamily="18" charset="0"/>
                <a:hlinkClick r:id="rId2" tooltip="https://www.forbes.com/sites/jackkelly/2021/02/09/a-movement-to-unionize-workers-at-amazon-is-gaining-momentum/"/>
              </a:rPr>
              <a:t>A union drive in Alabama was attempted</a:t>
            </a:r>
            <a:r>
              <a:rPr lang="en-US" sz="1400" b="0" i="0" dirty="0">
                <a:solidFill>
                  <a:srgbClr val="333333"/>
                </a:solidFill>
                <a:effectLst/>
                <a:latin typeface="Georgia Pro Light" panose="02040302050405020303" pitchFamily="18" charset="0"/>
              </a:rPr>
              <a:t>, but was thwarted and didn’t succeed.</a:t>
            </a:r>
          </a:p>
          <a:p>
            <a:endParaRPr lang="en-US" sz="1400" b="0" i="0" dirty="0">
              <a:solidFill>
                <a:srgbClr val="333333"/>
              </a:solidFill>
              <a:effectLst/>
              <a:latin typeface="Georgia Pro Light" panose="02040302050405020303" pitchFamily="18" charset="0"/>
            </a:endParaRPr>
          </a:p>
          <a:p>
            <a:r>
              <a:rPr lang="en-US" sz="1400" dirty="0">
                <a:latin typeface="Georgia Pro Light" panose="02040302050405020303" pitchFamily="18" charset="0"/>
              </a:rPr>
              <a:t>In an effort to help the mental health and well-being of warehouse and fulfillment centers, the retailer launched “</a:t>
            </a:r>
            <a:r>
              <a:rPr lang="en-US" sz="1400" dirty="0" err="1">
                <a:latin typeface="Georgia Pro Light" panose="02040302050405020303" pitchFamily="18" charset="0"/>
              </a:rPr>
              <a:t>WorkingWell</a:t>
            </a:r>
            <a:r>
              <a:rPr lang="en-US" sz="1400" dirty="0">
                <a:latin typeface="Georgia Pro Light" panose="02040302050405020303" pitchFamily="18" charset="0"/>
              </a:rPr>
              <a:t>,” a comprehensive program providing employees with wellness exercises. The program was part of an initiative by the giant online-shopping empire to invest over $300 million into safety projects in 2021 for its workers. </a:t>
            </a:r>
          </a:p>
          <a:p>
            <a:endParaRPr lang="en-US" sz="1400" dirty="0">
              <a:latin typeface="Georgia Pro Light" panose="02040302050405020303" pitchFamily="18" charset="0"/>
            </a:endParaRPr>
          </a:p>
          <a:p>
            <a:r>
              <a:rPr lang="en-US" sz="1400" dirty="0">
                <a:latin typeface="Georgia Pro Light" panose="02040302050405020303" pitchFamily="18" charset="0"/>
              </a:rPr>
              <a:t>Part of the wellness program includes </a:t>
            </a:r>
            <a:r>
              <a:rPr lang="en-US" sz="1400" dirty="0" err="1">
                <a:latin typeface="Georgia Pro Light" panose="02040302050405020303" pitchFamily="18" charset="0"/>
              </a:rPr>
              <a:t>AmaZen</a:t>
            </a:r>
            <a:r>
              <a:rPr lang="en-US" sz="1400" dirty="0">
                <a:latin typeface="Georgia Pro Light" panose="02040302050405020303" pitchFamily="18" charset="0"/>
              </a:rPr>
              <a:t>. It “guides employees through mindfulness practices” inside of interactive kiosks stationed at the worksites. Employees are encouraged to “visit </a:t>
            </a:r>
            <a:r>
              <a:rPr lang="en-US" sz="1400" dirty="0" err="1">
                <a:latin typeface="Georgia Pro Light" panose="02040302050405020303" pitchFamily="18" charset="0"/>
              </a:rPr>
              <a:t>AmaZen</a:t>
            </a:r>
            <a:r>
              <a:rPr lang="en-US" sz="1400" dirty="0">
                <a:latin typeface="Georgia Pro Light" panose="02040302050405020303" pitchFamily="18" charset="0"/>
              </a:rPr>
              <a:t> stations and watch short videos featuring easy-to-follow well-being activities, including guided meditations, positive affirmations, calming scenes with sounds and more.” </a:t>
            </a:r>
          </a:p>
          <a:p>
            <a:endParaRPr lang="en-US" sz="1400" dirty="0">
              <a:latin typeface="Georgia Pro Light" panose="02040302050405020303" pitchFamily="18" charset="0"/>
            </a:endParaRPr>
          </a:p>
        </p:txBody>
      </p:sp>
      <p:sp>
        <p:nvSpPr>
          <p:cNvPr id="5" name="TextBox 4">
            <a:extLst>
              <a:ext uri="{FF2B5EF4-FFF2-40B4-BE49-F238E27FC236}">
                <a16:creationId xmlns:a16="http://schemas.microsoft.com/office/drawing/2014/main" id="{C4A9C717-07B3-40AC-B236-D70838B58F54}"/>
              </a:ext>
            </a:extLst>
          </p:cNvPr>
          <p:cNvSpPr txBox="1"/>
          <p:nvPr/>
        </p:nvSpPr>
        <p:spPr>
          <a:xfrm>
            <a:off x="4716016" y="658129"/>
            <a:ext cx="4304861" cy="6620274"/>
          </a:xfrm>
          <a:prstGeom prst="rect">
            <a:avLst/>
          </a:prstGeom>
          <a:noFill/>
        </p:spPr>
        <p:txBody>
          <a:bodyPr wrap="square">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rPr>
              <a:t>The rollout didn’t get the glowing reviews the company had hoped for. The online vitriol was brutal. It felt that the program brought out all of the pent-up anger simmering against the online behemoth.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rPr>
              <a:t>This includes its treatment of employees and resentment of outgoing CEO, Bezos, who profited handsomely during the pandemic, reaping billions more to his already-staggering net worth, while millions of workers across the country suffered layoffs and a rapid decline in their financial and living standards.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rPr>
              <a:t>Vice savagely reported, “In one of its most dystopian moves yet, Amazon is introducing tiny booths where its overworked warehouse employees can momentarily escape a job so grueling, many employees say they don't feel like they have enough time to even use the bathroom.” The piece pointed out, “What this looks like in reality is a coffin-sized booth in the middle of an Amazon warehouse where workers can use a computer to view ‘mental health and mindful practices.’" </a:t>
            </a:r>
            <a:endParaRPr lang="en-US" sz="1400" dirty="0">
              <a:solidFill>
                <a:prstClr val="black"/>
              </a:solidFill>
              <a:latin typeface="Georgia Pro Light" panose="02040302050405020303" pitchFamily="18" charset="0"/>
            </a:endParaRP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hlinkClick r:id="rId3"/>
              </a:rPr>
              <a:t>https://www.forbes.com/sites/jackkelly/2021/10/25/a-hard-hitting-investigative-report-into-amazon-shows-that-workers-needs-were-neglected-in-favor-of-getting-goods-delivered-quickly/?sh=fb4395b51f50</a:t>
            </a:r>
            <a:endParaRPr kumimoji="0" lang="en-GB" sz="11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prstClr val="black"/>
              </a:solidFill>
              <a:effectLst/>
              <a:uLnTx/>
              <a:uFillTx/>
              <a:latin typeface="Georgia Pro Light" panose="02040302050405020303" pitchFamily="18" charset="0"/>
              <a:ea typeface="+mn-ea"/>
              <a:cs typeface="+mn-cs"/>
            </a:endParaRPr>
          </a:p>
        </p:txBody>
      </p:sp>
    </p:spTree>
    <p:extLst>
      <p:ext uri="{BB962C8B-B14F-4D97-AF65-F5344CB8AC3E}">
        <p14:creationId xmlns:p14="http://schemas.microsoft.com/office/powerpoint/2010/main" val="319483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16C1-9C05-4661-AB1F-7FC00A68F3D3}"/>
              </a:ext>
            </a:extLst>
          </p:cNvPr>
          <p:cNvSpPr>
            <a:spLocks noGrp="1"/>
          </p:cNvSpPr>
          <p:nvPr>
            <p:ph type="title"/>
          </p:nvPr>
        </p:nvSpPr>
        <p:spPr>
          <a:xfrm>
            <a:off x="457200" y="274638"/>
            <a:ext cx="8229600" cy="457199"/>
          </a:xfrm>
        </p:spPr>
        <p:txBody>
          <a:bodyPr>
            <a:normAutofit fontScale="90000"/>
          </a:bodyPr>
          <a:lstStyle/>
          <a:p>
            <a:r>
              <a:rPr lang="en-US" dirty="0">
                <a:solidFill>
                  <a:schemeClr val="bg1"/>
                </a:solidFill>
              </a:rPr>
              <a:t>.</a:t>
            </a:r>
            <a:endParaRPr lang="en-GB" dirty="0">
              <a:solidFill>
                <a:schemeClr val="bg1"/>
              </a:solidFill>
            </a:endParaRPr>
          </a:p>
        </p:txBody>
      </p:sp>
      <p:pic>
        <p:nvPicPr>
          <p:cNvPr id="4" name="Content Placeholder 3">
            <a:extLst>
              <a:ext uri="{FF2B5EF4-FFF2-40B4-BE49-F238E27FC236}">
                <a16:creationId xmlns:a16="http://schemas.microsoft.com/office/drawing/2014/main" id="{80EA6634-4EBF-4E95-9971-F5F2FDE3FFE9}"/>
              </a:ext>
            </a:extLst>
          </p:cNvPr>
          <p:cNvPicPr>
            <a:picLocks noGrp="1" noChangeAspect="1"/>
          </p:cNvPicPr>
          <p:nvPr>
            <p:ph idx="1"/>
          </p:nvPr>
        </p:nvPicPr>
        <p:blipFill rotWithShape="1">
          <a:blip r:embed="rId2"/>
          <a:srcRect l="26375" t="15001" r="35038" b="17800"/>
          <a:stretch/>
        </p:blipFill>
        <p:spPr>
          <a:xfrm>
            <a:off x="395536" y="116632"/>
            <a:ext cx="8496944" cy="6336704"/>
          </a:xfrm>
          <a:prstGeom prst="rect">
            <a:avLst/>
          </a:prstGeom>
        </p:spPr>
      </p:pic>
    </p:spTree>
    <p:extLst>
      <p:ext uri="{BB962C8B-B14F-4D97-AF65-F5344CB8AC3E}">
        <p14:creationId xmlns:p14="http://schemas.microsoft.com/office/powerpoint/2010/main" val="3827326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7AC77-FEDA-42D9-82D6-3CF0DB18DED2}"/>
              </a:ext>
            </a:extLst>
          </p:cNvPr>
          <p:cNvSpPr>
            <a:spLocks noGrp="1"/>
          </p:cNvSpPr>
          <p:nvPr>
            <p:ph type="title"/>
          </p:nvPr>
        </p:nvSpPr>
        <p:spPr>
          <a:xfrm>
            <a:off x="457200" y="188640"/>
            <a:ext cx="8229600" cy="936104"/>
          </a:xfrm>
        </p:spPr>
        <p:txBody>
          <a:bodyPr>
            <a:normAutofit fontScale="90000"/>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br>
              <a:rPr kumimoji="0" lang="en-US" sz="2000" b="1" i="0" u="sng" strike="noStrike" kern="1200" cap="none" spc="0" normalizeH="0" baseline="0" noProof="0" dirty="0">
                <a:ln>
                  <a:noFill/>
                </a:ln>
                <a:solidFill>
                  <a:srgbClr val="121212"/>
                </a:solidFill>
                <a:effectLst/>
                <a:uLnTx/>
                <a:uFillTx/>
                <a:latin typeface="GH Guardian Headline"/>
                <a:ea typeface="+mn-ea"/>
                <a:cs typeface="+mn-cs"/>
              </a:rPr>
            </a:br>
            <a:r>
              <a:rPr kumimoji="0" lang="en-US" sz="2200" b="1" i="0" strike="noStrike" kern="1200" cap="none" spc="0" normalizeH="0" baseline="0" noProof="0" dirty="0">
                <a:ln>
                  <a:noFill/>
                </a:ln>
                <a:solidFill>
                  <a:srgbClr val="121212"/>
                </a:solidFill>
                <a:effectLst/>
                <a:uLnTx/>
                <a:uFillTx/>
                <a:latin typeface="GH Guardian Headline"/>
                <a:ea typeface="+mn-ea"/>
                <a:cs typeface="+mn-cs"/>
              </a:rPr>
              <a:t>Study deems Amazon worst for 'aggressive' tax avoidance (2019)</a:t>
            </a:r>
            <a:br>
              <a:rPr kumimoji="0" lang="en-US" sz="2000" b="1" i="0" u="none" strike="noStrike" kern="1200" cap="none" spc="0" normalizeH="0" baseline="0" noProof="0" dirty="0">
                <a:ln>
                  <a:noFill/>
                </a:ln>
                <a:solidFill>
                  <a:srgbClr val="121212"/>
                </a:solidFill>
                <a:effectLst/>
                <a:uLnTx/>
                <a:uFillTx/>
                <a:latin typeface="GH Guardian Headline"/>
                <a:ea typeface="+mn-ea"/>
                <a:cs typeface="+mn-cs"/>
              </a:rPr>
            </a:br>
            <a:r>
              <a:rPr lang="en-US" dirty="0">
                <a:solidFill>
                  <a:schemeClr val="bg1"/>
                </a:solidFill>
              </a:rPr>
              <a:t>.</a:t>
            </a:r>
            <a:endParaRPr lang="en-GB" dirty="0">
              <a:solidFill>
                <a:schemeClr val="bg1"/>
              </a:solidFill>
            </a:endParaRPr>
          </a:p>
        </p:txBody>
      </p:sp>
      <p:sp>
        <p:nvSpPr>
          <p:cNvPr id="13" name="Content Placeholder 12">
            <a:extLst>
              <a:ext uri="{FF2B5EF4-FFF2-40B4-BE49-F238E27FC236}">
                <a16:creationId xmlns:a16="http://schemas.microsoft.com/office/drawing/2014/main" id="{652273B7-7587-410E-8DB5-E0E1BE9FA91E}"/>
              </a:ext>
            </a:extLst>
          </p:cNvPr>
          <p:cNvSpPr>
            <a:spLocks noGrp="1"/>
          </p:cNvSpPr>
          <p:nvPr>
            <p:ph idx="1"/>
          </p:nvPr>
        </p:nvSpPr>
        <p:spPr>
          <a:xfrm>
            <a:off x="457201" y="836712"/>
            <a:ext cx="4834880" cy="5746650"/>
          </a:xfrm>
        </p:spPr>
        <p:txBody>
          <a:bodyPr>
            <a:noAutofit/>
          </a:bodyPr>
          <a:lstStyle/>
          <a:p>
            <a:pPr marL="0" indent="0">
              <a:buNone/>
            </a:pPr>
            <a:endParaRPr lang="en-US" sz="1600" dirty="0"/>
          </a:p>
          <a:p>
            <a:pPr marL="0" indent="0">
              <a:buNone/>
            </a:pPr>
            <a:r>
              <a:rPr lang="en-US" sz="1600" dirty="0"/>
              <a:t>The big six US tech firms have been accused of “aggressively avoiding” $100bn (£75bn) of global tax over the past decade.</a:t>
            </a:r>
          </a:p>
          <a:p>
            <a:pPr marL="0" indent="0">
              <a:buNone/>
            </a:pPr>
            <a:endParaRPr lang="en-US" sz="1600" dirty="0"/>
          </a:p>
          <a:p>
            <a:pPr marL="0" indent="0">
              <a:buNone/>
            </a:pPr>
            <a:r>
              <a:rPr lang="en-US" sz="1600" dirty="0"/>
              <a:t>Amazon, Facebook, Google, Netflix, Apple and Microsoft have been named in a report by tax transparency campaign group Fair Tax Mark as avoiding tax by shifting revenue and profits through tax havens or low-tax countries, and for also delaying the payment of taxes they do incur.</a:t>
            </a:r>
          </a:p>
          <a:p>
            <a:pPr marL="0" indent="0">
              <a:buNone/>
            </a:pPr>
            <a:endParaRPr lang="en-US" sz="1600" dirty="0"/>
          </a:p>
          <a:p>
            <a:pPr marL="0" indent="0">
              <a:buNone/>
            </a:pPr>
            <a:r>
              <a:rPr lang="en-US" sz="1600" dirty="0"/>
              <a:t>The report singles out Amazon, which is run by the world’s richest person, Jeff Bezos, as the worst offender. It said the group paid just $3.4bn (£2.6bn) in tax on its income so far this decade despite achieving revenues of $960.5bn and profits of $26.8bn. Fair Tax Mark said this means Amazon’s effective tax rate was 12.7% over the decade when the headline tax rate in the US has been 35% for most of that period.</a:t>
            </a:r>
            <a:endParaRPr lang="en-GB" sz="1600" dirty="0"/>
          </a:p>
        </p:txBody>
      </p:sp>
      <p:sp>
        <p:nvSpPr>
          <p:cNvPr id="14" name="TextBox 13">
            <a:extLst>
              <a:ext uri="{FF2B5EF4-FFF2-40B4-BE49-F238E27FC236}">
                <a16:creationId xmlns:a16="http://schemas.microsoft.com/office/drawing/2014/main" id="{695F20F9-C3A6-4EBB-8870-FDBF68DD5E9E}"/>
              </a:ext>
            </a:extLst>
          </p:cNvPr>
          <p:cNvSpPr txBox="1"/>
          <p:nvPr/>
        </p:nvSpPr>
        <p:spPr>
          <a:xfrm>
            <a:off x="5386536" y="1124744"/>
            <a:ext cx="3175926" cy="2092881"/>
          </a:xfrm>
          <a:prstGeom prst="rect">
            <a:avLst/>
          </a:prstGeom>
          <a:noFill/>
        </p:spPr>
        <p:txBody>
          <a:bodyPr wrap="square">
            <a:spAutoFit/>
          </a:bodyPr>
          <a:lstStyle/>
          <a:p>
            <a:endParaRPr lang="en-GB" sz="1600" dirty="0">
              <a:hlinkClick r:id="rId2"/>
            </a:endParaRPr>
          </a:p>
          <a:p>
            <a:endParaRPr lang="en-GB" sz="1600" dirty="0">
              <a:hlinkClick r:id="rId2"/>
            </a:endParaRPr>
          </a:p>
          <a:p>
            <a:endParaRPr lang="en-GB" sz="1600" dirty="0">
              <a:hlinkClick r:id="rId2"/>
            </a:endParaRPr>
          </a:p>
          <a:p>
            <a:r>
              <a:rPr lang="en-GB" sz="1600" dirty="0">
                <a:hlinkClick r:id="rId2"/>
              </a:rPr>
              <a:t>https://www.theguardian.com/business/2019/dec/02/new-study-deems-amazon-worst-for-aggressive-tax-avoidance</a:t>
            </a:r>
            <a:endParaRPr lang="en-GB" sz="1600" dirty="0"/>
          </a:p>
          <a:p>
            <a:endParaRPr lang="en-GB" dirty="0"/>
          </a:p>
        </p:txBody>
      </p:sp>
      <p:sp>
        <p:nvSpPr>
          <p:cNvPr id="16" name="TextBox 15">
            <a:extLst>
              <a:ext uri="{FF2B5EF4-FFF2-40B4-BE49-F238E27FC236}">
                <a16:creationId xmlns:a16="http://schemas.microsoft.com/office/drawing/2014/main" id="{3BB3926F-AA3A-44B3-9C56-436CF6A3ABF7}"/>
              </a:ext>
            </a:extLst>
          </p:cNvPr>
          <p:cNvSpPr txBox="1"/>
          <p:nvPr/>
        </p:nvSpPr>
        <p:spPr>
          <a:xfrm>
            <a:off x="5384711" y="2708920"/>
            <a:ext cx="3175926" cy="1815882"/>
          </a:xfrm>
          <a:prstGeom prst="rect">
            <a:avLst/>
          </a:prstGeom>
          <a:noFill/>
        </p:spPr>
        <p:txBody>
          <a:bodyPr wrap="square">
            <a:spAutoFit/>
          </a:bodyPr>
          <a:lstStyle/>
          <a:p>
            <a:endParaRPr lang="en-GB" sz="1600" dirty="0">
              <a:hlinkClick r:id="rId3"/>
            </a:endParaRPr>
          </a:p>
          <a:p>
            <a:endParaRPr lang="en-GB" sz="1600" dirty="0">
              <a:hlinkClick r:id="rId3"/>
            </a:endParaRPr>
          </a:p>
          <a:p>
            <a:endParaRPr lang="en-GB" sz="1600" dirty="0">
              <a:hlinkClick r:id="rId3"/>
            </a:endParaRPr>
          </a:p>
          <a:p>
            <a:r>
              <a:rPr lang="en-GB" sz="1600" dirty="0">
                <a:hlinkClick r:id="rId3"/>
              </a:rPr>
              <a:t>https://www.theguardian.com/technology/2021/may/04/amazon-sales-income-europe-corporation-tax-luxembourg</a:t>
            </a:r>
            <a:endParaRPr lang="en-GB" sz="1600" dirty="0"/>
          </a:p>
        </p:txBody>
      </p:sp>
    </p:spTree>
    <p:extLst>
      <p:ext uri="{BB962C8B-B14F-4D97-AF65-F5344CB8AC3E}">
        <p14:creationId xmlns:p14="http://schemas.microsoft.com/office/powerpoint/2010/main" val="1682762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sz="2800" b="1" dirty="0">
                <a:solidFill>
                  <a:prstClr val="black"/>
                </a:solidFill>
              </a:rPr>
              <a:t>Ethics in the Business World – a few examples of lapses in business ethics by employees in IT organisations:</a:t>
            </a:r>
            <a:endParaRPr lang="en-ZA" b="1" dirty="0"/>
          </a:p>
        </p:txBody>
      </p:sp>
      <p:sp>
        <p:nvSpPr>
          <p:cNvPr id="3" name="Content Placeholder 2"/>
          <p:cNvSpPr>
            <a:spLocks noGrp="1"/>
          </p:cNvSpPr>
          <p:nvPr>
            <p:ph idx="1"/>
          </p:nvPr>
        </p:nvSpPr>
        <p:spPr>
          <a:xfrm>
            <a:off x="457200" y="1412776"/>
            <a:ext cx="8229600" cy="5445224"/>
          </a:xfrm>
        </p:spPr>
        <p:txBody>
          <a:bodyPr>
            <a:normAutofit fontScale="85000" lnSpcReduction="20000"/>
          </a:bodyPr>
          <a:lstStyle/>
          <a:p>
            <a:r>
              <a:rPr lang="en-ZA" sz="2400" dirty="0"/>
              <a:t>As the previous examples illustrate, it is not unusual for powerful, highly successful individuals to fail to act morally.</a:t>
            </a:r>
          </a:p>
          <a:p>
            <a:endParaRPr lang="en-ZA" sz="2400" dirty="0"/>
          </a:p>
          <a:p>
            <a:r>
              <a:rPr lang="en-ZA" sz="2400" dirty="0"/>
              <a:t>Such people are often </a:t>
            </a:r>
            <a:r>
              <a:rPr lang="en-ZA" sz="2400" b="1" dirty="0"/>
              <a:t>aggressive</a:t>
            </a:r>
            <a:r>
              <a:rPr lang="en-ZA" sz="2400" dirty="0"/>
              <a:t> in striving for what they want and are used to having </a:t>
            </a:r>
            <a:r>
              <a:rPr lang="en-ZA" sz="2400" b="1" dirty="0"/>
              <a:t>privileged</a:t>
            </a:r>
            <a:r>
              <a:rPr lang="en-ZA" sz="2400" dirty="0"/>
              <a:t> access to information, people, and other resources.</a:t>
            </a:r>
          </a:p>
          <a:p>
            <a:endParaRPr lang="en-ZA" sz="2400" dirty="0"/>
          </a:p>
          <a:p>
            <a:r>
              <a:rPr lang="en-ZA" sz="2400" dirty="0"/>
              <a:t>Furthermore, their success often inflates their belief that they have the ability and the right to manipulate the outcome of any situation.</a:t>
            </a:r>
          </a:p>
          <a:p>
            <a:endParaRPr lang="en-ZA" sz="2400" dirty="0"/>
          </a:p>
          <a:p>
            <a:r>
              <a:rPr lang="en-ZA" sz="2400" dirty="0"/>
              <a:t>According to the 2013 National Business Ethics Survey (USA), it is </a:t>
            </a:r>
            <a:r>
              <a:rPr lang="en-ZA" sz="2400" b="1" dirty="0"/>
              <a:t>managers</a:t>
            </a:r>
            <a:r>
              <a:rPr lang="en-ZA" sz="2400" dirty="0"/>
              <a:t> – those expected to act as role models and enforce discipline – who are responsible for 60% of workplace misconduct.</a:t>
            </a:r>
          </a:p>
          <a:p>
            <a:endParaRPr lang="en-ZA" sz="2400" dirty="0"/>
          </a:p>
          <a:p>
            <a:r>
              <a:rPr lang="en-ZA" sz="2400" dirty="0"/>
              <a:t>The moral corruption of people in power, which is often facilitated by a tendency for people to look the other way when their leaders act inappropriately is called the </a:t>
            </a:r>
            <a:r>
              <a:rPr lang="en-ZA" sz="2400" b="1" dirty="0">
                <a:solidFill>
                  <a:srgbClr val="FF0000"/>
                </a:solidFill>
              </a:rPr>
              <a:t>Bathsheba syndrome </a:t>
            </a:r>
            <a:r>
              <a:rPr lang="en-ZA" sz="2400" dirty="0"/>
              <a:t>– a reference to the biblical story of King David, who became corrupted by his power and success.</a:t>
            </a:r>
          </a:p>
          <a:p>
            <a:pPr marL="0" indent="0">
              <a:buNone/>
            </a:pPr>
            <a:endParaRPr lang="en-ZA" sz="2400" dirty="0"/>
          </a:p>
        </p:txBody>
      </p:sp>
    </p:spTree>
    <p:extLst>
      <p:ext uri="{BB962C8B-B14F-4D97-AF65-F5344CB8AC3E}">
        <p14:creationId xmlns:p14="http://schemas.microsoft.com/office/powerpoint/2010/main" val="2641705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ZA" sz="2400" b="1" dirty="0"/>
              <a:t>Ethics in the Business World – examples of ethical dilemmas even </a:t>
            </a:r>
            <a:r>
              <a:rPr lang="en-ZA" sz="2400" b="1" dirty="0">
                <a:solidFill>
                  <a:srgbClr val="FF0000"/>
                </a:solidFill>
              </a:rPr>
              <a:t>ordinary individuals </a:t>
            </a:r>
            <a:r>
              <a:rPr lang="en-ZA" sz="2400" b="1" dirty="0"/>
              <a:t>can find themselves in:</a:t>
            </a:r>
          </a:p>
        </p:txBody>
      </p:sp>
      <p:sp>
        <p:nvSpPr>
          <p:cNvPr id="3" name="Content Placeholder 2"/>
          <p:cNvSpPr>
            <a:spLocks noGrp="1"/>
          </p:cNvSpPr>
          <p:nvPr>
            <p:ph idx="1"/>
          </p:nvPr>
        </p:nvSpPr>
        <p:spPr>
          <a:xfrm>
            <a:off x="457200" y="1417638"/>
            <a:ext cx="5842992" cy="5440362"/>
          </a:xfrm>
          <a:solidFill>
            <a:schemeClr val="bg1"/>
          </a:solidFill>
          <a:ln>
            <a:solidFill>
              <a:schemeClr val="accent3"/>
            </a:solidFill>
          </a:ln>
        </p:spPr>
        <p:txBody>
          <a:bodyPr>
            <a:normAutofit fontScale="62500" lnSpcReduction="20000"/>
          </a:bodyPr>
          <a:lstStyle/>
          <a:p>
            <a:pPr marL="0" indent="0">
              <a:buNone/>
            </a:pPr>
            <a:r>
              <a:rPr lang="en-ZA" i="1" dirty="0"/>
              <a:t>Edward Snowden, working as a Dell contractor at the National Security Agency (NSA) in The United States, copied thousands of classified and unclassified documents that revealed details about the capabilities and scope of operations of the NSA and other foreign intelligence agencies. </a:t>
            </a:r>
          </a:p>
          <a:p>
            <a:pPr marL="0" indent="0">
              <a:buNone/>
            </a:pPr>
            <a:endParaRPr lang="en-ZA" i="1" dirty="0"/>
          </a:p>
          <a:p>
            <a:pPr marL="0" indent="0">
              <a:buNone/>
            </a:pPr>
            <a:r>
              <a:rPr lang="en-ZA" i="1" dirty="0"/>
              <a:t>The documents were then handed over to reporters who published many of the disclosures in The Guardian and Washington Post newspapers. </a:t>
            </a:r>
          </a:p>
          <a:p>
            <a:pPr marL="0" indent="0">
              <a:buNone/>
            </a:pPr>
            <a:endParaRPr lang="en-ZA" i="1" dirty="0"/>
          </a:p>
          <a:p>
            <a:pPr marL="0" indent="0">
              <a:buNone/>
            </a:pPr>
            <a:r>
              <a:rPr lang="en-ZA" i="1" dirty="0"/>
              <a:t>Snowden felt he acted as a patriot in exposing the behaviour of the NSA, which he believed was overreaching and counter to the U.S. Constitution. Some consider him a traitor, while others view him as a whistle-blower and a hero.</a:t>
            </a:r>
          </a:p>
          <a:p>
            <a:pPr marL="0" indent="0">
              <a:buNone/>
            </a:pPr>
            <a:endParaRPr lang="en-ZA" i="1" dirty="0"/>
          </a:p>
          <a:p>
            <a:pPr marL="0" indent="0">
              <a:buNone/>
            </a:pPr>
            <a:r>
              <a:rPr lang="en-ZA" i="1" dirty="0">
                <a:hlinkClick r:id="rId2"/>
              </a:rPr>
              <a:t>https://www.amnesty.org/en/latest/campaigns/2015/06/7-ways-the-world-has-changed-thanks-to-edward-snowden/</a:t>
            </a:r>
            <a:endParaRPr lang="en-ZA" i="1" dirty="0"/>
          </a:p>
          <a:p>
            <a:pPr marL="0" indent="0">
              <a:buNone/>
            </a:pPr>
            <a:endParaRPr lang="en-ZA" i="1" dirty="0"/>
          </a:p>
        </p:txBody>
      </p:sp>
      <p:pic>
        <p:nvPicPr>
          <p:cNvPr id="3074" name="Picture 2" descr="Edward Snowden Is a Media Genius">
            <a:extLst>
              <a:ext uri="{FF2B5EF4-FFF2-40B4-BE49-F238E27FC236}">
                <a16:creationId xmlns:a16="http://schemas.microsoft.com/office/drawing/2014/main" id="{9CB86EDA-46B3-4204-9943-5FF9DFD7F8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5000" y="4941168"/>
            <a:ext cx="2843808" cy="191683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dward Snowden: Traitor or Hero? - Ethics Unwrapped">
            <a:extLst>
              <a:ext uri="{FF2B5EF4-FFF2-40B4-BE49-F238E27FC236}">
                <a16:creationId xmlns:a16="http://schemas.microsoft.com/office/drawing/2014/main" id="{32E9CF84-91CC-48F1-988E-5131E45FCB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192" y="3313816"/>
            <a:ext cx="2843808" cy="158417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Edward Snowden: The Untold Story | WIRED">
            <a:extLst>
              <a:ext uri="{FF2B5EF4-FFF2-40B4-BE49-F238E27FC236}">
                <a16:creationId xmlns:a16="http://schemas.microsoft.com/office/drawing/2014/main" id="{262B9870-40EC-4DAE-B2D2-91E2D49500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5000" y="1431880"/>
            <a:ext cx="2858616" cy="2062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055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2400" b="1" dirty="0">
                <a:solidFill>
                  <a:prstClr val="black"/>
                </a:solidFill>
              </a:rPr>
              <a:t>Ethics in the Business World – examples of ethical dilemmas even </a:t>
            </a:r>
            <a:r>
              <a:rPr lang="en-ZA" sz="2400" b="1" dirty="0">
                <a:solidFill>
                  <a:srgbClr val="FF0000"/>
                </a:solidFill>
              </a:rPr>
              <a:t>ordinary individuals </a:t>
            </a:r>
            <a:r>
              <a:rPr lang="en-ZA" sz="2400" b="1" dirty="0">
                <a:solidFill>
                  <a:prstClr val="black"/>
                </a:solidFill>
              </a:rPr>
              <a:t>can find themselves in:</a:t>
            </a:r>
            <a:endParaRPr lang="en-ZA" b="1" dirty="0"/>
          </a:p>
        </p:txBody>
      </p:sp>
      <p:sp>
        <p:nvSpPr>
          <p:cNvPr id="3" name="Content Placeholder 2"/>
          <p:cNvSpPr>
            <a:spLocks noGrp="1"/>
          </p:cNvSpPr>
          <p:nvPr>
            <p:ph idx="1"/>
          </p:nvPr>
        </p:nvSpPr>
        <p:spPr>
          <a:xfrm>
            <a:off x="107504" y="1600200"/>
            <a:ext cx="4968552" cy="4709120"/>
          </a:xfrm>
          <a:solidFill>
            <a:schemeClr val="bg1"/>
          </a:solidFill>
        </p:spPr>
        <p:style>
          <a:lnRef idx="2">
            <a:schemeClr val="accent3"/>
          </a:lnRef>
          <a:fillRef idx="1">
            <a:schemeClr val="lt1"/>
          </a:fillRef>
          <a:effectRef idx="0">
            <a:schemeClr val="accent3"/>
          </a:effectRef>
          <a:fontRef idx="minor">
            <a:schemeClr val="dk1"/>
          </a:fontRef>
        </p:style>
        <p:txBody>
          <a:bodyPr>
            <a:normAutofit fontScale="47500" lnSpcReduction="20000"/>
          </a:bodyPr>
          <a:lstStyle/>
          <a:p>
            <a:pPr marL="0" indent="0">
              <a:buNone/>
            </a:pPr>
            <a:r>
              <a:rPr lang="en-ZA" i="1" dirty="0"/>
              <a:t>Mark Lillie, a former </a:t>
            </a:r>
            <a:r>
              <a:rPr lang="en-ZA" i="1" dirty="0" err="1"/>
              <a:t>Takata</a:t>
            </a:r>
            <a:r>
              <a:rPr lang="en-ZA" i="1" dirty="0"/>
              <a:t> Corporation engineer, warned the company of the potential deadly consequences of using the propellant ammonium nitrate to inflate its airbags. </a:t>
            </a:r>
          </a:p>
          <a:p>
            <a:pPr marL="0" indent="0">
              <a:buNone/>
            </a:pPr>
            <a:endParaRPr lang="en-ZA" i="1" dirty="0"/>
          </a:p>
          <a:p>
            <a:pPr marL="0" indent="0">
              <a:buNone/>
            </a:pPr>
            <a:r>
              <a:rPr lang="en-ZA" i="1" dirty="0"/>
              <a:t>The use of ammonium nitrate enabled </a:t>
            </a:r>
            <a:r>
              <a:rPr lang="en-ZA" i="1" dirty="0" err="1"/>
              <a:t>Takata</a:t>
            </a:r>
            <a:r>
              <a:rPr lang="en-ZA" i="1" dirty="0"/>
              <a:t> to </a:t>
            </a:r>
            <a:r>
              <a:rPr lang="en-ZA" b="1" i="1" dirty="0"/>
              <a:t>earn a greater profit </a:t>
            </a:r>
            <a:r>
              <a:rPr lang="en-ZA" i="1" dirty="0"/>
              <a:t>than other designs, however, it also resulted in devices that can deploy with too much force, causing them to rupture and shoot metal fragments at motorists. Unfortunately, Lillie was unable to convince management at </a:t>
            </a:r>
            <a:r>
              <a:rPr lang="en-ZA" i="1" dirty="0" err="1"/>
              <a:t>Takata</a:t>
            </a:r>
            <a:r>
              <a:rPr lang="en-ZA" i="1" dirty="0"/>
              <a:t> to choose an alternative design. </a:t>
            </a:r>
          </a:p>
          <a:p>
            <a:pPr marL="0" indent="0">
              <a:buNone/>
            </a:pPr>
            <a:endParaRPr lang="en-ZA" i="1" dirty="0"/>
          </a:p>
          <a:p>
            <a:pPr marL="0" indent="0">
              <a:buNone/>
            </a:pPr>
            <a:r>
              <a:rPr lang="en-ZA" i="1" dirty="0"/>
              <a:t>He eventually left the firm in disagreement over this fatal manufacturing decision. In the United States, </a:t>
            </a:r>
            <a:r>
              <a:rPr lang="en-US" i="1" dirty="0"/>
              <a:t>to date, there have been 19 deaths and more than 400 injuries because of this problem. Worldwide, NHTSA reports that there have been at least 27 deaths.</a:t>
            </a:r>
            <a:endParaRPr lang="en-ZA" i="1" dirty="0"/>
          </a:p>
          <a:p>
            <a:pPr marL="0" indent="0">
              <a:buNone/>
            </a:pPr>
            <a:endParaRPr lang="en-ZA" i="1" dirty="0"/>
          </a:p>
          <a:p>
            <a:pPr marL="0" indent="0">
              <a:buNone/>
            </a:pPr>
            <a:r>
              <a:rPr lang="en-ZA" i="1" dirty="0">
                <a:hlinkClick r:id="rId3"/>
              </a:rPr>
              <a:t>https://www.consumerreports.org/car-recalls-defects/takata-airbag-recall-everything-you-need-to-know-a1060713669/</a:t>
            </a:r>
            <a:endParaRPr lang="en-ZA" i="1" dirty="0"/>
          </a:p>
          <a:p>
            <a:pPr marL="0" indent="0">
              <a:buNone/>
            </a:pPr>
            <a:endParaRPr lang="en-ZA" i="1" dirty="0"/>
          </a:p>
          <a:p>
            <a:pPr marL="0" indent="0">
              <a:buNone/>
            </a:pPr>
            <a:endParaRPr lang="en-ZA" i="1" dirty="0"/>
          </a:p>
        </p:txBody>
      </p:sp>
      <p:pic>
        <p:nvPicPr>
          <p:cNvPr id="4098" name="Picture 2" descr="Takata Airbag Update - Gillis and Bikofsky">
            <a:extLst>
              <a:ext uri="{FF2B5EF4-FFF2-40B4-BE49-F238E27FC236}">
                <a16:creationId xmlns:a16="http://schemas.microsoft.com/office/drawing/2014/main" id="{1396057F-DE21-42E7-A2A0-96475202F1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8225" y="3910388"/>
            <a:ext cx="3734456" cy="239893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akata graphic">
            <a:extLst>
              <a:ext uri="{FF2B5EF4-FFF2-40B4-BE49-F238E27FC236}">
                <a16:creationId xmlns:a16="http://schemas.microsoft.com/office/drawing/2014/main" id="{C75BBD35-549E-474C-8294-EA704ECD59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224" y="1585259"/>
            <a:ext cx="3734456" cy="2327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761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3200" b="1" dirty="0"/>
              <a:t>How Organisations Can Improve Their Ethics</a:t>
            </a:r>
          </a:p>
        </p:txBody>
      </p:sp>
      <p:sp>
        <p:nvSpPr>
          <p:cNvPr id="3" name="Content Placeholder 2"/>
          <p:cNvSpPr>
            <a:spLocks noGrp="1"/>
          </p:cNvSpPr>
          <p:nvPr>
            <p:ph idx="1"/>
          </p:nvPr>
        </p:nvSpPr>
        <p:spPr/>
        <p:txBody>
          <a:bodyPr>
            <a:noAutofit/>
          </a:bodyPr>
          <a:lstStyle/>
          <a:p>
            <a:r>
              <a:rPr lang="en-ZA" sz="2800" dirty="0"/>
              <a:t>A well-implemented ethics and compliance programme and a strong ethical culture can lead to </a:t>
            </a:r>
            <a:r>
              <a:rPr lang="en-ZA" sz="2800" b="1" dirty="0"/>
              <a:t>less pressure </a:t>
            </a:r>
            <a:r>
              <a:rPr lang="en-ZA" sz="2800" dirty="0"/>
              <a:t>on employees to misbehave and a decrease in observed misconduct.</a:t>
            </a:r>
          </a:p>
          <a:p>
            <a:endParaRPr lang="en-ZA" sz="2800" dirty="0"/>
          </a:p>
          <a:p>
            <a:r>
              <a:rPr lang="en-ZA" sz="2800" dirty="0"/>
              <a:t>It also </a:t>
            </a:r>
            <a:r>
              <a:rPr lang="en-ZA" sz="2800" b="1" dirty="0"/>
              <a:t>creates an environment </a:t>
            </a:r>
            <a:r>
              <a:rPr lang="en-ZA" sz="2800" dirty="0"/>
              <a:t>in which employees are more comfortable reporting instances of misconduct, partly because there is less fear of potential retaliation by management against reporters.</a:t>
            </a:r>
          </a:p>
        </p:txBody>
      </p:sp>
    </p:spTree>
    <p:extLst>
      <p:ext uri="{BB962C8B-B14F-4D97-AF65-F5344CB8AC3E}">
        <p14:creationId xmlns:p14="http://schemas.microsoft.com/office/powerpoint/2010/main" val="1050230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ZA" sz="3200" b="1" dirty="0">
                <a:solidFill>
                  <a:prstClr val="black"/>
                </a:solidFill>
              </a:rPr>
              <a:t>How Organisations Can Improve Their Ethics</a:t>
            </a:r>
            <a:endParaRPr lang="en-ZA" dirty="0"/>
          </a:p>
        </p:txBody>
      </p:sp>
      <p:sp>
        <p:nvSpPr>
          <p:cNvPr id="3" name="Content Placeholder 2"/>
          <p:cNvSpPr>
            <a:spLocks noGrp="1"/>
          </p:cNvSpPr>
          <p:nvPr>
            <p:ph idx="1"/>
          </p:nvPr>
        </p:nvSpPr>
        <p:spPr>
          <a:xfrm>
            <a:off x="457200" y="1052736"/>
            <a:ext cx="8229600" cy="5073427"/>
          </a:xfrm>
        </p:spPr>
        <p:txBody>
          <a:bodyPr/>
          <a:lstStyle/>
          <a:p>
            <a:pPr marL="0" indent="0">
              <a:buNone/>
            </a:pPr>
            <a:r>
              <a:rPr lang="en-ZA" sz="2400" b="1" dirty="0"/>
              <a:t>The Ethics Resource Centre has defined the following characteristics of a successful ethics programme:</a:t>
            </a:r>
          </a:p>
          <a:p>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115787793"/>
              </p:ext>
            </p:extLst>
          </p:nvPr>
        </p:nvGraphicFramePr>
        <p:xfrm>
          <a:off x="539552" y="2204864"/>
          <a:ext cx="7920880" cy="3458721"/>
        </p:xfrm>
        <a:graphic>
          <a:graphicData uri="http://schemas.openxmlformats.org/drawingml/2006/table">
            <a:tbl>
              <a:tblPr firstRow="1" bandRow="1">
                <a:effectLst/>
                <a:tableStyleId>{5C22544A-7EE6-4342-B048-85BDC9FD1C3A}</a:tableStyleId>
              </a:tblPr>
              <a:tblGrid>
                <a:gridCol w="7920880">
                  <a:extLst>
                    <a:ext uri="{9D8B030D-6E8A-4147-A177-3AD203B41FA5}">
                      <a16:colId xmlns:a16="http://schemas.microsoft.com/office/drawing/2014/main" val="20000"/>
                    </a:ext>
                  </a:extLst>
                </a:gridCol>
              </a:tblGrid>
              <a:tr h="632783">
                <a:tc>
                  <a:txBody>
                    <a:bodyPr/>
                    <a:lstStyle/>
                    <a:p>
                      <a:r>
                        <a:rPr lang="en-ZA" dirty="0"/>
                        <a:t>Characteristics</a:t>
                      </a:r>
                      <a:r>
                        <a:rPr lang="en-ZA" baseline="0" dirty="0"/>
                        <a:t> of a successful ethics programme:</a:t>
                      </a:r>
                      <a:endParaRPr lang="en-ZA" dirty="0"/>
                    </a:p>
                  </a:txBody>
                  <a:tcPr/>
                </a:tc>
                <a:extLst>
                  <a:ext uri="{0D108BD9-81ED-4DB2-BD59-A6C34878D82A}">
                    <a16:rowId xmlns:a16="http://schemas.microsoft.com/office/drawing/2014/main" val="10000"/>
                  </a:ext>
                </a:extLst>
              </a:tr>
              <a:tr h="591353">
                <a:tc>
                  <a:txBody>
                    <a:bodyPr/>
                    <a:lstStyle/>
                    <a:p>
                      <a:r>
                        <a:rPr lang="en-ZA" dirty="0"/>
                        <a:t>Employees are willing to seek advice about ethics-related issues.</a:t>
                      </a:r>
                    </a:p>
                  </a:txBody>
                  <a:tcPr/>
                </a:tc>
                <a:extLst>
                  <a:ext uri="{0D108BD9-81ED-4DB2-BD59-A6C34878D82A}">
                    <a16:rowId xmlns:a16="http://schemas.microsoft.com/office/drawing/2014/main" val="10001"/>
                  </a:ext>
                </a:extLst>
              </a:tr>
              <a:tr h="640721">
                <a:tc>
                  <a:txBody>
                    <a:bodyPr/>
                    <a:lstStyle/>
                    <a:p>
                      <a:r>
                        <a:rPr lang="en-ZA" dirty="0"/>
                        <a:t>Employees feel prepared to</a:t>
                      </a:r>
                      <a:r>
                        <a:rPr lang="en-ZA" baseline="0" dirty="0"/>
                        <a:t> handle situations that could lead to misconduct.</a:t>
                      </a:r>
                      <a:endParaRPr lang="en-ZA" dirty="0"/>
                    </a:p>
                  </a:txBody>
                  <a:tcPr/>
                </a:tc>
                <a:extLst>
                  <a:ext uri="{0D108BD9-81ED-4DB2-BD59-A6C34878D82A}">
                    <a16:rowId xmlns:a16="http://schemas.microsoft.com/office/drawing/2014/main" val="10002"/>
                  </a:ext>
                </a:extLst>
              </a:tr>
              <a:tr h="513744">
                <a:tc>
                  <a:txBody>
                    <a:bodyPr/>
                    <a:lstStyle/>
                    <a:p>
                      <a:r>
                        <a:rPr lang="en-ZA" dirty="0"/>
                        <a:t>Employees are rewarded for ethical behaviour.</a:t>
                      </a:r>
                    </a:p>
                  </a:txBody>
                  <a:tcPr/>
                </a:tc>
                <a:extLst>
                  <a:ext uri="{0D108BD9-81ED-4DB2-BD59-A6C34878D82A}">
                    <a16:rowId xmlns:a16="http://schemas.microsoft.com/office/drawing/2014/main" val="10003"/>
                  </a:ext>
                </a:extLst>
              </a:tr>
              <a:tr h="566376">
                <a:tc>
                  <a:txBody>
                    <a:bodyPr/>
                    <a:lstStyle/>
                    <a:p>
                      <a:r>
                        <a:rPr lang="en-ZA" dirty="0"/>
                        <a:t>The organization does not reward success obtained through questionable</a:t>
                      </a:r>
                      <a:r>
                        <a:rPr lang="en-ZA" baseline="0" dirty="0"/>
                        <a:t> means.</a:t>
                      </a:r>
                      <a:endParaRPr lang="en-ZA" dirty="0"/>
                    </a:p>
                  </a:txBody>
                  <a:tcPr/>
                </a:tc>
                <a:extLst>
                  <a:ext uri="{0D108BD9-81ED-4DB2-BD59-A6C34878D82A}">
                    <a16:rowId xmlns:a16="http://schemas.microsoft.com/office/drawing/2014/main" val="10004"/>
                  </a:ext>
                </a:extLst>
              </a:tr>
              <a:tr h="513744">
                <a:tc>
                  <a:txBody>
                    <a:bodyPr/>
                    <a:lstStyle/>
                    <a:p>
                      <a:r>
                        <a:rPr lang="en-ZA" dirty="0"/>
                        <a:t>Employees feel positively about their company.</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05740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dirty="0"/>
          </a:p>
        </p:txBody>
      </p:sp>
      <p:sp>
        <p:nvSpPr>
          <p:cNvPr id="3" name="Content Placeholder 2"/>
          <p:cNvSpPr>
            <a:spLocks noGrp="1"/>
          </p:cNvSpPr>
          <p:nvPr>
            <p:ph idx="1"/>
          </p:nvPr>
        </p:nvSpPr>
        <p:spPr/>
        <p:txBody>
          <a:bodyPr>
            <a:normAutofit/>
          </a:bodyPr>
          <a:lstStyle/>
          <a:p>
            <a:pPr marL="514350" indent="-514350">
              <a:buAutoNum type="arabicPeriod"/>
            </a:pPr>
            <a:r>
              <a:rPr lang="en-ZA" b="1" dirty="0">
                <a:solidFill>
                  <a:srgbClr val="FF0000"/>
                </a:solidFill>
              </a:rPr>
              <a:t>Appoint a Corporate Ethics Officer</a:t>
            </a:r>
          </a:p>
          <a:p>
            <a:r>
              <a:rPr lang="en-ZA" sz="2800" dirty="0"/>
              <a:t>A corporate ethics officer (also called a corporate compliance officer) provides an organisation with vision and leadership in the area of business conduct.</a:t>
            </a:r>
          </a:p>
          <a:p>
            <a:endParaRPr lang="en-ZA" sz="2800" dirty="0"/>
          </a:p>
          <a:p>
            <a:r>
              <a:rPr lang="en-ZA" sz="2800" dirty="0"/>
              <a:t>This individual </a:t>
            </a:r>
            <a:r>
              <a:rPr lang="en-ZA" sz="2800" b="1" dirty="0"/>
              <a:t>aligns</a:t>
            </a:r>
            <a:r>
              <a:rPr lang="en-ZA" sz="2800" dirty="0"/>
              <a:t> the practices of a workplace with the stated ethics and beliefs of that workplace, holding people accountable to ethical standards.</a:t>
            </a:r>
          </a:p>
        </p:txBody>
      </p:sp>
    </p:spTree>
    <p:extLst>
      <p:ext uri="{BB962C8B-B14F-4D97-AF65-F5344CB8AC3E}">
        <p14:creationId xmlns:p14="http://schemas.microsoft.com/office/powerpoint/2010/main" val="2168292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dirty="0"/>
          </a:p>
        </p:txBody>
      </p:sp>
      <p:sp>
        <p:nvSpPr>
          <p:cNvPr id="3" name="Content Placeholder 2"/>
          <p:cNvSpPr>
            <a:spLocks noGrp="1"/>
          </p:cNvSpPr>
          <p:nvPr>
            <p:ph idx="1"/>
          </p:nvPr>
        </p:nvSpPr>
        <p:spPr>
          <a:xfrm>
            <a:off x="457200" y="1196752"/>
            <a:ext cx="8229600" cy="5661248"/>
          </a:xfrm>
        </p:spPr>
        <p:txBody>
          <a:bodyPr>
            <a:normAutofit lnSpcReduction="10000"/>
          </a:bodyPr>
          <a:lstStyle/>
          <a:p>
            <a:pPr marL="0" indent="0">
              <a:buNone/>
            </a:pPr>
            <a:r>
              <a:rPr lang="en-ZA" sz="2600" b="1" dirty="0">
                <a:solidFill>
                  <a:srgbClr val="FF0000"/>
                </a:solidFill>
              </a:rPr>
              <a:t>2. Require the Board of Directors to Set and Model High Ethical Standards:</a:t>
            </a:r>
          </a:p>
          <a:p>
            <a:r>
              <a:rPr lang="en-ZA" sz="2600" dirty="0"/>
              <a:t>The board of directors is responsible for the careful and responsible management of an organization.</a:t>
            </a:r>
          </a:p>
          <a:p>
            <a:endParaRPr lang="en-ZA" sz="2600" dirty="0"/>
          </a:p>
          <a:p>
            <a:r>
              <a:rPr lang="en-ZA" sz="2600" dirty="0"/>
              <a:t>For-profit organisation – board’s primary objective is to oversee the organisation’s business activities and management for the benefit of all stakeholders, including shareholders, employees, customers, suppliers, and the community.</a:t>
            </a:r>
          </a:p>
          <a:p>
            <a:endParaRPr lang="en-ZA" sz="2600" dirty="0"/>
          </a:p>
          <a:p>
            <a:r>
              <a:rPr lang="en-ZA" sz="2600" dirty="0"/>
              <a:t>Non-profit organisation – board reports to a different set of stakeholders -  in particular, the local community that the non-profit serves.</a:t>
            </a:r>
          </a:p>
          <a:p>
            <a:pPr marL="0" indent="0">
              <a:buNone/>
            </a:pPr>
            <a:endParaRPr lang="en-ZA" dirty="0"/>
          </a:p>
          <a:p>
            <a:pPr marL="0" indent="0">
              <a:buNone/>
            </a:pPr>
            <a:endParaRPr lang="en-ZA" dirty="0"/>
          </a:p>
        </p:txBody>
      </p:sp>
    </p:spTree>
    <p:extLst>
      <p:ext uri="{BB962C8B-B14F-4D97-AF65-F5344CB8AC3E}">
        <p14:creationId xmlns:p14="http://schemas.microsoft.com/office/powerpoint/2010/main" val="1193678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normAutofit/>
          </a:bodyPr>
          <a:lstStyle/>
          <a:p>
            <a:r>
              <a:rPr lang="en-ZA" sz="3200" b="1" dirty="0"/>
              <a:t>How Organisations Can Improve Their Ethics</a:t>
            </a:r>
          </a:p>
        </p:txBody>
      </p:sp>
      <p:sp>
        <p:nvSpPr>
          <p:cNvPr id="3" name="Content Placeholder 2"/>
          <p:cNvSpPr>
            <a:spLocks noGrp="1"/>
          </p:cNvSpPr>
          <p:nvPr>
            <p:ph idx="1"/>
          </p:nvPr>
        </p:nvSpPr>
        <p:spPr>
          <a:xfrm>
            <a:off x="179512" y="1124744"/>
            <a:ext cx="8640960" cy="5616624"/>
          </a:xfrm>
        </p:spPr>
        <p:txBody>
          <a:bodyPr>
            <a:normAutofit fontScale="77500" lnSpcReduction="20000"/>
          </a:bodyPr>
          <a:lstStyle/>
          <a:p>
            <a:pPr lvl="0"/>
            <a:r>
              <a:rPr lang="en-ZA" sz="2600" dirty="0">
                <a:solidFill>
                  <a:prstClr val="black"/>
                </a:solidFill>
              </a:rPr>
              <a:t>A board of directors fulfils some of its responsibilities directly and assigns others to various committees.</a:t>
            </a:r>
          </a:p>
          <a:p>
            <a:pPr lvl="0"/>
            <a:endParaRPr lang="en-ZA" sz="2600" dirty="0">
              <a:solidFill>
                <a:prstClr val="black"/>
              </a:solidFill>
            </a:endParaRPr>
          </a:p>
          <a:p>
            <a:pPr lvl="0"/>
            <a:r>
              <a:rPr lang="en-ZA" sz="2600" dirty="0">
                <a:solidFill>
                  <a:prstClr val="black"/>
                </a:solidFill>
              </a:rPr>
              <a:t>The board is not normally responsible for day-to-day management and operations; these responsibilities are delegated to the organisation’s management team.</a:t>
            </a:r>
          </a:p>
          <a:p>
            <a:pPr lvl="0"/>
            <a:endParaRPr lang="en-ZA" sz="2600" dirty="0">
              <a:solidFill>
                <a:prstClr val="black"/>
              </a:solidFill>
            </a:endParaRPr>
          </a:p>
          <a:p>
            <a:pPr lvl="0"/>
            <a:r>
              <a:rPr lang="en-ZA" sz="2600" dirty="0">
                <a:solidFill>
                  <a:prstClr val="black"/>
                </a:solidFill>
              </a:rPr>
              <a:t>However, the board is responsible for supervising the management team.</a:t>
            </a:r>
          </a:p>
          <a:p>
            <a:pPr lvl="0"/>
            <a:endParaRPr lang="en-ZA" sz="2600" dirty="0">
              <a:solidFill>
                <a:prstClr val="black"/>
              </a:solidFill>
            </a:endParaRPr>
          </a:p>
          <a:p>
            <a:pPr lvl="0"/>
            <a:r>
              <a:rPr lang="en-ZA" sz="2600" dirty="0">
                <a:solidFill>
                  <a:prstClr val="black"/>
                </a:solidFill>
              </a:rPr>
              <a:t>Therefore board members are expected to conduct themselves according to the </a:t>
            </a:r>
            <a:r>
              <a:rPr lang="en-ZA" sz="2600" b="1" dirty="0">
                <a:solidFill>
                  <a:prstClr val="black"/>
                </a:solidFill>
              </a:rPr>
              <a:t>highest standards </a:t>
            </a:r>
            <a:r>
              <a:rPr lang="en-ZA" sz="2600" dirty="0">
                <a:solidFill>
                  <a:prstClr val="black"/>
                </a:solidFill>
              </a:rPr>
              <a:t>for personal and professional integrity while setting the standard for company-wide ethical conduct and ensuring compliance with laws and regulations.</a:t>
            </a:r>
          </a:p>
          <a:p>
            <a:pPr lvl="0"/>
            <a:endParaRPr lang="en-ZA" sz="2600" dirty="0">
              <a:solidFill>
                <a:prstClr val="black"/>
              </a:solidFill>
            </a:endParaRPr>
          </a:p>
          <a:p>
            <a:pPr lvl="0"/>
            <a:r>
              <a:rPr lang="en-ZA" sz="2600" b="1" dirty="0">
                <a:solidFill>
                  <a:srgbClr val="FF0000"/>
                </a:solidFill>
              </a:rPr>
              <a:t>Board members must set an example and set a tone for high-level ethical behaviour.</a:t>
            </a:r>
          </a:p>
          <a:p>
            <a:pPr lvl="0"/>
            <a:endParaRPr lang="en-ZA" sz="2600" dirty="0">
              <a:solidFill>
                <a:prstClr val="black"/>
              </a:solidFill>
            </a:endParaRPr>
          </a:p>
          <a:p>
            <a:pPr lvl="0"/>
            <a:r>
              <a:rPr lang="en-ZA" sz="2600" dirty="0">
                <a:solidFill>
                  <a:prstClr val="black"/>
                </a:solidFill>
              </a:rPr>
              <a:t>Importantly , board members must </a:t>
            </a:r>
            <a:r>
              <a:rPr lang="en-ZA" sz="2600" b="1" dirty="0">
                <a:solidFill>
                  <a:prstClr val="black"/>
                </a:solidFill>
              </a:rPr>
              <a:t>create an environment </a:t>
            </a:r>
            <a:r>
              <a:rPr lang="en-ZA" sz="2600" dirty="0">
                <a:solidFill>
                  <a:prstClr val="black"/>
                </a:solidFill>
              </a:rPr>
              <a:t>in which employees feel they can seek advice about appropriate business conduct, raise issues, and report misconduct through appropriate channels.</a:t>
            </a:r>
          </a:p>
        </p:txBody>
      </p:sp>
    </p:spTree>
    <p:extLst>
      <p:ext uri="{BB962C8B-B14F-4D97-AF65-F5344CB8AC3E}">
        <p14:creationId xmlns:p14="http://schemas.microsoft.com/office/powerpoint/2010/main" val="4137123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a:xfrm>
            <a:off x="457200" y="980728"/>
            <a:ext cx="8229600" cy="5616624"/>
          </a:xfrm>
        </p:spPr>
        <p:txBody>
          <a:bodyPr>
            <a:normAutofit fontScale="85000" lnSpcReduction="10000"/>
          </a:bodyPr>
          <a:lstStyle/>
          <a:p>
            <a:pPr marL="0" indent="0">
              <a:buNone/>
            </a:pPr>
            <a:r>
              <a:rPr lang="en-ZA" sz="2800" b="1" dirty="0">
                <a:solidFill>
                  <a:srgbClr val="FF0000"/>
                </a:solidFill>
              </a:rPr>
              <a:t>3. Establish a Corporate Code of Ethics:</a:t>
            </a:r>
          </a:p>
          <a:p>
            <a:r>
              <a:rPr lang="en-ZA" sz="2400" dirty="0"/>
              <a:t>A</a:t>
            </a:r>
            <a:r>
              <a:rPr lang="en-ZA" sz="2400" b="1" dirty="0"/>
              <a:t> code of ethics </a:t>
            </a:r>
            <a:r>
              <a:rPr lang="en-ZA" sz="2400" dirty="0"/>
              <a:t>is a statement that highlights an organisation’s key ethical issues and identifies the overarching values and principals that are important to the organisation and its decision making.</a:t>
            </a:r>
          </a:p>
          <a:p>
            <a:endParaRPr lang="en-ZA" sz="2400" dirty="0"/>
          </a:p>
          <a:p>
            <a:r>
              <a:rPr lang="en-ZA" sz="2400" dirty="0"/>
              <a:t>Codes of ethics frequently include a set of formal, written statements about the purpose of an organisation, its values, and the principals that should guide its employees’ actions.</a:t>
            </a:r>
          </a:p>
          <a:p>
            <a:endParaRPr lang="en-ZA" sz="2400" dirty="0"/>
          </a:p>
          <a:p>
            <a:r>
              <a:rPr lang="en-ZA" sz="2400" dirty="0"/>
              <a:t>It should focus employees on areas of ethical risk relating to their role in the organisation, </a:t>
            </a:r>
            <a:r>
              <a:rPr lang="en-ZA" sz="2400" i="1" dirty="0"/>
              <a:t>offer guidance </a:t>
            </a:r>
            <a:r>
              <a:rPr lang="en-ZA" sz="2400" dirty="0"/>
              <a:t>to help them recognise and deal with ethical issues, and provide mechanisms for reporting  unethical conduct and fostering a culture of honesty and accountability.</a:t>
            </a:r>
          </a:p>
          <a:p>
            <a:endParaRPr lang="en-ZA" sz="2400" dirty="0"/>
          </a:p>
          <a:p>
            <a:r>
              <a:rPr lang="en-ZA" sz="2400" dirty="0"/>
              <a:t>A code of ethics must be </a:t>
            </a:r>
            <a:r>
              <a:rPr lang="en-ZA" sz="2400" b="1" dirty="0"/>
              <a:t>easily accessible </a:t>
            </a:r>
            <a:r>
              <a:rPr lang="en-ZA" sz="2400" dirty="0"/>
              <a:t>by employees, shareholders, business partners and the public.</a:t>
            </a:r>
          </a:p>
          <a:p>
            <a:r>
              <a:rPr lang="en-ZA" sz="2400" dirty="0"/>
              <a:t>It must be </a:t>
            </a:r>
            <a:r>
              <a:rPr lang="en-ZA" sz="2400" b="1" dirty="0"/>
              <a:t>continually applied </a:t>
            </a:r>
            <a:r>
              <a:rPr lang="en-ZA" sz="2400" dirty="0"/>
              <a:t>to a company’s decision making and emphasized as an important part of its culture.</a:t>
            </a:r>
          </a:p>
          <a:p>
            <a:endParaRPr lang="en-ZA" sz="2400" dirty="0"/>
          </a:p>
          <a:p>
            <a:endParaRPr lang="en-ZA" sz="2400" dirty="0"/>
          </a:p>
          <a:p>
            <a:pPr marL="0" indent="0">
              <a:buNone/>
            </a:pPr>
            <a:endParaRPr lang="en-ZA" dirty="0"/>
          </a:p>
        </p:txBody>
      </p:sp>
    </p:spTree>
    <p:extLst>
      <p:ext uri="{BB962C8B-B14F-4D97-AF65-F5344CB8AC3E}">
        <p14:creationId xmlns:p14="http://schemas.microsoft.com/office/powerpoint/2010/main" val="220719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a:xfrm>
            <a:off x="457200" y="1600200"/>
            <a:ext cx="4032448" cy="4525963"/>
          </a:xfrm>
        </p:spPr>
        <p:txBody>
          <a:bodyPr>
            <a:normAutofit fontScale="70000" lnSpcReduction="20000"/>
          </a:bodyPr>
          <a:lstStyle/>
          <a:p>
            <a:pPr marL="0" indent="0">
              <a:buNone/>
            </a:pPr>
            <a:r>
              <a:rPr lang="en-ZA" dirty="0"/>
              <a:t>Each year, </a:t>
            </a:r>
            <a:r>
              <a:rPr lang="en-ZA" i="1" dirty="0"/>
              <a:t>Corporate Responsibility </a:t>
            </a:r>
            <a:r>
              <a:rPr lang="en-ZA" dirty="0"/>
              <a:t>magazine rates publicly held U.S. companies on their corporate ethical performance. </a:t>
            </a:r>
          </a:p>
          <a:p>
            <a:pPr marL="0" indent="0">
              <a:buNone/>
            </a:pPr>
            <a:endParaRPr lang="en-ZA" dirty="0"/>
          </a:p>
          <a:p>
            <a:pPr marL="0" indent="0">
              <a:buNone/>
            </a:pPr>
            <a:r>
              <a:rPr lang="en-ZA" dirty="0"/>
              <a:t>Intel Corporation, the world’s largest chip maker, has been ranked in the top 25 every year since the list began in 2000, and was ranked 2</a:t>
            </a:r>
            <a:r>
              <a:rPr lang="en-ZA" baseline="30000" dirty="0"/>
              <a:t>nd</a:t>
            </a:r>
            <a:r>
              <a:rPr lang="en-ZA" dirty="0"/>
              <a:t> in 2016. </a:t>
            </a:r>
          </a:p>
          <a:p>
            <a:pPr marL="0" indent="0">
              <a:buNone/>
            </a:pPr>
            <a:endParaRPr lang="en-ZA" dirty="0"/>
          </a:p>
          <a:p>
            <a:pPr marL="0" indent="0">
              <a:buNone/>
            </a:pPr>
            <a:r>
              <a:rPr lang="en-ZA" dirty="0"/>
              <a:t>As such, Intel is recognised as one of the </a:t>
            </a:r>
            <a:r>
              <a:rPr lang="en-ZA" b="1" dirty="0"/>
              <a:t>most ethical companies in the IT industry</a:t>
            </a:r>
            <a:r>
              <a:rPr lang="en-ZA" dirty="0"/>
              <a:t>.</a:t>
            </a:r>
          </a:p>
        </p:txBody>
      </p:sp>
      <p:pic>
        <p:nvPicPr>
          <p:cNvPr id="4" name="Picture 3">
            <a:extLst>
              <a:ext uri="{FF2B5EF4-FFF2-40B4-BE49-F238E27FC236}">
                <a16:creationId xmlns:a16="http://schemas.microsoft.com/office/drawing/2014/main" id="{313A0650-34B0-4A18-A09A-E6D4E1D8E433}"/>
              </a:ext>
            </a:extLst>
          </p:cNvPr>
          <p:cNvPicPr>
            <a:picLocks noChangeAspect="1"/>
          </p:cNvPicPr>
          <p:nvPr/>
        </p:nvPicPr>
        <p:blipFill>
          <a:blip r:embed="rId2"/>
          <a:stretch>
            <a:fillRect/>
          </a:stretch>
        </p:blipFill>
        <p:spPr>
          <a:xfrm>
            <a:off x="4654354" y="1988840"/>
            <a:ext cx="4489646" cy="4137323"/>
          </a:xfrm>
          <a:prstGeom prst="rect">
            <a:avLst/>
          </a:prstGeom>
        </p:spPr>
      </p:pic>
      <p:sp>
        <p:nvSpPr>
          <p:cNvPr id="6" name="TextBox 5">
            <a:extLst>
              <a:ext uri="{FF2B5EF4-FFF2-40B4-BE49-F238E27FC236}">
                <a16:creationId xmlns:a16="http://schemas.microsoft.com/office/drawing/2014/main" id="{D147E7CE-4792-4181-B148-65FF0B318DC2}"/>
              </a:ext>
            </a:extLst>
          </p:cNvPr>
          <p:cNvSpPr txBox="1"/>
          <p:nvPr/>
        </p:nvSpPr>
        <p:spPr>
          <a:xfrm>
            <a:off x="4654354" y="1403047"/>
            <a:ext cx="4705670" cy="369332"/>
          </a:xfrm>
          <a:prstGeom prst="rect">
            <a:avLst/>
          </a:prstGeom>
          <a:noFill/>
        </p:spPr>
        <p:txBody>
          <a:bodyPr wrap="square">
            <a:spAutoFit/>
          </a:bodyPr>
          <a:lstStyle/>
          <a:p>
            <a:r>
              <a:rPr lang="en-ZA" u="sng" dirty="0"/>
              <a:t>A summary of Intel’s code of ethics:</a:t>
            </a:r>
          </a:p>
        </p:txBody>
      </p:sp>
    </p:spTree>
    <p:extLst>
      <p:ext uri="{BB962C8B-B14F-4D97-AF65-F5344CB8AC3E}">
        <p14:creationId xmlns:p14="http://schemas.microsoft.com/office/powerpoint/2010/main" val="666468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a:xfrm>
            <a:off x="457200" y="1340768"/>
            <a:ext cx="8229600" cy="5112568"/>
          </a:xfrm>
        </p:spPr>
        <p:txBody>
          <a:bodyPr>
            <a:normAutofit fontScale="85000" lnSpcReduction="10000"/>
          </a:bodyPr>
          <a:lstStyle/>
          <a:p>
            <a:pPr marL="0" indent="0">
              <a:buNone/>
            </a:pPr>
            <a:r>
              <a:rPr lang="en-ZA" b="1" dirty="0">
                <a:solidFill>
                  <a:srgbClr val="FF0000"/>
                </a:solidFill>
              </a:rPr>
              <a:t>4. Conduct Social Audits</a:t>
            </a:r>
          </a:p>
          <a:p>
            <a:r>
              <a:rPr lang="en-ZA" dirty="0"/>
              <a:t>An increasing number of organisations conduct regular social audits of their policies and practices.</a:t>
            </a:r>
          </a:p>
          <a:p>
            <a:endParaRPr lang="en-ZA" dirty="0"/>
          </a:p>
          <a:p>
            <a:r>
              <a:rPr lang="en-ZA" dirty="0"/>
              <a:t>In a social audit, an organisation </a:t>
            </a:r>
            <a:r>
              <a:rPr lang="en-ZA" b="1" dirty="0"/>
              <a:t>reviews how well it is meeting its ethical and social responsibility goals </a:t>
            </a:r>
            <a:r>
              <a:rPr lang="en-ZA" dirty="0"/>
              <a:t>and communicates its new goals for the upcoming year.</a:t>
            </a:r>
          </a:p>
          <a:p>
            <a:endParaRPr lang="en-ZA" dirty="0"/>
          </a:p>
          <a:p>
            <a:r>
              <a:rPr lang="en-ZA" dirty="0"/>
              <a:t>This information is shared with employees, shareholders, investors, market analysts, customers, suppliers, government agencies, and the communities within which the company operates.</a:t>
            </a:r>
          </a:p>
        </p:txBody>
      </p:sp>
    </p:spTree>
    <p:extLst>
      <p:ext uri="{BB962C8B-B14F-4D97-AF65-F5344CB8AC3E}">
        <p14:creationId xmlns:p14="http://schemas.microsoft.com/office/powerpoint/2010/main" val="4057379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a:xfrm>
            <a:off x="457200" y="1600200"/>
            <a:ext cx="4186808" cy="4525963"/>
          </a:xfrm>
        </p:spPr>
        <p:txBody>
          <a:bodyPr>
            <a:normAutofit fontScale="70000" lnSpcReduction="20000"/>
          </a:bodyPr>
          <a:lstStyle/>
          <a:p>
            <a:pPr marL="0" indent="0">
              <a:buNone/>
            </a:pPr>
            <a:r>
              <a:rPr lang="en-ZA" sz="3500" b="1" dirty="0">
                <a:solidFill>
                  <a:srgbClr val="FF0000"/>
                </a:solidFill>
              </a:rPr>
              <a:t>5. Require Employees to Take   	Ethics Training:</a:t>
            </a:r>
          </a:p>
          <a:p>
            <a:r>
              <a:rPr lang="en-ZA" sz="2400" dirty="0"/>
              <a:t>Psychologists and philosophers agree that while many factors stimulate a person’s moral development, one of the most crucial is </a:t>
            </a:r>
            <a:r>
              <a:rPr lang="en-ZA" sz="2400" b="1" dirty="0">
                <a:solidFill>
                  <a:srgbClr val="0070C0"/>
                </a:solidFill>
              </a:rPr>
              <a:t>education</a:t>
            </a:r>
            <a:r>
              <a:rPr lang="en-ZA" sz="2400" dirty="0"/>
              <a:t>.</a:t>
            </a:r>
          </a:p>
          <a:p>
            <a:endParaRPr lang="en-ZA" sz="2400" dirty="0"/>
          </a:p>
          <a:p>
            <a:r>
              <a:rPr lang="en-ZA" sz="2400" dirty="0"/>
              <a:t>Other researchers support the idea that people can continue their moral development through further education, like working through case studies and examining contemporary issues.</a:t>
            </a:r>
          </a:p>
          <a:p>
            <a:endParaRPr lang="en-ZA" sz="2400" dirty="0"/>
          </a:p>
          <a:p>
            <a:r>
              <a:rPr lang="en-ZA" sz="2400" dirty="0"/>
              <a:t>Thus, a company’s code of ethics must be </a:t>
            </a:r>
            <a:r>
              <a:rPr lang="en-ZA" sz="2400" b="1" dirty="0"/>
              <a:t>promoted and continually communicated</a:t>
            </a:r>
            <a:r>
              <a:rPr lang="en-ZA" sz="2400" dirty="0"/>
              <a:t> within the organisation, from the top to the bottom.</a:t>
            </a:r>
          </a:p>
        </p:txBody>
      </p:sp>
      <p:sp>
        <p:nvSpPr>
          <p:cNvPr id="5" name="TextBox 4">
            <a:extLst>
              <a:ext uri="{FF2B5EF4-FFF2-40B4-BE49-F238E27FC236}">
                <a16:creationId xmlns:a16="http://schemas.microsoft.com/office/drawing/2014/main" id="{FF800D47-CDC3-4170-8809-E2F2FD3174EE}"/>
              </a:ext>
            </a:extLst>
          </p:cNvPr>
          <p:cNvSpPr txBox="1"/>
          <p:nvPr/>
        </p:nvSpPr>
        <p:spPr>
          <a:xfrm>
            <a:off x="5004048" y="2204864"/>
            <a:ext cx="4001366" cy="3416320"/>
          </a:xfrm>
          <a:prstGeom prst="rect">
            <a:avLst/>
          </a:prstGeom>
          <a:noFill/>
        </p:spPr>
        <p:txBody>
          <a:bodyPr wrap="square">
            <a:spAutoFit/>
          </a:bodyPr>
          <a:lstStyle/>
          <a:p>
            <a:r>
              <a:rPr lang="en-ZA" sz="1800" dirty="0"/>
              <a:t>Organisations can do this by showing the employees examples of how to apply the code of ethics in real life, by for example, providing a comprehensive ethics programme through small </a:t>
            </a:r>
            <a:r>
              <a:rPr lang="en-ZA" sz="1800" b="1" dirty="0"/>
              <a:t>workshops</a:t>
            </a:r>
            <a:r>
              <a:rPr lang="en-ZA" sz="1800" dirty="0"/>
              <a:t>. </a:t>
            </a:r>
          </a:p>
          <a:p>
            <a:endParaRPr lang="en-ZA" dirty="0"/>
          </a:p>
          <a:p>
            <a:r>
              <a:rPr lang="en-ZA" sz="1800" dirty="0"/>
              <a:t> Here, employees </a:t>
            </a:r>
            <a:r>
              <a:rPr lang="en-ZA" sz="1800" b="1" dirty="0"/>
              <a:t>apply</a:t>
            </a:r>
            <a:r>
              <a:rPr lang="en-ZA" sz="1800" dirty="0"/>
              <a:t> the organisation’s code of ethics to hypothetical  but realistic </a:t>
            </a:r>
            <a:r>
              <a:rPr lang="en-ZA" sz="1800" b="1" dirty="0"/>
              <a:t>case studies</a:t>
            </a:r>
            <a:r>
              <a:rPr lang="en-ZA" sz="1800" dirty="0"/>
              <a:t>.  Employees may also be given </a:t>
            </a:r>
            <a:r>
              <a:rPr lang="en-ZA" sz="1800" b="1" dirty="0"/>
              <a:t>examples</a:t>
            </a:r>
            <a:r>
              <a:rPr lang="en-ZA" sz="1800" dirty="0"/>
              <a:t> of recent company decisions based on principles from the </a:t>
            </a:r>
            <a:r>
              <a:rPr lang="en-ZA" sz="1800" b="1" dirty="0"/>
              <a:t>code of ethics</a:t>
            </a:r>
            <a:r>
              <a:rPr lang="en-ZA" sz="1800" dirty="0"/>
              <a:t>.</a:t>
            </a:r>
          </a:p>
        </p:txBody>
      </p:sp>
    </p:spTree>
    <p:extLst>
      <p:ext uri="{BB962C8B-B14F-4D97-AF65-F5344CB8AC3E}">
        <p14:creationId xmlns:p14="http://schemas.microsoft.com/office/powerpoint/2010/main" val="3291155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a:xfrm>
            <a:off x="457200" y="1600200"/>
            <a:ext cx="8229600" cy="4853136"/>
          </a:xfrm>
        </p:spPr>
        <p:txBody>
          <a:bodyPr>
            <a:normAutofit fontScale="92500" lnSpcReduction="10000"/>
          </a:bodyPr>
          <a:lstStyle/>
          <a:p>
            <a:pPr marL="0" indent="0">
              <a:buNone/>
            </a:pPr>
            <a:r>
              <a:rPr lang="en-ZA" sz="3000" b="1" dirty="0">
                <a:solidFill>
                  <a:srgbClr val="FF0000"/>
                </a:solidFill>
              </a:rPr>
              <a:t>6. Include Ethical Criteria in Employee Appraisals:</a:t>
            </a:r>
          </a:p>
          <a:p>
            <a:pPr marL="0" indent="0">
              <a:buNone/>
            </a:pPr>
            <a:br>
              <a:rPr lang="en-ZA" sz="2400" dirty="0"/>
            </a:br>
            <a:r>
              <a:rPr lang="en-ZA" sz="2400" dirty="0"/>
              <a:t>Increasingly, managers are including </a:t>
            </a:r>
            <a:r>
              <a:rPr lang="en-ZA" sz="2400" b="1" dirty="0"/>
              <a:t>ethical conduct </a:t>
            </a:r>
            <a:r>
              <a:rPr lang="en-ZA" sz="2400" dirty="0"/>
              <a:t>as part of an employee’s performance appraisal.</a:t>
            </a:r>
          </a:p>
          <a:p>
            <a:pPr marL="0" indent="0">
              <a:buNone/>
            </a:pPr>
            <a:endParaRPr lang="en-ZA" sz="2400" dirty="0"/>
          </a:p>
          <a:p>
            <a:pPr marL="0" indent="0">
              <a:buNone/>
            </a:pPr>
            <a:r>
              <a:rPr lang="en-ZA" sz="2400" u="sng" dirty="0"/>
              <a:t>Those that do so base a portion of their employees’ performance evaluations on</a:t>
            </a:r>
            <a:r>
              <a:rPr lang="en-ZA" sz="2400" dirty="0"/>
              <a:t>:</a:t>
            </a:r>
          </a:p>
          <a:p>
            <a:pPr>
              <a:buFontTx/>
              <a:buChar char="-"/>
            </a:pPr>
            <a:r>
              <a:rPr lang="en-ZA" sz="2400" dirty="0"/>
              <a:t>Treating others fairly and with respect.</a:t>
            </a:r>
          </a:p>
          <a:p>
            <a:pPr>
              <a:buFontTx/>
              <a:buChar char="-"/>
            </a:pPr>
            <a:r>
              <a:rPr lang="en-ZA" sz="2400" dirty="0"/>
              <a:t>Operating effectively in a multicultural environment.</a:t>
            </a:r>
          </a:p>
          <a:p>
            <a:pPr>
              <a:buFontTx/>
              <a:buChar char="-"/>
            </a:pPr>
            <a:r>
              <a:rPr lang="en-ZA" sz="2400" dirty="0"/>
              <a:t>Accepting personal accountability for meeting business needs.</a:t>
            </a:r>
          </a:p>
          <a:p>
            <a:pPr>
              <a:buFontTx/>
              <a:buChar char="-"/>
            </a:pPr>
            <a:r>
              <a:rPr lang="en-ZA" sz="2400" dirty="0"/>
              <a:t>Continually developing others and themselves.</a:t>
            </a:r>
          </a:p>
          <a:p>
            <a:pPr>
              <a:buFontTx/>
              <a:buChar char="-"/>
            </a:pPr>
            <a:r>
              <a:rPr lang="en-ZA" sz="2400" dirty="0"/>
              <a:t>Operating openly and honestly with suppliers, customers, and other employees.</a:t>
            </a:r>
          </a:p>
          <a:p>
            <a:pPr marL="0" indent="0">
              <a:buNone/>
            </a:pPr>
            <a:endParaRPr lang="en-ZA" sz="2400" dirty="0"/>
          </a:p>
          <a:p>
            <a:pPr>
              <a:buFontTx/>
              <a:buChar char="-"/>
            </a:pPr>
            <a:endParaRPr lang="en-ZA" sz="2400" dirty="0"/>
          </a:p>
          <a:p>
            <a:pPr marL="0" indent="0">
              <a:buNone/>
            </a:pPr>
            <a:endParaRPr lang="en-ZA" dirty="0"/>
          </a:p>
        </p:txBody>
      </p:sp>
    </p:spTree>
    <p:extLst>
      <p:ext uri="{BB962C8B-B14F-4D97-AF65-F5344CB8AC3E}">
        <p14:creationId xmlns:p14="http://schemas.microsoft.com/office/powerpoint/2010/main" val="1233535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a:xfrm>
            <a:off x="457200" y="1340768"/>
            <a:ext cx="8229600" cy="5112568"/>
          </a:xfrm>
        </p:spPr>
        <p:txBody>
          <a:bodyPr>
            <a:normAutofit fontScale="92500" lnSpcReduction="20000"/>
          </a:bodyPr>
          <a:lstStyle/>
          <a:p>
            <a:pPr marL="0" indent="0">
              <a:buNone/>
            </a:pPr>
            <a:r>
              <a:rPr lang="en-ZA" sz="3000" b="1" dirty="0">
                <a:solidFill>
                  <a:srgbClr val="FF0000"/>
                </a:solidFill>
              </a:rPr>
              <a:t>7. Create an ethical work environment:</a:t>
            </a:r>
          </a:p>
          <a:p>
            <a:r>
              <a:rPr lang="en-ZA" sz="2400" dirty="0"/>
              <a:t>Most people want to perform their jobs successfully and ethically, but sometimes good people </a:t>
            </a:r>
            <a:r>
              <a:rPr lang="en-ZA" sz="2400" b="1" dirty="0"/>
              <a:t>make bad ethical choices</a:t>
            </a:r>
            <a:r>
              <a:rPr lang="en-ZA" sz="2400" dirty="0"/>
              <a:t>.</a:t>
            </a:r>
          </a:p>
          <a:p>
            <a:endParaRPr lang="en-ZA" sz="2400" dirty="0"/>
          </a:p>
          <a:p>
            <a:r>
              <a:rPr lang="en-ZA" sz="2400" dirty="0"/>
              <a:t>Employees in highly competitive workplaces often feel </a:t>
            </a:r>
            <a:r>
              <a:rPr lang="en-ZA" sz="2400" b="1" dirty="0">
                <a:solidFill>
                  <a:srgbClr val="FF0000"/>
                </a:solidFill>
              </a:rPr>
              <a:t>pressure</a:t>
            </a:r>
            <a:r>
              <a:rPr lang="en-ZA" sz="2400" dirty="0">
                <a:solidFill>
                  <a:srgbClr val="FF0000"/>
                </a:solidFill>
              </a:rPr>
              <a:t> </a:t>
            </a:r>
            <a:r>
              <a:rPr lang="en-ZA" sz="2400" dirty="0"/>
              <a:t>from aggressive competitors, cutthroat suppliers, unrealistic budgets, tight deadlines, and bonus incentives.</a:t>
            </a:r>
          </a:p>
          <a:p>
            <a:endParaRPr lang="en-ZA" sz="2400" dirty="0"/>
          </a:p>
          <a:p>
            <a:r>
              <a:rPr lang="en-ZA" sz="2400" dirty="0"/>
              <a:t>Employees may also be encouraged to </a:t>
            </a:r>
            <a:r>
              <a:rPr lang="en-ZA" sz="2400" b="1" dirty="0">
                <a:solidFill>
                  <a:srgbClr val="0070C0"/>
                </a:solidFill>
              </a:rPr>
              <a:t>‘do whatever it takes’ </a:t>
            </a:r>
            <a:r>
              <a:rPr lang="en-ZA" sz="2400" dirty="0"/>
              <a:t>to get the job done.</a:t>
            </a:r>
          </a:p>
          <a:p>
            <a:endParaRPr lang="en-ZA" sz="2400" dirty="0"/>
          </a:p>
          <a:p>
            <a:r>
              <a:rPr lang="en-ZA" sz="2400" dirty="0"/>
              <a:t>In such environments, some employees may feel pressure to engage in unethical conduct to meet management’s expectations, especially if the organisation has no corporate </a:t>
            </a:r>
            <a:r>
              <a:rPr lang="en-ZA" sz="2400" b="1" dirty="0"/>
              <a:t>code of ethics </a:t>
            </a:r>
            <a:r>
              <a:rPr lang="en-ZA" sz="2400" dirty="0"/>
              <a:t>and no strong </a:t>
            </a:r>
            <a:r>
              <a:rPr lang="en-ZA" sz="2400" b="1" dirty="0"/>
              <a:t>example</a:t>
            </a:r>
            <a:r>
              <a:rPr lang="en-ZA" sz="2400" dirty="0"/>
              <a:t> of senior management practicing ethical behaviour.</a:t>
            </a:r>
          </a:p>
        </p:txBody>
      </p:sp>
    </p:spTree>
    <p:extLst>
      <p:ext uri="{BB962C8B-B14F-4D97-AF65-F5344CB8AC3E}">
        <p14:creationId xmlns:p14="http://schemas.microsoft.com/office/powerpoint/2010/main" val="2701465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lstStyle/>
          <a:p>
            <a:r>
              <a:rPr lang="en-ZA" sz="3200" b="1" dirty="0">
                <a:solidFill>
                  <a:prstClr val="black"/>
                </a:solidFill>
              </a:rPr>
              <a:t>How Organisations Can Improve Their Ethics</a:t>
            </a:r>
            <a:endParaRPr lang="en-ZA" b="1" dirty="0"/>
          </a:p>
        </p:txBody>
      </p:sp>
      <p:sp>
        <p:nvSpPr>
          <p:cNvPr id="3" name="Content Placeholder 2"/>
          <p:cNvSpPr>
            <a:spLocks noGrp="1"/>
          </p:cNvSpPr>
          <p:nvPr>
            <p:ph idx="1"/>
          </p:nvPr>
        </p:nvSpPr>
        <p:spPr/>
        <p:txBody>
          <a:bodyPr/>
          <a:lstStyle/>
          <a:p>
            <a:pPr marL="0" indent="0">
              <a:buNone/>
            </a:pPr>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3650932892"/>
              </p:ext>
            </p:extLst>
          </p:nvPr>
        </p:nvGraphicFramePr>
        <p:xfrm>
          <a:off x="107504" y="836712"/>
          <a:ext cx="8928992" cy="5889045"/>
        </p:xfrm>
        <a:graphic>
          <a:graphicData uri="http://schemas.openxmlformats.org/drawingml/2006/table">
            <a:tbl>
              <a:tblPr firstRow="1" bandRow="1">
                <a:effectLst>
                  <a:innerShdw blurRad="114300">
                    <a:prstClr val="black"/>
                  </a:innerShdw>
                </a:effectLst>
                <a:tableStyleId>{93296810-A885-4BE3-A3E7-6D5BEEA58F35}</a:tableStyleId>
              </a:tblPr>
              <a:tblGrid>
                <a:gridCol w="8928992">
                  <a:extLst>
                    <a:ext uri="{9D8B030D-6E8A-4147-A177-3AD203B41FA5}">
                      <a16:colId xmlns:a16="http://schemas.microsoft.com/office/drawing/2014/main" val="20000"/>
                    </a:ext>
                  </a:extLst>
                </a:gridCol>
              </a:tblGrid>
              <a:tr h="719747">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ZA" sz="2400" u="none" strike="noStrike" kern="1200" cap="none" spc="0" normalizeH="0" baseline="0" noProof="0" dirty="0">
                          <a:ln>
                            <a:noFill/>
                          </a:ln>
                          <a:effectLst/>
                          <a:uLnTx/>
                          <a:uFillTx/>
                        </a:rPr>
                        <a:t>Manager’s checklist for establishing an ethical work environment:</a:t>
                      </a:r>
                    </a:p>
                    <a:p>
                      <a:endParaRPr lang="en-ZA" dirty="0"/>
                    </a:p>
                  </a:txBody>
                  <a:tcPr>
                    <a:solidFill>
                      <a:srgbClr val="FF0000"/>
                    </a:solidFill>
                  </a:tcPr>
                </a:tc>
                <a:extLst>
                  <a:ext uri="{0D108BD9-81ED-4DB2-BD59-A6C34878D82A}">
                    <a16:rowId xmlns:a16="http://schemas.microsoft.com/office/drawing/2014/main" val="10000"/>
                  </a:ext>
                </a:extLst>
              </a:tr>
              <a:tr h="5157525">
                <a:tc>
                  <a:txBody>
                    <a:bodyPr/>
                    <a:lstStyle/>
                    <a:p>
                      <a:r>
                        <a:rPr lang="en-ZA" dirty="0"/>
                        <a:t>Does your organisation have a code of ethics?</a:t>
                      </a:r>
                    </a:p>
                    <a:p>
                      <a:endParaRPr lang="en-ZA" dirty="0"/>
                    </a:p>
                    <a:p>
                      <a:r>
                        <a:rPr lang="en-ZA" dirty="0"/>
                        <a:t>Do employees know how and to whom to report any</a:t>
                      </a:r>
                      <a:r>
                        <a:rPr lang="en-ZA" baseline="0" dirty="0"/>
                        <a:t> infractions of the code of ethics?</a:t>
                      </a:r>
                    </a:p>
                    <a:p>
                      <a:endParaRPr lang="en-ZA" baseline="0" dirty="0"/>
                    </a:p>
                    <a:p>
                      <a:r>
                        <a:rPr lang="en-ZA" baseline="0" dirty="0"/>
                        <a:t>Do employees feel that they can report violations of the code of ethics safely and without fear of retaliation?</a:t>
                      </a:r>
                    </a:p>
                    <a:p>
                      <a:endParaRPr lang="en-ZA" baseline="0" dirty="0"/>
                    </a:p>
                    <a:p>
                      <a:r>
                        <a:rPr lang="en-ZA" baseline="0" dirty="0"/>
                        <a:t>Do employees feel that action will be taken against those who violate the code of ethics?</a:t>
                      </a:r>
                    </a:p>
                    <a:p>
                      <a:endParaRPr lang="en-ZA" baseline="0" dirty="0"/>
                    </a:p>
                    <a:p>
                      <a:r>
                        <a:rPr lang="en-ZA" baseline="0" dirty="0"/>
                        <a:t>Do senior managers set an example by communicating the code of ethics and using it in their own decision making?</a:t>
                      </a:r>
                    </a:p>
                    <a:p>
                      <a:endParaRPr lang="en-ZA" baseline="0" dirty="0"/>
                    </a:p>
                    <a:p>
                      <a:r>
                        <a:rPr lang="en-ZA" baseline="0" dirty="0"/>
                        <a:t>Do managers evaluate and provide feedback to employees on how they operate with respect to the values and principles in the code of ethics?</a:t>
                      </a:r>
                    </a:p>
                    <a:p>
                      <a:endParaRPr lang="en-ZA" baseline="0" dirty="0"/>
                    </a:p>
                    <a:p>
                      <a:r>
                        <a:rPr lang="en-ZA" baseline="0" dirty="0"/>
                        <a:t>Are employees aware of sanctions for breaching the code of ethics?</a:t>
                      </a:r>
                    </a:p>
                    <a:p>
                      <a:endParaRPr lang="en-ZA" baseline="0" dirty="0"/>
                    </a:p>
                    <a:p>
                      <a:r>
                        <a:rPr lang="en-ZA" baseline="0" dirty="0"/>
                        <a:t>Do employees use the code of ethics in their decision making?</a:t>
                      </a:r>
                      <a:endParaRPr lang="en-ZA"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71704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1753</TotalTime>
  <Words>4411</Words>
  <Application>Microsoft Office PowerPoint</Application>
  <PresentationFormat>On-screen Show (4:3)</PresentationFormat>
  <Paragraphs>264</Paragraphs>
  <Slides>31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Charter</vt:lpstr>
      <vt:lpstr>freight-book</vt:lpstr>
      <vt:lpstr>Georgia Pro Light</vt:lpstr>
      <vt:lpstr>GH Guardian Headline</vt:lpstr>
      <vt:lpstr>Heebo</vt:lpstr>
      <vt:lpstr>Lora</vt:lpstr>
      <vt:lpstr>Office Theme</vt:lpstr>
      <vt:lpstr>Ethics Part 3: Ethics in the Business World        </vt:lpstr>
      <vt:lpstr>Ethics in the Business World</vt:lpstr>
      <vt:lpstr>Ethics in the Business World</vt:lpstr>
      <vt:lpstr>Ethics in the Business World</vt:lpstr>
      <vt:lpstr>Ethics in the Business World</vt:lpstr>
      <vt:lpstr>Ethics in the Business World – A classic example of the many risks associated with unethical decision making can be found in the Enron accounting scandal</vt:lpstr>
      <vt:lpstr>South African example of unethical practices due to accounting irregularities </vt:lpstr>
      <vt:lpstr>Journalist’s comments on Steinhoff</vt:lpstr>
      <vt:lpstr>Ethics in the Business World – a few examples of lapses in business ethics by employees in IT organisations:</vt:lpstr>
      <vt:lpstr>.</vt:lpstr>
      <vt:lpstr>Ethics in the Business World – a few examples of lapses in business ethics by employees in IT organisations:</vt:lpstr>
      <vt:lpstr>Ethics in the Business World – a few examples of lapses in business ethics by employees in IT organisations:</vt:lpstr>
      <vt:lpstr>Extract from Forbes investigative report</vt:lpstr>
      <vt:lpstr>Extract from Forbes investigative report</vt:lpstr>
      <vt:lpstr>.</vt:lpstr>
      <vt:lpstr> Study deems Amazon worst for 'aggressive' tax avoidance (2019) .</vt:lpstr>
      <vt:lpstr>Ethics in the Business World – a few examples of lapses in business ethics by employees in IT organisations:</vt:lpstr>
      <vt:lpstr>Ethics in the Business World – examples of ethical dilemmas even ordinary individuals can find themselves in:</vt:lpstr>
      <vt:lpstr>Ethics in the Business World – examples of ethical dilemmas even ordinary individuals can find themselves in:</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lpstr>How Organisations Can Improve Their Ethics</vt:lpstr>
    </vt:vector>
  </TitlesOfParts>
  <Company>CPUT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Part 2: - Ethics in the Business World        -Ethics in Information Technology</dc:title>
  <dc:creator>Nicole Wessels</dc:creator>
  <cp:lastModifiedBy>Nicole Wessels</cp:lastModifiedBy>
  <cp:revision>40</cp:revision>
  <dcterms:created xsi:type="dcterms:W3CDTF">2018-03-01T20:03:46Z</dcterms:created>
  <dcterms:modified xsi:type="dcterms:W3CDTF">2022-03-08T09:51:00Z</dcterms:modified>
</cp:coreProperties>
</file>