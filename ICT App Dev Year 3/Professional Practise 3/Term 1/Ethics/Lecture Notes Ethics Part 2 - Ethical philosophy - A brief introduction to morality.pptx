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57" r:id="rId5"/>
    <p:sldId id="258" r:id="rId6"/>
    <p:sldId id="262" r:id="rId7"/>
    <p:sldId id="263" r:id="rId8"/>
    <p:sldId id="264" r:id="rId9"/>
    <p:sldId id="266" r:id="rId10"/>
    <p:sldId id="273" r:id="rId11"/>
    <p:sldId id="274" r:id="rId12"/>
    <p:sldId id="267" r:id="rId13"/>
    <p:sldId id="268" r:id="rId14"/>
    <p:sldId id="265" r:id="rId15"/>
    <p:sldId id="261" r:id="rId16"/>
    <p:sldId id="269" r:id="rId17"/>
    <p:sldId id="270" r:id="rId18"/>
    <p:sldId id="275" r:id="rId19"/>
    <p:sldId id="271"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cole Wessels" initials="NW" lastIdx="1" clrIdx="0">
    <p:extLst>
      <p:ext uri="{19B8F6BF-5375-455C-9EA6-DF929625EA0E}">
        <p15:presenceInfo xmlns:p15="http://schemas.microsoft.com/office/powerpoint/2012/main" userId="S::WESSELSN@cput.ac.za::e771acc8-ecbb-4505-a306-f38d70d34d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essels" userId="e771acc8-ecbb-4505-a306-f38d70d34d18" providerId="ADAL" clId="{F39FD258-E62C-478B-B103-E7A1C92916A7}"/>
    <pc:docChg chg="custSel modSld">
      <pc:chgData name="Nicole Wessels" userId="e771acc8-ecbb-4505-a306-f38d70d34d18" providerId="ADAL" clId="{F39FD258-E62C-478B-B103-E7A1C92916A7}" dt="2022-02-24T09:42:46.656" v="6" actId="20577"/>
      <pc:docMkLst>
        <pc:docMk/>
      </pc:docMkLst>
      <pc:sldChg chg="modSp mod">
        <pc:chgData name="Nicole Wessels" userId="e771acc8-ecbb-4505-a306-f38d70d34d18" providerId="ADAL" clId="{F39FD258-E62C-478B-B103-E7A1C92916A7}" dt="2022-02-24T07:48:24.834" v="0" actId="20577"/>
        <pc:sldMkLst>
          <pc:docMk/>
          <pc:sldMk cId="393401735" sldId="259"/>
        </pc:sldMkLst>
        <pc:spChg chg="mod">
          <ac:chgData name="Nicole Wessels" userId="e771acc8-ecbb-4505-a306-f38d70d34d18" providerId="ADAL" clId="{F39FD258-E62C-478B-B103-E7A1C92916A7}" dt="2022-02-24T07:48:24.834" v="0" actId="20577"/>
          <ac:spMkLst>
            <pc:docMk/>
            <pc:sldMk cId="393401735" sldId="259"/>
            <ac:spMk id="3" creationId="{F23685D1-86BD-4F46-83B2-6675C60A1E97}"/>
          </ac:spMkLst>
        </pc:spChg>
      </pc:sldChg>
      <pc:sldChg chg="modSp mod">
        <pc:chgData name="Nicole Wessels" userId="e771acc8-ecbb-4505-a306-f38d70d34d18" providerId="ADAL" clId="{F39FD258-E62C-478B-B103-E7A1C92916A7}" dt="2022-02-24T08:40:25.051" v="2" actId="207"/>
        <pc:sldMkLst>
          <pc:docMk/>
          <pc:sldMk cId="4006593112" sldId="263"/>
        </pc:sldMkLst>
        <pc:graphicFrameChg chg="modGraphic">
          <ac:chgData name="Nicole Wessels" userId="e771acc8-ecbb-4505-a306-f38d70d34d18" providerId="ADAL" clId="{F39FD258-E62C-478B-B103-E7A1C92916A7}" dt="2022-02-24T08:40:25.051" v="2" actId="207"/>
          <ac:graphicFrameMkLst>
            <pc:docMk/>
            <pc:sldMk cId="4006593112" sldId="263"/>
            <ac:graphicFrameMk id="5" creationId="{AE255F9D-CE17-46DB-9EF8-57C0BB4BEBD5}"/>
          </ac:graphicFrameMkLst>
        </pc:graphicFrameChg>
      </pc:sldChg>
      <pc:sldChg chg="modSp mod">
        <pc:chgData name="Nicole Wessels" userId="e771acc8-ecbb-4505-a306-f38d70d34d18" providerId="ADAL" clId="{F39FD258-E62C-478B-B103-E7A1C92916A7}" dt="2022-02-24T09:42:46.656" v="6" actId="20577"/>
        <pc:sldMkLst>
          <pc:docMk/>
          <pc:sldMk cId="3260136188" sldId="274"/>
        </pc:sldMkLst>
        <pc:graphicFrameChg chg="modGraphic">
          <ac:chgData name="Nicole Wessels" userId="e771acc8-ecbb-4505-a306-f38d70d34d18" providerId="ADAL" clId="{F39FD258-E62C-478B-B103-E7A1C92916A7}" dt="2022-02-24T09:42:46.656" v="6" actId="20577"/>
          <ac:graphicFrameMkLst>
            <pc:docMk/>
            <pc:sldMk cId="3260136188" sldId="274"/>
            <ac:graphicFrameMk id="4" creationId="{B5292EE0-673E-4967-B868-67A3A3815E6C}"/>
          </ac:graphicFrameMkLst>
        </pc:graphicFrameChg>
      </pc:sldChg>
    </pc:docChg>
  </pc:docChgLst>
  <pc:docChgLst>
    <pc:chgData name="Nicole Wessels" userId="e771acc8-ecbb-4505-a306-f38d70d34d18" providerId="ADAL" clId="{97505EE9-DA6E-4095-A4C3-07EB7BD7FC4D}"/>
    <pc:docChg chg="modSld">
      <pc:chgData name="Nicole Wessels" userId="e771acc8-ecbb-4505-a306-f38d70d34d18" providerId="ADAL" clId="{97505EE9-DA6E-4095-A4C3-07EB7BD7FC4D}" dt="2021-04-15T09:12:24.378" v="0" actId="14734"/>
      <pc:docMkLst>
        <pc:docMk/>
      </pc:docMkLst>
      <pc:sldChg chg="modSp mod">
        <pc:chgData name="Nicole Wessels" userId="e771acc8-ecbb-4505-a306-f38d70d34d18" providerId="ADAL" clId="{97505EE9-DA6E-4095-A4C3-07EB7BD7FC4D}" dt="2021-04-15T09:12:24.378" v="0" actId="14734"/>
        <pc:sldMkLst>
          <pc:docMk/>
          <pc:sldMk cId="4006593112" sldId="263"/>
        </pc:sldMkLst>
        <pc:graphicFrameChg chg="modGraphic">
          <ac:chgData name="Nicole Wessels" userId="e771acc8-ecbb-4505-a306-f38d70d34d18" providerId="ADAL" clId="{97505EE9-DA6E-4095-A4C3-07EB7BD7FC4D}" dt="2021-04-15T09:12:24.378" v="0" actId="14734"/>
          <ac:graphicFrameMkLst>
            <pc:docMk/>
            <pc:sldMk cId="4006593112" sldId="263"/>
            <ac:graphicFrameMk id="5" creationId="{AE255F9D-CE17-46DB-9EF8-57C0BB4BEBD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21D2D9-DC83-4D7C-97B1-B146FA4F3845}" type="doc">
      <dgm:prSet loTypeId="urn:microsoft.com/office/officeart/2005/8/layout/list1" loCatId="list" qsTypeId="urn:microsoft.com/office/officeart/2005/8/quickstyle/3d2" qsCatId="3D" csTypeId="urn:microsoft.com/office/officeart/2005/8/colors/colorful5" csCatId="colorful" phldr="1"/>
      <dgm:spPr/>
      <dgm:t>
        <a:bodyPr/>
        <a:lstStyle/>
        <a:p>
          <a:endParaRPr lang="en-GB"/>
        </a:p>
      </dgm:t>
    </dgm:pt>
    <dgm:pt modelId="{9024509F-6E55-435E-91A9-C4154A1D9F97}">
      <dgm:prSet phldrT="[Text]" custT="1"/>
      <dgm:spPr/>
      <dgm:t>
        <a:bodyPr/>
        <a:lstStyle/>
        <a:p>
          <a:r>
            <a:rPr lang="en-US" sz="1600" b="0" i="0" dirty="0">
              <a:effectLst/>
              <a:latin typeface="Open Sans"/>
            </a:rPr>
            <a:t>Moral reasoning must be </a:t>
          </a:r>
          <a:r>
            <a:rPr lang="en-US" sz="1600" b="1" i="0" dirty="0">
              <a:solidFill>
                <a:srgbClr val="FF0000"/>
              </a:solidFill>
              <a:effectLst/>
              <a:latin typeface="Open Sans"/>
            </a:rPr>
            <a:t>logical</a:t>
          </a:r>
          <a:r>
            <a:rPr lang="en-US" sz="1600" b="0" i="0" dirty="0">
              <a:effectLst/>
              <a:latin typeface="Open Sans"/>
            </a:rPr>
            <a:t>. Factual evidence cited to support a person’s judgment should be accurate, relevant, and complete. </a:t>
          </a:r>
          <a:endParaRPr lang="en-GB" sz="1600" dirty="0"/>
        </a:p>
      </dgm:t>
    </dgm:pt>
    <dgm:pt modelId="{EF7A8319-1A29-4E53-A63A-CB99B71798C3}" type="parTrans" cxnId="{F50C6C58-0AC3-4F97-9B2A-28B53742B17B}">
      <dgm:prSet/>
      <dgm:spPr/>
      <dgm:t>
        <a:bodyPr/>
        <a:lstStyle/>
        <a:p>
          <a:endParaRPr lang="en-GB"/>
        </a:p>
      </dgm:t>
    </dgm:pt>
    <dgm:pt modelId="{ECAF1802-950B-4126-8277-1078E8179E9E}" type="sibTrans" cxnId="{F50C6C58-0AC3-4F97-9B2A-28B53742B17B}">
      <dgm:prSet/>
      <dgm:spPr/>
      <dgm:t>
        <a:bodyPr/>
        <a:lstStyle/>
        <a:p>
          <a:endParaRPr lang="en-GB"/>
        </a:p>
      </dgm:t>
    </dgm:pt>
    <dgm:pt modelId="{285AFA16-AAF9-4A43-A3C0-D493B8FDAF3F}">
      <dgm:prSet phldrT="[Text]" custT="1"/>
      <dgm:spPr/>
      <dgm:t>
        <a:bodyPr/>
        <a:lstStyle/>
        <a:p>
          <a:r>
            <a:rPr lang="en-US" sz="1800" b="0" i="0" dirty="0">
              <a:effectLst/>
              <a:latin typeface="Open Sans"/>
            </a:rPr>
            <a:t>Ethical standards used should be </a:t>
          </a:r>
          <a:r>
            <a:rPr lang="en-US" sz="1800" b="1" i="0" dirty="0">
              <a:solidFill>
                <a:srgbClr val="FF0000"/>
              </a:solidFill>
              <a:effectLst/>
              <a:latin typeface="Open Sans"/>
            </a:rPr>
            <a:t>consistent</a:t>
          </a:r>
          <a:r>
            <a:rPr lang="en-US" sz="1800" b="0" i="0" dirty="0">
              <a:effectLst/>
              <a:latin typeface="Open Sans"/>
            </a:rPr>
            <a:t>. </a:t>
          </a:r>
          <a:endParaRPr lang="en-GB" sz="1800" dirty="0"/>
        </a:p>
      </dgm:t>
    </dgm:pt>
    <dgm:pt modelId="{442121E5-8AF2-42D2-A7E1-25CBE49FA7A6}" type="parTrans" cxnId="{448A2D02-A381-459E-9BE1-7300FDA50260}">
      <dgm:prSet/>
      <dgm:spPr/>
      <dgm:t>
        <a:bodyPr/>
        <a:lstStyle/>
        <a:p>
          <a:endParaRPr lang="en-GB"/>
        </a:p>
      </dgm:t>
    </dgm:pt>
    <dgm:pt modelId="{C03A320A-C1BC-4F2B-B99B-CD52E6C2A797}" type="sibTrans" cxnId="{448A2D02-A381-459E-9BE1-7300FDA50260}">
      <dgm:prSet/>
      <dgm:spPr/>
      <dgm:t>
        <a:bodyPr/>
        <a:lstStyle/>
        <a:p>
          <a:endParaRPr lang="en-GB"/>
        </a:p>
      </dgm:t>
    </dgm:pt>
    <dgm:pt modelId="{2AF32E29-4BC7-4E08-B12F-C340E831F379}">
      <dgm:prSet phldrT="[Text]" custT="1"/>
      <dgm:spPr/>
      <dgm:t>
        <a:bodyPr/>
        <a:lstStyle/>
        <a:p>
          <a:r>
            <a:rPr lang="en-US" sz="1600" b="0" i="0" dirty="0">
              <a:effectLst/>
              <a:latin typeface="Open Sans"/>
            </a:rPr>
            <a:t>A simple but powerful question can be used throughout your decision-making process in solving ethical dilemmas: What is my </a:t>
          </a:r>
          <a:r>
            <a:rPr lang="en-US" sz="1600" b="1" i="0" dirty="0">
              <a:solidFill>
                <a:srgbClr val="FF0000"/>
              </a:solidFill>
              <a:effectLst/>
              <a:latin typeface="Open Sans"/>
            </a:rPr>
            <a:t>motivation</a:t>
          </a:r>
          <a:r>
            <a:rPr lang="en-US" sz="1600" b="0" i="0" dirty="0">
              <a:effectLst/>
              <a:latin typeface="Open Sans"/>
            </a:rPr>
            <a:t> for choosing a course of action?</a:t>
          </a:r>
          <a:endParaRPr lang="en-GB" sz="1600" dirty="0"/>
        </a:p>
      </dgm:t>
    </dgm:pt>
    <dgm:pt modelId="{AA9A211C-89C0-419F-B06D-4E104A0869F5}" type="parTrans" cxnId="{5A8F40C8-E953-40DC-936D-FDB64A31D4F5}">
      <dgm:prSet/>
      <dgm:spPr/>
      <dgm:t>
        <a:bodyPr/>
        <a:lstStyle/>
        <a:p>
          <a:endParaRPr lang="en-GB"/>
        </a:p>
      </dgm:t>
    </dgm:pt>
    <dgm:pt modelId="{81383482-9929-4809-95C1-EED057135FE3}" type="sibTrans" cxnId="{5A8F40C8-E953-40DC-936D-FDB64A31D4F5}">
      <dgm:prSet/>
      <dgm:spPr/>
      <dgm:t>
        <a:bodyPr/>
        <a:lstStyle/>
        <a:p>
          <a:endParaRPr lang="en-GB"/>
        </a:p>
      </dgm:t>
    </dgm:pt>
    <dgm:pt modelId="{9CC57123-8595-44E8-A8BB-E90631BC6A2F}" type="pres">
      <dgm:prSet presAssocID="{2F21D2D9-DC83-4D7C-97B1-B146FA4F3845}" presName="linear" presStyleCnt="0">
        <dgm:presLayoutVars>
          <dgm:dir/>
          <dgm:animLvl val="lvl"/>
          <dgm:resizeHandles val="exact"/>
        </dgm:presLayoutVars>
      </dgm:prSet>
      <dgm:spPr/>
    </dgm:pt>
    <dgm:pt modelId="{BFB512CA-DF2A-4D7E-838C-7AA8168643DB}" type="pres">
      <dgm:prSet presAssocID="{9024509F-6E55-435E-91A9-C4154A1D9F97}" presName="parentLin" presStyleCnt="0"/>
      <dgm:spPr/>
    </dgm:pt>
    <dgm:pt modelId="{A358F6B4-C018-44A8-8E4B-16296AFC7B66}" type="pres">
      <dgm:prSet presAssocID="{9024509F-6E55-435E-91A9-C4154A1D9F97}" presName="parentLeftMargin" presStyleLbl="node1" presStyleIdx="0" presStyleCnt="3"/>
      <dgm:spPr/>
    </dgm:pt>
    <dgm:pt modelId="{D6FC0ABF-77BE-4C79-9F13-E3EF065914DF}" type="pres">
      <dgm:prSet presAssocID="{9024509F-6E55-435E-91A9-C4154A1D9F97}" presName="parentText" presStyleLbl="node1" presStyleIdx="0" presStyleCnt="3" custScaleX="110917" custScaleY="215020">
        <dgm:presLayoutVars>
          <dgm:chMax val="0"/>
          <dgm:bulletEnabled val="1"/>
        </dgm:presLayoutVars>
      </dgm:prSet>
      <dgm:spPr/>
    </dgm:pt>
    <dgm:pt modelId="{9152BDE0-71CB-44E0-9EF2-D2B602EEADD5}" type="pres">
      <dgm:prSet presAssocID="{9024509F-6E55-435E-91A9-C4154A1D9F97}" presName="negativeSpace" presStyleCnt="0"/>
      <dgm:spPr/>
    </dgm:pt>
    <dgm:pt modelId="{CC53A4DC-FF40-4E1E-B1B9-FD03B74B7799}" type="pres">
      <dgm:prSet presAssocID="{9024509F-6E55-435E-91A9-C4154A1D9F97}" presName="childText" presStyleLbl="conFgAcc1" presStyleIdx="0" presStyleCnt="3">
        <dgm:presLayoutVars>
          <dgm:bulletEnabled val="1"/>
        </dgm:presLayoutVars>
      </dgm:prSet>
      <dgm:spPr/>
    </dgm:pt>
    <dgm:pt modelId="{849B1AC5-5A3E-461C-AB12-33B502569FB2}" type="pres">
      <dgm:prSet presAssocID="{ECAF1802-950B-4126-8277-1078E8179E9E}" presName="spaceBetweenRectangles" presStyleCnt="0"/>
      <dgm:spPr/>
    </dgm:pt>
    <dgm:pt modelId="{B2FA6182-09DD-4F7D-8557-C607A10F49E7}" type="pres">
      <dgm:prSet presAssocID="{285AFA16-AAF9-4A43-A3C0-D493B8FDAF3F}" presName="parentLin" presStyleCnt="0"/>
      <dgm:spPr/>
    </dgm:pt>
    <dgm:pt modelId="{F57D307E-7702-4B35-AC3D-BD972C312E6A}" type="pres">
      <dgm:prSet presAssocID="{285AFA16-AAF9-4A43-A3C0-D493B8FDAF3F}" presName="parentLeftMargin" presStyleLbl="node1" presStyleIdx="0" presStyleCnt="3"/>
      <dgm:spPr/>
    </dgm:pt>
    <dgm:pt modelId="{41C22FA8-638F-4781-BCD5-CA7AD2D4784F}" type="pres">
      <dgm:prSet presAssocID="{285AFA16-AAF9-4A43-A3C0-D493B8FDAF3F}" presName="parentText" presStyleLbl="node1" presStyleIdx="1" presStyleCnt="3" custScaleX="109513" custScaleY="168616" custLinFactNeighborX="19716" custLinFactNeighborY="11695">
        <dgm:presLayoutVars>
          <dgm:chMax val="0"/>
          <dgm:bulletEnabled val="1"/>
        </dgm:presLayoutVars>
      </dgm:prSet>
      <dgm:spPr/>
    </dgm:pt>
    <dgm:pt modelId="{208235E7-9A35-47F7-B718-40E32C669303}" type="pres">
      <dgm:prSet presAssocID="{285AFA16-AAF9-4A43-A3C0-D493B8FDAF3F}" presName="negativeSpace" presStyleCnt="0"/>
      <dgm:spPr/>
    </dgm:pt>
    <dgm:pt modelId="{A7D57B3D-2349-4B73-940A-09F7E4958655}" type="pres">
      <dgm:prSet presAssocID="{285AFA16-AAF9-4A43-A3C0-D493B8FDAF3F}" presName="childText" presStyleLbl="conFgAcc1" presStyleIdx="1" presStyleCnt="3">
        <dgm:presLayoutVars>
          <dgm:bulletEnabled val="1"/>
        </dgm:presLayoutVars>
      </dgm:prSet>
      <dgm:spPr/>
    </dgm:pt>
    <dgm:pt modelId="{D420B09D-4090-4360-8AE0-924A07525359}" type="pres">
      <dgm:prSet presAssocID="{C03A320A-C1BC-4F2B-B99B-CD52E6C2A797}" presName="spaceBetweenRectangles" presStyleCnt="0"/>
      <dgm:spPr/>
    </dgm:pt>
    <dgm:pt modelId="{791D0E8A-B80F-4B1A-9CC5-822FF534D287}" type="pres">
      <dgm:prSet presAssocID="{2AF32E29-4BC7-4E08-B12F-C340E831F379}" presName="parentLin" presStyleCnt="0"/>
      <dgm:spPr/>
    </dgm:pt>
    <dgm:pt modelId="{CBAAADAD-8FC2-4C9A-9581-FFC013607B9E}" type="pres">
      <dgm:prSet presAssocID="{2AF32E29-4BC7-4E08-B12F-C340E831F379}" presName="parentLeftMargin" presStyleLbl="node1" presStyleIdx="1" presStyleCnt="3"/>
      <dgm:spPr/>
    </dgm:pt>
    <dgm:pt modelId="{8A07F95B-7FD8-471B-82D0-2AF8D19B6F24}" type="pres">
      <dgm:prSet presAssocID="{2AF32E29-4BC7-4E08-B12F-C340E831F379}" presName="parentText" presStyleLbl="node1" presStyleIdx="2" presStyleCnt="3" custScaleX="110347" custScaleY="213565">
        <dgm:presLayoutVars>
          <dgm:chMax val="0"/>
          <dgm:bulletEnabled val="1"/>
        </dgm:presLayoutVars>
      </dgm:prSet>
      <dgm:spPr/>
    </dgm:pt>
    <dgm:pt modelId="{A57AF840-FCD7-425F-B4B8-9EB409C3D6B8}" type="pres">
      <dgm:prSet presAssocID="{2AF32E29-4BC7-4E08-B12F-C340E831F379}" presName="negativeSpace" presStyleCnt="0"/>
      <dgm:spPr/>
    </dgm:pt>
    <dgm:pt modelId="{C2F8435C-1E24-4CC8-843B-7CABCA6052E9}" type="pres">
      <dgm:prSet presAssocID="{2AF32E29-4BC7-4E08-B12F-C340E831F379}" presName="childText" presStyleLbl="conFgAcc1" presStyleIdx="2" presStyleCnt="3">
        <dgm:presLayoutVars>
          <dgm:bulletEnabled val="1"/>
        </dgm:presLayoutVars>
      </dgm:prSet>
      <dgm:spPr/>
    </dgm:pt>
  </dgm:ptLst>
  <dgm:cxnLst>
    <dgm:cxn modelId="{448A2D02-A381-459E-9BE1-7300FDA50260}" srcId="{2F21D2D9-DC83-4D7C-97B1-B146FA4F3845}" destId="{285AFA16-AAF9-4A43-A3C0-D493B8FDAF3F}" srcOrd="1" destOrd="0" parTransId="{442121E5-8AF2-42D2-A7E1-25CBE49FA7A6}" sibTransId="{C03A320A-C1BC-4F2B-B99B-CD52E6C2A797}"/>
    <dgm:cxn modelId="{AFCBA35F-F655-4129-ABD0-2B54B172B0E8}" type="presOf" srcId="{2F21D2D9-DC83-4D7C-97B1-B146FA4F3845}" destId="{9CC57123-8595-44E8-A8BB-E90631BC6A2F}" srcOrd="0" destOrd="0" presId="urn:microsoft.com/office/officeart/2005/8/layout/list1"/>
    <dgm:cxn modelId="{32D99576-FA28-4E36-A7AE-C7F117CE7138}" type="presOf" srcId="{2AF32E29-4BC7-4E08-B12F-C340E831F379}" destId="{CBAAADAD-8FC2-4C9A-9581-FFC013607B9E}" srcOrd="0" destOrd="0" presId="urn:microsoft.com/office/officeart/2005/8/layout/list1"/>
    <dgm:cxn modelId="{F50C6C58-0AC3-4F97-9B2A-28B53742B17B}" srcId="{2F21D2D9-DC83-4D7C-97B1-B146FA4F3845}" destId="{9024509F-6E55-435E-91A9-C4154A1D9F97}" srcOrd="0" destOrd="0" parTransId="{EF7A8319-1A29-4E53-A63A-CB99B71798C3}" sibTransId="{ECAF1802-950B-4126-8277-1078E8179E9E}"/>
    <dgm:cxn modelId="{1FBF898F-2E0B-49F2-ACE9-C621C2AD8B4F}" type="presOf" srcId="{9024509F-6E55-435E-91A9-C4154A1D9F97}" destId="{D6FC0ABF-77BE-4C79-9F13-E3EF065914DF}" srcOrd="1" destOrd="0" presId="urn:microsoft.com/office/officeart/2005/8/layout/list1"/>
    <dgm:cxn modelId="{15158F9D-2F69-484F-BC99-113274C4B45C}" type="presOf" srcId="{2AF32E29-4BC7-4E08-B12F-C340E831F379}" destId="{8A07F95B-7FD8-471B-82D0-2AF8D19B6F24}" srcOrd="1" destOrd="0" presId="urn:microsoft.com/office/officeart/2005/8/layout/list1"/>
    <dgm:cxn modelId="{61DD33BA-3449-4D00-8BC7-61DBC626191F}" type="presOf" srcId="{285AFA16-AAF9-4A43-A3C0-D493B8FDAF3F}" destId="{F57D307E-7702-4B35-AC3D-BD972C312E6A}" srcOrd="0" destOrd="0" presId="urn:microsoft.com/office/officeart/2005/8/layout/list1"/>
    <dgm:cxn modelId="{5A8F40C8-E953-40DC-936D-FDB64A31D4F5}" srcId="{2F21D2D9-DC83-4D7C-97B1-B146FA4F3845}" destId="{2AF32E29-4BC7-4E08-B12F-C340E831F379}" srcOrd="2" destOrd="0" parTransId="{AA9A211C-89C0-419F-B06D-4E104A0869F5}" sibTransId="{81383482-9929-4809-95C1-EED057135FE3}"/>
    <dgm:cxn modelId="{4EED2AD5-C9DA-4137-9150-14A11D23842D}" type="presOf" srcId="{285AFA16-AAF9-4A43-A3C0-D493B8FDAF3F}" destId="{41C22FA8-638F-4781-BCD5-CA7AD2D4784F}" srcOrd="1" destOrd="0" presId="urn:microsoft.com/office/officeart/2005/8/layout/list1"/>
    <dgm:cxn modelId="{1A7088E9-B5BD-42E5-A003-E37478C2C3BA}" type="presOf" srcId="{9024509F-6E55-435E-91A9-C4154A1D9F97}" destId="{A358F6B4-C018-44A8-8E4B-16296AFC7B66}" srcOrd="0" destOrd="0" presId="urn:microsoft.com/office/officeart/2005/8/layout/list1"/>
    <dgm:cxn modelId="{153AC976-7E1D-42D5-977D-D68F96A854D4}" type="presParOf" srcId="{9CC57123-8595-44E8-A8BB-E90631BC6A2F}" destId="{BFB512CA-DF2A-4D7E-838C-7AA8168643DB}" srcOrd="0" destOrd="0" presId="urn:microsoft.com/office/officeart/2005/8/layout/list1"/>
    <dgm:cxn modelId="{FF24366F-B57D-4582-B02F-6E001A2BBD4B}" type="presParOf" srcId="{BFB512CA-DF2A-4D7E-838C-7AA8168643DB}" destId="{A358F6B4-C018-44A8-8E4B-16296AFC7B66}" srcOrd="0" destOrd="0" presId="urn:microsoft.com/office/officeart/2005/8/layout/list1"/>
    <dgm:cxn modelId="{442F5C23-A652-4FF4-9AC7-9A73332760A4}" type="presParOf" srcId="{BFB512CA-DF2A-4D7E-838C-7AA8168643DB}" destId="{D6FC0ABF-77BE-4C79-9F13-E3EF065914DF}" srcOrd="1" destOrd="0" presId="urn:microsoft.com/office/officeart/2005/8/layout/list1"/>
    <dgm:cxn modelId="{5CF7F65C-2C43-4AF9-B5F7-8EC31A16790C}" type="presParOf" srcId="{9CC57123-8595-44E8-A8BB-E90631BC6A2F}" destId="{9152BDE0-71CB-44E0-9EF2-D2B602EEADD5}" srcOrd="1" destOrd="0" presId="urn:microsoft.com/office/officeart/2005/8/layout/list1"/>
    <dgm:cxn modelId="{01BF74FC-6310-47FB-8AFF-27C73C629BA0}" type="presParOf" srcId="{9CC57123-8595-44E8-A8BB-E90631BC6A2F}" destId="{CC53A4DC-FF40-4E1E-B1B9-FD03B74B7799}" srcOrd="2" destOrd="0" presId="urn:microsoft.com/office/officeart/2005/8/layout/list1"/>
    <dgm:cxn modelId="{F6154354-3594-4264-A63A-FDE9231885D3}" type="presParOf" srcId="{9CC57123-8595-44E8-A8BB-E90631BC6A2F}" destId="{849B1AC5-5A3E-461C-AB12-33B502569FB2}" srcOrd="3" destOrd="0" presId="urn:microsoft.com/office/officeart/2005/8/layout/list1"/>
    <dgm:cxn modelId="{BEE6EC9B-869F-4068-B0E7-9F4CFC8E32D4}" type="presParOf" srcId="{9CC57123-8595-44E8-A8BB-E90631BC6A2F}" destId="{B2FA6182-09DD-4F7D-8557-C607A10F49E7}" srcOrd="4" destOrd="0" presId="urn:microsoft.com/office/officeart/2005/8/layout/list1"/>
    <dgm:cxn modelId="{197823CA-CC13-457C-B14D-B2972EFCDDCF}" type="presParOf" srcId="{B2FA6182-09DD-4F7D-8557-C607A10F49E7}" destId="{F57D307E-7702-4B35-AC3D-BD972C312E6A}" srcOrd="0" destOrd="0" presId="urn:microsoft.com/office/officeart/2005/8/layout/list1"/>
    <dgm:cxn modelId="{97C38DD6-555A-4587-A2CF-C47ACD547842}" type="presParOf" srcId="{B2FA6182-09DD-4F7D-8557-C607A10F49E7}" destId="{41C22FA8-638F-4781-BCD5-CA7AD2D4784F}" srcOrd="1" destOrd="0" presId="urn:microsoft.com/office/officeart/2005/8/layout/list1"/>
    <dgm:cxn modelId="{10AFC52F-D345-4E9A-84AB-F0ECF2C7B5E7}" type="presParOf" srcId="{9CC57123-8595-44E8-A8BB-E90631BC6A2F}" destId="{208235E7-9A35-47F7-B718-40E32C669303}" srcOrd="5" destOrd="0" presId="urn:microsoft.com/office/officeart/2005/8/layout/list1"/>
    <dgm:cxn modelId="{2D05DE96-D18B-4C4D-A747-F71FFDCB0D5C}" type="presParOf" srcId="{9CC57123-8595-44E8-A8BB-E90631BC6A2F}" destId="{A7D57B3D-2349-4B73-940A-09F7E4958655}" srcOrd="6" destOrd="0" presId="urn:microsoft.com/office/officeart/2005/8/layout/list1"/>
    <dgm:cxn modelId="{957D8471-9217-4AE0-B837-6D242334A11E}" type="presParOf" srcId="{9CC57123-8595-44E8-A8BB-E90631BC6A2F}" destId="{D420B09D-4090-4360-8AE0-924A07525359}" srcOrd="7" destOrd="0" presId="urn:microsoft.com/office/officeart/2005/8/layout/list1"/>
    <dgm:cxn modelId="{94A77A2B-5330-4E1F-BA11-17E523699E84}" type="presParOf" srcId="{9CC57123-8595-44E8-A8BB-E90631BC6A2F}" destId="{791D0E8A-B80F-4B1A-9CC5-822FF534D287}" srcOrd="8" destOrd="0" presId="urn:microsoft.com/office/officeart/2005/8/layout/list1"/>
    <dgm:cxn modelId="{1208A42C-DC6C-4F5A-B424-8BEEAB26B760}" type="presParOf" srcId="{791D0E8A-B80F-4B1A-9CC5-822FF534D287}" destId="{CBAAADAD-8FC2-4C9A-9581-FFC013607B9E}" srcOrd="0" destOrd="0" presId="urn:microsoft.com/office/officeart/2005/8/layout/list1"/>
    <dgm:cxn modelId="{C67DD44A-98A7-4D58-B89D-144F4A0DFF72}" type="presParOf" srcId="{791D0E8A-B80F-4B1A-9CC5-822FF534D287}" destId="{8A07F95B-7FD8-471B-82D0-2AF8D19B6F24}" srcOrd="1" destOrd="0" presId="urn:microsoft.com/office/officeart/2005/8/layout/list1"/>
    <dgm:cxn modelId="{B25A2D3F-17F9-4EAA-ACD0-0C6DB0B1A518}" type="presParOf" srcId="{9CC57123-8595-44E8-A8BB-E90631BC6A2F}" destId="{A57AF840-FCD7-425F-B4B8-9EB409C3D6B8}" srcOrd="9" destOrd="0" presId="urn:microsoft.com/office/officeart/2005/8/layout/list1"/>
    <dgm:cxn modelId="{EDB05D6D-6F65-4848-BB07-B7E7AC482CB4}" type="presParOf" srcId="{9CC57123-8595-44E8-A8BB-E90631BC6A2F}" destId="{C2F8435C-1E24-4CC8-843B-7CABCA6052E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53A4DC-FF40-4E1E-B1B9-FD03B74B7799}">
      <dsp:nvSpPr>
        <dsp:cNvPr id="0" name=""/>
        <dsp:cNvSpPr/>
      </dsp:nvSpPr>
      <dsp:spPr>
        <a:xfrm>
          <a:off x="0" y="938726"/>
          <a:ext cx="9010835" cy="4536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D6FC0ABF-77BE-4C79-9F13-E3EF065914DF}">
      <dsp:nvSpPr>
        <dsp:cNvPr id="0" name=""/>
        <dsp:cNvSpPr/>
      </dsp:nvSpPr>
      <dsp:spPr>
        <a:xfrm>
          <a:off x="450101" y="61875"/>
          <a:ext cx="6989351" cy="114253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38412" tIns="0" rIns="238412" bIns="0" numCol="1" spcCol="1270" anchor="ctr" anchorCtr="0">
          <a:noAutofit/>
        </a:bodyPr>
        <a:lstStyle/>
        <a:p>
          <a:pPr marL="0" lvl="0" indent="0" algn="l" defTabSz="711200">
            <a:lnSpc>
              <a:spcPct val="90000"/>
            </a:lnSpc>
            <a:spcBef>
              <a:spcPct val="0"/>
            </a:spcBef>
            <a:spcAft>
              <a:spcPct val="35000"/>
            </a:spcAft>
            <a:buNone/>
          </a:pPr>
          <a:r>
            <a:rPr lang="en-US" sz="1600" b="0" i="0" kern="1200" dirty="0">
              <a:effectLst/>
              <a:latin typeface="Open Sans"/>
            </a:rPr>
            <a:t>Moral reasoning must be </a:t>
          </a:r>
          <a:r>
            <a:rPr lang="en-US" sz="1600" b="1" i="0" kern="1200" dirty="0">
              <a:solidFill>
                <a:srgbClr val="FF0000"/>
              </a:solidFill>
              <a:effectLst/>
              <a:latin typeface="Open Sans"/>
            </a:rPr>
            <a:t>logical</a:t>
          </a:r>
          <a:r>
            <a:rPr lang="en-US" sz="1600" b="0" i="0" kern="1200" dirty="0">
              <a:effectLst/>
              <a:latin typeface="Open Sans"/>
            </a:rPr>
            <a:t>. Factual evidence cited to support a person’s judgment should be accurate, relevant, and complete. </a:t>
          </a:r>
          <a:endParaRPr lang="en-GB" sz="1600" kern="1200" dirty="0"/>
        </a:p>
      </dsp:txBody>
      <dsp:txXfrm>
        <a:off x="505875" y="117649"/>
        <a:ext cx="6877803" cy="1030982"/>
      </dsp:txXfrm>
    </dsp:sp>
    <dsp:sp modelId="{A7D57B3D-2349-4B73-940A-09F7E4958655}">
      <dsp:nvSpPr>
        <dsp:cNvPr id="0" name=""/>
        <dsp:cNvSpPr/>
      </dsp:nvSpPr>
      <dsp:spPr>
        <a:xfrm>
          <a:off x="0" y="2119804"/>
          <a:ext cx="9010835" cy="453600"/>
        </a:xfrm>
        <a:prstGeom prst="rect">
          <a:avLst/>
        </a:prstGeom>
        <a:solidFill>
          <a:schemeClr val="lt1">
            <a:alpha val="90000"/>
            <a:hueOff val="0"/>
            <a:satOff val="0"/>
            <a:lumOff val="0"/>
            <a:alphaOff val="0"/>
          </a:schemeClr>
        </a:solidFill>
        <a:ln w="6350" cap="flat" cmpd="sng" algn="ctr">
          <a:solidFill>
            <a:schemeClr val="accent5">
              <a:hueOff val="-3379271"/>
              <a:satOff val="-8710"/>
              <a:lumOff val="-5883"/>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41C22FA8-638F-4781-BCD5-CA7AD2D4784F}">
      <dsp:nvSpPr>
        <dsp:cNvPr id="0" name=""/>
        <dsp:cNvSpPr/>
      </dsp:nvSpPr>
      <dsp:spPr>
        <a:xfrm>
          <a:off x="539370" y="1551668"/>
          <a:ext cx="6907625" cy="895957"/>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38412" tIns="0" rIns="238412" bIns="0" numCol="1" spcCol="1270" anchor="ctr" anchorCtr="0">
          <a:noAutofit/>
        </a:bodyPr>
        <a:lstStyle/>
        <a:p>
          <a:pPr marL="0" lvl="0" indent="0" algn="l" defTabSz="800100">
            <a:lnSpc>
              <a:spcPct val="90000"/>
            </a:lnSpc>
            <a:spcBef>
              <a:spcPct val="0"/>
            </a:spcBef>
            <a:spcAft>
              <a:spcPct val="35000"/>
            </a:spcAft>
            <a:buNone/>
          </a:pPr>
          <a:r>
            <a:rPr lang="en-US" sz="1800" b="0" i="0" kern="1200" dirty="0">
              <a:effectLst/>
              <a:latin typeface="Open Sans"/>
            </a:rPr>
            <a:t>Ethical standards used should be </a:t>
          </a:r>
          <a:r>
            <a:rPr lang="en-US" sz="1800" b="1" i="0" kern="1200" dirty="0">
              <a:solidFill>
                <a:srgbClr val="FF0000"/>
              </a:solidFill>
              <a:effectLst/>
              <a:latin typeface="Open Sans"/>
            </a:rPr>
            <a:t>consistent</a:t>
          </a:r>
          <a:r>
            <a:rPr lang="en-US" sz="1800" b="0" i="0" kern="1200" dirty="0">
              <a:effectLst/>
              <a:latin typeface="Open Sans"/>
            </a:rPr>
            <a:t>. </a:t>
          </a:r>
          <a:endParaRPr lang="en-GB" sz="1800" kern="1200" dirty="0"/>
        </a:p>
      </dsp:txBody>
      <dsp:txXfrm>
        <a:off x="583107" y="1595405"/>
        <a:ext cx="6820151" cy="808483"/>
      </dsp:txXfrm>
    </dsp:sp>
    <dsp:sp modelId="{C2F8435C-1E24-4CC8-843B-7CABCA6052E9}">
      <dsp:nvSpPr>
        <dsp:cNvPr id="0" name=""/>
        <dsp:cNvSpPr/>
      </dsp:nvSpPr>
      <dsp:spPr>
        <a:xfrm>
          <a:off x="0" y="3539723"/>
          <a:ext cx="9010835" cy="453600"/>
        </a:xfrm>
        <a:prstGeom prst="rect">
          <a:avLst/>
        </a:prstGeom>
        <a:solidFill>
          <a:schemeClr val="lt1">
            <a:alpha val="90000"/>
            <a:hueOff val="0"/>
            <a:satOff val="0"/>
            <a:lumOff val="0"/>
            <a:alphaOff val="0"/>
          </a:schemeClr>
        </a:solidFill>
        <a:ln w="6350" cap="flat" cmpd="sng" algn="ctr">
          <a:solidFill>
            <a:schemeClr val="accent5">
              <a:hueOff val="-6758543"/>
              <a:satOff val="-17419"/>
              <a:lumOff val="-11765"/>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8A07F95B-7FD8-471B-82D0-2AF8D19B6F24}">
      <dsp:nvSpPr>
        <dsp:cNvPr id="0" name=""/>
        <dsp:cNvSpPr/>
      </dsp:nvSpPr>
      <dsp:spPr>
        <a:xfrm>
          <a:off x="450101" y="2670604"/>
          <a:ext cx="6953433" cy="1134798"/>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38412" tIns="0" rIns="238412" bIns="0" numCol="1" spcCol="1270" anchor="ctr" anchorCtr="0">
          <a:noAutofit/>
        </a:bodyPr>
        <a:lstStyle/>
        <a:p>
          <a:pPr marL="0" lvl="0" indent="0" algn="l" defTabSz="711200">
            <a:lnSpc>
              <a:spcPct val="90000"/>
            </a:lnSpc>
            <a:spcBef>
              <a:spcPct val="0"/>
            </a:spcBef>
            <a:spcAft>
              <a:spcPct val="35000"/>
            </a:spcAft>
            <a:buNone/>
          </a:pPr>
          <a:r>
            <a:rPr lang="en-US" sz="1600" b="0" i="0" kern="1200" dirty="0">
              <a:effectLst/>
              <a:latin typeface="Open Sans"/>
            </a:rPr>
            <a:t>A simple but powerful question can be used throughout your decision-making process in solving ethical dilemmas: What is my </a:t>
          </a:r>
          <a:r>
            <a:rPr lang="en-US" sz="1600" b="1" i="0" kern="1200" dirty="0">
              <a:solidFill>
                <a:srgbClr val="FF0000"/>
              </a:solidFill>
              <a:effectLst/>
              <a:latin typeface="Open Sans"/>
            </a:rPr>
            <a:t>motivation</a:t>
          </a:r>
          <a:r>
            <a:rPr lang="en-US" sz="1600" b="0" i="0" kern="1200" dirty="0">
              <a:effectLst/>
              <a:latin typeface="Open Sans"/>
            </a:rPr>
            <a:t> for choosing a course of action?</a:t>
          </a:r>
          <a:endParaRPr lang="en-GB" sz="1600" kern="1200" dirty="0"/>
        </a:p>
      </dsp:txBody>
      <dsp:txXfrm>
        <a:off x="505497" y="2726000"/>
        <a:ext cx="6842641" cy="10240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66D03-9D4A-48D5-A2E5-5C3DAFFD34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477A912-0863-438C-8FCC-4F81141025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A3896AD-0F84-40EC-85B2-7B5E78D01AA9}"/>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5" name="Footer Placeholder 4">
            <a:extLst>
              <a:ext uri="{FF2B5EF4-FFF2-40B4-BE49-F238E27FC236}">
                <a16:creationId xmlns:a16="http://schemas.microsoft.com/office/drawing/2014/main" id="{85CD6249-1B09-45CC-A4B9-300060CBD3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FBB5A9-1E60-4B6F-9259-C622E9D3A710}"/>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1866886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AFA6A-782D-4692-A11C-387ECA3218A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0CFD470-F800-4CD1-87F2-253D195790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450610-E5CE-46ED-A7A1-979ED1B78C7F}"/>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5" name="Footer Placeholder 4">
            <a:extLst>
              <a:ext uri="{FF2B5EF4-FFF2-40B4-BE49-F238E27FC236}">
                <a16:creationId xmlns:a16="http://schemas.microsoft.com/office/drawing/2014/main" id="{E4C111D3-6D23-401D-B1D9-1C64549F94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0F5A11-A5FE-43A1-BF2B-997C5DA3E6AA}"/>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1990189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BDFD4-ECED-48BA-B4EC-C3626AB782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B0201D8-5678-4ECD-8330-4B18A1182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1E44E3-4C19-494E-A9EC-5ECBE4745034}"/>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5" name="Footer Placeholder 4">
            <a:extLst>
              <a:ext uri="{FF2B5EF4-FFF2-40B4-BE49-F238E27FC236}">
                <a16:creationId xmlns:a16="http://schemas.microsoft.com/office/drawing/2014/main" id="{00A782B9-44D0-4908-94F6-891AE49125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8FF44A-0A25-4C21-801E-7BCF09A7EB74}"/>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816033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953BA-8465-4B1E-823E-82DE155161E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540F035-AA42-4096-85B7-CBB3ACF225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9B5D08D-4FF8-4902-9394-A145DF3C68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45E8212-CA3E-407A-B90F-22229645D8DC}"/>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6" name="Footer Placeholder 5">
            <a:extLst>
              <a:ext uri="{FF2B5EF4-FFF2-40B4-BE49-F238E27FC236}">
                <a16:creationId xmlns:a16="http://schemas.microsoft.com/office/drawing/2014/main" id="{3E966271-60A5-4375-873B-0A3FE28FE1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B8BB427-E3F8-4BDF-B5D6-D6A3E43D8840}"/>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3876102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3EAF0-D5E8-461B-8443-75FE07BD70C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E0F6E4A-E390-4B2B-ADF2-42F1D8CF4C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BE18A7-45FB-47A2-848B-164528CD6E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E003E0D-182B-4B9D-A925-F8625BAD05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AB63A9-C4AD-4C11-B773-FFC9E31F8E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85EADF9-D770-4262-8D26-FE7A6ECA87EE}"/>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8" name="Footer Placeholder 7">
            <a:extLst>
              <a:ext uri="{FF2B5EF4-FFF2-40B4-BE49-F238E27FC236}">
                <a16:creationId xmlns:a16="http://schemas.microsoft.com/office/drawing/2014/main" id="{2B2FB38C-5030-46A6-8E15-1FD8CC3F003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EDBE6CF-428F-480C-8FF9-F347D85CC8CD}"/>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4140212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9A10B-7822-4CAC-B51A-5D2E8B97626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BFBAB57-7174-42FE-9605-BEDE9B76CDF6}"/>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4" name="Footer Placeholder 3">
            <a:extLst>
              <a:ext uri="{FF2B5EF4-FFF2-40B4-BE49-F238E27FC236}">
                <a16:creationId xmlns:a16="http://schemas.microsoft.com/office/drawing/2014/main" id="{7134FBCC-84FD-4E23-BE93-73F7FF54EF8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06FA8C6-AC19-48D2-9655-E7C254CEF130}"/>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3214676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40CBFE-1A13-47E4-85A6-A22E336C224E}"/>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3" name="Footer Placeholder 2">
            <a:extLst>
              <a:ext uri="{FF2B5EF4-FFF2-40B4-BE49-F238E27FC236}">
                <a16:creationId xmlns:a16="http://schemas.microsoft.com/office/drawing/2014/main" id="{615AC029-FB15-4E9D-AC2D-B1B70D86AFC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10E968B-FA79-4ECE-889B-1F56EDAF1ACD}"/>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2661145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C393C-ADA6-43A3-9B0C-01AE02067F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73399FA-7C0C-47CB-8D11-392DE646FB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BCB3180-3704-4C5D-AE41-FD271866AD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74943F-ED68-4F30-B5CA-79761973E205}"/>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6" name="Footer Placeholder 5">
            <a:extLst>
              <a:ext uri="{FF2B5EF4-FFF2-40B4-BE49-F238E27FC236}">
                <a16:creationId xmlns:a16="http://schemas.microsoft.com/office/drawing/2014/main" id="{1829993D-DA06-4623-AD57-4EA3DF2057A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B026CD-1FE0-4E36-90FB-56355912FEF2}"/>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2785092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000CA-C55D-4457-A886-43A56F64E6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8271990-9D51-4D9B-A41C-9C402D73ED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C229DE4-CD10-41B7-94EE-19D64A6D89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7BD7B9-C531-4638-9C0D-9D734123CD28}"/>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6" name="Footer Placeholder 5">
            <a:extLst>
              <a:ext uri="{FF2B5EF4-FFF2-40B4-BE49-F238E27FC236}">
                <a16:creationId xmlns:a16="http://schemas.microsoft.com/office/drawing/2014/main" id="{63162221-0817-4BA6-B546-80857487A4B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80CBBB-039F-453A-9909-B2824451B3DF}"/>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3614839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60AE9-A45D-4D08-9974-B0CE9A4C04C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CDCD071-9D79-45D2-97BC-099AD3D2E9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EDFDA1C-42B1-4FCF-B671-C72C116FF9DD}"/>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5" name="Footer Placeholder 4">
            <a:extLst>
              <a:ext uri="{FF2B5EF4-FFF2-40B4-BE49-F238E27FC236}">
                <a16:creationId xmlns:a16="http://schemas.microsoft.com/office/drawing/2014/main" id="{AF647C6C-502A-4BFE-A541-0C498CB10B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0D14F2-A440-4100-8DEE-4FBAC377FD9A}"/>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169334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1DAF79-E6B8-46E5-90D4-C61E98C39F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B0B8F4C-30C6-47D2-B31C-FF4DB281AC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6F04602-512E-412D-B76B-A5CEF10146A2}"/>
              </a:ext>
            </a:extLst>
          </p:cNvPr>
          <p:cNvSpPr>
            <a:spLocks noGrp="1"/>
          </p:cNvSpPr>
          <p:nvPr>
            <p:ph type="dt" sz="half" idx="10"/>
          </p:nvPr>
        </p:nvSpPr>
        <p:spPr/>
        <p:txBody>
          <a:bodyPr/>
          <a:lstStyle/>
          <a:p>
            <a:fld id="{039358A7-3D5C-48CF-B792-2A6EF2E7546E}" type="datetimeFigureOut">
              <a:rPr lang="en-GB" smtClean="0"/>
              <a:t>24/Feb/22</a:t>
            </a:fld>
            <a:endParaRPr lang="en-GB"/>
          </a:p>
        </p:txBody>
      </p:sp>
      <p:sp>
        <p:nvSpPr>
          <p:cNvPr id="5" name="Footer Placeholder 4">
            <a:extLst>
              <a:ext uri="{FF2B5EF4-FFF2-40B4-BE49-F238E27FC236}">
                <a16:creationId xmlns:a16="http://schemas.microsoft.com/office/drawing/2014/main" id="{C86D9FE8-67AA-4CA6-89E7-F9AA3C5F3C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9704C8-DA33-4D70-8E12-A954D3310469}"/>
              </a:ext>
            </a:extLst>
          </p:cNvPr>
          <p:cNvSpPr>
            <a:spLocks noGrp="1"/>
          </p:cNvSpPr>
          <p:nvPr>
            <p:ph type="sldNum" sz="quarter" idx="12"/>
          </p:nvPr>
        </p:nvSpPr>
        <p:spPr/>
        <p:txBody>
          <a:bodyPr/>
          <a:lstStyle/>
          <a:p>
            <a:fld id="{D0ABBB78-EAB6-4AE9-8083-CFDA79C2AC21}" type="slidenum">
              <a:rPr lang="en-GB" smtClean="0"/>
              <a:t>‹#›</a:t>
            </a:fld>
            <a:endParaRPr lang="en-GB"/>
          </a:p>
        </p:txBody>
      </p:sp>
    </p:spTree>
    <p:extLst>
      <p:ext uri="{BB962C8B-B14F-4D97-AF65-F5344CB8AC3E}">
        <p14:creationId xmlns:p14="http://schemas.microsoft.com/office/powerpoint/2010/main" val="3759082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551C23-9B3C-4A30-9017-FFC54A4CA4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3CA11BB-59CF-46AC-A915-F64FFD817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158E23-8190-42E1-A1BD-C4B555EC6F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9358A7-3D5C-48CF-B792-2A6EF2E7546E}" type="datetimeFigureOut">
              <a:rPr lang="en-GB" smtClean="0"/>
              <a:t>24/Feb/22</a:t>
            </a:fld>
            <a:endParaRPr lang="en-GB"/>
          </a:p>
        </p:txBody>
      </p:sp>
      <p:sp>
        <p:nvSpPr>
          <p:cNvPr id="5" name="Footer Placeholder 4">
            <a:extLst>
              <a:ext uri="{FF2B5EF4-FFF2-40B4-BE49-F238E27FC236}">
                <a16:creationId xmlns:a16="http://schemas.microsoft.com/office/drawing/2014/main" id="{42B2794E-F180-477C-A14F-26EACA7A43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CA192F1-29AE-4AD8-AB91-4070A3C074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ABBB78-EAB6-4AE9-8083-CFDA79C2AC21}" type="slidenum">
              <a:rPr lang="en-GB" smtClean="0"/>
              <a:t>‹#›</a:t>
            </a:fld>
            <a:endParaRPr lang="en-GB"/>
          </a:p>
        </p:txBody>
      </p:sp>
    </p:spTree>
    <p:extLst>
      <p:ext uri="{BB962C8B-B14F-4D97-AF65-F5344CB8AC3E}">
        <p14:creationId xmlns:p14="http://schemas.microsoft.com/office/powerpoint/2010/main" val="3701326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3" Type="http://schemas.openxmlformats.org/officeDocument/2006/relationships/hyperlink" Target="https://slideplayer.com/slide/3006795/" TargetMode="External"/><Relationship Id="rId2" Type="http://schemas.openxmlformats.org/officeDocument/2006/relationships/hyperlink" Target="http://www.bbc.co.uk/ethics/introduction/duty_1.shtml#:~:text=Duty%2Dbased%20ethics%20are%20usually,consequences%20that%20may%20be%20produced" TargetMode="External"/><Relationship Id="rId1" Type="http://schemas.openxmlformats.org/officeDocument/2006/relationships/slideLayout" Target="../slideLayouts/slideLayout2.xml"/><Relationship Id="rId4" Type="http://schemas.openxmlformats.org/officeDocument/2006/relationships/hyperlink" Target="https://www.up.ac.za/media/shared/Legacy/sitefiles/file/46/9742/aacconference2ndregional/yellowwoodvenue/ethicaldecisionmakingaacconf.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0DF36-8463-44CD-9BF3-49F4FD7FE4C1}"/>
              </a:ext>
            </a:extLst>
          </p:cNvPr>
          <p:cNvSpPr>
            <a:spLocks noGrp="1"/>
          </p:cNvSpPr>
          <p:nvPr>
            <p:ph type="ctrTitle"/>
          </p:nvPr>
        </p:nvSpPr>
        <p:spPr>
          <a:xfrm>
            <a:off x="1524000" y="1122362"/>
            <a:ext cx="9144000" cy="2801567"/>
          </a:xfrm>
        </p:spPr>
        <p:txBody>
          <a:bodyPr>
            <a:normAutofit/>
          </a:bodyPr>
          <a:lstStyle/>
          <a:p>
            <a:r>
              <a:rPr lang="en-US" sz="4800" b="1" dirty="0"/>
              <a:t>Ethics Part 2</a:t>
            </a:r>
            <a:br>
              <a:rPr lang="en-US" sz="4800" b="1" dirty="0"/>
            </a:br>
            <a:r>
              <a:rPr lang="en-US" sz="4800" b="1" dirty="0"/>
              <a:t>Ethical Philosophy: A brief introduction to morality</a:t>
            </a:r>
            <a:endParaRPr lang="en-GB" sz="4800" b="1" dirty="0"/>
          </a:p>
        </p:txBody>
      </p:sp>
      <p:sp>
        <p:nvSpPr>
          <p:cNvPr id="3" name="Subtitle 2">
            <a:extLst>
              <a:ext uri="{FF2B5EF4-FFF2-40B4-BE49-F238E27FC236}">
                <a16:creationId xmlns:a16="http://schemas.microsoft.com/office/drawing/2014/main" id="{349D63D0-73BA-4B14-953F-84DB88CD4296}"/>
              </a:ext>
            </a:extLst>
          </p:cNvPr>
          <p:cNvSpPr>
            <a:spLocks noGrp="1"/>
          </p:cNvSpPr>
          <p:nvPr>
            <p:ph type="subTitle" idx="1"/>
          </p:nvPr>
        </p:nvSpPr>
        <p:spPr>
          <a:xfrm>
            <a:off x="1524000" y="4154750"/>
            <a:ext cx="9144000" cy="1162974"/>
          </a:xfrm>
        </p:spPr>
        <p:txBody>
          <a:bodyPr>
            <a:normAutofit/>
          </a:bodyPr>
          <a:lstStyle/>
          <a:p>
            <a:r>
              <a:rPr lang="en-ZA" b="1" dirty="0"/>
              <a:t>Professional Practice 3</a:t>
            </a:r>
          </a:p>
          <a:p>
            <a:r>
              <a:rPr lang="en-ZA" b="1" dirty="0"/>
              <a:t>N. Wessels</a:t>
            </a:r>
          </a:p>
          <a:p>
            <a:endParaRPr lang="en-ZA" dirty="0"/>
          </a:p>
          <a:p>
            <a:endParaRPr lang="en-GB" dirty="0"/>
          </a:p>
        </p:txBody>
      </p:sp>
      <p:pic>
        <p:nvPicPr>
          <p:cNvPr id="4" name="Picture 2" descr="what-is-ethics">
            <a:extLst>
              <a:ext uri="{FF2B5EF4-FFF2-40B4-BE49-F238E27FC236}">
                <a16:creationId xmlns:a16="http://schemas.microsoft.com/office/drawing/2014/main" id="{E4900836-50D3-4853-AEE5-83588AF001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9410" y="0"/>
            <a:ext cx="2932590" cy="31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041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0607-3571-4ECC-9DF0-1D5A4AB043CC}"/>
              </a:ext>
            </a:extLst>
          </p:cNvPr>
          <p:cNvSpPr>
            <a:spLocks noGrp="1"/>
          </p:cNvSpPr>
          <p:nvPr>
            <p:ph type="title"/>
          </p:nvPr>
        </p:nvSpPr>
        <p:spPr>
          <a:xfrm>
            <a:off x="838200" y="115411"/>
            <a:ext cx="10515600" cy="1074197"/>
          </a:xfrm>
        </p:spPr>
        <p:txBody>
          <a:bodyPr/>
          <a:lstStyle/>
          <a:p>
            <a:r>
              <a:rPr lang="en-US" b="1" dirty="0"/>
              <a:t>Introduction</a:t>
            </a:r>
            <a:endParaRPr lang="en-GB" b="1" dirty="0"/>
          </a:p>
        </p:txBody>
      </p:sp>
      <p:sp>
        <p:nvSpPr>
          <p:cNvPr id="3" name="Content Placeholder 2">
            <a:extLst>
              <a:ext uri="{FF2B5EF4-FFF2-40B4-BE49-F238E27FC236}">
                <a16:creationId xmlns:a16="http://schemas.microsoft.com/office/drawing/2014/main" id="{F23685D1-86BD-4F46-83B2-6675C60A1E97}"/>
              </a:ext>
            </a:extLst>
          </p:cNvPr>
          <p:cNvSpPr>
            <a:spLocks noGrp="1"/>
          </p:cNvSpPr>
          <p:nvPr>
            <p:ph idx="1"/>
          </p:nvPr>
        </p:nvSpPr>
        <p:spPr>
          <a:xfrm>
            <a:off x="838199" y="1020932"/>
            <a:ext cx="10862569" cy="5637320"/>
          </a:xfrm>
        </p:spPr>
        <p:txBody>
          <a:bodyPr>
            <a:normAutofit fontScale="77500" lnSpcReduction="20000"/>
          </a:bodyPr>
          <a:lstStyle/>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As you will recall in chapter 1, ethics is the discipline dealing with what is good and bad, and with moral duty and obligation.</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lang="en-ZA" sz="2000" dirty="0">
              <a:solidFill>
                <a:prstClr val="black">
                  <a:lumMod val="65000"/>
                  <a:lumOff val="35000"/>
                </a:prstClr>
              </a:solidFill>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lang="en-ZA" sz="2000" dirty="0">
              <a:solidFill>
                <a:prstClr val="black">
                  <a:lumMod val="65000"/>
                  <a:lumOff val="35000"/>
                </a:prstClr>
              </a:solidFill>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These are all ethical questions, and the answers to these questions are provided in what we call moralities or moral codes.</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Moralities, or moral codes differ by time and place.  For example, according to 8th Century BC Greeks, it is not wrong to lie, and it is not always right to tell the truth.</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So we are confronted with the </a:t>
            </a:r>
            <a:r>
              <a:rPr kumimoji="0" lang="en-ZA" sz="2000" b="0" i="1"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ethical</a:t>
            </a:r>
            <a:r>
              <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 problem of </a:t>
            </a:r>
            <a:r>
              <a:rPr kumimoji="0" lang="en-ZA" sz="2000" b="1"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choosing</a:t>
            </a:r>
            <a:r>
              <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 between different </a:t>
            </a:r>
            <a:r>
              <a:rPr kumimoji="0" lang="en-ZA" sz="2000" b="0" i="1"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moralities.</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2000" b="0" i="1" u="none" strike="noStrike" kern="1200" cap="none" spc="0" normalizeH="0" baseline="0" noProof="0" dirty="0">
              <a:ln>
                <a:noFill/>
              </a:ln>
              <a:solidFill>
                <a:prstClr val="black">
                  <a:lumMod val="65000"/>
                  <a:lumOff val="35000"/>
                </a:prstClr>
              </a:solidFill>
              <a:effectLst/>
              <a:uLnTx/>
              <a:uFillTx/>
              <a:cs typeface="Calibri" panose="020F0502020204030204" pitchFamily="34" charset="0"/>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2000" b="0" i="1"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 </a:t>
            </a:r>
            <a:r>
              <a:rPr kumimoji="0" lang="en-ZA"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Some moralities may be better than others. Of course, </a:t>
            </a:r>
            <a:r>
              <a:rPr kumimoji="0" lang="en-US" sz="2000" b="0" i="0" u="none" strike="noStrike" kern="1200" cap="none" spc="0" normalizeH="0" baseline="0" noProof="0" dirty="0">
                <a:ln>
                  <a:noFill/>
                </a:ln>
                <a:solidFill>
                  <a:prstClr val="black">
                    <a:lumMod val="65000"/>
                    <a:lumOff val="35000"/>
                  </a:prstClr>
                </a:solidFill>
                <a:effectLst/>
                <a:uLnTx/>
                <a:uFillTx/>
                <a:cs typeface="Calibri" panose="020F0502020204030204" pitchFamily="34" charset="0"/>
              </a:rPr>
              <a:t>every dilemma can be dissected using more than one approach, and thus, the end result or decision may be different depending on the road taken.</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lang="en-GB" dirty="0"/>
          </a:p>
        </p:txBody>
      </p:sp>
      <p:graphicFrame>
        <p:nvGraphicFramePr>
          <p:cNvPr id="4" name="Table 4">
            <a:extLst>
              <a:ext uri="{FF2B5EF4-FFF2-40B4-BE49-F238E27FC236}">
                <a16:creationId xmlns:a16="http://schemas.microsoft.com/office/drawing/2014/main" id="{204476A9-EF41-4BF2-AE9C-3903D6E00B77}"/>
              </a:ext>
            </a:extLst>
          </p:cNvPr>
          <p:cNvGraphicFramePr>
            <a:graphicFrameLocks noGrp="1"/>
          </p:cNvGraphicFramePr>
          <p:nvPr>
            <p:extLst>
              <p:ext uri="{D42A27DB-BD31-4B8C-83A1-F6EECF244321}">
                <p14:modId xmlns:p14="http://schemas.microsoft.com/office/powerpoint/2010/main" val="774399593"/>
              </p:ext>
            </p:extLst>
          </p:nvPr>
        </p:nvGraphicFramePr>
        <p:xfrm>
          <a:off x="3621103" y="1607286"/>
          <a:ext cx="5682695" cy="1839468"/>
        </p:xfrm>
        <a:graphic>
          <a:graphicData uri="http://schemas.openxmlformats.org/drawingml/2006/table">
            <a:tbl>
              <a:tblPr firstRow="1" bandRow="1">
                <a:effectLst>
                  <a:innerShdw blurRad="63500" dist="50800" dir="5400000">
                    <a:prstClr val="black">
                      <a:alpha val="50000"/>
                    </a:prstClr>
                  </a:innerShdw>
                </a:effectLst>
                <a:tableStyleId>{BC89EF96-8CEA-46FF-86C4-4CE0E7609802}</a:tableStyleId>
              </a:tblPr>
              <a:tblGrid>
                <a:gridCol w="5682695">
                  <a:extLst>
                    <a:ext uri="{9D8B030D-6E8A-4147-A177-3AD203B41FA5}">
                      <a16:colId xmlns:a16="http://schemas.microsoft.com/office/drawing/2014/main" val="220582192"/>
                    </a:ext>
                  </a:extLst>
                </a:gridCol>
              </a:tblGrid>
              <a:tr h="1333295">
                <a:tc>
                  <a:txBody>
                    <a:bodyPr/>
                    <a:lstStyle/>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800" b="0" u="none" strike="noStrike" kern="1200" cap="none" spc="0" normalizeH="0" baseline="0" noProof="0" dirty="0">
                          <a:ln>
                            <a:noFill/>
                          </a:ln>
                          <a:solidFill>
                            <a:prstClr val="black">
                              <a:lumMod val="65000"/>
                              <a:lumOff val="35000"/>
                            </a:prstClr>
                          </a:solidFill>
                          <a:effectLst/>
                          <a:uLnTx/>
                          <a:uFillTx/>
                        </a:rPr>
                        <a:t>How should we live our lives?</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800" b="0" u="none" strike="noStrike" kern="1200" cap="none" spc="0" normalizeH="0" baseline="0" noProof="0" dirty="0">
                          <a:ln>
                            <a:noFill/>
                          </a:ln>
                          <a:solidFill>
                            <a:prstClr val="black">
                              <a:lumMod val="65000"/>
                              <a:lumOff val="35000"/>
                            </a:prstClr>
                          </a:solidFill>
                          <a:effectLst/>
                          <a:uLnTx/>
                          <a:uFillTx/>
                        </a:rPr>
                        <a:t>How should we act?</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800" b="0" u="none" strike="noStrike" kern="1200" cap="none" spc="0" normalizeH="0" baseline="0" noProof="0" dirty="0">
                          <a:ln>
                            <a:noFill/>
                          </a:ln>
                          <a:solidFill>
                            <a:prstClr val="black">
                              <a:lumMod val="65000"/>
                              <a:lumOff val="35000"/>
                            </a:prstClr>
                          </a:solidFill>
                          <a:effectLst/>
                          <a:uLnTx/>
                          <a:uFillTx/>
                        </a:rPr>
                        <a:t>Which goals are worth pursuing and which are not?</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800" b="0" u="none" strike="noStrike" kern="1200" cap="none" spc="0" normalizeH="0" baseline="0" noProof="0" dirty="0">
                          <a:ln>
                            <a:noFill/>
                          </a:ln>
                          <a:solidFill>
                            <a:prstClr val="black">
                              <a:lumMod val="65000"/>
                              <a:lumOff val="35000"/>
                            </a:prstClr>
                          </a:solidFill>
                          <a:effectLst/>
                          <a:uLnTx/>
                          <a:uFillTx/>
                        </a:rPr>
                        <a:t>What do we owe to ourselves and others?</a:t>
                      </a:r>
                    </a:p>
                    <a:p>
                      <a:endParaRPr lang="en-GB" dirty="0"/>
                    </a:p>
                  </a:txBody>
                  <a:tcPr/>
                </a:tc>
                <a:extLst>
                  <a:ext uri="{0D108BD9-81ED-4DB2-BD59-A6C34878D82A}">
                    <a16:rowId xmlns:a16="http://schemas.microsoft.com/office/drawing/2014/main" val="2017314456"/>
                  </a:ext>
                </a:extLst>
              </a:tr>
            </a:tbl>
          </a:graphicData>
        </a:graphic>
      </p:graphicFrame>
    </p:spTree>
    <p:extLst>
      <p:ext uri="{BB962C8B-B14F-4D97-AF65-F5344CB8AC3E}">
        <p14:creationId xmlns:p14="http://schemas.microsoft.com/office/powerpoint/2010/main" val="393401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41F38-13F4-4703-9D03-B4ABC5147094}"/>
              </a:ext>
            </a:extLst>
          </p:cNvPr>
          <p:cNvSpPr>
            <a:spLocks noGrp="1"/>
          </p:cNvSpPr>
          <p:nvPr>
            <p:ph type="title"/>
          </p:nvPr>
        </p:nvSpPr>
        <p:spPr>
          <a:xfrm>
            <a:off x="838200" y="1"/>
            <a:ext cx="10515600" cy="763479"/>
          </a:xfrm>
        </p:spPr>
        <p:txBody>
          <a:bodyPr/>
          <a:lstStyle/>
          <a:p>
            <a:r>
              <a:rPr lang="en-US" b="1" dirty="0"/>
              <a:t>Introduction </a:t>
            </a:r>
            <a:endParaRPr lang="en-GB" b="1" dirty="0"/>
          </a:p>
        </p:txBody>
      </p:sp>
      <p:sp>
        <p:nvSpPr>
          <p:cNvPr id="3" name="Content Placeholder 2">
            <a:extLst>
              <a:ext uri="{FF2B5EF4-FFF2-40B4-BE49-F238E27FC236}">
                <a16:creationId xmlns:a16="http://schemas.microsoft.com/office/drawing/2014/main" id="{1E11EEAB-767C-4495-8B5C-C5893FAF52BC}"/>
              </a:ext>
            </a:extLst>
          </p:cNvPr>
          <p:cNvSpPr>
            <a:spLocks noGrp="1"/>
          </p:cNvSpPr>
          <p:nvPr>
            <p:ph idx="1"/>
          </p:nvPr>
        </p:nvSpPr>
        <p:spPr>
          <a:xfrm>
            <a:off x="838200" y="852256"/>
            <a:ext cx="10374297" cy="5646198"/>
          </a:xfrm>
        </p:spPr>
        <p:txBody>
          <a:bodyPr>
            <a:normAutofit fontScale="92500" lnSpcReduction="20000"/>
          </a:bodyPr>
          <a:lstStyle/>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Thinking about ethics means thinking about the </a:t>
            </a:r>
            <a:r>
              <a:rPr kumimoji="0" lang="en-ZA" sz="1700" b="1" i="0" u="none" strike="noStrike" kern="1200" cap="none" spc="0" normalizeH="0" baseline="0" noProof="0" dirty="0">
                <a:ln>
                  <a:noFill/>
                </a:ln>
                <a:solidFill>
                  <a:srgbClr val="FF0000"/>
                </a:solidFill>
                <a:effectLst/>
                <a:uLnTx/>
                <a:uFillTx/>
                <a:ea typeface="+mn-ea"/>
                <a:cs typeface="+mn-cs"/>
              </a:rPr>
              <a:t>strengths </a:t>
            </a:r>
            <a:r>
              <a:rPr kumimoji="0" lang="en-ZA" sz="1700" b="1" i="0" u="none" strike="noStrike" kern="1200" cap="none" spc="0" normalizeH="0" baseline="0" noProof="0" dirty="0">
                <a:ln>
                  <a:noFill/>
                </a:ln>
                <a:solidFill>
                  <a:prstClr val="black"/>
                </a:solidFill>
                <a:effectLst/>
                <a:uLnTx/>
                <a:uFillTx/>
                <a:ea typeface="+mn-ea"/>
                <a:cs typeface="+mn-cs"/>
              </a:rPr>
              <a:t>and</a:t>
            </a:r>
            <a:r>
              <a:rPr kumimoji="0" lang="en-ZA" sz="1700" b="1" i="0" u="none" strike="noStrike" kern="1200" cap="none" spc="0" normalizeH="0" baseline="0" noProof="0" dirty="0">
                <a:ln>
                  <a:noFill/>
                </a:ln>
                <a:solidFill>
                  <a:srgbClr val="FF0000"/>
                </a:solidFill>
                <a:effectLst/>
                <a:uLnTx/>
                <a:uFillTx/>
                <a:ea typeface="+mn-ea"/>
                <a:cs typeface="+mn-cs"/>
              </a:rPr>
              <a:t> weaknesses </a:t>
            </a: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of moralities, understanding why we might endorse one morality and reject another, and searching for better systems of morality or even “the best” morality.</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1700" b="0" i="0" u="none" strike="noStrike" kern="1200" cap="none" spc="0" normalizeH="0" baseline="0" noProof="0" dirty="0">
              <a:ln>
                <a:noFill/>
              </a:ln>
              <a:solidFill>
                <a:prstClr val="black">
                  <a:lumMod val="65000"/>
                  <a:lumOff val="35000"/>
                </a:prstClr>
              </a:solidFill>
              <a:effectLst/>
              <a:uLnTx/>
              <a:uFillTx/>
              <a:ea typeface="+mn-ea"/>
              <a:cs typeface="+mn-cs"/>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Our </a:t>
            </a:r>
            <a:r>
              <a:rPr kumimoji="0" lang="en-ZA" sz="1700" b="0" i="0" u="sng" strike="noStrike" kern="1200" cap="none" spc="0" normalizeH="0" baseline="0" noProof="0" dirty="0">
                <a:ln>
                  <a:noFill/>
                </a:ln>
                <a:solidFill>
                  <a:prstClr val="black">
                    <a:lumMod val="65000"/>
                    <a:lumOff val="35000"/>
                  </a:prstClr>
                </a:solidFill>
                <a:effectLst/>
                <a:uLnTx/>
                <a:uFillTx/>
                <a:ea typeface="+mn-ea"/>
                <a:cs typeface="+mn-cs"/>
              </a:rPr>
              <a:t>ability</a:t>
            </a: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 to understand </a:t>
            </a:r>
            <a:r>
              <a:rPr kumimoji="0" lang="en-ZA" sz="1700" b="1" i="0" u="none" strike="noStrike" kern="1200" cap="none" spc="0" normalizeH="0" baseline="0" noProof="0" dirty="0">
                <a:ln>
                  <a:noFill/>
                </a:ln>
                <a:solidFill>
                  <a:prstClr val="black">
                    <a:lumMod val="65000"/>
                    <a:lumOff val="35000"/>
                  </a:prstClr>
                </a:solidFill>
                <a:effectLst/>
                <a:uLnTx/>
                <a:uFillTx/>
                <a:ea typeface="+mn-ea"/>
                <a:cs typeface="+mn-cs"/>
              </a:rPr>
              <a:t>different</a:t>
            </a: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 moralities is crucial, especially in this very day and age, when globalisation and accelerating advances in communication have created a cultural blending (AND cultural conflicts) like never before. </a:t>
            </a:r>
          </a:p>
          <a:p>
            <a:pPr marL="0" marR="0" lvl="0" indent="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None/>
              <a:tabLst/>
              <a:defRPr/>
            </a:pPr>
            <a:endParaRPr kumimoji="0" lang="en-ZA" sz="1700" b="0" i="0" u="none" strike="noStrike" kern="1200" cap="none" spc="0" normalizeH="0" baseline="0" noProof="0" dirty="0">
              <a:ln>
                <a:noFill/>
              </a:ln>
              <a:solidFill>
                <a:prstClr val="black">
                  <a:lumMod val="65000"/>
                  <a:lumOff val="35000"/>
                </a:prstClr>
              </a:solidFill>
              <a:effectLst/>
              <a:uLnTx/>
              <a:uFillTx/>
              <a:ea typeface="+mn-ea"/>
              <a:cs typeface="+mn-cs"/>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One of the interesting things about studying ethics is the enormous </a:t>
            </a:r>
            <a:r>
              <a:rPr kumimoji="0" lang="en-ZA" sz="1700" b="0" i="1" u="none" strike="noStrike" kern="1200" cap="none" spc="0" normalizeH="0" baseline="0" noProof="0" dirty="0">
                <a:ln>
                  <a:noFill/>
                </a:ln>
                <a:solidFill>
                  <a:prstClr val="black">
                    <a:lumMod val="65000"/>
                    <a:lumOff val="35000"/>
                  </a:prstClr>
                </a:solidFill>
                <a:effectLst/>
                <a:uLnTx/>
                <a:uFillTx/>
                <a:ea typeface="+mn-ea"/>
                <a:cs typeface="+mn-cs"/>
              </a:rPr>
              <a:t>variety</a:t>
            </a: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 of moralities that humans have created and the many </a:t>
            </a:r>
            <a:r>
              <a:rPr kumimoji="0" lang="en-ZA" sz="1700" b="0" i="1" u="none" strike="noStrike" kern="1200" cap="none" spc="0" normalizeH="0" baseline="0" noProof="0" dirty="0">
                <a:ln>
                  <a:noFill/>
                </a:ln>
                <a:solidFill>
                  <a:prstClr val="black">
                    <a:lumMod val="65000"/>
                    <a:lumOff val="35000"/>
                  </a:prstClr>
                </a:solidFill>
                <a:effectLst/>
                <a:uLnTx/>
                <a:uFillTx/>
                <a:ea typeface="+mn-ea"/>
                <a:cs typeface="+mn-cs"/>
              </a:rPr>
              <a:t>similarities</a:t>
            </a: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 between competing moralities.</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1700" b="0" i="0" u="none" strike="noStrike" kern="1200" cap="none" spc="0" normalizeH="0" baseline="0" noProof="0" dirty="0">
              <a:ln>
                <a:noFill/>
              </a:ln>
              <a:solidFill>
                <a:prstClr val="black">
                  <a:lumMod val="65000"/>
                  <a:lumOff val="35000"/>
                </a:prstClr>
              </a:solidFill>
              <a:effectLst/>
              <a:uLnTx/>
              <a:uFillTx/>
              <a:ea typeface="+mn-ea"/>
              <a:cs typeface="+mn-cs"/>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Distributed responsibility in conjunction with a lack of knowledge about long-term or broader societal technological consequences, causes software developers to lack a feeling of accountability or a view of the moral significance of their work.</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1700" b="0" i="0" u="none" strike="noStrike" kern="1200" cap="none" spc="0" normalizeH="0" baseline="0" noProof="0" dirty="0">
              <a:ln>
                <a:noFill/>
              </a:ln>
              <a:solidFill>
                <a:prstClr val="black">
                  <a:lumMod val="65000"/>
                  <a:lumOff val="35000"/>
                </a:prstClr>
              </a:solidFill>
              <a:effectLst/>
              <a:uLnTx/>
              <a:uFillTx/>
              <a:ea typeface="+mn-ea"/>
              <a:cs typeface="+mn-cs"/>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In the Critical Thinking module in Prof Comm 2, you were taught that one objective of critical analysis is to make ETHICAL choices –  in fact, ethics is a cornerstone of critical thinking. </a:t>
            </a:r>
            <a:r>
              <a:rPr kumimoji="0" lang="en-US" sz="1700" b="0" i="0" u="none" strike="noStrike" kern="1200" cap="none" spc="0" normalizeH="0" baseline="0" noProof="0" dirty="0">
                <a:ln>
                  <a:noFill/>
                </a:ln>
                <a:solidFill>
                  <a:prstClr val="black">
                    <a:lumMod val="65000"/>
                    <a:lumOff val="35000"/>
                  </a:prstClr>
                </a:solidFill>
                <a:effectLst/>
                <a:uLnTx/>
                <a:uFillTx/>
                <a:ea typeface="+mn-ea"/>
                <a:cs typeface="+mn-cs"/>
              </a:rPr>
              <a:t>You were further taught to use only credible evidence in crafting arguments. Ethical decisions are not just matters of etiquette or of avoiding wrongdoing. They are matters of choosing actions that are RIGHT. </a:t>
            </a: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endParaRPr kumimoji="0" lang="en-ZA" sz="1700" b="0" i="0" u="none" strike="noStrike" kern="1200" cap="none" spc="0" normalizeH="0" baseline="0" noProof="0" dirty="0">
              <a:ln>
                <a:noFill/>
              </a:ln>
              <a:solidFill>
                <a:prstClr val="black">
                  <a:lumMod val="65000"/>
                  <a:lumOff val="35000"/>
                </a:prstClr>
              </a:solidFill>
              <a:effectLst/>
              <a:uLnTx/>
              <a:uFillTx/>
              <a:ea typeface="+mn-ea"/>
              <a:cs typeface="+mn-cs"/>
            </a:endParaRPr>
          </a:p>
          <a:p>
            <a:pPr marL="228600" marR="0" lvl="0" indent="-228600" algn="l" defTabSz="914400" rtl="0" eaLnBrk="1" fontAlgn="auto" latinLnBrk="0" hangingPunct="1">
              <a:lnSpc>
                <a:spcPct val="110000"/>
              </a:lnSpc>
              <a:spcBef>
                <a:spcPts val="700"/>
              </a:spcBef>
              <a:spcAft>
                <a:spcPts val="0"/>
              </a:spcAft>
              <a:buClr>
                <a:srgbClr val="171312"/>
              </a:buClr>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The purpose of this chapter is to teach you to consider each problem from </a:t>
            </a:r>
            <a:r>
              <a:rPr kumimoji="0" lang="en-ZA" sz="1700" b="1" i="0" u="none" strike="noStrike" kern="1200" cap="none" spc="0" normalizeH="0" baseline="0" noProof="0" dirty="0">
                <a:ln>
                  <a:noFill/>
                </a:ln>
                <a:solidFill>
                  <a:prstClr val="black">
                    <a:lumMod val="65000"/>
                    <a:lumOff val="35000"/>
                  </a:prstClr>
                </a:solidFill>
                <a:effectLst/>
                <a:uLnTx/>
                <a:uFillTx/>
                <a:ea typeface="+mn-ea"/>
                <a:cs typeface="+mn-cs"/>
              </a:rPr>
              <a:t>multiple</a:t>
            </a: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 angles, to reach a </a:t>
            </a:r>
            <a:r>
              <a:rPr kumimoji="0" lang="en-ZA" sz="1700" b="1" i="0" u="none" strike="noStrike" kern="1200" cap="none" spc="0" normalizeH="0" baseline="0" noProof="0" dirty="0">
                <a:ln>
                  <a:noFill/>
                </a:ln>
                <a:solidFill>
                  <a:prstClr val="black">
                    <a:lumMod val="65000"/>
                    <a:lumOff val="35000"/>
                  </a:prstClr>
                </a:solidFill>
                <a:effectLst/>
                <a:uLnTx/>
                <a:uFillTx/>
                <a:ea typeface="+mn-ea"/>
                <a:cs typeface="+mn-cs"/>
              </a:rPr>
              <a:t>considered</a:t>
            </a:r>
            <a:r>
              <a:rPr kumimoji="0" lang="en-ZA" sz="1700" b="0" i="0" u="none" strike="noStrike" kern="1200" cap="none" spc="0" normalizeH="0" baseline="0" noProof="0" dirty="0">
                <a:ln>
                  <a:noFill/>
                </a:ln>
                <a:solidFill>
                  <a:prstClr val="black">
                    <a:lumMod val="65000"/>
                    <a:lumOff val="35000"/>
                  </a:prstClr>
                </a:solidFill>
                <a:effectLst/>
                <a:uLnTx/>
                <a:uFillTx/>
                <a:ea typeface="+mn-ea"/>
                <a:cs typeface="+mn-cs"/>
              </a:rPr>
              <a:t> judgement about which theory, or combination of theories are best suited to describe and address a particular problem, and to consider the effects of possible solutions.</a:t>
            </a:r>
          </a:p>
          <a:p>
            <a:endParaRPr lang="en-GB" dirty="0"/>
          </a:p>
        </p:txBody>
      </p:sp>
      <p:pic>
        <p:nvPicPr>
          <p:cNvPr id="4" name="Picture 3">
            <a:extLst>
              <a:ext uri="{FF2B5EF4-FFF2-40B4-BE49-F238E27FC236}">
                <a16:creationId xmlns:a16="http://schemas.microsoft.com/office/drawing/2014/main" id="{5A096EBD-B9ED-4D9D-B064-4B52E8C26299}"/>
              </a:ext>
            </a:extLst>
          </p:cNvPr>
          <p:cNvPicPr>
            <a:picLocks noChangeAspect="1"/>
          </p:cNvPicPr>
          <p:nvPr/>
        </p:nvPicPr>
        <p:blipFill>
          <a:blip r:embed="rId2"/>
          <a:stretch>
            <a:fillRect/>
          </a:stretch>
        </p:blipFill>
        <p:spPr>
          <a:xfrm>
            <a:off x="4634145" y="1"/>
            <a:ext cx="7557856" cy="852256"/>
          </a:xfrm>
          <a:prstGeom prst="rect">
            <a:avLst/>
          </a:prstGeom>
        </p:spPr>
      </p:pic>
    </p:spTree>
    <p:extLst>
      <p:ext uri="{BB962C8B-B14F-4D97-AF65-F5344CB8AC3E}">
        <p14:creationId xmlns:p14="http://schemas.microsoft.com/office/powerpoint/2010/main" val="4261676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0F458-9890-4892-96B9-150267749B3C}"/>
              </a:ext>
            </a:extLst>
          </p:cNvPr>
          <p:cNvSpPr>
            <a:spLocks noGrp="1"/>
          </p:cNvSpPr>
          <p:nvPr>
            <p:ph type="title"/>
          </p:nvPr>
        </p:nvSpPr>
        <p:spPr>
          <a:xfrm>
            <a:off x="838200" y="1"/>
            <a:ext cx="10515600" cy="1074197"/>
          </a:xfrm>
        </p:spPr>
        <p:txBody>
          <a:bodyPr/>
          <a:lstStyle/>
          <a:p>
            <a:r>
              <a:rPr lang="en-US" b="1" dirty="0"/>
              <a:t>Introduction</a:t>
            </a:r>
            <a:endParaRPr lang="en-GB" b="1" dirty="0"/>
          </a:p>
        </p:txBody>
      </p:sp>
      <p:graphicFrame>
        <p:nvGraphicFramePr>
          <p:cNvPr id="4" name="Table 4">
            <a:extLst>
              <a:ext uri="{FF2B5EF4-FFF2-40B4-BE49-F238E27FC236}">
                <a16:creationId xmlns:a16="http://schemas.microsoft.com/office/drawing/2014/main" id="{55005776-3B51-4800-9CE3-22AAC48852D2}"/>
              </a:ext>
            </a:extLst>
          </p:cNvPr>
          <p:cNvGraphicFramePr>
            <a:graphicFrameLocks noGrp="1"/>
          </p:cNvGraphicFramePr>
          <p:nvPr>
            <p:ph idx="1"/>
            <p:extLst>
              <p:ext uri="{D42A27DB-BD31-4B8C-83A1-F6EECF244321}">
                <p14:modId xmlns:p14="http://schemas.microsoft.com/office/powerpoint/2010/main" val="1315989600"/>
              </p:ext>
            </p:extLst>
          </p:nvPr>
        </p:nvGraphicFramePr>
        <p:xfrm>
          <a:off x="838200" y="1207364"/>
          <a:ext cx="10515600" cy="4864962"/>
        </p:xfrm>
        <a:graphic>
          <a:graphicData uri="http://schemas.openxmlformats.org/drawingml/2006/table">
            <a:tbl>
              <a:tblPr firstRow="1" bandRow="1">
                <a:tableStyleId>{2D5ABB26-0587-4C30-8999-92F81FD0307C}</a:tableStyleId>
              </a:tblPr>
              <a:tblGrid>
                <a:gridCol w="4390748">
                  <a:extLst>
                    <a:ext uri="{9D8B030D-6E8A-4147-A177-3AD203B41FA5}">
                      <a16:colId xmlns:a16="http://schemas.microsoft.com/office/drawing/2014/main" val="2069336232"/>
                    </a:ext>
                  </a:extLst>
                </a:gridCol>
                <a:gridCol w="6124852">
                  <a:extLst>
                    <a:ext uri="{9D8B030D-6E8A-4147-A177-3AD203B41FA5}">
                      <a16:colId xmlns:a16="http://schemas.microsoft.com/office/drawing/2014/main" val="2741578895"/>
                    </a:ext>
                  </a:extLst>
                </a:gridCol>
              </a:tblGrid>
              <a:tr h="4864962">
                <a:tc>
                  <a:txBody>
                    <a:bodyPr/>
                    <a:lstStyle/>
                    <a:p>
                      <a:pPr marL="285750" indent="-285750">
                        <a:buFont typeface="Arial" panose="020B0604020202020204" pitchFamily="34" charset="0"/>
                        <a:buChar char="•"/>
                      </a:pPr>
                      <a:endParaRPr lang="en-US" sz="1800" b="0" i="0" u="none" strike="noStrike" kern="1200" baseline="0" dirty="0">
                        <a:solidFill>
                          <a:schemeClr val="tx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tx1"/>
                          </a:solidFill>
                          <a:latin typeface="+mn-lt"/>
                          <a:ea typeface="+mn-ea"/>
                          <a:cs typeface="+mn-cs"/>
                        </a:rPr>
                        <a:t>Career advancement is far from the main reason to develop a deliberative, ethical consciousness. </a:t>
                      </a:r>
                    </a:p>
                    <a:p>
                      <a:endParaRPr lang="en-US" sz="1800" b="0" i="0" u="none" strike="noStrike" kern="1200" baseline="0" dirty="0">
                        <a:solidFill>
                          <a:schemeClr val="tx1"/>
                        </a:solidFill>
                        <a:latin typeface="+mn-lt"/>
                        <a:ea typeface="+mn-ea"/>
                        <a:cs typeface="+mn-cs"/>
                      </a:endParaRPr>
                    </a:p>
                    <a:p>
                      <a:pPr marL="285750" indent="-285750" algn="l">
                        <a:buFont typeface="Arial" panose="020B0604020202020204" pitchFamily="34" charset="0"/>
                        <a:buChar char="•"/>
                      </a:pPr>
                      <a:r>
                        <a:rPr lang="en-US" sz="1800" b="0" i="0" u="none" strike="noStrike" kern="1200" baseline="0" dirty="0">
                          <a:solidFill>
                            <a:schemeClr val="tx1"/>
                          </a:solidFill>
                          <a:latin typeface="+mn-lt"/>
                          <a:ea typeface="+mn-ea"/>
                          <a:cs typeface="+mn-cs"/>
                        </a:rPr>
                        <a:t>Ethical decisions are made every day, often without thinking about them:</a:t>
                      </a:r>
                    </a:p>
                    <a:p>
                      <a:pPr marL="285750" indent="-285750" algn="l">
                        <a:buFont typeface="Arial" panose="020B0604020202020204" pitchFamily="34" charset="0"/>
                        <a:buChar char="•"/>
                      </a:pPr>
                      <a:r>
                        <a:rPr lang="en-US" sz="1800" b="0" i="0" u="none" strike="noStrike" kern="1200" baseline="0" dirty="0">
                          <a:solidFill>
                            <a:schemeClr val="tx1"/>
                          </a:solidFill>
                          <a:latin typeface="+mn-lt"/>
                          <a:ea typeface="+mn-ea"/>
                          <a:cs typeface="+mn-cs"/>
                        </a:rPr>
                        <a:t>whether to hold the door open for a senior citizen; how to respond to an offensive remark; or how to deal with a co-worker or classmate who does not contribute their share of the work.</a:t>
                      </a:r>
                    </a:p>
                    <a:p>
                      <a:pPr algn="l"/>
                      <a:endParaRPr lang="en-US" sz="1800" b="0" i="0" u="none" strike="noStrike" kern="1200" baseline="0" dirty="0">
                        <a:solidFill>
                          <a:schemeClr val="tx1"/>
                        </a:solidFill>
                        <a:latin typeface="+mn-lt"/>
                        <a:ea typeface="+mn-ea"/>
                        <a:cs typeface="+mn-cs"/>
                      </a:endParaRPr>
                    </a:p>
                    <a:p>
                      <a:pPr marL="285750" indent="-285750" algn="l">
                        <a:buFont typeface="Arial" panose="020B0604020202020204" pitchFamily="34" charset="0"/>
                        <a:buChar char="•"/>
                      </a:pPr>
                      <a:r>
                        <a:rPr lang="en-US" sz="1800" b="0" i="0" u="none" strike="noStrike" kern="1200" baseline="0" dirty="0">
                          <a:solidFill>
                            <a:schemeClr val="tx1"/>
                          </a:solidFill>
                          <a:latin typeface="+mn-lt"/>
                          <a:ea typeface="+mn-ea"/>
                          <a:cs typeface="+mn-cs"/>
                        </a:rPr>
                        <a:t>Sometimes, daily decisions made to get through the school or workday can have serious and far-reaching consequences.</a:t>
                      </a:r>
                      <a:endParaRPr lang="en-GB" dirty="0"/>
                    </a:p>
                  </a:txBody>
                  <a:tcPr/>
                </a:tc>
                <a:tc>
                  <a:txBody>
                    <a:bodyPr/>
                    <a:lstStyle/>
                    <a:p>
                      <a:r>
                        <a:rPr lang="en-US" b="1" i="1" u="sng" dirty="0"/>
                        <a:t>For example:</a:t>
                      </a:r>
                    </a:p>
                    <a:p>
                      <a:endParaRPr lang="en-US" b="0" u="sng" dirty="0"/>
                    </a:p>
                    <a:p>
                      <a:endParaRPr lang="en-GB" sz="1800" b="0" i="0" u="none" strike="noStrike" kern="1200" baseline="0" dirty="0">
                        <a:solidFill>
                          <a:schemeClr val="tx1"/>
                        </a:solidFill>
                        <a:latin typeface="+mn-lt"/>
                        <a:ea typeface="+mn-ea"/>
                        <a:cs typeface="+mn-cs"/>
                      </a:endParaRPr>
                    </a:p>
                    <a:p>
                      <a:endParaRPr lang="en-GB" sz="1800" b="0" i="0" u="none" strike="noStrike" kern="1200" baseline="0" dirty="0">
                        <a:solidFill>
                          <a:schemeClr val="tx1"/>
                        </a:solidFill>
                        <a:latin typeface="+mn-lt"/>
                        <a:ea typeface="+mn-ea"/>
                        <a:cs typeface="+mn-cs"/>
                      </a:endParaRPr>
                    </a:p>
                    <a:p>
                      <a:endParaRPr lang="en-GB" dirty="0"/>
                    </a:p>
                  </a:txBody>
                  <a:tcPr/>
                </a:tc>
                <a:extLst>
                  <a:ext uri="{0D108BD9-81ED-4DB2-BD59-A6C34878D82A}">
                    <a16:rowId xmlns:a16="http://schemas.microsoft.com/office/drawing/2014/main" val="2046844150"/>
                  </a:ext>
                </a:extLst>
              </a:tr>
            </a:tbl>
          </a:graphicData>
        </a:graphic>
      </p:graphicFrame>
      <p:graphicFrame>
        <p:nvGraphicFramePr>
          <p:cNvPr id="3" name="Table 4">
            <a:extLst>
              <a:ext uri="{FF2B5EF4-FFF2-40B4-BE49-F238E27FC236}">
                <a16:creationId xmlns:a16="http://schemas.microsoft.com/office/drawing/2014/main" id="{DEBF68B2-8D9C-4AD8-AA18-807105945921}"/>
              </a:ext>
            </a:extLst>
          </p:cNvPr>
          <p:cNvGraphicFramePr>
            <a:graphicFrameLocks noGrp="1"/>
          </p:cNvGraphicFramePr>
          <p:nvPr>
            <p:extLst>
              <p:ext uri="{D42A27DB-BD31-4B8C-83A1-F6EECF244321}">
                <p14:modId xmlns:p14="http://schemas.microsoft.com/office/powerpoint/2010/main" val="687114702"/>
              </p:ext>
            </p:extLst>
          </p:nvPr>
        </p:nvGraphicFramePr>
        <p:xfrm>
          <a:off x="5811914" y="1745036"/>
          <a:ext cx="5187518" cy="4267200"/>
        </p:xfrm>
        <a:graphic>
          <a:graphicData uri="http://schemas.openxmlformats.org/drawingml/2006/table">
            <a:tbl>
              <a:tblPr firstRow="1" bandRow="1">
                <a:tableStyleId>{BC89EF96-8CEA-46FF-86C4-4CE0E7609802}</a:tableStyleId>
              </a:tblPr>
              <a:tblGrid>
                <a:gridCol w="5187518">
                  <a:extLst>
                    <a:ext uri="{9D8B030D-6E8A-4147-A177-3AD203B41FA5}">
                      <a16:colId xmlns:a16="http://schemas.microsoft.com/office/drawing/2014/main" val="3268701495"/>
                    </a:ext>
                  </a:extLst>
                </a:gridCol>
              </a:tblGrid>
              <a:tr h="3914478">
                <a:tc>
                  <a:txBody>
                    <a:bodyPr/>
                    <a:lstStyle/>
                    <a:p>
                      <a:r>
                        <a:rPr lang="en-US" sz="1600" b="0" u="none" strike="noStrike" kern="1200" baseline="0" dirty="0">
                          <a:solidFill>
                            <a:schemeClr val="tx1"/>
                          </a:solidFill>
                        </a:rPr>
                        <a:t>The 1986 Space Shuttle Challenger explosion could have been prevented if engineers at Morton Thiokol had adequately voiced their safety concerns far enough up NASA’s chain of command. The Space Shuttle Challenger broke up over the Atlantic Ocean 73 seconds into its flight, killing all </a:t>
                      </a:r>
                      <a:r>
                        <a:rPr lang="en-GB" sz="1600" b="0" u="none" strike="noStrike" kern="1200" baseline="0" dirty="0">
                          <a:solidFill>
                            <a:schemeClr val="tx1"/>
                          </a:solidFill>
                        </a:rPr>
                        <a:t>seven crew members. </a:t>
                      </a:r>
                    </a:p>
                    <a:p>
                      <a:endParaRPr lang="en-GB" sz="1600" b="0" u="none" strike="noStrike" kern="1200" baseline="0" dirty="0">
                        <a:solidFill>
                          <a:schemeClr val="tx1"/>
                        </a:solidFill>
                      </a:endParaRPr>
                    </a:p>
                    <a:p>
                      <a:r>
                        <a:rPr lang="en-US" sz="1600" b="0" u="none" strike="noStrike" kern="1200" baseline="0" dirty="0">
                          <a:solidFill>
                            <a:schemeClr val="tx1"/>
                          </a:solidFill>
                        </a:rPr>
                        <a:t>Allan McDonald, project director at engineering contractor Morton Thiokol, referenced</a:t>
                      </a:r>
                    </a:p>
                    <a:p>
                      <a:r>
                        <a:rPr lang="en-US" sz="1600" b="0" u="none" strike="noStrike" kern="1200" baseline="0" dirty="0">
                          <a:solidFill>
                            <a:schemeClr val="tx1"/>
                          </a:solidFill>
                        </a:rPr>
                        <a:t>his failure in a recent lecture at NASA:</a:t>
                      </a:r>
                    </a:p>
                    <a:p>
                      <a:endParaRPr lang="en-US" sz="1600" b="0" u="none" strike="noStrike" kern="1200" baseline="0" dirty="0">
                        <a:solidFill>
                          <a:schemeClr val="tx1"/>
                        </a:solidFill>
                      </a:endParaRPr>
                    </a:p>
                    <a:p>
                      <a:r>
                        <a:rPr lang="en-US" sz="1600" b="0" u="none" strike="noStrike" kern="1200" baseline="0" dirty="0">
                          <a:solidFill>
                            <a:schemeClr val="tx1"/>
                          </a:solidFill>
                        </a:rPr>
                        <a:t> “</a:t>
                      </a:r>
                      <a:r>
                        <a:rPr lang="en-US" sz="1600" b="0" i="1" u="none" strike="noStrike" kern="1200" baseline="0" dirty="0">
                          <a:solidFill>
                            <a:schemeClr val="tx1"/>
                          </a:solidFill>
                        </a:rPr>
                        <a:t>In my career, I don’t know how many times</a:t>
                      </a:r>
                    </a:p>
                    <a:p>
                      <a:r>
                        <a:rPr lang="en-US" sz="1600" b="0" i="1" u="none" strike="noStrike" kern="1200" baseline="0" dirty="0">
                          <a:solidFill>
                            <a:schemeClr val="tx1"/>
                          </a:solidFill>
                        </a:rPr>
                        <a:t>people have raised their hand and said, ‘This may be a dumb question, but…’ I always stood up and said, ‘In my entire career I’ve never, ever heard a dumb question. I’ve heard a lot of dumb answers</a:t>
                      </a:r>
                      <a:r>
                        <a:rPr lang="en-US" sz="1600" b="0" u="none" strike="noStrike" kern="1200" baseline="0" dirty="0">
                          <a:solidFill>
                            <a:schemeClr val="tx1"/>
                          </a:solidFill>
                        </a:rPr>
                        <a:t>.”</a:t>
                      </a:r>
                      <a:endParaRPr lang="en-GB" sz="1600" b="0" u="none" strike="noStrike" kern="1200" baseline="0" dirty="0">
                        <a:solidFill>
                          <a:schemeClr val="tx1"/>
                        </a:solidFill>
                      </a:endParaRPr>
                    </a:p>
                    <a:p>
                      <a:endParaRPr lang="en-GB" dirty="0"/>
                    </a:p>
                  </a:txBody>
                  <a:tcPr/>
                </a:tc>
                <a:extLst>
                  <a:ext uri="{0D108BD9-81ED-4DB2-BD59-A6C34878D82A}">
                    <a16:rowId xmlns:a16="http://schemas.microsoft.com/office/drawing/2014/main" val="129998507"/>
                  </a:ext>
                </a:extLst>
              </a:tr>
            </a:tbl>
          </a:graphicData>
        </a:graphic>
      </p:graphicFrame>
    </p:spTree>
    <p:extLst>
      <p:ext uri="{BB962C8B-B14F-4D97-AF65-F5344CB8AC3E}">
        <p14:creationId xmlns:p14="http://schemas.microsoft.com/office/powerpoint/2010/main" val="1152090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747B-1A01-4E89-AAF3-959F7C1C950B}"/>
              </a:ext>
            </a:extLst>
          </p:cNvPr>
          <p:cNvSpPr>
            <a:spLocks noGrp="1"/>
          </p:cNvSpPr>
          <p:nvPr>
            <p:ph type="title"/>
          </p:nvPr>
        </p:nvSpPr>
        <p:spPr>
          <a:xfrm>
            <a:off x="838200" y="186432"/>
            <a:ext cx="10515600" cy="967666"/>
          </a:xfrm>
        </p:spPr>
        <p:txBody>
          <a:bodyPr/>
          <a:lstStyle/>
          <a:p>
            <a:r>
              <a:rPr lang="en-US" b="1" dirty="0"/>
              <a:t>Introduction continued…</a:t>
            </a:r>
            <a:endParaRPr lang="en-GB" b="1" dirty="0"/>
          </a:p>
        </p:txBody>
      </p:sp>
      <p:graphicFrame>
        <p:nvGraphicFramePr>
          <p:cNvPr id="4" name="Table 4">
            <a:extLst>
              <a:ext uri="{FF2B5EF4-FFF2-40B4-BE49-F238E27FC236}">
                <a16:creationId xmlns:a16="http://schemas.microsoft.com/office/drawing/2014/main" id="{062611A2-173D-443C-AA28-7C57636C4C6E}"/>
              </a:ext>
            </a:extLst>
          </p:cNvPr>
          <p:cNvGraphicFramePr>
            <a:graphicFrameLocks noGrp="1"/>
          </p:cNvGraphicFramePr>
          <p:nvPr>
            <p:ph idx="1"/>
            <p:extLst>
              <p:ext uri="{D42A27DB-BD31-4B8C-83A1-F6EECF244321}">
                <p14:modId xmlns:p14="http://schemas.microsoft.com/office/powerpoint/2010/main" val="2550739309"/>
              </p:ext>
            </p:extLst>
          </p:nvPr>
        </p:nvGraphicFramePr>
        <p:xfrm>
          <a:off x="838200" y="1154098"/>
          <a:ext cx="10515600" cy="5975046"/>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349138469"/>
                    </a:ext>
                  </a:extLst>
                </a:gridCol>
                <a:gridCol w="5257800">
                  <a:extLst>
                    <a:ext uri="{9D8B030D-6E8A-4147-A177-3AD203B41FA5}">
                      <a16:colId xmlns:a16="http://schemas.microsoft.com/office/drawing/2014/main" val="1924978148"/>
                    </a:ext>
                  </a:extLst>
                </a:gridCol>
              </a:tblGrid>
              <a:tr h="5975046">
                <a:tc>
                  <a:txBody>
                    <a:bodyPr/>
                    <a:lstStyle/>
                    <a:p>
                      <a:pPr marL="0" indent="0">
                        <a:buNone/>
                      </a:pPr>
                      <a:endParaRPr lang="en-US" dirty="0"/>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endParaRPr lang="en-US" dirty="0">
                        <a:solidFill>
                          <a:schemeClr val="accent5">
                            <a:lumMod val="50000"/>
                          </a:schemeClr>
                        </a:solidFill>
                      </a:endParaRPr>
                    </a:p>
                    <a:p>
                      <a:r>
                        <a:rPr lang="en-US" u="sng" dirty="0">
                          <a:solidFill>
                            <a:schemeClr val="accent5">
                              <a:lumMod val="50000"/>
                            </a:schemeClr>
                          </a:solidFill>
                        </a:rPr>
                        <a:t>The key question to keep in mind is: </a:t>
                      </a:r>
                    </a:p>
                    <a:p>
                      <a:pPr algn="just"/>
                      <a:r>
                        <a:rPr lang="en-US" dirty="0">
                          <a:solidFill>
                            <a:schemeClr val="accent5">
                              <a:lumMod val="75000"/>
                            </a:schemeClr>
                          </a:solidFill>
                        </a:rPr>
                        <a:t>Would people have done things differently if they had seen the bigger picture and recognized the consequences of their actions? It is important to introduce ethics into classrooms to help students develop ethical decision-making skills, skills that could prevent the next catastrophe and save their careers.</a:t>
                      </a:r>
                      <a:endParaRPr lang="en-GB" dirty="0">
                        <a:solidFill>
                          <a:schemeClr val="accent5">
                            <a:lumMod val="75000"/>
                          </a:schemeClr>
                        </a:solidFill>
                      </a:endParaRPr>
                    </a:p>
                    <a:p>
                      <a:endParaRPr lang="en-GB" dirty="0"/>
                    </a:p>
                  </a:txBody>
                  <a:tcPr/>
                </a:tc>
                <a:tc>
                  <a:txBody>
                    <a:bodyPr/>
                    <a:lstStyle/>
                    <a:p>
                      <a:r>
                        <a:rPr lang="en-GB" sz="1800" b="0" i="0" u="none" strike="noStrike" kern="1200" baseline="0" dirty="0">
                          <a:solidFill>
                            <a:schemeClr val="tx1"/>
                          </a:solidFill>
                          <a:latin typeface="+mn-lt"/>
                          <a:ea typeface="+mn-ea"/>
                          <a:cs typeface="+mn-cs"/>
                        </a:rPr>
                        <a:t>As demonstrated </a:t>
                      </a:r>
                      <a:r>
                        <a:rPr lang="en-US" sz="1800" b="0" i="0" u="none" strike="noStrike" kern="1200" baseline="0" dirty="0">
                          <a:solidFill>
                            <a:schemeClr val="tx1"/>
                          </a:solidFill>
                          <a:latin typeface="+mn-lt"/>
                          <a:ea typeface="+mn-ea"/>
                          <a:cs typeface="+mn-cs"/>
                        </a:rPr>
                        <a:t>by multiple surveys, hiring organizations regard skills directly tied to</a:t>
                      </a:r>
                    </a:p>
                    <a:p>
                      <a:r>
                        <a:rPr lang="en-US" sz="1800" b="0" i="0" u="none" strike="noStrike" kern="1200" baseline="0" dirty="0">
                          <a:solidFill>
                            <a:schemeClr val="tx1"/>
                          </a:solidFill>
                          <a:latin typeface="+mn-lt"/>
                          <a:ea typeface="+mn-ea"/>
                          <a:cs typeface="+mn-cs"/>
                        </a:rPr>
                        <a:t>ethical decision-making as top attributes in graduates. </a:t>
                      </a:r>
                    </a:p>
                    <a:p>
                      <a:endParaRPr lang="en-US" sz="1800" b="0" i="0" u="none" strike="noStrike" kern="1200" baseline="0" dirty="0">
                        <a:solidFill>
                          <a:schemeClr val="tx1"/>
                        </a:solidFill>
                        <a:latin typeface="+mn-lt"/>
                        <a:ea typeface="+mn-ea"/>
                        <a:cs typeface="+mn-cs"/>
                      </a:endParaRPr>
                    </a:p>
                    <a:p>
                      <a:r>
                        <a:rPr lang="en-US" sz="1800" b="0" i="0" u="none" strike="noStrike" kern="1200" baseline="0" dirty="0">
                          <a:solidFill>
                            <a:schemeClr val="tx1"/>
                          </a:solidFill>
                          <a:latin typeface="+mn-lt"/>
                          <a:ea typeface="+mn-ea"/>
                          <a:cs typeface="+mn-cs"/>
                        </a:rPr>
                        <a:t>These skills include </a:t>
                      </a:r>
                      <a:r>
                        <a:rPr lang="en-US" sz="1800" b="0" i="0" u="none" strike="noStrike" kern="1200" baseline="0" dirty="0">
                          <a:solidFill>
                            <a:schemeClr val="accent6">
                              <a:lumMod val="75000"/>
                            </a:schemeClr>
                          </a:solidFill>
                          <a:latin typeface="+mn-lt"/>
                          <a:ea typeface="+mn-ea"/>
                          <a:cs typeface="+mn-cs"/>
                        </a:rPr>
                        <a:t>integrity</a:t>
                      </a:r>
                      <a:r>
                        <a:rPr lang="en-US" sz="1800" b="0" i="0" u="none" strike="noStrike" kern="1200" baseline="0" dirty="0">
                          <a:solidFill>
                            <a:schemeClr val="tx1"/>
                          </a:solidFill>
                          <a:latin typeface="+mn-lt"/>
                          <a:ea typeface="+mn-ea"/>
                          <a:cs typeface="+mn-cs"/>
                        </a:rPr>
                        <a:t>, </a:t>
                      </a:r>
                      <a:r>
                        <a:rPr lang="en-US" sz="1800" b="0" i="0" u="none" strike="noStrike" kern="1200" baseline="0" dirty="0">
                          <a:solidFill>
                            <a:schemeClr val="accent5">
                              <a:lumMod val="75000"/>
                            </a:schemeClr>
                          </a:solidFill>
                          <a:latin typeface="+mn-lt"/>
                          <a:ea typeface="+mn-ea"/>
                          <a:cs typeface="+mn-cs"/>
                        </a:rPr>
                        <a:t>ethics</a:t>
                      </a:r>
                      <a:r>
                        <a:rPr lang="en-US" sz="1800" b="0" i="0" u="none" strike="noStrike" kern="1200" baseline="0" dirty="0">
                          <a:solidFill>
                            <a:schemeClr val="tx1"/>
                          </a:solidFill>
                          <a:latin typeface="+mn-lt"/>
                          <a:ea typeface="+mn-ea"/>
                          <a:cs typeface="+mn-cs"/>
                        </a:rPr>
                        <a:t>, </a:t>
                      </a:r>
                      <a:r>
                        <a:rPr lang="en-US" sz="1800" b="0" i="0" u="none" strike="noStrike" kern="1200" baseline="0" dirty="0">
                          <a:solidFill>
                            <a:srgbClr val="FF0000"/>
                          </a:solidFill>
                          <a:latin typeface="+mn-lt"/>
                          <a:ea typeface="+mn-ea"/>
                          <a:cs typeface="+mn-cs"/>
                        </a:rPr>
                        <a:t>critical thinking</a:t>
                      </a:r>
                      <a:r>
                        <a:rPr lang="en-US" sz="1800" b="0" i="0" u="none" strike="noStrike" kern="1200" baseline="0" dirty="0">
                          <a:solidFill>
                            <a:schemeClr val="tx1"/>
                          </a:solidFill>
                          <a:latin typeface="+mn-lt"/>
                          <a:ea typeface="+mn-ea"/>
                          <a:cs typeface="+mn-cs"/>
                        </a:rPr>
                        <a:t>, </a:t>
                      </a:r>
                      <a:r>
                        <a:rPr lang="en-US" sz="1800" b="0" i="0" u="none" strike="noStrike" kern="1200" baseline="0" dirty="0">
                          <a:solidFill>
                            <a:srgbClr val="7030A0"/>
                          </a:solidFill>
                          <a:latin typeface="+mn-lt"/>
                          <a:ea typeface="+mn-ea"/>
                          <a:cs typeface="+mn-cs"/>
                        </a:rPr>
                        <a:t>problem solving</a:t>
                      </a:r>
                      <a:r>
                        <a:rPr lang="en-US" sz="1800" b="0" i="0" u="none" strike="noStrike" kern="1200" baseline="0" dirty="0">
                          <a:solidFill>
                            <a:schemeClr val="tx1"/>
                          </a:solidFill>
                          <a:latin typeface="+mn-lt"/>
                          <a:ea typeface="+mn-ea"/>
                          <a:cs typeface="+mn-cs"/>
                        </a:rPr>
                        <a:t>, and </a:t>
                      </a:r>
                      <a:r>
                        <a:rPr lang="en-US" sz="1800" b="0" i="0" u="none" strike="noStrike" kern="1200" baseline="0" dirty="0">
                          <a:solidFill>
                            <a:srgbClr val="FFC000"/>
                          </a:solidFill>
                          <a:latin typeface="+mn-lt"/>
                          <a:ea typeface="+mn-ea"/>
                          <a:cs typeface="+mn-cs"/>
                        </a:rPr>
                        <a:t>leadership</a:t>
                      </a:r>
                      <a:r>
                        <a:rPr lang="en-US" sz="1800" b="0" i="0" u="none" strike="noStrike" kern="1200" baseline="0" dirty="0">
                          <a:solidFill>
                            <a:schemeClr val="tx1"/>
                          </a:solidFill>
                          <a:latin typeface="+mn-lt"/>
                          <a:ea typeface="+mn-ea"/>
                          <a:cs typeface="+mn-cs"/>
                        </a:rPr>
                        <a:t>. </a:t>
                      </a:r>
                    </a:p>
                    <a:p>
                      <a:endParaRPr lang="en-US" sz="1800" b="0" i="0" u="none" strike="noStrike" kern="1200" baseline="0" dirty="0">
                        <a:solidFill>
                          <a:schemeClr val="tx1"/>
                        </a:solidFill>
                        <a:latin typeface="+mn-lt"/>
                        <a:ea typeface="+mn-ea"/>
                        <a:cs typeface="+mn-cs"/>
                      </a:endParaRPr>
                    </a:p>
                    <a:p>
                      <a:r>
                        <a:rPr lang="en-US" sz="1800" b="0" i="0" u="none" strike="noStrike" kern="1200" baseline="0" dirty="0">
                          <a:solidFill>
                            <a:schemeClr val="tx1"/>
                          </a:solidFill>
                          <a:latin typeface="+mn-lt"/>
                          <a:ea typeface="+mn-ea"/>
                          <a:cs typeface="+mn-cs"/>
                        </a:rPr>
                        <a:t>However, the same surveys also reveal these skills are considered rare among graduates.</a:t>
                      </a:r>
                    </a:p>
                    <a:p>
                      <a:endParaRPr lang="en-US" sz="1800" b="0" i="0" u="none" strike="noStrike" kern="1200" baseline="0" dirty="0">
                        <a:solidFill>
                          <a:schemeClr val="tx1"/>
                        </a:solidFill>
                        <a:latin typeface="+mn-lt"/>
                        <a:ea typeface="+mn-ea"/>
                        <a:cs typeface="+mn-cs"/>
                      </a:endParaRPr>
                    </a:p>
                    <a:p>
                      <a:r>
                        <a:rPr lang="en-US" sz="1800" b="0" i="0" u="none" strike="noStrike" kern="1200" baseline="0" dirty="0">
                          <a:solidFill>
                            <a:schemeClr val="tx1"/>
                          </a:solidFill>
                          <a:latin typeface="+mn-lt"/>
                          <a:ea typeface="+mn-ea"/>
                          <a:cs typeface="+mn-cs"/>
                        </a:rPr>
                        <a:t>Students possessing these skills graduate with an immediate competitive advantage that can be leveraged into a job.</a:t>
                      </a:r>
                    </a:p>
                    <a:p>
                      <a:endParaRPr lang="en-GB" dirty="0"/>
                    </a:p>
                  </a:txBody>
                  <a:tcPr/>
                </a:tc>
                <a:extLst>
                  <a:ext uri="{0D108BD9-81ED-4DB2-BD59-A6C34878D82A}">
                    <a16:rowId xmlns:a16="http://schemas.microsoft.com/office/drawing/2014/main" val="176165386"/>
                  </a:ext>
                </a:extLst>
              </a:tr>
            </a:tbl>
          </a:graphicData>
        </a:graphic>
      </p:graphicFrame>
      <p:graphicFrame>
        <p:nvGraphicFramePr>
          <p:cNvPr id="3" name="Table 4">
            <a:extLst>
              <a:ext uri="{FF2B5EF4-FFF2-40B4-BE49-F238E27FC236}">
                <a16:creationId xmlns:a16="http://schemas.microsoft.com/office/drawing/2014/main" id="{A084A6B9-F42D-4C5F-9E8E-711D5161168C}"/>
              </a:ext>
            </a:extLst>
          </p:cNvPr>
          <p:cNvGraphicFramePr>
            <a:graphicFrameLocks noGrp="1"/>
          </p:cNvGraphicFramePr>
          <p:nvPr>
            <p:extLst>
              <p:ext uri="{D42A27DB-BD31-4B8C-83A1-F6EECF244321}">
                <p14:modId xmlns:p14="http://schemas.microsoft.com/office/powerpoint/2010/main" val="1187591699"/>
              </p:ext>
            </p:extLst>
          </p:nvPr>
        </p:nvGraphicFramePr>
        <p:xfrm>
          <a:off x="838200" y="1225121"/>
          <a:ext cx="5065450" cy="3204838"/>
        </p:xfrm>
        <a:graphic>
          <a:graphicData uri="http://schemas.openxmlformats.org/drawingml/2006/table">
            <a:tbl>
              <a:tblPr firstRow="1" bandRow="1">
                <a:tableStyleId>{BDBED569-4797-4DF1-A0F4-6AAB3CD982D8}</a:tableStyleId>
              </a:tblPr>
              <a:tblGrid>
                <a:gridCol w="5065450">
                  <a:extLst>
                    <a:ext uri="{9D8B030D-6E8A-4147-A177-3AD203B41FA5}">
                      <a16:colId xmlns:a16="http://schemas.microsoft.com/office/drawing/2014/main" val="3266730439"/>
                    </a:ext>
                  </a:extLst>
                </a:gridCol>
              </a:tblGrid>
              <a:tr h="3204838">
                <a:tc>
                  <a:txBody>
                    <a:bodyPr/>
                    <a:lstStyle/>
                    <a:p>
                      <a:pPr marL="285750" indent="-285750">
                        <a:buFont typeface="Arial" panose="020B0604020202020204" pitchFamily="34" charset="0"/>
                        <a:buChar char="•"/>
                      </a:pPr>
                      <a:r>
                        <a:rPr lang="en-US" b="0" dirty="0"/>
                        <a:t>Similarly, technicians on BP’s Deepwater Horizon oil rig continued drilling even though their blowout preventer was defective, faulty software was causing their systems to crash, their emergency alarms were disabled and a $500,000 acoustic trigger, which could have shutdown a busted well, was not installed. </a:t>
                      </a:r>
                    </a:p>
                    <a:p>
                      <a:pPr marL="0" indent="0">
                        <a:buNone/>
                      </a:pPr>
                      <a:endParaRPr lang="en-US" b="0" dirty="0"/>
                    </a:p>
                    <a:p>
                      <a:pPr marL="285750" indent="-285750">
                        <a:buFont typeface="Arial" panose="020B0604020202020204" pitchFamily="34" charset="0"/>
                        <a:buChar char="•"/>
                      </a:pPr>
                      <a:r>
                        <a:rPr lang="en-US" b="0" dirty="0"/>
                        <a:t>In this incident, eleven BP employees were killed, 17 more were injured, and nearly 5 million barrels of oil leaked into the Gulf of Mexico.</a:t>
                      </a:r>
                    </a:p>
                  </a:txBody>
                  <a:tcPr/>
                </a:tc>
                <a:extLst>
                  <a:ext uri="{0D108BD9-81ED-4DB2-BD59-A6C34878D82A}">
                    <a16:rowId xmlns:a16="http://schemas.microsoft.com/office/drawing/2014/main" val="3622115214"/>
                  </a:ext>
                </a:extLst>
              </a:tr>
            </a:tbl>
          </a:graphicData>
        </a:graphic>
      </p:graphicFrame>
    </p:spTree>
    <p:extLst>
      <p:ext uri="{BB962C8B-B14F-4D97-AF65-F5344CB8AC3E}">
        <p14:creationId xmlns:p14="http://schemas.microsoft.com/office/powerpoint/2010/main" val="1926584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0CA2D-D173-45DA-AC6F-05F4220EE160}"/>
              </a:ext>
            </a:extLst>
          </p:cNvPr>
          <p:cNvSpPr>
            <a:spLocks noGrp="1"/>
          </p:cNvSpPr>
          <p:nvPr>
            <p:ph type="title"/>
          </p:nvPr>
        </p:nvSpPr>
        <p:spPr>
          <a:xfrm>
            <a:off x="838200" y="97655"/>
            <a:ext cx="10515600" cy="923277"/>
          </a:xfrm>
        </p:spPr>
        <p:txBody>
          <a:bodyPr/>
          <a:lstStyle/>
          <a:p>
            <a:r>
              <a:rPr lang="en-US" b="1" dirty="0"/>
              <a:t>Introduction</a:t>
            </a:r>
            <a:endParaRPr lang="en-GB" b="1" dirty="0"/>
          </a:p>
        </p:txBody>
      </p:sp>
      <p:sp>
        <p:nvSpPr>
          <p:cNvPr id="3" name="Content Placeholder 2">
            <a:extLst>
              <a:ext uri="{FF2B5EF4-FFF2-40B4-BE49-F238E27FC236}">
                <a16:creationId xmlns:a16="http://schemas.microsoft.com/office/drawing/2014/main" id="{A34C2BC6-468A-4FC1-9620-7E9588A53B04}"/>
              </a:ext>
            </a:extLst>
          </p:cNvPr>
          <p:cNvSpPr>
            <a:spLocks noGrp="1"/>
          </p:cNvSpPr>
          <p:nvPr>
            <p:ph idx="1"/>
          </p:nvPr>
        </p:nvSpPr>
        <p:spPr>
          <a:xfrm>
            <a:off x="838200" y="1020932"/>
            <a:ext cx="10515600" cy="5837068"/>
          </a:xfrm>
        </p:spPr>
        <p:txBody>
          <a:bodyPr>
            <a:normAutofit fontScale="62500" lnSpcReduction="20000"/>
          </a:bodyPr>
          <a:lstStyle/>
          <a:p>
            <a:pPr algn="l"/>
            <a:r>
              <a:rPr lang="en-US" sz="2800" b="0" i="0" u="none" strike="noStrike" baseline="0" dirty="0">
                <a:latin typeface="Gotham-Book"/>
              </a:rPr>
              <a:t>Extensive research has also revealed the impact of ethical and unethical leaders on the workforce. </a:t>
            </a:r>
            <a:r>
              <a:rPr lang="en-US" sz="2800" b="1" i="0" u="none" strike="noStrike" baseline="0" dirty="0">
                <a:latin typeface="Gotham-Book"/>
              </a:rPr>
              <a:t>Ethical leaders </a:t>
            </a:r>
            <a:r>
              <a:rPr lang="en-US" sz="2800" b="0" i="0" u="none" strike="noStrike" baseline="0" dirty="0">
                <a:latin typeface="Gotham-Book"/>
              </a:rPr>
              <a:t>create trust and high-quality relationships, nurture higher job satisfaction and commitment, and lower counterproductive behavior in their peers. </a:t>
            </a:r>
          </a:p>
          <a:p>
            <a:pPr algn="l"/>
            <a:endParaRPr lang="en-US" sz="2800" b="0" i="0" u="none" strike="noStrike" baseline="0" dirty="0">
              <a:latin typeface="Gotham-Book"/>
            </a:endParaRPr>
          </a:p>
          <a:p>
            <a:pPr algn="l"/>
            <a:r>
              <a:rPr lang="en-US" sz="2800" b="0" i="0" u="none" strike="noStrike" baseline="0" dirty="0">
                <a:latin typeface="Gotham-Book"/>
              </a:rPr>
              <a:t>On the other hand, </a:t>
            </a:r>
            <a:r>
              <a:rPr lang="en-US" sz="2800" b="1" i="0" u="none" strike="noStrike" baseline="0" dirty="0">
                <a:latin typeface="Gotham-Book"/>
              </a:rPr>
              <a:t>unethical leaders </a:t>
            </a:r>
            <a:r>
              <a:rPr lang="en-US" sz="2800" b="0" i="0" u="none" strike="noStrike" baseline="0" dirty="0">
                <a:latin typeface="Gotham-Book"/>
              </a:rPr>
              <a:t>encounter increased resistance, raise intentions to quit, and lower performance in peers. Developing ethical decision-making skills in students better positions them to receive future </a:t>
            </a:r>
            <a:r>
              <a:rPr lang="en-GB" sz="2800" b="0" i="0" u="none" strike="noStrike" baseline="0" dirty="0">
                <a:latin typeface="Gotham-Book"/>
              </a:rPr>
              <a:t>promotions to managerial roles.</a:t>
            </a:r>
          </a:p>
          <a:p>
            <a:pPr algn="l"/>
            <a:endParaRPr lang="en-GB" sz="2800" b="0" i="0" u="none" strike="noStrike" baseline="0" dirty="0">
              <a:latin typeface="Gotham-Book"/>
            </a:endParaRPr>
          </a:p>
          <a:p>
            <a:pPr algn="l"/>
            <a:r>
              <a:rPr lang="en-US" dirty="0">
                <a:latin typeface="Gotham-Book"/>
              </a:rPr>
              <a:t>M</a:t>
            </a:r>
            <a:r>
              <a:rPr lang="en-US" sz="2800" b="0" i="0" u="none" strike="noStrike" baseline="0" dirty="0">
                <a:latin typeface="Gotham-Book"/>
              </a:rPr>
              <a:t>any institutions still fail to develop these skills in their students.</a:t>
            </a:r>
          </a:p>
          <a:p>
            <a:pPr algn="l"/>
            <a:endParaRPr lang="en-US" dirty="0">
              <a:latin typeface="Gotham-Book"/>
            </a:endParaRPr>
          </a:p>
          <a:p>
            <a:pPr algn="l"/>
            <a:r>
              <a:rPr lang="en-US" sz="2800" b="0" i="0" u="none" strike="noStrike" baseline="0" dirty="0">
                <a:latin typeface="Gotham-Book"/>
              </a:rPr>
              <a:t> So what does it take to develop a sustainable ethical mindset, that internal compass that can guide individuals in the “right” direction?</a:t>
            </a:r>
          </a:p>
          <a:p>
            <a:pPr algn="l"/>
            <a:endParaRPr lang="en-US" sz="2800" b="0" i="0" u="none" strike="noStrike" baseline="0" dirty="0">
              <a:latin typeface="Gotham-Book"/>
            </a:endParaRPr>
          </a:p>
          <a:p>
            <a:pPr algn="l"/>
            <a:r>
              <a:rPr lang="en-US" dirty="0"/>
              <a:t>The first step to developing an ethical mindset and avoiding the compartmentalization of unethical decisions as “just business” is realizing that there is </a:t>
            </a:r>
            <a:r>
              <a:rPr lang="en-US" b="1" dirty="0"/>
              <a:t>not a set method </a:t>
            </a:r>
            <a:r>
              <a:rPr lang="en-US" dirty="0"/>
              <a:t>that will consistently produce highly ethical decisions and actions. The adoption of such a method only leads to </a:t>
            </a:r>
            <a:r>
              <a:rPr lang="en-US" u="sng" dirty="0"/>
              <a:t>complacency</a:t>
            </a:r>
            <a:r>
              <a:rPr lang="en-US" dirty="0"/>
              <a:t> and the </a:t>
            </a:r>
            <a:r>
              <a:rPr lang="en-US" u="sng" dirty="0"/>
              <a:t>diminishment of ethical awareness</a:t>
            </a:r>
            <a:r>
              <a:rPr lang="en-US" dirty="0"/>
              <a:t>.</a:t>
            </a:r>
          </a:p>
          <a:p>
            <a:pPr algn="l"/>
            <a:endParaRPr lang="en-US" dirty="0"/>
          </a:p>
          <a:p>
            <a:pPr algn="l"/>
            <a:r>
              <a:rPr lang="en-US" dirty="0"/>
              <a:t>The answer lies in being open to fresh perspectives and new information, asking pertinent questions, voicing our convictions, and </a:t>
            </a:r>
            <a:r>
              <a:rPr lang="en-US" b="1" dirty="0"/>
              <a:t>continually reexamining </a:t>
            </a:r>
            <a:r>
              <a:rPr lang="en-US" dirty="0"/>
              <a:t>the soundness of our ethical standards. This provides a window through which we can view our behavior and actions more objectively and clearly recognize the consequences of those actions.</a:t>
            </a:r>
            <a:endParaRPr lang="en-GB" dirty="0"/>
          </a:p>
        </p:txBody>
      </p:sp>
    </p:spTree>
    <p:extLst>
      <p:ext uri="{BB962C8B-B14F-4D97-AF65-F5344CB8AC3E}">
        <p14:creationId xmlns:p14="http://schemas.microsoft.com/office/powerpoint/2010/main" val="576269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0F9AB-0795-4C2E-8C69-CE0AED36EB4B}"/>
              </a:ext>
            </a:extLst>
          </p:cNvPr>
          <p:cNvSpPr>
            <a:spLocks noGrp="1"/>
          </p:cNvSpPr>
          <p:nvPr>
            <p:ph type="title"/>
          </p:nvPr>
        </p:nvSpPr>
        <p:spPr>
          <a:xfrm>
            <a:off x="838200" y="89919"/>
            <a:ext cx="10515600" cy="877748"/>
          </a:xfrm>
        </p:spPr>
        <p:txBody>
          <a:bodyPr/>
          <a:lstStyle/>
          <a:p>
            <a:r>
              <a:rPr lang="en-US" b="1" dirty="0"/>
              <a:t>Sustaining an ethical frame of mind</a:t>
            </a:r>
            <a:endParaRPr lang="en-GB" b="1" dirty="0"/>
          </a:p>
        </p:txBody>
      </p:sp>
      <p:sp>
        <p:nvSpPr>
          <p:cNvPr id="3" name="Content Placeholder 2">
            <a:extLst>
              <a:ext uri="{FF2B5EF4-FFF2-40B4-BE49-F238E27FC236}">
                <a16:creationId xmlns:a16="http://schemas.microsoft.com/office/drawing/2014/main" id="{EBFC5FAF-38A4-4597-BF55-6FD6612F8B78}"/>
              </a:ext>
            </a:extLst>
          </p:cNvPr>
          <p:cNvSpPr>
            <a:spLocks noGrp="1"/>
          </p:cNvSpPr>
          <p:nvPr>
            <p:ph idx="1"/>
          </p:nvPr>
        </p:nvSpPr>
        <p:spPr>
          <a:xfrm>
            <a:off x="838200" y="1384917"/>
            <a:ext cx="10515600" cy="4792046"/>
          </a:xfrm>
        </p:spPr>
        <p:txBody>
          <a:bodyPr/>
          <a:lstStyle/>
          <a:p>
            <a:pPr marL="0" indent="0" algn="l">
              <a:buNone/>
            </a:pPr>
            <a:r>
              <a:rPr lang="en-US" sz="1800" b="0" i="0" u="none" strike="noStrike" baseline="0" dirty="0">
                <a:latin typeface="Gotham-Book"/>
              </a:rPr>
              <a:t>.</a:t>
            </a:r>
            <a:endParaRPr lang="en-GB" sz="1800" b="0" i="0" u="none" strike="noStrike" baseline="0" dirty="0">
              <a:latin typeface="Gotham-Book"/>
            </a:endParaRPr>
          </a:p>
        </p:txBody>
      </p:sp>
      <p:graphicFrame>
        <p:nvGraphicFramePr>
          <p:cNvPr id="5" name="Table 5">
            <a:extLst>
              <a:ext uri="{FF2B5EF4-FFF2-40B4-BE49-F238E27FC236}">
                <a16:creationId xmlns:a16="http://schemas.microsoft.com/office/drawing/2014/main" id="{AE255F9D-CE17-46DB-9EF8-57C0BB4BEBD5}"/>
              </a:ext>
            </a:extLst>
          </p:cNvPr>
          <p:cNvGraphicFramePr>
            <a:graphicFrameLocks noGrp="1"/>
          </p:cNvGraphicFramePr>
          <p:nvPr>
            <p:extLst>
              <p:ext uri="{D42A27DB-BD31-4B8C-83A1-F6EECF244321}">
                <p14:modId xmlns:p14="http://schemas.microsoft.com/office/powerpoint/2010/main" val="836263355"/>
              </p:ext>
            </p:extLst>
          </p:nvPr>
        </p:nvGraphicFramePr>
        <p:xfrm>
          <a:off x="914400" y="1384917"/>
          <a:ext cx="9898602" cy="4616387"/>
        </p:xfrm>
        <a:graphic>
          <a:graphicData uri="http://schemas.openxmlformats.org/drawingml/2006/table">
            <a:tbl>
              <a:tblPr firstRow="1" bandRow="1">
                <a:tableStyleId>{5940675A-B579-460E-94D1-54222C63F5DA}</a:tableStyleId>
              </a:tblPr>
              <a:tblGrid>
                <a:gridCol w="3986074">
                  <a:extLst>
                    <a:ext uri="{9D8B030D-6E8A-4147-A177-3AD203B41FA5}">
                      <a16:colId xmlns:a16="http://schemas.microsoft.com/office/drawing/2014/main" val="2409015622"/>
                    </a:ext>
                  </a:extLst>
                </a:gridCol>
                <a:gridCol w="5912528">
                  <a:extLst>
                    <a:ext uri="{9D8B030D-6E8A-4147-A177-3AD203B41FA5}">
                      <a16:colId xmlns:a16="http://schemas.microsoft.com/office/drawing/2014/main" val="2773495191"/>
                    </a:ext>
                  </a:extLst>
                </a:gridCol>
              </a:tblGrid>
              <a:tr h="46163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baseline="0" dirty="0"/>
                        <a:t>The past two and a half decades of ethics scholarship tells us of </a:t>
                      </a:r>
                      <a:r>
                        <a:rPr lang="en-US" sz="1800" b="1" u="none" strike="noStrike" baseline="0" dirty="0"/>
                        <a:t>four</a:t>
                      </a:r>
                      <a:r>
                        <a:rPr lang="en-US" sz="1800" b="0" u="none" strike="noStrike" baseline="0" dirty="0"/>
                        <a:t> common situations in business that present ethical issues and dilemmas. These situations can cause employees, who are morally scrupulous in their personal lives, to compartmentalize unethical behavior at work as “just business.”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u="none" strike="noStrike"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u="none" strike="noStrike"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baseline="0" dirty="0"/>
                        <a:t>These four </a:t>
                      </a:r>
                      <a:r>
                        <a:rPr lang="en-GB" sz="1800" b="0" u="none" strike="noStrike" baseline="0" dirty="0"/>
                        <a:t>situations are the following:</a:t>
                      </a:r>
                    </a:p>
                    <a:p>
                      <a:endParaRPr lang="en-GB" dirty="0"/>
                    </a:p>
                  </a:txBody>
                  <a:tcPr/>
                </a:tc>
                <a:tc>
                  <a:txBody>
                    <a:bodyPr/>
                    <a:lstStyle/>
                    <a:p>
                      <a:pPr marL="285750" indent="-285750">
                        <a:buFont typeface="Arial" panose="020B0604020202020204" pitchFamily="34" charset="0"/>
                        <a:buChar char="•"/>
                      </a:pPr>
                      <a:r>
                        <a:rPr lang="en-US" sz="1800" b="1" u="none" strike="noStrike" kern="1200" baseline="0" dirty="0">
                          <a:solidFill>
                            <a:srgbClr val="FF0000"/>
                          </a:solidFill>
                        </a:rPr>
                        <a:t>Conflict of Interest: </a:t>
                      </a:r>
                      <a:r>
                        <a:rPr lang="en-US" sz="1800" b="0" u="none" strike="noStrike" kern="1200" baseline="0" dirty="0">
                          <a:solidFill>
                            <a:schemeClr val="tx1"/>
                          </a:solidFill>
                        </a:rPr>
                        <a:t>Situations where the objectivity of one’s judgement is compromised or appears to others to be compromised.</a:t>
                      </a:r>
                    </a:p>
                    <a:p>
                      <a:pPr marL="285750" indent="-285750">
                        <a:buFont typeface="Arial" panose="020B0604020202020204" pitchFamily="34" charset="0"/>
                        <a:buChar char="•"/>
                      </a:pPr>
                      <a:endParaRPr lang="en-US" sz="1800" b="0" u="none" strike="noStrike" kern="1200" baseline="0" dirty="0">
                        <a:solidFill>
                          <a:schemeClr val="tx1"/>
                        </a:solidFill>
                      </a:endParaRPr>
                    </a:p>
                    <a:p>
                      <a:pPr marL="285750" indent="-285750">
                        <a:buFont typeface="Arial" panose="020B0604020202020204" pitchFamily="34" charset="0"/>
                        <a:buChar char="•"/>
                      </a:pPr>
                      <a:r>
                        <a:rPr lang="en-US" sz="1800" b="1" u="none" strike="noStrike" kern="1200" baseline="0" dirty="0">
                          <a:solidFill>
                            <a:srgbClr val="FF0000"/>
                          </a:solidFill>
                        </a:rPr>
                        <a:t>Information Confidentiality: </a:t>
                      </a:r>
                      <a:r>
                        <a:rPr lang="en-US" sz="1800" b="0" u="none" strike="noStrike" kern="1200" baseline="0" dirty="0">
                          <a:solidFill>
                            <a:schemeClr val="tx1"/>
                          </a:solidFill>
                        </a:rPr>
                        <a:t>Situations that involve obligations to protect the privacy of information and those who provide it.</a:t>
                      </a:r>
                    </a:p>
                    <a:p>
                      <a:pPr marL="285750" indent="-285750">
                        <a:buFont typeface="Arial" panose="020B0604020202020204" pitchFamily="34" charset="0"/>
                        <a:buChar char="•"/>
                      </a:pPr>
                      <a:endParaRPr lang="en-US" sz="1800" b="0" u="none" strike="noStrike" kern="1200" baseline="0" dirty="0">
                        <a:solidFill>
                          <a:schemeClr val="tx1"/>
                        </a:solidFill>
                      </a:endParaRPr>
                    </a:p>
                    <a:p>
                      <a:pPr marL="285750" indent="-285750">
                        <a:buFont typeface="Arial" panose="020B0604020202020204" pitchFamily="34" charset="0"/>
                        <a:buChar char="•"/>
                      </a:pPr>
                      <a:r>
                        <a:rPr lang="en-US" sz="1800" b="1" u="none" strike="noStrike" kern="1200" baseline="0" dirty="0">
                          <a:solidFill>
                            <a:srgbClr val="FF0000"/>
                          </a:solidFill>
                        </a:rPr>
                        <a:t>Right and Responsibilities: </a:t>
                      </a:r>
                      <a:r>
                        <a:rPr lang="en-US" sz="1800" b="0" u="none" strike="noStrike" kern="1200" baseline="0" dirty="0">
                          <a:solidFill>
                            <a:schemeClr val="tx1"/>
                          </a:solidFill>
                        </a:rPr>
                        <a:t>Situations that involve ensuring individual rights to equal opportunity, dignity, and freedom from harassment or disrespect.</a:t>
                      </a:r>
                    </a:p>
                    <a:p>
                      <a:pPr marL="285750" indent="-285750">
                        <a:buFont typeface="Arial" panose="020B0604020202020204" pitchFamily="34" charset="0"/>
                        <a:buChar char="•"/>
                      </a:pPr>
                      <a:endParaRPr lang="en-US" sz="1800" b="0" u="none" strike="noStrike" kern="1200" baseline="0" dirty="0">
                        <a:solidFill>
                          <a:schemeClr val="tx1"/>
                        </a:solidFill>
                      </a:endParaRPr>
                    </a:p>
                    <a:p>
                      <a:pPr marL="285750" indent="-285750">
                        <a:buFont typeface="Arial" panose="020B0604020202020204" pitchFamily="34" charset="0"/>
                        <a:buChar char="•"/>
                      </a:pPr>
                      <a:r>
                        <a:rPr lang="en-US" sz="1800" b="1" u="none" strike="noStrike" kern="1200" baseline="0" dirty="0">
                          <a:solidFill>
                            <a:srgbClr val="FF0000"/>
                          </a:solidFill>
                        </a:rPr>
                        <a:t>Use of Resources: </a:t>
                      </a:r>
                      <a:r>
                        <a:rPr lang="en-US" sz="1800" b="0" u="none" strike="noStrike" kern="1200" baseline="0" dirty="0">
                          <a:solidFill>
                            <a:schemeClr val="tx1"/>
                          </a:solidFill>
                        </a:rPr>
                        <a:t>Situations that require acting responsibly with company resources such as money, property, and corporate reputation.</a:t>
                      </a:r>
                      <a:endParaRPr lang="en-GB" dirty="0">
                        <a:solidFill>
                          <a:schemeClr val="tx1"/>
                        </a:solidFill>
                      </a:endParaRPr>
                    </a:p>
                  </a:txBody>
                  <a:tcPr/>
                </a:tc>
                <a:extLst>
                  <a:ext uri="{0D108BD9-81ED-4DB2-BD59-A6C34878D82A}">
                    <a16:rowId xmlns:a16="http://schemas.microsoft.com/office/drawing/2014/main" val="4071373491"/>
                  </a:ext>
                </a:extLst>
              </a:tr>
            </a:tbl>
          </a:graphicData>
        </a:graphic>
      </p:graphicFrame>
      <p:sp>
        <p:nvSpPr>
          <p:cNvPr id="4" name="Arrow: Right 3">
            <a:extLst>
              <a:ext uri="{FF2B5EF4-FFF2-40B4-BE49-F238E27FC236}">
                <a16:creationId xmlns:a16="http://schemas.microsoft.com/office/drawing/2014/main" id="{54B0EB02-B9C4-4943-9140-BE8206C3A680}"/>
              </a:ext>
            </a:extLst>
          </p:cNvPr>
          <p:cNvSpPr/>
          <p:nvPr/>
        </p:nvSpPr>
        <p:spPr>
          <a:xfrm>
            <a:off x="2157275" y="4891597"/>
            <a:ext cx="1784410" cy="484632"/>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06593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B9986-8384-4B78-AFBD-3A99A984D32A}"/>
              </a:ext>
            </a:extLst>
          </p:cNvPr>
          <p:cNvSpPr>
            <a:spLocks noGrp="1"/>
          </p:cNvSpPr>
          <p:nvPr>
            <p:ph type="title"/>
          </p:nvPr>
        </p:nvSpPr>
        <p:spPr>
          <a:xfrm>
            <a:off x="838200" y="1"/>
            <a:ext cx="10515600" cy="1145218"/>
          </a:xfrm>
        </p:spPr>
        <p:txBody>
          <a:bodyPr/>
          <a:lstStyle/>
          <a:p>
            <a:r>
              <a:rPr lang="en-US" b="1" dirty="0"/>
              <a:t>Ethical standards</a:t>
            </a:r>
            <a:endParaRPr lang="en-GB" b="1" dirty="0"/>
          </a:p>
        </p:txBody>
      </p:sp>
      <p:sp>
        <p:nvSpPr>
          <p:cNvPr id="3" name="Content Placeholder 2">
            <a:extLst>
              <a:ext uri="{FF2B5EF4-FFF2-40B4-BE49-F238E27FC236}">
                <a16:creationId xmlns:a16="http://schemas.microsoft.com/office/drawing/2014/main" id="{BBA1A249-6A00-4569-8F2F-3B897A244E62}"/>
              </a:ext>
            </a:extLst>
          </p:cNvPr>
          <p:cNvSpPr>
            <a:spLocks noGrp="1"/>
          </p:cNvSpPr>
          <p:nvPr>
            <p:ph idx="1"/>
          </p:nvPr>
        </p:nvSpPr>
        <p:spPr>
          <a:xfrm>
            <a:off x="838200" y="1145218"/>
            <a:ext cx="10515600" cy="5254701"/>
          </a:xfrm>
        </p:spPr>
        <p:txBody>
          <a:bodyPr/>
          <a:lstStyle/>
          <a:p>
            <a:pPr algn="l"/>
            <a:r>
              <a:rPr lang="en-US" sz="1800" dirty="0">
                <a:latin typeface="Gotham-Book"/>
              </a:rPr>
              <a:t>We will look at</a:t>
            </a:r>
            <a:r>
              <a:rPr lang="en-US" sz="1800" b="0" i="0" u="none" strike="noStrike" baseline="0" dirty="0">
                <a:latin typeface="Gotham-Book"/>
              </a:rPr>
              <a:t> </a:t>
            </a:r>
            <a:r>
              <a:rPr lang="en-US" sz="1800" dirty="0">
                <a:latin typeface="Gotham-Book"/>
              </a:rPr>
              <a:t>six</a:t>
            </a:r>
            <a:r>
              <a:rPr lang="en-US" sz="1800" b="0" i="0" u="none" strike="noStrike" baseline="0" dirty="0">
                <a:latin typeface="Gotham-Book"/>
              </a:rPr>
              <a:t> ethical standards, or approaches, that can help dissect an ethical dilemma and lead to ethical decisions and actions. The approaches are the following:</a:t>
            </a:r>
          </a:p>
          <a:p>
            <a:pPr algn="l"/>
            <a:endParaRPr lang="en-GB" dirty="0"/>
          </a:p>
        </p:txBody>
      </p:sp>
      <p:graphicFrame>
        <p:nvGraphicFramePr>
          <p:cNvPr id="4" name="Table 4">
            <a:extLst>
              <a:ext uri="{FF2B5EF4-FFF2-40B4-BE49-F238E27FC236}">
                <a16:creationId xmlns:a16="http://schemas.microsoft.com/office/drawing/2014/main" id="{95330FD2-3000-4E43-8B06-C4C1A465C0F8}"/>
              </a:ext>
            </a:extLst>
          </p:cNvPr>
          <p:cNvGraphicFramePr>
            <a:graphicFrameLocks noGrp="1"/>
          </p:cNvGraphicFramePr>
          <p:nvPr>
            <p:extLst>
              <p:ext uri="{D42A27DB-BD31-4B8C-83A1-F6EECF244321}">
                <p14:modId xmlns:p14="http://schemas.microsoft.com/office/powerpoint/2010/main" val="1237429171"/>
              </p:ext>
            </p:extLst>
          </p:nvPr>
        </p:nvGraphicFramePr>
        <p:xfrm>
          <a:off x="1771094" y="2041280"/>
          <a:ext cx="4324905" cy="4235233"/>
        </p:xfrm>
        <a:graphic>
          <a:graphicData uri="http://schemas.openxmlformats.org/drawingml/2006/table">
            <a:tbl>
              <a:tblPr firstRow="1" bandRow="1">
                <a:tableStyleId>{5C22544A-7EE6-4342-B048-85BDC9FD1C3A}</a:tableStyleId>
              </a:tblPr>
              <a:tblGrid>
                <a:gridCol w="4324905">
                  <a:extLst>
                    <a:ext uri="{9D8B030D-6E8A-4147-A177-3AD203B41FA5}">
                      <a16:colId xmlns:a16="http://schemas.microsoft.com/office/drawing/2014/main" val="1025550244"/>
                    </a:ext>
                  </a:extLst>
                </a:gridCol>
              </a:tblGrid>
              <a:tr h="4235233">
                <a:tc>
                  <a:txBody>
                    <a:bodyPr/>
                    <a:lstStyle/>
                    <a:p>
                      <a:pPr marL="342900" indent="-342900" algn="l">
                        <a:buAutoNum type="arabicPeriod"/>
                      </a:pPr>
                      <a:r>
                        <a:rPr lang="en-US" sz="2400" dirty="0"/>
                        <a:t>Utilitarian Approach</a:t>
                      </a:r>
                    </a:p>
                    <a:p>
                      <a:pPr marL="0" indent="0" algn="l">
                        <a:buNone/>
                      </a:pPr>
                      <a:endParaRPr lang="en-US" sz="2400" dirty="0"/>
                    </a:p>
                    <a:p>
                      <a:pPr marL="0" indent="0" algn="l">
                        <a:buNone/>
                      </a:pPr>
                      <a:r>
                        <a:rPr lang="en-US" sz="2400" dirty="0"/>
                        <a:t>2. Deontological Approach</a:t>
                      </a:r>
                    </a:p>
                    <a:p>
                      <a:pPr marL="0" indent="0" algn="l">
                        <a:buNone/>
                      </a:pPr>
                      <a:endParaRPr lang="en-US" sz="2400" dirty="0"/>
                    </a:p>
                    <a:p>
                      <a:pPr marL="0" indent="0" algn="l">
                        <a:buNone/>
                      </a:pPr>
                      <a:r>
                        <a:rPr lang="en-US" sz="2400" dirty="0"/>
                        <a:t>3. Human Rights Approach</a:t>
                      </a:r>
                    </a:p>
                    <a:p>
                      <a:pPr marL="0" indent="0" algn="l">
                        <a:buNone/>
                      </a:pPr>
                      <a:endParaRPr lang="en-US" sz="2400" dirty="0"/>
                    </a:p>
                    <a:p>
                      <a:pPr marL="0" indent="0" algn="l">
                        <a:buNone/>
                      </a:pPr>
                      <a:r>
                        <a:rPr lang="en-US" sz="2400" dirty="0"/>
                        <a:t>4. Fairness Approach</a:t>
                      </a:r>
                    </a:p>
                    <a:p>
                      <a:pPr marL="0" indent="0" algn="l">
                        <a:buNone/>
                      </a:pPr>
                      <a:endParaRPr lang="en-US" sz="2400" dirty="0"/>
                    </a:p>
                    <a:p>
                      <a:pPr marL="0" indent="0" algn="l">
                        <a:buNone/>
                      </a:pPr>
                      <a:r>
                        <a:rPr lang="en-US" sz="2400" dirty="0"/>
                        <a:t>5. Common Good Approach</a:t>
                      </a:r>
                    </a:p>
                    <a:p>
                      <a:pPr marL="342900" indent="-342900" algn="l">
                        <a:buAutoNum type="arabicPeriod"/>
                      </a:pPr>
                      <a:endParaRPr lang="en-US" sz="2400" dirty="0"/>
                    </a:p>
                    <a:p>
                      <a:pPr marL="0" indent="0" algn="l">
                        <a:buNone/>
                      </a:pPr>
                      <a:r>
                        <a:rPr lang="en-US" sz="2400" dirty="0"/>
                        <a:t>6. Virtue approach</a:t>
                      </a:r>
                      <a:endParaRPr lang="en-GB" sz="2400" dirty="0"/>
                    </a:p>
                  </a:txBody>
                  <a:tcPr>
                    <a:solidFill>
                      <a:schemeClr val="accent5">
                        <a:lumMod val="50000"/>
                      </a:schemeClr>
                    </a:solidFill>
                  </a:tcPr>
                </a:tc>
                <a:extLst>
                  <a:ext uri="{0D108BD9-81ED-4DB2-BD59-A6C34878D82A}">
                    <a16:rowId xmlns:a16="http://schemas.microsoft.com/office/drawing/2014/main" val="3553980475"/>
                  </a:ext>
                </a:extLst>
              </a:tr>
            </a:tbl>
          </a:graphicData>
        </a:graphic>
      </p:graphicFrame>
      <p:sp>
        <p:nvSpPr>
          <p:cNvPr id="6" name="TextBox 5">
            <a:extLst>
              <a:ext uri="{FF2B5EF4-FFF2-40B4-BE49-F238E27FC236}">
                <a16:creationId xmlns:a16="http://schemas.microsoft.com/office/drawing/2014/main" id="{CD4777DD-282B-490B-B4BA-871C68B82F02}"/>
              </a:ext>
            </a:extLst>
          </p:cNvPr>
          <p:cNvSpPr txBox="1"/>
          <p:nvPr/>
        </p:nvSpPr>
        <p:spPr>
          <a:xfrm>
            <a:off x="6773661" y="2415557"/>
            <a:ext cx="4074851" cy="2308324"/>
          </a:xfrm>
          <a:prstGeom prst="rect">
            <a:avLst/>
          </a:prstGeom>
          <a:noFill/>
        </p:spPr>
        <p:txBody>
          <a:bodyPr wrap="square">
            <a:spAutoFit/>
          </a:bodyPr>
          <a:lstStyle/>
          <a:p>
            <a:r>
              <a:rPr lang="en-US" dirty="0"/>
              <a:t>These approaches can be thought of as ethical building blocks or frameworks that shape ethical decisions. </a:t>
            </a:r>
          </a:p>
          <a:p>
            <a:endParaRPr lang="en-US" dirty="0"/>
          </a:p>
          <a:p>
            <a:r>
              <a:rPr lang="en-US" dirty="0"/>
              <a:t>It is important to note that every ethical dilemma can be dissected using </a:t>
            </a:r>
            <a:r>
              <a:rPr lang="en-US" b="1" dirty="0"/>
              <a:t>more than one standard</a:t>
            </a:r>
            <a:r>
              <a:rPr lang="en-US" dirty="0"/>
              <a:t> and its end result can </a:t>
            </a:r>
            <a:r>
              <a:rPr lang="en-US" dirty="0">
                <a:solidFill>
                  <a:srgbClr val="FF0000"/>
                </a:solidFill>
              </a:rPr>
              <a:t>vary</a:t>
            </a:r>
            <a:r>
              <a:rPr lang="en-US" dirty="0"/>
              <a:t> depending on the road taken.</a:t>
            </a:r>
            <a:endParaRPr lang="en-GB" dirty="0"/>
          </a:p>
        </p:txBody>
      </p:sp>
    </p:spTree>
    <p:extLst>
      <p:ext uri="{BB962C8B-B14F-4D97-AF65-F5344CB8AC3E}">
        <p14:creationId xmlns:p14="http://schemas.microsoft.com/office/powerpoint/2010/main" val="3315396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FDFB9-7C6F-421A-89D4-2DC8CBAB8351}"/>
              </a:ext>
            </a:extLst>
          </p:cNvPr>
          <p:cNvSpPr>
            <a:spLocks noGrp="1"/>
          </p:cNvSpPr>
          <p:nvPr>
            <p:ph type="title"/>
          </p:nvPr>
        </p:nvSpPr>
        <p:spPr>
          <a:xfrm>
            <a:off x="838200" y="1"/>
            <a:ext cx="10515600" cy="807867"/>
          </a:xfrm>
        </p:spPr>
        <p:txBody>
          <a:bodyPr>
            <a:normAutofit fontScale="90000"/>
          </a:bodyPr>
          <a:lstStyle/>
          <a:p>
            <a:r>
              <a:rPr lang="en-US" b="1" dirty="0"/>
              <a:t>Utilitarian Approach (a consequentialist approach)</a:t>
            </a:r>
            <a:endParaRPr lang="en-GB" b="1" dirty="0"/>
          </a:p>
        </p:txBody>
      </p:sp>
      <p:graphicFrame>
        <p:nvGraphicFramePr>
          <p:cNvPr id="4" name="Table 4">
            <a:extLst>
              <a:ext uri="{FF2B5EF4-FFF2-40B4-BE49-F238E27FC236}">
                <a16:creationId xmlns:a16="http://schemas.microsoft.com/office/drawing/2014/main" id="{4731FAF1-4B39-4397-B776-FB92282552A6}"/>
              </a:ext>
            </a:extLst>
          </p:cNvPr>
          <p:cNvGraphicFramePr>
            <a:graphicFrameLocks noGrp="1"/>
          </p:cNvGraphicFramePr>
          <p:nvPr>
            <p:ph idx="1"/>
            <p:extLst>
              <p:ext uri="{D42A27DB-BD31-4B8C-83A1-F6EECF244321}">
                <p14:modId xmlns:p14="http://schemas.microsoft.com/office/powerpoint/2010/main" val="3707289507"/>
              </p:ext>
            </p:extLst>
          </p:nvPr>
        </p:nvGraphicFramePr>
        <p:xfrm>
          <a:off x="346229" y="807868"/>
          <a:ext cx="11007572" cy="5894773"/>
        </p:xfrm>
        <a:graphic>
          <a:graphicData uri="http://schemas.openxmlformats.org/drawingml/2006/table">
            <a:tbl>
              <a:tblPr firstRow="1" bandRow="1">
                <a:tableStyleId>{5C22544A-7EE6-4342-B048-85BDC9FD1C3A}</a:tableStyleId>
              </a:tblPr>
              <a:tblGrid>
                <a:gridCol w="6640497">
                  <a:extLst>
                    <a:ext uri="{9D8B030D-6E8A-4147-A177-3AD203B41FA5}">
                      <a16:colId xmlns:a16="http://schemas.microsoft.com/office/drawing/2014/main" val="1853437866"/>
                    </a:ext>
                  </a:extLst>
                </a:gridCol>
                <a:gridCol w="4367075">
                  <a:extLst>
                    <a:ext uri="{9D8B030D-6E8A-4147-A177-3AD203B41FA5}">
                      <a16:colId xmlns:a16="http://schemas.microsoft.com/office/drawing/2014/main" val="846511477"/>
                    </a:ext>
                  </a:extLst>
                </a:gridCol>
              </a:tblGrid>
              <a:tr h="5894773">
                <a:tc>
                  <a:txBody>
                    <a:bodyPr/>
                    <a:lstStyle/>
                    <a:p>
                      <a:pPr marL="285750" indent="-285750" algn="l">
                        <a:buFont typeface="Arial" panose="020B0604020202020204" pitchFamily="34" charset="0"/>
                        <a:buChar char="•"/>
                      </a:pPr>
                      <a:r>
                        <a:rPr lang="en-US" sz="1800" b="0" i="0" u="none" strike="noStrike" baseline="0" dirty="0">
                          <a:latin typeface="+mn-lt"/>
                        </a:rPr>
                        <a:t>This approach assesses an action in terms of its </a:t>
                      </a:r>
                      <a:r>
                        <a:rPr lang="en-US" sz="1800" b="1" i="0" u="sng" strike="noStrike" baseline="0" dirty="0">
                          <a:latin typeface="+mn-lt"/>
                        </a:rPr>
                        <a:t>consequences</a:t>
                      </a:r>
                      <a:r>
                        <a:rPr lang="en-US" sz="1800" b="0" i="0" u="none" strike="noStrike" baseline="0" dirty="0">
                          <a:latin typeface="+mn-lt"/>
                        </a:rPr>
                        <a:t> or outcomes. The Utilitarian Approach deals with consequences; it tries </a:t>
                      </a:r>
                      <a:r>
                        <a:rPr lang="en-US" sz="1800" b="1" i="0" u="none" strike="noStrike" baseline="0" dirty="0">
                          <a:latin typeface="+mn-lt"/>
                        </a:rPr>
                        <a:t>both</a:t>
                      </a:r>
                      <a:r>
                        <a:rPr lang="en-US" sz="1800" b="0" i="0" u="none" strike="noStrike" baseline="0" dirty="0">
                          <a:latin typeface="+mn-lt"/>
                        </a:rPr>
                        <a:t> to </a:t>
                      </a:r>
                      <a:r>
                        <a:rPr lang="en-US" sz="1800" b="0" i="0" u="sng" strike="noStrike" baseline="0" dirty="0">
                          <a:latin typeface="+mn-lt"/>
                        </a:rPr>
                        <a:t>increase the good done </a:t>
                      </a:r>
                      <a:r>
                        <a:rPr lang="en-US" sz="1800" b="0" i="0" u="none" strike="noStrike" baseline="0" dirty="0">
                          <a:latin typeface="+mn-lt"/>
                        </a:rPr>
                        <a:t>and to </a:t>
                      </a:r>
                      <a:r>
                        <a:rPr lang="en-GB" sz="1800" b="0" i="0" u="none" strike="noStrike" baseline="0" dirty="0">
                          <a:latin typeface="+mn-lt"/>
                        </a:rPr>
                        <a:t>reduce </a:t>
                      </a:r>
                      <a:r>
                        <a:rPr lang="en-GB" sz="1800" b="0" i="0" u="sng" strike="noStrike" baseline="0" dirty="0">
                          <a:latin typeface="+mn-lt"/>
                        </a:rPr>
                        <a:t>the harm done.</a:t>
                      </a:r>
                      <a:endParaRPr lang="en-GB" u="sng" dirty="0">
                        <a:latin typeface="+mn-lt"/>
                      </a:endParaRPr>
                    </a:p>
                    <a:p>
                      <a:pPr marL="285750" indent="-285750" algn="l">
                        <a:buFont typeface="Arial" panose="020B0604020202020204" pitchFamily="34" charset="0"/>
                        <a:buChar char="•"/>
                      </a:pPr>
                      <a:endParaRPr lang="en-US" sz="1800" b="0" i="0" u="none" strike="noStrike" baseline="0" dirty="0">
                        <a:latin typeface="+mn-lt"/>
                      </a:endParaRPr>
                    </a:p>
                    <a:p>
                      <a:pPr marL="0" indent="0" algn="l">
                        <a:buFont typeface="Arial" panose="020B0604020202020204" pitchFamily="34" charset="0"/>
                        <a:buNone/>
                      </a:pPr>
                      <a:endParaRPr lang="en-US" sz="1800" b="0" i="0" u="none" strike="noStrike" baseline="0" dirty="0">
                        <a:latin typeface="+mn-lt"/>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mn-lt"/>
                        </a:rPr>
                        <a:t>Under the Utilitarian Approach, the most ethical option is the one which produces the </a:t>
                      </a:r>
                      <a:r>
                        <a:rPr lang="en-US" sz="1800" b="0" i="0" u="sng" strike="noStrike" baseline="0" dirty="0">
                          <a:latin typeface="+mn-lt"/>
                        </a:rPr>
                        <a:t>best balance of benefits over harm </a:t>
                      </a:r>
                      <a:r>
                        <a:rPr lang="en-US" sz="1800" b="0" i="0" u="none" strike="noStrike" baseline="0" dirty="0">
                          <a:latin typeface="+mn-lt"/>
                        </a:rPr>
                        <a:t>for the </a:t>
                      </a:r>
                      <a:r>
                        <a:rPr lang="en-US" sz="1800" b="1" i="0" u="none" strike="noStrike" baseline="0" dirty="0">
                          <a:latin typeface="+mn-lt"/>
                        </a:rPr>
                        <a:t>most</a:t>
                      </a:r>
                      <a:r>
                        <a:rPr lang="en-US" sz="1800" b="0" i="0" u="none" strike="noStrike" baseline="0" dirty="0">
                          <a:latin typeface="+mn-lt"/>
                        </a:rPr>
                        <a:t> stakeholders.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i="0" u="none" strike="noStrike" baseline="0" dirty="0">
                        <a:latin typeface="+mn-lt"/>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mn-lt"/>
                        </a:rPr>
                        <a:t>The ethical action is the one that produces the </a:t>
                      </a:r>
                      <a:r>
                        <a:rPr lang="en-US" sz="1800" b="1" i="0" u="sng" strike="noStrike" baseline="0" dirty="0">
                          <a:latin typeface="+mn-lt"/>
                        </a:rPr>
                        <a:t>greatest good </a:t>
                      </a:r>
                      <a:r>
                        <a:rPr lang="en-US" sz="1800" b="0" i="0" u="none" strike="noStrike" baseline="0" dirty="0">
                          <a:latin typeface="+mn-lt"/>
                        </a:rPr>
                        <a:t>and does the least harm for all stakeholders e.g. clients, colleagues, </a:t>
                      </a:r>
                      <a:r>
                        <a:rPr lang="en-GB" sz="1800" b="0" i="0" u="none" strike="noStrike" baseline="0" dirty="0">
                          <a:latin typeface="+mn-lt"/>
                        </a:rPr>
                        <a:t>the community.</a:t>
                      </a:r>
                    </a:p>
                    <a:p>
                      <a:pPr marL="285750" indent="-285750" algn="l">
                        <a:buFont typeface="Arial" panose="020B0604020202020204" pitchFamily="34" charset="0"/>
                        <a:buChar char="•"/>
                      </a:pPr>
                      <a:endParaRPr lang="en-US" sz="1800" b="0" i="0" u="none" strike="noStrike" baseline="0" dirty="0">
                        <a:latin typeface="+mn-lt"/>
                      </a:endParaRPr>
                    </a:p>
                    <a:p>
                      <a:pPr marL="285750" indent="-285750" algn="l">
                        <a:buFont typeface="Arial" panose="020B0604020202020204" pitchFamily="34" charset="0"/>
                        <a:buChar char="•"/>
                      </a:pPr>
                      <a:endParaRPr lang="en-US" sz="1800" b="0" i="0" u="none" strike="noStrike" baseline="0" dirty="0">
                        <a:latin typeface="+mn-lt"/>
                      </a:endParaRPr>
                    </a:p>
                    <a:p>
                      <a:pPr marL="285750" indent="-285750" algn="l">
                        <a:buFont typeface="Arial" panose="020B0604020202020204" pitchFamily="34" charset="0"/>
                        <a:buChar char="•"/>
                      </a:pPr>
                      <a:r>
                        <a:rPr lang="en-US" sz="1800" b="0" i="0" u="none" strike="noStrike" baseline="0" dirty="0">
                          <a:latin typeface="+mn-lt"/>
                        </a:rPr>
                        <a:t>The interest of every entity, including other species, is considered equally during the decision-making process. Outcomes may be quantified in such terms as contentment and suffering, the relative value of individual preferences, monetary gain or loss, or the</a:t>
                      </a:r>
                      <a:r>
                        <a:rPr lang="en-US" sz="1800" b="0" i="0" u="none" strike="noStrike" baseline="0" dirty="0">
                          <a:latin typeface="Gotham-Book"/>
                        </a:rPr>
                        <a:t> short-term and long-term effects of an action.</a:t>
                      </a:r>
                    </a:p>
                    <a:p>
                      <a:endParaRPr lang="en-GB" dirty="0"/>
                    </a:p>
                  </a:txBody>
                  <a:tcPr/>
                </a:tc>
                <a:tc>
                  <a:txBody>
                    <a:bodyPr/>
                    <a:lstStyle/>
                    <a:p>
                      <a:pPr marL="285750" indent="-285750">
                        <a:buFont typeface="Arial" panose="020B0604020202020204" pitchFamily="34" charset="0"/>
                        <a:buChar char="•"/>
                      </a:pPr>
                      <a:r>
                        <a:rPr lang="en-US" b="0" dirty="0"/>
                        <a:t>The action is morally correct when it produces the greatest amount of good for the greatest number.</a:t>
                      </a:r>
                    </a:p>
                    <a:p>
                      <a:pPr marL="0" indent="0">
                        <a:buFont typeface="Arial" panose="020B0604020202020204" pitchFamily="34" charset="0"/>
                        <a:buNone/>
                      </a:pPr>
                      <a:endParaRPr lang="en-US" b="0" dirty="0"/>
                    </a:p>
                    <a:p>
                      <a:pPr marL="285750" indent="-285750">
                        <a:buFont typeface="Arial" panose="020B0604020202020204" pitchFamily="34" charset="0"/>
                        <a:buChar char="•"/>
                      </a:pPr>
                      <a:r>
                        <a:rPr lang="en-US" b="0" dirty="0"/>
                        <a:t>When the action affects the majority adversely, it is morally wrong.</a:t>
                      </a:r>
                    </a:p>
                    <a:p>
                      <a:pPr marL="285750" indent="-285750">
                        <a:buFont typeface="Arial" panose="020B0604020202020204" pitchFamily="34" charset="0"/>
                        <a:buChar char="•"/>
                      </a:pPr>
                      <a:endParaRPr lang="en-US" b="0" dirty="0"/>
                    </a:p>
                    <a:p>
                      <a:pPr marL="285750" indent="-285750">
                        <a:buFont typeface="Arial" panose="020B0604020202020204" pitchFamily="34" charset="0"/>
                        <a:buChar char="•"/>
                      </a:pPr>
                      <a:r>
                        <a:rPr lang="en-US" b="0" dirty="0"/>
                        <a:t>Utilitarianism is </a:t>
                      </a:r>
                      <a:r>
                        <a:rPr lang="en-US" b="1" dirty="0"/>
                        <a:t>outcome-orientated (results/consequences)</a:t>
                      </a:r>
                      <a:r>
                        <a:rPr lang="en-US" b="0" dirty="0"/>
                        <a:t>,  and therefore in </a:t>
                      </a:r>
                      <a:r>
                        <a:rPr lang="en-US" b="0" u="sng" dirty="0"/>
                        <a:t>contrast </a:t>
                      </a:r>
                      <a:r>
                        <a:rPr lang="en-US" b="0" dirty="0"/>
                        <a:t>with duty-based ethics. </a:t>
                      </a:r>
                      <a:endParaRPr lang="en-GB" b="0" dirty="0"/>
                    </a:p>
                  </a:txBody>
                  <a:tcPr/>
                </a:tc>
                <a:extLst>
                  <a:ext uri="{0D108BD9-81ED-4DB2-BD59-A6C34878D82A}">
                    <a16:rowId xmlns:a16="http://schemas.microsoft.com/office/drawing/2014/main" val="3586035238"/>
                  </a:ext>
                </a:extLst>
              </a:tr>
            </a:tbl>
          </a:graphicData>
        </a:graphic>
      </p:graphicFrame>
      <p:pic>
        <p:nvPicPr>
          <p:cNvPr id="6" name="Picture 5">
            <a:extLst>
              <a:ext uri="{FF2B5EF4-FFF2-40B4-BE49-F238E27FC236}">
                <a16:creationId xmlns:a16="http://schemas.microsoft.com/office/drawing/2014/main" id="{09FF5D24-51B8-4CBE-A817-0EFB13F8B8D2}"/>
              </a:ext>
            </a:extLst>
          </p:cNvPr>
          <p:cNvPicPr>
            <a:picLocks noChangeAspect="1"/>
          </p:cNvPicPr>
          <p:nvPr/>
        </p:nvPicPr>
        <p:blipFill>
          <a:blip r:embed="rId2"/>
          <a:stretch>
            <a:fillRect/>
          </a:stretch>
        </p:blipFill>
        <p:spPr>
          <a:xfrm>
            <a:off x="7350711" y="3746377"/>
            <a:ext cx="3630968" cy="2681056"/>
          </a:xfrm>
          <a:prstGeom prst="rect">
            <a:avLst/>
          </a:prstGeom>
        </p:spPr>
      </p:pic>
    </p:spTree>
    <p:extLst>
      <p:ext uri="{BB962C8B-B14F-4D97-AF65-F5344CB8AC3E}">
        <p14:creationId xmlns:p14="http://schemas.microsoft.com/office/powerpoint/2010/main" val="780868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BD0F0-0FA1-43D5-964B-CFC8DE37922D}"/>
              </a:ext>
            </a:extLst>
          </p:cNvPr>
          <p:cNvSpPr>
            <a:spLocks noGrp="1"/>
          </p:cNvSpPr>
          <p:nvPr>
            <p:ph type="title"/>
          </p:nvPr>
        </p:nvSpPr>
        <p:spPr>
          <a:xfrm>
            <a:off x="838200" y="0"/>
            <a:ext cx="10515600" cy="612559"/>
          </a:xfrm>
        </p:spPr>
        <p:txBody>
          <a:bodyPr>
            <a:normAutofit fontScale="90000"/>
          </a:bodyPr>
          <a:lstStyle/>
          <a:p>
            <a:r>
              <a:rPr lang="en-US" b="1" dirty="0"/>
              <a:t>Deontological Approach (duty-based approach)</a:t>
            </a:r>
            <a:endParaRPr lang="en-GB" b="1" dirty="0"/>
          </a:p>
        </p:txBody>
      </p:sp>
      <p:graphicFrame>
        <p:nvGraphicFramePr>
          <p:cNvPr id="4" name="Table 4">
            <a:extLst>
              <a:ext uri="{FF2B5EF4-FFF2-40B4-BE49-F238E27FC236}">
                <a16:creationId xmlns:a16="http://schemas.microsoft.com/office/drawing/2014/main" id="{09956289-2D1F-49E4-952C-B7C3995D3F3E}"/>
              </a:ext>
            </a:extLst>
          </p:cNvPr>
          <p:cNvGraphicFramePr>
            <a:graphicFrameLocks noGrp="1"/>
          </p:cNvGraphicFramePr>
          <p:nvPr>
            <p:ph idx="1"/>
            <p:extLst>
              <p:ext uri="{D42A27DB-BD31-4B8C-83A1-F6EECF244321}">
                <p14:modId xmlns:p14="http://schemas.microsoft.com/office/powerpoint/2010/main" val="1182224211"/>
              </p:ext>
            </p:extLst>
          </p:nvPr>
        </p:nvGraphicFramePr>
        <p:xfrm>
          <a:off x="701335" y="612559"/>
          <a:ext cx="10999434" cy="6126480"/>
        </p:xfrm>
        <a:graphic>
          <a:graphicData uri="http://schemas.openxmlformats.org/drawingml/2006/table">
            <a:tbl>
              <a:tblPr firstRow="1" bandRow="1">
                <a:tableStyleId>{5C22544A-7EE6-4342-B048-85BDC9FD1C3A}</a:tableStyleId>
              </a:tblPr>
              <a:tblGrid>
                <a:gridCol w="5499717">
                  <a:extLst>
                    <a:ext uri="{9D8B030D-6E8A-4147-A177-3AD203B41FA5}">
                      <a16:colId xmlns:a16="http://schemas.microsoft.com/office/drawing/2014/main" val="636410928"/>
                    </a:ext>
                  </a:extLst>
                </a:gridCol>
                <a:gridCol w="5499717">
                  <a:extLst>
                    <a:ext uri="{9D8B030D-6E8A-4147-A177-3AD203B41FA5}">
                      <a16:colId xmlns:a16="http://schemas.microsoft.com/office/drawing/2014/main" val="152403788"/>
                    </a:ext>
                  </a:extLst>
                </a:gridCol>
              </a:tblGrid>
              <a:tr h="5788241">
                <a:tc>
                  <a:txBody>
                    <a:bodyPr/>
                    <a:lstStyle/>
                    <a:p>
                      <a:pPr marL="285750" indent="-285750">
                        <a:buFont typeface="Arial" panose="020B0604020202020204" pitchFamily="34" charset="0"/>
                        <a:buChar char="•"/>
                      </a:pPr>
                      <a:r>
                        <a:rPr lang="en-US" sz="1800" b="0" i="0" kern="1200" dirty="0">
                          <a:solidFill>
                            <a:schemeClr val="bg1"/>
                          </a:solidFill>
                          <a:effectLst/>
                          <a:latin typeface="+mn-lt"/>
                          <a:ea typeface="+mn-ea"/>
                          <a:cs typeface="+mn-cs"/>
                        </a:rPr>
                        <a:t>Deontological (duty-based) ethics are concerned with </a:t>
                      </a:r>
                      <a:r>
                        <a:rPr lang="en-US" sz="1800" b="0" i="0" u="sng" kern="1200" dirty="0">
                          <a:solidFill>
                            <a:schemeClr val="bg1"/>
                          </a:solidFill>
                          <a:effectLst/>
                          <a:latin typeface="+mn-lt"/>
                          <a:ea typeface="+mn-ea"/>
                          <a:cs typeface="+mn-cs"/>
                        </a:rPr>
                        <a:t>what people do</a:t>
                      </a:r>
                      <a:r>
                        <a:rPr lang="en-US" sz="1800" b="0" i="0" kern="1200" dirty="0">
                          <a:solidFill>
                            <a:schemeClr val="bg1"/>
                          </a:solidFill>
                          <a:effectLst/>
                          <a:latin typeface="+mn-lt"/>
                          <a:ea typeface="+mn-ea"/>
                          <a:cs typeface="+mn-cs"/>
                        </a:rPr>
                        <a:t>, not with the consequences of their actions.</a:t>
                      </a:r>
                    </a:p>
                    <a:p>
                      <a:endParaRPr lang="en-US" sz="1800" b="0" i="0" kern="1200" dirty="0">
                        <a:solidFill>
                          <a:schemeClr val="bg1"/>
                        </a:solidFill>
                        <a:effectLst/>
                        <a:latin typeface="+mn-lt"/>
                        <a:ea typeface="+mn-ea"/>
                        <a:cs typeface="+mn-cs"/>
                      </a:endParaRPr>
                    </a:p>
                    <a:p>
                      <a:r>
                        <a:rPr lang="en-US" sz="1800" b="0" i="1" kern="1200" dirty="0">
                          <a:solidFill>
                            <a:schemeClr val="bg1"/>
                          </a:solidFill>
                          <a:effectLst/>
                          <a:latin typeface="+mn-lt"/>
                          <a:ea typeface="+mn-ea"/>
                          <a:cs typeface="+mn-cs"/>
                        </a:rPr>
                        <a:t>- </a:t>
                      </a:r>
                      <a:r>
                        <a:rPr lang="en-US" sz="1800" b="0" i="1" u="none" kern="1200" dirty="0">
                          <a:solidFill>
                            <a:schemeClr val="bg1"/>
                          </a:solidFill>
                          <a:effectLst/>
                          <a:latin typeface="+mn-lt"/>
                          <a:ea typeface="+mn-ea"/>
                          <a:cs typeface="+mn-cs"/>
                        </a:rPr>
                        <a:t>Do the right thing.</a:t>
                      </a:r>
                    </a:p>
                    <a:p>
                      <a:r>
                        <a:rPr lang="en-US" sz="1800" b="0" i="1" u="none" kern="1200" dirty="0">
                          <a:solidFill>
                            <a:schemeClr val="bg1"/>
                          </a:solidFill>
                          <a:effectLst/>
                          <a:latin typeface="+mn-lt"/>
                          <a:ea typeface="+mn-ea"/>
                          <a:cs typeface="+mn-cs"/>
                        </a:rPr>
                        <a:t>- Do it because it's the right thing to do.</a:t>
                      </a:r>
                    </a:p>
                    <a:p>
                      <a:r>
                        <a:rPr lang="en-US" sz="1800" b="0" i="1" u="none" kern="1200" dirty="0">
                          <a:solidFill>
                            <a:schemeClr val="bg1"/>
                          </a:solidFill>
                          <a:effectLst/>
                          <a:latin typeface="+mn-lt"/>
                          <a:ea typeface="+mn-ea"/>
                          <a:cs typeface="+mn-cs"/>
                        </a:rPr>
                        <a:t>- Don't do wrong things.</a:t>
                      </a:r>
                    </a:p>
                    <a:p>
                      <a:pPr marL="0" indent="0">
                        <a:buFontTx/>
                        <a:buNone/>
                      </a:pPr>
                      <a:r>
                        <a:rPr lang="en-US" sz="1800" b="0" i="1" u="none" kern="1200" dirty="0">
                          <a:solidFill>
                            <a:schemeClr val="bg1"/>
                          </a:solidFill>
                          <a:effectLst/>
                          <a:latin typeface="+mn-lt"/>
                          <a:ea typeface="+mn-ea"/>
                          <a:cs typeface="+mn-cs"/>
                        </a:rPr>
                        <a:t>- Avoid them because they are wrong.</a:t>
                      </a:r>
                    </a:p>
                    <a:p>
                      <a:pPr marL="285750" indent="-285750">
                        <a:buFontTx/>
                        <a:buChar char="-"/>
                      </a:pPr>
                      <a:endParaRPr lang="en-US" sz="1800" b="0" i="1" u="none" kern="1200" dirty="0">
                        <a:solidFill>
                          <a:schemeClr val="bg1"/>
                        </a:solidFill>
                        <a:effectLst/>
                        <a:latin typeface="+mn-lt"/>
                        <a:ea typeface="+mn-ea"/>
                        <a:cs typeface="+mn-cs"/>
                      </a:endParaRPr>
                    </a:p>
                    <a:p>
                      <a:pPr marL="285750" indent="-285750">
                        <a:buFont typeface="Arial" panose="020B0604020202020204" pitchFamily="34" charset="0"/>
                        <a:buChar char="•"/>
                      </a:pPr>
                      <a:r>
                        <a:rPr lang="en-US" sz="1800" b="0" i="0" kern="1200" dirty="0">
                          <a:solidFill>
                            <a:schemeClr val="bg1"/>
                          </a:solidFill>
                          <a:effectLst/>
                          <a:latin typeface="+mn-lt"/>
                          <a:ea typeface="+mn-ea"/>
                          <a:cs typeface="+mn-cs"/>
                        </a:rPr>
                        <a:t>Under this form of ethics you </a:t>
                      </a:r>
                      <a:r>
                        <a:rPr lang="en-US" sz="1800" b="1" i="0" kern="1200" dirty="0">
                          <a:solidFill>
                            <a:schemeClr val="bg1"/>
                          </a:solidFill>
                          <a:effectLst/>
                          <a:latin typeface="+mn-lt"/>
                          <a:ea typeface="+mn-ea"/>
                          <a:cs typeface="+mn-cs"/>
                        </a:rPr>
                        <a:t>can't justify </a:t>
                      </a:r>
                      <a:r>
                        <a:rPr lang="en-US" sz="1800" b="0" i="0" kern="1200" dirty="0">
                          <a:solidFill>
                            <a:schemeClr val="bg1"/>
                          </a:solidFill>
                          <a:effectLst/>
                          <a:latin typeface="+mn-lt"/>
                          <a:ea typeface="+mn-ea"/>
                          <a:cs typeface="+mn-cs"/>
                        </a:rPr>
                        <a:t>an action by showing that it produced good consequences, which is why it's sometimes called 'non-Consequentialist’.</a:t>
                      </a:r>
                    </a:p>
                    <a:p>
                      <a:pPr marL="0" indent="0">
                        <a:buFont typeface="Arial" panose="020B0604020202020204" pitchFamily="34" charset="0"/>
                        <a:buNone/>
                      </a:pPr>
                      <a:endParaRPr lang="en-US" sz="1800" b="0" i="0" kern="1200" dirty="0">
                        <a:solidFill>
                          <a:schemeClr val="bg1"/>
                        </a:solidFill>
                        <a:effectLst/>
                        <a:latin typeface="+mn-lt"/>
                        <a:ea typeface="+mn-ea"/>
                        <a:cs typeface="+mn-cs"/>
                      </a:endParaRPr>
                    </a:p>
                    <a:p>
                      <a:pPr marL="285750" indent="-285750">
                        <a:buFont typeface="Arial" panose="020B0604020202020204" pitchFamily="34" charset="0"/>
                        <a:buChar char="•"/>
                      </a:pPr>
                      <a:r>
                        <a:rPr lang="en-US" sz="1800" b="0" i="0" kern="1200" dirty="0">
                          <a:solidFill>
                            <a:schemeClr val="bg1"/>
                          </a:solidFill>
                          <a:effectLst/>
                          <a:latin typeface="+mn-lt"/>
                          <a:ea typeface="+mn-ea"/>
                          <a:cs typeface="+mn-cs"/>
                        </a:rPr>
                        <a:t>The word 'deontological' comes from the Greek word </a:t>
                      </a:r>
                      <a:r>
                        <a:rPr lang="en-US" sz="1800" b="0" i="1" kern="1200" dirty="0" err="1">
                          <a:solidFill>
                            <a:schemeClr val="bg1"/>
                          </a:solidFill>
                          <a:effectLst/>
                          <a:latin typeface="+mn-lt"/>
                          <a:ea typeface="+mn-ea"/>
                          <a:cs typeface="+mn-cs"/>
                        </a:rPr>
                        <a:t>deon</a:t>
                      </a:r>
                      <a:r>
                        <a:rPr lang="en-US" sz="1800" b="0" i="0" kern="1200" dirty="0">
                          <a:solidFill>
                            <a:schemeClr val="bg1"/>
                          </a:solidFill>
                          <a:effectLst/>
                          <a:latin typeface="+mn-lt"/>
                          <a:ea typeface="+mn-ea"/>
                          <a:cs typeface="+mn-cs"/>
                        </a:rPr>
                        <a:t>, which means 'duty’.</a:t>
                      </a:r>
                    </a:p>
                    <a:p>
                      <a:pPr marL="285750" indent="-285750">
                        <a:buFont typeface="Arial" panose="020B0604020202020204" pitchFamily="34" charset="0"/>
                        <a:buChar char="•"/>
                      </a:pPr>
                      <a:endParaRPr lang="en-US" sz="1800" b="0" i="0" kern="1200" dirty="0">
                        <a:solidFill>
                          <a:schemeClr val="bg1"/>
                        </a:solidFill>
                        <a:effectLst/>
                        <a:latin typeface="+mn-lt"/>
                        <a:ea typeface="+mn-ea"/>
                        <a:cs typeface="+mn-cs"/>
                      </a:endParaRPr>
                    </a:p>
                    <a:p>
                      <a:pPr marL="285750" indent="-285750">
                        <a:buFont typeface="Arial" panose="020B0604020202020204" pitchFamily="34" charset="0"/>
                        <a:buChar char="•"/>
                      </a:pPr>
                      <a:r>
                        <a:rPr lang="en-US" sz="1800" b="0" i="0" kern="1200" dirty="0">
                          <a:solidFill>
                            <a:schemeClr val="bg1"/>
                          </a:solidFill>
                          <a:effectLst/>
                          <a:latin typeface="+mn-lt"/>
                          <a:ea typeface="+mn-ea"/>
                          <a:cs typeface="+mn-cs"/>
                        </a:rPr>
                        <a:t>Duty-based ethics are usually what people are talking about when they refer to </a:t>
                      </a:r>
                      <a:r>
                        <a:rPr lang="en-US" sz="1800" b="0" i="1" kern="1200" dirty="0">
                          <a:solidFill>
                            <a:schemeClr val="bg1"/>
                          </a:solidFill>
                          <a:effectLst/>
                          <a:latin typeface="+mn-lt"/>
                          <a:ea typeface="+mn-ea"/>
                          <a:cs typeface="+mn-cs"/>
                        </a:rPr>
                        <a:t>'the principle of the thing</a:t>
                      </a:r>
                      <a:r>
                        <a:rPr lang="en-US" sz="1800" b="0" i="0" kern="1200" dirty="0">
                          <a:solidFill>
                            <a:schemeClr val="bg1"/>
                          </a:solidFill>
                          <a:effectLst/>
                          <a:latin typeface="+mn-lt"/>
                          <a:ea typeface="+mn-ea"/>
                          <a:cs typeface="+mn-cs"/>
                        </a:rPr>
                        <a:t>’. </a:t>
                      </a:r>
                      <a:endParaRPr lang="en-GB"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bg1"/>
                          </a:solidFill>
                          <a:effectLst/>
                          <a:latin typeface="+mn-lt"/>
                          <a:ea typeface="+mn-ea"/>
                          <a:cs typeface="+mn-cs"/>
                        </a:rPr>
                        <a:t>Duty-based ethics teaches that some acts are right or wrong because of the sorts of things they are, and people have a </a:t>
                      </a:r>
                      <a:r>
                        <a:rPr lang="en-US" sz="1800" b="0" i="0" u="sng" kern="1200" dirty="0">
                          <a:solidFill>
                            <a:schemeClr val="bg1"/>
                          </a:solidFill>
                          <a:effectLst/>
                          <a:latin typeface="+mn-lt"/>
                          <a:ea typeface="+mn-ea"/>
                          <a:cs typeface="+mn-cs"/>
                        </a:rPr>
                        <a:t>duty</a:t>
                      </a:r>
                      <a:r>
                        <a:rPr lang="en-US" sz="1800" b="0" i="0" kern="1200" dirty="0">
                          <a:solidFill>
                            <a:schemeClr val="bg1"/>
                          </a:solidFill>
                          <a:effectLst/>
                          <a:latin typeface="+mn-lt"/>
                          <a:ea typeface="+mn-ea"/>
                          <a:cs typeface="+mn-cs"/>
                        </a:rPr>
                        <a:t> to act accordingly, regardless of the good or bad consequences that may be produced.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800" b="0" i="0" kern="1200" dirty="0">
                        <a:solidFill>
                          <a:schemeClr val="bg1"/>
                        </a:solidFill>
                        <a:effectLst/>
                        <a:latin typeface="+mn-lt"/>
                        <a:ea typeface="+mn-ea"/>
                        <a:cs typeface="+mn-cs"/>
                      </a:endParaRPr>
                    </a:p>
                    <a:p>
                      <a:pPr marL="285750" indent="-285750">
                        <a:buFont typeface="Arial" panose="020B0604020202020204" pitchFamily="34" charset="0"/>
                        <a:buChar char="•"/>
                      </a:pPr>
                      <a:r>
                        <a:rPr lang="en-US" sz="1800" b="0" i="0" kern="1200" dirty="0">
                          <a:solidFill>
                            <a:schemeClr val="lt1"/>
                          </a:solidFill>
                          <a:effectLst/>
                          <a:latin typeface="+mn-lt"/>
                          <a:ea typeface="+mn-ea"/>
                          <a:cs typeface="+mn-cs"/>
                        </a:rPr>
                        <a:t>Deontologists live in a universe of moral rules, such as:</a:t>
                      </a:r>
                    </a:p>
                    <a:p>
                      <a:r>
                        <a:rPr lang="en-US" sz="1800" b="0" i="1" kern="1200" dirty="0">
                          <a:solidFill>
                            <a:schemeClr val="lt1"/>
                          </a:solidFill>
                          <a:effectLst/>
                          <a:latin typeface="+mn-lt"/>
                          <a:ea typeface="+mn-ea"/>
                          <a:cs typeface="+mn-cs"/>
                        </a:rPr>
                        <a:t>- It is wrong to kill innocent people.</a:t>
                      </a:r>
                    </a:p>
                    <a:p>
                      <a:r>
                        <a:rPr lang="en-US" sz="1800" b="0" i="1" kern="1200" dirty="0">
                          <a:solidFill>
                            <a:schemeClr val="lt1"/>
                          </a:solidFill>
                          <a:effectLst/>
                          <a:latin typeface="+mn-lt"/>
                          <a:ea typeface="+mn-ea"/>
                          <a:cs typeface="+mn-cs"/>
                        </a:rPr>
                        <a:t>- It is wrong to steal.</a:t>
                      </a:r>
                    </a:p>
                    <a:p>
                      <a:r>
                        <a:rPr lang="en-US" sz="1800" b="0" i="1" kern="1200" dirty="0">
                          <a:solidFill>
                            <a:schemeClr val="lt1"/>
                          </a:solidFill>
                          <a:effectLst/>
                          <a:latin typeface="+mn-lt"/>
                          <a:ea typeface="+mn-ea"/>
                          <a:cs typeface="+mn-cs"/>
                        </a:rPr>
                        <a:t>- It is wrong to tell lies.</a:t>
                      </a:r>
                    </a:p>
                    <a:p>
                      <a:pPr marL="0" indent="0">
                        <a:buFontTx/>
                        <a:buNone/>
                      </a:pPr>
                      <a:r>
                        <a:rPr lang="en-US" sz="1800" b="0" i="1" kern="1200" dirty="0">
                          <a:solidFill>
                            <a:schemeClr val="lt1"/>
                          </a:solidFill>
                          <a:effectLst/>
                          <a:latin typeface="+mn-lt"/>
                          <a:ea typeface="+mn-ea"/>
                          <a:cs typeface="+mn-cs"/>
                        </a:rPr>
                        <a:t>- It is right to keep promises.</a:t>
                      </a:r>
                    </a:p>
                    <a:p>
                      <a:pPr marL="285750" indent="-285750">
                        <a:buFontTx/>
                        <a:buChar char="-"/>
                      </a:pPr>
                      <a:endParaRPr lang="en-US" sz="1800" b="0" i="0" kern="1200" dirty="0">
                        <a:solidFill>
                          <a:schemeClr val="lt1"/>
                        </a:solidFill>
                        <a:effectLst/>
                        <a:latin typeface="+mn-lt"/>
                        <a:ea typeface="+mn-ea"/>
                        <a:cs typeface="+mn-cs"/>
                      </a:endParaRPr>
                    </a:p>
                    <a:p>
                      <a:pPr marL="285750" indent="-285750">
                        <a:buFont typeface="Arial" panose="020B0604020202020204" pitchFamily="34" charset="0"/>
                        <a:buChar char="•"/>
                      </a:pPr>
                      <a:r>
                        <a:rPr lang="en-US" sz="1800" b="0" i="0" kern="1200" dirty="0">
                          <a:solidFill>
                            <a:schemeClr val="lt1"/>
                          </a:solidFill>
                          <a:effectLst/>
                          <a:latin typeface="+mn-lt"/>
                          <a:ea typeface="+mn-ea"/>
                          <a:cs typeface="+mn-cs"/>
                        </a:rPr>
                        <a:t>Someone who follows duty-based ethics should do the right thing, </a:t>
                      </a:r>
                      <a:r>
                        <a:rPr lang="en-US" sz="1800" b="1" i="0" kern="1200" dirty="0">
                          <a:solidFill>
                            <a:schemeClr val="lt1"/>
                          </a:solidFill>
                          <a:effectLst/>
                          <a:latin typeface="+mn-lt"/>
                          <a:ea typeface="+mn-ea"/>
                          <a:cs typeface="+mn-cs"/>
                        </a:rPr>
                        <a:t>even</a:t>
                      </a:r>
                      <a:r>
                        <a:rPr lang="en-US" sz="1800" b="0" i="0" kern="1200" dirty="0">
                          <a:solidFill>
                            <a:schemeClr val="lt1"/>
                          </a:solidFill>
                          <a:effectLst/>
                          <a:latin typeface="+mn-lt"/>
                          <a:ea typeface="+mn-ea"/>
                          <a:cs typeface="+mn-cs"/>
                        </a:rPr>
                        <a:t> if that produces more harm (or less good) than doing the wrong thing:</a:t>
                      </a:r>
                    </a:p>
                    <a:p>
                      <a:pPr marL="285750" indent="-285750">
                        <a:buFont typeface="Arial" panose="020B0604020202020204" pitchFamily="34" charset="0"/>
                        <a:buChar char="•"/>
                      </a:pPr>
                      <a:endParaRPr lang="en-US" sz="1800" b="0" i="0" kern="1200" dirty="0">
                        <a:solidFill>
                          <a:schemeClr val="lt1"/>
                        </a:solidFill>
                        <a:effectLst/>
                        <a:latin typeface="+mn-lt"/>
                        <a:ea typeface="+mn-ea"/>
                        <a:cs typeface="+mn-cs"/>
                      </a:endParaRPr>
                    </a:p>
                    <a:p>
                      <a:r>
                        <a:rPr lang="en-US" sz="1800" b="0" i="0" kern="1200" dirty="0">
                          <a:solidFill>
                            <a:schemeClr val="lt1"/>
                          </a:solidFill>
                          <a:effectLst/>
                          <a:latin typeface="+mn-lt"/>
                          <a:ea typeface="+mn-ea"/>
                          <a:cs typeface="+mn-cs"/>
                        </a:rPr>
                        <a:t> </a:t>
                      </a:r>
                      <a:r>
                        <a:rPr lang="en-US" sz="1800" b="0" i="1" kern="1200" dirty="0">
                          <a:solidFill>
                            <a:schemeClr val="lt1"/>
                          </a:solidFill>
                          <a:effectLst/>
                          <a:latin typeface="+mn-lt"/>
                          <a:ea typeface="+mn-ea"/>
                          <a:cs typeface="+mn-cs"/>
                        </a:rPr>
                        <a:t>People have a duty to do the right thing, even if it produces a bad result.</a:t>
                      </a:r>
                    </a:p>
                    <a:p>
                      <a:pPr marL="0" indent="0">
                        <a:buFontTx/>
                        <a:buNone/>
                      </a:pPr>
                      <a:endParaRPr lang="en-US" sz="1800" b="0" i="0" kern="1200" dirty="0">
                        <a:solidFill>
                          <a:schemeClr val="lt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lt1"/>
                          </a:solidFill>
                          <a:effectLst/>
                          <a:latin typeface="+mn-lt"/>
                          <a:ea typeface="+mn-ea"/>
                          <a:cs typeface="+mn-cs"/>
                        </a:rPr>
                        <a:t>This theory simply requires people to follow rules and do their duty.</a:t>
                      </a:r>
                      <a:endParaRPr lang="en-US" sz="1800" b="0" i="0" kern="1200" dirty="0">
                        <a:solidFill>
                          <a:schemeClr val="bg1"/>
                        </a:solidFill>
                        <a:effectLst/>
                        <a:latin typeface="+mn-lt"/>
                        <a:ea typeface="+mn-ea"/>
                        <a:cs typeface="+mn-cs"/>
                      </a:endParaRPr>
                    </a:p>
                    <a:p>
                      <a:endParaRPr lang="en-GB" dirty="0"/>
                    </a:p>
                  </a:txBody>
                  <a:tcPr/>
                </a:tc>
                <a:extLst>
                  <a:ext uri="{0D108BD9-81ED-4DB2-BD59-A6C34878D82A}">
                    <a16:rowId xmlns:a16="http://schemas.microsoft.com/office/drawing/2014/main" val="160547907"/>
                  </a:ext>
                </a:extLst>
              </a:tr>
            </a:tbl>
          </a:graphicData>
        </a:graphic>
      </p:graphicFrame>
    </p:spTree>
    <p:extLst>
      <p:ext uri="{BB962C8B-B14F-4D97-AF65-F5344CB8AC3E}">
        <p14:creationId xmlns:p14="http://schemas.microsoft.com/office/powerpoint/2010/main" val="726070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2D235-08AF-4C7B-ABAF-C83168682DD1}"/>
              </a:ext>
            </a:extLst>
          </p:cNvPr>
          <p:cNvSpPr>
            <a:spLocks noGrp="1"/>
          </p:cNvSpPr>
          <p:nvPr>
            <p:ph type="title"/>
          </p:nvPr>
        </p:nvSpPr>
        <p:spPr>
          <a:xfrm>
            <a:off x="838200" y="1"/>
            <a:ext cx="10515600" cy="1154096"/>
          </a:xfrm>
        </p:spPr>
        <p:txBody>
          <a:bodyPr>
            <a:normAutofit fontScale="90000"/>
          </a:bodyPr>
          <a:lstStyle/>
          <a:p>
            <a:r>
              <a:rPr lang="en-US" b="1" dirty="0"/>
              <a:t>Deontological Approach (duty-based approach)</a:t>
            </a:r>
            <a:endParaRPr lang="en-GB" b="1" dirty="0"/>
          </a:p>
        </p:txBody>
      </p:sp>
      <p:graphicFrame>
        <p:nvGraphicFramePr>
          <p:cNvPr id="4" name="Table 4">
            <a:extLst>
              <a:ext uri="{FF2B5EF4-FFF2-40B4-BE49-F238E27FC236}">
                <a16:creationId xmlns:a16="http://schemas.microsoft.com/office/drawing/2014/main" id="{B5292EE0-673E-4967-B868-67A3A3815E6C}"/>
              </a:ext>
            </a:extLst>
          </p:cNvPr>
          <p:cNvGraphicFramePr>
            <a:graphicFrameLocks noGrp="1"/>
          </p:cNvGraphicFramePr>
          <p:nvPr>
            <p:ph idx="1"/>
            <p:extLst>
              <p:ext uri="{D42A27DB-BD31-4B8C-83A1-F6EECF244321}">
                <p14:modId xmlns:p14="http://schemas.microsoft.com/office/powerpoint/2010/main" val="70008772"/>
              </p:ext>
            </p:extLst>
          </p:nvPr>
        </p:nvGraphicFramePr>
        <p:xfrm>
          <a:off x="838200" y="2526960"/>
          <a:ext cx="10515600" cy="4211191"/>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953000454"/>
                    </a:ext>
                  </a:extLst>
                </a:gridCol>
                <a:gridCol w="5257800">
                  <a:extLst>
                    <a:ext uri="{9D8B030D-6E8A-4147-A177-3AD203B41FA5}">
                      <a16:colId xmlns:a16="http://schemas.microsoft.com/office/drawing/2014/main" val="3998657497"/>
                    </a:ext>
                  </a:extLst>
                </a:gridCol>
              </a:tblGrid>
              <a:tr h="4211191">
                <a:tc>
                  <a:txBody>
                    <a:bodyPr/>
                    <a:lstStyle/>
                    <a:p>
                      <a:pPr marL="285750" indent="-285750">
                        <a:buFont typeface="Arial" panose="020B0604020202020204" pitchFamily="34" charset="0"/>
                        <a:buChar char="•"/>
                      </a:pPr>
                      <a:r>
                        <a:rPr lang="en-US" sz="1800" b="0" i="0" kern="1200" dirty="0">
                          <a:solidFill>
                            <a:schemeClr val="lt1"/>
                          </a:solidFill>
                          <a:effectLst/>
                          <a:latin typeface="+mn-lt"/>
                          <a:ea typeface="+mn-ea"/>
                          <a:cs typeface="+mn-cs"/>
                        </a:rPr>
                        <a:t>So, for example, the philosopher Kant thought that it would be wrong to tell a lie in order to save a friend from a murderer.</a:t>
                      </a:r>
                    </a:p>
                    <a:p>
                      <a:pPr marL="285750" indent="-285750">
                        <a:buFont typeface="Arial" panose="020B0604020202020204" pitchFamily="34" charset="0"/>
                        <a:buChar char="•"/>
                      </a:pPr>
                      <a:endParaRPr lang="en-US" sz="1800" b="0" i="0" kern="1200" dirty="0">
                        <a:solidFill>
                          <a:schemeClr val="lt1"/>
                        </a:solidFill>
                        <a:effectLst/>
                        <a:latin typeface="+mn-lt"/>
                        <a:ea typeface="+mn-ea"/>
                        <a:cs typeface="+mn-cs"/>
                      </a:endParaRPr>
                    </a:p>
                    <a:p>
                      <a:pPr marL="285750" indent="-285750">
                        <a:buFont typeface="Arial" panose="020B0604020202020204" pitchFamily="34" charset="0"/>
                        <a:buChar char="•"/>
                      </a:pPr>
                      <a:r>
                        <a:rPr lang="en-US" sz="1800" b="0" i="0" kern="1200" dirty="0">
                          <a:solidFill>
                            <a:schemeClr val="lt1"/>
                          </a:solidFill>
                          <a:effectLst/>
                          <a:latin typeface="+mn-lt"/>
                          <a:ea typeface="+mn-ea"/>
                          <a:cs typeface="+mn-cs"/>
                        </a:rPr>
                        <a:t>If we compare Deontologists with Consequentialists we can see that Consequentialists begin by considering what things are good, and identify 'right' actions as the ones that produce the maximum of those good things.</a:t>
                      </a:r>
                    </a:p>
                    <a:p>
                      <a:pPr marL="285750" indent="-285750">
                        <a:buFont typeface="Arial" panose="020B0604020202020204" pitchFamily="34" charset="0"/>
                        <a:buChar char="•"/>
                      </a:pPr>
                      <a:endParaRPr lang="en-US" sz="1800" b="0" i="0" kern="1200" dirty="0">
                        <a:solidFill>
                          <a:schemeClr val="lt1"/>
                        </a:solidFill>
                        <a:effectLst/>
                        <a:latin typeface="+mn-lt"/>
                        <a:ea typeface="+mn-ea"/>
                        <a:cs typeface="+mn-cs"/>
                      </a:endParaRPr>
                    </a:p>
                    <a:p>
                      <a:pPr marL="285750" indent="-285750">
                        <a:buFont typeface="Arial" panose="020B0604020202020204" pitchFamily="34" charset="0"/>
                        <a:buChar char="•"/>
                      </a:pPr>
                      <a:r>
                        <a:rPr lang="en-US" sz="1800" b="0" i="0" kern="1200" dirty="0">
                          <a:solidFill>
                            <a:schemeClr val="lt1"/>
                          </a:solidFill>
                          <a:effectLst/>
                          <a:latin typeface="+mn-lt"/>
                          <a:ea typeface="+mn-ea"/>
                          <a:cs typeface="+mn-cs"/>
                        </a:rPr>
                        <a:t>Deontologists appear to do it the other way around; they first consider what actions are 'right' and proceed from there.</a:t>
                      </a:r>
                    </a:p>
                    <a:p>
                      <a:endParaRPr lang="en-GB" dirty="0"/>
                    </a:p>
                  </a:txBody>
                  <a:tcPr/>
                </a:tc>
                <a:tc>
                  <a:txBody>
                    <a:bodyPr/>
                    <a:lstStyle/>
                    <a:p>
                      <a:r>
                        <a:rPr lang="en-US" sz="1800" b="0" i="1" kern="1200" dirty="0">
                          <a:solidFill>
                            <a:schemeClr val="lt1"/>
                          </a:solidFill>
                          <a:effectLst/>
                          <a:latin typeface="+mn-lt"/>
                          <a:ea typeface="+mn-ea"/>
                          <a:cs typeface="+mn-cs"/>
                        </a:rPr>
                        <a:t>Deontology is associated with philosopher Immanuel Kant, who believed that ethical actions follow universal moral laws. Universal moral laws here refers to rules such as don’t kill, don’t lie, don’t steal. According to this theory, people have to do the right action, even if it brings bad results. For example, imagine you have received a gift from a friend, but you hate this gift. Your friend wants to know whether you like the gift. You believe that lying is a bad action, no matter the results; therefore, you would </a:t>
                      </a:r>
                      <a:r>
                        <a:rPr lang="en-US" sz="1800" b="0" i="1" kern="1200">
                          <a:solidFill>
                            <a:schemeClr val="lt1"/>
                          </a:solidFill>
                          <a:effectLst/>
                          <a:latin typeface="+mn-lt"/>
                          <a:ea typeface="+mn-ea"/>
                          <a:cs typeface="+mn-cs"/>
                        </a:rPr>
                        <a:t>tell her that </a:t>
                      </a:r>
                      <a:r>
                        <a:rPr lang="en-US" sz="1800" b="0" i="1" kern="1200" dirty="0">
                          <a:solidFill>
                            <a:schemeClr val="lt1"/>
                          </a:solidFill>
                          <a:effectLst/>
                          <a:latin typeface="+mn-lt"/>
                          <a:ea typeface="+mn-ea"/>
                          <a:cs typeface="+mn-cs"/>
                        </a:rPr>
                        <a:t>you hate it even if you are hurting your friend. Here, you are demonstrating a deontological position as you are disregarding the possible consequences of your actions when determining what is right and what is wrong.</a:t>
                      </a:r>
                      <a:endParaRPr lang="en-GB" i="1" dirty="0"/>
                    </a:p>
                  </a:txBody>
                  <a:tcPr/>
                </a:tc>
                <a:extLst>
                  <a:ext uri="{0D108BD9-81ED-4DB2-BD59-A6C34878D82A}">
                    <a16:rowId xmlns:a16="http://schemas.microsoft.com/office/drawing/2014/main" val="3962230483"/>
                  </a:ext>
                </a:extLst>
              </a:tr>
            </a:tbl>
          </a:graphicData>
        </a:graphic>
      </p:graphicFrame>
      <p:pic>
        <p:nvPicPr>
          <p:cNvPr id="5" name="Picture 4">
            <a:extLst>
              <a:ext uri="{FF2B5EF4-FFF2-40B4-BE49-F238E27FC236}">
                <a16:creationId xmlns:a16="http://schemas.microsoft.com/office/drawing/2014/main" id="{2415AE71-76E6-43FC-BF75-59A389893DC5}"/>
              </a:ext>
            </a:extLst>
          </p:cNvPr>
          <p:cNvPicPr>
            <a:picLocks noChangeAspect="1"/>
          </p:cNvPicPr>
          <p:nvPr/>
        </p:nvPicPr>
        <p:blipFill>
          <a:blip r:embed="rId2"/>
          <a:stretch>
            <a:fillRect/>
          </a:stretch>
        </p:blipFill>
        <p:spPr>
          <a:xfrm>
            <a:off x="7483876" y="927245"/>
            <a:ext cx="4637103" cy="1577341"/>
          </a:xfrm>
          <a:prstGeom prst="rect">
            <a:avLst/>
          </a:prstGeom>
        </p:spPr>
      </p:pic>
    </p:spTree>
    <p:extLst>
      <p:ext uri="{BB962C8B-B14F-4D97-AF65-F5344CB8AC3E}">
        <p14:creationId xmlns:p14="http://schemas.microsoft.com/office/powerpoint/2010/main" val="3260136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788C6-B962-4F0A-8661-694AA4B3BB55}"/>
              </a:ext>
            </a:extLst>
          </p:cNvPr>
          <p:cNvSpPr>
            <a:spLocks noGrp="1"/>
          </p:cNvSpPr>
          <p:nvPr>
            <p:ph type="title"/>
          </p:nvPr>
        </p:nvSpPr>
        <p:spPr>
          <a:xfrm>
            <a:off x="838200" y="62145"/>
            <a:ext cx="10515600" cy="914399"/>
          </a:xfrm>
        </p:spPr>
        <p:txBody>
          <a:bodyPr/>
          <a:lstStyle/>
          <a:p>
            <a:r>
              <a:rPr lang="en-US" b="1" dirty="0"/>
              <a:t>Human Rights Approach</a:t>
            </a:r>
            <a:endParaRPr lang="en-GB" b="1" dirty="0"/>
          </a:p>
        </p:txBody>
      </p:sp>
      <p:graphicFrame>
        <p:nvGraphicFramePr>
          <p:cNvPr id="4" name="Table 4">
            <a:extLst>
              <a:ext uri="{FF2B5EF4-FFF2-40B4-BE49-F238E27FC236}">
                <a16:creationId xmlns:a16="http://schemas.microsoft.com/office/drawing/2014/main" id="{CFDF9754-F29C-4B46-8C12-ED7B14299C16}"/>
              </a:ext>
            </a:extLst>
          </p:cNvPr>
          <p:cNvGraphicFramePr>
            <a:graphicFrameLocks noGrp="1"/>
          </p:cNvGraphicFramePr>
          <p:nvPr>
            <p:ph idx="1"/>
            <p:extLst>
              <p:ext uri="{D42A27DB-BD31-4B8C-83A1-F6EECF244321}">
                <p14:modId xmlns:p14="http://schemas.microsoft.com/office/powerpoint/2010/main" val="1888440045"/>
              </p:ext>
            </p:extLst>
          </p:nvPr>
        </p:nvGraphicFramePr>
        <p:xfrm>
          <a:off x="838200" y="976544"/>
          <a:ext cx="10515600" cy="5577840"/>
        </p:xfrm>
        <a:graphic>
          <a:graphicData uri="http://schemas.openxmlformats.org/drawingml/2006/table">
            <a:tbl>
              <a:tblPr firstRow="1" bandRow="1">
                <a:tableStyleId>{5C22544A-7EE6-4342-B048-85BDC9FD1C3A}</a:tableStyleId>
              </a:tblPr>
              <a:tblGrid>
                <a:gridCol w="5979850">
                  <a:extLst>
                    <a:ext uri="{9D8B030D-6E8A-4147-A177-3AD203B41FA5}">
                      <a16:colId xmlns:a16="http://schemas.microsoft.com/office/drawing/2014/main" val="3454279210"/>
                    </a:ext>
                  </a:extLst>
                </a:gridCol>
                <a:gridCol w="4535750">
                  <a:extLst>
                    <a:ext uri="{9D8B030D-6E8A-4147-A177-3AD203B41FA5}">
                      <a16:colId xmlns:a16="http://schemas.microsoft.com/office/drawing/2014/main" val="1985269168"/>
                    </a:ext>
                  </a:extLst>
                </a:gridCol>
              </a:tblGrid>
              <a:tr h="5237825">
                <a:tc>
                  <a:txBody>
                    <a:bodyPr/>
                    <a:lstStyle/>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This approach focuses on respect for </a:t>
                      </a:r>
                      <a:r>
                        <a:rPr lang="en-US" sz="1800" b="1" i="0" u="sng" strike="noStrike" kern="1200" baseline="0" dirty="0">
                          <a:solidFill>
                            <a:schemeClr val="lt1"/>
                          </a:solidFill>
                          <a:latin typeface="+mn-lt"/>
                          <a:ea typeface="+mn-ea"/>
                          <a:cs typeface="+mn-cs"/>
                        </a:rPr>
                        <a:t>human dignity</a:t>
                      </a:r>
                      <a:r>
                        <a:rPr lang="en-US" sz="1800" b="0" i="0" u="none" strike="noStrike" kern="1200" baseline="0" dirty="0">
                          <a:solidFill>
                            <a:schemeClr val="lt1"/>
                          </a:solidFill>
                          <a:latin typeface="+mn-lt"/>
                          <a:ea typeface="+mn-ea"/>
                          <a:cs typeface="+mn-cs"/>
                        </a:rPr>
                        <a:t>.</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 The Human Rights Approach bases its framework for ethical decision-making on the </a:t>
                      </a:r>
                      <a:r>
                        <a:rPr lang="en-US" sz="1800" b="0" i="0" u="sng" strike="noStrike" kern="1200" baseline="0" dirty="0">
                          <a:solidFill>
                            <a:schemeClr val="lt1"/>
                          </a:solidFill>
                          <a:latin typeface="+mn-lt"/>
                          <a:ea typeface="+mn-ea"/>
                          <a:cs typeface="+mn-cs"/>
                        </a:rPr>
                        <a:t>various rights </a:t>
                      </a:r>
                      <a:r>
                        <a:rPr lang="en-US" sz="1800" b="0" i="0" u="none" strike="noStrike" kern="1200" baseline="0" dirty="0">
                          <a:solidFill>
                            <a:schemeClr val="lt1"/>
                          </a:solidFill>
                          <a:latin typeface="+mn-lt"/>
                          <a:ea typeface="+mn-ea"/>
                          <a:cs typeface="+mn-cs"/>
                        </a:rPr>
                        <a:t>we have as human beings. Some of these rights are articulated in our Constitution and in the United Nation’s Universal Declaration of Human Rights.</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Under the Human Rights Approach, the most ethical option would be the one we have a moral obligation to perform that </a:t>
                      </a:r>
                      <a:r>
                        <a:rPr lang="en-US" sz="1800" b="1" i="0" u="sng" strike="noStrike" kern="1200" baseline="0" dirty="0">
                          <a:solidFill>
                            <a:schemeClr val="lt1"/>
                          </a:solidFill>
                          <a:latin typeface="+mn-lt"/>
                          <a:ea typeface="+mn-ea"/>
                          <a:cs typeface="+mn-cs"/>
                        </a:rPr>
                        <a:t>does not infringe on the rights of others</a:t>
                      </a:r>
                      <a:r>
                        <a:rPr lang="en-US" sz="1800" b="0" i="0" u="none" strike="noStrike" kern="1200" baseline="0" dirty="0">
                          <a:solidFill>
                            <a:schemeClr val="lt1"/>
                          </a:solidFill>
                          <a:latin typeface="+mn-lt"/>
                          <a:ea typeface="+mn-ea"/>
                          <a:cs typeface="+mn-cs"/>
                        </a:rPr>
                        <a:t>. </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Human beings have a right to be treated as ends and not merely puppets where the end justifies the means. They have rights to choices e.g. what kind of life to lead, to be told the truth, not to be injured, to a degree of privacy.</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In the event where the rights of conflicting parties are being dissected, this approach prioritizes the action that best protects those rights.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sng" strike="noStrike" kern="1200" baseline="0" dirty="0">
                          <a:solidFill>
                            <a:schemeClr val="lt1"/>
                          </a:solidFill>
                          <a:latin typeface="+mn-lt"/>
                          <a:ea typeface="+mn-ea"/>
                          <a:cs typeface="+mn-cs"/>
                        </a:rPr>
                        <a:t>For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lt1"/>
                        </a:solidFill>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kern="1200" baseline="0" dirty="0">
                          <a:solidFill>
                            <a:schemeClr val="lt1"/>
                          </a:solidFill>
                          <a:latin typeface="+mn-lt"/>
                          <a:ea typeface="+mn-ea"/>
                          <a:cs typeface="+mn-cs"/>
                        </a:rPr>
                        <a:t>In  South Africa, the right to freedom of speech is generally protected, but citizens do not have the right to needlessly scream “Fire!” in a crowded theatre or to use their freedom of speech as an excuse to trample on others’ right to dignity with hate speech.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lt1"/>
                        </a:solidFill>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kern="1200" baseline="0" dirty="0">
                          <a:solidFill>
                            <a:schemeClr val="lt1"/>
                          </a:solidFill>
                          <a:latin typeface="+mn-lt"/>
                          <a:ea typeface="+mn-ea"/>
                          <a:cs typeface="+mn-cs"/>
                        </a:rPr>
                        <a:t>The South African Bill of Rights allows us freedom of association, meaning that individuals have a right to belong to any organization of their choice and to mix with anybody of their choice. If an employer forbids his employees from joining a trade union, it goes against their rights according to the Bill of Rights.</a:t>
                      </a:r>
                      <a:endParaRPr lang="en-GB" dirty="0"/>
                    </a:p>
                    <a:p>
                      <a:endParaRPr lang="en-GB" dirty="0"/>
                    </a:p>
                  </a:txBody>
                  <a:tcPr/>
                </a:tc>
                <a:extLst>
                  <a:ext uri="{0D108BD9-81ED-4DB2-BD59-A6C34878D82A}">
                    <a16:rowId xmlns:a16="http://schemas.microsoft.com/office/drawing/2014/main" val="1522917277"/>
                  </a:ext>
                </a:extLst>
              </a:tr>
            </a:tbl>
          </a:graphicData>
        </a:graphic>
      </p:graphicFrame>
    </p:spTree>
    <p:extLst>
      <p:ext uri="{BB962C8B-B14F-4D97-AF65-F5344CB8AC3E}">
        <p14:creationId xmlns:p14="http://schemas.microsoft.com/office/powerpoint/2010/main" val="1492416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B4934-2CFB-47E9-89FB-8B44A06FFD50}"/>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C8EEE9C8-C9B6-40F0-871C-8EC19583DBB3}"/>
              </a:ext>
            </a:extLst>
          </p:cNvPr>
          <p:cNvPicPr>
            <a:picLocks noGrp="1" noChangeAspect="1"/>
          </p:cNvPicPr>
          <p:nvPr>
            <p:ph idx="1"/>
          </p:nvPr>
        </p:nvPicPr>
        <p:blipFill>
          <a:blip r:embed="rId2"/>
          <a:stretch>
            <a:fillRect/>
          </a:stretch>
        </p:blipFill>
        <p:spPr>
          <a:xfrm>
            <a:off x="838200" y="365125"/>
            <a:ext cx="10649505" cy="6230984"/>
          </a:xfrm>
        </p:spPr>
      </p:pic>
    </p:spTree>
    <p:extLst>
      <p:ext uri="{BB962C8B-B14F-4D97-AF65-F5344CB8AC3E}">
        <p14:creationId xmlns:p14="http://schemas.microsoft.com/office/powerpoint/2010/main" val="1336600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DFC5-E085-4B1C-A544-F5C2491DD7FB}"/>
              </a:ext>
            </a:extLst>
          </p:cNvPr>
          <p:cNvSpPr>
            <a:spLocks noGrp="1"/>
          </p:cNvSpPr>
          <p:nvPr>
            <p:ph type="title"/>
          </p:nvPr>
        </p:nvSpPr>
        <p:spPr>
          <a:xfrm>
            <a:off x="838200" y="-62143"/>
            <a:ext cx="10515600" cy="1260628"/>
          </a:xfrm>
        </p:spPr>
        <p:txBody>
          <a:bodyPr/>
          <a:lstStyle/>
          <a:p>
            <a:r>
              <a:rPr lang="en-US" b="1" dirty="0"/>
              <a:t>3. Fairness/Justice Approach</a:t>
            </a:r>
            <a:endParaRPr lang="en-GB" b="1" dirty="0"/>
          </a:p>
        </p:txBody>
      </p:sp>
      <p:graphicFrame>
        <p:nvGraphicFramePr>
          <p:cNvPr id="4" name="Table 4">
            <a:extLst>
              <a:ext uri="{FF2B5EF4-FFF2-40B4-BE49-F238E27FC236}">
                <a16:creationId xmlns:a16="http://schemas.microsoft.com/office/drawing/2014/main" id="{7115C76D-BD37-4672-A595-AC621EC6F4F3}"/>
              </a:ext>
            </a:extLst>
          </p:cNvPr>
          <p:cNvGraphicFramePr>
            <a:graphicFrameLocks noGrp="1"/>
          </p:cNvGraphicFramePr>
          <p:nvPr>
            <p:ph idx="1"/>
            <p:extLst>
              <p:ext uri="{D42A27DB-BD31-4B8C-83A1-F6EECF244321}">
                <p14:modId xmlns:p14="http://schemas.microsoft.com/office/powerpoint/2010/main" val="1622005397"/>
              </p:ext>
            </p:extLst>
          </p:nvPr>
        </p:nvGraphicFramePr>
        <p:xfrm>
          <a:off x="838200" y="1198485"/>
          <a:ext cx="10515600" cy="5273336"/>
        </p:xfrm>
        <a:graphic>
          <a:graphicData uri="http://schemas.openxmlformats.org/drawingml/2006/table">
            <a:tbl>
              <a:tblPr firstRow="1" bandRow="1">
                <a:tableStyleId>{5C22544A-7EE6-4342-B048-85BDC9FD1C3A}</a:tableStyleId>
              </a:tblPr>
              <a:tblGrid>
                <a:gridCol w="6255058">
                  <a:extLst>
                    <a:ext uri="{9D8B030D-6E8A-4147-A177-3AD203B41FA5}">
                      <a16:colId xmlns:a16="http://schemas.microsoft.com/office/drawing/2014/main" val="1556593734"/>
                    </a:ext>
                  </a:extLst>
                </a:gridCol>
                <a:gridCol w="4260542">
                  <a:extLst>
                    <a:ext uri="{9D8B030D-6E8A-4147-A177-3AD203B41FA5}">
                      <a16:colId xmlns:a16="http://schemas.microsoft.com/office/drawing/2014/main" val="3988214815"/>
                    </a:ext>
                  </a:extLst>
                </a:gridCol>
              </a:tblGrid>
              <a:tr h="5273336">
                <a:tc>
                  <a:txBody>
                    <a:bodyPr/>
                    <a:lstStyle/>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This approach focuses on the </a:t>
                      </a:r>
                      <a:r>
                        <a:rPr lang="en-US" sz="1800" b="1" i="0" u="sng" strike="noStrike" kern="1200" baseline="0" dirty="0">
                          <a:solidFill>
                            <a:schemeClr val="lt1"/>
                          </a:solidFill>
                          <a:latin typeface="+mn-lt"/>
                          <a:ea typeface="+mn-ea"/>
                          <a:cs typeface="+mn-cs"/>
                        </a:rPr>
                        <a:t>fair and equitable distribution </a:t>
                      </a:r>
                      <a:r>
                        <a:rPr lang="en-US" sz="1800" b="0" i="0" u="none" strike="noStrike" kern="1200" baseline="0" dirty="0">
                          <a:solidFill>
                            <a:schemeClr val="lt1"/>
                          </a:solidFill>
                          <a:latin typeface="+mn-lt"/>
                          <a:ea typeface="+mn-ea"/>
                          <a:cs typeface="+mn-cs"/>
                        </a:rPr>
                        <a:t>of good and harm across the spectrum of society. </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Under the Fairness Approach, all equals should be treated equal. In addition, those who are unequal should be treated </a:t>
                      </a:r>
                      <a:r>
                        <a:rPr lang="en-US" sz="1800" b="0" i="0" u="sng" strike="noStrike" kern="1200" baseline="0" dirty="0">
                          <a:solidFill>
                            <a:schemeClr val="lt1"/>
                          </a:solidFill>
                          <a:latin typeface="+mn-lt"/>
                          <a:ea typeface="+mn-ea"/>
                          <a:cs typeface="+mn-cs"/>
                        </a:rPr>
                        <a:t>differently</a:t>
                      </a:r>
                      <a:r>
                        <a:rPr lang="en-US" sz="1800" b="0" i="0" u="none" strike="noStrike" kern="1200" baseline="0" dirty="0">
                          <a:solidFill>
                            <a:schemeClr val="lt1"/>
                          </a:solidFill>
                          <a:latin typeface="+mn-lt"/>
                          <a:ea typeface="+mn-ea"/>
                          <a:cs typeface="+mn-cs"/>
                        </a:rPr>
                        <a:t> in a manner that is </a:t>
                      </a:r>
                      <a:r>
                        <a:rPr lang="en-US" sz="1800" b="0" i="0" u="sng" strike="noStrike" kern="1200" baseline="0" dirty="0">
                          <a:solidFill>
                            <a:schemeClr val="lt1"/>
                          </a:solidFill>
                          <a:latin typeface="+mn-lt"/>
                          <a:ea typeface="+mn-ea"/>
                          <a:cs typeface="+mn-cs"/>
                        </a:rPr>
                        <a:t>proportionate to their difference</a:t>
                      </a:r>
                      <a:r>
                        <a:rPr lang="en-US" sz="1800" b="0" i="0" u="none" strike="noStrike" kern="1200" baseline="0" dirty="0">
                          <a:solidFill>
                            <a:schemeClr val="lt1"/>
                          </a:solidFill>
                          <a:latin typeface="+mn-lt"/>
                          <a:ea typeface="+mn-ea"/>
                          <a:cs typeface="+mn-cs"/>
                        </a:rPr>
                        <a:t>.  Ethical decisions must be on an equitable, fair and impartial distribution of benefits and costs among individuals and groups. </a:t>
                      </a:r>
                      <a:r>
                        <a:rPr lang="en-US" sz="1800" b="0" i="0" u="none" strike="noStrike" kern="1200" baseline="0" dirty="0" err="1">
                          <a:solidFill>
                            <a:schemeClr val="lt1"/>
                          </a:solidFill>
                          <a:latin typeface="+mn-lt"/>
                          <a:ea typeface="+mn-ea"/>
                          <a:cs typeface="+mn-cs"/>
                        </a:rPr>
                        <a:t>Organisations</a:t>
                      </a:r>
                      <a:r>
                        <a:rPr lang="en-US" sz="1800" b="0" i="0" u="none" strike="noStrike" kern="1200" baseline="0" dirty="0">
                          <a:solidFill>
                            <a:schemeClr val="lt1"/>
                          </a:solidFill>
                          <a:latin typeface="+mn-lt"/>
                          <a:ea typeface="+mn-ea"/>
                          <a:cs typeface="+mn-cs"/>
                        </a:rPr>
                        <a:t> will consider who pays the costs and who gets the benefits.</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An example of the Fairness Approach is the different salaries for a group of employees based on their contribution to their company’s </a:t>
                      </a:r>
                      <a:r>
                        <a:rPr lang="en-GB" sz="1800" b="0" i="0" u="none" strike="noStrike" kern="1200" baseline="0" dirty="0">
                          <a:solidFill>
                            <a:schemeClr val="lt1"/>
                          </a:solidFill>
                          <a:latin typeface="+mn-lt"/>
                          <a:ea typeface="+mn-ea"/>
                          <a:cs typeface="+mn-cs"/>
                        </a:rPr>
                        <a:t>profitability.</a:t>
                      </a:r>
                    </a:p>
                    <a:p>
                      <a:pPr marL="285750" indent="-285750">
                        <a:buFont typeface="Arial" panose="020B0604020202020204" pitchFamily="34" charset="0"/>
                        <a:buChar char="•"/>
                      </a:pPr>
                      <a:endParaRPr lang="en-GB" sz="1800" b="0" i="0" u="none" strike="noStrike" kern="1200" baseline="0" dirty="0">
                        <a:solidFill>
                          <a:schemeClr val="lt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lt1"/>
                          </a:solidFill>
                          <a:latin typeface="+mn-lt"/>
                          <a:ea typeface="+mn-ea"/>
                          <a:cs typeface="+mn-cs"/>
                        </a:rPr>
                        <a:t>So in a nutshell: Ethical actions should treat all human beings equally, or if unequally, then fairly based on some standard that is </a:t>
                      </a:r>
                      <a:r>
                        <a:rPr lang="en-GB" sz="1800" b="1" i="0" u="none" strike="noStrike" kern="1200" baseline="0" dirty="0">
                          <a:solidFill>
                            <a:schemeClr val="lt1"/>
                          </a:solidFill>
                          <a:latin typeface="+mn-lt"/>
                          <a:ea typeface="+mn-ea"/>
                          <a:cs typeface="+mn-cs"/>
                        </a:rPr>
                        <a:t>defensible</a:t>
                      </a:r>
                      <a:r>
                        <a:rPr lang="en-GB" sz="1800" b="0" i="0" u="none" strike="noStrike" kern="1200" baseline="0" dirty="0">
                          <a:solidFill>
                            <a:schemeClr val="lt1"/>
                          </a:solidFill>
                          <a:latin typeface="+mn-lt"/>
                          <a:ea typeface="+mn-ea"/>
                          <a:cs typeface="+mn-cs"/>
                        </a:rPr>
                        <a:t>.</a:t>
                      </a:r>
                      <a:endParaRPr lang="en-GB" dirty="0"/>
                    </a:p>
                    <a:p>
                      <a:endParaRPr lang="en-GB" dirty="0"/>
                    </a:p>
                  </a:txBody>
                  <a:tcPr/>
                </a:tc>
                <a:extLst>
                  <a:ext uri="{0D108BD9-81ED-4DB2-BD59-A6C34878D82A}">
                    <a16:rowId xmlns:a16="http://schemas.microsoft.com/office/drawing/2014/main" val="1403605075"/>
                  </a:ext>
                </a:extLst>
              </a:tr>
            </a:tbl>
          </a:graphicData>
        </a:graphic>
      </p:graphicFrame>
      <p:pic>
        <p:nvPicPr>
          <p:cNvPr id="6" name="Picture 5">
            <a:extLst>
              <a:ext uri="{FF2B5EF4-FFF2-40B4-BE49-F238E27FC236}">
                <a16:creationId xmlns:a16="http://schemas.microsoft.com/office/drawing/2014/main" id="{B853B3F3-C35A-455C-A97D-9C648DFE69C7}"/>
              </a:ext>
            </a:extLst>
          </p:cNvPr>
          <p:cNvPicPr>
            <a:picLocks noChangeAspect="1"/>
          </p:cNvPicPr>
          <p:nvPr/>
        </p:nvPicPr>
        <p:blipFill>
          <a:blip r:embed="rId2"/>
          <a:stretch>
            <a:fillRect/>
          </a:stretch>
        </p:blipFill>
        <p:spPr>
          <a:xfrm>
            <a:off x="7279688" y="2672177"/>
            <a:ext cx="3906175" cy="3480047"/>
          </a:xfrm>
          <a:prstGeom prst="rect">
            <a:avLst/>
          </a:prstGeom>
        </p:spPr>
      </p:pic>
    </p:spTree>
    <p:extLst>
      <p:ext uri="{BB962C8B-B14F-4D97-AF65-F5344CB8AC3E}">
        <p14:creationId xmlns:p14="http://schemas.microsoft.com/office/powerpoint/2010/main" val="2022505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70E7-A5B3-4869-A123-4E4323B8B324}"/>
              </a:ext>
            </a:extLst>
          </p:cNvPr>
          <p:cNvSpPr>
            <a:spLocks noGrp="1"/>
          </p:cNvSpPr>
          <p:nvPr>
            <p:ph type="title"/>
          </p:nvPr>
        </p:nvSpPr>
        <p:spPr>
          <a:xfrm>
            <a:off x="838200" y="1"/>
            <a:ext cx="10515600" cy="1038686"/>
          </a:xfrm>
        </p:spPr>
        <p:txBody>
          <a:bodyPr/>
          <a:lstStyle/>
          <a:p>
            <a:r>
              <a:rPr lang="en-US" b="1" dirty="0"/>
              <a:t>4. Common Good Approach</a:t>
            </a:r>
            <a:endParaRPr lang="en-GB" b="1" dirty="0"/>
          </a:p>
        </p:txBody>
      </p:sp>
      <p:graphicFrame>
        <p:nvGraphicFramePr>
          <p:cNvPr id="4" name="Table 4">
            <a:extLst>
              <a:ext uri="{FF2B5EF4-FFF2-40B4-BE49-F238E27FC236}">
                <a16:creationId xmlns:a16="http://schemas.microsoft.com/office/drawing/2014/main" id="{2F02BD24-5F1F-4E83-A1C5-74BAD3180C76}"/>
              </a:ext>
            </a:extLst>
          </p:cNvPr>
          <p:cNvGraphicFramePr>
            <a:graphicFrameLocks noGrp="1"/>
          </p:cNvGraphicFramePr>
          <p:nvPr>
            <p:ph idx="1"/>
            <p:extLst>
              <p:ext uri="{D42A27DB-BD31-4B8C-83A1-F6EECF244321}">
                <p14:modId xmlns:p14="http://schemas.microsoft.com/office/powerpoint/2010/main" val="2907598044"/>
              </p:ext>
            </p:extLst>
          </p:nvPr>
        </p:nvGraphicFramePr>
        <p:xfrm>
          <a:off x="838200" y="1157778"/>
          <a:ext cx="10515600" cy="5074345"/>
        </p:xfrm>
        <a:graphic>
          <a:graphicData uri="http://schemas.openxmlformats.org/drawingml/2006/table">
            <a:tbl>
              <a:tblPr firstRow="1" bandRow="1">
                <a:tableStyleId>{5C22544A-7EE6-4342-B048-85BDC9FD1C3A}</a:tableStyleId>
              </a:tblPr>
              <a:tblGrid>
                <a:gridCol w="6956394">
                  <a:extLst>
                    <a:ext uri="{9D8B030D-6E8A-4147-A177-3AD203B41FA5}">
                      <a16:colId xmlns:a16="http://schemas.microsoft.com/office/drawing/2014/main" val="832406396"/>
                    </a:ext>
                  </a:extLst>
                </a:gridCol>
                <a:gridCol w="3559206">
                  <a:extLst>
                    <a:ext uri="{9D8B030D-6E8A-4147-A177-3AD203B41FA5}">
                      <a16:colId xmlns:a16="http://schemas.microsoft.com/office/drawing/2014/main" val="2360053758"/>
                    </a:ext>
                  </a:extLst>
                </a:gridCol>
              </a:tblGrid>
              <a:tr h="5074345">
                <a:tc>
                  <a:txBody>
                    <a:bodyPr/>
                    <a:lstStyle/>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This approach regards all individuals as </a:t>
                      </a:r>
                      <a:r>
                        <a:rPr lang="en-US" sz="1800" b="1" i="0" u="sng" strike="noStrike" kern="1200" baseline="0" dirty="0">
                          <a:solidFill>
                            <a:schemeClr val="lt1"/>
                          </a:solidFill>
                          <a:latin typeface="+mn-lt"/>
                          <a:ea typeface="+mn-ea"/>
                          <a:cs typeface="+mn-cs"/>
                        </a:rPr>
                        <a:t>part of a larger community</a:t>
                      </a:r>
                      <a:r>
                        <a:rPr lang="en-US" sz="1800" b="0" i="0" u="none" strike="noStrike" kern="1200" baseline="0" dirty="0">
                          <a:solidFill>
                            <a:schemeClr val="lt1"/>
                          </a:solidFill>
                          <a:latin typeface="+mn-lt"/>
                          <a:ea typeface="+mn-ea"/>
                          <a:cs typeface="+mn-cs"/>
                        </a:rPr>
                        <a:t>. </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The Common Good Approach emphasizes the need to safeguard the </a:t>
                      </a:r>
                      <a:r>
                        <a:rPr lang="en-US" sz="1800" b="1" i="0" u="sng" strike="noStrike" kern="1200" baseline="0" dirty="0">
                          <a:solidFill>
                            <a:schemeClr val="lt1"/>
                          </a:solidFill>
                          <a:latin typeface="+mn-lt"/>
                          <a:ea typeface="+mn-ea"/>
                          <a:cs typeface="+mn-cs"/>
                        </a:rPr>
                        <a:t>sustainability of our community in order for society to thrive</a:t>
                      </a:r>
                      <a:r>
                        <a:rPr lang="en-US" sz="1800" b="0" i="0" u="none" strike="noStrike" kern="1200" baseline="0" dirty="0">
                          <a:solidFill>
                            <a:schemeClr val="lt1"/>
                          </a:solidFill>
                          <a:latin typeface="+mn-lt"/>
                          <a:ea typeface="+mn-ea"/>
                          <a:cs typeface="+mn-cs"/>
                        </a:rPr>
                        <a:t>.</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 It is why this approach is useful when the issues being dissected involve the overall picture or environment. Examples of things that nurture the sustainability of our communities are: good schools, effective public safety, a peaceful society, and a just legal system.</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Under the Common Good Approach, an action is tested on whether it </a:t>
                      </a:r>
                      <a:r>
                        <a:rPr lang="en-US" sz="1800" b="1" i="0" u="sng" strike="noStrike" kern="1200" baseline="0" dirty="0">
                          <a:solidFill>
                            <a:schemeClr val="lt1"/>
                          </a:solidFill>
                          <a:latin typeface="+mn-lt"/>
                          <a:ea typeface="+mn-ea"/>
                          <a:cs typeface="+mn-cs"/>
                        </a:rPr>
                        <a:t>benefits or erodes </a:t>
                      </a:r>
                      <a:r>
                        <a:rPr lang="en-US" sz="1800" b="0" i="0" u="none" strike="noStrike" kern="1200" baseline="0" dirty="0">
                          <a:solidFill>
                            <a:schemeClr val="lt1"/>
                          </a:solidFill>
                          <a:latin typeface="+mn-lt"/>
                          <a:ea typeface="+mn-ea"/>
                          <a:cs typeface="+mn-cs"/>
                        </a:rPr>
                        <a:t>a specific element of the common good. </a:t>
                      </a: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In addition, this approach also takes into consideration the action’s </a:t>
                      </a:r>
                      <a:r>
                        <a:rPr lang="en-US" sz="1800" b="1" i="0" u="sng" strike="noStrike" kern="1200" baseline="0" dirty="0">
                          <a:solidFill>
                            <a:schemeClr val="lt1"/>
                          </a:solidFill>
                          <a:latin typeface="+mn-lt"/>
                          <a:ea typeface="+mn-ea"/>
                          <a:cs typeface="+mn-cs"/>
                        </a:rPr>
                        <a:t>overall effect </a:t>
                      </a:r>
                      <a:r>
                        <a:rPr lang="en-US" sz="1800" b="0" i="0" u="none" strike="noStrike" kern="1200" baseline="0" dirty="0">
                          <a:solidFill>
                            <a:schemeClr val="lt1"/>
                          </a:solidFill>
                          <a:latin typeface="+mn-lt"/>
                          <a:ea typeface="+mn-ea"/>
                          <a:cs typeface="+mn-cs"/>
                        </a:rPr>
                        <a:t>on the community. </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This ethical approach ultimately invites us to ask </a:t>
                      </a:r>
                      <a:r>
                        <a:rPr lang="en-US" sz="1800" b="1" i="0" u="sng" strike="noStrike" kern="1200" baseline="0" dirty="0">
                          <a:solidFill>
                            <a:schemeClr val="lt1"/>
                          </a:solidFill>
                          <a:latin typeface="+mn-lt"/>
                          <a:ea typeface="+mn-ea"/>
                          <a:cs typeface="+mn-cs"/>
                        </a:rPr>
                        <a:t>what kind of society </a:t>
                      </a:r>
                      <a:r>
                        <a:rPr lang="en-US" sz="1800" b="0" i="0" u="none" strike="noStrike" kern="1200" baseline="0" dirty="0">
                          <a:solidFill>
                            <a:schemeClr val="lt1"/>
                          </a:solidFill>
                          <a:latin typeface="+mn-lt"/>
                          <a:ea typeface="+mn-ea"/>
                          <a:cs typeface="+mn-cs"/>
                        </a:rPr>
                        <a:t>we are and want to become, and what actions we need to take to achieve that end.</a:t>
                      </a:r>
                      <a:endParaRPr lang="en-GB" dirty="0"/>
                    </a:p>
                  </a:txBody>
                  <a:tcPr/>
                </a:tc>
                <a:tc>
                  <a:txBody>
                    <a:bodyPr/>
                    <a:lstStyle/>
                    <a:p>
                      <a:endParaRPr lang="en-GB" dirty="0"/>
                    </a:p>
                  </a:txBody>
                  <a:tcPr/>
                </a:tc>
                <a:extLst>
                  <a:ext uri="{0D108BD9-81ED-4DB2-BD59-A6C34878D82A}">
                    <a16:rowId xmlns:a16="http://schemas.microsoft.com/office/drawing/2014/main" val="1798964032"/>
                  </a:ext>
                </a:extLst>
              </a:tr>
            </a:tbl>
          </a:graphicData>
        </a:graphic>
      </p:graphicFrame>
      <p:pic>
        <p:nvPicPr>
          <p:cNvPr id="6" name="Picture 5">
            <a:extLst>
              <a:ext uri="{FF2B5EF4-FFF2-40B4-BE49-F238E27FC236}">
                <a16:creationId xmlns:a16="http://schemas.microsoft.com/office/drawing/2014/main" id="{C7E82490-1CE8-4780-9F7D-3B5746E3639B}"/>
              </a:ext>
            </a:extLst>
          </p:cNvPr>
          <p:cNvPicPr>
            <a:picLocks noChangeAspect="1"/>
          </p:cNvPicPr>
          <p:nvPr/>
        </p:nvPicPr>
        <p:blipFill>
          <a:blip r:embed="rId2"/>
          <a:stretch>
            <a:fillRect/>
          </a:stretch>
        </p:blipFill>
        <p:spPr>
          <a:xfrm>
            <a:off x="7830105" y="1157777"/>
            <a:ext cx="3523695" cy="5074345"/>
          </a:xfrm>
          <a:prstGeom prst="rect">
            <a:avLst/>
          </a:prstGeom>
        </p:spPr>
      </p:pic>
    </p:spTree>
    <p:extLst>
      <p:ext uri="{BB962C8B-B14F-4D97-AF65-F5344CB8AC3E}">
        <p14:creationId xmlns:p14="http://schemas.microsoft.com/office/powerpoint/2010/main" val="767952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E62BB-B0B8-4A28-8EEB-BB227DB94F99}"/>
              </a:ext>
            </a:extLst>
          </p:cNvPr>
          <p:cNvSpPr>
            <a:spLocks noGrp="1"/>
          </p:cNvSpPr>
          <p:nvPr>
            <p:ph type="title"/>
          </p:nvPr>
        </p:nvSpPr>
        <p:spPr>
          <a:xfrm>
            <a:off x="838200" y="62145"/>
            <a:ext cx="10515600" cy="1003175"/>
          </a:xfrm>
        </p:spPr>
        <p:txBody>
          <a:bodyPr/>
          <a:lstStyle/>
          <a:p>
            <a:r>
              <a:rPr lang="en-US" b="1" dirty="0"/>
              <a:t>5. The Virtue Approach</a:t>
            </a:r>
            <a:endParaRPr lang="en-GB" b="1" dirty="0"/>
          </a:p>
        </p:txBody>
      </p:sp>
      <p:graphicFrame>
        <p:nvGraphicFramePr>
          <p:cNvPr id="4" name="Table 4">
            <a:extLst>
              <a:ext uri="{FF2B5EF4-FFF2-40B4-BE49-F238E27FC236}">
                <a16:creationId xmlns:a16="http://schemas.microsoft.com/office/drawing/2014/main" id="{B6867E04-9000-47DA-9745-1107F981A90B}"/>
              </a:ext>
            </a:extLst>
          </p:cNvPr>
          <p:cNvGraphicFramePr>
            <a:graphicFrameLocks noGrp="1"/>
          </p:cNvGraphicFramePr>
          <p:nvPr>
            <p:ph idx="1"/>
            <p:extLst>
              <p:ext uri="{D42A27DB-BD31-4B8C-83A1-F6EECF244321}">
                <p14:modId xmlns:p14="http://schemas.microsoft.com/office/powerpoint/2010/main" val="3380781238"/>
              </p:ext>
            </p:extLst>
          </p:nvPr>
        </p:nvGraphicFramePr>
        <p:xfrm>
          <a:off x="838200" y="1065321"/>
          <a:ext cx="10515600" cy="5577840"/>
        </p:xfrm>
        <a:graphic>
          <a:graphicData uri="http://schemas.openxmlformats.org/drawingml/2006/table">
            <a:tbl>
              <a:tblPr firstRow="1" bandRow="1">
                <a:tableStyleId>{5C22544A-7EE6-4342-B048-85BDC9FD1C3A}</a:tableStyleId>
              </a:tblPr>
              <a:tblGrid>
                <a:gridCol w="6166282">
                  <a:extLst>
                    <a:ext uri="{9D8B030D-6E8A-4147-A177-3AD203B41FA5}">
                      <a16:colId xmlns:a16="http://schemas.microsoft.com/office/drawing/2014/main" val="1086186884"/>
                    </a:ext>
                  </a:extLst>
                </a:gridCol>
                <a:gridCol w="4349318">
                  <a:extLst>
                    <a:ext uri="{9D8B030D-6E8A-4147-A177-3AD203B41FA5}">
                      <a16:colId xmlns:a16="http://schemas.microsoft.com/office/drawing/2014/main" val="1417494774"/>
                    </a:ext>
                  </a:extLst>
                </a:gridCol>
              </a:tblGrid>
              <a:tr h="5433134">
                <a:tc>
                  <a:txBody>
                    <a:bodyPr/>
                    <a:lstStyle/>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This approach focuses on elements that make up individual </a:t>
                      </a:r>
                      <a:r>
                        <a:rPr lang="en-US" sz="1800" b="1" i="0" u="sng" strike="noStrike" kern="1200" baseline="0" dirty="0">
                          <a:solidFill>
                            <a:schemeClr val="lt1"/>
                          </a:solidFill>
                          <a:latin typeface="+mn-lt"/>
                          <a:ea typeface="+mn-ea"/>
                          <a:cs typeface="+mn-cs"/>
                        </a:rPr>
                        <a:t>character</a:t>
                      </a:r>
                      <a:r>
                        <a:rPr lang="en-US" sz="1800" b="0" i="0" u="none" strike="noStrike" kern="1200" baseline="0" dirty="0">
                          <a:solidFill>
                            <a:schemeClr val="lt1"/>
                          </a:solidFill>
                          <a:latin typeface="+mn-lt"/>
                          <a:ea typeface="+mn-ea"/>
                          <a:cs typeface="+mn-cs"/>
                        </a:rPr>
                        <a:t>. These elements, or virtues, refer to traits like honesty, kindness, love, civility, loyalty, self-control, integrity, fairness, courage, and generosity. Virtues are dispositions and habits that enable us to act according to the </a:t>
                      </a:r>
                      <a:r>
                        <a:rPr lang="en-US" sz="1800" b="1" i="0" u="sng" strike="noStrike" kern="1200" baseline="0" dirty="0">
                          <a:solidFill>
                            <a:schemeClr val="lt1"/>
                          </a:solidFill>
                          <a:latin typeface="+mn-lt"/>
                          <a:ea typeface="+mn-ea"/>
                          <a:cs typeface="+mn-cs"/>
                        </a:rPr>
                        <a:t>highest potential of our character.</a:t>
                      </a:r>
                      <a:r>
                        <a:rPr lang="en-US" sz="1800" b="0" i="0" u="none" strike="noStrike" kern="1200" baseline="0" dirty="0">
                          <a:solidFill>
                            <a:schemeClr val="lt1"/>
                          </a:solidFill>
                          <a:latin typeface="+mn-lt"/>
                          <a:ea typeface="+mn-ea"/>
                          <a:cs typeface="+mn-cs"/>
                        </a:rPr>
                        <a:t> This theory concentrates on how you can become a better person.</a:t>
                      </a:r>
                      <a:endParaRPr lang="en-US" sz="1800" b="1" i="0" u="sng" strike="noStrike" kern="1200" baseline="0" dirty="0">
                        <a:solidFill>
                          <a:schemeClr val="lt1"/>
                        </a:solidFill>
                        <a:latin typeface="+mn-lt"/>
                        <a:ea typeface="+mn-ea"/>
                        <a:cs typeface="+mn-cs"/>
                      </a:endParaRPr>
                    </a:p>
                    <a:p>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This approach also takes into account the fact that different cultures or societies </a:t>
                      </a:r>
                      <a:r>
                        <a:rPr lang="en-US" sz="1800" b="1" i="0" u="sng" strike="noStrike" kern="1200" baseline="0" dirty="0">
                          <a:solidFill>
                            <a:schemeClr val="lt1"/>
                          </a:solidFill>
                          <a:latin typeface="+mn-lt"/>
                          <a:ea typeface="+mn-ea"/>
                          <a:cs typeface="+mn-cs"/>
                        </a:rPr>
                        <a:t>value certain virtues more than others</a:t>
                      </a:r>
                      <a:r>
                        <a:rPr lang="en-US" sz="1800" b="0" i="0" u="none" strike="noStrike" kern="1200" baseline="0" dirty="0">
                          <a:solidFill>
                            <a:schemeClr val="lt1"/>
                          </a:solidFill>
                          <a:latin typeface="+mn-lt"/>
                          <a:ea typeface="+mn-ea"/>
                          <a:cs typeface="+mn-cs"/>
                        </a:rPr>
                        <a:t>. </a:t>
                      </a:r>
                    </a:p>
                    <a:p>
                      <a:pPr marL="285750" indent="-285750">
                        <a:buFont typeface="Arial" panose="020B0604020202020204" pitchFamily="34" charset="0"/>
                        <a:buChar char="•"/>
                      </a:pPr>
                      <a:endParaRPr lang="en-US" sz="1800" b="0" i="0" u="none" strike="noStrike" kern="1200" baseline="0" dirty="0">
                        <a:solidFill>
                          <a:schemeClr val="lt1"/>
                        </a:solidFill>
                        <a:latin typeface="+mn-lt"/>
                        <a:ea typeface="+mn-ea"/>
                        <a:cs typeface="+mn-cs"/>
                      </a:endParaRPr>
                    </a:p>
                    <a:p>
                      <a:pPr marL="0" indent="0">
                        <a:buFont typeface="Arial" panose="020B0604020202020204" pitchFamily="34" charset="0"/>
                        <a:buNone/>
                      </a:pPr>
                      <a:r>
                        <a:rPr lang="en-US" sz="1800" b="0" i="0" u="sng" strike="noStrike" kern="1200" baseline="0" dirty="0">
                          <a:solidFill>
                            <a:schemeClr val="lt1"/>
                          </a:solidFill>
                          <a:latin typeface="+mn-lt"/>
                          <a:ea typeface="+mn-ea"/>
                          <a:cs typeface="+mn-cs"/>
                        </a:rPr>
                        <a:t>Virtue ethics asks of any action: </a:t>
                      </a: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 What kind of person will I become if I do this? or;</a:t>
                      </a: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 Is this action consistent with my acting at my best? </a:t>
                      </a: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 Will it promote the kind of character we value within  ourselves and for our community? </a:t>
                      </a: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Does it represent the kind of enterprise my business aspires to be? </a:t>
                      </a: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If the situation does not proceed as we expect, will this be something we can personally “live with” in the aftermath?</a:t>
                      </a:r>
                      <a:endParaRPr lang="en-GB" dirty="0"/>
                    </a:p>
                  </a:txBody>
                  <a:tcPr/>
                </a:tc>
                <a:tc>
                  <a:txBody>
                    <a:bodyPr/>
                    <a:lstStyle/>
                    <a:p>
                      <a:pPr marL="285750" indent="-285750">
                        <a:buFont typeface="Arial" panose="020B0604020202020204" pitchFamily="34" charset="0"/>
                        <a:buChar char="•"/>
                      </a:pPr>
                      <a:r>
                        <a:rPr lang="en-US" b="0" dirty="0"/>
                        <a:t>Virtue ethics emphasizes character, or virtues, </a:t>
                      </a:r>
                      <a:r>
                        <a:rPr lang="en-US" b="0" u="sng" dirty="0"/>
                        <a:t>rather than rules or consequences</a:t>
                      </a:r>
                      <a:r>
                        <a:rPr lang="en-US" b="0" dirty="0"/>
                        <a:t>, as the key element of ethical thinking.</a:t>
                      </a:r>
                    </a:p>
                    <a:p>
                      <a:pPr marL="285750" indent="-285750">
                        <a:buFont typeface="Arial" panose="020B0604020202020204" pitchFamily="34" charset="0"/>
                        <a:buChar char="•"/>
                      </a:pPr>
                      <a:endParaRPr lang="en-US" b="0" dirty="0"/>
                    </a:p>
                    <a:p>
                      <a:pPr marL="0" indent="0">
                        <a:buFont typeface="Arial" panose="020B0604020202020204" pitchFamily="34" charset="0"/>
                        <a:buNone/>
                      </a:pPr>
                      <a:endParaRPr lang="en-GB" b="0" dirty="0"/>
                    </a:p>
                  </a:txBody>
                  <a:tcPr/>
                </a:tc>
                <a:extLst>
                  <a:ext uri="{0D108BD9-81ED-4DB2-BD59-A6C34878D82A}">
                    <a16:rowId xmlns:a16="http://schemas.microsoft.com/office/drawing/2014/main" val="3750506199"/>
                  </a:ext>
                </a:extLst>
              </a:tr>
            </a:tbl>
          </a:graphicData>
        </a:graphic>
      </p:graphicFrame>
      <p:pic>
        <p:nvPicPr>
          <p:cNvPr id="5" name="Picture 4">
            <a:extLst>
              <a:ext uri="{FF2B5EF4-FFF2-40B4-BE49-F238E27FC236}">
                <a16:creationId xmlns:a16="http://schemas.microsoft.com/office/drawing/2014/main" id="{3A0E22DA-C9EA-487F-B2AB-BDA22FC90C04}"/>
              </a:ext>
            </a:extLst>
          </p:cNvPr>
          <p:cNvPicPr>
            <a:picLocks noChangeAspect="1"/>
          </p:cNvPicPr>
          <p:nvPr/>
        </p:nvPicPr>
        <p:blipFill>
          <a:blip r:embed="rId2"/>
          <a:stretch>
            <a:fillRect/>
          </a:stretch>
        </p:blipFill>
        <p:spPr>
          <a:xfrm>
            <a:off x="7368468" y="2503503"/>
            <a:ext cx="3719744" cy="3835153"/>
          </a:xfrm>
          <a:prstGeom prst="rect">
            <a:avLst/>
          </a:prstGeom>
        </p:spPr>
      </p:pic>
    </p:spTree>
    <p:extLst>
      <p:ext uri="{BB962C8B-B14F-4D97-AF65-F5344CB8AC3E}">
        <p14:creationId xmlns:p14="http://schemas.microsoft.com/office/powerpoint/2010/main" val="3418695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0836-4824-4DDA-B0F7-0F92D05C6D8A}"/>
              </a:ext>
            </a:extLst>
          </p:cNvPr>
          <p:cNvSpPr>
            <a:spLocks noGrp="1"/>
          </p:cNvSpPr>
          <p:nvPr>
            <p:ph type="title"/>
          </p:nvPr>
        </p:nvSpPr>
        <p:spPr>
          <a:xfrm>
            <a:off x="838200" y="1"/>
            <a:ext cx="10515600" cy="1186814"/>
          </a:xfrm>
        </p:spPr>
        <p:txBody>
          <a:bodyPr/>
          <a:lstStyle/>
          <a:p>
            <a:r>
              <a:rPr lang="en-US" b="1" dirty="0"/>
              <a:t>6 approaches of ethical standards</a:t>
            </a:r>
            <a:endParaRPr lang="en-GB" b="1" dirty="0"/>
          </a:p>
        </p:txBody>
      </p:sp>
      <p:graphicFrame>
        <p:nvGraphicFramePr>
          <p:cNvPr id="4" name="Table 4">
            <a:extLst>
              <a:ext uri="{FF2B5EF4-FFF2-40B4-BE49-F238E27FC236}">
                <a16:creationId xmlns:a16="http://schemas.microsoft.com/office/drawing/2014/main" id="{C3331717-B28B-4CFB-9D41-F3C6428AB084}"/>
              </a:ext>
            </a:extLst>
          </p:cNvPr>
          <p:cNvGraphicFramePr>
            <a:graphicFrameLocks noGrp="1"/>
          </p:cNvGraphicFramePr>
          <p:nvPr>
            <p:ph idx="1"/>
            <p:extLst>
              <p:ext uri="{D42A27DB-BD31-4B8C-83A1-F6EECF244321}">
                <p14:modId xmlns:p14="http://schemas.microsoft.com/office/powerpoint/2010/main" val="276496582"/>
              </p:ext>
            </p:extLst>
          </p:nvPr>
        </p:nvGraphicFramePr>
        <p:xfrm>
          <a:off x="1615736" y="1497151"/>
          <a:ext cx="7981025" cy="4348480"/>
        </p:xfrm>
        <a:graphic>
          <a:graphicData uri="http://schemas.openxmlformats.org/drawingml/2006/table">
            <a:tbl>
              <a:tblPr firstRow="1" bandRow="1">
                <a:tableStyleId>{5C22544A-7EE6-4342-B048-85BDC9FD1C3A}</a:tableStyleId>
              </a:tblPr>
              <a:tblGrid>
                <a:gridCol w="2040277">
                  <a:extLst>
                    <a:ext uri="{9D8B030D-6E8A-4147-A177-3AD203B41FA5}">
                      <a16:colId xmlns:a16="http://schemas.microsoft.com/office/drawing/2014/main" val="409394543"/>
                    </a:ext>
                  </a:extLst>
                </a:gridCol>
                <a:gridCol w="5940748">
                  <a:extLst>
                    <a:ext uri="{9D8B030D-6E8A-4147-A177-3AD203B41FA5}">
                      <a16:colId xmlns:a16="http://schemas.microsoft.com/office/drawing/2014/main" val="394602955"/>
                    </a:ext>
                  </a:extLst>
                </a:gridCol>
              </a:tblGrid>
              <a:tr h="370840">
                <a:tc>
                  <a:txBody>
                    <a:bodyPr/>
                    <a:lstStyle/>
                    <a:p>
                      <a:r>
                        <a:rPr lang="en-US" dirty="0"/>
                        <a:t>Approaches</a:t>
                      </a:r>
                      <a:endParaRPr lang="en-GB" dirty="0"/>
                    </a:p>
                  </a:txBody>
                  <a:tcPr>
                    <a:cell3D prstMaterial="dkEdge">
                      <a:bevel h="50800" prst="divot"/>
                      <a:lightRig rig="flood" dir="t"/>
                    </a:cell3D>
                  </a:tcPr>
                </a:tc>
                <a:tc>
                  <a:txBody>
                    <a:bodyPr/>
                    <a:lstStyle/>
                    <a:p>
                      <a:r>
                        <a:rPr lang="en-US" dirty="0"/>
                        <a:t>Summary description</a:t>
                      </a:r>
                      <a:endParaRPr lang="en-GB" dirty="0"/>
                    </a:p>
                  </a:txBody>
                  <a:tcPr>
                    <a:cell3D prstMaterial="dkEdge">
                      <a:bevel h="50800" prst="divot"/>
                      <a:lightRig rig="flood" dir="t"/>
                    </a:cell3D>
                  </a:tcPr>
                </a:tc>
                <a:extLst>
                  <a:ext uri="{0D108BD9-81ED-4DB2-BD59-A6C34878D82A}">
                    <a16:rowId xmlns:a16="http://schemas.microsoft.com/office/drawing/2014/main" val="3134688846"/>
                  </a:ext>
                </a:extLst>
              </a:tr>
              <a:tr h="777240">
                <a:tc>
                  <a:txBody>
                    <a:bodyPr/>
                    <a:lstStyle/>
                    <a:p>
                      <a:r>
                        <a:rPr lang="en-GB" sz="1800" b="1" i="0" u="none" strike="noStrike" kern="1200" baseline="0" dirty="0">
                          <a:solidFill>
                            <a:schemeClr val="dk1"/>
                          </a:solidFill>
                          <a:latin typeface="+mn-lt"/>
                          <a:ea typeface="+mn-ea"/>
                          <a:cs typeface="+mn-cs"/>
                        </a:rPr>
                        <a:t>The utilitarian</a:t>
                      </a:r>
                    </a:p>
                    <a:p>
                      <a:r>
                        <a:rPr lang="en-GB" sz="1800" b="1" i="0" u="none" strike="noStrike" kern="1200" baseline="0" dirty="0">
                          <a:solidFill>
                            <a:schemeClr val="dk1"/>
                          </a:solidFill>
                          <a:latin typeface="+mn-lt"/>
                          <a:ea typeface="+mn-ea"/>
                          <a:cs typeface="+mn-cs"/>
                        </a:rPr>
                        <a:t>approach</a:t>
                      </a:r>
                      <a:endParaRPr lang="en-GB" b="1" dirty="0"/>
                    </a:p>
                  </a:txBody>
                  <a:tcPr>
                    <a:cell3D prstMaterial="dkEdge">
                      <a:bevel h="50800" prst="divot"/>
                      <a:lightRig rig="flood" dir="t"/>
                    </a:cell3D>
                  </a:tcPr>
                </a:tc>
                <a:tc>
                  <a:txBody>
                    <a:bodyPr/>
                    <a:lstStyle/>
                    <a:p>
                      <a:r>
                        <a:rPr lang="en-US" sz="1800" b="0" i="0" u="none" strike="noStrike" kern="1200" baseline="0" dirty="0">
                          <a:solidFill>
                            <a:schemeClr val="dk1"/>
                          </a:solidFill>
                          <a:latin typeface="+mn-lt"/>
                          <a:ea typeface="+mn-ea"/>
                          <a:cs typeface="+mn-cs"/>
                        </a:rPr>
                        <a:t>Which option will produce the most good and do</a:t>
                      </a:r>
                    </a:p>
                    <a:p>
                      <a:r>
                        <a:rPr lang="en-GB" sz="1800" b="0" i="0" u="none" strike="noStrike" kern="1200" baseline="0" dirty="0">
                          <a:solidFill>
                            <a:schemeClr val="dk1"/>
                          </a:solidFill>
                          <a:latin typeface="+mn-lt"/>
                          <a:ea typeface="+mn-ea"/>
                          <a:cs typeface="+mn-cs"/>
                        </a:rPr>
                        <a:t>the least harm?</a:t>
                      </a:r>
                    </a:p>
                  </a:txBody>
                  <a:tcPr>
                    <a:cell3D prstMaterial="dkEdge">
                      <a:bevel h="50800" prst="divot"/>
                      <a:lightRig rig="flood" dir="t"/>
                    </a:cell3D>
                  </a:tcPr>
                </a:tc>
                <a:extLst>
                  <a:ext uri="{0D108BD9-81ED-4DB2-BD59-A6C34878D82A}">
                    <a16:rowId xmlns:a16="http://schemas.microsoft.com/office/drawing/2014/main" val="1550187375"/>
                  </a:ext>
                </a:extLst>
              </a:tr>
              <a:tr h="320040">
                <a:tc>
                  <a:txBody>
                    <a:bodyPr/>
                    <a:lstStyle/>
                    <a:p>
                      <a:r>
                        <a:rPr lang="en-US" b="1" dirty="0"/>
                        <a:t>The deontological approach</a:t>
                      </a:r>
                      <a:endParaRPr lang="en-GB" b="1" dirty="0"/>
                    </a:p>
                  </a:txBody>
                  <a:tcPr>
                    <a:cell3D prstMaterial="dkEdge">
                      <a:bevel h="50800" prst="divot"/>
                      <a:lightRig rig="flood" dir="t"/>
                    </a:cell3D>
                  </a:tcPr>
                </a:tc>
                <a:tc>
                  <a:txBody>
                    <a:bodyPr/>
                    <a:lstStyle/>
                    <a:p>
                      <a:r>
                        <a:rPr lang="en-US" sz="1800" b="0" i="0" u="none" strike="noStrike" kern="1200" baseline="0" dirty="0">
                          <a:solidFill>
                            <a:schemeClr val="dk1"/>
                          </a:solidFill>
                          <a:latin typeface="+mn-lt"/>
                          <a:ea typeface="+mn-ea"/>
                          <a:cs typeface="+mn-cs"/>
                        </a:rPr>
                        <a:t>Which option adheres to my moral duty/obligation?</a:t>
                      </a:r>
                      <a:endParaRPr lang="en-GB" sz="1800" b="0" i="0" u="none" strike="noStrike" kern="1200" baseline="0" dirty="0">
                        <a:solidFill>
                          <a:schemeClr val="dk1"/>
                        </a:solidFill>
                        <a:latin typeface="+mn-lt"/>
                        <a:ea typeface="+mn-ea"/>
                        <a:cs typeface="+mn-cs"/>
                      </a:endParaRPr>
                    </a:p>
                  </a:txBody>
                  <a:tcPr>
                    <a:cell3D prstMaterial="dkEdge">
                      <a:bevel h="50800" prst="divot"/>
                      <a:lightRig rig="flood" dir="t"/>
                    </a:cell3D>
                  </a:tcPr>
                </a:tc>
                <a:extLst>
                  <a:ext uri="{0D108BD9-81ED-4DB2-BD59-A6C34878D82A}">
                    <a16:rowId xmlns:a16="http://schemas.microsoft.com/office/drawing/2014/main" val="2113448829"/>
                  </a:ext>
                </a:extLst>
              </a:tr>
              <a:tr h="370840">
                <a:tc>
                  <a:txBody>
                    <a:bodyPr/>
                    <a:lstStyle/>
                    <a:p>
                      <a:r>
                        <a:rPr lang="en-GB" sz="1800" b="1" i="0" u="none" strike="noStrike" kern="1200" baseline="0" dirty="0">
                          <a:solidFill>
                            <a:schemeClr val="dk1"/>
                          </a:solidFill>
                          <a:latin typeface="+mn-lt"/>
                          <a:ea typeface="+mn-ea"/>
                          <a:cs typeface="+mn-cs"/>
                        </a:rPr>
                        <a:t>The human rights</a:t>
                      </a:r>
                    </a:p>
                    <a:p>
                      <a:r>
                        <a:rPr lang="en-GB" sz="1800" b="1" i="0" u="none" strike="noStrike" kern="1200" baseline="0" dirty="0">
                          <a:solidFill>
                            <a:schemeClr val="dk1"/>
                          </a:solidFill>
                          <a:latin typeface="+mn-lt"/>
                          <a:ea typeface="+mn-ea"/>
                          <a:cs typeface="+mn-cs"/>
                        </a:rPr>
                        <a:t>approach</a:t>
                      </a:r>
                      <a:endParaRPr lang="en-GB" b="1" dirty="0"/>
                    </a:p>
                  </a:txBody>
                  <a:tcPr>
                    <a:cell3D prstMaterial="dkEdge">
                      <a:bevel h="50800" prst="divot"/>
                      <a:lightRig rig="flood" dir="t"/>
                    </a:cell3D>
                  </a:tcPr>
                </a:tc>
                <a:tc>
                  <a:txBody>
                    <a:bodyPr/>
                    <a:lstStyle/>
                    <a:p>
                      <a:r>
                        <a:rPr lang="en-US" sz="1800" b="0" i="0" u="none" strike="noStrike" kern="1200" baseline="0" dirty="0">
                          <a:solidFill>
                            <a:schemeClr val="dk1"/>
                          </a:solidFill>
                          <a:latin typeface="+mn-lt"/>
                          <a:ea typeface="+mn-ea"/>
                          <a:cs typeface="+mn-cs"/>
                        </a:rPr>
                        <a:t>Which option best respects the rights of all</a:t>
                      </a:r>
                    </a:p>
                    <a:p>
                      <a:r>
                        <a:rPr lang="en-GB" sz="1800" b="0" i="0" u="none" strike="noStrike" kern="1200" baseline="0" dirty="0">
                          <a:solidFill>
                            <a:schemeClr val="dk1"/>
                          </a:solidFill>
                          <a:latin typeface="+mn-lt"/>
                          <a:ea typeface="+mn-ea"/>
                          <a:cs typeface="+mn-cs"/>
                        </a:rPr>
                        <a:t>stakeholders?</a:t>
                      </a:r>
                      <a:endParaRPr lang="en-GB" dirty="0"/>
                    </a:p>
                  </a:txBody>
                  <a:tcPr>
                    <a:cell3D prstMaterial="dkEdge">
                      <a:bevel h="50800" prst="divot"/>
                      <a:lightRig rig="flood" dir="t"/>
                    </a:cell3D>
                  </a:tcPr>
                </a:tc>
                <a:extLst>
                  <a:ext uri="{0D108BD9-81ED-4DB2-BD59-A6C34878D82A}">
                    <a16:rowId xmlns:a16="http://schemas.microsoft.com/office/drawing/2014/main" val="2208195350"/>
                  </a:ext>
                </a:extLst>
              </a:tr>
              <a:tr h="370840">
                <a:tc>
                  <a:txBody>
                    <a:bodyPr/>
                    <a:lstStyle/>
                    <a:p>
                      <a:r>
                        <a:rPr lang="en-GB" sz="1800" b="1" i="0" u="none" strike="noStrike" kern="1200" baseline="0" dirty="0">
                          <a:solidFill>
                            <a:schemeClr val="dk1"/>
                          </a:solidFill>
                          <a:latin typeface="+mn-lt"/>
                          <a:ea typeface="+mn-ea"/>
                          <a:cs typeface="+mn-cs"/>
                        </a:rPr>
                        <a:t>The fairness or</a:t>
                      </a:r>
                    </a:p>
                    <a:p>
                      <a:r>
                        <a:rPr lang="en-GB" sz="1800" b="1" i="0" u="none" strike="noStrike" kern="1200" baseline="0" dirty="0">
                          <a:solidFill>
                            <a:schemeClr val="dk1"/>
                          </a:solidFill>
                          <a:latin typeface="+mn-lt"/>
                          <a:ea typeface="+mn-ea"/>
                          <a:cs typeface="+mn-cs"/>
                        </a:rPr>
                        <a:t>justice approach</a:t>
                      </a:r>
                      <a:endParaRPr lang="en-GB" b="1" dirty="0"/>
                    </a:p>
                  </a:txBody>
                  <a:tcPr>
                    <a:cell3D prstMaterial="dkEdge">
                      <a:bevel h="50800" prst="divot"/>
                      <a:lightRig rig="flood" dir="t"/>
                    </a:cell3D>
                  </a:tcPr>
                </a:tc>
                <a:tc>
                  <a:txBody>
                    <a:bodyPr/>
                    <a:lstStyle/>
                    <a:p>
                      <a:r>
                        <a:rPr lang="en-US" sz="1800" b="0" i="0" u="none" strike="noStrike" kern="1200" baseline="0" dirty="0">
                          <a:solidFill>
                            <a:schemeClr val="dk1"/>
                          </a:solidFill>
                          <a:latin typeface="+mn-lt"/>
                          <a:ea typeface="+mn-ea"/>
                          <a:cs typeface="+mn-cs"/>
                        </a:rPr>
                        <a:t>Which option treats people equally or</a:t>
                      </a:r>
                    </a:p>
                    <a:p>
                      <a:r>
                        <a:rPr lang="en-GB" sz="1800" b="0" i="0" u="none" strike="noStrike" kern="1200" baseline="0" dirty="0">
                          <a:solidFill>
                            <a:schemeClr val="dk1"/>
                          </a:solidFill>
                          <a:latin typeface="+mn-lt"/>
                          <a:ea typeface="+mn-ea"/>
                          <a:cs typeface="+mn-cs"/>
                        </a:rPr>
                        <a:t>proportionately?</a:t>
                      </a:r>
                      <a:endParaRPr lang="en-GB" dirty="0"/>
                    </a:p>
                  </a:txBody>
                  <a:tcPr>
                    <a:cell3D prstMaterial="dkEdge">
                      <a:bevel h="50800" prst="divot"/>
                      <a:lightRig rig="flood" dir="t"/>
                    </a:cell3D>
                  </a:tcPr>
                </a:tc>
                <a:extLst>
                  <a:ext uri="{0D108BD9-81ED-4DB2-BD59-A6C34878D82A}">
                    <a16:rowId xmlns:a16="http://schemas.microsoft.com/office/drawing/2014/main" val="152191597"/>
                  </a:ext>
                </a:extLst>
              </a:tr>
              <a:tr h="457200">
                <a:tc>
                  <a:txBody>
                    <a:bodyPr/>
                    <a:lstStyle/>
                    <a:p>
                      <a:r>
                        <a:rPr lang="en-GB" sz="1800" b="1" i="0" u="none" strike="noStrike" kern="1200" baseline="0" dirty="0">
                          <a:solidFill>
                            <a:schemeClr val="dk1"/>
                          </a:solidFill>
                          <a:latin typeface="+mn-lt"/>
                          <a:ea typeface="+mn-ea"/>
                          <a:cs typeface="+mn-cs"/>
                        </a:rPr>
                        <a:t>The common good</a:t>
                      </a:r>
                    </a:p>
                    <a:p>
                      <a:r>
                        <a:rPr lang="en-GB" sz="1800" b="1" i="0" u="none" strike="noStrike" kern="1200" baseline="0" dirty="0">
                          <a:solidFill>
                            <a:schemeClr val="dk1"/>
                          </a:solidFill>
                          <a:latin typeface="+mn-lt"/>
                          <a:ea typeface="+mn-ea"/>
                          <a:cs typeface="+mn-cs"/>
                        </a:rPr>
                        <a:t>approach</a:t>
                      </a:r>
                      <a:endParaRPr lang="en-US" b="1" dirty="0"/>
                    </a:p>
                  </a:txBody>
                  <a:tcPr>
                    <a:cell3D prstMaterial="dkEdge">
                      <a:bevel h="50800" prst="divot"/>
                      <a:lightRig rig="flood" dir="t"/>
                    </a:cell3D>
                  </a:tcPr>
                </a:tc>
                <a:tc>
                  <a:txBody>
                    <a:bodyPr/>
                    <a:lstStyle/>
                    <a:p>
                      <a:r>
                        <a:rPr lang="en-US" sz="1800" b="0" i="0" u="none" strike="noStrike" kern="1200" baseline="0" dirty="0">
                          <a:solidFill>
                            <a:schemeClr val="dk1"/>
                          </a:solidFill>
                          <a:latin typeface="+mn-lt"/>
                          <a:ea typeface="+mn-ea"/>
                          <a:cs typeface="+mn-cs"/>
                        </a:rPr>
                        <a:t>Which option best serves the community as a</a:t>
                      </a:r>
                    </a:p>
                    <a:p>
                      <a:r>
                        <a:rPr lang="en-US" sz="1800" b="0" i="0" u="none" strike="noStrike" kern="1200" baseline="0" dirty="0">
                          <a:solidFill>
                            <a:schemeClr val="dk1"/>
                          </a:solidFill>
                          <a:latin typeface="+mn-lt"/>
                          <a:ea typeface="+mn-ea"/>
                          <a:cs typeface="+mn-cs"/>
                        </a:rPr>
                        <a:t>whole, not just some members?</a:t>
                      </a:r>
                    </a:p>
                  </a:txBody>
                  <a:tcPr>
                    <a:cell3D prstMaterial="dkEdge">
                      <a:bevel h="50800" prst="divot"/>
                      <a:lightRig rig="flood" dir="t"/>
                    </a:cell3D>
                  </a:tcPr>
                </a:tc>
                <a:extLst>
                  <a:ext uri="{0D108BD9-81ED-4DB2-BD59-A6C34878D82A}">
                    <a16:rowId xmlns:a16="http://schemas.microsoft.com/office/drawing/2014/main" val="1379451992"/>
                  </a:ext>
                </a:extLst>
              </a:tr>
              <a:tr h="457200">
                <a:tc>
                  <a:txBody>
                    <a:bodyPr/>
                    <a:lstStyle/>
                    <a:p>
                      <a:r>
                        <a:rPr lang="en-US" b="1" dirty="0"/>
                        <a:t>The virtue approach</a:t>
                      </a:r>
                      <a:endParaRPr lang="en-GB" b="1" dirty="0"/>
                    </a:p>
                  </a:txBody>
                  <a:tcPr>
                    <a:cell3D prstMaterial="dkEdge">
                      <a:bevel h="50800" prst="divot"/>
                      <a:lightRig rig="flood" dir="t"/>
                    </a:cell3D>
                  </a:tcPr>
                </a:tc>
                <a:tc>
                  <a:txBody>
                    <a:bodyPr/>
                    <a:lstStyle/>
                    <a:p>
                      <a:r>
                        <a:rPr lang="en-US" sz="1800" b="0" i="0" u="none" strike="noStrike" kern="1200" baseline="0" dirty="0">
                          <a:solidFill>
                            <a:schemeClr val="dk1"/>
                          </a:solidFill>
                          <a:latin typeface="+mn-lt"/>
                          <a:ea typeface="+mn-ea"/>
                          <a:cs typeface="+mn-cs"/>
                        </a:rPr>
                        <a:t>Which option leads me to act as the sort of</a:t>
                      </a:r>
                    </a:p>
                    <a:p>
                      <a:r>
                        <a:rPr lang="en-US" sz="1800" b="0" i="0" u="none" strike="noStrike" kern="1200" baseline="0" dirty="0">
                          <a:solidFill>
                            <a:schemeClr val="dk1"/>
                          </a:solidFill>
                          <a:latin typeface="+mn-lt"/>
                          <a:ea typeface="+mn-ea"/>
                          <a:cs typeface="+mn-cs"/>
                        </a:rPr>
                        <a:t>person I want to be?</a:t>
                      </a:r>
                      <a:endParaRPr lang="en-GB" dirty="0"/>
                    </a:p>
                  </a:txBody>
                  <a:tcPr>
                    <a:cell3D prstMaterial="dkEdge">
                      <a:bevel h="50800" prst="divot"/>
                      <a:lightRig rig="flood" dir="t"/>
                    </a:cell3D>
                  </a:tcPr>
                </a:tc>
                <a:extLst>
                  <a:ext uri="{0D108BD9-81ED-4DB2-BD59-A6C34878D82A}">
                    <a16:rowId xmlns:a16="http://schemas.microsoft.com/office/drawing/2014/main" val="3748760061"/>
                  </a:ext>
                </a:extLst>
              </a:tr>
            </a:tbl>
          </a:graphicData>
        </a:graphic>
      </p:graphicFrame>
    </p:spTree>
    <p:extLst>
      <p:ext uri="{BB962C8B-B14F-4D97-AF65-F5344CB8AC3E}">
        <p14:creationId xmlns:p14="http://schemas.microsoft.com/office/powerpoint/2010/main" val="3023657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437F5-EA04-42EF-8C70-E38BB88C4CB7}"/>
              </a:ext>
            </a:extLst>
          </p:cNvPr>
          <p:cNvSpPr>
            <a:spLocks noGrp="1"/>
          </p:cNvSpPr>
          <p:nvPr>
            <p:ph type="title"/>
          </p:nvPr>
        </p:nvSpPr>
        <p:spPr/>
        <p:txBody>
          <a:bodyPr/>
          <a:lstStyle/>
          <a:p>
            <a:r>
              <a:rPr lang="en-US" b="1" dirty="0"/>
              <a:t>Last thoughts…</a:t>
            </a:r>
            <a:endParaRPr lang="en-GB" b="1" dirty="0"/>
          </a:p>
        </p:txBody>
      </p:sp>
      <p:graphicFrame>
        <p:nvGraphicFramePr>
          <p:cNvPr id="4" name="Table 4">
            <a:extLst>
              <a:ext uri="{FF2B5EF4-FFF2-40B4-BE49-F238E27FC236}">
                <a16:creationId xmlns:a16="http://schemas.microsoft.com/office/drawing/2014/main" id="{E936550A-778B-4B0E-85B6-C071269393E7}"/>
              </a:ext>
            </a:extLst>
          </p:cNvPr>
          <p:cNvGraphicFramePr>
            <a:graphicFrameLocks noGrp="1"/>
          </p:cNvGraphicFramePr>
          <p:nvPr>
            <p:ph idx="1"/>
            <p:extLst>
              <p:ext uri="{D42A27DB-BD31-4B8C-83A1-F6EECF244321}">
                <p14:modId xmlns:p14="http://schemas.microsoft.com/office/powerpoint/2010/main" val="1749360785"/>
              </p:ext>
            </p:extLst>
          </p:nvPr>
        </p:nvGraphicFramePr>
        <p:xfrm>
          <a:off x="838200" y="1825624"/>
          <a:ext cx="10515600" cy="4575175"/>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705094276"/>
                    </a:ext>
                  </a:extLst>
                </a:gridCol>
                <a:gridCol w="5257800">
                  <a:extLst>
                    <a:ext uri="{9D8B030D-6E8A-4147-A177-3AD203B41FA5}">
                      <a16:colId xmlns:a16="http://schemas.microsoft.com/office/drawing/2014/main" val="599743210"/>
                    </a:ext>
                  </a:extLst>
                </a:gridCol>
              </a:tblGrid>
              <a:tr h="4575175">
                <a:tc>
                  <a:txBody>
                    <a:bodyPr/>
                    <a:lstStyle/>
                    <a:p>
                      <a:pPr marL="0" indent="0">
                        <a:buFont typeface="Arial" panose="020B0604020202020204" pitchFamily="34" charset="0"/>
                        <a:buNone/>
                      </a:pPr>
                      <a:endParaRPr lang="en-US"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We may not agree on the </a:t>
                      </a:r>
                      <a:r>
                        <a:rPr lang="en-US" sz="1800" b="1" i="0" u="none" strike="noStrike" kern="1200" baseline="0" dirty="0">
                          <a:solidFill>
                            <a:schemeClr val="lt1"/>
                          </a:solidFill>
                          <a:latin typeface="+mn-lt"/>
                          <a:ea typeface="+mn-ea"/>
                          <a:cs typeface="+mn-cs"/>
                        </a:rPr>
                        <a:t>content </a:t>
                      </a:r>
                      <a:r>
                        <a:rPr lang="en-US" sz="1800" b="0" i="0" u="none" strike="noStrike" kern="1200" baseline="0" dirty="0">
                          <a:solidFill>
                            <a:schemeClr val="lt1"/>
                          </a:solidFill>
                          <a:latin typeface="+mn-lt"/>
                          <a:ea typeface="+mn-ea"/>
                          <a:cs typeface="+mn-cs"/>
                        </a:rPr>
                        <a:t>of some of these </a:t>
                      </a:r>
                      <a:r>
                        <a:rPr lang="en-GB" sz="1800" b="0" i="0" u="none" strike="noStrike" kern="1200" baseline="0" dirty="0">
                          <a:solidFill>
                            <a:schemeClr val="lt1"/>
                          </a:solidFill>
                          <a:latin typeface="+mn-lt"/>
                          <a:ea typeface="+mn-ea"/>
                          <a:cs typeface="+mn-cs"/>
                        </a:rPr>
                        <a:t>specific approaches.</a:t>
                      </a:r>
                    </a:p>
                    <a:p>
                      <a:pPr marL="285750" indent="-285750">
                        <a:buFont typeface="Arial" panose="020B0604020202020204" pitchFamily="34" charset="0"/>
                        <a:buChar char="•"/>
                      </a:pPr>
                      <a:endParaRPr lang="en-GB"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We may not agree to the same set of human and </a:t>
                      </a:r>
                      <a:r>
                        <a:rPr lang="en-GB" sz="1800" b="0" i="0" u="none" strike="noStrike" kern="1200" baseline="0" dirty="0">
                          <a:solidFill>
                            <a:schemeClr val="lt1"/>
                          </a:solidFill>
                          <a:latin typeface="+mn-lt"/>
                          <a:ea typeface="+mn-ea"/>
                          <a:cs typeface="+mn-cs"/>
                        </a:rPr>
                        <a:t>civil </a:t>
                      </a:r>
                      <a:r>
                        <a:rPr lang="en-GB" sz="1800" b="1" i="0" u="none" strike="noStrike" kern="1200" baseline="0" dirty="0">
                          <a:solidFill>
                            <a:schemeClr val="lt1"/>
                          </a:solidFill>
                          <a:latin typeface="+mn-lt"/>
                          <a:ea typeface="+mn-ea"/>
                          <a:cs typeface="+mn-cs"/>
                        </a:rPr>
                        <a:t>rights</a:t>
                      </a:r>
                      <a:r>
                        <a:rPr lang="en-GB" sz="1800" b="0" i="0" u="none" strike="noStrike" kern="1200" baseline="0" dirty="0">
                          <a:solidFill>
                            <a:schemeClr val="lt1"/>
                          </a:solidFill>
                          <a:latin typeface="+mn-lt"/>
                          <a:ea typeface="+mn-ea"/>
                          <a:cs typeface="+mn-cs"/>
                        </a:rPr>
                        <a:t>.</a:t>
                      </a:r>
                    </a:p>
                    <a:p>
                      <a:pPr marL="285750" indent="-285750">
                        <a:buFont typeface="Arial" panose="020B0604020202020204" pitchFamily="34" charset="0"/>
                        <a:buChar char="•"/>
                      </a:pPr>
                      <a:endParaRPr lang="en-GB" sz="1800" b="0"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We may not agree on </a:t>
                      </a:r>
                      <a:r>
                        <a:rPr lang="en-GB" sz="1800" b="0" i="0" u="none" strike="noStrike" kern="1200" baseline="0" dirty="0">
                          <a:solidFill>
                            <a:schemeClr val="lt1"/>
                          </a:solidFill>
                          <a:latin typeface="+mn-lt"/>
                          <a:ea typeface="+mn-ea"/>
                          <a:cs typeface="+mn-cs"/>
                        </a:rPr>
                        <a:t>what constitutes the </a:t>
                      </a:r>
                      <a:r>
                        <a:rPr lang="en-GB" sz="1800" b="1" i="0" u="none" strike="noStrike" kern="1200" baseline="0" dirty="0">
                          <a:solidFill>
                            <a:schemeClr val="lt1"/>
                          </a:solidFill>
                          <a:latin typeface="+mn-lt"/>
                          <a:ea typeface="+mn-ea"/>
                          <a:cs typeface="+mn-cs"/>
                        </a:rPr>
                        <a:t>common good.</a:t>
                      </a:r>
                    </a:p>
                    <a:p>
                      <a:pPr marL="285750" indent="-285750">
                        <a:buFont typeface="Arial" panose="020B0604020202020204" pitchFamily="34" charset="0"/>
                        <a:buChar char="•"/>
                      </a:pPr>
                      <a:endParaRPr lang="en-GB" sz="1800" b="1"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US" sz="1800" b="0" i="0" u="none" strike="noStrike" kern="1200" baseline="0" dirty="0">
                          <a:solidFill>
                            <a:schemeClr val="lt1"/>
                          </a:solidFill>
                          <a:latin typeface="+mn-lt"/>
                          <a:ea typeface="+mn-ea"/>
                          <a:cs typeface="+mn-cs"/>
                        </a:rPr>
                        <a:t>We may not agree on what is a good and what </a:t>
                      </a:r>
                      <a:r>
                        <a:rPr lang="en-GB" sz="1800" b="0" i="0" u="none" strike="noStrike" kern="1200" baseline="0" dirty="0">
                          <a:solidFill>
                            <a:schemeClr val="lt1"/>
                          </a:solidFill>
                          <a:latin typeface="+mn-lt"/>
                          <a:ea typeface="+mn-ea"/>
                          <a:cs typeface="+mn-cs"/>
                        </a:rPr>
                        <a:t>is a harmful </a:t>
                      </a:r>
                      <a:r>
                        <a:rPr lang="en-GB" sz="1800" b="1" i="0" u="none" strike="noStrike" kern="1200" baseline="0" dirty="0">
                          <a:solidFill>
                            <a:schemeClr val="lt1"/>
                          </a:solidFill>
                          <a:latin typeface="+mn-lt"/>
                          <a:ea typeface="+mn-ea"/>
                          <a:cs typeface="+mn-cs"/>
                        </a:rPr>
                        <a:t>action.</a:t>
                      </a:r>
                    </a:p>
                    <a:p>
                      <a:pPr marL="285750" indent="-285750">
                        <a:buFont typeface="Arial" panose="020B0604020202020204" pitchFamily="34" charset="0"/>
                        <a:buChar char="•"/>
                      </a:pPr>
                      <a:endParaRPr lang="en-GB" sz="1800" b="1" i="0" u="none" strike="noStrike" kern="1200" baseline="0" dirty="0">
                        <a:solidFill>
                          <a:schemeClr val="lt1"/>
                        </a:solidFill>
                        <a:latin typeface="+mn-lt"/>
                        <a:ea typeface="+mn-ea"/>
                        <a:cs typeface="+mn-cs"/>
                      </a:endParaRPr>
                    </a:p>
                    <a:p>
                      <a:pPr marL="285750" indent="-285750">
                        <a:buFont typeface="Arial" panose="020B0604020202020204" pitchFamily="34" charset="0"/>
                        <a:buChar char="•"/>
                      </a:pPr>
                      <a:r>
                        <a:rPr lang="en-GB" sz="1800" b="1" i="0" u="none" strike="noStrike" kern="1200" baseline="0" dirty="0">
                          <a:solidFill>
                            <a:schemeClr val="lt1"/>
                          </a:solidFill>
                          <a:latin typeface="+mn-lt"/>
                          <a:ea typeface="+mn-ea"/>
                          <a:cs typeface="+mn-cs"/>
                        </a:rPr>
                        <a:t>But remember to always reflect on your </a:t>
                      </a:r>
                      <a:r>
                        <a:rPr lang="en-GB" sz="1800" b="1" i="0" u="sng" strike="noStrike" kern="1200" baseline="0" dirty="0">
                          <a:solidFill>
                            <a:schemeClr val="lt1"/>
                          </a:solidFill>
                          <a:latin typeface="+mn-lt"/>
                          <a:ea typeface="+mn-ea"/>
                          <a:cs typeface="+mn-cs"/>
                        </a:rPr>
                        <a:t>ethical reasoning</a:t>
                      </a:r>
                      <a:r>
                        <a:rPr lang="en-GB" sz="1800" b="1" i="0" u="none" strike="noStrike" kern="1200" baseline="0" dirty="0">
                          <a:solidFill>
                            <a:schemeClr val="lt1"/>
                          </a:solidFill>
                          <a:latin typeface="+mn-lt"/>
                          <a:ea typeface="+mn-ea"/>
                          <a:cs typeface="+mn-cs"/>
                        </a:rPr>
                        <a:t> substantiating your approach or viewpoint.</a:t>
                      </a:r>
                      <a:endParaRPr lang="en-GB" dirty="0"/>
                    </a:p>
                  </a:txBody>
                  <a:tcPr/>
                </a:tc>
                <a:tc>
                  <a:txBody>
                    <a:bodyPr/>
                    <a:lstStyle/>
                    <a:p>
                      <a:endParaRPr lang="en-GB" dirty="0"/>
                    </a:p>
                  </a:txBody>
                  <a:tcPr/>
                </a:tc>
                <a:extLst>
                  <a:ext uri="{0D108BD9-81ED-4DB2-BD59-A6C34878D82A}">
                    <a16:rowId xmlns:a16="http://schemas.microsoft.com/office/drawing/2014/main" val="1067939394"/>
                  </a:ext>
                </a:extLst>
              </a:tr>
            </a:tbl>
          </a:graphicData>
        </a:graphic>
      </p:graphicFrame>
      <p:pic>
        <p:nvPicPr>
          <p:cNvPr id="6" name="Picture 5">
            <a:extLst>
              <a:ext uri="{FF2B5EF4-FFF2-40B4-BE49-F238E27FC236}">
                <a16:creationId xmlns:a16="http://schemas.microsoft.com/office/drawing/2014/main" id="{E60F1DB8-716F-40F2-9A63-51200BA1BE9A}"/>
              </a:ext>
            </a:extLst>
          </p:cNvPr>
          <p:cNvPicPr>
            <a:picLocks noChangeAspect="1"/>
          </p:cNvPicPr>
          <p:nvPr/>
        </p:nvPicPr>
        <p:blipFill>
          <a:blip r:embed="rId2"/>
          <a:stretch>
            <a:fillRect/>
          </a:stretch>
        </p:blipFill>
        <p:spPr>
          <a:xfrm>
            <a:off x="6096000" y="1825624"/>
            <a:ext cx="5257799" cy="4575175"/>
          </a:xfrm>
          <a:prstGeom prst="rect">
            <a:avLst/>
          </a:prstGeom>
        </p:spPr>
      </p:pic>
    </p:spTree>
    <p:extLst>
      <p:ext uri="{BB962C8B-B14F-4D97-AF65-F5344CB8AC3E}">
        <p14:creationId xmlns:p14="http://schemas.microsoft.com/office/powerpoint/2010/main" val="1042301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09E5D-57A4-49FA-BA40-A2F690494CC9}"/>
              </a:ext>
            </a:extLst>
          </p:cNvPr>
          <p:cNvSpPr>
            <a:spLocks noGrp="1"/>
          </p:cNvSpPr>
          <p:nvPr>
            <p:ph type="title"/>
          </p:nvPr>
        </p:nvSpPr>
        <p:spPr>
          <a:xfrm>
            <a:off x="838200" y="106533"/>
            <a:ext cx="10515600" cy="1136341"/>
          </a:xfrm>
        </p:spPr>
        <p:txBody>
          <a:bodyPr/>
          <a:lstStyle/>
          <a:p>
            <a:r>
              <a:rPr lang="en-US" b="1" dirty="0"/>
              <a:t>Decision criteria for ethical reasoning</a:t>
            </a:r>
            <a:endParaRPr lang="en-GB" b="1" dirty="0"/>
          </a:p>
        </p:txBody>
      </p:sp>
      <p:sp>
        <p:nvSpPr>
          <p:cNvPr id="3" name="Content Placeholder 2">
            <a:extLst>
              <a:ext uri="{FF2B5EF4-FFF2-40B4-BE49-F238E27FC236}">
                <a16:creationId xmlns:a16="http://schemas.microsoft.com/office/drawing/2014/main" id="{B79713E1-78D9-44DF-A2E4-1B9D7EF511CB}"/>
              </a:ext>
            </a:extLst>
          </p:cNvPr>
          <p:cNvSpPr>
            <a:spLocks noGrp="1"/>
          </p:cNvSpPr>
          <p:nvPr>
            <p:ph idx="1"/>
          </p:nvPr>
        </p:nvSpPr>
        <p:spPr>
          <a:xfrm>
            <a:off x="838200" y="1393794"/>
            <a:ext cx="10515600" cy="4783169"/>
          </a:xfrm>
        </p:spPr>
        <p:txBody>
          <a:bodyPr/>
          <a:lstStyle/>
          <a:p>
            <a:pPr marL="0" indent="0">
              <a:buNone/>
            </a:pPr>
            <a:r>
              <a:rPr lang="en-US" b="0" i="0" u="sng" dirty="0">
                <a:solidFill>
                  <a:srgbClr val="444444"/>
                </a:solidFill>
                <a:effectLst/>
                <a:latin typeface="Open Sans"/>
              </a:rPr>
              <a:t>The following 3 criteria can be used in ethical reasoning:</a:t>
            </a:r>
          </a:p>
          <a:p>
            <a:endParaRPr lang="en-GB" dirty="0"/>
          </a:p>
        </p:txBody>
      </p:sp>
      <p:graphicFrame>
        <p:nvGraphicFramePr>
          <p:cNvPr id="4" name="Diagram 3">
            <a:extLst>
              <a:ext uri="{FF2B5EF4-FFF2-40B4-BE49-F238E27FC236}">
                <a16:creationId xmlns:a16="http://schemas.microsoft.com/office/drawing/2014/main" id="{37778BB3-7ABF-4B29-A81C-EF23DBBBE570}"/>
              </a:ext>
            </a:extLst>
          </p:cNvPr>
          <p:cNvGraphicFramePr/>
          <p:nvPr>
            <p:extLst>
              <p:ext uri="{D42A27DB-BD31-4B8C-83A1-F6EECF244321}">
                <p14:modId xmlns:p14="http://schemas.microsoft.com/office/powerpoint/2010/main" val="4290525947"/>
              </p:ext>
            </p:extLst>
          </p:nvPr>
        </p:nvGraphicFramePr>
        <p:xfrm>
          <a:off x="1571348" y="2121764"/>
          <a:ext cx="9010835" cy="4055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EF3B6110-40BB-4E21-B4ED-D28663A1FCEE}"/>
              </a:ext>
            </a:extLst>
          </p:cNvPr>
          <p:cNvSpPr txBox="1"/>
          <p:nvPr/>
        </p:nvSpPr>
        <p:spPr>
          <a:xfrm>
            <a:off x="1324992" y="6176963"/>
            <a:ext cx="6094520" cy="646331"/>
          </a:xfrm>
          <a:prstGeom prst="rect">
            <a:avLst/>
          </a:prstGeom>
          <a:noFill/>
        </p:spPr>
        <p:txBody>
          <a:bodyPr wrap="square">
            <a:spAutoFit/>
          </a:bodyPr>
          <a:lstStyle/>
          <a:p>
            <a:r>
              <a:rPr lang="en-GB" sz="1800" dirty="0">
                <a:solidFill>
                  <a:srgbClr val="444444"/>
                </a:solidFill>
                <a:effectLst/>
                <a:latin typeface="Helvetica" panose="020B0604020202020204" pitchFamily="34" charset="0"/>
                <a:ea typeface="Times New Roman" panose="02020603050405020304" pitchFamily="18" charset="0"/>
              </a:rPr>
              <a:t> Copyright © 2003 by South-Western, a division of Thomson Learning</a:t>
            </a:r>
            <a:endParaRPr lang="en-GB" dirty="0"/>
          </a:p>
        </p:txBody>
      </p:sp>
    </p:spTree>
    <p:extLst>
      <p:ext uri="{BB962C8B-B14F-4D97-AF65-F5344CB8AC3E}">
        <p14:creationId xmlns:p14="http://schemas.microsoft.com/office/powerpoint/2010/main" val="1542196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2EC49-12E4-473F-A2E8-CDA0E27BC79D}"/>
              </a:ext>
            </a:extLst>
          </p:cNvPr>
          <p:cNvSpPr>
            <a:spLocks noGrp="1"/>
          </p:cNvSpPr>
          <p:nvPr>
            <p:ph type="title"/>
          </p:nvPr>
        </p:nvSpPr>
        <p:spPr/>
        <p:txBody>
          <a:bodyPr/>
          <a:lstStyle/>
          <a:p>
            <a:r>
              <a:rPr lang="en-US" b="1" dirty="0"/>
              <a:t>Sources</a:t>
            </a:r>
            <a:endParaRPr lang="en-GB" b="1" dirty="0"/>
          </a:p>
        </p:txBody>
      </p:sp>
      <p:sp>
        <p:nvSpPr>
          <p:cNvPr id="3" name="Content Placeholder 2">
            <a:extLst>
              <a:ext uri="{FF2B5EF4-FFF2-40B4-BE49-F238E27FC236}">
                <a16:creationId xmlns:a16="http://schemas.microsoft.com/office/drawing/2014/main" id="{A0F5C5EC-FB31-4496-8875-0B363669B2C8}"/>
              </a:ext>
            </a:extLst>
          </p:cNvPr>
          <p:cNvSpPr>
            <a:spLocks noGrp="1"/>
          </p:cNvSpPr>
          <p:nvPr>
            <p:ph idx="1"/>
          </p:nvPr>
        </p:nvSpPr>
        <p:spPr>
          <a:xfrm>
            <a:off x="838200" y="1589103"/>
            <a:ext cx="10515600" cy="4903772"/>
          </a:xfrm>
        </p:spPr>
        <p:txBody>
          <a:bodyPr>
            <a:normAutofit lnSpcReduction="10000"/>
          </a:bodyPr>
          <a:lstStyle/>
          <a:p>
            <a:pPr marL="0" indent="0">
              <a:buNone/>
            </a:pPr>
            <a:r>
              <a:rPr lang="en-US" u="sng" dirty="0"/>
              <a:t>Adapted from:</a:t>
            </a:r>
          </a:p>
          <a:p>
            <a:pPr marL="0" indent="0">
              <a:buNone/>
            </a:pPr>
            <a:endParaRPr lang="en-US" b="0" i="0" u="sng" dirty="0">
              <a:solidFill>
                <a:srgbClr val="444444"/>
              </a:solidFill>
              <a:effectLst/>
              <a:latin typeface="Open Sans"/>
            </a:endParaRPr>
          </a:p>
          <a:p>
            <a:r>
              <a:rPr lang="en-US" sz="1800" dirty="0">
                <a:solidFill>
                  <a:srgbClr val="444444"/>
                </a:solidFill>
                <a:latin typeface="Open Sans"/>
              </a:rPr>
              <a:t>BBC. 2014. Ethics guide. Dut</a:t>
            </a:r>
            <a:r>
              <a:rPr lang="en-US" sz="1800" i="1" dirty="0">
                <a:solidFill>
                  <a:srgbClr val="444444"/>
                </a:solidFill>
                <a:latin typeface="Open Sans"/>
              </a:rPr>
              <a:t>y-based ethics</a:t>
            </a:r>
            <a:r>
              <a:rPr lang="en-US" sz="1800" dirty="0">
                <a:solidFill>
                  <a:srgbClr val="444444"/>
                </a:solidFill>
                <a:latin typeface="Open Sans"/>
              </a:rPr>
              <a:t>. Available at: </a:t>
            </a:r>
            <a:r>
              <a:rPr lang="en-US" sz="1800" dirty="0">
                <a:solidFill>
                  <a:srgbClr val="444444"/>
                </a:solidFill>
                <a:latin typeface="Open Sans"/>
                <a:hlinkClick r:id="rId2"/>
              </a:rPr>
              <a:t>http://www.bbc.co.uk/ethics/introduction/duty_1.shtml#:~:text=Duty%2Dbased%20ethics%20are%20usually,consequences%20that%20may%20be%20produced</a:t>
            </a:r>
            <a:r>
              <a:rPr lang="en-US" sz="1800" dirty="0">
                <a:solidFill>
                  <a:srgbClr val="444444"/>
                </a:solidFill>
                <a:latin typeface="Open Sans"/>
              </a:rPr>
              <a:t>.</a:t>
            </a:r>
          </a:p>
          <a:p>
            <a:endParaRPr lang="en-US" sz="1800" dirty="0"/>
          </a:p>
          <a:p>
            <a:r>
              <a:rPr lang="en-US" sz="1800" dirty="0" err="1"/>
              <a:t>Capsim</a:t>
            </a:r>
            <a:r>
              <a:rPr lang="en-US" sz="1800" dirty="0"/>
              <a:t>. 2020. </a:t>
            </a:r>
            <a:r>
              <a:rPr lang="en-US" sz="1800" i="1" dirty="0"/>
              <a:t>Assessing and Developing Ethical Decision-Making Skills</a:t>
            </a:r>
            <a:r>
              <a:rPr lang="en-US" sz="1800" dirty="0"/>
              <a:t>. Copyright © 2020 </a:t>
            </a:r>
            <a:r>
              <a:rPr lang="en-US" sz="1800" dirty="0" err="1"/>
              <a:t>Capsim</a:t>
            </a:r>
            <a:r>
              <a:rPr lang="en-US" sz="1800" dirty="0"/>
              <a:t> Management Simulations, Inc.</a:t>
            </a:r>
          </a:p>
          <a:p>
            <a:endParaRPr lang="en-US" sz="1800" dirty="0"/>
          </a:p>
          <a:p>
            <a:r>
              <a:rPr lang="en-US" sz="1800" b="0" i="0" dirty="0" err="1">
                <a:solidFill>
                  <a:srgbClr val="444444"/>
                </a:solidFill>
                <a:effectLst/>
                <a:latin typeface="Open Sans"/>
              </a:rPr>
              <a:t>Sideplayer</a:t>
            </a:r>
            <a:r>
              <a:rPr lang="en-US" sz="1800" b="0" i="0" dirty="0">
                <a:solidFill>
                  <a:srgbClr val="444444"/>
                </a:solidFill>
                <a:effectLst/>
                <a:latin typeface="Open Sans"/>
              </a:rPr>
              <a:t>. 2003. Presentation on theme: </a:t>
            </a:r>
            <a:r>
              <a:rPr lang="en-US" sz="1800" b="0" i="1" dirty="0">
                <a:solidFill>
                  <a:srgbClr val="444444"/>
                </a:solidFill>
                <a:effectLst/>
                <a:latin typeface="Open Sans"/>
              </a:rPr>
              <a:t>"Ethical Principles, Quick Tests, And Decision-Making Guidelines</a:t>
            </a:r>
            <a:r>
              <a:rPr lang="en-US" sz="1800" b="0" i="0" dirty="0">
                <a:solidFill>
                  <a:srgbClr val="444444"/>
                </a:solidFill>
                <a:effectLst/>
                <a:latin typeface="Open Sans"/>
              </a:rPr>
              <a:t>“</a:t>
            </a:r>
            <a:r>
              <a:rPr lang="en-GB" sz="1800" dirty="0">
                <a:solidFill>
                  <a:srgbClr val="444444"/>
                </a:solidFill>
                <a:effectLst/>
                <a:latin typeface="Helvetica" panose="020B0604020202020204" pitchFamily="34" charset="0"/>
                <a:ea typeface="Times New Roman" panose="02020603050405020304" pitchFamily="18" charset="0"/>
              </a:rPr>
              <a:t>Copyright © 2003 by South-Western, a division of Thomson Learning. Available at: </a:t>
            </a:r>
            <a:r>
              <a:rPr lang="en-GB" sz="1800" dirty="0">
                <a:solidFill>
                  <a:srgbClr val="444444"/>
                </a:solidFill>
                <a:effectLst/>
                <a:latin typeface="Helvetica" panose="020B0604020202020204" pitchFamily="34" charset="0"/>
                <a:ea typeface="Times New Roman" panose="02020603050405020304" pitchFamily="18" charset="0"/>
                <a:hlinkClick r:id="rId3"/>
              </a:rPr>
              <a:t>https://slideplayer.com/slide/3006795/</a:t>
            </a:r>
            <a:endParaRPr lang="en-GB" sz="1800" dirty="0">
              <a:solidFill>
                <a:srgbClr val="444444"/>
              </a:solidFill>
              <a:effectLst/>
              <a:latin typeface="Helvetica" panose="020B0604020202020204" pitchFamily="34" charset="0"/>
              <a:ea typeface="Times New Roman" panose="02020603050405020304" pitchFamily="18" charset="0"/>
            </a:endParaRPr>
          </a:p>
          <a:p>
            <a:pPr marL="0" indent="0">
              <a:buNone/>
            </a:pPr>
            <a:endParaRPr lang="en-GB" sz="1800" dirty="0">
              <a:solidFill>
                <a:srgbClr val="444444"/>
              </a:solidFill>
              <a:effectLst/>
              <a:latin typeface="Helvetica" panose="020B0604020202020204" pitchFamily="34" charset="0"/>
              <a:ea typeface="Times New Roman" panose="02020603050405020304" pitchFamily="18" charset="0"/>
            </a:endParaRPr>
          </a:p>
          <a:p>
            <a:r>
              <a:rPr lang="en-GB" sz="1800" dirty="0" err="1">
                <a:solidFill>
                  <a:srgbClr val="444444"/>
                </a:solidFill>
                <a:latin typeface="Helvetica" panose="020B0604020202020204" pitchFamily="34" charset="0"/>
                <a:ea typeface="Times New Roman" panose="02020603050405020304" pitchFamily="18" charset="0"/>
              </a:rPr>
              <a:t>Uys</a:t>
            </a:r>
            <a:r>
              <a:rPr lang="en-GB" sz="1800" dirty="0">
                <a:solidFill>
                  <a:srgbClr val="444444"/>
                </a:solidFill>
                <a:latin typeface="Helvetica" panose="020B0604020202020204" pitchFamily="34" charset="0"/>
                <a:ea typeface="Times New Roman" panose="02020603050405020304" pitchFamily="18" charset="0"/>
              </a:rPr>
              <a:t>, K. &amp; Harty, M. 2011. </a:t>
            </a:r>
            <a:r>
              <a:rPr lang="en-GB" sz="1800" i="1" dirty="0">
                <a:solidFill>
                  <a:srgbClr val="444444"/>
                </a:solidFill>
                <a:latin typeface="Helvetica" panose="020B0604020202020204" pitchFamily="34" charset="0"/>
                <a:ea typeface="Times New Roman" panose="02020603050405020304" pitchFamily="18" charset="0"/>
              </a:rPr>
              <a:t>Ethical-decision-making</a:t>
            </a:r>
            <a:r>
              <a:rPr lang="en-GB" sz="1800" dirty="0">
                <a:solidFill>
                  <a:srgbClr val="444444"/>
                </a:solidFill>
                <a:latin typeface="Helvetica" panose="020B0604020202020204" pitchFamily="34" charset="0"/>
                <a:ea typeface="Times New Roman" panose="02020603050405020304" pitchFamily="18" charset="0"/>
              </a:rPr>
              <a:t>. University of Pretoria. Available at: </a:t>
            </a:r>
            <a:r>
              <a:rPr lang="en-GB" sz="1800" dirty="0">
                <a:solidFill>
                  <a:srgbClr val="444444"/>
                </a:solidFill>
                <a:latin typeface="Helvetica" panose="020B0604020202020204" pitchFamily="34" charset="0"/>
                <a:ea typeface="Times New Roman" panose="02020603050405020304" pitchFamily="18" charset="0"/>
                <a:hlinkClick r:id="rId4"/>
              </a:rPr>
              <a:t>https://www.up.ac.za/media/shared/Legacy/sitefiles/file/46/9742/aacconference2ndregional/yellowwoodvenue/ethicaldecisionmakingaacconf.pdf</a:t>
            </a:r>
            <a:endParaRPr lang="en-GB" sz="1800" dirty="0">
              <a:solidFill>
                <a:srgbClr val="444444"/>
              </a:solidFill>
              <a:latin typeface="Helvetica" panose="020B0604020202020204" pitchFamily="34" charset="0"/>
              <a:ea typeface="Times New Roman" panose="02020603050405020304" pitchFamily="18" charset="0"/>
            </a:endParaRPr>
          </a:p>
          <a:p>
            <a:endParaRPr lang="en-GB" sz="1800" dirty="0">
              <a:solidFill>
                <a:srgbClr val="444444"/>
              </a:solidFill>
              <a:latin typeface="Helvetica" panose="020B0604020202020204" pitchFamily="34" charset="0"/>
              <a:ea typeface="Times New Roman" panose="02020603050405020304" pitchFamily="18" charset="0"/>
            </a:endParaRPr>
          </a:p>
          <a:p>
            <a:endParaRPr lang="en-GB" sz="1800" dirty="0">
              <a:solidFill>
                <a:srgbClr val="444444"/>
              </a:solidFill>
              <a:latin typeface="Helvetica" panose="020B0604020202020204" pitchFamily="34" charset="0"/>
              <a:ea typeface="Times New Roman" panose="02020603050405020304" pitchFamily="18" charset="0"/>
            </a:endParaRPr>
          </a:p>
          <a:p>
            <a:endParaRPr lang="en-GB" sz="1800" dirty="0">
              <a:solidFill>
                <a:srgbClr val="444444"/>
              </a:solidFill>
              <a:effectLst/>
              <a:latin typeface="Helvetica" panose="020B0604020202020204" pitchFamily="34" charset="0"/>
              <a:ea typeface="Times New Roman" panose="02020603050405020304" pitchFamily="18" charset="0"/>
            </a:endParaRPr>
          </a:p>
          <a:p>
            <a:endParaRPr lang="en-US" sz="2000" dirty="0"/>
          </a:p>
          <a:p>
            <a:endParaRPr lang="en-US" sz="2000" dirty="0"/>
          </a:p>
        </p:txBody>
      </p:sp>
    </p:spTree>
    <p:extLst>
      <p:ext uri="{BB962C8B-B14F-4D97-AF65-F5344CB8AC3E}">
        <p14:creationId xmlns:p14="http://schemas.microsoft.com/office/powerpoint/2010/main" val="4101004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782</TotalTime>
  <Words>3291</Words>
  <Application>Microsoft Office PowerPoint</Application>
  <PresentationFormat>Widescreen</PresentationFormat>
  <Paragraphs>270</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Gotham-Book</vt:lpstr>
      <vt:lpstr>Helvetica</vt:lpstr>
      <vt:lpstr>Open Sans</vt:lpstr>
      <vt:lpstr>Office Theme</vt:lpstr>
      <vt:lpstr>Ethics Part 2 Ethical Philosophy: A brief introduction to morality</vt:lpstr>
      <vt:lpstr>Introduction</vt:lpstr>
      <vt:lpstr>Introduction </vt:lpstr>
      <vt:lpstr>Introduction</vt:lpstr>
      <vt:lpstr>Introduction continued…</vt:lpstr>
      <vt:lpstr>Introduction</vt:lpstr>
      <vt:lpstr>Sustaining an ethical frame of mind</vt:lpstr>
      <vt:lpstr>Ethical standards</vt:lpstr>
      <vt:lpstr>Utilitarian Approach (a consequentialist approach)</vt:lpstr>
      <vt:lpstr>Deontological Approach (duty-based approach)</vt:lpstr>
      <vt:lpstr>Deontological Approach (duty-based approach)</vt:lpstr>
      <vt:lpstr>Human Rights Approach</vt:lpstr>
      <vt:lpstr>PowerPoint Presentation</vt:lpstr>
      <vt:lpstr>3. Fairness/Justice Approach</vt:lpstr>
      <vt:lpstr>4. Common Good Approach</vt:lpstr>
      <vt:lpstr>5. The Virtue Approach</vt:lpstr>
      <vt:lpstr>6 approaches of ethical standards</vt:lpstr>
      <vt:lpstr>Last thoughts…</vt:lpstr>
      <vt:lpstr>Decision criteria for ethical reasoning</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Philosophy: A brief introduction to morality</dc:title>
  <dc:creator>Nicole Wessels</dc:creator>
  <cp:lastModifiedBy>Nicole Wessels</cp:lastModifiedBy>
  <cp:revision>16</cp:revision>
  <dcterms:created xsi:type="dcterms:W3CDTF">2021-03-25T07:21:55Z</dcterms:created>
  <dcterms:modified xsi:type="dcterms:W3CDTF">2022-02-24T09:42:55Z</dcterms:modified>
</cp:coreProperties>
</file>