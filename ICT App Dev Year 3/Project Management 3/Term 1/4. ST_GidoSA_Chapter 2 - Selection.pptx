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5" r:id="rId1"/>
  </p:sldMasterIdLst>
  <p:notesMasterIdLst>
    <p:notesMasterId r:id="rId14"/>
  </p:notesMasterIdLst>
  <p:handoutMasterIdLst>
    <p:handoutMasterId r:id="rId15"/>
  </p:handoutMasterIdLst>
  <p:sldIdLst>
    <p:sldId id="256" r:id="rId2"/>
    <p:sldId id="258" r:id="rId3"/>
    <p:sldId id="259" r:id="rId4"/>
    <p:sldId id="257" r:id="rId5"/>
    <p:sldId id="262" r:id="rId6"/>
    <p:sldId id="289" r:id="rId7"/>
    <p:sldId id="290" r:id="rId8"/>
    <p:sldId id="266" r:id="rId9"/>
    <p:sldId id="268" r:id="rId10"/>
    <p:sldId id="281" r:id="rId11"/>
    <p:sldId id="287" r:id="rId12"/>
    <p:sldId id="288" r:id="rId1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55" autoAdjust="0"/>
    <p:restoredTop sz="88056" autoAdjust="0"/>
  </p:normalViewPr>
  <p:slideViewPr>
    <p:cSldViewPr>
      <p:cViewPr varScale="1">
        <p:scale>
          <a:sx n="61" d="100"/>
          <a:sy n="61" d="100"/>
        </p:scale>
        <p:origin x="1704"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3096"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endParaRPr lang="en-ZA"/>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8C58644-AC05-4860-8D50-41146ED7A30A}" type="slidenum">
              <a:rPr lang="en-ZA" smtClean="0"/>
              <a:t>‹#›</a:t>
            </a:fld>
            <a:endParaRPr lang="en-ZA"/>
          </a:p>
        </p:txBody>
      </p:sp>
    </p:spTree>
    <p:extLst>
      <p:ext uri="{BB962C8B-B14F-4D97-AF65-F5344CB8AC3E}">
        <p14:creationId xmlns:p14="http://schemas.microsoft.com/office/powerpoint/2010/main" val="973232554"/>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charset="0"/>
                <a:cs typeface="Arial"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charset="0"/>
                <a:cs typeface="Arial" charset="0"/>
              </a:defRPr>
            </a:lvl1pPr>
          </a:lstStyle>
          <a:p>
            <a:pPr>
              <a:defRPr/>
            </a:pPr>
            <a:fld id="{EE545177-E8A5-4C75-9000-F88D7BAAC71A}" type="slidenum">
              <a:rPr lang="en-US"/>
              <a:pPr>
                <a:defRPr/>
              </a:pPr>
              <a:t>‹#›</a:t>
            </a:fld>
            <a:endParaRPr lang="en-US" dirty="0"/>
          </a:p>
        </p:txBody>
      </p:sp>
    </p:spTree>
    <p:extLst>
      <p:ext uri="{BB962C8B-B14F-4D97-AF65-F5344CB8AC3E}">
        <p14:creationId xmlns:p14="http://schemas.microsoft.com/office/powerpoint/2010/main" val="4179190794"/>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604BB5F-8BC1-4C95-B46D-43D3C52D03F5}" type="slidenum">
              <a:rPr lang="en-US" altLang="en-US" smtClean="0">
                <a:latin typeface="Arial" charset="0"/>
              </a:rPr>
              <a:pPr eaLnBrk="1" hangingPunct="1">
                <a:spcBef>
                  <a:spcPct val="0"/>
                </a:spcBef>
              </a:pPr>
              <a:t>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937185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extLst/>
        </p:spPr>
        <p:txBody>
          <a:bodyPr wrap="square" numCol="1" anchor="t" anchorCtr="0" compatLnSpc="1">
            <a:prstTxWarp prst="textNoShape">
              <a:avLst/>
            </a:prstTxWarp>
          </a:bodyPr>
          <a:lstStyle/>
          <a:p>
            <a:pPr eaLnBrk="1" hangingPunct="1">
              <a:spcBef>
                <a:spcPct val="0"/>
              </a:spcBef>
              <a:defRPr/>
            </a:pPr>
            <a:endParaRPr lang="en-US" dirty="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5E61F8D-A71F-4B83-8F39-0514577D9519}" type="slidenum">
              <a:rPr lang="en-US" altLang="en-US" smtClean="0">
                <a:latin typeface="Arial" charset="0"/>
              </a:rPr>
              <a:pPr eaLnBrk="1" hangingPunct="1">
                <a:spcBef>
                  <a:spcPct val="0"/>
                </a:spcBef>
              </a:pPr>
              <a:t>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732126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extLst/>
        </p:spPr>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28E294A-AF05-4EC0-B85B-E734C0CE2A07}" type="slidenum">
              <a:rPr lang="en-US" altLang="en-US" smtClean="0">
                <a:latin typeface="Arial" charset="0"/>
              </a:rPr>
              <a:pPr eaLnBrk="1" hangingPunct="1">
                <a:spcBef>
                  <a:spcPct val="0"/>
                </a:spcBef>
              </a:pPr>
              <a:t>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69389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a:spcBef>
                <a:spcPct val="0"/>
              </a:spcBef>
              <a:defRPr/>
            </a:pPr>
            <a:endParaRPr lang="en-US" altLang="en-US" dirty="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0E0E372-9BDD-4835-A442-6D44BD0A0FFE}" type="slidenum">
              <a:rPr lang="en-US" altLang="en-US" smtClean="0">
                <a:latin typeface="Arial" charset="0"/>
              </a:rPr>
              <a:pPr eaLnBrk="1" hangingPunct="1">
                <a:spcBef>
                  <a:spcPct val="0"/>
                </a:spcBef>
              </a:pPr>
              <a:t>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619723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54EAF84-B39D-4028-95D6-4E43CB76CE90}" type="slidenum">
              <a:rPr lang="en-US" altLang="en-US" smtClean="0">
                <a:latin typeface="Arial" charset="0"/>
              </a:rPr>
              <a:pPr eaLnBrk="1" hangingPunct="1">
                <a:spcBef>
                  <a:spcPct val="0"/>
                </a:spcBef>
              </a:pPr>
              <a:t>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973229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395C468-4A21-4CD4-A722-4EA91068FC7F}" type="slidenum">
              <a:rPr lang="en-US" altLang="en-US" smtClean="0">
                <a:latin typeface="Arial" charset="0"/>
              </a:rPr>
              <a:pPr eaLnBrk="1" hangingPunct="1">
                <a:spcBef>
                  <a:spcPct val="0"/>
                </a:spcBef>
              </a:pPr>
              <a:t>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810882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E3B91C1-292A-46E1-ACC9-C2E40A9217F2}" type="slidenum">
              <a:rPr lang="en-US" altLang="en-US" smtClean="0">
                <a:latin typeface="Arial" charset="0"/>
              </a:rPr>
              <a:pPr eaLnBrk="1" hangingPunct="1">
                <a:spcBef>
                  <a:spcPct val="0"/>
                </a:spcBef>
              </a:pPr>
              <a:t>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260589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EE39320-E749-4606-8A51-3B7236DAADA0}" type="slidenum">
              <a:rPr lang="en-US" altLang="en-US" smtClean="0">
                <a:latin typeface="Arial" charset="0"/>
              </a:rPr>
              <a:pPr eaLnBrk="1" hangingPunct="1">
                <a:spcBef>
                  <a:spcPct val="0"/>
                </a:spcBef>
              </a:pPr>
              <a:t>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94820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3BFD878-C22B-4844-B797-387C9C801520}" type="slidenum">
              <a:rPr lang="en-US" altLang="en-US" smtClean="0">
                <a:latin typeface="Arial" charset="0"/>
              </a:rPr>
              <a:pPr eaLnBrk="1" hangingPunct="1">
                <a:spcBef>
                  <a:spcPct val="0"/>
                </a:spcBef>
              </a:pPr>
              <a:t>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208797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3FA04B6-525B-4AA7-B82F-7203A1ABBB26}" type="slidenum">
              <a:rPr lang="en-US" altLang="en-US" smtClean="0">
                <a:latin typeface="Arial" charset="0"/>
              </a:rPr>
              <a:pPr eaLnBrk="1" hangingPunct="1">
                <a:spcBef>
                  <a:spcPct val="0"/>
                </a:spcBef>
              </a:pPr>
              <a:t>10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514774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48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23B576D-D605-4D3A-AD4E-9D0C6EAD81CC}" type="slidenum">
              <a:rPr lang="en-US" altLang="en-US" smtClean="0">
                <a:latin typeface="Arial" charset="0"/>
              </a:rPr>
              <a:pPr eaLnBrk="1" hangingPunct="1">
                <a:spcBef>
                  <a:spcPct val="0"/>
                </a:spcBef>
              </a:pPr>
              <a:t>11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933258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extLst/>
        </p:spPr>
        <p:txBody>
          <a:bodyPr wrap="square" numCol="1" anchor="t" anchorCtr="0" compatLnSpc="1">
            <a:prstTxWarp prst="textNoShape">
              <a:avLst/>
            </a:prstTxWarp>
          </a:bodyPr>
          <a:lstStyle/>
          <a:p>
            <a:pPr eaLnBrk="1">
              <a:spcBef>
                <a:spcPct val="0"/>
              </a:spcBef>
              <a:defRPr/>
            </a:pPr>
            <a:endParaRPr lang="en-US"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B7B6ED0F-893F-46C2-A023-10EFC4CC9A53}" type="slidenum">
              <a:rPr lang="en-US" altLang="en-US" smtClean="0">
                <a:latin typeface="Arial" charset="0"/>
              </a:rPr>
              <a:pPr eaLnBrk="1" hangingPunct="1">
                <a:spcBef>
                  <a:spcPct val="0"/>
                </a:spcBef>
              </a:pPr>
              <a:t>12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720474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a:extLst/>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4"/>
          </p:nvPr>
        </p:nvSpPr>
        <p:spPr/>
        <p:txBody>
          <a:bodyPr/>
          <a:lstStyle>
            <a:lvl1pPr>
              <a:defRPr/>
            </a:lvl1pPr>
          </a:lstStyle>
          <a:p>
            <a:pPr>
              <a:defRPr/>
            </a:pPr>
            <a:fld id="{9118900C-3C4E-4898-9269-F4E189DBE8FE}" type="datetimeFigureOut">
              <a:rPr lang="en-US" smtClean="0"/>
              <a:pPr>
                <a:defRPr/>
              </a:pPr>
              <a:t>4/1/2019</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43B43DBE-244A-495A-BCF0-2A8BC8975728}" type="slidenum">
              <a:rPr lang="en-US" smtClean="0"/>
              <a:pPr>
                <a:defRPr/>
              </a:pPr>
              <a:t>‹#›</a:t>
            </a:fld>
            <a:endParaRPr lang="en-US" dirty="0"/>
          </a:p>
        </p:txBody>
      </p:sp>
    </p:spTree>
    <p:extLst>
      <p:ext uri="{BB962C8B-B14F-4D97-AF65-F5344CB8AC3E}">
        <p14:creationId xmlns:p14="http://schemas.microsoft.com/office/powerpoint/2010/main" val="3000969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lgn="l">
              <a:defRPr>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07BE64B-C954-46B5-A1F8-40E50187356C}" type="datetimeFigureOut">
              <a:rPr lang="en-US" smtClean="0"/>
              <a:pPr>
                <a:defRPr/>
              </a:pPr>
              <a:t>4/1/2019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F2161CE-3D82-448C-B7F6-393232633226}" type="slidenum">
              <a:rPr lang="en-US" smtClean="0"/>
              <a:pPr>
                <a:defRPr/>
              </a:pPr>
              <a:t>‹#›</a:t>
            </a:fld>
            <a:endParaRPr lang="en-US" dirty="0"/>
          </a:p>
        </p:txBody>
      </p:sp>
    </p:spTree>
    <p:extLst>
      <p:ext uri="{BB962C8B-B14F-4D97-AF65-F5344CB8AC3E}">
        <p14:creationId xmlns:p14="http://schemas.microsoft.com/office/powerpoint/2010/main" val="2181852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74C5A2E1-2DA1-4D3D-955C-9BCB89679DDF}" type="datetimeFigureOut">
              <a:rPr lang="en-US" smtClean="0"/>
              <a:pPr>
                <a:defRPr/>
              </a:pPr>
              <a:t>4/1/2019</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33FF103-AF8E-42A5-A300-8E6A00E43738}" type="slidenum">
              <a:rPr lang="en-US" smtClean="0"/>
              <a:pPr>
                <a:defRPr/>
              </a:pPr>
              <a:t>‹#›</a:t>
            </a:fld>
            <a:endParaRPr lang="en-US" dirty="0"/>
          </a:p>
        </p:txBody>
      </p:sp>
    </p:spTree>
    <p:extLst>
      <p:ext uri="{BB962C8B-B14F-4D97-AF65-F5344CB8AC3E}">
        <p14:creationId xmlns:p14="http://schemas.microsoft.com/office/powerpoint/2010/main" val="2003703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pPr>
              <a:defRPr/>
            </a:pPr>
            <a:fld id="{9967D627-81D0-4FC4-A4F6-79516024146D}" type="datetimeFigureOut">
              <a:rPr lang="en-US" smtClean="0"/>
              <a:pPr>
                <a:defRPr/>
              </a:pPr>
              <a:t>4/1/2019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43F3B87B-9810-4EB1-921E-99D33655DA2A}" type="slidenum">
              <a:rPr lang="en-US" smtClean="0"/>
              <a:pPr>
                <a:defRPr/>
              </a:pPr>
              <a:t>‹#›</a:t>
            </a:fld>
            <a:endParaRPr lang="en-US" dirty="0"/>
          </a:p>
        </p:txBody>
      </p:sp>
    </p:spTree>
    <p:extLst>
      <p:ext uri="{BB962C8B-B14F-4D97-AF65-F5344CB8AC3E}">
        <p14:creationId xmlns:p14="http://schemas.microsoft.com/office/powerpoint/2010/main" val="3386358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fld id="{2477BB60-D45F-420E-B828-A48E6F4371B0}" type="datetimeFigureOut">
              <a:rPr lang="en-US" smtClean="0"/>
              <a:pPr>
                <a:defRPr/>
              </a:pPr>
              <a:t>4/1/2019</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40DC3312-E500-49B0-9437-BA74BD70E272}" type="slidenum">
              <a:rPr lang="en-US" smtClean="0"/>
              <a:pPr>
                <a:defRPr/>
              </a:pPr>
              <a:t>‹#›</a:t>
            </a:fld>
            <a:endParaRPr lang="en-US" dirty="0"/>
          </a:p>
        </p:txBody>
      </p:sp>
    </p:spTree>
    <p:extLst>
      <p:ext uri="{BB962C8B-B14F-4D97-AF65-F5344CB8AC3E}">
        <p14:creationId xmlns:p14="http://schemas.microsoft.com/office/powerpoint/2010/main" val="4021101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pPr>
              <a:defRPr/>
            </a:pPr>
            <a:fld id="{3B4FD64B-EAA4-4862-A5D7-8E16738C7EC8}" type="datetimeFigureOut">
              <a:rPr lang="en-US" smtClean="0"/>
              <a:pPr>
                <a:defRPr/>
              </a:pPr>
              <a:t>4/1/2019</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7819520A-67BD-4F50-BA7E-C7184CE158B2}" type="slidenum">
              <a:rPr lang="en-US" smtClean="0"/>
              <a:pPr>
                <a:defRPr/>
              </a:pPr>
              <a:t>‹#›</a:t>
            </a:fld>
            <a:endParaRPr lang="en-US" dirty="0"/>
          </a:p>
        </p:txBody>
      </p:sp>
    </p:spTree>
    <p:extLst>
      <p:ext uri="{BB962C8B-B14F-4D97-AF65-F5344CB8AC3E}">
        <p14:creationId xmlns:p14="http://schemas.microsoft.com/office/powerpoint/2010/main" val="421677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10594258-D008-4B65-B503-9011A0C18B5F}" type="datetimeFigureOut">
              <a:rPr lang="en-US" smtClean="0"/>
              <a:pPr>
                <a:defRPr/>
              </a:pPr>
              <a:t>4/1/2019</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4B70620D-E7F9-45E1-A344-1B3D4AB1A89F}" type="slidenum">
              <a:rPr lang="en-US" smtClean="0"/>
              <a:pPr>
                <a:defRPr/>
              </a:pPr>
              <a:t>‹#›</a:t>
            </a:fld>
            <a:endParaRPr lang="en-US" dirty="0"/>
          </a:p>
        </p:txBody>
      </p:sp>
    </p:spTree>
    <p:extLst>
      <p:ext uri="{BB962C8B-B14F-4D97-AF65-F5344CB8AC3E}">
        <p14:creationId xmlns:p14="http://schemas.microsoft.com/office/powerpoint/2010/main" val="1157743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a:p>
            <a:pPr lvl="1"/>
            <a:r>
              <a:rPr lang="en-US"/>
              <a:t>Second level</a:t>
            </a:r>
          </a:p>
        </p:txBody>
      </p:sp>
      <p:sp>
        <p:nvSpPr>
          <p:cNvPr id="6" name="Date Placeholder 4"/>
          <p:cNvSpPr>
            <a:spLocks noGrp="1"/>
          </p:cNvSpPr>
          <p:nvPr>
            <p:ph type="dt" sz="half" idx="10"/>
          </p:nvPr>
        </p:nvSpPr>
        <p:spPr/>
        <p:txBody>
          <a:bodyPr/>
          <a:lstStyle>
            <a:lvl1pPr>
              <a:defRPr/>
            </a:lvl1pPr>
          </a:lstStyle>
          <a:p>
            <a:pPr>
              <a:defRPr/>
            </a:pPr>
            <a:fld id="{CA075AE0-A367-49F0-8AF9-24F7A98421BD}" type="datetimeFigureOut">
              <a:rPr lang="en-US" smtClean="0"/>
              <a:pPr>
                <a:defRPr/>
              </a:pPr>
              <a:t>4/1/2019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6107455F-B3C1-451E-A8E3-B747C06BFE65}" type="slidenum">
              <a:rPr lang="en-US" smtClean="0"/>
              <a:pPr>
                <a:defRPr/>
              </a:pPr>
              <a:t>‹#›</a:t>
            </a:fld>
            <a:endParaRPr lang="en-US" dirty="0"/>
          </a:p>
        </p:txBody>
      </p:sp>
    </p:spTree>
    <p:extLst>
      <p:ext uri="{BB962C8B-B14F-4D97-AF65-F5344CB8AC3E}">
        <p14:creationId xmlns:p14="http://schemas.microsoft.com/office/powerpoint/2010/main" val="2837780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30320645-D5BA-4BAF-A263-3A4A23C748DC}" type="datetimeFigureOut">
              <a:rPr lang="en-US" smtClean="0"/>
              <a:pPr>
                <a:defRPr/>
              </a:pPr>
              <a:t>4/1/2019</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64B7ABC3-6D0E-4752-9DBC-42BA4025E1ED}" type="slidenum">
              <a:rPr lang="en-US" smtClean="0"/>
              <a:pPr>
                <a:defRPr/>
              </a:pPr>
              <a:t>‹#›</a:t>
            </a:fld>
            <a:endParaRPr lang="en-US" dirty="0"/>
          </a:p>
        </p:txBody>
      </p:sp>
    </p:spTree>
    <p:extLst>
      <p:ext uri="{BB962C8B-B14F-4D97-AF65-F5344CB8AC3E}">
        <p14:creationId xmlns:p14="http://schemas.microsoft.com/office/powerpoint/2010/main" val="46738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996AA9E8-545D-4AFF-AA17-ED8DA7097C53}" type="datetimeFigureOut">
              <a:rPr lang="en-US" smtClean="0"/>
              <a:pPr>
                <a:defRPr/>
              </a:pPr>
              <a:t>4/1/2019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872924-459F-4B9B-A6A6-04E0C05E7B91}" type="slidenum">
              <a:rPr lang="en-US" smtClean="0"/>
              <a:pPr>
                <a:defRPr/>
              </a:pPr>
              <a:t>‹#›</a:t>
            </a:fld>
            <a:endParaRPr lang="en-US" dirty="0"/>
          </a:p>
        </p:txBody>
      </p:sp>
    </p:spTree>
    <p:extLst>
      <p:ext uri="{BB962C8B-B14F-4D97-AF65-F5344CB8AC3E}">
        <p14:creationId xmlns:p14="http://schemas.microsoft.com/office/powerpoint/2010/main" val="211321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1910104-5D6E-43ED-BEBE-5C350EC9685C}" type="datetimeFigureOut">
              <a:rPr lang="en-US" smtClean="0"/>
              <a:pPr>
                <a:defRPr/>
              </a:pPr>
              <a:t>4/1/2019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A1379D-DA05-406C-AF75-05CDF443F06E}" type="slidenum">
              <a:rPr lang="en-US" smtClean="0"/>
              <a:pPr>
                <a:defRPr/>
              </a:pPr>
              <a:t>‹#›</a:t>
            </a:fld>
            <a:endParaRPr lang="en-US" dirty="0"/>
          </a:p>
        </p:txBody>
      </p:sp>
    </p:spTree>
    <p:extLst>
      <p:ext uri="{BB962C8B-B14F-4D97-AF65-F5344CB8AC3E}">
        <p14:creationId xmlns:p14="http://schemas.microsoft.com/office/powerpoint/2010/main" val="148300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8E59AA8B-B01E-46EA-828F-2827E96FF10E}" type="datetimeFigureOut">
              <a:rPr lang="en-US" smtClean="0"/>
              <a:pPr>
                <a:defRPr/>
              </a:pPr>
              <a:t>4/1/2019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5A5A124-D0F1-4026-83FA-B199B206D826}" type="slidenum">
              <a:rPr lang="en-US" smtClean="0"/>
              <a:pPr>
                <a:defRPr/>
              </a:pPr>
              <a:t>‹#›</a:t>
            </a:fld>
            <a:endParaRPr lang="en-US" dirty="0"/>
          </a:p>
        </p:txBody>
      </p:sp>
    </p:spTree>
    <p:extLst>
      <p:ext uri="{BB962C8B-B14F-4D97-AF65-F5344CB8AC3E}">
        <p14:creationId xmlns:p14="http://schemas.microsoft.com/office/powerpoint/2010/main" val="1714872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8771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8E59AA8B-B01E-46EA-828F-2827E96FF10E}" type="datetimeFigureOut">
              <a:rPr lang="en-US"/>
              <a:pPr>
                <a:defRPr/>
              </a:pPr>
              <a:t>4/1/2019</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5A5A124-D0F1-4026-83FA-B199B206D826}" type="slidenum">
              <a:rPr lang="en-US"/>
              <a:pPr>
                <a:defRPr/>
              </a:pPr>
              <a:t>‹#›</a:t>
            </a:fld>
            <a:endParaRPr lang="en-US" dirty="0"/>
          </a:p>
        </p:txBody>
      </p:sp>
    </p:spTree>
    <p:extLst>
      <p:ext uri="{BB962C8B-B14F-4D97-AF65-F5344CB8AC3E}">
        <p14:creationId xmlns:p14="http://schemas.microsoft.com/office/powerpoint/2010/main" val="1284642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20E8E8A7-0C0A-4F06-85C3-E95BEEC12619}" type="datetimeFigureOut">
              <a:rPr lang="en-US" smtClean="0"/>
              <a:pPr>
                <a:defRPr/>
              </a:pPr>
              <a:t>4/1/2019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E43D29E9-CE0B-4638-AFC8-14716A748F9A}" type="slidenum">
              <a:rPr lang="en-US" smtClean="0"/>
              <a:pPr>
                <a:defRPr/>
              </a:pPr>
              <a:t>‹#›</a:t>
            </a:fld>
            <a:endParaRPr lang="en-US" dirty="0"/>
          </a:p>
        </p:txBody>
      </p:sp>
      <p:sp>
        <p:nvSpPr>
          <p:cNvPr id="1031" name="Rectangle 6"/>
          <p:cNvSpPr>
            <a:spLocks noChangeArrowheads="1"/>
          </p:cNvSpPr>
          <p:nvPr/>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a:t>© 2015 Cengage Learning. All Rights Reserved. May not be scanned, copied or duplicated, or posted to a publicly accessible website, in whole or in part.</a:t>
            </a:r>
          </a:p>
        </p:txBody>
      </p:sp>
      <p:sp>
        <p:nvSpPr>
          <p:cNvPr id="8" name="Rectangle 6">
            <a:extLst>
              <a:ext uri="{FF2B5EF4-FFF2-40B4-BE49-F238E27FC236}">
                <a16:creationId xmlns:a16="http://schemas.microsoft.com/office/drawing/2014/main" id="{84BAB496-3B4A-40B6-A247-D7C10656DFEA}"/>
              </a:ext>
            </a:extLst>
          </p:cNvPr>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dirty="0"/>
              <a:t>© 2018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056461896"/>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7" r:id="rId12"/>
    <p:sldLayoutId id="2147483965" r:id="rId13"/>
  </p:sldLayoutIdLst>
  <p:txStyles>
    <p:titleStyle>
      <a:lvl1pPr algn="l" rtl="0" eaLnBrk="1" fontAlgn="base" hangingPunct="1">
        <a:spcBef>
          <a:spcPct val="0"/>
        </a:spcBef>
        <a:spcAft>
          <a:spcPct val="0"/>
        </a:spcAft>
        <a:defRPr sz="3600" kern="1200">
          <a:solidFill>
            <a:schemeClr val="accent2"/>
          </a:solidFill>
          <a:latin typeface="+mj-lt"/>
          <a:ea typeface="+mj-ea"/>
          <a:cs typeface="+mj-cs"/>
        </a:defRPr>
      </a:lvl1pPr>
      <a:lvl2pPr algn="l" rtl="0" eaLnBrk="1" fontAlgn="base" hangingPunct="1">
        <a:spcBef>
          <a:spcPct val="0"/>
        </a:spcBef>
        <a:spcAft>
          <a:spcPct val="0"/>
        </a:spcAft>
        <a:defRPr sz="3600">
          <a:solidFill>
            <a:srgbClr val="00ADEE"/>
          </a:solidFill>
          <a:latin typeface="Calibri" pitchFamily="34" charset="0"/>
        </a:defRPr>
      </a:lvl2pPr>
      <a:lvl3pPr algn="l" rtl="0" eaLnBrk="1" fontAlgn="base" hangingPunct="1">
        <a:spcBef>
          <a:spcPct val="0"/>
        </a:spcBef>
        <a:spcAft>
          <a:spcPct val="0"/>
        </a:spcAft>
        <a:defRPr sz="3600">
          <a:solidFill>
            <a:srgbClr val="00ADEE"/>
          </a:solidFill>
          <a:latin typeface="Calibri" pitchFamily="34" charset="0"/>
        </a:defRPr>
      </a:lvl3pPr>
      <a:lvl4pPr algn="l" rtl="0" eaLnBrk="1" fontAlgn="base" hangingPunct="1">
        <a:spcBef>
          <a:spcPct val="0"/>
        </a:spcBef>
        <a:spcAft>
          <a:spcPct val="0"/>
        </a:spcAft>
        <a:defRPr sz="3600">
          <a:solidFill>
            <a:srgbClr val="00ADEE"/>
          </a:solidFill>
          <a:latin typeface="Calibri" pitchFamily="34" charset="0"/>
        </a:defRPr>
      </a:lvl4pPr>
      <a:lvl5pPr algn="l" rtl="0" eaLnBrk="1" fontAlgn="base" hangingPunct="1">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1" fontAlgn="base" hangingPunct="1">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p:txBody>
          <a:bodyPr/>
          <a:lstStyle/>
          <a:p>
            <a:pPr eaLnBrk="1" hangingPunct="1"/>
            <a:r>
              <a:rPr lang="en-US" altLang="en-US" dirty="0"/>
              <a:t>Identifying and Selecting Projects</a:t>
            </a:r>
          </a:p>
        </p:txBody>
      </p:sp>
      <p:pic>
        <p:nvPicPr>
          <p:cNvPr id="2" name="Picture 1">
            <a:extLst>
              <a:ext uri="{FF2B5EF4-FFF2-40B4-BE49-F238E27FC236}">
                <a16:creationId xmlns:a16="http://schemas.microsoft.com/office/drawing/2014/main" id="{83487EAA-C0E8-4A17-A9C8-ECF3BF5AC853}"/>
              </a:ext>
            </a:extLst>
          </p:cNvPr>
          <p:cNvPicPr>
            <a:picLocks noChangeAspect="1"/>
          </p:cNvPicPr>
          <p:nvPr/>
        </p:nvPicPr>
        <p:blipFill>
          <a:blip r:embed="rId3"/>
          <a:stretch>
            <a:fillRect/>
          </a:stretch>
        </p:blipFill>
        <p:spPr>
          <a:xfrm>
            <a:off x="609600" y="1828800"/>
            <a:ext cx="3543300" cy="904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p:cNvSpPr>
            <a:spLocks noGrp="1"/>
          </p:cNvSpPr>
          <p:nvPr>
            <p:ph type="title"/>
          </p:nvPr>
        </p:nvSpPr>
        <p:spPr/>
        <p:txBody>
          <a:bodyPr/>
          <a:lstStyle/>
          <a:p>
            <a:pPr eaLnBrk="1" hangingPunct="1"/>
            <a:r>
              <a:rPr lang="en-US" altLang="en-US" dirty="0"/>
              <a:t>Chapter Concepts</a:t>
            </a:r>
          </a:p>
        </p:txBody>
      </p:sp>
      <p:sp>
        <p:nvSpPr>
          <p:cNvPr id="12291" name="Content Placeholder 4"/>
          <p:cNvSpPr>
            <a:spLocks noGrp="1"/>
          </p:cNvSpPr>
          <p:nvPr>
            <p:ph idx="1"/>
          </p:nvPr>
        </p:nvSpPr>
        <p:spPr/>
        <p:txBody>
          <a:bodyPr/>
          <a:lstStyle/>
          <a:p>
            <a:pPr eaLnBrk="1" hangingPunct="1"/>
            <a:r>
              <a:rPr lang="en-US" altLang="en-US" dirty="0"/>
              <a:t>How projects are identified and selected</a:t>
            </a:r>
          </a:p>
          <a:p>
            <a:pPr eaLnBrk="1" hangingPunct="1"/>
            <a:r>
              <a:rPr lang="en-US" altLang="en-US" dirty="0"/>
              <a:t>A project charter</a:t>
            </a:r>
          </a:p>
          <a:p>
            <a:pPr eaLnBrk="1" hangingPunct="1"/>
            <a:r>
              <a:rPr lang="en-US" altLang="en-US" dirty="0"/>
              <a:t>Outsourcing projects using a request for proposal</a:t>
            </a:r>
          </a:p>
          <a:p>
            <a:pPr eaLnBrk="1" hangingPunct="1"/>
            <a:r>
              <a:rPr lang="en-US" altLang="en-US" dirty="0"/>
              <a:t>The proposal solicitation 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dirty="0"/>
              <a:t>Learning Outcomes</a:t>
            </a:r>
          </a:p>
        </p:txBody>
      </p:sp>
      <p:sp>
        <p:nvSpPr>
          <p:cNvPr id="13315" name="Content Placeholder 3"/>
          <p:cNvSpPr>
            <a:spLocks noGrp="1"/>
          </p:cNvSpPr>
          <p:nvPr>
            <p:ph idx="1"/>
          </p:nvPr>
        </p:nvSpPr>
        <p:spPr/>
        <p:txBody>
          <a:bodyPr/>
          <a:lstStyle/>
          <a:p>
            <a:pPr eaLnBrk="1" hangingPunct="1"/>
            <a:r>
              <a:rPr lang="en-US" altLang="en-US" dirty="0"/>
              <a:t>Discuss how projects are identified and selected</a:t>
            </a:r>
          </a:p>
          <a:p>
            <a:pPr eaLnBrk="1" hangingPunct="1"/>
            <a:r>
              <a:rPr lang="en-US" altLang="en-US" dirty="0"/>
              <a:t>Explain how projects are </a:t>
            </a:r>
            <a:r>
              <a:rPr lang="en-US" altLang="en-US" dirty="0" err="1"/>
              <a:t>prioritised</a:t>
            </a:r>
            <a:r>
              <a:rPr lang="en-US" altLang="en-US" dirty="0"/>
              <a:t> and selected</a:t>
            </a:r>
          </a:p>
          <a:p>
            <a:pPr eaLnBrk="1" hangingPunct="1"/>
            <a:r>
              <a:rPr lang="en-US" altLang="en-US" dirty="0"/>
              <a:t>Identify and describe at least eight elements of a project charter</a:t>
            </a:r>
          </a:p>
          <a:p>
            <a:pPr eaLnBrk="1" hangingPunct="1"/>
            <a:r>
              <a:rPr lang="en-US" altLang="en-US" dirty="0"/>
              <a:t>Prepare a project charter</a:t>
            </a:r>
          </a:p>
          <a:p>
            <a:pPr eaLnBrk="1" hangingPunct="1"/>
            <a:r>
              <a:rPr lang="en-US" altLang="en-US" dirty="0"/>
              <a:t>Prepare a request for proposal / understand a tender</a:t>
            </a:r>
          </a:p>
          <a:p>
            <a:pPr eaLnBrk="1" hangingPunct="1">
              <a:buFontTx/>
              <a:buNone/>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a:xfrm>
            <a:off x="4495800" y="838200"/>
            <a:ext cx="4648200" cy="2667000"/>
          </a:xfrm>
        </p:spPr>
        <p:txBody>
          <a:bodyPr/>
          <a:lstStyle/>
          <a:p>
            <a:pPr eaLnBrk="1" hangingPunct="1"/>
            <a:r>
              <a:rPr lang="en-US" altLang="en-US" sz="2400"/>
              <a:t>Project Integration Management</a:t>
            </a:r>
            <a:br>
              <a:rPr lang="en-US" altLang="en-US" sz="2400"/>
            </a:br>
            <a:r>
              <a:rPr lang="en-US" altLang="en-US" sz="2400"/>
              <a:t>Project Procurement Management</a:t>
            </a:r>
          </a:p>
        </p:txBody>
      </p:sp>
      <p:sp>
        <p:nvSpPr>
          <p:cNvPr id="14339" name="Text Placeholder 4"/>
          <p:cNvSpPr>
            <a:spLocks noGrp="1"/>
          </p:cNvSpPr>
          <p:nvPr>
            <p:ph type="body" idx="1"/>
          </p:nvPr>
        </p:nvSpPr>
        <p:spPr>
          <a:xfrm>
            <a:off x="76200" y="1905000"/>
            <a:ext cx="3581400" cy="890587"/>
          </a:xfrm>
        </p:spPr>
        <p:txBody>
          <a:bodyPr/>
          <a:lstStyle/>
          <a:p>
            <a:pPr eaLnBrk="1" hangingPunct="1"/>
            <a:r>
              <a:rPr lang="en-US" altLang="en-US" dirty="0"/>
              <a:t>Project Management Knowledge Areas from </a:t>
            </a:r>
            <a:r>
              <a:rPr lang="en-US" altLang="en-US" i="1" dirty="0"/>
              <a:t>PMBOK® Guide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6"/>
          <p:cNvSpPr>
            <a:spLocks noGrp="1"/>
          </p:cNvSpPr>
          <p:nvPr>
            <p:ph type="title"/>
          </p:nvPr>
        </p:nvSpPr>
        <p:spPr/>
        <p:txBody>
          <a:bodyPr/>
          <a:lstStyle/>
          <a:p>
            <a:pPr eaLnBrk="1" hangingPunct="1"/>
            <a:r>
              <a:rPr lang="en-US" altLang="en-US" dirty="0"/>
              <a:t>Project Identification</a:t>
            </a:r>
          </a:p>
        </p:txBody>
      </p:sp>
      <p:sp>
        <p:nvSpPr>
          <p:cNvPr id="15363" name="Content Placeholder 7"/>
          <p:cNvSpPr>
            <a:spLocks noGrp="1"/>
          </p:cNvSpPr>
          <p:nvPr>
            <p:ph sz="half" idx="1"/>
          </p:nvPr>
        </p:nvSpPr>
        <p:spPr/>
        <p:txBody>
          <a:bodyPr/>
          <a:lstStyle/>
          <a:p>
            <a:pPr eaLnBrk="1" hangingPunct="1">
              <a:buFont typeface="Arial" charset="0"/>
              <a:buChar char="•"/>
            </a:pPr>
            <a:r>
              <a:rPr lang="en-US" altLang="en-US" sz="2000" dirty="0"/>
              <a:t>Start of Initiating phase</a:t>
            </a:r>
          </a:p>
          <a:p>
            <a:pPr eaLnBrk="1" hangingPunct="1">
              <a:buFont typeface="Arial" charset="0"/>
              <a:buChar char="•"/>
            </a:pPr>
            <a:r>
              <a:rPr lang="en-US" altLang="en-US" sz="2000" dirty="0" err="1"/>
              <a:t>Recognise</a:t>
            </a:r>
            <a:r>
              <a:rPr lang="en-US" altLang="en-US" sz="2000" dirty="0"/>
              <a:t> need, problem, or opportunity</a:t>
            </a:r>
          </a:p>
          <a:p>
            <a:pPr eaLnBrk="1" hangingPunct="1">
              <a:buFont typeface="Arial" charset="0"/>
              <a:buChar char="•"/>
            </a:pPr>
            <a:r>
              <a:rPr lang="en-US" altLang="en-US" sz="2000" dirty="0"/>
              <a:t>Various ways for identification</a:t>
            </a:r>
          </a:p>
          <a:p>
            <a:pPr lvl="1" eaLnBrk="1" hangingPunct="1">
              <a:buFont typeface="Arial" charset="0"/>
              <a:buChar char="•"/>
            </a:pPr>
            <a:r>
              <a:rPr lang="en-US" altLang="en-US" sz="1800" dirty="0" err="1"/>
              <a:t>Organisations</a:t>
            </a:r>
            <a:r>
              <a:rPr lang="en-US" altLang="en-US" sz="1800" dirty="0"/>
              <a:t> strategic planning</a:t>
            </a:r>
          </a:p>
          <a:p>
            <a:pPr lvl="1" eaLnBrk="1" hangingPunct="1">
              <a:buFont typeface="Arial" charset="0"/>
              <a:buChar char="•"/>
            </a:pPr>
            <a:r>
              <a:rPr lang="en-US" altLang="en-US" sz="1800" dirty="0"/>
              <a:t>Response to unexpected events</a:t>
            </a:r>
          </a:p>
          <a:p>
            <a:pPr lvl="1" eaLnBrk="1" hangingPunct="1">
              <a:buFont typeface="Arial" charset="0"/>
              <a:buChar char="•"/>
            </a:pPr>
            <a:r>
              <a:rPr lang="en-US" altLang="en-US" sz="1800" dirty="0"/>
              <a:t>Group </a:t>
            </a:r>
            <a:r>
              <a:rPr lang="en-US" altLang="en-US" sz="1800" dirty="0" err="1"/>
              <a:t>organised</a:t>
            </a:r>
            <a:r>
              <a:rPr lang="en-US" altLang="en-US" sz="1800" dirty="0"/>
              <a:t> to address a need</a:t>
            </a:r>
          </a:p>
          <a:p>
            <a:pPr eaLnBrk="1" hangingPunct="1">
              <a:buFont typeface="Arial" charset="0"/>
              <a:buChar char="•"/>
            </a:pPr>
            <a:r>
              <a:rPr lang="en-US" altLang="en-US" sz="2000" dirty="0"/>
              <a:t>Important to clearly identify need to determine if worth pursuing</a:t>
            </a:r>
          </a:p>
          <a:p>
            <a:pPr eaLnBrk="1" hangingPunct="1">
              <a:buFont typeface="Arial" charset="0"/>
              <a:buChar char="•"/>
            </a:pPr>
            <a:r>
              <a:rPr lang="en-US" altLang="en-US" sz="2000" dirty="0"/>
              <a:t>Use decision making process to </a:t>
            </a:r>
            <a:r>
              <a:rPr lang="en-US" altLang="en-US" sz="2000" dirty="0" err="1"/>
              <a:t>prioritise</a:t>
            </a:r>
            <a:r>
              <a:rPr lang="en-US" altLang="en-US" sz="2000" dirty="0"/>
              <a:t> and select project with greatest need</a:t>
            </a:r>
          </a:p>
          <a:p>
            <a:pPr lvl="1" eaLnBrk="1" hangingPunct="1">
              <a:buFont typeface="Arial" charset="0"/>
              <a:buChar char="•"/>
            </a:pPr>
            <a:endParaRPr lang="en-US" altLang="en-US" sz="1800" dirty="0"/>
          </a:p>
          <a:p>
            <a:pPr eaLnBrk="1" hangingPunct="1">
              <a:buFontTx/>
              <a:buBlip>
                <a:blip r:embed="rId3"/>
              </a:buBlip>
            </a:pPr>
            <a:endParaRPr lang="en-US" altLang="en-US" sz="2000" dirty="0"/>
          </a:p>
        </p:txBody>
      </p:sp>
      <p:sp>
        <p:nvSpPr>
          <p:cNvPr id="3" name="Content Placeholder 2">
            <a:extLst>
              <a:ext uri="{FF2B5EF4-FFF2-40B4-BE49-F238E27FC236}">
                <a16:creationId xmlns:a16="http://schemas.microsoft.com/office/drawing/2014/main" id="{E95B6632-82B3-4E36-BC92-1598F0CE270D}"/>
              </a:ext>
            </a:extLst>
          </p:cNvPr>
          <p:cNvSpPr>
            <a:spLocks noGrp="1"/>
          </p:cNvSpPr>
          <p:nvPr>
            <p:ph sz="half" idx="2"/>
          </p:nvPr>
        </p:nvSpPr>
        <p:spPr/>
        <p:txBody>
          <a:bodyPr/>
          <a:lstStyle/>
          <a:p>
            <a:endParaRPr lang="en-GB"/>
          </a:p>
        </p:txBody>
      </p:sp>
      <p:pic>
        <p:nvPicPr>
          <p:cNvPr id="7" name="Picture 6">
            <a:extLst>
              <a:ext uri="{FF2B5EF4-FFF2-40B4-BE49-F238E27FC236}">
                <a16:creationId xmlns:a16="http://schemas.microsoft.com/office/drawing/2014/main" id="{7B104F9B-EAF4-4F57-B58B-9DA32BE76A03}"/>
              </a:ext>
            </a:extLst>
          </p:cNvPr>
          <p:cNvPicPr>
            <a:picLocks noChangeAspect="1"/>
          </p:cNvPicPr>
          <p:nvPr/>
        </p:nvPicPr>
        <p:blipFill>
          <a:blip r:embed="rId4"/>
          <a:stretch>
            <a:fillRect/>
          </a:stretch>
        </p:blipFill>
        <p:spPr>
          <a:xfrm>
            <a:off x="4315751" y="1452203"/>
            <a:ext cx="4371049" cy="2971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dirty="0"/>
              <a:t>Project Selection</a:t>
            </a:r>
          </a:p>
        </p:txBody>
      </p:sp>
      <p:sp>
        <p:nvSpPr>
          <p:cNvPr id="16387" name="Content Placeholder 2"/>
          <p:cNvSpPr>
            <a:spLocks noGrp="1"/>
          </p:cNvSpPr>
          <p:nvPr>
            <p:ph sz="half" idx="1"/>
          </p:nvPr>
        </p:nvSpPr>
        <p:spPr/>
        <p:txBody>
          <a:bodyPr/>
          <a:lstStyle/>
          <a:p>
            <a:pPr eaLnBrk="1" hangingPunct="1">
              <a:buFont typeface="Arial" charset="0"/>
              <a:buChar char="•"/>
            </a:pPr>
            <a:r>
              <a:rPr lang="en-US" altLang="en-US" sz="2400" dirty="0"/>
              <a:t>Evaluate needs, costs, benefits</a:t>
            </a:r>
          </a:p>
          <a:p>
            <a:pPr eaLnBrk="1" hangingPunct="1">
              <a:buFont typeface="Arial" charset="0"/>
              <a:buChar char="•"/>
            </a:pPr>
            <a:r>
              <a:rPr lang="en-US" altLang="en-US" sz="2400" dirty="0"/>
              <a:t>Determine which are projects</a:t>
            </a:r>
          </a:p>
          <a:p>
            <a:pPr eaLnBrk="1" hangingPunct="1">
              <a:buFont typeface="Arial" charset="0"/>
              <a:buChar char="•"/>
            </a:pPr>
            <a:r>
              <a:rPr lang="en-US" altLang="en-US" sz="2400" dirty="0"/>
              <a:t>Select project</a:t>
            </a:r>
          </a:p>
          <a:p>
            <a:pPr lvl="1" eaLnBrk="1" hangingPunct="1">
              <a:buFont typeface="Arial" charset="0"/>
              <a:buChar char="•"/>
            </a:pPr>
            <a:r>
              <a:rPr lang="en-US" altLang="en-US" sz="2000" dirty="0"/>
              <a:t>Develop criteria</a:t>
            </a:r>
          </a:p>
          <a:p>
            <a:pPr lvl="1" eaLnBrk="1" hangingPunct="1">
              <a:buFont typeface="Arial" charset="0"/>
              <a:buChar char="•"/>
            </a:pPr>
            <a:r>
              <a:rPr lang="en-US" altLang="en-US" sz="2000" dirty="0"/>
              <a:t>List assumptions</a:t>
            </a:r>
          </a:p>
          <a:p>
            <a:pPr lvl="1" eaLnBrk="1" hangingPunct="1">
              <a:buFont typeface="Arial" charset="0"/>
              <a:buChar char="•"/>
            </a:pPr>
            <a:r>
              <a:rPr lang="en-US" altLang="en-US" sz="2000" dirty="0"/>
              <a:t>Gather data</a:t>
            </a:r>
          </a:p>
          <a:p>
            <a:pPr lvl="1" eaLnBrk="1" hangingPunct="1">
              <a:buFont typeface="Arial" charset="0"/>
              <a:buChar char="•"/>
            </a:pPr>
            <a:r>
              <a:rPr lang="en-US" altLang="en-US" sz="2000" dirty="0"/>
              <a:t>Evaluate each opportunity</a:t>
            </a:r>
          </a:p>
          <a:p>
            <a:pPr eaLnBrk="1" hangingPunct="1">
              <a:buFont typeface="Arial" charset="0"/>
              <a:buChar char="•"/>
            </a:pPr>
            <a:r>
              <a:rPr lang="en-US" altLang="en-US" sz="2400" dirty="0"/>
              <a:t>Combine ‘gut’ feelings and quantitative information to make decision</a:t>
            </a:r>
          </a:p>
        </p:txBody>
      </p:sp>
      <p:sp>
        <p:nvSpPr>
          <p:cNvPr id="3" name="Content Placeholder 2">
            <a:extLst>
              <a:ext uri="{FF2B5EF4-FFF2-40B4-BE49-F238E27FC236}">
                <a16:creationId xmlns:a16="http://schemas.microsoft.com/office/drawing/2014/main" id="{4F5D8406-C90C-4C43-823B-328B667CB122}"/>
              </a:ext>
            </a:extLst>
          </p:cNvPr>
          <p:cNvSpPr>
            <a:spLocks noGrp="1"/>
          </p:cNvSpPr>
          <p:nvPr>
            <p:ph sz="half" idx="2"/>
          </p:nvPr>
        </p:nvSpPr>
        <p:spPr/>
        <p:txBody>
          <a:bodyPr/>
          <a:lstStyle/>
          <a:p>
            <a:endParaRPr lang="en-GB"/>
          </a:p>
        </p:txBody>
      </p:sp>
      <p:pic>
        <p:nvPicPr>
          <p:cNvPr id="4" name="Picture 3">
            <a:extLst>
              <a:ext uri="{FF2B5EF4-FFF2-40B4-BE49-F238E27FC236}">
                <a16:creationId xmlns:a16="http://schemas.microsoft.com/office/drawing/2014/main" id="{937C8FF7-D2C4-4599-90F6-F57DE830365F}"/>
              </a:ext>
            </a:extLst>
          </p:cNvPr>
          <p:cNvPicPr>
            <a:picLocks noChangeAspect="1"/>
          </p:cNvPicPr>
          <p:nvPr/>
        </p:nvPicPr>
        <p:blipFill>
          <a:blip r:embed="rId3"/>
          <a:stretch>
            <a:fillRect/>
          </a:stretch>
        </p:blipFill>
        <p:spPr>
          <a:xfrm>
            <a:off x="3657600" y="1600200"/>
            <a:ext cx="5211568" cy="236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p:cNvSpPr>
            <a:spLocks noGrp="1"/>
          </p:cNvSpPr>
          <p:nvPr>
            <p:ph type="title"/>
          </p:nvPr>
        </p:nvSpPr>
        <p:spPr/>
        <p:txBody>
          <a:bodyPr/>
          <a:lstStyle/>
          <a:p>
            <a:pPr eaLnBrk="1" hangingPunct="1"/>
            <a:r>
              <a:rPr lang="en-US" altLang="en-US" dirty="0"/>
              <a:t>Project Charter</a:t>
            </a:r>
          </a:p>
        </p:txBody>
      </p:sp>
      <p:sp>
        <p:nvSpPr>
          <p:cNvPr id="17411" name="Text Placeholder 8"/>
          <p:cNvSpPr>
            <a:spLocks noGrp="1"/>
          </p:cNvSpPr>
          <p:nvPr>
            <p:ph type="body" idx="1"/>
          </p:nvPr>
        </p:nvSpPr>
        <p:spPr/>
        <p:txBody>
          <a:bodyPr/>
          <a:lstStyle/>
          <a:p>
            <a:pPr eaLnBrk="1" hangingPunct="1"/>
            <a:r>
              <a:rPr lang="en-US" altLang="en-US"/>
              <a:t>Purpose</a:t>
            </a:r>
          </a:p>
        </p:txBody>
      </p:sp>
      <p:sp>
        <p:nvSpPr>
          <p:cNvPr id="17412" name="Content Placeholder 5"/>
          <p:cNvSpPr>
            <a:spLocks noGrp="1"/>
          </p:cNvSpPr>
          <p:nvPr>
            <p:ph sz="half" idx="2"/>
          </p:nvPr>
        </p:nvSpPr>
        <p:spPr/>
        <p:txBody>
          <a:bodyPr/>
          <a:lstStyle/>
          <a:p>
            <a:pPr eaLnBrk="1" hangingPunct="1">
              <a:buFont typeface="Arial" charset="0"/>
              <a:buChar char="•"/>
            </a:pPr>
            <a:r>
              <a:rPr lang="en-US" altLang="en-US" dirty="0"/>
              <a:t>Provides sponsor approval</a:t>
            </a:r>
          </a:p>
          <a:p>
            <a:pPr eaLnBrk="1" hangingPunct="1">
              <a:buFont typeface="Arial" charset="0"/>
              <a:buChar char="•"/>
            </a:pPr>
            <a:r>
              <a:rPr lang="en-US" altLang="en-US" dirty="0"/>
              <a:t>Commits funding for the project</a:t>
            </a:r>
          </a:p>
          <a:p>
            <a:pPr eaLnBrk="1" hangingPunct="1">
              <a:buFont typeface="Arial" charset="0"/>
              <a:buChar char="•"/>
            </a:pPr>
            <a:r>
              <a:rPr lang="en-US" altLang="en-US" dirty="0" err="1"/>
              <a:t>Summarises</a:t>
            </a:r>
            <a:r>
              <a:rPr lang="en-US" altLang="en-US" dirty="0"/>
              <a:t> key conditions and parameters </a:t>
            </a:r>
          </a:p>
          <a:p>
            <a:pPr eaLnBrk="1" hangingPunct="1">
              <a:buFont typeface="Arial" charset="0"/>
              <a:buChar char="•"/>
            </a:pPr>
            <a:r>
              <a:rPr lang="en-US" altLang="en-US" dirty="0"/>
              <a:t>Establishes framework to develop baseline plan</a:t>
            </a:r>
          </a:p>
        </p:txBody>
      </p:sp>
      <p:sp>
        <p:nvSpPr>
          <p:cNvPr id="17413" name="Text Placeholder 9"/>
          <p:cNvSpPr>
            <a:spLocks noGrp="1"/>
          </p:cNvSpPr>
          <p:nvPr>
            <p:ph type="body" sz="quarter" idx="3"/>
          </p:nvPr>
        </p:nvSpPr>
        <p:spPr/>
        <p:txBody>
          <a:bodyPr/>
          <a:lstStyle/>
          <a:p>
            <a:pPr eaLnBrk="1" hangingPunct="1"/>
            <a:r>
              <a:rPr lang="en-US" altLang="en-US" dirty="0"/>
              <a:t>Possible elements</a:t>
            </a:r>
          </a:p>
        </p:txBody>
      </p:sp>
      <p:sp>
        <p:nvSpPr>
          <p:cNvPr id="17414" name="Content Placeholder 7"/>
          <p:cNvSpPr>
            <a:spLocks noGrp="1"/>
          </p:cNvSpPr>
          <p:nvPr>
            <p:ph sz="quarter" idx="4"/>
          </p:nvPr>
        </p:nvSpPr>
        <p:spPr>
          <a:xfrm>
            <a:off x="4645025" y="2174875"/>
            <a:ext cx="1984375" cy="3951288"/>
          </a:xfrm>
        </p:spPr>
        <p:txBody>
          <a:bodyPr/>
          <a:lstStyle/>
          <a:p>
            <a:pPr eaLnBrk="1" hangingPunct="1">
              <a:buFont typeface="Calibri" pitchFamily="34" charset="0"/>
              <a:buChar char="•"/>
            </a:pPr>
            <a:r>
              <a:rPr lang="en-US" altLang="en-US" sz="1600"/>
              <a:t>Project title</a:t>
            </a:r>
          </a:p>
          <a:p>
            <a:pPr eaLnBrk="1" hangingPunct="1">
              <a:buFont typeface="Calibri" pitchFamily="34" charset="0"/>
              <a:buChar char="•"/>
            </a:pPr>
            <a:r>
              <a:rPr lang="en-US" altLang="en-US" sz="1600"/>
              <a:t>Purpose</a:t>
            </a:r>
          </a:p>
          <a:p>
            <a:pPr eaLnBrk="1" hangingPunct="1">
              <a:buFont typeface="Calibri" pitchFamily="34" charset="0"/>
              <a:buChar char="•"/>
            </a:pPr>
            <a:r>
              <a:rPr lang="en-US" altLang="en-US" sz="1600"/>
              <a:t>Description</a:t>
            </a:r>
          </a:p>
          <a:p>
            <a:pPr eaLnBrk="1" hangingPunct="1">
              <a:buFont typeface="Calibri" pitchFamily="34" charset="0"/>
              <a:buChar char="•"/>
            </a:pPr>
            <a:r>
              <a:rPr lang="en-US" altLang="en-US" sz="1600"/>
              <a:t>Objective</a:t>
            </a:r>
          </a:p>
          <a:p>
            <a:pPr eaLnBrk="1" hangingPunct="1">
              <a:buFont typeface="Calibri" pitchFamily="34" charset="0"/>
              <a:buChar char="•"/>
            </a:pPr>
            <a:r>
              <a:rPr lang="en-US" altLang="en-US" sz="1600"/>
              <a:t>Success criteria or expected benefits</a:t>
            </a:r>
          </a:p>
          <a:p>
            <a:pPr eaLnBrk="1" hangingPunct="1">
              <a:buFont typeface="Calibri" pitchFamily="34" charset="0"/>
              <a:buChar char="•"/>
            </a:pPr>
            <a:r>
              <a:rPr lang="en-US" altLang="en-US" sz="1600"/>
              <a:t>Funding</a:t>
            </a:r>
          </a:p>
          <a:p>
            <a:pPr eaLnBrk="1" hangingPunct="1">
              <a:buFont typeface="Calibri" pitchFamily="34" charset="0"/>
              <a:buChar char="•"/>
            </a:pPr>
            <a:r>
              <a:rPr lang="en-US" altLang="en-US" sz="1600"/>
              <a:t>Major deliverables</a:t>
            </a:r>
          </a:p>
          <a:p>
            <a:pPr eaLnBrk="1" hangingPunct="1">
              <a:buFont typeface="Calibri" pitchFamily="34" charset="0"/>
              <a:buChar char="•"/>
            </a:pPr>
            <a:r>
              <a:rPr lang="en-US" altLang="en-US" sz="1600"/>
              <a:t>Acceptance criteria</a:t>
            </a:r>
          </a:p>
        </p:txBody>
      </p:sp>
      <p:sp>
        <p:nvSpPr>
          <p:cNvPr id="11" name="Content Placeholder 7"/>
          <p:cNvSpPr txBox="1">
            <a:spLocks/>
          </p:cNvSpPr>
          <p:nvPr/>
        </p:nvSpPr>
        <p:spPr bwMode="auto">
          <a:xfrm>
            <a:off x="6705600" y="2174875"/>
            <a:ext cx="1984375" cy="3951288"/>
          </a:xfrm>
          <a:prstGeom prst="rect">
            <a:avLst/>
          </a:prstGeom>
          <a:noFill/>
          <a:ln w="9525">
            <a:noFill/>
            <a:miter lim="800000"/>
            <a:headEnd/>
            <a:tailEnd/>
          </a:ln>
        </p:spPr>
        <p:txBody>
          <a:bodyPr/>
          <a:lstStyle/>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Milestone schedule</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Key assumptions</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Constraints</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Major risks</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Approval requirements</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Project manager</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Reporting requirements</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Sponsor designee</a:t>
            </a:r>
          </a:p>
          <a:p>
            <a:pPr marL="342900" indent="-342900" hangingPunct="0">
              <a:spcBef>
                <a:spcPct val="20000"/>
              </a:spcBef>
              <a:buClr>
                <a:srgbClr val="00ADEE"/>
              </a:buClr>
              <a:buSzPct val="100000"/>
              <a:buFont typeface="Calibri" pitchFamily="34" charset="0"/>
              <a:buChar char="•"/>
              <a:defRPr/>
            </a:pPr>
            <a:r>
              <a:rPr lang="en-US" sz="1600" dirty="0">
                <a:latin typeface="+mn-lt"/>
                <a:cs typeface="+mn-cs"/>
              </a:rPr>
              <a:t>Approval signature</a:t>
            </a:r>
            <a:endParaRPr lang="en-US" sz="2400" dirty="0">
              <a:latin typeface="+mn-lt"/>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3"/>
          <p:cNvSpPr>
            <a:spLocks noGrp="1"/>
          </p:cNvSpPr>
          <p:nvPr>
            <p:ph type="title"/>
          </p:nvPr>
        </p:nvSpPr>
        <p:spPr/>
        <p:txBody>
          <a:bodyPr/>
          <a:lstStyle/>
          <a:p>
            <a:pPr eaLnBrk="1" hangingPunct="1"/>
            <a:r>
              <a:rPr lang="en-US" altLang="en-US" dirty="0"/>
              <a:t>Preparing a Request for Proposal</a:t>
            </a:r>
          </a:p>
        </p:txBody>
      </p:sp>
      <p:sp>
        <p:nvSpPr>
          <p:cNvPr id="18435" name="Content Placeholder 4"/>
          <p:cNvSpPr>
            <a:spLocks noGrp="1"/>
          </p:cNvSpPr>
          <p:nvPr>
            <p:ph idx="1"/>
          </p:nvPr>
        </p:nvSpPr>
        <p:spPr/>
        <p:txBody>
          <a:bodyPr/>
          <a:lstStyle/>
          <a:p>
            <a:pPr eaLnBrk="1" hangingPunct="1"/>
            <a:r>
              <a:rPr lang="en-US" altLang="en-US"/>
              <a:t>Decision made to outsource to external resource</a:t>
            </a:r>
          </a:p>
          <a:p>
            <a:pPr eaLnBrk="1" hangingPunct="1"/>
            <a:r>
              <a:rPr lang="en-US" altLang="en-US"/>
              <a:t>Comprehensively describe project requirements</a:t>
            </a:r>
          </a:p>
          <a:p>
            <a:pPr lvl="1" eaLnBrk="1" hangingPunct="1"/>
            <a:r>
              <a:rPr lang="en-US" altLang="en-US"/>
              <a:t>Includes need, problem, or opportunity description</a:t>
            </a:r>
          </a:p>
          <a:p>
            <a:pPr lvl="1" eaLnBrk="1" hangingPunct="1"/>
            <a:r>
              <a:rPr lang="en-US" altLang="en-US"/>
              <a:t>Allows contractors to develop a thorough proposal</a:t>
            </a:r>
          </a:p>
          <a:p>
            <a:pPr lvl="1" eaLnBrk="1" hangingPunct="1"/>
            <a:r>
              <a:rPr lang="en-US" altLang="en-US"/>
              <a:t>Facilitates the development of evaluation criteria</a:t>
            </a:r>
          </a:p>
          <a:p>
            <a:pPr eaLnBrk="1" hangingPunct="1"/>
            <a:r>
              <a:rPr lang="en-US" altLang="en-US"/>
              <a:t>May be communicated informally or formally, in writing or verbally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2"/>
          <p:cNvSpPr>
            <a:spLocks noGrp="1"/>
          </p:cNvSpPr>
          <p:nvPr>
            <p:ph type="title"/>
          </p:nvPr>
        </p:nvSpPr>
        <p:spPr/>
        <p:txBody>
          <a:bodyPr/>
          <a:lstStyle/>
          <a:p>
            <a:pPr eaLnBrk="1" hangingPunct="1"/>
            <a:r>
              <a:rPr lang="en-US" altLang="en-US" dirty="0"/>
              <a:t>Guidelines for developing an RFP</a:t>
            </a:r>
          </a:p>
        </p:txBody>
      </p:sp>
      <p:sp>
        <p:nvSpPr>
          <p:cNvPr id="19459" name="Content Placeholder 3"/>
          <p:cNvSpPr>
            <a:spLocks noGrp="1"/>
          </p:cNvSpPr>
          <p:nvPr>
            <p:ph sz="half" idx="1"/>
          </p:nvPr>
        </p:nvSpPr>
        <p:spPr/>
        <p:txBody>
          <a:bodyPr/>
          <a:lstStyle/>
          <a:p>
            <a:pPr eaLnBrk="1" hangingPunct="1">
              <a:buFont typeface="Arial" charset="0"/>
              <a:buChar char="•"/>
            </a:pPr>
            <a:r>
              <a:rPr lang="en-US" altLang="en-US" sz="2200" dirty="0"/>
              <a:t>State project objective or purpose</a:t>
            </a:r>
          </a:p>
          <a:p>
            <a:pPr eaLnBrk="1" hangingPunct="1">
              <a:buFont typeface="Arial" charset="0"/>
              <a:buChar char="•"/>
            </a:pPr>
            <a:r>
              <a:rPr lang="en-US" altLang="en-US" sz="2200" dirty="0"/>
              <a:t>Provide a statement of work</a:t>
            </a:r>
          </a:p>
          <a:p>
            <a:pPr eaLnBrk="1" hangingPunct="1">
              <a:buFont typeface="Arial" charset="0"/>
              <a:buChar char="•"/>
            </a:pPr>
            <a:r>
              <a:rPr lang="en-US" altLang="en-US" sz="2200" dirty="0"/>
              <a:t>Include customer requirements</a:t>
            </a:r>
          </a:p>
          <a:p>
            <a:pPr eaLnBrk="1" hangingPunct="1">
              <a:buFont typeface="Arial" charset="0"/>
              <a:buChar char="•"/>
            </a:pPr>
            <a:r>
              <a:rPr lang="en-US" altLang="en-US" sz="2200" dirty="0"/>
              <a:t>State deliverables the customer expects</a:t>
            </a:r>
          </a:p>
          <a:p>
            <a:pPr eaLnBrk="1" hangingPunct="1">
              <a:buFont typeface="Arial" charset="0"/>
              <a:buChar char="•"/>
            </a:pPr>
            <a:r>
              <a:rPr lang="en-US" altLang="en-US" sz="2200" dirty="0"/>
              <a:t>State acceptance criteria</a:t>
            </a:r>
          </a:p>
          <a:p>
            <a:pPr eaLnBrk="1" hangingPunct="1">
              <a:buFont typeface="Arial" charset="0"/>
              <a:buChar char="•"/>
            </a:pPr>
            <a:r>
              <a:rPr lang="en-US" altLang="en-US" sz="2200" dirty="0"/>
              <a:t>List customer supplied items</a:t>
            </a:r>
          </a:p>
          <a:p>
            <a:pPr eaLnBrk="1" hangingPunct="1">
              <a:buFont typeface="Arial" charset="0"/>
              <a:buChar char="•"/>
            </a:pPr>
            <a:r>
              <a:rPr lang="en-US" altLang="en-US" sz="2200" dirty="0"/>
              <a:t>State approvals required</a:t>
            </a:r>
          </a:p>
        </p:txBody>
      </p:sp>
      <p:sp>
        <p:nvSpPr>
          <p:cNvPr id="19460" name="Content Placeholder 6"/>
          <p:cNvSpPr>
            <a:spLocks noGrp="1"/>
          </p:cNvSpPr>
          <p:nvPr>
            <p:ph sz="half" idx="2"/>
          </p:nvPr>
        </p:nvSpPr>
        <p:spPr/>
        <p:txBody>
          <a:bodyPr/>
          <a:lstStyle/>
          <a:p>
            <a:pPr eaLnBrk="1" hangingPunct="1">
              <a:buFont typeface="Arial" charset="0"/>
              <a:buChar char="•"/>
            </a:pPr>
            <a:r>
              <a:rPr lang="en-US" altLang="en-US" sz="2200"/>
              <a:t>State type of contract</a:t>
            </a:r>
          </a:p>
          <a:p>
            <a:pPr eaLnBrk="1" hangingPunct="1">
              <a:buFont typeface="Arial" charset="0"/>
              <a:buChar char="•"/>
            </a:pPr>
            <a:r>
              <a:rPr lang="en-US" altLang="en-US" sz="2200"/>
              <a:t>State payment terms</a:t>
            </a:r>
          </a:p>
          <a:p>
            <a:pPr eaLnBrk="1" hangingPunct="1">
              <a:buFont typeface="Arial" charset="0"/>
              <a:buChar char="•"/>
            </a:pPr>
            <a:r>
              <a:rPr lang="en-US" altLang="en-US" sz="2200"/>
              <a:t>State schedule and key milestones</a:t>
            </a:r>
          </a:p>
          <a:p>
            <a:pPr eaLnBrk="1" hangingPunct="1">
              <a:buFont typeface="Arial" charset="0"/>
              <a:buChar char="•"/>
            </a:pPr>
            <a:r>
              <a:rPr lang="en-US" altLang="en-US" sz="2200"/>
              <a:t>List format and content instructions</a:t>
            </a:r>
          </a:p>
          <a:p>
            <a:pPr eaLnBrk="1" hangingPunct="1">
              <a:buFont typeface="Arial" charset="0"/>
              <a:buChar char="•"/>
            </a:pPr>
            <a:r>
              <a:rPr lang="en-US" altLang="en-US" sz="2200"/>
              <a:t>Indicate due date</a:t>
            </a:r>
          </a:p>
          <a:p>
            <a:pPr eaLnBrk="1" hangingPunct="1">
              <a:buFont typeface="Arial" charset="0"/>
              <a:buChar char="•"/>
            </a:pPr>
            <a:r>
              <a:rPr lang="en-US" altLang="en-US" sz="2200"/>
              <a:t>Include evaluation criteria</a:t>
            </a:r>
          </a:p>
          <a:p>
            <a:pPr eaLnBrk="1" hangingPunct="1">
              <a:buFont typeface="Arial" charset="0"/>
              <a:buChar char="•"/>
            </a:pPr>
            <a:r>
              <a:rPr lang="en-US" altLang="en-US" sz="2200"/>
              <a:t>Include level of effort or funds available</a:t>
            </a:r>
          </a:p>
          <a:p>
            <a:pPr eaLnBrk="1" hangingPunct="1">
              <a:buFontTx/>
              <a:buBlip>
                <a:blip r:embed="rId3"/>
              </a:buBlip>
            </a:pPr>
            <a:endParaRPr lang="en-US" altLang="en-US"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4"/>
          <p:cNvSpPr>
            <a:spLocks noGrp="1"/>
          </p:cNvSpPr>
          <p:nvPr>
            <p:ph type="title"/>
          </p:nvPr>
        </p:nvSpPr>
        <p:spPr/>
        <p:txBody>
          <a:bodyPr/>
          <a:lstStyle/>
          <a:p>
            <a:pPr eaLnBrk="1" hangingPunct="1"/>
            <a:r>
              <a:rPr lang="en-US" altLang="en-US" dirty="0"/>
              <a:t>Soliciting Proposals</a:t>
            </a:r>
          </a:p>
        </p:txBody>
      </p:sp>
      <p:sp>
        <p:nvSpPr>
          <p:cNvPr id="20483" name="Text Placeholder 5"/>
          <p:cNvSpPr>
            <a:spLocks noGrp="1"/>
          </p:cNvSpPr>
          <p:nvPr>
            <p:ph type="body" idx="1"/>
          </p:nvPr>
        </p:nvSpPr>
        <p:spPr/>
        <p:txBody>
          <a:bodyPr/>
          <a:lstStyle/>
          <a:p>
            <a:pPr eaLnBrk="1" hangingPunct="1"/>
            <a:r>
              <a:rPr lang="en-US" altLang="en-US"/>
              <a:t>Solicitation</a:t>
            </a:r>
          </a:p>
        </p:txBody>
      </p:sp>
      <p:sp>
        <p:nvSpPr>
          <p:cNvPr id="20484" name="Content Placeholder 5"/>
          <p:cNvSpPr>
            <a:spLocks noGrp="1"/>
          </p:cNvSpPr>
          <p:nvPr>
            <p:ph sz="half" idx="2"/>
          </p:nvPr>
        </p:nvSpPr>
        <p:spPr/>
        <p:txBody>
          <a:bodyPr/>
          <a:lstStyle/>
          <a:p>
            <a:pPr eaLnBrk="1" hangingPunct="1">
              <a:buFont typeface="Arial" charset="0"/>
              <a:buChar char="•"/>
            </a:pPr>
            <a:r>
              <a:rPr lang="en-US" altLang="en-US"/>
              <a:t>Notify potential contractors</a:t>
            </a:r>
          </a:p>
          <a:p>
            <a:pPr lvl="1" eaLnBrk="1" hangingPunct="1">
              <a:buFont typeface="Arial" charset="0"/>
              <a:buChar char="•"/>
            </a:pPr>
            <a:r>
              <a:rPr lang="en-US" altLang="en-US"/>
              <a:t>Identify selected group in advance to send copy</a:t>
            </a:r>
          </a:p>
          <a:p>
            <a:pPr lvl="1" eaLnBrk="1" hangingPunct="1">
              <a:buFont typeface="Arial" charset="0"/>
              <a:buChar char="•"/>
            </a:pPr>
            <a:r>
              <a:rPr lang="en-US" altLang="en-US"/>
              <a:t>Advertise in selected journals, newspapers, or websites</a:t>
            </a:r>
          </a:p>
          <a:p>
            <a:pPr eaLnBrk="1" hangingPunct="1">
              <a:buFont typeface="Arial" charset="0"/>
              <a:buChar char="•"/>
            </a:pPr>
            <a:r>
              <a:rPr lang="en-US" altLang="en-US"/>
              <a:t>Maintain competitive situation</a:t>
            </a:r>
          </a:p>
          <a:p>
            <a:pPr lvl="1" eaLnBrk="1" hangingPunct="1">
              <a:buFont typeface="Arial" charset="0"/>
              <a:buChar char="•"/>
            </a:pPr>
            <a:r>
              <a:rPr lang="en-US" altLang="en-US"/>
              <a:t>Provide equal information to all bidders</a:t>
            </a:r>
          </a:p>
          <a:p>
            <a:pPr lvl="1" eaLnBrk="1" hangingPunct="1">
              <a:buFont typeface="Arial" charset="0"/>
              <a:buChar char="•"/>
            </a:pPr>
            <a:r>
              <a:rPr lang="en-US" altLang="en-US"/>
              <a:t>Hold bidders’ meeting to answer questions</a:t>
            </a:r>
          </a:p>
          <a:p>
            <a:pPr eaLnBrk="1" hangingPunct="1">
              <a:buFontTx/>
              <a:buBlip>
                <a:blip r:embed="rId3"/>
              </a:buBlip>
            </a:pPr>
            <a:endParaRPr lang="en-US" altLang="en-US"/>
          </a:p>
        </p:txBody>
      </p:sp>
      <p:sp>
        <p:nvSpPr>
          <p:cNvPr id="20485" name="Text Placeholder 6"/>
          <p:cNvSpPr>
            <a:spLocks noGrp="1"/>
          </p:cNvSpPr>
          <p:nvPr>
            <p:ph type="body" sz="quarter" idx="3"/>
          </p:nvPr>
        </p:nvSpPr>
        <p:spPr/>
        <p:txBody>
          <a:bodyPr/>
          <a:lstStyle/>
          <a:p>
            <a:pPr eaLnBrk="1" hangingPunct="1"/>
            <a:r>
              <a:rPr lang="en-US" altLang="en-US"/>
              <a:t>Conditions</a:t>
            </a:r>
          </a:p>
        </p:txBody>
      </p:sp>
      <p:sp>
        <p:nvSpPr>
          <p:cNvPr id="20486" name="Content Placeholder 7"/>
          <p:cNvSpPr>
            <a:spLocks noGrp="1"/>
          </p:cNvSpPr>
          <p:nvPr>
            <p:ph sz="quarter" idx="4"/>
          </p:nvPr>
        </p:nvSpPr>
        <p:spPr/>
        <p:txBody>
          <a:bodyPr/>
          <a:lstStyle/>
          <a:p>
            <a:pPr eaLnBrk="1" hangingPunct="1">
              <a:buFont typeface="Arial" charset="0"/>
              <a:buChar char="•"/>
            </a:pPr>
            <a:r>
              <a:rPr lang="en-US" altLang="en-US" dirty="0"/>
              <a:t>Requirements are sometimes communicated verbally instead of via a formal RFP</a:t>
            </a:r>
          </a:p>
          <a:p>
            <a:pPr eaLnBrk="1" hangingPunct="1">
              <a:buFont typeface="Arial" charset="0"/>
              <a:buChar char="•"/>
            </a:pPr>
            <a:r>
              <a:rPr lang="en-US" altLang="en-US" dirty="0"/>
              <a:t>All RFPs start with identification of a need, problem, or opportunity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dirty="0"/>
              <a:t>Critical Success Factors </a:t>
            </a:r>
          </a:p>
        </p:txBody>
      </p:sp>
      <p:sp>
        <p:nvSpPr>
          <p:cNvPr id="29699" name="Content Placeholder 2"/>
          <p:cNvSpPr>
            <a:spLocks noGrp="1"/>
          </p:cNvSpPr>
          <p:nvPr>
            <p:ph idx="1"/>
          </p:nvPr>
        </p:nvSpPr>
        <p:spPr>
          <a:xfrm>
            <a:off x="457200" y="1371600"/>
            <a:ext cx="8229600" cy="4800600"/>
          </a:xfrm>
        </p:spPr>
        <p:txBody>
          <a:bodyPr/>
          <a:lstStyle/>
          <a:p>
            <a:pPr eaLnBrk="1" hangingPunct="1"/>
            <a:r>
              <a:rPr lang="en-US" altLang="en-US" sz="1600" dirty="0"/>
              <a:t>The need must be </a:t>
            </a:r>
            <a:r>
              <a:rPr lang="en-US" altLang="en-US" sz="1600" b="1" dirty="0"/>
              <a:t>clearly defined </a:t>
            </a:r>
            <a:r>
              <a:rPr lang="en-US" altLang="en-US" sz="1600" dirty="0"/>
              <a:t>before preparing a request for proposal (RFP).</a:t>
            </a:r>
          </a:p>
          <a:p>
            <a:pPr eaLnBrk="1" hangingPunct="1"/>
            <a:r>
              <a:rPr lang="en-US" altLang="en-US" sz="1600" dirty="0"/>
              <a:t>When selecting a project from among several needs or opportunities, the decision should be based on which project will </a:t>
            </a:r>
            <a:r>
              <a:rPr lang="en-US" altLang="en-US" sz="1600" b="1" dirty="0"/>
              <a:t>provide the greatest overall benefits </a:t>
            </a:r>
            <a:r>
              <a:rPr lang="en-US" altLang="en-US" sz="1600" dirty="0"/>
              <a:t>compared to its costs and possible consequences.</a:t>
            </a:r>
          </a:p>
          <a:p>
            <a:pPr eaLnBrk="1" hangingPunct="1"/>
            <a:r>
              <a:rPr lang="en-US" altLang="en-US" sz="1600" dirty="0"/>
              <a:t>Having a well-understood </a:t>
            </a:r>
            <a:r>
              <a:rPr lang="en-US" altLang="en-US" sz="1600" b="1" dirty="0"/>
              <a:t>evaluation and selection process </a:t>
            </a:r>
            <a:r>
              <a:rPr lang="en-US" altLang="en-US" sz="1600" dirty="0"/>
              <a:t>and a well-rounded committee will increase the chances of making the best project selection decision.</a:t>
            </a:r>
          </a:p>
          <a:p>
            <a:pPr eaLnBrk="1" hangingPunct="1"/>
            <a:r>
              <a:rPr lang="en-US" altLang="en-US" sz="1600" dirty="0"/>
              <a:t>Establish </a:t>
            </a:r>
            <a:r>
              <a:rPr lang="en-US" altLang="en-US" sz="1600" b="1" dirty="0"/>
              <a:t>quantitative</a:t>
            </a:r>
            <a:r>
              <a:rPr lang="en-US" altLang="en-US" sz="1600" dirty="0"/>
              <a:t> project success </a:t>
            </a:r>
            <a:r>
              <a:rPr lang="en-US" altLang="en-US" sz="1600" b="1" dirty="0"/>
              <a:t>criteria</a:t>
            </a:r>
            <a:r>
              <a:rPr lang="en-US" altLang="en-US" sz="1600" dirty="0"/>
              <a:t>, or expected benefits.</a:t>
            </a:r>
          </a:p>
          <a:p>
            <a:pPr eaLnBrk="1" hangingPunct="1"/>
            <a:r>
              <a:rPr lang="en-US" altLang="en-US" sz="1600" dirty="0"/>
              <a:t>A good RFP allows contractors to understand what the customer expects so that they can prepare a thorough proposal that addresses the </a:t>
            </a:r>
            <a:r>
              <a:rPr lang="en-US" altLang="en-US" sz="1600" b="1" dirty="0"/>
              <a:t>customer’s needs and requirements</a:t>
            </a:r>
            <a:r>
              <a:rPr lang="en-US" altLang="en-US" sz="1600" dirty="0"/>
              <a:t>.</a:t>
            </a:r>
          </a:p>
          <a:p>
            <a:pPr eaLnBrk="1" hangingPunct="1"/>
            <a:r>
              <a:rPr lang="en-US" altLang="en-US" sz="1600" dirty="0"/>
              <a:t>A request for proposal should include a statement of work, customer requirements, expected deliverables, and the </a:t>
            </a:r>
            <a:r>
              <a:rPr lang="en-US" altLang="en-US" sz="1600" b="1" dirty="0"/>
              <a:t>criteria</a:t>
            </a:r>
            <a:r>
              <a:rPr lang="en-US" altLang="en-US" sz="1600" dirty="0"/>
              <a:t> by which the customer will </a:t>
            </a:r>
            <a:r>
              <a:rPr lang="en-US" altLang="en-US" sz="1600" b="1" dirty="0"/>
              <a:t>evaluate</a:t>
            </a:r>
            <a:r>
              <a:rPr lang="en-US" altLang="en-US" sz="1600" dirty="0"/>
              <a:t> proposals.</a:t>
            </a:r>
          </a:p>
          <a:p>
            <a:pPr eaLnBrk="1" hangingPunct="1"/>
            <a:r>
              <a:rPr lang="en-US" altLang="en-US" sz="1600" dirty="0"/>
              <a:t>An RFP should provide instructions for the </a:t>
            </a:r>
            <a:r>
              <a:rPr lang="en-US" altLang="en-US" sz="1600" b="1" dirty="0"/>
              <a:t>format and content </a:t>
            </a:r>
            <a:r>
              <a:rPr lang="en-US" altLang="en-US" sz="1600" dirty="0"/>
              <a:t>of contractor proposals so that the customer will be able to make a consistent and fair comparison and evaluation of all the proposals.</a:t>
            </a:r>
          </a:p>
          <a:p>
            <a:pPr eaLnBrk="1" hangingPunct="1"/>
            <a:r>
              <a:rPr lang="en-US" altLang="en-US" sz="1600" dirty="0"/>
              <a:t>Customers must be careful not to provide information to only some of the contractors because it would give these contractors an unfair </a:t>
            </a:r>
            <a:r>
              <a:rPr lang="en-US" altLang="en-US" sz="1600" b="1" dirty="0"/>
              <a:t>competitive</a:t>
            </a:r>
            <a:r>
              <a:rPr lang="en-US" altLang="en-US" sz="1600" dirty="0"/>
              <a:t> advantage in preparing their proposals.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9699">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96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dirty="0"/>
              <a:t>Summary</a:t>
            </a:r>
          </a:p>
        </p:txBody>
      </p:sp>
      <p:sp>
        <p:nvSpPr>
          <p:cNvPr id="30723" name="Content Placeholder 2"/>
          <p:cNvSpPr>
            <a:spLocks noGrp="1"/>
          </p:cNvSpPr>
          <p:nvPr>
            <p:ph idx="1"/>
          </p:nvPr>
        </p:nvSpPr>
        <p:spPr>
          <a:xfrm>
            <a:off x="457200" y="1295400"/>
            <a:ext cx="8229600" cy="4525963"/>
          </a:xfrm>
        </p:spPr>
        <p:txBody>
          <a:bodyPr/>
          <a:lstStyle/>
          <a:p>
            <a:pPr eaLnBrk="1" hangingPunct="1"/>
            <a:r>
              <a:rPr lang="en-US" altLang="en-US" sz="1600" dirty="0"/>
              <a:t>The initiating phase of the project life cycle starts with </a:t>
            </a:r>
            <a:r>
              <a:rPr lang="en-US" altLang="en-US" sz="1600" dirty="0" err="1"/>
              <a:t>recognising</a:t>
            </a:r>
            <a:r>
              <a:rPr lang="en-US" altLang="en-US" sz="1600" dirty="0"/>
              <a:t> a need, problem, or opportunity for which a project or projects are identified to address the need.</a:t>
            </a:r>
          </a:p>
          <a:p>
            <a:pPr eaLnBrk="1" hangingPunct="1"/>
            <a:r>
              <a:rPr lang="en-US" altLang="en-US" sz="1600" dirty="0"/>
              <a:t>Sometimes </a:t>
            </a:r>
            <a:r>
              <a:rPr lang="en-US" altLang="en-US" sz="1600" dirty="0" err="1"/>
              <a:t>organisations</a:t>
            </a:r>
            <a:r>
              <a:rPr lang="en-US" altLang="en-US" sz="1600" dirty="0"/>
              <a:t> identify several or many needs but have limited funds and people available to pursue potential projects to address all of those needs. In such cases, the company must go through a decision-making process to </a:t>
            </a:r>
            <a:r>
              <a:rPr lang="en-US" altLang="en-US" sz="1600" dirty="0" err="1"/>
              <a:t>prioritise</a:t>
            </a:r>
            <a:r>
              <a:rPr lang="en-US" altLang="en-US" sz="1600" dirty="0"/>
              <a:t> and select those projects that will result in the greatest overall benefit.</a:t>
            </a:r>
          </a:p>
          <a:p>
            <a:pPr eaLnBrk="1" hangingPunct="1"/>
            <a:r>
              <a:rPr lang="en-US" altLang="en-US" sz="1600" dirty="0"/>
              <a:t>Project selection involves evaluating potential projects and then deciding which should move forward to be implemented.</a:t>
            </a:r>
          </a:p>
          <a:p>
            <a:pPr eaLnBrk="1" hangingPunct="1"/>
            <a:r>
              <a:rPr lang="en-US" altLang="en-US" sz="1600" dirty="0"/>
              <a:t>Once a project is selected, it is formally </a:t>
            </a:r>
            <a:r>
              <a:rPr lang="en-US" altLang="en-US" sz="1600" dirty="0" err="1"/>
              <a:t>authorised</a:t>
            </a:r>
            <a:r>
              <a:rPr lang="en-US" altLang="en-US" sz="1600" dirty="0"/>
              <a:t> using a document referred to as a project charter, sometimes called a project </a:t>
            </a:r>
            <a:r>
              <a:rPr lang="en-US" altLang="en-US" sz="1600" dirty="0" err="1"/>
              <a:t>authorisation</a:t>
            </a:r>
            <a:r>
              <a:rPr lang="en-US" altLang="en-US" sz="1600" dirty="0"/>
              <a:t> or project initiation document.</a:t>
            </a:r>
          </a:p>
          <a:p>
            <a:pPr eaLnBrk="1" hangingPunct="1"/>
            <a:r>
              <a:rPr lang="en-US" altLang="en-US" sz="1600" dirty="0"/>
              <a:t>In some cases, an </a:t>
            </a:r>
            <a:r>
              <a:rPr lang="en-US" altLang="en-US" sz="1600" dirty="0" err="1"/>
              <a:t>organisation</a:t>
            </a:r>
            <a:r>
              <a:rPr lang="en-US" altLang="en-US" sz="1600" dirty="0"/>
              <a:t> does not have the expertise or staff capacity to plan and perform the project or major portions of the project, and therefore decides to have the project completed by an external resource (contractor) and prepares and RFP.</a:t>
            </a:r>
          </a:p>
          <a:p>
            <a:pPr eaLnBrk="1" hangingPunct="1"/>
            <a:r>
              <a:rPr lang="en-US" altLang="en-US" sz="1600" dirty="0"/>
              <a:t>Once the RFP has been prepared, the customer solicits proposals by notifying potential contractors that the RFP is available.</a:t>
            </a:r>
          </a:p>
          <a:p>
            <a:pPr eaLnBrk="1" hangingPunct="1"/>
            <a:r>
              <a:rPr lang="en-US" altLang="en-US" sz="1600" dirty="0"/>
              <a:t>Not all project life cycles include the preparation of a written request for proposal by a customer and subsequent submittal of proposals from contractors. Some endeavors move from the initiating phase, where a project is identified and selected, into the planning and performing phases of the life cycle.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07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07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Gido SA</Template>
  <TotalTime>11816</TotalTime>
  <Words>859</Words>
  <Application>Microsoft Office PowerPoint</Application>
  <PresentationFormat>On-screen Show (4:3)</PresentationFormat>
  <Paragraphs>118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Wingdings</vt:lpstr>
      <vt:lpstr>68347_Pppt_template</vt:lpstr>
      <vt:lpstr>PowerPoint Presentation</vt:lpstr>
      <vt:lpstr>Chapter Concepts</vt:lpstr>
      <vt:lpstr>Learning Outcomes</vt:lpstr>
      <vt:lpstr>Project Integration Management Project Procurement Management</vt:lpstr>
      <vt:lpstr>Project Identification</vt:lpstr>
      <vt:lpstr>Project Selection</vt:lpstr>
      <vt:lpstr>Project Charter</vt:lpstr>
      <vt:lpstr>Preparing a Request for Proposal</vt:lpstr>
      <vt:lpstr>Guidelines for developing an RFP</vt:lpstr>
      <vt:lpstr>Soliciting Proposals</vt:lpstr>
      <vt:lpstr>Critical Success Factors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Windows User</cp:lastModifiedBy>
  <cp:revision>205</cp:revision>
  <cp:lastPrinted>2019-04-01T15:59:09Z</cp:lastPrinted>
  <dcterms:created xsi:type="dcterms:W3CDTF">2010-12-13T04:11:14Z</dcterms:created>
  <dcterms:modified xsi:type="dcterms:W3CDTF">2019-04-01T16:00:27Z</dcterms:modified>
</cp:coreProperties>
</file>