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257" r:id="rId5"/>
    <p:sldId id="262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87" r:id="rId14"/>
    <p:sldId id="288" r:id="rId1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7718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5" autoAdjust="0"/>
    <p:restoredTop sz="78776" autoAdjust="0"/>
  </p:normalViewPr>
  <p:slideViewPr>
    <p:cSldViewPr>
      <p:cViewPr varScale="1">
        <p:scale>
          <a:sx n="54" d="100"/>
          <a:sy n="54" d="100"/>
        </p:scale>
        <p:origin x="19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1DFE521-42C2-419A-8401-86FD5E4EADA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413457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E653B06-D5BF-4A81-B775-966A450AE7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453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43D1D95-854F-4599-A8B5-C740C17F0BE5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905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F512C2B-E7AE-4BB6-832E-E545324130DB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45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1BB56C8-43D6-46E1-BFDE-0F999C3FF5A0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565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DF3D155-5DEF-4398-8907-942151461BD3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2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1B079BB-DFB6-459F-813E-7032DA55F50B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631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6212A13-E6ED-4395-B523-8C34CAB90385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6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57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00F5254-8D24-4C38-843D-57C8A129F875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637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587F025-06D8-4286-97BF-D70F7BC1B6F9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533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24A2F52-0461-4164-848A-63D7F89B9C4C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034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357519E-A7A9-4E11-BCE0-A27A61843459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539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ED52BD1-B604-4FE7-AD8E-2A1722443B3E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11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720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CED6CF5-D43F-430A-BBAE-BD5CA61103A3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12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054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74F6E7E-EC85-41CF-B718-53FF64275337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13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843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4395C08-35C8-44D5-9D9F-75F761CA99E0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14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03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lank chapter title icon for ppt from book copy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1763"/>
            <a:ext cx="9144000" cy="4054475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200400"/>
            <a:ext cx="5638800" cy="1600200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533400" y="1828800"/>
            <a:ext cx="4572000" cy="890587"/>
          </a:xfrm>
        </p:spPr>
        <p:txBody>
          <a:bodyPr anchor="ctr"/>
          <a:lstStyle>
            <a:lvl1pPr marL="0" indent="0">
              <a:buNone/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49E168-2139-4E4F-8DF3-75D1CDE6875E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DE6C2-EBAB-4DE5-8A9F-7AFD996B8B4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85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2"/>
              </a:buClr>
              <a:buSzPct val="100000"/>
              <a:buFont typeface="Calibri" pitchFamily="34" charset="0"/>
              <a:buChar char="•"/>
              <a:defRPr/>
            </a:lvl1pPr>
            <a:lvl2pPr marL="742950" indent="-285750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9A3A2-CF16-4271-9C78-FCF51C52A11C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D2924-99A6-4822-84ED-353EDF81F80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62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lank title icon for ppt from book copy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44000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0" y="838200"/>
            <a:ext cx="4419600" cy="2667001"/>
          </a:xfrm>
        </p:spPr>
        <p:txBody>
          <a:bodyPr>
            <a:normAutofit/>
          </a:bodyPr>
          <a:lstStyle>
            <a:lvl1pPr algn="l">
              <a:defRPr sz="3200" b="1" cap="none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905000"/>
            <a:ext cx="3352800" cy="890587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EC3806-379C-4DFE-8749-E08778193ECD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5AF94-4B75-41A7-8EFC-9F4797CC970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2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sz="2400"/>
            </a:lvl2pPr>
            <a:lvl3pPr marL="11430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 sz="2000"/>
            </a:lvl3pPr>
            <a:lvl4pPr marL="16002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Ø"/>
              <a:defRPr sz="18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342900" indent="-34290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sz="2400"/>
            </a:lvl2pPr>
            <a:lvl3pPr marL="11430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v"/>
              <a:defRPr sz="2000"/>
            </a:lvl3pPr>
            <a:lvl4pPr marL="16002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Ø"/>
              <a:defRPr sz="1800"/>
            </a:lvl4pPr>
            <a:lvl5pPr marL="2171700" indent="-342900">
              <a:buClr>
                <a:schemeClr val="accent2"/>
              </a:buClr>
              <a:buSzPct val="100000"/>
              <a:buFont typeface="Wingdings" panose="05000000000000000000" pitchFamily="2" charset="2"/>
              <a:buChar char="ü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33D64F-C485-457D-85E0-A1B621943763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74058-30EB-4708-BE5B-24E3B411936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03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itchFamily="34" charset="0"/>
              <a:buChar char="•"/>
              <a:defRPr sz="2400"/>
            </a:lvl1pPr>
            <a:lvl2pPr marL="742950" indent="-285750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 sz="1800"/>
            </a:lvl3pPr>
            <a:lvl4pPr marL="16002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Clr>
                <a:srgbClr val="C00000"/>
              </a:buClr>
              <a:buSzPct val="100000"/>
              <a:buFont typeface="Arial" pitchFamily="34" charset="0"/>
              <a:buChar char="•"/>
              <a:defRPr sz="2400"/>
            </a:lvl1pPr>
            <a:lvl2pPr marL="742950" indent="-285750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 sz="1800"/>
            </a:lvl3pPr>
            <a:lvl4pPr marL="16002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8FFD5-F72D-4FC7-878F-B77A49DBD465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E7E41-02D7-4760-8547-1185987293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9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D2582C-0D50-4FFD-B501-51B210F7BCC2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D6556-8976-4398-8A8B-983CCBEE5C0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33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A456A-758E-46E4-A2D8-DC2EA97EC318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E2FB2-C086-4F4E-93B9-8A9E607FE01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54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657600" cy="1162050"/>
          </a:xfrm>
        </p:spPr>
        <p:txBody>
          <a:bodyPr anchor="b"/>
          <a:lstStyle>
            <a:lvl1pPr algn="l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304800"/>
            <a:ext cx="4267200" cy="58213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buSzPct val="100000"/>
              <a:buFont typeface="Calibri" pitchFamily="34" charset="0"/>
              <a:buChar char="•"/>
              <a:defRPr sz="2400"/>
            </a:lvl1pPr>
            <a:lvl2pPr marL="742950" indent="-285750"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v"/>
              <a:defRPr sz="1800"/>
            </a:lvl3pPr>
            <a:lvl4pPr marL="16002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657600" cy="4691063"/>
          </a:xfrm>
        </p:spPr>
        <p:txBody>
          <a:bodyPr/>
          <a:lstStyle>
            <a:lvl1pPr marL="233363" indent="-233363">
              <a:buClr>
                <a:srgbClr val="C00000"/>
              </a:buClr>
              <a:buSzPct val="100000"/>
              <a:buFont typeface="Calibri" pitchFamily="34" charset="0"/>
              <a:buChar char="•"/>
              <a:defRPr sz="2000"/>
            </a:lvl1pPr>
            <a:lvl2pPr marL="690563" indent="-233363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97930-DCC0-4589-B4CC-DEE156CF1F35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7C6AB-1D3E-495D-9C7A-BE07DA230A1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65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79F1E-3317-4F89-BADB-42F5856CF64C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0476C-D46C-43A1-8014-DF9A65CFDF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839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C00000"/>
              </a:buClr>
              <a:defRPr/>
            </a:lvl1pPr>
            <a:lvl2pPr marL="742950" indent="-285750">
              <a:buClr>
                <a:srgbClr val="C00000"/>
              </a:buClr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2"/>
              </a:buClr>
              <a:buFont typeface="Wingdings" panose="05000000000000000000" pitchFamily="2" charset="2"/>
              <a:buChar char="v"/>
              <a:defRPr/>
            </a:lvl3pPr>
            <a:lvl4pPr marL="1600200" indent="-228600"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C00000"/>
              </a:buClr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68564-EB29-48D1-AAB2-3BF759156F46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52A3D-F484-470A-9DA6-2A8A67D7E29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4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buClr>
                <a:schemeClr val="accent2"/>
              </a:buClr>
              <a:defRPr/>
            </a:lvl1pPr>
            <a:lvl2pPr marL="742950" indent="-285750">
              <a:buClr>
                <a:srgbClr val="C00000"/>
              </a:buClr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2"/>
              </a:buClr>
              <a:buFont typeface="Wingdings" panose="05000000000000000000" pitchFamily="2" charset="2"/>
              <a:buChar char="v"/>
              <a:defRPr/>
            </a:lvl3pPr>
            <a:lvl4pPr marL="1600200" indent="-228600"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C00000"/>
              </a:buClr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76ED0-7F61-4932-ACC7-3D2D27A4AAC8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5A7A7-23DB-4430-8E7B-E74C32B0535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593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8A775-FCE2-42C8-8993-3E95A81BFE5B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116AC-3C5E-444E-B65E-5C70BF30285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36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687718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8A775-FCE2-42C8-8993-3E95A81BFE5B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116AC-3C5E-444E-B65E-5C70BF3028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7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9BE65AA-70DC-45BA-AFD4-0B0E69152078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8F4969-3633-4C68-988B-00A88A862AC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228600" y="6616700"/>
            <a:ext cx="74676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/>
            <a:r>
              <a:rPr lang="en-US" altLang="en-US" sz="800"/>
              <a:t>© 2015 Cengage Learning. All Rights Reserved. May not be scanned, copied or duplicated, or posted to a publicly accessible website, in whole or in part.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ED4736-4B46-44BC-8895-411EAAC237B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" y="6616700"/>
            <a:ext cx="74676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>
              <a:defRPr/>
            </a:pPr>
            <a:r>
              <a:rPr lang="en-US" altLang="en-US" sz="800" dirty="0"/>
              <a:t>© 2018 Cengage Learning.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13193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25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Closing the Project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788445-940F-453F-A0D2-1D991E9CC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600200"/>
            <a:ext cx="4419600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Concepts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Actions that should be taken when closing a project</a:t>
            </a:r>
          </a:p>
          <a:p>
            <a:pPr eaLnBrk="1" hangingPunct="1"/>
            <a:r>
              <a:rPr lang="en-US" altLang="en-US" dirty="0"/>
              <a:t>Conducting a post project evaluation</a:t>
            </a:r>
          </a:p>
          <a:p>
            <a:pPr eaLnBrk="1" hangingPunct="1"/>
            <a:r>
              <a:rPr lang="en-US" altLang="en-US" dirty="0"/>
              <a:t>The importance of documenting lessons learnt</a:t>
            </a:r>
          </a:p>
          <a:p>
            <a:pPr eaLnBrk="1" hangingPunct="1"/>
            <a:r>
              <a:rPr lang="en-US" altLang="en-US" dirty="0"/>
              <a:t>The need to </a:t>
            </a:r>
            <a:r>
              <a:rPr lang="en-US" altLang="en-US" dirty="0" err="1"/>
              <a:t>organise</a:t>
            </a:r>
            <a:r>
              <a:rPr lang="en-US" altLang="en-US" dirty="0"/>
              <a:t> and archive project documents</a:t>
            </a:r>
          </a:p>
          <a:p>
            <a:pPr eaLnBrk="1" hangingPunct="1"/>
            <a:r>
              <a:rPr lang="en-US" altLang="en-US" dirty="0"/>
              <a:t>Obtaining feedback from the customer about the project</a:t>
            </a:r>
          </a:p>
          <a:p>
            <a:pPr eaLnBrk="1" hangingPunct="1"/>
            <a:r>
              <a:rPr lang="en-US" altLang="en-US" dirty="0"/>
              <a:t>Early termination of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Learning Outcomes</a:t>
            </a:r>
          </a:p>
        </p:txBody>
      </p:sp>
      <p:sp>
        <p:nvSpPr>
          <p:cNvPr id="1331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Identify actions that should be taken during the process of closing a project</a:t>
            </a:r>
          </a:p>
          <a:p>
            <a:pPr eaLnBrk="1" hangingPunct="1"/>
            <a:r>
              <a:rPr lang="en-US" altLang="en-US" dirty="0"/>
              <a:t>Conduct a post project evaluation</a:t>
            </a:r>
          </a:p>
          <a:p>
            <a:pPr eaLnBrk="1" hangingPunct="1"/>
            <a:r>
              <a:rPr lang="en-US" altLang="en-US" dirty="0"/>
              <a:t>Discuss the value and use of lessons learnt </a:t>
            </a:r>
          </a:p>
          <a:p>
            <a:pPr eaLnBrk="1" hangingPunct="1"/>
            <a:r>
              <a:rPr lang="en-US" altLang="en-US" dirty="0"/>
              <a:t>Explain the importance of </a:t>
            </a:r>
            <a:r>
              <a:rPr lang="en-US" altLang="en-US" dirty="0" err="1"/>
              <a:t>organising</a:t>
            </a:r>
            <a:r>
              <a:rPr lang="en-US" altLang="en-US" dirty="0"/>
              <a:t> and archiving project documents</a:t>
            </a:r>
          </a:p>
          <a:p>
            <a:pPr eaLnBrk="1" hangingPunct="1"/>
            <a:r>
              <a:rPr lang="en-US" altLang="en-US" dirty="0"/>
              <a:t>Obtain customer feedback about the project</a:t>
            </a:r>
          </a:p>
          <a:p>
            <a:pPr eaLnBrk="1" hangingPunct="1"/>
            <a:r>
              <a:rPr lang="en-US" altLang="en-US" dirty="0"/>
              <a:t>Describe situations that could result in early project termination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Integration Management</a:t>
            </a:r>
          </a:p>
        </p:txBody>
      </p:sp>
      <p:sp>
        <p:nvSpPr>
          <p:cNvPr id="14339" name="Text Placeholder 4"/>
          <p:cNvSpPr>
            <a:spLocks noGrp="1"/>
          </p:cNvSpPr>
          <p:nvPr>
            <p:ph type="body" idx="1"/>
          </p:nvPr>
        </p:nvSpPr>
        <p:spPr>
          <a:xfrm>
            <a:off x="27709" y="1905000"/>
            <a:ext cx="3581400" cy="890587"/>
          </a:xfrm>
        </p:spPr>
        <p:txBody>
          <a:bodyPr/>
          <a:lstStyle/>
          <a:p>
            <a:pPr eaLnBrk="1" hangingPunct="1"/>
            <a:r>
              <a:rPr lang="en-US" altLang="en-US" dirty="0"/>
              <a:t>Project Management Knowledge Areas from </a:t>
            </a:r>
            <a:r>
              <a:rPr lang="en-US" altLang="en-US" i="1" dirty="0"/>
              <a:t>PMBOK®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Closing Actions</a:t>
            </a:r>
          </a:p>
        </p:txBody>
      </p:sp>
      <p:sp>
        <p:nvSpPr>
          <p:cNvPr id="15363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Collect and make final payments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 err="1"/>
              <a:t>Recognise</a:t>
            </a:r>
            <a:r>
              <a:rPr lang="en-US" altLang="en-US" sz="2400" dirty="0"/>
              <a:t> and evaluate staff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Conduct post project evaluation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Document lessons learnt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 err="1"/>
              <a:t>Organise</a:t>
            </a:r>
            <a:r>
              <a:rPr lang="en-US" altLang="en-US" sz="2400" dirty="0"/>
              <a:t> and archive project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338CD-5DF7-4417-958D-3CC3151EF1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2DDAD-9622-408D-B01D-123272BEE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209800"/>
            <a:ext cx="4138994" cy="2757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Final payments </a:t>
            </a:r>
          </a:p>
        </p:txBody>
      </p:sp>
      <p:sp>
        <p:nvSpPr>
          <p:cNvPr id="1638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Payments from customer </a:t>
            </a:r>
          </a:p>
          <a:p>
            <a:pPr lvl="1" eaLnBrk="1" hangingPunct="1"/>
            <a:r>
              <a:rPr lang="en-US" altLang="en-US"/>
              <a:t>Have activity listed to perform collection</a:t>
            </a:r>
          </a:p>
          <a:p>
            <a:pPr lvl="1" eaLnBrk="1" hangingPunct="1"/>
            <a:r>
              <a:rPr lang="en-US" altLang="en-US"/>
              <a:t>Assure that all the payments have been received</a:t>
            </a:r>
          </a:p>
          <a:p>
            <a:pPr eaLnBrk="1" hangingPunct="1"/>
            <a:r>
              <a:rPr lang="en-US" altLang="en-US"/>
              <a:t>Payments to others</a:t>
            </a:r>
          </a:p>
          <a:p>
            <a:pPr lvl="1" eaLnBrk="1" hangingPunct="1"/>
            <a:r>
              <a:rPr lang="en-US" altLang="en-US"/>
              <a:t>Verify all payments have been made</a:t>
            </a:r>
          </a:p>
          <a:p>
            <a:pPr lvl="1" eaLnBrk="1" hangingPunct="1"/>
            <a:r>
              <a:rPr lang="en-US" altLang="en-US"/>
              <a:t>Record actual costs</a:t>
            </a:r>
          </a:p>
          <a:p>
            <a:pPr eaLnBrk="1" hangingPunct="1"/>
            <a:r>
              <a:rPr lang="en-US" altLang="en-US"/>
              <a:t>Account closing</a:t>
            </a:r>
          </a:p>
          <a:p>
            <a:pPr lvl="1" eaLnBrk="1" hangingPunct="1"/>
            <a:r>
              <a:rPr lang="en-US" altLang="en-US"/>
              <a:t>Perform financial analysis on the project</a:t>
            </a:r>
          </a:p>
          <a:p>
            <a:pPr lvl="1" eaLnBrk="1" hangingPunct="1"/>
            <a:r>
              <a:rPr lang="en-US" altLang="en-US"/>
              <a:t>Compare actual costs versus baseline budget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Staff recognition and evaluation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project with recognition and celebration</a:t>
            </a:r>
          </a:p>
          <a:p>
            <a:pPr lvl="1" eaLnBrk="1" hangingPunct="1"/>
            <a:r>
              <a:rPr lang="en-US" altLang="en-US" dirty="0" err="1"/>
              <a:t>Recognise</a:t>
            </a:r>
            <a:r>
              <a:rPr lang="en-US" altLang="en-US" dirty="0"/>
              <a:t> team members for contributions</a:t>
            </a:r>
          </a:p>
          <a:p>
            <a:pPr lvl="1" eaLnBrk="1" hangingPunct="1"/>
            <a:r>
              <a:rPr lang="en-US" altLang="en-US" dirty="0"/>
              <a:t>Celebrate the success of the project</a:t>
            </a:r>
          </a:p>
          <a:p>
            <a:pPr eaLnBrk="1" hangingPunct="1"/>
            <a:r>
              <a:rPr lang="en-US" altLang="en-US" dirty="0"/>
              <a:t>Prepare individual performance evaluations</a:t>
            </a:r>
          </a:p>
          <a:p>
            <a:pPr lvl="1" eaLnBrk="1" hangingPunct="1"/>
            <a:r>
              <a:rPr lang="en-US" altLang="en-US" dirty="0"/>
              <a:t>Mention how knowledge expanded during project</a:t>
            </a:r>
          </a:p>
          <a:p>
            <a:pPr lvl="1" eaLnBrk="1" hangingPunct="1"/>
            <a:r>
              <a:rPr lang="en-US" altLang="en-US" dirty="0"/>
              <a:t>Identify areas where need further development</a:t>
            </a:r>
          </a:p>
          <a:p>
            <a:pPr lvl="1" eaLnBrk="1" hangingPunct="1"/>
            <a:r>
              <a:rPr lang="en-US" altLang="en-US" dirty="0"/>
              <a:t>Share during individual meetings or give to supervisor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Post project evaluation</a:t>
            </a:r>
          </a:p>
        </p:txBody>
      </p:sp>
      <p:sp>
        <p:nvSpPr>
          <p:cNvPr id="18435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dirty="0"/>
              <a:t>Review and evaluate project performance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Identify improvements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Hold individual meetings with members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Hold project team meeting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Prepare written report with lessons learnt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8C13C-4E3F-43FC-AB65-F17F09EF93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5601A-E5BA-4F2D-BC26-829B38417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219200"/>
            <a:ext cx="3905842" cy="50736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Lessons learnt</a:t>
            </a:r>
          </a:p>
        </p:txBody>
      </p:sp>
      <p:sp>
        <p:nvSpPr>
          <p:cNvPr id="1945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Purpose of identifying and documenting </a:t>
            </a:r>
          </a:p>
          <a:p>
            <a:pPr lvl="1" eaLnBrk="1" hangingPunct="1"/>
            <a:r>
              <a:rPr lang="en-US" altLang="en-US" dirty="0" err="1"/>
              <a:t>Capitalise</a:t>
            </a:r>
            <a:r>
              <a:rPr lang="en-US" altLang="en-US" dirty="0"/>
              <a:t> on knowledge and experience gained</a:t>
            </a:r>
          </a:p>
          <a:p>
            <a:pPr lvl="1" eaLnBrk="1" hangingPunct="1"/>
            <a:r>
              <a:rPr lang="en-US" altLang="en-US" dirty="0"/>
              <a:t>Improve performance on future projects</a:t>
            </a:r>
          </a:p>
          <a:p>
            <a:pPr eaLnBrk="1" hangingPunct="1"/>
            <a:r>
              <a:rPr lang="en-US" altLang="en-US" dirty="0"/>
              <a:t>Knowledge base system or repository</a:t>
            </a:r>
          </a:p>
          <a:p>
            <a:pPr lvl="1" eaLnBrk="1" hangingPunct="1"/>
            <a:r>
              <a:rPr lang="en-US" altLang="en-US" dirty="0"/>
              <a:t>Retrieve lessons learnt from prior projects</a:t>
            </a:r>
          </a:p>
          <a:p>
            <a:pPr lvl="1" eaLnBrk="1" hangingPunct="1"/>
            <a:r>
              <a:rPr lang="en-US" altLang="en-US" dirty="0"/>
              <a:t>Easily access information by category or subject</a:t>
            </a:r>
          </a:p>
          <a:p>
            <a:pPr eaLnBrk="1" hangingPunct="1"/>
            <a:r>
              <a:rPr lang="en-US" altLang="en-US" dirty="0"/>
              <a:t>Record keeping throughout project</a:t>
            </a:r>
          </a:p>
          <a:p>
            <a:pPr lvl="1" eaLnBrk="1" hangingPunct="1"/>
            <a:r>
              <a:rPr lang="en-US" altLang="en-US" dirty="0"/>
              <a:t>Capture lesson at time of lesson instead of end of project</a:t>
            </a:r>
          </a:p>
          <a:p>
            <a:pPr lvl="1" eaLnBrk="1" hangingPunct="1"/>
            <a:r>
              <a:rPr lang="en-US" altLang="en-US" dirty="0"/>
              <a:t>Have as agenda topic at meetings and in training sessions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Archive project documents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Organise</a:t>
            </a:r>
            <a:r>
              <a:rPr lang="en-US" altLang="en-US" dirty="0"/>
              <a:t>, file, and archive appropriate documents</a:t>
            </a:r>
          </a:p>
          <a:p>
            <a:pPr eaLnBrk="1" hangingPunct="1"/>
            <a:r>
              <a:rPr lang="en-US" altLang="en-US" dirty="0" err="1"/>
              <a:t>Organise</a:t>
            </a:r>
            <a:r>
              <a:rPr lang="en-US" altLang="en-US" dirty="0"/>
              <a:t> system to make information easily retrievable</a:t>
            </a:r>
          </a:p>
          <a:p>
            <a:pPr eaLnBrk="1" hangingPunct="1"/>
            <a:r>
              <a:rPr lang="en-US" altLang="en-US" dirty="0"/>
              <a:t>Create database of common data elements </a:t>
            </a:r>
          </a:p>
          <a:p>
            <a:pPr lvl="1" eaLnBrk="1" hangingPunct="1"/>
            <a:r>
              <a:rPr lang="en-US" altLang="en-US" dirty="0" err="1"/>
              <a:t>Analyse</a:t>
            </a:r>
            <a:r>
              <a:rPr lang="en-US" altLang="en-US" dirty="0"/>
              <a:t> elements for trends</a:t>
            </a:r>
          </a:p>
          <a:p>
            <a:pPr lvl="1" eaLnBrk="1" hangingPunct="1"/>
            <a:r>
              <a:rPr lang="en-US" altLang="en-US" dirty="0"/>
              <a:t>Examine records for bidding, planning, and performing future projects</a:t>
            </a:r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Customer Feedback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Post project evaluation meeting with customer</a:t>
            </a:r>
          </a:p>
          <a:p>
            <a:pPr lvl="1" eaLnBrk="1" hangingPunct="1"/>
            <a:r>
              <a:rPr lang="en-US" altLang="en-US" dirty="0"/>
              <a:t>Determine if provided the expected benefits</a:t>
            </a:r>
          </a:p>
          <a:p>
            <a:pPr lvl="1" eaLnBrk="1" hangingPunct="1"/>
            <a:r>
              <a:rPr lang="en-US" altLang="en-US" dirty="0"/>
              <a:t>Assess the level of customer satisfaction</a:t>
            </a:r>
          </a:p>
          <a:p>
            <a:pPr lvl="1" eaLnBrk="1" hangingPunct="1"/>
            <a:r>
              <a:rPr lang="en-US" altLang="en-US" dirty="0"/>
              <a:t>Obtain any feedback with open-ended questions</a:t>
            </a:r>
          </a:p>
          <a:p>
            <a:pPr lvl="1" eaLnBrk="1" hangingPunct="1"/>
            <a:r>
              <a:rPr lang="en-US" altLang="en-US" dirty="0"/>
              <a:t>Discuss future opportunities</a:t>
            </a:r>
          </a:p>
          <a:p>
            <a:pPr lvl="1" eaLnBrk="1" hangingPunct="1"/>
            <a:r>
              <a:rPr lang="en-US" altLang="en-US" dirty="0"/>
              <a:t>Secure permission to use as reference</a:t>
            </a:r>
          </a:p>
          <a:p>
            <a:pPr eaLnBrk="1" hangingPunct="1"/>
            <a:r>
              <a:rPr lang="en-US" altLang="en-US" dirty="0"/>
              <a:t>Participants</a:t>
            </a:r>
          </a:p>
          <a:p>
            <a:pPr lvl="1" eaLnBrk="1" hangingPunct="1"/>
            <a:r>
              <a:rPr lang="en-US" altLang="en-US" dirty="0"/>
              <a:t>Key project team members</a:t>
            </a:r>
          </a:p>
          <a:p>
            <a:pPr lvl="1" eaLnBrk="1" hangingPunct="1"/>
            <a:r>
              <a:rPr lang="en-US" altLang="en-US" dirty="0"/>
              <a:t>Key customer representatives</a:t>
            </a:r>
          </a:p>
          <a:p>
            <a:pPr lvl="1" eaLnBrk="1" hangingPunct="1"/>
            <a:r>
              <a:rPr lang="en-US" altLang="en-US" dirty="0"/>
              <a:t>Project manager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3581400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Post-project customer evaluation survey</a:t>
            </a:r>
          </a:p>
        </p:txBody>
      </p:sp>
      <p:sp>
        <p:nvSpPr>
          <p:cNvPr id="22532" name="Content Placeholder 4"/>
          <p:cNvSpPr>
            <a:spLocks noGrp="1"/>
          </p:cNvSpPr>
          <p:nvPr>
            <p:ph sz="half" idx="2"/>
          </p:nvPr>
        </p:nvSpPr>
        <p:spPr>
          <a:xfrm>
            <a:off x="457200" y="1981200"/>
            <a:ext cx="4038600" cy="4221163"/>
          </a:xfrm>
        </p:spPr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dirty="0" err="1"/>
              <a:t>Analyse</a:t>
            </a:r>
            <a:r>
              <a:rPr lang="en-US" altLang="en-US" dirty="0"/>
              <a:t> for trends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Seek permission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FF971-A474-4863-BE54-CC1890BE1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8799"/>
            <a:ext cx="4038600" cy="4525963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34762-89C3-4042-BC2B-802EE37EE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381000"/>
            <a:ext cx="4804834" cy="61261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Critical Success Factors 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1900" b="1" dirty="0" err="1"/>
              <a:t>Recognise</a:t>
            </a:r>
            <a:r>
              <a:rPr lang="en-US" altLang="en-US" sz="1900" dirty="0"/>
              <a:t> the project team and celebrate achievements throughout the project.</a:t>
            </a:r>
          </a:p>
          <a:p>
            <a:pPr eaLnBrk="1" hangingPunct="1"/>
            <a:r>
              <a:rPr lang="en-US" altLang="en-US" sz="1900" b="1" dirty="0"/>
              <a:t>Regularly ask the customer </a:t>
            </a:r>
            <a:r>
              <a:rPr lang="en-US" altLang="en-US" sz="1900" dirty="0"/>
              <a:t>about the level of </a:t>
            </a:r>
            <a:r>
              <a:rPr lang="en-US" altLang="en-US" sz="1900" b="1" dirty="0"/>
              <a:t>satisfaction</a:t>
            </a:r>
            <a:r>
              <a:rPr lang="en-US" altLang="en-US" sz="1900" dirty="0"/>
              <a:t> with the performance and progress of the project and take corrective action at the first hint that the customer is not satisfied.</a:t>
            </a:r>
          </a:p>
          <a:p>
            <a:pPr eaLnBrk="1" hangingPunct="1"/>
            <a:r>
              <a:rPr lang="en-US" altLang="en-US" sz="1900" dirty="0"/>
              <a:t>After the conclusion of a project, the </a:t>
            </a:r>
            <a:r>
              <a:rPr lang="en-US" altLang="en-US" sz="1900" b="1" dirty="0"/>
              <a:t>project performance </a:t>
            </a:r>
            <a:r>
              <a:rPr lang="en-US" altLang="en-US" sz="1900" dirty="0"/>
              <a:t>should be </a:t>
            </a:r>
            <a:r>
              <a:rPr lang="en-US" altLang="en-US" sz="1900" b="1" dirty="0"/>
              <a:t>evaluated</a:t>
            </a:r>
            <a:r>
              <a:rPr lang="en-US" altLang="en-US" sz="1900" dirty="0"/>
              <a:t> to learn what could be improved if a similar project were to be done in the future. Feedback should be obtained from the customer and the project team.</a:t>
            </a:r>
          </a:p>
          <a:p>
            <a:pPr eaLnBrk="1" hangingPunct="1"/>
            <a:r>
              <a:rPr lang="en-US" altLang="en-US" sz="1900" b="1" dirty="0"/>
              <a:t>Capture and document </a:t>
            </a:r>
            <a:r>
              <a:rPr lang="en-US" altLang="en-US" sz="1900" dirty="0"/>
              <a:t>lessons learnt </a:t>
            </a:r>
            <a:r>
              <a:rPr lang="en-US" altLang="en-US" sz="1900" b="1" dirty="0"/>
              <a:t>throughout</a:t>
            </a:r>
            <a:r>
              <a:rPr lang="en-US" altLang="en-US" sz="1900" dirty="0"/>
              <a:t> the performance of the project.</a:t>
            </a:r>
          </a:p>
          <a:p>
            <a:pPr eaLnBrk="1" hangingPunct="1"/>
            <a:r>
              <a:rPr lang="en-US" altLang="en-US" sz="1900" b="1" dirty="0"/>
              <a:t>Establish a knowledge base </a:t>
            </a:r>
            <a:r>
              <a:rPr lang="en-US" altLang="en-US" sz="1900" dirty="0"/>
              <a:t>of lessons learnt and ensure that they are communicated and used on future projects.</a:t>
            </a:r>
          </a:p>
          <a:p>
            <a:pPr eaLnBrk="1" hangingPunct="1"/>
            <a:r>
              <a:rPr lang="en-US" altLang="en-US" sz="1900" b="1" dirty="0" err="1"/>
              <a:t>Organise</a:t>
            </a:r>
            <a:r>
              <a:rPr lang="en-US" altLang="en-US" sz="1900" dirty="0"/>
              <a:t> and </a:t>
            </a:r>
            <a:r>
              <a:rPr lang="en-US" altLang="en-US" sz="1900" b="1" dirty="0"/>
              <a:t>archive</a:t>
            </a:r>
            <a:r>
              <a:rPr lang="en-US" altLang="en-US" sz="1900" dirty="0"/>
              <a:t> project documentation and </a:t>
            </a:r>
            <a:r>
              <a:rPr lang="en-US" altLang="en-US" sz="1900" b="1" dirty="0" err="1"/>
              <a:t>analyse</a:t>
            </a:r>
            <a:r>
              <a:rPr lang="en-US" altLang="en-US" sz="1900" dirty="0"/>
              <a:t> key data that could be helpful in bidding, planning, or performing future projects.</a:t>
            </a:r>
          </a:p>
          <a:p>
            <a:pPr eaLnBrk="1" hangingPunct="1"/>
            <a:r>
              <a:rPr lang="en-US" altLang="en-US" sz="1900" b="1" dirty="0"/>
              <a:t>Retain customer evaluation and feedback </a:t>
            </a:r>
            <a:r>
              <a:rPr lang="en-US" altLang="en-US" sz="1900" dirty="0"/>
              <a:t>information that could be valuable in developing proposals for other projects for the same customer in the future.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Summary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1900" dirty="0"/>
              <a:t>The fourth and final phase of the project life cycle is closing the project.</a:t>
            </a:r>
          </a:p>
          <a:p>
            <a:pPr eaLnBrk="1" hangingPunct="1"/>
            <a:r>
              <a:rPr lang="en-US" altLang="en-US" sz="1900" dirty="0"/>
              <a:t>An important project closing action is staff recognition and evaluation.</a:t>
            </a:r>
          </a:p>
          <a:p>
            <a:pPr eaLnBrk="1" hangingPunct="1"/>
            <a:r>
              <a:rPr lang="en-US" altLang="en-US" sz="1900" dirty="0"/>
              <a:t>Conduct post project evaluation meetings within the project team or </a:t>
            </a:r>
            <a:r>
              <a:rPr lang="en-US" altLang="en-US" sz="1900" dirty="0" err="1"/>
              <a:t>organisation</a:t>
            </a:r>
            <a:r>
              <a:rPr lang="en-US" altLang="en-US" sz="1900" dirty="0"/>
              <a:t> with individual team members and a group meeting with the project team to gather team feedback for improved future performance.</a:t>
            </a:r>
          </a:p>
          <a:p>
            <a:pPr eaLnBrk="1" hangingPunct="1"/>
            <a:r>
              <a:rPr lang="en-US" altLang="en-US" sz="1900" dirty="0"/>
              <a:t>Identify and document lessons learnt to </a:t>
            </a:r>
            <a:r>
              <a:rPr lang="en-US" altLang="en-US" sz="1900" dirty="0" err="1"/>
              <a:t>capitalise</a:t>
            </a:r>
            <a:r>
              <a:rPr lang="en-US" altLang="en-US" sz="1900" dirty="0"/>
              <a:t> on the knowledge and experience gained on the project in order to improve performance on future projects.</a:t>
            </a:r>
          </a:p>
          <a:p>
            <a:pPr eaLnBrk="1" hangingPunct="1"/>
            <a:r>
              <a:rPr lang="en-US" altLang="en-US" sz="1900" dirty="0"/>
              <a:t>The project team or contractor should ensure that copies of appropriate project documentation are properly </a:t>
            </a:r>
            <a:r>
              <a:rPr lang="en-US" altLang="en-US" sz="1900" dirty="0" err="1"/>
              <a:t>organised</a:t>
            </a:r>
            <a:r>
              <a:rPr lang="en-US" altLang="en-US" sz="1900" dirty="0"/>
              <a:t>, filed, and archived so that they can be readily retrieved for future use.</a:t>
            </a:r>
          </a:p>
          <a:p>
            <a:pPr eaLnBrk="1" hangingPunct="1"/>
            <a:r>
              <a:rPr lang="en-US" altLang="en-US" sz="1900" dirty="0"/>
              <a:t>Conduct a post project evaluation meeting, or distribute a customer evaluation survey to the customer or sponsor to determine whether the project provided the customer with expected benefits; assess the level of customer satisfaction; and obtain any feedback that would be helpful in future business relationships with this customer or with other customers.</a:t>
            </a:r>
          </a:p>
          <a:p>
            <a:pPr eaLnBrk="1" hangingPunct="1"/>
            <a:r>
              <a:rPr lang="en-US" altLang="en-US" sz="1900" dirty="0"/>
              <a:t>Projects may be terminated before completion for various reasons.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theme/theme1.xml><?xml version="1.0" encoding="utf-8"?>
<a:theme xmlns:a="http://schemas.openxmlformats.org/drawingml/2006/main" name="68347_Pppt_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Gido SA</Template>
  <TotalTime>19311</TotalTime>
  <Words>769</Words>
  <Application>Microsoft Office PowerPoint</Application>
  <PresentationFormat>On-screen Show (4:3)</PresentationFormat>
  <Paragraphs>107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Wingdings</vt:lpstr>
      <vt:lpstr>68347_Pppt_template</vt:lpstr>
      <vt:lpstr>PowerPoint Presentation</vt:lpstr>
      <vt:lpstr>Chapter Concepts</vt:lpstr>
      <vt:lpstr>Learning Outcomes</vt:lpstr>
      <vt:lpstr>Project Integration Management</vt:lpstr>
      <vt:lpstr>Project Closing Actions</vt:lpstr>
      <vt:lpstr>Final payments </vt:lpstr>
      <vt:lpstr>Staff recognition and evaluation</vt:lpstr>
      <vt:lpstr>Post project evaluation</vt:lpstr>
      <vt:lpstr>Lessons learnt</vt:lpstr>
      <vt:lpstr>Archive project documents</vt:lpstr>
      <vt:lpstr>Customer Feedback</vt:lpstr>
      <vt:lpstr>Post-project customer evaluation survey</vt:lpstr>
      <vt:lpstr>Critical Success Factors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Rose</dc:creator>
  <cp:lastModifiedBy>Windows User</cp:lastModifiedBy>
  <cp:revision>195</cp:revision>
  <cp:lastPrinted>2019-04-01T16:04:06Z</cp:lastPrinted>
  <dcterms:created xsi:type="dcterms:W3CDTF">2010-12-13T04:11:14Z</dcterms:created>
  <dcterms:modified xsi:type="dcterms:W3CDTF">2019-04-01T16:04:42Z</dcterms:modified>
</cp:coreProperties>
</file>