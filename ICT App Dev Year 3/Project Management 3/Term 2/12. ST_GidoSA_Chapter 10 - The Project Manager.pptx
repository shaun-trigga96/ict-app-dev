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5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8" r:id="rId3"/>
    <p:sldId id="259" r:id="rId4"/>
    <p:sldId id="257" r:id="rId5"/>
    <p:sldId id="262" r:id="rId6"/>
    <p:sldId id="289" r:id="rId7"/>
    <p:sldId id="290" r:id="rId8"/>
    <p:sldId id="291" r:id="rId9"/>
    <p:sldId id="266" r:id="rId10"/>
    <p:sldId id="292" r:id="rId11"/>
    <p:sldId id="268" r:id="rId12"/>
    <p:sldId id="293" r:id="rId13"/>
    <p:sldId id="294" r:id="rId14"/>
    <p:sldId id="295" r:id="rId15"/>
    <p:sldId id="296" r:id="rId16"/>
    <p:sldId id="297" r:id="rId17"/>
    <p:sldId id="281" r:id="rId18"/>
    <p:sldId id="298" r:id="rId19"/>
    <p:sldId id="299" r:id="rId20"/>
    <p:sldId id="282" r:id="rId21"/>
    <p:sldId id="300" r:id="rId22"/>
    <p:sldId id="287" r:id="rId23"/>
    <p:sldId id="301" r:id="rId24"/>
    <p:sldId id="288" r:id="rId25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7718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55" autoAdjust="0"/>
    <p:restoredTop sz="86118" autoAdjust="0"/>
  </p:normalViewPr>
  <p:slideViewPr>
    <p:cSldViewPr>
      <p:cViewPr varScale="1">
        <p:scale>
          <a:sx n="60" d="100"/>
          <a:sy n="60" d="100"/>
        </p:scale>
        <p:origin x="17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B00EDE9-D6FD-4D2C-B8FC-FB5E311674C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147372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F90AEA4-6AEC-48E8-8CDF-4D15613570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45944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>
              <a:defRPr/>
            </a:pPr>
            <a:endParaRPr lang="en-US" dirty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170FE86-03E8-4EF6-BE4D-4F3E6B16A93F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861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DF0A718-FC8D-4B8A-B84A-CB22BCF2FF59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2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774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>
              <a:spcBef>
                <a:spcPct val="0"/>
              </a:spcBef>
              <a:defRPr/>
            </a:pPr>
            <a:endParaRPr lang="en-US" altLang="en-US" dirty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09F171E-7C9B-40F2-BF0F-08B2922A3659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3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964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defRPr/>
            </a:pPr>
            <a:endParaRPr lang="en-US" altLang="en-US" dirty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A856E16-658F-4EFE-B5EC-10C4DAB44E17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4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832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B02AF2F-79BE-412E-AAFA-1DA0D080785D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5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855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D082796-8EF6-4709-93A8-092A1D46D21A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6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955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57D02FB-7423-4205-AD05-894CF48505A6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7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4876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67922C1-1A90-4536-B313-7CAC8B1F3F5A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8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4929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4D537A0-2A13-4E4B-B5A9-18CF1DBD7662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9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9934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5ACF3DA-3B86-4CCE-BF1B-19D42E3FA2C0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10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1677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D236754-1A20-47B6-86FA-0A4D8186B12D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11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634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8BB02B0-C9A6-4FF2-87E0-819DEAA06A21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12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7968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7DAE450-205A-416C-B5B1-CD8E569B479C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13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364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637131A-FC14-4C4A-83C0-AC06502527EA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14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0685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45CC55F-383E-4485-9214-7C19517719A0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15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447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3955665-AB7D-49D1-9F97-467F17B80147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16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7972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F39BEF1-A4BD-4301-A8D3-2B9F37C4679D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17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0416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A71631B-EDC9-4015-83CD-CDD886417815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18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2792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37B600E-27CE-430C-A7F9-7D1F762006F7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19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735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9EA7A88-4F9F-477F-9D63-73D0E711F59E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20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405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8BE8111-F28C-4FD1-872C-2E257A55514C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21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1496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C4B8C99-32E7-4F6B-9A2E-94F764D02755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22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4181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A3A15BE-8BDC-4754-BDED-3898060C9A8B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23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4865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827E547-7B8C-43AE-8A7B-4514EC24085C}" type="slidenum">
              <a:rPr lang="en-US" altLang="en-US" smtClean="0">
                <a:latin typeface="Arial" charset="0"/>
              </a:rPr>
              <a:pPr eaLnBrk="1" hangingPunct="1">
                <a:spcBef>
                  <a:spcPct val="0"/>
                </a:spcBef>
              </a:pPr>
              <a:t>24</a:t>
            </a:fld>
            <a:endParaRPr lang="en-US" altLang="en-US">
              <a:latin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762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blank chapter title icon for ppt from book copy.png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1763"/>
            <a:ext cx="9144000" cy="4054475"/>
          </a:xfrm>
          <a:prstGeom prst="rect">
            <a:avLst/>
          </a:prstGeom>
          <a:solidFill>
            <a:srgbClr val="C00000"/>
          </a:solidFill>
          <a:ln>
            <a:noFill/>
          </a:ln>
          <a:extLst/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200400"/>
            <a:ext cx="5638800" cy="1600200"/>
          </a:xfr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/>
          </p:nvPr>
        </p:nvSpPr>
        <p:spPr>
          <a:xfrm>
            <a:off x="533400" y="1828800"/>
            <a:ext cx="4572000" cy="890587"/>
          </a:xfrm>
        </p:spPr>
        <p:txBody>
          <a:bodyPr anchor="ctr"/>
          <a:lstStyle>
            <a:lvl1pPr marL="0" indent="0">
              <a:buNone/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A175D-D33B-4597-B76D-7A06EFAA5AC7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27D669-A962-4CC3-B613-8449102D71E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60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2"/>
              </a:buClr>
              <a:buSzPct val="100000"/>
              <a:buFont typeface="Calibri" pitchFamily="34" charset="0"/>
              <a:buChar char="•"/>
              <a:defRPr/>
            </a:lvl1pPr>
            <a:lvl2pPr marL="742950" indent="-285750">
              <a:buClr>
                <a:srgbClr val="C00000"/>
              </a:buClr>
              <a:buSzPct val="100000"/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  <a:defRPr/>
            </a:lvl4pPr>
            <a:lvl5pPr marL="20574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BD64E0-EFC4-4339-84C4-485074EFE2C2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DC0403-8CD5-4C1D-B040-FE1C06A0C8E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985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blank title icon for ppt from book copy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9144000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4400" y="838200"/>
            <a:ext cx="4419600" cy="2667001"/>
          </a:xfrm>
        </p:spPr>
        <p:txBody>
          <a:bodyPr>
            <a:normAutofit/>
          </a:bodyPr>
          <a:lstStyle>
            <a:lvl1pPr algn="l">
              <a:defRPr sz="3200" b="1" cap="none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905000"/>
            <a:ext cx="3352800" cy="890587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212D4-025E-4449-B50A-B7A483F1C3B9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9D1BAE-BA2F-41CA-899C-70C9C3D348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643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itchFamily="34" charset="0"/>
              <a:buChar char="•"/>
              <a:defRPr sz="2800"/>
            </a:lvl1pPr>
            <a:lvl2pPr marL="742950" indent="-285750"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sz="2400"/>
            </a:lvl2pPr>
            <a:lvl3pPr marL="11430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defRPr sz="2000"/>
            </a:lvl3pPr>
            <a:lvl4pPr marL="1600200" indent="-228600">
              <a:buClr>
                <a:schemeClr val="accent2"/>
              </a:buClr>
              <a:buSzPct val="100000"/>
              <a:buFont typeface="Wingdings" panose="05000000000000000000" pitchFamily="2" charset="2"/>
              <a:buChar char="Ø"/>
              <a:defRPr sz="1800"/>
            </a:lvl4pPr>
            <a:lvl5pPr marL="20574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marL="342900" indent="-342900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800"/>
            </a:lvl1pPr>
            <a:lvl2pPr marL="742950" indent="-285750"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sz="2400"/>
            </a:lvl2pPr>
            <a:lvl3pPr marL="1143000" indent="-228600">
              <a:buClr>
                <a:schemeClr val="accent2"/>
              </a:buClr>
              <a:buSzPct val="100000"/>
              <a:buFont typeface="Wingdings" panose="05000000000000000000" pitchFamily="2" charset="2"/>
              <a:buChar char="v"/>
              <a:defRPr sz="2000"/>
            </a:lvl3pPr>
            <a:lvl4pPr marL="1600200" indent="-228600">
              <a:buClr>
                <a:schemeClr val="accent2"/>
              </a:buClr>
              <a:buSzPct val="100000"/>
              <a:buFont typeface="Wingdings" panose="05000000000000000000" pitchFamily="2" charset="2"/>
              <a:buChar char="Ø"/>
              <a:defRPr sz="1800"/>
            </a:lvl4pPr>
            <a:lvl5pPr marL="2171700" indent="-342900">
              <a:buClr>
                <a:schemeClr val="accent2"/>
              </a:buClr>
              <a:buSzPct val="100000"/>
              <a:buFont typeface="Wingdings" panose="05000000000000000000" pitchFamily="2" charset="2"/>
              <a:buChar char="ü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632827-24F5-484A-82CE-969943DE83BA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B95DF8-36F3-4515-BFDD-3487A009F96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557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itchFamily="34" charset="0"/>
              <a:buChar char="•"/>
              <a:defRPr sz="2400"/>
            </a:lvl1pPr>
            <a:lvl2pPr marL="742950" indent="-285750">
              <a:buClr>
                <a:srgbClr val="C00000"/>
              </a:buClr>
              <a:buSzPct val="100000"/>
              <a:buFont typeface="Courier New" panose="02070309020205020404" pitchFamily="49" charset="0"/>
              <a:buChar char="o"/>
              <a:defRPr sz="2000"/>
            </a:lvl2pPr>
            <a:lvl3pPr marL="11430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defRPr sz="1800"/>
            </a:lvl3pPr>
            <a:lvl4pPr marL="16002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 sz="1600"/>
            </a:lvl4pPr>
            <a:lvl5pPr marL="20574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Clr>
                <a:srgbClr val="C00000"/>
              </a:buClr>
              <a:buSzPct val="100000"/>
              <a:buFont typeface="Arial" pitchFamily="34" charset="0"/>
              <a:buChar char="•"/>
              <a:defRPr sz="2400"/>
            </a:lvl1pPr>
            <a:lvl2pPr marL="742950" indent="-285750">
              <a:buClr>
                <a:srgbClr val="C00000"/>
              </a:buClr>
              <a:buSzPct val="100000"/>
              <a:buFont typeface="Courier New" panose="02070309020205020404" pitchFamily="49" charset="0"/>
              <a:buChar char="o"/>
              <a:defRPr sz="2000"/>
            </a:lvl2pPr>
            <a:lvl3pPr marL="11430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defRPr sz="1800"/>
            </a:lvl3pPr>
            <a:lvl4pPr marL="16002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 sz="1600"/>
            </a:lvl4pPr>
            <a:lvl5pPr marL="20574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814948-83B2-4B3D-B227-5178707ABE21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843CD-DE39-43BD-A51B-5823A2691C2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661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CF00BF-F418-48E2-864C-D016404066CD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8DB78C-9492-4CF3-946D-D8C3F2B341F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083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2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3274D9-3C6C-40FC-A514-67AC6F57C1EB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5FFFC-ABB0-4227-A6C0-76ADA1ACD66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456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657600" cy="1162050"/>
          </a:xfrm>
        </p:spPr>
        <p:txBody>
          <a:bodyPr anchor="b"/>
          <a:lstStyle>
            <a:lvl1pPr algn="l">
              <a:defRPr sz="24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0" y="304800"/>
            <a:ext cx="4267200" cy="5821363"/>
          </a:xfrm>
        </p:spPr>
        <p:txBody>
          <a:bodyPr>
            <a:normAutofit/>
          </a:bodyPr>
          <a:lstStyle>
            <a:lvl1pPr>
              <a:buClr>
                <a:srgbClr val="C00000"/>
              </a:buClr>
              <a:buSzPct val="100000"/>
              <a:buFont typeface="Calibri" pitchFamily="34" charset="0"/>
              <a:buChar char="•"/>
              <a:defRPr sz="2400"/>
            </a:lvl1pPr>
            <a:lvl2pPr marL="742950" indent="-285750"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sz="2000"/>
            </a:lvl2pPr>
            <a:lvl3pPr marL="1143000" indent="-228600">
              <a:buClr>
                <a:schemeClr val="accent2"/>
              </a:buClr>
              <a:buSzPct val="100000"/>
              <a:buFont typeface="Wingdings" panose="05000000000000000000" pitchFamily="2" charset="2"/>
              <a:buChar char="v"/>
              <a:defRPr sz="1800"/>
            </a:lvl3pPr>
            <a:lvl4pPr marL="16002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 sz="1600"/>
            </a:lvl4pPr>
            <a:lvl5pPr marL="20574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657600" cy="4691063"/>
          </a:xfrm>
        </p:spPr>
        <p:txBody>
          <a:bodyPr/>
          <a:lstStyle>
            <a:lvl1pPr marL="233363" indent="-233363">
              <a:buClr>
                <a:srgbClr val="C00000"/>
              </a:buClr>
              <a:buSzPct val="100000"/>
              <a:buFont typeface="Calibri" pitchFamily="34" charset="0"/>
              <a:buChar char="•"/>
              <a:defRPr sz="2000"/>
            </a:lvl1pPr>
            <a:lvl2pPr marL="690563" indent="-233363">
              <a:buClr>
                <a:srgbClr val="C00000"/>
              </a:buClr>
              <a:buSzPct val="100000"/>
              <a:buFont typeface="Courier New" panose="02070309020205020404" pitchFamily="49" charset="0"/>
              <a:buChar char="o"/>
              <a:defRPr sz="20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650F8-D76E-4088-AF86-803526609473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ED6E1-D161-4068-BEAC-18596A86A89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700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29E119-3E64-4C32-8E3F-DDF57A6E4977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D319C-5388-4C28-AC2D-7AB0ACC9973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081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Clr>
                <a:srgbClr val="C00000"/>
              </a:buClr>
              <a:defRPr/>
            </a:lvl1pPr>
            <a:lvl2pPr marL="742950" indent="-285750">
              <a:buClr>
                <a:srgbClr val="C00000"/>
              </a:buClr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chemeClr val="accent2"/>
              </a:buClr>
              <a:buFont typeface="Wingdings" panose="05000000000000000000" pitchFamily="2" charset="2"/>
              <a:buChar char="v"/>
              <a:defRPr/>
            </a:lvl3pPr>
            <a:lvl4pPr marL="1600200" indent="-228600">
              <a:buClr>
                <a:schemeClr val="accent2"/>
              </a:buClr>
              <a:buFont typeface="Wingdings" panose="05000000000000000000" pitchFamily="2" charset="2"/>
              <a:buChar char="Ø"/>
              <a:defRPr/>
            </a:lvl4pPr>
            <a:lvl5pPr marL="2057400" indent="-228600">
              <a:buClr>
                <a:srgbClr val="C00000"/>
              </a:buClr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DE7787-F667-4596-AC42-836A764D0206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C6BD28-1C98-4A93-AB71-FE86601D4D9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179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buClr>
                <a:schemeClr val="accent2"/>
              </a:buClr>
              <a:defRPr/>
            </a:lvl1pPr>
            <a:lvl2pPr marL="742950" indent="-285750">
              <a:buClr>
                <a:srgbClr val="C00000"/>
              </a:buClr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chemeClr val="accent2"/>
              </a:buClr>
              <a:buFont typeface="Wingdings" panose="05000000000000000000" pitchFamily="2" charset="2"/>
              <a:buChar char="v"/>
              <a:defRPr/>
            </a:lvl3pPr>
            <a:lvl4pPr marL="1600200" indent="-228600">
              <a:buClr>
                <a:schemeClr val="accent2"/>
              </a:buClr>
              <a:buFont typeface="Wingdings" panose="05000000000000000000" pitchFamily="2" charset="2"/>
              <a:buChar char="Ø"/>
              <a:defRPr/>
            </a:lvl4pPr>
            <a:lvl5pPr marL="2057400" indent="-228600">
              <a:buClr>
                <a:srgbClr val="C00000"/>
              </a:buClr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274338-F8D4-4B79-B8BA-75C0CC2FE0CC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4A3B7-B871-42C9-8BDC-E52503FAED5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616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21FC50-C847-495A-B7DA-1402497E38A5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6838E-0C08-4A96-B196-5E065274683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141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687718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21FC50-C847-495A-B7DA-1402497E38A5}" type="datetimeFigureOut">
              <a:rPr lang="en-US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6838E-0C08-4A96-B196-5E06527468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298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909BA65-711C-4555-B732-AEEABAA5F6ED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42034B3-FD7F-46E5-ADF3-78032FCFED4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228600" y="6616700"/>
            <a:ext cx="74676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/>
            <a:r>
              <a:rPr lang="en-US" altLang="en-US" sz="800"/>
              <a:t>© 2015 Cengage Learning. All Rights Reserved. May not be scanned, copied or duplicated, or posted to a publicly accessible website, in whole or in part.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F5313B-314F-4AD5-A678-D0D8F1F264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" y="6616700"/>
            <a:ext cx="74676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>
              <a:defRPr/>
            </a:pPr>
            <a:r>
              <a:rPr lang="en-US" altLang="en-US" sz="800" dirty="0"/>
              <a:t>© 2018 Cengage Learning.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2640826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  <p:sldLayoutId id="2147483987" r:id="rId12"/>
    <p:sldLayoutId id="2147483965" r:id="rId1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ADEE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ADEE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ADEE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ADEE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87718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87718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87718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87718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100000"/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100000"/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100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10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SzPct val="100000"/>
        <a:buFont typeface="Wingdings" panose="05000000000000000000" pitchFamily="2" charset="2"/>
        <a:buChar char="ü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Project Manager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384A07-0B73-453C-A644-3A5050FE0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86" y="1676400"/>
            <a:ext cx="5086350" cy="1181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Chapter Concepts</a:t>
            </a:r>
          </a:p>
        </p:txBody>
      </p:sp>
      <p:sp>
        <p:nvSpPr>
          <p:cNvPr id="12291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responsibilities of the project manager</a:t>
            </a:r>
          </a:p>
          <a:p>
            <a:pPr eaLnBrk="1" hangingPunct="1"/>
            <a:r>
              <a:rPr lang="en-US" altLang="en-US"/>
              <a:t>The skills needed to successfully manage projects and ways to develop project manager competence</a:t>
            </a:r>
          </a:p>
          <a:p>
            <a:pPr eaLnBrk="1" hangingPunct="1"/>
            <a:r>
              <a:rPr lang="en-US" altLang="en-US"/>
              <a:t>Approaches to effective delegation</a:t>
            </a:r>
          </a:p>
          <a:p>
            <a:pPr eaLnBrk="1" hangingPunct="1"/>
            <a:r>
              <a:rPr lang="en-US" altLang="en-US"/>
              <a:t>How the project manager can manage and control changes to the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Learning Outcomes</a:t>
            </a:r>
          </a:p>
        </p:txBody>
      </p:sp>
      <p:sp>
        <p:nvSpPr>
          <p:cNvPr id="1331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Discuss three responsibilities of a project manager</a:t>
            </a:r>
          </a:p>
          <a:p>
            <a:pPr eaLnBrk="1" hangingPunct="1"/>
            <a:r>
              <a:rPr lang="en-US" altLang="en-US" dirty="0"/>
              <a:t>Identify, explain, and practice at least five skills and abilities a project manager should have</a:t>
            </a:r>
          </a:p>
          <a:p>
            <a:pPr lvl="0"/>
            <a:r>
              <a:rPr lang="en-ZA" dirty="0"/>
              <a:t>Explain how one would develop competence as a project manager</a:t>
            </a:r>
            <a:endParaRPr lang="en-GB" dirty="0"/>
          </a:p>
          <a:p>
            <a:r>
              <a:rPr lang="en-ZA" dirty="0"/>
              <a:t>Describe how one can effectively use delegation</a:t>
            </a:r>
          </a:p>
          <a:p>
            <a:r>
              <a:rPr lang="en-US" altLang="en-US" dirty="0"/>
              <a:t>Explain how to manage changes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000"/>
              <a:t>Project Integration Management</a:t>
            </a:r>
            <a:br>
              <a:rPr lang="en-US" altLang="en-US" sz="2000"/>
            </a:br>
            <a:r>
              <a:rPr lang="en-US" altLang="en-US" sz="2000"/>
              <a:t>Project Human Resource Management</a:t>
            </a:r>
            <a:br>
              <a:rPr lang="en-US" altLang="en-US" sz="2000"/>
            </a:br>
            <a:r>
              <a:rPr lang="en-US" altLang="en-US" sz="2000"/>
              <a:t>Project Stakeholder Management</a:t>
            </a:r>
          </a:p>
        </p:txBody>
      </p:sp>
      <p:sp>
        <p:nvSpPr>
          <p:cNvPr id="14339" name="Text Placeholder 4"/>
          <p:cNvSpPr>
            <a:spLocks noGrp="1"/>
          </p:cNvSpPr>
          <p:nvPr>
            <p:ph type="body" idx="1"/>
          </p:nvPr>
        </p:nvSpPr>
        <p:spPr>
          <a:xfrm>
            <a:off x="76200" y="1905000"/>
            <a:ext cx="3733800" cy="890587"/>
          </a:xfrm>
        </p:spPr>
        <p:txBody>
          <a:bodyPr/>
          <a:lstStyle/>
          <a:p>
            <a:pPr eaLnBrk="1" hangingPunct="1"/>
            <a:r>
              <a:rPr lang="en-US" altLang="en-US" dirty="0"/>
              <a:t>Project Management Knowledge Areas from </a:t>
            </a:r>
            <a:r>
              <a:rPr lang="en-US" altLang="en-US" i="1" dirty="0"/>
              <a:t>PMBOK®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Project Manager Responsibilities</a:t>
            </a:r>
          </a:p>
        </p:txBody>
      </p:sp>
      <p:sp>
        <p:nvSpPr>
          <p:cNvPr id="15363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Customer satisfaction</a:t>
            </a:r>
          </a:p>
          <a:p>
            <a:pPr eaLnBrk="1" hangingPunct="1"/>
            <a:r>
              <a:rPr lang="en-US" altLang="en-US" dirty="0"/>
              <a:t>Work scope completion</a:t>
            </a:r>
          </a:p>
          <a:p>
            <a:pPr lvl="1" eaLnBrk="1" hangingPunct="1"/>
            <a:r>
              <a:rPr lang="en-US" altLang="en-US" dirty="0"/>
              <a:t>Quality manner, within budget, on time</a:t>
            </a:r>
          </a:p>
          <a:p>
            <a:pPr eaLnBrk="1" hangingPunct="1"/>
            <a:r>
              <a:rPr lang="en-US" altLang="en-US" dirty="0"/>
              <a:t>Planning the project</a:t>
            </a:r>
          </a:p>
          <a:p>
            <a:pPr eaLnBrk="1" hangingPunct="1"/>
            <a:r>
              <a:rPr lang="en-US" altLang="en-US" dirty="0"/>
              <a:t>Securing and </a:t>
            </a:r>
            <a:r>
              <a:rPr lang="en-US" altLang="en-US" dirty="0" err="1"/>
              <a:t>organising</a:t>
            </a:r>
            <a:r>
              <a:rPr lang="en-US" altLang="en-US" dirty="0"/>
              <a:t> the appropriate resources</a:t>
            </a:r>
          </a:p>
          <a:p>
            <a:pPr eaLnBrk="1" hangingPunct="1"/>
            <a:r>
              <a:rPr lang="en-US" altLang="en-US" dirty="0"/>
              <a:t>Controlling the project progress</a:t>
            </a:r>
          </a:p>
          <a:p>
            <a:pPr eaLnBrk="1" hangingPunct="1"/>
            <a:r>
              <a:rPr lang="en-US" altLang="en-US" dirty="0"/>
              <a:t>Coordinate with team</a:t>
            </a:r>
          </a:p>
          <a:p>
            <a:pPr eaLnBrk="1" hangingPunct="1"/>
            <a:r>
              <a:rPr lang="en-US" altLang="en-US" dirty="0"/>
              <a:t>Control the project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Planning</a:t>
            </a:r>
          </a:p>
        </p:txBody>
      </p:sp>
      <p:sp>
        <p:nvSpPr>
          <p:cNvPr id="16387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Define project objective</a:t>
            </a:r>
          </a:p>
          <a:p>
            <a:pPr eaLnBrk="1" hangingPunct="1"/>
            <a:r>
              <a:rPr lang="en-US" altLang="en-US" dirty="0"/>
              <a:t>Reach agreement with customer</a:t>
            </a:r>
          </a:p>
          <a:p>
            <a:pPr eaLnBrk="1" hangingPunct="1"/>
            <a:r>
              <a:rPr lang="en-US" altLang="en-US" dirty="0"/>
              <a:t>Communicate objective to project team</a:t>
            </a:r>
          </a:p>
          <a:p>
            <a:pPr eaLnBrk="1" hangingPunct="1"/>
            <a:r>
              <a:rPr lang="en-US" altLang="en-US" dirty="0"/>
              <a:t>Create vision of successful achievement</a:t>
            </a:r>
          </a:p>
          <a:p>
            <a:pPr eaLnBrk="1" hangingPunct="1"/>
            <a:r>
              <a:rPr lang="en-US" altLang="en-US" dirty="0"/>
              <a:t>Spearhead plan development</a:t>
            </a:r>
          </a:p>
          <a:p>
            <a:pPr eaLnBrk="1" hangingPunct="1"/>
            <a:r>
              <a:rPr lang="en-US" altLang="en-US" dirty="0"/>
              <a:t>Review plan with customer</a:t>
            </a:r>
          </a:p>
          <a:p>
            <a:pPr eaLnBrk="1" hangingPunct="1"/>
            <a:r>
              <a:rPr lang="en-US" altLang="en-US" dirty="0"/>
              <a:t>Use project management information system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Organising</a:t>
            </a:r>
            <a:endParaRPr lang="en-US" altLang="en-US" dirty="0"/>
          </a:p>
        </p:txBody>
      </p:sp>
      <p:sp>
        <p:nvSpPr>
          <p:cNvPr id="17411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Secure appropriate resources</a:t>
            </a:r>
          </a:p>
          <a:p>
            <a:pPr eaLnBrk="1" hangingPunct="1"/>
            <a:r>
              <a:rPr lang="en-US" altLang="en-US"/>
              <a:t>Determine in-house tasks</a:t>
            </a:r>
          </a:p>
          <a:p>
            <a:pPr eaLnBrk="1" hangingPunct="1"/>
            <a:r>
              <a:rPr lang="en-US" altLang="en-US"/>
              <a:t>Determine need for subcontractor </a:t>
            </a:r>
          </a:p>
          <a:p>
            <a:pPr eaLnBrk="1" hangingPunct="1"/>
            <a:r>
              <a:rPr lang="en-US" altLang="en-US"/>
              <a:t>Assign responsibility</a:t>
            </a:r>
          </a:p>
          <a:p>
            <a:pPr eaLnBrk="1" hangingPunct="1"/>
            <a:r>
              <a:rPr lang="en-US" altLang="en-US"/>
              <a:t>Delegate authority</a:t>
            </a:r>
          </a:p>
          <a:p>
            <a:pPr eaLnBrk="1" hangingPunct="1"/>
            <a:r>
              <a:rPr lang="en-US" altLang="en-US"/>
              <a:t>Create motivating environment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Controlling</a:t>
            </a:r>
          </a:p>
        </p:txBody>
      </p:sp>
      <p:sp>
        <p:nvSpPr>
          <p:cNvPr id="18435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Track actual progress</a:t>
            </a:r>
          </a:p>
          <a:p>
            <a:pPr eaLnBrk="1" hangingPunct="1"/>
            <a:r>
              <a:rPr lang="en-US" altLang="en-US"/>
              <a:t>Compare progress to planned progress</a:t>
            </a:r>
          </a:p>
          <a:p>
            <a:pPr eaLnBrk="1" hangingPunct="1"/>
            <a:r>
              <a:rPr lang="en-US" altLang="en-US"/>
              <a:t>Take necessary actions</a:t>
            </a:r>
          </a:p>
          <a:p>
            <a:pPr eaLnBrk="1" hangingPunct="1"/>
            <a:r>
              <a:rPr lang="en-US" altLang="en-US"/>
              <a:t>Play the leadership role</a:t>
            </a:r>
          </a:p>
          <a:p>
            <a:pPr eaLnBrk="1" hangingPunct="1"/>
            <a:r>
              <a:rPr lang="en-US" altLang="en-US"/>
              <a:t>Involve project team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Project Manager Skills: Leadership ability</a:t>
            </a:r>
          </a:p>
        </p:txBody>
      </p:sp>
      <p:sp>
        <p:nvSpPr>
          <p:cNvPr id="19459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Achieve results through the project team</a:t>
            </a:r>
          </a:p>
          <a:p>
            <a:pPr eaLnBrk="1" hangingPunct="1"/>
            <a:r>
              <a:rPr lang="en-US" altLang="en-US"/>
              <a:t>Use a participative and consultative leadership style</a:t>
            </a:r>
          </a:p>
          <a:p>
            <a:pPr eaLnBrk="1" hangingPunct="1"/>
            <a:r>
              <a:rPr lang="en-US" altLang="en-US"/>
              <a:t>Provide guidance and coaching to the project team</a:t>
            </a:r>
          </a:p>
          <a:p>
            <a:pPr eaLnBrk="1" hangingPunct="1"/>
            <a:r>
              <a:rPr lang="en-US" altLang="en-US"/>
              <a:t>Require involvement and empowerment of the project team</a:t>
            </a:r>
          </a:p>
          <a:p>
            <a:pPr eaLnBrk="1" hangingPunct="1"/>
            <a:r>
              <a:rPr lang="en-US" altLang="en-US"/>
              <a:t>Establish an environment of trust, high expectations, and enjoyment</a:t>
            </a:r>
          </a:p>
          <a:p>
            <a:pPr eaLnBrk="1" hangingPunct="1"/>
            <a:r>
              <a:rPr lang="en-US" altLang="en-US"/>
              <a:t>Have self confidence</a:t>
            </a:r>
          </a:p>
          <a:p>
            <a:pPr eaLnBrk="1" hangingPunct="1"/>
            <a:r>
              <a:rPr lang="en-US" altLang="en-US"/>
              <a:t>Exhibit confidence in the project team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3"/>
          <p:cNvSpPr>
            <a:spLocks noGrp="1"/>
          </p:cNvSpPr>
          <p:nvPr>
            <p:ph type="title"/>
          </p:nvPr>
        </p:nvSpPr>
        <p:spPr>
          <a:xfrm>
            <a:off x="478971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Ability to develop people</a:t>
            </a:r>
          </a:p>
        </p:txBody>
      </p:sp>
      <p:sp>
        <p:nvSpPr>
          <p:cNvPr id="20483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Train and develop the project team</a:t>
            </a:r>
          </a:p>
          <a:p>
            <a:pPr eaLnBrk="1" hangingPunct="1"/>
            <a:r>
              <a:rPr lang="en-US" altLang="en-US"/>
              <a:t>Believe that all individuals are valuable</a:t>
            </a:r>
          </a:p>
          <a:p>
            <a:pPr eaLnBrk="1" hangingPunct="1"/>
            <a:r>
              <a:rPr lang="en-US" altLang="en-US"/>
              <a:t>Encourage initiative</a:t>
            </a:r>
          </a:p>
          <a:p>
            <a:pPr eaLnBrk="1" hangingPunct="1"/>
            <a:r>
              <a:rPr lang="en-US" altLang="en-US"/>
              <a:t>Identify situations for mentoring</a:t>
            </a:r>
          </a:p>
          <a:p>
            <a:pPr eaLnBrk="1" hangingPunct="1"/>
            <a:r>
              <a:rPr lang="en-US" altLang="en-US"/>
              <a:t>Assess opportunities for growth</a:t>
            </a:r>
          </a:p>
          <a:p>
            <a:pPr eaLnBrk="1" hangingPunct="1"/>
            <a:r>
              <a:rPr lang="en-US" altLang="en-US"/>
              <a:t>Encourage self reflection for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Communication skills</a:t>
            </a:r>
          </a:p>
        </p:txBody>
      </p:sp>
      <p:sp>
        <p:nvSpPr>
          <p:cNvPr id="2150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Be good communicators</a:t>
            </a:r>
          </a:p>
          <a:p>
            <a:pPr eaLnBrk="1" hangingPunct="1"/>
            <a:r>
              <a:rPr lang="en-US" altLang="en-US"/>
              <a:t>Communicate and share information</a:t>
            </a:r>
          </a:p>
          <a:p>
            <a:pPr eaLnBrk="1" hangingPunct="1"/>
            <a:r>
              <a:rPr lang="en-US" altLang="en-US"/>
              <a:t>Spend more time listening than talking</a:t>
            </a:r>
          </a:p>
          <a:p>
            <a:pPr eaLnBrk="1" hangingPunct="1"/>
            <a:r>
              <a:rPr lang="en-US" altLang="en-US"/>
              <a:t>Inform the customer of progress</a:t>
            </a:r>
          </a:p>
          <a:p>
            <a:pPr eaLnBrk="1" hangingPunct="1"/>
            <a:r>
              <a:rPr lang="en-US" altLang="en-US"/>
              <a:t>Determine any changes</a:t>
            </a:r>
          </a:p>
          <a:p>
            <a:pPr eaLnBrk="1" hangingPunct="1"/>
            <a:r>
              <a:rPr lang="en-US" altLang="en-US"/>
              <a:t>Provide timely feedback to the team and customer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>
          <a:xfrm>
            <a:off x="457200" y="42454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Interpersonal skills</a:t>
            </a:r>
          </a:p>
        </p:txBody>
      </p:sp>
      <p:sp>
        <p:nvSpPr>
          <p:cNvPr id="2253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Develop a relationship with each team member</a:t>
            </a:r>
          </a:p>
          <a:p>
            <a:pPr eaLnBrk="1" hangingPunct="1"/>
            <a:r>
              <a:rPr lang="en-US" altLang="en-US" dirty="0"/>
              <a:t>Maintain interpersonal relationships for duration of the project</a:t>
            </a:r>
          </a:p>
          <a:p>
            <a:pPr eaLnBrk="1" hangingPunct="1"/>
            <a:r>
              <a:rPr lang="en-US" altLang="en-US" dirty="0"/>
              <a:t>Influence the thinking and actions of others</a:t>
            </a:r>
          </a:p>
          <a:p>
            <a:pPr eaLnBrk="1" hangingPunct="1"/>
            <a:r>
              <a:rPr lang="en-US" altLang="en-US" dirty="0"/>
              <a:t>Deal with disagreements or divisiveness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2"/>
          <p:cNvSpPr>
            <a:spLocks noGrp="1"/>
          </p:cNvSpPr>
          <p:nvPr>
            <p:ph type="title"/>
          </p:nvPr>
        </p:nvSpPr>
        <p:spPr>
          <a:xfrm>
            <a:off x="468086" y="478971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Ability to handle stress</a:t>
            </a:r>
          </a:p>
        </p:txBody>
      </p:sp>
      <p:sp>
        <p:nvSpPr>
          <p:cNvPr id="23555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Must be able to handle the stress</a:t>
            </a:r>
          </a:p>
          <a:p>
            <a:pPr eaLnBrk="1" hangingPunct="1"/>
            <a:r>
              <a:rPr lang="en-US" altLang="en-US" dirty="0"/>
              <a:t>Remain calm</a:t>
            </a:r>
          </a:p>
          <a:p>
            <a:pPr eaLnBrk="1" hangingPunct="1"/>
            <a:r>
              <a:rPr lang="en-US" altLang="en-US" dirty="0"/>
              <a:t>Cope with constantly changing conditions</a:t>
            </a:r>
          </a:p>
          <a:p>
            <a:pPr eaLnBrk="1" hangingPunct="1"/>
            <a:r>
              <a:rPr lang="en-US" altLang="en-US" dirty="0"/>
              <a:t>Act as a buffer between the project team and either the customer or upper management</a:t>
            </a:r>
          </a:p>
          <a:p>
            <a:pPr eaLnBrk="1" hangingPunct="1"/>
            <a:r>
              <a:rPr lang="en-US" altLang="en-US" dirty="0"/>
              <a:t>Have a good sense of </a:t>
            </a:r>
            <a:r>
              <a:rPr lang="en-US" altLang="en-US" dirty="0" err="1"/>
              <a:t>humour</a:t>
            </a:r>
            <a:endParaRPr lang="en-US" altLang="en-US" dirty="0"/>
          </a:p>
          <a:p>
            <a:pPr eaLnBrk="1" hangingPunct="1"/>
            <a:r>
              <a:rPr lang="en-US" altLang="en-US" dirty="0"/>
              <a:t>Keep physically fit to improve ability to handle stress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2"/>
          <p:cNvSpPr>
            <a:spLocks noGrp="1"/>
          </p:cNvSpPr>
          <p:nvPr>
            <p:ph type="title"/>
          </p:nvPr>
        </p:nvSpPr>
        <p:spPr>
          <a:xfrm>
            <a:off x="457200" y="446314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Problem-solving skills</a:t>
            </a:r>
          </a:p>
        </p:txBody>
      </p:sp>
      <p:sp>
        <p:nvSpPr>
          <p:cNvPr id="2457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Be a good problem solver</a:t>
            </a:r>
          </a:p>
          <a:p>
            <a:pPr eaLnBrk="1" hangingPunct="1"/>
            <a:r>
              <a:rPr lang="en-US" altLang="en-US" dirty="0"/>
              <a:t>Start with the early identification of a problem or potential problem</a:t>
            </a:r>
          </a:p>
          <a:p>
            <a:pPr eaLnBrk="1" hangingPunct="1"/>
            <a:r>
              <a:rPr lang="en-US" altLang="en-US" dirty="0"/>
              <a:t>Encourage project team members to identify problems early and solve them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Negotiating skills</a:t>
            </a:r>
          </a:p>
        </p:txBody>
      </p:sp>
      <p:sp>
        <p:nvSpPr>
          <p:cNvPr id="2560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Employ negotiating skills in interactions</a:t>
            </a:r>
          </a:p>
          <a:p>
            <a:pPr eaLnBrk="1" hangingPunct="1"/>
            <a:r>
              <a:rPr lang="en-US" altLang="en-US" dirty="0"/>
              <a:t>Develop a trusting relationship with the other person</a:t>
            </a:r>
          </a:p>
          <a:p>
            <a:pPr eaLnBrk="1" hangingPunct="1"/>
            <a:r>
              <a:rPr lang="en-US" altLang="en-US" dirty="0"/>
              <a:t>Use effective listening</a:t>
            </a:r>
          </a:p>
          <a:p>
            <a:pPr eaLnBrk="1" hangingPunct="1"/>
            <a:r>
              <a:rPr lang="en-US" altLang="en-US" dirty="0"/>
              <a:t>Take cultural differences into consideration</a:t>
            </a:r>
          </a:p>
          <a:p>
            <a:pPr eaLnBrk="1" hangingPunct="1"/>
            <a:r>
              <a:rPr lang="en-US" altLang="en-US" dirty="0"/>
              <a:t>Strengthen relationships, not erode them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Time management skills</a:t>
            </a:r>
          </a:p>
        </p:txBody>
      </p:sp>
      <p:sp>
        <p:nvSpPr>
          <p:cNvPr id="2662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Manage time well</a:t>
            </a:r>
          </a:p>
          <a:p>
            <a:pPr eaLnBrk="1" hangingPunct="1"/>
            <a:r>
              <a:rPr lang="en-US" altLang="en-US" dirty="0"/>
              <a:t>Have self-discipline</a:t>
            </a:r>
          </a:p>
          <a:p>
            <a:pPr eaLnBrk="1" hangingPunct="1"/>
            <a:r>
              <a:rPr lang="en-US" altLang="en-US" dirty="0"/>
              <a:t>Be able to </a:t>
            </a:r>
            <a:r>
              <a:rPr lang="en-US" altLang="en-US" dirty="0" err="1"/>
              <a:t>prioritise</a:t>
            </a:r>
            <a:endParaRPr lang="en-US" altLang="en-US" dirty="0"/>
          </a:p>
          <a:p>
            <a:pPr eaLnBrk="1" hangingPunct="1"/>
            <a:r>
              <a:rPr lang="en-US" altLang="en-US" dirty="0"/>
              <a:t>Show a willingness to delegate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4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Delegation</a:t>
            </a:r>
          </a:p>
        </p:txBody>
      </p:sp>
      <p:sp>
        <p:nvSpPr>
          <p:cNvPr id="27651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Delegating</a:t>
            </a:r>
          </a:p>
        </p:txBody>
      </p:sp>
      <p:sp>
        <p:nvSpPr>
          <p:cNvPr id="27652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 dirty="0"/>
              <a:t>Empower the project team 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Use effective communication skills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Select the most qualified project team members </a:t>
            </a:r>
          </a:p>
        </p:txBody>
      </p:sp>
      <p:sp>
        <p:nvSpPr>
          <p:cNvPr id="27653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Barriers to delegating</a:t>
            </a:r>
          </a:p>
        </p:txBody>
      </p:sp>
      <p:sp>
        <p:nvSpPr>
          <p:cNvPr id="27654" name="Content Placeholder 9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 dirty="0"/>
              <a:t>Can do it better or faster yourself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Lack confidence in the capability of others 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Afraid will lose control 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Fear criticism for mistakes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Lack self-confidence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6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Various degrees of delegation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0253EF-47C4-4864-9B5B-FAB4CB75C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219200"/>
            <a:ext cx="5233972" cy="494506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435429" y="152400"/>
            <a:ext cx="86868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Checklist for rating delegation effectiveness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7DD71F-BA8C-4590-B6F2-3A9C09F29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19200"/>
            <a:ext cx="5779818" cy="51148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Managing Changes</a:t>
            </a:r>
          </a:p>
        </p:txBody>
      </p:sp>
      <p:sp>
        <p:nvSpPr>
          <p:cNvPr id="30723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Initiation of change</a:t>
            </a:r>
          </a:p>
        </p:txBody>
      </p:sp>
      <p:sp>
        <p:nvSpPr>
          <p:cNvPr id="30724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 dirty="0"/>
              <a:t>By the customer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By the project team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Caused by unanticipated occurrences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Required by the users of the project results</a:t>
            </a:r>
          </a:p>
        </p:txBody>
      </p:sp>
      <p:sp>
        <p:nvSpPr>
          <p:cNvPr id="30725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Manage and control change</a:t>
            </a:r>
          </a:p>
        </p:txBody>
      </p:sp>
      <p:sp>
        <p:nvSpPr>
          <p:cNvPr id="30726" name="Content Placeholder 9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/>
              <a:t>Establish procedures for communication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/>
              <a:t>Estimate impact of change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/>
              <a:t>Decide about the change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/>
              <a:t>Customer approves change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Critical Success Factors 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5181600"/>
          </a:xfrm>
        </p:spPr>
        <p:txBody>
          <a:bodyPr/>
          <a:lstStyle/>
          <a:p>
            <a:pPr eaLnBrk="1" hangingPunct="1"/>
            <a:r>
              <a:rPr lang="en-US" altLang="en-US" sz="1800" dirty="0"/>
              <a:t>Successful project managers </a:t>
            </a:r>
            <a:r>
              <a:rPr lang="en-US" altLang="en-US" sz="1800" b="1" dirty="0"/>
              <a:t>accept responsibility </a:t>
            </a:r>
            <a:r>
              <a:rPr lang="en-US" altLang="en-US" sz="1800" dirty="0"/>
              <a:t>for making sure the customer is satisfied and the work scope is completed in a quality manner, within budget, and on time.</a:t>
            </a:r>
          </a:p>
          <a:p>
            <a:pPr eaLnBrk="1" hangingPunct="1"/>
            <a:r>
              <a:rPr lang="en-US" altLang="en-US" sz="1800" dirty="0"/>
              <a:t>The project manager needs to be </a:t>
            </a:r>
            <a:r>
              <a:rPr lang="en-US" altLang="en-US" sz="1800" b="1" dirty="0"/>
              <a:t>proactive</a:t>
            </a:r>
            <a:r>
              <a:rPr lang="en-US" altLang="en-US" sz="1800" dirty="0"/>
              <a:t> in planning, communicating, and providing leadership to the project team to achieve the project objective.</a:t>
            </a:r>
          </a:p>
          <a:p>
            <a:pPr eaLnBrk="1" hangingPunct="1"/>
            <a:r>
              <a:rPr lang="en-US" altLang="en-US" sz="1800" dirty="0"/>
              <a:t>The project manager needs to </a:t>
            </a:r>
            <a:r>
              <a:rPr lang="en-US" altLang="en-US" sz="1800" b="1" dirty="0"/>
              <a:t>inspire the project team </a:t>
            </a:r>
            <a:r>
              <a:rPr lang="en-US" altLang="en-US" sz="1800" dirty="0"/>
              <a:t>to succeed and to win the </a:t>
            </a:r>
            <a:r>
              <a:rPr lang="en-US" altLang="en-US" sz="1800" b="1" dirty="0"/>
              <a:t>confidence</a:t>
            </a:r>
            <a:r>
              <a:rPr lang="en-US" altLang="en-US" sz="1800" dirty="0"/>
              <a:t> of the customer.</a:t>
            </a:r>
          </a:p>
          <a:p>
            <a:pPr eaLnBrk="1" hangingPunct="1"/>
            <a:r>
              <a:rPr lang="en-US" altLang="en-US" sz="1800" dirty="0"/>
              <a:t>By </a:t>
            </a:r>
            <a:r>
              <a:rPr lang="en-US" altLang="en-US" sz="1800" b="1" dirty="0"/>
              <a:t>involving the project team </a:t>
            </a:r>
            <a:r>
              <a:rPr lang="en-US" altLang="en-US" sz="1800" dirty="0"/>
              <a:t>in developing the project plan, the project manager ensures a more comprehensive plan and gains the commitment of the team to achieve the plan.</a:t>
            </a:r>
          </a:p>
          <a:p>
            <a:pPr eaLnBrk="1" hangingPunct="1"/>
            <a:r>
              <a:rPr lang="en-US" altLang="en-US" sz="1800" dirty="0"/>
              <a:t>Successful project managers are </a:t>
            </a:r>
            <a:r>
              <a:rPr lang="en-US" altLang="en-US" sz="1800" b="1" dirty="0"/>
              <a:t>proactive in addressing problems</a:t>
            </a:r>
            <a:r>
              <a:rPr lang="en-US" altLang="en-US" sz="1800" dirty="0"/>
              <a:t>. They do not take a 'let’s wait and see how things work out' approach.</a:t>
            </a:r>
          </a:p>
          <a:p>
            <a:pPr eaLnBrk="1" hangingPunct="1"/>
            <a:r>
              <a:rPr lang="en-US" altLang="en-US" sz="1800" dirty="0"/>
              <a:t>The project manager needs to have a project management information system that </a:t>
            </a:r>
            <a:r>
              <a:rPr lang="en-US" altLang="en-US" sz="1800" b="1" dirty="0"/>
              <a:t>distinguishes achievements</a:t>
            </a:r>
            <a:r>
              <a:rPr lang="en-US" altLang="en-US" sz="1800" dirty="0"/>
              <a:t> from busy-work.</a:t>
            </a:r>
          </a:p>
          <a:p>
            <a:pPr eaLnBrk="1" hangingPunct="1"/>
            <a:r>
              <a:rPr lang="en-US" altLang="en-US" sz="1800" b="1" dirty="0"/>
              <a:t>Effective</a:t>
            </a:r>
            <a:r>
              <a:rPr lang="en-US" altLang="en-US" sz="1800" dirty="0"/>
              <a:t> project managers have strong </a:t>
            </a:r>
            <a:r>
              <a:rPr lang="en-US" altLang="en-US" sz="1800" b="1" dirty="0"/>
              <a:t>leadership</a:t>
            </a:r>
            <a:r>
              <a:rPr lang="en-US" altLang="en-US" sz="1800" dirty="0"/>
              <a:t> ability, the ability to </a:t>
            </a:r>
            <a:r>
              <a:rPr lang="en-US" altLang="en-US" sz="1800" b="1" dirty="0"/>
              <a:t>develop</a:t>
            </a:r>
            <a:r>
              <a:rPr lang="en-US" altLang="en-US" sz="1800" dirty="0"/>
              <a:t> </a:t>
            </a:r>
            <a:r>
              <a:rPr lang="en-US" altLang="en-US" sz="1800" b="1" dirty="0"/>
              <a:t>people</a:t>
            </a:r>
            <a:r>
              <a:rPr lang="en-US" altLang="en-US" sz="1800" dirty="0"/>
              <a:t>, excellent </a:t>
            </a:r>
            <a:r>
              <a:rPr lang="en-US" altLang="en-US" sz="1800" b="1" dirty="0"/>
              <a:t>communication</a:t>
            </a:r>
            <a:r>
              <a:rPr lang="en-US" altLang="en-US" sz="1800" dirty="0"/>
              <a:t> skills, good </a:t>
            </a:r>
            <a:r>
              <a:rPr lang="en-US" altLang="en-US" sz="1800" b="1" dirty="0"/>
              <a:t>interpersonal</a:t>
            </a:r>
            <a:r>
              <a:rPr lang="en-US" altLang="en-US" sz="1800" dirty="0"/>
              <a:t> skills, the ability to </a:t>
            </a:r>
            <a:r>
              <a:rPr lang="en-US" altLang="en-US" sz="1800" b="1" dirty="0"/>
              <a:t>handle stress</a:t>
            </a:r>
            <a:r>
              <a:rPr lang="en-US" altLang="en-US" sz="1800" dirty="0"/>
              <a:t>, </a:t>
            </a:r>
            <a:r>
              <a:rPr lang="en-US" altLang="en-US" sz="1800" b="1" dirty="0"/>
              <a:t>problem-solving</a:t>
            </a:r>
            <a:r>
              <a:rPr lang="en-US" altLang="en-US" sz="1800" dirty="0"/>
              <a:t> skills, </a:t>
            </a:r>
            <a:r>
              <a:rPr lang="en-US" altLang="en-US" sz="1800" b="1" dirty="0"/>
              <a:t>negotiating</a:t>
            </a:r>
            <a:r>
              <a:rPr lang="en-US" altLang="en-US" sz="1800" dirty="0"/>
              <a:t> skills, and </a:t>
            </a:r>
            <a:r>
              <a:rPr lang="en-US" altLang="en-US" sz="1800" b="1" dirty="0"/>
              <a:t>time management </a:t>
            </a:r>
            <a:r>
              <a:rPr lang="en-US" altLang="en-US" sz="1800" dirty="0"/>
              <a:t>skills.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Critical Success Factors (continued) 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458200" cy="5334000"/>
          </a:xfrm>
        </p:spPr>
        <p:txBody>
          <a:bodyPr/>
          <a:lstStyle/>
          <a:p>
            <a:pPr eaLnBrk="1" hangingPunct="1"/>
            <a:r>
              <a:rPr lang="en-US" altLang="en-US" sz="1600" dirty="0"/>
              <a:t>Successful project management requires a </a:t>
            </a:r>
            <a:r>
              <a:rPr lang="en-US" altLang="en-US" sz="1600" b="1" dirty="0"/>
              <a:t>participative and consultative </a:t>
            </a:r>
            <a:r>
              <a:rPr lang="en-US" altLang="en-US" sz="1600" dirty="0"/>
              <a:t>leadership style in which the project manager </a:t>
            </a:r>
            <a:r>
              <a:rPr lang="en-US" altLang="en-US" sz="1600" b="1" dirty="0"/>
              <a:t>provides guidance and coaching </a:t>
            </a:r>
            <a:r>
              <a:rPr lang="en-US" altLang="en-US" sz="1600" dirty="0"/>
              <a:t>to the project team. The effective project manager does not tell people how to do their jobs.</a:t>
            </a:r>
          </a:p>
          <a:p>
            <a:pPr eaLnBrk="1" hangingPunct="1"/>
            <a:r>
              <a:rPr lang="en-US" altLang="en-US" sz="1600" dirty="0"/>
              <a:t>Project managers show they value the contributions of team members when they seek </a:t>
            </a:r>
            <a:r>
              <a:rPr lang="en-US" altLang="en-US" sz="1600" b="1" dirty="0"/>
              <a:t>advice and suggestions from team members</a:t>
            </a:r>
            <a:r>
              <a:rPr lang="en-US" altLang="en-US" sz="1600" dirty="0"/>
              <a:t>.</a:t>
            </a:r>
          </a:p>
          <a:p>
            <a:pPr eaLnBrk="1" hangingPunct="1"/>
            <a:r>
              <a:rPr lang="en-US" altLang="en-US" sz="1600" dirty="0"/>
              <a:t>Project managers can </a:t>
            </a:r>
            <a:r>
              <a:rPr lang="en-US" altLang="en-US" sz="1600" b="1" dirty="0"/>
              <a:t>foster motivation </a:t>
            </a:r>
            <a:r>
              <a:rPr lang="en-US" altLang="en-US" sz="1600" dirty="0"/>
              <a:t>through recognition. People want to feel they are making a contribution and need to be </a:t>
            </a:r>
            <a:r>
              <a:rPr lang="en-US" altLang="en-US" sz="1600" dirty="0" err="1"/>
              <a:t>recognised</a:t>
            </a:r>
            <a:r>
              <a:rPr lang="en-US" altLang="en-US" sz="1600" dirty="0"/>
              <a:t>. Positive reinforcement helps stimulate desired </a:t>
            </a:r>
            <a:r>
              <a:rPr lang="en-US" altLang="en-US" sz="1600" dirty="0" err="1"/>
              <a:t>behaviour</a:t>
            </a:r>
            <a:r>
              <a:rPr lang="en-US" altLang="en-US" sz="1600" dirty="0"/>
              <a:t>; </a:t>
            </a:r>
            <a:r>
              <a:rPr lang="en-US" altLang="en-US" sz="1600" dirty="0" err="1"/>
              <a:t>behaviour</a:t>
            </a:r>
            <a:r>
              <a:rPr lang="en-US" altLang="en-US" sz="1600" dirty="0"/>
              <a:t> that is </a:t>
            </a:r>
            <a:r>
              <a:rPr lang="en-US" altLang="en-US" sz="1600" dirty="0" err="1"/>
              <a:t>recognised</a:t>
            </a:r>
            <a:r>
              <a:rPr lang="en-US" altLang="en-US" sz="1600" dirty="0"/>
              <a:t> or rewarded gets repeated.</a:t>
            </a:r>
          </a:p>
          <a:p>
            <a:pPr eaLnBrk="1" hangingPunct="1"/>
            <a:r>
              <a:rPr lang="en-US" altLang="en-US" sz="1600" dirty="0"/>
              <a:t>The effective project manager </a:t>
            </a:r>
            <a:r>
              <a:rPr lang="en-US" altLang="en-US" sz="1600" b="1" dirty="0"/>
              <a:t>does not </a:t>
            </a:r>
            <a:r>
              <a:rPr lang="en-US" altLang="en-US" sz="1600" dirty="0" err="1"/>
              <a:t>monopolise</a:t>
            </a:r>
            <a:r>
              <a:rPr lang="en-US" altLang="en-US" sz="1600" dirty="0"/>
              <a:t>, seek the spotlight, or try to take credit for the work of others.</a:t>
            </a:r>
          </a:p>
          <a:p>
            <a:pPr eaLnBrk="1" hangingPunct="1"/>
            <a:r>
              <a:rPr lang="en-US" altLang="en-US" sz="1600" dirty="0"/>
              <a:t>Capable project managers are </a:t>
            </a:r>
            <a:r>
              <a:rPr lang="en-US" altLang="en-US" sz="1600" b="1" dirty="0"/>
              <a:t>optimistic</a:t>
            </a:r>
            <a:r>
              <a:rPr lang="en-US" altLang="en-US" sz="1600" dirty="0"/>
              <a:t> and have high, yet </a:t>
            </a:r>
            <a:r>
              <a:rPr lang="en-US" altLang="en-US" sz="1600" b="1" dirty="0"/>
              <a:t>realistic, expectations </a:t>
            </a:r>
            <a:r>
              <a:rPr lang="en-US" altLang="en-US" sz="1600" dirty="0"/>
              <a:t>of themselves and each person on the project team.</a:t>
            </a:r>
          </a:p>
          <a:p>
            <a:pPr eaLnBrk="1" hangingPunct="1"/>
            <a:r>
              <a:rPr lang="en-US" altLang="en-US" sz="1600" b="1" dirty="0"/>
              <a:t>Projects should be fun</a:t>
            </a:r>
            <a:r>
              <a:rPr lang="en-US" altLang="en-US" sz="1600" dirty="0"/>
              <a:t>. Project managers should enjoy their work and encourage the same positive attitude on the part of the project team members. The project manager should set a positive example for the team in terms of expected </a:t>
            </a:r>
            <a:r>
              <a:rPr lang="en-US" altLang="en-US" sz="1600" dirty="0" err="1"/>
              <a:t>behaviour</a:t>
            </a:r>
            <a:r>
              <a:rPr lang="en-US" altLang="en-US" sz="1600" dirty="0"/>
              <a:t>.</a:t>
            </a:r>
          </a:p>
          <a:p>
            <a:pPr eaLnBrk="1" hangingPunct="1"/>
            <a:r>
              <a:rPr lang="en-US" altLang="en-US" sz="1600" dirty="0"/>
              <a:t>A good project manager provides </a:t>
            </a:r>
            <a:r>
              <a:rPr lang="en-US" altLang="en-US" sz="1600" b="1" dirty="0"/>
              <a:t>opportunities for learning and development </a:t>
            </a:r>
            <a:r>
              <a:rPr lang="en-US" altLang="en-US" sz="1600" dirty="0"/>
              <a:t>by encouraging team members to take the initiative, take risks, and make decisions. Rather than create a fear of failure, the project manager </a:t>
            </a:r>
            <a:r>
              <a:rPr lang="en-US" altLang="en-US" sz="1600" dirty="0" err="1"/>
              <a:t>realises</a:t>
            </a:r>
            <a:r>
              <a:rPr lang="en-US" altLang="en-US" sz="1600" dirty="0"/>
              <a:t> that mistakes are part of the learning and growth experience.</a:t>
            </a:r>
          </a:p>
          <a:p>
            <a:pPr eaLnBrk="1" hangingPunct="1">
              <a:buFontTx/>
              <a:buBlip>
                <a:blip r:embed="rId3"/>
              </a:buBlip>
            </a:pPr>
            <a:endParaRPr lang="en-US" alt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Critical Success Factors (continued) 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34400" cy="5334000"/>
          </a:xfrm>
        </p:spPr>
        <p:txBody>
          <a:bodyPr/>
          <a:lstStyle/>
          <a:p>
            <a:pPr eaLnBrk="1" hangingPunct="1"/>
            <a:r>
              <a:rPr lang="en-US" altLang="en-US" sz="1800" dirty="0"/>
              <a:t>Good project managers </a:t>
            </a:r>
            <a:r>
              <a:rPr lang="en-US" altLang="en-US" sz="1800" b="1" dirty="0"/>
              <a:t>spend more time listening </a:t>
            </a:r>
            <a:r>
              <a:rPr lang="en-US" altLang="en-US" sz="1800" dirty="0"/>
              <a:t>than talking. They listen to the needs expressed by the customer and the ideas and concerns expressed by the project team and stakeholders.</a:t>
            </a:r>
          </a:p>
          <a:p>
            <a:pPr eaLnBrk="1" hangingPunct="1"/>
            <a:r>
              <a:rPr lang="en-US" altLang="en-US" sz="1800" dirty="0"/>
              <a:t>Communication by project managers needs to be </a:t>
            </a:r>
            <a:r>
              <a:rPr lang="en-US" altLang="en-US" sz="1800" b="1" dirty="0"/>
              <a:t>timely, honest, and unambiguous</a:t>
            </a:r>
            <a:r>
              <a:rPr lang="en-US" altLang="en-US" sz="1800" dirty="0"/>
              <a:t>.</a:t>
            </a:r>
          </a:p>
          <a:p>
            <a:pPr eaLnBrk="1" hangingPunct="1"/>
            <a:r>
              <a:rPr lang="en-US" altLang="en-US" sz="1800" dirty="0"/>
              <a:t>The project manager should create an atmosphere that </a:t>
            </a:r>
            <a:r>
              <a:rPr lang="en-US" altLang="en-US" sz="1800" b="1" dirty="0"/>
              <a:t>fosters timely and open communication</a:t>
            </a:r>
            <a:r>
              <a:rPr lang="en-US" altLang="en-US" sz="1800" dirty="0"/>
              <a:t> without fear of reprisal, and must be open to differing viewpoints.</a:t>
            </a:r>
          </a:p>
          <a:p>
            <a:pPr eaLnBrk="1" hangingPunct="1"/>
            <a:r>
              <a:rPr lang="en-US" altLang="en-US" sz="1800" dirty="0"/>
              <a:t>When unforeseen events cause turmoil on a project, effective project managers remain </a:t>
            </a:r>
            <a:r>
              <a:rPr lang="en-US" altLang="en-US" sz="1800" b="1" dirty="0"/>
              <a:t>composed</a:t>
            </a:r>
            <a:r>
              <a:rPr lang="en-US" altLang="en-US" sz="1800" dirty="0"/>
              <a:t> and do not panic.</a:t>
            </a:r>
          </a:p>
          <a:p>
            <a:pPr eaLnBrk="1" hangingPunct="1"/>
            <a:r>
              <a:rPr lang="en-US" altLang="en-US" sz="1800" dirty="0"/>
              <a:t>Effective project managers </a:t>
            </a:r>
            <a:r>
              <a:rPr lang="en-US" altLang="en-US" sz="1800" dirty="0" err="1"/>
              <a:t>recognise</a:t>
            </a:r>
            <a:r>
              <a:rPr lang="en-US" altLang="en-US" sz="1800" dirty="0"/>
              <a:t> that the </a:t>
            </a:r>
            <a:r>
              <a:rPr lang="en-US" altLang="en-US" sz="1800" b="1" dirty="0"/>
              <a:t>best solution </a:t>
            </a:r>
            <a:r>
              <a:rPr lang="en-US" altLang="en-US" sz="1800" dirty="0"/>
              <a:t>often emerges from differences of ideas, viewpoints, experiences, and opinions.</a:t>
            </a:r>
          </a:p>
          <a:p>
            <a:pPr eaLnBrk="1" hangingPunct="1"/>
            <a:r>
              <a:rPr lang="en-US" altLang="en-US" sz="1800" dirty="0"/>
              <a:t>The project manager must </a:t>
            </a:r>
            <a:r>
              <a:rPr lang="en-US" altLang="en-US" sz="1800" b="1" dirty="0"/>
              <a:t>maintain integrity and respect </a:t>
            </a:r>
            <a:r>
              <a:rPr lang="en-US" altLang="en-US" sz="1800" dirty="0"/>
              <a:t>for the other party throughout the negotiating process. </a:t>
            </a:r>
          </a:p>
          <a:p>
            <a:pPr eaLnBrk="1" hangingPunct="1"/>
            <a:r>
              <a:rPr lang="en-US" altLang="en-US" sz="1800" dirty="0"/>
              <a:t>To make effective use of their time, project managers need to have </a:t>
            </a:r>
            <a:r>
              <a:rPr lang="en-US" altLang="en-US" sz="1800" b="1" dirty="0"/>
              <a:t>self-discipline</a:t>
            </a:r>
            <a:r>
              <a:rPr lang="en-US" altLang="en-US" sz="1800" dirty="0"/>
              <a:t>, be able to </a:t>
            </a:r>
            <a:r>
              <a:rPr lang="en-US" altLang="en-US" sz="1800" b="1" dirty="0" err="1"/>
              <a:t>prioritise</a:t>
            </a:r>
            <a:r>
              <a:rPr lang="en-US" altLang="en-US" sz="1800" dirty="0"/>
              <a:t>, and be willing to </a:t>
            </a:r>
            <a:r>
              <a:rPr lang="en-US" altLang="en-US" sz="1800" b="1" dirty="0"/>
              <a:t>delegate</a:t>
            </a:r>
            <a:r>
              <a:rPr lang="en-US" altLang="en-US" sz="1800" dirty="0"/>
              <a:t>.</a:t>
            </a:r>
          </a:p>
          <a:p>
            <a:pPr eaLnBrk="1" hangingPunct="1"/>
            <a:r>
              <a:rPr lang="en-US" altLang="en-US" sz="1800" dirty="0"/>
              <a:t>At the start of a project, the project manager needs to </a:t>
            </a:r>
            <a:r>
              <a:rPr lang="en-US" altLang="en-US" sz="1800" b="1" dirty="0"/>
              <a:t>establish a change control system</a:t>
            </a:r>
            <a:r>
              <a:rPr lang="en-US" altLang="en-US" sz="1800" dirty="0"/>
              <a:t> that define how changes will be documented, approved, and communicated.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Summary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It is the responsibility of the project manager to make sure that the customer is satisfied that the work scope is completed in a quality manner, within budget, and on time. </a:t>
            </a:r>
          </a:p>
          <a:p>
            <a:pPr eaLnBrk="1" hangingPunct="1"/>
            <a:r>
              <a:rPr lang="en-US" altLang="en-US" sz="2000" dirty="0"/>
              <a:t>The project manager has primary responsibility for providing leadership in planning, </a:t>
            </a:r>
            <a:r>
              <a:rPr lang="en-US" altLang="en-US" sz="2000" dirty="0" err="1"/>
              <a:t>organising</a:t>
            </a:r>
            <a:r>
              <a:rPr lang="en-US" altLang="en-US" sz="2000" dirty="0"/>
              <a:t>, and controlling the work effort to achieve the project objective.</a:t>
            </a:r>
          </a:p>
          <a:p>
            <a:pPr eaLnBrk="1" hangingPunct="1"/>
            <a:r>
              <a:rPr lang="en-US" altLang="en-US" sz="2000" dirty="0"/>
              <a:t>The project manager is a key ingredient in the success of a project and needs to possess a set of skills that will help the project team succeed.</a:t>
            </a:r>
          </a:p>
          <a:p>
            <a:pPr eaLnBrk="1" hangingPunct="1"/>
            <a:r>
              <a:rPr lang="en-US" altLang="en-US" sz="2000" dirty="0"/>
              <a:t>Project manager competence can be developed through a number of activities, individually or with others.</a:t>
            </a:r>
          </a:p>
          <a:p>
            <a:pPr eaLnBrk="1" hangingPunct="1"/>
            <a:r>
              <a:rPr lang="en-US" altLang="en-US" sz="2000" dirty="0"/>
              <a:t>Project managers need to be good delegators.</a:t>
            </a:r>
          </a:p>
          <a:p>
            <a:pPr eaLnBrk="1" hangingPunct="1"/>
            <a:r>
              <a:rPr lang="en-US" altLang="en-US" sz="2000" dirty="0"/>
              <a:t>The project manger manages and controls changes to </a:t>
            </a:r>
            <a:r>
              <a:rPr lang="en-US" altLang="en-US" sz="2000" dirty="0" err="1"/>
              <a:t>minimise</a:t>
            </a:r>
            <a:r>
              <a:rPr lang="en-US" altLang="en-US" sz="2000" dirty="0"/>
              <a:t> any negative impact on the successful accomplishment of the project objective.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theme/theme1.xml><?xml version="1.0" encoding="utf-8"?>
<a:theme xmlns:a="http://schemas.openxmlformats.org/drawingml/2006/main" name="68347_Pppt_templat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Gido SA</Template>
  <TotalTime>19751</TotalTime>
  <Words>1349</Words>
  <Application>Microsoft Office PowerPoint</Application>
  <PresentationFormat>On-screen Show (4:3)</PresentationFormat>
  <Paragraphs>173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Courier New</vt:lpstr>
      <vt:lpstr>Wingdings</vt:lpstr>
      <vt:lpstr>68347_Pppt_template</vt:lpstr>
      <vt:lpstr>PowerPoint Presentation</vt:lpstr>
      <vt:lpstr>Chapter Concepts</vt:lpstr>
      <vt:lpstr>Learning Outcomes</vt:lpstr>
      <vt:lpstr>Project Integration Management Project Human Resource Management Project Stakeholder Management</vt:lpstr>
      <vt:lpstr>Project Manager Responsibilities</vt:lpstr>
      <vt:lpstr>Planning</vt:lpstr>
      <vt:lpstr>Organising</vt:lpstr>
      <vt:lpstr>Controlling</vt:lpstr>
      <vt:lpstr>Project Manager Skills: Leadership ability</vt:lpstr>
      <vt:lpstr>Ability to develop people</vt:lpstr>
      <vt:lpstr>Communication skills</vt:lpstr>
      <vt:lpstr>Interpersonal skills</vt:lpstr>
      <vt:lpstr>Ability to handle stress</vt:lpstr>
      <vt:lpstr>Problem-solving skills</vt:lpstr>
      <vt:lpstr>Negotiating skills</vt:lpstr>
      <vt:lpstr>Time management skills</vt:lpstr>
      <vt:lpstr>Delegation</vt:lpstr>
      <vt:lpstr>Various degrees of delegation</vt:lpstr>
      <vt:lpstr>Checklist for rating delegation effectiveness</vt:lpstr>
      <vt:lpstr>Managing Changes</vt:lpstr>
      <vt:lpstr>Critical Success Factors </vt:lpstr>
      <vt:lpstr>Critical Success Factors (continued) </vt:lpstr>
      <vt:lpstr>Critical Success Factors (continued)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Rose</dc:creator>
  <cp:lastModifiedBy>Windows User</cp:lastModifiedBy>
  <cp:revision>286</cp:revision>
  <cp:lastPrinted>2019-04-01T16:04:35Z</cp:lastPrinted>
  <dcterms:created xsi:type="dcterms:W3CDTF">2010-12-13T04:11:14Z</dcterms:created>
  <dcterms:modified xsi:type="dcterms:W3CDTF">2019-04-01T16:04:39Z</dcterms:modified>
</cp:coreProperties>
</file>