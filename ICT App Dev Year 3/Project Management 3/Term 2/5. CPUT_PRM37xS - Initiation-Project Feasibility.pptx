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80" r:id="rId1"/>
  </p:sldMasterIdLst>
  <p:notesMasterIdLst>
    <p:notesMasterId r:id="rId32"/>
  </p:notesMasterIdLst>
  <p:handoutMasterIdLst>
    <p:handoutMasterId r:id="rId33"/>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3" r:id="rId26"/>
    <p:sldId id="280" r:id="rId27"/>
    <p:sldId id="284" r:id="rId28"/>
    <p:sldId id="281" r:id="rId29"/>
    <p:sldId id="282" r:id="rId30"/>
    <p:sldId id="285" r:id="rId31"/>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87718"/>
    <a:srgbClr val="89898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80" autoAdjust="0"/>
    <p:restoredTop sz="86410" autoAdjust="0"/>
  </p:normalViewPr>
  <p:slideViewPr>
    <p:cSldViewPr>
      <p:cViewPr varScale="1">
        <p:scale>
          <a:sx n="63" d="100"/>
          <a:sy n="63" d="100"/>
        </p:scale>
        <p:origin x="930" y="60"/>
      </p:cViewPr>
      <p:guideLst>
        <p:guide orient="horz" pos="2160"/>
        <p:guide pos="2880"/>
      </p:guideLst>
    </p:cSldViewPr>
  </p:slideViewPr>
  <p:outlineViewPr>
    <p:cViewPr>
      <p:scale>
        <a:sx n="33" d="100"/>
        <a:sy n="33" d="100"/>
      </p:scale>
      <p:origin x="0" y="-28242"/>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89" d="100"/>
          <a:sy n="89" d="100"/>
        </p:scale>
        <p:origin x="3788" y="68"/>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ZA"/>
          </a:p>
        </p:txBody>
      </p:sp>
      <p:sp>
        <p:nvSpPr>
          <p:cNvPr id="3" name="Date Placeholder 2"/>
          <p:cNvSpPr>
            <a:spLocks noGrp="1"/>
          </p:cNvSpPr>
          <p:nvPr>
            <p:ph type="dt" sz="quarter" idx="1"/>
          </p:nvPr>
        </p:nvSpPr>
        <p:spPr>
          <a:xfrm>
            <a:off x="3970938" y="0"/>
            <a:ext cx="3037840" cy="466434"/>
          </a:xfrm>
          <a:prstGeom prst="rect">
            <a:avLst/>
          </a:prstGeom>
        </p:spPr>
        <p:txBody>
          <a:bodyPr vert="horz" lIns="93177" tIns="46589" rIns="93177" bIns="46589" rtlCol="0"/>
          <a:lstStyle>
            <a:lvl1pPr algn="r">
              <a:defRPr sz="1200"/>
            </a:lvl1pPr>
          </a:lstStyle>
          <a:p>
            <a:endParaRPr lang="en-ZA"/>
          </a:p>
        </p:txBody>
      </p:sp>
      <p:sp>
        <p:nvSpPr>
          <p:cNvPr id="4" name="Footer Placeholder 3"/>
          <p:cNvSpPr>
            <a:spLocks noGrp="1"/>
          </p:cNvSpPr>
          <p:nvPr>
            <p:ph type="ftr" sz="quarter" idx="2"/>
          </p:nvPr>
        </p:nvSpPr>
        <p:spPr>
          <a:xfrm>
            <a:off x="0" y="8829967"/>
            <a:ext cx="3037840" cy="466433"/>
          </a:xfrm>
          <a:prstGeom prst="rect">
            <a:avLst/>
          </a:prstGeom>
        </p:spPr>
        <p:txBody>
          <a:bodyPr vert="horz" lIns="93177" tIns="46589" rIns="93177" bIns="46589" rtlCol="0" anchor="b"/>
          <a:lstStyle>
            <a:lvl1pPr algn="l">
              <a:defRPr sz="1200"/>
            </a:lvl1pPr>
          </a:lstStyle>
          <a:p>
            <a:endParaRPr lang="en-ZA"/>
          </a:p>
        </p:txBody>
      </p:sp>
      <p:sp>
        <p:nvSpPr>
          <p:cNvPr id="5" name="Slide Number Placeholder 4"/>
          <p:cNvSpPr>
            <a:spLocks noGrp="1"/>
          </p:cNvSpPr>
          <p:nvPr>
            <p:ph type="sldNum" sz="quarter" idx="3"/>
          </p:nvPr>
        </p:nvSpPr>
        <p:spPr>
          <a:xfrm>
            <a:off x="3970938" y="8829967"/>
            <a:ext cx="3037840" cy="466433"/>
          </a:xfrm>
          <a:prstGeom prst="rect">
            <a:avLst/>
          </a:prstGeom>
        </p:spPr>
        <p:txBody>
          <a:bodyPr vert="horz" lIns="93177" tIns="46589" rIns="93177" bIns="46589" rtlCol="0" anchor="b"/>
          <a:lstStyle>
            <a:lvl1pPr algn="r">
              <a:defRPr sz="1200"/>
            </a:lvl1pPr>
          </a:lstStyle>
          <a:p>
            <a:fld id="{3053315E-2CB0-4908-866C-F61A3CCAD8E0}" type="slidenum">
              <a:rPr lang="en-ZA" smtClean="0"/>
              <a:t>‹#›</a:t>
            </a:fld>
            <a:endParaRPr lang="en-ZA"/>
          </a:p>
        </p:txBody>
      </p:sp>
    </p:spTree>
    <p:extLst>
      <p:ext uri="{BB962C8B-B14F-4D97-AF65-F5344CB8AC3E}">
        <p14:creationId xmlns:p14="http://schemas.microsoft.com/office/powerpoint/2010/main" val="115769642"/>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atin typeface="Arial" pitchFamily="34" charset="0"/>
                <a:cs typeface="Arial" pitchFamily="34" charset="0"/>
              </a:defRPr>
            </a:lvl1pPr>
          </a:lstStyle>
          <a:p>
            <a:pPr>
              <a:defRPr/>
            </a:pPr>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atin typeface="Arial" pitchFamily="34" charset="0"/>
                <a:cs typeface="Arial" pitchFamily="34" charset="0"/>
              </a:defRPr>
            </a:lvl1pPr>
          </a:lstStyle>
          <a:p>
            <a:pPr>
              <a:defRPr/>
            </a:pPr>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pPr lvl="0"/>
            <a:endParaRPr lang="en-US" noProof="0"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atin typeface="Arial" pitchFamily="34" charset="0"/>
                <a:cs typeface="Arial" pitchFamily="34" charset="0"/>
              </a:defRPr>
            </a:lvl1pPr>
          </a:lstStyle>
          <a:p>
            <a:pPr>
              <a:defRPr/>
            </a:pPr>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atin typeface="Arial" pitchFamily="34" charset="0"/>
                <a:cs typeface="Arial" pitchFamily="34" charset="0"/>
              </a:defRPr>
            </a:lvl1pPr>
          </a:lstStyle>
          <a:p>
            <a:pPr>
              <a:defRPr/>
            </a:pPr>
            <a:fld id="{BB5BB344-7644-4F24-A6E0-209AC9691763}" type="slidenum">
              <a:rPr lang="en-US"/>
              <a:pPr>
                <a:defRPr/>
              </a:pPr>
              <a:t>‹#›</a:t>
            </a:fld>
            <a:endParaRPr lang="en-US" dirty="0"/>
          </a:p>
        </p:txBody>
      </p:sp>
    </p:spTree>
    <p:extLst>
      <p:ext uri="{BB962C8B-B14F-4D97-AF65-F5344CB8AC3E}">
        <p14:creationId xmlns:p14="http://schemas.microsoft.com/office/powerpoint/2010/main" val="2109458675"/>
      </p:ext>
    </p:extLst>
  </p:cSld>
  <p:clrMap bg1="lt1" tx1="dk1" bg2="lt2" tx2="dk2" accent1="accent1" accent2="accent2" accent3="accent3" accent4="accent4" accent5="accent5" accent6="accent6" hlink="hlink" folHlink="folHlink"/>
  <p:hf hdr="0" ftr="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defTabSz="931774" eaLnBrk="1" fontAlgn="auto">
              <a:spcBef>
                <a:spcPts val="0"/>
              </a:spcBef>
              <a:spcAft>
                <a:spcPts val="0"/>
              </a:spcAft>
              <a:defRPr/>
            </a:pPr>
            <a:endParaRPr lang="en-US" dirty="0"/>
          </a:p>
        </p:txBody>
      </p:sp>
      <p:sp>
        <p:nvSpPr>
          <p:cNvPr id="358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DC3197EF-CAF0-46C3-8FB9-B9EAD91BD989}" type="slidenum">
              <a:rPr lang="en-US" altLang="en-US" smtClean="0">
                <a:latin typeface="Arial" charset="0"/>
                <a:cs typeface="Arial" charset="0"/>
              </a:rPr>
              <a:pPr eaLnBrk="1" hangingPunct="1">
                <a:spcBef>
                  <a:spcPct val="0"/>
                </a:spcBef>
              </a:pPr>
              <a:t>1</a:t>
            </a:fld>
            <a:endParaRPr lang="en-US" altLang="en-US">
              <a:latin typeface="Arial" charset="0"/>
              <a:cs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73522348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4" name="Picture 6" descr="blank chapter title icon for ppt from book copy.png"/>
          <p:cNvPicPr>
            <a:picLocks noChangeAspect="1"/>
          </p:cNvPicPr>
          <p:nvPr/>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0" y="1401763"/>
            <a:ext cx="9144000" cy="4054475"/>
          </a:xfrm>
          <a:prstGeom prst="rect">
            <a:avLst/>
          </a:prstGeom>
          <a:solidFill>
            <a:srgbClr val="C00000"/>
          </a:solidFill>
          <a:ln>
            <a:noFill/>
          </a:ln>
        </p:spPr>
      </p:pic>
      <p:sp>
        <p:nvSpPr>
          <p:cNvPr id="3" name="Subtitle 2"/>
          <p:cNvSpPr>
            <a:spLocks noGrp="1"/>
          </p:cNvSpPr>
          <p:nvPr>
            <p:ph type="subTitle" idx="1"/>
          </p:nvPr>
        </p:nvSpPr>
        <p:spPr>
          <a:xfrm>
            <a:off x="304800" y="3200400"/>
            <a:ext cx="5638800" cy="1600200"/>
          </a:xfrm>
        </p:spPr>
        <p:txBody>
          <a:bodyPr anchor="ctr"/>
          <a:lstStyle>
            <a:lvl1pPr marL="0" indent="0" algn="ctr">
              <a:buNone/>
              <a:defRPr b="1">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9" name="Text Placeholder 2"/>
          <p:cNvSpPr>
            <a:spLocks noGrp="1"/>
          </p:cNvSpPr>
          <p:nvPr>
            <p:ph type="body" idx="13"/>
          </p:nvPr>
        </p:nvSpPr>
        <p:spPr>
          <a:xfrm>
            <a:off x="533400" y="1828800"/>
            <a:ext cx="4572000" cy="890587"/>
          </a:xfrm>
        </p:spPr>
        <p:txBody>
          <a:bodyPr anchor="ctr"/>
          <a:lstStyle>
            <a:lvl1pPr marL="0" indent="0">
              <a:buNone/>
              <a:defRPr sz="3200" b="1">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5" name="Date Placeholder 3"/>
          <p:cNvSpPr>
            <a:spLocks noGrp="1"/>
          </p:cNvSpPr>
          <p:nvPr>
            <p:ph type="dt" sz="half" idx="14"/>
          </p:nvPr>
        </p:nvSpPr>
        <p:spPr/>
        <p:txBody>
          <a:bodyPr/>
          <a:lstStyle>
            <a:lvl1pPr>
              <a:defRPr/>
            </a:lvl1pPr>
          </a:lstStyle>
          <a:p>
            <a:pPr>
              <a:defRPr/>
            </a:pPr>
            <a:fld id="{1D577DCA-080C-4D28-AA19-F169990FC464}" type="datetimeFigureOut">
              <a:rPr lang="en-US"/>
              <a:pPr>
                <a:defRPr/>
              </a:pPr>
              <a:t>3/16/2021</a:t>
            </a:fld>
            <a:endParaRPr lang="en-US" dirty="0"/>
          </a:p>
        </p:txBody>
      </p:sp>
      <p:sp>
        <p:nvSpPr>
          <p:cNvPr id="6" name="Footer Placeholder 4"/>
          <p:cNvSpPr>
            <a:spLocks noGrp="1"/>
          </p:cNvSpPr>
          <p:nvPr>
            <p:ph type="ftr" sz="quarter" idx="15"/>
          </p:nvPr>
        </p:nvSpPr>
        <p:spPr/>
        <p:txBody>
          <a:bodyPr/>
          <a:lstStyle>
            <a:lvl1pPr>
              <a:defRPr/>
            </a:lvl1pPr>
          </a:lstStyle>
          <a:p>
            <a:pPr>
              <a:defRPr/>
            </a:pPr>
            <a:endParaRPr lang="en-US"/>
          </a:p>
        </p:txBody>
      </p:sp>
      <p:sp>
        <p:nvSpPr>
          <p:cNvPr id="7" name="Slide Number Placeholder 5"/>
          <p:cNvSpPr>
            <a:spLocks noGrp="1"/>
          </p:cNvSpPr>
          <p:nvPr>
            <p:ph type="sldNum" sz="quarter" idx="16"/>
          </p:nvPr>
        </p:nvSpPr>
        <p:spPr/>
        <p:txBody>
          <a:bodyPr/>
          <a:lstStyle>
            <a:lvl1pPr>
              <a:defRPr/>
            </a:lvl1pPr>
          </a:lstStyle>
          <a:p>
            <a:pPr>
              <a:defRPr/>
            </a:pPr>
            <a:fld id="{6F028491-C706-45B3-A9AA-7CF125922783}" type="slidenum">
              <a:rPr lang="en-US"/>
              <a:pPr>
                <a:defRPr/>
              </a:pPr>
              <a:t>‹#›</a:t>
            </a:fld>
            <a:endParaRPr lang="en-US" dirty="0"/>
          </a:p>
        </p:txBody>
      </p:sp>
    </p:spTree>
    <p:extLst>
      <p:ext uri="{BB962C8B-B14F-4D97-AF65-F5344CB8AC3E}">
        <p14:creationId xmlns:p14="http://schemas.microsoft.com/office/powerpoint/2010/main" val="37610251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Rectangle 3"/>
          <p:cNvSpPr/>
          <p:nvPr/>
        </p:nvSpPr>
        <p:spPr>
          <a:xfrm>
            <a:off x="0" y="0"/>
            <a:ext cx="9144000" cy="228600"/>
          </a:xfrm>
          <a:prstGeom prst="rect">
            <a:avLst/>
          </a:prstGeom>
          <a:solidFill>
            <a:schemeClr val="accent1">
              <a:lumMod val="75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3" name="Content Placeholder 2"/>
          <p:cNvSpPr>
            <a:spLocks noGrp="1"/>
          </p:cNvSpPr>
          <p:nvPr>
            <p:ph idx="1"/>
          </p:nvPr>
        </p:nvSpPr>
        <p:spPr/>
        <p:txBody>
          <a:bodyPr/>
          <a:lstStyle>
            <a:lvl1pPr>
              <a:buClr>
                <a:schemeClr val="accent2"/>
              </a:buClr>
              <a:buSzPct val="100000"/>
              <a:buFont typeface="Calibri" pitchFamily="34" charset="0"/>
              <a:buChar char="•"/>
              <a:defRPr/>
            </a:lvl1pPr>
            <a:lvl2pPr marL="742950" indent="-285750">
              <a:buClr>
                <a:srgbClr val="C00000"/>
              </a:buClr>
              <a:buSzPct val="100000"/>
              <a:buFont typeface="Courier New" panose="02070309020205020404" pitchFamily="49" charset="0"/>
              <a:buChar char="o"/>
              <a:defRPr/>
            </a:lvl2pPr>
            <a:lvl3pPr marL="1143000" indent="-228600">
              <a:buClr>
                <a:schemeClr val="accent2"/>
              </a:buClr>
              <a:buSzPct val="100000"/>
              <a:buFont typeface="Wingdings" panose="05000000000000000000" pitchFamily="2" charset="2"/>
              <a:buChar char="§"/>
              <a:defRPr/>
            </a:lvl3pPr>
            <a:lvl4pPr marL="1600200" indent="-228600">
              <a:buClr>
                <a:schemeClr val="accent1">
                  <a:lumMod val="75000"/>
                </a:schemeClr>
              </a:buClr>
              <a:buSzPct val="100000"/>
              <a:buFont typeface="Wingdings" panose="05000000000000000000" pitchFamily="2" charset="2"/>
              <a:buChar char="Ø"/>
              <a:defRPr/>
            </a:lvl4pPr>
            <a:lvl5pPr marL="2057400" indent="-228600">
              <a:buClr>
                <a:srgbClr val="C00000"/>
              </a:buClr>
              <a:buSzPct val="100000"/>
              <a:buFont typeface="Wingdings" panose="05000000000000000000" pitchFamily="2" charset="2"/>
              <a:buChar char="ü"/>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EE6C7F1E-44E2-425C-BE64-07694BFA9178}"/>
              </a:ext>
            </a:extLst>
          </p:cNvPr>
          <p:cNvSpPr>
            <a:spLocks noGrp="1"/>
          </p:cNvSpPr>
          <p:nvPr>
            <p:ph type="title"/>
          </p:nvPr>
        </p:nvSpPr>
        <p:spPr/>
        <p:txBody>
          <a:bodyPr/>
          <a:lstStyle/>
          <a:p>
            <a:r>
              <a:rPr lang="en-US"/>
              <a:t>Click to edit Master title style</a:t>
            </a:r>
            <a:endParaRPr lang="en-GB"/>
          </a:p>
        </p:txBody>
      </p:sp>
      <p:sp>
        <p:nvSpPr>
          <p:cNvPr id="9" name="Date Placeholder 8">
            <a:extLst>
              <a:ext uri="{FF2B5EF4-FFF2-40B4-BE49-F238E27FC236}">
                <a16:creationId xmlns:a16="http://schemas.microsoft.com/office/drawing/2014/main" id="{EAFEB67A-4843-46C1-9AFE-7C4C0C032EFD}"/>
              </a:ext>
            </a:extLst>
          </p:cNvPr>
          <p:cNvSpPr>
            <a:spLocks noGrp="1"/>
          </p:cNvSpPr>
          <p:nvPr>
            <p:ph type="dt" sz="half" idx="10"/>
          </p:nvPr>
        </p:nvSpPr>
        <p:spPr/>
        <p:txBody>
          <a:bodyPr/>
          <a:lstStyle/>
          <a:p>
            <a:pPr>
              <a:defRPr/>
            </a:pPr>
            <a:fld id="{05BD23F6-244A-4E03-BAE6-C2A33693709E}" type="datetimeFigureOut">
              <a:rPr lang="en-US" smtClean="0"/>
              <a:pPr>
                <a:defRPr/>
              </a:pPr>
              <a:t>3/16/2021</a:t>
            </a:fld>
            <a:endParaRPr lang="en-US" dirty="0"/>
          </a:p>
        </p:txBody>
      </p:sp>
      <p:sp>
        <p:nvSpPr>
          <p:cNvPr id="10" name="Footer Placeholder 9">
            <a:extLst>
              <a:ext uri="{FF2B5EF4-FFF2-40B4-BE49-F238E27FC236}">
                <a16:creationId xmlns:a16="http://schemas.microsoft.com/office/drawing/2014/main" id="{C3E78C99-43B6-4F10-A96F-AD5CE17622BD}"/>
              </a:ext>
            </a:extLst>
          </p:cNvPr>
          <p:cNvSpPr>
            <a:spLocks noGrp="1"/>
          </p:cNvSpPr>
          <p:nvPr>
            <p:ph type="ftr" sz="quarter" idx="11"/>
          </p:nvPr>
        </p:nvSpPr>
        <p:spPr/>
        <p:txBody>
          <a:bodyPr/>
          <a:lstStyle/>
          <a:p>
            <a:pPr>
              <a:defRPr/>
            </a:pPr>
            <a:endParaRPr lang="en-US"/>
          </a:p>
        </p:txBody>
      </p:sp>
      <p:sp>
        <p:nvSpPr>
          <p:cNvPr id="11" name="Slide Number Placeholder 10">
            <a:extLst>
              <a:ext uri="{FF2B5EF4-FFF2-40B4-BE49-F238E27FC236}">
                <a16:creationId xmlns:a16="http://schemas.microsoft.com/office/drawing/2014/main" id="{E9991FDF-E9C8-477B-B812-4E1F9957DF45}"/>
              </a:ext>
            </a:extLst>
          </p:cNvPr>
          <p:cNvSpPr>
            <a:spLocks noGrp="1"/>
          </p:cNvSpPr>
          <p:nvPr>
            <p:ph type="sldNum" sz="quarter" idx="12"/>
          </p:nvPr>
        </p:nvSpPr>
        <p:spPr/>
        <p:txBody>
          <a:bodyPr/>
          <a:lstStyle/>
          <a:p>
            <a:pPr>
              <a:defRPr/>
            </a:pPr>
            <a:fld id="{310609F6-E883-4B4A-AC96-B2A8073F0199}" type="slidenum">
              <a:rPr lang="en-US" smtClean="0"/>
              <a:pPr>
                <a:defRPr/>
              </a:pPr>
              <a:t>‹#›</a:t>
            </a:fld>
            <a:endParaRPr lang="en-US" dirty="0"/>
          </a:p>
        </p:txBody>
      </p:sp>
    </p:spTree>
    <p:extLst>
      <p:ext uri="{BB962C8B-B14F-4D97-AF65-F5344CB8AC3E}">
        <p14:creationId xmlns:p14="http://schemas.microsoft.com/office/powerpoint/2010/main" val="42465654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4" name="Picture 6" descr="blank title icon for ppt from book copy.png"/>
          <p:cNvPicPr>
            <a:picLocks noChangeAspect="1"/>
          </p:cNvPicPr>
          <p:nvPr/>
        </p:nvPicPr>
        <p:blipFill>
          <a:blip r:embed="rId2">
            <a:duotone>
              <a:prstClr val="black"/>
              <a:schemeClr val="accent1">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0" y="838200"/>
            <a:ext cx="9144000" cy="260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724400" y="838200"/>
            <a:ext cx="4419600" cy="2667001"/>
          </a:xfrm>
        </p:spPr>
        <p:txBody>
          <a:bodyPr>
            <a:normAutofit/>
          </a:bodyPr>
          <a:lstStyle>
            <a:lvl1pPr algn="l">
              <a:defRPr sz="3200" b="1" cap="none">
                <a:solidFill>
                  <a:schemeClr val="tx1">
                    <a:lumMod val="65000"/>
                    <a:lumOff val="35000"/>
                  </a:schemeClr>
                </a:solidFill>
              </a:defRPr>
            </a:lvl1pPr>
          </a:lstStyle>
          <a:p>
            <a:r>
              <a:rPr lang="en-US" dirty="0"/>
              <a:t>Click to edit Master title style</a:t>
            </a:r>
          </a:p>
        </p:txBody>
      </p:sp>
      <p:sp>
        <p:nvSpPr>
          <p:cNvPr id="3" name="Text Placeholder 2"/>
          <p:cNvSpPr>
            <a:spLocks noGrp="1"/>
          </p:cNvSpPr>
          <p:nvPr>
            <p:ph type="body" idx="1"/>
          </p:nvPr>
        </p:nvSpPr>
        <p:spPr>
          <a:xfrm>
            <a:off x="304800" y="1905000"/>
            <a:ext cx="3352800" cy="890587"/>
          </a:xfrm>
        </p:spPr>
        <p:txBody>
          <a:bodyPr anchor="ctr"/>
          <a:lstStyle>
            <a:lvl1pPr marL="0" indent="0">
              <a:buNone/>
              <a:defRPr sz="20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F3FBCB08-CCC5-4BC2-B041-71FDDC65690E}" type="datetimeFigureOut">
              <a:rPr lang="en-US"/>
              <a:pPr>
                <a:defRPr/>
              </a:pPr>
              <a:t>3/16/2021</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BED24D11-839A-41BD-9F93-F4F22BC2A766}" type="slidenum">
              <a:rPr lang="en-US"/>
              <a:pPr>
                <a:defRPr/>
              </a:pPr>
              <a:t>‹#›</a:t>
            </a:fld>
            <a:endParaRPr lang="en-US" dirty="0"/>
          </a:p>
        </p:txBody>
      </p:sp>
    </p:spTree>
    <p:extLst>
      <p:ext uri="{BB962C8B-B14F-4D97-AF65-F5344CB8AC3E}">
        <p14:creationId xmlns:p14="http://schemas.microsoft.com/office/powerpoint/2010/main" val="8595666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Rectangle 4"/>
          <p:cNvSpPr/>
          <p:nvPr/>
        </p:nvSpPr>
        <p:spPr>
          <a:xfrm>
            <a:off x="0" y="0"/>
            <a:ext cx="9144000" cy="228600"/>
          </a:xfrm>
          <a:prstGeom prst="rect">
            <a:avLst/>
          </a:prstGeom>
          <a:solidFill>
            <a:schemeClr val="accent1">
              <a:lumMod val="75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2" name="Title 1"/>
          <p:cNvSpPr>
            <a:spLocks noGrp="1"/>
          </p:cNvSpPr>
          <p:nvPr>
            <p:ph type="title"/>
          </p:nvPr>
        </p:nvSpPr>
        <p:spPr/>
        <p:txBody>
          <a:bodyPr/>
          <a:lstStyle>
            <a:lvl1pPr>
              <a:defRPr>
                <a:solidFill>
                  <a:schemeClr val="accent2"/>
                </a:solidFill>
              </a:defRPr>
            </a:lvl1pPr>
          </a:lstStyle>
          <a:p>
            <a:r>
              <a:rPr lang="en-US" dirty="0"/>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buClr>
                <a:schemeClr val="accent2"/>
              </a:buClr>
              <a:buSzPct val="100000"/>
              <a:buFont typeface="Arial" pitchFamily="34" charset="0"/>
              <a:buChar char="•"/>
              <a:defRPr sz="2800"/>
            </a:lvl1pPr>
            <a:lvl2pPr marL="742950" indent="-285750">
              <a:buClr>
                <a:schemeClr val="accent2"/>
              </a:buClr>
              <a:buSzPct val="100000"/>
              <a:buFont typeface="Courier New" panose="02070309020205020404" pitchFamily="49" charset="0"/>
              <a:buChar char="o"/>
              <a:defRPr sz="2400"/>
            </a:lvl2pPr>
            <a:lvl3pPr marL="1143000" indent="-228600">
              <a:buClr>
                <a:srgbClr val="C00000"/>
              </a:buClr>
              <a:buSzPct val="100000"/>
              <a:buFont typeface="Wingdings" panose="05000000000000000000" pitchFamily="2" charset="2"/>
              <a:buChar char="v"/>
              <a:defRPr sz="2000"/>
            </a:lvl3pPr>
            <a:lvl4pPr marL="1600200" indent="-228600">
              <a:buClr>
                <a:schemeClr val="accent2"/>
              </a:buClr>
              <a:buSzPct val="100000"/>
              <a:buFont typeface="Wingdings" panose="05000000000000000000" pitchFamily="2" charset="2"/>
              <a:buChar char="Ø"/>
              <a:defRPr sz="1800"/>
            </a:lvl4pPr>
            <a:lvl5pPr marL="2057400" indent="-228600">
              <a:buClr>
                <a:srgbClr val="C00000"/>
              </a:buClr>
              <a:buSzPct val="100000"/>
              <a:buFont typeface="Wingdings" panose="05000000000000000000" pitchFamily="2" charset="2"/>
              <a:buChar char="ü"/>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600200"/>
            <a:ext cx="4038600" cy="4525963"/>
          </a:xfrm>
        </p:spPr>
        <p:txBody>
          <a:bodyPr/>
          <a:lstStyle>
            <a:lvl1pPr marL="342900" indent="-342900">
              <a:buClr>
                <a:schemeClr val="accent2"/>
              </a:buClr>
              <a:buSzPct val="100000"/>
              <a:buFont typeface="Arial" panose="020B0604020202020204" pitchFamily="34" charset="0"/>
              <a:buChar char="•"/>
              <a:defRPr sz="2800"/>
            </a:lvl1pPr>
            <a:lvl2pPr marL="742950" indent="-285750">
              <a:buClr>
                <a:schemeClr val="accent2"/>
              </a:buClr>
              <a:buSzPct val="100000"/>
              <a:buFont typeface="Courier New" panose="02070309020205020404" pitchFamily="49" charset="0"/>
              <a:buChar char="o"/>
              <a:defRPr sz="2400"/>
            </a:lvl2pPr>
            <a:lvl3pPr marL="1143000" indent="-228600">
              <a:buClr>
                <a:schemeClr val="accent2"/>
              </a:buClr>
              <a:buSzPct val="100000"/>
              <a:buFont typeface="Wingdings" panose="05000000000000000000" pitchFamily="2" charset="2"/>
              <a:buChar char="v"/>
              <a:defRPr sz="2000"/>
            </a:lvl3pPr>
            <a:lvl4pPr marL="1600200" indent="-228600">
              <a:buClr>
                <a:schemeClr val="accent2"/>
              </a:buClr>
              <a:buSzPct val="100000"/>
              <a:buFont typeface="Wingdings" panose="05000000000000000000" pitchFamily="2" charset="2"/>
              <a:buChar char="Ø"/>
              <a:defRPr sz="1800"/>
            </a:lvl4pPr>
            <a:lvl5pPr marL="2171700" indent="-342900">
              <a:buClr>
                <a:schemeClr val="accent2"/>
              </a:buClr>
              <a:buSzPct val="100000"/>
              <a:buFont typeface="Wingdings" panose="05000000000000000000" pitchFamily="2" charset="2"/>
              <a:buChar char="ü"/>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4"/>
          <p:cNvSpPr>
            <a:spLocks noGrp="1"/>
          </p:cNvSpPr>
          <p:nvPr>
            <p:ph type="dt" sz="half" idx="10"/>
          </p:nvPr>
        </p:nvSpPr>
        <p:spPr/>
        <p:txBody>
          <a:bodyPr/>
          <a:lstStyle>
            <a:lvl1pPr>
              <a:defRPr/>
            </a:lvl1pPr>
          </a:lstStyle>
          <a:p>
            <a:pPr>
              <a:defRPr/>
            </a:pPr>
            <a:fld id="{8EB75665-02B0-4B57-B215-97B42AFF8BCB}" type="datetimeFigureOut">
              <a:rPr lang="en-US"/>
              <a:pPr>
                <a:defRPr/>
              </a:pPr>
              <a:t>3/16/2021</a:t>
            </a:fld>
            <a:endParaRPr lang="en-US" dirty="0"/>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pPr>
              <a:defRPr/>
            </a:pPr>
            <a:fld id="{21ADBE1B-A2E7-4FCA-82ED-CEAA65568B20}" type="slidenum">
              <a:rPr lang="en-US"/>
              <a:pPr>
                <a:defRPr/>
              </a:pPr>
              <a:t>‹#›</a:t>
            </a:fld>
            <a:endParaRPr lang="en-US" dirty="0"/>
          </a:p>
        </p:txBody>
      </p:sp>
    </p:spTree>
    <p:extLst>
      <p:ext uri="{BB962C8B-B14F-4D97-AF65-F5344CB8AC3E}">
        <p14:creationId xmlns:p14="http://schemas.microsoft.com/office/powerpoint/2010/main" val="11356613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7" name="Rectangle 6"/>
          <p:cNvSpPr/>
          <p:nvPr/>
        </p:nvSpPr>
        <p:spPr>
          <a:xfrm>
            <a:off x="0" y="0"/>
            <a:ext cx="9144000" cy="228600"/>
          </a:xfrm>
          <a:prstGeom prst="rect">
            <a:avLst/>
          </a:prstGeom>
          <a:solidFill>
            <a:schemeClr val="accent2"/>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2" name="Title 1"/>
          <p:cNvSpPr>
            <a:spLocks noGrp="1"/>
          </p:cNvSpPr>
          <p:nvPr>
            <p:ph type="title"/>
          </p:nvPr>
        </p:nvSpPr>
        <p:spPr/>
        <p:txBody>
          <a:bodyPr/>
          <a:lstStyle>
            <a:lvl1pPr>
              <a:defRPr>
                <a:solidFill>
                  <a:schemeClr val="accent2"/>
                </a:solidFill>
              </a:defRPr>
            </a:lvl1pPr>
          </a:lstStyle>
          <a:p>
            <a:r>
              <a:rPr lang="en-US" dirty="0"/>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buClr>
                <a:schemeClr val="accent2"/>
              </a:buClr>
              <a:buSzPct val="100000"/>
              <a:buFont typeface="Arial" pitchFamily="34" charset="0"/>
              <a:buChar char="•"/>
              <a:defRPr sz="2400"/>
            </a:lvl1pPr>
            <a:lvl2pPr marL="742950" indent="-285750">
              <a:buClr>
                <a:srgbClr val="C00000"/>
              </a:buClr>
              <a:buSzPct val="100000"/>
              <a:buFont typeface="Courier New" panose="02070309020205020404" pitchFamily="49" charset="0"/>
              <a:buChar char="o"/>
              <a:defRPr sz="2000"/>
            </a:lvl2pPr>
            <a:lvl3pPr marL="1143000" indent="-228600">
              <a:buClr>
                <a:srgbClr val="C00000"/>
              </a:buClr>
              <a:buSzPct val="100000"/>
              <a:buFont typeface="Wingdings" panose="05000000000000000000" pitchFamily="2" charset="2"/>
              <a:buChar char="v"/>
              <a:defRPr sz="1800"/>
            </a:lvl3pPr>
            <a:lvl4pPr marL="1600200" indent="-228600">
              <a:buClr>
                <a:srgbClr val="C00000"/>
              </a:buClr>
              <a:buSzPct val="100000"/>
              <a:buFont typeface="Wingdings" panose="05000000000000000000" pitchFamily="2" charset="2"/>
              <a:buChar char="Ø"/>
              <a:defRPr sz="1600"/>
            </a:lvl4pPr>
            <a:lvl5pPr marL="2057400" indent="-228600">
              <a:buClr>
                <a:srgbClr val="C00000"/>
              </a:buClr>
              <a:buSzPct val="100000"/>
              <a:buFont typeface="Wingdings" panose="05000000000000000000" pitchFamily="2" charset="2"/>
              <a:buChar char="ü"/>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buClr>
                <a:srgbClr val="C00000"/>
              </a:buClr>
              <a:buSzPct val="100000"/>
              <a:buFont typeface="Arial" pitchFamily="34" charset="0"/>
              <a:buChar char="•"/>
              <a:defRPr sz="2400"/>
            </a:lvl1pPr>
            <a:lvl2pPr marL="742950" indent="-285750">
              <a:buClr>
                <a:srgbClr val="C00000"/>
              </a:buClr>
              <a:buSzPct val="100000"/>
              <a:buFont typeface="Courier New" panose="02070309020205020404" pitchFamily="49" charset="0"/>
              <a:buChar char="o"/>
              <a:defRPr sz="2000"/>
            </a:lvl2pPr>
            <a:lvl3pPr marL="1143000" indent="-228600">
              <a:buClr>
                <a:srgbClr val="C00000"/>
              </a:buClr>
              <a:buSzPct val="100000"/>
              <a:buFont typeface="Wingdings" panose="05000000000000000000" pitchFamily="2" charset="2"/>
              <a:buChar char="v"/>
              <a:defRPr sz="1800"/>
            </a:lvl3pPr>
            <a:lvl4pPr marL="1600200" indent="-228600">
              <a:buClr>
                <a:srgbClr val="C00000"/>
              </a:buClr>
              <a:buSzPct val="100000"/>
              <a:buFont typeface="Wingdings" panose="05000000000000000000" pitchFamily="2" charset="2"/>
              <a:buChar char="Ø"/>
              <a:defRPr sz="1600"/>
            </a:lvl4pPr>
            <a:lvl5pPr marL="2057400" indent="-228600">
              <a:buClr>
                <a:srgbClr val="C00000"/>
              </a:buClr>
              <a:buSzPct val="100000"/>
              <a:buFont typeface="Wingdings" panose="05000000000000000000" pitchFamily="2" charset="2"/>
              <a:buChar char="ü"/>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6"/>
          <p:cNvSpPr>
            <a:spLocks noGrp="1"/>
          </p:cNvSpPr>
          <p:nvPr>
            <p:ph type="dt" sz="half" idx="10"/>
          </p:nvPr>
        </p:nvSpPr>
        <p:spPr/>
        <p:txBody>
          <a:bodyPr/>
          <a:lstStyle>
            <a:lvl1pPr>
              <a:defRPr/>
            </a:lvl1pPr>
          </a:lstStyle>
          <a:p>
            <a:pPr>
              <a:defRPr/>
            </a:pPr>
            <a:fld id="{287C7704-79CC-4676-9AC4-96A6AA016FB9}" type="datetimeFigureOut">
              <a:rPr lang="en-US"/>
              <a:pPr>
                <a:defRPr/>
              </a:pPr>
              <a:t>3/16/2021</a:t>
            </a:fld>
            <a:endParaRPr lang="en-US" dirty="0"/>
          </a:p>
        </p:txBody>
      </p:sp>
      <p:sp>
        <p:nvSpPr>
          <p:cNvPr id="9" name="Footer Placeholder 7"/>
          <p:cNvSpPr>
            <a:spLocks noGrp="1"/>
          </p:cNvSpPr>
          <p:nvPr>
            <p:ph type="ftr" sz="quarter" idx="11"/>
          </p:nvPr>
        </p:nvSpPr>
        <p:spPr/>
        <p:txBody>
          <a:bodyPr/>
          <a:lstStyle>
            <a:lvl1pPr>
              <a:defRPr/>
            </a:lvl1pPr>
          </a:lstStyle>
          <a:p>
            <a:pPr>
              <a:defRPr/>
            </a:pPr>
            <a:endParaRPr lang="en-US"/>
          </a:p>
        </p:txBody>
      </p:sp>
      <p:sp>
        <p:nvSpPr>
          <p:cNvPr id="10" name="Slide Number Placeholder 8"/>
          <p:cNvSpPr>
            <a:spLocks noGrp="1"/>
          </p:cNvSpPr>
          <p:nvPr>
            <p:ph type="sldNum" sz="quarter" idx="12"/>
          </p:nvPr>
        </p:nvSpPr>
        <p:spPr/>
        <p:txBody>
          <a:bodyPr/>
          <a:lstStyle>
            <a:lvl1pPr>
              <a:defRPr/>
            </a:lvl1pPr>
          </a:lstStyle>
          <a:p>
            <a:pPr>
              <a:defRPr/>
            </a:pPr>
            <a:fld id="{0999526A-2092-4DD0-8C94-FBD39C62F96F}" type="slidenum">
              <a:rPr lang="en-US"/>
              <a:pPr>
                <a:defRPr/>
              </a:pPr>
              <a:t>‹#›</a:t>
            </a:fld>
            <a:endParaRPr lang="en-US" dirty="0"/>
          </a:p>
        </p:txBody>
      </p:sp>
    </p:spTree>
    <p:extLst>
      <p:ext uri="{BB962C8B-B14F-4D97-AF65-F5344CB8AC3E}">
        <p14:creationId xmlns:p14="http://schemas.microsoft.com/office/powerpoint/2010/main" val="9050838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Rectangle 2"/>
          <p:cNvSpPr/>
          <p:nvPr/>
        </p:nvSpPr>
        <p:spPr>
          <a:xfrm>
            <a:off x="0" y="0"/>
            <a:ext cx="9144000" cy="228600"/>
          </a:xfrm>
          <a:prstGeom prst="rect">
            <a:avLst/>
          </a:prstGeom>
          <a:solidFill>
            <a:schemeClr val="accent2"/>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p:txBody>
          <a:bodyPr/>
          <a:lstStyle>
            <a:lvl1pPr>
              <a:defRPr>
                <a:solidFill>
                  <a:schemeClr val="accent2"/>
                </a:solidFill>
              </a:defRPr>
            </a:lvl1pPr>
          </a:lstStyle>
          <a:p>
            <a:r>
              <a:rPr lang="en-US" dirty="0"/>
              <a:t>Click to edit Master title style</a:t>
            </a:r>
          </a:p>
        </p:txBody>
      </p:sp>
      <p:sp>
        <p:nvSpPr>
          <p:cNvPr id="4" name="Date Placeholder 2"/>
          <p:cNvSpPr>
            <a:spLocks noGrp="1"/>
          </p:cNvSpPr>
          <p:nvPr>
            <p:ph type="dt" sz="half" idx="10"/>
          </p:nvPr>
        </p:nvSpPr>
        <p:spPr/>
        <p:txBody>
          <a:bodyPr/>
          <a:lstStyle>
            <a:lvl1pPr>
              <a:defRPr/>
            </a:lvl1pPr>
          </a:lstStyle>
          <a:p>
            <a:pPr>
              <a:defRPr/>
            </a:pPr>
            <a:fld id="{CB7FA3B8-74EA-45ED-B799-737CA6822B89}" type="datetimeFigureOut">
              <a:rPr lang="en-US"/>
              <a:pPr>
                <a:defRPr/>
              </a:pPr>
              <a:t>3/16/2021</a:t>
            </a:fld>
            <a:endParaRPr lang="en-US" dirty="0"/>
          </a:p>
        </p:txBody>
      </p:sp>
      <p:sp>
        <p:nvSpPr>
          <p:cNvPr id="5" name="Footer Placeholder 3"/>
          <p:cNvSpPr>
            <a:spLocks noGrp="1"/>
          </p:cNvSpPr>
          <p:nvPr>
            <p:ph type="ftr" sz="quarter" idx="11"/>
          </p:nvPr>
        </p:nvSpPr>
        <p:spPr/>
        <p:txBody>
          <a:bodyPr/>
          <a:lstStyle>
            <a:lvl1pPr>
              <a:defRPr/>
            </a:lvl1pPr>
          </a:lstStyle>
          <a:p>
            <a:pPr>
              <a:defRPr/>
            </a:pPr>
            <a:endParaRPr lang="en-US"/>
          </a:p>
        </p:txBody>
      </p:sp>
      <p:sp>
        <p:nvSpPr>
          <p:cNvPr id="6" name="Slide Number Placeholder 4"/>
          <p:cNvSpPr>
            <a:spLocks noGrp="1"/>
          </p:cNvSpPr>
          <p:nvPr>
            <p:ph type="sldNum" sz="quarter" idx="12"/>
          </p:nvPr>
        </p:nvSpPr>
        <p:spPr/>
        <p:txBody>
          <a:bodyPr/>
          <a:lstStyle>
            <a:lvl1pPr>
              <a:defRPr/>
            </a:lvl1pPr>
          </a:lstStyle>
          <a:p>
            <a:pPr>
              <a:defRPr/>
            </a:pPr>
            <a:fld id="{3C6FDBD4-B13A-4BA4-B202-D15934A6172B}" type="slidenum">
              <a:rPr lang="en-US"/>
              <a:pPr>
                <a:defRPr/>
              </a:pPr>
              <a:t>‹#›</a:t>
            </a:fld>
            <a:endParaRPr lang="en-US" dirty="0"/>
          </a:p>
        </p:txBody>
      </p:sp>
    </p:spTree>
    <p:extLst>
      <p:ext uri="{BB962C8B-B14F-4D97-AF65-F5344CB8AC3E}">
        <p14:creationId xmlns:p14="http://schemas.microsoft.com/office/powerpoint/2010/main" val="17828303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
          <p:cNvSpPr/>
          <p:nvPr/>
        </p:nvSpPr>
        <p:spPr>
          <a:xfrm>
            <a:off x="0" y="0"/>
            <a:ext cx="9144000" cy="228600"/>
          </a:xfrm>
          <a:prstGeom prst="rect">
            <a:avLst/>
          </a:prstGeom>
          <a:solidFill>
            <a:schemeClr val="accent2"/>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 name="Date Placeholder 1"/>
          <p:cNvSpPr>
            <a:spLocks noGrp="1"/>
          </p:cNvSpPr>
          <p:nvPr>
            <p:ph type="dt" sz="half" idx="10"/>
          </p:nvPr>
        </p:nvSpPr>
        <p:spPr/>
        <p:txBody>
          <a:bodyPr/>
          <a:lstStyle>
            <a:lvl1pPr>
              <a:defRPr/>
            </a:lvl1pPr>
          </a:lstStyle>
          <a:p>
            <a:pPr>
              <a:defRPr/>
            </a:pPr>
            <a:fld id="{84ECAC4F-D8BA-4163-9AE8-00B0A8870D72}" type="datetimeFigureOut">
              <a:rPr lang="en-US"/>
              <a:pPr>
                <a:defRPr/>
              </a:pPr>
              <a:t>3/16/2021</a:t>
            </a:fld>
            <a:endParaRPr lang="en-US" dirty="0"/>
          </a:p>
        </p:txBody>
      </p:sp>
      <p:sp>
        <p:nvSpPr>
          <p:cNvPr id="4" name="Footer Placeholder 2"/>
          <p:cNvSpPr>
            <a:spLocks noGrp="1"/>
          </p:cNvSpPr>
          <p:nvPr>
            <p:ph type="ftr" sz="quarter" idx="11"/>
          </p:nvPr>
        </p:nvSpPr>
        <p:spPr/>
        <p:txBody>
          <a:bodyPr/>
          <a:lstStyle>
            <a:lvl1pPr>
              <a:defRPr/>
            </a:lvl1pPr>
          </a:lstStyle>
          <a:p>
            <a:pPr>
              <a:defRPr/>
            </a:pPr>
            <a:endParaRPr lang="en-US"/>
          </a:p>
        </p:txBody>
      </p:sp>
      <p:sp>
        <p:nvSpPr>
          <p:cNvPr id="5" name="Slide Number Placeholder 3"/>
          <p:cNvSpPr>
            <a:spLocks noGrp="1"/>
          </p:cNvSpPr>
          <p:nvPr>
            <p:ph type="sldNum" sz="quarter" idx="12"/>
          </p:nvPr>
        </p:nvSpPr>
        <p:spPr/>
        <p:txBody>
          <a:bodyPr/>
          <a:lstStyle>
            <a:lvl1pPr>
              <a:defRPr/>
            </a:lvl1pPr>
          </a:lstStyle>
          <a:p>
            <a:pPr>
              <a:defRPr/>
            </a:pPr>
            <a:fld id="{E1712C7B-B6D5-4C38-B9EC-F1D5B3BCCDE8}" type="slidenum">
              <a:rPr lang="en-US"/>
              <a:pPr>
                <a:defRPr/>
              </a:pPr>
              <a:t>‹#›</a:t>
            </a:fld>
            <a:endParaRPr lang="en-US" dirty="0"/>
          </a:p>
        </p:txBody>
      </p:sp>
    </p:spTree>
    <p:extLst>
      <p:ext uri="{BB962C8B-B14F-4D97-AF65-F5344CB8AC3E}">
        <p14:creationId xmlns:p14="http://schemas.microsoft.com/office/powerpoint/2010/main" val="41974797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Rectangle 4"/>
          <p:cNvSpPr/>
          <p:nvPr/>
        </p:nvSpPr>
        <p:spPr>
          <a:xfrm>
            <a:off x="0" y="0"/>
            <a:ext cx="9144000" cy="228600"/>
          </a:xfrm>
          <a:prstGeom prst="rect">
            <a:avLst/>
          </a:prstGeom>
          <a:solidFill>
            <a:schemeClr val="accent2"/>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457200" y="273050"/>
            <a:ext cx="3657600" cy="1162050"/>
          </a:xfrm>
        </p:spPr>
        <p:txBody>
          <a:bodyPr anchor="b"/>
          <a:lstStyle>
            <a:lvl1pPr algn="l">
              <a:defRPr sz="2400" b="1">
                <a:solidFill>
                  <a:schemeClr val="accent2"/>
                </a:solidFill>
              </a:defRPr>
            </a:lvl1pPr>
          </a:lstStyle>
          <a:p>
            <a:r>
              <a:rPr lang="en-US" dirty="0"/>
              <a:t>Click to edit Master title style</a:t>
            </a:r>
          </a:p>
        </p:txBody>
      </p:sp>
      <p:sp>
        <p:nvSpPr>
          <p:cNvPr id="3" name="Content Placeholder 2"/>
          <p:cNvSpPr>
            <a:spLocks noGrp="1"/>
          </p:cNvSpPr>
          <p:nvPr>
            <p:ph idx="1"/>
          </p:nvPr>
        </p:nvSpPr>
        <p:spPr>
          <a:xfrm>
            <a:off x="4419600" y="304800"/>
            <a:ext cx="4267200" cy="5821363"/>
          </a:xfrm>
        </p:spPr>
        <p:txBody>
          <a:bodyPr>
            <a:normAutofit/>
          </a:bodyPr>
          <a:lstStyle>
            <a:lvl1pPr>
              <a:buClr>
                <a:srgbClr val="C00000"/>
              </a:buClr>
              <a:buSzPct val="100000"/>
              <a:buFont typeface="Calibri" pitchFamily="34" charset="0"/>
              <a:buChar char="•"/>
              <a:defRPr sz="2400"/>
            </a:lvl1pPr>
            <a:lvl2pPr marL="742950" indent="-285750">
              <a:buClr>
                <a:schemeClr val="accent2"/>
              </a:buClr>
              <a:buSzPct val="100000"/>
              <a:buFont typeface="Courier New" panose="02070309020205020404" pitchFamily="49" charset="0"/>
              <a:buChar char="o"/>
              <a:defRPr sz="2000"/>
            </a:lvl2pPr>
            <a:lvl3pPr marL="1143000" indent="-228600">
              <a:buClr>
                <a:schemeClr val="accent2"/>
              </a:buClr>
              <a:buSzPct val="100000"/>
              <a:buFont typeface="Wingdings" panose="05000000000000000000" pitchFamily="2" charset="2"/>
              <a:buChar char="v"/>
              <a:defRPr sz="1800"/>
            </a:lvl3pPr>
            <a:lvl4pPr marL="1600200" indent="-228600">
              <a:buClr>
                <a:srgbClr val="C00000"/>
              </a:buClr>
              <a:buSzPct val="100000"/>
              <a:buFont typeface="Wingdings" panose="05000000000000000000" pitchFamily="2" charset="2"/>
              <a:buChar char="Ø"/>
              <a:defRPr sz="1600"/>
            </a:lvl4pPr>
            <a:lvl5pPr marL="2057400" indent="-228600">
              <a:buClr>
                <a:srgbClr val="C00000"/>
              </a:buClr>
              <a:buSzPct val="100000"/>
              <a:buFont typeface="Wingdings" panose="05000000000000000000" pitchFamily="2" charset="2"/>
              <a:buChar char="ü"/>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435100"/>
            <a:ext cx="3657600" cy="4691063"/>
          </a:xfrm>
        </p:spPr>
        <p:txBody>
          <a:bodyPr/>
          <a:lstStyle>
            <a:lvl1pPr marL="233363" indent="-233363">
              <a:buClr>
                <a:srgbClr val="C00000"/>
              </a:buClr>
              <a:buSzPct val="100000"/>
              <a:buFont typeface="Calibri" pitchFamily="34" charset="0"/>
              <a:buChar char="•"/>
              <a:defRPr sz="2000"/>
            </a:lvl1pPr>
            <a:lvl2pPr marL="690563" indent="-233363">
              <a:buClr>
                <a:srgbClr val="C00000"/>
              </a:buClr>
              <a:buSzPct val="100000"/>
              <a:buFont typeface="Courier New" panose="02070309020205020404" pitchFamily="49" charset="0"/>
              <a:buChar char="o"/>
              <a:defRPr sz="20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a:p>
            <a:pPr lvl="1"/>
            <a:r>
              <a:rPr lang="en-US" dirty="0"/>
              <a:t>Second level</a:t>
            </a:r>
          </a:p>
        </p:txBody>
      </p:sp>
      <p:sp>
        <p:nvSpPr>
          <p:cNvPr id="6" name="Date Placeholder 4"/>
          <p:cNvSpPr>
            <a:spLocks noGrp="1"/>
          </p:cNvSpPr>
          <p:nvPr>
            <p:ph type="dt" sz="half" idx="10"/>
          </p:nvPr>
        </p:nvSpPr>
        <p:spPr/>
        <p:txBody>
          <a:bodyPr/>
          <a:lstStyle>
            <a:lvl1pPr>
              <a:defRPr/>
            </a:lvl1pPr>
          </a:lstStyle>
          <a:p>
            <a:pPr>
              <a:defRPr/>
            </a:pPr>
            <a:fld id="{5AB2FA0E-78EC-4CA3-9A83-7F17E5EC7DC7}" type="datetimeFigureOut">
              <a:rPr lang="en-US"/>
              <a:pPr>
                <a:defRPr/>
              </a:pPr>
              <a:t>3/16/2021</a:t>
            </a:fld>
            <a:endParaRPr lang="en-US" dirty="0"/>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pPr>
              <a:defRPr/>
            </a:pPr>
            <a:fld id="{3129869C-F517-4170-80FF-6AF284CF498E}" type="slidenum">
              <a:rPr lang="en-US"/>
              <a:pPr>
                <a:defRPr/>
              </a:pPr>
              <a:t>‹#›</a:t>
            </a:fld>
            <a:endParaRPr lang="en-US" dirty="0"/>
          </a:p>
        </p:txBody>
      </p:sp>
    </p:spTree>
    <p:extLst>
      <p:ext uri="{BB962C8B-B14F-4D97-AF65-F5344CB8AC3E}">
        <p14:creationId xmlns:p14="http://schemas.microsoft.com/office/powerpoint/2010/main" val="41167619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p:cNvSpPr/>
          <p:nvPr/>
        </p:nvSpPr>
        <p:spPr>
          <a:xfrm>
            <a:off x="0" y="0"/>
            <a:ext cx="9144000" cy="228600"/>
          </a:xfrm>
          <a:prstGeom prst="rect">
            <a:avLst/>
          </a:prstGeom>
          <a:solidFill>
            <a:schemeClr val="accent2"/>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1792288" y="4800600"/>
            <a:ext cx="5486400" cy="566738"/>
          </a:xfrm>
        </p:spPr>
        <p:txBody>
          <a:bodyPr anchor="b"/>
          <a:lstStyle>
            <a:lvl1pPr algn="l">
              <a:defRPr sz="2000" b="1">
                <a:solidFill>
                  <a:schemeClr val="tx2"/>
                </a:solidFill>
              </a:defRPr>
            </a:lvl1pPr>
          </a:lstStyle>
          <a:p>
            <a:r>
              <a:rPr lang="en-US" dirty="0"/>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4"/>
          <p:cNvSpPr>
            <a:spLocks noGrp="1"/>
          </p:cNvSpPr>
          <p:nvPr>
            <p:ph type="dt" sz="half" idx="10"/>
          </p:nvPr>
        </p:nvSpPr>
        <p:spPr/>
        <p:txBody>
          <a:bodyPr/>
          <a:lstStyle>
            <a:lvl1pPr>
              <a:defRPr/>
            </a:lvl1pPr>
          </a:lstStyle>
          <a:p>
            <a:pPr>
              <a:defRPr/>
            </a:pPr>
            <a:fld id="{3CC72848-2DF0-413A-AC17-B8C06F98ECEC}" type="datetimeFigureOut">
              <a:rPr lang="en-US"/>
              <a:pPr>
                <a:defRPr/>
              </a:pPr>
              <a:t>3/16/2021</a:t>
            </a:fld>
            <a:endParaRPr lang="en-US" dirty="0"/>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pPr>
              <a:defRPr/>
            </a:pPr>
            <a:fld id="{84295C1F-8125-4A6A-8FCC-EA228CB22A1A}" type="slidenum">
              <a:rPr lang="en-US"/>
              <a:pPr>
                <a:defRPr/>
              </a:pPr>
              <a:t>‹#›</a:t>
            </a:fld>
            <a:endParaRPr lang="en-US" dirty="0"/>
          </a:p>
        </p:txBody>
      </p:sp>
    </p:spTree>
    <p:extLst>
      <p:ext uri="{BB962C8B-B14F-4D97-AF65-F5344CB8AC3E}">
        <p14:creationId xmlns:p14="http://schemas.microsoft.com/office/powerpoint/2010/main" val="3489559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C00000"/>
                </a:solidFill>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buClr>
                <a:srgbClr val="C00000"/>
              </a:buClr>
              <a:defRPr/>
            </a:lvl1pPr>
            <a:lvl2pPr marL="742950" indent="-285750">
              <a:buClr>
                <a:srgbClr val="C00000"/>
              </a:buClr>
              <a:buFont typeface="Courier New" panose="02070309020205020404" pitchFamily="49" charset="0"/>
              <a:buChar char="o"/>
              <a:defRPr/>
            </a:lvl2pPr>
            <a:lvl3pPr marL="1143000" indent="-228600">
              <a:buClr>
                <a:schemeClr val="accent2"/>
              </a:buClr>
              <a:buFont typeface="Wingdings" panose="05000000000000000000" pitchFamily="2" charset="2"/>
              <a:buChar char="v"/>
              <a:defRPr/>
            </a:lvl3pPr>
            <a:lvl4pPr marL="1600200" indent="-228600">
              <a:buClr>
                <a:schemeClr val="accent2"/>
              </a:buClr>
              <a:buFont typeface="Wingdings" panose="05000000000000000000" pitchFamily="2" charset="2"/>
              <a:buChar char="Ø"/>
              <a:defRPr/>
            </a:lvl4pPr>
            <a:lvl5pPr marL="2057400" indent="-228600">
              <a:buClr>
                <a:srgbClr val="C00000"/>
              </a:buClr>
              <a:buFont typeface="Wingdings" panose="05000000000000000000" pitchFamily="2" charset="2"/>
              <a:buChar char="ü"/>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vl1pPr>
          </a:lstStyle>
          <a:p>
            <a:pPr>
              <a:defRPr/>
            </a:pPr>
            <a:fld id="{8575F2E9-6380-45FF-A9D7-C65D986BB972}" type="datetimeFigureOut">
              <a:rPr lang="en-US"/>
              <a:pPr>
                <a:defRPr/>
              </a:pPr>
              <a:t>3/16/2021</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C8E33D2-B6F6-479F-8566-D35F58DF5ECE}" type="slidenum">
              <a:rPr lang="en-US"/>
              <a:pPr>
                <a:defRPr/>
              </a:pPr>
              <a:t>‹#›</a:t>
            </a:fld>
            <a:endParaRPr lang="en-US" dirty="0"/>
          </a:p>
        </p:txBody>
      </p:sp>
    </p:spTree>
    <p:extLst>
      <p:ext uri="{BB962C8B-B14F-4D97-AF65-F5344CB8AC3E}">
        <p14:creationId xmlns:p14="http://schemas.microsoft.com/office/powerpoint/2010/main" val="37717418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lvl1pPr>
              <a:defRPr>
                <a:solidFill>
                  <a:srgbClr val="C00000"/>
                </a:solidFill>
              </a:defRPr>
            </a:lvl1pPr>
          </a:lstStyle>
          <a:p>
            <a:r>
              <a:rPr lang="en-US" dirty="0"/>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lvl1pPr>
              <a:buClr>
                <a:schemeClr val="accent2"/>
              </a:buClr>
              <a:defRPr/>
            </a:lvl1pPr>
            <a:lvl2pPr marL="742950" indent="-285750">
              <a:buClr>
                <a:srgbClr val="C00000"/>
              </a:buClr>
              <a:buFont typeface="Courier New" panose="02070309020205020404" pitchFamily="49" charset="0"/>
              <a:buChar char="o"/>
              <a:defRPr/>
            </a:lvl2pPr>
            <a:lvl3pPr marL="1143000" indent="-228600">
              <a:buClr>
                <a:schemeClr val="accent2"/>
              </a:buClr>
              <a:buFont typeface="Wingdings" panose="05000000000000000000" pitchFamily="2" charset="2"/>
              <a:buChar char="v"/>
              <a:defRPr/>
            </a:lvl3pPr>
            <a:lvl4pPr marL="1600200" indent="-228600">
              <a:buClr>
                <a:schemeClr val="accent2"/>
              </a:buClr>
              <a:buFont typeface="Wingdings" panose="05000000000000000000" pitchFamily="2" charset="2"/>
              <a:buChar char="Ø"/>
              <a:defRPr/>
            </a:lvl4pPr>
            <a:lvl5pPr marL="2057400" indent="-228600">
              <a:buClr>
                <a:srgbClr val="C00000"/>
              </a:buClr>
              <a:buFont typeface="Wingdings" panose="05000000000000000000" pitchFamily="2" charset="2"/>
              <a:buChar char="ü"/>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vl1pPr>
          </a:lstStyle>
          <a:p>
            <a:pPr>
              <a:defRPr/>
            </a:pPr>
            <a:fld id="{70AE6794-8E2F-4D8F-8274-10A7538E275B}" type="datetimeFigureOut">
              <a:rPr lang="en-US"/>
              <a:pPr>
                <a:defRPr/>
              </a:pPr>
              <a:t>3/16/2021</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7B575C28-2797-438F-8325-40A74C91495C}" type="slidenum">
              <a:rPr lang="en-US"/>
              <a:pPr>
                <a:defRPr/>
              </a:pPr>
              <a:t>‹#›</a:t>
            </a:fld>
            <a:endParaRPr lang="en-US" dirty="0"/>
          </a:p>
        </p:txBody>
      </p:sp>
    </p:spTree>
    <p:extLst>
      <p:ext uri="{BB962C8B-B14F-4D97-AF65-F5344CB8AC3E}">
        <p14:creationId xmlns:p14="http://schemas.microsoft.com/office/powerpoint/2010/main" val="21190057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lvl1pPr>
              <a:defRPr/>
            </a:lvl1pPr>
          </a:lstStyle>
          <a:p>
            <a:pPr>
              <a:defRPr/>
            </a:pPr>
            <a:fld id="{E090CDA7-CA2F-4D9A-B7A5-4B792117B6D1}" type="datetimeFigureOut">
              <a:rPr lang="en-US"/>
              <a:pPr>
                <a:defRPr/>
              </a:pPr>
              <a:t>3/16/2021</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6C9D8BF-A93A-4E83-B117-A8D487C70BBA}" type="slidenum">
              <a:rPr lang="en-US"/>
              <a:pPr>
                <a:defRPr/>
              </a:pPr>
              <a:t>‹#›</a:t>
            </a:fld>
            <a:endParaRPr lang="en-US" dirty="0"/>
          </a:p>
        </p:txBody>
      </p:sp>
    </p:spTree>
    <p:extLst>
      <p:ext uri="{BB962C8B-B14F-4D97-AF65-F5344CB8AC3E}">
        <p14:creationId xmlns:p14="http://schemas.microsoft.com/office/powerpoint/2010/main" val="19855630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05BD23F6-244A-4E03-BAE6-C2A33693709E}" type="datetimeFigureOut">
              <a:rPr lang="en-US"/>
              <a:pPr>
                <a:defRPr/>
              </a:pPr>
              <a:t>3/16/2021</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310609F6-E883-4B4A-AC96-B2A8073F0199}" type="slidenum">
              <a:rPr lang="en-US"/>
              <a:pPr>
                <a:defRPr/>
              </a:pPr>
              <a:t>‹#›</a:t>
            </a:fld>
            <a:endParaRPr lang="en-US" dirty="0"/>
          </a:p>
        </p:txBody>
      </p:sp>
      <p:sp>
        <p:nvSpPr>
          <p:cNvPr id="1031" name="Rectangle 6"/>
          <p:cNvSpPr>
            <a:spLocks noChangeArrowheads="1"/>
          </p:cNvSpPr>
          <p:nvPr userDrawn="1"/>
        </p:nvSpPr>
        <p:spPr bwMode="auto">
          <a:xfrm>
            <a:off x="228600" y="6616700"/>
            <a:ext cx="746760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a:r>
              <a:rPr lang="en-US" altLang="en-US" sz="800" dirty="0"/>
              <a:t>© 2018 Cengage Learning. All Rights Reserved. May not be scanned, copied or duplicated, or posted to a publicly accessible website, in whole or in part.</a:t>
            </a:r>
          </a:p>
        </p:txBody>
      </p:sp>
    </p:spTree>
  </p:cSld>
  <p:clrMap bg1="lt1" tx1="dk1" bg2="lt2" tx2="dk2" accent1="accent1" accent2="accent2" accent3="accent3" accent4="accent4" accent5="accent5" accent6="accent6" hlink="hlink" folHlink="folHlink"/>
  <p:sldLayoutIdLst>
    <p:sldLayoutId id="2147484026" r:id="rId1"/>
    <p:sldLayoutId id="2147484027" r:id="rId2"/>
    <p:sldLayoutId id="2147484028" r:id="rId3"/>
    <p:sldLayoutId id="2147484029" r:id="rId4"/>
    <p:sldLayoutId id="2147484030" r:id="rId5"/>
    <p:sldLayoutId id="2147484031" r:id="rId6"/>
    <p:sldLayoutId id="2147484032" r:id="rId7"/>
    <p:sldLayoutId id="2147484033" r:id="rId8"/>
    <p:sldLayoutId id="2147484034" r:id="rId9"/>
    <p:sldLayoutId id="2147484023" r:id="rId10"/>
    <p:sldLayoutId id="2147484024" r:id="rId11"/>
    <p:sldLayoutId id="2147484025" r:id="rId12"/>
  </p:sldLayoutIdLst>
  <p:txStyles>
    <p:titleStyle>
      <a:lvl1pPr algn="l" rtl="0" eaLnBrk="0" fontAlgn="base" hangingPunct="0">
        <a:spcBef>
          <a:spcPct val="0"/>
        </a:spcBef>
        <a:spcAft>
          <a:spcPct val="0"/>
        </a:spcAft>
        <a:defRPr sz="3600" kern="1200">
          <a:solidFill>
            <a:schemeClr val="accent2"/>
          </a:solidFill>
          <a:latin typeface="+mj-lt"/>
          <a:ea typeface="+mj-ea"/>
          <a:cs typeface="+mj-cs"/>
        </a:defRPr>
      </a:lvl1pPr>
      <a:lvl2pPr algn="l" rtl="0" eaLnBrk="0" fontAlgn="base" hangingPunct="0">
        <a:spcBef>
          <a:spcPct val="0"/>
        </a:spcBef>
        <a:spcAft>
          <a:spcPct val="0"/>
        </a:spcAft>
        <a:defRPr sz="3600">
          <a:solidFill>
            <a:srgbClr val="00ADEE"/>
          </a:solidFill>
          <a:latin typeface="Calibri" pitchFamily="34" charset="0"/>
        </a:defRPr>
      </a:lvl2pPr>
      <a:lvl3pPr algn="l" rtl="0" eaLnBrk="0" fontAlgn="base" hangingPunct="0">
        <a:spcBef>
          <a:spcPct val="0"/>
        </a:spcBef>
        <a:spcAft>
          <a:spcPct val="0"/>
        </a:spcAft>
        <a:defRPr sz="3600">
          <a:solidFill>
            <a:srgbClr val="00ADEE"/>
          </a:solidFill>
          <a:latin typeface="Calibri" pitchFamily="34" charset="0"/>
        </a:defRPr>
      </a:lvl3pPr>
      <a:lvl4pPr algn="l" rtl="0" eaLnBrk="0" fontAlgn="base" hangingPunct="0">
        <a:spcBef>
          <a:spcPct val="0"/>
        </a:spcBef>
        <a:spcAft>
          <a:spcPct val="0"/>
        </a:spcAft>
        <a:defRPr sz="3600">
          <a:solidFill>
            <a:srgbClr val="00ADEE"/>
          </a:solidFill>
          <a:latin typeface="Calibri" pitchFamily="34" charset="0"/>
        </a:defRPr>
      </a:lvl4pPr>
      <a:lvl5pPr algn="l" rtl="0" eaLnBrk="0" fontAlgn="base" hangingPunct="0">
        <a:spcBef>
          <a:spcPct val="0"/>
        </a:spcBef>
        <a:spcAft>
          <a:spcPct val="0"/>
        </a:spcAft>
        <a:defRPr sz="3600">
          <a:solidFill>
            <a:srgbClr val="00ADEE"/>
          </a:solidFill>
          <a:latin typeface="Calibri" pitchFamily="34" charset="0"/>
        </a:defRPr>
      </a:lvl5pPr>
      <a:lvl6pPr marL="457200" algn="l" rtl="0" eaLnBrk="1" fontAlgn="base" hangingPunct="1">
        <a:spcBef>
          <a:spcPct val="0"/>
        </a:spcBef>
        <a:spcAft>
          <a:spcPct val="0"/>
        </a:spcAft>
        <a:defRPr sz="3600">
          <a:solidFill>
            <a:srgbClr val="687718"/>
          </a:solidFill>
          <a:latin typeface="Calibri" pitchFamily="34" charset="0"/>
        </a:defRPr>
      </a:lvl6pPr>
      <a:lvl7pPr marL="914400" algn="l" rtl="0" eaLnBrk="1" fontAlgn="base" hangingPunct="1">
        <a:spcBef>
          <a:spcPct val="0"/>
        </a:spcBef>
        <a:spcAft>
          <a:spcPct val="0"/>
        </a:spcAft>
        <a:defRPr sz="3600">
          <a:solidFill>
            <a:srgbClr val="687718"/>
          </a:solidFill>
          <a:latin typeface="Calibri" pitchFamily="34" charset="0"/>
        </a:defRPr>
      </a:lvl7pPr>
      <a:lvl8pPr marL="1371600" algn="l" rtl="0" eaLnBrk="1" fontAlgn="base" hangingPunct="1">
        <a:spcBef>
          <a:spcPct val="0"/>
        </a:spcBef>
        <a:spcAft>
          <a:spcPct val="0"/>
        </a:spcAft>
        <a:defRPr sz="3600">
          <a:solidFill>
            <a:srgbClr val="687718"/>
          </a:solidFill>
          <a:latin typeface="Calibri" pitchFamily="34" charset="0"/>
        </a:defRPr>
      </a:lvl8pPr>
      <a:lvl9pPr marL="1828800" algn="l" rtl="0" eaLnBrk="1" fontAlgn="base" hangingPunct="1">
        <a:spcBef>
          <a:spcPct val="0"/>
        </a:spcBef>
        <a:spcAft>
          <a:spcPct val="0"/>
        </a:spcAft>
        <a:defRPr sz="3600">
          <a:solidFill>
            <a:srgbClr val="687718"/>
          </a:solidFill>
          <a:latin typeface="Calibri" pitchFamily="34" charset="0"/>
        </a:defRPr>
      </a:lvl9pPr>
    </p:titleStyle>
    <p:bodyStyle>
      <a:lvl1pPr marL="342900" indent="-342900" algn="l" rtl="0" eaLnBrk="0" fontAlgn="base" hangingPunct="0">
        <a:spcBef>
          <a:spcPct val="20000"/>
        </a:spcBef>
        <a:spcAft>
          <a:spcPct val="0"/>
        </a:spcAft>
        <a:buClr>
          <a:schemeClr val="accent2"/>
        </a:buClr>
        <a:buSzPct val="100000"/>
        <a:buFont typeface="Arial" charset="0"/>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100000"/>
        <a:buFont typeface="Courier New" panose="02070309020205020404" pitchFamily="49" charset="0"/>
        <a:buChar char="o"/>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100000"/>
        <a:buFont typeface="Wingdings" panose="05000000000000000000" pitchFamily="2" charset="2"/>
        <a:buChar char="v"/>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100000"/>
        <a:buFont typeface="Wingdings" panose="05000000000000000000" pitchFamily="2" charset="2"/>
        <a:buChar char="Ø"/>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C00000"/>
        </a:buClr>
        <a:buSzPct val="100000"/>
        <a:buFont typeface="Wingdings" panose="05000000000000000000" pitchFamily="2" charset="2"/>
        <a:buChar char="ü"/>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ubtitle 2"/>
          <p:cNvSpPr>
            <a:spLocks noGrp="1"/>
          </p:cNvSpPr>
          <p:nvPr>
            <p:ph type="subTitle" idx="1"/>
          </p:nvPr>
        </p:nvSpPr>
        <p:spPr/>
        <p:txBody>
          <a:bodyPr/>
          <a:lstStyle/>
          <a:p>
            <a:pPr eaLnBrk="1" hangingPunct="1"/>
            <a:r>
              <a:rPr lang="en-US" altLang="en-US" dirty="0"/>
              <a:t>PROJECT MANAGEMENT 3</a:t>
            </a:r>
            <a:br>
              <a:rPr lang="en-US" altLang="en-US" dirty="0"/>
            </a:br>
            <a:r>
              <a:rPr lang="en-US" dirty="0"/>
              <a:t>Project Selection</a:t>
            </a:r>
          </a:p>
        </p:txBody>
      </p:sp>
      <p:sp>
        <p:nvSpPr>
          <p:cNvPr id="2" name="Text Placeholder 1">
            <a:extLst>
              <a:ext uri="{FF2B5EF4-FFF2-40B4-BE49-F238E27FC236}">
                <a16:creationId xmlns:a16="http://schemas.microsoft.com/office/drawing/2014/main" id="{D2CF64B6-C02F-4D8B-B1B4-985D5EF88FA0}"/>
              </a:ext>
            </a:extLst>
          </p:cNvPr>
          <p:cNvSpPr>
            <a:spLocks noGrp="1"/>
          </p:cNvSpPr>
          <p:nvPr>
            <p:ph type="body" idx="13"/>
          </p:nvPr>
        </p:nvSpPr>
        <p:spPr>
          <a:xfrm>
            <a:off x="990600" y="5410200"/>
            <a:ext cx="7010400" cy="890587"/>
          </a:xfrm>
        </p:spPr>
        <p:txBody>
          <a:bodyPr/>
          <a:lstStyle/>
          <a:p>
            <a:pPr lvl="0"/>
            <a:r>
              <a:rPr lang="en-US" dirty="0"/>
              <a:t>Understanding Types of Feasibility Study, and Its Importance</a:t>
            </a:r>
          </a:p>
          <a:p>
            <a:pPr lvl="0"/>
            <a:r>
              <a:rPr lang="en-US" dirty="0"/>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44C9985-0173-4B80-BFAC-17493478B4BC}"/>
              </a:ext>
            </a:extLst>
          </p:cNvPr>
          <p:cNvSpPr>
            <a:spLocks noGrp="1"/>
          </p:cNvSpPr>
          <p:nvPr>
            <p:ph idx="1"/>
          </p:nvPr>
        </p:nvSpPr>
        <p:spPr/>
        <p:txBody>
          <a:bodyPr/>
          <a:lstStyle/>
          <a:p>
            <a:pPr lvl="0"/>
            <a:r>
              <a:rPr lang="en-US" sz="2400" dirty="0"/>
              <a:t>A feasibility analysis is used to determine the viability of an idea, </a:t>
            </a:r>
          </a:p>
          <a:p>
            <a:pPr lvl="0"/>
            <a:r>
              <a:rPr lang="en-US" sz="2400" dirty="0"/>
              <a:t>Ensuring a project is legally and technically feasible as well as economically justifiable. </a:t>
            </a:r>
          </a:p>
          <a:p>
            <a:pPr lvl="0"/>
            <a:r>
              <a:rPr lang="en-US" sz="2400" dirty="0"/>
              <a:t>It tells us whether a project is worth the investment—in some cases, a project may not be doable. </a:t>
            </a:r>
          </a:p>
          <a:p>
            <a:pPr lvl="0"/>
            <a:r>
              <a:rPr lang="en-US" sz="2400" dirty="0"/>
              <a:t>There can be many reasons for this, including requiring too many resources, which not only prevents those resources from performing other tasks but also may cost more than an organization would earn back by taking on a project that isn’t profitable.</a:t>
            </a:r>
          </a:p>
        </p:txBody>
      </p:sp>
      <p:sp>
        <p:nvSpPr>
          <p:cNvPr id="3" name="Title 2">
            <a:extLst>
              <a:ext uri="{FF2B5EF4-FFF2-40B4-BE49-F238E27FC236}">
                <a16:creationId xmlns:a16="http://schemas.microsoft.com/office/drawing/2014/main" id="{CEE973A9-35DA-40BB-A1A6-483FD6ADDFDF}"/>
              </a:ext>
            </a:extLst>
          </p:cNvPr>
          <p:cNvSpPr>
            <a:spLocks noGrp="1"/>
          </p:cNvSpPr>
          <p:nvPr>
            <p:ph type="title"/>
          </p:nvPr>
        </p:nvSpPr>
        <p:spPr/>
        <p:txBody>
          <a:bodyPr/>
          <a:lstStyle/>
          <a:p>
            <a:pPr lvl="0"/>
            <a:r>
              <a:rPr lang="en-US" dirty="0"/>
              <a:t>What is Feasibility Study?</a:t>
            </a:r>
          </a:p>
        </p:txBody>
      </p:sp>
    </p:spTree>
    <p:extLst>
      <p:ext uri="{BB962C8B-B14F-4D97-AF65-F5344CB8AC3E}">
        <p14:creationId xmlns:p14="http://schemas.microsoft.com/office/powerpoint/2010/main" val="28006212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7CC39CF-0806-4701-8290-E1B1CF0FC81C}"/>
              </a:ext>
            </a:extLst>
          </p:cNvPr>
          <p:cNvSpPr>
            <a:spLocks noGrp="1"/>
          </p:cNvSpPr>
          <p:nvPr>
            <p:ph idx="1"/>
          </p:nvPr>
        </p:nvSpPr>
        <p:spPr/>
        <p:txBody>
          <a:bodyPr/>
          <a:lstStyle/>
          <a:p>
            <a:pPr lvl="0"/>
            <a:r>
              <a:rPr lang="en-US" dirty="0"/>
              <a:t>A well-designed study should offer a historical background of the business or project, </a:t>
            </a:r>
          </a:p>
          <a:p>
            <a:pPr lvl="1"/>
            <a:r>
              <a:rPr lang="en-US" dirty="0"/>
              <a:t>A description of the product or service, </a:t>
            </a:r>
          </a:p>
          <a:p>
            <a:pPr lvl="1"/>
            <a:r>
              <a:rPr lang="en-US" dirty="0"/>
              <a:t>accounting statements, </a:t>
            </a:r>
          </a:p>
          <a:p>
            <a:pPr lvl="1"/>
            <a:r>
              <a:rPr lang="en-US" dirty="0"/>
              <a:t>details of operations and management, </a:t>
            </a:r>
          </a:p>
          <a:p>
            <a:pPr lvl="1"/>
            <a:r>
              <a:rPr lang="en-US" dirty="0"/>
              <a:t>marketing research and policies, </a:t>
            </a:r>
          </a:p>
          <a:p>
            <a:pPr lvl="1"/>
            <a:r>
              <a:rPr lang="en-US" dirty="0"/>
              <a:t>financial data, legal requirements, and tax obligations.</a:t>
            </a:r>
          </a:p>
          <a:p>
            <a:pPr lvl="0"/>
            <a:r>
              <a:rPr lang="en-US" dirty="0"/>
              <a:t>Generally, such studies precede technical development and project implementation.</a:t>
            </a:r>
          </a:p>
          <a:p>
            <a:pPr lvl="0"/>
            <a:endParaRPr lang="en-US" dirty="0"/>
          </a:p>
        </p:txBody>
      </p:sp>
      <p:sp>
        <p:nvSpPr>
          <p:cNvPr id="3" name="Title 2">
            <a:extLst>
              <a:ext uri="{FF2B5EF4-FFF2-40B4-BE49-F238E27FC236}">
                <a16:creationId xmlns:a16="http://schemas.microsoft.com/office/drawing/2014/main" id="{DBAFF1DA-D015-42EE-8933-5F41B880EC70}"/>
              </a:ext>
            </a:extLst>
          </p:cNvPr>
          <p:cNvSpPr>
            <a:spLocks noGrp="1"/>
          </p:cNvSpPr>
          <p:nvPr>
            <p:ph type="title"/>
          </p:nvPr>
        </p:nvSpPr>
        <p:spPr/>
        <p:txBody>
          <a:bodyPr/>
          <a:lstStyle/>
          <a:p>
            <a:pPr lvl="0"/>
            <a:r>
              <a:rPr lang="en-US" dirty="0"/>
              <a:t>Study Design</a:t>
            </a:r>
          </a:p>
        </p:txBody>
      </p:sp>
    </p:spTree>
    <p:extLst>
      <p:ext uri="{BB962C8B-B14F-4D97-AF65-F5344CB8AC3E}">
        <p14:creationId xmlns:p14="http://schemas.microsoft.com/office/powerpoint/2010/main" val="34205525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562A6C3-AAAA-47F3-BE73-CBB7AE237A3C}"/>
              </a:ext>
            </a:extLst>
          </p:cNvPr>
          <p:cNvSpPr>
            <a:spLocks noGrp="1"/>
          </p:cNvSpPr>
          <p:nvPr>
            <p:ph idx="1"/>
          </p:nvPr>
        </p:nvSpPr>
        <p:spPr/>
        <p:txBody>
          <a:bodyPr/>
          <a:lstStyle/>
          <a:p>
            <a:pPr lvl="0"/>
            <a:r>
              <a:rPr lang="en-US" dirty="0"/>
              <a:t>A feasibility analysis evaluates the project’s potential for success; therefore, perceived objectivity is an essential factor in the credibility of the study for potential investors and lending institutions. </a:t>
            </a:r>
          </a:p>
          <a:p>
            <a:pPr lvl="0"/>
            <a:r>
              <a:rPr lang="en-US" dirty="0"/>
              <a:t>There are five types of feasibility study</a:t>
            </a:r>
          </a:p>
          <a:p>
            <a:pPr marL="857250" lvl="2" indent="0">
              <a:buNone/>
            </a:pPr>
            <a:r>
              <a:rPr lang="en-US" sz="2400" dirty="0"/>
              <a:t>1.	Technical Feasibility</a:t>
            </a:r>
          </a:p>
          <a:p>
            <a:pPr marL="857250" lvl="2" indent="0">
              <a:buNone/>
            </a:pPr>
            <a:r>
              <a:rPr lang="en-US" sz="2400" dirty="0"/>
              <a:t>2. 	Economic Feasibility</a:t>
            </a:r>
          </a:p>
          <a:p>
            <a:pPr marL="857250" lvl="2" indent="0">
              <a:buNone/>
            </a:pPr>
            <a:r>
              <a:rPr lang="en-US" sz="2400" dirty="0"/>
              <a:t>3. 	Legal Feasibility</a:t>
            </a:r>
          </a:p>
          <a:p>
            <a:pPr marL="857250" lvl="2" indent="0">
              <a:buNone/>
            </a:pPr>
            <a:r>
              <a:rPr lang="en-US" sz="2400" dirty="0"/>
              <a:t>4. 	Operational Feasibility</a:t>
            </a:r>
          </a:p>
          <a:p>
            <a:pPr marL="857250" lvl="2" indent="0">
              <a:buNone/>
            </a:pPr>
            <a:r>
              <a:rPr lang="en-US" sz="2400" dirty="0"/>
              <a:t>5. 	Scheduling Feasibility</a:t>
            </a:r>
          </a:p>
        </p:txBody>
      </p:sp>
      <p:sp>
        <p:nvSpPr>
          <p:cNvPr id="3" name="Title 2">
            <a:extLst>
              <a:ext uri="{FF2B5EF4-FFF2-40B4-BE49-F238E27FC236}">
                <a16:creationId xmlns:a16="http://schemas.microsoft.com/office/drawing/2014/main" id="{F7EDF075-973D-4BB1-99FD-F85B2BA44F26}"/>
              </a:ext>
            </a:extLst>
          </p:cNvPr>
          <p:cNvSpPr>
            <a:spLocks noGrp="1"/>
          </p:cNvSpPr>
          <p:nvPr>
            <p:ph type="title"/>
          </p:nvPr>
        </p:nvSpPr>
        <p:spPr/>
        <p:txBody>
          <a:bodyPr/>
          <a:lstStyle/>
          <a:p>
            <a:pPr lvl="0"/>
            <a:r>
              <a:rPr lang="en-US" dirty="0"/>
              <a:t>Types of Feasibility Study</a:t>
            </a:r>
          </a:p>
        </p:txBody>
      </p:sp>
    </p:spTree>
    <p:extLst>
      <p:ext uri="{BB962C8B-B14F-4D97-AF65-F5344CB8AC3E}">
        <p14:creationId xmlns:p14="http://schemas.microsoft.com/office/powerpoint/2010/main" val="22849045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547E6A0-9D23-4109-9382-E196917AEE31}"/>
              </a:ext>
            </a:extLst>
          </p:cNvPr>
          <p:cNvSpPr>
            <a:spLocks noGrp="1"/>
          </p:cNvSpPr>
          <p:nvPr>
            <p:ph idx="1"/>
          </p:nvPr>
        </p:nvSpPr>
        <p:spPr/>
        <p:txBody>
          <a:bodyPr/>
          <a:lstStyle/>
          <a:p>
            <a:pPr lvl="0"/>
            <a:r>
              <a:rPr lang="en-US" sz="2400" dirty="0"/>
              <a:t>This assessment focuses on the technical resources available to the organization. </a:t>
            </a:r>
          </a:p>
          <a:p>
            <a:pPr lvl="0"/>
            <a:r>
              <a:rPr lang="en-US" sz="2400" dirty="0"/>
              <a:t>It helps organizations determine whether the technical resources meet capacity and whether the technical team is capable of converting the ideas into working systems.</a:t>
            </a:r>
          </a:p>
          <a:p>
            <a:pPr lvl="0"/>
            <a:r>
              <a:rPr lang="en-US" sz="2400" dirty="0"/>
              <a:t>Technical feasibility also involves the evaluation of the hardware, software, and other technical requirements of the proposed system. </a:t>
            </a:r>
          </a:p>
          <a:p>
            <a:pPr lvl="0"/>
            <a:r>
              <a:rPr lang="en-US" sz="2400" dirty="0"/>
              <a:t>As an exaggerated example, an organization wouldn’t want to try to put Star Trek’s transporters in their building—currently, this project is not technically feasible.</a:t>
            </a:r>
          </a:p>
        </p:txBody>
      </p:sp>
      <p:sp>
        <p:nvSpPr>
          <p:cNvPr id="3" name="Title 2">
            <a:extLst>
              <a:ext uri="{FF2B5EF4-FFF2-40B4-BE49-F238E27FC236}">
                <a16:creationId xmlns:a16="http://schemas.microsoft.com/office/drawing/2014/main" id="{526D50B0-1F7D-4C7F-B4C8-298F7827837B}"/>
              </a:ext>
            </a:extLst>
          </p:cNvPr>
          <p:cNvSpPr>
            <a:spLocks noGrp="1"/>
          </p:cNvSpPr>
          <p:nvPr>
            <p:ph type="title"/>
          </p:nvPr>
        </p:nvSpPr>
        <p:spPr/>
        <p:txBody>
          <a:bodyPr/>
          <a:lstStyle/>
          <a:p>
            <a:pPr lvl="0"/>
            <a:r>
              <a:rPr lang="en-US" dirty="0"/>
              <a:t>1. Technical Feasibility</a:t>
            </a:r>
          </a:p>
        </p:txBody>
      </p:sp>
    </p:spTree>
    <p:extLst>
      <p:ext uri="{BB962C8B-B14F-4D97-AF65-F5344CB8AC3E}">
        <p14:creationId xmlns:p14="http://schemas.microsoft.com/office/powerpoint/2010/main" val="15014978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2587F1F-7DE5-4E8D-B770-2014E5144AEC}"/>
              </a:ext>
            </a:extLst>
          </p:cNvPr>
          <p:cNvSpPr>
            <a:spLocks noGrp="1"/>
          </p:cNvSpPr>
          <p:nvPr>
            <p:ph idx="1"/>
          </p:nvPr>
        </p:nvSpPr>
        <p:spPr/>
        <p:txBody>
          <a:bodyPr/>
          <a:lstStyle/>
          <a:p>
            <a:pPr lvl="0"/>
            <a:r>
              <a:rPr lang="en-US" dirty="0"/>
              <a:t>This assessment typically involves a cost/ benefits analysis of the project, helping organizations determine the viability, cost, and benefits associated with a project before financial resources are allocated. </a:t>
            </a:r>
          </a:p>
          <a:p>
            <a:pPr lvl="0"/>
            <a:r>
              <a:rPr lang="en-US" dirty="0"/>
              <a:t>It also serves as an independent project assessment and enhances project credibility—helping decision-makers determine the positive economic benefits to the organization that the proposed project will provide.</a:t>
            </a:r>
          </a:p>
        </p:txBody>
      </p:sp>
      <p:sp>
        <p:nvSpPr>
          <p:cNvPr id="3" name="Title 2">
            <a:extLst>
              <a:ext uri="{FF2B5EF4-FFF2-40B4-BE49-F238E27FC236}">
                <a16:creationId xmlns:a16="http://schemas.microsoft.com/office/drawing/2014/main" id="{4F6C206D-CBC7-4A07-A4F5-211E486EBD64}"/>
              </a:ext>
            </a:extLst>
          </p:cNvPr>
          <p:cNvSpPr>
            <a:spLocks noGrp="1"/>
          </p:cNvSpPr>
          <p:nvPr>
            <p:ph type="title"/>
          </p:nvPr>
        </p:nvSpPr>
        <p:spPr/>
        <p:txBody>
          <a:bodyPr/>
          <a:lstStyle/>
          <a:p>
            <a:pPr lvl="0"/>
            <a:r>
              <a:rPr lang="en-US" dirty="0"/>
              <a:t>2. Economic Feasibility</a:t>
            </a:r>
          </a:p>
        </p:txBody>
      </p:sp>
    </p:spTree>
    <p:extLst>
      <p:ext uri="{BB962C8B-B14F-4D97-AF65-F5344CB8AC3E}">
        <p14:creationId xmlns:p14="http://schemas.microsoft.com/office/powerpoint/2010/main" val="37487050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0FCFA2B-2843-4CEC-8C21-E216716993B5}"/>
              </a:ext>
            </a:extLst>
          </p:cNvPr>
          <p:cNvSpPr>
            <a:spLocks noGrp="1"/>
          </p:cNvSpPr>
          <p:nvPr>
            <p:ph idx="1"/>
          </p:nvPr>
        </p:nvSpPr>
        <p:spPr/>
        <p:txBody>
          <a:bodyPr/>
          <a:lstStyle/>
          <a:p>
            <a:pPr lvl="0"/>
            <a:r>
              <a:rPr lang="en-US" sz="2400" dirty="0"/>
              <a:t>This assessment investigates whether any aspect of the proposed project conflicts with legal requirements like zoning laws, data protection acts or social media laws. </a:t>
            </a:r>
          </a:p>
          <a:p>
            <a:pPr lvl="0"/>
            <a:r>
              <a:rPr lang="en-US" sz="2400" dirty="0"/>
              <a:t>Let’s say an organization wants to construct a new office building in a specific location. </a:t>
            </a:r>
          </a:p>
          <a:p>
            <a:pPr lvl="0"/>
            <a:r>
              <a:rPr lang="en-US" sz="2400" dirty="0"/>
              <a:t>A feasibility study might reveal the organization’s ideal location isn’t zoned for that type of business. </a:t>
            </a:r>
          </a:p>
          <a:p>
            <a:pPr lvl="0"/>
            <a:r>
              <a:rPr lang="en-US" sz="2400" dirty="0"/>
              <a:t>That organization has just saved considerable time and effort by learning that their project was not feasible right from the beginning.</a:t>
            </a:r>
          </a:p>
        </p:txBody>
      </p:sp>
      <p:sp>
        <p:nvSpPr>
          <p:cNvPr id="3" name="Title 2">
            <a:extLst>
              <a:ext uri="{FF2B5EF4-FFF2-40B4-BE49-F238E27FC236}">
                <a16:creationId xmlns:a16="http://schemas.microsoft.com/office/drawing/2014/main" id="{EF9568B6-B966-4D57-98B4-A36D4C6F8507}"/>
              </a:ext>
            </a:extLst>
          </p:cNvPr>
          <p:cNvSpPr>
            <a:spLocks noGrp="1"/>
          </p:cNvSpPr>
          <p:nvPr>
            <p:ph type="title"/>
          </p:nvPr>
        </p:nvSpPr>
        <p:spPr/>
        <p:txBody>
          <a:bodyPr/>
          <a:lstStyle/>
          <a:p>
            <a:pPr lvl="0"/>
            <a:r>
              <a:rPr lang="en-US" dirty="0"/>
              <a:t>3. Legal Feasibility</a:t>
            </a:r>
          </a:p>
        </p:txBody>
      </p:sp>
    </p:spTree>
    <p:extLst>
      <p:ext uri="{BB962C8B-B14F-4D97-AF65-F5344CB8AC3E}">
        <p14:creationId xmlns:p14="http://schemas.microsoft.com/office/powerpoint/2010/main" val="29124666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92326CF-D5D7-4A9A-A511-FBF11092989E}"/>
              </a:ext>
            </a:extLst>
          </p:cNvPr>
          <p:cNvSpPr>
            <a:spLocks noGrp="1"/>
          </p:cNvSpPr>
          <p:nvPr>
            <p:ph idx="1"/>
          </p:nvPr>
        </p:nvSpPr>
        <p:spPr/>
        <p:txBody>
          <a:bodyPr/>
          <a:lstStyle/>
          <a:p>
            <a:pPr lvl="0"/>
            <a:r>
              <a:rPr lang="en-US" dirty="0"/>
              <a:t>This assessment involves undertaking a study to analyze and determine whether—and how well—the organization’s needs can be met by completing the project. </a:t>
            </a:r>
          </a:p>
          <a:p>
            <a:pPr lvl="0"/>
            <a:r>
              <a:rPr lang="en-US" dirty="0"/>
              <a:t>Operational feasibility studies also examine how a project plan satisfies the requirements identified in the requirements analysis phase of system development.</a:t>
            </a:r>
          </a:p>
        </p:txBody>
      </p:sp>
      <p:sp>
        <p:nvSpPr>
          <p:cNvPr id="3" name="Title 2">
            <a:extLst>
              <a:ext uri="{FF2B5EF4-FFF2-40B4-BE49-F238E27FC236}">
                <a16:creationId xmlns:a16="http://schemas.microsoft.com/office/drawing/2014/main" id="{75832F5C-AC67-4492-A04A-7241B02BB285}"/>
              </a:ext>
            </a:extLst>
          </p:cNvPr>
          <p:cNvSpPr>
            <a:spLocks noGrp="1"/>
          </p:cNvSpPr>
          <p:nvPr>
            <p:ph type="title"/>
          </p:nvPr>
        </p:nvSpPr>
        <p:spPr/>
        <p:txBody>
          <a:bodyPr/>
          <a:lstStyle/>
          <a:p>
            <a:pPr lvl="0"/>
            <a:r>
              <a:rPr lang="en-US" dirty="0"/>
              <a:t>4. Operational Feasibility</a:t>
            </a:r>
          </a:p>
        </p:txBody>
      </p:sp>
    </p:spTree>
    <p:extLst>
      <p:ext uri="{BB962C8B-B14F-4D97-AF65-F5344CB8AC3E}">
        <p14:creationId xmlns:p14="http://schemas.microsoft.com/office/powerpoint/2010/main" val="14071878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CD8014A-127B-48C6-84B3-DB8A7FF568EC}"/>
              </a:ext>
            </a:extLst>
          </p:cNvPr>
          <p:cNvSpPr>
            <a:spLocks noGrp="1"/>
          </p:cNvSpPr>
          <p:nvPr>
            <p:ph idx="1"/>
          </p:nvPr>
        </p:nvSpPr>
        <p:spPr/>
        <p:txBody>
          <a:bodyPr/>
          <a:lstStyle/>
          <a:p>
            <a:pPr lvl="0"/>
            <a:r>
              <a:rPr lang="en-US" dirty="0"/>
              <a:t>This assessment is the most important for project success; after all, a project will fail if not completed on time. </a:t>
            </a:r>
          </a:p>
          <a:p>
            <a:pPr lvl="0"/>
            <a:r>
              <a:rPr lang="en-US" dirty="0"/>
              <a:t>In scheduling feasibility, an organization estimates how much time the project will take to complete.</a:t>
            </a:r>
          </a:p>
        </p:txBody>
      </p:sp>
      <p:sp>
        <p:nvSpPr>
          <p:cNvPr id="3" name="Title 2">
            <a:extLst>
              <a:ext uri="{FF2B5EF4-FFF2-40B4-BE49-F238E27FC236}">
                <a16:creationId xmlns:a16="http://schemas.microsoft.com/office/drawing/2014/main" id="{F8600779-AF99-4C86-ACCD-157E477D9CE2}"/>
              </a:ext>
            </a:extLst>
          </p:cNvPr>
          <p:cNvSpPr>
            <a:spLocks noGrp="1"/>
          </p:cNvSpPr>
          <p:nvPr>
            <p:ph type="title"/>
          </p:nvPr>
        </p:nvSpPr>
        <p:spPr/>
        <p:txBody>
          <a:bodyPr/>
          <a:lstStyle/>
          <a:p>
            <a:pPr lvl="0"/>
            <a:r>
              <a:rPr lang="en-US" dirty="0"/>
              <a:t>5. Scheduling Feasibility</a:t>
            </a:r>
          </a:p>
        </p:txBody>
      </p:sp>
    </p:spTree>
    <p:extLst>
      <p:ext uri="{BB962C8B-B14F-4D97-AF65-F5344CB8AC3E}">
        <p14:creationId xmlns:p14="http://schemas.microsoft.com/office/powerpoint/2010/main" val="18167147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EE53BBA-F485-4048-9330-BE11A2C854EC}"/>
              </a:ext>
            </a:extLst>
          </p:cNvPr>
          <p:cNvSpPr>
            <a:spLocks noGrp="1"/>
          </p:cNvSpPr>
          <p:nvPr>
            <p:ph idx="1"/>
          </p:nvPr>
        </p:nvSpPr>
        <p:spPr>
          <a:xfrm>
            <a:off x="457200" y="1417638"/>
            <a:ext cx="8229600" cy="4525963"/>
          </a:xfrm>
        </p:spPr>
        <p:txBody>
          <a:bodyPr/>
          <a:lstStyle/>
          <a:p>
            <a:pPr lvl="0"/>
            <a:r>
              <a:rPr lang="en-US" sz="3200" dirty="0"/>
              <a:t>When these areas have all been examined, the feasibility analysis helps identify any constraints the proposed project may face, including:</a:t>
            </a:r>
          </a:p>
          <a:p>
            <a:pPr lvl="1"/>
            <a:r>
              <a:rPr lang="en-US" sz="2800" dirty="0"/>
              <a:t>Internal Project Constraints: Technical, Technology, Budget, Resource, etc.</a:t>
            </a:r>
          </a:p>
          <a:p>
            <a:pPr lvl="1"/>
            <a:r>
              <a:rPr lang="en-US" sz="2800" dirty="0"/>
              <a:t>Internal Corporate Constraints: Financial, Marketing, Export, etc.</a:t>
            </a:r>
          </a:p>
          <a:p>
            <a:pPr lvl="1"/>
            <a:r>
              <a:rPr lang="en-US" sz="2800" dirty="0"/>
              <a:t>External Constraints: Logistics, Environment, Laws, and Regulations, etc.</a:t>
            </a:r>
          </a:p>
        </p:txBody>
      </p:sp>
      <p:sp>
        <p:nvSpPr>
          <p:cNvPr id="3" name="Title 2">
            <a:extLst>
              <a:ext uri="{FF2B5EF4-FFF2-40B4-BE49-F238E27FC236}">
                <a16:creationId xmlns:a16="http://schemas.microsoft.com/office/drawing/2014/main" id="{7A262F81-A850-41D0-B12A-E72DF0277431}"/>
              </a:ext>
            </a:extLst>
          </p:cNvPr>
          <p:cNvSpPr>
            <a:spLocks noGrp="1"/>
          </p:cNvSpPr>
          <p:nvPr>
            <p:ph type="title"/>
          </p:nvPr>
        </p:nvSpPr>
        <p:spPr/>
        <p:txBody>
          <a:bodyPr/>
          <a:lstStyle/>
          <a:p>
            <a:pPr lvl="0"/>
            <a:r>
              <a:rPr lang="en-US" dirty="0"/>
              <a:t>Summary</a:t>
            </a:r>
          </a:p>
        </p:txBody>
      </p:sp>
    </p:spTree>
    <p:extLst>
      <p:ext uri="{BB962C8B-B14F-4D97-AF65-F5344CB8AC3E}">
        <p14:creationId xmlns:p14="http://schemas.microsoft.com/office/powerpoint/2010/main" val="5439306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6F6E8C2-097E-4A17-A6B9-E391852C2400}"/>
              </a:ext>
            </a:extLst>
          </p:cNvPr>
          <p:cNvSpPr>
            <a:spLocks noGrp="1"/>
          </p:cNvSpPr>
          <p:nvPr>
            <p:ph idx="1"/>
          </p:nvPr>
        </p:nvSpPr>
        <p:spPr/>
        <p:txBody>
          <a:bodyPr/>
          <a:lstStyle/>
          <a:p>
            <a:pPr lvl="0"/>
            <a:r>
              <a:rPr lang="en-US" dirty="0"/>
              <a:t>When managing a project, one is required to make a lot of key decisions.</a:t>
            </a:r>
          </a:p>
          <a:p>
            <a:pPr lvl="0"/>
            <a:r>
              <a:rPr lang="en-US" dirty="0"/>
              <a:t>There is always something that needs executing, and often that something is critical to the success of the venture. </a:t>
            </a:r>
          </a:p>
          <a:p>
            <a:pPr lvl="0"/>
            <a:r>
              <a:rPr lang="en-US" dirty="0"/>
              <a:t>Because of the high stakes, good managers don’t just make decisions based on gut instinct. </a:t>
            </a:r>
          </a:p>
          <a:p>
            <a:pPr lvl="0"/>
            <a:r>
              <a:rPr lang="en-US" dirty="0"/>
              <a:t>They prefer to minimize risk to the best of their ability and act only when there is more certainty than uncertainty.</a:t>
            </a:r>
          </a:p>
        </p:txBody>
      </p:sp>
      <p:sp>
        <p:nvSpPr>
          <p:cNvPr id="3" name="Title 2">
            <a:extLst>
              <a:ext uri="{FF2B5EF4-FFF2-40B4-BE49-F238E27FC236}">
                <a16:creationId xmlns:a16="http://schemas.microsoft.com/office/drawing/2014/main" id="{81576F6B-D6D8-4267-8309-F80B4B509C17}"/>
              </a:ext>
            </a:extLst>
          </p:cNvPr>
          <p:cNvSpPr>
            <a:spLocks noGrp="1"/>
          </p:cNvSpPr>
          <p:nvPr>
            <p:ph type="title"/>
          </p:nvPr>
        </p:nvSpPr>
        <p:spPr/>
        <p:txBody>
          <a:bodyPr/>
          <a:lstStyle/>
          <a:p>
            <a:pPr lvl="0"/>
            <a:r>
              <a:rPr lang="en-US" dirty="0"/>
              <a:t>Minimizing Risk (1 of 2)</a:t>
            </a:r>
          </a:p>
        </p:txBody>
      </p:sp>
    </p:spTree>
    <p:extLst>
      <p:ext uri="{BB962C8B-B14F-4D97-AF65-F5344CB8AC3E}">
        <p14:creationId xmlns:p14="http://schemas.microsoft.com/office/powerpoint/2010/main" val="378162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BF88932-85EB-42CF-A637-329BCE4806CF}"/>
              </a:ext>
            </a:extLst>
          </p:cNvPr>
          <p:cNvSpPr>
            <a:spLocks noGrp="1"/>
          </p:cNvSpPr>
          <p:nvPr>
            <p:ph idx="1"/>
          </p:nvPr>
        </p:nvSpPr>
        <p:spPr/>
        <p:txBody>
          <a:bodyPr/>
          <a:lstStyle/>
          <a:p>
            <a:pPr lvl="0"/>
            <a:r>
              <a:rPr lang="en-US" dirty="0"/>
              <a:t>But how can you accomplish that in a world with myriad variables and constantly shifting economics? </a:t>
            </a:r>
          </a:p>
          <a:p>
            <a:pPr lvl="0"/>
            <a:r>
              <a:rPr lang="en-US" dirty="0"/>
              <a:t>The answer: consult hard data collected with reporting tools, charts and spreadsheets. </a:t>
            </a:r>
          </a:p>
          <a:p>
            <a:pPr lvl="0"/>
            <a:r>
              <a:rPr lang="en-US" dirty="0"/>
              <a:t>You can then use that data to evaluate your decisions with a process called cost benefit analysis (CBA). </a:t>
            </a:r>
          </a:p>
          <a:p>
            <a:pPr lvl="0"/>
            <a:r>
              <a:rPr lang="en-US" dirty="0"/>
              <a:t>An intelligent use of cost benefit analysis will help you minimize risks and maximize gains both for your project and your organization.</a:t>
            </a:r>
          </a:p>
        </p:txBody>
      </p:sp>
      <p:sp>
        <p:nvSpPr>
          <p:cNvPr id="3" name="Title 2">
            <a:extLst>
              <a:ext uri="{FF2B5EF4-FFF2-40B4-BE49-F238E27FC236}">
                <a16:creationId xmlns:a16="http://schemas.microsoft.com/office/drawing/2014/main" id="{CD0E319F-83D9-41A8-8F59-37535CAC587A}"/>
              </a:ext>
            </a:extLst>
          </p:cNvPr>
          <p:cNvSpPr>
            <a:spLocks noGrp="1"/>
          </p:cNvSpPr>
          <p:nvPr>
            <p:ph type="title"/>
          </p:nvPr>
        </p:nvSpPr>
        <p:spPr/>
        <p:txBody>
          <a:bodyPr/>
          <a:lstStyle/>
          <a:p>
            <a:pPr lvl="0"/>
            <a:r>
              <a:rPr lang="en-US" dirty="0"/>
              <a:t>Minimizing Risk (2 of 2)</a:t>
            </a:r>
          </a:p>
        </p:txBody>
      </p:sp>
    </p:spTree>
    <p:extLst>
      <p:ext uri="{BB962C8B-B14F-4D97-AF65-F5344CB8AC3E}">
        <p14:creationId xmlns:p14="http://schemas.microsoft.com/office/powerpoint/2010/main" val="2405495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01750FE-AE9C-43B8-BB57-0F5120EB3CDA}"/>
              </a:ext>
            </a:extLst>
          </p:cNvPr>
          <p:cNvSpPr>
            <a:spLocks noGrp="1"/>
          </p:cNvSpPr>
          <p:nvPr>
            <p:ph idx="1"/>
          </p:nvPr>
        </p:nvSpPr>
        <p:spPr/>
        <p:txBody>
          <a:bodyPr/>
          <a:lstStyle/>
          <a:p>
            <a:pPr lvl="0"/>
            <a:r>
              <a:rPr lang="en-US" dirty="0"/>
              <a:t>Cost benefit analysis in project management is one more tool in your toolbox. </a:t>
            </a:r>
          </a:p>
          <a:p>
            <a:pPr lvl="0"/>
            <a:r>
              <a:rPr lang="en-US" dirty="0"/>
              <a:t>This one has been devised to evaluate the cost versus the benefits in your project proposal. </a:t>
            </a:r>
          </a:p>
          <a:p>
            <a:pPr lvl="0"/>
            <a:r>
              <a:rPr lang="en-US" dirty="0"/>
              <a:t>It begins with a list, as so many processes do.</a:t>
            </a:r>
          </a:p>
        </p:txBody>
      </p:sp>
      <p:sp>
        <p:nvSpPr>
          <p:cNvPr id="3" name="Title 2">
            <a:extLst>
              <a:ext uri="{FF2B5EF4-FFF2-40B4-BE49-F238E27FC236}">
                <a16:creationId xmlns:a16="http://schemas.microsoft.com/office/drawing/2014/main" id="{A6AF7BEB-A70B-481C-8BD8-9554A3B60986}"/>
              </a:ext>
            </a:extLst>
          </p:cNvPr>
          <p:cNvSpPr>
            <a:spLocks noGrp="1"/>
          </p:cNvSpPr>
          <p:nvPr>
            <p:ph type="title"/>
          </p:nvPr>
        </p:nvSpPr>
        <p:spPr/>
        <p:txBody>
          <a:bodyPr/>
          <a:lstStyle/>
          <a:p>
            <a:pPr lvl="0"/>
            <a:r>
              <a:rPr lang="en-US" dirty="0"/>
              <a:t>What Is Cost Benefit Analysis? (1</a:t>
            </a:r>
            <a:r>
              <a:rPr lang="en-US" baseline="0" dirty="0"/>
              <a:t> of 3)</a:t>
            </a:r>
            <a:endParaRPr lang="en-US" dirty="0"/>
          </a:p>
        </p:txBody>
      </p:sp>
    </p:spTree>
    <p:extLst>
      <p:ext uri="{BB962C8B-B14F-4D97-AF65-F5344CB8AC3E}">
        <p14:creationId xmlns:p14="http://schemas.microsoft.com/office/powerpoint/2010/main" val="15215082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BBE184A-8A2F-4F5B-A2DF-422AAF73757C}"/>
              </a:ext>
            </a:extLst>
          </p:cNvPr>
          <p:cNvSpPr>
            <a:spLocks noGrp="1"/>
          </p:cNvSpPr>
          <p:nvPr>
            <p:ph idx="1"/>
          </p:nvPr>
        </p:nvSpPr>
        <p:spPr/>
        <p:txBody>
          <a:bodyPr/>
          <a:lstStyle/>
          <a:p>
            <a:pPr lvl="0"/>
            <a:r>
              <a:rPr lang="en-US" dirty="0"/>
              <a:t>There’s a list of every project expense and what the benefits will be after successfully executing the project. </a:t>
            </a:r>
          </a:p>
          <a:p>
            <a:pPr lvl="0"/>
            <a:r>
              <a:rPr lang="en-US" dirty="0"/>
              <a:t>From that you can calculate the return on investment (ROI), internal rate of return (IRR), net present value (NPV) and the payback period.</a:t>
            </a:r>
          </a:p>
        </p:txBody>
      </p:sp>
      <p:sp>
        <p:nvSpPr>
          <p:cNvPr id="3" name="Title 2">
            <a:extLst>
              <a:ext uri="{FF2B5EF4-FFF2-40B4-BE49-F238E27FC236}">
                <a16:creationId xmlns:a16="http://schemas.microsoft.com/office/drawing/2014/main" id="{BB34E5C0-774A-45CE-836A-21F95BF95F5C}"/>
              </a:ext>
            </a:extLst>
          </p:cNvPr>
          <p:cNvSpPr>
            <a:spLocks noGrp="1"/>
          </p:cNvSpPr>
          <p:nvPr>
            <p:ph type="title"/>
          </p:nvPr>
        </p:nvSpPr>
        <p:spPr/>
        <p:txBody>
          <a:bodyPr/>
          <a:lstStyle/>
          <a:p>
            <a:pPr lvl="0"/>
            <a:r>
              <a:rPr lang="en-US" dirty="0"/>
              <a:t>What Is Cost Benefit Analysis? (2 of 3)</a:t>
            </a:r>
          </a:p>
        </p:txBody>
      </p:sp>
    </p:spTree>
    <p:extLst>
      <p:ext uri="{BB962C8B-B14F-4D97-AF65-F5344CB8AC3E}">
        <p14:creationId xmlns:p14="http://schemas.microsoft.com/office/powerpoint/2010/main" val="20223280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106C41E-3B0A-4629-8A4B-55B5AC651919}"/>
              </a:ext>
            </a:extLst>
          </p:cNvPr>
          <p:cNvSpPr>
            <a:spLocks noGrp="1"/>
          </p:cNvSpPr>
          <p:nvPr>
            <p:ph idx="1"/>
          </p:nvPr>
        </p:nvSpPr>
        <p:spPr/>
        <p:txBody>
          <a:bodyPr/>
          <a:lstStyle/>
          <a:p>
            <a:pPr lvl="0"/>
            <a:r>
              <a:rPr lang="en-US" dirty="0"/>
              <a:t>The difference between the cost and the benefits will determine whether action is warranted or not. </a:t>
            </a:r>
          </a:p>
          <a:p>
            <a:pPr lvl="0"/>
            <a:r>
              <a:rPr lang="en-US" dirty="0"/>
              <a:t>In most cases, if the cost is 50 percent of the benefits and the payback period is not more than a year, then the action is worth taking.</a:t>
            </a:r>
          </a:p>
        </p:txBody>
      </p:sp>
      <p:sp>
        <p:nvSpPr>
          <p:cNvPr id="3" name="Title 2">
            <a:extLst>
              <a:ext uri="{FF2B5EF4-FFF2-40B4-BE49-F238E27FC236}">
                <a16:creationId xmlns:a16="http://schemas.microsoft.com/office/drawing/2014/main" id="{E41DC6B8-F74C-4409-9A08-5AA9C55D886D}"/>
              </a:ext>
            </a:extLst>
          </p:cNvPr>
          <p:cNvSpPr>
            <a:spLocks noGrp="1"/>
          </p:cNvSpPr>
          <p:nvPr>
            <p:ph type="title"/>
          </p:nvPr>
        </p:nvSpPr>
        <p:spPr/>
        <p:txBody>
          <a:bodyPr/>
          <a:lstStyle/>
          <a:p>
            <a:pPr lvl="0"/>
            <a:r>
              <a:rPr lang="en-US" dirty="0"/>
              <a:t>What Is Cost Benefit Analysis? (3 of 3)</a:t>
            </a:r>
          </a:p>
        </p:txBody>
      </p:sp>
    </p:spTree>
    <p:extLst>
      <p:ext uri="{BB962C8B-B14F-4D97-AF65-F5344CB8AC3E}">
        <p14:creationId xmlns:p14="http://schemas.microsoft.com/office/powerpoint/2010/main" val="22303363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000F6F1-F8C1-4F59-9758-893E58030B4E}"/>
              </a:ext>
            </a:extLst>
          </p:cNvPr>
          <p:cNvSpPr>
            <a:spLocks noGrp="1"/>
          </p:cNvSpPr>
          <p:nvPr>
            <p:ph idx="1"/>
          </p:nvPr>
        </p:nvSpPr>
        <p:spPr/>
        <p:txBody>
          <a:bodyPr/>
          <a:lstStyle/>
          <a:p>
            <a:pPr lvl="0"/>
            <a:r>
              <a:rPr lang="en-US" dirty="0"/>
              <a:t>The purpose of cost benefit analysis in project management is to have a systemic approach to figure out the pluses and minuses of various paths through a project, including transactions, tasks, business requirements and investments. </a:t>
            </a:r>
          </a:p>
          <a:p>
            <a:pPr marL="342900" marR="0" lvl="0" indent="-342900" algn="l" defTabSz="914400" rtl="0" eaLnBrk="0" fontAlgn="base" latinLnBrk="0" hangingPunct="0">
              <a:lnSpc>
                <a:spcPct val="100000"/>
              </a:lnSpc>
              <a:spcBef>
                <a:spcPct val="20000"/>
              </a:spcBef>
              <a:spcAft>
                <a:spcPct val="0"/>
              </a:spcAft>
              <a:buClr>
                <a:schemeClr val="accent2"/>
              </a:buClr>
              <a:buSzPct val="100000"/>
              <a:buFont typeface="Calibri" pitchFamily="34" charset="0"/>
              <a:buChar char="•"/>
              <a:tabLst/>
              <a:defRPr/>
            </a:pPr>
            <a:r>
              <a:rPr lang="en-US" sz="2800" kern="1200" dirty="0">
                <a:solidFill>
                  <a:schemeClr val="tx1"/>
                </a:solidFill>
                <a:effectLst/>
                <a:latin typeface="+mn-lt"/>
                <a:ea typeface="+mn-ea"/>
                <a:cs typeface="+mn-cs"/>
              </a:rPr>
              <a:t>Cost benefit analysis gives you options, and it offers the best approach to achieve your goal while saving on investment.</a:t>
            </a:r>
            <a:endParaRPr lang="en-US" sz="2800" dirty="0">
              <a:effectLst/>
            </a:endParaRPr>
          </a:p>
          <a:p>
            <a:pPr marL="0" lvl="0" indent="0">
              <a:buNone/>
            </a:pPr>
            <a:endParaRPr lang="en-US" dirty="0"/>
          </a:p>
        </p:txBody>
      </p:sp>
      <p:sp>
        <p:nvSpPr>
          <p:cNvPr id="3" name="Title 2">
            <a:extLst>
              <a:ext uri="{FF2B5EF4-FFF2-40B4-BE49-F238E27FC236}">
                <a16:creationId xmlns:a16="http://schemas.microsoft.com/office/drawing/2014/main" id="{20891E98-3DA0-4EFD-AE0A-1B84AC89EE88}"/>
              </a:ext>
            </a:extLst>
          </p:cNvPr>
          <p:cNvSpPr>
            <a:spLocks noGrp="1"/>
          </p:cNvSpPr>
          <p:nvPr>
            <p:ph type="title"/>
          </p:nvPr>
        </p:nvSpPr>
        <p:spPr/>
        <p:txBody>
          <a:bodyPr/>
          <a:lstStyle/>
          <a:p>
            <a:pPr lvl="0"/>
            <a:r>
              <a:rPr lang="en-US" dirty="0"/>
              <a:t>The Purpose of Cost Benefit Analysis</a:t>
            </a:r>
          </a:p>
        </p:txBody>
      </p:sp>
    </p:spTree>
    <p:extLst>
      <p:ext uri="{BB962C8B-B14F-4D97-AF65-F5344CB8AC3E}">
        <p14:creationId xmlns:p14="http://schemas.microsoft.com/office/powerpoint/2010/main" val="15335686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77CDAC7-E578-4892-9822-D4E9C0C93C67}"/>
              </a:ext>
            </a:extLst>
          </p:cNvPr>
          <p:cNvSpPr>
            <a:spLocks noGrp="1"/>
          </p:cNvSpPr>
          <p:nvPr>
            <p:ph idx="1"/>
          </p:nvPr>
        </p:nvSpPr>
        <p:spPr/>
        <p:txBody>
          <a:bodyPr/>
          <a:lstStyle/>
          <a:p>
            <a:pPr lvl="0"/>
            <a:r>
              <a:rPr lang="en-US" dirty="0"/>
              <a:t>The Purpose of Cost Benefit Analysis</a:t>
            </a:r>
          </a:p>
          <a:p>
            <a:pPr lvl="0"/>
            <a:r>
              <a:rPr lang="en-US" dirty="0"/>
              <a:t>There are two main purposes in using CBA:</a:t>
            </a:r>
          </a:p>
          <a:p>
            <a:pPr lvl="0"/>
            <a:r>
              <a:rPr lang="en-US" dirty="0"/>
              <a:t>1.	To determine if the project is sound, justifiable and feasible by figuring out if its benefits outweigh costs.</a:t>
            </a:r>
          </a:p>
          <a:p>
            <a:pPr lvl="0"/>
            <a:r>
              <a:rPr lang="en-US" dirty="0"/>
              <a:t>2.	To offer a baseline for comparing projects by determining which project’s benefits are greater than its costs.</a:t>
            </a:r>
          </a:p>
        </p:txBody>
      </p:sp>
      <p:sp>
        <p:nvSpPr>
          <p:cNvPr id="3" name="Title 2">
            <a:extLst>
              <a:ext uri="{FF2B5EF4-FFF2-40B4-BE49-F238E27FC236}">
                <a16:creationId xmlns:a16="http://schemas.microsoft.com/office/drawing/2014/main" id="{3E860F73-E024-4CC3-87FF-60696FACDE25}"/>
              </a:ext>
            </a:extLst>
          </p:cNvPr>
          <p:cNvSpPr>
            <a:spLocks noGrp="1"/>
          </p:cNvSpPr>
          <p:nvPr>
            <p:ph type="title"/>
          </p:nvPr>
        </p:nvSpPr>
        <p:spPr/>
        <p:txBody>
          <a:bodyPr/>
          <a:lstStyle/>
          <a:p>
            <a:r>
              <a:rPr lang="en-US" dirty="0"/>
              <a:t>The Purpose of Cost Benefit Analysis</a:t>
            </a:r>
          </a:p>
        </p:txBody>
      </p:sp>
    </p:spTree>
    <p:extLst>
      <p:ext uri="{BB962C8B-B14F-4D97-AF65-F5344CB8AC3E}">
        <p14:creationId xmlns:p14="http://schemas.microsoft.com/office/powerpoint/2010/main" val="29007743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493BF77-FCEF-429C-A13E-6EAEA77715FE}"/>
              </a:ext>
            </a:extLst>
          </p:cNvPr>
          <p:cNvSpPr>
            <a:spLocks noGrp="1"/>
          </p:cNvSpPr>
          <p:nvPr>
            <p:ph type="title"/>
          </p:nvPr>
        </p:nvSpPr>
        <p:spPr/>
        <p:txBody>
          <a:bodyPr/>
          <a:lstStyle/>
          <a:p>
            <a:pPr lvl="0"/>
            <a:r>
              <a:rPr lang="en-US" dirty="0"/>
              <a:t>The Steps to Cost Benefit Analysis</a:t>
            </a:r>
          </a:p>
        </p:txBody>
      </p:sp>
      <p:pic>
        <p:nvPicPr>
          <p:cNvPr id="4" name="Content Placeholder 3" descr="Steps to the Cost Benefit Analysis Process ">
            <a:extLst>
              <a:ext uri="{FF2B5EF4-FFF2-40B4-BE49-F238E27FC236}">
                <a16:creationId xmlns:a16="http://schemas.microsoft.com/office/drawing/2014/main" id="{23B927C5-C6E3-4852-9532-B2083EBED64C}"/>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1143000"/>
            <a:ext cx="8305800" cy="5181600"/>
          </a:xfrm>
          <a:prstGeom prst="rect">
            <a:avLst/>
          </a:prstGeom>
          <a:noFill/>
          <a:ln>
            <a:noFill/>
          </a:ln>
        </p:spPr>
      </p:pic>
    </p:spTree>
    <p:extLst>
      <p:ext uri="{BB962C8B-B14F-4D97-AF65-F5344CB8AC3E}">
        <p14:creationId xmlns:p14="http://schemas.microsoft.com/office/powerpoint/2010/main" val="31196989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7522CD5-8AFC-4CD0-8817-277C27FD96F2}"/>
              </a:ext>
            </a:extLst>
          </p:cNvPr>
          <p:cNvSpPr>
            <a:spLocks noGrp="1"/>
          </p:cNvSpPr>
          <p:nvPr>
            <p:ph idx="1"/>
          </p:nvPr>
        </p:nvSpPr>
        <p:spPr/>
        <p:txBody>
          <a:bodyPr/>
          <a:lstStyle/>
          <a:p>
            <a:pPr lvl="0"/>
            <a:r>
              <a:rPr lang="en-US" dirty="0"/>
              <a:t>How accurate is CBA? </a:t>
            </a:r>
          </a:p>
          <a:p>
            <a:pPr lvl="0"/>
            <a:r>
              <a:rPr lang="en-US" dirty="0"/>
              <a:t>The short answer is it’s as accurate as the data you put into the process. </a:t>
            </a:r>
          </a:p>
          <a:p>
            <a:pPr lvl="0"/>
            <a:r>
              <a:rPr lang="en-US" dirty="0"/>
              <a:t>The more accurate your estimates, the more accurate your results.</a:t>
            </a:r>
          </a:p>
        </p:txBody>
      </p:sp>
      <p:sp>
        <p:nvSpPr>
          <p:cNvPr id="3" name="Title 2">
            <a:extLst>
              <a:ext uri="{FF2B5EF4-FFF2-40B4-BE49-F238E27FC236}">
                <a16:creationId xmlns:a16="http://schemas.microsoft.com/office/drawing/2014/main" id="{C9915B50-3641-4396-B35E-B2B09F3D064D}"/>
              </a:ext>
            </a:extLst>
          </p:cNvPr>
          <p:cNvSpPr>
            <a:spLocks noGrp="1"/>
          </p:cNvSpPr>
          <p:nvPr>
            <p:ph type="title"/>
          </p:nvPr>
        </p:nvSpPr>
        <p:spPr/>
        <p:txBody>
          <a:bodyPr/>
          <a:lstStyle/>
          <a:p>
            <a:pPr lvl="0"/>
            <a:r>
              <a:rPr lang="en-US" dirty="0"/>
              <a:t> How Accurate is Cost Benefit Analysis?</a:t>
            </a:r>
          </a:p>
        </p:txBody>
      </p:sp>
    </p:spTree>
    <p:extLst>
      <p:ext uri="{BB962C8B-B14F-4D97-AF65-F5344CB8AC3E}">
        <p14:creationId xmlns:p14="http://schemas.microsoft.com/office/powerpoint/2010/main" val="21545674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25E0B9A-A5BD-4DC6-9550-8C584FEFB81F}"/>
              </a:ext>
            </a:extLst>
          </p:cNvPr>
          <p:cNvSpPr>
            <a:spLocks noGrp="1"/>
          </p:cNvSpPr>
          <p:nvPr>
            <p:ph idx="1"/>
          </p:nvPr>
        </p:nvSpPr>
        <p:spPr/>
        <p:txBody>
          <a:bodyPr/>
          <a:lstStyle/>
          <a:p>
            <a:pPr lvl="0"/>
            <a:r>
              <a:rPr lang="en-US" dirty="0"/>
              <a:t>Some inaccuracies are caused by the following:</a:t>
            </a:r>
          </a:p>
          <a:p>
            <a:pPr lvl="1"/>
            <a:r>
              <a:rPr lang="en-US" dirty="0"/>
              <a:t>Relying too heavily on data collected from past projects, especially when those projects differ in function, size, etc., to the one you’re working on</a:t>
            </a:r>
          </a:p>
          <a:p>
            <a:pPr lvl="1"/>
            <a:r>
              <a:rPr lang="en-US" dirty="0"/>
              <a:t>Using subjective impressions when you’re making your assessment</a:t>
            </a:r>
          </a:p>
          <a:p>
            <a:pPr lvl="1"/>
            <a:r>
              <a:rPr lang="en-US" dirty="0"/>
              <a:t>The improper use of heuristics (problem solving employing a practical method that is not guaranteed) to get the cost of intangibles</a:t>
            </a:r>
          </a:p>
          <a:p>
            <a:pPr lvl="1"/>
            <a:r>
              <a:rPr lang="en-US" dirty="0"/>
              <a:t>Confirmation bias or only using data that backs up what you want to find</a:t>
            </a:r>
          </a:p>
        </p:txBody>
      </p:sp>
      <p:sp>
        <p:nvSpPr>
          <p:cNvPr id="3" name="Title 2">
            <a:extLst>
              <a:ext uri="{FF2B5EF4-FFF2-40B4-BE49-F238E27FC236}">
                <a16:creationId xmlns:a16="http://schemas.microsoft.com/office/drawing/2014/main" id="{076F1CA7-8064-4D96-B354-9D36ADDF792B}"/>
              </a:ext>
            </a:extLst>
          </p:cNvPr>
          <p:cNvSpPr>
            <a:spLocks noGrp="1"/>
          </p:cNvSpPr>
          <p:nvPr>
            <p:ph type="title"/>
          </p:nvPr>
        </p:nvSpPr>
        <p:spPr/>
        <p:txBody>
          <a:bodyPr/>
          <a:lstStyle/>
          <a:p>
            <a:pPr marL="0" marR="0" lvl="0" indent="0" algn="l" defTabSz="914400" rtl="0" eaLnBrk="0" fontAlgn="base" latinLnBrk="0" hangingPunct="0">
              <a:lnSpc>
                <a:spcPct val="100000"/>
              </a:lnSpc>
              <a:spcBef>
                <a:spcPct val="20000"/>
              </a:spcBef>
              <a:spcAft>
                <a:spcPct val="0"/>
              </a:spcAft>
              <a:buClr>
                <a:schemeClr val="accent2"/>
              </a:buClr>
              <a:buSzPct val="100000"/>
              <a:buFont typeface="Calibri" pitchFamily="34" charset="0"/>
              <a:buNone/>
              <a:tabLst/>
              <a:defRPr/>
            </a:pPr>
            <a:r>
              <a:rPr lang="en-US" sz="3600" kern="1200" dirty="0">
                <a:solidFill>
                  <a:schemeClr val="accent2"/>
                </a:solidFill>
                <a:latin typeface="+mj-lt"/>
                <a:ea typeface="+mj-ea"/>
                <a:cs typeface="+mj-cs"/>
              </a:rPr>
              <a:t>Issues Related to CBA Accuracy</a:t>
            </a:r>
          </a:p>
        </p:txBody>
      </p:sp>
    </p:spTree>
    <p:extLst>
      <p:ext uri="{BB962C8B-B14F-4D97-AF65-F5344CB8AC3E}">
        <p14:creationId xmlns:p14="http://schemas.microsoft.com/office/powerpoint/2010/main" val="3509680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B8F0CF7-AAB1-4CD2-A9F6-5138EC9D979C}"/>
              </a:ext>
            </a:extLst>
          </p:cNvPr>
          <p:cNvSpPr>
            <a:spLocks noGrp="1"/>
          </p:cNvSpPr>
          <p:nvPr>
            <p:ph idx="1"/>
          </p:nvPr>
        </p:nvSpPr>
        <p:spPr/>
        <p:txBody>
          <a:bodyPr/>
          <a:lstStyle/>
          <a:p>
            <a:pPr lvl="0"/>
            <a:r>
              <a:rPr lang="en-US" dirty="0"/>
              <a:t>Cost benefit analysis is best suited to smaller to mid-sized projects that don’t take too long to complete. In these cases, the analysis can lead those involved to make proper decisions.</a:t>
            </a:r>
          </a:p>
          <a:p>
            <a:pPr lvl="0"/>
            <a:r>
              <a:rPr lang="en-US" dirty="0"/>
              <a:t>However, large projects that go on for a long time can be problematic in terms of CBA. There are outside factors, such as inflation, interest rates, etc., that impact the accuracy of the analysis.</a:t>
            </a:r>
          </a:p>
        </p:txBody>
      </p:sp>
      <p:sp>
        <p:nvSpPr>
          <p:cNvPr id="3" name="Title 2">
            <a:extLst>
              <a:ext uri="{FF2B5EF4-FFF2-40B4-BE49-F238E27FC236}">
                <a16:creationId xmlns:a16="http://schemas.microsoft.com/office/drawing/2014/main" id="{1AEE9DC4-C875-49FF-822F-755CC7F15C63}"/>
              </a:ext>
            </a:extLst>
          </p:cNvPr>
          <p:cNvSpPr>
            <a:spLocks noGrp="1"/>
          </p:cNvSpPr>
          <p:nvPr>
            <p:ph type="title"/>
          </p:nvPr>
        </p:nvSpPr>
        <p:spPr/>
        <p:txBody>
          <a:bodyPr/>
          <a:lstStyle/>
          <a:p>
            <a:pPr lvl="0"/>
            <a:r>
              <a:rPr lang="en-US" dirty="0"/>
              <a:t>Limitations to Cost Benefit Analysis?</a:t>
            </a:r>
          </a:p>
        </p:txBody>
      </p:sp>
    </p:spTree>
    <p:extLst>
      <p:ext uri="{BB962C8B-B14F-4D97-AF65-F5344CB8AC3E}">
        <p14:creationId xmlns:p14="http://schemas.microsoft.com/office/powerpoint/2010/main" val="7827386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FF4FBFA-B620-4F26-85DE-9477D73DE634}"/>
              </a:ext>
            </a:extLst>
          </p:cNvPr>
          <p:cNvSpPr>
            <a:spLocks noGrp="1"/>
          </p:cNvSpPr>
          <p:nvPr>
            <p:ph idx="1"/>
          </p:nvPr>
        </p:nvSpPr>
        <p:spPr/>
        <p:txBody>
          <a:bodyPr/>
          <a:lstStyle/>
          <a:p>
            <a:pPr lvl="0"/>
            <a:r>
              <a:rPr lang="en-US" dirty="0"/>
              <a:t>There are additional supporting calculation methods.</a:t>
            </a:r>
          </a:p>
          <a:p>
            <a:pPr lvl="0"/>
            <a:r>
              <a:rPr lang="en-US" dirty="0"/>
              <a:t>These include NPV and IRR. </a:t>
            </a:r>
          </a:p>
          <a:p>
            <a:pPr lvl="0"/>
            <a:r>
              <a:rPr lang="en-US" dirty="0"/>
              <a:t>Overall, though, the use of CBA is a crucial step in determining if any project is worth pursuing.</a:t>
            </a:r>
          </a:p>
        </p:txBody>
      </p:sp>
      <p:sp>
        <p:nvSpPr>
          <p:cNvPr id="3" name="Title 2">
            <a:extLst>
              <a:ext uri="{FF2B5EF4-FFF2-40B4-BE49-F238E27FC236}">
                <a16:creationId xmlns:a16="http://schemas.microsoft.com/office/drawing/2014/main" id="{CA3E845F-2C6A-4467-98A6-09C076CEF36C}"/>
              </a:ext>
            </a:extLst>
          </p:cNvPr>
          <p:cNvSpPr>
            <a:spLocks noGrp="1"/>
          </p:cNvSpPr>
          <p:nvPr>
            <p:ph type="title"/>
          </p:nvPr>
        </p:nvSpPr>
        <p:spPr/>
        <p:txBody>
          <a:bodyPr/>
          <a:lstStyle/>
          <a:p>
            <a:pPr lvl="0"/>
            <a:r>
              <a:rPr lang="en-US" dirty="0"/>
              <a:t>Additional Supporting Calculations</a:t>
            </a:r>
          </a:p>
        </p:txBody>
      </p:sp>
    </p:spTree>
    <p:extLst>
      <p:ext uri="{BB962C8B-B14F-4D97-AF65-F5344CB8AC3E}">
        <p14:creationId xmlns:p14="http://schemas.microsoft.com/office/powerpoint/2010/main" val="5006150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B9AA709-5E92-4D53-9B86-DF8876F2768A}"/>
              </a:ext>
            </a:extLst>
          </p:cNvPr>
          <p:cNvSpPr>
            <a:spLocks noGrp="1"/>
          </p:cNvSpPr>
          <p:nvPr>
            <p:ph idx="1"/>
          </p:nvPr>
        </p:nvSpPr>
        <p:spPr/>
        <p:txBody>
          <a:bodyPr/>
          <a:lstStyle/>
          <a:p>
            <a:pPr lvl="0"/>
            <a:r>
              <a:rPr lang="en-US" sz="2400" dirty="0"/>
              <a:t>When you perform a cost-benefit analysis and need to compare different investment alternatives with each other, you might consider using the net present value (NPV) as one of the profitability indicators. </a:t>
            </a:r>
          </a:p>
          <a:p>
            <a:pPr lvl="0"/>
            <a:r>
              <a:rPr lang="en-US" sz="2400" dirty="0"/>
              <a:t>In project management, the NPV is commonly used and also listed in PMI’s Project Management Body of Knowledge. </a:t>
            </a:r>
          </a:p>
          <a:p>
            <a:pPr lvl="0"/>
            <a:r>
              <a:rPr lang="en-US" sz="2400" dirty="0"/>
              <a:t>While the basic calculation – the sum of discounted cash flows – is comparatively easy, it is key to understand the assumptions, strengths and weaknesses of the NPV to make a reflected investment decision.</a:t>
            </a:r>
          </a:p>
          <a:p>
            <a:pPr lvl="0"/>
            <a:endParaRPr lang="en-US" sz="2400" dirty="0"/>
          </a:p>
        </p:txBody>
      </p:sp>
      <p:sp>
        <p:nvSpPr>
          <p:cNvPr id="3" name="Title 2">
            <a:extLst>
              <a:ext uri="{FF2B5EF4-FFF2-40B4-BE49-F238E27FC236}">
                <a16:creationId xmlns:a16="http://schemas.microsoft.com/office/drawing/2014/main" id="{57B949D9-D159-4C63-9EA5-0C2B3BE798C4}"/>
              </a:ext>
            </a:extLst>
          </p:cNvPr>
          <p:cNvSpPr>
            <a:spLocks noGrp="1"/>
          </p:cNvSpPr>
          <p:nvPr>
            <p:ph type="title"/>
          </p:nvPr>
        </p:nvSpPr>
        <p:spPr/>
        <p:txBody>
          <a:bodyPr/>
          <a:lstStyle/>
          <a:p>
            <a:pPr lvl="0"/>
            <a:r>
              <a:rPr lang="en-US" dirty="0"/>
              <a:t>Net Present Value (NPV)</a:t>
            </a:r>
          </a:p>
        </p:txBody>
      </p:sp>
    </p:spTree>
    <p:extLst>
      <p:ext uri="{BB962C8B-B14F-4D97-AF65-F5344CB8AC3E}">
        <p14:creationId xmlns:p14="http://schemas.microsoft.com/office/powerpoint/2010/main" val="26842361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C6ABB54-3998-498F-BB12-C24E964A6D4C}"/>
              </a:ext>
            </a:extLst>
          </p:cNvPr>
          <p:cNvSpPr>
            <a:spLocks noGrp="1"/>
          </p:cNvSpPr>
          <p:nvPr>
            <p:ph idx="1"/>
          </p:nvPr>
        </p:nvSpPr>
        <p:spPr/>
        <p:txBody>
          <a:bodyPr/>
          <a:lstStyle/>
          <a:p>
            <a:pPr lvl="0"/>
            <a:r>
              <a:rPr lang="en-US" dirty="0"/>
              <a:t>The NPV represents the monetary value of a series of future cash flows by today. </a:t>
            </a:r>
          </a:p>
          <a:p>
            <a:pPr lvl="0"/>
            <a:r>
              <a:rPr lang="en-US" dirty="0"/>
              <a:t>All future cash flows are therefore discounted with a predefined interest rate or discount rate. </a:t>
            </a:r>
          </a:p>
          <a:p>
            <a:pPr lvl="0"/>
            <a:r>
              <a:rPr lang="en-US" dirty="0"/>
              <a:t>The NPV is part of the set of Discounting Cash Flows (DCF) methods.</a:t>
            </a:r>
          </a:p>
        </p:txBody>
      </p:sp>
      <p:sp>
        <p:nvSpPr>
          <p:cNvPr id="3" name="Title 2">
            <a:extLst>
              <a:ext uri="{FF2B5EF4-FFF2-40B4-BE49-F238E27FC236}">
                <a16:creationId xmlns:a16="http://schemas.microsoft.com/office/drawing/2014/main" id="{F8075C71-E249-4AB6-9B9E-FD36D46F0481}"/>
              </a:ext>
            </a:extLst>
          </p:cNvPr>
          <p:cNvSpPr>
            <a:spLocks noGrp="1"/>
          </p:cNvSpPr>
          <p:nvPr>
            <p:ph type="title"/>
          </p:nvPr>
        </p:nvSpPr>
        <p:spPr/>
        <p:txBody>
          <a:bodyPr/>
          <a:lstStyle/>
          <a:p>
            <a:pPr lvl="0"/>
            <a:r>
              <a:rPr lang="en-US" dirty="0"/>
              <a:t>What Is the Net Present Value? </a:t>
            </a:r>
          </a:p>
        </p:txBody>
      </p:sp>
    </p:spTree>
    <p:extLst>
      <p:ext uri="{BB962C8B-B14F-4D97-AF65-F5344CB8AC3E}">
        <p14:creationId xmlns:p14="http://schemas.microsoft.com/office/powerpoint/2010/main" val="25656013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93E66EA-9F1D-4546-BDD4-FAF8AB8731A9}"/>
              </a:ext>
            </a:extLst>
          </p:cNvPr>
          <p:cNvSpPr>
            <a:spLocks noGrp="1"/>
          </p:cNvSpPr>
          <p:nvPr>
            <p:ph idx="1"/>
          </p:nvPr>
        </p:nvSpPr>
        <p:spPr/>
        <p:txBody>
          <a:bodyPr/>
          <a:lstStyle/>
          <a:p>
            <a:pPr lvl="0"/>
            <a:r>
              <a:rPr lang="en-US" dirty="0"/>
              <a:t>The net present value is often used in the context of a cost-benefit analysis where it is a common indicator for the profitability of project or investment alternatives:</a:t>
            </a:r>
          </a:p>
          <a:p>
            <a:pPr lvl="1"/>
            <a:r>
              <a:rPr lang="en-US" dirty="0"/>
              <a:t>A positive NPV suggests that the investment is profitable, i.e. the return exceeds the predefined discount rate).</a:t>
            </a:r>
          </a:p>
          <a:p>
            <a:pPr lvl="1"/>
            <a:r>
              <a:rPr lang="en-US" dirty="0"/>
              <a:t>The NPV is negative if expenses are higher or occur earlier than the returns. Thus, the investment does not yield the</a:t>
            </a:r>
          </a:p>
          <a:p>
            <a:pPr lvl="1"/>
            <a:r>
              <a:rPr lang="en-US" dirty="0"/>
              <a:t>A net present value of 0 indicates that the investment earns a return that equals the discount rate.</a:t>
            </a:r>
          </a:p>
          <a:p>
            <a:pPr lvl="0"/>
            <a:endParaRPr lang="en-US" dirty="0"/>
          </a:p>
        </p:txBody>
      </p:sp>
      <p:sp>
        <p:nvSpPr>
          <p:cNvPr id="3" name="Title 2">
            <a:extLst>
              <a:ext uri="{FF2B5EF4-FFF2-40B4-BE49-F238E27FC236}">
                <a16:creationId xmlns:a16="http://schemas.microsoft.com/office/drawing/2014/main" id="{46257C9E-161A-4F46-9764-2F7ED2D7D5D5}"/>
              </a:ext>
            </a:extLst>
          </p:cNvPr>
          <p:cNvSpPr>
            <a:spLocks noGrp="1"/>
          </p:cNvSpPr>
          <p:nvPr>
            <p:ph type="title"/>
          </p:nvPr>
        </p:nvSpPr>
        <p:spPr/>
        <p:txBody>
          <a:bodyPr/>
          <a:lstStyle/>
          <a:p>
            <a:pPr lvl="0"/>
            <a:r>
              <a:rPr lang="en-US" sz="2800" kern="1200" dirty="0">
                <a:solidFill>
                  <a:schemeClr val="tx1"/>
                </a:solidFill>
                <a:effectLst/>
                <a:latin typeface="+mn-lt"/>
                <a:ea typeface="+mn-ea"/>
                <a:cs typeface="+mn-cs"/>
              </a:rPr>
              <a:t>What Is the Net Present Value?</a:t>
            </a:r>
            <a:endParaRPr lang="en-US" dirty="0"/>
          </a:p>
        </p:txBody>
      </p:sp>
    </p:spTree>
    <p:extLst>
      <p:ext uri="{BB962C8B-B14F-4D97-AF65-F5344CB8AC3E}">
        <p14:creationId xmlns:p14="http://schemas.microsoft.com/office/powerpoint/2010/main" val="8748917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B7787E1-D8F3-4C2B-A65B-3F20483CBCCF}"/>
              </a:ext>
            </a:extLst>
          </p:cNvPr>
          <p:cNvSpPr>
            <a:spLocks noGrp="1"/>
          </p:cNvSpPr>
          <p:nvPr>
            <p:ph idx="1"/>
          </p:nvPr>
        </p:nvSpPr>
        <p:spPr/>
        <p:txBody>
          <a:bodyPr/>
          <a:lstStyle/>
          <a:p>
            <a:pPr lvl="0"/>
            <a:r>
              <a:rPr lang="en-US" dirty="0"/>
              <a:t>The formula consists of three different fundamental elements:</a:t>
            </a:r>
          </a:p>
          <a:p>
            <a:pPr lvl="1"/>
            <a:r>
              <a:rPr lang="en-US" dirty="0"/>
              <a:t>the assumed cash flow of a period (for each period),</a:t>
            </a:r>
          </a:p>
          <a:p>
            <a:pPr lvl="1"/>
            <a:r>
              <a:rPr lang="en-US" dirty="0"/>
              <a:t>the preset discount rate or interest rate (for each period),</a:t>
            </a:r>
          </a:p>
          <a:p>
            <a:pPr lvl="1"/>
            <a:r>
              <a:rPr lang="en-US" dirty="0"/>
              <a:t>the residual value at the end of the projection (optional).</a:t>
            </a:r>
          </a:p>
          <a:p>
            <a:pPr lvl="1"/>
            <a:endParaRPr lang="en-US" dirty="0"/>
          </a:p>
        </p:txBody>
      </p:sp>
      <p:sp>
        <p:nvSpPr>
          <p:cNvPr id="3" name="Title 2">
            <a:extLst>
              <a:ext uri="{FF2B5EF4-FFF2-40B4-BE49-F238E27FC236}">
                <a16:creationId xmlns:a16="http://schemas.microsoft.com/office/drawing/2014/main" id="{8853AE65-55EF-4D32-AA49-249177D6213E}"/>
              </a:ext>
            </a:extLst>
          </p:cNvPr>
          <p:cNvSpPr>
            <a:spLocks noGrp="1"/>
          </p:cNvSpPr>
          <p:nvPr>
            <p:ph type="title"/>
          </p:nvPr>
        </p:nvSpPr>
        <p:spPr/>
        <p:txBody>
          <a:bodyPr/>
          <a:lstStyle/>
          <a:p>
            <a:pPr lvl="0"/>
            <a:r>
              <a:rPr lang="en-US" dirty="0"/>
              <a:t>The NPV Computation</a:t>
            </a:r>
          </a:p>
        </p:txBody>
      </p:sp>
    </p:spTree>
    <p:extLst>
      <p:ext uri="{BB962C8B-B14F-4D97-AF65-F5344CB8AC3E}">
        <p14:creationId xmlns:p14="http://schemas.microsoft.com/office/powerpoint/2010/main" val="6571704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4919264-AFF4-4F32-98D2-8B8D51C9961F}"/>
              </a:ext>
            </a:extLst>
          </p:cNvPr>
          <p:cNvSpPr>
            <a:spLocks noGrp="1"/>
          </p:cNvSpPr>
          <p:nvPr>
            <p:ph idx="1"/>
          </p:nvPr>
        </p:nvSpPr>
        <p:spPr/>
        <p:txBody>
          <a:bodyPr/>
          <a:lstStyle/>
          <a:p>
            <a:pPr lvl="0"/>
            <a:r>
              <a:rPr lang="en-US" dirty="0"/>
              <a:t>The NPV calculation takes the point in time into account at which cash flows occur. </a:t>
            </a:r>
          </a:p>
          <a:p>
            <a:pPr lvl="0"/>
            <a:r>
              <a:rPr lang="en-US" dirty="0"/>
              <a:t>With a positive discount rate (which is by far the most common use), earlier cash flows impact the NPV more than those of later periods. </a:t>
            </a:r>
          </a:p>
          <a:p>
            <a:pPr lvl="0"/>
            <a:r>
              <a:rPr lang="en-US" dirty="0"/>
              <a:t>This can lead to a negative NPV even if the simple non-discounted sum of cash flows is positive or 0.</a:t>
            </a:r>
          </a:p>
          <a:p>
            <a:pPr lvl="0"/>
            <a:endParaRPr lang="en-US" dirty="0"/>
          </a:p>
        </p:txBody>
      </p:sp>
      <p:sp>
        <p:nvSpPr>
          <p:cNvPr id="3" name="Title 2">
            <a:extLst>
              <a:ext uri="{FF2B5EF4-FFF2-40B4-BE49-F238E27FC236}">
                <a16:creationId xmlns:a16="http://schemas.microsoft.com/office/drawing/2014/main" id="{8A3FF522-03E2-450D-86B8-BFB0784049CB}"/>
              </a:ext>
            </a:extLst>
          </p:cNvPr>
          <p:cNvSpPr>
            <a:spLocks noGrp="1"/>
          </p:cNvSpPr>
          <p:nvPr>
            <p:ph type="title"/>
          </p:nvPr>
        </p:nvSpPr>
        <p:spPr/>
        <p:txBody>
          <a:bodyPr/>
          <a:lstStyle/>
          <a:p>
            <a:pPr lvl="0"/>
            <a:r>
              <a:rPr lang="en-US" dirty="0"/>
              <a:t>The NPV Computation</a:t>
            </a:r>
          </a:p>
        </p:txBody>
      </p:sp>
    </p:spTree>
    <p:extLst>
      <p:ext uri="{BB962C8B-B14F-4D97-AF65-F5344CB8AC3E}">
        <p14:creationId xmlns:p14="http://schemas.microsoft.com/office/powerpoint/2010/main" val="40244339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DC31DFC-554B-4667-AB5E-4D232494CE08}"/>
              </a:ext>
            </a:extLst>
          </p:cNvPr>
          <p:cNvSpPr>
            <a:spLocks noGrp="1"/>
          </p:cNvSpPr>
          <p:nvPr>
            <p:ph idx="1"/>
          </p:nvPr>
        </p:nvSpPr>
        <p:spPr/>
        <p:txBody>
          <a:bodyPr/>
          <a:lstStyle/>
          <a:p>
            <a:pPr lvl="0"/>
            <a:r>
              <a:rPr lang="en-US" dirty="0"/>
              <a:t>Cash Flows used for NPV computations are usually stemming from a business projection for an investment or a project opportunity. </a:t>
            </a:r>
          </a:p>
          <a:p>
            <a:pPr lvl="0"/>
            <a:r>
              <a:rPr lang="en-US" dirty="0"/>
              <a:t>For the calculation of the NPV, a net cash flow estimation is basically sufficient. </a:t>
            </a:r>
          </a:p>
          <a:p>
            <a:pPr lvl="0"/>
            <a:r>
              <a:rPr lang="en-US" dirty="0"/>
              <a:t>It does not change the result whether you discount net cash flows or whether you discount gross inflows and outflows and offset the present values of both series.</a:t>
            </a:r>
          </a:p>
        </p:txBody>
      </p:sp>
      <p:sp>
        <p:nvSpPr>
          <p:cNvPr id="3" name="Title 2">
            <a:extLst>
              <a:ext uri="{FF2B5EF4-FFF2-40B4-BE49-F238E27FC236}">
                <a16:creationId xmlns:a16="http://schemas.microsoft.com/office/drawing/2014/main" id="{1A03C13E-36E0-46FD-9937-2F10398FCB49}"/>
              </a:ext>
            </a:extLst>
          </p:cNvPr>
          <p:cNvSpPr>
            <a:spLocks noGrp="1"/>
          </p:cNvSpPr>
          <p:nvPr>
            <p:ph type="title"/>
          </p:nvPr>
        </p:nvSpPr>
        <p:spPr/>
        <p:txBody>
          <a:bodyPr/>
          <a:lstStyle/>
          <a:p>
            <a:pPr lvl="0"/>
            <a:r>
              <a:rPr lang="en-US" dirty="0"/>
              <a:t>Cash Flows</a:t>
            </a:r>
          </a:p>
        </p:txBody>
      </p:sp>
    </p:spTree>
    <p:extLst>
      <p:ext uri="{BB962C8B-B14F-4D97-AF65-F5344CB8AC3E}">
        <p14:creationId xmlns:p14="http://schemas.microsoft.com/office/powerpoint/2010/main" val="1019946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1368BE1-A545-48CE-AD4E-344648D952DF}"/>
              </a:ext>
            </a:extLst>
          </p:cNvPr>
          <p:cNvSpPr>
            <a:spLocks noGrp="1"/>
          </p:cNvSpPr>
          <p:nvPr>
            <p:ph idx="1"/>
          </p:nvPr>
        </p:nvSpPr>
        <p:spPr/>
        <p:txBody>
          <a:bodyPr/>
          <a:lstStyle/>
          <a:p>
            <a:pPr lvl="0"/>
            <a:r>
              <a:rPr lang="en-US" dirty="0"/>
              <a:t>The formula for the calculation of the net present value is</a:t>
            </a:r>
          </a:p>
          <a:p>
            <a:pPr lvl="0"/>
            <a:endParaRPr lang="en-US" dirty="0"/>
          </a:p>
          <a:p>
            <a:pPr marL="400050" lvl="1" indent="0">
              <a:buNone/>
            </a:pPr>
            <a:r>
              <a:rPr lang="en-US" dirty="0"/>
              <a:t>where:</a:t>
            </a:r>
          </a:p>
          <a:p>
            <a:pPr marL="857250" lvl="2" indent="0">
              <a:buNone/>
            </a:pPr>
            <a:r>
              <a:rPr lang="en-US" dirty="0"/>
              <a:t>NPV = Net Present Value</a:t>
            </a:r>
            <a:br>
              <a:rPr lang="en-US" dirty="0"/>
            </a:br>
            <a:r>
              <a:rPr lang="en-US" dirty="0" err="1"/>
              <a:t>NCF</a:t>
            </a:r>
            <a:r>
              <a:rPr lang="en-US" dirty="0"/>
              <a:t> = Net Cash Flow of a period</a:t>
            </a:r>
            <a:br>
              <a:rPr lang="en-US" dirty="0"/>
            </a:br>
            <a:r>
              <a:rPr lang="en-US" dirty="0" err="1"/>
              <a:t>i</a:t>
            </a:r>
            <a:r>
              <a:rPr lang="en-US" dirty="0"/>
              <a:t> = Discount Rate or Interest Rate</a:t>
            </a:r>
            <a:br>
              <a:rPr lang="en-US" dirty="0"/>
            </a:br>
            <a:r>
              <a:rPr lang="en-US" dirty="0"/>
              <a:t>RV = Residual Value</a:t>
            </a:r>
            <a:br>
              <a:rPr lang="en-US" dirty="0"/>
            </a:br>
            <a:r>
              <a:rPr lang="en-US" dirty="0"/>
              <a:t>N = Total Number of Periods</a:t>
            </a:r>
            <a:br>
              <a:rPr lang="en-US" dirty="0"/>
            </a:br>
            <a:r>
              <a:rPr lang="en-US" dirty="0"/>
              <a:t>t = Period in which the Cash Flows occur</a:t>
            </a:r>
          </a:p>
          <a:p>
            <a:pPr lvl="0"/>
            <a:endParaRPr lang="en-US" dirty="0"/>
          </a:p>
          <a:p>
            <a:pPr eaLnBrk="1" hangingPunct="1"/>
            <a:endParaRPr lang="en-US" dirty="0"/>
          </a:p>
        </p:txBody>
      </p:sp>
      <p:sp>
        <p:nvSpPr>
          <p:cNvPr id="3" name="Title 2">
            <a:extLst>
              <a:ext uri="{FF2B5EF4-FFF2-40B4-BE49-F238E27FC236}">
                <a16:creationId xmlns:a16="http://schemas.microsoft.com/office/drawing/2014/main" id="{9F986773-C751-4E71-9875-DFBB513B7C81}"/>
              </a:ext>
            </a:extLst>
          </p:cNvPr>
          <p:cNvSpPr>
            <a:spLocks noGrp="1"/>
          </p:cNvSpPr>
          <p:nvPr>
            <p:ph type="title"/>
          </p:nvPr>
        </p:nvSpPr>
        <p:spPr/>
        <p:txBody>
          <a:bodyPr/>
          <a:lstStyle/>
          <a:p>
            <a:pPr lvl="0"/>
            <a:r>
              <a:rPr lang="en-US" dirty="0"/>
              <a:t>The Net Present Value (NPV) Formula</a:t>
            </a:r>
          </a:p>
        </p:txBody>
      </p:sp>
      <p:pic>
        <p:nvPicPr>
          <p:cNvPr id="4" name="Picture 3" descr="Net present value (NPV) formula - Sum of Cash Flow / (1+i)^t">
            <a:extLst>
              <a:ext uri="{FF2B5EF4-FFF2-40B4-BE49-F238E27FC236}">
                <a16:creationId xmlns:a16="http://schemas.microsoft.com/office/drawing/2014/main" id="{6F60ABFD-10CE-4A3E-8914-348C1F2CFD6E}"/>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362200" y="2438400"/>
            <a:ext cx="3971925" cy="733425"/>
          </a:xfrm>
          <a:prstGeom prst="rect">
            <a:avLst/>
          </a:prstGeom>
          <a:noFill/>
          <a:ln>
            <a:noFill/>
          </a:ln>
        </p:spPr>
      </p:pic>
    </p:spTree>
    <p:extLst>
      <p:ext uri="{BB962C8B-B14F-4D97-AF65-F5344CB8AC3E}">
        <p14:creationId xmlns:p14="http://schemas.microsoft.com/office/powerpoint/2010/main" val="30057178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1368BE1-A545-48CE-AD4E-344648D952DF}"/>
              </a:ext>
            </a:extLst>
          </p:cNvPr>
          <p:cNvSpPr>
            <a:spLocks noGrp="1"/>
          </p:cNvSpPr>
          <p:nvPr>
            <p:ph idx="1"/>
          </p:nvPr>
        </p:nvSpPr>
        <p:spPr/>
        <p:txBody>
          <a:bodyPr/>
          <a:lstStyle/>
          <a:p>
            <a:pPr lvl="0"/>
            <a:r>
              <a:rPr lang="en-US" dirty="0"/>
              <a:t>The formula for the calculation of the net present value can be simplified as</a:t>
            </a:r>
          </a:p>
          <a:p>
            <a:pPr lvl="0"/>
            <a:endParaRPr lang="en-US" dirty="0"/>
          </a:p>
          <a:p>
            <a:pPr marL="400050" lvl="1" indent="0">
              <a:buNone/>
            </a:pPr>
            <a:r>
              <a:rPr lang="en-US" dirty="0"/>
              <a:t>where:</a:t>
            </a:r>
          </a:p>
          <a:p>
            <a:pPr marL="857250" lvl="2" indent="0">
              <a:buNone/>
            </a:pPr>
            <a:r>
              <a:rPr lang="en-US" dirty="0"/>
              <a:t>NPV = Net Present Value</a:t>
            </a:r>
            <a:br>
              <a:rPr lang="en-US" dirty="0"/>
            </a:br>
            <a:r>
              <a:rPr lang="en-US" dirty="0"/>
              <a:t>FV = Net Cash Flow of a period</a:t>
            </a:r>
            <a:br>
              <a:rPr lang="en-US" dirty="0"/>
            </a:br>
            <a:r>
              <a:rPr lang="en-US" dirty="0"/>
              <a:t>r = Discount Rate or Interest Rate</a:t>
            </a:r>
            <a:br>
              <a:rPr lang="en-US" dirty="0"/>
            </a:br>
            <a:r>
              <a:rPr lang="en-US" dirty="0"/>
              <a:t>n = Total current Period (base of 0)</a:t>
            </a:r>
            <a:br>
              <a:rPr lang="en-US" dirty="0"/>
            </a:br>
            <a:endParaRPr lang="en-US" dirty="0"/>
          </a:p>
          <a:p>
            <a:r>
              <a:rPr lang="en-US" dirty="0"/>
              <a:t>By calculating this value for each period, we can then add all the values to obtain the NPV.</a:t>
            </a:r>
          </a:p>
          <a:p>
            <a:pPr eaLnBrk="1" hangingPunct="1"/>
            <a:endParaRPr lang="en-US" dirty="0"/>
          </a:p>
        </p:txBody>
      </p:sp>
      <p:sp>
        <p:nvSpPr>
          <p:cNvPr id="3" name="Title 2">
            <a:extLst>
              <a:ext uri="{FF2B5EF4-FFF2-40B4-BE49-F238E27FC236}">
                <a16:creationId xmlns:a16="http://schemas.microsoft.com/office/drawing/2014/main" id="{9F986773-C751-4E71-9875-DFBB513B7C81}"/>
              </a:ext>
            </a:extLst>
          </p:cNvPr>
          <p:cNvSpPr>
            <a:spLocks noGrp="1"/>
          </p:cNvSpPr>
          <p:nvPr>
            <p:ph type="title"/>
          </p:nvPr>
        </p:nvSpPr>
        <p:spPr/>
        <p:txBody>
          <a:bodyPr/>
          <a:lstStyle/>
          <a:p>
            <a:pPr lvl="0"/>
            <a:r>
              <a:rPr lang="en-US" dirty="0"/>
              <a:t>The Net Present Value (NPV) Formula</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5BC59B44-4875-4A6D-B844-852C8C6309D0}"/>
                  </a:ext>
                </a:extLst>
              </p:cNvPr>
              <p:cNvSpPr txBox="1"/>
              <p:nvPr/>
            </p:nvSpPr>
            <p:spPr>
              <a:xfrm>
                <a:off x="2667000" y="2667000"/>
                <a:ext cx="1808187" cy="834780"/>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𝑃𝑉</m:t>
                      </m:r>
                      <m:r>
                        <a:rPr lang="en-US"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𝐹𝑉</m:t>
                          </m:r>
                        </m:num>
                        <m:den>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𝑟</m:t>
                                  </m:r>
                                </m:e>
                              </m:d>
                            </m:e>
                            <m:sup>
                              <m:r>
                                <a:rPr lang="en-US" b="0" i="1" smtClean="0">
                                  <a:latin typeface="Cambria Math" panose="02040503050406030204" pitchFamily="18" charset="0"/>
                                </a:rPr>
                                <m:t>𝑛</m:t>
                              </m:r>
                            </m:sup>
                          </m:sSup>
                        </m:den>
                      </m:f>
                    </m:oMath>
                  </m:oMathPara>
                </a14:m>
                <a:endParaRPr lang="en-US" b="0" dirty="0"/>
              </a:p>
              <a:p>
                <a:endParaRPr lang="en-US" dirty="0"/>
              </a:p>
            </p:txBody>
          </p:sp>
        </mc:Choice>
        <mc:Fallback>
          <p:sp>
            <p:nvSpPr>
              <p:cNvPr id="5" name="TextBox 4">
                <a:extLst>
                  <a:ext uri="{FF2B5EF4-FFF2-40B4-BE49-F238E27FC236}">
                    <a16:creationId xmlns:a16="http://schemas.microsoft.com/office/drawing/2014/main" id="{5BC59B44-4875-4A6D-B844-852C8C6309D0}"/>
                  </a:ext>
                </a:extLst>
              </p:cNvPr>
              <p:cNvSpPr txBox="1">
                <a:spLocks noRot="1" noChangeAspect="1" noMove="1" noResize="1" noEditPoints="1" noAdjustHandles="1" noChangeArrowheads="1" noChangeShapeType="1" noTextEdit="1"/>
              </p:cNvSpPr>
              <p:nvPr/>
            </p:nvSpPr>
            <p:spPr>
              <a:xfrm>
                <a:off x="2667000" y="2667000"/>
                <a:ext cx="1808187" cy="834780"/>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506229526"/>
      </p:ext>
    </p:extLst>
  </p:cSld>
  <p:clrMapOvr>
    <a:masterClrMapping/>
  </p:clrMapOvr>
</p:sld>
</file>

<file path=ppt/theme/theme1.xml><?xml version="1.0" encoding="utf-8"?>
<a:theme xmlns:a="http://schemas.openxmlformats.org/drawingml/2006/main" name="68347_Pppt_template">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68347_Pppt_template</Template>
  <TotalTime>29187</TotalTime>
  <Words>1949</Words>
  <Application>Microsoft Office PowerPoint</Application>
  <PresentationFormat>On-screen Show (4:3)</PresentationFormat>
  <Paragraphs>133</Paragraphs>
  <Slides>30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Calibri</vt:lpstr>
      <vt:lpstr>Cambria Math</vt:lpstr>
      <vt:lpstr>Courier New</vt:lpstr>
      <vt:lpstr>Wingdings</vt:lpstr>
      <vt:lpstr>68347_Pppt_template</vt:lpstr>
      <vt:lpstr>PowerPoint Presentation</vt:lpstr>
      <vt:lpstr>What is Feasibility Study?</vt:lpstr>
      <vt:lpstr>Study Design</vt:lpstr>
      <vt:lpstr>Types of Feasibility Study</vt:lpstr>
      <vt:lpstr>1. Technical Feasibility</vt:lpstr>
      <vt:lpstr>2. Economic Feasibility</vt:lpstr>
      <vt:lpstr>3. Legal Feasibility</vt:lpstr>
      <vt:lpstr>4. Operational Feasibility</vt:lpstr>
      <vt:lpstr>5. Scheduling Feasibility</vt:lpstr>
      <vt:lpstr>Summary</vt:lpstr>
      <vt:lpstr>Minimizing Risk (1 of 2)</vt:lpstr>
      <vt:lpstr>Minimizing Risk (2 of 2)</vt:lpstr>
      <vt:lpstr>What Is Cost Benefit Analysis? (1 of 3)</vt:lpstr>
      <vt:lpstr>What Is Cost Benefit Analysis? (2 of 3)</vt:lpstr>
      <vt:lpstr>What Is Cost Benefit Analysis? (3 of 3)</vt:lpstr>
      <vt:lpstr>The Purpose of Cost Benefit Analysis</vt:lpstr>
      <vt:lpstr>The Purpose of Cost Benefit Analysis</vt:lpstr>
      <vt:lpstr>The Steps to Cost Benefit Analysis</vt:lpstr>
      <vt:lpstr> How Accurate is Cost Benefit Analysis?</vt:lpstr>
      <vt:lpstr>Issues Related to CBA Accuracy</vt:lpstr>
      <vt:lpstr>Limitations to Cost Benefit Analysis?</vt:lpstr>
      <vt:lpstr>Additional Supporting Calculations</vt:lpstr>
      <vt:lpstr>Net Present Value (NPV)</vt:lpstr>
      <vt:lpstr>What Is the Net Present Value? </vt:lpstr>
      <vt:lpstr>What Is the Net Present Value?</vt:lpstr>
      <vt:lpstr>The NPV Computation</vt:lpstr>
      <vt:lpstr>The NPV Computation</vt:lpstr>
      <vt:lpstr>Cash Flows</vt:lpstr>
      <vt:lpstr>The Net Present Value (NPV) Formula</vt:lpstr>
      <vt:lpstr>The Net Present Value (NPV) Formula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Rose</dc:creator>
  <cp:lastModifiedBy>Leon Small</cp:lastModifiedBy>
  <cp:revision>227</cp:revision>
  <cp:lastPrinted>2019-04-01T15:58:27Z</cp:lastPrinted>
  <dcterms:created xsi:type="dcterms:W3CDTF">2010-12-13T04:11:14Z</dcterms:created>
  <dcterms:modified xsi:type="dcterms:W3CDTF">2021-03-23T06:52:43Z</dcterms:modified>
</cp:coreProperties>
</file>