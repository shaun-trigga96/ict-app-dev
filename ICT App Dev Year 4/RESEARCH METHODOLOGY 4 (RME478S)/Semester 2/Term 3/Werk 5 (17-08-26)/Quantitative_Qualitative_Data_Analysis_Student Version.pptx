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94" r:id="rId7"/>
    <p:sldId id="295" r:id="rId8"/>
    <p:sldId id="296" r:id="rId9"/>
    <p:sldId id="297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D57A61-6BBF-044B-AC60-88F6062E44B4}" v="1" dt="2026-08-17T11:54:25.4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3957"/>
  </p:normalViewPr>
  <p:slideViewPr>
    <p:cSldViewPr snapToGrid="0" snapToObjects="1">
      <p:cViewPr>
        <p:scale>
          <a:sx n="91" d="100"/>
          <a:sy n="91" d="100"/>
        </p:scale>
        <p:origin x="182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36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1502C50-3D52-48D5-9DAF-0534EBF5142D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endParaRPr sz="800"/>
          </a:p>
        </p:txBody>
      </p:sp>
      <p:sp>
        <p:nvSpPr>
          <p:cNvPr id="5" name="Editable text S01 L01">
            <a:extLst>
              <a:ext uri="{FF2B5EF4-FFF2-40B4-BE49-F238E27FC236}">
                <a16:creationId xmlns:a16="http://schemas.microsoft.com/office/drawing/2014/main" id="{9DB5D15F-CC55-4695-889D-D18551C0CA7E}"/>
              </a:ext>
            </a:extLst>
          </p:cNvPr>
          <p:cNvSpPr>
            <a:spLocks noGrp="1"/>
          </p:cNvSpPr>
          <p:nvPr/>
        </p:nvSpPr>
        <p:spPr>
          <a:xfrm>
            <a:off x="1052794" y="1096328"/>
            <a:ext cx="4321747" cy="529590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89103" lnSpcReduction="10000"/>
          </a:bodyPr>
          <a:lstStyle/>
          <a:p>
            <a:pPr algn="l">
              <a:buNone/>
              <a:defRPr sz="3900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Quantitative and</a:t>
            </a:r>
          </a:p>
        </p:txBody>
      </p:sp>
      <p:sp>
        <p:nvSpPr>
          <p:cNvPr id="6" name="Editable text S01 L02">
            <a:extLst>
              <a:ext uri="{FF2B5EF4-FFF2-40B4-BE49-F238E27FC236}">
                <a16:creationId xmlns:a16="http://schemas.microsoft.com/office/drawing/2014/main" id="{34C910DE-6B4A-4469-9C3E-45C00F9F19FF}"/>
              </a:ext>
            </a:extLst>
          </p:cNvPr>
          <p:cNvSpPr>
            <a:spLocks noGrp="1"/>
          </p:cNvSpPr>
          <p:nvPr/>
        </p:nvSpPr>
        <p:spPr>
          <a:xfrm>
            <a:off x="1052794" y="1629728"/>
            <a:ext cx="6362631" cy="567690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5513"/>
          </a:bodyPr>
          <a:lstStyle/>
          <a:p>
            <a:pPr algn="l">
              <a:buNone/>
              <a:defRPr sz="3900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Qualitative Data Analysis</a:t>
            </a:r>
          </a:p>
        </p:txBody>
      </p:sp>
      <p:sp>
        <p:nvSpPr>
          <p:cNvPr id="7" name="Editable text S01 L03">
            <a:extLst>
              <a:ext uri="{FF2B5EF4-FFF2-40B4-BE49-F238E27FC236}">
                <a16:creationId xmlns:a16="http://schemas.microsoft.com/office/drawing/2014/main" id="{4ECF7470-6A59-4D7D-A374-762D4001289B}"/>
              </a:ext>
            </a:extLst>
          </p:cNvPr>
          <p:cNvSpPr>
            <a:spLocks noGrp="1"/>
          </p:cNvSpPr>
          <p:nvPr/>
        </p:nvSpPr>
        <p:spPr>
          <a:xfrm>
            <a:off x="1076597" y="2429158"/>
            <a:ext cx="6050658" cy="293088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9748"/>
          </a:bodyPr>
          <a:lstStyle/>
          <a:p>
            <a:pPr algn="l">
              <a:buNone/>
              <a:defRPr sz="1928" b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endParaRPr sz="1928" b="0">
              <a:solidFill>
                <a:srgbClr val="56616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Editable text S01 L04">
            <a:extLst>
              <a:ext uri="{FF2B5EF4-FFF2-40B4-BE49-F238E27FC236}">
                <a16:creationId xmlns:a16="http://schemas.microsoft.com/office/drawing/2014/main" id="{4E93C513-92DD-4E88-B8D6-81B7B03DC846}"/>
              </a:ext>
            </a:extLst>
          </p:cNvPr>
          <p:cNvSpPr>
            <a:spLocks noGrp="1"/>
          </p:cNvSpPr>
          <p:nvPr/>
        </p:nvSpPr>
        <p:spPr>
          <a:xfrm>
            <a:off x="3848544" y="3089910"/>
            <a:ext cx="2103797" cy="192405"/>
          </a:xfrm>
          <a:prstGeom prst="rect">
            <a:avLst/>
          </a:prstGeom>
          <a:solidFill>
            <a:srgbClr val="EFE7F7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132" b="1">
                <a:solidFill>
                  <a:srgbClr val="7D4AB3"/>
                </a:solidFill>
                <a:latin typeface="Aptos"/>
                <a:ea typeface="Aptos"/>
                <a:cs typeface="Aptos"/>
              </a:defRPr>
            </a:pPr>
            <a:r>
              <a:rPr sz="1132" b="1">
                <a:solidFill>
                  <a:srgbClr val="7D4AB3"/>
                </a:solidFill>
                <a:latin typeface="Aptos"/>
                <a:ea typeface="Aptos"/>
                <a:cs typeface="Aptos"/>
              </a:rPr>
              <a:t>Week 6: Qualitative Analysis</a:t>
            </a:r>
          </a:p>
        </p:txBody>
      </p:sp>
      <p:sp>
        <p:nvSpPr>
          <p:cNvPr id="9" name="Editable text S01 L05">
            <a:extLst>
              <a:ext uri="{FF2B5EF4-FFF2-40B4-BE49-F238E27FC236}">
                <a16:creationId xmlns:a16="http://schemas.microsoft.com/office/drawing/2014/main" id="{1DAFCF64-AE53-40E2-B1E2-8B4B152E94DD}"/>
              </a:ext>
            </a:extLst>
          </p:cNvPr>
          <p:cNvSpPr>
            <a:spLocks noGrp="1"/>
          </p:cNvSpPr>
          <p:nvPr/>
        </p:nvSpPr>
        <p:spPr>
          <a:xfrm>
            <a:off x="1487820" y="3089910"/>
            <a:ext cx="1346081" cy="158115"/>
          </a:xfrm>
          <a:prstGeom prst="rect">
            <a:avLst/>
          </a:prstGeom>
          <a:solidFill>
            <a:srgbClr val="E7EEF9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857" b="1">
                <a:solidFill>
                  <a:srgbClr val="315D9D"/>
                </a:solidFill>
                <a:latin typeface="Aptos"/>
                <a:ea typeface="Aptos"/>
                <a:cs typeface="Aptos"/>
              </a:defRPr>
            </a:pPr>
            <a:r>
              <a:rPr sz="857" b="1">
                <a:solidFill>
                  <a:srgbClr val="315D9D"/>
                </a:solidFill>
                <a:latin typeface="Aptos"/>
                <a:ea typeface="Aptos"/>
                <a:cs typeface="Aptos"/>
              </a:rPr>
              <a:t>Week 5: Statistics</a:t>
            </a:r>
          </a:p>
        </p:txBody>
      </p:sp>
      <p:sp>
        <p:nvSpPr>
          <p:cNvPr id="10" name="Editable text S01 L06">
            <a:extLst>
              <a:ext uri="{FF2B5EF4-FFF2-40B4-BE49-F238E27FC236}">
                <a16:creationId xmlns:a16="http://schemas.microsoft.com/office/drawing/2014/main" id="{E2FA31FF-C9FB-4779-916C-92FD978854ED}"/>
              </a:ext>
            </a:extLst>
          </p:cNvPr>
          <p:cNvSpPr>
            <a:spLocks noGrp="1"/>
          </p:cNvSpPr>
          <p:nvPr/>
        </p:nvSpPr>
        <p:spPr>
          <a:xfrm>
            <a:off x="8745144" y="4941570"/>
            <a:ext cx="1212814" cy="22288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377" b="0">
                <a:solidFill>
                  <a:srgbClr val="26323F"/>
                </a:solidFill>
                <a:latin typeface="Aptos"/>
                <a:ea typeface="Aptos"/>
                <a:cs typeface="Aptos"/>
              </a:defRPr>
            </a:pPr>
            <a:r>
              <a:rPr sz="1377" b="0">
                <a:solidFill>
                  <a:srgbClr val="26323F"/>
                </a:solidFill>
                <a:latin typeface="Aptos"/>
                <a:ea typeface="Aptos"/>
                <a:cs typeface="Aptos"/>
              </a:rPr>
              <a:t>From data</a:t>
            </a:r>
          </a:p>
        </p:txBody>
      </p:sp>
      <p:sp>
        <p:nvSpPr>
          <p:cNvPr id="11" name="Editable text S01 L07">
            <a:extLst>
              <a:ext uri="{FF2B5EF4-FFF2-40B4-BE49-F238E27FC236}">
                <a16:creationId xmlns:a16="http://schemas.microsoft.com/office/drawing/2014/main" id="{F23A4952-E69A-40AD-97D9-ED4366E5123D}"/>
              </a:ext>
            </a:extLst>
          </p:cNvPr>
          <p:cNvSpPr>
            <a:spLocks noGrp="1"/>
          </p:cNvSpPr>
          <p:nvPr/>
        </p:nvSpPr>
        <p:spPr>
          <a:xfrm>
            <a:off x="8661376" y="5151120"/>
            <a:ext cx="1368926" cy="21526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316" b="0">
                <a:solidFill>
                  <a:srgbClr val="26323F"/>
                </a:solidFill>
                <a:latin typeface="Aptos"/>
                <a:ea typeface="Aptos"/>
                <a:cs typeface="Aptos"/>
              </a:defRPr>
            </a:pPr>
            <a:r>
              <a:rPr sz="1316" b="0">
                <a:solidFill>
                  <a:srgbClr val="26323F"/>
                </a:solidFill>
                <a:latin typeface="Aptos"/>
                <a:ea typeface="Aptos"/>
                <a:cs typeface="Aptos"/>
              </a:rPr>
              <a:t>to evidence</a:t>
            </a:r>
          </a:p>
        </p:txBody>
      </p:sp>
      <p:sp>
        <p:nvSpPr>
          <p:cNvPr id="12" name="Editable text S01 L08">
            <a:extLst>
              <a:ext uri="{FF2B5EF4-FFF2-40B4-BE49-F238E27FC236}">
                <a16:creationId xmlns:a16="http://schemas.microsoft.com/office/drawing/2014/main" id="{9BC83BFF-52B3-43E3-869A-DA655B1C69D6}"/>
              </a:ext>
            </a:extLst>
          </p:cNvPr>
          <p:cNvSpPr>
            <a:spLocks noGrp="1"/>
          </p:cNvSpPr>
          <p:nvPr/>
        </p:nvSpPr>
        <p:spPr>
          <a:xfrm>
            <a:off x="8642338" y="5353050"/>
            <a:ext cx="1407003" cy="22288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377" b="0">
                <a:solidFill>
                  <a:srgbClr val="26323F"/>
                </a:solidFill>
                <a:latin typeface="Aptos"/>
                <a:ea typeface="Aptos"/>
                <a:cs typeface="Aptos"/>
              </a:defRPr>
            </a:pPr>
            <a:r>
              <a:rPr sz="1377" b="0">
                <a:solidFill>
                  <a:srgbClr val="26323F"/>
                </a:solidFill>
                <a:latin typeface="Aptos"/>
                <a:ea typeface="Aptos"/>
                <a:cs typeface="Aptos"/>
              </a:rPr>
              <a:t>to decisions</a:t>
            </a:r>
          </a:p>
        </p:txBody>
      </p:sp>
      <p:sp>
        <p:nvSpPr>
          <p:cNvPr id="13" name="Editable text S01 L09">
            <a:extLst>
              <a:ext uri="{FF2B5EF4-FFF2-40B4-BE49-F238E27FC236}">
                <a16:creationId xmlns:a16="http://schemas.microsoft.com/office/drawing/2014/main" id="{C60AB965-8943-45E7-A976-3AFA2D7E2CDF}"/>
              </a:ext>
            </a:extLst>
          </p:cNvPr>
          <p:cNvSpPr>
            <a:spLocks noGrp="1"/>
          </p:cNvSpPr>
          <p:nvPr/>
        </p:nvSpPr>
        <p:spPr>
          <a:xfrm>
            <a:off x="1076597" y="6336030"/>
            <a:ext cx="4312217" cy="18097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040" b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1040" b="0">
                <a:solidFill>
                  <a:srgbClr val="56616B"/>
                </a:solidFill>
                <a:latin typeface="Aptos"/>
                <a:ea typeface="Aptos"/>
                <a:cs typeface="Aptos"/>
              </a:rPr>
              <a:t>Research Methodology 4</a:t>
            </a:r>
          </a:p>
        </p:txBody>
      </p:sp>
      <p:sp>
        <p:nvSpPr>
          <p:cNvPr id="14" name="Editable text S01 L10">
            <a:extLst>
              <a:ext uri="{FF2B5EF4-FFF2-40B4-BE49-F238E27FC236}">
                <a16:creationId xmlns:a16="http://schemas.microsoft.com/office/drawing/2014/main" id="{995978E5-0586-415B-8FE4-F72EBF4E6303}"/>
              </a:ext>
            </a:extLst>
          </p:cNvPr>
          <p:cNvSpPr>
            <a:spLocks noGrp="1"/>
          </p:cNvSpPr>
          <p:nvPr/>
        </p:nvSpPr>
        <p:spPr>
          <a:xfrm>
            <a:off x="11527564" y="6593205"/>
            <a:ext cx="224733" cy="1200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00" b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6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25292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A8536C8-7BBB-4E8C-AAA0-1F7D3EEFF05A}"/>
              </a:ext>
            </a:extLst>
          </p:cNvPr>
          <p:cNvSpPr>
            <a:spLocks noGrp="1"/>
          </p:cNvSpPr>
          <p:nvPr/>
        </p:nvSpPr>
        <p:spPr>
          <a:xfrm>
            <a:off x="658368" y="29260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125" b="1">
                <a:solidFill>
                  <a:srgbClr val="0F5E5A"/>
                </a:solidFill>
              </a:defRPr>
            </a:pPr>
            <a:r>
              <a:rPr sz="1125" b="1">
                <a:solidFill>
                  <a:srgbClr val="0F5E5A"/>
                </a:solidFill>
              </a:rPr>
              <a:t>CRESWELL LENS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64DC89C-0D9A-4F4A-A34C-F556E8D13757}"/>
              </a:ext>
            </a:extLst>
          </p:cNvPr>
          <p:cNvSpPr>
            <a:spLocks noGrp="1"/>
          </p:cNvSpPr>
          <p:nvPr/>
        </p:nvSpPr>
        <p:spPr>
          <a:xfrm>
            <a:off x="640080" y="512064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700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Creswell frames data analysis as connected work</a:t>
            </a:r>
            <a:endParaRPr sz="27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412DF40-DEE1-4059-B574-2395824F2FEC}"/>
              </a:ext>
            </a:extLst>
          </p:cNvPr>
          <p:cNvSpPr>
            <a:spLocks noGrp="1"/>
          </p:cNvSpPr>
          <p:nvPr/>
        </p:nvSpPr>
        <p:spPr>
          <a:xfrm>
            <a:off x="640080" y="1133856"/>
            <a:ext cx="10927080" cy="0"/>
          </a:xfrm>
          <a:prstGeom prst="line">
            <a:avLst/>
          </a:prstGeom>
          <a:noFill/>
          <a:ln w="1524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5AB84EE-DD4A-42C8-B90D-7BFDBF9470F5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11292840" cy="0"/>
          </a:xfrm>
          <a:prstGeom prst="line">
            <a:avLst/>
          </a:prstGeom>
          <a:noFill/>
          <a:ln w="1270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1C2C5A4-589F-4071-88A2-8049D9E1F881}"/>
              </a:ext>
            </a:extLst>
          </p:cNvPr>
          <p:cNvSpPr>
            <a:spLocks noGrp="1"/>
          </p:cNvSpPr>
          <p:nvPr/>
        </p:nvSpPr>
        <p:spPr>
          <a:xfrm>
            <a:off x="777240" y="1298448"/>
            <a:ext cx="10698480" cy="50292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 fontScale="91902" lnSpcReduction="10000"/>
          </a:bodyPr>
          <a:lstStyle/>
          <a:p>
            <a:pPr marL="0" indent="0" algn="ctr">
              <a:buNone/>
            </a:pPr>
            <a:r>
              <a:rPr sz="1950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Analysis is structured, layered and iterative: each phase informs the next, and earlier decisions may be revisited.</a:t>
            </a:r>
            <a:endParaRPr sz="195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3FA7202-0502-4451-B450-FBB576FDA63E}"/>
              </a:ext>
            </a:extLst>
          </p:cNvPr>
          <p:cNvSpPr>
            <a:spLocks noGrp="1"/>
          </p:cNvSpPr>
          <p:nvPr/>
        </p:nvSpPr>
        <p:spPr>
          <a:xfrm>
            <a:off x="868680" y="214884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DFF3F0"/>
          </a:solidFill>
          <a:ln w="1016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BE58995-6A67-42EA-B70A-61D2F8E0C087}"/>
              </a:ext>
            </a:extLst>
          </p:cNvPr>
          <p:cNvSpPr>
            <a:spLocks noGrp="1"/>
          </p:cNvSpPr>
          <p:nvPr/>
        </p:nvSpPr>
        <p:spPr>
          <a:xfrm>
            <a:off x="1033272" y="2313432"/>
            <a:ext cx="2871216" cy="27432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 algn="l">
              <a:buNone/>
            </a:pPr>
            <a:r>
              <a:rPr sz="1650" b="1">
                <a:solidFill>
                  <a:srgbClr val="0F5E5A"/>
                </a:solidFill>
                <a:latin typeface="Aptos"/>
                <a:ea typeface="Aptos"/>
                <a:cs typeface="Aptos"/>
              </a:rPr>
              <a:t>Structured</a:t>
            </a:r>
            <a:endParaRPr sz="16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F62362D-16D5-4494-8476-BCC940BCB190}"/>
              </a:ext>
            </a:extLst>
          </p:cNvPr>
          <p:cNvSpPr>
            <a:spLocks noGrp="1"/>
          </p:cNvSpPr>
          <p:nvPr/>
        </p:nvSpPr>
        <p:spPr>
          <a:xfrm>
            <a:off x="1033272" y="2697480"/>
            <a:ext cx="2871216" cy="1517904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 algn="l">
              <a:buNone/>
            </a:pPr>
            <a:r>
              <a:rPr sz="1270">
                <a:solidFill>
                  <a:srgbClr val="18212A"/>
                </a:solidFill>
                <a:latin typeface="Aptos"/>
                <a:ea typeface="Aptos"/>
                <a:cs typeface="Aptos"/>
              </a:rPr>
              <a:t>Prepare and organise evidence using clear procedures, documented decisions and an explicit link to the research question.</a:t>
            </a:r>
            <a:endParaRPr sz="127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D1B48B6-BCDA-4F8D-9EAB-4C03266420E8}"/>
              </a:ext>
            </a:extLst>
          </p:cNvPr>
          <p:cNvSpPr>
            <a:spLocks noGrp="1"/>
          </p:cNvSpPr>
          <p:nvPr/>
        </p:nvSpPr>
        <p:spPr>
          <a:xfrm>
            <a:off x="4480560" y="214884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F8EEDC"/>
          </a:solidFill>
          <a:ln w="1016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926190D-9EBE-42D4-B33E-0FC7FE3619B9}"/>
              </a:ext>
            </a:extLst>
          </p:cNvPr>
          <p:cNvSpPr>
            <a:spLocks noGrp="1"/>
          </p:cNvSpPr>
          <p:nvPr/>
        </p:nvSpPr>
        <p:spPr>
          <a:xfrm>
            <a:off x="4645152" y="2313432"/>
            <a:ext cx="2871216" cy="27432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 algn="l">
              <a:buNone/>
            </a:pPr>
            <a:r>
              <a:rPr sz="1650" b="1">
                <a:solidFill>
                  <a:srgbClr val="C98518"/>
                </a:solidFill>
                <a:latin typeface="Aptos"/>
                <a:ea typeface="Aptos"/>
                <a:cs typeface="Aptos"/>
              </a:rPr>
              <a:t>Layered</a:t>
            </a:r>
            <a:endParaRPr sz="165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0E21390-6982-4560-8E55-604A167B293D}"/>
              </a:ext>
            </a:extLst>
          </p:cNvPr>
          <p:cNvSpPr>
            <a:spLocks noGrp="1"/>
          </p:cNvSpPr>
          <p:nvPr/>
        </p:nvSpPr>
        <p:spPr>
          <a:xfrm>
            <a:off x="4645152" y="2697480"/>
            <a:ext cx="2871216" cy="1517904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 algn="l">
              <a:buNone/>
            </a:pPr>
            <a:r>
              <a:rPr sz="1270">
                <a:solidFill>
                  <a:srgbClr val="18212A"/>
                </a:solidFill>
                <a:latin typeface="Aptos"/>
                <a:ea typeface="Aptos"/>
                <a:cs typeface="Aptos"/>
              </a:rPr>
              <a:t>Move from raw material to codes, categories, statistics, themes and interpretations at progressively higher levels.</a:t>
            </a:r>
            <a:endParaRPr sz="127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82BC33B-3BA0-41DF-9231-FC8000D59D09}"/>
              </a:ext>
            </a:extLst>
          </p:cNvPr>
          <p:cNvSpPr>
            <a:spLocks noGrp="1"/>
          </p:cNvSpPr>
          <p:nvPr/>
        </p:nvSpPr>
        <p:spPr>
          <a:xfrm>
            <a:off x="8092440" y="214884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F8E3E3"/>
          </a:solidFill>
          <a:ln w="1016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6746BD6-1BFA-45A4-82B0-EC4304F58BC3}"/>
              </a:ext>
            </a:extLst>
          </p:cNvPr>
          <p:cNvSpPr>
            <a:spLocks noGrp="1"/>
          </p:cNvSpPr>
          <p:nvPr/>
        </p:nvSpPr>
        <p:spPr>
          <a:xfrm>
            <a:off x="8257032" y="2313432"/>
            <a:ext cx="2871216" cy="27432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 algn="l">
              <a:buNone/>
            </a:pPr>
            <a:r>
              <a:rPr sz="1650" b="1">
                <a:solidFill>
                  <a:srgbClr val="B04A4A"/>
                </a:solidFill>
                <a:latin typeface="Aptos"/>
                <a:ea typeface="Aptos"/>
                <a:cs typeface="Aptos"/>
              </a:rPr>
              <a:t>Iterative</a:t>
            </a:r>
            <a:endParaRPr sz="16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8641E18-22F9-4520-91BF-D71885819322}"/>
              </a:ext>
            </a:extLst>
          </p:cNvPr>
          <p:cNvSpPr>
            <a:spLocks noGrp="1"/>
          </p:cNvSpPr>
          <p:nvPr/>
        </p:nvSpPr>
        <p:spPr>
          <a:xfrm>
            <a:off x="8257032" y="2697480"/>
            <a:ext cx="2871216" cy="1517904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 algn="l">
              <a:buNone/>
            </a:pPr>
            <a:r>
              <a:rPr sz="1270">
                <a:solidFill>
                  <a:srgbClr val="18212A"/>
                </a:solidFill>
                <a:latin typeface="Aptos"/>
                <a:ea typeface="Aptos"/>
                <a:cs typeface="Aptos"/>
              </a:rPr>
              <a:t>Read, test, revise and represent findings in cycles rather than treating analysis as one final event.</a:t>
            </a:r>
            <a:endParaRPr sz="127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7778DD9-24FE-47F0-96E3-D9B0C63D116D}"/>
              </a:ext>
            </a:extLst>
          </p:cNvPr>
          <p:cNvSpPr>
            <a:spLocks noGrp="1"/>
          </p:cNvSpPr>
          <p:nvPr/>
        </p:nvSpPr>
        <p:spPr>
          <a:xfrm>
            <a:off x="960120" y="5303520"/>
            <a:ext cx="10241280" cy="41148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 fontScale="77754" lnSpcReduction="20000"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Analysis is a reasoned movement from prepared data to transparent, proportionate claims (Creswell and Creswell, 2018).</a:t>
            </a:r>
            <a:endParaRPr sz="20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EEE07F7-81DB-4186-97DD-D3C641AC3D9A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00">
                <a:solidFill>
                  <a:srgbClr val="56616B"/>
                </a:solidFill>
              </a:rPr>
              <a:t>01A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322544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 descr="Grey-coloured shell">
            <a:extLst>
              <a:ext uri="{FF2B5EF4-FFF2-40B4-BE49-F238E27FC236}">
                <a16:creationId xmlns:a16="http://schemas.microsoft.com/office/drawing/2014/main" id="{9E2A0250-2FE5-DCF2-A328-FBB22124C4B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566" y="2337311"/>
            <a:ext cx="4586474" cy="3057649"/>
          </a:xfrm>
          <a:prstGeom prst="rect">
            <a:avLst/>
          </a:prstGeom>
          <a:effectLst>
            <a:softEdge rad="205069"/>
          </a:effec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0F047C19-4FDA-48EA-B5F0-FC271270601A}"/>
              </a:ext>
            </a:extLst>
          </p:cNvPr>
          <p:cNvSpPr>
            <a:spLocks noGrp="1"/>
          </p:cNvSpPr>
          <p:nvPr/>
        </p:nvSpPr>
        <p:spPr>
          <a:xfrm>
            <a:off x="658368" y="0"/>
            <a:ext cx="502920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125" b="1">
                <a:solidFill>
                  <a:srgbClr val="0F5E5A"/>
                </a:solidFill>
              </a:defRPr>
            </a:pPr>
            <a:endParaRPr sz="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420E36-0195-4319-89B6-551B826525EE}"/>
              </a:ext>
            </a:extLst>
          </p:cNvPr>
          <p:cNvSpPr>
            <a:spLocks noGrp="1"/>
          </p:cNvSpPr>
          <p:nvPr/>
        </p:nvSpPr>
        <p:spPr>
          <a:xfrm>
            <a:off x="640080" y="512064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700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Qualitative analysis moves through an iterative spiral</a:t>
            </a:r>
            <a:endParaRPr sz="27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F9E1E0D-80E3-4FF3-A7F0-F0E5AA1DD16B}"/>
              </a:ext>
            </a:extLst>
          </p:cNvPr>
          <p:cNvSpPr>
            <a:spLocks noGrp="1"/>
          </p:cNvSpPr>
          <p:nvPr/>
        </p:nvSpPr>
        <p:spPr>
          <a:xfrm>
            <a:off x="640080" y="1133856"/>
            <a:ext cx="10927080" cy="0"/>
          </a:xfrm>
          <a:prstGeom prst="line">
            <a:avLst/>
          </a:prstGeom>
          <a:noFill/>
          <a:ln w="1524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D46958C-35E5-4E2F-BB5C-F7F6DA562CCD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11292840" cy="0"/>
          </a:xfrm>
          <a:prstGeom prst="line">
            <a:avLst/>
          </a:prstGeom>
          <a:noFill/>
          <a:ln w="1270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2DC0819-1DC1-4A92-9DC2-09DEBB3C89E7}"/>
              </a:ext>
            </a:extLst>
          </p:cNvPr>
          <p:cNvSpPr>
            <a:spLocks noGrp="1"/>
          </p:cNvSpPr>
          <p:nvPr/>
        </p:nvSpPr>
        <p:spPr>
          <a:xfrm>
            <a:off x="822960" y="1298448"/>
            <a:ext cx="10698480" cy="36576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 fontScale="81105" lnSpcReduction="10000"/>
          </a:bodyPr>
          <a:lstStyle/>
          <a:p>
            <a:pPr marL="0" indent="0" algn="ctr">
              <a:buNone/>
            </a:pPr>
            <a:r>
              <a:rPr sz="1900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Researchers move between preparation, coding, interpretation and representation rather than following a rigid line.</a:t>
            </a:r>
            <a:endParaRPr sz="1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DE3C58A-8DF9-4724-B39F-09D906890D29}"/>
              </a:ext>
            </a:extLst>
          </p:cNvPr>
          <p:cNvSpPr>
            <a:spLocks noGrp="1"/>
          </p:cNvSpPr>
          <p:nvPr/>
        </p:nvSpPr>
        <p:spPr>
          <a:xfrm>
            <a:off x="868680" y="1874520"/>
            <a:ext cx="6172200" cy="0"/>
          </a:xfrm>
          <a:prstGeom prst="line">
            <a:avLst/>
          </a:prstGeom>
          <a:noFill/>
          <a:ln w="38100">
            <a:solidFill>
              <a:srgbClr val="315D9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9EB982E-C86C-4CA1-93CF-C5BA870D80AF}"/>
              </a:ext>
            </a:extLst>
          </p:cNvPr>
          <p:cNvSpPr>
            <a:spLocks noGrp="1"/>
          </p:cNvSpPr>
          <p:nvPr/>
        </p:nvSpPr>
        <p:spPr>
          <a:xfrm>
            <a:off x="868680" y="1920240"/>
            <a:ext cx="3383280" cy="393192"/>
          </a:xfrm>
          <a:prstGeom prst="rect">
            <a:avLst/>
          </a:prstGeom>
          <a:solidFill>
            <a:srgbClr val="F2F5F7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323E75F-7367-4DF6-AD0C-E2434515BBA4}"/>
              </a:ext>
            </a:extLst>
          </p:cNvPr>
          <p:cNvSpPr>
            <a:spLocks noGrp="1"/>
          </p:cNvSpPr>
          <p:nvPr/>
        </p:nvSpPr>
        <p:spPr>
          <a:xfrm>
            <a:off x="932688" y="1993392"/>
            <a:ext cx="325526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1150" b="1">
                <a:solidFill>
                  <a:srgbClr val="315D9D"/>
                </a:solidFill>
                <a:latin typeface="Aptos"/>
                <a:ea typeface="Aptos"/>
                <a:cs typeface="Aptos"/>
              </a:rPr>
              <a:t>Qualitative analysis move</a:t>
            </a:r>
            <a:endParaRPr sz="11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DB0CED0-4E0F-4AC9-9FFA-208BE6AD5819}"/>
              </a:ext>
            </a:extLst>
          </p:cNvPr>
          <p:cNvSpPr>
            <a:spLocks noGrp="1"/>
          </p:cNvSpPr>
          <p:nvPr/>
        </p:nvSpPr>
        <p:spPr>
          <a:xfrm>
            <a:off x="4251960" y="1920240"/>
            <a:ext cx="1325880" cy="393192"/>
          </a:xfrm>
          <a:prstGeom prst="rect">
            <a:avLst/>
          </a:prstGeom>
          <a:solidFill>
            <a:srgbClr val="F2F5F7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1E55751-646E-4E62-B26A-E2D9E8EE7AE5}"/>
              </a:ext>
            </a:extLst>
          </p:cNvPr>
          <p:cNvSpPr>
            <a:spLocks noGrp="1"/>
          </p:cNvSpPr>
          <p:nvPr/>
        </p:nvSpPr>
        <p:spPr>
          <a:xfrm>
            <a:off x="4315968" y="1993392"/>
            <a:ext cx="119786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315D9D"/>
                </a:solidFill>
                <a:latin typeface="Aptos"/>
                <a:ea typeface="Aptos"/>
                <a:cs typeface="Aptos"/>
              </a:rPr>
              <a:t>Output</a:t>
            </a:r>
            <a:endParaRPr sz="11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ADEC4C6-2EFB-4131-B57D-E5F5EB03B087}"/>
              </a:ext>
            </a:extLst>
          </p:cNvPr>
          <p:cNvSpPr>
            <a:spLocks noGrp="1"/>
          </p:cNvSpPr>
          <p:nvPr/>
        </p:nvSpPr>
        <p:spPr>
          <a:xfrm>
            <a:off x="5577840" y="1920240"/>
            <a:ext cx="1463040" cy="393192"/>
          </a:xfrm>
          <a:prstGeom prst="rect">
            <a:avLst/>
          </a:prstGeom>
          <a:solidFill>
            <a:srgbClr val="F2F5F7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5DCBE02-7887-4163-8211-A6348963F0E1}"/>
              </a:ext>
            </a:extLst>
          </p:cNvPr>
          <p:cNvSpPr>
            <a:spLocks noGrp="1"/>
          </p:cNvSpPr>
          <p:nvPr/>
        </p:nvSpPr>
        <p:spPr>
          <a:xfrm>
            <a:off x="5641848" y="1993392"/>
            <a:ext cx="133502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315D9D"/>
                </a:solidFill>
                <a:latin typeface="Aptos"/>
                <a:ea typeface="Aptos"/>
                <a:cs typeface="Aptos"/>
              </a:rPr>
              <a:t>Analytic aim</a:t>
            </a:r>
            <a:endParaRPr sz="11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9A074EF-DCFC-4993-AD5D-75D29F75833F}"/>
              </a:ext>
            </a:extLst>
          </p:cNvPr>
          <p:cNvSpPr>
            <a:spLocks noGrp="1"/>
          </p:cNvSpPr>
          <p:nvPr/>
        </p:nvSpPr>
        <p:spPr>
          <a:xfrm>
            <a:off x="868680" y="2313432"/>
            <a:ext cx="617220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358BA49-E8B3-4BF4-95E9-D1FECADE601E}"/>
              </a:ext>
            </a:extLst>
          </p:cNvPr>
          <p:cNvSpPr>
            <a:spLocks noGrp="1"/>
          </p:cNvSpPr>
          <p:nvPr/>
        </p:nvSpPr>
        <p:spPr>
          <a:xfrm>
            <a:off x="868680" y="2313432"/>
            <a:ext cx="338328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E692907-315C-4677-9120-6E6B709947C3}"/>
              </a:ext>
            </a:extLst>
          </p:cNvPr>
          <p:cNvSpPr>
            <a:spLocks noGrp="1"/>
          </p:cNvSpPr>
          <p:nvPr/>
        </p:nvSpPr>
        <p:spPr>
          <a:xfrm>
            <a:off x="932688" y="2386584"/>
            <a:ext cx="325526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Organise and prepare data</a:t>
            </a:r>
            <a:endParaRPr sz="111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3AFE2BB-A20A-4E8B-9DDE-448D15635640}"/>
              </a:ext>
            </a:extLst>
          </p:cNvPr>
          <p:cNvSpPr>
            <a:spLocks noGrp="1"/>
          </p:cNvSpPr>
          <p:nvPr/>
        </p:nvSpPr>
        <p:spPr>
          <a:xfrm>
            <a:off x="4251960" y="2313432"/>
            <a:ext cx="132588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183DD5C-56EB-47B3-A67A-CBBB9E47DE62}"/>
              </a:ext>
            </a:extLst>
          </p:cNvPr>
          <p:cNvSpPr>
            <a:spLocks noGrp="1"/>
          </p:cNvSpPr>
          <p:nvPr/>
        </p:nvSpPr>
        <p:spPr>
          <a:xfrm>
            <a:off x="4315968" y="2386584"/>
            <a:ext cx="119786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Dataset</a:t>
            </a:r>
            <a:endParaRPr sz="111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9527E78-BD2A-423F-BC5D-A5D83B96F23E}"/>
              </a:ext>
            </a:extLst>
          </p:cNvPr>
          <p:cNvSpPr>
            <a:spLocks noGrp="1"/>
          </p:cNvSpPr>
          <p:nvPr/>
        </p:nvSpPr>
        <p:spPr>
          <a:xfrm>
            <a:off x="5577840" y="2313432"/>
            <a:ext cx="146304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9B8DEEC-C9FB-43A3-A4C3-E7C9F1F3BB75}"/>
              </a:ext>
            </a:extLst>
          </p:cNvPr>
          <p:cNvSpPr>
            <a:spLocks noGrp="1"/>
          </p:cNvSpPr>
          <p:nvPr/>
        </p:nvSpPr>
        <p:spPr>
          <a:xfrm>
            <a:off x="5641848" y="2386584"/>
            <a:ext cx="133502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Ready to analyse</a:t>
            </a:r>
            <a:endParaRPr sz="111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E272688-2C1B-4C96-8185-54CD9F8F9A8A}"/>
              </a:ext>
            </a:extLst>
          </p:cNvPr>
          <p:cNvSpPr>
            <a:spLocks noGrp="1"/>
          </p:cNvSpPr>
          <p:nvPr/>
        </p:nvSpPr>
        <p:spPr>
          <a:xfrm>
            <a:off x="868680" y="2706624"/>
            <a:ext cx="617220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87012F1-2EBC-4BE1-A88C-3F6D926E892E}"/>
              </a:ext>
            </a:extLst>
          </p:cNvPr>
          <p:cNvSpPr>
            <a:spLocks noGrp="1"/>
          </p:cNvSpPr>
          <p:nvPr/>
        </p:nvSpPr>
        <p:spPr>
          <a:xfrm>
            <a:off x="868680" y="2706624"/>
            <a:ext cx="338328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3B138E8-55F5-4FAA-BE01-448553BAD18E}"/>
              </a:ext>
            </a:extLst>
          </p:cNvPr>
          <p:cNvSpPr>
            <a:spLocks noGrp="1"/>
          </p:cNvSpPr>
          <p:nvPr/>
        </p:nvSpPr>
        <p:spPr>
          <a:xfrm>
            <a:off x="932688" y="2779776"/>
            <a:ext cx="325526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Read broadly and memo</a:t>
            </a:r>
            <a:endParaRPr sz="111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30ED63E-7CCF-41F1-8F8A-0D4327C1331B}"/>
              </a:ext>
            </a:extLst>
          </p:cNvPr>
          <p:cNvSpPr>
            <a:spLocks noGrp="1"/>
          </p:cNvSpPr>
          <p:nvPr/>
        </p:nvSpPr>
        <p:spPr>
          <a:xfrm>
            <a:off x="4251960" y="2706624"/>
            <a:ext cx="132588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254F3BB-5FE0-4876-BEDE-D49175168FFA}"/>
              </a:ext>
            </a:extLst>
          </p:cNvPr>
          <p:cNvSpPr>
            <a:spLocks noGrp="1"/>
          </p:cNvSpPr>
          <p:nvPr/>
        </p:nvSpPr>
        <p:spPr>
          <a:xfrm>
            <a:off x="4315968" y="2779776"/>
            <a:ext cx="119786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Memos</a:t>
            </a:r>
            <a:endParaRPr sz="111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DF759122-7F04-471B-B4C7-CAE56F6ADD64}"/>
              </a:ext>
            </a:extLst>
          </p:cNvPr>
          <p:cNvSpPr>
            <a:spLocks noGrp="1"/>
          </p:cNvSpPr>
          <p:nvPr/>
        </p:nvSpPr>
        <p:spPr>
          <a:xfrm>
            <a:off x="5577840" y="2706624"/>
            <a:ext cx="146304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D0007BD-3867-4FE1-AF82-70E1FBFA183B}"/>
              </a:ext>
            </a:extLst>
          </p:cNvPr>
          <p:cNvSpPr>
            <a:spLocks noGrp="1"/>
          </p:cNvSpPr>
          <p:nvPr/>
        </p:nvSpPr>
        <p:spPr>
          <a:xfrm>
            <a:off x="5641848" y="2779776"/>
            <a:ext cx="133502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Overall sense</a:t>
            </a:r>
            <a:endParaRPr sz="111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57EB391-1D78-4595-ADEE-3434C10F157D}"/>
              </a:ext>
            </a:extLst>
          </p:cNvPr>
          <p:cNvSpPr>
            <a:spLocks noGrp="1"/>
          </p:cNvSpPr>
          <p:nvPr/>
        </p:nvSpPr>
        <p:spPr>
          <a:xfrm>
            <a:off x="868680" y="3099816"/>
            <a:ext cx="617220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91BD5FC8-792D-431B-B9F2-FFA49B897237}"/>
              </a:ext>
            </a:extLst>
          </p:cNvPr>
          <p:cNvSpPr>
            <a:spLocks noGrp="1"/>
          </p:cNvSpPr>
          <p:nvPr/>
        </p:nvSpPr>
        <p:spPr>
          <a:xfrm>
            <a:off x="868680" y="3099816"/>
            <a:ext cx="338328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F62A7316-12BE-41C0-A1DA-9391BAF37B2B}"/>
              </a:ext>
            </a:extLst>
          </p:cNvPr>
          <p:cNvSpPr>
            <a:spLocks noGrp="1"/>
          </p:cNvSpPr>
          <p:nvPr/>
        </p:nvSpPr>
        <p:spPr>
          <a:xfrm>
            <a:off x="932688" y="3172968"/>
            <a:ext cx="325526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Segment and code</a:t>
            </a:r>
            <a:endParaRPr sz="111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202209B9-63F3-4029-9C87-80F528E3824C}"/>
              </a:ext>
            </a:extLst>
          </p:cNvPr>
          <p:cNvSpPr>
            <a:spLocks noGrp="1"/>
          </p:cNvSpPr>
          <p:nvPr/>
        </p:nvSpPr>
        <p:spPr>
          <a:xfrm>
            <a:off x="4251960" y="3099816"/>
            <a:ext cx="132588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367EC6C-324A-4CC8-85B0-C8CDF2ED3366}"/>
              </a:ext>
            </a:extLst>
          </p:cNvPr>
          <p:cNvSpPr>
            <a:spLocks noGrp="1"/>
          </p:cNvSpPr>
          <p:nvPr/>
        </p:nvSpPr>
        <p:spPr>
          <a:xfrm>
            <a:off x="4315968" y="3172968"/>
            <a:ext cx="119786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Codes</a:t>
            </a:r>
            <a:endParaRPr sz="111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5ACE33CC-AD05-4CA9-8C0E-E49E9E24C6AC}"/>
              </a:ext>
            </a:extLst>
          </p:cNvPr>
          <p:cNvSpPr>
            <a:spLocks noGrp="1"/>
          </p:cNvSpPr>
          <p:nvPr/>
        </p:nvSpPr>
        <p:spPr>
          <a:xfrm>
            <a:off x="5577840" y="3099816"/>
            <a:ext cx="146304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4616A22-F0B0-4981-AC0B-FA7F9BA73650}"/>
              </a:ext>
            </a:extLst>
          </p:cNvPr>
          <p:cNvSpPr>
            <a:spLocks noGrp="1"/>
          </p:cNvSpPr>
          <p:nvPr/>
        </p:nvSpPr>
        <p:spPr>
          <a:xfrm>
            <a:off x="5641848" y="3172968"/>
            <a:ext cx="133502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Label meaning</a:t>
            </a:r>
            <a:endParaRPr sz="111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462EE73F-ACB4-45E0-909B-8F97C7EA0858}"/>
              </a:ext>
            </a:extLst>
          </p:cNvPr>
          <p:cNvSpPr>
            <a:spLocks noGrp="1"/>
          </p:cNvSpPr>
          <p:nvPr/>
        </p:nvSpPr>
        <p:spPr>
          <a:xfrm>
            <a:off x="868680" y="3493008"/>
            <a:ext cx="617220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77DFC198-D299-4999-B4ED-CA5491B25602}"/>
              </a:ext>
            </a:extLst>
          </p:cNvPr>
          <p:cNvSpPr>
            <a:spLocks noGrp="1"/>
          </p:cNvSpPr>
          <p:nvPr/>
        </p:nvSpPr>
        <p:spPr>
          <a:xfrm>
            <a:off x="868680" y="3493008"/>
            <a:ext cx="338328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0AB0579F-E271-4234-8871-C9AC971AD9A2}"/>
              </a:ext>
            </a:extLst>
          </p:cNvPr>
          <p:cNvSpPr>
            <a:spLocks noGrp="1"/>
          </p:cNvSpPr>
          <p:nvPr/>
        </p:nvSpPr>
        <p:spPr>
          <a:xfrm>
            <a:off x="932688" y="3566160"/>
            <a:ext cx="325526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Develop descriptions and themes</a:t>
            </a:r>
            <a:endParaRPr sz="111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182170D5-8D68-49C2-AC82-36AFB634AB50}"/>
              </a:ext>
            </a:extLst>
          </p:cNvPr>
          <p:cNvSpPr>
            <a:spLocks noGrp="1"/>
          </p:cNvSpPr>
          <p:nvPr/>
        </p:nvSpPr>
        <p:spPr>
          <a:xfrm>
            <a:off x="4251960" y="3493008"/>
            <a:ext cx="132588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2E786732-DEF8-4C40-B269-61C62727B75F}"/>
              </a:ext>
            </a:extLst>
          </p:cNvPr>
          <p:cNvSpPr>
            <a:spLocks noGrp="1"/>
          </p:cNvSpPr>
          <p:nvPr/>
        </p:nvSpPr>
        <p:spPr>
          <a:xfrm>
            <a:off x="4315968" y="3566160"/>
            <a:ext cx="119786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Themes</a:t>
            </a:r>
            <a:endParaRPr sz="111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32A92143-C06A-4DE5-B191-7A14B8209634}"/>
              </a:ext>
            </a:extLst>
          </p:cNvPr>
          <p:cNvSpPr>
            <a:spLocks noGrp="1"/>
          </p:cNvSpPr>
          <p:nvPr/>
        </p:nvSpPr>
        <p:spPr>
          <a:xfrm>
            <a:off x="5577840" y="3493008"/>
            <a:ext cx="146304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1E23782D-3A31-4476-9CC5-997F8C8EBBDF}"/>
              </a:ext>
            </a:extLst>
          </p:cNvPr>
          <p:cNvSpPr>
            <a:spLocks noGrp="1"/>
          </p:cNvSpPr>
          <p:nvPr/>
        </p:nvSpPr>
        <p:spPr>
          <a:xfrm>
            <a:off x="5641848" y="3566160"/>
            <a:ext cx="133502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Explain patterns</a:t>
            </a:r>
            <a:endParaRPr sz="111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7F320F6A-39B8-49E6-A6B3-42112FEA6BEF}"/>
              </a:ext>
            </a:extLst>
          </p:cNvPr>
          <p:cNvSpPr>
            <a:spLocks noGrp="1"/>
          </p:cNvSpPr>
          <p:nvPr/>
        </p:nvSpPr>
        <p:spPr>
          <a:xfrm>
            <a:off x="868680" y="3886200"/>
            <a:ext cx="617220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5340C91F-7233-4730-BB8A-CA881817D956}"/>
              </a:ext>
            </a:extLst>
          </p:cNvPr>
          <p:cNvSpPr>
            <a:spLocks noGrp="1"/>
          </p:cNvSpPr>
          <p:nvPr/>
        </p:nvSpPr>
        <p:spPr>
          <a:xfrm>
            <a:off x="868680" y="3886200"/>
            <a:ext cx="338328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9BEA2070-B131-455D-91B7-14C8CC6E35BD}"/>
              </a:ext>
            </a:extLst>
          </p:cNvPr>
          <p:cNvSpPr>
            <a:spLocks noGrp="1"/>
          </p:cNvSpPr>
          <p:nvPr/>
        </p:nvSpPr>
        <p:spPr>
          <a:xfrm>
            <a:off x="932688" y="3959352"/>
            <a:ext cx="325526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Represent and visualise</a:t>
            </a:r>
            <a:endParaRPr sz="111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F090B7F6-24D4-4709-9C50-CA7CCB8758EE}"/>
              </a:ext>
            </a:extLst>
          </p:cNvPr>
          <p:cNvSpPr>
            <a:spLocks noGrp="1"/>
          </p:cNvSpPr>
          <p:nvPr/>
        </p:nvSpPr>
        <p:spPr>
          <a:xfrm>
            <a:off x="4251960" y="3886200"/>
            <a:ext cx="132588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195F4DB5-63A5-450D-B67A-70CC615B8164}"/>
              </a:ext>
            </a:extLst>
          </p:cNvPr>
          <p:cNvSpPr>
            <a:spLocks noGrp="1"/>
          </p:cNvSpPr>
          <p:nvPr/>
        </p:nvSpPr>
        <p:spPr>
          <a:xfrm>
            <a:off x="4315968" y="3959352"/>
            <a:ext cx="119786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Display</a:t>
            </a:r>
            <a:endParaRPr sz="111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5D778819-FF9F-4804-A43D-64E7F9AE4B73}"/>
              </a:ext>
            </a:extLst>
          </p:cNvPr>
          <p:cNvSpPr>
            <a:spLocks noGrp="1"/>
          </p:cNvSpPr>
          <p:nvPr/>
        </p:nvSpPr>
        <p:spPr>
          <a:xfrm>
            <a:off x="5577840" y="3886200"/>
            <a:ext cx="146304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5FACEA4A-7ECB-401C-84DB-7B572A81C6F6}"/>
              </a:ext>
            </a:extLst>
          </p:cNvPr>
          <p:cNvSpPr>
            <a:spLocks noGrp="1"/>
          </p:cNvSpPr>
          <p:nvPr/>
        </p:nvSpPr>
        <p:spPr>
          <a:xfrm>
            <a:off x="5641848" y="3959352"/>
            <a:ext cx="133502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Show findings</a:t>
            </a:r>
            <a:endParaRPr sz="111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1C65FE0A-60A9-47EA-9513-FB7AC0A203EA}"/>
              </a:ext>
            </a:extLst>
          </p:cNvPr>
          <p:cNvSpPr>
            <a:spLocks noGrp="1"/>
          </p:cNvSpPr>
          <p:nvPr/>
        </p:nvSpPr>
        <p:spPr>
          <a:xfrm>
            <a:off x="868680" y="4279392"/>
            <a:ext cx="617220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AD5C1E8B-ACFA-410F-AD86-8E133B30A9D3}"/>
              </a:ext>
            </a:extLst>
          </p:cNvPr>
          <p:cNvSpPr>
            <a:spLocks noGrp="1"/>
          </p:cNvSpPr>
          <p:nvPr/>
        </p:nvSpPr>
        <p:spPr>
          <a:xfrm>
            <a:off x="868680" y="4279392"/>
            <a:ext cx="338328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6437226B-B7FB-4106-B710-D19D22258B11}"/>
              </a:ext>
            </a:extLst>
          </p:cNvPr>
          <p:cNvSpPr>
            <a:spLocks noGrp="1"/>
          </p:cNvSpPr>
          <p:nvPr/>
        </p:nvSpPr>
        <p:spPr>
          <a:xfrm>
            <a:off x="932688" y="4352544"/>
            <a:ext cx="325526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Interpret with literature and context</a:t>
            </a:r>
            <a:endParaRPr sz="111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96EB9A18-B707-4B57-B4BF-9510331C928E}"/>
              </a:ext>
            </a:extLst>
          </p:cNvPr>
          <p:cNvSpPr>
            <a:spLocks noGrp="1"/>
          </p:cNvSpPr>
          <p:nvPr/>
        </p:nvSpPr>
        <p:spPr>
          <a:xfrm>
            <a:off x="4251960" y="4279392"/>
            <a:ext cx="132588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611FD9AC-0336-4428-BAE1-01231A4E6298}"/>
              </a:ext>
            </a:extLst>
          </p:cNvPr>
          <p:cNvSpPr>
            <a:spLocks noGrp="1"/>
          </p:cNvSpPr>
          <p:nvPr/>
        </p:nvSpPr>
        <p:spPr>
          <a:xfrm>
            <a:off x="4315968" y="4352544"/>
            <a:ext cx="119786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Meaning</a:t>
            </a:r>
            <a:endParaRPr sz="111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CF585718-6DD0-41DF-90DA-925F09C030FC}"/>
              </a:ext>
            </a:extLst>
          </p:cNvPr>
          <p:cNvSpPr>
            <a:spLocks noGrp="1"/>
          </p:cNvSpPr>
          <p:nvPr/>
        </p:nvSpPr>
        <p:spPr>
          <a:xfrm>
            <a:off x="5577840" y="4279392"/>
            <a:ext cx="146304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F8E5C168-8158-47CB-BD1B-2B2056D02BC6}"/>
              </a:ext>
            </a:extLst>
          </p:cNvPr>
          <p:cNvSpPr>
            <a:spLocks noGrp="1"/>
          </p:cNvSpPr>
          <p:nvPr/>
        </p:nvSpPr>
        <p:spPr>
          <a:xfrm>
            <a:off x="5641848" y="4352544"/>
            <a:ext cx="133502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State significance</a:t>
            </a:r>
            <a:endParaRPr sz="111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B9BA257E-E842-4E2F-9F18-A386B15B91BC}"/>
              </a:ext>
            </a:extLst>
          </p:cNvPr>
          <p:cNvSpPr>
            <a:spLocks noGrp="1"/>
          </p:cNvSpPr>
          <p:nvPr/>
        </p:nvSpPr>
        <p:spPr>
          <a:xfrm>
            <a:off x="868680" y="4672584"/>
            <a:ext cx="617220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F6E19EF9-F7D7-4D66-8F4E-6FB8534F72E4}"/>
              </a:ext>
            </a:extLst>
          </p:cNvPr>
          <p:cNvSpPr>
            <a:spLocks noGrp="1"/>
          </p:cNvSpPr>
          <p:nvPr/>
        </p:nvSpPr>
        <p:spPr>
          <a:xfrm>
            <a:off x="7315200" y="1856445"/>
            <a:ext cx="3474720" cy="0"/>
          </a:xfrm>
          <a:prstGeom prst="line">
            <a:avLst/>
          </a:prstGeom>
          <a:noFill/>
          <a:ln w="41910">
            <a:solidFill>
              <a:srgbClr val="0F5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2F15A28E-B945-4AF4-BD06-5AA3439F68CC}"/>
              </a:ext>
            </a:extLst>
          </p:cNvPr>
          <p:cNvSpPr>
            <a:spLocks noGrp="1"/>
          </p:cNvSpPr>
          <p:nvPr/>
        </p:nvSpPr>
        <p:spPr>
          <a:xfrm>
            <a:off x="7315200" y="207568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0F5E5A"/>
                </a:solidFill>
                <a:latin typeface="Aptos"/>
                <a:ea typeface="Aptos"/>
                <a:cs typeface="Aptos"/>
              </a:rPr>
              <a:t>Why it is a spiral</a:t>
            </a:r>
            <a:endParaRPr sz="180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5B10A7C4-8F58-4B9C-8CCB-6E62B1BC031B}"/>
              </a:ext>
            </a:extLst>
          </p:cNvPr>
          <p:cNvSpPr>
            <a:spLocks noGrp="1"/>
          </p:cNvSpPr>
          <p:nvPr/>
        </p:nvSpPr>
        <p:spPr>
          <a:xfrm>
            <a:off x="7315200" y="2837721"/>
            <a:ext cx="3657600" cy="1600200"/>
          </a:xfrm>
          <a:prstGeom prst="rect">
            <a:avLst/>
          </a:prstGeom>
          <a:noFill/>
        </p:spPr>
        <p:txBody>
          <a:bodyPr wrap="square" lIns="635" tIns="635" rIns="635" bIns="635" anchor="ctr">
            <a:noAutofit/>
          </a:bodyPr>
          <a:lstStyle/>
          <a:p>
            <a:pPr marL="0" indent="0">
              <a:buNone/>
            </a:pPr>
            <a:r>
              <a:rPr b="1" dirty="0">
                <a:latin typeface="Aptos"/>
                <a:ea typeface="Aptos"/>
                <a:cs typeface="Aptos"/>
              </a:rPr>
              <a:t>• Researchers revisit earlier material as understanding grows</a:t>
            </a:r>
            <a:endParaRPr dirty="0"/>
          </a:p>
          <a:p>
            <a:pPr marL="0" indent="0">
              <a:buNone/>
            </a:pPr>
            <a:r>
              <a:rPr b="1" dirty="0">
                <a:latin typeface="Aptos"/>
                <a:ea typeface="Aptos"/>
                <a:cs typeface="Aptos"/>
              </a:rPr>
              <a:t>• Coding, theme development and interpretation influence one another</a:t>
            </a:r>
            <a:endParaRPr dirty="0"/>
          </a:p>
          <a:p>
            <a:pPr marL="0" indent="0">
              <a:buNone/>
            </a:pPr>
            <a:r>
              <a:rPr b="1" dirty="0">
                <a:latin typeface="Aptos"/>
                <a:ea typeface="Aptos"/>
                <a:cs typeface="Aptos"/>
              </a:rPr>
              <a:t>• </a:t>
            </a:r>
            <a:r>
              <a:rPr b="1" dirty="0" err="1">
                <a:latin typeface="Aptos"/>
                <a:ea typeface="Aptos"/>
                <a:cs typeface="Aptos"/>
              </a:rPr>
              <a:t>Visualisation</a:t>
            </a:r>
            <a:r>
              <a:rPr b="1" dirty="0">
                <a:latin typeface="Aptos"/>
                <a:ea typeface="Aptos"/>
                <a:cs typeface="Aptos"/>
              </a:rPr>
              <a:t> can reveal gaps and prompt further analysis</a:t>
            </a:r>
            <a:endParaRPr dirty="0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1F119BA7-C339-49CD-B34B-4855FBF2FB71}"/>
              </a:ext>
            </a:extLst>
          </p:cNvPr>
          <p:cNvSpPr>
            <a:spLocks noGrp="1"/>
          </p:cNvSpPr>
          <p:nvPr/>
        </p:nvSpPr>
        <p:spPr>
          <a:xfrm>
            <a:off x="982980" y="5861303"/>
            <a:ext cx="10241280" cy="384048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 fontScale="85431"/>
          </a:bodyPr>
          <a:lstStyle/>
          <a:p>
            <a:pPr marL="0" indent="0" algn="ctr">
              <a:buNone/>
            </a:pPr>
            <a:r>
              <a:rPr sz="2000" b="1" dirty="0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sequence is organised, but the movement is recursive and reflective (Creswell and Poth, 2018).</a:t>
            </a:r>
            <a:endParaRPr sz="2000" dirty="0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E8F78EB1-82D7-4272-967E-A94CE51C2F77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00">
                <a:solidFill>
                  <a:srgbClr val="56616B"/>
                </a:solidFill>
              </a:rPr>
              <a:t>01B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90347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32D9996-6BFD-4870-AC33-281B0F5CE94A}"/>
              </a:ext>
            </a:extLst>
          </p:cNvPr>
          <p:cNvSpPr>
            <a:spLocks noGrp="1"/>
          </p:cNvSpPr>
          <p:nvPr/>
        </p:nvSpPr>
        <p:spPr>
          <a:xfrm>
            <a:off x="658368" y="29260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125" b="1">
                <a:solidFill>
                  <a:srgbClr val="0F5E5A"/>
                </a:solidFill>
              </a:defRPr>
            </a:pPr>
            <a:r>
              <a:rPr sz="1125" b="1">
                <a:solidFill>
                  <a:srgbClr val="0F5E5A"/>
                </a:solidFill>
              </a:rPr>
              <a:t>CRESWELL LENS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8E96ACB-A4D4-46CB-8FF4-919BAF6B918A}"/>
              </a:ext>
            </a:extLst>
          </p:cNvPr>
          <p:cNvSpPr>
            <a:spLocks noGrp="1"/>
          </p:cNvSpPr>
          <p:nvPr/>
        </p:nvSpPr>
        <p:spPr>
          <a:xfrm>
            <a:off x="640080" y="512064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700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Quantitative analysis follows a staged evidence pathway</a:t>
            </a:r>
            <a:endParaRPr sz="27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AF9109B-26AE-4789-AC43-A836045DAFA7}"/>
              </a:ext>
            </a:extLst>
          </p:cNvPr>
          <p:cNvSpPr>
            <a:spLocks noGrp="1"/>
          </p:cNvSpPr>
          <p:nvPr/>
        </p:nvSpPr>
        <p:spPr>
          <a:xfrm>
            <a:off x="640080" y="1133856"/>
            <a:ext cx="10927080" cy="0"/>
          </a:xfrm>
          <a:prstGeom prst="line">
            <a:avLst/>
          </a:prstGeom>
          <a:noFill/>
          <a:ln w="1524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31C7E79-D6A3-4404-816A-A9041605D689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11292840" cy="0"/>
          </a:xfrm>
          <a:prstGeom prst="line">
            <a:avLst/>
          </a:prstGeom>
          <a:noFill/>
          <a:ln w="1270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7FF92B9-C63F-44C3-B2DC-5782237520DC}"/>
              </a:ext>
            </a:extLst>
          </p:cNvPr>
          <p:cNvSpPr>
            <a:spLocks noGrp="1"/>
          </p:cNvSpPr>
          <p:nvPr/>
        </p:nvSpPr>
        <p:spPr>
          <a:xfrm>
            <a:off x="822960" y="1298448"/>
            <a:ext cx="10607040" cy="36576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The logic moves from a clean dataset to description, inference and clear reporting.</a:t>
            </a:r>
            <a:endParaRPr sz="20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F93585B-1FA5-4C63-885E-2D46EDCC2C39}"/>
              </a:ext>
            </a:extLst>
          </p:cNvPr>
          <p:cNvSpPr>
            <a:spLocks noGrp="1"/>
          </p:cNvSpPr>
          <p:nvPr/>
        </p:nvSpPr>
        <p:spPr>
          <a:xfrm>
            <a:off x="594360" y="1828800"/>
            <a:ext cx="10058400" cy="0"/>
          </a:xfrm>
          <a:prstGeom prst="line">
            <a:avLst/>
          </a:prstGeom>
          <a:noFill/>
          <a:ln w="38100">
            <a:solidFill>
              <a:srgbClr val="0F5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ED6916F-26F4-4295-B666-3DA5AC4FA36A}"/>
              </a:ext>
            </a:extLst>
          </p:cNvPr>
          <p:cNvSpPr>
            <a:spLocks noGrp="1"/>
          </p:cNvSpPr>
          <p:nvPr/>
        </p:nvSpPr>
        <p:spPr>
          <a:xfrm>
            <a:off x="594360" y="1874520"/>
            <a:ext cx="3154680" cy="621792"/>
          </a:xfrm>
          <a:prstGeom prst="rect">
            <a:avLst/>
          </a:prstGeom>
          <a:solidFill>
            <a:srgbClr val="F2F5F7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10681FC-4952-4FD1-91C4-051422BBE7F8}"/>
              </a:ext>
            </a:extLst>
          </p:cNvPr>
          <p:cNvSpPr>
            <a:spLocks noGrp="1"/>
          </p:cNvSpPr>
          <p:nvPr/>
        </p:nvSpPr>
        <p:spPr>
          <a:xfrm>
            <a:off x="658368" y="1947672"/>
            <a:ext cx="3026664" cy="5303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1070" b="1">
                <a:solidFill>
                  <a:srgbClr val="0F5E5A"/>
                </a:solidFill>
                <a:latin typeface="Aptos"/>
                <a:ea typeface="Aptos"/>
                <a:cs typeface="Aptos"/>
              </a:rPr>
              <a:t>Stage</a:t>
            </a:r>
            <a:endParaRPr sz="107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97F560A-92AB-41C7-AD9D-A99075C82C50}"/>
              </a:ext>
            </a:extLst>
          </p:cNvPr>
          <p:cNvSpPr>
            <a:spLocks noGrp="1"/>
          </p:cNvSpPr>
          <p:nvPr/>
        </p:nvSpPr>
        <p:spPr>
          <a:xfrm>
            <a:off x="3749040" y="1874520"/>
            <a:ext cx="2743200" cy="621792"/>
          </a:xfrm>
          <a:prstGeom prst="rect">
            <a:avLst/>
          </a:prstGeom>
          <a:solidFill>
            <a:srgbClr val="F2F5F7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38E399A-1C40-44FA-B69E-A2FCE334DF27}"/>
              </a:ext>
            </a:extLst>
          </p:cNvPr>
          <p:cNvSpPr>
            <a:spLocks noGrp="1"/>
          </p:cNvSpPr>
          <p:nvPr/>
        </p:nvSpPr>
        <p:spPr>
          <a:xfrm>
            <a:off x="3813048" y="1947672"/>
            <a:ext cx="2615184" cy="5303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70" b="1">
                <a:solidFill>
                  <a:srgbClr val="0F5E5A"/>
                </a:solidFill>
                <a:latin typeface="Aptos"/>
                <a:ea typeface="Aptos"/>
                <a:cs typeface="Aptos"/>
              </a:rPr>
              <a:t>Core actions</a:t>
            </a:r>
            <a:endParaRPr sz="107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665318C-1E15-4022-9CFB-B96A2D8C31BC}"/>
              </a:ext>
            </a:extLst>
          </p:cNvPr>
          <p:cNvSpPr>
            <a:spLocks noGrp="1"/>
          </p:cNvSpPr>
          <p:nvPr/>
        </p:nvSpPr>
        <p:spPr>
          <a:xfrm>
            <a:off x="6492240" y="1874520"/>
            <a:ext cx="4160520" cy="621792"/>
          </a:xfrm>
          <a:prstGeom prst="rect">
            <a:avLst/>
          </a:prstGeom>
          <a:solidFill>
            <a:srgbClr val="F2F5F7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400DEA8-C862-41E8-972D-41D26399099C}"/>
              </a:ext>
            </a:extLst>
          </p:cNvPr>
          <p:cNvSpPr>
            <a:spLocks noGrp="1"/>
          </p:cNvSpPr>
          <p:nvPr/>
        </p:nvSpPr>
        <p:spPr>
          <a:xfrm>
            <a:off x="6556248" y="1947672"/>
            <a:ext cx="4032504" cy="5303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70" b="1">
                <a:solidFill>
                  <a:srgbClr val="0F5E5A"/>
                </a:solidFill>
                <a:latin typeface="Aptos"/>
                <a:ea typeface="Aptos"/>
                <a:cs typeface="Aptos"/>
              </a:rPr>
              <a:t>Researcher checks</a:t>
            </a:r>
            <a:endParaRPr sz="107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A8191AE-79A7-4455-8DF3-0B2045A78E31}"/>
              </a:ext>
            </a:extLst>
          </p:cNvPr>
          <p:cNvSpPr>
            <a:spLocks noGrp="1"/>
          </p:cNvSpPr>
          <p:nvPr/>
        </p:nvSpPr>
        <p:spPr>
          <a:xfrm>
            <a:off x="594360" y="2496312"/>
            <a:ext cx="1005840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1932B7A-2EDC-4A86-AD2B-99C2372F6627}"/>
              </a:ext>
            </a:extLst>
          </p:cNvPr>
          <p:cNvSpPr>
            <a:spLocks noGrp="1"/>
          </p:cNvSpPr>
          <p:nvPr/>
        </p:nvSpPr>
        <p:spPr>
          <a:xfrm>
            <a:off x="594360" y="2496312"/>
            <a:ext cx="315468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75E386C-CBB7-41F6-B9FE-23C4776D93BD}"/>
              </a:ext>
            </a:extLst>
          </p:cNvPr>
          <p:cNvSpPr>
            <a:spLocks noGrp="1"/>
          </p:cNvSpPr>
          <p:nvPr/>
        </p:nvSpPr>
        <p:spPr>
          <a:xfrm>
            <a:off x="658368" y="2569464"/>
            <a:ext cx="3026664" cy="5303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1030">
                <a:solidFill>
                  <a:srgbClr val="18212A"/>
                </a:solidFill>
                <a:latin typeface="Aptos"/>
                <a:ea typeface="Aptos"/>
                <a:cs typeface="Aptos"/>
              </a:rPr>
              <a:t>1. Prepare the data</a:t>
            </a:r>
            <a:endParaRPr sz="103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3B446BB-122A-45CF-9B99-739312EEA5CA}"/>
              </a:ext>
            </a:extLst>
          </p:cNvPr>
          <p:cNvSpPr>
            <a:spLocks noGrp="1"/>
          </p:cNvSpPr>
          <p:nvPr/>
        </p:nvSpPr>
        <p:spPr>
          <a:xfrm>
            <a:off x="3749040" y="2496312"/>
            <a:ext cx="274320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7E64FBC-B899-47C8-BA4C-EFCB4181E790}"/>
              </a:ext>
            </a:extLst>
          </p:cNvPr>
          <p:cNvSpPr>
            <a:spLocks noGrp="1"/>
          </p:cNvSpPr>
          <p:nvPr/>
        </p:nvSpPr>
        <p:spPr>
          <a:xfrm>
            <a:off x="3813048" y="2569464"/>
            <a:ext cx="2615184" cy="5303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18212A"/>
                </a:solidFill>
                <a:latin typeface="Aptos"/>
                <a:ea typeface="Aptos"/>
                <a:cs typeface="Aptos"/>
              </a:rPr>
              <a:t>Score, clean and check missing values</a:t>
            </a:r>
            <a:endParaRPr sz="103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63D4EAC-2053-438E-BAE6-97C2F5FA0C7A}"/>
              </a:ext>
            </a:extLst>
          </p:cNvPr>
          <p:cNvSpPr>
            <a:spLocks noGrp="1"/>
          </p:cNvSpPr>
          <p:nvPr/>
        </p:nvSpPr>
        <p:spPr>
          <a:xfrm>
            <a:off x="6492240" y="2496312"/>
            <a:ext cx="416052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395732E-F0CC-4528-BD91-F6484207F7BE}"/>
              </a:ext>
            </a:extLst>
          </p:cNvPr>
          <p:cNvSpPr>
            <a:spLocks noGrp="1"/>
          </p:cNvSpPr>
          <p:nvPr/>
        </p:nvSpPr>
        <p:spPr>
          <a:xfrm>
            <a:off x="6556248" y="2569464"/>
            <a:ext cx="4032504" cy="5303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18212A"/>
                </a:solidFill>
                <a:latin typeface="Aptos"/>
                <a:ea typeface="Aptos"/>
                <a:cs typeface="Aptos"/>
              </a:rPr>
              <a:t>Are variables coded correctly?</a:t>
            </a:r>
            <a:endParaRPr sz="103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C41D6C0-CD8D-42CE-8E81-6AAB9B144A04}"/>
              </a:ext>
            </a:extLst>
          </p:cNvPr>
          <p:cNvSpPr>
            <a:spLocks noGrp="1"/>
          </p:cNvSpPr>
          <p:nvPr/>
        </p:nvSpPr>
        <p:spPr>
          <a:xfrm>
            <a:off x="594360" y="3118104"/>
            <a:ext cx="1005840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B2B244A-BBA6-47C9-8672-422991C52946}"/>
              </a:ext>
            </a:extLst>
          </p:cNvPr>
          <p:cNvSpPr>
            <a:spLocks noGrp="1"/>
          </p:cNvSpPr>
          <p:nvPr/>
        </p:nvSpPr>
        <p:spPr>
          <a:xfrm>
            <a:off x="594360" y="3118104"/>
            <a:ext cx="315468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7B5A403-034A-47FB-B6A5-37ADAB8E9043}"/>
              </a:ext>
            </a:extLst>
          </p:cNvPr>
          <p:cNvSpPr>
            <a:spLocks noGrp="1"/>
          </p:cNvSpPr>
          <p:nvPr/>
        </p:nvSpPr>
        <p:spPr>
          <a:xfrm>
            <a:off x="658368" y="3191256"/>
            <a:ext cx="3026664" cy="5303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1030">
                <a:solidFill>
                  <a:srgbClr val="18212A"/>
                </a:solidFill>
                <a:latin typeface="Aptos"/>
                <a:ea typeface="Aptos"/>
                <a:cs typeface="Aptos"/>
              </a:rPr>
              <a:t>2. Describe distributions</a:t>
            </a:r>
            <a:endParaRPr sz="103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5EECA04-9BC0-4541-98B0-22FFBDE5A917}"/>
              </a:ext>
            </a:extLst>
          </p:cNvPr>
          <p:cNvSpPr>
            <a:spLocks noGrp="1"/>
          </p:cNvSpPr>
          <p:nvPr/>
        </p:nvSpPr>
        <p:spPr>
          <a:xfrm>
            <a:off x="3749040" y="3118104"/>
            <a:ext cx="274320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93FB419-D89E-41CA-BDEA-D70FF8069410}"/>
              </a:ext>
            </a:extLst>
          </p:cNvPr>
          <p:cNvSpPr>
            <a:spLocks noGrp="1"/>
          </p:cNvSpPr>
          <p:nvPr/>
        </p:nvSpPr>
        <p:spPr>
          <a:xfrm>
            <a:off x="3813048" y="3191256"/>
            <a:ext cx="2615184" cy="5303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18212A"/>
                </a:solidFill>
                <a:latin typeface="Aptos"/>
                <a:ea typeface="Aptos"/>
                <a:cs typeface="Aptos"/>
              </a:rPr>
              <a:t>Frequencies, centre and spread</a:t>
            </a:r>
            <a:endParaRPr sz="103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33EDF38-BD23-4256-9462-08616ED5B888}"/>
              </a:ext>
            </a:extLst>
          </p:cNvPr>
          <p:cNvSpPr>
            <a:spLocks noGrp="1"/>
          </p:cNvSpPr>
          <p:nvPr/>
        </p:nvSpPr>
        <p:spPr>
          <a:xfrm>
            <a:off x="6492240" y="3118104"/>
            <a:ext cx="416052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7732708-90AD-477F-BEF1-5AEA8273CE28}"/>
              </a:ext>
            </a:extLst>
          </p:cNvPr>
          <p:cNvSpPr>
            <a:spLocks noGrp="1"/>
          </p:cNvSpPr>
          <p:nvPr/>
        </p:nvSpPr>
        <p:spPr>
          <a:xfrm>
            <a:off x="6556248" y="3191256"/>
            <a:ext cx="4032504" cy="5303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18212A"/>
                </a:solidFill>
                <a:latin typeface="Aptos"/>
                <a:ea typeface="Aptos"/>
                <a:cs typeface="Aptos"/>
              </a:rPr>
              <a:t>What does the sample show?</a:t>
            </a:r>
            <a:endParaRPr sz="103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D5F9159-10DC-4308-8E92-0783EEB4CBB6}"/>
              </a:ext>
            </a:extLst>
          </p:cNvPr>
          <p:cNvSpPr>
            <a:spLocks noGrp="1"/>
          </p:cNvSpPr>
          <p:nvPr/>
        </p:nvSpPr>
        <p:spPr>
          <a:xfrm>
            <a:off x="594360" y="3739896"/>
            <a:ext cx="1005840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7CF5F2D-7590-4DEA-9E9E-4C4562C42CCB}"/>
              </a:ext>
            </a:extLst>
          </p:cNvPr>
          <p:cNvSpPr>
            <a:spLocks noGrp="1"/>
          </p:cNvSpPr>
          <p:nvPr/>
        </p:nvSpPr>
        <p:spPr>
          <a:xfrm>
            <a:off x="594360" y="3739896"/>
            <a:ext cx="315468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E194442F-1E1F-4AC9-89B0-BEC4DDE9EBF5}"/>
              </a:ext>
            </a:extLst>
          </p:cNvPr>
          <p:cNvSpPr>
            <a:spLocks noGrp="1"/>
          </p:cNvSpPr>
          <p:nvPr/>
        </p:nvSpPr>
        <p:spPr>
          <a:xfrm>
            <a:off x="658368" y="3813048"/>
            <a:ext cx="3026664" cy="5303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1030">
                <a:solidFill>
                  <a:srgbClr val="18212A"/>
                </a:solidFill>
                <a:latin typeface="Aptos"/>
                <a:ea typeface="Aptos"/>
                <a:cs typeface="Aptos"/>
              </a:rPr>
              <a:t>3. Conduct inference</a:t>
            </a:r>
            <a:endParaRPr sz="103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0AB82814-2ED8-4739-8657-695C713B38A2}"/>
              </a:ext>
            </a:extLst>
          </p:cNvPr>
          <p:cNvSpPr>
            <a:spLocks noGrp="1"/>
          </p:cNvSpPr>
          <p:nvPr/>
        </p:nvSpPr>
        <p:spPr>
          <a:xfrm>
            <a:off x="3749040" y="3739896"/>
            <a:ext cx="274320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94366BF-FA15-4A9A-93B5-20B81305A010}"/>
              </a:ext>
            </a:extLst>
          </p:cNvPr>
          <p:cNvSpPr>
            <a:spLocks noGrp="1"/>
          </p:cNvSpPr>
          <p:nvPr/>
        </p:nvSpPr>
        <p:spPr>
          <a:xfrm>
            <a:off x="3813048" y="3813048"/>
            <a:ext cx="2615184" cy="5303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18212A"/>
                </a:solidFill>
                <a:latin typeface="Aptos"/>
                <a:ea typeface="Aptos"/>
                <a:cs typeface="Aptos"/>
              </a:rPr>
              <a:t>Tests, intervals and effect sizes</a:t>
            </a:r>
            <a:endParaRPr sz="103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B47D9B3A-4822-4662-A0A8-E643BB48B08A}"/>
              </a:ext>
            </a:extLst>
          </p:cNvPr>
          <p:cNvSpPr>
            <a:spLocks noGrp="1"/>
          </p:cNvSpPr>
          <p:nvPr/>
        </p:nvSpPr>
        <p:spPr>
          <a:xfrm>
            <a:off x="6492240" y="3739896"/>
            <a:ext cx="416052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D1C94668-57A8-488B-8FFC-25BE3E847F7D}"/>
              </a:ext>
            </a:extLst>
          </p:cNvPr>
          <p:cNvSpPr>
            <a:spLocks noGrp="1"/>
          </p:cNvSpPr>
          <p:nvPr/>
        </p:nvSpPr>
        <p:spPr>
          <a:xfrm>
            <a:off x="6556248" y="3813048"/>
            <a:ext cx="4032504" cy="5303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18212A"/>
                </a:solidFill>
                <a:latin typeface="Aptos"/>
                <a:ea typeface="Aptos"/>
                <a:cs typeface="Aptos"/>
              </a:rPr>
              <a:t>Do assumptions support the test?</a:t>
            </a:r>
            <a:endParaRPr sz="103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3AB686A2-85F8-4FDA-8192-332C5FBDA020}"/>
              </a:ext>
            </a:extLst>
          </p:cNvPr>
          <p:cNvSpPr>
            <a:spLocks noGrp="1"/>
          </p:cNvSpPr>
          <p:nvPr/>
        </p:nvSpPr>
        <p:spPr>
          <a:xfrm>
            <a:off x="594360" y="4361688"/>
            <a:ext cx="1005840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78AF4D46-48E4-4D37-A520-FAE3C4AB9F37}"/>
              </a:ext>
            </a:extLst>
          </p:cNvPr>
          <p:cNvSpPr>
            <a:spLocks noGrp="1"/>
          </p:cNvSpPr>
          <p:nvPr/>
        </p:nvSpPr>
        <p:spPr>
          <a:xfrm>
            <a:off x="594360" y="4361688"/>
            <a:ext cx="315468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662D4E7F-62B4-4B68-BA55-B3343EB569FF}"/>
              </a:ext>
            </a:extLst>
          </p:cNvPr>
          <p:cNvSpPr>
            <a:spLocks noGrp="1"/>
          </p:cNvSpPr>
          <p:nvPr/>
        </p:nvSpPr>
        <p:spPr>
          <a:xfrm>
            <a:off x="658368" y="4434840"/>
            <a:ext cx="3026664" cy="5303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1030">
                <a:solidFill>
                  <a:srgbClr val="18212A"/>
                </a:solidFill>
                <a:latin typeface="Aptos"/>
                <a:ea typeface="Aptos"/>
                <a:cs typeface="Aptos"/>
              </a:rPr>
              <a:t>4. Report the results</a:t>
            </a:r>
            <a:endParaRPr sz="103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2E510E20-4B63-41F1-91FD-CDDCD1FC6C73}"/>
              </a:ext>
            </a:extLst>
          </p:cNvPr>
          <p:cNvSpPr>
            <a:spLocks noGrp="1"/>
          </p:cNvSpPr>
          <p:nvPr/>
        </p:nvSpPr>
        <p:spPr>
          <a:xfrm>
            <a:off x="3749040" y="4361688"/>
            <a:ext cx="274320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E0F24277-472D-40BC-A6BE-C2795DD9BFE1}"/>
              </a:ext>
            </a:extLst>
          </p:cNvPr>
          <p:cNvSpPr>
            <a:spLocks noGrp="1"/>
          </p:cNvSpPr>
          <p:nvPr/>
        </p:nvSpPr>
        <p:spPr>
          <a:xfrm>
            <a:off x="3813048" y="4434840"/>
            <a:ext cx="2615184" cy="5303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18212A"/>
                </a:solidFill>
                <a:latin typeface="Aptos"/>
                <a:ea typeface="Aptos"/>
                <a:cs typeface="Aptos"/>
              </a:rPr>
              <a:t>Tables, charts and objective text</a:t>
            </a:r>
            <a:endParaRPr sz="103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CB6DE0EB-5BDE-4497-A63D-6FF2BD8E5F02}"/>
              </a:ext>
            </a:extLst>
          </p:cNvPr>
          <p:cNvSpPr>
            <a:spLocks noGrp="1"/>
          </p:cNvSpPr>
          <p:nvPr/>
        </p:nvSpPr>
        <p:spPr>
          <a:xfrm>
            <a:off x="6492240" y="4361688"/>
            <a:ext cx="416052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769A2453-19BD-4521-B1B1-D99F2B7EC868}"/>
              </a:ext>
            </a:extLst>
          </p:cNvPr>
          <p:cNvSpPr>
            <a:spLocks noGrp="1"/>
          </p:cNvSpPr>
          <p:nvPr/>
        </p:nvSpPr>
        <p:spPr>
          <a:xfrm>
            <a:off x="6556248" y="4434840"/>
            <a:ext cx="4032504" cy="5303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18212A"/>
                </a:solidFill>
                <a:latin typeface="Aptos"/>
                <a:ea typeface="Aptos"/>
                <a:cs typeface="Aptos"/>
              </a:rPr>
              <a:t>Is the claim proportionate?</a:t>
            </a:r>
            <a:endParaRPr sz="103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F8285D16-A769-4867-B5E9-E7E9E9CC3150}"/>
              </a:ext>
            </a:extLst>
          </p:cNvPr>
          <p:cNvSpPr>
            <a:spLocks noGrp="1"/>
          </p:cNvSpPr>
          <p:nvPr/>
        </p:nvSpPr>
        <p:spPr>
          <a:xfrm>
            <a:off x="594360" y="4983480"/>
            <a:ext cx="1005840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9EF861F5-1752-49DC-AC13-5E03B626A317}"/>
              </a:ext>
            </a:extLst>
          </p:cNvPr>
          <p:cNvSpPr>
            <a:spLocks noGrp="1"/>
          </p:cNvSpPr>
          <p:nvPr/>
        </p:nvSpPr>
        <p:spPr>
          <a:xfrm>
            <a:off x="960120" y="5669280"/>
            <a:ext cx="10241280" cy="384048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 fontScale="79375" lnSpcReduction="20000"/>
          </a:bodyPr>
          <a:lstStyle/>
          <a:p>
            <a:pPr marL="0" indent="0" algn="ctr">
              <a:buNone/>
            </a:pPr>
            <a:r>
              <a:rPr sz="19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Quantitative analysis is sequential in logic, but checking and revision continue throughout (Creswell and Creswell, 2018).</a:t>
            </a:r>
            <a:endParaRPr sz="195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D1619E76-3AB7-4EF1-A948-A49703AE82BA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00">
                <a:solidFill>
                  <a:srgbClr val="56616B"/>
                </a:solidFill>
              </a:rPr>
              <a:t>01C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104762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1FEE4A-A31D-403D-A4D1-EE19D7BB3DA8}"/>
              </a:ext>
            </a:extLst>
          </p:cNvPr>
          <p:cNvSpPr>
            <a:spLocks noGrp="1"/>
          </p:cNvSpPr>
          <p:nvPr/>
        </p:nvSpPr>
        <p:spPr>
          <a:xfrm>
            <a:off x="658368" y="29260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125" b="1">
                <a:solidFill>
                  <a:srgbClr val="0F5E5A"/>
                </a:solidFill>
              </a:defRPr>
            </a:pPr>
            <a:r>
              <a:rPr sz="1125" b="1">
                <a:solidFill>
                  <a:srgbClr val="0F5E5A"/>
                </a:solidFill>
              </a:rPr>
              <a:t>ANALYSIS BRIDGE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3687746-1E4A-4214-A422-10096A169067}"/>
              </a:ext>
            </a:extLst>
          </p:cNvPr>
          <p:cNvSpPr>
            <a:spLocks noGrp="1"/>
          </p:cNvSpPr>
          <p:nvPr/>
        </p:nvSpPr>
        <p:spPr>
          <a:xfrm>
            <a:off x="640080" y="512064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700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Both routes connect organised data to justified meaning</a:t>
            </a:r>
            <a:endParaRPr sz="27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13AAA36-B620-4C95-8EF6-079C3AF3FF61}"/>
              </a:ext>
            </a:extLst>
          </p:cNvPr>
          <p:cNvSpPr>
            <a:spLocks noGrp="1"/>
          </p:cNvSpPr>
          <p:nvPr/>
        </p:nvSpPr>
        <p:spPr>
          <a:xfrm>
            <a:off x="640080" y="1133856"/>
            <a:ext cx="10927080" cy="0"/>
          </a:xfrm>
          <a:prstGeom prst="line">
            <a:avLst/>
          </a:prstGeom>
          <a:noFill/>
          <a:ln w="1524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A125668-04F5-40B7-8786-74DE8893E944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11292840" cy="0"/>
          </a:xfrm>
          <a:prstGeom prst="line">
            <a:avLst/>
          </a:prstGeom>
          <a:noFill/>
          <a:ln w="1270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1D53B38-78BF-47F5-950E-B4287CBB52E7}"/>
              </a:ext>
            </a:extLst>
          </p:cNvPr>
          <p:cNvSpPr>
            <a:spLocks noGrp="1"/>
          </p:cNvSpPr>
          <p:nvPr/>
        </p:nvSpPr>
        <p:spPr>
          <a:xfrm>
            <a:off x="777240" y="1325880"/>
            <a:ext cx="10607040" cy="45720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 fontScale="88476"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Qualitative and quantitative analysis differ in technique, but both depend on transparent reasoning.</a:t>
            </a:r>
            <a:endParaRPr sz="20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9792635-0DDA-436D-9D14-66683D9184BA}"/>
              </a:ext>
            </a:extLst>
          </p:cNvPr>
          <p:cNvSpPr>
            <a:spLocks noGrp="1"/>
          </p:cNvSpPr>
          <p:nvPr/>
        </p:nvSpPr>
        <p:spPr>
          <a:xfrm>
            <a:off x="868680" y="21488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E7EEF9"/>
          </a:solidFill>
          <a:ln w="1016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957837C-6EE7-4B7B-899A-7B60467E959E}"/>
              </a:ext>
            </a:extLst>
          </p:cNvPr>
          <p:cNvSpPr>
            <a:spLocks noGrp="1"/>
          </p:cNvSpPr>
          <p:nvPr/>
        </p:nvSpPr>
        <p:spPr>
          <a:xfrm>
            <a:off x="1033272" y="2313432"/>
            <a:ext cx="3099816" cy="27432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 algn="l">
              <a:buNone/>
            </a:pPr>
            <a:r>
              <a:rPr sz="1650" b="1">
                <a:solidFill>
                  <a:srgbClr val="315D9D"/>
                </a:solidFill>
                <a:latin typeface="Aptos"/>
                <a:ea typeface="Aptos"/>
                <a:cs typeface="Aptos"/>
              </a:rPr>
              <a:t>Prepare evidence</a:t>
            </a:r>
            <a:endParaRPr sz="16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A9393B6-AD24-4532-85E7-0A3F03D3FB15}"/>
              </a:ext>
            </a:extLst>
          </p:cNvPr>
          <p:cNvSpPr>
            <a:spLocks noGrp="1"/>
          </p:cNvSpPr>
          <p:nvPr/>
        </p:nvSpPr>
        <p:spPr>
          <a:xfrm>
            <a:off x="1033272" y="2697480"/>
            <a:ext cx="3099816" cy="1289304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 algn="l">
              <a:buNone/>
            </a:pPr>
            <a:r>
              <a:rPr sz="1270">
                <a:solidFill>
                  <a:srgbClr val="18212A"/>
                </a:solidFill>
                <a:latin typeface="Aptos"/>
                <a:ea typeface="Aptos"/>
                <a:cs typeface="Aptos"/>
              </a:rPr>
              <a:t>Organise, clean or transcribe the material; define units, variables and sources before analysis begins.</a:t>
            </a:r>
            <a:endParaRPr sz="127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4405AAA-925E-4A1B-9F69-B0A02ED25EF5}"/>
              </a:ext>
            </a:extLst>
          </p:cNvPr>
          <p:cNvSpPr>
            <a:spLocks noGrp="1"/>
          </p:cNvSpPr>
          <p:nvPr/>
        </p:nvSpPr>
        <p:spPr>
          <a:xfrm>
            <a:off x="4434840" y="21488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EFE7F7"/>
          </a:solidFill>
          <a:ln w="1016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94888AA-15B5-4943-B5F7-D7FF5C7B0113}"/>
              </a:ext>
            </a:extLst>
          </p:cNvPr>
          <p:cNvSpPr>
            <a:spLocks noGrp="1"/>
          </p:cNvSpPr>
          <p:nvPr/>
        </p:nvSpPr>
        <p:spPr>
          <a:xfrm>
            <a:off x="4599432" y="2313432"/>
            <a:ext cx="3099816" cy="27432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 algn="l">
              <a:buNone/>
            </a:pPr>
            <a:r>
              <a:rPr sz="1650" b="1">
                <a:solidFill>
                  <a:srgbClr val="7D4AB3"/>
                </a:solidFill>
                <a:latin typeface="Aptos"/>
                <a:ea typeface="Aptos"/>
                <a:cs typeface="Aptos"/>
              </a:rPr>
              <a:t>Analyse patterns</a:t>
            </a:r>
            <a:endParaRPr sz="165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27C7F16-C1A8-4018-BEC4-A92DA5B93B8E}"/>
              </a:ext>
            </a:extLst>
          </p:cNvPr>
          <p:cNvSpPr>
            <a:spLocks noGrp="1"/>
          </p:cNvSpPr>
          <p:nvPr/>
        </p:nvSpPr>
        <p:spPr>
          <a:xfrm>
            <a:off x="4599432" y="2697480"/>
            <a:ext cx="3099816" cy="1289304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 algn="l">
              <a:buNone/>
            </a:pPr>
            <a:r>
              <a:rPr sz="1270">
                <a:solidFill>
                  <a:srgbClr val="18212A"/>
                </a:solidFill>
                <a:latin typeface="Aptos"/>
                <a:ea typeface="Aptos"/>
                <a:cs typeface="Aptos"/>
              </a:rPr>
              <a:t>Use coding and themes for meaning-rich data, or descriptive and inferential statistics for numerical data.</a:t>
            </a:r>
            <a:endParaRPr sz="127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6D06B67-15E2-48DA-BE97-58A08A50DFCC}"/>
              </a:ext>
            </a:extLst>
          </p:cNvPr>
          <p:cNvSpPr>
            <a:spLocks noGrp="1"/>
          </p:cNvSpPr>
          <p:nvPr/>
        </p:nvSpPr>
        <p:spPr>
          <a:xfrm>
            <a:off x="8001000" y="21488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DFF3F0"/>
          </a:solidFill>
          <a:ln w="1016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D7C9B18-6D3C-4405-9381-6249402AC4FD}"/>
              </a:ext>
            </a:extLst>
          </p:cNvPr>
          <p:cNvSpPr>
            <a:spLocks noGrp="1"/>
          </p:cNvSpPr>
          <p:nvPr/>
        </p:nvSpPr>
        <p:spPr>
          <a:xfrm>
            <a:off x="8165592" y="2313432"/>
            <a:ext cx="3099816" cy="27432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 algn="l">
              <a:buNone/>
            </a:pPr>
            <a:r>
              <a:rPr sz="1650" b="1">
                <a:solidFill>
                  <a:srgbClr val="0F5E5A"/>
                </a:solidFill>
                <a:latin typeface="Aptos"/>
                <a:ea typeface="Aptos"/>
                <a:cs typeface="Aptos"/>
              </a:rPr>
              <a:t>Interpret and communicate</a:t>
            </a:r>
            <a:endParaRPr sz="16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4A1AE8E-812A-42A6-BDD0-E8AC48363A6D}"/>
              </a:ext>
            </a:extLst>
          </p:cNvPr>
          <p:cNvSpPr>
            <a:spLocks noGrp="1"/>
          </p:cNvSpPr>
          <p:nvPr/>
        </p:nvSpPr>
        <p:spPr>
          <a:xfrm>
            <a:off x="8165592" y="2697480"/>
            <a:ext cx="3099816" cy="1289304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 algn="l">
              <a:buNone/>
            </a:pPr>
            <a:r>
              <a:rPr sz="1270">
                <a:solidFill>
                  <a:srgbClr val="18212A"/>
                </a:solidFill>
                <a:latin typeface="Aptos"/>
                <a:ea typeface="Aptos"/>
                <a:cs typeface="Aptos"/>
              </a:rPr>
              <a:t>Connect findings to the question, literature and context; represent them clearly and acknowledge limits.</a:t>
            </a:r>
            <a:endParaRPr sz="127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EA9B352-7F7B-456F-AB59-9A0F75AD19AE}"/>
              </a:ext>
            </a:extLst>
          </p:cNvPr>
          <p:cNvSpPr>
            <a:spLocks noGrp="1"/>
          </p:cNvSpPr>
          <p:nvPr/>
        </p:nvSpPr>
        <p:spPr>
          <a:xfrm>
            <a:off x="960120" y="5166360"/>
            <a:ext cx="10241280" cy="41148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 fontScale="76348" lnSpcReduction="20000"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Different paths, shared standard: every claim must remain traceable to evidence (Creswell and Creswell, 2018).</a:t>
            </a:r>
            <a:endParaRPr sz="20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B99B396-5B9D-4337-8148-0BDEEBE3A45B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00">
                <a:solidFill>
                  <a:srgbClr val="56616B"/>
                </a:solidFill>
              </a:rPr>
              <a:t>01D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693984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193689-E4B9-B7E0-B2F1-90D07B571C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2F0797-FB2B-CAEE-12BE-1D02EB5BF949}"/>
              </a:ext>
            </a:extLst>
          </p:cNvPr>
          <p:cNvSpPr txBox="1"/>
          <p:nvPr/>
        </p:nvSpPr>
        <p:spPr>
          <a:xfrm>
            <a:off x="8175009" y="6642556"/>
            <a:ext cx="91508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/>
              <a:t>Credit: https://</a:t>
            </a:r>
            <a:r>
              <a:rPr lang="en-GB" sz="800" dirty="0" err="1"/>
              <a:t>gregmeyer.wordpress.com</a:t>
            </a:r>
            <a:r>
              <a:rPr lang="en-GB" sz="800" dirty="0"/>
              <a:t>/2022/05/01/every-data-picture-tells-a-story/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6B02FC-709E-05A7-3DC8-4369D6ACBD8A}"/>
              </a:ext>
            </a:extLst>
          </p:cNvPr>
          <p:cNvSpPr txBox="1"/>
          <p:nvPr/>
        </p:nvSpPr>
        <p:spPr>
          <a:xfrm>
            <a:off x="238837" y="1592745"/>
            <a:ext cx="695353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sz="3200" b="0" u="none" strike="noStrike" dirty="0">
                <a:effectLst/>
                <a:latin typeface="+mn-lt"/>
              </a:rPr>
              <a:t>To transition your raw research data from simple, sorted categories into a compelling narrative, you must intentionally bridge the gap between </a:t>
            </a:r>
            <a:r>
              <a:rPr lang="en-ZA" sz="3200" b="1" u="none" strike="noStrike" dirty="0">
                <a:effectLst/>
                <a:latin typeface="+mn-lt"/>
              </a:rPr>
              <a:t>what the data is</a:t>
            </a:r>
            <a:r>
              <a:rPr lang="en-ZA" sz="3200" dirty="0"/>
              <a:t> and </a:t>
            </a:r>
            <a:r>
              <a:rPr lang="en-ZA" sz="3200" b="1" u="none" strike="noStrike" dirty="0">
                <a:effectLst/>
                <a:latin typeface="+mn-lt"/>
              </a:rPr>
              <a:t>what it actually means</a:t>
            </a:r>
            <a:r>
              <a:rPr lang="en-ZA" sz="3200" dirty="0"/>
              <a:t>.</a:t>
            </a:r>
            <a:endParaRPr lang="en-GB" sz="3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EFC818-E07A-4C81-C346-92B16976A067}"/>
              </a:ext>
            </a:extLst>
          </p:cNvPr>
          <p:cNvSpPr/>
          <p:nvPr/>
        </p:nvSpPr>
        <p:spPr>
          <a:xfrm>
            <a:off x="7620000" y="2088107"/>
            <a:ext cx="4572000" cy="47698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0122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5DFC7-DE84-9D6D-15B2-197DBB778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6689AB-DBA6-3D16-1D25-7A3F50B98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592" y="0"/>
            <a:ext cx="457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625323-AEE6-2259-760A-5B2406DF253D}"/>
              </a:ext>
            </a:extLst>
          </p:cNvPr>
          <p:cNvSpPr txBox="1"/>
          <p:nvPr/>
        </p:nvSpPr>
        <p:spPr>
          <a:xfrm>
            <a:off x="8175009" y="6642556"/>
            <a:ext cx="91508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/>
              <a:t>Credit: https://</a:t>
            </a:r>
            <a:r>
              <a:rPr lang="en-GB" sz="800" dirty="0" err="1"/>
              <a:t>gregmeyer.wordpress.com</a:t>
            </a:r>
            <a:r>
              <a:rPr lang="en-GB" sz="800" dirty="0"/>
              <a:t>/2022/05/01/every-data-picture-tells-a-story/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6CF30B-C378-4180-E3A6-6A569AA88421}"/>
              </a:ext>
            </a:extLst>
          </p:cNvPr>
          <p:cNvSpPr txBox="1"/>
          <p:nvPr/>
        </p:nvSpPr>
        <p:spPr>
          <a:xfrm>
            <a:off x="6821" y="428178"/>
            <a:ext cx="8140888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200" b="1" dirty="0"/>
              <a:t>Step 1: </a:t>
            </a:r>
          </a:p>
          <a:p>
            <a:r>
              <a:rPr lang="en-ZA" sz="2200" b="1" dirty="0"/>
              <a:t>Moving from "Sorted" to "Arranged" (Pattern Recognition)</a:t>
            </a:r>
          </a:p>
          <a:p>
            <a:r>
              <a:rPr lang="en-ZA" sz="2200" dirty="0"/>
              <a:t>Do not just list your categories. Look for structural relationships between them.</a:t>
            </a:r>
          </a:p>
          <a:p>
            <a:endParaRPr lang="en-ZA" sz="2200" dirty="0"/>
          </a:p>
          <a:p>
            <a:pPr lvl="0"/>
            <a:r>
              <a:rPr lang="en-ZA" sz="2200" b="1" dirty="0"/>
              <a:t>In Quantitative Research, </a:t>
            </a:r>
            <a:r>
              <a:rPr lang="en-ZA" sz="2200" dirty="0"/>
              <a:t>this means moving beyond single variables (descriptive stats like means) and examining how variables interact (inferential stats like correlations or regressions).</a:t>
            </a:r>
          </a:p>
          <a:p>
            <a:pPr lvl="0"/>
            <a:endParaRPr lang="en-ZA" sz="2200" dirty="0"/>
          </a:p>
          <a:p>
            <a:pPr lvl="0"/>
            <a:r>
              <a:rPr lang="en-ZA" sz="2200" b="1" dirty="0"/>
              <a:t>In qualitative research, </a:t>
            </a:r>
            <a:r>
              <a:rPr lang="en-ZA" sz="2200" dirty="0"/>
              <a:t>this means grouping isolated codes into overarching, broader themes.</a:t>
            </a:r>
          </a:p>
          <a:p>
            <a:pPr lvl="0"/>
            <a:endParaRPr lang="en-ZA" sz="2200" dirty="0"/>
          </a:p>
          <a:p>
            <a:pPr lvl="0"/>
            <a:r>
              <a:rPr lang="en-ZA" sz="2200" b="1" dirty="0"/>
              <a:t>Tip:</a:t>
            </a:r>
            <a:r>
              <a:rPr lang="en-ZA" sz="2200" dirty="0"/>
              <a:t> Create a matrix or a mind map. </a:t>
            </a:r>
          </a:p>
          <a:p>
            <a:pPr lvl="0"/>
            <a:r>
              <a:rPr lang="en-ZA" sz="2200" dirty="0"/>
              <a:t>Ask yourself: </a:t>
            </a:r>
          </a:p>
          <a:p>
            <a:pPr lvl="0"/>
            <a:r>
              <a:rPr lang="en-ZA" sz="2200" i="1" dirty="0"/>
              <a:t>Which themes always appear together? Which variables conflict with each other?</a:t>
            </a:r>
            <a:endParaRPr lang="en-ZA" sz="2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65DC26-B216-45DB-8E5F-18D620DD5CD4}"/>
              </a:ext>
            </a:extLst>
          </p:cNvPr>
          <p:cNvSpPr/>
          <p:nvPr/>
        </p:nvSpPr>
        <p:spPr>
          <a:xfrm>
            <a:off x="7974843" y="4285400"/>
            <a:ext cx="4572000" cy="36644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855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4397E-5D84-5C93-3ACD-F2EA4A1DB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936FB5-A836-C10E-3759-EBC4360BA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DC3E5C-7C51-EB1C-1A92-3D185AFB264B}"/>
              </a:ext>
            </a:extLst>
          </p:cNvPr>
          <p:cNvSpPr txBox="1"/>
          <p:nvPr/>
        </p:nvSpPr>
        <p:spPr>
          <a:xfrm>
            <a:off x="8175009" y="6642556"/>
            <a:ext cx="91508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/>
              <a:t>Credit: https://</a:t>
            </a:r>
            <a:r>
              <a:rPr lang="en-GB" sz="800" dirty="0" err="1"/>
              <a:t>gregmeyer.wordpress.com</a:t>
            </a:r>
            <a:r>
              <a:rPr lang="en-GB" sz="800" dirty="0"/>
              <a:t>/2022/05/01/every-data-picture-tells-a-story/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882D18-E3AC-47D2-5AB1-53C4D8F0E9A1}"/>
              </a:ext>
            </a:extLst>
          </p:cNvPr>
          <p:cNvSpPr txBox="1"/>
          <p:nvPr/>
        </p:nvSpPr>
        <p:spPr>
          <a:xfrm>
            <a:off x="266133" y="428178"/>
            <a:ext cx="695353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400" b="1" dirty="0"/>
              <a:t>Step 2: </a:t>
            </a:r>
          </a:p>
          <a:p>
            <a:r>
              <a:rPr lang="en-ZA" sz="2400" b="1" dirty="0"/>
              <a:t>Moving to "Presented Visually" (Data Display)</a:t>
            </a:r>
          </a:p>
          <a:p>
            <a:r>
              <a:rPr lang="en-ZA" sz="2400" dirty="0"/>
              <a:t>Before writing long paragraphs, create a clear visual anchor for your reader.</a:t>
            </a:r>
          </a:p>
          <a:p>
            <a:endParaRPr lang="en-ZA" sz="2400" dirty="0"/>
          </a:p>
          <a:p>
            <a:pPr lvl="0"/>
            <a:r>
              <a:rPr lang="en-ZA" sz="2400" b="1" dirty="0"/>
              <a:t>The Tool:</a:t>
            </a:r>
            <a:r>
              <a:rPr lang="en-ZA" sz="2400" dirty="0"/>
              <a:t> Design a </a:t>
            </a:r>
            <a:r>
              <a:rPr lang="en-ZA" sz="2400" b="1" dirty="0"/>
              <a:t>Joint Display</a:t>
            </a:r>
            <a:r>
              <a:rPr lang="en-ZA" sz="2400" dirty="0"/>
              <a:t> (if mixed methods), a </a:t>
            </a:r>
            <a:r>
              <a:rPr lang="en-ZA" sz="2400" b="1" dirty="0"/>
              <a:t>Conceptual Framework Diagram</a:t>
            </a:r>
            <a:r>
              <a:rPr lang="en-ZA" sz="2400" dirty="0"/>
              <a:t>, or a clean </a:t>
            </a:r>
            <a:r>
              <a:rPr lang="en-ZA" sz="2400" b="1" dirty="0"/>
              <a:t>Thematic Table</a:t>
            </a:r>
            <a:r>
              <a:rPr lang="en-ZA" sz="2400" dirty="0"/>
              <a:t>.</a:t>
            </a:r>
          </a:p>
          <a:p>
            <a:pPr lvl="0"/>
            <a:endParaRPr lang="en-ZA" sz="2400" dirty="0"/>
          </a:p>
          <a:p>
            <a:pPr lvl="0"/>
            <a:r>
              <a:rPr lang="en-ZA" sz="2400" b="1" dirty="0"/>
              <a:t>Tip:</a:t>
            </a:r>
            <a:r>
              <a:rPr lang="en-ZA" sz="2400" dirty="0"/>
              <a:t> Draft a table that lists your Main Theme, the Sub-themes underneath it, and 1–2 illustrative participant quotes or statistical data points for each. This gives your reader an instant snapshot of your architectural plan.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D81C2F-6DF8-D248-EEB2-77E643080B08}"/>
              </a:ext>
            </a:extLst>
          </p:cNvPr>
          <p:cNvSpPr/>
          <p:nvPr/>
        </p:nvSpPr>
        <p:spPr>
          <a:xfrm>
            <a:off x="7774675" y="5308978"/>
            <a:ext cx="4572000" cy="36644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134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A696A-94DF-B1B1-84EE-B5717AF2C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49E334-54A3-E7C4-AC3D-9E2435821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9BFE07-D0C7-E10E-49FB-39A3A9A454B4}"/>
              </a:ext>
            </a:extLst>
          </p:cNvPr>
          <p:cNvSpPr txBox="1"/>
          <p:nvPr/>
        </p:nvSpPr>
        <p:spPr>
          <a:xfrm>
            <a:off x="8175009" y="6642556"/>
            <a:ext cx="91508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/>
              <a:t>Credit: https://</a:t>
            </a:r>
            <a:r>
              <a:rPr lang="en-GB" sz="800" dirty="0" err="1"/>
              <a:t>gregmeyer.wordpress.com</a:t>
            </a:r>
            <a:r>
              <a:rPr lang="en-GB" sz="800" dirty="0"/>
              <a:t>/2022/05/01/every-data-picture-tells-a-story/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884F83-CAD5-EB55-E561-8EAB5F5D8B6A}"/>
              </a:ext>
            </a:extLst>
          </p:cNvPr>
          <p:cNvSpPr txBox="1"/>
          <p:nvPr/>
        </p:nvSpPr>
        <p:spPr>
          <a:xfrm>
            <a:off x="197893" y="59688"/>
            <a:ext cx="7499443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200" b="1" dirty="0"/>
              <a:t>Step 3: </a:t>
            </a:r>
          </a:p>
          <a:p>
            <a:r>
              <a:rPr lang="en-ZA" sz="2200" b="1" dirty="0"/>
              <a:t>Moving to the "Story" (The Synthesis)</a:t>
            </a:r>
          </a:p>
          <a:p>
            <a:r>
              <a:rPr lang="en-ZA" sz="2200" dirty="0"/>
              <a:t>This is where you write the actual Data Analysis and then the Discussion section. A strong research story requires three elements:</a:t>
            </a:r>
          </a:p>
          <a:p>
            <a:pPr lvl="0"/>
            <a:r>
              <a:rPr lang="en-ZA" sz="2200" b="1" dirty="0"/>
              <a:t>The Evidence:</a:t>
            </a:r>
            <a:r>
              <a:rPr lang="en-ZA" sz="2200" dirty="0"/>
              <a:t> </a:t>
            </a:r>
          </a:p>
          <a:p>
            <a:pPr lvl="0"/>
            <a:r>
              <a:rPr lang="en-ZA" sz="2200" dirty="0"/>
              <a:t>State clearly what the data shows (e.g., </a:t>
            </a:r>
            <a:r>
              <a:rPr lang="en-ZA" sz="2200" i="1" dirty="0"/>
              <a:t>"75% of participants reported high burnout levels..."</a:t>
            </a:r>
            <a:r>
              <a:rPr lang="en-ZA" sz="2200" dirty="0"/>
              <a:t> or </a:t>
            </a:r>
            <a:r>
              <a:rPr lang="en-ZA" sz="2200" i="1" dirty="0"/>
              <a:t>"Theme 1 emerged as systemic exhaustion..."</a:t>
            </a:r>
            <a:r>
              <a:rPr lang="en-ZA" sz="2200" dirty="0"/>
              <a:t>).</a:t>
            </a:r>
          </a:p>
          <a:p>
            <a:pPr lvl="0"/>
            <a:r>
              <a:rPr lang="en-ZA" sz="2200" b="1" dirty="0"/>
              <a:t>The Context:</a:t>
            </a:r>
            <a:r>
              <a:rPr lang="en-ZA" sz="2200" dirty="0"/>
              <a:t> </a:t>
            </a:r>
          </a:p>
          <a:p>
            <a:pPr lvl="0"/>
            <a:r>
              <a:rPr lang="en-ZA" sz="2200" dirty="0"/>
              <a:t>Explain </a:t>
            </a:r>
            <a:r>
              <a:rPr lang="en-ZA" sz="2200" i="1" dirty="0"/>
              <a:t>why</a:t>
            </a:r>
            <a:r>
              <a:rPr lang="en-ZA" sz="2200" dirty="0"/>
              <a:t> this is happening. This is your voice as a researcher, interpreting the human element or the statistical anomaly behind the numbers.</a:t>
            </a:r>
          </a:p>
          <a:p>
            <a:pPr lvl="0"/>
            <a:r>
              <a:rPr lang="en-ZA" sz="2200" b="1" dirty="0"/>
              <a:t>The Literature Connection:</a:t>
            </a:r>
            <a:r>
              <a:rPr lang="en-ZA" sz="2200" dirty="0"/>
              <a:t> </a:t>
            </a:r>
          </a:p>
          <a:p>
            <a:pPr lvl="0"/>
            <a:r>
              <a:rPr lang="en-ZA" sz="2200" dirty="0"/>
              <a:t>Tie your house back to the neighbourhood. Connect your findings directly back to the literature. </a:t>
            </a:r>
          </a:p>
          <a:p>
            <a:pPr lvl="0"/>
            <a:r>
              <a:rPr lang="en-ZA" sz="2200" dirty="0"/>
              <a:t>Does your data agree, disagree, or add a completely new brick to existing theories?</a:t>
            </a:r>
          </a:p>
        </p:txBody>
      </p:sp>
    </p:spTree>
    <p:extLst>
      <p:ext uri="{BB962C8B-B14F-4D97-AF65-F5344CB8AC3E}">
        <p14:creationId xmlns:p14="http://schemas.microsoft.com/office/powerpoint/2010/main" val="3970393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AD5F5ED-ADD3-4825-B713-A908A2677461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endParaRPr sz="800"/>
          </a:p>
        </p:txBody>
      </p:sp>
      <p:sp>
        <p:nvSpPr>
          <p:cNvPr id="5" name="Editable text S02 L01">
            <a:extLst>
              <a:ext uri="{FF2B5EF4-FFF2-40B4-BE49-F238E27FC236}">
                <a16:creationId xmlns:a16="http://schemas.microsoft.com/office/drawing/2014/main" id="{2F962FDF-56B4-4A80-9DAE-8505FCD4F7C3}"/>
              </a:ext>
            </a:extLst>
          </p:cNvPr>
          <p:cNvSpPr>
            <a:spLocks noGrp="1"/>
          </p:cNvSpPr>
          <p:nvPr/>
        </p:nvSpPr>
        <p:spPr>
          <a:xfrm>
            <a:off x="653951" y="339090"/>
            <a:ext cx="957703" cy="1276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12" b="1">
                <a:solidFill>
                  <a:srgbClr val="0F5E5A"/>
                </a:solidFill>
                <a:latin typeface="Aptos"/>
                <a:ea typeface="Aptos"/>
                <a:cs typeface="Aptos"/>
              </a:defRPr>
            </a:pPr>
            <a:endParaRPr sz="612" b="1">
              <a:solidFill>
                <a:srgbClr val="0F5E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Editable text S02 L02">
            <a:extLst>
              <a:ext uri="{FF2B5EF4-FFF2-40B4-BE49-F238E27FC236}">
                <a16:creationId xmlns:a16="http://schemas.microsoft.com/office/drawing/2014/main" id="{3B8FE510-9E82-4E93-AC43-E701BED055EB}"/>
              </a:ext>
            </a:extLst>
          </p:cNvPr>
          <p:cNvSpPr>
            <a:spLocks noGrp="1"/>
          </p:cNvSpPr>
          <p:nvPr/>
        </p:nvSpPr>
        <p:spPr>
          <a:xfrm>
            <a:off x="620230" y="588108"/>
            <a:ext cx="8674655" cy="410649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6752" lnSpcReduction="10000"/>
          </a:bodyPr>
          <a:lstStyle/>
          <a:p>
            <a:pPr algn="l">
              <a:buNone/>
              <a:defRPr sz="2785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85" b="1" dirty="0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Two ways of making sense of research data</a:t>
            </a:r>
          </a:p>
        </p:txBody>
      </p:sp>
      <p:sp>
        <p:nvSpPr>
          <p:cNvPr id="7" name="Editable text S02 L03">
            <a:extLst>
              <a:ext uri="{FF2B5EF4-FFF2-40B4-BE49-F238E27FC236}">
                <a16:creationId xmlns:a16="http://schemas.microsoft.com/office/drawing/2014/main" id="{A2DFF621-2B63-4FEE-B6C9-653E1FBE08C9}"/>
              </a:ext>
            </a:extLst>
          </p:cNvPr>
          <p:cNvSpPr>
            <a:spLocks noGrp="1"/>
          </p:cNvSpPr>
          <p:nvPr/>
        </p:nvSpPr>
        <p:spPr>
          <a:xfrm>
            <a:off x="876876" y="1617856"/>
            <a:ext cx="2834501" cy="305684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9297"/>
          </a:bodyPr>
          <a:lstStyle/>
          <a:p>
            <a:pPr algn="l">
              <a:buNone/>
              <a:defRPr sz="2020" b="1">
                <a:solidFill>
                  <a:srgbClr val="315D9D"/>
                </a:solidFill>
                <a:latin typeface="Aptos"/>
                <a:ea typeface="Aptos"/>
                <a:cs typeface="Aptos"/>
              </a:defRPr>
            </a:pPr>
            <a:r>
              <a:rPr sz="2020" b="1" dirty="0">
                <a:solidFill>
                  <a:srgbClr val="315D9D"/>
                </a:solidFill>
                <a:latin typeface="Aptos"/>
                <a:ea typeface="Aptos"/>
                <a:cs typeface="Aptos"/>
              </a:rPr>
              <a:t>Quantitative analysis</a:t>
            </a:r>
          </a:p>
        </p:txBody>
      </p:sp>
      <p:sp>
        <p:nvSpPr>
          <p:cNvPr id="8" name="Editable text S02 L04">
            <a:extLst>
              <a:ext uri="{FF2B5EF4-FFF2-40B4-BE49-F238E27FC236}">
                <a16:creationId xmlns:a16="http://schemas.microsoft.com/office/drawing/2014/main" id="{9EF9A608-0B31-47D6-8C94-25DFE9A3DFCE}"/>
              </a:ext>
            </a:extLst>
          </p:cNvPr>
          <p:cNvSpPr>
            <a:spLocks noGrp="1"/>
          </p:cNvSpPr>
          <p:nvPr/>
        </p:nvSpPr>
        <p:spPr>
          <a:xfrm>
            <a:off x="8536098" y="1601061"/>
            <a:ext cx="2875997" cy="339273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8330"/>
          </a:bodyPr>
          <a:lstStyle/>
          <a:p>
            <a:pPr algn="l">
              <a:buNone/>
              <a:defRPr sz="2264" b="1">
                <a:solidFill>
                  <a:srgbClr val="7D4AB3"/>
                </a:solidFill>
                <a:latin typeface="Aptos Display"/>
                <a:ea typeface="Aptos Display"/>
                <a:cs typeface="Aptos Display"/>
              </a:defRPr>
            </a:pPr>
            <a:r>
              <a:rPr sz="2264" b="1">
                <a:solidFill>
                  <a:srgbClr val="7D4AB3"/>
                </a:solidFill>
                <a:latin typeface="Aptos Display"/>
                <a:ea typeface="Aptos Display"/>
                <a:cs typeface="Aptos Display"/>
              </a:rPr>
              <a:t>Qualitative analysis</a:t>
            </a:r>
          </a:p>
        </p:txBody>
      </p:sp>
      <p:sp>
        <p:nvSpPr>
          <p:cNvPr id="24" name="Editable text S02 L20">
            <a:extLst>
              <a:ext uri="{FF2B5EF4-FFF2-40B4-BE49-F238E27FC236}">
                <a16:creationId xmlns:a16="http://schemas.microsoft.com/office/drawing/2014/main" id="{55253840-AF6C-4220-A622-91B8BAF05367}"/>
              </a:ext>
            </a:extLst>
          </p:cNvPr>
          <p:cNvSpPr>
            <a:spLocks noGrp="1"/>
          </p:cNvSpPr>
          <p:nvPr/>
        </p:nvSpPr>
        <p:spPr>
          <a:xfrm>
            <a:off x="11527564" y="6593205"/>
            <a:ext cx="239963" cy="1200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00" b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6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81535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AB41EC9-4F5E-493D-8990-E60D5885407C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endParaRPr sz="800"/>
          </a:p>
        </p:txBody>
      </p:sp>
      <p:sp>
        <p:nvSpPr>
          <p:cNvPr id="5" name="Editable text S03 L01">
            <a:extLst>
              <a:ext uri="{FF2B5EF4-FFF2-40B4-BE49-F238E27FC236}">
                <a16:creationId xmlns:a16="http://schemas.microsoft.com/office/drawing/2014/main" id="{665E49E5-FC3E-4AD1-8A25-106AE487488A}"/>
              </a:ext>
            </a:extLst>
          </p:cNvPr>
          <p:cNvSpPr>
            <a:spLocks noGrp="1"/>
          </p:cNvSpPr>
          <p:nvPr/>
        </p:nvSpPr>
        <p:spPr>
          <a:xfrm>
            <a:off x="650143" y="346710"/>
            <a:ext cx="828244" cy="1276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12" b="1">
                <a:solidFill>
                  <a:srgbClr val="0F5E5A"/>
                </a:solidFill>
                <a:latin typeface="Aptos"/>
                <a:ea typeface="Aptos"/>
                <a:cs typeface="Aptos"/>
              </a:defRPr>
            </a:pPr>
            <a:endParaRPr sz="612" b="1">
              <a:solidFill>
                <a:srgbClr val="0F5E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Editable text S03 L02">
            <a:extLst>
              <a:ext uri="{FF2B5EF4-FFF2-40B4-BE49-F238E27FC236}">
                <a16:creationId xmlns:a16="http://schemas.microsoft.com/office/drawing/2014/main" id="{38E919B7-BAE9-49D9-8356-EF8BAAFB52BF}"/>
              </a:ext>
            </a:extLst>
          </p:cNvPr>
          <p:cNvSpPr>
            <a:spLocks noGrp="1"/>
          </p:cNvSpPr>
          <p:nvPr/>
        </p:nvSpPr>
        <p:spPr>
          <a:xfrm>
            <a:off x="627845" y="595728"/>
            <a:ext cx="8903112" cy="410649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6752" lnSpcReduction="10000"/>
          </a:bodyPr>
          <a:lstStyle/>
          <a:p>
            <a:pPr algn="l">
              <a:buNone/>
              <a:defRPr sz="2785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85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ICT example: studying online learning platform use</a:t>
            </a:r>
          </a:p>
        </p:txBody>
      </p:sp>
      <p:sp>
        <p:nvSpPr>
          <p:cNvPr id="7" name="Editable text S03 L03">
            <a:extLst>
              <a:ext uri="{FF2B5EF4-FFF2-40B4-BE49-F238E27FC236}">
                <a16:creationId xmlns:a16="http://schemas.microsoft.com/office/drawing/2014/main" id="{5D7C71E7-C45F-4D49-A916-94237C8D099A}"/>
              </a:ext>
            </a:extLst>
          </p:cNvPr>
          <p:cNvSpPr>
            <a:spLocks noGrp="1"/>
          </p:cNvSpPr>
          <p:nvPr/>
        </p:nvSpPr>
        <p:spPr>
          <a:xfrm>
            <a:off x="703450" y="1333500"/>
            <a:ext cx="9939879" cy="26860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744" b="1">
                <a:solidFill>
                  <a:srgbClr val="26323F"/>
                </a:solidFill>
                <a:latin typeface="Aptos"/>
                <a:ea typeface="Aptos"/>
                <a:cs typeface="Aptos"/>
              </a:defRPr>
            </a:pPr>
            <a:r>
              <a:rPr sz="1744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The same ICT problem can produce numerical evidence, lived-experience evidence, or both.</a:t>
            </a:r>
          </a:p>
        </p:txBody>
      </p:sp>
      <p:sp>
        <p:nvSpPr>
          <p:cNvPr id="8" name="Editable text S03 L04">
            <a:extLst>
              <a:ext uri="{FF2B5EF4-FFF2-40B4-BE49-F238E27FC236}">
                <a16:creationId xmlns:a16="http://schemas.microsoft.com/office/drawing/2014/main" id="{89880E33-A40A-4D87-B2F0-C9A2C7C8A182}"/>
              </a:ext>
            </a:extLst>
          </p:cNvPr>
          <p:cNvSpPr>
            <a:spLocks noGrp="1"/>
          </p:cNvSpPr>
          <p:nvPr/>
        </p:nvSpPr>
        <p:spPr>
          <a:xfrm>
            <a:off x="870985" y="2091690"/>
            <a:ext cx="2256102" cy="26479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714" b="1">
                <a:solidFill>
                  <a:srgbClr val="315D9D"/>
                </a:solidFill>
                <a:latin typeface="Aptos"/>
                <a:ea typeface="Aptos"/>
                <a:cs typeface="Aptos"/>
              </a:defRPr>
            </a:pPr>
            <a:r>
              <a:rPr sz="1714" b="1">
                <a:solidFill>
                  <a:srgbClr val="315D9D"/>
                </a:solidFill>
                <a:latin typeface="Aptos"/>
                <a:ea typeface="Aptos"/>
                <a:cs typeface="Aptos"/>
              </a:rPr>
              <a:t>Quantitative route</a:t>
            </a:r>
          </a:p>
        </p:txBody>
      </p:sp>
      <p:sp>
        <p:nvSpPr>
          <p:cNvPr id="9" name="Editable text S03 L05">
            <a:extLst>
              <a:ext uri="{FF2B5EF4-FFF2-40B4-BE49-F238E27FC236}">
                <a16:creationId xmlns:a16="http://schemas.microsoft.com/office/drawing/2014/main" id="{1B6B2619-7A0D-4C49-8DDF-8AA09462B91E}"/>
              </a:ext>
            </a:extLst>
          </p:cNvPr>
          <p:cNvSpPr>
            <a:spLocks noGrp="1"/>
          </p:cNvSpPr>
          <p:nvPr/>
        </p:nvSpPr>
        <p:spPr>
          <a:xfrm>
            <a:off x="4571992" y="2091690"/>
            <a:ext cx="2077144" cy="26479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714" b="1">
                <a:solidFill>
                  <a:srgbClr val="7D4AB3"/>
                </a:solidFill>
                <a:latin typeface="Aptos"/>
                <a:ea typeface="Aptos"/>
                <a:cs typeface="Aptos"/>
              </a:defRPr>
            </a:pPr>
            <a:r>
              <a:rPr sz="1714" b="1">
                <a:solidFill>
                  <a:srgbClr val="7D4AB3"/>
                </a:solidFill>
                <a:latin typeface="Aptos"/>
                <a:ea typeface="Aptos"/>
                <a:cs typeface="Aptos"/>
              </a:rPr>
              <a:t>Qualitative route</a:t>
            </a:r>
          </a:p>
        </p:txBody>
      </p:sp>
      <p:sp>
        <p:nvSpPr>
          <p:cNvPr id="10" name="Editable text S03 L06">
            <a:extLst>
              <a:ext uri="{FF2B5EF4-FFF2-40B4-BE49-F238E27FC236}">
                <a16:creationId xmlns:a16="http://schemas.microsoft.com/office/drawing/2014/main" id="{6590B603-4210-4F44-A420-A8B06FD51C7B}"/>
              </a:ext>
            </a:extLst>
          </p:cNvPr>
          <p:cNvSpPr>
            <a:spLocks noGrp="1"/>
          </p:cNvSpPr>
          <p:nvPr/>
        </p:nvSpPr>
        <p:spPr>
          <a:xfrm>
            <a:off x="8280172" y="2091461"/>
            <a:ext cx="2736746" cy="280492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836" b="1">
                <a:solidFill>
                  <a:srgbClr val="0F5E5A"/>
                </a:solidFill>
                <a:latin typeface="Aptos"/>
                <a:ea typeface="Aptos"/>
                <a:cs typeface="Aptos"/>
              </a:defRPr>
            </a:pPr>
            <a:r>
              <a:rPr sz="1836" b="1">
                <a:solidFill>
                  <a:srgbClr val="0F5E5A"/>
                </a:solidFill>
                <a:latin typeface="Aptos"/>
                <a:ea typeface="Aptos"/>
                <a:cs typeface="Aptos"/>
              </a:rPr>
              <a:t>Mixed-methods insight</a:t>
            </a:r>
          </a:p>
        </p:txBody>
      </p:sp>
      <p:sp>
        <p:nvSpPr>
          <p:cNvPr id="11" name="Editable text S03 L07">
            <a:extLst>
              <a:ext uri="{FF2B5EF4-FFF2-40B4-BE49-F238E27FC236}">
                <a16:creationId xmlns:a16="http://schemas.microsoft.com/office/drawing/2014/main" id="{0CBFA2D7-B240-4A0D-8487-59611C1B52E2}"/>
              </a:ext>
            </a:extLst>
          </p:cNvPr>
          <p:cNvSpPr>
            <a:spLocks noGrp="1"/>
          </p:cNvSpPr>
          <p:nvPr/>
        </p:nvSpPr>
        <p:spPr>
          <a:xfrm>
            <a:off x="996637" y="2541270"/>
            <a:ext cx="3158508" cy="24955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591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91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Export LMS logs for 300 students</a:t>
            </a:r>
          </a:p>
        </p:txBody>
      </p:sp>
      <p:sp>
        <p:nvSpPr>
          <p:cNvPr id="12" name="Editable text S03 L08">
            <a:extLst>
              <a:ext uri="{FF2B5EF4-FFF2-40B4-BE49-F238E27FC236}">
                <a16:creationId xmlns:a16="http://schemas.microsoft.com/office/drawing/2014/main" id="{EB8A2D0A-39ED-4D85-A355-80148F045F6A}"/>
              </a:ext>
            </a:extLst>
          </p:cNvPr>
          <p:cNvSpPr>
            <a:spLocks noGrp="1"/>
          </p:cNvSpPr>
          <p:nvPr/>
        </p:nvSpPr>
        <p:spPr>
          <a:xfrm>
            <a:off x="4686221" y="2541270"/>
            <a:ext cx="3131855" cy="23050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438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38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Interview students about access,</a:t>
            </a:r>
          </a:p>
        </p:txBody>
      </p:sp>
      <p:sp>
        <p:nvSpPr>
          <p:cNvPr id="13" name="Editable text S03 L09">
            <a:extLst>
              <a:ext uri="{FF2B5EF4-FFF2-40B4-BE49-F238E27FC236}">
                <a16:creationId xmlns:a16="http://schemas.microsoft.com/office/drawing/2014/main" id="{FACC442E-F2EE-4AFC-B5C7-EF0314386CA6}"/>
              </a:ext>
            </a:extLst>
          </p:cNvPr>
          <p:cNvSpPr>
            <a:spLocks noGrp="1"/>
          </p:cNvSpPr>
          <p:nvPr/>
        </p:nvSpPr>
        <p:spPr>
          <a:xfrm>
            <a:off x="8398651" y="2541270"/>
            <a:ext cx="2575942" cy="24955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591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91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Logs show what happened</a:t>
            </a:r>
          </a:p>
        </p:txBody>
      </p:sp>
      <p:sp>
        <p:nvSpPr>
          <p:cNvPr id="14" name="Editable text S03 L10">
            <a:extLst>
              <a:ext uri="{FF2B5EF4-FFF2-40B4-BE49-F238E27FC236}">
                <a16:creationId xmlns:a16="http://schemas.microsoft.com/office/drawing/2014/main" id="{AF48E9EA-6E0F-41F6-9122-83D5C562EAE2}"/>
              </a:ext>
            </a:extLst>
          </p:cNvPr>
          <p:cNvSpPr>
            <a:spLocks noGrp="1"/>
          </p:cNvSpPr>
          <p:nvPr/>
        </p:nvSpPr>
        <p:spPr>
          <a:xfrm>
            <a:off x="992829" y="2777490"/>
            <a:ext cx="2823437" cy="24955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591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91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Count logins, time online and</a:t>
            </a:r>
          </a:p>
        </p:txBody>
      </p:sp>
      <p:sp>
        <p:nvSpPr>
          <p:cNvPr id="15" name="Editable text S03 L11">
            <a:extLst>
              <a:ext uri="{FF2B5EF4-FFF2-40B4-BE49-F238E27FC236}">
                <a16:creationId xmlns:a16="http://schemas.microsoft.com/office/drawing/2014/main" id="{22FD56AA-33F3-4E7F-BB4B-34A336866BCA}"/>
              </a:ext>
            </a:extLst>
          </p:cNvPr>
          <p:cNvSpPr>
            <a:spLocks noGrp="1"/>
          </p:cNvSpPr>
          <p:nvPr/>
        </p:nvSpPr>
        <p:spPr>
          <a:xfrm>
            <a:off x="4568185" y="2777490"/>
            <a:ext cx="2564519" cy="20764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5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5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confidence and frustration</a:t>
            </a:r>
          </a:p>
        </p:txBody>
      </p:sp>
      <p:sp>
        <p:nvSpPr>
          <p:cNvPr id="16" name="Editable text S03 L12">
            <a:extLst>
              <a:ext uri="{FF2B5EF4-FFF2-40B4-BE49-F238E27FC236}">
                <a16:creationId xmlns:a16="http://schemas.microsoft.com/office/drawing/2014/main" id="{774EFD77-F53F-4192-96BB-C9ED7D19E61C}"/>
              </a:ext>
            </a:extLst>
          </p:cNvPr>
          <p:cNvSpPr>
            <a:spLocks noGrp="1"/>
          </p:cNvSpPr>
          <p:nvPr/>
        </p:nvSpPr>
        <p:spPr>
          <a:xfrm>
            <a:off x="8387228" y="2777490"/>
            <a:ext cx="2857706" cy="24955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591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91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Interviews help explain why it</a:t>
            </a:r>
          </a:p>
        </p:txBody>
      </p:sp>
      <p:sp>
        <p:nvSpPr>
          <p:cNvPr id="17" name="Editable text S03 L13">
            <a:extLst>
              <a:ext uri="{FF2B5EF4-FFF2-40B4-BE49-F238E27FC236}">
                <a16:creationId xmlns:a16="http://schemas.microsoft.com/office/drawing/2014/main" id="{988F3F8F-1E01-4092-A091-574B4173AD6D}"/>
              </a:ext>
            </a:extLst>
          </p:cNvPr>
          <p:cNvSpPr>
            <a:spLocks noGrp="1"/>
          </p:cNvSpPr>
          <p:nvPr/>
        </p:nvSpPr>
        <p:spPr>
          <a:xfrm>
            <a:off x="867178" y="3021330"/>
            <a:ext cx="1387964" cy="2419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53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3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quiz attempts</a:t>
            </a:r>
          </a:p>
        </p:txBody>
      </p:sp>
      <p:sp>
        <p:nvSpPr>
          <p:cNvPr id="18" name="Editable text S03 L14">
            <a:extLst>
              <a:ext uri="{FF2B5EF4-FFF2-40B4-BE49-F238E27FC236}">
                <a16:creationId xmlns:a16="http://schemas.microsoft.com/office/drawing/2014/main" id="{CFDC4596-8B5C-4C23-9C59-AF42B35D31A4}"/>
              </a:ext>
            </a:extLst>
          </p:cNvPr>
          <p:cNvSpPr>
            <a:spLocks noGrp="1"/>
          </p:cNvSpPr>
          <p:nvPr/>
        </p:nvSpPr>
        <p:spPr>
          <a:xfrm>
            <a:off x="4693836" y="3013710"/>
            <a:ext cx="2221833" cy="20764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5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5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Code comments about</a:t>
            </a:r>
          </a:p>
        </p:txBody>
      </p:sp>
      <p:sp>
        <p:nvSpPr>
          <p:cNvPr id="19" name="Editable text S03 L15">
            <a:extLst>
              <a:ext uri="{FF2B5EF4-FFF2-40B4-BE49-F238E27FC236}">
                <a16:creationId xmlns:a16="http://schemas.microsoft.com/office/drawing/2014/main" id="{0BEFFD2E-1D19-47D3-9B1E-7D69D5866CDF}"/>
              </a:ext>
            </a:extLst>
          </p:cNvPr>
          <p:cNvSpPr>
            <a:spLocks noGrp="1"/>
          </p:cNvSpPr>
          <p:nvPr/>
        </p:nvSpPr>
        <p:spPr>
          <a:xfrm>
            <a:off x="8272999" y="3013710"/>
            <a:ext cx="1045279" cy="24955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591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91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happened</a:t>
            </a:r>
          </a:p>
        </p:txBody>
      </p:sp>
      <p:sp>
        <p:nvSpPr>
          <p:cNvPr id="20" name="Editable text S03 L16">
            <a:extLst>
              <a:ext uri="{FF2B5EF4-FFF2-40B4-BE49-F238E27FC236}">
                <a16:creationId xmlns:a16="http://schemas.microsoft.com/office/drawing/2014/main" id="{504CEED3-64F0-4C43-810D-5F24FF64AE0E}"/>
              </a:ext>
            </a:extLst>
          </p:cNvPr>
          <p:cNvSpPr>
            <a:spLocks noGrp="1"/>
          </p:cNvSpPr>
          <p:nvPr/>
        </p:nvSpPr>
        <p:spPr>
          <a:xfrm>
            <a:off x="992829" y="3249930"/>
            <a:ext cx="3097586" cy="24955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591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91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Compare usage with final marks</a:t>
            </a:r>
          </a:p>
        </p:txBody>
      </p:sp>
      <p:sp>
        <p:nvSpPr>
          <p:cNvPr id="21" name="Editable text S03 L17">
            <a:extLst>
              <a:ext uri="{FF2B5EF4-FFF2-40B4-BE49-F238E27FC236}">
                <a16:creationId xmlns:a16="http://schemas.microsoft.com/office/drawing/2014/main" id="{F47A2531-AF8E-4CCE-B24D-268D6568331E}"/>
              </a:ext>
            </a:extLst>
          </p:cNvPr>
          <p:cNvSpPr>
            <a:spLocks noGrp="1"/>
          </p:cNvSpPr>
          <p:nvPr/>
        </p:nvSpPr>
        <p:spPr>
          <a:xfrm>
            <a:off x="4568185" y="3249930"/>
            <a:ext cx="3276544" cy="24955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591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91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connectivity, usability and support</a:t>
            </a:r>
          </a:p>
        </p:txBody>
      </p:sp>
      <p:sp>
        <p:nvSpPr>
          <p:cNvPr id="22" name="Editable text S03 L18">
            <a:extLst>
              <a:ext uri="{FF2B5EF4-FFF2-40B4-BE49-F238E27FC236}">
                <a16:creationId xmlns:a16="http://schemas.microsoft.com/office/drawing/2014/main" id="{C101A67B-F891-4F40-8CF2-A793E6D2FF43}"/>
              </a:ext>
            </a:extLst>
          </p:cNvPr>
          <p:cNvSpPr>
            <a:spLocks noGrp="1"/>
          </p:cNvSpPr>
          <p:nvPr/>
        </p:nvSpPr>
        <p:spPr>
          <a:xfrm>
            <a:off x="8383420" y="3249930"/>
            <a:ext cx="3078548" cy="24955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591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91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Together they produce stronger</a:t>
            </a:r>
          </a:p>
        </p:txBody>
      </p:sp>
      <p:sp>
        <p:nvSpPr>
          <p:cNvPr id="23" name="Editable text S03 L19">
            <a:extLst>
              <a:ext uri="{FF2B5EF4-FFF2-40B4-BE49-F238E27FC236}">
                <a16:creationId xmlns:a16="http://schemas.microsoft.com/office/drawing/2014/main" id="{B7F1DC92-2D00-4E91-80B3-0502A0B6CACF}"/>
              </a:ext>
            </a:extLst>
          </p:cNvPr>
          <p:cNvSpPr>
            <a:spLocks noGrp="1"/>
          </p:cNvSpPr>
          <p:nvPr/>
        </p:nvSpPr>
        <p:spPr>
          <a:xfrm>
            <a:off x="4697644" y="3486150"/>
            <a:ext cx="3093778" cy="24955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591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91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Use quotes to explain why some</a:t>
            </a:r>
          </a:p>
        </p:txBody>
      </p:sp>
      <p:sp>
        <p:nvSpPr>
          <p:cNvPr id="24" name="Editable text S03 L20">
            <a:extLst>
              <a:ext uri="{FF2B5EF4-FFF2-40B4-BE49-F238E27FC236}">
                <a16:creationId xmlns:a16="http://schemas.microsoft.com/office/drawing/2014/main" id="{04F039B0-2BD0-4D23-A6D8-F0895FC31A0F}"/>
              </a:ext>
            </a:extLst>
          </p:cNvPr>
          <p:cNvSpPr>
            <a:spLocks noGrp="1"/>
          </p:cNvSpPr>
          <p:nvPr/>
        </p:nvSpPr>
        <p:spPr>
          <a:xfrm>
            <a:off x="8272999" y="3486150"/>
            <a:ext cx="1802995" cy="20764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5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5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recommendations</a:t>
            </a:r>
          </a:p>
        </p:txBody>
      </p:sp>
      <p:sp>
        <p:nvSpPr>
          <p:cNvPr id="25" name="Editable text S03 L21">
            <a:extLst>
              <a:ext uri="{FF2B5EF4-FFF2-40B4-BE49-F238E27FC236}">
                <a16:creationId xmlns:a16="http://schemas.microsoft.com/office/drawing/2014/main" id="{F30CE85B-D5F4-4123-82D2-8A2B0AB220A3}"/>
              </a:ext>
            </a:extLst>
          </p:cNvPr>
          <p:cNvSpPr>
            <a:spLocks noGrp="1"/>
          </p:cNvSpPr>
          <p:nvPr/>
        </p:nvSpPr>
        <p:spPr>
          <a:xfrm>
            <a:off x="4564377" y="3722370"/>
            <a:ext cx="1890570" cy="24955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591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91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students log in less</a:t>
            </a:r>
          </a:p>
        </p:txBody>
      </p:sp>
      <p:sp>
        <p:nvSpPr>
          <p:cNvPr id="26" name="Editable text S03 L22">
            <a:extLst>
              <a:ext uri="{FF2B5EF4-FFF2-40B4-BE49-F238E27FC236}">
                <a16:creationId xmlns:a16="http://schemas.microsoft.com/office/drawing/2014/main" id="{04B8FA5F-DC77-4894-BB88-BC3AAB83DC93}"/>
              </a:ext>
            </a:extLst>
          </p:cNvPr>
          <p:cNvSpPr>
            <a:spLocks noGrp="1"/>
          </p:cNvSpPr>
          <p:nvPr/>
        </p:nvSpPr>
        <p:spPr>
          <a:xfrm>
            <a:off x="1046136" y="5097780"/>
            <a:ext cx="10156914" cy="25717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652" b="1">
                <a:solidFill>
                  <a:srgbClr val="26323F"/>
                </a:solidFill>
                <a:latin typeface="Aptos"/>
                <a:ea typeface="Aptos"/>
                <a:cs typeface="Aptos"/>
              </a:defRPr>
            </a:pPr>
            <a:r>
              <a:rPr sz="1652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ICT research often benefits from combining system data with user experience data.</a:t>
            </a:r>
          </a:p>
        </p:txBody>
      </p:sp>
      <p:sp>
        <p:nvSpPr>
          <p:cNvPr id="27" name="Editable text S03 L23">
            <a:extLst>
              <a:ext uri="{FF2B5EF4-FFF2-40B4-BE49-F238E27FC236}">
                <a16:creationId xmlns:a16="http://schemas.microsoft.com/office/drawing/2014/main" id="{BFE63413-79CA-40EF-898F-053AC030CAAD}"/>
              </a:ext>
            </a:extLst>
          </p:cNvPr>
          <p:cNvSpPr>
            <a:spLocks noGrp="1"/>
          </p:cNvSpPr>
          <p:nvPr/>
        </p:nvSpPr>
        <p:spPr>
          <a:xfrm>
            <a:off x="11558025" y="6600825"/>
            <a:ext cx="304693" cy="1200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00" b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6B"/>
                </a:solidFill>
                <a:latin typeface="Aptos"/>
                <a:ea typeface="Aptos"/>
                <a:cs typeface="Aptos"/>
              </a:rPr>
              <a:t>02A</a:t>
            </a:r>
          </a:p>
        </p:txBody>
      </p:sp>
    </p:spTree>
    <p:extLst>
      <p:ext uri="{BB962C8B-B14F-4D97-AF65-F5344CB8AC3E}">
        <p14:creationId xmlns:p14="http://schemas.microsoft.com/office/powerpoint/2010/main" val="94463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1FEE4A-A31D-403D-A4D1-EE19D7BB3DA8}"/>
              </a:ext>
            </a:extLst>
          </p:cNvPr>
          <p:cNvSpPr>
            <a:spLocks noGrp="1"/>
          </p:cNvSpPr>
          <p:nvPr/>
        </p:nvSpPr>
        <p:spPr>
          <a:xfrm>
            <a:off x="658368" y="29260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3687746-1E4A-4214-A422-10096A169067}"/>
              </a:ext>
            </a:extLst>
          </p:cNvPr>
          <p:cNvSpPr>
            <a:spLocks noGrp="1"/>
          </p:cNvSpPr>
          <p:nvPr/>
        </p:nvSpPr>
        <p:spPr>
          <a:xfrm>
            <a:off x="640080" y="512064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700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In an SLR, the selected papers become your dataset</a:t>
            </a:r>
            <a:endParaRPr sz="27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13AAA36-B620-4C95-8EF6-079C3AF3FF61}"/>
              </a:ext>
            </a:extLst>
          </p:cNvPr>
          <p:cNvSpPr>
            <a:spLocks noGrp="1"/>
          </p:cNvSpPr>
          <p:nvPr/>
        </p:nvSpPr>
        <p:spPr>
          <a:xfrm>
            <a:off x="640080" y="1133856"/>
            <a:ext cx="10927080" cy="0"/>
          </a:xfrm>
          <a:prstGeom prst="line">
            <a:avLst/>
          </a:prstGeom>
          <a:noFill/>
          <a:ln w="1524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A125668-04F5-40B7-8786-74DE8893E944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11292840" cy="0"/>
          </a:xfrm>
          <a:prstGeom prst="line">
            <a:avLst/>
          </a:prstGeom>
          <a:noFill/>
          <a:ln w="1270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1D53B38-78BF-47F5-950E-B4287CBB52E7}"/>
              </a:ext>
            </a:extLst>
          </p:cNvPr>
          <p:cNvSpPr>
            <a:spLocks noGrp="1"/>
          </p:cNvSpPr>
          <p:nvPr/>
        </p:nvSpPr>
        <p:spPr>
          <a:xfrm>
            <a:off x="777240" y="1325880"/>
            <a:ext cx="10607040" cy="45720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You are not collecting answers from people. You are extracting evidence from the studies you include.</a:t>
            </a:r>
            <a:endParaRPr sz="20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9792635-0DDA-436D-9D14-66683D9184BA}"/>
              </a:ext>
            </a:extLst>
          </p:cNvPr>
          <p:cNvSpPr>
            <a:spLocks noGrp="1"/>
          </p:cNvSpPr>
          <p:nvPr/>
        </p:nvSpPr>
        <p:spPr>
          <a:xfrm>
            <a:off x="868680" y="21488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E7EEF9"/>
          </a:solidFill>
          <a:ln w="1016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957837C-6EE7-4B7B-899A-7B60467E959E}"/>
              </a:ext>
            </a:extLst>
          </p:cNvPr>
          <p:cNvSpPr>
            <a:spLocks noGrp="1"/>
          </p:cNvSpPr>
          <p:nvPr/>
        </p:nvSpPr>
        <p:spPr>
          <a:xfrm>
            <a:off x="1033272" y="2313432"/>
            <a:ext cx="3099816" cy="27432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 algn="l">
              <a:buNone/>
            </a:pPr>
            <a:r>
              <a:rPr sz="1650" b="1">
                <a:solidFill>
                  <a:srgbClr val="315D9D"/>
                </a:solidFill>
                <a:latin typeface="Aptos"/>
                <a:ea typeface="Aptos"/>
                <a:cs typeface="Aptos"/>
              </a:rPr>
              <a:t>Quantitative SLR data</a:t>
            </a:r>
            <a:endParaRPr sz="16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A9393B6-AD24-4532-85E7-0A3F03D3FB15}"/>
              </a:ext>
            </a:extLst>
          </p:cNvPr>
          <p:cNvSpPr>
            <a:spLocks noGrp="1"/>
          </p:cNvSpPr>
          <p:nvPr/>
        </p:nvSpPr>
        <p:spPr>
          <a:xfrm>
            <a:off x="1033272" y="2697480"/>
            <a:ext cx="3099816" cy="1289304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 algn="l">
              <a:buNone/>
            </a:pPr>
            <a:r>
              <a:rPr sz="1270">
                <a:solidFill>
                  <a:srgbClr val="18212A"/>
                </a:solidFill>
                <a:latin typeface="Aptos"/>
                <a:ea typeface="Aptos"/>
                <a:cs typeface="Aptos"/>
              </a:rPr>
              <a:t>Numbers you extract or count from papers, for example publication year, method used, sample size, tool category, accuracy scores, adoption rates, or frequency of a theme.</a:t>
            </a:r>
            <a:endParaRPr sz="127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4405AAA-925E-4A1B-9F69-B0A02ED25EF5}"/>
              </a:ext>
            </a:extLst>
          </p:cNvPr>
          <p:cNvSpPr>
            <a:spLocks noGrp="1"/>
          </p:cNvSpPr>
          <p:nvPr/>
        </p:nvSpPr>
        <p:spPr>
          <a:xfrm>
            <a:off x="4434840" y="21488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EFE7F7"/>
          </a:solidFill>
          <a:ln w="1016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94888AA-15B5-4943-B5F7-D7FF5C7B0113}"/>
              </a:ext>
            </a:extLst>
          </p:cNvPr>
          <p:cNvSpPr>
            <a:spLocks noGrp="1"/>
          </p:cNvSpPr>
          <p:nvPr/>
        </p:nvSpPr>
        <p:spPr>
          <a:xfrm>
            <a:off x="4599432" y="2313432"/>
            <a:ext cx="3099816" cy="27432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 algn="l">
              <a:buNone/>
            </a:pPr>
            <a:r>
              <a:rPr sz="1650" b="1">
                <a:solidFill>
                  <a:srgbClr val="7D4AB3"/>
                </a:solidFill>
                <a:latin typeface="Aptos"/>
                <a:ea typeface="Aptos"/>
                <a:cs typeface="Aptos"/>
              </a:rPr>
              <a:t>Qualitative SLR data</a:t>
            </a:r>
            <a:endParaRPr sz="165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27C7F16-C1A8-4018-BEC4-A92DA5B93B8E}"/>
              </a:ext>
            </a:extLst>
          </p:cNvPr>
          <p:cNvSpPr>
            <a:spLocks noGrp="1"/>
          </p:cNvSpPr>
          <p:nvPr/>
        </p:nvSpPr>
        <p:spPr>
          <a:xfrm>
            <a:off x="4599432" y="2697480"/>
            <a:ext cx="3099816" cy="1289304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 algn="l">
              <a:buNone/>
            </a:pPr>
            <a:r>
              <a:rPr sz="1270">
                <a:solidFill>
                  <a:srgbClr val="18212A"/>
                </a:solidFill>
                <a:latin typeface="Aptos"/>
                <a:ea typeface="Aptos"/>
                <a:cs typeface="Aptos"/>
              </a:rPr>
              <a:t>Textual findings you extract from papers, for example authors’ explanations, participant quotations, discussion points, barriers, enablers, recommendations, and conceptual ideas.</a:t>
            </a:r>
            <a:endParaRPr sz="127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6D06B67-15E2-48DA-BE97-58A08A50DFCC}"/>
              </a:ext>
            </a:extLst>
          </p:cNvPr>
          <p:cNvSpPr>
            <a:spLocks noGrp="1"/>
          </p:cNvSpPr>
          <p:nvPr/>
        </p:nvSpPr>
        <p:spPr>
          <a:xfrm>
            <a:off x="8001000" y="21488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DFF3F0"/>
          </a:solidFill>
          <a:ln w="1016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D7C9B18-6D3C-4405-9381-6249402AC4FD}"/>
              </a:ext>
            </a:extLst>
          </p:cNvPr>
          <p:cNvSpPr>
            <a:spLocks noGrp="1"/>
          </p:cNvSpPr>
          <p:nvPr/>
        </p:nvSpPr>
        <p:spPr>
          <a:xfrm>
            <a:off x="8165592" y="2313432"/>
            <a:ext cx="3099816" cy="27432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 algn="l">
              <a:buNone/>
            </a:pPr>
            <a:r>
              <a:rPr sz="1650" b="1">
                <a:solidFill>
                  <a:srgbClr val="0F5E5A"/>
                </a:solidFill>
                <a:latin typeface="Aptos"/>
                <a:ea typeface="Aptos"/>
                <a:cs typeface="Aptos"/>
              </a:rPr>
              <a:t>Mixed SLR evidence</a:t>
            </a:r>
            <a:endParaRPr sz="16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4A1AE8E-812A-42A6-BDD0-E8AC48363A6D}"/>
              </a:ext>
            </a:extLst>
          </p:cNvPr>
          <p:cNvSpPr>
            <a:spLocks noGrp="1"/>
          </p:cNvSpPr>
          <p:nvPr/>
        </p:nvSpPr>
        <p:spPr>
          <a:xfrm>
            <a:off x="8165592" y="2697480"/>
            <a:ext cx="3099816" cy="1289304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 algn="l">
              <a:buNone/>
            </a:pPr>
            <a:r>
              <a:rPr sz="1270">
                <a:solidFill>
                  <a:srgbClr val="18212A"/>
                </a:solidFill>
                <a:latin typeface="Aptos"/>
                <a:ea typeface="Aptos"/>
                <a:cs typeface="Aptos"/>
              </a:rPr>
              <a:t>Many ICT SLRs use both: count what the literature shows, then explain the patterns using themes from the studies.</a:t>
            </a:r>
            <a:endParaRPr sz="127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EA9B352-7F7B-456F-AB59-9A0F75AD19AE}"/>
              </a:ext>
            </a:extLst>
          </p:cNvPr>
          <p:cNvSpPr>
            <a:spLocks noGrp="1"/>
          </p:cNvSpPr>
          <p:nvPr/>
        </p:nvSpPr>
        <p:spPr>
          <a:xfrm>
            <a:off x="960120" y="5166360"/>
            <a:ext cx="10241280" cy="41148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Your SLR still generates data. The “raw data” is information taken systematically from the included studies.</a:t>
            </a:r>
            <a:endParaRPr sz="20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B99B396-5B9D-4337-8148-0BDEEBE3A45B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00">
                <a:solidFill>
                  <a:srgbClr val="56616B"/>
                </a:solidFill>
              </a:rPr>
              <a:t>04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693984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12926F3-AB4E-497E-BB08-2023629064AD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endParaRPr sz="800"/>
          </a:p>
        </p:txBody>
      </p:sp>
      <p:sp>
        <p:nvSpPr>
          <p:cNvPr id="5" name="Editable text S05 L01">
            <a:extLst>
              <a:ext uri="{FF2B5EF4-FFF2-40B4-BE49-F238E27FC236}">
                <a16:creationId xmlns:a16="http://schemas.microsoft.com/office/drawing/2014/main" id="{26EF9D41-1D14-4F1D-B58F-ED8BDE10416F}"/>
              </a:ext>
            </a:extLst>
          </p:cNvPr>
          <p:cNvSpPr>
            <a:spLocks noGrp="1"/>
          </p:cNvSpPr>
          <p:nvPr/>
        </p:nvSpPr>
        <p:spPr>
          <a:xfrm>
            <a:off x="646336" y="339090"/>
            <a:ext cx="660709" cy="200886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12" b="1">
                <a:solidFill>
                  <a:srgbClr val="0F5E5A"/>
                </a:solidFill>
                <a:latin typeface="Aptos"/>
                <a:ea typeface="Aptos"/>
                <a:cs typeface="Aptos"/>
              </a:defRPr>
            </a:pPr>
            <a:r>
              <a:rPr sz="612" b="1">
                <a:solidFill>
                  <a:srgbClr val="0F5E5A"/>
                </a:solidFill>
                <a:latin typeface="Aptos"/>
                <a:ea typeface="Aptos"/>
                <a:cs typeface="Aptos"/>
              </a:rPr>
              <a:t> </a:t>
            </a:r>
          </a:p>
        </p:txBody>
      </p:sp>
      <p:sp>
        <p:nvSpPr>
          <p:cNvPr id="6" name="Editable text S05 L02">
            <a:extLst>
              <a:ext uri="{FF2B5EF4-FFF2-40B4-BE49-F238E27FC236}">
                <a16:creationId xmlns:a16="http://schemas.microsoft.com/office/drawing/2014/main" id="{523E7CFB-5181-47C2-BA7F-E5D52217CE2F}"/>
              </a:ext>
            </a:extLst>
          </p:cNvPr>
          <p:cNvSpPr>
            <a:spLocks noGrp="1"/>
          </p:cNvSpPr>
          <p:nvPr/>
        </p:nvSpPr>
        <p:spPr>
          <a:xfrm>
            <a:off x="631653" y="588108"/>
            <a:ext cx="9584676" cy="410649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6752" lnSpcReduction="10000"/>
          </a:bodyPr>
          <a:lstStyle/>
          <a:p>
            <a:pPr algn="l">
              <a:buNone/>
              <a:defRPr sz="2785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85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Quantitative analysis starts by organising the numbers</a:t>
            </a:r>
          </a:p>
        </p:txBody>
      </p:sp>
      <p:sp>
        <p:nvSpPr>
          <p:cNvPr id="7" name="Editable text S05 L03">
            <a:extLst>
              <a:ext uri="{FF2B5EF4-FFF2-40B4-BE49-F238E27FC236}">
                <a16:creationId xmlns:a16="http://schemas.microsoft.com/office/drawing/2014/main" id="{AF71C616-B763-46CF-AE4B-961E1ED98F3C}"/>
              </a:ext>
            </a:extLst>
          </p:cNvPr>
          <p:cNvSpPr>
            <a:spLocks noGrp="1"/>
          </p:cNvSpPr>
          <p:nvPr/>
        </p:nvSpPr>
        <p:spPr>
          <a:xfrm>
            <a:off x="722861" y="1334361"/>
            <a:ext cx="7711675" cy="339273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8330"/>
          </a:bodyPr>
          <a:lstStyle/>
          <a:p>
            <a:pPr algn="l">
              <a:buNone/>
              <a:defRPr sz="2264" b="1">
                <a:solidFill>
                  <a:srgbClr val="26323F"/>
                </a:solidFill>
                <a:latin typeface="Aptos Display"/>
                <a:ea typeface="Aptos Display"/>
                <a:cs typeface="Aptos Display"/>
              </a:defRPr>
            </a:pPr>
            <a:r>
              <a:rPr sz="2264" b="1">
                <a:solidFill>
                  <a:srgbClr val="26323F"/>
                </a:solidFill>
                <a:latin typeface="Aptos Display"/>
                <a:ea typeface="Aptos Display"/>
                <a:cs typeface="Aptos Display"/>
              </a:rPr>
              <a:t>Before you test anything, make the raw data readable.</a:t>
            </a:r>
          </a:p>
        </p:txBody>
      </p:sp>
      <p:sp>
        <p:nvSpPr>
          <p:cNvPr id="8" name="Editable text S05 L04">
            <a:extLst>
              <a:ext uri="{FF2B5EF4-FFF2-40B4-BE49-F238E27FC236}">
                <a16:creationId xmlns:a16="http://schemas.microsoft.com/office/drawing/2014/main" id="{947E199F-5B57-4ABB-9FC7-35B69E573022}"/>
              </a:ext>
            </a:extLst>
          </p:cNvPr>
          <p:cNvSpPr>
            <a:spLocks noGrp="1"/>
          </p:cNvSpPr>
          <p:nvPr/>
        </p:nvSpPr>
        <p:spPr>
          <a:xfrm>
            <a:off x="825294" y="2015490"/>
            <a:ext cx="1486963" cy="21145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85" b="1">
                <a:solidFill>
                  <a:srgbClr val="315D9D"/>
                </a:solidFill>
                <a:latin typeface="Aptos"/>
                <a:ea typeface="Aptos"/>
                <a:cs typeface="Aptos"/>
              </a:defRPr>
            </a:pPr>
            <a:r>
              <a:rPr sz="1285" b="1">
                <a:solidFill>
                  <a:srgbClr val="315D9D"/>
                </a:solidFill>
                <a:latin typeface="Aptos"/>
                <a:ea typeface="Aptos"/>
                <a:cs typeface="Aptos"/>
              </a:rPr>
              <a:t>Usage frequency</a:t>
            </a:r>
          </a:p>
        </p:txBody>
      </p:sp>
      <p:sp>
        <p:nvSpPr>
          <p:cNvPr id="9" name="Editable text S05 L05">
            <a:extLst>
              <a:ext uri="{FF2B5EF4-FFF2-40B4-BE49-F238E27FC236}">
                <a16:creationId xmlns:a16="http://schemas.microsoft.com/office/drawing/2014/main" id="{6A868577-D6BF-465E-B40A-6C51FE075248}"/>
              </a:ext>
            </a:extLst>
          </p:cNvPr>
          <p:cNvSpPr>
            <a:spLocks noGrp="1"/>
          </p:cNvSpPr>
          <p:nvPr/>
        </p:nvSpPr>
        <p:spPr>
          <a:xfrm>
            <a:off x="3170788" y="2015490"/>
            <a:ext cx="851090" cy="17335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979" b="1">
                <a:solidFill>
                  <a:srgbClr val="315D9D"/>
                </a:solidFill>
                <a:latin typeface="Aptos"/>
                <a:ea typeface="Aptos"/>
                <a:cs typeface="Aptos"/>
              </a:defRPr>
            </a:pPr>
            <a:r>
              <a:rPr sz="979" b="1">
                <a:solidFill>
                  <a:srgbClr val="315D9D"/>
                </a:solidFill>
                <a:latin typeface="Aptos"/>
                <a:ea typeface="Aptos"/>
                <a:cs typeface="Aptos"/>
              </a:rPr>
              <a:t>Students</a:t>
            </a:r>
          </a:p>
        </p:txBody>
      </p:sp>
      <p:sp>
        <p:nvSpPr>
          <p:cNvPr id="10" name="Editable text S05 L06">
            <a:extLst>
              <a:ext uri="{FF2B5EF4-FFF2-40B4-BE49-F238E27FC236}">
                <a16:creationId xmlns:a16="http://schemas.microsoft.com/office/drawing/2014/main" id="{F8B75524-39AC-4FEA-92A4-6C9CA4759B55}"/>
              </a:ext>
            </a:extLst>
          </p:cNvPr>
          <p:cNvSpPr>
            <a:spLocks noGrp="1"/>
          </p:cNvSpPr>
          <p:nvPr/>
        </p:nvSpPr>
        <p:spPr>
          <a:xfrm>
            <a:off x="4176000" y="2023110"/>
            <a:ext cx="1045279" cy="2038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24" b="1">
                <a:solidFill>
                  <a:srgbClr val="315D9D"/>
                </a:solidFill>
                <a:latin typeface="Aptos"/>
                <a:ea typeface="Aptos"/>
                <a:cs typeface="Aptos"/>
              </a:defRPr>
            </a:pPr>
            <a:r>
              <a:rPr sz="1224" b="1">
                <a:solidFill>
                  <a:srgbClr val="315D9D"/>
                </a:solidFill>
                <a:latin typeface="Aptos"/>
                <a:ea typeface="Aptos"/>
                <a:cs typeface="Aptos"/>
              </a:rPr>
              <a:t>Percentage</a:t>
            </a:r>
          </a:p>
        </p:txBody>
      </p:sp>
      <p:sp>
        <p:nvSpPr>
          <p:cNvPr id="11" name="Editable text S05 L07">
            <a:extLst>
              <a:ext uri="{FF2B5EF4-FFF2-40B4-BE49-F238E27FC236}">
                <a16:creationId xmlns:a16="http://schemas.microsoft.com/office/drawing/2014/main" id="{D7D98E90-A097-40D6-9198-E3A333A2AB9C}"/>
              </a:ext>
            </a:extLst>
          </p:cNvPr>
          <p:cNvSpPr>
            <a:spLocks noGrp="1"/>
          </p:cNvSpPr>
          <p:nvPr/>
        </p:nvSpPr>
        <p:spPr>
          <a:xfrm>
            <a:off x="6586223" y="2061210"/>
            <a:ext cx="333254" cy="1200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45%</a:t>
            </a:r>
          </a:p>
        </p:txBody>
      </p:sp>
      <p:sp>
        <p:nvSpPr>
          <p:cNvPr id="12" name="Editable text S05 L08">
            <a:extLst>
              <a:ext uri="{FF2B5EF4-FFF2-40B4-BE49-F238E27FC236}">
                <a16:creationId xmlns:a16="http://schemas.microsoft.com/office/drawing/2014/main" id="{CCD5AA5E-1520-431A-A146-281F8451FECB}"/>
              </a:ext>
            </a:extLst>
          </p:cNvPr>
          <p:cNvSpPr>
            <a:spLocks noGrp="1"/>
          </p:cNvSpPr>
          <p:nvPr/>
        </p:nvSpPr>
        <p:spPr>
          <a:xfrm>
            <a:off x="825294" y="2430780"/>
            <a:ext cx="481751" cy="20764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5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5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Daily</a:t>
            </a:r>
          </a:p>
        </p:txBody>
      </p:sp>
      <p:sp>
        <p:nvSpPr>
          <p:cNvPr id="13" name="Editable text S05 L09">
            <a:extLst>
              <a:ext uri="{FF2B5EF4-FFF2-40B4-BE49-F238E27FC236}">
                <a16:creationId xmlns:a16="http://schemas.microsoft.com/office/drawing/2014/main" id="{496FC09A-22C9-45E5-9CFF-7A0055C7F554}"/>
              </a:ext>
            </a:extLst>
          </p:cNvPr>
          <p:cNvSpPr>
            <a:spLocks noGrp="1"/>
          </p:cNvSpPr>
          <p:nvPr/>
        </p:nvSpPr>
        <p:spPr>
          <a:xfrm>
            <a:off x="3441129" y="2434590"/>
            <a:ext cx="302793" cy="1657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918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918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  <p:sp>
        <p:nvSpPr>
          <p:cNvPr id="14" name="Editable text S05 L10">
            <a:extLst>
              <a:ext uri="{FF2B5EF4-FFF2-40B4-BE49-F238E27FC236}">
                <a16:creationId xmlns:a16="http://schemas.microsoft.com/office/drawing/2014/main" id="{E426240A-5A1C-4E99-89EC-3BA659500A3B}"/>
              </a:ext>
            </a:extLst>
          </p:cNvPr>
          <p:cNvSpPr>
            <a:spLocks noGrp="1"/>
          </p:cNvSpPr>
          <p:nvPr/>
        </p:nvSpPr>
        <p:spPr>
          <a:xfrm>
            <a:off x="4472994" y="2434590"/>
            <a:ext cx="436059" cy="1657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918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918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45%</a:t>
            </a:r>
          </a:p>
        </p:txBody>
      </p:sp>
      <p:sp>
        <p:nvSpPr>
          <p:cNvPr id="15" name="Editable text S05 L11">
            <a:extLst>
              <a:ext uri="{FF2B5EF4-FFF2-40B4-BE49-F238E27FC236}">
                <a16:creationId xmlns:a16="http://schemas.microsoft.com/office/drawing/2014/main" id="{58FA1C1A-88FD-4310-A37C-782394DB2FA6}"/>
              </a:ext>
            </a:extLst>
          </p:cNvPr>
          <p:cNvSpPr>
            <a:spLocks noGrp="1"/>
          </p:cNvSpPr>
          <p:nvPr/>
        </p:nvSpPr>
        <p:spPr>
          <a:xfrm>
            <a:off x="817679" y="2842260"/>
            <a:ext cx="1639267" cy="16954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949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949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Several times a week</a:t>
            </a:r>
          </a:p>
        </p:txBody>
      </p:sp>
      <p:sp>
        <p:nvSpPr>
          <p:cNvPr id="16" name="Editable text S05 L12">
            <a:extLst>
              <a:ext uri="{FF2B5EF4-FFF2-40B4-BE49-F238E27FC236}">
                <a16:creationId xmlns:a16="http://schemas.microsoft.com/office/drawing/2014/main" id="{6971D742-B806-40F2-A3AD-C2B414B253CA}"/>
              </a:ext>
            </a:extLst>
          </p:cNvPr>
          <p:cNvSpPr>
            <a:spLocks noGrp="1"/>
          </p:cNvSpPr>
          <p:nvPr/>
        </p:nvSpPr>
        <p:spPr>
          <a:xfrm>
            <a:off x="3444937" y="2846070"/>
            <a:ext cx="302793" cy="1657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918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918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7" name="Editable text S05 L13">
            <a:extLst>
              <a:ext uri="{FF2B5EF4-FFF2-40B4-BE49-F238E27FC236}">
                <a16:creationId xmlns:a16="http://schemas.microsoft.com/office/drawing/2014/main" id="{3E1F045B-58CA-4FF3-9135-E52611F24A3A}"/>
              </a:ext>
            </a:extLst>
          </p:cNvPr>
          <p:cNvSpPr>
            <a:spLocks noGrp="1"/>
          </p:cNvSpPr>
          <p:nvPr/>
        </p:nvSpPr>
        <p:spPr>
          <a:xfrm>
            <a:off x="4476802" y="2846070"/>
            <a:ext cx="432252" cy="1657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918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918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8" name="Editable text S05 L14">
            <a:extLst>
              <a:ext uri="{FF2B5EF4-FFF2-40B4-BE49-F238E27FC236}">
                <a16:creationId xmlns:a16="http://schemas.microsoft.com/office/drawing/2014/main" id="{01706EE8-CB7C-4504-86D9-D7B16EFE2B1B}"/>
              </a:ext>
            </a:extLst>
          </p:cNvPr>
          <p:cNvSpPr>
            <a:spLocks noGrp="1"/>
          </p:cNvSpPr>
          <p:nvPr/>
        </p:nvSpPr>
        <p:spPr>
          <a:xfrm>
            <a:off x="7911275" y="3067050"/>
            <a:ext cx="325638" cy="1200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19" name="Editable text S05 L15">
            <a:extLst>
              <a:ext uri="{FF2B5EF4-FFF2-40B4-BE49-F238E27FC236}">
                <a16:creationId xmlns:a16="http://schemas.microsoft.com/office/drawing/2014/main" id="{EA3C18A7-71E9-4F83-8A29-9AD90E3DD045}"/>
              </a:ext>
            </a:extLst>
          </p:cNvPr>
          <p:cNvSpPr>
            <a:spLocks noGrp="1"/>
          </p:cNvSpPr>
          <p:nvPr/>
        </p:nvSpPr>
        <p:spPr>
          <a:xfrm>
            <a:off x="817679" y="3253740"/>
            <a:ext cx="1052894" cy="16954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949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949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Once a week</a:t>
            </a:r>
          </a:p>
        </p:txBody>
      </p:sp>
      <p:sp>
        <p:nvSpPr>
          <p:cNvPr id="20" name="Editable text S05 L16">
            <a:extLst>
              <a:ext uri="{FF2B5EF4-FFF2-40B4-BE49-F238E27FC236}">
                <a16:creationId xmlns:a16="http://schemas.microsoft.com/office/drawing/2014/main" id="{34F91B2C-0BAC-46C9-AC60-E7EDF79F223A}"/>
              </a:ext>
            </a:extLst>
          </p:cNvPr>
          <p:cNvSpPr>
            <a:spLocks noGrp="1"/>
          </p:cNvSpPr>
          <p:nvPr/>
        </p:nvSpPr>
        <p:spPr>
          <a:xfrm>
            <a:off x="3452552" y="3261360"/>
            <a:ext cx="291370" cy="16192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887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887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21" name="Editable text S05 L17">
            <a:extLst>
              <a:ext uri="{FF2B5EF4-FFF2-40B4-BE49-F238E27FC236}">
                <a16:creationId xmlns:a16="http://schemas.microsoft.com/office/drawing/2014/main" id="{83249316-200C-4C83-AC2C-22948F03A288}"/>
              </a:ext>
            </a:extLst>
          </p:cNvPr>
          <p:cNvSpPr>
            <a:spLocks noGrp="1"/>
          </p:cNvSpPr>
          <p:nvPr/>
        </p:nvSpPr>
        <p:spPr>
          <a:xfrm>
            <a:off x="4488225" y="3257550"/>
            <a:ext cx="420829" cy="1657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918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918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2" name="Editable text S05 L18">
            <a:extLst>
              <a:ext uri="{FF2B5EF4-FFF2-40B4-BE49-F238E27FC236}">
                <a16:creationId xmlns:a16="http://schemas.microsoft.com/office/drawing/2014/main" id="{FA82E32D-6258-4863-854F-5EABC9772695}"/>
              </a:ext>
            </a:extLst>
          </p:cNvPr>
          <p:cNvSpPr>
            <a:spLocks noGrp="1"/>
          </p:cNvSpPr>
          <p:nvPr/>
        </p:nvSpPr>
        <p:spPr>
          <a:xfrm>
            <a:off x="8566186" y="3234690"/>
            <a:ext cx="325638" cy="1200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3" name="Editable text S05 L19">
            <a:extLst>
              <a:ext uri="{FF2B5EF4-FFF2-40B4-BE49-F238E27FC236}">
                <a16:creationId xmlns:a16="http://schemas.microsoft.com/office/drawing/2014/main" id="{9520F120-862A-4922-BCCF-936D9CF34B82}"/>
              </a:ext>
            </a:extLst>
          </p:cNvPr>
          <p:cNvSpPr>
            <a:spLocks noGrp="1"/>
          </p:cNvSpPr>
          <p:nvPr/>
        </p:nvSpPr>
        <p:spPr>
          <a:xfrm>
            <a:off x="825294" y="3665220"/>
            <a:ext cx="573134" cy="20764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5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5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Rarely</a:t>
            </a:r>
          </a:p>
        </p:txBody>
      </p:sp>
      <p:sp>
        <p:nvSpPr>
          <p:cNvPr id="24" name="Editable text S05 L20">
            <a:extLst>
              <a:ext uri="{FF2B5EF4-FFF2-40B4-BE49-F238E27FC236}">
                <a16:creationId xmlns:a16="http://schemas.microsoft.com/office/drawing/2014/main" id="{46B663FD-250A-4A9D-86A7-8970EEA10D49}"/>
              </a:ext>
            </a:extLst>
          </p:cNvPr>
          <p:cNvSpPr>
            <a:spLocks noGrp="1"/>
          </p:cNvSpPr>
          <p:nvPr/>
        </p:nvSpPr>
        <p:spPr>
          <a:xfrm>
            <a:off x="3452552" y="3669030"/>
            <a:ext cx="295177" cy="1657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918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918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5" name="Editable text S05 L21">
            <a:extLst>
              <a:ext uri="{FF2B5EF4-FFF2-40B4-BE49-F238E27FC236}">
                <a16:creationId xmlns:a16="http://schemas.microsoft.com/office/drawing/2014/main" id="{873A382A-B223-49BB-9412-F9A0E5811405}"/>
              </a:ext>
            </a:extLst>
          </p:cNvPr>
          <p:cNvSpPr>
            <a:spLocks noGrp="1"/>
          </p:cNvSpPr>
          <p:nvPr/>
        </p:nvSpPr>
        <p:spPr>
          <a:xfrm>
            <a:off x="4488225" y="3669030"/>
            <a:ext cx="420829" cy="1657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918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918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6" name="Editable text S05 L22">
            <a:extLst>
              <a:ext uri="{FF2B5EF4-FFF2-40B4-BE49-F238E27FC236}">
                <a16:creationId xmlns:a16="http://schemas.microsoft.com/office/drawing/2014/main" id="{F0CAFA3D-1CB7-4993-A382-930698BCFC36}"/>
              </a:ext>
            </a:extLst>
          </p:cNvPr>
          <p:cNvSpPr>
            <a:spLocks noGrp="1"/>
          </p:cNvSpPr>
          <p:nvPr/>
        </p:nvSpPr>
        <p:spPr>
          <a:xfrm>
            <a:off x="6574801" y="3844290"/>
            <a:ext cx="348484" cy="14287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734" b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734" b="0">
                <a:solidFill>
                  <a:srgbClr val="56616B"/>
                </a:solidFill>
                <a:latin typeface="Aptos"/>
                <a:ea typeface="Aptos"/>
                <a:cs typeface="Aptos"/>
              </a:rPr>
              <a:t>Daily</a:t>
            </a:r>
          </a:p>
        </p:txBody>
      </p:sp>
      <p:sp>
        <p:nvSpPr>
          <p:cNvPr id="27" name="Editable text S05 L23">
            <a:extLst>
              <a:ext uri="{FF2B5EF4-FFF2-40B4-BE49-F238E27FC236}">
                <a16:creationId xmlns:a16="http://schemas.microsoft.com/office/drawing/2014/main" id="{92378EAE-418C-4A82-9294-407FF4232F6F}"/>
              </a:ext>
            </a:extLst>
          </p:cNvPr>
          <p:cNvSpPr>
            <a:spLocks noGrp="1"/>
          </p:cNvSpPr>
          <p:nvPr/>
        </p:nvSpPr>
        <p:spPr>
          <a:xfrm>
            <a:off x="7176405" y="3840480"/>
            <a:ext cx="451290" cy="12382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00" b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6B"/>
                </a:solidFill>
                <a:latin typeface="Aptos"/>
                <a:ea typeface="Aptos"/>
                <a:cs typeface="Aptos"/>
              </a:rPr>
              <a:t>Several</a:t>
            </a:r>
          </a:p>
        </p:txBody>
      </p:sp>
      <p:sp>
        <p:nvSpPr>
          <p:cNvPr id="28" name="Editable text S05 L24">
            <a:extLst>
              <a:ext uri="{FF2B5EF4-FFF2-40B4-BE49-F238E27FC236}">
                <a16:creationId xmlns:a16="http://schemas.microsoft.com/office/drawing/2014/main" id="{F56429BB-8BC7-496C-933E-E9759F9C5A88}"/>
              </a:ext>
            </a:extLst>
          </p:cNvPr>
          <p:cNvSpPr>
            <a:spLocks noGrp="1"/>
          </p:cNvSpPr>
          <p:nvPr/>
        </p:nvSpPr>
        <p:spPr>
          <a:xfrm>
            <a:off x="7831315" y="3840480"/>
            <a:ext cx="458905" cy="14668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765" b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6616B"/>
                </a:solidFill>
                <a:latin typeface="Aptos"/>
                <a:ea typeface="Aptos"/>
                <a:cs typeface="Aptos"/>
              </a:rPr>
              <a:t>Weekly</a:t>
            </a:r>
          </a:p>
        </p:txBody>
      </p:sp>
      <p:sp>
        <p:nvSpPr>
          <p:cNvPr id="29" name="Editable text S05 L25">
            <a:extLst>
              <a:ext uri="{FF2B5EF4-FFF2-40B4-BE49-F238E27FC236}">
                <a16:creationId xmlns:a16="http://schemas.microsoft.com/office/drawing/2014/main" id="{5120873E-FE5C-4B7E-A567-2CDF7507D145}"/>
              </a:ext>
            </a:extLst>
          </p:cNvPr>
          <p:cNvSpPr>
            <a:spLocks noGrp="1"/>
          </p:cNvSpPr>
          <p:nvPr/>
        </p:nvSpPr>
        <p:spPr>
          <a:xfrm>
            <a:off x="8520494" y="3840480"/>
            <a:ext cx="405598" cy="14668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765" b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6616B"/>
                </a:solidFill>
                <a:latin typeface="Aptos"/>
                <a:ea typeface="Aptos"/>
                <a:cs typeface="Aptos"/>
              </a:rPr>
              <a:t>Rarely</a:t>
            </a:r>
          </a:p>
        </p:txBody>
      </p:sp>
      <p:sp>
        <p:nvSpPr>
          <p:cNvPr id="30" name="Editable text S05 L26">
            <a:extLst>
              <a:ext uri="{FF2B5EF4-FFF2-40B4-BE49-F238E27FC236}">
                <a16:creationId xmlns:a16="http://schemas.microsoft.com/office/drawing/2014/main" id="{5300BDA4-CEAA-4998-AA36-C7053075B4BF}"/>
              </a:ext>
            </a:extLst>
          </p:cNvPr>
          <p:cNvSpPr>
            <a:spLocks noGrp="1"/>
          </p:cNvSpPr>
          <p:nvPr/>
        </p:nvSpPr>
        <p:spPr>
          <a:xfrm>
            <a:off x="810063" y="4076700"/>
            <a:ext cx="477943" cy="16954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949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949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Total</a:t>
            </a:r>
          </a:p>
        </p:txBody>
      </p:sp>
      <p:sp>
        <p:nvSpPr>
          <p:cNvPr id="31" name="Editable text S05 L27">
            <a:extLst>
              <a:ext uri="{FF2B5EF4-FFF2-40B4-BE49-F238E27FC236}">
                <a16:creationId xmlns:a16="http://schemas.microsoft.com/office/drawing/2014/main" id="{D03A1673-A7FD-469D-AF1D-7090F6F677C5}"/>
              </a:ext>
            </a:extLst>
          </p:cNvPr>
          <p:cNvSpPr>
            <a:spLocks noGrp="1"/>
          </p:cNvSpPr>
          <p:nvPr/>
        </p:nvSpPr>
        <p:spPr>
          <a:xfrm>
            <a:off x="3406860" y="4080510"/>
            <a:ext cx="386560" cy="1657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918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918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32" name="Editable text S05 L28">
            <a:extLst>
              <a:ext uri="{FF2B5EF4-FFF2-40B4-BE49-F238E27FC236}">
                <a16:creationId xmlns:a16="http://schemas.microsoft.com/office/drawing/2014/main" id="{3C3667F8-8C67-40A7-93EF-10A17505A86C}"/>
              </a:ext>
            </a:extLst>
          </p:cNvPr>
          <p:cNvSpPr>
            <a:spLocks noGrp="1"/>
          </p:cNvSpPr>
          <p:nvPr/>
        </p:nvSpPr>
        <p:spPr>
          <a:xfrm>
            <a:off x="4442533" y="4080510"/>
            <a:ext cx="512212" cy="1657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918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918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33" name="Editable text S05 L29">
            <a:extLst>
              <a:ext uri="{FF2B5EF4-FFF2-40B4-BE49-F238E27FC236}">
                <a16:creationId xmlns:a16="http://schemas.microsoft.com/office/drawing/2014/main" id="{90DC2E8D-A611-4C06-901B-1220431B11AA}"/>
              </a:ext>
            </a:extLst>
          </p:cNvPr>
          <p:cNvSpPr>
            <a:spLocks noGrp="1"/>
          </p:cNvSpPr>
          <p:nvPr/>
        </p:nvSpPr>
        <p:spPr>
          <a:xfrm>
            <a:off x="6037484" y="4377461"/>
            <a:ext cx="5105086" cy="280492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buNone/>
              <a:defRPr sz="1836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36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Frequency tables and graphs help you</a:t>
            </a:r>
          </a:p>
        </p:txBody>
      </p:sp>
      <p:sp>
        <p:nvSpPr>
          <p:cNvPr id="34" name="Editable text S05 L30">
            <a:extLst>
              <a:ext uri="{FF2B5EF4-FFF2-40B4-BE49-F238E27FC236}">
                <a16:creationId xmlns:a16="http://schemas.microsoft.com/office/drawing/2014/main" id="{4D388E11-6189-45B5-AD84-3A83023AD8EC}"/>
              </a:ext>
            </a:extLst>
          </p:cNvPr>
          <p:cNvSpPr>
            <a:spLocks noGrp="1"/>
          </p:cNvSpPr>
          <p:nvPr/>
        </p:nvSpPr>
        <p:spPr>
          <a:xfrm>
            <a:off x="6300210" y="4613681"/>
            <a:ext cx="4572019" cy="280492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buNone/>
              <a:defRPr sz="1836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36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see the pattern immediately.</a:t>
            </a:r>
          </a:p>
        </p:txBody>
      </p:sp>
      <p:sp>
        <p:nvSpPr>
          <p:cNvPr id="35" name="Editable text S05 L31">
            <a:extLst>
              <a:ext uri="{FF2B5EF4-FFF2-40B4-BE49-F238E27FC236}">
                <a16:creationId xmlns:a16="http://schemas.microsoft.com/office/drawing/2014/main" id="{940C1DC3-0515-4429-8E4A-799542384C0A}"/>
              </a:ext>
            </a:extLst>
          </p:cNvPr>
          <p:cNvSpPr>
            <a:spLocks noGrp="1"/>
          </p:cNvSpPr>
          <p:nvPr/>
        </p:nvSpPr>
        <p:spPr>
          <a:xfrm>
            <a:off x="954739" y="5040630"/>
            <a:ext cx="4053328" cy="2724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7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7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Shows how often each category occurs</a:t>
            </a:r>
          </a:p>
        </p:txBody>
      </p:sp>
      <p:sp>
        <p:nvSpPr>
          <p:cNvPr id="36" name="Editable text S05 L32">
            <a:extLst>
              <a:ext uri="{FF2B5EF4-FFF2-40B4-BE49-F238E27FC236}">
                <a16:creationId xmlns:a16="http://schemas.microsoft.com/office/drawing/2014/main" id="{B7B48FED-103F-4724-8A3B-73E8A4FD23AF}"/>
              </a:ext>
            </a:extLst>
          </p:cNvPr>
          <p:cNvSpPr>
            <a:spLocks noGrp="1"/>
          </p:cNvSpPr>
          <p:nvPr/>
        </p:nvSpPr>
        <p:spPr>
          <a:xfrm>
            <a:off x="947123" y="5269230"/>
            <a:ext cx="4365552" cy="2724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7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7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Turns raw counts into simple percentages</a:t>
            </a:r>
          </a:p>
        </p:txBody>
      </p:sp>
      <p:sp>
        <p:nvSpPr>
          <p:cNvPr id="37" name="Editable text S05 L33">
            <a:extLst>
              <a:ext uri="{FF2B5EF4-FFF2-40B4-BE49-F238E27FC236}">
                <a16:creationId xmlns:a16="http://schemas.microsoft.com/office/drawing/2014/main" id="{9F011BE8-2095-4CCF-80CB-44A2D2B2963C}"/>
              </a:ext>
            </a:extLst>
          </p:cNvPr>
          <p:cNvSpPr>
            <a:spLocks noGrp="1"/>
          </p:cNvSpPr>
          <p:nvPr/>
        </p:nvSpPr>
        <p:spPr>
          <a:xfrm>
            <a:off x="960430" y="5488621"/>
            <a:ext cx="5157577" cy="309883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7933"/>
          </a:bodyPr>
          <a:lstStyle/>
          <a:p>
            <a:pPr algn="l">
              <a:buNone/>
              <a:defRPr sz="20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0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Can become a bar graph, pie chart or report table</a:t>
            </a:r>
          </a:p>
        </p:txBody>
      </p:sp>
      <p:sp>
        <p:nvSpPr>
          <p:cNvPr id="38" name="Editable text S05 L34">
            <a:extLst>
              <a:ext uri="{FF2B5EF4-FFF2-40B4-BE49-F238E27FC236}">
                <a16:creationId xmlns:a16="http://schemas.microsoft.com/office/drawing/2014/main" id="{047F3D63-C253-4D5D-8695-3B9BEACA3916}"/>
              </a:ext>
            </a:extLst>
          </p:cNvPr>
          <p:cNvSpPr>
            <a:spLocks noGrp="1"/>
          </p:cNvSpPr>
          <p:nvPr/>
        </p:nvSpPr>
        <p:spPr>
          <a:xfrm>
            <a:off x="11527564" y="6593205"/>
            <a:ext cx="239963" cy="1200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00" b="0">
                <a:solidFill>
                  <a:srgbClr val="808890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0889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90334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11A80F7-F8EE-42EF-84C6-944167D425D0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endParaRPr sz="800"/>
          </a:p>
        </p:txBody>
      </p:sp>
      <p:sp>
        <p:nvSpPr>
          <p:cNvPr id="5" name="Editable text S06 L01">
            <a:extLst>
              <a:ext uri="{FF2B5EF4-FFF2-40B4-BE49-F238E27FC236}">
                <a16:creationId xmlns:a16="http://schemas.microsoft.com/office/drawing/2014/main" id="{8903F9FE-59C7-42B7-A93A-134C9DA6D684}"/>
              </a:ext>
            </a:extLst>
          </p:cNvPr>
          <p:cNvSpPr>
            <a:spLocks noGrp="1"/>
          </p:cNvSpPr>
          <p:nvPr/>
        </p:nvSpPr>
        <p:spPr>
          <a:xfrm>
            <a:off x="650143" y="346710"/>
            <a:ext cx="828244" cy="1276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12" b="1">
                <a:solidFill>
                  <a:srgbClr val="0F5E5A"/>
                </a:solidFill>
                <a:latin typeface="Aptos"/>
                <a:ea typeface="Aptos"/>
                <a:cs typeface="Aptos"/>
              </a:defRPr>
            </a:pPr>
            <a:r>
              <a:rPr sz="612" b="1">
                <a:solidFill>
                  <a:srgbClr val="0F5E5A"/>
                </a:solidFill>
                <a:latin typeface="Aptos"/>
                <a:ea typeface="Aptos"/>
                <a:cs typeface="Aptos"/>
              </a:rPr>
              <a:t>ICT EXAMPLE</a:t>
            </a:r>
          </a:p>
        </p:txBody>
      </p:sp>
      <p:sp>
        <p:nvSpPr>
          <p:cNvPr id="6" name="Editable text S06 L02">
            <a:extLst>
              <a:ext uri="{FF2B5EF4-FFF2-40B4-BE49-F238E27FC236}">
                <a16:creationId xmlns:a16="http://schemas.microsoft.com/office/drawing/2014/main" id="{DAA1E18B-8694-488F-A19C-D245AC5C6A94}"/>
              </a:ext>
            </a:extLst>
          </p:cNvPr>
          <p:cNvSpPr>
            <a:spLocks noGrp="1"/>
          </p:cNvSpPr>
          <p:nvPr/>
        </p:nvSpPr>
        <p:spPr>
          <a:xfrm>
            <a:off x="627845" y="595728"/>
            <a:ext cx="9093493" cy="410649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6752" lnSpcReduction="10000"/>
          </a:bodyPr>
          <a:lstStyle/>
          <a:p>
            <a:pPr algn="l">
              <a:buNone/>
              <a:defRPr sz="2785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85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ICT example: frequency table for learning-app usage</a:t>
            </a:r>
          </a:p>
        </p:txBody>
      </p:sp>
      <p:sp>
        <p:nvSpPr>
          <p:cNvPr id="7" name="Editable text S06 L03">
            <a:extLst>
              <a:ext uri="{FF2B5EF4-FFF2-40B4-BE49-F238E27FC236}">
                <a16:creationId xmlns:a16="http://schemas.microsoft.com/office/drawing/2014/main" id="{483A1C90-9342-4CDA-BE42-6C3B856AA44F}"/>
              </a:ext>
            </a:extLst>
          </p:cNvPr>
          <p:cNvSpPr>
            <a:spLocks noGrp="1"/>
          </p:cNvSpPr>
          <p:nvPr/>
        </p:nvSpPr>
        <p:spPr>
          <a:xfrm>
            <a:off x="720550" y="1339531"/>
            <a:ext cx="8889045" cy="309883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9188"/>
          </a:bodyPr>
          <a:lstStyle/>
          <a:p>
            <a:pPr algn="l">
              <a:buNone/>
              <a:defRPr sz="2050" b="1">
                <a:solidFill>
                  <a:srgbClr val="26323F"/>
                </a:solidFill>
                <a:latin typeface="Aptos"/>
                <a:ea typeface="Aptos"/>
                <a:cs typeface="Aptos"/>
              </a:defRPr>
            </a:pPr>
            <a:r>
              <a:rPr sz="2050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Before analysing performance, organise the usage categories clearly.</a:t>
            </a:r>
          </a:p>
        </p:txBody>
      </p:sp>
      <p:sp>
        <p:nvSpPr>
          <p:cNvPr id="8" name="Editable text S06 L04">
            <a:extLst>
              <a:ext uri="{FF2B5EF4-FFF2-40B4-BE49-F238E27FC236}">
                <a16:creationId xmlns:a16="http://schemas.microsoft.com/office/drawing/2014/main" id="{7AC93C8C-9CE3-400E-8481-8A5648F8EA1C}"/>
              </a:ext>
            </a:extLst>
          </p:cNvPr>
          <p:cNvSpPr>
            <a:spLocks noGrp="1"/>
          </p:cNvSpPr>
          <p:nvPr/>
        </p:nvSpPr>
        <p:spPr>
          <a:xfrm>
            <a:off x="916677" y="2122170"/>
            <a:ext cx="394176" cy="17335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979" b="1">
                <a:solidFill>
                  <a:srgbClr val="315D9D"/>
                </a:solidFill>
                <a:latin typeface="Aptos"/>
                <a:ea typeface="Aptos"/>
                <a:cs typeface="Aptos"/>
              </a:defRPr>
            </a:pPr>
            <a:r>
              <a:rPr sz="979" b="1">
                <a:solidFill>
                  <a:srgbClr val="315D9D"/>
                </a:solidFill>
                <a:latin typeface="Aptos"/>
                <a:ea typeface="Aptos"/>
                <a:cs typeface="Aptos"/>
              </a:rPr>
              <a:t>app</a:t>
            </a:r>
          </a:p>
        </p:txBody>
      </p:sp>
      <p:sp>
        <p:nvSpPr>
          <p:cNvPr id="9" name="Editable text S06 L05">
            <a:extLst>
              <a:ext uri="{FF2B5EF4-FFF2-40B4-BE49-F238E27FC236}">
                <a16:creationId xmlns:a16="http://schemas.microsoft.com/office/drawing/2014/main" id="{4B4AEED0-5CE6-44DA-9D90-F6C2DA27BCAA}"/>
              </a:ext>
            </a:extLst>
          </p:cNvPr>
          <p:cNvSpPr>
            <a:spLocks noGrp="1"/>
          </p:cNvSpPr>
          <p:nvPr/>
        </p:nvSpPr>
        <p:spPr>
          <a:xfrm>
            <a:off x="924292" y="1962150"/>
            <a:ext cx="2572134" cy="2038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9568"/>
          </a:bodyPr>
          <a:lstStyle/>
          <a:p>
            <a:pPr algn="l">
              <a:buNone/>
              <a:defRPr sz="1224" b="1">
                <a:solidFill>
                  <a:srgbClr val="315D9D"/>
                </a:solidFill>
                <a:latin typeface="Aptos"/>
                <a:ea typeface="Aptos"/>
                <a:cs typeface="Aptos"/>
              </a:defRPr>
            </a:pPr>
            <a:r>
              <a:rPr sz="1224" b="1">
                <a:solidFill>
                  <a:srgbClr val="315D9D"/>
                </a:solidFill>
                <a:latin typeface="Aptos"/>
                <a:ea typeface="Aptos"/>
                <a:cs typeface="Aptos"/>
              </a:rPr>
              <a:t>How often students used the study</a:t>
            </a:r>
          </a:p>
        </p:txBody>
      </p:sp>
      <p:sp>
        <p:nvSpPr>
          <p:cNvPr id="10" name="Editable text S06 L06">
            <a:extLst>
              <a:ext uri="{FF2B5EF4-FFF2-40B4-BE49-F238E27FC236}">
                <a16:creationId xmlns:a16="http://schemas.microsoft.com/office/drawing/2014/main" id="{A2EAA462-663C-4A70-B663-6C7A1761105B}"/>
              </a:ext>
            </a:extLst>
          </p:cNvPr>
          <p:cNvSpPr>
            <a:spLocks noGrp="1"/>
          </p:cNvSpPr>
          <p:nvPr/>
        </p:nvSpPr>
        <p:spPr>
          <a:xfrm>
            <a:off x="3799045" y="2015490"/>
            <a:ext cx="828244" cy="17335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979" b="1">
                <a:solidFill>
                  <a:srgbClr val="315D9D"/>
                </a:solidFill>
                <a:latin typeface="Aptos"/>
                <a:ea typeface="Aptos"/>
                <a:cs typeface="Aptos"/>
              </a:defRPr>
            </a:pPr>
            <a:r>
              <a:rPr sz="979" b="1">
                <a:solidFill>
                  <a:srgbClr val="315D9D"/>
                </a:solidFill>
                <a:latin typeface="Aptos"/>
                <a:ea typeface="Aptos"/>
                <a:cs typeface="Aptos"/>
              </a:rPr>
              <a:t>Students</a:t>
            </a:r>
          </a:p>
        </p:txBody>
      </p:sp>
      <p:sp>
        <p:nvSpPr>
          <p:cNvPr id="11" name="Editable text S06 L07">
            <a:extLst>
              <a:ext uri="{FF2B5EF4-FFF2-40B4-BE49-F238E27FC236}">
                <a16:creationId xmlns:a16="http://schemas.microsoft.com/office/drawing/2014/main" id="{20C256EB-6D84-493F-A996-6FD2C3E95BFC}"/>
              </a:ext>
            </a:extLst>
          </p:cNvPr>
          <p:cNvSpPr>
            <a:spLocks noGrp="1"/>
          </p:cNvSpPr>
          <p:nvPr/>
        </p:nvSpPr>
        <p:spPr>
          <a:xfrm>
            <a:off x="4690028" y="2023110"/>
            <a:ext cx="1018625" cy="2038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24" b="1">
                <a:solidFill>
                  <a:srgbClr val="315D9D"/>
                </a:solidFill>
                <a:latin typeface="Aptos"/>
                <a:ea typeface="Aptos"/>
                <a:cs typeface="Aptos"/>
              </a:defRPr>
            </a:pPr>
            <a:r>
              <a:rPr sz="1224" b="1">
                <a:solidFill>
                  <a:srgbClr val="315D9D"/>
                </a:solidFill>
                <a:latin typeface="Aptos"/>
                <a:ea typeface="Aptos"/>
                <a:cs typeface="Aptos"/>
              </a:rPr>
              <a:t>Percentage</a:t>
            </a:r>
          </a:p>
        </p:txBody>
      </p:sp>
      <p:sp>
        <p:nvSpPr>
          <p:cNvPr id="12" name="Editable text S06 L08">
            <a:extLst>
              <a:ext uri="{FF2B5EF4-FFF2-40B4-BE49-F238E27FC236}">
                <a16:creationId xmlns:a16="http://schemas.microsoft.com/office/drawing/2014/main" id="{A71F1D93-8BF1-4827-A375-CD6AD020A7E2}"/>
              </a:ext>
            </a:extLst>
          </p:cNvPr>
          <p:cNvSpPr>
            <a:spLocks noGrp="1"/>
          </p:cNvSpPr>
          <p:nvPr/>
        </p:nvSpPr>
        <p:spPr>
          <a:xfrm>
            <a:off x="6726663" y="1916201"/>
            <a:ext cx="3189853" cy="280492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836" b="1">
                <a:solidFill>
                  <a:srgbClr val="0F5E5A"/>
                </a:solidFill>
                <a:latin typeface="Aptos"/>
                <a:ea typeface="Aptos"/>
                <a:cs typeface="Aptos"/>
              </a:defRPr>
            </a:pPr>
            <a:r>
              <a:rPr sz="1836" b="1">
                <a:solidFill>
                  <a:srgbClr val="0F5E5A"/>
                </a:solidFill>
                <a:latin typeface="Aptos"/>
                <a:ea typeface="Aptos"/>
                <a:cs typeface="Aptos"/>
              </a:rPr>
              <a:t>How to explain this in class</a:t>
            </a:r>
          </a:p>
        </p:txBody>
      </p:sp>
      <p:sp>
        <p:nvSpPr>
          <p:cNvPr id="13" name="Editable text S06 L09">
            <a:extLst>
              <a:ext uri="{FF2B5EF4-FFF2-40B4-BE49-F238E27FC236}">
                <a16:creationId xmlns:a16="http://schemas.microsoft.com/office/drawing/2014/main" id="{10FA651D-1D24-4382-BB62-E639F6280AB2}"/>
              </a:ext>
            </a:extLst>
          </p:cNvPr>
          <p:cNvSpPr>
            <a:spLocks noGrp="1"/>
          </p:cNvSpPr>
          <p:nvPr/>
        </p:nvSpPr>
        <p:spPr>
          <a:xfrm>
            <a:off x="924292" y="2411730"/>
            <a:ext cx="809206" cy="2038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24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24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Every day</a:t>
            </a:r>
          </a:p>
        </p:txBody>
      </p:sp>
      <p:sp>
        <p:nvSpPr>
          <p:cNvPr id="14" name="Editable text S06 L10">
            <a:extLst>
              <a:ext uri="{FF2B5EF4-FFF2-40B4-BE49-F238E27FC236}">
                <a16:creationId xmlns:a16="http://schemas.microsoft.com/office/drawing/2014/main" id="{058993A8-88F3-4EF2-BBAF-01D8CE6B9EF0}"/>
              </a:ext>
            </a:extLst>
          </p:cNvPr>
          <p:cNvSpPr>
            <a:spLocks noGrp="1"/>
          </p:cNvSpPr>
          <p:nvPr/>
        </p:nvSpPr>
        <p:spPr>
          <a:xfrm>
            <a:off x="4061771" y="2415540"/>
            <a:ext cx="298985" cy="16192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887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887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15" name="Editable text S06 L11">
            <a:extLst>
              <a:ext uri="{FF2B5EF4-FFF2-40B4-BE49-F238E27FC236}">
                <a16:creationId xmlns:a16="http://schemas.microsoft.com/office/drawing/2014/main" id="{BD9F173A-6F27-451F-BA83-B66FD13E3724}"/>
              </a:ext>
            </a:extLst>
          </p:cNvPr>
          <p:cNvSpPr>
            <a:spLocks noGrp="1"/>
          </p:cNvSpPr>
          <p:nvPr/>
        </p:nvSpPr>
        <p:spPr>
          <a:xfrm>
            <a:off x="4975600" y="2415540"/>
            <a:ext cx="436059" cy="16192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887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887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16" name="Editable text S06 L12">
            <a:extLst>
              <a:ext uri="{FF2B5EF4-FFF2-40B4-BE49-F238E27FC236}">
                <a16:creationId xmlns:a16="http://schemas.microsoft.com/office/drawing/2014/main" id="{2FBF1287-2848-4EAD-BA20-CB788E679F29}"/>
              </a:ext>
            </a:extLst>
          </p:cNvPr>
          <p:cNvSpPr>
            <a:spLocks noGrp="1"/>
          </p:cNvSpPr>
          <p:nvPr/>
        </p:nvSpPr>
        <p:spPr>
          <a:xfrm>
            <a:off x="6856564" y="2396490"/>
            <a:ext cx="4209411" cy="26098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683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683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Raw survey answers become a clean table</a:t>
            </a:r>
          </a:p>
        </p:txBody>
      </p:sp>
      <p:sp>
        <p:nvSpPr>
          <p:cNvPr id="17" name="Editable text S06 L13">
            <a:extLst>
              <a:ext uri="{FF2B5EF4-FFF2-40B4-BE49-F238E27FC236}">
                <a16:creationId xmlns:a16="http://schemas.microsoft.com/office/drawing/2014/main" id="{7530DFA1-6F8A-4E7B-8EC6-A92E5F9264CD}"/>
              </a:ext>
            </a:extLst>
          </p:cNvPr>
          <p:cNvSpPr>
            <a:spLocks noGrp="1"/>
          </p:cNvSpPr>
          <p:nvPr/>
        </p:nvSpPr>
        <p:spPr>
          <a:xfrm>
            <a:off x="916677" y="2807970"/>
            <a:ext cx="1502193" cy="1657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918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918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3 to 4 times a week</a:t>
            </a:r>
          </a:p>
        </p:txBody>
      </p:sp>
      <p:sp>
        <p:nvSpPr>
          <p:cNvPr id="18" name="Editable text S06 L14">
            <a:extLst>
              <a:ext uri="{FF2B5EF4-FFF2-40B4-BE49-F238E27FC236}">
                <a16:creationId xmlns:a16="http://schemas.microsoft.com/office/drawing/2014/main" id="{3CC7AA39-E12B-4605-9695-493DB587A38F}"/>
              </a:ext>
            </a:extLst>
          </p:cNvPr>
          <p:cNvSpPr>
            <a:spLocks noGrp="1"/>
          </p:cNvSpPr>
          <p:nvPr/>
        </p:nvSpPr>
        <p:spPr>
          <a:xfrm>
            <a:off x="4061771" y="2811780"/>
            <a:ext cx="298985" cy="16192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887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887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  <p:sp>
        <p:nvSpPr>
          <p:cNvPr id="19" name="Editable text S06 L15">
            <a:extLst>
              <a:ext uri="{FF2B5EF4-FFF2-40B4-BE49-F238E27FC236}">
                <a16:creationId xmlns:a16="http://schemas.microsoft.com/office/drawing/2014/main" id="{F45876A7-DB0A-4462-920D-1206DCC6D605}"/>
              </a:ext>
            </a:extLst>
          </p:cNvPr>
          <p:cNvSpPr>
            <a:spLocks noGrp="1"/>
          </p:cNvSpPr>
          <p:nvPr/>
        </p:nvSpPr>
        <p:spPr>
          <a:xfrm>
            <a:off x="4983215" y="2811780"/>
            <a:ext cx="428444" cy="16192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887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887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20" name="Editable text S06 L16">
            <a:extLst>
              <a:ext uri="{FF2B5EF4-FFF2-40B4-BE49-F238E27FC236}">
                <a16:creationId xmlns:a16="http://schemas.microsoft.com/office/drawing/2014/main" id="{2A341BC1-567F-458E-A716-22F663A0B03A}"/>
              </a:ext>
            </a:extLst>
          </p:cNvPr>
          <p:cNvSpPr>
            <a:spLocks noGrp="1"/>
          </p:cNvSpPr>
          <p:nvPr/>
        </p:nvSpPr>
        <p:spPr>
          <a:xfrm>
            <a:off x="6837526" y="2640330"/>
            <a:ext cx="3253698" cy="26098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683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683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largest category is daily use</a:t>
            </a:r>
          </a:p>
        </p:txBody>
      </p:sp>
      <p:sp>
        <p:nvSpPr>
          <p:cNvPr id="21" name="Editable text S06 L17">
            <a:extLst>
              <a:ext uri="{FF2B5EF4-FFF2-40B4-BE49-F238E27FC236}">
                <a16:creationId xmlns:a16="http://schemas.microsoft.com/office/drawing/2014/main" id="{5E6B0C41-1839-4840-9461-26CDC5104BA8}"/>
              </a:ext>
            </a:extLst>
          </p:cNvPr>
          <p:cNvSpPr>
            <a:spLocks noGrp="1"/>
          </p:cNvSpPr>
          <p:nvPr/>
        </p:nvSpPr>
        <p:spPr>
          <a:xfrm>
            <a:off x="6837526" y="2891790"/>
            <a:ext cx="3935262" cy="26098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683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683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table can now become a bar graph</a:t>
            </a:r>
          </a:p>
        </p:txBody>
      </p:sp>
      <p:sp>
        <p:nvSpPr>
          <p:cNvPr id="22" name="Editable text S06 L18">
            <a:extLst>
              <a:ext uri="{FF2B5EF4-FFF2-40B4-BE49-F238E27FC236}">
                <a16:creationId xmlns:a16="http://schemas.microsoft.com/office/drawing/2014/main" id="{C0EE243A-04C1-4C10-9769-E7A2551E4793}"/>
              </a:ext>
            </a:extLst>
          </p:cNvPr>
          <p:cNvSpPr>
            <a:spLocks noGrp="1"/>
          </p:cNvSpPr>
          <p:nvPr/>
        </p:nvSpPr>
        <p:spPr>
          <a:xfrm>
            <a:off x="924292" y="3204210"/>
            <a:ext cx="1494578" cy="1657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918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918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1 to 2 times a week</a:t>
            </a:r>
          </a:p>
        </p:txBody>
      </p:sp>
      <p:sp>
        <p:nvSpPr>
          <p:cNvPr id="23" name="Editable text S06 L19">
            <a:extLst>
              <a:ext uri="{FF2B5EF4-FFF2-40B4-BE49-F238E27FC236}">
                <a16:creationId xmlns:a16="http://schemas.microsoft.com/office/drawing/2014/main" id="{FCCE52CB-203D-4EC9-9BB7-FEF84890ADBA}"/>
              </a:ext>
            </a:extLst>
          </p:cNvPr>
          <p:cNvSpPr>
            <a:spLocks noGrp="1"/>
          </p:cNvSpPr>
          <p:nvPr/>
        </p:nvSpPr>
        <p:spPr>
          <a:xfrm>
            <a:off x="4061771" y="3208020"/>
            <a:ext cx="306600" cy="16192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887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887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24" name="Editable text S06 L20">
            <a:extLst>
              <a:ext uri="{FF2B5EF4-FFF2-40B4-BE49-F238E27FC236}">
                <a16:creationId xmlns:a16="http://schemas.microsoft.com/office/drawing/2014/main" id="{33ADDB00-1518-47B2-B94D-5360CD9E91E5}"/>
              </a:ext>
            </a:extLst>
          </p:cNvPr>
          <p:cNvSpPr>
            <a:spLocks noGrp="1"/>
          </p:cNvSpPr>
          <p:nvPr/>
        </p:nvSpPr>
        <p:spPr>
          <a:xfrm>
            <a:off x="4983215" y="3208020"/>
            <a:ext cx="428444" cy="16192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887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887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5" name="Editable text S06 L21">
            <a:extLst>
              <a:ext uri="{FF2B5EF4-FFF2-40B4-BE49-F238E27FC236}">
                <a16:creationId xmlns:a16="http://schemas.microsoft.com/office/drawing/2014/main" id="{B2D927B0-EB97-4A2B-AAFA-A49D9E39E1F7}"/>
              </a:ext>
            </a:extLst>
          </p:cNvPr>
          <p:cNvSpPr>
            <a:spLocks noGrp="1"/>
          </p:cNvSpPr>
          <p:nvPr/>
        </p:nvSpPr>
        <p:spPr>
          <a:xfrm>
            <a:off x="6841334" y="3143250"/>
            <a:ext cx="4205603" cy="26479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714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714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It also helps decide what to compare next</a:t>
            </a:r>
          </a:p>
        </p:txBody>
      </p:sp>
      <p:sp>
        <p:nvSpPr>
          <p:cNvPr id="26" name="Editable text S06 L22">
            <a:extLst>
              <a:ext uri="{FF2B5EF4-FFF2-40B4-BE49-F238E27FC236}">
                <a16:creationId xmlns:a16="http://schemas.microsoft.com/office/drawing/2014/main" id="{13397B6D-66CE-43E9-A561-CD2028420FC2}"/>
              </a:ext>
            </a:extLst>
          </p:cNvPr>
          <p:cNvSpPr>
            <a:spLocks noGrp="1"/>
          </p:cNvSpPr>
          <p:nvPr/>
        </p:nvSpPr>
        <p:spPr>
          <a:xfrm>
            <a:off x="924292" y="3592830"/>
            <a:ext cx="1071932" cy="1657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918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918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Did not use it</a:t>
            </a:r>
          </a:p>
        </p:txBody>
      </p:sp>
      <p:sp>
        <p:nvSpPr>
          <p:cNvPr id="27" name="Editable text S06 L23">
            <a:extLst>
              <a:ext uri="{FF2B5EF4-FFF2-40B4-BE49-F238E27FC236}">
                <a16:creationId xmlns:a16="http://schemas.microsoft.com/office/drawing/2014/main" id="{EA20AECE-E13E-4027-8443-0D4080C328B3}"/>
              </a:ext>
            </a:extLst>
          </p:cNvPr>
          <p:cNvSpPr>
            <a:spLocks noGrp="1"/>
          </p:cNvSpPr>
          <p:nvPr/>
        </p:nvSpPr>
        <p:spPr>
          <a:xfrm>
            <a:off x="4073194" y="3596640"/>
            <a:ext cx="287562" cy="16192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887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887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8" name="Editable text S06 L24">
            <a:extLst>
              <a:ext uri="{FF2B5EF4-FFF2-40B4-BE49-F238E27FC236}">
                <a16:creationId xmlns:a16="http://schemas.microsoft.com/office/drawing/2014/main" id="{159E715F-36B5-4DFC-947A-F79F7B1A19B4}"/>
              </a:ext>
            </a:extLst>
          </p:cNvPr>
          <p:cNvSpPr>
            <a:spLocks noGrp="1"/>
          </p:cNvSpPr>
          <p:nvPr/>
        </p:nvSpPr>
        <p:spPr>
          <a:xfrm>
            <a:off x="4990830" y="3596640"/>
            <a:ext cx="420829" cy="16192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887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887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9" name="Editable text S06 L25">
            <a:extLst>
              <a:ext uri="{FF2B5EF4-FFF2-40B4-BE49-F238E27FC236}">
                <a16:creationId xmlns:a16="http://schemas.microsoft.com/office/drawing/2014/main" id="{FF6E77FD-6262-4847-A0B8-6F9FCDD0187B}"/>
              </a:ext>
            </a:extLst>
          </p:cNvPr>
          <p:cNvSpPr>
            <a:spLocks noGrp="1"/>
          </p:cNvSpPr>
          <p:nvPr/>
        </p:nvSpPr>
        <p:spPr>
          <a:xfrm>
            <a:off x="909062" y="3989070"/>
            <a:ext cx="474136" cy="1657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918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918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Total</a:t>
            </a:r>
          </a:p>
        </p:txBody>
      </p:sp>
      <p:sp>
        <p:nvSpPr>
          <p:cNvPr id="30" name="Editable text S06 L26">
            <a:extLst>
              <a:ext uri="{FF2B5EF4-FFF2-40B4-BE49-F238E27FC236}">
                <a16:creationId xmlns:a16="http://schemas.microsoft.com/office/drawing/2014/main" id="{69F0D9CC-6370-4F54-9006-A094C2CCA0EC}"/>
              </a:ext>
            </a:extLst>
          </p:cNvPr>
          <p:cNvSpPr>
            <a:spLocks noGrp="1"/>
          </p:cNvSpPr>
          <p:nvPr/>
        </p:nvSpPr>
        <p:spPr>
          <a:xfrm>
            <a:off x="4031310" y="3992880"/>
            <a:ext cx="375137" cy="16192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887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887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120</a:t>
            </a:r>
          </a:p>
        </p:txBody>
      </p:sp>
      <p:sp>
        <p:nvSpPr>
          <p:cNvPr id="31" name="Editable text S06 L27">
            <a:extLst>
              <a:ext uri="{FF2B5EF4-FFF2-40B4-BE49-F238E27FC236}">
                <a16:creationId xmlns:a16="http://schemas.microsoft.com/office/drawing/2014/main" id="{D46469C8-A0B4-4F9C-B9BC-128F5B557348}"/>
              </a:ext>
            </a:extLst>
          </p:cNvPr>
          <p:cNvSpPr>
            <a:spLocks noGrp="1"/>
          </p:cNvSpPr>
          <p:nvPr/>
        </p:nvSpPr>
        <p:spPr>
          <a:xfrm>
            <a:off x="4945139" y="3992880"/>
            <a:ext cx="508404" cy="16192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887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887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32" name="Editable text S06 L28">
            <a:extLst>
              <a:ext uri="{FF2B5EF4-FFF2-40B4-BE49-F238E27FC236}">
                <a16:creationId xmlns:a16="http://schemas.microsoft.com/office/drawing/2014/main" id="{EF75AA9F-5BFC-4F0A-9221-70516DC62E0F}"/>
              </a:ext>
            </a:extLst>
          </p:cNvPr>
          <p:cNvSpPr>
            <a:spLocks noGrp="1"/>
          </p:cNvSpPr>
          <p:nvPr/>
        </p:nvSpPr>
        <p:spPr>
          <a:xfrm>
            <a:off x="1369784" y="5204460"/>
            <a:ext cx="9437274" cy="26860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744" b="1">
                <a:solidFill>
                  <a:srgbClr val="26323F"/>
                </a:solidFill>
                <a:latin typeface="Aptos"/>
                <a:ea typeface="Aptos"/>
                <a:cs typeface="Aptos"/>
              </a:defRPr>
            </a:pPr>
            <a:r>
              <a:rPr sz="1744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Possible next question: Do daily users score higher on the weekly quiz than non-users?</a:t>
            </a:r>
          </a:p>
        </p:txBody>
      </p:sp>
      <p:sp>
        <p:nvSpPr>
          <p:cNvPr id="33" name="Editable text S06 L29">
            <a:extLst>
              <a:ext uri="{FF2B5EF4-FFF2-40B4-BE49-F238E27FC236}">
                <a16:creationId xmlns:a16="http://schemas.microsoft.com/office/drawing/2014/main" id="{3CB442BF-3169-42CC-AEAB-C6C74E42D80B}"/>
              </a:ext>
            </a:extLst>
          </p:cNvPr>
          <p:cNvSpPr>
            <a:spLocks noGrp="1"/>
          </p:cNvSpPr>
          <p:nvPr/>
        </p:nvSpPr>
        <p:spPr>
          <a:xfrm>
            <a:off x="11558025" y="6600825"/>
            <a:ext cx="304693" cy="1200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00" b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6B"/>
                </a:solidFill>
                <a:latin typeface="Aptos"/>
                <a:ea typeface="Aptos"/>
                <a:cs typeface="Aptos"/>
              </a:rPr>
              <a:t>03A</a:t>
            </a:r>
          </a:p>
        </p:txBody>
      </p:sp>
    </p:spTree>
    <p:extLst>
      <p:ext uri="{BB962C8B-B14F-4D97-AF65-F5344CB8AC3E}">
        <p14:creationId xmlns:p14="http://schemas.microsoft.com/office/powerpoint/2010/main" val="919894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047C19-4FDA-48EA-B5F0-FC271270601A}"/>
              </a:ext>
            </a:extLst>
          </p:cNvPr>
          <p:cNvSpPr>
            <a:spLocks noGrp="1"/>
          </p:cNvSpPr>
          <p:nvPr/>
        </p:nvSpPr>
        <p:spPr>
          <a:xfrm>
            <a:off x="658368" y="29260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>
                <a:solidFill>
                  <a:srgbClr val="0F5E5A"/>
                </a:solidFill>
                <a:latin typeface="Aptos"/>
                <a:ea typeface="Aptos"/>
                <a:cs typeface="Aptos"/>
              </a:rPr>
              <a:t>SLR CONTEXT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420E36-0195-4319-89B6-551B826525EE}"/>
              </a:ext>
            </a:extLst>
          </p:cNvPr>
          <p:cNvSpPr>
            <a:spLocks noGrp="1"/>
          </p:cNvSpPr>
          <p:nvPr/>
        </p:nvSpPr>
        <p:spPr>
          <a:xfrm>
            <a:off x="640080" y="512064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700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SLR quantitative example: count what appears in the literature</a:t>
            </a:r>
            <a:endParaRPr sz="27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F9E1E0D-80E3-4FF3-A7F0-F0E5AA1DD16B}"/>
              </a:ext>
            </a:extLst>
          </p:cNvPr>
          <p:cNvSpPr>
            <a:spLocks noGrp="1"/>
          </p:cNvSpPr>
          <p:nvPr/>
        </p:nvSpPr>
        <p:spPr>
          <a:xfrm>
            <a:off x="640080" y="1133856"/>
            <a:ext cx="10927080" cy="0"/>
          </a:xfrm>
          <a:prstGeom prst="line">
            <a:avLst/>
          </a:prstGeom>
          <a:noFill/>
          <a:ln w="1524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D46958C-35E5-4E2F-BB5C-F7F6DA562CCD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11292840" cy="0"/>
          </a:xfrm>
          <a:prstGeom prst="line">
            <a:avLst/>
          </a:prstGeom>
          <a:noFill/>
          <a:ln w="1270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2DC0819-1DC1-4A92-9DC2-09DEBB3C89E7}"/>
              </a:ext>
            </a:extLst>
          </p:cNvPr>
          <p:cNvSpPr>
            <a:spLocks noGrp="1"/>
          </p:cNvSpPr>
          <p:nvPr/>
        </p:nvSpPr>
        <p:spPr>
          <a:xfrm>
            <a:off x="822960" y="1298448"/>
            <a:ext cx="10698480" cy="36576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pPr marL="0" indent="0" algn="ctr">
              <a:buNone/>
            </a:pPr>
            <a:r>
              <a:rPr sz="1900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Example SLR topic: What technologies are used to detect phishing attacks in higher education?</a:t>
            </a:r>
            <a:endParaRPr sz="1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DE3C58A-8DF9-4724-B39F-09D906890D29}"/>
              </a:ext>
            </a:extLst>
          </p:cNvPr>
          <p:cNvSpPr>
            <a:spLocks noGrp="1"/>
          </p:cNvSpPr>
          <p:nvPr/>
        </p:nvSpPr>
        <p:spPr>
          <a:xfrm>
            <a:off x="868680" y="1874520"/>
            <a:ext cx="6172200" cy="0"/>
          </a:xfrm>
          <a:prstGeom prst="line">
            <a:avLst/>
          </a:prstGeom>
          <a:noFill/>
          <a:ln w="38100">
            <a:solidFill>
              <a:srgbClr val="315D9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9EB982E-C86C-4CA1-93CF-C5BA870D80AF}"/>
              </a:ext>
            </a:extLst>
          </p:cNvPr>
          <p:cNvSpPr>
            <a:spLocks noGrp="1"/>
          </p:cNvSpPr>
          <p:nvPr/>
        </p:nvSpPr>
        <p:spPr>
          <a:xfrm>
            <a:off x="868680" y="1920240"/>
            <a:ext cx="3383280" cy="393192"/>
          </a:xfrm>
          <a:prstGeom prst="rect">
            <a:avLst/>
          </a:prstGeom>
          <a:solidFill>
            <a:srgbClr val="F2F5F7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323E75F-7367-4DF6-AD0C-E2434515BBA4}"/>
              </a:ext>
            </a:extLst>
          </p:cNvPr>
          <p:cNvSpPr>
            <a:spLocks noGrp="1"/>
          </p:cNvSpPr>
          <p:nvPr/>
        </p:nvSpPr>
        <p:spPr>
          <a:xfrm>
            <a:off x="932688" y="1993392"/>
            <a:ext cx="325526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1150" b="1">
                <a:solidFill>
                  <a:srgbClr val="315D9D"/>
                </a:solidFill>
                <a:latin typeface="Aptos"/>
                <a:ea typeface="Aptos"/>
                <a:cs typeface="Aptos"/>
              </a:rPr>
              <a:t>Technology category</a:t>
            </a:r>
            <a:endParaRPr sz="11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DB0CED0-4E0F-4AC9-9FFA-208BE6AD5819}"/>
              </a:ext>
            </a:extLst>
          </p:cNvPr>
          <p:cNvSpPr>
            <a:spLocks noGrp="1"/>
          </p:cNvSpPr>
          <p:nvPr/>
        </p:nvSpPr>
        <p:spPr>
          <a:xfrm>
            <a:off x="4251960" y="1920240"/>
            <a:ext cx="1325880" cy="393192"/>
          </a:xfrm>
          <a:prstGeom prst="rect">
            <a:avLst/>
          </a:prstGeom>
          <a:solidFill>
            <a:srgbClr val="F2F5F7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1E55751-646E-4E62-B26A-E2D9E8EE7AE5}"/>
              </a:ext>
            </a:extLst>
          </p:cNvPr>
          <p:cNvSpPr>
            <a:spLocks noGrp="1"/>
          </p:cNvSpPr>
          <p:nvPr/>
        </p:nvSpPr>
        <p:spPr>
          <a:xfrm>
            <a:off x="4315968" y="1993392"/>
            <a:ext cx="119786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315D9D"/>
                </a:solidFill>
                <a:latin typeface="Aptos"/>
                <a:ea typeface="Aptos"/>
                <a:cs typeface="Aptos"/>
              </a:rPr>
              <a:t>Number of papers</a:t>
            </a:r>
            <a:endParaRPr sz="11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ADEC4C6-2EFB-4131-B57D-E5F5EB03B087}"/>
              </a:ext>
            </a:extLst>
          </p:cNvPr>
          <p:cNvSpPr>
            <a:spLocks noGrp="1"/>
          </p:cNvSpPr>
          <p:nvPr/>
        </p:nvSpPr>
        <p:spPr>
          <a:xfrm>
            <a:off x="5577840" y="1920240"/>
            <a:ext cx="1463040" cy="393192"/>
          </a:xfrm>
          <a:prstGeom prst="rect">
            <a:avLst/>
          </a:prstGeom>
          <a:solidFill>
            <a:srgbClr val="F2F5F7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5DCBE02-7887-4163-8211-A6348963F0E1}"/>
              </a:ext>
            </a:extLst>
          </p:cNvPr>
          <p:cNvSpPr>
            <a:spLocks noGrp="1"/>
          </p:cNvSpPr>
          <p:nvPr/>
        </p:nvSpPr>
        <p:spPr>
          <a:xfrm>
            <a:off x="5641848" y="1993392"/>
            <a:ext cx="133502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315D9D"/>
                </a:solidFill>
                <a:latin typeface="Aptos"/>
                <a:ea typeface="Aptos"/>
                <a:cs typeface="Aptos"/>
              </a:rPr>
              <a:t>Percentage</a:t>
            </a:r>
            <a:endParaRPr sz="11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9A074EF-DCFC-4993-AD5D-75D29F75833F}"/>
              </a:ext>
            </a:extLst>
          </p:cNvPr>
          <p:cNvSpPr>
            <a:spLocks noGrp="1"/>
          </p:cNvSpPr>
          <p:nvPr/>
        </p:nvSpPr>
        <p:spPr>
          <a:xfrm>
            <a:off x="868680" y="2313432"/>
            <a:ext cx="617220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358BA49-E8B3-4BF4-95E9-D1FECADE601E}"/>
              </a:ext>
            </a:extLst>
          </p:cNvPr>
          <p:cNvSpPr>
            <a:spLocks noGrp="1"/>
          </p:cNvSpPr>
          <p:nvPr/>
        </p:nvSpPr>
        <p:spPr>
          <a:xfrm>
            <a:off x="868680" y="2313432"/>
            <a:ext cx="338328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E692907-315C-4677-9120-6E6B709947C3}"/>
              </a:ext>
            </a:extLst>
          </p:cNvPr>
          <p:cNvSpPr>
            <a:spLocks noGrp="1"/>
          </p:cNvSpPr>
          <p:nvPr/>
        </p:nvSpPr>
        <p:spPr>
          <a:xfrm>
            <a:off x="932688" y="2386584"/>
            <a:ext cx="325526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Machine learning classifiers</a:t>
            </a:r>
            <a:endParaRPr sz="111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3AFE2BB-A20A-4E8B-9DDE-448D15635640}"/>
              </a:ext>
            </a:extLst>
          </p:cNvPr>
          <p:cNvSpPr>
            <a:spLocks noGrp="1"/>
          </p:cNvSpPr>
          <p:nvPr/>
        </p:nvSpPr>
        <p:spPr>
          <a:xfrm>
            <a:off x="4251960" y="2313432"/>
            <a:ext cx="132588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183DD5C-56EB-47B3-A67A-CBBB9E47DE62}"/>
              </a:ext>
            </a:extLst>
          </p:cNvPr>
          <p:cNvSpPr>
            <a:spLocks noGrp="1"/>
          </p:cNvSpPr>
          <p:nvPr/>
        </p:nvSpPr>
        <p:spPr>
          <a:xfrm>
            <a:off x="4315968" y="2386584"/>
            <a:ext cx="119786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18</a:t>
            </a:r>
            <a:endParaRPr sz="111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9527E78-BD2A-423F-BC5D-A5D83B96F23E}"/>
              </a:ext>
            </a:extLst>
          </p:cNvPr>
          <p:cNvSpPr>
            <a:spLocks noGrp="1"/>
          </p:cNvSpPr>
          <p:nvPr/>
        </p:nvSpPr>
        <p:spPr>
          <a:xfrm>
            <a:off x="5577840" y="2313432"/>
            <a:ext cx="146304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9B8DEEC-C9FB-43A3-A4C3-E7C9F1F3BB75}"/>
              </a:ext>
            </a:extLst>
          </p:cNvPr>
          <p:cNvSpPr>
            <a:spLocks noGrp="1"/>
          </p:cNvSpPr>
          <p:nvPr/>
        </p:nvSpPr>
        <p:spPr>
          <a:xfrm>
            <a:off x="5641848" y="2386584"/>
            <a:ext cx="133502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45%</a:t>
            </a:r>
            <a:endParaRPr sz="111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E272688-2C1B-4C96-8185-54CD9F8F9A8A}"/>
              </a:ext>
            </a:extLst>
          </p:cNvPr>
          <p:cNvSpPr>
            <a:spLocks noGrp="1"/>
          </p:cNvSpPr>
          <p:nvPr/>
        </p:nvSpPr>
        <p:spPr>
          <a:xfrm>
            <a:off x="868680" y="2706624"/>
            <a:ext cx="617220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87012F1-2EBC-4BE1-A88C-3F6D926E892E}"/>
              </a:ext>
            </a:extLst>
          </p:cNvPr>
          <p:cNvSpPr>
            <a:spLocks noGrp="1"/>
          </p:cNvSpPr>
          <p:nvPr/>
        </p:nvSpPr>
        <p:spPr>
          <a:xfrm>
            <a:off x="868680" y="2706624"/>
            <a:ext cx="338328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3B138E8-55F5-4FAA-BE01-448553BAD18E}"/>
              </a:ext>
            </a:extLst>
          </p:cNvPr>
          <p:cNvSpPr>
            <a:spLocks noGrp="1"/>
          </p:cNvSpPr>
          <p:nvPr/>
        </p:nvSpPr>
        <p:spPr>
          <a:xfrm>
            <a:off x="932688" y="2779776"/>
            <a:ext cx="325526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Rule-based detection</a:t>
            </a:r>
            <a:endParaRPr sz="111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30ED63E-7CCF-41F1-8F8A-0D4327C1331B}"/>
              </a:ext>
            </a:extLst>
          </p:cNvPr>
          <p:cNvSpPr>
            <a:spLocks noGrp="1"/>
          </p:cNvSpPr>
          <p:nvPr/>
        </p:nvSpPr>
        <p:spPr>
          <a:xfrm>
            <a:off x="4251960" y="2706624"/>
            <a:ext cx="132588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254F3BB-5FE0-4876-BEDE-D49175168FFA}"/>
              </a:ext>
            </a:extLst>
          </p:cNvPr>
          <p:cNvSpPr>
            <a:spLocks noGrp="1"/>
          </p:cNvSpPr>
          <p:nvPr/>
        </p:nvSpPr>
        <p:spPr>
          <a:xfrm>
            <a:off x="4315968" y="2779776"/>
            <a:ext cx="119786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8</a:t>
            </a:r>
            <a:endParaRPr sz="111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DF759122-7F04-471B-B4C7-CAE56F6ADD64}"/>
              </a:ext>
            </a:extLst>
          </p:cNvPr>
          <p:cNvSpPr>
            <a:spLocks noGrp="1"/>
          </p:cNvSpPr>
          <p:nvPr/>
        </p:nvSpPr>
        <p:spPr>
          <a:xfrm>
            <a:off x="5577840" y="2706624"/>
            <a:ext cx="146304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D0007BD-3867-4FE1-AF82-70E1FBFA183B}"/>
              </a:ext>
            </a:extLst>
          </p:cNvPr>
          <p:cNvSpPr>
            <a:spLocks noGrp="1"/>
          </p:cNvSpPr>
          <p:nvPr/>
        </p:nvSpPr>
        <p:spPr>
          <a:xfrm>
            <a:off x="5641848" y="2779776"/>
            <a:ext cx="133502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20%</a:t>
            </a:r>
            <a:endParaRPr sz="111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57EB391-1D78-4595-ADEE-3434C10F157D}"/>
              </a:ext>
            </a:extLst>
          </p:cNvPr>
          <p:cNvSpPr>
            <a:spLocks noGrp="1"/>
          </p:cNvSpPr>
          <p:nvPr/>
        </p:nvSpPr>
        <p:spPr>
          <a:xfrm>
            <a:off x="868680" y="3099816"/>
            <a:ext cx="617220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91BD5FC8-792D-431B-B9F2-FFA49B897237}"/>
              </a:ext>
            </a:extLst>
          </p:cNvPr>
          <p:cNvSpPr>
            <a:spLocks noGrp="1"/>
          </p:cNvSpPr>
          <p:nvPr/>
        </p:nvSpPr>
        <p:spPr>
          <a:xfrm>
            <a:off x="868680" y="3099816"/>
            <a:ext cx="338328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F62A7316-12BE-41C0-A1DA-9391BAF37B2B}"/>
              </a:ext>
            </a:extLst>
          </p:cNvPr>
          <p:cNvSpPr>
            <a:spLocks noGrp="1"/>
          </p:cNvSpPr>
          <p:nvPr/>
        </p:nvSpPr>
        <p:spPr>
          <a:xfrm>
            <a:off x="932688" y="3172968"/>
            <a:ext cx="325526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User-awareness training tools</a:t>
            </a:r>
            <a:endParaRPr sz="111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202209B9-63F3-4029-9C87-80F528E3824C}"/>
              </a:ext>
            </a:extLst>
          </p:cNvPr>
          <p:cNvSpPr>
            <a:spLocks noGrp="1"/>
          </p:cNvSpPr>
          <p:nvPr/>
        </p:nvSpPr>
        <p:spPr>
          <a:xfrm>
            <a:off x="4251960" y="3099816"/>
            <a:ext cx="132588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367EC6C-324A-4CC8-85B0-C8CDF2ED3366}"/>
              </a:ext>
            </a:extLst>
          </p:cNvPr>
          <p:cNvSpPr>
            <a:spLocks noGrp="1"/>
          </p:cNvSpPr>
          <p:nvPr/>
        </p:nvSpPr>
        <p:spPr>
          <a:xfrm>
            <a:off x="4315968" y="3172968"/>
            <a:ext cx="119786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7</a:t>
            </a:r>
            <a:endParaRPr sz="111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5ACE33CC-AD05-4CA9-8C0E-E49E9E24C6AC}"/>
              </a:ext>
            </a:extLst>
          </p:cNvPr>
          <p:cNvSpPr>
            <a:spLocks noGrp="1"/>
          </p:cNvSpPr>
          <p:nvPr/>
        </p:nvSpPr>
        <p:spPr>
          <a:xfrm>
            <a:off x="5577840" y="3099816"/>
            <a:ext cx="146304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4616A22-F0B0-4981-AC0B-FA7F9BA73650}"/>
              </a:ext>
            </a:extLst>
          </p:cNvPr>
          <p:cNvSpPr>
            <a:spLocks noGrp="1"/>
          </p:cNvSpPr>
          <p:nvPr/>
        </p:nvSpPr>
        <p:spPr>
          <a:xfrm>
            <a:off x="5641848" y="3172968"/>
            <a:ext cx="133502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17.5%</a:t>
            </a:r>
            <a:endParaRPr sz="111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462EE73F-ACB4-45E0-909B-8F97C7EA0858}"/>
              </a:ext>
            </a:extLst>
          </p:cNvPr>
          <p:cNvSpPr>
            <a:spLocks noGrp="1"/>
          </p:cNvSpPr>
          <p:nvPr/>
        </p:nvSpPr>
        <p:spPr>
          <a:xfrm>
            <a:off x="868680" y="3493008"/>
            <a:ext cx="617220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77DFC198-D299-4999-B4ED-CA5491B25602}"/>
              </a:ext>
            </a:extLst>
          </p:cNvPr>
          <p:cNvSpPr>
            <a:spLocks noGrp="1"/>
          </p:cNvSpPr>
          <p:nvPr/>
        </p:nvSpPr>
        <p:spPr>
          <a:xfrm>
            <a:off x="868680" y="3493008"/>
            <a:ext cx="338328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0AB0579F-E271-4234-8871-C9AC971AD9A2}"/>
              </a:ext>
            </a:extLst>
          </p:cNvPr>
          <p:cNvSpPr>
            <a:spLocks noGrp="1"/>
          </p:cNvSpPr>
          <p:nvPr/>
        </p:nvSpPr>
        <p:spPr>
          <a:xfrm>
            <a:off x="932688" y="3566160"/>
            <a:ext cx="325526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Browser/email plug-ins</a:t>
            </a:r>
            <a:endParaRPr sz="111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182170D5-8D68-49C2-AC82-36AFB634AB50}"/>
              </a:ext>
            </a:extLst>
          </p:cNvPr>
          <p:cNvSpPr>
            <a:spLocks noGrp="1"/>
          </p:cNvSpPr>
          <p:nvPr/>
        </p:nvSpPr>
        <p:spPr>
          <a:xfrm>
            <a:off x="4251960" y="3493008"/>
            <a:ext cx="132588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2E786732-DEF8-4C40-B269-61C62727B75F}"/>
              </a:ext>
            </a:extLst>
          </p:cNvPr>
          <p:cNvSpPr>
            <a:spLocks noGrp="1"/>
          </p:cNvSpPr>
          <p:nvPr/>
        </p:nvSpPr>
        <p:spPr>
          <a:xfrm>
            <a:off x="4315968" y="3566160"/>
            <a:ext cx="119786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5</a:t>
            </a:r>
            <a:endParaRPr sz="111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32A92143-C06A-4DE5-B191-7A14B8209634}"/>
              </a:ext>
            </a:extLst>
          </p:cNvPr>
          <p:cNvSpPr>
            <a:spLocks noGrp="1"/>
          </p:cNvSpPr>
          <p:nvPr/>
        </p:nvSpPr>
        <p:spPr>
          <a:xfrm>
            <a:off x="5577840" y="3493008"/>
            <a:ext cx="146304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1E23782D-3A31-4476-9CC5-997F8C8EBBDF}"/>
              </a:ext>
            </a:extLst>
          </p:cNvPr>
          <p:cNvSpPr>
            <a:spLocks noGrp="1"/>
          </p:cNvSpPr>
          <p:nvPr/>
        </p:nvSpPr>
        <p:spPr>
          <a:xfrm>
            <a:off x="5641848" y="3566160"/>
            <a:ext cx="133502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12.5%</a:t>
            </a:r>
            <a:endParaRPr sz="111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7F320F6A-39B8-49E6-A6B3-42112FEA6BEF}"/>
              </a:ext>
            </a:extLst>
          </p:cNvPr>
          <p:cNvSpPr>
            <a:spLocks noGrp="1"/>
          </p:cNvSpPr>
          <p:nvPr/>
        </p:nvSpPr>
        <p:spPr>
          <a:xfrm>
            <a:off x="868680" y="3886200"/>
            <a:ext cx="617220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5340C91F-7233-4730-BB8A-CA881817D956}"/>
              </a:ext>
            </a:extLst>
          </p:cNvPr>
          <p:cNvSpPr>
            <a:spLocks noGrp="1"/>
          </p:cNvSpPr>
          <p:nvPr/>
        </p:nvSpPr>
        <p:spPr>
          <a:xfrm>
            <a:off x="868680" y="3886200"/>
            <a:ext cx="338328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9BEA2070-B131-455D-91B7-14C8CC6E35BD}"/>
              </a:ext>
            </a:extLst>
          </p:cNvPr>
          <p:cNvSpPr>
            <a:spLocks noGrp="1"/>
          </p:cNvSpPr>
          <p:nvPr/>
        </p:nvSpPr>
        <p:spPr>
          <a:xfrm>
            <a:off x="932688" y="3959352"/>
            <a:ext cx="325526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Other</a:t>
            </a:r>
            <a:endParaRPr sz="111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F090B7F6-24D4-4709-9C50-CA7CCB8758EE}"/>
              </a:ext>
            </a:extLst>
          </p:cNvPr>
          <p:cNvSpPr>
            <a:spLocks noGrp="1"/>
          </p:cNvSpPr>
          <p:nvPr/>
        </p:nvSpPr>
        <p:spPr>
          <a:xfrm>
            <a:off x="4251960" y="3886200"/>
            <a:ext cx="132588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195F4DB5-63A5-450D-B67A-70CC615B8164}"/>
              </a:ext>
            </a:extLst>
          </p:cNvPr>
          <p:cNvSpPr>
            <a:spLocks noGrp="1"/>
          </p:cNvSpPr>
          <p:nvPr/>
        </p:nvSpPr>
        <p:spPr>
          <a:xfrm>
            <a:off x="4315968" y="3959352"/>
            <a:ext cx="119786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2</a:t>
            </a:r>
            <a:endParaRPr sz="111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5D778819-FF9F-4804-A43D-64E7F9AE4B73}"/>
              </a:ext>
            </a:extLst>
          </p:cNvPr>
          <p:cNvSpPr>
            <a:spLocks noGrp="1"/>
          </p:cNvSpPr>
          <p:nvPr/>
        </p:nvSpPr>
        <p:spPr>
          <a:xfrm>
            <a:off x="5577840" y="3886200"/>
            <a:ext cx="146304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5FACEA4A-7ECB-401C-84DB-7B572A81C6F6}"/>
              </a:ext>
            </a:extLst>
          </p:cNvPr>
          <p:cNvSpPr>
            <a:spLocks noGrp="1"/>
          </p:cNvSpPr>
          <p:nvPr/>
        </p:nvSpPr>
        <p:spPr>
          <a:xfrm>
            <a:off x="5641848" y="3959352"/>
            <a:ext cx="133502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5%</a:t>
            </a:r>
            <a:endParaRPr sz="111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1C65FE0A-60A9-47EA-9513-FB7AC0A203EA}"/>
              </a:ext>
            </a:extLst>
          </p:cNvPr>
          <p:cNvSpPr>
            <a:spLocks noGrp="1"/>
          </p:cNvSpPr>
          <p:nvPr/>
        </p:nvSpPr>
        <p:spPr>
          <a:xfrm>
            <a:off x="868680" y="4279392"/>
            <a:ext cx="617220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AD5C1E8B-ACFA-410F-AD86-8E133B30A9D3}"/>
              </a:ext>
            </a:extLst>
          </p:cNvPr>
          <p:cNvSpPr>
            <a:spLocks noGrp="1"/>
          </p:cNvSpPr>
          <p:nvPr/>
        </p:nvSpPr>
        <p:spPr>
          <a:xfrm>
            <a:off x="868680" y="4279392"/>
            <a:ext cx="338328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6437226B-B7FB-4106-B710-D19D22258B11}"/>
              </a:ext>
            </a:extLst>
          </p:cNvPr>
          <p:cNvSpPr>
            <a:spLocks noGrp="1"/>
          </p:cNvSpPr>
          <p:nvPr/>
        </p:nvSpPr>
        <p:spPr>
          <a:xfrm>
            <a:off x="932688" y="4352544"/>
            <a:ext cx="325526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Total</a:t>
            </a:r>
            <a:endParaRPr sz="111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96EB9A18-B707-4B57-B4BF-9510331C928E}"/>
              </a:ext>
            </a:extLst>
          </p:cNvPr>
          <p:cNvSpPr>
            <a:spLocks noGrp="1"/>
          </p:cNvSpPr>
          <p:nvPr/>
        </p:nvSpPr>
        <p:spPr>
          <a:xfrm>
            <a:off x="4251960" y="4279392"/>
            <a:ext cx="132588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611FD9AC-0336-4428-BAE1-01231A4E6298}"/>
              </a:ext>
            </a:extLst>
          </p:cNvPr>
          <p:cNvSpPr>
            <a:spLocks noGrp="1"/>
          </p:cNvSpPr>
          <p:nvPr/>
        </p:nvSpPr>
        <p:spPr>
          <a:xfrm>
            <a:off x="4315968" y="4352544"/>
            <a:ext cx="119786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40</a:t>
            </a:r>
            <a:endParaRPr sz="111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CF585718-6DD0-41DF-90DA-925F09C030FC}"/>
              </a:ext>
            </a:extLst>
          </p:cNvPr>
          <p:cNvSpPr>
            <a:spLocks noGrp="1"/>
          </p:cNvSpPr>
          <p:nvPr/>
        </p:nvSpPr>
        <p:spPr>
          <a:xfrm>
            <a:off x="5577840" y="4279392"/>
            <a:ext cx="1463040" cy="3931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F8E5C168-8158-47CB-BD1B-2B2056D02BC6}"/>
              </a:ext>
            </a:extLst>
          </p:cNvPr>
          <p:cNvSpPr>
            <a:spLocks noGrp="1"/>
          </p:cNvSpPr>
          <p:nvPr/>
        </p:nvSpPr>
        <p:spPr>
          <a:xfrm>
            <a:off x="5641848" y="4352544"/>
            <a:ext cx="1335024" cy="3017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110">
                <a:solidFill>
                  <a:srgbClr val="18212A"/>
                </a:solidFill>
                <a:latin typeface="Aptos"/>
                <a:ea typeface="Aptos"/>
                <a:cs typeface="Aptos"/>
              </a:rPr>
              <a:t>100%</a:t>
            </a:r>
            <a:endParaRPr sz="111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B9BA257E-E842-4E2F-9F18-A386B15B91BC}"/>
              </a:ext>
            </a:extLst>
          </p:cNvPr>
          <p:cNvSpPr>
            <a:spLocks noGrp="1"/>
          </p:cNvSpPr>
          <p:nvPr/>
        </p:nvSpPr>
        <p:spPr>
          <a:xfrm>
            <a:off x="868680" y="4672584"/>
            <a:ext cx="617220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F6E19EF9-F7D7-4D66-8F4E-6FB8534F72E4}"/>
              </a:ext>
            </a:extLst>
          </p:cNvPr>
          <p:cNvSpPr>
            <a:spLocks noGrp="1"/>
          </p:cNvSpPr>
          <p:nvPr/>
        </p:nvSpPr>
        <p:spPr>
          <a:xfrm>
            <a:off x="7315200" y="1920240"/>
            <a:ext cx="3474720" cy="0"/>
          </a:xfrm>
          <a:prstGeom prst="line">
            <a:avLst/>
          </a:prstGeom>
          <a:noFill/>
          <a:ln w="41910">
            <a:solidFill>
              <a:srgbClr val="0F5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2F15A28E-B945-4AF4-BD06-5AA3439F68CC}"/>
              </a:ext>
            </a:extLst>
          </p:cNvPr>
          <p:cNvSpPr>
            <a:spLocks noGrp="1"/>
          </p:cNvSpPr>
          <p:nvPr/>
        </p:nvSpPr>
        <p:spPr>
          <a:xfrm>
            <a:off x="7315200" y="207568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0F5E5A"/>
                </a:solidFill>
                <a:latin typeface="Aptos"/>
                <a:ea typeface="Aptos"/>
                <a:cs typeface="Aptos"/>
              </a:rPr>
              <a:t>How this applies to the lecture</a:t>
            </a:r>
            <a:endParaRPr sz="180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5B10A7C4-8F58-4B9C-8CCB-6E62B1BC031B}"/>
              </a:ext>
            </a:extLst>
          </p:cNvPr>
          <p:cNvSpPr>
            <a:spLocks noGrp="1"/>
          </p:cNvSpPr>
          <p:nvPr/>
        </p:nvSpPr>
        <p:spPr>
          <a:xfrm>
            <a:off x="7315200" y="2514600"/>
            <a:ext cx="3657600" cy="160020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 fontScale="92500" lnSpcReduction="10000"/>
          </a:bodyPr>
          <a:lstStyle/>
          <a:p>
            <a:pPr marL="0" indent="0">
              <a:buNone/>
            </a:pPr>
            <a:r>
              <a:rPr sz="1580" b="1">
                <a:solidFill>
                  <a:srgbClr val="0F5E5A"/>
                </a:solidFill>
                <a:latin typeface="Aptos"/>
                <a:ea typeface="Aptos"/>
                <a:cs typeface="Aptos"/>
              </a:rPr>
              <a:t>• </a:t>
            </a:r>
            <a:r>
              <a:rPr sz="1580">
                <a:solidFill>
                  <a:srgbClr val="18212A"/>
                </a:solidFill>
                <a:latin typeface="Aptos"/>
                <a:ea typeface="Aptos"/>
                <a:cs typeface="Aptos"/>
              </a:rPr>
              <a:t>This is the same logic as a frequency table
</a:t>
            </a:r>
            <a:r>
              <a:rPr sz="1580" b="1">
                <a:solidFill>
                  <a:srgbClr val="0F5E5A"/>
                </a:solidFill>
                <a:latin typeface="Aptos"/>
                <a:ea typeface="Aptos"/>
                <a:cs typeface="Aptos"/>
              </a:rPr>
              <a:t>• </a:t>
            </a:r>
            <a:r>
              <a:rPr sz="1580">
                <a:solidFill>
                  <a:srgbClr val="18212A"/>
                </a:solidFill>
                <a:latin typeface="Aptos"/>
                <a:ea typeface="Aptos"/>
                <a:cs typeface="Aptos"/>
              </a:rPr>
              <a:t>Each paper is one unit in your dataset
</a:t>
            </a:r>
            <a:r>
              <a:rPr sz="1580" b="1">
                <a:solidFill>
                  <a:srgbClr val="0F5E5A"/>
                </a:solidFill>
                <a:latin typeface="Aptos"/>
                <a:ea typeface="Aptos"/>
                <a:cs typeface="Aptos"/>
              </a:rPr>
              <a:t>• </a:t>
            </a:r>
            <a:r>
              <a:rPr sz="1580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categories must be defined before counting
</a:t>
            </a:r>
            <a:r>
              <a:rPr sz="1580" b="1">
                <a:solidFill>
                  <a:srgbClr val="0F5E5A"/>
                </a:solidFill>
                <a:latin typeface="Aptos"/>
                <a:ea typeface="Aptos"/>
                <a:cs typeface="Aptos"/>
              </a:rPr>
              <a:t>• </a:t>
            </a:r>
            <a:r>
              <a:rPr sz="1580">
                <a:solidFill>
                  <a:srgbClr val="18212A"/>
                </a:solidFill>
                <a:latin typeface="Aptos"/>
                <a:ea typeface="Aptos"/>
                <a:cs typeface="Aptos"/>
              </a:rPr>
              <a:t>Percentages help readers see the pattern quickly
</a:t>
            </a:r>
            <a:endParaRPr sz="1580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1F119BA7-C339-49CD-B34B-4855FBF2FB71}"/>
              </a:ext>
            </a:extLst>
          </p:cNvPr>
          <p:cNvSpPr>
            <a:spLocks noGrp="1"/>
          </p:cNvSpPr>
          <p:nvPr/>
        </p:nvSpPr>
        <p:spPr>
          <a:xfrm>
            <a:off x="960120" y="5394960"/>
            <a:ext cx="10241280" cy="384048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 fontScale="70000" lnSpcReduction="20000"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SLR output: “Most included studies used machine learning classifiers, while fewer focused on user-awareness tools.”</a:t>
            </a:r>
            <a:endParaRPr sz="2000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E8F78EB1-82D7-4272-967E-A94CE51C2F77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00">
                <a:solidFill>
                  <a:srgbClr val="56616B"/>
                </a:solidFill>
              </a:rPr>
              <a:t>07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90347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55AAB14-A9B7-4EA9-B854-658D98B0767A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endParaRPr sz="800"/>
          </a:p>
        </p:txBody>
      </p:sp>
      <p:sp>
        <p:nvSpPr>
          <p:cNvPr id="5" name="Editable text S08 L01">
            <a:extLst>
              <a:ext uri="{FF2B5EF4-FFF2-40B4-BE49-F238E27FC236}">
                <a16:creationId xmlns:a16="http://schemas.microsoft.com/office/drawing/2014/main" id="{239CCFAE-075C-487F-A508-03D89A8F9DEA}"/>
              </a:ext>
            </a:extLst>
          </p:cNvPr>
          <p:cNvSpPr>
            <a:spLocks noGrp="1"/>
          </p:cNvSpPr>
          <p:nvPr/>
        </p:nvSpPr>
        <p:spPr>
          <a:xfrm>
            <a:off x="646336" y="339090"/>
            <a:ext cx="691145" cy="253022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12" b="1">
                <a:solidFill>
                  <a:srgbClr val="0F5E5A"/>
                </a:solidFill>
                <a:latin typeface="Aptos"/>
                <a:ea typeface="Aptos"/>
                <a:cs typeface="Aptos"/>
              </a:defRPr>
            </a:pPr>
            <a:endParaRPr sz="612" b="1">
              <a:solidFill>
                <a:srgbClr val="0F5E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Editable text S08 L02">
            <a:extLst>
              <a:ext uri="{FF2B5EF4-FFF2-40B4-BE49-F238E27FC236}">
                <a16:creationId xmlns:a16="http://schemas.microsoft.com/office/drawing/2014/main" id="{4F21B334-44F6-4455-B01B-E23ECA27AB49}"/>
              </a:ext>
            </a:extLst>
          </p:cNvPr>
          <p:cNvSpPr>
            <a:spLocks noGrp="1"/>
          </p:cNvSpPr>
          <p:nvPr/>
        </p:nvSpPr>
        <p:spPr>
          <a:xfrm>
            <a:off x="643289" y="592112"/>
            <a:ext cx="9816514" cy="406451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6841" lnSpcReduction="10000"/>
          </a:bodyPr>
          <a:lstStyle/>
          <a:p>
            <a:pPr algn="l">
              <a:buNone/>
              <a:defRPr sz="2754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54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Descriptive statistics: describe the centre and the spread</a:t>
            </a:r>
          </a:p>
        </p:txBody>
      </p:sp>
      <p:sp>
        <p:nvSpPr>
          <p:cNvPr id="7" name="Editable text S08 L03">
            <a:extLst>
              <a:ext uri="{FF2B5EF4-FFF2-40B4-BE49-F238E27FC236}">
                <a16:creationId xmlns:a16="http://schemas.microsoft.com/office/drawing/2014/main" id="{3BB489A8-CAEB-4ED4-BB76-13AB4728B537}"/>
              </a:ext>
            </a:extLst>
          </p:cNvPr>
          <p:cNvSpPr>
            <a:spLocks noGrp="1"/>
          </p:cNvSpPr>
          <p:nvPr/>
        </p:nvSpPr>
        <p:spPr>
          <a:xfrm>
            <a:off x="1865148" y="1479141"/>
            <a:ext cx="2514273" cy="339273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8330"/>
          </a:bodyPr>
          <a:lstStyle/>
          <a:p>
            <a:pPr algn="l">
              <a:buNone/>
              <a:defRPr sz="2264" b="1">
                <a:solidFill>
                  <a:srgbClr val="315D9D"/>
                </a:solidFill>
                <a:latin typeface="Aptos Display"/>
                <a:ea typeface="Aptos Display"/>
                <a:cs typeface="Aptos Display"/>
              </a:defRPr>
            </a:pPr>
            <a:r>
              <a:rPr sz="2264" b="1">
                <a:solidFill>
                  <a:srgbClr val="315D9D"/>
                </a:solidFill>
                <a:latin typeface="Aptos Display"/>
                <a:ea typeface="Aptos Display"/>
                <a:cs typeface="Aptos Display"/>
              </a:rPr>
              <a:t>Central tendency</a:t>
            </a:r>
          </a:p>
        </p:txBody>
      </p:sp>
      <p:sp>
        <p:nvSpPr>
          <p:cNvPr id="8" name="Editable text S08 L04">
            <a:extLst>
              <a:ext uri="{FF2B5EF4-FFF2-40B4-BE49-F238E27FC236}">
                <a16:creationId xmlns:a16="http://schemas.microsoft.com/office/drawing/2014/main" id="{CBFE0163-A517-4CDB-AB08-9227FDDB91CF}"/>
              </a:ext>
            </a:extLst>
          </p:cNvPr>
          <p:cNvSpPr>
            <a:spLocks noGrp="1"/>
          </p:cNvSpPr>
          <p:nvPr/>
        </p:nvSpPr>
        <p:spPr>
          <a:xfrm>
            <a:off x="8045343" y="1483340"/>
            <a:ext cx="1572936" cy="330876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8552" lnSpcReduction="10000"/>
          </a:bodyPr>
          <a:lstStyle/>
          <a:p>
            <a:pPr algn="l">
              <a:buNone/>
              <a:defRPr sz="2203" b="1">
                <a:solidFill>
                  <a:srgbClr val="C98518"/>
                </a:solidFill>
                <a:latin typeface="Aptos"/>
                <a:ea typeface="Aptos"/>
                <a:cs typeface="Aptos"/>
              </a:defRPr>
            </a:pPr>
            <a:r>
              <a:rPr sz="2203" b="1">
                <a:solidFill>
                  <a:srgbClr val="C98518"/>
                </a:solidFill>
                <a:latin typeface="Aptos"/>
                <a:ea typeface="Aptos"/>
                <a:cs typeface="Aptos"/>
              </a:rPr>
              <a:t>Dispersion</a:t>
            </a:r>
          </a:p>
        </p:txBody>
      </p:sp>
      <p:sp>
        <p:nvSpPr>
          <p:cNvPr id="17" name="Editable text S08 L13">
            <a:extLst>
              <a:ext uri="{FF2B5EF4-FFF2-40B4-BE49-F238E27FC236}">
                <a16:creationId xmlns:a16="http://schemas.microsoft.com/office/drawing/2014/main" id="{1759C6B3-E787-4660-B905-8C511ED73069}"/>
              </a:ext>
            </a:extLst>
          </p:cNvPr>
          <p:cNvSpPr>
            <a:spLocks noGrp="1"/>
          </p:cNvSpPr>
          <p:nvPr/>
        </p:nvSpPr>
        <p:spPr>
          <a:xfrm>
            <a:off x="1160365" y="4282440"/>
            <a:ext cx="352292" cy="20764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5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5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3s</a:t>
            </a:r>
          </a:p>
        </p:txBody>
      </p:sp>
      <p:sp>
        <p:nvSpPr>
          <p:cNvPr id="18" name="Editable text S08 L14">
            <a:extLst>
              <a:ext uri="{FF2B5EF4-FFF2-40B4-BE49-F238E27FC236}">
                <a16:creationId xmlns:a16="http://schemas.microsoft.com/office/drawing/2014/main" id="{EE344A4B-6B20-483F-BEB9-7BB5059207D8}"/>
              </a:ext>
            </a:extLst>
          </p:cNvPr>
          <p:cNvSpPr>
            <a:spLocks noGrp="1"/>
          </p:cNvSpPr>
          <p:nvPr/>
        </p:nvSpPr>
        <p:spPr>
          <a:xfrm>
            <a:off x="2165576" y="4286250"/>
            <a:ext cx="352292" cy="2038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24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24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5s</a:t>
            </a:r>
          </a:p>
        </p:txBody>
      </p:sp>
      <p:sp>
        <p:nvSpPr>
          <p:cNvPr id="19" name="Editable text S08 L15">
            <a:extLst>
              <a:ext uri="{FF2B5EF4-FFF2-40B4-BE49-F238E27FC236}">
                <a16:creationId xmlns:a16="http://schemas.microsoft.com/office/drawing/2014/main" id="{9A989CC1-E79D-4AE1-9943-1E64A80EB834}"/>
              </a:ext>
            </a:extLst>
          </p:cNvPr>
          <p:cNvSpPr>
            <a:spLocks noGrp="1"/>
          </p:cNvSpPr>
          <p:nvPr/>
        </p:nvSpPr>
        <p:spPr>
          <a:xfrm>
            <a:off x="3170788" y="4282440"/>
            <a:ext cx="352292" cy="20764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5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5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6s</a:t>
            </a:r>
          </a:p>
        </p:txBody>
      </p:sp>
      <p:sp>
        <p:nvSpPr>
          <p:cNvPr id="20" name="Editable text S08 L16">
            <a:extLst>
              <a:ext uri="{FF2B5EF4-FFF2-40B4-BE49-F238E27FC236}">
                <a16:creationId xmlns:a16="http://schemas.microsoft.com/office/drawing/2014/main" id="{C48ED994-A1B4-4D2F-B9B9-3B245B75D1CB}"/>
              </a:ext>
            </a:extLst>
          </p:cNvPr>
          <p:cNvSpPr>
            <a:spLocks noGrp="1"/>
          </p:cNvSpPr>
          <p:nvPr/>
        </p:nvSpPr>
        <p:spPr>
          <a:xfrm>
            <a:off x="4168385" y="4282440"/>
            <a:ext cx="359907" cy="20764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5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5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4s</a:t>
            </a:r>
          </a:p>
        </p:txBody>
      </p:sp>
      <p:sp>
        <p:nvSpPr>
          <p:cNvPr id="21" name="Editable text S08 L17">
            <a:extLst>
              <a:ext uri="{FF2B5EF4-FFF2-40B4-BE49-F238E27FC236}">
                <a16:creationId xmlns:a16="http://schemas.microsoft.com/office/drawing/2014/main" id="{0BD6DA10-A73D-4F8A-9961-E8C4B3A11F0C}"/>
              </a:ext>
            </a:extLst>
          </p:cNvPr>
          <p:cNvSpPr>
            <a:spLocks noGrp="1"/>
          </p:cNvSpPr>
          <p:nvPr/>
        </p:nvSpPr>
        <p:spPr>
          <a:xfrm>
            <a:off x="6689029" y="4282440"/>
            <a:ext cx="352292" cy="20764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5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5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2s</a:t>
            </a:r>
          </a:p>
        </p:txBody>
      </p:sp>
      <p:sp>
        <p:nvSpPr>
          <p:cNvPr id="22" name="Editable text S08 L18">
            <a:extLst>
              <a:ext uri="{FF2B5EF4-FFF2-40B4-BE49-F238E27FC236}">
                <a16:creationId xmlns:a16="http://schemas.microsoft.com/office/drawing/2014/main" id="{32B0BAED-FC68-47F6-B224-23D07307B882}"/>
              </a:ext>
            </a:extLst>
          </p:cNvPr>
          <p:cNvSpPr>
            <a:spLocks noGrp="1"/>
          </p:cNvSpPr>
          <p:nvPr/>
        </p:nvSpPr>
        <p:spPr>
          <a:xfrm>
            <a:off x="7465784" y="4282440"/>
            <a:ext cx="352292" cy="20764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5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5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3s</a:t>
            </a:r>
          </a:p>
        </p:txBody>
      </p:sp>
      <p:sp>
        <p:nvSpPr>
          <p:cNvPr id="23" name="Editable text S08 L19">
            <a:extLst>
              <a:ext uri="{FF2B5EF4-FFF2-40B4-BE49-F238E27FC236}">
                <a16:creationId xmlns:a16="http://schemas.microsoft.com/office/drawing/2014/main" id="{EA98E739-74FE-45C0-9B55-71556865405E}"/>
              </a:ext>
            </a:extLst>
          </p:cNvPr>
          <p:cNvSpPr>
            <a:spLocks noGrp="1"/>
          </p:cNvSpPr>
          <p:nvPr/>
        </p:nvSpPr>
        <p:spPr>
          <a:xfrm>
            <a:off x="8234923" y="4282440"/>
            <a:ext cx="359907" cy="20764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5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5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4s</a:t>
            </a:r>
          </a:p>
        </p:txBody>
      </p:sp>
      <p:sp>
        <p:nvSpPr>
          <p:cNvPr id="24" name="Editable text S08 L20">
            <a:extLst>
              <a:ext uri="{FF2B5EF4-FFF2-40B4-BE49-F238E27FC236}">
                <a16:creationId xmlns:a16="http://schemas.microsoft.com/office/drawing/2014/main" id="{51596448-3C34-4E6C-8D4A-FC681E735E69}"/>
              </a:ext>
            </a:extLst>
          </p:cNvPr>
          <p:cNvSpPr>
            <a:spLocks noGrp="1"/>
          </p:cNvSpPr>
          <p:nvPr/>
        </p:nvSpPr>
        <p:spPr>
          <a:xfrm>
            <a:off x="9019293" y="4286250"/>
            <a:ext cx="352292" cy="2038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24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24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5s</a:t>
            </a:r>
          </a:p>
        </p:txBody>
      </p:sp>
      <p:sp>
        <p:nvSpPr>
          <p:cNvPr id="25" name="Editable text S08 L21">
            <a:extLst>
              <a:ext uri="{FF2B5EF4-FFF2-40B4-BE49-F238E27FC236}">
                <a16:creationId xmlns:a16="http://schemas.microsoft.com/office/drawing/2014/main" id="{47FB7A21-9FB4-4A5D-A0F0-FC801FB49CD1}"/>
              </a:ext>
            </a:extLst>
          </p:cNvPr>
          <p:cNvSpPr>
            <a:spLocks noGrp="1"/>
          </p:cNvSpPr>
          <p:nvPr/>
        </p:nvSpPr>
        <p:spPr>
          <a:xfrm>
            <a:off x="9735125" y="4282440"/>
            <a:ext cx="474136" cy="20764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55" b="0">
                <a:solidFill>
                  <a:srgbClr val="B04A4A"/>
                </a:solidFill>
                <a:latin typeface="Aptos"/>
                <a:ea typeface="Aptos"/>
                <a:cs typeface="Aptos"/>
              </a:defRPr>
            </a:pPr>
            <a:r>
              <a:rPr sz="1255" b="0">
                <a:solidFill>
                  <a:srgbClr val="B04A4A"/>
                </a:solidFill>
                <a:latin typeface="Aptos"/>
                <a:ea typeface="Aptos"/>
                <a:cs typeface="Aptos"/>
              </a:rPr>
              <a:t>50s</a:t>
            </a:r>
          </a:p>
        </p:txBody>
      </p:sp>
      <p:sp>
        <p:nvSpPr>
          <p:cNvPr id="29" name="Editable text S08 L25">
            <a:extLst>
              <a:ext uri="{FF2B5EF4-FFF2-40B4-BE49-F238E27FC236}">
                <a16:creationId xmlns:a16="http://schemas.microsoft.com/office/drawing/2014/main" id="{4C08E29F-25F8-4CA1-BC2C-291F5C3BAC49}"/>
              </a:ext>
            </a:extLst>
          </p:cNvPr>
          <p:cNvSpPr>
            <a:spLocks noGrp="1"/>
          </p:cNvSpPr>
          <p:nvPr/>
        </p:nvSpPr>
        <p:spPr>
          <a:xfrm>
            <a:off x="11527564" y="6593205"/>
            <a:ext cx="243771" cy="1200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00" b="0">
                <a:solidFill>
                  <a:srgbClr val="D5D9DC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D5D9D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72077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7C1C3EB-2CDC-402F-B0AE-4E05A3A2F83B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endParaRPr sz="800"/>
          </a:p>
        </p:txBody>
      </p:sp>
      <p:sp>
        <p:nvSpPr>
          <p:cNvPr id="5" name="Editable text S13 L01">
            <a:extLst>
              <a:ext uri="{FF2B5EF4-FFF2-40B4-BE49-F238E27FC236}">
                <a16:creationId xmlns:a16="http://schemas.microsoft.com/office/drawing/2014/main" id="{C258012D-156E-4FB4-9C07-8F64F76EFA6F}"/>
              </a:ext>
            </a:extLst>
          </p:cNvPr>
          <p:cNvSpPr>
            <a:spLocks noGrp="1"/>
          </p:cNvSpPr>
          <p:nvPr/>
        </p:nvSpPr>
        <p:spPr>
          <a:xfrm>
            <a:off x="646336" y="212462"/>
            <a:ext cx="718440" cy="254264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12" b="1">
                <a:solidFill>
                  <a:srgbClr val="0F5E5A"/>
                </a:solidFill>
                <a:latin typeface="Aptos"/>
                <a:ea typeface="Aptos"/>
                <a:cs typeface="Aptos"/>
              </a:defRPr>
            </a:pPr>
            <a:endParaRPr sz="612" b="1">
              <a:solidFill>
                <a:srgbClr val="0F5E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Editable text S13 L02">
            <a:extLst>
              <a:ext uri="{FF2B5EF4-FFF2-40B4-BE49-F238E27FC236}">
                <a16:creationId xmlns:a16="http://schemas.microsoft.com/office/drawing/2014/main" id="{B1DF405E-AF3F-4098-9D17-0841B3781198}"/>
              </a:ext>
            </a:extLst>
          </p:cNvPr>
          <p:cNvSpPr>
            <a:spLocks noGrp="1"/>
          </p:cNvSpPr>
          <p:nvPr/>
        </p:nvSpPr>
        <p:spPr>
          <a:xfrm>
            <a:off x="620230" y="588108"/>
            <a:ext cx="10030168" cy="410649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6752" lnSpcReduction="10000"/>
          </a:bodyPr>
          <a:lstStyle/>
          <a:p>
            <a:pPr algn="l">
              <a:buNone/>
              <a:defRPr sz="2785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85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Inferential statistics: moving from sample to wider claims</a:t>
            </a:r>
          </a:p>
        </p:txBody>
      </p:sp>
      <p:sp>
        <p:nvSpPr>
          <p:cNvPr id="32" name="Editable text S13 L28">
            <a:extLst>
              <a:ext uri="{FF2B5EF4-FFF2-40B4-BE49-F238E27FC236}">
                <a16:creationId xmlns:a16="http://schemas.microsoft.com/office/drawing/2014/main" id="{FB530253-BD7E-4542-B2DF-477D84D6576D}"/>
              </a:ext>
            </a:extLst>
          </p:cNvPr>
          <p:cNvSpPr>
            <a:spLocks noGrp="1"/>
          </p:cNvSpPr>
          <p:nvPr/>
        </p:nvSpPr>
        <p:spPr>
          <a:xfrm>
            <a:off x="11527564" y="6593205"/>
            <a:ext cx="239963" cy="1200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00" b="0">
                <a:solidFill>
                  <a:srgbClr val="939AA1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39AA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91326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52E9A8F-A3F8-4D2F-8297-AE43C83B93A6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endParaRPr sz="800"/>
          </a:p>
        </p:txBody>
      </p:sp>
      <p:sp>
        <p:nvSpPr>
          <p:cNvPr id="5" name="Editable text S14 L01">
            <a:extLst>
              <a:ext uri="{FF2B5EF4-FFF2-40B4-BE49-F238E27FC236}">
                <a16:creationId xmlns:a16="http://schemas.microsoft.com/office/drawing/2014/main" id="{D3EABF85-5FC4-4CAB-86DA-DAC40B72D564}"/>
              </a:ext>
            </a:extLst>
          </p:cNvPr>
          <p:cNvSpPr>
            <a:spLocks noGrp="1"/>
          </p:cNvSpPr>
          <p:nvPr/>
        </p:nvSpPr>
        <p:spPr>
          <a:xfrm>
            <a:off x="650143" y="67896"/>
            <a:ext cx="1260544" cy="406450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12" b="1">
                <a:solidFill>
                  <a:srgbClr val="0F5E5A"/>
                </a:solidFill>
                <a:latin typeface="Aptos"/>
                <a:ea typeface="Aptos"/>
                <a:cs typeface="Aptos"/>
              </a:defRPr>
            </a:pPr>
            <a:endParaRPr sz="612" b="1">
              <a:solidFill>
                <a:srgbClr val="0F5E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Editable text S14 L02">
            <a:extLst>
              <a:ext uri="{FF2B5EF4-FFF2-40B4-BE49-F238E27FC236}">
                <a16:creationId xmlns:a16="http://schemas.microsoft.com/office/drawing/2014/main" id="{7782D400-45F2-4021-999B-219E87752B5E}"/>
              </a:ext>
            </a:extLst>
          </p:cNvPr>
          <p:cNvSpPr>
            <a:spLocks noGrp="1"/>
          </p:cNvSpPr>
          <p:nvPr/>
        </p:nvSpPr>
        <p:spPr>
          <a:xfrm>
            <a:off x="628059" y="599732"/>
            <a:ext cx="8818917" cy="406451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6841" lnSpcReduction="10000"/>
          </a:bodyPr>
          <a:lstStyle/>
          <a:p>
            <a:pPr algn="l">
              <a:buNone/>
              <a:defRPr sz="2754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54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ICT example: matching the test to the ICT question</a:t>
            </a:r>
          </a:p>
        </p:txBody>
      </p:sp>
      <p:sp>
        <p:nvSpPr>
          <p:cNvPr id="7" name="Editable text S14 L03">
            <a:extLst>
              <a:ext uri="{FF2B5EF4-FFF2-40B4-BE49-F238E27FC236}">
                <a16:creationId xmlns:a16="http://schemas.microsoft.com/office/drawing/2014/main" id="{58998D9D-B583-41FA-8289-D496201CA044}"/>
              </a:ext>
            </a:extLst>
          </p:cNvPr>
          <p:cNvSpPr>
            <a:spLocks noGrp="1"/>
          </p:cNvSpPr>
          <p:nvPr/>
        </p:nvSpPr>
        <p:spPr>
          <a:xfrm>
            <a:off x="703436" y="1329690"/>
            <a:ext cx="9932293" cy="2724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775" b="1">
                <a:solidFill>
                  <a:srgbClr val="26323F"/>
                </a:solidFill>
                <a:latin typeface="Aptos"/>
                <a:ea typeface="Aptos"/>
                <a:cs typeface="Aptos"/>
              </a:defRPr>
            </a:pPr>
            <a:r>
              <a:rPr sz="1775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Inferential statistics help you decide whether the sample pattern may matter more widely.</a:t>
            </a:r>
          </a:p>
        </p:txBody>
      </p:sp>
      <p:sp>
        <p:nvSpPr>
          <p:cNvPr id="30" name="Editable text S14 L26">
            <a:extLst>
              <a:ext uri="{FF2B5EF4-FFF2-40B4-BE49-F238E27FC236}">
                <a16:creationId xmlns:a16="http://schemas.microsoft.com/office/drawing/2014/main" id="{00EBFDA9-9CCC-45EB-B294-F696E9AF6164}"/>
              </a:ext>
            </a:extLst>
          </p:cNvPr>
          <p:cNvSpPr>
            <a:spLocks noGrp="1"/>
          </p:cNvSpPr>
          <p:nvPr/>
        </p:nvSpPr>
        <p:spPr>
          <a:xfrm>
            <a:off x="1046136" y="5280660"/>
            <a:ext cx="10107415" cy="25717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652" b="1">
                <a:solidFill>
                  <a:srgbClr val="26323F"/>
                </a:solidFill>
                <a:latin typeface="Aptos"/>
                <a:ea typeface="Aptos"/>
                <a:cs typeface="Aptos"/>
              </a:defRPr>
            </a:pPr>
            <a:r>
              <a:rPr sz="1652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Do not choose the test first. Start with the ICT research question and the type of data you collected</a:t>
            </a:r>
          </a:p>
        </p:txBody>
      </p:sp>
      <p:sp>
        <p:nvSpPr>
          <p:cNvPr id="31" name="Editable text S14 L27">
            <a:extLst>
              <a:ext uri="{FF2B5EF4-FFF2-40B4-BE49-F238E27FC236}">
                <a16:creationId xmlns:a16="http://schemas.microsoft.com/office/drawing/2014/main" id="{9AC86097-E660-4500-9FE5-92A6AEA7DAFA}"/>
              </a:ext>
            </a:extLst>
          </p:cNvPr>
          <p:cNvSpPr>
            <a:spLocks noGrp="1"/>
          </p:cNvSpPr>
          <p:nvPr/>
        </p:nvSpPr>
        <p:spPr>
          <a:xfrm>
            <a:off x="11558025" y="6600825"/>
            <a:ext cx="304693" cy="1200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00" b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6B"/>
                </a:solidFill>
                <a:latin typeface="Aptos"/>
                <a:ea typeface="Aptos"/>
                <a:cs typeface="Aptos"/>
              </a:rPr>
              <a:t>06A</a:t>
            </a:r>
          </a:p>
        </p:txBody>
      </p:sp>
    </p:spTree>
    <p:extLst>
      <p:ext uri="{BB962C8B-B14F-4D97-AF65-F5344CB8AC3E}">
        <p14:creationId xmlns:p14="http://schemas.microsoft.com/office/powerpoint/2010/main" val="1869215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A8536C8-7BBB-4E8C-AAA0-1F7D3EEFF05A}"/>
              </a:ext>
            </a:extLst>
          </p:cNvPr>
          <p:cNvSpPr>
            <a:spLocks noGrp="1"/>
          </p:cNvSpPr>
          <p:nvPr/>
        </p:nvSpPr>
        <p:spPr>
          <a:xfrm>
            <a:off x="658368" y="29260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64DC89C-0D9A-4F4A-A34C-F556E8D13757}"/>
              </a:ext>
            </a:extLst>
          </p:cNvPr>
          <p:cNvSpPr>
            <a:spLocks noGrp="1"/>
          </p:cNvSpPr>
          <p:nvPr/>
        </p:nvSpPr>
        <p:spPr>
          <a:xfrm>
            <a:off x="640080" y="512064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700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SLR caution: not every SLR needs inferential testing</a:t>
            </a:r>
            <a:endParaRPr sz="27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412DF40-DEE1-4059-B574-2395824F2FEC}"/>
              </a:ext>
            </a:extLst>
          </p:cNvPr>
          <p:cNvSpPr>
            <a:spLocks noGrp="1"/>
          </p:cNvSpPr>
          <p:nvPr/>
        </p:nvSpPr>
        <p:spPr>
          <a:xfrm>
            <a:off x="640080" y="1133856"/>
            <a:ext cx="10927080" cy="0"/>
          </a:xfrm>
          <a:prstGeom prst="line">
            <a:avLst/>
          </a:prstGeom>
          <a:noFill/>
          <a:ln w="1524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5AB84EE-DD4A-42C8-B90D-7BFDBF9470F5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11292840" cy="0"/>
          </a:xfrm>
          <a:prstGeom prst="line">
            <a:avLst/>
          </a:prstGeom>
          <a:noFill/>
          <a:ln w="1270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1C2C5A4-589F-4071-88A2-8049D9E1F881}"/>
              </a:ext>
            </a:extLst>
          </p:cNvPr>
          <p:cNvSpPr>
            <a:spLocks noGrp="1"/>
          </p:cNvSpPr>
          <p:nvPr/>
        </p:nvSpPr>
        <p:spPr>
          <a:xfrm>
            <a:off x="777240" y="1298448"/>
            <a:ext cx="10698480" cy="50292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sz="1950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In many student SLRs, analysis is descriptive or thematic. Inferential statistics are only suitable when the extracted quantitative data can fairly be compared.</a:t>
            </a:r>
            <a:endParaRPr sz="195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3FA7202-0502-4451-B450-FBB576FDA63E}"/>
              </a:ext>
            </a:extLst>
          </p:cNvPr>
          <p:cNvSpPr>
            <a:spLocks noGrp="1"/>
          </p:cNvSpPr>
          <p:nvPr/>
        </p:nvSpPr>
        <p:spPr>
          <a:xfrm>
            <a:off x="868680" y="214884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DFF3F0"/>
          </a:solidFill>
          <a:ln w="1016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BE58995-6A67-42EA-B70A-61D2F8E0C087}"/>
              </a:ext>
            </a:extLst>
          </p:cNvPr>
          <p:cNvSpPr>
            <a:spLocks noGrp="1"/>
          </p:cNvSpPr>
          <p:nvPr/>
        </p:nvSpPr>
        <p:spPr>
          <a:xfrm>
            <a:off x="1033272" y="2313432"/>
            <a:ext cx="2871216" cy="27432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 algn="l">
              <a:buNone/>
            </a:pPr>
            <a:r>
              <a:rPr sz="1650" b="1">
                <a:solidFill>
                  <a:srgbClr val="0F5E5A"/>
                </a:solidFill>
                <a:latin typeface="Aptos"/>
                <a:ea typeface="Aptos"/>
                <a:cs typeface="Aptos"/>
              </a:rPr>
              <a:t>Usually appropriate</a:t>
            </a:r>
            <a:endParaRPr sz="16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F62362D-16D5-4494-8476-BCC940BCB190}"/>
              </a:ext>
            </a:extLst>
          </p:cNvPr>
          <p:cNvSpPr>
            <a:spLocks noGrp="1"/>
          </p:cNvSpPr>
          <p:nvPr/>
        </p:nvSpPr>
        <p:spPr>
          <a:xfrm>
            <a:off x="1033272" y="2697480"/>
            <a:ext cx="2871216" cy="1517904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 algn="l">
              <a:buNone/>
            </a:pPr>
            <a:r>
              <a:rPr sz="1270">
                <a:solidFill>
                  <a:srgbClr val="18212A"/>
                </a:solidFill>
                <a:latin typeface="Aptos"/>
                <a:ea typeface="Aptos"/>
                <a:cs typeface="Aptos"/>
              </a:rPr>
              <a:t>Frequency tables</a:t>
            </a:r>
            <a:endParaRPr sz="1270"/>
          </a:p>
          <a:p>
            <a:pPr marL="0" indent="0" algn="l">
              <a:buNone/>
            </a:pPr>
            <a:r>
              <a:rPr sz="1270">
                <a:solidFill>
                  <a:srgbClr val="18212A"/>
                </a:solidFill>
                <a:latin typeface="Aptos"/>
                <a:ea typeface="Aptos"/>
                <a:cs typeface="Aptos"/>
              </a:rPr>
              <a:t>Percentages</a:t>
            </a:r>
            <a:endParaRPr sz="1270"/>
          </a:p>
          <a:p>
            <a:pPr marL="0" indent="0" algn="l">
              <a:buNone/>
            </a:pPr>
            <a:r>
              <a:rPr sz="1270">
                <a:solidFill>
                  <a:srgbClr val="18212A"/>
                </a:solidFill>
                <a:latin typeface="Aptos"/>
                <a:ea typeface="Aptos"/>
                <a:cs typeface="Aptos"/>
              </a:rPr>
              <a:t>Publication trends</a:t>
            </a:r>
            <a:endParaRPr sz="1270"/>
          </a:p>
          <a:p>
            <a:pPr marL="0" indent="0" algn="l">
              <a:buNone/>
            </a:pPr>
            <a:r>
              <a:rPr sz="1270">
                <a:solidFill>
                  <a:srgbClr val="18212A"/>
                </a:solidFill>
                <a:latin typeface="Aptos"/>
                <a:ea typeface="Aptos"/>
                <a:cs typeface="Aptos"/>
              </a:rPr>
              <a:t>Method categories</a:t>
            </a:r>
            <a:endParaRPr sz="1270"/>
          </a:p>
          <a:p>
            <a:pPr marL="0" indent="0" algn="l">
              <a:buNone/>
            </a:pPr>
            <a:r>
              <a:rPr sz="1270">
                <a:solidFill>
                  <a:srgbClr val="18212A"/>
                </a:solidFill>
                <a:latin typeface="Aptos"/>
                <a:ea typeface="Aptos"/>
                <a:cs typeface="Aptos"/>
              </a:rPr>
              <a:t>Theme counts</a:t>
            </a:r>
            <a:endParaRPr sz="1270"/>
          </a:p>
          <a:p>
            <a:pPr marL="0" indent="0" algn="l">
              <a:buNone/>
            </a:pPr>
            <a:r>
              <a:rPr sz="1270">
                <a:solidFill>
                  <a:srgbClr val="18212A"/>
                </a:solidFill>
                <a:latin typeface="Aptos"/>
                <a:ea typeface="Aptos"/>
                <a:cs typeface="Aptos"/>
              </a:rPr>
              <a:t>Evidence mapping</a:t>
            </a:r>
            <a:endParaRPr sz="127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D1B48B6-BCDA-4F8D-9EAB-4C03266420E8}"/>
              </a:ext>
            </a:extLst>
          </p:cNvPr>
          <p:cNvSpPr>
            <a:spLocks noGrp="1"/>
          </p:cNvSpPr>
          <p:nvPr/>
        </p:nvSpPr>
        <p:spPr>
          <a:xfrm>
            <a:off x="4480560" y="214884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F8EEDC"/>
          </a:solidFill>
          <a:ln w="1016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926190D-9EBE-42D4-B33E-0FC7FE3619B9}"/>
              </a:ext>
            </a:extLst>
          </p:cNvPr>
          <p:cNvSpPr>
            <a:spLocks noGrp="1"/>
          </p:cNvSpPr>
          <p:nvPr/>
        </p:nvSpPr>
        <p:spPr>
          <a:xfrm>
            <a:off x="4645152" y="2313432"/>
            <a:ext cx="2871216" cy="27432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 algn="l">
              <a:buNone/>
            </a:pPr>
            <a:r>
              <a:rPr sz="1650" b="1">
                <a:solidFill>
                  <a:srgbClr val="C98518"/>
                </a:solidFill>
                <a:latin typeface="Aptos"/>
                <a:ea typeface="Aptos"/>
                <a:cs typeface="Aptos"/>
              </a:rPr>
              <a:t>Sometimes appropriate</a:t>
            </a:r>
            <a:endParaRPr sz="165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0E21390-6982-4560-8E55-604A167B293D}"/>
              </a:ext>
            </a:extLst>
          </p:cNvPr>
          <p:cNvSpPr>
            <a:spLocks noGrp="1"/>
          </p:cNvSpPr>
          <p:nvPr/>
        </p:nvSpPr>
        <p:spPr>
          <a:xfrm>
            <a:off x="4645152" y="2697480"/>
            <a:ext cx="2871216" cy="1517904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 algn="l">
              <a:buNone/>
            </a:pPr>
            <a:r>
              <a:rPr sz="1270">
                <a:solidFill>
                  <a:srgbClr val="18212A"/>
                </a:solidFill>
                <a:latin typeface="Aptos"/>
                <a:ea typeface="Aptos"/>
                <a:cs typeface="Aptos"/>
              </a:rPr>
              <a:t>Comparing extracted numeric outcomes across studies, only if the studies measure similar things in compatible ways.</a:t>
            </a:r>
            <a:endParaRPr sz="127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82BC33B-3BA0-41DF-9231-FC8000D59D09}"/>
              </a:ext>
            </a:extLst>
          </p:cNvPr>
          <p:cNvSpPr>
            <a:spLocks noGrp="1"/>
          </p:cNvSpPr>
          <p:nvPr/>
        </p:nvSpPr>
        <p:spPr>
          <a:xfrm>
            <a:off x="8092440" y="214884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F8E3E3"/>
          </a:solidFill>
          <a:ln w="1016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6746BD6-1BFA-45A4-82B0-EC4304F58BC3}"/>
              </a:ext>
            </a:extLst>
          </p:cNvPr>
          <p:cNvSpPr>
            <a:spLocks noGrp="1"/>
          </p:cNvSpPr>
          <p:nvPr/>
        </p:nvSpPr>
        <p:spPr>
          <a:xfrm>
            <a:off x="8257032" y="2313432"/>
            <a:ext cx="2871216" cy="27432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 algn="l">
              <a:buNone/>
            </a:pPr>
            <a:r>
              <a:rPr sz="1650" b="1">
                <a:solidFill>
                  <a:srgbClr val="B04A4A"/>
                </a:solidFill>
                <a:latin typeface="Aptos"/>
                <a:ea typeface="Aptos"/>
                <a:cs typeface="Aptos"/>
              </a:rPr>
              <a:t>Be careful</a:t>
            </a:r>
            <a:endParaRPr sz="16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8641E18-22F9-4520-91BF-D71885819322}"/>
              </a:ext>
            </a:extLst>
          </p:cNvPr>
          <p:cNvSpPr>
            <a:spLocks noGrp="1"/>
          </p:cNvSpPr>
          <p:nvPr/>
        </p:nvSpPr>
        <p:spPr>
          <a:xfrm>
            <a:off x="8257032" y="2697480"/>
            <a:ext cx="2871216" cy="1517904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 algn="l">
              <a:buNone/>
            </a:pPr>
            <a:r>
              <a:rPr sz="1270">
                <a:solidFill>
                  <a:srgbClr val="18212A"/>
                </a:solidFill>
                <a:latin typeface="Aptos"/>
                <a:ea typeface="Aptos"/>
                <a:cs typeface="Aptos"/>
              </a:rPr>
              <a:t>A t-test, correlation or chi-square test should not be forced onto a literature review just because the lecture covered it.</a:t>
            </a:r>
            <a:endParaRPr sz="127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7778DD9-24FE-47F0-96E3-D9B0C63D116D}"/>
              </a:ext>
            </a:extLst>
          </p:cNvPr>
          <p:cNvSpPr>
            <a:spLocks noGrp="1"/>
          </p:cNvSpPr>
          <p:nvPr/>
        </p:nvSpPr>
        <p:spPr>
          <a:xfrm>
            <a:off x="960120" y="5303520"/>
            <a:ext cx="10241280" cy="41148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For your SLR projects, the reccommended route is: count clearly, describe honestly, then explain patterns using the literature.</a:t>
            </a:r>
            <a:endParaRPr sz="20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EEE07F7-81DB-4186-97DD-D3C641AC3D9A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00">
                <a:solidFill>
                  <a:srgbClr val="56616B"/>
                </a:solidFill>
              </a:rPr>
              <a:t>15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322544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D3DACCB-14E0-44C9-824E-F152C121A806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endParaRPr sz="800"/>
          </a:p>
        </p:txBody>
      </p:sp>
      <p:sp>
        <p:nvSpPr>
          <p:cNvPr id="5" name="Editable text S16 L01">
            <a:extLst>
              <a:ext uri="{FF2B5EF4-FFF2-40B4-BE49-F238E27FC236}">
                <a16:creationId xmlns:a16="http://schemas.microsoft.com/office/drawing/2014/main" id="{73B21BDB-4D08-46AE-9BFE-B76429E807A5}"/>
              </a:ext>
            </a:extLst>
          </p:cNvPr>
          <p:cNvSpPr>
            <a:spLocks noGrp="1"/>
          </p:cNvSpPr>
          <p:nvPr/>
        </p:nvSpPr>
        <p:spPr>
          <a:xfrm>
            <a:off x="646336" y="165736"/>
            <a:ext cx="961390" cy="300990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12" b="1">
                <a:solidFill>
                  <a:srgbClr val="0F5E5A"/>
                </a:solidFill>
                <a:latin typeface="Aptos"/>
                <a:ea typeface="Aptos"/>
                <a:cs typeface="Aptos"/>
              </a:defRPr>
            </a:pPr>
            <a:endParaRPr sz="612" b="1">
              <a:solidFill>
                <a:srgbClr val="0F5E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Editable text S16 L02">
            <a:extLst>
              <a:ext uri="{FF2B5EF4-FFF2-40B4-BE49-F238E27FC236}">
                <a16:creationId xmlns:a16="http://schemas.microsoft.com/office/drawing/2014/main" id="{791707BA-21D8-4806-BB0D-2E9283731C03}"/>
              </a:ext>
            </a:extLst>
          </p:cNvPr>
          <p:cNvSpPr>
            <a:spLocks noGrp="1"/>
          </p:cNvSpPr>
          <p:nvPr/>
        </p:nvSpPr>
        <p:spPr>
          <a:xfrm>
            <a:off x="643075" y="588108"/>
            <a:ext cx="7322950" cy="410649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6752" lnSpcReduction="10000"/>
          </a:bodyPr>
          <a:lstStyle/>
          <a:p>
            <a:pPr algn="l">
              <a:buNone/>
              <a:defRPr sz="2785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85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Hypothesis testing: a simple decision path</a:t>
            </a:r>
          </a:p>
        </p:txBody>
      </p:sp>
      <p:sp>
        <p:nvSpPr>
          <p:cNvPr id="23" name="Editable text S16 L19">
            <a:extLst>
              <a:ext uri="{FF2B5EF4-FFF2-40B4-BE49-F238E27FC236}">
                <a16:creationId xmlns:a16="http://schemas.microsoft.com/office/drawing/2014/main" id="{EC70252E-E517-4F03-AEF1-E25324B3774E}"/>
              </a:ext>
            </a:extLst>
          </p:cNvPr>
          <p:cNvSpPr>
            <a:spLocks noGrp="1"/>
          </p:cNvSpPr>
          <p:nvPr/>
        </p:nvSpPr>
        <p:spPr>
          <a:xfrm>
            <a:off x="11527564" y="6589395"/>
            <a:ext cx="239963" cy="12382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12" b="0">
                <a:solidFill>
                  <a:srgbClr val="A5ABB0"/>
                </a:solidFill>
                <a:latin typeface="Aptos"/>
                <a:ea typeface="Aptos"/>
                <a:cs typeface="Aptos"/>
              </a:defRPr>
            </a:pPr>
            <a:r>
              <a:rPr sz="612" b="0">
                <a:solidFill>
                  <a:srgbClr val="A5ABB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818994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4B2BB5A-F231-4CD2-839D-7651828DFD03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endParaRPr sz="800"/>
          </a:p>
        </p:txBody>
      </p:sp>
      <p:sp>
        <p:nvSpPr>
          <p:cNvPr id="5" name="Editable text S17 L01">
            <a:extLst>
              <a:ext uri="{FF2B5EF4-FFF2-40B4-BE49-F238E27FC236}">
                <a16:creationId xmlns:a16="http://schemas.microsoft.com/office/drawing/2014/main" id="{8916B3CC-390E-4D55-9A06-FE75429A4FDF}"/>
              </a:ext>
            </a:extLst>
          </p:cNvPr>
          <p:cNvSpPr>
            <a:spLocks noGrp="1"/>
          </p:cNvSpPr>
          <p:nvPr/>
        </p:nvSpPr>
        <p:spPr>
          <a:xfrm>
            <a:off x="650142" y="258182"/>
            <a:ext cx="1042179" cy="216164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12" b="1">
                <a:solidFill>
                  <a:srgbClr val="0F5E5A"/>
                </a:solidFill>
                <a:latin typeface="Aptos"/>
                <a:ea typeface="Aptos"/>
                <a:cs typeface="Aptos"/>
              </a:defRPr>
            </a:pPr>
            <a:endParaRPr sz="612" b="1">
              <a:solidFill>
                <a:srgbClr val="0F5E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Editable text S17 L02">
            <a:extLst>
              <a:ext uri="{FF2B5EF4-FFF2-40B4-BE49-F238E27FC236}">
                <a16:creationId xmlns:a16="http://schemas.microsoft.com/office/drawing/2014/main" id="{27B5FF76-84E7-4C45-AD97-D434268A1997}"/>
              </a:ext>
            </a:extLst>
          </p:cNvPr>
          <p:cNvSpPr>
            <a:spLocks noGrp="1"/>
          </p:cNvSpPr>
          <p:nvPr/>
        </p:nvSpPr>
        <p:spPr>
          <a:xfrm>
            <a:off x="627845" y="595728"/>
            <a:ext cx="10570850" cy="410649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6752" lnSpcReduction="10000"/>
          </a:bodyPr>
          <a:lstStyle/>
          <a:p>
            <a:pPr algn="l">
              <a:buNone/>
              <a:defRPr sz="2785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85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ICT example: testing whether MFA reduces security incidents</a:t>
            </a:r>
          </a:p>
        </p:txBody>
      </p:sp>
      <p:sp>
        <p:nvSpPr>
          <p:cNvPr id="7" name="Editable text S17 L03">
            <a:extLst>
              <a:ext uri="{FF2B5EF4-FFF2-40B4-BE49-F238E27FC236}">
                <a16:creationId xmlns:a16="http://schemas.microsoft.com/office/drawing/2014/main" id="{595D8BCA-86D3-4568-8911-6E143067223D}"/>
              </a:ext>
            </a:extLst>
          </p:cNvPr>
          <p:cNvSpPr>
            <a:spLocks noGrp="1"/>
          </p:cNvSpPr>
          <p:nvPr/>
        </p:nvSpPr>
        <p:spPr>
          <a:xfrm>
            <a:off x="717384" y="1343924"/>
            <a:ext cx="10536462" cy="297287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9627" lnSpcReduction="10000"/>
          </a:bodyPr>
          <a:lstStyle/>
          <a:p>
            <a:pPr algn="l">
              <a:buNone/>
              <a:defRPr sz="1958" b="1">
                <a:solidFill>
                  <a:srgbClr val="26323F"/>
                </a:solidFill>
                <a:latin typeface="Aptos"/>
                <a:ea typeface="Aptos"/>
                <a:cs typeface="Aptos"/>
              </a:defRPr>
            </a:pPr>
            <a:r>
              <a:rPr sz="1958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Hypothesis testing turns a practical IT claim into a structured evidence-based decision.</a:t>
            </a:r>
          </a:p>
        </p:txBody>
      </p:sp>
      <p:sp>
        <p:nvSpPr>
          <p:cNvPr id="29" name="Editable text S17 L25">
            <a:extLst>
              <a:ext uri="{FF2B5EF4-FFF2-40B4-BE49-F238E27FC236}">
                <a16:creationId xmlns:a16="http://schemas.microsoft.com/office/drawing/2014/main" id="{08E35773-A0AE-40A8-9951-4DE7FCD305C2}"/>
              </a:ext>
            </a:extLst>
          </p:cNvPr>
          <p:cNvSpPr>
            <a:spLocks noGrp="1"/>
          </p:cNvSpPr>
          <p:nvPr/>
        </p:nvSpPr>
        <p:spPr>
          <a:xfrm>
            <a:off x="992815" y="4514850"/>
            <a:ext cx="6950927" cy="2724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7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7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 significant result does not mean MFA solved all security problems</a:t>
            </a:r>
          </a:p>
        </p:txBody>
      </p:sp>
      <p:sp>
        <p:nvSpPr>
          <p:cNvPr id="30" name="Editable text S17 L26">
            <a:extLst>
              <a:ext uri="{FF2B5EF4-FFF2-40B4-BE49-F238E27FC236}">
                <a16:creationId xmlns:a16="http://schemas.microsoft.com/office/drawing/2014/main" id="{DF62F04A-9634-4AF2-BD54-F7527DC08F8D}"/>
              </a:ext>
            </a:extLst>
          </p:cNvPr>
          <p:cNvSpPr>
            <a:spLocks noGrp="1"/>
          </p:cNvSpPr>
          <p:nvPr/>
        </p:nvSpPr>
        <p:spPr>
          <a:xfrm>
            <a:off x="1004238" y="4773930"/>
            <a:ext cx="5267958" cy="2724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7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7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Other changes may also have influenced the result</a:t>
            </a:r>
          </a:p>
        </p:txBody>
      </p:sp>
      <p:sp>
        <p:nvSpPr>
          <p:cNvPr id="31" name="Editable text S17 L27">
            <a:extLst>
              <a:ext uri="{FF2B5EF4-FFF2-40B4-BE49-F238E27FC236}">
                <a16:creationId xmlns:a16="http://schemas.microsoft.com/office/drawing/2014/main" id="{ECB224B0-D4CD-43A6-95F7-B0546F153DFA}"/>
              </a:ext>
            </a:extLst>
          </p:cNvPr>
          <p:cNvSpPr>
            <a:spLocks noGrp="1"/>
          </p:cNvSpPr>
          <p:nvPr/>
        </p:nvSpPr>
        <p:spPr>
          <a:xfrm>
            <a:off x="992815" y="5033010"/>
            <a:ext cx="4624471" cy="2724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7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7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Always report the context, sample and limits</a:t>
            </a:r>
          </a:p>
        </p:txBody>
      </p:sp>
      <p:sp>
        <p:nvSpPr>
          <p:cNvPr id="32" name="Editable text S17 L28">
            <a:extLst>
              <a:ext uri="{FF2B5EF4-FFF2-40B4-BE49-F238E27FC236}">
                <a16:creationId xmlns:a16="http://schemas.microsoft.com/office/drawing/2014/main" id="{D7EBD54C-184A-48CB-B692-0B45ACA44D97}"/>
              </a:ext>
            </a:extLst>
          </p:cNvPr>
          <p:cNvSpPr>
            <a:spLocks noGrp="1"/>
          </p:cNvSpPr>
          <p:nvPr/>
        </p:nvSpPr>
        <p:spPr>
          <a:xfrm>
            <a:off x="11558025" y="6600825"/>
            <a:ext cx="304693" cy="1200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00" b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6B"/>
                </a:solidFill>
                <a:latin typeface="Aptos"/>
                <a:ea typeface="Aptos"/>
                <a:cs typeface="Aptos"/>
              </a:rPr>
              <a:t>07A</a:t>
            </a:r>
          </a:p>
        </p:txBody>
      </p:sp>
    </p:spTree>
    <p:extLst>
      <p:ext uri="{BB962C8B-B14F-4D97-AF65-F5344CB8AC3E}">
        <p14:creationId xmlns:p14="http://schemas.microsoft.com/office/powerpoint/2010/main" val="674907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19A5A8A-0165-4A8F-BAF7-0FEF6916B78F}"/>
              </a:ext>
            </a:extLst>
          </p:cNvPr>
          <p:cNvSpPr>
            <a:spLocks noGrp="1"/>
          </p:cNvSpPr>
          <p:nvPr/>
        </p:nvSpPr>
        <p:spPr>
          <a:xfrm>
            <a:off x="658368" y="29260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B07019C-A083-46D2-AAB8-96F19E486346}"/>
              </a:ext>
            </a:extLst>
          </p:cNvPr>
          <p:cNvSpPr>
            <a:spLocks noGrp="1"/>
          </p:cNvSpPr>
          <p:nvPr/>
        </p:nvSpPr>
        <p:spPr>
          <a:xfrm>
            <a:off x="640080" y="512064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700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In an SLR, your research question becomes an extraction plan</a:t>
            </a:r>
            <a:endParaRPr sz="27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EC41900-0F3E-4995-8073-735420F173CE}"/>
              </a:ext>
            </a:extLst>
          </p:cNvPr>
          <p:cNvSpPr>
            <a:spLocks noGrp="1"/>
          </p:cNvSpPr>
          <p:nvPr/>
        </p:nvSpPr>
        <p:spPr>
          <a:xfrm>
            <a:off x="640080" y="1133856"/>
            <a:ext cx="10927080" cy="0"/>
          </a:xfrm>
          <a:prstGeom prst="line">
            <a:avLst/>
          </a:prstGeom>
          <a:noFill/>
          <a:ln w="1524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7B65B5A-D389-488D-ADAB-7711F65CC0F9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11292840" cy="0"/>
          </a:xfrm>
          <a:prstGeom prst="line">
            <a:avLst/>
          </a:prstGeom>
          <a:noFill/>
          <a:ln w="1270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572ABC6-323A-4099-A535-794E17B3F5D0}"/>
              </a:ext>
            </a:extLst>
          </p:cNvPr>
          <p:cNvSpPr>
            <a:spLocks noGrp="1"/>
          </p:cNvSpPr>
          <p:nvPr/>
        </p:nvSpPr>
        <p:spPr>
          <a:xfrm>
            <a:off x="822960" y="1298448"/>
            <a:ext cx="10607040" cy="384048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The analysis starts before reading deeply: decide what information every included paper will contribute.</a:t>
            </a:r>
            <a:endParaRPr sz="20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7033222-7345-4745-AE66-C5FB8FBFEFDA}"/>
              </a:ext>
            </a:extLst>
          </p:cNvPr>
          <p:cNvSpPr>
            <a:spLocks noGrp="1"/>
          </p:cNvSpPr>
          <p:nvPr/>
        </p:nvSpPr>
        <p:spPr>
          <a:xfrm>
            <a:off x="502920" y="1828800"/>
            <a:ext cx="10835640" cy="0"/>
          </a:xfrm>
          <a:prstGeom prst="line">
            <a:avLst/>
          </a:prstGeom>
          <a:noFill/>
          <a:ln w="38100">
            <a:solidFill>
              <a:srgbClr val="0F5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C88E2A4-A699-4F20-AAC3-6BCCB718CB25}"/>
              </a:ext>
            </a:extLst>
          </p:cNvPr>
          <p:cNvSpPr>
            <a:spLocks noGrp="1"/>
          </p:cNvSpPr>
          <p:nvPr/>
        </p:nvSpPr>
        <p:spPr>
          <a:xfrm>
            <a:off x="502920" y="1874520"/>
            <a:ext cx="2880360" cy="685800"/>
          </a:xfrm>
          <a:prstGeom prst="rect">
            <a:avLst/>
          </a:prstGeom>
          <a:solidFill>
            <a:srgbClr val="F2F5F7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20D20B7-9E3C-403C-8BE0-ACE82D3D1E48}"/>
              </a:ext>
            </a:extLst>
          </p:cNvPr>
          <p:cNvSpPr>
            <a:spLocks noGrp="1"/>
          </p:cNvSpPr>
          <p:nvPr/>
        </p:nvSpPr>
        <p:spPr>
          <a:xfrm>
            <a:off x="566928" y="1947672"/>
            <a:ext cx="2752344" cy="59436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1060" b="1">
                <a:solidFill>
                  <a:srgbClr val="0F5E5A"/>
                </a:solidFill>
                <a:latin typeface="Aptos"/>
                <a:ea typeface="Aptos"/>
                <a:cs typeface="Aptos"/>
              </a:rPr>
              <a:t>SLR question</a:t>
            </a:r>
            <a:endParaRPr sz="106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BAA1E7B-A26D-4535-91CA-0E03EDD89D30}"/>
              </a:ext>
            </a:extLst>
          </p:cNvPr>
          <p:cNvSpPr>
            <a:spLocks noGrp="1"/>
          </p:cNvSpPr>
          <p:nvPr/>
        </p:nvSpPr>
        <p:spPr>
          <a:xfrm>
            <a:off x="3383280" y="1874520"/>
            <a:ext cx="3886200" cy="685800"/>
          </a:xfrm>
          <a:prstGeom prst="rect">
            <a:avLst/>
          </a:prstGeom>
          <a:solidFill>
            <a:srgbClr val="F2F5F7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EEB3FFD-E046-4F90-AA18-EAD98D49BE4F}"/>
              </a:ext>
            </a:extLst>
          </p:cNvPr>
          <p:cNvSpPr>
            <a:spLocks noGrp="1"/>
          </p:cNvSpPr>
          <p:nvPr/>
        </p:nvSpPr>
        <p:spPr>
          <a:xfrm>
            <a:off x="3447288" y="1947672"/>
            <a:ext cx="3758184" cy="59436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60" b="1">
                <a:solidFill>
                  <a:srgbClr val="0F5E5A"/>
                </a:solidFill>
                <a:latin typeface="Aptos"/>
                <a:ea typeface="Aptos"/>
                <a:cs typeface="Aptos"/>
              </a:rPr>
              <a:t>Extracted quantitative data</a:t>
            </a:r>
            <a:endParaRPr sz="106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73DE624-D2BD-46F4-862A-A0211B3BE183}"/>
              </a:ext>
            </a:extLst>
          </p:cNvPr>
          <p:cNvSpPr>
            <a:spLocks noGrp="1"/>
          </p:cNvSpPr>
          <p:nvPr/>
        </p:nvSpPr>
        <p:spPr>
          <a:xfrm>
            <a:off x="7269480" y="1874520"/>
            <a:ext cx="4069080" cy="685800"/>
          </a:xfrm>
          <a:prstGeom prst="rect">
            <a:avLst/>
          </a:prstGeom>
          <a:solidFill>
            <a:srgbClr val="F2F5F7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8067E67-E6C5-4EC6-9BCE-DAB4E58A499D}"/>
              </a:ext>
            </a:extLst>
          </p:cNvPr>
          <p:cNvSpPr>
            <a:spLocks noGrp="1"/>
          </p:cNvSpPr>
          <p:nvPr/>
        </p:nvSpPr>
        <p:spPr>
          <a:xfrm>
            <a:off x="7333488" y="1947672"/>
            <a:ext cx="3941064" cy="59436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60" b="1">
                <a:solidFill>
                  <a:srgbClr val="0F5E5A"/>
                </a:solidFill>
                <a:latin typeface="Aptos"/>
                <a:ea typeface="Aptos"/>
                <a:cs typeface="Aptos"/>
              </a:rPr>
              <a:t>Extracted qualitative data</a:t>
            </a:r>
            <a:endParaRPr sz="106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7E4E790-F2C0-4DCB-8C66-E9857517542D}"/>
              </a:ext>
            </a:extLst>
          </p:cNvPr>
          <p:cNvSpPr>
            <a:spLocks noGrp="1"/>
          </p:cNvSpPr>
          <p:nvPr/>
        </p:nvSpPr>
        <p:spPr>
          <a:xfrm>
            <a:off x="502920" y="2560320"/>
            <a:ext cx="1083564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CBB8C9C-2FED-4CE2-9338-9E561FC0F696}"/>
              </a:ext>
            </a:extLst>
          </p:cNvPr>
          <p:cNvSpPr>
            <a:spLocks noGrp="1"/>
          </p:cNvSpPr>
          <p:nvPr/>
        </p:nvSpPr>
        <p:spPr>
          <a:xfrm>
            <a:off x="502920" y="2560320"/>
            <a:ext cx="2880360" cy="685800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689CEDE-3099-4373-80AB-705F43048133}"/>
              </a:ext>
            </a:extLst>
          </p:cNvPr>
          <p:cNvSpPr>
            <a:spLocks noGrp="1"/>
          </p:cNvSpPr>
          <p:nvPr/>
        </p:nvSpPr>
        <p:spPr>
          <a:xfrm>
            <a:off x="566928" y="2633472"/>
            <a:ext cx="2752344" cy="59436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1020">
                <a:solidFill>
                  <a:srgbClr val="18212A"/>
                </a:solidFill>
                <a:latin typeface="Aptos"/>
                <a:ea typeface="Aptos"/>
                <a:cs typeface="Aptos"/>
              </a:rPr>
              <a:t>How is AI used in software testing?</a:t>
            </a:r>
            <a:endParaRPr sz="102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D65D47F-E873-4CA7-82C6-0E5B3F1576B1}"/>
              </a:ext>
            </a:extLst>
          </p:cNvPr>
          <p:cNvSpPr>
            <a:spLocks noGrp="1"/>
          </p:cNvSpPr>
          <p:nvPr/>
        </p:nvSpPr>
        <p:spPr>
          <a:xfrm>
            <a:off x="3383280" y="2560320"/>
            <a:ext cx="3886200" cy="685800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E03E820-7F47-4BB1-A33C-DDF59B0A1329}"/>
              </a:ext>
            </a:extLst>
          </p:cNvPr>
          <p:cNvSpPr>
            <a:spLocks noGrp="1"/>
          </p:cNvSpPr>
          <p:nvPr/>
        </p:nvSpPr>
        <p:spPr>
          <a:xfrm>
            <a:off x="3447288" y="2633472"/>
            <a:ext cx="3758184" cy="59436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20">
                <a:solidFill>
                  <a:srgbClr val="18212A"/>
                </a:solidFill>
                <a:latin typeface="Aptos"/>
                <a:ea typeface="Aptos"/>
                <a:cs typeface="Aptos"/>
              </a:rPr>
              <a:t>Year, tool type, method, sample size, reported accuracy</a:t>
            </a:r>
            <a:endParaRPr sz="102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B73C725-B466-46E6-BF75-8B51FE9DE38B}"/>
              </a:ext>
            </a:extLst>
          </p:cNvPr>
          <p:cNvSpPr>
            <a:spLocks noGrp="1"/>
          </p:cNvSpPr>
          <p:nvPr/>
        </p:nvSpPr>
        <p:spPr>
          <a:xfrm>
            <a:off x="7269480" y="2560320"/>
            <a:ext cx="4069080" cy="685800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9495B7A-FAB3-421D-83B5-CBA05C06A3BD}"/>
              </a:ext>
            </a:extLst>
          </p:cNvPr>
          <p:cNvSpPr>
            <a:spLocks noGrp="1"/>
          </p:cNvSpPr>
          <p:nvPr/>
        </p:nvSpPr>
        <p:spPr>
          <a:xfrm>
            <a:off x="7333488" y="2633472"/>
            <a:ext cx="3941064" cy="59436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20">
                <a:solidFill>
                  <a:srgbClr val="18212A"/>
                </a:solidFill>
                <a:latin typeface="Aptos"/>
                <a:ea typeface="Aptos"/>
                <a:cs typeface="Aptos"/>
              </a:rPr>
              <a:t>Benefits, risks, developer concerns, implementation barriers</a:t>
            </a:r>
            <a:endParaRPr sz="102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A025BB4-B73B-4312-BC98-38E851A67CC3}"/>
              </a:ext>
            </a:extLst>
          </p:cNvPr>
          <p:cNvSpPr>
            <a:spLocks noGrp="1"/>
          </p:cNvSpPr>
          <p:nvPr/>
        </p:nvSpPr>
        <p:spPr>
          <a:xfrm>
            <a:off x="502920" y="3246120"/>
            <a:ext cx="1083564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8A799DB-288C-4D9E-9FD1-763804E1DE4D}"/>
              </a:ext>
            </a:extLst>
          </p:cNvPr>
          <p:cNvSpPr>
            <a:spLocks noGrp="1"/>
          </p:cNvSpPr>
          <p:nvPr/>
        </p:nvSpPr>
        <p:spPr>
          <a:xfrm>
            <a:off x="502920" y="3246120"/>
            <a:ext cx="2880360" cy="685800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130D250-051C-42A6-9453-F8F1266B8325}"/>
              </a:ext>
            </a:extLst>
          </p:cNvPr>
          <p:cNvSpPr>
            <a:spLocks noGrp="1"/>
          </p:cNvSpPr>
          <p:nvPr/>
        </p:nvSpPr>
        <p:spPr>
          <a:xfrm>
            <a:off x="566928" y="3319272"/>
            <a:ext cx="2752344" cy="59436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1020">
                <a:solidFill>
                  <a:srgbClr val="18212A"/>
                </a:solidFill>
                <a:latin typeface="Aptos"/>
                <a:ea typeface="Aptos"/>
                <a:cs typeface="Aptos"/>
              </a:rPr>
              <a:t>What affects adoption of e-learning apps?</a:t>
            </a:r>
            <a:endParaRPr sz="102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38C610E-FF69-4D7C-BC03-51BABDDF0F68}"/>
              </a:ext>
            </a:extLst>
          </p:cNvPr>
          <p:cNvSpPr>
            <a:spLocks noGrp="1"/>
          </p:cNvSpPr>
          <p:nvPr/>
        </p:nvSpPr>
        <p:spPr>
          <a:xfrm>
            <a:off x="3383280" y="3246120"/>
            <a:ext cx="3886200" cy="685800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A9DEC7F-D472-4DAB-8257-7717908F1BB2}"/>
              </a:ext>
            </a:extLst>
          </p:cNvPr>
          <p:cNvSpPr>
            <a:spLocks noGrp="1"/>
          </p:cNvSpPr>
          <p:nvPr/>
        </p:nvSpPr>
        <p:spPr>
          <a:xfrm>
            <a:off x="3447288" y="3319272"/>
            <a:ext cx="3758184" cy="59436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20">
                <a:solidFill>
                  <a:srgbClr val="18212A"/>
                </a:solidFill>
                <a:latin typeface="Aptos"/>
                <a:ea typeface="Aptos"/>
                <a:cs typeface="Aptos"/>
              </a:rPr>
              <a:t>Number of studies by country, population and platform</a:t>
            </a:r>
            <a:endParaRPr sz="102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DB7F66F-F02E-41F4-A8A0-6CA391A565A9}"/>
              </a:ext>
            </a:extLst>
          </p:cNvPr>
          <p:cNvSpPr>
            <a:spLocks noGrp="1"/>
          </p:cNvSpPr>
          <p:nvPr/>
        </p:nvSpPr>
        <p:spPr>
          <a:xfrm>
            <a:off x="7269480" y="3246120"/>
            <a:ext cx="4069080" cy="685800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044DC2E-BA9D-4431-806B-02F5B9B41249}"/>
              </a:ext>
            </a:extLst>
          </p:cNvPr>
          <p:cNvSpPr>
            <a:spLocks noGrp="1"/>
          </p:cNvSpPr>
          <p:nvPr/>
        </p:nvSpPr>
        <p:spPr>
          <a:xfrm>
            <a:off x="7333488" y="3319272"/>
            <a:ext cx="3941064" cy="59436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20">
                <a:solidFill>
                  <a:srgbClr val="18212A"/>
                </a:solidFill>
                <a:latin typeface="Aptos"/>
                <a:ea typeface="Aptos"/>
                <a:cs typeface="Aptos"/>
              </a:rPr>
              <a:t>Reasons for use, reasons for non-use, design recommendations</a:t>
            </a:r>
            <a:endParaRPr sz="102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5DDCDEA4-010C-46CE-90FD-7BA8EF2D5E9A}"/>
              </a:ext>
            </a:extLst>
          </p:cNvPr>
          <p:cNvSpPr>
            <a:spLocks noGrp="1"/>
          </p:cNvSpPr>
          <p:nvPr/>
        </p:nvSpPr>
        <p:spPr>
          <a:xfrm>
            <a:off x="502920" y="3931920"/>
            <a:ext cx="1083564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1760B34-9DA7-4C80-803C-D94595697044}"/>
              </a:ext>
            </a:extLst>
          </p:cNvPr>
          <p:cNvSpPr>
            <a:spLocks noGrp="1"/>
          </p:cNvSpPr>
          <p:nvPr/>
        </p:nvSpPr>
        <p:spPr>
          <a:xfrm>
            <a:off x="502920" y="3931920"/>
            <a:ext cx="2880360" cy="685800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87CCD529-251A-41BC-9DE4-4522E24FF559}"/>
              </a:ext>
            </a:extLst>
          </p:cNvPr>
          <p:cNvSpPr>
            <a:spLocks noGrp="1"/>
          </p:cNvSpPr>
          <p:nvPr/>
        </p:nvSpPr>
        <p:spPr>
          <a:xfrm>
            <a:off x="566928" y="4005072"/>
            <a:ext cx="2752344" cy="59436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1020">
                <a:solidFill>
                  <a:srgbClr val="18212A"/>
                </a:solidFill>
                <a:latin typeface="Aptos"/>
                <a:ea typeface="Aptos"/>
                <a:cs typeface="Aptos"/>
              </a:rPr>
              <a:t>How do SMEs use cybersecurity tools?</a:t>
            </a:r>
            <a:endParaRPr sz="102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7BD012D4-6FC6-413E-B53E-8A4ED6BE55CC}"/>
              </a:ext>
            </a:extLst>
          </p:cNvPr>
          <p:cNvSpPr>
            <a:spLocks noGrp="1"/>
          </p:cNvSpPr>
          <p:nvPr/>
        </p:nvSpPr>
        <p:spPr>
          <a:xfrm>
            <a:off x="3383280" y="3931920"/>
            <a:ext cx="3886200" cy="685800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53353935-C2FC-4210-BF65-56A45C8276C5}"/>
              </a:ext>
            </a:extLst>
          </p:cNvPr>
          <p:cNvSpPr>
            <a:spLocks noGrp="1"/>
          </p:cNvSpPr>
          <p:nvPr/>
        </p:nvSpPr>
        <p:spPr>
          <a:xfrm>
            <a:off x="3447288" y="4005072"/>
            <a:ext cx="3758184" cy="59436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20">
                <a:solidFill>
                  <a:srgbClr val="18212A"/>
                </a:solidFill>
                <a:latin typeface="Aptos"/>
                <a:ea typeface="Aptos"/>
                <a:cs typeface="Aptos"/>
              </a:rPr>
              <a:t>Tool categories, study type, sector, attack type</a:t>
            </a:r>
            <a:endParaRPr sz="102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848040DE-188D-4798-A39E-B5AC6644F55E}"/>
              </a:ext>
            </a:extLst>
          </p:cNvPr>
          <p:cNvSpPr>
            <a:spLocks noGrp="1"/>
          </p:cNvSpPr>
          <p:nvPr/>
        </p:nvSpPr>
        <p:spPr>
          <a:xfrm>
            <a:off x="7269480" y="3931920"/>
            <a:ext cx="4069080" cy="685800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454C65F-2540-4957-A024-9E3C9C88B7B2}"/>
              </a:ext>
            </a:extLst>
          </p:cNvPr>
          <p:cNvSpPr>
            <a:spLocks noGrp="1"/>
          </p:cNvSpPr>
          <p:nvPr/>
        </p:nvSpPr>
        <p:spPr>
          <a:xfrm>
            <a:off x="7333488" y="4005072"/>
            <a:ext cx="3941064" cy="59436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20">
                <a:solidFill>
                  <a:srgbClr val="18212A"/>
                </a:solidFill>
                <a:latin typeface="Aptos"/>
                <a:ea typeface="Aptos"/>
                <a:cs typeface="Aptos"/>
              </a:rPr>
              <a:t>Barriers, trust issues, cost concerns, training needs</a:t>
            </a:r>
            <a:endParaRPr sz="102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926C81B2-A28E-4797-BEC8-E8624A161557}"/>
              </a:ext>
            </a:extLst>
          </p:cNvPr>
          <p:cNvSpPr>
            <a:spLocks noGrp="1"/>
          </p:cNvSpPr>
          <p:nvPr/>
        </p:nvSpPr>
        <p:spPr>
          <a:xfrm>
            <a:off x="502920" y="4617720"/>
            <a:ext cx="1083564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F8D0609B-2EBE-4F5E-BB0D-4F9B719A4C7C}"/>
              </a:ext>
            </a:extLst>
          </p:cNvPr>
          <p:cNvSpPr>
            <a:spLocks noGrp="1"/>
          </p:cNvSpPr>
          <p:nvPr/>
        </p:nvSpPr>
        <p:spPr>
          <a:xfrm>
            <a:off x="960120" y="5486400"/>
            <a:ext cx="10241280" cy="384048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Build the extraction table first. That table is the bridge between PRISMA screening and data analysis.</a:t>
            </a:r>
            <a:endParaRPr sz="200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ED861DA2-42F5-4075-896F-65B97691C067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00">
                <a:solidFill>
                  <a:srgbClr val="56616B"/>
                </a:solidFill>
              </a:rPr>
              <a:t>18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710115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A17004C-65E2-4B99-822C-10E68AC53577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endParaRPr sz="800"/>
          </a:p>
        </p:txBody>
      </p:sp>
      <p:sp>
        <p:nvSpPr>
          <p:cNvPr id="5" name="Editable text S19 L01">
            <a:extLst>
              <a:ext uri="{FF2B5EF4-FFF2-40B4-BE49-F238E27FC236}">
                <a16:creationId xmlns:a16="http://schemas.microsoft.com/office/drawing/2014/main" id="{90609A25-2285-4966-BF9F-9D503C0EB4A7}"/>
              </a:ext>
            </a:extLst>
          </p:cNvPr>
          <p:cNvSpPr>
            <a:spLocks noGrp="1"/>
          </p:cNvSpPr>
          <p:nvPr/>
        </p:nvSpPr>
        <p:spPr>
          <a:xfrm>
            <a:off x="630148" y="351782"/>
            <a:ext cx="10204520" cy="734377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8576"/>
          </a:bodyPr>
          <a:lstStyle/>
          <a:p>
            <a:pPr algn="l">
              <a:buNone/>
              <a:defRPr sz="3182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defRPr>
            </a:pPr>
            <a:r>
              <a:rPr sz="3182" b="1" dirty="0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Qualitative analysis: interpreting meaning, experience and</a:t>
            </a:r>
            <a:r>
              <a:rPr lang="en-US" sz="3182" b="1" dirty="0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 context</a:t>
            </a:r>
            <a:endParaRPr sz="3182" b="1" dirty="0">
              <a:solidFill>
                <a:srgbClr val="1821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Editable text S19 L03">
            <a:extLst>
              <a:ext uri="{FF2B5EF4-FFF2-40B4-BE49-F238E27FC236}">
                <a16:creationId xmlns:a16="http://schemas.microsoft.com/office/drawing/2014/main" id="{CE795748-E852-4858-A8EA-41BC6C5E5F44}"/>
              </a:ext>
            </a:extLst>
          </p:cNvPr>
          <p:cNvSpPr>
            <a:spLocks noGrp="1"/>
          </p:cNvSpPr>
          <p:nvPr/>
        </p:nvSpPr>
        <p:spPr>
          <a:xfrm>
            <a:off x="778519" y="1374598"/>
            <a:ext cx="9386133" cy="293088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9748"/>
          </a:bodyPr>
          <a:lstStyle/>
          <a:p>
            <a:pPr algn="l">
              <a:buNone/>
              <a:defRPr sz="1928" b="1">
                <a:solidFill>
                  <a:srgbClr val="26323F"/>
                </a:solidFill>
                <a:latin typeface="Aptos"/>
                <a:ea typeface="Aptos"/>
                <a:cs typeface="Aptos"/>
              </a:defRPr>
            </a:pPr>
            <a:r>
              <a:rPr sz="1928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Qualitative analysis is not about turning everything into numbers. It is about</a:t>
            </a:r>
          </a:p>
        </p:txBody>
      </p:sp>
      <p:sp>
        <p:nvSpPr>
          <p:cNvPr id="8" name="Editable text S19 L04">
            <a:extLst>
              <a:ext uri="{FF2B5EF4-FFF2-40B4-BE49-F238E27FC236}">
                <a16:creationId xmlns:a16="http://schemas.microsoft.com/office/drawing/2014/main" id="{DC636102-9EAD-4D6D-B21B-71112BCB3D2D}"/>
              </a:ext>
            </a:extLst>
          </p:cNvPr>
          <p:cNvSpPr>
            <a:spLocks noGrp="1"/>
          </p:cNvSpPr>
          <p:nvPr/>
        </p:nvSpPr>
        <p:spPr>
          <a:xfrm>
            <a:off x="782113" y="1633484"/>
            <a:ext cx="9287563" cy="297287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9627" lnSpcReduction="10000"/>
          </a:bodyPr>
          <a:lstStyle/>
          <a:p>
            <a:pPr algn="l">
              <a:buNone/>
              <a:defRPr sz="1958" b="1">
                <a:solidFill>
                  <a:srgbClr val="26323F"/>
                </a:solidFill>
                <a:latin typeface="Aptos"/>
                <a:ea typeface="Aptos"/>
                <a:cs typeface="Aptos"/>
              </a:defRPr>
            </a:pPr>
            <a:r>
              <a:rPr sz="1958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recognising patterns, themes and categories through careful interpretation.</a:t>
            </a:r>
          </a:p>
        </p:txBody>
      </p:sp>
      <p:sp>
        <p:nvSpPr>
          <p:cNvPr id="10" name="Editable text S19 L06">
            <a:extLst>
              <a:ext uri="{FF2B5EF4-FFF2-40B4-BE49-F238E27FC236}">
                <a16:creationId xmlns:a16="http://schemas.microsoft.com/office/drawing/2014/main" id="{BEDAA32E-AA71-435B-83B9-F6610B0DCDCB}"/>
              </a:ext>
            </a:extLst>
          </p:cNvPr>
          <p:cNvSpPr>
            <a:spLocks noGrp="1"/>
          </p:cNvSpPr>
          <p:nvPr/>
        </p:nvSpPr>
        <p:spPr>
          <a:xfrm>
            <a:off x="6403016" y="2403881"/>
            <a:ext cx="2413098" cy="280492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836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36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Rich and descriptive</a:t>
            </a:r>
          </a:p>
        </p:txBody>
      </p:sp>
      <p:sp>
        <p:nvSpPr>
          <p:cNvPr id="11" name="Editable text S19 L07">
            <a:extLst>
              <a:ext uri="{FF2B5EF4-FFF2-40B4-BE49-F238E27FC236}">
                <a16:creationId xmlns:a16="http://schemas.microsoft.com/office/drawing/2014/main" id="{D36A789C-ED9F-4B16-93E7-AA2E4DA9911E}"/>
              </a:ext>
            </a:extLst>
          </p:cNvPr>
          <p:cNvSpPr>
            <a:spLocks noGrp="1"/>
          </p:cNvSpPr>
          <p:nvPr/>
        </p:nvSpPr>
        <p:spPr>
          <a:xfrm>
            <a:off x="909062" y="2891790"/>
            <a:ext cx="4076144" cy="23050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438" b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1438" b="0">
                <a:solidFill>
                  <a:srgbClr val="56616B"/>
                </a:solidFill>
                <a:latin typeface="Aptos"/>
                <a:ea typeface="Aptos"/>
                <a:cs typeface="Aptos"/>
              </a:rPr>
              <a:t>Interview transcripts, field notes, documents or</a:t>
            </a:r>
          </a:p>
        </p:txBody>
      </p:sp>
      <p:sp>
        <p:nvSpPr>
          <p:cNvPr id="12" name="Editable text S19 L08">
            <a:extLst>
              <a:ext uri="{FF2B5EF4-FFF2-40B4-BE49-F238E27FC236}">
                <a16:creationId xmlns:a16="http://schemas.microsoft.com/office/drawing/2014/main" id="{6AFF5D4F-D7CC-4B8B-A7A5-449EB2A24082}"/>
              </a:ext>
            </a:extLst>
          </p:cNvPr>
          <p:cNvSpPr>
            <a:spLocks noGrp="1"/>
          </p:cNvSpPr>
          <p:nvPr/>
        </p:nvSpPr>
        <p:spPr>
          <a:xfrm>
            <a:off x="916677" y="3067050"/>
            <a:ext cx="1007202" cy="23050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438" b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1438" b="0">
                <a:solidFill>
                  <a:srgbClr val="56616B"/>
                </a:solidFill>
                <a:latin typeface="Aptos"/>
                <a:ea typeface="Aptos"/>
                <a:cs typeface="Aptos"/>
              </a:rPr>
              <a:t>recordings</a:t>
            </a:r>
          </a:p>
        </p:txBody>
      </p:sp>
      <p:sp>
        <p:nvSpPr>
          <p:cNvPr id="13" name="Editable text S19 L09">
            <a:extLst>
              <a:ext uri="{FF2B5EF4-FFF2-40B4-BE49-F238E27FC236}">
                <a16:creationId xmlns:a16="http://schemas.microsoft.com/office/drawing/2014/main" id="{E9C092C0-135D-4938-8068-E3204F9B32B7}"/>
              </a:ext>
            </a:extLst>
          </p:cNvPr>
          <p:cNvSpPr>
            <a:spLocks noGrp="1"/>
          </p:cNvSpPr>
          <p:nvPr/>
        </p:nvSpPr>
        <p:spPr>
          <a:xfrm>
            <a:off x="6399650" y="2975610"/>
            <a:ext cx="4403600" cy="23050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438" b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1438" b="0">
                <a:solidFill>
                  <a:srgbClr val="56616B"/>
                </a:solidFill>
                <a:latin typeface="Aptos"/>
                <a:ea typeface="Aptos"/>
                <a:cs typeface="Aptos"/>
              </a:rPr>
              <a:t>Detailed insight into experiences and social context</a:t>
            </a:r>
          </a:p>
        </p:txBody>
      </p:sp>
      <p:sp>
        <p:nvSpPr>
          <p:cNvPr id="14" name="Editable text S19 L10">
            <a:extLst>
              <a:ext uri="{FF2B5EF4-FFF2-40B4-BE49-F238E27FC236}">
                <a16:creationId xmlns:a16="http://schemas.microsoft.com/office/drawing/2014/main" id="{B8B55A64-4277-42BF-8B63-3E2BBDE73B36}"/>
              </a:ext>
            </a:extLst>
          </p:cNvPr>
          <p:cNvSpPr>
            <a:spLocks noGrp="1"/>
          </p:cNvSpPr>
          <p:nvPr/>
        </p:nvSpPr>
        <p:spPr>
          <a:xfrm>
            <a:off x="908620" y="4232681"/>
            <a:ext cx="3216506" cy="280492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836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36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Subjective and interpretive</a:t>
            </a:r>
          </a:p>
        </p:txBody>
      </p:sp>
      <p:sp>
        <p:nvSpPr>
          <p:cNvPr id="16" name="Editable text S19 L12">
            <a:extLst>
              <a:ext uri="{FF2B5EF4-FFF2-40B4-BE49-F238E27FC236}">
                <a16:creationId xmlns:a16="http://schemas.microsoft.com/office/drawing/2014/main" id="{0AC4727F-1EBD-4E2D-A3B0-5C8A6D248B01}"/>
              </a:ext>
            </a:extLst>
          </p:cNvPr>
          <p:cNvSpPr>
            <a:spLocks noGrp="1"/>
          </p:cNvSpPr>
          <p:nvPr/>
        </p:nvSpPr>
        <p:spPr>
          <a:xfrm>
            <a:off x="901446" y="4804410"/>
            <a:ext cx="4403600" cy="23050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438" b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1438" b="0">
                <a:solidFill>
                  <a:srgbClr val="56616B"/>
                </a:solidFill>
                <a:latin typeface="Aptos"/>
                <a:ea typeface="Aptos"/>
                <a:cs typeface="Aptos"/>
              </a:rPr>
              <a:t>The researcher becomes the instrument of analysis</a:t>
            </a:r>
          </a:p>
        </p:txBody>
      </p:sp>
      <p:sp>
        <p:nvSpPr>
          <p:cNvPr id="17" name="Editable text S19 L13">
            <a:extLst>
              <a:ext uri="{FF2B5EF4-FFF2-40B4-BE49-F238E27FC236}">
                <a16:creationId xmlns:a16="http://schemas.microsoft.com/office/drawing/2014/main" id="{57C86110-6E3F-4DCE-AAF0-733CEA1C91C5}"/>
              </a:ext>
            </a:extLst>
          </p:cNvPr>
          <p:cNvSpPr>
            <a:spLocks noGrp="1"/>
          </p:cNvSpPr>
          <p:nvPr/>
        </p:nvSpPr>
        <p:spPr>
          <a:xfrm>
            <a:off x="6403458" y="4792980"/>
            <a:ext cx="3992377" cy="23812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499" b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1499" b="0">
                <a:solidFill>
                  <a:srgbClr val="56616B"/>
                </a:solidFill>
                <a:latin typeface="Aptos"/>
                <a:ea typeface="Aptos"/>
                <a:cs typeface="Aptos"/>
              </a:rPr>
              <a:t>Meaning is understood within the full setting</a:t>
            </a:r>
          </a:p>
        </p:txBody>
      </p:sp>
      <p:sp>
        <p:nvSpPr>
          <p:cNvPr id="18" name="Editable text S19 L14">
            <a:extLst>
              <a:ext uri="{FF2B5EF4-FFF2-40B4-BE49-F238E27FC236}">
                <a16:creationId xmlns:a16="http://schemas.microsoft.com/office/drawing/2014/main" id="{A905C5FA-E0D3-4D16-A641-3B04345CFA49}"/>
              </a:ext>
            </a:extLst>
          </p:cNvPr>
          <p:cNvSpPr>
            <a:spLocks noGrp="1"/>
          </p:cNvSpPr>
          <p:nvPr/>
        </p:nvSpPr>
        <p:spPr>
          <a:xfrm>
            <a:off x="11527564" y="6593205"/>
            <a:ext cx="239963" cy="1200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00" b="0">
                <a:solidFill>
                  <a:srgbClr val="6D767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D767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06758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9E6A237-C4EA-42F9-8B7D-6D5CD40A810C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endParaRPr sz="800"/>
          </a:p>
        </p:txBody>
      </p:sp>
      <p:sp>
        <p:nvSpPr>
          <p:cNvPr id="5" name="Editable text S20 L01">
            <a:extLst>
              <a:ext uri="{FF2B5EF4-FFF2-40B4-BE49-F238E27FC236}">
                <a16:creationId xmlns:a16="http://schemas.microsoft.com/office/drawing/2014/main" id="{B0E029A6-9957-4652-9356-1ACDD2DCEA1E}"/>
              </a:ext>
            </a:extLst>
          </p:cNvPr>
          <p:cNvSpPr>
            <a:spLocks noGrp="1"/>
          </p:cNvSpPr>
          <p:nvPr/>
        </p:nvSpPr>
        <p:spPr>
          <a:xfrm>
            <a:off x="650142" y="196216"/>
            <a:ext cx="1083123" cy="278130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12" b="1">
                <a:solidFill>
                  <a:srgbClr val="0F5E5A"/>
                </a:solidFill>
                <a:latin typeface="Aptos"/>
                <a:ea typeface="Aptos"/>
                <a:cs typeface="Aptos"/>
              </a:defRPr>
            </a:pPr>
            <a:endParaRPr sz="612" b="1">
              <a:solidFill>
                <a:srgbClr val="0F5E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Editable text S20 L02">
            <a:extLst>
              <a:ext uri="{FF2B5EF4-FFF2-40B4-BE49-F238E27FC236}">
                <a16:creationId xmlns:a16="http://schemas.microsoft.com/office/drawing/2014/main" id="{BCAF6C85-0C6A-45D0-8E67-87D489829448}"/>
              </a:ext>
            </a:extLst>
          </p:cNvPr>
          <p:cNvSpPr>
            <a:spLocks noGrp="1"/>
          </p:cNvSpPr>
          <p:nvPr/>
        </p:nvSpPr>
        <p:spPr>
          <a:xfrm>
            <a:off x="627845" y="595728"/>
            <a:ext cx="10315739" cy="410649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6752" lnSpcReduction="10000"/>
          </a:bodyPr>
          <a:lstStyle/>
          <a:p>
            <a:pPr algn="l">
              <a:buNone/>
              <a:defRPr sz="2785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85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ICT example: interpreting students’ experience of a chatbot</a:t>
            </a:r>
          </a:p>
        </p:txBody>
      </p:sp>
      <p:sp>
        <p:nvSpPr>
          <p:cNvPr id="18" name="Editable text S20 L14">
            <a:extLst>
              <a:ext uri="{FF2B5EF4-FFF2-40B4-BE49-F238E27FC236}">
                <a16:creationId xmlns:a16="http://schemas.microsoft.com/office/drawing/2014/main" id="{2DDD27C7-DC04-47FF-B6A5-9AED22719086}"/>
              </a:ext>
            </a:extLst>
          </p:cNvPr>
          <p:cNvSpPr>
            <a:spLocks noGrp="1"/>
          </p:cNvSpPr>
          <p:nvPr/>
        </p:nvSpPr>
        <p:spPr>
          <a:xfrm>
            <a:off x="1030905" y="5097780"/>
            <a:ext cx="10153106" cy="25717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652" b="1">
                <a:solidFill>
                  <a:srgbClr val="26323F"/>
                </a:solidFill>
                <a:latin typeface="Aptos"/>
                <a:ea typeface="Aptos"/>
                <a:cs typeface="Aptos"/>
              </a:defRPr>
            </a:pPr>
            <a:r>
              <a:rPr sz="1652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Possible theme: chatbot is useful for quick guidance, but not trusted for complex academic support</a:t>
            </a:r>
          </a:p>
        </p:txBody>
      </p:sp>
      <p:sp>
        <p:nvSpPr>
          <p:cNvPr id="19" name="Editable text S20 L15">
            <a:extLst>
              <a:ext uri="{FF2B5EF4-FFF2-40B4-BE49-F238E27FC236}">
                <a16:creationId xmlns:a16="http://schemas.microsoft.com/office/drawing/2014/main" id="{79B1D38E-B648-45B0-B572-62C439984338}"/>
              </a:ext>
            </a:extLst>
          </p:cNvPr>
          <p:cNvSpPr>
            <a:spLocks noGrp="1"/>
          </p:cNvSpPr>
          <p:nvPr/>
        </p:nvSpPr>
        <p:spPr>
          <a:xfrm>
            <a:off x="11558025" y="6600825"/>
            <a:ext cx="304693" cy="1200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00" b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6B"/>
                </a:solidFill>
                <a:latin typeface="Aptos"/>
                <a:ea typeface="Aptos"/>
                <a:cs typeface="Aptos"/>
              </a:rPr>
              <a:t>08A</a:t>
            </a:r>
          </a:p>
        </p:txBody>
      </p:sp>
    </p:spTree>
    <p:extLst>
      <p:ext uri="{BB962C8B-B14F-4D97-AF65-F5344CB8AC3E}">
        <p14:creationId xmlns:p14="http://schemas.microsoft.com/office/powerpoint/2010/main" val="15199308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7B30C00-E351-4CE0-9676-D748EFC8E7FD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endParaRPr sz="800"/>
          </a:p>
        </p:txBody>
      </p:sp>
      <p:sp>
        <p:nvSpPr>
          <p:cNvPr id="5" name="Editable text S21 L01">
            <a:extLst>
              <a:ext uri="{FF2B5EF4-FFF2-40B4-BE49-F238E27FC236}">
                <a16:creationId xmlns:a16="http://schemas.microsoft.com/office/drawing/2014/main" id="{033FF8D4-3D3F-45FF-BFE5-8A29FFE89289}"/>
              </a:ext>
            </a:extLst>
          </p:cNvPr>
          <p:cNvSpPr>
            <a:spLocks noGrp="1"/>
          </p:cNvSpPr>
          <p:nvPr/>
        </p:nvSpPr>
        <p:spPr>
          <a:xfrm>
            <a:off x="646336" y="180976"/>
            <a:ext cx="936804" cy="285750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12" b="1">
                <a:solidFill>
                  <a:srgbClr val="0F5E5A"/>
                </a:solidFill>
                <a:latin typeface="Aptos"/>
                <a:ea typeface="Aptos"/>
                <a:cs typeface="Aptos"/>
              </a:defRPr>
            </a:pPr>
            <a:endParaRPr sz="612" b="1">
              <a:solidFill>
                <a:srgbClr val="0F5E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Editable text S21 L02">
            <a:extLst>
              <a:ext uri="{FF2B5EF4-FFF2-40B4-BE49-F238E27FC236}">
                <a16:creationId xmlns:a16="http://schemas.microsoft.com/office/drawing/2014/main" id="{856AA89D-1E1D-414A-A299-2C3E17ABB08E}"/>
              </a:ext>
            </a:extLst>
          </p:cNvPr>
          <p:cNvSpPr>
            <a:spLocks noGrp="1"/>
          </p:cNvSpPr>
          <p:nvPr/>
        </p:nvSpPr>
        <p:spPr>
          <a:xfrm>
            <a:off x="620230" y="588108"/>
            <a:ext cx="9550408" cy="410649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6752" lnSpcReduction="10000"/>
          </a:bodyPr>
          <a:lstStyle/>
          <a:p>
            <a:pPr algn="l">
              <a:buNone/>
              <a:defRPr sz="2785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85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Thematic analysis and coding: from raw text to themes</a:t>
            </a:r>
          </a:p>
        </p:txBody>
      </p:sp>
      <p:sp>
        <p:nvSpPr>
          <p:cNvPr id="24" name="Editable text S21 L20">
            <a:extLst>
              <a:ext uri="{FF2B5EF4-FFF2-40B4-BE49-F238E27FC236}">
                <a16:creationId xmlns:a16="http://schemas.microsoft.com/office/drawing/2014/main" id="{06EF22A6-328F-49CD-B1B9-C719EA131F67}"/>
              </a:ext>
            </a:extLst>
          </p:cNvPr>
          <p:cNvSpPr>
            <a:spLocks noGrp="1"/>
          </p:cNvSpPr>
          <p:nvPr/>
        </p:nvSpPr>
        <p:spPr>
          <a:xfrm>
            <a:off x="11527564" y="6593205"/>
            <a:ext cx="239963" cy="1200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00" b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6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609854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817E4FD-69AD-467E-BAD5-4692DCC184F4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endParaRPr sz="800"/>
          </a:p>
        </p:txBody>
      </p:sp>
      <p:sp>
        <p:nvSpPr>
          <p:cNvPr id="5" name="Editable text S22 L01">
            <a:extLst>
              <a:ext uri="{FF2B5EF4-FFF2-40B4-BE49-F238E27FC236}">
                <a16:creationId xmlns:a16="http://schemas.microsoft.com/office/drawing/2014/main" id="{AAD2AE19-B6C4-433C-93C5-EB4FD506AF70}"/>
              </a:ext>
            </a:extLst>
          </p:cNvPr>
          <p:cNvSpPr>
            <a:spLocks noGrp="1"/>
          </p:cNvSpPr>
          <p:nvPr/>
        </p:nvSpPr>
        <p:spPr>
          <a:xfrm>
            <a:off x="650142" y="171766"/>
            <a:ext cx="1274191" cy="302579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12" b="1">
                <a:solidFill>
                  <a:srgbClr val="0F5E5A"/>
                </a:solidFill>
                <a:latin typeface="Aptos"/>
                <a:ea typeface="Aptos"/>
                <a:cs typeface="Aptos"/>
              </a:defRPr>
            </a:pPr>
            <a:endParaRPr sz="612" b="1">
              <a:solidFill>
                <a:srgbClr val="0F5E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Editable text S22 L02">
            <a:extLst>
              <a:ext uri="{FF2B5EF4-FFF2-40B4-BE49-F238E27FC236}">
                <a16:creationId xmlns:a16="http://schemas.microsoft.com/office/drawing/2014/main" id="{9F15A544-E21E-4862-8688-E75DE9E373FB}"/>
              </a:ext>
            </a:extLst>
          </p:cNvPr>
          <p:cNvSpPr>
            <a:spLocks noGrp="1"/>
          </p:cNvSpPr>
          <p:nvPr/>
        </p:nvSpPr>
        <p:spPr>
          <a:xfrm>
            <a:off x="628059" y="599732"/>
            <a:ext cx="8620921" cy="406451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6841" lnSpcReduction="10000"/>
          </a:bodyPr>
          <a:lstStyle/>
          <a:p>
            <a:pPr algn="l">
              <a:buNone/>
              <a:defRPr sz="2754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54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ICT example: coding helpdesk tickets into themes</a:t>
            </a:r>
          </a:p>
        </p:txBody>
      </p:sp>
      <p:sp>
        <p:nvSpPr>
          <p:cNvPr id="7" name="Editable text S22 L03">
            <a:extLst>
              <a:ext uri="{FF2B5EF4-FFF2-40B4-BE49-F238E27FC236}">
                <a16:creationId xmlns:a16="http://schemas.microsoft.com/office/drawing/2014/main" id="{2E113814-D974-48E9-B74B-24A675CD8431}"/>
              </a:ext>
            </a:extLst>
          </p:cNvPr>
          <p:cNvSpPr>
            <a:spLocks noGrp="1"/>
          </p:cNvSpPr>
          <p:nvPr/>
        </p:nvSpPr>
        <p:spPr>
          <a:xfrm>
            <a:off x="701512" y="1339531"/>
            <a:ext cx="10362594" cy="309883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9188"/>
          </a:bodyPr>
          <a:lstStyle/>
          <a:p>
            <a:pPr algn="l">
              <a:buNone/>
              <a:defRPr sz="2050" b="1">
                <a:solidFill>
                  <a:srgbClr val="26323F"/>
                </a:solidFill>
                <a:latin typeface="Aptos"/>
                <a:ea typeface="Aptos"/>
                <a:cs typeface="Aptos"/>
              </a:defRPr>
            </a:pPr>
            <a:r>
              <a:rPr sz="2050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Thematic analysis moves from many pieces of text to a few meaningful patterns.</a:t>
            </a:r>
          </a:p>
        </p:txBody>
      </p:sp>
      <p:sp>
        <p:nvSpPr>
          <p:cNvPr id="11" name="Editable text S22 L07">
            <a:extLst>
              <a:ext uri="{FF2B5EF4-FFF2-40B4-BE49-F238E27FC236}">
                <a16:creationId xmlns:a16="http://schemas.microsoft.com/office/drawing/2014/main" id="{E7AF1D11-2428-4D6F-81EF-72272D0CECF0}"/>
              </a:ext>
            </a:extLst>
          </p:cNvPr>
          <p:cNvSpPr>
            <a:spLocks noGrp="1"/>
          </p:cNvSpPr>
          <p:nvPr/>
        </p:nvSpPr>
        <p:spPr>
          <a:xfrm>
            <a:off x="912869" y="2487930"/>
            <a:ext cx="2465521" cy="2038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24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24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“Wi-Fi drops during online tests.”</a:t>
            </a:r>
          </a:p>
        </p:txBody>
      </p:sp>
      <p:sp>
        <p:nvSpPr>
          <p:cNvPr id="12" name="Editable text S22 L08">
            <a:extLst>
              <a:ext uri="{FF2B5EF4-FFF2-40B4-BE49-F238E27FC236}">
                <a16:creationId xmlns:a16="http://schemas.microsoft.com/office/drawing/2014/main" id="{054A9FF3-1650-4051-B179-FF2B52752405}"/>
              </a:ext>
            </a:extLst>
          </p:cNvPr>
          <p:cNvSpPr>
            <a:spLocks noGrp="1"/>
          </p:cNvSpPr>
          <p:nvPr/>
        </p:nvSpPr>
        <p:spPr>
          <a:xfrm>
            <a:off x="5089829" y="2487930"/>
            <a:ext cx="1582153" cy="1657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918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918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Unstable connection</a:t>
            </a:r>
          </a:p>
        </p:txBody>
      </p:sp>
      <p:sp>
        <p:nvSpPr>
          <p:cNvPr id="13" name="Editable text S22 L09">
            <a:extLst>
              <a:ext uri="{FF2B5EF4-FFF2-40B4-BE49-F238E27FC236}">
                <a16:creationId xmlns:a16="http://schemas.microsoft.com/office/drawing/2014/main" id="{FCC7D36D-1B56-49D4-B8B4-7A2E948E2625}"/>
              </a:ext>
            </a:extLst>
          </p:cNvPr>
          <p:cNvSpPr>
            <a:spLocks noGrp="1"/>
          </p:cNvSpPr>
          <p:nvPr/>
        </p:nvSpPr>
        <p:spPr>
          <a:xfrm>
            <a:off x="7576205" y="2487930"/>
            <a:ext cx="1818226" cy="2038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24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24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Access and connectivity</a:t>
            </a:r>
          </a:p>
        </p:txBody>
      </p:sp>
      <p:sp>
        <p:nvSpPr>
          <p:cNvPr id="14" name="Editable text S22 L10">
            <a:extLst>
              <a:ext uri="{FF2B5EF4-FFF2-40B4-BE49-F238E27FC236}">
                <a16:creationId xmlns:a16="http://schemas.microsoft.com/office/drawing/2014/main" id="{2DA352B8-94B6-4BA6-A622-B5487C688C05}"/>
              </a:ext>
            </a:extLst>
          </p:cNvPr>
          <p:cNvSpPr>
            <a:spLocks noGrp="1"/>
          </p:cNvSpPr>
          <p:nvPr/>
        </p:nvSpPr>
        <p:spPr>
          <a:xfrm>
            <a:off x="912869" y="2990850"/>
            <a:ext cx="2389369" cy="2038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24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24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“I keep resetting my password.”</a:t>
            </a:r>
          </a:p>
        </p:txBody>
      </p:sp>
      <p:sp>
        <p:nvSpPr>
          <p:cNvPr id="15" name="Editable text S22 L11">
            <a:extLst>
              <a:ext uri="{FF2B5EF4-FFF2-40B4-BE49-F238E27FC236}">
                <a16:creationId xmlns:a16="http://schemas.microsoft.com/office/drawing/2014/main" id="{9CC85CAF-2712-47B5-B781-66135A2EC3FB}"/>
              </a:ext>
            </a:extLst>
          </p:cNvPr>
          <p:cNvSpPr>
            <a:spLocks noGrp="1"/>
          </p:cNvSpPr>
          <p:nvPr/>
        </p:nvSpPr>
        <p:spPr>
          <a:xfrm>
            <a:off x="5150751" y="2987040"/>
            <a:ext cx="1467924" cy="20764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5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5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Password difficulty</a:t>
            </a:r>
          </a:p>
        </p:txBody>
      </p:sp>
      <p:sp>
        <p:nvSpPr>
          <p:cNvPr id="16" name="Editable text S22 L12">
            <a:extLst>
              <a:ext uri="{FF2B5EF4-FFF2-40B4-BE49-F238E27FC236}">
                <a16:creationId xmlns:a16="http://schemas.microsoft.com/office/drawing/2014/main" id="{3706158E-7A6A-42B3-B86B-1166C2D750FD}"/>
              </a:ext>
            </a:extLst>
          </p:cNvPr>
          <p:cNvSpPr>
            <a:spLocks noGrp="1"/>
          </p:cNvSpPr>
          <p:nvPr/>
        </p:nvSpPr>
        <p:spPr>
          <a:xfrm>
            <a:off x="7625704" y="2990850"/>
            <a:ext cx="1715420" cy="21907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346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46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Account management</a:t>
            </a:r>
          </a:p>
        </p:txBody>
      </p:sp>
      <p:sp>
        <p:nvSpPr>
          <p:cNvPr id="17" name="Editable text S22 L13">
            <a:extLst>
              <a:ext uri="{FF2B5EF4-FFF2-40B4-BE49-F238E27FC236}">
                <a16:creationId xmlns:a16="http://schemas.microsoft.com/office/drawing/2014/main" id="{A58C3926-A7DC-4DA7-A4B5-42D54983B688}"/>
              </a:ext>
            </a:extLst>
          </p:cNvPr>
          <p:cNvSpPr>
            <a:spLocks noGrp="1"/>
          </p:cNvSpPr>
          <p:nvPr/>
        </p:nvSpPr>
        <p:spPr>
          <a:xfrm>
            <a:off x="912869" y="3493770"/>
            <a:ext cx="2884359" cy="2038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24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24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“The menu is confusing on my phone.”</a:t>
            </a:r>
          </a:p>
        </p:txBody>
      </p:sp>
      <p:sp>
        <p:nvSpPr>
          <p:cNvPr id="18" name="Editable text S22 L14">
            <a:extLst>
              <a:ext uri="{FF2B5EF4-FFF2-40B4-BE49-F238E27FC236}">
                <a16:creationId xmlns:a16="http://schemas.microsoft.com/office/drawing/2014/main" id="{A1D0D94E-1C49-4BCD-93AE-AC7045797CD7}"/>
              </a:ext>
            </a:extLst>
          </p:cNvPr>
          <p:cNvSpPr>
            <a:spLocks noGrp="1"/>
          </p:cNvSpPr>
          <p:nvPr/>
        </p:nvSpPr>
        <p:spPr>
          <a:xfrm>
            <a:off x="5264979" y="3493770"/>
            <a:ext cx="1243275" cy="2038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24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24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Mobile usability</a:t>
            </a:r>
          </a:p>
        </p:txBody>
      </p:sp>
      <p:sp>
        <p:nvSpPr>
          <p:cNvPr id="19" name="Editable text S22 L15">
            <a:extLst>
              <a:ext uri="{FF2B5EF4-FFF2-40B4-BE49-F238E27FC236}">
                <a16:creationId xmlns:a16="http://schemas.microsoft.com/office/drawing/2014/main" id="{FF015C4E-1BE3-4D8E-A24E-FCF9D3FC9295}"/>
              </a:ext>
            </a:extLst>
          </p:cNvPr>
          <p:cNvSpPr>
            <a:spLocks noGrp="1"/>
          </p:cNvSpPr>
          <p:nvPr/>
        </p:nvSpPr>
        <p:spPr>
          <a:xfrm>
            <a:off x="7846546" y="3493770"/>
            <a:ext cx="1281351" cy="2038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24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24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System usability</a:t>
            </a:r>
          </a:p>
        </p:txBody>
      </p:sp>
      <p:sp>
        <p:nvSpPr>
          <p:cNvPr id="20" name="Editable text S22 L16">
            <a:extLst>
              <a:ext uri="{FF2B5EF4-FFF2-40B4-BE49-F238E27FC236}">
                <a16:creationId xmlns:a16="http://schemas.microsoft.com/office/drawing/2014/main" id="{C6E06A67-A71B-4386-B180-25F409307658}"/>
              </a:ext>
            </a:extLst>
          </p:cNvPr>
          <p:cNvSpPr>
            <a:spLocks noGrp="1"/>
          </p:cNvSpPr>
          <p:nvPr/>
        </p:nvSpPr>
        <p:spPr>
          <a:xfrm>
            <a:off x="912869" y="3996690"/>
            <a:ext cx="2777746" cy="2038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24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24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“No one replied before the deadline.”</a:t>
            </a:r>
          </a:p>
        </p:txBody>
      </p:sp>
      <p:sp>
        <p:nvSpPr>
          <p:cNvPr id="21" name="Editable text S22 L17">
            <a:extLst>
              <a:ext uri="{FF2B5EF4-FFF2-40B4-BE49-F238E27FC236}">
                <a16:creationId xmlns:a16="http://schemas.microsoft.com/office/drawing/2014/main" id="{721C46E5-FD60-4A84-A064-0B2D84BD6F0B}"/>
              </a:ext>
            </a:extLst>
          </p:cNvPr>
          <p:cNvSpPr>
            <a:spLocks noGrp="1"/>
          </p:cNvSpPr>
          <p:nvPr/>
        </p:nvSpPr>
        <p:spPr>
          <a:xfrm>
            <a:off x="5002253" y="3996690"/>
            <a:ext cx="1757304" cy="2038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24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24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Slow support response</a:t>
            </a:r>
          </a:p>
        </p:txBody>
      </p:sp>
      <p:sp>
        <p:nvSpPr>
          <p:cNvPr id="22" name="Editable text S22 L18">
            <a:extLst>
              <a:ext uri="{FF2B5EF4-FFF2-40B4-BE49-F238E27FC236}">
                <a16:creationId xmlns:a16="http://schemas.microsoft.com/office/drawing/2014/main" id="{1F5D2429-5E56-4978-88C2-833406E1EDFB}"/>
              </a:ext>
            </a:extLst>
          </p:cNvPr>
          <p:cNvSpPr>
            <a:spLocks noGrp="1"/>
          </p:cNvSpPr>
          <p:nvPr/>
        </p:nvSpPr>
        <p:spPr>
          <a:xfrm>
            <a:off x="7599050" y="3996690"/>
            <a:ext cx="1772534" cy="2038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24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24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Service responsiveness</a:t>
            </a:r>
          </a:p>
        </p:txBody>
      </p:sp>
      <p:sp>
        <p:nvSpPr>
          <p:cNvPr id="23" name="Editable text S22 L19">
            <a:extLst>
              <a:ext uri="{FF2B5EF4-FFF2-40B4-BE49-F238E27FC236}">
                <a16:creationId xmlns:a16="http://schemas.microsoft.com/office/drawing/2014/main" id="{B4F2FD91-391D-4424-816D-57439CE57684}"/>
              </a:ext>
            </a:extLst>
          </p:cNvPr>
          <p:cNvSpPr>
            <a:spLocks noGrp="1"/>
          </p:cNvSpPr>
          <p:nvPr/>
        </p:nvSpPr>
        <p:spPr>
          <a:xfrm>
            <a:off x="1350746" y="5368290"/>
            <a:ext cx="9547695" cy="2343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469" b="1">
                <a:solidFill>
                  <a:srgbClr val="26323F"/>
                </a:solidFill>
                <a:latin typeface="Aptos"/>
                <a:ea typeface="Aptos"/>
                <a:cs typeface="Aptos"/>
              </a:defRPr>
            </a:pPr>
            <a:r>
              <a:rPr sz="1469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Codes are short labels. Themes are bigger ideas that group related codes together.</a:t>
            </a:r>
          </a:p>
        </p:txBody>
      </p:sp>
      <p:sp>
        <p:nvSpPr>
          <p:cNvPr id="24" name="Editable text S22 L20">
            <a:extLst>
              <a:ext uri="{FF2B5EF4-FFF2-40B4-BE49-F238E27FC236}">
                <a16:creationId xmlns:a16="http://schemas.microsoft.com/office/drawing/2014/main" id="{235E2061-9693-4D72-892D-D5B1A5923CA9}"/>
              </a:ext>
            </a:extLst>
          </p:cNvPr>
          <p:cNvSpPr>
            <a:spLocks noGrp="1"/>
          </p:cNvSpPr>
          <p:nvPr/>
        </p:nvSpPr>
        <p:spPr>
          <a:xfrm>
            <a:off x="11558025" y="6600825"/>
            <a:ext cx="304693" cy="1200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00" b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6B"/>
                </a:solidFill>
                <a:latin typeface="Aptos"/>
                <a:ea typeface="Aptos"/>
                <a:cs typeface="Aptos"/>
              </a:rPr>
              <a:t>09A</a:t>
            </a:r>
          </a:p>
        </p:txBody>
      </p:sp>
    </p:spTree>
    <p:extLst>
      <p:ext uri="{BB962C8B-B14F-4D97-AF65-F5344CB8AC3E}">
        <p14:creationId xmlns:p14="http://schemas.microsoft.com/office/powerpoint/2010/main" val="10449238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9D24E5C-AB96-46FA-ABBB-5A0E27507730}"/>
              </a:ext>
            </a:extLst>
          </p:cNvPr>
          <p:cNvSpPr>
            <a:spLocks noGrp="1"/>
          </p:cNvSpPr>
          <p:nvPr/>
        </p:nvSpPr>
        <p:spPr>
          <a:xfrm>
            <a:off x="658368" y="29260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07374C3-DD6D-47EE-A872-16F8E868593D}"/>
              </a:ext>
            </a:extLst>
          </p:cNvPr>
          <p:cNvSpPr>
            <a:spLocks noGrp="1"/>
          </p:cNvSpPr>
          <p:nvPr/>
        </p:nvSpPr>
        <p:spPr>
          <a:xfrm>
            <a:off x="640080" y="512064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700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SLR qualitative example: code findings from papers into themes</a:t>
            </a:r>
            <a:endParaRPr sz="27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5B93D22-BACF-47B7-965A-4F57A3A06610}"/>
              </a:ext>
            </a:extLst>
          </p:cNvPr>
          <p:cNvSpPr>
            <a:spLocks noGrp="1"/>
          </p:cNvSpPr>
          <p:nvPr/>
        </p:nvSpPr>
        <p:spPr>
          <a:xfrm>
            <a:off x="640080" y="1133856"/>
            <a:ext cx="10927080" cy="0"/>
          </a:xfrm>
          <a:prstGeom prst="line">
            <a:avLst/>
          </a:prstGeom>
          <a:noFill/>
          <a:ln w="1524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B3E0C01-6BB8-4B66-8154-BD92C39AE912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11292840" cy="0"/>
          </a:xfrm>
          <a:prstGeom prst="line">
            <a:avLst/>
          </a:prstGeom>
          <a:noFill/>
          <a:ln w="1270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9183976-D709-48AF-AC14-AEB2616A59E3}"/>
              </a:ext>
            </a:extLst>
          </p:cNvPr>
          <p:cNvSpPr>
            <a:spLocks noGrp="1"/>
          </p:cNvSpPr>
          <p:nvPr/>
        </p:nvSpPr>
        <p:spPr>
          <a:xfrm>
            <a:off x="804672" y="1298448"/>
            <a:ext cx="10561320" cy="50292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sz="1900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You are not coding interview transcripts. You are coding relevant findings, discussion sections, and author explanations from the included papers.</a:t>
            </a:r>
            <a:endParaRPr sz="1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73CB5F3-D701-46B2-B9FF-880EDF940F5D}"/>
              </a:ext>
            </a:extLst>
          </p:cNvPr>
          <p:cNvSpPr>
            <a:spLocks noGrp="1"/>
          </p:cNvSpPr>
          <p:nvPr/>
        </p:nvSpPr>
        <p:spPr>
          <a:xfrm>
            <a:off x="594360" y="1920240"/>
            <a:ext cx="10241280" cy="0"/>
          </a:xfrm>
          <a:prstGeom prst="line">
            <a:avLst/>
          </a:prstGeom>
          <a:noFill/>
          <a:ln w="38100">
            <a:solidFill>
              <a:srgbClr val="7D4AB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FD75949-7E7A-4EF0-B525-3437CEB476FD}"/>
              </a:ext>
            </a:extLst>
          </p:cNvPr>
          <p:cNvSpPr>
            <a:spLocks noGrp="1"/>
          </p:cNvSpPr>
          <p:nvPr/>
        </p:nvSpPr>
        <p:spPr>
          <a:xfrm>
            <a:off x="594360" y="1965960"/>
            <a:ext cx="4800600" cy="566928"/>
          </a:xfrm>
          <a:prstGeom prst="rect">
            <a:avLst/>
          </a:prstGeom>
          <a:solidFill>
            <a:srgbClr val="F2F5F7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33816B1-655B-41F4-A9AD-EC3F4B7819C6}"/>
              </a:ext>
            </a:extLst>
          </p:cNvPr>
          <p:cNvSpPr>
            <a:spLocks noGrp="1"/>
          </p:cNvSpPr>
          <p:nvPr/>
        </p:nvSpPr>
        <p:spPr>
          <a:xfrm>
            <a:off x="658368" y="2039112"/>
            <a:ext cx="4672584" cy="4754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1030" b="1">
                <a:solidFill>
                  <a:srgbClr val="7D4AB3"/>
                </a:solidFill>
                <a:latin typeface="Aptos"/>
                <a:ea typeface="Aptos"/>
                <a:cs typeface="Aptos"/>
              </a:rPr>
              <a:t>Extract from included study</a:t>
            </a:r>
            <a:endParaRPr sz="103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35DD990-4E0C-41F4-AD6A-61BC2DD700D3}"/>
              </a:ext>
            </a:extLst>
          </p:cNvPr>
          <p:cNvSpPr>
            <a:spLocks noGrp="1"/>
          </p:cNvSpPr>
          <p:nvPr/>
        </p:nvSpPr>
        <p:spPr>
          <a:xfrm>
            <a:off x="5394960" y="1965960"/>
            <a:ext cx="2286000" cy="566928"/>
          </a:xfrm>
          <a:prstGeom prst="rect">
            <a:avLst/>
          </a:prstGeom>
          <a:solidFill>
            <a:srgbClr val="F2F5F7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6497180-2707-48D9-AC08-3FFDDBFCE850}"/>
              </a:ext>
            </a:extLst>
          </p:cNvPr>
          <p:cNvSpPr>
            <a:spLocks noGrp="1"/>
          </p:cNvSpPr>
          <p:nvPr/>
        </p:nvSpPr>
        <p:spPr>
          <a:xfrm>
            <a:off x="5458968" y="2039112"/>
            <a:ext cx="2157984" cy="4754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30" b="1">
                <a:solidFill>
                  <a:srgbClr val="7D4AB3"/>
                </a:solidFill>
                <a:latin typeface="Aptos"/>
                <a:ea typeface="Aptos"/>
                <a:cs typeface="Aptos"/>
              </a:rPr>
              <a:t>Initial code</a:t>
            </a:r>
            <a:endParaRPr sz="103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C659F78-0D25-4D88-A9C9-77798644AC70}"/>
              </a:ext>
            </a:extLst>
          </p:cNvPr>
          <p:cNvSpPr>
            <a:spLocks noGrp="1"/>
          </p:cNvSpPr>
          <p:nvPr/>
        </p:nvSpPr>
        <p:spPr>
          <a:xfrm>
            <a:off x="7680960" y="1965960"/>
            <a:ext cx="3154680" cy="566928"/>
          </a:xfrm>
          <a:prstGeom prst="rect">
            <a:avLst/>
          </a:prstGeom>
          <a:solidFill>
            <a:srgbClr val="F2F5F7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1ED096A-6B98-4131-9866-0B63D0C2338C}"/>
              </a:ext>
            </a:extLst>
          </p:cNvPr>
          <p:cNvSpPr>
            <a:spLocks noGrp="1"/>
          </p:cNvSpPr>
          <p:nvPr/>
        </p:nvSpPr>
        <p:spPr>
          <a:xfrm>
            <a:off x="7744968" y="2039112"/>
            <a:ext cx="3026664" cy="4754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30" b="1">
                <a:solidFill>
                  <a:srgbClr val="7D4AB3"/>
                </a:solidFill>
                <a:latin typeface="Aptos"/>
                <a:ea typeface="Aptos"/>
                <a:cs typeface="Aptos"/>
              </a:rPr>
              <a:t>Possible SLR theme</a:t>
            </a:r>
            <a:endParaRPr sz="103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6575236-4667-4D04-B1EA-D2EDC4933C47}"/>
              </a:ext>
            </a:extLst>
          </p:cNvPr>
          <p:cNvSpPr>
            <a:spLocks noGrp="1"/>
          </p:cNvSpPr>
          <p:nvPr/>
        </p:nvSpPr>
        <p:spPr>
          <a:xfrm>
            <a:off x="594360" y="2532888"/>
            <a:ext cx="1024128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C6F9634-BBFE-4B96-9066-4863A0BED7F6}"/>
              </a:ext>
            </a:extLst>
          </p:cNvPr>
          <p:cNvSpPr>
            <a:spLocks noGrp="1"/>
          </p:cNvSpPr>
          <p:nvPr/>
        </p:nvSpPr>
        <p:spPr>
          <a:xfrm>
            <a:off x="594360" y="2532888"/>
            <a:ext cx="4800600" cy="566928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5208E1E-CE86-4076-B04F-F4799AE7B5C5}"/>
              </a:ext>
            </a:extLst>
          </p:cNvPr>
          <p:cNvSpPr>
            <a:spLocks noGrp="1"/>
          </p:cNvSpPr>
          <p:nvPr/>
        </p:nvSpPr>
        <p:spPr>
          <a:xfrm>
            <a:off x="658368" y="2606040"/>
            <a:ext cx="4672584" cy="4754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990">
                <a:solidFill>
                  <a:srgbClr val="18212A"/>
                </a:solidFill>
                <a:latin typeface="Aptos"/>
                <a:ea typeface="Aptos"/>
                <a:cs typeface="Aptos"/>
              </a:rPr>
              <a:t>“Students avoided the app because mobile data costs were high.”</a:t>
            </a:r>
            <a:endParaRPr sz="99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D3A64CA-DABD-4F09-93B0-69674884BC5B}"/>
              </a:ext>
            </a:extLst>
          </p:cNvPr>
          <p:cNvSpPr>
            <a:spLocks noGrp="1"/>
          </p:cNvSpPr>
          <p:nvPr/>
        </p:nvSpPr>
        <p:spPr>
          <a:xfrm>
            <a:off x="5394960" y="2532888"/>
            <a:ext cx="2286000" cy="566928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8A34D9E-FA09-455E-98FE-5F117FE70C9D}"/>
              </a:ext>
            </a:extLst>
          </p:cNvPr>
          <p:cNvSpPr>
            <a:spLocks noGrp="1"/>
          </p:cNvSpPr>
          <p:nvPr/>
        </p:nvSpPr>
        <p:spPr>
          <a:xfrm>
            <a:off x="5458968" y="2606040"/>
            <a:ext cx="2157984" cy="4754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990">
                <a:solidFill>
                  <a:srgbClr val="18212A"/>
                </a:solidFill>
                <a:latin typeface="Aptos"/>
                <a:ea typeface="Aptos"/>
                <a:cs typeface="Aptos"/>
              </a:rPr>
              <a:t>Cost of access</a:t>
            </a:r>
            <a:endParaRPr sz="99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A12D880-CBF6-4403-8C17-FE65D44A4C80}"/>
              </a:ext>
            </a:extLst>
          </p:cNvPr>
          <p:cNvSpPr>
            <a:spLocks noGrp="1"/>
          </p:cNvSpPr>
          <p:nvPr/>
        </p:nvSpPr>
        <p:spPr>
          <a:xfrm>
            <a:off x="7680960" y="2532888"/>
            <a:ext cx="3154680" cy="566928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086AC26-0669-49BD-B305-AB891431D84F}"/>
              </a:ext>
            </a:extLst>
          </p:cNvPr>
          <p:cNvSpPr>
            <a:spLocks noGrp="1"/>
          </p:cNvSpPr>
          <p:nvPr/>
        </p:nvSpPr>
        <p:spPr>
          <a:xfrm>
            <a:off x="7744968" y="2606040"/>
            <a:ext cx="3026664" cy="4754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990">
                <a:solidFill>
                  <a:srgbClr val="18212A"/>
                </a:solidFill>
                <a:latin typeface="Aptos"/>
                <a:ea typeface="Aptos"/>
                <a:cs typeface="Aptos"/>
              </a:rPr>
              <a:t>Digital access barriers</a:t>
            </a:r>
            <a:endParaRPr sz="99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AB8F845-7249-4239-964A-A2DBB55BD3AB}"/>
              </a:ext>
            </a:extLst>
          </p:cNvPr>
          <p:cNvSpPr>
            <a:spLocks noGrp="1"/>
          </p:cNvSpPr>
          <p:nvPr/>
        </p:nvSpPr>
        <p:spPr>
          <a:xfrm>
            <a:off x="594360" y="3099816"/>
            <a:ext cx="1024128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606C8CD-BD2F-4392-B437-48CF0DB5A81A}"/>
              </a:ext>
            </a:extLst>
          </p:cNvPr>
          <p:cNvSpPr>
            <a:spLocks noGrp="1"/>
          </p:cNvSpPr>
          <p:nvPr/>
        </p:nvSpPr>
        <p:spPr>
          <a:xfrm>
            <a:off x="594360" y="3099816"/>
            <a:ext cx="4800600" cy="566928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8BB6AED-065C-4A58-B76C-E0CD89F3605F}"/>
              </a:ext>
            </a:extLst>
          </p:cNvPr>
          <p:cNvSpPr>
            <a:spLocks noGrp="1"/>
          </p:cNvSpPr>
          <p:nvPr/>
        </p:nvSpPr>
        <p:spPr>
          <a:xfrm>
            <a:off x="658368" y="3172968"/>
            <a:ext cx="4672584" cy="4754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990">
                <a:solidFill>
                  <a:srgbClr val="18212A"/>
                </a:solidFill>
                <a:latin typeface="Aptos"/>
                <a:ea typeface="Aptos"/>
                <a:cs typeface="Aptos"/>
              </a:rPr>
              <a:t>“Lecturers reported limited training in analytics dashboards.”</a:t>
            </a:r>
            <a:endParaRPr sz="99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B7A4EE7-8BBC-47B6-992C-9B955057B8A2}"/>
              </a:ext>
            </a:extLst>
          </p:cNvPr>
          <p:cNvSpPr>
            <a:spLocks noGrp="1"/>
          </p:cNvSpPr>
          <p:nvPr/>
        </p:nvSpPr>
        <p:spPr>
          <a:xfrm>
            <a:off x="5394960" y="3099816"/>
            <a:ext cx="2286000" cy="566928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7C3D0C0-CD19-4CAC-BAC9-82DDC352B473}"/>
              </a:ext>
            </a:extLst>
          </p:cNvPr>
          <p:cNvSpPr>
            <a:spLocks noGrp="1"/>
          </p:cNvSpPr>
          <p:nvPr/>
        </p:nvSpPr>
        <p:spPr>
          <a:xfrm>
            <a:off x="5458968" y="3172968"/>
            <a:ext cx="2157984" cy="4754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990">
                <a:solidFill>
                  <a:srgbClr val="18212A"/>
                </a:solidFill>
                <a:latin typeface="Aptos"/>
                <a:ea typeface="Aptos"/>
                <a:cs typeface="Aptos"/>
              </a:rPr>
              <a:t>Staff capability gap</a:t>
            </a:r>
            <a:endParaRPr sz="99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31F813E-3410-4A7B-BD9F-0831BA1E6AF2}"/>
              </a:ext>
            </a:extLst>
          </p:cNvPr>
          <p:cNvSpPr>
            <a:spLocks noGrp="1"/>
          </p:cNvSpPr>
          <p:nvPr/>
        </p:nvSpPr>
        <p:spPr>
          <a:xfrm>
            <a:off x="7680960" y="3099816"/>
            <a:ext cx="3154680" cy="566928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DAF3E21-C9C0-46A6-85A0-8637A3E3ACBC}"/>
              </a:ext>
            </a:extLst>
          </p:cNvPr>
          <p:cNvSpPr>
            <a:spLocks noGrp="1"/>
          </p:cNvSpPr>
          <p:nvPr/>
        </p:nvSpPr>
        <p:spPr>
          <a:xfrm>
            <a:off x="7744968" y="3172968"/>
            <a:ext cx="3026664" cy="4754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990">
                <a:solidFill>
                  <a:srgbClr val="18212A"/>
                </a:solidFill>
                <a:latin typeface="Aptos"/>
                <a:ea typeface="Aptos"/>
                <a:cs typeface="Aptos"/>
              </a:rPr>
              <a:t>Readiness and skills</a:t>
            </a:r>
            <a:endParaRPr sz="99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64A3F9EA-6844-4186-86A0-355646E94F73}"/>
              </a:ext>
            </a:extLst>
          </p:cNvPr>
          <p:cNvSpPr>
            <a:spLocks noGrp="1"/>
          </p:cNvSpPr>
          <p:nvPr/>
        </p:nvSpPr>
        <p:spPr>
          <a:xfrm>
            <a:off x="594360" y="3666744"/>
            <a:ext cx="1024128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D198517-A223-42D0-B16F-D35401B3C467}"/>
              </a:ext>
            </a:extLst>
          </p:cNvPr>
          <p:cNvSpPr>
            <a:spLocks noGrp="1"/>
          </p:cNvSpPr>
          <p:nvPr/>
        </p:nvSpPr>
        <p:spPr>
          <a:xfrm>
            <a:off x="594360" y="3666744"/>
            <a:ext cx="4800600" cy="566928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DF0B872-1729-4FD7-A6B1-25253EDA56B7}"/>
              </a:ext>
            </a:extLst>
          </p:cNvPr>
          <p:cNvSpPr>
            <a:spLocks noGrp="1"/>
          </p:cNvSpPr>
          <p:nvPr/>
        </p:nvSpPr>
        <p:spPr>
          <a:xfrm>
            <a:off x="658368" y="3739896"/>
            <a:ext cx="4672584" cy="4754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990">
                <a:solidFill>
                  <a:srgbClr val="18212A"/>
                </a:solidFill>
                <a:latin typeface="Aptos"/>
                <a:ea typeface="Aptos"/>
                <a:cs typeface="Aptos"/>
              </a:rPr>
              <a:t>“Participants trusted recommendations only when explanations were visible.”</a:t>
            </a:r>
            <a:endParaRPr sz="99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8055F614-C719-438F-BA4A-60D779789008}"/>
              </a:ext>
            </a:extLst>
          </p:cNvPr>
          <p:cNvSpPr>
            <a:spLocks noGrp="1"/>
          </p:cNvSpPr>
          <p:nvPr/>
        </p:nvSpPr>
        <p:spPr>
          <a:xfrm>
            <a:off x="5394960" y="3666744"/>
            <a:ext cx="2286000" cy="566928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13EE5C73-E5FC-4B11-85C9-1680850AEE9F}"/>
              </a:ext>
            </a:extLst>
          </p:cNvPr>
          <p:cNvSpPr>
            <a:spLocks noGrp="1"/>
          </p:cNvSpPr>
          <p:nvPr/>
        </p:nvSpPr>
        <p:spPr>
          <a:xfrm>
            <a:off x="5458968" y="3739896"/>
            <a:ext cx="2157984" cy="4754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990">
                <a:solidFill>
                  <a:srgbClr val="18212A"/>
                </a:solidFill>
                <a:latin typeface="Aptos"/>
                <a:ea typeface="Aptos"/>
                <a:cs typeface="Aptos"/>
              </a:rPr>
              <a:t>Need for explainability</a:t>
            </a:r>
            <a:endParaRPr sz="99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7A251F96-4DE9-46D4-B2E9-34965AFE8D81}"/>
              </a:ext>
            </a:extLst>
          </p:cNvPr>
          <p:cNvSpPr>
            <a:spLocks noGrp="1"/>
          </p:cNvSpPr>
          <p:nvPr/>
        </p:nvSpPr>
        <p:spPr>
          <a:xfrm>
            <a:off x="7680960" y="3666744"/>
            <a:ext cx="3154680" cy="566928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E0C709AC-B9E6-4889-9A64-E602F2B8692B}"/>
              </a:ext>
            </a:extLst>
          </p:cNvPr>
          <p:cNvSpPr>
            <a:spLocks noGrp="1"/>
          </p:cNvSpPr>
          <p:nvPr/>
        </p:nvSpPr>
        <p:spPr>
          <a:xfrm>
            <a:off x="7744968" y="3739896"/>
            <a:ext cx="3026664" cy="4754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990">
                <a:solidFill>
                  <a:srgbClr val="18212A"/>
                </a:solidFill>
                <a:latin typeface="Aptos"/>
                <a:ea typeface="Aptos"/>
                <a:cs typeface="Aptos"/>
              </a:rPr>
              <a:t>Trust in AI systems</a:t>
            </a:r>
            <a:endParaRPr sz="99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96323045-1919-4924-94AB-0851EE97D19A}"/>
              </a:ext>
            </a:extLst>
          </p:cNvPr>
          <p:cNvSpPr>
            <a:spLocks noGrp="1"/>
          </p:cNvSpPr>
          <p:nvPr/>
        </p:nvSpPr>
        <p:spPr>
          <a:xfrm>
            <a:off x="594360" y="4233672"/>
            <a:ext cx="1024128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0DE06129-8827-4214-9F58-5DCFEBD9A593}"/>
              </a:ext>
            </a:extLst>
          </p:cNvPr>
          <p:cNvSpPr>
            <a:spLocks noGrp="1"/>
          </p:cNvSpPr>
          <p:nvPr/>
        </p:nvSpPr>
        <p:spPr>
          <a:xfrm>
            <a:off x="594360" y="4233672"/>
            <a:ext cx="4800600" cy="566928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E804F5F3-5D73-4EA6-9FD1-9530D4440DA0}"/>
              </a:ext>
            </a:extLst>
          </p:cNvPr>
          <p:cNvSpPr>
            <a:spLocks noGrp="1"/>
          </p:cNvSpPr>
          <p:nvPr/>
        </p:nvSpPr>
        <p:spPr>
          <a:xfrm>
            <a:off x="658368" y="4306824"/>
            <a:ext cx="4672584" cy="4754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990">
                <a:solidFill>
                  <a:srgbClr val="18212A"/>
                </a:solidFill>
                <a:latin typeface="Aptos"/>
                <a:ea typeface="Aptos"/>
                <a:cs typeface="Aptos"/>
              </a:rPr>
              <a:t>“Poor integration with existing LMS tools reduced usage.”</a:t>
            </a:r>
            <a:endParaRPr sz="99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4C1F0039-A3F4-40E1-B6DC-2826AF3D49DD}"/>
              </a:ext>
            </a:extLst>
          </p:cNvPr>
          <p:cNvSpPr>
            <a:spLocks noGrp="1"/>
          </p:cNvSpPr>
          <p:nvPr/>
        </p:nvSpPr>
        <p:spPr>
          <a:xfrm>
            <a:off x="5394960" y="4233672"/>
            <a:ext cx="2286000" cy="566928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E7D75855-D879-4809-B790-D0917E26A00B}"/>
              </a:ext>
            </a:extLst>
          </p:cNvPr>
          <p:cNvSpPr>
            <a:spLocks noGrp="1"/>
          </p:cNvSpPr>
          <p:nvPr/>
        </p:nvSpPr>
        <p:spPr>
          <a:xfrm>
            <a:off x="5458968" y="4306824"/>
            <a:ext cx="2157984" cy="4754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990">
                <a:solidFill>
                  <a:srgbClr val="18212A"/>
                </a:solidFill>
                <a:latin typeface="Aptos"/>
                <a:ea typeface="Aptos"/>
                <a:cs typeface="Aptos"/>
              </a:rPr>
              <a:t>Weak system integration</a:t>
            </a:r>
            <a:endParaRPr sz="99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1C6362C7-E92A-4B8C-A1B8-65204F7EF814}"/>
              </a:ext>
            </a:extLst>
          </p:cNvPr>
          <p:cNvSpPr>
            <a:spLocks noGrp="1"/>
          </p:cNvSpPr>
          <p:nvPr/>
        </p:nvSpPr>
        <p:spPr>
          <a:xfrm>
            <a:off x="7680960" y="4233672"/>
            <a:ext cx="3154680" cy="566928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CF08CCED-EDE7-48DF-8B09-4D653BC8951C}"/>
              </a:ext>
            </a:extLst>
          </p:cNvPr>
          <p:cNvSpPr>
            <a:spLocks noGrp="1"/>
          </p:cNvSpPr>
          <p:nvPr/>
        </p:nvSpPr>
        <p:spPr>
          <a:xfrm>
            <a:off x="7744968" y="4306824"/>
            <a:ext cx="3026664" cy="4754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990">
                <a:solidFill>
                  <a:srgbClr val="18212A"/>
                </a:solidFill>
                <a:latin typeface="Aptos"/>
                <a:ea typeface="Aptos"/>
                <a:cs typeface="Aptos"/>
              </a:rPr>
              <a:t>Implementation constraints</a:t>
            </a:r>
            <a:endParaRPr sz="99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F651AF79-D888-4D37-A22F-ACDD684C5CC6}"/>
              </a:ext>
            </a:extLst>
          </p:cNvPr>
          <p:cNvSpPr>
            <a:spLocks noGrp="1"/>
          </p:cNvSpPr>
          <p:nvPr/>
        </p:nvSpPr>
        <p:spPr>
          <a:xfrm>
            <a:off x="594360" y="4800600"/>
            <a:ext cx="1024128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68508355-858A-47BD-907C-9549D7D61034}"/>
              </a:ext>
            </a:extLst>
          </p:cNvPr>
          <p:cNvSpPr>
            <a:spLocks noGrp="1"/>
          </p:cNvSpPr>
          <p:nvPr/>
        </p:nvSpPr>
        <p:spPr>
          <a:xfrm>
            <a:off x="960120" y="5623560"/>
            <a:ext cx="10241280" cy="329184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sz="19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SLR output: themes synthesise what the body of literature says, not what one individual respondent said.</a:t>
            </a:r>
            <a:endParaRPr sz="195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933A6BA0-162A-4E90-BB70-66057E4FC7D6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00">
                <a:solidFill>
                  <a:srgbClr val="56616B"/>
                </a:solidFill>
              </a:rPr>
              <a:t>23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6044147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D0B3D5B-4D6F-433D-A937-68E5F2573876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endParaRPr sz="800"/>
          </a:p>
        </p:txBody>
      </p:sp>
      <p:sp>
        <p:nvSpPr>
          <p:cNvPr id="5" name="Editable text S24 L01">
            <a:extLst>
              <a:ext uri="{FF2B5EF4-FFF2-40B4-BE49-F238E27FC236}">
                <a16:creationId xmlns:a16="http://schemas.microsoft.com/office/drawing/2014/main" id="{FB680D0A-FF40-40FC-8408-3F3E9EFBCF39}"/>
              </a:ext>
            </a:extLst>
          </p:cNvPr>
          <p:cNvSpPr>
            <a:spLocks noGrp="1"/>
          </p:cNvSpPr>
          <p:nvPr/>
        </p:nvSpPr>
        <p:spPr>
          <a:xfrm>
            <a:off x="637762" y="330518"/>
            <a:ext cx="10897417" cy="464820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6551"/>
          </a:bodyPr>
          <a:lstStyle/>
          <a:p>
            <a:pPr>
              <a:buNone/>
              <a:defRPr sz="3182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Five qualitative analysis methods novice researchers should recognise</a:t>
            </a:r>
          </a:p>
        </p:txBody>
      </p:sp>
      <p:sp>
        <p:nvSpPr>
          <p:cNvPr id="6" name="Editable text S24 L02">
            <a:extLst>
              <a:ext uri="{FF2B5EF4-FFF2-40B4-BE49-F238E27FC236}">
                <a16:creationId xmlns:a16="http://schemas.microsoft.com/office/drawing/2014/main" id="{6726D430-F403-4110-991E-0283BE32F821}"/>
              </a:ext>
            </a:extLst>
          </p:cNvPr>
          <p:cNvSpPr>
            <a:spLocks noGrp="1"/>
          </p:cNvSpPr>
          <p:nvPr/>
        </p:nvSpPr>
        <p:spPr>
          <a:xfrm>
            <a:off x="637763" y="795338"/>
            <a:ext cx="1782064" cy="411480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2352" lnSpcReduction="10000"/>
          </a:bodyPr>
          <a:lstStyle/>
          <a:p>
            <a:pPr algn="l">
              <a:buNone/>
              <a:defRPr sz="3182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defRPr>
            </a:pPr>
            <a:endParaRPr sz="3182" b="1">
              <a:solidFill>
                <a:srgbClr val="1821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Editable text S24 L04">
            <a:extLst>
              <a:ext uri="{FF2B5EF4-FFF2-40B4-BE49-F238E27FC236}">
                <a16:creationId xmlns:a16="http://schemas.microsoft.com/office/drawing/2014/main" id="{BAA6A4C1-5D2E-4B87-898D-64396674D59A}"/>
              </a:ext>
            </a:extLst>
          </p:cNvPr>
          <p:cNvSpPr>
            <a:spLocks noGrp="1"/>
          </p:cNvSpPr>
          <p:nvPr/>
        </p:nvSpPr>
        <p:spPr>
          <a:xfrm>
            <a:off x="4659568" y="1463040"/>
            <a:ext cx="5949493" cy="24574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9021"/>
          </a:bodyPr>
          <a:lstStyle/>
          <a:p>
            <a:pPr algn="l">
              <a:buNone/>
              <a:defRPr sz="1561" b="1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1561" b="1">
                <a:solidFill>
                  <a:srgbClr val="56616B"/>
                </a:solidFill>
                <a:latin typeface="Aptos"/>
                <a:ea typeface="Aptos"/>
                <a:cs typeface="Aptos"/>
              </a:rPr>
              <a:t>Studies the stories people tell and how meaning is constructed.</a:t>
            </a:r>
          </a:p>
        </p:txBody>
      </p:sp>
      <p:sp>
        <p:nvSpPr>
          <p:cNvPr id="10" name="Editable text S24 L06">
            <a:extLst>
              <a:ext uri="{FF2B5EF4-FFF2-40B4-BE49-F238E27FC236}">
                <a16:creationId xmlns:a16="http://schemas.microsoft.com/office/drawing/2014/main" id="{73B6B360-DCD8-4ADB-80AE-FD867459F5FF}"/>
              </a:ext>
            </a:extLst>
          </p:cNvPr>
          <p:cNvSpPr>
            <a:spLocks noGrp="1"/>
          </p:cNvSpPr>
          <p:nvPr/>
        </p:nvSpPr>
        <p:spPr>
          <a:xfrm>
            <a:off x="4663375" y="2350770"/>
            <a:ext cx="5294583" cy="24955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591" b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1591" b="0">
                <a:solidFill>
                  <a:srgbClr val="56616B"/>
                </a:solidFill>
                <a:latin typeface="Aptos"/>
                <a:ea typeface="Aptos"/>
                <a:cs typeface="Aptos"/>
              </a:rPr>
              <a:t>Categorises textual material into themes or frequencies.</a:t>
            </a:r>
          </a:p>
        </p:txBody>
      </p:sp>
      <p:sp>
        <p:nvSpPr>
          <p:cNvPr id="12" name="Editable text S24 L08">
            <a:extLst>
              <a:ext uri="{FF2B5EF4-FFF2-40B4-BE49-F238E27FC236}">
                <a16:creationId xmlns:a16="http://schemas.microsoft.com/office/drawing/2014/main" id="{B1190642-63C6-484D-859B-1E36BFFF88B3}"/>
              </a:ext>
            </a:extLst>
          </p:cNvPr>
          <p:cNvSpPr>
            <a:spLocks noGrp="1"/>
          </p:cNvSpPr>
          <p:nvPr/>
        </p:nvSpPr>
        <p:spPr>
          <a:xfrm>
            <a:off x="4667183" y="3253740"/>
            <a:ext cx="5983762" cy="24574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561" b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1561" b="0">
                <a:solidFill>
                  <a:srgbClr val="56616B"/>
                </a:solidFill>
                <a:latin typeface="Aptos"/>
                <a:ea typeface="Aptos"/>
                <a:cs typeface="Aptos"/>
              </a:rPr>
              <a:t>Looks at how language constructs reality in texts or institutions.</a:t>
            </a:r>
          </a:p>
        </p:txBody>
      </p:sp>
      <p:sp>
        <p:nvSpPr>
          <p:cNvPr id="14" name="Editable text S24 L10">
            <a:extLst>
              <a:ext uri="{FF2B5EF4-FFF2-40B4-BE49-F238E27FC236}">
                <a16:creationId xmlns:a16="http://schemas.microsoft.com/office/drawing/2014/main" id="{9E2599A4-DD92-4F2C-83AE-8A7595525964}"/>
              </a:ext>
            </a:extLst>
          </p:cNvPr>
          <p:cNvSpPr>
            <a:spLocks noGrp="1"/>
          </p:cNvSpPr>
          <p:nvPr/>
        </p:nvSpPr>
        <p:spPr>
          <a:xfrm>
            <a:off x="4667183" y="4149090"/>
            <a:ext cx="3394580" cy="24955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591" b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1591" b="0">
                <a:solidFill>
                  <a:srgbClr val="56616B"/>
                </a:solidFill>
                <a:latin typeface="Aptos"/>
                <a:ea typeface="Aptos"/>
                <a:cs typeface="Aptos"/>
              </a:rPr>
              <a:t>Builds theory from participant data.</a:t>
            </a:r>
          </a:p>
        </p:txBody>
      </p:sp>
      <p:sp>
        <p:nvSpPr>
          <p:cNvPr id="16" name="Editable text S24 L12">
            <a:extLst>
              <a:ext uri="{FF2B5EF4-FFF2-40B4-BE49-F238E27FC236}">
                <a16:creationId xmlns:a16="http://schemas.microsoft.com/office/drawing/2014/main" id="{933AC719-AF1E-43E5-9C35-0428A9197AF1}"/>
              </a:ext>
            </a:extLst>
          </p:cNvPr>
          <p:cNvSpPr>
            <a:spLocks noGrp="1"/>
          </p:cNvSpPr>
          <p:nvPr/>
        </p:nvSpPr>
        <p:spPr>
          <a:xfrm>
            <a:off x="4667183" y="5040630"/>
            <a:ext cx="5622038" cy="24955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591" b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1591" b="0">
                <a:solidFill>
                  <a:srgbClr val="56616B"/>
                </a:solidFill>
                <a:latin typeface="Aptos"/>
                <a:ea typeface="Aptos"/>
                <a:cs typeface="Aptos"/>
              </a:rPr>
              <a:t>Uses predefined objectives, often in applied policy research.</a:t>
            </a:r>
          </a:p>
        </p:txBody>
      </p:sp>
      <p:sp>
        <p:nvSpPr>
          <p:cNvPr id="17" name="Editable text S24 L13">
            <a:extLst>
              <a:ext uri="{FF2B5EF4-FFF2-40B4-BE49-F238E27FC236}">
                <a16:creationId xmlns:a16="http://schemas.microsoft.com/office/drawing/2014/main" id="{1E61D0A5-1D8D-451D-AEF0-A4EB16523887}"/>
              </a:ext>
            </a:extLst>
          </p:cNvPr>
          <p:cNvSpPr>
            <a:spLocks noGrp="1"/>
          </p:cNvSpPr>
          <p:nvPr/>
        </p:nvSpPr>
        <p:spPr>
          <a:xfrm>
            <a:off x="1175153" y="5870981"/>
            <a:ext cx="10035954" cy="280492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836" b="1">
                <a:solidFill>
                  <a:srgbClr val="26323F"/>
                </a:solidFill>
                <a:latin typeface="Aptos"/>
                <a:ea typeface="Aptos"/>
                <a:cs typeface="Aptos"/>
              </a:defRPr>
            </a:pPr>
            <a:r>
              <a:rPr sz="1836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Choose the method that fits your research question, data source and intended findings</a:t>
            </a:r>
          </a:p>
        </p:txBody>
      </p:sp>
      <p:sp>
        <p:nvSpPr>
          <p:cNvPr id="18" name="Editable text S24 L14">
            <a:extLst>
              <a:ext uri="{FF2B5EF4-FFF2-40B4-BE49-F238E27FC236}">
                <a16:creationId xmlns:a16="http://schemas.microsoft.com/office/drawing/2014/main" id="{0F1EC25F-7A22-4F1B-8D21-66E28D2EC26D}"/>
              </a:ext>
            </a:extLst>
          </p:cNvPr>
          <p:cNvSpPr>
            <a:spLocks noGrp="1"/>
          </p:cNvSpPr>
          <p:nvPr/>
        </p:nvSpPr>
        <p:spPr>
          <a:xfrm>
            <a:off x="11535180" y="6593205"/>
            <a:ext cx="232348" cy="1200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00" b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6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303528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5115689-F820-4E3D-B9DB-2ADE3C89206F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endParaRPr sz="800"/>
          </a:p>
        </p:txBody>
      </p:sp>
      <p:sp>
        <p:nvSpPr>
          <p:cNvPr id="5" name="Editable text S25 L01">
            <a:extLst>
              <a:ext uri="{FF2B5EF4-FFF2-40B4-BE49-F238E27FC236}">
                <a16:creationId xmlns:a16="http://schemas.microsoft.com/office/drawing/2014/main" id="{3430AC87-2880-4B9D-B0F6-7F0AAF407C70}"/>
              </a:ext>
            </a:extLst>
          </p:cNvPr>
          <p:cNvSpPr>
            <a:spLocks noGrp="1"/>
          </p:cNvSpPr>
          <p:nvPr/>
        </p:nvSpPr>
        <p:spPr>
          <a:xfrm>
            <a:off x="650142" y="188280"/>
            <a:ext cx="1069475" cy="286066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12" b="1">
                <a:solidFill>
                  <a:srgbClr val="0F5E5A"/>
                </a:solidFill>
                <a:latin typeface="Aptos"/>
                <a:ea typeface="Aptos"/>
                <a:cs typeface="Aptos"/>
              </a:defRPr>
            </a:pPr>
            <a:endParaRPr sz="612" b="1">
              <a:solidFill>
                <a:srgbClr val="0F5E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Editable text S25 L02">
            <a:extLst>
              <a:ext uri="{FF2B5EF4-FFF2-40B4-BE49-F238E27FC236}">
                <a16:creationId xmlns:a16="http://schemas.microsoft.com/office/drawing/2014/main" id="{86344F6F-E2B5-4353-BC71-9EECB66411F2}"/>
              </a:ext>
            </a:extLst>
          </p:cNvPr>
          <p:cNvSpPr>
            <a:spLocks noGrp="1"/>
          </p:cNvSpPr>
          <p:nvPr/>
        </p:nvSpPr>
        <p:spPr>
          <a:xfrm>
            <a:off x="628436" y="622935"/>
            <a:ext cx="10859047" cy="38290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3056"/>
          </a:bodyPr>
          <a:lstStyle/>
          <a:p>
            <a:pPr algn="l">
              <a:buNone/>
              <a:defRPr sz="2700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ICT example: qualitative methods applied to one technology project</a:t>
            </a:r>
          </a:p>
        </p:txBody>
      </p:sp>
      <p:sp>
        <p:nvSpPr>
          <p:cNvPr id="7" name="Editable text S25 L03">
            <a:extLst>
              <a:ext uri="{FF2B5EF4-FFF2-40B4-BE49-F238E27FC236}">
                <a16:creationId xmlns:a16="http://schemas.microsoft.com/office/drawing/2014/main" id="{2EA12526-D2EB-4989-9016-E960E15DBF6A}"/>
              </a:ext>
            </a:extLst>
          </p:cNvPr>
          <p:cNvSpPr>
            <a:spLocks noGrp="1"/>
          </p:cNvSpPr>
          <p:nvPr/>
        </p:nvSpPr>
        <p:spPr>
          <a:xfrm>
            <a:off x="720550" y="1339531"/>
            <a:ext cx="7929525" cy="309883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9188"/>
          </a:bodyPr>
          <a:lstStyle/>
          <a:p>
            <a:pPr algn="l">
              <a:buNone/>
              <a:defRPr sz="2050" b="1">
                <a:solidFill>
                  <a:srgbClr val="26323F"/>
                </a:solidFill>
                <a:latin typeface="Aptos"/>
                <a:ea typeface="Aptos"/>
                <a:cs typeface="Aptos"/>
              </a:defRPr>
            </a:pPr>
            <a:r>
              <a:rPr sz="2050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Different qualitative methods answer different ICT questions.</a:t>
            </a:r>
          </a:p>
        </p:txBody>
      </p:sp>
      <p:sp>
        <p:nvSpPr>
          <p:cNvPr id="10" name="Editable text S25 L06">
            <a:extLst>
              <a:ext uri="{FF2B5EF4-FFF2-40B4-BE49-F238E27FC236}">
                <a16:creationId xmlns:a16="http://schemas.microsoft.com/office/drawing/2014/main" id="{5D37EF4E-4D03-4B69-9A6A-FD506F62A6A5}"/>
              </a:ext>
            </a:extLst>
          </p:cNvPr>
          <p:cNvSpPr>
            <a:spLocks noGrp="1"/>
          </p:cNvSpPr>
          <p:nvPr/>
        </p:nvSpPr>
        <p:spPr>
          <a:xfrm>
            <a:off x="878601" y="2617470"/>
            <a:ext cx="1387964" cy="2038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24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24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Narrative analysis</a:t>
            </a:r>
          </a:p>
        </p:txBody>
      </p:sp>
      <p:sp>
        <p:nvSpPr>
          <p:cNvPr id="11" name="Editable text S25 L07">
            <a:extLst>
              <a:ext uri="{FF2B5EF4-FFF2-40B4-BE49-F238E27FC236}">
                <a16:creationId xmlns:a16="http://schemas.microsoft.com/office/drawing/2014/main" id="{DCC5DE71-3170-4924-B9A4-EF6E3F873425}"/>
              </a:ext>
            </a:extLst>
          </p:cNvPr>
          <p:cNvSpPr>
            <a:spLocks noGrp="1"/>
          </p:cNvSpPr>
          <p:nvPr/>
        </p:nvSpPr>
        <p:spPr>
          <a:xfrm>
            <a:off x="3608664" y="2598420"/>
            <a:ext cx="7011820" cy="23812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3885"/>
          </a:bodyPr>
          <a:lstStyle/>
          <a:p>
            <a:pPr algn="l">
              <a:buNone/>
              <a:defRPr sz="1499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99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How do first-year students describe their journey from fear to confidence when learning Python?</a:t>
            </a:r>
          </a:p>
        </p:txBody>
      </p:sp>
      <p:sp>
        <p:nvSpPr>
          <p:cNvPr id="12" name="Editable text S25 L08">
            <a:extLst>
              <a:ext uri="{FF2B5EF4-FFF2-40B4-BE49-F238E27FC236}">
                <a16:creationId xmlns:a16="http://schemas.microsoft.com/office/drawing/2014/main" id="{3307FBCE-4341-44FE-A983-86226C61CFDA}"/>
              </a:ext>
            </a:extLst>
          </p:cNvPr>
          <p:cNvSpPr>
            <a:spLocks noGrp="1"/>
          </p:cNvSpPr>
          <p:nvPr/>
        </p:nvSpPr>
        <p:spPr>
          <a:xfrm>
            <a:off x="870985" y="3150870"/>
            <a:ext cx="1304197" cy="2038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24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24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Content analysis</a:t>
            </a:r>
          </a:p>
        </p:txBody>
      </p:sp>
      <p:sp>
        <p:nvSpPr>
          <p:cNvPr id="13" name="Editable text S25 L09">
            <a:extLst>
              <a:ext uri="{FF2B5EF4-FFF2-40B4-BE49-F238E27FC236}">
                <a16:creationId xmlns:a16="http://schemas.microsoft.com/office/drawing/2014/main" id="{80BBB5AC-ECE3-4BDC-B199-9FAE85A45C76}"/>
              </a:ext>
            </a:extLst>
          </p:cNvPr>
          <p:cNvSpPr>
            <a:spLocks noGrp="1"/>
          </p:cNvSpPr>
          <p:nvPr/>
        </p:nvSpPr>
        <p:spPr>
          <a:xfrm>
            <a:off x="4686221" y="3147060"/>
            <a:ext cx="4849091" cy="20764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5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5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What types of complaints appear most often in app-store reviews?</a:t>
            </a:r>
          </a:p>
        </p:txBody>
      </p:sp>
      <p:sp>
        <p:nvSpPr>
          <p:cNvPr id="14" name="Editable text S25 L10">
            <a:extLst>
              <a:ext uri="{FF2B5EF4-FFF2-40B4-BE49-F238E27FC236}">
                <a16:creationId xmlns:a16="http://schemas.microsoft.com/office/drawing/2014/main" id="{6D59D77E-4696-472C-B64E-FD3DE6799E0A}"/>
              </a:ext>
            </a:extLst>
          </p:cNvPr>
          <p:cNvSpPr>
            <a:spLocks noGrp="1"/>
          </p:cNvSpPr>
          <p:nvPr/>
        </p:nvSpPr>
        <p:spPr>
          <a:xfrm>
            <a:off x="878601" y="3676650"/>
            <a:ext cx="1426041" cy="2038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24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24" b="0" dirty="0">
                <a:solidFill>
                  <a:srgbClr val="18212A"/>
                </a:solidFill>
                <a:latin typeface="Aptos"/>
                <a:ea typeface="Aptos"/>
                <a:cs typeface="Aptos"/>
              </a:rPr>
              <a:t>Discourse analysis</a:t>
            </a:r>
          </a:p>
        </p:txBody>
      </p:sp>
      <p:sp>
        <p:nvSpPr>
          <p:cNvPr id="15" name="Editable text S25 L11">
            <a:extLst>
              <a:ext uri="{FF2B5EF4-FFF2-40B4-BE49-F238E27FC236}">
                <a16:creationId xmlns:a16="http://schemas.microsoft.com/office/drawing/2014/main" id="{BD4A4387-A73A-45D8-B683-3A8FD95A3036}"/>
              </a:ext>
            </a:extLst>
          </p:cNvPr>
          <p:cNvSpPr>
            <a:spLocks noGrp="1"/>
          </p:cNvSpPr>
          <p:nvPr/>
        </p:nvSpPr>
        <p:spPr>
          <a:xfrm>
            <a:off x="4408265" y="3672840"/>
            <a:ext cx="5420234" cy="20764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5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5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How does university policy language frame AI tools as risk or opportunity?</a:t>
            </a:r>
          </a:p>
        </p:txBody>
      </p:sp>
      <p:sp>
        <p:nvSpPr>
          <p:cNvPr id="17" name="Editable text S25 L13">
            <a:extLst>
              <a:ext uri="{FF2B5EF4-FFF2-40B4-BE49-F238E27FC236}">
                <a16:creationId xmlns:a16="http://schemas.microsoft.com/office/drawing/2014/main" id="{A4A46144-E940-46B6-BCDF-D8D8DF016D5D}"/>
              </a:ext>
            </a:extLst>
          </p:cNvPr>
          <p:cNvSpPr>
            <a:spLocks noGrp="1"/>
          </p:cNvSpPr>
          <p:nvPr/>
        </p:nvSpPr>
        <p:spPr>
          <a:xfrm>
            <a:off x="4004657" y="4206240"/>
            <a:ext cx="6212219" cy="20764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5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5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What theory emerges from developer interviews about adopting low-code platforms?</a:t>
            </a:r>
          </a:p>
        </p:txBody>
      </p:sp>
      <p:sp>
        <p:nvSpPr>
          <p:cNvPr id="18" name="Editable text S25 L14">
            <a:extLst>
              <a:ext uri="{FF2B5EF4-FFF2-40B4-BE49-F238E27FC236}">
                <a16:creationId xmlns:a16="http://schemas.microsoft.com/office/drawing/2014/main" id="{F1BA43DD-DEE9-4914-9E84-9D8F4C615331}"/>
              </a:ext>
            </a:extLst>
          </p:cNvPr>
          <p:cNvSpPr>
            <a:spLocks noGrp="1"/>
          </p:cNvSpPr>
          <p:nvPr/>
        </p:nvSpPr>
        <p:spPr>
          <a:xfrm>
            <a:off x="878601" y="4743450"/>
            <a:ext cx="1528846" cy="2038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24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24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Framework analysis</a:t>
            </a:r>
          </a:p>
        </p:txBody>
      </p:sp>
      <p:sp>
        <p:nvSpPr>
          <p:cNvPr id="19" name="Editable text S25 L15">
            <a:extLst>
              <a:ext uri="{FF2B5EF4-FFF2-40B4-BE49-F238E27FC236}">
                <a16:creationId xmlns:a16="http://schemas.microsoft.com/office/drawing/2014/main" id="{2006A8AF-CC97-4ACE-A6D5-00AE7AFC432E}"/>
              </a:ext>
            </a:extLst>
          </p:cNvPr>
          <p:cNvSpPr>
            <a:spLocks noGrp="1"/>
          </p:cNvSpPr>
          <p:nvPr/>
        </p:nvSpPr>
        <p:spPr>
          <a:xfrm>
            <a:off x="4602453" y="4739640"/>
            <a:ext cx="5028049" cy="20764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5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5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How do interview findings fit an existing digital inclusion framework?</a:t>
            </a:r>
          </a:p>
        </p:txBody>
      </p:sp>
      <p:sp>
        <p:nvSpPr>
          <p:cNvPr id="20" name="Editable text S25 L16">
            <a:extLst>
              <a:ext uri="{FF2B5EF4-FFF2-40B4-BE49-F238E27FC236}">
                <a16:creationId xmlns:a16="http://schemas.microsoft.com/office/drawing/2014/main" id="{23E92A21-DC4C-4A73-917F-4DEA1CD9F165}"/>
              </a:ext>
            </a:extLst>
          </p:cNvPr>
          <p:cNvSpPr>
            <a:spLocks noGrp="1"/>
          </p:cNvSpPr>
          <p:nvPr/>
        </p:nvSpPr>
        <p:spPr>
          <a:xfrm>
            <a:off x="1065174" y="5741670"/>
            <a:ext cx="10118838" cy="2419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530" b="1">
                <a:solidFill>
                  <a:srgbClr val="26323F"/>
                </a:solidFill>
                <a:latin typeface="Aptos"/>
                <a:ea typeface="Aptos"/>
                <a:cs typeface="Aptos"/>
              </a:defRPr>
            </a:pPr>
            <a:r>
              <a:rPr sz="1530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Do not use “thematic analysis” automatically. Match the method to the research purpose.</a:t>
            </a:r>
          </a:p>
        </p:txBody>
      </p:sp>
      <p:sp>
        <p:nvSpPr>
          <p:cNvPr id="21" name="Editable text S25 L17">
            <a:extLst>
              <a:ext uri="{FF2B5EF4-FFF2-40B4-BE49-F238E27FC236}">
                <a16:creationId xmlns:a16="http://schemas.microsoft.com/office/drawing/2014/main" id="{1D6D320F-BFAF-4920-8042-E09E2CF469BF}"/>
              </a:ext>
            </a:extLst>
          </p:cNvPr>
          <p:cNvSpPr>
            <a:spLocks noGrp="1"/>
          </p:cNvSpPr>
          <p:nvPr/>
        </p:nvSpPr>
        <p:spPr>
          <a:xfrm>
            <a:off x="11561833" y="6600825"/>
            <a:ext cx="300885" cy="1200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00" b="0">
                <a:solidFill>
                  <a:srgbClr val="838B9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38B93"/>
                </a:solidFill>
                <a:latin typeface="Aptos"/>
                <a:ea typeface="Aptos"/>
                <a:cs typeface="Aptos"/>
              </a:rPr>
              <a:t>10A</a:t>
            </a:r>
          </a:p>
        </p:txBody>
      </p:sp>
    </p:spTree>
    <p:extLst>
      <p:ext uri="{BB962C8B-B14F-4D97-AF65-F5344CB8AC3E}">
        <p14:creationId xmlns:p14="http://schemas.microsoft.com/office/powerpoint/2010/main" val="16826804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18AC629-71EA-4C76-92C6-F68C9A3209E5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endParaRPr sz="800"/>
          </a:p>
        </p:txBody>
      </p:sp>
      <p:sp>
        <p:nvSpPr>
          <p:cNvPr id="5" name="Editable text S26 L01">
            <a:extLst>
              <a:ext uri="{FF2B5EF4-FFF2-40B4-BE49-F238E27FC236}">
                <a16:creationId xmlns:a16="http://schemas.microsoft.com/office/drawing/2014/main" id="{785BF96D-7BE9-4885-A4A1-BF70B6DC2BD8}"/>
              </a:ext>
            </a:extLst>
          </p:cNvPr>
          <p:cNvSpPr>
            <a:spLocks noGrp="1"/>
          </p:cNvSpPr>
          <p:nvPr/>
        </p:nvSpPr>
        <p:spPr>
          <a:xfrm>
            <a:off x="646336" y="-16832"/>
            <a:ext cx="1332225" cy="483558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12" b="1">
                <a:solidFill>
                  <a:srgbClr val="0F5E5A"/>
                </a:solidFill>
                <a:latin typeface="Aptos"/>
                <a:ea typeface="Aptos"/>
                <a:cs typeface="Aptos"/>
              </a:defRPr>
            </a:pPr>
            <a:endParaRPr sz="612" b="1">
              <a:solidFill>
                <a:srgbClr val="0F5E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Editable text S26 L02">
            <a:extLst>
              <a:ext uri="{FF2B5EF4-FFF2-40B4-BE49-F238E27FC236}">
                <a16:creationId xmlns:a16="http://schemas.microsoft.com/office/drawing/2014/main" id="{40559C3F-ADA5-460C-BD83-9B74D0B4BE28}"/>
              </a:ext>
            </a:extLst>
          </p:cNvPr>
          <p:cNvSpPr>
            <a:spLocks noGrp="1"/>
          </p:cNvSpPr>
          <p:nvPr/>
        </p:nvSpPr>
        <p:spPr>
          <a:xfrm>
            <a:off x="643075" y="588108"/>
            <a:ext cx="8392891" cy="410649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6752" lnSpcReduction="10000"/>
          </a:bodyPr>
          <a:lstStyle/>
          <a:p>
            <a:pPr algn="l">
              <a:buNone/>
              <a:defRPr sz="2785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85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Manual vs software-assisted qualitative analysis</a:t>
            </a:r>
          </a:p>
        </p:txBody>
      </p:sp>
      <p:sp>
        <p:nvSpPr>
          <p:cNvPr id="16" name="Editable text S26 L12">
            <a:extLst>
              <a:ext uri="{FF2B5EF4-FFF2-40B4-BE49-F238E27FC236}">
                <a16:creationId xmlns:a16="http://schemas.microsoft.com/office/drawing/2014/main" id="{1A8145F1-7F53-4723-B735-7E03CE498ECC}"/>
              </a:ext>
            </a:extLst>
          </p:cNvPr>
          <p:cNvSpPr>
            <a:spLocks noGrp="1"/>
          </p:cNvSpPr>
          <p:nvPr/>
        </p:nvSpPr>
        <p:spPr>
          <a:xfrm>
            <a:off x="946696" y="4354601"/>
            <a:ext cx="2081835" cy="280492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836" b="1">
                <a:solidFill>
                  <a:srgbClr val="0F5E5A"/>
                </a:solidFill>
                <a:latin typeface="Aptos"/>
                <a:ea typeface="Aptos"/>
                <a:cs typeface="Aptos"/>
              </a:defRPr>
            </a:pPr>
            <a:r>
              <a:rPr sz="1836" b="1">
                <a:solidFill>
                  <a:srgbClr val="0F5E5A"/>
                </a:solidFill>
                <a:latin typeface="Aptos"/>
                <a:ea typeface="Aptos"/>
                <a:cs typeface="Aptos"/>
              </a:rPr>
              <a:t>ATLAS.ti example</a:t>
            </a:r>
          </a:p>
        </p:txBody>
      </p:sp>
      <p:sp>
        <p:nvSpPr>
          <p:cNvPr id="17" name="Editable text S26 L13">
            <a:extLst>
              <a:ext uri="{FF2B5EF4-FFF2-40B4-BE49-F238E27FC236}">
                <a16:creationId xmlns:a16="http://schemas.microsoft.com/office/drawing/2014/main" id="{7B6B8934-5A00-476B-8350-BDCA579432DE}"/>
              </a:ext>
            </a:extLst>
          </p:cNvPr>
          <p:cNvSpPr>
            <a:spLocks noGrp="1"/>
          </p:cNvSpPr>
          <p:nvPr/>
        </p:nvSpPr>
        <p:spPr>
          <a:xfrm>
            <a:off x="1022848" y="4811801"/>
            <a:ext cx="10161605" cy="280492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836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36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Transcripts become primary documents. Codes are created, grouped, annotated with memos,</a:t>
            </a:r>
          </a:p>
        </p:txBody>
      </p:sp>
      <p:sp>
        <p:nvSpPr>
          <p:cNvPr id="18" name="Editable text S26 L14">
            <a:extLst>
              <a:ext uri="{FF2B5EF4-FFF2-40B4-BE49-F238E27FC236}">
                <a16:creationId xmlns:a16="http://schemas.microsoft.com/office/drawing/2014/main" id="{A1F683A7-0CF2-4365-8B98-0928AD9453EE}"/>
              </a:ext>
            </a:extLst>
          </p:cNvPr>
          <p:cNvSpPr>
            <a:spLocks noGrp="1"/>
          </p:cNvSpPr>
          <p:nvPr/>
        </p:nvSpPr>
        <p:spPr>
          <a:xfrm>
            <a:off x="1978561" y="5086121"/>
            <a:ext cx="8253988" cy="280492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836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36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queried for co-occurrence, visualised in networks and exported into reports.</a:t>
            </a:r>
          </a:p>
        </p:txBody>
      </p:sp>
      <p:sp>
        <p:nvSpPr>
          <p:cNvPr id="19" name="Editable text S26 L15">
            <a:extLst>
              <a:ext uri="{FF2B5EF4-FFF2-40B4-BE49-F238E27FC236}">
                <a16:creationId xmlns:a16="http://schemas.microsoft.com/office/drawing/2014/main" id="{49C92C4F-1B60-41EC-AE81-18DEA1034DA6}"/>
              </a:ext>
            </a:extLst>
          </p:cNvPr>
          <p:cNvSpPr>
            <a:spLocks noGrp="1"/>
          </p:cNvSpPr>
          <p:nvPr/>
        </p:nvSpPr>
        <p:spPr>
          <a:xfrm>
            <a:off x="11535180" y="6593205"/>
            <a:ext cx="217118" cy="1200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00" b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6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803241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AF71DB-0B89-4E59-95CA-6457BDF9159D}"/>
              </a:ext>
            </a:extLst>
          </p:cNvPr>
          <p:cNvSpPr>
            <a:spLocks noGrp="1"/>
          </p:cNvSpPr>
          <p:nvPr/>
        </p:nvSpPr>
        <p:spPr>
          <a:xfrm>
            <a:off x="658368" y="29260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99F6CAD-ECA1-45F5-9AC9-867922B378D3}"/>
              </a:ext>
            </a:extLst>
          </p:cNvPr>
          <p:cNvSpPr>
            <a:spLocks noGrp="1"/>
          </p:cNvSpPr>
          <p:nvPr/>
        </p:nvSpPr>
        <p:spPr>
          <a:xfrm>
            <a:off x="640080" y="512064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700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SLR analysis tools: spreadsheet first, software if text-heavy</a:t>
            </a:r>
            <a:endParaRPr sz="27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6EC62E2-4996-46B3-BF1E-0DC7406015DE}"/>
              </a:ext>
            </a:extLst>
          </p:cNvPr>
          <p:cNvSpPr>
            <a:spLocks noGrp="1"/>
          </p:cNvSpPr>
          <p:nvPr/>
        </p:nvSpPr>
        <p:spPr>
          <a:xfrm>
            <a:off x="640080" y="1133856"/>
            <a:ext cx="10927080" cy="0"/>
          </a:xfrm>
          <a:prstGeom prst="line">
            <a:avLst/>
          </a:prstGeom>
          <a:noFill/>
          <a:ln w="1524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6EC877F-3143-45EE-A63B-F65C11BCD86E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11292840" cy="0"/>
          </a:xfrm>
          <a:prstGeom prst="line">
            <a:avLst/>
          </a:prstGeom>
          <a:noFill/>
          <a:ln w="1270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AC54900-66D6-4103-B4DA-B334A0B43766}"/>
              </a:ext>
            </a:extLst>
          </p:cNvPr>
          <p:cNvSpPr>
            <a:spLocks noGrp="1"/>
          </p:cNvSpPr>
          <p:nvPr/>
        </p:nvSpPr>
        <p:spPr>
          <a:xfrm>
            <a:off x="777240" y="1298448"/>
            <a:ext cx="10698480" cy="41148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Students often think they need advanced software. For a novice SLR, the priority is a clean audit trail.</a:t>
            </a:r>
            <a:endParaRPr sz="20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48DD9A7-E97D-434F-A3C9-22BCC4F630F9}"/>
              </a:ext>
            </a:extLst>
          </p:cNvPr>
          <p:cNvSpPr>
            <a:spLocks noGrp="1"/>
          </p:cNvSpPr>
          <p:nvPr/>
        </p:nvSpPr>
        <p:spPr>
          <a:xfrm>
            <a:off x="868680" y="205740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EAF4E6"/>
          </a:solidFill>
          <a:ln w="1016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459EE3F-E642-4BE7-A120-5D5903D90A3A}"/>
              </a:ext>
            </a:extLst>
          </p:cNvPr>
          <p:cNvSpPr>
            <a:spLocks noGrp="1"/>
          </p:cNvSpPr>
          <p:nvPr/>
        </p:nvSpPr>
        <p:spPr>
          <a:xfrm>
            <a:off x="1033272" y="2221992"/>
            <a:ext cx="3099816" cy="27432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 algn="l">
              <a:buNone/>
            </a:pPr>
            <a:r>
              <a:rPr sz="1650" b="1">
                <a:solidFill>
                  <a:srgbClr val="4F8F3A"/>
                </a:solidFill>
                <a:latin typeface="Aptos"/>
                <a:ea typeface="Aptos"/>
                <a:cs typeface="Aptos"/>
              </a:rPr>
              <a:t>Spreadsheet route</a:t>
            </a:r>
            <a:endParaRPr sz="16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9DF16F2-4617-47AE-BFA2-745521B36C06}"/>
              </a:ext>
            </a:extLst>
          </p:cNvPr>
          <p:cNvSpPr>
            <a:spLocks noGrp="1"/>
          </p:cNvSpPr>
          <p:nvPr/>
        </p:nvSpPr>
        <p:spPr>
          <a:xfrm>
            <a:off x="1033272" y="2606040"/>
            <a:ext cx="3099816" cy="1655064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 algn="l">
              <a:buNone/>
            </a:pPr>
            <a:r>
              <a:rPr sz="1270">
                <a:solidFill>
                  <a:srgbClr val="18212A"/>
                </a:solidFill>
                <a:latin typeface="Aptos"/>
                <a:ea typeface="Aptos"/>
                <a:cs typeface="Aptos"/>
              </a:rPr>
              <a:t>Best for most SLRs</a:t>
            </a:r>
            <a:endParaRPr sz="1270"/>
          </a:p>
          <a:p>
            <a:pPr marL="0" indent="0" algn="l">
              <a:buNone/>
            </a:pPr>
            <a:endParaRPr sz="1270"/>
          </a:p>
          <a:p>
            <a:pPr marL="0" indent="0" algn="l">
              <a:buNone/>
            </a:pPr>
            <a:r>
              <a:rPr sz="1270">
                <a:solidFill>
                  <a:srgbClr val="18212A"/>
                </a:solidFill>
                <a:latin typeface="Aptos"/>
                <a:ea typeface="Aptos"/>
                <a:cs typeface="Aptos"/>
              </a:rPr>
              <a:t>Use columns for study ID, author, year, method, technology, country, sample, key finding, code and theme.</a:t>
            </a:r>
            <a:endParaRPr sz="127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41AED38-40CA-481E-8198-6671FC86AA7A}"/>
              </a:ext>
            </a:extLst>
          </p:cNvPr>
          <p:cNvSpPr>
            <a:spLocks noGrp="1"/>
          </p:cNvSpPr>
          <p:nvPr/>
        </p:nvSpPr>
        <p:spPr>
          <a:xfrm>
            <a:off x="4434840" y="205740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E7EEF9"/>
          </a:solidFill>
          <a:ln w="1016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AD87ECA-0CA0-4340-9B53-CD2BC766B899}"/>
              </a:ext>
            </a:extLst>
          </p:cNvPr>
          <p:cNvSpPr>
            <a:spLocks noGrp="1"/>
          </p:cNvSpPr>
          <p:nvPr/>
        </p:nvSpPr>
        <p:spPr>
          <a:xfrm>
            <a:off x="4599432" y="2221992"/>
            <a:ext cx="3099816" cy="27432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 algn="l">
              <a:buNone/>
            </a:pPr>
            <a:r>
              <a:rPr sz="1650" b="1">
                <a:solidFill>
                  <a:srgbClr val="315D9D"/>
                </a:solidFill>
                <a:latin typeface="Aptos"/>
                <a:ea typeface="Aptos"/>
                <a:cs typeface="Aptos"/>
              </a:rPr>
              <a:t>Reference manager route</a:t>
            </a:r>
            <a:endParaRPr sz="165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88B3955-C2F4-4174-8029-87703D9BE25C}"/>
              </a:ext>
            </a:extLst>
          </p:cNvPr>
          <p:cNvSpPr>
            <a:spLocks noGrp="1"/>
          </p:cNvSpPr>
          <p:nvPr/>
        </p:nvSpPr>
        <p:spPr>
          <a:xfrm>
            <a:off x="4599432" y="2606040"/>
            <a:ext cx="3099816" cy="1655064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 algn="l">
              <a:buNone/>
            </a:pPr>
            <a:r>
              <a:rPr sz="1270">
                <a:solidFill>
                  <a:srgbClr val="18212A"/>
                </a:solidFill>
                <a:latin typeface="Aptos"/>
                <a:ea typeface="Aptos"/>
                <a:cs typeface="Aptos"/>
              </a:rPr>
              <a:t>Useful for screening and organising</a:t>
            </a:r>
            <a:endParaRPr sz="1270"/>
          </a:p>
          <a:p>
            <a:pPr marL="0" indent="0" algn="l">
              <a:buNone/>
            </a:pPr>
            <a:endParaRPr sz="1270"/>
          </a:p>
          <a:p>
            <a:pPr marL="0" indent="0" algn="l">
              <a:buNone/>
            </a:pPr>
            <a:r>
              <a:rPr sz="1270">
                <a:solidFill>
                  <a:srgbClr val="18212A"/>
                </a:solidFill>
                <a:latin typeface="Aptos"/>
                <a:ea typeface="Aptos"/>
                <a:cs typeface="Aptos"/>
              </a:rPr>
              <a:t>Use it to manage sources, duplicates and included/excluded papers. Analysis still needs an extraction table.</a:t>
            </a:r>
            <a:endParaRPr sz="127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0A9F7AE-F083-4B92-8A90-D21BDE99463B}"/>
              </a:ext>
            </a:extLst>
          </p:cNvPr>
          <p:cNvSpPr>
            <a:spLocks noGrp="1"/>
          </p:cNvSpPr>
          <p:nvPr/>
        </p:nvSpPr>
        <p:spPr>
          <a:xfrm>
            <a:off x="8001000" y="205740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EFE7F7"/>
          </a:solidFill>
          <a:ln w="1016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12ADBF1-9C62-4690-B0E4-82C3A8D98A71}"/>
              </a:ext>
            </a:extLst>
          </p:cNvPr>
          <p:cNvSpPr>
            <a:spLocks noGrp="1"/>
          </p:cNvSpPr>
          <p:nvPr/>
        </p:nvSpPr>
        <p:spPr>
          <a:xfrm>
            <a:off x="8165592" y="2221992"/>
            <a:ext cx="3099816" cy="27432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 algn="l">
              <a:buNone/>
            </a:pPr>
            <a:r>
              <a:rPr sz="1650" b="1">
                <a:solidFill>
                  <a:srgbClr val="7D4AB3"/>
                </a:solidFill>
                <a:latin typeface="Aptos"/>
                <a:ea typeface="Aptos"/>
                <a:cs typeface="Aptos"/>
              </a:rPr>
              <a:t>CAQDAS route</a:t>
            </a:r>
            <a:endParaRPr sz="16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94B2E3C-456D-470C-B18C-14D884E3BE13}"/>
              </a:ext>
            </a:extLst>
          </p:cNvPr>
          <p:cNvSpPr>
            <a:spLocks noGrp="1"/>
          </p:cNvSpPr>
          <p:nvPr/>
        </p:nvSpPr>
        <p:spPr>
          <a:xfrm>
            <a:off x="8165592" y="2606040"/>
            <a:ext cx="3099816" cy="1655064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 algn="l">
              <a:buNone/>
            </a:pPr>
            <a:r>
              <a:rPr sz="1270">
                <a:solidFill>
                  <a:srgbClr val="18212A"/>
                </a:solidFill>
                <a:latin typeface="Aptos"/>
                <a:ea typeface="Aptos"/>
                <a:cs typeface="Aptos"/>
              </a:rPr>
              <a:t>Useful when findings are text-heavy</a:t>
            </a:r>
            <a:endParaRPr sz="1270"/>
          </a:p>
          <a:p>
            <a:pPr marL="0" indent="0" algn="l">
              <a:buNone/>
            </a:pPr>
            <a:endParaRPr sz="1270"/>
          </a:p>
          <a:p>
            <a:pPr marL="0" indent="0" algn="l">
              <a:buNone/>
            </a:pPr>
            <a:r>
              <a:rPr sz="1270">
                <a:solidFill>
                  <a:srgbClr val="18212A"/>
                </a:solidFill>
                <a:latin typeface="Aptos"/>
                <a:ea typeface="Aptos"/>
                <a:cs typeface="Aptos"/>
              </a:rPr>
              <a:t>Use software such as ATLAS.ti or NVivo if many paragraphs must be coded and retrieved.</a:t>
            </a:r>
            <a:endParaRPr sz="127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BA42D4F-DC36-4003-9DA9-3D6861B0821D}"/>
              </a:ext>
            </a:extLst>
          </p:cNvPr>
          <p:cNvSpPr>
            <a:spLocks noGrp="1"/>
          </p:cNvSpPr>
          <p:nvPr/>
        </p:nvSpPr>
        <p:spPr>
          <a:xfrm>
            <a:off x="960120" y="5349240"/>
            <a:ext cx="10241280" cy="384048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Software does not create the analysis. Your extraction decisions create the analysis.</a:t>
            </a:r>
            <a:endParaRPr sz="20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9E465B8-060F-494F-99C8-2FCF19F8C671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00">
                <a:solidFill>
                  <a:srgbClr val="56616B"/>
                </a:solidFill>
              </a:rPr>
              <a:t>27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3166580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164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0A2B6EF-1CBC-4F5C-BA3D-A1CE1FC31FB7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endParaRPr sz="800"/>
          </a:p>
        </p:txBody>
      </p:sp>
      <p:sp>
        <p:nvSpPr>
          <p:cNvPr id="5" name="Editable text S28 L01">
            <a:extLst>
              <a:ext uri="{FF2B5EF4-FFF2-40B4-BE49-F238E27FC236}">
                <a16:creationId xmlns:a16="http://schemas.microsoft.com/office/drawing/2014/main" id="{FAD36A0E-6554-4CC2-AF79-1C40B704B4C9}"/>
              </a:ext>
            </a:extLst>
          </p:cNvPr>
          <p:cNvSpPr>
            <a:spLocks noGrp="1"/>
          </p:cNvSpPr>
          <p:nvPr/>
        </p:nvSpPr>
        <p:spPr>
          <a:xfrm>
            <a:off x="650143" y="136852"/>
            <a:ext cx="1136662" cy="337493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12" b="1">
                <a:solidFill>
                  <a:srgbClr val="0F5E5A"/>
                </a:solidFill>
                <a:latin typeface="Aptos"/>
                <a:ea typeface="Aptos"/>
                <a:cs typeface="Aptos"/>
              </a:defRPr>
            </a:pPr>
            <a:endParaRPr sz="612" b="1">
              <a:solidFill>
                <a:srgbClr val="0F5E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Editable text S28 L02">
            <a:extLst>
              <a:ext uri="{FF2B5EF4-FFF2-40B4-BE49-F238E27FC236}">
                <a16:creationId xmlns:a16="http://schemas.microsoft.com/office/drawing/2014/main" id="{55634DD2-E078-444C-800D-7B0D81079EA3}"/>
              </a:ext>
            </a:extLst>
          </p:cNvPr>
          <p:cNvSpPr>
            <a:spLocks noGrp="1"/>
          </p:cNvSpPr>
          <p:nvPr/>
        </p:nvSpPr>
        <p:spPr>
          <a:xfrm>
            <a:off x="628059" y="599732"/>
            <a:ext cx="8872224" cy="406451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6841" lnSpcReduction="10000"/>
          </a:bodyPr>
          <a:lstStyle/>
          <a:p>
            <a:pPr algn="l">
              <a:buNone/>
              <a:defRPr sz="2754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54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ICT example: manual coding versus ATLAS.ti coding</a:t>
            </a:r>
          </a:p>
        </p:txBody>
      </p:sp>
      <p:sp>
        <p:nvSpPr>
          <p:cNvPr id="7" name="Editable text S28 L03">
            <a:extLst>
              <a:ext uri="{FF2B5EF4-FFF2-40B4-BE49-F238E27FC236}">
                <a16:creationId xmlns:a16="http://schemas.microsoft.com/office/drawing/2014/main" id="{5E54F4D7-E758-4832-AABC-450697B5A851}"/>
              </a:ext>
            </a:extLst>
          </p:cNvPr>
          <p:cNvSpPr>
            <a:spLocks noGrp="1"/>
          </p:cNvSpPr>
          <p:nvPr/>
        </p:nvSpPr>
        <p:spPr>
          <a:xfrm>
            <a:off x="720550" y="1339531"/>
            <a:ext cx="9768605" cy="309883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9188"/>
          </a:bodyPr>
          <a:lstStyle/>
          <a:p>
            <a:pPr algn="l">
              <a:buNone/>
              <a:defRPr sz="2050" b="1">
                <a:solidFill>
                  <a:srgbClr val="26323F"/>
                </a:solidFill>
                <a:latin typeface="Aptos"/>
                <a:ea typeface="Aptos"/>
                <a:cs typeface="Aptos"/>
              </a:defRPr>
            </a:pPr>
            <a:r>
              <a:rPr sz="2050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Both approaches can work, but the dataset size and reporting needs matter.</a:t>
            </a:r>
          </a:p>
        </p:txBody>
      </p:sp>
      <p:sp>
        <p:nvSpPr>
          <p:cNvPr id="8" name="Editable text S28 L04">
            <a:extLst>
              <a:ext uri="{FF2B5EF4-FFF2-40B4-BE49-F238E27FC236}">
                <a16:creationId xmlns:a16="http://schemas.microsoft.com/office/drawing/2014/main" id="{A0AE35A0-F6CE-4BEE-BE50-5701B52B8400}"/>
              </a:ext>
            </a:extLst>
          </p:cNvPr>
          <p:cNvSpPr>
            <a:spLocks noGrp="1"/>
          </p:cNvSpPr>
          <p:nvPr/>
        </p:nvSpPr>
        <p:spPr>
          <a:xfrm>
            <a:off x="878372" y="2049746"/>
            <a:ext cx="2089023" cy="276294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805" b="1">
                <a:solidFill>
                  <a:srgbClr val="4B7D42"/>
                </a:solidFill>
                <a:latin typeface="Aptos"/>
                <a:ea typeface="Aptos"/>
                <a:cs typeface="Aptos"/>
              </a:defRPr>
            </a:pPr>
            <a:r>
              <a:rPr sz="1805" b="1">
                <a:solidFill>
                  <a:srgbClr val="4B7D42"/>
                </a:solidFill>
                <a:latin typeface="Aptos"/>
                <a:ea typeface="Aptos"/>
                <a:cs typeface="Aptos"/>
              </a:rPr>
              <a:t>Manual approach</a:t>
            </a:r>
          </a:p>
        </p:txBody>
      </p:sp>
      <p:sp>
        <p:nvSpPr>
          <p:cNvPr id="9" name="Editable text S28 L05">
            <a:extLst>
              <a:ext uri="{FF2B5EF4-FFF2-40B4-BE49-F238E27FC236}">
                <a16:creationId xmlns:a16="http://schemas.microsoft.com/office/drawing/2014/main" id="{7E467F10-E4D5-40D5-AF0E-64D32984F1AF}"/>
              </a:ext>
            </a:extLst>
          </p:cNvPr>
          <p:cNvSpPr>
            <a:spLocks noGrp="1"/>
          </p:cNvSpPr>
          <p:nvPr/>
        </p:nvSpPr>
        <p:spPr>
          <a:xfrm>
            <a:off x="6441092" y="2045741"/>
            <a:ext cx="3266005" cy="280492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836" b="1">
                <a:solidFill>
                  <a:srgbClr val="7D4AB3"/>
                </a:solidFill>
                <a:latin typeface="Aptos"/>
                <a:ea typeface="Aptos"/>
                <a:cs typeface="Aptos"/>
              </a:defRPr>
            </a:pPr>
            <a:r>
              <a:rPr sz="1836" b="1">
                <a:solidFill>
                  <a:srgbClr val="7D4AB3"/>
                </a:solidFill>
                <a:latin typeface="Aptos"/>
                <a:ea typeface="Aptos"/>
                <a:cs typeface="Aptos"/>
              </a:rPr>
              <a:t>Software-assisted approach</a:t>
            </a:r>
          </a:p>
        </p:txBody>
      </p:sp>
      <p:sp>
        <p:nvSpPr>
          <p:cNvPr id="21" name="Editable text S28 L17">
            <a:extLst>
              <a:ext uri="{FF2B5EF4-FFF2-40B4-BE49-F238E27FC236}">
                <a16:creationId xmlns:a16="http://schemas.microsoft.com/office/drawing/2014/main" id="{DC5CC072-C6FE-45D9-972E-EAC56E24E656}"/>
              </a:ext>
            </a:extLst>
          </p:cNvPr>
          <p:cNvSpPr>
            <a:spLocks noGrp="1"/>
          </p:cNvSpPr>
          <p:nvPr/>
        </p:nvSpPr>
        <p:spPr>
          <a:xfrm>
            <a:off x="11561833" y="6600825"/>
            <a:ext cx="300885" cy="1200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00" b="0">
                <a:solidFill>
                  <a:srgbClr val="838B9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38B93"/>
                </a:solidFill>
                <a:latin typeface="Aptos"/>
                <a:ea typeface="Aptos"/>
                <a:cs typeface="Aptos"/>
              </a:rPr>
              <a:t>11A</a:t>
            </a:r>
          </a:p>
        </p:txBody>
      </p:sp>
    </p:spTree>
    <p:extLst>
      <p:ext uri="{BB962C8B-B14F-4D97-AF65-F5344CB8AC3E}">
        <p14:creationId xmlns:p14="http://schemas.microsoft.com/office/powerpoint/2010/main" val="17123201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7C89B49-3C58-4437-8027-72108F6B99F1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endParaRPr sz="800"/>
          </a:p>
        </p:txBody>
      </p:sp>
      <p:sp>
        <p:nvSpPr>
          <p:cNvPr id="5" name="Editable text S29 L01">
            <a:extLst>
              <a:ext uri="{FF2B5EF4-FFF2-40B4-BE49-F238E27FC236}">
                <a16:creationId xmlns:a16="http://schemas.microsoft.com/office/drawing/2014/main" id="{2B0369A2-AB47-48E8-BBDF-63A06E5301BF}"/>
              </a:ext>
            </a:extLst>
          </p:cNvPr>
          <p:cNvSpPr>
            <a:spLocks noGrp="1"/>
          </p:cNvSpPr>
          <p:nvPr/>
        </p:nvSpPr>
        <p:spPr>
          <a:xfrm>
            <a:off x="646336" y="134250"/>
            <a:ext cx="1354096" cy="332476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12" b="1">
                <a:solidFill>
                  <a:srgbClr val="0F5E5A"/>
                </a:solidFill>
                <a:latin typeface="Aptos"/>
                <a:ea typeface="Aptos"/>
                <a:cs typeface="Aptos"/>
              </a:defRPr>
            </a:pPr>
            <a:endParaRPr sz="612" b="1">
              <a:solidFill>
                <a:srgbClr val="0F5E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Editable text S29 L02">
            <a:extLst>
              <a:ext uri="{FF2B5EF4-FFF2-40B4-BE49-F238E27FC236}">
                <a16:creationId xmlns:a16="http://schemas.microsoft.com/office/drawing/2014/main" id="{A7F8F1DF-5F3A-4104-A94A-1173B7DB3E54}"/>
              </a:ext>
            </a:extLst>
          </p:cNvPr>
          <p:cNvSpPr>
            <a:spLocks noGrp="1"/>
          </p:cNvSpPr>
          <p:nvPr/>
        </p:nvSpPr>
        <p:spPr>
          <a:xfrm>
            <a:off x="643075" y="588108"/>
            <a:ext cx="8560426" cy="410649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6752" lnSpcReduction="10000"/>
          </a:bodyPr>
          <a:lstStyle/>
          <a:p>
            <a:pPr algn="l">
              <a:buNone/>
              <a:defRPr sz="2785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85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Ethics and trustworthiness in qualitative analysis</a:t>
            </a:r>
          </a:p>
        </p:txBody>
      </p:sp>
      <p:sp>
        <p:nvSpPr>
          <p:cNvPr id="7" name="Editable text S29 L03">
            <a:extLst>
              <a:ext uri="{FF2B5EF4-FFF2-40B4-BE49-F238E27FC236}">
                <a16:creationId xmlns:a16="http://schemas.microsoft.com/office/drawing/2014/main" id="{BFA5587A-BA19-4E10-AD5C-10CEDEC2EA47}"/>
              </a:ext>
            </a:extLst>
          </p:cNvPr>
          <p:cNvSpPr>
            <a:spLocks noGrp="1"/>
          </p:cNvSpPr>
          <p:nvPr/>
        </p:nvSpPr>
        <p:spPr>
          <a:xfrm>
            <a:off x="900149" y="2022104"/>
            <a:ext cx="1470518" cy="297287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9627" lnSpcReduction="10000"/>
          </a:bodyPr>
          <a:lstStyle/>
          <a:p>
            <a:pPr algn="l">
              <a:buNone/>
              <a:defRPr sz="1958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958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Anonymise</a:t>
            </a:r>
          </a:p>
        </p:txBody>
      </p:sp>
      <p:sp>
        <p:nvSpPr>
          <p:cNvPr id="13" name="Editable text S29 L09">
            <a:extLst>
              <a:ext uri="{FF2B5EF4-FFF2-40B4-BE49-F238E27FC236}">
                <a16:creationId xmlns:a16="http://schemas.microsoft.com/office/drawing/2014/main" id="{50738CD0-4ADC-48F4-AFF1-C27188490361}"/>
              </a:ext>
            </a:extLst>
          </p:cNvPr>
          <p:cNvSpPr>
            <a:spLocks noGrp="1"/>
          </p:cNvSpPr>
          <p:nvPr/>
        </p:nvSpPr>
        <p:spPr>
          <a:xfrm>
            <a:off x="919188" y="3988064"/>
            <a:ext cx="2639458" cy="297287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9627" lnSpcReduction="10000"/>
          </a:bodyPr>
          <a:lstStyle/>
          <a:p>
            <a:pPr algn="l">
              <a:buNone/>
              <a:defRPr sz="1958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958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Use thick description</a:t>
            </a:r>
          </a:p>
        </p:txBody>
      </p:sp>
      <p:sp>
        <p:nvSpPr>
          <p:cNvPr id="14" name="Editable text S29 L10">
            <a:extLst>
              <a:ext uri="{FF2B5EF4-FFF2-40B4-BE49-F238E27FC236}">
                <a16:creationId xmlns:a16="http://schemas.microsoft.com/office/drawing/2014/main" id="{FBCF422F-6CDD-4BFC-AE98-15DDDF2C0B1D}"/>
              </a:ext>
            </a:extLst>
          </p:cNvPr>
          <p:cNvSpPr>
            <a:spLocks noGrp="1"/>
          </p:cNvSpPr>
          <p:nvPr/>
        </p:nvSpPr>
        <p:spPr>
          <a:xfrm>
            <a:off x="6436429" y="3988064"/>
            <a:ext cx="1938856" cy="297287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9627" lnSpcReduction="10000"/>
          </a:bodyPr>
          <a:lstStyle/>
          <a:p>
            <a:pPr algn="l">
              <a:buNone/>
              <a:defRPr sz="1958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958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Interpret fairly</a:t>
            </a:r>
          </a:p>
        </p:txBody>
      </p:sp>
      <p:sp>
        <p:nvSpPr>
          <p:cNvPr id="19" name="Editable text S29 L15">
            <a:extLst>
              <a:ext uri="{FF2B5EF4-FFF2-40B4-BE49-F238E27FC236}">
                <a16:creationId xmlns:a16="http://schemas.microsoft.com/office/drawing/2014/main" id="{CC57146A-AB61-4FDF-BBC3-4B4FD67AAD33}"/>
              </a:ext>
            </a:extLst>
          </p:cNvPr>
          <p:cNvSpPr>
            <a:spLocks noGrp="1"/>
          </p:cNvSpPr>
          <p:nvPr/>
        </p:nvSpPr>
        <p:spPr>
          <a:xfrm>
            <a:off x="11535180" y="6593205"/>
            <a:ext cx="232348" cy="1200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00" b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6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707817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C173F3A-E229-4C70-9B31-416AF2D8A6AB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endParaRPr sz="800"/>
          </a:p>
        </p:txBody>
      </p:sp>
      <p:sp>
        <p:nvSpPr>
          <p:cNvPr id="5" name="Editable text S30 L01">
            <a:extLst>
              <a:ext uri="{FF2B5EF4-FFF2-40B4-BE49-F238E27FC236}">
                <a16:creationId xmlns:a16="http://schemas.microsoft.com/office/drawing/2014/main" id="{E45EA721-8EC7-47DF-B3E0-BD5766304B00}"/>
              </a:ext>
            </a:extLst>
          </p:cNvPr>
          <p:cNvSpPr>
            <a:spLocks noGrp="1"/>
          </p:cNvSpPr>
          <p:nvPr/>
        </p:nvSpPr>
        <p:spPr>
          <a:xfrm>
            <a:off x="650142" y="152400"/>
            <a:ext cx="1151361" cy="32194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12" b="1">
                <a:solidFill>
                  <a:srgbClr val="0F5E5A"/>
                </a:solidFill>
                <a:latin typeface="Aptos"/>
                <a:ea typeface="Aptos"/>
                <a:cs typeface="Aptos"/>
              </a:defRPr>
            </a:pPr>
            <a:endParaRPr sz="612" b="1">
              <a:solidFill>
                <a:srgbClr val="0F5E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Editable text S30 L02">
            <a:extLst>
              <a:ext uri="{FF2B5EF4-FFF2-40B4-BE49-F238E27FC236}">
                <a16:creationId xmlns:a16="http://schemas.microsoft.com/office/drawing/2014/main" id="{66DDD4D1-520C-49CD-B138-F50BA6246B09}"/>
              </a:ext>
            </a:extLst>
          </p:cNvPr>
          <p:cNvSpPr>
            <a:spLocks noGrp="1"/>
          </p:cNvSpPr>
          <p:nvPr/>
        </p:nvSpPr>
        <p:spPr>
          <a:xfrm>
            <a:off x="628436" y="622935"/>
            <a:ext cx="10996121" cy="38290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3056"/>
          </a:bodyPr>
          <a:lstStyle/>
          <a:p>
            <a:pPr algn="l">
              <a:buNone/>
              <a:defRPr sz="2700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ICT example: ethics when analysing screenshots, logs and interviews</a:t>
            </a:r>
          </a:p>
        </p:txBody>
      </p:sp>
      <p:sp>
        <p:nvSpPr>
          <p:cNvPr id="7" name="Editable text S30 L03">
            <a:extLst>
              <a:ext uri="{FF2B5EF4-FFF2-40B4-BE49-F238E27FC236}">
                <a16:creationId xmlns:a16="http://schemas.microsoft.com/office/drawing/2014/main" id="{935E08CD-0305-4AE1-912D-EFBC6A38D9C1}"/>
              </a:ext>
            </a:extLst>
          </p:cNvPr>
          <p:cNvSpPr>
            <a:spLocks noGrp="1"/>
          </p:cNvSpPr>
          <p:nvPr/>
        </p:nvSpPr>
        <p:spPr>
          <a:xfrm>
            <a:off x="705320" y="1339531"/>
            <a:ext cx="8005677" cy="309883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9188"/>
          </a:bodyPr>
          <a:lstStyle/>
          <a:p>
            <a:pPr algn="l">
              <a:buNone/>
              <a:defRPr sz="2050" b="1">
                <a:solidFill>
                  <a:srgbClr val="26323F"/>
                </a:solidFill>
                <a:latin typeface="Aptos"/>
                <a:ea typeface="Aptos"/>
                <a:cs typeface="Aptos"/>
              </a:defRPr>
            </a:pPr>
            <a:r>
              <a:rPr sz="2050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ICT data can expose identities even when names are removed.</a:t>
            </a:r>
          </a:p>
        </p:txBody>
      </p:sp>
      <p:sp>
        <p:nvSpPr>
          <p:cNvPr id="27" name="Editable text S30 L23">
            <a:extLst>
              <a:ext uri="{FF2B5EF4-FFF2-40B4-BE49-F238E27FC236}">
                <a16:creationId xmlns:a16="http://schemas.microsoft.com/office/drawing/2014/main" id="{344A1B83-1569-4AC8-888A-7411ED3162A7}"/>
              </a:ext>
            </a:extLst>
          </p:cNvPr>
          <p:cNvSpPr>
            <a:spLocks noGrp="1"/>
          </p:cNvSpPr>
          <p:nvPr/>
        </p:nvSpPr>
        <p:spPr>
          <a:xfrm>
            <a:off x="1409729" y="5484811"/>
            <a:ext cx="9444958" cy="309883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9188"/>
          </a:bodyPr>
          <a:lstStyle/>
          <a:p>
            <a:pPr algn="l">
              <a:buNone/>
              <a:defRPr sz="2050" b="1">
                <a:solidFill>
                  <a:srgbClr val="26323F"/>
                </a:solidFill>
                <a:latin typeface="Aptos"/>
                <a:ea typeface="Aptos"/>
                <a:cs typeface="Aptos"/>
              </a:defRPr>
            </a:pPr>
            <a:r>
              <a:rPr sz="2050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Ethical ICT analysis protects people behind the data, not only the dataset.</a:t>
            </a:r>
          </a:p>
        </p:txBody>
      </p:sp>
      <p:sp>
        <p:nvSpPr>
          <p:cNvPr id="28" name="Editable text S30 L24">
            <a:extLst>
              <a:ext uri="{FF2B5EF4-FFF2-40B4-BE49-F238E27FC236}">
                <a16:creationId xmlns:a16="http://schemas.microsoft.com/office/drawing/2014/main" id="{7D8E2DA4-09B7-4499-9473-E7B0DB63E1A2}"/>
              </a:ext>
            </a:extLst>
          </p:cNvPr>
          <p:cNvSpPr>
            <a:spLocks noGrp="1"/>
          </p:cNvSpPr>
          <p:nvPr/>
        </p:nvSpPr>
        <p:spPr>
          <a:xfrm>
            <a:off x="11561833" y="6600825"/>
            <a:ext cx="300885" cy="1200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00" b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6B"/>
                </a:solidFill>
                <a:latin typeface="Aptos"/>
                <a:ea typeface="Aptos"/>
                <a:cs typeface="Aptos"/>
              </a:rPr>
              <a:t>12A</a:t>
            </a:r>
          </a:p>
        </p:txBody>
      </p:sp>
    </p:spTree>
    <p:extLst>
      <p:ext uri="{BB962C8B-B14F-4D97-AF65-F5344CB8AC3E}">
        <p14:creationId xmlns:p14="http://schemas.microsoft.com/office/powerpoint/2010/main" val="20086749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8FF8307-C9B8-4C16-933C-B967D63E41CE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endParaRPr sz="800"/>
          </a:p>
        </p:txBody>
      </p:sp>
      <p:sp>
        <p:nvSpPr>
          <p:cNvPr id="5" name="Editable text S31 L01">
            <a:extLst>
              <a:ext uri="{FF2B5EF4-FFF2-40B4-BE49-F238E27FC236}">
                <a16:creationId xmlns:a16="http://schemas.microsoft.com/office/drawing/2014/main" id="{CE7F4CC6-FFC0-4E5E-B884-AC96BFFC271B}"/>
              </a:ext>
            </a:extLst>
          </p:cNvPr>
          <p:cNvSpPr>
            <a:spLocks noGrp="1"/>
          </p:cNvSpPr>
          <p:nvPr/>
        </p:nvSpPr>
        <p:spPr>
          <a:xfrm>
            <a:off x="653951" y="222886"/>
            <a:ext cx="1338622" cy="243840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12" b="1">
                <a:solidFill>
                  <a:srgbClr val="0F5E5A"/>
                </a:solidFill>
                <a:latin typeface="Aptos"/>
                <a:ea typeface="Aptos"/>
                <a:cs typeface="Aptos"/>
              </a:defRPr>
            </a:pPr>
            <a:endParaRPr sz="612" b="1">
              <a:solidFill>
                <a:srgbClr val="0F5E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Editable text S31 L02">
            <a:extLst>
              <a:ext uri="{FF2B5EF4-FFF2-40B4-BE49-F238E27FC236}">
                <a16:creationId xmlns:a16="http://schemas.microsoft.com/office/drawing/2014/main" id="{A4C9B105-915E-4A89-BB80-3C1AB6EF0F7C}"/>
              </a:ext>
            </a:extLst>
          </p:cNvPr>
          <p:cNvSpPr>
            <a:spLocks noGrp="1"/>
          </p:cNvSpPr>
          <p:nvPr/>
        </p:nvSpPr>
        <p:spPr>
          <a:xfrm>
            <a:off x="631866" y="592112"/>
            <a:ext cx="6477231" cy="406451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6841" lnSpcReduction="10000"/>
          </a:bodyPr>
          <a:lstStyle/>
          <a:p>
            <a:pPr algn="l">
              <a:buNone/>
              <a:defRPr sz="2754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54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Choosing the right analysis approach</a:t>
            </a:r>
          </a:p>
        </p:txBody>
      </p:sp>
      <p:sp>
        <p:nvSpPr>
          <p:cNvPr id="21" name="Editable text S31 L17">
            <a:extLst>
              <a:ext uri="{FF2B5EF4-FFF2-40B4-BE49-F238E27FC236}">
                <a16:creationId xmlns:a16="http://schemas.microsoft.com/office/drawing/2014/main" id="{20A9D759-224F-4FA5-A2B3-260933DFF664}"/>
              </a:ext>
            </a:extLst>
          </p:cNvPr>
          <p:cNvSpPr>
            <a:spLocks noGrp="1"/>
          </p:cNvSpPr>
          <p:nvPr/>
        </p:nvSpPr>
        <p:spPr>
          <a:xfrm>
            <a:off x="1266978" y="5878830"/>
            <a:ext cx="9566733" cy="2419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7042"/>
          </a:bodyPr>
          <a:lstStyle/>
          <a:p>
            <a:pPr algn="l">
              <a:buNone/>
              <a:defRPr sz="1530" b="1">
                <a:solidFill>
                  <a:srgbClr val="0F5E5A"/>
                </a:solidFill>
                <a:latin typeface="Aptos"/>
                <a:ea typeface="Aptos"/>
                <a:cs typeface="Aptos"/>
              </a:defRPr>
            </a:pPr>
            <a:r>
              <a:rPr sz="1530" b="1">
                <a:solidFill>
                  <a:srgbClr val="0F5E5A"/>
                </a:solidFill>
                <a:latin typeface="Aptos"/>
                <a:ea typeface="Aptos"/>
                <a:cs typeface="Aptos"/>
              </a:rPr>
              <a:t>A good analysis choice follows the data type and the research question, not the researcher's favourite tool</a:t>
            </a:r>
          </a:p>
        </p:txBody>
      </p:sp>
      <p:sp>
        <p:nvSpPr>
          <p:cNvPr id="22" name="Editable text S31 L18">
            <a:extLst>
              <a:ext uri="{FF2B5EF4-FFF2-40B4-BE49-F238E27FC236}">
                <a16:creationId xmlns:a16="http://schemas.microsoft.com/office/drawing/2014/main" id="{3829FF53-AF9F-4BFF-BB1D-F8E9EFB108E7}"/>
              </a:ext>
            </a:extLst>
          </p:cNvPr>
          <p:cNvSpPr>
            <a:spLocks noGrp="1"/>
          </p:cNvSpPr>
          <p:nvPr/>
        </p:nvSpPr>
        <p:spPr>
          <a:xfrm>
            <a:off x="11535180" y="6593205"/>
            <a:ext cx="232348" cy="1200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00" b="0">
                <a:solidFill>
                  <a:srgbClr val="5661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6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678635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D68A3F2-54C0-48D3-B996-426A2C6BA8EB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endParaRPr sz="800"/>
          </a:p>
        </p:txBody>
      </p:sp>
      <p:sp>
        <p:nvSpPr>
          <p:cNvPr id="5" name="Editable text S32 L01">
            <a:extLst>
              <a:ext uri="{FF2B5EF4-FFF2-40B4-BE49-F238E27FC236}">
                <a16:creationId xmlns:a16="http://schemas.microsoft.com/office/drawing/2014/main" id="{48E39FAD-C057-4BE8-8AA3-480DA3A37CF0}"/>
              </a:ext>
            </a:extLst>
          </p:cNvPr>
          <p:cNvSpPr>
            <a:spLocks noGrp="1"/>
          </p:cNvSpPr>
          <p:nvPr/>
        </p:nvSpPr>
        <p:spPr>
          <a:xfrm>
            <a:off x="650143" y="262574"/>
            <a:ext cx="1374216" cy="211771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12" b="1">
                <a:solidFill>
                  <a:srgbClr val="0F5E5A"/>
                </a:solidFill>
                <a:latin typeface="Aptos"/>
                <a:ea typeface="Aptos"/>
                <a:cs typeface="Aptos"/>
              </a:defRPr>
            </a:pPr>
            <a:endParaRPr sz="612" b="1">
              <a:solidFill>
                <a:srgbClr val="0F5E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Editable text S32 L02">
            <a:extLst>
              <a:ext uri="{FF2B5EF4-FFF2-40B4-BE49-F238E27FC236}">
                <a16:creationId xmlns:a16="http://schemas.microsoft.com/office/drawing/2014/main" id="{F9C9CBE7-79E3-44AD-9177-D3D3F4C023A6}"/>
              </a:ext>
            </a:extLst>
          </p:cNvPr>
          <p:cNvSpPr>
            <a:spLocks noGrp="1"/>
          </p:cNvSpPr>
          <p:nvPr/>
        </p:nvSpPr>
        <p:spPr>
          <a:xfrm>
            <a:off x="627845" y="595728"/>
            <a:ext cx="10631772" cy="410649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6752" lnSpcReduction="10000"/>
          </a:bodyPr>
          <a:lstStyle/>
          <a:p>
            <a:pPr algn="l">
              <a:buNone/>
              <a:defRPr sz="2785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85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ICT example: choosing the right analysis for a capstone study</a:t>
            </a:r>
          </a:p>
        </p:txBody>
      </p:sp>
      <p:sp>
        <p:nvSpPr>
          <p:cNvPr id="7" name="Editable text S32 L03">
            <a:extLst>
              <a:ext uri="{FF2B5EF4-FFF2-40B4-BE49-F238E27FC236}">
                <a16:creationId xmlns:a16="http://schemas.microsoft.com/office/drawing/2014/main" id="{F2B3CEDB-4BB3-4730-A973-C69AB1C72F0D}"/>
              </a:ext>
            </a:extLst>
          </p:cNvPr>
          <p:cNvSpPr>
            <a:spLocks noGrp="1"/>
          </p:cNvSpPr>
          <p:nvPr/>
        </p:nvSpPr>
        <p:spPr>
          <a:xfrm>
            <a:off x="709127" y="1339531"/>
            <a:ext cx="8763394" cy="309883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99188"/>
          </a:bodyPr>
          <a:lstStyle/>
          <a:p>
            <a:pPr algn="l">
              <a:buNone/>
              <a:defRPr sz="2050" b="1">
                <a:solidFill>
                  <a:srgbClr val="26323F"/>
                </a:solidFill>
                <a:latin typeface="Aptos"/>
                <a:ea typeface="Aptos"/>
                <a:cs typeface="Aptos"/>
              </a:defRPr>
            </a:pPr>
            <a:r>
              <a:rPr sz="2050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Start with the research question, then choose the data and analysis.</a:t>
            </a:r>
          </a:p>
        </p:txBody>
      </p:sp>
      <p:sp>
        <p:nvSpPr>
          <p:cNvPr id="27" name="Editable text S32 L23">
            <a:extLst>
              <a:ext uri="{FF2B5EF4-FFF2-40B4-BE49-F238E27FC236}">
                <a16:creationId xmlns:a16="http://schemas.microsoft.com/office/drawing/2014/main" id="{C0FDFF98-5C8F-470C-9042-F321AB99835D}"/>
              </a:ext>
            </a:extLst>
          </p:cNvPr>
          <p:cNvSpPr>
            <a:spLocks noGrp="1"/>
          </p:cNvSpPr>
          <p:nvPr/>
        </p:nvSpPr>
        <p:spPr>
          <a:xfrm>
            <a:off x="1335515" y="5745480"/>
            <a:ext cx="9528657" cy="25717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652" b="1">
                <a:solidFill>
                  <a:srgbClr val="26323F"/>
                </a:solidFill>
                <a:latin typeface="Aptos"/>
                <a:ea typeface="Aptos"/>
                <a:cs typeface="Aptos"/>
              </a:defRPr>
            </a:pPr>
            <a:r>
              <a:rPr sz="1652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Simple rule: the analysis method must fit both the data type and the claim you want to make</a:t>
            </a:r>
          </a:p>
        </p:txBody>
      </p:sp>
      <p:sp>
        <p:nvSpPr>
          <p:cNvPr id="28" name="Editable text S32 L24">
            <a:extLst>
              <a:ext uri="{FF2B5EF4-FFF2-40B4-BE49-F238E27FC236}">
                <a16:creationId xmlns:a16="http://schemas.microsoft.com/office/drawing/2014/main" id="{547438A5-4B05-44CA-B50F-5FCC9535947A}"/>
              </a:ext>
            </a:extLst>
          </p:cNvPr>
          <p:cNvSpPr>
            <a:spLocks noGrp="1"/>
          </p:cNvSpPr>
          <p:nvPr/>
        </p:nvSpPr>
        <p:spPr>
          <a:xfrm>
            <a:off x="11561833" y="6600825"/>
            <a:ext cx="300885" cy="1200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00" b="0">
                <a:solidFill>
                  <a:srgbClr val="838B9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38B93"/>
                </a:solidFill>
                <a:latin typeface="Aptos"/>
                <a:ea typeface="Aptos"/>
                <a:cs typeface="Aptos"/>
              </a:rPr>
              <a:t>13A</a:t>
            </a:r>
          </a:p>
        </p:txBody>
      </p:sp>
    </p:spTree>
    <p:extLst>
      <p:ext uri="{BB962C8B-B14F-4D97-AF65-F5344CB8AC3E}">
        <p14:creationId xmlns:p14="http://schemas.microsoft.com/office/powerpoint/2010/main" val="13809080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32D9996-6BFD-4870-AC33-281B0F5CE94A}"/>
              </a:ext>
            </a:extLst>
          </p:cNvPr>
          <p:cNvSpPr>
            <a:spLocks noGrp="1"/>
          </p:cNvSpPr>
          <p:nvPr/>
        </p:nvSpPr>
        <p:spPr>
          <a:xfrm>
            <a:off x="658368" y="29260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8E96ACB-A4D4-46CB-8FF4-919BAF6B918A}"/>
              </a:ext>
            </a:extLst>
          </p:cNvPr>
          <p:cNvSpPr>
            <a:spLocks noGrp="1"/>
          </p:cNvSpPr>
          <p:nvPr/>
        </p:nvSpPr>
        <p:spPr>
          <a:xfrm>
            <a:off x="640080" y="512064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700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Choose the SLR analysis route that fits your data</a:t>
            </a:r>
            <a:endParaRPr sz="27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AF9109B-26AE-4789-AC43-A836045DAFA7}"/>
              </a:ext>
            </a:extLst>
          </p:cNvPr>
          <p:cNvSpPr>
            <a:spLocks noGrp="1"/>
          </p:cNvSpPr>
          <p:nvPr/>
        </p:nvSpPr>
        <p:spPr>
          <a:xfrm>
            <a:off x="640080" y="1133856"/>
            <a:ext cx="10927080" cy="0"/>
          </a:xfrm>
          <a:prstGeom prst="line">
            <a:avLst/>
          </a:prstGeom>
          <a:noFill/>
          <a:ln w="1524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31C7E79-D6A3-4404-816A-A9041605D689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11292840" cy="0"/>
          </a:xfrm>
          <a:prstGeom prst="line">
            <a:avLst/>
          </a:prstGeom>
          <a:noFill/>
          <a:ln w="1270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7FF92B9-C63F-44C3-B2DC-5782237520DC}"/>
              </a:ext>
            </a:extLst>
          </p:cNvPr>
          <p:cNvSpPr>
            <a:spLocks noGrp="1"/>
          </p:cNvSpPr>
          <p:nvPr/>
        </p:nvSpPr>
        <p:spPr>
          <a:xfrm>
            <a:off x="822960" y="1298448"/>
            <a:ext cx="10607040" cy="36576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This is the decision students must make after screening the papers and before writing the findings.</a:t>
            </a:r>
            <a:endParaRPr sz="20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F93585B-1FA5-4C63-885E-2D46EDCC2C39}"/>
              </a:ext>
            </a:extLst>
          </p:cNvPr>
          <p:cNvSpPr>
            <a:spLocks noGrp="1"/>
          </p:cNvSpPr>
          <p:nvPr/>
        </p:nvSpPr>
        <p:spPr>
          <a:xfrm>
            <a:off x="594360" y="1828800"/>
            <a:ext cx="10058400" cy="0"/>
          </a:xfrm>
          <a:prstGeom prst="line">
            <a:avLst/>
          </a:prstGeom>
          <a:noFill/>
          <a:ln w="38100">
            <a:solidFill>
              <a:srgbClr val="0F5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ED6916F-26F4-4295-B666-3DA5AC4FA36A}"/>
              </a:ext>
            </a:extLst>
          </p:cNvPr>
          <p:cNvSpPr>
            <a:spLocks noGrp="1"/>
          </p:cNvSpPr>
          <p:nvPr/>
        </p:nvSpPr>
        <p:spPr>
          <a:xfrm>
            <a:off x="594360" y="1874520"/>
            <a:ext cx="3154680" cy="621792"/>
          </a:xfrm>
          <a:prstGeom prst="rect">
            <a:avLst/>
          </a:prstGeom>
          <a:solidFill>
            <a:srgbClr val="F2F5F7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10681FC-4952-4FD1-91C4-051422BBE7F8}"/>
              </a:ext>
            </a:extLst>
          </p:cNvPr>
          <p:cNvSpPr>
            <a:spLocks noGrp="1"/>
          </p:cNvSpPr>
          <p:nvPr/>
        </p:nvSpPr>
        <p:spPr>
          <a:xfrm>
            <a:off x="658368" y="1947672"/>
            <a:ext cx="3026664" cy="5303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1070" b="1">
                <a:solidFill>
                  <a:srgbClr val="0F5E5A"/>
                </a:solidFill>
                <a:latin typeface="Aptos"/>
                <a:ea typeface="Aptos"/>
                <a:cs typeface="Aptos"/>
              </a:rPr>
              <a:t>What your included studies give you</a:t>
            </a:r>
            <a:endParaRPr sz="107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97F560A-92AB-41C7-AD9D-A99075C82C50}"/>
              </a:ext>
            </a:extLst>
          </p:cNvPr>
          <p:cNvSpPr>
            <a:spLocks noGrp="1"/>
          </p:cNvSpPr>
          <p:nvPr/>
        </p:nvSpPr>
        <p:spPr>
          <a:xfrm>
            <a:off x="3749040" y="1874520"/>
            <a:ext cx="2743200" cy="621792"/>
          </a:xfrm>
          <a:prstGeom prst="rect">
            <a:avLst/>
          </a:prstGeom>
          <a:solidFill>
            <a:srgbClr val="F2F5F7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38E399A-1C40-44FA-B69E-A2FCE334DF27}"/>
              </a:ext>
            </a:extLst>
          </p:cNvPr>
          <p:cNvSpPr>
            <a:spLocks noGrp="1"/>
          </p:cNvSpPr>
          <p:nvPr/>
        </p:nvSpPr>
        <p:spPr>
          <a:xfrm>
            <a:off x="3813048" y="1947672"/>
            <a:ext cx="2615184" cy="5303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70" b="1">
                <a:solidFill>
                  <a:srgbClr val="0F5E5A"/>
                </a:solidFill>
                <a:latin typeface="Aptos"/>
                <a:ea typeface="Aptos"/>
                <a:cs typeface="Aptos"/>
              </a:rPr>
              <a:t>Best analysis route</a:t>
            </a:r>
            <a:endParaRPr sz="107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665318C-1E15-4022-9CFB-B96A2D8C31BC}"/>
              </a:ext>
            </a:extLst>
          </p:cNvPr>
          <p:cNvSpPr>
            <a:spLocks noGrp="1"/>
          </p:cNvSpPr>
          <p:nvPr/>
        </p:nvSpPr>
        <p:spPr>
          <a:xfrm>
            <a:off x="6492240" y="1874520"/>
            <a:ext cx="4160520" cy="621792"/>
          </a:xfrm>
          <a:prstGeom prst="rect">
            <a:avLst/>
          </a:prstGeom>
          <a:solidFill>
            <a:srgbClr val="F2F5F7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400DEA8-C862-41E8-972D-41D26399099C}"/>
              </a:ext>
            </a:extLst>
          </p:cNvPr>
          <p:cNvSpPr>
            <a:spLocks noGrp="1"/>
          </p:cNvSpPr>
          <p:nvPr/>
        </p:nvSpPr>
        <p:spPr>
          <a:xfrm>
            <a:off x="6556248" y="1947672"/>
            <a:ext cx="4032504" cy="5303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70" b="1">
                <a:solidFill>
                  <a:srgbClr val="0F5E5A"/>
                </a:solidFill>
                <a:latin typeface="Aptos"/>
                <a:ea typeface="Aptos"/>
                <a:cs typeface="Aptos"/>
              </a:rPr>
              <a:t>Example SLR output</a:t>
            </a:r>
            <a:endParaRPr sz="107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A8191AE-79A7-4455-8DF3-0B2045A78E31}"/>
              </a:ext>
            </a:extLst>
          </p:cNvPr>
          <p:cNvSpPr>
            <a:spLocks noGrp="1"/>
          </p:cNvSpPr>
          <p:nvPr/>
        </p:nvSpPr>
        <p:spPr>
          <a:xfrm>
            <a:off x="594360" y="2496312"/>
            <a:ext cx="1005840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1932B7A-2EDC-4A86-AD2B-99C2372F6627}"/>
              </a:ext>
            </a:extLst>
          </p:cNvPr>
          <p:cNvSpPr>
            <a:spLocks noGrp="1"/>
          </p:cNvSpPr>
          <p:nvPr/>
        </p:nvSpPr>
        <p:spPr>
          <a:xfrm>
            <a:off x="594360" y="2496312"/>
            <a:ext cx="315468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75E386C-CBB7-41F6-B9FE-23C4776D93BD}"/>
              </a:ext>
            </a:extLst>
          </p:cNvPr>
          <p:cNvSpPr>
            <a:spLocks noGrp="1"/>
          </p:cNvSpPr>
          <p:nvPr/>
        </p:nvSpPr>
        <p:spPr>
          <a:xfrm>
            <a:off x="658368" y="2569464"/>
            <a:ext cx="3026664" cy="5303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1030">
                <a:solidFill>
                  <a:srgbClr val="18212A"/>
                </a:solidFill>
                <a:latin typeface="Aptos"/>
                <a:ea typeface="Aptos"/>
                <a:cs typeface="Aptos"/>
              </a:rPr>
              <a:t>Mostly categories and counts</a:t>
            </a:r>
            <a:endParaRPr sz="103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3B446BB-122A-45CF-9B99-739312EEA5CA}"/>
              </a:ext>
            </a:extLst>
          </p:cNvPr>
          <p:cNvSpPr>
            <a:spLocks noGrp="1"/>
          </p:cNvSpPr>
          <p:nvPr/>
        </p:nvSpPr>
        <p:spPr>
          <a:xfrm>
            <a:off x="3749040" y="2496312"/>
            <a:ext cx="274320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7E64FBC-B899-47C8-BA4C-EFCB4181E790}"/>
              </a:ext>
            </a:extLst>
          </p:cNvPr>
          <p:cNvSpPr>
            <a:spLocks noGrp="1"/>
          </p:cNvSpPr>
          <p:nvPr/>
        </p:nvSpPr>
        <p:spPr>
          <a:xfrm>
            <a:off x="3813048" y="2569464"/>
            <a:ext cx="2615184" cy="5303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18212A"/>
                </a:solidFill>
                <a:latin typeface="Aptos"/>
                <a:ea typeface="Aptos"/>
                <a:cs typeface="Aptos"/>
              </a:rPr>
              <a:t>Quantitative descriptive synthesis</a:t>
            </a:r>
            <a:endParaRPr sz="103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63D4EAC-2053-438E-BAE6-97C2F5FA0C7A}"/>
              </a:ext>
            </a:extLst>
          </p:cNvPr>
          <p:cNvSpPr>
            <a:spLocks noGrp="1"/>
          </p:cNvSpPr>
          <p:nvPr/>
        </p:nvSpPr>
        <p:spPr>
          <a:xfrm>
            <a:off x="6492240" y="2496312"/>
            <a:ext cx="416052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395732E-F0CC-4528-BD91-F6484207F7BE}"/>
              </a:ext>
            </a:extLst>
          </p:cNvPr>
          <p:cNvSpPr>
            <a:spLocks noGrp="1"/>
          </p:cNvSpPr>
          <p:nvPr/>
        </p:nvSpPr>
        <p:spPr>
          <a:xfrm>
            <a:off x="6556248" y="2569464"/>
            <a:ext cx="4032504" cy="5303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18212A"/>
                </a:solidFill>
                <a:latin typeface="Aptos"/>
                <a:ea typeface="Aptos"/>
                <a:cs typeface="Aptos"/>
              </a:rPr>
              <a:t>18/40 papers used machine learning classifiers</a:t>
            </a:r>
            <a:endParaRPr sz="103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C41D6C0-CD8D-42CE-8E81-6AAB9B144A04}"/>
              </a:ext>
            </a:extLst>
          </p:cNvPr>
          <p:cNvSpPr>
            <a:spLocks noGrp="1"/>
          </p:cNvSpPr>
          <p:nvPr/>
        </p:nvSpPr>
        <p:spPr>
          <a:xfrm>
            <a:off x="594360" y="3118104"/>
            <a:ext cx="1005840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B2B244A-BBA6-47C9-8672-422991C52946}"/>
              </a:ext>
            </a:extLst>
          </p:cNvPr>
          <p:cNvSpPr>
            <a:spLocks noGrp="1"/>
          </p:cNvSpPr>
          <p:nvPr/>
        </p:nvSpPr>
        <p:spPr>
          <a:xfrm>
            <a:off x="594360" y="3118104"/>
            <a:ext cx="315468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7B5A403-034A-47FB-B6A5-37ADAB8E9043}"/>
              </a:ext>
            </a:extLst>
          </p:cNvPr>
          <p:cNvSpPr>
            <a:spLocks noGrp="1"/>
          </p:cNvSpPr>
          <p:nvPr/>
        </p:nvSpPr>
        <p:spPr>
          <a:xfrm>
            <a:off x="658368" y="3191256"/>
            <a:ext cx="3026664" cy="5303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1030">
                <a:solidFill>
                  <a:srgbClr val="18212A"/>
                </a:solidFill>
                <a:latin typeface="Aptos"/>
                <a:ea typeface="Aptos"/>
                <a:cs typeface="Aptos"/>
              </a:rPr>
              <a:t>Mostly author explanations and findings</a:t>
            </a:r>
            <a:endParaRPr sz="103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5EECA04-9BC0-4541-98B0-22FFBDE5A917}"/>
              </a:ext>
            </a:extLst>
          </p:cNvPr>
          <p:cNvSpPr>
            <a:spLocks noGrp="1"/>
          </p:cNvSpPr>
          <p:nvPr/>
        </p:nvSpPr>
        <p:spPr>
          <a:xfrm>
            <a:off x="3749040" y="3118104"/>
            <a:ext cx="274320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93FB419-D89E-41CA-BDEA-D70FF8069410}"/>
              </a:ext>
            </a:extLst>
          </p:cNvPr>
          <p:cNvSpPr>
            <a:spLocks noGrp="1"/>
          </p:cNvSpPr>
          <p:nvPr/>
        </p:nvSpPr>
        <p:spPr>
          <a:xfrm>
            <a:off x="3813048" y="3191256"/>
            <a:ext cx="2615184" cy="5303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18212A"/>
                </a:solidFill>
                <a:latin typeface="Aptos"/>
                <a:ea typeface="Aptos"/>
                <a:cs typeface="Aptos"/>
              </a:rPr>
              <a:t>Qualitative thematic synthesis</a:t>
            </a:r>
            <a:endParaRPr sz="103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33EDF38-BD23-4256-9462-08616ED5B888}"/>
              </a:ext>
            </a:extLst>
          </p:cNvPr>
          <p:cNvSpPr>
            <a:spLocks noGrp="1"/>
          </p:cNvSpPr>
          <p:nvPr/>
        </p:nvSpPr>
        <p:spPr>
          <a:xfrm>
            <a:off x="6492240" y="3118104"/>
            <a:ext cx="416052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7732708-90AD-477F-BEF1-5AEA8273CE28}"/>
              </a:ext>
            </a:extLst>
          </p:cNvPr>
          <p:cNvSpPr>
            <a:spLocks noGrp="1"/>
          </p:cNvSpPr>
          <p:nvPr/>
        </p:nvSpPr>
        <p:spPr>
          <a:xfrm>
            <a:off x="6556248" y="3191256"/>
            <a:ext cx="4032504" cy="5303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18212A"/>
                </a:solidFill>
                <a:latin typeface="Aptos"/>
                <a:ea typeface="Aptos"/>
                <a:cs typeface="Aptos"/>
              </a:rPr>
              <a:t>Four themes explain adoption barriers</a:t>
            </a:r>
            <a:endParaRPr sz="103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D5F9159-10DC-4308-8E92-0783EEB4CBB6}"/>
              </a:ext>
            </a:extLst>
          </p:cNvPr>
          <p:cNvSpPr>
            <a:spLocks noGrp="1"/>
          </p:cNvSpPr>
          <p:nvPr/>
        </p:nvSpPr>
        <p:spPr>
          <a:xfrm>
            <a:off x="594360" y="3739896"/>
            <a:ext cx="1005840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7CF5F2D-7590-4DEA-9E9E-4C4562C42CCB}"/>
              </a:ext>
            </a:extLst>
          </p:cNvPr>
          <p:cNvSpPr>
            <a:spLocks noGrp="1"/>
          </p:cNvSpPr>
          <p:nvPr/>
        </p:nvSpPr>
        <p:spPr>
          <a:xfrm>
            <a:off x="594360" y="3739896"/>
            <a:ext cx="315468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E194442F-1E1F-4AC9-89B0-BEC4DDE9EBF5}"/>
              </a:ext>
            </a:extLst>
          </p:cNvPr>
          <p:cNvSpPr>
            <a:spLocks noGrp="1"/>
          </p:cNvSpPr>
          <p:nvPr/>
        </p:nvSpPr>
        <p:spPr>
          <a:xfrm>
            <a:off x="658368" y="3813048"/>
            <a:ext cx="3026664" cy="5303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1030">
                <a:solidFill>
                  <a:srgbClr val="18212A"/>
                </a:solidFill>
                <a:latin typeface="Aptos"/>
                <a:ea typeface="Aptos"/>
                <a:cs typeface="Aptos"/>
              </a:rPr>
              <a:t>Both counts and explanations</a:t>
            </a:r>
            <a:endParaRPr sz="103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0AB82814-2ED8-4739-8657-695C713B38A2}"/>
              </a:ext>
            </a:extLst>
          </p:cNvPr>
          <p:cNvSpPr>
            <a:spLocks noGrp="1"/>
          </p:cNvSpPr>
          <p:nvPr/>
        </p:nvSpPr>
        <p:spPr>
          <a:xfrm>
            <a:off x="3749040" y="3739896"/>
            <a:ext cx="274320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94366BF-FA15-4A9A-93B5-20B81305A010}"/>
              </a:ext>
            </a:extLst>
          </p:cNvPr>
          <p:cNvSpPr>
            <a:spLocks noGrp="1"/>
          </p:cNvSpPr>
          <p:nvPr/>
        </p:nvSpPr>
        <p:spPr>
          <a:xfrm>
            <a:off x="3813048" y="3813048"/>
            <a:ext cx="2615184" cy="5303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18212A"/>
                </a:solidFill>
                <a:latin typeface="Aptos"/>
                <a:ea typeface="Aptos"/>
                <a:cs typeface="Aptos"/>
              </a:rPr>
              <a:t>Mixed synthesis</a:t>
            </a:r>
            <a:endParaRPr sz="103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B47D9B3A-4822-4662-A0A8-E643BB48B08A}"/>
              </a:ext>
            </a:extLst>
          </p:cNvPr>
          <p:cNvSpPr>
            <a:spLocks noGrp="1"/>
          </p:cNvSpPr>
          <p:nvPr/>
        </p:nvSpPr>
        <p:spPr>
          <a:xfrm>
            <a:off x="6492240" y="3739896"/>
            <a:ext cx="416052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D1C94668-57A8-488B-8FFC-25BE3E847F7D}"/>
              </a:ext>
            </a:extLst>
          </p:cNvPr>
          <p:cNvSpPr>
            <a:spLocks noGrp="1"/>
          </p:cNvSpPr>
          <p:nvPr/>
        </p:nvSpPr>
        <p:spPr>
          <a:xfrm>
            <a:off x="6556248" y="3813048"/>
            <a:ext cx="4032504" cy="5303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18212A"/>
                </a:solidFill>
                <a:latin typeface="Aptos"/>
                <a:ea typeface="Aptos"/>
                <a:cs typeface="Aptos"/>
              </a:rPr>
              <a:t>Counts show the pattern; themes explain why it matters</a:t>
            </a:r>
            <a:endParaRPr sz="103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3AB686A2-85F8-4FDA-8192-332C5FBDA020}"/>
              </a:ext>
            </a:extLst>
          </p:cNvPr>
          <p:cNvSpPr>
            <a:spLocks noGrp="1"/>
          </p:cNvSpPr>
          <p:nvPr/>
        </p:nvSpPr>
        <p:spPr>
          <a:xfrm>
            <a:off x="594360" y="4361688"/>
            <a:ext cx="1005840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78AF4D46-48E4-4D37-A520-FAE3C4AB9F37}"/>
              </a:ext>
            </a:extLst>
          </p:cNvPr>
          <p:cNvSpPr>
            <a:spLocks noGrp="1"/>
          </p:cNvSpPr>
          <p:nvPr/>
        </p:nvSpPr>
        <p:spPr>
          <a:xfrm>
            <a:off x="594360" y="4361688"/>
            <a:ext cx="315468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662D4E7F-62B4-4B68-BA55-B3343EB569FF}"/>
              </a:ext>
            </a:extLst>
          </p:cNvPr>
          <p:cNvSpPr>
            <a:spLocks noGrp="1"/>
          </p:cNvSpPr>
          <p:nvPr/>
        </p:nvSpPr>
        <p:spPr>
          <a:xfrm>
            <a:off x="658368" y="4434840"/>
            <a:ext cx="3026664" cy="5303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l">
              <a:buNone/>
            </a:pPr>
            <a:r>
              <a:rPr sz="1030">
                <a:solidFill>
                  <a:srgbClr val="18212A"/>
                </a:solidFill>
                <a:latin typeface="Aptos"/>
                <a:ea typeface="Aptos"/>
                <a:cs typeface="Aptos"/>
              </a:rPr>
              <a:t>Comparable effect sizes or outcomes</a:t>
            </a:r>
            <a:endParaRPr sz="103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2E510E20-4B63-41F1-91FD-CDDCD1FC6C73}"/>
              </a:ext>
            </a:extLst>
          </p:cNvPr>
          <p:cNvSpPr>
            <a:spLocks noGrp="1"/>
          </p:cNvSpPr>
          <p:nvPr/>
        </p:nvSpPr>
        <p:spPr>
          <a:xfrm>
            <a:off x="3749040" y="4361688"/>
            <a:ext cx="274320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E0F24277-472D-40BC-A6BE-C2795DD9BFE1}"/>
              </a:ext>
            </a:extLst>
          </p:cNvPr>
          <p:cNvSpPr>
            <a:spLocks noGrp="1"/>
          </p:cNvSpPr>
          <p:nvPr/>
        </p:nvSpPr>
        <p:spPr>
          <a:xfrm>
            <a:off x="3813048" y="4434840"/>
            <a:ext cx="2615184" cy="5303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18212A"/>
                </a:solidFill>
                <a:latin typeface="Aptos"/>
                <a:ea typeface="Aptos"/>
                <a:cs typeface="Aptos"/>
              </a:rPr>
              <a:t>Advanced quantitative synthesis</a:t>
            </a:r>
            <a:endParaRPr sz="103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CB6DE0EB-5BDE-4497-A63D-6FF2BD8E5F02}"/>
              </a:ext>
            </a:extLst>
          </p:cNvPr>
          <p:cNvSpPr>
            <a:spLocks noGrp="1"/>
          </p:cNvSpPr>
          <p:nvPr/>
        </p:nvSpPr>
        <p:spPr>
          <a:xfrm>
            <a:off x="6492240" y="4361688"/>
            <a:ext cx="416052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769A2453-19BD-4521-B1B1-D99F2B7EC868}"/>
              </a:ext>
            </a:extLst>
          </p:cNvPr>
          <p:cNvSpPr>
            <a:spLocks noGrp="1"/>
          </p:cNvSpPr>
          <p:nvPr/>
        </p:nvSpPr>
        <p:spPr>
          <a:xfrm>
            <a:off x="6556248" y="4434840"/>
            <a:ext cx="4032504" cy="53035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18212A"/>
                </a:solidFill>
                <a:latin typeface="Aptos"/>
                <a:ea typeface="Aptos"/>
                <a:cs typeface="Aptos"/>
              </a:rPr>
              <a:t>Only consider this with strong statistical guidance</a:t>
            </a:r>
            <a:endParaRPr sz="103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F8285D16-A769-4867-B5E9-E7E9E9CC3150}"/>
              </a:ext>
            </a:extLst>
          </p:cNvPr>
          <p:cNvSpPr>
            <a:spLocks noGrp="1"/>
          </p:cNvSpPr>
          <p:nvPr/>
        </p:nvSpPr>
        <p:spPr>
          <a:xfrm>
            <a:off x="594360" y="4983480"/>
            <a:ext cx="10058400" cy="0"/>
          </a:xfrm>
          <a:prstGeom prst="line">
            <a:avLst/>
          </a:prstGeom>
          <a:noFill/>
          <a:ln w="8890">
            <a:solidFill>
              <a:srgbClr val="D5DE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9EF861F5-1752-49DC-AC13-5E03B626A317}"/>
              </a:ext>
            </a:extLst>
          </p:cNvPr>
          <p:cNvSpPr>
            <a:spLocks noGrp="1"/>
          </p:cNvSpPr>
          <p:nvPr/>
        </p:nvSpPr>
        <p:spPr>
          <a:xfrm>
            <a:off x="960120" y="5669280"/>
            <a:ext cx="10241280" cy="384048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sz="19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Final reminder: in an SLR, quantitative data often comes from counting papers, while qualitative data comes from interpreting what the papers say.</a:t>
            </a:r>
            <a:endParaRPr sz="195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D1619E76-3AB7-4EF1-A948-A49703AE82BA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00">
                <a:solidFill>
                  <a:srgbClr val="56616B"/>
                </a:solidFill>
              </a:rPr>
              <a:t>33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1047627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EB5073F-687D-4C62-AD4E-96370D38E415}"/>
              </a:ext>
            </a:extLst>
          </p:cNvPr>
          <p:cNvSpPr>
            <a:spLocks noGrp="1"/>
          </p:cNvSpPr>
          <p:nvPr/>
        </p:nvSpPr>
        <p:spPr>
          <a:xfrm>
            <a:off x="11210544" y="6565392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endParaRPr sz="800"/>
          </a:p>
        </p:txBody>
      </p:sp>
      <p:sp>
        <p:nvSpPr>
          <p:cNvPr id="5" name="Editable text S34 L01">
            <a:extLst>
              <a:ext uri="{FF2B5EF4-FFF2-40B4-BE49-F238E27FC236}">
                <a16:creationId xmlns:a16="http://schemas.microsoft.com/office/drawing/2014/main" id="{647E60EC-983F-49B5-B2D3-C30C27A15EF5}"/>
              </a:ext>
            </a:extLst>
          </p:cNvPr>
          <p:cNvSpPr>
            <a:spLocks noGrp="1"/>
          </p:cNvSpPr>
          <p:nvPr/>
        </p:nvSpPr>
        <p:spPr>
          <a:xfrm>
            <a:off x="650142" y="240030"/>
            <a:ext cx="1042179" cy="22669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12" b="1">
                <a:solidFill>
                  <a:srgbClr val="0F5E5A"/>
                </a:solidFill>
                <a:latin typeface="Aptos"/>
                <a:ea typeface="Aptos"/>
                <a:cs typeface="Aptos"/>
              </a:defRPr>
            </a:pPr>
            <a:endParaRPr sz="612" b="1">
              <a:solidFill>
                <a:srgbClr val="0F5E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Editable text S34 L02">
            <a:extLst>
              <a:ext uri="{FF2B5EF4-FFF2-40B4-BE49-F238E27FC236}">
                <a16:creationId xmlns:a16="http://schemas.microsoft.com/office/drawing/2014/main" id="{35C7D61F-B89C-48F0-8293-5A656FAF32DD}"/>
              </a:ext>
            </a:extLst>
          </p:cNvPr>
          <p:cNvSpPr>
            <a:spLocks noGrp="1"/>
          </p:cNvSpPr>
          <p:nvPr/>
        </p:nvSpPr>
        <p:spPr>
          <a:xfrm>
            <a:off x="632244" y="588645"/>
            <a:ext cx="8528784" cy="32956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 fontScale="87593" lnSpcReduction="20000"/>
          </a:bodyPr>
          <a:lstStyle/>
          <a:p>
            <a:pPr algn="l">
              <a:buNone/>
              <a:defRPr sz="2700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8212A"/>
                </a:solidFill>
                <a:latin typeface="Aptos Display"/>
                <a:ea typeface="Aptos Display"/>
                <a:cs typeface="Aptos Display"/>
              </a:rPr>
              <a:t>Close: what novice researchers should remember</a:t>
            </a:r>
          </a:p>
        </p:txBody>
      </p:sp>
      <p:sp>
        <p:nvSpPr>
          <p:cNvPr id="19" name="Editable text S34 L15">
            <a:extLst>
              <a:ext uri="{FF2B5EF4-FFF2-40B4-BE49-F238E27FC236}">
                <a16:creationId xmlns:a16="http://schemas.microsoft.com/office/drawing/2014/main" id="{596E0E58-B9E3-4E68-8834-4D174D4D498E}"/>
              </a:ext>
            </a:extLst>
          </p:cNvPr>
          <p:cNvSpPr>
            <a:spLocks noGrp="1"/>
          </p:cNvSpPr>
          <p:nvPr/>
        </p:nvSpPr>
        <p:spPr>
          <a:xfrm>
            <a:off x="1525896" y="6305550"/>
            <a:ext cx="9197394" cy="20383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1224" b="1">
                <a:solidFill>
                  <a:srgbClr val="26323F"/>
                </a:solidFill>
                <a:latin typeface="Aptos"/>
                <a:ea typeface="Aptos"/>
                <a:cs typeface="Aptos"/>
              </a:defRPr>
            </a:pPr>
            <a:r>
              <a:rPr sz="1224" b="1">
                <a:solidFill>
                  <a:srgbClr val="26323F"/>
                </a:solidFill>
                <a:latin typeface="Aptos"/>
                <a:ea typeface="Aptos"/>
                <a:cs typeface="Aptos"/>
              </a:rPr>
              <a:t>The strongest analysis is not the most complex. It is the one that fits the question, fits the data and is explained clearly.</a:t>
            </a:r>
          </a:p>
        </p:txBody>
      </p:sp>
      <p:sp>
        <p:nvSpPr>
          <p:cNvPr id="20" name="Editable text S34 L16">
            <a:extLst>
              <a:ext uri="{FF2B5EF4-FFF2-40B4-BE49-F238E27FC236}">
                <a16:creationId xmlns:a16="http://schemas.microsoft.com/office/drawing/2014/main" id="{DC147ED1-F0BC-4145-9CBD-D0C099C80B7B}"/>
              </a:ext>
            </a:extLst>
          </p:cNvPr>
          <p:cNvSpPr>
            <a:spLocks noGrp="1"/>
          </p:cNvSpPr>
          <p:nvPr/>
        </p:nvSpPr>
        <p:spPr>
          <a:xfrm>
            <a:off x="11535180" y="6593205"/>
            <a:ext cx="236156" cy="120015"/>
          </a:xfrm>
          <a:prstGeom prst="rect">
            <a:avLst/>
          </a:prstGeom>
          <a:solidFill>
            <a:srgbClr val="FAFBFC"/>
          </a:solidFill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buNone/>
              <a:defRPr sz="600" b="0">
                <a:solidFill>
                  <a:srgbClr val="D5D9DC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D5D9DC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97890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2845</Words>
  <Application>Microsoft Macintosh PowerPoint</Application>
  <DocSecurity>0</DocSecurity>
  <PresentationFormat>Widescreen</PresentationFormat>
  <Paragraphs>434</Paragraphs>
  <Slides>38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Errol Francke</cp:lastModifiedBy>
  <cp:revision>2</cp:revision>
  <dcterms:created xsi:type="dcterms:W3CDTF">2026-08-16T07:36:12Z</dcterms:created>
  <dcterms:modified xsi:type="dcterms:W3CDTF">2026-08-17T11:58:00Z</dcterms:modified>
</cp:coreProperties>
</file>