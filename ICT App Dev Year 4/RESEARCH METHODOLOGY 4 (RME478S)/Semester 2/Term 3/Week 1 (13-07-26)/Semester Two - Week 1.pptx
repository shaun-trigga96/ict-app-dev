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304" r:id="rId6"/>
    <p:sldId id="302" r:id="rId7"/>
    <p:sldId id="305" r:id="rId8"/>
    <p:sldId id="306" r:id="rId9"/>
    <p:sldId id="307" r:id="rId10"/>
    <p:sldId id="308" r:id="rId11"/>
    <p:sldId id="309" r:id="rId12"/>
    <p:sldId id="310" r:id="rId13"/>
    <p:sldId id="311" r:id="rId14"/>
    <p:sldId id="260" r:id="rId15"/>
    <p:sldId id="289" r:id="rId16"/>
    <p:sldId id="262" r:id="rId17"/>
    <p:sldId id="294" r:id="rId18"/>
    <p:sldId id="278" r:id="rId19"/>
    <p:sldId id="295" r:id="rId20"/>
    <p:sldId id="296" r:id="rId21"/>
    <p:sldId id="297" r:id="rId22"/>
    <p:sldId id="298" r:id="rId23"/>
    <p:sldId id="299" r:id="rId24"/>
    <p:sldId id="276" r:id="rId25"/>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47F31-602E-2844-ADD6-0FB837C3E2D0}" v="5" dt="2026-07-13T14:51:49.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4663"/>
  </p:normalViewPr>
  <p:slideViewPr>
    <p:cSldViewPr snapToGrid="0">
      <p:cViewPr varScale="1">
        <p:scale>
          <a:sx n="94" d="100"/>
          <a:sy n="94" d="100"/>
        </p:scale>
        <p:origin x="488" y="20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7CC0B9-E2EC-4986-BB3A-F6A335DD6571}"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633E9EF9-D108-4AE0-8005-2D1E1AA40909}">
      <dgm:prSet/>
      <dgm:spPr/>
      <dgm:t>
        <a:bodyPr/>
        <a:lstStyle/>
        <a:p>
          <a:r>
            <a:rPr lang="en-GB" b="1"/>
            <a:t>8-Week Research Methodology Schedule (Semester 2)</a:t>
          </a:r>
          <a:endParaRPr lang="en-US"/>
        </a:p>
      </dgm:t>
    </dgm:pt>
    <dgm:pt modelId="{2E209D16-31FC-4465-9B9C-9B7F611FC890}" type="parTrans" cxnId="{81C150B3-7EA4-45C6-95F8-CC43E907416F}">
      <dgm:prSet/>
      <dgm:spPr/>
      <dgm:t>
        <a:bodyPr/>
        <a:lstStyle/>
        <a:p>
          <a:endParaRPr lang="en-US"/>
        </a:p>
      </dgm:t>
    </dgm:pt>
    <dgm:pt modelId="{4405633F-9963-4F26-B7FF-2D28E754A5D1}" type="sibTrans" cxnId="{81C150B3-7EA4-45C6-95F8-CC43E907416F}">
      <dgm:prSet/>
      <dgm:spPr/>
      <dgm:t>
        <a:bodyPr/>
        <a:lstStyle/>
        <a:p>
          <a:endParaRPr lang="en-US"/>
        </a:p>
      </dgm:t>
    </dgm:pt>
    <dgm:pt modelId="{B45BEC99-4F61-4E7D-B030-7FA5AFF15414}">
      <dgm:prSet/>
      <dgm:spPr/>
      <dgm:t>
        <a:bodyPr/>
        <a:lstStyle/>
        <a:p>
          <a:r>
            <a:rPr lang="en-GB" b="1"/>
            <a:t>Focus</a:t>
          </a:r>
          <a:r>
            <a:rPr lang="en-GB"/>
            <a:t>: </a:t>
          </a:r>
          <a:endParaRPr lang="en-US"/>
        </a:p>
      </dgm:t>
    </dgm:pt>
    <dgm:pt modelId="{0684A4B1-3B1A-4207-B0B4-0B657C3D6658}" type="parTrans" cxnId="{004A575A-D638-4CD5-91C4-3F7F37EB8086}">
      <dgm:prSet/>
      <dgm:spPr/>
      <dgm:t>
        <a:bodyPr/>
        <a:lstStyle/>
        <a:p>
          <a:endParaRPr lang="en-US"/>
        </a:p>
      </dgm:t>
    </dgm:pt>
    <dgm:pt modelId="{98A8E060-99E9-4C82-BE5D-522C700F7A13}" type="sibTrans" cxnId="{004A575A-D638-4CD5-91C4-3F7F37EB8086}">
      <dgm:prSet/>
      <dgm:spPr/>
      <dgm:t>
        <a:bodyPr/>
        <a:lstStyle/>
        <a:p>
          <a:endParaRPr lang="en-US"/>
        </a:p>
      </dgm:t>
    </dgm:pt>
    <dgm:pt modelId="{3D79648B-AC91-4E2A-89D9-7B6DBF6231EF}">
      <dgm:prSet/>
      <dgm:spPr/>
      <dgm:t>
        <a:bodyPr/>
        <a:lstStyle/>
        <a:p>
          <a:r>
            <a:rPr lang="en-GB"/>
            <a:t>Data collection</a:t>
          </a:r>
          <a:endParaRPr lang="en-US"/>
        </a:p>
      </dgm:t>
    </dgm:pt>
    <dgm:pt modelId="{0DAD04F3-5E5D-4ED3-9319-4BF1254719B7}" type="parTrans" cxnId="{BFF60399-6B37-4168-A5FC-D93703EA4524}">
      <dgm:prSet/>
      <dgm:spPr/>
      <dgm:t>
        <a:bodyPr/>
        <a:lstStyle/>
        <a:p>
          <a:endParaRPr lang="en-US"/>
        </a:p>
      </dgm:t>
    </dgm:pt>
    <dgm:pt modelId="{FF0E1DE6-41EA-43B4-BF17-48FE6912839E}" type="sibTrans" cxnId="{BFF60399-6B37-4168-A5FC-D93703EA4524}">
      <dgm:prSet/>
      <dgm:spPr/>
      <dgm:t>
        <a:bodyPr/>
        <a:lstStyle/>
        <a:p>
          <a:endParaRPr lang="en-US"/>
        </a:p>
      </dgm:t>
    </dgm:pt>
    <dgm:pt modelId="{7264210C-B586-4D41-AA7E-8F1054DEF524}">
      <dgm:prSet/>
      <dgm:spPr/>
      <dgm:t>
        <a:bodyPr/>
        <a:lstStyle/>
        <a:p>
          <a:r>
            <a:rPr lang="en-GB"/>
            <a:t>Analysis</a:t>
          </a:r>
          <a:endParaRPr lang="en-US"/>
        </a:p>
      </dgm:t>
    </dgm:pt>
    <dgm:pt modelId="{5B290DD4-92B5-4804-93B0-F21854AECFF3}" type="parTrans" cxnId="{A15D3E6C-B294-44EE-A25C-EE077E287DCA}">
      <dgm:prSet/>
      <dgm:spPr/>
      <dgm:t>
        <a:bodyPr/>
        <a:lstStyle/>
        <a:p>
          <a:endParaRPr lang="en-US"/>
        </a:p>
      </dgm:t>
    </dgm:pt>
    <dgm:pt modelId="{CC6C6082-3A60-4318-A5CD-C89CC5758611}" type="sibTrans" cxnId="{A15D3E6C-B294-44EE-A25C-EE077E287DCA}">
      <dgm:prSet/>
      <dgm:spPr/>
      <dgm:t>
        <a:bodyPr/>
        <a:lstStyle/>
        <a:p>
          <a:endParaRPr lang="en-US"/>
        </a:p>
      </dgm:t>
    </dgm:pt>
    <dgm:pt modelId="{5EEBA006-FF9B-423B-9161-1E4BD7D6EC2D}">
      <dgm:prSet/>
      <dgm:spPr/>
      <dgm:t>
        <a:bodyPr/>
        <a:lstStyle/>
        <a:p>
          <a:r>
            <a:rPr lang="en-GB"/>
            <a:t>Presentation of findings</a:t>
          </a:r>
          <a:endParaRPr lang="en-US"/>
        </a:p>
      </dgm:t>
    </dgm:pt>
    <dgm:pt modelId="{898BC21F-0440-4709-8BE7-A344E26C8439}" type="parTrans" cxnId="{8581D429-DFCC-43D1-AB4A-C63AA4664F11}">
      <dgm:prSet/>
      <dgm:spPr/>
      <dgm:t>
        <a:bodyPr/>
        <a:lstStyle/>
        <a:p>
          <a:endParaRPr lang="en-US"/>
        </a:p>
      </dgm:t>
    </dgm:pt>
    <dgm:pt modelId="{1B41397A-244B-4A2F-8742-8FA6992EFD12}" type="sibTrans" cxnId="{8581D429-DFCC-43D1-AB4A-C63AA4664F11}">
      <dgm:prSet/>
      <dgm:spPr/>
      <dgm:t>
        <a:bodyPr/>
        <a:lstStyle/>
        <a:p>
          <a:endParaRPr lang="en-US"/>
        </a:p>
      </dgm:t>
    </dgm:pt>
    <dgm:pt modelId="{F22EE2DD-8992-4696-AEFC-050E5F4307E7}">
      <dgm:prSet/>
      <dgm:spPr/>
      <dgm:t>
        <a:bodyPr/>
        <a:lstStyle/>
        <a:p>
          <a:r>
            <a:rPr lang="en-GB"/>
            <a:t>Interpretation</a:t>
          </a:r>
          <a:endParaRPr lang="en-US"/>
        </a:p>
      </dgm:t>
    </dgm:pt>
    <dgm:pt modelId="{50768687-FA1B-4240-9322-B8CAF0AD7F69}" type="parTrans" cxnId="{3F32F789-98C7-4925-B003-D6BF2C8E9065}">
      <dgm:prSet/>
      <dgm:spPr/>
      <dgm:t>
        <a:bodyPr/>
        <a:lstStyle/>
        <a:p>
          <a:endParaRPr lang="en-US"/>
        </a:p>
      </dgm:t>
    </dgm:pt>
    <dgm:pt modelId="{CBF7459C-96C9-436F-A8D6-F6FFB26A996A}" type="sibTrans" cxnId="{3F32F789-98C7-4925-B003-D6BF2C8E9065}">
      <dgm:prSet/>
      <dgm:spPr/>
      <dgm:t>
        <a:bodyPr/>
        <a:lstStyle/>
        <a:p>
          <a:endParaRPr lang="en-US"/>
        </a:p>
      </dgm:t>
    </dgm:pt>
    <dgm:pt modelId="{149B628F-2FAB-4ED3-93B1-E74F1CB20978}">
      <dgm:prSet/>
      <dgm:spPr/>
      <dgm:t>
        <a:bodyPr/>
        <a:lstStyle/>
        <a:p>
          <a:r>
            <a:rPr lang="en-GB"/>
            <a:t>Conclusion.</a:t>
          </a:r>
          <a:endParaRPr lang="en-US"/>
        </a:p>
      </dgm:t>
    </dgm:pt>
    <dgm:pt modelId="{990CE1C1-C2E4-41E6-9EF8-F1D5388D414E}" type="parTrans" cxnId="{F682FA3A-58B2-4F98-A3D7-FB4FCCE7C3E2}">
      <dgm:prSet/>
      <dgm:spPr/>
      <dgm:t>
        <a:bodyPr/>
        <a:lstStyle/>
        <a:p>
          <a:endParaRPr lang="en-US"/>
        </a:p>
      </dgm:t>
    </dgm:pt>
    <dgm:pt modelId="{9B8593A5-BB4C-4B24-857A-A6CE782DDAA1}" type="sibTrans" cxnId="{F682FA3A-58B2-4F98-A3D7-FB4FCCE7C3E2}">
      <dgm:prSet/>
      <dgm:spPr/>
      <dgm:t>
        <a:bodyPr/>
        <a:lstStyle/>
        <a:p>
          <a:endParaRPr lang="en-US"/>
        </a:p>
      </dgm:t>
    </dgm:pt>
    <dgm:pt modelId="{ECBB1E31-D2E8-FF41-B7BA-63F603EC5E39}" type="pres">
      <dgm:prSet presAssocID="{457CC0B9-E2EC-4986-BB3A-F6A335DD6571}" presName="diagram" presStyleCnt="0">
        <dgm:presLayoutVars>
          <dgm:dir/>
          <dgm:resizeHandles val="exact"/>
        </dgm:presLayoutVars>
      </dgm:prSet>
      <dgm:spPr/>
    </dgm:pt>
    <dgm:pt modelId="{028575B5-F4D8-0E4D-A6CD-B4D5D065F12A}" type="pres">
      <dgm:prSet presAssocID="{633E9EF9-D108-4AE0-8005-2D1E1AA40909}" presName="node" presStyleLbl="node1" presStyleIdx="0" presStyleCnt="2">
        <dgm:presLayoutVars>
          <dgm:bulletEnabled val="1"/>
        </dgm:presLayoutVars>
      </dgm:prSet>
      <dgm:spPr/>
    </dgm:pt>
    <dgm:pt modelId="{E88801D0-8854-E54D-8EBC-4E9A1DDF97DB}" type="pres">
      <dgm:prSet presAssocID="{4405633F-9963-4F26-B7FF-2D28E754A5D1}" presName="sibTrans" presStyleCnt="0"/>
      <dgm:spPr/>
    </dgm:pt>
    <dgm:pt modelId="{79D62CBB-3073-DB4E-8D10-55FBBBC3C3AC}" type="pres">
      <dgm:prSet presAssocID="{B45BEC99-4F61-4E7D-B030-7FA5AFF15414}" presName="node" presStyleLbl="node1" presStyleIdx="1" presStyleCnt="2">
        <dgm:presLayoutVars>
          <dgm:bulletEnabled val="1"/>
        </dgm:presLayoutVars>
      </dgm:prSet>
      <dgm:spPr/>
    </dgm:pt>
  </dgm:ptLst>
  <dgm:cxnLst>
    <dgm:cxn modelId="{BD40FE27-9BCD-5549-A38D-46DE2FF01459}" type="presOf" srcId="{5EEBA006-FF9B-423B-9161-1E4BD7D6EC2D}" destId="{79D62CBB-3073-DB4E-8D10-55FBBBC3C3AC}" srcOrd="0" destOrd="3" presId="urn:microsoft.com/office/officeart/2005/8/layout/default"/>
    <dgm:cxn modelId="{8581D429-DFCC-43D1-AB4A-C63AA4664F11}" srcId="{B45BEC99-4F61-4E7D-B030-7FA5AFF15414}" destId="{5EEBA006-FF9B-423B-9161-1E4BD7D6EC2D}" srcOrd="2" destOrd="0" parTransId="{898BC21F-0440-4709-8BE7-A344E26C8439}" sibTransId="{1B41397A-244B-4A2F-8742-8FA6992EFD12}"/>
    <dgm:cxn modelId="{F682FA3A-58B2-4F98-A3D7-FB4FCCE7C3E2}" srcId="{B45BEC99-4F61-4E7D-B030-7FA5AFF15414}" destId="{149B628F-2FAB-4ED3-93B1-E74F1CB20978}" srcOrd="4" destOrd="0" parTransId="{990CE1C1-C2E4-41E6-9EF8-F1D5388D414E}" sibTransId="{9B8593A5-BB4C-4B24-857A-A6CE782DDAA1}"/>
    <dgm:cxn modelId="{C937B64D-E096-844C-AA0A-4FDFD9E503CF}" type="presOf" srcId="{B45BEC99-4F61-4E7D-B030-7FA5AFF15414}" destId="{79D62CBB-3073-DB4E-8D10-55FBBBC3C3AC}" srcOrd="0" destOrd="0" presId="urn:microsoft.com/office/officeart/2005/8/layout/default"/>
    <dgm:cxn modelId="{004A575A-D638-4CD5-91C4-3F7F37EB8086}" srcId="{457CC0B9-E2EC-4986-BB3A-F6A335DD6571}" destId="{B45BEC99-4F61-4E7D-B030-7FA5AFF15414}" srcOrd="1" destOrd="0" parTransId="{0684A4B1-3B1A-4207-B0B4-0B657C3D6658}" sibTransId="{98A8E060-99E9-4C82-BE5D-522C700F7A13}"/>
    <dgm:cxn modelId="{4F0D4764-07AA-354C-B6C4-B95B163DADC6}" type="presOf" srcId="{3D79648B-AC91-4E2A-89D9-7B6DBF6231EF}" destId="{79D62CBB-3073-DB4E-8D10-55FBBBC3C3AC}" srcOrd="0" destOrd="1" presId="urn:microsoft.com/office/officeart/2005/8/layout/default"/>
    <dgm:cxn modelId="{E04DF065-6843-6A4E-8DE4-68CA18F8DF73}" type="presOf" srcId="{F22EE2DD-8992-4696-AEFC-050E5F4307E7}" destId="{79D62CBB-3073-DB4E-8D10-55FBBBC3C3AC}" srcOrd="0" destOrd="4" presId="urn:microsoft.com/office/officeart/2005/8/layout/default"/>
    <dgm:cxn modelId="{A15D3E6C-B294-44EE-A25C-EE077E287DCA}" srcId="{B45BEC99-4F61-4E7D-B030-7FA5AFF15414}" destId="{7264210C-B586-4D41-AA7E-8F1054DEF524}" srcOrd="1" destOrd="0" parTransId="{5B290DD4-92B5-4804-93B0-F21854AECFF3}" sibTransId="{CC6C6082-3A60-4318-A5CD-C89CC5758611}"/>
    <dgm:cxn modelId="{3F32F789-98C7-4925-B003-D6BF2C8E9065}" srcId="{B45BEC99-4F61-4E7D-B030-7FA5AFF15414}" destId="{F22EE2DD-8992-4696-AEFC-050E5F4307E7}" srcOrd="3" destOrd="0" parTransId="{50768687-FA1B-4240-9322-B8CAF0AD7F69}" sibTransId="{CBF7459C-96C9-436F-A8D6-F6FFB26A996A}"/>
    <dgm:cxn modelId="{6E0F748A-44A6-A64E-96E9-BD8FEB2213C4}" type="presOf" srcId="{7264210C-B586-4D41-AA7E-8F1054DEF524}" destId="{79D62CBB-3073-DB4E-8D10-55FBBBC3C3AC}" srcOrd="0" destOrd="2" presId="urn:microsoft.com/office/officeart/2005/8/layout/default"/>
    <dgm:cxn modelId="{43BF468E-EB28-D945-B8F1-BD85D69333AE}" type="presOf" srcId="{457CC0B9-E2EC-4986-BB3A-F6A335DD6571}" destId="{ECBB1E31-D2E8-FF41-B7BA-63F603EC5E39}" srcOrd="0" destOrd="0" presId="urn:microsoft.com/office/officeart/2005/8/layout/default"/>
    <dgm:cxn modelId="{BFF60399-6B37-4168-A5FC-D93703EA4524}" srcId="{B45BEC99-4F61-4E7D-B030-7FA5AFF15414}" destId="{3D79648B-AC91-4E2A-89D9-7B6DBF6231EF}" srcOrd="0" destOrd="0" parTransId="{0DAD04F3-5E5D-4ED3-9319-4BF1254719B7}" sibTransId="{FF0E1DE6-41EA-43B4-BF17-48FE6912839E}"/>
    <dgm:cxn modelId="{F4CEC5A3-569C-0742-A0CF-8A74CE52DFCA}" type="presOf" srcId="{633E9EF9-D108-4AE0-8005-2D1E1AA40909}" destId="{028575B5-F4D8-0E4D-A6CD-B4D5D065F12A}" srcOrd="0" destOrd="0" presId="urn:microsoft.com/office/officeart/2005/8/layout/default"/>
    <dgm:cxn modelId="{81C150B3-7EA4-45C6-95F8-CC43E907416F}" srcId="{457CC0B9-E2EC-4986-BB3A-F6A335DD6571}" destId="{633E9EF9-D108-4AE0-8005-2D1E1AA40909}" srcOrd="0" destOrd="0" parTransId="{2E209D16-31FC-4465-9B9C-9B7F611FC890}" sibTransId="{4405633F-9963-4F26-B7FF-2D28E754A5D1}"/>
    <dgm:cxn modelId="{59B8D4EC-D99B-8448-9C4C-B3BF994D8009}" type="presOf" srcId="{149B628F-2FAB-4ED3-93B1-E74F1CB20978}" destId="{79D62CBB-3073-DB4E-8D10-55FBBBC3C3AC}" srcOrd="0" destOrd="5" presId="urn:microsoft.com/office/officeart/2005/8/layout/default"/>
    <dgm:cxn modelId="{3AF2B8FA-0750-2342-915A-B8F17CD3F448}" type="presParOf" srcId="{ECBB1E31-D2E8-FF41-B7BA-63F603EC5E39}" destId="{028575B5-F4D8-0E4D-A6CD-B4D5D065F12A}" srcOrd="0" destOrd="0" presId="urn:microsoft.com/office/officeart/2005/8/layout/default"/>
    <dgm:cxn modelId="{410BBE69-193A-5640-998A-F5A69DCCE90C}" type="presParOf" srcId="{ECBB1E31-D2E8-FF41-B7BA-63F603EC5E39}" destId="{E88801D0-8854-E54D-8EBC-4E9A1DDF97DB}" srcOrd="1" destOrd="0" presId="urn:microsoft.com/office/officeart/2005/8/layout/default"/>
    <dgm:cxn modelId="{1AE8DA64-52E2-624E-B31F-C2F55ECC189C}" type="presParOf" srcId="{ECBB1E31-D2E8-FF41-B7BA-63F603EC5E39}" destId="{79D62CBB-3073-DB4E-8D10-55FBBBC3C3AC}"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05E41D-E10D-4A38-BFE0-08F541DB74B3}"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GB"/>
        </a:p>
      </dgm:t>
    </dgm:pt>
    <dgm:pt modelId="{3205FB68-8EB0-417A-8F63-86F799348394}">
      <dgm:prSet phldrT="[Text]"/>
      <dgm:spPr/>
      <dgm:t>
        <a:bodyPr/>
        <a:lstStyle/>
        <a:p>
          <a:r>
            <a:rPr lang="en-GB" b="1">
              <a:latin typeface="Arial" panose="020B0604020202020204" pitchFamily="34" charset="0"/>
              <a:cs typeface="Arial" panose="020B0604020202020204" pitchFamily="34" charset="0"/>
            </a:rPr>
            <a:t>1</a:t>
          </a:r>
        </a:p>
      </dgm:t>
    </dgm:pt>
    <dgm:pt modelId="{8706B375-46D7-4928-9207-6DC16B015643}" type="par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03428CFD-8043-4758-B23F-EAA9C383B11C}" type="sib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12A0E667-F3D7-416F-9C99-9F61663A237A}">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Paradigm </a:t>
          </a:r>
        </a:p>
      </dgm:t>
    </dgm:pt>
    <dgm:pt modelId="{09C0925D-DD77-4C02-8F68-43AF697D149C}" type="par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FC8887A-D51D-4502-9143-24AF397BD21A}" type="sib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AD6EA13-5904-4738-A812-038D74ACE347}">
      <dgm:prSet phldrT="[Text]"/>
      <dgm:spPr/>
      <dgm:t>
        <a:bodyPr/>
        <a:lstStyle/>
        <a:p>
          <a:pPr>
            <a:buNone/>
          </a:pPr>
          <a:r>
            <a:rPr lang="en-GB">
              <a:latin typeface="Arial" panose="020B0604020202020204" pitchFamily="34" charset="0"/>
              <a:cs typeface="Arial" panose="020B0604020202020204" pitchFamily="34" charset="0"/>
            </a:rPr>
            <a:t>Belief system</a:t>
          </a:r>
        </a:p>
      </dgm:t>
    </dgm:pt>
    <dgm:pt modelId="{5140C2F5-15D6-4403-A25D-381FE9E5C991}" type="par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8F09D514-16F1-4091-B7AB-878D4665D4C5}" type="sib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F5B26E34-A9CE-43A7-8864-01C18BAFA5E9}">
      <dgm:prSet phldrT="[Text]"/>
      <dgm:spPr/>
      <dgm:t>
        <a:bodyPr/>
        <a:lstStyle/>
        <a:p>
          <a:r>
            <a:rPr lang="en-GB" b="1">
              <a:latin typeface="Arial" panose="020B0604020202020204" pitchFamily="34" charset="0"/>
              <a:cs typeface="Arial" panose="020B0604020202020204" pitchFamily="34" charset="0"/>
            </a:rPr>
            <a:t>2</a:t>
          </a:r>
        </a:p>
      </dgm:t>
    </dgm:pt>
    <dgm:pt modelId="{1B2C3477-B608-4F74-A853-7BB49C166032}" type="par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174E25F0-A2AE-48F9-89C5-CB31CB23070A}" type="sib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A159FBE1-1391-4919-8FBA-CE0A6CECFFD1}">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Approach</a:t>
          </a:r>
        </a:p>
      </dgm:t>
    </dgm:pt>
    <dgm:pt modelId="{352C651D-D80B-49E6-8DB3-1ECE544DF3FA}" type="par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96C473E2-E257-436E-BD18-427EE61DE244}" type="sib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13209E3B-B504-4D1E-8468-C8CD741FB448}">
      <dgm:prSet phldrT="[Text]"/>
      <dgm:spPr/>
      <dgm:t>
        <a:bodyPr/>
        <a:lstStyle/>
        <a:p>
          <a:pPr>
            <a:buNone/>
          </a:pPr>
          <a:r>
            <a:rPr lang="en-GB">
              <a:latin typeface="Arial" panose="020B0604020202020204" pitchFamily="34" charset="0"/>
              <a:cs typeface="Arial" panose="020B0604020202020204" pitchFamily="34" charset="0"/>
            </a:rPr>
            <a:t>Strategy</a:t>
          </a:r>
        </a:p>
      </dgm:t>
    </dgm:pt>
    <dgm:pt modelId="{10A845A9-0B4C-4989-ABFE-112F52862A63}" type="par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7EA80692-ED9B-4C93-985F-5F14F8A5B981}" type="sib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6EBE91E6-490F-42C9-8778-827A76DFFDB2}">
      <dgm:prSet phldrT="[Text]"/>
      <dgm:spPr/>
      <dgm:t>
        <a:bodyPr/>
        <a:lstStyle/>
        <a:p>
          <a:r>
            <a:rPr lang="en-GB" b="1">
              <a:latin typeface="Arial" panose="020B0604020202020204" pitchFamily="34" charset="0"/>
              <a:cs typeface="Arial" panose="020B0604020202020204" pitchFamily="34" charset="0"/>
            </a:rPr>
            <a:t>3</a:t>
          </a:r>
        </a:p>
      </dgm:t>
    </dgm:pt>
    <dgm:pt modelId="{A23AE4CF-5EA3-4893-822E-DDAA43A1CEA0}" type="par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12C3A137-DDE0-4382-97EC-118C8354C0E3}" type="sib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AFC7AC2D-61FF-44E2-B431-7076223C4F44}">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Methodology</a:t>
          </a:r>
        </a:p>
      </dgm:t>
    </dgm:pt>
    <dgm:pt modelId="{2D527205-F337-4167-BDA8-669E6BFCA9F4}" type="par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FEC81B5D-C7B9-485C-B065-5AF0F2222A64}" type="sib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22063AAD-1CE1-4814-B1EB-43614115FE68}">
      <dgm:prSet phldrT="[Text]"/>
      <dgm:spPr/>
      <dgm:t>
        <a:bodyPr/>
        <a:lstStyle/>
        <a:p>
          <a:pPr>
            <a:buNone/>
          </a:pPr>
          <a:r>
            <a:rPr lang="en-GB">
              <a:latin typeface="Arial" panose="020B0604020202020204" pitchFamily="34" charset="0"/>
              <a:cs typeface="Arial" panose="020B0604020202020204" pitchFamily="34" charset="0"/>
            </a:rPr>
            <a:t>Justification</a:t>
          </a:r>
        </a:p>
      </dgm:t>
    </dgm:pt>
    <dgm:pt modelId="{D4A54E03-7A2A-444E-B8A3-316A63C23A77}" type="par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8F521562-C64B-451E-8629-D09B434DCE28}" type="sib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C72B9DB0-81C6-413A-96CA-429E76738EEC}">
      <dgm:prSet phldrT="[Text]"/>
      <dgm:spPr/>
      <dgm:t>
        <a:bodyPr/>
        <a:lstStyle/>
        <a:p>
          <a:r>
            <a:rPr lang="en-GB" b="1">
              <a:latin typeface="Arial" panose="020B0604020202020204" pitchFamily="34" charset="0"/>
              <a:cs typeface="Arial" panose="020B0604020202020204" pitchFamily="34" charset="0"/>
            </a:rPr>
            <a:t>4</a:t>
          </a:r>
        </a:p>
      </dgm:t>
    </dgm:pt>
    <dgm:pt modelId="{61C8D1A5-68CA-4738-A049-630B5B23D0A8}" type="par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A8F167A0-B45E-4BF5-87A8-EA94DB29D568}" type="sib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05E38896-F1D6-4695-B01F-E279489F1A84}">
      <dgm:prSet phldrT="[Text]"/>
      <dgm:spPr/>
      <dgm:t>
        <a:bodyPr/>
        <a:lstStyle/>
        <a:p>
          <a:r>
            <a:rPr lang="en-GB">
              <a:latin typeface="Arial" panose="020B0604020202020204" pitchFamily="34" charset="0"/>
              <a:cs typeface="Arial" panose="020B0604020202020204" pitchFamily="34" charset="0"/>
            </a:rPr>
            <a:t>Research Design</a:t>
          </a:r>
        </a:p>
      </dgm:t>
    </dgm:pt>
    <dgm:pt modelId="{10E2EF80-5088-4459-810D-6E4EEF1E8C87}" type="par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01C8C857-0CAF-441C-87CA-6C1B1CB63D2B}" type="sib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A06A6F26-3982-4478-9A16-38A83DF0580A}">
      <dgm:prSet phldrT="[Text]"/>
      <dgm:spPr/>
      <dgm:t>
        <a:bodyPr/>
        <a:lstStyle/>
        <a:p>
          <a:r>
            <a:rPr lang="en-GB">
              <a:latin typeface="Arial" panose="020B0604020202020204" pitchFamily="34" charset="0"/>
              <a:cs typeface="Arial" panose="020B0604020202020204" pitchFamily="34" charset="0"/>
            </a:rPr>
            <a:t>Blueprint</a:t>
          </a:r>
        </a:p>
      </dgm:t>
    </dgm:pt>
    <dgm:pt modelId="{8CBF047E-8382-411A-A4A8-7F35136FBB49}" type="par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FB65C685-13B4-4E94-82B9-58200A1C779B}" type="sib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994C26F4-9216-430F-B921-1EA365C58720}">
      <dgm:prSet phldrT="[Text]"/>
      <dgm:spPr/>
      <dgm:t>
        <a:bodyPr/>
        <a:lstStyle/>
        <a:p>
          <a:r>
            <a:rPr lang="en-GB" b="1">
              <a:latin typeface="Arial" panose="020B0604020202020204" pitchFamily="34" charset="0"/>
              <a:cs typeface="Arial" panose="020B0604020202020204" pitchFamily="34" charset="0"/>
            </a:rPr>
            <a:t>5</a:t>
          </a:r>
        </a:p>
      </dgm:t>
    </dgm:pt>
    <dgm:pt modelId="{E68D1ED6-4CCD-41E6-8560-E84A5A11B75C}" type="parTrans" cxnId="{8ED2E108-4CCF-4113-972E-22EE4A5A1178}">
      <dgm:prSet/>
      <dgm:spPr/>
      <dgm:t>
        <a:bodyPr/>
        <a:lstStyle/>
        <a:p>
          <a:endParaRPr lang="en-GB">
            <a:latin typeface="Arial" panose="020B0604020202020204" pitchFamily="34" charset="0"/>
            <a:cs typeface="Arial" panose="020B0604020202020204" pitchFamily="34" charset="0"/>
          </a:endParaRPr>
        </a:p>
      </dgm:t>
    </dgm:pt>
    <dgm:pt modelId="{2D371DFA-F404-4849-B0C1-688AE162E9AE}" type="sibTrans" cxnId="{8ED2E108-4CCF-4113-972E-22EE4A5A1178}">
      <dgm:prSet/>
      <dgm:spPr/>
      <dgm:t>
        <a:bodyPr/>
        <a:lstStyle/>
        <a:p>
          <a:endParaRPr lang="en-GB">
            <a:latin typeface="Arial" panose="020B0604020202020204" pitchFamily="34" charset="0"/>
            <a:cs typeface="Arial" panose="020B0604020202020204" pitchFamily="34" charset="0"/>
          </a:endParaRPr>
        </a:p>
      </dgm:t>
    </dgm:pt>
    <dgm:pt modelId="{1AFC99BB-5332-420F-8F40-E5E3F7CE4EF2}">
      <dgm:prSet phldrT="[Text]"/>
      <dgm:spPr/>
      <dgm:t>
        <a:bodyPr/>
        <a:lstStyle/>
        <a:p>
          <a:r>
            <a:rPr lang="en-GB">
              <a:latin typeface="Arial" panose="020B0604020202020204" pitchFamily="34" charset="0"/>
              <a:cs typeface="Arial" panose="020B0604020202020204" pitchFamily="34" charset="0"/>
            </a:rPr>
            <a:t>Research Methods</a:t>
          </a:r>
        </a:p>
      </dgm:t>
    </dgm:pt>
    <dgm:pt modelId="{E966D692-C0FE-4B6D-AB4D-28563D828C3D}" type="parTrans" cxnId="{7F2D8815-940E-4E52-B6C6-3C8A575D624E}">
      <dgm:prSet/>
      <dgm:spPr/>
      <dgm:t>
        <a:bodyPr/>
        <a:lstStyle/>
        <a:p>
          <a:endParaRPr lang="en-GB">
            <a:latin typeface="Arial" panose="020B0604020202020204" pitchFamily="34" charset="0"/>
            <a:cs typeface="Arial" panose="020B0604020202020204" pitchFamily="34" charset="0"/>
          </a:endParaRPr>
        </a:p>
      </dgm:t>
    </dgm:pt>
    <dgm:pt modelId="{F9BBBB54-7F05-4A84-B5BC-12A424786CC7}" type="sibTrans" cxnId="{7F2D8815-940E-4E52-B6C6-3C8A575D624E}">
      <dgm:prSet/>
      <dgm:spPr/>
      <dgm:t>
        <a:bodyPr/>
        <a:lstStyle/>
        <a:p>
          <a:endParaRPr lang="en-GB">
            <a:latin typeface="Arial" panose="020B0604020202020204" pitchFamily="34" charset="0"/>
            <a:cs typeface="Arial" panose="020B0604020202020204" pitchFamily="34" charset="0"/>
          </a:endParaRPr>
        </a:p>
      </dgm:t>
    </dgm:pt>
    <dgm:pt modelId="{9A0ED6CE-D80D-4EA2-A1A2-6E4087F6C302}">
      <dgm:prSet phldrT="[Text]"/>
      <dgm:spPr/>
      <dgm:t>
        <a:bodyPr/>
        <a:lstStyle/>
        <a:p>
          <a:r>
            <a:rPr lang="en-GB">
              <a:latin typeface="Arial" panose="020B0604020202020204" pitchFamily="34" charset="0"/>
              <a:cs typeface="Arial" panose="020B0604020202020204" pitchFamily="34" charset="0"/>
            </a:rPr>
            <a:t>Tools and techniques</a:t>
          </a:r>
        </a:p>
      </dgm:t>
    </dgm:pt>
    <dgm:pt modelId="{13EB82BB-2A64-43D4-B83D-8FADA98DEE04}" type="parTrans" cxnId="{B6D7752C-F870-4130-8E2F-DE17E9786B3C}">
      <dgm:prSet/>
      <dgm:spPr/>
      <dgm:t>
        <a:bodyPr/>
        <a:lstStyle/>
        <a:p>
          <a:endParaRPr lang="en-GB">
            <a:latin typeface="Arial" panose="020B0604020202020204" pitchFamily="34" charset="0"/>
            <a:cs typeface="Arial" panose="020B0604020202020204" pitchFamily="34" charset="0"/>
          </a:endParaRPr>
        </a:p>
      </dgm:t>
    </dgm:pt>
    <dgm:pt modelId="{B6870F69-7959-4DED-BEFB-0D400A7DB545}" type="sibTrans" cxnId="{B6D7752C-F870-4130-8E2F-DE17E9786B3C}">
      <dgm:prSet/>
      <dgm:spPr/>
      <dgm:t>
        <a:bodyPr/>
        <a:lstStyle/>
        <a:p>
          <a:endParaRPr lang="en-GB">
            <a:latin typeface="Arial" panose="020B0604020202020204" pitchFamily="34" charset="0"/>
            <a:cs typeface="Arial" panose="020B0604020202020204" pitchFamily="34" charset="0"/>
          </a:endParaRPr>
        </a:p>
      </dgm:t>
    </dgm:pt>
    <dgm:pt modelId="{2D914861-D000-4765-8CB5-11C38BF43588}" type="pres">
      <dgm:prSet presAssocID="{8D05E41D-E10D-4A38-BFE0-08F541DB74B3}" presName="Name0" presStyleCnt="0">
        <dgm:presLayoutVars>
          <dgm:dir/>
          <dgm:animLvl val="lvl"/>
          <dgm:resizeHandles val="exact"/>
        </dgm:presLayoutVars>
      </dgm:prSet>
      <dgm:spPr/>
    </dgm:pt>
    <dgm:pt modelId="{7DC548A1-7DFF-4A4C-8D74-5D5079365B6C}" type="pres">
      <dgm:prSet presAssocID="{994C26F4-9216-430F-B921-1EA365C58720}" presName="boxAndChildren" presStyleCnt="0"/>
      <dgm:spPr/>
    </dgm:pt>
    <dgm:pt modelId="{3B15AED5-4B64-46C3-8113-81CCB69ED97A}" type="pres">
      <dgm:prSet presAssocID="{994C26F4-9216-430F-B921-1EA365C58720}" presName="parentTextBox" presStyleLbl="node1" presStyleIdx="0" presStyleCnt="5"/>
      <dgm:spPr/>
    </dgm:pt>
    <dgm:pt modelId="{8504D74B-EB39-4937-8A69-DD243CBFAFE7}" type="pres">
      <dgm:prSet presAssocID="{994C26F4-9216-430F-B921-1EA365C58720}" presName="entireBox" presStyleLbl="node1" presStyleIdx="0" presStyleCnt="5"/>
      <dgm:spPr/>
    </dgm:pt>
    <dgm:pt modelId="{4B75A8C1-5028-48AE-95C7-3987112A9FAD}" type="pres">
      <dgm:prSet presAssocID="{994C26F4-9216-430F-B921-1EA365C58720}" presName="descendantBox" presStyleCnt="0"/>
      <dgm:spPr/>
    </dgm:pt>
    <dgm:pt modelId="{2A216439-6BF3-4693-A08A-593D12AAA821}" type="pres">
      <dgm:prSet presAssocID="{1AFC99BB-5332-420F-8F40-E5E3F7CE4EF2}" presName="childTextBox" presStyleLbl="fgAccFollowNode1" presStyleIdx="0" presStyleCnt="10">
        <dgm:presLayoutVars>
          <dgm:bulletEnabled val="1"/>
        </dgm:presLayoutVars>
      </dgm:prSet>
      <dgm:spPr/>
    </dgm:pt>
    <dgm:pt modelId="{EAB98D45-2D23-4EFE-B381-D8D279F63DC0}" type="pres">
      <dgm:prSet presAssocID="{9A0ED6CE-D80D-4EA2-A1A2-6E4087F6C302}" presName="childTextBox" presStyleLbl="fgAccFollowNode1" presStyleIdx="1" presStyleCnt="10">
        <dgm:presLayoutVars>
          <dgm:bulletEnabled val="1"/>
        </dgm:presLayoutVars>
      </dgm:prSet>
      <dgm:spPr/>
    </dgm:pt>
    <dgm:pt modelId="{5FEEF50F-7A5E-4673-9812-3C4E35BE34E5}" type="pres">
      <dgm:prSet presAssocID="{A8F167A0-B45E-4BF5-87A8-EA94DB29D568}" presName="sp" presStyleCnt="0"/>
      <dgm:spPr/>
    </dgm:pt>
    <dgm:pt modelId="{C02C734A-1D13-40A3-A50C-C8DBB77DF65F}" type="pres">
      <dgm:prSet presAssocID="{C72B9DB0-81C6-413A-96CA-429E76738EEC}" presName="arrowAndChildren" presStyleCnt="0"/>
      <dgm:spPr/>
    </dgm:pt>
    <dgm:pt modelId="{B9DB9C70-B364-4EF8-8FB7-0807F2F64DFD}" type="pres">
      <dgm:prSet presAssocID="{C72B9DB0-81C6-413A-96CA-429E76738EEC}" presName="parentTextArrow" presStyleLbl="node1" presStyleIdx="0" presStyleCnt="5"/>
      <dgm:spPr/>
    </dgm:pt>
    <dgm:pt modelId="{AED2453A-CA7C-4FB2-9ABB-174C78925E20}" type="pres">
      <dgm:prSet presAssocID="{C72B9DB0-81C6-413A-96CA-429E76738EEC}" presName="arrow" presStyleLbl="node1" presStyleIdx="1" presStyleCnt="5"/>
      <dgm:spPr/>
    </dgm:pt>
    <dgm:pt modelId="{748E494C-6FD1-48C9-88F0-B3AA83F604A9}" type="pres">
      <dgm:prSet presAssocID="{C72B9DB0-81C6-413A-96CA-429E76738EEC}" presName="descendantArrow" presStyleCnt="0"/>
      <dgm:spPr/>
    </dgm:pt>
    <dgm:pt modelId="{F06EB0B7-F90C-49EE-A3B8-F79488271E82}" type="pres">
      <dgm:prSet presAssocID="{05E38896-F1D6-4695-B01F-E279489F1A84}" presName="childTextArrow" presStyleLbl="fgAccFollowNode1" presStyleIdx="2" presStyleCnt="10">
        <dgm:presLayoutVars>
          <dgm:bulletEnabled val="1"/>
        </dgm:presLayoutVars>
      </dgm:prSet>
      <dgm:spPr/>
    </dgm:pt>
    <dgm:pt modelId="{B0B3566E-4576-4829-937A-DD0FE8CEAC0B}" type="pres">
      <dgm:prSet presAssocID="{A06A6F26-3982-4478-9A16-38A83DF0580A}" presName="childTextArrow" presStyleLbl="fgAccFollowNode1" presStyleIdx="3" presStyleCnt="10">
        <dgm:presLayoutVars>
          <dgm:bulletEnabled val="1"/>
        </dgm:presLayoutVars>
      </dgm:prSet>
      <dgm:spPr/>
    </dgm:pt>
    <dgm:pt modelId="{0676C6AD-7BD6-4D95-A845-CF48C7170A3A}" type="pres">
      <dgm:prSet presAssocID="{12C3A137-DDE0-4382-97EC-118C8354C0E3}" presName="sp" presStyleCnt="0"/>
      <dgm:spPr/>
    </dgm:pt>
    <dgm:pt modelId="{B70C183F-49B0-4999-8CBD-E2DD9533560E}" type="pres">
      <dgm:prSet presAssocID="{6EBE91E6-490F-42C9-8778-827A76DFFDB2}" presName="arrowAndChildren" presStyleCnt="0"/>
      <dgm:spPr/>
    </dgm:pt>
    <dgm:pt modelId="{9AA5D323-675A-4A43-B886-8E4807B8A5C2}" type="pres">
      <dgm:prSet presAssocID="{6EBE91E6-490F-42C9-8778-827A76DFFDB2}" presName="parentTextArrow" presStyleLbl="node1" presStyleIdx="1" presStyleCnt="5"/>
      <dgm:spPr/>
    </dgm:pt>
    <dgm:pt modelId="{7AB72186-716D-4AFF-8348-7B5CC2CCF54C}" type="pres">
      <dgm:prSet presAssocID="{6EBE91E6-490F-42C9-8778-827A76DFFDB2}" presName="arrow" presStyleLbl="node1" presStyleIdx="2" presStyleCnt="5"/>
      <dgm:spPr/>
    </dgm:pt>
    <dgm:pt modelId="{BDB687E6-300C-4549-AAE4-5A9587A00617}" type="pres">
      <dgm:prSet presAssocID="{6EBE91E6-490F-42C9-8778-827A76DFFDB2}" presName="descendantArrow" presStyleCnt="0"/>
      <dgm:spPr/>
    </dgm:pt>
    <dgm:pt modelId="{9834509B-BD9B-4E19-A0E8-96213E846135}" type="pres">
      <dgm:prSet presAssocID="{AFC7AC2D-61FF-44E2-B431-7076223C4F44}" presName="childTextArrow" presStyleLbl="fgAccFollowNode1" presStyleIdx="4" presStyleCnt="10">
        <dgm:presLayoutVars>
          <dgm:bulletEnabled val="1"/>
        </dgm:presLayoutVars>
      </dgm:prSet>
      <dgm:spPr/>
    </dgm:pt>
    <dgm:pt modelId="{2EE42B48-6A5C-4EC8-9276-52A186F3B0E5}" type="pres">
      <dgm:prSet presAssocID="{22063AAD-1CE1-4814-B1EB-43614115FE68}" presName="childTextArrow" presStyleLbl="fgAccFollowNode1" presStyleIdx="5" presStyleCnt="10">
        <dgm:presLayoutVars>
          <dgm:bulletEnabled val="1"/>
        </dgm:presLayoutVars>
      </dgm:prSet>
      <dgm:spPr/>
    </dgm:pt>
    <dgm:pt modelId="{B293B369-70C2-4C29-966A-EDEBAB72AC4E}" type="pres">
      <dgm:prSet presAssocID="{174E25F0-A2AE-48F9-89C5-CB31CB23070A}" presName="sp" presStyleCnt="0"/>
      <dgm:spPr/>
    </dgm:pt>
    <dgm:pt modelId="{010C2A50-2C91-44FD-BAD1-C9213AB82608}" type="pres">
      <dgm:prSet presAssocID="{F5B26E34-A9CE-43A7-8864-01C18BAFA5E9}" presName="arrowAndChildren" presStyleCnt="0"/>
      <dgm:spPr/>
    </dgm:pt>
    <dgm:pt modelId="{A0B7D419-162D-43B8-B16B-5F788F10394E}" type="pres">
      <dgm:prSet presAssocID="{F5B26E34-A9CE-43A7-8864-01C18BAFA5E9}" presName="parentTextArrow" presStyleLbl="node1" presStyleIdx="2" presStyleCnt="5"/>
      <dgm:spPr/>
    </dgm:pt>
    <dgm:pt modelId="{1A0DBE4A-1564-4569-AB01-A8D2605222AF}" type="pres">
      <dgm:prSet presAssocID="{F5B26E34-A9CE-43A7-8864-01C18BAFA5E9}" presName="arrow" presStyleLbl="node1" presStyleIdx="3" presStyleCnt="5"/>
      <dgm:spPr/>
    </dgm:pt>
    <dgm:pt modelId="{EDCF87CE-31F0-4716-A998-C51668F863B2}" type="pres">
      <dgm:prSet presAssocID="{F5B26E34-A9CE-43A7-8864-01C18BAFA5E9}" presName="descendantArrow" presStyleCnt="0"/>
      <dgm:spPr/>
    </dgm:pt>
    <dgm:pt modelId="{D7E6A44B-DAEB-4D66-A128-AA5DCD5DA231}" type="pres">
      <dgm:prSet presAssocID="{A159FBE1-1391-4919-8FBA-CE0A6CECFFD1}" presName="childTextArrow" presStyleLbl="fgAccFollowNode1" presStyleIdx="6" presStyleCnt="10">
        <dgm:presLayoutVars>
          <dgm:bulletEnabled val="1"/>
        </dgm:presLayoutVars>
      </dgm:prSet>
      <dgm:spPr/>
    </dgm:pt>
    <dgm:pt modelId="{AC199570-7F6B-4B26-BF81-8447796210CC}" type="pres">
      <dgm:prSet presAssocID="{13209E3B-B504-4D1E-8468-C8CD741FB448}" presName="childTextArrow" presStyleLbl="fgAccFollowNode1" presStyleIdx="7" presStyleCnt="10">
        <dgm:presLayoutVars>
          <dgm:bulletEnabled val="1"/>
        </dgm:presLayoutVars>
      </dgm:prSet>
      <dgm:spPr/>
    </dgm:pt>
    <dgm:pt modelId="{6A17C1AF-9620-4245-841E-0292069633D6}" type="pres">
      <dgm:prSet presAssocID="{03428CFD-8043-4758-B23F-EAA9C383B11C}" presName="sp" presStyleCnt="0"/>
      <dgm:spPr/>
    </dgm:pt>
    <dgm:pt modelId="{4040F822-3736-4F0F-A1CF-55A2EA7CCEE3}" type="pres">
      <dgm:prSet presAssocID="{3205FB68-8EB0-417A-8F63-86F799348394}" presName="arrowAndChildren" presStyleCnt="0"/>
      <dgm:spPr/>
    </dgm:pt>
    <dgm:pt modelId="{7CFB1F5D-148A-494C-BAB7-32D4DAFE5A27}" type="pres">
      <dgm:prSet presAssocID="{3205FB68-8EB0-417A-8F63-86F799348394}" presName="parentTextArrow" presStyleLbl="node1" presStyleIdx="3" presStyleCnt="5"/>
      <dgm:spPr/>
    </dgm:pt>
    <dgm:pt modelId="{D8EE16DF-2C82-48B2-97F0-6F233039F52C}" type="pres">
      <dgm:prSet presAssocID="{3205FB68-8EB0-417A-8F63-86F799348394}" presName="arrow" presStyleLbl="node1" presStyleIdx="4" presStyleCnt="5"/>
      <dgm:spPr/>
    </dgm:pt>
    <dgm:pt modelId="{B94DDBEA-1915-4293-ADA0-A4860F4C450C}" type="pres">
      <dgm:prSet presAssocID="{3205FB68-8EB0-417A-8F63-86F799348394}" presName="descendantArrow" presStyleCnt="0"/>
      <dgm:spPr/>
    </dgm:pt>
    <dgm:pt modelId="{E30C6288-D54E-41EB-85BC-4114ED549C00}" type="pres">
      <dgm:prSet presAssocID="{12A0E667-F3D7-416F-9C99-9F61663A237A}" presName="childTextArrow" presStyleLbl="fgAccFollowNode1" presStyleIdx="8" presStyleCnt="10">
        <dgm:presLayoutVars>
          <dgm:bulletEnabled val="1"/>
        </dgm:presLayoutVars>
      </dgm:prSet>
      <dgm:spPr/>
    </dgm:pt>
    <dgm:pt modelId="{375FC475-0A73-460E-9776-3C97F4EF03FA}" type="pres">
      <dgm:prSet presAssocID="{2AD6EA13-5904-4738-A812-038D74ACE347}" presName="childTextArrow" presStyleLbl="fgAccFollowNode1" presStyleIdx="9" presStyleCnt="10">
        <dgm:presLayoutVars>
          <dgm:bulletEnabled val="1"/>
        </dgm:presLayoutVars>
      </dgm:prSet>
      <dgm:spPr/>
    </dgm:pt>
  </dgm:ptLst>
  <dgm:cxnLst>
    <dgm:cxn modelId="{3446BA01-1035-46EE-9B22-933D3DB09B83}" type="presOf" srcId="{C72B9DB0-81C6-413A-96CA-429E76738EEC}" destId="{B9DB9C70-B364-4EF8-8FB7-0807F2F64DFD}" srcOrd="0" destOrd="0" presId="urn:microsoft.com/office/officeart/2005/8/layout/process4"/>
    <dgm:cxn modelId="{466E2104-4C85-45FD-892D-8CE34F99B8F3}" srcId="{6EBE91E6-490F-42C9-8778-827A76DFFDB2}" destId="{22063AAD-1CE1-4814-B1EB-43614115FE68}" srcOrd="1" destOrd="0" parTransId="{D4A54E03-7A2A-444E-B8A3-316A63C23A77}" sibTransId="{8F521562-C64B-451E-8629-D09B434DCE28}"/>
    <dgm:cxn modelId="{33592708-44F4-4A36-A7A7-5F354CFB9E10}" type="presOf" srcId="{2AD6EA13-5904-4738-A812-038D74ACE347}" destId="{375FC475-0A73-460E-9776-3C97F4EF03FA}" srcOrd="0" destOrd="0" presId="urn:microsoft.com/office/officeart/2005/8/layout/process4"/>
    <dgm:cxn modelId="{8ED2E108-4CCF-4113-972E-22EE4A5A1178}" srcId="{8D05E41D-E10D-4A38-BFE0-08F541DB74B3}" destId="{994C26F4-9216-430F-B921-1EA365C58720}" srcOrd="4" destOrd="0" parTransId="{E68D1ED6-4CCD-41E6-8560-E84A5A11B75C}" sibTransId="{2D371DFA-F404-4849-B0C1-688AE162E9AE}"/>
    <dgm:cxn modelId="{FE6E810A-12CA-48DD-AF79-9C8BF0F4E7F2}" type="presOf" srcId="{A159FBE1-1391-4919-8FBA-CE0A6CECFFD1}" destId="{D7E6A44B-DAEB-4D66-A128-AA5DCD5DA231}" srcOrd="0" destOrd="0" presId="urn:microsoft.com/office/officeart/2005/8/layout/process4"/>
    <dgm:cxn modelId="{EC8BAC0B-44FE-4F4B-A469-EA0186F78342}" type="presOf" srcId="{6EBE91E6-490F-42C9-8778-827A76DFFDB2}" destId="{7AB72186-716D-4AFF-8348-7B5CC2CCF54C}" srcOrd="1" destOrd="0" presId="urn:microsoft.com/office/officeart/2005/8/layout/process4"/>
    <dgm:cxn modelId="{7F2D8815-940E-4E52-B6C6-3C8A575D624E}" srcId="{994C26F4-9216-430F-B921-1EA365C58720}" destId="{1AFC99BB-5332-420F-8F40-E5E3F7CE4EF2}" srcOrd="0" destOrd="0" parTransId="{E966D692-C0FE-4B6D-AB4D-28563D828C3D}" sibTransId="{F9BBBB54-7F05-4A84-B5BC-12A424786CC7}"/>
    <dgm:cxn modelId="{2CD4F117-8184-4CD6-B5FE-FC7DEAE92093}" srcId="{8D05E41D-E10D-4A38-BFE0-08F541DB74B3}" destId="{C72B9DB0-81C6-413A-96CA-429E76738EEC}" srcOrd="3" destOrd="0" parTransId="{61C8D1A5-68CA-4738-A049-630B5B23D0A8}" sibTransId="{A8F167A0-B45E-4BF5-87A8-EA94DB29D568}"/>
    <dgm:cxn modelId="{ADCFCF1E-E4D3-4143-88CB-FA509B103904}" srcId="{8D05E41D-E10D-4A38-BFE0-08F541DB74B3}" destId="{3205FB68-8EB0-417A-8F63-86F799348394}" srcOrd="0" destOrd="0" parTransId="{8706B375-46D7-4928-9207-6DC16B015643}" sibTransId="{03428CFD-8043-4758-B23F-EAA9C383B11C}"/>
    <dgm:cxn modelId="{A7A41E22-44C8-4BD8-B0E6-3863E7645362}" type="presOf" srcId="{AFC7AC2D-61FF-44E2-B431-7076223C4F44}" destId="{9834509B-BD9B-4E19-A0E8-96213E846135}" srcOrd="0" destOrd="0" presId="urn:microsoft.com/office/officeart/2005/8/layout/process4"/>
    <dgm:cxn modelId="{03893C2C-E85C-4D28-87C2-298A0B82AEA1}" type="presOf" srcId="{3205FB68-8EB0-417A-8F63-86F799348394}" destId="{7CFB1F5D-148A-494C-BAB7-32D4DAFE5A27}" srcOrd="0" destOrd="0" presId="urn:microsoft.com/office/officeart/2005/8/layout/process4"/>
    <dgm:cxn modelId="{B6D7752C-F870-4130-8E2F-DE17E9786B3C}" srcId="{994C26F4-9216-430F-B921-1EA365C58720}" destId="{9A0ED6CE-D80D-4EA2-A1A2-6E4087F6C302}" srcOrd="1" destOrd="0" parTransId="{13EB82BB-2A64-43D4-B83D-8FADA98DEE04}" sibTransId="{B6870F69-7959-4DED-BEFB-0D400A7DB545}"/>
    <dgm:cxn modelId="{6824E22C-179D-468C-BDCF-6BE2DC3DECAC}" srcId="{C72B9DB0-81C6-413A-96CA-429E76738EEC}" destId="{A06A6F26-3982-4478-9A16-38A83DF0580A}" srcOrd="1" destOrd="0" parTransId="{8CBF047E-8382-411A-A4A8-7F35136FBB49}" sibTransId="{FB65C685-13B4-4E94-82B9-58200A1C779B}"/>
    <dgm:cxn modelId="{4A5CF92E-6E46-4B4C-9B2B-CBAF60C8A451}" type="presOf" srcId="{9A0ED6CE-D80D-4EA2-A1A2-6E4087F6C302}" destId="{EAB98D45-2D23-4EFE-B381-D8D279F63DC0}" srcOrd="0" destOrd="0" presId="urn:microsoft.com/office/officeart/2005/8/layout/process4"/>
    <dgm:cxn modelId="{CDC55B32-E7FF-4EC0-88EF-7EA197A0924B}" srcId="{6EBE91E6-490F-42C9-8778-827A76DFFDB2}" destId="{AFC7AC2D-61FF-44E2-B431-7076223C4F44}" srcOrd="0" destOrd="0" parTransId="{2D527205-F337-4167-BDA8-669E6BFCA9F4}" sibTransId="{FEC81B5D-C7B9-485C-B065-5AF0F2222A64}"/>
    <dgm:cxn modelId="{6E205F35-9AF1-46A4-8C2F-884E65054334}" type="presOf" srcId="{994C26F4-9216-430F-B921-1EA365C58720}" destId="{8504D74B-EB39-4937-8A69-DD243CBFAFE7}" srcOrd="1" destOrd="0" presId="urn:microsoft.com/office/officeart/2005/8/layout/process4"/>
    <dgm:cxn modelId="{374FE245-56E8-4A11-8FA8-1653568591D1}" type="presOf" srcId="{C72B9DB0-81C6-413A-96CA-429E76738EEC}" destId="{AED2453A-CA7C-4FB2-9ABB-174C78925E20}" srcOrd="1" destOrd="0" presId="urn:microsoft.com/office/officeart/2005/8/layout/process4"/>
    <dgm:cxn modelId="{AD8CCE4B-D792-40F3-B286-B48C453D5C17}" srcId="{3205FB68-8EB0-417A-8F63-86F799348394}" destId="{12A0E667-F3D7-416F-9C99-9F61663A237A}" srcOrd="0" destOrd="0" parTransId="{09C0925D-DD77-4C02-8F68-43AF697D149C}" sibTransId="{2FC8887A-D51D-4502-9143-24AF397BD21A}"/>
    <dgm:cxn modelId="{EEAC544D-9738-4E34-8550-11CF0C12B90E}" type="presOf" srcId="{F5B26E34-A9CE-43A7-8864-01C18BAFA5E9}" destId="{1A0DBE4A-1564-4569-AB01-A8D2605222AF}" srcOrd="1" destOrd="0" presId="urn:microsoft.com/office/officeart/2005/8/layout/process4"/>
    <dgm:cxn modelId="{4915F354-38BC-4044-9857-34BA36F56B32}" srcId="{F5B26E34-A9CE-43A7-8864-01C18BAFA5E9}" destId="{A159FBE1-1391-4919-8FBA-CE0A6CECFFD1}" srcOrd="0" destOrd="0" parTransId="{352C651D-D80B-49E6-8DB3-1ECE544DF3FA}" sibTransId="{96C473E2-E257-436E-BD18-427EE61DE244}"/>
    <dgm:cxn modelId="{63270755-A29F-4FEC-8BF5-E7E5C694CC77}" type="presOf" srcId="{3205FB68-8EB0-417A-8F63-86F799348394}" destId="{D8EE16DF-2C82-48B2-97F0-6F233039F52C}" srcOrd="1" destOrd="0" presId="urn:microsoft.com/office/officeart/2005/8/layout/process4"/>
    <dgm:cxn modelId="{109AD28D-D726-4FDF-B5BA-4292CC67A1E6}" srcId="{3205FB68-8EB0-417A-8F63-86F799348394}" destId="{2AD6EA13-5904-4738-A812-038D74ACE347}" srcOrd="1" destOrd="0" parTransId="{5140C2F5-15D6-4403-A25D-381FE9E5C991}" sibTransId="{8F09D514-16F1-4091-B7AB-878D4665D4C5}"/>
    <dgm:cxn modelId="{2116A894-073C-40AE-AFA0-76E0B34CD985}" type="presOf" srcId="{8D05E41D-E10D-4A38-BFE0-08F541DB74B3}" destId="{2D914861-D000-4765-8CB5-11C38BF43588}" srcOrd="0" destOrd="0" presId="urn:microsoft.com/office/officeart/2005/8/layout/process4"/>
    <dgm:cxn modelId="{484EE198-CE03-460B-A0CD-F8ACC66CF8D4}" type="presOf" srcId="{F5B26E34-A9CE-43A7-8864-01C18BAFA5E9}" destId="{A0B7D419-162D-43B8-B16B-5F788F10394E}" srcOrd="0" destOrd="0" presId="urn:microsoft.com/office/officeart/2005/8/layout/process4"/>
    <dgm:cxn modelId="{23BAC1A7-8023-4300-8C91-F983B8D06CE3}" type="presOf" srcId="{12A0E667-F3D7-416F-9C99-9F61663A237A}" destId="{E30C6288-D54E-41EB-85BC-4114ED549C00}" srcOrd="0" destOrd="0" presId="urn:microsoft.com/office/officeart/2005/8/layout/process4"/>
    <dgm:cxn modelId="{BDC380B3-5FDA-4780-8F30-441A5BE37148}" srcId="{C72B9DB0-81C6-413A-96CA-429E76738EEC}" destId="{05E38896-F1D6-4695-B01F-E279489F1A84}" srcOrd="0" destOrd="0" parTransId="{10E2EF80-5088-4459-810D-6E4EEF1E8C87}" sibTransId="{01C8C857-0CAF-441C-87CA-6C1B1CB63D2B}"/>
    <dgm:cxn modelId="{572E88C4-4579-4DF4-80A9-F58CC55CB43C}" srcId="{F5B26E34-A9CE-43A7-8864-01C18BAFA5E9}" destId="{13209E3B-B504-4D1E-8468-C8CD741FB448}" srcOrd="1" destOrd="0" parTransId="{10A845A9-0B4C-4989-ABFE-112F52862A63}" sibTransId="{7EA80692-ED9B-4C93-985F-5F14F8A5B981}"/>
    <dgm:cxn modelId="{21C108C7-B735-43CF-A5F2-B54B1D9229F3}" type="presOf" srcId="{6EBE91E6-490F-42C9-8778-827A76DFFDB2}" destId="{9AA5D323-675A-4A43-B886-8E4807B8A5C2}" srcOrd="0" destOrd="0" presId="urn:microsoft.com/office/officeart/2005/8/layout/process4"/>
    <dgm:cxn modelId="{413071C9-29C3-45AB-8144-D44416CC852C}" type="presOf" srcId="{22063AAD-1CE1-4814-B1EB-43614115FE68}" destId="{2EE42B48-6A5C-4EC8-9276-52A186F3B0E5}" srcOrd="0" destOrd="0" presId="urn:microsoft.com/office/officeart/2005/8/layout/process4"/>
    <dgm:cxn modelId="{087FABC9-67EC-4090-973D-06053431D14B}" srcId="{8D05E41D-E10D-4A38-BFE0-08F541DB74B3}" destId="{6EBE91E6-490F-42C9-8778-827A76DFFDB2}" srcOrd="2" destOrd="0" parTransId="{A23AE4CF-5EA3-4893-822E-DDAA43A1CEA0}" sibTransId="{12C3A137-DDE0-4382-97EC-118C8354C0E3}"/>
    <dgm:cxn modelId="{2B150CD7-6913-450F-A551-90062F6123CB}" type="presOf" srcId="{1AFC99BB-5332-420F-8F40-E5E3F7CE4EF2}" destId="{2A216439-6BF3-4693-A08A-593D12AAA821}" srcOrd="0" destOrd="0" presId="urn:microsoft.com/office/officeart/2005/8/layout/process4"/>
    <dgm:cxn modelId="{E70786DA-CBEF-4B14-82A4-F86DA8FA9E04}" srcId="{8D05E41D-E10D-4A38-BFE0-08F541DB74B3}" destId="{F5B26E34-A9CE-43A7-8864-01C18BAFA5E9}" srcOrd="1" destOrd="0" parTransId="{1B2C3477-B608-4F74-A853-7BB49C166032}" sibTransId="{174E25F0-A2AE-48F9-89C5-CB31CB23070A}"/>
    <dgm:cxn modelId="{64C376DE-9FB9-476C-A2DE-91AF00A61779}" type="presOf" srcId="{05E38896-F1D6-4695-B01F-E279489F1A84}" destId="{F06EB0B7-F90C-49EE-A3B8-F79488271E82}" srcOrd="0" destOrd="0" presId="urn:microsoft.com/office/officeart/2005/8/layout/process4"/>
    <dgm:cxn modelId="{7E6221E3-1F0D-4FA0-929B-5B6375238834}" type="presOf" srcId="{A06A6F26-3982-4478-9A16-38A83DF0580A}" destId="{B0B3566E-4576-4829-937A-DD0FE8CEAC0B}" srcOrd="0" destOrd="0" presId="urn:microsoft.com/office/officeart/2005/8/layout/process4"/>
    <dgm:cxn modelId="{0534BCE3-418F-4507-B6D9-48C7CB819652}" type="presOf" srcId="{13209E3B-B504-4D1E-8468-C8CD741FB448}" destId="{AC199570-7F6B-4B26-BF81-8447796210CC}" srcOrd="0" destOrd="0" presId="urn:microsoft.com/office/officeart/2005/8/layout/process4"/>
    <dgm:cxn modelId="{310FBCFF-D5BC-4A15-A374-9697B3BC35D1}" type="presOf" srcId="{994C26F4-9216-430F-B921-1EA365C58720}" destId="{3B15AED5-4B64-46C3-8113-81CCB69ED97A}" srcOrd="0" destOrd="0" presId="urn:microsoft.com/office/officeart/2005/8/layout/process4"/>
    <dgm:cxn modelId="{E9856024-4AEA-45FA-8951-FBEECEF816F7}" type="presParOf" srcId="{2D914861-D000-4765-8CB5-11C38BF43588}" destId="{7DC548A1-7DFF-4A4C-8D74-5D5079365B6C}" srcOrd="0" destOrd="0" presId="urn:microsoft.com/office/officeart/2005/8/layout/process4"/>
    <dgm:cxn modelId="{09C00DDE-DC62-4D41-8FAA-6EB1243C9897}" type="presParOf" srcId="{7DC548A1-7DFF-4A4C-8D74-5D5079365B6C}" destId="{3B15AED5-4B64-46C3-8113-81CCB69ED97A}" srcOrd="0" destOrd="0" presId="urn:microsoft.com/office/officeart/2005/8/layout/process4"/>
    <dgm:cxn modelId="{D35CC3CB-B4F6-4ECC-8FFD-C9C80E5D42CF}" type="presParOf" srcId="{7DC548A1-7DFF-4A4C-8D74-5D5079365B6C}" destId="{8504D74B-EB39-4937-8A69-DD243CBFAFE7}" srcOrd="1" destOrd="0" presId="urn:microsoft.com/office/officeart/2005/8/layout/process4"/>
    <dgm:cxn modelId="{EBEC033D-B343-4663-94DE-771C9B4DC7BC}" type="presParOf" srcId="{7DC548A1-7DFF-4A4C-8D74-5D5079365B6C}" destId="{4B75A8C1-5028-48AE-95C7-3987112A9FAD}" srcOrd="2" destOrd="0" presId="urn:microsoft.com/office/officeart/2005/8/layout/process4"/>
    <dgm:cxn modelId="{496672BF-E297-436B-B972-ECAB01F15545}" type="presParOf" srcId="{4B75A8C1-5028-48AE-95C7-3987112A9FAD}" destId="{2A216439-6BF3-4693-A08A-593D12AAA821}" srcOrd="0" destOrd="0" presId="urn:microsoft.com/office/officeart/2005/8/layout/process4"/>
    <dgm:cxn modelId="{C989230D-5619-419E-8EA8-B0B83F501E9D}" type="presParOf" srcId="{4B75A8C1-5028-48AE-95C7-3987112A9FAD}" destId="{EAB98D45-2D23-4EFE-B381-D8D279F63DC0}" srcOrd="1" destOrd="0" presId="urn:microsoft.com/office/officeart/2005/8/layout/process4"/>
    <dgm:cxn modelId="{FC4D21FB-8C3D-4194-B26D-AE8EED0C07DB}" type="presParOf" srcId="{2D914861-D000-4765-8CB5-11C38BF43588}" destId="{5FEEF50F-7A5E-4673-9812-3C4E35BE34E5}" srcOrd="1" destOrd="0" presId="urn:microsoft.com/office/officeart/2005/8/layout/process4"/>
    <dgm:cxn modelId="{999D2E13-90EE-4C96-99AC-A3DD97980242}" type="presParOf" srcId="{2D914861-D000-4765-8CB5-11C38BF43588}" destId="{C02C734A-1D13-40A3-A50C-C8DBB77DF65F}" srcOrd="2" destOrd="0" presId="urn:microsoft.com/office/officeart/2005/8/layout/process4"/>
    <dgm:cxn modelId="{B961A2D5-FFD7-49E2-9AB3-3C9BF3E7D029}" type="presParOf" srcId="{C02C734A-1D13-40A3-A50C-C8DBB77DF65F}" destId="{B9DB9C70-B364-4EF8-8FB7-0807F2F64DFD}" srcOrd="0" destOrd="0" presId="urn:microsoft.com/office/officeart/2005/8/layout/process4"/>
    <dgm:cxn modelId="{D4F7D395-AAE7-4BA0-A8CA-DD72C34AA845}" type="presParOf" srcId="{C02C734A-1D13-40A3-A50C-C8DBB77DF65F}" destId="{AED2453A-CA7C-4FB2-9ABB-174C78925E20}" srcOrd="1" destOrd="0" presId="urn:microsoft.com/office/officeart/2005/8/layout/process4"/>
    <dgm:cxn modelId="{06C7DCFD-C613-45D8-8016-657005ECF343}" type="presParOf" srcId="{C02C734A-1D13-40A3-A50C-C8DBB77DF65F}" destId="{748E494C-6FD1-48C9-88F0-B3AA83F604A9}" srcOrd="2" destOrd="0" presId="urn:microsoft.com/office/officeart/2005/8/layout/process4"/>
    <dgm:cxn modelId="{222B9ACF-251D-4B33-8BB8-75C6883247D0}" type="presParOf" srcId="{748E494C-6FD1-48C9-88F0-B3AA83F604A9}" destId="{F06EB0B7-F90C-49EE-A3B8-F79488271E82}" srcOrd="0" destOrd="0" presId="urn:microsoft.com/office/officeart/2005/8/layout/process4"/>
    <dgm:cxn modelId="{83FFEF3A-486A-4C5A-BEDA-9445B709C9A9}" type="presParOf" srcId="{748E494C-6FD1-48C9-88F0-B3AA83F604A9}" destId="{B0B3566E-4576-4829-937A-DD0FE8CEAC0B}" srcOrd="1" destOrd="0" presId="urn:microsoft.com/office/officeart/2005/8/layout/process4"/>
    <dgm:cxn modelId="{1D508BAE-2D07-42E7-BD9E-20D53AB6F32C}" type="presParOf" srcId="{2D914861-D000-4765-8CB5-11C38BF43588}" destId="{0676C6AD-7BD6-4D95-A845-CF48C7170A3A}" srcOrd="3" destOrd="0" presId="urn:microsoft.com/office/officeart/2005/8/layout/process4"/>
    <dgm:cxn modelId="{446FA0AD-1CC7-48C1-B404-77C7159880C5}" type="presParOf" srcId="{2D914861-D000-4765-8CB5-11C38BF43588}" destId="{B70C183F-49B0-4999-8CBD-E2DD9533560E}" srcOrd="4" destOrd="0" presId="urn:microsoft.com/office/officeart/2005/8/layout/process4"/>
    <dgm:cxn modelId="{C545D4C6-444A-482E-84BB-91F9AED11ECE}" type="presParOf" srcId="{B70C183F-49B0-4999-8CBD-E2DD9533560E}" destId="{9AA5D323-675A-4A43-B886-8E4807B8A5C2}" srcOrd="0" destOrd="0" presId="urn:microsoft.com/office/officeart/2005/8/layout/process4"/>
    <dgm:cxn modelId="{283D6003-65A7-4385-96E0-DA49293E04AC}" type="presParOf" srcId="{B70C183F-49B0-4999-8CBD-E2DD9533560E}" destId="{7AB72186-716D-4AFF-8348-7B5CC2CCF54C}" srcOrd="1" destOrd="0" presId="urn:microsoft.com/office/officeart/2005/8/layout/process4"/>
    <dgm:cxn modelId="{6F58DCC7-C6EC-48A5-8523-BB82B862D9F7}" type="presParOf" srcId="{B70C183F-49B0-4999-8CBD-E2DD9533560E}" destId="{BDB687E6-300C-4549-AAE4-5A9587A00617}" srcOrd="2" destOrd="0" presId="urn:microsoft.com/office/officeart/2005/8/layout/process4"/>
    <dgm:cxn modelId="{3A3369F1-A7B7-4259-8190-ECFE4F3A0546}" type="presParOf" srcId="{BDB687E6-300C-4549-AAE4-5A9587A00617}" destId="{9834509B-BD9B-4E19-A0E8-96213E846135}" srcOrd="0" destOrd="0" presId="urn:microsoft.com/office/officeart/2005/8/layout/process4"/>
    <dgm:cxn modelId="{4EAA6602-66B3-49FB-BF6F-B2EF1FA89FE9}" type="presParOf" srcId="{BDB687E6-300C-4549-AAE4-5A9587A00617}" destId="{2EE42B48-6A5C-4EC8-9276-52A186F3B0E5}" srcOrd="1" destOrd="0" presId="urn:microsoft.com/office/officeart/2005/8/layout/process4"/>
    <dgm:cxn modelId="{AF259CE2-F68A-4688-BC64-F1053E7E55E1}" type="presParOf" srcId="{2D914861-D000-4765-8CB5-11C38BF43588}" destId="{B293B369-70C2-4C29-966A-EDEBAB72AC4E}" srcOrd="5" destOrd="0" presId="urn:microsoft.com/office/officeart/2005/8/layout/process4"/>
    <dgm:cxn modelId="{C69264C5-2A21-4737-B9AA-064A2853EE06}" type="presParOf" srcId="{2D914861-D000-4765-8CB5-11C38BF43588}" destId="{010C2A50-2C91-44FD-BAD1-C9213AB82608}" srcOrd="6" destOrd="0" presId="urn:microsoft.com/office/officeart/2005/8/layout/process4"/>
    <dgm:cxn modelId="{7F1D3300-D7BD-4C8B-A7E8-E8832505A258}" type="presParOf" srcId="{010C2A50-2C91-44FD-BAD1-C9213AB82608}" destId="{A0B7D419-162D-43B8-B16B-5F788F10394E}" srcOrd="0" destOrd="0" presId="urn:microsoft.com/office/officeart/2005/8/layout/process4"/>
    <dgm:cxn modelId="{8D2A0D0C-67A8-4346-9295-6A7A92A3D763}" type="presParOf" srcId="{010C2A50-2C91-44FD-BAD1-C9213AB82608}" destId="{1A0DBE4A-1564-4569-AB01-A8D2605222AF}" srcOrd="1" destOrd="0" presId="urn:microsoft.com/office/officeart/2005/8/layout/process4"/>
    <dgm:cxn modelId="{42C07466-A520-4F50-BB94-4A90422D2608}" type="presParOf" srcId="{010C2A50-2C91-44FD-BAD1-C9213AB82608}" destId="{EDCF87CE-31F0-4716-A998-C51668F863B2}" srcOrd="2" destOrd="0" presId="urn:microsoft.com/office/officeart/2005/8/layout/process4"/>
    <dgm:cxn modelId="{746E847F-2B5F-4495-88ED-43DC82BB0BCA}" type="presParOf" srcId="{EDCF87CE-31F0-4716-A998-C51668F863B2}" destId="{D7E6A44B-DAEB-4D66-A128-AA5DCD5DA231}" srcOrd="0" destOrd="0" presId="urn:microsoft.com/office/officeart/2005/8/layout/process4"/>
    <dgm:cxn modelId="{C403F5B9-2F31-4926-B548-7A8D86CD43CD}" type="presParOf" srcId="{EDCF87CE-31F0-4716-A998-C51668F863B2}" destId="{AC199570-7F6B-4B26-BF81-8447796210CC}" srcOrd="1" destOrd="0" presId="urn:microsoft.com/office/officeart/2005/8/layout/process4"/>
    <dgm:cxn modelId="{E85B8439-160E-4E3F-B5A6-43589AFB8C3C}" type="presParOf" srcId="{2D914861-D000-4765-8CB5-11C38BF43588}" destId="{6A17C1AF-9620-4245-841E-0292069633D6}" srcOrd="7" destOrd="0" presId="urn:microsoft.com/office/officeart/2005/8/layout/process4"/>
    <dgm:cxn modelId="{18E21A75-50B7-408D-BF30-F2A280BDFD6C}" type="presParOf" srcId="{2D914861-D000-4765-8CB5-11C38BF43588}" destId="{4040F822-3736-4F0F-A1CF-55A2EA7CCEE3}" srcOrd="8" destOrd="0" presId="urn:microsoft.com/office/officeart/2005/8/layout/process4"/>
    <dgm:cxn modelId="{50ECC5FA-1154-450F-B7B7-1091DA20DFF3}" type="presParOf" srcId="{4040F822-3736-4F0F-A1CF-55A2EA7CCEE3}" destId="{7CFB1F5D-148A-494C-BAB7-32D4DAFE5A27}" srcOrd="0" destOrd="0" presId="urn:microsoft.com/office/officeart/2005/8/layout/process4"/>
    <dgm:cxn modelId="{081DD61C-E24A-4A3A-A87F-0363B20D3382}" type="presParOf" srcId="{4040F822-3736-4F0F-A1CF-55A2EA7CCEE3}" destId="{D8EE16DF-2C82-48B2-97F0-6F233039F52C}" srcOrd="1" destOrd="0" presId="urn:microsoft.com/office/officeart/2005/8/layout/process4"/>
    <dgm:cxn modelId="{AA6EF0DA-AA1F-4317-A890-7AC7313E5A67}" type="presParOf" srcId="{4040F822-3736-4F0F-A1CF-55A2EA7CCEE3}" destId="{B94DDBEA-1915-4293-ADA0-A4860F4C450C}" srcOrd="2" destOrd="0" presId="urn:microsoft.com/office/officeart/2005/8/layout/process4"/>
    <dgm:cxn modelId="{5C1A32D7-11E3-49C5-907B-B2B558AEEEBA}" type="presParOf" srcId="{B94DDBEA-1915-4293-ADA0-A4860F4C450C}" destId="{E30C6288-D54E-41EB-85BC-4114ED549C00}" srcOrd="0" destOrd="0" presId="urn:microsoft.com/office/officeart/2005/8/layout/process4"/>
    <dgm:cxn modelId="{C38FBB68-132F-4CC0-8593-71AE31E5C071}" type="presParOf" srcId="{B94DDBEA-1915-4293-ADA0-A4860F4C450C}" destId="{375FC475-0A73-460E-9776-3C97F4EF03FA}"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575B5-F4D8-0E4D-A6CD-B4D5D065F12A}">
      <dsp:nvSpPr>
        <dsp:cNvPr id="0" name=""/>
        <dsp:cNvSpPr/>
      </dsp:nvSpPr>
      <dsp:spPr>
        <a:xfrm>
          <a:off x="1283" y="345807"/>
          <a:ext cx="5006206" cy="300372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GB" sz="3300" b="1" kern="1200"/>
            <a:t>8-Week Research Methodology Schedule (Semester 2)</a:t>
          </a:r>
          <a:endParaRPr lang="en-US" sz="3300" kern="1200"/>
        </a:p>
      </dsp:txBody>
      <dsp:txXfrm>
        <a:off x="1283" y="345807"/>
        <a:ext cx="5006206" cy="3003723"/>
      </dsp:txXfrm>
    </dsp:sp>
    <dsp:sp modelId="{79D62CBB-3073-DB4E-8D10-55FBBBC3C3AC}">
      <dsp:nvSpPr>
        <dsp:cNvPr id="0" name=""/>
        <dsp:cNvSpPr/>
      </dsp:nvSpPr>
      <dsp:spPr>
        <a:xfrm>
          <a:off x="5508110" y="345807"/>
          <a:ext cx="5006206" cy="300372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b="1" kern="1200"/>
            <a:t>Focus</a:t>
          </a:r>
          <a:r>
            <a:rPr lang="en-GB" sz="3300" kern="1200"/>
            <a:t>: </a:t>
          </a:r>
          <a:endParaRPr lang="en-US" sz="3300" kern="1200"/>
        </a:p>
        <a:p>
          <a:pPr marL="228600" lvl="1" indent="-228600" algn="l" defTabSz="1155700">
            <a:lnSpc>
              <a:spcPct val="90000"/>
            </a:lnSpc>
            <a:spcBef>
              <a:spcPct val="0"/>
            </a:spcBef>
            <a:spcAft>
              <a:spcPct val="15000"/>
            </a:spcAft>
            <a:buChar char="•"/>
          </a:pPr>
          <a:r>
            <a:rPr lang="en-GB" sz="2600" kern="1200"/>
            <a:t>Data collection</a:t>
          </a:r>
          <a:endParaRPr lang="en-US" sz="2600" kern="1200"/>
        </a:p>
        <a:p>
          <a:pPr marL="228600" lvl="1" indent="-228600" algn="l" defTabSz="1155700">
            <a:lnSpc>
              <a:spcPct val="90000"/>
            </a:lnSpc>
            <a:spcBef>
              <a:spcPct val="0"/>
            </a:spcBef>
            <a:spcAft>
              <a:spcPct val="15000"/>
            </a:spcAft>
            <a:buChar char="•"/>
          </a:pPr>
          <a:r>
            <a:rPr lang="en-GB" sz="2600" kern="1200"/>
            <a:t>Analysis</a:t>
          </a:r>
          <a:endParaRPr lang="en-US" sz="2600" kern="1200"/>
        </a:p>
        <a:p>
          <a:pPr marL="228600" lvl="1" indent="-228600" algn="l" defTabSz="1155700">
            <a:lnSpc>
              <a:spcPct val="90000"/>
            </a:lnSpc>
            <a:spcBef>
              <a:spcPct val="0"/>
            </a:spcBef>
            <a:spcAft>
              <a:spcPct val="15000"/>
            </a:spcAft>
            <a:buChar char="•"/>
          </a:pPr>
          <a:r>
            <a:rPr lang="en-GB" sz="2600" kern="1200"/>
            <a:t>Presentation of findings</a:t>
          </a:r>
          <a:endParaRPr lang="en-US" sz="2600" kern="1200"/>
        </a:p>
        <a:p>
          <a:pPr marL="228600" lvl="1" indent="-228600" algn="l" defTabSz="1155700">
            <a:lnSpc>
              <a:spcPct val="90000"/>
            </a:lnSpc>
            <a:spcBef>
              <a:spcPct val="0"/>
            </a:spcBef>
            <a:spcAft>
              <a:spcPct val="15000"/>
            </a:spcAft>
            <a:buChar char="•"/>
          </a:pPr>
          <a:r>
            <a:rPr lang="en-GB" sz="2600" kern="1200"/>
            <a:t>Interpretation</a:t>
          </a:r>
          <a:endParaRPr lang="en-US" sz="2600" kern="1200"/>
        </a:p>
        <a:p>
          <a:pPr marL="228600" lvl="1" indent="-228600" algn="l" defTabSz="1155700">
            <a:lnSpc>
              <a:spcPct val="90000"/>
            </a:lnSpc>
            <a:spcBef>
              <a:spcPct val="0"/>
            </a:spcBef>
            <a:spcAft>
              <a:spcPct val="15000"/>
            </a:spcAft>
            <a:buChar char="•"/>
          </a:pPr>
          <a:r>
            <a:rPr lang="en-GB" sz="2600" kern="1200"/>
            <a:t>Conclusion.</a:t>
          </a:r>
          <a:endParaRPr lang="en-US" sz="2600" kern="1200"/>
        </a:p>
      </dsp:txBody>
      <dsp:txXfrm>
        <a:off x="5508110" y="345807"/>
        <a:ext cx="5006206" cy="3003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4D74B-EB39-4937-8A69-DD243CBFAFE7}">
      <dsp:nvSpPr>
        <dsp:cNvPr id="0" name=""/>
        <dsp:cNvSpPr/>
      </dsp:nvSpPr>
      <dsp:spPr>
        <a:xfrm>
          <a:off x="0" y="3768730"/>
          <a:ext cx="7524206" cy="618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5</a:t>
          </a:r>
        </a:p>
      </dsp:txBody>
      <dsp:txXfrm>
        <a:off x="0" y="3768730"/>
        <a:ext cx="7524206" cy="333877"/>
      </dsp:txXfrm>
    </dsp:sp>
    <dsp:sp modelId="{2A216439-6BF3-4693-A08A-593D12AAA821}">
      <dsp:nvSpPr>
        <dsp:cNvPr id="0" name=""/>
        <dsp:cNvSpPr/>
      </dsp:nvSpPr>
      <dsp:spPr>
        <a:xfrm>
          <a:off x="0" y="4090241"/>
          <a:ext cx="3762103" cy="28441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Research Methods</a:t>
          </a:r>
        </a:p>
      </dsp:txBody>
      <dsp:txXfrm>
        <a:off x="0" y="4090241"/>
        <a:ext cx="3762103" cy="284414"/>
      </dsp:txXfrm>
    </dsp:sp>
    <dsp:sp modelId="{EAB98D45-2D23-4EFE-B381-D8D279F63DC0}">
      <dsp:nvSpPr>
        <dsp:cNvPr id="0" name=""/>
        <dsp:cNvSpPr/>
      </dsp:nvSpPr>
      <dsp:spPr>
        <a:xfrm>
          <a:off x="3762103" y="4090241"/>
          <a:ext cx="3762103" cy="28441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Tools and techniques</a:t>
          </a:r>
        </a:p>
      </dsp:txBody>
      <dsp:txXfrm>
        <a:off x="3762103" y="4090241"/>
        <a:ext cx="3762103" cy="284414"/>
      </dsp:txXfrm>
    </dsp:sp>
    <dsp:sp modelId="{AED2453A-CA7C-4FB2-9ABB-174C78925E20}">
      <dsp:nvSpPr>
        <dsp:cNvPr id="0" name=""/>
        <dsp:cNvSpPr/>
      </dsp:nvSpPr>
      <dsp:spPr>
        <a:xfrm rot="10800000">
          <a:off x="0" y="2827072"/>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4</a:t>
          </a:r>
        </a:p>
      </dsp:txBody>
      <dsp:txXfrm rot="-10800000">
        <a:off x="0" y="2827072"/>
        <a:ext cx="7524206" cy="333777"/>
      </dsp:txXfrm>
    </dsp:sp>
    <dsp:sp modelId="{F06EB0B7-F90C-49EE-A3B8-F79488271E82}">
      <dsp:nvSpPr>
        <dsp:cNvPr id="0" name=""/>
        <dsp:cNvSpPr/>
      </dsp:nvSpPr>
      <dsp:spPr>
        <a:xfrm>
          <a:off x="0" y="3160849"/>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Research Design</a:t>
          </a:r>
        </a:p>
      </dsp:txBody>
      <dsp:txXfrm>
        <a:off x="0" y="3160849"/>
        <a:ext cx="3762103" cy="284328"/>
      </dsp:txXfrm>
    </dsp:sp>
    <dsp:sp modelId="{B0B3566E-4576-4829-937A-DD0FE8CEAC0B}">
      <dsp:nvSpPr>
        <dsp:cNvPr id="0" name=""/>
        <dsp:cNvSpPr/>
      </dsp:nvSpPr>
      <dsp:spPr>
        <a:xfrm>
          <a:off x="3762103" y="3160849"/>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Blueprint</a:t>
          </a:r>
        </a:p>
      </dsp:txBody>
      <dsp:txXfrm>
        <a:off x="3762103" y="3160849"/>
        <a:ext cx="3762103" cy="284328"/>
      </dsp:txXfrm>
    </dsp:sp>
    <dsp:sp modelId="{7AB72186-716D-4AFF-8348-7B5CC2CCF54C}">
      <dsp:nvSpPr>
        <dsp:cNvPr id="0" name=""/>
        <dsp:cNvSpPr/>
      </dsp:nvSpPr>
      <dsp:spPr>
        <a:xfrm rot="10800000">
          <a:off x="0" y="1885414"/>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3</a:t>
          </a:r>
        </a:p>
      </dsp:txBody>
      <dsp:txXfrm rot="-10800000">
        <a:off x="0" y="1885414"/>
        <a:ext cx="7524206" cy="333777"/>
      </dsp:txXfrm>
    </dsp:sp>
    <dsp:sp modelId="{9834509B-BD9B-4E19-A0E8-96213E846135}">
      <dsp:nvSpPr>
        <dsp:cNvPr id="0" name=""/>
        <dsp:cNvSpPr/>
      </dsp:nvSpPr>
      <dsp:spPr>
        <a:xfrm>
          <a:off x="0" y="2219191"/>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Methodology</a:t>
          </a:r>
        </a:p>
      </dsp:txBody>
      <dsp:txXfrm>
        <a:off x="0" y="2219191"/>
        <a:ext cx="3762103" cy="284328"/>
      </dsp:txXfrm>
    </dsp:sp>
    <dsp:sp modelId="{2EE42B48-6A5C-4EC8-9276-52A186F3B0E5}">
      <dsp:nvSpPr>
        <dsp:cNvPr id="0" name=""/>
        <dsp:cNvSpPr/>
      </dsp:nvSpPr>
      <dsp:spPr>
        <a:xfrm>
          <a:off x="3762103" y="2219191"/>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Justification</a:t>
          </a:r>
        </a:p>
      </dsp:txBody>
      <dsp:txXfrm>
        <a:off x="3762103" y="2219191"/>
        <a:ext cx="3762103" cy="284328"/>
      </dsp:txXfrm>
    </dsp:sp>
    <dsp:sp modelId="{1A0DBE4A-1564-4569-AB01-A8D2605222AF}">
      <dsp:nvSpPr>
        <dsp:cNvPr id="0" name=""/>
        <dsp:cNvSpPr/>
      </dsp:nvSpPr>
      <dsp:spPr>
        <a:xfrm rot="10800000">
          <a:off x="0" y="943756"/>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2</a:t>
          </a:r>
        </a:p>
      </dsp:txBody>
      <dsp:txXfrm rot="-10800000">
        <a:off x="0" y="943756"/>
        <a:ext cx="7524206" cy="333777"/>
      </dsp:txXfrm>
    </dsp:sp>
    <dsp:sp modelId="{D7E6A44B-DAEB-4D66-A128-AA5DCD5DA231}">
      <dsp:nvSpPr>
        <dsp:cNvPr id="0" name=""/>
        <dsp:cNvSpPr/>
      </dsp:nvSpPr>
      <dsp:spPr>
        <a:xfrm>
          <a:off x="0" y="1277533"/>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Approach</a:t>
          </a:r>
        </a:p>
      </dsp:txBody>
      <dsp:txXfrm>
        <a:off x="0" y="1277533"/>
        <a:ext cx="3762103" cy="284328"/>
      </dsp:txXfrm>
    </dsp:sp>
    <dsp:sp modelId="{AC199570-7F6B-4B26-BF81-8447796210CC}">
      <dsp:nvSpPr>
        <dsp:cNvPr id="0" name=""/>
        <dsp:cNvSpPr/>
      </dsp:nvSpPr>
      <dsp:spPr>
        <a:xfrm>
          <a:off x="3762103" y="1277533"/>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Strategy</a:t>
          </a:r>
        </a:p>
      </dsp:txBody>
      <dsp:txXfrm>
        <a:off x="3762103" y="1277533"/>
        <a:ext cx="3762103" cy="284328"/>
      </dsp:txXfrm>
    </dsp:sp>
    <dsp:sp modelId="{D8EE16DF-2C82-48B2-97F0-6F233039F52C}">
      <dsp:nvSpPr>
        <dsp:cNvPr id="0" name=""/>
        <dsp:cNvSpPr/>
      </dsp:nvSpPr>
      <dsp:spPr>
        <a:xfrm rot="10800000">
          <a:off x="0" y="2098"/>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1</a:t>
          </a:r>
        </a:p>
      </dsp:txBody>
      <dsp:txXfrm rot="-10800000">
        <a:off x="0" y="2098"/>
        <a:ext cx="7524206" cy="333777"/>
      </dsp:txXfrm>
    </dsp:sp>
    <dsp:sp modelId="{E30C6288-D54E-41EB-85BC-4114ED549C00}">
      <dsp:nvSpPr>
        <dsp:cNvPr id="0" name=""/>
        <dsp:cNvSpPr/>
      </dsp:nvSpPr>
      <dsp:spPr>
        <a:xfrm>
          <a:off x="0" y="335875"/>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Paradigm </a:t>
          </a:r>
        </a:p>
      </dsp:txBody>
      <dsp:txXfrm>
        <a:off x="0" y="335875"/>
        <a:ext cx="3762103" cy="284328"/>
      </dsp:txXfrm>
    </dsp:sp>
    <dsp:sp modelId="{375FC475-0A73-460E-9776-3C97F4EF03FA}">
      <dsp:nvSpPr>
        <dsp:cNvPr id="0" name=""/>
        <dsp:cNvSpPr/>
      </dsp:nvSpPr>
      <dsp:spPr>
        <a:xfrm>
          <a:off x="3762103" y="335875"/>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Belief system</a:t>
          </a:r>
        </a:p>
      </dsp:txBody>
      <dsp:txXfrm>
        <a:off x="3762103" y="335875"/>
        <a:ext cx="3762103" cy="28432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13/07/2026</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13/07/2026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2FBF-4076-2E86-8C9D-E27E4F71A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EC0EE-5F07-5EC9-CD74-A7BC22A70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09881-E84D-A8EB-6CD6-E2FE54C785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D36525-152C-EA92-6F10-3587656EB6A1}"/>
              </a:ext>
            </a:extLst>
          </p:cNvPr>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916144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7816-EE8C-A60E-2A28-41855E034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DE9C1-1829-03E8-D928-620E081DB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1244E-ADA1-2909-2B74-4BEBB539F0F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80390A0-125A-5549-A3E4-C17AFB36F39F}"/>
              </a:ext>
            </a:extLst>
          </p:cNvPr>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2491541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EFC8-D1DF-8B2A-7901-1BC9F5A0D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20E75-62FB-43D9-452A-87F359057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5543C-D34F-CF79-D849-BAF894EB2BD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4841BA1-F53B-7920-0B3C-6B5D85607A9D}"/>
              </a:ext>
            </a:extLst>
          </p:cNvPr>
          <p:cNvSpPr>
            <a:spLocks noGrp="1"/>
          </p:cNvSpPr>
          <p:nvPr>
            <p:ph type="sldNum" sz="quarter" idx="5"/>
          </p:nvPr>
        </p:nvSpPr>
        <p:spPr/>
        <p:txBody>
          <a:bodyPr/>
          <a:lstStyle/>
          <a:p>
            <a:pPr rtl="0"/>
            <a:fld id="{D4B9A9E5-4F7F-4A7D-9DE1-899232329269}" type="slidenum">
              <a:rPr lang="en-GB" smtClean="0"/>
              <a:t>4</a:t>
            </a:fld>
            <a:endParaRPr lang="en-GB"/>
          </a:p>
        </p:txBody>
      </p:sp>
    </p:spTree>
    <p:extLst>
      <p:ext uri="{BB962C8B-B14F-4D97-AF65-F5344CB8AC3E}">
        <p14:creationId xmlns:p14="http://schemas.microsoft.com/office/powerpoint/2010/main" val="4052596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348AD-9FB7-4759-C11F-9B1008D64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749F6-388C-4828-A157-F458E27DE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06E01-3838-B5F5-B674-CFAE00A664F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7EE4AC1-6A69-FE29-69B8-BDE1C9004603}"/>
              </a:ext>
            </a:extLst>
          </p:cNvPr>
          <p:cNvSpPr>
            <a:spLocks noGrp="1"/>
          </p:cNvSpPr>
          <p:nvPr>
            <p:ph type="sldNum" sz="quarter" idx="5"/>
          </p:nvPr>
        </p:nvSpPr>
        <p:spPr/>
        <p:txBody>
          <a:bodyPr/>
          <a:lstStyle/>
          <a:p>
            <a:pPr rtl="0"/>
            <a:fld id="{D4B9A9E5-4F7F-4A7D-9DE1-899232329269}" type="slidenum">
              <a:rPr lang="en-GB" smtClean="0"/>
              <a:t>5</a:t>
            </a:fld>
            <a:endParaRPr lang="en-GB"/>
          </a:p>
        </p:txBody>
      </p:sp>
    </p:spTree>
    <p:extLst>
      <p:ext uri="{BB962C8B-B14F-4D97-AF65-F5344CB8AC3E}">
        <p14:creationId xmlns:p14="http://schemas.microsoft.com/office/powerpoint/2010/main" val="3109525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CA42C-7B92-5D61-2246-A1140CC59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91CF0-9BEC-2B40-E201-29E1FBB2C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4DACA-CDF0-CE0C-DF3F-2C604ABDB1D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4B6E43-45A1-CB24-92D1-BBEAC7D10A71}"/>
              </a:ext>
            </a:extLst>
          </p:cNvPr>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3264278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52215-69A5-2B2C-2A91-5256429A8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D9AC4-E4BE-43A4-914C-F8A2E3ED2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D0D16-D774-4908-2F42-43B19ACAD83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707E951-54FB-9A97-FA2A-692211863B4B}"/>
              </a:ext>
            </a:extLst>
          </p:cNvPr>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4034512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D6C58-CD09-A194-4B6C-E8AB78A4E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9ABE3-952D-9AC1-670A-10C017E5C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B3A47-5D21-141F-2C01-8E82F145CF6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6C2B1AE-C7D8-2C44-ECD1-BE4015014BEF}"/>
              </a:ext>
            </a:extLst>
          </p:cNvPr>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247170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91B61-9461-DACF-C64C-55384C52E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00B00-A719-0A1C-04DA-2C2F5B54D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CFC03-CA50-C5C1-8D2A-F6CF5AF51BC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D4D0BB-C31A-9ACC-D1D3-16EAC8C9D2B8}"/>
              </a:ext>
            </a:extLst>
          </p:cNvPr>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3314551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7155F-4370-D5DA-30BD-4645507F3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BD179-D0B5-658B-1C0E-7C01939EE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02A8C-3F19-7342-D11D-28E6DCD4B8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E3B9132-D3E6-30DE-9531-7E1EDFDC12C9}"/>
              </a:ext>
            </a:extLst>
          </p:cNvPr>
          <p:cNvSpPr>
            <a:spLocks noGrp="1"/>
          </p:cNvSpPr>
          <p:nvPr>
            <p:ph type="sldNum" sz="quarter" idx="5"/>
          </p:nvPr>
        </p:nvSpPr>
        <p:spPr/>
        <p:txBody>
          <a:bodyPr/>
          <a:lstStyle/>
          <a:p>
            <a:pPr rtl="0"/>
            <a:fld id="{D4B9A9E5-4F7F-4A7D-9DE1-899232329269}" type="slidenum">
              <a:rPr lang="en-GB" smtClean="0"/>
              <a:t>10</a:t>
            </a:fld>
            <a:endParaRPr lang="en-GB"/>
          </a:p>
        </p:txBody>
      </p:sp>
    </p:spTree>
    <p:extLst>
      <p:ext uri="{BB962C8B-B14F-4D97-AF65-F5344CB8AC3E}">
        <p14:creationId xmlns:p14="http://schemas.microsoft.com/office/powerpoint/2010/main" val="1862917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1679121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13</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7C77-A7B6-76C8-EA77-D8DA478C8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D32E5-0DD0-4513-A8F1-AD3ED5866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3AF2-63B9-789C-9519-BD00442ED1E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56A9D9A-ADB9-FDFD-1638-5B73FA4B4E45}"/>
              </a:ext>
            </a:extLst>
          </p:cNvPr>
          <p:cNvSpPr>
            <a:spLocks noGrp="1"/>
          </p:cNvSpPr>
          <p:nvPr>
            <p:ph type="sldNum" sz="quarter" idx="5"/>
          </p:nvPr>
        </p:nvSpPr>
        <p:spPr/>
        <p:txBody>
          <a:bodyPr rtlCol="0"/>
          <a:lstStyle/>
          <a:p>
            <a:pPr rtl="0"/>
            <a:fld id="{D4B9A9E5-4F7F-4A7D-9DE1-899232329269}" type="slidenum">
              <a:rPr lang="en-GB" smtClean="0"/>
              <a:t>14</a:t>
            </a:fld>
            <a:endParaRPr lang="en-GB"/>
          </a:p>
        </p:txBody>
      </p:sp>
    </p:spTree>
    <p:extLst>
      <p:ext uri="{BB962C8B-B14F-4D97-AF65-F5344CB8AC3E}">
        <p14:creationId xmlns:p14="http://schemas.microsoft.com/office/powerpoint/2010/main" val="649274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EA747-A9C6-765C-FAB4-D22158C50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F799F-ECDB-9D57-895E-C462EBA00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C401B-9826-CFC7-4667-195EE6BDF5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2FD6110-6340-F1B2-3673-E85F3859C098}"/>
              </a:ext>
            </a:extLst>
          </p:cNvPr>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3424653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9C9DC-453B-BE94-7D0C-0D9180CC3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B245F-8743-780A-2564-4BD40A1CC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514C8-B5FE-5D6F-CE47-D4C61AA955FD}"/>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7C3F4F41-3B62-468D-E429-BA87AD3D5490}"/>
              </a:ext>
            </a:extLst>
          </p:cNvPr>
          <p:cNvSpPr>
            <a:spLocks noGrp="1"/>
          </p:cNvSpPr>
          <p:nvPr>
            <p:ph type="sldNum" sz="quarter" idx="5"/>
          </p:nvPr>
        </p:nvSpPr>
        <p:spPr/>
        <p:txBody>
          <a:bodyPr rtlCol="0"/>
          <a:lstStyle/>
          <a:p>
            <a:pPr rtl="0"/>
            <a:fld id="{D4B9A9E5-4F7F-4A7D-9DE1-899232329269}" type="slidenum">
              <a:rPr lang="en-GB" smtClean="0"/>
              <a:t>17</a:t>
            </a:fld>
            <a:endParaRPr lang="en-GB"/>
          </a:p>
        </p:txBody>
      </p:sp>
    </p:spTree>
    <p:extLst>
      <p:ext uri="{BB962C8B-B14F-4D97-AF65-F5344CB8AC3E}">
        <p14:creationId xmlns:p14="http://schemas.microsoft.com/office/powerpoint/2010/main" val="1468612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DEF41-D602-246E-5E3C-6D3D44767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D7341-A1D8-8505-F6A8-E4FE02537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D1695-42C5-DE01-7DFE-96E53009B78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ADAEBC6-2DC9-2B71-74EB-1ED90216B3D0}"/>
              </a:ext>
            </a:extLst>
          </p:cNvPr>
          <p:cNvSpPr>
            <a:spLocks noGrp="1"/>
          </p:cNvSpPr>
          <p:nvPr>
            <p:ph type="sldNum" sz="quarter" idx="5"/>
          </p:nvPr>
        </p:nvSpPr>
        <p:spPr/>
        <p:txBody>
          <a:bodyPr rtlCol="0"/>
          <a:lstStyle/>
          <a:p>
            <a:pPr rtl="0"/>
            <a:fld id="{D4B9A9E5-4F7F-4A7D-9DE1-899232329269}" type="slidenum">
              <a:rPr lang="en-GB" smtClean="0"/>
              <a:t>18</a:t>
            </a:fld>
            <a:endParaRPr lang="en-GB"/>
          </a:p>
        </p:txBody>
      </p:sp>
    </p:spTree>
    <p:extLst>
      <p:ext uri="{BB962C8B-B14F-4D97-AF65-F5344CB8AC3E}">
        <p14:creationId xmlns:p14="http://schemas.microsoft.com/office/powerpoint/2010/main" val="65244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46E6E-EAFC-29F6-74C7-A3B960421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64E25-A203-D13D-F539-DE67E5B66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F6804-40C7-E4AA-60BE-323E0F5F4487}"/>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9B474CF-FA10-B5B0-EFFA-FE290C071DD8}"/>
              </a:ext>
            </a:extLst>
          </p:cNvPr>
          <p:cNvSpPr>
            <a:spLocks noGrp="1"/>
          </p:cNvSpPr>
          <p:nvPr>
            <p:ph type="sldNum" sz="quarter" idx="5"/>
          </p:nvPr>
        </p:nvSpPr>
        <p:spPr/>
        <p:txBody>
          <a:bodyPr rtlCol="0"/>
          <a:lstStyle/>
          <a:p>
            <a:pPr rtl="0"/>
            <a:fld id="{D4B9A9E5-4F7F-4A7D-9DE1-899232329269}" type="slidenum">
              <a:rPr lang="en-GB" smtClean="0"/>
              <a:t>19</a:t>
            </a:fld>
            <a:endParaRPr lang="en-GB"/>
          </a:p>
        </p:txBody>
      </p:sp>
    </p:spTree>
    <p:extLst>
      <p:ext uri="{BB962C8B-B14F-4D97-AF65-F5344CB8AC3E}">
        <p14:creationId xmlns:p14="http://schemas.microsoft.com/office/powerpoint/2010/main" val="463631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3BC4-CFA6-DD37-716B-B6DD60184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12D94-5152-19C1-9D22-5F3D4AFA6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066BF-8DAA-FD87-09B4-04E5567B38C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BE8427A-24BB-6EF6-6B60-0A03FB11259A}"/>
              </a:ext>
            </a:extLst>
          </p:cNvPr>
          <p:cNvSpPr>
            <a:spLocks noGrp="1"/>
          </p:cNvSpPr>
          <p:nvPr>
            <p:ph type="sldNum" sz="quarter" idx="5"/>
          </p:nvPr>
        </p:nvSpPr>
        <p:spPr/>
        <p:txBody>
          <a:bodyPr/>
          <a:lstStyle/>
          <a:p>
            <a:pPr rtl="0"/>
            <a:fld id="{D4B9A9E5-4F7F-4A7D-9DE1-899232329269}" type="slidenum">
              <a:rPr lang="en-GB" smtClean="0"/>
              <a:t>20</a:t>
            </a:fld>
            <a:endParaRPr lang="en-GB"/>
          </a:p>
        </p:txBody>
      </p:sp>
    </p:spTree>
    <p:extLst>
      <p:ext uri="{BB962C8B-B14F-4D97-AF65-F5344CB8AC3E}">
        <p14:creationId xmlns:p14="http://schemas.microsoft.com/office/powerpoint/2010/main" val="21294183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21</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title"/>
          </p:nvPr>
        </p:nvSpPr>
        <p:spPr>
          <a:xfrm>
            <a:off x="1333499" y="1020445"/>
            <a:ext cx="3171825" cy="1325563"/>
          </a:xfrm>
        </p:spPr>
        <p:txBody>
          <a:bodyPr rtlCol="0" anchor="b">
            <a:normAutofit/>
          </a:bodyPr>
          <a:lstStyle/>
          <a:p>
            <a:pPr rtl="0"/>
            <a:r>
              <a:rPr lang="en-GB" dirty="0"/>
              <a:t>Semester Two - Week 1</a:t>
            </a:r>
          </a:p>
        </p:txBody>
      </p:sp>
      <p:sp>
        <p:nvSpPr>
          <p:cNvPr id="3" name="Subtitle 2">
            <a:extLst>
              <a:ext uri="{FF2B5EF4-FFF2-40B4-BE49-F238E27FC236}">
                <a16:creationId xmlns:a16="http://schemas.microsoft.com/office/drawing/2014/main" id="{1901B20D-4C28-4DA3-ABBD-718C22A5E58B}"/>
              </a:ext>
            </a:extLst>
          </p:cNvPr>
          <p:cNvSpPr>
            <a:spLocks noGrp="1"/>
          </p:cNvSpPr>
          <p:nvPr>
            <p:ph idx="1"/>
          </p:nvPr>
        </p:nvSpPr>
        <p:spPr>
          <a:xfrm>
            <a:off x="1333499" y="2924175"/>
            <a:ext cx="3171825" cy="2519363"/>
          </a:xfrm>
        </p:spPr>
        <p:txBody>
          <a:bodyPr rtlCol="0">
            <a:normAutofit/>
          </a:bodyPr>
          <a:lstStyle/>
          <a:p>
            <a:pPr rtl="0"/>
            <a:r>
              <a:rPr lang="en-US" dirty="0"/>
              <a:t>An Overview of Semester 2 and Research Terms for Novice Researchers</a:t>
            </a:r>
            <a:endParaRPr lang="en-GB" dirty="0"/>
          </a:p>
        </p:txBody>
      </p:sp>
      <p:sp>
        <p:nvSpPr>
          <p:cNvPr id="8" name="Date Placeholder 3">
            <a:extLst>
              <a:ext uri="{FF2B5EF4-FFF2-40B4-BE49-F238E27FC236}">
                <a16:creationId xmlns:a16="http://schemas.microsoft.com/office/drawing/2014/main" id="{2A5B7ED7-FDC0-7C4F-8AEA-8E2493F25A18}"/>
              </a:ext>
            </a:extLst>
          </p:cNvPr>
          <p:cNvSpPr>
            <a:spLocks noGrp="1"/>
          </p:cNvSpPr>
          <p:nvPr>
            <p:ph type="dt" sz="half" idx="10"/>
          </p:nvPr>
        </p:nvSpPr>
        <p:spPr>
          <a:xfrm>
            <a:off x="1333500" y="6356350"/>
            <a:ext cx="985157" cy="365125"/>
          </a:xfrm>
        </p:spPr>
        <p:txBody>
          <a:bodyPr/>
          <a:lstStyle/>
          <a:p>
            <a:pPr rtl="0">
              <a:spcAft>
                <a:spcPts val="600"/>
              </a:spcAft>
            </a:pPr>
            <a:r>
              <a:rPr lang="en-GB" noProof="0" dirty="0"/>
              <a:t>July 2026</a:t>
            </a:r>
          </a:p>
        </p:txBody>
      </p:sp>
      <p:sp>
        <p:nvSpPr>
          <p:cNvPr id="10" name="Footer Placeholder 4">
            <a:extLst>
              <a:ext uri="{FF2B5EF4-FFF2-40B4-BE49-F238E27FC236}">
                <a16:creationId xmlns:a16="http://schemas.microsoft.com/office/drawing/2014/main" id="{F863A2E3-DB1E-6182-16C3-6C097471E13B}"/>
              </a:ext>
            </a:extLst>
          </p:cNvPr>
          <p:cNvSpPr>
            <a:spLocks noGrp="1"/>
          </p:cNvSpPr>
          <p:nvPr>
            <p:ph type="ftr" sz="quarter" idx="11"/>
          </p:nvPr>
        </p:nvSpPr>
        <p:spPr>
          <a:xfrm>
            <a:off x="2669886" y="6356349"/>
            <a:ext cx="2482842" cy="365125"/>
          </a:xfrm>
        </p:spPr>
        <p:txBody>
          <a:bodyPr/>
          <a:lstStyle/>
          <a:p>
            <a:r>
              <a:rPr lang="en-GB" dirty="0"/>
              <a:t>Research Methodology 4</a:t>
            </a:r>
          </a:p>
        </p:txBody>
      </p:sp>
      <p:sp>
        <p:nvSpPr>
          <p:cNvPr id="12" name="Slide Number Placeholder 5">
            <a:extLst>
              <a:ext uri="{FF2B5EF4-FFF2-40B4-BE49-F238E27FC236}">
                <a16:creationId xmlns:a16="http://schemas.microsoft.com/office/drawing/2014/main" id="{41903AA9-2994-6DF0-A381-C93D5423252D}"/>
              </a:ext>
            </a:extLst>
          </p:cNvPr>
          <p:cNvSpPr>
            <a:spLocks noGrp="1"/>
          </p:cNvSpPr>
          <p:nvPr>
            <p:ph type="sldNum" sz="quarter" idx="12"/>
          </p:nvPr>
        </p:nvSpPr>
        <p:spPr>
          <a:xfrm>
            <a:off x="5536305" y="6356350"/>
            <a:ext cx="987552" cy="365125"/>
          </a:xfrm>
        </p:spPr>
        <p:txBody>
          <a:bodyPr/>
          <a:lstStyle/>
          <a:p>
            <a:pPr rtl="0">
              <a:spcAft>
                <a:spcPts val="600"/>
              </a:spcAft>
            </a:pPr>
            <a:fld id="{B5CEABB6-07DC-46E8-9B57-56EC44A396E5}" type="slidenum">
              <a:rPr lang="en-GB" noProof="0" smtClean="0"/>
              <a:pPr rtl="0">
                <a:spcAft>
                  <a:spcPts val="600"/>
                </a:spcAft>
              </a:pPr>
              <a:t>1</a:t>
            </a:fld>
            <a:endParaRPr lang="en-GB" noProof="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5D04-C7C7-FAD5-D574-29F320468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E106F-9F40-C105-B28E-D45AB44E6941}"/>
              </a:ext>
            </a:extLst>
          </p:cNvPr>
          <p:cNvSpPr>
            <a:spLocks noGrp="1"/>
          </p:cNvSpPr>
          <p:nvPr>
            <p:ph type="title"/>
          </p:nvPr>
        </p:nvSpPr>
        <p:spPr>
          <a:xfrm>
            <a:off x="838200" y="365125"/>
            <a:ext cx="10515600" cy="1325563"/>
          </a:xfrm>
        </p:spPr>
        <p:txBody>
          <a:bodyPr rtlCol="0" anchor="ctr">
            <a:normAutofit/>
          </a:bodyPr>
          <a:lstStyle/>
          <a:p>
            <a:r>
              <a:rPr lang="en-US" b="1" dirty="0"/>
              <a:t>An Overview of Semester 2</a:t>
            </a:r>
            <a:endParaRPr lang="en-GB" b="1" dirty="0"/>
          </a:p>
        </p:txBody>
      </p:sp>
      <p:sp>
        <p:nvSpPr>
          <p:cNvPr id="20" name="Date Placeholder 19">
            <a:extLst>
              <a:ext uri="{FF2B5EF4-FFF2-40B4-BE49-F238E27FC236}">
                <a16:creationId xmlns:a16="http://schemas.microsoft.com/office/drawing/2014/main" id="{80D68D80-A3B6-7A73-3FC6-C0C416E0CFB0}"/>
              </a:ext>
            </a:extLst>
          </p:cNvPr>
          <p:cNvSpPr>
            <a:spLocks noGrp="1"/>
          </p:cNvSpPr>
          <p:nvPr>
            <p:ph type="dt" sz="half" idx="10"/>
          </p:nvPr>
        </p:nvSpPr>
        <p:spPr>
          <a:xfrm>
            <a:off x="838200" y="6356350"/>
            <a:ext cx="2743200" cy="365125"/>
          </a:xfrm>
        </p:spPr>
        <p:txBody>
          <a:bodyPr rtlCol="0" anchor="ctr">
            <a:normAutofit/>
          </a:bodyPr>
          <a:lstStyle/>
          <a:p>
            <a:pPr rtl="0">
              <a:spcAft>
                <a:spcPts val="600"/>
              </a:spcAft>
            </a:pPr>
            <a:r>
              <a:rPr lang="en-GB" dirty="0"/>
              <a:t>July 2026</a:t>
            </a:r>
            <a:endParaRPr lang="en-GB"/>
          </a:p>
        </p:txBody>
      </p:sp>
      <p:sp>
        <p:nvSpPr>
          <p:cNvPr id="21" name="Footer Placeholder 20">
            <a:extLst>
              <a:ext uri="{FF2B5EF4-FFF2-40B4-BE49-F238E27FC236}">
                <a16:creationId xmlns:a16="http://schemas.microsoft.com/office/drawing/2014/main" id="{008C7D4B-B447-0BDD-819C-F195D07802DD}"/>
              </a:ext>
            </a:extLst>
          </p:cNvPr>
          <p:cNvSpPr>
            <a:spLocks noGrp="1"/>
          </p:cNvSpPr>
          <p:nvPr>
            <p:ph type="ftr" sz="quarter" idx="11"/>
          </p:nvPr>
        </p:nvSpPr>
        <p:spPr>
          <a:xfrm>
            <a:off x="4038600" y="6356350"/>
            <a:ext cx="4114800" cy="365125"/>
          </a:xfrm>
        </p:spPr>
        <p:txBody>
          <a:bodyPr rtlCol="0" anchor="ctr">
            <a:normAutofit/>
          </a:bodyPr>
          <a:lstStyle/>
          <a:p>
            <a:pPr rtl="0">
              <a:spcAft>
                <a:spcPts val="600"/>
              </a:spcAft>
            </a:pPr>
            <a:r>
              <a:rPr lang="en-GB" dirty="0"/>
              <a:t>Research Methodology 4</a:t>
            </a:r>
            <a:endParaRPr lang="en-GB"/>
          </a:p>
        </p:txBody>
      </p:sp>
      <p:sp>
        <p:nvSpPr>
          <p:cNvPr id="22" name="Slide Number Placeholder 21">
            <a:extLst>
              <a:ext uri="{FF2B5EF4-FFF2-40B4-BE49-F238E27FC236}">
                <a16:creationId xmlns:a16="http://schemas.microsoft.com/office/drawing/2014/main" id="{C587B61F-849A-F011-8A4F-05BB27BDB2E1}"/>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B5CEABB6-07DC-46E8-9B57-56EC44A396E5}" type="slidenum">
              <a:rPr lang="en-GB" smtClean="0"/>
              <a:pPr rtl="0">
                <a:spcAft>
                  <a:spcPts val="600"/>
                </a:spcAft>
              </a:pPr>
              <a:t>2</a:t>
            </a:fld>
            <a:endParaRPr lang="en-GB"/>
          </a:p>
        </p:txBody>
      </p:sp>
      <p:graphicFrame>
        <p:nvGraphicFramePr>
          <p:cNvPr id="24" name="Content Placeholder 2">
            <a:extLst>
              <a:ext uri="{FF2B5EF4-FFF2-40B4-BE49-F238E27FC236}">
                <a16:creationId xmlns:a16="http://schemas.microsoft.com/office/drawing/2014/main" id="{48CE9F3D-3D40-8A94-6AFF-13B5362E1924}"/>
              </a:ext>
            </a:extLst>
          </p:cNvPr>
          <p:cNvGraphicFramePr/>
          <p:nvPr>
            <p:extLst>
              <p:ext uri="{D42A27DB-BD31-4B8C-83A1-F6EECF244321}">
                <p14:modId xmlns:p14="http://schemas.microsoft.com/office/powerpoint/2010/main" val="3653573264"/>
              </p:ext>
            </p:extLst>
          </p:nvPr>
        </p:nvGraphicFramePr>
        <p:xfrm>
          <a:off x="838200" y="2139084"/>
          <a:ext cx="10515600" cy="3695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8604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EF01-09EE-7E41-2042-F0BC33599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A56D7-7057-D37C-D862-4947AB101B49}"/>
              </a:ext>
            </a:extLst>
          </p:cNvPr>
          <p:cNvSpPr>
            <a:spLocks noGrp="1"/>
          </p:cNvSpPr>
          <p:nvPr>
            <p:ph type="title"/>
          </p:nvPr>
        </p:nvSpPr>
        <p:spPr>
          <a:xfrm>
            <a:off x="1508760" y="4156405"/>
            <a:ext cx="3139440" cy="1325563"/>
          </a:xfrm>
        </p:spPr>
        <p:txBody>
          <a:bodyPr rtlCol="0"/>
          <a:lstStyle/>
          <a:p>
            <a:r>
              <a:rPr lang="en-GB" b="1" dirty="0"/>
              <a:t>Week 1:</a:t>
            </a:r>
            <a:endParaRPr lang="en-GB" sz="1400" dirty="0"/>
          </a:p>
        </p:txBody>
      </p:sp>
      <p:sp>
        <p:nvSpPr>
          <p:cNvPr id="3" name="Content Placeholder 2">
            <a:extLst>
              <a:ext uri="{FF2B5EF4-FFF2-40B4-BE49-F238E27FC236}">
                <a16:creationId xmlns:a16="http://schemas.microsoft.com/office/drawing/2014/main" id="{9F9C12F6-9151-AC80-81F5-3FE1C4BC9A03}"/>
              </a:ext>
            </a:extLst>
          </p:cNvPr>
          <p:cNvSpPr>
            <a:spLocks noGrp="1"/>
          </p:cNvSpPr>
          <p:nvPr>
            <p:ph type="body" sz="quarter" idx="13"/>
          </p:nvPr>
        </p:nvSpPr>
        <p:spPr>
          <a:xfrm>
            <a:off x="4954137" y="786385"/>
            <a:ext cx="6401321" cy="5221224"/>
          </a:xfrm>
        </p:spPr>
        <p:txBody>
          <a:bodyPr vert="horz" lIns="91440" tIns="45720" rIns="91440" bIns="45720" rtlCol="0" anchor="t">
            <a:noAutofit/>
          </a:bodyPr>
          <a:lstStyle/>
          <a:p>
            <a:r>
              <a:rPr lang="en-GB" sz="2400" b="1" dirty="0"/>
              <a:t>Introduction to Semester 2 and an Overview of Research Terms </a:t>
            </a:r>
            <a:endParaRPr lang="en-ZA" sz="2400" dirty="0"/>
          </a:p>
          <a:p>
            <a:r>
              <a:rPr lang="en-GB" b="1" dirty="0"/>
              <a:t>Purpose:</a:t>
            </a:r>
            <a:r>
              <a:rPr lang="en-GB" dirty="0"/>
              <a:t> Align students’ individual proposals with the research execution steps.</a:t>
            </a:r>
            <a:endParaRPr lang="en-ZA" dirty="0"/>
          </a:p>
          <a:p>
            <a:pPr lvl="0"/>
            <a:r>
              <a:rPr lang="en-GB" b="1" dirty="0"/>
              <a:t>Topics:</a:t>
            </a:r>
            <a:endParaRPr lang="en-ZA" dirty="0"/>
          </a:p>
          <a:p>
            <a:pPr lvl="1"/>
            <a:r>
              <a:rPr lang="en-GB" dirty="0"/>
              <a:t>Revisiting the research proposal.</a:t>
            </a:r>
            <a:endParaRPr lang="en-ZA" dirty="0"/>
          </a:p>
          <a:p>
            <a:pPr lvl="1"/>
            <a:r>
              <a:rPr lang="en-GB" dirty="0"/>
              <a:t>Fundamental terms that are often confused in a research study.</a:t>
            </a:r>
            <a:endParaRPr lang="en-ZA" dirty="0"/>
          </a:p>
          <a:p>
            <a:pPr lvl="0"/>
            <a:r>
              <a:rPr lang="en-GB" b="1" dirty="0"/>
              <a:t>Kumar Reference:</a:t>
            </a:r>
            <a:r>
              <a:rPr lang="en-GB" dirty="0"/>
              <a:t> Chapter 4: Research Process; Chapter 5: Formulating a Research Problem.</a:t>
            </a:r>
            <a:endParaRPr lang="en-ZA" dirty="0"/>
          </a:p>
        </p:txBody>
      </p:sp>
      <p:sp>
        <p:nvSpPr>
          <p:cNvPr id="20" name="Date Placeholder 19">
            <a:extLst>
              <a:ext uri="{FF2B5EF4-FFF2-40B4-BE49-F238E27FC236}">
                <a16:creationId xmlns:a16="http://schemas.microsoft.com/office/drawing/2014/main" id="{41B2CD5F-1F62-7CF8-D93D-D3427C7C9D16}"/>
              </a:ext>
            </a:extLst>
          </p:cNvPr>
          <p:cNvSpPr>
            <a:spLocks noGrp="1"/>
          </p:cNvSpPr>
          <p:nvPr>
            <p:ph type="dt" sz="half" idx="20"/>
          </p:nvPr>
        </p:nvSpPr>
        <p:spPr>
          <a:xfrm>
            <a:off x="5919680" y="6356350"/>
            <a:ext cx="947516" cy="365125"/>
          </a:xfrm>
        </p:spPr>
        <p:txBody>
          <a:bodyPr rtlCol="0"/>
          <a:lstStyle/>
          <a:p>
            <a:pPr rtl="0"/>
            <a:r>
              <a:rPr lang="en-GB" dirty="0"/>
              <a:t>July 2026</a:t>
            </a:r>
          </a:p>
        </p:txBody>
      </p:sp>
      <p:sp>
        <p:nvSpPr>
          <p:cNvPr id="21" name="Footer Placeholder 20">
            <a:extLst>
              <a:ext uri="{FF2B5EF4-FFF2-40B4-BE49-F238E27FC236}">
                <a16:creationId xmlns:a16="http://schemas.microsoft.com/office/drawing/2014/main" id="{8034A53D-6580-8CD4-7F2D-221F735B5F6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236BE252-2CE8-5416-91CF-62F9EFC15BE7}"/>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3</a:t>
            </a:fld>
            <a:endParaRPr lang="en-GB"/>
          </a:p>
        </p:txBody>
      </p:sp>
    </p:spTree>
    <p:extLst>
      <p:ext uri="{BB962C8B-B14F-4D97-AF65-F5344CB8AC3E}">
        <p14:creationId xmlns:p14="http://schemas.microsoft.com/office/powerpoint/2010/main" val="2647785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8B069-9C99-F166-C71D-C3EA13B49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FF9CD-B7E1-51A2-31DA-68924CE8CDCC}"/>
              </a:ext>
            </a:extLst>
          </p:cNvPr>
          <p:cNvSpPr>
            <a:spLocks noGrp="1"/>
          </p:cNvSpPr>
          <p:nvPr>
            <p:ph type="title"/>
          </p:nvPr>
        </p:nvSpPr>
        <p:spPr>
          <a:xfrm>
            <a:off x="1508760" y="4156405"/>
            <a:ext cx="3139440" cy="1325563"/>
          </a:xfrm>
        </p:spPr>
        <p:txBody>
          <a:bodyPr rtlCol="0"/>
          <a:lstStyle/>
          <a:p>
            <a:r>
              <a:rPr lang="en-GB" b="1" dirty="0"/>
              <a:t>Week 2:</a:t>
            </a:r>
            <a:endParaRPr lang="en-GB" sz="1400" dirty="0"/>
          </a:p>
        </p:txBody>
      </p:sp>
      <p:sp>
        <p:nvSpPr>
          <p:cNvPr id="3" name="Content Placeholder 2">
            <a:extLst>
              <a:ext uri="{FF2B5EF4-FFF2-40B4-BE49-F238E27FC236}">
                <a16:creationId xmlns:a16="http://schemas.microsoft.com/office/drawing/2014/main" id="{8DBBEE71-F728-A5C7-5AA3-58C76675C6D1}"/>
              </a:ext>
            </a:extLst>
          </p:cNvPr>
          <p:cNvSpPr>
            <a:spLocks noGrp="1"/>
          </p:cNvSpPr>
          <p:nvPr>
            <p:ph type="body" sz="quarter" idx="13"/>
          </p:nvPr>
        </p:nvSpPr>
        <p:spPr>
          <a:xfrm>
            <a:off x="4648201" y="532263"/>
            <a:ext cx="6707258" cy="5475346"/>
          </a:xfrm>
        </p:spPr>
        <p:txBody>
          <a:bodyPr vert="horz" lIns="91440" tIns="45720" rIns="91440" bIns="45720" rtlCol="0" anchor="t">
            <a:noAutofit/>
          </a:bodyPr>
          <a:lstStyle/>
          <a:p>
            <a:r>
              <a:rPr lang="en-GB" sz="2400" b="1" dirty="0"/>
              <a:t>Designing the Data Collection Methods for Qualitative and Quantitative Research Topics:</a:t>
            </a:r>
            <a:endParaRPr lang="en-ZA" sz="2400" dirty="0"/>
          </a:p>
          <a:p>
            <a:pPr lvl="1"/>
            <a:r>
              <a:rPr lang="en-GB" sz="2000" dirty="0"/>
              <a:t>Quantitative versus Qualitative Data Collection Methods.</a:t>
            </a:r>
            <a:endParaRPr lang="en-ZA" sz="2000" dirty="0"/>
          </a:p>
          <a:p>
            <a:pPr lvl="1"/>
            <a:r>
              <a:rPr lang="en-GB" sz="2000" dirty="0"/>
              <a:t>General Considerations for the Design of Data Collection Methods.</a:t>
            </a:r>
            <a:endParaRPr lang="en-ZA" sz="2000" dirty="0"/>
          </a:p>
          <a:p>
            <a:pPr lvl="1"/>
            <a:r>
              <a:rPr lang="en-GB" sz="2000" dirty="0"/>
              <a:t>Designing Quantitative Data Collection Methods.</a:t>
            </a:r>
            <a:endParaRPr lang="en-ZA" sz="2000" dirty="0"/>
          </a:p>
          <a:p>
            <a:pPr lvl="1"/>
            <a:r>
              <a:rPr lang="en-GB" sz="2000" dirty="0"/>
              <a:t>Designing Qualitative Data Collection Methods.</a:t>
            </a:r>
            <a:endParaRPr lang="en-ZA" sz="2000" dirty="0"/>
          </a:p>
          <a:p>
            <a:pPr lvl="1"/>
            <a:r>
              <a:rPr lang="en-GB" sz="2000" dirty="0"/>
              <a:t>Aligning Data Collection Methods with Research Design</a:t>
            </a:r>
            <a:endParaRPr lang="en-ZA" sz="2000" dirty="0"/>
          </a:p>
          <a:p>
            <a:pPr lvl="1"/>
            <a:r>
              <a:rPr lang="en-GB" sz="2000" dirty="0"/>
              <a:t>Examples of Quantitative and Qualitative Data Collection Methods</a:t>
            </a:r>
            <a:endParaRPr lang="en-ZA" sz="2000" dirty="0"/>
          </a:p>
          <a:p>
            <a:pPr lvl="0"/>
            <a:r>
              <a:rPr lang="en-GB" b="1" dirty="0"/>
              <a:t>Kumar Reference:</a:t>
            </a:r>
            <a:r>
              <a:rPr lang="en-GB" dirty="0"/>
              <a:t> Chapter 9: Data Collection – Primary Data; Chapter 10: Methods of Data Collection using Questionnaire and Interviews.</a:t>
            </a:r>
            <a:endParaRPr lang="en-ZA" dirty="0"/>
          </a:p>
        </p:txBody>
      </p:sp>
      <p:sp>
        <p:nvSpPr>
          <p:cNvPr id="20" name="Date Placeholder 19">
            <a:extLst>
              <a:ext uri="{FF2B5EF4-FFF2-40B4-BE49-F238E27FC236}">
                <a16:creationId xmlns:a16="http://schemas.microsoft.com/office/drawing/2014/main" id="{975C56D2-CF75-5CAD-4556-14E6CFFEE6B2}"/>
              </a:ext>
            </a:extLst>
          </p:cNvPr>
          <p:cNvSpPr>
            <a:spLocks noGrp="1"/>
          </p:cNvSpPr>
          <p:nvPr>
            <p:ph type="dt" sz="half" idx="20"/>
          </p:nvPr>
        </p:nvSpPr>
        <p:spPr>
          <a:xfrm>
            <a:off x="5919680" y="6356350"/>
            <a:ext cx="947516" cy="365125"/>
          </a:xfrm>
        </p:spPr>
        <p:txBody>
          <a:bodyPr rtlCol="0"/>
          <a:lstStyle/>
          <a:p>
            <a:pPr rtl="0"/>
            <a:r>
              <a:rPr lang="en-GB" dirty="0"/>
              <a:t>July 2026</a:t>
            </a:r>
          </a:p>
        </p:txBody>
      </p:sp>
      <p:sp>
        <p:nvSpPr>
          <p:cNvPr id="21" name="Footer Placeholder 20">
            <a:extLst>
              <a:ext uri="{FF2B5EF4-FFF2-40B4-BE49-F238E27FC236}">
                <a16:creationId xmlns:a16="http://schemas.microsoft.com/office/drawing/2014/main" id="{33396F6E-2CC2-E53D-A079-A39FDB8A2EC0}"/>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8BA7A511-E831-E42C-E695-8EBFBC6A727B}"/>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4</a:t>
            </a:fld>
            <a:endParaRPr lang="en-GB"/>
          </a:p>
        </p:txBody>
      </p:sp>
    </p:spTree>
    <p:extLst>
      <p:ext uri="{BB962C8B-B14F-4D97-AF65-F5344CB8AC3E}">
        <p14:creationId xmlns:p14="http://schemas.microsoft.com/office/powerpoint/2010/main" val="3248338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1968-E480-2CD2-6064-FB4D026AD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FFC0F-7B9C-C7A1-87C1-7CE447B91E48}"/>
              </a:ext>
            </a:extLst>
          </p:cNvPr>
          <p:cNvSpPr>
            <a:spLocks noGrp="1"/>
          </p:cNvSpPr>
          <p:nvPr>
            <p:ph type="title"/>
          </p:nvPr>
        </p:nvSpPr>
        <p:spPr>
          <a:xfrm>
            <a:off x="1508760" y="4156405"/>
            <a:ext cx="3139440" cy="1325563"/>
          </a:xfrm>
        </p:spPr>
        <p:txBody>
          <a:bodyPr rtlCol="0"/>
          <a:lstStyle/>
          <a:p>
            <a:r>
              <a:rPr lang="en-GB" b="1" dirty="0"/>
              <a:t>Week 3:</a:t>
            </a:r>
            <a:endParaRPr lang="en-GB" sz="1400" dirty="0"/>
          </a:p>
        </p:txBody>
      </p:sp>
      <p:sp>
        <p:nvSpPr>
          <p:cNvPr id="3" name="Content Placeholder 2">
            <a:extLst>
              <a:ext uri="{FF2B5EF4-FFF2-40B4-BE49-F238E27FC236}">
                <a16:creationId xmlns:a16="http://schemas.microsoft.com/office/drawing/2014/main" id="{0E634535-2581-B334-41DD-F128203095BA}"/>
              </a:ext>
            </a:extLst>
          </p:cNvPr>
          <p:cNvSpPr>
            <a:spLocks noGrp="1"/>
          </p:cNvSpPr>
          <p:nvPr>
            <p:ph type="body" sz="quarter" idx="13"/>
          </p:nvPr>
        </p:nvSpPr>
        <p:spPr>
          <a:xfrm>
            <a:off x="4648201" y="532263"/>
            <a:ext cx="6707258" cy="5475346"/>
          </a:xfrm>
        </p:spPr>
        <p:txBody>
          <a:bodyPr vert="horz" lIns="91440" tIns="45720" rIns="91440" bIns="45720" rtlCol="0" anchor="t">
            <a:noAutofit/>
          </a:bodyPr>
          <a:lstStyle/>
          <a:p>
            <a:r>
              <a:rPr lang="en-GB" sz="2400" b="1" dirty="0"/>
              <a:t>Sampling in Practice</a:t>
            </a:r>
            <a:endParaRPr lang="en-ZA" sz="2400" dirty="0"/>
          </a:p>
          <a:p>
            <a:pPr lvl="0"/>
            <a:r>
              <a:rPr lang="en-GB" b="1" dirty="0"/>
              <a:t>Topics:</a:t>
            </a:r>
            <a:endParaRPr lang="en-ZA" dirty="0"/>
          </a:p>
          <a:p>
            <a:pPr lvl="1"/>
            <a:r>
              <a:rPr lang="en-GB" dirty="0"/>
              <a:t>Sampling in Qualitative and Quantitative Studies</a:t>
            </a:r>
            <a:endParaRPr lang="en-ZA" dirty="0"/>
          </a:p>
          <a:p>
            <a:pPr lvl="1"/>
            <a:r>
              <a:rPr lang="en-GB" dirty="0"/>
              <a:t>Sampling methods (probability and non-probability).</a:t>
            </a:r>
            <a:endParaRPr lang="en-ZA" dirty="0"/>
          </a:p>
          <a:p>
            <a:pPr lvl="1"/>
            <a:r>
              <a:rPr lang="en-GB" dirty="0"/>
              <a:t>Sample size determination.</a:t>
            </a:r>
            <a:endParaRPr lang="en-ZA" dirty="0"/>
          </a:p>
          <a:p>
            <a:pPr lvl="0"/>
            <a:r>
              <a:rPr lang="en-GB" b="1" dirty="0"/>
              <a:t>Kumar Reference:</a:t>
            </a:r>
            <a:r>
              <a:rPr lang="en-GB" dirty="0"/>
              <a:t> Chapter 12: Sampling.</a:t>
            </a:r>
            <a:endParaRPr lang="en-ZA" dirty="0"/>
          </a:p>
        </p:txBody>
      </p:sp>
      <p:sp>
        <p:nvSpPr>
          <p:cNvPr id="20" name="Date Placeholder 19">
            <a:extLst>
              <a:ext uri="{FF2B5EF4-FFF2-40B4-BE49-F238E27FC236}">
                <a16:creationId xmlns:a16="http://schemas.microsoft.com/office/drawing/2014/main" id="{C0F7C0E8-7350-56EF-C870-3B73D312088B}"/>
              </a:ext>
            </a:extLst>
          </p:cNvPr>
          <p:cNvSpPr>
            <a:spLocks noGrp="1"/>
          </p:cNvSpPr>
          <p:nvPr>
            <p:ph type="dt" sz="half" idx="20"/>
          </p:nvPr>
        </p:nvSpPr>
        <p:spPr>
          <a:xfrm>
            <a:off x="5919680" y="6356350"/>
            <a:ext cx="947516" cy="365125"/>
          </a:xfrm>
        </p:spPr>
        <p:txBody>
          <a:bodyPr rtlCol="0"/>
          <a:lstStyle/>
          <a:p>
            <a:pPr rtl="0"/>
            <a:r>
              <a:rPr lang="en-GB" dirty="0"/>
              <a:t>July 2026</a:t>
            </a:r>
          </a:p>
        </p:txBody>
      </p:sp>
      <p:sp>
        <p:nvSpPr>
          <p:cNvPr id="21" name="Footer Placeholder 20">
            <a:extLst>
              <a:ext uri="{FF2B5EF4-FFF2-40B4-BE49-F238E27FC236}">
                <a16:creationId xmlns:a16="http://schemas.microsoft.com/office/drawing/2014/main" id="{4F96FF21-0550-F233-B090-0C01BE3497C6}"/>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C6791C72-CF4F-3382-8696-BE3714B3285A}"/>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5</a:t>
            </a:fld>
            <a:endParaRPr lang="en-GB"/>
          </a:p>
        </p:txBody>
      </p:sp>
    </p:spTree>
    <p:extLst>
      <p:ext uri="{BB962C8B-B14F-4D97-AF65-F5344CB8AC3E}">
        <p14:creationId xmlns:p14="http://schemas.microsoft.com/office/powerpoint/2010/main" val="1175562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6B40-A5DE-C6C0-8676-E1B34E342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19EA7-93FD-CD0C-CF6B-C7AEBEFDF1DC}"/>
              </a:ext>
            </a:extLst>
          </p:cNvPr>
          <p:cNvSpPr>
            <a:spLocks noGrp="1"/>
          </p:cNvSpPr>
          <p:nvPr>
            <p:ph type="title"/>
          </p:nvPr>
        </p:nvSpPr>
        <p:spPr>
          <a:xfrm>
            <a:off x="1508760" y="4156405"/>
            <a:ext cx="3139440" cy="1325563"/>
          </a:xfrm>
        </p:spPr>
        <p:txBody>
          <a:bodyPr rtlCol="0"/>
          <a:lstStyle/>
          <a:p>
            <a:r>
              <a:rPr lang="en-GB" b="1" dirty="0"/>
              <a:t>Week 4:</a:t>
            </a:r>
            <a:endParaRPr lang="en-GB" sz="1400" dirty="0"/>
          </a:p>
        </p:txBody>
      </p:sp>
      <p:sp>
        <p:nvSpPr>
          <p:cNvPr id="3" name="Content Placeholder 2">
            <a:extLst>
              <a:ext uri="{FF2B5EF4-FFF2-40B4-BE49-F238E27FC236}">
                <a16:creationId xmlns:a16="http://schemas.microsoft.com/office/drawing/2014/main" id="{C1E6A31D-AEF9-DF4E-C4AC-9136BB025AF7}"/>
              </a:ext>
            </a:extLst>
          </p:cNvPr>
          <p:cNvSpPr>
            <a:spLocks noGrp="1"/>
          </p:cNvSpPr>
          <p:nvPr>
            <p:ph type="body" sz="quarter" idx="13"/>
          </p:nvPr>
        </p:nvSpPr>
        <p:spPr>
          <a:xfrm>
            <a:off x="4648200" y="532263"/>
            <a:ext cx="7006987" cy="5475346"/>
          </a:xfrm>
        </p:spPr>
        <p:txBody>
          <a:bodyPr vert="horz" lIns="91440" tIns="45720" rIns="91440" bIns="45720" rtlCol="0" anchor="t">
            <a:noAutofit/>
          </a:bodyPr>
          <a:lstStyle/>
          <a:p>
            <a:r>
              <a:rPr lang="en-GB" sz="2400" b="1" dirty="0"/>
              <a:t>Data Management &amp; Ethical Considerations</a:t>
            </a:r>
            <a:endParaRPr lang="en-ZA" sz="2400" dirty="0"/>
          </a:p>
          <a:p>
            <a:pPr lvl="0"/>
            <a:r>
              <a:rPr lang="en-GB" b="1" dirty="0"/>
              <a:t>Topics:</a:t>
            </a:r>
            <a:endParaRPr lang="en-ZA" dirty="0"/>
          </a:p>
          <a:p>
            <a:pPr lvl="1"/>
            <a:r>
              <a:rPr lang="en-GB" dirty="0"/>
              <a:t>Organising and securing data</a:t>
            </a:r>
            <a:endParaRPr lang="en-ZA" dirty="0"/>
          </a:p>
          <a:p>
            <a:pPr lvl="1"/>
            <a:r>
              <a:rPr lang="en-GB" dirty="0"/>
              <a:t>Data privacy and participant consent</a:t>
            </a:r>
            <a:endParaRPr lang="en-ZA" dirty="0"/>
          </a:p>
          <a:p>
            <a:pPr lvl="1"/>
            <a:r>
              <a:rPr lang="en-GB" dirty="0"/>
              <a:t>Ethical approval and compliance in ICT research</a:t>
            </a:r>
            <a:endParaRPr lang="en-ZA" dirty="0"/>
          </a:p>
          <a:p>
            <a:pPr lvl="0"/>
            <a:r>
              <a:rPr lang="en-GB" b="1" dirty="0"/>
              <a:t>Kumar Reference:</a:t>
            </a:r>
            <a:r>
              <a:rPr lang="en-GB" dirty="0"/>
              <a:t> Chapter 13: Ethical Issues; Chapter 18: Writing a Research Proposal (ethical compliance).</a:t>
            </a:r>
            <a:endParaRPr lang="en-ZA" dirty="0"/>
          </a:p>
        </p:txBody>
      </p:sp>
      <p:sp>
        <p:nvSpPr>
          <p:cNvPr id="20" name="Date Placeholder 19">
            <a:extLst>
              <a:ext uri="{FF2B5EF4-FFF2-40B4-BE49-F238E27FC236}">
                <a16:creationId xmlns:a16="http://schemas.microsoft.com/office/drawing/2014/main" id="{E9512A38-F4A7-F7B6-15B8-5CDCDE604563}"/>
              </a:ext>
            </a:extLst>
          </p:cNvPr>
          <p:cNvSpPr>
            <a:spLocks noGrp="1"/>
          </p:cNvSpPr>
          <p:nvPr>
            <p:ph type="dt" sz="half" idx="20"/>
          </p:nvPr>
        </p:nvSpPr>
        <p:spPr>
          <a:xfrm>
            <a:off x="5919680" y="6356350"/>
            <a:ext cx="947516" cy="365125"/>
          </a:xfrm>
        </p:spPr>
        <p:txBody>
          <a:bodyPr rtlCol="0"/>
          <a:lstStyle/>
          <a:p>
            <a:pPr rtl="0"/>
            <a:r>
              <a:rPr lang="en-GB" dirty="0"/>
              <a:t>July 2026</a:t>
            </a:r>
          </a:p>
        </p:txBody>
      </p:sp>
      <p:sp>
        <p:nvSpPr>
          <p:cNvPr id="21" name="Footer Placeholder 20">
            <a:extLst>
              <a:ext uri="{FF2B5EF4-FFF2-40B4-BE49-F238E27FC236}">
                <a16:creationId xmlns:a16="http://schemas.microsoft.com/office/drawing/2014/main" id="{814EB51D-BA75-F134-69DD-BAE19CC5E999}"/>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F37C34C4-DBA0-E26D-044A-4122EC98FDA2}"/>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6</a:t>
            </a:fld>
            <a:endParaRPr lang="en-GB"/>
          </a:p>
        </p:txBody>
      </p:sp>
    </p:spTree>
    <p:extLst>
      <p:ext uri="{BB962C8B-B14F-4D97-AF65-F5344CB8AC3E}">
        <p14:creationId xmlns:p14="http://schemas.microsoft.com/office/powerpoint/2010/main" val="373442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08170-04F0-3400-F3DF-48893981B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86F54-CA6B-887A-7A76-09A7403C3F58}"/>
              </a:ext>
            </a:extLst>
          </p:cNvPr>
          <p:cNvSpPr>
            <a:spLocks noGrp="1"/>
          </p:cNvSpPr>
          <p:nvPr>
            <p:ph type="title"/>
          </p:nvPr>
        </p:nvSpPr>
        <p:spPr>
          <a:xfrm>
            <a:off x="1508760" y="4156405"/>
            <a:ext cx="3139440" cy="1325563"/>
          </a:xfrm>
        </p:spPr>
        <p:txBody>
          <a:bodyPr rtlCol="0"/>
          <a:lstStyle/>
          <a:p>
            <a:r>
              <a:rPr lang="en-GB" b="1" dirty="0"/>
              <a:t>Week 5:</a:t>
            </a:r>
            <a:endParaRPr lang="en-GB" sz="1400" dirty="0"/>
          </a:p>
        </p:txBody>
      </p:sp>
      <p:sp>
        <p:nvSpPr>
          <p:cNvPr id="3" name="Content Placeholder 2">
            <a:extLst>
              <a:ext uri="{FF2B5EF4-FFF2-40B4-BE49-F238E27FC236}">
                <a16:creationId xmlns:a16="http://schemas.microsoft.com/office/drawing/2014/main" id="{0831C5D8-76A1-95C2-D715-F0A6AF4CB6F4}"/>
              </a:ext>
            </a:extLst>
          </p:cNvPr>
          <p:cNvSpPr>
            <a:spLocks noGrp="1"/>
          </p:cNvSpPr>
          <p:nvPr>
            <p:ph type="body" sz="quarter" idx="13"/>
          </p:nvPr>
        </p:nvSpPr>
        <p:spPr>
          <a:xfrm>
            <a:off x="3848670" y="532263"/>
            <a:ext cx="8343330" cy="5475346"/>
          </a:xfrm>
        </p:spPr>
        <p:txBody>
          <a:bodyPr vert="horz" lIns="91440" tIns="45720" rIns="91440" bIns="45720" rtlCol="0" anchor="t">
            <a:noAutofit/>
          </a:bodyPr>
          <a:lstStyle/>
          <a:p>
            <a:r>
              <a:rPr lang="en-GB" sz="2400" b="1" dirty="0"/>
              <a:t>Quantitative &amp; Qualitative Data Analysis</a:t>
            </a:r>
            <a:r>
              <a:rPr lang="en-ZA" sz="2400" dirty="0"/>
              <a:t> </a:t>
            </a:r>
          </a:p>
          <a:p>
            <a:pPr lvl="0"/>
            <a:r>
              <a:rPr lang="en-GB" b="1" dirty="0"/>
              <a:t>Topics:</a:t>
            </a:r>
            <a:endParaRPr lang="en-ZA" dirty="0"/>
          </a:p>
          <a:p>
            <a:pPr lvl="1"/>
            <a:r>
              <a:rPr lang="en-GB" dirty="0"/>
              <a:t>Frequency tables, percentages, measures of central tendency and dispersion.</a:t>
            </a:r>
            <a:endParaRPr lang="en-ZA" dirty="0"/>
          </a:p>
          <a:p>
            <a:pPr lvl="1"/>
            <a:r>
              <a:rPr lang="en-GB" dirty="0"/>
              <a:t>Use of Excel/SPSS for descriptive stats.</a:t>
            </a:r>
            <a:endParaRPr lang="en-ZA" dirty="0"/>
          </a:p>
          <a:p>
            <a:pPr lvl="1"/>
            <a:r>
              <a:rPr lang="en-GB" dirty="0"/>
              <a:t>Correlation, chi-square, t-tests (introductory level).</a:t>
            </a:r>
            <a:endParaRPr lang="en-ZA" dirty="0"/>
          </a:p>
          <a:p>
            <a:pPr lvl="1"/>
            <a:r>
              <a:rPr lang="en-GB" dirty="0"/>
              <a:t>Hypothesis testing basics.</a:t>
            </a:r>
          </a:p>
          <a:p>
            <a:pPr lvl="1"/>
            <a:endParaRPr lang="en-GB" dirty="0"/>
          </a:p>
          <a:p>
            <a:pPr lvl="1"/>
            <a:r>
              <a:rPr lang="en-GB" dirty="0"/>
              <a:t>Thematic analysis, coding, use of categories.</a:t>
            </a:r>
            <a:endParaRPr lang="en-ZA" dirty="0"/>
          </a:p>
          <a:p>
            <a:pPr lvl="1"/>
            <a:r>
              <a:rPr lang="en-GB" dirty="0"/>
              <a:t>Using NVivo (or manual techniques).</a:t>
            </a:r>
            <a:endParaRPr lang="en-ZA" dirty="0"/>
          </a:p>
          <a:p>
            <a:r>
              <a:rPr lang="en-GB" dirty="0"/>
              <a:t> </a:t>
            </a:r>
            <a:endParaRPr lang="en-ZA" dirty="0"/>
          </a:p>
          <a:p>
            <a:pPr lvl="0"/>
            <a:r>
              <a:rPr lang="en-GB" b="1" dirty="0"/>
              <a:t>Kumar Reference:</a:t>
            </a:r>
            <a:r>
              <a:rPr lang="en-GB" dirty="0"/>
              <a:t> Chapter 15: Processing and Displaying Data.</a:t>
            </a:r>
          </a:p>
          <a:p>
            <a:r>
              <a:rPr lang="en-GB" dirty="0"/>
              <a:t>Chapter 16: Analysis of Qualitative Data.</a:t>
            </a:r>
            <a:endParaRPr lang="en-ZA" dirty="0"/>
          </a:p>
          <a:p>
            <a:pPr lvl="0"/>
            <a:endParaRPr lang="en-ZA" dirty="0"/>
          </a:p>
        </p:txBody>
      </p:sp>
      <p:sp>
        <p:nvSpPr>
          <p:cNvPr id="20" name="Date Placeholder 19">
            <a:extLst>
              <a:ext uri="{FF2B5EF4-FFF2-40B4-BE49-F238E27FC236}">
                <a16:creationId xmlns:a16="http://schemas.microsoft.com/office/drawing/2014/main" id="{FFCF0D4E-7CD0-3311-8B97-3B62A0F6BC76}"/>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21" name="Footer Placeholder 20">
            <a:extLst>
              <a:ext uri="{FF2B5EF4-FFF2-40B4-BE49-F238E27FC236}">
                <a16:creationId xmlns:a16="http://schemas.microsoft.com/office/drawing/2014/main" id="{EC2390D9-33A2-362E-7765-30CD64624ED4}"/>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734EFD6A-9B7D-FCC0-BBAD-FEDB3B9DFBA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7</a:t>
            </a:fld>
            <a:endParaRPr lang="en-GB"/>
          </a:p>
        </p:txBody>
      </p:sp>
    </p:spTree>
    <p:extLst>
      <p:ext uri="{BB962C8B-B14F-4D97-AF65-F5344CB8AC3E}">
        <p14:creationId xmlns:p14="http://schemas.microsoft.com/office/powerpoint/2010/main" val="1746665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823CC-6C70-C030-7174-5226E88FA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71C62-B141-E159-2D21-626810BE4C29}"/>
              </a:ext>
            </a:extLst>
          </p:cNvPr>
          <p:cNvSpPr>
            <a:spLocks noGrp="1"/>
          </p:cNvSpPr>
          <p:nvPr>
            <p:ph type="title"/>
          </p:nvPr>
        </p:nvSpPr>
        <p:spPr>
          <a:xfrm>
            <a:off x="1508760" y="4156405"/>
            <a:ext cx="3139440" cy="1325563"/>
          </a:xfrm>
        </p:spPr>
        <p:txBody>
          <a:bodyPr rtlCol="0"/>
          <a:lstStyle/>
          <a:p>
            <a:r>
              <a:rPr lang="en-GB" b="1" dirty="0"/>
              <a:t>Week 6:</a:t>
            </a:r>
            <a:endParaRPr lang="en-GB" sz="1400" dirty="0"/>
          </a:p>
        </p:txBody>
      </p:sp>
      <p:sp>
        <p:nvSpPr>
          <p:cNvPr id="3" name="Content Placeholder 2">
            <a:extLst>
              <a:ext uri="{FF2B5EF4-FFF2-40B4-BE49-F238E27FC236}">
                <a16:creationId xmlns:a16="http://schemas.microsoft.com/office/drawing/2014/main" id="{5531567E-17B1-C78D-64EF-EDF9A4CA9D39}"/>
              </a:ext>
            </a:extLst>
          </p:cNvPr>
          <p:cNvSpPr>
            <a:spLocks noGrp="1"/>
          </p:cNvSpPr>
          <p:nvPr>
            <p:ph type="body" sz="quarter" idx="13"/>
          </p:nvPr>
        </p:nvSpPr>
        <p:spPr>
          <a:xfrm>
            <a:off x="3848670" y="532263"/>
            <a:ext cx="8343330" cy="5475346"/>
          </a:xfrm>
        </p:spPr>
        <p:txBody>
          <a:bodyPr vert="horz" lIns="91440" tIns="45720" rIns="91440" bIns="45720" rtlCol="0" anchor="t">
            <a:noAutofit/>
          </a:bodyPr>
          <a:lstStyle/>
          <a:p>
            <a:r>
              <a:rPr lang="en-GB" sz="2400" b="1" dirty="0"/>
              <a:t>Elucidating Research Results (Findings)</a:t>
            </a:r>
            <a:endParaRPr lang="en-ZA" sz="2400" dirty="0"/>
          </a:p>
          <a:p>
            <a:pPr lvl="0"/>
            <a:r>
              <a:rPr lang="en-GB" b="1" dirty="0"/>
              <a:t>Topics:</a:t>
            </a:r>
            <a:endParaRPr lang="en-ZA" dirty="0"/>
          </a:p>
          <a:p>
            <a:pPr lvl="1"/>
            <a:r>
              <a:rPr lang="en-GB" dirty="0"/>
              <a:t>Purpose of the Section</a:t>
            </a:r>
            <a:endParaRPr lang="en-ZA" dirty="0"/>
          </a:p>
          <a:p>
            <a:pPr lvl="1"/>
            <a:r>
              <a:rPr lang="en-GB" dirty="0"/>
              <a:t>Visual representation (charts, graphs).</a:t>
            </a:r>
            <a:endParaRPr lang="en-ZA" dirty="0"/>
          </a:p>
          <a:p>
            <a:pPr lvl="1"/>
            <a:r>
              <a:rPr lang="en-GB" dirty="0"/>
              <a:t>Structuring results by research objectives.</a:t>
            </a:r>
            <a:endParaRPr lang="en-ZA" dirty="0"/>
          </a:p>
          <a:p>
            <a:pPr lvl="0"/>
            <a:r>
              <a:rPr lang="en-GB" b="1" dirty="0"/>
              <a:t>Kumar Reference:</a:t>
            </a:r>
            <a:r>
              <a:rPr lang="en-GB" dirty="0"/>
              <a:t> Chapter 17: Writing a Research Report.</a:t>
            </a:r>
            <a:endParaRPr lang="en-ZA" dirty="0"/>
          </a:p>
        </p:txBody>
      </p:sp>
      <p:sp>
        <p:nvSpPr>
          <p:cNvPr id="20" name="Date Placeholder 19">
            <a:extLst>
              <a:ext uri="{FF2B5EF4-FFF2-40B4-BE49-F238E27FC236}">
                <a16:creationId xmlns:a16="http://schemas.microsoft.com/office/drawing/2014/main" id="{47A882B2-8B04-4486-D69D-DC4E9F489D69}"/>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21" name="Footer Placeholder 20">
            <a:extLst>
              <a:ext uri="{FF2B5EF4-FFF2-40B4-BE49-F238E27FC236}">
                <a16:creationId xmlns:a16="http://schemas.microsoft.com/office/drawing/2014/main" id="{9BFB0097-E1E8-DCFA-F0A5-D0476DA253B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836F15EC-4FA5-E7BA-683F-7294724D0ED1}"/>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8</a:t>
            </a:fld>
            <a:endParaRPr lang="en-GB"/>
          </a:p>
        </p:txBody>
      </p:sp>
    </p:spTree>
    <p:extLst>
      <p:ext uri="{BB962C8B-B14F-4D97-AF65-F5344CB8AC3E}">
        <p14:creationId xmlns:p14="http://schemas.microsoft.com/office/powerpoint/2010/main" val="2186817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755D3-EB94-2EC9-6E25-65DE4F293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D828F-278C-EE20-CC2C-C5025A6CCE07}"/>
              </a:ext>
            </a:extLst>
          </p:cNvPr>
          <p:cNvSpPr>
            <a:spLocks noGrp="1"/>
          </p:cNvSpPr>
          <p:nvPr>
            <p:ph type="title"/>
          </p:nvPr>
        </p:nvSpPr>
        <p:spPr>
          <a:xfrm>
            <a:off x="1508760" y="4156405"/>
            <a:ext cx="3139440" cy="1325563"/>
          </a:xfrm>
        </p:spPr>
        <p:txBody>
          <a:bodyPr rtlCol="0"/>
          <a:lstStyle/>
          <a:p>
            <a:r>
              <a:rPr lang="en-GB" b="1" dirty="0"/>
              <a:t>Week 7:</a:t>
            </a:r>
            <a:endParaRPr lang="en-GB" sz="1400" dirty="0"/>
          </a:p>
        </p:txBody>
      </p:sp>
      <p:sp>
        <p:nvSpPr>
          <p:cNvPr id="3" name="Content Placeholder 2">
            <a:extLst>
              <a:ext uri="{FF2B5EF4-FFF2-40B4-BE49-F238E27FC236}">
                <a16:creationId xmlns:a16="http://schemas.microsoft.com/office/drawing/2014/main" id="{7A0BCBA7-724B-7C76-3839-E5D2674F3FBA}"/>
              </a:ext>
            </a:extLst>
          </p:cNvPr>
          <p:cNvSpPr>
            <a:spLocks noGrp="1"/>
          </p:cNvSpPr>
          <p:nvPr>
            <p:ph type="body" sz="quarter" idx="13"/>
          </p:nvPr>
        </p:nvSpPr>
        <p:spPr>
          <a:xfrm>
            <a:off x="3848670" y="532263"/>
            <a:ext cx="8343330" cy="5475346"/>
          </a:xfrm>
        </p:spPr>
        <p:txBody>
          <a:bodyPr vert="horz" lIns="91440" tIns="45720" rIns="91440" bIns="45720" rtlCol="0" anchor="t">
            <a:noAutofit/>
          </a:bodyPr>
          <a:lstStyle/>
          <a:p>
            <a:r>
              <a:rPr lang="en-GB" sz="2400" b="1" dirty="0"/>
              <a:t>Interpretation and Discussion of Results</a:t>
            </a:r>
            <a:endParaRPr lang="en-ZA" sz="2400" dirty="0"/>
          </a:p>
          <a:p>
            <a:pPr lvl="0"/>
            <a:r>
              <a:rPr lang="en-GB" b="1" dirty="0"/>
              <a:t>Topics:</a:t>
            </a:r>
            <a:endParaRPr lang="en-ZA" dirty="0"/>
          </a:p>
          <a:p>
            <a:pPr lvl="1"/>
            <a:r>
              <a:rPr lang="en-GB" dirty="0"/>
              <a:t>Making sense of data.</a:t>
            </a:r>
            <a:endParaRPr lang="en-ZA" dirty="0"/>
          </a:p>
          <a:p>
            <a:pPr lvl="1"/>
            <a:r>
              <a:rPr lang="en-GB" dirty="0"/>
              <a:t>Comparing findings with literature.</a:t>
            </a:r>
            <a:endParaRPr lang="en-ZA" dirty="0"/>
          </a:p>
          <a:p>
            <a:pPr lvl="1"/>
            <a:r>
              <a:rPr lang="en-GB" dirty="0"/>
              <a:t>Drawing inferences without overgeneralizing.</a:t>
            </a:r>
            <a:endParaRPr lang="en-ZA" dirty="0"/>
          </a:p>
          <a:p>
            <a:pPr lvl="0"/>
            <a:r>
              <a:rPr lang="en-GB" b="1" dirty="0"/>
              <a:t>Kumar Reference:</a:t>
            </a:r>
            <a:r>
              <a:rPr lang="en-GB" dirty="0"/>
              <a:t> Chapter 17 continued.</a:t>
            </a:r>
            <a:endParaRPr lang="en-ZA" dirty="0"/>
          </a:p>
        </p:txBody>
      </p:sp>
      <p:sp>
        <p:nvSpPr>
          <p:cNvPr id="20" name="Date Placeholder 19">
            <a:extLst>
              <a:ext uri="{FF2B5EF4-FFF2-40B4-BE49-F238E27FC236}">
                <a16:creationId xmlns:a16="http://schemas.microsoft.com/office/drawing/2014/main" id="{6A06A125-3B37-5991-FE4F-A42E1C409008}"/>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21" name="Footer Placeholder 20">
            <a:extLst>
              <a:ext uri="{FF2B5EF4-FFF2-40B4-BE49-F238E27FC236}">
                <a16:creationId xmlns:a16="http://schemas.microsoft.com/office/drawing/2014/main" id="{5A93A580-9126-1E90-7A58-7A476BE923C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12E3DAA0-2EA7-A69C-6875-2965D74EA0B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9</a:t>
            </a:fld>
            <a:endParaRPr lang="en-GB"/>
          </a:p>
        </p:txBody>
      </p:sp>
    </p:spTree>
    <p:extLst>
      <p:ext uri="{BB962C8B-B14F-4D97-AF65-F5344CB8AC3E}">
        <p14:creationId xmlns:p14="http://schemas.microsoft.com/office/powerpoint/2010/main" val="2518911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D2771-14F3-7FE1-8BEA-FBD0703AB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B050-FDCE-1556-9B2C-2FD263F939F9}"/>
              </a:ext>
            </a:extLst>
          </p:cNvPr>
          <p:cNvSpPr>
            <a:spLocks noGrp="1"/>
          </p:cNvSpPr>
          <p:nvPr>
            <p:ph type="title"/>
          </p:nvPr>
        </p:nvSpPr>
        <p:spPr>
          <a:xfrm>
            <a:off x="1508760" y="4156405"/>
            <a:ext cx="3139440" cy="1325563"/>
          </a:xfrm>
        </p:spPr>
        <p:txBody>
          <a:bodyPr rtlCol="0"/>
          <a:lstStyle/>
          <a:p>
            <a:r>
              <a:rPr lang="en-GB" b="1" dirty="0"/>
              <a:t>Week 8:</a:t>
            </a:r>
            <a:endParaRPr lang="en-GB" sz="1400" dirty="0"/>
          </a:p>
        </p:txBody>
      </p:sp>
      <p:sp>
        <p:nvSpPr>
          <p:cNvPr id="3" name="Content Placeholder 2">
            <a:extLst>
              <a:ext uri="{FF2B5EF4-FFF2-40B4-BE49-F238E27FC236}">
                <a16:creationId xmlns:a16="http://schemas.microsoft.com/office/drawing/2014/main" id="{49FE3408-DA3E-B688-6C2A-921D1E80A675}"/>
              </a:ext>
            </a:extLst>
          </p:cNvPr>
          <p:cNvSpPr>
            <a:spLocks noGrp="1"/>
          </p:cNvSpPr>
          <p:nvPr>
            <p:ph type="body" sz="quarter" idx="13"/>
          </p:nvPr>
        </p:nvSpPr>
        <p:spPr>
          <a:xfrm>
            <a:off x="3848670" y="532263"/>
            <a:ext cx="8343330" cy="5475346"/>
          </a:xfrm>
        </p:spPr>
        <p:txBody>
          <a:bodyPr vert="horz" lIns="91440" tIns="45720" rIns="91440" bIns="45720" rtlCol="0" anchor="t">
            <a:noAutofit/>
          </a:bodyPr>
          <a:lstStyle/>
          <a:p>
            <a:r>
              <a:rPr lang="en-GB" sz="2400" b="1" dirty="0"/>
              <a:t>Conclusion and Recommendations</a:t>
            </a:r>
            <a:endParaRPr lang="en-ZA" sz="2400" dirty="0"/>
          </a:p>
          <a:p>
            <a:pPr lvl="0"/>
            <a:r>
              <a:rPr lang="en-GB" b="1" dirty="0"/>
              <a:t>Topics:</a:t>
            </a:r>
            <a:endParaRPr lang="en-ZA" dirty="0"/>
          </a:p>
          <a:p>
            <a:pPr lvl="1"/>
            <a:r>
              <a:rPr lang="en-GB" dirty="0"/>
              <a:t>Summarizing key findings.</a:t>
            </a:r>
            <a:endParaRPr lang="en-ZA" dirty="0"/>
          </a:p>
          <a:p>
            <a:pPr lvl="1"/>
            <a:r>
              <a:rPr lang="en-GB" dirty="0"/>
              <a:t>Making actionable suggestions.</a:t>
            </a:r>
            <a:endParaRPr lang="en-ZA" dirty="0"/>
          </a:p>
          <a:p>
            <a:pPr lvl="1"/>
            <a:r>
              <a:rPr lang="en-GB" dirty="0"/>
              <a:t>Identifying limitations and areas for further research.</a:t>
            </a:r>
            <a:endParaRPr lang="en-ZA" dirty="0"/>
          </a:p>
          <a:p>
            <a:pPr lvl="0"/>
            <a:r>
              <a:rPr lang="en-GB" b="1" dirty="0"/>
              <a:t>Kumar Reference:</a:t>
            </a:r>
            <a:r>
              <a:rPr lang="en-GB" dirty="0"/>
              <a:t> Chapter 17 final section.</a:t>
            </a:r>
            <a:endParaRPr lang="en-ZA" dirty="0"/>
          </a:p>
        </p:txBody>
      </p:sp>
      <p:sp>
        <p:nvSpPr>
          <p:cNvPr id="20" name="Date Placeholder 19">
            <a:extLst>
              <a:ext uri="{FF2B5EF4-FFF2-40B4-BE49-F238E27FC236}">
                <a16:creationId xmlns:a16="http://schemas.microsoft.com/office/drawing/2014/main" id="{015CE838-D990-199D-F55E-869960A81A04}"/>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21" name="Footer Placeholder 20">
            <a:extLst>
              <a:ext uri="{FF2B5EF4-FFF2-40B4-BE49-F238E27FC236}">
                <a16:creationId xmlns:a16="http://schemas.microsoft.com/office/drawing/2014/main" id="{AB380E87-21C7-163F-CF08-2C8FF1DBB764}"/>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106E7A2B-54DA-18A6-65C0-92E273880097}"/>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10</a:t>
            </a:fld>
            <a:endParaRPr lang="en-GB"/>
          </a:p>
        </p:txBody>
      </p:sp>
    </p:spTree>
    <p:extLst>
      <p:ext uri="{BB962C8B-B14F-4D97-AF65-F5344CB8AC3E}">
        <p14:creationId xmlns:p14="http://schemas.microsoft.com/office/powerpoint/2010/main" val="379422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fontScale="90000"/>
          </a:bodyPr>
          <a:lstStyle/>
          <a:p>
            <a:pPr rtl="0"/>
            <a:r>
              <a:rPr lang="en-US" dirty="0"/>
              <a:t>As ICT students exploring research for the first time, it is necessary to understand </a:t>
            </a:r>
            <a:r>
              <a:rPr lang="en-US" b="1" dirty="0"/>
              <a:t>some fundamental terms </a:t>
            </a:r>
            <a:r>
              <a:rPr lang="en-US" dirty="0"/>
              <a:t>that are often confused and guide a research study. </a:t>
            </a:r>
            <a:endParaRPr lang="en-GB" dirty="0"/>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r>
              <a:rPr lang="en-GB" dirty="0"/>
              <a:t>July 2026</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11</a:t>
            </a:fld>
            <a:endParaRPr lang="en-GB"/>
          </a:p>
        </p:txBody>
      </p:sp>
      <p:graphicFrame>
        <p:nvGraphicFramePr>
          <p:cNvPr id="5" name="Diagram 4">
            <a:extLst>
              <a:ext uri="{FF2B5EF4-FFF2-40B4-BE49-F238E27FC236}">
                <a16:creationId xmlns:a16="http://schemas.microsoft.com/office/drawing/2014/main" id="{61E5E457-5EE1-DA65-2783-30238FA862A8}"/>
              </a:ext>
            </a:extLst>
          </p:cNvPr>
          <p:cNvGraphicFramePr/>
          <p:nvPr>
            <p:extLst>
              <p:ext uri="{D42A27DB-BD31-4B8C-83A1-F6EECF244321}">
                <p14:modId xmlns:p14="http://schemas.microsoft.com/office/powerpoint/2010/main" val="947483546"/>
              </p:ext>
            </p:extLst>
          </p:nvPr>
        </p:nvGraphicFramePr>
        <p:xfrm>
          <a:off x="2333897" y="1967230"/>
          <a:ext cx="7524206"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99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rtlCol="0"/>
          <a:lstStyle/>
          <a:p>
            <a:pPr rtl="0"/>
            <a:r>
              <a:rPr lang="en-GB" dirty="0"/>
              <a:t>1. Research Paradigm</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algn="ctr" rtl="0"/>
            <a:r>
              <a:rPr lang="en-US" sz="2800" dirty="0"/>
              <a:t>A research paradigm is the philosophical worldview or belief system that guides a researcher’s understanding of reality and knowledge, ultimately shaping every stage of the research process. </a:t>
            </a:r>
          </a:p>
          <a:p>
            <a:pPr algn="ctr" rtl="0"/>
            <a:r>
              <a:rPr lang="en-US" sz="2800" dirty="0"/>
              <a:t>It resolves how research questions are established, how data are collected, and how findings are interpreted </a:t>
            </a:r>
            <a:r>
              <a:rPr lang="en-US" sz="1400" dirty="0"/>
              <a:t>(Kumar, 2011).</a:t>
            </a:r>
            <a:endParaRPr lang="en-GB" sz="1400"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12</a:t>
            </a:fld>
            <a:endParaRPr lang="en-GB"/>
          </a:p>
        </p:txBody>
      </p:sp>
    </p:spTree>
    <p:extLst>
      <p:ext uri="{BB962C8B-B14F-4D97-AF65-F5344CB8AC3E}">
        <p14:creationId xmlns:p14="http://schemas.microsoft.com/office/powerpoint/2010/main" val="1844941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271762" y="891329"/>
            <a:ext cx="9648476" cy="1325563"/>
          </a:xfrm>
        </p:spPr>
        <p:txBody>
          <a:bodyPr rtlCol="0"/>
          <a:lstStyle/>
          <a:p>
            <a:r>
              <a:rPr lang="en-US" dirty="0"/>
              <a:t>The key paradigms commonly used in research </a:t>
            </a:r>
            <a:r>
              <a:rPr lang="en-US" sz="1400" dirty="0"/>
              <a:t>(Creswell,2009) </a:t>
            </a:r>
            <a:endParaRPr lang="en-GB" sz="1400"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0292" y="2563123"/>
            <a:ext cx="4031945" cy="365125"/>
          </a:xfrm>
        </p:spPr>
        <p:txBody>
          <a:bodyPr vert="horz" lIns="91440" tIns="45720" rIns="91440" bIns="45720" rtlCol="0" anchor="t">
            <a:normAutofit lnSpcReduction="10000"/>
          </a:bodyPr>
          <a:lstStyle/>
          <a:p>
            <a:pPr rtl="0"/>
            <a:r>
              <a:rPr lang="en-GB" b="1" dirty="0"/>
              <a:t>Positivism</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0056" y="3070348"/>
            <a:ext cx="4031030" cy="1057308"/>
          </a:xfrm>
        </p:spPr>
        <p:txBody>
          <a:bodyPr rtlCol="0">
            <a:normAutofit lnSpcReduction="10000"/>
          </a:bodyPr>
          <a:lstStyle/>
          <a:p>
            <a:pPr rtl="0"/>
            <a:r>
              <a:rPr lang="en-US" dirty="0"/>
              <a:t>assumes that reality is objective and can be measured through observable and quantifiable facts. It characteristically uses statistical and numerical data in controlled or experimental settings. </a:t>
            </a:r>
            <a:endParaRPr lang="en-GB" dirty="0"/>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r>
              <a:rPr lang="en-GB" dirty="0"/>
              <a:t>July 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13</a:t>
            </a:fld>
            <a:endParaRPr lang="en-GB"/>
          </a:p>
        </p:txBody>
      </p:sp>
      <p:sp>
        <p:nvSpPr>
          <p:cNvPr id="23" name="Text Placeholder 3">
            <a:extLst>
              <a:ext uri="{FF2B5EF4-FFF2-40B4-BE49-F238E27FC236}">
                <a16:creationId xmlns:a16="http://schemas.microsoft.com/office/drawing/2014/main" id="{D648E945-1956-B051-1F6D-457415B16F84}"/>
              </a:ext>
            </a:extLst>
          </p:cNvPr>
          <p:cNvSpPr txBox="1">
            <a:spLocks/>
          </p:cNvSpPr>
          <p:nvPr/>
        </p:nvSpPr>
        <p:spPr>
          <a:xfrm>
            <a:off x="50056" y="4277356"/>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an IT researcher evaluating the speed performance of two different algorithms may adopt a positivist paradigm.</a:t>
            </a:r>
            <a:endParaRPr lang="en-GB" dirty="0"/>
          </a:p>
        </p:txBody>
      </p:sp>
      <p:sp>
        <p:nvSpPr>
          <p:cNvPr id="24" name="Content Placeholder 2">
            <a:extLst>
              <a:ext uri="{FF2B5EF4-FFF2-40B4-BE49-F238E27FC236}">
                <a16:creationId xmlns:a16="http://schemas.microsoft.com/office/drawing/2014/main" id="{47E15C08-F7FC-45B7-526E-380E4C9D154A}"/>
              </a:ext>
            </a:extLst>
          </p:cNvPr>
          <p:cNvSpPr txBox="1">
            <a:spLocks/>
          </p:cNvSpPr>
          <p:nvPr/>
        </p:nvSpPr>
        <p:spPr>
          <a:xfrm>
            <a:off x="4134612" y="2560075"/>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Interpretivism </a:t>
            </a:r>
          </a:p>
        </p:txBody>
      </p:sp>
      <p:sp>
        <p:nvSpPr>
          <p:cNvPr id="25" name="Text Placeholder 3">
            <a:extLst>
              <a:ext uri="{FF2B5EF4-FFF2-40B4-BE49-F238E27FC236}">
                <a16:creationId xmlns:a16="http://schemas.microsoft.com/office/drawing/2014/main" id="{9C006FF4-6FC6-EBC4-8B5A-C176176AB91C}"/>
              </a:ext>
            </a:extLst>
          </p:cNvPr>
          <p:cNvSpPr txBox="1">
            <a:spLocks/>
          </p:cNvSpPr>
          <p:nvPr/>
        </p:nvSpPr>
        <p:spPr>
          <a:xfrm>
            <a:off x="4134376" y="3067300"/>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recognises the value of individuals' subjective experiences and perspectives. It is useful to explore complex human behaviours and social phenomena. </a:t>
            </a:r>
            <a:endParaRPr lang="en-GB" dirty="0"/>
          </a:p>
        </p:txBody>
      </p:sp>
      <p:sp>
        <p:nvSpPr>
          <p:cNvPr id="26" name="Text Placeholder 3">
            <a:extLst>
              <a:ext uri="{FF2B5EF4-FFF2-40B4-BE49-F238E27FC236}">
                <a16:creationId xmlns:a16="http://schemas.microsoft.com/office/drawing/2014/main" id="{A7F1380A-FD90-4D17-8156-8E857FD85854}"/>
              </a:ext>
            </a:extLst>
          </p:cNvPr>
          <p:cNvSpPr txBox="1">
            <a:spLocks/>
          </p:cNvSpPr>
          <p:nvPr/>
        </p:nvSpPr>
        <p:spPr>
          <a:xfrm>
            <a:off x="4134376" y="4274308"/>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research that explores how experienced software developers  experience debugging could utilise an interpretivist lens.</a:t>
            </a:r>
            <a:endParaRPr lang="en-GB" dirty="0"/>
          </a:p>
        </p:txBody>
      </p:sp>
      <p:sp>
        <p:nvSpPr>
          <p:cNvPr id="27" name="Content Placeholder 2">
            <a:extLst>
              <a:ext uri="{FF2B5EF4-FFF2-40B4-BE49-F238E27FC236}">
                <a16:creationId xmlns:a16="http://schemas.microsoft.com/office/drawing/2014/main" id="{4A4DA21E-B4FB-840E-3402-02C87A9DF9AC}"/>
              </a:ext>
            </a:extLst>
          </p:cNvPr>
          <p:cNvSpPr txBox="1">
            <a:spLocks/>
          </p:cNvSpPr>
          <p:nvPr/>
        </p:nvSpPr>
        <p:spPr>
          <a:xfrm>
            <a:off x="8051292" y="2566068"/>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Pragmatism</a:t>
            </a:r>
          </a:p>
        </p:txBody>
      </p:sp>
      <p:sp>
        <p:nvSpPr>
          <p:cNvPr id="28" name="Text Placeholder 3">
            <a:extLst>
              <a:ext uri="{FF2B5EF4-FFF2-40B4-BE49-F238E27FC236}">
                <a16:creationId xmlns:a16="http://schemas.microsoft.com/office/drawing/2014/main" id="{07DDCCB7-420E-86B3-CE24-7026756CAC8F}"/>
              </a:ext>
            </a:extLst>
          </p:cNvPr>
          <p:cNvSpPr txBox="1">
            <a:spLocks/>
          </p:cNvSpPr>
          <p:nvPr/>
        </p:nvSpPr>
        <p:spPr>
          <a:xfrm>
            <a:off x="8051056" y="3073293"/>
            <a:ext cx="4031030" cy="1057308"/>
          </a:xfrm>
          <a:prstGeom prst="rect">
            <a:avLst/>
          </a:prstGeom>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is an adaptable and problem-</a:t>
            </a:r>
            <a:r>
              <a:rPr lang="en-US" dirty="0" err="1"/>
              <a:t>centred</a:t>
            </a:r>
            <a:r>
              <a:rPr lang="en-US" dirty="0"/>
              <a:t> paradigm. It aims to achieve practical outcomes and may employ a combination of quantitative and qualitative methods to address the research objectives.</a:t>
            </a:r>
            <a:endParaRPr lang="en-GB" dirty="0"/>
          </a:p>
        </p:txBody>
      </p:sp>
      <p:sp>
        <p:nvSpPr>
          <p:cNvPr id="29" name="Text Placeholder 3">
            <a:extLst>
              <a:ext uri="{FF2B5EF4-FFF2-40B4-BE49-F238E27FC236}">
                <a16:creationId xmlns:a16="http://schemas.microsoft.com/office/drawing/2014/main" id="{24B2DE8C-BCFC-2446-EE99-0ECF0BDFA6F3}"/>
              </a:ext>
            </a:extLst>
          </p:cNvPr>
          <p:cNvSpPr txBox="1">
            <a:spLocks/>
          </p:cNvSpPr>
          <p:nvPr/>
        </p:nvSpPr>
        <p:spPr>
          <a:xfrm>
            <a:off x="8051056" y="4280301"/>
            <a:ext cx="4031030" cy="1057308"/>
          </a:xfrm>
          <a:prstGeom prst="rect">
            <a:avLst/>
          </a:prstGeom>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a study could utilise quantitative data from system usage logs and combine it with qualitative data from user feedback interviews to evaluate the effectiveness of a learning management system.</a:t>
            </a:r>
            <a:endParaRPr lang="en-GB" dirty="0"/>
          </a:p>
        </p:txBody>
      </p:sp>
    </p:spTree>
    <p:extLst>
      <p:ext uri="{BB962C8B-B14F-4D97-AF65-F5344CB8AC3E}">
        <p14:creationId xmlns:p14="http://schemas.microsoft.com/office/powerpoint/2010/main" val="159392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7B0370A-358D-BC74-FBB9-B84F5F9C6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530E-E026-8CA2-02F7-B5B0BBF55D7C}"/>
              </a:ext>
            </a:extLst>
          </p:cNvPr>
          <p:cNvSpPr>
            <a:spLocks noGrp="1"/>
          </p:cNvSpPr>
          <p:nvPr>
            <p:ph type="title"/>
          </p:nvPr>
        </p:nvSpPr>
        <p:spPr>
          <a:xfrm>
            <a:off x="1271762" y="891329"/>
            <a:ext cx="9648476" cy="1325563"/>
          </a:xfrm>
        </p:spPr>
        <p:txBody>
          <a:bodyPr rtlCol="0">
            <a:normAutofit fontScale="90000"/>
          </a:bodyPr>
          <a:lstStyle/>
          <a:p>
            <a:r>
              <a:rPr lang="en-US" dirty="0">
                <a:solidFill>
                  <a:schemeClr val="tx1"/>
                </a:solidFill>
              </a:rPr>
              <a:t>The research approach – </a:t>
            </a:r>
            <a:br>
              <a:rPr lang="en-US" dirty="0">
                <a:solidFill>
                  <a:schemeClr val="tx1"/>
                </a:solidFill>
              </a:rPr>
            </a:br>
            <a:r>
              <a:rPr lang="en-US" sz="2200" dirty="0">
                <a:solidFill>
                  <a:schemeClr val="tx1"/>
                </a:solidFill>
              </a:rPr>
              <a:t>A broad philosophical framework that shapes the direction of research, reflecting the data collection type and how it will be analysed </a:t>
            </a:r>
            <a:r>
              <a:rPr lang="en-US" sz="1400" dirty="0">
                <a:solidFill>
                  <a:schemeClr val="tx1"/>
                </a:solidFill>
              </a:rPr>
              <a:t>(Creswell,2009) </a:t>
            </a:r>
            <a:endParaRPr lang="en-GB" sz="1400" dirty="0">
              <a:solidFill>
                <a:schemeClr val="tx1"/>
              </a:solidFill>
            </a:endParaRPr>
          </a:p>
        </p:txBody>
      </p:sp>
      <p:sp>
        <p:nvSpPr>
          <p:cNvPr id="3" name="Content Placeholder 2">
            <a:extLst>
              <a:ext uri="{FF2B5EF4-FFF2-40B4-BE49-F238E27FC236}">
                <a16:creationId xmlns:a16="http://schemas.microsoft.com/office/drawing/2014/main" id="{34A46789-09A2-6D12-1D97-EFF989D9685D}"/>
              </a:ext>
            </a:extLst>
          </p:cNvPr>
          <p:cNvSpPr>
            <a:spLocks noGrp="1"/>
          </p:cNvSpPr>
          <p:nvPr>
            <p:ph type="body" sz="quarter" idx="13"/>
          </p:nvPr>
        </p:nvSpPr>
        <p:spPr>
          <a:xfrm>
            <a:off x="50292" y="2563123"/>
            <a:ext cx="4031945" cy="365125"/>
          </a:xfrm>
        </p:spPr>
        <p:txBody>
          <a:bodyPr vert="horz" lIns="91440" tIns="45720" rIns="91440" bIns="45720" rtlCol="0" anchor="t">
            <a:normAutofit lnSpcReduction="10000"/>
          </a:bodyPr>
          <a:lstStyle/>
          <a:p>
            <a:pPr rtl="0"/>
            <a:r>
              <a:rPr lang="en-GB" b="1" dirty="0">
                <a:solidFill>
                  <a:schemeClr val="tx1"/>
                </a:solidFill>
              </a:rPr>
              <a:t>Quantitative</a:t>
            </a:r>
          </a:p>
        </p:txBody>
      </p:sp>
      <p:sp>
        <p:nvSpPr>
          <p:cNvPr id="4" name="Text Placeholder 3">
            <a:extLst>
              <a:ext uri="{FF2B5EF4-FFF2-40B4-BE49-F238E27FC236}">
                <a16:creationId xmlns:a16="http://schemas.microsoft.com/office/drawing/2014/main" id="{372713EC-BCE8-AFEF-2FD5-D28399FDE08A}"/>
              </a:ext>
            </a:extLst>
          </p:cNvPr>
          <p:cNvSpPr>
            <a:spLocks noGrp="1"/>
          </p:cNvSpPr>
          <p:nvPr>
            <p:ph type="body" sz="quarter" idx="15"/>
          </p:nvPr>
        </p:nvSpPr>
        <p:spPr>
          <a:xfrm>
            <a:off x="50056" y="3070348"/>
            <a:ext cx="4031030" cy="1057308"/>
          </a:xfrm>
        </p:spPr>
        <p:txBody>
          <a:bodyPr rtlCol="0">
            <a:normAutofit/>
          </a:bodyPr>
          <a:lstStyle/>
          <a:p>
            <a:pPr rtl="0"/>
            <a:r>
              <a:rPr lang="en-US" dirty="0">
                <a:solidFill>
                  <a:schemeClr val="tx1"/>
                </a:solidFill>
              </a:rPr>
              <a:t>This approach uses numerical data to test hypotheses. </a:t>
            </a:r>
            <a:endParaRPr lang="en-GB" dirty="0">
              <a:solidFill>
                <a:schemeClr val="tx1"/>
              </a:solidFill>
            </a:endParaRPr>
          </a:p>
        </p:txBody>
      </p:sp>
      <p:sp>
        <p:nvSpPr>
          <p:cNvPr id="80" name="Date Placeholder 79">
            <a:extLst>
              <a:ext uri="{FF2B5EF4-FFF2-40B4-BE49-F238E27FC236}">
                <a16:creationId xmlns:a16="http://schemas.microsoft.com/office/drawing/2014/main" id="{DF019210-502F-A854-3F75-82B286BBEBE6}"/>
              </a:ext>
            </a:extLst>
          </p:cNvPr>
          <p:cNvSpPr>
            <a:spLocks noGrp="1"/>
          </p:cNvSpPr>
          <p:nvPr>
            <p:ph type="dt" sz="half" idx="20"/>
          </p:nvPr>
        </p:nvSpPr>
        <p:spPr>
          <a:xfrm>
            <a:off x="838200" y="6356350"/>
            <a:ext cx="2743200" cy="365125"/>
          </a:xfrm>
        </p:spPr>
        <p:txBody>
          <a:bodyPr rtlCol="0"/>
          <a:lstStyle/>
          <a:p>
            <a:r>
              <a:rPr lang="en-GB" dirty="0">
                <a:solidFill>
                  <a:schemeClr val="tx1"/>
                </a:solidFill>
              </a:rPr>
              <a:t>July </a:t>
            </a:r>
            <a:r>
              <a:rPr lang="en-GB" dirty="0"/>
              <a:t>2026</a:t>
            </a:r>
            <a:endParaRPr lang="en-GB" dirty="0">
              <a:solidFill>
                <a:schemeClr val="tx1"/>
              </a:solidFill>
            </a:endParaRPr>
          </a:p>
        </p:txBody>
      </p:sp>
      <p:sp>
        <p:nvSpPr>
          <p:cNvPr id="81" name="Footer Placeholder 80">
            <a:extLst>
              <a:ext uri="{FF2B5EF4-FFF2-40B4-BE49-F238E27FC236}">
                <a16:creationId xmlns:a16="http://schemas.microsoft.com/office/drawing/2014/main" id="{F173F6B3-8ADE-80C6-D33D-D9F91351DF65}"/>
              </a:ext>
            </a:extLst>
          </p:cNvPr>
          <p:cNvSpPr>
            <a:spLocks noGrp="1"/>
          </p:cNvSpPr>
          <p:nvPr>
            <p:ph type="ftr" sz="quarter" idx="21"/>
          </p:nvPr>
        </p:nvSpPr>
        <p:spPr>
          <a:xfrm>
            <a:off x="4038600" y="6356350"/>
            <a:ext cx="4114800" cy="365125"/>
          </a:xfrm>
        </p:spPr>
        <p:txBody>
          <a:bodyPr rtlCol="0"/>
          <a:lstStyle/>
          <a:p>
            <a:pPr rtl="0"/>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560B5D58-F9F4-7B3E-4BB9-5FF94D96BB83}"/>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14</a:t>
            </a:fld>
            <a:endParaRPr lang="en-GB">
              <a:solidFill>
                <a:schemeClr val="tx1"/>
              </a:solidFill>
            </a:endParaRPr>
          </a:p>
        </p:txBody>
      </p:sp>
      <p:sp>
        <p:nvSpPr>
          <p:cNvPr id="23" name="Text Placeholder 3">
            <a:extLst>
              <a:ext uri="{FF2B5EF4-FFF2-40B4-BE49-F238E27FC236}">
                <a16:creationId xmlns:a16="http://schemas.microsoft.com/office/drawing/2014/main" id="{147822A2-BB41-B5D4-F50A-2482FDEE6213}"/>
              </a:ext>
            </a:extLst>
          </p:cNvPr>
          <p:cNvSpPr txBox="1">
            <a:spLocks/>
          </p:cNvSpPr>
          <p:nvPr/>
        </p:nvSpPr>
        <p:spPr>
          <a:xfrm>
            <a:off x="50056" y="4277356"/>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statistical data can be used to evaluate system load times across multiple servers.</a:t>
            </a:r>
            <a:endParaRPr lang="en-GB" dirty="0">
              <a:solidFill>
                <a:schemeClr val="tx1"/>
              </a:solidFill>
            </a:endParaRPr>
          </a:p>
        </p:txBody>
      </p:sp>
      <p:sp>
        <p:nvSpPr>
          <p:cNvPr id="24" name="Content Placeholder 2">
            <a:extLst>
              <a:ext uri="{FF2B5EF4-FFF2-40B4-BE49-F238E27FC236}">
                <a16:creationId xmlns:a16="http://schemas.microsoft.com/office/drawing/2014/main" id="{4FEC456E-487A-1170-EFBF-40857A84BB91}"/>
              </a:ext>
            </a:extLst>
          </p:cNvPr>
          <p:cNvSpPr txBox="1">
            <a:spLocks/>
          </p:cNvSpPr>
          <p:nvPr/>
        </p:nvSpPr>
        <p:spPr>
          <a:xfrm>
            <a:off x="4134612" y="2560075"/>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Qualitative </a:t>
            </a:r>
          </a:p>
        </p:txBody>
      </p:sp>
      <p:sp>
        <p:nvSpPr>
          <p:cNvPr id="25" name="Text Placeholder 3">
            <a:extLst>
              <a:ext uri="{FF2B5EF4-FFF2-40B4-BE49-F238E27FC236}">
                <a16:creationId xmlns:a16="http://schemas.microsoft.com/office/drawing/2014/main" id="{B1F10091-0BC6-A5D2-7184-C61ECDE576D3}"/>
              </a:ext>
            </a:extLst>
          </p:cNvPr>
          <p:cNvSpPr txBox="1">
            <a:spLocks/>
          </p:cNvSpPr>
          <p:nvPr/>
        </p:nvSpPr>
        <p:spPr>
          <a:xfrm>
            <a:off x="4134376" y="3067300"/>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Explores phenomena through detailed narratives. </a:t>
            </a:r>
            <a:endParaRPr lang="en-GB" dirty="0">
              <a:solidFill>
                <a:schemeClr val="tx1"/>
              </a:solidFill>
            </a:endParaRPr>
          </a:p>
        </p:txBody>
      </p:sp>
      <p:sp>
        <p:nvSpPr>
          <p:cNvPr id="26" name="Text Placeholder 3">
            <a:extLst>
              <a:ext uri="{FF2B5EF4-FFF2-40B4-BE49-F238E27FC236}">
                <a16:creationId xmlns:a16="http://schemas.microsoft.com/office/drawing/2014/main" id="{C64D758D-92C0-6CD0-B24E-FE386098CF07}"/>
              </a:ext>
            </a:extLst>
          </p:cNvPr>
          <p:cNvSpPr txBox="1">
            <a:spLocks/>
          </p:cNvSpPr>
          <p:nvPr/>
        </p:nvSpPr>
        <p:spPr>
          <a:xfrm>
            <a:off x="4134376" y="4274308"/>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interviewing software developers about their experiences with agile methodology.</a:t>
            </a:r>
            <a:endParaRPr lang="en-GB" dirty="0">
              <a:solidFill>
                <a:schemeClr val="tx1"/>
              </a:solidFill>
            </a:endParaRPr>
          </a:p>
        </p:txBody>
      </p:sp>
      <p:sp>
        <p:nvSpPr>
          <p:cNvPr id="27" name="Content Placeholder 2">
            <a:extLst>
              <a:ext uri="{FF2B5EF4-FFF2-40B4-BE49-F238E27FC236}">
                <a16:creationId xmlns:a16="http://schemas.microsoft.com/office/drawing/2014/main" id="{5D37CE1D-55C8-EF36-7202-43739C567ECF}"/>
              </a:ext>
            </a:extLst>
          </p:cNvPr>
          <p:cNvSpPr txBox="1">
            <a:spLocks/>
          </p:cNvSpPr>
          <p:nvPr/>
        </p:nvSpPr>
        <p:spPr>
          <a:xfrm>
            <a:off x="8069580" y="2593500"/>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Mixed Methods</a:t>
            </a:r>
          </a:p>
        </p:txBody>
      </p:sp>
      <p:sp>
        <p:nvSpPr>
          <p:cNvPr id="28" name="Text Placeholder 3">
            <a:extLst>
              <a:ext uri="{FF2B5EF4-FFF2-40B4-BE49-F238E27FC236}">
                <a16:creationId xmlns:a16="http://schemas.microsoft.com/office/drawing/2014/main" id="{00AFD46C-286B-BF32-DC76-4E287DB86BC9}"/>
              </a:ext>
            </a:extLst>
          </p:cNvPr>
          <p:cNvSpPr txBox="1">
            <a:spLocks/>
          </p:cNvSpPr>
          <p:nvPr/>
        </p:nvSpPr>
        <p:spPr>
          <a:xfrm>
            <a:off x="8069344" y="3100725"/>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Combines both</a:t>
            </a:r>
            <a:endParaRPr lang="en-GB" dirty="0">
              <a:solidFill>
                <a:schemeClr val="tx1"/>
              </a:solidFill>
            </a:endParaRPr>
          </a:p>
        </p:txBody>
      </p:sp>
      <p:sp>
        <p:nvSpPr>
          <p:cNvPr id="29" name="Text Placeholder 3">
            <a:extLst>
              <a:ext uri="{FF2B5EF4-FFF2-40B4-BE49-F238E27FC236}">
                <a16:creationId xmlns:a16="http://schemas.microsoft.com/office/drawing/2014/main" id="{32322FB7-D4C0-6FC9-3B06-06D76D716083}"/>
              </a:ext>
            </a:extLst>
          </p:cNvPr>
          <p:cNvSpPr txBox="1">
            <a:spLocks/>
          </p:cNvSpPr>
          <p:nvPr/>
        </p:nvSpPr>
        <p:spPr>
          <a:xfrm>
            <a:off x="8069344" y="4307733"/>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using a survey to assess usability issues in a mobile app, followed by interviews to explore the reasons.</a:t>
            </a:r>
            <a:endParaRPr lang="en-GB" dirty="0">
              <a:solidFill>
                <a:schemeClr val="tx1"/>
              </a:solidFill>
            </a:endParaRPr>
          </a:p>
        </p:txBody>
      </p:sp>
    </p:spTree>
    <p:extLst>
      <p:ext uri="{BB962C8B-B14F-4D97-AF65-F5344CB8AC3E}">
        <p14:creationId xmlns:p14="http://schemas.microsoft.com/office/powerpoint/2010/main" val="885608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13729" y="3238007"/>
            <a:ext cx="3617023" cy="846301"/>
          </a:xfrm>
        </p:spPr>
        <p:txBody>
          <a:bodyPr rtlCol="0">
            <a:normAutofit fontScale="90000"/>
          </a:bodyPr>
          <a:lstStyle/>
          <a:p>
            <a:pPr rtl="0"/>
            <a:r>
              <a:rPr lang="en-GB" dirty="0"/>
              <a:t>Research </a:t>
            </a:r>
            <a:br>
              <a:rPr lang="en-GB" dirty="0"/>
            </a:br>
            <a:r>
              <a:rPr lang="en-GB" dirty="0"/>
              <a:t>Methodology</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010912" y="394068"/>
            <a:ext cx="6986016" cy="1626756"/>
          </a:xfrm>
        </p:spPr>
        <p:txBody>
          <a:bodyPr rtlCol="0">
            <a:noAutofit/>
          </a:bodyPr>
          <a:lstStyle/>
          <a:p>
            <a:pPr rtl="0"/>
            <a:r>
              <a:rPr lang="en-US" sz="1800" noProof="1"/>
              <a:t>… the overall plan and process that directs how a research study is conducted. </a:t>
            </a:r>
          </a:p>
          <a:p>
            <a:pPr rtl="0"/>
            <a:r>
              <a:rPr lang="en-US" sz="1800" noProof="1"/>
              <a:t>… involves the systematic choices a researcher makes regarding what type of data to gather, how to gather it, who to gather it from, and how to analyse it to address the research questions. </a:t>
            </a:r>
            <a:endParaRPr lang="en-GB" sz="1800" noProof="1"/>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010912" y="2079080"/>
            <a:ext cx="6986016" cy="557950"/>
          </a:xfrm>
        </p:spPr>
        <p:txBody>
          <a:bodyPr rtlCol="0">
            <a:noAutofit/>
          </a:bodyPr>
          <a:lstStyle/>
          <a:p>
            <a:pPr rtl="0"/>
            <a:r>
              <a:rPr lang="en-GB" sz="1800" noProof="1"/>
              <a:t>…</a:t>
            </a:r>
            <a:r>
              <a:rPr lang="en-US" sz="1800" noProof="1"/>
              <a:t>a systematic journey towards finding answers to research questions. </a:t>
            </a:r>
          </a:p>
          <a:p>
            <a:pPr rtl="0"/>
            <a:r>
              <a:rPr lang="en-US" sz="1800" noProof="1"/>
              <a:t>… just as a traveller must choose a destination and find the best route, a researcher must decide what to investigate and how to do it effectively. Each stage demands careful selection of appropriate methods, tools, and procedures throughout this process </a:t>
            </a:r>
            <a:r>
              <a:rPr lang="en-US" sz="1200" noProof="1"/>
              <a:t>(Kumar, 2011).</a:t>
            </a:r>
            <a:r>
              <a:rPr lang="en-GB" sz="1200" noProof="1"/>
              <a:t> </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010912" y="4303588"/>
            <a:ext cx="6986016" cy="1411412"/>
          </a:xfrm>
        </p:spPr>
        <p:txBody>
          <a:bodyPr rtlCol="0">
            <a:noAutofit/>
          </a:bodyPr>
          <a:lstStyle/>
          <a:p>
            <a:pPr rtl="0"/>
            <a:r>
              <a:rPr lang="en-GB" sz="1800" noProof="1"/>
              <a:t>… n</a:t>
            </a:r>
            <a:r>
              <a:rPr lang="en-US" sz="1800" noProof="1"/>
              <a:t>ot only about the choices made but also about why those choices are suitable for the research problem. </a:t>
            </a:r>
          </a:p>
          <a:p>
            <a:r>
              <a:rPr lang="en-US" sz="1800" noProof="1"/>
              <a:t>… includes a clear justification for each decision, whether it's selecting interviews over surveys or statistical analysis over thematic coding, by demonstrating how the methods align with the research aims and questions </a:t>
            </a:r>
            <a:r>
              <a:rPr lang="en-US" sz="1200" noProof="1"/>
              <a:t>(GradCoach, 2025)</a:t>
            </a:r>
            <a:r>
              <a:rPr lang="en-US" sz="1800" noProof="1"/>
              <a:t>.</a:t>
            </a:r>
            <a:r>
              <a:rPr lang="en-GB" sz="1800" noProof="1"/>
              <a:t>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15</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CFAA-9870-026E-D486-329D58863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AF36F-3C39-578C-8067-5B3180B51F3A}"/>
              </a:ext>
            </a:extLst>
          </p:cNvPr>
          <p:cNvSpPr>
            <a:spLocks noGrp="1"/>
          </p:cNvSpPr>
          <p:nvPr>
            <p:ph type="title"/>
          </p:nvPr>
        </p:nvSpPr>
        <p:spPr>
          <a:xfrm>
            <a:off x="113729" y="3238007"/>
            <a:ext cx="3617023" cy="846301"/>
          </a:xfrm>
        </p:spPr>
        <p:txBody>
          <a:bodyPr rtlCol="0">
            <a:normAutofit fontScale="90000"/>
          </a:bodyPr>
          <a:lstStyle/>
          <a:p>
            <a:pPr rtl="0"/>
            <a:r>
              <a:rPr lang="en-GB" dirty="0"/>
              <a:t>Research </a:t>
            </a:r>
            <a:br>
              <a:rPr lang="en-GB" dirty="0"/>
            </a:br>
            <a:r>
              <a:rPr lang="en-GB" dirty="0"/>
              <a:t>Methodology</a:t>
            </a:r>
          </a:p>
        </p:txBody>
      </p:sp>
      <p:sp>
        <p:nvSpPr>
          <p:cNvPr id="7" name="Text Placeholder 6">
            <a:extLst>
              <a:ext uri="{FF2B5EF4-FFF2-40B4-BE49-F238E27FC236}">
                <a16:creationId xmlns:a16="http://schemas.microsoft.com/office/drawing/2014/main" id="{60F60955-B85E-FFFC-7B1E-328E5002D3D5}"/>
              </a:ext>
            </a:extLst>
          </p:cNvPr>
          <p:cNvSpPr>
            <a:spLocks noGrp="1"/>
          </p:cNvSpPr>
          <p:nvPr>
            <p:ph type="body" sz="quarter" idx="15"/>
          </p:nvPr>
        </p:nvSpPr>
        <p:spPr>
          <a:xfrm>
            <a:off x="5010912" y="878700"/>
            <a:ext cx="6986016" cy="4260228"/>
          </a:xfrm>
        </p:spPr>
        <p:txBody>
          <a:bodyPr rtlCol="0">
            <a:noAutofit/>
          </a:bodyPr>
          <a:lstStyle/>
          <a:p>
            <a:pPr rtl="0"/>
            <a:r>
              <a:rPr lang="en-US" sz="1800" noProof="1"/>
              <a:t>… is distinct from research design. </a:t>
            </a:r>
          </a:p>
          <a:p>
            <a:pPr rtl="0"/>
            <a:endParaRPr lang="en-US" sz="1800" noProof="1"/>
          </a:p>
          <a:p>
            <a:pPr rtl="0"/>
            <a:r>
              <a:rPr lang="en-US" sz="1800" noProof="1"/>
              <a:t>…While research design refers to the overall framework of the study (e.g., experimental, case study, or ethnographic), research methodology focuses on the detailed procedures and techniques used to implement that design effectively.</a:t>
            </a:r>
          </a:p>
          <a:p>
            <a:pPr rtl="0"/>
            <a:endParaRPr lang="en-US" sz="1800" noProof="1"/>
          </a:p>
          <a:p>
            <a:r>
              <a:rPr lang="en-US" sz="1800" noProof="1"/>
              <a:t>… </a:t>
            </a:r>
            <a:r>
              <a:rPr lang="en-GB" sz="1800" dirty="0"/>
              <a:t>acts as the link between your research questions and the evidence you collect. </a:t>
            </a:r>
          </a:p>
          <a:p>
            <a:endParaRPr lang="en-GB" sz="1800" dirty="0"/>
          </a:p>
          <a:p>
            <a:r>
              <a:rPr lang="en-GB" sz="1800" dirty="0"/>
              <a:t>… It guarantees that your investigation remains logical, cohesive, and credible so that your findings are reliable and your conclusions are well-supported.</a:t>
            </a:r>
            <a:endParaRPr lang="en-GB" sz="1800" noProof="1"/>
          </a:p>
        </p:txBody>
      </p:sp>
      <p:sp>
        <p:nvSpPr>
          <p:cNvPr id="32" name="Date Placeholder 31">
            <a:extLst>
              <a:ext uri="{FF2B5EF4-FFF2-40B4-BE49-F238E27FC236}">
                <a16:creationId xmlns:a16="http://schemas.microsoft.com/office/drawing/2014/main" id="{49D00131-CEBB-CF93-A165-91675F6EE5F9}"/>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3" name="Footer Placeholder 2">
            <a:extLst>
              <a:ext uri="{FF2B5EF4-FFF2-40B4-BE49-F238E27FC236}">
                <a16:creationId xmlns:a16="http://schemas.microsoft.com/office/drawing/2014/main" id="{3C2BB2E3-0319-F303-C6DC-94461B28530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2EEAD98A-31A5-F9C2-402B-72579F18CE45}"/>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16</a:t>
            </a:fld>
            <a:endParaRPr lang="en-GB" dirty="0"/>
          </a:p>
        </p:txBody>
      </p:sp>
    </p:spTree>
    <p:extLst>
      <p:ext uri="{BB962C8B-B14F-4D97-AF65-F5344CB8AC3E}">
        <p14:creationId xmlns:p14="http://schemas.microsoft.com/office/powerpoint/2010/main" val="2045509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3EB3-E6F0-493A-9AFE-1232C9239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50B93-E75E-2C98-4008-783A0CC0B8B7}"/>
              </a:ext>
            </a:extLst>
          </p:cNvPr>
          <p:cNvSpPr>
            <a:spLocks noGrp="1"/>
          </p:cNvSpPr>
          <p:nvPr>
            <p:ph type="title"/>
          </p:nvPr>
        </p:nvSpPr>
        <p:spPr>
          <a:xfrm>
            <a:off x="1271762" y="395545"/>
            <a:ext cx="9648476" cy="1325563"/>
          </a:xfrm>
        </p:spPr>
        <p:txBody>
          <a:bodyPr rtlCol="0">
            <a:normAutofit fontScale="90000"/>
          </a:bodyPr>
          <a:lstStyle/>
          <a:p>
            <a:r>
              <a:rPr lang="en-US" dirty="0"/>
              <a:t>research design –</a:t>
            </a:r>
            <a:br>
              <a:rPr lang="en-US" dirty="0"/>
            </a:br>
            <a:r>
              <a:rPr lang="en-US" sz="2200" dirty="0"/>
              <a:t>The overall blueprint that integrates the components of a study coherently, outlining how data will be collected, measured, and analysed </a:t>
            </a:r>
            <a:r>
              <a:rPr lang="en-US" sz="1400" dirty="0"/>
              <a:t>(Cohen, Manion, and Morrison, 2017) </a:t>
            </a:r>
            <a:endParaRPr lang="en-GB" sz="1400" dirty="0"/>
          </a:p>
        </p:txBody>
      </p:sp>
      <p:sp>
        <p:nvSpPr>
          <p:cNvPr id="3" name="Content Placeholder 2">
            <a:extLst>
              <a:ext uri="{FF2B5EF4-FFF2-40B4-BE49-F238E27FC236}">
                <a16:creationId xmlns:a16="http://schemas.microsoft.com/office/drawing/2014/main" id="{32C65B8E-80E8-5F79-DDE0-8904698FFD1C}"/>
              </a:ext>
            </a:extLst>
          </p:cNvPr>
          <p:cNvSpPr>
            <a:spLocks noGrp="1"/>
          </p:cNvSpPr>
          <p:nvPr>
            <p:ph type="body" sz="quarter" idx="13"/>
          </p:nvPr>
        </p:nvSpPr>
        <p:spPr>
          <a:xfrm>
            <a:off x="50292" y="3422659"/>
            <a:ext cx="4031945" cy="365125"/>
          </a:xfrm>
        </p:spPr>
        <p:txBody>
          <a:bodyPr vert="horz" lIns="91440" tIns="45720" rIns="91440" bIns="45720" rtlCol="0" anchor="t">
            <a:normAutofit lnSpcReduction="10000"/>
          </a:bodyPr>
          <a:lstStyle/>
          <a:p>
            <a:pPr rtl="0"/>
            <a:r>
              <a:rPr lang="en-GB" b="1" dirty="0"/>
              <a:t>Descriptive</a:t>
            </a:r>
          </a:p>
        </p:txBody>
      </p:sp>
      <p:sp>
        <p:nvSpPr>
          <p:cNvPr id="4" name="Text Placeholder 3">
            <a:extLst>
              <a:ext uri="{FF2B5EF4-FFF2-40B4-BE49-F238E27FC236}">
                <a16:creationId xmlns:a16="http://schemas.microsoft.com/office/drawing/2014/main" id="{6B8A0B1C-3856-A253-C998-92E47FF2B31C}"/>
              </a:ext>
            </a:extLst>
          </p:cNvPr>
          <p:cNvSpPr>
            <a:spLocks noGrp="1"/>
          </p:cNvSpPr>
          <p:nvPr>
            <p:ph type="body" sz="quarter" idx="15"/>
          </p:nvPr>
        </p:nvSpPr>
        <p:spPr>
          <a:xfrm>
            <a:off x="50056" y="3929884"/>
            <a:ext cx="4031030" cy="1057308"/>
          </a:xfrm>
        </p:spPr>
        <p:txBody>
          <a:bodyPr rtlCol="0">
            <a:normAutofit lnSpcReduction="10000"/>
          </a:bodyPr>
          <a:lstStyle/>
          <a:p>
            <a:pPr rtl="0"/>
            <a:r>
              <a:rPr lang="en-US" dirty="0"/>
              <a:t>This type concentrates on detailing existing conditions, behaviours, or characteristics by systematically collecting information without manipulating variables. In other words, the researcher does not intervene, only collects data.</a:t>
            </a:r>
            <a:endParaRPr lang="en-GB" dirty="0"/>
          </a:p>
        </p:txBody>
      </p:sp>
      <p:sp>
        <p:nvSpPr>
          <p:cNvPr id="80" name="Date Placeholder 79">
            <a:extLst>
              <a:ext uri="{FF2B5EF4-FFF2-40B4-BE49-F238E27FC236}">
                <a16:creationId xmlns:a16="http://schemas.microsoft.com/office/drawing/2014/main" id="{ADFA066B-DC60-3FBC-A42D-77B37016A01E}"/>
              </a:ext>
            </a:extLst>
          </p:cNvPr>
          <p:cNvSpPr>
            <a:spLocks noGrp="1"/>
          </p:cNvSpPr>
          <p:nvPr>
            <p:ph type="dt" sz="half" idx="20"/>
          </p:nvPr>
        </p:nvSpPr>
        <p:spPr>
          <a:xfrm>
            <a:off x="838200" y="6356350"/>
            <a:ext cx="2743200" cy="365125"/>
          </a:xfrm>
        </p:spPr>
        <p:txBody>
          <a:bodyPr rtlCol="0"/>
          <a:lstStyle/>
          <a:p>
            <a:r>
              <a:rPr lang="en-GB" dirty="0"/>
              <a:t>July 2026</a:t>
            </a:r>
          </a:p>
        </p:txBody>
      </p:sp>
      <p:sp>
        <p:nvSpPr>
          <p:cNvPr id="81" name="Footer Placeholder 80">
            <a:extLst>
              <a:ext uri="{FF2B5EF4-FFF2-40B4-BE49-F238E27FC236}">
                <a16:creationId xmlns:a16="http://schemas.microsoft.com/office/drawing/2014/main" id="{27F6127C-BB6F-757C-A83B-9183A0C9AB87}"/>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7F15AD13-2EAC-04C2-F701-14D1113F9702}"/>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17</a:t>
            </a:fld>
            <a:endParaRPr lang="en-GB"/>
          </a:p>
        </p:txBody>
      </p:sp>
      <p:sp>
        <p:nvSpPr>
          <p:cNvPr id="23" name="Text Placeholder 3">
            <a:extLst>
              <a:ext uri="{FF2B5EF4-FFF2-40B4-BE49-F238E27FC236}">
                <a16:creationId xmlns:a16="http://schemas.microsoft.com/office/drawing/2014/main" id="{F71A8525-8F5C-FC0E-7FB0-94537E7A681B}"/>
              </a:ext>
            </a:extLst>
          </p:cNvPr>
          <p:cNvSpPr txBox="1">
            <a:spLocks/>
          </p:cNvSpPr>
          <p:nvPr/>
        </p:nvSpPr>
        <p:spPr>
          <a:xfrm>
            <a:off x="50056" y="5136892"/>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Surveying final-year ICT students to describe their use of ChatGPT in completing coding assignments.</a:t>
            </a:r>
            <a:endParaRPr lang="en-GB" dirty="0"/>
          </a:p>
        </p:txBody>
      </p:sp>
      <p:sp>
        <p:nvSpPr>
          <p:cNvPr id="24" name="Content Placeholder 2">
            <a:extLst>
              <a:ext uri="{FF2B5EF4-FFF2-40B4-BE49-F238E27FC236}">
                <a16:creationId xmlns:a16="http://schemas.microsoft.com/office/drawing/2014/main" id="{88BC521C-1DAF-413E-3CFB-F5B3449E7658}"/>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Correlational </a:t>
            </a:r>
          </a:p>
        </p:txBody>
      </p:sp>
      <p:sp>
        <p:nvSpPr>
          <p:cNvPr id="25" name="Text Placeholder 3">
            <a:extLst>
              <a:ext uri="{FF2B5EF4-FFF2-40B4-BE49-F238E27FC236}">
                <a16:creationId xmlns:a16="http://schemas.microsoft.com/office/drawing/2014/main" id="{CD30D20F-EC7C-B9D1-90BE-9B687A8DDE3D}"/>
              </a:ext>
            </a:extLst>
          </p:cNvPr>
          <p:cNvSpPr txBox="1">
            <a:spLocks/>
          </p:cNvSpPr>
          <p:nvPr/>
        </p:nvSpPr>
        <p:spPr>
          <a:xfrm>
            <a:off x="4134376" y="3926836"/>
            <a:ext cx="4031030" cy="105730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type aims to identify and measure the relationship between two or more variables without manipulating them. In other words, this type of research design is useful when you want to know whether a change in one thing tends to be accompanied by a change in another</a:t>
            </a:r>
            <a:endParaRPr lang="en-GB" dirty="0"/>
          </a:p>
        </p:txBody>
      </p:sp>
      <p:sp>
        <p:nvSpPr>
          <p:cNvPr id="26" name="Text Placeholder 3">
            <a:extLst>
              <a:ext uri="{FF2B5EF4-FFF2-40B4-BE49-F238E27FC236}">
                <a16:creationId xmlns:a16="http://schemas.microsoft.com/office/drawing/2014/main" id="{6135DBB0-B646-8756-7D88-BF7C09E03DDF}"/>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studying the relationship between coding hours and error rates in software projects.</a:t>
            </a:r>
            <a:endParaRPr lang="en-GB" dirty="0"/>
          </a:p>
        </p:txBody>
      </p:sp>
      <p:sp>
        <p:nvSpPr>
          <p:cNvPr id="27" name="Content Placeholder 2">
            <a:extLst>
              <a:ext uri="{FF2B5EF4-FFF2-40B4-BE49-F238E27FC236}">
                <a16:creationId xmlns:a16="http://schemas.microsoft.com/office/drawing/2014/main" id="{0D271FAD-75A3-D0D5-2520-B48F3B2C2063}"/>
              </a:ext>
            </a:extLst>
          </p:cNvPr>
          <p:cNvSpPr txBox="1">
            <a:spLocks/>
          </p:cNvSpPr>
          <p:nvPr/>
        </p:nvSpPr>
        <p:spPr>
          <a:xfrm>
            <a:off x="8051292" y="3425604"/>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Experimental</a:t>
            </a:r>
          </a:p>
        </p:txBody>
      </p:sp>
      <p:sp>
        <p:nvSpPr>
          <p:cNvPr id="28" name="Text Placeholder 3">
            <a:extLst>
              <a:ext uri="{FF2B5EF4-FFF2-40B4-BE49-F238E27FC236}">
                <a16:creationId xmlns:a16="http://schemas.microsoft.com/office/drawing/2014/main" id="{5895FE6E-2F55-FABC-F472-673D5FDFB74E}"/>
              </a:ext>
            </a:extLst>
          </p:cNvPr>
          <p:cNvSpPr txBox="1">
            <a:spLocks/>
          </p:cNvSpPr>
          <p:nvPr/>
        </p:nvSpPr>
        <p:spPr>
          <a:xfrm>
            <a:off x="8051056" y="3932829"/>
            <a:ext cx="4031030" cy="1057308"/>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type is used to establish whether a cause-and-effect relationship exists between two or more variables. In this research design, you, as the researcher, manipulate one variable (the independent variable) while controlling others (dependent variables). It helps you see how the independent variable affects the dependent variable, allowing you to draw conclusions about possible causality</a:t>
            </a:r>
            <a:endParaRPr lang="en-GB" dirty="0"/>
          </a:p>
        </p:txBody>
      </p:sp>
      <p:sp>
        <p:nvSpPr>
          <p:cNvPr id="29" name="Text Placeholder 3">
            <a:extLst>
              <a:ext uri="{FF2B5EF4-FFF2-40B4-BE49-F238E27FC236}">
                <a16:creationId xmlns:a16="http://schemas.microsoft.com/office/drawing/2014/main" id="{FA2FC059-F15A-F407-E019-8838A46124DC}"/>
              </a:ext>
            </a:extLst>
          </p:cNvPr>
          <p:cNvSpPr txBox="1">
            <a:spLocks/>
          </p:cNvSpPr>
          <p:nvPr/>
        </p:nvSpPr>
        <p:spPr>
          <a:xfrm>
            <a:off x="8051056" y="5139837"/>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Testing the effect of an innovative software development teaching tool on student performance.</a:t>
            </a:r>
            <a:endParaRPr lang="en-GB" dirty="0"/>
          </a:p>
        </p:txBody>
      </p:sp>
      <p:sp>
        <p:nvSpPr>
          <p:cNvPr id="6" name="TextBox 5">
            <a:extLst>
              <a:ext uri="{FF2B5EF4-FFF2-40B4-BE49-F238E27FC236}">
                <a16:creationId xmlns:a16="http://schemas.microsoft.com/office/drawing/2014/main" id="{0A9D5A24-4C64-D6D8-85EF-23008BBBCF46}"/>
              </a:ext>
            </a:extLst>
          </p:cNvPr>
          <p:cNvSpPr txBox="1"/>
          <p:nvPr/>
        </p:nvSpPr>
        <p:spPr>
          <a:xfrm>
            <a:off x="3044190" y="2094548"/>
            <a:ext cx="6103620" cy="369332"/>
          </a:xfrm>
          <a:prstGeom prst="rect">
            <a:avLst/>
          </a:prstGeom>
          <a:noFill/>
        </p:spPr>
        <p:txBody>
          <a:bodyPr wrap="square">
            <a:spAutoFit/>
          </a:bodyPr>
          <a:lstStyle/>
          <a:p>
            <a:pPr algn="ctr"/>
            <a:r>
              <a:rPr lang="en-US" b="1" dirty="0">
                <a:solidFill>
                  <a:schemeClr val="bg1"/>
                </a:solidFill>
              </a:rPr>
              <a:t>QUANTITATIVE RESEARCH DESIGNS</a:t>
            </a:r>
            <a:endParaRPr lang="en-GB" b="1" dirty="0">
              <a:solidFill>
                <a:schemeClr val="bg1"/>
              </a:solidFill>
            </a:endParaRPr>
          </a:p>
        </p:txBody>
      </p:sp>
    </p:spTree>
    <p:extLst>
      <p:ext uri="{BB962C8B-B14F-4D97-AF65-F5344CB8AC3E}">
        <p14:creationId xmlns:p14="http://schemas.microsoft.com/office/powerpoint/2010/main" val="2436593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8F88E7-613E-92FC-A765-11A95EF9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7B1BA-67B3-4A77-C288-1DD974B4C617}"/>
              </a:ext>
            </a:extLst>
          </p:cNvPr>
          <p:cNvSpPr>
            <a:spLocks noGrp="1"/>
          </p:cNvSpPr>
          <p:nvPr>
            <p:ph type="title"/>
          </p:nvPr>
        </p:nvSpPr>
        <p:spPr>
          <a:xfrm>
            <a:off x="1271762" y="395545"/>
            <a:ext cx="9648476" cy="1325563"/>
          </a:xfrm>
        </p:spPr>
        <p:txBody>
          <a:bodyPr rtlCol="0">
            <a:normAutofit fontScale="90000"/>
          </a:bodyPr>
          <a:lstStyle/>
          <a:p>
            <a:r>
              <a:rPr lang="en-US" dirty="0">
                <a:solidFill>
                  <a:schemeClr val="tx1"/>
                </a:solidFill>
              </a:rPr>
              <a:t>research design –</a:t>
            </a:r>
            <a:br>
              <a:rPr lang="en-US" dirty="0">
                <a:solidFill>
                  <a:schemeClr val="tx1"/>
                </a:solidFill>
              </a:rPr>
            </a:br>
            <a:r>
              <a:rPr lang="en-US" sz="2200" dirty="0">
                <a:solidFill>
                  <a:schemeClr val="tx1"/>
                </a:solidFill>
              </a:rPr>
              <a:t>The overall blueprint that integrates the components of a study coherently, outlining how data will be collected, measured, and analysed </a:t>
            </a:r>
            <a:r>
              <a:rPr lang="en-US" sz="1400" dirty="0">
                <a:solidFill>
                  <a:schemeClr val="tx1"/>
                </a:solidFill>
              </a:rPr>
              <a:t>(Cohen, Manion, and Morrison, 2017) </a:t>
            </a:r>
            <a:endParaRPr lang="en-GB" sz="1400" dirty="0">
              <a:solidFill>
                <a:schemeClr val="tx1"/>
              </a:solidFill>
            </a:endParaRPr>
          </a:p>
        </p:txBody>
      </p:sp>
      <p:sp>
        <p:nvSpPr>
          <p:cNvPr id="3" name="Content Placeholder 2">
            <a:extLst>
              <a:ext uri="{FF2B5EF4-FFF2-40B4-BE49-F238E27FC236}">
                <a16:creationId xmlns:a16="http://schemas.microsoft.com/office/drawing/2014/main" id="{53BDE9D3-924A-4E75-92FA-046A3CAA520C}"/>
              </a:ext>
            </a:extLst>
          </p:cNvPr>
          <p:cNvSpPr>
            <a:spLocks noGrp="1"/>
          </p:cNvSpPr>
          <p:nvPr>
            <p:ph type="body" sz="quarter" idx="13"/>
          </p:nvPr>
        </p:nvSpPr>
        <p:spPr>
          <a:xfrm>
            <a:off x="50292" y="3422659"/>
            <a:ext cx="4031945" cy="365125"/>
          </a:xfrm>
        </p:spPr>
        <p:txBody>
          <a:bodyPr vert="horz" lIns="91440" tIns="45720" rIns="91440" bIns="45720" rtlCol="0" anchor="t">
            <a:normAutofit lnSpcReduction="10000"/>
          </a:bodyPr>
          <a:lstStyle/>
          <a:p>
            <a:pPr rtl="0"/>
            <a:r>
              <a:rPr lang="en-GB" b="1" dirty="0">
                <a:solidFill>
                  <a:schemeClr val="tx1"/>
                </a:solidFill>
              </a:rPr>
              <a:t>Phenomenological</a:t>
            </a:r>
          </a:p>
        </p:txBody>
      </p:sp>
      <p:sp>
        <p:nvSpPr>
          <p:cNvPr id="4" name="Text Placeholder 3">
            <a:extLst>
              <a:ext uri="{FF2B5EF4-FFF2-40B4-BE49-F238E27FC236}">
                <a16:creationId xmlns:a16="http://schemas.microsoft.com/office/drawing/2014/main" id="{9AB51B94-44F1-FE4E-1251-2D912BEC9404}"/>
              </a:ext>
            </a:extLst>
          </p:cNvPr>
          <p:cNvSpPr>
            <a:spLocks noGrp="1"/>
          </p:cNvSpPr>
          <p:nvPr>
            <p:ph type="body" sz="quarter" idx="15"/>
          </p:nvPr>
        </p:nvSpPr>
        <p:spPr>
          <a:xfrm>
            <a:off x="50056" y="3929884"/>
            <a:ext cx="4031030" cy="1057308"/>
          </a:xfrm>
        </p:spPr>
        <p:txBody>
          <a:bodyPr rtlCol="0">
            <a:normAutofit fontScale="92500" lnSpcReduction="20000"/>
          </a:bodyPr>
          <a:lstStyle/>
          <a:p>
            <a:pPr rtl="0"/>
            <a:r>
              <a:rPr lang="en-US" dirty="0">
                <a:solidFill>
                  <a:schemeClr val="tx1"/>
                </a:solidFill>
              </a:rPr>
              <a:t>It examines the significance of lived experiences and personal perceptions. It aims to understand people’s perspectives, emotions, and behaviours in specific contexts to capture the core of human experience without allowing assumptions or preconceptions to influence their understanding.</a:t>
            </a:r>
            <a:endParaRPr lang="en-GB" dirty="0">
              <a:solidFill>
                <a:schemeClr val="tx1"/>
              </a:solidFill>
            </a:endParaRPr>
          </a:p>
        </p:txBody>
      </p:sp>
      <p:sp>
        <p:nvSpPr>
          <p:cNvPr id="80" name="Date Placeholder 79">
            <a:extLst>
              <a:ext uri="{FF2B5EF4-FFF2-40B4-BE49-F238E27FC236}">
                <a16:creationId xmlns:a16="http://schemas.microsoft.com/office/drawing/2014/main" id="{8E1BE644-072C-3974-D242-41E54A6F0A88}"/>
              </a:ext>
            </a:extLst>
          </p:cNvPr>
          <p:cNvSpPr>
            <a:spLocks noGrp="1"/>
          </p:cNvSpPr>
          <p:nvPr>
            <p:ph type="dt" sz="half" idx="20"/>
          </p:nvPr>
        </p:nvSpPr>
        <p:spPr>
          <a:xfrm>
            <a:off x="838200" y="6356350"/>
            <a:ext cx="2743200" cy="365125"/>
          </a:xfrm>
        </p:spPr>
        <p:txBody>
          <a:bodyPr rtlCol="0"/>
          <a:lstStyle/>
          <a:p>
            <a:r>
              <a:rPr lang="en-GB" dirty="0">
                <a:solidFill>
                  <a:schemeClr val="tx1"/>
                </a:solidFill>
              </a:rPr>
              <a:t>July </a:t>
            </a:r>
            <a:r>
              <a:rPr lang="en-GB" dirty="0"/>
              <a:t>2026</a:t>
            </a:r>
            <a:endParaRPr lang="en-GB" dirty="0">
              <a:solidFill>
                <a:schemeClr val="tx1"/>
              </a:solidFill>
            </a:endParaRPr>
          </a:p>
        </p:txBody>
      </p:sp>
      <p:sp>
        <p:nvSpPr>
          <p:cNvPr id="81" name="Footer Placeholder 80">
            <a:extLst>
              <a:ext uri="{FF2B5EF4-FFF2-40B4-BE49-F238E27FC236}">
                <a16:creationId xmlns:a16="http://schemas.microsoft.com/office/drawing/2014/main" id="{6BF67E60-9B42-7901-5C39-02A63C175BB3}"/>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F482B798-D28E-FF80-C3CB-30D31BAE620C}"/>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18</a:t>
            </a:fld>
            <a:endParaRPr lang="en-GB">
              <a:solidFill>
                <a:schemeClr val="tx1"/>
              </a:solidFill>
            </a:endParaRPr>
          </a:p>
        </p:txBody>
      </p:sp>
      <p:sp>
        <p:nvSpPr>
          <p:cNvPr id="23" name="Text Placeholder 3">
            <a:extLst>
              <a:ext uri="{FF2B5EF4-FFF2-40B4-BE49-F238E27FC236}">
                <a16:creationId xmlns:a16="http://schemas.microsoft.com/office/drawing/2014/main" id="{91DB4812-7C3A-0A47-D550-1FA276FFE338}"/>
              </a:ext>
            </a:extLst>
          </p:cNvPr>
          <p:cNvSpPr txBox="1">
            <a:spLocks/>
          </p:cNvSpPr>
          <p:nvPr/>
        </p:nvSpPr>
        <p:spPr>
          <a:xfrm>
            <a:off x="50056" y="5136892"/>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lived experiences of software developers while working remotely.</a:t>
            </a:r>
            <a:endParaRPr lang="en-GB" dirty="0">
              <a:solidFill>
                <a:schemeClr val="tx1"/>
              </a:solidFill>
            </a:endParaRPr>
          </a:p>
        </p:txBody>
      </p:sp>
      <p:sp>
        <p:nvSpPr>
          <p:cNvPr id="24" name="Content Placeholder 2">
            <a:extLst>
              <a:ext uri="{FF2B5EF4-FFF2-40B4-BE49-F238E27FC236}">
                <a16:creationId xmlns:a16="http://schemas.microsoft.com/office/drawing/2014/main" id="{4758456A-2C6A-CDE3-C72C-DC676A3A162B}"/>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Grounded Theory </a:t>
            </a:r>
          </a:p>
        </p:txBody>
      </p:sp>
      <p:sp>
        <p:nvSpPr>
          <p:cNvPr id="25" name="Text Placeholder 3">
            <a:extLst>
              <a:ext uri="{FF2B5EF4-FFF2-40B4-BE49-F238E27FC236}">
                <a16:creationId xmlns:a16="http://schemas.microsoft.com/office/drawing/2014/main" id="{8A0AE040-D5B4-2062-035C-463823D8D9D2}"/>
              </a:ext>
            </a:extLst>
          </p:cNvPr>
          <p:cNvSpPr txBox="1">
            <a:spLocks/>
          </p:cNvSpPr>
          <p:nvPr/>
        </p:nvSpPr>
        <p:spPr>
          <a:xfrm>
            <a:off x="4134376" y="3926836"/>
            <a:ext cx="4031030" cy="105730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It aims to develop theories through ongoing, repetitive analysis and comparing data gathered from a large group of participants. It uses an inductive (bottom-up) approach, emphasising allowing the data to 'speak for itself' without being influenced by preexisting theories or the researcher’s assumptions</a:t>
            </a:r>
            <a:endParaRPr lang="en-GB" dirty="0">
              <a:solidFill>
                <a:schemeClr val="tx1"/>
              </a:solidFill>
            </a:endParaRPr>
          </a:p>
        </p:txBody>
      </p:sp>
      <p:sp>
        <p:nvSpPr>
          <p:cNvPr id="26" name="Text Placeholder 3">
            <a:extLst>
              <a:ext uri="{FF2B5EF4-FFF2-40B4-BE49-F238E27FC236}">
                <a16:creationId xmlns:a16="http://schemas.microsoft.com/office/drawing/2014/main" id="{6A00CC0C-9715-EF4D-136F-A5256546A53E}"/>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develop a theory based on empirical data that explains why IT employees adopt or resist cybersecurity practices in their daily workflows.</a:t>
            </a:r>
            <a:endParaRPr lang="en-GB" dirty="0">
              <a:solidFill>
                <a:schemeClr val="tx1"/>
              </a:solidFill>
            </a:endParaRPr>
          </a:p>
        </p:txBody>
      </p:sp>
      <p:sp>
        <p:nvSpPr>
          <p:cNvPr id="27" name="Content Placeholder 2">
            <a:extLst>
              <a:ext uri="{FF2B5EF4-FFF2-40B4-BE49-F238E27FC236}">
                <a16:creationId xmlns:a16="http://schemas.microsoft.com/office/drawing/2014/main" id="{DC07E383-85F0-CDB8-E9C8-4FF7A774F63C}"/>
              </a:ext>
            </a:extLst>
          </p:cNvPr>
          <p:cNvSpPr txBox="1">
            <a:spLocks/>
          </p:cNvSpPr>
          <p:nvPr/>
        </p:nvSpPr>
        <p:spPr>
          <a:xfrm>
            <a:off x="8051292" y="3425604"/>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Ethnographic </a:t>
            </a:r>
          </a:p>
        </p:txBody>
      </p:sp>
      <p:sp>
        <p:nvSpPr>
          <p:cNvPr id="28" name="Text Placeholder 3">
            <a:extLst>
              <a:ext uri="{FF2B5EF4-FFF2-40B4-BE49-F238E27FC236}">
                <a16:creationId xmlns:a16="http://schemas.microsoft.com/office/drawing/2014/main" id="{646484A1-D356-08B4-227D-01257D048E2A}"/>
              </a:ext>
            </a:extLst>
          </p:cNvPr>
          <p:cNvSpPr txBox="1">
            <a:spLocks/>
          </p:cNvSpPr>
          <p:nvPr/>
        </p:nvSpPr>
        <p:spPr>
          <a:xfrm>
            <a:off x="8051056" y="3932829"/>
            <a:ext cx="4031030" cy="1057308"/>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It involves observing and studying a group of people sharing a common culture in their natural environment to gain a better understanding of their behaviours, beliefs, and values. The focus is on watching participants in their authentic surroundings rather than in a controlled setting. Typically, the researcher spends considerable time with the participants, observing and recording their activities through field notes.</a:t>
            </a:r>
            <a:endParaRPr lang="en-GB" dirty="0">
              <a:solidFill>
                <a:schemeClr val="tx1"/>
              </a:solidFill>
            </a:endParaRPr>
          </a:p>
        </p:txBody>
      </p:sp>
      <p:sp>
        <p:nvSpPr>
          <p:cNvPr id="29" name="Text Placeholder 3">
            <a:extLst>
              <a:ext uri="{FF2B5EF4-FFF2-40B4-BE49-F238E27FC236}">
                <a16:creationId xmlns:a16="http://schemas.microsoft.com/office/drawing/2014/main" id="{C2883E11-52DE-4A87-DC37-7F5E6F822408}"/>
              </a:ext>
            </a:extLst>
          </p:cNvPr>
          <p:cNvSpPr txBox="1">
            <a:spLocks/>
          </p:cNvSpPr>
          <p:nvPr/>
        </p:nvSpPr>
        <p:spPr>
          <a:xfrm>
            <a:off x="8051056" y="5139837"/>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cultural and social dynamics of contributors in open-source software communities.</a:t>
            </a:r>
            <a:endParaRPr lang="en-GB" dirty="0">
              <a:solidFill>
                <a:schemeClr val="tx1"/>
              </a:solidFill>
            </a:endParaRPr>
          </a:p>
        </p:txBody>
      </p:sp>
      <p:sp>
        <p:nvSpPr>
          <p:cNvPr id="6" name="TextBox 5">
            <a:extLst>
              <a:ext uri="{FF2B5EF4-FFF2-40B4-BE49-F238E27FC236}">
                <a16:creationId xmlns:a16="http://schemas.microsoft.com/office/drawing/2014/main" id="{612CAD89-20A7-DA1C-488E-29575A0D819C}"/>
              </a:ext>
            </a:extLst>
          </p:cNvPr>
          <p:cNvSpPr txBox="1"/>
          <p:nvPr/>
        </p:nvSpPr>
        <p:spPr>
          <a:xfrm>
            <a:off x="3044190" y="2094548"/>
            <a:ext cx="6103620" cy="369332"/>
          </a:xfrm>
          <a:prstGeom prst="rect">
            <a:avLst/>
          </a:prstGeom>
          <a:noFill/>
        </p:spPr>
        <p:txBody>
          <a:bodyPr wrap="square">
            <a:spAutoFit/>
          </a:bodyPr>
          <a:lstStyle/>
          <a:p>
            <a:pPr algn="ctr"/>
            <a:r>
              <a:rPr lang="en-US" b="1" dirty="0"/>
              <a:t>QUALITATIVE RESEARCH DESIGNS</a:t>
            </a:r>
            <a:endParaRPr lang="en-GB" b="1" dirty="0"/>
          </a:p>
        </p:txBody>
      </p:sp>
    </p:spTree>
    <p:extLst>
      <p:ext uri="{BB962C8B-B14F-4D97-AF65-F5344CB8AC3E}">
        <p14:creationId xmlns:p14="http://schemas.microsoft.com/office/powerpoint/2010/main" val="2923756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767753-68C9-D635-1688-670BE2F9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28645-37CC-1652-5362-37EAE1A78CD0}"/>
              </a:ext>
            </a:extLst>
          </p:cNvPr>
          <p:cNvSpPr>
            <a:spLocks noGrp="1"/>
          </p:cNvSpPr>
          <p:nvPr>
            <p:ph type="title"/>
          </p:nvPr>
        </p:nvSpPr>
        <p:spPr>
          <a:xfrm>
            <a:off x="1271762" y="395545"/>
            <a:ext cx="9648476" cy="1325563"/>
          </a:xfrm>
        </p:spPr>
        <p:txBody>
          <a:bodyPr rtlCol="0">
            <a:normAutofit fontScale="90000"/>
          </a:bodyPr>
          <a:lstStyle/>
          <a:p>
            <a:r>
              <a:rPr lang="en-US" dirty="0">
                <a:solidFill>
                  <a:schemeClr val="tx1"/>
                </a:solidFill>
              </a:rPr>
              <a:t>research design –</a:t>
            </a:r>
            <a:br>
              <a:rPr lang="en-US" dirty="0">
                <a:solidFill>
                  <a:schemeClr val="tx1"/>
                </a:solidFill>
              </a:rPr>
            </a:br>
            <a:r>
              <a:rPr lang="en-US" sz="2200" dirty="0">
                <a:solidFill>
                  <a:schemeClr val="tx1"/>
                </a:solidFill>
              </a:rPr>
              <a:t>The overall blueprint that integrates the components of a study coherently, outlining how data will be collected, measured, and analysed </a:t>
            </a:r>
            <a:r>
              <a:rPr lang="en-US" sz="1400" dirty="0">
                <a:solidFill>
                  <a:schemeClr val="tx1"/>
                </a:solidFill>
              </a:rPr>
              <a:t>(Cohen, Manion, and Morrison, 2017) </a:t>
            </a:r>
            <a:endParaRPr lang="en-GB" sz="1400" dirty="0">
              <a:solidFill>
                <a:schemeClr val="tx1"/>
              </a:solidFill>
            </a:endParaRPr>
          </a:p>
        </p:txBody>
      </p:sp>
      <p:sp>
        <p:nvSpPr>
          <p:cNvPr id="80" name="Date Placeholder 79">
            <a:extLst>
              <a:ext uri="{FF2B5EF4-FFF2-40B4-BE49-F238E27FC236}">
                <a16:creationId xmlns:a16="http://schemas.microsoft.com/office/drawing/2014/main" id="{D6A940F8-7883-3BF0-D2ED-B6508EDF3B8D}"/>
              </a:ext>
            </a:extLst>
          </p:cNvPr>
          <p:cNvSpPr>
            <a:spLocks noGrp="1"/>
          </p:cNvSpPr>
          <p:nvPr>
            <p:ph type="dt" sz="half" idx="20"/>
          </p:nvPr>
        </p:nvSpPr>
        <p:spPr>
          <a:xfrm>
            <a:off x="838200" y="6356350"/>
            <a:ext cx="2743200" cy="365125"/>
          </a:xfrm>
        </p:spPr>
        <p:txBody>
          <a:bodyPr rtlCol="0"/>
          <a:lstStyle/>
          <a:p>
            <a:r>
              <a:rPr lang="en-GB" dirty="0">
                <a:solidFill>
                  <a:schemeClr val="tx1"/>
                </a:solidFill>
              </a:rPr>
              <a:t>July </a:t>
            </a:r>
            <a:r>
              <a:rPr lang="en-GB" dirty="0"/>
              <a:t>2026</a:t>
            </a:r>
            <a:endParaRPr lang="en-GB" dirty="0">
              <a:solidFill>
                <a:schemeClr val="tx1"/>
              </a:solidFill>
            </a:endParaRPr>
          </a:p>
        </p:txBody>
      </p:sp>
      <p:sp>
        <p:nvSpPr>
          <p:cNvPr id="81" name="Footer Placeholder 80">
            <a:extLst>
              <a:ext uri="{FF2B5EF4-FFF2-40B4-BE49-F238E27FC236}">
                <a16:creationId xmlns:a16="http://schemas.microsoft.com/office/drawing/2014/main" id="{2BFC1B82-0347-5C1C-CEC6-9CE16169F3BF}"/>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89B2CAB6-1EB1-309A-5BAA-0F67B7916F3F}"/>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19</a:t>
            </a:fld>
            <a:endParaRPr lang="en-GB">
              <a:solidFill>
                <a:schemeClr val="tx1"/>
              </a:solidFill>
            </a:endParaRPr>
          </a:p>
        </p:txBody>
      </p:sp>
      <p:sp>
        <p:nvSpPr>
          <p:cNvPr id="24" name="Content Placeholder 2">
            <a:extLst>
              <a:ext uri="{FF2B5EF4-FFF2-40B4-BE49-F238E27FC236}">
                <a16:creationId xmlns:a16="http://schemas.microsoft.com/office/drawing/2014/main" id="{980EEE5F-1B6C-860D-B7C1-1850A11339BF}"/>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Case Study</a:t>
            </a:r>
          </a:p>
        </p:txBody>
      </p:sp>
      <p:sp>
        <p:nvSpPr>
          <p:cNvPr id="25" name="Text Placeholder 3">
            <a:extLst>
              <a:ext uri="{FF2B5EF4-FFF2-40B4-BE49-F238E27FC236}">
                <a16:creationId xmlns:a16="http://schemas.microsoft.com/office/drawing/2014/main" id="{FB8418E2-3560-B8CC-8187-7B42EBDC5C64}"/>
              </a:ext>
            </a:extLst>
          </p:cNvPr>
          <p:cNvSpPr txBox="1">
            <a:spLocks/>
          </p:cNvSpPr>
          <p:nvPr/>
        </p:nvSpPr>
        <p:spPr>
          <a:xfrm>
            <a:off x="2324100" y="3911338"/>
            <a:ext cx="754380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The researcher investigates a single individual (or a single group of individuals) to understand their experiences, behaviours or outcomes. Unlike other research designs that are aimed at larger sample sizes, case studies offer a deep dive into the specific circumstances surrounding a person, group of people, event or phenomenon, generally within a bounded setting or context.</a:t>
            </a:r>
            <a:endParaRPr lang="en-GB" dirty="0">
              <a:solidFill>
                <a:schemeClr val="tx1"/>
              </a:solidFill>
            </a:endParaRPr>
          </a:p>
        </p:txBody>
      </p:sp>
      <p:sp>
        <p:nvSpPr>
          <p:cNvPr id="26" name="Text Placeholder 3">
            <a:extLst>
              <a:ext uri="{FF2B5EF4-FFF2-40B4-BE49-F238E27FC236}">
                <a16:creationId xmlns:a16="http://schemas.microsoft.com/office/drawing/2014/main" id="{4D01D625-51B2-B33A-ECD2-428505712F5A}"/>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factors influencing the adoption of an information system in a specific small business.</a:t>
            </a:r>
            <a:endParaRPr lang="en-GB" dirty="0">
              <a:solidFill>
                <a:schemeClr val="tx1"/>
              </a:solidFill>
            </a:endParaRPr>
          </a:p>
        </p:txBody>
      </p:sp>
      <p:sp>
        <p:nvSpPr>
          <p:cNvPr id="6" name="TextBox 5">
            <a:extLst>
              <a:ext uri="{FF2B5EF4-FFF2-40B4-BE49-F238E27FC236}">
                <a16:creationId xmlns:a16="http://schemas.microsoft.com/office/drawing/2014/main" id="{F16CBB16-49E5-1144-C8A4-3D8DFEEF6B07}"/>
              </a:ext>
            </a:extLst>
          </p:cNvPr>
          <p:cNvSpPr txBox="1"/>
          <p:nvPr/>
        </p:nvSpPr>
        <p:spPr>
          <a:xfrm>
            <a:off x="3044190" y="2094548"/>
            <a:ext cx="6103620" cy="369332"/>
          </a:xfrm>
          <a:prstGeom prst="rect">
            <a:avLst/>
          </a:prstGeom>
          <a:noFill/>
        </p:spPr>
        <p:txBody>
          <a:bodyPr wrap="square">
            <a:spAutoFit/>
          </a:bodyPr>
          <a:lstStyle/>
          <a:p>
            <a:pPr algn="ctr"/>
            <a:r>
              <a:rPr lang="en-US" b="1" dirty="0"/>
              <a:t>QUALITATIVE RESEARCH DESIGNS</a:t>
            </a:r>
            <a:endParaRPr lang="en-GB" b="1" dirty="0"/>
          </a:p>
        </p:txBody>
      </p:sp>
    </p:spTree>
    <p:extLst>
      <p:ext uri="{BB962C8B-B14F-4D97-AF65-F5344CB8AC3E}">
        <p14:creationId xmlns:p14="http://schemas.microsoft.com/office/powerpoint/2010/main" val="2398717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A945-31FA-D0A4-1299-D80962DBC6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16DEFCC-C664-3F6C-5F6C-B631271F55BB}"/>
              </a:ext>
            </a:extLst>
          </p:cNvPr>
          <p:cNvSpPr>
            <a:spLocks noGrp="1"/>
          </p:cNvSpPr>
          <p:nvPr>
            <p:ph type="title"/>
          </p:nvPr>
        </p:nvSpPr>
        <p:spPr>
          <a:xfrm>
            <a:off x="838200" y="365125"/>
            <a:ext cx="10515600" cy="1325563"/>
          </a:xfrm>
        </p:spPr>
        <p:txBody>
          <a:bodyPr rtlCol="0" anchor="ctr">
            <a:normAutofit fontScale="90000"/>
          </a:bodyPr>
          <a:lstStyle/>
          <a:p>
            <a:r>
              <a:rPr lang="en-US" dirty="0"/>
              <a:t>Research Method –</a:t>
            </a:r>
            <a:br>
              <a:rPr lang="en-US" dirty="0"/>
            </a:br>
            <a:r>
              <a:rPr lang="en-GB" sz="2200" dirty="0"/>
              <a:t>the actual techniques used for data collection and analysis chosen based on the design and guided by the methodology (</a:t>
            </a:r>
            <a:r>
              <a:rPr lang="en-GB" sz="1800" dirty="0"/>
              <a:t>Kumar, 2011)</a:t>
            </a:r>
            <a:endParaRPr lang="en-GB" dirty="0"/>
          </a:p>
        </p:txBody>
      </p:sp>
      <p:sp>
        <p:nvSpPr>
          <p:cNvPr id="2" name="Date Placeholder 1">
            <a:extLst>
              <a:ext uri="{FF2B5EF4-FFF2-40B4-BE49-F238E27FC236}">
                <a16:creationId xmlns:a16="http://schemas.microsoft.com/office/drawing/2014/main" id="{9C6F5824-A786-D15A-5DCD-6163BA0F70F4}"/>
              </a:ext>
            </a:extLst>
          </p:cNvPr>
          <p:cNvSpPr>
            <a:spLocks noGrp="1"/>
          </p:cNvSpPr>
          <p:nvPr>
            <p:ph type="dt" sz="half" idx="10"/>
          </p:nvPr>
        </p:nvSpPr>
        <p:spPr>
          <a:xfrm>
            <a:off x="838200" y="6356350"/>
            <a:ext cx="2743200" cy="365125"/>
          </a:xfrm>
        </p:spPr>
        <p:txBody>
          <a:bodyPr rtlCol="0"/>
          <a:lstStyle/>
          <a:p>
            <a:r>
              <a:rPr lang="en-GB" dirty="0"/>
              <a:t>July 2026</a:t>
            </a:r>
          </a:p>
        </p:txBody>
      </p:sp>
      <p:sp>
        <p:nvSpPr>
          <p:cNvPr id="3" name="Footer Placeholder 2">
            <a:extLst>
              <a:ext uri="{FF2B5EF4-FFF2-40B4-BE49-F238E27FC236}">
                <a16:creationId xmlns:a16="http://schemas.microsoft.com/office/drawing/2014/main" id="{CDDD7BE2-E0E4-2BCA-1EF0-63F10E0796D4}"/>
              </a:ext>
            </a:extLst>
          </p:cNvPr>
          <p:cNvSpPr>
            <a:spLocks noGrp="1"/>
          </p:cNvSpPr>
          <p:nvPr>
            <p:ph type="ftr" sz="quarter" idx="11"/>
          </p:nvPr>
        </p:nvSpPr>
        <p:spPr>
          <a:xfrm>
            <a:off x="4038600" y="6356350"/>
            <a:ext cx="4114800"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A63A9039-728B-6C89-9AD7-D191F62EC3F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20</a:t>
            </a:fld>
            <a:endParaRPr lang="en-GB"/>
          </a:p>
        </p:txBody>
      </p:sp>
      <p:graphicFrame>
        <p:nvGraphicFramePr>
          <p:cNvPr id="6" name="Table 5">
            <a:extLst>
              <a:ext uri="{FF2B5EF4-FFF2-40B4-BE49-F238E27FC236}">
                <a16:creationId xmlns:a16="http://schemas.microsoft.com/office/drawing/2014/main" id="{BB3DB25A-C696-71D3-4B61-057F98644F7A}"/>
              </a:ext>
            </a:extLst>
          </p:cNvPr>
          <p:cNvGraphicFramePr>
            <a:graphicFrameLocks noGrp="1"/>
          </p:cNvGraphicFramePr>
          <p:nvPr>
            <p:extLst>
              <p:ext uri="{D42A27DB-BD31-4B8C-83A1-F6EECF244321}">
                <p14:modId xmlns:p14="http://schemas.microsoft.com/office/powerpoint/2010/main" val="657451599"/>
              </p:ext>
            </p:extLst>
          </p:nvPr>
        </p:nvGraphicFramePr>
        <p:xfrm>
          <a:off x="838200" y="1690688"/>
          <a:ext cx="10423329" cy="4604693"/>
        </p:xfrm>
        <a:graphic>
          <a:graphicData uri="http://schemas.openxmlformats.org/drawingml/2006/table">
            <a:tbl>
              <a:tblPr firstRow="1" firstCol="1" bandRow="1">
                <a:tableStyleId>{5C22544A-7EE6-4342-B048-85BDC9FD1C3A}</a:tableStyleId>
              </a:tblPr>
              <a:tblGrid>
                <a:gridCol w="5434210">
                  <a:extLst>
                    <a:ext uri="{9D8B030D-6E8A-4147-A177-3AD203B41FA5}">
                      <a16:colId xmlns:a16="http://schemas.microsoft.com/office/drawing/2014/main" val="2557776956"/>
                    </a:ext>
                  </a:extLst>
                </a:gridCol>
                <a:gridCol w="4989119">
                  <a:extLst>
                    <a:ext uri="{9D8B030D-6E8A-4147-A177-3AD203B41FA5}">
                      <a16:colId xmlns:a16="http://schemas.microsoft.com/office/drawing/2014/main" val="1557466335"/>
                    </a:ext>
                  </a:extLst>
                </a:gridCol>
              </a:tblGrid>
              <a:tr h="661100">
                <a:tc>
                  <a:txBody>
                    <a:bodyPr/>
                    <a:lstStyle/>
                    <a:p>
                      <a:pPr algn="ctr">
                        <a:lnSpc>
                          <a:spcPct val="115000"/>
                        </a:lnSpc>
                        <a:spcAft>
                          <a:spcPts val="1000"/>
                        </a:spcAft>
                        <a:buNone/>
                      </a:pPr>
                      <a:r>
                        <a:rPr lang="en-GB" sz="2100">
                          <a:solidFill>
                            <a:schemeClr val="tx1"/>
                          </a:solidFill>
                          <a:effectLst/>
                        </a:rPr>
                        <a:t>Data Collection Method</a:t>
                      </a:r>
                      <a:endParaRPr lang="en-GB" sz="210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nchor="ctr"/>
                </a:tc>
                <a:tc>
                  <a:txBody>
                    <a:bodyPr/>
                    <a:lstStyle/>
                    <a:p>
                      <a:pPr algn="ctr">
                        <a:lnSpc>
                          <a:spcPct val="115000"/>
                        </a:lnSpc>
                        <a:spcAft>
                          <a:spcPts val="1000"/>
                        </a:spcAft>
                        <a:buNone/>
                      </a:pPr>
                      <a:r>
                        <a:rPr lang="en-GB" sz="2100" dirty="0">
                          <a:solidFill>
                            <a:schemeClr val="tx1"/>
                          </a:solidFill>
                          <a:effectLst/>
                        </a:rPr>
                        <a:t>Data Analysis Method</a:t>
                      </a:r>
                      <a:endParaRPr lang="en-GB" sz="21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nchor="ctr"/>
                </a:tc>
                <a:extLst>
                  <a:ext uri="{0D108BD9-81ED-4DB2-BD59-A6C34878D82A}">
                    <a16:rowId xmlns:a16="http://schemas.microsoft.com/office/drawing/2014/main" val="2690024990"/>
                  </a:ext>
                </a:extLst>
              </a:tr>
              <a:tr h="937805">
                <a:tc>
                  <a:txBody>
                    <a:bodyPr/>
                    <a:lstStyle/>
                    <a:p>
                      <a:pPr>
                        <a:buNone/>
                      </a:pPr>
                      <a:r>
                        <a:rPr lang="en-GB" sz="1700" b="0" dirty="0">
                          <a:solidFill>
                            <a:schemeClr val="tx1"/>
                          </a:solidFill>
                          <a:effectLst/>
                        </a:rPr>
                        <a:t>Distributing online questionnaires to measure ICT students’ experience with cloud platforms.</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lnSpc>
                          <a:spcPct val="115000"/>
                        </a:lnSpc>
                        <a:spcAft>
                          <a:spcPts val="1000"/>
                        </a:spcAft>
                        <a:buNone/>
                      </a:pPr>
                      <a:r>
                        <a:rPr lang="en-GB" sz="1700">
                          <a:effectLst/>
                        </a:rPr>
                        <a:t>Descriptive Statistics: Mean scores, frequencies, and standard deviations to summarise student responses.</a:t>
                      </a:r>
                      <a:endParaRPr lang="en-GB" sz="1900">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tc>
                <a:extLst>
                  <a:ext uri="{0D108BD9-81ED-4DB2-BD59-A6C34878D82A}">
                    <a16:rowId xmlns:a16="http://schemas.microsoft.com/office/drawing/2014/main" val="1144378767"/>
                  </a:ext>
                </a:extLst>
              </a:tr>
              <a:tr h="1049293">
                <a:tc>
                  <a:txBody>
                    <a:bodyPr/>
                    <a:lstStyle/>
                    <a:p>
                      <a:pPr>
                        <a:buNone/>
                      </a:pPr>
                      <a:r>
                        <a:rPr lang="en-GB" sz="1700" b="0" dirty="0">
                          <a:solidFill>
                            <a:schemeClr val="tx1"/>
                          </a:solidFill>
                          <a:effectLst/>
                        </a:rPr>
                        <a:t>Conducting semi-structured interviews with IT project managers on system integration challenges.</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buNone/>
                      </a:pPr>
                      <a:r>
                        <a:rPr lang="en-GB" sz="1700">
                          <a:effectLst/>
                        </a:rPr>
                        <a:t>Thematic Analysis: Identify and code recurring themes or patterns such as "communication issues," "legacy systems," or "data inconsistency".</a:t>
                      </a:r>
                      <a:endParaRPr lang="en-GB" sz="1900">
                        <a:effectLst/>
                        <a:latin typeface="Cambria" panose="02040503050406030204" pitchFamily="18" charset="0"/>
                        <a:ea typeface="Times New Roman" panose="02020603050405020304" pitchFamily="18" charset="0"/>
                      </a:endParaRPr>
                    </a:p>
                  </a:txBody>
                  <a:tcPr marL="118045" marR="118045" marT="0" marB="0"/>
                </a:tc>
                <a:extLst>
                  <a:ext uri="{0D108BD9-81ED-4DB2-BD59-A6C34878D82A}">
                    <a16:rowId xmlns:a16="http://schemas.microsoft.com/office/drawing/2014/main" val="1355350404"/>
                  </a:ext>
                </a:extLst>
              </a:tr>
              <a:tr h="922504">
                <a:tc>
                  <a:txBody>
                    <a:bodyPr/>
                    <a:lstStyle/>
                    <a:p>
                      <a:pPr>
                        <a:buNone/>
                      </a:pPr>
                      <a:r>
                        <a:rPr lang="en-GB" sz="1700" b="0" dirty="0">
                          <a:solidFill>
                            <a:schemeClr val="tx1"/>
                          </a:solidFill>
                          <a:effectLst/>
                        </a:rPr>
                        <a:t>Observations: Recording behaviours during a user interface (UI) usability test.</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lnSpc>
                          <a:spcPct val="115000"/>
                        </a:lnSpc>
                        <a:spcAft>
                          <a:spcPts val="1000"/>
                        </a:spcAft>
                        <a:buNone/>
                      </a:pPr>
                      <a:r>
                        <a:rPr lang="en-GB" sz="1700">
                          <a:effectLst/>
                        </a:rPr>
                        <a:t>Qualitatively assess user frustration, hesitation, or navigation patterns through interaction logs or video footage.</a:t>
                      </a:r>
                      <a:endParaRPr lang="en-GB" sz="1900">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tc>
                <a:extLst>
                  <a:ext uri="{0D108BD9-81ED-4DB2-BD59-A6C34878D82A}">
                    <a16:rowId xmlns:a16="http://schemas.microsoft.com/office/drawing/2014/main" val="790913194"/>
                  </a:ext>
                </a:extLst>
              </a:tr>
              <a:tr h="1033991">
                <a:tc>
                  <a:txBody>
                    <a:bodyPr/>
                    <a:lstStyle/>
                    <a:p>
                      <a:pPr>
                        <a:buNone/>
                      </a:pPr>
                      <a:r>
                        <a:rPr lang="en-GB" sz="1700" b="0" dirty="0">
                          <a:solidFill>
                            <a:schemeClr val="tx1"/>
                          </a:solidFill>
                          <a:effectLst/>
                        </a:rPr>
                        <a:t>Experiments: Changing the colour of a "Submit" button to determine how it affects the number of students who complete an online feedback form.</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buNone/>
                      </a:pPr>
                      <a:r>
                        <a:rPr lang="en-GB" sz="1700" dirty="0">
                          <a:effectLst/>
                        </a:rPr>
                        <a:t>Automated User Interaction Tracking: involves using analytics tools or built-in tracking scripts to record user behaviour automatically.</a:t>
                      </a:r>
                      <a:endParaRPr lang="en-GB" sz="1900" dirty="0">
                        <a:effectLst/>
                        <a:latin typeface="Cambria" panose="02040503050406030204" pitchFamily="18" charset="0"/>
                        <a:ea typeface="Times New Roman" panose="02020603050405020304" pitchFamily="18" charset="0"/>
                      </a:endParaRPr>
                    </a:p>
                  </a:txBody>
                  <a:tcPr marL="118045" marR="118045" marT="0" marB="0"/>
                </a:tc>
                <a:extLst>
                  <a:ext uri="{0D108BD9-81ED-4DB2-BD59-A6C34878D82A}">
                    <a16:rowId xmlns:a16="http://schemas.microsoft.com/office/drawing/2014/main" val="2977155496"/>
                  </a:ext>
                </a:extLst>
              </a:tr>
            </a:tbl>
          </a:graphicData>
        </a:graphic>
      </p:graphicFrame>
    </p:spTree>
    <p:extLst>
      <p:ext uri="{BB962C8B-B14F-4D97-AF65-F5344CB8AC3E}">
        <p14:creationId xmlns:p14="http://schemas.microsoft.com/office/powerpoint/2010/main" val="3308357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n-GB" dirty="0"/>
              <a:t>Q&amp;A</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r>
              <a:rPr lang="en-GB" dirty="0"/>
              <a:t>2026</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endParaRPr lang="en-GB" dirty="0"/>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21</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2.xml><?xml version="1.0" encoding="utf-8"?>
<ds:datastoreItem xmlns:ds="http://schemas.openxmlformats.org/officeDocument/2006/customXml" ds:itemID="{B5BA3906-9696-4247-AC0D-DD5C26B2A70A}">
  <ds:schemaRefs>
    <ds:schemaRef ds:uri="230e9df3-be65-4c73-a93b-d1236ebd677e"/>
    <ds:schemaRef ds:uri="http://schemas.microsoft.com/office/2006/documentManagement/types"/>
    <ds:schemaRef ds:uri="http://schemas.microsoft.com/sharepoint/v3"/>
    <ds:schemaRef ds:uri="http://purl.org/dc/elements/1.1/"/>
    <ds:schemaRef ds:uri="http://purl.org/dc/dcmitype/"/>
    <ds:schemaRef ds:uri="http://www.w3.org/XML/1998/namespace"/>
    <ds:schemaRef ds:uri="16c05727-aa75-4e4a-9b5f-8a80a1165891"/>
    <ds:schemaRef ds:uri="http://purl.org/dc/terms/"/>
    <ds:schemaRef ds:uri="http://schemas.openxmlformats.org/package/2006/metadata/core-properties"/>
    <ds:schemaRef ds:uri="http://schemas.microsoft.com/office/infopath/2007/PartnerControls"/>
    <ds:schemaRef ds:uri="71af3243-3dd4-4a8d-8c0d-dd76da1f02a5"/>
    <ds:schemaRef ds:uri="http://schemas.microsoft.com/office/2006/metadata/properties"/>
  </ds:schemaRefs>
</ds:datastoreItem>
</file>

<file path=customXml/itemProps3.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{D75B5483-2B77-44A9-A6C5-9F68A8A1B7DC}tf22318419_win32</Template>
  <TotalTime>171</TotalTime>
  <Words>2060</Words>
  <Application>Microsoft Macintosh PowerPoint</Application>
  <PresentationFormat>Widescreen</PresentationFormat>
  <Paragraphs>251</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Tenorite</vt:lpstr>
      <vt:lpstr>Monoline</vt:lpstr>
      <vt:lpstr>Semester Two - Week 1</vt:lpstr>
      <vt:lpstr>An Overview of Semester 2</vt:lpstr>
      <vt:lpstr>Week 1:</vt:lpstr>
      <vt:lpstr>Week 2:</vt:lpstr>
      <vt:lpstr>Week 3:</vt:lpstr>
      <vt:lpstr>Week 4:</vt:lpstr>
      <vt:lpstr>Week 5:</vt:lpstr>
      <vt:lpstr>Week 6:</vt:lpstr>
      <vt:lpstr>Week 7:</vt:lpstr>
      <vt:lpstr>Week 8:</vt:lpstr>
      <vt:lpstr>As ICT students exploring research for the first time, it is necessary to understand some fundamental terms that are often confused and guide a research study. </vt:lpstr>
      <vt:lpstr>1. Research Paradigm</vt:lpstr>
      <vt:lpstr>The key paradigms commonly used in research (Creswell,2009) </vt:lpstr>
      <vt:lpstr>The research approach –  A broad philosophical framework that shapes the direction of research, reflecting the data collection type and how it will be analysed (Creswell,2009) </vt:lpstr>
      <vt:lpstr>Research  Methodology</vt:lpstr>
      <vt:lpstr>Research  Methodology</vt:lpstr>
      <vt:lpstr>research design – The overall blueprint that integrates the components of a study coherently, outlining how data will be collected, measured, and analysed (Cohen, Manion, and Morrison, 2017) </vt:lpstr>
      <vt:lpstr>research design – The overall blueprint that integrates the components of a study coherently, outlining how data will be collected, measured, and analysed (Cohen, Manion, and Morrison, 2017) </vt:lpstr>
      <vt:lpstr>research design – The overall blueprint that integrates the components of a study coherently, outlining how data will be collected, measured, and analysed (Cohen, Manion, and Morrison, 2017) </vt:lpstr>
      <vt:lpstr>Research Method – the actual techniques used for data collection and analysis chosen based on the design and guided by the methodology (Kumar, 2011)</vt:lpstr>
      <vt:lpstr>THANK YOU</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Errol Francke</cp:lastModifiedBy>
  <cp:revision>2</cp:revision>
  <dcterms:created xsi:type="dcterms:W3CDTF">2025-07-14T08:47:44Z</dcterms:created>
  <dcterms:modified xsi:type="dcterms:W3CDTF">2026-07-13T14:53:03Z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