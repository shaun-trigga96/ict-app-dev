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39"/>
  </p:notesMasterIdLst>
  <p:handoutMasterIdLst>
    <p:handoutMasterId r:id="rId40"/>
  </p:handoutMasterIdLst>
  <p:sldIdLst>
    <p:sldId id="256" r:id="rId5"/>
    <p:sldId id="289" r:id="rId6"/>
    <p:sldId id="305" r:id="rId7"/>
    <p:sldId id="262" r:id="rId8"/>
    <p:sldId id="278" r:id="rId9"/>
    <p:sldId id="306" r:id="rId10"/>
    <p:sldId id="307" r:id="rId11"/>
    <p:sldId id="308" r:id="rId12"/>
    <p:sldId id="309" r:id="rId13"/>
    <p:sldId id="310" r:id="rId14"/>
    <p:sldId id="257" r:id="rId15"/>
    <p:sldId id="258" r:id="rId16"/>
    <p:sldId id="259" r:id="rId17"/>
    <p:sldId id="260" r:id="rId18"/>
    <p:sldId id="261" r:id="rId19"/>
    <p:sldId id="311"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312" r:id="rId34"/>
    <p:sldId id="313" r:id="rId35"/>
    <p:sldId id="279" r:id="rId36"/>
    <p:sldId id="280" r:id="rId37"/>
    <p:sldId id="276" r:id="rId38"/>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E90493-6475-0A42-A6ED-585B254F8E31}" v="27" dt="2026-08-03T10:07:06.6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74" autoAdjust="0"/>
    <p:restoredTop sz="65764"/>
  </p:normalViewPr>
  <p:slideViewPr>
    <p:cSldViewPr snapToGrid="0">
      <p:cViewPr varScale="1">
        <p:scale>
          <a:sx n="62" d="100"/>
          <a:sy n="62" d="100"/>
        </p:scale>
        <p:origin x="3440" y="184"/>
      </p:cViewPr>
      <p:guideLst>
        <p:guide orient="horz" pos="3360"/>
        <p:guide pos="3840"/>
      </p:guideLst>
    </p:cSldViewPr>
  </p:slideViewPr>
  <p:notesTextViewPr>
    <p:cViewPr>
      <p:scale>
        <a:sx n="1" d="1"/>
        <a:sy n="1" d="1"/>
      </p:scale>
      <p:origin x="0" y="0"/>
    </p:cViewPr>
  </p:notesTextViewPr>
  <p:notesViewPr>
    <p:cSldViewPr snapToGrid="0">
      <p:cViewPr>
        <p:scale>
          <a:sx n="156" d="100"/>
          <a:sy n="156" d="100"/>
        </p:scale>
        <p:origin x="1760" y="-48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rol Francke" userId="1baf5052-8130-4f07-8591-895c85ed967e" providerId="ADAL" clId="{2770844B-FD3E-5261-B270-BCCC5ACA5C5D}"/>
    <pc:docChg chg="custSel modSld">
      <pc:chgData name="Errol Francke" userId="1baf5052-8130-4f07-8591-895c85ed967e" providerId="ADAL" clId="{2770844B-FD3E-5261-B270-BCCC5ACA5C5D}" dt="2026-08-03T10:08:26.171" v="246" actId="20577"/>
      <pc:docMkLst>
        <pc:docMk/>
      </pc:docMkLst>
      <pc:sldChg chg="modNotesTx">
        <pc:chgData name="Errol Francke" userId="1baf5052-8130-4f07-8591-895c85ed967e" providerId="ADAL" clId="{2770844B-FD3E-5261-B270-BCCC5ACA5C5D}" dt="2026-08-02T08:50:14.343" v="109" actId="113"/>
        <pc:sldMkLst>
          <pc:docMk/>
          <pc:sldMk cId="1593920805" sldId="262"/>
        </pc:sldMkLst>
      </pc:sldChg>
      <pc:sldChg chg="modSp mod modNotesTx">
        <pc:chgData name="Errol Francke" userId="1baf5052-8130-4f07-8591-895c85ed967e" providerId="ADAL" clId="{2770844B-FD3E-5261-B270-BCCC5ACA5C5D}" dt="2026-08-03T08:53:47.639" v="121" actId="113"/>
        <pc:sldMkLst>
          <pc:docMk/>
          <pc:sldMk cId="0" sldId="265"/>
        </pc:sldMkLst>
        <pc:spChg chg="mod">
          <ac:chgData name="Errol Francke" userId="1baf5052-8130-4f07-8591-895c85ed967e" providerId="ADAL" clId="{2770844B-FD3E-5261-B270-BCCC5ACA5C5D}" dt="2026-08-02T18:57:29.055" v="115" actId="14100"/>
          <ac:spMkLst>
            <pc:docMk/>
            <pc:sldMk cId="0" sldId="265"/>
            <ac:spMk id="13" creationId="{00000000-0000-0000-0000-000000000000}"/>
          </ac:spMkLst>
        </pc:spChg>
        <pc:picChg chg="mod">
          <ac:chgData name="Errol Francke" userId="1baf5052-8130-4f07-8591-895c85ed967e" providerId="ADAL" clId="{2770844B-FD3E-5261-B270-BCCC5ACA5C5D}" dt="2026-08-03T08:49:17.309" v="116" actId="1076"/>
          <ac:picMkLst>
            <pc:docMk/>
            <pc:sldMk cId="0" sldId="265"/>
            <ac:picMk id="12" creationId="{C9DB03AA-CB52-B1E9-767D-C5A5B60640AF}"/>
          </ac:picMkLst>
        </pc:picChg>
      </pc:sldChg>
      <pc:sldChg chg="modNotesTx">
        <pc:chgData name="Errol Francke" userId="1baf5052-8130-4f07-8591-895c85ed967e" providerId="ADAL" clId="{2770844B-FD3E-5261-B270-BCCC5ACA5C5D}" dt="2026-08-03T08:57:12.269" v="127" actId="113"/>
        <pc:sldMkLst>
          <pc:docMk/>
          <pc:sldMk cId="0" sldId="266"/>
        </pc:sldMkLst>
      </pc:sldChg>
      <pc:sldChg chg="modNotesTx">
        <pc:chgData name="Errol Francke" userId="1baf5052-8130-4f07-8591-895c85ed967e" providerId="ADAL" clId="{2770844B-FD3E-5261-B270-BCCC5ACA5C5D}" dt="2026-08-03T10:00:46.509" v="128" actId="20577"/>
        <pc:sldMkLst>
          <pc:docMk/>
          <pc:sldMk cId="0" sldId="267"/>
        </pc:sldMkLst>
      </pc:sldChg>
      <pc:sldChg chg="addSp delSp modSp mod modNotesTx">
        <pc:chgData name="Errol Francke" userId="1baf5052-8130-4f07-8591-895c85ed967e" providerId="ADAL" clId="{2770844B-FD3E-5261-B270-BCCC5ACA5C5D}" dt="2026-08-03T10:08:26.171" v="246" actId="20577"/>
        <pc:sldMkLst>
          <pc:docMk/>
          <pc:sldMk cId="0" sldId="268"/>
        </pc:sldMkLst>
        <pc:spChg chg="mod">
          <ac:chgData name="Errol Francke" userId="1baf5052-8130-4f07-8591-895c85ed967e" providerId="ADAL" clId="{2770844B-FD3E-5261-B270-BCCC5ACA5C5D}" dt="2026-08-03T10:06:22.678" v="214" actId="1037"/>
          <ac:spMkLst>
            <pc:docMk/>
            <pc:sldMk cId="0" sldId="268"/>
            <ac:spMk id="10" creationId="{00000000-0000-0000-0000-000000000000}"/>
          </ac:spMkLst>
        </pc:spChg>
        <pc:spChg chg="mod">
          <ac:chgData name="Errol Francke" userId="1baf5052-8130-4f07-8591-895c85ed967e" providerId="ADAL" clId="{2770844B-FD3E-5261-B270-BCCC5ACA5C5D}" dt="2026-08-03T10:06:22.678" v="214" actId="1037"/>
          <ac:spMkLst>
            <pc:docMk/>
            <pc:sldMk cId="0" sldId="268"/>
            <ac:spMk id="11" creationId="{6C595651-9DCB-C682-4377-2E814D4C65FA}"/>
          </ac:spMkLst>
        </pc:spChg>
        <pc:picChg chg="add mod">
          <ac:chgData name="Errol Francke" userId="1baf5052-8130-4f07-8591-895c85ed967e" providerId="ADAL" clId="{2770844B-FD3E-5261-B270-BCCC5ACA5C5D}" dt="2026-08-03T10:06:42.290" v="226" actId="1076"/>
          <ac:picMkLst>
            <pc:docMk/>
            <pc:sldMk cId="0" sldId="268"/>
            <ac:picMk id="2" creationId="{BCB9ABDC-7717-68CA-C313-36F4F792D0F2}"/>
          </ac:picMkLst>
        </pc:picChg>
        <pc:picChg chg="del">
          <ac:chgData name="Errol Francke" userId="1baf5052-8130-4f07-8591-895c85ed967e" providerId="ADAL" clId="{2770844B-FD3E-5261-B270-BCCC5ACA5C5D}" dt="2026-08-03T10:05:31.532" v="129" actId="478"/>
          <ac:picMkLst>
            <pc:docMk/>
            <pc:sldMk cId="0" sldId="268"/>
            <ac:picMk id="7" creationId="{00000000-0000-0000-0000-000000000000}"/>
          </ac:picMkLst>
        </pc:picChg>
      </pc:sldChg>
      <pc:sldChg chg="modSp mod modNotesTx">
        <pc:chgData name="Errol Francke" userId="1baf5052-8130-4f07-8591-895c85ed967e" providerId="ADAL" clId="{2770844B-FD3E-5261-B270-BCCC5ACA5C5D}" dt="2026-08-02T08:50:48.094" v="111" actId="113"/>
        <pc:sldMkLst>
          <pc:docMk/>
          <pc:sldMk cId="2069393026" sldId="278"/>
        </pc:sldMkLst>
        <pc:spChg chg="mod">
          <ac:chgData name="Errol Francke" userId="1baf5052-8130-4f07-8591-895c85ed967e" providerId="ADAL" clId="{2770844B-FD3E-5261-B270-BCCC5ACA5C5D}" dt="2026-08-02T07:51:33.239" v="8" actId="14100"/>
          <ac:spMkLst>
            <pc:docMk/>
            <pc:sldMk cId="2069393026" sldId="278"/>
            <ac:spMk id="7" creationId="{40297407-CE4E-4284-879D-AEC395713625}"/>
          </ac:spMkLst>
        </pc:spChg>
      </pc:sldChg>
      <pc:sldChg chg="modSp mod">
        <pc:chgData name="Errol Francke" userId="1baf5052-8130-4f07-8591-895c85ed967e" providerId="ADAL" clId="{2770844B-FD3E-5261-B270-BCCC5ACA5C5D}" dt="2026-08-02T08:34:50.244" v="102" actId="20577"/>
        <pc:sldMkLst>
          <pc:docMk/>
          <pc:sldMk cId="1844941827" sldId="289"/>
        </pc:sldMkLst>
        <pc:spChg chg="mod">
          <ac:chgData name="Errol Francke" userId="1baf5052-8130-4f07-8591-895c85ed967e" providerId="ADAL" clId="{2770844B-FD3E-5261-B270-BCCC5ACA5C5D}" dt="2026-08-02T08:34:50.244" v="102" actId="20577"/>
          <ac:spMkLst>
            <pc:docMk/>
            <pc:sldMk cId="1844941827" sldId="289"/>
            <ac:spMk id="3" creationId="{D4A2EB3F-4D60-451F-8F45-7D6654D2FCD9}"/>
          </ac:spMkLst>
        </pc:spChg>
      </pc:sldChg>
      <pc:sldChg chg="modNotesTx">
        <pc:chgData name="Errol Francke" userId="1baf5052-8130-4f07-8591-895c85ed967e" providerId="ADAL" clId="{2770844B-FD3E-5261-B270-BCCC5ACA5C5D}" dt="2026-08-02T08:37:25.595" v="108" actId="113"/>
        <pc:sldMkLst>
          <pc:docMk/>
          <pc:sldMk cId="4028283785" sldId="305"/>
        </pc:sldMkLst>
      </pc:sldChg>
      <pc:sldChg chg="modSp mod modNotesTx">
        <pc:chgData name="Errol Francke" userId="1baf5052-8130-4f07-8591-895c85ed967e" providerId="ADAL" clId="{2770844B-FD3E-5261-B270-BCCC5ACA5C5D}" dt="2026-08-02T08:19:07.660" v="32" actId="113"/>
        <pc:sldMkLst>
          <pc:docMk/>
          <pc:sldMk cId="1529827269" sldId="306"/>
        </pc:sldMkLst>
        <pc:spChg chg="mod">
          <ac:chgData name="Errol Francke" userId="1baf5052-8130-4f07-8591-895c85ed967e" providerId="ADAL" clId="{2770844B-FD3E-5261-B270-BCCC5ACA5C5D}" dt="2026-08-02T08:17:58.665" v="27" actId="20577"/>
          <ac:spMkLst>
            <pc:docMk/>
            <pc:sldMk cId="1529827269" sldId="306"/>
            <ac:spMk id="7" creationId="{CADAD881-1B86-B191-FD2F-C6B78C657C6C}"/>
          </ac:spMkLst>
        </pc:spChg>
      </pc:sldChg>
      <pc:sldChg chg="modSp mod modNotesTx">
        <pc:chgData name="Errol Francke" userId="1baf5052-8130-4f07-8591-895c85ed967e" providerId="ADAL" clId="{2770844B-FD3E-5261-B270-BCCC5ACA5C5D}" dt="2026-08-02T08:25:19.125" v="40" actId="6549"/>
        <pc:sldMkLst>
          <pc:docMk/>
          <pc:sldMk cId="3725565488" sldId="307"/>
        </pc:sldMkLst>
        <pc:spChg chg="mod">
          <ac:chgData name="Errol Francke" userId="1baf5052-8130-4f07-8591-895c85ed967e" providerId="ADAL" clId="{2770844B-FD3E-5261-B270-BCCC5ACA5C5D}" dt="2026-08-02T08:25:19.125" v="40" actId="6549"/>
          <ac:spMkLst>
            <pc:docMk/>
            <pc:sldMk cId="3725565488" sldId="307"/>
            <ac:spMk id="7" creationId="{68DAB69B-8D1E-6043-69E8-A6A1B515181E}"/>
          </ac:spMkLst>
        </pc:spChg>
      </pc:sldChg>
      <pc:sldChg chg="modSp modNotesTx">
        <pc:chgData name="Errol Francke" userId="1baf5052-8130-4f07-8591-895c85ed967e" providerId="ADAL" clId="{2770844B-FD3E-5261-B270-BCCC5ACA5C5D}" dt="2026-08-02T08:25:59.134" v="42" actId="113"/>
        <pc:sldMkLst>
          <pc:docMk/>
          <pc:sldMk cId="3657139714" sldId="308"/>
        </pc:sldMkLst>
        <pc:spChg chg="mod">
          <ac:chgData name="Errol Francke" userId="1baf5052-8130-4f07-8591-895c85ed967e" providerId="ADAL" clId="{2770844B-FD3E-5261-B270-BCCC5ACA5C5D}" dt="2026-08-02T08:24:34.070" v="38"/>
          <ac:spMkLst>
            <pc:docMk/>
            <pc:sldMk cId="3657139714" sldId="308"/>
            <ac:spMk id="7" creationId="{A5D2E978-C18E-D026-BB99-BE3D7A3E0544}"/>
          </ac:spMkLst>
        </pc:spChg>
      </pc:sldChg>
      <pc:sldChg chg="modSp mod modNotesTx">
        <pc:chgData name="Errol Francke" userId="1baf5052-8130-4f07-8591-895c85ed967e" providerId="ADAL" clId="{2770844B-FD3E-5261-B270-BCCC5ACA5C5D}" dt="2026-08-02T08:52:44.862" v="114" actId="113"/>
        <pc:sldMkLst>
          <pc:docMk/>
          <pc:sldMk cId="3679689182" sldId="309"/>
        </pc:sldMkLst>
        <pc:spChg chg="mod">
          <ac:chgData name="Errol Francke" userId="1baf5052-8130-4f07-8591-895c85ed967e" providerId="ADAL" clId="{2770844B-FD3E-5261-B270-BCCC5ACA5C5D}" dt="2026-08-02T08:27:50.115" v="78" actId="14100"/>
          <ac:spMkLst>
            <pc:docMk/>
            <pc:sldMk cId="3679689182" sldId="309"/>
            <ac:spMk id="7" creationId="{B79812CD-0E7C-3FF9-77CC-14189B5B877C}"/>
          </ac:spMkLst>
        </pc:spChg>
      </pc:sldChg>
    </pc:docChg>
  </pc:docChgLst>
  <pc:docChgLst>
    <pc:chgData name="Errol Francke" userId="1baf5052-8130-4f07-8591-895c85ed967e" providerId="ADAL" clId="{944050BC-0192-4E0C-88E8-F4987B7E0CC0}"/>
    <pc:docChg chg="custSel modSld">
      <pc:chgData name="Errol Francke" userId="1baf5052-8130-4f07-8591-895c85ed967e" providerId="ADAL" clId="{944050BC-0192-4E0C-88E8-F4987B7E0CC0}" dt="2026-08-01T14:55:43.406" v="18" actId="21"/>
      <pc:docMkLst>
        <pc:docMk/>
      </pc:docMkLst>
      <pc:sldChg chg="addSp delSp mod">
        <pc:chgData name="Errol Francke" userId="1baf5052-8130-4f07-8591-895c85ed967e" providerId="ADAL" clId="{944050BC-0192-4E0C-88E8-F4987B7E0CC0}" dt="2026-08-01T14:52:48.845" v="4" actId="139"/>
        <pc:sldMkLst>
          <pc:docMk/>
          <pc:sldMk cId="0" sldId="259"/>
        </pc:sldMkLst>
        <pc:spChg chg="add">
          <ac:chgData name="Errol Francke" userId="1baf5052-8130-4f07-8591-895c85ed967e" providerId="ADAL" clId="{944050BC-0192-4E0C-88E8-F4987B7E0CC0}" dt="2026-08-01T14:52:48.845" v="4" actId="139"/>
          <ac:spMkLst>
            <pc:docMk/>
            <pc:sldMk cId="0" sldId="259"/>
            <ac:spMk id="12" creationId="{849E653B-4DEE-8D94-B672-18BACC9747EB}"/>
          </ac:spMkLst>
        </pc:spChg>
      </pc:sldChg>
      <pc:sldChg chg="delSp mod">
        <pc:chgData name="Errol Francke" userId="1baf5052-8130-4f07-8591-895c85ed967e" providerId="ADAL" clId="{944050BC-0192-4E0C-88E8-F4987B7E0CC0}" dt="2026-08-01T14:52:12.497" v="1" actId="21"/>
        <pc:sldMkLst>
          <pc:docMk/>
          <pc:sldMk cId="0" sldId="261"/>
        </pc:sldMkLst>
      </pc:sldChg>
      <pc:sldChg chg="delSp mod modNotesTx">
        <pc:chgData name="Errol Francke" userId="1baf5052-8130-4f07-8591-895c85ed967e" providerId="ADAL" clId="{944050BC-0192-4E0C-88E8-F4987B7E0CC0}" dt="2026-08-01T14:53:29.728" v="5" actId="20577"/>
        <pc:sldMkLst>
          <pc:docMk/>
          <pc:sldMk cId="0" sldId="263"/>
        </pc:sldMkLst>
      </pc:sldChg>
      <pc:sldChg chg="delSp mod">
        <pc:chgData name="Errol Francke" userId="1baf5052-8130-4f07-8591-895c85ed967e" providerId="ADAL" clId="{944050BC-0192-4E0C-88E8-F4987B7E0CC0}" dt="2026-08-01T14:54:45.935" v="6" actId="21"/>
        <pc:sldMkLst>
          <pc:docMk/>
          <pc:sldMk cId="0" sldId="266"/>
        </pc:sldMkLst>
      </pc:sldChg>
      <pc:sldChg chg="delSp mod">
        <pc:chgData name="Errol Francke" userId="1baf5052-8130-4f07-8591-895c85ed967e" providerId="ADAL" clId="{944050BC-0192-4E0C-88E8-F4987B7E0CC0}" dt="2026-08-01T14:54:54.754" v="7" actId="21"/>
        <pc:sldMkLst>
          <pc:docMk/>
          <pc:sldMk cId="0" sldId="267"/>
        </pc:sldMkLst>
      </pc:sldChg>
      <pc:sldChg chg="delSp mod">
        <pc:chgData name="Errol Francke" userId="1baf5052-8130-4f07-8591-895c85ed967e" providerId="ADAL" clId="{944050BC-0192-4E0C-88E8-F4987B7E0CC0}" dt="2026-08-01T14:54:59.485" v="8" actId="21"/>
        <pc:sldMkLst>
          <pc:docMk/>
          <pc:sldMk cId="0" sldId="268"/>
        </pc:sldMkLst>
      </pc:sldChg>
      <pc:sldChg chg="delSp mod">
        <pc:chgData name="Errol Francke" userId="1baf5052-8130-4f07-8591-895c85ed967e" providerId="ADAL" clId="{944050BC-0192-4E0C-88E8-F4987B7E0CC0}" dt="2026-08-01T14:55:05.858" v="9" actId="21"/>
        <pc:sldMkLst>
          <pc:docMk/>
          <pc:sldMk cId="0" sldId="269"/>
        </pc:sldMkLst>
      </pc:sldChg>
      <pc:sldChg chg="delSp mod">
        <pc:chgData name="Errol Francke" userId="1baf5052-8130-4f07-8591-895c85ed967e" providerId="ADAL" clId="{944050BC-0192-4E0C-88E8-F4987B7E0CC0}" dt="2026-08-01T14:55:09.148" v="10" actId="21"/>
        <pc:sldMkLst>
          <pc:docMk/>
          <pc:sldMk cId="0" sldId="270"/>
        </pc:sldMkLst>
      </pc:sldChg>
      <pc:sldChg chg="delSp mod">
        <pc:chgData name="Errol Francke" userId="1baf5052-8130-4f07-8591-895c85ed967e" providerId="ADAL" clId="{944050BC-0192-4E0C-88E8-F4987B7E0CC0}" dt="2026-08-01T14:55:14.012" v="11" actId="21"/>
        <pc:sldMkLst>
          <pc:docMk/>
          <pc:sldMk cId="0" sldId="271"/>
        </pc:sldMkLst>
      </pc:sldChg>
      <pc:sldChg chg="delSp mod">
        <pc:chgData name="Errol Francke" userId="1baf5052-8130-4f07-8591-895c85ed967e" providerId="ADAL" clId="{944050BC-0192-4E0C-88E8-F4987B7E0CC0}" dt="2026-08-01T14:55:17.038" v="12" actId="21"/>
        <pc:sldMkLst>
          <pc:docMk/>
          <pc:sldMk cId="0" sldId="272"/>
        </pc:sldMkLst>
      </pc:sldChg>
      <pc:sldChg chg="delSp mod">
        <pc:chgData name="Errol Francke" userId="1baf5052-8130-4f07-8591-895c85ed967e" providerId="ADAL" clId="{944050BC-0192-4E0C-88E8-F4987B7E0CC0}" dt="2026-08-01T14:55:22.585" v="13" actId="21"/>
        <pc:sldMkLst>
          <pc:docMk/>
          <pc:sldMk cId="0" sldId="274"/>
        </pc:sldMkLst>
      </pc:sldChg>
      <pc:sldChg chg="delSp mod">
        <pc:chgData name="Errol Francke" userId="1baf5052-8130-4f07-8591-895c85ed967e" providerId="ADAL" clId="{944050BC-0192-4E0C-88E8-F4987B7E0CC0}" dt="2026-08-01T14:55:26.897" v="14" actId="21"/>
        <pc:sldMkLst>
          <pc:docMk/>
          <pc:sldMk cId="0" sldId="275"/>
        </pc:sldMkLst>
      </pc:sldChg>
      <pc:sldChg chg="delSp mod">
        <pc:chgData name="Errol Francke" userId="1baf5052-8130-4f07-8591-895c85ed967e" providerId="ADAL" clId="{944050BC-0192-4E0C-88E8-F4987B7E0CC0}" dt="2026-08-01T14:55:40.139" v="17" actId="21"/>
        <pc:sldMkLst>
          <pc:docMk/>
          <pc:sldMk cId="0" sldId="279"/>
        </pc:sldMkLst>
      </pc:sldChg>
      <pc:sldChg chg="delSp mod">
        <pc:chgData name="Errol Francke" userId="1baf5052-8130-4f07-8591-895c85ed967e" providerId="ADAL" clId="{944050BC-0192-4E0C-88E8-F4987B7E0CC0}" dt="2026-08-01T14:55:43.406" v="18" actId="21"/>
        <pc:sldMkLst>
          <pc:docMk/>
          <pc:sldMk cId="0" sldId="280"/>
        </pc:sldMkLst>
      </pc:sldChg>
      <pc:sldChg chg="delSp mod">
        <pc:chgData name="Errol Francke" userId="1baf5052-8130-4f07-8591-895c85ed967e" providerId="ADAL" clId="{944050BC-0192-4E0C-88E8-F4987B7E0CC0}" dt="2026-08-01T14:52:17.038" v="2" actId="21"/>
        <pc:sldMkLst>
          <pc:docMk/>
          <pc:sldMk cId="0" sldId="311"/>
        </pc:sldMkLst>
      </pc:sldChg>
      <pc:sldChg chg="delSp mod">
        <pc:chgData name="Errol Francke" userId="1baf5052-8130-4f07-8591-895c85ed967e" providerId="ADAL" clId="{944050BC-0192-4E0C-88E8-F4987B7E0CC0}" dt="2026-08-01T14:55:30.560" v="15" actId="21"/>
        <pc:sldMkLst>
          <pc:docMk/>
          <pc:sldMk cId="0" sldId="312"/>
        </pc:sldMkLst>
      </pc:sldChg>
      <pc:sldChg chg="delSp mod">
        <pc:chgData name="Errol Francke" userId="1baf5052-8130-4f07-8591-895c85ed967e" providerId="ADAL" clId="{944050BC-0192-4E0C-88E8-F4987B7E0CC0}" dt="2026-08-01T14:55:36.690" v="16" actId="21"/>
        <pc:sldMkLst>
          <pc:docMk/>
          <pc:sldMk cId="0" sldId="313"/>
        </pc:sldMkLst>
      </pc:sldChg>
    </pc:docChg>
  </pc:docChgLst>
  <pc:docChgLst>
    <pc:chgData name="Errol Francke" userId="1baf5052-8130-4f07-8591-895c85ed967e" providerId="ADAL" clId="{2737C09B-AC6B-5E0A-A812-D64845F233ED}"/>
    <pc:docChg chg="undo custSel addSld delSld modSld">
      <pc:chgData name="Errol Francke" userId="1baf5052-8130-4f07-8591-895c85ed967e" providerId="ADAL" clId="{2737C09B-AC6B-5E0A-A812-D64845F233ED}" dt="2026-08-01T11:15:45.861" v="1320" actId="478"/>
      <pc:docMkLst>
        <pc:docMk/>
      </pc:docMkLst>
      <pc:sldChg chg="delSp modSp add mod setBg modNotes modNotesTx">
        <pc:chgData name="Errol Francke" userId="1baf5052-8130-4f07-8591-895c85ed967e" providerId="ADAL" clId="{2737C09B-AC6B-5E0A-A812-D64845F233ED}" dt="2026-08-01T10:41:43.090" v="207" actId="113"/>
        <pc:sldMkLst>
          <pc:docMk/>
          <pc:sldMk cId="0" sldId="257"/>
        </pc:sldMkLst>
        <pc:spChg chg="mod">
          <ac:chgData name="Errol Francke" userId="1baf5052-8130-4f07-8591-895c85ed967e" providerId="ADAL" clId="{2737C09B-AC6B-5E0A-A812-D64845F233ED}" dt="2026-08-01T10:40:32.498" v="203" actId="20577"/>
          <ac:spMkLst>
            <pc:docMk/>
            <pc:sldMk cId="0" sldId="257"/>
            <ac:spMk id="22" creationId="{00000000-0000-0000-0000-000000000000}"/>
          </ac:spMkLst>
        </pc:spChg>
      </pc:sldChg>
      <pc:sldChg chg="delSp modSp add mod setBg modNotesTx">
        <pc:chgData name="Errol Francke" userId="1baf5052-8130-4f07-8591-895c85ed967e" providerId="ADAL" clId="{2737C09B-AC6B-5E0A-A812-D64845F233ED}" dt="2026-08-01T10:46:45.421" v="212" actId="113"/>
        <pc:sldMkLst>
          <pc:docMk/>
          <pc:sldMk cId="0" sldId="258"/>
        </pc:sldMkLst>
        <pc:spChg chg="mod">
          <ac:chgData name="Errol Francke" userId="1baf5052-8130-4f07-8591-895c85ed967e" providerId="ADAL" clId="{2737C09B-AC6B-5E0A-A812-D64845F233ED}" dt="2026-08-01T10:35:36.202" v="115" actId="20577"/>
          <ac:spMkLst>
            <pc:docMk/>
            <pc:sldMk cId="0" sldId="258"/>
            <ac:spMk id="10" creationId="{00000000-0000-0000-0000-000000000000}"/>
          </ac:spMkLst>
        </pc:spChg>
        <pc:picChg chg="mod">
          <ac:chgData name="Errol Francke" userId="1baf5052-8130-4f07-8591-895c85ed967e" providerId="ADAL" clId="{2737C09B-AC6B-5E0A-A812-D64845F233ED}" dt="2026-08-01T10:05:39.702" v="112" actId="14861"/>
          <ac:picMkLst>
            <pc:docMk/>
            <pc:sldMk cId="0" sldId="258"/>
            <ac:picMk id="7" creationId="{00000000-0000-0000-0000-000000000000}"/>
          </ac:picMkLst>
        </pc:picChg>
      </pc:sldChg>
      <pc:sldChg chg="add setBg modNotesTx">
        <pc:chgData name="Errol Francke" userId="1baf5052-8130-4f07-8591-895c85ed967e" providerId="ADAL" clId="{2737C09B-AC6B-5E0A-A812-D64845F233ED}" dt="2026-08-01T10:51:27.328" v="217" actId="113"/>
        <pc:sldMkLst>
          <pc:docMk/>
          <pc:sldMk cId="0" sldId="259"/>
        </pc:sldMkLst>
      </pc:sldChg>
      <pc:sldChg chg="modSp add mod setBg modNotesTx">
        <pc:chgData name="Errol Francke" userId="1baf5052-8130-4f07-8591-895c85ed967e" providerId="ADAL" clId="{2737C09B-AC6B-5E0A-A812-D64845F233ED}" dt="2026-08-01T10:52:17.228" v="219" actId="113"/>
        <pc:sldMkLst>
          <pc:docMk/>
          <pc:sldMk cId="0" sldId="260"/>
        </pc:sldMkLst>
        <pc:spChg chg="mod">
          <ac:chgData name="Errol Francke" userId="1baf5052-8130-4f07-8591-895c85ed967e" providerId="ADAL" clId="{2737C09B-AC6B-5E0A-A812-D64845F233ED}" dt="2026-08-01T10:43:47.373" v="208" actId="207"/>
          <ac:spMkLst>
            <pc:docMk/>
            <pc:sldMk cId="0" sldId="260"/>
            <ac:spMk id="2" creationId="{00000000-0000-0000-0000-000000000000}"/>
          </ac:spMkLst>
        </pc:spChg>
        <pc:spChg chg="mod">
          <ac:chgData name="Errol Francke" userId="1baf5052-8130-4f07-8591-895c85ed967e" providerId="ADAL" clId="{2737C09B-AC6B-5E0A-A812-D64845F233ED}" dt="2026-08-01T10:43:47.373" v="208" actId="207"/>
          <ac:spMkLst>
            <pc:docMk/>
            <pc:sldMk cId="0" sldId="260"/>
            <ac:spMk id="3" creationId="{00000000-0000-0000-0000-000000000000}"/>
          </ac:spMkLst>
        </pc:spChg>
        <pc:spChg chg="mod">
          <ac:chgData name="Errol Francke" userId="1baf5052-8130-4f07-8591-895c85ed967e" providerId="ADAL" clId="{2737C09B-AC6B-5E0A-A812-D64845F233ED}" dt="2026-08-01T10:43:47.373" v="208" actId="207"/>
          <ac:spMkLst>
            <pc:docMk/>
            <pc:sldMk cId="0" sldId="260"/>
            <ac:spMk id="4" creationId="{00000000-0000-0000-0000-000000000000}"/>
          </ac:spMkLst>
        </pc:spChg>
        <pc:spChg chg="mod">
          <ac:chgData name="Errol Francke" userId="1baf5052-8130-4f07-8591-895c85ed967e" providerId="ADAL" clId="{2737C09B-AC6B-5E0A-A812-D64845F233ED}" dt="2026-08-01T10:43:47.373" v="208" actId="207"/>
          <ac:spMkLst>
            <pc:docMk/>
            <pc:sldMk cId="0" sldId="260"/>
            <ac:spMk id="5" creationId="{00000000-0000-0000-0000-000000000000}"/>
          </ac:spMkLst>
        </pc:spChg>
        <pc:spChg chg="mod">
          <ac:chgData name="Errol Francke" userId="1baf5052-8130-4f07-8591-895c85ed967e" providerId="ADAL" clId="{2737C09B-AC6B-5E0A-A812-D64845F233ED}" dt="2026-08-01T10:43:47.373" v="208" actId="207"/>
          <ac:spMkLst>
            <pc:docMk/>
            <pc:sldMk cId="0" sldId="260"/>
            <ac:spMk id="6" creationId="{00000000-0000-0000-0000-000000000000}"/>
          </ac:spMkLst>
        </pc:spChg>
        <pc:spChg chg="mod">
          <ac:chgData name="Errol Francke" userId="1baf5052-8130-4f07-8591-895c85ed967e" providerId="ADAL" clId="{2737C09B-AC6B-5E0A-A812-D64845F233ED}" dt="2026-08-01T10:43:47.373" v="208" actId="207"/>
          <ac:spMkLst>
            <pc:docMk/>
            <pc:sldMk cId="0" sldId="260"/>
            <ac:spMk id="9" creationId="{43AA110A-AEAD-D848-727D-A9455649DFCA}"/>
          </ac:spMkLst>
        </pc:spChg>
      </pc:sldChg>
      <pc:sldChg chg="add setBg modNotesTx">
        <pc:chgData name="Errol Francke" userId="1baf5052-8130-4f07-8591-895c85ed967e" providerId="ADAL" clId="{2737C09B-AC6B-5E0A-A812-D64845F233ED}" dt="2026-08-01T10:55:25.943" v="224" actId="113"/>
        <pc:sldMkLst>
          <pc:docMk/>
          <pc:sldMk cId="0" sldId="261"/>
        </pc:sldMkLst>
      </pc:sldChg>
      <pc:sldChg chg="add setBg">
        <pc:chgData name="Errol Francke" userId="1baf5052-8130-4f07-8591-895c85ed967e" providerId="ADAL" clId="{2737C09B-AC6B-5E0A-A812-D64845F233ED}" dt="2026-08-01T10:00:54.786" v="1"/>
        <pc:sldMkLst>
          <pc:docMk/>
          <pc:sldMk cId="0" sldId="263"/>
        </pc:sldMkLst>
      </pc:sldChg>
      <pc:sldChg chg="addSp delSp modSp add mod setBg modNotesTx">
        <pc:chgData name="Errol Francke" userId="1baf5052-8130-4f07-8591-895c85ed967e" providerId="ADAL" clId="{2737C09B-AC6B-5E0A-A812-D64845F233ED}" dt="2026-08-01T11:15:45.861" v="1320" actId="478"/>
        <pc:sldMkLst>
          <pc:docMk/>
          <pc:sldMk cId="0" sldId="264"/>
        </pc:sldMkLst>
        <pc:spChg chg="mod">
          <ac:chgData name="Errol Francke" userId="1baf5052-8130-4f07-8591-895c85ed967e" providerId="ADAL" clId="{2737C09B-AC6B-5E0A-A812-D64845F233ED}" dt="2026-08-01T11:05:20.427" v="274" actId="21"/>
          <ac:spMkLst>
            <pc:docMk/>
            <pc:sldMk cId="0" sldId="264"/>
            <ac:spMk id="8" creationId="{00000000-0000-0000-0000-000000000000}"/>
          </ac:spMkLst>
        </pc:spChg>
        <pc:spChg chg="mod">
          <ac:chgData name="Errol Francke" userId="1baf5052-8130-4f07-8591-895c85ed967e" providerId="ADAL" clId="{2737C09B-AC6B-5E0A-A812-D64845F233ED}" dt="2026-08-01T11:06:19.082" v="348" actId="1037"/>
          <ac:spMkLst>
            <pc:docMk/>
            <pc:sldMk cId="0" sldId="264"/>
            <ac:spMk id="9" creationId="{00000000-0000-0000-0000-000000000000}"/>
          </ac:spMkLst>
        </pc:spChg>
        <pc:spChg chg="mod">
          <ac:chgData name="Errol Francke" userId="1baf5052-8130-4f07-8591-895c85ed967e" providerId="ADAL" clId="{2737C09B-AC6B-5E0A-A812-D64845F233ED}" dt="2026-08-01T11:06:36.890" v="421" actId="1037"/>
          <ac:spMkLst>
            <pc:docMk/>
            <pc:sldMk cId="0" sldId="264"/>
            <ac:spMk id="10" creationId="{00000000-0000-0000-0000-000000000000}"/>
          </ac:spMkLst>
        </pc:spChg>
        <pc:spChg chg="mod">
          <ac:chgData name="Errol Francke" userId="1baf5052-8130-4f07-8591-895c85ed967e" providerId="ADAL" clId="{2737C09B-AC6B-5E0A-A812-D64845F233ED}" dt="2026-08-01T11:06:54.554" v="523" actId="1035"/>
          <ac:spMkLst>
            <pc:docMk/>
            <pc:sldMk cId="0" sldId="264"/>
            <ac:spMk id="11" creationId="{00000000-0000-0000-0000-000000000000}"/>
          </ac:spMkLst>
        </pc:spChg>
        <pc:spChg chg="mod">
          <ac:chgData name="Errol Francke" userId="1baf5052-8130-4f07-8591-895c85ed967e" providerId="ADAL" clId="{2737C09B-AC6B-5E0A-A812-D64845F233ED}" dt="2026-08-01T11:07:11.225" v="625" actId="1035"/>
          <ac:spMkLst>
            <pc:docMk/>
            <pc:sldMk cId="0" sldId="264"/>
            <ac:spMk id="12" creationId="{00000000-0000-0000-0000-000000000000}"/>
          </ac:spMkLst>
        </pc:spChg>
        <pc:spChg chg="add mod">
          <ac:chgData name="Errol Francke" userId="1baf5052-8130-4f07-8591-895c85ed967e" providerId="ADAL" clId="{2737C09B-AC6B-5E0A-A812-D64845F233ED}" dt="2026-08-01T11:07:46.289" v="700" actId="14100"/>
          <ac:spMkLst>
            <pc:docMk/>
            <pc:sldMk cId="0" sldId="264"/>
            <ac:spMk id="15" creationId="{D6CABD01-1E92-648D-9401-D2176AA98606}"/>
          </ac:spMkLst>
        </pc:spChg>
        <pc:picChg chg="add mod">
          <ac:chgData name="Errol Francke" userId="1baf5052-8130-4f07-8591-895c85ed967e" providerId="ADAL" clId="{2737C09B-AC6B-5E0A-A812-D64845F233ED}" dt="2026-08-01T11:07:39.344" v="699" actId="1037"/>
          <ac:picMkLst>
            <pc:docMk/>
            <pc:sldMk cId="0" sldId="264"/>
            <ac:picMk id="13" creationId="{013D45D7-4599-1B65-E5F7-E43F87352683}"/>
          </ac:picMkLst>
        </pc:picChg>
      </pc:sldChg>
      <pc:sldChg chg="addSp delSp modSp add mod setBg">
        <pc:chgData name="Errol Francke" userId="1baf5052-8130-4f07-8591-895c85ed967e" providerId="ADAL" clId="{2737C09B-AC6B-5E0A-A812-D64845F233ED}" dt="2026-08-01T11:15:20.759" v="1319" actId="478"/>
        <pc:sldMkLst>
          <pc:docMk/>
          <pc:sldMk cId="0" sldId="265"/>
        </pc:sldMkLst>
        <pc:spChg chg="mod">
          <ac:chgData name="Errol Francke" userId="1baf5052-8130-4f07-8591-895c85ed967e" providerId="ADAL" clId="{2737C09B-AC6B-5E0A-A812-D64845F233ED}" dt="2026-08-01T11:15:08.064" v="1318" actId="1037"/>
          <ac:spMkLst>
            <pc:docMk/>
            <pc:sldMk cId="0" sldId="265"/>
            <ac:spMk id="8" creationId="{00000000-0000-0000-0000-000000000000}"/>
          </ac:spMkLst>
        </pc:spChg>
        <pc:spChg chg="mod">
          <ac:chgData name="Errol Francke" userId="1baf5052-8130-4f07-8591-895c85ed967e" providerId="ADAL" clId="{2737C09B-AC6B-5E0A-A812-D64845F233ED}" dt="2026-08-01T11:12:29.414" v="818" actId="1037"/>
          <ac:spMkLst>
            <pc:docMk/>
            <pc:sldMk cId="0" sldId="265"/>
            <ac:spMk id="9" creationId="{00000000-0000-0000-0000-000000000000}"/>
          </ac:spMkLst>
        </pc:spChg>
        <pc:spChg chg="mod">
          <ac:chgData name="Errol Francke" userId="1baf5052-8130-4f07-8591-895c85ed967e" providerId="ADAL" clId="{2737C09B-AC6B-5E0A-A812-D64845F233ED}" dt="2026-08-01T11:13:24.210" v="1032" actId="1036"/>
          <ac:spMkLst>
            <pc:docMk/>
            <pc:sldMk cId="0" sldId="265"/>
            <ac:spMk id="10" creationId="{00000000-0000-0000-0000-000000000000}"/>
          </ac:spMkLst>
        </pc:spChg>
        <pc:spChg chg="mod">
          <ac:chgData name="Errol Francke" userId="1baf5052-8130-4f07-8591-895c85ed967e" providerId="ADAL" clId="{2737C09B-AC6B-5E0A-A812-D64845F233ED}" dt="2026-08-01T11:13:11.764" v="1016" actId="1037"/>
          <ac:spMkLst>
            <pc:docMk/>
            <pc:sldMk cId="0" sldId="265"/>
            <ac:spMk id="11" creationId="{00000000-0000-0000-0000-000000000000}"/>
          </ac:spMkLst>
        </pc:spChg>
        <pc:spChg chg="mod">
          <ac:chgData name="Errol Francke" userId="1baf5052-8130-4f07-8591-895c85ed967e" providerId="ADAL" clId="{2737C09B-AC6B-5E0A-A812-D64845F233ED}" dt="2026-08-01T11:13:44.909" v="1079" actId="122"/>
          <ac:spMkLst>
            <pc:docMk/>
            <pc:sldMk cId="0" sldId="265"/>
            <ac:spMk id="13" creationId="{00000000-0000-0000-0000-000000000000}"/>
          </ac:spMkLst>
        </pc:spChg>
        <pc:spChg chg="mod">
          <ac:chgData name="Errol Francke" userId="1baf5052-8130-4f07-8591-895c85ed967e" providerId="ADAL" clId="{2737C09B-AC6B-5E0A-A812-D64845F233ED}" dt="2026-08-01T11:13:44.909" v="1079" actId="122"/>
          <ac:spMkLst>
            <pc:docMk/>
            <pc:sldMk cId="0" sldId="265"/>
            <ac:spMk id="14" creationId="{00C3AC94-0491-6E48-C639-3F8F67206106}"/>
          </ac:spMkLst>
        </pc:spChg>
        <pc:picChg chg="add mod">
          <ac:chgData name="Errol Francke" userId="1baf5052-8130-4f07-8591-895c85ed967e" providerId="ADAL" clId="{2737C09B-AC6B-5E0A-A812-D64845F233ED}" dt="2026-08-01T11:14:35.830" v="1230" actId="1038"/>
          <ac:picMkLst>
            <pc:docMk/>
            <pc:sldMk cId="0" sldId="265"/>
            <ac:picMk id="12" creationId="{C9DB03AA-CB52-B1E9-767D-C5A5B60640AF}"/>
          </ac:picMkLst>
        </pc:picChg>
      </pc:sldChg>
      <pc:sldChg chg="add setBg">
        <pc:chgData name="Errol Francke" userId="1baf5052-8130-4f07-8591-895c85ed967e" providerId="ADAL" clId="{2737C09B-AC6B-5E0A-A812-D64845F233ED}" dt="2026-08-01T10:00:54.786" v="1"/>
        <pc:sldMkLst>
          <pc:docMk/>
          <pc:sldMk cId="0" sldId="266"/>
        </pc:sldMkLst>
      </pc:sldChg>
      <pc:sldChg chg="add setBg">
        <pc:chgData name="Errol Francke" userId="1baf5052-8130-4f07-8591-895c85ed967e" providerId="ADAL" clId="{2737C09B-AC6B-5E0A-A812-D64845F233ED}" dt="2026-08-01T10:00:54.786" v="1"/>
        <pc:sldMkLst>
          <pc:docMk/>
          <pc:sldMk cId="0" sldId="267"/>
        </pc:sldMkLst>
      </pc:sldChg>
      <pc:sldChg chg="add setBg">
        <pc:chgData name="Errol Francke" userId="1baf5052-8130-4f07-8591-895c85ed967e" providerId="ADAL" clId="{2737C09B-AC6B-5E0A-A812-D64845F233ED}" dt="2026-08-01T10:00:54.786" v="1"/>
        <pc:sldMkLst>
          <pc:docMk/>
          <pc:sldMk cId="0" sldId="268"/>
        </pc:sldMkLst>
      </pc:sldChg>
      <pc:sldChg chg="add setBg">
        <pc:chgData name="Errol Francke" userId="1baf5052-8130-4f07-8591-895c85ed967e" providerId="ADAL" clId="{2737C09B-AC6B-5E0A-A812-D64845F233ED}" dt="2026-08-01T10:00:54.786" v="1"/>
        <pc:sldMkLst>
          <pc:docMk/>
          <pc:sldMk cId="0" sldId="269"/>
        </pc:sldMkLst>
      </pc:sldChg>
      <pc:sldChg chg="add setBg">
        <pc:chgData name="Errol Francke" userId="1baf5052-8130-4f07-8591-895c85ed967e" providerId="ADAL" clId="{2737C09B-AC6B-5E0A-A812-D64845F233ED}" dt="2026-08-01T10:00:54.786" v="1"/>
        <pc:sldMkLst>
          <pc:docMk/>
          <pc:sldMk cId="0" sldId="270"/>
        </pc:sldMkLst>
      </pc:sldChg>
      <pc:sldChg chg="add setBg">
        <pc:chgData name="Errol Francke" userId="1baf5052-8130-4f07-8591-895c85ed967e" providerId="ADAL" clId="{2737C09B-AC6B-5E0A-A812-D64845F233ED}" dt="2026-08-01T10:00:54.786" v="1"/>
        <pc:sldMkLst>
          <pc:docMk/>
          <pc:sldMk cId="0" sldId="271"/>
        </pc:sldMkLst>
      </pc:sldChg>
      <pc:sldChg chg="add setBg">
        <pc:chgData name="Errol Francke" userId="1baf5052-8130-4f07-8591-895c85ed967e" providerId="ADAL" clId="{2737C09B-AC6B-5E0A-A812-D64845F233ED}" dt="2026-08-01T10:00:54.786" v="1"/>
        <pc:sldMkLst>
          <pc:docMk/>
          <pc:sldMk cId="0" sldId="272"/>
        </pc:sldMkLst>
      </pc:sldChg>
      <pc:sldChg chg="add setBg">
        <pc:chgData name="Errol Francke" userId="1baf5052-8130-4f07-8591-895c85ed967e" providerId="ADAL" clId="{2737C09B-AC6B-5E0A-A812-D64845F233ED}" dt="2026-08-01T10:00:54.786" v="1"/>
        <pc:sldMkLst>
          <pc:docMk/>
          <pc:sldMk cId="0" sldId="273"/>
        </pc:sldMkLst>
      </pc:sldChg>
      <pc:sldChg chg="add setBg">
        <pc:chgData name="Errol Francke" userId="1baf5052-8130-4f07-8591-895c85ed967e" providerId="ADAL" clId="{2737C09B-AC6B-5E0A-A812-D64845F233ED}" dt="2026-08-01T10:00:54.786" v="1"/>
        <pc:sldMkLst>
          <pc:docMk/>
          <pc:sldMk cId="0" sldId="274"/>
        </pc:sldMkLst>
      </pc:sldChg>
      <pc:sldChg chg="add setBg">
        <pc:chgData name="Errol Francke" userId="1baf5052-8130-4f07-8591-895c85ed967e" providerId="ADAL" clId="{2737C09B-AC6B-5E0A-A812-D64845F233ED}" dt="2026-08-01T10:00:54.786" v="1"/>
        <pc:sldMkLst>
          <pc:docMk/>
          <pc:sldMk cId="0" sldId="275"/>
        </pc:sldMkLst>
      </pc:sldChg>
      <pc:sldChg chg="addSp delSp modSp add mod setBg">
        <pc:chgData name="Errol Francke" userId="1baf5052-8130-4f07-8591-895c85ed967e" providerId="ADAL" clId="{2737C09B-AC6B-5E0A-A812-D64845F233ED}" dt="2026-08-01T10:03:47.974" v="107" actId="11529"/>
        <pc:sldMkLst>
          <pc:docMk/>
          <pc:sldMk cId="0" sldId="279"/>
        </pc:sldMkLst>
        <pc:spChg chg="mod">
          <ac:chgData name="Errol Francke" userId="1baf5052-8130-4f07-8591-895c85ed967e" providerId="ADAL" clId="{2737C09B-AC6B-5E0A-A812-D64845F233ED}" dt="2026-08-01T10:02:57.246" v="105" actId="115"/>
          <ac:spMkLst>
            <pc:docMk/>
            <pc:sldMk cId="0" sldId="279"/>
            <ac:spMk id="7" creationId="{00000000-0000-0000-0000-000000000000}"/>
          </ac:spMkLst>
        </pc:spChg>
      </pc:sldChg>
      <pc:sldChg chg="add setBg">
        <pc:chgData name="Errol Francke" userId="1baf5052-8130-4f07-8591-895c85ed967e" providerId="ADAL" clId="{2737C09B-AC6B-5E0A-A812-D64845F233ED}" dt="2026-08-01T10:00:54.786" v="1"/>
        <pc:sldMkLst>
          <pc:docMk/>
          <pc:sldMk cId="0" sldId="280"/>
        </pc:sldMkLst>
      </pc:sldChg>
      <pc:sldChg chg="delSp add mod setBg modNotesTx">
        <pc:chgData name="Errol Francke" userId="1baf5052-8130-4f07-8591-895c85ed967e" providerId="ADAL" clId="{2737C09B-AC6B-5E0A-A812-D64845F233ED}" dt="2026-08-01T10:06:52.565" v="113" actId="20577"/>
        <pc:sldMkLst>
          <pc:docMk/>
          <pc:sldMk cId="0" sldId="310"/>
        </pc:sldMkLst>
      </pc:sldChg>
      <pc:sldChg chg="add setBg modNotesTx">
        <pc:chgData name="Errol Francke" userId="1baf5052-8130-4f07-8591-895c85ed967e" providerId="ADAL" clId="{2737C09B-AC6B-5E0A-A812-D64845F233ED}" dt="2026-08-01T10:59:06.313" v="256" actId="113"/>
        <pc:sldMkLst>
          <pc:docMk/>
          <pc:sldMk cId="0" sldId="311"/>
        </pc:sldMkLst>
      </pc:sldChg>
      <pc:sldChg chg="add setBg">
        <pc:chgData name="Errol Francke" userId="1baf5052-8130-4f07-8591-895c85ed967e" providerId="ADAL" clId="{2737C09B-AC6B-5E0A-A812-D64845F233ED}" dt="2026-08-01T10:00:54.786" v="1"/>
        <pc:sldMkLst>
          <pc:docMk/>
          <pc:sldMk cId="0" sldId="312"/>
        </pc:sldMkLst>
      </pc:sldChg>
      <pc:sldChg chg="add setBg">
        <pc:chgData name="Errol Francke" userId="1baf5052-8130-4f07-8591-895c85ed967e" providerId="ADAL" clId="{2737C09B-AC6B-5E0A-A812-D64845F233ED}" dt="2026-08-01T10:00:54.786" v="1"/>
        <pc:sldMkLst>
          <pc:docMk/>
          <pc:sldMk cId="0" sldId="31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245C065-7973-41A8-A2CC-441A8BA3384C}" type="datetime1">
              <a:rPr lang="en-GB" smtClean="0"/>
              <a:t>03/08/2026</a:t>
            </a:fld>
            <a:endParaRPr lang="en-GB"/>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en-GB" smtClean="0"/>
              <a:t>‹#›</a:t>
            </a:fld>
            <a:endParaRPr lang="en-GB"/>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87A586-3225-45EC-B90F-43F9676D14C2}" type="datetime1">
              <a:rPr lang="en-GB" smtClean="0"/>
              <a:pPr/>
              <a:t>03/08/2026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en-GB" noProof="0" smtClean="0"/>
              <a:t>‹#›</a:t>
            </a:fld>
            <a:endParaRPr lang="en-GB"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1</a:t>
            </a:fld>
            <a:endParaRPr lang="en-GB"/>
          </a:p>
        </p:txBody>
      </p:sp>
    </p:spTree>
    <p:extLst>
      <p:ext uri="{BB962C8B-B14F-4D97-AF65-F5344CB8AC3E}">
        <p14:creationId xmlns:p14="http://schemas.microsoft.com/office/powerpoint/2010/main" val="2772334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2</a:t>
            </a:fld>
            <a:endParaRPr lang="en-GB"/>
          </a:p>
        </p:txBody>
      </p:sp>
    </p:spTree>
    <p:extLst>
      <p:ext uri="{BB962C8B-B14F-4D97-AF65-F5344CB8AC3E}">
        <p14:creationId xmlns:p14="http://schemas.microsoft.com/office/powerpoint/2010/main" val="2839078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A2A31-A040-D70B-ABBF-9FD1A77EF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8A463-70F4-E36C-1F4E-686532BAFF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926C3-03D4-54A2-A2FB-154A723E216D}"/>
              </a:ext>
            </a:extLst>
          </p:cNvPr>
          <p:cNvSpPr>
            <a:spLocks noGrp="1"/>
          </p:cNvSpPr>
          <p:nvPr>
            <p:ph type="body" idx="1"/>
          </p:nvPr>
        </p:nvSpPr>
        <p:spPr/>
        <p:txBody>
          <a:bodyPr/>
          <a:lstStyle/>
          <a:p>
            <a:r>
              <a:rPr lang="en-ZA" dirty="0"/>
              <a:t>Research data is best managed through the Research Data Lifecycle, which describes how data moves from its initial creation through processing, sharing and long-term preservation. Although presented as a cycle, these stages are interconnected. Decisions made at the beginning of a project influence what can later be analysed, published, verified or reused.</a:t>
            </a:r>
          </a:p>
          <a:p>
            <a:endParaRPr lang="en-ZA" dirty="0"/>
          </a:p>
          <a:p>
            <a:r>
              <a:rPr lang="en-ZA" b="1" dirty="0"/>
              <a:t>Research data includes more than conventional datasets. It may include software, code, metadata, observations and analytical records. In a systematic literature review, the research data includes database search results, search strategies, screening decisions, quality-appraisal records, extraction tables and the evidence used in the final synthesis.</a:t>
            </a:r>
          </a:p>
          <a:p>
            <a:endParaRPr lang="en-ZA" dirty="0"/>
          </a:p>
          <a:p>
            <a:r>
              <a:rPr lang="en-ZA" dirty="0"/>
              <a:t>Effective management, therefore, requires researchers to organise files consistently, document methodological decisions, use appropriate storage and backup systems, and determine which outputs can be responsibly shared or archived.</a:t>
            </a:r>
          </a:p>
          <a:p>
            <a:r>
              <a:rPr lang="en-ZA" dirty="0"/>
              <a:t>Students must also understand their ethical and legal responsibilities throughout the lifecycle. These include maintaining research integrity, protecting confidential information, respecting copyright and database licences, and accurately representing the evidence.</a:t>
            </a:r>
          </a:p>
          <a:p>
            <a:endParaRPr lang="en-ZA" dirty="0"/>
          </a:p>
          <a:p>
            <a:r>
              <a:rPr lang="en-ZA" b="1" dirty="0"/>
              <a:t>The central message is that research data management is not an administrative activity added at the end. It is an essential part of producing transparent, trustworthy and reproducible research from the beginning.</a:t>
            </a:r>
          </a:p>
          <a:p>
            <a:endParaRPr lang="en-GB" dirty="0"/>
          </a:p>
        </p:txBody>
      </p:sp>
      <p:sp>
        <p:nvSpPr>
          <p:cNvPr id="4" name="Slide Number Placeholder 3">
            <a:extLst>
              <a:ext uri="{FF2B5EF4-FFF2-40B4-BE49-F238E27FC236}">
                <a16:creationId xmlns:a16="http://schemas.microsoft.com/office/drawing/2014/main" id="{4C75CC18-1F21-A384-10AE-FFBC1CB2C696}"/>
              </a:ext>
            </a:extLst>
          </p:cNvPr>
          <p:cNvSpPr>
            <a:spLocks noGrp="1"/>
          </p:cNvSpPr>
          <p:nvPr>
            <p:ph type="sldNum" sz="quarter" idx="5"/>
          </p:nvPr>
        </p:nvSpPr>
        <p:spPr/>
        <p:txBody>
          <a:bodyPr/>
          <a:lstStyle/>
          <a:p>
            <a:pPr rtl="0"/>
            <a:fld id="{D4B9A9E5-4F7F-4A7D-9DE1-899232329269}" type="slidenum">
              <a:rPr lang="en-GB" smtClean="0"/>
              <a:t>3</a:t>
            </a:fld>
            <a:endParaRPr lang="en-GB"/>
          </a:p>
        </p:txBody>
      </p:sp>
    </p:spTree>
    <p:extLst>
      <p:ext uri="{BB962C8B-B14F-4D97-AF65-F5344CB8AC3E}">
        <p14:creationId xmlns:p14="http://schemas.microsoft.com/office/powerpoint/2010/main" val="4034899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r>
              <a:rPr lang="en-ZA" dirty="0"/>
              <a:t>Research data management begins before the first piece of data is collected and continues beyond the end of the project. A Data Management Plan, or DMP, provides the roadmap for this process. It explains what data will be created, where it will be stored, who may access it, how it will be protected, and what will happen to it after the research is completed.</a:t>
            </a:r>
          </a:p>
          <a:p>
            <a:r>
              <a:rPr lang="en-ZA" b="1" dirty="0"/>
              <a:t>The lifecycle shown here moves through four connected phases: create, explore, share and preserve. Although presented as stages, these activities are not always strictly linear. Decisions made during data creation affect what can later be analysed, shared or archived. Preservation must therefore be considered throughout the project, not only at the end.</a:t>
            </a:r>
          </a:p>
          <a:p>
            <a:r>
              <a:rPr lang="en-ZA" dirty="0"/>
              <a:t>For CPUT, a DMP also supports compliance with legal, ethical and contractual responsibilities. It protects participants, strengthens research integrity and helps prevent the loss of valuable data. Ultimately, good management ensures that research data remain findable, accessible, interoperable and reusable. Let us begin with the first phase: creating research data.</a:t>
            </a:r>
          </a:p>
          <a:p>
            <a:pPr rtl="0"/>
            <a:endParaRPr lang="en-GB" dirty="0"/>
          </a:p>
        </p:txBody>
      </p:sp>
      <p:sp>
        <p:nvSpPr>
          <p:cNvPr id="4" name="Slide Number Placeholder 3"/>
          <p:cNvSpPr>
            <a:spLocks noGrp="1"/>
          </p:cNvSpPr>
          <p:nvPr>
            <p:ph type="sldNum" sz="quarter" idx="5"/>
          </p:nvPr>
        </p:nvSpPr>
        <p:spPr/>
        <p:txBody>
          <a:bodyPr rtlCol="0"/>
          <a:lstStyle/>
          <a:p>
            <a:pPr rtl="0"/>
            <a:fld id="{D4B9A9E5-4F7F-4A7D-9DE1-899232329269}" type="slidenum">
              <a:rPr lang="en-GB" smtClean="0"/>
              <a:t>4</a:t>
            </a:fld>
            <a:endParaRPr lang="en-GB"/>
          </a:p>
        </p:txBody>
      </p:sp>
    </p:spTree>
    <p:extLst>
      <p:ext uri="{BB962C8B-B14F-4D97-AF65-F5344CB8AC3E}">
        <p14:creationId xmlns:p14="http://schemas.microsoft.com/office/powerpoint/2010/main" val="3886065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The Create phase establishes the foundation of the research project. </a:t>
            </a:r>
          </a:p>
          <a:p>
            <a:r>
              <a:rPr lang="en-ZA" b="1" dirty="0"/>
              <a:t>Before collecting any data, researchers must clearly define their objectives, research questions and methods. They must also identify appropriate data sources, search tools and platforms. In a systematic literature review, this requires developing a transparent and reproducible search strategy before beginning the database searches.</a:t>
            </a:r>
          </a:p>
          <a:p>
            <a:r>
              <a:rPr lang="en-ZA" dirty="0"/>
              <a:t>For example, ICT students conducting a systematic literature review might search databases such as Scopus, Web of Science and IEEE Xplore. They should document the databases searched, the complete search strings, keywords and Boolean operators used, the date of each search, and any filters applied. The bibliographic records and search results retrieved from these databases then become the review’s raw data.</a:t>
            </a:r>
          </a:p>
          <a:p>
            <a:r>
              <a:rPr lang="en-ZA" b="1" dirty="0"/>
              <a:t>Quality assurance is essential at this stage. Students should verify that the search strategy aligns with the research question, test whether it retrieves relevant studies, and maintain the original database exports before removing duplicates or screening records.</a:t>
            </a:r>
          </a:p>
          <a:p>
            <a:r>
              <a:rPr lang="en-ZA" dirty="0"/>
              <a:t>Good organisation is equally important. Files should have consistent names, dates and version information and should be stored securely. A carefully documented Create phase ensures that the review process is transparent, reproducible and ready for the next stage: exploring, screening and analysing the evidence.</a:t>
            </a:r>
          </a:p>
          <a:p>
            <a:endParaRPr lang="en-GB" dirty="0"/>
          </a:p>
        </p:txBody>
      </p:sp>
      <p:sp>
        <p:nvSpPr>
          <p:cNvPr id="4" name="Slide Number Placeholder 3"/>
          <p:cNvSpPr>
            <a:spLocks noGrp="1"/>
          </p:cNvSpPr>
          <p:nvPr>
            <p:ph type="sldNum" sz="quarter" idx="5"/>
          </p:nvPr>
        </p:nvSpPr>
        <p:spPr/>
        <p:txBody>
          <a:bodyPr/>
          <a:lstStyle/>
          <a:p>
            <a:pPr rtl="0"/>
            <a:fld id="{D4B9A9E5-4F7F-4A7D-9DE1-899232329269}" type="slidenum">
              <a:rPr lang="en-GB" smtClean="0"/>
              <a:t>5</a:t>
            </a:fld>
            <a:endParaRPr lang="en-GB"/>
          </a:p>
        </p:txBody>
      </p:sp>
    </p:spTree>
    <p:extLst>
      <p:ext uri="{BB962C8B-B14F-4D97-AF65-F5344CB8AC3E}">
        <p14:creationId xmlns:p14="http://schemas.microsoft.com/office/powerpoint/2010/main" val="277097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03143-DCF6-34E4-0B91-A2AD6BC17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F9283-B9C6-AEF0-15B4-C8210D679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2B3CC-1341-B895-15DD-C96177793DF1}"/>
              </a:ext>
            </a:extLst>
          </p:cNvPr>
          <p:cNvSpPr>
            <a:spLocks noGrp="1"/>
          </p:cNvSpPr>
          <p:nvPr>
            <p:ph type="body" idx="1"/>
          </p:nvPr>
        </p:nvSpPr>
        <p:spPr/>
        <p:txBody>
          <a:bodyPr/>
          <a:lstStyle/>
          <a:p>
            <a:r>
              <a:rPr lang="en-ZA" dirty="0"/>
              <a:t>The Explore phase transforms the raw search results into a structured and defensible body of evidence. </a:t>
            </a:r>
          </a:p>
          <a:p>
            <a:r>
              <a:rPr lang="en-ZA" b="1" dirty="0"/>
              <a:t>In a systematic literature review, this involves more than reading the articles. Every decision about including, excluding, coding and interpreting studies should follow a transparent and consistently applied process.</a:t>
            </a:r>
          </a:p>
          <a:p>
            <a:r>
              <a:rPr lang="en-ZA" dirty="0"/>
              <a:t>You might begin by removing duplicate records retrieved from different databases. You then screen the titles and abstracts against predefined inclusion and exclusion criteria. Potentially relevant articles proceed to full-text screening, where eligibility is assessed more carefully. Reasons for excluding full-text articles should be recorded to maintain a clear audit trail and support accurate reporting in the PRISMA flow diagram.</a:t>
            </a:r>
          </a:p>
          <a:p>
            <a:r>
              <a:rPr lang="en-ZA" b="1" dirty="0"/>
              <a:t>The included studies should then undergo an appropriate quality or critical appraisal process. You can extract relevant information into a structured data-extraction table, including study context, research design, technologies examined, principal findings and reported limitations.</a:t>
            </a:r>
          </a:p>
          <a:p>
            <a:r>
              <a:rPr lang="en-ZA" dirty="0"/>
              <a:t>The extracted evidence can then be compared and synthesised to identify patterns, contradictions and knowledge gaps. Throughout this phase, you should document changes to the protocol, screening decisions and analytical categories. This disciplined process makes the synthesis traceable, reduces selection bias and prepares the findings for responsible sharing.</a:t>
            </a:r>
          </a:p>
          <a:p>
            <a:endParaRPr lang="en-GB" dirty="0"/>
          </a:p>
        </p:txBody>
      </p:sp>
      <p:sp>
        <p:nvSpPr>
          <p:cNvPr id="4" name="Slide Number Placeholder 3">
            <a:extLst>
              <a:ext uri="{FF2B5EF4-FFF2-40B4-BE49-F238E27FC236}">
                <a16:creationId xmlns:a16="http://schemas.microsoft.com/office/drawing/2014/main" id="{370C28E2-DBB3-BA07-E324-4566F00EBB85}"/>
              </a:ext>
            </a:extLst>
          </p:cNvPr>
          <p:cNvSpPr>
            <a:spLocks noGrp="1"/>
          </p:cNvSpPr>
          <p:nvPr>
            <p:ph type="sldNum" sz="quarter" idx="5"/>
          </p:nvPr>
        </p:nvSpPr>
        <p:spPr/>
        <p:txBody>
          <a:bodyPr/>
          <a:lstStyle/>
          <a:p>
            <a:pPr rtl="0"/>
            <a:fld id="{D4B9A9E5-4F7F-4A7D-9DE1-899232329269}" type="slidenum">
              <a:rPr lang="en-GB" smtClean="0"/>
              <a:t>6</a:t>
            </a:fld>
            <a:endParaRPr lang="en-GB"/>
          </a:p>
        </p:txBody>
      </p:sp>
    </p:spTree>
    <p:extLst>
      <p:ext uri="{BB962C8B-B14F-4D97-AF65-F5344CB8AC3E}">
        <p14:creationId xmlns:p14="http://schemas.microsoft.com/office/powerpoint/2010/main" val="1773208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5A6A8-CB2C-EC20-40C6-9A7057B4C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8C22C-E839-ACDB-2353-9CF537FE6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8BC3E-279B-5ED2-2642-ABA0CD5F825B}"/>
              </a:ext>
            </a:extLst>
          </p:cNvPr>
          <p:cNvSpPr>
            <a:spLocks noGrp="1"/>
          </p:cNvSpPr>
          <p:nvPr>
            <p:ph type="body" idx="1"/>
          </p:nvPr>
        </p:nvSpPr>
        <p:spPr/>
        <p:txBody>
          <a:bodyPr/>
          <a:lstStyle/>
          <a:p>
            <a:r>
              <a:rPr lang="en-ZA" dirty="0"/>
              <a:t>The Share phase focuses on making the systematic literature review transparent, understandable and, where appropriate, reusable. Sharing does not mean distributing every file collected during the review. It means providing sufficient information for others to understand how the evidence was identified, selected, evaluated and synthesised.</a:t>
            </a:r>
          </a:p>
          <a:p>
            <a:endParaRPr lang="en-ZA" dirty="0"/>
          </a:p>
          <a:p>
            <a:r>
              <a:rPr lang="en-ZA" b="1" dirty="0"/>
              <a:t>Students might share their complete search strategies, database details, selection criteria, PRISMA flow diagram, data-extraction template and synthesis tables through an institutional repository or as supplementary material accompanying the final publication. These materials allow readers to evaluate the rigour of the review and support researchers who may later wish to reproduce or update it.</a:t>
            </a:r>
          </a:p>
          <a:p>
            <a:r>
              <a:rPr lang="en-ZA" dirty="0"/>
              <a:t>The FAIR principles remain relevant. Review materials should be findable, clearly described, stored in accessible formats, and well documented to support responsible reuse. File names, version details, methodological notes and appropriate licences should therefore be included.</a:t>
            </a:r>
          </a:p>
          <a:p>
            <a:r>
              <a:rPr lang="en-ZA" b="1" dirty="0"/>
              <a:t>Copyright and database restrictions must also be respected. Students should not upload or redistribute copyrighted journal articles unless permission expressly allows it. Instead, they can share bibliographic information, article identifiers, original coding frameworks and independently created synthesis materials. Responsible sharing strengthens the credibility, visibility and long-term scholarly value of the systematic literature review.</a:t>
            </a:r>
          </a:p>
          <a:p>
            <a:endParaRPr lang="en-GB" dirty="0"/>
          </a:p>
        </p:txBody>
      </p:sp>
      <p:sp>
        <p:nvSpPr>
          <p:cNvPr id="4" name="Slide Number Placeholder 3">
            <a:extLst>
              <a:ext uri="{FF2B5EF4-FFF2-40B4-BE49-F238E27FC236}">
                <a16:creationId xmlns:a16="http://schemas.microsoft.com/office/drawing/2014/main" id="{8408E9A6-3E4B-B2CA-A456-B93E257EFEDE}"/>
              </a:ext>
            </a:extLst>
          </p:cNvPr>
          <p:cNvSpPr>
            <a:spLocks noGrp="1"/>
          </p:cNvSpPr>
          <p:nvPr>
            <p:ph type="sldNum" sz="quarter" idx="5"/>
          </p:nvPr>
        </p:nvSpPr>
        <p:spPr/>
        <p:txBody>
          <a:bodyPr/>
          <a:lstStyle/>
          <a:p>
            <a:pPr rtl="0"/>
            <a:fld id="{D4B9A9E5-4F7F-4A7D-9DE1-899232329269}" type="slidenum">
              <a:rPr lang="en-GB" smtClean="0"/>
              <a:t>7</a:t>
            </a:fld>
            <a:endParaRPr lang="en-GB"/>
          </a:p>
        </p:txBody>
      </p:sp>
    </p:spTree>
    <p:extLst>
      <p:ext uri="{BB962C8B-B14F-4D97-AF65-F5344CB8AC3E}">
        <p14:creationId xmlns:p14="http://schemas.microsoft.com/office/powerpoint/2010/main" val="3800120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6F9A8-36A2-086E-E647-06B39294A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88C97-2113-5545-BCCB-62A2066C2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7B65B-00E6-5BAF-5A9A-BE9E0DFAF5B5}"/>
              </a:ext>
            </a:extLst>
          </p:cNvPr>
          <p:cNvSpPr>
            <a:spLocks noGrp="1"/>
          </p:cNvSpPr>
          <p:nvPr>
            <p:ph type="body" idx="1"/>
          </p:nvPr>
        </p:nvSpPr>
        <p:spPr/>
        <p:txBody>
          <a:bodyPr/>
          <a:lstStyle/>
          <a:p>
            <a:r>
              <a:rPr lang="en-ZA" dirty="0"/>
              <a:t>The Preserve phase ensures that the evidence and decisions underlying the systematic literature review remain understandable and usable after the immediate project has been completed. Important review materials should not remain only on a student’s personal computer, a temporary cloud folder, or an external drive.</a:t>
            </a:r>
          </a:p>
          <a:p>
            <a:r>
              <a:rPr lang="en-ZA" b="1" dirty="0"/>
              <a:t>Students might archive database search records, screening decisions, quality appraisal results, extraction tables, and synthesis files in open formats. These materials should have clear filenames, dates, and version information, along with sufficient documentation explaining how they were created and how the review progressed.</a:t>
            </a:r>
          </a:p>
          <a:p>
            <a:r>
              <a:rPr lang="en-ZA" dirty="0"/>
              <a:t>Preservation should include the review protocol, complete search strings, database export files, deduplication records, inclusion and exclusion decisions, data-extraction forms, appraisal tools and final synthesis tables. Where possible, open and widely supported formats should be used to reduce dependence on particular software.</a:t>
            </a:r>
          </a:p>
          <a:p>
            <a:r>
              <a:rPr lang="en-ZA" b="1" dirty="0"/>
              <a:t>Not every downloaded article should be archived or redistributed, because publisher copyright and database licensing conditions still apply. Instead, students can preserve bibliographic records, persistent identifiers and links to the original publications.</a:t>
            </a:r>
          </a:p>
          <a:p>
            <a:r>
              <a:rPr lang="en-ZA" dirty="0"/>
              <a:t>Careful preservation creates a defensible audit trail, supports examination or verification, and makes it easier to update the review when new research appears. It therefore extends the reliability and scholarly value of the systematic literature review.</a:t>
            </a:r>
          </a:p>
          <a:p>
            <a:endParaRPr lang="en-GB" dirty="0"/>
          </a:p>
        </p:txBody>
      </p:sp>
      <p:sp>
        <p:nvSpPr>
          <p:cNvPr id="4" name="Slide Number Placeholder 3">
            <a:extLst>
              <a:ext uri="{FF2B5EF4-FFF2-40B4-BE49-F238E27FC236}">
                <a16:creationId xmlns:a16="http://schemas.microsoft.com/office/drawing/2014/main" id="{31F8FC96-92AC-D0A4-149E-9B70B24A8B44}"/>
              </a:ext>
            </a:extLst>
          </p:cNvPr>
          <p:cNvSpPr>
            <a:spLocks noGrp="1"/>
          </p:cNvSpPr>
          <p:nvPr>
            <p:ph type="sldNum" sz="quarter" idx="5"/>
          </p:nvPr>
        </p:nvSpPr>
        <p:spPr/>
        <p:txBody>
          <a:bodyPr/>
          <a:lstStyle/>
          <a:p>
            <a:pPr rtl="0"/>
            <a:fld id="{D4B9A9E5-4F7F-4A7D-9DE1-899232329269}" type="slidenum">
              <a:rPr lang="en-GB" smtClean="0"/>
              <a:t>8</a:t>
            </a:fld>
            <a:endParaRPr lang="en-GB"/>
          </a:p>
        </p:txBody>
      </p:sp>
    </p:spTree>
    <p:extLst>
      <p:ext uri="{BB962C8B-B14F-4D97-AF65-F5344CB8AC3E}">
        <p14:creationId xmlns:p14="http://schemas.microsoft.com/office/powerpoint/2010/main" val="1012657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EBD57-D891-4E01-343A-FF4B56FA6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775FD-342C-B833-DB98-DBE02720BD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5234AA-8A12-D57B-C35D-CBB3A92723C1}"/>
              </a:ext>
            </a:extLst>
          </p:cNvPr>
          <p:cNvSpPr>
            <a:spLocks noGrp="1"/>
          </p:cNvSpPr>
          <p:nvPr>
            <p:ph type="body" idx="1"/>
          </p:nvPr>
        </p:nvSpPr>
        <p:spPr/>
        <p:txBody>
          <a:bodyPr/>
          <a:lstStyle/>
          <a:p>
            <a:r>
              <a:rPr lang="en-ZA" dirty="0"/>
              <a:t>The Research Data Lifecycle reminds us that data is a critical research output requiring attention throughout the entire project. Good data management begins during planning, continues through collection and analysis, and extends to responsible sharing and long-term preservation.</a:t>
            </a:r>
          </a:p>
          <a:p>
            <a:r>
              <a:rPr lang="en-ZA" b="1" dirty="0"/>
              <a:t>Each stage contributes to research quality. Careful planning clarifies what data will be generated and how it will be handled. Consistent documentation creates a transparent record of the research process. Responsible sharing allows others to understand or reuse appropriate outputs, while preservation protects their value beyond the immediate project.</a:t>
            </a:r>
          </a:p>
          <a:p>
            <a:r>
              <a:rPr lang="en-ZA" dirty="0"/>
              <a:t>This approach aligns with global movements towards open science, responsible data sharing and stronger data stewardship. However, openness does not mean that every file must be made publicly available. Sharing must remain consistent with ethical responsibilities, copyright, licensing conditions and institutional requirements.</a:t>
            </a:r>
          </a:p>
          <a:p>
            <a:r>
              <a:rPr lang="en-ZA" b="1" dirty="0"/>
              <a:t>In a systematic literature review, research data includes search results, screening decisions, quality assessments, extracted evidence and synthesis records. Managing these materials carefully allows readers to trace how the conclusions were reached. It also supports reproducibility and makes future review updates more efficient.</a:t>
            </a:r>
          </a:p>
          <a:p>
            <a:r>
              <a:rPr lang="en-ZA" dirty="0"/>
              <a:t>Good data management is therefore central to producing credible, transparent and enduring research.</a:t>
            </a:r>
          </a:p>
          <a:p>
            <a:endParaRPr lang="en-GB" dirty="0"/>
          </a:p>
        </p:txBody>
      </p:sp>
      <p:sp>
        <p:nvSpPr>
          <p:cNvPr id="4" name="Slide Number Placeholder 3">
            <a:extLst>
              <a:ext uri="{FF2B5EF4-FFF2-40B4-BE49-F238E27FC236}">
                <a16:creationId xmlns:a16="http://schemas.microsoft.com/office/drawing/2014/main" id="{B61CC3FF-F372-1119-B5E2-868D65454AC3}"/>
              </a:ext>
            </a:extLst>
          </p:cNvPr>
          <p:cNvSpPr>
            <a:spLocks noGrp="1"/>
          </p:cNvSpPr>
          <p:nvPr>
            <p:ph type="sldNum" sz="quarter" idx="5"/>
          </p:nvPr>
        </p:nvSpPr>
        <p:spPr/>
        <p:txBody>
          <a:bodyPr/>
          <a:lstStyle/>
          <a:p>
            <a:pPr rtl="0"/>
            <a:fld id="{D4B9A9E5-4F7F-4A7D-9DE1-899232329269}" type="slidenum">
              <a:rPr lang="en-GB" smtClean="0"/>
              <a:t>9</a:t>
            </a:fld>
            <a:endParaRPr lang="en-GB"/>
          </a:p>
        </p:txBody>
      </p:sp>
    </p:spTree>
    <p:extLst>
      <p:ext uri="{BB962C8B-B14F-4D97-AF65-F5344CB8AC3E}">
        <p14:creationId xmlns:p14="http://schemas.microsoft.com/office/powerpoint/2010/main" val="551609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457700"/>
          </a:xfrm>
        </p:spPr>
        <p:txBody>
          <a:bodyPr/>
          <a:lstStyle/>
          <a:p>
            <a:r>
              <a:rPr lang="en-ZA" dirty="0"/>
              <a:t>Of interest to us, is the journey from understanding research ethics to applying it in practice. </a:t>
            </a:r>
          </a:p>
          <a:p>
            <a:r>
              <a:rPr lang="en-ZA" b="1" dirty="0">
                <a:solidFill>
                  <a:srgbClr val="FF0000"/>
                </a:solidFill>
              </a:rPr>
              <a:t>We begin with Retraction Watch, an independent platform that uses retractions, corrections and expressions of concern to show how scholarly research is produced, scrutinised and corrected. What’s important is that a retraction does not automatically mean deliberate misconduct; it may also result from honest error, unreliable methods or publishing mistakes.</a:t>
            </a:r>
          </a:p>
          <a:p>
            <a:r>
              <a:rPr lang="en-ZA" dirty="0"/>
              <a:t>We then consider the principles that should guide responsible research: integrity, accountability, transparency and the protection of public trust. These principles apply throughout the research process, from working with participants and managing data to authorship, peer review and publication.</a:t>
            </a:r>
          </a:p>
          <a:p>
            <a:r>
              <a:rPr lang="en-ZA" dirty="0">
                <a:solidFill>
                  <a:srgbClr val="FF0000"/>
                </a:solidFill>
              </a:rPr>
              <a:t>We will focus on five cases that make these principles tangible. They address participant welfare in gene-editing research, image duplication, alleged reviewer bribery, questionable authorship within a research factory, and AI-fabricated citations. The purpose is not merely to identify wrongdoing, but to ask who was affected, which ethical principle was compromised, what the consequences were and how the problem could have been prevented.</a:t>
            </a:r>
          </a:p>
          <a:p>
            <a:r>
              <a:rPr lang="en-ZA" b="1" dirty="0">
                <a:solidFill>
                  <a:srgbClr val="FF0000"/>
                </a:solidFill>
              </a:rPr>
              <a:t>Finally, we translate these lessons into practice: keep accurate records, cite honestly, protect participants and data, disclose conflicts, verify AI-generated material, report findings truthfully and correct mistakes transparently. </a:t>
            </a:r>
          </a:p>
          <a:p>
            <a:endParaRPr lang="en-ZA"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Retraction Watch performs three closely connected functions. </a:t>
            </a:r>
          </a:p>
          <a:p>
            <a:r>
              <a:rPr lang="en-ZA" b="1" dirty="0"/>
              <a:t>First, it provides independent reporting on retractions, corrections, expressions of concern and investigations into the reliability of published research. This reporting helps us understand not only what happened, but also how authors, journals, publishers and institutions responded.</a:t>
            </a:r>
          </a:p>
          <a:p>
            <a:r>
              <a:rPr lang="en-ZA" dirty="0"/>
              <a:t>Second, the Retraction Watch Database provides a structured record of these publishing events. Researchers and students can use it to identify recurring patterns across disciplines, institutions, journals and types of ethical concern. It therefore supports analysis that extends beyond a single high-profile case.</a:t>
            </a:r>
          </a:p>
          <a:p>
            <a:r>
              <a:rPr lang="en-ZA" b="1" dirty="0"/>
              <a:t>Third, Retraction Watch offers a lens on the scientific process itself. Its cases reveal how publication pressure, competition, weak oversight, conflicts of interest and failures in peer review can affect the production of knowledge.</a:t>
            </a:r>
          </a:p>
          <a:p>
            <a:r>
              <a:rPr lang="en-ZA" dirty="0"/>
              <a:t>The important point is that Retraction Watch is not simply a catalogue of scandals. A retraction may follow deliberate misconduct, but it may also result from honest error, unreliable methods or a publisher’s mistake. Our task is therefore not to rush to judgement. We should ask what went wrong, who was affected, whether the response was transparent and proportionate, and what safeguards could prevent a recurrence. Used in this way, Retraction Watch becomes a resource for strengthening accountability and supporting the self-correcting nature of research.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One of the most important lessons in research ethics is that a retraction should never be viewed in isolation. A retraction is a signal that something has gone wrong, but it is not automatically evidence of fraud or intentional misconduct.</a:t>
            </a:r>
          </a:p>
          <a:p>
            <a:r>
              <a:rPr lang="en-ZA" b="1" dirty="0"/>
              <a:t>Retractions can occur for many different reasons. Some involve serious ethical violations such as fabrication, falsification, plagiarism or manipulation of the peer-review process. Others arise from honest mistakes, such as errors in data analysis, contaminated samples, incorrect statistical methods or conclusions that cannot be reproduced. In some cases, the problem may even lie with the publisher through production or editorial errors.</a:t>
            </a:r>
          </a:p>
          <a:p>
            <a:r>
              <a:rPr lang="en-ZA" dirty="0"/>
              <a:t>As researchers, our responsibility is to look beyond the headline and ask critical questions. First, who accepted responsibility for the problem? Did the authors, institution or journal respond appropriately? This tells us something about accountability.</a:t>
            </a:r>
          </a:p>
          <a:p>
            <a:r>
              <a:rPr lang="en-ZA" b="1" dirty="0"/>
              <a:t>Second, was the correction process transparent? Was the reason for the retraction clearly explained, and were readers informed about what was unreliable? Transparency is essential for maintaining confidence in the scholarly record.</a:t>
            </a:r>
          </a:p>
          <a:p>
            <a:r>
              <a:rPr lang="en-ZA" dirty="0"/>
              <a:t>Finally, we should ask what lessons can be learned to prevent similar situations in the future. Were there weaknesses in supervision, research design, peer review, data management or publication practices that need to be addressed?</a:t>
            </a:r>
          </a:p>
          <a:p>
            <a:r>
              <a:rPr lang="en-ZA" b="1" dirty="0"/>
              <a:t>Rather than treating retractions as evidence of failure alone, we should view them as opportunities to strengthen research practice. Every case provides a chance to reflect on how integrity, accountability and transparency help ensure that research remains credible and worthy of public trust.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Research integrity matters because research does not remain confined to a journal article or university repository. Its findings shape further scholarship and may influence decisions about health, education, technology, policy and the allocation of resources. If the underlying evidence is fabricated, manipulated or reported selectively, every later decision based on that evidence may also be compromised.</a:t>
            </a:r>
          </a:p>
          <a:p>
            <a:r>
              <a:rPr lang="en-ZA" b="1" dirty="0"/>
              <a:t>Integrity therefore protects trust. Researchers, participants, institutions and the public must be able to rely on the honesty of the research process. It also protects impact by ensuring that decisions and innovations are grounded in credible evidence rather than misleading claims.</a:t>
            </a:r>
          </a:p>
          <a:p>
            <a:r>
              <a:rPr lang="en-ZA" dirty="0"/>
              <a:t>The reputational consequences extend beyond the individual researcher. Ethical failures can damage students, supervisors, collaborators, departments, universities, journals and even entire fields of study. Rebuilding that confidence can take years.</a:t>
            </a:r>
          </a:p>
          <a:p>
            <a:r>
              <a:rPr lang="en-ZA" b="1" dirty="0"/>
              <a:t>Integrity also supports learning. Researchers must be able to report negative, unexpected or inconclusive findings without feeling compelled to manufacture a more impressive result. Honest error can contribute to knowledge when it is acknowledged and corrected transparently.</a:t>
            </a:r>
          </a:p>
          <a:p>
            <a:r>
              <a:rPr lang="en-ZA" dirty="0"/>
              <a:t>The central message is that research ethics is not merely an administrative hurdle or a form to complete. It is a continuing professional obligation that shapes how we design research, collect and interpret evidence, acknowledge limitations and communicate our findings.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slide highlights three important things that research integrity protects: public trust, accountability and the credibility of the scholarly record.</a:t>
            </a:r>
          </a:p>
          <a:p>
            <a:endParaRPr lang="en-ZA" dirty="0"/>
          </a:p>
          <a:p>
            <a:r>
              <a:rPr lang="en-ZA" b="1" dirty="0"/>
              <a:t>First, research affects society. Decisions about healthcare, education, technology and public policy are often based on published evidence. When that evidence is reliable, research can support sound </a:t>
            </a:r>
          </a:p>
          <a:p>
            <a:r>
              <a:rPr lang="en-ZA" b="1" dirty="0"/>
              <a:t>decision-making. When it is distorted or misleading, the consequences may extend far beyond the researcher or institution involved.</a:t>
            </a:r>
          </a:p>
          <a:p>
            <a:r>
              <a:rPr lang="en-ZA" dirty="0"/>
              <a:t>Second, integrity creates accountability. Researchers must be able to explain how their studies were designed, how data were collected and analysed, and how conclusions were reached. Journals and institutions also have responsibilities. They must apply appropriate review processes, investigate concerns fairly and correct the record when necessary.</a:t>
            </a:r>
          </a:p>
          <a:p>
            <a:r>
              <a:rPr lang="en-ZA" b="1" dirty="0"/>
              <a:t>Third, integrity protects credibility. Research develops cumulatively, with new studies often relying on earlier findings. If the scientific record becomes corrupted, later researchers may waste time, funding and effort building on unreliable evidence. Confidence in universities, journals and the research profession may also be weakened.</a:t>
            </a:r>
          </a:p>
          <a:p>
            <a:r>
              <a:rPr lang="en-ZA" b="1" dirty="0"/>
              <a:t>These are especially important lessons for students because ethical conduct begins during training. Accurate referencing, honest reporting, responsible data management and transparent acknowledgement of limitations are not merely requirements for passing a course or obtaining ethics approval. They are professional habits that shape the kind of researcher one becomes.</a:t>
            </a:r>
          </a:p>
          <a:p>
            <a:r>
              <a:rPr lang="en-ZA" dirty="0"/>
              <a:t>The central message is therefore that ethics should not be treated as an administrative tick-box. It is an ongoing professional obligation that protects both the value of research and the people who depend on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Now, let’s consider a map of the major ethical themes that will guide the rest of our discussion. Although these issues are presented separately, they often overlap in real research cases.</a:t>
            </a:r>
          </a:p>
          <a:p>
            <a:r>
              <a:rPr lang="en-ZA" b="1" dirty="0"/>
              <a:t>Plagiarism involves presenting another person’s words, ideas or work without proper acknowledgement. </a:t>
            </a:r>
          </a:p>
          <a:p>
            <a:r>
              <a:rPr lang="en-ZA" b="0" dirty="0"/>
              <a:t>Data fabrication is more serious because it involves inventing data or results that were never actually produced. </a:t>
            </a:r>
          </a:p>
          <a:p>
            <a:r>
              <a:rPr lang="en-ZA" b="1" dirty="0"/>
              <a:t>Image manipulation becomes unethical when an image is altered in a way that misrepresents the evidence.</a:t>
            </a:r>
          </a:p>
          <a:p>
            <a:r>
              <a:rPr lang="en-ZA" dirty="0"/>
              <a:t>Paper mills represent a wider threat to research integrity because they produce or sell fraudulent manuscripts, data or authorship opportunities. This connects directly to authorship ethics. Authorship should reflect genuine intellectual contribution and responsibility, rather than status, payment or institutional pressure.</a:t>
            </a:r>
          </a:p>
          <a:p>
            <a:r>
              <a:rPr lang="en-ZA" b="1" dirty="0"/>
              <a:t>AI misconduct is an emerging area. The ethical concern is not simply the use of artificial intelligence, but irresponsible use, such as submitting AI-generated work without disclosure, relying on fabricated references or failing to verify its output.</a:t>
            </a:r>
          </a:p>
          <a:p>
            <a:r>
              <a:rPr lang="en-ZA" dirty="0"/>
              <a:t>Conflicts of interest arise when personal, financial or professional interests could influence research decisions or the interpretation of findings. These interests must be disclosed and appropriately managed.</a:t>
            </a:r>
          </a:p>
          <a:p>
            <a:r>
              <a:rPr lang="en-ZA" b="1" dirty="0"/>
              <a:t>Research involving human participants creates additional responsibilities. Researchers must protect dignity, privacy, autonomy and safety through informed consent and appropriate ethical oversight.</a:t>
            </a:r>
          </a:p>
          <a:p>
            <a:r>
              <a:rPr lang="en-ZA" dirty="0"/>
              <a:t>Finally, peer review depends on confidentiality, fairness and independence. Manipulating the review process, misusing privileged information or allowing bias to influence an assessment undermines the credibility of publication.</a:t>
            </a:r>
          </a:p>
          <a:p>
            <a:r>
              <a:rPr lang="en-ZA" dirty="0"/>
              <a:t>The key message is that research integrity extends across the entire research lifecycle, from developing the study and collecting evidence to authorship, review and publication. These themes give us a framework for examining the cases that follow.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a:t>Plagiarism </a:t>
            </a:r>
            <a:r>
              <a:rPr lang="en-ZA" dirty="0"/>
              <a:t>is not limited to copying an entire paragraph or submitting another person’s work as one’s own. It can also occur when a writer borrows ideas, structure or distinctive wording without proper acknowledgement, or paraphrases so closely that the original source remains recognisable.</a:t>
            </a:r>
          </a:p>
          <a:p>
            <a:r>
              <a:rPr lang="en-ZA" dirty="0"/>
              <a:t>The consequences can be serious. Plagiarism may affect students, academics and even senior university leaders. It can lead to disciplinary investigations, reputational damage, the withdrawal of qualifications or the review of previously published work.</a:t>
            </a:r>
          </a:p>
          <a:p>
            <a:r>
              <a:rPr lang="en-ZA" dirty="0"/>
              <a:t>For students, the safest approach is to treat accurate citation as a habit rather than something added at the end. Record the full details of every source while reading, clearly separate direct quotations from your own notes, and cite ideas as you draft. This reduces the risk of accidentally presenting borrowed material as original work.</a:t>
            </a:r>
          </a:p>
          <a:p>
            <a:r>
              <a:rPr lang="en-ZA" dirty="0"/>
              <a:t>It is also important to distinguish between common knowledge and source-based claims. Not every sentence needs a citation, but any specific argument, interpretation, statistic or idea drawn from another author should be acknowledged.</a:t>
            </a:r>
          </a:p>
          <a:p>
            <a:r>
              <a:rPr lang="en-ZA" dirty="0"/>
              <a:t>The question at the bottom of the slide highlights an important grey area: where does poor paraphrasing end and plagiarism begin? A paraphrase is not ethical simply because a few words have been replaced. The writer must genuinely restate the idea in a new structure and voice, while still citing the source.</a:t>
            </a:r>
          </a:p>
          <a:p>
            <a:r>
              <a:rPr lang="en-ZA" dirty="0"/>
              <a:t>The central lesson is that academic integrity requires both originality and transparency. Your reader should always be able to distinguish your own contribution from the ideas and words you have borrowed from others.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There is a distinction between data fabrication and data falsification, two serious forms of research misconduct. </a:t>
            </a:r>
          </a:p>
          <a:p>
            <a:r>
              <a:rPr lang="en-ZA" b="1" dirty="0"/>
              <a:t>Fabrication occurs when a researcher invents data, participants, observations or results that never existed. Falsification occurs when genuine data are altered, omitted or manipulated so that the research presents a misleading picture.</a:t>
            </a:r>
          </a:p>
          <a:p>
            <a:r>
              <a:rPr lang="en-ZA" dirty="0"/>
              <a:t>Although the methods differ, the effect is similar: the published findings can no longer be trusted. Other researchers may waste time and funding attempting to build on false evidence, while institutions, journals and the wider public may make decisions based on unreliable results.</a:t>
            </a:r>
          </a:p>
          <a:p>
            <a:r>
              <a:rPr lang="en-ZA" b="1" dirty="0"/>
              <a:t>The applied case refers to a retraction involving former Harvard cancer researchers and duplicated image data. This demonstrates that concerns about data integrity are not limited to junior researchers or lesser-known institutions. They can arise in highly respected research environments, which makes independent scrutiny and institutional accountability especially important.</a:t>
            </a:r>
          </a:p>
          <a:p>
            <a:r>
              <a:rPr lang="en-ZA" dirty="0"/>
              <a:t>The case also raises questions about responsibility. We should ask who created or reused the problematic material, whether co-authors adequately checked the work, how the journal’s review process responded, and whether the institution acted transparently once the concerns were identified.</a:t>
            </a:r>
          </a:p>
          <a:p>
            <a:r>
              <a:rPr lang="en-ZA" dirty="0"/>
              <a:t>The four themes frames our discussion. Data manipulation concerns the immediate misconduct. Scientific honesty concerns the researcher’s obligation to report evidence truthfully. Accountability asks who accepted responsibility. Institutional responsibility considers whether appropriate systems existed to detect, investigate and prevent the problem.</a:t>
            </a:r>
          </a:p>
          <a:p>
            <a:r>
              <a:rPr lang="en-ZA" dirty="0"/>
              <a:t>The key lesson is that research integrity depends not only on individual honesty, but also on strong supervision, accurate record-keeping, careful verification and transparent correction when the scientific record is found to be unreliable.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Depending on the discipline, data may be generated through observations, simulations, instruments, experiments, surveys or interviews.</a:t>
            </a:r>
          </a:p>
          <a:p>
            <a:endParaRPr lang="en-ZA" b="1" dirty="0"/>
          </a:p>
          <a:p>
            <a:r>
              <a:rPr lang="en-ZA" b="1" dirty="0"/>
              <a:t>Scientific images are also research data. They may include microscopy images, diagnostic scans, laboratory photographs or other visual records produced during an investigation. These images are not merely illustrations; they are forms of evidence supporting the findings of a study.</a:t>
            </a:r>
          </a:p>
          <a:p>
            <a:r>
              <a:rPr lang="en-ZA" dirty="0"/>
              <a:t>Researchers must therefore retain the original, unaltered image files. Any legitimate modification must be documented and disclosed, and the modified version should be stored separately from the original. Images should never be duplicated, selectively altered or presented in a way that misrepresents the underlying evidence.</a:t>
            </a:r>
          </a:p>
          <a:p>
            <a:r>
              <a:rPr lang="en-ZA" b="1" dirty="0"/>
              <a:t>The consequences extend beyond one publication. Retraction Watch reported that manipulation of </a:t>
            </a:r>
            <a:r>
              <a:rPr lang="en-ZA" b="1" dirty="0" err="1"/>
              <a:t>Thermo</a:t>
            </a:r>
            <a:r>
              <a:rPr lang="en-ZA" b="1" dirty="0"/>
              <a:t> Fisher’s antibody data resulted in what was described as a “serious breakdown of trust” (Retraction Watch, 2026i).</a:t>
            </a:r>
          </a:p>
          <a:p>
            <a:r>
              <a:rPr lang="en-ZA" dirty="0"/>
              <a:t>Once confidence in a dataset is compromised, the organisation responsible may face scrutiny, and subsequent research relying on those findings may also be questioned.</a:t>
            </a:r>
          </a:p>
          <a:p>
            <a:r>
              <a:rPr lang="en-ZA" b="1" dirty="0"/>
              <a:t>The central message is that integrity begins at creation: preserve the original evidence, document every legitimate modification and maintain a transparent audit trail.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Another serious threat to the integrity of research data is the growth of </a:t>
            </a:r>
            <a:r>
              <a:rPr lang="en-ZA" b="1" dirty="0"/>
              <a:t>paper mills and research factories</a:t>
            </a:r>
            <a:r>
              <a:rPr lang="en-ZA" dirty="0"/>
              <a:t>.</a:t>
            </a:r>
          </a:p>
          <a:p>
            <a:r>
              <a:rPr lang="en-ZA" b="1" dirty="0"/>
              <a:t>Paper mills are commercial services that exploit the pressure on researchers to publish by producing manuscripts for profit. When these manuscripts are not grounded in authentic and traceable research, the data, analyses and findings they report cannot be treated as credible scientific evidence.</a:t>
            </a:r>
          </a:p>
          <a:p>
            <a:r>
              <a:rPr lang="en-ZA" dirty="0"/>
              <a:t>The problem therefore begins before the manuscript is published. Supposed observations, experiments, survey responses, images or datasets may be fabricated, recycled or impossible to verify. Without access to authentic raw data and a transparent record of how it was generated, readers, reviewers and other researchers cannot determine whether the findings are trustworthy.</a:t>
            </a:r>
          </a:p>
          <a:p>
            <a:r>
              <a:rPr lang="en-ZA" b="1" dirty="0"/>
              <a:t>Paper mills also create an unfair advantage. Genuine research requires time, ethical approval, careful data collection, documentation, analysis and accountability. Purchasing a manufactured manuscript bypasses these responsibilities while allowing publication quantity to appear more important than research quality.</a:t>
            </a:r>
          </a:p>
          <a:p>
            <a:r>
              <a:rPr lang="en-ZA" dirty="0"/>
              <a:t>Researchers must be able to demonstrate a clear connection between the original data, the documented research process and the published output.</a:t>
            </a:r>
          </a:p>
          <a:p>
            <a:r>
              <a:rPr lang="en-ZA" b="1" dirty="0"/>
              <a:t>The key message is that research quality and integrity must always be prioritised above publication quantity. A publication has scholarly value only when the evidence supporting it is authentic, transparent and verifiable.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Authorship is much more than having your name appear on a publication. It signifies that you have made a </a:t>
            </a:r>
            <a:r>
              <a:rPr lang="en-ZA" b="1" dirty="0"/>
              <a:t>meaningful intellectual contribution</a:t>
            </a:r>
            <a:r>
              <a:rPr lang="en-ZA" dirty="0"/>
              <a:t> to the research and that you are prepared to accept responsibility for the accuracy, integrity and quality of the final work.</a:t>
            </a:r>
          </a:p>
          <a:p>
            <a:r>
              <a:rPr lang="en-ZA" dirty="0"/>
              <a:t>Problems arise when authorship no longer reflects genuine contribution. </a:t>
            </a:r>
            <a:r>
              <a:rPr lang="en-ZA" b="1" dirty="0"/>
              <a:t>Guest authorship</a:t>
            </a:r>
            <a:r>
              <a:rPr lang="en-ZA" dirty="0"/>
              <a:t> occurs when someone is listed as an author because of their reputation or position, despite making little or no contribution. </a:t>
            </a:r>
            <a:r>
              <a:rPr lang="en-ZA" b="1" dirty="0"/>
              <a:t>Ghost authorship</a:t>
            </a:r>
            <a:r>
              <a:rPr lang="en-ZA" dirty="0"/>
              <a:t> occurs when someone who made a substantial contribution is deliberately omitted. </a:t>
            </a:r>
            <a:r>
              <a:rPr lang="en-ZA" b="1" dirty="0"/>
              <a:t>Purchased authorship</a:t>
            </a:r>
            <a:r>
              <a:rPr lang="en-ZA" dirty="0"/>
              <a:t> involves paying to have one's name added to a manuscript without making a legitimate scholarly contribution. Each of these practices misrepresents who actually conducted the research and undermines trust in the published work.</a:t>
            </a:r>
          </a:p>
          <a:p>
            <a:r>
              <a:rPr lang="en-ZA" dirty="0"/>
              <a:t>The case highlighted on this slide, involving a medical student in Nepal associated with a high-output research factory, illustrates how intense publication pressure can blur the boundaries of ethical authorship. It raises important questions about whether publication counts are being prioritised over genuine scholarly contribution.</a:t>
            </a:r>
          </a:p>
          <a:p>
            <a:r>
              <a:rPr lang="en-ZA" dirty="0"/>
              <a:t>As researchers, we should always ask three questions before accepting authorship:</a:t>
            </a:r>
          </a:p>
          <a:p>
            <a:pPr lvl="0"/>
            <a:r>
              <a:rPr lang="en-ZA" b="1" dirty="0"/>
              <a:t>Did I make a meaningful intellectual contribution?</a:t>
            </a:r>
            <a:endParaRPr lang="en-ZA" dirty="0"/>
          </a:p>
          <a:p>
            <a:pPr lvl="0"/>
            <a:r>
              <a:rPr lang="en-ZA" b="1" dirty="0"/>
              <a:t>Am I willing to accept accountability for the entire publication, particularly the parts within my expertise?</a:t>
            </a:r>
            <a:endParaRPr lang="en-ZA" dirty="0"/>
          </a:p>
          <a:p>
            <a:pPr lvl="0"/>
            <a:r>
              <a:rPr lang="en-ZA" b="1" dirty="0"/>
              <a:t>Is the authorship process transparent and accurately reflected?</a:t>
            </a:r>
            <a:endParaRPr lang="en-ZA" dirty="0"/>
          </a:p>
          <a:p>
            <a:r>
              <a:rPr lang="en-ZA" dirty="0"/>
              <a:t>The key message is simple: </a:t>
            </a:r>
            <a:r>
              <a:rPr lang="en-ZA" b="1" dirty="0"/>
              <a:t>authorship is earned through contribution, demonstrated through accountability, and protected through transparency.</a:t>
            </a:r>
            <a:r>
              <a:rPr lang="en-ZA" dirty="0"/>
              <a:t> If those three principles are followed, authorship remains a true reflection of scholarly integrity.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AI tools can support researchers, but they introduce significant ethical risks. </a:t>
            </a:r>
          </a:p>
          <a:p>
            <a:r>
              <a:rPr lang="en-ZA" dirty="0"/>
              <a:t>These include fabricated citations, inaccurate summaries, undisclosed AI-generated content and the possible manipulation of processes such as peer review. An AI-generated response may appear confident and academically convincing while containing information that is incomplete, misleading or entirely false.</a:t>
            </a:r>
          </a:p>
          <a:p>
            <a:r>
              <a:rPr lang="en-ZA" b="1" dirty="0"/>
              <a:t>Retraction Watch reported that an award-winning scholar was accused of using AI-fabricated citations (Retraction Watch, 2026a). This case illustrates an important principle: the status or experience of a researcher does not remove the obligation to verify evidence.</a:t>
            </a:r>
          </a:p>
          <a:p>
            <a:r>
              <a:rPr lang="en-ZA" dirty="0"/>
              <a:t>Researchers remain responsible for every statement, reference and claim they publish, regardless of whether technological assistance was used. AI output should therefore be treated as unverified material. Authors must confirm that cited sources exist, consult the original publications and check that each source supports the claim being made. AI assistance should also be disclosed where required by institutional or publication policies.</a:t>
            </a:r>
          </a:p>
          <a:p>
            <a:endParaRPr lang="en-ZA" dirty="0"/>
          </a:p>
          <a:p>
            <a:r>
              <a:rPr lang="en-ZA" dirty="0"/>
              <a:t>The discussion questions for students are: </a:t>
            </a:r>
            <a:r>
              <a:rPr lang="en-ZA" b="1" dirty="0"/>
              <a:t>Who is responsible when AI generates false information, and what verification practices should researchers adopt?</a:t>
            </a:r>
            <a:endParaRPr lang="en-ZA" dirty="0"/>
          </a:p>
          <a:p>
            <a:r>
              <a:rPr lang="en-ZA" dirty="0"/>
              <a:t>Students are encouraged to identify the stakeholders, ethical principles, possible consequences and preventative measures. The central message is simple: AI can assist research, but it cannot assume the researcher’s responsibility for accuracy, transparency and integrity.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Source document: conflicts of interest section, lines 127-128.</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Source document: human participants section and gene-editing therapy case, lines 129-137.</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Source document: peer review ethics and applied case, lines 141-149.
- Visual: generated peer-review accountability illustration.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Source document: comparative overview table, lines 153-176.</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Source document: retractions as learning opportunities, lines 180-181.
- Visual: generated research scrutiny and correction illustration.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Source document: reflection activities and lecturer note pattern, lines 186-189 and applied case lecturer notes, e.g. lines 96-97.</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Source document: future challenges section, lines 182-183.</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Source document: practical guidelines section, lines 184-185.</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Source document: considerations section, lines 188-189.</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Source document: conclusion, lines 190-191.</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Source document: references list, lines 192-201.</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B9A9E5-4F7F-4A7D-9DE1-899232329269}" type="slidenum">
              <a:rPr lang="en-GB" smtClean="0"/>
              <a:t>34</a:t>
            </a:fld>
            <a:endParaRPr lang="en-GB"/>
          </a:p>
        </p:txBody>
      </p:sp>
    </p:spTree>
    <p:extLst>
      <p:ext uri="{BB962C8B-B14F-4D97-AF65-F5344CB8AC3E}">
        <p14:creationId xmlns:p14="http://schemas.microsoft.com/office/powerpoint/2010/main" val="40721432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rtlCol="0">
            <a:normAutofit/>
          </a:bodyPr>
          <a:lstStyle>
            <a:lvl1pPr marL="0" indent="0" algn="l">
              <a:lnSpc>
                <a:spcPct val="100000"/>
              </a:lnSpc>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bg1"/>
                </a:solidFill>
              </a:defRPr>
            </a:lvl1pPr>
          </a:lstStyle>
          <a:p>
            <a:pPr rtl="0"/>
            <a:r>
              <a:rPr lang="en-GB" noProof="0"/>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rtlCol="0">
            <a:normAutofit/>
          </a:bodyPr>
          <a:lstStyle>
            <a:lvl1pPr marL="0" indent="0">
              <a:lnSpc>
                <a:spcPct val="120000"/>
              </a:lnSpc>
              <a:spcBef>
                <a:spcPts val="1000"/>
              </a:spcBef>
              <a:buNone/>
              <a:defRPr sz="1400" baseline="0">
                <a:solidFill>
                  <a:schemeClr val="bg1"/>
                </a:solidFill>
              </a:defRPr>
            </a:lvl1pPr>
            <a:lvl2pPr marL="457200" indent="0">
              <a:lnSpc>
                <a:spcPct val="120000"/>
              </a:lnSpc>
              <a:spcBef>
                <a:spcPts val="1000"/>
              </a:spcBef>
              <a:buNone/>
              <a:defRPr sz="1400" baseline="0">
                <a:solidFill>
                  <a:schemeClr val="bg1"/>
                </a:solidFill>
              </a:defRPr>
            </a:lvl2pPr>
            <a:lvl3pPr marL="914400" indent="0">
              <a:lnSpc>
                <a:spcPct val="120000"/>
              </a:lnSpc>
              <a:spcBef>
                <a:spcPts val="1000"/>
              </a:spcBef>
              <a:buNone/>
              <a:defRPr sz="1400" baseline="0">
                <a:solidFill>
                  <a:schemeClr val="bg1"/>
                </a:solidFill>
              </a:defRPr>
            </a:lvl3pPr>
            <a:lvl4pPr marL="1371600" indent="0">
              <a:lnSpc>
                <a:spcPct val="120000"/>
              </a:lnSpc>
              <a:spcBef>
                <a:spcPts val="1000"/>
              </a:spcBef>
              <a:buNone/>
              <a:defRPr sz="1400" baseline="0">
                <a:solidFill>
                  <a:schemeClr val="bg1"/>
                </a:solidFill>
              </a:defRPr>
            </a:lvl4pPr>
            <a:lvl5pPr marL="1828800" indent="0">
              <a:lnSpc>
                <a:spcPct val="120000"/>
              </a:lnSpc>
              <a:spcBef>
                <a:spcPts val="1000"/>
              </a:spcBef>
              <a:buNone/>
              <a:defRPr sz="1400" baseline="0">
                <a:solidFill>
                  <a:schemeClr val="bg1"/>
                </a:solidFill>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en-GB" noProof="0" dirty="0"/>
              <a:t>2026</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endParaRPr lang="en-GB" noProof="0" dirty="0"/>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en-GB" noProof="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lvl1pPr>
          </a:lstStyle>
          <a:p>
            <a:pPr lvl="0" rtl="0"/>
            <a:r>
              <a:rPr lang="en-GB" noProof="0"/>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73328"/>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lvl1pPr>
          </a:lstStyle>
          <a:p>
            <a:pPr lvl="0" rtl="0"/>
            <a:r>
              <a:rPr lang="en-GB" noProof="0"/>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en-GB" noProof="0" dirty="0"/>
              <a:t>2026</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75279" y="6356350"/>
            <a:ext cx="1808712" cy="365125"/>
          </a:xfrm>
        </p:spPr>
        <p:txBody>
          <a:bodyPr rtlCol="0"/>
          <a:lstStyle>
            <a:lvl1pPr>
              <a:defRPr sz="900"/>
            </a:lvl1pPr>
          </a:lstStyle>
          <a:p>
            <a:pPr algn="l" rtl="0"/>
            <a:r>
              <a:rPr lang="en-GB" noProof="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bg1"/>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bg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en-GB" noProof="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en-GB" noProof="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en-GB" noProof="0" smtClean="0"/>
              <a:t>‹#›</a:t>
            </a:fld>
            <a:endParaRPr lang="en-GB" noProof="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solidFill>
                <a:latin typeface="+mj-lt"/>
                <a:ea typeface="+mj-ea"/>
                <a:cs typeface="+mj-cs"/>
              </a:defRPr>
            </a:lvl1pPr>
          </a:lstStyle>
          <a:p>
            <a:pPr lvl="0" rtl="0"/>
            <a:r>
              <a:rPr lang="en-GB" noProof="0"/>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dirty="0"/>
              <a:t>2026</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endParaRPr lang="en-GB" noProof="0" dirty="0"/>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rtlCol="0">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bg1"/>
                </a:solidFill>
              </a:defRPr>
            </a:lvl1pPr>
          </a:lstStyle>
          <a:p>
            <a:pPr rtl="0"/>
            <a:r>
              <a:rPr lang="en-GB" noProof="0"/>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en-GB" noProof="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en-GB" noProof="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bg1"/>
                </a:solidFill>
                <a:latin typeface="+mj-lt"/>
                <a:ea typeface="+mj-ea"/>
                <a:cs typeface="+mj-cs"/>
              </a:defRPr>
            </a:lvl1pPr>
          </a:lstStyle>
          <a:p>
            <a:pPr rtl="0"/>
            <a:r>
              <a:rPr lang="en-GB" noProof="0"/>
              <a:t>CLICK TO EDIT MASTER TITLE STYLE</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bg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rtlCol="0">
            <a:normAutofit/>
          </a:bodyPr>
          <a:lstStyle>
            <a:lvl1pPr marL="0" indent="0" algn="ctr">
              <a:lnSpc>
                <a:spcPct val="100000"/>
              </a:lnSpc>
              <a:buNone/>
              <a:defRPr sz="2000" cap="all" spc="50" baseline="0">
                <a:solidFill>
                  <a:schemeClr val="bg1"/>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rtlCol="0">
            <a:normAutofit/>
          </a:bodyPr>
          <a:lstStyle>
            <a:lvl1pPr marL="0" indent="0" algn="ctr">
              <a:lnSpc>
                <a:spcPct val="100000"/>
              </a:lnSpc>
              <a:buNone/>
              <a:defRPr sz="1400" cap="none" spc="50" baseline="0">
                <a:solidFill>
                  <a:schemeClr val="bg1"/>
                </a:solidFill>
              </a:defRPr>
            </a:lvl1pPr>
            <a:lvl2pPr marL="457200" indent="0" algn="ctr">
              <a:lnSpc>
                <a:spcPct val="100000"/>
              </a:lnSpc>
              <a:buNone/>
              <a:defRPr sz="1400" cap="none"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a:p>
            <a:pPr lvl="1" rtl="0"/>
            <a:r>
              <a:rPr lang="en-US" noProof="0"/>
              <a:t>Second level</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rtlCol="0">
            <a:noAutofit/>
          </a:bodyPr>
          <a:lstStyle>
            <a:lvl1pPr marL="0" indent="0" algn="ctr">
              <a:lnSpc>
                <a:spcPct val="100000"/>
              </a:lnSpc>
              <a:buNone/>
              <a:defRPr sz="2000" cap="all"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rtlCol="0">
            <a:normAutofit/>
          </a:bodyPr>
          <a:lstStyle>
            <a:lvl1pPr marL="0" indent="0" algn="ctr">
              <a:lnSpc>
                <a:spcPct val="100000"/>
              </a:lnSpc>
              <a:buNone/>
              <a:defRPr sz="1400" cap="none" spc="50" baseline="0">
                <a:solidFill>
                  <a:schemeClr val="bg1"/>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rtlCol="0">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solidFill>
                <a:latin typeface="+mj-lt"/>
                <a:ea typeface="+mj-ea"/>
                <a:cs typeface="+mj-cs"/>
              </a:defRPr>
            </a:lvl1pPr>
          </a:lstStyle>
          <a:p>
            <a:pPr lvl="0" rtl="0"/>
            <a:r>
              <a:rPr lang="en-GB" noProof="0"/>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solidFill>
              </a:defRPr>
            </a:lvl1pPr>
          </a:lstStyle>
          <a:p>
            <a:pPr lvl="0" rtl="0"/>
            <a:r>
              <a:rPr lang="en-GB" noProof="0"/>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rtlCol="0">
            <a:no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stStyle>
          <a:p>
            <a:pPr lvl="0" rtl="0"/>
            <a:r>
              <a:rPr lang="en-US" noProof="0"/>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rtlCol="0"/>
          <a:lstStyle/>
          <a:p>
            <a:pPr rtl="0"/>
            <a:r>
              <a:rPr lang="en-US" noProof="0"/>
              <a:t>Click icon to add chart</a:t>
            </a:r>
            <a:endParaRPr lang="en-GB" noProof="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rtlCol="0">
            <a:noAutofit/>
          </a:bodyPr>
          <a:lstStyle>
            <a:lvl1pPr marL="0" indent="0">
              <a:buNone/>
              <a:defRPr sz="1400" cap="all" spc="150" baseline="0">
                <a:solidFill>
                  <a:schemeClr val="tx1"/>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rtl="0"/>
            <a:r>
              <a:rPr lang="en-US" noProof="0"/>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rtlCol="0">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rtl="0"/>
            <a:r>
              <a:rPr lang="en-GB" noProof="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491003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 uri="{C183D7F6-B498-43B3-948B-1728B52AA6E4}">
                <adec:decorative xmlns:adec="http://schemas.microsoft.com/office/drawing/2017/decorative" val="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solidFill>
                <a:latin typeface="+mj-lt"/>
              </a:defRPr>
            </a:lvl1pPr>
          </a:lstStyle>
          <a:p>
            <a:pPr lvl="0" rtl="0"/>
            <a:r>
              <a:rPr lang="en-GB" noProof="0"/>
              <a:t>Year</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solidFill>
              </a:defRPr>
            </a:lvl1pPr>
          </a:lstStyle>
          <a:p>
            <a:pPr lvl="0" rtl="0"/>
            <a:r>
              <a:rPr lang="en-GB" noProof="0"/>
              <a:t>MM</a:t>
            </a:r>
          </a:p>
        </p:txBody>
      </p:sp>
      <p:sp>
        <p:nvSpPr>
          <p:cNvPr id="32" name="Rectangle 31">
            <a:extLst>
              <a:ext uri="{FF2B5EF4-FFF2-40B4-BE49-F238E27FC236}">
                <a16:creationId xmlns:a16="http://schemas.microsoft.com/office/drawing/2014/main" id="{FFA35437-CCDE-4D92-B879-F23B329C8EC3}"/>
              </a:ext>
              <a:ext uri="{C183D7F6-B498-43B3-948B-1728B52AA6E4}">
                <adec:decorative xmlns:adec="http://schemas.microsoft.com/office/drawing/2017/decorative" val="1"/>
              </a:ext>
            </a:extLst>
          </p:cNvPr>
          <p:cNvSpPr/>
          <p:nvPr userDrawn="1"/>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056323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39084"/>
            <a:ext cx="10515600" cy="3695338"/>
          </a:xfrm>
        </p:spPr>
        <p:txBody>
          <a:bodyPr rtlCol="0"/>
          <a:lstStyle/>
          <a:p>
            <a:pPr rtl="0"/>
            <a:r>
              <a:rPr lang="en-US" noProof="0"/>
              <a:t>Click icon to add SmartArt graphic</a:t>
            </a:r>
            <a:endParaRPr lang="en-GB" noProof="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en-GB" noProof="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en-GB" noProof="0"/>
              <a:t>Pitch Deck</a:t>
            </a:r>
          </a:p>
        </p:txBody>
      </p:sp>
      <p:cxnSp>
        <p:nvCxnSpPr>
          <p:cNvPr id="10" name="Straight Connector 9">
            <a:extLst>
              <a:ext uri="{FF2B5EF4-FFF2-40B4-BE49-F238E27FC236}">
                <a16:creationId xmlns:a16="http://schemas.microsoft.com/office/drawing/2014/main" id="{66988B2D-0240-4256-8268-4B9FF1E72363}"/>
              </a:ext>
              <a:ext uri="{C183D7F6-B498-43B3-948B-1728B52AA6E4}">
                <adec:decorative xmlns:adec="http://schemas.microsoft.com/office/drawing/2017/decorative" val="1"/>
              </a:ext>
            </a:extLst>
          </p:cNvPr>
          <p:cNvCxnSpPr>
            <a:cxnSpLocks/>
          </p:cNvCxnSpPr>
          <p:nvPr/>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 uri="{C183D7F6-B498-43B3-948B-1728B52AA6E4}">
                <adec:decorative xmlns:adec="http://schemas.microsoft.com/office/drawing/2017/decorative" val="1"/>
              </a:ext>
            </a:extLst>
          </p:cNvPr>
          <p:cNvCxnSpPr>
            <a:cxnSpLocks/>
          </p:cNvCxnSpPr>
          <p:nvPr/>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4 Peo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11558" y="5084524"/>
            <a:ext cx="219661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707607" y="5099206"/>
            <a:ext cx="2145049"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rtlCol="0"/>
          <a:lstStyle/>
          <a:p>
            <a:pPr lvl="1"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271" y="5099206"/>
            <a:ext cx="2132985"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rtlCol="0"/>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18152" y="5084524"/>
            <a:ext cx="2132984" cy="343061"/>
          </a:xfrm>
        </p:spPr>
        <p:txBody>
          <a:bodyPr rtlCol="0"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8 Peo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rtlCol="0">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lvl="0" rtl="0"/>
            <a:r>
              <a:rPr lang="en-US" noProof="0"/>
              <a:t>Click icon to add picture</a:t>
            </a:r>
            <a:endParaRPr lang="en-GB" noProof="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solidFill>
              </a:defRPr>
            </a:lvl1pPr>
          </a:lstStyle>
          <a:p>
            <a:pPr rtl="0"/>
            <a:r>
              <a:rPr lang="en-US" noProof="0"/>
              <a:t>Click icon to add picture</a:t>
            </a:r>
            <a:endParaRPr lang="en-GB" noProof="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en-GB" noProof="0" smtClean="0"/>
              <a:t>‹#›</a:t>
            </a:fld>
            <a:endParaRPr lang="en-GB" noProof="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ndin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solidFill>
                <a:latin typeface="+mj-lt"/>
                <a:ea typeface="+mj-ea"/>
                <a:cs typeface="+mj-cs"/>
              </a:defRPr>
            </a:lvl1pPr>
          </a:lstStyle>
          <a:p>
            <a:pPr rtl="0"/>
            <a:r>
              <a:rPr lang="en-GB" noProof="0"/>
              <a:t>CLICK TO EDIT MASTER TITLE STYLE</a:t>
            </a:r>
          </a:p>
        </p:txBody>
      </p:sp>
      <p:sp>
        <p:nvSpPr>
          <p:cNvPr id="11" name="Content Placeholder 10">
            <a:extLst>
              <a:ext uri="{FF2B5EF4-FFF2-40B4-BE49-F238E27FC236}">
                <a16:creationId xmlns:a16="http://schemas.microsoft.com/office/drawing/2014/main" id="{319EE98D-9541-4F21-8952-3026DEF75EC4}"/>
              </a:ext>
            </a:extLst>
          </p:cNvPr>
          <p:cNvSpPr>
            <a:spLocks noGrp="1"/>
          </p:cNvSpPr>
          <p:nvPr>
            <p:ph sz="quarter" idx="21" hasCustomPrompt="1"/>
          </p:nvPr>
        </p:nvSpPr>
        <p:spPr>
          <a:xfrm>
            <a:off x="107544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4" name="Content Placeholder 10">
            <a:extLst>
              <a:ext uri="{FF2B5EF4-FFF2-40B4-BE49-F238E27FC236}">
                <a16:creationId xmlns:a16="http://schemas.microsoft.com/office/drawing/2014/main" id="{AB843230-A4E3-4E21-AA93-998E28EB9018}"/>
              </a:ext>
            </a:extLst>
          </p:cNvPr>
          <p:cNvSpPr>
            <a:spLocks noGrp="1"/>
          </p:cNvSpPr>
          <p:nvPr>
            <p:ph sz="quarter" idx="22" hasCustomPrompt="1"/>
          </p:nvPr>
        </p:nvSpPr>
        <p:spPr>
          <a:xfrm>
            <a:off x="381139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GB" noProof="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5" name="Content Placeholder 10">
            <a:extLst>
              <a:ext uri="{FF2B5EF4-FFF2-40B4-BE49-F238E27FC236}">
                <a16:creationId xmlns:a16="http://schemas.microsoft.com/office/drawing/2014/main" id="{3AE0369E-A275-4E5A-AE0F-B1F9A54DEDFC}"/>
              </a:ext>
            </a:extLst>
          </p:cNvPr>
          <p:cNvSpPr>
            <a:spLocks noGrp="1"/>
          </p:cNvSpPr>
          <p:nvPr>
            <p:ph sz="quarter" idx="23" hasCustomPrompt="1"/>
          </p:nvPr>
        </p:nvSpPr>
        <p:spPr>
          <a:xfrm>
            <a:off x="6524377"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26" name="Content Placeholder 10">
            <a:extLst>
              <a:ext uri="{FF2B5EF4-FFF2-40B4-BE49-F238E27FC236}">
                <a16:creationId xmlns:a16="http://schemas.microsoft.com/office/drawing/2014/main" id="{CCA3A81E-171B-4946-B8BA-B2F406CF0939}"/>
              </a:ext>
            </a:extLst>
          </p:cNvPr>
          <p:cNvSpPr>
            <a:spLocks noGrp="1"/>
          </p:cNvSpPr>
          <p:nvPr>
            <p:ph sz="quarter" idx="24" hasCustomPrompt="1"/>
          </p:nvPr>
        </p:nvSpPr>
        <p:spPr>
          <a:xfrm>
            <a:off x="9260321" y="2118642"/>
            <a:ext cx="1856232" cy="1664208"/>
          </a:xfrm>
        </p:spPr>
        <p:txBody>
          <a:bodyPr rtlCol="0"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lvl="0" rtl="0"/>
            <a:r>
              <a:rPr lang="en-GB" noProof="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a:t>
            </a:r>
          </a:p>
        </p:txBody>
      </p: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rtlCol="0">
            <a:normAutofit/>
          </a:bodyPr>
          <a:lstStyle>
            <a:lvl1pPr marL="0" indent="0" algn="ctr">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en-US" noProof="0"/>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en-GB" noProof="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en-GB" noProof="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solidFill>
                <a:latin typeface="+mj-lt"/>
                <a:ea typeface="+mj-ea"/>
                <a:cs typeface="+mj-cs"/>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rtlCol="0" anchor="b">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US" noProof="0"/>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en-GB" noProof="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en-GB" noProof="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bg1"/>
                </a:solidFill>
              </a:defRPr>
            </a:lvl1pPr>
          </a:lstStyle>
          <a:p>
            <a:pPr rtl="0"/>
            <a:r>
              <a:rPr lang="en-GB" noProof="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rtlCol="0">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en-GB" noProof="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en-GB" noProof="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en-GB" noProof="0" smtClean="0"/>
              <a:t>‹#›</a:t>
            </a:fld>
            <a:endParaRPr lang="en-GB" noProof="0"/>
          </a:p>
        </p:txBody>
      </p:sp>
    </p:spTree>
    <p:extLst>
      <p:ext uri="{BB962C8B-B14F-4D97-AF65-F5344CB8AC3E}">
        <p14:creationId xmlns:p14="http://schemas.microsoft.com/office/powerpoint/2010/main" val="4293551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5943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en-GB" noProof="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en-GB" noProof="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en-GB" noProof="0" smtClean="0"/>
              <a:pPr/>
              <a:t>‹#›</a:t>
            </a:fld>
            <a:endParaRPr lang="en-GB"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79" r:id="rId13"/>
    <p:sldLayoutId id="2147483692" r:id="rId14"/>
    <p:sldLayoutId id="2147483681" r:id="rId15"/>
    <p:sldLayoutId id="2147483674" r:id="rId16"/>
    <p:sldLayoutId id="2147483675" r:id="rId17"/>
    <p:sldLayoutId id="2147483696" r:id="rId18"/>
    <p:sldLayoutId id="2147483677" r:id="rId19"/>
    <p:sldLayoutId id="2147483678" r:id="rId20"/>
    <p:sldLayoutId id="2147483701" r:id="rId21"/>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1.xml"/><Relationship Id="rId4" Type="http://schemas.openxmlformats.org/officeDocument/2006/relationships/hyperlink" Target="https://retractionwatch.com/2023/02/01/former-harvard-researchers-lose-pnas-paper-for-reusing-data/"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cen.acs.org/articles/104/web/2026/05/Sleuths-say-Thermo-Fisher-doctored.html" TargetMode="External"/><Relationship Id="rId2" Type="http://schemas.openxmlformats.org/officeDocument/2006/relationships/notesSlide" Target="../notesSlides/notesSlide19.xml"/><Relationship Id="rId1" Type="http://schemas.openxmlformats.org/officeDocument/2006/relationships/slideLayout" Target="../slideLayouts/slideLayout21.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hyperlink" Target="https://retractionwatch.com/2026/07/23/exclusive-death-gene-editing-trial-china-nature-science-investigation/" TargetMode="External"/><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1.xml"/><Relationship Id="rId4" Type="http://schemas.openxmlformats.org/officeDocument/2006/relationships/hyperlink" Target="https://retractionwatch.com/2026/07/20/publisher-investigating-peer-reviewer-for-alleged-bribery-scheme/"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hyperlink" Target="https://retractionwatch.com/" TargetMode="External"/><Relationship Id="rId2" Type="http://schemas.openxmlformats.org/officeDocument/2006/relationships/notesSlide" Target="../notesSlides/notesSlide33.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rtlCol="0"/>
          <a:lstStyle/>
          <a:p>
            <a:pPr rtl="0"/>
            <a:r>
              <a:rPr lang="en-GB" dirty="0"/>
              <a:t>Semester Two - Week 4</a:t>
            </a:r>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416041" y="5586890"/>
            <a:ext cx="4941770" cy="396660"/>
          </a:xfrm>
        </p:spPr>
        <p:txBody>
          <a:bodyPr rtlCol="0">
            <a:normAutofit fontScale="85000" lnSpcReduction="10000"/>
          </a:bodyPr>
          <a:lstStyle/>
          <a:p>
            <a:pPr rtl="0"/>
            <a:r>
              <a:rPr lang="en-US" b="1" dirty="0"/>
              <a:t>Data Management and Ethical Considerations in Research</a:t>
            </a:r>
            <a:endParaRPr lang="en-GB" b="1"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2497059" y="1500251"/>
            <a:ext cx="8740274" cy="5221224"/>
          </a:xfrm>
        </p:spPr>
        <p:txBody>
          <a:bodyPr vert="horz" lIns="91440" tIns="45720" rIns="91440" bIns="45720" rtlCol="0" anchor="t">
            <a:noAutofit/>
          </a:bodyPr>
          <a:lstStyle/>
          <a:p>
            <a:pPr algn="ctr" rtl="0"/>
            <a:r>
              <a:rPr lang="en-US" sz="2800" dirty="0"/>
              <a:t>This week’s session focuses on two critical components of research practice: </a:t>
            </a:r>
          </a:p>
          <a:p>
            <a:pPr algn="ctr" rtl="0"/>
            <a:r>
              <a:rPr lang="en-US" sz="2800" dirty="0"/>
              <a:t>how to </a:t>
            </a:r>
            <a:r>
              <a:rPr lang="en-US" sz="2800" b="1" dirty="0"/>
              <a:t>manage data efficiently from an SLR perspective </a:t>
            </a:r>
            <a:r>
              <a:rPr lang="en-US" sz="2800" dirty="0"/>
              <a:t>and how to approach </a:t>
            </a:r>
            <a:r>
              <a:rPr lang="en-US" sz="2800" b="1" dirty="0"/>
              <a:t>ethical issues </a:t>
            </a:r>
            <a:r>
              <a:rPr lang="en-US" sz="2800" dirty="0"/>
              <a:t>with care. </a:t>
            </a:r>
          </a:p>
          <a:p>
            <a:pPr algn="ctr" rtl="0"/>
            <a:r>
              <a:rPr lang="en-US" sz="2800" dirty="0"/>
              <a:t>I have based the following introductory notes on the prescribed text by Kumar (2011), specifically Chapter 13: Ethical Issues and Chapter 18: Writing a Research Proposal (ethical compliance), as well as other sources as noted in the text.</a:t>
            </a:r>
            <a:endParaRPr lang="en-GB" sz="1400" dirty="0"/>
          </a:p>
        </p:txBody>
      </p:sp>
      <p:sp>
        <p:nvSpPr>
          <p:cNvPr id="20" name="Date Placeholder 19">
            <a:extLst>
              <a:ext uri="{FF2B5EF4-FFF2-40B4-BE49-F238E27FC236}">
                <a16:creationId xmlns:a16="http://schemas.microsoft.com/office/drawing/2014/main" id="{A74D661B-510C-4CF2-BF77-3EAFB649883D}"/>
              </a:ext>
            </a:extLst>
          </p:cNvPr>
          <p:cNvSpPr>
            <a:spLocks noGrp="1"/>
          </p:cNvSpPr>
          <p:nvPr>
            <p:ph type="dt" sz="half" idx="20"/>
          </p:nvPr>
        </p:nvSpPr>
        <p:spPr>
          <a:xfrm>
            <a:off x="5919680" y="6356350"/>
            <a:ext cx="947516" cy="365125"/>
          </a:xfrm>
        </p:spPr>
        <p:txBody>
          <a:bodyPr rtlCol="0"/>
          <a:lstStyle/>
          <a:p>
            <a:pPr rtl="0"/>
            <a:r>
              <a:rPr lang="en-GB" dirty="0"/>
              <a:t>August 2026</a:t>
            </a:r>
          </a:p>
        </p:txBody>
      </p:sp>
      <p:sp>
        <p:nvSpPr>
          <p:cNvPr id="21" name="Footer Placeholder 20">
            <a:extLst>
              <a:ext uri="{FF2B5EF4-FFF2-40B4-BE49-F238E27FC236}">
                <a16:creationId xmlns:a16="http://schemas.microsoft.com/office/drawing/2014/main" id="{7E44CAC0-3B5A-49F6-A2CB-0BC80D111A87}"/>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2</a:t>
            </a:fld>
            <a:endParaRPr lang="en-GB"/>
          </a:p>
        </p:txBody>
      </p:sp>
    </p:spTree>
    <p:extLst>
      <p:ext uri="{BB962C8B-B14F-4D97-AF65-F5344CB8AC3E}">
        <p14:creationId xmlns:p14="http://schemas.microsoft.com/office/powerpoint/2010/main" val="1844941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BFE73-9B81-EBAA-55DA-19B7957C53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11C611-33F6-EA12-38A7-7065A81C33C5}"/>
              </a:ext>
            </a:extLst>
          </p:cNvPr>
          <p:cNvSpPr>
            <a:spLocks noGrp="1"/>
          </p:cNvSpPr>
          <p:nvPr>
            <p:ph type="body" sz="quarter" idx="13"/>
          </p:nvPr>
        </p:nvSpPr>
        <p:spPr>
          <a:xfrm>
            <a:off x="2497059" y="1043051"/>
            <a:ext cx="8740274" cy="5221224"/>
          </a:xfrm>
        </p:spPr>
        <p:txBody>
          <a:bodyPr vert="horz" lIns="91440" tIns="45720" rIns="91440" bIns="45720" rtlCol="0" anchor="t">
            <a:noAutofit/>
          </a:bodyPr>
          <a:lstStyle/>
          <a:p>
            <a:pPr algn="ctr" rtl="0"/>
            <a:r>
              <a:rPr lang="en-US" sz="2800" dirty="0"/>
              <a:t>Data is best managed by following the Research Data Lifecycle, which outlines the stages through which research data moves from creation to long-term preservation. </a:t>
            </a:r>
          </a:p>
          <a:p>
            <a:pPr algn="ctr" rtl="0"/>
            <a:r>
              <a:rPr lang="en-US" sz="2800" dirty="0"/>
              <a:t>This cycle supports effective research data management, involving </a:t>
            </a:r>
            <a:r>
              <a:rPr lang="en-US" sz="2800" dirty="0" err="1"/>
              <a:t>organising</a:t>
            </a:r>
            <a:r>
              <a:rPr lang="en-US" sz="2800" dirty="0"/>
              <a:t>, documenting, publishing, and archiving research outputs, including datasets, software, metadata, and observations. </a:t>
            </a:r>
          </a:p>
          <a:p>
            <a:pPr algn="ctr" rtl="0"/>
            <a:r>
              <a:rPr lang="en-US" sz="2800" dirty="0"/>
              <a:t>Students are expected to understand both the practical and ethical responsibilities of handling data throughout the research cycle. </a:t>
            </a:r>
            <a:endParaRPr lang="en-GB" sz="1400" dirty="0"/>
          </a:p>
        </p:txBody>
      </p:sp>
      <p:sp>
        <p:nvSpPr>
          <p:cNvPr id="20" name="Date Placeholder 19">
            <a:extLst>
              <a:ext uri="{FF2B5EF4-FFF2-40B4-BE49-F238E27FC236}">
                <a16:creationId xmlns:a16="http://schemas.microsoft.com/office/drawing/2014/main" id="{4C95FA6C-EE9B-3A7A-EE86-010B772115C3}"/>
              </a:ext>
            </a:extLst>
          </p:cNvPr>
          <p:cNvSpPr>
            <a:spLocks noGrp="1"/>
          </p:cNvSpPr>
          <p:nvPr>
            <p:ph type="dt" sz="half" idx="20"/>
          </p:nvPr>
        </p:nvSpPr>
        <p:spPr>
          <a:xfrm>
            <a:off x="5919680" y="6356350"/>
            <a:ext cx="947516" cy="365125"/>
          </a:xfrm>
        </p:spPr>
        <p:txBody>
          <a:bodyPr rtlCol="0"/>
          <a:lstStyle/>
          <a:p>
            <a:pPr rtl="0"/>
            <a:r>
              <a:rPr lang="en-GB" dirty="0"/>
              <a:t>2026</a:t>
            </a:r>
          </a:p>
        </p:txBody>
      </p:sp>
      <p:sp>
        <p:nvSpPr>
          <p:cNvPr id="21" name="Footer Placeholder 20">
            <a:extLst>
              <a:ext uri="{FF2B5EF4-FFF2-40B4-BE49-F238E27FC236}">
                <a16:creationId xmlns:a16="http://schemas.microsoft.com/office/drawing/2014/main" id="{A8D52384-3418-FEDB-1E64-5AFAF6C8CDF4}"/>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22" name="Slide Number Placeholder 21">
            <a:extLst>
              <a:ext uri="{FF2B5EF4-FFF2-40B4-BE49-F238E27FC236}">
                <a16:creationId xmlns:a16="http://schemas.microsoft.com/office/drawing/2014/main" id="{C0CFA068-C301-31FB-2044-5E6E5B54A12F}"/>
              </a:ext>
            </a:extLst>
          </p:cNvPr>
          <p:cNvSpPr>
            <a:spLocks noGrp="1"/>
          </p:cNvSpPr>
          <p:nvPr>
            <p:ph type="sldNum" sz="quarter" idx="22"/>
          </p:nvPr>
        </p:nvSpPr>
        <p:spPr>
          <a:xfrm>
            <a:off x="10700656" y="6356350"/>
            <a:ext cx="653143" cy="365125"/>
          </a:xfrm>
        </p:spPr>
        <p:txBody>
          <a:bodyPr rtlCol="0"/>
          <a:lstStyle/>
          <a:p>
            <a:pPr rtl="0"/>
            <a:fld id="{B5CEABB6-07DC-46E8-9B57-56EC44A396E5}" type="slidenum">
              <a:rPr lang="en-GB" smtClean="0"/>
              <a:pPr rtl="0"/>
              <a:t>3</a:t>
            </a:fld>
            <a:endParaRPr lang="en-GB"/>
          </a:p>
        </p:txBody>
      </p:sp>
    </p:spTree>
    <p:extLst>
      <p:ext uri="{BB962C8B-B14F-4D97-AF65-F5344CB8AC3E}">
        <p14:creationId xmlns:p14="http://schemas.microsoft.com/office/powerpoint/2010/main" val="4028283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448056" y="891329"/>
            <a:ext cx="11237976" cy="1325563"/>
          </a:xfrm>
        </p:spPr>
        <p:txBody>
          <a:bodyPr rtlCol="0">
            <a:noAutofit/>
          </a:bodyPr>
          <a:lstStyle/>
          <a:p>
            <a:r>
              <a:rPr lang="en-US" sz="2000" dirty="0">
                <a:solidFill>
                  <a:schemeClr val="tx1"/>
                </a:solidFill>
              </a:rPr>
              <a:t>CPUT  recommends a Data Management Plan (DMP) outlining how research data will be handled during and after research projects. </a:t>
            </a:r>
            <a:br>
              <a:rPr lang="en-US" sz="2000" dirty="0">
                <a:solidFill>
                  <a:schemeClr val="tx1"/>
                </a:solidFill>
              </a:rPr>
            </a:br>
            <a:r>
              <a:rPr lang="en-US" sz="2000" dirty="0">
                <a:solidFill>
                  <a:schemeClr val="tx1"/>
                </a:solidFill>
              </a:rPr>
              <a:t>The purpose of the DMP is to ensure that CPUT complies with all legal, ethical, and contractual obligations and promotes best practices in managing research data. </a:t>
            </a:r>
            <a:endParaRPr lang="en-GB" sz="2000" dirty="0">
              <a:solidFill>
                <a:schemeClr val="tx1"/>
              </a:solidFill>
            </a:endParaRPr>
          </a:p>
        </p:txBody>
      </p:sp>
      <p:sp>
        <p:nvSpPr>
          <p:cNvPr id="80" name="Date Placeholder 79">
            <a:extLst>
              <a:ext uri="{FF2B5EF4-FFF2-40B4-BE49-F238E27FC236}">
                <a16:creationId xmlns:a16="http://schemas.microsoft.com/office/drawing/2014/main" id="{BC1F9D86-85D8-4FD0-B0D3-47D778722782}"/>
              </a:ext>
            </a:extLst>
          </p:cNvPr>
          <p:cNvSpPr>
            <a:spLocks noGrp="1"/>
          </p:cNvSpPr>
          <p:nvPr>
            <p:ph type="dt" sz="half" idx="20"/>
          </p:nvPr>
        </p:nvSpPr>
        <p:spPr>
          <a:xfrm>
            <a:off x="838200" y="6356350"/>
            <a:ext cx="2743200" cy="365125"/>
          </a:xfrm>
        </p:spPr>
        <p:txBody>
          <a:bodyPr rtlCol="0"/>
          <a:lstStyle/>
          <a:p>
            <a:pPr rtl="0"/>
            <a:r>
              <a:rPr lang="en-GB" dirty="0"/>
              <a:t>2026</a:t>
            </a:r>
          </a:p>
        </p:txBody>
      </p:sp>
      <p:sp>
        <p:nvSpPr>
          <p:cNvPr id="81" name="Footer Placeholder 80">
            <a:extLst>
              <a:ext uri="{FF2B5EF4-FFF2-40B4-BE49-F238E27FC236}">
                <a16:creationId xmlns:a16="http://schemas.microsoft.com/office/drawing/2014/main" id="{E94F1D24-E4A1-4B59-B57E-A28453963B88}"/>
              </a:ext>
            </a:extLst>
          </p:cNvPr>
          <p:cNvSpPr>
            <a:spLocks noGrp="1"/>
          </p:cNvSpPr>
          <p:nvPr>
            <p:ph type="ftr" sz="quarter" idx="21"/>
          </p:nvPr>
        </p:nvSpPr>
        <p:spPr>
          <a:xfrm>
            <a:off x="4038600" y="6356350"/>
            <a:ext cx="4114800" cy="365125"/>
          </a:xfrm>
        </p:spPr>
        <p:txBody>
          <a:bodyPr rtlCol="0"/>
          <a:lstStyle/>
          <a:p>
            <a:r>
              <a:rPr lang="en-GB" dirty="0">
                <a:solidFill>
                  <a:schemeClr val="tx1"/>
                </a:solidFill>
              </a:rPr>
              <a:t>Research Methodology 4</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rtlCol="0"/>
          <a:lstStyle/>
          <a:p>
            <a:pPr rtl="0"/>
            <a:fld id="{B5CEABB6-07DC-46E8-9B57-56EC44A396E5}" type="slidenum">
              <a:rPr lang="en-GB" smtClean="0"/>
              <a:pPr rtl="0"/>
              <a:t>4</a:t>
            </a:fld>
            <a:endParaRPr lang="en-GB"/>
          </a:p>
        </p:txBody>
      </p:sp>
      <p:pic>
        <p:nvPicPr>
          <p:cNvPr id="9" name="Picture 8">
            <a:extLst>
              <a:ext uri="{FF2B5EF4-FFF2-40B4-BE49-F238E27FC236}">
                <a16:creationId xmlns:a16="http://schemas.microsoft.com/office/drawing/2014/main" id="{94A575A7-F4AD-0330-3351-8644C3299FC2}"/>
              </a:ext>
            </a:extLst>
          </p:cNvPr>
          <p:cNvPicPr>
            <a:picLocks noChangeAspect="1"/>
          </p:cNvPicPr>
          <p:nvPr/>
        </p:nvPicPr>
        <p:blipFill>
          <a:blip r:embed="rId3"/>
          <a:stretch>
            <a:fillRect/>
          </a:stretch>
        </p:blipFill>
        <p:spPr>
          <a:xfrm>
            <a:off x="1826516" y="2696930"/>
            <a:ext cx="8538968" cy="3179382"/>
          </a:xfrm>
          <a:prstGeom prst="rect">
            <a:avLst/>
          </a:prstGeom>
        </p:spPr>
      </p:pic>
      <p:sp>
        <p:nvSpPr>
          <p:cNvPr id="11" name="TextBox 10">
            <a:extLst>
              <a:ext uri="{FF2B5EF4-FFF2-40B4-BE49-F238E27FC236}">
                <a16:creationId xmlns:a16="http://schemas.microsoft.com/office/drawing/2014/main" id="{A8DECA6B-8FF3-180B-65CA-2C7E9B3B72C6}"/>
              </a:ext>
            </a:extLst>
          </p:cNvPr>
          <p:cNvSpPr txBox="1"/>
          <p:nvPr/>
        </p:nvSpPr>
        <p:spPr>
          <a:xfrm>
            <a:off x="4652010" y="5987018"/>
            <a:ext cx="6103620" cy="369332"/>
          </a:xfrm>
          <a:prstGeom prst="rect">
            <a:avLst/>
          </a:prstGeom>
          <a:noFill/>
        </p:spPr>
        <p:txBody>
          <a:bodyPr wrap="square">
            <a:spAutoFit/>
          </a:bodyPr>
          <a:lstStyle/>
          <a:p>
            <a:pPr>
              <a:spcAft>
                <a:spcPts val="1000"/>
              </a:spcAft>
              <a:buNone/>
            </a:pPr>
            <a:r>
              <a:rPr lang="en-US" sz="1800" b="1" dirty="0">
                <a:solidFill>
                  <a:srgbClr val="4F81BD"/>
                </a:solidFill>
                <a:effectLst/>
                <a:latin typeface="Arial" panose="020B0604020202020204" pitchFamily="34" charset="0"/>
                <a:ea typeface="MS Mincho" panose="02020609040205080304" pitchFamily="49" charset="-128"/>
                <a:cs typeface="Times New Roman" panose="02020603050405020304" pitchFamily="18" charset="0"/>
              </a:rPr>
              <a:t>Figure 1 Research Data Phases</a:t>
            </a:r>
            <a:endParaRPr lang="en-GB" sz="1800" b="1" dirty="0">
              <a:solidFill>
                <a:srgbClr val="4F81BD"/>
              </a:solidFill>
              <a:effectLst/>
              <a:latin typeface="Arial" panose="020B060402020202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0A63-A388-49B1-A04E-27CE9BD622EF}"/>
              </a:ext>
            </a:extLst>
          </p:cNvPr>
          <p:cNvSpPr>
            <a:spLocks noGrp="1"/>
          </p:cNvSpPr>
          <p:nvPr>
            <p:ph type="title"/>
          </p:nvPr>
        </p:nvSpPr>
        <p:spPr>
          <a:xfrm>
            <a:off x="6393438" y="417703"/>
            <a:ext cx="4385119" cy="846301"/>
          </a:xfrm>
        </p:spPr>
        <p:txBody>
          <a:bodyPr rtlCol="0">
            <a:normAutofit fontScale="90000"/>
          </a:bodyPr>
          <a:lstStyle/>
          <a:p>
            <a:pPr rtl="0"/>
            <a:r>
              <a:rPr lang="en-GB" b="1" dirty="0">
                <a:solidFill>
                  <a:srgbClr val="002060"/>
                </a:solidFill>
              </a:rPr>
              <a:t>A. CREATE </a:t>
            </a:r>
            <a:br>
              <a:rPr lang="en-GB" b="1" dirty="0">
                <a:solidFill>
                  <a:srgbClr val="002060"/>
                </a:solidFill>
              </a:rPr>
            </a:br>
            <a:r>
              <a:rPr lang="en-GB" b="1" dirty="0">
                <a:solidFill>
                  <a:srgbClr val="002060"/>
                </a:solidFill>
              </a:rPr>
              <a:t>(Raw Data Generation)</a:t>
            </a:r>
          </a:p>
        </p:txBody>
      </p:sp>
      <p:sp>
        <p:nvSpPr>
          <p:cNvPr id="7" name="Text Placeholder 6">
            <a:extLst>
              <a:ext uri="{FF2B5EF4-FFF2-40B4-BE49-F238E27FC236}">
                <a16:creationId xmlns:a16="http://schemas.microsoft.com/office/drawing/2014/main" id="{40297407-CE4E-4284-879D-AEC395713625}"/>
              </a:ext>
            </a:extLst>
          </p:cNvPr>
          <p:cNvSpPr>
            <a:spLocks noGrp="1"/>
          </p:cNvSpPr>
          <p:nvPr>
            <p:ph type="body" sz="quarter" idx="15"/>
          </p:nvPr>
        </p:nvSpPr>
        <p:spPr>
          <a:xfrm>
            <a:off x="5290918" y="1655939"/>
            <a:ext cx="6986016" cy="4391569"/>
          </a:xfrm>
        </p:spPr>
        <p:txBody>
          <a:bodyPr rtlCol="0">
            <a:noAutofit/>
          </a:bodyPr>
          <a:lstStyle/>
          <a:p>
            <a:pPr rtl="0"/>
            <a:r>
              <a:rPr lang="en-US" sz="2000" noProof="1"/>
              <a:t>Activities involved with the creation of research data include:</a:t>
            </a:r>
          </a:p>
          <a:p>
            <a:pPr marL="285750" indent="-285750" rtl="0">
              <a:buFont typeface="Arial" panose="020B0604020202020204" pitchFamily="34" charset="0"/>
              <a:buChar char="•"/>
            </a:pPr>
            <a:r>
              <a:rPr lang="en-US" sz="2000" b="1" noProof="1"/>
              <a:t>Plan</a:t>
            </a:r>
            <a:r>
              <a:rPr lang="en-US" sz="2000" noProof="1"/>
              <a:t>: Define research objectives and methods.</a:t>
            </a:r>
          </a:p>
          <a:p>
            <a:pPr marL="285750" indent="-285750" rtl="0">
              <a:buFont typeface="Arial" panose="020B0604020202020204" pitchFamily="34" charset="0"/>
              <a:buChar char="•"/>
            </a:pPr>
            <a:r>
              <a:rPr lang="en-US" sz="2000" b="1" noProof="1"/>
              <a:t>Source</a:t>
            </a:r>
            <a:r>
              <a:rPr lang="en-US" sz="2000" noProof="1"/>
              <a:t>: Identify tools and data platforms.</a:t>
            </a:r>
          </a:p>
          <a:p>
            <a:pPr marL="285750" indent="-285750" rtl="0">
              <a:buFont typeface="Arial" panose="020B0604020202020204" pitchFamily="34" charset="0"/>
              <a:buChar char="•"/>
            </a:pPr>
            <a:r>
              <a:rPr lang="en-US" sz="2000" b="1" noProof="1"/>
              <a:t>Collect</a:t>
            </a:r>
            <a:r>
              <a:rPr lang="en-US" sz="2000" noProof="1"/>
              <a:t>: Gather primary data.</a:t>
            </a:r>
          </a:p>
          <a:p>
            <a:pPr marL="285750" indent="-285750" rtl="0">
              <a:buFont typeface="Arial" panose="020B0604020202020204" pitchFamily="34" charset="0"/>
              <a:buChar char="•"/>
            </a:pPr>
            <a:r>
              <a:rPr lang="en-US" sz="2000" b="1" noProof="1"/>
              <a:t>QA/QC</a:t>
            </a:r>
            <a:r>
              <a:rPr lang="en-US" sz="2000" noProof="1"/>
              <a:t>: Conduct quality assurance and control.</a:t>
            </a:r>
          </a:p>
          <a:p>
            <a:pPr rtl="0"/>
            <a:endParaRPr lang="en-US" sz="2000" b="1" noProof="1"/>
          </a:p>
          <a:p>
            <a:pPr rtl="0"/>
            <a:r>
              <a:rPr lang="en-US" sz="2000" b="1" noProof="1"/>
              <a:t>Example</a:t>
            </a:r>
            <a:r>
              <a:rPr lang="en-US" sz="2000" noProof="1"/>
              <a:t>: </a:t>
            </a:r>
          </a:p>
          <a:p>
            <a:r>
              <a:rPr lang="en-ZA" sz="2000" dirty="0"/>
              <a:t>ICT students conducting a systematic literature review might search databases such as Scopus, Web of Science and IEEE Xplore using a documented search strategy. The bibliographic records and search results become the review’s raw data."</a:t>
            </a:r>
            <a:endParaRPr lang="en-US" sz="2000" noProof="1"/>
          </a:p>
        </p:txBody>
      </p:sp>
      <p:sp>
        <p:nvSpPr>
          <p:cNvPr id="32" name="Date Placeholder 31">
            <a:extLst>
              <a:ext uri="{FF2B5EF4-FFF2-40B4-BE49-F238E27FC236}">
                <a16:creationId xmlns:a16="http://schemas.microsoft.com/office/drawing/2014/main" id="{D5DB19F8-B538-4965-BA90-ED372B99F5DC}"/>
              </a:ext>
            </a:extLst>
          </p:cNvPr>
          <p:cNvSpPr>
            <a:spLocks noGrp="1"/>
          </p:cNvSpPr>
          <p:nvPr>
            <p:ph type="dt" sz="half" idx="20"/>
          </p:nvPr>
        </p:nvSpPr>
        <p:spPr>
          <a:xfrm>
            <a:off x="5919680" y="6356350"/>
            <a:ext cx="947516" cy="365125"/>
          </a:xfrm>
        </p:spPr>
        <p:txBody>
          <a:bodyPr rtlCol="0"/>
          <a:lstStyle/>
          <a:p>
            <a:r>
              <a:rPr lang="en-GB" dirty="0"/>
              <a:t>July 2026</a:t>
            </a:r>
          </a:p>
        </p:txBody>
      </p:sp>
      <p:sp>
        <p:nvSpPr>
          <p:cNvPr id="3" name="Footer Placeholder 2">
            <a:extLst>
              <a:ext uri="{FF2B5EF4-FFF2-40B4-BE49-F238E27FC236}">
                <a16:creationId xmlns:a16="http://schemas.microsoft.com/office/drawing/2014/main" id="{005C44B1-BA82-483C-BD91-F89067442F9E}"/>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79ED4A67-3A46-4F54-A12A-EAE1B53E6457}"/>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5</a:t>
            </a:fld>
            <a:endParaRPr lang="en-GB" dirty="0"/>
          </a:p>
        </p:txBody>
      </p:sp>
      <p:pic>
        <p:nvPicPr>
          <p:cNvPr id="12" name="Picture 11">
            <a:extLst>
              <a:ext uri="{FF2B5EF4-FFF2-40B4-BE49-F238E27FC236}">
                <a16:creationId xmlns:a16="http://schemas.microsoft.com/office/drawing/2014/main" id="{C54CD903-97A1-A25B-DC66-A3E372687521}"/>
              </a:ext>
            </a:extLst>
          </p:cNvPr>
          <p:cNvPicPr>
            <a:picLocks noChangeAspect="1"/>
          </p:cNvPicPr>
          <p:nvPr/>
        </p:nvPicPr>
        <p:blipFill>
          <a:blip r:embed="rId3"/>
          <a:stretch>
            <a:fillRect/>
          </a:stretch>
        </p:blipFill>
        <p:spPr>
          <a:xfrm>
            <a:off x="164222" y="262889"/>
            <a:ext cx="3100186" cy="1155927"/>
          </a:xfrm>
          <a:prstGeom prst="rect">
            <a:avLst/>
          </a:prstGeom>
        </p:spPr>
      </p:pic>
      <p:sp>
        <p:nvSpPr>
          <p:cNvPr id="13" name="Rectangle: Rounded Corners 12">
            <a:extLst>
              <a:ext uri="{FF2B5EF4-FFF2-40B4-BE49-F238E27FC236}">
                <a16:creationId xmlns:a16="http://schemas.microsoft.com/office/drawing/2014/main" id="{DF52344D-B543-93E4-A473-C41099277C9E}"/>
              </a:ext>
            </a:extLst>
          </p:cNvPr>
          <p:cNvSpPr/>
          <p:nvPr/>
        </p:nvSpPr>
        <p:spPr>
          <a:xfrm>
            <a:off x="164222" y="118872"/>
            <a:ext cx="978778" cy="153706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69393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23E92-AB97-7438-081E-F0D6CFDFF9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249F30-EAEB-0DB3-69F4-C918C8BC3D6F}"/>
              </a:ext>
            </a:extLst>
          </p:cNvPr>
          <p:cNvSpPr>
            <a:spLocks noGrp="1"/>
          </p:cNvSpPr>
          <p:nvPr>
            <p:ph type="title"/>
          </p:nvPr>
        </p:nvSpPr>
        <p:spPr>
          <a:xfrm>
            <a:off x="5919680" y="417703"/>
            <a:ext cx="6108098" cy="846301"/>
          </a:xfrm>
        </p:spPr>
        <p:txBody>
          <a:bodyPr rtlCol="0">
            <a:normAutofit fontScale="90000"/>
          </a:bodyPr>
          <a:lstStyle/>
          <a:p>
            <a:pPr rtl="0"/>
            <a:r>
              <a:rPr lang="en-US" b="1" dirty="0">
                <a:solidFill>
                  <a:srgbClr val="002060"/>
                </a:solidFill>
              </a:rPr>
              <a:t>B. EXPLORE </a:t>
            </a:r>
            <a:br>
              <a:rPr lang="en-US" b="1" dirty="0">
                <a:solidFill>
                  <a:srgbClr val="002060"/>
                </a:solidFill>
              </a:rPr>
            </a:br>
            <a:r>
              <a:rPr lang="en-US" b="1" dirty="0">
                <a:solidFill>
                  <a:srgbClr val="002060"/>
                </a:solidFill>
              </a:rPr>
              <a:t>(Data Processing and Analysis)</a:t>
            </a:r>
            <a:endParaRPr lang="en-GB" b="1" dirty="0">
              <a:solidFill>
                <a:srgbClr val="002060"/>
              </a:solidFill>
            </a:endParaRPr>
          </a:p>
        </p:txBody>
      </p:sp>
      <p:sp>
        <p:nvSpPr>
          <p:cNvPr id="7" name="Text Placeholder 6">
            <a:extLst>
              <a:ext uri="{FF2B5EF4-FFF2-40B4-BE49-F238E27FC236}">
                <a16:creationId xmlns:a16="http://schemas.microsoft.com/office/drawing/2014/main" id="{CADAD881-1B86-B191-FD2F-C6B78C657C6C}"/>
              </a:ext>
            </a:extLst>
          </p:cNvPr>
          <p:cNvSpPr>
            <a:spLocks noGrp="1"/>
          </p:cNvSpPr>
          <p:nvPr>
            <p:ph type="body" sz="quarter" idx="15"/>
          </p:nvPr>
        </p:nvSpPr>
        <p:spPr>
          <a:xfrm>
            <a:off x="4519630" y="1454650"/>
            <a:ext cx="8006686" cy="3885324"/>
          </a:xfrm>
        </p:spPr>
        <p:txBody>
          <a:bodyPr rtlCol="0">
            <a:noAutofit/>
          </a:bodyPr>
          <a:lstStyle/>
          <a:p>
            <a:pPr marL="228600">
              <a:lnSpc>
                <a:spcPct val="115000"/>
              </a:lnSpc>
              <a:spcAft>
                <a:spcPts val="1000"/>
              </a:spcAft>
              <a:buNone/>
            </a:pPr>
            <a:r>
              <a:rPr lang="en-US" sz="2000" dirty="0"/>
              <a:t>Activities involved with the exploration of research data include:</a:t>
            </a:r>
            <a:endParaRPr lang="en-GB" sz="2000" dirty="0"/>
          </a:p>
          <a:p>
            <a:pPr marL="342900" lvl="0" indent="-342900">
              <a:lnSpc>
                <a:spcPct val="115000"/>
              </a:lnSpc>
              <a:buFont typeface="Symbol" panose="05050102010706020507" pitchFamily="18" charset="2"/>
              <a:buChar char=""/>
            </a:pPr>
            <a:r>
              <a:rPr lang="en-US" sz="2000" b="1" dirty="0"/>
              <a:t>Document</a:t>
            </a:r>
            <a:r>
              <a:rPr lang="en-US" sz="2000" dirty="0"/>
              <a:t>: Record methods and metadata.</a:t>
            </a:r>
            <a:endParaRPr lang="en-GB" sz="2000" dirty="0"/>
          </a:p>
          <a:p>
            <a:pPr marL="342900" lvl="0" indent="-342900">
              <a:lnSpc>
                <a:spcPct val="115000"/>
              </a:lnSpc>
              <a:buFont typeface="Symbol" panose="05050102010706020507" pitchFamily="18" charset="2"/>
              <a:buChar char=""/>
            </a:pPr>
            <a:r>
              <a:rPr lang="en-US" sz="2000" b="1" dirty="0"/>
              <a:t>Enrich</a:t>
            </a:r>
            <a:r>
              <a:rPr lang="en-US" sz="2000" dirty="0"/>
              <a:t>: Add contextual data.</a:t>
            </a:r>
            <a:endParaRPr lang="en-GB" sz="2000" dirty="0"/>
          </a:p>
          <a:p>
            <a:pPr marL="342900" lvl="0" indent="-342900">
              <a:lnSpc>
                <a:spcPct val="115000"/>
              </a:lnSpc>
              <a:buFont typeface="Symbol" panose="05050102010706020507" pitchFamily="18" charset="2"/>
              <a:buChar char=""/>
            </a:pPr>
            <a:r>
              <a:rPr lang="en-US" sz="2000" b="1" dirty="0"/>
              <a:t>Analyse</a:t>
            </a:r>
            <a:r>
              <a:rPr lang="en-US" sz="2000" dirty="0"/>
              <a:t>: Interpret data using statistical or qualitative tools.</a:t>
            </a:r>
            <a:endParaRPr lang="en-GB" sz="2000" dirty="0"/>
          </a:p>
          <a:p>
            <a:pPr marL="342900" lvl="0" indent="-342900">
              <a:lnSpc>
                <a:spcPct val="115000"/>
              </a:lnSpc>
              <a:buFont typeface="Symbol" panose="05050102010706020507" pitchFamily="18" charset="2"/>
              <a:buChar char=""/>
            </a:pPr>
            <a:r>
              <a:rPr lang="en-US" sz="2000" b="1" dirty="0" err="1"/>
              <a:t>Synthesise</a:t>
            </a:r>
            <a:r>
              <a:rPr lang="en-US" sz="2000" dirty="0"/>
              <a:t>: Integrate different data sources.</a:t>
            </a:r>
            <a:endParaRPr lang="en-GB" sz="2000" dirty="0"/>
          </a:p>
          <a:p>
            <a:pPr marL="342900" lvl="0" indent="-342900">
              <a:lnSpc>
                <a:spcPct val="115000"/>
              </a:lnSpc>
              <a:spcAft>
                <a:spcPts val="1000"/>
              </a:spcAft>
              <a:buFont typeface="Symbol" panose="05050102010706020507" pitchFamily="18" charset="2"/>
              <a:buChar char=""/>
            </a:pPr>
            <a:r>
              <a:rPr lang="en-US" sz="2000" b="1" dirty="0"/>
              <a:t>Repurpose</a:t>
            </a:r>
            <a:r>
              <a:rPr lang="en-US" sz="2000" dirty="0"/>
              <a:t>: Consider secondary use of data.</a:t>
            </a:r>
            <a:endParaRPr lang="en-GB" sz="2000" dirty="0"/>
          </a:p>
          <a:p>
            <a:pPr lvl="0">
              <a:lnSpc>
                <a:spcPct val="115000"/>
              </a:lnSpc>
              <a:spcAft>
                <a:spcPts val="1000"/>
              </a:spcAft>
            </a:pPr>
            <a:r>
              <a:rPr lang="en-US" sz="2000" b="1" dirty="0"/>
              <a:t>Example</a:t>
            </a:r>
            <a:r>
              <a:rPr lang="en-US" sz="2000" dirty="0"/>
              <a:t>: </a:t>
            </a:r>
            <a:r>
              <a:rPr lang="en-ZA" sz="2000" dirty="0"/>
              <a:t>Students doing an SLR might remove duplicate records, screen titles, abstracts and full texts against predefined criteria, assess study quality, and extract relevant findings into a structured data-extraction table for synthesis.</a:t>
            </a:r>
            <a:endParaRPr lang="en-GB" sz="2000" dirty="0"/>
          </a:p>
        </p:txBody>
      </p:sp>
      <p:sp>
        <p:nvSpPr>
          <p:cNvPr id="32" name="Date Placeholder 31">
            <a:extLst>
              <a:ext uri="{FF2B5EF4-FFF2-40B4-BE49-F238E27FC236}">
                <a16:creationId xmlns:a16="http://schemas.microsoft.com/office/drawing/2014/main" id="{A41BF503-5547-2154-67B4-0A0B4F6E9383}"/>
              </a:ext>
            </a:extLst>
          </p:cNvPr>
          <p:cNvSpPr>
            <a:spLocks noGrp="1"/>
          </p:cNvSpPr>
          <p:nvPr>
            <p:ph type="dt" sz="half" idx="20"/>
          </p:nvPr>
        </p:nvSpPr>
        <p:spPr>
          <a:xfrm>
            <a:off x="5919680" y="6356350"/>
            <a:ext cx="947516" cy="365125"/>
          </a:xfrm>
        </p:spPr>
        <p:txBody>
          <a:bodyPr rtlCol="0"/>
          <a:lstStyle/>
          <a:p>
            <a:r>
              <a:rPr lang="en-GB" dirty="0"/>
              <a:t>2026</a:t>
            </a:r>
          </a:p>
        </p:txBody>
      </p:sp>
      <p:sp>
        <p:nvSpPr>
          <p:cNvPr id="3" name="Footer Placeholder 2">
            <a:extLst>
              <a:ext uri="{FF2B5EF4-FFF2-40B4-BE49-F238E27FC236}">
                <a16:creationId xmlns:a16="http://schemas.microsoft.com/office/drawing/2014/main" id="{919B086C-CC1D-2730-53CD-5A4A265A4A87}"/>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BFE17FA2-BD14-847E-462A-9BDAE6D28029}"/>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6</a:t>
            </a:fld>
            <a:endParaRPr lang="en-GB" dirty="0"/>
          </a:p>
        </p:txBody>
      </p:sp>
      <p:pic>
        <p:nvPicPr>
          <p:cNvPr id="12" name="Picture 11">
            <a:extLst>
              <a:ext uri="{FF2B5EF4-FFF2-40B4-BE49-F238E27FC236}">
                <a16:creationId xmlns:a16="http://schemas.microsoft.com/office/drawing/2014/main" id="{68CB84E0-AD28-437C-C006-5DE90D2F60AB}"/>
              </a:ext>
            </a:extLst>
          </p:cNvPr>
          <p:cNvPicPr>
            <a:picLocks noChangeAspect="1"/>
          </p:cNvPicPr>
          <p:nvPr/>
        </p:nvPicPr>
        <p:blipFill>
          <a:blip r:embed="rId3"/>
          <a:stretch>
            <a:fillRect/>
          </a:stretch>
        </p:blipFill>
        <p:spPr>
          <a:xfrm>
            <a:off x="164222" y="262889"/>
            <a:ext cx="3100186" cy="1155927"/>
          </a:xfrm>
          <a:prstGeom prst="rect">
            <a:avLst/>
          </a:prstGeom>
        </p:spPr>
      </p:pic>
      <p:sp>
        <p:nvSpPr>
          <p:cNvPr id="13" name="Rectangle: Rounded Corners 12">
            <a:extLst>
              <a:ext uri="{FF2B5EF4-FFF2-40B4-BE49-F238E27FC236}">
                <a16:creationId xmlns:a16="http://schemas.microsoft.com/office/drawing/2014/main" id="{5F4A7186-591E-1A95-3663-1BC7C32DC6EA}"/>
              </a:ext>
            </a:extLst>
          </p:cNvPr>
          <p:cNvSpPr/>
          <p:nvPr/>
        </p:nvSpPr>
        <p:spPr>
          <a:xfrm>
            <a:off x="886598" y="119748"/>
            <a:ext cx="978778" cy="153706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29827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C83F1-B662-C2B8-4AEA-FE1DDEB1A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6B0AC-D3E5-0B2F-0491-7AFA2311EC61}"/>
              </a:ext>
            </a:extLst>
          </p:cNvPr>
          <p:cNvSpPr>
            <a:spLocks noGrp="1"/>
          </p:cNvSpPr>
          <p:nvPr>
            <p:ph type="title"/>
          </p:nvPr>
        </p:nvSpPr>
        <p:spPr>
          <a:xfrm>
            <a:off x="5919680" y="417703"/>
            <a:ext cx="6108098" cy="846301"/>
          </a:xfrm>
        </p:spPr>
        <p:txBody>
          <a:bodyPr rtlCol="0">
            <a:normAutofit fontScale="90000"/>
          </a:bodyPr>
          <a:lstStyle/>
          <a:p>
            <a:pPr rtl="0"/>
            <a:r>
              <a:rPr lang="en-US" b="1" dirty="0">
                <a:solidFill>
                  <a:srgbClr val="002060"/>
                </a:solidFill>
              </a:rPr>
              <a:t>C. SHARE </a:t>
            </a:r>
            <a:br>
              <a:rPr lang="en-US" b="1" dirty="0">
                <a:solidFill>
                  <a:srgbClr val="002060"/>
                </a:solidFill>
              </a:rPr>
            </a:br>
            <a:r>
              <a:rPr lang="en-US" b="1" dirty="0">
                <a:solidFill>
                  <a:srgbClr val="002060"/>
                </a:solidFill>
              </a:rPr>
              <a:t>(Dissemination and Access)</a:t>
            </a:r>
          </a:p>
        </p:txBody>
      </p:sp>
      <p:sp>
        <p:nvSpPr>
          <p:cNvPr id="7" name="Text Placeholder 6">
            <a:extLst>
              <a:ext uri="{FF2B5EF4-FFF2-40B4-BE49-F238E27FC236}">
                <a16:creationId xmlns:a16="http://schemas.microsoft.com/office/drawing/2014/main" id="{68DAB69B-8D1E-6043-69E8-A6A1B515181E}"/>
              </a:ext>
            </a:extLst>
          </p:cNvPr>
          <p:cNvSpPr>
            <a:spLocks noGrp="1"/>
          </p:cNvSpPr>
          <p:nvPr>
            <p:ph type="body" sz="quarter" idx="15"/>
          </p:nvPr>
        </p:nvSpPr>
        <p:spPr>
          <a:xfrm>
            <a:off x="4270248" y="1655940"/>
            <a:ext cx="8006686" cy="3885324"/>
          </a:xfrm>
        </p:spPr>
        <p:txBody>
          <a:bodyPr rtlCol="0">
            <a:noAutofit/>
          </a:bodyPr>
          <a:lstStyle/>
          <a:p>
            <a:pPr marL="228600">
              <a:lnSpc>
                <a:spcPct val="115000"/>
              </a:lnSpc>
              <a:spcAft>
                <a:spcPts val="1000"/>
              </a:spcAft>
              <a:buNone/>
            </a:pPr>
            <a:r>
              <a:rPr lang="en-US" sz="2000" dirty="0"/>
              <a:t>Activities involved with the sharing of research data include:</a:t>
            </a:r>
          </a:p>
          <a:p>
            <a:pPr marL="228600">
              <a:lnSpc>
                <a:spcPct val="115000"/>
              </a:lnSpc>
              <a:spcAft>
                <a:spcPts val="1000"/>
              </a:spcAft>
              <a:buNone/>
            </a:pPr>
            <a:r>
              <a:rPr lang="en-US" sz="2000" dirty="0"/>
              <a:t>• </a:t>
            </a:r>
            <a:r>
              <a:rPr lang="en-US" sz="2000" b="1" dirty="0"/>
              <a:t>Describe</a:t>
            </a:r>
            <a:r>
              <a:rPr lang="en-US" sz="2000" dirty="0"/>
              <a:t>: Create metadata.</a:t>
            </a:r>
          </a:p>
          <a:p>
            <a:pPr marL="228600">
              <a:lnSpc>
                <a:spcPct val="115000"/>
              </a:lnSpc>
              <a:spcAft>
                <a:spcPts val="1000"/>
              </a:spcAft>
              <a:buNone/>
            </a:pPr>
            <a:r>
              <a:rPr lang="en-US" sz="2000" dirty="0"/>
              <a:t>• </a:t>
            </a:r>
            <a:r>
              <a:rPr lang="en-US" sz="2000" b="1" dirty="0"/>
              <a:t>Publish</a:t>
            </a:r>
            <a:r>
              <a:rPr lang="en-US" sz="2000" dirty="0"/>
              <a:t>: Share in repositories or with publications.</a:t>
            </a:r>
          </a:p>
          <a:p>
            <a:pPr marL="228600">
              <a:lnSpc>
                <a:spcPct val="115000"/>
              </a:lnSpc>
              <a:spcAft>
                <a:spcPts val="1000"/>
              </a:spcAft>
              <a:buNone/>
            </a:pPr>
            <a:r>
              <a:rPr lang="en-US" sz="2000" dirty="0"/>
              <a:t>• </a:t>
            </a:r>
            <a:r>
              <a:rPr lang="en-US" sz="2000" b="1" dirty="0"/>
              <a:t>Follow FAIR principles</a:t>
            </a:r>
            <a:r>
              <a:rPr lang="en-US" sz="2000" dirty="0"/>
              <a:t>: Ensure data is Findable, Accessible, Interoperable, and Reusable.</a:t>
            </a:r>
          </a:p>
          <a:p>
            <a:pPr marL="228600">
              <a:lnSpc>
                <a:spcPct val="115000"/>
              </a:lnSpc>
              <a:spcAft>
                <a:spcPts val="1000"/>
              </a:spcAft>
              <a:buNone/>
            </a:pPr>
            <a:r>
              <a:rPr lang="en-US" sz="2000" b="1" dirty="0"/>
              <a:t>Example</a:t>
            </a:r>
            <a:r>
              <a:rPr lang="en-US" sz="2000" dirty="0"/>
              <a:t>: </a:t>
            </a:r>
            <a:r>
              <a:rPr lang="en-ZA" sz="2000" dirty="0"/>
              <a:t>Students might share their search strategies, selection criteria, PRISMA flow diagram, data-extraction template and synthesis tables through an institutional repository or as supplementary material, without redistributing copyrighted articles.</a:t>
            </a:r>
            <a:endParaRPr lang="en-US" sz="2000" dirty="0"/>
          </a:p>
        </p:txBody>
      </p:sp>
      <p:sp>
        <p:nvSpPr>
          <p:cNvPr id="32" name="Date Placeholder 31">
            <a:extLst>
              <a:ext uri="{FF2B5EF4-FFF2-40B4-BE49-F238E27FC236}">
                <a16:creationId xmlns:a16="http://schemas.microsoft.com/office/drawing/2014/main" id="{D97D0A6F-C7F7-C075-ECDB-66D838FFFD77}"/>
              </a:ext>
            </a:extLst>
          </p:cNvPr>
          <p:cNvSpPr>
            <a:spLocks noGrp="1"/>
          </p:cNvSpPr>
          <p:nvPr>
            <p:ph type="dt" sz="half" idx="20"/>
          </p:nvPr>
        </p:nvSpPr>
        <p:spPr>
          <a:xfrm>
            <a:off x="5919680" y="6356350"/>
            <a:ext cx="947516" cy="365125"/>
          </a:xfrm>
        </p:spPr>
        <p:txBody>
          <a:bodyPr rtlCol="0"/>
          <a:lstStyle/>
          <a:p>
            <a:r>
              <a:rPr lang="en-GB" dirty="0"/>
              <a:t>2026</a:t>
            </a:r>
          </a:p>
        </p:txBody>
      </p:sp>
      <p:sp>
        <p:nvSpPr>
          <p:cNvPr id="3" name="Footer Placeholder 2">
            <a:extLst>
              <a:ext uri="{FF2B5EF4-FFF2-40B4-BE49-F238E27FC236}">
                <a16:creationId xmlns:a16="http://schemas.microsoft.com/office/drawing/2014/main" id="{D14D95D5-784D-3E52-8A6A-5A01534A9C4C}"/>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D9E3B98C-3AF4-5F48-B7A9-B71944D8B89A}"/>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7</a:t>
            </a:fld>
            <a:endParaRPr lang="en-GB" dirty="0"/>
          </a:p>
        </p:txBody>
      </p:sp>
      <p:pic>
        <p:nvPicPr>
          <p:cNvPr id="12" name="Picture 11">
            <a:extLst>
              <a:ext uri="{FF2B5EF4-FFF2-40B4-BE49-F238E27FC236}">
                <a16:creationId xmlns:a16="http://schemas.microsoft.com/office/drawing/2014/main" id="{0B8F18E5-4CA0-BA1D-B907-77FF261F2B7F}"/>
              </a:ext>
            </a:extLst>
          </p:cNvPr>
          <p:cNvPicPr>
            <a:picLocks noChangeAspect="1"/>
          </p:cNvPicPr>
          <p:nvPr/>
        </p:nvPicPr>
        <p:blipFill>
          <a:blip r:embed="rId3"/>
          <a:stretch>
            <a:fillRect/>
          </a:stretch>
        </p:blipFill>
        <p:spPr>
          <a:xfrm>
            <a:off x="164222" y="262889"/>
            <a:ext cx="3100186" cy="1155927"/>
          </a:xfrm>
          <a:prstGeom prst="rect">
            <a:avLst/>
          </a:prstGeom>
        </p:spPr>
      </p:pic>
      <p:sp>
        <p:nvSpPr>
          <p:cNvPr id="13" name="Rectangle: Rounded Corners 12">
            <a:extLst>
              <a:ext uri="{FF2B5EF4-FFF2-40B4-BE49-F238E27FC236}">
                <a16:creationId xmlns:a16="http://schemas.microsoft.com/office/drawing/2014/main" id="{0D74516A-CB62-CCF9-5647-2A869FEA9AEE}"/>
              </a:ext>
            </a:extLst>
          </p:cNvPr>
          <p:cNvSpPr/>
          <p:nvPr/>
        </p:nvSpPr>
        <p:spPr>
          <a:xfrm>
            <a:off x="1599830" y="128892"/>
            <a:ext cx="978778" cy="153706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25565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91674-D055-3EB5-BD0F-F3D4929BA1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20853-32D3-D396-0825-225ECBDF2391}"/>
              </a:ext>
            </a:extLst>
          </p:cNvPr>
          <p:cNvSpPr>
            <a:spLocks noGrp="1"/>
          </p:cNvSpPr>
          <p:nvPr>
            <p:ph type="title"/>
          </p:nvPr>
        </p:nvSpPr>
        <p:spPr>
          <a:xfrm>
            <a:off x="5919680" y="417703"/>
            <a:ext cx="6108098" cy="846301"/>
          </a:xfrm>
        </p:spPr>
        <p:txBody>
          <a:bodyPr rtlCol="0">
            <a:normAutofit fontScale="90000"/>
          </a:bodyPr>
          <a:lstStyle/>
          <a:p>
            <a:pPr rtl="0"/>
            <a:r>
              <a:rPr lang="en-US" b="1" dirty="0">
                <a:solidFill>
                  <a:srgbClr val="002060"/>
                </a:solidFill>
              </a:rPr>
              <a:t>D. PRESERVE </a:t>
            </a:r>
            <a:br>
              <a:rPr lang="en-US" b="1" dirty="0">
                <a:solidFill>
                  <a:srgbClr val="002060"/>
                </a:solidFill>
              </a:rPr>
            </a:br>
            <a:r>
              <a:rPr lang="en-US" b="1" dirty="0">
                <a:solidFill>
                  <a:srgbClr val="002060"/>
                </a:solidFill>
              </a:rPr>
              <a:t>(Long-Term Stewardship)</a:t>
            </a:r>
          </a:p>
        </p:txBody>
      </p:sp>
      <p:sp>
        <p:nvSpPr>
          <p:cNvPr id="7" name="Text Placeholder 6">
            <a:extLst>
              <a:ext uri="{FF2B5EF4-FFF2-40B4-BE49-F238E27FC236}">
                <a16:creationId xmlns:a16="http://schemas.microsoft.com/office/drawing/2014/main" id="{A5D2E978-C18E-D026-BB99-BE3D7A3E0544}"/>
              </a:ext>
            </a:extLst>
          </p:cNvPr>
          <p:cNvSpPr>
            <a:spLocks noGrp="1"/>
          </p:cNvSpPr>
          <p:nvPr>
            <p:ph type="body" sz="quarter" idx="15"/>
          </p:nvPr>
        </p:nvSpPr>
        <p:spPr>
          <a:xfrm>
            <a:off x="4270248" y="1655940"/>
            <a:ext cx="8006686" cy="3885324"/>
          </a:xfrm>
        </p:spPr>
        <p:txBody>
          <a:bodyPr rtlCol="0">
            <a:noAutofit/>
          </a:bodyPr>
          <a:lstStyle/>
          <a:p>
            <a:pPr marL="228600">
              <a:lnSpc>
                <a:spcPct val="115000"/>
              </a:lnSpc>
              <a:spcAft>
                <a:spcPts val="1000"/>
              </a:spcAft>
              <a:buNone/>
            </a:pPr>
            <a:r>
              <a:rPr lang="en-US" sz="2000" dirty="0"/>
              <a:t>Activities involved with the preservation of research data include:</a:t>
            </a:r>
          </a:p>
          <a:p>
            <a:pPr marL="228600">
              <a:lnSpc>
                <a:spcPct val="115000"/>
              </a:lnSpc>
              <a:spcAft>
                <a:spcPts val="1000"/>
              </a:spcAft>
              <a:buNone/>
            </a:pPr>
            <a:r>
              <a:rPr lang="en-US" sz="2000" dirty="0"/>
              <a:t>• </a:t>
            </a:r>
            <a:r>
              <a:rPr lang="en-US" sz="2000" b="1" dirty="0"/>
              <a:t>Archive</a:t>
            </a:r>
            <a:r>
              <a:rPr lang="en-US" sz="2000" dirty="0"/>
              <a:t>: Deposit in institutional/national archives. </a:t>
            </a:r>
          </a:p>
          <a:p>
            <a:pPr marL="228600">
              <a:lnSpc>
                <a:spcPct val="115000"/>
              </a:lnSpc>
              <a:spcAft>
                <a:spcPts val="1000"/>
              </a:spcAft>
              <a:buNone/>
            </a:pPr>
            <a:r>
              <a:rPr lang="en-US" sz="2000" dirty="0"/>
              <a:t>• </a:t>
            </a:r>
            <a:r>
              <a:rPr lang="en-US" sz="2000" b="1" dirty="0"/>
              <a:t>Maintain</a:t>
            </a:r>
            <a:r>
              <a:rPr lang="en-US" sz="2000" dirty="0"/>
              <a:t>: Update and use open formats for accessibility.</a:t>
            </a:r>
          </a:p>
          <a:p>
            <a:pPr marL="228600">
              <a:lnSpc>
                <a:spcPct val="115000"/>
              </a:lnSpc>
              <a:spcAft>
                <a:spcPts val="1000"/>
              </a:spcAft>
              <a:buNone/>
            </a:pPr>
            <a:r>
              <a:rPr lang="en-US" sz="2000" b="1" dirty="0"/>
              <a:t>Example</a:t>
            </a:r>
            <a:r>
              <a:rPr lang="en-US" sz="2000" dirty="0"/>
              <a:t>: </a:t>
            </a:r>
          </a:p>
          <a:p>
            <a:pPr marL="228600">
              <a:lnSpc>
                <a:spcPct val="115000"/>
              </a:lnSpc>
              <a:spcAft>
                <a:spcPts val="1000"/>
              </a:spcAft>
            </a:pPr>
            <a:r>
              <a:rPr lang="en-ZA" sz="2000" dirty="0"/>
              <a:t>Students might archive database search records, screening decisions, quality-appraisal results, extraction tables and synthesis files in open formats, with clear filenames, version information and sufficient documentation for future verification or updating</a:t>
            </a:r>
            <a:endParaRPr lang="en-US" sz="2000" dirty="0"/>
          </a:p>
        </p:txBody>
      </p:sp>
      <p:sp>
        <p:nvSpPr>
          <p:cNvPr id="32" name="Date Placeholder 31">
            <a:extLst>
              <a:ext uri="{FF2B5EF4-FFF2-40B4-BE49-F238E27FC236}">
                <a16:creationId xmlns:a16="http://schemas.microsoft.com/office/drawing/2014/main" id="{FA138C5E-C1F9-96E1-4961-0202B1C58E4D}"/>
              </a:ext>
            </a:extLst>
          </p:cNvPr>
          <p:cNvSpPr>
            <a:spLocks noGrp="1"/>
          </p:cNvSpPr>
          <p:nvPr>
            <p:ph type="dt" sz="half" idx="20"/>
          </p:nvPr>
        </p:nvSpPr>
        <p:spPr>
          <a:xfrm>
            <a:off x="5919680" y="6356350"/>
            <a:ext cx="947516" cy="365125"/>
          </a:xfrm>
        </p:spPr>
        <p:txBody>
          <a:bodyPr rtlCol="0"/>
          <a:lstStyle/>
          <a:p>
            <a:r>
              <a:rPr lang="en-GB" dirty="0"/>
              <a:t>2026</a:t>
            </a:r>
          </a:p>
        </p:txBody>
      </p:sp>
      <p:sp>
        <p:nvSpPr>
          <p:cNvPr id="3" name="Footer Placeholder 2">
            <a:extLst>
              <a:ext uri="{FF2B5EF4-FFF2-40B4-BE49-F238E27FC236}">
                <a16:creationId xmlns:a16="http://schemas.microsoft.com/office/drawing/2014/main" id="{5D11181D-F416-C085-AAF8-B19B673ACAEC}"/>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B3796646-4768-8027-9F87-7FADE721CE96}"/>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8</a:t>
            </a:fld>
            <a:endParaRPr lang="en-GB" dirty="0"/>
          </a:p>
        </p:txBody>
      </p:sp>
      <p:pic>
        <p:nvPicPr>
          <p:cNvPr id="12" name="Picture 11">
            <a:extLst>
              <a:ext uri="{FF2B5EF4-FFF2-40B4-BE49-F238E27FC236}">
                <a16:creationId xmlns:a16="http://schemas.microsoft.com/office/drawing/2014/main" id="{09241A9E-B501-9D87-A428-725518C2084B}"/>
              </a:ext>
            </a:extLst>
          </p:cNvPr>
          <p:cNvPicPr>
            <a:picLocks noChangeAspect="1"/>
          </p:cNvPicPr>
          <p:nvPr/>
        </p:nvPicPr>
        <p:blipFill>
          <a:blip r:embed="rId3"/>
          <a:stretch>
            <a:fillRect/>
          </a:stretch>
        </p:blipFill>
        <p:spPr>
          <a:xfrm>
            <a:off x="164222" y="262889"/>
            <a:ext cx="3100186" cy="1155927"/>
          </a:xfrm>
          <a:prstGeom prst="rect">
            <a:avLst/>
          </a:prstGeom>
        </p:spPr>
      </p:pic>
      <p:sp>
        <p:nvSpPr>
          <p:cNvPr id="13" name="Rectangle: Rounded Corners 12">
            <a:extLst>
              <a:ext uri="{FF2B5EF4-FFF2-40B4-BE49-F238E27FC236}">
                <a16:creationId xmlns:a16="http://schemas.microsoft.com/office/drawing/2014/main" id="{B95ADCB8-5C3C-3B53-5D62-BE4FC8201BC9}"/>
              </a:ext>
            </a:extLst>
          </p:cNvPr>
          <p:cNvSpPr/>
          <p:nvPr/>
        </p:nvSpPr>
        <p:spPr>
          <a:xfrm>
            <a:off x="2285630" y="118872"/>
            <a:ext cx="978778" cy="153706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57139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FC9BD-38E7-FA9D-1972-430A99DA8063}"/>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B79812CD-0E7C-3FF9-77CC-14189B5B877C}"/>
              </a:ext>
            </a:extLst>
          </p:cNvPr>
          <p:cNvSpPr>
            <a:spLocks noGrp="1"/>
          </p:cNvSpPr>
          <p:nvPr>
            <p:ph type="body" sz="quarter" idx="15"/>
          </p:nvPr>
        </p:nvSpPr>
        <p:spPr>
          <a:xfrm>
            <a:off x="4135582" y="1094826"/>
            <a:ext cx="8229600" cy="3885324"/>
          </a:xfrm>
        </p:spPr>
        <p:txBody>
          <a:bodyPr rtlCol="0">
            <a:noAutofit/>
          </a:bodyPr>
          <a:lstStyle/>
          <a:p>
            <a:pPr marL="571500" indent="-342900">
              <a:lnSpc>
                <a:spcPct val="115000"/>
              </a:lnSpc>
              <a:spcAft>
                <a:spcPts val="1000"/>
              </a:spcAft>
              <a:buFont typeface="Arial" panose="020B0604020202020204" pitchFamily="34" charset="0"/>
              <a:buChar char="•"/>
            </a:pPr>
            <a:r>
              <a:rPr lang="en-US" sz="2000" dirty="0"/>
              <a:t>The Research Data Lifecycle illustrates that research data is a critical research output requiring ongoing attention throughout a research project’s lifecycle. </a:t>
            </a:r>
          </a:p>
          <a:p>
            <a:pPr marL="571500" indent="-342900">
              <a:lnSpc>
                <a:spcPct val="115000"/>
              </a:lnSpc>
              <a:spcAft>
                <a:spcPts val="1000"/>
              </a:spcAft>
              <a:buFont typeface="Arial" panose="020B0604020202020204" pitchFamily="34" charset="0"/>
              <a:buChar char="•"/>
            </a:pPr>
            <a:r>
              <a:rPr lang="en-US" sz="2000" dirty="0"/>
              <a:t>From planning and collection to sharing and archiving, each stage supports transparency, reuse, and the long-term value of research. </a:t>
            </a:r>
          </a:p>
          <a:p>
            <a:pPr marL="571500" indent="-342900">
              <a:lnSpc>
                <a:spcPct val="115000"/>
              </a:lnSpc>
              <a:spcAft>
                <a:spcPts val="1000"/>
              </a:spcAft>
              <a:buFont typeface="Arial" panose="020B0604020202020204" pitchFamily="34" charset="0"/>
              <a:buChar char="•"/>
            </a:pPr>
            <a:r>
              <a:rPr lang="en-US" sz="2000" dirty="0"/>
              <a:t>It also aligns with global trends promoting open science, data sharing, and robust data stewardship.</a:t>
            </a:r>
          </a:p>
          <a:p>
            <a:pPr marL="571500" indent="-342900">
              <a:lnSpc>
                <a:spcPct val="115000"/>
              </a:lnSpc>
              <a:spcAft>
                <a:spcPts val="1000"/>
              </a:spcAft>
              <a:buFont typeface="Arial" panose="020B0604020202020204" pitchFamily="34" charset="0"/>
              <a:buChar char="•"/>
            </a:pPr>
            <a:r>
              <a:rPr lang="en-ZA" sz="2000" dirty="0"/>
              <a:t>In an SLR, research data includes the search results, screening decisions, quality assessments, extracted evidence and synthesis records created during the review. Managing these materials carefully strengthens transparency, reproducibility and future reuse.</a:t>
            </a:r>
          </a:p>
          <a:p>
            <a:pPr marL="571500" indent="-342900">
              <a:lnSpc>
                <a:spcPct val="115000"/>
              </a:lnSpc>
              <a:spcAft>
                <a:spcPts val="1000"/>
              </a:spcAft>
              <a:buFont typeface="Arial" panose="020B0604020202020204" pitchFamily="34" charset="0"/>
              <a:buChar char="•"/>
            </a:pPr>
            <a:endParaRPr lang="en-US" sz="2000" dirty="0"/>
          </a:p>
        </p:txBody>
      </p:sp>
      <p:sp>
        <p:nvSpPr>
          <p:cNvPr id="32" name="Date Placeholder 31">
            <a:extLst>
              <a:ext uri="{FF2B5EF4-FFF2-40B4-BE49-F238E27FC236}">
                <a16:creationId xmlns:a16="http://schemas.microsoft.com/office/drawing/2014/main" id="{549FAB5C-BA78-D331-5B4B-260E8824BFD5}"/>
              </a:ext>
            </a:extLst>
          </p:cNvPr>
          <p:cNvSpPr>
            <a:spLocks noGrp="1"/>
          </p:cNvSpPr>
          <p:nvPr>
            <p:ph type="dt" sz="half" idx="20"/>
          </p:nvPr>
        </p:nvSpPr>
        <p:spPr>
          <a:xfrm>
            <a:off x="5919680" y="6356350"/>
            <a:ext cx="947516" cy="365125"/>
          </a:xfrm>
        </p:spPr>
        <p:txBody>
          <a:bodyPr rtlCol="0"/>
          <a:lstStyle/>
          <a:p>
            <a:r>
              <a:rPr lang="en-GB" dirty="0"/>
              <a:t>2026</a:t>
            </a:r>
          </a:p>
        </p:txBody>
      </p:sp>
      <p:sp>
        <p:nvSpPr>
          <p:cNvPr id="3" name="Footer Placeholder 2">
            <a:extLst>
              <a:ext uri="{FF2B5EF4-FFF2-40B4-BE49-F238E27FC236}">
                <a16:creationId xmlns:a16="http://schemas.microsoft.com/office/drawing/2014/main" id="{43C09F3F-2BC3-647E-E607-E683844834CF}"/>
              </a:ext>
            </a:extLst>
          </p:cNvPr>
          <p:cNvSpPr>
            <a:spLocks noGrp="1"/>
          </p:cNvSpPr>
          <p:nvPr>
            <p:ph type="ftr" sz="quarter" idx="21"/>
          </p:nvPr>
        </p:nvSpPr>
        <p:spPr>
          <a:xfrm>
            <a:off x="7161955" y="6356350"/>
            <a:ext cx="3243942" cy="365125"/>
          </a:xfrm>
        </p:spPr>
        <p:txBody>
          <a:bodyPr rtlCol="0"/>
          <a:lstStyle/>
          <a:p>
            <a:pPr rtl="0"/>
            <a:r>
              <a:rPr lang="en-GB" dirty="0"/>
              <a:t>Research Methodology 4</a:t>
            </a:r>
          </a:p>
        </p:txBody>
      </p:sp>
      <p:sp>
        <p:nvSpPr>
          <p:cNvPr id="4" name="Slide Number Placeholder 3">
            <a:extLst>
              <a:ext uri="{FF2B5EF4-FFF2-40B4-BE49-F238E27FC236}">
                <a16:creationId xmlns:a16="http://schemas.microsoft.com/office/drawing/2014/main" id="{525E02CA-59C0-C5AC-079C-97F11B69B22A}"/>
              </a:ext>
            </a:extLst>
          </p:cNvPr>
          <p:cNvSpPr>
            <a:spLocks noGrp="1"/>
          </p:cNvSpPr>
          <p:nvPr>
            <p:ph type="sldNum" sz="quarter" idx="22"/>
          </p:nvPr>
        </p:nvSpPr>
        <p:spPr>
          <a:xfrm>
            <a:off x="10700656" y="6356350"/>
            <a:ext cx="653143" cy="365125"/>
          </a:xfrm>
        </p:spPr>
        <p:txBody>
          <a:bodyPr rtlCol="0"/>
          <a:lstStyle/>
          <a:p>
            <a:pPr rtl="0"/>
            <a:fld id="{19B51A1E-902D-48AF-9020-955120F399B6}" type="slidenum">
              <a:rPr lang="en-GB" smtClean="0"/>
              <a:pPr rtl="0"/>
              <a:t>9</a:t>
            </a:fld>
            <a:endParaRPr lang="en-GB" dirty="0"/>
          </a:p>
        </p:txBody>
      </p:sp>
      <p:pic>
        <p:nvPicPr>
          <p:cNvPr id="12" name="Picture 11">
            <a:extLst>
              <a:ext uri="{FF2B5EF4-FFF2-40B4-BE49-F238E27FC236}">
                <a16:creationId xmlns:a16="http://schemas.microsoft.com/office/drawing/2014/main" id="{39E941C0-EB4A-27AA-152D-EA2BBAA36193}"/>
              </a:ext>
            </a:extLst>
          </p:cNvPr>
          <p:cNvPicPr>
            <a:picLocks noChangeAspect="1"/>
          </p:cNvPicPr>
          <p:nvPr/>
        </p:nvPicPr>
        <p:blipFill>
          <a:blip r:embed="rId3"/>
          <a:stretch>
            <a:fillRect/>
          </a:stretch>
        </p:blipFill>
        <p:spPr>
          <a:xfrm>
            <a:off x="374534" y="2442675"/>
            <a:ext cx="3100186" cy="1155927"/>
          </a:xfrm>
          <a:prstGeom prst="rect">
            <a:avLst/>
          </a:prstGeom>
        </p:spPr>
      </p:pic>
    </p:spTree>
    <p:extLst>
      <p:ext uri="{BB962C8B-B14F-4D97-AF65-F5344CB8AC3E}">
        <p14:creationId xmlns:p14="http://schemas.microsoft.com/office/powerpoint/2010/main" val="3679689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685800" y="932688"/>
            <a:ext cx="4389120" cy="384048"/>
          </a:xfrm>
          <a:prstGeom prst="rect">
            <a:avLst/>
          </a:prstGeom>
          <a:noFill/>
          <a:ln/>
        </p:spPr>
        <p:txBody>
          <a:bodyPr wrap="square" lIns="0" tIns="0" rIns="0" bIns="0" rtlCol="0" anchor="ctr"/>
          <a:lstStyle/>
          <a:p>
            <a:pPr marL="0" indent="0">
              <a:buNone/>
            </a:pPr>
            <a:r>
              <a:rPr lang="en-US" sz="1300" b="1" dirty="0">
                <a:solidFill>
                  <a:srgbClr val="174B4A"/>
                </a:solidFill>
                <a:latin typeface="Aptos" pitchFamily="34" charset="0"/>
                <a:ea typeface="Aptos" pitchFamily="34" charset="-122"/>
                <a:cs typeface="Aptos" pitchFamily="34" charset="-120"/>
              </a:rPr>
              <a:t>RESEARCH ETHICS IN ACTION</a:t>
            </a:r>
            <a:endParaRPr lang="en-US" sz="1300" dirty="0"/>
          </a:p>
        </p:txBody>
      </p:sp>
      <p:sp>
        <p:nvSpPr>
          <p:cNvPr id="5" name="Text 2"/>
          <p:cNvSpPr/>
          <p:nvPr/>
        </p:nvSpPr>
        <p:spPr>
          <a:xfrm>
            <a:off x="667512" y="1444752"/>
            <a:ext cx="4480560" cy="1508760"/>
          </a:xfrm>
          <a:prstGeom prst="rect">
            <a:avLst/>
          </a:prstGeom>
          <a:noFill/>
          <a:ln/>
        </p:spPr>
        <p:txBody>
          <a:bodyPr wrap="square" lIns="0" tIns="0" rIns="0" bIns="0" rtlCol="0" anchor="ctr">
            <a:normAutofit/>
          </a:bodyPr>
          <a:lstStyle/>
          <a:p>
            <a:pPr marL="0" indent="0">
              <a:buNone/>
            </a:pPr>
            <a:r>
              <a:rPr lang="en-US" sz="3900" b="1" dirty="0">
                <a:solidFill>
                  <a:srgbClr val="112B36"/>
                </a:solidFill>
                <a:latin typeface="Aptos Display" pitchFamily="34" charset="0"/>
                <a:ea typeface="Aptos Display" pitchFamily="34" charset="-122"/>
                <a:cs typeface="Aptos Display" pitchFamily="34" charset="-120"/>
              </a:rPr>
              <a:t>Lessons from</a:t>
            </a:r>
            <a:endParaRPr lang="en-US" sz="3900" dirty="0"/>
          </a:p>
          <a:p>
            <a:pPr marL="0" indent="0">
              <a:buNone/>
            </a:pPr>
            <a:r>
              <a:rPr lang="en-US" sz="3900" b="1" dirty="0">
                <a:solidFill>
                  <a:srgbClr val="112B36"/>
                </a:solidFill>
                <a:latin typeface="Aptos Display" pitchFamily="34" charset="0"/>
                <a:ea typeface="Aptos Display" pitchFamily="34" charset="-122"/>
                <a:cs typeface="Aptos Display" pitchFamily="34" charset="-120"/>
              </a:rPr>
              <a:t>Retraction Watch</a:t>
            </a:r>
            <a:endParaRPr lang="en-US" sz="3900" dirty="0"/>
          </a:p>
        </p:txBody>
      </p:sp>
      <p:sp>
        <p:nvSpPr>
          <p:cNvPr id="6" name="Text 3"/>
          <p:cNvSpPr/>
          <p:nvPr/>
        </p:nvSpPr>
        <p:spPr>
          <a:xfrm>
            <a:off x="713232" y="3246120"/>
            <a:ext cx="4297680" cy="365760"/>
          </a:xfrm>
          <a:prstGeom prst="rect">
            <a:avLst/>
          </a:prstGeom>
          <a:noFill/>
          <a:ln/>
        </p:spPr>
        <p:txBody>
          <a:bodyPr wrap="square" lIns="0" tIns="0" rIns="0" bIns="0" rtlCol="0" anchor="ctr"/>
          <a:lstStyle/>
          <a:p>
            <a:pPr marL="0" indent="0">
              <a:buNone/>
            </a:pPr>
            <a:r>
              <a:rPr lang="en-US" sz="1500" dirty="0">
                <a:solidFill>
                  <a:srgbClr val="50636B"/>
                </a:solidFill>
                <a:latin typeface="Aptos" pitchFamily="34" charset="0"/>
                <a:ea typeface="Aptos" pitchFamily="34" charset="-122"/>
                <a:cs typeface="Aptos" pitchFamily="34" charset="-120"/>
              </a:rPr>
              <a:t>A research seminar for undergraduate researchers</a:t>
            </a:r>
            <a:endParaRPr lang="en-US" sz="1500" dirty="0"/>
          </a:p>
        </p:txBody>
      </p:sp>
      <p:sp>
        <p:nvSpPr>
          <p:cNvPr id="7" name="Text 4"/>
          <p:cNvSpPr/>
          <p:nvPr/>
        </p:nvSpPr>
        <p:spPr>
          <a:xfrm>
            <a:off x="713232" y="5376672"/>
            <a:ext cx="3108960" cy="320040"/>
          </a:xfrm>
          <a:prstGeom prst="rect">
            <a:avLst/>
          </a:prstGeom>
          <a:solidFill>
            <a:srgbClr val="174B4A"/>
          </a:solidFill>
          <a:ln>
            <a:solidFill>
              <a:srgbClr val="174B4A">
                <a:alpha val="0"/>
              </a:srgbClr>
            </a:solidFill>
          </a:ln>
        </p:spPr>
        <p:txBody>
          <a:bodyPr wrap="square" lIns="762" tIns="762" rIns="762" bIns="762" rtlCol="0" anchor="ctr"/>
          <a:lstStyle/>
          <a:p>
            <a:pPr marL="0" indent="0" algn="ctr">
              <a:buNone/>
            </a:pPr>
            <a:r>
              <a:rPr lang="en-US" sz="1150" b="1" dirty="0">
                <a:solidFill>
                  <a:srgbClr val="FFFFFF"/>
                </a:solidFill>
                <a:latin typeface="Aptos" pitchFamily="34" charset="0"/>
                <a:ea typeface="Aptos" pitchFamily="34" charset="-122"/>
                <a:cs typeface="Aptos" pitchFamily="34" charset="-120"/>
              </a:rPr>
              <a:t>Prepared by Dr Errol Francke</a:t>
            </a:r>
            <a:endParaRPr lang="en-US" sz="1150" dirty="0"/>
          </a:p>
        </p:txBody>
      </p:sp>
      <p:sp>
        <p:nvSpPr>
          <p:cNvPr id="8" name="Text 5"/>
          <p:cNvSpPr/>
          <p:nvPr/>
        </p:nvSpPr>
        <p:spPr>
          <a:xfrm>
            <a:off x="713232" y="5806440"/>
            <a:ext cx="3840480" cy="228600"/>
          </a:xfrm>
          <a:prstGeom prst="rect">
            <a:avLst/>
          </a:prstGeom>
          <a:noFill/>
          <a:ln/>
        </p:spPr>
        <p:txBody>
          <a:bodyPr wrap="square" lIns="0" tIns="0" rIns="0" bIns="0" rtlCol="0" anchor="ctr"/>
          <a:lstStyle/>
          <a:p>
            <a:pPr marL="0" indent="0">
              <a:buNone/>
            </a:pPr>
            <a:r>
              <a:rPr lang="en-US" sz="1000" dirty="0">
                <a:solidFill>
                  <a:srgbClr val="50636B"/>
                </a:solidFill>
                <a:latin typeface="Aptos" pitchFamily="34" charset="0"/>
                <a:ea typeface="Aptos" pitchFamily="34" charset="-122"/>
                <a:cs typeface="Aptos" pitchFamily="34" charset="-120"/>
              </a:rPr>
              <a:t>https://retractionwatch.com/</a:t>
            </a:r>
            <a:endParaRPr lang="en-US" sz="1000" dirty="0"/>
          </a:p>
        </p:txBody>
      </p:sp>
      <p:pic>
        <p:nvPicPr>
          <p:cNvPr id="9" name="Picture 8" descr="Plagiarizing papers retracted from engineering journal after Retraction Watch report – Retraction Watch">
            <a:extLst>
              <a:ext uri="{FF2B5EF4-FFF2-40B4-BE49-F238E27FC236}">
                <a16:creationId xmlns:a16="http://schemas.microsoft.com/office/drawing/2014/main" id="{19E04C6E-4FCE-4E78-2A91-473DEC089E0F}"/>
              </a:ext>
            </a:extLst>
          </p:cNvPr>
          <p:cNvPicPr>
            <a:picLocks noChangeAspect="1"/>
          </p:cNvPicPr>
          <p:nvPr/>
        </p:nvPicPr>
        <p:blipFill>
          <a:blip r:embed="rId3"/>
          <a:stretch>
            <a:fillRect/>
          </a:stretch>
        </p:blipFill>
        <p:spPr>
          <a:xfrm>
            <a:off x="7181090" y="70006"/>
            <a:ext cx="4885690" cy="6493896"/>
          </a:xfrm>
          <a:prstGeom prst="rect">
            <a:avLst/>
          </a:prstGeom>
        </p:spPr>
      </p:pic>
      <p:sp>
        <p:nvSpPr>
          <p:cNvPr id="11" name="TextBox 10">
            <a:extLst>
              <a:ext uri="{FF2B5EF4-FFF2-40B4-BE49-F238E27FC236}">
                <a16:creationId xmlns:a16="http://schemas.microsoft.com/office/drawing/2014/main" id="{B9D6B065-5FAD-F6C7-9028-3ADF0B89C745}"/>
              </a:ext>
            </a:extLst>
          </p:cNvPr>
          <p:cNvSpPr txBox="1"/>
          <p:nvPr/>
        </p:nvSpPr>
        <p:spPr>
          <a:xfrm>
            <a:off x="6504180" y="6551658"/>
            <a:ext cx="6102350" cy="215444"/>
          </a:xfrm>
          <a:prstGeom prst="rect">
            <a:avLst/>
          </a:prstGeom>
          <a:noFill/>
        </p:spPr>
        <p:txBody>
          <a:bodyPr wrap="square">
            <a:spAutoFit/>
          </a:bodyPr>
          <a:lstStyle/>
          <a:p>
            <a:r>
              <a:rPr lang="en-GB" sz="800" dirty="0"/>
              <a:t>https://</a:t>
            </a:r>
            <a:r>
              <a:rPr lang="en-GB" sz="800" dirty="0" err="1"/>
              <a:t>retractionwatch.com</a:t>
            </a:r>
            <a:r>
              <a:rPr lang="en-GB" sz="800" dirty="0"/>
              <a:t>/2024/10/18/plagiarizing-papers-retracted-from-engineering-journal-after-retraction-watch-report/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02</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r>
              <a:rPr lang="en-US" sz="2800" b="1" dirty="0">
                <a:solidFill>
                  <a:srgbClr val="174B4A"/>
                </a:solidFill>
                <a:latin typeface="Aptos" pitchFamily="34" charset="0"/>
                <a:ea typeface="Aptos" pitchFamily="34" charset="-122"/>
                <a:cs typeface="Aptos" pitchFamily="34" charset="-120"/>
              </a:rPr>
              <a:t>RESEARCH ETHICS IN ACTION</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endParaRPr lang="en-US" sz="1300" dirty="0"/>
          </a:p>
        </p:txBody>
      </p:sp>
      <p:sp>
        <p:nvSpPr>
          <p:cNvPr id="7" name="Text 5"/>
          <p:cNvSpPr/>
          <p:nvPr/>
        </p:nvSpPr>
        <p:spPr>
          <a:xfrm>
            <a:off x="685800" y="1828800"/>
            <a:ext cx="822960" cy="502920"/>
          </a:xfrm>
          <a:prstGeom prst="rect">
            <a:avLst/>
          </a:prstGeom>
          <a:noFill/>
          <a:ln/>
        </p:spPr>
        <p:txBody>
          <a:bodyPr wrap="square" lIns="0" tIns="0" rIns="0" bIns="0" rtlCol="0" anchor="ctr"/>
          <a:lstStyle/>
          <a:p>
            <a:pPr marL="0" indent="0">
              <a:buNone/>
            </a:pPr>
            <a:r>
              <a:rPr lang="en-US" sz="2300" b="1" dirty="0">
                <a:solidFill>
                  <a:srgbClr val="C8A15A"/>
                </a:solidFill>
                <a:latin typeface="Aptos Display" pitchFamily="34" charset="0"/>
                <a:ea typeface="Aptos Display" pitchFamily="34" charset="-122"/>
                <a:cs typeface="Aptos Display" pitchFamily="34" charset="-120"/>
              </a:rPr>
              <a:t>01</a:t>
            </a:r>
            <a:endParaRPr lang="en-US" sz="2300" dirty="0"/>
          </a:p>
        </p:txBody>
      </p:sp>
      <p:sp>
        <p:nvSpPr>
          <p:cNvPr id="8" name="Text 6"/>
          <p:cNvSpPr/>
          <p:nvPr/>
        </p:nvSpPr>
        <p:spPr>
          <a:xfrm>
            <a:off x="685800" y="2423160"/>
            <a:ext cx="2331720" cy="320040"/>
          </a:xfrm>
          <a:prstGeom prst="rect">
            <a:avLst/>
          </a:prstGeom>
          <a:noFill/>
          <a:ln/>
        </p:spPr>
        <p:txBody>
          <a:bodyPr wrap="square" lIns="0" tIns="0" rIns="0" bIns="0" rtlCol="0" anchor="ctr"/>
          <a:lstStyle/>
          <a:p>
            <a:pPr marL="0" indent="0">
              <a:buNone/>
            </a:pPr>
            <a:r>
              <a:rPr lang="en-US" sz="1900" b="1" dirty="0">
                <a:solidFill>
                  <a:srgbClr val="112B36"/>
                </a:solidFill>
                <a:latin typeface="Aptos Display" pitchFamily="34" charset="0"/>
                <a:ea typeface="Aptos Display" pitchFamily="34" charset="-122"/>
                <a:cs typeface="Aptos Display" pitchFamily="34" charset="-120"/>
              </a:rPr>
              <a:t>Context</a:t>
            </a:r>
            <a:endParaRPr lang="en-US" sz="1900" dirty="0"/>
          </a:p>
        </p:txBody>
      </p:sp>
      <p:sp>
        <p:nvSpPr>
          <p:cNvPr id="9" name="Text 7"/>
          <p:cNvSpPr/>
          <p:nvPr/>
        </p:nvSpPr>
        <p:spPr>
          <a:xfrm>
            <a:off x="685800" y="2907792"/>
            <a:ext cx="2331720" cy="1005840"/>
          </a:xfrm>
          <a:prstGeom prst="rect">
            <a:avLst/>
          </a:prstGeom>
          <a:noFill/>
          <a:ln/>
        </p:spPr>
        <p:txBody>
          <a:bodyPr wrap="square" lIns="0" tIns="0" rIns="0" bIns="0" rtlCol="0" anchor="ctr">
            <a:normAutofit/>
          </a:bodyPr>
          <a:lstStyle/>
          <a:p>
            <a:pPr marL="0" indent="0">
              <a:buNone/>
            </a:pPr>
            <a:r>
              <a:rPr lang="en-US" sz="1350" dirty="0">
                <a:solidFill>
                  <a:srgbClr val="50636B"/>
                </a:solidFill>
                <a:latin typeface="Aptos" pitchFamily="34" charset="0"/>
                <a:ea typeface="Aptos" pitchFamily="34" charset="-122"/>
                <a:cs typeface="Aptos" pitchFamily="34" charset="-120"/>
              </a:rPr>
              <a:t>What Retraction Watch is and why it matters</a:t>
            </a:r>
            <a:endParaRPr lang="en-US" sz="1350" dirty="0"/>
          </a:p>
        </p:txBody>
      </p:sp>
      <p:sp>
        <p:nvSpPr>
          <p:cNvPr id="11" name="Text 9"/>
          <p:cNvSpPr/>
          <p:nvPr/>
        </p:nvSpPr>
        <p:spPr>
          <a:xfrm>
            <a:off x="3474720" y="1828800"/>
            <a:ext cx="822960" cy="502920"/>
          </a:xfrm>
          <a:prstGeom prst="rect">
            <a:avLst/>
          </a:prstGeom>
          <a:noFill/>
          <a:ln/>
        </p:spPr>
        <p:txBody>
          <a:bodyPr wrap="square" lIns="0" tIns="0" rIns="0" bIns="0" rtlCol="0" anchor="ctr"/>
          <a:lstStyle/>
          <a:p>
            <a:pPr marL="0" indent="0">
              <a:buNone/>
            </a:pPr>
            <a:r>
              <a:rPr lang="en-US" sz="2300" b="1" dirty="0">
                <a:solidFill>
                  <a:srgbClr val="C8A15A"/>
                </a:solidFill>
                <a:latin typeface="Aptos Display" pitchFamily="34" charset="0"/>
                <a:ea typeface="Aptos Display" pitchFamily="34" charset="-122"/>
                <a:cs typeface="Aptos Display" pitchFamily="34" charset="-120"/>
              </a:rPr>
              <a:t>02</a:t>
            </a:r>
            <a:endParaRPr lang="en-US" sz="2300" dirty="0"/>
          </a:p>
        </p:txBody>
      </p:sp>
      <p:sp>
        <p:nvSpPr>
          <p:cNvPr id="12" name="Text 10"/>
          <p:cNvSpPr/>
          <p:nvPr/>
        </p:nvSpPr>
        <p:spPr>
          <a:xfrm>
            <a:off x="3474720" y="2423160"/>
            <a:ext cx="2331720" cy="320040"/>
          </a:xfrm>
          <a:prstGeom prst="rect">
            <a:avLst/>
          </a:prstGeom>
          <a:noFill/>
          <a:ln/>
        </p:spPr>
        <p:txBody>
          <a:bodyPr wrap="square" lIns="0" tIns="0" rIns="0" bIns="0" rtlCol="0" anchor="ctr"/>
          <a:lstStyle/>
          <a:p>
            <a:pPr marL="0" indent="0">
              <a:buNone/>
            </a:pPr>
            <a:r>
              <a:rPr lang="en-US" sz="1900" b="1" dirty="0">
                <a:solidFill>
                  <a:srgbClr val="112B36"/>
                </a:solidFill>
                <a:latin typeface="Aptos Display" pitchFamily="34" charset="0"/>
                <a:ea typeface="Aptos Display" pitchFamily="34" charset="-122"/>
                <a:cs typeface="Aptos Display" pitchFamily="34" charset="-120"/>
              </a:rPr>
              <a:t>Principles</a:t>
            </a:r>
            <a:endParaRPr lang="en-US" sz="1900" dirty="0"/>
          </a:p>
        </p:txBody>
      </p:sp>
      <p:sp>
        <p:nvSpPr>
          <p:cNvPr id="13" name="Text 11"/>
          <p:cNvSpPr/>
          <p:nvPr/>
        </p:nvSpPr>
        <p:spPr>
          <a:xfrm>
            <a:off x="3474720" y="2907792"/>
            <a:ext cx="2331720" cy="1005840"/>
          </a:xfrm>
          <a:prstGeom prst="rect">
            <a:avLst/>
          </a:prstGeom>
          <a:noFill/>
          <a:ln/>
        </p:spPr>
        <p:txBody>
          <a:bodyPr wrap="square" lIns="0" tIns="0" rIns="0" bIns="0" rtlCol="0" anchor="ctr">
            <a:normAutofit/>
          </a:bodyPr>
          <a:lstStyle/>
          <a:p>
            <a:pPr marL="0" indent="0">
              <a:buNone/>
            </a:pPr>
            <a:r>
              <a:rPr lang="en-US" sz="1350" dirty="0">
                <a:solidFill>
                  <a:srgbClr val="50636B"/>
                </a:solidFill>
                <a:latin typeface="Aptos" pitchFamily="34" charset="0"/>
                <a:ea typeface="Aptos" pitchFamily="34" charset="-122"/>
                <a:cs typeface="Aptos" pitchFamily="34" charset="-120"/>
              </a:rPr>
              <a:t>Integrity, accountability and public trust</a:t>
            </a:r>
            <a:endParaRPr lang="en-US" sz="1350" dirty="0"/>
          </a:p>
        </p:txBody>
      </p:sp>
      <p:sp>
        <p:nvSpPr>
          <p:cNvPr id="15" name="Text 13"/>
          <p:cNvSpPr/>
          <p:nvPr/>
        </p:nvSpPr>
        <p:spPr>
          <a:xfrm>
            <a:off x="6263640" y="1828800"/>
            <a:ext cx="822960" cy="502920"/>
          </a:xfrm>
          <a:prstGeom prst="rect">
            <a:avLst/>
          </a:prstGeom>
          <a:noFill/>
          <a:ln/>
        </p:spPr>
        <p:txBody>
          <a:bodyPr wrap="square" lIns="0" tIns="0" rIns="0" bIns="0" rtlCol="0" anchor="ctr"/>
          <a:lstStyle/>
          <a:p>
            <a:pPr marL="0" indent="0">
              <a:buNone/>
            </a:pPr>
            <a:r>
              <a:rPr lang="en-US" sz="2300" b="1" dirty="0">
                <a:solidFill>
                  <a:srgbClr val="C8A15A"/>
                </a:solidFill>
                <a:latin typeface="Aptos Display" pitchFamily="34" charset="0"/>
                <a:ea typeface="Aptos Display" pitchFamily="34" charset="-122"/>
                <a:cs typeface="Aptos Display" pitchFamily="34" charset="-120"/>
              </a:rPr>
              <a:t>03</a:t>
            </a:r>
            <a:endParaRPr lang="en-US" sz="2300" dirty="0"/>
          </a:p>
        </p:txBody>
      </p:sp>
      <p:sp>
        <p:nvSpPr>
          <p:cNvPr id="16" name="Text 14"/>
          <p:cNvSpPr/>
          <p:nvPr/>
        </p:nvSpPr>
        <p:spPr>
          <a:xfrm>
            <a:off x="6263640" y="2423160"/>
            <a:ext cx="2331720" cy="320040"/>
          </a:xfrm>
          <a:prstGeom prst="rect">
            <a:avLst/>
          </a:prstGeom>
          <a:noFill/>
          <a:ln/>
        </p:spPr>
        <p:txBody>
          <a:bodyPr wrap="square" lIns="0" tIns="0" rIns="0" bIns="0" rtlCol="0" anchor="ctr"/>
          <a:lstStyle/>
          <a:p>
            <a:pPr marL="0" indent="0">
              <a:buNone/>
            </a:pPr>
            <a:r>
              <a:rPr lang="en-US" sz="1900" b="1" dirty="0">
                <a:solidFill>
                  <a:srgbClr val="112B36"/>
                </a:solidFill>
                <a:latin typeface="Aptos Display" pitchFamily="34" charset="0"/>
                <a:ea typeface="Aptos Display" pitchFamily="34" charset="-122"/>
                <a:cs typeface="Aptos Display" pitchFamily="34" charset="-120"/>
              </a:rPr>
              <a:t>Cases</a:t>
            </a:r>
            <a:endParaRPr lang="en-US" sz="1900" dirty="0"/>
          </a:p>
        </p:txBody>
      </p:sp>
      <p:sp>
        <p:nvSpPr>
          <p:cNvPr id="17" name="Text 15"/>
          <p:cNvSpPr/>
          <p:nvPr/>
        </p:nvSpPr>
        <p:spPr>
          <a:xfrm>
            <a:off x="6263640" y="2907792"/>
            <a:ext cx="2331720" cy="1005840"/>
          </a:xfrm>
          <a:prstGeom prst="rect">
            <a:avLst/>
          </a:prstGeom>
          <a:noFill/>
          <a:ln/>
        </p:spPr>
        <p:txBody>
          <a:bodyPr wrap="square" lIns="0" tIns="0" rIns="0" bIns="0" rtlCol="0" anchor="ctr">
            <a:normAutofit/>
          </a:bodyPr>
          <a:lstStyle/>
          <a:p>
            <a:pPr marL="0" indent="0">
              <a:buNone/>
            </a:pPr>
            <a:r>
              <a:rPr lang="en-US" sz="1350" dirty="0">
                <a:solidFill>
                  <a:srgbClr val="50636B"/>
                </a:solidFill>
                <a:latin typeface="Aptos" pitchFamily="34" charset="0"/>
                <a:ea typeface="Aptos" pitchFamily="34" charset="-122"/>
                <a:cs typeface="Aptos" pitchFamily="34" charset="-120"/>
              </a:rPr>
              <a:t>Five examples linked to ethical themes</a:t>
            </a:r>
            <a:endParaRPr lang="en-US" sz="1350" dirty="0"/>
          </a:p>
        </p:txBody>
      </p:sp>
      <p:sp>
        <p:nvSpPr>
          <p:cNvPr id="19" name="Text 17"/>
          <p:cNvSpPr/>
          <p:nvPr/>
        </p:nvSpPr>
        <p:spPr>
          <a:xfrm>
            <a:off x="9052560" y="1828800"/>
            <a:ext cx="822960" cy="502920"/>
          </a:xfrm>
          <a:prstGeom prst="rect">
            <a:avLst/>
          </a:prstGeom>
          <a:noFill/>
          <a:ln/>
        </p:spPr>
        <p:txBody>
          <a:bodyPr wrap="square" lIns="0" tIns="0" rIns="0" bIns="0" rtlCol="0" anchor="ctr"/>
          <a:lstStyle/>
          <a:p>
            <a:pPr marL="0" indent="0">
              <a:buNone/>
            </a:pPr>
            <a:r>
              <a:rPr lang="en-US" sz="2300" b="1" dirty="0">
                <a:solidFill>
                  <a:srgbClr val="C8A15A"/>
                </a:solidFill>
                <a:latin typeface="Aptos Display" pitchFamily="34" charset="0"/>
                <a:ea typeface="Aptos Display" pitchFamily="34" charset="-122"/>
                <a:cs typeface="Aptos Display" pitchFamily="34" charset="-120"/>
              </a:rPr>
              <a:t>04</a:t>
            </a:r>
            <a:endParaRPr lang="en-US" sz="2300" dirty="0"/>
          </a:p>
        </p:txBody>
      </p:sp>
      <p:sp>
        <p:nvSpPr>
          <p:cNvPr id="20" name="Text 18"/>
          <p:cNvSpPr/>
          <p:nvPr/>
        </p:nvSpPr>
        <p:spPr>
          <a:xfrm>
            <a:off x="9052560" y="2423160"/>
            <a:ext cx="2331720" cy="320040"/>
          </a:xfrm>
          <a:prstGeom prst="rect">
            <a:avLst/>
          </a:prstGeom>
          <a:noFill/>
          <a:ln/>
        </p:spPr>
        <p:txBody>
          <a:bodyPr wrap="square" lIns="0" tIns="0" rIns="0" bIns="0" rtlCol="0" anchor="ctr"/>
          <a:lstStyle/>
          <a:p>
            <a:pPr marL="0" indent="0">
              <a:buNone/>
            </a:pPr>
            <a:r>
              <a:rPr lang="en-US" sz="1900" b="1" dirty="0">
                <a:solidFill>
                  <a:srgbClr val="112B36"/>
                </a:solidFill>
                <a:latin typeface="Aptos Display" pitchFamily="34" charset="0"/>
                <a:ea typeface="Aptos Display" pitchFamily="34" charset="-122"/>
                <a:cs typeface="Aptos Display" pitchFamily="34" charset="-120"/>
              </a:rPr>
              <a:t>Application</a:t>
            </a:r>
            <a:endParaRPr lang="en-US" sz="1900" dirty="0"/>
          </a:p>
        </p:txBody>
      </p:sp>
      <p:sp>
        <p:nvSpPr>
          <p:cNvPr id="21" name="Text 19"/>
          <p:cNvSpPr/>
          <p:nvPr/>
        </p:nvSpPr>
        <p:spPr>
          <a:xfrm>
            <a:off x="9052560" y="2907792"/>
            <a:ext cx="2331720" cy="1005840"/>
          </a:xfrm>
          <a:prstGeom prst="rect">
            <a:avLst/>
          </a:prstGeom>
          <a:noFill/>
          <a:ln/>
        </p:spPr>
        <p:txBody>
          <a:bodyPr wrap="square" lIns="0" tIns="0" rIns="0" bIns="0" rtlCol="0" anchor="ctr">
            <a:normAutofit/>
          </a:bodyPr>
          <a:lstStyle/>
          <a:p>
            <a:pPr marL="0" indent="0">
              <a:buNone/>
            </a:pPr>
            <a:r>
              <a:rPr lang="en-US" sz="1350" dirty="0">
                <a:solidFill>
                  <a:srgbClr val="50636B"/>
                </a:solidFill>
                <a:latin typeface="Aptos" pitchFamily="34" charset="0"/>
                <a:ea typeface="Aptos" pitchFamily="34" charset="-122"/>
                <a:cs typeface="Aptos" pitchFamily="34" charset="-120"/>
              </a:rPr>
              <a:t>Guidelines, reflection and teaching use</a:t>
            </a:r>
            <a:endParaRPr lang="en-US" sz="1350" dirty="0"/>
          </a:p>
        </p:txBody>
      </p:sp>
      <p:sp>
        <p:nvSpPr>
          <p:cNvPr id="22" name="Text 20"/>
          <p:cNvSpPr/>
          <p:nvPr/>
        </p:nvSpPr>
        <p:spPr>
          <a:xfrm>
            <a:off x="777240" y="5212080"/>
            <a:ext cx="9692640" cy="594360"/>
          </a:xfrm>
          <a:prstGeom prst="rect">
            <a:avLst/>
          </a:prstGeom>
          <a:noFill/>
          <a:ln/>
        </p:spPr>
        <p:txBody>
          <a:bodyPr wrap="square" lIns="0" tIns="0" rIns="0" bIns="0" rtlCol="0" anchor="ctr"/>
          <a:lstStyle/>
          <a:p>
            <a:pPr marL="0" indent="0">
              <a:buNone/>
            </a:pP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03</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What is Retraction Watch?</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A journalism platform focused on research correction and accountability</a:t>
            </a:r>
            <a:endParaRPr lang="en-US" sz="1300" dirty="0"/>
          </a:p>
        </p:txBody>
      </p:sp>
      <p:pic>
        <p:nvPicPr>
          <p:cNvPr id="7" name="Image 0" descr="/mnt/data/a_detailed_conceptual_illustration_of_research_re_batch_2.png"/>
          <p:cNvPicPr>
            <a:picLocks noChangeAspect="1"/>
          </p:cNvPicPr>
          <p:nvPr/>
        </p:nvPicPr>
        <p:blipFill>
          <a:blip r:embed="rId3"/>
          <a:srcRect l="16169" r="16169"/>
          <a:stretch/>
        </p:blipFill>
        <p:spPr>
          <a:xfrm>
            <a:off x="6537960" y="1554480"/>
            <a:ext cx="4892040" cy="4069080"/>
          </a:xfrm>
          <a:prstGeom prst="rect">
            <a:avLst/>
          </a:prstGeom>
          <a:effectLst>
            <a:outerShdw blurRad="50800" dist="38100" dir="18900000" algn="bl" rotWithShape="0">
              <a:prstClr val="black">
                <a:alpha val="40000"/>
              </a:prstClr>
            </a:outerShdw>
            <a:softEdge rad="12700"/>
          </a:effectLst>
        </p:spPr>
      </p:pic>
      <p:sp>
        <p:nvSpPr>
          <p:cNvPr id="8" name="Text 5"/>
          <p:cNvSpPr/>
          <p:nvPr/>
        </p:nvSpPr>
        <p:spPr>
          <a:xfrm>
            <a:off x="740664" y="1627632"/>
            <a:ext cx="5202936" cy="1143000"/>
          </a:xfrm>
          <a:prstGeom prst="rect">
            <a:avLst/>
          </a:prstGeom>
          <a:solidFill>
            <a:srgbClr val="FFFFFF"/>
          </a:solidFill>
          <a:ln>
            <a:solidFill>
              <a:srgbClr val="D9E1DF"/>
            </a:solidFill>
          </a:ln>
        </p:spPr>
        <p:txBody>
          <a:bodyPr wrap="square" lIns="2286" tIns="2286" rIns="2286" bIns="2286" rtlCol="0" anchor="ctr">
            <a:normAutofit/>
          </a:bodyPr>
          <a:lstStyle/>
          <a:p>
            <a:pPr marL="0" indent="0" algn="ctr">
              <a:buNone/>
            </a:pPr>
            <a:r>
              <a:rPr lang="en-US" sz="1520" b="1" dirty="0">
                <a:solidFill>
                  <a:srgbClr val="112B36"/>
                </a:solidFill>
                <a:latin typeface="Aptos" pitchFamily="34" charset="0"/>
                <a:ea typeface="Aptos" pitchFamily="34" charset="-122"/>
                <a:cs typeface="Aptos" pitchFamily="34" charset="-120"/>
              </a:rPr>
              <a:t>Independent research-integrity journalism
</a:t>
            </a:r>
            <a:r>
              <a:rPr lang="en-US" sz="1520" dirty="0">
                <a:solidFill>
                  <a:srgbClr val="112B36"/>
                </a:solidFill>
                <a:latin typeface="Aptos" pitchFamily="34" charset="0"/>
                <a:ea typeface="Aptos" pitchFamily="34" charset="-122"/>
                <a:cs typeface="Aptos" pitchFamily="34" charset="-120"/>
              </a:rPr>
              <a:t>Reports on retractions, corrections, expressions of concern and wider threats to the scholarly record.</a:t>
            </a:r>
            <a:endParaRPr lang="en-US" sz="1520" dirty="0"/>
          </a:p>
        </p:txBody>
      </p:sp>
      <p:sp>
        <p:nvSpPr>
          <p:cNvPr id="9" name="Text 6"/>
          <p:cNvSpPr/>
          <p:nvPr/>
        </p:nvSpPr>
        <p:spPr>
          <a:xfrm>
            <a:off x="777240" y="2971800"/>
            <a:ext cx="5166360" cy="1143000"/>
          </a:xfrm>
          <a:prstGeom prst="rect">
            <a:avLst/>
          </a:prstGeom>
          <a:solidFill>
            <a:srgbClr val="EEF4F2"/>
          </a:solidFill>
          <a:ln>
            <a:solidFill>
              <a:srgbClr val="D9E1DF"/>
            </a:solidFill>
          </a:ln>
        </p:spPr>
        <p:txBody>
          <a:bodyPr wrap="square" lIns="2286" tIns="2286" rIns="2286" bIns="2286" rtlCol="0" anchor="ctr">
            <a:normAutofit/>
          </a:bodyPr>
          <a:lstStyle/>
          <a:p>
            <a:pPr marL="0" indent="0" algn="ctr">
              <a:buNone/>
            </a:pPr>
            <a:r>
              <a:rPr lang="en-US" sz="1520" b="1" dirty="0">
                <a:solidFill>
                  <a:srgbClr val="112B36"/>
                </a:solidFill>
                <a:latin typeface="Aptos" pitchFamily="34" charset="0"/>
                <a:ea typeface="Aptos" pitchFamily="34" charset="-122"/>
                <a:cs typeface="Aptos" pitchFamily="34" charset="-120"/>
              </a:rPr>
              <a:t>Window into the research process
</a:t>
            </a:r>
            <a:r>
              <a:rPr lang="en-US" sz="1520" dirty="0">
                <a:solidFill>
                  <a:srgbClr val="112B36"/>
                </a:solidFill>
                <a:latin typeface="Aptos" pitchFamily="34" charset="0"/>
                <a:ea typeface="Aptos" pitchFamily="34" charset="-122"/>
                <a:cs typeface="Aptos" pitchFamily="34" charset="-120"/>
              </a:rPr>
              <a:t>Shows how research is produced, reviewed, corrected and held accountable.</a:t>
            </a:r>
            <a:endParaRPr lang="en-US" sz="1520" dirty="0"/>
          </a:p>
        </p:txBody>
      </p:sp>
      <p:sp>
        <p:nvSpPr>
          <p:cNvPr id="10" name="Text 7"/>
          <p:cNvSpPr/>
          <p:nvPr/>
        </p:nvSpPr>
        <p:spPr>
          <a:xfrm>
            <a:off x="777240" y="4315968"/>
            <a:ext cx="5166360" cy="1143000"/>
          </a:xfrm>
          <a:prstGeom prst="rect">
            <a:avLst/>
          </a:prstGeom>
          <a:solidFill>
            <a:srgbClr val="FFFFFF"/>
          </a:solidFill>
          <a:ln>
            <a:solidFill>
              <a:srgbClr val="D9E1DF"/>
            </a:solidFill>
          </a:ln>
        </p:spPr>
        <p:txBody>
          <a:bodyPr wrap="square" lIns="2286" tIns="2286" rIns="2286" bIns="2286" rtlCol="0" anchor="ctr">
            <a:normAutofit/>
          </a:bodyPr>
          <a:lstStyle/>
          <a:p>
            <a:pPr marL="0" indent="0" algn="ctr">
              <a:buNone/>
            </a:pPr>
            <a:r>
              <a:rPr lang="en-US" sz="1520" b="1" dirty="0">
                <a:solidFill>
                  <a:srgbClr val="112B36"/>
                </a:solidFill>
                <a:latin typeface="Aptos" pitchFamily="34" charset="0"/>
                <a:ea typeface="Aptos" pitchFamily="34" charset="-122"/>
                <a:cs typeface="Aptos" pitchFamily="34" charset="-120"/>
              </a:rPr>
              <a:t>Its value proposition
</a:t>
            </a:r>
            <a:r>
              <a:rPr lang="en-US" sz="1520" dirty="0">
                <a:solidFill>
                  <a:srgbClr val="112B36"/>
                </a:solidFill>
                <a:latin typeface="Aptos" pitchFamily="34" charset="0"/>
                <a:ea typeface="Aptos" pitchFamily="34" charset="-122"/>
                <a:cs typeface="Aptos" pitchFamily="34" charset="-120"/>
              </a:rPr>
              <a:t>Turns abstract ethics principles into real cases for classroom analysis.</a:t>
            </a:r>
            <a:endParaRPr lang="en-US" sz="15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04</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Why retractions need context</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A retraction is not automatically proof of deliberate misconduct</a:t>
            </a:r>
            <a:endParaRPr lang="en-US" sz="1300" dirty="0"/>
          </a:p>
        </p:txBody>
      </p:sp>
      <p:sp>
        <p:nvSpPr>
          <p:cNvPr id="7" name="Text 5"/>
          <p:cNvSpPr/>
          <p:nvPr/>
        </p:nvSpPr>
        <p:spPr>
          <a:xfrm>
            <a:off x="777240" y="1920240"/>
            <a:ext cx="10332720" cy="960120"/>
          </a:xfrm>
          <a:prstGeom prst="rect">
            <a:avLst/>
          </a:prstGeom>
          <a:noFill/>
          <a:ln/>
        </p:spPr>
        <p:txBody>
          <a:bodyPr wrap="square" lIns="0" tIns="0" rIns="0" bIns="0" rtlCol="0" anchor="ctr">
            <a:normAutofit/>
          </a:bodyPr>
          <a:lstStyle/>
          <a:p>
            <a:pPr marL="0" indent="0">
              <a:buNone/>
            </a:pPr>
            <a:r>
              <a:rPr lang="en-US" sz="2700" b="1" dirty="0">
                <a:solidFill>
                  <a:srgbClr val="112B36"/>
                </a:solidFill>
                <a:latin typeface="Aptos Display" pitchFamily="34" charset="0"/>
                <a:ea typeface="Aptos Display" pitchFamily="34" charset="-122"/>
                <a:cs typeface="Aptos Display" pitchFamily="34" charset="-120"/>
              </a:rPr>
              <a:t>Retractions can reveal fraud, serious ethical breaches, honest error, unreliable methods or publisher mistakes.</a:t>
            </a:r>
            <a:endParaRPr lang="en-US" sz="2700" dirty="0"/>
          </a:p>
        </p:txBody>
      </p:sp>
      <p:sp>
        <p:nvSpPr>
          <p:cNvPr id="8" name="Text 6"/>
          <p:cNvSpPr/>
          <p:nvPr/>
        </p:nvSpPr>
        <p:spPr>
          <a:xfrm>
            <a:off x="822960" y="2971800"/>
            <a:ext cx="8686800" cy="274320"/>
          </a:xfrm>
          <a:prstGeom prst="rect">
            <a:avLst/>
          </a:prstGeom>
          <a:noFill/>
          <a:ln/>
        </p:spPr>
        <p:txBody>
          <a:bodyPr wrap="square" lIns="0" tIns="0" rIns="0" bIns="0" rtlCol="0" anchor="ctr"/>
          <a:lstStyle/>
          <a:p>
            <a:pPr marL="0" indent="0">
              <a:buNone/>
            </a:pPr>
            <a:r>
              <a:rPr lang="en-US" sz="1200" dirty="0">
                <a:solidFill>
                  <a:srgbClr val="50636B"/>
                </a:solidFill>
                <a:latin typeface="Aptos" pitchFamily="34" charset="0"/>
                <a:ea typeface="Aptos" pitchFamily="34" charset="-122"/>
                <a:cs typeface="Aptos" pitchFamily="34" charset="-120"/>
              </a:rPr>
              <a:t>The learning task is to ask what happened, who was affected and what should change.</a:t>
            </a:r>
            <a:endParaRPr lang="en-US" sz="1200" dirty="0"/>
          </a:p>
        </p:txBody>
      </p:sp>
      <p:sp>
        <p:nvSpPr>
          <p:cNvPr id="9" name="Text 7"/>
          <p:cNvSpPr/>
          <p:nvPr/>
        </p:nvSpPr>
        <p:spPr>
          <a:xfrm>
            <a:off x="777240" y="4251960"/>
            <a:ext cx="3337560" cy="109728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Accountability
</a:t>
            </a:r>
            <a:r>
              <a:rPr lang="en-US" sz="1350" dirty="0">
                <a:solidFill>
                  <a:srgbClr val="112B36"/>
                </a:solidFill>
                <a:latin typeface="Aptos" pitchFamily="34" charset="0"/>
                <a:ea typeface="Aptos" pitchFamily="34" charset="-122"/>
                <a:cs typeface="Aptos" pitchFamily="34" charset="-120"/>
              </a:rPr>
              <a:t>Who accepted responsibility?</a:t>
            </a:r>
            <a:endParaRPr lang="en-US" sz="1350" dirty="0"/>
          </a:p>
        </p:txBody>
      </p:sp>
      <p:sp>
        <p:nvSpPr>
          <p:cNvPr id="10" name="Text 8"/>
          <p:cNvSpPr/>
          <p:nvPr/>
        </p:nvSpPr>
        <p:spPr>
          <a:xfrm>
            <a:off x="4434840" y="4251960"/>
            <a:ext cx="3337560" cy="109728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Transparency
</a:t>
            </a:r>
            <a:r>
              <a:rPr lang="en-US" sz="1350" dirty="0">
                <a:solidFill>
                  <a:srgbClr val="112B36"/>
                </a:solidFill>
                <a:latin typeface="Aptos" pitchFamily="34" charset="0"/>
                <a:ea typeface="Aptos" pitchFamily="34" charset="-122"/>
                <a:cs typeface="Aptos" pitchFamily="34" charset="-120"/>
              </a:rPr>
              <a:t>Was the correction clear?</a:t>
            </a:r>
            <a:endParaRPr lang="en-US" sz="1350" dirty="0"/>
          </a:p>
        </p:txBody>
      </p:sp>
      <p:sp>
        <p:nvSpPr>
          <p:cNvPr id="11" name="Text 9"/>
          <p:cNvSpPr/>
          <p:nvPr/>
        </p:nvSpPr>
        <p:spPr>
          <a:xfrm>
            <a:off x="8092440" y="4251960"/>
            <a:ext cx="3337560" cy="109728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Prevention
</a:t>
            </a:r>
            <a:r>
              <a:rPr lang="en-US" sz="1350" dirty="0">
                <a:solidFill>
                  <a:srgbClr val="112B36"/>
                </a:solidFill>
                <a:latin typeface="Aptos" pitchFamily="34" charset="0"/>
                <a:ea typeface="Aptos" pitchFamily="34" charset="-122"/>
                <a:cs typeface="Aptos" pitchFamily="34" charset="-120"/>
              </a:rPr>
              <a:t>How can recurrence be reduced?</a:t>
            </a:r>
            <a:endParaRPr lang="en-US" sz="1350" dirty="0"/>
          </a:p>
        </p:txBody>
      </p:sp>
      <p:sp>
        <p:nvSpPr>
          <p:cNvPr id="12" name="TextBox 11">
            <a:extLst>
              <a:ext uri="{FF2B5EF4-FFF2-40B4-BE49-F238E27FC236}">
                <a16:creationId xmlns:a16="http://schemas.microsoft.com/office/drawing/2014/main" id="{849E653B-4DEE-8D94-B672-18BACC9747EB}"/>
              </a:ext>
            </a:extLst>
          </p:cNvPr>
          <p:cNvSpPr txBox="1"/>
          <p:nvPr/>
        </p:nvSpPr>
        <p:spPr>
          <a:xfrm>
            <a:off x="5195329" y="2518032"/>
            <a:ext cx="1828800" cy="1828800"/>
          </a:xfrm>
          <a:prstGeom prst="rect">
            <a:avLst/>
          </a:prstGeom>
          <a:noFill/>
        </p:spPr>
        <p:txBody>
          <a:bodyPr wrap="square" rtlCol="0">
            <a:spAutoFit/>
          </a:bodyPr>
          <a:lstStyle/>
          <a:p>
            <a:pPr algn="l"/>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13232" y="1143000"/>
            <a:ext cx="2926080" cy="256032"/>
          </a:xfrm>
          <a:prstGeom prst="rect">
            <a:avLst/>
          </a:prstGeom>
          <a:noFill/>
          <a:ln/>
        </p:spPr>
        <p:txBody>
          <a:bodyPr wrap="square" lIns="0" tIns="0" rIns="0" bIns="0" rtlCol="0" anchor="ctr"/>
          <a:lstStyle/>
          <a:p>
            <a:pPr marL="0" indent="0">
              <a:buNone/>
            </a:pPr>
            <a:r>
              <a:rPr lang="en-US" sz="1050" b="1" dirty="0">
                <a:latin typeface="Aptos" pitchFamily="34" charset="0"/>
                <a:ea typeface="Aptos" pitchFamily="34" charset="-122"/>
                <a:cs typeface="Aptos" pitchFamily="34" charset="-120"/>
              </a:rPr>
              <a:t>FOUNDATION</a:t>
            </a:r>
            <a:endParaRPr lang="en-US" sz="1050" dirty="0"/>
          </a:p>
        </p:txBody>
      </p:sp>
      <p:sp>
        <p:nvSpPr>
          <p:cNvPr id="3" name="Text 1"/>
          <p:cNvSpPr/>
          <p:nvPr/>
        </p:nvSpPr>
        <p:spPr>
          <a:xfrm>
            <a:off x="685800" y="1536192"/>
            <a:ext cx="4892040" cy="1463040"/>
          </a:xfrm>
          <a:prstGeom prst="rect">
            <a:avLst/>
          </a:prstGeom>
          <a:noFill/>
          <a:ln/>
        </p:spPr>
        <p:txBody>
          <a:bodyPr wrap="square" lIns="0" tIns="0" rIns="0" bIns="0" rtlCol="0" anchor="ctr">
            <a:normAutofit/>
          </a:bodyPr>
          <a:lstStyle/>
          <a:p>
            <a:pPr marL="0" indent="0">
              <a:buNone/>
            </a:pPr>
            <a:r>
              <a:rPr lang="en-US" sz="3400" b="1" dirty="0">
                <a:latin typeface="Aptos Display" pitchFamily="34" charset="0"/>
                <a:ea typeface="Aptos Display" pitchFamily="34" charset="-122"/>
                <a:cs typeface="Aptos Display" pitchFamily="34" charset="-120"/>
              </a:rPr>
              <a:t>Why research integrity matters</a:t>
            </a:r>
            <a:endParaRPr lang="en-US" sz="3400" dirty="0"/>
          </a:p>
        </p:txBody>
      </p:sp>
      <p:sp>
        <p:nvSpPr>
          <p:cNvPr id="4" name="Shape 2"/>
          <p:cNvSpPr/>
          <p:nvPr/>
        </p:nvSpPr>
        <p:spPr>
          <a:xfrm>
            <a:off x="713232" y="3246120"/>
            <a:ext cx="4389120" cy="0"/>
          </a:xfrm>
          <a:prstGeom prst="line">
            <a:avLst/>
          </a:prstGeom>
          <a:noFill/>
          <a:ln w="19050">
            <a:solidFill>
              <a:srgbClr val="C8A15A"/>
            </a:solidFill>
            <a:prstDash val="solid"/>
          </a:ln>
        </p:spPr>
        <p:txBody>
          <a:bodyPr/>
          <a:lstStyle/>
          <a:p>
            <a:endParaRPr lang="en-GB"/>
          </a:p>
        </p:txBody>
      </p:sp>
      <p:sp>
        <p:nvSpPr>
          <p:cNvPr id="5" name="Text 3"/>
          <p:cNvSpPr/>
          <p:nvPr/>
        </p:nvSpPr>
        <p:spPr>
          <a:xfrm>
            <a:off x="713232" y="6263640"/>
            <a:ext cx="457200" cy="274320"/>
          </a:xfrm>
          <a:prstGeom prst="rect">
            <a:avLst/>
          </a:prstGeom>
          <a:noFill/>
          <a:ln/>
        </p:spPr>
        <p:txBody>
          <a:bodyPr wrap="square" lIns="0" tIns="0" rIns="0" bIns="0" rtlCol="0" anchor="ctr"/>
          <a:lstStyle/>
          <a:p>
            <a:pPr marL="0" indent="0">
              <a:buNone/>
            </a:pPr>
            <a:r>
              <a:rPr lang="en-US" sz="800" dirty="0">
                <a:latin typeface="Aptos" pitchFamily="34" charset="0"/>
                <a:ea typeface="Aptos" pitchFamily="34" charset="-122"/>
                <a:cs typeface="Aptos" pitchFamily="34" charset="-120"/>
              </a:rPr>
              <a:t>05</a:t>
            </a:r>
            <a:endParaRPr lang="en-US" sz="800" dirty="0"/>
          </a:p>
        </p:txBody>
      </p:sp>
      <p:sp>
        <p:nvSpPr>
          <p:cNvPr id="6" name="Text 4"/>
          <p:cNvSpPr/>
          <p:nvPr/>
        </p:nvSpPr>
        <p:spPr>
          <a:xfrm>
            <a:off x="777240" y="3794760"/>
            <a:ext cx="4800600" cy="749808"/>
          </a:xfrm>
          <a:prstGeom prst="rect">
            <a:avLst/>
          </a:prstGeom>
          <a:noFill/>
          <a:ln/>
        </p:spPr>
        <p:txBody>
          <a:bodyPr wrap="square" lIns="0" tIns="0" rIns="0" bIns="0" rtlCol="0" anchor="ctr">
            <a:normAutofit/>
          </a:bodyPr>
          <a:lstStyle/>
          <a:p>
            <a:pPr marL="0" indent="0">
              <a:buNone/>
            </a:pPr>
            <a:r>
              <a:rPr lang="en-US" sz="2200" b="1" dirty="0">
                <a:latin typeface="Aptos Display" pitchFamily="34" charset="0"/>
                <a:ea typeface="Aptos Display" pitchFamily="34" charset="-122"/>
                <a:cs typeface="Aptos Display" pitchFamily="34" charset="-120"/>
              </a:rPr>
              <a:t>Integrity protects the credibility of knowledge itself.</a:t>
            </a:r>
            <a:endParaRPr lang="en-US" sz="2200" dirty="0"/>
          </a:p>
        </p:txBody>
      </p:sp>
      <p:pic>
        <p:nvPicPr>
          <p:cNvPr id="7" name="Picture 6" descr="Retractions Due to Image Manipulation by ESL Authors - Enago Academy">
            <a:extLst>
              <a:ext uri="{FF2B5EF4-FFF2-40B4-BE49-F238E27FC236}">
                <a16:creationId xmlns:a16="http://schemas.microsoft.com/office/drawing/2014/main" id="{5B6A10ED-BE93-CFD8-EE82-A398EF582ABA}"/>
              </a:ext>
            </a:extLst>
          </p:cNvPr>
          <p:cNvPicPr>
            <a:picLocks noChangeAspect="1"/>
          </p:cNvPicPr>
          <p:nvPr/>
        </p:nvPicPr>
        <p:blipFill>
          <a:blip r:embed="rId3"/>
          <a:stretch>
            <a:fillRect/>
          </a:stretch>
        </p:blipFill>
        <p:spPr>
          <a:xfrm>
            <a:off x="5086355" y="1830768"/>
            <a:ext cx="7105645" cy="2830704"/>
          </a:xfrm>
          <a:prstGeom prst="rect">
            <a:avLst/>
          </a:prstGeom>
        </p:spPr>
      </p:pic>
      <p:sp>
        <p:nvSpPr>
          <p:cNvPr id="9" name="TextBox 8">
            <a:extLst>
              <a:ext uri="{FF2B5EF4-FFF2-40B4-BE49-F238E27FC236}">
                <a16:creationId xmlns:a16="http://schemas.microsoft.com/office/drawing/2014/main" id="{43AA110A-AEAD-D848-727D-A9455649DFCA}"/>
              </a:ext>
            </a:extLst>
          </p:cNvPr>
          <p:cNvSpPr txBox="1"/>
          <p:nvPr/>
        </p:nvSpPr>
        <p:spPr>
          <a:xfrm>
            <a:off x="5591177" y="4661472"/>
            <a:ext cx="6096000" cy="215444"/>
          </a:xfrm>
          <a:prstGeom prst="rect">
            <a:avLst/>
          </a:prstGeom>
          <a:noFill/>
        </p:spPr>
        <p:txBody>
          <a:bodyPr wrap="square">
            <a:spAutoFit/>
          </a:bodyPr>
          <a:lstStyle/>
          <a:p>
            <a:pPr algn="ctr"/>
            <a:r>
              <a:rPr lang="en-GB" sz="800" dirty="0"/>
              <a:t>https://</a:t>
            </a:r>
            <a:r>
              <a:rPr lang="en-GB" sz="800" dirty="0" err="1"/>
              <a:t>www.enago.com</a:t>
            </a:r>
            <a:r>
              <a:rPr lang="en-GB" sz="800" dirty="0"/>
              <a:t>/academy/retractions-due-to-image-manipulation-by-</a:t>
            </a:r>
            <a:r>
              <a:rPr lang="en-GB" sz="800" dirty="0" err="1"/>
              <a:t>esl</a:t>
            </a:r>
            <a:r>
              <a:rPr lang="en-GB" sz="800" dirty="0"/>
              <a:t>-authors/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06</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What integrity protects</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Three reasons students should care</a:t>
            </a:r>
            <a:endParaRPr lang="en-US" sz="1300" dirty="0"/>
          </a:p>
        </p:txBody>
      </p:sp>
      <p:sp>
        <p:nvSpPr>
          <p:cNvPr id="7" name="Text 5"/>
          <p:cNvSpPr/>
          <p:nvPr/>
        </p:nvSpPr>
        <p:spPr>
          <a:xfrm>
            <a:off x="777240" y="1874520"/>
            <a:ext cx="3337560" cy="233172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Public trust
</a:t>
            </a:r>
            <a:r>
              <a:rPr lang="en-US" sz="1350" dirty="0">
                <a:solidFill>
                  <a:srgbClr val="112B36"/>
                </a:solidFill>
                <a:latin typeface="Aptos" pitchFamily="34" charset="0"/>
                <a:ea typeface="Aptos" pitchFamily="34" charset="-122"/>
                <a:cs typeface="Aptos" pitchFamily="34" charset="-120"/>
              </a:rPr>
              <a:t>Society relies on research when making decisions about health, education, technology and policy.</a:t>
            </a:r>
            <a:endParaRPr lang="en-US" sz="1350" dirty="0"/>
          </a:p>
        </p:txBody>
      </p:sp>
      <p:sp>
        <p:nvSpPr>
          <p:cNvPr id="8" name="Text 6"/>
          <p:cNvSpPr/>
          <p:nvPr/>
        </p:nvSpPr>
        <p:spPr>
          <a:xfrm>
            <a:off x="4434840" y="1874520"/>
            <a:ext cx="3337560" cy="2331720"/>
          </a:xfrm>
          <a:prstGeom prst="rect">
            <a:avLst/>
          </a:prstGeom>
          <a:solidFill>
            <a:srgbClr val="EEF4F2"/>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Accountability
</a:t>
            </a:r>
            <a:r>
              <a:rPr lang="en-US" sz="1350" dirty="0">
                <a:solidFill>
                  <a:srgbClr val="112B36"/>
                </a:solidFill>
                <a:latin typeface="Aptos" pitchFamily="34" charset="0"/>
                <a:ea typeface="Aptos" pitchFamily="34" charset="-122"/>
                <a:cs typeface="Aptos" pitchFamily="34" charset="-120"/>
              </a:rPr>
              <a:t>Researchers, journals and institutions must be answerable for the claims they publish.</a:t>
            </a:r>
            <a:endParaRPr lang="en-US" sz="1350" dirty="0"/>
          </a:p>
        </p:txBody>
      </p:sp>
      <p:sp>
        <p:nvSpPr>
          <p:cNvPr id="9" name="Text 7"/>
          <p:cNvSpPr/>
          <p:nvPr/>
        </p:nvSpPr>
        <p:spPr>
          <a:xfrm>
            <a:off x="8092440" y="1874520"/>
            <a:ext cx="3337560" cy="233172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Credibility
</a:t>
            </a:r>
            <a:r>
              <a:rPr lang="en-US" sz="1350" dirty="0">
                <a:solidFill>
                  <a:srgbClr val="112B36"/>
                </a:solidFill>
                <a:latin typeface="Aptos" pitchFamily="34" charset="0"/>
                <a:ea typeface="Aptos" pitchFamily="34" charset="-122"/>
                <a:cs typeface="Aptos" pitchFamily="34" charset="-120"/>
              </a:rPr>
              <a:t>A corrupted scientific record weakens confidence in institutions and future research.</a:t>
            </a:r>
            <a:endParaRPr lang="en-US" sz="1350" dirty="0"/>
          </a:p>
        </p:txBody>
      </p:sp>
      <p:sp>
        <p:nvSpPr>
          <p:cNvPr id="10" name="Text 8"/>
          <p:cNvSpPr/>
          <p:nvPr/>
        </p:nvSpPr>
        <p:spPr>
          <a:xfrm>
            <a:off x="1188720" y="5166360"/>
            <a:ext cx="9784080" cy="594360"/>
          </a:xfrm>
          <a:prstGeom prst="rect">
            <a:avLst/>
          </a:prstGeom>
          <a:noFill/>
          <a:ln/>
        </p:spPr>
        <p:txBody>
          <a:bodyPr wrap="square" lIns="0" tIns="0" rIns="0" bIns="0" rtlCol="0" anchor="ctr"/>
          <a:lstStyle/>
          <a:p>
            <a:pPr marL="0" indent="0" algn="ctr">
              <a:buNone/>
            </a:pPr>
            <a:r>
              <a:rPr lang="en-US" sz="2200" b="1" dirty="0">
                <a:solidFill>
                  <a:srgbClr val="174B4A"/>
                </a:solidFill>
                <a:latin typeface="Aptos Display" pitchFamily="34" charset="0"/>
                <a:ea typeface="Aptos Display" pitchFamily="34" charset="-122"/>
                <a:cs typeface="Aptos Display" pitchFamily="34" charset="-120"/>
              </a:rPr>
              <a:t>Ethical conduct is a professional obligation - not an administrative tick-box.</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07</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The major ethical themes</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A map of issues drawn from the teaching document</a:t>
            </a:r>
            <a:endParaRPr lang="en-US" sz="1300" dirty="0"/>
          </a:p>
        </p:txBody>
      </p:sp>
      <p:sp>
        <p:nvSpPr>
          <p:cNvPr id="7" name="Text 5"/>
          <p:cNvSpPr/>
          <p:nvPr/>
        </p:nvSpPr>
        <p:spPr>
          <a:xfrm>
            <a:off x="914400" y="1664208"/>
            <a:ext cx="2971800" cy="658368"/>
          </a:xfrm>
          <a:prstGeom prst="rect">
            <a:avLst/>
          </a:prstGeom>
          <a:solidFill>
            <a:srgbClr val="FFFFFF"/>
          </a:solidFill>
          <a:ln>
            <a:solidFill>
              <a:srgbClr val="D9E1DF"/>
            </a:solidFill>
          </a:ln>
        </p:spPr>
        <p:txBody>
          <a:bodyPr wrap="square" lIns="1524" tIns="1524" rIns="1524" bIns="1524" rtlCol="0" anchor="ctr">
            <a:normAutofit/>
          </a:bodyPr>
          <a:lstStyle/>
          <a:p>
            <a:pPr marL="0" indent="0" algn="ctr">
              <a:buNone/>
            </a:pPr>
            <a:r>
              <a:rPr lang="en-US" sz="1700" b="1" dirty="0">
                <a:solidFill>
                  <a:srgbClr val="112B36"/>
                </a:solidFill>
                <a:latin typeface="Aptos Display" pitchFamily="34" charset="0"/>
                <a:ea typeface="Aptos Display" pitchFamily="34" charset="-122"/>
                <a:cs typeface="Aptos Display" pitchFamily="34" charset="-120"/>
              </a:rPr>
              <a:t>1. Plagiarism</a:t>
            </a:r>
            <a:endParaRPr lang="en-US" sz="1700" dirty="0"/>
          </a:p>
        </p:txBody>
      </p:sp>
      <p:sp>
        <p:nvSpPr>
          <p:cNvPr id="8" name="Text 6"/>
          <p:cNvSpPr/>
          <p:nvPr/>
        </p:nvSpPr>
        <p:spPr>
          <a:xfrm>
            <a:off x="4617720" y="1664208"/>
            <a:ext cx="2971800" cy="658368"/>
          </a:xfrm>
          <a:prstGeom prst="rect">
            <a:avLst/>
          </a:prstGeom>
          <a:solidFill>
            <a:srgbClr val="FFFFFF"/>
          </a:solidFill>
          <a:ln>
            <a:solidFill>
              <a:srgbClr val="D9E1DF"/>
            </a:solidFill>
          </a:ln>
        </p:spPr>
        <p:txBody>
          <a:bodyPr wrap="square" lIns="1524" tIns="1524" rIns="1524" bIns="1524" rtlCol="0" anchor="ctr">
            <a:normAutofit/>
          </a:bodyPr>
          <a:lstStyle/>
          <a:p>
            <a:pPr marL="0" indent="0" algn="ctr">
              <a:buNone/>
            </a:pPr>
            <a:r>
              <a:rPr lang="en-US" sz="1700" b="1" dirty="0">
                <a:solidFill>
                  <a:srgbClr val="112B36"/>
                </a:solidFill>
                <a:latin typeface="Aptos Display" pitchFamily="34" charset="0"/>
                <a:ea typeface="Aptos Display" pitchFamily="34" charset="-122"/>
                <a:cs typeface="Aptos Display" pitchFamily="34" charset="-120"/>
              </a:rPr>
              <a:t>2. Data fabrication</a:t>
            </a:r>
            <a:endParaRPr lang="en-US" sz="1700" dirty="0"/>
          </a:p>
        </p:txBody>
      </p:sp>
      <p:sp>
        <p:nvSpPr>
          <p:cNvPr id="9" name="Text 7"/>
          <p:cNvSpPr/>
          <p:nvPr/>
        </p:nvSpPr>
        <p:spPr>
          <a:xfrm>
            <a:off x="8321040" y="1664208"/>
            <a:ext cx="2971800" cy="658368"/>
          </a:xfrm>
          <a:prstGeom prst="rect">
            <a:avLst/>
          </a:prstGeom>
          <a:solidFill>
            <a:srgbClr val="FFFFFF"/>
          </a:solidFill>
          <a:ln>
            <a:solidFill>
              <a:srgbClr val="D9E1DF"/>
            </a:solidFill>
          </a:ln>
        </p:spPr>
        <p:txBody>
          <a:bodyPr wrap="square" lIns="1524" tIns="1524" rIns="1524" bIns="1524" rtlCol="0" anchor="ctr">
            <a:normAutofit/>
          </a:bodyPr>
          <a:lstStyle/>
          <a:p>
            <a:pPr marL="0" indent="0" algn="ctr">
              <a:buNone/>
            </a:pPr>
            <a:r>
              <a:rPr lang="en-US" sz="1700" b="1" dirty="0">
                <a:solidFill>
                  <a:srgbClr val="112B36"/>
                </a:solidFill>
                <a:latin typeface="Aptos Display" pitchFamily="34" charset="0"/>
                <a:ea typeface="Aptos Display" pitchFamily="34" charset="-122"/>
                <a:cs typeface="Aptos Display" pitchFamily="34" charset="-120"/>
              </a:rPr>
              <a:t>3. Image manipulation</a:t>
            </a:r>
            <a:endParaRPr lang="en-US" sz="1700" dirty="0"/>
          </a:p>
        </p:txBody>
      </p:sp>
      <p:sp>
        <p:nvSpPr>
          <p:cNvPr id="10" name="Text 8"/>
          <p:cNvSpPr/>
          <p:nvPr/>
        </p:nvSpPr>
        <p:spPr>
          <a:xfrm>
            <a:off x="914400" y="2807208"/>
            <a:ext cx="2971800" cy="658368"/>
          </a:xfrm>
          <a:prstGeom prst="rect">
            <a:avLst/>
          </a:prstGeom>
          <a:solidFill>
            <a:srgbClr val="174B4A"/>
          </a:solidFill>
          <a:ln>
            <a:solidFill>
              <a:srgbClr val="D9E1DF"/>
            </a:solidFill>
          </a:ln>
        </p:spPr>
        <p:txBody>
          <a:bodyPr wrap="square" lIns="1524" tIns="1524" rIns="1524" bIns="1524" rtlCol="0" anchor="ctr">
            <a:normAutofit/>
          </a:bodyP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4. Paper mills</a:t>
            </a:r>
            <a:endParaRPr lang="en-US" sz="1700" dirty="0"/>
          </a:p>
        </p:txBody>
      </p:sp>
      <p:sp>
        <p:nvSpPr>
          <p:cNvPr id="11" name="Text 9"/>
          <p:cNvSpPr/>
          <p:nvPr/>
        </p:nvSpPr>
        <p:spPr>
          <a:xfrm>
            <a:off x="4617720" y="2807208"/>
            <a:ext cx="2971800" cy="658368"/>
          </a:xfrm>
          <a:prstGeom prst="rect">
            <a:avLst/>
          </a:prstGeom>
          <a:solidFill>
            <a:srgbClr val="174B4A"/>
          </a:solidFill>
          <a:ln>
            <a:solidFill>
              <a:srgbClr val="D9E1DF"/>
            </a:solidFill>
          </a:ln>
        </p:spPr>
        <p:txBody>
          <a:bodyPr wrap="square" lIns="1524" tIns="1524" rIns="1524" bIns="1524" rtlCol="0" anchor="ctr">
            <a:normAutofit/>
          </a:bodyP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5. Authorship ethics</a:t>
            </a:r>
            <a:endParaRPr lang="en-US" sz="1700" dirty="0"/>
          </a:p>
        </p:txBody>
      </p:sp>
      <p:sp>
        <p:nvSpPr>
          <p:cNvPr id="12" name="Text 10"/>
          <p:cNvSpPr/>
          <p:nvPr/>
        </p:nvSpPr>
        <p:spPr>
          <a:xfrm>
            <a:off x="8321040" y="2807208"/>
            <a:ext cx="2971800" cy="658368"/>
          </a:xfrm>
          <a:prstGeom prst="rect">
            <a:avLst/>
          </a:prstGeom>
          <a:solidFill>
            <a:srgbClr val="174B4A"/>
          </a:solidFill>
          <a:ln>
            <a:solidFill>
              <a:srgbClr val="D9E1DF"/>
            </a:solidFill>
          </a:ln>
        </p:spPr>
        <p:txBody>
          <a:bodyPr wrap="square" lIns="1524" tIns="1524" rIns="1524" bIns="1524" rtlCol="0" anchor="ctr">
            <a:normAutofit/>
          </a:bodyPr>
          <a:lstStyle/>
          <a:p>
            <a:pPr marL="0" indent="0" algn="ctr">
              <a:buNone/>
            </a:pPr>
            <a:r>
              <a:rPr lang="en-US" sz="1700" b="1" dirty="0">
                <a:solidFill>
                  <a:srgbClr val="FFFFFF"/>
                </a:solidFill>
                <a:latin typeface="Aptos Display" pitchFamily="34" charset="0"/>
                <a:ea typeface="Aptos Display" pitchFamily="34" charset="-122"/>
                <a:cs typeface="Aptos Display" pitchFamily="34" charset="-120"/>
              </a:rPr>
              <a:t>6. AI misconduct</a:t>
            </a:r>
            <a:endParaRPr lang="en-US" sz="1700" dirty="0"/>
          </a:p>
        </p:txBody>
      </p:sp>
      <p:sp>
        <p:nvSpPr>
          <p:cNvPr id="13" name="Text 11"/>
          <p:cNvSpPr/>
          <p:nvPr/>
        </p:nvSpPr>
        <p:spPr>
          <a:xfrm>
            <a:off x="914400" y="3950208"/>
            <a:ext cx="2971800" cy="658368"/>
          </a:xfrm>
          <a:prstGeom prst="rect">
            <a:avLst/>
          </a:prstGeom>
          <a:solidFill>
            <a:srgbClr val="FFFFFF"/>
          </a:solidFill>
          <a:ln>
            <a:solidFill>
              <a:srgbClr val="D9E1DF"/>
            </a:solidFill>
          </a:ln>
        </p:spPr>
        <p:txBody>
          <a:bodyPr wrap="square" lIns="1524" tIns="1524" rIns="1524" bIns="1524" rtlCol="0" anchor="ctr">
            <a:normAutofit/>
          </a:bodyPr>
          <a:lstStyle/>
          <a:p>
            <a:pPr marL="0" indent="0" algn="ctr">
              <a:buNone/>
            </a:pPr>
            <a:r>
              <a:rPr lang="en-US" sz="1700" b="1" dirty="0">
                <a:solidFill>
                  <a:srgbClr val="112B36"/>
                </a:solidFill>
                <a:latin typeface="Aptos Display" pitchFamily="34" charset="0"/>
                <a:ea typeface="Aptos Display" pitchFamily="34" charset="-122"/>
                <a:cs typeface="Aptos Display" pitchFamily="34" charset="-120"/>
              </a:rPr>
              <a:t>7. Conflicts of interest</a:t>
            </a:r>
            <a:endParaRPr lang="en-US" sz="1700" dirty="0"/>
          </a:p>
        </p:txBody>
      </p:sp>
      <p:sp>
        <p:nvSpPr>
          <p:cNvPr id="14" name="Text 12"/>
          <p:cNvSpPr/>
          <p:nvPr/>
        </p:nvSpPr>
        <p:spPr>
          <a:xfrm>
            <a:off x="4617720" y="3950208"/>
            <a:ext cx="2971800" cy="658368"/>
          </a:xfrm>
          <a:prstGeom prst="rect">
            <a:avLst/>
          </a:prstGeom>
          <a:solidFill>
            <a:srgbClr val="FFFFFF"/>
          </a:solidFill>
          <a:ln>
            <a:solidFill>
              <a:srgbClr val="D9E1DF"/>
            </a:solidFill>
          </a:ln>
        </p:spPr>
        <p:txBody>
          <a:bodyPr wrap="square" lIns="1524" tIns="1524" rIns="1524" bIns="1524" rtlCol="0" anchor="ctr">
            <a:normAutofit/>
          </a:bodyPr>
          <a:lstStyle/>
          <a:p>
            <a:pPr marL="0" indent="0" algn="ctr">
              <a:buNone/>
            </a:pPr>
            <a:r>
              <a:rPr lang="en-US" sz="1700" b="1" dirty="0">
                <a:solidFill>
                  <a:srgbClr val="112B36"/>
                </a:solidFill>
                <a:latin typeface="Aptos Display" pitchFamily="34" charset="0"/>
                <a:ea typeface="Aptos Display" pitchFamily="34" charset="-122"/>
                <a:cs typeface="Aptos Display" pitchFamily="34" charset="-120"/>
              </a:rPr>
              <a:t>8. Human participants</a:t>
            </a:r>
            <a:endParaRPr lang="en-US" sz="1700" dirty="0"/>
          </a:p>
        </p:txBody>
      </p:sp>
      <p:sp>
        <p:nvSpPr>
          <p:cNvPr id="15" name="Text 13"/>
          <p:cNvSpPr/>
          <p:nvPr/>
        </p:nvSpPr>
        <p:spPr>
          <a:xfrm>
            <a:off x="8321040" y="3950208"/>
            <a:ext cx="2971800" cy="658368"/>
          </a:xfrm>
          <a:prstGeom prst="rect">
            <a:avLst/>
          </a:prstGeom>
          <a:solidFill>
            <a:srgbClr val="FFFFFF"/>
          </a:solidFill>
          <a:ln>
            <a:solidFill>
              <a:srgbClr val="D9E1DF"/>
            </a:solidFill>
          </a:ln>
        </p:spPr>
        <p:txBody>
          <a:bodyPr wrap="square" lIns="1524" tIns="1524" rIns="1524" bIns="1524" rtlCol="0" anchor="ctr">
            <a:normAutofit/>
          </a:bodyPr>
          <a:lstStyle/>
          <a:p>
            <a:pPr marL="0" indent="0" algn="ctr">
              <a:buNone/>
            </a:pPr>
            <a:r>
              <a:rPr lang="en-US" sz="1700" b="1" dirty="0">
                <a:solidFill>
                  <a:srgbClr val="112B36"/>
                </a:solidFill>
                <a:latin typeface="Aptos Display" pitchFamily="34" charset="0"/>
                <a:ea typeface="Aptos Display" pitchFamily="34" charset="-122"/>
                <a:cs typeface="Aptos Display" pitchFamily="34" charset="-120"/>
              </a:rPr>
              <a:t>9. Peer review</a:t>
            </a:r>
            <a:endParaRPr lang="en-US" sz="1700" dirty="0"/>
          </a:p>
        </p:txBody>
      </p:sp>
      <p:sp>
        <p:nvSpPr>
          <p:cNvPr id="16" name="Text 14"/>
          <p:cNvSpPr/>
          <p:nvPr/>
        </p:nvSpPr>
        <p:spPr>
          <a:xfrm>
            <a:off x="960120" y="5577840"/>
            <a:ext cx="9875520" cy="384048"/>
          </a:xfrm>
          <a:prstGeom prst="rect">
            <a:avLst/>
          </a:prstGeom>
          <a:noFill/>
          <a:ln/>
        </p:spPr>
        <p:txBody>
          <a:bodyPr wrap="square" lIns="0" tIns="0" rIns="0" bIns="0" rtlCol="0" anchor="ctr"/>
          <a:lstStyle/>
          <a:p>
            <a:pPr marL="0" indent="0" algn="ctr">
              <a:buNone/>
            </a:pP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08</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1. Plagiarism and academic integrity</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Using sources honestly</a:t>
            </a:r>
            <a:endParaRPr lang="en-US" sz="1300" dirty="0"/>
          </a:p>
        </p:txBody>
      </p:sp>
      <p:sp>
        <p:nvSpPr>
          <p:cNvPr id="7" name="Text 5"/>
          <p:cNvSpPr/>
          <p:nvPr/>
        </p:nvSpPr>
        <p:spPr>
          <a:xfrm>
            <a:off x="822960" y="1737360"/>
            <a:ext cx="5486400" cy="2377440"/>
          </a:xfrm>
          <a:prstGeom prst="rect">
            <a:avLst/>
          </a:prstGeom>
          <a:noFill/>
          <a:ln/>
        </p:spPr>
        <p:txBody>
          <a:bodyPr wrap="square" lIns="635" tIns="635" rIns="635" bIns="635" rtlCol="0" anchor="ctr">
            <a:normAutofit/>
          </a:bodyPr>
          <a:lstStyle/>
          <a:p>
            <a:pPr marL="0" indent="0">
              <a:buNone/>
            </a:pPr>
            <a:r>
              <a:rPr lang="en-US" sz="1800" dirty="0">
                <a:solidFill>
                  <a:srgbClr val="112B36"/>
                </a:solidFill>
                <a:latin typeface="Aptos" pitchFamily="34" charset="0"/>
                <a:ea typeface="Aptos" pitchFamily="34" charset="-122"/>
                <a:cs typeface="Aptos" pitchFamily="34" charset="-120"/>
              </a:rPr>
              <a:t>• Plagiarism can affect students, faculty and university leaders.
• Consequences may include reputational damage, investigations or qualification review.
• Students must separate original ideas from borrowed material and cite accurately.</a:t>
            </a:r>
            <a:endParaRPr lang="en-US" sz="1800" dirty="0"/>
          </a:p>
        </p:txBody>
      </p:sp>
      <p:sp>
        <p:nvSpPr>
          <p:cNvPr id="8" name="Text 6"/>
          <p:cNvSpPr/>
          <p:nvPr/>
        </p:nvSpPr>
        <p:spPr>
          <a:xfrm>
            <a:off x="6812280" y="1828800"/>
            <a:ext cx="4206240" cy="1874520"/>
          </a:xfrm>
          <a:prstGeom prst="rect">
            <a:avLst/>
          </a:prstGeom>
          <a:solidFill>
            <a:srgbClr val="EEF4F2"/>
          </a:solidFill>
          <a:ln>
            <a:solidFill>
              <a:srgbClr val="D9E1DF"/>
            </a:solidFill>
          </a:ln>
        </p:spPr>
        <p:txBody>
          <a:bodyPr wrap="square" lIns="2286" tIns="2286" rIns="2286" bIns="2286" rtlCol="0" anchor="ctr">
            <a:normAutofit/>
          </a:bodyPr>
          <a:lstStyle/>
          <a:p>
            <a:pPr algn="ctr"/>
            <a:r>
              <a:rPr lang="en-US" sz="1600" b="1" dirty="0">
                <a:solidFill>
                  <a:srgbClr val="112B36"/>
                </a:solidFill>
                <a:latin typeface="Aptos" pitchFamily="34" charset="0"/>
                <a:ea typeface="Aptos" pitchFamily="34" charset="-122"/>
                <a:cs typeface="Aptos" pitchFamily="34" charset="-120"/>
              </a:rPr>
              <a:t>A student's habit of building
</a:t>
            </a:r>
            <a:r>
              <a:rPr lang="en-US" sz="1600" dirty="0">
                <a:solidFill>
                  <a:srgbClr val="112B36"/>
                </a:solidFill>
                <a:latin typeface="Aptos" pitchFamily="34" charset="0"/>
                <a:ea typeface="Aptos" pitchFamily="34" charset="-122"/>
                <a:cs typeface="Aptos" pitchFamily="34" charset="-120"/>
              </a:rPr>
              <a:t>Cite while drafting, not only at the end. Keep source notes clearly separated from your own wording.</a:t>
            </a:r>
            <a:endParaRPr lang="en-US" sz="1600" dirty="0"/>
          </a:p>
        </p:txBody>
      </p:sp>
      <p:sp>
        <p:nvSpPr>
          <p:cNvPr id="9" name="Text 7"/>
          <p:cNvSpPr/>
          <p:nvPr/>
        </p:nvSpPr>
        <p:spPr>
          <a:xfrm>
            <a:off x="5044440" y="4910328"/>
            <a:ext cx="2103120" cy="228600"/>
          </a:xfrm>
          <a:prstGeom prst="rect">
            <a:avLst/>
          </a:prstGeom>
          <a:noFill/>
          <a:ln/>
        </p:spPr>
        <p:txBody>
          <a:bodyPr wrap="square" lIns="0" tIns="0" rIns="0" bIns="0" rtlCol="0" anchor="ctr"/>
          <a:lstStyle/>
          <a:p>
            <a:pPr marL="0" indent="0" algn="ctr">
              <a:buNone/>
            </a:pPr>
            <a:r>
              <a:rPr lang="en-US" sz="1600" b="1" dirty="0">
                <a:solidFill>
                  <a:srgbClr val="174B4A"/>
                </a:solidFill>
                <a:latin typeface="Aptos" pitchFamily="34" charset="0"/>
                <a:ea typeface="Aptos" pitchFamily="34" charset="-122"/>
                <a:cs typeface="Aptos" pitchFamily="34" charset="-120"/>
              </a:rPr>
              <a:t>A fine line…</a:t>
            </a:r>
            <a:endParaRPr lang="en-US" sz="1600" dirty="0"/>
          </a:p>
        </p:txBody>
      </p:sp>
      <p:sp>
        <p:nvSpPr>
          <p:cNvPr id="10" name="Text 8"/>
          <p:cNvSpPr/>
          <p:nvPr/>
        </p:nvSpPr>
        <p:spPr>
          <a:xfrm>
            <a:off x="777240" y="5138928"/>
            <a:ext cx="10058400" cy="731520"/>
          </a:xfrm>
          <a:prstGeom prst="rect">
            <a:avLst/>
          </a:prstGeom>
          <a:solidFill>
            <a:srgbClr val="FFFFFF"/>
          </a:solidFill>
          <a:ln>
            <a:solidFill>
              <a:srgbClr val="D9E1DF"/>
            </a:solidFill>
          </a:ln>
        </p:spPr>
        <p:txBody>
          <a:bodyPr wrap="square" lIns="2286" tIns="2286" rIns="2286" bIns="2286" rtlCol="0" anchor="ctr">
            <a:normAutofit/>
          </a:bodyPr>
          <a:lstStyle/>
          <a:p>
            <a:pPr marL="0" indent="0" algn="ctr">
              <a:buNone/>
            </a:pPr>
            <a:r>
              <a:rPr lang="en-US" sz="1900" b="1" dirty="0">
                <a:solidFill>
                  <a:srgbClr val="112B36"/>
                </a:solidFill>
                <a:latin typeface="Aptos Display" pitchFamily="34" charset="0"/>
                <a:ea typeface="Aptos Display" pitchFamily="34" charset="-122"/>
                <a:cs typeface="Aptos Display" pitchFamily="34" charset="-120"/>
              </a:rPr>
              <a:t>Where is the line between poor paraphrasing and plagiarism?</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09</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2. Data fabrication and falsification</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When numbers stop being evidence</a:t>
            </a:r>
            <a:endParaRPr lang="en-US" sz="1300" dirty="0"/>
          </a:p>
        </p:txBody>
      </p:sp>
      <p:sp>
        <p:nvSpPr>
          <p:cNvPr id="7" name="Text 5"/>
          <p:cNvSpPr/>
          <p:nvPr/>
        </p:nvSpPr>
        <p:spPr>
          <a:xfrm>
            <a:off x="822960" y="1691640"/>
            <a:ext cx="5212080" cy="1874520"/>
          </a:xfrm>
          <a:prstGeom prst="rect">
            <a:avLst/>
          </a:prstGeom>
          <a:solidFill>
            <a:srgbClr val="FFFFFF"/>
          </a:solidFill>
          <a:ln>
            <a:solidFill>
              <a:srgbClr val="D9E1DF"/>
            </a:solidFill>
          </a:ln>
        </p:spPr>
        <p:txBody>
          <a:bodyPr wrap="square" lIns="2286" tIns="2286" rIns="2286" bIns="2286" rtlCol="0" anchor="ctr">
            <a:normAutofit/>
          </a:bodyPr>
          <a:lstStyle/>
          <a:p>
            <a:pPr marL="0" indent="0" algn="ctr">
              <a:buNone/>
            </a:pPr>
            <a:r>
              <a:rPr lang="en-US" sz="1600" b="1" dirty="0">
                <a:solidFill>
                  <a:srgbClr val="112B36"/>
                </a:solidFill>
                <a:latin typeface="Aptos" pitchFamily="34" charset="0"/>
                <a:ea typeface="Aptos" pitchFamily="34" charset="-122"/>
                <a:cs typeface="Aptos" pitchFamily="34" charset="-120"/>
              </a:rPr>
              <a:t>Core distinction
</a:t>
            </a:r>
            <a:r>
              <a:rPr lang="en-US" sz="1600" dirty="0">
                <a:solidFill>
                  <a:srgbClr val="112B36"/>
                </a:solidFill>
                <a:latin typeface="Aptos" pitchFamily="34" charset="0"/>
                <a:ea typeface="Aptos" pitchFamily="34" charset="-122"/>
                <a:cs typeface="Aptos" pitchFamily="34" charset="-120"/>
              </a:rPr>
              <a:t>Fabrication invents data. Falsification changes or manipulates data. Both mislead future research and waste resources.</a:t>
            </a:r>
            <a:endParaRPr lang="en-US" sz="1600" dirty="0"/>
          </a:p>
        </p:txBody>
      </p:sp>
      <p:sp>
        <p:nvSpPr>
          <p:cNvPr id="8" name="Text 6"/>
          <p:cNvSpPr/>
          <p:nvPr/>
        </p:nvSpPr>
        <p:spPr>
          <a:xfrm>
            <a:off x="6446520" y="1691640"/>
            <a:ext cx="4526280" cy="1874520"/>
          </a:xfrm>
          <a:prstGeom prst="rect">
            <a:avLst/>
          </a:prstGeom>
          <a:solidFill>
            <a:srgbClr val="EEF4F2"/>
          </a:solidFill>
          <a:ln>
            <a:solidFill>
              <a:srgbClr val="D9E1DF"/>
            </a:solidFill>
          </a:ln>
        </p:spPr>
        <p:txBody>
          <a:bodyPr wrap="square" lIns="2286" tIns="2286" rIns="2286" bIns="2286" rtlCol="0" anchor="ctr">
            <a:normAutofit/>
          </a:bodyPr>
          <a:lstStyle/>
          <a:p>
            <a:pPr algn="ctr"/>
            <a:endParaRPr lang="en-US" sz="1600" dirty="0"/>
          </a:p>
        </p:txBody>
      </p:sp>
      <p:sp>
        <p:nvSpPr>
          <p:cNvPr id="9" name="Text 7"/>
          <p:cNvSpPr/>
          <p:nvPr/>
        </p:nvSpPr>
        <p:spPr>
          <a:xfrm>
            <a:off x="914400" y="3570732"/>
            <a:ext cx="2267712" cy="365760"/>
          </a:xfrm>
          <a:prstGeom prst="rect">
            <a:avLst/>
          </a:prstGeom>
          <a:solidFill>
            <a:srgbClr val="C8A15A"/>
          </a:solidFill>
          <a:ln>
            <a:solidFill>
              <a:srgbClr val="C8A15A">
                <a:alpha val="0"/>
              </a:srgbClr>
            </a:solidFill>
          </a:ln>
        </p:spPr>
        <p:txBody>
          <a:bodyPr wrap="square" lIns="762" tIns="762" rIns="762" bIns="762" rtlCol="0" anchor="ctr"/>
          <a:lstStyle/>
          <a:p>
            <a:pPr marL="0" indent="0" algn="ctr">
              <a:buNone/>
            </a:pPr>
            <a:r>
              <a:rPr lang="en-US" sz="1150" b="1" dirty="0">
                <a:solidFill>
                  <a:srgbClr val="112B36"/>
                </a:solidFill>
                <a:latin typeface="Aptos" pitchFamily="34" charset="0"/>
                <a:ea typeface="Aptos" pitchFamily="34" charset="-122"/>
                <a:cs typeface="Aptos" pitchFamily="34" charset="-120"/>
              </a:rPr>
              <a:t>Data manipulation</a:t>
            </a:r>
            <a:endParaRPr lang="en-US" sz="1150" dirty="0"/>
          </a:p>
        </p:txBody>
      </p:sp>
      <p:sp>
        <p:nvSpPr>
          <p:cNvPr id="10" name="Text 8"/>
          <p:cNvSpPr/>
          <p:nvPr/>
        </p:nvSpPr>
        <p:spPr>
          <a:xfrm>
            <a:off x="1410694" y="3918935"/>
            <a:ext cx="2267712" cy="365760"/>
          </a:xfrm>
          <a:prstGeom prst="rect">
            <a:avLst/>
          </a:prstGeom>
          <a:solidFill>
            <a:srgbClr val="174B4A"/>
          </a:solidFill>
          <a:ln>
            <a:solidFill>
              <a:srgbClr val="174B4A">
                <a:alpha val="0"/>
              </a:srgbClr>
            </a:solidFill>
          </a:ln>
        </p:spPr>
        <p:txBody>
          <a:bodyPr wrap="square" lIns="762" tIns="762" rIns="762" bIns="762" rtlCol="0" anchor="ctr"/>
          <a:lstStyle/>
          <a:p>
            <a:pPr marL="0" indent="0" algn="ctr">
              <a:buNone/>
            </a:pPr>
            <a:r>
              <a:rPr lang="en-US" sz="1150" b="1" dirty="0">
                <a:solidFill>
                  <a:srgbClr val="FFFFFF"/>
                </a:solidFill>
                <a:latin typeface="Aptos" pitchFamily="34" charset="0"/>
                <a:ea typeface="Aptos" pitchFamily="34" charset="-122"/>
                <a:cs typeface="Aptos" pitchFamily="34" charset="-120"/>
              </a:rPr>
              <a:t>Scientific honesty</a:t>
            </a:r>
            <a:endParaRPr lang="en-US" sz="1150" dirty="0"/>
          </a:p>
        </p:txBody>
      </p:sp>
      <p:sp>
        <p:nvSpPr>
          <p:cNvPr id="11" name="Text 9"/>
          <p:cNvSpPr/>
          <p:nvPr/>
        </p:nvSpPr>
        <p:spPr>
          <a:xfrm>
            <a:off x="1980533" y="4276744"/>
            <a:ext cx="2267712" cy="365760"/>
          </a:xfrm>
          <a:prstGeom prst="rect">
            <a:avLst/>
          </a:prstGeom>
          <a:solidFill>
            <a:srgbClr val="C8A15A"/>
          </a:solidFill>
          <a:ln>
            <a:solidFill>
              <a:srgbClr val="C8A15A">
                <a:alpha val="0"/>
              </a:srgbClr>
            </a:solidFill>
          </a:ln>
        </p:spPr>
        <p:txBody>
          <a:bodyPr wrap="square" lIns="762" tIns="762" rIns="762" bIns="762" rtlCol="0" anchor="ctr"/>
          <a:lstStyle/>
          <a:p>
            <a:pPr marL="0" indent="0" algn="ctr">
              <a:buNone/>
            </a:pPr>
            <a:r>
              <a:rPr lang="en-US" sz="1150" b="1" dirty="0">
                <a:solidFill>
                  <a:srgbClr val="112B36"/>
                </a:solidFill>
                <a:latin typeface="Aptos" pitchFamily="34" charset="0"/>
                <a:ea typeface="Aptos" pitchFamily="34" charset="-122"/>
                <a:cs typeface="Aptos" pitchFamily="34" charset="-120"/>
              </a:rPr>
              <a:t>Accountability</a:t>
            </a:r>
            <a:endParaRPr lang="en-US" sz="1150" dirty="0"/>
          </a:p>
        </p:txBody>
      </p:sp>
      <p:sp>
        <p:nvSpPr>
          <p:cNvPr id="12" name="Text 10"/>
          <p:cNvSpPr/>
          <p:nvPr/>
        </p:nvSpPr>
        <p:spPr>
          <a:xfrm>
            <a:off x="2510614" y="4634551"/>
            <a:ext cx="2267712" cy="365760"/>
          </a:xfrm>
          <a:prstGeom prst="rect">
            <a:avLst/>
          </a:prstGeom>
          <a:solidFill>
            <a:srgbClr val="174B4A"/>
          </a:solidFill>
          <a:ln>
            <a:solidFill>
              <a:srgbClr val="174B4A">
                <a:alpha val="0"/>
              </a:srgbClr>
            </a:solidFill>
          </a:ln>
        </p:spPr>
        <p:txBody>
          <a:bodyPr wrap="square" lIns="762" tIns="762" rIns="762" bIns="762" rtlCol="0" anchor="ctr"/>
          <a:lstStyle/>
          <a:p>
            <a:pPr marL="0" indent="0" algn="ctr">
              <a:buNone/>
            </a:pPr>
            <a:r>
              <a:rPr lang="en-US" sz="1150" b="1" dirty="0">
                <a:solidFill>
                  <a:srgbClr val="FFFFFF"/>
                </a:solidFill>
                <a:latin typeface="Aptos" pitchFamily="34" charset="0"/>
                <a:ea typeface="Aptos" pitchFamily="34" charset="-122"/>
                <a:cs typeface="Aptos" pitchFamily="34" charset="-120"/>
              </a:rPr>
              <a:t>Institutional responsibility</a:t>
            </a:r>
            <a:endParaRPr lang="en-US" sz="1150" dirty="0"/>
          </a:p>
        </p:txBody>
      </p:sp>
      <p:pic>
        <p:nvPicPr>
          <p:cNvPr id="13" name="Picture 12">
            <a:extLst>
              <a:ext uri="{FF2B5EF4-FFF2-40B4-BE49-F238E27FC236}">
                <a16:creationId xmlns:a16="http://schemas.microsoft.com/office/drawing/2014/main" id="{013D45D7-4599-1B65-E5F7-E43F87352683}"/>
              </a:ext>
            </a:extLst>
          </p:cNvPr>
          <p:cNvPicPr>
            <a:picLocks noChangeAspect="1"/>
          </p:cNvPicPr>
          <p:nvPr/>
        </p:nvPicPr>
        <p:blipFill>
          <a:blip r:embed="rId3"/>
          <a:stretch>
            <a:fillRect/>
          </a:stretch>
        </p:blipFill>
        <p:spPr>
          <a:xfrm>
            <a:off x="6160929" y="273011"/>
            <a:ext cx="6044794" cy="5513832"/>
          </a:xfrm>
          <a:prstGeom prst="rect">
            <a:avLst/>
          </a:prstGeom>
        </p:spPr>
      </p:pic>
      <p:sp>
        <p:nvSpPr>
          <p:cNvPr id="15" name="TextBox 14">
            <a:extLst>
              <a:ext uri="{FF2B5EF4-FFF2-40B4-BE49-F238E27FC236}">
                <a16:creationId xmlns:a16="http://schemas.microsoft.com/office/drawing/2014/main" id="{D6CABD01-1E92-648D-9401-D2176AA98606}"/>
              </a:ext>
            </a:extLst>
          </p:cNvPr>
          <p:cNvSpPr txBox="1"/>
          <p:nvPr/>
        </p:nvSpPr>
        <p:spPr>
          <a:xfrm>
            <a:off x="6096000" y="6143459"/>
            <a:ext cx="5745480" cy="584775"/>
          </a:xfrm>
          <a:prstGeom prst="rect">
            <a:avLst/>
          </a:prstGeom>
          <a:noFill/>
        </p:spPr>
        <p:txBody>
          <a:bodyPr wrap="square">
            <a:spAutoFit/>
          </a:bodyPr>
          <a:lstStyle/>
          <a:p>
            <a:pPr algn="ctr"/>
            <a:r>
              <a:rPr lang="en-US" sz="1600" dirty="0">
                <a:hlinkClick r:id="rId4"/>
              </a:rPr>
              <a:t>https://retractionwatch.com/2023/02/01/former-harvard-researchers-lose-pnas-paper-for-reusing-data/</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10</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3. Image manipulation</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Scientific images are evidence</a:t>
            </a:r>
            <a:endParaRPr lang="en-US" sz="1300" dirty="0"/>
          </a:p>
        </p:txBody>
      </p:sp>
      <p:sp>
        <p:nvSpPr>
          <p:cNvPr id="7" name="Text 5"/>
          <p:cNvSpPr/>
          <p:nvPr/>
        </p:nvSpPr>
        <p:spPr>
          <a:xfrm>
            <a:off x="822960" y="1691640"/>
            <a:ext cx="5577840" cy="1005840"/>
          </a:xfrm>
          <a:prstGeom prst="rect">
            <a:avLst/>
          </a:prstGeom>
          <a:noFill/>
          <a:ln/>
        </p:spPr>
        <p:txBody>
          <a:bodyPr wrap="square" lIns="0" tIns="0" rIns="0" bIns="0" rtlCol="0" anchor="ctr">
            <a:normAutofit/>
          </a:bodyPr>
          <a:lstStyle/>
          <a:p>
            <a:pPr marL="0" indent="0">
              <a:buNone/>
            </a:pPr>
            <a:r>
              <a:rPr lang="en-US" sz="2700" b="1" dirty="0">
                <a:solidFill>
                  <a:srgbClr val="112B36"/>
                </a:solidFill>
                <a:latin typeface="Aptos Display" pitchFamily="34" charset="0"/>
                <a:ea typeface="Aptos Display" pitchFamily="34" charset="-122"/>
                <a:cs typeface="Aptos Display" pitchFamily="34" charset="-120"/>
              </a:rPr>
              <a:t>Images are not decoration. They are part of the research evidence base.</a:t>
            </a:r>
            <a:endParaRPr lang="en-US" sz="2700" dirty="0"/>
          </a:p>
        </p:txBody>
      </p:sp>
      <p:sp>
        <p:nvSpPr>
          <p:cNvPr id="8" name="Text 6"/>
          <p:cNvSpPr/>
          <p:nvPr/>
        </p:nvSpPr>
        <p:spPr>
          <a:xfrm>
            <a:off x="7569200" y="4977384"/>
            <a:ext cx="4526280" cy="1719072"/>
          </a:xfrm>
          <a:prstGeom prst="rect">
            <a:avLst/>
          </a:prstGeom>
          <a:solidFill>
            <a:srgbClr val="FFFFFF"/>
          </a:solidFill>
          <a:ln>
            <a:solidFill>
              <a:srgbClr val="D9E1DF"/>
            </a:solidFill>
          </a:ln>
        </p:spPr>
        <p:txBody>
          <a:bodyPr wrap="square" lIns="2286" tIns="2286" rIns="2286" bIns="2286" rtlCol="0" anchor="t">
            <a:normAutofit/>
          </a:bodyPr>
          <a:lstStyle/>
          <a:p>
            <a:pPr algn="ctr"/>
            <a:r>
              <a:rPr lang="en-US" sz="1600" dirty="0">
                <a:hlinkClick r:id="rId3"/>
              </a:rPr>
              <a:t>https://cen.acs.org/articles/104/web/2026/05/Sleuths-say-Thermo-Fisher-doctored.html</a:t>
            </a:r>
            <a:endParaRPr lang="en-US" sz="1600" dirty="0"/>
          </a:p>
        </p:txBody>
      </p:sp>
      <p:sp>
        <p:nvSpPr>
          <p:cNvPr id="9" name="Text 7"/>
          <p:cNvSpPr/>
          <p:nvPr/>
        </p:nvSpPr>
        <p:spPr>
          <a:xfrm>
            <a:off x="800100" y="2720340"/>
            <a:ext cx="2880360" cy="96012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Keep originals
</a:t>
            </a:r>
            <a:r>
              <a:rPr lang="en-US" sz="1350" dirty="0">
                <a:solidFill>
                  <a:srgbClr val="112B36"/>
                </a:solidFill>
                <a:latin typeface="Aptos" pitchFamily="34" charset="0"/>
                <a:ea typeface="Aptos" pitchFamily="34" charset="-122"/>
                <a:cs typeface="Aptos" pitchFamily="34" charset="-120"/>
              </a:rPr>
              <a:t>Maintain source image files.</a:t>
            </a:r>
            <a:endParaRPr lang="en-US" sz="1350" dirty="0"/>
          </a:p>
        </p:txBody>
      </p:sp>
      <p:sp>
        <p:nvSpPr>
          <p:cNvPr id="10" name="Text 8"/>
          <p:cNvSpPr/>
          <p:nvPr/>
        </p:nvSpPr>
        <p:spPr>
          <a:xfrm>
            <a:off x="1143000" y="3533140"/>
            <a:ext cx="2880360" cy="96012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Disclose changes
</a:t>
            </a:r>
            <a:r>
              <a:rPr lang="en-US" sz="1350" dirty="0">
                <a:solidFill>
                  <a:srgbClr val="112B36"/>
                </a:solidFill>
                <a:latin typeface="Aptos" pitchFamily="34" charset="0"/>
                <a:ea typeface="Aptos" pitchFamily="34" charset="-122"/>
                <a:cs typeface="Aptos" pitchFamily="34" charset="-120"/>
              </a:rPr>
              <a:t>Explain legitimate modifications.</a:t>
            </a:r>
            <a:endParaRPr lang="en-US" sz="1350" dirty="0"/>
          </a:p>
        </p:txBody>
      </p:sp>
      <p:sp>
        <p:nvSpPr>
          <p:cNvPr id="11" name="Text 9"/>
          <p:cNvSpPr/>
          <p:nvPr/>
        </p:nvSpPr>
        <p:spPr>
          <a:xfrm>
            <a:off x="1574800" y="4396740"/>
            <a:ext cx="2880360" cy="96012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Treat as data
</a:t>
            </a:r>
            <a:r>
              <a:rPr lang="en-US" sz="1350" dirty="0">
                <a:solidFill>
                  <a:srgbClr val="112B36"/>
                </a:solidFill>
                <a:latin typeface="Aptos" pitchFamily="34" charset="0"/>
                <a:ea typeface="Aptos" pitchFamily="34" charset="-122"/>
                <a:cs typeface="Aptos" pitchFamily="34" charset="-120"/>
              </a:rPr>
              <a:t>Apply the same integrity standard as numerical data.</a:t>
            </a:r>
            <a:endParaRPr lang="en-US" sz="1350" dirty="0"/>
          </a:p>
        </p:txBody>
      </p:sp>
      <p:sp>
        <p:nvSpPr>
          <p:cNvPr id="13" name="Text 11"/>
          <p:cNvSpPr/>
          <p:nvPr/>
        </p:nvSpPr>
        <p:spPr>
          <a:xfrm>
            <a:off x="0" y="5819140"/>
            <a:ext cx="8854440" cy="731520"/>
          </a:xfrm>
          <a:prstGeom prst="rect">
            <a:avLst/>
          </a:prstGeom>
          <a:solidFill>
            <a:srgbClr val="FFFFFF"/>
          </a:solidFill>
          <a:ln>
            <a:solidFill>
              <a:srgbClr val="D9E1DF"/>
            </a:solidFill>
          </a:ln>
        </p:spPr>
        <p:txBody>
          <a:bodyPr wrap="square" lIns="2286" tIns="2286" rIns="2286" bIns="2286" rtlCol="0" anchor="ctr">
            <a:normAutofit/>
          </a:bodyPr>
          <a:lstStyle/>
          <a:p>
            <a:pPr marL="0" indent="0" algn="ctr">
              <a:buNone/>
            </a:pPr>
            <a:r>
              <a:rPr lang="en-US" sz="1900" b="1" dirty="0">
                <a:solidFill>
                  <a:srgbClr val="112B36"/>
                </a:solidFill>
                <a:latin typeface="Aptos Display" pitchFamily="34" charset="0"/>
                <a:ea typeface="Aptos Display" pitchFamily="34" charset="-122"/>
                <a:cs typeface="Aptos Display" pitchFamily="34" charset="-120"/>
              </a:rPr>
              <a:t>Why should image duplication be regarded as a data-integrity issue?</a:t>
            </a:r>
            <a:endParaRPr lang="en-US" sz="1900" dirty="0"/>
          </a:p>
        </p:txBody>
      </p:sp>
      <p:sp>
        <p:nvSpPr>
          <p:cNvPr id="14" name="Text 7">
            <a:extLst>
              <a:ext uri="{FF2B5EF4-FFF2-40B4-BE49-F238E27FC236}">
                <a16:creationId xmlns:a16="http://schemas.microsoft.com/office/drawing/2014/main" id="{00C3AC94-0491-6E48-C639-3F8F67206106}"/>
              </a:ext>
            </a:extLst>
          </p:cNvPr>
          <p:cNvSpPr/>
          <p:nvPr/>
        </p:nvSpPr>
        <p:spPr>
          <a:xfrm>
            <a:off x="3063240" y="5489956"/>
            <a:ext cx="2103120" cy="228600"/>
          </a:xfrm>
          <a:prstGeom prst="rect">
            <a:avLst/>
          </a:prstGeom>
          <a:noFill/>
          <a:ln/>
        </p:spPr>
        <p:txBody>
          <a:bodyPr wrap="square" lIns="0" tIns="0" rIns="0" bIns="0" rtlCol="0" anchor="ctr"/>
          <a:lstStyle/>
          <a:p>
            <a:pPr marL="0" indent="0" algn="ctr">
              <a:buNone/>
            </a:pPr>
            <a:r>
              <a:rPr lang="en-US" sz="1600" b="1" dirty="0">
                <a:solidFill>
                  <a:srgbClr val="174B4A"/>
                </a:solidFill>
                <a:latin typeface="Aptos" pitchFamily="34" charset="0"/>
                <a:ea typeface="Aptos" pitchFamily="34" charset="-122"/>
                <a:cs typeface="Aptos" pitchFamily="34" charset="-120"/>
              </a:rPr>
              <a:t>A fine line…</a:t>
            </a:r>
            <a:endParaRPr lang="en-US" sz="1600" dirty="0"/>
          </a:p>
        </p:txBody>
      </p:sp>
      <p:pic>
        <p:nvPicPr>
          <p:cNvPr id="12" name="Picture 11">
            <a:extLst>
              <a:ext uri="{FF2B5EF4-FFF2-40B4-BE49-F238E27FC236}">
                <a16:creationId xmlns:a16="http://schemas.microsoft.com/office/drawing/2014/main" id="{C9DB03AA-CB52-B1E9-767D-C5A5B60640AF}"/>
              </a:ext>
            </a:extLst>
          </p:cNvPr>
          <p:cNvPicPr>
            <a:picLocks noChangeAspect="1"/>
          </p:cNvPicPr>
          <p:nvPr/>
        </p:nvPicPr>
        <p:blipFill>
          <a:blip r:embed="rId4"/>
          <a:stretch>
            <a:fillRect/>
          </a:stretch>
        </p:blipFill>
        <p:spPr>
          <a:xfrm>
            <a:off x="6324600" y="601656"/>
            <a:ext cx="5867400" cy="48883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11</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4. Paper mills and research factories</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When publication pressure becomes a market</a:t>
            </a:r>
            <a:endParaRPr lang="en-US" sz="1300" dirty="0"/>
          </a:p>
        </p:txBody>
      </p:sp>
      <p:sp>
        <p:nvSpPr>
          <p:cNvPr id="7" name="Text 5"/>
          <p:cNvSpPr/>
          <p:nvPr/>
        </p:nvSpPr>
        <p:spPr>
          <a:xfrm>
            <a:off x="822960" y="1600200"/>
            <a:ext cx="10241280" cy="640080"/>
          </a:xfrm>
          <a:prstGeom prst="rect">
            <a:avLst/>
          </a:prstGeom>
          <a:noFill/>
          <a:ln/>
        </p:spPr>
        <p:txBody>
          <a:bodyPr wrap="square" lIns="0" tIns="0" rIns="0" bIns="0" rtlCol="0" anchor="ctr"/>
          <a:lstStyle/>
          <a:p>
            <a:pPr marL="0" indent="0">
              <a:buNone/>
            </a:pPr>
            <a:r>
              <a:rPr lang="en-US" sz="2400" b="1" dirty="0">
                <a:solidFill>
                  <a:srgbClr val="112B36"/>
                </a:solidFill>
                <a:latin typeface="Aptos Display" pitchFamily="34" charset="0"/>
                <a:ea typeface="Aptos Display" pitchFamily="34" charset="-122"/>
                <a:cs typeface="Aptos Display" pitchFamily="34" charset="-120"/>
              </a:rPr>
              <a:t>Pressure to publish can create incentives for low-quality or fraudulent output.</a:t>
            </a:r>
            <a:endParaRPr lang="en-US" sz="2400" dirty="0"/>
          </a:p>
        </p:txBody>
      </p:sp>
      <p:sp>
        <p:nvSpPr>
          <p:cNvPr id="8" name="Text 6"/>
          <p:cNvSpPr/>
          <p:nvPr/>
        </p:nvSpPr>
        <p:spPr>
          <a:xfrm>
            <a:off x="914400" y="2743200"/>
            <a:ext cx="2971800" cy="109728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Paper mills
</a:t>
            </a:r>
            <a:r>
              <a:rPr lang="en-US" sz="1350" dirty="0">
                <a:solidFill>
                  <a:srgbClr val="112B36"/>
                </a:solidFill>
                <a:latin typeface="Aptos" pitchFamily="34" charset="0"/>
                <a:ea typeface="Aptos" pitchFamily="34" charset="-122"/>
                <a:cs typeface="Aptos" pitchFamily="34" charset="-120"/>
              </a:rPr>
              <a:t>Produce manuscripts for profit.</a:t>
            </a:r>
            <a:endParaRPr lang="en-US" sz="1350" dirty="0"/>
          </a:p>
        </p:txBody>
      </p:sp>
      <p:sp>
        <p:nvSpPr>
          <p:cNvPr id="9" name="Text 7"/>
          <p:cNvSpPr/>
          <p:nvPr/>
        </p:nvSpPr>
        <p:spPr>
          <a:xfrm>
            <a:off x="4617720" y="2743200"/>
            <a:ext cx="2971800" cy="109728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Research factories
</a:t>
            </a:r>
            <a:r>
              <a:rPr lang="en-US" sz="1350" dirty="0">
                <a:solidFill>
                  <a:srgbClr val="112B36"/>
                </a:solidFill>
                <a:latin typeface="Aptos" pitchFamily="34" charset="0"/>
                <a:ea typeface="Aptos" pitchFamily="34" charset="-122"/>
                <a:cs typeface="Aptos" pitchFamily="34" charset="-120"/>
              </a:rPr>
              <a:t>Reward volume over contribution.</a:t>
            </a:r>
            <a:endParaRPr lang="en-US" sz="1350" dirty="0"/>
          </a:p>
        </p:txBody>
      </p:sp>
      <p:sp>
        <p:nvSpPr>
          <p:cNvPr id="10" name="Text 8"/>
          <p:cNvSpPr/>
          <p:nvPr/>
        </p:nvSpPr>
        <p:spPr>
          <a:xfrm>
            <a:off x="8321040" y="2743200"/>
            <a:ext cx="2971800" cy="109728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Ethical response
</a:t>
            </a:r>
            <a:r>
              <a:rPr lang="en-US" sz="1350" dirty="0">
                <a:solidFill>
                  <a:srgbClr val="112B36"/>
                </a:solidFill>
                <a:latin typeface="Aptos" pitchFamily="34" charset="0"/>
                <a:ea typeface="Aptos" pitchFamily="34" charset="-122"/>
                <a:cs typeface="Aptos" pitchFamily="34" charset="-120"/>
              </a:rPr>
              <a:t>Prioritise quality over quantity.</a:t>
            </a:r>
            <a:endParaRPr lang="en-US" sz="1350" dirty="0"/>
          </a:p>
        </p:txBody>
      </p:sp>
      <p:sp>
        <p:nvSpPr>
          <p:cNvPr id="11" name="Shape 9"/>
          <p:cNvSpPr/>
          <p:nvPr/>
        </p:nvSpPr>
        <p:spPr>
          <a:xfrm>
            <a:off x="2514600" y="4251960"/>
            <a:ext cx="7132320" cy="0"/>
          </a:xfrm>
          <a:prstGeom prst="line">
            <a:avLst/>
          </a:prstGeom>
          <a:noFill/>
          <a:ln w="28575">
            <a:solidFill>
              <a:srgbClr val="2E7D75"/>
            </a:solidFill>
            <a:prstDash val="solid"/>
            <a:headEnd type="none"/>
            <a:tailEnd type="triangle"/>
          </a:ln>
        </p:spPr>
        <p:txBody>
          <a:bodyPr/>
          <a:lstStyle/>
          <a:p>
            <a:endParaRPr lang="en-GB"/>
          </a:p>
        </p:txBody>
      </p:sp>
      <p:sp>
        <p:nvSpPr>
          <p:cNvPr id="12" name="Text 10"/>
          <p:cNvSpPr/>
          <p:nvPr/>
        </p:nvSpPr>
        <p:spPr>
          <a:xfrm>
            <a:off x="1005840" y="4407408"/>
            <a:ext cx="2194560" cy="274320"/>
          </a:xfrm>
          <a:prstGeom prst="rect">
            <a:avLst/>
          </a:prstGeom>
          <a:noFill/>
          <a:ln/>
        </p:spPr>
        <p:txBody>
          <a:bodyPr wrap="square" lIns="0" tIns="0" rIns="0" bIns="0" rtlCol="0" anchor="ctr"/>
          <a:lstStyle/>
          <a:p>
            <a:pPr marL="0" indent="0">
              <a:buNone/>
            </a:pPr>
            <a:r>
              <a:rPr lang="en-US" sz="1250" dirty="0">
                <a:solidFill>
                  <a:srgbClr val="50636B"/>
                </a:solidFill>
                <a:latin typeface="Aptos" pitchFamily="34" charset="0"/>
                <a:ea typeface="Aptos" pitchFamily="34" charset="-122"/>
                <a:cs typeface="Aptos" pitchFamily="34" charset="-120"/>
              </a:rPr>
              <a:t>Quantity pressure</a:t>
            </a:r>
            <a:endParaRPr lang="en-US" sz="1250" dirty="0"/>
          </a:p>
        </p:txBody>
      </p:sp>
      <p:sp>
        <p:nvSpPr>
          <p:cNvPr id="13" name="Text 11"/>
          <p:cNvSpPr/>
          <p:nvPr/>
        </p:nvSpPr>
        <p:spPr>
          <a:xfrm>
            <a:off x="9235440" y="4407408"/>
            <a:ext cx="1828800" cy="274320"/>
          </a:xfrm>
          <a:prstGeom prst="rect">
            <a:avLst/>
          </a:prstGeom>
          <a:noFill/>
          <a:ln/>
        </p:spPr>
        <p:txBody>
          <a:bodyPr wrap="square" lIns="0" tIns="0" rIns="0" bIns="0" rtlCol="0" anchor="ctr"/>
          <a:lstStyle/>
          <a:p>
            <a:pPr marL="0" indent="0" algn="r">
              <a:buNone/>
            </a:pPr>
            <a:r>
              <a:rPr lang="en-US" sz="1250" dirty="0">
                <a:solidFill>
                  <a:srgbClr val="50636B"/>
                </a:solidFill>
                <a:latin typeface="Aptos" pitchFamily="34" charset="0"/>
                <a:ea typeface="Aptos" pitchFamily="34" charset="-122"/>
                <a:cs typeface="Aptos" pitchFamily="34" charset="-120"/>
              </a:rPr>
              <a:t>Integrity risk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12</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5. Authorship ethics</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Authorship implies responsibility</a:t>
            </a:r>
            <a:endParaRPr lang="en-US" sz="1300" dirty="0"/>
          </a:p>
        </p:txBody>
      </p:sp>
      <p:sp>
        <p:nvSpPr>
          <p:cNvPr id="7" name="Text 5"/>
          <p:cNvSpPr/>
          <p:nvPr/>
        </p:nvSpPr>
        <p:spPr>
          <a:xfrm>
            <a:off x="822960" y="1691640"/>
            <a:ext cx="4846320" cy="1874520"/>
          </a:xfrm>
          <a:prstGeom prst="rect">
            <a:avLst/>
          </a:prstGeom>
          <a:solidFill>
            <a:srgbClr val="FFFFFF"/>
          </a:solidFill>
          <a:ln>
            <a:solidFill>
              <a:srgbClr val="D9E1DF"/>
            </a:solidFill>
          </a:ln>
        </p:spPr>
        <p:txBody>
          <a:bodyPr wrap="square" lIns="2286" tIns="2286" rIns="2286" bIns="2286" rtlCol="0" anchor="ctr">
            <a:normAutofit/>
          </a:bodyPr>
          <a:lstStyle/>
          <a:p>
            <a:pPr marL="0" indent="0" algn="ctr">
              <a:buNone/>
            </a:pPr>
            <a:r>
              <a:rPr lang="en-US" sz="1600" b="1" dirty="0">
                <a:solidFill>
                  <a:srgbClr val="112B36"/>
                </a:solidFill>
                <a:latin typeface="Aptos" pitchFamily="34" charset="0"/>
                <a:ea typeface="Aptos" pitchFamily="34" charset="-122"/>
                <a:cs typeface="Aptos" pitchFamily="34" charset="-120"/>
              </a:rPr>
              <a:t>What unethical authorship does
</a:t>
            </a:r>
            <a:r>
              <a:rPr lang="en-US" sz="1600" dirty="0">
                <a:solidFill>
                  <a:srgbClr val="112B36"/>
                </a:solidFill>
                <a:latin typeface="Aptos" pitchFamily="34" charset="0"/>
                <a:ea typeface="Aptos" pitchFamily="34" charset="-122"/>
                <a:cs typeface="Aptos" pitchFamily="34" charset="-120"/>
              </a:rPr>
              <a:t>Guest, purchased and ghost authorship misrepresent scholarly contribution.</a:t>
            </a:r>
            <a:endParaRPr lang="en-US" sz="1600" dirty="0"/>
          </a:p>
        </p:txBody>
      </p:sp>
      <p:sp>
        <p:nvSpPr>
          <p:cNvPr id="8" name="Text 6"/>
          <p:cNvSpPr/>
          <p:nvPr/>
        </p:nvSpPr>
        <p:spPr>
          <a:xfrm>
            <a:off x="6217920" y="1691640"/>
            <a:ext cx="4800600" cy="1874520"/>
          </a:xfrm>
          <a:prstGeom prst="rect">
            <a:avLst/>
          </a:prstGeom>
          <a:solidFill>
            <a:srgbClr val="EEF4F2"/>
          </a:solidFill>
          <a:ln>
            <a:solidFill>
              <a:srgbClr val="D9E1DF"/>
            </a:solidFill>
          </a:ln>
        </p:spPr>
        <p:txBody>
          <a:bodyPr wrap="square" lIns="2286" tIns="2286" rIns="2286" bIns="2286" rtlCol="0" anchor="ctr">
            <a:normAutofit/>
          </a:bodyPr>
          <a:lstStyle/>
          <a:p>
            <a:pPr marL="0" indent="0" algn="ctr">
              <a:buNone/>
            </a:pPr>
            <a:r>
              <a:rPr lang="en-US" sz="1550" b="1" dirty="0">
                <a:solidFill>
                  <a:srgbClr val="112B36"/>
                </a:solidFill>
                <a:latin typeface="Aptos" pitchFamily="34" charset="0"/>
                <a:ea typeface="Aptos" pitchFamily="34" charset="-122"/>
                <a:cs typeface="Aptos" pitchFamily="34" charset="-120"/>
              </a:rPr>
              <a:t>Applied case
</a:t>
            </a:r>
            <a:r>
              <a:rPr lang="en-US" sz="1550" dirty="0">
                <a:solidFill>
                  <a:srgbClr val="112B36"/>
                </a:solidFill>
                <a:latin typeface="Aptos" pitchFamily="34" charset="0"/>
                <a:ea typeface="Aptos" pitchFamily="34" charset="-122"/>
                <a:cs typeface="Aptos" pitchFamily="34" charset="-120"/>
              </a:rPr>
              <a:t>A medical student in Nepal associated with a busy research factory raises questions about productivity pressure and authorship practice.</a:t>
            </a:r>
            <a:endParaRPr lang="en-US" sz="1550" dirty="0"/>
          </a:p>
        </p:txBody>
      </p:sp>
      <p:sp>
        <p:nvSpPr>
          <p:cNvPr id="9" name="Text 7"/>
          <p:cNvSpPr/>
          <p:nvPr/>
        </p:nvSpPr>
        <p:spPr>
          <a:xfrm>
            <a:off x="1234440" y="4160520"/>
            <a:ext cx="2468880" cy="82296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Contribution
</a:t>
            </a:r>
            <a:r>
              <a:rPr lang="en-US" sz="1350" dirty="0">
                <a:solidFill>
                  <a:srgbClr val="112B36"/>
                </a:solidFill>
                <a:latin typeface="Aptos" pitchFamily="34" charset="0"/>
                <a:ea typeface="Aptos" pitchFamily="34" charset="-122"/>
                <a:cs typeface="Aptos" pitchFamily="34" charset="-120"/>
              </a:rPr>
              <a:t>Meaningful intellectual work</a:t>
            </a:r>
            <a:endParaRPr lang="en-US" sz="1350" dirty="0"/>
          </a:p>
        </p:txBody>
      </p:sp>
      <p:sp>
        <p:nvSpPr>
          <p:cNvPr id="10" name="Text 8"/>
          <p:cNvSpPr/>
          <p:nvPr/>
        </p:nvSpPr>
        <p:spPr>
          <a:xfrm>
            <a:off x="4800600" y="4160520"/>
            <a:ext cx="2468880" cy="82296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Accountability
</a:t>
            </a:r>
            <a:r>
              <a:rPr lang="en-US" sz="1350" dirty="0">
                <a:solidFill>
                  <a:srgbClr val="112B36"/>
                </a:solidFill>
                <a:latin typeface="Aptos" pitchFamily="34" charset="0"/>
                <a:ea typeface="Aptos" pitchFamily="34" charset="-122"/>
                <a:cs typeface="Aptos" pitchFamily="34" charset="-120"/>
              </a:rPr>
              <a:t>Own the final work</a:t>
            </a:r>
            <a:endParaRPr lang="en-US" sz="1350" dirty="0"/>
          </a:p>
        </p:txBody>
      </p:sp>
      <p:sp>
        <p:nvSpPr>
          <p:cNvPr id="11" name="Text 9"/>
          <p:cNvSpPr/>
          <p:nvPr/>
        </p:nvSpPr>
        <p:spPr>
          <a:xfrm>
            <a:off x="8366760" y="4160520"/>
            <a:ext cx="2468880" cy="82296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Transparency
</a:t>
            </a:r>
            <a:r>
              <a:rPr lang="en-US" sz="1350" dirty="0">
                <a:solidFill>
                  <a:srgbClr val="112B36"/>
                </a:solidFill>
                <a:latin typeface="Aptos" pitchFamily="34" charset="0"/>
                <a:ea typeface="Aptos" pitchFamily="34" charset="-122"/>
                <a:cs typeface="Aptos" pitchFamily="34" charset="-120"/>
              </a:rPr>
              <a:t>No hidden or bought roles</a:t>
            </a:r>
            <a:endParaRPr lang="en-US" sz="1350" dirty="0"/>
          </a:p>
        </p:txBody>
      </p:sp>
      <p:sp>
        <p:nvSpPr>
          <p:cNvPr id="12" name="Text 10"/>
          <p:cNvSpPr/>
          <p:nvPr/>
        </p:nvSpPr>
        <p:spPr>
          <a:xfrm>
            <a:off x="777240" y="5212080"/>
            <a:ext cx="2103120" cy="228600"/>
          </a:xfrm>
          <a:prstGeom prst="rect">
            <a:avLst/>
          </a:prstGeom>
          <a:noFill/>
          <a:ln/>
        </p:spPr>
        <p:txBody>
          <a:bodyPr wrap="square" lIns="0" tIns="0" rIns="0" bIns="0" rtlCol="0" anchor="ctr"/>
          <a:lstStyle/>
          <a:p>
            <a:pPr marL="0" indent="0">
              <a:buNone/>
            </a:pPr>
            <a:endParaRPr lang="en-US" sz="1100" dirty="0"/>
          </a:p>
        </p:txBody>
      </p:sp>
      <p:sp>
        <p:nvSpPr>
          <p:cNvPr id="13" name="Text 11"/>
          <p:cNvSpPr/>
          <p:nvPr/>
        </p:nvSpPr>
        <p:spPr>
          <a:xfrm>
            <a:off x="777240" y="5532120"/>
            <a:ext cx="10058400" cy="731520"/>
          </a:xfrm>
          <a:prstGeom prst="rect">
            <a:avLst/>
          </a:prstGeom>
          <a:solidFill>
            <a:srgbClr val="FFFFFF"/>
          </a:solidFill>
          <a:ln>
            <a:solidFill>
              <a:srgbClr val="D9E1DF"/>
            </a:solidFill>
          </a:ln>
        </p:spPr>
        <p:txBody>
          <a:bodyPr wrap="square" lIns="2286" tIns="2286" rIns="2286" bIns="2286" rtlCol="0" anchor="ctr">
            <a:normAutofit/>
          </a:bodyPr>
          <a:lstStyle/>
          <a:p>
            <a:pPr marL="0" indent="0" algn="ctr">
              <a:buNone/>
            </a:pPr>
            <a:r>
              <a:rPr lang="en-US" sz="1900" b="1" dirty="0">
                <a:solidFill>
                  <a:srgbClr val="112B36"/>
                </a:solidFill>
                <a:latin typeface="Aptos Display" pitchFamily="34" charset="0"/>
                <a:ea typeface="Aptos Display" pitchFamily="34" charset="-122"/>
                <a:cs typeface="Aptos Display" pitchFamily="34" charset="-120"/>
              </a:rPr>
              <a:t>How should contribution to research be evaluated?</a:t>
            </a:r>
            <a:endParaRPr lang="en-US" sz="1900" dirty="0"/>
          </a:p>
        </p:txBody>
      </p:sp>
      <p:sp>
        <p:nvSpPr>
          <p:cNvPr id="14" name="Text 7">
            <a:extLst>
              <a:ext uri="{FF2B5EF4-FFF2-40B4-BE49-F238E27FC236}">
                <a16:creationId xmlns:a16="http://schemas.microsoft.com/office/drawing/2014/main" id="{D0F72B53-71C1-8218-0A3F-824FFE4C1F61}"/>
              </a:ext>
            </a:extLst>
          </p:cNvPr>
          <p:cNvSpPr/>
          <p:nvPr/>
        </p:nvSpPr>
        <p:spPr>
          <a:xfrm>
            <a:off x="5044440" y="5257800"/>
            <a:ext cx="2103120" cy="228600"/>
          </a:xfrm>
          <a:prstGeom prst="rect">
            <a:avLst/>
          </a:prstGeom>
          <a:noFill/>
          <a:ln/>
        </p:spPr>
        <p:txBody>
          <a:bodyPr wrap="square" lIns="0" tIns="0" rIns="0" bIns="0" rtlCol="0" anchor="ctr"/>
          <a:lstStyle/>
          <a:p>
            <a:pPr marL="0" indent="0" algn="ctr">
              <a:buNone/>
            </a:pPr>
            <a:r>
              <a:rPr lang="en-US" sz="1600" b="1" dirty="0">
                <a:solidFill>
                  <a:srgbClr val="174B4A"/>
                </a:solidFill>
                <a:latin typeface="Aptos" pitchFamily="34" charset="0"/>
                <a:ea typeface="Aptos" pitchFamily="34" charset="-122"/>
                <a:cs typeface="Aptos" pitchFamily="34" charset="-120"/>
              </a:rPr>
              <a:t>A fine line…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13</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6. Artificial intelligence and research ethics</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The author remains responsible</a:t>
            </a:r>
            <a:endParaRPr lang="en-US" sz="1300" dirty="0"/>
          </a:p>
        </p:txBody>
      </p:sp>
      <p:sp>
        <p:nvSpPr>
          <p:cNvPr id="8" name="Text 5"/>
          <p:cNvSpPr/>
          <p:nvPr/>
        </p:nvSpPr>
        <p:spPr>
          <a:xfrm>
            <a:off x="868680" y="1645920"/>
            <a:ext cx="5024120" cy="2971800"/>
          </a:xfrm>
          <a:prstGeom prst="rect">
            <a:avLst/>
          </a:prstGeom>
          <a:noFill/>
          <a:ln/>
        </p:spPr>
        <p:txBody>
          <a:bodyPr wrap="square" lIns="635" tIns="635" rIns="635" bIns="635" rtlCol="0" anchor="ctr">
            <a:normAutofit/>
          </a:bodyPr>
          <a:lstStyle/>
          <a:p>
            <a:pPr marL="0" indent="0">
              <a:lnSpc>
                <a:spcPct val="150000"/>
              </a:lnSpc>
              <a:buNone/>
            </a:pPr>
            <a:r>
              <a:rPr lang="en-US" sz="1800" dirty="0">
                <a:solidFill>
                  <a:srgbClr val="112B36"/>
                </a:solidFill>
                <a:latin typeface="Aptos" pitchFamily="34" charset="0"/>
                <a:ea typeface="Aptos" pitchFamily="34" charset="-122"/>
                <a:cs typeface="Aptos" pitchFamily="34" charset="-120"/>
              </a:rPr>
              <a:t>• AI can generate inaccurate summaries.
• AI can fabricate citations.
• AI can hide uncertainty behind confident wording.
• Every claim and reference still needs verification.</a:t>
            </a:r>
            <a:endParaRPr lang="en-US" sz="1800" dirty="0"/>
          </a:p>
        </p:txBody>
      </p:sp>
      <p:sp>
        <p:nvSpPr>
          <p:cNvPr id="10" name="Text 7"/>
          <p:cNvSpPr/>
          <p:nvPr/>
        </p:nvSpPr>
        <p:spPr>
          <a:xfrm>
            <a:off x="3786" y="5532120"/>
            <a:ext cx="7028776" cy="731520"/>
          </a:xfrm>
          <a:prstGeom prst="rect">
            <a:avLst/>
          </a:prstGeom>
          <a:solidFill>
            <a:srgbClr val="FFFFFF"/>
          </a:solidFill>
          <a:ln>
            <a:solidFill>
              <a:srgbClr val="D9E1DF"/>
            </a:solidFill>
          </a:ln>
        </p:spPr>
        <p:txBody>
          <a:bodyPr wrap="square" lIns="2286" tIns="2286" rIns="2286" bIns="2286" rtlCol="0" anchor="ctr">
            <a:normAutofit/>
          </a:bodyPr>
          <a:lstStyle/>
          <a:p>
            <a:pPr marL="0" indent="0" algn="ctr">
              <a:buNone/>
            </a:pPr>
            <a:r>
              <a:rPr lang="en-US" sz="1900" b="1" dirty="0">
                <a:solidFill>
                  <a:srgbClr val="112B36"/>
                </a:solidFill>
                <a:latin typeface="Aptos Display" pitchFamily="34" charset="0"/>
                <a:ea typeface="Aptos Display" pitchFamily="34" charset="-122"/>
                <a:cs typeface="Aptos Display" pitchFamily="34" charset="-120"/>
              </a:rPr>
              <a:t>Who is responsible when AI generates false information?</a:t>
            </a:r>
            <a:endParaRPr lang="en-US" sz="1900" dirty="0"/>
          </a:p>
        </p:txBody>
      </p:sp>
      <p:sp>
        <p:nvSpPr>
          <p:cNvPr id="11" name="Text 7">
            <a:extLst>
              <a:ext uri="{FF2B5EF4-FFF2-40B4-BE49-F238E27FC236}">
                <a16:creationId xmlns:a16="http://schemas.microsoft.com/office/drawing/2014/main" id="{6C595651-9DCB-C682-4377-2E814D4C65FA}"/>
              </a:ext>
            </a:extLst>
          </p:cNvPr>
          <p:cNvSpPr/>
          <p:nvPr/>
        </p:nvSpPr>
        <p:spPr>
          <a:xfrm>
            <a:off x="1585269" y="5212080"/>
            <a:ext cx="1469653" cy="228600"/>
          </a:xfrm>
          <a:prstGeom prst="rect">
            <a:avLst/>
          </a:prstGeom>
          <a:noFill/>
          <a:ln/>
        </p:spPr>
        <p:txBody>
          <a:bodyPr wrap="square" lIns="0" tIns="0" rIns="0" bIns="0" rtlCol="0" anchor="ctr"/>
          <a:lstStyle/>
          <a:p>
            <a:pPr marL="0" indent="0" algn="ctr">
              <a:buNone/>
            </a:pPr>
            <a:r>
              <a:rPr lang="en-US" sz="1600" b="1" dirty="0">
                <a:solidFill>
                  <a:srgbClr val="174B4A"/>
                </a:solidFill>
                <a:latin typeface="Aptos" pitchFamily="34" charset="0"/>
                <a:ea typeface="Aptos" pitchFamily="34" charset="-122"/>
                <a:cs typeface="Aptos" pitchFamily="34" charset="-120"/>
              </a:rPr>
              <a:t>A fine line…</a:t>
            </a:r>
            <a:endParaRPr lang="en-US" sz="1600" dirty="0"/>
          </a:p>
        </p:txBody>
      </p:sp>
      <p:pic>
        <p:nvPicPr>
          <p:cNvPr id="2" name="Picture 1">
            <a:extLst>
              <a:ext uri="{FF2B5EF4-FFF2-40B4-BE49-F238E27FC236}">
                <a16:creationId xmlns:a16="http://schemas.microsoft.com/office/drawing/2014/main" id="{BCB9ABDC-7717-68CA-C313-36F4F792D0F2}"/>
              </a:ext>
            </a:extLst>
          </p:cNvPr>
          <p:cNvPicPr>
            <a:picLocks noChangeAspect="1"/>
          </p:cNvPicPr>
          <p:nvPr/>
        </p:nvPicPr>
        <p:blipFill>
          <a:blip r:embed="rId3"/>
          <a:stretch>
            <a:fillRect/>
          </a:stretch>
        </p:blipFill>
        <p:spPr>
          <a:xfrm>
            <a:off x="7204173" y="700347"/>
            <a:ext cx="4984041" cy="486294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14</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7. Conflicts of interest</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Disclosure protects both researchers and institutions</a:t>
            </a:r>
            <a:endParaRPr lang="en-US" sz="1300" dirty="0"/>
          </a:p>
        </p:txBody>
      </p:sp>
      <p:sp>
        <p:nvSpPr>
          <p:cNvPr id="7" name="Text 5"/>
          <p:cNvSpPr/>
          <p:nvPr/>
        </p:nvSpPr>
        <p:spPr>
          <a:xfrm>
            <a:off x="777240" y="1920240"/>
            <a:ext cx="10332720" cy="960120"/>
          </a:xfrm>
          <a:prstGeom prst="rect">
            <a:avLst/>
          </a:prstGeom>
          <a:noFill/>
          <a:ln/>
        </p:spPr>
        <p:txBody>
          <a:bodyPr wrap="square" lIns="0" tIns="0" rIns="0" bIns="0" rtlCol="0" anchor="ctr">
            <a:normAutofit/>
          </a:bodyPr>
          <a:lstStyle/>
          <a:p>
            <a:pPr marL="0" indent="0">
              <a:buNone/>
            </a:pPr>
            <a:r>
              <a:rPr lang="en-US" sz="2700" b="1" dirty="0">
                <a:solidFill>
                  <a:srgbClr val="112B36"/>
                </a:solidFill>
                <a:latin typeface="Aptos Display" pitchFamily="34" charset="0"/>
                <a:ea typeface="Aptos Display" pitchFamily="34" charset="-122"/>
                <a:cs typeface="Aptos Display" pitchFamily="34" charset="-120"/>
              </a:rPr>
              <a:t>Undisclosed financial or professional interests can influence outcomes - or public perception.</a:t>
            </a:r>
            <a:endParaRPr lang="en-US" sz="2700" dirty="0"/>
          </a:p>
        </p:txBody>
      </p:sp>
      <p:sp>
        <p:nvSpPr>
          <p:cNvPr id="8" name="Text 6"/>
          <p:cNvSpPr/>
          <p:nvPr/>
        </p:nvSpPr>
        <p:spPr>
          <a:xfrm>
            <a:off x="914400" y="4023360"/>
            <a:ext cx="2926080" cy="105156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Identify
</a:t>
            </a:r>
            <a:r>
              <a:rPr lang="en-US" sz="1350" dirty="0">
                <a:solidFill>
                  <a:srgbClr val="112B36"/>
                </a:solidFill>
                <a:latin typeface="Aptos" pitchFamily="34" charset="0"/>
                <a:ea typeface="Aptos" pitchFamily="34" charset="-122"/>
                <a:cs typeface="Aptos" pitchFamily="34" charset="-120"/>
              </a:rPr>
              <a:t>What interest could affect judgement?</a:t>
            </a:r>
            <a:endParaRPr lang="en-US" sz="1350" dirty="0"/>
          </a:p>
        </p:txBody>
      </p:sp>
      <p:sp>
        <p:nvSpPr>
          <p:cNvPr id="9" name="Text 7"/>
          <p:cNvSpPr/>
          <p:nvPr/>
        </p:nvSpPr>
        <p:spPr>
          <a:xfrm>
            <a:off x="4617720" y="4023360"/>
            <a:ext cx="2926080" cy="105156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Disclose
</a:t>
            </a:r>
            <a:r>
              <a:rPr lang="en-US" sz="1350" dirty="0">
                <a:solidFill>
                  <a:srgbClr val="112B36"/>
                </a:solidFill>
                <a:latin typeface="Aptos" pitchFamily="34" charset="0"/>
                <a:ea typeface="Aptos" pitchFamily="34" charset="-122"/>
                <a:cs typeface="Aptos" pitchFamily="34" charset="-120"/>
              </a:rPr>
              <a:t>Make the interest visible.</a:t>
            </a:r>
            <a:endParaRPr lang="en-US" sz="1350" dirty="0"/>
          </a:p>
        </p:txBody>
      </p:sp>
      <p:sp>
        <p:nvSpPr>
          <p:cNvPr id="10" name="Text 8"/>
          <p:cNvSpPr/>
          <p:nvPr/>
        </p:nvSpPr>
        <p:spPr>
          <a:xfrm>
            <a:off x="8321040" y="4023360"/>
            <a:ext cx="2926080" cy="105156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Manage
</a:t>
            </a:r>
            <a:r>
              <a:rPr lang="en-US" sz="1350" dirty="0">
                <a:solidFill>
                  <a:srgbClr val="112B36"/>
                </a:solidFill>
                <a:latin typeface="Aptos" pitchFamily="34" charset="0"/>
                <a:ea typeface="Aptos" pitchFamily="34" charset="-122"/>
                <a:cs typeface="Aptos" pitchFamily="34" charset="-120"/>
              </a:rPr>
              <a:t>Reduce influence on decisions.</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15</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8. Human participants and research</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Participant welfare must come first</a:t>
            </a:r>
            <a:endParaRPr lang="en-US" sz="1300" dirty="0"/>
          </a:p>
        </p:txBody>
      </p:sp>
      <p:sp>
        <p:nvSpPr>
          <p:cNvPr id="7" name="Text 5"/>
          <p:cNvSpPr/>
          <p:nvPr/>
        </p:nvSpPr>
        <p:spPr>
          <a:xfrm>
            <a:off x="822960" y="1600200"/>
            <a:ext cx="5074920" cy="1874520"/>
          </a:xfrm>
          <a:prstGeom prst="rect">
            <a:avLst/>
          </a:prstGeom>
          <a:solidFill>
            <a:srgbClr val="FFFFFF"/>
          </a:solidFill>
          <a:ln>
            <a:solidFill>
              <a:srgbClr val="D9E1DF"/>
            </a:solidFill>
          </a:ln>
        </p:spPr>
        <p:txBody>
          <a:bodyPr wrap="square" lIns="2286" tIns="2286" rIns="2286" bIns="2286" rtlCol="0" anchor="ctr">
            <a:normAutofit/>
          </a:bodyPr>
          <a:lstStyle/>
          <a:p>
            <a:pPr marL="0" indent="0" algn="ctr">
              <a:buNone/>
            </a:pPr>
            <a:r>
              <a:rPr lang="en-US" sz="1600" b="1" dirty="0">
                <a:solidFill>
                  <a:srgbClr val="112B36"/>
                </a:solidFill>
                <a:latin typeface="Aptos" pitchFamily="34" charset="0"/>
                <a:ea typeface="Aptos" pitchFamily="34" charset="-122"/>
                <a:cs typeface="Aptos" pitchFamily="34" charset="-120"/>
              </a:rPr>
              <a:t>Core principle
</a:t>
            </a:r>
            <a:r>
              <a:rPr lang="en-US" sz="1600" dirty="0">
                <a:solidFill>
                  <a:srgbClr val="112B36"/>
                </a:solidFill>
                <a:latin typeface="Aptos" pitchFamily="34" charset="0"/>
                <a:ea typeface="Aptos" pitchFamily="34" charset="-122"/>
                <a:cs typeface="Aptos" pitchFamily="34" charset="-120"/>
              </a:rPr>
              <a:t>Research involving people requires respect, informed consent, confidentiality and minimisation of harm.</a:t>
            </a:r>
            <a:endParaRPr lang="en-US" sz="1600" dirty="0"/>
          </a:p>
        </p:txBody>
      </p:sp>
      <p:sp>
        <p:nvSpPr>
          <p:cNvPr id="8" name="Text 6"/>
          <p:cNvSpPr/>
          <p:nvPr/>
        </p:nvSpPr>
        <p:spPr>
          <a:xfrm>
            <a:off x="6355080" y="1600200"/>
            <a:ext cx="4800600" cy="1874520"/>
          </a:xfrm>
          <a:prstGeom prst="rect">
            <a:avLst/>
          </a:prstGeom>
          <a:solidFill>
            <a:srgbClr val="EEF4F2"/>
          </a:solidFill>
          <a:ln>
            <a:solidFill>
              <a:srgbClr val="D9E1DF"/>
            </a:solidFill>
          </a:ln>
        </p:spPr>
        <p:txBody>
          <a:bodyPr wrap="square" lIns="2286" tIns="2286" rIns="2286" bIns="2286" rtlCol="0" anchor="ctr">
            <a:normAutofit/>
          </a:bodyPr>
          <a:lstStyle/>
          <a:p>
            <a:pPr marL="0" indent="0" algn="ctr">
              <a:buNone/>
            </a:pPr>
            <a:r>
              <a:rPr lang="en-US" sz="1550" b="1" dirty="0">
                <a:solidFill>
                  <a:srgbClr val="112B36"/>
                </a:solidFill>
                <a:latin typeface="Aptos" pitchFamily="34" charset="0"/>
                <a:ea typeface="Aptos" pitchFamily="34" charset="-122"/>
                <a:cs typeface="Aptos" pitchFamily="34" charset="-120"/>
              </a:rPr>
              <a:t>Applied case
</a:t>
            </a:r>
            <a:r>
              <a:rPr lang="en-US" sz="1550" dirty="0">
                <a:solidFill>
                  <a:srgbClr val="112B36"/>
                </a:solidFill>
                <a:latin typeface="Aptos" pitchFamily="34" charset="0"/>
                <a:ea typeface="Aptos" pitchFamily="34" charset="-122"/>
                <a:cs typeface="Aptos" pitchFamily="34" charset="-120"/>
              </a:rPr>
              <a:t>A high-risk gene-editing therapy case raises questions about adverse outcomes, transparency and public accountability.</a:t>
            </a:r>
          </a:p>
          <a:p>
            <a:pPr algn="ctr"/>
            <a:r>
              <a:rPr lang="en-US" sz="1550" dirty="0">
                <a:hlinkClick r:id="rId3"/>
              </a:rPr>
              <a:t>https://retractionwatch.com/2026/07/23/exclusive-death-gene-editing-trial-china-nature-science-investigation/</a:t>
            </a:r>
            <a:endParaRPr lang="en-US" sz="1550" dirty="0"/>
          </a:p>
        </p:txBody>
      </p:sp>
      <p:sp>
        <p:nvSpPr>
          <p:cNvPr id="9" name="Text 7"/>
          <p:cNvSpPr/>
          <p:nvPr/>
        </p:nvSpPr>
        <p:spPr>
          <a:xfrm>
            <a:off x="914400" y="4343400"/>
            <a:ext cx="1463040" cy="347472"/>
          </a:xfrm>
          <a:prstGeom prst="rect">
            <a:avLst/>
          </a:prstGeom>
          <a:solidFill>
            <a:srgbClr val="174B4A"/>
          </a:solidFill>
          <a:ln>
            <a:solidFill>
              <a:srgbClr val="174B4A">
                <a:alpha val="0"/>
              </a:srgbClr>
            </a:solidFill>
          </a:ln>
        </p:spPr>
        <p:txBody>
          <a:bodyPr wrap="square" lIns="762" tIns="762" rIns="762" bIns="762"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Respect</a:t>
            </a:r>
            <a:endParaRPr lang="en-US" sz="1200" dirty="0"/>
          </a:p>
        </p:txBody>
      </p:sp>
      <p:sp>
        <p:nvSpPr>
          <p:cNvPr id="10" name="Text 8"/>
          <p:cNvSpPr/>
          <p:nvPr/>
        </p:nvSpPr>
        <p:spPr>
          <a:xfrm>
            <a:off x="2743200" y="4343400"/>
            <a:ext cx="1463040" cy="347472"/>
          </a:xfrm>
          <a:prstGeom prst="rect">
            <a:avLst/>
          </a:prstGeom>
          <a:solidFill>
            <a:srgbClr val="C8A15A"/>
          </a:solidFill>
          <a:ln>
            <a:solidFill>
              <a:srgbClr val="C8A15A">
                <a:alpha val="0"/>
              </a:srgbClr>
            </a:solidFill>
          </a:ln>
        </p:spPr>
        <p:txBody>
          <a:bodyPr wrap="square" lIns="762" tIns="762" rIns="762" bIns="762" rtlCol="0" anchor="ctr"/>
          <a:lstStyle/>
          <a:p>
            <a:pPr marL="0" indent="0" algn="ctr">
              <a:buNone/>
            </a:pPr>
            <a:r>
              <a:rPr lang="en-US" sz="1200" b="1" dirty="0">
                <a:solidFill>
                  <a:srgbClr val="112B36"/>
                </a:solidFill>
                <a:latin typeface="Aptos" pitchFamily="34" charset="0"/>
                <a:ea typeface="Aptos" pitchFamily="34" charset="-122"/>
                <a:cs typeface="Aptos" pitchFamily="34" charset="-120"/>
              </a:rPr>
              <a:t>Consent</a:t>
            </a:r>
            <a:endParaRPr lang="en-US" sz="1200" dirty="0"/>
          </a:p>
        </p:txBody>
      </p:sp>
      <p:sp>
        <p:nvSpPr>
          <p:cNvPr id="11" name="Text 9"/>
          <p:cNvSpPr/>
          <p:nvPr/>
        </p:nvSpPr>
        <p:spPr>
          <a:xfrm>
            <a:off x="4572000" y="4343400"/>
            <a:ext cx="1920240" cy="347472"/>
          </a:xfrm>
          <a:prstGeom prst="rect">
            <a:avLst/>
          </a:prstGeom>
          <a:solidFill>
            <a:srgbClr val="174B4A"/>
          </a:solidFill>
          <a:ln>
            <a:solidFill>
              <a:srgbClr val="174B4A">
                <a:alpha val="0"/>
              </a:srgbClr>
            </a:solidFill>
          </a:ln>
        </p:spPr>
        <p:txBody>
          <a:bodyPr wrap="square" lIns="762" tIns="762" rIns="762" bIns="762"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Confidentiality</a:t>
            </a:r>
            <a:endParaRPr lang="en-US" sz="1200" dirty="0"/>
          </a:p>
        </p:txBody>
      </p:sp>
      <p:sp>
        <p:nvSpPr>
          <p:cNvPr id="12" name="Text 10"/>
          <p:cNvSpPr/>
          <p:nvPr/>
        </p:nvSpPr>
        <p:spPr>
          <a:xfrm>
            <a:off x="6903720" y="4343400"/>
            <a:ext cx="1828800" cy="347472"/>
          </a:xfrm>
          <a:prstGeom prst="rect">
            <a:avLst/>
          </a:prstGeom>
          <a:solidFill>
            <a:srgbClr val="C8A15A"/>
          </a:solidFill>
          <a:ln>
            <a:solidFill>
              <a:srgbClr val="C8A15A">
                <a:alpha val="0"/>
              </a:srgbClr>
            </a:solidFill>
          </a:ln>
        </p:spPr>
        <p:txBody>
          <a:bodyPr wrap="square" lIns="762" tIns="762" rIns="762" bIns="762" rtlCol="0" anchor="ctr"/>
          <a:lstStyle/>
          <a:p>
            <a:pPr marL="0" indent="0" algn="ctr">
              <a:buNone/>
            </a:pPr>
            <a:r>
              <a:rPr lang="en-US" sz="1200" b="1" dirty="0">
                <a:solidFill>
                  <a:srgbClr val="112B36"/>
                </a:solidFill>
                <a:latin typeface="Aptos" pitchFamily="34" charset="0"/>
                <a:ea typeface="Aptos" pitchFamily="34" charset="-122"/>
                <a:cs typeface="Aptos" pitchFamily="34" charset="-120"/>
              </a:rPr>
              <a:t>Minimise harm</a:t>
            </a:r>
            <a:endParaRPr lang="en-US" sz="1200" dirty="0"/>
          </a:p>
        </p:txBody>
      </p:sp>
      <p:sp>
        <p:nvSpPr>
          <p:cNvPr id="13" name="Text 11"/>
          <p:cNvSpPr/>
          <p:nvPr/>
        </p:nvSpPr>
        <p:spPr>
          <a:xfrm>
            <a:off x="9098280" y="4343400"/>
            <a:ext cx="1737360" cy="347472"/>
          </a:xfrm>
          <a:prstGeom prst="rect">
            <a:avLst/>
          </a:prstGeom>
          <a:solidFill>
            <a:srgbClr val="174B4A"/>
          </a:solidFill>
          <a:ln>
            <a:solidFill>
              <a:srgbClr val="174B4A">
                <a:alpha val="0"/>
              </a:srgbClr>
            </a:solidFill>
          </a:ln>
        </p:spPr>
        <p:txBody>
          <a:bodyPr wrap="square" lIns="762" tIns="762" rIns="762" bIns="762"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Transparency</a:t>
            </a:r>
            <a:endParaRPr lang="en-US" sz="1200" dirty="0"/>
          </a:p>
        </p:txBody>
      </p:sp>
      <p:sp>
        <p:nvSpPr>
          <p:cNvPr id="14" name="Text 12"/>
          <p:cNvSpPr/>
          <p:nvPr/>
        </p:nvSpPr>
        <p:spPr>
          <a:xfrm>
            <a:off x="777240" y="5120640"/>
            <a:ext cx="2103120" cy="228600"/>
          </a:xfrm>
          <a:prstGeom prst="rect">
            <a:avLst/>
          </a:prstGeom>
          <a:noFill/>
          <a:ln/>
        </p:spPr>
        <p:txBody>
          <a:bodyPr wrap="square" lIns="0" tIns="0" rIns="0" bIns="0" rtlCol="0" anchor="ctr"/>
          <a:lstStyle/>
          <a:p>
            <a:pPr marL="0" indent="0">
              <a:buNone/>
            </a:pPr>
            <a:endParaRPr lang="en-US" sz="1100" dirty="0"/>
          </a:p>
        </p:txBody>
      </p:sp>
      <p:sp>
        <p:nvSpPr>
          <p:cNvPr id="15" name="Text 13"/>
          <p:cNvSpPr/>
          <p:nvPr/>
        </p:nvSpPr>
        <p:spPr>
          <a:xfrm>
            <a:off x="777240" y="5440680"/>
            <a:ext cx="10058400" cy="731520"/>
          </a:xfrm>
          <a:prstGeom prst="rect">
            <a:avLst/>
          </a:prstGeom>
          <a:solidFill>
            <a:srgbClr val="FFFFFF"/>
          </a:solidFill>
          <a:ln>
            <a:solidFill>
              <a:srgbClr val="D9E1DF"/>
            </a:solidFill>
          </a:ln>
        </p:spPr>
        <p:txBody>
          <a:bodyPr wrap="square" lIns="2286" tIns="2286" rIns="2286" bIns="2286" rtlCol="0" anchor="ctr">
            <a:normAutofit/>
          </a:bodyPr>
          <a:lstStyle/>
          <a:p>
            <a:pPr marL="0" indent="0" algn="ctr">
              <a:buNone/>
            </a:pPr>
            <a:r>
              <a:rPr lang="en-US" sz="1900" b="1" dirty="0">
                <a:solidFill>
                  <a:srgbClr val="112B36"/>
                </a:solidFill>
                <a:latin typeface="Aptos Display" pitchFamily="34" charset="0"/>
                <a:ea typeface="Aptos Display" pitchFamily="34" charset="-122"/>
                <a:cs typeface="Aptos Display" pitchFamily="34" charset="-120"/>
              </a:rPr>
              <a:t>What duties do researchers have to disclose adverse outcomes?</a:t>
            </a:r>
            <a:endParaRPr lang="en-US" sz="1900" dirty="0"/>
          </a:p>
        </p:txBody>
      </p:sp>
      <p:sp>
        <p:nvSpPr>
          <p:cNvPr id="16" name="Text 7">
            <a:extLst>
              <a:ext uri="{FF2B5EF4-FFF2-40B4-BE49-F238E27FC236}">
                <a16:creationId xmlns:a16="http://schemas.microsoft.com/office/drawing/2014/main" id="{C8D3B059-3760-C35C-D89F-D92901C9B8A7}"/>
              </a:ext>
            </a:extLst>
          </p:cNvPr>
          <p:cNvSpPr/>
          <p:nvPr/>
        </p:nvSpPr>
        <p:spPr>
          <a:xfrm>
            <a:off x="4754880" y="5212080"/>
            <a:ext cx="2103120" cy="228600"/>
          </a:xfrm>
          <a:prstGeom prst="rect">
            <a:avLst/>
          </a:prstGeom>
          <a:noFill/>
          <a:ln/>
        </p:spPr>
        <p:txBody>
          <a:bodyPr wrap="square" lIns="0" tIns="0" rIns="0" bIns="0" rtlCol="0" anchor="ctr"/>
          <a:lstStyle/>
          <a:p>
            <a:pPr marL="0" indent="0" algn="ctr">
              <a:buNone/>
            </a:pPr>
            <a:r>
              <a:rPr lang="en-US" sz="1600" b="1" dirty="0">
                <a:solidFill>
                  <a:srgbClr val="174B4A"/>
                </a:solidFill>
                <a:latin typeface="Aptos" pitchFamily="34" charset="0"/>
                <a:ea typeface="Aptos" pitchFamily="34" charset="-122"/>
                <a:cs typeface="Aptos" pitchFamily="34" charset="-120"/>
              </a:rPr>
              <a:t>A fine line…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16</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9. Peer review ethics</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The review process must be independent and accountable</a:t>
            </a:r>
            <a:endParaRPr lang="en-US" sz="1300" dirty="0"/>
          </a:p>
        </p:txBody>
      </p:sp>
      <p:pic>
        <p:nvPicPr>
          <p:cNvPr id="7" name="Image 0" descr="/mnt/data/wide_editorial_concept_illustration_about_peer_rev_batch_3.png"/>
          <p:cNvPicPr>
            <a:picLocks noChangeAspect="1"/>
          </p:cNvPicPr>
          <p:nvPr/>
        </p:nvPicPr>
        <p:blipFill>
          <a:blip r:embed="rId3"/>
          <a:srcRect l="13025" r="13025"/>
          <a:stretch/>
        </p:blipFill>
        <p:spPr>
          <a:xfrm>
            <a:off x="6121908" y="1335024"/>
            <a:ext cx="5166360" cy="3931920"/>
          </a:xfrm>
          <a:prstGeom prst="rect">
            <a:avLst/>
          </a:prstGeom>
        </p:spPr>
      </p:pic>
      <p:sp>
        <p:nvSpPr>
          <p:cNvPr id="8" name="Text 5"/>
          <p:cNvSpPr/>
          <p:nvPr/>
        </p:nvSpPr>
        <p:spPr>
          <a:xfrm>
            <a:off x="822960" y="1691640"/>
            <a:ext cx="4800600" cy="1645920"/>
          </a:xfrm>
          <a:prstGeom prst="rect">
            <a:avLst/>
          </a:prstGeom>
          <a:solidFill>
            <a:srgbClr val="FFFFFF"/>
          </a:solidFill>
          <a:ln>
            <a:solidFill>
              <a:srgbClr val="D9E1DF"/>
            </a:solidFill>
          </a:ln>
        </p:spPr>
        <p:txBody>
          <a:bodyPr wrap="square" lIns="2286" tIns="2286" rIns="2286" bIns="2286" rtlCol="0" anchor="ctr">
            <a:normAutofit/>
          </a:bodyPr>
          <a:lstStyle/>
          <a:p>
            <a:pPr marL="0" indent="0" algn="ctr">
              <a:buNone/>
            </a:pPr>
            <a:r>
              <a:rPr lang="en-US" sz="1800" b="1" dirty="0">
                <a:solidFill>
                  <a:srgbClr val="112B36"/>
                </a:solidFill>
                <a:latin typeface="Aptos" pitchFamily="34" charset="0"/>
                <a:ea typeface="Aptos" pitchFamily="34" charset="-122"/>
                <a:cs typeface="Aptos" pitchFamily="34" charset="-120"/>
              </a:rPr>
              <a:t>Peer review depends on
</a:t>
            </a:r>
            <a:r>
              <a:rPr lang="en-US" sz="1800" dirty="0">
                <a:solidFill>
                  <a:srgbClr val="112B36"/>
                </a:solidFill>
                <a:latin typeface="Aptos" pitchFamily="34" charset="0"/>
                <a:ea typeface="Aptos" pitchFamily="34" charset="-122"/>
                <a:cs typeface="Aptos" pitchFamily="34" charset="-120"/>
              </a:rPr>
              <a:t>Independence, objectivity and accountability.</a:t>
            </a:r>
            <a:endParaRPr lang="en-US" sz="1800" dirty="0"/>
          </a:p>
        </p:txBody>
      </p:sp>
      <p:sp>
        <p:nvSpPr>
          <p:cNvPr id="9" name="Text 6"/>
          <p:cNvSpPr/>
          <p:nvPr/>
        </p:nvSpPr>
        <p:spPr>
          <a:xfrm>
            <a:off x="822960" y="3639312"/>
            <a:ext cx="4800600" cy="1527048"/>
          </a:xfrm>
          <a:prstGeom prst="rect">
            <a:avLst/>
          </a:prstGeom>
          <a:solidFill>
            <a:srgbClr val="EEF4F2"/>
          </a:solidFill>
          <a:ln>
            <a:solidFill>
              <a:srgbClr val="D9E1DF"/>
            </a:solidFill>
          </a:ln>
        </p:spPr>
        <p:txBody>
          <a:bodyPr wrap="square" lIns="2286" tIns="2286" rIns="2286" bIns="2286" rtlCol="0" anchor="ctr">
            <a:normAutofit/>
          </a:bodyPr>
          <a:lstStyle/>
          <a:p>
            <a:pPr marL="0" indent="0" algn="ctr">
              <a:buNone/>
            </a:pPr>
            <a:r>
              <a:rPr lang="en-US" sz="1550" b="1" dirty="0">
                <a:solidFill>
                  <a:srgbClr val="112B36"/>
                </a:solidFill>
                <a:latin typeface="Aptos" pitchFamily="34" charset="0"/>
                <a:ea typeface="Aptos" pitchFamily="34" charset="-122"/>
                <a:cs typeface="Aptos" pitchFamily="34" charset="-120"/>
              </a:rPr>
              <a:t>Applied case
</a:t>
            </a:r>
            <a:r>
              <a:rPr lang="en-US" sz="1550" dirty="0">
                <a:solidFill>
                  <a:srgbClr val="112B36"/>
                </a:solidFill>
                <a:latin typeface="Aptos" pitchFamily="34" charset="0"/>
                <a:ea typeface="Aptos" pitchFamily="34" charset="-122"/>
                <a:cs typeface="Aptos" pitchFamily="34" charset="-120"/>
              </a:rPr>
              <a:t>An alleged reviewer bribery scheme illustrates how misconduct can undermine publication decisions.</a:t>
            </a:r>
          </a:p>
          <a:p>
            <a:pPr algn="ctr"/>
            <a:r>
              <a:rPr lang="en-US" sz="1550" dirty="0">
                <a:hlinkClick r:id="rId4"/>
              </a:rPr>
              <a:t>https://retractionwatch.com/2026/07/20/publisher-investigating-peer-reviewer-for-alleged-bribery-scheme/</a:t>
            </a:r>
            <a:endParaRPr lang="en-US" sz="1550" dirty="0"/>
          </a:p>
        </p:txBody>
      </p:sp>
      <p:sp>
        <p:nvSpPr>
          <p:cNvPr id="11" name="Text 8"/>
          <p:cNvSpPr/>
          <p:nvPr/>
        </p:nvSpPr>
        <p:spPr>
          <a:xfrm>
            <a:off x="777240" y="5697220"/>
            <a:ext cx="10058400" cy="731520"/>
          </a:xfrm>
          <a:prstGeom prst="rect">
            <a:avLst/>
          </a:prstGeom>
          <a:solidFill>
            <a:srgbClr val="FFFFFF"/>
          </a:solidFill>
          <a:ln>
            <a:solidFill>
              <a:srgbClr val="D9E1DF"/>
            </a:solidFill>
          </a:ln>
        </p:spPr>
        <p:txBody>
          <a:bodyPr wrap="square" lIns="2286" tIns="2286" rIns="2286" bIns="2286" rtlCol="0" anchor="ctr">
            <a:normAutofit/>
          </a:bodyPr>
          <a:lstStyle/>
          <a:p>
            <a:pPr marL="0" indent="0" algn="ctr">
              <a:buNone/>
            </a:pPr>
            <a:r>
              <a:rPr lang="en-US" sz="1900" b="1" dirty="0">
                <a:solidFill>
                  <a:srgbClr val="112B36"/>
                </a:solidFill>
                <a:latin typeface="Aptos Display" pitchFamily="34" charset="0"/>
                <a:ea typeface="Aptos Display" pitchFamily="34" charset="-122"/>
                <a:cs typeface="Aptos Display" pitchFamily="34" charset="-120"/>
              </a:rPr>
              <a:t>How can journals strengthen reviewer oversight?</a:t>
            </a:r>
            <a:endParaRPr lang="en-US" sz="1900" dirty="0"/>
          </a:p>
        </p:txBody>
      </p:sp>
      <p:sp>
        <p:nvSpPr>
          <p:cNvPr id="12" name="Text 7">
            <a:extLst>
              <a:ext uri="{FF2B5EF4-FFF2-40B4-BE49-F238E27FC236}">
                <a16:creationId xmlns:a16="http://schemas.microsoft.com/office/drawing/2014/main" id="{12CFD6E7-5A5F-DBCD-25ED-05088F98F7B9}"/>
              </a:ext>
            </a:extLst>
          </p:cNvPr>
          <p:cNvSpPr/>
          <p:nvPr/>
        </p:nvSpPr>
        <p:spPr>
          <a:xfrm>
            <a:off x="4754880" y="5377180"/>
            <a:ext cx="2103120" cy="228600"/>
          </a:xfrm>
          <a:prstGeom prst="rect">
            <a:avLst/>
          </a:prstGeom>
          <a:noFill/>
          <a:ln/>
        </p:spPr>
        <p:txBody>
          <a:bodyPr wrap="square" lIns="0" tIns="0" rIns="0" bIns="0" rtlCol="0" anchor="ctr"/>
          <a:lstStyle/>
          <a:p>
            <a:pPr marL="0" indent="0" algn="ctr">
              <a:buNone/>
            </a:pPr>
            <a:r>
              <a:rPr lang="en-US" sz="1600" b="1" dirty="0">
                <a:solidFill>
                  <a:srgbClr val="174B4A"/>
                </a:solidFill>
                <a:latin typeface="Aptos" pitchFamily="34" charset="0"/>
                <a:ea typeface="Aptos" pitchFamily="34" charset="-122"/>
                <a:cs typeface="Aptos" pitchFamily="34" charset="-120"/>
              </a:rPr>
              <a:t>A fine line…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17</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Comparative overview</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Five applied case studies at a glance</a:t>
            </a:r>
            <a:endParaRPr lang="en-US" sz="1300" dirty="0"/>
          </a:p>
        </p:txBody>
      </p:sp>
      <p:sp>
        <p:nvSpPr>
          <p:cNvPr id="7" name="Text 5"/>
          <p:cNvSpPr/>
          <p:nvPr/>
        </p:nvSpPr>
        <p:spPr>
          <a:xfrm>
            <a:off x="777240" y="1508760"/>
            <a:ext cx="2743200" cy="548640"/>
          </a:xfrm>
          <a:prstGeom prst="rect">
            <a:avLst/>
          </a:prstGeom>
          <a:solidFill>
            <a:srgbClr val="174B4A"/>
          </a:solidFill>
          <a:ln w="7620">
            <a:solidFill>
              <a:srgbClr val="D9E1DF"/>
            </a:solidFill>
          </a:ln>
        </p:spPr>
        <p:txBody>
          <a:bodyPr wrap="square" lIns="1270" tIns="1270" rIns="1270" bIns="1270" rtlCol="0" anchor="ctr">
            <a:normAutofit/>
          </a:bodyPr>
          <a:lstStyle/>
          <a:p>
            <a:pPr marL="0" indent="0" algn="ctr">
              <a:buNone/>
            </a:pPr>
            <a:r>
              <a:rPr lang="en-US" sz="1250" b="1" dirty="0">
                <a:solidFill>
                  <a:srgbClr val="FFFFFF"/>
                </a:solidFill>
                <a:latin typeface="Aptos" pitchFamily="34" charset="0"/>
                <a:ea typeface="Aptos" pitchFamily="34" charset="-122"/>
                <a:cs typeface="Aptos" pitchFamily="34" charset="-120"/>
              </a:rPr>
              <a:t>Theme</a:t>
            </a:r>
            <a:endParaRPr lang="en-US" sz="1250" dirty="0"/>
          </a:p>
        </p:txBody>
      </p:sp>
      <p:sp>
        <p:nvSpPr>
          <p:cNvPr id="8" name="Text 6"/>
          <p:cNvSpPr/>
          <p:nvPr/>
        </p:nvSpPr>
        <p:spPr>
          <a:xfrm>
            <a:off x="3611880" y="1508760"/>
            <a:ext cx="3749040" cy="548640"/>
          </a:xfrm>
          <a:prstGeom prst="rect">
            <a:avLst/>
          </a:prstGeom>
          <a:solidFill>
            <a:srgbClr val="174B4A"/>
          </a:solidFill>
          <a:ln w="7620">
            <a:solidFill>
              <a:srgbClr val="D9E1DF"/>
            </a:solidFill>
          </a:ln>
        </p:spPr>
        <p:txBody>
          <a:bodyPr wrap="square" lIns="1270" tIns="1270" rIns="1270" bIns="1270" rtlCol="0" anchor="ctr">
            <a:normAutofit/>
          </a:bodyPr>
          <a:lstStyle/>
          <a:p>
            <a:pPr marL="0" indent="0" algn="ctr">
              <a:buNone/>
            </a:pPr>
            <a:r>
              <a:rPr lang="en-US" sz="1250" b="1" dirty="0">
                <a:solidFill>
                  <a:srgbClr val="FFFFFF"/>
                </a:solidFill>
                <a:latin typeface="Aptos" pitchFamily="34" charset="0"/>
                <a:ea typeface="Aptos" pitchFamily="34" charset="-122"/>
                <a:cs typeface="Aptos" pitchFamily="34" charset="-120"/>
              </a:rPr>
              <a:t>Illustrative issue</a:t>
            </a:r>
            <a:endParaRPr lang="en-US" sz="1250" dirty="0"/>
          </a:p>
        </p:txBody>
      </p:sp>
      <p:sp>
        <p:nvSpPr>
          <p:cNvPr id="9" name="Text 7"/>
          <p:cNvSpPr/>
          <p:nvPr/>
        </p:nvSpPr>
        <p:spPr>
          <a:xfrm>
            <a:off x="7452360" y="1508760"/>
            <a:ext cx="3840480" cy="548640"/>
          </a:xfrm>
          <a:prstGeom prst="rect">
            <a:avLst/>
          </a:prstGeom>
          <a:solidFill>
            <a:srgbClr val="174B4A"/>
          </a:solidFill>
          <a:ln w="7620">
            <a:solidFill>
              <a:srgbClr val="D9E1DF"/>
            </a:solidFill>
          </a:ln>
        </p:spPr>
        <p:txBody>
          <a:bodyPr wrap="square" lIns="1270" tIns="1270" rIns="1270" bIns="1270" rtlCol="0" anchor="ctr">
            <a:normAutofit/>
          </a:bodyPr>
          <a:lstStyle/>
          <a:p>
            <a:pPr marL="0" indent="0" algn="ctr">
              <a:buNone/>
            </a:pPr>
            <a:r>
              <a:rPr lang="en-US" sz="1250" b="1" dirty="0">
                <a:solidFill>
                  <a:srgbClr val="FFFFFF"/>
                </a:solidFill>
                <a:latin typeface="Aptos" pitchFamily="34" charset="0"/>
                <a:ea typeface="Aptos" pitchFamily="34" charset="-122"/>
                <a:cs typeface="Aptos" pitchFamily="34" charset="-120"/>
              </a:rPr>
              <a:t>Ethical principle</a:t>
            </a:r>
            <a:endParaRPr lang="en-US" sz="1250" dirty="0"/>
          </a:p>
        </p:txBody>
      </p:sp>
      <p:sp>
        <p:nvSpPr>
          <p:cNvPr id="10" name="Text 8"/>
          <p:cNvSpPr/>
          <p:nvPr/>
        </p:nvSpPr>
        <p:spPr>
          <a:xfrm>
            <a:off x="777240" y="2093976"/>
            <a:ext cx="274320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Human research</a:t>
            </a:r>
            <a:endParaRPr lang="en-US" sz="1220" dirty="0"/>
          </a:p>
        </p:txBody>
      </p:sp>
      <p:sp>
        <p:nvSpPr>
          <p:cNvPr id="11" name="Text 9"/>
          <p:cNvSpPr/>
          <p:nvPr/>
        </p:nvSpPr>
        <p:spPr>
          <a:xfrm>
            <a:off x="3611880" y="2093976"/>
            <a:ext cx="374904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Gene-editing therapy</a:t>
            </a:r>
            <a:endParaRPr lang="en-US" sz="1220" dirty="0"/>
          </a:p>
        </p:txBody>
      </p:sp>
      <p:sp>
        <p:nvSpPr>
          <p:cNvPr id="12" name="Text 10"/>
          <p:cNvSpPr/>
          <p:nvPr/>
        </p:nvSpPr>
        <p:spPr>
          <a:xfrm>
            <a:off x="7452360" y="2093976"/>
            <a:ext cx="384048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Beneficence + transparency</a:t>
            </a:r>
            <a:endParaRPr lang="en-US" sz="1220" dirty="0"/>
          </a:p>
        </p:txBody>
      </p:sp>
      <p:sp>
        <p:nvSpPr>
          <p:cNvPr id="13" name="Text 11"/>
          <p:cNvSpPr/>
          <p:nvPr/>
        </p:nvSpPr>
        <p:spPr>
          <a:xfrm>
            <a:off x="777240" y="2679192"/>
            <a:ext cx="274320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rPr>
              <a:t>Publication</a:t>
            </a:r>
            <a:r>
              <a:rPr lang="en-US" sz="1220" dirty="0">
                <a:solidFill>
                  <a:srgbClr val="112B36"/>
                </a:solidFill>
                <a:latin typeface="Aptos" pitchFamily="34" charset="0"/>
                <a:ea typeface="Aptos" pitchFamily="34" charset="-122"/>
                <a:cs typeface="Aptos" pitchFamily="34" charset="-120"/>
              </a:rPr>
              <a:t> </a:t>
            </a:r>
            <a:r>
              <a:rPr lang="en-US" sz="1220" dirty="0">
                <a:solidFill>
                  <a:srgbClr val="112B36"/>
                </a:solidFill>
                <a:latin typeface="Aptos" pitchFamily="34" charset="0"/>
              </a:rPr>
              <a:t>ethics</a:t>
            </a:r>
          </a:p>
        </p:txBody>
      </p:sp>
      <p:sp>
        <p:nvSpPr>
          <p:cNvPr id="14" name="Text 12"/>
          <p:cNvSpPr/>
          <p:nvPr/>
        </p:nvSpPr>
        <p:spPr>
          <a:xfrm>
            <a:off x="3611880" y="2679192"/>
            <a:ext cx="374904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Image </a:t>
            </a:r>
            <a:r>
              <a:rPr lang="en-US" sz="1220" dirty="0">
                <a:solidFill>
                  <a:srgbClr val="112B36"/>
                </a:solidFill>
                <a:latin typeface="Aptos" pitchFamily="34" charset="0"/>
              </a:rPr>
              <a:t>duplication</a:t>
            </a:r>
          </a:p>
        </p:txBody>
      </p:sp>
      <p:sp>
        <p:nvSpPr>
          <p:cNvPr id="15" name="Text 13"/>
          <p:cNvSpPr/>
          <p:nvPr/>
        </p:nvSpPr>
        <p:spPr>
          <a:xfrm>
            <a:off x="7452360" y="2679192"/>
            <a:ext cx="384048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Integrity of </a:t>
            </a:r>
            <a:r>
              <a:rPr lang="en-US" sz="1220" dirty="0">
                <a:solidFill>
                  <a:srgbClr val="112B36"/>
                </a:solidFill>
                <a:latin typeface="Aptos" pitchFamily="34" charset="0"/>
              </a:rPr>
              <a:t>evidence</a:t>
            </a:r>
          </a:p>
        </p:txBody>
      </p:sp>
      <p:sp>
        <p:nvSpPr>
          <p:cNvPr id="16" name="Text 14"/>
          <p:cNvSpPr/>
          <p:nvPr/>
        </p:nvSpPr>
        <p:spPr>
          <a:xfrm>
            <a:off x="777240" y="3264408"/>
            <a:ext cx="274320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Peer review</a:t>
            </a:r>
            <a:endParaRPr lang="en-US" sz="1220" dirty="0"/>
          </a:p>
        </p:txBody>
      </p:sp>
      <p:sp>
        <p:nvSpPr>
          <p:cNvPr id="17" name="Text 15"/>
          <p:cNvSpPr/>
          <p:nvPr/>
        </p:nvSpPr>
        <p:spPr>
          <a:xfrm>
            <a:off x="3611880" y="3264408"/>
            <a:ext cx="374904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Alleged bribery</a:t>
            </a:r>
            <a:endParaRPr lang="en-US" sz="1220" dirty="0"/>
          </a:p>
        </p:txBody>
      </p:sp>
      <p:sp>
        <p:nvSpPr>
          <p:cNvPr id="18" name="Text 16"/>
          <p:cNvSpPr/>
          <p:nvPr/>
        </p:nvSpPr>
        <p:spPr>
          <a:xfrm>
            <a:off x="7452360" y="3264408"/>
            <a:ext cx="384048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Independence + fairness</a:t>
            </a:r>
            <a:endParaRPr lang="en-US" sz="1220" dirty="0"/>
          </a:p>
        </p:txBody>
      </p:sp>
      <p:sp>
        <p:nvSpPr>
          <p:cNvPr id="19" name="Text 17"/>
          <p:cNvSpPr/>
          <p:nvPr/>
        </p:nvSpPr>
        <p:spPr>
          <a:xfrm>
            <a:off x="777240" y="3849624"/>
            <a:ext cx="274320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Authorship culture</a:t>
            </a:r>
            <a:endParaRPr lang="en-US" sz="1220" dirty="0"/>
          </a:p>
        </p:txBody>
      </p:sp>
      <p:sp>
        <p:nvSpPr>
          <p:cNvPr id="20" name="Text 18"/>
          <p:cNvSpPr/>
          <p:nvPr/>
        </p:nvSpPr>
        <p:spPr>
          <a:xfrm>
            <a:off x="3611880" y="3849624"/>
            <a:ext cx="374904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Research factory concerns</a:t>
            </a:r>
            <a:endParaRPr lang="en-US" sz="1220" dirty="0"/>
          </a:p>
        </p:txBody>
      </p:sp>
      <p:sp>
        <p:nvSpPr>
          <p:cNvPr id="21" name="Text 19"/>
          <p:cNvSpPr/>
          <p:nvPr/>
        </p:nvSpPr>
        <p:spPr>
          <a:xfrm>
            <a:off x="7452360" y="3849624"/>
            <a:ext cx="384048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Accountability</a:t>
            </a:r>
            <a:endParaRPr lang="en-US" sz="1220" dirty="0"/>
          </a:p>
        </p:txBody>
      </p:sp>
      <p:sp>
        <p:nvSpPr>
          <p:cNvPr id="22" name="Text 20"/>
          <p:cNvSpPr/>
          <p:nvPr/>
        </p:nvSpPr>
        <p:spPr>
          <a:xfrm>
            <a:off x="777240" y="4434840"/>
            <a:ext cx="274320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AI ethics</a:t>
            </a:r>
            <a:endParaRPr lang="en-US" sz="1220" dirty="0"/>
          </a:p>
        </p:txBody>
      </p:sp>
      <p:sp>
        <p:nvSpPr>
          <p:cNvPr id="23" name="Text 21"/>
          <p:cNvSpPr/>
          <p:nvPr/>
        </p:nvSpPr>
        <p:spPr>
          <a:xfrm>
            <a:off x="3611880" y="4434840"/>
            <a:ext cx="374904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Fabricated citations</a:t>
            </a:r>
            <a:endParaRPr lang="en-US" sz="1220" dirty="0"/>
          </a:p>
        </p:txBody>
      </p:sp>
      <p:sp>
        <p:nvSpPr>
          <p:cNvPr id="24" name="Text 22"/>
          <p:cNvSpPr/>
          <p:nvPr/>
        </p:nvSpPr>
        <p:spPr>
          <a:xfrm>
            <a:off x="7452360" y="4434840"/>
            <a:ext cx="3840480" cy="548640"/>
          </a:xfrm>
          <a:prstGeom prst="rect">
            <a:avLst/>
          </a:prstGeom>
          <a:solidFill>
            <a:srgbClr val="FFFFFF"/>
          </a:solidFill>
          <a:ln w="7620">
            <a:solidFill>
              <a:srgbClr val="D9E1DF"/>
            </a:solidFill>
          </a:ln>
        </p:spPr>
        <p:txBody>
          <a:bodyPr wrap="square" lIns="1270" tIns="1270" rIns="1270" bIns="1270" rtlCol="0" anchor="ctr">
            <a:normAutofit/>
          </a:bodyPr>
          <a:lstStyle/>
          <a:p>
            <a:pPr marL="0" indent="0" algn="ctr">
              <a:buNone/>
            </a:pPr>
            <a:r>
              <a:rPr lang="en-US" sz="1220" dirty="0">
                <a:solidFill>
                  <a:srgbClr val="112B36"/>
                </a:solidFill>
                <a:latin typeface="Aptos" pitchFamily="34" charset="0"/>
                <a:ea typeface="Aptos" pitchFamily="34" charset="-122"/>
                <a:cs typeface="Aptos" pitchFamily="34" charset="-120"/>
              </a:rPr>
              <a:t>Verification + responsibility</a:t>
            </a:r>
            <a:endParaRPr lang="en-US" sz="1220" dirty="0"/>
          </a:p>
        </p:txBody>
      </p:sp>
      <p:sp>
        <p:nvSpPr>
          <p:cNvPr id="25" name="Text 23"/>
          <p:cNvSpPr/>
          <p:nvPr/>
        </p:nvSpPr>
        <p:spPr>
          <a:xfrm>
            <a:off x="914400" y="5486400"/>
            <a:ext cx="10058400" cy="320040"/>
          </a:xfrm>
          <a:prstGeom prst="rect">
            <a:avLst/>
          </a:prstGeom>
          <a:noFill/>
          <a:ln/>
        </p:spPr>
        <p:txBody>
          <a:bodyPr wrap="square" lIns="0" tIns="0" rIns="0" bIns="0" rtlCol="0" anchor="ctr"/>
          <a:lstStyle/>
          <a:p>
            <a:pPr marL="0" indent="0" algn="ctr">
              <a:buNone/>
            </a:pP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a_detailed_conceptual_illustration_of_research_re_batch_2.png"/>
          <p:cNvPicPr>
            <a:picLocks noChangeAspect="1"/>
          </p:cNvPicPr>
          <p:nvPr/>
        </p:nvPicPr>
        <p:blipFill>
          <a:blip r:embed="rId3"/>
          <a:srcRect l="25113" r="25113"/>
          <a:stretch/>
        </p:blipFill>
        <p:spPr>
          <a:xfrm>
            <a:off x="6126480" y="0"/>
            <a:ext cx="6065215" cy="6858000"/>
          </a:xfrm>
          <a:prstGeom prst="rect">
            <a:avLst/>
          </a:prstGeom>
        </p:spPr>
      </p:pic>
      <p:sp>
        <p:nvSpPr>
          <p:cNvPr id="3" name="Text 0"/>
          <p:cNvSpPr/>
          <p:nvPr/>
        </p:nvSpPr>
        <p:spPr>
          <a:xfrm>
            <a:off x="713232" y="1143000"/>
            <a:ext cx="2926080" cy="256032"/>
          </a:xfrm>
          <a:prstGeom prst="rect">
            <a:avLst/>
          </a:prstGeom>
          <a:noFill/>
          <a:ln/>
        </p:spPr>
        <p:txBody>
          <a:bodyPr wrap="square" lIns="0" tIns="0" rIns="0" bIns="0" rtlCol="0" anchor="ctr"/>
          <a:lstStyle/>
          <a:p>
            <a:pPr marL="0" indent="0">
              <a:buNone/>
            </a:pPr>
            <a:r>
              <a:rPr lang="en-US" sz="1050" b="1" dirty="0">
                <a:solidFill>
                  <a:srgbClr val="C8A15A"/>
                </a:solidFill>
                <a:latin typeface="Aptos" pitchFamily="34" charset="0"/>
                <a:ea typeface="Aptos" pitchFamily="34" charset="-122"/>
                <a:cs typeface="Aptos" pitchFamily="34" charset="-120"/>
              </a:rPr>
              <a:t>APPLICATION</a:t>
            </a:r>
            <a:endParaRPr lang="en-US" sz="1050" dirty="0"/>
          </a:p>
        </p:txBody>
      </p:sp>
      <p:sp>
        <p:nvSpPr>
          <p:cNvPr id="4" name="Text 1"/>
          <p:cNvSpPr/>
          <p:nvPr/>
        </p:nvSpPr>
        <p:spPr>
          <a:xfrm>
            <a:off x="685800" y="1536192"/>
            <a:ext cx="4892040" cy="1463040"/>
          </a:xfrm>
          <a:prstGeom prst="rect">
            <a:avLst/>
          </a:prstGeom>
          <a:noFill/>
          <a:ln/>
        </p:spPr>
        <p:txBody>
          <a:bodyPr wrap="square" lIns="0" tIns="0" rIns="0" bIns="0" rtlCol="0" anchor="ctr">
            <a:normAutofit/>
          </a:bodyP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Retractions as learning opportunities</a:t>
            </a:r>
            <a:endParaRPr lang="en-US" sz="3400" dirty="0"/>
          </a:p>
        </p:txBody>
      </p:sp>
      <p:sp>
        <p:nvSpPr>
          <p:cNvPr id="5" name="Shape 2"/>
          <p:cNvSpPr/>
          <p:nvPr/>
        </p:nvSpPr>
        <p:spPr>
          <a:xfrm>
            <a:off x="713232" y="3246120"/>
            <a:ext cx="4389120" cy="0"/>
          </a:xfrm>
          <a:prstGeom prst="line">
            <a:avLst/>
          </a:prstGeom>
          <a:noFill/>
          <a:ln w="19050">
            <a:solidFill>
              <a:srgbClr val="C8A15A"/>
            </a:solidFill>
            <a:prstDash val="solid"/>
          </a:ln>
        </p:spPr>
        <p:txBody>
          <a:bodyPr/>
          <a:lstStyle/>
          <a:p>
            <a:endParaRPr lang="en-GB"/>
          </a:p>
        </p:txBody>
      </p:sp>
      <p:sp>
        <p:nvSpPr>
          <p:cNvPr id="6" name="Text 3"/>
          <p:cNvSpPr/>
          <p:nvPr/>
        </p:nvSpPr>
        <p:spPr>
          <a:xfrm>
            <a:off x="713232" y="6263640"/>
            <a:ext cx="457200" cy="274320"/>
          </a:xfrm>
          <a:prstGeom prst="rect">
            <a:avLst/>
          </a:prstGeom>
          <a:noFill/>
          <a:ln/>
        </p:spPr>
        <p:txBody>
          <a:bodyPr wrap="square" lIns="0" tIns="0" rIns="0" bIns="0" rtlCol="0" anchor="ctr"/>
          <a:lstStyle/>
          <a:p>
            <a:pPr marL="0" indent="0">
              <a:buNone/>
            </a:pPr>
            <a:r>
              <a:rPr lang="en-US" sz="800" dirty="0">
                <a:solidFill>
                  <a:srgbClr val="FFFFFF"/>
                </a:solidFill>
                <a:latin typeface="Aptos" pitchFamily="34" charset="0"/>
                <a:ea typeface="Aptos" pitchFamily="34" charset="-122"/>
                <a:cs typeface="Aptos" pitchFamily="34" charset="-120"/>
              </a:rPr>
              <a:t>18</a:t>
            </a:r>
            <a:endParaRPr lang="en-US" sz="800" dirty="0"/>
          </a:p>
        </p:txBody>
      </p:sp>
      <p:sp>
        <p:nvSpPr>
          <p:cNvPr id="7" name="Text 4"/>
          <p:cNvSpPr/>
          <p:nvPr/>
        </p:nvSpPr>
        <p:spPr>
          <a:xfrm>
            <a:off x="749808" y="3703320"/>
            <a:ext cx="4937760" cy="914400"/>
          </a:xfrm>
          <a:prstGeom prst="rect">
            <a:avLst/>
          </a:prstGeom>
          <a:noFill/>
          <a:ln/>
        </p:spPr>
        <p:txBody>
          <a:bodyPr wrap="square" lIns="0" tIns="0" rIns="0" bIns="0" rtlCol="0" anchor="ctr">
            <a:normAutofit lnSpcReduction="10000"/>
          </a:bodyPr>
          <a:lstStyle/>
          <a:p>
            <a:pPr marL="0" indent="0">
              <a:buNone/>
            </a:pPr>
            <a:r>
              <a:rPr lang="en-US" sz="2200" b="1" dirty="0">
                <a:solidFill>
                  <a:srgbClr val="FFFFFF"/>
                </a:solidFill>
                <a:latin typeface="Aptos Display" pitchFamily="34" charset="0"/>
                <a:ea typeface="Aptos Display" pitchFamily="34" charset="-122"/>
                <a:cs typeface="Aptos Display" pitchFamily="34" charset="-120"/>
              </a:rPr>
              <a:t>They help us understand quality assurance, accountability and self-correction.</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19</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Learning from a retraction</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A simple analysis sequence to consider when writing an academic piece of work…</a:t>
            </a:r>
            <a:endParaRPr lang="en-US" sz="1300" dirty="0"/>
          </a:p>
        </p:txBody>
      </p:sp>
      <p:sp>
        <p:nvSpPr>
          <p:cNvPr id="7" name="Text 5"/>
          <p:cNvSpPr/>
          <p:nvPr/>
        </p:nvSpPr>
        <p:spPr>
          <a:xfrm>
            <a:off x="822960" y="1874520"/>
            <a:ext cx="566928" cy="566928"/>
          </a:xfrm>
          <a:prstGeom prst="rect">
            <a:avLst/>
          </a:prstGeom>
          <a:solidFill>
            <a:srgbClr val="174B4A"/>
          </a:solidFill>
          <a:ln>
            <a:solidFill>
              <a:srgbClr val="174B4A"/>
            </a:solidFill>
          </a:ln>
        </p:spPr>
        <p:txBody>
          <a:bodyPr wrap="square" lIns="0" tIns="0" rIns="0" bIns="0" rtlCol="0" anchor="ctr"/>
          <a:lstStyle/>
          <a:p>
            <a:pPr marL="0" indent="0" algn="ctr">
              <a:buNone/>
            </a:pPr>
            <a:r>
              <a:rPr lang="en-US" sz="1900" b="1" dirty="0">
                <a:solidFill>
                  <a:srgbClr val="FFFFFF"/>
                </a:solidFill>
                <a:latin typeface="Aptos Display" pitchFamily="34" charset="0"/>
                <a:ea typeface="Aptos Display" pitchFamily="34" charset="-122"/>
                <a:cs typeface="Aptos Display" pitchFamily="34" charset="-120"/>
              </a:rPr>
              <a:t>1</a:t>
            </a:r>
            <a:endParaRPr lang="en-US" sz="1900" dirty="0"/>
          </a:p>
        </p:txBody>
      </p:sp>
      <p:sp>
        <p:nvSpPr>
          <p:cNvPr id="8" name="Text 6"/>
          <p:cNvSpPr/>
          <p:nvPr/>
        </p:nvSpPr>
        <p:spPr>
          <a:xfrm>
            <a:off x="822960" y="2670048"/>
            <a:ext cx="2331720" cy="320040"/>
          </a:xfrm>
          <a:prstGeom prst="rect">
            <a:avLst/>
          </a:prstGeom>
          <a:noFill/>
          <a:ln/>
        </p:spPr>
        <p:txBody>
          <a:bodyPr wrap="square" lIns="0" tIns="0" rIns="0" bIns="0" rtlCol="0" anchor="ctr"/>
          <a:lstStyle/>
          <a:p>
            <a:pPr marL="0" indent="0">
              <a:buNone/>
            </a:pPr>
            <a:r>
              <a:rPr lang="en-US" sz="1800" b="1" dirty="0">
                <a:solidFill>
                  <a:srgbClr val="112B36"/>
                </a:solidFill>
                <a:latin typeface="Aptos Display" pitchFamily="34" charset="0"/>
                <a:ea typeface="Aptos Display" pitchFamily="34" charset="-122"/>
                <a:cs typeface="Aptos Display" pitchFamily="34" charset="-120"/>
              </a:rPr>
              <a:t>Identify</a:t>
            </a:r>
            <a:endParaRPr lang="en-US" sz="1800" dirty="0"/>
          </a:p>
        </p:txBody>
      </p:sp>
      <p:sp>
        <p:nvSpPr>
          <p:cNvPr id="9" name="Text 7"/>
          <p:cNvSpPr/>
          <p:nvPr/>
        </p:nvSpPr>
        <p:spPr>
          <a:xfrm>
            <a:off x="822960" y="3127248"/>
            <a:ext cx="2331720" cy="731520"/>
          </a:xfrm>
          <a:prstGeom prst="rect">
            <a:avLst/>
          </a:prstGeom>
          <a:noFill/>
          <a:ln/>
        </p:spPr>
        <p:txBody>
          <a:bodyPr wrap="square" lIns="0" tIns="0" rIns="0" bIns="0" rtlCol="0" anchor="ctr"/>
          <a:lstStyle/>
          <a:p>
            <a:pPr marL="0" indent="0">
              <a:buNone/>
            </a:pPr>
            <a:r>
              <a:rPr lang="en-US" sz="1400" dirty="0">
                <a:solidFill>
                  <a:srgbClr val="50636B"/>
                </a:solidFill>
                <a:latin typeface="Aptos" pitchFamily="34" charset="0"/>
                <a:ea typeface="Aptos" pitchFamily="34" charset="-122"/>
                <a:cs typeface="Aptos" pitchFamily="34" charset="-120"/>
              </a:rPr>
              <a:t>What ethical issue is at stake?</a:t>
            </a:r>
            <a:endParaRPr lang="en-US" sz="1400" dirty="0"/>
          </a:p>
        </p:txBody>
      </p:sp>
      <p:sp>
        <p:nvSpPr>
          <p:cNvPr id="10" name="Text 8"/>
          <p:cNvSpPr/>
          <p:nvPr/>
        </p:nvSpPr>
        <p:spPr>
          <a:xfrm>
            <a:off x="3611880" y="1874520"/>
            <a:ext cx="566928" cy="566928"/>
          </a:xfrm>
          <a:prstGeom prst="rect">
            <a:avLst/>
          </a:prstGeom>
          <a:solidFill>
            <a:srgbClr val="174B4A"/>
          </a:solidFill>
          <a:ln>
            <a:solidFill>
              <a:srgbClr val="174B4A"/>
            </a:solidFill>
          </a:ln>
        </p:spPr>
        <p:txBody>
          <a:bodyPr wrap="square" lIns="0" tIns="0" rIns="0" bIns="0" rtlCol="0" anchor="ctr"/>
          <a:lstStyle/>
          <a:p>
            <a:pPr marL="0" indent="0" algn="ctr">
              <a:buNone/>
            </a:pPr>
            <a:r>
              <a:rPr lang="en-US" sz="1900" b="1" dirty="0">
                <a:solidFill>
                  <a:srgbClr val="FFFFFF"/>
                </a:solidFill>
                <a:latin typeface="Aptos Display" pitchFamily="34" charset="0"/>
                <a:ea typeface="Aptos Display" pitchFamily="34" charset="-122"/>
                <a:cs typeface="Aptos Display" pitchFamily="34" charset="-120"/>
              </a:rPr>
              <a:t>2</a:t>
            </a:r>
            <a:endParaRPr lang="en-US" sz="1900" dirty="0"/>
          </a:p>
        </p:txBody>
      </p:sp>
      <p:sp>
        <p:nvSpPr>
          <p:cNvPr id="11" name="Text 9"/>
          <p:cNvSpPr/>
          <p:nvPr/>
        </p:nvSpPr>
        <p:spPr>
          <a:xfrm>
            <a:off x="3611880" y="2670048"/>
            <a:ext cx="2331720" cy="320040"/>
          </a:xfrm>
          <a:prstGeom prst="rect">
            <a:avLst/>
          </a:prstGeom>
          <a:noFill/>
          <a:ln/>
        </p:spPr>
        <p:txBody>
          <a:bodyPr wrap="square" lIns="0" tIns="0" rIns="0" bIns="0" rtlCol="0" anchor="ctr"/>
          <a:lstStyle/>
          <a:p>
            <a:pPr marL="0" indent="0">
              <a:buNone/>
            </a:pPr>
            <a:r>
              <a:rPr lang="en-US" sz="1800" b="1" dirty="0">
                <a:solidFill>
                  <a:srgbClr val="112B36"/>
                </a:solidFill>
                <a:latin typeface="Aptos Display" pitchFamily="34" charset="0"/>
                <a:ea typeface="Aptos Display" pitchFamily="34" charset="-122"/>
                <a:cs typeface="Aptos Display" pitchFamily="34" charset="-120"/>
              </a:rPr>
              <a:t>Stakeholders</a:t>
            </a:r>
            <a:endParaRPr lang="en-US" sz="1800" dirty="0"/>
          </a:p>
        </p:txBody>
      </p:sp>
      <p:sp>
        <p:nvSpPr>
          <p:cNvPr id="12" name="Text 10"/>
          <p:cNvSpPr/>
          <p:nvPr/>
        </p:nvSpPr>
        <p:spPr>
          <a:xfrm>
            <a:off x="3611880" y="3127248"/>
            <a:ext cx="2331720" cy="731520"/>
          </a:xfrm>
          <a:prstGeom prst="rect">
            <a:avLst/>
          </a:prstGeom>
          <a:noFill/>
          <a:ln/>
        </p:spPr>
        <p:txBody>
          <a:bodyPr wrap="square" lIns="0" tIns="0" rIns="0" bIns="0" rtlCol="0" anchor="ctr"/>
          <a:lstStyle/>
          <a:p>
            <a:pPr marL="0" indent="0">
              <a:buNone/>
            </a:pPr>
            <a:r>
              <a:rPr lang="en-US" sz="1400" dirty="0">
                <a:solidFill>
                  <a:srgbClr val="50636B"/>
                </a:solidFill>
                <a:latin typeface="Aptos" pitchFamily="34" charset="0"/>
                <a:ea typeface="Aptos" pitchFamily="34" charset="-122"/>
                <a:cs typeface="Aptos" pitchFamily="34" charset="-120"/>
              </a:rPr>
              <a:t>Who can be affected?</a:t>
            </a:r>
            <a:endParaRPr lang="en-US" sz="1400" dirty="0"/>
          </a:p>
        </p:txBody>
      </p:sp>
      <p:sp>
        <p:nvSpPr>
          <p:cNvPr id="13" name="Text 11"/>
          <p:cNvSpPr/>
          <p:nvPr/>
        </p:nvSpPr>
        <p:spPr>
          <a:xfrm>
            <a:off x="6400800" y="1874520"/>
            <a:ext cx="566928" cy="566928"/>
          </a:xfrm>
          <a:prstGeom prst="rect">
            <a:avLst/>
          </a:prstGeom>
          <a:solidFill>
            <a:srgbClr val="174B4A"/>
          </a:solidFill>
          <a:ln>
            <a:solidFill>
              <a:srgbClr val="174B4A"/>
            </a:solidFill>
          </a:ln>
        </p:spPr>
        <p:txBody>
          <a:bodyPr wrap="square" lIns="0" tIns="0" rIns="0" bIns="0" rtlCol="0" anchor="ctr"/>
          <a:lstStyle/>
          <a:p>
            <a:pPr marL="0" indent="0" algn="ctr">
              <a:buNone/>
            </a:pPr>
            <a:r>
              <a:rPr lang="en-US" sz="1900" b="1" dirty="0">
                <a:solidFill>
                  <a:srgbClr val="FFFFFF"/>
                </a:solidFill>
                <a:latin typeface="Aptos Display" pitchFamily="34" charset="0"/>
                <a:ea typeface="Aptos Display" pitchFamily="34" charset="-122"/>
                <a:cs typeface="Aptos Display" pitchFamily="34" charset="-120"/>
              </a:rPr>
              <a:t>3</a:t>
            </a:r>
            <a:endParaRPr lang="en-US" sz="1900" dirty="0"/>
          </a:p>
        </p:txBody>
      </p:sp>
      <p:sp>
        <p:nvSpPr>
          <p:cNvPr id="14" name="Text 12"/>
          <p:cNvSpPr/>
          <p:nvPr/>
        </p:nvSpPr>
        <p:spPr>
          <a:xfrm>
            <a:off x="6400800" y="2670048"/>
            <a:ext cx="2331720" cy="320040"/>
          </a:xfrm>
          <a:prstGeom prst="rect">
            <a:avLst/>
          </a:prstGeom>
          <a:noFill/>
          <a:ln/>
        </p:spPr>
        <p:txBody>
          <a:bodyPr wrap="square" lIns="0" tIns="0" rIns="0" bIns="0" rtlCol="0" anchor="ctr"/>
          <a:lstStyle/>
          <a:p>
            <a:pPr marL="0" indent="0">
              <a:buNone/>
            </a:pPr>
            <a:r>
              <a:rPr lang="en-US" sz="1800" b="1" dirty="0">
                <a:solidFill>
                  <a:srgbClr val="112B36"/>
                </a:solidFill>
                <a:latin typeface="Aptos Display" pitchFamily="34" charset="0"/>
                <a:ea typeface="Aptos Display" pitchFamily="34" charset="-122"/>
                <a:cs typeface="Aptos Display" pitchFamily="34" charset="-120"/>
              </a:rPr>
              <a:t>Consequences</a:t>
            </a:r>
            <a:endParaRPr lang="en-US" sz="1800" dirty="0"/>
          </a:p>
        </p:txBody>
      </p:sp>
      <p:sp>
        <p:nvSpPr>
          <p:cNvPr id="15" name="Text 13"/>
          <p:cNvSpPr/>
          <p:nvPr/>
        </p:nvSpPr>
        <p:spPr>
          <a:xfrm>
            <a:off x="6400800" y="3127248"/>
            <a:ext cx="2331720" cy="731520"/>
          </a:xfrm>
          <a:prstGeom prst="rect">
            <a:avLst/>
          </a:prstGeom>
          <a:noFill/>
          <a:ln/>
        </p:spPr>
        <p:txBody>
          <a:bodyPr wrap="square" lIns="0" tIns="0" rIns="0" bIns="0" rtlCol="0" anchor="ctr"/>
          <a:lstStyle/>
          <a:p>
            <a:pPr marL="0" indent="0">
              <a:buNone/>
            </a:pPr>
            <a:r>
              <a:rPr lang="en-US" sz="1400" dirty="0">
                <a:solidFill>
                  <a:srgbClr val="50636B"/>
                </a:solidFill>
                <a:latin typeface="Aptos" pitchFamily="34" charset="0"/>
                <a:ea typeface="Aptos" pitchFamily="34" charset="-122"/>
                <a:cs typeface="Aptos" pitchFamily="34" charset="-120"/>
              </a:rPr>
              <a:t>What damage can result?</a:t>
            </a:r>
            <a:endParaRPr lang="en-US" sz="1400" dirty="0"/>
          </a:p>
        </p:txBody>
      </p:sp>
      <p:sp>
        <p:nvSpPr>
          <p:cNvPr id="16" name="Text 14"/>
          <p:cNvSpPr/>
          <p:nvPr/>
        </p:nvSpPr>
        <p:spPr>
          <a:xfrm>
            <a:off x="9189720" y="1874520"/>
            <a:ext cx="566928" cy="566928"/>
          </a:xfrm>
          <a:prstGeom prst="rect">
            <a:avLst/>
          </a:prstGeom>
          <a:solidFill>
            <a:srgbClr val="174B4A"/>
          </a:solidFill>
          <a:ln>
            <a:solidFill>
              <a:srgbClr val="174B4A"/>
            </a:solidFill>
          </a:ln>
        </p:spPr>
        <p:txBody>
          <a:bodyPr wrap="square" lIns="0" tIns="0" rIns="0" bIns="0" rtlCol="0" anchor="ctr"/>
          <a:lstStyle/>
          <a:p>
            <a:pPr marL="0" indent="0" algn="ctr">
              <a:buNone/>
            </a:pPr>
            <a:r>
              <a:rPr lang="en-US" sz="1900" b="1" dirty="0">
                <a:solidFill>
                  <a:srgbClr val="FFFFFF"/>
                </a:solidFill>
                <a:latin typeface="Aptos Display" pitchFamily="34" charset="0"/>
                <a:ea typeface="Aptos Display" pitchFamily="34" charset="-122"/>
                <a:cs typeface="Aptos Display" pitchFamily="34" charset="-120"/>
              </a:rPr>
              <a:t>4</a:t>
            </a:r>
            <a:endParaRPr lang="en-US" sz="1900" dirty="0"/>
          </a:p>
        </p:txBody>
      </p:sp>
      <p:sp>
        <p:nvSpPr>
          <p:cNvPr id="17" name="Text 15"/>
          <p:cNvSpPr/>
          <p:nvPr/>
        </p:nvSpPr>
        <p:spPr>
          <a:xfrm>
            <a:off x="9189720" y="2670048"/>
            <a:ext cx="2331720" cy="320040"/>
          </a:xfrm>
          <a:prstGeom prst="rect">
            <a:avLst/>
          </a:prstGeom>
          <a:noFill/>
          <a:ln/>
        </p:spPr>
        <p:txBody>
          <a:bodyPr wrap="square" lIns="0" tIns="0" rIns="0" bIns="0" rtlCol="0" anchor="ctr"/>
          <a:lstStyle/>
          <a:p>
            <a:pPr marL="0" indent="0">
              <a:buNone/>
            </a:pPr>
            <a:r>
              <a:rPr lang="en-US" sz="1800" b="1" dirty="0">
                <a:solidFill>
                  <a:srgbClr val="112B36"/>
                </a:solidFill>
                <a:latin typeface="Aptos Display" pitchFamily="34" charset="0"/>
                <a:ea typeface="Aptos Display" pitchFamily="34" charset="-122"/>
                <a:cs typeface="Aptos Display" pitchFamily="34" charset="-120"/>
              </a:rPr>
              <a:t>Prevention</a:t>
            </a:r>
            <a:endParaRPr lang="en-US" sz="1800" dirty="0"/>
          </a:p>
        </p:txBody>
      </p:sp>
      <p:sp>
        <p:nvSpPr>
          <p:cNvPr id="18" name="Text 16"/>
          <p:cNvSpPr/>
          <p:nvPr/>
        </p:nvSpPr>
        <p:spPr>
          <a:xfrm>
            <a:off x="9189720" y="3127248"/>
            <a:ext cx="2331720" cy="731520"/>
          </a:xfrm>
          <a:prstGeom prst="rect">
            <a:avLst/>
          </a:prstGeom>
          <a:noFill/>
          <a:ln/>
        </p:spPr>
        <p:txBody>
          <a:bodyPr wrap="square" lIns="0" tIns="0" rIns="0" bIns="0" rtlCol="0" anchor="ctr"/>
          <a:lstStyle/>
          <a:p>
            <a:pPr marL="0" indent="0">
              <a:buNone/>
            </a:pPr>
            <a:r>
              <a:rPr lang="en-US" sz="1400" dirty="0">
                <a:solidFill>
                  <a:srgbClr val="50636B"/>
                </a:solidFill>
                <a:latin typeface="Aptos" pitchFamily="34" charset="0"/>
                <a:ea typeface="Aptos" pitchFamily="34" charset="-122"/>
                <a:cs typeface="Aptos" pitchFamily="34" charset="-120"/>
              </a:rPr>
              <a:t>What safeguards would help?</a:t>
            </a:r>
            <a:endParaRPr lang="en-US" sz="1400" dirty="0"/>
          </a:p>
        </p:txBody>
      </p:sp>
      <p:sp>
        <p:nvSpPr>
          <p:cNvPr id="19" name="Text 17"/>
          <p:cNvSpPr/>
          <p:nvPr/>
        </p:nvSpPr>
        <p:spPr>
          <a:xfrm>
            <a:off x="1051560" y="5349240"/>
            <a:ext cx="9875520" cy="457200"/>
          </a:xfrm>
          <a:prstGeom prst="rect">
            <a:avLst/>
          </a:prstGeom>
          <a:noFill/>
          <a:ln/>
        </p:spPr>
        <p:txBody>
          <a:bodyPr wrap="square" lIns="0" tIns="0" rIns="0" bIns="0" rtlCol="0" anchor="ctr"/>
          <a:lstStyle/>
          <a:p>
            <a:pPr marL="0" indent="0" algn="ctr">
              <a:buNone/>
            </a:pPr>
            <a:r>
              <a:rPr lang="en-US" sz="2200" b="1" dirty="0">
                <a:solidFill>
                  <a:srgbClr val="174B4A"/>
                </a:solidFill>
                <a:latin typeface="Aptos Display" pitchFamily="34" charset="0"/>
                <a:ea typeface="Aptos Display" pitchFamily="34" charset="-122"/>
                <a:cs typeface="Aptos Display" pitchFamily="34" charset="-120"/>
              </a:rPr>
              <a:t>This converts a news report into an ethics-learning exercise.</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20</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Future challenges</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Ethical debates will keep shifting</a:t>
            </a:r>
            <a:endParaRPr lang="en-US" sz="1300" dirty="0"/>
          </a:p>
        </p:txBody>
      </p:sp>
      <p:sp>
        <p:nvSpPr>
          <p:cNvPr id="7" name="Text 5"/>
          <p:cNvSpPr/>
          <p:nvPr/>
        </p:nvSpPr>
        <p:spPr>
          <a:xfrm>
            <a:off x="868680" y="1737360"/>
            <a:ext cx="4754880" cy="114300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AI
</a:t>
            </a:r>
            <a:r>
              <a:rPr lang="en-US" sz="1350" dirty="0">
                <a:solidFill>
                  <a:srgbClr val="112B36"/>
                </a:solidFill>
                <a:latin typeface="Aptos" pitchFamily="34" charset="0"/>
                <a:ea typeface="Aptos" pitchFamily="34" charset="-122"/>
                <a:cs typeface="Aptos" pitchFamily="34" charset="-120"/>
              </a:rPr>
              <a:t>Verification, disclosure and fabricated citations</a:t>
            </a:r>
            <a:endParaRPr lang="en-US" sz="1350" dirty="0"/>
          </a:p>
        </p:txBody>
      </p:sp>
      <p:sp>
        <p:nvSpPr>
          <p:cNvPr id="8" name="Text 6"/>
          <p:cNvSpPr/>
          <p:nvPr/>
        </p:nvSpPr>
        <p:spPr>
          <a:xfrm>
            <a:off x="6355080" y="1737360"/>
            <a:ext cx="4754880" cy="1143000"/>
          </a:xfrm>
          <a:prstGeom prst="rect">
            <a:avLst/>
          </a:prstGeom>
          <a:solidFill>
            <a:srgbClr val="EEF4F2"/>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Open science
</a:t>
            </a:r>
            <a:r>
              <a:rPr lang="en-US" sz="1350" dirty="0">
                <a:solidFill>
                  <a:srgbClr val="112B36"/>
                </a:solidFill>
                <a:latin typeface="Aptos" pitchFamily="34" charset="0"/>
                <a:ea typeface="Aptos" pitchFamily="34" charset="-122"/>
                <a:cs typeface="Aptos" pitchFamily="34" charset="-120"/>
              </a:rPr>
              <a:t>Transparency balanced with privacy and quality</a:t>
            </a:r>
            <a:endParaRPr lang="en-US" sz="1350" dirty="0"/>
          </a:p>
        </p:txBody>
      </p:sp>
      <p:sp>
        <p:nvSpPr>
          <p:cNvPr id="9" name="Text 7"/>
          <p:cNvSpPr/>
          <p:nvPr/>
        </p:nvSpPr>
        <p:spPr>
          <a:xfrm>
            <a:off x="868680" y="3337560"/>
            <a:ext cx="4754880" cy="114300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Predatory publishing
</a:t>
            </a:r>
            <a:r>
              <a:rPr lang="en-US" sz="1350" dirty="0">
                <a:solidFill>
                  <a:srgbClr val="112B36"/>
                </a:solidFill>
                <a:latin typeface="Aptos" pitchFamily="34" charset="0"/>
                <a:ea typeface="Aptos" pitchFamily="34" charset="-122"/>
                <a:cs typeface="Aptos" pitchFamily="34" charset="-120"/>
              </a:rPr>
              <a:t>Misleading journals and publication traps</a:t>
            </a:r>
            <a:endParaRPr lang="en-US" sz="1350" dirty="0"/>
          </a:p>
        </p:txBody>
      </p:sp>
      <p:sp>
        <p:nvSpPr>
          <p:cNvPr id="10" name="Text 8"/>
          <p:cNvSpPr/>
          <p:nvPr/>
        </p:nvSpPr>
        <p:spPr>
          <a:xfrm>
            <a:off x="6355080" y="3337560"/>
            <a:ext cx="4754880" cy="1143000"/>
          </a:xfrm>
          <a:prstGeom prst="rect">
            <a:avLst/>
          </a:prstGeom>
          <a:solidFill>
            <a:srgbClr val="EEF4F2"/>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Publication pressure
</a:t>
            </a:r>
            <a:r>
              <a:rPr lang="en-US" sz="1350" dirty="0">
                <a:solidFill>
                  <a:srgbClr val="112B36"/>
                </a:solidFill>
                <a:latin typeface="Aptos" pitchFamily="34" charset="0"/>
                <a:ea typeface="Aptos" pitchFamily="34" charset="-122"/>
                <a:cs typeface="Aptos" pitchFamily="34" charset="-120"/>
              </a:rPr>
              <a:t>Quantity incentives versus responsible scholarship</a:t>
            </a:r>
            <a:endParaRPr lang="en-US" sz="1350" dirty="0"/>
          </a:p>
        </p:txBody>
      </p:sp>
      <p:sp>
        <p:nvSpPr>
          <p:cNvPr id="11" name="Text 9"/>
          <p:cNvSpPr/>
          <p:nvPr/>
        </p:nvSpPr>
        <p:spPr>
          <a:xfrm>
            <a:off x="914400" y="5349240"/>
            <a:ext cx="10058400" cy="502920"/>
          </a:xfrm>
          <a:prstGeom prst="rect">
            <a:avLst/>
          </a:prstGeom>
          <a:noFill/>
          <a:ln/>
        </p:spPr>
        <p:txBody>
          <a:bodyPr wrap="square" lIns="0" tIns="0" rIns="0" bIns="0" rtlCol="0" anchor="ctr"/>
          <a:lstStyle/>
          <a:p>
            <a:pPr marL="0" indent="0" algn="ctr">
              <a:buNone/>
            </a:pPr>
            <a:r>
              <a:rPr lang="en-US" sz="2100" b="1" dirty="0">
                <a:solidFill>
                  <a:srgbClr val="174B4A"/>
                </a:solidFill>
                <a:latin typeface="Aptos Display" pitchFamily="34" charset="0"/>
                <a:ea typeface="Aptos Display" pitchFamily="34" charset="-122"/>
                <a:cs typeface="Aptos Display" pitchFamily="34" charset="-120"/>
              </a:rPr>
              <a:t>Core principles remain stable even when technologies and publishing systems change.</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21</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Practical guidelines for students</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Eight habits that reduce integrity risk</a:t>
            </a:r>
            <a:endParaRPr lang="en-US" sz="1300" dirty="0"/>
          </a:p>
        </p:txBody>
      </p:sp>
      <p:sp>
        <p:nvSpPr>
          <p:cNvPr id="7" name="Text 5"/>
          <p:cNvSpPr/>
          <p:nvPr/>
        </p:nvSpPr>
        <p:spPr>
          <a:xfrm>
            <a:off x="777240" y="1645920"/>
            <a:ext cx="2240280" cy="594360"/>
          </a:xfrm>
          <a:prstGeom prst="rect">
            <a:avLst/>
          </a:prstGeom>
          <a:solidFill>
            <a:srgbClr val="FFFFFF"/>
          </a:solidFill>
          <a:ln>
            <a:solidFill>
              <a:srgbClr val="D9E1DF"/>
            </a:solidFill>
          </a:ln>
        </p:spPr>
        <p:txBody>
          <a:bodyPr wrap="square" lIns="1270" tIns="1270" rIns="1270" bIns="1270" rtlCol="0" anchor="ctr">
            <a:normAutofit/>
          </a:bodyPr>
          <a:lstStyle/>
          <a:p>
            <a:pPr marL="0" indent="0" algn="ctr">
              <a:buNone/>
            </a:pPr>
            <a:r>
              <a:rPr lang="en-US" sz="1600" b="1" dirty="0">
                <a:solidFill>
                  <a:srgbClr val="112B36"/>
                </a:solidFill>
                <a:latin typeface="Aptos Display" pitchFamily="34" charset="0"/>
                <a:ea typeface="Aptos Display" pitchFamily="34" charset="-122"/>
                <a:cs typeface="Aptos Display" pitchFamily="34" charset="-120"/>
              </a:rPr>
              <a:t>Keep records</a:t>
            </a:r>
            <a:endParaRPr lang="en-US" sz="1600" dirty="0"/>
          </a:p>
        </p:txBody>
      </p:sp>
      <p:sp>
        <p:nvSpPr>
          <p:cNvPr id="8" name="Text 6"/>
          <p:cNvSpPr/>
          <p:nvPr/>
        </p:nvSpPr>
        <p:spPr>
          <a:xfrm>
            <a:off x="3566160" y="1645920"/>
            <a:ext cx="2240280" cy="594360"/>
          </a:xfrm>
          <a:prstGeom prst="rect">
            <a:avLst/>
          </a:prstGeom>
          <a:solidFill>
            <a:srgbClr val="174B4A"/>
          </a:solidFill>
          <a:ln>
            <a:solidFill>
              <a:srgbClr val="D9E1DF"/>
            </a:solidFill>
          </a:ln>
        </p:spPr>
        <p:txBody>
          <a:bodyPr wrap="square" lIns="1270" tIns="1270" rIns="1270" bIns="1270" rtlCol="0" anchor="ctr">
            <a:normAutofit/>
          </a:bodyPr>
          <a:lstStyle/>
          <a:p>
            <a:pPr marL="0" indent="0" algn="ctr">
              <a:buNone/>
            </a:pPr>
            <a:r>
              <a:rPr lang="en-US" sz="1600" b="1" dirty="0">
                <a:solidFill>
                  <a:srgbClr val="FFFFFF"/>
                </a:solidFill>
                <a:latin typeface="Aptos Display" pitchFamily="34" charset="0"/>
                <a:ea typeface="Aptos Display" pitchFamily="34" charset="-122"/>
                <a:cs typeface="Aptos Display" pitchFamily="34" charset="-120"/>
              </a:rPr>
              <a:t>Cite sources</a:t>
            </a:r>
            <a:endParaRPr lang="en-US" sz="1600" dirty="0"/>
          </a:p>
        </p:txBody>
      </p:sp>
      <p:sp>
        <p:nvSpPr>
          <p:cNvPr id="9" name="Text 7"/>
          <p:cNvSpPr/>
          <p:nvPr/>
        </p:nvSpPr>
        <p:spPr>
          <a:xfrm>
            <a:off x="6355080" y="1645920"/>
            <a:ext cx="2240280" cy="594360"/>
          </a:xfrm>
          <a:prstGeom prst="rect">
            <a:avLst/>
          </a:prstGeom>
          <a:solidFill>
            <a:srgbClr val="FFFFFF"/>
          </a:solidFill>
          <a:ln>
            <a:solidFill>
              <a:srgbClr val="D9E1DF"/>
            </a:solidFill>
          </a:ln>
        </p:spPr>
        <p:txBody>
          <a:bodyPr wrap="square" lIns="1270" tIns="1270" rIns="1270" bIns="1270" rtlCol="0" anchor="ctr">
            <a:normAutofit/>
          </a:bodyPr>
          <a:lstStyle/>
          <a:p>
            <a:pPr marL="0" indent="0" algn="ctr">
              <a:buNone/>
            </a:pPr>
            <a:r>
              <a:rPr lang="en-US" sz="1600" b="1" dirty="0">
                <a:solidFill>
                  <a:srgbClr val="112B36"/>
                </a:solidFill>
                <a:latin typeface="Aptos Display" pitchFamily="34" charset="0"/>
                <a:ea typeface="Aptos Display" pitchFamily="34" charset="-122"/>
                <a:cs typeface="Aptos Display" pitchFamily="34" charset="-120"/>
              </a:rPr>
              <a:t>Store data securely</a:t>
            </a:r>
            <a:endParaRPr lang="en-US" sz="1600" dirty="0"/>
          </a:p>
        </p:txBody>
      </p:sp>
      <p:sp>
        <p:nvSpPr>
          <p:cNvPr id="10" name="Text 8"/>
          <p:cNvSpPr/>
          <p:nvPr/>
        </p:nvSpPr>
        <p:spPr>
          <a:xfrm>
            <a:off x="9144000" y="1645920"/>
            <a:ext cx="2240280" cy="594360"/>
          </a:xfrm>
          <a:prstGeom prst="rect">
            <a:avLst/>
          </a:prstGeom>
          <a:solidFill>
            <a:srgbClr val="174B4A"/>
          </a:solidFill>
          <a:ln>
            <a:solidFill>
              <a:srgbClr val="D9E1DF"/>
            </a:solidFill>
          </a:ln>
        </p:spPr>
        <p:txBody>
          <a:bodyPr wrap="square" lIns="1270" tIns="1270" rIns="1270" bIns="1270" rtlCol="0" anchor="ctr">
            <a:normAutofit/>
          </a:bodyPr>
          <a:lstStyle/>
          <a:p>
            <a:pPr marL="0" indent="0" algn="ctr">
              <a:buNone/>
            </a:pPr>
            <a:r>
              <a:rPr lang="en-US" sz="1600" b="1" dirty="0">
                <a:solidFill>
                  <a:srgbClr val="FFFFFF"/>
                </a:solidFill>
                <a:latin typeface="Aptos Display" pitchFamily="34" charset="0"/>
                <a:ea typeface="Aptos Display" pitchFamily="34" charset="-122"/>
                <a:cs typeface="Aptos Display" pitchFamily="34" charset="-120"/>
              </a:rPr>
              <a:t>Follow approved methods</a:t>
            </a:r>
            <a:endParaRPr lang="en-US" sz="1600" dirty="0"/>
          </a:p>
        </p:txBody>
      </p:sp>
      <p:sp>
        <p:nvSpPr>
          <p:cNvPr id="11" name="Text 9"/>
          <p:cNvSpPr/>
          <p:nvPr/>
        </p:nvSpPr>
        <p:spPr>
          <a:xfrm>
            <a:off x="777240" y="2880360"/>
            <a:ext cx="2240280" cy="594360"/>
          </a:xfrm>
          <a:prstGeom prst="rect">
            <a:avLst/>
          </a:prstGeom>
          <a:solidFill>
            <a:srgbClr val="FFFFFF"/>
          </a:solidFill>
          <a:ln>
            <a:solidFill>
              <a:srgbClr val="D9E1DF"/>
            </a:solidFill>
          </a:ln>
        </p:spPr>
        <p:txBody>
          <a:bodyPr wrap="square" lIns="1270" tIns="1270" rIns="1270" bIns="1270" rtlCol="0" anchor="ctr">
            <a:normAutofit/>
          </a:bodyPr>
          <a:lstStyle/>
          <a:p>
            <a:pPr marL="0" indent="0" algn="ctr">
              <a:buNone/>
            </a:pPr>
            <a:r>
              <a:rPr lang="en-US" sz="1600" b="1" dirty="0">
                <a:solidFill>
                  <a:srgbClr val="112B36"/>
                </a:solidFill>
                <a:latin typeface="Aptos Display" pitchFamily="34" charset="0"/>
                <a:ea typeface="Aptos Display" pitchFamily="34" charset="-122"/>
                <a:cs typeface="Aptos Display" pitchFamily="34" charset="-120"/>
              </a:rPr>
              <a:t>Disclose interests</a:t>
            </a:r>
            <a:endParaRPr lang="en-US" sz="1600" dirty="0"/>
          </a:p>
        </p:txBody>
      </p:sp>
      <p:sp>
        <p:nvSpPr>
          <p:cNvPr id="12" name="Text 10"/>
          <p:cNvSpPr/>
          <p:nvPr/>
        </p:nvSpPr>
        <p:spPr>
          <a:xfrm>
            <a:off x="3566160" y="2880360"/>
            <a:ext cx="2240280" cy="594360"/>
          </a:xfrm>
          <a:prstGeom prst="rect">
            <a:avLst/>
          </a:prstGeom>
          <a:solidFill>
            <a:srgbClr val="174B4A"/>
          </a:solidFill>
          <a:ln>
            <a:solidFill>
              <a:srgbClr val="D9E1DF"/>
            </a:solidFill>
          </a:ln>
        </p:spPr>
        <p:txBody>
          <a:bodyPr wrap="square" lIns="1270" tIns="1270" rIns="1270" bIns="1270" rtlCol="0" anchor="ctr">
            <a:normAutofit/>
          </a:bodyPr>
          <a:lstStyle/>
          <a:p>
            <a:pPr marL="0" indent="0" algn="ctr">
              <a:buNone/>
            </a:pPr>
            <a:r>
              <a:rPr lang="en-US" sz="1600" b="1" dirty="0">
                <a:solidFill>
                  <a:srgbClr val="FFFFFF"/>
                </a:solidFill>
                <a:latin typeface="Aptos Display" pitchFamily="34" charset="0"/>
                <a:ea typeface="Aptos Display" pitchFamily="34" charset="-122"/>
                <a:cs typeface="Aptos Display" pitchFamily="34" charset="-120"/>
              </a:rPr>
              <a:t>Verify AI outputs</a:t>
            </a:r>
            <a:endParaRPr lang="en-US" sz="1600" dirty="0"/>
          </a:p>
        </p:txBody>
      </p:sp>
      <p:sp>
        <p:nvSpPr>
          <p:cNvPr id="13" name="Text 11"/>
          <p:cNvSpPr/>
          <p:nvPr/>
        </p:nvSpPr>
        <p:spPr>
          <a:xfrm>
            <a:off x="6355080" y="2880360"/>
            <a:ext cx="2240280" cy="594360"/>
          </a:xfrm>
          <a:prstGeom prst="rect">
            <a:avLst/>
          </a:prstGeom>
          <a:solidFill>
            <a:srgbClr val="FFFFFF"/>
          </a:solidFill>
          <a:ln>
            <a:solidFill>
              <a:srgbClr val="D9E1DF"/>
            </a:solidFill>
          </a:ln>
        </p:spPr>
        <p:txBody>
          <a:bodyPr wrap="square" lIns="1270" tIns="1270" rIns="1270" bIns="1270" rtlCol="0" anchor="ctr">
            <a:normAutofit/>
          </a:bodyPr>
          <a:lstStyle/>
          <a:p>
            <a:pPr marL="0" indent="0" algn="ctr">
              <a:buNone/>
            </a:pPr>
            <a:r>
              <a:rPr lang="en-US" sz="1600" b="1" dirty="0">
                <a:solidFill>
                  <a:srgbClr val="112B36"/>
                </a:solidFill>
                <a:latin typeface="Aptos Display" pitchFamily="34" charset="0"/>
                <a:ea typeface="Aptos Display" pitchFamily="34" charset="-122"/>
                <a:cs typeface="Aptos Display" pitchFamily="34" charset="-120"/>
              </a:rPr>
              <a:t>Report truthfully</a:t>
            </a:r>
            <a:endParaRPr lang="en-US" sz="1600" dirty="0"/>
          </a:p>
        </p:txBody>
      </p:sp>
      <p:sp>
        <p:nvSpPr>
          <p:cNvPr id="14" name="Text 12"/>
          <p:cNvSpPr/>
          <p:nvPr/>
        </p:nvSpPr>
        <p:spPr>
          <a:xfrm>
            <a:off x="9144000" y="2880360"/>
            <a:ext cx="2240280" cy="594360"/>
          </a:xfrm>
          <a:prstGeom prst="rect">
            <a:avLst/>
          </a:prstGeom>
          <a:solidFill>
            <a:srgbClr val="174B4A"/>
          </a:solidFill>
          <a:ln>
            <a:solidFill>
              <a:srgbClr val="D9E1DF"/>
            </a:solidFill>
          </a:ln>
        </p:spPr>
        <p:txBody>
          <a:bodyPr wrap="square" lIns="1270" tIns="1270" rIns="1270" bIns="1270" rtlCol="0" anchor="ctr">
            <a:normAutofit/>
          </a:bodyPr>
          <a:lstStyle/>
          <a:p>
            <a:pPr marL="0" indent="0" algn="ctr">
              <a:buNone/>
            </a:pPr>
            <a:r>
              <a:rPr lang="en-US" sz="1600" b="1" dirty="0">
                <a:solidFill>
                  <a:srgbClr val="FFFFFF"/>
                </a:solidFill>
                <a:latin typeface="Aptos Display" pitchFamily="34" charset="0"/>
                <a:ea typeface="Aptos Display" pitchFamily="34" charset="-122"/>
                <a:cs typeface="Aptos Display" pitchFamily="34" charset="-120"/>
              </a:rPr>
              <a:t>Correct mistakes</a:t>
            </a:r>
            <a:endParaRPr lang="en-US" sz="1600" dirty="0"/>
          </a:p>
        </p:txBody>
      </p:sp>
      <p:sp>
        <p:nvSpPr>
          <p:cNvPr id="15" name="Text 13"/>
          <p:cNvSpPr/>
          <p:nvPr/>
        </p:nvSpPr>
        <p:spPr>
          <a:xfrm>
            <a:off x="960120" y="4800600"/>
            <a:ext cx="9966960" cy="685800"/>
          </a:xfrm>
          <a:prstGeom prst="rect">
            <a:avLst/>
          </a:prstGeom>
          <a:noFill/>
          <a:ln/>
        </p:spPr>
        <p:txBody>
          <a:bodyPr wrap="square" lIns="0" tIns="0" rIns="0" bIns="0" rtlCol="0" anchor="ctr"/>
          <a:lstStyle/>
          <a:p>
            <a:pPr marL="0" indent="0" algn="ctr">
              <a:buNone/>
            </a:pPr>
            <a:r>
              <a:rPr lang="en-US" sz="2600" b="1" dirty="0">
                <a:solidFill>
                  <a:srgbClr val="174B4A"/>
                </a:solidFill>
                <a:latin typeface="Aptos Display" pitchFamily="34" charset="0"/>
                <a:ea typeface="Aptos Display" pitchFamily="34" charset="-122"/>
                <a:cs typeface="Aptos Display" pitchFamily="34" charset="-120"/>
              </a:rPr>
              <a:t>Good ethics is built through small repeatable practices.</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23</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Major considerations</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endParaRPr lang="en-US" sz="1300" dirty="0"/>
          </a:p>
        </p:txBody>
      </p:sp>
      <p:sp>
        <p:nvSpPr>
          <p:cNvPr id="7" name="Text 5"/>
          <p:cNvSpPr/>
          <p:nvPr/>
        </p:nvSpPr>
        <p:spPr>
          <a:xfrm>
            <a:off x="868680" y="1691640"/>
            <a:ext cx="4114800" cy="2194560"/>
          </a:xfrm>
          <a:prstGeom prst="rect">
            <a:avLst/>
          </a:prstGeom>
          <a:noFill/>
          <a:ln/>
        </p:spPr>
        <p:txBody>
          <a:bodyPr wrap="square" lIns="635" tIns="635" rIns="635" bIns="635" rtlCol="0" anchor="ctr">
            <a:normAutofit/>
          </a:bodyPr>
          <a:lstStyle/>
          <a:p>
            <a:pPr marL="0" indent="0">
              <a:buNone/>
            </a:pPr>
            <a:r>
              <a:rPr lang="en-US" sz="2000" dirty="0">
                <a:solidFill>
                  <a:srgbClr val="112B36"/>
                </a:solidFill>
                <a:latin typeface="Aptos" pitchFamily="34" charset="0"/>
                <a:ea typeface="Aptos" pitchFamily="34" charset="-122"/>
                <a:cs typeface="Aptos" pitchFamily="34" charset="-120"/>
              </a:rPr>
              <a:t>• Critical thinking
• Transparency
• Accountability
• Responsible scholarship</a:t>
            </a:r>
            <a:endParaRPr lang="en-US" sz="2000" dirty="0"/>
          </a:p>
        </p:txBody>
      </p:sp>
      <p:sp>
        <p:nvSpPr>
          <p:cNvPr id="8" name="Text 6"/>
          <p:cNvSpPr/>
          <p:nvPr/>
        </p:nvSpPr>
        <p:spPr>
          <a:xfrm>
            <a:off x="5532120" y="1691640"/>
            <a:ext cx="5349240" cy="2057400"/>
          </a:xfrm>
          <a:prstGeom prst="rect">
            <a:avLst/>
          </a:prstGeom>
          <a:solidFill>
            <a:srgbClr val="EEF4F2"/>
          </a:solidFill>
          <a:ln>
            <a:solidFill>
              <a:srgbClr val="D9E1DF"/>
            </a:solidFill>
          </a:ln>
        </p:spPr>
        <p:txBody>
          <a:bodyPr wrap="square" lIns="2286" tIns="2286" rIns="2286" bIns="2286" rtlCol="0" anchor="ctr">
            <a:normAutofit/>
          </a:bodyPr>
          <a:lstStyle/>
          <a:p>
            <a:pPr marL="0" indent="0" algn="ctr">
              <a:buNone/>
            </a:pPr>
            <a:r>
              <a:rPr lang="en-US" sz="1650" b="1" dirty="0">
                <a:solidFill>
                  <a:srgbClr val="112B36"/>
                </a:solidFill>
                <a:latin typeface="Aptos" pitchFamily="34" charset="0"/>
                <a:ea typeface="Aptos" pitchFamily="34" charset="-122"/>
                <a:cs typeface="Aptos" pitchFamily="34" charset="-120"/>
              </a:rPr>
              <a:t>My emphasis
</a:t>
            </a:r>
            <a:r>
              <a:rPr lang="en-US" sz="1650" dirty="0">
                <a:solidFill>
                  <a:srgbClr val="112B36"/>
                </a:solidFill>
                <a:latin typeface="Aptos" pitchFamily="34" charset="0"/>
                <a:ea typeface="Aptos" pitchFamily="34" charset="-122"/>
                <a:cs typeface="Aptos" pitchFamily="34" charset="-120"/>
              </a:rPr>
              <a:t>Students should evaluate these real-world misconduct cases and consider how ethical failures affect individuals, institutions and society.</a:t>
            </a:r>
            <a:endParaRPr lang="en-US" sz="1650" dirty="0"/>
          </a:p>
        </p:txBody>
      </p:sp>
      <p:sp>
        <p:nvSpPr>
          <p:cNvPr id="9" name="Text 7"/>
          <p:cNvSpPr/>
          <p:nvPr/>
        </p:nvSpPr>
        <p:spPr>
          <a:xfrm>
            <a:off x="960120" y="4983480"/>
            <a:ext cx="10058400" cy="658368"/>
          </a:xfrm>
          <a:prstGeom prst="rect">
            <a:avLst/>
          </a:prstGeom>
          <a:noFill/>
          <a:ln/>
        </p:spPr>
        <p:txBody>
          <a:bodyPr wrap="square" lIns="0" tIns="0" rIns="0" bIns="0" rtlCol="0" anchor="ctr">
            <a:normAutofit lnSpcReduction="10000"/>
          </a:bodyPr>
          <a:lstStyle/>
          <a:p>
            <a:pPr marL="0" indent="0" algn="ctr">
              <a:buNone/>
            </a:pPr>
            <a:r>
              <a:rPr lang="en-US" sz="2300" b="1" dirty="0">
                <a:solidFill>
                  <a:srgbClr val="174B4A"/>
                </a:solidFill>
                <a:latin typeface="Aptos Display" pitchFamily="34" charset="0"/>
                <a:ea typeface="Aptos Display" pitchFamily="34" charset="-122"/>
                <a:cs typeface="Aptos Display" pitchFamily="34" charset="-120"/>
              </a:rPr>
              <a:t>A strong ethical foundation early in a research career reduces the likelihood of misconduct.</a:t>
            </a:r>
            <a:endParaRPr lang="en-US" sz="2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24</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Closing lesson</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r>
              <a:rPr lang="en-US" sz="1300" dirty="0">
                <a:solidFill>
                  <a:srgbClr val="174B4A"/>
                </a:solidFill>
                <a:latin typeface="Aptos" pitchFamily="34" charset="0"/>
                <a:ea typeface="Aptos" pitchFamily="34" charset="-122"/>
                <a:cs typeface="Aptos" pitchFamily="34" charset="-120"/>
              </a:rPr>
              <a:t>Integrity before prestige</a:t>
            </a:r>
            <a:endParaRPr lang="en-US" sz="1300" dirty="0"/>
          </a:p>
        </p:txBody>
      </p:sp>
      <p:sp>
        <p:nvSpPr>
          <p:cNvPr id="7" name="Text 5"/>
          <p:cNvSpPr/>
          <p:nvPr/>
        </p:nvSpPr>
        <p:spPr>
          <a:xfrm>
            <a:off x="777240" y="1920240"/>
            <a:ext cx="10332720" cy="2331720"/>
          </a:xfrm>
          <a:prstGeom prst="rect">
            <a:avLst/>
          </a:prstGeom>
          <a:noFill/>
          <a:ln/>
        </p:spPr>
        <p:txBody>
          <a:bodyPr wrap="square" lIns="0" tIns="0" rIns="0" bIns="0" rtlCol="0" anchor="ctr">
            <a:normAutofit/>
          </a:bodyPr>
          <a:lstStyle/>
          <a:p>
            <a:pPr marL="0" indent="0">
              <a:buNone/>
            </a:pPr>
            <a:r>
              <a:rPr lang="en-US" sz="2700" b="1" dirty="0">
                <a:solidFill>
                  <a:srgbClr val="112B36"/>
                </a:solidFill>
                <a:latin typeface="Aptos Display" pitchFamily="34" charset="0"/>
                <a:ea typeface="Aptos Display" pitchFamily="34" charset="-122"/>
                <a:cs typeface="Aptos Display" pitchFamily="34" charset="-120"/>
              </a:rPr>
              <a:t>Integrity is more valuable than publication counts, grades or prestige.</a:t>
            </a:r>
          </a:p>
          <a:p>
            <a:pPr marL="0" indent="0">
              <a:buNone/>
            </a:pPr>
            <a:endParaRPr lang="en-US" sz="2700" b="1" dirty="0">
              <a:solidFill>
                <a:srgbClr val="112B36"/>
              </a:solidFill>
              <a:latin typeface="Aptos Display" pitchFamily="34" charset="0"/>
            </a:endParaRPr>
          </a:p>
          <a:p>
            <a:pPr marL="0" indent="0" algn="ctr">
              <a:buNone/>
            </a:pPr>
            <a:r>
              <a:rPr lang="en-US" sz="2700" b="1" dirty="0">
                <a:solidFill>
                  <a:srgbClr val="112B36"/>
                </a:solidFill>
                <a:latin typeface="Aptos Display" pitchFamily="34" charset="0"/>
              </a:rPr>
              <a:t>Your research output carries YOUR NAME, YOUR SUPERVISOR’S NAME and the CPUT NAME on it!</a:t>
            </a:r>
            <a:endParaRPr lang="en-US" sz="2700" dirty="0"/>
          </a:p>
        </p:txBody>
      </p:sp>
      <p:sp>
        <p:nvSpPr>
          <p:cNvPr id="8" name="Text 6"/>
          <p:cNvSpPr/>
          <p:nvPr/>
        </p:nvSpPr>
        <p:spPr>
          <a:xfrm>
            <a:off x="914400" y="4251960"/>
            <a:ext cx="2834640" cy="91440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Protect participants
</a:t>
            </a:r>
            <a:r>
              <a:rPr lang="en-US" sz="1350" dirty="0">
                <a:solidFill>
                  <a:srgbClr val="112B36"/>
                </a:solidFill>
                <a:latin typeface="Aptos" pitchFamily="34" charset="0"/>
                <a:ea typeface="Aptos" pitchFamily="34" charset="-122"/>
                <a:cs typeface="Aptos" pitchFamily="34" charset="-120"/>
              </a:rPr>
              <a:t>Respect, consent and welfare</a:t>
            </a:r>
            <a:endParaRPr lang="en-US" sz="1350" dirty="0"/>
          </a:p>
        </p:txBody>
      </p:sp>
      <p:sp>
        <p:nvSpPr>
          <p:cNvPr id="9" name="Text 7"/>
          <p:cNvSpPr/>
          <p:nvPr/>
        </p:nvSpPr>
        <p:spPr>
          <a:xfrm>
            <a:off x="4663440" y="4251960"/>
            <a:ext cx="2834640" cy="91440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Protect institutions
</a:t>
            </a:r>
            <a:r>
              <a:rPr lang="en-US" sz="1350" dirty="0">
                <a:solidFill>
                  <a:srgbClr val="112B36"/>
                </a:solidFill>
                <a:latin typeface="Aptos" pitchFamily="34" charset="0"/>
                <a:ea typeface="Aptos" pitchFamily="34" charset="-122"/>
                <a:cs typeface="Aptos" pitchFamily="34" charset="-120"/>
              </a:rPr>
              <a:t>Credibility and accountability</a:t>
            </a:r>
            <a:endParaRPr lang="en-US" sz="1350" dirty="0"/>
          </a:p>
        </p:txBody>
      </p:sp>
      <p:sp>
        <p:nvSpPr>
          <p:cNvPr id="10" name="Text 8"/>
          <p:cNvSpPr/>
          <p:nvPr/>
        </p:nvSpPr>
        <p:spPr>
          <a:xfrm>
            <a:off x="8412480" y="4251960"/>
            <a:ext cx="2834640" cy="914400"/>
          </a:xfrm>
          <a:prstGeom prst="rect">
            <a:avLst/>
          </a:prstGeom>
          <a:solidFill>
            <a:srgbClr val="FFFFFF"/>
          </a:solidFill>
          <a:ln>
            <a:solidFill>
              <a:srgbClr val="D9E1DF"/>
            </a:solidFill>
          </a:ln>
        </p:spPr>
        <p:txBody>
          <a:bodyPr wrap="square" lIns="1651" tIns="1651" rIns="1651" bIns="1651" rtlCol="0" anchor="ctr">
            <a:normAutofit/>
          </a:bodyPr>
          <a:lstStyle/>
          <a:p>
            <a:pPr marL="0" indent="0" algn="ctr">
              <a:buNone/>
            </a:pPr>
            <a:r>
              <a:rPr lang="en-US" sz="1350" b="1" dirty="0">
                <a:solidFill>
                  <a:srgbClr val="174B4A"/>
                </a:solidFill>
                <a:latin typeface="Aptos" pitchFamily="34" charset="0"/>
                <a:ea typeface="Aptos" pitchFamily="34" charset="-122"/>
                <a:cs typeface="Aptos" pitchFamily="34" charset="-120"/>
              </a:rPr>
              <a:t>Protect knowledge
</a:t>
            </a:r>
            <a:r>
              <a:rPr lang="en-US" sz="1350" dirty="0">
                <a:solidFill>
                  <a:srgbClr val="112B36"/>
                </a:solidFill>
                <a:latin typeface="Aptos" pitchFamily="34" charset="0"/>
                <a:ea typeface="Aptos" pitchFamily="34" charset="-122"/>
                <a:cs typeface="Aptos" pitchFamily="34" charset="-120"/>
              </a:rPr>
              <a:t>Trustworthy evidence</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20040" y="6510528"/>
            <a:ext cx="7498080" cy="201168"/>
          </a:xfrm>
          <a:prstGeom prst="rect">
            <a:avLst/>
          </a:prstGeom>
          <a:noFill/>
          <a:ln/>
        </p:spPr>
        <p:txBody>
          <a:bodyPr wrap="square" lIns="0" tIns="0" rIns="0" bIns="0" rtlCol="0" anchor="ctr"/>
          <a:lstStyle/>
          <a:p>
            <a:pPr marL="0" indent="0">
              <a:buNone/>
            </a:pPr>
            <a:r>
              <a:rPr lang="en-US" sz="750" dirty="0">
                <a:solidFill>
                  <a:srgbClr val="50636B"/>
                </a:solidFill>
                <a:latin typeface="Aptos" pitchFamily="34" charset="0"/>
                <a:ea typeface="Aptos" pitchFamily="34" charset="-122"/>
                <a:cs typeface="Aptos" pitchFamily="34" charset="-120"/>
              </a:rPr>
              <a:t>Research Ethics in Action</a:t>
            </a:r>
            <a:endParaRPr lang="en-US" sz="750" dirty="0"/>
          </a:p>
        </p:txBody>
      </p:sp>
      <p:sp>
        <p:nvSpPr>
          <p:cNvPr id="4" name="Text 2"/>
          <p:cNvSpPr/>
          <p:nvPr/>
        </p:nvSpPr>
        <p:spPr>
          <a:xfrm>
            <a:off x="11430000" y="6473952"/>
            <a:ext cx="411480" cy="228600"/>
          </a:xfrm>
          <a:prstGeom prst="rect">
            <a:avLst/>
          </a:prstGeom>
          <a:noFill/>
          <a:ln/>
        </p:spPr>
        <p:txBody>
          <a:bodyPr wrap="square" lIns="0" tIns="0" rIns="0" bIns="0" rtlCol="0" anchor="ctr"/>
          <a:lstStyle/>
          <a:p>
            <a:pPr marL="0" indent="0" algn="r">
              <a:buNone/>
            </a:pPr>
            <a:r>
              <a:rPr lang="en-US" sz="800" dirty="0">
                <a:solidFill>
                  <a:srgbClr val="50636B"/>
                </a:solidFill>
                <a:latin typeface="Aptos" pitchFamily="34" charset="0"/>
                <a:ea typeface="Aptos" pitchFamily="34" charset="-122"/>
                <a:cs typeface="Aptos" pitchFamily="34" charset="-120"/>
              </a:rPr>
              <a:t>25</a:t>
            </a:r>
            <a:endParaRPr lang="en-US" sz="800" dirty="0"/>
          </a:p>
        </p:txBody>
      </p:sp>
      <p:sp>
        <p:nvSpPr>
          <p:cNvPr id="5" name="Text 3"/>
          <p:cNvSpPr/>
          <p:nvPr/>
        </p:nvSpPr>
        <p:spPr>
          <a:xfrm>
            <a:off x="640080" y="438912"/>
            <a:ext cx="7680960" cy="502920"/>
          </a:xfrm>
          <a:prstGeom prst="rect">
            <a:avLst/>
          </a:prstGeom>
          <a:noFill/>
          <a:ln/>
        </p:spPr>
        <p:txBody>
          <a:bodyPr wrap="square" lIns="0" tIns="0" rIns="0" bIns="0" rtlCol="0" anchor="ctr"/>
          <a:lstStyle/>
          <a:p>
            <a:pPr marL="0" indent="0">
              <a:buNone/>
            </a:pPr>
            <a:r>
              <a:rPr lang="en-US" sz="2800" b="1" dirty="0">
                <a:solidFill>
                  <a:srgbClr val="112B36"/>
                </a:solidFill>
                <a:latin typeface="Aptos Display" pitchFamily="34" charset="0"/>
                <a:ea typeface="Aptos Display" pitchFamily="34" charset="-122"/>
                <a:cs typeface="Aptos Display" pitchFamily="34" charset="-120"/>
              </a:rPr>
              <a:t>References</a:t>
            </a:r>
            <a:endParaRPr lang="en-US" sz="2800" dirty="0"/>
          </a:p>
        </p:txBody>
      </p:sp>
      <p:sp>
        <p:nvSpPr>
          <p:cNvPr id="6" name="Text 4"/>
          <p:cNvSpPr/>
          <p:nvPr/>
        </p:nvSpPr>
        <p:spPr>
          <a:xfrm>
            <a:off x="658368" y="1042416"/>
            <a:ext cx="8046720" cy="292608"/>
          </a:xfrm>
          <a:prstGeom prst="rect">
            <a:avLst/>
          </a:prstGeom>
          <a:noFill/>
          <a:ln/>
        </p:spPr>
        <p:txBody>
          <a:bodyPr wrap="square" lIns="0" tIns="0" rIns="0" bIns="0" rtlCol="0" anchor="ctr"/>
          <a:lstStyle/>
          <a:p>
            <a:pPr marL="0" indent="0">
              <a:buNone/>
            </a:pPr>
            <a:endParaRPr lang="en-US" sz="1300" dirty="0"/>
          </a:p>
        </p:txBody>
      </p:sp>
      <p:sp>
        <p:nvSpPr>
          <p:cNvPr id="7" name="Text 5"/>
          <p:cNvSpPr/>
          <p:nvPr/>
        </p:nvSpPr>
        <p:spPr>
          <a:xfrm>
            <a:off x="822960" y="1508760"/>
            <a:ext cx="10424160" cy="1297940"/>
          </a:xfrm>
          <a:prstGeom prst="rect">
            <a:avLst/>
          </a:prstGeom>
          <a:noFill/>
          <a:ln/>
        </p:spPr>
        <p:txBody>
          <a:bodyPr wrap="square" lIns="0" tIns="0" rIns="0" bIns="0" rtlCol="0" anchor="ctr">
            <a:normAutofit/>
          </a:bodyPr>
          <a:lstStyle/>
          <a:p>
            <a:r>
              <a:rPr lang="en-US" sz="1800" b="1" dirty="0">
                <a:solidFill>
                  <a:srgbClr val="112B36"/>
                </a:solidFill>
                <a:latin typeface="Aptos Display" pitchFamily="34" charset="0"/>
                <a:ea typeface="Aptos Display" pitchFamily="34" charset="-122"/>
                <a:cs typeface="Aptos Display" pitchFamily="34" charset="-120"/>
              </a:rPr>
              <a:t>Primary source: </a:t>
            </a:r>
          </a:p>
          <a:p>
            <a:r>
              <a:rPr lang="en-US" sz="1800" b="1" dirty="0">
                <a:solidFill>
                  <a:srgbClr val="112B36"/>
                </a:solidFill>
                <a:latin typeface="Aptos Display" pitchFamily="34" charset="0"/>
                <a:ea typeface="Aptos Display" pitchFamily="34" charset="-122"/>
                <a:cs typeface="Aptos Display" pitchFamily="34" charset="-120"/>
              </a:rPr>
              <a:t>Retraction Watch newsletters reviewed during July 2026, together with the Retraction Watch website </a:t>
            </a:r>
            <a:r>
              <a:rPr lang="en-US" b="1" dirty="0">
                <a:solidFill>
                  <a:srgbClr val="112B36"/>
                </a:solidFill>
                <a:latin typeface="Aptos Display" pitchFamily="34" charset="0"/>
                <a:ea typeface="Aptos Display" pitchFamily="34" charset="-122"/>
                <a:cs typeface="Aptos Display" pitchFamily="34" charset="-120"/>
              </a:rPr>
              <a:t>background (</a:t>
            </a:r>
            <a:r>
              <a:rPr lang="en-US" b="1" dirty="0">
                <a:solidFill>
                  <a:srgbClr val="112B36"/>
                </a:solidFill>
                <a:latin typeface="Aptos Display" pitchFamily="34" charset="0"/>
                <a:ea typeface="Aptos Display" pitchFamily="34" charset="-122"/>
                <a:cs typeface="Aptos Display" pitchFamily="34" charset="-120"/>
                <a:hlinkClick r:id="rId3"/>
              </a:rPr>
              <a:t>https://retractionwatch.com/</a:t>
            </a:r>
            <a:r>
              <a:rPr lang="en-US" b="1" dirty="0">
                <a:solidFill>
                  <a:srgbClr val="112B36"/>
                </a:solidFill>
                <a:latin typeface="Aptos Display" pitchFamily="34" charset="0"/>
                <a:ea typeface="Aptos Display" pitchFamily="34" charset="-122"/>
                <a:cs typeface="Aptos Display" pitchFamily="34" charset="-120"/>
              </a:rPr>
              <a:t>).</a:t>
            </a:r>
            <a:endParaRPr lang="en-US" sz="1800" dirty="0"/>
          </a:p>
        </p:txBody>
      </p:sp>
      <p:sp>
        <p:nvSpPr>
          <p:cNvPr id="8" name="Text 6"/>
          <p:cNvSpPr/>
          <p:nvPr/>
        </p:nvSpPr>
        <p:spPr>
          <a:xfrm>
            <a:off x="822960" y="2331720"/>
            <a:ext cx="5074920" cy="3337560"/>
          </a:xfrm>
          <a:prstGeom prst="rect">
            <a:avLst/>
          </a:prstGeom>
          <a:noFill/>
          <a:ln/>
        </p:spPr>
        <p:txBody>
          <a:bodyPr wrap="square" lIns="254" tIns="254" rIns="254" bIns="254" rtlCol="0" anchor="ctr">
            <a:normAutofit/>
          </a:bodyPr>
          <a:lstStyle/>
          <a:p>
            <a:pPr marL="0" indent="0">
              <a:buNone/>
            </a:pPr>
            <a:r>
              <a:rPr lang="en-US" sz="870" dirty="0">
                <a:solidFill>
                  <a:srgbClr val="112B36"/>
                </a:solidFill>
                <a:latin typeface="Aptos" pitchFamily="34" charset="0"/>
                <a:ea typeface="Aptos" pitchFamily="34" charset="-122"/>
                <a:cs typeface="Aptos" pitchFamily="34" charset="-120"/>
              </a:rPr>
              <a:t>Retraction Watch. 2026a. Award-winning Korea studies scholar accused of using AI-fabricated citations. The RW Daily, 13 July 2026.</a:t>
            </a:r>
            <a:endParaRPr lang="en-US" sz="870" dirty="0"/>
          </a:p>
          <a:p>
            <a:pPr marL="0" indent="0">
              <a:buNone/>
            </a:pPr>
            <a:endParaRPr lang="en-US" sz="870" dirty="0"/>
          </a:p>
          <a:p>
            <a:pPr marL="0" indent="0">
              <a:buNone/>
            </a:pPr>
            <a:r>
              <a:rPr lang="en-US" sz="870" dirty="0">
                <a:solidFill>
                  <a:srgbClr val="112B36"/>
                </a:solidFill>
                <a:latin typeface="Aptos" pitchFamily="34" charset="0"/>
                <a:ea typeface="Aptos" pitchFamily="34" charset="-122"/>
                <a:cs typeface="Aptos" pitchFamily="34" charset="-120"/>
              </a:rPr>
              <a:t>Retraction Watch. 2026b. A student claimed to have a PhD in at least eight letters to journals. The RW Daily, 14 July 2026.</a:t>
            </a:r>
            <a:endParaRPr lang="en-US" sz="870" dirty="0"/>
          </a:p>
          <a:p>
            <a:pPr marL="0" indent="0">
              <a:buNone/>
            </a:pPr>
            <a:endParaRPr lang="en-US" sz="870" dirty="0"/>
          </a:p>
          <a:p>
            <a:pPr marL="0" indent="0">
              <a:buNone/>
            </a:pPr>
            <a:r>
              <a:rPr lang="en-US" sz="870" dirty="0">
                <a:solidFill>
                  <a:srgbClr val="112B36"/>
                </a:solidFill>
                <a:latin typeface="Aptos" pitchFamily="34" charset="0"/>
                <a:ea typeface="Aptos" pitchFamily="34" charset="-122"/>
                <a:cs typeface="Aptos" pitchFamily="34" charset="-120"/>
              </a:rPr>
              <a:t>Retraction Watch. 2026c. Harvard cancer researchers earn retraction for image duplication. The RW Daily, 17 July 2026.</a:t>
            </a:r>
            <a:endParaRPr lang="en-US" sz="870" dirty="0"/>
          </a:p>
          <a:p>
            <a:pPr marL="0" indent="0">
              <a:buNone/>
            </a:pPr>
            <a:endParaRPr lang="en-US" sz="870" dirty="0"/>
          </a:p>
          <a:p>
            <a:pPr marL="0" indent="0">
              <a:buNone/>
            </a:pPr>
            <a:r>
              <a:rPr lang="en-US" sz="870" dirty="0">
                <a:solidFill>
                  <a:srgbClr val="112B36"/>
                </a:solidFill>
                <a:latin typeface="Aptos" pitchFamily="34" charset="0"/>
                <a:ea typeface="Aptos" pitchFamily="34" charset="-122"/>
                <a:cs typeface="Aptos" pitchFamily="34" charset="-120"/>
              </a:rPr>
              <a:t>Retraction Watch. 2026d. Publisher investigating peer reviewer for alleged bribery scheme. The RW Daily, 20 July 2026.</a:t>
            </a:r>
            <a:endParaRPr lang="en-US" sz="870" dirty="0"/>
          </a:p>
        </p:txBody>
      </p:sp>
      <p:sp>
        <p:nvSpPr>
          <p:cNvPr id="9" name="Text 7"/>
          <p:cNvSpPr/>
          <p:nvPr/>
        </p:nvSpPr>
        <p:spPr>
          <a:xfrm>
            <a:off x="6263640" y="2331720"/>
            <a:ext cx="5074920" cy="3337560"/>
          </a:xfrm>
          <a:prstGeom prst="rect">
            <a:avLst/>
          </a:prstGeom>
          <a:noFill/>
          <a:ln/>
        </p:spPr>
        <p:txBody>
          <a:bodyPr wrap="square" lIns="254" tIns="254" rIns="254" bIns="254" rtlCol="0" anchor="ctr">
            <a:normAutofit/>
          </a:bodyPr>
          <a:lstStyle/>
          <a:p>
            <a:pPr marL="0" indent="0">
              <a:buNone/>
            </a:pPr>
            <a:r>
              <a:rPr lang="en-US" sz="870" dirty="0">
                <a:solidFill>
                  <a:srgbClr val="112B36"/>
                </a:solidFill>
                <a:latin typeface="Aptos" pitchFamily="34" charset="0"/>
                <a:ea typeface="Aptos" pitchFamily="34" charset="-122"/>
                <a:cs typeface="Aptos" pitchFamily="34" charset="-120"/>
              </a:rPr>
              <a:t>Retraction Watch. 2026e. Medical student in Nepal behind busy research factory. The RW Daily, 21 July 2026.</a:t>
            </a:r>
            <a:endParaRPr lang="en-US" sz="870" dirty="0"/>
          </a:p>
          <a:p>
            <a:pPr marL="0" indent="0">
              <a:buNone/>
            </a:pPr>
            <a:endParaRPr lang="en-US" sz="870" dirty="0"/>
          </a:p>
          <a:p>
            <a:pPr marL="0" indent="0">
              <a:buNone/>
            </a:pPr>
            <a:r>
              <a:rPr lang="en-US" sz="870" dirty="0">
                <a:solidFill>
                  <a:srgbClr val="112B36"/>
                </a:solidFill>
                <a:latin typeface="Aptos" pitchFamily="34" charset="0"/>
                <a:ea typeface="Aptos" pitchFamily="34" charset="-122"/>
                <a:cs typeface="Aptos" pitchFamily="34" charset="-120"/>
              </a:rPr>
              <a:t>Retraction Watch. 2026f. Thermo Fisher data manipulation has led to a serious breakdown of trust. The RW Daily, 23 July 2026.</a:t>
            </a:r>
            <a:endParaRPr lang="en-US" sz="870" dirty="0"/>
          </a:p>
          <a:p>
            <a:pPr marL="0" indent="0">
              <a:buNone/>
            </a:pPr>
            <a:endParaRPr lang="en-US" sz="870" dirty="0"/>
          </a:p>
          <a:p>
            <a:pPr marL="0" indent="0">
              <a:buNone/>
            </a:pPr>
            <a:r>
              <a:rPr lang="en-US" sz="870" dirty="0">
                <a:solidFill>
                  <a:srgbClr val="112B36"/>
                </a:solidFill>
                <a:latin typeface="Aptos" pitchFamily="34" charset="0"/>
                <a:ea typeface="Aptos" pitchFamily="34" charset="-122"/>
                <a:cs typeface="Aptos" pitchFamily="34" charset="-120"/>
              </a:rPr>
              <a:t>Retraction Watch. 2026g. A couple paid more than $800,000 for a gene-editing therapy for their daughter. The RW Daily, 24 July 2026.</a:t>
            </a:r>
            <a:endParaRPr lang="en-US" sz="870" dirty="0"/>
          </a:p>
          <a:p>
            <a:pPr marL="0" indent="0">
              <a:buNone/>
            </a:pPr>
            <a:endParaRPr lang="en-US" sz="870" dirty="0"/>
          </a:p>
          <a:p>
            <a:pPr marL="0" indent="0">
              <a:buNone/>
            </a:pPr>
            <a:r>
              <a:rPr lang="en-US" sz="870" dirty="0">
                <a:solidFill>
                  <a:srgbClr val="112B36"/>
                </a:solidFill>
                <a:latin typeface="Aptos" pitchFamily="34" charset="0"/>
                <a:ea typeface="Aptos" pitchFamily="34" charset="-122"/>
                <a:cs typeface="Aptos" pitchFamily="34" charset="-120"/>
              </a:rPr>
              <a:t>Retraction Watch. n.d. Tracking retractions as a window into the scientific process.</a:t>
            </a:r>
            <a:endParaRPr lang="en-US" sz="87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710480"/>
            <a:ext cx="4179570" cy="1524735"/>
          </a:xfrm>
        </p:spPr>
        <p:txBody>
          <a:bodyPr rtlCol="0"/>
          <a:lstStyle/>
          <a:p>
            <a:pPr algn="ctr" rtl="0"/>
            <a:r>
              <a:rPr lang="en-GB" b="1" dirty="0">
                <a:solidFill>
                  <a:schemeClr val="tx2"/>
                </a:solidFill>
              </a:rPr>
              <a:t>THAT’S IT!!!</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rtlCol="0">
            <a:noAutofit/>
          </a:bodyPr>
          <a:lstStyle/>
          <a:p>
            <a:pPr algn="ctr">
              <a:lnSpc>
                <a:spcPct val="90000"/>
              </a:lnSpc>
              <a:spcAft>
                <a:spcPts val="600"/>
              </a:spcAft>
            </a:pPr>
            <a:r>
              <a:rPr lang="en-GB" sz="3200" dirty="0">
                <a:solidFill>
                  <a:srgbClr val="0070C0"/>
                </a:solidFill>
              </a:rPr>
              <a:t>See you next week</a:t>
            </a:r>
          </a:p>
          <a:p>
            <a:pPr algn="ctr">
              <a:lnSpc>
                <a:spcPct val="90000"/>
              </a:lnSpc>
              <a:spcAft>
                <a:spcPts val="600"/>
              </a:spcAft>
            </a:pPr>
            <a:endParaRPr lang="en-GB" sz="3200" dirty="0">
              <a:solidFill>
                <a:srgbClr val="0070C0"/>
              </a:solidFill>
            </a:endParaRPr>
          </a:p>
          <a:p>
            <a:pPr algn="ctr">
              <a:lnSpc>
                <a:spcPct val="90000"/>
              </a:lnSpc>
              <a:spcAft>
                <a:spcPts val="600"/>
              </a:spcAft>
            </a:pPr>
            <a:endParaRPr lang="en-US" sz="3200" b="1" dirty="0">
              <a:solidFill>
                <a:schemeClr val="tx2"/>
              </a:solidFill>
              <a:ea typeface="Calibri"/>
              <a:cs typeface="Calibri"/>
            </a:endParaRP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rtlCol="0"/>
          <a:lstStyle/>
          <a:p>
            <a:r>
              <a:rPr lang="en-GB" dirty="0"/>
              <a:t>2026</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rtlCol="0"/>
          <a:lstStyle/>
          <a:p>
            <a:pPr rtl="0"/>
            <a:endParaRPr lang="en-GB" dirty="0"/>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rtlCol="0"/>
          <a:lstStyle/>
          <a:p>
            <a:pPr rtl="0"/>
            <a:fld id="{B5CEABB6-07DC-46E8-9B57-56EC44A396E5}" type="slidenum">
              <a:rPr lang="en-GB" smtClean="0"/>
              <a:pPr rtl="0"/>
              <a:t>34</a:t>
            </a:fld>
            <a:endParaRPr lang="en-GB"/>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419047_TF22318419_Win32" id="{DA6E7C03-7C07-46B9-8D9D-F061C4AB5C28}" vid="{0874F78C-8308-4EE6-8F19-85387B86915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446390-8521-40A2-A462-EA068123BED9}">
  <ds:schemaRefs>
    <ds:schemaRef ds:uri="http://schemas.microsoft.com/sharepoint/v3/contenttype/forms"/>
  </ds:schemaRefs>
</ds:datastoreItem>
</file>

<file path=customXml/itemProps2.xml><?xml version="1.0" encoding="utf-8"?>
<ds:datastoreItem xmlns:ds="http://schemas.openxmlformats.org/officeDocument/2006/customXml" ds:itemID="{B5BA3906-9696-4247-AC0D-DD5C26B2A70A}">
  <ds:schemaRefs>
    <ds:schemaRef ds:uri="http://www.w3.org/XML/1998/namespace"/>
    <ds:schemaRef ds:uri="http://schemas.microsoft.com/office/infopath/2007/PartnerControls"/>
    <ds:schemaRef ds:uri="230e9df3-be65-4c73-a93b-d1236ebd677e"/>
    <ds:schemaRef ds:uri="http://purl.org/dc/dcmitype/"/>
    <ds:schemaRef ds:uri="http://purl.org/dc/elements/1.1/"/>
    <ds:schemaRef ds:uri="http://schemas.microsoft.com/office/2006/documentManagement/types"/>
    <ds:schemaRef ds:uri="http://purl.org/dc/terms/"/>
    <ds:schemaRef ds:uri="http://schemas.openxmlformats.org/package/2006/metadata/core-properties"/>
    <ds:schemaRef ds:uri="http://schemas.microsoft.com/office/2006/metadata/properties"/>
    <ds:schemaRef ds:uri="16c05727-aa75-4e4a-9b5f-8a80a1165891"/>
    <ds:schemaRef ds:uri="71af3243-3dd4-4a8d-8c0d-dd76da1f02a5"/>
    <ds:schemaRef ds:uri="http://schemas.microsoft.com/sharepoint/v3"/>
  </ds:schemaRefs>
</ds:datastoreItem>
</file>

<file path=customXml/itemProps3.xml><?xml version="1.0" encoding="utf-8"?>
<ds:datastoreItem xmlns:ds="http://schemas.openxmlformats.org/officeDocument/2006/customXml" ds:itemID="{01E84A1C-2814-43A7-9448-348326113A45}">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{D75B5483-2B77-44A9-A6C5-9F68A8A1B7DC}tf22318419_win32</Template>
  <TotalTime>1221</TotalTime>
  <Words>7116</Words>
  <Application>Microsoft Macintosh PowerPoint</Application>
  <PresentationFormat>Widescreen</PresentationFormat>
  <Paragraphs>484</Paragraphs>
  <Slides>34</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Aptos</vt:lpstr>
      <vt:lpstr>Aptos Display</vt:lpstr>
      <vt:lpstr>Arial</vt:lpstr>
      <vt:lpstr>Calibri</vt:lpstr>
      <vt:lpstr>Symbol</vt:lpstr>
      <vt:lpstr>Tenorite</vt:lpstr>
      <vt:lpstr>Monoline</vt:lpstr>
      <vt:lpstr>Semester Two - Week 4</vt:lpstr>
      <vt:lpstr>PowerPoint Presentation</vt:lpstr>
      <vt:lpstr>PowerPoint Presentation</vt:lpstr>
      <vt:lpstr>CPUT  recommends a Data Management Plan (DMP) outlining how research data will be handled during and after research projects.  The purpose of the DMP is to ensure that CPUT complies with all legal, ethical, and contractual obligations and promotes best practices in managing research data. </vt:lpstr>
      <vt:lpstr>A. CREATE  (Raw Data Generation)</vt:lpstr>
      <vt:lpstr>B. EXPLORE  (Data Processing and Analysis)</vt:lpstr>
      <vt:lpstr>C. SHARE  (Dissemination and Access)</vt:lpstr>
      <vt:lpstr>D. PRESERVE  (Long-Term Stewardship)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THAT’S IT!!!</vt:lpstr>
    </vt:vector>
  </TitlesOfParts>
  <Company>Cape Peninsula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Semester Two - Week 4</dc:title>
  <dc:creator>Errol Francke</dc:creator>
  <cp:lastModifiedBy>Errol Francke</cp:lastModifiedBy>
  <cp:revision>5</cp:revision>
  <dcterms:created xsi:type="dcterms:W3CDTF">2025-07-14T08:47:44Z</dcterms:created>
  <dcterms:modified xsi:type="dcterms:W3CDTF">2026-08-03T10:08:33Z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