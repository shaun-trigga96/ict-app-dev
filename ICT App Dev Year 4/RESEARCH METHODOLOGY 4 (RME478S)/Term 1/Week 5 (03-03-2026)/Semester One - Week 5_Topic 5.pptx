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8"/>
  </p:notesMasterIdLst>
  <p:handoutMasterIdLst>
    <p:handoutMasterId r:id="rId29"/>
  </p:handoutMasterIdLst>
  <p:sldIdLst>
    <p:sldId id="256" r:id="rId5"/>
    <p:sldId id="289" r:id="rId6"/>
    <p:sldId id="305" r:id="rId7"/>
    <p:sldId id="306" r:id="rId8"/>
    <p:sldId id="294" r:id="rId9"/>
    <p:sldId id="262" r:id="rId10"/>
    <p:sldId id="314" r:id="rId11"/>
    <p:sldId id="315" r:id="rId12"/>
    <p:sldId id="316" r:id="rId13"/>
    <p:sldId id="317" r:id="rId14"/>
    <p:sldId id="278" r:id="rId15"/>
    <p:sldId id="300" r:id="rId16"/>
    <p:sldId id="318" r:id="rId17"/>
    <p:sldId id="319" r:id="rId18"/>
    <p:sldId id="320" r:id="rId19"/>
    <p:sldId id="321" r:id="rId20"/>
    <p:sldId id="322" r:id="rId21"/>
    <p:sldId id="323" r:id="rId22"/>
    <p:sldId id="324" r:id="rId23"/>
    <p:sldId id="309" r:id="rId24"/>
    <p:sldId id="301" r:id="rId25"/>
    <p:sldId id="325" r:id="rId26"/>
    <p:sldId id="276" r:id="rId27"/>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7" autoAdjust="0"/>
    <p:restoredTop sz="94663"/>
  </p:normalViewPr>
  <p:slideViewPr>
    <p:cSldViewPr snapToGrid="0">
      <p:cViewPr varScale="1">
        <p:scale>
          <a:sx n="70" d="100"/>
          <a:sy n="70" d="100"/>
        </p:scale>
        <p:origin x="428" y="68"/>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4632" y="149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rol Francke" userId="1baf5052-8130-4f07-8591-895c85ed967e" providerId="ADAL" clId="{5CC828F7-7581-413F-9545-7387B2A59550}"/>
    <pc:docChg chg="delSld modSld">
      <pc:chgData name="Errol Francke" userId="1baf5052-8130-4f07-8591-895c85ed967e" providerId="ADAL" clId="{5CC828F7-7581-413F-9545-7387B2A59550}" dt="2026-02-28T06:40:55.780" v="9" actId="47"/>
      <pc:docMkLst>
        <pc:docMk/>
      </pc:docMkLst>
      <pc:sldChg chg="addSp modSp mod">
        <pc:chgData name="Errol Francke" userId="1baf5052-8130-4f07-8591-895c85ed967e" providerId="ADAL" clId="{5CC828F7-7581-413F-9545-7387B2A59550}" dt="2026-02-28T06:40:10.753" v="8" actId="14100"/>
        <pc:sldMkLst>
          <pc:docMk/>
          <pc:sldMk cId="2609099016" sldId="305"/>
        </pc:sldMkLst>
        <pc:cxnChg chg="add mod">
          <ac:chgData name="Errol Francke" userId="1baf5052-8130-4f07-8591-895c85ed967e" providerId="ADAL" clId="{5CC828F7-7581-413F-9545-7387B2A59550}" dt="2026-02-28T06:40:10.753" v="8" actId="14100"/>
          <ac:cxnSpMkLst>
            <pc:docMk/>
            <pc:sldMk cId="2609099016" sldId="305"/>
            <ac:cxnSpMk id="6" creationId="{1CCE7FDC-815B-6C56-1D91-21C6CD3A72C3}"/>
          </ac:cxnSpMkLst>
        </pc:cxnChg>
      </pc:sldChg>
      <pc:sldChg chg="del">
        <pc:chgData name="Errol Francke" userId="1baf5052-8130-4f07-8591-895c85ed967e" providerId="ADAL" clId="{5CC828F7-7581-413F-9545-7387B2A59550}" dt="2026-02-28T06:40:55.780" v="9" actId="47"/>
        <pc:sldMkLst>
          <pc:docMk/>
          <pc:sldMk cId="1977613965" sldId="31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0C1E0E-13C2-234A-83D6-926918CB6A7D}" type="doc">
      <dgm:prSet loTypeId="urn:microsoft.com/office/officeart/2005/8/layout/process3" loCatId="" qsTypeId="urn:microsoft.com/office/officeart/2005/8/quickstyle/simple1" qsCatId="simple" csTypeId="urn:microsoft.com/office/officeart/2005/8/colors/colorful4" csCatId="colorful" phldr="1"/>
      <dgm:spPr/>
      <dgm:t>
        <a:bodyPr/>
        <a:lstStyle/>
        <a:p>
          <a:endParaRPr lang="en-GB"/>
        </a:p>
      </dgm:t>
    </dgm:pt>
    <dgm:pt modelId="{A918A370-D229-2142-A8F9-BFE769E54F3B}">
      <dgm:prSet phldrT="[Text]"/>
      <dgm:spPr/>
      <dgm:t>
        <a:bodyPr/>
        <a:lstStyle/>
        <a:p>
          <a:pPr>
            <a:buFont typeface="+mj-lt"/>
            <a:buAutoNum type="romanUcPeriod"/>
          </a:pPr>
          <a:r>
            <a:rPr lang="en-US" b="1" dirty="0"/>
            <a:t>Title to problem</a:t>
          </a:r>
          <a:endParaRPr lang="en-GB" dirty="0"/>
        </a:p>
      </dgm:t>
    </dgm:pt>
    <dgm:pt modelId="{E7CBAE70-1BCA-2D4C-A4BD-2DDC5F33994A}" type="parTrans" cxnId="{9A416222-6808-B74B-809E-7EE08C9B04A1}">
      <dgm:prSet/>
      <dgm:spPr/>
      <dgm:t>
        <a:bodyPr/>
        <a:lstStyle/>
        <a:p>
          <a:endParaRPr lang="en-GB"/>
        </a:p>
      </dgm:t>
    </dgm:pt>
    <dgm:pt modelId="{0F652777-EB2D-7040-ADD1-4CAD4D038BD7}" type="sibTrans" cxnId="{9A416222-6808-B74B-809E-7EE08C9B04A1}">
      <dgm:prSet/>
      <dgm:spPr/>
      <dgm:t>
        <a:bodyPr/>
        <a:lstStyle/>
        <a:p>
          <a:endParaRPr lang="en-GB"/>
        </a:p>
      </dgm:t>
    </dgm:pt>
    <dgm:pt modelId="{95267160-74D8-DB48-A73C-5028FA51FBFA}">
      <dgm:prSet phldrT="[Text]"/>
      <dgm:spPr/>
      <dgm:t>
        <a:bodyPr/>
        <a:lstStyle/>
        <a:p>
          <a:pPr>
            <a:buNone/>
          </a:pPr>
          <a:r>
            <a:rPr lang="en-US" dirty="0">
              <a:solidFill>
                <a:schemeClr val="tx1"/>
              </a:solidFill>
            </a:rPr>
            <a:t>The problem statement must directly relate to the topic signaled by the title</a:t>
          </a:r>
          <a:r>
            <a:rPr lang="en-ZA" dirty="0">
              <a:solidFill>
                <a:schemeClr val="tx1"/>
              </a:solidFill>
            </a:rPr>
            <a:t> </a:t>
          </a:r>
          <a:endParaRPr lang="en-GB" dirty="0">
            <a:solidFill>
              <a:schemeClr val="tx1"/>
            </a:solidFill>
          </a:endParaRPr>
        </a:p>
      </dgm:t>
    </dgm:pt>
    <dgm:pt modelId="{18DF833D-14D8-F24A-B95D-7C18168CA0CF}" type="parTrans" cxnId="{B03FDDF0-DC15-DA49-8F1A-D42DE63C6CDC}">
      <dgm:prSet/>
      <dgm:spPr/>
      <dgm:t>
        <a:bodyPr/>
        <a:lstStyle/>
        <a:p>
          <a:endParaRPr lang="en-GB"/>
        </a:p>
      </dgm:t>
    </dgm:pt>
    <dgm:pt modelId="{606C0351-8AB8-4948-A1AC-FE1289C98D73}" type="sibTrans" cxnId="{B03FDDF0-DC15-DA49-8F1A-D42DE63C6CDC}">
      <dgm:prSet/>
      <dgm:spPr/>
      <dgm:t>
        <a:bodyPr/>
        <a:lstStyle/>
        <a:p>
          <a:endParaRPr lang="en-GB"/>
        </a:p>
      </dgm:t>
    </dgm:pt>
    <dgm:pt modelId="{23ECABB4-3847-DF48-B90F-3ABDF9847725}">
      <dgm:prSet phldrT="[Text]"/>
      <dgm:spPr/>
      <dgm:t>
        <a:bodyPr/>
        <a:lstStyle/>
        <a:p>
          <a:pPr>
            <a:buFont typeface="+mj-lt"/>
            <a:buAutoNum type="romanUcPeriod"/>
          </a:pPr>
          <a:r>
            <a:rPr lang="en-US" b="1" dirty="0"/>
            <a:t>Problem to questions</a:t>
          </a:r>
          <a:endParaRPr lang="en-GB" dirty="0"/>
        </a:p>
      </dgm:t>
    </dgm:pt>
    <dgm:pt modelId="{184E9CE2-DAC0-7144-A9E7-4D73EFFCA422}" type="parTrans" cxnId="{0C2886F7-5294-4A49-BF10-4C44C17EACDE}">
      <dgm:prSet/>
      <dgm:spPr/>
      <dgm:t>
        <a:bodyPr/>
        <a:lstStyle/>
        <a:p>
          <a:endParaRPr lang="en-GB"/>
        </a:p>
      </dgm:t>
    </dgm:pt>
    <dgm:pt modelId="{397940AF-A9BB-0942-AC6D-8648122080A8}" type="sibTrans" cxnId="{0C2886F7-5294-4A49-BF10-4C44C17EACDE}">
      <dgm:prSet/>
      <dgm:spPr/>
      <dgm:t>
        <a:bodyPr/>
        <a:lstStyle/>
        <a:p>
          <a:endParaRPr lang="en-GB"/>
        </a:p>
      </dgm:t>
    </dgm:pt>
    <dgm:pt modelId="{382026BB-C94C-0D47-A9D1-4EA6B2B383CC}">
      <dgm:prSet phldrT="[Text]"/>
      <dgm:spPr/>
      <dgm:t>
        <a:bodyPr/>
        <a:lstStyle/>
        <a:p>
          <a:pPr>
            <a:buNone/>
          </a:pPr>
          <a:r>
            <a:rPr lang="en-US" dirty="0"/>
            <a:t>Research questions are derived from the problem and specify what must be investigated. </a:t>
          </a:r>
          <a:endParaRPr lang="en-GB" dirty="0"/>
        </a:p>
      </dgm:t>
    </dgm:pt>
    <dgm:pt modelId="{DA59DAC7-6E69-6D49-9D5B-CC979254B767}" type="parTrans" cxnId="{242332BE-5E1C-9041-BB03-E96D7C0B5C68}">
      <dgm:prSet/>
      <dgm:spPr/>
      <dgm:t>
        <a:bodyPr/>
        <a:lstStyle/>
        <a:p>
          <a:endParaRPr lang="en-GB"/>
        </a:p>
      </dgm:t>
    </dgm:pt>
    <dgm:pt modelId="{C39D261B-6EAB-784F-AE51-8BB581E2F0AC}" type="sibTrans" cxnId="{242332BE-5E1C-9041-BB03-E96D7C0B5C68}">
      <dgm:prSet/>
      <dgm:spPr/>
      <dgm:t>
        <a:bodyPr/>
        <a:lstStyle/>
        <a:p>
          <a:endParaRPr lang="en-GB"/>
        </a:p>
      </dgm:t>
    </dgm:pt>
    <dgm:pt modelId="{E8CC192E-90A9-2245-9850-F61133E59237}">
      <dgm:prSet phldrT="[Text]"/>
      <dgm:spPr/>
      <dgm:t>
        <a:bodyPr/>
        <a:lstStyle/>
        <a:p>
          <a:pPr>
            <a:buFont typeface="+mj-lt"/>
            <a:buAutoNum type="romanUcPeriod"/>
          </a:pPr>
          <a:r>
            <a:rPr lang="en-US" b="1" dirty="0"/>
            <a:t>Questions to objectives</a:t>
          </a:r>
          <a:endParaRPr lang="en-GB" dirty="0"/>
        </a:p>
      </dgm:t>
    </dgm:pt>
    <dgm:pt modelId="{1D769DD3-86C1-804C-B10F-EAE46606A651}" type="parTrans" cxnId="{62C3137B-C469-234C-BDC9-D50B17051670}">
      <dgm:prSet/>
      <dgm:spPr/>
      <dgm:t>
        <a:bodyPr/>
        <a:lstStyle/>
        <a:p>
          <a:endParaRPr lang="en-GB"/>
        </a:p>
      </dgm:t>
    </dgm:pt>
    <dgm:pt modelId="{D7A167E0-3F09-B648-BE3B-42B06DC99EB6}" type="sibTrans" cxnId="{62C3137B-C469-234C-BDC9-D50B17051670}">
      <dgm:prSet/>
      <dgm:spPr/>
      <dgm:t>
        <a:bodyPr/>
        <a:lstStyle/>
        <a:p>
          <a:endParaRPr lang="en-GB"/>
        </a:p>
      </dgm:t>
    </dgm:pt>
    <dgm:pt modelId="{5DECCF33-7459-B045-95AE-9157E73AE097}">
      <dgm:prSet phldrT="[Text]"/>
      <dgm:spPr/>
      <dgm:t>
        <a:bodyPr/>
        <a:lstStyle/>
        <a:p>
          <a:pPr>
            <a:buNone/>
          </a:pPr>
          <a:r>
            <a:rPr lang="en-US"/>
            <a:t>Objectives translate questions into achievable steps. If an objective is not linked to a question, it will not be investigated. </a:t>
          </a:r>
          <a:endParaRPr lang="en-GB" dirty="0"/>
        </a:p>
      </dgm:t>
    </dgm:pt>
    <dgm:pt modelId="{98B8B518-5FB5-CB47-A36A-DE083703AD6B}" type="parTrans" cxnId="{5B0A40A9-3020-0C40-BAA5-560C187F303B}">
      <dgm:prSet/>
      <dgm:spPr/>
      <dgm:t>
        <a:bodyPr/>
        <a:lstStyle/>
        <a:p>
          <a:endParaRPr lang="en-GB"/>
        </a:p>
      </dgm:t>
    </dgm:pt>
    <dgm:pt modelId="{3FEFF110-5A78-9842-8FE7-83EB5D7B89E0}" type="sibTrans" cxnId="{5B0A40A9-3020-0C40-BAA5-560C187F303B}">
      <dgm:prSet/>
      <dgm:spPr/>
      <dgm:t>
        <a:bodyPr/>
        <a:lstStyle/>
        <a:p>
          <a:endParaRPr lang="en-GB"/>
        </a:p>
      </dgm:t>
    </dgm:pt>
    <dgm:pt modelId="{06F0CC4D-8D01-654A-833B-158592DF0973}">
      <dgm:prSet phldrT="[Text]"/>
      <dgm:spPr/>
      <dgm:t>
        <a:bodyPr/>
        <a:lstStyle/>
        <a:p>
          <a:pPr>
            <a:buFont typeface="+mj-lt"/>
            <a:buAutoNum type="romanUcPeriod"/>
          </a:pPr>
          <a:r>
            <a:rPr lang="en-US" b="1"/>
            <a:t>Literature and theory to questions</a:t>
          </a:r>
          <a:endParaRPr lang="en-GB" dirty="0"/>
        </a:p>
      </dgm:t>
    </dgm:pt>
    <dgm:pt modelId="{2537D362-C06A-CF49-AEF7-112C5CC2ED10}" type="parTrans" cxnId="{B876D3A2-5217-1B47-84A9-DE69DEE598BB}">
      <dgm:prSet/>
      <dgm:spPr/>
      <dgm:t>
        <a:bodyPr/>
        <a:lstStyle/>
        <a:p>
          <a:endParaRPr lang="en-GB"/>
        </a:p>
      </dgm:t>
    </dgm:pt>
    <dgm:pt modelId="{78508375-BBCD-7B4B-9679-5409956826E8}" type="sibTrans" cxnId="{B876D3A2-5217-1B47-84A9-DE69DEE598BB}">
      <dgm:prSet/>
      <dgm:spPr/>
      <dgm:t>
        <a:bodyPr/>
        <a:lstStyle/>
        <a:p>
          <a:endParaRPr lang="en-GB"/>
        </a:p>
      </dgm:t>
    </dgm:pt>
    <dgm:pt modelId="{19743888-EC8A-6145-82A3-E75111C748E8}">
      <dgm:prSet phldrT="[Text]"/>
      <dgm:spPr/>
      <dgm:t>
        <a:bodyPr/>
        <a:lstStyle/>
        <a:p>
          <a:pPr>
            <a:buNone/>
          </a:pPr>
          <a:r>
            <a:rPr lang="en-US"/>
            <a:t>Literature and theory should be selected because they help answer the research question and justify the study. </a:t>
          </a:r>
          <a:endParaRPr lang="en-GB" dirty="0"/>
        </a:p>
      </dgm:t>
    </dgm:pt>
    <dgm:pt modelId="{E6AA38FC-AEDF-6B45-A1A6-3A6496AD23EF}" type="parTrans" cxnId="{44A4DD3D-2E69-4E47-94F8-81B2B4FE9194}">
      <dgm:prSet/>
      <dgm:spPr/>
      <dgm:t>
        <a:bodyPr/>
        <a:lstStyle/>
        <a:p>
          <a:endParaRPr lang="en-GB"/>
        </a:p>
      </dgm:t>
    </dgm:pt>
    <dgm:pt modelId="{AF43884C-5D09-2C4A-8032-624F6B7F5E23}" type="sibTrans" cxnId="{44A4DD3D-2E69-4E47-94F8-81B2B4FE9194}">
      <dgm:prSet/>
      <dgm:spPr/>
      <dgm:t>
        <a:bodyPr/>
        <a:lstStyle/>
        <a:p>
          <a:endParaRPr lang="en-GB"/>
        </a:p>
      </dgm:t>
    </dgm:pt>
    <dgm:pt modelId="{B9202C0F-C3C4-8046-89FA-D0F094421B13}" type="pres">
      <dgm:prSet presAssocID="{130C1E0E-13C2-234A-83D6-926918CB6A7D}" presName="linearFlow" presStyleCnt="0">
        <dgm:presLayoutVars>
          <dgm:dir/>
          <dgm:animLvl val="lvl"/>
          <dgm:resizeHandles val="exact"/>
        </dgm:presLayoutVars>
      </dgm:prSet>
      <dgm:spPr/>
    </dgm:pt>
    <dgm:pt modelId="{3443E186-1010-3044-B671-8426308ECC96}" type="pres">
      <dgm:prSet presAssocID="{A918A370-D229-2142-A8F9-BFE769E54F3B}" presName="composite" presStyleCnt="0"/>
      <dgm:spPr/>
    </dgm:pt>
    <dgm:pt modelId="{A549A126-BD31-394B-90A7-C24EF3A2F46E}" type="pres">
      <dgm:prSet presAssocID="{A918A370-D229-2142-A8F9-BFE769E54F3B}" presName="parTx" presStyleLbl="node1" presStyleIdx="0" presStyleCnt="4">
        <dgm:presLayoutVars>
          <dgm:chMax val="0"/>
          <dgm:chPref val="0"/>
          <dgm:bulletEnabled val="1"/>
        </dgm:presLayoutVars>
      </dgm:prSet>
      <dgm:spPr/>
    </dgm:pt>
    <dgm:pt modelId="{00F93EBD-F919-2945-9AFD-39C9D5D54E04}" type="pres">
      <dgm:prSet presAssocID="{A918A370-D229-2142-A8F9-BFE769E54F3B}" presName="parSh" presStyleLbl="node1" presStyleIdx="0" presStyleCnt="4"/>
      <dgm:spPr/>
    </dgm:pt>
    <dgm:pt modelId="{294B5729-8B82-634D-A175-2FE9D3133078}" type="pres">
      <dgm:prSet presAssocID="{A918A370-D229-2142-A8F9-BFE769E54F3B}" presName="desTx" presStyleLbl="fgAcc1" presStyleIdx="0" presStyleCnt="4">
        <dgm:presLayoutVars>
          <dgm:bulletEnabled val="1"/>
        </dgm:presLayoutVars>
      </dgm:prSet>
      <dgm:spPr/>
    </dgm:pt>
    <dgm:pt modelId="{E0EDD529-31B5-FC4C-BC44-FE2567F1E0EA}" type="pres">
      <dgm:prSet presAssocID="{0F652777-EB2D-7040-ADD1-4CAD4D038BD7}" presName="sibTrans" presStyleLbl="sibTrans2D1" presStyleIdx="0" presStyleCnt="3"/>
      <dgm:spPr/>
    </dgm:pt>
    <dgm:pt modelId="{1B8B07FF-4BBA-BF42-B3C9-282C8B1F33E4}" type="pres">
      <dgm:prSet presAssocID="{0F652777-EB2D-7040-ADD1-4CAD4D038BD7}" presName="connTx" presStyleLbl="sibTrans2D1" presStyleIdx="0" presStyleCnt="3"/>
      <dgm:spPr/>
    </dgm:pt>
    <dgm:pt modelId="{4D32B550-8A9C-4E40-8A98-E56E6A8B26E3}" type="pres">
      <dgm:prSet presAssocID="{23ECABB4-3847-DF48-B90F-3ABDF9847725}" presName="composite" presStyleCnt="0"/>
      <dgm:spPr/>
    </dgm:pt>
    <dgm:pt modelId="{91410886-8539-B14B-B5A5-BD3FCB625BB2}" type="pres">
      <dgm:prSet presAssocID="{23ECABB4-3847-DF48-B90F-3ABDF9847725}" presName="parTx" presStyleLbl="node1" presStyleIdx="0" presStyleCnt="4">
        <dgm:presLayoutVars>
          <dgm:chMax val="0"/>
          <dgm:chPref val="0"/>
          <dgm:bulletEnabled val="1"/>
        </dgm:presLayoutVars>
      </dgm:prSet>
      <dgm:spPr/>
    </dgm:pt>
    <dgm:pt modelId="{D8F5702F-6E99-BE40-87D8-C8A92BA8CC24}" type="pres">
      <dgm:prSet presAssocID="{23ECABB4-3847-DF48-B90F-3ABDF9847725}" presName="parSh" presStyleLbl="node1" presStyleIdx="1" presStyleCnt="4"/>
      <dgm:spPr/>
    </dgm:pt>
    <dgm:pt modelId="{85160DF0-70AF-E44D-A329-2675C98FA7A6}" type="pres">
      <dgm:prSet presAssocID="{23ECABB4-3847-DF48-B90F-3ABDF9847725}" presName="desTx" presStyleLbl="fgAcc1" presStyleIdx="1" presStyleCnt="4">
        <dgm:presLayoutVars>
          <dgm:bulletEnabled val="1"/>
        </dgm:presLayoutVars>
      </dgm:prSet>
      <dgm:spPr/>
    </dgm:pt>
    <dgm:pt modelId="{0D821F2A-BE26-A644-BFBD-17D11A8B438E}" type="pres">
      <dgm:prSet presAssocID="{397940AF-A9BB-0942-AC6D-8648122080A8}" presName="sibTrans" presStyleLbl="sibTrans2D1" presStyleIdx="1" presStyleCnt="3"/>
      <dgm:spPr/>
    </dgm:pt>
    <dgm:pt modelId="{4B22F01D-3D8C-2648-BDB9-7C869D6BFF5B}" type="pres">
      <dgm:prSet presAssocID="{397940AF-A9BB-0942-AC6D-8648122080A8}" presName="connTx" presStyleLbl="sibTrans2D1" presStyleIdx="1" presStyleCnt="3"/>
      <dgm:spPr/>
    </dgm:pt>
    <dgm:pt modelId="{0B43CC29-C285-0642-B3A0-EA04E3A9A3D6}" type="pres">
      <dgm:prSet presAssocID="{E8CC192E-90A9-2245-9850-F61133E59237}" presName="composite" presStyleCnt="0"/>
      <dgm:spPr/>
    </dgm:pt>
    <dgm:pt modelId="{9195BB45-5D16-394B-A9D8-A8B229F5F488}" type="pres">
      <dgm:prSet presAssocID="{E8CC192E-90A9-2245-9850-F61133E59237}" presName="parTx" presStyleLbl="node1" presStyleIdx="1" presStyleCnt="4">
        <dgm:presLayoutVars>
          <dgm:chMax val="0"/>
          <dgm:chPref val="0"/>
          <dgm:bulletEnabled val="1"/>
        </dgm:presLayoutVars>
      </dgm:prSet>
      <dgm:spPr/>
    </dgm:pt>
    <dgm:pt modelId="{0F42F33C-5D3D-6D4C-8AA9-D3FE1D61BB0D}" type="pres">
      <dgm:prSet presAssocID="{E8CC192E-90A9-2245-9850-F61133E59237}" presName="parSh" presStyleLbl="node1" presStyleIdx="2" presStyleCnt="4"/>
      <dgm:spPr/>
    </dgm:pt>
    <dgm:pt modelId="{D3E99E44-B177-EE41-A9A5-A14BAA7602C9}" type="pres">
      <dgm:prSet presAssocID="{E8CC192E-90A9-2245-9850-F61133E59237}" presName="desTx" presStyleLbl="fgAcc1" presStyleIdx="2" presStyleCnt="4">
        <dgm:presLayoutVars>
          <dgm:bulletEnabled val="1"/>
        </dgm:presLayoutVars>
      </dgm:prSet>
      <dgm:spPr/>
    </dgm:pt>
    <dgm:pt modelId="{176FCC90-DF0F-1A4D-A6E2-421D24FAE8A8}" type="pres">
      <dgm:prSet presAssocID="{D7A167E0-3F09-B648-BE3B-42B06DC99EB6}" presName="sibTrans" presStyleLbl="sibTrans2D1" presStyleIdx="2" presStyleCnt="3"/>
      <dgm:spPr/>
    </dgm:pt>
    <dgm:pt modelId="{A31796E6-49FD-AD40-8C4A-AC30C1AD99EA}" type="pres">
      <dgm:prSet presAssocID="{D7A167E0-3F09-B648-BE3B-42B06DC99EB6}" presName="connTx" presStyleLbl="sibTrans2D1" presStyleIdx="2" presStyleCnt="3"/>
      <dgm:spPr/>
    </dgm:pt>
    <dgm:pt modelId="{B9999E78-98A0-5543-8359-825AF2E2CBD7}" type="pres">
      <dgm:prSet presAssocID="{06F0CC4D-8D01-654A-833B-158592DF0973}" presName="composite" presStyleCnt="0"/>
      <dgm:spPr/>
    </dgm:pt>
    <dgm:pt modelId="{89F9F9EE-CC97-5043-ADBE-F2D0A5EA9567}" type="pres">
      <dgm:prSet presAssocID="{06F0CC4D-8D01-654A-833B-158592DF0973}" presName="parTx" presStyleLbl="node1" presStyleIdx="2" presStyleCnt="4">
        <dgm:presLayoutVars>
          <dgm:chMax val="0"/>
          <dgm:chPref val="0"/>
          <dgm:bulletEnabled val="1"/>
        </dgm:presLayoutVars>
      </dgm:prSet>
      <dgm:spPr/>
    </dgm:pt>
    <dgm:pt modelId="{20609063-C0D6-804B-A83F-53DBC54A9EA2}" type="pres">
      <dgm:prSet presAssocID="{06F0CC4D-8D01-654A-833B-158592DF0973}" presName="parSh" presStyleLbl="node1" presStyleIdx="3" presStyleCnt="4"/>
      <dgm:spPr/>
    </dgm:pt>
    <dgm:pt modelId="{64847540-2061-0048-A8F9-BF39D62E868E}" type="pres">
      <dgm:prSet presAssocID="{06F0CC4D-8D01-654A-833B-158592DF0973}" presName="desTx" presStyleLbl="fgAcc1" presStyleIdx="3" presStyleCnt="4">
        <dgm:presLayoutVars>
          <dgm:bulletEnabled val="1"/>
        </dgm:presLayoutVars>
      </dgm:prSet>
      <dgm:spPr/>
    </dgm:pt>
  </dgm:ptLst>
  <dgm:cxnLst>
    <dgm:cxn modelId="{16D5FF05-61C2-2543-B775-4A7224641167}" type="presOf" srcId="{06F0CC4D-8D01-654A-833B-158592DF0973}" destId="{20609063-C0D6-804B-A83F-53DBC54A9EA2}" srcOrd="1" destOrd="0" presId="urn:microsoft.com/office/officeart/2005/8/layout/process3"/>
    <dgm:cxn modelId="{C84FA20A-535E-0947-A75E-8B70FE56F8FA}" type="presOf" srcId="{397940AF-A9BB-0942-AC6D-8648122080A8}" destId="{0D821F2A-BE26-A644-BFBD-17D11A8B438E}" srcOrd="0" destOrd="0" presId="urn:microsoft.com/office/officeart/2005/8/layout/process3"/>
    <dgm:cxn modelId="{34155513-43FC-994B-BE89-102226B7496F}" type="presOf" srcId="{19743888-EC8A-6145-82A3-E75111C748E8}" destId="{64847540-2061-0048-A8F9-BF39D62E868E}" srcOrd="0" destOrd="0" presId="urn:microsoft.com/office/officeart/2005/8/layout/process3"/>
    <dgm:cxn modelId="{E44E1F14-BAB4-124D-A81C-80AB2DFF7F38}" type="presOf" srcId="{0F652777-EB2D-7040-ADD1-4CAD4D038BD7}" destId="{E0EDD529-31B5-FC4C-BC44-FE2567F1E0EA}" srcOrd="0" destOrd="0" presId="urn:microsoft.com/office/officeart/2005/8/layout/process3"/>
    <dgm:cxn modelId="{9A416222-6808-B74B-809E-7EE08C9B04A1}" srcId="{130C1E0E-13C2-234A-83D6-926918CB6A7D}" destId="{A918A370-D229-2142-A8F9-BFE769E54F3B}" srcOrd="0" destOrd="0" parTransId="{E7CBAE70-1BCA-2D4C-A4BD-2DDC5F33994A}" sibTransId="{0F652777-EB2D-7040-ADD1-4CAD4D038BD7}"/>
    <dgm:cxn modelId="{39411F33-AD43-4748-8F54-E2B9CAEF0B96}" type="presOf" srcId="{0F652777-EB2D-7040-ADD1-4CAD4D038BD7}" destId="{1B8B07FF-4BBA-BF42-B3C9-282C8B1F33E4}" srcOrd="1" destOrd="0" presId="urn:microsoft.com/office/officeart/2005/8/layout/process3"/>
    <dgm:cxn modelId="{E4943D3D-D7D6-5444-B6DD-CF6DFD106161}" type="presOf" srcId="{95267160-74D8-DB48-A73C-5028FA51FBFA}" destId="{294B5729-8B82-634D-A175-2FE9D3133078}" srcOrd="0" destOrd="0" presId="urn:microsoft.com/office/officeart/2005/8/layout/process3"/>
    <dgm:cxn modelId="{44A4DD3D-2E69-4E47-94F8-81B2B4FE9194}" srcId="{06F0CC4D-8D01-654A-833B-158592DF0973}" destId="{19743888-EC8A-6145-82A3-E75111C748E8}" srcOrd="0" destOrd="0" parTransId="{E6AA38FC-AEDF-6B45-A1A6-3A6496AD23EF}" sibTransId="{AF43884C-5D09-2C4A-8032-624F6B7F5E23}"/>
    <dgm:cxn modelId="{8A80915F-482B-B74B-AD34-F448D8A28F56}" type="presOf" srcId="{5DECCF33-7459-B045-95AE-9157E73AE097}" destId="{D3E99E44-B177-EE41-A9A5-A14BAA7602C9}" srcOrd="0" destOrd="0" presId="urn:microsoft.com/office/officeart/2005/8/layout/process3"/>
    <dgm:cxn modelId="{96DCCC45-3602-D742-A011-CE6DED225E7B}" type="presOf" srcId="{23ECABB4-3847-DF48-B90F-3ABDF9847725}" destId="{91410886-8539-B14B-B5A5-BD3FCB625BB2}" srcOrd="0" destOrd="0" presId="urn:microsoft.com/office/officeart/2005/8/layout/process3"/>
    <dgm:cxn modelId="{64014068-771C-844D-9C8D-C1CFA33FC17C}" type="presOf" srcId="{A918A370-D229-2142-A8F9-BFE769E54F3B}" destId="{00F93EBD-F919-2945-9AFD-39C9D5D54E04}" srcOrd="1" destOrd="0" presId="urn:microsoft.com/office/officeart/2005/8/layout/process3"/>
    <dgm:cxn modelId="{31077249-7849-314A-BD4D-2CFD2E7CE175}" type="presOf" srcId="{D7A167E0-3F09-B648-BE3B-42B06DC99EB6}" destId="{176FCC90-DF0F-1A4D-A6E2-421D24FAE8A8}" srcOrd="0" destOrd="0" presId="urn:microsoft.com/office/officeart/2005/8/layout/process3"/>
    <dgm:cxn modelId="{F10D924D-3090-4A47-8A6D-CF20E71C55BB}" type="presOf" srcId="{A918A370-D229-2142-A8F9-BFE769E54F3B}" destId="{A549A126-BD31-394B-90A7-C24EF3A2F46E}" srcOrd="0" destOrd="0" presId="urn:microsoft.com/office/officeart/2005/8/layout/process3"/>
    <dgm:cxn modelId="{60F3CD5A-8E9D-7D48-8FC4-4874C53D2929}" type="presOf" srcId="{23ECABB4-3847-DF48-B90F-3ABDF9847725}" destId="{D8F5702F-6E99-BE40-87D8-C8A92BA8CC24}" srcOrd="1" destOrd="0" presId="urn:microsoft.com/office/officeart/2005/8/layout/process3"/>
    <dgm:cxn modelId="{62C3137B-C469-234C-BDC9-D50B17051670}" srcId="{130C1E0E-13C2-234A-83D6-926918CB6A7D}" destId="{E8CC192E-90A9-2245-9850-F61133E59237}" srcOrd="2" destOrd="0" parTransId="{1D769DD3-86C1-804C-B10F-EAE46606A651}" sibTransId="{D7A167E0-3F09-B648-BE3B-42B06DC99EB6}"/>
    <dgm:cxn modelId="{4784CB89-83AB-3145-9866-868427C8BB82}" type="presOf" srcId="{382026BB-C94C-0D47-A9D1-4EA6B2B383CC}" destId="{85160DF0-70AF-E44D-A329-2675C98FA7A6}" srcOrd="0" destOrd="0" presId="urn:microsoft.com/office/officeart/2005/8/layout/process3"/>
    <dgm:cxn modelId="{6C03478C-BFA2-2849-8847-C9E9449962B7}" type="presOf" srcId="{E8CC192E-90A9-2245-9850-F61133E59237}" destId="{9195BB45-5D16-394B-A9D8-A8B229F5F488}" srcOrd="0" destOrd="0" presId="urn:microsoft.com/office/officeart/2005/8/layout/process3"/>
    <dgm:cxn modelId="{43B09193-FE75-5E4D-B4F7-481C855A73BC}" type="presOf" srcId="{E8CC192E-90A9-2245-9850-F61133E59237}" destId="{0F42F33C-5D3D-6D4C-8AA9-D3FE1D61BB0D}" srcOrd="1" destOrd="0" presId="urn:microsoft.com/office/officeart/2005/8/layout/process3"/>
    <dgm:cxn modelId="{52E46895-0DBC-1E48-9543-D1CC8B93FC38}" type="presOf" srcId="{06F0CC4D-8D01-654A-833B-158592DF0973}" destId="{89F9F9EE-CC97-5043-ADBE-F2D0A5EA9567}" srcOrd="0" destOrd="0" presId="urn:microsoft.com/office/officeart/2005/8/layout/process3"/>
    <dgm:cxn modelId="{DF6391A2-8CE3-4342-A129-039CC06E720A}" type="presOf" srcId="{397940AF-A9BB-0942-AC6D-8648122080A8}" destId="{4B22F01D-3D8C-2648-BDB9-7C869D6BFF5B}" srcOrd="1" destOrd="0" presId="urn:microsoft.com/office/officeart/2005/8/layout/process3"/>
    <dgm:cxn modelId="{B876D3A2-5217-1B47-84A9-DE69DEE598BB}" srcId="{130C1E0E-13C2-234A-83D6-926918CB6A7D}" destId="{06F0CC4D-8D01-654A-833B-158592DF0973}" srcOrd="3" destOrd="0" parTransId="{2537D362-C06A-CF49-AEF7-112C5CC2ED10}" sibTransId="{78508375-BBCD-7B4B-9679-5409956826E8}"/>
    <dgm:cxn modelId="{B01722A9-DC2F-6A46-939D-32E6A12B3A19}" type="presOf" srcId="{130C1E0E-13C2-234A-83D6-926918CB6A7D}" destId="{B9202C0F-C3C4-8046-89FA-D0F094421B13}" srcOrd="0" destOrd="0" presId="urn:microsoft.com/office/officeart/2005/8/layout/process3"/>
    <dgm:cxn modelId="{5B0A40A9-3020-0C40-BAA5-560C187F303B}" srcId="{E8CC192E-90A9-2245-9850-F61133E59237}" destId="{5DECCF33-7459-B045-95AE-9157E73AE097}" srcOrd="0" destOrd="0" parTransId="{98B8B518-5FB5-CB47-A36A-DE083703AD6B}" sibTransId="{3FEFF110-5A78-9842-8FE7-83EB5D7B89E0}"/>
    <dgm:cxn modelId="{5F78E8BA-FAB5-2D4C-8B3C-53A3B1393AF2}" type="presOf" srcId="{D7A167E0-3F09-B648-BE3B-42B06DC99EB6}" destId="{A31796E6-49FD-AD40-8C4A-AC30C1AD99EA}" srcOrd="1" destOrd="0" presId="urn:microsoft.com/office/officeart/2005/8/layout/process3"/>
    <dgm:cxn modelId="{242332BE-5E1C-9041-BB03-E96D7C0B5C68}" srcId="{23ECABB4-3847-DF48-B90F-3ABDF9847725}" destId="{382026BB-C94C-0D47-A9D1-4EA6B2B383CC}" srcOrd="0" destOrd="0" parTransId="{DA59DAC7-6E69-6D49-9D5B-CC979254B767}" sibTransId="{C39D261B-6EAB-784F-AE51-8BB581E2F0AC}"/>
    <dgm:cxn modelId="{B03FDDF0-DC15-DA49-8F1A-D42DE63C6CDC}" srcId="{A918A370-D229-2142-A8F9-BFE769E54F3B}" destId="{95267160-74D8-DB48-A73C-5028FA51FBFA}" srcOrd="0" destOrd="0" parTransId="{18DF833D-14D8-F24A-B95D-7C18168CA0CF}" sibTransId="{606C0351-8AB8-4948-A1AC-FE1289C98D73}"/>
    <dgm:cxn modelId="{0C2886F7-5294-4A49-BF10-4C44C17EACDE}" srcId="{130C1E0E-13C2-234A-83D6-926918CB6A7D}" destId="{23ECABB4-3847-DF48-B90F-3ABDF9847725}" srcOrd="1" destOrd="0" parTransId="{184E9CE2-DAC0-7144-A9E7-4D73EFFCA422}" sibTransId="{397940AF-A9BB-0942-AC6D-8648122080A8}"/>
    <dgm:cxn modelId="{8F0F0835-9B63-3749-B615-AE314A3FD542}" type="presParOf" srcId="{B9202C0F-C3C4-8046-89FA-D0F094421B13}" destId="{3443E186-1010-3044-B671-8426308ECC96}" srcOrd="0" destOrd="0" presId="urn:microsoft.com/office/officeart/2005/8/layout/process3"/>
    <dgm:cxn modelId="{1B4671C1-9169-6241-8081-8FCE7D925405}" type="presParOf" srcId="{3443E186-1010-3044-B671-8426308ECC96}" destId="{A549A126-BD31-394B-90A7-C24EF3A2F46E}" srcOrd="0" destOrd="0" presId="urn:microsoft.com/office/officeart/2005/8/layout/process3"/>
    <dgm:cxn modelId="{456A57C6-9467-4341-B8D6-35E49B4EB2C5}" type="presParOf" srcId="{3443E186-1010-3044-B671-8426308ECC96}" destId="{00F93EBD-F919-2945-9AFD-39C9D5D54E04}" srcOrd="1" destOrd="0" presId="urn:microsoft.com/office/officeart/2005/8/layout/process3"/>
    <dgm:cxn modelId="{BA2D76AD-4C62-A848-A081-457C216BF307}" type="presParOf" srcId="{3443E186-1010-3044-B671-8426308ECC96}" destId="{294B5729-8B82-634D-A175-2FE9D3133078}" srcOrd="2" destOrd="0" presId="urn:microsoft.com/office/officeart/2005/8/layout/process3"/>
    <dgm:cxn modelId="{8DF7F059-A205-8A43-B1CA-F4B75EBAEF03}" type="presParOf" srcId="{B9202C0F-C3C4-8046-89FA-D0F094421B13}" destId="{E0EDD529-31B5-FC4C-BC44-FE2567F1E0EA}" srcOrd="1" destOrd="0" presId="urn:microsoft.com/office/officeart/2005/8/layout/process3"/>
    <dgm:cxn modelId="{C5785D77-A357-6846-9B2C-964A83BE77B0}" type="presParOf" srcId="{E0EDD529-31B5-FC4C-BC44-FE2567F1E0EA}" destId="{1B8B07FF-4BBA-BF42-B3C9-282C8B1F33E4}" srcOrd="0" destOrd="0" presId="urn:microsoft.com/office/officeart/2005/8/layout/process3"/>
    <dgm:cxn modelId="{3391B716-3D38-6A48-AF23-FB7360FEE414}" type="presParOf" srcId="{B9202C0F-C3C4-8046-89FA-D0F094421B13}" destId="{4D32B550-8A9C-4E40-8A98-E56E6A8B26E3}" srcOrd="2" destOrd="0" presId="urn:microsoft.com/office/officeart/2005/8/layout/process3"/>
    <dgm:cxn modelId="{04A0F282-55D1-D249-A96C-B77A7A1409EE}" type="presParOf" srcId="{4D32B550-8A9C-4E40-8A98-E56E6A8B26E3}" destId="{91410886-8539-B14B-B5A5-BD3FCB625BB2}" srcOrd="0" destOrd="0" presId="urn:microsoft.com/office/officeart/2005/8/layout/process3"/>
    <dgm:cxn modelId="{54121560-1352-524D-918C-4758124CBEE6}" type="presParOf" srcId="{4D32B550-8A9C-4E40-8A98-E56E6A8B26E3}" destId="{D8F5702F-6E99-BE40-87D8-C8A92BA8CC24}" srcOrd="1" destOrd="0" presId="urn:microsoft.com/office/officeart/2005/8/layout/process3"/>
    <dgm:cxn modelId="{4FBD1346-6DEA-4A48-91EB-048C0186C2D8}" type="presParOf" srcId="{4D32B550-8A9C-4E40-8A98-E56E6A8B26E3}" destId="{85160DF0-70AF-E44D-A329-2675C98FA7A6}" srcOrd="2" destOrd="0" presId="urn:microsoft.com/office/officeart/2005/8/layout/process3"/>
    <dgm:cxn modelId="{AF9EBA8C-2080-E34A-8FA9-2F932DA29745}" type="presParOf" srcId="{B9202C0F-C3C4-8046-89FA-D0F094421B13}" destId="{0D821F2A-BE26-A644-BFBD-17D11A8B438E}" srcOrd="3" destOrd="0" presId="urn:microsoft.com/office/officeart/2005/8/layout/process3"/>
    <dgm:cxn modelId="{CC48F20E-89B5-6E4A-B829-DD19E2C046C9}" type="presParOf" srcId="{0D821F2A-BE26-A644-BFBD-17D11A8B438E}" destId="{4B22F01D-3D8C-2648-BDB9-7C869D6BFF5B}" srcOrd="0" destOrd="0" presId="urn:microsoft.com/office/officeart/2005/8/layout/process3"/>
    <dgm:cxn modelId="{9EB86FE2-7212-4340-9AF0-CCC8FDF211FC}" type="presParOf" srcId="{B9202C0F-C3C4-8046-89FA-D0F094421B13}" destId="{0B43CC29-C285-0642-B3A0-EA04E3A9A3D6}" srcOrd="4" destOrd="0" presId="urn:microsoft.com/office/officeart/2005/8/layout/process3"/>
    <dgm:cxn modelId="{D4915846-07B7-6C46-9447-A01BA9F8514D}" type="presParOf" srcId="{0B43CC29-C285-0642-B3A0-EA04E3A9A3D6}" destId="{9195BB45-5D16-394B-A9D8-A8B229F5F488}" srcOrd="0" destOrd="0" presId="urn:microsoft.com/office/officeart/2005/8/layout/process3"/>
    <dgm:cxn modelId="{2CDBCF43-F0C5-C44D-8F6F-6777DB5E4E02}" type="presParOf" srcId="{0B43CC29-C285-0642-B3A0-EA04E3A9A3D6}" destId="{0F42F33C-5D3D-6D4C-8AA9-D3FE1D61BB0D}" srcOrd="1" destOrd="0" presId="urn:microsoft.com/office/officeart/2005/8/layout/process3"/>
    <dgm:cxn modelId="{0E1F78AE-53CF-6547-A117-0DF28C8C8724}" type="presParOf" srcId="{0B43CC29-C285-0642-B3A0-EA04E3A9A3D6}" destId="{D3E99E44-B177-EE41-A9A5-A14BAA7602C9}" srcOrd="2" destOrd="0" presId="urn:microsoft.com/office/officeart/2005/8/layout/process3"/>
    <dgm:cxn modelId="{89ED55F4-39ED-634D-9AA6-DA6DC8F17D62}" type="presParOf" srcId="{B9202C0F-C3C4-8046-89FA-D0F094421B13}" destId="{176FCC90-DF0F-1A4D-A6E2-421D24FAE8A8}" srcOrd="5" destOrd="0" presId="urn:microsoft.com/office/officeart/2005/8/layout/process3"/>
    <dgm:cxn modelId="{7D0A0499-1C0B-A548-B623-D2B0A5A86F1C}" type="presParOf" srcId="{176FCC90-DF0F-1A4D-A6E2-421D24FAE8A8}" destId="{A31796E6-49FD-AD40-8C4A-AC30C1AD99EA}" srcOrd="0" destOrd="0" presId="urn:microsoft.com/office/officeart/2005/8/layout/process3"/>
    <dgm:cxn modelId="{63D6CD8B-8E45-A742-8298-A4F2EFBE3CB7}" type="presParOf" srcId="{B9202C0F-C3C4-8046-89FA-D0F094421B13}" destId="{B9999E78-98A0-5543-8359-825AF2E2CBD7}" srcOrd="6" destOrd="0" presId="urn:microsoft.com/office/officeart/2005/8/layout/process3"/>
    <dgm:cxn modelId="{E50B10D4-0D18-444D-B7BB-9E037475023C}" type="presParOf" srcId="{B9999E78-98A0-5543-8359-825AF2E2CBD7}" destId="{89F9F9EE-CC97-5043-ADBE-F2D0A5EA9567}" srcOrd="0" destOrd="0" presId="urn:microsoft.com/office/officeart/2005/8/layout/process3"/>
    <dgm:cxn modelId="{49255A09-5E97-5043-92B3-D298F19D60A9}" type="presParOf" srcId="{B9999E78-98A0-5543-8359-825AF2E2CBD7}" destId="{20609063-C0D6-804B-A83F-53DBC54A9EA2}" srcOrd="1" destOrd="0" presId="urn:microsoft.com/office/officeart/2005/8/layout/process3"/>
    <dgm:cxn modelId="{FE16058C-6952-1945-9B1A-4B724031F584}" type="presParOf" srcId="{B9999E78-98A0-5543-8359-825AF2E2CBD7}" destId="{64847540-2061-0048-A8F9-BF39D62E868E}"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0C1E0E-13C2-234A-83D6-926918CB6A7D}" type="doc">
      <dgm:prSet loTypeId="urn:microsoft.com/office/officeart/2005/8/layout/hProcess4" loCatId="" qsTypeId="urn:microsoft.com/office/officeart/2005/8/quickstyle/simple1" qsCatId="simple" csTypeId="urn:microsoft.com/office/officeart/2005/8/colors/colorful4" csCatId="colorful" phldr="1"/>
      <dgm:spPr/>
      <dgm:t>
        <a:bodyPr/>
        <a:lstStyle/>
        <a:p>
          <a:endParaRPr lang="en-GB"/>
        </a:p>
      </dgm:t>
    </dgm:pt>
    <dgm:pt modelId="{A918A370-D229-2142-A8F9-BFE769E54F3B}">
      <dgm:prSet phldrT="[Text]"/>
      <dgm:spPr/>
      <dgm:t>
        <a:bodyPr/>
        <a:lstStyle/>
        <a:p>
          <a:pPr>
            <a:buFont typeface="+mj-lt"/>
            <a:buAutoNum type="romanUcPeriod"/>
          </a:pPr>
          <a:r>
            <a:rPr lang="en-US" b="1" dirty="0"/>
            <a:t>1</a:t>
          </a:r>
          <a:endParaRPr lang="en-GB" dirty="0"/>
        </a:p>
      </dgm:t>
    </dgm:pt>
    <dgm:pt modelId="{E7CBAE70-1BCA-2D4C-A4BD-2DDC5F33994A}" type="parTrans" cxnId="{9A416222-6808-B74B-809E-7EE08C9B04A1}">
      <dgm:prSet/>
      <dgm:spPr/>
      <dgm:t>
        <a:bodyPr/>
        <a:lstStyle/>
        <a:p>
          <a:endParaRPr lang="en-GB"/>
        </a:p>
      </dgm:t>
    </dgm:pt>
    <dgm:pt modelId="{0F652777-EB2D-7040-ADD1-4CAD4D038BD7}" type="sibTrans" cxnId="{9A416222-6808-B74B-809E-7EE08C9B04A1}">
      <dgm:prSet/>
      <dgm:spPr/>
      <dgm:t>
        <a:bodyPr/>
        <a:lstStyle/>
        <a:p>
          <a:endParaRPr lang="en-GB"/>
        </a:p>
      </dgm:t>
    </dgm:pt>
    <dgm:pt modelId="{95267160-74D8-DB48-A73C-5028FA51FBFA}">
      <dgm:prSet phldrT="[Text]"/>
      <dgm:spPr/>
      <dgm:t>
        <a:bodyPr/>
        <a:lstStyle/>
        <a:p>
          <a:pPr>
            <a:buNone/>
          </a:pPr>
          <a:r>
            <a:rPr lang="en-US" dirty="0"/>
            <a:t>Data collection choices must be driven by the research questions and objectives, not by convenience or habit. </a:t>
          </a:r>
          <a:endParaRPr lang="en-GB" dirty="0">
            <a:solidFill>
              <a:schemeClr val="tx1"/>
            </a:solidFill>
          </a:endParaRPr>
        </a:p>
      </dgm:t>
    </dgm:pt>
    <dgm:pt modelId="{18DF833D-14D8-F24A-B95D-7C18168CA0CF}" type="parTrans" cxnId="{B03FDDF0-DC15-DA49-8F1A-D42DE63C6CDC}">
      <dgm:prSet/>
      <dgm:spPr/>
      <dgm:t>
        <a:bodyPr/>
        <a:lstStyle/>
        <a:p>
          <a:endParaRPr lang="en-GB"/>
        </a:p>
      </dgm:t>
    </dgm:pt>
    <dgm:pt modelId="{606C0351-8AB8-4948-A1AC-FE1289C98D73}" type="sibTrans" cxnId="{B03FDDF0-DC15-DA49-8F1A-D42DE63C6CDC}">
      <dgm:prSet/>
      <dgm:spPr/>
      <dgm:t>
        <a:bodyPr/>
        <a:lstStyle/>
        <a:p>
          <a:endParaRPr lang="en-GB"/>
        </a:p>
      </dgm:t>
    </dgm:pt>
    <dgm:pt modelId="{23ECABB4-3847-DF48-B90F-3ABDF9847725}">
      <dgm:prSet phldrT="[Text]"/>
      <dgm:spPr/>
      <dgm:t>
        <a:bodyPr/>
        <a:lstStyle/>
        <a:p>
          <a:pPr>
            <a:buFont typeface="+mj-lt"/>
            <a:buAutoNum type="romanUcPeriod"/>
          </a:pPr>
          <a:r>
            <a:rPr lang="en-US" b="1" dirty="0"/>
            <a:t>2</a:t>
          </a:r>
          <a:endParaRPr lang="en-GB" dirty="0"/>
        </a:p>
      </dgm:t>
    </dgm:pt>
    <dgm:pt modelId="{184E9CE2-DAC0-7144-A9E7-4D73EFFCA422}" type="parTrans" cxnId="{0C2886F7-5294-4A49-BF10-4C44C17EACDE}">
      <dgm:prSet/>
      <dgm:spPr/>
      <dgm:t>
        <a:bodyPr/>
        <a:lstStyle/>
        <a:p>
          <a:endParaRPr lang="en-GB"/>
        </a:p>
      </dgm:t>
    </dgm:pt>
    <dgm:pt modelId="{397940AF-A9BB-0942-AC6D-8648122080A8}" type="sibTrans" cxnId="{0C2886F7-5294-4A49-BF10-4C44C17EACDE}">
      <dgm:prSet/>
      <dgm:spPr/>
      <dgm:t>
        <a:bodyPr/>
        <a:lstStyle/>
        <a:p>
          <a:endParaRPr lang="en-GB"/>
        </a:p>
      </dgm:t>
    </dgm:pt>
    <dgm:pt modelId="{382026BB-C94C-0D47-A9D1-4EA6B2B383CC}">
      <dgm:prSet phldrT="[Text]"/>
      <dgm:spPr/>
      <dgm:t>
        <a:bodyPr/>
        <a:lstStyle/>
        <a:p>
          <a:pPr>
            <a:buNone/>
          </a:pPr>
          <a:r>
            <a:rPr lang="en-US" dirty="0"/>
            <a:t>Analysis techniques must be appropriate for the type of data and must directly answer the research questions. </a:t>
          </a:r>
          <a:endParaRPr lang="en-GB" dirty="0"/>
        </a:p>
      </dgm:t>
    </dgm:pt>
    <dgm:pt modelId="{DA59DAC7-6E69-6D49-9D5B-CC979254B767}" type="parTrans" cxnId="{242332BE-5E1C-9041-BB03-E96D7C0B5C68}">
      <dgm:prSet/>
      <dgm:spPr/>
      <dgm:t>
        <a:bodyPr/>
        <a:lstStyle/>
        <a:p>
          <a:endParaRPr lang="en-GB"/>
        </a:p>
      </dgm:t>
    </dgm:pt>
    <dgm:pt modelId="{C39D261B-6EAB-784F-AE51-8BB581E2F0AC}" type="sibTrans" cxnId="{242332BE-5E1C-9041-BB03-E96D7C0B5C68}">
      <dgm:prSet/>
      <dgm:spPr/>
      <dgm:t>
        <a:bodyPr/>
        <a:lstStyle/>
        <a:p>
          <a:endParaRPr lang="en-GB"/>
        </a:p>
      </dgm:t>
    </dgm:pt>
    <dgm:pt modelId="{E8CC192E-90A9-2245-9850-F61133E59237}">
      <dgm:prSet phldrT="[Text]"/>
      <dgm:spPr/>
      <dgm:t>
        <a:bodyPr/>
        <a:lstStyle/>
        <a:p>
          <a:pPr>
            <a:buFont typeface="+mj-lt"/>
            <a:buAutoNum type="romanUcPeriod"/>
          </a:pPr>
          <a:r>
            <a:rPr lang="en-US" b="1" dirty="0"/>
            <a:t>3</a:t>
          </a:r>
          <a:endParaRPr lang="en-GB" dirty="0"/>
        </a:p>
      </dgm:t>
    </dgm:pt>
    <dgm:pt modelId="{1D769DD3-86C1-804C-B10F-EAE46606A651}" type="parTrans" cxnId="{62C3137B-C469-234C-BDC9-D50B17051670}">
      <dgm:prSet/>
      <dgm:spPr/>
      <dgm:t>
        <a:bodyPr/>
        <a:lstStyle/>
        <a:p>
          <a:endParaRPr lang="en-GB"/>
        </a:p>
      </dgm:t>
    </dgm:pt>
    <dgm:pt modelId="{D7A167E0-3F09-B648-BE3B-42B06DC99EB6}" type="sibTrans" cxnId="{62C3137B-C469-234C-BDC9-D50B17051670}">
      <dgm:prSet/>
      <dgm:spPr/>
      <dgm:t>
        <a:bodyPr/>
        <a:lstStyle/>
        <a:p>
          <a:endParaRPr lang="en-GB"/>
        </a:p>
      </dgm:t>
    </dgm:pt>
    <dgm:pt modelId="{5DECCF33-7459-B045-95AE-9157E73AE097}">
      <dgm:prSet phldrT="[Text]"/>
      <dgm:spPr/>
      <dgm:t>
        <a:bodyPr/>
        <a:lstStyle/>
        <a:p>
          <a:pPr>
            <a:buNone/>
          </a:pPr>
          <a:r>
            <a:rPr lang="en-US" dirty="0"/>
            <a:t>A Golden Thread breaks when the research design does not match the promised approach, for example, exploratory qualitative framing paired with hypotheses and variables, or explanatory quantitative designs paired with open-ended why and how questions. </a:t>
          </a:r>
          <a:endParaRPr lang="en-GB" dirty="0"/>
        </a:p>
      </dgm:t>
    </dgm:pt>
    <dgm:pt modelId="{98B8B518-5FB5-CB47-A36A-DE083703AD6B}" type="parTrans" cxnId="{5B0A40A9-3020-0C40-BAA5-560C187F303B}">
      <dgm:prSet/>
      <dgm:spPr/>
      <dgm:t>
        <a:bodyPr/>
        <a:lstStyle/>
        <a:p>
          <a:endParaRPr lang="en-GB"/>
        </a:p>
      </dgm:t>
    </dgm:pt>
    <dgm:pt modelId="{3FEFF110-5A78-9842-8FE7-83EB5D7B89E0}" type="sibTrans" cxnId="{5B0A40A9-3020-0C40-BAA5-560C187F303B}">
      <dgm:prSet/>
      <dgm:spPr/>
      <dgm:t>
        <a:bodyPr/>
        <a:lstStyle/>
        <a:p>
          <a:endParaRPr lang="en-GB"/>
        </a:p>
      </dgm:t>
    </dgm:pt>
    <dgm:pt modelId="{8AC94CEB-26A8-8245-84FD-079414440BE6}" type="pres">
      <dgm:prSet presAssocID="{130C1E0E-13C2-234A-83D6-926918CB6A7D}" presName="Name0" presStyleCnt="0">
        <dgm:presLayoutVars>
          <dgm:dir/>
          <dgm:animLvl val="lvl"/>
          <dgm:resizeHandles val="exact"/>
        </dgm:presLayoutVars>
      </dgm:prSet>
      <dgm:spPr/>
    </dgm:pt>
    <dgm:pt modelId="{7D71F61D-844B-3B4A-8D8C-5AAB8102E265}" type="pres">
      <dgm:prSet presAssocID="{130C1E0E-13C2-234A-83D6-926918CB6A7D}" presName="tSp" presStyleCnt="0"/>
      <dgm:spPr/>
    </dgm:pt>
    <dgm:pt modelId="{92BBF305-CB5C-A141-B460-60CEE527EC20}" type="pres">
      <dgm:prSet presAssocID="{130C1E0E-13C2-234A-83D6-926918CB6A7D}" presName="bSp" presStyleCnt="0"/>
      <dgm:spPr/>
    </dgm:pt>
    <dgm:pt modelId="{D6381F8E-8DBB-194B-9A44-D45CD173DD02}" type="pres">
      <dgm:prSet presAssocID="{130C1E0E-13C2-234A-83D6-926918CB6A7D}" presName="process" presStyleCnt="0"/>
      <dgm:spPr/>
    </dgm:pt>
    <dgm:pt modelId="{BDF69C62-B25F-934C-A796-EE7C981D5C6C}" type="pres">
      <dgm:prSet presAssocID="{A918A370-D229-2142-A8F9-BFE769E54F3B}" presName="composite1" presStyleCnt="0"/>
      <dgm:spPr/>
    </dgm:pt>
    <dgm:pt modelId="{B2E72788-DEF3-F74C-84C1-20768673FFCF}" type="pres">
      <dgm:prSet presAssocID="{A918A370-D229-2142-A8F9-BFE769E54F3B}" presName="dummyNode1" presStyleLbl="node1" presStyleIdx="0" presStyleCnt="3"/>
      <dgm:spPr/>
    </dgm:pt>
    <dgm:pt modelId="{931AB8A9-2289-BD44-AD62-E72291F3B14B}" type="pres">
      <dgm:prSet presAssocID="{A918A370-D229-2142-A8F9-BFE769E54F3B}" presName="childNode1" presStyleLbl="bgAcc1" presStyleIdx="0" presStyleCnt="3">
        <dgm:presLayoutVars>
          <dgm:bulletEnabled val="1"/>
        </dgm:presLayoutVars>
      </dgm:prSet>
      <dgm:spPr/>
    </dgm:pt>
    <dgm:pt modelId="{E569AD3F-D534-0E4D-9A09-9BAC4E7FD091}" type="pres">
      <dgm:prSet presAssocID="{A918A370-D229-2142-A8F9-BFE769E54F3B}" presName="childNode1tx" presStyleLbl="bgAcc1" presStyleIdx="0" presStyleCnt="3">
        <dgm:presLayoutVars>
          <dgm:bulletEnabled val="1"/>
        </dgm:presLayoutVars>
      </dgm:prSet>
      <dgm:spPr/>
    </dgm:pt>
    <dgm:pt modelId="{847FCC6C-A221-8544-A9DA-0A213444A980}" type="pres">
      <dgm:prSet presAssocID="{A918A370-D229-2142-A8F9-BFE769E54F3B}" presName="parentNode1" presStyleLbl="node1" presStyleIdx="0" presStyleCnt="3">
        <dgm:presLayoutVars>
          <dgm:chMax val="1"/>
          <dgm:bulletEnabled val="1"/>
        </dgm:presLayoutVars>
      </dgm:prSet>
      <dgm:spPr/>
    </dgm:pt>
    <dgm:pt modelId="{795B0C74-736A-774C-8A87-A09CCC377825}" type="pres">
      <dgm:prSet presAssocID="{A918A370-D229-2142-A8F9-BFE769E54F3B}" presName="connSite1" presStyleCnt="0"/>
      <dgm:spPr/>
    </dgm:pt>
    <dgm:pt modelId="{1F1B6002-D221-8746-8260-508D03EAB391}" type="pres">
      <dgm:prSet presAssocID="{0F652777-EB2D-7040-ADD1-4CAD4D038BD7}" presName="Name9" presStyleLbl="sibTrans2D1" presStyleIdx="0" presStyleCnt="2"/>
      <dgm:spPr/>
    </dgm:pt>
    <dgm:pt modelId="{B3317230-E82D-3243-8767-F77D87846083}" type="pres">
      <dgm:prSet presAssocID="{23ECABB4-3847-DF48-B90F-3ABDF9847725}" presName="composite2" presStyleCnt="0"/>
      <dgm:spPr/>
    </dgm:pt>
    <dgm:pt modelId="{9B04AB4A-F9A8-0742-85E7-2F4FBD8158D8}" type="pres">
      <dgm:prSet presAssocID="{23ECABB4-3847-DF48-B90F-3ABDF9847725}" presName="dummyNode2" presStyleLbl="node1" presStyleIdx="0" presStyleCnt="3"/>
      <dgm:spPr/>
    </dgm:pt>
    <dgm:pt modelId="{49220296-0E5A-5048-8581-289716903906}" type="pres">
      <dgm:prSet presAssocID="{23ECABB4-3847-DF48-B90F-3ABDF9847725}" presName="childNode2" presStyleLbl="bgAcc1" presStyleIdx="1" presStyleCnt="3">
        <dgm:presLayoutVars>
          <dgm:bulletEnabled val="1"/>
        </dgm:presLayoutVars>
      </dgm:prSet>
      <dgm:spPr/>
    </dgm:pt>
    <dgm:pt modelId="{C6A917B7-A849-5E46-98D4-9F9022F61F65}" type="pres">
      <dgm:prSet presAssocID="{23ECABB4-3847-DF48-B90F-3ABDF9847725}" presName="childNode2tx" presStyleLbl="bgAcc1" presStyleIdx="1" presStyleCnt="3">
        <dgm:presLayoutVars>
          <dgm:bulletEnabled val="1"/>
        </dgm:presLayoutVars>
      </dgm:prSet>
      <dgm:spPr/>
    </dgm:pt>
    <dgm:pt modelId="{E5EDC804-B35E-0D46-A7DB-BC7DE6ABF288}" type="pres">
      <dgm:prSet presAssocID="{23ECABB4-3847-DF48-B90F-3ABDF9847725}" presName="parentNode2" presStyleLbl="node1" presStyleIdx="1" presStyleCnt="3">
        <dgm:presLayoutVars>
          <dgm:chMax val="0"/>
          <dgm:bulletEnabled val="1"/>
        </dgm:presLayoutVars>
      </dgm:prSet>
      <dgm:spPr/>
    </dgm:pt>
    <dgm:pt modelId="{EC805041-F150-ED4E-9B81-17FB53CD79EE}" type="pres">
      <dgm:prSet presAssocID="{23ECABB4-3847-DF48-B90F-3ABDF9847725}" presName="connSite2" presStyleCnt="0"/>
      <dgm:spPr/>
    </dgm:pt>
    <dgm:pt modelId="{5A553F09-3707-4440-A898-D90EFA21392D}" type="pres">
      <dgm:prSet presAssocID="{397940AF-A9BB-0942-AC6D-8648122080A8}" presName="Name18" presStyleLbl="sibTrans2D1" presStyleIdx="1" presStyleCnt="2"/>
      <dgm:spPr/>
    </dgm:pt>
    <dgm:pt modelId="{39566E1C-D5BF-E047-A0C5-3B4E09E4D104}" type="pres">
      <dgm:prSet presAssocID="{E8CC192E-90A9-2245-9850-F61133E59237}" presName="composite1" presStyleCnt="0"/>
      <dgm:spPr/>
    </dgm:pt>
    <dgm:pt modelId="{AC7A0850-2235-8044-A200-2734E38FDF52}" type="pres">
      <dgm:prSet presAssocID="{E8CC192E-90A9-2245-9850-F61133E59237}" presName="dummyNode1" presStyleLbl="node1" presStyleIdx="1" presStyleCnt="3"/>
      <dgm:spPr/>
    </dgm:pt>
    <dgm:pt modelId="{3CC6D473-5EF5-7148-9B99-A0D6A4B813EE}" type="pres">
      <dgm:prSet presAssocID="{E8CC192E-90A9-2245-9850-F61133E59237}" presName="childNode1" presStyleLbl="bgAcc1" presStyleIdx="2" presStyleCnt="3">
        <dgm:presLayoutVars>
          <dgm:bulletEnabled val="1"/>
        </dgm:presLayoutVars>
      </dgm:prSet>
      <dgm:spPr/>
    </dgm:pt>
    <dgm:pt modelId="{C14F576F-24FF-CF4E-B082-0D192EDA990C}" type="pres">
      <dgm:prSet presAssocID="{E8CC192E-90A9-2245-9850-F61133E59237}" presName="childNode1tx" presStyleLbl="bgAcc1" presStyleIdx="2" presStyleCnt="3">
        <dgm:presLayoutVars>
          <dgm:bulletEnabled val="1"/>
        </dgm:presLayoutVars>
      </dgm:prSet>
      <dgm:spPr/>
    </dgm:pt>
    <dgm:pt modelId="{D34379A7-3FAF-1548-8C4F-0CC806A6DDA8}" type="pres">
      <dgm:prSet presAssocID="{E8CC192E-90A9-2245-9850-F61133E59237}" presName="parentNode1" presStyleLbl="node1" presStyleIdx="2" presStyleCnt="3">
        <dgm:presLayoutVars>
          <dgm:chMax val="1"/>
          <dgm:bulletEnabled val="1"/>
        </dgm:presLayoutVars>
      </dgm:prSet>
      <dgm:spPr/>
    </dgm:pt>
    <dgm:pt modelId="{DC9D87E2-3A43-AC41-A4BF-8A9A319F8910}" type="pres">
      <dgm:prSet presAssocID="{E8CC192E-90A9-2245-9850-F61133E59237}" presName="connSite1" presStyleCnt="0"/>
      <dgm:spPr/>
    </dgm:pt>
  </dgm:ptLst>
  <dgm:cxnLst>
    <dgm:cxn modelId="{19754408-648E-254A-8091-74C2E59C9837}" type="presOf" srcId="{397940AF-A9BB-0942-AC6D-8648122080A8}" destId="{5A553F09-3707-4440-A898-D90EFA21392D}" srcOrd="0" destOrd="0" presId="urn:microsoft.com/office/officeart/2005/8/layout/hProcess4"/>
    <dgm:cxn modelId="{4878F618-DBD2-FE4F-9F50-A10B26B953E6}" type="presOf" srcId="{382026BB-C94C-0D47-A9D1-4EA6B2B383CC}" destId="{C6A917B7-A849-5E46-98D4-9F9022F61F65}" srcOrd="1" destOrd="0" presId="urn:microsoft.com/office/officeart/2005/8/layout/hProcess4"/>
    <dgm:cxn modelId="{9A416222-6808-B74B-809E-7EE08C9B04A1}" srcId="{130C1E0E-13C2-234A-83D6-926918CB6A7D}" destId="{A918A370-D229-2142-A8F9-BFE769E54F3B}" srcOrd="0" destOrd="0" parTransId="{E7CBAE70-1BCA-2D4C-A4BD-2DDC5F33994A}" sibTransId="{0F652777-EB2D-7040-ADD1-4CAD4D038BD7}"/>
    <dgm:cxn modelId="{C993EE29-E4A9-134B-9507-19C2E1C683B0}" type="presOf" srcId="{E8CC192E-90A9-2245-9850-F61133E59237}" destId="{D34379A7-3FAF-1548-8C4F-0CC806A6DDA8}" srcOrd="0" destOrd="0" presId="urn:microsoft.com/office/officeart/2005/8/layout/hProcess4"/>
    <dgm:cxn modelId="{58D70B32-7C77-B74A-B2D2-21439F2C8226}" type="presOf" srcId="{23ECABB4-3847-DF48-B90F-3ABDF9847725}" destId="{E5EDC804-B35E-0D46-A7DB-BC7DE6ABF288}" srcOrd="0" destOrd="0" presId="urn:microsoft.com/office/officeart/2005/8/layout/hProcess4"/>
    <dgm:cxn modelId="{F215553D-D1B4-564A-BEC8-E0574F323A5E}" type="presOf" srcId="{5DECCF33-7459-B045-95AE-9157E73AE097}" destId="{3CC6D473-5EF5-7148-9B99-A0D6A4B813EE}" srcOrd="0" destOrd="0" presId="urn:microsoft.com/office/officeart/2005/8/layout/hProcess4"/>
    <dgm:cxn modelId="{994E9261-EF30-284B-84E5-F41AF32C803D}" type="presOf" srcId="{A918A370-D229-2142-A8F9-BFE769E54F3B}" destId="{847FCC6C-A221-8544-A9DA-0A213444A980}" srcOrd="0" destOrd="0" presId="urn:microsoft.com/office/officeart/2005/8/layout/hProcess4"/>
    <dgm:cxn modelId="{A8C81B56-8450-7C49-AE89-8076FB44224F}" type="presOf" srcId="{382026BB-C94C-0D47-A9D1-4EA6B2B383CC}" destId="{49220296-0E5A-5048-8581-289716903906}" srcOrd="0" destOrd="0" presId="urn:microsoft.com/office/officeart/2005/8/layout/hProcess4"/>
    <dgm:cxn modelId="{62C3137B-C469-234C-BDC9-D50B17051670}" srcId="{130C1E0E-13C2-234A-83D6-926918CB6A7D}" destId="{E8CC192E-90A9-2245-9850-F61133E59237}" srcOrd="2" destOrd="0" parTransId="{1D769DD3-86C1-804C-B10F-EAE46606A651}" sibTransId="{D7A167E0-3F09-B648-BE3B-42B06DC99EB6}"/>
    <dgm:cxn modelId="{D6D00DA4-A1FB-8A4F-AF03-4B740D6F169D}" type="presOf" srcId="{95267160-74D8-DB48-A73C-5028FA51FBFA}" destId="{E569AD3F-D534-0E4D-9A09-9BAC4E7FD091}" srcOrd="1" destOrd="0" presId="urn:microsoft.com/office/officeart/2005/8/layout/hProcess4"/>
    <dgm:cxn modelId="{5B0A40A9-3020-0C40-BAA5-560C187F303B}" srcId="{E8CC192E-90A9-2245-9850-F61133E59237}" destId="{5DECCF33-7459-B045-95AE-9157E73AE097}" srcOrd="0" destOrd="0" parTransId="{98B8B518-5FB5-CB47-A36A-DE083703AD6B}" sibTransId="{3FEFF110-5A78-9842-8FE7-83EB5D7B89E0}"/>
    <dgm:cxn modelId="{5C44D3B8-E8F7-8347-BBBB-E22EC3C183DC}" type="presOf" srcId="{130C1E0E-13C2-234A-83D6-926918CB6A7D}" destId="{8AC94CEB-26A8-8245-84FD-079414440BE6}" srcOrd="0" destOrd="0" presId="urn:microsoft.com/office/officeart/2005/8/layout/hProcess4"/>
    <dgm:cxn modelId="{242332BE-5E1C-9041-BB03-E96D7C0B5C68}" srcId="{23ECABB4-3847-DF48-B90F-3ABDF9847725}" destId="{382026BB-C94C-0D47-A9D1-4EA6B2B383CC}" srcOrd="0" destOrd="0" parTransId="{DA59DAC7-6E69-6D49-9D5B-CC979254B767}" sibTransId="{C39D261B-6EAB-784F-AE51-8BB581E2F0AC}"/>
    <dgm:cxn modelId="{741E24BF-F2A7-2D41-A3ED-D581A3569C10}" type="presOf" srcId="{5DECCF33-7459-B045-95AE-9157E73AE097}" destId="{C14F576F-24FF-CF4E-B082-0D192EDA990C}" srcOrd="1" destOrd="0" presId="urn:microsoft.com/office/officeart/2005/8/layout/hProcess4"/>
    <dgm:cxn modelId="{F7A0A6D6-EEF7-5948-B353-FB58D482E408}" type="presOf" srcId="{0F652777-EB2D-7040-ADD1-4CAD4D038BD7}" destId="{1F1B6002-D221-8746-8260-508D03EAB391}" srcOrd="0" destOrd="0" presId="urn:microsoft.com/office/officeart/2005/8/layout/hProcess4"/>
    <dgm:cxn modelId="{B03FDDF0-DC15-DA49-8F1A-D42DE63C6CDC}" srcId="{A918A370-D229-2142-A8F9-BFE769E54F3B}" destId="{95267160-74D8-DB48-A73C-5028FA51FBFA}" srcOrd="0" destOrd="0" parTransId="{18DF833D-14D8-F24A-B95D-7C18168CA0CF}" sibTransId="{606C0351-8AB8-4948-A1AC-FE1289C98D73}"/>
    <dgm:cxn modelId="{0C2886F7-5294-4A49-BF10-4C44C17EACDE}" srcId="{130C1E0E-13C2-234A-83D6-926918CB6A7D}" destId="{23ECABB4-3847-DF48-B90F-3ABDF9847725}" srcOrd="1" destOrd="0" parTransId="{184E9CE2-DAC0-7144-A9E7-4D73EFFCA422}" sibTransId="{397940AF-A9BB-0942-AC6D-8648122080A8}"/>
    <dgm:cxn modelId="{6DDCBAFA-A7F8-2E48-BB6D-B2FD1DAB4503}" type="presOf" srcId="{95267160-74D8-DB48-A73C-5028FA51FBFA}" destId="{931AB8A9-2289-BD44-AD62-E72291F3B14B}" srcOrd="0" destOrd="0" presId="urn:microsoft.com/office/officeart/2005/8/layout/hProcess4"/>
    <dgm:cxn modelId="{B40F9EEC-82FC-CC4B-8CBB-901A5ED5F216}" type="presParOf" srcId="{8AC94CEB-26A8-8245-84FD-079414440BE6}" destId="{7D71F61D-844B-3B4A-8D8C-5AAB8102E265}" srcOrd="0" destOrd="0" presId="urn:microsoft.com/office/officeart/2005/8/layout/hProcess4"/>
    <dgm:cxn modelId="{46CF3DC6-4715-3944-AC8D-0C844825526F}" type="presParOf" srcId="{8AC94CEB-26A8-8245-84FD-079414440BE6}" destId="{92BBF305-CB5C-A141-B460-60CEE527EC20}" srcOrd="1" destOrd="0" presId="urn:microsoft.com/office/officeart/2005/8/layout/hProcess4"/>
    <dgm:cxn modelId="{A4BE16C7-DCDC-8B47-BC00-2F4794D3FE17}" type="presParOf" srcId="{8AC94CEB-26A8-8245-84FD-079414440BE6}" destId="{D6381F8E-8DBB-194B-9A44-D45CD173DD02}" srcOrd="2" destOrd="0" presId="urn:microsoft.com/office/officeart/2005/8/layout/hProcess4"/>
    <dgm:cxn modelId="{4029E000-9EB3-8C41-86F6-7D125CB3FA09}" type="presParOf" srcId="{D6381F8E-8DBB-194B-9A44-D45CD173DD02}" destId="{BDF69C62-B25F-934C-A796-EE7C981D5C6C}" srcOrd="0" destOrd="0" presId="urn:microsoft.com/office/officeart/2005/8/layout/hProcess4"/>
    <dgm:cxn modelId="{CC41AA2C-66BC-0745-9CCC-64975442A7F2}" type="presParOf" srcId="{BDF69C62-B25F-934C-A796-EE7C981D5C6C}" destId="{B2E72788-DEF3-F74C-84C1-20768673FFCF}" srcOrd="0" destOrd="0" presId="urn:microsoft.com/office/officeart/2005/8/layout/hProcess4"/>
    <dgm:cxn modelId="{38425F27-11C4-8F4D-9A61-7B1C20EC1487}" type="presParOf" srcId="{BDF69C62-B25F-934C-A796-EE7C981D5C6C}" destId="{931AB8A9-2289-BD44-AD62-E72291F3B14B}" srcOrd="1" destOrd="0" presId="urn:microsoft.com/office/officeart/2005/8/layout/hProcess4"/>
    <dgm:cxn modelId="{3031C95B-F588-044F-985A-7FD213713D7D}" type="presParOf" srcId="{BDF69C62-B25F-934C-A796-EE7C981D5C6C}" destId="{E569AD3F-D534-0E4D-9A09-9BAC4E7FD091}" srcOrd="2" destOrd="0" presId="urn:microsoft.com/office/officeart/2005/8/layout/hProcess4"/>
    <dgm:cxn modelId="{B4C7E297-215A-DE43-B273-1B09F2C40DBD}" type="presParOf" srcId="{BDF69C62-B25F-934C-A796-EE7C981D5C6C}" destId="{847FCC6C-A221-8544-A9DA-0A213444A980}" srcOrd="3" destOrd="0" presId="urn:microsoft.com/office/officeart/2005/8/layout/hProcess4"/>
    <dgm:cxn modelId="{4BF2269E-B5B2-834B-9A9F-F54C876B8675}" type="presParOf" srcId="{BDF69C62-B25F-934C-A796-EE7C981D5C6C}" destId="{795B0C74-736A-774C-8A87-A09CCC377825}" srcOrd="4" destOrd="0" presId="urn:microsoft.com/office/officeart/2005/8/layout/hProcess4"/>
    <dgm:cxn modelId="{36F11CC0-D90E-994B-901A-AEE5E3DD9960}" type="presParOf" srcId="{D6381F8E-8DBB-194B-9A44-D45CD173DD02}" destId="{1F1B6002-D221-8746-8260-508D03EAB391}" srcOrd="1" destOrd="0" presId="urn:microsoft.com/office/officeart/2005/8/layout/hProcess4"/>
    <dgm:cxn modelId="{D67B641B-C585-884E-BDF8-F3F4E7671ABD}" type="presParOf" srcId="{D6381F8E-8DBB-194B-9A44-D45CD173DD02}" destId="{B3317230-E82D-3243-8767-F77D87846083}" srcOrd="2" destOrd="0" presId="urn:microsoft.com/office/officeart/2005/8/layout/hProcess4"/>
    <dgm:cxn modelId="{E1FEBEB1-9822-9E44-9B19-2AB4CD2E14CD}" type="presParOf" srcId="{B3317230-E82D-3243-8767-F77D87846083}" destId="{9B04AB4A-F9A8-0742-85E7-2F4FBD8158D8}" srcOrd="0" destOrd="0" presId="urn:microsoft.com/office/officeart/2005/8/layout/hProcess4"/>
    <dgm:cxn modelId="{DC92724B-6C34-CF4A-B501-1D3F957DE18A}" type="presParOf" srcId="{B3317230-E82D-3243-8767-F77D87846083}" destId="{49220296-0E5A-5048-8581-289716903906}" srcOrd="1" destOrd="0" presId="urn:microsoft.com/office/officeart/2005/8/layout/hProcess4"/>
    <dgm:cxn modelId="{470B9C58-E086-4641-8CD3-3F7ED04338FF}" type="presParOf" srcId="{B3317230-E82D-3243-8767-F77D87846083}" destId="{C6A917B7-A849-5E46-98D4-9F9022F61F65}" srcOrd="2" destOrd="0" presId="urn:microsoft.com/office/officeart/2005/8/layout/hProcess4"/>
    <dgm:cxn modelId="{916DC9F5-2E68-E94E-B7D2-9565E435B573}" type="presParOf" srcId="{B3317230-E82D-3243-8767-F77D87846083}" destId="{E5EDC804-B35E-0D46-A7DB-BC7DE6ABF288}" srcOrd="3" destOrd="0" presId="urn:microsoft.com/office/officeart/2005/8/layout/hProcess4"/>
    <dgm:cxn modelId="{742D862D-8C67-3F4B-ABA2-D45ECB799586}" type="presParOf" srcId="{B3317230-E82D-3243-8767-F77D87846083}" destId="{EC805041-F150-ED4E-9B81-17FB53CD79EE}" srcOrd="4" destOrd="0" presId="urn:microsoft.com/office/officeart/2005/8/layout/hProcess4"/>
    <dgm:cxn modelId="{5D00B905-97DA-3C48-86F6-C2CC98976115}" type="presParOf" srcId="{D6381F8E-8DBB-194B-9A44-D45CD173DD02}" destId="{5A553F09-3707-4440-A898-D90EFA21392D}" srcOrd="3" destOrd="0" presId="urn:microsoft.com/office/officeart/2005/8/layout/hProcess4"/>
    <dgm:cxn modelId="{501EAD14-B39E-C74B-800C-D4AFEAD89D0D}" type="presParOf" srcId="{D6381F8E-8DBB-194B-9A44-D45CD173DD02}" destId="{39566E1C-D5BF-E047-A0C5-3B4E09E4D104}" srcOrd="4" destOrd="0" presId="urn:microsoft.com/office/officeart/2005/8/layout/hProcess4"/>
    <dgm:cxn modelId="{DE9F859B-3C06-6349-BEE2-C3431496CCE2}" type="presParOf" srcId="{39566E1C-D5BF-E047-A0C5-3B4E09E4D104}" destId="{AC7A0850-2235-8044-A200-2734E38FDF52}" srcOrd="0" destOrd="0" presId="urn:microsoft.com/office/officeart/2005/8/layout/hProcess4"/>
    <dgm:cxn modelId="{7C1DCB14-8178-3D46-A35B-49C9A9446FCC}" type="presParOf" srcId="{39566E1C-D5BF-E047-A0C5-3B4E09E4D104}" destId="{3CC6D473-5EF5-7148-9B99-A0D6A4B813EE}" srcOrd="1" destOrd="0" presId="urn:microsoft.com/office/officeart/2005/8/layout/hProcess4"/>
    <dgm:cxn modelId="{794D0E4C-134C-DC47-AEFA-9D99422A5D6F}" type="presParOf" srcId="{39566E1C-D5BF-E047-A0C5-3B4E09E4D104}" destId="{C14F576F-24FF-CF4E-B082-0D192EDA990C}" srcOrd="2" destOrd="0" presId="urn:microsoft.com/office/officeart/2005/8/layout/hProcess4"/>
    <dgm:cxn modelId="{878E70B4-D52D-524E-8A40-A8004B5995E3}" type="presParOf" srcId="{39566E1C-D5BF-E047-A0C5-3B4E09E4D104}" destId="{D34379A7-3FAF-1548-8C4F-0CC806A6DDA8}" srcOrd="3" destOrd="0" presId="urn:microsoft.com/office/officeart/2005/8/layout/hProcess4"/>
    <dgm:cxn modelId="{DAEB4E4A-A536-9645-BA41-68EE78388C8F}" type="presParOf" srcId="{39566E1C-D5BF-E047-A0C5-3B4E09E4D104}" destId="{DC9D87E2-3A43-AC41-A4BF-8A9A319F8910}"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30C1E0E-13C2-234A-83D6-926918CB6A7D}" type="doc">
      <dgm:prSet loTypeId="urn:microsoft.com/office/officeart/2009/3/layout/IncreasingArrowsProcess" loCatId="" qsTypeId="urn:microsoft.com/office/officeart/2005/8/quickstyle/simple1" qsCatId="simple" csTypeId="urn:microsoft.com/office/officeart/2005/8/colors/colorful4" csCatId="colorful" phldr="1"/>
      <dgm:spPr/>
      <dgm:t>
        <a:bodyPr/>
        <a:lstStyle/>
        <a:p>
          <a:endParaRPr lang="en-GB"/>
        </a:p>
      </dgm:t>
    </dgm:pt>
    <dgm:pt modelId="{A918A370-D229-2142-A8F9-BFE769E54F3B}">
      <dgm:prSet phldrT="[Text]"/>
      <dgm:spPr/>
      <dgm:t>
        <a:bodyPr/>
        <a:lstStyle/>
        <a:p>
          <a:pPr>
            <a:buFont typeface="+mj-lt"/>
            <a:buAutoNum type="romanUcPeriod"/>
          </a:pPr>
          <a:r>
            <a:rPr lang="en-US" b="1" dirty="0"/>
            <a:t>1</a:t>
          </a:r>
          <a:endParaRPr lang="en-GB" dirty="0"/>
        </a:p>
      </dgm:t>
    </dgm:pt>
    <dgm:pt modelId="{E7CBAE70-1BCA-2D4C-A4BD-2DDC5F33994A}" type="parTrans" cxnId="{9A416222-6808-B74B-809E-7EE08C9B04A1}">
      <dgm:prSet/>
      <dgm:spPr/>
      <dgm:t>
        <a:bodyPr/>
        <a:lstStyle/>
        <a:p>
          <a:endParaRPr lang="en-GB"/>
        </a:p>
      </dgm:t>
    </dgm:pt>
    <dgm:pt modelId="{0F652777-EB2D-7040-ADD1-4CAD4D038BD7}" type="sibTrans" cxnId="{9A416222-6808-B74B-809E-7EE08C9B04A1}">
      <dgm:prSet/>
      <dgm:spPr/>
      <dgm:t>
        <a:bodyPr/>
        <a:lstStyle/>
        <a:p>
          <a:endParaRPr lang="en-GB"/>
        </a:p>
      </dgm:t>
    </dgm:pt>
    <dgm:pt modelId="{95267160-74D8-DB48-A73C-5028FA51FBFA}">
      <dgm:prSet phldrT="[Text]"/>
      <dgm:spPr/>
      <dgm:t>
        <a:bodyPr/>
        <a:lstStyle/>
        <a:p>
          <a:pPr>
            <a:buNone/>
          </a:pPr>
          <a:r>
            <a:rPr lang="en-US" dirty="0"/>
            <a:t>Conclusions must answer the research questions and meet the objectives.</a:t>
          </a:r>
          <a:endParaRPr lang="en-GB" dirty="0">
            <a:solidFill>
              <a:schemeClr val="tx1"/>
            </a:solidFill>
          </a:endParaRPr>
        </a:p>
      </dgm:t>
    </dgm:pt>
    <dgm:pt modelId="{18DF833D-14D8-F24A-B95D-7C18168CA0CF}" type="parTrans" cxnId="{B03FDDF0-DC15-DA49-8F1A-D42DE63C6CDC}">
      <dgm:prSet/>
      <dgm:spPr/>
      <dgm:t>
        <a:bodyPr/>
        <a:lstStyle/>
        <a:p>
          <a:endParaRPr lang="en-GB"/>
        </a:p>
      </dgm:t>
    </dgm:pt>
    <dgm:pt modelId="{606C0351-8AB8-4948-A1AC-FE1289C98D73}" type="sibTrans" cxnId="{B03FDDF0-DC15-DA49-8F1A-D42DE63C6CDC}">
      <dgm:prSet/>
      <dgm:spPr/>
      <dgm:t>
        <a:bodyPr/>
        <a:lstStyle/>
        <a:p>
          <a:endParaRPr lang="en-GB"/>
        </a:p>
      </dgm:t>
    </dgm:pt>
    <dgm:pt modelId="{23ECABB4-3847-DF48-B90F-3ABDF9847725}">
      <dgm:prSet phldrT="[Text]"/>
      <dgm:spPr/>
      <dgm:t>
        <a:bodyPr/>
        <a:lstStyle/>
        <a:p>
          <a:pPr>
            <a:buFont typeface="+mj-lt"/>
            <a:buAutoNum type="romanUcPeriod"/>
          </a:pPr>
          <a:r>
            <a:rPr lang="en-US" b="1" dirty="0"/>
            <a:t>2</a:t>
          </a:r>
          <a:endParaRPr lang="en-GB" dirty="0"/>
        </a:p>
      </dgm:t>
    </dgm:pt>
    <dgm:pt modelId="{184E9CE2-DAC0-7144-A9E7-4D73EFFCA422}" type="parTrans" cxnId="{0C2886F7-5294-4A49-BF10-4C44C17EACDE}">
      <dgm:prSet/>
      <dgm:spPr/>
      <dgm:t>
        <a:bodyPr/>
        <a:lstStyle/>
        <a:p>
          <a:endParaRPr lang="en-GB"/>
        </a:p>
      </dgm:t>
    </dgm:pt>
    <dgm:pt modelId="{397940AF-A9BB-0942-AC6D-8648122080A8}" type="sibTrans" cxnId="{0C2886F7-5294-4A49-BF10-4C44C17EACDE}">
      <dgm:prSet/>
      <dgm:spPr/>
      <dgm:t>
        <a:bodyPr/>
        <a:lstStyle/>
        <a:p>
          <a:endParaRPr lang="en-GB"/>
        </a:p>
      </dgm:t>
    </dgm:pt>
    <dgm:pt modelId="{382026BB-C94C-0D47-A9D1-4EA6B2B383CC}">
      <dgm:prSet phldrT="[Text]"/>
      <dgm:spPr/>
      <dgm:t>
        <a:bodyPr/>
        <a:lstStyle/>
        <a:p>
          <a:pPr>
            <a:buNone/>
          </a:pPr>
          <a:r>
            <a:rPr lang="en-US" dirty="0"/>
            <a:t>Implications must follow logically from the findings, not from personal preference.</a:t>
          </a:r>
          <a:endParaRPr lang="en-GB" dirty="0"/>
        </a:p>
      </dgm:t>
    </dgm:pt>
    <dgm:pt modelId="{DA59DAC7-6E69-6D49-9D5B-CC979254B767}" type="parTrans" cxnId="{242332BE-5E1C-9041-BB03-E96D7C0B5C68}">
      <dgm:prSet/>
      <dgm:spPr/>
      <dgm:t>
        <a:bodyPr/>
        <a:lstStyle/>
        <a:p>
          <a:endParaRPr lang="en-GB"/>
        </a:p>
      </dgm:t>
    </dgm:pt>
    <dgm:pt modelId="{C39D261B-6EAB-784F-AE51-8BB581E2F0AC}" type="sibTrans" cxnId="{242332BE-5E1C-9041-BB03-E96D7C0B5C68}">
      <dgm:prSet/>
      <dgm:spPr/>
      <dgm:t>
        <a:bodyPr/>
        <a:lstStyle/>
        <a:p>
          <a:endParaRPr lang="en-GB"/>
        </a:p>
      </dgm:t>
    </dgm:pt>
    <dgm:pt modelId="{E8CC192E-90A9-2245-9850-F61133E59237}">
      <dgm:prSet phldrT="[Text]"/>
      <dgm:spPr/>
      <dgm:t>
        <a:bodyPr/>
        <a:lstStyle/>
        <a:p>
          <a:pPr>
            <a:buFont typeface="+mj-lt"/>
            <a:buAutoNum type="romanUcPeriod"/>
          </a:pPr>
          <a:r>
            <a:rPr lang="en-US" b="1" dirty="0"/>
            <a:t>3</a:t>
          </a:r>
          <a:endParaRPr lang="en-GB" dirty="0"/>
        </a:p>
      </dgm:t>
    </dgm:pt>
    <dgm:pt modelId="{1D769DD3-86C1-804C-B10F-EAE46606A651}" type="parTrans" cxnId="{62C3137B-C469-234C-BDC9-D50B17051670}">
      <dgm:prSet/>
      <dgm:spPr/>
      <dgm:t>
        <a:bodyPr/>
        <a:lstStyle/>
        <a:p>
          <a:endParaRPr lang="en-GB"/>
        </a:p>
      </dgm:t>
    </dgm:pt>
    <dgm:pt modelId="{D7A167E0-3F09-B648-BE3B-42B06DC99EB6}" type="sibTrans" cxnId="{62C3137B-C469-234C-BDC9-D50B17051670}">
      <dgm:prSet/>
      <dgm:spPr/>
      <dgm:t>
        <a:bodyPr/>
        <a:lstStyle/>
        <a:p>
          <a:endParaRPr lang="en-GB"/>
        </a:p>
      </dgm:t>
    </dgm:pt>
    <dgm:pt modelId="{5DECCF33-7459-B045-95AE-9157E73AE097}">
      <dgm:prSet phldrT="[Text]"/>
      <dgm:spPr/>
      <dgm:t>
        <a:bodyPr/>
        <a:lstStyle/>
        <a:p>
          <a:pPr>
            <a:buNone/>
          </a:pPr>
          <a:r>
            <a:rPr lang="en-US" dirty="0"/>
            <a:t>Readers should not finish your work asking: “So what? Why did I read this?” The Golden Thread is the answer to that question. </a:t>
          </a:r>
          <a:endParaRPr lang="en-GB" dirty="0"/>
        </a:p>
      </dgm:t>
    </dgm:pt>
    <dgm:pt modelId="{98B8B518-5FB5-CB47-A36A-DE083703AD6B}" type="parTrans" cxnId="{5B0A40A9-3020-0C40-BAA5-560C187F303B}">
      <dgm:prSet/>
      <dgm:spPr/>
      <dgm:t>
        <a:bodyPr/>
        <a:lstStyle/>
        <a:p>
          <a:endParaRPr lang="en-GB"/>
        </a:p>
      </dgm:t>
    </dgm:pt>
    <dgm:pt modelId="{3FEFF110-5A78-9842-8FE7-83EB5D7B89E0}" type="sibTrans" cxnId="{5B0A40A9-3020-0C40-BAA5-560C187F303B}">
      <dgm:prSet/>
      <dgm:spPr/>
      <dgm:t>
        <a:bodyPr/>
        <a:lstStyle/>
        <a:p>
          <a:endParaRPr lang="en-GB"/>
        </a:p>
      </dgm:t>
    </dgm:pt>
    <dgm:pt modelId="{AF51EA1C-C380-4740-8B5B-F0D0F1D1BCFC}" type="pres">
      <dgm:prSet presAssocID="{130C1E0E-13C2-234A-83D6-926918CB6A7D}" presName="Name0" presStyleCnt="0">
        <dgm:presLayoutVars>
          <dgm:chMax val="5"/>
          <dgm:chPref val="5"/>
          <dgm:dir/>
          <dgm:animLvl val="lvl"/>
        </dgm:presLayoutVars>
      </dgm:prSet>
      <dgm:spPr/>
    </dgm:pt>
    <dgm:pt modelId="{B27386AA-4C96-D645-AC4B-E6CBCA3C8378}" type="pres">
      <dgm:prSet presAssocID="{A918A370-D229-2142-A8F9-BFE769E54F3B}" presName="parentText1" presStyleLbl="node1" presStyleIdx="0" presStyleCnt="3">
        <dgm:presLayoutVars>
          <dgm:chMax/>
          <dgm:chPref val="3"/>
          <dgm:bulletEnabled val="1"/>
        </dgm:presLayoutVars>
      </dgm:prSet>
      <dgm:spPr/>
    </dgm:pt>
    <dgm:pt modelId="{0CA78D1B-3968-224B-BFDF-74C44DAE9735}" type="pres">
      <dgm:prSet presAssocID="{A918A370-D229-2142-A8F9-BFE769E54F3B}" presName="childText1" presStyleLbl="solidAlignAcc1" presStyleIdx="0" presStyleCnt="3">
        <dgm:presLayoutVars>
          <dgm:chMax val="0"/>
          <dgm:chPref val="0"/>
          <dgm:bulletEnabled val="1"/>
        </dgm:presLayoutVars>
      </dgm:prSet>
      <dgm:spPr/>
    </dgm:pt>
    <dgm:pt modelId="{B991FEB9-62B4-1E47-89B0-F1C6D4138652}" type="pres">
      <dgm:prSet presAssocID="{23ECABB4-3847-DF48-B90F-3ABDF9847725}" presName="parentText2" presStyleLbl="node1" presStyleIdx="1" presStyleCnt="3">
        <dgm:presLayoutVars>
          <dgm:chMax/>
          <dgm:chPref val="3"/>
          <dgm:bulletEnabled val="1"/>
        </dgm:presLayoutVars>
      </dgm:prSet>
      <dgm:spPr/>
    </dgm:pt>
    <dgm:pt modelId="{26B72079-C5A9-7B43-8FD3-15A7CB18FF07}" type="pres">
      <dgm:prSet presAssocID="{23ECABB4-3847-DF48-B90F-3ABDF9847725}" presName="childText2" presStyleLbl="solidAlignAcc1" presStyleIdx="1" presStyleCnt="3">
        <dgm:presLayoutVars>
          <dgm:chMax val="0"/>
          <dgm:chPref val="0"/>
          <dgm:bulletEnabled val="1"/>
        </dgm:presLayoutVars>
      </dgm:prSet>
      <dgm:spPr/>
    </dgm:pt>
    <dgm:pt modelId="{26AF2FDC-C075-D044-81AB-5B2C78BB7851}" type="pres">
      <dgm:prSet presAssocID="{E8CC192E-90A9-2245-9850-F61133E59237}" presName="parentText3" presStyleLbl="node1" presStyleIdx="2" presStyleCnt="3">
        <dgm:presLayoutVars>
          <dgm:chMax/>
          <dgm:chPref val="3"/>
          <dgm:bulletEnabled val="1"/>
        </dgm:presLayoutVars>
      </dgm:prSet>
      <dgm:spPr/>
    </dgm:pt>
    <dgm:pt modelId="{BE002C57-05F9-8149-8BCB-365D065DA1A5}" type="pres">
      <dgm:prSet presAssocID="{E8CC192E-90A9-2245-9850-F61133E59237}" presName="childText3" presStyleLbl="solidAlignAcc1" presStyleIdx="2" presStyleCnt="3">
        <dgm:presLayoutVars>
          <dgm:chMax val="0"/>
          <dgm:chPref val="0"/>
          <dgm:bulletEnabled val="1"/>
        </dgm:presLayoutVars>
      </dgm:prSet>
      <dgm:spPr/>
    </dgm:pt>
  </dgm:ptLst>
  <dgm:cxnLst>
    <dgm:cxn modelId="{9A416222-6808-B74B-809E-7EE08C9B04A1}" srcId="{130C1E0E-13C2-234A-83D6-926918CB6A7D}" destId="{A918A370-D229-2142-A8F9-BFE769E54F3B}" srcOrd="0" destOrd="0" parTransId="{E7CBAE70-1BCA-2D4C-A4BD-2DDC5F33994A}" sibTransId="{0F652777-EB2D-7040-ADD1-4CAD4D038BD7}"/>
    <dgm:cxn modelId="{5E806E28-1AFD-2141-BD53-7E1369705A24}" type="presOf" srcId="{5DECCF33-7459-B045-95AE-9157E73AE097}" destId="{BE002C57-05F9-8149-8BCB-365D065DA1A5}" srcOrd="0" destOrd="0" presId="urn:microsoft.com/office/officeart/2009/3/layout/IncreasingArrowsProcess"/>
    <dgm:cxn modelId="{3E583463-BA10-5C47-852A-2188608A7DBB}" type="presOf" srcId="{130C1E0E-13C2-234A-83D6-926918CB6A7D}" destId="{AF51EA1C-C380-4740-8B5B-F0D0F1D1BCFC}" srcOrd="0" destOrd="0" presId="urn:microsoft.com/office/officeart/2009/3/layout/IncreasingArrowsProcess"/>
    <dgm:cxn modelId="{469E9876-1055-2747-A060-17B4A155766D}" type="presOf" srcId="{95267160-74D8-DB48-A73C-5028FA51FBFA}" destId="{0CA78D1B-3968-224B-BFDF-74C44DAE9735}" srcOrd="0" destOrd="0" presId="urn:microsoft.com/office/officeart/2009/3/layout/IncreasingArrowsProcess"/>
    <dgm:cxn modelId="{388A6A77-C50B-9543-90BD-F739376562DA}" type="presOf" srcId="{382026BB-C94C-0D47-A9D1-4EA6B2B383CC}" destId="{26B72079-C5A9-7B43-8FD3-15A7CB18FF07}" srcOrd="0" destOrd="0" presId="urn:microsoft.com/office/officeart/2009/3/layout/IncreasingArrowsProcess"/>
    <dgm:cxn modelId="{62C3137B-C469-234C-BDC9-D50B17051670}" srcId="{130C1E0E-13C2-234A-83D6-926918CB6A7D}" destId="{E8CC192E-90A9-2245-9850-F61133E59237}" srcOrd="2" destOrd="0" parTransId="{1D769DD3-86C1-804C-B10F-EAE46606A651}" sibTransId="{D7A167E0-3F09-B648-BE3B-42B06DC99EB6}"/>
    <dgm:cxn modelId="{2D635D80-2532-8A44-8AC3-233218F172EE}" type="presOf" srcId="{E8CC192E-90A9-2245-9850-F61133E59237}" destId="{26AF2FDC-C075-D044-81AB-5B2C78BB7851}" srcOrd="0" destOrd="0" presId="urn:microsoft.com/office/officeart/2009/3/layout/IncreasingArrowsProcess"/>
    <dgm:cxn modelId="{5B0A40A9-3020-0C40-BAA5-560C187F303B}" srcId="{E8CC192E-90A9-2245-9850-F61133E59237}" destId="{5DECCF33-7459-B045-95AE-9157E73AE097}" srcOrd="0" destOrd="0" parTransId="{98B8B518-5FB5-CB47-A36A-DE083703AD6B}" sibTransId="{3FEFF110-5A78-9842-8FE7-83EB5D7B89E0}"/>
    <dgm:cxn modelId="{D15122B0-03A6-F646-BA37-AE3969399E33}" type="presOf" srcId="{23ECABB4-3847-DF48-B90F-3ABDF9847725}" destId="{B991FEB9-62B4-1E47-89B0-F1C6D4138652}" srcOrd="0" destOrd="0" presId="urn:microsoft.com/office/officeart/2009/3/layout/IncreasingArrowsProcess"/>
    <dgm:cxn modelId="{242332BE-5E1C-9041-BB03-E96D7C0B5C68}" srcId="{23ECABB4-3847-DF48-B90F-3ABDF9847725}" destId="{382026BB-C94C-0D47-A9D1-4EA6B2B383CC}" srcOrd="0" destOrd="0" parTransId="{DA59DAC7-6E69-6D49-9D5B-CC979254B767}" sibTransId="{C39D261B-6EAB-784F-AE51-8BB581E2F0AC}"/>
    <dgm:cxn modelId="{09E893EE-8167-B84D-8B69-35CF746D1B1C}" type="presOf" srcId="{A918A370-D229-2142-A8F9-BFE769E54F3B}" destId="{B27386AA-4C96-D645-AC4B-E6CBCA3C8378}" srcOrd="0" destOrd="0" presId="urn:microsoft.com/office/officeart/2009/3/layout/IncreasingArrowsProcess"/>
    <dgm:cxn modelId="{B03FDDF0-DC15-DA49-8F1A-D42DE63C6CDC}" srcId="{A918A370-D229-2142-A8F9-BFE769E54F3B}" destId="{95267160-74D8-DB48-A73C-5028FA51FBFA}" srcOrd="0" destOrd="0" parTransId="{18DF833D-14D8-F24A-B95D-7C18168CA0CF}" sibTransId="{606C0351-8AB8-4948-A1AC-FE1289C98D73}"/>
    <dgm:cxn modelId="{0C2886F7-5294-4A49-BF10-4C44C17EACDE}" srcId="{130C1E0E-13C2-234A-83D6-926918CB6A7D}" destId="{23ECABB4-3847-DF48-B90F-3ABDF9847725}" srcOrd="1" destOrd="0" parTransId="{184E9CE2-DAC0-7144-A9E7-4D73EFFCA422}" sibTransId="{397940AF-A9BB-0942-AC6D-8648122080A8}"/>
    <dgm:cxn modelId="{C1FBB674-93EC-414D-B540-3E19026AF2FC}" type="presParOf" srcId="{AF51EA1C-C380-4740-8B5B-F0D0F1D1BCFC}" destId="{B27386AA-4C96-D645-AC4B-E6CBCA3C8378}" srcOrd="0" destOrd="0" presId="urn:microsoft.com/office/officeart/2009/3/layout/IncreasingArrowsProcess"/>
    <dgm:cxn modelId="{59E46C91-F673-C740-A52F-FCE44B20C234}" type="presParOf" srcId="{AF51EA1C-C380-4740-8B5B-F0D0F1D1BCFC}" destId="{0CA78D1B-3968-224B-BFDF-74C44DAE9735}" srcOrd="1" destOrd="0" presId="urn:microsoft.com/office/officeart/2009/3/layout/IncreasingArrowsProcess"/>
    <dgm:cxn modelId="{E96A99FB-B668-7746-8C53-0428E4D2A0D2}" type="presParOf" srcId="{AF51EA1C-C380-4740-8B5B-F0D0F1D1BCFC}" destId="{B991FEB9-62B4-1E47-89B0-F1C6D4138652}" srcOrd="2" destOrd="0" presId="urn:microsoft.com/office/officeart/2009/3/layout/IncreasingArrowsProcess"/>
    <dgm:cxn modelId="{0E140A39-48FD-B34B-89B3-64264EB658AE}" type="presParOf" srcId="{AF51EA1C-C380-4740-8B5B-F0D0F1D1BCFC}" destId="{26B72079-C5A9-7B43-8FD3-15A7CB18FF07}" srcOrd="3" destOrd="0" presId="urn:microsoft.com/office/officeart/2009/3/layout/IncreasingArrowsProcess"/>
    <dgm:cxn modelId="{68C64AE1-237F-944C-946D-AAC2D4485BC7}" type="presParOf" srcId="{AF51EA1C-C380-4740-8B5B-F0D0F1D1BCFC}" destId="{26AF2FDC-C075-D044-81AB-5B2C78BB7851}" srcOrd="4" destOrd="0" presId="urn:microsoft.com/office/officeart/2009/3/layout/IncreasingArrowsProcess"/>
    <dgm:cxn modelId="{33296115-6E34-F746-9AFC-40A9B0D85D85}" type="presParOf" srcId="{AF51EA1C-C380-4740-8B5B-F0D0F1D1BCFC}" destId="{BE002C57-05F9-8149-8BCB-365D065DA1A5}" srcOrd="5"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30C1E0E-13C2-234A-83D6-926918CB6A7D}" type="doc">
      <dgm:prSet loTypeId="urn:microsoft.com/office/officeart/2005/8/layout/cycle7" loCatId="" qsTypeId="urn:microsoft.com/office/officeart/2005/8/quickstyle/simple1" qsCatId="simple" csTypeId="urn:microsoft.com/office/officeart/2005/8/colors/colorful4" csCatId="colorful" phldr="1"/>
      <dgm:spPr/>
      <dgm:t>
        <a:bodyPr/>
        <a:lstStyle/>
        <a:p>
          <a:endParaRPr lang="en-GB"/>
        </a:p>
      </dgm:t>
    </dgm:pt>
    <dgm:pt modelId="{A918A370-D229-2142-A8F9-BFE769E54F3B}">
      <dgm:prSet phldrT="[Text]"/>
      <dgm:spPr/>
      <dgm:t>
        <a:bodyPr/>
        <a:lstStyle/>
        <a:p>
          <a:pPr>
            <a:buFont typeface="+mj-lt"/>
            <a:buAutoNum type="romanUcPeriod"/>
          </a:pPr>
          <a:r>
            <a:rPr lang="en-US" b="1" dirty="0"/>
            <a:t>1</a:t>
          </a:r>
          <a:endParaRPr lang="en-GB" dirty="0"/>
        </a:p>
      </dgm:t>
    </dgm:pt>
    <dgm:pt modelId="{E7CBAE70-1BCA-2D4C-A4BD-2DDC5F33994A}" type="parTrans" cxnId="{9A416222-6808-B74B-809E-7EE08C9B04A1}">
      <dgm:prSet/>
      <dgm:spPr/>
      <dgm:t>
        <a:bodyPr/>
        <a:lstStyle/>
        <a:p>
          <a:endParaRPr lang="en-GB"/>
        </a:p>
      </dgm:t>
    </dgm:pt>
    <dgm:pt modelId="{0F652777-EB2D-7040-ADD1-4CAD4D038BD7}" type="sibTrans" cxnId="{9A416222-6808-B74B-809E-7EE08C9B04A1}">
      <dgm:prSet/>
      <dgm:spPr/>
      <dgm:t>
        <a:bodyPr/>
        <a:lstStyle/>
        <a:p>
          <a:endParaRPr lang="en-GB"/>
        </a:p>
      </dgm:t>
    </dgm:pt>
    <dgm:pt modelId="{95267160-74D8-DB48-A73C-5028FA51FBFA}">
      <dgm:prSet phldrT="[Text]"/>
      <dgm:spPr/>
      <dgm:t>
        <a:bodyPr/>
        <a:lstStyle/>
        <a:p>
          <a:pPr>
            <a:buNone/>
          </a:pPr>
          <a:r>
            <a:rPr lang="en-US" dirty="0"/>
            <a:t>Your reader should be able to trace how each part of the study leads to the next with no gaps or contradictions. </a:t>
          </a:r>
          <a:endParaRPr lang="en-GB" dirty="0">
            <a:solidFill>
              <a:schemeClr val="tx1"/>
            </a:solidFill>
          </a:endParaRPr>
        </a:p>
      </dgm:t>
    </dgm:pt>
    <dgm:pt modelId="{18DF833D-14D8-F24A-B95D-7C18168CA0CF}" type="parTrans" cxnId="{B03FDDF0-DC15-DA49-8F1A-D42DE63C6CDC}">
      <dgm:prSet/>
      <dgm:spPr/>
      <dgm:t>
        <a:bodyPr/>
        <a:lstStyle/>
        <a:p>
          <a:endParaRPr lang="en-GB"/>
        </a:p>
      </dgm:t>
    </dgm:pt>
    <dgm:pt modelId="{606C0351-8AB8-4948-A1AC-FE1289C98D73}" type="sibTrans" cxnId="{B03FDDF0-DC15-DA49-8F1A-D42DE63C6CDC}">
      <dgm:prSet/>
      <dgm:spPr/>
      <dgm:t>
        <a:bodyPr/>
        <a:lstStyle/>
        <a:p>
          <a:endParaRPr lang="en-GB"/>
        </a:p>
      </dgm:t>
    </dgm:pt>
    <dgm:pt modelId="{23ECABB4-3847-DF48-B90F-3ABDF9847725}">
      <dgm:prSet phldrT="[Text]"/>
      <dgm:spPr/>
      <dgm:t>
        <a:bodyPr/>
        <a:lstStyle/>
        <a:p>
          <a:pPr>
            <a:buFont typeface="+mj-lt"/>
            <a:buAutoNum type="romanUcPeriod"/>
          </a:pPr>
          <a:r>
            <a:rPr lang="en-US" b="1" dirty="0"/>
            <a:t>2</a:t>
          </a:r>
          <a:endParaRPr lang="en-GB" dirty="0"/>
        </a:p>
      </dgm:t>
    </dgm:pt>
    <dgm:pt modelId="{184E9CE2-DAC0-7144-A9E7-4D73EFFCA422}" type="parTrans" cxnId="{0C2886F7-5294-4A49-BF10-4C44C17EACDE}">
      <dgm:prSet/>
      <dgm:spPr/>
      <dgm:t>
        <a:bodyPr/>
        <a:lstStyle/>
        <a:p>
          <a:endParaRPr lang="en-GB"/>
        </a:p>
      </dgm:t>
    </dgm:pt>
    <dgm:pt modelId="{397940AF-A9BB-0942-AC6D-8648122080A8}" type="sibTrans" cxnId="{0C2886F7-5294-4A49-BF10-4C44C17EACDE}">
      <dgm:prSet/>
      <dgm:spPr/>
      <dgm:t>
        <a:bodyPr/>
        <a:lstStyle/>
        <a:p>
          <a:endParaRPr lang="en-GB"/>
        </a:p>
      </dgm:t>
    </dgm:pt>
    <dgm:pt modelId="{382026BB-C94C-0D47-A9D1-4EA6B2B383CC}">
      <dgm:prSet phldrT="[Text]"/>
      <dgm:spPr/>
      <dgm:t>
        <a:bodyPr/>
        <a:lstStyle/>
        <a:p>
          <a:pPr>
            <a:buNone/>
          </a:pPr>
          <a:r>
            <a:rPr lang="en-US" dirty="0"/>
            <a:t>Write as scientific communication: communicate the research contribution itself, not the full intellectual history of every false start. </a:t>
          </a:r>
          <a:endParaRPr lang="en-GB" dirty="0"/>
        </a:p>
      </dgm:t>
    </dgm:pt>
    <dgm:pt modelId="{DA59DAC7-6E69-6D49-9D5B-CC979254B767}" type="parTrans" cxnId="{242332BE-5E1C-9041-BB03-E96D7C0B5C68}">
      <dgm:prSet/>
      <dgm:spPr/>
      <dgm:t>
        <a:bodyPr/>
        <a:lstStyle/>
        <a:p>
          <a:endParaRPr lang="en-GB"/>
        </a:p>
      </dgm:t>
    </dgm:pt>
    <dgm:pt modelId="{C39D261B-6EAB-784F-AE51-8BB581E2F0AC}" type="sibTrans" cxnId="{242332BE-5E1C-9041-BB03-E96D7C0B5C68}">
      <dgm:prSet/>
      <dgm:spPr/>
      <dgm:t>
        <a:bodyPr/>
        <a:lstStyle/>
        <a:p>
          <a:endParaRPr lang="en-GB"/>
        </a:p>
      </dgm:t>
    </dgm:pt>
    <dgm:pt modelId="{E8CC192E-90A9-2245-9850-F61133E59237}">
      <dgm:prSet phldrT="[Text]"/>
      <dgm:spPr/>
      <dgm:t>
        <a:bodyPr/>
        <a:lstStyle/>
        <a:p>
          <a:pPr>
            <a:buFont typeface="+mj-lt"/>
            <a:buAutoNum type="romanUcPeriod"/>
          </a:pPr>
          <a:r>
            <a:rPr lang="en-US" b="1" dirty="0"/>
            <a:t>3</a:t>
          </a:r>
          <a:endParaRPr lang="en-GB" dirty="0"/>
        </a:p>
      </dgm:t>
    </dgm:pt>
    <dgm:pt modelId="{1D769DD3-86C1-804C-B10F-EAE46606A651}" type="parTrans" cxnId="{62C3137B-C469-234C-BDC9-D50B17051670}">
      <dgm:prSet/>
      <dgm:spPr/>
      <dgm:t>
        <a:bodyPr/>
        <a:lstStyle/>
        <a:p>
          <a:endParaRPr lang="en-GB"/>
        </a:p>
      </dgm:t>
    </dgm:pt>
    <dgm:pt modelId="{D7A167E0-3F09-B648-BE3B-42B06DC99EB6}" type="sibTrans" cxnId="{62C3137B-C469-234C-BDC9-D50B17051670}">
      <dgm:prSet/>
      <dgm:spPr/>
      <dgm:t>
        <a:bodyPr/>
        <a:lstStyle/>
        <a:p>
          <a:endParaRPr lang="en-GB"/>
        </a:p>
      </dgm:t>
    </dgm:pt>
    <dgm:pt modelId="{5DECCF33-7459-B045-95AE-9157E73AE097}">
      <dgm:prSet phldrT="[Text]"/>
      <dgm:spPr/>
      <dgm:t>
        <a:bodyPr/>
        <a:lstStyle/>
        <a:p>
          <a:pPr>
            <a:buNone/>
          </a:pPr>
          <a:r>
            <a:rPr lang="en-US" dirty="0"/>
            <a:t>Use practical reminders to stay on track, for </a:t>
          </a:r>
          <a:r>
            <a:rPr lang="en-GB" dirty="0"/>
            <a:t>example,</a:t>
          </a:r>
          <a:r>
            <a:rPr lang="en-US" dirty="0"/>
            <a:t> keeping the main research question visible while writing so you do not drift into interesting but irrelevant detail. </a:t>
          </a:r>
          <a:endParaRPr lang="en-GB" dirty="0"/>
        </a:p>
      </dgm:t>
    </dgm:pt>
    <dgm:pt modelId="{98B8B518-5FB5-CB47-A36A-DE083703AD6B}" type="parTrans" cxnId="{5B0A40A9-3020-0C40-BAA5-560C187F303B}">
      <dgm:prSet/>
      <dgm:spPr/>
      <dgm:t>
        <a:bodyPr/>
        <a:lstStyle/>
        <a:p>
          <a:endParaRPr lang="en-GB"/>
        </a:p>
      </dgm:t>
    </dgm:pt>
    <dgm:pt modelId="{3FEFF110-5A78-9842-8FE7-83EB5D7B89E0}" type="sibTrans" cxnId="{5B0A40A9-3020-0C40-BAA5-560C187F303B}">
      <dgm:prSet/>
      <dgm:spPr/>
      <dgm:t>
        <a:bodyPr/>
        <a:lstStyle/>
        <a:p>
          <a:endParaRPr lang="en-GB"/>
        </a:p>
      </dgm:t>
    </dgm:pt>
    <dgm:pt modelId="{74EB1285-C7AE-C44F-8AD6-586F852776C7}" type="pres">
      <dgm:prSet presAssocID="{130C1E0E-13C2-234A-83D6-926918CB6A7D}" presName="Name0" presStyleCnt="0">
        <dgm:presLayoutVars>
          <dgm:dir/>
          <dgm:resizeHandles val="exact"/>
        </dgm:presLayoutVars>
      </dgm:prSet>
      <dgm:spPr/>
    </dgm:pt>
    <dgm:pt modelId="{E08E5632-BED8-1A43-A431-4F0A4544E55E}" type="pres">
      <dgm:prSet presAssocID="{A918A370-D229-2142-A8F9-BFE769E54F3B}" presName="node" presStyleLbl="node1" presStyleIdx="0" presStyleCnt="3">
        <dgm:presLayoutVars>
          <dgm:bulletEnabled val="1"/>
        </dgm:presLayoutVars>
      </dgm:prSet>
      <dgm:spPr/>
    </dgm:pt>
    <dgm:pt modelId="{794EB8CD-9A04-D14E-AA30-6C7AC3CB1F50}" type="pres">
      <dgm:prSet presAssocID="{0F652777-EB2D-7040-ADD1-4CAD4D038BD7}" presName="sibTrans" presStyleLbl="sibTrans2D1" presStyleIdx="0" presStyleCnt="3"/>
      <dgm:spPr/>
    </dgm:pt>
    <dgm:pt modelId="{6E7698C7-A12C-104E-8322-50A17647406B}" type="pres">
      <dgm:prSet presAssocID="{0F652777-EB2D-7040-ADD1-4CAD4D038BD7}" presName="connectorText" presStyleLbl="sibTrans2D1" presStyleIdx="0" presStyleCnt="3"/>
      <dgm:spPr/>
    </dgm:pt>
    <dgm:pt modelId="{3196813F-C2C0-F54C-8F52-F6A5B96274F0}" type="pres">
      <dgm:prSet presAssocID="{23ECABB4-3847-DF48-B90F-3ABDF9847725}" presName="node" presStyleLbl="node1" presStyleIdx="1" presStyleCnt="3">
        <dgm:presLayoutVars>
          <dgm:bulletEnabled val="1"/>
        </dgm:presLayoutVars>
      </dgm:prSet>
      <dgm:spPr/>
    </dgm:pt>
    <dgm:pt modelId="{1D854AD3-98F6-0F44-8AB2-5A251BDE5581}" type="pres">
      <dgm:prSet presAssocID="{397940AF-A9BB-0942-AC6D-8648122080A8}" presName="sibTrans" presStyleLbl="sibTrans2D1" presStyleIdx="1" presStyleCnt="3"/>
      <dgm:spPr/>
    </dgm:pt>
    <dgm:pt modelId="{0F0FB2BF-5BE2-7340-A286-BCFF5B72F7F2}" type="pres">
      <dgm:prSet presAssocID="{397940AF-A9BB-0942-AC6D-8648122080A8}" presName="connectorText" presStyleLbl="sibTrans2D1" presStyleIdx="1" presStyleCnt="3"/>
      <dgm:spPr/>
    </dgm:pt>
    <dgm:pt modelId="{9FE629F6-61A0-5749-8B26-F03F8F8E1630}" type="pres">
      <dgm:prSet presAssocID="{E8CC192E-90A9-2245-9850-F61133E59237}" presName="node" presStyleLbl="node1" presStyleIdx="2" presStyleCnt="3">
        <dgm:presLayoutVars>
          <dgm:bulletEnabled val="1"/>
        </dgm:presLayoutVars>
      </dgm:prSet>
      <dgm:spPr/>
    </dgm:pt>
    <dgm:pt modelId="{BC072D3C-DE75-0F4A-9C59-0DDC2E4B3641}" type="pres">
      <dgm:prSet presAssocID="{D7A167E0-3F09-B648-BE3B-42B06DC99EB6}" presName="sibTrans" presStyleLbl="sibTrans2D1" presStyleIdx="2" presStyleCnt="3"/>
      <dgm:spPr/>
    </dgm:pt>
    <dgm:pt modelId="{897AD129-70EC-4D41-98F1-3381CBAE0AC5}" type="pres">
      <dgm:prSet presAssocID="{D7A167E0-3F09-B648-BE3B-42B06DC99EB6}" presName="connectorText" presStyleLbl="sibTrans2D1" presStyleIdx="2" presStyleCnt="3"/>
      <dgm:spPr/>
    </dgm:pt>
  </dgm:ptLst>
  <dgm:cxnLst>
    <dgm:cxn modelId="{FDF80900-037C-9D49-867F-8085BE9F3A50}" type="presOf" srcId="{397940AF-A9BB-0942-AC6D-8648122080A8}" destId="{1D854AD3-98F6-0F44-8AB2-5A251BDE5581}" srcOrd="0" destOrd="0" presId="urn:microsoft.com/office/officeart/2005/8/layout/cycle7"/>
    <dgm:cxn modelId="{E23E4903-A2FC-284A-A082-783C01337C85}" type="presOf" srcId="{23ECABB4-3847-DF48-B90F-3ABDF9847725}" destId="{3196813F-C2C0-F54C-8F52-F6A5B96274F0}" srcOrd="0" destOrd="0" presId="urn:microsoft.com/office/officeart/2005/8/layout/cycle7"/>
    <dgm:cxn modelId="{2E323C1A-C075-4349-88A8-5559C8DFE09B}" type="presOf" srcId="{D7A167E0-3F09-B648-BE3B-42B06DC99EB6}" destId="{BC072D3C-DE75-0F4A-9C59-0DDC2E4B3641}" srcOrd="0" destOrd="0" presId="urn:microsoft.com/office/officeart/2005/8/layout/cycle7"/>
    <dgm:cxn modelId="{9A416222-6808-B74B-809E-7EE08C9B04A1}" srcId="{130C1E0E-13C2-234A-83D6-926918CB6A7D}" destId="{A918A370-D229-2142-A8F9-BFE769E54F3B}" srcOrd="0" destOrd="0" parTransId="{E7CBAE70-1BCA-2D4C-A4BD-2DDC5F33994A}" sibTransId="{0F652777-EB2D-7040-ADD1-4CAD4D038BD7}"/>
    <dgm:cxn modelId="{B0AFC63E-11CE-1B4F-BEBA-F6384492961D}" type="presOf" srcId="{382026BB-C94C-0D47-A9D1-4EA6B2B383CC}" destId="{3196813F-C2C0-F54C-8F52-F6A5B96274F0}" srcOrd="0" destOrd="1" presId="urn:microsoft.com/office/officeart/2005/8/layout/cycle7"/>
    <dgm:cxn modelId="{A8DD0B61-A72C-0A43-BC05-BC17C02C25E6}" type="presOf" srcId="{E8CC192E-90A9-2245-9850-F61133E59237}" destId="{9FE629F6-61A0-5749-8B26-F03F8F8E1630}" srcOrd="0" destOrd="0" presId="urn:microsoft.com/office/officeart/2005/8/layout/cycle7"/>
    <dgm:cxn modelId="{E6F7C66A-DEFB-BE46-AA23-BDB1AB6C8AF9}" type="presOf" srcId="{0F652777-EB2D-7040-ADD1-4CAD4D038BD7}" destId="{6E7698C7-A12C-104E-8322-50A17647406B}" srcOrd="1" destOrd="0" presId="urn:microsoft.com/office/officeart/2005/8/layout/cycle7"/>
    <dgm:cxn modelId="{9099594B-7EF9-7A40-953D-791B14B5F989}" type="presOf" srcId="{D7A167E0-3F09-B648-BE3B-42B06DC99EB6}" destId="{897AD129-70EC-4D41-98F1-3381CBAE0AC5}" srcOrd="1" destOrd="0" presId="urn:microsoft.com/office/officeart/2005/8/layout/cycle7"/>
    <dgm:cxn modelId="{AFE58E6E-515F-0745-968D-06A7E9005E2B}" type="presOf" srcId="{0F652777-EB2D-7040-ADD1-4CAD4D038BD7}" destId="{794EB8CD-9A04-D14E-AA30-6C7AC3CB1F50}" srcOrd="0" destOrd="0" presId="urn:microsoft.com/office/officeart/2005/8/layout/cycle7"/>
    <dgm:cxn modelId="{D9F8B06F-F39D-4A47-AEF3-162C10EB86D3}" type="presOf" srcId="{397940AF-A9BB-0942-AC6D-8648122080A8}" destId="{0F0FB2BF-5BE2-7340-A286-BCFF5B72F7F2}" srcOrd="1" destOrd="0" presId="urn:microsoft.com/office/officeart/2005/8/layout/cycle7"/>
    <dgm:cxn modelId="{495F8A5A-B636-B346-A12B-DC66FEC606DC}" type="presOf" srcId="{130C1E0E-13C2-234A-83D6-926918CB6A7D}" destId="{74EB1285-C7AE-C44F-8AD6-586F852776C7}" srcOrd="0" destOrd="0" presId="urn:microsoft.com/office/officeart/2005/8/layout/cycle7"/>
    <dgm:cxn modelId="{62C3137B-C469-234C-BDC9-D50B17051670}" srcId="{130C1E0E-13C2-234A-83D6-926918CB6A7D}" destId="{E8CC192E-90A9-2245-9850-F61133E59237}" srcOrd="2" destOrd="0" parTransId="{1D769DD3-86C1-804C-B10F-EAE46606A651}" sibTransId="{D7A167E0-3F09-B648-BE3B-42B06DC99EB6}"/>
    <dgm:cxn modelId="{372E7B89-09EC-124F-9114-9F718739ACD7}" type="presOf" srcId="{5DECCF33-7459-B045-95AE-9157E73AE097}" destId="{9FE629F6-61A0-5749-8B26-F03F8F8E1630}" srcOrd="0" destOrd="1" presId="urn:microsoft.com/office/officeart/2005/8/layout/cycle7"/>
    <dgm:cxn modelId="{FFA9D489-3F97-3948-AB1C-7B2739BDF7EA}" type="presOf" srcId="{A918A370-D229-2142-A8F9-BFE769E54F3B}" destId="{E08E5632-BED8-1A43-A431-4F0A4544E55E}" srcOrd="0" destOrd="0" presId="urn:microsoft.com/office/officeart/2005/8/layout/cycle7"/>
    <dgm:cxn modelId="{FE9C33A9-1CF7-8845-B11D-BCCCB3EE09DF}" type="presOf" srcId="{95267160-74D8-DB48-A73C-5028FA51FBFA}" destId="{E08E5632-BED8-1A43-A431-4F0A4544E55E}" srcOrd="0" destOrd="1" presId="urn:microsoft.com/office/officeart/2005/8/layout/cycle7"/>
    <dgm:cxn modelId="{5B0A40A9-3020-0C40-BAA5-560C187F303B}" srcId="{E8CC192E-90A9-2245-9850-F61133E59237}" destId="{5DECCF33-7459-B045-95AE-9157E73AE097}" srcOrd="0" destOrd="0" parTransId="{98B8B518-5FB5-CB47-A36A-DE083703AD6B}" sibTransId="{3FEFF110-5A78-9842-8FE7-83EB5D7B89E0}"/>
    <dgm:cxn modelId="{242332BE-5E1C-9041-BB03-E96D7C0B5C68}" srcId="{23ECABB4-3847-DF48-B90F-3ABDF9847725}" destId="{382026BB-C94C-0D47-A9D1-4EA6B2B383CC}" srcOrd="0" destOrd="0" parTransId="{DA59DAC7-6E69-6D49-9D5B-CC979254B767}" sibTransId="{C39D261B-6EAB-784F-AE51-8BB581E2F0AC}"/>
    <dgm:cxn modelId="{B03FDDF0-DC15-DA49-8F1A-D42DE63C6CDC}" srcId="{A918A370-D229-2142-A8F9-BFE769E54F3B}" destId="{95267160-74D8-DB48-A73C-5028FA51FBFA}" srcOrd="0" destOrd="0" parTransId="{18DF833D-14D8-F24A-B95D-7C18168CA0CF}" sibTransId="{606C0351-8AB8-4948-A1AC-FE1289C98D73}"/>
    <dgm:cxn modelId="{0C2886F7-5294-4A49-BF10-4C44C17EACDE}" srcId="{130C1E0E-13C2-234A-83D6-926918CB6A7D}" destId="{23ECABB4-3847-DF48-B90F-3ABDF9847725}" srcOrd="1" destOrd="0" parTransId="{184E9CE2-DAC0-7144-A9E7-4D73EFFCA422}" sibTransId="{397940AF-A9BB-0942-AC6D-8648122080A8}"/>
    <dgm:cxn modelId="{143E0639-2420-F242-B48B-45506561D4C4}" type="presParOf" srcId="{74EB1285-C7AE-C44F-8AD6-586F852776C7}" destId="{E08E5632-BED8-1A43-A431-4F0A4544E55E}" srcOrd="0" destOrd="0" presId="urn:microsoft.com/office/officeart/2005/8/layout/cycle7"/>
    <dgm:cxn modelId="{5805C6EB-4400-154F-8B87-15BD0308EF29}" type="presParOf" srcId="{74EB1285-C7AE-C44F-8AD6-586F852776C7}" destId="{794EB8CD-9A04-D14E-AA30-6C7AC3CB1F50}" srcOrd="1" destOrd="0" presId="urn:microsoft.com/office/officeart/2005/8/layout/cycle7"/>
    <dgm:cxn modelId="{034A0FA1-D941-604E-A0AD-82B2A587C86E}" type="presParOf" srcId="{794EB8CD-9A04-D14E-AA30-6C7AC3CB1F50}" destId="{6E7698C7-A12C-104E-8322-50A17647406B}" srcOrd="0" destOrd="0" presId="urn:microsoft.com/office/officeart/2005/8/layout/cycle7"/>
    <dgm:cxn modelId="{EFF34219-C684-6248-8341-05F4819D43AC}" type="presParOf" srcId="{74EB1285-C7AE-C44F-8AD6-586F852776C7}" destId="{3196813F-C2C0-F54C-8F52-F6A5B96274F0}" srcOrd="2" destOrd="0" presId="urn:microsoft.com/office/officeart/2005/8/layout/cycle7"/>
    <dgm:cxn modelId="{13A67B2C-EF02-8B46-9C72-979E40D10F8E}" type="presParOf" srcId="{74EB1285-C7AE-C44F-8AD6-586F852776C7}" destId="{1D854AD3-98F6-0F44-8AB2-5A251BDE5581}" srcOrd="3" destOrd="0" presId="urn:microsoft.com/office/officeart/2005/8/layout/cycle7"/>
    <dgm:cxn modelId="{F11AF5DB-34DD-734D-A10C-257A6EC79381}" type="presParOf" srcId="{1D854AD3-98F6-0F44-8AB2-5A251BDE5581}" destId="{0F0FB2BF-5BE2-7340-A286-BCFF5B72F7F2}" srcOrd="0" destOrd="0" presId="urn:microsoft.com/office/officeart/2005/8/layout/cycle7"/>
    <dgm:cxn modelId="{EB709984-01CF-624E-BBED-F02429152B5F}" type="presParOf" srcId="{74EB1285-C7AE-C44F-8AD6-586F852776C7}" destId="{9FE629F6-61A0-5749-8B26-F03F8F8E1630}" srcOrd="4" destOrd="0" presId="urn:microsoft.com/office/officeart/2005/8/layout/cycle7"/>
    <dgm:cxn modelId="{0D587402-99C7-3D48-90FF-36A52B8BF336}" type="presParOf" srcId="{74EB1285-C7AE-C44F-8AD6-586F852776C7}" destId="{BC072D3C-DE75-0F4A-9C59-0DDC2E4B3641}" srcOrd="5" destOrd="0" presId="urn:microsoft.com/office/officeart/2005/8/layout/cycle7"/>
    <dgm:cxn modelId="{F284234D-962E-1A41-AE64-E69CE87542C0}" type="presParOf" srcId="{BC072D3C-DE75-0F4A-9C59-0DDC2E4B3641}" destId="{897AD129-70EC-4D41-98F1-3381CBAE0AC5}" srcOrd="0" destOrd="0" presId="urn:microsoft.com/office/officeart/2005/8/layout/cycle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30C1E0E-13C2-234A-83D6-926918CB6A7D}" type="doc">
      <dgm:prSet loTypeId="urn:microsoft.com/office/officeart/2005/8/layout/process1" loCatId="" qsTypeId="urn:microsoft.com/office/officeart/2005/8/quickstyle/simple1" qsCatId="simple" csTypeId="urn:microsoft.com/office/officeart/2005/8/colors/colorful4" csCatId="colorful" phldr="1"/>
      <dgm:spPr/>
      <dgm:t>
        <a:bodyPr/>
        <a:lstStyle/>
        <a:p>
          <a:endParaRPr lang="en-GB"/>
        </a:p>
      </dgm:t>
    </dgm:pt>
    <dgm:pt modelId="{A918A370-D229-2142-A8F9-BFE769E54F3B}">
      <dgm:prSet phldrT="[Text]"/>
      <dgm:spPr/>
      <dgm:t>
        <a:bodyPr/>
        <a:lstStyle/>
        <a:p>
          <a:pPr>
            <a:buFont typeface="+mj-lt"/>
            <a:buAutoNum type="romanUcPeriod"/>
          </a:pPr>
          <a:r>
            <a:rPr lang="en-US" b="1" dirty="0"/>
            <a:t>1</a:t>
          </a:r>
          <a:endParaRPr lang="en-GB" dirty="0"/>
        </a:p>
      </dgm:t>
    </dgm:pt>
    <dgm:pt modelId="{E7CBAE70-1BCA-2D4C-A4BD-2DDC5F33994A}" type="parTrans" cxnId="{9A416222-6808-B74B-809E-7EE08C9B04A1}">
      <dgm:prSet/>
      <dgm:spPr/>
      <dgm:t>
        <a:bodyPr/>
        <a:lstStyle/>
        <a:p>
          <a:endParaRPr lang="en-GB"/>
        </a:p>
      </dgm:t>
    </dgm:pt>
    <dgm:pt modelId="{0F652777-EB2D-7040-ADD1-4CAD4D038BD7}" type="sibTrans" cxnId="{9A416222-6808-B74B-809E-7EE08C9B04A1}">
      <dgm:prSet/>
      <dgm:spPr/>
      <dgm:t>
        <a:bodyPr/>
        <a:lstStyle/>
        <a:p>
          <a:endParaRPr lang="en-GB"/>
        </a:p>
      </dgm:t>
    </dgm:pt>
    <dgm:pt modelId="{95267160-74D8-DB48-A73C-5028FA51FBFA}">
      <dgm:prSet phldrT="[Text]"/>
      <dgm:spPr/>
      <dgm:t>
        <a:bodyPr/>
        <a:lstStyle/>
        <a:p>
          <a:pPr>
            <a:buNone/>
          </a:pPr>
          <a:r>
            <a:rPr lang="en-US" dirty="0"/>
            <a:t>Clear evidence supports claims (data </a:t>
          </a:r>
          <a:r>
            <a:rPr lang="en-GB" dirty="0"/>
            <a:t>support</a:t>
          </a:r>
          <a:r>
            <a:rPr lang="en-US" dirty="0"/>
            <a:t> research questions).</a:t>
          </a:r>
          <a:endParaRPr lang="en-GB" dirty="0">
            <a:solidFill>
              <a:schemeClr val="tx1"/>
            </a:solidFill>
          </a:endParaRPr>
        </a:p>
      </dgm:t>
    </dgm:pt>
    <dgm:pt modelId="{18DF833D-14D8-F24A-B95D-7C18168CA0CF}" type="parTrans" cxnId="{B03FDDF0-DC15-DA49-8F1A-D42DE63C6CDC}">
      <dgm:prSet/>
      <dgm:spPr/>
      <dgm:t>
        <a:bodyPr/>
        <a:lstStyle/>
        <a:p>
          <a:endParaRPr lang="en-GB"/>
        </a:p>
      </dgm:t>
    </dgm:pt>
    <dgm:pt modelId="{606C0351-8AB8-4948-A1AC-FE1289C98D73}" type="sibTrans" cxnId="{B03FDDF0-DC15-DA49-8F1A-D42DE63C6CDC}">
      <dgm:prSet/>
      <dgm:spPr/>
      <dgm:t>
        <a:bodyPr/>
        <a:lstStyle/>
        <a:p>
          <a:endParaRPr lang="en-GB"/>
        </a:p>
      </dgm:t>
    </dgm:pt>
    <dgm:pt modelId="{23ECABB4-3847-DF48-B90F-3ABDF9847725}">
      <dgm:prSet phldrT="[Text]"/>
      <dgm:spPr/>
      <dgm:t>
        <a:bodyPr/>
        <a:lstStyle/>
        <a:p>
          <a:pPr>
            <a:buFont typeface="+mj-lt"/>
            <a:buAutoNum type="romanUcPeriod"/>
          </a:pPr>
          <a:r>
            <a:rPr lang="en-US" b="1" dirty="0"/>
            <a:t>2</a:t>
          </a:r>
          <a:endParaRPr lang="en-GB" dirty="0"/>
        </a:p>
      </dgm:t>
    </dgm:pt>
    <dgm:pt modelId="{184E9CE2-DAC0-7144-A9E7-4D73EFFCA422}" type="parTrans" cxnId="{0C2886F7-5294-4A49-BF10-4C44C17EACDE}">
      <dgm:prSet/>
      <dgm:spPr/>
      <dgm:t>
        <a:bodyPr/>
        <a:lstStyle/>
        <a:p>
          <a:endParaRPr lang="en-GB"/>
        </a:p>
      </dgm:t>
    </dgm:pt>
    <dgm:pt modelId="{397940AF-A9BB-0942-AC6D-8648122080A8}" type="sibTrans" cxnId="{0C2886F7-5294-4A49-BF10-4C44C17EACDE}">
      <dgm:prSet/>
      <dgm:spPr/>
      <dgm:t>
        <a:bodyPr/>
        <a:lstStyle/>
        <a:p>
          <a:endParaRPr lang="en-GB"/>
        </a:p>
      </dgm:t>
    </dgm:pt>
    <dgm:pt modelId="{382026BB-C94C-0D47-A9D1-4EA6B2B383CC}">
      <dgm:prSet phldrT="[Text]"/>
      <dgm:spPr/>
      <dgm:t>
        <a:bodyPr/>
        <a:lstStyle/>
        <a:p>
          <a:pPr>
            <a:buNone/>
          </a:pPr>
          <a:r>
            <a:rPr lang="en-US" dirty="0"/>
            <a:t>Logical reasoning connects evidence to claims (analysis links data to questions).</a:t>
          </a:r>
          <a:endParaRPr lang="en-GB" dirty="0"/>
        </a:p>
      </dgm:t>
    </dgm:pt>
    <dgm:pt modelId="{DA59DAC7-6E69-6D49-9D5B-CC979254B767}" type="parTrans" cxnId="{242332BE-5E1C-9041-BB03-E96D7C0B5C68}">
      <dgm:prSet/>
      <dgm:spPr/>
      <dgm:t>
        <a:bodyPr/>
        <a:lstStyle/>
        <a:p>
          <a:endParaRPr lang="en-GB"/>
        </a:p>
      </dgm:t>
    </dgm:pt>
    <dgm:pt modelId="{C39D261B-6EAB-784F-AE51-8BB581E2F0AC}" type="sibTrans" cxnId="{242332BE-5E1C-9041-BB03-E96D7C0B5C68}">
      <dgm:prSet/>
      <dgm:spPr/>
      <dgm:t>
        <a:bodyPr/>
        <a:lstStyle/>
        <a:p>
          <a:endParaRPr lang="en-GB"/>
        </a:p>
      </dgm:t>
    </dgm:pt>
    <dgm:pt modelId="{E8CC192E-90A9-2245-9850-F61133E59237}">
      <dgm:prSet phldrT="[Text]"/>
      <dgm:spPr/>
      <dgm:t>
        <a:bodyPr/>
        <a:lstStyle/>
        <a:p>
          <a:pPr>
            <a:buFont typeface="+mj-lt"/>
            <a:buAutoNum type="romanUcPeriod"/>
          </a:pPr>
          <a:r>
            <a:rPr lang="en-US" b="1" dirty="0"/>
            <a:t>3</a:t>
          </a:r>
          <a:endParaRPr lang="en-GB" dirty="0"/>
        </a:p>
      </dgm:t>
    </dgm:pt>
    <dgm:pt modelId="{1D769DD3-86C1-804C-B10F-EAE46606A651}" type="parTrans" cxnId="{62C3137B-C469-234C-BDC9-D50B17051670}">
      <dgm:prSet/>
      <dgm:spPr/>
      <dgm:t>
        <a:bodyPr/>
        <a:lstStyle/>
        <a:p>
          <a:endParaRPr lang="en-GB"/>
        </a:p>
      </dgm:t>
    </dgm:pt>
    <dgm:pt modelId="{D7A167E0-3F09-B648-BE3B-42B06DC99EB6}" type="sibTrans" cxnId="{62C3137B-C469-234C-BDC9-D50B17051670}">
      <dgm:prSet/>
      <dgm:spPr/>
      <dgm:t>
        <a:bodyPr/>
        <a:lstStyle/>
        <a:p>
          <a:endParaRPr lang="en-GB"/>
        </a:p>
      </dgm:t>
    </dgm:pt>
    <dgm:pt modelId="{5DECCF33-7459-B045-95AE-9157E73AE097}">
      <dgm:prSet phldrT="[Text]"/>
      <dgm:spPr/>
      <dgm:t>
        <a:bodyPr/>
        <a:lstStyle/>
        <a:p>
          <a:pPr>
            <a:buNone/>
          </a:pPr>
          <a:r>
            <a:rPr lang="en-US" dirty="0"/>
            <a:t>A verdict follows logically from evidence and reasoning (conclusions follow from findings). </a:t>
          </a:r>
          <a:endParaRPr lang="en-GB" dirty="0"/>
        </a:p>
      </dgm:t>
    </dgm:pt>
    <dgm:pt modelId="{98B8B518-5FB5-CB47-A36A-DE083703AD6B}" type="parTrans" cxnId="{5B0A40A9-3020-0C40-BAA5-560C187F303B}">
      <dgm:prSet/>
      <dgm:spPr/>
      <dgm:t>
        <a:bodyPr/>
        <a:lstStyle/>
        <a:p>
          <a:endParaRPr lang="en-GB"/>
        </a:p>
      </dgm:t>
    </dgm:pt>
    <dgm:pt modelId="{3FEFF110-5A78-9842-8FE7-83EB5D7B89E0}" type="sibTrans" cxnId="{5B0A40A9-3020-0C40-BAA5-560C187F303B}">
      <dgm:prSet/>
      <dgm:spPr/>
      <dgm:t>
        <a:bodyPr/>
        <a:lstStyle/>
        <a:p>
          <a:endParaRPr lang="en-GB"/>
        </a:p>
      </dgm:t>
    </dgm:pt>
    <dgm:pt modelId="{4BEEC76C-0D7A-3047-BA5B-20F01CC3CDD5}" type="pres">
      <dgm:prSet presAssocID="{130C1E0E-13C2-234A-83D6-926918CB6A7D}" presName="Name0" presStyleCnt="0">
        <dgm:presLayoutVars>
          <dgm:dir/>
          <dgm:resizeHandles val="exact"/>
        </dgm:presLayoutVars>
      </dgm:prSet>
      <dgm:spPr/>
    </dgm:pt>
    <dgm:pt modelId="{BD6A49D9-894A-2D42-977B-6CAD83F01783}" type="pres">
      <dgm:prSet presAssocID="{A918A370-D229-2142-A8F9-BFE769E54F3B}" presName="node" presStyleLbl="node1" presStyleIdx="0" presStyleCnt="3">
        <dgm:presLayoutVars>
          <dgm:bulletEnabled val="1"/>
        </dgm:presLayoutVars>
      </dgm:prSet>
      <dgm:spPr/>
    </dgm:pt>
    <dgm:pt modelId="{96D5C410-3772-FD4B-8B45-91FAA3BDB88C}" type="pres">
      <dgm:prSet presAssocID="{0F652777-EB2D-7040-ADD1-4CAD4D038BD7}" presName="sibTrans" presStyleLbl="sibTrans2D1" presStyleIdx="0" presStyleCnt="2"/>
      <dgm:spPr/>
    </dgm:pt>
    <dgm:pt modelId="{0520D757-FB48-B445-BF9C-4A59E934087A}" type="pres">
      <dgm:prSet presAssocID="{0F652777-EB2D-7040-ADD1-4CAD4D038BD7}" presName="connectorText" presStyleLbl="sibTrans2D1" presStyleIdx="0" presStyleCnt="2"/>
      <dgm:spPr/>
    </dgm:pt>
    <dgm:pt modelId="{5A17A00C-A177-2E48-9D0B-C807D5AD07C0}" type="pres">
      <dgm:prSet presAssocID="{23ECABB4-3847-DF48-B90F-3ABDF9847725}" presName="node" presStyleLbl="node1" presStyleIdx="1" presStyleCnt="3">
        <dgm:presLayoutVars>
          <dgm:bulletEnabled val="1"/>
        </dgm:presLayoutVars>
      </dgm:prSet>
      <dgm:spPr/>
    </dgm:pt>
    <dgm:pt modelId="{AD6493E0-AD1B-B949-A8E1-00E03F58263E}" type="pres">
      <dgm:prSet presAssocID="{397940AF-A9BB-0942-AC6D-8648122080A8}" presName="sibTrans" presStyleLbl="sibTrans2D1" presStyleIdx="1" presStyleCnt="2"/>
      <dgm:spPr/>
    </dgm:pt>
    <dgm:pt modelId="{5A6952A4-9CBB-F34C-BF28-34272B21AF1E}" type="pres">
      <dgm:prSet presAssocID="{397940AF-A9BB-0942-AC6D-8648122080A8}" presName="connectorText" presStyleLbl="sibTrans2D1" presStyleIdx="1" presStyleCnt="2"/>
      <dgm:spPr/>
    </dgm:pt>
    <dgm:pt modelId="{B7BF4865-64E6-DB40-8E7C-05245E6912B4}" type="pres">
      <dgm:prSet presAssocID="{E8CC192E-90A9-2245-9850-F61133E59237}" presName="node" presStyleLbl="node1" presStyleIdx="2" presStyleCnt="3">
        <dgm:presLayoutVars>
          <dgm:bulletEnabled val="1"/>
        </dgm:presLayoutVars>
      </dgm:prSet>
      <dgm:spPr/>
    </dgm:pt>
  </dgm:ptLst>
  <dgm:cxnLst>
    <dgm:cxn modelId="{486D7D0A-89CC-3E4C-9488-D917D6E47809}" type="presOf" srcId="{397940AF-A9BB-0942-AC6D-8648122080A8}" destId="{5A6952A4-9CBB-F34C-BF28-34272B21AF1E}" srcOrd="1" destOrd="0" presId="urn:microsoft.com/office/officeart/2005/8/layout/process1"/>
    <dgm:cxn modelId="{AD79DE0C-5E29-A445-87A9-448333BFFAED}" type="presOf" srcId="{5DECCF33-7459-B045-95AE-9157E73AE097}" destId="{B7BF4865-64E6-DB40-8E7C-05245E6912B4}" srcOrd="0" destOrd="1" presId="urn:microsoft.com/office/officeart/2005/8/layout/process1"/>
    <dgm:cxn modelId="{3E3FE70E-8D01-2640-B297-7B38AA362918}" type="presOf" srcId="{23ECABB4-3847-DF48-B90F-3ABDF9847725}" destId="{5A17A00C-A177-2E48-9D0B-C807D5AD07C0}" srcOrd="0" destOrd="0" presId="urn:microsoft.com/office/officeart/2005/8/layout/process1"/>
    <dgm:cxn modelId="{1CD14312-24E9-1B4E-A2B3-6AAAD8C82B53}" type="presOf" srcId="{E8CC192E-90A9-2245-9850-F61133E59237}" destId="{B7BF4865-64E6-DB40-8E7C-05245E6912B4}" srcOrd="0" destOrd="0" presId="urn:microsoft.com/office/officeart/2005/8/layout/process1"/>
    <dgm:cxn modelId="{260CE617-3BFC-4A49-98A8-751C6654F485}" type="presOf" srcId="{95267160-74D8-DB48-A73C-5028FA51FBFA}" destId="{BD6A49D9-894A-2D42-977B-6CAD83F01783}" srcOrd="0" destOrd="1" presId="urn:microsoft.com/office/officeart/2005/8/layout/process1"/>
    <dgm:cxn modelId="{C12F7119-D21F-CC4C-8664-47114E4C30FB}" type="presOf" srcId="{397940AF-A9BB-0942-AC6D-8648122080A8}" destId="{AD6493E0-AD1B-B949-A8E1-00E03F58263E}" srcOrd="0" destOrd="0" presId="urn:microsoft.com/office/officeart/2005/8/layout/process1"/>
    <dgm:cxn modelId="{9A416222-6808-B74B-809E-7EE08C9B04A1}" srcId="{130C1E0E-13C2-234A-83D6-926918CB6A7D}" destId="{A918A370-D229-2142-A8F9-BFE769E54F3B}" srcOrd="0" destOrd="0" parTransId="{E7CBAE70-1BCA-2D4C-A4BD-2DDC5F33994A}" sibTransId="{0F652777-EB2D-7040-ADD1-4CAD4D038BD7}"/>
    <dgm:cxn modelId="{8609153E-B8E3-C142-8878-015C15AFA323}" type="presOf" srcId="{A918A370-D229-2142-A8F9-BFE769E54F3B}" destId="{BD6A49D9-894A-2D42-977B-6CAD83F01783}" srcOrd="0" destOrd="0" presId="urn:microsoft.com/office/officeart/2005/8/layout/process1"/>
    <dgm:cxn modelId="{F3AA4341-CA2E-D140-86DC-9AACEB60AA59}" type="presOf" srcId="{0F652777-EB2D-7040-ADD1-4CAD4D038BD7}" destId="{96D5C410-3772-FD4B-8B45-91FAA3BDB88C}" srcOrd="0" destOrd="0" presId="urn:microsoft.com/office/officeart/2005/8/layout/process1"/>
    <dgm:cxn modelId="{76F74168-1DA9-184C-A9ED-8D8EB7D7908C}" type="presOf" srcId="{382026BB-C94C-0D47-A9D1-4EA6B2B383CC}" destId="{5A17A00C-A177-2E48-9D0B-C807D5AD07C0}" srcOrd="0" destOrd="1" presId="urn:microsoft.com/office/officeart/2005/8/layout/process1"/>
    <dgm:cxn modelId="{62C3137B-C469-234C-BDC9-D50B17051670}" srcId="{130C1E0E-13C2-234A-83D6-926918CB6A7D}" destId="{E8CC192E-90A9-2245-9850-F61133E59237}" srcOrd="2" destOrd="0" parTransId="{1D769DD3-86C1-804C-B10F-EAE46606A651}" sibTransId="{D7A167E0-3F09-B648-BE3B-42B06DC99EB6}"/>
    <dgm:cxn modelId="{96BDC97D-7B96-C241-90F0-15F4278FFD12}" type="presOf" srcId="{0F652777-EB2D-7040-ADD1-4CAD4D038BD7}" destId="{0520D757-FB48-B445-BF9C-4A59E934087A}" srcOrd="1" destOrd="0" presId="urn:microsoft.com/office/officeart/2005/8/layout/process1"/>
    <dgm:cxn modelId="{5B0A40A9-3020-0C40-BAA5-560C187F303B}" srcId="{E8CC192E-90A9-2245-9850-F61133E59237}" destId="{5DECCF33-7459-B045-95AE-9157E73AE097}" srcOrd="0" destOrd="0" parTransId="{98B8B518-5FB5-CB47-A36A-DE083703AD6B}" sibTransId="{3FEFF110-5A78-9842-8FE7-83EB5D7B89E0}"/>
    <dgm:cxn modelId="{01CCA7AA-26A8-3947-AAC1-764A1E87F459}" type="presOf" srcId="{130C1E0E-13C2-234A-83D6-926918CB6A7D}" destId="{4BEEC76C-0D7A-3047-BA5B-20F01CC3CDD5}" srcOrd="0" destOrd="0" presId="urn:microsoft.com/office/officeart/2005/8/layout/process1"/>
    <dgm:cxn modelId="{242332BE-5E1C-9041-BB03-E96D7C0B5C68}" srcId="{23ECABB4-3847-DF48-B90F-3ABDF9847725}" destId="{382026BB-C94C-0D47-A9D1-4EA6B2B383CC}" srcOrd="0" destOrd="0" parTransId="{DA59DAC7-6E69-6D49-9D5B-CC979254B767}" sibTransId="{C39D261B-6EAB-784F-AE51-8BB581E2F0AC}"/>
    <dgm:cxn modelId="{B03FDDF0-DC15-DA49-8F1A-D42DE63C6CDC}" srcId="{A918A370-D229-2142-A8F9-BFE769E54F3B}" destId="{95267160-74D8-DB48-A73C-5028FA51FBFA}" srcOrd="0" destOrd="0" parTransId="{18DF833D-14D8-F24A-B95D-7C18168CA0CF}" sibTransId="{606C0351-8AB8-4948-A1AC-FE1289C98D73}"/>
    <dgm:cxn modelId="{0C2886F7-5294-4A49-BF10-4C44C17EACDE}" srcId="{130C1E0E-13C2-234A-83D6-926918CB6A7D}" destId="{23ECABB4-3847-DF48-B90F-3ABDF9847725}" srcOrd="1" destOrd="0" parTransId="{184E9CE2-DAC0-7144-A9E7-4D73EFFCA422}" sibTransId="{397940AF-A9BB-0942-AC6D-8648122080A8}"/>
    <dgm:cxn modelId="{DC1C8A0C-0DF3-5545-B1C5-B6B266415275}" type="presParOf" srcId="{4BEEC76C-0D7A-3047-BA5B-20F01CC3CDD5}" destId="{BD6A49D9-894A-2D42-977B-6CAD83F01783}" srcOrd="0" destOrd="0" presId="urn:microsoft.com/office/officeart/2005/8/layout/process1"/>
    <dgm:cxn modelId="{3E495E02-FB17-F949-8189-838A0912B075}" type="presParOf" srcId="{4BEEC76C-0D7A-3047-BA5B-20F01CC3CDD5}" destId="{96D5C410-3772-FD4B-8B45-91FAA3BDB88C}" srcOrd="1" destOrd="0" presId="urn:microsoft.com/office/officeart/2005/8/layout/process1"/>
    <dgm:cxn modelId="{1DEF366E-E7E2-894D-862D-DB4A2DA5E9D7}" type="presParOf" srcId="{96D5C410-3772-FD4B-8B45-91FAA3BDB88C}" destId="{0520D757-FB48-B445-BF9C-4A59E934087A}" srcOrd="0" destOrd="0" presId="urn:microsoft.com/office/officeart/2005/8/layout/process1"/>
    <dgm:cxn modelId="{3E392B07-95F4-D240-83D8-C07A837D97C6}" type="presParOf" srcId="{4BEEC76C-0D7A-3047-BA5B-20F01CC3CDD5}" destId="{5A17A00C-A177-2E48-9D0B-C807D5AD07C0}" srcOrd="2" destOrd="0" presId="urn:microsoft.com/office/officeart/2005/8/layout/process1"/>
    <dgm:cxn modelId="{8610D5BF-A055-1F47-BBB2-37DE0C65BB6D}" type="presParOf" srcId="{4BEEC76C-0D7A-3047-BA5B-20F01CC3CDD5}" destId="{AD6493E0-AD1B-B949-A8E1-00E03F58263E}" srcOrd="3" destOrd="0" presId="urn:microsoft.com/office/officeart/2005/8/layout/process1"/>
    <dgm:cxn modelId="{88D596FA-66B0-904A-BE77-695C3A02EA71}" type="presParOf" srcId="{AD6493E0-AD1B-B949-A8E1-00E03F58263E}" destId="{5A6952A4-9CBB-F34C-BF28-34272B21AF1E}" srcOrd="0" destOrd="0" presId="urn:microsoft.com/office/officeart/2005/8/layout/process1"/>
    <dgm:cxn modelId="{D4C9F147-9820-004A-BD69-15E100368D4A}" type="presParOf" srcId="{4BEEC76C-0D7A-3047-BA5B-20F01CC3CDD5}" destId="{B7BF4865-64E6-DB40-8E7C-05245E6912B4}"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F93EBD-F919-2945-9AFD-39C9D5D54E04}">
      <dsp:nvSpPr>
        <dsp:cNvPr id="0" name=""/>
        <dsp:cNvSpPr/>
      </dsp:nvSpPr>
      <dsp:spPr>
        <a:xfrm>
          <a:off x="1610" y="846754"/>
          <a:ext cx="2023377" cy="93627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Font typeface="+mj-lt"/>
            <a:buNone/>
          </a:pPr>
          <a:r>
            <a:rPr lang="en-US" sz="1600" b="1" kern="1200" dirty="0"/>
            <a:t>Title to problem</a:t>
          </a:r>
          <a:endParaRPr lang="en-GB" sz="1600" kern="1200" dirty="0"/>
        </a:p>
      </dsp:txBody>
      <dsp:txXfrm>
        <a:off x="1610" y="846754"/>
        <a:ext cx="2023377" cy="624183"/>
      </dsp:txXfrm>
    </dsp:sp>
    <dsp:sp modelId="{294B5729-8B82-634D-A175-2FE9D3133078}">
      <dsp:nvSpPr>
        <dsp:cNvPr id="0" name=""/>
        <dsp:cNvSpPr/>
      </dsp:nvSpPr>
      <dsp:spPr>
        <a:xfrm>
          <a:off x="416036" y="1470938"/>
          <a:ext cx="2023377" cy="2565000"/>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None/>
          </a:pPr>
          <a:r>
            <a:rPr lang="en-US" sz="1600" kern="1200" dirty="0">
              <a:solidFill>
                <a:schemeClr val="tx1"/>
              </a:solidFill>
            </a:rPr>
            <a:t>The problem statement must directly relate to the topic signaled by the title</a:t>
          </a:r>
          <a:r>
            <a:rPr lang="en-ZA" sz="1600" kern="1200" dirty="0">
              <a:solidFill>
                <a:schemeClr val="tx1"/>
              </a:solidFill>
            </a:rPr>
            <a:t> </a:t>
          </a:r>
          <a:endParaRPr lang="en-GB" sz="1600" kern="1200" dirty="0">
            <a:solidFill>
              <a:schemeClr val="tx1"/>
            </a:solidFill>
          </a:endParaRPr>
        </a:p>
      </dsp:txBody>
      <dsp:txXfrm>
        <a:off x="475299" y="1530201"/>
        <a:ext cx="1904851" cy="2446474"/>
      </dsp:txXfrm>
    </dsp:sp>
    <dsp:sp modelId="{E0EDD529-31B5-FC4C-BC44-FE2567F1E0EA}">
      <dsp:nvSpPr>
        <dsp:cNvPr id="0" name=""/>
        <dsp:cNvSpPr/>
      </dsp:nvSpPr>
      <dsp:spPr>
        <a:xfrm>
          <a:off x="2331724" y="906965"/>
          <a:ext cx="650281" cy="503762"/>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2331724" y="1007717"/>
        <a:ext cx="499152" cy="302258"/>
      </dsp:txXfrm>
    </dsp:sp>
    <dsp:sp modelId="{D8F5702F-6E99-BE40-87D8-C8A92BA8CC24}">
      <dsp:nvSpPr>
        <dsp:cNvPr id="0" name=""/>
        <dsp:cNvSpPr/>
      </dsp:nvSpPr>
      <dsp:spPr>
        <a:xfrm>
          <a:off x="3251935" y="846754"/>
          <a:ext cx="2023377" cy="936275"/>
        </a:xfrm>
        <a:prstGeom prst="roundRect">
          <a:avLst>
            <a:gd name="adj" fmla="val 10000"/>
          </a:avLst>
        </a:prstGeom>
        <a:solidFill>
          <a:schemeClr val="accent4">
            <a:hueOff val="3266964"/>
            <a:satOff val="-13592"/>
            <a:lumOff val="32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Font typeface="+mj-lt"/>
            <a:buNone/>
          </a:pPr>
          <a:r>
            <a:rPr lang="en-US" sz="1600" b="1" kern="1200" dirty="0"/>
            <a:t>Problem to questions</a:t>
          </a:r>
          <a:endParaRPr lang="en-GB" sz="1600" kern="1200" dirty="0"/>
        </a:p>
      </dsp:txBody>
      <dsp:txXfrm>
        <a:off x="3251935" y="846754"/>
        <a:ext cx="2023377" cy="624183"/>
      </dsp:txXfrm>
    </dsp:sp>
    <dsp:sp modelId="{85160DF0-70AF-E44D-A329-2675C98FA7A6}">
      <dsp:nvSpPr>
        <dsp:cNvPr id="0" name=""/>
        <dsp:cNvSpPr/>
      </dsp:nvSpPr>
      <dsp:spPr>
        <a:xfrm>
          <a:off x="3666361" y="1470938"/>
          <a:ext cx="2023377" cy="2565000"/>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3266964"/>
              <a:satOff val="-13592"/>
              <a:lumOff val="320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None/>
          </a:pPr>
          <a:r>
            <a:rPr lang="en-US" sz="1600" kern="1200" dirty="0"/>
            <a:t>Research questions are derived from the problem and specify what must be investigated. </a:t>
          </a:r>
          <a:endParaRPr lang="en-GB" sz="1600" kern="1200" dirty="0"/>
        </a:p>
      </dsp:txBody>
      <dsp:txXfrm>
        <a:off x="3725624" y="1530201"/>
        <a:ext cx="1904851" cy="2446474"/>
      </dsp:txXfrm>
    </dsp:sp>
    <dsp:sp modelId="{0D821F2A-BE26-A644-BFBD-17D11A8B438E}">
      <dsp:nvSpPr>
        <dsp:cNvPr id="0" name=""/>
        <dsp:cNvSpPr/>
      </dsp:nvSpPr>
      <dsp:spPr>
        <a:xfrm>
          <a:off x="5582049" y="906965"/>
          <a:ext cx="650281" cy="503762"/>
        </a:xfrm>
        <a:prstGeom prst="rightArrow">
          <a:avLst>
            <a:gd name="adj1" fmla="val 60000"/>
            <a:gd name="adj2" fmla="val 50000"/>
          </a:avLst>
        </a:prstGeom>
        <a:solidFill>
          <a:schemeClr val="accent4">
            <a:hueOff val="4900445"/>
            <a:satOff val="-20388"/>
            <a:lumOff val="480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5582049" y="1007717"/>
        <a:ext cx="499152" cy="302258"/>
      </dsp:txXfrm>
    </dsp:sp>
    <dsp:sp modelId="{0F42F33C-5D3D-6D4C-8AA9-D3FE1D61BB0D}">
      <dsp:nvSpPr>
        <dsp:cNvPr id="0" name=""/>
        <dsp:cNvSpPr/>
      </dsp:nvSpPr>
      <dsp:spPr>
        <a:xfrm>
          <a:off x="6502260" y="846754"/>
          <a:ext cx="2023377" cy="936275"/>
        </a:xfrm>
        <a:prstGeom prst="roundRect">
          <a:avLst>
            <a:gd name="adj" fmla="val 10000"/>
          </a:avLst>
        </a:prstGeom>
        <a:solidFill>
          <a:schemeClr val="accent4">
            <a:hueOff val="6533927"/>
            <a:satOff val="-27185"/>
            <a:lumOff val="640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Font typeface="+mj-lt"/>
            <a:buNone/>
          </a:pPr>
          <a:r>
            <a:rPr lang="en-US" sz="1600" b="1" kern="1200" dirty="0"/>
            <a:t>Questions to objectives</a:t>
          </a:r>
          <a:endParaRPr lang="en-GB" sz="1600" kern="1200" dirty="0"/>
        </a:p>
      </dsp:txBody>
      <dsp:txXfrm>
        <a:off x="6502260" y="846754"/>
        <a:ext cx="2023377" cy="624183"/>
      </dsp:txXfrm>
    </dsp:sp>
    <dsp:sp modelId="{D3E99E44-B177-EE41-A9A5-A14BAA7602C9}">
      <dsp:nvSpPr>
        <dsp:cNvPr id="0" name=""/>
        <dsp:cNvSpPr/>
      </dsp:nvSpPr>
      <dsp:spPr>
        <a:xfrm>
          <a:off x="6916686" y="1470938"/>
          <a:ext cx="2023377" cy="2565000"/>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6533927"/>
              <a:satOff val="-27185"/>
              <a:lumOff val="640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None/>
          </a:pPr>
          <a:r>
            <a:rPr lang="en-US" sz="1600" kern="1200"/>
            <a:t>Objectives translate questions into achievable steps. If an objective is not linked to a question, it will not be investigated. </a:t>
          </a:r>
          <a:endParaRPr lang="en-GB" sz="1600" kern="1200" dirty="0"/>
        </a:p>
      </dsp:txBody>
      <dsp:txXfrm>
        <a:off x="6975949" y="1530201"/>
        <a:ext cx="1904851" cy="2446474"/>
      </dsp:txXfrm>
    </dsp:sp>
    <dsp:sp modelId="{176FCC90-DF0F-1A4D-A6E2-421D24FAE8A8}">
      <dsp:nvSpPr>
        <dsp:cNvPr id="0" name=""/>
        <dsp:cNvSpPr/>
      </dsp:nvSpPr>
      <dsp:spPr>
        <a:xfrm>
          <a:off x="8832374" y="906965"/>
          <a:ext cx="650281" cy="503762"/>
        </a:xfrm>
        <a:prstGeom prst="rightArrow">
          <a:avLst>
            <a:gd name="adj1" fmla="val 60000"/>
            <a:gd name="adj2" fmla="val 50000"/>
          </a:avLst>
        </a:prstGeom>
        <a:solidFill>
          <a:schemeClr val="accent4">
            <a:hueOff val="9800891"/>
            <a:satOff val="-40777"/>
            <a:lumOff val="960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8832374" y="1007717"/>
        <a:ext cx="499152" cy="302258"/>
      </dsp:txXfrm>
    </dsp:sp>
    <dsp:sp modelId="{20609063-C0D6-804B-A83F-53DBC54A9EA2}">
      <dsp:nvSpPr>
        <dsp:cNvPr id="0" name=""/>
        <dsp:cNvSpPr/>
      </dsp:nvSpPr>
      <dsp:spPr>
        <a:xfrm>
          <a:off x="9752585" y="846754"/>
          <a:ext cx="2023377" cy="936275"/>
        </a:xfrm>
        <a:prstGeom prst="roundRect">
          <a:avLst>
            <a:gd name="adj" fmla="val 10000"/>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Font typeface="+mj-lt"/>
            <a:buNone/>
          </a:pPr>
          <a:r>
            <a:rPr lang="en-US" sz="1600" b="1" kern="1200"/>
            <a:t>Literature and theory to questions</a:t>
          </a:r>
          <a:endParaRPr lang="en-GB" sz="1600" kern="1200" dirty="0"/>
        </a:p>
      </dsp:txBody>
      <dsp:txXfrm>
        <a:off x="9752585" y="846754"/>
        <a:ext cx="2023377" cy="624183"/>
      </dsp:txXfrm>
    </dsp:sp>
    <dsp:sp modelId="{64847540-2061-0048-A8F9-BF39D62E868E}">
      <dsp:nvSpPr>
        <dsp:cNvPr id="0" name=""/>
        <dsp:cNvSpPr/>
      </dsp:nvSpPr>
      <dsp:spPr>
        <a:xfrm>
          <a:off x="10167011" y="1470938"/>
          <a:ext cx="2023377" cy="2565000"/>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None/>
          </a:pPr>
          <a:r>
            <a:rPr lang="en-US" sz="1600" kern="1200"/>
            <a:t>Literature and theory should be selected because they help answer the research question and justify the study. </a:t>
          </a:r>
          <a:endParaRPr lang="en-GB" sz="1600" kern="1200" dirty="0"/>
        </a:p>
      </dsp:txBody>
      <dsp:txXfrm>
        <a:off x="10226274" y="1530201"/>
        <a:ext cx="1904851" cy="24464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1AB8A9-2289-BD44-AD62-E72291F3B14B}">
      <dsp:nvSpPr>
        <dsp:cNvPr id="0" name=""/>
        <dsp:cNvSpPr/>
      </dsp:nvSpPr>
      <dsp:spPr>
        <a:xfrm>
          <a:off x="457611" y="1352037"/>
          <a:ext cx="3149929" cy="2598032"/>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28575" rIns="28575" bIns="28575" numCol="1" spcCol="1270" anchor="t" anchorCtr="0">
          <a:noAutofit/>
        </a:bodyPr>
        <a:lstStyle/>
        <a:p>
          <a:pPr marL="114300" lvl="1" indent="-114300" algn="l" defTabSz="666750">
            <a:lnSpc>
              <a:spcPct val="90000"/>
            </a:lnSpc>
            <a:spcBef>
              <a:spcPct val="0"/>
            </a:spcBef>
            <a:spcAft>
              <a:spcPct val="15000"/>
            </a:spcAft>
            <a:buNone/>
          </a:pPr>
          <a:r>
            <a:rPr lang="en-US" sz="1500" kern="1200" dirty="0"/>
            <a:t>Data collection choices must be driven by the research questions and objectives, not by convenience or habit. </a:t>
          </a:r>
          <a:endParaRPr lang="en-GB" sz="1500" kern="1200" dirty="0">
            <a:solidFill>
              <a:schemeClr val="tx1"/>
            </a:solidFill>
          </a:endParaRPr>
        </a:p>
      </dsp:txBody>
      <dsp:txXfrm>
        <a:off x="517399" y="1411825"/>
        <a:ext cx="3030353" cy="1921735"/>
      </dsp:txXfrm>
    </dsp:sp>
    <dsp:sp modelId="{1F1B6002-D221-8746-8260-508D03EAB391}">
      <dsp:nvSpPr>
        <dsp:cNvPr id="0" name=""/>
        <dsp:cNvSpPr/>
      </dsp:nvSpPr>
      <dsp:spPr>
        <a:xfrm>
          <a:off x="2193795" y="1848716"/>
          <a:ext cx="3654152" cy="3654152"/>
        </a:xfrm>
        <a:prstGeom prst="leftCircularArrow">
          <a:avLst>
            <a:gd name="adj1" fmla="val 3644"/>
            <a:gd name="adj2" fmla="val 453761"/>
            <a:gd name="adj3" fmla="val 2229271"/>
            <a:gd name="adj4" fmla="val 9024489"/>
            <a:gd name="adj5" fmla="val 4252"/>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47FCC6C-A221-8544-A9DA-0A213444A980}">
      <dsp:nvSpPr>
        <dsp:cNvPr id="0" name=""/>
        <dsp:cNvSpPr/>
      </dsp:nvSpPr>
      <dsp:spPr>
        <a:xfrm>
          <a:off x="1157596" y="3393349"/>
          <a:ext cx="2799937" cy="1113442"/>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81280" rIns="121920" bIns="81280" numCol="1" spcCol="1270" anchor="ctr" anchorCtr="0">
          <a:noAutofit/>
        </a:bodyPr>
        <a:lstStyle/>
        <a:p>
          <a:pPr marL="0" lvl="0" indent="0" algn="ctr" defTabSz="2844800">
            <a:lnSpc>
              <a:spcPct val="90000"/>
            </a:lnSpc>
            <a:spcBef>
              <a:spcPct val="0"/>
            </a:spcBef>
            <a:spcAft>
              <a:spcPct val="35000"/>
            </a:spcAft>
            <a:buFont typeface="+mj-lt"/>
            <a:buNone/>
          </a:pPr>
          <a:r>
            <a:rPr lang="en-US" sz="6400" b="1" kern="1200" dirty="0"/>
            <a:t>1</a:t>
          </a:r>
          <a:endParaRPr lang="en-GB" sz="6400" kern="1200" dirty="0"/>
        </a:p>
      </dsp:txBody>
      <dsp:txXfrm>
        <a:off x="1190208" y="3425961"/>
        <a:ext cx="2734713" cy="1048218"/>
      </dsp:txXfrm>
    </dsp:sp>
    <dsp:sp modelId="{49220296-0E5A-5048-8581-289716903906}">
      <dsp:nvSpPr>
        <dsp:cNvPr id="0" name=""/>
        <dsp:cNvSpPr/>
      </dsp:nvSpPr>
      <dsp:spPr>
        <a:xfrm>
          <a:off x="4591699" y="1352037"/>
          <a:ext cx="3149929" cy="2598032"/>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4900445"/>
              <a:satOff val="-20388"/>
              <a:lumOff val="480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28575" rIns="28575" bIns="28575" numCol="1" spcCol="1270" anchor="t" anchorCtr="0">
          <a:noAutofit/>
        </a:bodyPr>
        <a:lstStyle/>
        <a:p>
          <a:pPr marL="114300" lvl="1" indent="-114300" algn="l" defTabSz="666750">
            <a:lnSpc>
              <a:spcPct val="90000"/>
            </a:lnSpc>
            <a:spcBef>
              <a:spcPct val="0"/>
            </a:spcBef>
            <a:spcAft>
              <a:spcPct val="15000"/>
            </a:spcAft>
            <a:buNone/>
          </a:pPr>
          <a:r>
            <a:rPr lang="en-US" sz="1500" kern="1200" dirty="0"/>
            <a:t>Analysis techniques must be appropriate for the type of data and must directly answer the research questions. </a:t>
          </a:r>
          <a:endParaRPr lang="en-GB" sz="1500" kern="1200" dirty="0"/>
        </a:p>
      </dsp:txBody>
      <dsp:txXfrm>
        <a:off x="4651487" y="1968546"/>
        <a:ext cx="3030353" cy="1921735"/>
      </dsp:txXfrm>
    </dsp:sp>
    <dsp:sp modelId="{5A553F09-3707-4440-A898-D90EFA21392D}">
      <dsp:nvSpPr>
        <dsp:cNvPr id="0" name=""/>
        <dsp:cNvSpPr/>
      </dsp:nvSpPr>
      <dsp:spPr>
        <a:xfrm>
          <a:off x="6301633" y="-302627"/>
          <a:ext cx="4056643" cy="4056643"/>
        </a:xfrm>
        <a:prstGeom prst="circularArrow">
          <a:avLst>
            <a:gd name="adj1" fmla="val 3283"/>
            <a:gd name="adj2" fmla="val 405232"/>
            <a:gd name="adj3" fmla="val 19419257"/>
            <a:gd name="adj4" fmla="val 12575511"/>
            <a:gd name="adj5" fmla="val 3830"/>
          </a:avLst>
        </a:prstGeom>
        <a:solidFill>
          <a:schemeClr val="accent4">
            <a:hueOff val="9800891"/>
            <a:satOff val="-40777"/>
            <a:lumOff val="9608"/>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5EDC804-B35E-0D46-A7DB-BC7DE6ABF288}">
      <dsp:nvSpPr>
        <dsp:cNvPr id="0" name=""/>
        <dsp:cNvSpPr/>
      </dsp:nvSpPr>
      <dsp:spPr>
        <a:xfrm>
          <a:off x="5291683" y="795316"/>
          <a:ext cx="2799937" cy="1113442"/>
        </a:xfrm>
        <a:prstGeom prst="roundRect">
          <a:avLst>
            <a:gd name="adj" fmla="val 10000"/>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81280" rIns="121920" bIns="81280" numCol="1" spcCol="1270" anchor="ctr" anchorCtr="0">
          <a:noAutofit/>
        </a:bodyPr>
        <a:lstStyle/>
        <a:p>
          <a:pPr marL="0" lvl="0" indent="0" algn="ctr" defTabSz="2844800">
            <a:lnSpc>
              <a:spcPct val="90000"/>
            </a:lnSpc>
            <a:spcBef>
              <a:spcPct val="0"/>
            </a:spcBef>
            <a:spcAft>
              <a:spcPct val="35000"/>
            </a:spcAft>
            <a:buFont typeface="+mj-lt"/>
            <a:buNone/>
          </a:pPr>
          <a:r>
            <a:rPr lang="en-US" sz="6400" b="1" kern="1200" dirty="0"/>
            <a:t>2</a:t>
          </a:r>
          <a:endParaRPr lang="en-GB" sz="6400" kern="1200" dirty="0"/>
        </a:p>
      </dsp:txBody>
      <dsp:txXfrm>
        <a:off x="5324295" y="827928"/>
        <a:ext cx="2734713" cy="1048218"/>
      </dsp:txXfrm>
    </dsp:sp>
    <dsp:sp modelId="{3CC6D473-5EF5-7148-9B99-A0D6A4B813EE}">
      <dsp:nvSpPr>
        <dsp:cNvPr id="0" name=""/>
        <dsp:cNvSpPr/>
      </dsp:nvSpPr>
      <dsp:spPr>
        <a:xfrm>
          <a:off x="8725786" y="1352037"/>
          <a:ext cx="3149929" cy="2598032"/>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28575" rIns="28575" bIns="28575" numCol="1" spcCol="1270" anchor="t" anchorCtr="0">
          <a:noAutofit/>
        </a:bodyPr>
        <a:lstStyle/>
        <a:p>
          <a:pPr marL="114300" lvl="1" indent="-114300" algn="l" defTabSz="666750">
            <a:lnSpc>
              <a:spcPct val="90000"/>
            </a:lnSpc>
            <a:spcBef>
              <a:spcPct val="0"/>
            </a:spcBef>
            <a:spcAft>
              <a:spcPct val="15000"/>
            </a:spcAft>
            <a:buNone/>
          </a:pPr>
          <a:r>
            <a:rPr lang="en-US" sz="1500" kern="1200" dirty="0"/>
            <a:t>A Golden Thread breaks when the research design does not match the promised approach, for example, exploratory qualitative framing paired with hypotheses and variables, or explanatory quantitative designs paired with open-ended why and how questions. </a:t>
          </a:r>
          <a:endParaRPr lang="en-GB" sz="1500" kern="1200" dirty="0"/>
        </a:p>
      </dsp:txBody>
      <dsp:txXfrm>
        <a:off x="8785574" y="1411825"/>
        <a:ext cx="3030353" cy="1921735"/>
      </dsp:txXfrm>
    </dsp:sp>
    <dsp:sp modelId="{D34379A7-3FAF-1548-8C4F-0CC806A6DDA8}">
      <dsp:nvSpPr>
        <dsp:cNvPr id="0" name=""/>
        <dsp:cNvSpPr/>
      </dsp:nvSpPr>
      <dsp:spPr>
        <a:xfrm>
          <a:off x="9425771" y="3393349"/>
          <a:ext cx="2799937" cy="1113442"/>
        </a:xfrm>
        <a:prstGeom prst="roundRect">
          <a:avLst>
            <a:gd name="adj" fmla="val 10000"/>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81280" rIns="121920" bIns="81280" numCol="1" spcCol="1270" anchor="ctr" anchorCtr="0">
          <a:noAutofit/>
        </a:bodyPr>
        <a:lstStyle/>
        <a:p>
          <a:pPr marL="0" lvl="0" indent="0" algn="ctr" defTabSz="2844800">
            <a:lnSpc>
              <a:spcPct val="90000"/>
            </a:lnSpc>
            <a:spcBef>
              <a:spcPct val="0"/>
            </a:spcBef>
            <a:spcAft>
              <a:spcPct val="35000"/>
            </a:spcAft>
            <a:buFont typeface="+mj-lt"/>
            <a:buNone/>
          </a:pPr>
          <a:r>
            <a:rPr lang="en-US" sz="6400" b="1" kern="1200" dirty="0"/>
            <a:t>3</a:t>
          </a:r>
          <a:endParaRPr lang="en-GB" sz="6400" kern="1200" dirty="0"/>
        </a:p>
      </dsp:txBody>
      <dsp:txXfrm>
        <a:off x="9458383" y="3425961"/>
        <a:ext cx="2734713" cy="10482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7386AA-4C96-D645-AC4B-E6CBCA3C8378}">
      <dsp:nvSpPr>
        <dsp:cNvPr id="0" name=""/>
        <dsp:cNvSpPr/>
      </dsp:nvSpPr>
      <dsp:spPr>
        <a:xfrm>
          <a:off x="910242" y="12217"/>
          <a:ext cx="10862834" cy="1582042"/>
        </a:xfrm>
        <a:prstGeom prst="rightArrow">
          <a:avLst>
            <a:gd name="adj1" fmla="val 50000"/>
            <a:gd name="adj2" fmla="val 5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254000" bIns="251149" numCol="1" spcCol="1270" anchor="ctr" anchorCtr="0">
          <a:noAutofit/>
        </a:bodyPr>
        <a:lstStyle/>
        <a:p>
          <a:pPr marL="0" lvl="0" indent="0" algn="l" defTabSz="1333500">
            <a:lnSpc>
              <a:spcPct val="90000"/>
            </a:lnSpc>
            <a:spcBef>
              <a:spcPct val="0"/>
            </a:spcBef>
            <a:spcAft>
              <a:spcPct val="35000"/>
            </a:spcAft>
            <a:buFont typeface="+mj-lt"/>
            <a:buNone/>
          </a:pPr>
          <a:r>
            <a:rPr lang="en-US" sz="3000" b="1" kern="1200" dirty="0"/>
            <a:t>1</a:t>
          </a:r>
          <a:endParaRPr lang="en-GB" sz="3000" kern="1200" dirty="0"/>
        </a:p>
      </dsp:txBody>
      <dsp:txXfrm>
        <a:off x="910242" y="407728"/>
        <a:ext cx="10467324" cy="791021"/>
      </dsp:txXfrm>
    </dsp:sp>
    <dsp:sp modelId="{0CA78D1B-3968-224B-BFDF-74C44DAE9735}">
      <dsp:nvSpPr>
        <dsp:cNvPr id="0" name=""/>
        <dsp:cNvSpPr/>
      </dsp:nvSpPr>
      <dsp:spPr>
        <a:xfrm>
          <a:off x="910242" y="1232200"/>
          <a:ext cx="3345752" cy="3047596"/>
        </a:xfrm>
        <a:prstGeom prst="rect">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Conclusions must answer the research questions and meet the objectives.</a:t>
          </a:r>
          <a:endParaRPr lang="en-GB" sz="2700" kern="1200" dirty="0">
            <a:solidFill>
              <a:schemeClr val="tx1"/>
            </a:solidFill>
          </a:endParaRPr>
        </a:p>
      </dsp:txBody>
      <dsp:txXfrm>
        <a:off x="910242" y="1232200"/>
        <a:ext cx="3345752" cy="3047596"/>
      </dsp:txXfrm>
    </dsp:sp>
    <dsp:sp modelId="{B991FEB9-62B4-1E47-89B0-F1C6D4138652}">
      <dsp:nvSpPr>
        <dsp:cNvPr id="0" name=""/>
        <dsp:cNvSpPr/>
      </dsp:nvSpPr>
      <dsp:spPr>
        <a:xfrm>
          <a:off x="4255995" y="539565"/>
          <a:ext cx="7517081" cy="1582042"/>
        </a:xfrm>
        <a:prstGeom prst="rightArrow">
          <a:avLst>
            <a:gd name="adj1" fmla="val 50000"/>
            <a:gd name="adj2" fmla="val 50000"/>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254000" bIns="251149" numCol="1" spcCol="1270" anchor="ctr" anchorCtr="0">
          <a:noAutofit/>
        </a:bodyPr>
        <a:lstStyle/>
        <a:p>
          <a:pPr marL="0" lvl="0" indent="0" algn="l" defTabSz="1333500">
            <a:lnSpc>
              <a:spcPct val="90000"/>
            </a:lnSpc>
            <a:spcBef>
              <a:spcPct val="0"/>
            </a:spcBef>
            <a:spcAft>
              <a:spcPct val="35000"/>
            </a:spcAft>
            <a:buFont typeface="+mj-lt"/>
            <a:buNone/>
          </a:pPr>
          <a:r>
            <a:rPr lang="en-US" sz="3000" b="1" kern="1200" dirty="0"/>
            <a:t>2</a:t>
          </a:r>
          <a:endParaRPr lang="en-GB" sz="3000" kern="1200" dirty="0"/>
        </a:p>
      </dsp:txBody>
      <dsp:txXfrm>
        <a:off x="4255995" y="935076"/>
        <a:ext cx="7121571" cy="791021"/>
      </dsp:txXfrm>
    </dsp:sp>
    <dsp:sp modelId="{26B72079-C5A9-7B43-8FD3-15A7CB18FF07}">
      <dsp:nvSpPr>
        <dsp:cNvPr id="0" name=""/>
        <dsp:cNvSpPr/>
      </dsp:nvSpPr>
      <dsp:spPr>
        <a:xfrm>
          <a:off x="4255995" y="1759548"/>
          <a:ext cx="3345752" cy="3047596"/>
        </a:xfrm>
        <a:prstGeom prst="rect">
          <a:avLst/>
        </a:prstGeom>
        <a:solidFill>
          <a:schemeClr val="lt1">
            <a:hueOff val="0"/>
            <a:satOff val="0"/>
            <a:lumOff val="0"/>
            <a:alphaOff val="0"/>
          </a:schemeClr>
        </a:solidFill>
        <a:ln w="12700" cap="flat" cmpd="sng" algn="ctr">
          <a:solidFill>
            <a:schemeClr val="accent4">
              <a:hueOff val="4900445"/>
              <a:satOff val="-20388"/>
              <a:lumOff val="480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Implications must follow logically from the findings, not from personal preference.</a:t>
          </a:r>
          <a:endParaRPr lang="en-GB" sz="2700" kern="1200" dirty="0"/>
        </a:p>
      </dsp:txBody>
      <dsp:txXfrm>
        <a:off x="4255995" y="1759548"/>
        <a:ext cx="3345752" cy="3047596"/>
      </dsp:txXfrm>
    </dsp:sp>
    <dsp:sp modelId="{26AF2FDC-C075-D044-81AB-5B2C78BB7851}">
      <dsp:nvSpPr>
        <dsp:cNvPr id="0" name=""/>
        <dsp:cNvSpPr/>
      </dsp:nvSpPr>
      <dsp:spPr>
        <a:xfrm>
          <a:off x="7601748" y="1066912"/>
          <a:ext cx="4171328" cy="1582042"/>
        </a:xfrm>
        <a:prstGeom prst="rightArrow">
          <a:avLst>
            <a:gd name="adj1" fmla="val 50000"/>
            <a:gd name="adj2" fmla="val 50000"/>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254000" bIns="251149" numCol="1" spcCol="1270" anchor="ctr" anchorCtr="0">
          <a:noAutofit/>
        </a:bodyPr>
        <a:lstStyle/>
        <a:p>
          <a:pPr marL="0" lvl="0" indent="0" algn="l" defTabSz="1333500">
            <a:lnSpc>
              <a:spcPct val="90000"/>
            </a:lnSpc>
            <a:spcBef>
              <a:spcPct val="0"/>
            </a:spcBef>
            <a:spcAft>
              <a:spcPct val="35000"/>
            </a:spcAft>
            <a:buFont typeface="+mj-lt"/>
            <a:buNone/>
          </a:pPr>
          <a:r>
            <a:rPr lang="en-US" sz="3000" b="1" kern="1200" dirty="0"/>
            <a:t>3</a:t>
          </a:r>
          <a:endParaRPr lang="en-GB" sz="3000" kern="1200" dirty="0"/>
        </a:p>
      </dsp:txBody>
      <dsp:txXfrm>
        <a:off x="7601748" y="1462423"/>
        <a:ext cx="3775818" cy="791021"/>
      </dsp:txXfrm>
    </dsp:sp>
    <dsp:sp modelId="{BE002C57-05F9-8149-8BCB-365D065DA1A5}">
      <dsp:nvSpPr>
        <dsp:cNvPr id="0" name=""/>
        <dsp:cNvSpPr/>
      </dsp:nvSpPr>
      <dsp:spPr>
        <a:xfrm>
          <a:off x="7601748" y="2286895"/>
          <a:ext cx="3345752" cy="3002994"/>
        </a:xfrm>
        <a:prstGeom prst="rect">
          <a:avLst/>
        </a:prstGeom>
        <a:solidFill>
          <a:schemeClr val="lt1">
            <a:hueOff val="0"/>
            <a:satOff val="0"/>
            <a:lumOff val="0"/>
            <a:alphaOff val="0"/>
          </a:schemeClr>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Readers should not finish your work asking: “So what? Why did I read this?” The Golden Thread is the answer to that question. </a:t>
          </a:r>
          <a:endParaRPr lang="en-GB" sz="2700" kern="1200" dirty="0"/>
        </a:p>
      </dsp:txBody>
      <dsp:txXfrm>
        <a:off x="7601748" y="2286895"/>
        <a:ext cx="3345752" cy="30029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8E5632-BED8-1A43-A431-4F0A4544E55E}">
      <dsp:nvSpPr>
        <dsp:cNvPr id="0" name=""/>
        <dsp:cNvSpPr/>
      </dsp:nvSpPr>
      <dsp:spPr>
        <a:xfrm>
          <a:off x="4969904" y="2010"/>
          <a:ext cx="2743511" cy="137175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Font typeface="+mj-lt"/>
            <a:buNone/>
          </a:pPr>
          <a:r>
            <a:rPr lang="en-US" sz="1600" b="1" kern="1200" dirty="0"/>
            <a:t>1</a:t>
          </a:r>
          <a:endParaRPr lang="en-GB" sz="1600" kern="1200" dirty="0"/>
        </a:p>
        <a:p>
          <a:pPr marL="114300" lvl="1" indent="-114300" algn="l" defTabSz="533400">
            <a:lnSpc>
              <a:spcPct val="90000"/>
            </a:lnSpc>
            <a:spcBef>
              <a:spcPct val="0"/>
            </a:spcBef>
            <a:spcAft>
              <a:spcPct val="15000"/>
            </a:spcAft>
            <a:buNone/>
          </a:pPr>
          <a:r>
            <a:rPr lang="en-US" sz="1200" kern="1200" dirty="0"/>
            <a:t>Your reader should be able to trace how each part of the study leads to the next with no gaps or contradictions. </a:t>
          </a:r>
          <a:endParaRPr lang="en-GB" sz="1200" kern="1200" dirty="0">
            <a:solidFill>
              <a:schemeClr val="tx1"/>
            </a:solidFill>
          </a:endParaRPr>
        </a:p>
      </dsp:txBody>
      <dsp:txXfrm>
        <a:off x="5010081" y="42187"/>
        <a:ext cx="2663157" cy="1291401"/>
      </dsp:txXfrm>
    </dsp:sp>
    <dsp:sp modelId="{794EB8CD-9A04-D14E-AA30-6C7AC3CB1F50}">
      <dsp:nvSpPr>
        <dsp:cNvPr id="0" name=""/>
        <dsp:cNvSpPr/>
      </dsp:nvSpPr>
      <dsp:spPr>
        <a:xfrm rot="3600000">
          <a:off x="6759003" y="2410996"/>
          <a:ext cx="1432180" cy="480114"/>
        </a:xfrm>
        <a:prstGeom prst="lef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6903037" y="2507019"/>
        <a:ext cx="1144112" cy="288068"/>
      </dsp:txXfrm>
    </dsp:sp>
    <dsp:sp modelId="{3196813F-C2C0-F54C-8F52-F6A5B96274F0}">
      <dsp:nvSpPr>
        <dsp:cNvPr id="0" name=""/>
        <dsp:cNvSpPr/>
      </dsp:nvSpPr>
      <dsp:spPr>
        <a:xfrm>
          <a:off x="7236773" y="3928342"/>
          <a:ext cx="2743511" cy="1371755"/>
        </a:xfrm>
        <a:prstGeom prst="roundRect">
          <a:avLst>
            <a:gd name="adj" fmla="val 10000"/>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Font typeface="+mj-lt"/>
            <a:buNone/>
          </a:pPr>
          <a:r>
            <a:rPr lang="en-US" sz="1600" b="1" kern="1200" dirty="0"/>
            <a:t>2</a:t>
          </a:r>
          <a:endParaRPr lang="en-GB" sz="1600" kern="1200" dirty="0"/>
        </a:p>
        <a:p>
          <a:pPr marL="114300" lvl="1" indent="-114300" algn="l" defTabSz="533400">
            <a:lnSpc>
              <a:spcPct val="90000"/>
            </a:lnSpc>
            <a:spcBef>
              <a:spcPct val="0"/>
            </a:spcBef>
            <a:spcAft>
              <a:spcPct val="15000"/>
            </a:spcAft>
            <a:buNone/>
          </a:pPr>
          <a:r>
            <a:rPr lang="en-US" sz="1200" kern="1200" dirty="0"/>
            <a:t>Write as scientific communication: communicate the research contribution itself, not the full intellectual history of every false start. </a:t>
          </a:r>
          <a:endParaRPr lang="en-GB" sz="1200" kern="1200" dirty="0"/>
        </a:p>
      </dsp:txBody>
      <dsp:txXfrm>
        <a:off x="7276950" y="3968519"/>
        <a:ext cx="2663157" cy="1291401"/>
      </dsp:txXfrm>
    </dsp:sp>
    <dsp:sp modelId="{1D854AD3-98F6-0F44-8AB2-5A251BDE5581}">
      <dsp:nvSpPr>
        <dsp:cNvPr id="0" name=""/>
        <dsp:cNvSpPr/>
      </dsp:nvSpPr>
      <dsp:spPr>
        <a:xfrm rot="10800000">
          <a:off x="5625569" y="4374162"/>
          <a:ext cx="1432180" cy="480114"/>
        </a:xfrm>
        <a:prstGeom prst="leftRightArrow">
          <a:avLst>
            <a:gd name="adj1" fmla="val 60000"/>
            <a:gd name="adj2" fmla="val 50000"/>
          </a:avLst>
        </a:prstGeom>
        <a:solidFill>
          <a:schemeClr val="accent4">
            <a:hueOff val="4900445"/>
            <a:satOff val="-20388"/>
            <a:lumOff val="480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rot="10800000">
        <a:off x="5769603" y="4470185"/>
        <a:ext cx="1144112" cy="288068"/>
      </dsp:txXfrm>
    </dsp:sp>
    <dsp:sp modelId="{9FE629F6-61A0-5749-8B26-F03F8F8E1630}">
      <dsp:nvSpPr>
        <dsp:cNvPr id="0" name=""/>
        <dsp:cNvSpPr/>
      </dsp:nvSpPr>
      <dsp:spPr>
        <a:xfrm>
          <a:off x="2703035" y="3928342"/>
          <a:ext cx="2743511" cy="1371755"/>
        </a:xfrm>
        <a:prstGeom prst="roundRect">
          <a:avLst>
            <a:gd name="adj" fmla="val 10000"/>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Font typeface="+mj-lt"/>
            <a:buNone/>
          </a:pPr>
          <a:r>
            <a:rPr lang="en-US" sz="1600" b="1" kern="1200" dirty="0"/>
            <a:t>3</a:t>
          </a:r>
          <a:endParaRPr lang="en-GB" sz="1600" kern="1200" dirty="0"/>
        </a:p>
        <a:p>
          <a:pPr marL="114300" lvl="1" indent="-114300" algn="l" defTabSz="533400">
            <a:lnSpc>
              <a:spcPct val="90000"/>
            </a:lnSpc>
            <a:spcBef>
              <a:spcPct val="0"/>
            </a:spcBef>
            <a:spcAft>
              <a:spcPct val="15000"/>
            </a:spcAft>
            <a:buNone/>
          </a:pPr>
          <a:r>
            <a:rPr lang="en-US" sz="1200" kern="1200" dirty="0"/>
            <a:t>Use practical reminders to stay on track, for </a:t>
          </a:r>
          <a:r>
            <a:rPr lang="en-GB" sz="1200" kern="1200" dirty="0"/>
            <a:t>example,</a:t>
          </a:r>
          <a:r>
            <a:rPr lang="en-US" sz="1200" kern="1200" dirty="0"/>
            <a:t> keeping the main research question visible while writing so you do not drift into interesting but irrelevant detail. </a:t>
          </a:r>
          <a:endParaRPr lang="en-GB" sz="1200" kern="1200" dirty="0"/>
        </a:p>
      </dsp:txBody>
      <dsp:txXfrm>
        <a:off x="2743212" y="3968519"/>
        <a:ext cx="2663157" cy="1291401"/>
      </dsp:txXfrm>
    </dsp:sp>
    <dsp:sp modelId="{BC072D3C-DE75-0F4A-9C59-0DDC2E4B3641}">
      <dsp:nvSpPr>
        <dsp:cNvPr id="0" name=""/>
        <dsp:cNvSpPr/>
      </dsp:nvSpPr>
      <dsp:spPr>
        <a:xfrm rot="18000000">
          <a:off x="4492135" y="2410996"/>
          <a:ext cx="1432180" cy="480114"/>
        </a:xfrm>
        <a:prstGeom prst="leftRightArrow">
          <a:avLst>
            <a:gd name="adj1" fmla="val 60000"/>
            <a:gd name="adj2" fmla="val 50000"/>
          </a:avLst>
        </a:prstGeom>
        <a:solidFill>
          <a:schemeClr val="accent4">
            <a:hueOff val="9800891"/>
            <a:satOff val="-40777"/>
            <a:lumOff val="960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a:off x="4636169" y="2507019"/>
        <a:ext cx="1144112" cy="28806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6A49D9-894A-2D42-977B-6CAD83F01783}">
      <dsp:nvSpPr>
        <dsp:cNvPr id="0" name=""/>
        <dsp:cNvSpPr/>
      </dsp:nvSpPr>
      <dsp:spPr>
        <a:xfrm>
          <a:off x="10715" y="1690219"/>
          <a:ext cx="3202781" cy="1921668"/>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Font typeface="+mj-lt"/>
            <a:buNone/>
          </a:pPr>
          <a:r>
            <a:rPr lang="en-US" sz="2600" b="1" kern="1200" dirty="0"/>
            <a:t>1</a:t>
          </a:r>
          <a:endParaRPr lang="en-GB" sz="2600" kern="1200" dirty="0"/>
        </a:p>
        <a:p>
          <a:pPr marL="228600" lvl="1" indent="-228600" algn="l" defTabSz="889000">
            <a:lnSpc>
              <a:spcPct val="90000"/>
            </a:lnSpc>
            <a:spcBef>
              <a:spcPct val="0"/>
            </a:spcBef>
            <a:spcAft>
              <a:spcPct val="15000"/>
            </a:spcAft>
            <a:buNone/>
          </a:pPr>
          <a:r>
            <a:rPr lang="en-US" sz="2000" kern="1200" dirty="0"/>
            <a:t>Clear evidence supports claims (data </a:t>
          </a:r>
          <a:r>
            <a:rPr lang="en-GB" sz="2000" kern="1200" dirty="0"/>
            <a:t>support</a:t>
          </a:r>
          <a:r>
            <a:rPr lang="en-US" sz="2000" kern="1200" dirty="0"/>
            <a:t> research questions).</a:t>
          </a:r>
          <a:endParaRPr lang="en-GB" sz="2000" kern="1200" dirty="0">
            <a:solidFill>
              <a:schemeClr val="tx1"/>
            </a:solidFill>
          </a:endParaRPr>
        </a:p>
      </dsp:txBody>
      <dsp:txXfrm>
        <a:off x="66999" y="1746503"/>
        <a:ext cx="3090213" cy="1809100"/>
      </dsp:txXfrm>
    </dsp:sp>
    <dsp:sp modelId="{96D5C410-3772-FD4B-8B45-91FAA3BDB88C}">
      <dsp:nvSpPr>
        <dsp:cNvPr id="0" name=""/>
        <dsp:cNvSpPr/>
      </dsp:nvSpPr>
      <dsp:spPr>
        <a:xfrm>
          <a:off x="3533775" y="2253909"/>
          <a:ext cx="678989" cy="794289"/>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GB" sz="2100" kern="1200"/>
        </a:p>
      </dsp:txBody>
      <dsp:txXfrm>
        <a:off x="3533775" y="2412767"/>
        <a:ext cx="475292" cy="476573"/>
      </dsp:txXfrm>
    </dsp:sp>
    <dsp:sp modelId="{5A17A00C-A177-2E48-9D0B-C807D5AD07C0}">
      <dsp:nvSpPr>
        <dsp:cNvPr id="0" name=""/>
        <dsp:cNvSpPr/>
      </dsp:nvSpPr>
      <dsp:spPr>
        <a:xfrm>
          <a:off x="4494609" y="1690219"/>
          <a:ext cx="3202781" cy="1921668"/>
        </a:xfrm>
        <a:prstGeom prst="roundRect">
          <a:avLst>
            <a:gd name="adj" fmla="val 10000"/>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Font typeface="+mj-lt"/>
            <a:buNone/>
          </a:pPr>
          <a:r>
            <a:rPr lang="en-US" sz="2600" b="1" kern="1200" dirty="0"/>
            <a:t>2</a:t>
          </a:r>
          <a:endParaRPr lang="en-GB" sz="2600" kern="1200" dirty="0"/>
        </a:p>
        <a:p>
          <a:pPr marL="228600" lvl="1" indent="-228600" algn="l" defTabSz="889000">
            <a:lnSpc>
              <a:spcPct val="90000"/>
            </a:lnSpc>
            <a:spcBef>
              <a:spcPct val="0"/>
            </a:spcBef>
            <a:spcAft>
              <a:spcPct val="15000"/>
            </a:spcAft>
            <a:buNone/>
          </a:pPr>
          <a:r>
            <a:rPr lang="en-US" sz="2000" kern="1200" dirty="0"/>
            <a:t>Logical reasoning connects evidence to claims (analysis links data to questions).</a:t>
          </a:r>
          <a:endParaRPr lang="en-GB" sz="2000" kern="1200" dirty="0"/>
        </a:p>
      </dsp:txBody>
      <dsp:txXfrm>
        <a:off x="4550893" y="1746503"/>
        <a:ext cx="3090213" cy="1809100"/>
      </dsp:txXfrm>
    </dsp:sp>
    <dsp:sp modelId="{AD6493E0-AD1B-B949-A8E1-00E03F58263E}">
      <dsp:nvSpPr>
        <dsp:cNvPr id="0" name=""/>
        <dsp:cNvSpPr/>
      </dsp:nvSpPr>
      <dsp:spPr>
        <a:xfrm>
          <a:off x="8017668" y="2253909"/>
          <a:ext cx="678989" cy="794289"/>
        </a:xfrm>
        <a:prstGeom prst="rightArrow">
          <a:avLst>
            <a:gd name="adj1" fmla="val 60000"/>
            <a:gd name="adj2" fmla="val 50000"/>
          </a:avLst>
        </a:prstGeom>
        <a:solidFill>
          <a:schemeClr val="accent4">
            <a:hueOff val="9800891"/>
            <a:satOff val="-40777"/>
            <a:lumOff val="960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GB" sz="2100" kern="1200"/>
        </a:p>
      </dsp:txBody>
      <dsp:txXfrm>
        <a:off x="8017668" y="2412767"/>
        <a:ext cx="475292" cy="476573"/>
      </dsp:txXfrm>
    </dsp:sp>
    <dsp:sp modelId="{B7BF4865-64E6-DB40-8E7C-05245E6912B4}">
      <dsp:nvSpPr>
        <dsp:cNvPr id="0" name=""/>
        <dsp:cNvSpPr/>
      </dsp:nvSpPr>
      <dsp:spPr>
        <a:xfrm>
          <a:off x="8978503" y="1690219"/>
          <a:ext cx="3202781" cy="1921668"/>
        </a:xfrm>
        <a:prstGeom prst="roundRect">
          <a:avLst>
            <a:gd name="adj" fmla="val 10000"/>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Font typeface="+mj-lt"/>
            <a:buNone/>
          </a:pPr>
          <a:r>
            <a:rPr lang="en-US" sz="2600" b="1" kern="1200" dirty="0"/>
            <a:t>3</a:t>
          </a:r>
          <a:endParaRPr lang="en-GB" sz="2600" kern="1200" dirty="0"/>
        </a:p>
        <a:p>
          <a:pPr marL="228600" lvl="1" indent="-228600" algn="l" defTabSz="889000">
            <a:lnSpc>
              <a:spcPct val="90000"/>
            </a:lnSpc>
            <a:spcBef>
              <a:spcPct val="0"/>
            </a:spcBef>
            <a:spcAft>
              <a:spcPct val="15000"/>
            </a:spcAft>
            <a:buNone/>
          </a:pPr>
          <a:r>
            <a:rPr lang="en-US" sz="2000" kern="1200" dirty="0"/>
            <a:t>A verdict follows logically from evidence and reasoning (conclusions follow from findings). </a:t>
          </a:r>
          <a:endParaRPr lang="en-GB" sz="2000" kern="1200" dirty="0"/>
        </a:p>
      </dsp:txBody>
      <dsp:txXfrm>
        <a:off x="9034787" y="1746503"/>
        <a:ext cx="3090213" cy="1809100"/>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245C065-7973-41A8-A2CC-441A8BA3384C}" type="datetime1">
              <a:rPr lang="en-GB" smtClean="0"/>
              <a:t>28/Feb/26</a:t>
            </a:fld>
            <a:endParaRPr lang="en-GB"/>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en-GB" smtClean="0"/>
              <a:t>‹#›</a:t>
            </a:fld>
            <a:endParaRPr lang="en-GB"/>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87A586-3225-45EC-B90F-43F9676D14C2}" type="datetime1">
              <a:rPr lang="en-GB" smtClean="0"/>
              <a:pPr/>
              <a:t>28/Feb/26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en-GB" noProof="0" smtClean="0"/>
              <a:t>‹#›</a:t>
            </a:fld>
            <a:endParaRPr lang="en-GB"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D4B9A9E5-4F7F-4A7D-9DE1-899232329269}" type="slidenum">
              <a:rPr lang="en-GB" smtClean="0"/>
              <a:t>1</a:t>
            </a:fld>
            <a:endParaRPr lang="en-GB" dirty="0"/>
          </a:p>
        </p:txBody>
      </p:sp>
    </p:spTree>
    <p:extLst>
      <p:ext uri="{BB962C8B-B14F-4D97-AF65-F5344CB8AC3E}">
        <p14:creationId xmlns:p14="http://schemas.microsoft.com/office/powerpoint/2010/main" val="2772334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D4B9A9E5-4F7F-4A7D-9DE1-899232329269}" type="slidenum">
              <a:rPr lang="en-GB" smtClean="0"/>
              <a:t>2</a:t>
            </a:fld>
            <a:endParaRPr lang="en-GB" dirty="0"/>
          </a:p>
        </p:txBody>
      </p:sp>
    </p:spTree>
    <p:extLst>
      <p:ext uri="{BB962C8B-B14F-4D97-AF65-F5344CB8AC3E}">
        <p14:creationId xmlns:p14="http://schemas.microsoft.com/office/powerpoint/2010/main" val="2839078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97C80-383F-91B1-4251-984255AC51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5D11AF-AA64-295A-15B8-B24E15EB26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7CBB2B-066D-1BA7-44F9-E188B1CF6EE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DFC81B3-0096-B45D-CB3D-0DF1AE11FDD0}"/>
              </a:ext>
            </a:extLst>
          </p:cNvPr>
          <p:cNvSpPr>
            <a:spLocks noGrp="1"/>
          </p:cNvSpPr>
          <p:nvPr>
            <p:ph type="sldNum" sz="quarter" idx="5"/>
          </p:nvPr>
        </p:nvSpPr>
        <p:spPr/>
        <p:txBody>
          <a:bodyPr/>
          <a:lstStyle/>
          <a:p>
            <a:pPr rtl="0"/>
            <a:fld id="{D4B9A9E5-4F7F-4A7D-9DE1-899232329269}" type="slidenum">
              <a:rPr lang="en-GB" smtClean="0"/>
              <a:t>3</a:t>
            </a:fld>
            <a:endParaRPr lang="en-GB" dirty="0"/>
          </a:p>
        </p:txBody>
      </p:sp>
    </p:spTree>
    <p:extLst>
      <p:ext uri="{BB962C8B-B14F-4D97-AF65-F5344CB8AC3E}">
        <p14:creationId xmlns:p14="http://schemas.microsoft.com/office/powerpoint/2010/main" val="2179195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EF664-45FE-AA62-EC71-FA896A5CFD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52A161-E93A-0A5C-4F63-9F54B40836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7B3773-9417-7E17-9CEC-B68201ECDAB5}"/>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E69582D6-73FA-1289-916E-A6D6EB89E3F2}"/>
              </a:ext>
            </a:extLst>
          </p:cNvPr>
          <p:cNvSpPr>
            <a:spLocks noGrp="1"/>
          </p:cNvSpPr>
          <p:nvPr>
            <p:ph type="sldNum" sz="quarter" idx="5"/>
          </p:nvPr>
        </p:nvSpPr>
        <p:spPr/>
        <p:txBody>
          <a:bodyPr rtlCol="0"/>
          <a:lstStyle/>
          <a:p>
            <a:pPr rtl="0"/>
            <a:fld id="{D4B9A9E5-4F7F-4A7D-9DE1-899232329269}" type="slidenum">
              <a:rPr lang="en-GB" smtClean="0"/>
              <a:t>4</a:t>
            </a:fld>
            <a:endParaRPr lang="en-GB"/>
          </a:p>
        </p:txBody>
      </p:sp>
    </p:spTree>
    <p:extLst>
      <p:ext uri="{BB962C8B-B14F-4D97-AF65-F5344CB8AC3E}">
        <p14:creationId xmlns:p14="http://schemas.microsoft.com/office/powerpoint/2010/main" val="3316646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E7C77-A7B6-76C8-EA77-D8DA478C86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BD32E5-0DD0-4513-A8F1-AD3ED58661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73AF2-63B9-789C-9519-BD00442ED1E8}"/>
              </a:ext>
            </a:extLst>
          </p:cNvPr>
          <p:cNvSpPr>
            <a:spLocks noGrp="1"/>
          </p:cNvSpPr>
          <p:nvPr>
            <p:ph type="body" idx="1"/>
          </p:nvPr>
        </p:nvSpPr>
        <p:spPr/>
        <p:txBody>
          <a:bodyPr rtlCol="0"/>
          <a:lstStyle/>
          <a:p>
            <a:pPr rtl="0"/>
            <a:endParaRPr lang="en-GB"/>
          </a:p>
        </p:txBody>
      </p:sp>
      <p:sp>
        <p:nvSpPr>
          <p:cNvPr id="4" name="Slide Number Placeholder 3">
            <a:extLst>
              <a:ext uri="{FF2B5EF4-FFF2-40B4-BE49-F238E27FC236}">
                <a16:creationId xmlns:a16="http://schemas.microsoft.com/office/drawing/2014/main" id="{056A9D9A-ADB9-FDFD-1638-5B73FA4B4E45}"/>
              </a:ext>
            </a:extLst>
          </p:cNvPr>
          <p:cNvSpPr>
            <a:spLocks noGrp="1"/>
          </p:cNvSpPr>
          <p:nvPr>
            <p:ph type="sldNum" sz="quarter" idx="5"/>
          </p:nvPr>
        </p:nvSpPr>
        <p:spPr/>
        <p:txBody>
          <a:bodyPr rtlCol="0"/>
          <a:lstStyle/>
          <a:p>
            <a:pPr rtl="0"/>
            <a:fld id="{D4B9A9E5-4F7F-4A7D-9DE1-899232329269}" type="slidenum">
              <a:rPr lang="en-GB" smtClean="0"/>
              <a:t>5</a:t>
            </a:fld>
            <a:endParaRPr lang="en-GB"/>
          </a:p>
        </p:txBody>
      </p:sp>
    </p:spTree>
    <p:extLst>
      <p:ext uri="{BB962C8B-B14F-4D97-AF65-F5344CB8AC3E}">
        <p14:creationId xmlns:p14="http://schemas.microsoft.com/office/powerpoint/2010/main" val="649274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D4B9A9E5-4F7F-4A7D-9DE1-899232329269}" type="slidenum">
              <a:rPr lang="en-GB" smtClean="0"/>
              <a:t>6</a:t>
            </a:fld>
            <a:endParaRPr lang="en-GB" dirty="0"/>
          </a:p>
        </p:txBody>
      </p:sp>
    </p:spTree>
    <p:extLst>
      <p:ext uri="{BB962C8B-B14F-4D97-AF65-F5344CB8AC3E}">
        <p14:creationId xmlns:p14="http://schemas.microsoft.com/office/powerpoint/2010/main" val="38860653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9FC94-46FA-710D-5191-556B76F2C3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7A7FB-D732-BF7F-F791-646C9D23AF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B25216-DD74-512F-392C-3DC7E8C3F966}"/>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8C37AF67-290C-3DC2-1DCF-B7DB2E184C94}"/>
              </a:ext>
            </a:extLst>
          </p:cNvPr>
          <p:cNvSpPr>
            <a:spLocks noGrp="1"/>
          </p:cNvSpPr>
          <p:nvPr>
            <p:ph type="sldNum" sz="quarter" idx="5"/>
          </p:nvPr>
        </p:nvSpPr>
        <p:spPr/>
        <p:txBody>
          <a:bodyPr rtlCol="0"/>
          <a:lstStyle/>
          <a:p>
            <a:pPr rtl="0"/>
            <a:fld id="{D4B9A9E5-4F7F-4A7D-9DE1-899232329269}" type="slidenum">
              <a:rPr lang="en-GB" smtClean="0"/>
              <a:t>7</a:t>
            </a:fld>
            <a:endParaRPr lang="en-GB" dirty="0"/>
          </a:p>
        </p:txBody>
      </p:sp>
    </p:spTree>
    <p:extLst>
      <p:ext uri="{BB962C8B-B14F-4D97-AF65-F5344CB8AC3E}">
        <p14:creationId xmlns:p14="http://schemas.microsoft.com/office/powerpoint/2010/main" val="1585146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110AD-49BB-BF92-2F8E-07D9FBC84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E628C4-59A3-0A6A-B951-8A8B5020A9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85D721-6F77-5F6C-04E1-83406F6A5F82}"/>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AE425D95-87E0-8323-0DB7-761C12E68F7F}"/>
              </a:ext>
            </a:extLst>
          </p:cNvPr>
          <p:cNvSpPr>
            <a:spLocks noGrp="1"/>
          </p:cNvSpPr>
          <p:nvPr>
            <p:ph type="sldNum" sz="quarter" idx="5"/>
          </p:nvPr>
        </p:nvSpPr>
        <p:spPr/>
        <p:txBody>
          <a:bodyPr rtlCol="0"/>
          <a:lstStyle/>
          <a:p>
            <a:pPr rtl="0"/>
            <a:fld id="{D4B9A9E5-4F7F-4A7D-9DE1-899232329269}" type="slidenum">
              <a:rPr lang="en-GB" smtClean="0"/>
              <a:t>8</a:t>
            </a:fld>
            <a:endParaRPr lang="en-GB" dirty="0"/>
          </a:p>
        </p:txBody>
      </p:sp>
    </p:spTree>
    <p:extLst>
      <p:ext uri="{BB962C8B-B14F-4D97-AF65-F5344CB8AC3E}">
        <p14:creationId xmlns:p14="http://schemas.microsoft.com/office/powerpoint/2010/main" val="1560555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FAFC3-EF84-424F-C7AE-2597A88BF2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3E2F87-8F2D-0AB6-5F9E-33180937E4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49C2FB-BB2C-83DC-738B-A1D06AF02E6E}"/>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F1B6A6CD-5890-80EA-212E-4816F7475982}"/>
              </a:ext>
            </a:extLst>
          </p:cNvPr>
          <p:cNvSpPr>
            <a:spLocks noGrp="1"/>
          </p:cNvSpPr>
          <p:nvPr>
            <p:ph type="sldNum" sz="quarter" idx="5"/>
          </p:nvPr>
        </p:nvSpPr>
        <p:spPr/>
        <p:txBody>
          <a:bodyPr rtlCol="0"/>
          <a:lstStyle/>
          <a:p>
            <a:pPr rtl="0"/>
            <a:fld id="{D4B9A9E5-4F7F-4A7D-9DE1-899232329269}" type="slidenum">
              <a:rPr lang="en-GB" smtClean="0"/>
              <a:t>9</a:t>
            </a:fld>
            <a:endParaRPr lang="en-GB" dirty="0"/>
          </a:p>
        </p:txBody>
      </p:sp>
    </p:spTree>
    <p:extLst>
      <p:ext uri="{BB962C8B-B14F-4D97-AF65-F5344CB8AC3E}">
        <p14:creationId xmlns:p14="http://schemas.microsoft.com/office/powerpoint/2010/main" val="9586019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C3949-C0C0-6FAA-6D73-482001E0E9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DDE4D8-9172-A4B5-CFAA-DB50C043FC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018A70-1BA6-B719-C1AE-BF505C1D7B6E}"/>
              </a:ext>
            </a:extLst>
          </p:cNvPr>
          <p:cNvSpPr>
            <a:spLocks noGrp="1"/>
          </p:cNvSpPr>
          <p:nvPr>
            <p:ph type="body" idx="1"/>
          </p:nvPr>
        </p:nvSpPr>
        <p:spPr/>
        <p:txBody>
          <a:bodyPr rtlCol="0"/>
          <a:lstStyle/>
          <a:p>
            <a:pPr rtl="0"/>
            <a:endParaRPr lang="en-GB" dirty="0"/>
          </a:p>
        </p:txBody>
      </p:sp>
      <p:sp>
        <p:nvSpPr>
          <p:cNvPr id="4" name="Slide Number Placeholder 3">
            <a:extLst>
              <a:ext uri="{FF2B5EF4-FFF2-40B4-BE49-F238E27FC236}">
                <a16:creationId xmlns:a16="http://schemas.microsoft.com/office/drawing/2014/main" id="{2FF34EA9-F415-8457-5B3E-C90DE4EE9DBD}"/>
              </a:ext>
            </a:extLst>
          </p:cNvPr>
          <p:cNvSpPr>
            <a:spLocks noGrp="1"/>
          </p:cNvSpPr>
          <p:nvPr>
            <p:ph type="sldNum" sz="quarter" idx="5"/>
          </p:nvPr>
        </p:nvSpPr>
        <p:spPr/>
        <p:txBody>
          <a:bodyPr rtlCol="0"/>
          <a:lstStyle/>
          <a:p>
            <a:pPr rtl="0"/>
            <a:fld id="{D4B9A9E5-4F7F-4A7D-9DE1-899232329269}" type="slidenum">
              <a:rPr lang="en-GB" smtClean="0"/>
              <a:t>10</a:t>
            </a:fld>
            <a:endParaRPr lang="en-GB" dirty="0"/>
          </a:p>
        </p:txBody>
      </p:sp>
    </p:spTree>
    <p:extLst>
      <p:ext uri="{BB962C8B-B14F-4D97-AF65-F5344CB8AC3E}">
        <p14:creationId xmlns:p14="http://schemas.microsoft.com/office/powerpoint/2010/main" val="432840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11</a:t>
            </a:fld>
            <a:endParaRPr lang="en-GB"/>
          </a:p>
        </p:txBody>
      </p:sp>
    </p:spTree>
    <p:extLst>
      <p:ext uri="{BB962C8B-B14F-4D97-AF65-F5344CB8AC3E}">
        <p14:creationId xmlns:p14="http://schemas.microsoft.com/office/powerpoint/2010/main" val="2770975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4FB27-ECBC-EABB-FADD-C5A7074E56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E7970C-E518-7E9D-68E4-2D2D00132C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0E84B7-9618-3EF9-FC44-CF4101D7F52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AC464CF-9891-56DE-5202-1C2B98BCA17C}"/>
              </a:ext>
            </a:extLst>
          </p:cNvPr>
          <p:cNvSpPr>
            <a:spLocks noGrp="1"/>
          </p:cNvSpPr>
          <p:nvPr>
            <p:ph type="sldNum" sz="quarter" idx="5"/>
          </p:nvPr>
        </p:nvSpPr>
        <p:spPr/>
        <p:txBody>
          <a:bodyPr/>
          <a:lstStyle/>
          <a:p>
            <a:pPr rtl="0"/>
            <a:fld id="{D4B9A9E5-4F7F-4A7D-9DE1-899232329269}" type="slidenum">
              <a:rPr lang="en-GB" smtClean="0"/>
              <a:t>12</a:t>
            </a:fld>
            <a:endParaRPr lang="en-GB"/>
          </a:p>
        </p:txBody>
      </p:sp>
    </p:spTree>
    <p:extLst>
      <p:ext uri="{BB962C8B-B14F-4D97-AF65-F5344CB8AC3E}">
        <p14:creationId xmlns:p14="http://schemas.microsoft.com/office/powerpoint/2010/main" val="4057544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E4A38-5BBF-1CF6-3CA6-44558F221D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91EFD-0E15-DE44-0781-19B193A6F4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454C57-1879-F659-A8BD-88070A0DD5E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BC4AAD9-71C8-5A56-C20C-89B6AC7705EC}"/>
              </a:ext>
            </a:extLst>
          </p:cNvPr>
          <p:cNvSpPr>
            <a:spLocks noGrp="1"/>
          </p:cNvSpPr>
          <p:nvPr>
            <p:ph type="sldNum" sz="quarter" idx="5"/>
          </p:nvPr>
        </p:nvSpPr>
        <p:spPr/>
        <p:txBody>
          <a:bodyPr/>
          <a:lstStyle/>
          <a:p>
            <a:pPr rtl="0"/>
            <a:fld id="{D4B9A9E5-4F7F-4A7D-9DE1-899232329269}" type="slidenum">
              <a:rPr lang="en-GB" smtClean="0"/>
              <a:t>13</a:t>
            </a:fld>
            <a:endParaRPr lang="en-GB"/>
          </a:p>
        </p:txBody>
      </p:sp>
    </p:spTree>
    <p:extLst>
      <p:ext uri="{BB962C8B-B14F-4D97-AF65-F5344CB8AC3E}">
        <p14:creationId xmlns:p14="http://schemas.microsoft.com/office/powerpoint/2010/main" val="3456911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F085D-6EB1-A65A-C0AC-DB39199294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FF76D-FF33-47F6-D928-671AF8A6F4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B50167-D2D5-7D44-760C-C95C1487A48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5D9C9FA-125B-5247-3341-94EBD4346EAC}"/>
              </a:ext>
            </a:extLst>
          </p:cNvPr>
          <p:cNvSpPr>
            <a:spLocks noGrp="1"/>
          </p:cNvSpPr>
          <p:nvPr>
            <p:ph type="sldNum" sz="quarter" idx="5"/>
          </p:nvPr>
        </p:nvSpPr>
        <p:spPr/>
        <p:txBody>
          <a:bodyPr/>
          <a:lstStyle/>
          <a:p>
            <a:pPr rtl="0"/>
            <a:fld id="{D4B9A9E5-4F7F-4A7D-9DE1-899232329269}" type="slidenum">
              <a:rPr lang="en-GB" smtClean="0"/>
              <a:t>14</a:t>
            </a:fld>
            <a:endParaRPr lang="en-GB"/>
          </a:p>
        </p:txBody>
      </p:sp>
    </p:spTree>
    <p:extLst>
      <p:ext uri="{BB962C8B-B14F-4D97-AF65-F5344CB8AC3E}">
        <p14:creationId xmlns:p14="http://schemas.microsoft.com/office/powerpoint/2010/main" val="2876062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EDDD3-73B3-294A-45AE-01B79837D8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554409-1588-FDD1-C1FF-A7D271756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D32EB9-E924-CEB7-3DA2-022E061C992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F611CD0-9266-FD3C-7E6B-B14EB307E5F9}"/>
              </a:ext>
            </a:extLst>
          </p:cNvPr>
          <p:cNvSpPr>
            <a:spLocks noGrp="1"/>
          </p:cNvSpPr>
          <p:nvPr>
            <p:ph type="sldNum" sz="quarter" idx="5"/>
          </p:nvPr>
        </p:nvSpPr>
        <p:spPr/>
        <p:txBody>
          <a:bodyPr/>
          <a:lstStyle/>
          <a:p>
            <a:pPr rtl="0"/>
            <a:fld id="{D4B9A9E5-4F7F-4A7D-9DE1-899232329269}" type="slidenum">
              <a:rPr lang="en-GB" smtClean="0"/>
              <a:t>15</a:t>
            </a:fld>
            <a:endParaRPr lang="en-GB"/>
          </a:p>
        </p:txBody>
      </p:sp>
    </p:spTree>
    <p:extLst>
      <p:ext uri="{BB962C8B-B14F-4D97-AF65-F5344CB8AC3E}">
        <p14:creationId xmlns:p14="http://schemas.microsoft.com/office/powerpoint/2010/main" val="6734508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D2452-55CE-4073-EF68-7BA0120D3F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D82CB4-2AED-4D69-081F-F0676314A7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92FC35-8116-C970-EC46-D3F1C630BB8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7EEEEF0-E4F4-9C4F-86CB-0CC1AB7E2407}"/>
              </a:ext>
            </a:extLst>
          </p:cNvPr>
          <p:cNvSpPr>
            <a:spLocks noGrp="1"/>
          </p:cNvSpPr>
          <p:nvPr>
            <p:ph type="sldNum" sz="quarter" idx="5"/>
          </p:nvPr>
        </p:nvSpPr>
        <p:spPr/>
        <p:txBody>
          <a:bodyPr/>
          <a:lstStyle/>
          <a:p>
            <a:pPr rtl="0"/>
            <a:fld id="{D4B9A9E5-4F7F-4A7D-9DE1-899232329269}" type="slidenum">
              <a:rPr lang="en-GB" smtClean="0"/>
              <a:t>16</a:t>
            </a:fld>
            <a:endParaRPr lang="en-GB"/>
          </a:p>
        </p:txBody>
      </p:sp>
    </p:spTree>
    <p:extLst>
      <p:ext uri="{BB962C8B-B14F-4D97-AF65-F5344CB8AC3E}">
        <p14:creationId xmlns:p14="http://schemas.microsoft.com/office/powerpoint/2010/main" val="3213426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FF437-A40A-B25F-2B8C-6CE3C78BFF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3A7147-A4CE-EA46-2B4B-BE2DEE0D73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BC5DE-EDF0-DD95-2B6C-355BCCA0FEF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D995324-BD6F-BA95-537A-323820808F6A}"/>
              </a:ext>
            </a:extLst>
          </p:cNvPr>
          <p:cNvSpPr>
            <a:spLocks noGrp="1"/>
          </p:cNvSpPr>
          <p:nvPr>
            <p:ph type="sldNum" sz="quarter" idx="5"/>
          </p:nvPr>
        </p:nvSpPr>
        <p:spPr/>
        <p:txBody>
          <a:bodyPr/>
          <a:lstStyle/>
          <a:p>
            <a:pPr rtl="0"/>
            <a:fld id="{D4B9A9E5-4F7F-4A7D-9DE1-899232329269}" type="slidenum">
              <a:rPr lang="en-GB" smtClean="0"/>
              <a:t>17</a:t>
            </a:fld>
            <a:endParaRPr lang="en-GB"/>
          </a:p>
        </p:txBody>
      </p:sp>
    </p:spTree>
    <p:extLst>
      <p:ext uri="{BB962C8B-B14F-4D97-AF65-F5344CB8AC3E}">
        <p14:creationId xmlns:p14="http://schemas.microsoft.com/office/powerpoint/2010/main" val="32061929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3D130-2A88-E71F-1483-F63E9C63A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B9FF2-4026-1B6D-303B-EF7E3DCE62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48CA8E-D1FB-AA68-9311-683414527B7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6D23CF1-9A00-AA2B-EB46-8D2DCDF8B420}"/>
              </a:ext>
            </a:extLst>
          </p:cNvPr>
          <p:cNvSpPr>
            <a:spLocks noGrp="1"/>
          </p:cNvSpPr>
          <p:nvPr>
            <p:ph type="sldNum" sz="quarter" idx="5"/>
          </p:nvPr>
        </p:nvSpPr>
        <p:spPr/>
        <p:txBody>
          <a:bodyPr/>
          <a:lstStyle/>
          <a:p>
            <a:pPr rtl="0"/>
            <a:fld id="{D4B9A9E5-4F7F-4A7D-9DE1-899232329269}" type="slidenum">
              <a:rPr lang="en-GB" smtClean="0"/>
              <a:t>18</a:t>
            </a:fld>
            <a:endParaRPr lang="en-GB"/>
          </a:p>
        </p:txBody>
      </p:sp>
    </p:spTree>
    <p:extLst>
      <p:ext uri="{BB962C8B-B14F-4D97-AF65-F5344CB8AC3E}">
        <p14:creationId xmlns:p14="http://schemas.microsoft.com/office/powerpoint/2010/main" val="24125376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82EDF-D33B-D2F1-5940-EAB4557D7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4E325-B8ED-8ACF-8D45-7A60B8E33C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B63E56-2808-10D7-F17B-90322EFBAA5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D06167A-AE0E-BEE2-44A5-6CF20D053930}"/>
              </a:ext>
            </a:extLst>
          </p:cNvPr>
          <p:cNvSpPr>
            <a:spLocks noGrp="1"/>
          </p:cNvSpPr>
          <p:nvPr>
            <p:ph type="sldNum" sz="quarter" idx="5"/>
          </p:nvPr>
        </p:nvSpPr>
        <p:spPr/>
        <p:txBody>
          <a:bodyPr/>
          <a:lstStyle/>
          <a:p>
            <a:pPr rtl="0"/>
            <a:fld id="{D4B9A9E5-4F7F-4A7D-9DE1-899232329269}" type="slidenum">
              <a:rPr lang="en-GB" smtClean="0"/>
              <a:t>19</a:t>
            </a:fld>
            <a:endParaRPr lang="en-GB"/>
          </a:p>
        </p:txBody>
      </p:sp>
    </p:spTree>
    <p:extLst>
      <p:ext uri="{BB962C8B-B14F-4D97-AF65-F5344CB8AC3E}">
        <p14:creationId xmlns:p14="http://schemas.microsoft.com/office/powerpoint/2010/main" val="38284843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08104-D622-D893-82CE-235FA0B322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90A0F-067C-D849-F7C3-616061BC06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D6C26E-D9BD-40D2-05B3-89A7A2648CF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947E90F-99FD-351A-A1A6-B8BAC04D0706}"/>
              </a:ext>
            </a:extLst>
          </p:cNvPr>
          <p:cNvSpPr>
            <a:spLocks noGrp="1"/>
          </p:cNvSpPr>
          <p:nvPr>
            <p:ph type="sldNum" sz="quarter" idx="5"/>
          </p:nvPr>
        </p:nvSpPr>
        <p:spPr/>
        <p:txBody>
          <a:bodyPr/>
          <a:lstStyle/>
          <a:p>
            <a:pPr rtl="0"/>
            <a:fld id="{D4B9A9E5-4F7F-4A7D-9DE1-899232329269}" type="slidenum">
              <a:rPr lang="en-GB" smtClean="0"/>
              <a:t>20</a:t>
            </a:fld>
            <a:endParaRPr lang="en-GB"/>
          </a:p>
        </p:txBody>
      </p:sp>
    </p:spTree>
    <p:extLst>
      <p:ext uri="{BB962C8B-B14F-4D97-AF65-F5344CB8AC3E}">
        <p14:creationId xmlns:p14="http://schemas.microsoft.com/office/powerpoint/2010/main" val="17961773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2FAFF-1370-82E5-227B-2F00602E9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68E11C-1FCA-F839-5F55-DADBCF1C35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B82F53-8CAC-710F-EA81-8673ACC8562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39ECCD9-2B2F-E4BE-BF14-4E92BEC27577}"/>
              </a:ext>
            </a:extLst>
          </p:cNvPr>
          <p:cNvSpPr>
            <a:spLocks noGrp="1"/>
          </p:cNvSpPr>
          <p:nvPr>
            <p:ph type="sldNum" sz="quarter" idx="5"/>
          </p:nvPr>
        </p:nvSpPr>
        <p:spPr/>
        <p:txBody>
          <a:bodyPr/>
          <a:lstStyle/>
          <a:p>
            <a:pPr rtl="0"/>
            <a:fld id="{D4B9A9E5-4F7F-4A7D-9DE1-899232329269}" type="slidenum">
              <a:rPr lang="en-GB" smtClean="0"/>
              <a:t>21</a:t>
            </a:fld>
            <a:endParaRPr lang="en-GB"/>
          </a:p>
        </p:txBody>
      </p:sp>
    </p:spTree>
    <p:extLst>
      <p:ext uri="{BB962C8B-B14F-4D97-AF65-F5344CB8AC3E}">
        <p14:creationId xmlns:p14="http://schemas.microsoft.com/office/powerpoint/2010/main" val="20888978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D4ADC-1DD1-6164-81AA-BA055E598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2DB940-4386-AFFE-B99F-C6CCE1E147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563947-540F-897A-BDB3-69AA8909373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FB0FB8D-9E8C-2899-1112-F085449C217D}"/>
              </a:ext>
            </a:extLst>
          </p:cNvPr>
          <p:cNvSpPr>
            <a:spLocks noGrp="1"/>
          </p:cNvSpPr>
          <p:nvPr>
            <p:ph type="sldNum" sz="quarter" idx="5"/>
          </p:nvPr>
        </p:nvSpPr>
        <p:spPr/>
        <p:txBody>
          <a:bodyPr/>
          <a:lstStyle/>
          <a:p>
            <a:pPr rtl="0"/>
            <a:fld id="{D4B9A9E5-4F7F-4A7D-9DE1-899232329269}" type="slidenum">
              <a:rPr lang="en-GB" smtClean="0"/>
              <a:t>22</a:t>
            </a:fld>
            <a:endParaRPr lang="en-GB"/>
          </a:p>
        </p:txBody>
      </p:sp>
    </p:spTree>
    <p:extLst>
      <p:ext uri="{BB962C8B-B14F-4D97-AF65-F5344CB8AC3E}">
        <p14:creationId xmlns:p14="http://schemas.microsoft.com/office/powerpoint/2010/main" val="1815358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23</a:t>
            </a:fld>
            <a:endParaRPr lang="en-GB"/>
          </a:p>
        </p:txBody>
      </p:sp>
    </p:spTree>
    <p:extLst>
      <p:ext uri="{BB962C8B-B14F-4D97-AF65-F5344CB8AC3E}">
        <p14:creationId xmlns:p14="http://schemas.microsoft.com/office/powerpoint/2010/main" val="40721432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3.svg"/><Relationship Id="rId4" Type="http://schemas.openxmlformats.org/officeDocument/2006/relationships/image" Target="../media/image2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lvl1pPr>
          </a:lstStyle>
          <a:p>
            <a:pPr rtl="0"/>
            <a:r>
              <a:rPr lang="en-GB" noProof="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rtlCol="0">
            <a:normAutofit/>
          </a:bodyPr>
          <a:lstStyle>
            <a:lvl1pPr marL="0" indent="0" algn="l">
              <a:lnSpc>
                <a:spcPct val="100000"/>
              </a:lnSpc>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bg1"/>
                </a:solidFill>
              </a:defRPr>
            </a:lvl1pPr>
          </a:lstStyle>
          <a:p>
            <a:pPr rtl="0"/>
            <a:r>
              <a:rPr lang="en-GB" noProof="0"/>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rtlCol="0">
            <a:normAutofit/>
          </a:bodyPr>
          <a:lstStyle>
            <a:lvl1pPr marL="0" indent="0">
              <a:lnSpc>
                <a:spcPct val="120000"/>
              </a:lnSpc>
              <a:spcBef>
                <a:spcPts val="1000"/>
              </a:spcBef>
              <a:buNone/>
              <a:defRPr sz="1400" baseline="0">
                <a:solidFill>
                  <a:schemeClr val="bg1"/>
                </a:solidFill>
              </a:defRPr>
            </a:lvl1pPr>
            <a:lvl2pPr marL="457200" indent="0">
              <a:lnSpc>
                <a:spcPct val="120000"/>
              </a:lnSpc>
              <a:spcBef>
                <a:spcPts val="1000"/>
              </a:spcBef>
              <a:buNone/>
              <a:defRPr sz="1400" baseline="0">
                <a:solidFill>
                  <a:schemeClr val="bg1"/>
                </a:solidFill>
              </a:defRPr>
            </a:lvl2pPr>
            <a:lvl3pPr marL="914400" indent="0">
              <a:lnSpc>
                <a:spcPct val="120000"/>
              </a:lnSpc>
              <a:spcBef>
                <a:spcPts val="1000"/>
              </a:spcBef>
              <a:buNone/>
              <a:defRPr sz="1400" baseline="0">
                <a:solidFill>
                  <a:schemeClr val="bg1"/>
                </a:solidFill>
              </a:defRPr>
            </a:lvl3pPr>
            <a:lvl4pPr marL="1371600" indent="0">
              <a:lnSpc>
                <a:spcPct val="120000"/>
              </a:lnSpc>
              <a:spcBef>
                <a:spcPts val="1000"/>
              </a:spcBef>
              <a:buNone/>
              <a:defRPr sz="1400" baseline="0">
                <a:solidFill>
                  <a:schemeClr val="bg1"/>
                </a:solidFill>
              </a:defRPr>
            </a:lvl4pPr>
            <a:lvl5pPr marL="1828800" indent="0">
              <a:lnSpc>
                <a:spcPct val="120000"/>
              </a:lnSpc>
              <a:spcBef>
                <a:spcPts val="1000"/>
              </a:spcBef>
              <a:buNone/>
              <a:defRPr sz="1400" baseline="0">
                <a:solidFill>
                  <a:schemeClr val="bg1"/>
                </a:solidFil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en-GB" noProof="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en-GB" noProof="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en-GB" noProof="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73328"/>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en-GB" noProof="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75279" y="6356350"/>
            <a:ext cx="1808712" cy="365125"/>
          </a:xfrm>
        </p:spPr>
        <p:txBody>
          <a:bodyPr rtlCol="0"/>
          <a:lstStyle>
            <a:lvl1pPr>
              <a:defRPr sz="900"/>
            </a:lvl1pPr>
          </a:lstStyle>
          <a:p>
            <a:pPr algn="l" rtl="0"/>
            <a:r>
              <a:rPr lang="en-GB" noProof="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tx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solidFill>
                <a:latin typeface="+mj-lt"/>
                <a:ea typeface="+mj-ea"/>
                <a:cs typeface="+mj-cs"/>
              </a:defRPr>
            </a:lvl1pPr>
          </a:lstStyle>
          <a:p>
            <a:pPr rtl="0"/>
            <a:r>
              <a:rPr lang="en-GB" noProof="0"/>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lvl="0" rtl="0"/>
            <a:r>
              <a:rPr lang="en-GB" noProof="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en-GB" noProof="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en-GB" noProof="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en-GB" noProof="0" smtClean="0"/>
              <a:t>‹#›</a:t>
            </a:fld>
            <a:endParaRPr lang="en-GB" noProof="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r>
              <a:rPr lang="en-GB" noProof="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n-GB" noProof="0" smtClean="0"/>
              <a:pPr/>
              <a:t>‹#›</a:t>
            </a:fld>
            <a:endParaRPr lang="en-GB" noProof="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rtlCol="0">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en-GB" noProof="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bg1"/>
                </a:solidFill>
              </a:defRPr>
            </a:lvl1pPr>
          </a:lstStyle>
          <a:p>
            <a:pPr rtl="0"/>
            <a:r>
              <a:rPr lang="en-GB" noProof="0"/>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en-GB" noProof="0" dirty="0"/>
              <a:t>2026</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en-GB" dirty="0"/>
              <a:t>Research Methodology 4</a:t>
            </a:r>
            <a:endParaRPr lang="en-GB" noProof="0" dirty="0"/>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n-GB" noProof="0" smtClean="0"/>
              <a:pPr/>
              <a:t>‹#›</a:t>
            </a:fld>
            <a:endParaRPr lang="en-GB"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dirty="0"/>
              <a:t>2026</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dirty="0"/>
              <a:t>Dr E. Francke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bg1"/>
                </a:solidFill>
                <a:latin typeface="+mj-lt"/>
                <a:ea typeface="+mj-ea"/>
                <a:cs typeface="+mj-cs"/>
              </a:defRPr>
            </a:lvl1pPr>
          </a:lstStyle>
          <a:p>
            <a:pPr rtl="0"/>
            <a:r>
              <a:rPr lang="en-GB" noProof="0"/>
              <a:t>CLICK TO EDIT MASTER TITLE STYLE</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rtlCol="0">
            <a:normAutofit/>
          </a:bodyPr>
          <a:lstStyle>
            <a:lvl1pPr marL="0" indent="0" algn="ctr">
              <a:lnSpc>
                <a:spcPct val="100000"/>
              </a:lnSpc>
              <a:buNone/>
              <a:defRPr sz="2000" cap="all" spc="50" baseline="0">
                <a:solidFill>
                  <a:schemeClr val="bg1"/>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rtlCol="0">
            <a:normAutofit/>
          </a:bodyPr>
          <a:lstStyle>
            <a:lvl1pPr marL="0" indent="0" algn="ctr">
              <a:lnSpc>
                <a:spcPct val="100000"/>
              </a:lnSpc>
              <a:buNone/>
              <a:defRPr sz="1400" cap="none" spc="50" baseline="0">
                <a:solidFill>
                  <a:schemeClr val="bg1"/>
                </a:solidFill>
              </a:defRPr>
            </a:lvl1pPr>
            <a:lvl2pPr marL="457200" indent="0" algn="ctr">
              <a:lnSpc>
                <a:spcPct val="100000"/>
              </a:lnSpc>
              <a:buNone/>
              <a:defRPr sz="1400" cap="none"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a:p>
            <a:pPr lvl="1" rtl="0"/>
            <a:r>
              <a:rPr lang="en-US" noProof="0"/>
              <a:t>Second level</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dirty="0"/>
              <a:t>2026</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dirty="0"/>
              <a:t>Advanced Diploma in ICT</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dirty="0"/>
              <a:t>2026</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dirty="0"/>
              <a:t>Department of IT</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rtlCol="0">
            <a:noAutofit/>
          </a:bodyPr>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stStyle>
          <a:p>
            <a:pPr lvl="0" rtl="0"/>
            <a:r>
              <a:rPr lang="en-US" noProof="0"/>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rtlCol="0"/>
          <a:lstStyle/>
          <a:p>
            <a:pPr rtl="0"/>
            <a:r>
              <a:rPr lang="en-US" noProof="0"/>
              <a:t>Click icon to add chart</a:t>
            </a:r>
            <a:endParaRPr lang="en-GB" noProof="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rtlCol="0">
            <a:noAutofit/>
          </a:bodyPr>
          <a:lstStyle>
            <a:lvl1pPr marL="0" indent="0">
              <a:buNone/>
              <a:defRPr sz="1400" cap="all" spc="150" baseline="0">
                <a:solidFill>
                  <a:schemeClr val="tx1"/>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rtl="0"/>
            <a:r>
              <a:rPr lang="en-US" noProof="0"/>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rtlCol="0">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rtl="0"/>
            <a:r>
              <a:rPr lang="en-GB" noProof="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n-GB" noProof="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491003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 uri="{C183D7F6-B498-43B3-948B-1728B52AA6E4}">
                <adec:decorative xmlns:adec="http://schemas.microsoft.com/office/drawing/2017/decorative" val="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solidFill>
                <a:latin typeface="+mj-lt"/>
              </a:defRPr>
            </a:lvl1pPr>
          </a:lstStyle>
          <a:p>
            <a:pPr lvl="0" rtl="0"/>
            <a:r>
              <a:rPr lang="en-GB" noProof="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solidFill>
                <a:latin typeface="+mj-lt"/>
              </a:defRPr>
            </a:lvl1pPr>
          </a:lstStyle>
          <a:p>
            <a:pPr lvl="0" rtl="0"/>
            <a:r>
              <a:rPr lang="en-GB" noProof="0"/>
              <a:t>Year</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2" name="Rectangle 31">
            <a:extLst>
              <a:ext uri="{FF2B5EF4-FFF2-40B4-BE49-F238E27FC236}">
                <a16:creationId xmlns:a16="http://schemas.microsoft.com/office/drawing/2014/main" id="{FFA35437-CCDE-4D92-B879-F23B329C8EC3}"/>
              </a:ext>
              <a:ext uri="{C183D7F6-B498-43B3-948B-1728B52AA6E4}">
                <adec:decorative xmlns:adec="http://schemas.microsoft.com/office/drawing/2017/decorative" val="1"/>
              </a:ext>
            </a:extLst>
          </p:cNvPr>
          <p:cNvSpPr/>
          <p:nvPr userDrawn="1"/>
        </p:nvSpPr>
        <p:spPr>
          <a:xfrm>
            <a:off x="929640" y="4034785"/>
            <a:ext cx="1033272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056323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39084"/>
            <a:ext cx="10515600" cy="3695338"/>
          </a:xfrm>
        </p:spPr>
        <p:txBody>
          <a:bodyPr rtlCol="0"/>
          <a:lstStyle/>
          <a:p>
            <a:pPr rtl="0"/>
            <a:r>
              <a:rPr lang="en-US" noProof="0"/>
              <a:t>Click icon to add SmartArt graphic</a:t>
            </a:r>
            <a:endParaRPr lang="en-GB" noProof="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n-GB" noProof="0"/>
              <a:t>Pitch Deck</a:t>
            </a:r>
          </a:p>
        </p:txBody>
      </p:sp>
      <p:cxnSp>
        <p:nvCxnSpPr>
          <p:cNvPr id="10" name="Straight Connector 9">
            <a:extLst>
              <a:ext uri="{FF2B5EF4-FFF2-40B4-BE49-F238E27FC236}">
                <a16:creationId xmlns:a16="http://schemas.microsoft.com/office/drawing/2014/main" id="{66988B2D-0240-4256-8268-4B9FF1E72363}"/>
              </a:ext>
              <a:ext uri="{C183D7F6-B498-43B3-948B-1728B52AA6E4}">
                <adec:decorative xmlns:adec="http://schemas.microsoft.com/office/drawing/2017/decorative" val="1"/>
              </a:ext>
            </a:extLst>
          </p:cNvPr>
          <p:cNvCxnSpPr>
            <a:cxnSpLocks/>
          </p:cNvCxnSpPr>
          <p:nvPr/>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 uri="{C183D7F6-B498-43B3-948B-1728B52AA6E4}">
                <adec:decorative xmlns:adec="http://schemas.microsoft.com/office/drawing/2017/decorative" val="1"/>
              </a:ext>
            </a:extLst>
          </p:cNvPr>
          <p:cNvCxnSpPr>
            <a:cxnSpLocks/>
          </p:cNvCxnSpPr>
          <p:nvPr/>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11558" y="5084524"/>
            <a:ext cx="2196619"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707607" y="5099206"/>
            <a:ext cx="2145049"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rtlCol="0"/>
          <a:lstStyle/>
          <a:p>
            <a:pPr lvl="1" rtl="0"/>
            <a:r>
              <a:rPr lang="en-US" noProof="0"/>
              <a:t>Click icon to add picture</a:t>
            </a:r>
            <a:endParaRPr lang="en-GB" noProof="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271" y="5099206"/>
            <a:ext cx="2132985"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18152" y="5084524"/>
            <a:ext cx="2132984"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en-US" noProof="0"/>
              <a:t>Click icon to add picture</a:t>
            </a:r>
            <a:endParaRPr lang="en-GB" noProof="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en-US" noProof="0"/>
              <a:t>Click icon to add picture</a:t>
            </a:r>
            <a:endParaRPr lang="en-GB" noProof="0"/>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en-GB" noProof="0" smtClean="0"/>
              <a:t>‹#›</a:t>
            </a:fld>
            <a:endParaRPr lang="en-GB" noProof="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nding">
    <p:bg>
      <p:bgPr>
        <a:solidFill>
          <a:schemeClr val="bg1"/>
        </a:solidFill>
        <a:effectLst/>
      </p:bgPr>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Content Placeholder 10">
            <a:extLst>
              <a:ext uri="{FF2B5EF4-FFF2-40B4-BE49-F238E27FC236}">
                <a16:creationId xmlns:a16="http://schemas.microsoft.com/office/drawing/2014/main" id="{319EE98D-9541-4F21-8952-3026DEF75EC4}"/>
              </a:ext>
            </a:extLst>
          </p:cNvPr>
          <p:cNvSpPr>
            <a:spLocks noGrp="1"/>
          </p:cNvSpPr>
          <p:nvPr>
            <p:ph sz="quarter" idx="21" hasCustomPrompt="1"/>
          </p:nvPr>
        </p:nvSpPr>
        <p:spPr>
          <a:xfrm>
            <a:off x="107544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4" name="Content Placeholder 10">
            <a:extLst>
              <a:ext uri="{FF2B5EF4-FFF2-40B4-BE49-F238E27FC236}">
                <a16:creationId xmlns:a16="http://schemas.microsoft.com/office/drawing/2014/main" id="{AB843230-A4E3-4E21-AA93-998E28EB9018}"/>
              </a:ext>
            </a:extLst>
          </p:cNvPr>
          <p:cNvSpPr>
            <a:spLocks noGrp="1"/>
          </p:cNvSpPr>
          <p:nvPr>
            <p:ph sz="quarter" idx="22" hasCustomPrompt="1"/>
          </p:nvPr>
        </p:nvSpPr>
        <p:spPr>
          <a:xfrm>
            <a:off x="381139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5" name="Content Placeholder 10">
            <a:extLst>
              <a:ext uri="{FF2B5EF4-FFF2-40B4-BE49-F238E27FC236}">
                <a16:creationId xmlns:a16="http://schemas.microsoft.com/office/drawing/2014/main" id="{3AE0369E-A275-4E5A-AE0F-B1F9A54DEDFC}"/>
              </a:ext>
            </a:extLst>
          </p:cNvPr>
          <p:cNvSpPr>
            <a:spLocks noGrp="1"/>
          </p:cNvSpPr>
          <p:nvPr>
            <p:ph sz="quarter" idx="23" hasCustomPrompt="1"/>
          </p:nvPr>
        </p:nvSpPr>
        <p:spPr>
          <a:xfrm>
            <a:off x="652437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6" name="Content Placeholder 10">
            <a:extLst>
              <a:ext uri="{FF2B5EF4-FFF2-40B4-BE49-F238E27FC236}">
                <a16:creationId xmlns:a16="http://schemas.microsoft.com/office/drawing/2014/main" id="{CCA3A81E-171B-4946-B8BA-B2F406CF0939}"/>
              </a:ext>
            </a:extLst>
          </p:cNvPr>
          <p:cNvSpPr>
            <a:spLocks noGrp="1"/>
          </p:cNvSpPr>
          <p:nvPr>
            <p:ph sz="quarter" idx="24" hasCustomPrompt="1"/>
          </p:nvPr>
        </p:nvSpPr>
        <p:spPr>
          <a:xfrm>
            <a:off x="926032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rtlCol="0" anchor="b">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bg1"/>
                </a:solidFill>
              </a:defRPr>
            </a:lvl1pPr>
          </a:lstStyle>
          <a:p>
            <a:pPr rtl="0"/>
            <a:r>
              <a:rPr lang="en-GB" noProof="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rtlCol="0">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en-GB" noProof="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en-GB" noProof="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en-GB" noProof="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rtl="0"/>
            <a:r>
              <a:rPr lang="en-GB" noProof="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B5CEABB6-07DC-46E8-9B57-56EC44A396E5}" type="slidenum">
              <a:rPr lang="en-GB" noProof="0" smtClean="0"/>
              <a:pPr/>
              <a:t>‹#›</a:t>
            </a:fld>
            <a:endParaRPr lang="en-GB"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79" r:id="rId13"/>
    <p:sldLayoutId id="2147483692" r:id="rId14"/>
    <p:sldLayoutId id="2147483681" r:id="rId15"/>
    <p:sldLayoutId id="2147483674" r:id="rId16"/>
    <p:sldLayoutId id="2147483675" r:id="rId17"/>
    <p:sldLayoutId id="2147483696" r:id="rId18"/>
    <p:sldLayoutId id="2147483677" r:id="rId19"/>
    <p:sldLayoutId id="2147483678" r:id="rId20"/>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title"/>
          </p:nvPr>
        </p:nvSpPr>
        <p:spPr>
          <a:xfrm>
            <a:off x="5920169" y="1152771"/>
            <a:ext cx="5431971" cy="846301"/>
          </a:xfrm>
        </p:spPr>
        <p:txBody>
          <a:bodyPr rtlCol="0" anchor="t">
            <a:normAutofit/>
          </a:bodyPr>
          <a:lstStyle/>
          <a:p>
            <a:pPr rtl="0"/>
            <a:r>
              <a:rPr lang="en-GB" sz="2600"/>
              <a:t>Semester ONE - Week 5 – TOPIC 5</a:t>
            </a:r>
          </a:p>
        </p:txBody>
      </p:sp>
      <p:sp>
        <p:nvSpPr>
          <p:cNvPr id="3" name="Subtitle 2">
            <a:extLst>
              <a:ext uri="{FF2B5EF4-FFF2-40B4-BE49-F238E27FC236}">
                <a16:creationId xmlns:a16="http://schemas.microsoft.com/office/drawing/2014/main" id="{1901B20D-4C28-4DA3-ABBD-718C22A5E58B}"/>
              </a:ext>
            </a:extLst>
          </p:cNvPr>
          <p:cNvSpPr>
            <a:spLocks noGrp="1"/>
          </p:cNvSpPr>
          <p:nvPr>
            <p:ph type="body" sz="quarter" idx="13"/>
          </p:nvPr>
        </p:nvSpPr>
        <p:spPr>
          <a:xfrm>
            <a:off x="5922254" y="2469515"/>
            <a:ext cx="5433204" cy="1788586"/>
          </a:xfrm>
        </p:spPr>
        <p:txBody>
          <a:bodyPr rtlCol="0">
            <a:normAutofit/>
          </a:bodyPr>
          <a:lstStyle/>
          <a:p>
            <a:pPr algn="ctr"/>
            <a:r>
              <a:rPr lang="en-ZA" dirty="0"/>
              <a:t>The concept of the Golden Thread in your study</a:t>
            </a:r>
          </a:p>
          <a:p>
            <a:pPr algn="ctr" rtl="0"/>
            <a:endParaRPr lang="en-GB" sz="1400" dirty="0"/>
          </a:p>
        </p:txBody>
      </p:sp>
      <p:sp>
        <p:nvSpPr>
          <p:cNvPr id="18" name="Date Placeholder 8">
            <a:extLst>
              <a:ext uri="{FF2B5EF4-FFF2-40B4-BE49-F238E27FC236}">
                <a16:creationId xmlns:a16="http://schemas.microsoft.com/office/drawing/2014/main" id="{64DB04BC-AF2B-9FBF-0828-729E016604FF}"/>
              </a:ext>
            </a:extLst>
          </p:cNvPr>
          <p:cNvSpPr>
            <a:spLocks noGrp="1"/>
          </p:cNvSpPr>
          <p:nvPr>
            <p:ph type="dt" sz="half" idx="10"/>
          </p:nvPr>
        </p:nvSpPr>
        <p:spPr>
          <a:xfrm>
            <a:off x="838200" y="6356350"/>
            <a:ext cx="2743200" cy="365125"/>
          </a:xfrm>
        </p:spPr>
        <p:txBody>
          <a:bodyPr/>
          <a:lstStyle/>
          <a:p>
            <a:pPr rtl="0">
              <a:spcAft>
                <a:spcPts val="600"/>
              </a:spcAft>
            </a:pPr>
            <a:r>
              <a:rPr lang="en-GB" noProof="0" dirty="0"/>
              <a:t>2026</a:t>
            </a:r>
          </a:p>
        </p:txBody>
      </p:sp>
      <p:sp>
        <p:nvSpPr>
          <p:cNvPr id="20" name="Footer Placeholder 9">
            <a:extLst>
              <a:ext uri="{FF2B5EF4-FFF2-40B4-BE49-F238E27FC236}">
                <a16:creationId xmlns:a16="http://schemas.microsoft.com/office/drawing/2014/main" id="{50EFA6D4-F0B3-7559-D1C0-B3D5B3861C14}"/>
              </a:ext>
            </a:extLst>
          </p:cNvPr>
          <p:cNvSpPr>
            <a:spLocks noGrp="1"/>
          </p:cNvSpPr>
          <p:nvPr>
            <p:ph type="ftr" sz="quarter" idx="11"/>
          </p:nvPr>
        </p:nvSpPr>
        <p:spPr>
          <a:xfrm>
            <a:off x="4038600" y="6356350"/>
            <a:ext cx="4114800" cy="365125"/>
          </a:xfrm>
        </p:spPr>
        <p:txBody>
          <a:bodyPr/>
          <a:lstStyle/>
          <a:p>
            <a:pPr rtl="0">
              <a:spcAft>
                <a:spcPts val="600"/>
              </a:spcAft>
            </a:pPr>
            <a:r>
              <a:rPr lang="en-GB" noProof="0" dirty="0"/>
              <a:t>Prepared and presented by Dr E. Francke</a:t>
            </a:r>
          </a:p>
        </p:txBody>
      </p:sp>
      <p:sp>
        <p:nvSpPr>
          <p:cNvPr id="22" name="Slide Number Placeholder 10">
            <a:extLst>
              <a:ext uri="{FF2B5EF4-FFF2-40B4-BE49-F238E27FC236}">
                <a16:creationId xmlns:a16="http://schemas.microsoft.com/office/drawing/2014/main" id="{C6EABFFF-ABB7-8AD7-7BA8-5886CAE14550}"/>
              </a:ext>
            </a:extLst>
          </p:cNvPr>
          <p:cNvSpPr>
            <a:spLocks noGrp="1"/>
          </p:cNvSpPr>
          <p:nvPr>
            <p:ph type="sldNum" sz="quarter" idx="12"/>
          </p:nvPr>
        </p:nvSpPr>
        <p:spPr>
          <a:xfrm>
            <a:off x="8610600" y="6356350"/>
            <a:ext cx="2743200" cy="365125"/>
          </a:xfrm>
        </p:spPr>
        <p:txBody>
          <a:bodyPr/>
          <a:lstStyle/>
          <a:p>
            <a:pPr rtl="0">
              <a:spcAft>
                <a:spcPts val="600"/>
              </a:spcAft>
            </a:pPr>
            <a:fld id="{B5CEABB6-07DC-46E8-9B57-56EC44A396E5}" type="slidenum">
              <a:rPr lang="en-GB" noProof="0" smtClean="0"/>
              <a:pPr rtl="0">
                <a:spcAft>
                  <a:spcPts val="600"/>
                </a:spcAft>
              </a:pPr>
              <a:t>1</a:t>
            </a:fld>
            <a:endParaRPr lang="en-GB" noProof="0"/>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508760" y="4156405"/>
            <a:ext cx="3858768" cy="1325563"/>
          </a:xfrm>
        </p:spPr>
        <p:txBody>
          <a:bodyPr rtlCol="0">
            <a:normAutofit fontScale="90000"/>
          </a:bodyPr>
          <a:lstStyle/>
          <a:p>
            <a:pPr algn="ctr"/>
            <a:r>
              <a:rPr lang="en-ZA" dirty="0"/>
              <a:t>The concept of the Golden Thread in your study</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5922254" y="786385"/>
            <a:ext cx="5433204" cy="5221224"/>
          </a:xfrm>
        </p:spPr>
        <p:txBody>
          <a:bodyPr vert="horz" lIns="91440" tIns="45720" rIns="91440" bIns="45720" rtlCol="0" anchor="t">
            <a:noAutofit/>
          </a:bodyPr>
          <a:lstStyle/>
          <a:p>
            <a:r>
              <a:rPr lang="en-US" dirty="0"/>
              <a:t>• Explain the Golden Thread as a coherence and alignment principle in research writing.</a:t>
            </a:r>
            <a:endParaRPr lang="en-ZA" dirty="0"/>
          </a:p>
          <a:p>
            <a:r>
              <a:rPr lang="en-US" dirty="0"/>
              <a:t>• Identify where the Golden Thread commonly breaks (misaligned language, design, and questions).</a:t>
            </a:r>
            <a:endParaRPr lang="en-ZA" dirty="0"/>
          </a:p>
          <a:p>
            <a:r>
              <a:rPr lang="en-US" dirty="0"/>
              <a:t>• Apply a practical checklist to test alignment between title, problem, questions, objectives, methods, analysis, and conclusions.</a:t>
            </a:r>
            <a:endParaRPr lang="en-ZA" dirty="0"/>
          </a:p>
          <a:p>
            <a:r>
              <a:rPr lang="en-US" dirty="0"/>
              <a:t>• Use strategies to maintain and repair coherence while a study evolves over time.</a:t>
            </a:r>
            <a:endParaRPr lang="en-ZA" dirty="0"/>
          </a:p>
        </p:txBody>
      </p:sp>
      <p:sp>
        <p:nvSpPr>
          <p:cNvPr id="20" name="Date Placeholder 19">
            <a:extLst>
              <a:ext uri="{FF2B5EF4-FFF2-40B4-BE49-F238E27FC236}">
                <a16:creationId xmlns:a16="http://schemas.microsoft.com/office/drawing/2014/main" id="{A74D661B-510C-4CF2-BF77-3EAFB649883D}"/>
              </a:ext>
            </a:extLst>
          </p:cNvPr>
          <p:cNvSpPr>
            <a:spLocks noGrp="1"/>
          </p:cNvSpPr>
          <p:nvPr>
            <p:ph type="dt" sz="half" idx="20"/>
          </p:nvPr>
        </p:nvSpPr>
        <p:spPr>
          <a:xfrm>
            <a:off x="5919680" y="6356350"/>
            <a:ext cx="947516" cy="365125"/>
          </a:xfrm>
        </p:spPr>
        <p:txBody>
          <a:bodyPr rtlCol="0"/>
          <a:lstStyle/>
          <a:p>
            <a:pPr rtl="0"/>
            <a:r>
              <a:rPr lang="en-GB" dirty="0"/>
              <a:t>February 2026</a:t>
            </a:r>
          </a:p>
        </p:txBody>
      </p:sp>
      <p:sp>
        <p:nvSpPr>
          <p:cNvPr id="21" name="Footer Placeholder 20">
            <a:extLst>
              <a:ext uri="{FF2B5EF4-FFF2-40B4-BE49-F238E27FC236}">
                <a16:creationId xmlns:a16="http://schemas.microsoft.com/office/drawing/2014/main" id="{7E44CAC0-3B5A-49F6-A2CB-0BC80D111A87}"/>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2</a:t>
            </a:fld>
            <a:endParaRPr lang="en-GB" dirty="0"/>
          </a:p>
        </p:txBody>
      </p:sp>
    </p:spTree>
    <p:extLst>
      <p:ext uri="{BB962C8B-B14F-4D97-AF65-F5344CB8AC3E}">
        <p14:creationId xmlns:p14="http://schemas.microsoft.com/office/powerpoint/2010/main" val="1844941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7D58F-19A1-5C79-530C-10255FA1F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4851E9-A1EB-EE64-40BF-F68000AB06F6}"/>
              </a:ext>
            </a:extLst>
          </p:cNvPr>
          <p:cNvSpPr>
            <a:spLocks noGrp="1"/>
          </p:cNvSpPr>
          <p:nvPr>
            <p:ph type="title"/>
          </p:nvPr>
        </p:nvSpPr>
        <p:spPr>
          <a:xfrm>
            <a:off x="5336274" y="322562"/>
            <a:ext cx="6855725" cy="1325563"/>
          </a:xfrm>
        </p:spPr>
        <p:txBody>
          <a:bodyPr rtlCol="0">
            <a:normAutofit/>
          </a:bodyPr>
          <a:lstStyle/>
          <a:p>
            <a:r>
              <a:rPr lang="en-ZA" dirty="0"/>
              <a:t>The concept of the Golden Thread in your study</a:t>
            </a:r>
            <a:endParaRPr lang="en-GB" dirty="0"/>
          </a:p>
        </p:txBody>
      </p:sp>
      <p:sp>
        <p:nvSpPr>
          <p:cNvPr id="3" name="Content Placeholder 2">
            <a:extLst>
              <a:ext uri="{FF2B5EF4-FFF2-40B4-BE49-F238E27FC236}">
                <a16:creationId xmlns:a16="http://schemas.microsoft.com/office/drawing/2014/main" id="{10C4C650-79F1-7ECA-4A2F-B3A80FEDBA78}"/>
              </a:ext>
            </a:extLst>
          </p:cNvPr>
          <p:cNvSpPr>
            <a:spLocks noGrp="1"/>
          </p:cNvSpPr>
          <p:nvPr>
            <p:ph type="body" sz="quarter" idx="13"/>
          </p:nvPr>
        </p:nvSpPr>
        <p:spPr>
          <a:xfrm>
            <a:off x="4757928" y="3765716"/>
            <a:ext cx="7434072" cy="2106940"/>
          </a:xfrm>
        </p:spPr>
        <p:txBody>
          <a:bodyPr vert="horz" lIns="91440" tIns="45720" rIns="91440" bIns="45720" rtlCol="0" anchor="t">
            <a:noAutofit/>
          </a:bodyPr>
          <a:lstStyle/>
          <a:p>
            <a:r>
              <a:rPr lang="en-US" dirty="0"/>
              <a:t>The Golden Thread is the line of logical coherence that connects every part of a research project, from the title and problem, through questions, objectives, literature, theory, methodology, analysis, and conclusions. (Francke, 2024; Clarence, 2015; Spooner &amp; Barnard, 2024)</a:t>
            </a:r>
            <a:endParaRPr lang="en-ZA" dirty="0"/>
          </a:p>
        </p:txBody>
      </p:sp>
      <p:sp>
        <p:nvSpPr>
          <p:cNvPr id="20" name="Date Placeholder 19">
            <a:extLst>
              <a:ext uri="{FF2B5EF4-FFF2-40B4-BE49-F238E27FC236}">
                <a16:creationId xmlns:a16="http://schemas.microsoft.com/office/drawing/2014/main" id="{B32DB010-1DF3-1ABF-2D9E-5F42DA323B45}"/>
              </a:ext>
            </a:extLst>
          </p:cNvPr>
          <p:cNvSpPr>
            <a:spLocks noGrp="1"/>
          </p:cNvSpPr>
          <p:nvPr>
            <p:ph type="dt" sz="half" idx="20"/>
          </p:nvPr>
        </p:nvSpPr>
        <p:spPr>
          <a:xfrm>
            <a:off x="5919680" y="6356350"/>
            <a:ext cx="947516" cy="365125"/>
          </a:xfrm>
        </p:spPr>
        <p:txBody>
          <a:bodyPr rtlCol="0"/>
          <a:lstStyle/>
          <a:p>
            <a:pPr rtl="0"/>
            <a:r>
              <a:rPr lang="en-GB" dirty="0"/>
              <a:t>February 2026</a:t>
            </a:r>
          </a:p>
        </p:txBody>
      </p:sp>
      <p:sp>
        <p:nvSpPr>
          <p:cNvPr id="21" name="Footer Placeholder 20">
            <a:extLst>
              <a:ext uri="{FF2B5EF4-FFF2-40B4-BE49-F238E27FC236}">
                <a16:creationId xmlns:a16="http://schemas.microsoft.com/office/drawing/2014/main" id="{88E66D45-31B7-35CE-E284-488BEB498A91}"/>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957EC172-6B21-EE33-4741-0EA32E1BD89E}"/>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3</a:t>
            </a:fld>
            <a:endParaRPr lang="en-GB" dirty="0"/>
          </a:p>
        </p:txBody>
      </p:sp>
      <p:pic>
        <p:nvPicPr>
          <p:cNvPr id="4" name="Picture 3">
            <a:extLst>
              <a:ext uri="{FF2B5EF4-FFF2-40B4-BE49-F238E27FC236}">
                <a16:creationId xmlns:a16="http://schemas.microsoft.com/office/drawing/2014/main" id="{993B0D78-1E25-8F93-669C-E55CFCC87838}"/>
              </a:ext>
            </a:extLst>
          </p:cNvPr>
          <p:cNvPicPr>
            <a:picLocks noChangeAspect="1"/>
          </p:cNvPicPr>
          <p:nvPr/>
        </p:nvPicPr>
        <p:blipFill>
          <a:blip r:embed="rId3"/>
          <a:stretch>
            <a:fillRect/>
          </a:stretch>
        </p:blipFill>
        <p:spPr>
          <a:xfrm>
            <a:off x="0" y="-83981"/>
            <a:ext cx="4627987" cy="6941981"/>
          </a:xfrm>
          <a:prstGeom prst="rect">
            <a:avLst/>
          </a:prstGeom>
        </p:spPr>
      </p:pic>
      <p:cxnSp>
        <p:nvCxnSpPr>
          <p:cNvPr id="6" name="Connector: Curved 5">
            <a:extLst>
              <a:ext uri="{FF2B5EF4-FFF2-40B4-BE49-F238E27FC236}">
                <a16:creationId xmlns:a16="http://schemas.microsoft.com/office/drawing/2014/main" id="{1CCE7FDC-815B-6C56-1D91-21C6CD3A72C3}"/>
              </a:ext>
            </a:extLst>
          </p:cNvPr>
          <p:cNvCxnSpPr>
            <a:cxnSpLocks/>
          </p:cNvCxnSpPr>
          <p:nvPr/>
        </p:nvCxnSpPr>
        <p:spPr>
          <a:xfrm rot="5400000">
            <a:off x="-393192" y="2569464"/>
            <a:ext cx="5358384" cy="1408176"/>
          </a:xfrm>
          <a:prstGeom prst="curvedConnector3">
            <a:avLst>
              <a:gd name="adj1" fmla="val 50000"/>
            </a:avLst>
          </a:prstGeom>
          <a:ln w="1905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609099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2D2D2-19A1-6E44-3BBE-1E035726B4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6B1D5B-D980-1AF1-553D-2577AD994621}"/>
              </a:ext>
            </a:extLst>
          </p:cNvPr>
          <p:cNvSpPr>
            <a:spLocks noGrp="1"/>
          </p:cNvSpPr>
          <p:nvPr>
            <p:ph type="title"/>
          </p:nvPr>
        </p:nvSpPr>
        <p:spPr>
          <a:xfrm>
            <a:off x="530352" y="891329"/>
            <a:ext cx="10823448" cy="1325563"/>
          </a:xfrm>
        </p:spPr>
        <p:txBody>
          <a:bodyPr rtlCol="0">
            <a:normAutofit/>
          </a:bodyPr>
          <a:lstStyle/>
          <a:p>
            <a:r>
              <a:rPr lang="en-US" b="1" dirty="0"/>
              <a:t>A. Why is the Golden Thread important in research?</a:t>
            </a:r>
            <a:endParaRPr lang="en-ZA" dirty="0"/>
          </a:p>
        </p:txBody>
      </p:sp>
      <p:sp>
        <p:nvSpPr>
          <p:cNvPr id="3" name="Content Placeholder 2">
            <a:extLst>
              <a:ext uri="{FF2B5EF4-FFF2-40B4-BE49-F238E27FC236}">
                <a16:creationId xmlns:a16="http://schemas.microsoft.com/office/drawing/2014/main" id="{DFB2BE2C-4B87-D5FC-830C-6DA02A5588FF}"/>
              </a:ext>
            </a:extLst>
          </p:cNvPr>
          <p:cNvSpPr>
            <a:spLocks noGrp="1"/>
          </p:cNvSpPr>
          <p:nvPr>
            <p:ph type="body" sz="quarter" idx="13"/>
          </p:nvPr>
        </p:nvSpPr>
        <p:spPr>
          <a:xfrm>
            <a:off x="50292" y="2563123"/>
            <a:ext cx="4031945" cy="3700517"/>
          </a:xfrm>
        </p:spPr>
        <p:txBody>
          <a:bodyPr vert="horz" lIns="91440" tIns="45720" rIns="91440" bIns="45720" rtlCol="0" anchor="t">
            <a:normAutofit/>
          </a:bodyPr>
          <a:lstStyle/>
          <a:p>
            <a:pPr lvl="0"/>
            <a:r>
              <a:rPr lang="en-US" dirty="0"/>
              <a:t>It prevents the study from becoming a collection of disconnected parts.</a:t>
            </a:r>
            <a:endParaRPr lang="en-ZA" dirty="0"/>
          </a:p>
        </p:txBody>
      </p:sp>
      <p:sp>
        <p:nvSpPr>
          <p:cNvPr id="80" name="Date Placeholder 79">
            <a:extLst>
              <a:ext uri="{FF2B5EF4-FFF2-40B4-BE49-F238E27FC236}">
                <a16:creationId xmlns:a16="http://schemas.microsoft.com/office/drawing/2014/main" id="{1A7A553B-DA88-8BB0-2177-F6372219E7D1}"/>
              </a:ext>
            </a:extLst>
          </p:cNvPr>
          <p:cNvSpPr>
            <a:spLocks noGrp="1"/>
          </p:cNvSpPr>
          <p:nvPr>
            <p:ph type="dt" sz="half" idx="20"/>
          </p:nvPr>
        </p:nvSpPr>
        <p:spPr>
          <a:xfrm>
            <a:off x="838200" y="6356350"/>
            <a:ext cx="2743200" cy="365125"/>
          </a:xfrm>
        </p:spPr>
        <p:txBody>
          <a:bodyPr rtlCol="0"/>
          <a:lstStyle/>
          <a:p>
            <a:pPr rtl="0"/>
            <a:r>
              <a:rPr lang="en-GB" dirty="0"/>
              <a:t>February 2026</a:t>
            </a:r>
          </a:p>
        </p:txBody>
      </p:sp>
      <p:sp>
        <p:nvSpPr>
          <p:cNvPr id="81" name="Footer Placeholder 80">
            <a:extLst>
              <a:ext uri="{FF2B5EF4-FFF2-40B4-BE49-F238E27FC236}">
                <a16:creationId xmlns:a16="http://schemas.microsoft.com/office/drawing/2014/main" id="{C82D4397-E60E-FF14-B1C4-529D8684E742}"/>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FB381E51-2407-A74E-E1B6-9D3DD605F522}"/>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pPr rtl="0"/>
              <a:t>4</a:t>
            </a:fld>
            <a:endParaRPr lang="en-GB"/>
          </a:p>
        </p:txBody>
      </p:sp>
      <p:sp>
        <p:nvSpPr>
          <p:cNvPr id="24" name="Content Placeholder 2">
            <a:extLst>
              <a:ext uri="{FF2B5EF4-FFF2-40B4-BE49-F238E27FC236}">
                <a16:creationId xmlns:a16="http://schemas.microsoft.com/office/drawing/2014/main" id="{47B8F145-227C-897D-9BCC-0F2BF91BE69A}"/>
              </a:ext>
            </a:extLst>
          </p:cNvPr>
          <p:cNvSpPr txBox="1">
            <a:spLocks/>
          </p:cNvSpPr>
          <p:nvPr/>
        </p:nvSpPr>
        <p:spPr>
          <a:xfrm>
            <a:off x="4061460" y="2560075"/>
            <a:ext cx="4031945" cy="2081034"/>
          </a:xfrm>
          <a:prstGeom prst="rect">
            <a:avLst/>
          </a:prstGeom>
          <a:ln>
            <a:solidFill>
              <a:schemeClr val="bg1"/>
            </a:solidFill>
          </a:ln>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dirty="0"/>
              <a:t>It helps the reader see clearly what question you asked, why it matters, and how you answered it.</a:t>
            </a:r>
            <a:endParaRPr lang="en-ZA" dirty="0"/>
          </a:p>
        </p:txBody>
      </p:sp>
      <p:sp>
        <p:nvSpPr>
          <p:cNvPr id="27" name="Content Placeholder 2">
            <a:extLst>
              <a:ext uri="{FF2B5EF4-FFF2-40B4-BE49-F238E27FC236}">
                <a16:creationId xmlns:a16="http://schemas.microsoft.com/office/drawing/2014/main" id="{030CC0FF-B833-637E-353F-62250C06A47A}"/>
              </a:ext>
            </a:extLst>
          </p:cNvPr>
          <p:cNvSpPr txBox="1">
            <a:spLocks/>
          </p:cNvSpPr>
          <p:nvPr/>
        </p:nvSpPr>
        <p:spPr>
          <a:xfrm>
            <a:off x="8051292" y="2566068"/>
            <a:ext cx="4031945" cy="2298540"/>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dirty="0"/>
              <a:t>It supports validity and reliability by ensuring that each step is logically justified and linked to the overall aim. (Francke, 2024)</a:t>
            </a:r>
            <a:endParaRPr lang="en-ZA" dirty="0"/>
          </a:p>
        </p:txBody>
      </p:sp>
      <p:sp>
        <p:nvSpPr>
          <p:cNvPr id="5" name="TextBox 4">
            <a:extLst>
              <a:ext uri="{FF2B5EF4-FFF2-40B4-BE49-F238E27FC236}">
                <a16:creationId xmlns:a16="http://schemas.microsoft.com/office/drawing/2014/main" id="{82BD2285-0274-CDFA-F9A6-51959167655E}"/>
              </a:ext>
            </a:extLst>
          </p:cNvPr>
          <p:cNvSpPr txBox="1"/>
          <p:nvPr/>
        </p:nvSpPr>
        <p:spPr>
          <a:xfrm>
            <a:off x="3009667" y="5205807"/>
            <a:ext cx="6652948" cy="702308"/>
          </a:xfrm>
          <a:prstGeom prst="rect">
            <a:avLst/>
          </a:prstGeom>
          <a:noFill/>
        </p:spPr>
        <p:txBody>
          <a:bodyPr wrap="square">
            <a:spAutoFit/>
          </a:bodyPr>
          <a:lstStyle/>
          <a:p>
            <a:pPr algn="ctr">
              <a:lnSpc>
                <a:spcPct val="115000"/>
              </a:lnSpc>
              <a:spcAft>
                <a:spcPts val="1000"/>
              </a:spcAft>
              <a:buNone/>
            </a:pPr>
            <a:r>
              <a:rPr lang="en-US" sz="1800" dirty="0">
                <a:solidFill>
                  <a:schemeClr val="bg1"/>
                </a:solidFill>
                <a:effectLst/>
                <a:latin typeface="Arial" panose="020B0604020202020204" pitchFamily="34" charset="0"/>
                <a:ea typeface="MS Mincho" panose="02020609040205080304" pitchFamily="49" charset="-128"/>
                <a:cs typeface="Times New Roman" panose="02020603050405020304" pitchFamily="18" charset="0"/>
              </a:rPr>
              <a:t>This is the central argument that pulls through the whole study, creating coherence across chapters. (Clarence, 2015)</a:t>
            </a:r>
            <a:endParaRPr lang="en-ZA" sz="1800" dirty="0">
              <a:solidFill>
                <a:schemeClr val="bg1"/>
              </a:solidFill>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331743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77B0370A-358D-BC74-FBB9-B84F5F9C61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7530E-E026-8CA2-02F7-B5B0BBF55D7C}"/>
              </a:ext>
            </a:extLst>
          </p:cNvPr>
          <p:cNvSpPr>
            <a:spLocks noGrp="1"/>
          </p:cNvSpPr>
          <p:nvPr>
            <p:ph type="title"/>
          </p:nvPr>
        </p:nvSpPr>
        <p:spPr>
          <a:xfrm>
            <a:off x="0" y="356969"/>
            <a:ext cx="12192000" cy="1325563"/>
          </a:xfrm>
        </p:spPr>
        <p:txBody>
          <a:bodyPr rtlCol="0">
            <a:normAutofit/>
          </a:bodyPr>
          <a:lstStyle/>
          <a:p>
            <a:r>
              <a:rPr lang="en-US" b="1" dirty="0">
                <a:solidFill>
                  <a:schemeClr val="tx1"/>
                </a:solidFill>
              </a:rPr>
              <a:t>B. The essence of the Golden Thread</a:t>
            </a:r>
            <a:br>
              <a:rPr lang="en-US" b="1" dirty="0">
                <a:solidFill>
                  <a:schemeClr val="tx1"/>
                </a:solidFill>
              </a:rPr>
            </a:br>
            <a:br>
              <a:rPr lang="en-US" b="1" dirty="0">
                <a:solidFill>
                  <a:schemeClr val="tx1"/>
                </a:solidFill>
              </a:rPr>
            </a:br>
            <a:r>
              <a:rPr lang="en-US" sz="1900" b="1" dirty="0">
                <a:solidFill>
                  <a:schemeClr val="tx1"/>
                </a:solidFill>
              </a:rPr>
              <a:t>Think of the Golden Thread as a guiding line running through your entire project:</a:t>
            </a:r>
            <a:endParaRPr lang="en-ZA" sz="1900" dirty="0">
              <a:solidFill>
                <a:schemeClr val="tx1"/>
              </a:solidFill>
            </a:endParaRPr>
          </a:p>
        </p:txBody>
      </p:sp>
      <p:sp>
        <p:nvSpPr>
          <p:cNvPr id="3" name="Content Placeholder 2">
            <a:extLst>
              <a:ext uri="{FF2B5EF4-FFF2-40B4-BE49-F238E27FC236}">
                <a16:creationId xmlns:a16="http://schemas.microsoft.com/office/drawing/2014/main" id="{34A46789-09A2-6D12-1D97-EFF989D9685D}"/>
              </a:ext>
            </a:extLst>
          </p:cNvPr>
          <p:cNvSpPr>
            <a:spLocks noGrp="1"/>
          </p:cNvSpPr>
          <p:nvPr>
            <p:ph type="body" sz="quarter" idx="13"/>
          </p:nvPr>
        </p:nvSpPr>
        <p:spPr>
          <a:xfrm>
            <a:off x="50293" y="2563123"/>
            <a:ext cx="2743200" cy="990557"/>
          </a:xfrm>
        </p:spPr>
        <p:txBody>
          <a:bodyPr vert="horz" lIns="91440" tIns="45720" rIns="91440" bIns="45720" rtlCol="0" anchor="t">
            <a:normAutofit/>
          </a:bodyPr>
          <a:lstStyle/>
          <a:p>
            <a:pPr marL="342900" indent="-342900" algn="l">
              <a:buAutoNum type="arabicPeriod"/>
            </a:pPr>
            <a:r>
              <a:rPr lang="en-US" sz="1800" b="1" dirty="0">
                <a:solidFill>
                  <a:schemeClr val="tx1"/>
                </a:solidFill>
              </a:rPr>
              <a:t>Research title</a:t>
            </a:r>
            <a:r>
              <a:rPr lang="en-US" sz="1800" dirty="0">
                <a:solidFill>
                  <a:schemeClr val="tx1"/>
                </a:solidFill>
              </a:rPr>
              <a:t> </a:t>
            </a:r>
          </a:p>
          <a:p>
            <a:pPr algn="l"/>
            <a:r>
              <a:rPr lang="en-US" sz="1800" dirty="0">
                <a:solidFill>
                  <a:schemeClr val="tx1"/>
                </a:solidFill>
              </a:rPr>
              <a:t>(the central focus in a few words).</a:t>
            </a:r>
            <a:endParaRPr lang="en-GB" sz="1800" dirty="0">
              <a:solidFill>
                <a:schemeClr val="tx1"/>
              </a:solidFill>
            </a:endParaRPr>
          </a:p>
        </p:txBody>
      </p:sp>
      <p:sp>
        <p:nvSpPr>
          <p:cNvPr id="80" name="Date Placeholder 79">
            <a:extLst>
              <a:ext uri="{FF2B5EF4-FFF2-40B4-BE49-F238E27FC236}">
                <a16:creationId xmlns:a16="http://schemas.microsoft.com/office/drawing/2014/main" id="{DF019210-502F-A854-3F75-82B286BBEBE6}"/>
              </a:ext>
            </a:extLst>
          </p:cNvPr>
          <p:cNvSpPr>
            <a:spLocks noGrp="1"/>
          </p:cNvSpPr>
          <p:nvPr>
            <p:ph type="dt" sz="half" idx="20"/>
          </p:nvPr>
        </p:nvSpPr>
        <p:spPr>
          <a:xfrm>
            <a:off x="838200" y="6356350"/>
            <a:ext cx="2743200" cy="365125"/>
          </a:xfrm>
        </p:spPr>
        <p:txBody>
          <a:bodyPr rtlCol="0"/>
          <a:lstStyle/>
          <a:p>
            <a:pPr rtl="0"/>
            <a:r>
              <a:rPr lang="en-GB" dirty="0">
                <a:solidFill>
                  <a:schemeClr val="tx1"/>
                </a:solidFill>
              </a:rPr>
              <a:t>February 2026</a:t>
            </a:r>
          </a:p>
        </p:txBody>
      </p:sp>
      <p:sp>
        <p:nvSpPr>
          <p:cNvPr id="81" name="Footer Placeholder 80">
            <a:extLst>
              <a:ext uri="{FF2B5EF4-FFF2-40B4-BE49-F238E27FC236}">
                <a16:creationId xmlns:a16="http://schemas.microsoft.com/office/drawing/2014/main" id="{F173F6B3-8ADE-80C6-D33D-D9F91351DF65}"/>
              </a:ext>
            </a:extLst>
          </p:cNvPr>
          <p:cNvSpPr>
            <a:spLocks noGrp="1"/>
          </p:cNvSpPr>
          <p:nvPr>
            <p:ph type="ftr" sz="quarter" idx="21"/>
          </p:nvPr>
        </p:nvSpPr>
        <p:spPr>
          <a:xfrm>
            <a:off x="4038600" y="6356350"/>
            <a:ext cx="4114800" cy="365125"/>
          </a:xfrm>
        </p:spPr>
        <p:txBody>
          <a:bodyPr rtlCol="0"/>
          <a:lstStyle/>
          <a:p>
            <a:pPr rtl="0"/>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560B5D58-F9F4-7B3E-4BB9-5FF94D96BB83}"/>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solidFill>
                  <a:schemeClr val="tx1"/>
                </a:solidFill>
              </a:rPr>
              <a:pPr rtl="0"/>
              <a:t>5</a:t>
            </a:fld>
            <a:endParaRPr lang="en-GB">
              <a:solidFill>
                <a:schemeClr val="tx1"/>
              </a:solidFill>
            </a:endParaRPr>
          </a:p>
        </p:txBody>
      </p:sp>
      <p:sp>
        <p:nvSpPr>
          <p:cNvPr id="24" name="Content Placeholder 2">
            <a:extLst>
              <a:ext uri="{FF2B5EF4-FFF2-40B4-BE49-F238E27FC236}">
                <a16:creationId xmlns:a16="http://schemas.microsoft.com/office/drawing/2014/main" id="{4FEC456E-487A-1170-EFBF-40857A84BB91}"/>
              </a:ext>
            </a:extLst>
          </p:cNvPr>
          <p:cNvSpPr txBox="1">
            <a:spLocks/>
          </p:cNvSpPr>
          <p:nvPr/>
        </p:nvSpPr>
        <p:spPr>
          <a:xfrm>
            <a:off x="2793494" y="2563123"/>
            <a:ext cx="2857818" cy="1131053"/>
          </a:xfrm>
          <a:prstGeom prst="rect">
            <a:avLst/>
          </a:prstGeom>
          <a:ln>
            <a:solidFill>
              <a:schemeClr val="tx1"/>
            </a:solidFill>
          </a:ln>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r>
              <a:rPr lang="en-US" sz="1800" b="1" dirty="0">
                <a:solidFill>
                  <a:schemeClr val="tx1"/>
                </a:solidFill>
              </a:rPr>
              <a:t>2. Research problem</a:t>
            </a:r>
            <a:r>
              <a:rPr lang="en-US" sz="1800" dirty="0">
                <a:solidFill>
                  <a:schemeClr val="tx1"/>
                </a:solidFill>
              </a:rPr>
              <a:t> </a:t>
            </a:r>
          </a:p>
          <a:p>
            <a:pPr lvl="0" algn="l"/>
            <a:r>
              <a:rPr lang="en-US" sz="1800" dirty="0">
                <a:solidFill>
                  <a:schemeClr val="tx1"/>
                </a:solidFill>
              </a:rPr>
              <a:t>(the issue or gap that makes the study necessary)</a:t>
            </a:r>
            <a:endParaRPr lang="en-ZA" sz="1800" dirty="0">
              <a:solidFill>
                <a:schemeClr val="tx1"/>
              </a:solidFill>
            </a:endParaRPr>
          </a:p>
        </p:txBody>
      </p:sp>
      <p:sp>
        <p:nvSpPr>
          <p:cNvPr id="4" name="Content Placeholder 2">
            <a:extLst>
              <a:ext uri="{FF2B5EF4-FFF2-40B4-BE49-F238E27FC236}">
                <a16:creationId xmlns:a16="http://schemas.microsoft.com/office/drawing/2014/main" id="{9293A27F-1BCE-9FA1-482C-93C9555963C2}"/>
              </a:ext>
            </a:extLst>
          </p:cNvPr>
          <p:cNvSpPr txBox="1">
            <a:spLocks/>
          </p:cNvSpPr>
          <p:nvPr/>
        </p:nvSpPr>
        <p:spPr>
          <a:xfrm>
            <a:off x="5917692" y="2563123"/>
            <a:ext cx="2857818" cy="99055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r>
              <a:rPr lang="en-US" sz="1800" b="1" dirty="0">
                <a:solidFill>
                  <a:schemeClr val="tx1"/>
                </a:solidFill>
              </a:rPr>
              <a:t>3. Research questions</a:t>
            </a:r>
          </a:p>
          <a:p>
            <a:pPr lvl="0" algn="l"/>
            <a:r>
              <a:rPr lang="en-US" sz="1800" dirty="0">
                <a:solidFill>
                  <a:schemeClr val="tx1"/>
                </a:solidFill>
              </a:rPr>
              <a:t>(what you need to answer to address the problem)</a:t>
            </a:r>
            <a:endParaRPr lang="en-ZA" sz="1800" dirty="0">
              <a:solidFill>
                <a:schemeClr val="tx1"/>
              </a:solidFill>
            </a:endParaRPr>
          </a:p>
        </p:txBody>
      </p:sp>
      <p:sp>
        <p:nvSpPr>
          <p:cNvPr id="5" name="Content Placeholder 2">
            <a:extLst>
              <a:ext uri="{FF2B5EF4-FFF2-40B4-BE49-F238E27FC236}">
                <a16:creationId xmlns:a16="http://schemas.microsoft.com/office/drawing/2014/main" id="{373D738A-9E9C-5179-3776-2E4533C39422}"/>
              </a:ext>
            </a:extLst>
          </p:cNvPr>
          <p:cNvSpPr txBox="1">
            <a:spLocks/>
          </p:cNvSpPr>
          <p:nvPr/>
        </p:nvSpPr>
        <p:spPr>
          <a:xfrm>
            <a:off x="9041890" y="2563123"/>
            <a:ext cx="3150109" cy="1131053"/>
          </a:xfrm>
          <a:prstGeom prst="rect">
            <a:avLst/>
          </a:prstGeom>
          <a:ln>
            <a:solidFill>
              <a:schemeClr val="tx1"/>
            </a:solidFill>
          </a:ln>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r>
              <a:rPr lang="en-US" sz="1800" b="1" dirty="0">
                <a:solidFill>
                  <a:schemeClr val="tx1"/>
                </a:solidFill>
              </a:rPr>
              <a:t>4. Objectives</a:t>
            </a:r>
            <a:r>
              <a:rPr lang="en-US" sz="1800" dirty="0">
                <a:solidFill>
                  <a:schemeClr val="tx1"/>
                </a:solidFill>
              </a:rPr>
              <a:t> </a:t>
            </a:r>
          </a:p>
          <a:p>
            <a:pPr lvl="0" algn="l"/>
            <a:r>
              <a:rPr lang="en-US" sz="1800" dirty="0">
                <a:solidFill>
                  <a:schemeClr val="tx1"/>
                </a:solidFill>
              </a:rPr>
              <a:t>(what you will do to answer the questions)</a:t>
            </a:r>
            <a:endParaRPr lang="en-ZA" sz="1800" dirty="0">
              <a:solidFill>
                <a:schemeClr val="tx1"/>
              </a:solidFill>
            </a:endParaRPr>
          </a:p>
        </p:txBody>
      </p:sp>
      <p:sp>
        <p:nvSpPr>
          <p:cNvPr id="6" name="Content Placeholder 2">
            <a:extLst>
              <a:ext uri="{FF2B5EF4-FFF2-40B4-BE49-F238E27FC236}">
                <a16:creationId xmlns:a16="http://schemas.microsoft.com/office/drawing/2014/main" id="{6E7CC7DD-32B7-289D-B003-9CB10BFA34DF}"/>
              </a:ext>
            </a:extLst>
          </p:cNvPr>
          <p:cNvSpPr txBox="1">
            <a:spLocks/>
          </p:cNvSpPr>
          <p:nvPr/>
        </p:nvSpPr>
        <p:spPr>
          <a:xfrm>
            <a:off x="50294" y="4521778"/>
            <a:ext cx="2743200" cy="99055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r>
              <a:rPr lang="en-US" sz="1800" b="1" dirty="0">
                <a:solidFill>
                  <a:schemeClr val="tx1"/>
                </a:solidFill>
              </a:rPr>
              <a:t>5. Literature and theory</a:t>
            </a:r>
            <a:r>
              <a:rPr lang="en-US" sz="1800" dirty="0">
                <a:solidFill>
                  <a:schemeClr val="tx1"/>
                </a:solidFill>
              </a:rPr>
              <a:t> </a:t>
            </a:r>
          </a:p>
          <a:p>
            <a:pPr lvl="0" algn="l"/>
            <a:r>
              <a:rPr lang="en-US" sz="1800" dirty="0">
                <a:solidFill>
                  <a:schemeClr val="tx1"/>
                </a:solidFill>
              </a:rPr>
              <a:t>(the concepts and scholarly conversation that frame your argument)</a:t>
            </a:r>
            <a:endParaRPr lang="en-ZA" sz="1800" dirty="0">
              <a:solidFill>
                <a:schemeClr val="tx1"/>
              </a:solidFill>
            </a:endParaRPr>
          </a:p>
        </p:txBody>
      </p:sp>
      <p:sp>
        <p:nvSpPr>
          <p:cNvPr id="10" name="Content Placeholder 2">
            <a:extLst>
              <a:ext uri="{FF2B5EF4-FFF2-40B4-BE49-F238E27FC236}">
                <a16:creationId xmlns:a16="http://schemas.microsoft.com/office/drawing/2014/main" id="{B469FA40-C12B-D614-A86B-12AD72A19A80}"/>
              </a:ext>
            </a:extLst>
          </p:cNvPr>
          <p:cNvSpPr txBox="1">
            <a:spLocks/>
          </p:cNvSpPr>
          <p:nvPr/>
        </p:nvSpPr>
        <p:spPr>
          <a:xfrm>
            <a:off x="2793495" y="4521778"/>
            <a:ext cx="2857818" cy="1131053"/>
          </a:xfrm>
          <a:prstGeom prst="rect">
            <a:avLst/>
          </a:prstGeom>
          <a:ln>
            <a:solidFill>
              <a:schemeClr val="tx1"/>
            </a:solidFill>
          </a:ln>
        </p:spPr>
        <p:txBody>
          <a:bodyPr vert="horz" lIns="91440" tIns="45720" rIns="91440" bIns="45720" rtlCol="0" anchor="t">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r>
              <a:rPr lang="en-US" sz="1800" b="1" dirty="0">
                <a:solidFill>
                  <a:schemeClr val="tx1"/>
                </a:solidFill>
              </a:rPr>
              <a:t>6. Methodology</a:t>
            </a:r>
            <a:r>
              <a:rPr lang="en-US" sz="1800" dirty="0">
                <a:solidFill>
                  <a:schemeClr val="tx1"/>
                </a:solidFill>
              </a:rPr>
              <a:t> </a:t>
            </a:r>
          </a:p>
          <a:p>
            <a:pPr lvl="0" algn="l"/>
            <a:r>
              <a:rPr lang="en-US" sz="1800" dirty="0">
                <a:solidFill>
                  <a:schemeClr val="tx1"/>
                </a:solidFill>
              </a:rPr>
              <a:t>(how you will produce evidence that answers the questions)</a:t>
            </a:r>
            <a:endParaRPr lang="en-ZA" sz="1800" dirty="0">
              <a:solidFill>
                <a:schemeClr val="tx1"/>
              </a:solidFill>
            </a:endParaRPr>
          </a:p>
        </p:txBody>
      </p:sp>
      <p:sp>
        <p:nvSpPr>
          <p:cNvPr id="11" name="Content Placeholder 2">
            <a:extLst>
              <a:ext uri="{FF2B5EF4-FFF2-40B4-BE49-F238E27FC236}">
                <a16:creationId xmlns:a16="http://schemas.microsoft.com/office/drawing/2014/main" id="{BC8D3D4E-CCEB-342E-BFA8-793A261D59A5}"/>
              </a:ext>
            </a:extLst>
          </p:cNvPr>
          <p:cNvSpPr txBox="1">
            <a:spLocks/>
          </p:cNvSpPr>
          <p:nvPr/>
        </p:nvSpPr>
        <p:spPr>
          <a:xfrm>
            <a:off x="5917693" y="4521778"/>
            <a:ext cx="2857818" cy="99055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r>
              <a:rPr lang="en-US" sz="1800" b="1" dirty="0">
                <a:solidFill>
                  <a:schemeClr val="tx1"/>
                </a:solidFill>
              </a:rPr>
              <a:t>7. Data analysis and findings</a:t>
            </a:r>
            <a:r>
              <a:rPr lang="en-US" sz="1800" dirty="0">
                <a:solidFill>
                  <a:schemeClr val="tx1"/>
                </a:solidFill>
              </a:rPr>
              <a:t> </a:t>
            </a:r>
          </a:p>
          <a:p>
            <a:pPr lvl="0" algn="l"/>
            <a:r>
              <a:rPr lang="en-US" sz="1800" dirty="0">
                <a:solidFill>
                  <a:schemeClr val="tx1"/>
                </a:solidFill>
              </a:rPr>
              <a:t>(how evidence is interpreted in relation to the questions)</a:t>
            </a:r>
            <a:endParaRPr lang="en-ZA" sz="1800" dirty="0">
              <a:solidFill>
                <a:schemeClr val="tx1"/>
              </a:solidFill>
            </a:endParaRPr>
          </a:p>
        </p:txBody>
      </p:sp>
      <p:sp>
        <p:nvSpPr>
          <p:cNvPr id="12" name="Content Placeholder 2">
            <a:extLst>
              <a:ext uri="{FF2B5EF4-FFF2-40B4-BE49-F238E27FC236}">
                <a16:creationId xmlns:a16="http://schemas.microsoft.com/office/drawing/2014/main" id="{E0A819DB-5EC8-83E3-6D04-6E5E9CF03993}"/>
              </a:ext>
            </a:extLst>
          </p:cNvPr>
          <p:cNvSpPr txBox="1">
            <a:spLocks/>
          </p:cNvSpPr>
          <p:nvPr/>
        </p:nvSpPr>
        <p:spPr>
          <a:xfrm>
            <a:off x="9041891" y="4521778"/>
            <a:ext cx="3150109" cy="1131053"/>
          </a:xfrm>
          <a:prstGeom prst="rect">
            <a:avLst/>
          </a:prstGeom>
          <a:ln>
            <a:solidFill>
              <a:schemeClr val="tx1"/>
            </a:solidFill>
          </a:ln>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bg1"/>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r>
              <a:rPr lang="en-US" sz="1800" b="1" dirty="0">
                <a:solidFill>
                  <a:schemeClr val="tx1"/>
                </a:solidFill>
              </a:rPr>
              <a:t>8. Conclusions and implications</a:t>
            </a:r>
            <a:r>
              <a:rPr lang="en-US" sz="1800" dirty="0">
                <a:solidFill>
                  <a:schemeClr val="tx1"/>
                </a:solidFill>
              </a:rPr>
              <a:t> </a:t>
            </a:r>
          </a:p>
          <a:p>
            <a:pPr lvl="0" algn="l"/>
            <a:r>
              <a:rPr lang="en-US" sz="1800" dirty="0">
                <a:solidFill>
                  <a:schemeClr val="tx1"/>
                </a:solidFill>
              </a:rPr>
              <a:t>(how the study resolves the problem and explains significance)</a:t>
            </a:r>
            <a:endParaRPr lang="en-ZA" sz="1800" dirty="0">
              <a:solidFill>
                <a:schemeClr val="tx1"/>
              </a:solidFill>
            </a:endParaRPr>
          </a:p>
        </p:txBody>
      </p:sp>
    </p:spTree>
    <p:extLst>
      <p:ext uri="{BB962C8B-B14F-4D97-AF65-F5344CB8AC3E}">
        <p14:creationId xmlns:p14="http://schemas.microsoft.com/office/powerpoint/2010/main" val="885608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530352" y="359066"/>
            <a:ext cx="10823448" cy="1278665"/>
          </a:xfrm>
        </p:spPr>
        <p:txBody>
          <a:bodyPr rtlCol="0">
            <a:normAutofit/>
          </a:bodyPr>
          <a:lstStyle/>
          <a:p>
            <a:r>
              <a:rPr lang="en-US" b="1" dirty="0"/>
              <a:t>C. Importance of consistency across the research components</a:t>
            </a:r>
            <a:r>
              <a:rPr lang="en-ZA" dirty="0"/>
              <a:t> </a:t>
            </a:r>
            <a:endParaRPr lang="en-GB" sz="1400" dirty="0"/>
          </a:p>
        </p:txBody>
      </p:sp>
      <p:sp>
        <p:nvSpPr>
          <p:cNvPr id="80" name="Date Placeholder 79">
            <a:extLst>
              <a:ext uri="{FF2B5EF4-FFF2-40B4-BE49-F238E27FC236}">
                <a16:creationId xmlns:a16="http://schemas.microsoft.com/office/drawing/2014/main" id="{BC1F9D86-85D8-4FD0-B0D3-47D778722782}"/>
              </a:ext>
            </a:extLst>
          </p:cNvPr>
          <p:cNvSpPr>
            <a:spLocks noGrp="1"/>
          </p:cNvSpPr>
          <p:nvPr>
            <p:ph type="dt" sz="half" idx="20"/>
          </p:nvPr>
        </p:nvSpPr>
        <p:spPr>
          <a:xfrm>
            <a:off x="838200" y="6356350"/>
            <a:ext cx="2743200" cy="365125"/>
          </a:xfrm>
        </p:spPr>
        <p:txBody>
          <a:bodyPr rtlCol="0"/>
          <a:lstStyle/>
          <a:p>
            <a:pPr rtl="0"/>
            <a:r>
              <a:rPr lang="en-GB" dirty="0"/>
              <a:t>February 2026</a:t>
            </a:r>
          </a:p>
        </p:txBody>
      </p:sp>
      <p:sp>
        <p:nvSpPr>
          <p:cNvPr id="81" name="Footer Placeholder 80">
            <a:extLst>
              <a:ext uri="{FF2B5EF4-FFF2-40B4-BE49-F238E27FC236}">
                <a16:creationId xmlns:a16="http://schemas.microsoft.com/office/drawing/2014/main" id="{E94F1D24-E4A1-4B59-B57E-A28453963B88}"/>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pPr rtl="0"/>
              <a:t>6</a:t>
            </a:fld>
            <a:endParaRPr lang="en-GB" dirty="0"/>
          </a:p>
        </p:txBody>
      </p:sp>
      <p:graphicFrame>
        <p:nvGraphicFramePr>
          <p:cNvPr id="3" name="Diagram 2">
            <a:extLst>
              <a:ext uri="{FF2B5EF4-FFF2-40B4-BE49-F238E27FC236}">
                <a16:creationId xmlns:a16="http://schemas.microsoft.com/office/drawing/2014/main" id="{7CD9229E-EA68-21FB-E4B4-396D3643B8E5}"/>
              </a:ext>
            </a:extLst>
          </p:cNvPr>
          <p:cNvGraphicFramePr/>
          <p:nvPr>
            <p:extLst>
              <p:ext uri="{D42A27DB-BD31-4B8C-83A1-F6EECF244321}">
                <p14:modId xmlns:p14="http://schemas.microsoft.com/office/powerpoint/2010/main" val="39537501"/>
              </p:ext>
            </p:extLst>
          </p:nvPr>
        </p:nvGraphicFramePr>
        <p:xfrm>
          <a:off x="1" y="1838782"/>
          <a:ext cx="12192000" cy="48826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93920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53630-91DB-0820-5A67-B018C4078D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5E74FA-DF93-CD44-D86D-CED74EB4E998}"/>
              </a:ext>
            </a:extLst>
          </p:cNvPr>
          <p:cNvSpPr>
            <a:spLocks noGrp="1"/>
          </p:cNvSpPr>
          <p:nvPr>
            <p:ph type="title"/>
          </p:nvPr>
        </p:nvSpPr>
        <p:spPr>
          <a:xfrm>
            <a:off x="530352" y="359066"/>
            <a:ext cx="10823448" cy="1278665"/>
          </a:xfrm>
        </p:spPr>
        <p:txBody>
          <a:bodyPr rtlCol="0">
            <a:normAutofit/>
          </a:bodyPr>
          <a:lstStyle/>
          <a:p>
            <a:r>
              <a:rPr lang="en-US" b="1" dirty="0"/>
              <a:t>D. Alignment in methodology</a:t>
            </a:r>
            <a:br>
              <a:rPr lang="en-ZA" dirty="0"/>
            </a:br>
            <a:endParaRPr lang="en-GB" sz="1400" dirty="0"/>
          </a:p>
        </p:txBody>
      </p:sp>
      <p:sp>
        <p:nvSpPr>
          <p:cNvPr id="80" name="Date Placeholder 79">
            <a:extLst>
              <a:ext uri="{FF2B5EF4-FFF2-40B4-BE49-F238E27FC236}">
                <a16:creationId xmlns:a16="http://schemas.microsoft.com/office/drawing/2014/main" id="{D1AD49D4-CBDC-8151-C703-987F3EA1C4D9}"/>
              </a:ext>
            </a:extLst>
          </p:cNvPr>
          <p:cNvSpPr>
            <a:spLocks noGrp="1"/>
          </p:cNvSpPr>
          <p:nvPr>
            <p:ph type="dt" sz="half" idx="20"/>
          </p:nvPr>
        </p:nvSpPr>
        <p:spPr>
          <a:xfrm>
            <a:off x="838200" y="6356350"/>
            <a:ext cx="2743200" cy="365125"/>
          </a:xfrm>
        </p:spPr>
        <p:txBody>
          <a:bodyPr rtlCol="0"/>
          <a:lstStyle/>
          <a:p>
            <a:pPr rtl="0"/>
            <a:r>
              <a:rPr lang="en-GB" dirty="0"/>
              <a:t>February 2026</a:t>
            </a:r>
          </a:p>
        </p:txBody>
      </p:sp>
      <p:sp>
        <p:nvSpPr>
          <p:cNvPr id="81" name="Footer Placeholder 80">
            <a:extLst>
              <a:ext uri="{FF2B5EF4-FFF2-40B4-BE49-F238E27FC236}">
                <a16:creationId xmlns:a16="http://schemas.microsoft.com/office/drawing/2014/main" id="{44359E60-F9A1-9621-307B-FC4C632A7A7A}"/>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A50EECA2-FCC6-25DF-3640-90912946012B}"/>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pPr rtl="0"/>
              <a:t>7</a:t>
            </a:fld>
            <a:endParaRPr lang="en-GB" dirty="0"/>
          </a:p>
        </p:txBody>
      </p:sp>
      <p:graphicFrame>
        <p:nvGraphicFramePr>
          <p:cNvPr id="3" name="Diagram 2">
            <a:extLst>
              <a:ext uri="{FF2B5EF4-FFF2-40B4-BE49-F238E27FC236}">
                <a16:creationId xmlns:a16="http://schemas.microsoft.com/office/drawing/2014/main" id="{C243F905-90B5-59CF-E7FA-75E31636637F}"/>
              </a:ext>
            </a:extLst>
          </p:cNvPr>
          <p:cNvGraphicFramePr/>
          <p:nvPr>
            <p:extLst>
              <p:ext uri="{D42A27DB-BD31-4B8C-83A1-F6EECF244321}">
                <p14:modId xmlns:p14="http://schemas.microsoft.com/office/powerpoint/2010/main" val="789821202"/>
              </p:ext>
            </p:extLst>
          </p:nvPr>
        </p:nvGraphicFramePr>
        <p:xfrm>
          <a:off x="-136478" y="1337480"/>
          <a:ext cx="12683320" cy="53021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40821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7AAAE-8AB8-853B-6F5C-4975E418CA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B17C8A-A2DD-8F28-9E63-0F6909557B39}"/>
              </a:ext>
            </a:extLst>
          </p:cNvPr>
          <p:cNvSpPr>
            <a:spLocks noGrp="1"/>
          </p:cNvSpPr>
          <p:nvPr>
            <p:ph type="title"/>
          </p:nvPr>
        </p:nvSpPr>
        <p:spPr>
          <a:xfrm>
            <a:off x="530352" y="359066"/>
            <a:ext cx="10823448" cy="1278665"/>
          </a:xfrm>
        </p:spPr>
        <p:txBody>
          <a:bodyPr rtlCol="0">
            <a:normAutofit/>
          </a:bodyPr>
          <a:lstStyle/>
          <a:p>
            <a:r>
              <a:rPr lang="en-US" b="1" dirty="0"/>
              <a:t>E. Drawing conclusions that tie back</a:t>
            </a:r>
            <a:endParaRPr lang="en-ZA" dirty="0"/>
          </a:p>
        </p:txBody>
      </p:sp>
      <p:sp>
        <p:nvSpPr>
          <p:cNvPr id="80" name="Date Placeholder 79">
            <a:extLst>
              <a:ext uri="{FF2B5EF4-FFF2-40B4-BE49-F238E27FC236}">
                <a16:creationId xmlns:a16="http://schemas.microsoft.com/office/drawing/2014/main" id="{D1C40357-CB40-A191-2B6B-77A414CDB533}"/>
              </a:ext>
            </a:extLst>
          </p:cNvPr>
          <p:cNvSpPr>
            <a:spLocks noGrp="1"/>
          </p:cNvSpPr>
          <p:nvPr>
            <p:ph type="dt" sz="half" idx="20"/>
          </p:nvPr>
        </p:nvSpPr>
        <p:spPr>
          <a:xfrm>
            <a:off x="838200" y="6356350"/>
            <a:ext cx="2743200" cy="365125"/>
          </a:xfrm>
        </p:spPr>
        <p:txBody>
          <a:bodyPr rtlCol="0"/>
          <a:lstStyle/>
          <a:p>
            <a:pPr rtl="0"/>
            <a:r>
              <a:rPr lang="en-GB" dirty="0"/>
              <a:t>February 2026</a:t>
            </a:r>
          </a:p>
        </p:txBody>
      </p:sp>
      <p:sp>
        <p:nvSpPr>
          <p:cNvPr id="81" name="Footer Placeholder 80">
            <a:extLst>
              <a:ext uri="{FF2B5EF4-FFF2-40B4-BE49-F238E27FC236}">
                <a16:creationId xmlns:a16="http://schemas.microsoft.com/office/drawing/2014/main" id="{56A0A72B-6CEA-8DC7-1851-9C9E06A4C30D}"/>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3A08FF56-FDFE-E1A2-9324-1D3896B78BE4}"/>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pPr rtl="0"/>
              <a:t>8</a:t>
            </a:fld>
            <a:endParaRPr lang="en-GB" dirty="0"/>
          </a:p>
        </p:txBody>
      </p:sp>
      <p:graphicFrame>
        <p:nvGraphicFramePr>
          <p:cNvPr id="3" name="Diagram 2">
            <a:extLst>
              <a:ext uri="{FF2B5EF4-FFF2-40B4-BE49-F238E27FC236}">
                <a16:creationId xmlns:a16="http://schemas.microsoft.com/office/drawing/2014/main" id="{A16864A6-D1EA-C7F4-C4E7-AE9F3BCF8FE2}"/>
              </a:ext>
            </a:extLst>
          </p:cNvPr>
          <p:cNvGraphicFramePr/>
          <p:nvPr>
            <p:extLst>
              <p:ext uri="{D42A27DB-BD31-4B8C-83A1-F6EECF244321}">
                <p14:modId xmlns:p14="http://schemas.microsoft.com/office/powerpoint/2010/main" val="215061489"/>
              </p:ext>
            </p:extLst>
          </p:nvPr>
        </p:nvGraphicFramePr>
        <p:xfrm>
          <a:off x="-136478" y="1337480"/>
          <a:ext cx="12683320" cy="53021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94195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92A20-5895-E226-E38E-D4620FE601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8F38BC-0320-F8A6-B55F-24BDAA0D7B0F}"/>
              </a:ext>
            </a:extLst>
          </p:cNvPr>
          <p:cNvSpPr>
            <a:spLocks noGrp="1"/>
          </p:cNvSpPr>
          <p:nvPr>
            <p:ph type="title"/>
          </p:nvPr>
        </p:nvSpPr>
        <p:spPr>
          <a:xfrm>
            <a:off x="530352" y="359066"/>
            <a:ext cx="10823448" cy="1278665"/>
          </a:xfrm>
        </p:spPr>
        <p:txBody>
          <a:bodyPr rtlCol="0">
            <a:normAutofit/>
          </a:bodyPr>
          <a:lstStyle/>
          <a:p>
            <a:r>
              <a:rPr lang="en-US" b="1" dirty="0"/>
              <a:t>F. Transparency and clarity</a:t>
            </a:r>
            <a:endParaRPr lang="en-ZA" dirty="0"/>
          </a:p>
        </p:txBody>
      </p:sp>
      <p:sp>
        <p:nvSpPr>
          <p:cNvPr id="80" name="Date Placeholder 79">
            <a:extLst>
              <a:ext uri="{FF2B5EF4-FFF2-40B4-BE49-F238E27FC236}">
                <a16:creationId xmlns:a16="http://schemas.microsoft.com/office/drawing/2014/main" id="{B6D5CCC3-B347-EE1D-7942-A19CC9C3FFFB}"/>
              </a:ext>
            </a:extLst>
          </p:cNvPr>
          <p:cNvSpPr>
            <a:spLocks noGrp="1"/>
          </p:cNvSpPr>
          <p:nvPr>
            <p:ph type="dt" sz="half" idx="20"/>
          </p:nvPr>
        </p:nvSpPr>
        <p:spPr>
          <a:xfrm>
            <a:off x="838200" y="6356350"/>
            <a:ext cx="2743200" cy="365125"/>
          </a:xfrm>
        </p:spPr>
        <p:txBody>
          <a:bodyPr rtlCol="0"/>
          <a:lstStyle/>
          <a:p>
            <a:pPr rtl="0"/>
            <a:r>
              <a:rPr lang="en-GB" dirty="0"/>
              <a:t>February 2026</a:t>
            </a:r>
          </a:p>
        </p:txBody>
      </p:sp>
      <p:sp>
        <p:nvSpPr>
          <p:cNvPr id="81" name="Footer Placeholder 80">
            <a:extLst>
              <a:ext uri="{FF2B5EF4-FFF2-40B4-BE49-F238E27FC236}">
                <a16:creationId xmlns:a16="http://schemas.microsoft.com/office/drawing/2014/main" id="{DD504A0B-AABF-87DF-81E2-C4D8E3CA21E2}"/>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92525648-4FC2-720B-B4E2-3F784893892A}"/>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pPr rtl="0"/>
              <a:t>9</a:t>
            </a:fld>
            <a:endParaRPr lang="en-GB" dirty="0"/>
          </a:p>
        </p:txBody>
      </p:sp>
      <p:graphicFrame>
        <p:nvGraphicFramePr>
          <p:cNvPr id="3" name="Diagram 2">
            <a:extLst>
              <a:ext uri="{FF2B5EF4-FFF2-40B4-BE49-F238E27FC236}">
                <a16:creationId xmlns:a16="http://schemas.microsoft.com/office/drawing/2014/main" id="{1438CCCD-9CE2-C44D-7717-BA0533D97AB4}"/>
              </a:ext>
            </a:extLst>
          </p:cNvPr>
          <p:cNvGraphicFramePr/>
          <p:nvPr>
            <p:extLst>
              <p:ext uri="{D42A27DB-BD31-4B8C-83A1-F6EECF244321}">
                <p14:modId xmlns:p14="http://schemas.microsoft.com/office/powerpoint/2010/main" val="4183868648"/>
              </p:ext>
            </p:extLst>
          </p:nvPr>
        </p:nvGraphicFramePr>
        <p:xfrm>
          <a:off x="-136478" y="1337480"/>
          <a:ext cx="12683320" cy="53021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18745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DBD86-61CD-D3CF-DD89-3ADE8C12B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51D407-DAFB-C1FA-7757-ACEFB10EF09B}"/>
              </a:ext>
            </a:extLst>
          </p:cNvPr>
          <p:cNvSpPr>
            <a:spLocks noGrp="1"/>
          </p:cNvSpPr>
          <p:nvPr>
            <p:ph type="title"/>
          </p:nvPr>
        </p:nvSpPr>
        <p:spPr>
          <a:xfrm>
            <a:off x="530352" y="545910"/>
            <a:ext cx="10823448" cy="2197290"/>
          </a:xfrm>
        </p:spPr>
        <p:txBody>
          <a:bodyPr rtlCol="0">
            <a:normAutofit/>
          </a:bodyPr>
          <a:lstStyle/>
          <a:p>
            <a:r>
              <a:rPr lang="en-US" b="1" dirty="0"/>
              <a:t>G. Analogy: a lawyer in court</a:t>
            </a:r>
            <a:br>
              <a:rPr lang="en-US" b="1" dirty="0"/>
            </a:br>
            <a:br>
              <a:rPr lang="en-US" b="1" dirty="0"/>
            </a:br>
            <a:r>
              <a:rPr lang="en-US" dirty="0"/>
              <a:t>The Golden Thread is like a well-constructed legal argument:</a:t>
            </a:r>
            <a:br>
              <a:rPr lang="en-ZA" dirty="0"/>
            </a:br>
            <a:endParaRPr lang="en-ZA" dirty="0"/>
          </a:p>
        </p:txBody>
      </p:sp>
      <p:sp>
        <p:nvSpPr>
          <p:cNvPr id="80" name="Date Placeholder 79">
            <a:extLst>
              <a:ext uri="{FF2B5EF4-FFF2-40B4-BE49-F238E27FC236}">
                <a16:creationId xmlns:a16="http://schemas.microsoft.com/office/drawing/2014/main" id="{EB68A4A4-F877-833A-0C37-6AEB3FDF4437}"/>
              </a:ext>
            </a:extLst>
          </p:cNvPr>
          <p:cNvSpPr>
            <a:spLocks noGrp="1"/>
          </p:cNvSpPr>
          <p:nvPr>
            <p:ph type="dt" sz="half" idx="20"/>
          </p:nvPr>
        </p:nvSpPr>
        <p:spPr>
          <a:xfrm>
            <a:off x="838200" y="6356350"/>
            <a:ext cx="2743200" cy="365125"/>
          </a:xfrm>
        </p:spPr>
        <p:txBody>
          <a:bodyPr rtlCol="0"/>
          <a:lstStyle/>
          <a:p>
            <a:pPr rtl="0"/>
            <a:r>
              <a:rPr lang="en-GB" dirty="0"/>
              <a:t>February 2026</a:t>
            </a:r>
          </a:p>
        </p:txBody>
      </p:sp>
      <p:sp>
        <p:nvSpPr>
          <p:cNvPr id="81" name="Footer Placeholder 80">
            <a:extLst>
              <a:ext uri="{FF2B5EF4-FFF2-40B4-BE49-F238E27FC236}">
                <a16:creationId xmlns:a16="http://schemas.microsoft.com/office/drawing/2014/main" id="{383001A9-DF5C-623C-C080-BC053E75DE9A}"/>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3809BEEE-8FE3-E5C1-6629-7EDE772A8E73}"/>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pPr rtl="0"/>
              <a:t>10</a:t>
            </a:fld>
            <a:endParaRPr lang="en-GB" dirty="0"/>
          </a:p>
        </p:txBody>
      </p:sp>
      <p:graphicFrame>
        <p:nvGraphicFramePr>
          <p:cNvPr id="3" name="Diagram 2">
            <a:extLst>
              <a:ext uri="{FF2B5EF4-FFF2-40B4-BE49-F238E27FC236}">
                <a16:creationId xmlns:a16="http://schemas.microsoft.com/office/drawing/2014/main" id="{F470327A-AA03-49A7-5B72-7A2EF5B30962}"/>
              </a:ext>
            </a:extLst>
          </p:cNvPr>
          <p:cNvGraphicFramePr/>
          <p:nvPr>
            <p:extLst>
              <p:ext uri="{D42A27DB-BD31-4B8C-83A1-F6EECF244321}">
                <p14:modId xmlns:p14="http://schemas.microsoft.com/office/powerpoint/2010/main" val="2169678607"/>
              </p:ext>
            </p:extLst>
          </p:nvPr>
        </p:nvGraphicFramePr>
        <p:xfrm>
          <a:off x="0" y="1337480"/>
          <a:ext cx="12192000" cy="53021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85850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113729" y="3238007"/>
            <a:ext cx="3617023" cy="846301"/>
          </a:xfrm>
        </p:spPr>
        <p:txBody>
          <a:bodyPr rtlCol="0">
            <a:normAutofit fontScale="90000"/>
          </a:bodyPr>
          <a:lstStyle/>
          <a:p>
            <a:r>
              <a:rPr lang="en-US" b="1" dirty="0"/>
              <a:t>H. Practical Golden Thread checklist</a:t>
            </a:r>
            <a:endParaRPr lang="en-ZA" dirty="0"/>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15"/>
          </p:nvPr>
        </p:nvSpPr>
        <p:spPr>
          <a:xfrm>
            <a:off x="5010912" y="567803"/>
            <a:ext cx="6986016" cy="5573689"/>
          </a:xfrm>
        </p:spPr>
        <p:txBody>
          <a:bodyPr rtlCol="0">
            <a:noAutofit/>
          </a:bodyPr>
          <a:lstStyle/>
          <a:p>
            <a:pPr marL="400050" lvl="0" indent="-400050">
              <a:buFont typeface="+mj-lt"/>
              <a:buAutoNum type="romanUcPeriod"/>
            </a:pPr>
            <a:r>
              <a:rPr lang="en-US" sz="1800" dirty="0"/>
              <a:t>Does the title match the problem statement in focus and scope?</a:t>
            </a:r>
            <a:endParaRPr lang="en-ZA" sz="1800" dirty="0"/>
          </a:p>
          <a:p>
            <a:pPr marL="400050" lvl="0" indent="-400050">
              <a:buFont typeface="+mj-lt"/>
              <a:buAutoNum type="romanUcPeriod"/>
            </a:pPr>
            <a:r>
              <a:rPr lang="en-US" sz="1800" dirty="0"/>
              <a:t>Does the problem clearly state the gap, broken practice, or missing knowledge?</a:t>
            </a:r>
            <a:endParaRPr lang="en-ZA" sz="1800" dirty="0"/>
          </a:p>
          <a:p>
            <a:pPr marL="400050" lvl="0" indent="-400050">
              <a:buFont typeface="+mj-lt"/>
              <a:buAutoNum type="romanUcPeriod"/>
            </a:pPr>
            <a:r>
              <a:rPr lang="en-US" sz="1800" dirty="0"/>
              <a:t>Do research questions flow from the problem and stay within the same approach (qualitative or quantitative)?</a:t>
            </a:r>
            <a:endParaRPr lang="en-ZA" sz="1800" dirty="0"/>
          </a:p>
          <a:p>
            <a:pPr marL="400050" lvl="0" indent="-400050">
              <a:buFont typeface="+mj-lt"/>
              <a:buAutoNum type="romanUcPeriod"/>
            </a:pPr>
            <a:r>
              <a:rPr lang="en-US" sz="1800" dirty="0"/>
              <a:t>Does each objective map to a research question (one-to-one where possible)?</a:t>
            </a:r>
            <a:endParaRPr lang="en-ZA" sz="1800" dirty="0"/>
          </a:p>
          <a:p>
            <a:pPr marL="400050" lvl="0" indent="-400050">
              <a:buFont typeface="+mj-lt"/>
              <a:buAutoNum type="romanUcPeriod"/>
            </a:pPr>
            <a:r>
              <a:rPr lang="en-US" sz="1800" dirty="0"/>
              <a:t>Is the literature review </a:t>
            </a:r>
            <a:r>
              <a:rPr lang="en-US" sz="1800" dirty="0" err="1"/>
              <a:t>organised</a:t>
            </a:r>
            <a:r>
              <a:rPr lang="en-US" sz="1800" dirty="0"/>
              <a:t> around concepts that help answer the question?</a:t>
            </a:r>
            <a:endParaRPr lang="en-ZA" sz="1800" dirty="0"/>
          </a:p>
          <a:p>
            <a:pPr marL="400050" lvl="0" indent="-400050">
              <a:buFont typeface="+mj-lt"/>
              <a:buAutoNum type="romanUcPeriod"/>
            </a:pPr>
            <a:r>
              <a:rPr lang="en-US" sz="1800" dirty="0"/>
              <a:t>Does the methodology produce evidence that can answer each question?</a:t>
            </a:r>
            <a:endParaRPr lang="en-ZA" sz="1800" dirty="0"/>
          </a:p>
          <a:p>
            <a:pPr marL="400050" lvl="0" indent="-400050">
              <a:buFont typeface="+mj-lt"/>
              <a:buAutoNum type="romanUcPeriod"/>
            </a:pPr>
            <a:r>
              <a:rPr lang="en-US" sz="1800" dirty="0"/>
              <a:t>Does the analysis explicitly return to the research questions and objectives?</a:t>
            </a:r>
            <a:endParaRPr lang="en-ZA" sz="1800" dirty="0"/>
          </a:p>
          <a:p>
            <a:pPr marL="400050" lvl="0" indent="-400050">
              <a:buFont typeface="+mj-lt"/>
              <a:buAutoNum type="romanUcPeriod"/>
            </a:pPr>
            <a:r>
              <a:rPr lang="en-US" sz="1800" dirty="0"/>
              <a:t>Do conclusions and recommendations follow from findings and address the original problem?</a:t>
            </a:r>
            <a:endParaRPr lang="en-ZA" sz="1800" dirty="0"/>
          </a:p>
        </p:txBody>
      </p:sp>
      <p:sp>
        <p:nvSpPr>
          <p:cNvPr id="32" name="Date Placeholder 31">
            <a:extLst>
              <a:ext uri="{FF2B5EF4-FFF2-40B4-BE49-F238E27FC236}">
                <a16:creationId xmlns:a16="http://schemas.microsoft.com/office/drawing/2014/main" id="{D5DB19F8-B538-4965-BA90-ED372B99F5DC}"/>
              </a:ext>
            </a:extLst>
          </p:cNvPr>
          <p:cNvSpPr>
            <a:spLocks noGrp="1"/>
          </p:cNvSpPr>
          <p:nvPr>
            <p:ph type="dt" sz="half" idx="20"/>
          </p:nvPr>
        </p:nvSpPr>
        <p:spPr>
          <a:xfrm>
            <a:off x="5919680" y="6356350"/>
            <a:ext cx="947516" cy="365125"/>
          </a:xfrm>
        </p:spPr>
        <p:txBody>
          <a:bodyPr rtlCol="0"/>
          <a:lstStyle/>
          <a:p>
            <a:pPr rtl="0"/>
            <a:r>
              <a:rPr lang="en-GB" dirty="0"/>
              <a:t>February 2026</a:t>
            </a:r>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11</a:t>
            </a:fld>
            <a:endParaRPr lang="en-GB" dirty="0"/>
          </a:p>
        </p:txBody>
      </p:sp>
    </p:spTree>
    <p:extLst>
      <p:ext uri="{BB962C8B-B14F-4D97-AF65-F5344CB8AC3E}">
        <p14:creationId xmlns:p14="http://schemas.microsoft.com/office/powerpoint/2010/main" val="2069393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98D03-8107-AC80-402E-52068E050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181109-6A60-D7F2-7F39-3D20A36613E4}"/>
              </a:ext>
            </a:extLst>
          </p:cNvPr>
          <p:cNvSpPr>
            <a:spLocks noGrp="1"/>
          </p:cNvSpPr>
          <p:nvPr>
            <p:ph type="title"/>
          </p:nvPr>
        </p:nvSpPr>
        <p:spPr>
          <a:xfrm>
            <a:off x="1508760" y="4156405"/>
            <a:ext cx="3139440" cy="1325563"/>
          </a:xfrm>
        </p:spPr>
        <p:txBody>
          <a:bodyPr rtlCol="0">
            <a:normAutofit fontScale="90000"/>
          </a:bodyPr>
          <a:lstStyle/>
          <a:p>
            <a:r>
              <a:rPr lang="en-ZA" b="1" dirty="0"/>
              <a:t>J. Examples of a Good Golden Thread and a Bad Golden Thread</a:t>
            </a:r>
            <a:endParaRPr lang="en-GB" sz="1400" dirty="0"/>
          </a:p>
        </p:txBody>
      </p:sp>
      <p:sp>
        <p:nvSpPr>
          <p:cNvPr id="3" name="Content Placeholder 2">
            <a:extLst>
              <a:ext uri="{FF2B5EF4-FFF2-40B4-BE49-F238E27FC236}">
                <a16:creationId xmlns:a16="http://schemas.microsoft.com/office/drawing/2014/main" id="{4EEFEF62-6ED1-FFFD-DA75-3809ADDAC612}"/>
              </a:ext>
            </a:extLst>
          </p:cNvPr>
          <p:cNvSpPr>
            <a:spLocks noGrp="1"/>
          </p:cNvSpPr>
          <p:nvPr>
            <p:ph type="body" sz="quarter" idx="13"/>
          </p:nvPr>
        </p:nvSpPr>
        <p:spPr>
          <a:xfrm>
            <a:off x="5922254" y="786385"/>
            <a:ext cx="5842116" cy="5221224"/>
          </a:xfrm>
        </p:spPr>
        <p:txBody>
          <a:bodyPr vert="horz" lIns="91440" tIns="45720" rIns="91440" bIns="45720" rtlCol="0" anchor="t">
            <a:noAutofit/>
          </a:bodyPr>
          <a:lstStyle/>
          <a:p>
            <a:r>
              <a:rPr lang="en-ZA" b="1" dirty="0"/>
              <a:t>Example 1: Good Golden Thread (Aligned)</a:t>
            </a:r>
          </a:p>
          <a:p>
            <a:endParaRPr lang="en-ZA" dirty="0"/>
          </a:p>
          <a:p>
            <a:r>
              <a:rPr lang="en-ZA" b="1" dirty="0"/>
              <a:t>I. Title → Problem (Aligned)</a:t>
            </a:r>
            <a:endParaRPr lang="en-ZA" dirty="0"/>
          </a:p>
          <a:p>
            <a:r>
              <a:rPr lang="en-ZA" dirty="0"/>
              <a:t>Title: </a:t>
            </a:r>
            <a:r>
              <a:rPr lang="en-ZA" i="1" dirty="0"/>
              <a:t>Cybersecurity Awareness Training and Phishing Risk Among University Students</a:t>
            </a:r>
            <a:br>
              <a:rPr lang="en-ZA" dirty="0"/>
            </a:br>
            <a:endParaRPr lang="en-ZA" dirty="0"/>
          </a:p>
          <a:p>
            <a:r>
              <a:rPr lang="en-ZA" dirty="0"/>
              <a:t>Problem: Universities experience phishing incidents affecting student accounts. Although training is provided, it is unclear whether current awareness training reduces students' susceptibility to phishing.</a:t>
            </a:r>
          </a:p>
        </p:txBody>
      </p:sp>
      <p:sp>
        <p:nvSpPr>
          <p:cNvPr id="20" name="Date Placeholder 19">
            <a:extLst>
              <a:ext uri="{FF2B5EF4-FFF2-40B4-BE49-F238E27FC236}">
                <a16:creationId xmlns:a16="http://schemas.microsoft.com/office/drawing/2014/main" id="{6AFE2207-5528-BE3E-AEF5-311D73C06C23}"/>
              </a:ext>
            </a:extLst>
          </p:cNvPr>
          <p:cNvSpPr>
            <a:spLocks noGrp="1"/>
          </p:cNvSpPr>
          <p:nvPr>
            <p:ph type="dt" sz="half" idx="20"/>
          </p:nvPr>
        </p:nvSpPr>
        <p:spPr>
          <a:xfrm>
            <a:off x="5919680" y="6356350"/>
            <a:ext cx="947516" cy="365125"/>
          </a:xfrm>
        </p:spPr>
        <p:txBody>
          <a:bodyPr rtlCol="0"/>
          <a:lstStyle/>
          <a:p>
            <a:r>
              <a:rPr lang="en-GB" dirty="0"/>
              <a:t>February 2026</a:t>
            </a:r>
          </a:p>
        </p:txBody>
      </p:sp>
      <p:sp>
        <p:nvSpPr>
          <p:cNvPr id="21" name="Footer Placeholder 20">
            <a:extLst>
              <a:ext uri="{FF2B5EF4-FFF2-40B4-BE49-F238E27FC236}">
                <a16:creationId xmlns:a16="http://schemas.microsoft.com/office/drawing/2014/main" id="{22B5BF4C-0CC2-74D7-D07A-870D0D66D163}"/>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54B06467-703F-D3DC-1A6D-215F214C4674}"/>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12</a:t>
            </a:fld>
            <a:endParaRPr lang="en-GB"/>
          </a:p>
        </p:txBody>
      </p:sp>
    </p:spTree>
    <p:extLst>
      <p:ext uri="{BB962C8B-B14F-4D97-AF65-F5344CB8AC3E}">
        <p14:creationId xmlns:p14="http://schemas.microsoft.com/office/powerpoint/2010/main" val="907738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B761D-9547-EB2E-6937-FFE72792F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6C9B71-4644-5550-BA97-008720B30A3A}"/>
              </a:ext>
            </a:extLst>
          </p:cNvPr>
          <p:cNvSpPr>
            <a:spLocks noGrp="1"/>
          </p:cNvSpPr>
          <p:nvPr>
            <p:ph type="title"/>
          </p:nvPr>
        </p:nvSpPr>
        <p:spPr>
          <a:xfrm>
            <a:off x="1508760" y="4156405"/>
            <a:ext cx="3139440" cy="1325563"/>
          </a:xfrm>
        </p:spPr>
        <p:txBody>
          <a:bodyPr rtlCol="0">
            <a:normAutofit fontScale="90000"/>
          </a:bodyPr>
          <a:lstStyle/>
          <a:p>
            <a:r>
              <a:rPr lang="en-ZA" b="1" dirty="0"/>
              <a:t>J. Examples of a Good Golden Thread and a Bad Golden Thread</a:t>
            </a:r>
            <a:endParaRPr lang="en-GB" sz="1400" dirty="0"/>
          </a:p>
        </p:txBody>
      </p:sp>
      <p:sp>
        <p:nvSpPr>
          <p:cNvPr id="3" name="Content Placeholder 2">
            <a:extLst>
              <a:ext uri="{FF2B5EF4-FFF2-40B4-BE49-F238E27FC236}">
                <a16:creationId xmlns:a16="http://schemas.microsoft.com/office/drawing/2014/main" id="{7BA339C0-7648-CA1C-CC47-4AFF832EC4F8}"/>
              </a:ext>
            </a:extLst>
          </p:cNvPr>
          <p:cNvSpPr>
            <a:spLocks noGrp="1"/>
          </p:cNvSpPr>
          <p:nvPr>
            <p:ph type="body" sz="quarter" idx="13"/>
          </p:nvPr>
        </p:nvSpPr>
        <p:spPr>
          <a:xfrm>
            <a:off x="5922254" y="786385"/>
            <a:ext cx="5842116" cy="5221224"/>
          </a:xfrm>
        </p:spPr>
        <p:txBody>
          <a:bodyPr vert="horz" lIns="91440" tIns="45720" rIns="91440" bIns="45720" rtlCol="0" anchor="t">
            <a:noAutofit/>
          </a:bodyPr>
          <a:lstStyle/>
          <a:p>
            <a:r>
              <a:rPr lang="en-ZA" b="1" dirty="0"/>
              <a:t>Example 1: Good Golden Thread (Aligned)</a:t>
            </a:r>
          </a:p>
          <a:p>
            <a:endParaRPr lang="en-ZA" dirty="0"/>
          </a:p>
          <a:p>
            <a:r>
              <a:rPr lang="en-ZA" b="1" dirty="0"/>
              <a:t>II. Problem → Questions (Aligned)</a:t>
            </a:r>
            <a:endParaRPr lang="en-ZA" dirty="0"/>
          </a:p>
          <a:p>
            <a:r>
              <a:rPr lang="en-ZA" b="1" dirty="0"/>
              <a:t>Main Research Question:</a:t>
            </a:r>
            <a:r>
              <a:rPr lang="en-ZA" dirty="0"/>
              <a:t> How does cybersecurity awareness training influence phishing susceptibility among university students?</a:t>
            </a:r>
            <a:br>
              <a:rPr lang="en-ZA" dirty="0"/>
            </a:br>
            <a:endParaRPr lang="en-ZA" dirty="0"/>
          </a:p>
          <a:p>
            <a:r>
              <a:rPr lang="en-ZA" b="1" dirty="0"/>
              <a:t>Sub-questions:</a:t>
            </a:r>
            <a:endParaRPr lang="en-ZA" dirty="0"/>
          </a:p>
          <a:p>
            <a:pPr marL="457200" lvl="0" indent="-457200">
              <a:buFont typeface="+mj-lt"/>
              <a:buAutoNum type="alphaLcPeriod"/>
            </a:pPr>
            <a:r>
              <a:rPr lang="en-ZA" dirty="0"/>
              <a:t>What training components are most associated with improved phishing recognition?</a:t>
            </a:r>
          </a:p>
          <a:p>
            <a:pPr marL="457200" lvl="0" indent="-457200">
              <a:buFont typeface="+mj-lt"/>
              <a:buAutoNum type="alphaLcPeriod"/>
            </a:pPr>
            <a:r>
              <a:rPr lang="en-ZA" dirty="0"/>
              <a:t>What outcomes are used to measure susceptibility?</a:t>
            </a:r>
          </a:p>
        </p:txBody>
      </p:sp>
      <p:sp>
        <p:nvSpPr>
          <p:cNvPr id="20" name="Date Placeholder 19">
            <a:extLst>
              <a:ext uri="{FF2B5EF4-FFF2-40B4-BE49-F238E27FC236}">
                <a16:creationId xmlns:a16="http://schemas.microsoft.com/office/drawing/2014/main" id="{B0DC54F4-671C-A7DA-8B6F-22D74E9BEED6}"/>
              </a:ext>
            </a:extLst>
          </p:cNvPr>
          <p:cNvSpPr>
            <a:spLocks noGrp="1"/>
          </p:cNvSpPr>
          <p:nvPr>
            <p:ph type="dt" sz="half" idx="20"/>
          </p:nvPr>
        </p:nvSpPr>
        <p:spPr>
          <a:xfrm>
            <a:off x="5919680" y="6356350"/>
            <a:ext cx="947516" cy="365125"/>
          </a:xfrm>
        </p:spPr>
        <p:txBody>
          <a:bodyPr rtlCol="0"/>
          <a:lstStyle/>
          <a:p>
            <a:r>
              <a:rPr lang="en-GB" dirty="0"/>
              <a:t>February 2026</a:t>
            </a:r>
          </a:p>
        </p:txBody>
      </p:sp>
      <p:sp>
        <p:nvSpPr>
          <p:cNvPr id="21" name="Footer Placeholder 20">
            <a:extLst>
              <a:ext uri="{FF2B5EF4-FFF2-40B4-BE49-F238E27FC236}">
                <a16:creationId xmlns:a16="http://schemas.microsoft.com/office/drawing/2014/main" id="{0ECDAA64-5964-A298-651C-07FEB60D89D5}"/>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B79912F4-B66C-5F0D-CDBD-3EA855C34731}"/>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13</a:t>
            </a:fld>
            <a:endParaRPr lang="en-GB"/>
          </a:p>
        </p:txBody>
      </p:sp>
    </p:spTree>
    <p:extLst>
      <p:ext uri="{BB962C8B-B14F-4D97-AF65-F5344CB8AC3E}">
        <p14:creationId xmlns:p14="http://schemas.microsoft.com/office/powerpoint/2010/main" val="339898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FD501-4E7D-975A-8913-0BD25FF3CE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21528-7721-DFC1-6A5A-1B29C68EF295}"/>
              </a:ext>
            </a:extLst>
          </p:cNvPr>
          <p:cNvSpPr>
            <a:spLocks noGrp="1"/>
          </p:cNvSpPr>
          <p:nvPr>
            <p:ph type="title"/>
          </p:nvPr>
        </p:nvSpPr>
        <p:spPr>
          <a:xfrm>
            <a:off x="1508760" y="4156405"/>
            <a:ext cx="3139440" cy="1325563"/>
          </a:xfrm>
        </p:spPr>
        <p:txBody>
          <a:bodyPr rtlCol="0">
            <a:normAutofit fontScale="90000"/>
          </a:bodyPr>
          <a:lstStyle/>
          <a:p>
            <a:r>
              <a:rPr lang="en-ZA" b="1" dirty="0"/>
              <a:t>J. Examples of a Good Golden Thread and a Bad Golden Thread</a:t>
            </a:r>
            <a:endParaRPr lang="en-GB" sz="1400" dirty="0"/>
          </a:p>
        </p:txBody>
      </p:sp>
      <p:sp>
        <p:nvSpPr>
          <p:cNvPr id="3" name="Content Placeholder 2">
            <a:extLst>
              <a:ext uri="{FF2B5EF4-FFF2-40B4-BE49-F238E27FC236}">
                <a16:creationId xmlns:a16="http://schemas.microsoft.com/office/drawing/2014/main" id="{DE4CB7E6-719E-7E1E-B4A9-E96954A3212B}"/>
              </a:ext>
            </a:extLst>
          </p:cNvPr>
          <p:cNvSpPr>
            <a:spLocks noGrp="1"/>
          </p:cNvSpPr>
          <p:nvPr>
            <p:ph type="body" sz="quarter" idx="13"/>
          </p:nvPr>
        </p:nvSpPr>
        <p:spPr>
          <a:xfrm>
            <a:off x="5922254" y="786385"/>
            <a:ext cx="5842116" cy="5221224"/>
          </a:xfrm>
        </p:spPr>
        <p:txBody>
          <a:bodyPr vert="horz" lIns="91440" tIns="45720" rIns="91440" bIns="45720" rtlCol="0" anchor="t">
            <a:noAutofit/>
          </a:bodyPr>
          <a:lstStyle/>
          <a:p>
            <a:r>
              <a:rPr lang="en-ZA" b="1" dirty="0"/>
              <a:t>Example 1: Good Golden Thread (Aligned)</a:t>
            </a:r>
          </a:p>
          <a:p>
            <a:endParaRPr lang="en-ZA" dirty="0"/>
          </a:p>
          <a:p>
            <a:r>
              <a:rPr lang="en-ZA" b="1" dirty="0"/>
              <a:t>III. Questions → Objectives (Aligned)</a:t>
            </a:r>
            <a:endParaRPr lang="en-ZA" dirty="0"/>
          </a:p>
          <a:p>
            <a:r>
              <a:rPr lang="en-ZA" b="1" dirty="0"/>
              <a:t>Main Aim:</a:t>
            </a:r>
            <a:r>
              <a:rPr lang="en-ZA" dirty="0"/>
              <a:t> To explore how cybersecurity awareness training influences phishing susceptibility among university students.</a:t>
            </a:r>
            <a:br>
              <a:rPr lang="en-ZA" dirty="0"/>
            </a:br>
            <a:endParaRPr lang="en-ZA" dirty="0"/>
          </a:p>
          <a:p>
            <a:r>
              <a:rPr lang="en-ZA" b="1" dirty="0"/>
              <a:t>Objectives:</a:t>
            </a:r>
            <a:endParaRPr lang="en-ZA" dirty="0"/>
          </a:p>
          <a:p>
            <a:pPr marL="457200" lvl="0" indent="-457200">
              <a:buFont typeface="+mj-lt"/>
              <a:buAutoNum type="alphaLcPeriod"/>
            </a:pPr>
            <a:r>
              <a:rPr lang="en-ZA" dirty="0"/>
              <a:t>To identify what training components are most associated with improved phishing recognition.</a:t>
            </a:r>
          </a:p>
          <a:p>
            <a:pPr marL="457200" lvl="0" indent="-457200">
              <a:buFont typeface="+mj-lt"/>
              <a:buAutoNum type="alphaLcPeriod"/>
            </a:pPr>
            <a:r>
              <a:rPr lang="en-ZA" dirty="0"/>
              <a:t>To synthesise evidence on outcomes used to measure phishing susceptibility.</a:t>
            </a:r>
          </a:p>
        </p:txBody>
      </p:sp>
      <p:sp>
        <p:nvSpPr>
          <p:cNvPr id="20" name="Date Placeholder 19">
            <a:extLst>
              <a:ext uri="{FF2B5EF4-FFF2-40B4-BE49-F238E27FC236}">
                <a16:creationId xmlns:a16="http://schemas.microsoft.com/office/drawing/2014/main" id="{AE45DF46-F3FA-1814-9A17-D092E56BA860}"/>
              </a:ext>
            </a:extLst>
          </p:cNvPr>
          <p:cNvSpPr>
            <a:spLocks noGrp="1"/>
          </p:cNvSpPr>
          <p:nvPr>
            <p:ph type="dt" sz="half" idx="20"/>
          </p:nvPr>
        </p:nvSpPr>
        <p:spPr>
          <a:xfrm>
            <a:off x="5919680" y="6356350"/>
            <a:ext cx="947516" cy="365125"/>
          </a:xfrm>
        </p:spPr>
        <p:txBody>
          <a:bodyPr rtlCol="0"/>
          <a:lstStyle/>
          <a:p>
            <a:r>
              <a:rPr lang="en-GB" dirty="0"/>
              <a:t>February 2026</a:t>
            </a:r>
          </a:p>
        </p:txBody>
      </p:sp>
      <p:sp>
        <p:nvSpPr>
          <p:cNvPr id="21" name="Footer Placeholder 20">
            <a:extLst>
              <a:ext uri="{FF2B5EF4-FFF2-40B4-BE49-F238E27FC236}">
                <a16:creationId xmlns:a16="http://schemas.microsoft.com/office/drawing/2014/main" id="{586B6B6E-DEBD-92B0-498F-101C08CF5115}"/>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0BC8CC33-D72F-4D4C-BF27-993DF2D2EDED}"/>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14</a:t>
            </a:fld>
            <a:endParaRPr lang="en-GB"/>
          </a:p>
        </p:txBody>
      </p:sp>
    </p:spTree>
    <p:extLst>
      <p:ext uri="{BB962C8B-B14F-4D97-AF65-F5344CB8AC3E}">
        <p14:creationId xmlns:p14="http://schemas.microsoft.com/office/powerpoint/2010/main" val="1225777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77C0F-C78F-BB72-2F1B-D9409B281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8E19D7-6CCC-BB05-31BD-5E839A5DAD76}"/>
              </a:ext>
            </a:extLst>
          </p:cNvPr>
          <p:cNvSpPr>
            <a:spLocks noGrp="1"/>
          </p:cNvSpPr>
          <p:nvPr>
            <p:ph type="title"/>
          </p:nvPr>
        </p:nvSpPr>
        <p:spPr>
          <a:xfrm>
            <a:off x="1508760" y="4156405"/>
            <a:ext cx="3139440" cy="1325563"/>
          </a:xfrm>
        </p:spPr>
        <p:txBody>
          <a:bodyPr rtlCol="0">
            <a:normAutofit fontScale="90000"/>
          </a:bodyPr>
          <a:lstStyle/>
          <a:p>
            <a:r>
              <a:rPr lang="en-ZA" b="1" dirty="0"/>
              <a:t>J. Examples of a Good Golden Thread and a Bad Golden Thread</a:t>
            </a:r>
            <a:endParaRPr lang="en-GB" sz="1400" dirty="0"/>
          </a:p>
        </p:txBody>
      </p:sp>
      <p:sp>
        <p:nvSpPr>
          <p:cNvPr id="3" name="Content Placeholder 2">
            <a:extLst>
              <a:ext uri="{FF2B5EF4-FFF2-40B4-BE49-F238E27FC236}">
                <a16:creationId xmlns:a16="http://schemas.microsoft.com/office/drawing/2014/main" id="{90E0BBE2-9D5B-4F2D-850A-7B18938CB5AC}"/>
              </a:ext>
            </a:extLst>
          </p:cNvPr>
          <p:cNvSpPr>
            <a:spLocks noGrp="1"/>
          </p:cNvSpPr>
          <p:nvPr>
            <p:ph type="body" sz="quarter" idx="13"/>
          </p:nvPr>
        </p:nvSpPr>
        <p:spPr>
          <a:xfrm>
            <a:off x="5922254" y="786385"/>
            <a:ext cx="5842116" cy="5221224"/>
          </a:xfrm>
        </p:spPr>
        <p:txBody>
          <a:bodyPr vert="horz" lIns="91440" tIns="45720" rIns="91440" bIns="45720" rtlCol="0" anchor="t">
            <a:noAutofit/>
          </a:bodyPr>
          <a:lstStyle/>
          <a:p>
            <a:r>
              <a:rPr lang="en-ZA" b="1" dirty="0"/>
              <a:t>Example 1: Good Golden Thread (Aligned)</a:t>
            </a:r>
          </a:p>
          <a:p>
            <a:endParaRPr lang="en-ZA" dirty="0"/>
          </a:p>
          <a:p>
            <a:r>
              <a:rPr lang="en-ZA" b="1" dirty="0"/>
              <a:t>IV. Literature/Theory → Questions (Aligned)</a:t>
            </a:r>
            <a:endParaRPr lang="en-ZA" dirty="0"/>
          </a:p>
          <a:p>
            <a:r>
              <a:rPr lang="en-ZA" dirty="0"/>
              <a:t>The literature focuses on phishing behaviour, the design of awareness training, user security behaviour, and evaluation measures, as these directly help answer the questions.</a:t>
            </a:r>
          </a:p>
          <a:p>
            <a:r>
              <a:rPr lang="en-ZA" b="1" dirty="0"/>
              <a:t>Why this is good: </a:t>
            </a:r>
            <a:r>
              <a:rPr lang="en-ZA" dirty="0"/>
              <a:t>Every element uses the same focus, population, and outcome, and each part clearly supports the next.</a:t>
            </a:r>
          </a:p>
        </p:txBody>
      </p:sp>
      <p:sp>
        <p:nvSpPr>
          <p:cNvPr id="20" name="Date Placeholder 19">
            <a:extLst>
              <a:ext uri="{FF2B5EF4-FFF2-40B4-BE49-F238E27FC236}">
                <a16:creationId xmlns:a16="http://schemas.microsoft.com/office/drawing/2014/main" id="{3C815932-1C49-CE96-0A1F-7F8DD8221BF2}"/>
              </a:ext>
            </a:extLst>
          </p:cNvPr>
          <p:cNvSpPr>
            <a:spLocks noGrp="1"/>
          </p:cNvSpPr>
          <p:nvPr>
            <p:ph type="dt" sz="half" idx="20"/>
          </p:nvPr>
        </p:nvSpPr>
        <p:spPr>
          <a:xfrm>
            <a:off x="5919680" y="6356350"/>
            <a:ext cx="947516" cy="365125"/>
          </a:xfrm>
        </p:spPr>
        <p:txBody>
          <a:bodyPr rtlCol="0"/>
          <a:lstStyle/>
          <a:p>
            <a:r>
              <a:rPr lang="en-GB" dirty="0"/>
              <a:t>February 2026</a:t>
            </a:r>
          </a:p>
        </p:txBody>
      </p:sp>
      <p:sp>
        <p:nvSpPr>
          <p:cNvPr id="21" name="Footer Placeholder 20">
            <a:extLst>
              <a:ext uri="{FF2B5EF4-FFF2-40B4-BE49-F238E27FC236}">
                <a16:creationId xmlns:a16="http://schemas.microsoft.com/office/drawing/2014/main" id="{7A3357D3-1AF4-F0CC-BBD4-7CCE2522F7A6}"/>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CE95F0DF-591B-2788-9E68-BAA9B4D9A63E}"/>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15</a:t>
            </a:fld>
            <a:endParaRPr lang="en-GB"/>
          </a:p>
        </p:txBody>
      </p:sp>
    </p:spTree>
    <p:extLst>
      <p:ext uri="{BB962C8B-B14F-4D97-AF65-F5344CB8AC3E}">
        <p14:creationId xmlns:p14="http://schemas.microsoft.com/office/powerpoint/2010/main" val="4135645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F9244783-FC50-8594-E522-86B01C104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8361E-8E7C-C9B3-50F7-DD57FAFF78D1}"/>
              </a:ext>
            </a:extLst>
          </p:cNvPr>
          <p:cNvSpPr>
            <a:spLocks noGrp="1"/>
          </p:cNvSpPr>
          <p:nvPr>
            <p:ph type="title"/>
          </p:nvPr>
        </p:nvSpPr>
        <p:spPr>
          <a:xfrm>
            <a:off x="1508760" y="4156405"/>
            <a:ext cx="3139440" cy="1325563"/>
          </a:xfrm>
        </p:spPr>
        <p:txBody>
          <a:bodyPr rtlCol="0">
            <a:normAutofit fontScale="90000"/>
          </a:bodyPr>
          <a:lstStyle/>
          <a:p>
            <a:r>
              <a:rPr lang="en-ZA" b="1" dirty="0">
                <a:solidFill>
                  <a:schemeClr val="bg1"/>
                </a:solidFill>
              </a:rPr>
              <a:t>J. Examples of a Good Golden Thread and a Bad Golden Thread</a:t>
            </a:r>
            <a:endParaRPr lang="en-GB" sz="1400" dirty="0">
              <a:solidFill>
                <a:schemeClr val="bg1"/>
              </a:solidFill>
            </a:endParaRPr>
          </a:p>
        </p:txBody>
      </p:sp>
      <p:sp>
        <p:nvSpPr>
          <p:cNvPr id="3" name="Content Placeholder 2">
            <a:extLst>
              <a:ext uri="{FF2B5EF4-FFF2-40B4-BE49-F238E27FC236}">
                <a16:creationId xmlns:a16="http://schemas.microsoft.com/office/drawing/2014/main" id="{692E83B4-DA40-9696-01F1-C38110B1A9FF}"/>
              </a:ext>
            </a:extLst>
          </p:cNvPr>
          <p:cNvSpPr>
            <a:spLocks noGrp="1"/>
          </p:cNvSpPr>
          <p:nvPr>
            <p:ph type="body" sz="quarter" idx="13"/>
          </p:nvPr>
        </p:nvSpPr>
        <p:spPr>
          <a:xfrm>
            <a:off x="5677469" y="786385"/>
            <a:ext cx="6086901" cy="5221224"/>
          </a:xfrm>
        </p:spPr>
        <p:txBody>
          <a:bodyPr vert="horz" lIns="91440" tIns="45720" rIns="91440" bIns="45720" rtlCol="0" anchor="t">
            <a:noAutofit/>
          </a:bodyPr>
          <a:lstStyle/>
          <a:p>
            <a:r>
              <a:rPr lang="en-ZA" b="1" dirty="0">
                <a:solidFill>
                  <a:schemeClr val="bg1"/>
                </a:solidFill>
              </a:rPr>
              <a:t>Example 1: Bad Golden Thread (Misaligned)</a:t>
            </a:r>
          </a:p>
          <a:p>
            <a:endParaRPr lang="en-ZA" dirty="0">
              <a:solidFill>
                <a:schemeClr val="bg1"/>
              </a:solidFill>
            </a:endParaRPr>
          </a:p>
          <a:p>
            <a:r>
              <a:rPr lang="en-ZA" b="1" dirty="0">
                <a:solidFill>
                  <a:schemeClr val="bg1"/>
                </a:solidFill>
              </a:rPr>
              <a:t>I. Title → Problem (Broken)</a:t>
            </a:r>
            <a:endParaRPr lang="en-ZA" dirty="0">
              <a:solidFill>
                <a:schemeClr val="bg1"/>
              </a:solidFill>
            </a:endParaRPr>
          </a:p>
          <a:p>
            <a:r>
              <a:rPr lang="en-ZA" b="1" dirty="0">
                <a:solidFill>
                  <a:schemeClr val="bg1"/>
                </a:solidFill>
              </a:rPr>
              <a:t>Title: </a:t>
            </a:r>
            <a:r>
              <a:rPr lang="en-ZA" i="1" dirty="0">
                <a:solidFill>
                  <a:schemeClr val="bg1"/>
                </a:solidFill>
              </a:rPr>
              <a:t>Cybersecurity Awareness Training and Phishing Risk Among University Students</a:t>
            </a:r>
            <a:br>
              <a:rPr lang="en-ZA" dirty="0">
                <a:solidFill>
                  <a:schemeClr val="bg1"/>
                </a:solidFill>
              </a:rPr>
            </a:br>
            <a:r>
              <a:rPr lang="en-ZA" b="1" dirty="0">
                <a:solidFill>
                  <a:schemeClr val="bg1"/>
                </a:solidFill>
              </a:rPr>
              <a:t>Problem: </a:t>
            </a:r>
            <a:r>
              <a:rPr lang="en-ZA" dirty="0">
                <a:solidFill>
                  <a:schemeClr val="bg1"/>
                </a:solidFill>
              </a:rPr>
              <a:t>The organisation lacks a firewall and needs intrusion detection to prevent malware infections.</a:t>
            </a:r>
          </a:p>
          <a:p>
            <a:endParaRPr lang="en-ZA" dirty="0">
              <a:solidFill>
                <a:schemeClr val="bg1"/>
              </a:solidFill>
            </a:endParaRPr>
          </a:p>
          <a:p>
            <a:r>
              <a:rPr lang="en-ZA" b="1" dirty="0">
                <a:solidFill>
                  <a:schemeClr val="bg1"/>
                </a:solidFill>
              </a:rPr>
              <a:t>Why it is bad: </a:t>
            </a:r>
            <a:r>
              <a:rPr lang="en-ZA" dirty="0">
                <a:solidFill>
                  <a:schemeClr val="bg1"/>
                </a:solidFill>
              </a:rPr>
              <a:t>The title is about training and student phishing, but the problem is about the technical infrastructure. The study starts in one direction and then immediately shifts.</a:t>
            </a:r>
          </a:p>
        </p:txBody>
      </p:sp>
      <p:sp>
        <p:nvSpPr>
          <p:cNvPr id="20" name="Date Placeholder 19">
            <a:extLst>
              <a:ext uri="{FF2B5EF4-FFF2-40B4-BE49-F238E27FC236}">
                <a16:creationId xmlns:a16="http://schemas.microsoft.com/office/drawing/2014/main" id="{9871BA8D-6034-2D2E-6046-BDF15DE03734}"/>
              </a:ext>
            </a:extLst>
          </p:cNvPr>
          <p:cNvSpPr>
            <a:spLocks noGrp="1"/>
          </p:cNvSpPr>
          <p:nvPr>
            <p:ph type="dt" sz="half" idx="20"/>
          </p:nvPr>
        </p:nvSpPr>
        <p:spPr>
          <a:xfrm>
            <a:off x="5919680" y="6356350"/>
            <a:ext cx="947516" cy="365125"/>
          </a:xfrm>
        </p:spPr>
        <p:txBody>
          <a:bodyPr rtlCol="0"/>
          <a:lstStyle/>
          <a:p>
            <a:r>
              <a:rPr lang="en-GB"/>
              <a:t>February 2026</a:t>
            </a:r>
            <a:endParaRPr lang="en-GB" dirty="0"/>
          </a:p>
        </p:txBody>
      </p:sp>
      <p:sp>
        <p:nvSpPr>
          <p:cNvPr id="21" name="Footer Placeholder 20">
            <a:extLst>
              <a:ext uri="{FF2B5EF4-FFF2-40B4-BE49-F238E27FC236}">
                <a16:creationId xmlns:a16="http://schemas.microsoft.com/office/drawing/2014/main" id="{D434D0D7-644E-6CAC-223D-599B14413AD5}"/>
              </a:ext>
            </a:extLst>
          </p:cNvPr>
          <p:cNvSpPr>
            <a:spLocks noGrp="1"/>
          </p:cNvSpPr>
          <p:nvPr>
            <p:ph type="ftr" sz="quarter" idx="21"/>
          </p:nvPr>
        </p:nvSpPr>
        <p:spPr>
          <a:xfrm>
            <a:off x="7161955" y="6356350"/>
            <a:ext cx="3243942" cy="365125"/>
          </a:xfrm>
        </p:spPr>
        <p:txBody>
          <a:bodyPr rtlCol="0"/>
          <a:lstStyle/>
          <a:p>
            <a:pPr rtl="0"/>
            <a:r>
              <a:rPr lang="en-GB"/>
              <a:t>Research Methodology 4</a:t>
            </a:r>
            <a:endParaRPr lang="en-GB" dirty="0"/>
          </a:p>
        </p:txBody>
      </p:sp>
      <p:sp>
        <p:nvSpPr>
          <p:cNvPr id="22" name="Slide Number Placeholder 21">
            <a:extLst>
              <a:ext uri="{FF2B5EF4-FFF2-40B4-BE49-F238E27FC236}">
                <a16:creationId xmlns:a16="http://schemas.microsoft.com/office/drawing/2014/main" id="{6EC7E07C-7A79-7CF3-D180-3F38E6DF55F9}"/>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16</a:t>
            </a:fld>
            <a:endParaRPr lang="en-GB"/>
          </a:p>
        </p:txBody>
      </p:sp>
    </p:spTree>
    <p:extLst>
      <p:ext uri="{BB962C8B-B14F-4D97-AF65-F5344CB8AC3E}">
        <p14:creationId xmlns:p14="http://schemas.microsoft.com/office/powerpoint/2010/main" val="1435019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B3E12473-7201-99DD-FFF8-973770360D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84C0F3-CAAC-AB41-72E8-EABEB541E659}"/>
              </a:ext>
            </a:extLst>
          </p:cNvPr>
          <p:cNvSpPr>
            <a:spLocks noGrp="1"/>
          </p:cNvSpPr>
          <p:nvPr>
            <p:ph type="title"/>
          </p:nvPr>
        </p:nvSpPr>
        <p:spPr>
          <a:xfrm>
            <a:off x="1508760" y="4156405"/>
            <a:ext cx="3139440" cy="1325563"/>
          </a:xfrm>
        </p:spPr>
        <p:txBody>
          <a:bodyPr rtlCol="0">
            <a:normAutofit fontScale="90000"/>
          </a:bodyPr>
          <a:lstStyle/>
          <a:p>
            <a:r>
              <a:rPr lang="en-ZA" b="1" dirty="0">
                <a:solidFill>
                  <a:schemeClr val="bg1"/>
                </a:solidFill>
              </a:rPr>
              <a:t>J. Examples of a Good Golden Thread and a Bad Golden Thread</a:t>
            </a:r>
            <a:endParaRPr lang="en-GB" sz="1400" dirty="0">
              <a:solidFill>
                <a:schemeClr val="bg1"/>
              </a:solidFill>
            </a:endParaRPr>
          </a:p>
        </p:txBody>
      </p:sp>
      <p:sp>
        <p:nvSpPr>
          <p:cNvPr id="3" name="Content Placeholder 2">
            <a:extLst>
              <a:ext uri="{FF2B5EF4-FFF2-40B4-BE49-F238E27FC236}">
                <a16:creationId xmlns:a16="http://schemas.microsoft.com/office/drawing/2014/main" id="{2D55B055-F90A-7D51-7E1A-92345C685C84}"/>
              </a:ext>
            </a:extLst>
          </p:cNvPr>
          <p:cNvSpPr>
            <a:spLocks noGrp="1"/>
          </p:cNvSpPr>
          <p:nvPr>
            <p:ph type="body" sz="quarter" idx="13"/>
          </p:nvPr>
        </p:nvSpPr>
        <p:spPr>
          <a:xfrm>
            <a:off x="5677469" y="786385"/>
            <a:ext cx="6086901" cy="5221224"/>
          </a:xfrm>
        </p:spPr>
        <p:txBody>
          <a:bodyPr vert="horz" lIns="91440" tIns="45720" rIns="91440" bIns="45720" rtlCol="0" anchor="t">
            <a:noAutofit/>
          </a:bodyPr>
          <a:lstStyle/>
          <a:p>
            <a:r>
              <a:rPr lang="en-ZA" b="1" dirty="0">
                <a:solidFill>
                  <a:schemeClr val="bg1"/>
                </a:solidFill>
              </a:rPr>
              <a:t>Example 1: Bad Golden Thread (Misaligned)</a:t>
            </a:r>
          </a:p>
          <a:p>
            <a:endParaRPr lang="en-ZA" dirty="0">
              <a:solidFill>
                <a:schemeClr val="bg1"/>
              </a:solidFill>
            </a:endParaRPr>
          </a:p>
          <a:p>
            <a:r>
              <a:rPr lang="en-ZA" b="1" dirty="0">
                <a:solidFill>
                  <a:schemeClr val="bg1"/>
                </a:solidFill>
              </a:rPr>
              <a:t>II. Problem → Questions (Broken)</a:t>
            </a:r>
            <a:endParaRPr lang="en-ZA" dirty="0">
              <a:solidFill>
                <a:schemeClr val="bg1"/>
              </a:solidFill>
            </a:endParaRPr>
          </a:p>
          <a:p>
            <a:r>
              <a:rPr lang="en-ZA" b="1" dirty="0">
                <a:solidFill>
                  <a:schemeClr val="bg1"/>
                </a:solidFill>
              </a:rPr>
              <a:t>Research Question: </a:t>
            </a:r>
            <a:r>
              <a:rPr lang="en-ZA" dirty="0">
                <a:solidFill>
                  <a:schemeClr val="bg1"/>
                </a:solidFill>
              </a:rPr>
              <a:t>What firewall solution is most secure for a university network?</a:t>
            </a:r>
          </a:p>
          <a:p>
            <a:endParaRPr lang="en-ZA" dirty="0">
              <a:solidFill>
                <a:schemeClr val="bg1"/>
              </a:solidFill>
            </a:endParaRPr>
          </a:p>
          <a:p>
            <a:r>
              <a:rPr lang="en-ZA" b="1" dirty="0">
                <a:solidFill>
                  <a:schemeClr val="bg1"/>
                </a:solidFill>
              </a:rPr>
              <a:t>Why it is bad: </a:t>
            </a:r>
            <a:r>
              <a:rPr lang="en-ZA" dirty="0">
                <a:solidFill>
                  <a:schemeClr val="bg1"/>
                </a:solidFill>
              </a:rPr>
              <a:t>The question has shifted entirely to network engineering and product selection, which the title did not promise.</a:t>
            </a:r>
          </a:p>
        </p:txBody>
      </p:sp>
      <p:sp>
        <p:nvSpPr>
          <p:cNvPr id="20" name="Date Placeholder 19">
            <a:extLst>
              <a:ext uri="{FF2B5EF4-FFF2-40B4-BE49-F238E27FC236}">
                <a16:creationId xmlns:a16="http://schemas.microsoft.com/office/drawing/2014/main" id="{209BF851-BD77-02B3-6424-0AA44029679F}"/>
              </a:ext>
            </a:extLst>
          </p:cNvPr>
          <p:cNvSpPr>
            <a:spLocks noGrp="1"/>
          </p:cNvSpPr>
          <p:nvPr>
            <p:ph type="dt" sz="half" idx="20"/>
          </p:nvPr>
        </p:nvSpPr>
        <p:spPr>
          <a:xfrm>
            <a:off x="5919680" y="6356350"/>
            <a:ext cx="947516" cy="365125"/>
          </a:xfrm>
        </p:spPr>
        <p:txBody>
          <a:bodyPr rtlCol="0"/>
          <a:lstStyle/>
          <a:p>
            <a:r>
              <a:rPr lang="en-GB"/>
              <a:t>February 2026</a:t>
            </a:r>
            <a:endParaRPr lang="en-GB" dirty="0"/>
          </a:p>
        </p:txBody>
      </p:sp>
      <p:sp>
        <p:nvSpPr>
          <p:cNvPr id="21" name="Footer Placeholder 20">
            <a:extLst>
              <a:ext uri="{FF2B5EF4-FFF2-40B4-BE49-F238E27FC236}">
                <a16:creationId xmlns:a16="http://schemas.microsoft.com/office/drawing/2014/main" id="{7B18B38C-C9FC-AB74-DDB4-E78A2602C339}"/>
              </a:ext>
            </a:extLst>
          </p:cNvPr>
          <p:cNvSpPr>
            <a:spLocks noGrp="1"/>
          </p:cNvSpPr>
          <p:nvPr>
            <p:ph type="ftr" sz="quarter" idx="21"/>
          </p:nvPr>
        </p:nvSpPr>
        <p:spPr>
          <a:xfrm>
            <a:off x="7161955" y="6356350"/>
            <a:ext cx="3243942" cy="365125"/>
          </a:xfrm>
        </p:spPr>
        <p:txBody>
          <a:bodyPr rtlCol="0"/>
          <a:lstStyle/>
          <a:p>
            <a:pPr rtl="0"/>
            <a:r>
              <a:rPr lang="en-GB"/>
              <a:t>Research Methodology 4</a:t>
            </a:r>
            <a:endParaRPr lang="en-GB" dirty="0"/>
          </a:p>
        </p:txBody>
      </p:sp>
      <p:sp>
        <p:nvSpPr>
          <p:cNvPr id="22" name="Slide Number Placeholder 21">
            <a:extLst>
              <a:ext uri="{FF2B5EF4-FFF2-40B4-BE49-F238E27FC236}">
                <a16:creationId xmlns:a16="http://schemas.microsoft.com/office/drawing/2014/main" id="{CBA93381-8431-8864-6ABA-256C23634FEF}"/>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17</a:t>
            </a:fld>
            <a:endParaRPr lang="en-GB"/>
          </a:p>
        </p:txBody>
      </p:sp>
    </p:spTree>
    <p:extLst>
      <p:ext uri="{BB962C8B-B14F-4D97-AF65-F5344CB8AC3E}">
        <p14:creationId xmlns:p14="http://schemas.microsoft.com/office/powerpoint/2010/main" val="1074000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CC65C5E0-17FA-72D9-EF36-D3163F2A79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EC7FE9-3CBA-6157-5BBF-D0D29A0A6D51}"/>
              </a:ext>
            </a:extLst>
          </p:cNvPr>
          <p:cNvSpPr>
            <a:spLocks noGrp="1"/>
          </p:cNvSpPr>
          <p:nvPr>
            <p:ph type="title"/>
          </p:nvPr>
        </p:nvSpPr>
        <p:spPr>
          <a:xfrm>
            <a:off x="1508760" y="4156405"/>
            <a:ext cx="3139440" cy="1325563"/>
          </a:xfrm>
        </p:spPr>
        <p:txBody>
          <a:bodyPr rtlCol="0">
            <a:normAutofit fontScale="90000"/>
          </a:bodyPr>
          <a:lstStyle/>
          <a:p>
            <a:r>
              <a:rPr lang="en-ZA" b="1" dirty="0">
                <a:solidFill>
                  <a:schemeClr val="bg1"/>
                </a:solidFill>
              </a:rPr>
              <a:t>J. Examples of a Good Golden Thread and a Bad Golden Thread</a:t>
            </a:r>
            <a:endParaRPr lang="en-GB" sz="1400" dirty="0">
              <a:solidFill>
                <a:schemeClr val="bg1"/>
              </a:solidFill>
            </a:endParaRPr>
          </a:p>
        </p:txBody>
      </p:sp>
      <p:sp>
        <p:nvSpPr>
          <p:cNvPr id="3" name="Content Placeholder 2">
            <a:extLst>
              <a:ext uri="{FF2B5EF4-FFF2-40B4-BE49-F238E27FC236}">
                <a16:creationId xmlns:a16="http://schemas.microsoft.com/office/drawing/2014/main" id="{FD5945A8-47BA-2339-FEDC-D5F65F679BA4}"/>
              </a:ext>
            </a:extLst>
          </p:cNvPr>
          <p:cNvSpPr>
            <a:spLocks noGrp="1"/>
          </p:cNvSpPr>
          <p:nvPr>
            <p:ph type="body" sz="quarter" idx="13"/>
          </p:nvPr>
        </p:nvSpPr>
        <p:spPr>
          <a:xfrm>
            <a:off x="5677469" y="786385"/>
            <a:ext cx="6086901" cy="5221224"/>
          </a:xfrm>
        </p:spPr>
        <p:txBody>
          <a:bodyPr vert="horz" lIns="91440" tIns="45720" rIns="91440" bIns="45720" rtlCol="0" anchor="t">
            <a:noAutofit/>
          </a:bodyPr>
          <a:lstStyle/>
          <a:p>
            <a:r>
              <a:rPr lang="en-ZA" b="1" dirty="0">
                <a:solidFill>
                  <a:schemeClr val="bg1"/>
                </a:solidFill>
              </a:rPr>
              <a:t>Example 1: Bad Golden Thread (Misaligned)</a:t>
            </a:r>
          </a:p>
          <a:p>
            <a:endParaRPr lang="en-ZA" dirty="0">
              <a:solidFill>
                <a:schemeClr val="bg1"/>
              </a:solidFill>
            </a:endParaRPr>
          </a:p>
          <a:p>
            <a:r>
              <a:rPr lang="en-ZA" b="1" dirty="0">
                <a:solidFill>
                  <a:schemeClr val="bg1"/>
                </a:solidFill>
              </a:rPr>
              <a:t>III. Questions → Objectives (Broken)</a:t>
            </a:r>
            <a:endParaRPr lang="en-ZA" dirty="0">
              <a:solidFill>
                <a:schemeClr val="bg1"/>
              </a:solidFill>
            </a:endParaRPr>
          </a:p>
          <a:p>
            <a:r>
              <a:rPr lang="en-ZA" b="1" dirty="0">
                <a:solidFill>
                  <a:schemeClr val="bg1"/>
                </a:solidFill>
              </a:rPr>
              <a:t>Objective: </a:t>
            </a:r>
            <a:r>
              <a:rPr lang="en-ZA" dirty="0">
                <a:solidFill>
                  <a:schemeClr val="bg1"/>
                </a:solidFill>
              </a:rPr>
              <a:t>To test three firewall brands and select the best one.</a:t>
            </a:r>
          </a:p>
          <a:p>
            <a:endParaRPr lang="en-ZA" dirty="0">
              <a:solidFill>
                <a:schemeClr val="bg1"/>
              </a:solidFill>
            </a:endParaRPr>
          </a:p>
          <a:p>
            <a:r>
              <a:rPr lang="en-ZA" b="1" dirty="0">
                <a:solidFill>
                  <a:schemeClr val="bg1"/>
                </a:solidFill>
              </a:rPr>
              <a:t>Why it is bad: </a:t>
            </a:r>
            <a:r>
              <a:rPr lang="en-ZA" dirty="0">
                <a:solidFill>
                  <a:schemeClr val="bg1"/>
                </a:solidFill>
              </a:rPr>
              <a:t>The objective is now a procurement decision rather than a research investigation aligned with the original topic.</a:t>
            </a:r>
          </a:p>
        </p:txBody>
      </p:sp>
      <p:sp>
        <p:nvSpPr>
          <p:cNvPr id="20" name="Date Placeholder 19">
            <a:extLst>
              <a:ext uri="{FF2B5EF4-FFF2-40B4-BE49-F238E27FC236}">
                <a16:creationId xmlns:a16="http://schemas.microsoft.com/office/drawing/2014/main" id="{012A4844-359F-FF0C-0EC3-60527ECD6E48}"/>
              </a:ext>
            </a:extLst>
          </p:cNvPr>
          <p:cNvSpPr>
            <a:spLocks noGrp="1"/>
          </p:cNvSpPr>
          <p:nvPr>
            <p:ph type="dt" sz="half" idx="20"/>
          </p:nvPr>
        </p:nvSpPr>
        <p:spPr>
          <a:xfrm>
            <a:off x="5919680" y="6356350"/>
            <a:ext cx="947516" cy="365125"/>
          </a:xfrm>
        </p:spPr>
        <p:txBody>
          <a:bodyPr rtlCol="0"/>
          <a:lstStyle/>
          <a:p>
            <a:r>
              <a:rPr lang="en-GB"/>
              <a:t>February 2026</a:t>
            </a:r>
            <a:endParaRPr lang="en-GB" dirty="0"/>
          </a:p>
        </p:txBody>
      </p:sp>
      <p:sp>
        <p:nvSpPr>
          <p:cNvPr id="21" name="Footer Placeholder 20">
            <a:extLst>
              <a:ext uri="{FF2B5EF4-FFF2-40B4-BE49-F238E27FC236}">
                <a16:creationId xmlns:a16="http://schemas.microsoft.com/office/drawing/2014/main" id="{CF528288-ED00-4D0B-9307-90AFF2215BE7}"/>
              </a:ext>
            </a:extLst>
          </p:cNvPr>
          <p:cNvSpPr>
            <a:spLocks noGrp="1"/>
          </p:cNvSpPr>
          <p:nvPr>
            <p:ph type="ftr" sz="quarter" idx="21"/>
          </p:nvPr>
        </p:nvSpPr>
        <p:spPr>
          <a:xfrm>
            <a:off x="7161955" y="6356350"/>
            <a:ext cx="3243942" cy="365125"/>
          </a:xfrm>
        </p:spPr>
        <p:txBody>
          <a:bodyPr rtlCol="0"/>
          <a:lstStyle/>
          <a:p>
            <a:pPr rtl="0"/>
            <a:r>
              <a:rPr lang="en-GB"/>
              <a:t>Research Methodology 4</a:t>
            </a:r>
            <a:endParaRPr lang="en-GB" dirty="0"/>
          </a:p>
        </p:txBody>
      </p:sp>
      <p:sp>
        <p:nvSpPr>
          <p:cNvPr id="22" name="Slide Number Placeholder 21">
            <a:extLst>
              <a:ext uri="{FF2B5EF4-FFF2-40B4-BE49-F238E27FC236}">
                <a16:creationId xmlns:a16="http://schemas.microsoft.com/office/drawing/2014/main" id="{FA337663-7470-77A5-A5CF-5EA2C706E186}"/>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18</a:t>
            </a:fld>
            <a:endParaRPr lang="en-GB"/>
          </a:p>
        </p:txBody>
      </p:sp>
    </p:spTree>
    <p:extLst>
      <p:ext uri="{BB962C8B-B14F-4D97-AF65-F5344CB8AC3E}">
        <p14:creationId xmlns:p14="http://schemas.microsoft.com/office/powerpoint/2010/main" val="518565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a:extLst>
            <a:ext uri="{FF2B5EF4-FFF2-40B4-BE49-F238E27FC236}">
              <a16:creationId xmlns:a16="http://schemas.microsoft.com/office/drawing/2014/main" id="{519A984E-5C78-9E42-8AC4-183505FD7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CA1CFD-4D22-4D98-29EA-E207871D80C7}"/>
              </a:ext>
            </a:extLst>
          </p:cNvPr>
          <p:cNvSpPr>
            <a:spLocks noGrp="1"/>
          </p:cNvSpPr>
          <p:nvPr>
            <p:ph type="title"/>
          </p:nvPr>
        </p:nvSpPr>
        <p:spPr>
          <a:xfrm>
            <a:off x="1508760" y="4156405"/>
            <a:ext cx="3139440" cy="1325563"/>
          </a:xfrm>
        </p:spPr>
        <p:txBody>
          <a:bodyPr rtlCol="0">
            <a:normAutofit fontScale="90000"/>
          </a:bodyPr>
          <a:lstStyle/>
          <a:p>
            <a:r>
              <a:rPr lang="en-ZA" b="1" dirty="0">
                <a:solidFill>
                  <a:schemeClr val="bg1"/>
                </a:solidFill>
              </a:rPr>
              <a:t>J. Examples of a Good Golden Thread and a Bad Golden Thread</a:t>
            </a:r>
            <a:endParaRPr lang="en-GB" sz="1400" dirty="0">
              <a:solidFill>
                <a:schemeClr val="bg1"/>
              </a:solidFill>
            </a:endParaRPr>
          </a:p>
        </p:txBody>
      </p:sp>
      <p:sp>
        <p:nvSpPr>
          <p:cNvPr id="3" name="Content Placeholder 2">
            <a:extLst>
              <a:ext uri="{FF2B5EF4-FFF2-40B4-BE49-F238E27FC236}">
                <a16:creationId xmlns:a16="http://schemas.microsoft.com/office/drawing/2014/main" id="{9289B36B-BAEE-18D6-E06C-8A240F6B8720}"/>
              </a:ext>
            </a:extLst>
          </p:cNvPr>
          <p:cNvSpPr>
            <a:spLocks noGrp="1"/>
          </p:cNvSpPr>
          <p:nvPr>
            <p:ph type="body" sz="quarter" idx="13"/>
          </p:nvPr>
        </p:nvSpPr>
        <p:spPr>
          <a:xfrm>
            <a:off x="5677469" y="786385"/>
            <a:ext cx="6086901" cy="5221224"/>
          </a:xfrm>
        </p:spPr>
        <p:txBody>
          <a:bodyPr vert="horz" lIns="91440" tIns="45720" rIns="91440" bIns="45720" rtlCol="0" anchor="t">
            <a:noAutofit/>
          </a:bodyPr>
          <a:lstStyle/>
          <a:p>
            <a:r>
              <a:rPr lang="en-ZA" b="1" dirty="0">
                <a:solidFill>
                  <a:schemeClr val="bg1"/>
                </a:solidFill>
              </a:rPr>
              <a:t>Example 1: Bad Golden Thread (Misaligned)</a:t>
            </a:r>
          </a:p>
          <a:p>
            <a:endParaRPr lang="en-ZA" dirty="0">
              <a:solidFill>
                <a:schemeClr val="bg1"/>
              </a:solidFill>
            </a:endParaRPr>
          </a:p>
          <a:p>
            <a:r>
              <a:rPr lang="en-ZA" b="1" dirty="0">
                <a:solidFill>
                  <a:schemeClr val="bg1"/>
                </a:solidFill>
              </a:rPr>
              <a:t>IV. Literature/Theory → Questions (Broken)</a:t>
            </a:r>
            <a:endParaRPr lang="en-ZA" dirty="0">
              <a:solidFill>
                <a:schemeClr val="bg1"/>
              </a:solidFill>
            </a:endParaRPr>
          </a:p>
          <a:p>
            <a:r>
              <a:rPr lang="en-ZA" dirty="0">
                <a:solidFill>
                  <a:schemeClr val="bg1"/>
                </a:solidFill>
              </a:rPr>
              <a:t>The literature mostly focuses on firewall architecture, IDS/IPS tools, and network segmentation, rather than awareness training or phishing susceptibility.</a:t>
            </a:r>
          </a:p>
          <a:p>
            <a:endParaRPr lang="en-ZA" dirty="0">
              <a:solidFill>
                <a:schemeClr val="bg1"/>
              </a:solidFill>
            </a:endParaRPr>
          </a:p>
          <a:p>
            <a:r>
              <a:rPr lang="en-ZA" b="1" dirty="0">
                <a:solidFill>
                  <a:schemeClr val="bg1"/>
                </a:solidFill>
              </a:rPr>
              <a:t>Why it is bad: </a:t>
            </a:r>
            <a:r>
              <a:rPr lang="en-ZA" dirty="0">
                <a:solidFill>
                  <a:schemeClr val="bg1"/>
                </a:solidFill>
              </a:rPr>
              <a:t>The thread is broken at every step because the topic keeps changing.</a:t>
            </a:r>
          </a:p>
        </p:txBody>
      </p:sp>
      <p:sp>
        <p:nvSpPr>
          <p:cNvPr id="20" name="Date Placeholder 19">
            <a:extLst>
              <a:ext uri="{FF2B5EF4-FFF2-40B4-BE49-F238E27FC236}">
                <a16:creationId xmlns:a16="http://schemas.microsoft.com/office/drawing/2014/main" id="{0F8CF5F4-2BAC-9540-63CE-E4FD5A5E9BDA}"/>
              </a:ext>
            </a:extLst>
          </p:cNvPr>
          <p:cNvSpPr>
            <a:spLocks noGrp="1"/>
          </p:cNvSpPr>
          <p:nvPr>
            <p:ph type="dt" sz="half" idx="20"/>
          </p:nvPr>
        </p:nvSpPr>
        <p:spPr>
          <a:xfrm>
            <a:off x="5919680" y="6356350"/>
            <a:ext cx="947516" cy="365125"/>
          </a:xfrm>
        </p:spPr>
        <p:txBody>
          <a:bodyPr rtlCol="0"/>
          <a:lstStyle/>
          <a:p>
            <a:r>
              <a:rPr lang="en-GB"/>
              <a:t>February 2026</a:t>
            </a:r>
            <a:endParaRPr lang="en-GB" dirty="0"/>
          </a:p>
        </p:txBody>
      </p:sp>
      <p:sp>
        <p:nvSpPr>
          <p:cNvPr id="21" name="Footer Placeholder 20">
            <a:extLst>
              <a:ext uri="{FF2B5EF4-FFF2-40B4-BE49-F238E27FC236}">
                <a16:creationId xmlns:a16="http://schemas.microsoft.com/office/drawing/2014/main" id="{0532F600-8017-E945-ED0B-62BFF8602EC5}"/>
              </a:ext>
            </a:extLst>
          </p:cNvPr>
          <p:cNvSpPr>
            <a:spLocks noGrp="1"/>
          </p:cNvSpPr>
          <p:nvPr>
            <p:ph type="ftr" sz="quarter" idx="21"/>
          </p:nvPr>
        </p:nvSpPr>
        <p:spPr>
          <a:xfrm>
            <a:off x="7161955" y="6356350"/>
            <a:ext cx="3243942" cy="365125"/>
          </a:xfrm>
        </p:spPr>
        <p:txBody>
          <a:bodyPr rtlCol="0"/>
          <a:lstStyle/>
          <a:p>
            <a:pPr rtl="0"/>
            <a:r>
              <a:rPr lang="en-GB"/>
              <a:t>Research Methodology 4</a:t>
            </a:r>
            <a:endParaRPr lang="en-GB" dirty="0"/>
          </a:p>
        </p:txBody>
      </p:sp>
      <p:sp>
        <p:nvSpPr>
          <p:cNvPr id="22" name="Slide Number Placeholder 21">
            <a:extLst>
              <a:ext uri="{FF2B5EF4-FFF2-40B4-BE49-F238E27FC236}">
                <a16:creationId xmlns:a16="http://schemas.microsoft.com/office/drawing/2014/main" id="{5CBD950D-AC1C-726C-AE2A-F2D95C8BB5A8}"/>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19</a:t>
            </a:fld>
            <a:endParaRPr lang="en-GB"/>
          </a:p>
        </p:txBody>
      </p:sp>
    </p:spTree>
    <p:extLst>
      <p:ext uri="{BB962C8B-B14F-4D97-AF65-F5344CB8AC3E}">
        <p14:creationId xmlns:p14="http://schemas.microsoft.com/office/powerpoint/2010/main" val="580713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2DF93-0A6A-B268-C53A-96F590D00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04B9B7-2870-03E0-5449-8718D07BA24E}"/>
              </a:ext>
            </a:extLst>
          </p:cNvPr>
          <p:cNvSpPr>
            <a:spLocks noGrp="1"/>
          </p:cNvSpPr>
          <p:nvPr>
            <p:ph type="title"/>
          </p:nvPr>
        </p:nvSpPr>
        <p:spPr>
          <a:xfrm>
            <a:off x="1508760" y="4156405"/>
            <a:ext cx="3139440" cy="1325563"/>
          </a:xfrm>
        </p:spPr>
        <p:txBody>
          <a:bodyPr rtlCol="0">
            <a:normAutofit fontScale="90000"/>
          </a:bodyPr>
          <a:lstStyle/>
          <a:p>
            <a:r>
              <a:rPr lang="en-ZA" b="1" dirty="0"/>
              <a:t>So what can we learn from these examples?</a:t>
            </a:r>
            <a:endParaRPr lang="en-GB" sz="1400" dirty="0"/>
          </a:p>
        </p:txBody>
      </p:sp>
      <p:sp>
        <p:nvSpPr>
          <p:cNvPr id="3" name="Content Placeholder 2">
            <a:extLst>
              <a:ext uri="{FF2B5EF4-FFF2-40B4-BE49-F238E27FC236}">
                <a16:creationId xmlns:a16="http://schemas.microsoft.com/office/drawing/2014/main" id="{519392D3-1F96-E8D6-3240-FF6F2D17E0E9}"/>
              </a:ext>
            </a:extLst>
          </p:cNvPr>
          <p:cNvSpPr>
            <a:spLocks noGrp="1"/>
          </p:cNvSpPr>
          <p:nvPr>
            <p:ph type="body" sz="quarter" idx="13"/>
          </p:nvPr>
        </p:nvSpPr>
        <p:spPr>
          <a:xfrm>
            <a:off x="5922254" y="786385"/>
            <a:ext cx="5433204" cy="5221224"/>
          </a:xfrm>
        </p:spPr>
        <p:txBody>
          <a:bodyPr vert="horz" lIns="91440" tIns="45720" rIns="91440" bIns="45720" rtlCol="0" anchor="t">
            <a:noAutofit/>
          </a:bodyPr>
          <a:lstStyle/>
          <a:p>
            <a:r>
              <a:rPr lang="en-ZA" dirty="0"/>
              <a:t>A Golden Thread is bad when you can answer “yes” to any of these:</a:t>
            </a:r>
          </a:p>
          <a:p>
            <a:endParaRPr lang="en-ZA" dirty="0"/>
          </a:p>
          <a:p>
            <a:pPr marL="342900" lvl="0" indent="-342900">
              <a:buFont typeface="Arial" panose="020B0604020202020204" pitchFamily="34" charset="0"/>
              <a:buChar char="•"/>
            </a:pPr>
            <a:r>
              <a:rPr lang="en-ZA" dirty="0"/>
              <a:t>Does the problem talk about something different from the title?</a:t>
            </a:r>
          </a:p>
          <a:p>
            <a:pPr marL="342900" lvl="0" indent="-342900">
              <a:buFont typeface="Arial" panose="020B0604020202020204" pitchFamily="34" charset="0"/>
              <a:buChar char="•"/>
            </a:pPr>
            <a:r>
              <a:rPr lang="en-ZA" dirty="0"/>
              <a:t>Do the questions introduce a new focus that was never in the problem?</a:t>
            </a:r>
          </a:p>
          <a:p>
            <a:pPr marL="342900" lvl="0" indent="-342900">
              <a:buFont typeface="Arial" panose="020B0604020202020204" pitchFamily="34" charset="0"/>
              <a:buChar char="•"/>
            </a:pPr>
            <a:r>
              <a:rPr lang="en-ZA" dirty="0"/>
              <a:t>Do the objectives measure something the questions never asked?</a:t>
            </a:r>
          </a:p>
          <a:p>
            <a:pPr marL="342900" lvl="0" indent="-342900">
              <a:buFont typeface="Arial" panose="020B0604020202020204" pitchFamily="34" charset="0"/>
              <a:buChar char="•"/>
            </a:pPr>
            <a:r>
              <a:rPr lang="en-ZA" dirty="0"/>
              <a:t>Does the literature focus on a topic different from the questions?</a:t>
            </a:r>
          </a:p>
        </p:txBody>
      </p:sp>
      <p:sp>
        <p:nvSpPr>
          <p:cNvPr id="20" name="Date Placeholder 19">
            <a:extLst>
              <a:ext uri="{FF2B5EF4-FFF2-40B4-BE49-F238E27FC236}">
                <a16:creationId xmlns:a16="http://schemas.microsoft.com/office/drawing/2014/main" id="{99DBF969-8139-7B84-9301-3DB9E4BAD75C}"/>
              </a:ext>
            </a:extLst>
          </p:cNvPr>
          <p:cNvSpPr>
            <a:spLocks noGrp="1"/>
          </p:cNvSpPr>
          <p:nvPr>
            <p:ph type="dt" sz="half" idx="20"/>
          </p:nvPr>
        </p:nvSpPr>
        <p:spPr>
          <a:xfrm>
            <a:off x="5919680" y="6356350"/>
            <a:ext cx="947516" cy="365125"/>
          </a:xfrm>
        </p:spPr>
        <p:txBody>
          <a:bodyPr rtlCol="0"/>
          <a:lstStyle/>
          <a:p>
            <a:r>
              <a:rPr lang="en-GB" dirty="0"/>
              <a:t>February 2026</a:t>
            </a:r>
          </a:p>
        </p:txBody>
      </p:sp>
      <p:sp>
        <p:nvSpPr>
          <p:cNvPr id="21" name="Footer Placeholder 20">
            <a:extLst>
              <a:ext uri="{FF2B5EF4-FFF2-40B4-BE49-F238E27FC236}">
                <a16:creationId xmlns:a16="http://schemas.microsoft.com/office/drawing/2014/main" id="{F069576D-DEB3-DE8A-F66D-605F7645E37F}"/>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052FA4A1-BB59-E050-7D93-F1B733273D6D}"/>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20</a:t>
            </a:fld>
            <a:endParaRPr lang="en-GB"/>
          </a:p>
        </p:txBody>
      </p:sp>
    </p:spTree>
    <p:extLst>
      <p:ext uri="{BB962C8B-B14F-4D97-AF65-F5344CB8AC3E}">
        <p14:creationId xmlns:p14="http://schemas.microsoft.com/office/powerpoint/2010/main" val="24911728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28180-BA2D-4E08-C872-051C29FDBC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09BECA-33DC-CB3E-3EE3-C1425F2F0AF4}"/>
              </a:ext>
            </a:extLst>
          </p:cNvPr>
          <p:cNvSpPr>
            <a:spLocks noGrp="1"/>
          </p:cNvSpPr>
          <p:nvPr>
            <p:ph type="title"/>
          </p:nvPr>
        </p:nvSpPr>
        <p:spPr>
          <a:xfrm>
            <a:off x="1" y="818388"/>
            <a:ext cx="3971498" cy="1325563"/>
          </a:xfrm>
        </p:spPr>
        <p:style>
          <a:lnRef idx="2">
            <a:schemeClr val="dk1"/>
          </a:lnRef>
          <a:fillRef idx="1">
            <a:schemeClr val="lt1"/>
          </a:fillRef>
          <a:effectRef idx="0">
            <a:schemeClr val="dk1"/>
          </a:effectRef>
          <a:fontRef idx="minor">
            <a:schemeClr val="dk1"/>
          </a:fontRef>
        </p:style>
        <p:txBody>
          <a:bodyPr rtlCol="0">
            <a:normAutofit fontScale="90000"/>
          </a:bodyPr>
          <a:lstStyle/>
          <a:p>
            <a:r>
              <a:rPr lang="en-ZA" b="1" dirty="0"/>
              <a:t>K. Tutorial Question: The Golden Thread </a:t>
            </a:r>
            <a:br>
              <a:rPr lang="en-ZA" b="1" dirty="0"/>
            </a:br>
            <a:r>
              <a:rPr lang="en-ZA" b="1" dirty="0"/>
              <a:t>(5 blanks)</a:t>
            </a:r>
            <a:endParaRPr lang="en-GB" sz="1400" dirty="0"/>
          </a:p>
        </p:txBody>
      </p:sp>
      <p:sp>
        <p:nvSpPr>
          <p:cNvPr id="3" name="Content Placeholder 2">
            <a:extLst>
              <a:ext uri="{FF2B5EF4-FFF2-40B4-BE49-F238E27FC236}">
                <a16:creationId xmlns:a16="http://schemas.microsoft.com/office/drawing/2014/main" id="{263752D4-37BE-92CA-62E7-C81C0C0F357B}"/>
              </a:ext>
            </a:extLst>
          </p:cNvPr>
          <p:cNvSpPr>
            <a:spLocks noGrp="1"/>
          </p:cNvSpPr>
          <p:nvPr>
            <p:ph type="body" sz="quarter" idx="13"/>
          </p:nvPr>
        </p:nvSpPr>
        <p:spPr>
          <a:xfrm>
            <a:off x="4394434" y="818388"/>
            <a:ext cx="7652138" cy="5221224"/>
          </a:xfrm>
        </p:spPr>
        <p:txBody>
          <a:bodyPr vert="horz" lIns="91440" tIns="45720" rIns="91440" bIns="45720" rtlCol="0" anchor="t">
            <a:noAutofit/>
          </a:bodyPr>
          <a:lstStyle/>
          <a:p>
            <a:r>
              <a:rPr lang="en-ZA" dirty="0"/>
              <a:t>In the Golden Thread lecture, we learned that research coherence depends on the logical </a:t>
            </a:r>
            <a:r>
              <a:rPr lang="en-ZA" b="1" dirty="0"/>
              <a:t>(1) ________</a:t>
            </a:r>
            <a:r>
              <a:rPr lang="en-ZA" dirty="0"/>
              <a:t> of the core components of a study. A strong thread begins when the </a:t>
            </a:r>
            <a:r>
              <a:rPr lang="en-ZA" b="1" dirty="0"/>
              <a:t>title</a:t>
            </a:r>
            <a:r>
              <a:rPr lang="en-ZA" dirty="0"/>
              <a:t> signals the same focus that the </a:t>
            </a:r>
            <a:r>
              <a:rPr lang="en-ZA" b="1" dirty="0"/>
              <a:t>(2) ________</a:t>
            </a:r>
            <a:r>
              <a:rPr lang="en-ZA" dirty="0"/>
              <a:t> explains and justifies. From there, research questions must be </a:t>
            </a:r>
            <a:r>
              <a:rPr lang="en-ZA" b="1" dirty="0"/>
              <a:t>(3) ________</a:t>
            </a:r>
            <a:r>
              <a:rPr lang="en-ZA" dirty="0"/>
              <a:t> from the problem rather than introduced as new interests, and objectives must translate each question into practical steps so that nothing important is left uninvestigated. Finally, the literature and theory should be selected because they directly </a:t>
            </a:r>
            <a:r>
              <a:rPr lang="en-ZA" b="1" dirty="0"/>
              <a:t>(4) ________</a:t>
            </a:r>
            <a:r>
              <a:rPr lang="en-ZA" dirty="0"/>
              <a:t> the research questions, helping the reader see why your study matters and how your approach is justified. When these links are clear, a reader can trace your argument from start to finish without confusion, which is the essence of </a:t>
            </a:r>
            <a:r>
              <a:rPr lang="en-ZA" b="1" dirty="0"/>
              <a:t>(5) ________</a:t>
            </a:r>
            <a:r>
              <a:rPr lang="en-ZA" dirty="0"/>
              <a:t>.</a:t>
            </a:r>
          </a:p>
        </p:txBody>
      </p:sp>
      <p:sp>
        <p:nvSpPr>
          <p:cNvPr id="20" name="Date Placeholder 19">
            <a:extLst>
              <a:ext uri="{FF2B5EF4-FFF2-40B4-BE49-F238E27FC236}">
                <a16:creationId xmlns:a16="http://schemas.microsoft.com/office/drawing/2014/main" id="{D5CC4E01-ECCF-8B30-B3EF-2EBA1F84D19C}"/>
              </a:ext>
            </a:extLst>
          </p:cNvPr>
          <p:cNvSpPr>
            <a:spLocks noGrp="1"/>
          </p:cNvSpPr>
          <p:nvPr>
            <p:ph type="dt" sz="half" idx="20"/>
          </p:nvPr>
        </p:nvSpPr>
        <p:spPr>
          <a:xfrm>
            <a:off x="5919680" y="6356350"/>
            <a:ext cx="947516" cy="365125"/>
          </a:xfrm>
        </p:spPr>
        <p:txBody>
          <a:bodyPr rtlCol="0"/>
          <a:lstStyle/>
          <a:p>
            <a:r>
              <a:rPr lang="en-GB" dirty="0"/>
              <a:t>February 2026</a:t>
            </a:r>
          </a:p>
        </p:txBody>
      </p:sp>
      <p:sp>
        <p:nvSpPr>
          <p:cNvPr id="21" name="Footer Placeholder 20">
            <a:extLst>
              <a:ext uri="{FF2B5EF4-FFF2-40B4-BE49-F238E27FC236}">
                <a16:creationId xmlns:a16="http://schemas.microsoft.com/office/drawing/2014/main" id="{A3F5611D-FEE4-AB92-FE09-F7D7A35EC508}"/>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92C1A640-FF54-8E7D-65EE-204708DFC2D0}"/>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21</a:t>
            </a:fld>
            <a:endParaRPr lang="en-GB"/>
          </a:p>
        </p:txBody>
      </p:sp>
      <p:sp>
        <p:nvSpPr>
          <p:cNvPr id="4" name="Title 1">
            <a:extLst>
              <a:ext uri="{FF2B5EF4-FFF2-40B4-BE49-F238E27FC236}">
                <a16:creationId xmlns:a16="http://schemas.microsoft.com/office/drawing/2014/main" id="{12100A8C-CBAA-1836-797D-7F7AD0101EA2}"/>
              </a:ext>
            </a:extLst>
          </p:cNvPr>
          <p:cNvSpPr txBox="1">
            <a:spLocks/>
          </p:cNvSpPr>
          <p:nvPr/>
        </p:nvSpPr>
        <p:spPr>
          <a:xfrm>
            <a:off x="0" y="3127135"/>
            <a:ext cx="4339988" cy="346473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97500"/>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ZA" b="1" dirty="0"/>
              <a:t>Answer Bank </a:t>
            </a:r>
          </a:p>
          <a:p>
            <a:r>
              <a:rPr lang="en-ZA" b="1" dirty="0"/>
              <a:t>(6 options)</a:t>
            </a:r>
          </a:p>
          <a:p>
            <a:endParaRPr lang="en-ZA" dirty="0"/>
          </a:p>
          <a:p>
            <a:r>
              <a:rPr lang="en-ZA" dirty="0"/>
              <a:t>A. support</a:t>
            </a:r>
            <a:br>
              <a:rPr lang="en-ZA" dirty="0"/>
            </a:br>
            <a:r>
              <a:rPr lang="en-ZA" dirty="0"/>
              <a:t>B. data</a:t>
            </a:r>
            <a:br>
              <a:rPr lang="en-ZA" dirty="0"/>
            </a:br>
            <a:r>
              <a:rPr lang="en-ZA" dirty="0"/>
              <a:t>C. derived</a:t>
            </a:r>
            <a:br>
              <a:rPr lang="en-ZA" dirty="0"/>
            </a:br>
            <a:r>
              <a:rPr lang="en-ZA" dirty="0"/>
              <a:t>D. alignment </a:t>
            </a:r>
            <a:br>
              <a:rPr lang="en-ZA" dirty="0"/>
            </a:br>
            <a:r>
              <a:rPr lang="en-ZA" dirty="0"/>
              <a:t>E. coherence</a:t>
            </a:r>
            <a:br>
              <a:rPr lang="en-ZA" dirty="0"/>
            </a:br>
            <a:r>
              <a:rPr lang="en-ZA" dirty="0"/>
              <a:t>F. Problem Statement </a:t>
            </a:r>
          </a:p>
        </p:txBody>
      </p:sp>
    </p:spTree>
    <p:extLst>
      <p:ext uri="{BB962C8B-B14F-4D97-AF65-F5344CB8AC3E}">
        <p14:creationId xmlns:p14="http://schemas.microsoft.com/office/powerpoint/2010/main" val="23856571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76BA5-8D0F-D384-0170-23FF74213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BE411A-5AB4-E559-AB3A-3CC29B79F4E4}"/>
              </a:ext>
            </a:extLst>
          </p:cNvPr>
          <p:cNvSpPr>
            <a:spLocks noGrp="1"/>
          </p:cNvSpPr>
          <p:nvPr>
            <p:ph type="title"/>
          </p:nvPr>
        </p:nvSpPr>
        <p:spPr>
          <a:xfrm>
            <a:off x="1" y="818388"/>
            <a:ext cx="3971498" cy="1325563"/>
          </a:xfrm>
        </p:spPr>
        <p:style>
          <a:lnRef idx="2">
            <a:schemeClr val="dk1"/>
          </a:lnRef>
          <a:fillRef idx="1">
            <a:schemeClr val="lt1"/>
          </a:fillRef>
          <a:effectRef idx="0">
            <a:schemeClr val="dk1"/>
          </a:effectRef>
          <a:fontRef idx="minor">
            <a:schemeClr val="dk1"/>
          </a:fontRef>
        </p:style>
        <p:txBody>
          <a:bodyPr rtlCol="0">
            <a:normAutofit fontScale="90000"/>
          </a:bodyPr>
          <a:lstStyle/>
          <a:p>
            <a:r>
              <a:rPr lang="en-ZA" b="1" dirty="0"/>
              <a:t>K. Tutorial Question: The Golden Thread </a:t>
            </a:r>
            <a:br>
              <a:rPr lang="en-ZA" b="1" dirty="0"/>
            </a:br>
            <a:r>
              <a:rPr lang="en-ZA" b="1" dirty="0"/>
              <a:t>(5 blanks)</a:t>
            </a:r>
            <a:endParaRPr lang="en-GB" sz="1400" dirty="0"/>
          </a:p>
        </p:txBody>
      </p:sp>
      <p:sp>
        <p:nvSpPr>
          <p:cNvPr id="3" name="Content Placeholder 2">
            <a:extLst>
              <a:ext uri="{FF2B5EF4-FFF2-40B4-BE49-F238E27FC236}">
                <a16:creationId xmlns:a16="http://schemas.microsoft.com/office/drawing/2014/main" id="{559010C9-77D3-9D4C-3368-AAA7E769DFA5}"/>
              </a:ext>
            </a:extLst>
          </p:cNvPr>
          <p:cNvSpPr>
            <a:spLocks noGrp="1"/>
          </p:cNvSpPr>
          <p:nvPr>
            <p:ph type="body" sz="quarter" idx="13"/>
          </p:nvPr>
        </p:nvSpPr>
        <p:spPr>
          <a:xfrm>
            <a:off x="4394434" y="818388"/>
            <a:ext cx="7652138" cy="5221224"/>
          </a:xfrm>
        </p:spPr>
        <p:txBody>
          <a:bodyPr vert="horz" lIns="91440" tIns="45720" rIns="91440" bIns="45720" rtlCol="0" anchor="t">
            <a:noAutofit/>
          </a:bodyPr>
          <a:lstStyle/>
          <a:p>
            <a:r>
              <a:rPr lang="en-ZA" dirty="0"/>
              <a:t>In the Golden Thread lecture, we learned that research coherence depends on the logical </a:t>
            </a:r>
            <a:r>
              <a:rPr lang="en-ZA" b="1" dirty="0"/>
              <a:t>(1) </a:t>
            </a:r>
            <a:r>
              <a:rPr lang="en-ZA" dirty="0">
                <a:highlight>
                  <a:srgbClr val="FFFF00"/>
                </a:highlight>
              </a:rPr>
              <a:t>D. alignment </a:t>
            </a:r>
            <a:r>
              <a:rPr lang="en-ZA" dirty="0"/>
              <a:t>of the core components of a study. A strong thread begins when the </a:t>
            </a:r>
            <a:r>
              <a:rPr lang="en-ZA" b="1" dirty="0"/>
              <a:t>title</a:t>
            </a:r>
            <a:r>
              <a:rPr lang="en-ZA" dirty="0"/>
              <a:t> signals the same focus that the </a:t>
            </a:r>
            <a:r>
              <a:rPr lang="en-ZA" b="1" dirty="0"/>
              <a:t>(2) </a:t>
            </a:r>
            <a:r>
              <a:rPr lang="en-ZA" dirty="0">
                <a:highlight>
                  <a:srgbClr val="FFFF00"/>
                </a:highlight>
              </a:rPr>
              <a:t>F. Problem Statement</a:t>
            </a:r>
            <a:r>
              <a:rPr lang="en-ZA" dirty="0"/>
              <a:t> explains and justifies. From there, research questions must be </a:t>
            </a:r>
            <a:r>
              <a:rPr lang="en-ZA" b="1" dirty="0"/>
              <a:t>(3) </a:t>
            </a:r>
            <a:r>
              <a:rPr lang="en-ZA" dirty="0">
                <a:highlight>
                  <a:srgbClr val="FFFF00"/>
                </a:highlight>
              </a:rPr>
              <a:t>C. derived </a:t>
            </a:r>
            <a:r>
              <a:rPr lang="en-ZA" dirty="0"/>
              <a:t>from the problem rather than introduced as new interests, and objectives must translate each question into practical steps so that nothing important is left uninvestigated. Finally, the literature and theory should be selected because they directly </a:t>
            </a:r>
            <a:r>
              <a:rPr lang="en-ZA" b="1" dirty="0"/>
              <a:t>(4) </a:t>
            </a:r>
            <a:r>
              <a:rPr lang="en-ZA" dirty="0">
                <a:highlight>
                  <a:srgbClr val="FFFF00"/>
                </a:highlight>
              </a:rPr>
              <a:t>A. support </a:t>
            </a:r>
            <a:r>
              <a:rPr lang="en-ZA" dirty="0"/>
              <a:t>the research questions, helping the reader see why your study matters and how your approach is justified. When these links are clear, a reader can trace your argument from start to finish without confusion, which is the essence of </a:t>
            </a:r>
            <a:r>
              <a:rPr lang="en-ZA" b="1" dirty="0"/>
              <a:t>(5) </a:t>
            </a:r>
            <a:r>
              <a:rPr lang="en-ZA" dirty="0">
                <a:highlight>
                  <a:srgbClr val="FFFF00"/>
                </a:highlight>
              </a:rPr>
              <a:t>E. coherence</a:t>
            </a:r>
          </a:p>
        </p:txBody>
      </p:sp>
      <p:sp>
        <p:nvSpPr>
          <p:cNvPr id="20" name="Date Placeholder 19">
            <a:extLst>
              <a:ext uri="{FF2B5EF4-FFF2-40B4-BE49-F238E27FC236}">
                <a16:creationId xmlns:a16="http://schemas.microsoft.com/office/drawing/2014/main" id="{92C61780-8FD6-67D6-542C-06905F834684}"/>
              </a:ext>
            </a:extLst>
          </p:cNvPr>
          <p:cNvSpPr>
            <a:spLocks noGrp="1"/>
          </p:cNvSpPr>
          <p:nvPr>
            <p:ph type="dt" sz="half" idx="20"/>
          </p:nvPr>
        </p:nvSpPr>
        <p:spPr>
          <a:xfrm>
            <a:off x="5919680" y="6356350"/>
            <a:ext cx="947516" cy="365125"/>
          </a:xfrm>
        </p:spPr>
        <p:txBody>
          <a:bodyPr rtlCol="0"/>
          <a:lstStyle/>
          <a:p>
            <a:r>
              <a:rPr lang="en-GB" dirty="0"/>
              <a:t>February 2026</a:t>
            </a:r>
          </a:p>
        </p:txBody>
      </p:sp>
      <p:sp>
        <p:nvSpPr>
          <p:cNvPr id="21" name="Footer Placeholder 20">
            <a:extLst>
              <a:ext uri="{FF2B5EF4-FFF2-40B4-BE49-F238E27FC236}">
                <a16:creationId xmlns:a16="http://schemas.microsoft.com/office/drawing/2014/main" id="{1FF7215D-635F-AEA6-CD25-527E3F4AF236}"/>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D16331B9-04B3-6BEE-FB3F-BEDFBF2EA219}"/>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22</a:t>
            </a:fld>
            <a:endParaRPr lang="en-GB"/>
          </a:p>
        </p:txBody>
      </p:sp>
      <p:sp>
        <p:nvSpPr>
          <p:cNvPr id="4" name="Title 1">
            <a:extLst>
              <a:ext uri="{FF2B5EF4-FFF2-40B4-BE49-F238E27FC236}">
                <a16:creationId xmlns:a16="http://schemas.microsoft.com/office/drawing/2014/main" id="{111EFF02-AFB1-9B71-B443-801E835ADD06}"/>
              </a:ext>
            </a:extLst>
          </p:cNvPr>
          <p:cNvSpPr txBox="1">
            <a:spLocks/>
          </p:cNvSpPr>
          <p:nvPr/>
        </p:nvSpPr>
        <p:spPr>
          <a:xfrm>
            <a:off x="0" y="3127135"/>
            <a:ext cx="4339988" cy="3464734"/>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b">
            <a:normAutofit fontScale="97500"/>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ZA" b="1" dirty="0"/>
              <a:t>Answer Bank </a:t>
            </a:r>
          </a:p>
          <a:p>
            <a:r>
              <a:rPr lang="en-ZA" b="1" dirty="0"/>
              <a:t>(6 options)</a:t>
            </a:r>
          </a:p>
          <a:p>
            <a:endParaRPr lang="en-ZA" dirty="0"/>
          </a:p>
          <a:p>
            <a:r>
              <a:rPr lang="en-ZA" dirty="0"/>
              <a:t>A. support</a:t>
            </a:r>
            <a:br>
              <a:rPr lang="en-ZA" dirty="0"/>
            </a:br>
            <a:r>
              <a:rPr lang="en-ZA" dirty="0"/>
              <a:t>B. data</a:t>
            </a:r>
            <a:br>
              <a:rPr lang="en-ZA" dirty="0"/>
            </a:br>
            <a:r>
              <a:rPr lang="en-ZA" dirty="0"/>
              <a:t>C. derived</a:t>
            </a:r>
            <a:br>
              <a:rPr lang="en-ZA" dirty="0"/>
            </a:br>
            <a:r>
              <a:rPr lang="en-ZA" dirty="0"/>
              <a:t>D. alignment </a:t>
            </a:r>
            <a:br>
              <a:rPr lang="en-ZA" dirty="0"/>
            </a:br>
            <a:r>
              <a:rPr lang="en-ZA" dirty="0"/>
              <a:t>E. coherence</a:t>
            </a:r>
            <a:br>
              <a:rPr lang="en-ZA" dirty="0"/>
            </a:br>
            <a:r>
              <a:rPr lang="en-ZA" dirty="0"/>
              <a:t>F. Problem Statement </a:t>
            </a:r>
          </a:p>
        </p:txBody>
      </p:sp>
    </p:spTree>
    <p:extLst>
      <p:ext uri="{BB962C8B-B14F-4D97-AF65-F5344CB8AC3E}">
        <p14:creationId xmlns:p14="http://schemas.microsoft.com/office/powerpoint/2010/main" val="4141034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rtlCol="0"/>
          <a:lstStyle/>
          <a:p>
            <a:pPr rtl="0"/>
            <a:r>
              <a:rPr lang="en-GB"/>
              <a:t>THANK YOU</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rtlCol="0">
            <a:normAutofit/>
          </a:bodyPr>
          <a:lstStyle/>
          <a:p>
            <a:pPr rtl="0"/>
            <a:r>
              <a:rPr lang="en-GB" dirty="0"/>
              <a:t>Q&amp;A</a:t>
            </a:r>
          </a:p>
        </p:txBody>
      </p:sp>
      <p:sp>
        <p:nvSpPr>
          <p:cNvPr id="4" name="Date Placeholder 3">
            <a:extLst>
              <a:ext uri="{FF2B5EF4-FFF2-40B4-BE49-F238E27FC236}">
                <a16:creationId xmlns:a16="http://schemas.microsoft.com/office/drawing/2014/main" id="{72DA7980-C870-4C9A-84FA-4120D8AF5DE8}"/>
              </a:ext>
            </a:extLst>
          </p:cNvPr>
          <p:cNvSpPr>
            <a:spLocks noGrp="1"/>
          </p:cNvSpPr>
          <p:nvPr>
            <p:ph type="dt" sz="half" idx="10"/>
          </p:nvPr>
        </p:nvSpPr>
        <p:spPr>
          <a:xfrm>
            <a:off x="4267200" y="6356350"/>
            <a:ext cx="1774371" cy="365125"/>
          </a:xfrm>
        </p:spPr>
        <p:txBody>
          <a:bodyPr rtlCol="0"/>
          <a:lstStyle/>
          <a:p>
            <a:pPr rtl="0"/>
            <a:r>
              <a:rPr lang="en-GB" dirty="0"/>
              <a:t>February 2026</a:t>
            </a:r>
          </a:p>
        </p:txBody>
      </p:sp>
      <p:sp>
        <p:nvSpPr>
          <p:cNvPr id="5" name="Footer Placeholder 4">
            <a:extLst>
              <a:ext uri="{FF2B5EF4-FFF2-40B4-BE49-F238E27FC236}">
                <a16:creationId xmlns:a16="http://schemas.microsoft.com/office/drawing/2014/main" id="{0DFADE42-1A3F-40C8-A071-E57644F3D843}"/>
              </a:ext>
            </a:extLst>
          </p:cNvPr>
          <p:cNvSpPr>
            <a:spLocks noGrp="1"/>
          </p:cNvSpPr>
          <p:nvPr>
            <p:ph type="ftr" sz="quarter" idx="11"/>
          </p:nvPr>
        </p:nvSpPr>
        <p:spPr>
          <a:xfrm>
            <a:off x="6479721" y="6356350"/>
            <a:ext cx="2661557" cy="365125"/>
          </a:xfrm>
        </p:spPr>
        <p:txBody>
          <a:bodyPr rtlCol="0"/>
          <a:lstStyle/>
          <a:p>
            <a:r>
              <a:rPr lang="en-GB" dirty="0"/>
              <a:t>Research Methodology 4</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rtlCol="0"/>
          <a:lstStyle/>
          <a:p>
            <a:pPr rtl="0"/>
            <a:fld id="{B5CEABB6-07DC-46E8-9B57-56EC44A396E5}" type="slidenum">
              <a:rPr lang="en-GB" smtClean="0"/>
              <a:pPr rtl="0"/>
              <a:t>23</a:t>
            </a:fld>
            <a:endParaRPr lang="en-GB"/>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419047_TF22318419_Win32" id="{DA6E7C03-7C07-46B9-8D9D-F061C4AB5C28}" vid="{0874F78C-8308-4EE6-8F19-85387B86915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446390-8521-40A2-A462-EA068123BED9}">
  <ds:schemaRefs>
    <ds:schemaRef ds:uri="http://schemas.microsoft.com/sharepoint/v3/contenttype/forms"/>
  </ds:schemaRefs>
</ds:datastoreItem>
</file>

<file path=customXml/itemProps2.xml><?xml version="1.0" encoding="utf-8"?>
<ds:datastoreItem xmlns:ds="http://schemas.openxmlformats.org/officeDocument/2006/customXml" ds:itemID="{B5BA3906-9696-4247-AC0D-DD5C26B2A70A}">
  <ds:schemaRefs>
    <ds:schemaRef ds:uri="http://schemas.microsoft.com/office/2006/documentManagement/types"/>
    <ds:schemaRef ds:uri="http://purl.org/dc/dcmitype/"/>
    <ds:schemaRef ds:uri="http://www.w3.org/XML/1998/namespace"/>
    <ds:schemaRef ds:uri="http://schemas.microsoft.com/office/2006/metadata/properties"/>
    <ds:schemaRef ds:uri="http://purl.org/dc/terms/"/>
    <ds:schemaRef ds:uri="http://purl.org/dc/elements/1.1/"/>
    <ds:schemaRef ds:uri="http://schemas.microsoft.com/office/infopath/2007/PartnerControls"/>
    <ds:schemaRef ds:uri="http://schemas.openxmlformats.org/package/2006/metadata/core-properties"/>
    <ds:schemaRef ds:uri="230e9df3-be65-4c73-a93b-d1236ebd677e"/>
    <ds:schemaRef ds:uri="16c05727-aa75-4e4a-9b5f-8a80a1165891"/>
    <ds:schemaRef ds:uri="71af3243-3dd4-4a8d-8c0d-dd76da1f02a5"/>
    <ds:schemaRef ds:uri="http://schemas.microsoft.com/sharepoint/v3"/>
  </ds:schemaRefs>
</ds:datastoreItem>
</file>

<file path=customXml/itemProps3.xml><?xml version="1.0" encoding="utf-8"?>
<ds:datastoreItem xmlns:ds="http://schemas.openxmlformats.org/officeDocument/2006/customXml" ds:itemID="{01E84A1C-2814-43A7-9448-348326113A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{D75B5483-2B77-44A9-A6C5-9F68A8A1B7DC}tf22318419_win32</Template>
  <TotalTime>813</TotalTime>
  <Words>2125</Words>
  <Application>Microsoft Office PowerPoint</Application>
  <PresentationFormat>Widescreen</PresentationFormat>
  <Paragraphs>246</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Cambria</vt:lpstr>
      <vt:lpstr>Tenorite</vt:lpstr>
      <vt:lpstr>Monoline</vt:lpstr>
      <vt:lpstr>Semester ONE - Week 5 – TOPIC 5</vt:lpstr>
      <vt:lpstr>The concept of the Golden Thread in your study</vt:lpstr>
      <vt:lpstr>The concept of the Golden Thread in your study</vt:lpstr>
      <vt:lpstr>A. Why is the Golden Thread important in research?</vt:lpstr>
      <vt:lpstr>B. The essence of the Golden Thread  Think of the Golden Thread as a guiding line running through your entire project:</vt:lpstr>
      <vt:lpstr>C. Importance of consistency across the research components </vt:lpstr>
      <vt:lpstr>D. Alignment in methodology </vt:lpstr>
      <vt:lpstr>E. Drawing conclusions that tie back</vt:lpstr>
      <vt:lpstr>F. Transparency and clarity</vt:lpstr>
      <vt:lpstr>G. Analogy: a lawyer in court  The Golden Thread is like a well-constructed legal argument: </vt:lpstr>
      <vt:lpstr>H. Practical Golden Thread checklist</vt:lpstr>
      <vt:lpstr>J. Examples of a Good Golden Thread and a Bad Golden Thread</vt:lpstr>
      <vt:lpstr>J. Examples of a Good Golden Thread and a Bad Golden Thread</vt:lpstr>
      <vt:lpstr>J. Examples of a Good Golden Thread and a Bad Golden Thread</vt:lpstr>
      <vt:lpstr>J. Examples of a Good Golden Thread and a Bad Golden Thread</vt:lpstr>
      <vt:lpstr>J. Examples of a Good Golden Thread and a Bad Golden Thread</vt:lpstr>
      <vt:lpstr>J. Examples of a Good Golden Thread and a Bad Golden Thread</vt:lpstr>
      <vt:lpstr>J. Examples of a Good Golden Thread and a Bad Golden Thread</vt:lpstr>
      <vt:lpstr>J. Examples of a Good Golden Thread and a Bad Golden Thread</vt:lpstr>
      <vt:lpstr>So what can we learn from these examples?</vt:lpstr>
      <vt:lpstr>K. Tutorial Question: The Golden Thread  (5 blanks)</vt:lpstr>
      <vt:lpstr>K. Tutorial Question: The Golden Thread  (5 blanks)</vt:lpstr>
      <vt:lpstr>THANK YOU</vt:lpstr>
    </vt:vector>
  </TitlesOfParts>
  <Company>Cape Peninsula University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Errol Francke</dc:creator>
  <cp:lastModifiedBy>Errol Francke</cp:lastModifiedBy>
  <cp:revision>3</cp:revision>
  <dcterms:created xsi:type="dcterms:W3CDTF">2025-07-14T08:47:44Z</dcterms:created>
  <dcterms:modified xsi:type="dcterms:W3CDTF">2026-02-28T06:41:05Z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