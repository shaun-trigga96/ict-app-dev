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9" r:id="rId6"/>
    <p:sldId id="305" r:id="rId7"/>
    <p:sldId id="262" r:id="rId8"/>
    <p:sldId id="306" r:id="rId9"/>
    <p:sldId id="278" r:id="rId10"/>
    <p:sldId id="294" r:id="rId11"/>
    <p:sldId id="307" r:id="rId12"/>
    <p:sldId id="295" r:id="rId13"/>
    <p:sldId id="296" r:id="rId14"/>
    <p:sldId id="308" r:id="rId15"/>
    <p:sldId id="300" r:id="rId16"/>
    <p:sldId id="309" r:id="rId17"/>
    <p:sldId id="310" r:id="rId18"/>
    <p:sldId id="301" r:id="rId19"/>
    <p:sldId id="311" r:id="rId20"/>
    <p:sldId id="312" r:id="rId21"/>
    <p:sldId id="313" r:id="rId22"/>
    <p:sldId id="276" r:id="rId2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A5E77E-E282-4E16-B890-485BF35BCB8D}" v="29" dt="2026-02-02T17:32:20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8" y="6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02/Feb/26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02/Feb/26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907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7C80-383F-91B1-4251-984255AC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D11AF-AA64-295A-15B8-B24E15EB2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CBB2B-066D-1BA7-44F9-E188B1CF6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C81B3-0096-B45D-CB3D-0DF1AE11F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9195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6065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F664-45FE-AA62-EC71-FA896A5C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2A161-E93A-0A5C-4F63-9F54B4083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B3773-9417-7E17-9CEC-B68201ECD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582D6-73FA-1289-916E-A6D6EB89E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646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97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7C77-A7B6-76C8-EA77-D8DA478C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D32E5-0DD0-4513-A8F1-AD3ED5866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73AF2-63B9-789C-9519-BD00442ED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9D9A-ADB9-FDFD-1638-5B73FA4B4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274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D359-E757-524D-C2A6-EBBFA378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AA0F2-4FCB-F1FD-ED51-864352586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4D76D-99C3-62B8-EC9F-16B6B9DDE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0D2FF-FD59-B5A2-8AD4-EBC61A2B6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492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EA747-A9C6-765C-FAB4-D22158C5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F799F-ECDB-9D57-895E-C462EBA00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C401B-9826-CFC7-4667-195EE6BDF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D6110-6340-F1B2-3673-E85F3859C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653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9C9DC-453B-BE94-7D0C-0D9180CC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B245F-8743-780A-2564-4BD40A1CC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514C8-B5FE-5D6F-CE47-D4C61AA9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F4F41-3B62-468D-E429-BA87AD3D5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612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A99F-91F0-DDF4-02F5-ADE60058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66711-1DD2-9CCD-2D6C-2A53EA07F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718F7-0360-A797-4368-4033FF38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690F6-F2B5-0D3D-92F9-1EE349766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515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FB27-ECBC-EABB-FADD-C5A7074E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7970C-E518-7E9D-68E4-2D2D00132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E84B7-9618-3EF9-FC44-CF4101D7F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464CF-9891-56DE-5202-1C2B98BCA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544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8104-D622-D893-82CE-235FA0B3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90A0F-067C-D849-F7C3-616061BC0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6C26E-D9BD-40D2-05B3-89A7A2648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7E90F-99FD-351A-A1A6-B8BAC04D0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177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21C7-0445-5B10-0BED-9EE8F5825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C8132-BB76-F64C-95C8-EEDFAD6C3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C01FF-8722-E58D-CF3B-79B70E514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66CDD-D01A-7968-4B9F-6D2C05C7C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16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FAFF-1370-82E5-227B-2F00602E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8E11C-1FCA-F839-5F55-DADBCF1C3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82F53-8CAC-710F-EA81-8673ACC85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ECCD9-2B2F-E4BE-BF14-4E92BEC27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97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50CC-0B75-350E-188D-1CD896CB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E4524-1C66-50B8-3436-7844BCEEA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F72A7-E95B-9F78-751B-851E6A716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4898E-609D-CF94-5142-4EA70B1A4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190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607D-1A3A-F1B9-807B-6E58EE6E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D9009-A041-8876-FE30-CF37F80C5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A3BCA-203A-057A-D5C1-16F3B97C1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91299-1348-EF36-2D20-F3D7EFA1A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19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6B469-3FFD-6334-A3D6-D94DC701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360A2-9120-8453-6C33-ADCB1F8F8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7974E-B544-E374-0D27-20509FD4F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3DFCE-594A-9F74-E570-88DB5A480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710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14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n-GB" dirty="0"/>
              <a:t>Semester ONE - Week 1 – TOPIC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Research: A Way of Thinking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858768" cy="1325563"/>
          </a:xfrm>
        </p:spPr>
        <p:txBody>
          <a:bodyPr rtlCol="0"/>
          <a:lstStyle/>
          <a:p>
            <a:pPr rtl="0"/>
            <a:r>
              <a:rPr lang="en-GB" dirty="0"/>
              <a:t>1. </a:t>
            </a:r>
            <a:r>
              <a:rPr lang="en-US" dirty="0"/>
              <a:t>Research: </a:t>
            </a:r>
            <a:br>
              <a:rPr lang="en-US" dirty="0"/>
            </a:br>
            <a:r>
              <a:rPr lang="en-US" dirty="0"/>
              <a:t>A Way of Thinking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786385"/>
            <a:ext cx="5433204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 rtl="0"/>
            <a:r>
              <a:rPr lang="en-US" sz="2800" dirty="0"/>
              <a:t>This course introduces you as an Advanced Diploma in ICT student to research, a disciplined way of thinking that helps you transition from opinions and assumptions to evidence-based decisions. </a:t>
            </a:r>
            <a:r>
              <a:rPr lang="en-US" sz="1400" dirty="0"/>
              <a:t>(Kumar, 2011).</a:t>
            </a:r>
            <a:endParaRPr lang="en-GB" sz="1400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7D58F-19A1-5C79-530C-10255FA1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51E9-A1EB-EE64-40BF-F68000AB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4156405"/>
            <a:ext cx="3858768" cy="1325563"/>
          </a:xfrm>
        </p:spPr>
        <p:txBody>
          <a:bodyPr rtlCol="0"/>
          <a:lstStyle/>
          <a:p>
            <a:pPr rtl="0"/>
            <a:r>
              <a:rPr lang="en-GB" dirty="0"/>
              <a:t>1. </a:t>
            </a:r>
            <a:r>
              <a:rPr lang="en-US" dirty="0"/>
              <a:t>Research: </a:t>
            </a:r>
            <a:br>
              <a:rPr lang="en-US" dirty="0"/>
            </a:br>
            <a:r>
              <a:rPr lang="en-US" dirty="0"/>
              <a:t>A Way of Thinking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C650-79F1-7ECA-4A2F-B3A80FEDB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4568" y="786385"/>
            <a:ext cx="7434072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n-US" sz="2800" dirty="0"/>
              <a:t>Your prescribed text, Kumar (2011:22), explains that research is more than a set of skills; it is a habit of critical questioning and systematic examination of what you observe in practice. 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n-US" sz="2800" dirty="0"/>
              <a:t>In ICT contexts, this means you do not simply assume that a system is slow, users are unhappy, or an AI tool is accurate. 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n-US" sz="2800" dirty="0"/>
              <a:t>You learn to ask clear questions, gather appropriate data, and justify decisions using reliable evidence.</a:t>
            </a:r>
            <a:endParaRPr lang="en-GB" sz="1400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B32DB010-1DF3-1ABF-2D9E-5F42DA323B4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8E66D45-31B7-35CE-E284-488BEB498A9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57EC172-6B21-EE33-4741-0EA32E1BD89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09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891329"/>
            <a:ext cx="10823448" cy="5344879"/>
          </a:xfrm>
        </p:spPr>
        <p:txBody>
          <a:bodyPr rtlCol="0">
            <a:normAutofit/>
          </a:bodyPr>
          <a:lstStyle/>
          <a:p>
            <a:r>
              <a:rPr lang="en-US" dirty="0"/>
              <a:t>Research is one structured way of finding answers to questions.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Kumar (2011:26-27) argues that when you claim to be doing research, you imply that your enquiry is conducted within a set of guiding philosophies, uses methods tested for validity and reliability, and is designed to be as unbiased and objective as possible.</a:t>
            </a:r>
            <a:endParaRPr lang="en-GB" sz="1400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2D2D2-19A1-6E44-3BBE-1E035726B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1D5B-D980-1AF1-553D-2577AD99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891329"/>
            <a:ext cx="10823448" cy="1325563"/>
          </a:xfrm>
        </p:spPr>
        <p:txBody>
          <a:bodyPr rtlCol="0">
            <a:normAutofit/>
          </a:bodyPr>
          <a:lstStyle/>
          <a:p>
            <a:r>
              <a:rPr lang="en-US" dirty="0" err="1"/>
              <a:t>Ict</a:t>
            </a:r>
            <a:r>
              <a:rPr lang="en-US" dirty="0"/>
              <a:t> illustration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BE2C-4B87-D5FC-830C-6DA02A558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" y="2563123"/>
            <a:ext cx="4031945" cy="3700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b="1" dirty="0"/>
              <a:t>Instead of saying “students dislike the LMS (BlackBoard)”, you identify what “dislike” means (for example, low satisfaction scores, repeated complaints, or low task success).</a:t>
            </a:r>
            <a:endParaRPr lang="en-GB" b="1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1A7A553B-DA88-8BB0-2177-F6372219E7D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C82D4397-E60E-FF14-B1C4-529D8684E74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FB381E51-2407-A74E-E1B6-9D3DD605F52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5</a:t>
            </a:fld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B8F145-227C-897D-9BCC-0F2BF91BE69A}"/>
              </a:ext>
            </a:extLst>
          </p:cNvPr>
          <p:cNvSpPr txBox="1">
            <a:spLocks/>
          </p:cNvSpPr>
          <p:nvPr/>
        </p:nvSpPr>
        <p:spPr>
          <a:xfrm>
            <a:off x="4061460" y="2560075"/>
            <a:ext cx="4031945" cy="208103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Instead of relying on a single user complaint, you collect systematic evidence (e.g., usage logs and survey data).</a:t>
            </a:r>
            <a:r>
              <a:rPr lang="en-GB" b="1" dirty="0"/>
              <a:t>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30CC0FF-B833-637E-353F-62250C06A47A}"/>
              </a:ext>
            </a:extLst>
          </p:cNvPr>
          <p:cNvSpPr txBox="1">
            <a:spLocks/>
          </p:cNvSpPr>
          <p:nvPr/>
        </p:nvSpPr>
        <p:spPr>
          <a:xfrm>
            <a:off x="8051292" y="2566068"/>
            <a:ext cx="4031945" cy="22985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/>
              <a:t>Instead of guessing a cause of system failure, you test plausible explanations (for example, network latency, page load times, or confusing navigation).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3174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9" y="3238007"/>
            <a:ext cx="3617023" cy="846301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2. What Makes an Enquiry ‘Research’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10912" y="567804"/>
            <a:ext cx="6986016" cy="1992516"/>
          </a:xfrm>
        </p:spPr>
        <p:txBody>
          <a:bodyPr rtlCol="0">
            <a:noAutofit/>
          </a:bodyPr>
          <a:lstStyle/>
          <a:p>
            <a:pPr rtl="0"/>
            <a:r>
              <a:rPr lang="en-US" sz="1800" noProof="1"/>
              <a:t>Kumar (2011:28) draws on several definitions showing that research is a careful and systematic investigation aimed at establishing facts or principles. </a:t>
            </a:r>
          </a:p>
          <a:p>
            <a:pPr rtl="0"/>
            <a:r>
              <a:rPr lang="en-US" sz="1800" noProof="1"/>
              <a:t>The author further explains that research differs from everyday problem-solving mainly in the degree of formality, rigour, verifiability, and general validity applied to conclusions (Kumar, 2011:28).</a:t>
            </a:r>
            <a:endParaRPr lang="en-GB" sz="1800" noProof="1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6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BCD736-5A16-CCAA-DA5E-03CBFB0535A9}"/>
              </a:ext>
            </a:extLst>
          </p:cNvPr>
          <p:cNvSpPr txBox="1">
            <a:spLocks/>
          </p:cNvSpPr>
          <p:nvPr/>
        </p:nvSpPr>
        <p:spPr>
          <a:xfrm>
            <a:off x="5137975" y="3152508"/>
            <a:ext cx="6986016" cy="1992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noProof="1"/>
              <a:t>• Is the question clear enough to investigate?</a:t>
            </a:r>
          </a:p>
          <a:p>
            <a:r>
              <a:rPr lang="en-US" sz="1800" noProof="1"/>
              <a:t>• Can you gather evidence rather than rely on opinions?</a:t>
            </a:r>
          </a:p>
          <a:p>
            <a:r>
              <a:rPr lang="en-US" sz="1800" noProof="1"/>
              <a:t>• Are your procedures logical and documented so that someone else could understand what you did?</a:t>
            </a:r>
          </a:p>
          <a:p>
            <a:r>
              <a:rPr lang="en-US" sz="1800" noProof="1"/>
              <a:t>• Can your conclusions be checked or verified?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0370A-358D-BC74-FBB9-B84F5F9C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530E-E026-8CA2-02F7-B5B0BBF5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762" y="891329"/>
            <a:ext cx="9648476" cy="1325563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3. Characteristics of the Research Process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6789-09A2-6D12-1D97-EFF989D968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" y="2563123"/>
            <a:ext cx="4031945" cy="11310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rtl="0"/>
            <a:r>
              <a:rPr lang="en-US" b="1" dirty="0">
                <a:solidFill>
                  <a:schemeClr val="tx1"/>
                </a:solidFill>
              </a:rPr>
              <a:t>Controlled: </a:t>
            </a:r>
            <a:r>
              <a:rPr lang="en-US" dirty="0">
                <a:solidFill>
                  <a:schemeClr val="tx1"/>
                </a:solidFill>
              </a:rPr>
              <a:t>You try to minimise the influence of other factors on your results, even if you cannot fully control conditions in real-life ICT settings.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DF019210-502F-A854-3F75-82B286BBEBE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>
                <a:solidFill>
                  <a:schemeClr val="tx1"/>
                </a:solidFill>
              </a:rPr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F173F6B3-8ADE-80C6-D33D-D9F91351DF6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560B5D58-F9F4-7B3E-4BB9-5FF94D96BB8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>
                <a:solidFill>
                  <a:schemeClr val="tx1"/>
                </a:solidFill>
              </a:rPr>
              <a:pPr rtl="0"/>
              <a:t>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FEC456E-487A-1170-EFBF-40857A84BB91}"/>
              </a:ext>
            </a:extLst>
          </p:cNvPr>
          <p:cNvSpPr txBox="1">
            <a:spLocks/>
          </p:cNvSpPr>
          <p:nvPr/>
        </p:nvSpPr>
        <p:spPr>
          <a:xfrm>
            <a:off x="4134612" y="2560075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Rigorous: </a:t>
            </a:r>
            <a:r>
              <a:rPr lang="en-GB" dirty="0">
                <a:solidFill>
                  <a:schemeClr val="tx1"/>
                </a:solidFill>
              </a:rPr>
              <a:t>You select relevant and </a:t>
            </a:r>
            <a:r>
              <a:rPr lang="en-GB" sz="2100" dirty="0">
                <a:solidFill>
                  <a:schemeClr val="tx1"/>
                </a:solidFill>
              </a:rPr>
              <a:t>justified</a:t>
            </a:r>
            <a:r>
              <a:rPr lang="en-GB" dirty="0">
                <a:solidFill>
                  <a:schemeClr val="tx1"/>
                </a:solidFill>
              </a:rPr>
              <a:t> procedures and apply them carefully.</a:t>
            </a:r>
          </a:p>
          <a:p>
            <a:r>
              <a:rPr lang="en-GB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37CE1D-55C8-EF36-7202-43739C567ECF}"/>
              </a:ext>
            </a:extLst>
          </p:cNvPr>
          <p:cNvSpPr txBox="1">
            <a:spLocks/>
          </p:cNvSpPr>
          <p:nvPr/>
        </p:nvSpPr>
        <p:spPr>
          <a:xfrm>
            <a:off x="8069580" y="2593500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Systematic: </a:t>
            </a:r>
            <a:r>
              <a:rPr lang="en-GB" dirty="0">
                <a:solidFill>
                  <a:schemeClr val="tx1"/>
                </a:solidFill>
              </a:rPr>
              <a:t>You follow a logical sequence of steps rather than working in a random order.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F7C2CF-E200-24F2-EE11-A89733DCB5C2}"/>
              </a:ext>
            </a:extLst>
          </p:cNvPr>
          <p:cNvSpPr txBox="1">
            <a:spLocks/>
          </p:cNvSpPr>
          <p:nvPr/>
        </p:nvSpPr>
        <p:spPr>
          <a:xfrm>
            <a:off x="47244" y="4123699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Valid and verifiable: </a:t>
            </a:r>
            <a:r>
              <a:rPr lang="en-GB" dirty="0">
                <a:solidFill>
                  <a:schemeClr val="tx1"/>
                </a:solidFill>
              </a:rPr>
              <a:t>Your conclusions should be plausible and checkable by you or others.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60C5C3-F21C-259A-A390-169AFCFF0343}"/>
              </a:ext>
            </a:extLst>
          </p:cNvPr>
          <p:cNvSpPr txBox="1">
            <a:spLocks/>
          </p:cNvSpPr>
          <p:nvPr/>
        </p:nvSpPr>
        <p:spPr>
          <a:xfrm>
            <a:off x="4131564" y="4120651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Empirical: </a:t>
            </a:r>
            <a:r>
              <a:rPr lang="en-GB" dirty="0">
                <a:solidFill>
                  <a:schemeClr val="tx1"/>
                </a:solidFill>
              </a:rPr>
              <a:t>You base conclusions on evidence from observation, records, or data.</a:t>
            </a:r>
          </a:p>
          <a:p>
            <a:r>
              <a:rPr lang="en-GB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B7F1E5-B0BF-18D0-9E64-0CDE3990BCD1}"/>
              </a:ext>
            </a:extLst>
          </p:cNvPr>
          <p:cNvSpPr txBox="1">
            <a:spLocks/>
          </p:cNvSpPr>
          <p:nvPr/>
        </p:nvSpPr>
        <p:spPr>
          <a:xfrm>
            <a:off x="8066532" y="4154076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Critical: </a:t>
            </a:r>
            <a:r>
              <a:rPr lang="en-GB" dirty="0">
                <a:solidFill>
                  <a:schemeClr val="tx1"/>
                </a:solidFill>
              </a:rPr>
              <a:t>You scrutinise your own methods, look for weaknesses, and make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8560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37744-D7CE-4FFD-4908-8348962C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7A42-5733-BC8B-6CA2-E3EA700E9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762" y="891329"/>
            <a:ext cx="9648476" cy="1325563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3. Characteristics of the Research Process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GB" b="1" dirty="0">
                <a:solidFill>
                  <a:schemeClr val="tx1"/>
                </a:solidFill>
              </a:rPr>
              <a:t>ICT examples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7A97B-9236-C61B-7CB5-91E29C86EB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" y="2563123"/>
            <a:ext cx="4031945" cy="11310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Controlled: </a:t>
            </a:r>
            <a:r>
              <a:rPr lang="en-GB" dirty="0">
                <a:solidFill>
                  <a:schemeClr val="tx1"/>
                </a:solidFill>
              </a:rPr>
              <a:t>When evaluating a new Wi-Fi access point, compare performance at similar times and locations to reduce variation.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02142F2C-4561-0093-C42C-05D8FAE3F16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>
                <a:solidFill>
                  <a:schemeClr val="tx1"/>
                </a:solidFill>
              </a:rPr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52EEB05D-054C-7E6F-F9C7-8290B913D2D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95D1E9ED-45C2-CE18-07B9-101DA207C6B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>
                <a:solidFill>
                  <a:schemeClr val="tx1"/>
                </a:solidFill>
              </a:rPr>
              <a:pPr rtl="0"/>
              <a:t>8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8D82166-2AEF-0066-1942-5981BA042B97}"/>
              </a:ext>
            </a:extLst>
          </p:cNvPr>
          <p:cNvSpPr txBox="1">
            <a:spLocks/>
          </p:cNvSpPr>
          <p:nvPr/>
        </p:nvSpPr>
        <p:spPr>
          <a:xfrm>
            <a:off x="4134612" y="2560075"/>
            <a:ext cx="403194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Rigorous: </a:t>
            </a:r>
            <a:r>
              <a:rPr lang="en-GB" dirty="0">
                <a:solidFill>
                  <a:schemeClr val="tx1"/>
                </a:solidFill>
              </a:rPr>
              <a:t>Use a clear scoring rubric when evaluating student code quality, apply it consistently across all submissions, and document any adjustments to the rubric.</a:t>
            </a:r>
            <a:r>
              <a:rPr lang="en-GB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AC19FF8-81A4-A62B-243E-606B4923920C}"/>
              </a:ext>
            </a:extLst>
          </p:cNvPr>
          <p:cNvSpPr txBox="1">
            <a:spLocks/>
          </p:cNvSpPr>
          <p:nvPr/>
        </p:nvSpPr>
        <p:spPr>
          <a:xfrm>
            <a:off x="8066532" y="2560075"/>
            <a:ext cx="403194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Systematic: </a:t>
            </a:r>
            <a:r>
              <a:rPr lang="en-GB" dirty="0">
                <a:solidFill>
                  <a:schemeClr val="tx1"/>
                </a:solidFill>
              </a:rPr>
              <a:t>Define the problem, decide what data you need, collect it, analyse it, then report findings in a clear order.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A2C102-9414-C21D-DBE2-5606F24DBD79}"/>
              </a:ext>
            </a:extLst>
          </p:cNvPr>
          <p:cNvSpPr txBox="1">
            <a:spLocks/>
          </p:cNvSpPr>
          <p:nvPr/>
        </p:nvSpPr>
        <p:spPr>
          <a:xfrm>
            <a:off x="47244" y="4123699"/>
            <a:ext cx="4031945" cy="18429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Valid and verifiable: </a:t>
            </a:r>
            <a:r>
              <a:rPr lang="en-GB" dirty="0">
                <a:solidFill>
                  <a:schemeClr val="tx1"/>
                </a:solidFill>
              </a:rPr>
              <a:t>When measuring usability, define success criteria (e.g., task completion within 2 minutes), store raw screen recordings and time logs, and show how you calculated averages so another person can replicate your results.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2C82D4-3917-CC8A-23CE-19544AD93D60}"/>
              </a:ext>
            </a:extLst>
          </p:cNvPr>
          <p:cNvSpPr txBox="1">
            <a:spLocks/>
          </p:cNvSpPr>
          <p:nvPr/>
        </p:nvSpPr>
        <p:spPr>
          <a:xfrm>
            <a:off x="4131564" y="4120651"/>
            <a:ext cx="4031945" cy="113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b="1" dirty="0">
                <a:solidFill>
                  <a:schemeClr val="tx1"/>
                </a:solidFill>
              </a:rPr>
              <a:t>Empirical: </a:t>
            </a:r>
            <a:r>
              <a:rPr lang="en-GB" dirty="0">
                <a:solidFill>
                  <a:schemeClr val="tx1"/>
                </a:solidFill>
              </a:rPr>
              <a:t>Use server logs, error rates, task completion times, and user feedback rather than informal impressions.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1A9934-4842-4586-35E9-4C6D1C32B792}"/>
              </a:ext>
            </a:extLst>
          </p:cNvPr>
          <p:cNvSpPr txBox="1">
            <a:spLocks/>
          </p:cNvSpPr>
          <p:nvPr/>
        </p:nvSpPr>
        <p:spPr>
          <a:xfrm>
            <a:off x="8066532" y="4154076"/>
            <a:ext cx="4031945" cy="18125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Critical: </a:t>
            </a:r>
            <a:r>
              <a:rPr lang="en-GB" dirty="0">
                <a:solidFill>
                  <a:schemeClr val="tx1"/>
                </a:solidFill>
              </a:rPr>
              <a:t>After analysing survey results about an LMS, actively look for weaknesses such as a low response rate, leading questions, or missing subgroups, and explain how these limitations might affect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096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DCFAA-9870-026E-D486-329D5886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F36F-3C39-578C-8067-5B3180B5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9" y="3238007"/>
            <a:ext cx="3617023" cy="846301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4. </a:t>
            </a:r>
            <a:r>
              <a:rPr lang="en-US" dirty="0" err="1"/>
              <a:t>Researchability</a:t>
            </a:r>
            <a:r>
              <a:rPr lang="en-US" dirty="0"/>
              <a:t> and Feasibility for ICT Topics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F60955-B85E-FFFC-7B1E-328E5002D3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37176" y="2345874"/>
            <a:ext cx="6986016" cy="2166252"/>
          </a:xfrm>
        </p:spPr>
        <p:txBody>
          <a:bodyPr rtlCol="0">
            <a:noAutofit/>
          </a:bodyPr>
          <a:lstStyle/>
          <a:p>
            <a:pPr rtl="0"/>
            <a:r>
              <a:rPr lang="en-US" sz="2400" noProof="1"/>
              <a:t>A research topic must be researchable, meaning it can be investigated with available time, access, tools, and ethical clearance. </a:t>
            </a:r>
          </a:p>
          <a:p>
            <a:pPr rtl="0"/>
            <a:r>
              <a:rPr lang="en-US" sz="2400" noProof="1"/>
              <a:t>Your goal is to narrow a broad idea into a researchable problem that can later become proposal-ready.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49D00131-CEBB-CF93-A165-91675F6EE5F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BB2E3-0319-F303-C6DC-94461B28530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D98A-31A5-F9C2-402B-72579F18CE4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550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3EB3-E6F0-493A-9AFE-1232C923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0B93-E75E-2C98-4008-783A0CC0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762" y="395545"/>
            <a:ext cx="9648476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From a broad idea to a researchable topic (examples):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5B8E-80E8-5F79-DDE0-8904698FF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4750" y="3432048"/>
            <a:ext cx="5234418" cy="666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sz="1800" b="1" dirty="0"/>
              <a:t>Broad idea: </a:t>
            </a:r>
            <a:r>
              <a:rPr lang="en-US" sz="1800" i="1" dirty="0"/>
              <a:t>“AI is changing education.”</a:t>
            </a:r>
            <a:endParaRPr lang="en-GB" sz="18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A0B1C-3856-A253-C998-92E47FF2B3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94786" y="3939273"/>
            <a:ext cx="5233230" cy="1931420"/>
          </a:xfrm>
        </p:spPr>
        <p:txBody>
          <a:bodyPr rtlCol="0">
            <a:normAutofit/>
          </a:bodyPr>
          <a:lstStyle/>
          <a:p>
            <a:r>
              <a:rPr lang="en-US" sz="1800" b="1" dirty="0"/>
              <a:t>Researchable </a:t>
            </a:r>
            <a:r>
              <a:rPr lang="en-GB" sz="1800" b="1" dirty="0"/>
              <a:t>Title 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</a:p>
          <a:p>
            <a:r>
              <a:rPr lang="en-GB" sz="1800" i="1" spc="150" dirty="0">
                <a:latin typeface="+mj-lt"/>
                <a:ea typeface="+mj-ea"/>
                <a:cs typeface="+mj-cs"/>
              </a:rPr>
              <a:t>“How do first-year ICT students perceive the fairness of AI-based plagiarism detection tools at our campus?”</a:t>
            </a:r>
          </a:p>
          <a:p>
            <a:pPr rtl="0"/>
            <a:endParaRPr lang="en-GB" sz="1800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ADFA066B-DC60-3FBC-A42D-77B37016A0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27F6127C-BB6F-757C-A83B-9183A0C9AB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7F15AD13-2EAC-04C2-F701-14D1113F97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10</a:t>
            </a:fld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8BC521C-1DAF-413E-3CFB-F5B3449E7658}"/>
              </a:ext>
            </a:extLst>
          </p:cNvPr>
          <p:cNvSpPr txBox="1">
            <a:spLocks/>
          </p:cNvSpPr>
          <p:nvPr/>
        </p:nvSpPr>
        <p:spPr>
          <a:xfrm>
            <a:off x="6788414" y="3432048"/>
            <a:ext cx="5234418" cy="666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Broad idea: </a:t>
            </a:r>
            <a:r>
              <a:rPr lang="en-GB" sz="1800" i="1" dirty="0"/>
              <a:t>“Cybersecurity is important.”</a:t>
            </a:r>
            <a:r>
              <a:rPr lang="en-GB" sz="1800" b="1" dirty="0"/>
              <a:t> 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D30D20F-EC7C-B9D1-90BE-9B687A8DDE3D}"/>
              </a:ext>
            </a:extLst>
          </p:cNvPr>
          <p:cNvSpPr txBox="1">
            <a:spLocks/>
          </p:cNvSpPr>
          <p:nvPr/>
        </p:nvSpPr>
        <p:spPr>
          <a:xfrm>
            <a:off x="6788450" y="3939273"/>
            <a:ext cx="5233230" cy="193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800" b="1" dirty="0"/>
              <a:t>Researchable Title : </a:t>
            </a:r>
          </a:p>
          <a:p>
            <a:pPr lvl="0"/>
            <a:r>
              <a:rPr lang="en-GB" sz="1800" i="1" dirty="0"/>
              <a:t>“What are the most common password management practices among IT support staff at a university, and what factors shape these practices?”</a:t>
            </a:r>
          </a:p>
        </p:txBody>
      </p:sp>
    </p:spTree>
    <p:extLst>
      <p:ext uri="{BB962C8B-B14F-4D97-AF65-F5344CB8AC3E}">
        <p14:creationId xmlns:p14="http://schemas.microsoft.com/office/powerpoint/2010/main" val="243659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F155-709D-7958-A93C-A34DF351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1F89-3DD7-0518-9AB8-3AE9141B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762" y="395545"/>
            <a:ext cx="9648476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From a broad idea to a researchable topic (Activity - now you try):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2D28-7FBC-DA72-C0AC-FD3A7BDC2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4750" y="3432048"/>
            <a:ext cx="5234418" cy="666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sz="1800" b="1" dirty="0"/>
              <a:t>Broad idea: </a:t>
            </a:r>
            <a:r>
              <a:rPr lang="en-US" sz="1800" i="1" dirty="0"/>
              <a:t>“Online learning tools affect student performance.”</a:t>
            </a:r>
            <a:endParaRPr lang="en-GB" sz="18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B3B0C-7DAC-A5BE-82B0-1F258AE9B5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94786" y="4314177"/>
            <a:ext cx="5233230" cy="1931420"/>
          </a:xfrm>
        </p:spPr>
        <p:txBody>
          <a:bodyPr rtlCol="0">
            <a:normAutofit/>
          </a:bodyPr>
          <a:lstStyle/>
          <a:p>
            <a:pPr rtl="0"/>
            <a:r>
              <a:rPr lang="en-US" sz="1800" b="1" dirty="0"/>
              <a:t>Researchable Title:</a:t>
            </a:r>
            <a:r>
              <a:rPr lang="en-US" sz="1800" dirty="0"/>
              <a:t> </a:t>
            </a:r>
          </a:p>
          <a:p>
            <a:r>
              <a:rPr lang="en-GB" sz="1800" i="1" spc="150" dirty="0">
                <a:latin typeface="+mj-lt"/>
                <a:ea typeface="+mj-ea"/>
                <a:cs typeface="+mj-cs"/>
              </a:rPr>
              <a:t>“How do …….?”</a:t>
            </a:r>
          </a:p>
          <a:p>
            <a:pPr rtl="0"/>
            <a:endParaRPr lang="en-GB" sz="1800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79F26E6E-3680-FD51-EF26-B3BEF56DD0B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9BC4CC83-4052-C6CB-2064-1FB5420AA22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en-GB" dirty="0">
                <a:solidFill>
                  <a:schemeClr val="tx1"/>
                </a:solidFill>
              </a:rPr>
              <a:t>Research Methodology 4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A1D587C3-09AA-6FA2-F4CB-F6043689F8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11</a:t>
            </a:fld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13CC2C-7B8A-55CE-AB8B-C625F422B6F9}"/>
              </a:ext>
            </a:extLst>
          </p:cNvPr>
          <p:cNvSpPr txBox="1">
            <a:spLocks/>
          </p:cNvSpPr>
          <p:nvPr/>
        </p:nvSpPr>
        <p:spPr>
          <a:xfrm>
            <a:off x="6788414" y="3432048"/>
            <a:ext cx="5234418" cy="666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Broad idea: </a:t>
            </a:r>
            <a:r>
              <a:rPr lang="en-GB" sz="1800" i="1" dirty="0"/>
              <a:t>“</a:t>
            </a:r>
            <a:r>
              <a:rPr lang="en-US" sz="1800" i="1" dirty="0"/>
              <a:t>Students use AI tools to help them study</a:t>
            </a:r>
            <a:r>
              <a:rPr lang="en-GB" sz="1800" i="1" dirty="0"/>
              <a:t>.”</a:t>
            </a:r>
            <a:r>
              <a:rPr lang="en-GB" sz="1800" b="1" dirty="0"/>
              <a:t> 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9BF9220-AE7B-31B6-D5D2-1E4B56B72430}"/>
              </a:ext>
            </a:extLst>
          </p:cNvPr>
          <p:cNvSpPr txBox="1">
            <a:spLocks/>
          </p:cNvSpPr>
          <p:nvPr/>
        </p:nvSpPr>
        <p:spPr>
          <a:xfrm>
            <a:off x="6788450" y="4314177"/>
            <a:ext cx="5233230" cy="193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800" b="1" dirty="0"/>
              <a:t>Researchable Title: </a:t>
            </a:r>
          </a:p>
          <a:p>
            <a:pPr lvl="0"/>
            <a:r>
              <a:rPr lang="en-GB" sz="1800" i="1" dirty="0"/>
              <a:t>“What types of…?”</a:t>
            </a:r>
          </a:p>
        </p:txBody>
      </p:sp>
    </p:spTree>
    <p:extLst>
      <p:ext uri="{BB962C8B-B14F-4D97-AF65-F5344CB8AC3E}">
        <p14:creationId xmlns:p14="http://schemas.microsoft.com/office/powerpoint/2010/main" val="397124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8D03-8107-AC80-402E-52068E05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1109-6A60-D7F2-7F39-3D20A366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Conclusion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FEF62-6ED1-FFFD-DA75-3809ADDAC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786385"/>
            <a:ext cx="5433204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1800" dirty="0"/>
              <a:t>As you begin your research journey, it is important to recognise that research is not defined by complicated statistics, advanced software, or highly technical procedures. </a:t>
            </a:r>
          </a:p>
          <a:p>
            <a:pPr rtl="0"/>
            <a:r>
              <a:rPr lang="en-US" sz="1800" dirty="0"/>
              <a:t>In many cases, research starts with simple, practical questions drawn from everyday life and professional practice, including the ICT environment. </a:t>
            </a:r>
          </a:p>
          <a:p>
            <a:pPr rtl="0"/>
            <a:r>
              <a:rPr lang="en-US" sz="1800" dirty="0"/>
              <a:t>A student, for example, might want to understand why users avoid an online platform, why certain systems fail during peak periods, or why a new feature is not being adopted. </a:t>
            </a:r>
          </a:p>
          <a:p>
            <a:pPr rtl="0"/>
            <a:r>
              <a:rPr lang="en-US" sz="1800" dirty="0"/>
              <a:t>These are not “small” questions. </a:t>
            </a:r>
          </a:p>
          <a:p>
            <a:pPr rtl="0"/>
            <a:r>
              <a:rPr lang="en-US" sz="1800" dirty="0"/>
              <a:t>They are the kinds of questions that drive improvement and innovation when properly investigated.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AFE2207-5528-BE3E-AEF5-311D73C06C2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22B5BF4C-0CC2-74D7-D07A-870D0D66D16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4B06467-703F-D3DC-1A6D-215F214C46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73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DF93-0A6A-B268-C53A-96F590D0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B9B7-2870-03E0-5449-8718D07B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Conclusion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92D3-1F96-E8D6-3240-FF6F2D17E0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786385"/>
            <a:ext cx="5433204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1800" dirty="0"/>
              <a:t>At the same time, research can also be used to address complex questions, leading to deeper explanations, models, or guiding principles that shape how organisations and society function. </a:t>
            </a:r>
          </a:p>
          <a:p>
            <a:pPr rtl="0"/>
            <a:r>
              <a:rPr lang="en-US" sz="1800" dirty="0"/>
              <a:t>Whether the research question is simple or complex, what makes an activity “research” is not the topic itself but the way the answer is sought. </a:t>
            </a:r>
          </a:p>
          <a:p>
            <a:pPr rtl="0"/>
            <a:r>
              <a:rPr lang="en-US" sz="1800" dirty="0"/>
              <a:t>Research requires a disciplined approach to enquiry. </a:t>
            </a:r>
          </a:p>
          <a:p>
            <a:pPr rtl="0"/>
            <a:r>
              <a:rPr lang="en-US" sz="1800" dirty="0"/>
              <a:t>It involves asking clear questions, collecting evidence in a structured way, and drawing conclusions based on that evidence rather than on personal opinion, guesswork, or assumptions.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99DBF969-8139-7B84-9301-3DB9E4BAD75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F069576D-DEB3-DE8A-F66D-605F7645E3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52FA4A1-BB59-E050-7D93-F1B733273D6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17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E4085-D6DD-B781-6503-C2806A54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B78D-1319-2BC1-ABC6-24706B3D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Conclusion</a:t>
            </a:r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9A4A-1F11-1066-00F2-D9AB10694C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786385"/>
            <a:ext cx="5433204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1800" dirty="0"/>
              <a:t>In this chapter, Kumar emphasises that research is a careful and systematic form of enquiry. </a:t>
            </a:r>
          </a:p>
          <a:p>
            <a:pPr rtl="0"/>
            <a:r>
              <a:rPr lang="en-US" sz="1800" dirty="0"/>
              <a:t>Even the word “research” signals this meaning. </a:t>
            </a:r>
          </a:p>
          <a:p>
            <a:pPr rtl="0"/>
            <a:r>
              <a:rPr lang="en-US" sz="1800" dirty="0"/>
              <a:t>The prefix “re” suggests doing something again, revisiting, or examining more deeply, while “search” refers to investigating, testing, and exploring carefully. </a:t>
            </a:r>
          </a:p>
          <a:p>
            <a:pPr rtl="0"/>
            <a:r>
              <a:rPr lang="en-US" sz="1800" dirty="0"/>
              <a:t>Together, the term describes a patient, organised, and critical investigation that aims to establish facts, solve problems, and develop principles that can guide understanding and practice. </a:t>
            </a:r>
          </a:p>
          <a:p>
            <a:pPr rtl="0"/>
            <a:r>
              <a:rPr lang="en-US" sz="1800" dirty="0"/>
              <a:t>In short, research is a way of thinking. </a:t>
            </a:r>
          </a:p>
          <a:p>
            <a:pPr rtl="0"/>
            <a:r>
              <a:rPr lang="en-US" sz="1800" dirty="0"/>
              <a:t>It is the practice of questioning what we observe, systematically investigating it, and using evidence to improve decisions and outcomes.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75103E0C-E91A-B9FA-2C11-25DC9E7F3DD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E0301AF0-8BCA-6C8C-D083-307ABA9177D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D563BCE-D124-CD79-39D9-E855F66B378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613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8180-BA2D-4E08-C872-051C29FD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BECA-33DC-CB3E-3EE3-C1425F2F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MCQ</a:t>
            </a:r>
            <a:r>
              <a:rPr lang="en-GB" sz="1400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52D4-37BE-92CA-62E7-C81C0C0F3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3320" y="786385"/>
            <a:ext cx="7652138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2800" b="1" dirty="0"/>
              <a:t>I.	Which statement best reflects Kumar’s view of research as a way of thinking?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Research is mainly about statistics and software tools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Research is a habit of questioning practice and examining observations systematically.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Research is only done in laboratories.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Research is the same as reading a textbook.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5CC4E01-ECCF-8B30-B3EF-2EBA1F84D19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A3F5611D-FEE4-AB92-FE09-F7D7A35EC50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2C1A640-FF54-8E7D-65EE-204708DFC2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65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8EF3-A9EE-5BA5-7401-41549B54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CA0D-03B1-82B5-B92D-351BF222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MCQ</a:t>
            </a:r>
            <a:r>
              <a:rPr lang="en-GB" sz="1400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0B8B-9160-3FC3-BB49-DD96B2B888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3320" y="786385"/>
            <a:ext cx="7652138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2800" b="1" dirty="0"/>
              <a:t>II.	Which characteristic of research emphasises following a logical sequence of steps?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Empirical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Critical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Systematic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Controlled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B7FAAA29-7AF8-4B62-E86D-99F9E593F9D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E5831B1C-7276-89A1-2FB1-13A99B55BB5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78391AA-1338-7234-BAF0-0C7753156E1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355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8247-8464-33BE-6BA5-F74DBAF6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00BB-D927-B7A4-54A8-F6603A4D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MCQ</a:t>
            </a:r>
            <a:r>
              <a:rPr lang="en-GB" sz="1400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B0C4-3BEF-C74F-6E49-62C07C7A7F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3320" y="786385"/>
            <a:ext cx="7652138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2800" b="1" dirty="0"/>
              <a:t>III.	Which option best describes empirical evidence in ICT research?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Opinion about an app’s design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Server logs showing error rates over time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A guess about what users prefer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A </a:t>
            </a:r>
            <a:r>
              <a:rPr lang="en-US" sz="2800" dirty="0" err="1"/>
              <a:t>rumour</a:t>
            </a:r>
            <a:r>
              <a:rPr lang="en-US" sz="2800" dirty="0"/>
              <a:t> shared on social media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CEE9ECC0-D9F5-6AF3-F247-4873EF2ABE7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E16E58-6160-C49C-551E-B4C1E9BAE99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6905DAE-630B-6516-3AA0-CE3F39C8ED0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00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1153-ABBE-E60A-92AF-E5ADC6ED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8B81-E5FD-1B10-5EE8-FEFBC6B9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n-GB" dirty="0"/>
              <a:t>MCQ</a:t>
            </a:r>
            <a:r>
              <a:rPr lang="en-GB" sz="1400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D6D15-480E-FAC6-6C17-FB9C2783B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3320" y="786385"/>
            <a:ext cx="7652138" cy="5221224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US" sz="2800" b="1" dirty="0"/>
              <a:t>III.	In Kumar’s explanation, research differs from everyday problem-solving mainly because research is more: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Informal and quick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Based on authority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Rigorous and verifiable	</a:t>
            </a:r>
          </a:p>
          <a:p>
            <a:pPr marL="514350" indent="-514350" rtl="0">
              <a:buAutoNum type="alphaUcPeriod"/>
            </a:pPr>
            <a:r>
              <a:rPr lang="en-US" sz="2800" dirty="0"/>
              <a:t>Focused only on theory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1CA158C-047B-788B-FFFE-71695D601B3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05A47938-EF16-D36A-607A-A4FC10AECE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n-GB" dirty="0"/>
              <a:t>Research Methodology 4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AF2A0C3-7F53-6A6A-11DA-866DBD546A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45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Q&amp;A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en-GB" dirty="0"/>
              <a:t>February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r>
              <a:rPr lang="en-GB" dirty="0"/>
              <a:t>Research Methodology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{D75B5483-2B77-44A9-A6C5-9F68A8A1B7DC}tf22318419_win32</Template>
  <TotalTime>331</TotalTime>
  <Words>1514</Words>
  <Application>Microsoft Office PowerPoint</Application>
  <PresentationFormat>Widescreen</PresentationFormat>
  <Paragraphs>170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Monoline</vt:lpstr>
      <vt:lpstr>Semester ONE - Week 1 – TOPIC 1</vt:lpstr>
      <vt:lpstr>1. Research:  A Way of Thinking</vt:lpstr>
      <vt:lpstr>1. Research:  A Way of Thinking</vt:lpstr>
      <vt:lpstr>Research is one structured way of finding answers to questions.   Kumar (2011:26-27) argues that when you claim to be doing research, you imply that your enquiry is conducted within a set of guiding philosophies, uses methods tested for validity and reliability, and is designed to be as unbiased and objective as possible.</vt:lpstr>
      <vt:lpstr>Ict illustration</vt:lpstr>
      <vt:lpstr>2. What Makes an Enquiry ‘Research’</vt:lpstr>
      <vt:lpstr>3. Characteristics of the Research Process</vt:lpstr>
      <vt:lpstr>3. Characteristics of the Research Process ICT examples</vt:lpstr>
      <vt:lpstr>4. Researchability and Feasibility for ICT Topics</vt:lpstr>
      <vt:lpstr>From a broad idea to a researchable topic (examples):</vt:lpstr>
      <vt:lpstr>From a broad idea to a researchable topic (Activity - now you try):</vt:lpstr>
      <vt:lpstr>Conclusion</vt:lpstr>
      <vt:lpstr>Conclusion</vt:lpstr>
      <vt:lpstr>Conclusion</vt:lpstr>
      <vt:lpstr>MCQs</vt:lpstr>
      <vt:lpstr>MCQs</vt:lpstr>
      <vt:lpstr>MCQs</vt:lpstr>
      <vt:lpstr>MCQs</vt:lpstr>
      <vt:lpstr>THANK YOU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Errol Francke</dc:creator>
  <cp:lastModifiedBy>Errol Francke</cp:lastModifiedBy>
  <cp:revision>3</cp:revision>
  <dcterms:created xsi:type="dcterms:W3CDTF">2025-07-14T08:47:44Z</dcterms:created>
  <dcterms:modified xsi:type="dcterms:W3CDTF">2026-02-02T17:34:54Z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