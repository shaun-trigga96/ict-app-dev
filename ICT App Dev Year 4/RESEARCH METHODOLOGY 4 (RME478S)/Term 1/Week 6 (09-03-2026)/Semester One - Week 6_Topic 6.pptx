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98" r:id="rId3"/>
    <p:sldId id="347" r:id="rId4"/>
    <p:sldId id="301" r:id="rId5"/>
    <p:sldId id="348" r:id="rId6"/>
    <p:sldId id="265" r:id="rId7"/>
    <p:sldId id="309" r:id="rId8"/>
    <p:sldId id="311" r:id="rId9"/>
    <p:sldId id="349" r:id="rId10"/>
    <p:sldId id="315" r:id="rId11"/>
    <p:sldId id="350" r:id="rId12"/>
    <p:sldId id="314" r:id="rId13"/>
    <p:sldId id="346" r:id="rId14"/>
    <p:sldId id="316" r:id="rId15"/>
    <p:sldId id="351" r:id="rId16"/>
    <p:sldId id="352" r:id="rId17"/>
    <p:sldId id="353" r:id="rId18"/>
    <p:sldId id="354" r:id="rId19"/>
    <p:sldId id="355" r:id="rId20"/>
    <p:sldId id="320" r:id="rId21"/>
    <p:sldId id="321" r:id="rId22"/>
    <p:sldId id="360" r:id="rId23"/>
    <p:sldId id="361" r:id="rId24"/>
    <p:sldId id="356" r:id="rId25"/>
    <p:sldId id="326" r:id="rId26"/>
    <p:sldId id="327" r:id="rId27"/>
    <p:sldId id="357" r:id="rId28"/>
    <p:sldId id="358" r:id="rId29"/>
    <p:sldId id="359" r:id="rId30"/>
    <p:sldId id="330" r:id="rId31"/>
    <p:sldId id="362" r:id="rId32"/>
    <p:sldId id="363" r:id="rId33"/>
    <p:sldId id="364" r:id="rId34"/>
    <p:sldId id="365" r:id="rId35"/>
    <p:sldId id="366" r:id="rId36"/>
    <p:sldId id="368" r:id="rId37"/>
    <p:sldId id="369" r:id="rId38"/>
    <p:sldId id="339" r:id="rId39"/>
    <p:sldId id="280" r:id="rId40"/>
  </p:sldIdLst>
  <p:sldSz cx="9753600" cy="7315200"/>
  <p:notesSz cx="6858000" cy="9144000"/>
  <p:embeddedFontLst>
    <p:embeddedFont>
      <p:font typeface="League Spartan" panose="020B0604020202020204" charset="0"/>
      <p:regular r:id="rId42"/>
      <p:bold r:id="rId43"/>
    </p:embeddedFont>
    <p:embeddedFont>
      <p:font typeface="Open Sans" panose="020B0606030504020204" pitchFamily="3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3AB80C-8FD5-4A42-84FC-0E58EFBAF783}" v="25" dt="2026-03-08T10:41:35.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81" autoAdjust="0"/>
  </p:normalViewPr>
  <p:slideViewPr>
    <p:cSldViewPr>
      <p:cViewPr varScale="1">
        <p:scale>
          <a:sx n="66" d="100"/>
          <a:sy n="66" d="100"/>
        </p:scale>
        <p:origin x="1084"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3" d="100"/>
        <a:sy n="133" d="100"/>
      </p:scale>
      <p:origin x="0" y="-960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5CC828F7-7581-413F-9545-7387B2A59550}"/>
    <pc:docChg chg="undo custSel addSld delSld modSld">
      <pc:chgData name="Errol Francke" userId="1baf5052-8130-4f07-8591-895c85ed967e" providerId="ADAL" clId="{5CC828F7-7581-413F-9545-7387B2A59550}" dt="2026-03-08T11:31:55.162" v="367" actId="2696"/>
      <pc:docMkLst>
        <pc:docMk/>
      </pc:docMkLst>
      <pc:sldChg chg="modSp mod">
        <pc:chgData name="Errol Francke" userId="1baf5052-8130-4f07-8591-895c85ed967e" providerId="ADAL" clId="{5CC828F7-7581-413F-9545-7387B2A59550}" dt="2026-03-08T07:26:08.986" v="268" actId="20577"/>
        <pc:sldMkLst>
          <pc:docMk/>
          <pc:sldMk cId="588567072" sldId="280"/>
        </pc:sldMkLst>
        <pc:spChg chg="mod">
          <ac:chgData name="Errol Francke" userId="1baf5052-8130-4f07-8591-895c85ed967e" providerId="ADAL" clId="{5CC828F7-7581-413F-9545-7387B2A59550}" dt="2026-03-08T07:26:08.986" v="268" actId="20577"/>
          <ac:spMkLst>
            <pc:docMk/>
            <pc:sldMk cId="588567072" sldId="280"/>
            <ac:spMk id="7" creationId="{235F8F3E-7C1B-17CB-6292-B83B32620247}"/>
          </ac:spMkLst>
        </pc:spChg>
      </pc:sldChg>
      <pc:sldChg chg="modSp mod">
        <pc:chgData name="Errol Francke" userId="1baf5052-8130-4f07-8591-895c85ed967e" providerId="ADAL" clId="{5CC828F7-7581-413F-9545-7387B2A59550}" dt="2026-03-08T10:40:22.155" v="354" actId="20577"/>
        <pc:sldMkLst>
          <pc:docMk/>
          <pc:sldMk cId="1094283799" sldId="321"/>
        </pc:sldMkLst>
        <pc:spChg chg="mod">
          <ac:chgData name="Errol Francke" userId="1baf5052-8130-4f07-8591-895c85ed967e" providerId="ADAL" clId="{5CC828F7-7581-413F-9545-7387B2A59550}" dt="2026-03-08T10:40:22.155" v="354" actId="20577"/>
          <ac:spMkLst>
            <pc:docMk/>
            <pc:sldMk cId="1094283799" sldId="321"/>
            <ac:spMk id="3" creationId="{99EF46A3-7844-46F4-893A-BFBCD6280D76}"/>
          </ac:spMkLst>
        </pc:spChg>
      </pc:sldChg>
      <pc:sldChg chg="modSp mod">
        <pc:chgData name="Errol Francke" userId="1baf5052-8130-4f07-8591-895c85ed967e" providerId="ADAL" clId="{5CC828F7-7581-413F-9545-7387B2A59550}" dt="2026-03-08T10:42:48.800" v="366" actId="6549"/>
        <pc:sldMkLst>
          <pc:docMk/>
          <pc:sldMk cId="2540011905" sldId="330"/>
        </pc:sldMkLst>
        <pc:spChg chg="mod">
          <ac:chgData name="Errol Francke" userId="1baf5052-8130-4f07-8591-895c85ed967e" providerId="ADAL" clId="{5CC828F7-7581-413F-9545-7387B2A59550}" dt="2026-03-08T10:42:48.800" v="366" actId="6549"/>
          <ac:spMkLst>
            <pc:docMk/>
            <pc:sldMk cId="2540011905" sldId="330"/>
            <ac:spMk id="3" creationId="{B879823A-D691-4B19-BB00-74DF27378566}"/>
          </ac:spMkLst>
        </pc:spChg>
      </pc:sldChg>
      <pc:sldChg chg="modSp mod">
        <pc:chgData name="Errol Francke" userId="1baf5052-8130-4f07-8591-895c85ed967e" providerId="ADAL" clId="{5CC828F7-7581-413F-9545-7387B2A59550}" dt="2026-03-08T07:25:56.909" v="263"/>
        <pc:sldMkLst>
          <pc:docMk/>
          <pc:sldMk cId="2965591994" sldId="339"/>
        </pc:sldMkLst>
        <pc:spChg chg="mod">
          <ac:chgData name="Errol Francke" userId="1baf5052-8130-4f07-8591-895c85ed967e" providerId="ADAL" clId="{5CC828F7-7581-413F-9545-7387B2A59550}" dt="2026-03-08T07:25:56.909" v="263"/>
          <ac:spMkLst>
            <pc:docMk/>
            <pc:sldMk cId="2965591994" sldId="339"/>
            <ac:spMk id="7" creationId="{5D167841-1E38-661C-B0F9-C74FCC86467E}"/>
          </ac:spMkLst>
        </pc:spChg>
      </pc:sldChg>
      <pc:sldChg chg="modSp mod">
        <pc:chgData name="Errol Francke" userId="1baf5052-8130-4f07-8591-895c85ed967e" providerId="ADAL" clId="{5CC828F7-7581-413F-9545-7387B2A59550}" dt="2026-03-08T10:41:35.303" v="358" actId="20577"/>
        <pc:sldMkLst>
          <pc:docMk/>
          <pc:sldMk cId="425980051" sldId="356"/>
        </pc:sldMkLst>
        <pc:spChg chg="mod">
          <ac:chgData name="Errol Francke" userId="1baf5052-8130-4f07-8591-895c85ed967e" providerId="ADAL" clId="{5CC828F7-7581-413F-9545-7387B2A59550}" dt="2026-03-08T10:41:35.303" v="358" actId="20577"/>
          <ac:spMkLst>
            <pc:docMk/>
            <pc:sldMk cId="425980051" sldId="356"/>
            <ac:spMk id="3" creationId="{3C68CBA4-1A0F-8C75-B13E-8341286376AF}"/>
          </ac:spMkLst>
        </pc:spChg>
      </pc:sldChg>
      <pc:sldChg chg="addSp modSp new mod setBg">
        <pc:chgData name="Errol Francke" userId="1baf5052-8130-4f07-8591-895c85ed967e" providerId="ADAL" clId="{5CC828F7-7581-413F-9545-7387B2A59550}" dt="2026-03-08T06:46:23.230" v="19" actId="14100"/>
        <pc:sldMkLst>
          <pc:docMk/>
          <pc:sldMk cId="1605470259" sldId="361"/>
        </pc:sldMkLst>
        <pc:spChg chg="add">
          <ac:chgData name="Errol Francke" userId="1baf5052-8130-4f07-8591-895c85ed967e" providerId="ADAL" clId="{5CC828F7-7581-413F-9545-7387B2A59550}" dt="2026-03-08T06:44:31.667" v="2" actId="26606"/>
          <ac:spMkLst>
            <pc:docMk/>
            <pc:sldMk cId="1605470259" sldId="361"/>
            <ac:spMk id="8" creationId="{42A4FC2C-047E-45A5-965D-8E1E3BF09BC6}"/>
          </ac:spMkLst>
        </pc:spChg>
        <pc:picChg chg="add mod modCrop">
          <ac:chgData name="Errol Francke" userId="1baf5052-8130-4f07-8591-895c85ed967e" providerId="ADAL" clId="{5CC828F7-7581-413F-9545-7387B2A59550}" dt="2026-03-08T06:46:23.230" v="19" actId="14100"/>
          <ac:picMkLst>
            <pc:docMk/>
            <pc:sldMk cId="1605470259" sldId="361"/>
            <ac:picMk id="3" creationId="{8B037241-26F3-F448-6557-2F6833CFBD41}"/>
          </ac:picMkLst>
        </pc:picChg>
      </pc:sldChg>
      <pc:sldChg chg="addSp delSp modSp new del mod setBg">
        <pc:chgData name="Errol Francke" userId="1baf5052-8130-4f07-8591-895c85ed967e" providerId="ADAL" clId="{5CC828F7-7581-413F-9545-7387B2A59550}" dt="2026-03-08T07:24:08.669" v="113" actId="2696"/>
        <pc:sldMkLst>
          <pc:docMk/>
          <pc:sldMk cId="426310140" sldId="362"/>
        </pc:sldMkLst>
        <pc:spChg chg="add del">
          <ac:chgData name="Errol Francke" userId="1baf5052-8130-4f07-8591-895c85ed967e" providerId="ADAL" clId="{5CC828F7-7581-413F-9545-7387B2A59550}" dt="2026-03-08T06:57:18.892" v="24" actId="26606"/>
          <ac:spMkLst>
            <pc:docMk/>
            <pc:sldMk cId="426310140" sldId="362"/>
            <ac:spMk id="8" creationId="{42A4FC2C-047E-45A5-965D-8E1E3BF09BC6}"/>
          </ac:spMkLst>
        </pc:spChg>
        <pc:picChg chg="add mod">
          <ac:chgData name="Errol Francke" userId="1baf5052-8130-4f07-8591-895c85ed967e" providerId="ADAL" clId="{5CC828F7-7581-413F-9545-7387B2A59550}" dt="2026-03-08T06:57:31.345" v="28" actId="14100"/>
          <ac:picMkLst>
            <pc:docMk/>
            <pc:sldMk cId="426310140" sldId="362"/>
            <ac:picMk id="3" creationId="{47A79EBE-F76D-A464-9082-D96DBA08D4EC}"/>
          </ac:picMkLst>
        </pc:picChg>
      </pc:sldChg>
      <pc:sldChg chg="add setBg">
        <pc:chgData name="Errol Francke" userId="1baf5052-8130-4f07-8591-895c85ed967e" providerId="ADAL" clId="{5CC828F7-7581-413F-9545-7387B2A59550}" dt="2026-03-08T07:24:49.518" v="114"/>
        <pc:sldMkLst>
          <pc:docMk/>
          <pc:sldMk cId="2303453627" sldId="362"/>
        </pc:sldMkLst>
      </pc:sldChg>
      <pc:sldChg chg="add">
        <pc:chgData name="Errol Francke" userId="1baf5052-8130-4f07-8591-895c85ed967e" providerId="ADAL" clId="{5CC828F7-7581-413F-9545-7387B2A59550}" dt="2026-03-08T07:24:49.518" v="114"/>
        <pc:sldMkLst>
          <pc:docMk/>
          <pc:sldMk cId="1519455537" sldId="363"/>
        </pc:sldMkLst>
      </pc:sldChg>
      <pc:sldChg chg="addSp delSp modSp new del mod">
        <pc:chgData name="Errol Francke" userId="1baf5052-8130-4f07-8591-895c85ed967e" providerId="ADAL" clId="{5CC828F7-7581-413F-9545-7387B2A59550}" dt="2026-03-08T07:24:08.669" v="113" actId="2696"/>
        <pc:sldMkLst>
          <pc:docMk/>
          <pc:sldMk cId="1638356307" sldId="363"/>
        </pc:sldMkLst>
        <pc:spChg chg="add del mod">
          <ac:chgData name="Errol Francke" userId="1baf5052-8130-4f07-8591-895c85ed967e" providerId="ADAL" clId="{5CC828F7-7581-413F-9545-7387B2A59550}" dt="2026-03-08T07:13:40.823" v="79" actId="113"/>
          <ac:spMkLst>
            <pc:docMk/>
            <pc:sldMk cId="1638356307" sldId="363"/>
            <ac:spMk id="2" creationId="{C2395D3A-A23E-0E6C-6635-CF07F2638361}"/>
          </ac:spMkLst>
        </pc:spChg>
        <pc:spChg chg="add">
          <ac:chgData name="Errol Francke" userId="1baf5052-8130-4f07-8591-895c85ed967e" providerId="ADAL" clId="{5CC828F7-7581-413F-9545-7387B2A59550}" dt="2026-03-08T07:03:48.112" v="32"/>
          <ac:spMkLst>
            <pc:docMk/>
            <pc:sldMk cId="1638356307" sldId="363"/>
            <ac:spMk id="3" creationId="{BD275AE9-DA2F-E5DC-DEBD-B1804B16156A}"/>
          </ac:spMkLst>
        </pc:spChg>
        <pc:spChg chg="add del mod">
          <ac:chgData name="Errol Francke" userId="1baf5052-8130-4f07-8591-895c85ed967e" providerId="ADAL" clId="{5CC828F7-7581-413F-9545-7387B2A59550}" dt="2026-03-08T07:06:25.034" v="54" actId="14100"/>
          <ac:spMkLst>
            <pc:docMk/>
            <pc:sldMk cId="1638356307" sldId="363"/>
            <ac:spMk id="4" creationId="{8B3912BC-B0E1-0367-642C-A6B6503D7F95}"/>
          </ac:spMkLst>
        </pc:spChg>
      </pc:sldChg>
      <pc:sldChg chg="add">
        <pc:chgData name="Errol Francke" userId="1baf5052-8130-4f07-8591-895c85ed967e" providerId="ADAL" clId="{5CC828F7-7581-413F-9545-7387B2A59550}" dt="2026-03-08T07:24:49.518" v="114"/>
        <pc:sldMkLst>
          <pc:docMk/>
          <pc:sldMk cId="133060451" sldId="364"/>
        </pc:sldMkLst>
      </pc:sldChg>
      <pc:sldChg chg="modSp add del mod">
        <pc:chgData name="Errol Francke" userId="1baf5052-8130-4f07-8591-895c85ed967e" providerId="ADAL" clId="{5CC828F7-7581-413F-9545-7387B2A59550}" dt="2026-03-08T07:24:08.669" v="113" actId="2696"/>
        <pc:sldMkLst>
          <pc:docMk/>
          <pc:sldMk cId="1821990308" sldId="364"/>
        </pc:sldMkLst>
        <pc:spChg chg="mod">
          <ac:chgData name="Errol Francke" userId="1baf5052-8130-4f07-8591-895c85ed967e" providerId="ADAL" clId="{5CC828F7-7581-413F-9545-7387B2A59550}" dt="2026-03-08T07:17:16.161" v="88" actId="20577"/>
          <ac:spMkLst>
            <pc:docMk/>
            <pc:sldMk cId="1821990308" sldId="364"/>
            <ac:spMk id="2" creationId="{AC136EC6-41DE-2ECB-E10E-EBB34CFB77FC}"/>
          </ac:spMkLst>
        </pc:spChg>
      </pc:sldChg>
      <pc:sldChg chg="add">
        <pc:chgData name="Errol Francke" userId="1baf5052-8130-4f07-8591-895c85ed967e" providerId="ADAL" clId="{5CC828F7-7581-413F-9545-7387B2A59550}" dt="2026-03-08T07:24:49.518" v="114"/>
        <pc:sldMkLst>
          <pc:docMk/>
          <pc:sldMk cId="3192563852" sldId="365"/>
        </pc:sldMkLst>
      </pc:sldChg>
      <pc:sldChg chg="modSp add del mod">
        <pc:chgData name="Errol Francke" userId="1baf5052-8130-4f07-8591-895c85ed967e" providerId="ADAL" clId="{5CC828F7-7581-413F-9545-7387B2A59550}" dt="2026-03-08T07:24:08.669" v="113" actId="2696"/>
        <pc:sldMkLst>
          <pc:docMk/>
          <pc:sldMk cId="3629293217" sldId="365"/>
        </pc:sldMkLst>
        <pc:spChg chg="mod">
          <ac:chgData name="Errol Francke" userId="1baf5052-8130-4f07-8591-895c85ed967e" providerId="ADAL" clId="{5CC828F7-7581-413F-9545-7387B2A59550}" dt="2026-03-08T07:21:25.113" v="109" actId="113"/>
          <ac:spMkLst>
            <pc:docMk/>
            <pc:sldMk cId="3629293217" sldId="365"/>
            <ac:spMk id="2" creationId="{D52C3CD9-31F0-9DB1-6427-B83B6C40B57C}"/>
          </ac:spMkLst>
        </pc:spChg>
      </pc:sldChg>
      <pc:sldChg chg="modSp add del mod">
        <pc:chgData name="Errol Francke" userId="1baf5052-8130-4f07-8591-895c85ed967e" providerId="ADAL" clId="{5CC828F7-7581-413F-9545-7387B2A59550}" dt="2026-03-08T07:24:08.669" v="113" actId="2696"/>
        <pc:sldMkLst>
          <pc:docMk/>
          <pc:sldMk cId="2082576714" sldId="366"/>
        </pc:sldMkLst>
        <pc:spChg chg="mod">
          <ac:chgData name="Errol Francke" userId="1baf5052-8130-4f07-8591-895c85ed967e" providerId="ADAL" clId="{5CC828F7-7581-413F-9545-7387B2A59550}" dt="2026-03-08T07:22:21.013" v="112" actId="20577"/>
          <ac:spMkLst>
            <pc:docMk/>
            <pc:sldMk cId="2082576714" sldId="366"/>
            <ac:spMk id="2" creationId="{8BB70719-163A-8458-6784-98E1007D9959}"/>
          </ac:spMkLst>
        </pc:spChg>
      </pc:sldChg>
      <pc:sldChg chg="add">
        <pc:chgData name="Errol Francke" userId="1baf5052-8130-4f07-8591-895c85ed967e" providerId="ADAL" clId="{5CC828F7-7581-413F-9545-7387B2A59550}" dt="2026-03-08T07:24:49.518" v="114"/>
        <pc:sldMkLst>
          <pc:docMk/>
          <pc:sldMk cId="2971790158" sldId="366"/>
        </pc:sldMkLst>
      </pc:sldChg>
      <pc:sldChg chg="modSp add del mod">
        <pc:chgData name="Errol Francke" userId="1baf5052-8130-4f07-8591-895c85ed967e" providerId="ADAL" clId="{5CC828F7-7581-413F-9545-7387B2A59550}" dt="2026-03-08T11:31:55.162" v="367" actId="2696"/>
        <pc:sldMkLst>
          <pc:docMk/>
          <pc:sldMk cId="4272637789" sldId="367"/>
        </pc:sldMkLst>
        <pc:spChg chg="mod">
          <ac:chgData name="Errol Francke" userId="1baf5052-8130-4f07-8591-895c85ed967e" providerId="ADAL" clId="{5CC828F7-7581-413F-9545-7387B2A59550}" dt="2026-03-08T07:31:17.497" v="311" actId="6549"/>
          <ac:spMkLst>
            <pc:docMk/>
            <pc:sldMk cId="4272637789" sldId="367"/>
            <ac:spMk id="2" creationId="{9D675A0D-F305-FAF8-E7A2-0AEC9F8EDFAF}"/>
          </ac:spMkLst>
        </pc:spChg>
      </pc:sldChg>
      <pc:sldChg chg="modSp add mod">
        <pc:chgData name="Errol Francke" userId="1baf5052-8130-4f07-8591-895c85ed967e" providerId="ADAL" clId="{5CC828F7-7581-413F-9545-7387B2A59550}" dt="2026-03-08T10:38:18.832" v="352" actId="20577"/>
        <pc:sldMkLst>
          <pc:docMk/>
          <pc:sldMk cId="4027539091" sldId="368"/>
        </pc:sldMkLst>
        <pc:spChg chg="mod">
          <ac:chgData name="Errol Francke" userId="1baf5052-8130-4f07-8591-895c85ed967e" providerId="ADAL" clId="{5CC828F7-7581-413F-9545-7387B2A59550}" dt="2026-03-08T10:38:18.832" v="352" actId="20577"/>
          <ac:spMkLst>
            <pc:docMk/>
            <pc:sldMk cId="4027539091" sldId="368"/>
            <ac:spMk id="2" creationId="{2448EB33-7B3F-7125-B9C4-2F9FE2C30649}"/>
          </ac:spMkLst>
        </pc:spChg>
      </pc:sldChg>
      <pc:sldChg chg="modSp add mod">
        <pc:chgData name="Errol Francke" userId="1baf5052-8130-4f07-8591-895c85ed967e" providerId="ADAL" clId="{5CC828F7-7581-413F-9545-7387B2A59550}" dt="2026-03-08T10:38:06.042" v="350" actId="20577"/>
        <pc:sldMkLst>
          <pc:docMk/>
          <pc:sldMk cId="128092527" sldId="369"/>
        </pc:sldMkLst>
        <pc:spChg chg="mod">
          <ac:chgData name="Errol Francke" userId="1baf5052-8130-4f07-8591-895c85ed967e" providerId="ADAL" clId="{5CC828F7-7581-413F-9545-7387B2A59550}" dt="2026-03-08T10:38:06.042" v="350" actId="20577"/>
          <ac:spMkLst>
            <pc:docMk/>
            <pc:sldMk cId="128092527" sldId="369"/>
            <ac:spMk id="2" creationId="{E58D0EAA-CF24-A229-A947-9229BDDE67A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1F901A-D6DB-D14F-9BFE-63338435BB4B}" type="datetimeFigureOut">
              <a:rPr lang="en-GB" smtClean="0"/>
              <a:t>08/Mar/26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FEC5D-7243-E240-ABB0-81FE9EEB8FFA}" type="slidenum">
              <a:rPr lang="en-GB" smtClean="0"/>
              <a:t>‹#›</a:t>
            </a:fld>
            <a:endParaRPr lang="en-GB"/>
          </a:p>
        </p:txBody>
      </p:sp>
    </p:spTree>
    <p:extLst>
      <p:ext uri="{BB962C8B-B14F-4D97-AF65-F5344CB8AC3E}">
        <p14:creationId xmlns:p14="http://schemas.microsoft.com/office/powerpoint/2010/main" val="689312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prisma-statement.org/prisma-2020-flow-diagram"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www.prisma-statement.org/"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7706139">
            <a:off x="-4463264" y="-79969"/>
            <a:ext cx="10745360" cy="8515698"/>
          </a:xfrm>
          <a:prstGeom prst="rect">
            <a:avLst/>
          </a:prstGeom>
        </p:spPr>
      </p:pic>
      <p:sp>
        <p:nvSpPr>
          <p:cNvPr id="4" name="TextBox 4"/>
          <p:cNvSpPr txBox="1"/>
          <p:nvPr/>
        </p:nvSpPr>
        <p:spPr>
          <a:xfrm>
            <a:off x="-748676" y="2103755"/>
            <a:ext cx="5473076" cy="855362"/>
          </a:xfrm>
          <a:prstGeom prst="rect">
            <a:avLst/>
          </a:prstGeom>
        </p:spPr>
        <p:txBody>
          <a:bodyPr wrap="square" lIns="0" tIns="0" rIns="0" bIns="0" rtlCol="0" anchor="t">
            <a:spAutoFit/>
          </a:bodyPr>
          <a:lstStyle/>
          <a:p>
            <a:pPr algn="ctr">
              <a:lnSpc>
                <a:spcPts val="3359"/>
              </a:lnSpc>
            </a:pPr>
            <a:r>
              <a:rPr lang="en-US" sz="2399" spc="62" dirty="0">
                <a:solidFill>
                  <a:srgbClr val="FFFFFF"/>
                </a:solidFill>
                <a:latin typeface="League Spartan"/>
              </a:rPr>
              <a:t>Research Methodology 4 (Semester One 2026)</a:t>
            </a:r>
          </a:p>
        </p:txBody>
      </p:sp>
      <p:sp>
        <p:nvSpPr>
          <p:cNvPr id="5" name="TextBox 5"/>
          <p:cNvSpPr txBox="1"/>
          <p:nvPr/>
        </p:nvSpPr>
        <p:spPr>
          <a:xfrm>
            <a:off x="-233872" y="5073077"/>
            <a:ext cx="4563948" cy="1810385"/>
          </a:xfrm>
          <a:prstGeom prst="rect">
            <a:avLst/>
          </a:prstGeom>
        </p:spPr>
        <p:txBody>
          <a:bodyPr lIns="0" tIns="0" rIns="0" bIns="0" rtlCol="0" anchor="t">
            <a:spAutoFit/>
          </a:bodyPr>
          <a:lstStyle/>
          <a:p>
            <a:pPr algn="ctr">
              <a:lnSpc>
                <a:spcPts val="3640"/>
              </a:lnSpc>
            </a:pPr>
            <a:r>
              <a:rPr lang="en-US" sz="2600" spc="67">
                <a:solidFill>
                  <a:srgbClr val="FFFFFF"/>
                </a:solidFill>
                <a:latin typeface="League Spartan"/>
              </a:rPr>
              <a:t>A LECTURE SERIES PRESENTED BY </a:t>
            </a:r>
          </a:p>
          <a:p>
            <a:pPr algn="ctr">
              <a:lnSpc>
                <a:spcPts val="3640"/>
              </a:lnSpc>
            </a:pPr>
            <a:r>
              <a:rPr lang="en-US" sz="2600" spc="67">
                <a:solidFill>
                  <a:srgbClr val="FFFFFF"/>
                </a:solidFill>
                <a:latin typeface="League Spartan"/>
              </a:rPr>
              <a:t>DR E.FRANCKE</a:t>
            </a:r>
          </a:p>
          <a:p>
            <a:pPr algn="ctr">
              <a:lnSpc>
                <a:spcPts val="3640"/>
              </a:lnSpc>
            </a:pPr>
            <a:endParaRPr lang="en-US" sz="2600" spc="67">
              <a:solidFill>
                <a:srgbClr val="FFFFFF"/>
              </a:solidFill>
              <a:latin typeface="League Spartan"/>
            </a:endParaRPr>
          </a:p>
        </p:txBody>
      </p:sp>
      <p:sp>
        <p:nvSpPr>
          <p:cNvPr id="6" name="TextBox 6"/>
          <p:cNvSpPr txBox="1"/>
          <p:nvPr/>
        </p:nvSpPr>
        <p:spPr>
          <a:xfrm>
            <a:off x="5189652" y="2103755"/>
            <a:ext cx="4563948" cy="4139595"/>
          </a:xfrm>
          <a:prstGeom prst="rect">
            <a:avLst/>
          </a:prstGeom>
        </p:spPr>
        <p:txBody>
          <a:bodyPr lIns="0" tIns="0" rIns="0" bIns="0" rtlCol="0" anchor="t">
            <a:spAutoFit/>
          </a:bodyPr>
          <a:lstStyle/>
          <a:p>
            <a:pPr algn="ctr">
              <a:lnSpc>
                <a:spcPts val="3640"/>
              </a:lnSpc>
            </a:pPr>
            <a:r>
              <a:rPr lang="en-US" sz="2600" spc="67" dirty="0">
                <a:latin typeface="League Spartan"/>
              </a:rPr>
              <a:t>LECTURE SIX</a:t>
            </a:r>
          </a:p>
          <a:p>
            <a:pPr algn="ctr">
              <a:lnSpc>
                <a:spcPts val="3640"/>
              </a:lnSpc>
            </a:pPr>
            <a:endParaRPr lang="en-US" sz="2600" spc="67" dirty="0">
              <a:latin typeface="League Spartan"/>
            </a:endParaRPr>
          </a:p>
          <a:p>
            <a:pPr algn="ctr">
              <a:lnSpc>
                <a:spcPts val="3640"/>
              </a:lnSpc>
            </a:pPr>
            <a:r>
              <a:rPr lang="en-US" sz="2600" spc="67" dirty="0">
                <a:latin typeface="League Spartan"/>
              </a:rPr>
              <a:t>Reviewing the Literature</a:t>
            </a:r>
          </a:p>
          <a:p>
            <a:pPr algn="ctr">
              <a:lnSpc>
                <a:spcPts val="3640"/>
              </a:lnSpc>
            </a:pPr>
            <a:r>
              <a:rPr lang="en-US" sz="2600" spc="67" dirty="0">
                <a:latin typeface="League Spartan"/>
              </a:rPr>
              <a:t>(Kumar Chapter 3)</a:t>
            </a:r>
            <a:endParaRPr lang="en-ZA" sz="2600" spc="67" dirty="0">
              <a:latin typeface="League Spartan"/>
            </a:endParaRPr>
          </a:p>
          <a:p>
            <a:pPr algn="ctr">
              <a:lnSpc>
                <a:spcPts val="3640"/>
              </a:lnSpc>
            </a:pPr>
            <a:endParaRPr lang="en-US" sz="2600" spc="67" dirty="0">
              <a:latin typeface="League Spartan"/>
            </a:endParaRPr>
          </a:p>
          <a:p>
            <a:pPr algn="ctr">
              <a:lnSpc>
                <a:spcPts val="3640"/>
              </a:lnSpc>
            </a:pPr>
            <a:endParaRPr lang="en-US" sz="2600" spc="67" dirty="0">
              <a:latin typeface="League Spartan"/>
            </a:endParaRPr>
          </a:p>
          <a:p>
            <a:pPr algn="ctr">
              <a:lnSpc>
                <a:spcPts val="3640"/>
              </a:lnSpc>
            </a:pPr>
            <a:endParaRPr lang="en-US" sz="2600" spc="67" dirty="0">
              <a:latin typeface="League Spartan"/>
            </a:endParaRPr>
          </a:p>
          <a:p>
            <a:pPr algn="ctr">
              <a:lnSpc>
                <a:spcPts val="3640"/>
              </a:lnSpc>
            </a:pPr>
            <a:r>
              <a:rPr lang="en-US" sz="2600" spc="67" dirty="0">
                <a:latin typeface="League Spartan"/>
              </a:rPr>
              <a:t>09 March 2026</a:t>
            </a:r>
          </a:p>
          <a:p>
            <a:pPr algn="ctr">
              <a:lnSpc>
                <a:spcPts val="3640"/>
              </a:lnSpc>
            </a:pPr>
            <a:endParaRPr lang="en-US" sz="2600" spc="67" dirty="0">
              <a:latin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960F322A-E24F-04B2-8C75-AD3EFEE8B004}"/>
              </a:ext>
            </a:extLst>
          </p:cNvPr>
          <p:cNvSpPr txBox="1"/>
          <p:nvPr/>
        </p:nvSpPr>
        <p:spPr>
          <a:xfrm>
            <a:off x="713782" y="1341402"/>
            <a:ext cx="82016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THE LITERATURE REVIEW</a:t>
            </a:r>
            <a:endParaRPr lang="en-US" sz="2800" spc="86" dirty="0">
              <a:solidFill>
                <a:schemeClr val="bg1"/>
              </a:solidFill>
            </a:endParaRPr>
          </a:p>
          <a:p>
            <a:pPr indent="-228600">
              <a:lnSpc>
                <a:spcPct val="90000"/>
              </a:lnSpc>
              <a:spcAft>
                <a:spcPts val="800"/>
              </a:spcAft>
              <a:buFont typeface="Arial" panose="020B0604020202020204" pitchFamily="34" charset="0"/>
              <a:buChar char="•"/>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This lecture introduces you to the literature review as a practical skill in ICT research. </a:t>
            </a:r>
          </a:p>
          <a:p>
            <a:pPr indent="-228600">
              <a:lnSpc>
                <a:spcPct val="90000"/>
              </a:lnSpc>
              <a:spcAft>
                <a:spcPts val="800"/>
              </a:spcAft>
              <a:buFont typeface="Arial" panose="020B0604020202020204" pitchFamily="34" charset="0"/>
              <a:buChar char="•"/>
            </a:pPr>
            <a:r>
              <a:rPr lang="en-US" sz="2400" spc="86" dirty="0">
                <a:solidFill>
                  <a:schemeClr val="bg1"/>
                </a:solidFill>
              </a:rPr>
              <a:t>A good literature review helps you understand: </a:t>
            </a:r>
          </a:p>
          <a:p>
            <a:pPr lvl="1" indent="-228600">
              <a:lnSpc>
                <a:spcPct val="90000"/>
              </a:lnSpc>
              <a:spcAft>
                <a:spcPts val="800"/>
              </a:spcAft>
              <a:buFont typeface="Arial" panose="020B0604020202020204" pitchFamily="34" charset="0"/>
              <a:buChar char="•"/>
            </a:pPr>
            <a:r>
              <a:rPr lang="en-US" sz="2400" spc="86" dirty="0">
                <a:solidFill>
                  <a:schemeClr val="bg1"/>
                </a:solidFill>
              </a:rPr>
              <a:t>what is already known, </a:t>
            </a:r>
          </a:p>
          <a:p>
            <a:pPr lvl="1" indent="-228600">
              <a:lnSpc>
                <a:spcPct val="90000"/>
              </a:lnSpc>
              <a:spcAft>
                <a:spcPts val="800"/>
              </a:spcAft>
              <a:buFont typeface="Arial" panose="020B0604020202020204" pitchFamily="34" charset="0"/>
              <a:buChar char="•"/>
            </a:pPr>
            <a:r>
              <a:rPr lang="en-US" sz="2400" spc="86" dirty="0">
                <a:solidFill>
                  <a:schemeClr val="bg1"/>
                </a:solidFill>
              </a:rPr>
              <a:t>what methods have been used, </a:t>
            </a:r>
          </a:p>
          <a:p>
            <a:pPr lvl="1" indent="-228600">
              <a:lnSpc>
                <a:spcPct val="90000"/>
              </a:lnSpc>
              <a:spcAft>
                <a:spcPts val="800"/>
              </a:spcAft>
              <a:buFont typeface="Arial" panose="020B0604020202020204" pitchFamily="34" charset="0"/>
              <a:buChar char="•"/>
            </a:pPr>
            <a:r>
              <a:rPr lang="en-US" sz="2400" spc="86" dirty="0">
                <a:solidFill>
                  <a:schemeClr val="bg1"/>
                </a:solidFill>
              </a:rPr>
              <a:t>where the gaps are, and </a:t>
            </a:r>
          </a:p>
          <a:p>
            <a:pPr lvl="1" indent="-228600">
              <a:lnSpc>
                <a:spcPct val="90000"/>
              </a:lnSpc>
              <a:spcAft>
                <a:spcPts val="800"/>
              </a:spcAft>
              <a:buFont typeface="Arial" panose="020B0604020202020204" pitchFamily="34" charset="0"/>
              <a:buChar char="•"/>
            </a:pPr>
            <a:r>
              <a:rPr lang="en-US" sz="2400" spc="86" dirty="0">
                <a:solidFill>
                  <a:schemeClr val="bg1"/>
                </a:solidFill>
              </a:rPr>
              <a:t>how to justify your own study. </a:t>
            </a: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836907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254BB6D5-F920-B0B5-E784-E63C8DBC0D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9AE06E0-9279-C009-0F6D-F20B179FA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45E00F94-D74B-7435-9435-0410D81877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759281AD-9A90-B51A-B148-BCF23362D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FFE06A3B-D621-570D-C349-794B93817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BF397E-9E7A-B365-F9CF-80397D977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C2F974C2-EBCC-7B0D-601A-9387F8B7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6524A39-E7F4-5B72-66F2-4E75F873E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35FE8E2-C99F-51A6-06EA-917F27F8F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4250DD-D20D-3218-4298-60FEB17FC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BE677FB-EFEB-CA91-581C-3D6A4E364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4E0FE2F-3127-C213-EE22-9A53D16D8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9668588-B142-2AD4-6524-8DF279E4F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EEAE66B-119B-052C-1AC0-64D5ACB3B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61BC18-6899-0C6D-565F-2FDF8F0EC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9BB1F51-E22A-D40A-F0FA-D42334F2E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9F63DFF-E58D-E1C6-2A97-5E68227FF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7C0B32-9FFA-FAE4-3E3F-7A698AF7DE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B245D1-96E2-846E-3B9C-061DD631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FD9B147-E7C8-C2AF-A1C8-2D362FD05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A1E85AB-16A9-0B1E-DFDD-C7F6C974D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909985C9-6FA6-D66B-14FA-A3BFB932D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F12D137-9BB1-373C-B6F9-F68D144B40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CC32DDC-A961-8341-029F-9AC036D26C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1309237-6026-A0AC-F2E4-D7D975B2A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968B843-6D64-509B-1522-5EE402799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9C8C07F-1D52-9115-036A-DFF4D0AF6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444434D-5565-C72D-516F-349713E790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5F503C1-2312-6323-3DA7-DDCFB2DE1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773F2D5-72E3-3398-CF68-1F066AC4EC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7338223-C90B-B4A3-F685-69340CC4B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8DBEF600-1F91-AB5F-93DC-59B2477D0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F00CC639-5744-01E6-610B-424276F60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F33FC38-958C-2EAF-D07B-375ECA91E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65FDAD3-A802-A4B0-8ECD-2F0D583A0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A37DBD3-88D0-D633-A527-91DF88D0B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E8907A2-3C41-1CCD-99F0-EB2892B604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3251701-8EBF-BED8-91E7-969B6732D1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7CA70C2-54FB-3F2D-E260-897360AAD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805DA65-11D9-B2F7-9A60-DA286EA5B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1D66638-9FEE-3A53-1A40-75BF2C8BE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8FDD7CF-EF54-AAB1-C5F1-70D437847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7A4BFC0-65F2-BEC8-2699-28A6AAF66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9CDB800-BDAE-4AE4-4237-137524F730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438E2A52-3034-2558-2D16-DC4E5D05C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F49DEF6-7AA7-585B-53AA-560B91BF5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41150951-B0AC-3671-63B3-7E70EC7F87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D9347CF3-8EF2-E48F-9D8B-D7A35287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1836FB0-F0DF-9CDE-E4AF-6A224A60D6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A0487CF-7E13-F0ED-427B-898A8AE89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430E7C7-A96C-4B03-F60C-65E13E34A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5752BB16-F074-B4F4-06A2-1F85AEAD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392F2316-BAB4-5818-C457-68F007D1E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6AA180-6BAC-E653-080B-1640F25BB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03450AFD-5B91-0A24-6C9C-246786585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1001153B-9A39-AC1C-6A8C-4D281BE570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40C7B48-BB37-FB6F-BDA8-D8C263834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F80EDA9C-B6D6-B218-CBE4-257323EA7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3256ABC-4320-E1FD-15AA-44736BA00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76626D5-65B4-11E0-9A3F-B914B8BE7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0974D3A0-18D7-81D6-1765-E8B7FC2ADF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5B98BB0-987F-525D-8AA2-4E979942C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C89611BF-C2F4-B0CE-EDDD-2B0560F52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1E20FA6-C02C-5E1A-E043-A5DF8394A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B72973B3-B6E7-8320-D5CF-048F7393F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9E99FF78-10F0-2103-0354-6DF3F5E0A3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DAC4E9F6-1197-0137-F8CA-DEC674FB27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641384F-E732-3EB8-A7BC-38FEDEE2F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75A89CE-9C39-8D33-F56C-EACA266CB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6DB380-730E-E513-7982-5AA4E6AB5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AFD9B6C-7E3A-E60E-F210-30D2BE7E6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77A942B-AAED-1E97-DD4B-1F7B93B33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CC3D50C-408E-B008-59FE-2DD9BF8F9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30D74D75-F29C-FE5E-3708-09957FE6F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1BC9860-9BD6-7226-356F-7F7BF5287E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4397985-4CC1-49A2-A9F4-0C30C163D5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84C6914A-C909-E5D1-D9AA-4A2F01305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CA2FCDB7-F32B-9B0F-145B-A792596F7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7CED1782-C622-B2E9-B29E-B14F62AE5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FD61DE3-8036-173B-42BE-6145D4FDF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45039AF2-C473-BE49-94EF-E3FB885BD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F7294D7-E934-F616-EB5D-C02FAB4DC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F95078F-E4B8-2FC6-2588-099947BB7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AF9B507-B3BF-999D-4544-7E2ADB519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182859A-C3D1-B1EE-409D-B94F549D7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D2C878ED-F77F-4CD7-6A89-46B6100E5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235F5FB-5AD5-DF08-D707-CC6AB4F78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95B39A2-7EC8-65DC-15D9-F4269F82F0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8C1DF403-5616-7D52-4F10-FC9383BEB7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E82FC7D-CBFD-16D6-3732-FCC6F4E1D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DF59F30-9DB2-13E8-0EBE-C63734E844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2C2941F8-E0EF-77D3-D893-F77C663FBC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3B953EC-EDDC-FA44-856A-FCAB5BA0D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6671D10A-51C4-D09E-B942-823A09343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ABADF88-D0D0-3BA5-C48C-2A1222850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095C5942-5A5A-E443-F8E5-1B72B726F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E91B73D-E129-52C2-9631-8D3619946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95BA463A-7797-4408-BCAE-850FC7BD3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8704E68-4D41-83B6-2A74-507698AC0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895D8EC-9844-4FE5-8E38-BF36BE141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EE07984D-414D-60DE-15CB-05C98CC5A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65F40E5F-810C-ED6A-66BD-545A44321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E4ECFBE8-02A6-5A2F-3614-D6274F17EA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B4FF2B9-B548-73AE-E88E-D877CA42C1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2A78F911-35D8-BFCD-F0B1-D84EFEAD8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0B5B2F3E-9D59-67A9-D215-4251A3141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668E133-DE89-A335-B22F-C1F231957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A85CB66F-FEBF-085F-28F8-39CA0DBB7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A40A6CF-9BE9-A244-54A4-96C5C682A9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836673B0-0036-CB13-FBB0-BF6A2A334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3F184968-482D-5A25-F315-D9E2E37B15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788073-36F6-B888-EBCD-6CBFF6A224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EADA87B5-E683-594E-9B2C-1F9CABC43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1EED0C4B-CBF2-D0F5-C344-5A9839F6A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4CD12555-5A19-ADC1-647C-4DBBCB9F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9E06C6A-ED3A-E5A5-E7DD-C6B3257B40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FF2CFDE8-5E0C-55C4-A818-D8D408F1F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3EB07BB-C579-A0CB-AE77-53D94250E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67555E72-9EA3-F6A2-5389-E26479F12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86C1A6A-8F0F-6AA7-5EA5-6BDD29B22B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C1CAD0F-BA4F-564B-62A4-423AA5E15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7FD4A12-E4A0-AE3D-3F36-728CA7851F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4B8F262D-BE07-6031-7EF5-EB5222F4F0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E773FB5-5D52-8CBF-13CC-842A0BEDE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B803197F-0C43-4369-F3B5-E54E4BB88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E6BF4C9-D29B-C866-AB66-A756A5634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9C6E9A2-408B-A029-F792-7E7AECCF06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D28B8C-06DB-FF05-E3CF-BF7F96A9C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D706E16-1E1C-03E1-EA19-F697EF101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CC42831-8B9F-E8A2-C66F-12C0E0C23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2B5E5C9-6122-07B4-BD40-7983AF3E3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1004C324-A2AB-91C8-BA65-814CD968E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0DA87520-A443-2F31-4B57-1B16CFFAD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B95F1F85-7826-7DDE-6186-A1B2D74CC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2528B21-AA5C-A12E-DD52-F38FE621E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477CDA8-5CD0-FF8C-3209-9B8AC9B5B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9C4BD70-C74F-08AE-2985-C5719C4634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BD317E78-272D-7C98-D9CE-68FC2F018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30229B67-9955-78B9-D042-5DD292CE9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52351724-2E12-B4EE-5AA9-65EF3B372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7CB67383-8EC5-A568-AED8-75087AE8C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65722A9E-5FF2-1FD0-74F7-D783164BD2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ABF0423D-EF7B-74B2-E35F-234613FF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3F39ADF8-2F8C-5AE4-343E-4DB53444C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9ADDA8D-179C-0C37-D29B-2703145B1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57911371-C20B-3617-5864-00FB19C92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6433D90B-D4AE-C5F0-2E53-C29FC8D13158}"/>
              </a:ext>
            </a:extLst>
          </p:cNvPr>
          <p:cNvSpPr txBox="1"/>
          <p:nvPr/>
        </p:nvSpPr>
        <p:spPr>
          <a:xfrm>
            <a:off x="713782" y="1341402"/>
            <a:ext cx="82016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THE LITERATURE REVIEW</a:t>
            </a:r>
            <a:endParaRPr lang="en-US" sz="2800" spc="86" dirty="0">
              <a:solidFill>
                <a:schemeClr val="bg1"/>
              </a:solidFill>
            </a:endParaRPr>
          </a:p>
          <a:p>
            <a:pPr indent="-228600">
              <a:lnSpc>
                <a:spcPct val="90000"/>
              </a:lnSpc>
              <a:spcAft>
                <a:spcPts val="800"/>
              </a:spcAft>
              <a:buFont typeface="Arial" panose="020B0604020202020204" pitchFamily="34" charset="0"/>
              <a:buChar char="•"/>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In Kumar’s research process, reviewing the literature:</a:t>
            </a:r>
          </a:p>
          <a:p>
            <a:pPr lvl="1" indent="-228600">
              <a:lnSpc>
                <a:spcPct val="90000"/>
              </a:lnSpc>
              <a:spcAft>
                <a:spcPts val="800"/>
              </a:spcAft>
              <a:buFont typeface="Arial" panose="020B0604020202020204" pitchFamily="34" charset="0"/>
              <a:buChar char="•"/>
            </a:pPr>
            <a:r>
              <a:rPr lang="en-US" sz="2400" spc="86" dirty="0">
                <a:solidFill>
                  <a:schemeClr val="bg1"/>
                </a:solidFill>
              </a:rPr>
              <a:t>supports problem formulation, </a:t>
            </a:r>
          </a:p>
          <a:p>
            <a:pPr lvl="1" indent="-228600">
              <a:lnSpc>
                <a:spcPct val="90000"/>
              </a:lnSpc>
              <a:spcAft>
                <a:spcPts val="800"/>
              </a:spcAft>
              <a:buFont typeface="Arial" panose="020B0604020202020204" pitchFamily="34" charset="0"/>
              <a:buChar char="•"/>
            </a:pPr>
            <a:r>
              <a:rPr lang="en-US" sz="2400" spc="86" dirty="0">
                <a:solidFill>
                  <a:schemeClr val="bg1"/>
                </a:solidFill>
              </a:rPr>
              <a:t>strengthens your research design choices, and </a:t>
            </a:r>
          </a:p>
          <a:p>
            <a:pPr lvl="1" indent="-228600">
              <a:lnSpc>
                <a:spcPct val="90000"/>
              </a:lnSpc>
              <a:spcAft>
                <a:spcPts val="800"/>
              </a:spcAft>
              <a:buFont typeface="Arial" panose="020B0604020202020204" pitchFamily="34" charset="0"/>
              <a:buChar char="•"/>
            </a:pPr>
            <a:r>
              <a:rPr lang="en-US" sz="2400" spc="86" dirty="0">
                <a:solidFill>
                  <a:schemeClr val="bg1"/>
                </a:solidFill>
              </a:rPr>
              <a:t>helps you write a credible proposal and final report (Kumar, 2011).</a:t>
            </a:r>
          </a:p>
        </p:txBody>
      </p:sp>
      <p:grpSp>
        <p:nvGrpSpPr>
          <p:cNvPr id="155" name="Graphic 190">
            <a:extLst>
              <a:ext uri="{FF2B5EF4-FFF2-40B4-BE49-F238E27FC236}">
                <a16:creationId xmlns:a16="http://schemas.microsoft.com/office/drawing/2014/main" id="{4CD673B4-EB01-B14B-A68F-A63333922F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C5C21D8F-6175-47FA-A6B8-9DD1E21F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ED53E46-53A4-E06E-A499-879CA9884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110B5D2-28B3-065A-8C91-2C6B69285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A221728C-7882-1331-657F-A7752373F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343050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0394BF5D-6479-1BA8-D72F-747C457C8EC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A898400-76CA-C778-6C31-6DEB39557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36039875-E623-0C1A-4615-47061BE2A3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84722C5-BBE8-A89A-CF8E-3FEB61F81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BA5DA2B-3569-08A8-C7D6-702186545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1DCC4A-9726-0BD3-595B-7EEEB57D4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CB62389-7D51-5224-B21F-260126B81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7BD94DB-EA09-82BA-42E2-6AEC3DEB7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1120F96-2080-74CB-E3ED-D25ECB5A3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DB7EE64-0973-8996-7132-6C848D7C2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67C79DF-52A6-AFC5-2C94-838589A8C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981A0B3-90F8-B529-A0D8-C5319A5E8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B28FE2B-E980-A837-8A03-CC11BBDB9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6EA172C-22A9-00C0-65C3-C6AA864BD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8824D17-3276-C2FB-076F-6BB753526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94496EA-992C-391A-27E5-36DA4343E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F07E17F-9744-F832-78AC-E993F7D0C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ED23695-8484-AC1E-6D59-45E8C89C6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A1BDD8C-3CF8-81C2-9166-560EB0B2C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92DA952-28B4-889C-75A0-B186EE3E6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03A574F-3428-3A33-54C6-96D8A2560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07C5926-E24A-FFA3-4D4A-ADB01A95B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310909D-D3BE-0CA4-F6F7-AF5AA4484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F550390-B501-7D52-2F88-6134CC4FE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732A394-14B7-95C7-71DF-CF651A573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C5E78D-F771-AD77-BCE3-51E54F272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8EA1377-15CA-9FB3-2B44-B8AA69B45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9850105-BAA5-13B8-DC88-807938A24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9E27FE0-D2D4-9B91-6D17-E5B065889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3DA637C-2A90-5609-DB4F-FA5E4C7A4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BC07C99-3BB6-557B-8F9D-579870246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B34028E4-38C5-28E1-00B5-0D3B6E2DA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285800C-4A7B-2504-0EE6-9AAC1355E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E30F756-D9EC-D299-BC39-2CAB214E1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BE52446-2182-5FDB-E06E-34B1486C8C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C97BA27-FC39-5103-162B-3519A50AD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A86FD45-A04A-4296-ED3C-D529816C9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B2C1025-356E-7B64-3068-3DED843BF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C30770F-665A-8F7C-BC46-636E757BA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B5F471E-F9C5-BB8A-35AC-01F938EF84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5FE140D-06E3-9DAF-2DB2-4ABAE5C37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26E4A73-572E-C803-F324-474795871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6F5242C-92CF-BF79-7750-EB3C12934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3A21980-CFB1-E263-9476-247155F98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D5CFF88-F44D-E833-DDDD-28D89531B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A19797E-00C6-01BB-035E-F0DE777B1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781CE02-ECE1-4FC5-3089-980524A82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441579B-7D06-6DCA-1A41-D760CA01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F716984-5D25-D1DE-71A3-03383548F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046F74F-EF11-9431-BC15-DAC2361E5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47E2ADA-1AB0-9219-A748-61BD48958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921CE8B5-1315-3013-4D9B-A6ED080E8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EBE53A4-A6EC-8B77-AF80-7932A8796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AB432C8C-382F-5D34-46F5-951942E2F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D0C86A5-1C37-9002-059D-9933C645F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0CBDCDD-7CD0-B385-2CF3-BF9E9135F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898ED84-954E-141A-626F-26A43F852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653CBB9-363D-8C5C-E450-51EC63D19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FB6376D-BF12-8CAF-014C-9CCFFE651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265F066-9165-8242-D970-D06032C8F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FCF9161-7068-E26E-6C68-C4B5757B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F32214C1-F2B8-C86A-5E61-C5D964A43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01185EB-A7B7-9B44-86C1-26703CE9E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70F2D8D5-28D7-1AF4-33D9-E7BC57F14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ECA9C3C-B2AA-CE6A-FA15-7982A9ED4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61FE929-0150-0E00-6358-DA22AE4C6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4BD8C9D-E0B8-A064-A80C-30959D23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5C3E9A2-895F-1EE6-FDDC-C68C5D694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FBDE13C-18FD-CA12-B544-E70855038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C2C5E2E-57F7-FB71-077F-DF4D613CCA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6BDCB409-0D7E-E783-1F57-E394A5EF7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EEB13DE-7226-7608-739C-28D4F113B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88E3E42-9E7F-15F5-C8D0-56797DD573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7033311-C60C-963D-7575-A24774A85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160C82D-6DBF-B924-4877-AB793793D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EC3C3D4-7626-9AA2-4F21-639E34459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C58F16F-0D2B-984D-9CD8-AF1D68AED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5831E01-C04D-4037-87EB-25079174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DBBF972-DD9E-AC18-98A3-9F7D987F6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56B8D2F7-B879-2AE6-C118-3DB598452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45FBD7B-4B25-FAD0-ACB7-0C7D701E4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CB50443-D675-F4A7-89E2-48255EB45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0E6562AB-99CB-734D-5EE2-568EE04EA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97D3229-A8FE-8A79-ACE7-B0B2D37EC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81CF788-FF2B-2A85-B0A7-97AEF9FF3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9DB8A31-B6CB-9F2C-CA0F-0355A1496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6445F59-7293-5E5F-7E5D-E5F3F7323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25B7FE4-DC90-C88C-7656-2243E91F4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8CE9544-B456-0C3C-416B-D1552B054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2EA2CFB-42CF-DF65-CF87-8E1A8009F1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09BE36E-41F7-4EF0-E1E3-AAE9BB8E0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2E5B68F-891C-C5CD-9417-CAC7FAE05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A355682-621E-0CB3-77A9-E23871E01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CD9B2CA-B807-FCAF-C7A3-DA2F02053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DF6DA4E-484F-C1D4-EDB5-C7F32A0A4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C92140B-B2E9-3349-940C-8EC9F54AB1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AC50C42-83FB-5DC8-3C4E-277BE9BB4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A1D71B9-58D5-AEB9-BB3C-0E79783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C91DB04-90E0-A608-FB35-D32499113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13EAD53-EB1D-B6DC-181C-82F11DB564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5B91E54-7FDB-0D67-7CD1-19EAA8F61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3889135-6C69-A709-973A-E1C643124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A8D9AB6D-02EC-2B10-908E-23A7CBC39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86C6ED9-4A0D-CF47-454B-854356D88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0CE1B89-CFB0-DC5A-F0E6-F9C3B8540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7D51D9E-B0FD-EA81-202C-6DD78F926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0B3E2FF-B82F-63AB-611E-5EFDFB6B1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40B37335-8CE1-CF2E-1C70-21366E79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DF34E9E9-CEBC-55AC-AFCB-D38437CF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8C59D2E-DE25-8FCF-0B17-21F74A934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52E6B9F-3DB9-A646-8235-843EBEB9F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00BA499-C9BC-5417-3C5B-99FFD808F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FB0CBDC-E5AF-1E24-9B6D-35428C22E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EDA61CD-C77F-B754-6234-3075F8D43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92435E7-FA2B-8B20-B3BA-9AD4CBAB2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393CFCA-DBAC-06EF-724B-6475CDD92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134F47D-DC18-6BC6-4E17-5BA4A29BB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9BC4C7B-ABBE-CEAF-3255-E8787F105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362431A-7936-4977-8918-6E86133B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0C28C3AA-D477-7E11-95E3-24BF50064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0754C08-7DC3-8E5E-0B45-F726C4B2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ABBEFCF6-CE1F-D1D6-7470-36A9E726B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A26649C-8357-D701-245C-F0014D5DF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504508A2-8629-4265-4A90-5B82DF05D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D040774-EECF-6E7B-C14E-D4721B3CD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7F5AB78-BCE8-4BDE-29DF-A19D9CF95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70E5195-7506-3EA6-3361-975D1B510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64089AF-E95B-58CD-097E-E452FAD86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17258EE-D5E3-238F-74BA-F0E138FD4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548D7C9-5542-5B0A-D7C4-F2A65EFA3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A45A5D8-4847-30B9-7209-3C4F7F707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8692FD13-096E-918F-081E-563E0FD21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EC9E18F-CBB8-EDE7-D352-694D97590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3EC76B6-19BA-C858-E564-86007A45C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72EA04B-7F4B-5608-06DF-877C833FE3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6F7973E-2BF1-E9ED-DB58-7F4E41BFFF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27F67BB-EB40-DA6B-183A-E8891CD30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FD6013C3-5355-6C5D-3BC5-BFE957F82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D88E3735-6772-5A2C-FBC4-1CB8B7DE9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EBD4825-24C8-6C6B-1FC5-036466F8E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CE7E59B5-3CDF-E99B-61E3-C84DD5308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A04399AD-CB0D-DC52-649C-F835889B0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EDB02F2-D2E8-C572-E3E0-2A0479539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673265DE-0699-F03A-44D9-5B5123EAE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C92F751C-CB85-7CCB-9BD1-8C622211A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4C581BB-1EC7-B667-E6C2-7F9361D0D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91E1399E-5075-7C31-98B9-B16C0D5B21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5A1E3FB-2CAB-BFFB-6AF6-B84271527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EEAC697-89C4-EF9E-8EAD-59C696A29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1D740C01-426C-472D-E6B6-976938837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1897FA90-263D-7821-28A1-F6AC6B1F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B3263511-9E8D-1C31-D29F-31B50DDCCEF3}"/>
              </a:ext>
            </a:extLst>
          </p:cNvPr>
          <p:cNvSpPr txBox="1"/>
          <p:nvPr/>
        </p:nvSpPr>
        <p:spPr>
          <a:xfrm>
            <a:off x="838200" y="336988"/>
            <a:ext cx="6705600" cy="6749612"/>
          </a:xfrm>
          <a:prstGeom prst="rect">
            <a:avLst/>
          </a:prstGeom>
          <a:solidFill>
            <a:schemeClr val="tx1"/>
          </a:solidFill>
        </p:spPr>
        <p:txBody>
          <a:bodyPr vert="horz" lIns="91440" tIns="45720" rIns="91440" bIns="45720" rtlCol="0">
            <a:noAutofit/>
          </a:bodyPr>
          <a:lstStyle/>
          <a:p>
            <a:pPr marL="514350" indent="-514350">
              <a:lnSpc>
                <a:spcPct val="90000"/>
              </a:lnSpc>
              <a:spcAft>
                <a:spcPts val="800"/>
              </a:spcAft>
              <a:buAutoNum type="alphaUcPeriod"/>
            </a:pPr>
            <a:r>
              <a:rPr lang="en-US" sz="2800" b="1" spc="86" dirty="0">
                <a:solidFill>
                  <a:schemeClr val="bg1"/>
                </a:solidFill>
              </a:rPr>
              <a:t>What is a literature review and why does it matter in ICT?</a:t>
            </a:r>
          </a:p>
          <a:p>
            <a:pPr>
              <a:lnSpc>
                <a:spcPct val="90000"/>
              </a:lnSpc>
              <a:spcAft>
                <a:spcPts val="800"/>
              </a:spcAft>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A literature review is a structured and critical reading of academic and professional sources relevant to your research problem. </a:t>
            </a:r>
          </a:p>
          <a:p>
            <a:pPr indent="-228600">
              <a:lnSpc>
                <a:spcPct val="90000"/>
              </a:lnSpc>
              <a:spcAft>
                <a:spcPts val="800"/>
              </a:spcAft>
              <a:buFont typeface="Arial" panose="020B0604020202020204" pitchFamily="34" charset="0"/>
              <a:buChar char="•"/>
            </a:pPr>
            <a:r>
              <a:rPr lang="en-US" sz="2400" spc="86" dirty="0">
                <a:solidFill>
                  <a:schemeClr val="bg1"/>
                </a:solidFill>
              </a:rPr>
              <a:t>It is not a list of summaries. </a:t>
            </a:r>
          </a:p>
          <a:p>
            <a:pPr indent="-228600">
              <a:lnSpc>
                <a:spcPct val="90000"/>
              </a:lnSpc>
              <a:spcAft>
                <a:spcPts val="800"/>
              </a:spcAft>
              <a:buFont typeface="Arial" panose="020B0604020202020204" pitchFamily="34" charset="0"/>
              <a:buChar char="•"/>
            </a:pPr>
            <a:r>
              <a:rPr lang="en-US" sz="2400" spc="86" dirty="0">
                <a:solidFill>
                  <a:schemeClr val="bg1"/>
                </a:solidFill>
              </a:rPr>
              <a:t>It builds an argument for why your study is needed and how it connects to existing knowledge.</a:t>
            </a:r>
          </a:p>
        </p:txBody>
      </p:sp>
    </p:spTree>
    <p:extLst>
      <p:ext uri="{BB962C8B-B14F-4D97-AF65-F5344CB8AC3E}">
        <p14:creationId xmlns:p14="http://schemas.microsoft.com/office/powerpoint/2010/main" val="3121954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48C0DB79-FC83-313F-D8E5-CEB1F98A01C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1B460A9-C798-2817-DA84-BF545995B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D23D6CF1-9262-FBA1-E5CC-C83E72B306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7403EACF-E180-44FD-3B5B-CC9B6EA4A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3AEFE8EB-2310-F179-985E-11BD613CD4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E2807CD-2717-7E2E-0FFF-DC213F5D33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CEBF490-312C-2A9E-62AE-18006F271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76BBEFB-5A78-6331-F130-1AFA8DE09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D34B6CA-90DB-0E6B-4E45-1A8807D35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562B7BD-9BDC-E2F5-FDE7-6459A36B6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B80D5C9-5C38-56CC-C9AD-7C8A6D3BD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0072E76-2B9B-5B0B-373F-B840D2B87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55B094B-07E6-6A57-0A86-DE1EC49A88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83EFEF5-5546-13A8-CF1F-E34ED20CE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C2B789D-B029-1F22-8D51-737ADA568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2617F30-5967-D6D0-6C05-2E67B26F6D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439262B4-2176-EE5B-CF66-1B66AE994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3F810A3-F7BE-BB33-CF15-D2590C9CF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18EE2F4-1E96-2C2C-E610-0C917D882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F97FFF7-2C3F-6A1C-8E71-421A34408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21C340-C5D8-53D1-A6E0-F9EDF9ADE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B127E7F-BA8C-7C62-9982-45DBFF17B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D9C68D2-19D8-0BE4-9B4C-90E424774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D29B58-CD2F-972F-A1B1-77CE14971F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5B36A15-A00A-D0D7-331E-1104F73E57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B877FD1-5DD6-F540-879D-8FBA77240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E04E7A4-F992-BF00-25EA-09FE0A965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49FE8140-1C95-97A7-B7BB-9D7150E93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283A193-32C9-3F2F-5FE1-E6DFDCCD3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7717282-8957-CE9A-1BFD-59366E856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B8938CEB-ADC2-C42E-B718-5EBB4CBE5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C20608F-96B8-7E45-BBFE-DECF78C1F0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71072B8-66FD-B205-3E4E-0CF7333860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B65F2AD-7348-C35E-A588-447C2BF8A1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4D6B759-A6A2-B829-4E56-FF9D1635EE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6413DC9-B495-0CFE-6387-8B259E317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BF66C9A6-335E-01EE-D521-3602B5DFDD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F023ADB-ED79-F807-04F0-A7517DDA9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9120A7F-B8A2-F957-7C2A-5BD614713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6D1581AE-A31F-6C53-7459-B61EEB3B3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09115EED-3695-30B5-4014-655883DDB2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52E400D3-0F8B-85E2-9E6E-B0108CD79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21EE948B-6097-38C0-8742-571A5387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F761A2BA-89B8-B0CF-6809-ADF2393621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01CF0D3-D2D0-FF0E-FA00-97E602CB1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CDFD644-6E52-092E-E96F-2A94BA63A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F402DB8-6134-8761-949D-AA1032506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1F8F095-4A68-AF19-2FF3-264488F4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E780693-B42F-DDC0-6C2C-14CFBD039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5B847F-4CEB-6397-3CB1-0FD0ECB96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8DF4CA1-231B-7A6E-9C37-BEA62A1FF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13C57480-83F0-B079-0A7F-3AD2CDE26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8EB13E9-8983-BA39-59ED-785CE71A5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161359FC-E9B9-9FE4-AD2F-DADC90FBDB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469DEB3E-D310-819F-C103-1F107CCCB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2E6FFF16-DC82-4909-5FFB-32EA4D9A8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0729779-D748-0DEA-2348-D8FE21273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F7E94970-27CF-1696-298B-827773DC4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C798D71-6781-5B4C-D554-7300ADBDE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1BF6683-353A-BF64-A673-21B3C589B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BD5FAB13-3143-4FE8-A63D-91E9DA864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F85F9B54-6C1E-6EC5-5C3F-57D783459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F24E723-44E5-2E4A-3383-428717298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8C2D8B9-B67A-56F9-FD4C-9D784D10B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037A5E30-48D4-B380-3DB3-461D1B399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196BD1C6-5E7A-AE1A-F7F2-597D644F7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7A8793D-DCCB-E802-A12E-7C8A3F8CD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67C2F1A-06B0-3BE3-DC03-B55E3B772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3175F1E-275A-58C4-18C1-0F9FED010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0CF0310B-168C-A532-3BC3-DFFF0B76E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E97508DD-0F57-6623-9AA4-C7B23AAA0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6FFB4001-8696-2316-80BA-DBE86324B5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E9AB4516-3FDD-0F57-0CAB-8548FB7D4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EE90A9D9-8E9C-456B-E57A-51B209DC5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320AD5A-E874-25A3-1454-33DC62CA6F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BBFA7BB-CADF-07A3-ADBE-4DE6F80F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0E1C1E8-A736-F416-59F8-317696672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B782C34-78B2-B816-6D44-B6DC955221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CC8B255-6830-A89B-5FB1-B4024179C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4EB8FE2C-384C-5814-7414-B659BEFEC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83EB74A-4E63-AFF3-8604-92BA1D75E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BA58B5C-F5B1-B571-810C-57ED424C8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427A970B-F4B8-53A0-A2B0-F782173A2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A21E0770-090B-B179-F8A2-82F7DDE0B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310D902B-C440-F7CB-6E47-0B78A7E4D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FE3134C0-3DDE-82E7-228D-44D6D385E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ABB88DE-C61A-5712-DC29-0EB30AFDAF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AA0E9FB7-B8E4-A435-3675-8DACC5874A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28B95CA0-C03C-92B2-A41E-40F861F89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0948CE39-553F-D5A8-AA82-9C973A54B1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650ADCA0-5CD9-ECC9-3EC6-388C06FEA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D3E8BEF-69C0-6A95-F293-4B32F32CEC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494A300-68DB-9678-CB25-BF3A7E71A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5ECEA986-E484-6F69-A2C8-B3D7DD48DD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3E80AD4B-B1D9-D5E8-C45E-8ADDDB08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1A15CF0-9CC7-E792-264A-AB9CA4807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D6B72DE-69E9-6819-B0A1-0A4ED2FF2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9F838D3B-AC62-2F66-2C5C-FB486CED1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387128F-1C4E-6A85-88FF-394A12816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C315C6-1E17-861C-6E21-A24372163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C79B5C-C8B3-4477-67A1-4E93C1619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837A37EE-4E69-3A50-DE4C-04DEDDD5D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2D14AD7C-4C2A-40B7-530F-DD008524C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9D441248-7693-36BE-B2BF-3FD9E9480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F2103AF-B232-50F6-8A39-0739A322F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6E9C9584-DC61-7E8D-33E3-AAB0FE996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150C023-7E9F-D93D-6630-408810E29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FEA15BA4-9DF6-1192-CCDF-43392E96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71BD5952-1703-F097-8330-49774F0BB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A9BF08A-41B1-C7AC-352D-450F349F9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31D19761-AB93-A859-94C8-D175762C0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809FFCF-26EB-A10F-2CBB-5E165BB29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05C5A031-9891-EABA-3B37-4317F211C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3965BB0-4000-7364-941C-8F53BBDBE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FEF043B-ABE3-2A9F-77B7-7263E140C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91C437B7-A3E6-32C1-4372-DC9E6D4D8F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DAF0987-B4F6-6865-6BE1-A98EE8E57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D8EC0D7-D52C-6EDE-61CF-E49F31F5D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8AEDF3C8-D826-8177-B9BD-C070E863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A4136702-4E7A-0F3A-9F2E-8419BC946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2D6C254-6215-C910-E488-5855434EE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B68CBC7-89A0-2194-42AA-0E8BCFB9AC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9E699C69-F323-89F0-1692-D4E5A0EB9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F531F59-F9BD-BB30-8842-E80CA5907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563292E1-98EF-05A3-2EDE-0FD0ECC19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30D3332D-883A-BCD7-C72D-5CD1645A7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F1953A9E-5364-0D61-6D2A-15E763C4F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DDBB6CE3-0C9B-F8C3-0AC3-21965DB46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CB1C528-9E8B-FDE1-C627-99B574E8BD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C8013723-496C-71C3-2EAD-1EB9D101B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65B27EB-4AF9-F9D0-8174-1924B3288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D53931D9-01F4-9B8D-998A-11AD8BE93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85108DE-EF56-E464-1075-830CC3471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0F1BD3DC-8A92-5B56-B425-6C6F8AB07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A2B8BF7-BF7E-1B8E-3A25-A6CB4CE069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BCCB30C7-47E4-8CD0-22A0-3ACD5E5092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DA06198C-F215-E2FF-656D-02003633E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30BDA9E-CB10-A94C-2C5D-3D9AB1B39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C617EFC9-BFCA-A6F7-6A80-7EF8AEC474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C9864155-DC90-CBD6-4DBA-D2CFCAD756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DED549A-23C2-C28B-5EBA-DB690D8DA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5590BA3-F771-4BA5-1A90-BC3B19739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F27D6885-4F75-7BFF-7745-0CD9D1AD24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822C1F7B-1230-66CA-442D-59BE94678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FF47F2AE-C7AA-F815-1042-BDB56C346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7779306-971A-DD83-CEB5-39D46DB58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29EC4CB3-1AD4-01BB-DCD7-75FF2B6B4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E6F900C-6C88-BDF7-408E-C6B5F8B85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8A5F86D7-CDA1-C69D-98EB-D9D5293DF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5563C4E-D44C-8A8F-96AB-FF9BCF984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DE9C3605-0F64-93F3-2A76-895CC46AE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9812D404-29D6-7C1F-4458-5D09381099E8}"/>
              </a:ext>
            </a:extLst>
          </p:cNvPr>
          <p:cNvSpPr txBox="1"/>
          <p:nvPr/>
        </p:nvSpPr>
        <p:spPr>
          <a:xfrm>
            <a:off x="533400" y="336988"/>
            <a:ext cx="7543800" cy="6749612"/>
          </a:xfrm>
          <a:prstGeom prst="rect">
            <a:avLst/>
          </a:prstGeom>
          <a:solidFill>
            <a:schemeClr val="tx1"/>
          </a:solidFill>
        </p:spPr>
        <p:txBody>
          <a:bodyPr vert="horz" lIns="91440" tIns="45720" rIns="91440" bIns="45720" rtlCol="0">
            <a:noAutofit/>
          </a:bodyPr>
          <a:lstStyle/>
          <a:p>
            <a:pPr marL="514350" indent="-514350">
              <a:lnSpc>
                <a:spcPct val="90000"/>
              </a:lnSpc>
              <a:spcAft>
                <a:spcPts val="800"/>
              </a:spcAft>
              <a:buAutoNum type="alphaUcPeriod"/>
            </a:pPr>
            <a:r>
              <a:rPr lang="en-US" sz="2800" b="1" spc="86" dirty="0">
                <a:solidFill>
                  <a:schemeClr val="bg1"/>
                </a:solidFill>
              </a:rPr>
              <a:t>What is a literature review and why does it matter in ICT?</a:t>
            </a:r>
          </a:p>
          <a:p>
            <a:pPr>
              <a:lnSpc>
                <a:spcPct val="90000"/>
              </a:lnSpc>
              <a:spcAft>
                <a:spcPts val="800"/>
              </a:spcAft>
            </a:pPr>
            <a:endParaRPr lang="en-US" sz="2800" spc="86" dirty="0">
              <a:solidFill>
                <a:schemeClr val="bg1"/>
              </a:solidFill>
            </a:endParaRPr>
          </a:p>
          <a:p>
            <a:pPr>
              <a:lnSpc>
                <a:spcPct val="90000"/>
              </a:lnSpc>
              <a:spcAft>
                <a:spcPts val="800"/>
              </a:spcAft>
            </a:pPr>
            <a:r>
              <a:rPr lang="en-US" sz="2400" b="1" spc="86" dirty="0">
                <a:solidFill>
                  <a:schemeClr val="bg1"/>
                </a:solidFill>
              </a:rPr>
              <a:t>ICT examples of what the literature helps you do:</a:t>
            </a:r>
          </a:p>
          <a:p>
            <a:r>
              <a:rPr lang="en-US" sz="2400" spc="86" dirty="0">
                <a:solidFill>
                  <a:schemeClr val="bg1"/>
                </a:solidFill>
              </a:rPr>
              <a:t>• Avoid repeating work that has already been done (e.g., many usability studies already compare mobile menu designs).</a:t>
            </a:r>
            <a:endParaRPr lang="en-GB" sz="2400" spc="86" dirty="0">
              <a:solidFill>
                <a:schemeClr val="bg1"/>
              </a:solidFill>
            </a:endParaRPr>
          </a:p>
          <a:p>
            <a:r>
              <a:rPr lang="en-US" sz="2400" spc="86" dirty="0">
                <a:solidFill>
                  <a:schemeClr val="bg1"/>
                </a:solidFill>
              </a:rPr>
              <a:t>• Choose a proven way of measuring your concept (e.g., using standard usability metrics such as task success rate, time-on-task, and error rate).</a:t>
            </a:r>
            <a:endParaRPr lang="en-GB" sz="2400" spc="86" dirty="0">
              <a:solidFill>
                <a:schemeClr val="bg1"/>
              </a:solidFill>
            </a:endParaRPr>
          </a:p>
          <a:p>
            <a:r>
              <a:rPr lang="en-US" sz="2400" spc="86" dirty="0">
                <a:solidFill>
                  <a:schemeClr val="bg1"/>
                </a:solidFill>
              </a:rPr>
              <a:t>• Identify gaps and justify your study (e.g., plagiarism detection tools studied in general, but not in your campus context or for first-year ICT modules).</a:t>
            </a:r>
            <a:endParaRPr lang="en-GB" sz="2400" spc="86" dirty="0">
              <a:solidFill>
                <a:schemeClr val="bg1"/>
              </a:solidFill>
            </a:endParaRPr>
          </a:p>
          <a:p>
            <a:r>
              <a:rPr lang="en-US" sz="2400" spc="86" dirty="0">
                <a:solidFill>
                  <a:schemeClr val="bg1"/>
                </a:solidFill>
              </a:rPr>
              <a:t>• Spot risks and limitations early (e.g., low response rates in student surveys, or bias when only interviewing ‘power users’).</a:t>
            </a:r>
            <a:endParaRPr lang="en-GB" sz="2400" spc="86" dirty="0">
              <a:solidFill>
                <a:schemeClr val="bg1"/>
              </a:solidFill>
            </a:endParaRPr>
          </a:p>
          <a:p>
            <a:pPr indent="-228600">
              <a:lnSpc>
                <a:spcPct val="90000"/>
              </a:lnSpc>
              <a:spcAft>
                <a:spcPts val="800"/>
              </a:spcAft>
              <a:buFont typeface="Arial" panose="020B0604020202020204" pitchFamily="34" charset="0"/>
              <a:buChar char="•"/>
            </a:pPr>
            <a:endParaRPr lang="en-US" sz="2400" spc="86" dirty="0">
              <a:solidFill>
                <a:schemeClr val="bg1"/>
              </a:solidFill>
            </a:endParaRPr>
          </a:p>
        </p:txBody>
      </p:sp>
    </p:spTree>
    <p:extLst>
      <p:ext uri="{BB962C8B-B14F-4D97-AF65-F5344CB8AC3E}">
        <p14:creationId xmlns:p14="http://schemas.microsoft.com/office/powerpoint/2010/main" val="461782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p:cNvSpPr txBox="1"/>
          <p:nvPr/>
        </p:nvSpPr>
        <p:spPr>
          <a:xfrm>
            <a:off x="152400" y="1600200"/>
            <a:ext cx="3505200" cy="1483098"/>
          </a:xfrm>
          <a:prstGeom prst="rect">
            <a:avLst/>
          </a:prstGeom>
        </p:spPr>
        <p:txBody>
          <a:bodyPr wrap="square" lIns="0" tIns="0" rIns="0" bIns="0" rtlCol="0" anchor="t">
            <a:spAutoFit/>
          </a:bodyPr>
          <a:lstStyle/>
          <a:p>
            <a:pPr>
              <a:lnSpc>
                <a:spcPts val="3919"/>
              </a:lnSpc>
            </a:pPr>
            <a:r>
              <a:rPr lang="en-US" sz="2799" dirty="0">
                <a:latin typeface="League Spartan"/>
              </a:rPr>
              <a:t>B. Sources you can use and how to judge quality</a:t>
            </a:r>
          </a:p>
        </p:txBody>
      </p:sp>
      <p:sp>
        <p:nvSpPr>
          <p:cNvPr id="7" name="TextBox 7"/>
          <p:cNvSpPr txBox="1"/>
          <p:nvPr/>
        </p:nvSpPr>
        <p:spPr>
          <a:xfrm>
            <a:off x="3962400" y="426958"/>
            <a:ext cx="5715000" cy="6047809"/>
          </a:xfrm>
          <a:prstGeom prst="rect">
            <a:avLst/>
          </a:prstGeom>
        </p:spPr>
        <p:txBody>
          <a:bodyPr wrap="square" lIns="0" tIns="0" rIns="0" bIns="0" rtlCol="0" anchor="t">
            <a:spAutoFit/>
          </a:bodyPr>
          <a:lstStyle/>
          <a:p>
            <a:pPr>
              <a:spcBef>
                <a:spcPct val="0"/>
              </a:spcBef>
            </a:pPr>
            <a:r>
              <a:rPr lang="en-US" sz="2400" b="1" spc="86" dirty="0">
                <a:solidFill>
                  <a:srgbClr val="FFFFFF"/>
                </a:solidFill>
                <a:latin typeface="Open Sans"/>
              </a:rPr>
              <a:t>Common source types (strongest to weakest for academic work):</a:t>
            </a:r>
          </a:p>
          <a:p>
            <a:pPr marL="457200" indent="-457200">
              <a:spcBef>
                <a:spcPct val="0"/>
              </a:spcBef>
              <a:buFont typeface="+mj-lt"/>
              <a:buAutoNum type="arabicPeriod"/>
            </a:pPr>
            <a:r>
              <a:rPr lang="en-US" sz="2300" spc="86" dirty="0">
                <a:solidFill>
                  <a:srgbClr val="FFFFFF"/>
                </a:solidFill>
                <a:latin typeface="Open Sans"/>
              </a:rPr>
              <a:t>Peer-reviewed journal articles (e.g., studies in HCI, cybersecurity </a:t>
            </a:r>
            <a:r>
              <a:rPr lang="en-US" sz="2300" spc="86" dirty="0" err="1">
                <a:solidFill>
                  <a:srgbClr val="FFFFFF"/>
                </a:solidFill>
                <a:latin typeface="Open Sans"/>
              </a:rPr>
              <a:t>behaviour</a:t>
            </a:r>
            <a:r>
              <a:rPr lang="en-US" sz="2300" spc="86" dirty="0">
                <a:solidFill>
                  <a:srgbClr val="FFFFFF"/>
                </a:solidFill>
                <a:latin typeface="Open Sans"/>
              </a:rPr>
              <a:t>, AI in education).</a:t>
            </a:r>
          </a:p>
          <a:p>
            <a:pPr marL="457200" indent="-457200">
              <a:spcBef>
                <a:spcPct val="0"/>
              </a:spcBef>
              <a:buFont typeface="+mj-lt"/>
              <a:buAutoNum type="arabicPeriod"/>
            </a:pPr>
            <a:r>
              <a:rPr lang="en-US" sz="2300" spc="86" dirty="0">
                <a:solidFill>
                  <a:srgbClr val="FFFFFF"/>
                </a:solidFill>
                <a:latin typeface="Open Sans"/>
              </a:rPr>
              <a:t>Conference papers (common in computing but still assess quality and publisher reputation).</a:t>
            </a:r>
          </a:p>
          <a:p>
            <a:pPr marL="457200" indent="-457200">
              <a:spcBef>
                <a:spcPct val="0"/>
              </a:spcBef>
              <a:buFont typeface="+mj-lt"/>
              <a:buAutoNum type="arabicPeriod"/>
            </a:pPr>
            <a:r>
              <a:rPr lang="en-US" sz="2300" spc="86" dirty="0">
                <a:solidFill>
                  <a:srgbClr val="FFFFFF"/>
                </a:solidFill>
                <a:latin typeface="Open Sans"/>
              </a:rPr>
              <a:t>Scholarly books and chapters (useful for concepts and established methods).</a:t>
            </a:r>
          </a:p>
          <a:p>
            <a:pPr marL="457200" indent="-457200">
              <a:spcBef>
                <a:spcPct val="0"/>
              </a:spcBef>
              <a:buFont typeface="+mj-lt"/>
              <a:buAutoNum type="arabicPeriod"/>
            </a:pPr>
            <a:r>
              <a:rPr lang="en-US" sz="2300" spc="86" dirty="0">
                <a:solidFill>
                  <a:srgbClr val="FFFFFF"/>
                </a:solidFill>
                <a:latin typeface="Open Sans"/>
              </a:rPr>
              <a:t>Industry and standards documents (e.g., ISO, NIST, OWASP) when relevant to your topic.</a:t>
            </a:r>
          </a:p>
          <a:p>
            <a:pPr marL="457200" indent="-457200">
              <a:spcBef>
                <a:spcPct val="0"/>
              </a:spcBef>
              <a:buFont typeface="+mj-lt"/>
              <a:buAutoNum type="arabicPeriod"/>
            </a:pPr>
            <a:r>
              <a:rPr lang="en-US" sz="2300" spc="86" dirty="0">
                <a:solidFill>
                  <a:srgbClr val="FFFFFF"/>
                </a:solidFill>
                <a:latin typeface="Open Sans"/>
              </a:rPr>
              <a:t>Credible technical blogs and vendor documentation (use carefully and triangulate with academic 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54D32E-4350-4AB9-CD62-038F0E80D08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312113D5-5D52-36FB-907C-55F66533F5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A14A3CA7-6C78-DCEC-AD75-99FFAB2B1F15}"/>
              </a:ext>
            </a:extLst>
          </p:cNvPr>
          <p:cNvSpPr txBox="1"/>
          <p:nvPr/>
        </p:nvSpPr>
        <p:spPr>
          <a:xfrm>
            <a:off x="152400" y="1600200"/>
            <a:ext cx="4495800" cy="982961"/>
          </a:xfrm>
          <a:prstGeom prst="rect">
            <a:avLst/>
          </a:prstGeom>
        </p:spPr>
        <p:txBody>
          <a:bodyPr wrap="square" lIns="0" tIns="0" rIns="0" bIns="0" rtlCol="0" anchor="t">
            <a:spAutoFit/>
          </a:bodyPr>
          <a:lstStyle/>
          <a:p>
            <a:pPr>
              <a:lnSpc>
                <a:spcPts val="3919"/>
              </a:lnSpc>
            </a:pPr>
            <a:r>
              <a:rPr lang="en-US" sz="2799" dirty="0">
                <a:latin typeface="League Spartan"/>
              </a:rPr>
              <a:t>Quick quality check questions:</a:t>
            </a:r>
          </a:p>
        </p:txBody>
      </p:sp>
      <p:sp>
        <p:nvSpPr>
          <p:cNvPr id="7" name="TextBox 7">
            <a:extLst>
              <a:ext uri="{FF2B5EF4-FFF2-40B4-BE49-F238E27FC236}">
                <a16:creationId xmlns:a16="http://schemas.microsoft.com/office/drawing/2014/main" id="{A46AAC70-BF07-019D-949A-EBA08A978FCF}"/>
              </a:ext>
            </a:extLst>
          </p:cNvPr>
          <p:cNvSpPr txBox="1"/>
          <p:nvPr/>
        </p:nvSpPr>
        <p:spPr>
          <a:xfrm>
            <a:off x="3886198" y="381000"/>
            <a:ext cx="5791201" cy="5539978"/>
          </a:xfrm>
          <a:prstGeom prst="rect">
            <a:avLst/>
          </a:prstGeom>
        </p:spPr>
        <p:txBody>
          <a:bodyPr wrap="square" lIns="0" tIns="0" rIns="0" bIns="0" rtlCol="0" anchor="t">
            <a:spAutoFit/>
          </a:bodyPr>
          <a:lstStyle/>
          <a:p>
            <a:pPr defTabSz="355600">
              <a:spcBef>
                <a:spcPct val="0"/>
              </a:spcBef>
            </a:pPr>
            <a:r>
              <a:rPr lang="en-US" sz="2400" spc="86" dirty="0">
                <a:solidFill>
                  <a:srgbClr val="FFFFFF"/>
                </a:solidFill>
                <a:latin typeface="Open Sans"/>
              </a:rPr>
              <a:t>•	Who wrote it and what are their credentials or institutional affiliation?</a:t>
            </a:r>
          </a:p>
          <a:p>
            <a:pPr defTabSz="355600">
              <a:spcBef>
                <a:spcPct val="0"/>
              </a:spcBef>
            </a:pPr>
            <a:endParaRPr lang="en-US" sz="2400" spc="86" dirty="0">
              <a:solidFill>
                <a:srgbClr val="FFFFFF"/>
              </a:solidFill>
              <a:latin typeface="Open Sans"/>
            </a:endParaRPr>
          </a:p>
          <a:p>
            <a:pPr defTabSz="355600">
              <a:spcBef>
                <a:spcPct val="0"/>
              </a:spcBef>
            </a:pPr>
            <a:r>
              <a:rPr lang="en-US" sz="2400" spc="86" dirty="0">
                <a:solidFill>
                  <a:srgbClr val="FFFFFF"/>
                </a:solidFill>
                <a:latin typeface="Open Sans"/>
              </a:rPr>
              <a:t>• Is it peer-reviewed or published by a recognised body?</a:t>
            </a:r>
          </a:p>
          <a:p>
            <a:pPr defTabSz="355600">
              <a:spcBef>
                <a:spcPct val="0"/>
              </a:spcBef>
            </a:pPr>
            <a:endParaRPr lang="en-US" sz="2400" spc="86" dirty="0">
              <a:solidFill>
                <a:srgbClr val="FFFFFF"/>
              </a:solidFill>
              <a:latin typeface="Open Sans"/>
            </a:endParaRPr>
          </a:p>
          <a:p>
            <a:pPr defTabSz="355600">
              <a:spcBef>
                <a:spcPct val="0"/>
              </a:spcBef>
            </a:pPr>
            <a:r>
              <a:rPr lang="en-US" sz="2400" spc="86" dirty="0">
                <a:solidFill>
                  <a:srgbClr val="FFFFFF"/>
                </a:solidFill>
                <a:latin typeface="Open Sans"/>
              </a:rPr>
              <a:t>• Is the evidence clear and the method explained?</a:t>
            </a:r>
          </a:p>
          <a:p>
            <a:pPr defTabSz="355600">
              <a:spcBef>
                <a:spcPct val="0"/>
              </a:spcBef>
            </a:pPr>
            <a:endParaRPr lang="en-US" sz="2400" spc="86" dirty="0">
              <a:solidFill>
                <a:srgbClr val="FFFFFF"/>
              </a:solidFill>
              <a:latin typeface="Open Sans"/>
            </a:endParaRPr>
          </a:p>
          <a:p>
            <a:pPr defTabSz="355600">
              <a:spcBef>
                <a:spcPct val="0"/>
              </a:spcBef>
            </a:pPr>
            <a:r>
              <a:rPr lang="en-US" sz="2400" spc="86" dirty="0">
                <a:solidFill>
                  <a:srgbClr val="FFFFFF"/>
                </a:solidFill>
                <a:latin typeface="Open Sans"/>
              </a:rPr>
              <a:t>• Is it recent enough for your topic (ICT changes quickly, but classics still matter for theory and methods)?</a:t>
            </a:r>
          </a:p>
          <a:p>
            <a:pPr defTabSz="355600">
              <a:spcBef>
                <a:spcPct val="0"/>
              </a:spcBef>
            </a:pPr>
            <a:endParaRPr lang="en-US" sz="2400" spc="86" dirty="0">
              <a:solidFill>
                <a:srgbClr val="FFFFFF"/>
              </a:solidFill>
              <a:latin typeface="Open Sans"/>
            </a:endParaRPr>
          </a:p>
          <a:p>
            <a:pPr defTabSz="355600">
              <a:spcBef>
                <a:spcPct val="0"/>
              </a:spcBef>
            </a:pPr>
            <a:r>
              <a:rPr lang="en-US" sz="2400" spc="86" dirty="0">
                <a:solidFill>
                  <a:srgbClr val="FFFFFF"/>
                </a:solidFill>
                <a:latin typeface="Open Sans"/>
              </a:rPr>
              <a:t>• Is it directly relevant to your research problem and objectives?</a:t>
            </a:r>
          </a:p>
        </p:txBody>
      </p:sp>
    </p:spTree>
    <p:extLst>
      <p:ext uri="{BB962C8B-B14F-4D97-AF65-F5344CB8AC3E}">
        <p14:creationId xmlns:p14="http://schemas.microsoft.com/office/powerpoint/2010/main" val="1708318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451BCD29-18C0-9ED4-4381-3EDCF9936EF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617222A-3907-5AD2-2AE4-33CFBFBD9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A6B1AA71-ED62-8FE5-D490-A82E5921F7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A3D4AA7-3448-C1E0-27FB-7DE021FDF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2DC1C01B-4216-F206-DC1E-BD7B42F65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B856C5C-C2A8-68DA-45EB-FC5E6F7EF4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48832C4-6B76-4C6A-9311-626693B06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37EC208-AD20-0243-6EAB-9E42740C5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2118EAA-593B-7CF5-DF48-6482CD1D1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AD296F5-96F7-E202-D16F-5A925A6F7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3C0F22E-131C-FB7B-47C7-5C0D4C51C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FDD866-73FB-9CD9-7E50-980703B63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349FC22-F8FC-B2AD-EFAE-8F2C58D39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4D1446E-473E-1D27-8628-70C4188BB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0518282-2A0C-0DB3-8FED-355EFF8FB6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A377397-54F9-D04E-43C5-12783C680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9B369EE-E6BD-3038-34B8-38D6F59917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35364C7-D129-4395-8DF8-F586D3740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7263F93-F5C4-E846-845A-C918673F4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14606393-0D32-3129-DD88-60D79562B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A477101-2C93-2382-37D8-2B074B52E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CE70BDA-9E36-DA24-08C3-1426EBE46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58ED09-4202-8895-8617-64D037CDF1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97934C1-F371-89F8-7C8C-47B31B4D2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1F637EC-7003-A668-8939-D2EE70792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E627441-C2B4-CC73-A8F3-0D703386F7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15FC7E8-4106-6680-A5A8-99F144223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7E3CAD2-5958-194C-7B88-BDDCF32C33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7E44B18-30C0-4D4A-02B9-BCE3F75E8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898AB90-060B-2FD0-47C7-141847955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71F0B61-4352-7C30-982D-B83DFD6C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741A28FD-3417-1AD8-9DF6-DA33AB5E20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3E9FB10-1DF4-D12F-493C-655EE68D4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B9CD93E-2784-7416-37EA-21D2698B5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8E6A7CA-260D-B316-F4A1-ED4F57084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695610B-85CB-E94C-36E4-7A08FC9CF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320F50F-AD30-8C90-C4C7-E2F5F356B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61CBC9B4-FA0B-1EE8-9122-8AAC7CBD4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6DFACE9-375A-9BC3-95DE-0B6D472B8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801D12E-B034-BB37-A3D6-79B181A1C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D473BE3-9236-2A54-39EC-28AA659F3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443E26A-1899-12DA-F452-3658B54FC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7784794-31BE-A80B-4B18-E9E4CAFB7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46AFF1A-16D8-7AED-6750-12CD455EA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90BD0911-91D6-22A7-D93E-C0B2887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CB5A6EB7-4F8C-A411-BE6E-FBEED941C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4996CB2-1D4E-35E0-444F-5BFFC0597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8BA1527D-3310-DF7B-07AD-5D5F533C32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44AC6A1-26F5-4316-55BA-06BFB2F81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72C1916-98DD-8524-E00D-2C8FEAF95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1DA1E2B-B05C-F82D-FEE0-D6D20309C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B18C728-2EF5-F89C-1951-07C32F77E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C0832C-6CC5-25D6-C4C8-000194E52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2AD065E-83C6-286A-4862-AD66B8820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FDEC49BB-1A8D-A72C-B992-973356D43F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BD417FDD-E585-C681-2B8A-560DA9D2AB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E634A722-B639-7002-FC1D-608C30EF0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5D3D928-4A55-C1D3-B2F4-AED4B4558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E8A4DE-874C-CF5A-F033-83FD83E13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9C4E026-8F89-D951-9C4F-72D9BBECB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B9F0798-A12E-4FE2-2997-B1F9294D41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929C905-EB34-A962-F245-09F85670C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8994DB2-E3F1-5E80-8F9A-B479829111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439569DA-244B-F27B-CD00-5B8F1F74C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450D559-9A3F-4F49-76ED-6218C56A8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2A283F3-BE56-47C4-D60B-2956C0139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D51BC44B-59B9-B52B-FA24-5C25A737E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97BA36C-017C-500B-BB6F-B3AC3A31E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3AE980ED-0843-D946-BBB2-FE250EA9AF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5A00BA41-57AA-C56E-AF95-B4587C9A9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81081CC-6A8D-F3F4-CF99-EA0ACADF0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18A378F7-4888-9E19-0152-6C262592E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B1CD989-F8AF-FC94-54D4-A5A3F9F9D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716084F-8ED9-7791-A84A-BC027BCFA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08F2F8F-015E-E2E3-A7AC-95B20DA15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F416848-67FC-7BC1-902E-D82BFEE3A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BD3C3CC-E4AA-E0C7-EF41-4011DB29B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FBCB26C8-3698-2DE3-5936-0A027D7B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0644531-16E6-2B95-8350-C75105ED5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18C001C6-55F9-06EF-78C1-88B9F7803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66EE5483-5875-0F61-9CFD-F4CA77797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81DA84D7-FF5D-596A-0AD8-C8548E475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F9D4E25-6885-985C-F1F8-CD73D74F9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48876F7-3BF5-207F-D3AA-758A1C615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0FBE04EF-ED7B-1994-CCAC-7CE39012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876CAE3-DDA2-4C88-4C24-48DA990A5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FD2CB20F-45A6-BBFB-5D29-88F51A6BF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4B5A61F-9CEF-C520-2164-610FE8721D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740C08D-4D3B-EF4C-A82F-124A279C7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D2AED91-9B1B-110E-2231-639E3B74B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F85840BB-6720-4406-9B26-2133E09BD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49E9B11A-78F4-034A-D36C-1DE40BDEE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12A9BFA7-CBBC-83C4-47F6-6350C7E45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59D182D-CC2F-47BB-9F53-4DA1DED934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05DCF7C3-B686-8050-BF36-2790EA821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BEEE0573-139C-F46D-3585-77416CE61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1531C52-BB5D-8D69-53B8-929BB7A75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A4CFA48-0ECB-FFC4-A0FD-0EAD7BE6B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E5F8E693-1753-CBBE-21E1-E592CDEF5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36A5A2B-F720-284A-8209-6EE452784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7782D2ED-8BB3-837C-1939-B90A20E91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8AB5DF6-8870-0248-B8A7-1787AF5C3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74BD9D8-F51A-40C0-D413-186FB1419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EC68330-EBC9-C9E8-CDC4-BBB493889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8B6A50FF-F373-559B-9745-897B8DA10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63552416-9DEB-82B7-BA3E-7DFA0D0AD5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6BE659E5-A5CE-070B-330A-9E0DF5B0AB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FBBBE23-98AF-190E-4B12-7B82A016E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8035E20-EA5A-AEF1-C33D-70A0B12397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39A9313-6D90-98DB-95CA-E3F40B172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E003887-6E2E-379F-B8D5-189FD5A326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18B62C6-24E0-7438-379C-EAB9F8F47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11954088-9514-4182-E3CD-0F45DB99B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10A9E04C-1F26-AF95-C343-70A549000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721EF38-8E4C-F2DA-34DD-C8CDB8571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EF918DBB-CB76-32BF-40DA-77BE3FCCD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161DE126-B3D7-138C-A585-E7A66B138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6F21B4DF-3546-4862-0D73-0F8EDB9E3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A0FD502-9220-E0F3-B574-07E1EFF31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E4D34A46-ECCF-BD76-98B2-6B66A6D1D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79DB63D-98CD-376F-B906-C99B79F05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40128A0-6160-DB48-724D-15F036437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82E1197-B365-2D8A-F974-7CFD711B4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8A1B1F4-9CFD-9BBA-96A4-B4535600B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AE3123D-939E-ECC5-628F-06991D908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F4BE7C7-C8F1-2443-B26A-DB1E29847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FEAC4C04-E4CB-AB7E-1DA1-CE5ECF849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0902065-D28C-F02C-87CD-47E4F49AAC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5216D5ED-B125-51E8-BAD1-F2C6D517E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6255DB13-7587-C4DC-0456-91CFECEE2C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5CA7796A-4AA8-11F5-824E-F22384BB8F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E3BBB13-2D7B-318E-D22C-403ECD09E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69F23EB-650F-E5B1-4FA6-9B7700F96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E4BAC38C-1EA2-7DAA-5307-4632FA05C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9909B2E-F8FC-6879-636A-EFB422345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27D4A3C8-5D23-418F-BA0D-350A3AC19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3248596-2B81-407B-A9B2-82272A2F2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5DA80F4-A096-6A3F-19E6-9019770E63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CAFBDF8D-8B4B-F664-A585-8D35CCFAB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EA31F9D-EE1A-3468-C7C2-AB16E7F2D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C16EE8F-CEBD-527F-C37E-68F6B79997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627EC74-71CD-E643-8C80-B42E44890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CE7A197-ED8C-5BA0-C967-40A83CFD07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6CD8389-D5A5-5E52-AB81-3433FA2A4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E035E8D-5C40-5B2D-CE03-125EFA0A13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B19051FC-8B52-9922-4589-6C82E2435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C847098E-566E-4C30-435E-207C1B98B6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54F85DE0-702A-AC58-D190-D763DD51E3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ACADD943-60B3-A078-E6D4-C99CA5738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3AE0F80E-CB58-8B1C-7FDD-3623A3578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DB670212-0BF8-798C-4F5A-5FF448877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945F5A34-414F-A7BF-EAEE-813DF3DFA764}"/>
              </a:ext>
            </a:extLst>
          </p:cNvPr>
          <p:cNvSpPr txBox="1"/>
          <p:nvPr/>
        </p:nvSpPr>
        <p:spPr>
          <a:xfrm>
            <a:off x="228600" y="336988"/>
            <a:ext cx="89916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C. A practical search process for novice researchers.</a:t>
            </a:r>
          </a:p>
          <a:p>
            <a:pPr>
              <a:lnSpc>
                <a:spcPct val="90000"/>
              </a:lnSpc>
              <a:spcAft>
                <a:spcPts val="800"/>
              </a:spcAft>
            </a:pPr>
            <a:endParaRPr lang="en-US" sz="1200" spc="86" dirty="0">
              <a:solidFill>
                <a:schemeClr val="bg1"/>
              </a:solidFill>
            </a:endParaRPr>
          </a:p>
          <a:p>
            <a:pPr>
              <a:lnSpc>
                <a:spcPct val="90000"/>
              </a:lnSpc>
              <a:spcAft>
                <a:spcPts val="800"/>
              </a:spcAft>
            </a:pPr>
            <a:r>
              <a:rPr lang="en-US" sz="2800" b="1" spc="86" dirty="0">
                <a:solidFill>
                  <a:schemeClr val="bg1"/>
                </a:solidFill>
              </a:rPr>
              <a:t>Step 2: Use good search spaces</a:t>
            </a:r>
          </a:p>
          <a:p>
            <a:pPr>
              <a:lnSpc>
                <a:spcPct val="90000"/>
              </a:lnSpc>
              <a:spcAft>
                <a:spcPts val="800"/>
              </a:spcAft>
            </a:pPr>
            <a:r>
              <a:rPr lang="en-US" sz="2800" spc="86" dirty="0">
                <a:solidFill>
                  <a:schemeClr val="bg1"/>
                </a:solidFill>
              </a:rPr>
              <a:t>• Library databases and e-journals available through CPUT.</a:t>
            </a:r>
          </a:p>
          <a:p>
            <a:pPr>
              <a:lnSpc>
                <a:spcPct val="90000"/>
              </a:lnSpc>
              <a:spcAft>
                <a:spcPts val="800"/>
              </a:spcAft>
            </a:pPr>
            <a:r>
              <a:rPr lang="en-US" sz="2800" spc="86" dirty="0">
                <a:solidFill>
                  <a:schemeClr val="bg1"/>
                </a:solidFill>
              </a:rPr>
              <a:t>• Google Scholar for broad coverage (then verify journal quality).</a:t>
            </a:r>
          </a:p>
          <a:p>
            <a:pPr>
              <a:lnSpc>
                <a:spcPct val="90000"/>
              </a:lnSpc>
              <a:spcAft>
                <a:spcPts val="800"/>
              </a:spcAft>
            </a:pPr>
            <a:r>
              <a:rPr lang="en-US" sz="2800" spc="86" dirty="0">
                <a:solidFill>
                  <a:schemeClr val="bg1"/>
                </a:solidFill>
              </a:rPr>
              <a:t>• IEEE Xplore and ACM Digital Library for computing research.</a:t>
            </a:r>
          </a:p>
          <a:p>
            <a:pPr>
              <a:lnSpc>
                <a:spcPct val="90000"/>
              </a:lnSpc>
              <a:spcAft>
                <a:spcPts val="800"/>
              </a:spcAft>
            </a:pPr>
            <a:r>
              <a:rPr lang="en-US" sz="2800" spc="86" dirty="0">
                <a:solidFill>
                  <a:schemeClr val="bg1"/>
                </a:solidFill>
              </a:rPr>
              <a:t>• Scopus/Web of Science if available, to track citations and influential authors.</a:t>
            </a:r>
          </a:p>
        </p:txBody>
      </p:sp>
    </p:spTree>
    <p:extLst>
      <p:ext uri="{BB962C8B-B14F-4D97-AF65-F5344CB8AC3E}">
        <p14:creationId xmlns:p14="http://schemas.microsoft.com/office/powerpoint/2010/main" val="2109362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73E441BE-C7E8-0DD9-2237-B081BA06A6F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6DE9B18-CCB5-1E69-7ABE-366A1D69B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7EE873BC-AF5E-0FE4-9BEE-84BEA44CBE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EB4F562-9899-D365-E77B-4240F96F2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DFCD671-BEA2-93C8-A775-9C76D80319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3BCD844-E5D9-EE33-3630-BA05C323C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6A04325-73A2-8880-6A13-FEE3BE4C2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DAA01DD-774E-1A34-17B1-8118C022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FACFB52-CDE8-1FD5-3B17-2264F2ED1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AE9B655-FCAF-9407-655A-5047BB1D7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7841604-65C4-20DF-45FF-60B812D75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CC7D47A-4A7E-7F49-8D76-D518C550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0F1AA2F-054E-0822-F1A1-E70712E03E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60CDE74-4A1B-0111-C815-9145F6926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484A688-995B-B49A-3362-5D84F1675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CE4891E-63F4-D0B7-C545-74D8EEB8B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0A31C04-6435-494B-CB20-D79512645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D4AF6AE-137A-59AC-57E9-B6B2B8C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DD3BC74-0D43-FD36-F111-DF563A0FF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266B8D-A8DF-9E83-6F03-86A053384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A2B8897-5EB8-60BF-8DD1-27DE14487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89AE3EE-08C8-6D92-A5FC-2087F7196E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BB0B91F-E2C7-8394-B2F6-6A3915151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BE7F85F-2250-5273-CA98-184FFF9C6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F75E60-DDBB-A54A-AF73-369B4453A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2527998-113D-CF5E-5D7F-E4F5E6715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E69DC87-4195-A448-9F77-EA6C0F533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5BE3ACA-9A5C-0A46-1E75-82AA101C4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F49106EF-D8BE-6E9A-A45B-18533DD7C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FA4B0B2-9B27-4924-D193-625F54A8C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DF270DB-1E60-1DA0-FA6E-3EC817E23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9B99512-468C-4404-08A2-1E5686678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51B987E-7ED7-CA4E-2B93-C9E64B3E3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7069B5C-906A-5288-822B-465E143C9E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99BDECD-96C5-3C69-6EF6-1C5CA01DB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F70CDAA-E3D0-C011-7A6F-CC1B8C228F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C188A35-9A09-4A12-4F24-FE50B4FF2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5BAFDD9-66C9-0F73-8309-AE6058168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7E71DC8-C3B0-DB22-9B05-A75539E96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1F7996E9-5F90-D509-7DD8-423D4FBC2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F313EB1-751A-1A8B-DC19-C76F15BB5E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857A780-72BF-1D39-3FEA-B23E1662F8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D9A0860-9C3C-7C1D-4E05-3CEEB76912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FC8A109E-4B09-BFF5-4AAB-3721A8724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17B831EB-80E7-1494-23A0-5BBA570B4B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81ACACC4-BEC8-0B8C-5ABE-7AB8D330F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1A1344E-A433-7CAF-51E9-8861C753E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78D0D45E-1D29-ABF0-2CDA-670FF6A97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20B538C-FC10-898A-D755-80346E11F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B8A6178-42FB-A3A4-EACF-8E902CD17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34DB54D0-8BD9-B974-7EB1-A2E3C3B14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2887E98A-CF59-73CC-DD6C-C4140A210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D7FCD45D-238E-A39B-6B66-A6B46D65C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E3922205-DCE0-B88D-4C3C-24E4EE4B7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20C6CC6-85C5-D694-F83D-9D02735EA3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CD07A3A4-BA57-BD72-4C81-7690C4E5A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233CEE33-753C-3524-5A29-1B09B959F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A6B2C09D-C818-5414-834B-67EA0C918F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C9FFE926-849A-5725-F60C-7AADCBFA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B04E435E-6BEE-931C-A00D-7EB44096A9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1029D90-449B-EA44-AB93-EB1B6459A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ED3027-B027-40A9-48ED-87DC9D22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80AB9D49-704D-2A95-D10C-A3CE6D41D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CDDC070-49D6-CA78-0E7F-7B2F58F12D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8BC84E-DB5F-5633-0E0F-6E29F79B3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78F70F7-D9E6-4463-3D56-E32CBF938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8A29C01-1DCA-AD3C-9AE7-9B6B0CA8FE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0106FF45-52BD-113C-F413-F607DFC3B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C876E2EB-6AB7-EF5F-75C5-961BFFA253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9AAA8-42A4-327D-856D-526C7EB90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C022BB97-8FAC-E7A5-1ACD-5E67ABE03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E537F18C-A4F2-2D90-39AF-522EB64DC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835AA27B-A5A3-D4E0-02AD-44C763457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F3D0E687-AEAF-1253-3475-74659C628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932D3DA0-B679-AC05-416D-532D764F1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9A95925A-D776-79E9-1003-896BEB020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F9C1962F-B7F4-46FA-E0FA-3821A0FB5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63E08E8-E85A-6FBA-E873-D15208AC6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E7C61D6B-CF37-CA4B-FB60-DB2F79CC67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EFDD5F5E-E0AC-BCC7-F11C-D21496E26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648F0955-36DD-3928-665A-C4962ACE50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1ACBA86-11C3-C595-C739-00B7C158E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5EF2243-ADB9-8A48-5DFC-C0EEE5D7D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110D829C-013F-C7F3-BBB5-D577BB47A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72F70CA-63AD-E04A-87FC-AF66078AF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5054343-0211-D8EB-1B94-1A2058421A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C1041ADB-F27A-5334-B667-428BE99998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CF4A3748-95A1-B2C2-F417-F1BC9FD25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46E4D44-79A0-B7F6-254C-ACEB72B051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D531E9EA-4F0D-F25A-AEB7-D0C4341BC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72E9343F-F154-6976-A1BD-44AD99A050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E9904013-0FF5-64BE-DBED-E441F2428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1EB2D27-34F6-48DF-53B5-088F7BC48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2AFE2D83-026F-E231-4F86-5DB5A6EE8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011F94B-C907-B97C-0369-EC8D7F75E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9F605A8-594B-612D-63B2-25435CE9A2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81ABE734-7BD1-3B93-14FC-4DE9367D56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E99A7926-DC0F-435C-6C83-BCDA26C0C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AD8D9D5E-02DC-6D79-4CC0-4783FE9B1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4C0D7799-448D-6508-6F02-94D41D43A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24C14A8A-F3F8-9315-381F-A9612B788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863D5A27-F533-FD91-A250-AFA1034AD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4DD76F3-0043-534E-A217-39B604C5CA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AABE0933-E755-5721-F9D8-6FEF631A8D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B624B78-18E3-A514-694E-AF7C5DE63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1C64BC8-E555-973D-1C66-8276276733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1951180-D392-A2EE-4F29-6100CF4989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7BE0DDA-65A2-68F8-3972-63BF7AAED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BB56CDFA-DAE7-960B-CCDA-FEAE021EF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B37FD13-3030-C359-391D-80A2B2000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FBC9260-A02B-75B6-3F8F-784028F56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9E30957-DAE7-C415-F106-12B2176E6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B7A4269-48CC-FC8E-1406-C9EAE05822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BD8EF864-BEFF-00EE-FDE2-15C9B0FC5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6A102175-38AE-F7B8-9934-4BEEB65FBC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9BBBCD5F-24F9-9B6B-3949-343E3216B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5687DFA-74FC-4768-CF22-806556D17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5432B1A-5B18-CBDA-3315-F632AB7E1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76D2E2B5-D2B5-4187-4B5C-68757A506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2BDCCFE1-2ACE-4200-B4C7-99A582B76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4268CD5-37D6-2F7C-4FFC-992211695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DF29F422-F188-39DD-35F7-BDD6F25E9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2D9860C7-EA42-0CDF-5EE0-95E45B406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4CFB8C2D-8796-147A-A210-DF8E1921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FBE07037-21E3-8762-934F-040134A0AF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A0911560-D0F5-08AC-F2C1-2737D1DAF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A798E17-FAC6-3AB9-9C99-5ADD4BD11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06751883-AC19-0DF1-77AB-05EDB41F2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76C36C9-191E-63C3-9DB1-28E23D728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73EF8D4-6506-5BEE-5B6F-A412BAF24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B2EF7C9-FB4A-177F-FAF4-DE6BE406C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5046E53-EDC0-CEEE-87C6-44E6FAA7F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60A5F365-44E3-75C7-F346-3253E6041D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694B461E-B4CA-0769-22CC-B9DCAF3CB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59D2F750-7BC3-0150-CFD1-65852CFF1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6BF32152-83D9-229A-ADCD-24875825D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BC81BCB4-B65A-5547-F91B-2EADE7FAC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51414F0A-7107-3672-5062-FA5D1CB56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C0F7312E-2D8B-D4D4-DF60-702AAD796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C8538A6-5B31-C210-C0ED-5B5198761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7EF220CC-18D5-47D0-BAB8-2F8B32D09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351EB90F-9ACE-BDAA-E132-512233447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7287AE00-54A8-C479-E8CC-23CDE9F8E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368B8ACC-D263-9D55-DBED-5B2B9097A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18D97AC2-7C32-8200-917D-75A1F31AC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4ECF09CB-D6DF-0DF5-2EA0-D35743F20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371C2202-42DC-58E9-C879-CF1D1DB735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5E3D64B-F7D0-253B-3A23-B0ABE5EDC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0FAC199E-B854-4FA2-7BC5-4F8CC6B0E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84DC8622-CD2D-9A6D-42D1-B51BF707EF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480B04D9-05CD-F7B8-B6BF-CC4BA766B1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79DEB361-70C8-3EA6-39A7-9A51E1AC6420}"/>
              </a:ext>
            </a:extLst>
          </p:cNvPr>
          <p:cNvSpPr txBox="1"/>
          <p:nvPr/>
        </p:nvSpPr>
        <p:spPr>
          <a:xfrm>
            <a:off x="228600" y="336988"/>
            <a:ext cx="95250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C. A practical search process for novice researchers.</a:t>
            </a:r>
          </a:p>
          <a:p>
            <a:pPr>
              <a:lnSpc>
                <a:spcPct val="90000"/>
              </a:lnSpc>
              <a:spcAft>
                <a:spcPts val="800"/>
              </a:spcAft>
            </a:pPr>
            <a:endParaRPr lang="en-US" sz="1200" spc="86" dirty="0">
              <a:solidFill>
                <a:schemeClr val="bg1"/>
              </a:solidFill>
            </a:endParaRPr>
          </a:p>
          <a:p>
            <a:pPr>
              <a:lnSpc>
                <a:spcPct val="90000"/>
              </a:lnSpc>
              <a:spcAft>
                <a:spcPts val="800"/>
              </a:spcAft>
            </a:pPr>
            <a:r>
              <a:rPr lang="en-US" sz="2800" b="1" spc="86" dirty="0">
                <a:solidFill>
                  <a:schemeClr val="bg1"/>
                </a:solidFill>
              </a:rPr>
              <a:t>Step 3: Apply inclusion and exclusion criteria</a:t>
            </a:r>
          </a:p>
          <a:p>
            <a:pPr>
              <a:lnSpc>
                <a:spcPct val="90000"/>
              </a:lnSpc>
              <a:spcAft>
                <a:spcPts val="800"/>
              </a:spcAft>
            </a:pPr>
            <a:r>
              <a:rPr lang="en-US" sz="2800" spc="86" dirty="0">
                <a:solidFill>
                  <a:schemeClr val="bg1"/>
                </a:solidFill>
              </a:rPr>
              <a:t>Decide what you will keep and what you will leave out before you start reading deeply.</a:t>
            </a:r>
          </a:p>
          <a:p>
            <a:pPr>
              <a:lnSpc>
                <a:spcPct val="90000"/>
              </a:lnSpc>
              <a:spcAft>
                <a:spcPts val="800"/>
              </a:spcAft>
            </a:pPr>
            <a:r>
              <a:rPr lang="en-US" sz="2800" spc="86" dirty="0">
                <a:solidFill>
                  <a:schemeClr val="bg1"/>
                </a:solidFill>
              </a:rPr>
              <a:t>• Inclusion examples: studies about higher education assessments; tools used for plagiarism detection; publications in the last 5 to 7 years.</a:t>
            </a:r>
          </a:p>
          <a:p>
            <a:pPr>
              <a:lnSpc>
                <a:spcPct val="90000"/>
              </a:lnSpc>
              <a:spcAft>
                <a:spcPts val="800"/>
              </a:spcAft>
            </a:pPr>
            <a:r>
              <a:rPr lang="en-US" sz="2800" spc="86" dirty="0">
                <a:solidFill>
                  <a:schemeClr val="bg1"/>
                </a:solidFill>
              </a:rPr>
              <a:t>• Exclusion examples: studies about primary school; articles with no method described; non-credible opinion pieces.</a:t>
            </a:r>
          </a:p>
          <a:p>
            <a:pPr>
              <a:lnSpc>
                <a:spcPct val="90000"/>
              </a:lnSpc>
              <a:spcAft>
                <a:spcPts val="800"/>
              </a:spcAft>
            </a:pPr>
            <a:endParaRPr lang="en-US" sz="2800" spc="86" dirty="0">
              <a:solidFill>
                <a:schemeClr val="bg1"/>
              </a:solidFill>
            </a:endParaRPr>
          </a:p>
          <a:p>
            <a:pPr>
              <a:lnSpc>
                <a:spcPct val="90000"/>
              </a:lnSpc>
              <a:spcAft>
                <a:spcPts val="800"/>
              </a:spcAft>
            </a:pPr>
            <a:r>
              <a:rPr lang="en-US" sz="2800" b="1" spc="86" dirty="0">
                <a:solidFill>
                  <a:schemeClr val="bg1"/>
                </a:solidFill>
              </a:rPr>
              <a:t>Step 4: Keep a search log</a:t>
            </a:r>
          </a:p>
          <a:p>
            <a:pPr>
              <a:lnSpc>
                <a:spcPct val="90000"/>
              </a:lnSpc>
              <a:spcAft>
                <a:spcPts val="800"/>
              </a:spcAft>
            </a:pPr>
            <a:r>
              <a:rPr lang="en-US" sz="2800" spc="86" dirty="0">
                <a:solidFill>
                  <a:schemeClr val="bg1"/>
                </a:solidFill>
              </a:rPr>
              <a:t>Record your keywords, databases, date searched, and the best results you found. This makes your review transparent and helps you avoid losing good sources.</a:t>
            </a:r>
          </a:p>
          <a:p>
            <a:pPr>
              <a:lnSpc>
                <a:spcPct val="90000"/>
              </a:lnSpc>
              <a:spcAft>
                <a:spcPts val="800"/>
              </a:spcAft>
            </a:pPr>
            <a:endParaRPr lang="en-US" sz="2800" spc="86" dirty="0">
              <a:solidFill>
                <a:schemeClr val="bg1"/>
              </a:solidFill>
            </a:endParaRPr>
          </a:p>
        </p:txBody>
      </p:sp>
    </p:spTree>
    <p:extLst>
      <p:ext uri="{BB962C8B-B14F-4D97-AF65-F5344CB8AC3E}">
        <p14:creationId xmlns:p14="http://schemas.microsoft.com/office/powerpoint/2010/main" val="190262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BD135A4-146A-C0E5-1BA8-F2F720A8C32B}"/>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8B14D4D-9014-6A60-0934-0BE5D57BF4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F45E8549-F82D-FFCF-8E9B-FB769E65CEB1}"/>
              </a:ext>
            </a:extLst>
          </p:cNvPr>
          <p:cNvSpPr txBox="1"/>
          <p:nvPr/>
        </p:nvSpPr>
        <p:spPr>
          <a:xfrm>
            <a:off x="152400" y="1600200"/>
            <a:ext cx="3657600" cy="1983235"/>
          </a:xfrm>
          <a:prstGeom prst="rect">
            <a:avLst/>
          </a:prstGeom>
        </p:spPr>
        <p:txBody>
          <a:bodyPr wrap="square" lIns="0" tIns="0" rIns="0" bIns="0" rtlCol="0" anchor="t">
            <a:spAutoFit/>
          </a:bodyPr>
          <a:lstStyle/>
          <a:p>
            <a:pPr>
              <a:lnSpc>
                <a:spcPts val="3919"/>
              </a:lnSpc>
            </a:pPr>
            <a:r>
              <a:rPr lang="en-US" sz="2799" dirty="0">
                <a:latin typeface="League Spartan"/>
              </a:rPr>
              <a:t>D. Reading critically and extracting what you need</a:t>
            </a:r>
          </a:p>
        </p:txBody>
      </p:sp>
      <p:sp>
        <p:nvSpPr>
          <p:cNvPr id="7" name="TextBox 7">
            <a:extLst>
              <a:ext uri="{FF2B5EF4-FFF2-40B4-BE49-F238E27FC236}">
                <a16:creationId xmlns:a16="http://schemas.microsoft.com/office/drawing/2014/main" id="{5ED8FFD4-962A-3C17-BEAC-D294FA0D2CE4}"/>
              </a:ext>
            </a:extLst>
          </p:cNvPr>
          <p:cNvSpPr txBox="1"/>
          <p:nvPr/>
        </p:nvSpPr>
        <p:spPr>
          <a:xfrm>
            <a:off x="3886198" y="381000"/>
            <a:ext cx="5791201" cy="6432530"/>
          </a:xfrm>
          <a:prstGeom prst="rect">
            <a:avLst/>
          </a:prstGeom>
        </p:spPr>
        <p:txBody>
          <a:bodyPr wrap="square" lIns="0" tIns="0" rIns="0" bIns="0" rtlCol="0" anchor="t">
            <a:spAutoFit/>
          </a:bodyPr>
          <a:lstStyle/>
          <a:p>
            <a:pPr>
              <a:spcBef>
                <a:spcPct val="0"/>
              </a:spcBef>
            </a:pPr>
            <a:r>
              <a:rPr lang="en-US" sz="2200" spc="86" dirty="0">
                <a:solidFill>
                  <a:srgbClr val="FFFFFF"/>
                </a:solidFill>
                <a:latin typeface="Open Sans"/>
              </a:rPr>
              <a:t>Kumar emphasises that the literature review helps you refine your problem and understand what is already known. To do that well, you must read critically.</a:t>
            </a:r>
          </a:p>
          <a:p>
            <a:pPr>
              <a:spcBef>
                <a:spcPct val="0"/>
              </a:spcBef>
            </a:pPr>
            <a:endParaRPr lang="en-US" sz="2200" spc="86" dirty="0">
              <a:solidFill>
                <a:srgbClr val="FFFFFF"/>
              </a:solidFill>
              <a:latin typeface="Open Sans"/>
            </a:endParaRPr>
          </a:p>
          <a:p>
            <a:pPr>
              <a:spcBef>
                <a:spcPct val="0"/>
              </a:spcBef>
            </a:pPr>
            <a:r>
              <a:rPr lang="en-US" sz="2200" b="1" spc="86" dirty="0">
                <a:solidFill>
                  <a:srgbClr val="FFFFFF"/>
                </a:solidFill>
                <a:latin typeface="Open Sans"/>
              </a:rPr>
              <a:t>A simple critical reading template (use for each source):</a:t>
            </a:r>
          </a:p>
          <a:p>
            <a:pPr marL="342900" indent="-342900">
              <a:spcBef>
                <a:spcPct val="0"/>
              </a:spcBef>
              <a:buFont typeface="Arial" panose="020B0604020202020204" pitchFamily="34" charset="0"/>
              <a:buChar char="•"/>
            </a:pPr>
            <a:r>
              <a:rPr lang="en-US" sz="2200" spc="86" dirty="0">
                <a:solidFill>
                  <a:srgbClr val="FFFFFF"/>
                </a:solidFill>
                <a:latin typeface="Open Sans"/>
              </a:rPr>
              <a:t>Purpose: What question was the author trying to answer?</a:t>
            </a:r>
          </a:p>
          <a:p>
            <a:pPr marL="342900" indent="-342900">
              <a:spcBef>
                <a:spcPct val="0"/>
              </a:spcBef>
              <a:buFont typeface="Arial" panose="020B0604020202020204" pitchFamily="34" charset="0"/>
              <a:buChar char="•"/>
            </a:pPr>
            <a:r>
              <a:rPr lang="en-US" sz="2200" spc="86" dirty="0">
                <a:solidFill>
                  <a:srgbClr val="FFFFFF"/>
                </a:solidFill>
                <a:latin typeface="Open Sans"/>
              </a:rPr>
              <a:t>Context: Where and with whom was the study done?</a:t>
            </a:r>
          </a:p>
          <a:p>
            <a:pPr marL="342900" indent="-342900">
              <a:spcBef>
                <a:spcPct val="0"/>
              </a:spcBef>
              <a:buFont typeface="Arial" panose="020B0604020202020204" pitchFamily="34" charset="0"/>
              <a:buChar char="•"/>
            </a:pPr>
            <a:r>
              <a:rPr lang="en-US" sz="2200" spc="86" dirty="0">
                <a:solidFill>
                  <a:srgbClr val="FFFFFF"/>
                </a:solidFill>
                <a:latin typeface="Open Sans"/>
              </a:rPr>
              <a:t>Method: What design, sample, and instruments were used?</a:t>
            </a:r>
          </a:p>
          <a:p>
            <a:pPr marL="342900" indent="-342900">
              <a:spcBef>
                <a:spcPct val="0"/>
              </a:spcBef>
              <a:buFont typeface="Arial" panose="020B0604020202020204" pitchFamily="34" charset="0"/>
              <a:buChar char="•"/>
            </a:pPr>
            <a:r>
              <a:rPr lang="en-US" sz="2200" spc="86" dirty="0">
                <a:solidFill>
                  <a:srgbClr val="FFFFFF"/>
                </a:solidFill>
                <a:latin typeface="Open Sans"/>
              </a:rPr>
              <a:t>Findings: What did they discover (results, themes, patterns)?</a:t>
            </a:r>
          </a:p>
          <a:p>
            <a:pPr marL="342900" indent="-342900">
              <a:spcBef>
                <a:spcPct val="0"/>
              </a:spcBef>
              <a:buFont typeface="Arial" panose="020B0604020202020204" pitchFamily="34" charset="0"/>
              <a:buChar char="•"/>
            </a:pPr>
            <a:r>
              <a:rPr lang="en-US" sz="2200" spc="86" dirty="0">
                <a:solidFill>
                  <a:srgbClr val="FFFFFF"/>
                </a:solidFill>
                <a:latin typeface="Open Sans"/>
              </a:rPr>
              <a:t>Limitations: What could weaken the conclusions?</a:t>
            </a:r>
          </a:p>
          <a:p>
            <a:pPr marL="342900" indent="-342900">
              <a:spcBef>
                <a:spcPct val="0"/>
              </a:spcBef>
              <a:buFont typeface="Arial" panose="020B0604020202020204" pitchFamily="34" charset="0"/>
              <a:buChar char="•"/>
            </a:pPr>
            <a:r>
              <a:rPr lang="en-US" sz="2200" spc="86" dirty="0">
                <a:solidFill>
                  <a:srgbClr val="FFFFFF"/>
                </a:solidFill>
                <a:latin typeface="Open Sans"/>
              </a:rPr>
              <a:t>Relevance: What does this add to your own study?</a:t>
            </a:r>
          </a:p>
        </p:txBody>
      </p:sp>
    </p:spTree>
    <p:extLst>
      <p:ext uri="{BB962C8B-B14F-4D97-AF65-F5344CB8AC3E}">
        <p14:creationId xmlns:p14="http://schemas.microsoft.com/office/powerpoint/2010/main" val="407914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74FABB-34F4-F976-A578-5C1C2EBB753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81FE805-8B4F-365C-DC86-E311E4B298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C8BFE67A-0F46-DBBD-422B-F7C85BCEF623}"/>
              </a:ext>
            </a:extLst>
          </p:cNvPr>
          <p:cNvSpPr txBox="1"/>
          <p:nvPr/>
        </p:nvSpPr>
        <p:spPr>
          <a:xfrm>
            <a:off x="152400" y="1600200"/>
            <a:ext cx="3657600" cy="1983235"/>
          </a:xfrm>
          <a:prstGeom prst="rect">
            <a:avLst/>
          </a:prstGeom>
        </p:spPr>
        <p:txBody>
          <a:bodyPr wrap="square" lIns="0" tIns="0" rIns="0" bIns="0" rtlCol="0" anchor="t">
            <a:spAutoFit/>
          </a:bodyPr>
          <a:lstStyle/>
          <a:p>
            <a:pPr>
              <a:lnSpc>
                <a:spcPts val="3919"/>
              </a:lnSpc>
            </a:pPr>
            <a:r>
              <a:rPr lang="en-US" sz="2799" dirty="0">
                <a:latin typeface="League Spartan"/>
              </a:rPr>
              <a:t>D. Reading critically and extracting what you need</a:t>
            </a:r>
          </a:p>
        </p:txBody>
      </p:sp>
      <p:sp>
        <p:nvSpPr>
          <p:cNvPr id="7" name="TextBox 7">
            <a:extLst>
              <a:ext uri="{FF2B5EF4-FFF2-40B4-BE49-F238E27FC236}">
                <a16:creationId xmlns:a16="http://schemas.microsoft.com/office/drawing/2014/main" id="{C04C2B6F-53B9-DE9A-2BA6-2A84D2CC0F98}"/>
              </a:ext>
            </a:extLst>
          </p:cNvPr>
          <p:cNvSpPr txBox="1"/>
          <p:nvPr/>
        </p:nvSpPr>
        <p:spPr>
          <a:xfrm>
            <a:off x="3886198" y="1372612"/>
            <a:ext cx="5791201" cy="4801314"/>
          </a:xfrm>
          <a:prstGeom prst="rect">
            <a:avLst/>
          </a:prstGeom>
        </p:spPr>
        <p:txBody>
          <a:bodyPr wrap="square" lIns="0" tIns="0" rIns="0" bIns="0" rtlCol="0" anchor="t">
            <a:spAutoFit/>
          </a:bodyPr>
          <a:lstStyle/>
          <a:p>
            <a:pPr>
              <a:spcBef>
                <a:spcPct val="0"/>
              </a:spcBef>
            </a:pPr>
            <a:r>
              <a:rPr lang="en-US" sz="2400" b="1" spc="86" dirty="0">
                <a:solidFill>
                  <a:srgbClr val="FFFFFF"/>
                </a:solidFill>
                <a:latin typeface="Open Sans"/>
              </a:rPr>
              <a:t>ICT example (reading for method):</a:t>
            </a:r>
          </a:p>
          <a:p>
            <a:pPr>
              <a:spcBef>
                <a:spcPct val="0"/>
              </a:spcBef>
            </a:pPr>
            <a:endParaRPr lang="en-US" sz="2400" spc="86" dirty="0">
              <a:solidFill>
                <a:srgbClr val="FFFFFF"/>
              </a:solidFill>
              <a:latin typeface="Open Sans"/>
            </a:endParaRPr>
          </a:p>
          <a:p>
            <a:pPr>
              <a:spcBef>
                <a:spcPct val="0"/>
              </a:spcBef>
            </a:pPr>
            <a:r>
              <a:rPr lang="en-US" sz="2400" spc="86" dirty="0">
                <a:solidFill>
                  <a:srgbClr val="FFFFFF"/>
                </a:solidFill>
                <a:latin typeface="Open Sans"/>
              </a:rPr>
              <a:t>If you are studying the user experience of a campus app, pay attention to how other studies measured usability (e.g.,</a:t>
            </a:r>
          </a:p>
          <a:p>
            <a:pPr marL="342900" indent="-342900">
              <a:spcBef>
                <a:spcPct val="0"/>
              </a:spcBef>
              <a:buFont typeface="Arial" panose="020B0604020202020204" pitchFamily="34" charset="0"/>
              <a:buChar char="•"/>
            </a:pPr>
            <a:r>
              <a:rPr lang="en-US" sz="2400" spc="86" dirty="0">
                <a:solidFill>
                  <a:srgbClr val="FFFFFF"/>
                </a:solidFill>
                <a:latin typeface="Open Sans"/>
              </a:rPr>
              <a:t>task scenarios, </a:t>
            </a:r>
          </a:p>
          <a:p>
            <a:pPr marL="342900" indent="-342900">
              <a:spcBef>
                <a:spcPct val="0"/>
              </a:spcBef>
              <a:buFont typeface="Arial" panose="020B0604020202020204" pitchFamily="34" charset="0"/>
              <a:buChar char="•"/>
            </a:pPr>
            <a:r>
              <a:rPr lang="en-US" sz="2400" spc="86" dirty="0">
                <a:solidFill>
                  <a:srgbClr val="FFFFFF"/>
                </a:solidFill>
                <a:latin typeface="Open Sans"/>
              </a:rPr>
              <a:t>sample sizes, and </a:t>
            </a:r>
          </a:p>
          <a:p>
            <a:pPr marL="342900" indent="-342900">
              <a:spcBef>
                <a:spcPct val="0"/>
              </a:spcBef>
              <a:buFont typeface="Arial" panose="020B0604020202020204" pitchFamily="34" charset="0"/>
              <a:buChar char="•"/>
            </a:pPr>
            <a:r>
              <a:rPr lang="en-US" sz="2400" spc="86" dirty="0">
                <a:solidFill>
                  <a:srgbClr val="FFFFFF"/>
                </a:solidFill>
                <a:latin typeface="Open Sans"/>
              </a:rPr>
              <a:t>the metrics reported). </a:t>
            </a:r>
          </a:p>
          <a:p>
            <a:pPr>
              <a:spcBef>
                <a:spcPct val="0"/>
              </a:spcBef>
            </a:pPr>
            <a:endParaRPr lang="en-US" sz="2400" spc="86" dirty="0">
              <a:solidFill>
                <a:srgbClr val="FFFFFF"/>
              </a:solidFill>
              <a:latin typeface="Open Sans"/>
            </a:endParaRPr>
          </a:p>
          <a:p>
            <a:pPr>
              <a:spcBef>
                <a:spcPct val="0"/>
              </a:spcBef>
            </a:pPr>
            <a:r>
              <a:rPr lang="en-US" sz="2400" spc="86" dirty="0">
                <a:solidFill>
                  <a:srgbClr val="FFFFFF"/>
                </a:solidFill>
                <a:latin typeface="Open Sans"/>
              </a:rPr>
              <a:t>This helps you design a stronger instrument later.</a:t>
            </a:r>
          </a:p>
          <a:p>
            <a:pPr marL="342900" indent="-342900">
              <a:spcBef>
                <a:spcPct val="0"/>
              </a:spcBef>
              <a:buFont typeface="Arial" panose="020B0604020202020204" pitchFamily="34" charset="0"/>
              <a:buChar char="•"/>
            </a:pPr>
            <a:endParaRPr lang="en-US" sz="2400" spc="86" dirty="0">
              <a:solidFill>
                <a:srgbClr val="FFFFFF"/>
              </a:solidFill>
              <a:latin typeface="Open Sans"/>
            </a:endParaRPr>
          </a:p>
        </p:txBody>
      </p:sp>
    </p:spTree>
    <p:extLst>
      <p:ext uri="{BB962C8B-B14F-4D97-AF65-F5344CB8AC3E}">
        <p14:creationId xmlns:p14="http://schemas.microsoft.com/office/powerpoint/2010/main" val="2844303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84C8B824-5E86-50ED-1FE0-7916EC06923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D65559E-0D8F-0A24-59DF-7A81AF34A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D82B2CD5-5384-0D7C-085C-DB0FE8EC3D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016EE8B-581D-EDFC-9F4C-93B83BEF1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6F62725-A13F-9D3B-3BB7-041C63B65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651D7A5-7715-C7E9-634D-C9326129F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1000AEC-1A5C-21F9-1DD7-9D24DD839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CFDC611-C2F5-03F8-D2B3-235436B16E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3191CFA-7D20-BD8A-2C4B-CB48C44E7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07A623E-FAD9-893A-B6DD-0B1A171023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D00BAF5-43EB-7F6D-E3E1-F7C304B0B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492621D-4354-4CCC-0532-5B00905383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1BDBD43-D33E-A415-A38E-D8CB30691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0E751D1-B255-F158-310C-F1A319EBB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105C5FC-031D-CA2B-859C-6943FBA39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D26D642-61E3-8A79-5A71-DB01E6D14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E884F70-EDD8-7766-4130-A8271D620A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2FE2B25-9044-8E57-775D-F5935646A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5547CC2-9F15-715D-F83C-9934B6746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61F48A2-DB52-0745-009F-54699E269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032BB2D-D17E-A98B-1119-2005BE2B2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2EAB992-5F63-8151-FD41-6571879B7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4633335-31CE-1EFA-0C28-CAF75CBE5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A00A892-836A-16A2-0926-66761635AB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86DD138-F355-A32B-6523-FCF25D8ED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EEC1A35E-CE72-2816-F471-E4CA4EAAC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F42EB43-0D4E-4323-2B9C-9D11C0E7C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11D04BB-E0E7-6814-1DEB-5CC119080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42D35B6-D9C8-7D3A-D78D-6BD67E82C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A50D860-1F59-07C2-0B93-9712D02D8E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A866CFC-48D5-8B7A-67DF-F6D17A49E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8B48E83-95A6-B564-D0AB-A26EBBB88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B6AE49-1B69-87A4-DAFE-79E0AFB49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A3E6895-1191-B32F-678C-B9EF80269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07FFD6-4AF5-A906-75B8-5DFD0C98C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36764F4-E7B0-0B7A-3E21-2928052E3B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2620311-BDC0-C274-14A7-BF394458A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C591392-D5FB-752D-3F3A-06BE500EE8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3AB6910-E016-1FA0-2CF9-C341A1947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B8F4C260-FF78-DF30-D751-D905CCA885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C5AB942-6AEA-3E40-C108-4A9F63F59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2B1D9514-D197-14F1-2D55-C3C48469D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5BF91EE-561B-03E8-217E-31536C836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511FD1F9-51EF-F13E-AF20-AC317FA76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702965D-9F28-20A8-5284-B8449FB8C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1040D0D-FFEF-0855-C042-825E7D114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D930587-7FDE-6339-6961-10F2A8497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67E135F8-AEEB-088D-9227-DC6EDE625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30B58B5-0019-3E14-CEC9-A38BC409BE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6474515D-5531-9770-0488-5E3C35316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82F17F2-86D4-A9D6-77B6-DB28664E0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F7B2FB5B-7446-03CA-DA1A-82BAA7CD8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4ED0B02-30EC-9B2C-EA6E-E9F3C37FB3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484F72A4-5F2A-0BA6-4835-07D5A49358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0D138A4-054B-5462-4310-B03CD06B3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BBEA8B04-D4A7-6DEE-6653-24DA8F4F8C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3E1944CB-E4E3-803B-9604-7DD2B0FE05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612DE51-F243-96DF-D62E-80BE0F86E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E60BE7D-EF69-89EF-9197-62EC0CF48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58F244EA-5ADF-D83F-762C-5E45E7AA1F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69317D-D620-3E58-9479-7BD9DD682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D14AF4A-7A7F-76AA-650D-3941DE5ED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1503E028-614F-FE67-13C8-F5560FB26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FB25203-51CE-1C7A-4A4B-1A493F99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4594B8EA-D176-4498-DA7B-203189ACC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A1E005F5-808C-D0D4-C628-F2DBB531D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2A36A78F-D44D-4547-8CD9-E608CD23B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07779AA5-C2B3-A8DF-6C62-B7364C1442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E8CEEB7A-8187-38D9-AE69-8D2EA04FB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5D2E01EB-6BA3-10C6-3169-56AD19D8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65845D6-792B-200C-83C6-A3F7DABA38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FD2A21D0-DC5A-5B30-A7F9-FFB7EFAAC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EF52DD1-E44B-9A8E-2CFA-21416F02F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51FBBC6D-515F-521B-D1DB-36AECEC12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5ECDE8C2-36FC-E057-CC36-906893552C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4D5D66B-2724-A03D-DD63-0D1BAE65C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B311AE6-2EE3-1B4F-7AC4-5A0A0DBCF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3B0C7FBE-2297-8007-86DE-F6DEC7E99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06D8AAF3-A16A-E9D4-9D55-2EDD47F4D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AEC309C-C033-A538-0F16-9C5880AB7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136B37F-3AAB-152E-0AA2-736D637EE8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E7D7E2A-5A95-BBC5-C456-B9AB52DDE7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C4E100E-B961-9776-E652-46AF600DEB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C7CE1394-C6CB-E292-F3C6-C6AED1A2A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9398260A-130F-D658-59EF-3B19C92F9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1E5394A-CD1D-6FBA-4DBD-7B95E06306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7B7AD9A0-1B73-7470-B07B-951798068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321A036-9B3A-6ED5-B512-4F3F64331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1E69832-356E-B868-C220-0FC11EA22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7EF270CA-6461-10F6-35D2-C1C782DF67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FF155C55-0DFB-BD77-CDA4-DB04312F16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B93F41C-30FA-618F-1D4D-790BCCAF3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481410F-0F98-FBEA-22EF-5913CC422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5D60002-34B2-1034-0E71-22175059A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BD50D334-51C9-1993-A4C2-4EE748DD9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D1E13EF-88E2-928A-C256-5644903EF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D553F3F9-B285-E754-8055-DA9008FDA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577AD877-31B9-7DD4-C1E7-A74385EE9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05DA281F-2582-E755-C7E0-22C4FD99C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7B325A8-477A-CEB8-7BD8-C5B273F0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40508BD1-0F2A-8D82-6324-22DB54E479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9A98890A-EFFD-2908-ABE5-C77D838CB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CF478B-C8F1-9D37-C260-90F0926C1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BCB24D38-0E33-447C-7CA3-FE0E86B35C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2381968-1BAF-0412-AD54-FB7E2C01C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C281939-2F07-1E3D-D61C-3AA044912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7F9D019-CA29-2821-89DF-37A1BFC72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E516C82-8F4A-457C-8EC3-FF8C25CFF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7DAD75BE-B5BE-AD3B-1CF4-3C6375E7B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197690B-1C50-B342-B01B-1DE951226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E6A2985C-7B2C-F356-72BB-BB15CBAE8B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C69123C7-F09D-127E-69E9-97B36D264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3C3470F-8404-3BAE-661F-02D1B766CB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4B79494-A093-A059-4313-B18E7AFBB0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C00EDA4-4205-0ED6-56C8-01831A7A5F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96959024-0106-064F-B683-11039AE98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325DE0A-79E6-8078-EBD1-9CE694C93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0E5EF51-1D2D-F502-878B-4385130FA5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0564F51-F246-22A3-DFA8-8243FE5B6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8DFFCB6-DC5B-194B-0ABD-E0E33C551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67C383A3-A836-93DC-974B-A07DA98C7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6930AEB0-D629-A100-DD61-B33095C47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4E31277-2CF9-0873-EBB8-18A551A73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07BCEFF0-A867-5037-CD4D-D303A278C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ADDA1513-F15C-FED8-13E6-726B7A432A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33229C50-B193-4313-2FD4-7982C8DD2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D4D9A27-02D4-FFF1-C18A-AA3917E298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243EC232-A464-FBED-CA4A-5E43490B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CE3F1853-C925-CE77-AB26-903D8BDE6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94DED33-BEAC-31E5-10BD-7DFE9787A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0232FCB-BD3F-9B46-8E50-7ABBBC47B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CAE34AF1-69DC-0EFF-25C4-F09ABCCA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01190A52-AEB0-9E9F-55C8-80E6115CB3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9142BB7-EA0D-BFD9-24B0-D94862556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820F061B-D2BD-449F-20F6-880604E4F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ABD80A67-50A6-1700-173B-4D12DE344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96334A02-C41B-6296-2F9C-616AF3EF4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92164676-2BB9-EF7A-52D2-CA3D6FBAD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09492BE0-32F3-AB53-510A-36498D3E7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5900924-C62F-2D9B-1A35-8AFBB63E6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42B9310D-BCDD-8645-4608-9B05536A2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9B213FC9-9CCE-1B1D-01F4-D4562F7B7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591CF289-FF72-6054-280D-DEACFB79D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076F772D-8CC3-33C4-2C0B-F66FFCBAF4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DB962C5-FFC4-6541-1A9F-630182EB72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BDA7AA5D-D141-082B-D622-6B5BADB2E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17847ABB-B592-62D6-2A3E-C796776E91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3ADD6629-D72F-6840-31C5-F626B20A6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013840D-E09B-C1FC-0AAA-A41E9D0F62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4A8DF4F9-6F2F-B5EF-A652-3ECD92006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56395BB3-0C4F-CB20-F80B-949662BF9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AB70372C-BBF1-080E-44A4-DA67B9A1F0DB}"/>
              </a:ext>
            </a:extLst>
          </p:cNvPr>
          <p:cNvSpPr txBox="1"/>
          <p:nvPr/>
        </p:nvSpPr>
        <p:spPr>
          <a:xfrm>
            <a:off x="228600" y="336988"/>
            <a:ext cx="92964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E. From summary to synthesis.</a:t>
            </a:r>
          </a:p>
          <a:p>
            <a:pPr>
              <a:lnSpc>
                <a:spcPct val="90000"/>
              </a:lnSpc>
              <a:spcAft>
                <a:spcPts val="800"/>
              </a:spcAft>
            </a:pPr>
            <a:endParaRPr lang="en-US" sz="2000" spc="86" dirty="0">
              <a:solidFill>
                <a:schemeClr val="bg1"/>
              </a:solidFill>
            </a:endParaRPr>
          </a:p>
          <a:p>
            <a:pPr>
              <a:lnSpc>
                <a:spcPct val="90000"/>
              </a:lnSpc>
              <a:spcAft>
                <a:spcPts val="800"/>
              </a:spcAft>
            </a:pPr>
            <a:r>
              <a:rPr lang="en-US" sz="2800" spc="86" dirty="0">
                <a:solidFill>
                  <a:schemeClr val="bg1"/>
                </a:solidFill>
              </a:rPr>
              <a:t>A common beginner mistake is to write one paragraph per source. Instead, group sources by themes, variables, or methods, and then compare them.</a:t>
            </a:r>
          </a:p>
          <a:p>
            <a:pPr>
              <a:lnSpc>
                <a:spcPct val="90000"/>
              </a:lnSpc>
              <a:spcAft>
                <a:spcPts val="800"/>
              </a:spcAft>
            </a:pPr>
            <a:r>
              <a:rPr lang="en-US" sz="2800" spc="86" dirty="0">
                <a:solidFill>
                  <a:schemeClr val="bg1"/>
                </a:solidFill>
              </a:rPr>
              <a:t>Ways to organise your literature review:</a:t>
            </a:r>
          </a:p>
          <a:p>
            <a:pPr>
              <a:lnSpc>
                <a:spcPct val="90000"/>
              </a:lnSpc>
              <a:spcAft>
                <a:spcPts val="800"/>
              </a:spcAft>
            </a:pPr>
            <a:r>
              <a:rPr lang="en-US" sz="2800" spc="86" dirty="0">
                <a:solidFill>
                  <a:schemeClr val="bg1"/>
                </a:solidFill>
              </a:rPr>
              <a:t>• By themes (e.g., ‘trust in AI tools’, ‘false positives’, ‘student understanding of algorithms’).</a:t>
            </a:r>
          </a:p>
          <a:p>
            <a:pPr>
              <a:lnSpc>
                <a:spcPct val="90000"/>
              </a:lnSpc>
              <a:spcAft>
                <a:spcPts val="800"/>
              </a:spcAft>
            </a:pPr>
            <a:r>
              <a:rPr lang="en-US" sz="2800" spc="86" dirty="0">
                <a:solidFill>
                  <a:schemeClr val="bg1"/>
                </a:solidFill>
              </a:rPr>
              <a:t>• By methods (e.g., survey-based studies versus interview-based studies).</a:t>
            </a:r>
          </a:p>
          <a:p>
            <a:pPr>
              <a:lnSpc>
                <a:spcPct val="90000"/>
              </a:lnSpc>
              <a:spcAft>
                <a:spcPts val="800"/>
              </a:spcAft>
            </a:pPr>
            <a:r>
              <a:rPr lang="en-US" sz="2800" spc="86" dirty="0">
                <a:solidFill>
                  <a:schemeClr val="bg1"/>
                </a:solidFill>
              </a:rPr>
              <a:t>• By timeline (useful when technology or policy changes over time).</a:t>
            </a:r>
          </a:p>
          <a:p>
            <a:pPr>
              <a:lnSpc>
                <a:spcPct val="90000"/>
              </a:lnSpc>
              <a:spcAft>
                <a:spcPts val="800"/>
              </a:spcAft>
            </a:pPr>
            <a:r>
              <a:rPr lang="en-US" sz="2800" spc="86" dirty="0">
                <a:solidFill>
                  <a:schemeClr val="bg1"/>
                </a:solidFill>
              </a:rPr>
              <a:t>• By models or frameworks (e.g., Technology Acceptance Model in studies of tool adoption).</a:t>
            </a:r>
          </a:p>
        </p:txBody>
      </p:sp>
    </p:spTree>
    <p:extLst>
      <p:ext uri="{BB962C8B-B14F-4D97-AF65-F5344CB8AC3E}">
        <p14:creationId xmlns:p14="http://schemas.microsoft.com/office/powerpoint/2010/main" val="3135717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19EF6015-A8EB-FB48-96AE-4B79FB281DD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A70B686-63AA-C4CF-1DD2-0E936609E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CE666A0C-BB50-7E76-DDCE-6FC46CB629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F51D08F5-DC18-FAC9-17CC-7348F2E28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E5693CF-5FA1-7A42-E69F-377AF9C68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1C569EB-F69E-2048-DF16-D6367DAFDF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143B41E-120F-0203-093C-E7FD216E2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9643D1B-872E-14F5-3816-5BEC7267F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5F2F9F3-5262-3A46-232E-C95858915E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5F5F756-A25D-E391-2458-75E700CF4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B675AE9-92A2-BCD1-E197-6A3E1E765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7A61450-A42A-D46E-9E02-58351566D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0014042-63B2-5BAE-8F19-EA79052CC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5047547-526F-42FA-9BDD-81086BAE6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9CFB06B-EAD4-2BC4-782F-09443729B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0A150E9-8BA5-9A6F-8F64-DB42B31B8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D8BD8D4-9AC1-8091-34D5-BAA06C51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72965E8-4873-7C72-3448-6CD93A666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8B00106-0DDE-51E1-B510-62F5B00FD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9AF19C8-090E-40F5-90EA-FA3B20713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C259C5A-AE51-1AE0-9102-DB99890E12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34823E5-97DC-D4DE-010D-DCECEA1AF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A27800B-B826-426A-75D0-16C338A11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3E45506-6525-EA6B-88F5-82F600900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4400D03E-00C1-9B78-606D-3C28670DB4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73D3868-14E8-E345-40E8-229D700AF2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9365C5A-AB3A-949B-AF83-0D6F33A38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3913495-CA6F-3E96-CEEE-2C0C069DF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EA675C3-2902-7F0A-7457-218FE011A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36226A6-ED11-7B42-EFB2-AF4A9D8B6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3A4D174B-292D-B5D4-6310-76BDABF83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FE1E37B-9B89-6EF5-4A08-6A1DF1A0A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AC0B362-6430-C2BF-D037-C1058CE874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CADF813-FAD1-9110-47E8-885467FC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EF49C14-D51D-F54B-224E-72831D005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857FFAC-0173-E444-76D6-0563F2F28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07CEC03-1DFC-59FB-0E40-593FC7252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AF5C7319-1A45-EA99-DBCE-3BCD7CA62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C0239B8D-5DCA-5BE3-B23E-10E667FB6F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AD165C9-8A39-44BF-036A-3677F60A4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964923B-1335-A6AC-9878-8C8748153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E07B6B9-4EB5-8B61-CB91-4406319943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7271E2D-BEEB-6807-EDA4-52B6F17C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92D1A9C-7896-3E94-56ED-23DB85DCF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3A0AD453-731D-5B84-D955-7838BC28B9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E4D5085-77B8-E09E-A2E1-517415E04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27DCB1C5-6EE4-2935-731A-B73E11215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2142611-5159-851D-6114-578AC8AF3B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FE67192E-1AC9-B7CA-2023-CA2AD2C37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C826E801-7C92-78A1-4EC2-64B4172BE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EADAC3A9-F172-0690-D0BB-2D145F89A4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FF1E8605-3A38-3EA8-393B-E630B8A47D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8521276-1F6A-B85D-4916-1C99BAAF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500F41A-3362-2E5F-9F61-AD09A3248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58FC8EF4-DA76-74CF-3BDF-22DEC645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A8B7BBC-CB8D-22D2-34A8-A31E08F82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8E87A929-9DA3-E6FC-1F68-235B30CCC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1CC1BD5-3E4C-F41A-8036-9B1F3D32A5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7EBAECD5-3798-3E5F-D879-7E9EEF3BBC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A2AC1CF-DEB3-C5BE-A35D-C8BAD4623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367D365-B0BF-36B3-42CC-5A0EFF062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A075E139-D951-3884-7D8B-2324FA7A2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341A0B2D-99F1-D1CB-FECC-5C1761537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9C5B47C-CDCD-3368-2F41-270B035D13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E59CF322-126E-7952-86FD-6470BF04B2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D5015B3-F223-79EE-98E1-ACCAD4A37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A2DCECE-4A89-D55B-0D4E-28A3E86FE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DCD60623-AF22-278F-D8E7-AEB981E53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ED86916-D1DE-1CFA-933B-17F7985FF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6B30E64-E530-CD55-001D-00948E457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A3D5555-2108-DB94-65C1-FDE955807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626E2FF-0417-A853-7C19-5B5956A5FE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7FB69D4F-6089-16A9-CE3A-0E3077125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0E866113-86EF-CCAC-13DE-B6567EB08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F85BC1E-C54B-CE03-44BA-7F52A1B7C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2717966-EE27-A5F3-2A07-1EC991B05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CD73F5DD-9CD5-54BA-60B6-F0FD3F364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7DD1307-DD90-2987-55B1-EEC1A0357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5188A1DC-BCA4-5D77-D12D-198B296F1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87B5BB2-D38E-AC91-EC5F-E69E9CBF0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CE785761-D306-E697-216D-E8E8706C18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C6E6CCE-F136-6B34-FDC6-1C77E695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0D4D0951-62D3-102C-585B-B044C848D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23BC96DB-0952-E57A-FC60-1EC6F631BE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0FA0A91-7B69-048C-B636-F4D44C72A2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529D0BC2-7D9E-5300-013E-C4E820599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3DECBF3-F0CF-BCB9-1FB1-ABFE5BD52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75BED783-2D92-A50A-FA17-89A89E1EA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9AE4282-375C-C6A8-39EF-49073E712B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81B22A2-B4F6-F636-64C0-E4B2E1551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14D3565B-44C3-A1D2-312B-B1DA99061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A577A22-81F7-C2E8-571D-311687AF94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14EC62D7-BCAC-1515-9D94-4FF7F98AF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712052C-AF18-1278-DE19-8FDD78CD37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27630D33-E3E1-6B5B-17C3-B2A537A25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8660226-60C1-4D4D-BC18-DCFD681FD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875291A-082F-23A9-09E0-B040690AE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904B222-5953-52EF-74EE-8C1E08CCB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D3DFCAA-4B4B-E491-F9A2-A82AF3988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931806C-0BDB-0911-F8F1-5154FB28A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F2D214BF-7620-FED7-C71E-0A04EB0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C07AC86-4436-B715-AE63-90B4A064E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53441AF-F857-0CE2-43E4-FAD55017AC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B463F6D-4244-718C-3D95-C8AA5B783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E32E929-808C-E2C1-8055-7CA8EE5AA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6D7760D5-71B1-FD30-BA11-CFC890ABC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1FA91AF8-A47A-844A-9ECD-3B40DE5C1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8580CC1-92BA-D09B-C2CF-97F90EA8E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B0F7EC0-5EB5-8C2F-579F-19D40E2B5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C5D1D1F1-A4BF-07CA-E84F-8C4E15AC0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1FD3F60F-F568-8C83-3D8F-0AD745DDD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824BB9B-E6AA-6D4F-1EAE-D546421EB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E9524AB-60D3-17E8-DE08-76B56F6B0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789483FF-69EB-2694-47D6-1FA3FE06C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AD77486-4600-7B89-E2E9-F31F82F82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F6C238D1-97E7-9C7C-9FDE-A87041290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DDEBD9A-3D14-37E7-5B83-FE24D2DD9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39214111-BD2D-DB60-765F-7F0065D45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7D0F162-840C-FF0C-A4C1-7C039C613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BF9B59C3-3BBA-3DEE-9469-703278ACDB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0B895DE-C5D2-438F-B1D2-DB73236C8B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524C5708-B368-1861-AADC-0340A0042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219C47B7-8EB1-88E0-F500-56C885309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3AC4E93-7F87-627E-487A-6CA36B8F1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5B539466-852B-D183-D827-D001D39A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CA1E359-DE08-C1C5-F16E-67510CE7AA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21A585F6-647C-F783-88A3-A60612B397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B9463D74-1B59-E5C1-F53F-F42BD0BAF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74E70D0D-F9F2-40F6-CE26-B953DF4CAC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B38E22BA-7666-A8FA-2431-94C50F2AB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0F163A9F-CB2C-FEDD-1CC9-0F22381F6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2F12F4D-A470-2DBD-68ED-F5783EC0F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6463AA14-1EC3-EB93-29E5-BE01319ECF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3488D98-1019-4635-5D97-4167CC07A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595D3DF7-0B7D-B1B5-C0A7-A807E5687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0DDC81D-6F7B-E492-3C97-8CE8622A3C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D9301522-A299-1378-91FA-A3CDBB974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709A9312-70B4-0AA0-49CE-E4A998D6C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F40083F-34D5-EE48-29D9-6000BCA1F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862797E-8266-1B0E-097F-AAA41B70E1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D27215A-6182-51EC-4120-DB80D2DCE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F6E9D451-3E09-8DB7-50F7-667D835EE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4A289538-8CA4-130E-C48A-05AEF066B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8E3A33-E268-D3E0-2566-70DDA697F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3FA22CFA-7342-EBC2-5769-83BCB1913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8A90B15-3FAF-8CF8-B1C1-BF8BBC7C9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7AEE9B69-8CAF-3DEA-DCC2-41A2E8B8E9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88C5B7BA-4DE1-633F-4755-3AFEAA713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C63C87FC-7DD7-3A72-31F6-D16EC0380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7714093-3D56-7573-BFBA-498E9DF71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2ADE04A7-3572-35F8-15EC-4AEA088076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3251FD1B-4031-4B0B-5B76-52BB205F41A0}"/>
              </a:ext>
            </a:extLst>
          </p:cNvPr>
          <p:cNvSpPr txBox="1"/>
          <p:nvPr/>
        </p:nvSpPr>
        <p:spPr>
          <a:xfrm>
            <a:off x="609600" y="304800"/>
            <a:ext cx="8991600" cy="68258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F. Writing the literature review in an academic style</a:t>
            </a:r>
            <a:endParaRPr lang="en-US" sz="2000" spc="86" dirty="0">
              <a:solidFill>
                <a:schemeClr val="bg1"/>
              </a:solidFill>
            </a:endParaRPr>
          </a:p>
          <a:p>
            <a:pPr>
              <a:lnSpc>
                <a:spcPct val="90000"/>
              </a:lnSpc>
              <a:spcAft>
                <a:spcPts val="800"/>
              </a:spcAft>
            </a:pPr>
            <a:r>
              <a:rPr lang="en-US" sz="2400" spc="86" dirty="0">
                <a:solidFill>
                  <a:schemeClr val="bg1"/>
                </a:solidFill>
              </a:rPr>
              <a:t>Aim for a logical flow: introduce the topic area, define key concepts, compare what scholars have found, identify gaps, and end by linking the gap to your own research problem and objectives.</a:t>
            </a:r>
          </a:p>
          <a:p>
            <a:pPr>
              <a:lnSpc>
                <a:spcPct val="90000"/>
              </a:lnSpc>
              <a:spcAft>
                <a:spcPts val="800"/>
              </a:spcAft>
            </a:pPr>
            <a:r>
              <a:rPr lang="en-US" sz="2400" b="1" spc="86" dirty="0">
                <a:solidFill>
                  <a:schemeClr val="bg1"/>
                </a:solidFill>
              </a:rPr>
              <a:t>Practical writing tips:</a:t>
            </a:r>
          </a:p>
          <a:p>
            <a:pPr>
              <a:lnSpc>
                <a:spcPct val="90000"/>
              </a:lnSpc>
              <a:spcAft>
                <a:spcPts val="800"/>
              </a:spcAft>
            </a:pPr>
            <a:r>
              <a:rPr lang="en-US" sz="2400" spc="86" dirty="0">
                <a:solidFill>
                  <a:schemeClr val="bg1"/>
                </a:solidFill>
              </a:rPr>
              <a:t>• Use topic sentences that signal the theme of the paragraph.</a:t>
            </a:r>
          </a:p>
          <a:p>
            <a:pPr>
              <a:lnSpc>
                <a:spcPct val="90000"/>
              </a:lnSpc>
              <a:spcAft>
                <a:spcPts val="800"/>
              </a:spcAft>
            </a:pPr>
            <a:r>
              <a:rPr lang="en-US" sz="2400" spc="86" dirty="0">
                <a:solidFill>
                  <a:schemeClr val="bg1"/>
                </a:solidFill>
              </a:rPr>
              <a:t>• Compare sources in the same paragraph instead of listing them one by one.</a:t>
            </a:r>
          </a:p>
          <a:p>
            <a:pPr>
              <a:lnSpc>
                <a:spcPct val="90000"/>
              </a:lnSpc>
              <a:spcAft>
                <a:spcPts val="800"/>
              </a:spcAft>
            </a:pPr>
            <a:r>
              <a:rPr lang="en-US" sz="2400" spc="86" dirty="0">
                <a:solidFill>
                  <a:schemeClr val="bg1"/>
                </a:solidFill>
              </a:rPr>
              <a:t>• Use citations correctly and consistently (avoid copying wording from sources).</a:t>
            </a:r>
          </a:p>
          <a:p>
            <a:pPr>
              <a:lnSpc>
                <a:spcPct val="90000"/>
              </a:lnSpc>
              <a:spcAft>
                <a:spcPts val="800"/>
              </a:spcAft>
            </a:pPr>
            <a:r>
              <a:rPr lang="en-US" sz="2400" spc="86" dirty="0">
                <a:solidFill>
                  <a:schemeClr val="bg1"/>
                </a:solidFill>
              </a:rPr>
              <a:t>• End the section by stating the gap your study will address.</a:t>
            </a:r>
          </a:p>
        </p:txBody>
      </p:sp>
    </p:spTree>
    <p:extLst>
      <p:ext uri="{BB962C8B-B14F-4D97-AF65-F5344CB8AC3E}">
        <p14:creationId xmlns:p14="http://schemas.microsoft.com/office/powerpoint/2010/main" val="3617506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EA20231-3D75-1E1B-A560-7651915C788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AD9F533-2651-3B4A-77D2-D3AACB6929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C07F8282-7567-3D16-E1DC-F3BFDB89F143}"/>
              </a:ext>
            </a:extLst>
          </p:cNvPr>
          <p:cNvSpPr txBox="1"/>
          <p:nvPr/>
        </p:nvSpPr>
        <p:spPr>
          <a:xfrm>
            <a:off x="152400" y="1600200"/>
            <a:ext cx="3200400" cy="1983235"/>
          </a:xfrm>
          <a:prstGeom prst="rect">
            <a:avLst/>
          </a:prstGeom>
        </p:spPr>
        <p:txBody>
          <a:bodyPr wrap="square" lIns="0" tIns="0" rIns="0" bIns="0" rtlCol="0" anchor="t">
            <a:spAutoFit/>
          </a:bodyPr>
          <a:lstStyle/>
          <a:p>
            <a:pPr>
              <a:lnSpc>
                <a:spcPts val="3919"/>
              </a:lnSpc>
            </a:pPr>
            <a:r>
              <a:rPr lang="en-US" sz="2799" dirty="0">
                <a:latin typeface="League Spartan"/>
              </a:rPr>
              <a:t>G. Example: </a:t>
            </a:r>
          </a:p>
          <a:p>
            <a:pPr>
              <a:lnSpc>
                <a:spcPts val="3919"/>
              </a:lnSpc>
            </a:pPr>
            <a:r>
              <a:rPr lang="en-US" sz="2799" dirty="0">
                <a:latin typeface="League Spartan"/>
              </a:rPr>
              <a:t>From Broad Idea to a Literature Review Plan</a:t>
            </a:r>
          </a:p>
        </p:txBody>
      </p:sp>
      <p:sp>
        <p:nvSpPr>
          <p:cNvPr id="7" name="TextBox 7">
            <a:extLst>
              <a:ext uri="{FF2B5EF4-FFF2-40B4-BE49-F238E27FC236}">
                <a16:creationId xmlns:a16="http://schemas.microsoft.com/office/drawing/2014/main" id="{FABD51DE-2AC8-C6BF-F856-F21ACB29650F}"/>
              </a:ext>
            </a:extLst>
          </p:cNvPr>
          <p:cNvSpPr txBox="1"/>
          <p:nvPr/>
        </p:nvSpPr>
        <p:spPr>
          <a:xfrm>
            <a:off x="3886198" y="381000"/>
            <a:ext cx="5791201" cy="5416868"/>
          </a:xfrm>
          <a:prstGeom prst="rect">
            <a:avLst/>
          </a:prstGeom>
        </p:spPr>
        <p:txBody>
          <a:bodyPr wrap="square" lIns="0" tIns="0" rIns="0" bIns="0" rtlCol="0" anchor="t">
            <a:spAutoFit/>
          </a:bodyPr>
          <a:lstStyle/>
          <a:p>
            <a:pPr>
              <a:spcBef>
                <a:spcPct val="0"/>
              </a:spcBef>
            </a:pPr>
            <a:r>
              <a:rPr lang="en-US" sz="2200" b="1" spc="86" dirty="0">
                <a:solidFill>
                  <a:srgbClr val="FFFFFF"/>
                </a:solidFill>
                <a:latin typeface="Open Sans"/>
              </a:rPr>
              <a:t>Broad ICT idea</a:t>
            </a:r>
          </a:p>
          <a:p>
            <a:pPr>
              <a:spcBef>
                <a:spcPct val="0"/>
              </a:spcBef>
            </a:pPr>
            <a:r>
              <a:rPr lang="en-US" sz="2200" spc="86" dirty="0">
                <a:solidFill>
                  <a:srgbClr val="FFFFFF"/>
                </a:solidFill>
                <a:latin typeface="Open Sans"/>
              </a:rPr>
              <a:t>AI is changing software development.</a:t>
            </a:r>
          </a:p>
          <a:p>
            <a:pPr marL="342900" indent="-342900">
              <a:spcBef>
                <a:spcPct val="0"/>
              </a:spcBef>
              <a:buFont typeface="Arial" panose="020B0604020202020204" pitchFamily="34" charset="0"/>
              <a:buChar char="•"/>
            </a:pPr>
            <a:endParaRPr lang="en-US" sz="2200" spc="86" dirty="0">
              <a:solidFill>
                <a:srgbClr val="FFFFFF"/>
              </a:solidFill>
              <a:latin typeface="Open Sans"/>
            </a:endParaRPr>
          </a:p>
          <a:p>
            <a:pPr marL="457200" indent="-457200">
              <a:spcBef>
                <a:spcPct val="0"/>
              </a:spcBef>
              <a:buAutoNum type="arabicParenR"/>
            </a:pPr>
            <a:r>
              <a:rPr lang="en-US" sz="2200" spc="86" dirty="0">
                <a:solidFill>
                  <a:srgbClr val="FFFFFF"/>
                </a:solidFill>
                <a:latin typeface="Open Sans"/>
              </a:rPr>
              <a:t>Researchable topic (one sentence, real context)</a:t>
            </a:r>
          </a:p>
          <a:p>
            <a:pPr>
              <a:spcBef>
                <a:spcPct val="0"/>
              </a:spcBef>
            </a:pPr>
            <a:endParaRPr lang="en-US" sz="2200" spc="86" dirty="0">
              <a:solidFill>
                <a:srgbClr val="FFFFFF"/>
              </a:solidFill>
              <a:latin typeface="Open Sans"/>
            </a:endParaRPr>
          </a:p>
          <a:p>
            <a:pPr>
              <a:spcBef>
                <a:spcPct val="0"/>
              </a:spcBef>
            </a:pPr>
            <a:r>
              <a:rPr lang="en-US" sz="2200" i="1" spc="86" dirty="0">
                <a:solidFill>
                  <a:srgbClr val="FFFFFF"/>
                </a:solidFill>
                <a:latin typeface="Open Sans"/>
              </a:rPr>
              <a:t>“How does the use of generative AI tools (such as GitHub Copilot or ChatGPT) influence code quality and developer productivity among software development students during project work?”</a:t>
            </a:r>
          </a:p>
          <a:p>
            <a:pPr marL="342900" indent="-342900">
              <a:spcBef>
                <a:spcPct val="0"/>
              </a:spcBef>
              <a:buFont typeface="Arial" panose="020B0604020202020204" pitchFamily="34" charset="0"/>
              <a:buChar char="•"/>
            </a:pPr>
            <a:endParaRPr lang="en-US" sz="2200" spc="86" dirty="0">
              <a:solidFill>
                <a:srgbClr val="FFFFFF"/>
              </a:solidFill>
              <a:latin typeface="Open Sans"/>
            </a:endParaRPr>
          </a:p>
          <a:p>
            <a:pPr marL="342900" indent="-342900">
              <a:spcBef>
                <a:spcPct val="0"/>
              </a:spcBef>
              <a:buFont typeface="Arial" panose="020B0604020202020204" pitchFamily="34" charset="0"/>
              <a:buChar char="•"/>
            </a:pPr>
            <a:r>
              <a:rPr lang="en-US" sz="2200" spc="86" dirty="0">
                <a:solidFill>
                  <a:srgbClr val="FFFFFF"/>
                </a:solidFill>
                <a:latin typeface="Open Sans"/>
              </a:rPr>
              <a:t>You can </a:t>
            </a:r>
            <a:r>
              <a:rPr lang="en-US" sz="2200" spc="86" dirty="0" err="1">
                <a:solidFill>
                  <a:srgbClr val="FFFFFF"/>
                </a:solidFill>
                <a:latin typeface="Open Sans"/>
              </a:rPr>
              <a:t>localise</a:t>
            </a:r>
            <a:r>
              <a:rPr lang="en-US" sz="2200" spc="86" dirty="0">
                <a:solidFill>
                  <a:srgbClr val="FFFFFF"/>
                </a:solidFill>
                <a:latin typeface="Open Sans"/>
              </a:rPr>
              <a:t> it even more by adding your institution name, a specific module, or a specific year group.</a:t>
            </a:r>
          </a:p>
        </p:txBody>
      </p:sp>
    </p:spTree>
    <p:extLst>
      <p:ext uri="{BB962C8B-B14F-4D97-AF65-F5344CB8AC3E}">
        <p14:creationId xmlns:p14="http://schemas.microsoft.com/office/powerpoint/2010/main" val="3651266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3771230-4B5D-A33D-E756-B923665FE68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7BAFFE4-5FC0-D59C-AB5E-38891F7112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E2AE0BD4-C63A-0897-6A3D-CBD16D00EECF}"/>
              </a:ext>
            </a:extLst>
          </p:cNvPr>
          <p:cNvSpPr txBox="1"/>
          <p:nvPr/>
        </p:nvSpPr>
        <p:spPr>
          <a:xfrm>
            <a:off x="152400" y="1600200"/>
            <a:ext cx="3200400" cy="1983235"/>
          </a:xfrm>
          <a:prstGeom prst="rect">
            <a:avLst/>
          </a:prstGeom>
        </p:spPr>
        <p:txBody>
          <a:bodyPr wrap="square" lIns="0" tIns="0" rIns="0" bIns="0" rtlCol="0" anchor="t">
            <a:spAutoFit/>
          </a:bodyPr>
          <a:lstStyle/>
          <a:p>
            <a:pPr>
              <a:lnSpc>
                <a:spcPts val="3919"/>
              </a:lnSpc>
            </a:pPr>
            <a:r>
              <a:rPr lang="en-US" sz="2799" dirty="0">
                <a:latin typeface="League Spartan"/>
              </a:rPr>
              <a:t>G. Example: </a:t>
            </a:r>
          </a:p>
          <a:p>
            <a:pPr>
              <a:lnSpc>
                <a:spcPts val="3919"/>
              </a:lnSpc>
            </a:pPr>
            <a:r>
              <a:rPr lang="en-US" sz="2799" dirty="0">
                <a:latin typeface="League Spartan"/>
              </a:rPr>
              <a:t>From Broad Idea to a Literature Review Plan</a:t>
            </a:r>
          </a:p>
        </p:txBody>
      </p:sp>
      <p:sp>
        <p:nvSpPr>
          <p:cNvPr id="7" name="TextBox 7">
            <a:extLst>
              <a:ext uri="{FF2B5EF4-FFF2-40B4-BE49-F238E27FC236}">
                <a16:creationId xmlns:a16="http://schemas.microsoft.com/office/drawing/2014/main" id="{B311780A-4A39-0002-9B58-B0CCDE703972}"/>
              </a:ext>
            </a:extLst>
          </p:cNvPr>
          <p:cNvSpPr txBox="1"/>
          <p:nvPr/>
        </p:nvSpPr>
        <p:spPr>
          <a:xfrm>
            <a:off x="3886198" y="381000"/>
            <a:ext cx="5791201" cy="6432530"/>
          </a:xfrm>
          <a:prstGeom prst="rect">
            <a:avLst/>
          </a:prstGeom>
        </p:spPr>
        <p:txBody>
          <a:bodyPr wrap="square" lIns="0" tIns="0" rIns="0" bIns="0" rtlCol="0" anchor="t">
            <a:spAutoFit/>
          </a:bodyPr>
          <a:lstStyle/>
          <a:p>
            <a:pPr>
              <a:spcBef>
                <a:spcPct val="0"/>
              </a:spcBef>
            </a:pPr>
            <a:r>
              <a:rPr lang="en-US" sz="2200" spc="86" dirty="0">
                <a:solidFill>
                  <a:srgbClr val="FFFFFF"/>
                </a:solidFill>
                <a:latin typeface="Open Sans"/>
              </a:rPr>
              <a:t>2) Keywords and synonyms (4 to 6)</a:t>
            </a:r>
          </a:p>
          <a:p>
            <a:pPr>
              <a:spcBef>
                <a:spcPct val="0"/>
              </a:spcBef>
            </a:pPr>
            <a:r>
              <a:rPr lang="en-US" sz="2200" spc="86" dirty="0">
                <a:solidFill>
                  <a:srgbClr val="FFFFFF"/>
                </a:solidFill>
                <a:latin typeface="Open Sans"/>
              </a:rPr>
              <a:t>We can start with these and expand as we search:</a:t>
            </a:r>
          </a:p>
          <a:p>
            <a:pPr marL="342900" indent="-342900">
              <a:spcBef>
                <a:spcPct val="0"/>
              </a:spcBef>
              <a:buFont typeface="Arial" panose="020B0604020202020204" pitchFamily="34" charset="0"/>
              <a:buChar char="•"/>
            </a:pPr>
            <a:r>
              <a:rPr lang="en-US" sz="2200" spc="86" dirty="0">
                <a:solidFill>
                  <a:srgbClr val="FFFFFF"/>
                </a:solidFill>
                <a:latin typeface="Open Sans"/>
              </a:rPr>
              <a:t>Generative AI (synonyms: GenAI, large language models, LLMs)</a:t>
            </a:r>
          </a:p>
          <a:p>
            <a:pPr marL="342900" indent="-342900">
              <a:spcBef>
                <a:spcPct val="0"/>
              </a:spcBef>
              <a:buFont typeface="Arial" panose="020B0604020202020204" pitchFamily="34" charset="0"/>
              <a:buChar char="•"/>
            </a:pPr>
            <a:r>
              <a:rPr lang="en-US" sz="2200" spc="86" dirty="0">
                <a:solidFill>
                  <a:srgbClr val="FFFFFF"/>
                </a:solidFill>
                <a:latin typeface="Open Sans"/>
              </a:rPr>
              <a:t>AI coding tools (synonyms: GitHub Copilot, ChatGPT, code assistant)</a:t>
            </a:r>
          </a:p>
          <a:p>
            <a:pPr marL="342900" indent="-342900">
              <a:spcBef>
                <a:spcPct val="0"/>
              </a:spcBef>
              <a:buFont typeface="Arial" panose="020B0604020202020204" pitchFamily="34" charset="0"/>
              <a:buChar char="•"/>
            </a:pPr>
            <a:r>
              <a:rPr lang="en-US" sz="2200" spc="86" dirty="0">
                <a:solidFill>
                  <a:srgbClr val="FFFFFF"/>
                </a:solidFill>
                <a:latin typeface="Open Sans"/>
              </a:rPr>
              <a:t>Software development (synonyms: programming, coding, software engineering)</a:t>
            </a:r>
          </a:p>
          <a:p>
            <a:pPr marL="342900" indent="-342900">
              <a:spcBef>
                <a:spcPct val="0"/>
              </a:spcBef>
              <a:buFont typeface="Arial" panose="020B0604020202020204" pitchFamily="34" charset="0"/>
              <a:buChar char="•"/>
            </a:pPr>
            <a:r>
              <a:rPr lang="en-US" sz="2200" spc="86" dirty="0">
                <a:solidFill>
                  <a:srgbClr val="FFFFFF"/>
                </a:solidFill>
                <a:latin typeface="Open Sans"/>
              </a:rPr>
              <a:t>Developer productivity (synonyms: efficiency, speed, time-to-complete, throughput)</a:t>
            </a:r>
          </a:p>
          <a:p>
            <a:pPr marL="342900" indent="-342900">
              <a:spcBef>
                <a:spcPct val="0"/>
              </a:spcBef>
              <a:buFont typeface="Arial" panose="020B0604020202020204" pitchFamily="34" charset="0"/>
              <a:buChar char="•"/>
            </a:pPr>
            <a:r>
              <a:rPr lang="en-US" sz="2200" spc="86" dirty="0">
                <a:solidFill>
                  <a:srgbClr val="FFFFFF"/>
                </a:solidFill>
                <a:latin typeface="Open Sans"/>
              </a:rPr>
              <a:t>Code quality (synonyms: maintainability, defects, bugs, code correctness)</a:t>
            </a:r>
          </a:p>
          <a:p>
            <a:pPr marL="342900" indent="-342900">
              <a:spcBef>
                <a:spcPct val="0"/>
              </a:spcBef>
              <a:buFont typeface="Arial" panose="020B0604020202020204" pitchFamily="34" charset="0"/>
              <a:buChar char="•"/>
            </a:pPr>
            <a:r>
              <a:rPr lang="en-US" sz="2200" spc="86" dirty="0">
                <a:solidFill>
                  <a:srgbClr val="FFFFFF"/>
                </a:solidFill>
                <a:latin typeface="Open Sans"/>
              </a:rPr>
              <a:t>Student developers (synonyms: novice programmers, ICT students, undergraduate developers).</a:t>
            </a:r>
          </a:p>
        </p:txBody>
      </p:sp>
    </p:spTree>
    <p:extLst>
      <p:ext uri="{BB962C8B-B14F-4D97-AF65-F5344CB8AC3E}">
        <p14:creationId xmlns:p14="http://schemas.microsoft.com/office/powerpoint/2010/main" val="1039371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2812E77-B51B-BD7A-A885-B47A13E8212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B6B58ED-E2B7-E2B0-4ADC-EC8E9FBF8F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BA2B6850-3E7A-D608-3EFD-FF766A23DB48}"/>
              </a:ext>
            </a:extLst>
          </p:cNvPr>
          <p:cNvSpPr txBox="1"/>
          <p:nvPr/>
        </p:nvSpPr>
        <p:spPr>
          <a:xfrm>
            <a:off x="152400" y="1600200"/>
            <a:ext cx="3200400" cy="1983235"/>
          </a:xfrm>
          <a:prstGeom prst="rect">
            <a:avLst/>
          </a:prstGeom>
        </p:spPr>
        <p:txBody>
          <a:bodyPr wrap="square" lIns="0" tIns="0" rIns="0" bIns="0" rtlCol="0" anchor="t">
            <a:spAutoFit/>
          </a:bodyPr>
          <a:lstStyle/>
          <a:p>
            <a:pPr>
              <a:lnSpc>
                <a:spcPts val="3919"/>
              </a:lnSpc>
            </a:pPr>
            <a:r>
              <a:rPr lang="en-US" sz="2799" dirty="0">
                <a:latin typeface="League Spartan"/>
              </a:rPr>
              <a:t>G. Example: </a:t>
            </a:r>
          </a:p>
          <a:p>
            <a:pPr>
              <a:lnSpc>
                <a:spcPts val="3919"/>
              </a:lnSpc>
            </a:pPr>
            <a:r>
              <a:rPr lang="en-US" sz="2799" dirty="0">
                <a:latin typeface="League Spartan"/>
              </a:rPr>
              <a:t>From Broad Idea to a Literature Review Plan</a:t>
            </a:r>
          </a:p>
        </p:txBody>
      </p:sp>
      <p:sp>
        <p:nvSpPr>
          <p:cNvPr id="7" name="TextBox 7">
            <a:extLst>
              <a:ext uri="{FF2B5EF4-FFF2-40B4-BE49-F238E27FC236}">
                <a16:creationId xmlns:a16="http://schemas.microsoft.com/office/drawing/2014/main" id="{EB3F2724-C2BA-686F-131D-30824B83FC74}"/>
              </a:ext>
            </a:extLst>
          </p:cNvPr>
          <p:cNvSpPr txBox="1"/>
          <p:nvPr/>
        </p:nvSpPr>
        <p:spPr>
          <a:xfrm>
            <a:off x="3886198" y="381000"/>
            <a:ext cx="5791201" cy="4739759"/>
          </a:xfrm>
          <a:prstGeom prst="rect">
            <a:avLst/>
          </a:prstGeom>
        </p:spPr>
        <p:txBody>
          <a:bodyPr wrap="square" lIns="0" tIns="0" rIns="0" bIns="0" rtlCol="0" anchor="t">
            <a:spAutoFit/>
          </a:bodyPr>
          <a:lstStyle/>
          <a:p>
            <a:pPr>
              <a:spcBef>
                <a:spcPct val="0"/>
              </a:spcBef>
            </a:pPr>
            <a:r>
              <a:rPr lang="en-US" sz="2200" spc="86" dirty="0">
                <a:solidFill>
                  <a:srgbClr val="FFFFFF"/>
                </a:solidFill>
                <a:latin typeface="Open Sans"/>
              </a:rPr>
              <a:t>3) Databases or search platforms (choose two)</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Pick two that you can realistically access:</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Google Scholar (broad coverage, good for starting)</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IEEE Xplore (excellent for computing and software engineering research)</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Optional alternatives: ACM Digital Library, ScienceDirect, CPUT library’s discovery portal.</a:t>
            </a:r>
          </a:p>
        </p:txBody>
      </p:sp>
    </p:spTree>
    <p:extLst>
      <p:ext uri="{BB962C8B-B14F-4D97-AF65-F5344CB8AC3E}">
        <p14:creationId xmlns:p14="http://schemas.microsoft.com/office/powerpoint/2010/main" val="2554183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C4691A-F75F-78E7-9D8E-4568B3A06E6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9F0AD24-1056-9257-CD56-8F50973D12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F858ACC5-5B70-93C1-FA33-3D5A52DB87C8}"/>
              </a:ext>
            </a:extLst>
          </p:cNvPr>
          <p:cNvSpPr txBox="1"/>
          <p:nvPr/>
        </p:nvSpPr>
        <p:spPr>
          <a:xfrm>
            <a:off x="152400" y="1600200"/>
            <a:ext cx="3200400" cy="1983235"/>
          </a:xfrm>
          <a:prstGeom prst="rect">
            <a:avLst/>
          </a:prstGeom>
        </p:spPr>
        <p:txBody>
          <a:bodyPr wrap="square" lIns="0" tIns="0" rIns="0" bIns="0" rtlCol="0" anchor="t">
            <a:spAutoFit/>
          </a:bodyPr>
          <a:lstStyle/>
          <a:p>
            <a:pPr>
              <a:lnSpc>
                <a:spcPts val="3919"/>
              </a:lnSpc>
            </a:pPr>
            <a:r>
              <a:rPr lang="en-US" sz="2799" dirty="0">
                <a:latin typeface="League Spartan"/>
              </a:rPr>
              <a:t>G. Example: </a:t>
            </a:r>
          </a:p>
          <a:p>
            <a:pPr>
              <a:lnSpc>
                <a:spcPts val="3919"/>
              </a:lnSpc>
            </a:pPr>
            <a:r>
              <a:rPr lang="en-US" sz="2799" dirty="0">
                <a:latin typeface="League Spartan"/>
              </a:rPr>
              <a:t>From Broad Idea to a Literature Review Plan</a:t>
            </a:r>
          </a:p>
        </p:txBody>
      </p:sp>
      <p:sp>
        <p:nvSpPr>
          <p:cNvPr id="7" name="TextBox 7">
            <a:extLst>
              <a:ext uri="{FF2B5EF4-FFF2-40B4-BE49-F238E27FC236}">
                <a16:creationId xmlns:a16="http://schemas.microsoft.com/office/drawing/2014/main" id="{7BC5971A-30A1-92DE-AB83-E025F174469E}"/>
              </a:ext>
            </a:extLst>
          </p:cNvPr>
          <p:cNvSpPr txBox="1"/>
          <p:nvPr/>
        </p:nvSpPr>
        <p:spPr>
          <a:xfrm>
            <a:off x="3886198" y="381000"/>
            <a:ext cx="5791201" cy="4739759"/>
          </a:xfrm>
          <a:prstGeom prst="rect">
            <a:avLst/>
          </a:prstGeom>
        </p:spPr>
        <p:txBody>
          <a:bodyPr wrap="square" lIns="0" tIns="0" rIns="0" bIns="0" rtlCol="0" anchor="t">
            <a:spAutoFit/>
          </a:bodyPr>
          <a:lstStyle/>
          <a:p>
            <a:pPr>
              <a:spcBef>
                <a:spcPct val="0"/>
              </a:spcBef>
            </a:pPr>
            <a:r>
              <a:rPr lang="en-US" sz="2200" spc="86" dirty="0">
                <a:solidFill>
                  <a:srgbClr val="FFFFFF"/>
                </a:solidFill>
                <a:latin typeface="Open Sans"/>
              </a:rPr>
              <a:t>4) Inclusion criteria (two)</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Examples that make the search focused and fair:</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Published between 2019 and 2026 (keeps it current for GenAI and coding tools).</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Studies that examine AI coding tools in software development, and report outcomes related to productivity, code quality, learning, or developer </a:t>
            </a:r>
            <a:r>
              <a:rPr lang="en-US" sz="2200" spc="86" dirty="0" err="1">
                <a:solidFill>
                  <a:srgbClr val="FFFFFF"/>
                </a:solidFill>
                <a:latin typeface="Open Sans"/>
              </a:rPr>
              <a:t>behaviour</a:t>
            </a:r>
            <a:r>
              <a:rPr lang="en-US" sz="2200" spc="86" dirty="0">
                <a:solidFill>
                  <a:srgbClr val="FFFFFF"/>
                </a:solidFill>
                <a:latin typeface="Open Sans"/>
              </a:rPr>
              <a:t>.</a:t>
            </a:r>
          </a:p>
        </p:txBody>
      </p:sp>
    </p:spTree>
    <p:extLst>
      <p:ext uri="{BB962C8B-B14F-4D97-AF65-F5344CB8AC3E}">
        <p14:creationId xmlns:p14="http://schemas.microsoft.com/office/powerpoint/2010/main" val="2840594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D1A64FF-31D9-541D-8F53-4FC75AD0AE8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A5CABD2-7916-083F-032C-E973E5A5DE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D75B71BC-9F68-468C-EBCF-F47A04B11608}"/>
              </a:ext>
            </a:extLst>
          </p:cNvPr>
          <p:cNvSpPr txBox="1"/>
          <p:nvPr/>
        </p:nvSpPr>
        <p:spPr>
          <a:xfrm>
            <a:off x="152400" y="1600200"/>
            <a:ext cx="3200400" cy="1983235"/>
          </a:xfrm>
          <a:prstGeom prst="rect">
            <a:avLst/>
          </a:prstGeom>
        </p:spPr>
        <p:txBody>
          <a:bodyPr wrap="square" lIns="0" tIns="0" rIns="0" bIns="0" rtlCol="0" anchor="t">
            <a:spAutoFit/>
          </a:bodyPr>
          <a:lstStyle/>
          <a:p>
            <a:pPr>
              <a:lnSpc>
                <a:spcPts val="3919"/>
              </a:lnSpc>
            </a:pPr>
            <a:r>
              <a:rPr lang="en-US" sz="2799" dirty="0">
                <a:latin typeface="League Spartan"/>
              </a:rPr>
              <a:t>G. Example: </a:t>
            </a:r>
          </a:p>
          <a:p>
            <a:pPr>
              <a:lnSpc>
                <a:spcPts val="3919"/>
              </a:lnSpc>
            </a:pPr>
            <a:r>
              <a:rPr lang="en-US" sz="2799" dirty="0">
                <a:latin typeface="League Spartan"/>
              </a:rPr>
              <a:t>From Broad Idea to a Literature Review Plan</a:t>
            </a:r>
          </a:p>
        </p:txBody>
      </p:sp>
      <p:sp>
        <p:nvSpPr>
          <p:cNvPr id="7" name="TextBox 7">
            <a:extLst>
              <a:ext uri="{FF2B5EF4-FFF2-40B4-BE49-F238E27FC236}">
                <a16:creationId xmlns:a16="http://schemas.microsoft.com/office/drawing/2014/main" id="{4119D7EA-6621-E88C-7C72-7FF06DF5C929}"/>
              </a:ext>
            </a:extLst>
          </p:cNvPr>
          <p:cNvSpPr txBox="1"/>
          <p:nvPr/>
        </p:nvSpPr>
        <p:spPr>
          <a:xfrm>
            <a:off x="3886198" y="381000"/>
            <a:ext cx="5791201" cy="4739759"/>
          </a:xfrm>
          <a:prstGeom prst="rect">
            <a:avLst/>
          </a:prstGeom>
        </p:spPr>
        <p:txBody>
          <a:bodyPr wrap="square" lIns="0" tIns="0" rIns="0" bIns="0" rtlCol="0" anchor="t">
            <a:spAutoFit/>
          </a:bodyPr>
          <a:lstStyle/>
          <a:p>
            <a:pPr>
              <a:spcBef>
                <a:spcPct val="0"/>
              </a:spcBef>
            </a:pPr>
            <a:r>
              <a:rPr lang="en-US" sz="2200" spc="86" dirty="0">
                <a:solidFill>
                  <a:srgbClr val="FFFFFF"/>
                </a:solidFill>
                <a:latin typeface="Open Sans"/>
              </a:rPr>
              <a:t>5) Exclusion criteria (two)</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Examples that prevent the review from drifting:</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Exclude papers about AI for tasks unrelated to software development, e.g., AI in medicine, finance, or pure robotics (unless they directly study coding tools).</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Exclude opinion pieces or blog posts without a research method, unless used only as background context (not as core evidence).</a:t>
            </a:r>
          </a:p>
        </p:txBody>
      </p:sp>
    </p:spTree>
    <p:extLst>
      <p:ext uri="{BB962C8B-B14F-4D97-AF65-F5344CB8AC3E}">
        <p14:creationId xmlns:p14="http://schemas.microsoft.com/office/powerpoint/2010/main" val="3878181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97671A-A7F4-AA56-0939-C18C5DFE4C9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ED49147-5D2B-067D-4148-CBC4A215FE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752601" y="-2286000"/>
            <a:ext cx="5181601" cy="11245010"/>
          </a:xfrm>
          <a:prstGeom prst="rect">
            <a:avLst/>
          </a:prstGeom>
        </p:spPr>
      </p:pic>
      <p:sp>
        <p:nvSpPr>
          <p:cNvPr id="6" name="TextBox 6">
            <a:extLst>
              <a:ext uri="{FF2B5EF4-FFF2-40B4-BE49-F238E27FC236}">
                <a16:creationId xmlns:a16="http://schemas.microsoft.com/office/drawing/2014/main" id="{01B03877-B0F6-CD82-5D73-0A1C4982C402}"/>
              </a:ext>
            </a:extLst>
          </p:cNvPr>
          <p:cNvSpPr txBox="1"/>
          <p:nvPr/>
        </p:nvSpPr>
        <p:spPr>
          <a:xfrm>
            <a:off x="76200" y="1600200"/>
            <a:ext cx="3200400" cy="1983235"/>
          </a:xfrm>
          <a:prstGeom prst="rect">
            <a:avLst/>
          </a:prstGeom>
        </p:spPr>
        <p:txBody>
          <a:bodyPr wrap="square" lIns="0" tIns="0" rIns="0" bIns="0" rtlCol="0" anchor="t">
            <a:spAutoFit/>
          </a:bodyPr>
          <a:lstStyle/>
          <a:p>
            <a:pPr>
              <a:lnSpc>
                <a:spcPts val="3919"/>
              </a:lnSpc>
            </a:pPr>
            <a:r>
              <a:rPr lang="en-US" sz="2799" dirty="0">
                <a:latin typeface="League Spartan"/>
              </a:rPr>
              <a:t>G. Example: </a:t>
            </a:r>
          </a:p>
          <a:p>
            <a:pPr>
              <a:lnSpc>
                <a:spcPts val="3919"/>
              </a:lnSpc>
            </a:pPr>
            <a:r>
              <a:rPr lang="en-US" sz="2799" dirty="0">
                <a:latin typeface="League Spartan"/>
              </a:rPr>
              <a:t>From Broad Idea to a Literature Review Plan</a:t>
            </a:r>
          </a:p>
        </p:txBody>
      </p:sp>
      <p:sp>
        <p:nvSpPr>
          <p:cNvPr id="7" name="TextBox 7">
            <a:extLst>
              <a:ext uri="{FF2B5EF4-FFF2-40B4-BE49-F238E27FC236}">
                <a16:creationId xmlns:a16="http://schemas.microsoft.com/office/drawing/2014/main" id="{D22FA665-CEAC-61C2-1070-FEC908486308}"/>
              </a:ext>
            </a:extLst>
          </p:cNvPr>
          <p:cNvSpPr txBox="1"/>
          <p:nvPr/>
        </p:nvSpPr>
        <p:spPr>
          <a:xfrm>
            <a:off x="3429001" y="381000"/>
            <a:ext cx="6400799" cy="3724096"/>
          </a:xfrm>
          <a:prstGeom prst="rect">
            <a:avLst/>
          </a:prstGeom>
        </p:spPr>
        <p:txBody>
          <a:bodyPr wrap="square" lIns="0" tIns="0" rIns="0" bIns="0" rtlCol="0" anchor="t">
            <a:spAutoFit/>
          </a:bodyPr>
          <a:lstStyle/>
          <a:p>
            <a:pPr>
              <a:spcBef>
                <a:spcPct val="0"/>
              </a:spcBef>
            </a:pPr>
            <a:r>
              <a:rPr lang="en-US" sz="2200" spc="86" dirty="0">
                <a:solidFill>
                  <a:srgbClr val="FFFFFF"/>
                </a:solidFill>
                <a:latin typeface="Open Sans"/>
              </a:rPr>
              <a:t>6) Record at least three relevant sources (title, author, year)</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Source 1: Title: ____________________ | Author(s): ____________________ | Year: ______</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Source 2: Title: ____________________ | Author(s): ____________________ | Year: ______</a:t>
            </a:r>
          </a:p>
          <a:p>
            <a:pPr>
              <a:spcBef>
                <a:spcPct val="0"/>
              </a:spcBef>
            </a:pPr>
            <a:endParaRPr lang="en-US" sz="2200" spc="86" dirty="0">
              <a:solidFill>
                <a:srgbClr val="FFFFFF"/>
              </a:solidFill>
              <a:latin typeface="Open Sans"/>
            </a:endParaRPr>
          </a:p>
          <a:p>
            <a:pPr>
              <a:spcBef>
                <a:spcPct val="0"/>
              </a:spcBef>
            </a:pPr>
            <a:r>
              <a:rPr lang="en-US" sz="2200" spc="86" dirty="0">
                <a:solidFill>
                  <a:srgbClr val="FFFFFF"/>
                </a:solidFill>
                <a:latin typeface="Open Sans"/>
              </a:rPr>
              <a:t>Source 3: Title: ____________________ | Author(s): ____________________ | Year: ______</a:t>
            </a:r>
          </a:p>
        </p:txBody>
      </p:sp>
    </p:spTree>
    <p:extLst>
      <p:ext uri="{BB962C8B-B14F-4D97-AF65-F5344CB8AC3E}">
        <p14:creationId xmlns:p14="http://schemas.microsoft.com/office/powerpoint/2010/main" val="4221662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74F7BC05-B6D0-EA3F-8F0A-8B567CE1E78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12D21A8-1294-2554-9E02-D101E0565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DE99F7DD-199C-C08C-0BFC-02083B4F06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5894D49-A48D-6885-2793-7F83917B0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997E9A8-5A0E-BF3A-9F73-23D38E37A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4185F75-52F9-562E-C5E6-EB1DBBF2F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ECEEBC3-821E-A6F8-D698-4A4353C01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94F3931-B64A-83EC-4E76-2D870D6A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69C39D1-A034-7FC3-3B5A-32ABCE46A7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B13AF8A-8390-97E7-DB0F-5AF200459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CD74749-1AE1-2983-E027-6F1CEE213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5464F71-2254-BCA2-2CA1-2ECF6EC32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938D0DE-4674-712C-76A9-040D6B716A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A465EB1-0D22-BF4D-C7DB-F145AF35B6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DEFCAE0-B132-0985-3747-307CB8A1F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3E31ED5-8258-A165-43FF-213CF60E7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7894A9C-617F-49F3-9E57-02E415320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6D25858-E44D-E198-49D5-36E53D248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713707D-75A4-077C-8104-D705D13BCA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F9A6401-F63D-8E2D-A59A-2D64BFF90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10BB179-5C9D-CB2D-6E63-2F4F85CE3A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EF5B06E-7EFB-1F38-B5CF-5F81CE9F4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AADF74-035F-63B9-C0FB-4B3581814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A8518EB-2695-1042-0712-987BB7C1E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A6112D-57E7-E9A1-E1B5-3B0C9B159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96FF2B-4282-A1D9-5765-261F36D77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7F502BA-A85B-CF9C-E342-EF53DDDE4C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F99A46F-0DB9-35E2-CFE9-A9D3984A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E3FC9BB-C621-48FC-3AF9-AC58B18FD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98EBDA4-60B9-B669-33E5-3A7B8E1B8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57B6D30-5A15-6B88-05C7-133488CAA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17FE16C-D2D4-0455-5C2B-BC01DE489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3B23006-1A01-71C0-3C1F-8AA8CDCD8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AC73699-37CE-B2A3-41AB-AC502027F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6BAD11D-6B60-7736-A177-2FEC68AA4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7803BD-666E-F468-0920-6DEACC743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667444F-0D5D-A04A-9CDF-D4D76CC13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11685C8-786E-DD46-2566-BD3D81D0B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A1F9CED-D0A1-EF47-BD00-69C04CF7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EFFD1FF-FCF4-2CAE-9690-633A0628B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D3F8874-A93A-2920-9E7B-9CA8D162F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2D2D136-3B7D-FF83-37BF-2BEB174A6A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F9FC40BF-CB3A-442C-2B96-C623EF127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65AF410-93EB-C6E0-6F93-380EFD20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578234E-375B-1460-C769-3DE7B4755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0675711F-CCBD-5060-128A-996F5C9264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C9AFD517-0838-1839-518E-41604E5B3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B8F50F1-0CB7-A63E-4FFA-A7C1BA54A1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05153E49-086D-319D-AD01-C8DF63CF0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9E26CA7-40B7-19AD-4318-EBE69865C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8430EA9-C352-1190-3247-1AAE5F98F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0ABDFC8-A735-2F40-8AAD-B2296BBBC7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C287DFD-2B92-4FCB-6CCB-9666276F5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47F930E-B630-961B-4177-BAA53BEB5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D951F9F-02F7-E651-9397-B627F0FBF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13C4554-C11F-EC6C-EB33-0B8366A0E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FC6ABF8-4A96-73E1-995A-BC2B602B1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418BE39-35E6-39D1-35AE-CB59C8842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B1793F6-51A0-F105-47DA-9945AA0348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565AB5BC-07A9-A855-E2CD-852C51235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B80167-9447-CBC4-4DB8-321FB30E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6B102074-3A49-BB0E-D10D-BE67AFB3D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D4D2231-1BBB-4191-C9A1-5C543BB6D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9790714-BE22-414A-E8C5-F67C9875C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704D9CD9-4C3A-9548-999B-7DF4C4E9A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22E876E-4EAB-D0D4-4257-5DFC7D1FC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48F2C01-4B94-C3F0-2ABD-7317B0616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C889711-153D-8430-1605-07D5917AB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0FDD059C-FFB6-BA81-D93C-DC9D3A09F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1D763A8-EB88-B9A2-FA55-C292A285E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5A3335D-DEE3-05C2-D362-1AEDF1920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45227260-1971-6993-52F3-DD0DEE56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B679AAF-969A-64DB-CC06-245BE444C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02FAA3E-D155-946D-7E96-F24EF13E97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5A494744-067C-76C3-941B-B54FCE3C1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05E2A6C4-53F0-D018-E7C0-D24B9DEB3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50DD7FC-81C7-3BC8-BB43-2AD9F0535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2C6E772-242B-4CEA-1D01-0285FD324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A99DEB56-77AE-A511-1952-6C5FE67EA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A35C303-CD1A-BB9E-5B9A-8929B6405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B8B759B-6223-42B1-8BC9-C99EC842F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9D16875-CA90-68F5-AD8E-BE65D9958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25FAAB8-B5D5-288B-C943-9FED01D35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C8831CC-7699-71AB-0821-7B111C38A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21C8DFF-8640-93A8-60C2-BAE634E63D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E432BCE-232F-27A6-D9AC-8A16D26BC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3CB45ED-203C-3C35-B5CB-201E2D95F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8C8CCC2E-AF3E-D80C-97D3-1063AB112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8AE2121-0CC7-AA74-BDF0-A4035191E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35030416-7CAB-402F-1B90-F270E1F63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0BADCBB4-8825-8127-CBDE-FD5083E8B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1754D834-A78E-2D3A-1EC9-CAF4C34994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C3AA0686-A920-E021-828D-636129DFB3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A628DEE-5020-8FBA-4C07-04512CB38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048ADFF-CD6D-08B7-FC4B-9AFC2BBF7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694FC38-D88F-3267-2BE3-3646A5D1B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03710563-257A-C84F-2DE1-FF2B8A949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B221A918-4313-665C-2DFD-7D7991B0F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79D7734-3139-1C4D-5042-C3C6CE519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FC674E9-F9A5-71DF-FFC1-0C4942C522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3246F5BC-CFF0-2A8D-184C-24D396498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9E68D099-0D07-61BA-AA0E-F49A41EDB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2E96381B-7B82-33F9-4D7A-F598BDFAD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F3BF268E-00E5-B1F2-1F43-8DB17F022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CE7A64C-1F45-F0E9-3977-2053D64CF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3632ED8A-A28D-BED1-2F4A-AA649A95C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EF93C48-9632-3B09-382F-CD002B860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1F1AED56-1F81-DC1A-4B14-47FBFF242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0AD64FC-833B-8D3D-718A-1998485A3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AAC0141-F0C8-F33F-A875-0B79DF704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696CB606-06EE-5F9C-76A7-6F8FDD3E1C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DFD845E-FE14-0E65-F6FF-F5680076F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1248AC2-294F-34D5-E88C-87F9234E1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52092F3-815E-2DE5-D2A8-CFC519C04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E4725FC2-C3E9-829F-540F-E31160E55A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E03B5DD7-CB6E-969E-A6BB-1067817BA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6D08B9C-701A-61D8-9774-799D20711A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88C17E5-9275-898B-3A6D-83707A6A8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6113B20-D99E-531B-7257-64A727EDF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5A1C820-B041-0AF6-52E4-C09FFBD3D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E4F5DD23-8DF0-AD25-C5F9-05B98C647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823DA5D-7E02-1E90-C911-58AD7E399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FB34D87-C128-6C37-DDF3-1932E0853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9AEC911B-BF63-2D45-5351-50D8F225E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C0A14CDA-B6DE-8600-307A-081F62179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AEC5D43E-5183-730E-29A9-5CF721CF1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6E2ACD9-E994-6A91-A614-A69F7DEAD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C18EAE6-1773-5C77-F5A4-D6C99A2C0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E1057499-35D4-432A-F887-78A82ED1D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6F08951-949D-5C8F-F974-D1233818C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48C8F24-18D1-FF76-E74C-250D6F151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E3B075C-97C9-485F-8589-EC784DB74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AEF9A09B-B009-B78D-1787-A03823A81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3F3D4148-D913-221B-1256-FD579B71B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64BB2F2D-032C-9608-30EC-A44CF9338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C0AF779-DFDA-8210-9662-6E1BBE114B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3EBC48C-BC11-0353-44D9-E02D1AC53E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A0C597D-7D37-AD58-BEA8-0E5E3FE63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1E170BDE-D2F6-17B2-2B4C-D4214F32E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D98E3C3-384A-26A7-CD96-1496EB22FF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0C4CDFA-1DA2-7924-BE4A-1CE727363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EEC11916-B405-4CB8-A882-A575F453F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970F080B-FFCC-F123-D1C3-F23AD55B0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41567404-502D-68EE-4E85-94CF05DA1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46044A29-3093-E3C1-37FB-561715425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7E53F4F-5045-97B4-2D6F-809861325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9588E16F-456F-4624-45A8-6DD78C27F1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951DAC7-CF44-8974-5190-1EA16E0E1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E337160F-DC1E-46BC-A081-55E9D164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3C2E572-D223-446E-852E-8AC3B8FBB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67453765-09BE-9473-BDB2-9842AEA4F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80B268AD-3DD0-8B85-A788-745EDA456D9B}"/>
              </a:ext>
            </a:extLst>
          </p:cNvPr>
          <p:cNvSpPr txBox="1"/>
          <p:nvPr/>
        </p:nvSpPr>
        <p:spPr>
          <a:xfrm>
            <a:off x="228600" y="336988"/>
            <a:ext cx="76962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I. What do you know at this stage?</a:t>
            </a:r>
          </a:p>
          <a:p>
            <a:pPr>
              <a:lnSpc>
                <a:spcPct val="90000"/>
              </a:lnSpc>
              <a:spcAft>
                <a:spcPts val="800"/>
              </a:spcAft>
            </a:pPr>
            <a:endParaRPr lang="en-US" sz="2000" spc="86" dirty="0">
              <a:solidFill>
                <a:schemeClr val="bg1"/>
              </a:solidFill>
            </a:endParaRPr>
          </a:p>
          <a:p>
            <a:pPr marL="342900" indent="-342900">
              <a:lnSpc>
                <a:spcPct val="90000"/>
              </a:lnSpc>
              <a:spcAft>
                <a:spcPts val="800"/>
              </a:spcAft>
              <a:buFont typeface="Arial" panose="020B0604020202020204" pitchFamily="34" charset="0"/>
              <a:buChar char="•"/>
            </a:pPr>
            <a:r>
              <a:rPr lang="en-US" sz="2400" spc="86" dirty="0">
                <a:solidFill>
                  <a:schemeClr val="bg1"/>
                </a:solidFill>
              </a:rPr>
              <a:t>For ICT students, the literature review is where you move from opinion to evidence. </a:t>
            </a:r>
          </a:p>
          <a:p>
            <a:pPr marL="342900" indent="-342900">
              <a:lnSpc>
                <a:spcPct val="90000"/>
              </a:lnSpc>
              <a:spcAft>
                <a:spcPts val="800"/>
              </a:spcAft>
              <a:buFont typeface="Arial" panose="020B0604020202020204" pitchFamily="34" charset="0"/>
              <a:buChar char="•"/>
            </a:pPr>
            <a:r>
              <a:rPr lang="en-US" sz="2400" spc="86" dirty="0">
                <a:solidFill>
                  <a:schemeClr val="bg1"/>
                </a:solidFill>
              </a:rPr>
              <a:t>It strengthens your research problem, improves your design decisions, and helps you write a proposal that is feasible and credible. </a:t>
            </a:r>
          </a:p>
          <a:p>
            <a:pPr marL="342900" indent="-342900">
              <a:lnSpc>
                <a:spcPct val="90000"/>
              </a:lnSpc>
              <a:spcAft>
                <a:spcPts val="800"/>
              </a:spcAft>
              <a:buFont typeface="Arial" panose="020B0604020202020204" pitchFamily="34" charset="0"/>
              <a:buChar char="•"/>
            </a:pPr>
            <a:r>
              <a:rPr lang="en-US" sz="2400" spc="86" dirty="0">
                <a:solidFill>
                  <a:schemeClr val="bg1"/>
                </a:solidFill>
              </a:rPr>
              <a:t>A strong review is systematic, critical, and clearly linked to your study’s aim and objectives.</a:t>
            </a:r>
          </a:p>
          <a:p>
            <a:pPr marL="342900" indent="-342900">
              <a:lnSpc>
                <a:spcPct val="90000"/>
              </a:lnSpc>
              <a:spcAft>
                <a:spcPts val="800"/>
              </a:spcAft>
              <a:buFont typeface="Arial" panose="020B0604020202020204" pitchFamily="34" charset="0"/>
              <a:buChar char="•"/>
            </a:pPr>
            <a:endParaRPr lang="en-US" sz="2400" spc="86" dirty="0">
              <a:solidFill>
                <a:schemeClr val="bg1"/>
              </a:solidFill>
            </a:endParaRPr>
          </a:p>
          <a:p>
            <a:pPr marL="342900" indent="-342900">
              <a:lnSpc>
                <a:spcPct val="90000"/>
              </a:lnSpc>
              <a:spcAft>
                <a:spcPts val="800"/>
              </a:spcAft>
              <a:buFont typeface="Arial" panose="020B0604020202020204" pitchFamily="34" charset="0"/>
              <a:buChar char="•"/>
            </a:pPr>
            <a:r>
              <a:rPr lang="en-US" sz="2400" spc="86" dirty="0">
                <a:solidFill>
                  <a:schemeClr val="bg1"/>
                </a:solidFill>
              </a:rPr>
              <a:t>Now, given that you will be doing SLR for your Projects 4 study, let’s take a look at SLR in more detail…</a:t>
            </a:r>
          </a:p>
        </p:txBody>
      </p:sp>
    </p:spTree>
    <p:extLst>
      <p:ext uri="{BB962C8B-B14F-4D97-AF65-F5344CB8AC3E}">
        <p14:creationId xmlns:p14="http://schemas.microsoft.com/office/powerpoint/2010/main" val="1601086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C9C94073-0D75-C8E8-81D3-CE8D21CF0F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4565F62-04DD-3B90-E264-FA88D6151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BE162766-5197-6CE1-3653-951F7457FF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0444B757-9F98-F922-9D2D-F562738F1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2336522-2564-CB45-1288-1F1AF1CEE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B778BC2-D5FD-DC2E-D6BA-687342C30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50EC672-BC07-9734-CF04-BF4C7E216F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0EF3D4B-9E86-EB78-B451-38AC6C0AA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CC83388-6496-6BD7-79C1-434C3085B1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F9A5FFC-48E1-5082-7C36-3767CD239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FE3A20-20A5-0A9A-41AD-54C02376C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F41BE52-9172-6832-7BF7-FE6211DD1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40C069E-AB78-3B0A-A59D-80966093A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D4CBD64-197E-F1F1-DB75-EA207C7CE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ABA1990-2BD7-F001-8285-C2B955F3F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BFD4D35-44E6-F844-531B-AA69D11E8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81E1659-83B7-73F3-70C0-DD16AAA8C4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25A0EEA8-163B-099D-050A-C9FC5170C3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512625E-A71E-6153-B08F-0D26A6DD5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5EC2A76-977D-3E3D-20AC-7CD333B90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B2F1035-6FBC-8EF5-B99E-9EADC7F86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7D9FB2-0414-49F6-519C-4078E7F4F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ACB34EC-550A-83F4-9340-4808554D27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04B5770-8131-A6A7-2781-22E393B34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7F37F6A-61B8-E854-8691-66C247BAF2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6A43C87-5810-209A-FB5A-CC5D8AFA0A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E6B4EDB-3BA4-575D-5025-7AC181F78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1E607F9E-BE4E-1ABC-834E-05C2BAC0B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352D00-09AE-39CF-CB7A-31C48701C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F2CC558-48F3-6A63-A386-FF6F6C456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418E66AB-A191-74F3-36A6-D3A2CF074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0DB88291-8B17-3ADD-D7E5-9C1566065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3B9D10A-4B95-4929-7C38-BDF1EAB3FF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1B2D44CA-B554-40F0-FAEF-3FB87E3D2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19104A3-501C-05A3-8CE4-C9AA60720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ECC75AE-7258-D70B-2F0F-A9215CC9F8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9070881-2A17-A414-A044-26685A9D8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91D6D1C-B319-AB2B-914F-474BC94AC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8E723B18-C2B5-D743-3B94-82DF5D836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D9B5C0B-B86F-E188-6138-9D3C72BC5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0DE1E488-1AF7-E2D5-3B23-54C1FCDB7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91D7961-96D3-3EF0-7B1A-71D1217F3B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CAB43A51-DC11-4047-9668-049ABF0C3F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D48DBAFD-88E0-9030-18E0-834266431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E5E45D77-C171-6D2C-A369-87D174FD63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C5000C3-E2C5-E277-C2D5-3D41A7AA98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7DF662D-32FC-48CA-CDCE-A927A952F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7AE1E91-DD48-C3FE-F981-0A4FD6D878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8619571-C516-61E3-2751-09893104B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9EEFC8CD-0447-2424-4C95-D9EBA8C0D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361C1E3B-B279-A831-9E0C-BFE557888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C45AACB-0D72-5C20-187B-47A6330E1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AB57EF4-319B-0D49-3913-E6A1EEC38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0229C6E-6C7B-FA85-7C1F-03CECFE57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C61148B5-69F2-CE64-A3C5-21BC2AEB8A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C17DBD51-1E23-4C17-E9D9-3E00C51B0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5D8CC046-CFA1-7DF6-8B0F-A24ADE8F7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12078A5C-D153-B8F5-7D18-788D3B903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60270F83-33CE-BD14-0BE1-E8CC70CDA6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35767AC-C38E-7201-AB1F-A51DE7F419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4C11366-A684-3826-770B-572909205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1334F80E-EA6F-2430-8125-5BE7DCD74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8F4E4A52-1D9C-29AB-DAD1-15D35C3CC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B7A7D95-E84B-417B-9960-0CF5A41EE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363066A3-2317-0803-A7EC-765DA6293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20246769-5AE9-164D-E970-0AFBC9CFD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B17D37F5-CFDA-CB16-C323-FAC69B33C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C6B80B-74E7-A3B4-776B-4DB747CD19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100426C3-124D-D677-727B-52BD1CF46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DC2D2CA6-6C6A-F678-3776-E9DFE6BC2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1AD136A4-D399-2558-0533-CEE1F28D3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F913F0E1-5266-D222-BB68-55BFD1C5C0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937D7E-EB9E-4757-1059-4343B0B64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5B700AAB-4E10-4406-7D94-8D28A95359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F3E0D0F-0A36-0316-7EBF-55A7DFE8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F5B90544-9DF2-93D0-ECAE-5E4A8AC7F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237810A-61E2-1815-277B-5C0433809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90F40BB-250D-5805-9DD5-4BE712D88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E776D3EF-3391-D416-C5D2-899A86C43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B3A1CF70-704D-515E-4708-5B3088DB1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06AA98A6-9B17-22DC-BD8B-79D256A52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83B4A8CB-2694-1975-85B3-B2BFF5CDFF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458BA8D5-CBF5-D93A-1EC7-3EC4BA6BD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BAB6138E-8343-2A54-3C51-2BB28FB6D2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C4B98EB-66B1-2351-9337-B55F9C965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240ED7F-3B1B-6AD2-BDD4-C35F1FC31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CEE70DE-8341-4EC0-3480-E3D4BFA8E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047A5E4-F3C8-2E07-206B-538CD1422E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1B33944D-C6E7-D08F-C833-0D49DFCA64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5481FC5-8247-BECC-4CFC-6A0EE97F3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7C60709C-FFFD-11DB-4CA0-D2C7FC518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5F2B6FF8-B5DE-4E6A-7EA1-6C2AC0B55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7883D939-DCFF-6823-5C0F-462058A50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87FCFDAC-2B5D-4641-40F8-0EAB20E17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FD5A6B5B-A2D6-D5DB-41F0-D26A8E140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15DBAF1D-8E7B-44E6-9C2F-8EBD047C9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32CD09E-3526-1B14-3BB2-6083F5E0D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9F632EE-5573-BCFD-FC2D-FFBD192D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DB8CAF2-9FCD-557A-57E5-253E6DB62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EA534AB1-6FAA-55BA-3F40-E351327D5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138470FE-76D7-CC57-85B2-789EF4B20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B881ADD-A199-0E03-93A4-E17204282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C882662-4FCA-BD5F-457D-387D615D6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272FF8BF-5CF5-F6BB-E30A-4F5F81A11F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F7EECD6-0E73-1FCC-7C05-AA5FEFFD5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B9CE928A-F917-F2D0-F29E-4729F1535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989F207-3CA5-478E-4CC3-5716CB9DFC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F2CB056C-44FB-4660-DC1A-B6CC13F36D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15833932-5788-5657-5658-AF1933EA8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FA1041-7FA9-9332-22AA-ACF562FF8C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C8B8ADE9-C0BA-67F8-3988-58AD2783AA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5D85735E-0BDA-9936-40A8-88F1E4C7D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276A7672-3729-E601-D938-BA91F1C92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955065E-303E-E8D8-1518-6F328561A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4515C7F4-CEE9-4B36-CCBB-8D115420D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7FEC48F-BC44-DCE1-A7EF-EE4D0EA6D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F8E62B2-7EAD-B107-9495-95D4AC962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CB3F1D0-8DC9-0F5C-A37E-CBB1AABD7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F1F99D6E-9C79-9E55-9469-9BF72FA8A2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A6857BCE-4795-9DF0-5610-3C379E869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CC016D3-076B-1E9B-8D56-C80AB1761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9629877-948F-3A5F-9EC4-260CECDC4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7A07CDC0-D4C8-3F6D-83A6-B056BBFA5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3728CF7-3B9F-523B-33A8-F288F35CD4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628A5120-DA9F-8FD0-DC00-C421B3FFE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E7998E37-A4F5-593F-9632-F5C89F191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E210242-C5C5-08A9-D545-CA4D1DEF51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48F28A0E-70E9-74E0-26EC-95D624582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10AB1BC7-EACF-9F1C-EB36-F67498BC61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0DD59FD3-D817-9801-B552-AD68D1829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CC17DBA4-E474-6699-E838-E28198856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08412EF-5CD8-EB93-F734-192DD0DD5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0D60C20-6133-BA21-A883-43195C171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67C6E52-3139-0529-C09D-B487CFAC0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50A23F93-0AE4-FC96-1112-7F900A3BF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1E87C98D-1CF6-01C5-8912-1DFAAB0340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3754706-C82D-6E29-68F3-B7CB319CCA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51922A1D-9B59-C129-DDA6-47B29452A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06154CB-6006-8FD4-2695-B5B7C8D53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C77A67A-7759-62C4-9F30-88E70FB6B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E7111818-12AE-3AE5-45C1-9399A1A5E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D9086791-BE92-9078-EDF5-4D1F6C49F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2B78AA11-B8DE-8851-19A9-371AA8487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22B5F4B-93DC-954C-E36E-5DBE73EA1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975E4FAE-D7CD-A319-0369-25DF1A90B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7F8D43A-8382-A99A-3B8B-558B0920C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ED28B856-F5DC-71D9-58E9-DFD64EA201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CB94C4DF-7F79-2790-B2A4-726EDE481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367223B-7107-E1FD-CFF4-E82C2EC88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EA014BAA-894E-D73B-BF38-CCD71A0C3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02DA707C-01DC-B631-97F1-5E47A59B3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99EF46A3-7844-46F4-893A-BFBCD6280D76}"/>
              </a:ext>
            </a:extLst>
          </p:cNvPr>
          <p:cNvSpPr txBox="1"/>
          <p:nvPr/>
        </p:nvSpPr>
        <p:spPr>
          <a:xfrm>
            <a:off x="228600" y="336988"/>
            <a:ext cx="76962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J. Conducting an SLR with PRISMA </a:t>
            </a:r>
          </a:p>
          <a:p>
            <a:pPr>
              <a:lnSpc>
                <a:spcPct val="90000"/>
              </a:lnSpc>
              <a:spcAft>
                <a:spcPts val="800"/>
              </a:spcAft>
            </a:pPr>
            <a:r>
              <a:rPr lang="en-US" sz="2400" spc="86" dirty="0">
                <a:solidFill>
                  <a:schemeClr val="bg1"/>
                </a:solidFill>
              </a:rPr>
              <a:t>Sometimes your research study will not collect new data. </a:t>
            </a:r>
          </a:p>
          <a:p>
            <a:pPr marL="342900" indent="-342900">
              <a:lnSpc>
                <a:spcPct val="90000"/>
              </a:lnSpc>
              <a:spcAft>
                <a:spcPts val="800"/>
              </a:spcAft>
              <a:buFont typeface="Arial" panose="020B0604020202020204" pitchFamily="34" charset="0"/>
              <a:buChar char="•"/>
            </a:pPr>
            <a:r>
              <a:rPr lang="en-US" sz="2400" spc="86" dirty="0">
                <a:solidFill>
                  <a:schemeClr val="bg1"/>
                </a:solidFill>
              </a:rPr>
              <a:t>Instead, you will systematically collect and analyse existing studies. </a:t>
            </a:r>
          </a:p>
          <a:p>
            <a:pPr marL="342900" indent="-342900">
              <a:lnSpc>
                <a:spcPct val="90000"/>
              </a:lnSpc>
              <a:spcAft>
                <a:spcPts val="800"/>
              </a:spcAft>
              <a:buFont typeface="Arial" panose="020B0604020202020204" pitchFamily="34" charset="0"/>
              <a:buChar char="•"/>
            </a:pPr>
            <a:r>
              <a:rPr lang="en-US" sz="2400" spc="86" dirty="0">
                <a:solidFill>
                  <a:schemeClr val="bg1"/>
                </a:solidFill>
              </a:rPr>
              <a:t>This is called a systematic literature review (SLR). </a:t>
            </a:r>
          </a:p>
          <a:p>
            <a:pPr marL="342900" indent="-342900">
              <a:lnSpc>
                <a:spcPct val="90000"/>
              </a:lnSpc>
              <a:spcAft>
                <a:spcPts val="800"/>
              </a:spcAft>
              <a:buFont typeface="Arial" panose="020B0604020202020204" pitchFamily="34" charset="0"/>
              <a:buChar char="•"/>
            </a:pPr>
            <a:r>
              <a:rPr lang="en-US" sz="2400" spc="86" dirty="0">
                <a:solidFill>
                  <a:schemeClr val="bg1"/>
                </a:solidFill>
              </a:rPr>
              <a:t>An SLR is more structured than a normal literature review because it follows a documented method for searching, screening, and selecting studies, so that your results are transparent and repeatable.</a:t>
            </a:r>
          </a:p>
        </p:txBody>
      </p:sp>
    </p:spTree>
    <p:extLst>
      <p:ext uri="{BB962C8B-B14F-4D97-AF65-F5344CB8AC3E}">
        <p14:creationId xmlns:p14="http://schemas.microsoft.com/office/powerpoint/2010/main" val="1094283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extLst>
              <a:ext uri="{FF2B5EF4-FFF2-40B4-BE49-F238E27FC236}">
                <a16:creationId xmlns:a16="http://schemas.microsoft.com/office/drawing/2014/main" id="{F6CC22BE-66ED-2E52-CCD8-1CBDA8DA7A6B}"/>
              </a:ext>
            </a:extLst>
          </p:cNvPr>
          <p:cNvPicPr>
            <a:picLocks noChangeAspect="1"/>
          </p:cNvPicPr>
          <p:nvPr/>
        </p:nvPicPr>
        <p:blipFill>
          <a:blip r:embed="rId3"/>
          <a:srcRect l="7812" t="5882" r="7812"/>
          <a:stretch>
            <a:fillRect/>
          </a:stretch>
        </p:blipFill>
        <p:spPr>
          <a:xfrm>
            <a:off x="0" y="685800"/>
            <a:ext cx="9753701" cy="5779971"/>
          </a:xfrm>
          <a:prstGeom prst="rect">
            <a:avLst/>
          </a:prstGeom>
        </p:spPr>
      </p:pic>
    </p:spTree>
    <p:extLst>
      <p:ext uri="{BB962C8B-B14F-4D97-AF65-F5344CB8AC3E}">
        <p14:creationId xmlns:p14="http://schemas.microsoft.com/office/powerpoint/2010/main" val="3894948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219" y="0"/>
            <a:ext cx="9751161" cy="731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B037241-26F3-F448-6557-2F6833CFBD41}"/>
              </a:ext>
            </a:extLst>
          </p:cNvPr>
          <p:cNvPicPr>
            <a:picLocks noChangeAspect="1"/>
          </p:cNvPicPr>
          <p:nvPr/>
        </p:nvPicPr>
        <p:blipFill>
          <a:blip r:embed="rId2"/>
          <a:srcRect l="11690" t="10399" r="13270" b="2085"/>
          <a:stretch>
            <a:fillRect/>
          </a:stretch>
        </p:blipFill>
        <p:spPr>
          <a:xfrm>
            <a:off x="-152400" y="419656"/>
            <a:ext cx="9906000" cy="6209744"/>
          </a:xfrm>
          <a:prstGeom prst="rect">
            <a:avLst/>
          </a:prstGeom>
        </p:spPr>
      </p:pic>
    </p:spTree>
    <p:extLst>
      <p:ext uri="{BB962C8B-B14F-4D97-AF65-F5344CB8AC3E}">
        <p14:creationId xmlns:p14="http://schemas.microsoft.com/office/powerpoint/2010/main" val="1605470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D460D66B-F527-5D8D-CD2C-E19B971FBAC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056BB38-12EB-F48D-F20F-B7CB70A90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0496CF6-3C48-DE6E-0B2A-C4D707F1C1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CDEF4847-4312-49A9-2BD2-1C2DB2D1B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3498F2B-5B84-D8FA-43B1-8FBEC7EA03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6E240BE-5D3D-EE37-0CDC-4D6CC290A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0A26D9E-244B-BEFD-9F4B-58A01DFD6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70FCE30-C99E-AF50-7C43-EE076E9FB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00C5C80-488F-CADD-B760-F27626EBF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E13526C-E386-50AF-8C12-3876E2BB6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3E97F24-6B99-56D6-9B7F-1DE9EBB01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7F79D1F-B1C6-1A44-FF9A-C9D0B9CFA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DB7A47F-3EF4-8C0E-93F0-D1A6944C9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7BE80A8-925A-AC25-9457-5762DCFCA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24E0ABE-B2D4-0CD9-9FC0-D2B314D5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013342-47C9-FC3C-C336-C79D25490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BC19719-6BD0-CEB9-80BA-D940412A7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DCFFE1F-15D3-37E6-406E-2419A82A2F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C1630EE-3156-BC56-4724-C1A7D5EB5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99AF076-7FC4-27E5-E6E0-5DD2508912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60D46F1-F893-874B-B3AA-28820D867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AC61E17-9291-4D6C-A963-A9B8CDCFEE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B7CB779-6F58-A123-F964-1DFE77923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8D9DA43-5785-861B-8138-E0250FB5F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6FBEE26-AB93-C78E-604E-43D83CCEC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785ABE9-5FFA-403B-D034-FB7B68540C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B4119B1-7841-2D4A-A191-149D0236F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D7C5302-0452-17C8-4695-BBE410CB8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5607604-4D12-D411-62B2-24BED44C0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6D5D4CAD-C00C-4144-1C25-4B186C899A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6376B03-9CF7-EC68-CE05-5A1703ED2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1E187C5-25DE-716D-92E2-19ACE6C02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96E68218-E440-AB1E-E831-91586761D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6FAC0D6-9877-0243-732B-7D0870D67B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2D677B-341A-4F6F-1E7E-85F08370B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3205202C-21E2-42FA-9782-111796EDE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DAB5C37-586A-4DE6-8FBF-81F016F57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1BD05B7-5C73-F358-A1A4-2B245EEDE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AE4E1E2-675B-5A8E-3A8F-0E0588347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2F371AD-F93A-6982-1EC2-7E296E915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697FF8AA-B486-7A54-7CE6-44A475DCA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280E5349-31B4-C904-2E06-EE235F7C7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42C8A2E-5A3F-F760-C90D-59F50BBD1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08E9447-29DA-DFF0-B918-35091DAB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DBD1DD9-BCE5-A1C2-CC99-FDE1BF1BF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CB32792-B23C-C9B5-1AE8-09A81A24F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0B69900-6BFA-0517-312B-E1846C5025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7F0C0617-B14B-19F4-28AB-EE989B758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665A805D-608F-FC33-E346-8E470D8C6F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D49B328A-0A20-275E-7ED5-77F5CBE5B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C9F35C3F-9744-6493-A836-6A75CDA7C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57135F4E-FC36-AB72-0084-FA00F7C64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F1DCEDBE-2AA2-0E19-E1B8-FC8F60FE9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18F8395-4035-D53E-59F4-FFE5E500D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43E81A4-24E5-09C1-BF3D-D9EA61122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36B71B1-80AE-E5DC-E52A-4C847FAE11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6D289CC-5EE3-8F05-2FB6-AD3172471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3F5C18B-BC18-9937-8B2B-6FE81AF52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A8A12AD-B744-33B2-CE31-34D24FFF2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1A3192A-B580-3DAD-B913-903E88E91C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86DABF71-4C06-914D-8672-1A82BF7CE9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5F4424D-89E0-70A8-4FD2-54EBEB26B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03F2F47-A161-DC84-8CB9-88802107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54A260F5-A5D1-5CF8-4557-8CF0CBCEF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E13AABF7-57D0-D615-4350-4605AD3E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B3A6D99-E6A3-B2AD-75F2-854320E687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13AD4A0D-4779-0936-9E69-5360F8576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7A7B64C-4E69-3EF0-DA46-2F219E5C0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5E1CBC4C-5B89-1F79-00F9-7E390B15E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8EBFA14-6E2E-8079-28D9-D1C3F0F29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5FE0C74D-5A05-CB29-C85A-A2E2B87172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8E2B53D6-BAD7-3FA0-2880-12EFD4915D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F82E811-AD32-BB18-157D-778AC5E5E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567D933E-654B-0677-1B09-FE119D31F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780E4B2F-6FF4-9A42-D0AC-F49F224F2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0AE4059-F454-16DB-94DD-1A6B7A055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FE17586-4913-98CF-9F78-B0699918CB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47345EF-54CB-E143-EF8A-EB066BAC6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8FD266D-31FD-AA43-2181-3878EEE5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1AC1014-D577-062A-24B0-E4CDD385C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6831629-5409-A9C1-DC67-AF5052321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FD0F9E0-E285-5882-1741-7AAE369B5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D29BFA4-3A66-45FF-02D1-DE7A12D00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4B776D6-9994-2AA6-031A-3012E279D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051D209-7764-E8F6-06A3-DDAB3D619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8D0595F-D92E-01CD-04A8-0949769EF1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831A912-621C-0478-E647-82FAA3560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50953E9E-3D97-F61D-8975-18A09CB871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8E65EC3-F14E-8860-E475-A6F2D54D4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2219B378-3A60-9348-B749-DC469A810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F8E018AD-500C-50CF-208B-954DF951B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75CE1D13-D745-BA83-5CBC-FDDB8865C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578577EB-D9ED-BBDA-8256-18AF40F56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EBBE9816-C529-707F-C832-4402F02FA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439C7133-46C0-6D7F-F8F3-6D6E962E00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8BAB4416-DC8F-BF2E-C1B0-DE518FF34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E99E7926-74D9-DB2F-BC00-1A77AE446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05A9783-05B0-7F62-1C24-12CBDF7FF5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5624977-5ECE-BD8A-6224-423539A4B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40A2F469-6860-73BB-865A-ADBD0F597B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55AB5F34-1DE2-DF9A-4DE1-B6FEA2E69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487A9FD-3F55-2546-09C0-4012FB7A7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AAA30A7B-10E1-295D-D979-0A60FA484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83A8B4BC-7290-6803-8432-18D8F175C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E90AB14A-DE14-B98A-1AF3-8FFDD939D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3221D6C-E9EE-0AD4-6978-C1D425628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2F92AD79-0CF7-E066-17F9-4E4EF295C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FC1F8B0A-B468-72F1-BF63-B757899F5A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D357D8D-D3A5-BE54-69C7-15F037797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781ABCF1-98FE-D7A1-3E96-E6E1C3A12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B50E3854-9094-5080-AF1C-EF8CFA22F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CC921AAE-04C2-FA04-5855-05DC5337F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C116200-D12B-F692-08D8-FD3AEC08D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96BED5D3-CC79-E183-0CF3-F6FF4C9BB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950EC548-D5A5-A240-E2C8-70C446E75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264EDE-0FD9-1C78-DE53-52AE8E148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EBACCC5-0869-DCBB-CA41-783005775B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FFFFCED-B0CC-8D36-F322-785BE5423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057C6C1-74B3-4E33-F0A6-CF08C4662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2CD6879-3A77-B8FF-EAE0-3C1433EF6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E40FFEAA-14E2-C8D8-60F7-EF8C6AAB2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09AC7D58-D06F-27BD-2AFC-FEAC5199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2EE932D1-6C67-4B1F-6075-5EA074C82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EAF3E23A-D4BA-B80E-3DB1-DB9F1D741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211760D7-37DE-07D1-6230-7289EC6E8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EE73AE4-A895-68B4-E9F8-3BF523B1A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2390DDE6-77D4-9FD2-3C39-F7DC6CAB1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972AD065-AA46-4A71-A013-F9885E5C67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0A7E9EE8-1598-ABB8-A563-55384CF891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BA287731-22C0-06C1-52DF-6005705D3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9C1527B-884A-2100-7EF3-E012FB53F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9D96180-D823-0C4D-12AC-7701D649D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00629B2-B0D6-D113-D99F-B67EA352A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E15838C-5AE8-1D54-8285-8E4487CAE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431323E1-BD34-83D4-29B3-86E27BCD6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736620D-218A-767B-C19B-4CB9B7B44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169A269E-2092-8A50-8D86-729DBA2F0F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17E322B4-A90E-564E-DFCA-1C4DDC2F1E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046F2EDA-F710-FAAD-243B-483E3917C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633CDC06-719C-826B-9741-1EEFFEFC6E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BCE4286-008A-95FD-667A-D2A63C22D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0375B8B-9EB7-CA57-95F9-EE4851AF8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F13C46AC-14E5-C096-6FF2-DD113453D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0E726CF-B11A-ECC2-AEFA-9FF0291C4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9D2F95F-DD0D-EBFB-7359-4F2B08DAE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E91DEA0-4213-B6A6-60B0-373DBDBAA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76DBD877-0D4D-8FA9-7D57-68AC5B88DD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83BCFEF8-BAA4-C26C-9BBB-468EADE22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B580BCFF-182B-7554-A084-4291868ED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B3C3C572-5E10-5BC1-7114-230115952C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F7BB8E3A-44C5-03F0-7C78-318446CEB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3C68CBA4-1A0F-8C75-B13E-8341286376AF}"/>
              </a:ext>
            </a:extLst>
          </p:cNvPr>
          <p:cNvSpPr txBox="1"/>
          <p:nvPr/>
        </p:nvSpPr>
        <p:spPr>
          <a:xfrm>
            <a:off x="228600" y="336988"/>
            <a:ext cx="76962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J. Conducting an SLR with PRISMA </a:t>
            </a:r>
          </a:p>
          <a:p>
            <a:pPr>
              <a:lnSpc>
                <a:spcPct val="90000"/>
              </a:lnSpc>
              <a:spcAft>
                <a:spcPts val="800"/>
              </a:spcAft>
            </a:pPr>
            <a:endParaRPr lang="en-US" sz="2000" spc="86" dirty="0">
              <a:solidFill>
                <a:schemeClr val="bg1"/>
              </a:solidFill>
            </a:endParaRPr>
          </a:p>
          <a:p>
            <a:pPr marL="342900" indent="-342900">
              <a:lnSpc>
                <a:spcPct val="90000"/>
              </a:lnSpc>
              <a:spcAft>
                <a:spcPts val="800"/>
              </a:spcAft>
              <a:buFont typeface="Arial" panose="020B0604020202020204" pitchFamily="34" charset="0"/>
              <a:buChar char="•"/>
            </a:pPr>
            <a:r>
              <a:rPr lang="en-US" sz="2400" spc="86" dirty="0">
                <a:solidFill>
                  <a:schemeClr val="bg1"/>
                </a:solidFill>
              </a:rPr>
              <a:t>PRISMA (Preferred Reporting Items for Systematic reviews and Meta-Analyses) is a guideline designed to improve how systematic reviews are reported. </a:t>
            </a:r>
          </a:p>
          <a:p>
            <a:pPr marL="342900" indent="-342900">
              <a:lnSpc>
                <a:spcPct val="90000"/>
              </a:lnSpc>
              <a:spcAft>
                <a:spcPts val="800"/>
              </a:spcAft>
              <a:buFont typeface="Arial" panose="020B0604020202020204" pitchFamily="34" charset="0"/>
              <a:buChar char="•"/>
            </a:pPr>
            <a:r>
              <a:rPr lang="en-US" sz="2400" spc="86" dirty="0">
                <a:solidFill>
                  <a:schemeClr val="bg1"/>
                </a:solidFill>
              </a:rPr>
              <a:t>It helps authors report why the review was done, what methods were used, and what results were found (PRISMA Statement, 2020). </a:t>
            </a:r>
          </a:p>
          <a:p>
            <a:pPr marL="342900" indent="-342900">
              <a:lnSpc>
                <a:spcPct val="90000"/>
              </a:lnSpc>
              <a:spcAft>
                <a:spcPts val="800"/>
              </a:spcAft>
              <a:buFont typeface="Arial" panose="020B0604020202020204" pitchFamily="34" charset="0"/>
              <a:buChar char="•"/>
            </a:pPr>
            <a:r>
              <a:rPr lang="en-US" sz="2400" spc="86" dirty="0">
                <a:solidFill>
                  <a:schemeClr val="bg1"/>
                </a:solidFill>
              </a:rPr>
              <a:t>Although PRISMA is a reporting guideline, it is also useful as a planning tool because it prompts you to document each step clearly (Page et al., 2021).</a:t>
            </a:r>
          </a:p>
          <a:p>
            <a:pPr marL="342900" indent="-342900">
              <a:lnSpc>
                <a:spcPct val="90000"/>
              </a:lnSpc>
              <a:spcAft>
                <a:spcPts val="800"/>
              </a:spcAft>
              <a:buFont typeface="Arial" panose="020B0604020202020204" pitchFamily="34" charset="0"/>
              <a:buChar char="•"/>
            </a:pPr>
            <a:r>
              <a:rPr lang="en-US" sz="2400" spc="86" dirty="0">
                <a:solidFill>
                  <a:schemeClr val="bg1"/>
                </a:solidFill>
                <a:hlinkClick r:id="rId2"/>
              </a:rPr>
              <a:t>https://www.prisma-statement.org/</a:t>
            </a:r>
            <a:endParaRPr lang="en-US" sz="2400" spc="86" dirty="0">
              <a:solidFill>
                <a:schemeClr val="bg1"/>
              </a:solidFill>
            </a:endParaRPr>
          </a:p>
          <a:p>
            <a:pPr marL="342900" indent="-342900">
              <a:lnSpc>
                <a:spcPct val="90000"/>
              </a:lnSpc>
              <a:spcAft>
                <a:spcPts val="800"/>
              </a:spcAft>
              <a:buFont typeface="Arial" panose="020B0604020202020204" pitchFamily="34" charset="0"/>
              <a:buChar char="•"/>
            </a:pPr>
            <a:endParaRPr lang="en-US" sz="2400" spc="86" dirty="0">
              <a:solidFill>
                <a:schemeClr val="bg1"/>
              </a:solidFill>
            </a:endParaRPr>
          </a:p>
        </p:txBody>
      </p:sp>
    </p:spTree>
    <p:extLst>
      <p:ext uri="{BB962C8B-B14F-4D97-AF65-F5344CB8AC3E}">
        <p14:creationId xmlns:p14="http://schemas.microsoft.com/office/powerpoint/2010/main" val="425980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A6EBC3-FE30-8920-94D0-8B25B292A93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869A3B1-2A03-FA6F-5AAD-73A4593BC6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7947421C-7758-0EFD-92F8-579509A346EC}"/>
              </a:ext>
            </a:extLst>
          </p:cNvPr>
          <p:cNvSpPr txBox="1"/>
          <p:nvPr/>
        </p:nvSpPr>
        <p:spPr>
          <a:xfrm>
            <a:off x="152400" y="1600200"/>
            <a:ext cx="3276600" cy="982961"/>
          </a:xfrm>
          <a:prstGeom prst="rect">
            <a:avLst/>
          </a:prstGeom>
        </p:spPr>
        <p:txBody>
          <a:bodyPr wrap="square" lIns="0" tIns="0" rIns="0" bIns="0" rtlCol="0" anchor="t">
            <a:spAutoFit/>
          </a:bodyPr>
          <a:lstStyle/>
          <a:p>
            <a:pPr>
              <a:lnSpc>
                <a:spcPts val="3919"/>
              </a:lnSpc>
            </a:pPr>
            <a:r>
              <a:rPr lang="en-US" sz="2799" dirty="0">
                <a:latin typeface="League Spartan"/>
              </a:rPr>
              <a:t>1. What an SLR is (and is not)</a:t>
            </a:r>
          </a:p>
        </p:txBody>
      </p:sp>
      <p:sp>
        <p:nvSpPr>
          <p:cNvPr id="7" name="TextBox 7">
            <a:extLst>
              <a:ext uri="{FF2B5EF4-FFF2-40B4-BE49-F238E27FC236}">
                <a16:creationId xmlns:a16="http://schemas.microsoft.com/office/drawing/2014/main" id="{FDC51FC8-9951-15CE-194C-2442F951B0D0}"/>
              </a:ext>
            </a:extLst>
          </p:cNvPr>
          <p:cNvSpPr txBox="1"/>
          <p:nvPr/>
        </p:nvSpPr>
        <p:spPr>
          <a:xfrm>
            <a:off x="3886198" y="381000"/>
            <a:ext cx="5791201" cy="5539978"/>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en-US" sz="2400" spc="86" dirty="0">
                <a:solidFill>
                  <a:srgbClr val="FFFFFF"/>
                </a:solidFill>
                <a:latin typeface="Open Sans"/>
              </a:rPr>
              <a:t>An SLR answers a focused research question by searching for all relevant studies using a planned, transparent method.</a:t>
            </a:r>
          </a:p>
          <a:p>
            <a:pPr marL="342900" indent="-342900">
              <a:spcBef>
                <a:spcPct val="0"/>
              </a:spcBef>
              <a:buFont typeface="Arial" panose="020B0604020202020204" pitchFamily="34" charset="0"/>
              <a:buChar char="•"/>
            </a:pPr>
            <a:r>
              <a:rPr lang="en-US" sz="2400" spc="86" dirty="0">
                <a:solidFill>
                  <a:srgbClr val="FFFFFF"/>
                </a:solidFill>
                <a:latin typeface="Open Sans"/>
              </a:rPr>
              <a:t>An SLR uses explicit inclusion and exclusion criteria and a documented screening process.</a:t>
            </a:r>
          </a:p>
          <a:p>
            <a:pPr marL="342900" indent="-342900">
              <a:spcBef>
                <a:spcPct val="0"/>
              </a:spcBef>
              <a:buFont typeface="Arial" panose="020B0604020202020204" pitchFamily="34" charset="0"/>
              <a:buChar char="•"/>
            </a:pPr>
            <a:r>
              <a:rPr lang="en-US" sz="2400" spc="86" dirty="0">
                <a:solidFill>
                  <a:srgbClr val="FFFFFF"/>
                </a:solidFill>
                <a:latin typeface="Open Sans"/>
              </a:rPr>
              <a:t>An SLR </a:t>
            </a:r>
            <a:r>
              <a:rPr lang="en-US" sz="2400" spc="86" dirty="0" err="1">
                <a:solidFill>
                  <a:srgbClr val="FFFFFF"/>
                </a:solidFill>
                <a:latin typeface="Open Sans"/>
              </a:rPr>
              <a:t>synthesises</a:t>
            </a:r>
            <a:r>
              <a:rPr lang="en-US" sz="2400" spc="86" dirty="0">
                <a:solidFill>
                  <a:srgbClr val="FFFFFF"/>
                </a:solidFill>
                <a:latin typeface="Open Sans"/>
              </a:rPr>
              <a:t> evidence (it does not simply </a:t>
            </a:r>
            <a:r>
              <a:rPr lang="en-US" sz="2400" spc="86" dirty="0" err="1">
                <a:solidFill>
                  <a:srgbClr val="FFFFFF"/>
                </a:solidFill>
                <a:latin typeface="Open Sans"/>
              </a:rPr>
              <a:t>summarise</a:t>
            </a:r>
            <a:r>
              <a:rPr lang="en-US" sz="2400" spc="86" dirty="0">
                <a:solidFill>
                  <a:srgbClr val="FFFFFF"/>
                </a:solidFill>
                <a:latin typeface="Open Sans"/>
              </a:rPr>
              <a:t> one source at a time).</a:t>
            </a:r>
          </a:p>
          <a:p>
            <a:pPr marL="342900" indent="-342900">
              <a:spcBef>
                <a:spcPct val="0"/>
              </a:spcBef>
              <a:buFont typeface="Arial" panose="020B0604020202020204" pitchFamily="34" charset="0"/>
              <a:buChar char="•"/>
            </a:pPr>
            <a:r>
              <a:rPr lang="en-US" sz="2400" spc="86" dirty="0">
                <a:solidFill>
                  <a:srgbClr val="FFFFFF"/>
                </a:solidFill>
                <a:latin typeface="Open Sans"/>
              </a:rPr>
              <a:t>An SLR is not a quick Google search, not a list of article summaries, and not a selection of only the sources you already agree with.</a:t>
            </a:r>
          </a:p>
        </p:txBody>
      </p:sp>
    </p:spTree>
    <p:extLst>
      <p:ext uri="{BB962C8B-B14F-4D97-AF65-F5344CB8AC3E}">
        <p14:creationId xmlns:p14="http://schemas.microsoft.com/office/powerpoint/2010/main" val="2841976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C29995-5F6B-9D65-5F36-20AA88F25B4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1721F84-E896-97C4-544E-1C88C7407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676400" y="-2286000"/>
            <a:ext cx="5181601" cy="11245010"/>
          </a:xfrm>
          <a:prstGeom prst="rect">
            <a:avLst/>
          </a:prstGeom>
        </p:spPr>
      </p:pic>
      <p:sp>
        <p:nvSpPr>
          <p:cNvPr id="6" name="TextBox 6">
            <a:extLst>
              <a:ext uri="{FF2B5EF4-FFF2-40B4-BE49-F238E27FC236}">
                <a16:creationId xmlns:a16="http://schemas.microsoft.com/office/drawing/2014/main" id="{D39C7523-9AFB-85F6-FB8E-83CE96CC78E5}"/>
              </a:ext>
            </a:extLst>
          </p:cNvPr>
          <p:cNvSpPr txBox="1"/>
          <p:nvPr/>
        </p:nvSpPr>
        <p:spPr>
          <a:xfrm>
            <a:off x="152400" y="1600200"/>
            <a:ext cx="3581400" cy="1483098"/>
          </a:xfrm>
          <a:prstGeom prst="rect">
            <a:avLst/>
          </a:prstGeom>
        </p:spPr>
        <p:txBody>
          <a:bodyPr wrap="square" lIns="0" tIns="0" rIns="0" bIns="0" rtlCol="0" anchor="t">
            <a:spAutoFit/>
          </a:bodyPr>
          <a:lstStyle/>
          <a:p>
            <a:pPr>
              <a:lnSpc>
                <a:spcPts val="3919"/>
              </a:lnSpc>
            </a:pPr>
            <a:r>
              <a:rPr lang="en-US" sz="2799" dirty="0">
                <a:latin typeface="League Spartan"/>
              </a:rPr>
              <a:t>2. A PRISMA-guided workflow you can follow</a:t>
            </a:r>
          </a:p>
        </p:txBody>
      </p:sp>
      <p:sp>
        <p:nvSpPr>
          <p:cNvPr id="7" name="TextBox 7">
            <a:extLst>
              <a:ext uri="{FF2B5EF4-FFF2-40B4-BE49-F238E27FC236}">
                <a16:creationId xmlns:a16="http://schemas.microsoft.com/office/drawing/2014/main" id="{39D39136-A103-E87C-43D9-BD1BC46F7543}"/>
              </a:ext>
            </a:extLst>
          </p:cNvPr>
          <p:cNvSpPr txBox="1"/>
          <p:nvPr/>
        </p:nvSpPr>
        <p:spPr>
          <a:xfrm>
            <a:off x="3505201" y="381000"/>
            <a:ext cx="6400799" cy="6017032"/>
          </a:xfrm>
          <a:prstGeom prst="rect">
            <a:avLst/>
          </a:prstGeom>
        </p:spPr>
        <p:txBody>
          <a:bodyPr wrap="square" lIns="0" tIns="0" rIns="0" bIns="0" rtlCol="0" anchor="t">
            <a:spAutoFit/>
          </a:bodyPr>
          <a:lstStyle/>
          <a:p>
            <a:pPr>
              <a:spcBef>
                <a:spcPct val="0"/>
              </a:spcBef>
            </a:pPr>
            <a:r>
              <a:rPr lang="en-US" sz="2300" b="1" spc="86" dirty="0">
                <a:solidFill>
                  <a:srgbClr val="FFFFFF"/>
                </a:solidFill>
                <a:latin typeface="Open Sans"/>
              </a:rPr>
              <a:t>Step 1: Write a focused review question</a:t>
            </a:r>
          </a:p>
          <a:p>
            <a:pPr>
              <a:spcBef>
                <a:spcPct val="0"/>
              </a:spcBef>
            </a:pPr>
            <a:r>
              <a:rPr lang="en-US" sz="2300" spc="86" dirty="0">
                <a:solidFill>
                  <a:srgbClr val="FFFFFF"/>
                </a:solidFill>
                <a:latin typeface="Open Sans"/>
              </a:rPr>
              <a:t>• Use your Golden Thread: your question must align with your topic, problem, and aims.</a:t>
            </a:r>
          </a:p>
          <a:p>
            <a:pPr>
              <a:spcBef>
                <a:spcPct val="0"/>
              </a:spcBef>
            </a:pPr>
            <a:r>
              <a:rPr lang="en-US" sz="2300" spc="86" dirty="0">
                <a:solidFill>
                  <a:srgbClr val="FFFFFF"/>
                </a:solidFill>
                <a:latin typeface="Open Sans"/>
              </a:rPr>
              <a:t>• Example: What does current research say about the effect of cybersecurity awareness training on phishing susceptibility among university students?</a:t>
            </a:r>
          </a:p>
          <a:p>
            <a:pPr>
              <a:spcBef>
                <a:spcPct val="0"/>
              </a:spcBef>
            </a:pPr>
            <a:endParaRPr lang="en-US" sz="2300" spc="86" dirty="0">
              <a:solidFill>
                <a:srgbClr val="FFFFFF"/>
              </a:solidFill>
              <a:latin typeface="Open Sans"/>
            </a:endParaRPr>
          </a:p>
          <a:p>
            <a:pPr>
              <a:spcBef>
                <a:spcPct val="0"/>
              </a:spcBef>
            </a:pPr>
            <a:r>
              <a:rPr lang="en-US" sz="2300" b="1" spc="86" dirty="0">
                <a:solidFill>
                  <a:srgbClr val="FFFFFF"/>
                </a:solidFill>
                <a:latin typeface="Open Sans"/>
              </a:rPr>
              <a:t>Step 2: Define inclusion and exclusion criteria before you search</a:t>
            </a:r>
          </a:p>
          <a:p>
            <a:pPr>
              <a:spcBef>
                <a:spcPct val="0"/>
              </a:spcBef>
            </a:pPr>
            <a:r>
              <a:rPr lang="en-US" sz="2300" spc="86" dirty="0">
                <a:solidFill>
                  <a:srgbClr val="FFFFFF"/>
                </a:solidFill>
                <a:latin typeface="Open Sans"/>
              </a:rPr>
              <a:t>• Decide on: date range, population/context, type of evidence, language, and minimum quality expectations.</a:t>
            </a:r>
          </a:p>
          <a:p>
            <a:pPr>
              <a:spcBef>
                <a:spcPct val="0"/>
              </a:spcBef>
            </a:pPr>
            <a:r>
              <a:rPr lang="en-US" sz="2300" spc="86" dirty="0">
                <a:solidFill>
                  <a:srgbClr val="FFFFFF"/>
                </a:solidFill>
                <a:latin typeface="Open Sans"/>
              </a:rPr>
              <a:t>• Keep criteria simple and realistic for a first SLR (avoid overly complex filters).</a:t>
            </a:r>
          </a:p>
        </p:txBody>
      </p:sp>
    </p:spTree>
    <p:extLst>
      <p:ext uri="{BB962C8B-B14F-4D97-AF65-F5344CB8AC3E}">
        <p14:creationId xmlns:p14="http://schemas.microsoft.com/office/powerpoint/2010/main" val="2759319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FED4960-F377-29A9-2B99-9422B1DC900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E863717-1907-79E0-954F-683CEBADDF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676400" y="-2286000"/>
            <a:ext cx="5181601" cy="11245010"/>
          </a:xfrm>
          <a:prstGeom prst="rect">
            <a:avLst/>
          </a:prstGeom>
        </p:spPr>
      </p:pic>
      <p:sp>
        <p:nvSpPr>
          <p:cNvPr id="6" name="TextBox 6">
            <a:extLst>
              <a:ext uri="{FF2B5EF4-FFF2-40B4-BE49-F238E27FC236}">
                <a16:creationId xmlns:a16="http://schemas.microsoft.com/office/drawing/2014/main" id="{C538ADBF-F6E8-1F81-D3F8-0B633F4CE936}"/>
              </a:ext>
            </a:extLst>
          </p:cNvPr>
          <p:cNvSpPr txBox="1"/>
          <p:nvPr/>
        </p:nvSpPr>
        <p:spPr>
          <a:xfrm>
            <a:off x="152400" y="1600200"/>
            <a:ext cx="3581400" cy="1483098"/>
          </a:xfrm>
          <a:prstGeom prst="rect">
            <a:avLst/>
          </a:prstGeom>
        </p:spPr>
        <p:txBody>
          <a:bodyPr wrap="square" lIns="0" tIns="0" rIns="0" bIns="0" rtlCol="0" anchor="t">
            <a:spAutoFit/>
          </a:bodyPr>
          <a:lstStyle/>
          <a:p>
            <a:pPr>
              <a:lnSpc>
                <a:spcPts val="3919"/>
              </a:lnSpc>
            </a:pPr>
            <a:r>
              <a:rPr lang="en-US" sz="2799" dirty="0">
                <a:latin typeface="League Spartan"/>
              </a:rPr>
              <a:t>2. A PRISMA-guided workflow you can follow</a:t>
            </a:r>
          </a:p>
        </p:txBody>
      </p:sp>
      <p:sp>
        <p:nvSpPr>
          <p:cNvPr id="7" name="TextBox 7">
            <a:extLst>
              <a:ext uri="{FF2B5EF4-FFF2-40B4-BE49-F238E27FC236}">
                <a16:creationId xmlns:a16="http://schemas.microsoft.com/office/drawing/2014/main" id="{A95EB352-FC8A-BA31-07A4-2C67B232106E}"/>
              </a:ext>
            </a:extLst>
          </p:cNvPr>
          <p:cNvSpPr txBox="1"/>
          <p:nvPr/>
        </p:nvSpPr>
        <p:spPr>
          <a:xfrm>
            <a:off x="3505201" y="381000"/>
            <a:ext cx="6400799" cy="4601260"/>
          </a:xfrm>
          <a:prstGeom prst="rect">
            <a:avLst/>
          </a:prstGeom>
        </p:spPr>
        <p:txBody>
          <a:bodyPr wrap="square" lIns="0" tIns="0" rIns="0" bIns="0" rtlCol="0" anchor="t">
            <a:spAutoFit/>
          </a:bodyPr>
          <a:lstStyle/>
          <a:p>
            <a:pPr>
              <a:spcBef>
                <a:spcPct val="0"/>
              </a:spcBef>
            </a:pPr>
            <a:r>
              <a:rPr lang="en-US" sz="2300" b="1" spc="86" dirty="0">
                <a:solidFill>
                  <a:srgbClr val="FFFFFF"/>
                </a:solidFill>
                <a:latin typeface="Open Sans"/>
              </a:rPr>
              <a:t>Step 3: Create your search plan (search strings + databases)</a:t>
            </a:r>
          </a:p>
          <a:p>
            <a:pPr>
              <a:spcBef>
                <a:spcPct val="0"/>
              </a:spcBef>
            </a:pPr>
            <a:endParaRPr lang="en-US" sz="2300" b="1" spc="86" dirty="0">
              <a:solidFill>
                <a:srgbClr val="FFFFFF"/>
              </a:solidFill>
              <a:latin typeface="Open Sans"/>
            </a:endParaRPr>
          </a:p>
          <a:p>
            <a:pPr>
              <a:spcBef>
                <a:spcPct val="0"/>
              </a:spcBef>
            </a:pPr>
            <a:r>
              <a:rPr lang="en-US" sz="2300" spc="86" dirty="0">
                <a:solidFill>
                  <a:srgbClr val="FFFFFF"/>
                </a:solidFill>
                <a:latin typeface="Open Sans"/>
              </a:rPr>
              <a:t>• Translate the question into 3 to 5 concepts and synonyms.</a:t>
            </a:r>
          </a:p>
          <a:p>
            <a:pPr>
              <a:spcBef>
                <a:spcPct val="0"/>
              </a:spcBef>
            </a:pPr>
            <a:endParaRPr lang="en-US" sz="2300" spc="86" dirty="0">
              <a:solidFill>
                <a:srgbClr val="FFFFFF"/>
              </a:solidFill>
              <a:latin typeface="Open Sans"/>
            </a:endParaRPr>
          </a:p>
          <a:p>
            <a:pPr>
              <a:spcBef>
                <a:spcPct val="0"/>
              </a:spcBef>
            </a:pPr>
            <a:r>
              <a:rPr lang="en-US" sz="2300" spc="86" dirty="0">
                <a:solidFill>
                  <a:srgbClr val="FFFFFF"/>
                </a:solidFill>
                <a:latin typeface="Open Sans"/>
              </a:rPr>
              <a:t>• Choose 2 to 3 databases you can access (e.g., Google Scholar plus IEEE Xplore/ACM Digital Library).</a:t>
            </a:r>
          </a:p>
          <a:p>
            <a:pPr>
              <a:spcBef>
                <a:spcPct val="0"/>
              </a:spcBef>
            </a:pPr>
            <a:endParaRPr lang="en-US" sz="2300" spc="86" dirty="0">
              <a:solidFill>
                <a:srgbClr val="FFFFFF"/>
              </a:solidFill>
              <a:latin typeface="Open Sans"/>
            </a:endParaRPr>
          </a:p>
          <a:p>
            <a:pPr>
              <a:spcBef>
                <a:spcPct val="0"/>
              </a:spcBef>
            </a:pPr>
            <a:r>
              <a:rPr lang="en-US" sz="2300" spc="86" dirty="0">
                <a:solidFill>
                  <a:srgbClr val="FFFFFF"/>
                </a:solidFill>
                <a:latin typeface="Open Sans"/>
              </a:rPr>
              <a:t>• Record the full search strings and the date searched (this becomes part of your PRISMA reporting).</a:t>
            </a:r>
          </a:p>
        </p:txBody>
      </p:sp>
    </p:spTree>
    <p:extLst>
      <p:ext uri="{BB962C8B-B14F-4D97-AF65-F5344CB8AC3E}">
        <p14:creationId xmlns:p14="http://schemas.microsoft.com/office/powerpoint/2010/main" val="1685657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BD32B0E-E186-0DCC-7A68-2C77377E660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8B308C4-304A-36E0-02E2-044045999C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676400" y="-2286000"/>
            <a:ext cx="5181601" cy="11245010"/>
          </a:xfrm>
          <a:prstGeom prst="rect">
            <a:avLst/>
          </a:prstGeom>
        </p:spPr>
      </p:pic>
      <p:sp>
        <p:nvSpPr>
          <p:cNvPr id="6" name="TextBox 6">
            <a:extLst>
              <a:ext uri="{FF2B5EF4-FFF2-40B4-BE49-F238E27FC236}">
                <a16:creationId xmlns:a16="http://schemas.microsoft.com/office/drawing/2014/main" id="{24FCA586-378F-CBD8-1453-9A25857C2F1E}"/>
              </a:ext>
            </a:extLst>
          </p:cNvPr>
          <p:cNvSpPr txBox="1"/>
          <p:nvPr/>
        </p:nvSpPr>
        <p:spPr>
          <a:xfrm>
            <a:off x="152400" y="1600200"/>
            <a:ext cx="3581400" cy="1483098"/>
          </a:xfrm>
          <a:prstGeom prst="rect">
            <a:avLst/>
          </a:prstGeom>
        </p:spPr>
        <p:txBody>
          <a:bodyPr wrap="square" lIns="0" tIns="0" rIns="0" bIns="0" rtlCol="0" anchor="t">
            <a:spAutoFit/>
          </a:bodyPr>
          <a:lstStyle/>
          <a:p>
            <a:pPr>
              <a:lnSpc>
                <a:spcPts val="3919"/>
              </a:lnSpc>
            </a:pPr>
            <a:r>
              <a:rPr lang="en-US" sz="2799" dirty="0">
                <a:latin typeface="League Spartan"/>
              </a:rPr>
              <a:t>2. A PRISMA-guided workflow you can follow</a:t>
            </a:r>
          </a:p>
        </p:txBody>
      </p:sp>
      <p:sp>
        <p:nvSpPr>
          <p:cNvPr id="7" name="TextBox 7">
            <a:extLst>
              <a:ext uri="{FF2B5EF4-FFF2-40B4-BE49-F238E27FC236}">
                <a16:creationId xmlns:a16="http://schemas.microsoft.com/office/drawing/2014/main" id="{0971E54A-138F-14A2-5B91-ED189DD86445}"/>
              </a:ext>
            </a:extLst>
          </p:cNvPr>
          <p:cNvSpPr txBox="1"/>
          <p:nvPr/>
        </p:nvSpPr>
        <p:spPr>
          <a:xfrm>
            <a:off x="3505201" y="381000"/>
            <a:ext cx="6400799" cy="5309146"/>
          </a:xfrm>
          <a:prstGeom prst="rect">
            <a:avLst/>
          </a:prstGeom>
        </p:spPr>
        <p:txBody>
          <a:bodyPr wrap="square" lIns="0" tIns="0" rIns="0" bIns="0" rtlCol="0" anchor="t">
            <a:spAutoFit/>
          </a:bodyPr>
          <a:lstStyle/>
          <a:p>
            <a:pPr>
              <a:spcBef>
                <a:spcPct val="0"/>
              </a:spcBef>
            </a:pPr>
            <a:r>
              <a:rPr lang="en-US" sz="2300" b="1" spc="86" dirty="0">
                <a:solidFill>
                  <a:srgbClr val="FFFFFF"/>
                </a:solidFill>
                <a:latin typeface="Open Sans"/>
              </a:rPr>
              <a:t>Step 4: Screen records in two stages</a:t>
            </a:r>
          </a:p>
          <a:p>
            <a:pPr>
              <a:spcBef>
                <a:spcPct val="0"/>
              </a:spcBef>
            </a:pPr>
            <a:r>
              <a:rPr lang="en-US" sz="2300" b="1" spc="86" dirty="0">
                <a:solidFill>
                  <a:srgbClr val="FFFFFF"/>
                </a:solidFill>
                <a:latin typeface="Open Sans"/>
              </a:rPr>
              <a:t>• </a:t>
            </a:r>
            <a:r>
              <a:rPr lang="en-US" sz="2300" spc="86" dirty="0">
                <a:solidFill>
                  <a:srgbClr val="FFFFFF"/>
                </a:solidFill>
                <a:latin typeface="Open Sans"/>
              </a:rPr>
              <a:t>Stage 1: Title and abstract screening using your criteria.</a:t>
            </a:r>
          </a:p>
          <a:p>
            <a:pPr>
              <a:spcBef>
                <a:spcPct val="0"/>
              </a:spcBef>
            </a:pPr>
            <a:r>
              <a:rPr lang="en-US" sz="2300" spc="86" dirty="0">
                <a:solidFill>
                  <a:srgbClr val="FFFFFF"/>
                </a:solidFill>
                <a:latin typeface="Open Sans"/>
              </a:rPr>
              <a:t>• Stage 2: Full-text screening for eligibility (document reasons for exclusion).</a:t>
            </a:r>
          </a:p>
          <a:p>
            <a:pPr>
              <a:spcBef>
                <a:spcPct val="0"/>
              </a:spcBef>
            </a:pPr>
            <a:r>
              <a:rPr lang="en-US" sz="2300" spc="86" dirty="0">
                <a:solidFill>
                  <a:srgbClr val="FFFFFF"/>
                </a:solidFill>
                <a:latin typeface="Open Sans"/>
              </a:rPr>
              <a:t>• Remove duplicates and keep counts at each stage.</a:t>
            </a:r>
          </a:p>
          <a:p>
            <a:pPr>
              <a:spcBef>
                <a:spcPct val="0"/>
              </a:spcBef>
            </a:pPr>
            <a:endParaRPr lang="en-US" sz="2300" spc="86" dirty="0">
              <a:solidFill>
                <a:srgbClr val="FFFFFF"/>
              </a:solidFill>
              <a:latin typeface="Open Sans"/>
            </a:endParaRPr>
          </a:p>
          <a:p>
            <a:pPr>
              <a:spcBef>
                <a:spcPct val="0"/>
              </a:spcBef>
            </a:pPr>
            <a:r>
              <a:rPr lang="en-US" sz="2300" b="1" spc="86" dirty="0">
                <a:solidFill>
                  <a:srgbClr val="FFFFFF"/>
                </a:solidFill>
                <a:latin typeface="Open Sans"/>
              </a:rPr>
              <a:t>Step 5: Extract key information from included studies</a:t>
            </a:r>
          </a:p>
          <a:p>
            <a:pPr>
              <a:spcBef>
                <a:spcPct val="0"/>
              </a:spcBef>
            </a:pPr>
            <a:r>
              <a:rPr lang="en-US" sz="2300" b="1" spc="86" dirty="0">
                <a:solidFill>
                  <a:srgbClr val="FFFFFF"/>
                </a:solidFill>
                <a:latin typeface="Open Sans"/>
              </a:rPr>
              <a:t>• </a:t>
            </a:r>
            <a:r>
              <a:rPr lang="en-US" sz="2300" spc="86" dirty="0">
                <a:solidFill>
                  <a:srgbClr val="FFFFFF"/>
                </a:solidFill>
                <a:latin typeface="Open Sans"/>
              </a:rPr>
              <a:t>Create a simple extraction table: author/year, context, method, sample, measures, and key findings.</a:t>
            </a:r>
          </a:p>
          <a:p>
            <a:pPr>
              <a:spcBef>
                <a:spcPct val="0"/>
              </a:spcBef>
            </a:pPr>
            <a:r>
              <a:rPr lang="en-US" sz="2300" spc="86" dirty="0">
                <a:solidFill>
                  <a:srgbClr val="FFFFFF"/>
                </a:solidFill>
                <a:latin typeface="Open Sans"/>
              </a:rPr>
              <a:t>• Extract only what helps answer your review question and objectives.</a:t>
            </a:r>
          </a:p>
        </p:txBody>
      </p:sp>
    </p:spTree>
    <p:extLst>
      <p:ext uri="{BB962C8B-B14F-4D97-AF65-F5344CB8AC3E}">
        <p14:creationId xmlns:p14="http://schemas.microsoft.com/office/powerpoint/2010/main" val="1873316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7037D8B-36C2-3214-704F-1185FA53F17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09C2438-78BA-0AE8-E08F-8D634AA47A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676400" y="-2286000"/>
            <a:ext cx="5181601" cy="11245010"/>
          </a:xfrm>
          <a:prstGeom prst="rect">
            <a:avLst/>
          </a:prstGeom>
        </p:spPr>
      </p:pic>
      <p:sp>
        <p:nvSpPr>
          <p:cNvPr id="6" name="TextBox 6">
            <a:extLst>
              <a:ext uri="{FF2B5EF4-FFF2-40B4-BE49-F238E27FC236}">
                <a16:creationId xmlns:a16="http://schemas.microsoft.com/office/drawing/2014/main" id="{944189D5-3BE7-8191-B3A2-6937B2A25974}"/>
              </a:ext>
            </a:extLst>
          </p:cNvPr>
          <p:cNvSpPr txBox="1"/>
          <p:nvPr/>
        </p:nvSpPr>
        <p:spPr>
          <a:xfrm>
            <a:off x="152400" y="1600200"/>
            <a:ext cx="3581400" cy="1483098"/>
          </a:xfrm>
          <a:prstGeom prst="rect">
            <a:avLst/>
          </a:prstGeom>
        </p:spPr>
        <p:txBody>
          <a:bodyPr wrap="square" lIns="0" tIns="0" rIns="0" bIns="0" rtlCol="0" anchor="t">
            <a:spAutoFit/>
          </a:bodyPr>
          <a:lstStyle/>
          <a:p>
            <a:pPr>
              <a:lnSpc>
                <a:spcPts val="3919"/>
              </a:lnSpc>
            </a:pPr>
            <a:r>
              <a:rPr lang="en-US" sz="2799" dirty="0">
                <a:latin typeface="League Spartan"/>
              </a:rPr>
              <a:t>2. A PRISMA-guided workflow you can follow</a:t>
            </a:r>
          </a:p>
        </p:txBody>
      </p:sp>
      <p:sp>
        <p:nvSpPr>
          <p:cNvPr id="7" name="TextBox 7">
            <a:extLst>
              <a:ext uri="{FF2B5EF4-FFF2-40B4-BE49-F238E27FC236}">
                <a16:creationId xmlns:a16="http://schemas.microsoft.com/office/drawing/2014/main" id="{23356955-6A61-47CC-D81B-21B82527AE17}"/>
              </a:ext>
            </a:extLst>
          </p:cNvPr>
          <p:cNvSpPr txBox="1"/>
          <p:nvPr/>
        </p:nvSpPr>
        <p:spPr>
          <a:xfrm>
            <a:off x="3505201" y="381000"/>
            <a:ext cx="6248399" cy="6017032"/>
          </a:xfrm>
          <a:prstGeom prst="rect">
            <a:avLst/>
          </a:prstGeom>
        </p:spPr>
        <p:txBody>
          <a:bodyPr wrap="square" lIns="0" tIns="0" rIns="0" bIns="0" rtlCol="0" anchor="t">
            <a:spAutoFit/>
          </a:bodyPr>
          <a:lstStyle/>
          <a:p>
            <a:pPr>
              <a:spcBef>
                <a:spcPct val="0"/>
              </a:spcBef>
            </a:pPr>
            <a:r>
              <a:rPr lang="en-US" sz="2300" b="1" spc="86" dirty="0">
                <a:solidFill>
                  <a:srgbClr val="FFFFFF"/>
                </a:solidFill>
                <a:latin typeface="Open Sans"/>
              </a:rPr>
              <a:t>Step 6: Appraise quality (basic and appropriate for your level)</a:t>
            </a:r>
          </a:p>
          <a:p>
            <a:pPr>
              <a:spcBef>
                <a:spcPct val="0"/>
              </a:spcBef>
            </a:pPr>
            <a:r>
              <a:rPr lang="en-US" sz="2300" b="1" spc="86" dirty="0">
                <a:solidFill>
                  <a:srgbClr val="FFFFFF"/>
                </a:solidFill>
                <a:latin typeface="Open Sans"/>
              </a:rPr>
              <a:t>• </a:t>
            </a:r>
            <a:r>
              <a:rPr lang="en-US" sz="2300" spc="86" dirty="0">
                <a:solidFill>
                  <a:srgbClr val="FFFFFF"/>
                </a:solidFill>
                <a:latin typeface="Open Sans"/>
              </a:rPr>
              <a:t>Use a simple checklist approach (e.g., method clarity, sample adequacy, limitations reported).</a:t>
            </a:r>
          </a:p>
          <a:p>
            <a:pPr>
              <a:spcBef>
                <a:spcPct val="0"/>
              </a:spcBef>
            </a:pPr>
            <a:r>
              <a:rPr lang="en-US" sz="2300" spc="86" dirty="0">
                <a:solidFill>
                  <a:srgbClr val="FFFFFF"/>
                </a:solidFill>
                <a:latin typeface="Open Sans"/>
              </a:rPr>
              <a:t>• Do not overcomplicate quality appraisal in your first SLR but do be transparent.</a:t>
            </a:r>
          </a:p>
          <a:p>
            <a:pPr>
              <a:spcBef>
                <a:spcPct val="0"/>
              </a:spcBef>
            </a:pPr>
            <a:endParaRPr lang="en-US" sz="2300" spc="86" dirty="0">
              <a:solidFill>
                <a:srgbClr val="FFFFFF"/>
              </a:solidFill>
              <a:latin typeface="Open Sans"/>
            </a:endParaRPr>
          </a:p>
          <a:p>
            <a:pPr>
              <a:spcBef>
                <a:spcPct val="0"/>
              </a:spcBef>
            </a:pPr>
            <a:r>
              <a:rPr lang="en-US" sz="2300" b="1" spc="86" dirty="0">
                <a:solidFill>
                  <a:srgbClr val="FFFFFF"/>
                </a:solidFill>
                <a:latin typeface="Open Sans"/>
              </a:rPr>
              <a:t>Step 7: Synthesis and write-up using PRISMA as a guide</a:t>
            </a:r>
          </a:p>
          <a:p>
            <a:pPr>
              <a:spcBef>
                <a:spcPct val="0"/>
              </a:spcBef>
            </a:pPr>
            <a:r>
              <a:rPr lang="en-US" sz="2300" b="1" spc="86" dirty="0">
                <a:solidFill>
                  <a:srgbClr val="FFFFFF"/>
                </a:solidFill>
                <a:latin typeface="Open Sans"/>
              </a:rPr>
              <a:t>• </a:t>
            </a:r>
            <a:r>
              <a:rPr lang="en-US" sz="2300" spc="86" dirty="0">
                <a:solidFill>
                  <a:srgbClr val="FFFFFF"/>
                </a:solidFill>
                <a:latin typeface="Open Sans"/>
              </a:rPr>
              <a:t>Group evidence by themes, methods, or outcomes.</a:t>
            </a:r>
          </a:p>
          <a:p>
            <a:pPr>
              <a:spcBef>
                <a:spcPct val="0"/>
              </a:spcBef>
            </a:pPr>
            <a:r>
              <a:rPr lang="en-US" sz="2300" spc="86" dirty="0">
                <a:solidFill>
                  <a:srgbClr val="FFFFFF"/>
                </a:solidFill>
                <a:latin typeface="Open Sans"/>
              </a:rPr>
              <a:t>• Report your search and screening process using the PRISMA flow diagram and checklist.</a:t>
            </a:r>
          </a:p>
          <a:p>
            <a:pPr>
              <a:spcBef>
                <a:spcPct val="0"/>
              </a:spcBef>
            </a:pPr>
            <a:r>
              <a:rPr lang="en-US" sz="2300" spc="86" dirty="0">
                <a:solidFill>
                  <a:srgbClr val="FFFFFF"/>
                </a:solidFill>
                <a:latin typeface="Open Sans"/>
              </a:rPr>
              <a:t>• Conclude by identifying what is known, what is uncertain, and what gaps remain.</a:t>
            </a:r>
          </a:p>
        </p:txBody>
      </p:sp>
    </p:spTree>
    <p:extLst>
      <p:ext uri="{BB962C8B-B14F-4D97-AF65-F5344CB8AC3E}">
        <p14:creationId xmlns:p14="http://schemas.microsoft.com/office/powerpoint/2010/main" val="1104889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A822B3FD-3B74-31D5-E91F-164BCEDCA2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6CA6EB-0783-5AEA-83D5-C3B280DDB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C5E144E-C4B7-F690-FAF1-24C0726BE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FF902B04-A5BB-DFB0-9A7D-D95832272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A07B898-D2B3-0AE8-1806-7789E27D2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664E804-696F-79DB-49C7-332E4D738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CC1C4B3-C0CB-79E7-CBB9-D9EF87FA5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5223F0E-2990-8508-8B10-335496D3DA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0B91CA2C-20F9-C129-B8C2-90B01DA60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AD9A096-00FC-14B6-8162-3B8DF28BB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4663808-724E-6218-6E7E-4F650D4F05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1BD9875-5895-B71C-6949-E8CA61F9D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EA032D-942F-18F1-4F3C-E1183B6C3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8017B98-BCEB-5947-96B0-07F2920747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B072681-2A1C-990E-87F0-785DD0BEB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E536206-8753-C7C5-6D95-F4D361DA24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EE4349C-A952-D785-1DC3-92B1BCEB8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1165EB0-A619-6375-E363-0151D078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F45022-C0E9-BBB6-7C23-7937E1E3B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59DE980-5830-70F8-AD53-1ABD34E32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B1859B5-A3E7-5040-3110-BEC151940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F73FD5D-EAA3-7AF0-4D53-A31B3FB23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1205722-2AF2-0B66-24D1-6A24F9023E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41BC742-EDE5-BD75-85A1-14182E9D5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5FFA4B6-F1F7-71DE-14ED-0EC92D624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372D312-49D7-DA0D-B50E-A18F6AC86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164E5BD-D79C-CA39-65C9-08A3416C9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C9FC11-9227-CB48-DFB4-E3DB7B39E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BCDE664-7DA3-925C-3231-26A009FB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C4FAC22-BEE5-C646-4C57-231E12C5F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C40E6001-8D77-0CB2-77A3-852301C32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51E8468-650A-5A46-9E3E-B0A58337C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FD422DFD-1C10-FB77-B5DB-10F253BEA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FB6611D-0616-6963-AA36-F37866A4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C91B35F-382D-4532-B74C-9B59C7B07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DBAD912-0181-9BBF-C67F-4A7472EBD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0B96FE9-7BA4-0D07-F505-CB7364AB5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AC49412-1C03-47C3-85C0-EC747B65A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F1EE864-7673-0D78-9443-D3AC2A6BB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F798B23-0D20-559B-A63E-EEBF20925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F033309-FCAD-215D-736B-8F8B870DB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72F856A-AD82-001E-0C05-340986DD5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4EDCE29-7975-0AB6-8DED-830D387B99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68B0E5C-7883-81EF-E805-CD9D7BE70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B3D7D81-5EC0-6400-AB9B-CE8FF15D6E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0BCC5E9D-4B9C-646D-4EFA-39A46BC2E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1966C59-9B42-3E84-DCEF-3C25A4655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7A418E8C-48A1-D477-162D-978B6C1B6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44259AA-BE53-722F-003A-DEA70ED55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08F268A-19E7-C448-10BE-3DBAA77AA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923E7B3D-D8E1-9227-E26A-5AAB2114E8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4F568C77-A342-EE78-30B0-DF56C108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1A6CB927-DFF5-4857-4F62-9714C7673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1FDC38AF-C488-0585-6FCC-6C265786A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4F0EB7E0-B713-4DA4-B330-538B2CA1D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7C50D9D-D2A2-F779-D4F9-CE444DFBC7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848E450A-8DE1-DF59-19B3-64440D1C9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67A9897D-0ADE-C100-BBB7-F84AF8DE0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7C2B32E3-4A48-29EB-4504-730850FF0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D3544AD-1104-A0F8-1CC2-B6C06EB2E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92FB96F-E87B-F37E-23F8-758709441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FC7C8CF-8A3C-B422-3AA5-E9F0A0E38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D5FEFA89-F19A-0CA6-C862-8BA76180A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A37F6D6-F99E-679F-1BC3-D65BFD1EE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0102FFD-A185-32BE-E119-684F64D52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A8A4777F-A582-67AD-F1DD-563C046FE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0AAB9171-2E94-F1C0-14FB-335AD74BF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74F755D-1CE8-33CB-9893-023CDA31A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26FF3CF-3F97-F50A-69A3-046FF5AB7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62368DE2-5492-AE8B-0A3F-9C725A6A3D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38D266A8-EC02-718F-EAFB-6800B7D1D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8100DA9B-BBC7-5E31-5CC8-674DD5728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7845B196-78F3-37ED-7F57-62F5859E89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60E85DE-250B-F440-9E8F-0FD88116D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74A9393-0BA1-C366-4A77-DBAEEC4EE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8E34A12-41E1-6253-1899-B2C399EE4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F3BAE3E0-CF8B-9B5F-53B1-6674BE58C1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720E46BE-EA7C-A7F0-9D5B-7E6D34F43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69C8F5CC-5494-33F3-054B-136124F30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2CA87C80-4D9F-32B2-06B1-931E0E8D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BCAF590-65F3-2723-DC3B-5E28EB234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4484D2E5-B318-4163-4183-1F831FD2A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CBFC3270-987A-8164-E65C-8ED5C47ED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FC2BDFBF-438E-7828-F92B-5F82635D5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64F7F54-4993-ACB8-0898-30DA2E6B7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C66D010E-3FBE-BD37-12C9-1FD727BB3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5B8DBAC9-0138-FE10-10E6-1BDF366DB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8851B831-F984-0FD4-0011-290ED2090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F2E11520-C4AE-0CC8-E641-EF8C5DCE1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9C5FB239-7CF1-B5CE-00ED-70AAE4A5C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BC592B44-7862-8F26-1664-2488AD564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500AFBC-199C-BDF9-96BB-401E7250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5A12F9C3-D680-EA04-E263-65AF86BDE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5ADA4CA-E352-4479-322D-7410087D7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342CB03-FE64-0594-9C75-A3BC5B12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4BD1CAB1-A49A-AC2B-E22C-34F5D200BA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B99605F-1ABD-56B7-0D01-08CFE184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6F46198-F891-8FA6-ED1E-F1A7B4D51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03C2EA1B-0265-142A-89D7-E1B7BC3E5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C8FDF0F1-27FA-0405-11F4-ED2C48E13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1DB0F60F-F390-BA8B-6E02-A831BE1CE0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31A212DF-50DA-B39B-BAF5-3744C2B2E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8BDB79D-5FEC-3E14-07C6-E5636B148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D7A6D23-26D5-2E3D-99DE-3A8793BE1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97CDE64-EE9C-D47C-2A46-D908B9B1FF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93A8A31C-4482-E6F1-738C-3D907D22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12DFA4E8-4FF6-CF9A-F327-662FA81BD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A3FE215-AF8F-29F8-AE6D-A71A3D8D1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19CCFA9-C092-5769-A5D9-1A330078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F240309F-457E-7735-22B5-2E1A5F51A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DC3B0630-75A6-3C2A-947F-033DC88AE0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387FAF5-7AED-D8CB-CA05-FA9C89ACBB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8C6D665-C06D-0291-B8DF-6CDB404D4C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A128807-8BB2-D74B-44B8-80805613C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8970D76-F706-F405-0315-532F2608D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79B3374-0DF5-367A-BF92-1470D9A60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32ABA932-7EBD-3676-81CE-E1FCD5650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950E3E8D-14EC-F4CF-66C3-5DF70A2A4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B59736E-3094-0B91-7005-80929629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E6BB6FEC-B0B5-7452-B0E0-6B8C82A18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2A5C787-95B5-B093-DA67-9924AE73B7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0A13A89-D3A6-E972-EC22-B38EA0C95B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1B3171DC-3D62-FA5A-777D-16962C98B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A8D303F-E0A9-140A-B9A4-409E1D897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AA5EF5F-C7FA-C756-F5FA-DB329F40E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F9D5730-59EB-3F25-A4FF-22D9C62C1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6F7A00A7-3410-8BF2-E258-57B8C041E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FCE4BA3D-4A43-FE1A-EEF9-8BE23CE8A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A16D48D4-697A-10F8-A095-9DE9D96CE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9022FB0D-C041-F4DB-6C77-6917538E0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F8800EA-3387-F271-C9F5-CFF4E18E7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791467EA-BEB6-FA16-6957-25AD1C6E4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8B12CCE9-E2DE-D858-A56A-4D8C0DDA4D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1BF54D9D-1E99-B041-3773-0C21E58941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685B35E-C997-0D84-050C-60B6AA7B8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3BC07072-8E9E-2D05-10BA-EA5D43391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225BB3F0-04F1-B0C7-9E5A-72491A3C1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99D5F73E-52B0-7D7C-42B7-760167A603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1B28169-E08B-02D9-8ABC-DA00FC1CDB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7B49022-CE4D-98CD-6B37-C2BE987C7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326F398-7FA7-3833-665C-BE949EE4C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FD35DDEF-A479-BDF1-E384-EC4C3C0AB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6C093D5-0207-7166-7568-908FBBB70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0CE2C3F4-715D-1FC6-EACD-2CD224FA2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19E2386B-076B-5A23-C9B7-463AB38F4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7283E8D-9A80-4763-8863-17B7D1900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B4C21312-E38F-3C15-CD24-7A3D850752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F4D7DE57-D951-7AFD-B71F-ECDEA3544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CE37B50-4AFF-C864-C960-BB0A0A5C6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6B764675-75D8-5341-A444-DEA4FF274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C597C5BC-325A-D615-50A4-A2EDC35C8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B879823A-D691-4B19-BB00-74DF27378566}"/>
              </a:ext>
            </a:extLst>
          </p:cNvPr>
          <p:cNvSpPr txBox="1"/>
          <p:nvPr/>
        </p:nvSpPr>
        <p:spPr>
          <a:xfrm>
            <a:off x="228600" y="336988"/>
            <a:ext cx="76962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300" b="1" spc="86" dirty="0">
                <a:solidFill>
                  <a:schemeClr val="bg1"/>
                </a:solidFill>
              </a:rPr>
              <a:t>3. Using the PRISMA 2020 flow diagram (counts and transparency)</a:t>
            </a:r>
            <a:endParaRPr lang="en-US" sz="2300" spc="86" dirty="0">
              <a:solidFill>
                <a:schemeClr val="bg1"/>
              </a:solidFill>
            </a:endParaRPr>
          </a:p>
          <a:p>
            <a:pPr marL="342900" indent="-342900">
              <a:lnSpc>
                <a:spcPct val="90000"/>
              </a:lnSpc>
              <a:spcAft>
                <a:spcPts val="800"/>
              </a:spcAft>
              <a:buFont typeface="Arial" panose="020B0604020202020204" pitchFamily="34" charset="0"/>
              <a:buChar char="•"/>
            </a:pPr>
            <a:r>
              <a:rPr lang="en-US" sz="2300" spc="86" dirty="0">
                <a:solidFill>
                  <a:schemeClr val="bg1"/>
                </a:solidFill>
              </a:rPr>
              <a:t>PRISMA recommends reporting the number of records identified, screened, assessed for eligibility, and included, and also reporting why full-text reports were excluded. </a:t>
            </a:r>
          </a:p>
          <a:p>
            <a:pPr marL="342900" indent="-342900">
              <a:lnSpc>
                <a:spcPct val="90000"/>
              </a:lnSpc>
              <a:spcAft>
                <a:spcPts val="800"/>
              </a:spcAft>
              <a:buFont typeface="Arial" panose="020B0604020202020204" pitchFamily="34" charset="0"/>
              <a:buChar char="•"/>
            </a:pPr>
            <a:r>
              <a:rPr lang="en-US" sz="2300" spc="86" dirty="0">
                <a:solidFill>
                  <a:schemeClr val="bg1"/>
                </a:solidFill>
              </a:rPr>
              <a:t>This is usually shown as a flow diagram. For this module, use the provided PRISMA 2020.</a:t>
            </a:r>
          </a:p>
          <a:p>
            <a:pPr marL="342900" indent="-342900">
              <a:lnSpc>
                <a:spcPct val="90000"/>
              </a:lnSpc>
              <a:spcAft>
                <a:spcPts val="800"/>
              </a:spcAft>
              <a:buFont typeface="Arial" panose="020B0604020202020204" pitchFamily="34" charset="0"/>
              <a:buChar char="•"/>
            </a:pPr>
            <a:r>
              <a:rPr lang="en-US" sz="2300" spc="86" dirty="0">
                <a:solidFill>
                  <a:schemeClr val="bg1"/>
                </a:solidFill>
              </a:rPr>
              <a:t>Identification: Where did you search and how many records did you find?</a:t>
            </a:r>
          </a:p>
          <a:p>
            <a:pPr marL="342900" indent="-342900">
              <a:lnSpc>
                <a:spcPct val="90000"/>
              </a:lnSpc>
              <a:spcAft>
                <a:spcPts val="800"/>
              </a:spcAft>
              <a:buFont typeface="Arial" panose="020B0604020202020204" pitchFamily="34" charset="0"/>
              <a:buChar char="•"/>
            </a:pPr>
            <a:r>
              <a:rPr lang="en-US" sz="2300" spc="86" dirty="0">
                <a:solidFill>
                  <a:schemeClr val="bg1"/>
                </a:solidFill>
              </a:rPr>
              <a:t>Screening: How many records remained after removing duplicates, and how many were excluded at title/abstract stage?</a:t>
            </a:r>
          </a:p>
          <a:p>
            <a:pPr marL="342900" indent="-342900">
              <a:lnSpc>
                <a:spcPct val="90000"/>
              </a:lnSpc>
              <a:spcAft>
                <a:spcPts val="800"/>
              </a:spcAft>
              <a:buFont typeface="Arial" panose="020B0604020202020204" pitchFamily="34" charset="0"/>
              <a:buChar char="•"/>
            </a:pPr>
            <a:r>
              <a:rPr lang="en-US" sz="2300" spc="86" dirty="0">
                <a:solidFill>
                  <a:schemeClr val="bg1"/>
                </a:solidFill>
              </a:rPr>
              <a:t>Eligibility: How many full texts were assessed, and what reasons were used to exclude reports?</a:t>
            </a:r>
          </a:p>
          <a:p>
            <a:pPr marL="342900" indent="-342900">
              <a:lnSpc>
                <a:spcPct val="90000"/>
              </a:lnSpc>
              <a:spcAft>
                <a:spcPts val="800"/>
              </a:spcAft>
              <a:buFont typeface="Arial" panose="020B0604020202020204" pitchFamily="34" charset="0"/>
              <a:buChar char="•"/>
            </a:pPr>
            <a:r>
              <a:rPr lang="en-US" sz="2300" spc="86" dirty="0">
                <a:solidFill>
                  <a:schemeClr val="bg1"/>
                </a:solidFill>
              </a:rPr>
              <a:t>Included: How many studies were finally included in your synthesis?</a:t>
            </a:r>
            <a:endParaRPr lang="en-US" sz="2000" spc="86" dirty="0">
              <a:solidFill>
                <a:schemeClr val="bg1"/>
              </a:solidFill>
            </a:endParaRPr>
          </a:p>
          <a:p>
            <a:pPr marL="800100" lvl="1" indent="-342900">
              <a:lnSpc>
                <a:spcPct val="90000"/>
              </a:lnSpc>
              <a:spcAft>
                <a:spcPts val="800"/>
              </a:spcAft>
              <a:buFont typeface="Arial" panose="020B0604020202020204" pitchFamily="34" charset="0"/>
              <a:buChar char="•"/>
            </a:pPr>
            <a:endParaRPr lang="en-US" sz="2000" spc="86" dirty="0">
              <a:solidFill>
                <a:schemeClr val="bg1"/>
              </a:solidFill>
            </a:endParaRPr>
          </a:p>
        </p:txBody>
      </p:sp>
    </p:spTree>
    <p:extLst>
      <p:ext uri="{BB962C8B-B14F-4D97-AF65-F5344CB8AC3E}">
        <p14:creationId xmlns:p14="http://schemas.microsoft.com/office/powerpoint/2010/main" val="2540011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A79EBE-F76D-A464-9082-D96DBA08D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714741" cy="6096000"/>
          </a:xfrm>
          <a:prstGeom prst="rect">
            <a:avLst/>
          </a:prstGeom>
        </p:spPr>
      </p:pic>
    </p:spTree>
    <p:extLst>
      <p:ext uri="{BB962C8B-B14F-4D97-AF65-F5344CB8AC3E}">
        <p14:creationId xmlns:p14="http://schemas.microsoft.com/office/powerpoint/2010/main" val="2303453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C2395D3A-A23E-0E6C-6635-CF07F2638361}"/>
              </a:ext>
            </a:extLst>
          </p:cNvPr>
          <p:cNvSpPr txBox="1"/>
          <p:nvPr/>
        </p:nvSpPr>
        <p:spPr>
          <a:xfrm>
            <a:off x="533400" y="304800"/>
            <a:ext cx="8610600" cy="5232202"/>
          </a:xfrm>
          <a:prstGeom prst="rect">
            <a:avLst/>
          </a:prstGeom>
        </p:spPr>
        <p:txBody>
          <a:bodyPr wrap="square" lIns="0" tIns="0" rIns="0" bIns="0" rtlCol="0" anchor="t">
            <a:spAutoFit/>
          </a:bodyPr>
          <a:lstStyle/>
          <a:p>
            <a:r>
              <a:rPr lang="en-US" sz="2000" b="1" dirty="0"/>
              <a:t>Identification</a:t>
            </a:r>
          </a:p>
          <a:p>
            <a:r>
              <a:rPr lang="en-US" sz="2000" dirty="0"/>
              <a:t>We start by searching for studies about cybersecurity awareness training and phishing susceptibility in university students. In this example, we identify </a:t>
            </a:r>
            <a:r>
              <a:rPr lang="en-US" sz="2000" b="1" dirty="0"/>
              <a:t>520</a:t>
            </a:r>
            <a:r>
              <a:rPr lang="en-US" sz="2000" dirty="0"/>
              <a:t> records from databases (like IEEE Xplore, ACM Digital Library, Scopus, and Google Scholar) and </a:t>
            </a:r>
            <a:r>
              <a:rPr lang="en-US" sz="2000" b="1" dirty="0"/>
              <a:t>30</a:t>
            </a:r>
            <a:r>
              <a:rPr lang="en-US" sz="2000" dirty="0"/>
              <a:t> records from registers, giving </a:t>
            </a:r>
            <a:r>
              <a:rPr lang="en-US" sz="2000" b="1" dirty="0"/>
              <a:t>550</a:t>
            </a:r>
            <a:r>
              <a:rPr lang="en-US" sz="2000" dirty="0"/>
              <a:t> total records found through databases and registers. The purpose of this stage is to show that your search was broad enough to capture the available research, not just a handful of convenient papers.</a:t>
            </a:r>
          </a:p>
          <a:p>
            <a:endParaRPr lang="en-US" sz="2000" dirty="0"/>
          </a:p>
          <a:p>
            <a:r>
              <a:rPr lang="en-US" sz="2000" b="1" dirty="0"/>
              <a:t>Records removed before screening</a:t>
            </a:r>
          </a:p>
          <a:p>
            <a:r>
              <a:rPr lang="en-US" sz="2000" dirty="0"/>
              <a:t>Before we start reading titles and abstracts, we clean the search results so we do not count the same study twice or keep items we cannot use. In this example, we remove </a:t>
            </a:r>
            <a:r>
              <a:rPr lang="en-US" sz="2000" b="1" dirty="0"/>
              <a:t>110</a:t>
            </a:r>
            <a:r>
              <a:rPr lang="en-US" sz="2000" dirty="0"/>
              <a:t> duplicates, meaning the same study appeared in more than one database. We also remove </a:t>
            </a:r>
            <a:r>
              <a:rPr lang="en-US" sz="2000" b="1" dirty="0"/>
              <a:t>15</a:t>
            </a:r>
            <a:r>
              <a:rPr lang="en-US" sz="2000" dirty="0"/>
              <a:t> records marked as ineligible by automation tools (for example, tools that flag records with missing metadata or non-research items) and </a:t>
            </a:r>
            <a:r>
              <a:rPr lang="en-US" sz="2000" b="1" dirty="0"/>
              <a:t>5</a:t>
            </a:r>
            <a:r>
              <a:rPr lang="en-US" sz="2000" dirty="0"/>
              <a:t> records removed for other reasons (for example, a broken record or clearly irrelevant item). After these removals, we have </a:t>
            </a:r>
            <a:r>
              <a:rPr lang="en-US" sz="2000" b="1" dirty="0"/>
              <a:t>420</a:t>
            </a:r>
            <a:r>
              <a:rPr lang="en-US" sz="2000" dirty="0"/>
              <a:t> records ready for screening.</a:t>
            </a:r>
          </a:p>
        </p:txBody>
      </p:sp>
    </p:spTree>
    <p:extLst>
      <p:ext uri="{BB962C8B-B14F-4D97-AF65-F5344CB8AC3E}">
        <p14:creationId xmlns:p14="http://schemas.microsoft.com/office/powerpoint/2010/main" val="1519455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062C5-8EA4-AEE6-FD17-EA3CE5C8848F}"/>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AC136EC6-41DE-2ECB-E10E-EBB34CFB77FC}"/>
              </a:ext>
            </a:extLst>
          </p:cNvPr>
          <p:cNvSpPr txBox="1"/>
          <p:nvPr/>
        </p:nvSpPr>
        <p:spPr>
          <a:xfrm>
            <a:off x="533400" y="304800"/>
            <a:ext cx="8610600" cy="5232202"/>
          </a:xfrm>
          <a:prstGeom prst="rect">
            <a:avLst/>
          </a:prstGeom>
        </p:spPr>
        <p:txBody>
          <a:bodyPr wrap="square" lIns="0" tIns="0" rIns="0" bIns="0" rtlCol="0" anchor="t">
            <a:spAutoFit/>
          </a:bodyPr>
          <a:lstStyle/>
          <a:p>
            <a:r>
              <a:rPr lang="en-US" sz="2000" b="1" dirty="0"/>
              <a:t>Screening</a:t>
            </a:r>
          </a:p>
          <a:p>
            <a:r>
              <a:rPr lang="en-US" sz="2000" dirty="0"/>
              <a:t>Screening is where you apply your inclusion and exclusion criteria quickly by reading titles and abstracts. Your goal is to remove studies that are clearly not about your topic without wasting time downloading full texts. In this example, we screen </a:t>
            </a:r>
            <a:r>
              <a:rPr lang="en-US" sz="2000" b="1" dirty="0"/>
              <a:t>420</a:t>
            </a:r>
            <a:r>
              <a:rPr lang="en-US" sz="2000" dirty="0"/>
              <a:t> records and exclude </a:t>
            </a:r>
            <a:r>
              <a:rPr lang="en-US" sz="2000" b="1" dirty="0"/>
              <a:t>330</a:t>
            </a:r>
            <a:r>
              <a:rPr lang="en-US" sz="2000" dirty="0"/>
              <a:t> records because they do not match the focus (for example, they study employees instead of students, they discuss cybersecurity generally without phishing outcomes, or they are not training interventions). This leaves </a:t>
            </a:r>
            <a:r>
              <a:rPr lang="en-US" sz="2000" b="1" dirty="0"/>
              <a:t>90</a:t>
            </a:r>
            <a:r>
              <a:rPr lang="en-US" sz="2000" dirty="0"/>
              <a:t> reports sought for retrieval, meaning </a:t>
            </a:r>
            <a:r>
              <a:rPr lang="en-US" sz="2000" b="1" dirty="0"/>
              <a:t>90</a:t>
            </a:r>
            <a:r>
              <a:rPr lang="en-US" sz="2000" dirty="0"/>
              <a:t> items look potentially relevant and we try to obtain the full text.</a:t>
            </a:r>
          </a:p>
          <a:p>
            <a:endParaRPr lang="en-US" sz="2000" b="1" dirty="0"/>
          </a:p>
          <a:p>
            <a:r>
              <a:rPr lang="en-US" sz="2000" b="1" dirty="0"/>
              <a:t>Reports sought for retrieval</a:t>
            </a:r>
          </a:p>
          <a:p>
            <a:r>
              <a:rPr lang="en-US" sz="2000" dirty="0"/>
              <a:t>At this point, we attempt to access the full text of the studies that passed screening. This step matters because PRISMA requires transparency about what you could and could not retrieve. In this example, we seek </a:t>
            </a:r>
            <a:r>
              <a:rPr lang="en-US" sz="2000" b="1" dirty="0"/>
              <a:t>90</a:t>
            </a:r>
            <a:r>
              <a:rPr lang="en-US" sz="2000" dirty="0"/>
              <a:t> full-text reports, but </a:t>
            </a:r>
            <a:r>
              <a:rPr lang="en-US" sz="2000" b="1" dirty="0"/>
              <a:t>10</a:t>
            </a:r>
            <a:r>
              <a:rPr lang="en-US" sz="2000" dirty="0"/>
              <a:t> reports are not retrieved (for example, paywalled items you cannot access through your library, missing conference papers, or broken links). That leaves </a:t>
            </a:r>
            <a:r>
              <a:rPr lang="en-US" sz="2000" b="1" dirty="0"/>
              <a:t>80</a:t>
            </a:r>
            <a:r>
              <a:rPr lang="en-US" sz="2000" dirty="0"/>
              <a:t> full texts available to assess properly.</a:t>
            </a:r>
          </a:p>
        </p:txBody>
      </p:sp>
    </p:spTree>
    <p:extLst>
      <p:ext uri="{BB962C8B-B14F-4D97-AF65-F5344CB8AC3E}">
        <p14:creationId xmlns:p14="http://schemas.microsoft.com/office/powerpoint/2010/main" val="133060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80CFD-6E14-C6D2-EBE0-F19E1104EF6C}"/>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D52C3CD9-31F0-9DB1-6427-B83B6C40B57C}"/>
              </a:ext>
            </a:extLst>
          </p:cNvPr>
          <p:cNvSpPr txBox="1"/>
          <p:nvPr/>
        </p:nvSpPr>
        <p:spPr>
          <a:xfrm>
            <a:off x="533400" y="304800"/>
            <a:ext cx="8610600" cy="5539978"/>
          </a:xfrm>
          <a:prstGeom prst="rect">
            <a:avLst/>
          </a:prstGeom>
        </p:spPr>
        <p:txBody>
          <a:bodyPr wrap="square" lIns="0" tIns="0" rIns="0" bIns="0" rtlCol="0" anchor="t">
            <a:spAutoFit/>
          </a:bodyPr>
          <a:lstStyle/>
          <a:p>
            <a:r>
              <a:rPr lang="en-US" sz="2000" b="1" dirty="0"/>
              <a:t>Eligibility</a:t>
            </a:r>
          </a:p>
          <a:p>
            <a:r>
              <a:rPr lang="en-US" sz="2000" dirty="0"/>
              <a:t>Eligibility is the deeper check where you read the full text and decide whether each study truly fits your review question and criteria. In this example, we assess </a:t>
            </a:r>
            <a:r>
              <a:rPr lang="en-US" sz="2000" b="1" dirty="0"/>
              <a:t>80</a:t>
            </a:r>
            <a:r>
              <a:rPr lang="en-US" sz="2000" dirty="0"/>
              <a:t> full-text reports for eligibility and exclude studies that fail the criteria at full-text level. We exclude </a:t>
            </a:r>
            <a:r>
              <a:rPr lang="en-US" sz="2000" b="1" dirty="0"/>
              <a:t>25</a:t>
            </a:r>
            <a:r>
              <a:rPr lang="en-US" sz="2000" dirty="0"/>
              <a:t> reports because they are not about university students, </a:t>
            </a:r>
            <a:r>
              <a:rPr lang="en-US" sz="2000" b="1" dirty="0"/>
              <a:t>18</a:t>
            </a:r>
            <a:r>
              <a:rPr lang="en-US" sz="2000" dirty="0"/>
              <a:t> reports because they do not measure a phishing outcome (for example, only attitudes toward cybersecurity), and </a:t>
            </a:r>
            <a:r>
              <a:rPr lang="en-US" sz="2000" b="1" dirty="0"/>
              <a:t>12</a:t>
            </a:r>
            <a:r>
              <a:rPr lang="en-US" sz="2000" dirty="0"/>
              <a:t> reports because they are not awareness training interventions (for example, they describe a security tool without evaluating training). After full-text exclusions, we keep the studies that genuinely address the question.</a:t>
            </a:r>
          </a:p>
          <a:p>
            <a:endParaRPr lang="en-US" sz="2000" dirty="0"/>
          </a:p>
          <a:p>
            <a:r>
              <a:rPr lang="en-US" sz="2000" b="1" dirty="0"/>
              <a:t>Identification via other methods</a:t>
            </a:r>
          </a:p>
          <a:p>
            <a:r>
              <a:rPr lang="en-US" sz="2000" dirty="0"/>
              <a:t>PRISMA also encourages you to show whether you searched beyond databases, as some relevant evidence may be found through other channels. In this example, we identify </a:t>
            </a:r>
            <a:r>
              <a:rPr lang="en-US" sz="2000" b="1" dirty="0"/>
              <a:t>8</a:t>
            </a:r>
            <a:r>
              <a:rPr lang="en-US" sz="2000" dirty="0"/>
              <a:t> records from websites,</a:t>
            </a:r>
            <a:r>
              <a:rPr lang="en-US" sz="2000" b="1" dirty="0"/>
              <a:t> 3 </a:t>
            </a:r>
            <a:r>
              <a:rPr lang="en-US" sz="2000" dirty="0"/>
              <a:t>from organisations, and </a:t>
            </a:r>
            <a:r>
              <a:rPr lang="en-US" sz="2000" b="1" dirty="0"/>
              <a:t>15</a:t>
            </a:r>
            <a:r>
              <a:rPr lang="en-US" sz="2000" dirty="0"/>
              <a:t> from citation searching, giving </a:t>
            </a:r>
            <a:r>
              <a:rPr lang="en-US" sz="2000" b="1" dirty="0"/>
              <a:t>26</a:t>
            </a:r>
            <a:r>
              <a:rPr lang="en-US" sz="2000" dirty="0"/>
              <a:t> records via other methods. Citation searching is especially useful when you find one strong paper and then check what it cites or who cited it, which can uncover key studies missed by database keywords.</a:t>
            </a:r>
          </a:p>
        </p:txBody>
      </p:sp>
    </p:spTree>
    <p:extLst>
      <p:ext uri="{BB962C8B-B14F-4D97-AF65-F5344CB8AC3E}">
        <p14:creationId xmlns:p14="http://schemas.microsoft.com/office/powerpoint/2010/main" val="3192563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48F87-4D79-39B6-D000-636D47F8B0E0}"/>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8BB70719-163A-8458-6784-98E1007D9959}"/>
              </a:ext>
            </a:extLst>
          </p:cNvPr>
          <p:cNvSpPr txBox="1"/>
          <p:nvPr/>
        </p:nvSpPr>
        <p:spPr>
          <a:xfrm>
            <a:off x="533400" y="304800"/>
            <a:ext cx="8610600" cy="5847755"/>
          </a:xfrm>
          <a:prstGeom prst="rect">
            <a:avLst/>
          </a:prstGeom>
        </p:spPr>
        <p:txBody>
          <a:bodyPr wrap="square" lIns="0" tIns="0" rIns="0" bIns="0" rtlCol="0" anchor="t">
            <a:spAutoFit/>
          </a:bodyPr>
          <a:lstStyle/>
          <a:p>
            <a:r>
              <a:rPr lang="en-US" sz="2000" b="1" dirty="0"/>
              <a:t>Screening and eligibility for other methods</a:t>
            </a:r>
          </a:p>
          <a:p>
            <a:r>
              <a:rPr lang="en-US" sz="2000" dirty="0"/>
              <a:t>These additional records also go through retrieval and eligibility checks. In this example, we seek </a:t>
            </a:r>
            <a:r>
              <a:rPr lang="en-US" sz="2000" b="1" dirty="0"/>
              <a:t>20 reports for retrieval</a:t>
            </a:r>
            <a:r>
              <a:rPr lang="en-US" sz="2000" dirty="0"/>
              <a:t> from other methods and </a:t>
            </a:r>
            <a:r>
              <a:rPr lang="en-US" sz="2000" b="1" dirty="0"/>
              <a:t>2 are not retrieved</a:t>
            </a:r>
            <a:r>
              <a:rPr lang="en-US" sz="2000" dirty="0"/>
              <a:t>, leaving </a:t>
            </a:r>
            <a:r>
              <a:rPr lang="en-US" sz="2000" b="1" dirty="0"/>
              <a:t>18 full texts assessed for eligibility</a:t>
            </a:r>
            <a:r>
              <a:rPr lang="en-US" sz="2000" dirty="0"/>
              <a:t>. We then exclude </a:t>
            </a:r>
            <a:r>
              <a:rPr lang="en-US" sz="2000" b="1" dirty="0"/>
              <a:t>6</a:t>
            </a:r>
            <a:r>
              <a:rPr lang="en-US" sz="2000" dirty="0"/>
              <a:t> because they are </a:t>
            </a:r>
            <a:r>
              <a:rPr lang="en-US" sz="2000" b="1" dirty="0"/>
              <a:t>duplicates of database records</a:t>
            </a:r>
            <a:r>
              <a:rPr lang="en-US" sz="2000" dirty="0"/>
              <a:t>, </a:t>
            </a:r>
            <a:r>
              <a:rPr lang="en-US" sz="2000" b="1" dirty="0"/>
              <a:t>5</a:t>
            </a:r>
            <a:r>
              <a:rPr lang="en-US" sz="2000" dirty="0"/>
              <a:t> because they are </a:t>
            </a:r>
            <a:r>
              <a:rPr lang="en-US" sz="2000" b="1" dirty="0"/>
              <a:t>not empirical studies</a:t>
            </a:r>
            <a:r>
              <a:rPr lang="en-US" sz="2000" dirty="0"/>
              <a:t> (for example, opinion pieces with no method), and </a:t>
            </a:r>
            <a:r>
              <a:rPr lang="en-US" sz="2000" b="1" dirty="0"/>
              <a:t>3</a:t>
            </a:r>
            <a:r>
              <a:rPr lang="en-US" sz="2000" dirty="0"/>
              <a:t> because they have the </a:t>
            </a:r>
            <a:r>
              <a:rPr lang="en-US" sz="2000" b="1" dirty="0"/>
              <a:t>wrong outcome</a:t>
            </a:r>
            <a:r>
              <a:rPr lang="en-US" sz="2000" dirty="0"/>
              <a:t> (for example, general security knowledge without phishing susceptibility measures). This stage shows that “other sources” are treated with the same discipline as database results.</a:t>
            </a:r>
          </a:p>
          <a:p>
            <a:endParaRPr lang="en-US" sz="2000" dirty="0"/>
          </a:p>
          <a:p>
            <a:r>
              <a:rPr lang="en-US" sz="2000" b="1" dirty="0"/>
              <a:t>Included</a:t>
            </a:r>
          </a:p>
          <a:p>
            <a:r>
              <a:rPr lang="en-US" sz="2000" dirty="0"/>
              <a:t>At the end of the process, PRISMA requires you to report what is actually included in your review. In this ICT example, the final set is </a:t>
            </a:r>
            <a:r>
              <a:rPr lang="en-US" sz="2000" b="1" dirty="0"/>
              <a:t>29 studies included in the review</a:t>
            </a:r>
            <a:r>
              <a:rPr lang="en-US" sz="2000" dirty="0"/>
              <a:t>, and there are </a:t>
            </a:r>
            <a:r>
              <a:rPr lang="en-US" sz="2000" b="1" dirty="0"/>
              <a:t>29 reports of included studies</a:t>
            </a:r>
            <a:r>
              <a:rPr lang="en-US" sz="2000" dirty="0"/>
              <a:t>. These are the studies you will extract data from and </a:t>
            </a:r>
            <a:r>
              <a:rPr lang="en-US" sz="2000" dirty="0" err="1"/>
              <a:t>synthesise</a:t>
            </a:r>
            <a:r>
              <a:rPr lang="en-US" sz="2000" dirty="0"/>
              <a:t> to answer your review question about how cybersecurity awareness training affects phishing susceptibility among university students. The key message for students is that inclusion is not about finding the biggest number, it is about finding the most relevant and defensible set of studies through a transparent process.</a:t>
            </a:r>
          </a:p>
        </p:txBody>
      </p:sp>
    </p:spTree>
    <p:extLst>
      <p:ext uri="{BB962C8B-B14F-4D97-AF65-F5344CB8AC3E}">
        <p14:creationId xmlns:p14="http://schemas.microsoft.com/office/powerpoint/2010/main" val="2971790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E63C7-4F59-72AE-2852-0D4657864B03}"/>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2448EB33-7B3F-7125-B9C4-2F9FE2C30649}"/>
              </a:ext>
            </a:extLst>
          </p:cNvPr>
          <p:cNvSpPr txBox="1"/>
          <p:nvPr/>
        </p:nvSpPr>
        <p:spPr>
          <a:xfrm>
            <a:off x="533400" y="304800"/>
            <a:ext cx="8610600" cy="6647974"/>
          </a:xfrm>
          <a:prstGeom prst="rect">
            <a:avLst/>
          </a:prstGeom>
        </p:spPr>
        <p:txBody>
          <a:bodyPr wrap="square" lIns="0" tIns="0" rIns="0" bIns="0" rtlCol="0" anchor="t">
            <a:spAutoFit/>
          </a:bodyPr>
          <a:lstStyle/>
          <a:p>
            <a:r>
              <a:rPr lang="en-US" b="1" dirty="0"/>
              <a:t>Higher Order Tutorial Question</a:t>
            </a:r>
          </a:p>
          <a:p>
            <a:endParaRPr lang="en-US" b="1" dirty="0"/>
          </a:p>
          <a:p>
            <a:r>
              <a:rPr lang="en-US" dirty="0"/>
              <a:t>In the literature review lecture, we learned that a strong review is not a random collection of summaries. It is a structured and critical reading process that helps you move from opinion to (1) ________. When you search, you should translate your topic into keywords and synonyms, then apply (2) ________ so you decide what to keep and what to leave out before you start reading deeply. If your study is a systematic literature review, you must go further by documenting each step transparently so another researcher can follow your process. PRISMA supports this transparency by guiding you to report the flow of records through identification, screening, eligibility, and inclusion, usually using a (3) ________. During screening, you remove irrelevant studies based on titles and abstracts, then confirm fit at full-text stage, keeping clear reasons for exclusion. After inclusion, you pull consistent information from each study into an extraction table, which is called (4) ________, and then you combine evidence by grouping findings into themes rather than writing one paragraph per article, which is known as (5) ________.</a:t>
            </a:r>
          </a:p>
          <a:p>
            <a:endParaRPr lang="en-US" dirty="0"/>
          </a:p>
          <a:p>
            <a:r>
              <a:rPr lang="en-US" dirty="0"/>
              <a:t>Answer Bank (6 options)</a:t>
            </a:r>
          </a:p>
          <a:p>
            <a:pPr marL="342900" indent="-342900">
              <a:buAutoNum type="alphaUcPeriod"/>
            </a:pPr>
            <a:r>
              <a:rPr lang="en-US" dirty="0"/>
              <a:t>synthesis </a:t>
            </a:r>
          </a:p>
          <a:p>
            <a:pPr marL="342900" indent="-342900">
              <a:buAutoNum type="alphaUcPeriod"/>
            </a:pPr>
            <a:r>
              <a:rPr lang="en-US" dirty="0"/>
              <a:t>evidence</a:t>
            </a:r>
          </a:p>
          <a:p>
            <a:pPr marL="342900" indent="-342900">
              <a:buAutoNum type="alphaUcPeriod"/>
            </a:pPr>
            <a:r>
              <a:rPr lang="en-US" dirty="0"/>
              <a:t>inclusion and exclusion criteria</a:t>
            </a:r>
          </a:p>
          <a:p>
            <a:pPr marL="342900" indent="-342900">
              <a:buFontTx/>
              <a:buAutoNum type="alphaUcPeriod"/>
            </a:pPr>
            <a:r>
              <a:rPr lang="en-US" dirty="0"/>
              <a:t>questions </a:t>
            </a:r>
          </a:p>
          <a:p>
            <a:pPr marL="342900" indent="-342900">
              <a:buFontTx/>
              <a:buAutoNum type="alphaUcPeriod"/>
            </a:pPr>
            <a:r>
              <a:rPr lang="en-US" dirty="0"/>
              <a:t>PRISMA flow diagram</a:t>
            </a:r>
          </a:p>
          <a:p>
            <a:pPr marL="342900" indent="-342900">
              <a:buAutoNum type="alphaUcPeriod"/>
            </a:pPr>
            <a:r>
              <a:rPr lang="en-US" dirty="0"/>
              <a:t>data extraction</a:t>
            </a:r>
          </a:p>
          <a:p>
            <a:pPr marL="342900" indent="-342900">
              <a:buAutoNum type="alphaUcPeriod"/>
            </a:pPr>
            <a:endParaRPr lang="en-US" dirty="0"/>
          </a:p>
        </p:txBody>
      </p:sp>
    </p:spTree>
    <p:extLst>
      <p:ext uri="{BB962C8B-B14F-4D97-AF65-F5344CB8AC3E}">
        <p14:creationId xmlns:p14="http://schemas.microsoft.com/office/powerpoint/2010/main" val="4027539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7C94-044B-6D2F-FFAF-337A7A3C42EF}"/>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E58D0EAA-CF24-A229-A947-9229BDDE67A1}"/>
              </a:ext>
            </a:extLst>
          </p:cNvPr>
          <p:cNvSpPr txBox="1"/>
          <p:nvPr/>
        </p:nvSpPr>
        <p:spPr>
          <a:xfrm>
            <a:off x="533400" y="304800"/>
            <a:ext cx="8610600" cy="6647974"/>
          </a:xfrm>
          <a:prstGeom prst="rect">
            <a:avLst/>
          </a:prstGeom>
        </p:spPr>
        <p:txBody>
          <a:bodyPr wrap="square" lIns="0" tIns="0" rIns="0" bIns="0" rtlCol="0" anchor="t">
            <a:spAutoFit/>
          </a:bodyPr>
          <a:lstStyle/>
          <a:p>
            <a:r>
              <a:rPr lang="en-US" b="1" dirty="0"/>
              <a:t>Higher Order Tutorial Question</a:t>
            </a:r>
          </a:p>
          <a:p>
            <a:endParaRPr lang="en-US" b="1" dirty="0"/>
          </a:p>
          <a:p>
            <a:r>
              <a:rPr lang="en-US" dirty="0"/>
              <a:t>In the literature review lecture, we learned that a strong review is not a random collection of summaries. It is a structured and critical reading process that helps you move from opinion to </a:t>
            </a:r>
            <a:r>
              <a:rPr lang="en-US" b="1" dirty="0">
                <a:solidFill>
                  <a:srgbClr val="FF0000"/>
                </a:solidFill>
              </a:rPr>
              <a:t>evidence</a:t>
            </a:r>
            <a:r>
              <a:rPr lang="en-US" dirty="0"/>
              <a:t>. When you search, you should translate your topic into keywords and synonyms, then apply </a:t>
            </a:r>
            <a:r>
              <a:rPr lang="en-US" b="1" dirty="0">
                <a:solidFill>
                  <a:srgbClr val="FF0000"/>
                </a:solidFill>
              </a:rPr>
              <a:t>inclusion and exclusion criteria </a:t>
            </a:r>
            <a:r>
              <a:rPr lang="en-US" dirty="0"/>
              <a:t>so you decide what to keep and what to leave out before you start reading deeply. If your study is a systematic literature review, you must go further by documenting each step transparently so another researcher can follow your process. PRISMA supports this transparency by guiding you to report the flow of records through identification, screening, eligibility, and inclusion, usually using a </a:t>
            </a:r>
            <a:r>
              <a:rPr lang="en-US" b="1" dirty="0">
                <a:solidFill>
                  <a:srgbClr val="FF0000"/>
                </a:solidFill>
              </a:rPr>
              <a:t>PRISMA flow diagram</a:t>
            </a:r>
            <a:r>
              <a:rPr lang="en-US" dirty="0"/>
              <a:t>. During screening, you remove irrelevant studies based on titles and abstracts, then confirm fit at full-text stage, keeping clear reasons for exclusion. After inclusion, you pull consistent information from each study into an extraction table, which is called </a:t>
            </a:r>
            <a:r>
              <a:rPr lang="en-US" b="1" dirty="0">
                <a:solidFill>
                  <a:srgbClr val="FF0000"/>
                </a:solidFill>
              </a:rPr>
              <a:t>data extraction</a:t>
            </a:r>
            <a:r>
              <a:rPr lang="en-US" dirty="0"/>
              <a:t>, and then you combine evidence by grouping findings into themes rather than writing one paragraph per article, which is known as </a:t>
            </a:r>
            <a:r>
              <a:rPr lang="en-US" b="1" dirty="0">
                <a:solidFill>
                  <a:srgbClr val="FF0000"/>
                </a:solidFill>
              </a:rPr>
              <a:t>synthesis.</a:t>
            </a:r>
          </a:p>
          <a:p>
            <a:endParaRPr lang="en-US" dirty="0"/>
          </a:p>
          <a:p>
            <a:r>
              <a:rPr lang="en-US" dirty="0"/>
              <a:t>Answer Bank (6 options)</a:t>
            </a:r>
          </a:p>
          <a:p>
            <a:pPr marL="342900" indent="-342900">
              <a:buAutoNum type="alphaUcPeriod"/>
            </a:pPr>
            <a:r>
              <a:rPr lang="en-US" dirty="0"/>
              <a:t>synthesis </a:t>
            </a:r>
          </a:p>
          <a:p>
            <a:pPr marL="342900" indent="-342900">
              <a:buAutoNum type="alphaUcPeriod"/>
            </a:pPr>
            <a:r>
              <a:rPr lang="en-US" dirty="0"/>
              <a:t>evidence</a:t>
            </a:r>
          </a:p>
          <a:p>
            <a:pPr marL="342900" indent="-342900">
              <a:buAutoNum type="alphaUcPeriod"/>
            </a:pPr>
            <a:r>
              <a:rPr lang="en-US" dirty="0"/>
              <a:t>inclusion and exclusion criteria</a:t>
            </a:r>
          </a:p>
          <a:p>
            <a:pPr marL="342900" indent="-342900">
              <a:buFontTx/>
              <a:buAutoNum type="alphaUcPeriod"/>
            </a:pPr>
            <a:r>
              <a:rPr lang="en-US" dirty="0"/>
              <a:t>questions</a:t>
            </a:r>
          </a:p>
          <a:p>
            <a:pPr marL="342900" indent="-342900">
              <a:buAutoNum type="alphaUcPeriod"/>
            </a:pPr>
            <a:r>
              <a:rPr lang="en-US" dirty="0"/>
              <a:t>PRISMA flow diagram</a:t>
            </a:r>
          </a:p>
          <a:p>
            <a:pPr marL="342900" indent="-342900">
              <a:buAutoNum type="alphaUcPeriod"/>
            </a:pPr>
            <a:r>
              <a:rPr lang="en-US" dirty="0"/>
              <a:t>data extraction</a:t>
            </a:r>
          </a:p>
          <a:p>
            <a:pPr marL="342900" indent="-342900">
              <a:buAutoNum type="alphaUcPeriod"/>
            </a:pPr>
            <a:endParaRPr lang="en-US" dirty="0"/>
          </a:p>
        </p:txBody>
      </p:sp>
    </p:spTree>
    <p:extLst>
      <p:ext uri="{BB962C8B-B14F-4D97-AF65-F5344CB8AC3E}">
        <p14:creationId xmlns:p14="http://schemas.microsoft.com/office/powerpoint/2010/main" val="1280925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96C2B5-4ED4-E5E2-C59E-A41C002B1B77}"/>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F1E1E88D-F755-1E6F-69E7-515B520A69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C95AA5FA-70F4-5C62-E0FB-5E93AC4B1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A12602B6-7B29-44F0-E94D-BDF8348A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13D7631F-0A34-BB73-9281-59B3F52C8673}"/>
              </a:ext>
            </a:extLst>
          </p:cNvPr>
          <p:cNvSpPr txBox="1"/>
          <p:nvPr/>
        </p:nvSpPr>
        <p:spPr>
          <a:xfrm>
            <a:off x="513419" y="200478"/>
            <a:ext cx="8705234" cy="170371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THAT’S IT!!!</a:t>
            </a:r>
          </a:p>
        </p:txBody>
      </p:sp>
      <p:sp>
        <p:nvSpPr>
          <p:cNvPr id="2" name="Teardrop 1">
            <a:extLst>
              <a:ext uri="{FF2B5EF4-FFF2-40B4-BE49-F238E27FC236}">
                <a16:creationId xmlns:a16="http://schemas.microsoft.com/office/drawing/2014/main" id="{291DA750-B011-CF20-7577-A29819038F97}"/>
              </a:ext>
            </a:extLst>
          </p:cNvPr>
          <p:cNvSpPr/>
          <p:nvPr/>
        </p:nvSpPr>
        <p:spPr>
          <a:xfrm rot="19354972">
            <a:off x="6299701" y="4144197"/>
            <a:ext cx="4925191" cy="3413760"/>
          </a:xfrm>
          <a:prstGeom prst="teardrop">
            <a:avLst>
              <a:gd name="adj" fmla="val 82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7">
            <a:extLst>
              <a:ext uri="{FF2B5EF4-FFF2-40B4-BE49-F238E27FC236}">
                <a16:creationId xmlns:a16="http://schemas.microsoft.com/office/drawing/2014/main" id="{5D167841-1E38-661C-B0F9-C74FCC86467E}"/>
              </a:ext>
            </a:extLst>
          </p:cNvPr>
          <p:cNvSpPr txBox="1"/>
          <p:nvPr/>
        </p:nvSpPr>
        <p:spPr>
          <a:xfrm>
            <a:off x="503637" y="2743199"/>
            <a:ext cx="8411763" cy="3914705"/>
          </a:xfrm>
          <a:prstGeom prst="rect">
            <a:avLst/>
          </a:prstGeom>
        </p:spPr>
        <p:txBody>
          <a:bodyPr vert="horz" lIns="91440" tIns="45720" rIns="91440" bIns="45720" rtlCol="0" anchor="t">
            <a:normAutofit/>
          </a:bodyPr>
          <a:lstStyle/>
          <a:p>
            <a:pPr algn="ctr">
              <a:lnSpc>
                <a:spcPct val="90000"/>
              </a:lnSpc>
              <a:spcAft>
                <a:spcPts val="600"/>
              </a:spcAft>
            </a:pPr>
            <a:endParaRPr lang="en-GB" sz="2000" dirty="0">
              <a:solidFill>
                <a:srgbClr val="0070C0"/>
              </a:solidFill>
            </a:endParaRPr>
          </a:p>
          <a:p>
            <a:r>
              <a:rPr lang="en-ZA" sz="2000" dirty="0"/>
              <a:t>This chapter covered the </a:t>
            </a:r>
            <a:r>
              <a:rPr lang="en-US" sz="2000" dirty="0"/>
              <a:t>Literature Review in general, but specifically covered the Systematic Literature Review,</a:t>
            </a:r>
            <a:r>
              <a:rPr lang="en-ZA" sz="2000" dirty="0"/>
              <a:t> which you will use in your Projects 4 subject.</a:t>
            </a:r>
          </a:p>
        </p:txBody>
      </p:sp>
    </p:spTree>
    <p:extLst>
      <p:ext uri="{BB962C8B-B14F-4D97-AF65-F5344CB8AC3E}">
        <p14:creationId xmlns:p14="http://schemas.microsoft.com/office/powerpoint/2010/main" val="2965591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EB97E-9572-FF26-7AEE-D9C2396BE236}"/>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668A1699-CC5A-CF03-5F43-4F686702A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06524ABF-51E3-2C40-A878-764571F14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500C0D9C-1D0D-3FD2-DF71-848FB9400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a:extLst>
              <a:ext uri="{FF2B5EF4-FFF2-40B4-BE49-F238E27FC236}">
                <a16:creationId xmlns:a16="http://schemas.microsoft.com/office/drawing/2014/main" id="{235F8F3E-7C1B-17CB-6292-B83B32620247}"/>
              </a:ext>
            </a:extLst>
          </p:cNvPr>
          <p:cNvSpPr txBox="1"/>
          <p:nvPr/>
        </p:nvSpPr>
        <p:spPr>
          <a:xfrm>
            <a:off x="685800" y="2350279"/>
            <a:ext cx="8411763" cy="4307625"/>
          </a:xfrm>
          <a:prstGeom prst="rect">
            <a:avLst/>
          </a:prstGeom>
        </p:spPr>
        <p:txBody>
          <a:bodyPr vert="horz" lIns="91440" tIns="45720" rIns="91440" bIns="45720" rtlCol="0" anchor="t">
            <a:normAutofit/>
          </a:bodyPr>
          <a:lstStyle/>
          <a:p>
            <a:pPr algn="ctr">
              <a:lnSpc>
                <a:spcPct val="90000"/>
              </a:lnSpc>
              <a:spcAft>
                <a:spcPts val="600"/>
              </a:spcAft>
            </a:pPr>
            <a:endParaRPr lang="en-GB" sz="3600" dirty="0">
              <a:solidFill>
                <a:srgbClr val="0070C0"/>
              </a:solidFill>
            </a:endParaRPr>
          </a:p>
          <a:p>
            <a:pPr algn="ctr">
              <a:lnSpc>
                <a:spcPct val="90000"/>
              </a:lnSpc>
              <a:spcAft>
                <a:spcPts val="600"/>
              </a:spcAft>
            </a:pPr>
            <a:r>
              <a:rPr lang="en-GB" sz="3600" b="1" dirty="0"/>
              <a:t>See you next week </a:t>
            </a:r>
            <a:r>
              <a:rPr lang="en-US" sz="3600" b="1" dirty="0"/>
              <a:t>term!</a:t>
            </a:r>
            <a:endParaRPr lang="en-US" sz="3600" b="1" dirty="0">
              <a:ea typeface="Calibri"/>
              <a:cs typeface="Calibri"/>
            </a:endParaRPr>
          </a:p>
        </p:txBody>
      </p:sp>
      <p:sp>
        <p:nvSpPr>
          <p:cNvPr id="2" name="Teardrop 1">
            <a:extLst>
              <a:ext uri="{FF2B5EF4-FFF2-40B4-BE49-F238E27FC236}">
                <a16:creationId xmlns:a16="http://schemas.microsoft.com/office/drawing/2014/main" id="{CE3E03FE-F656-5FC9-4691-9165278B73E5}"/>
              </a:ext>
            </a:extLst>
          </p:cNvPr>
          <p:cNvSpPr/>
          <p:nvPr/>
        </p:nvSpPr>
        <p:spPr>
          <a:xfrm rot="19354972">
            <a:off x="6489746" y="4103745"/>
            <a:ext cx="4866458" cy="3413760"/>
          </a:xfrm>
          <a:prstGeom prst="teardrop">
            <a:avLst>
              <a:gd name="adj" fmla="val 82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8567072"/>
      </p:ext>
    </p:extLst>
  </p:cSld>
  <p:clrMapOvr>
    <a:masterClrMapping/>
  </p:clrMapOvr>
</p:sld>
</file>

<file path=ppt/theme/theme1.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2357</TotalTime>
  <Words>3704</Words>
  <Application>Microsoft Office PowerPoint</Application>
  <PresentationFormat>Custom</PresentationFormat>
  <Paragraphs>273</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League Spartan</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Human Digital Interaction Presentation 2</dc:title>
  <dc:creator>Errol Francke</dc:creator>
  <cp:lastModifiedBy>Errol Francke</cp:lastModifiedBy>
  <cp:revision>208</cp:revision>
  <dcterms:created xsi:type="dcterms:W3CDTF">2006-08-16T00:00:00Z</dcterms:created>
  <dcterms:modified xsi:type="dcterms:W3CDTF">2026-03-08T11:32:06Z</dcterms:modified>
  <dc:identifier>DAFHmFjtwBk</dc:identifier>
</cp:coreProperties>
</file>