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2"/>
  </p:notesMasterIdLst>
  <p:sldIdLst>
    <p:sldId id="256" r:id="rId2"/>
    <p:sldId id="298" r:id="rId3"/>
    <p:sldId id="347" r:id="rId4"/>
    <p:sldId id="348" r:id="rId5"/>
    <p:sldId id="301" r:id="rId6"/>
    <p:sldId id="265" r:id="rId7"/>
    <p:sldId id="311" r:id="rId8"/>
    <p:sldId id="315" r:id="rId9"/>
    <p:sldId id="349" r:id="rId10"/>
    <p:sldId id="320" r:id="rId11"/>
    <p:sldId id="350" r:id="rId12"/>
    <p:sldId id="326" r:id="rId13"/>
    <p:sldId id="351" r:id="rId14"/>
    <p:sldId id="352" r:id="rId15"/>
    <p:sldId id="353" r:id="rId16"/>
    <p:sldId id="354" r:id="rId17"/>
    <p:sldId id="355" r:id="rId18"/>
    <p:sldId id="356" r:id="rId19"/>
    <p:sldId id="357" r:id="rId20"/>
    <p:sldId id="358" r:id="rId21"/>
    <p:sldId id="359" r:id="rId22"/>
    <p:sldId id="360" r:id="rId23"/>
    <p:sldId id="330" r:id="rId24"/>
    <p:sldId id="361" r:id="rId25"/>
    <p:sldId id="336" r:id="rId26"/>
    <p:sldId id="362" r:id="rId27"/>
    <p:sldId id="363" r:id="rId28"/>
    <p:sldId id="364" r:id="rId29"/>
    <p:sldId id="365" r:id="rId30"/>
    <p:sldId id="366" r:id="rId31"/>
    <p:sldId id="367" r:id="rId32"/>
    <p:sldId id="368" r:id="rId33"/>
    <p:sldId id="339" r:id="rId34"/>
    <p:sldId id="370" r:id="rId35"/>
    <p:sldId id="371" r:id="rId36"/>
    <p:sldId id="373" r:id="rId37"/>
    <p:sldId id="372" r:id="rId38"/>
    <p:sldId id="374" r:id="rId39"/>
    <p:sldId id="369" r:id="rId40"/>
    <p:sldId id="280" r:id="rId41"/>
  </p:sldIdLst>
  <p:sldSz cx="9753600" cy="7315200"/>
  <p:notesSz cx="6858000" cy="9144000"/>
  <p:embeddedFontLst>
    <p:embeddedFont>
      <p:font typeface="League Spartan" pitchFamily="2" charset="77"/>
      <p:regular r:id="rId43"/>
      <p:bold r:id="rId44"/>
    </p:embeddedFont>
    <p:embeddedFont>
      <p:font typeface="Open Sans" panose="020B0606030504020204" pitchFamily="34" charset="0"/>
      <p:regular r:id="rId45"/>
      <p:bold r:id="rId46"/>
      <p:italic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7D6656-72E1-B341-A83B-D89453128F46}" v="141" dt="2026-03-22T11:13:59.0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581" autoAdjust="0"/>
  </p:normalViewPr>
  <p:slideViewPr>
    <p:cSldViewPr>
      <p:cViewPr varScale="1">
        <p:scale>
          <a:sx n="88" d="100"/>
          <a:sy n="88" d="100"/>
        </p:scale>
        <p:origin x="2600" y="-2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rol Francke" userId="1baf5052-8130-4f07-8591-895c85ed967e" providerId="ADAL" clId="{2770844B-FD3E-5261-B270-BCCC5ACA5C5D}"/>
    <pc:docChg chg="undo custSel addSld delSld modSld sldOrd">
      <pc:chgData name="Errol Francke" userId="1baf5052-8130-4f07-8591-895c85ed967e" providerId="ADAL" clId="{2770844B-FD3E-5261-B270-BCCC5ACA5C5D}" dt="2026-03-22T11:16:03.207" v="1158" actId="6549"/>
      <pc:docMkLst>
        <pc:docMk/>
      </pc:docMkLst>
      <pc:sldChg chg="modSp mod">
        <pc:chgData name="Errol Francke" userId="1baf5052-8130-4f07-8591-895c85ed967e" providerId="ADAL" clId="{2770844B-FD3E-5261-B270-BCCC5ACA5C5D}" dt="2026-03-22T10:40:56.209" v="949" actId="1076"/>
        <pc:sldMkLst>
          <pc:docMk/>
          <pc:sldMk cId="588567072" sldId="280"/>
        </pc:sldMkLst>
        <pc:spChg chg="mod">
          <ac:chgData name="Errol Francke" userId="1baf5052-8130-4f07-8591-895c85ed967e" providerId="ADAL" clId="{2770844B-FD3E-5261-B270-BCCC5ACA5C5D}" dt="2026-03-22T10:40:56.209" v="949" actId="1076"/>
          <ac:spMkLst>
            <pc:docMk/>
            <pc:sldMk cId="588567072" sldId="280"/>
            <ac:spMk id="7" creationId="{235F8F3E-7C1B-17CB-6292-B83B32620247}"/>
          </ac:spMkLst>
        </pc:spChg>
      </pc:sldChg>
      <pc:sldChg chg="del">
        <pc:chgData name="Errol Francke" userId="1baf5052-8130-4f07-8591-895c85ed967e" providerId="ADAL" clId="{2770844B-FD3E-5261-B270-BCCC5ACA5C5D}" dt="2026-03-22T07:25:03.069" v="0" actId="2696"/>
        <pc:sldMkLst>
          <pc:docMk/>
          <pc:sldMk cId="1987601380" sldId="312"/>
        </pc:sldMkLst>
      </pc:sldChg>
      <pc:sldChg chg="del">
        <pc:chgData name="Errol Francke" userId="1baf5052-8130-4f07-8591-895c85ed967e" providerId="ADAL" clId="{2770844B-FD3E-5261-B270-BCCC5ACA5C5D}" dt="2026-03-22T07:25:03.069" v="0" actId="2696"/>
        <pc:sldMkLst>
          <pc:docMk/>
          <pc:sldMk cId="4010193048" sldId="313"/>
        </pc:sldMkLst>
      </pc:sldChg>
      <pc:sldChg chg="del">
        <pc:chgData name="Errol Francke" userId="1baf5052-8130-4f07-8591-895c85ed967e" providerId="ADAL" clId="{2770844B-FD3E-5261-B270-BCCC5ACA5C5D}" dt="2026-03-22T07:25:03.069" v="0" actId="2696"/>
        <pc:sldMkLst>
          <pc:docMk/>
          <pc:sldMk cId="3135717592" sldId="314"/>
        </pc:sldMkLst>
      </pc:sldChg>
      <pc:sldChg chg="delSp modSp mod">
        <pc:chgData name="Errol Francke" userId="1baf5052-8130-4f07-8591-895c85ed967e" providerId="ADAL" clId="{2770844B-FD3E-5261-B270-BCCC5ACA5C5D}" dt="2026-03-22T07:28:17.091" v="17" actId="20577"/>
        <pc:sldMkLst>
          <pc:docMk/>
          <pc:sldMk cId="407914939" sldId="315"/>
        </pc:sldMkLst>
        <pc:spChg chg="del">
          <ac:chgData name="Errol Francke" userId="1baf5052-8130-4f07-8591-895c85ed967e" providerId="ADAL" clId="{2770844B-FD3E-5261-B270-BCCC5ACA5C5D}" dt="2026-03-22T07:26:01.693" v="1" actId="478"/>
          <ac:spMkLst>
            <pc:docMk/>
            <pc:sldMk cId="407914939" sldId="315"/>
            <ac:spMk id="4" creationId="{3C3D4999-91B2-6805-E72F-9DC9DB38F44E}"/>
          </ac:spMkLst>
        </pc:spChg>
        <pc:spChg chg="mod">
          <ac:chgData name="Errol Francke" userId="1baf5052-8130-4f07-8591-895c85ed967e" providerId="ADAL" clId="{2770844B-FD3E-5261-B270-BCCC5ACA5C5D}" dt="2026-03-22T07:26:22.164" v="4" actId="14100"/>
          <ac:spMkLst>
            <pc:docMk/>
            <pc:sldMk cId="407914939" sldId="315"/>
            <ac:spMk id="6" creationId="{F45E8549-F82D-FFCF-8E9B-FB769E65CEB1}"/>
          </ac:spMkLst>
        </pc:spChg>
        <pc:spChg chg="mod">
          <ac:chgData name="Errol Francke" userId="1baf5052-8130-4f07-8591-895c85ed967e" providerId="ADAL" clId="{2770844B-FD3E-5261-B270-BCCC5ACA5C5D}" dt="2026-03-22T07:28:17.091" v="17" actId="20577"/>
          <ac:spMkLst>
            <pc:docMk/>
            <pc:sldMk cId="407914939" sldId="315"/>
            <ac:spMk id="7" creationId="{5ED8FFD4-962A-3C17-BEAC-D294FA0D2CE4}"/>
          </ac:spMkLst>
        </pc:spChg>
        <pc:picChg chg="del">
          <ac:chgData name="Errol Francke" userId="1baf5052-8130-4f07-8591-895c85ed967e" providerId="ADAL" clId="{2770844B-FD3E-5261-B270-BCCC5ACA5C5D}" dt="2026-03-22T07:26:01.693" v="1" actId="478"/>
          <ac:picMkLst>
            <pc:docMk/>
            <pc:sldMk cId="407914939" sldId="315"/>
            <ac:picMk id="3" creationId="{124C4429-9888-C5A4-FAA1-34334B214716}"/>
          </ac:picMkLst>
        </pc:picChg>
      </pc:sldChg>
      <pc:sldChg chg="del">
        <pc:chgData name="Errol Francke" userId="1baf5052-8130-4f07-8591-895c85ed967e" providerId="ADAL" clId="{2770844B-FD3E-5261-B270-BCCC5ACA5C5D}" dt="2026-03-22T07:30:01.323" v="18" actId="2696"/>
        <pc:sldMkLst>
          <pc:docMk/>
          <pc:sldMk cId="3651266308" sldId="316"/>
        </pc:sldMkLst>
      </pc:sldChg>
      <pc:sldChg chg="del">
        <pc:chgData name="Errol Francke" userId="1baf5052-8130-4f07-8591-895c85ed967e" providerId="ADAL" clId="{2770844B-FD3E-5261-B270-BCCC5ACA5C5D}" dt="2026-03-22T07:30:01.362" v="21" actId="2696"/>
        <pc:sldMkLst>
          <pc:docMk/>
          <pc:sldMk cId="214777163" sldId="317"/>
        </pc:sldMkLst>
      </pc:sldChg>
      <pc:sldChg chg="del">
        <pc:chgData name="Errol Francke" userId="1baf5052-8130-4f07-8591-895c85ed967e" providerId="ADAL" clId="{2770844B-FD3E-5261-B270-BCCC5ACA5C5D}" dt="2026-03-22T07:30:01.336" v="19" actId="2696"/>
        <pc:sldMkLst>
          <pc:docMk/>
          <pc:sldMk cId="3695424490" sldId="318"/>
        </pc:sldMkLst>
      </pc:sldChg>
      <pc:sldChg chg="del">
        <pc:chgData name="Errol Francke" userId="1baf5052-8130-4f07-8591-895c85ed967e" providerId="ADAL" clId="{2770844B-FD3E-5261-B270-BCCC5ACA5C5D}" dt="2026-03-22T07:30:01.346" v="20" actId="2696"/>
        <pc:sldMkLst>
          <pc:docMk/>
          <pc:sldMk cId="2185993219" sldId="319"/>
        </pc:sldMkLst>
      </pc:sldChg>
      <pc:sldChg chg="delSp modSp mod">
        <pc:chgData name="Errol Francke" userId="1baf5052-8130-4f07-8591-895c85ed967e" providerId="ADAL" clId="{2770844B-FD3E-5261-B270-BCCC5ACA5C5D}" dt="2026-03-22T07:32:29.699" v="49" actId="20577"/>
        <pc:sldMkLst>
          <pc:docMk/>
          <pc:sldMk cId="1601086609" sldId="320"/>
        </pc:sldMkLst>
        <pc:spChg chg="mod">
          <ac:chgData name="Errol Francke" userId="1baf5052-8130-4f07-8591-895c85ed967e" providerId="ADAL" clId="{2770844B-FD3E-5261-B270-BCCC5ACA5C5D}" dt="2026-03-22T07:32:29.699" v="49" actId="20577"/>
          <ac:spMkLst>
            <pc:docMk/>
            <pc:sldMk cId="1601086609" sldId="320"/>
            <ac:spMk id="3" creationId="{80B268AD-3DD0-8B85-A788-745EDA456D9B}"/>
          </ac:spMkLst>
        </pc:spChg>
        <pc:grpChg chg="del mod">
          <ac:chgData name="Errol Francke" userId="1baf5052-8130-4f07-8591-895c85ed967e" providerId="ADAL" clId="{2770844B-FD3E-5261-B270-BCCC5ACA5C5D}" dt="2026-03-22T07:30:08.532" v="23" actId="478"/>
          <ac:grpSpMkLst>
            <pc:docMk/>
            <pc:sldMk cId="1601086609" sldId="320"/>
            <ac:grpSpMk id="4" creationId="{3F8FD911-B010-5AA0-CFAB-35931AD26532}"/>
          </ac:grpSpMkLst>
        </pc:grpChg>
        <pc:picChg chg="del">
          <ac:chgData name="Errol Francke" userId="1baf5052-8130-4f07-8591-895c85ed967e" providerId="ADAL" clId="{2770844B-FD3E-5261-B270-BCCC5ACA5C5D}" dt="2026-03-22T07:30:11.025" v="24" actId="478"/>
          <ac:picMkLst>
            <pc:docMk/>
            <pc:sldMk cId="1601086609" sldId="320"/>
            <ac:picMk id="2" creationId="{11DBAEE7-BF87-94AC-1A23-F0A2F462241E}"/>
          </ac:picMkLst>
        </pc:picChg>
      </pc:sldChg>
      <pc:sldChg chg="del">
        <pc:chgData name="Errol Francke" userId="1baf5052-8130-4f07-8591-895c85ed967e" providerId="ADAL" clId="{2770844B-FD3E-5261-B270-BCCC5ACA5C5D}" dt="2026-03-22T07:36:38.047" v="55" actId="2696"/>
        <pc:sldMkLst>
          <pc:docMk/>
          <pc:sldMk cId="1094283799" sldId="321"/>
        </pc:sldMkLst>
      </pc:sldChg>
      <pc:sldChg chg="del">
        <pc:chgData name="Errol Francke" userId="1baf5052-8130-4f07-8591-895c85ed967e" providerId="ADAL" clId="{2770844B-FD3E-5261-B270-BCCC5ACA5C5D}" dt="2026-03-22T07:36:38.047" v="55" actId="2696"/>
        <pc:sldMkLst>
          <pc:docMk/>
          <pc:sldMk cId="985622737" sldId="322"/>
        </pc:sldMkLst>
      </pc:sldChg>
      <pc:sldChg chg="del">
        <pc:chgData name="Errol Francke" userId="1baf5052-8130-4f07-8591-895c85ed967e" providerId="ADAL" clId="{2770844B-FD3E-5261-B270-BCCC5ACA5C5D}" dt="2026-03-22T07:36:38.047" v="55" actId="2696"/>
        <pc:sldMkLst>
          <pc:docMk/>
          <pc:sldMk cId="1477252701" sldId="323"/>
        </pc:sldMkLst>
      </pc:sldChg>
      <pc:sldChg chg="del">
        <pc:chgData name="Errol Francke" userId="1baf5052-8130-4f07-8591-895c85ed967e" providerId="ADAL" clId="{2770844B-FD3E-5261-B270-BCCC5ACA5C5D}" dt="2026-03-22T07:36:38.047" v="55" actId="2696"/>
        <pc:sldMkLst>
          <pc:docMk/>
          <pc:sldMk cId="3067180288" sldId="324"/>
        </pc:sldMkLst>
      </pc:sldChg>
      <pc:sldChg chg="del">
        <pc:chgData name="Errol Francke" userId="1baf5052-8130-4f07-8591-895c85ed967e" providerId="ADAL" clId="{2770844B-FD3E-5261-B270-BCCC5ACA5C5D}" dt="2026-03-22T07:36:38.047" v="55" actId="2696"/>
        <pc:sldMkLst>
          <pc:docMk/>
          <pc:sldMk cId="3199802325" sldId="325"/>
        </pc:sldMkLst>
      </pc:sldChg>
      <pc:sldChg chg="delSp modSp mod">
        <pc:chgData name="Errol Francke" userId="1baf5052-8130-4f07-8591-895c85ed967e" providerId="ADAL" clId="{2770844B-FD3E-5261-B270-BCCC5ACA5C5D}" dt="2026-03-22T07:49:56.110" v="70" actId="20577"/>
        <pc:sldMkLst>
          <pc:docMk/>
          <pc:sldMk cId="2841976583" sldId="326"/>
        </pc:sldMkLst>
        <pc:spChg chg="del">
          <ac:chgData name="Errol Francke" userId="1baf5052-8130-4f07-8591-895c85ed967e" providerId="ADAL" clId="{2770844B-FD3E-5261-B270-BCCC5ACA5C5D}" dt="2026-03-22T07:36:48.140" v="56" actId="478"/>
          <ac:spMkLst>
            <pc:docMk/>
            <pc:sldMk cId="2841976583" sldId="326"/>
            <ac:spMk id="4" creationId="{7D63392C-5772-14A7-2F5E-843131785CF9}"/>
          </ac:spMkLst>
        </pc:spChg>
        <pc:spChg chg="mod">
          <ac:chgData name="Errol Francke" userId="1baf5052-8130-4f07-8591-895c85ed967e" providerId="ADAL" clId="{2770844B-FD3E-5261-B270-BCCC5ACA5C5D}" dt="2026-03-22T07:37:06.947" v="58"/>
          <ac:spMkLst>
            <pc:docMk/>
            <pc:sldMk cId="2841976583" sldId="326"/>
            <ac:spMk id="6" creationId="{7947421C-7758-0EFD-92F8-579509A346EC}"/>
          </ac:spMkLst>
        </pc:spChg>
        <pc:spChg chg="mod">
          <ac:chgData name="Errol Francke" userId="1baf5052-8130-4f07-8591-895c85ed967e" providerId="ADAL" clId="{2770844B-FD3E-5261-B270-BCCC5ACA5C5D}" dt="2026-03-22T07:49:56.110" v="70" actId="20577"/>
          <ac:spMkLst>
            <pc:docMk/>
            <pc:sldMk cId="2841976583" sldId="326"/>
            <ac:spMk id="7" creationId="{FDC51FC8-9951-15CE-194C-2442F951B0D0}"/>
          </ac:spMkLst>
        </pc:spChg>
        <pc:picChg chg="del">
          <ac:chgData name="Errol Francke" userId="1baf5052-8130-4f07-8591-895c85ed967e" providerId="ADAL" clId="{2770844B-FD3E-5261-B270-BCCC5ACA5C5D}" dt="2026-03-22T07:36:48.140" v="56" actId="478"/>
          <ac:picMkLst>
            <pc:docMk/>
            <pc:sldMk cId="2841976583" sldId="326"/>
            <ac:picMk id="3" creationId="{A1A7B200-4C14-2A8F-5EAD-CEDDE3D4767E}"/>
          </ac:picMkLst>
        </pc:picChg>
      </pc:sldChg>
      <pc:sldChg chg="del">
        <pc:chgData name="Errol Francke" userId="1baf5052-8130-4f07-8591-895c85ed967e" providerId="ADAL" clId="{2770844B-FD3E-5261-B270-BCCC5ACA5C5D}" dt="2026-03-22T07:50:28.947" v="71" actId="2696"/>
        <pc:sldMkLst>
          <pc:docMk/>
          <pc:sldMk cId="2759319589" sldId="327"/>
        </pc:sldMkLst>
      </pc:sldChg>
      <pc:sldChg chg="del">
        <pc:chgData name="Errol Francke" userId="1baf5052-8130-4f07-8591-895c85ed967e" providerId="ADAL" clId="{2770844B-FD3E-5261-B270-BCCC5ACA5C5D}" dt="2026-03-22T07:50:28.947" v="71" actId="2696"/>
        <pc:sldMkLst>
          <pc:docMk/>
          <pc:sldMk cId="2630926131" sldId="328"/>
        </pc:sldMkLst>
      </pc:sldChg>
      <pc:sldChg chg="del">
        <pc:chgData name="Errol Francke" userId="1baf5052-8130-4f07-8591-895c85ed967e" providerId="ADAL" clId="{2770844B-FD3E-5261-B270-BCCC5ACA5C5D}" dt="2026-03-22T07:50:28.947" v="71" actId="2696"/>
        <pc:sldMkLst>
          <pc:docMk/>
          <pc:sldMk cId="719073050" sldId="329"/>
        </pc:sldMkLst>
      </pc:sldChg>
      <pc:sldChg chg="delSp modSp mod">
        <pc:chgData name="Errol Francke" userId="1baf5052-8130-4f07-8591-895c85ed967e" providerId="ADAL" clId="{2770844B-FD3E-5261-B270-BCCC5ACA5C5D}" dt="2026-03-22T09:53:23.897" v="340" actId="20577"/>
        <pc:sldMkLst>
          <pc:docMk/>
          <pc:sldMk cId="2540011905" sldId="330"/>
        </pc:sldMkLst>
        <pc:spChg chg="mod">
          <ac:chgData name="Errol Francke" userId="1baf5052-8130-4f07-8591-895c85ed967e" providerId="ADAL" clId="{2770844B-FD3E-5261-B270-BCCC5ACA5C5D}" dt="2026-03-22T09:53:23.897" v="340" actId="20577"/>
          <ac:spMkLst>
            <pc:docMk/>
            <pc:sldMk cId="2540011905" sldId="330"/>
            <ac:spMk id="3" creationId="{B879823A-D691-4B19-BB00-74DF27378566}"/>
          </ac:spMkLst>
        </pc:spChg>
        <pc:grpChg chg="del">
          <ac:chgData name="Errol Francke" userId="1baf5052-8130-4f07-8591-895c85ed967e" providerId="ADAL" clId="{2770844B-FD3E-5261-B270-BCCC5ACA5C5D}" dt="2026-03-22T09:51:15.552" v="288" actId="478"/>
          <ac:grpSpMkLst>
            <pc:docMk/>
            <pc:sldMk cId="2540011905" sldId="330"/>
            <ac:grpSpMk id="4" creationId="{6F132F16-C81C-4374-C9A4-F61EA6C5D982}"/>
          </ac:grpSpMkLst>
        </pc:grpChg>
        <pc:picChg chg="del">
          <ac:chgData name="Errol Francke" userId="1baf5052-8130-4f07-8591-895c85ed967e" providerId="ADAL" clId="{2770844B-FD3E-5261-B270-BCCC5ACA5C5D}" dt="2026-03-22T09:51:39.504" v="324" actId="478"/>
          <ac:picMkLst>
            <pc:docMk/>
            <pc:sldMk cId="2540011905" sldId="330"/>
            <ac:picMk id="2" creationId="{FD043F62-BD2D-7A4B-3FA5-B8C581DE227D}"/>
          </ac:picMkLst>
        </pc:picChg>
      </pc:sldChg>
      <pc:sldChg chg="del">
        <pc:chgData name="Errol Francke" userId="1baf5052-8130-4f07-8591-895c85ed967e" providerId="ADAL" clId="{2770844B-FD3E-5261-B270-BCCC5ACA5C5D}" dt="2026-03-22T10:03:47.636" v="383" actId="2696"/>
        <pc:sldMkLst>
          <pc:docMk/>
          <pc:sldMk cId="1102434258" sldId="331"/>
        </pc:sldMkLst>
      </pc:sldChg>
      <pc:sldChg chg="del">
        <pc:chgData name="Errol Francke" userId="1baf5052-8130-4f07-8591-895c85ed967e" providerId="ADAL" clId="{2770844B-FD3E-5261-B270-BCCC5ACA5C5D}" dt="2026-03-22T10:03:47.636" v="383" actId="2696"/>
        <pc:sldMkLst>
          <pc:docMk/>
          <pc:sldMk cId="485959044" sldId="332"/>
        </pc:sldMkLst>
      </pc:sldChg>
      <pc:sldChg chg="del">
        <pc:chgData name="Errol Francke" userId="1baf5052-8130-4f07-8591-895c85ed967e" providerId="ADAL" clId="{2770844B-FD3E-5261-B270-BCCC5ACA5C5D}" dt="2026-03-22T10:03:47.636" v="383" actId="2696"/>
        <pc:sldMkLst>
          <pc:docMk/>
          <pc:sldMk cId="2602735755" sldId="333"/>
        </pc:sldMkLst>
      </pc:sldChg>
      <pc:sldChg chg="del">
        <pc:chgData name="Errol Francke" userId="1baf5052-8130-4f07-8591-895c85ed967e" providerId="ADAL" clId="{2770844B-FD3E-5261-B270-BCCC5ACA5C5D}" dt="2026-03-22T10:03:47.636" v="383" actId="2696"/>
        <pc:sldMkLst>
          <pc:docMk/>
          <pc:sldMk cId="2867698331" sldId="334"/>
        </pc:sldMkLst>
      </pc:sldChg>
      <pc:sldChg chg="del">
        <pc:chgData name="Errol Francke" userId="1baf5052-8130-4f07-8591-895c85ed967e" providerId="ADAL" clId="{2770844B-FD3E-5261-B270-BCCC5ACA5C5D}" dt="2026-03-22T10:03:47.636" v="383" actId="2696"/>
        <pc:sldMkLst>
          <pc:docMk/>
          <pc:sldMk cId="3701093222" sldId="335"/>
        </pc:sldMkLst>
      </pc:sldChg>
      <pc:sldChg chg="delSp modSp mod">
        <pc:chgData name="Errol Francke" userId="1baf5052-8130-4f07-8591-895c85ed967e" providerId="ADAL" clId="{2770844B-FD3E-5261-B270-BCCC5ACA5C5D}" dt="2026-03-22T10:14:32.252" v="514" actId="108"/>
        <pc:sldMkLst>
          <pc:docMk/>
          <pc:sldMk cId="2056074878" sldId="336"/>
        </pc:sldMkLst>
        <pc:spChg chg="mod">
          <ac:chgData name="Errol Francke" userId="1baf5052-8130-4f07-8591-895c85ed967e" providerId="ADAL" clId="{2770844B-FD3E-5261-B270-BCCC5ACA5C5D}" dt="2026-03-22T10:14:32.252" v="514" actId="108"/>
          <ac:spMkLst>
            <pc:docMk/>
            <pc:sldMk cId="2056074878" sldId="336"/>
            <ac:spMk id="6" creationId="{74873ED7-BD53-BC24-69D6-9CEF30ECC759}"/>
          </ac:spMkLst>
        </pc:spChg>
        <pc:spChg chg="mod">
          <ac:chgData name="Errol Francke" userId="1baf5052-8130-4f07-8591-895c85ed967e" providerId="ADAL" clId="{2770844B-FD3E-5261-B270-BCCC5ACA5C5D}" dt="2026-03-22T10:13:53.926" v="496" actId="255"/>
          <ac:spMkLst>
            <pc:docMk/>
            <pc:sldMk cId="2056074878" sldId="336"/>
            <ac:spMk id="7" creationId="{768637E9-7C05-CDD3-CF77-CCDCC10BDC79}"/>
          </ac:spMkLst>
        </pc:spChg>
        <pc:spChg chg="del">
          <ac:chgData name="Errol Francke" userId="1baf5052-8130-4f07-8591-895c85ed967e" providerId="ADAL" clId="{2770844B-FD3E-5261-B270-BCCC5ACA5C5D}" dt="2026-03-22T10:04:40.779" v="385" actId="478"/>
          <ac:spMkLst>
            <pc:docMk/>
            <pc:sldMk cId="2056074878" sldId="336"/>
            <ac:spMk id="8" creationId="{FF468356-4A76-D9C6-9B69-5EC2AD4C3D05}"/>
          </ac:spMkLst>
        </pc:spChg>
        <pc:picChg chg="del">
          <ac:chgData name="Errol Francke" userId="1baf5052-8130-4f07-8591-895c85ed967e" providerId="ADAL" clId="{2770844B-FD3E-5261-B270-BCCC5ACA5C5D}" dt="2026-03-22T10:04:37.950" v="384" actId="478"/>
          <ac:picMkLst>
            <pc:docMk/>
            <pc:sldMk cId="2056074878" sldId="336"/>
            <ac:picMk id="3" creationId="{AAEE9814-9D66-50B9-1F06-B953DA4D1B12}"/>
          </ac:picMkLst>
        </pc:picChg>
      </pc:sldChg>
      <pc:sldChg chg="del">
        <pc:chgData name="Errol Francke" userId="1baf5052-8130-4f07-8591-895c85ed967e" providerId="ADAL" clId="{2770844B-FD3E-5261-B270-BCCC5ACA5C5D}" dt="2026-03-22T10:20:42.076" v="630" actId="2696"/>
        <pc:sldMkLst>
          <pc:docMk/>
          <pc:sldMk cId="568108312" sldId="337"/>
        </pc:sldMkLst>
      </pc:sldChg>
      <pc:sldChg chg="del">
        <pc:chgData name="Errol Francke" userId="1baf5052-8130-4f07-8591-895c85ed967e" providerId="ADAL" clId="{2770844B-FD3E-5261-B270-BCCC5ACA5C5D}" dt="2026-03-22T10:20:42.076" v="630" actId="2696"/>
        <pc:sldMkLst>
          <pc:docMk/>
          <pc:sldMk cId="1552034498" sldId="338"/>
        </pc:sldMkLst>
      </pc:sldChg>
      <pc:sldChg chg="addSp delSp modSp mod">
        <pc:chgData name="Errol Francke" userId="1baf5052-8130-4f07-8591-895c85ed967e" providerId="ADAL" clId="{2770844B-FD3E-5261-B270-BCCC5ACA5C5D}" dt="2026-03-22T10:53:41.230" v="1034"/>
        <pc:sldMkLst>
          <pc:docMk/>
          <pc:sldMk cId="2965591994" sldId="339"/>
        </pc:sldMkLst>
        <pc:spChg chg="mod">
          <ac:chgData name="Errol Francke" userId="1baf5052-8130-4f07-8591-895c85ed967e" providerId="ADAL" clId="{2770844B-FD3E-5261-B270-BCCC5ACA5C5D}" dt="2026-03-22T10:38:52.435" v="878" actId="1076"/>
          <ac:spMkLst>
            <pc:docMk/>
            <pc:sldMk cId="2965591994" sldId="339"/>
            <ac:spMk id="2" creationId="{291DA750-B011-CF20-7577-A29819038F97}"/>
          </ac:spMkLst>
        </pc:spChg>
        <pc:spChg chg="add">
          <ac:chgData name="Errol Francke" userId="1baf5052-8130-4f07-8591-895c85ed967e" providerId="ADAL" clId="{2770844B-FD3E-5261-B270-BCCC5ACA5C5D}" dt="2026-03-22T10:37:48.349" v="865"/>
          <ac:spMkLst>
            <pc:docMk/>
            <pc:sldMk cId="2965591994" sldId="339"/>
            <ac:spMk id="3" creationId="{A96AD0A3-3761-F22C-A32C-93A7D3CED05D}"/>
          </ac:spMkLst>
        </pc:spChg>
        <pc:spChg chg="add del mod">
          <ac:chgData name="Errol Francke" userId="1baf5052-8130-4f07-8591-895c85ed967e" providerId="ADAL" clId="{2770844B-FD3E-5261-B270-BCCC5ACA5C5D}" dt="2026-03-22T10:39:51.774" v="946"/>
          <ac:spMkLst>
            <pc:docMk/>
            <pc:sldMk cId="2965591994" sldId="339"/>
            <ac:spMk id="4" creationId="{85EDB04D-C9EA-49BE-0596-674C661E133A}"/>
          </ac:spMkLst>
        </pc:spChg>
        <pc:spChg chg="mod">
          <ac:chgData name="Errol Francke" userId="1baf5052-8130-4f07-8591-895c85ed967e" providerId="ADAL" clId="{2770844B-FD3E-5261-B270-BCCC5ACA5C5D}" dt="2026-03-22T10:48:33.414" v="962" actId="14100"/>
          <ac:spMkLst>
            <pc:docMk/>
            <pc:sldMk cId="2965591994" sldId="339"/>
            <ac:spMk id="6" creationId="{13D7631F-0A34-BB73-9281-59B3F52C8673}"/>
          </ac:spMkLst>
        </pc:spChg>
        <pc:spChg chg="mod">
          <ac:chgData name="Errol Francke" userId="1baf5052-8130-4f07-8591-895c85ed967e" providerId="ADAL" clId="{2770844B-FD3E-5261-B270-BCCC5ACA5C5D}" dt="2026-03-22T10:53:41.230" v="1034"/>
          <ac:spMkLst>
            <pc:docMk/>
            <pc:sldMk cId="2965591994" sldId="339"/>
            <ac:spMk id="7" creationId="{5D167841-1E38-661C-B0F9-C74FCC86467E}"/>
          </ac:spMkLst>
        </pc:spChg>
      </pc:sldChg>
      <pc:sldChg chg="del">
        <pc:chgData name="Errol Francke" userId="1baf5052-8130-4f07-8591-895c85ed967e" providerId="ADAL" clId="{2770844B-FD3E-5261-B270-BCCC5ACA5C5D}" dt="2026-03-22T07:25:03.069" v="0" actId="2696"/>
        <pc:sldMkLst>
          <pc:docMk/>
          <pc:sldMk cId="3133739892" sldId="340"/>
        </pc:sldMkLst>
      </pc:sldChg>
      <pc:sldChg chg="del">
        <pc:chgData name="Errol Francke" userId="1baf5052-8130-4f07-8591-895c85ed967e" providerId="ADAL" clId="{2770844B-FD3E-5261-B270-BCCC5ACA5C5D}" dt="2026-03-22T10:03:47.636" v="383" actId="2696"/>
        <pc:sldMkLst>
          <pc:docMk/>
          <pc:sldMk cId="2971830450" sldId="341"/>
        </pc:sldMkLst>
      </pc:sldChg>
      <pc:sldChg chg="del">
        <pc:chgData name="Errol Francke" userId="1baf5052-8130-4f07-8591-895c85ed967e" providerId="ADAL" clId="{2770844B-FD3E-5261-B270-BCCC5ACA5C5D}" dt="2026-03-22T10:20:42.076" v="630" actId="2696"/>
        <pc:sldMkLst>
          <pc:docMk/>
          <pc:sldMk cId="884122699" sldId="342"/>
        </pc:sldMkLst>
      </pc:sldChg>
      <pc:sldChg chg="del">
        <pc:chgData name="Errol Francke" userId="1baf5052-8130-4f07-8591-895c85ed967e" providerId="ADAL" clId="{2770844B-FD3E-5261-B270-BCCC5ACA5C5D}" dt="2026-03-22T10:20:42.076" v="630" actId="2696"/>
        <pc:sldMkLst>
          <pc:docMk/>
          <pc:sldMk cId="4294653416" sldId="343"/>
        </pc:sldMkLst>
      </pc:sldChg>
      <pc:sldChg chg="del">
        <pc:chgData name="Errol Francke" userId="1baf5052-8130-4f07-8591-895c85ed967e" providerId="ADAL" clId="{2770844B-FD3E-5261-B270-BCCC5ACA5C5D}" dt="2026-03-22T10:20:42.076" v="630" actId="2696"/>
        <pc:sldMkLst>
          <pc:docMk/>
          <pc:sldMk cId="1933465789" sldId="344"/>
        </pc:sldMkLst>
      </pc:sldChg>
      <pc:sldChg chg="del">
        <pc:chgData name="Errol Francke" userId="1baf5052-8130-4f07-8591-895c85ed967e" providerId="ADAL" clId="{2770844B-FD3E-5261-B270-BCCC5ACA5C5D}" dt="2026-03-22T10:20:42.076" v="630" actId="2696"/>
        <pc:sldMkLst>
          <pc:docMk/>
          <pc:sldMk cId="3872511426" sldId="345"/>
        </pc:sldMkLst>
      </pc:sldChg>
      <pc:sldChg chg="del">
        <pc:chgData name="Errol Francke" userId="1baf5052-8130-4f07-8591-895c85ed967e" providerId="ADAL" clId="{2770844B-FD3E-5261-B270-BCCC5ACA5C5D}" dt="2026-03-22T07:25:03.069" v="0" actId="2696"/>
        <pc:sldMkLst>
          <pc:docMk/>
          <pc:sldMk cId="3617506451" sldId="346"/>
        </pc:sldMkLst>
      </pc:sldChg>
      <pc:sldChg chg="modSp add mod">
        <pc:chgData name="Errol Francke" userId="1baf5052-8130-4f07-8591-895c85ed967e" providerId="ADAL" clId="{2770844B-FD3E-5261-B270-BCCC5ACA5C5D}" dt="2026-03-22T07:27:40.055" v="12" actId="113"/>
        <pc:sldMkLst>
          <pc:docMk/>
          <pc:sldMk cId="539778557" sldId="349"/>
        </pc:sldMkLst>
        <pc:spChg chg="mod">
          <ac:chgData name="Errol Francke" userId="1baf5052-8130-4f07-8591-895c85ed967e" providerId="ADAL" clId="{2770844B-FD3E-5261-B270-BCCC5ACA5C5D}" dt="2026-03-22T07:27:40.055" v="12" actId="113"/>
          <ac:spMkLst>
            <pc:docMk/>
            <pc:sldMk cId="539778557" sldId="349"/>
            <ac:spMk id="7" creationId="{893ADD2D-B890-9B03-00DE-11E51297B260}"/>
          </ac:spMkLst>
        </pc:spChg>
      </pc:sldChg>
      <pc:sldChg chg="modSp add mod">
        <pc:chgData name="Errol Francke" userId="1baf5052-8130-4f07-8591-895c85ed967e" providerId="ADAL" clId="{2770844B-FD3E-5261-B270-BCCC5ACA5C5D}" dt="2026-03-22T07:34:52.962" v="54" actId="20577"/>
        <pc:sldMkLst>
          <pc:docMk/>
          <pc:sldMk cId="199067265" sldId="350"/>
        </pc:sldMkLst>
        <pc:spChg chg="mod">
          <ac:chgData name="Errol Francke" userId="1baf5052-8130-4f07-8591-895c85ed967e" providerId="ADAL" clId="{2770844B-FD3E-5261-B270-BCCC5ACA5C5D}" dt="2026-03-22T07:34:52.962" v="54" actId="20577"/>
          <ac:spMkLst>
            <pc:docMk/>
            <pc:sldMk cId="199067265" sldId="350"/>
            <ac:spMk id="3" creationId="{0EA9CA60-450A-526F-9F83-60A3F13493F7}"/>
          </ac:spMkLst>
        </pc:spChg>
      </pc:sldChg>
      <pc:sldChg chg="modSp add mod">
        <pc:chgData name="Errol Francke" userId="1baf5052-8130-4f07-8591-895c85ed967e" providerId="ADAL" clId="{2770844B-FD3E-5261-B270-BCCC5ACA5C5D}" dt="2026-03-22T07:53:59.089" v="108" actId="20577"/>
        <pc:sldMkLst>
          <pc:docMk/>
          <pc:sldMk cId="1340696463" sldId="351"/>
        </pc:sldMkLst>
        <pc:spChg chg="mod">
          <ac:chgData name="Errol Francke" userId="1baf5052-8130-4f07-8591-895c85ed967e" providerId="ADAL" clId="{2770844B-FD3E-5261-B270-BCCC5ACA5C5D}" dt="2026-03-22T07:52:07.641" v="94" actId="20577"/>
          <ac:spMkLst>
            <pc:docMk/>
            <pc:sldMk cId="1340696463" sldId="351"/>
            <ac:spMk id="6" creationId="{6EFFCED3-4F0F-4F37-6502-FB4B8CAD6163}"/>
          </ac:spMkLst>
        </pc:spChg>
        <pc:spChg chg="mod">
          <ac:chgData name="Errol Francke" userId="1baf5052-8130-4f07-8591-895c85ed967e" providerId="ADAL" clId="{2770844B-FD3E-5261-B270-BCCC5ACA5C5D}" dt="2026-03-22T07:53:59.089" v="108" actId="20577"/>
          <ac:spMkLst>
            <pc:docMk/>
            <pc:sldMk cId="1340696463" sldId="351"/>
            <ac:spMk id="7" creationId="{6778CDC1-21A0-4A76-8055-649DB4D34B21}"/>
          </ac:spMkLst>
        </pc:spChg>
      </pc:sldChg>
      <pc:sldChg chg="modSp add mod">
        <pc:chgData name="Errol Francke" userId="1baf5052-8130-4f07-8591-895c85ed967e" providerId="ADAL" clId="{2770844B-FD3E-5261-B270-BCCC5ACA5C5D}" dt="2026-03-22T08:13:36.447" v="227" actId="20577"/>
        <pc:sldMkLst>
          <pc:docMk/>
          <pc:sldMk cId="1264313981" sldId="352"/>
        </pc:sldMkLst>
        <pc:spChg chg="mod">
          <ac:chgData name="Errol Francke" userId="1baf5052-8130-4f07-8591-895c85ed967e" providerId="ADAL" clId="{2770844B-FD3E-5261-B270-BCCC5ACA5C5D}" dt="2026-03-22T08:13:36.447" v="227" actId="20577"/>
          <ac:spMkLst>
            <pc:docMk/>
            <pc:sldMk cId="1264313981" sldId="352"/>
            <ac:spMk id="7" creationId="{3B8F03B0-051A-37AA-72DA-966E1E061685}"/>
          </ac:spMkLst>
        </pc:spChg>
      </pc:sldChg>
      <pc:sldChg chg="modSp add mod">
        <pc:chgData name="Errol Francke" userId="1baf5052-8130-4f07-8591-895c85ed967e" providerId="ADAL" clId="{2770844B-FD3E-5261-B270-BCCC5ACA5C5D}" dt="2026-03-22T08:14:06.187" v="229" actId="20577"/>
        <pc:sldMkLst>
          <pc:docMk/>
          <pc:sldMk cId="1329336302" sldId="353"/>
        </pc:sldMkLst>
        <pc:spChg chg="mod">
          <ac:chgData name="Errol Francke" userId="1baf5052-8130-4f07-8591-895c85ed967e" providerId="ADAL" clId="{2770844B-FD3E-5261-B270-BCCC5ACA5C5D}" dt="2026-03-22T07:54:37.846" v="114" actId="20577"/>
          <ac:spMkLst>
            <pc:docMk/>
            <pc:sldMk cId="1329336302" sldId="353"/>
            <ac:spMk id="6" creationId="{AD801A17-97AB-6438-52B1-E82000779098}"/>
          </ac:spMkLst>
        </pc:spChg>
        <pc:spChg chg="mod">
          <ac:chgData name="Errol Francke" userId="1baf5052-8130-4f07-8591-895c85ed967e" providerId="ADAL" clId="{2770844B-FD3E-5261-B270-BCCC5ACA5C5D}" dt="2026-03-22T08:14:06.187" v="229" actId="20577"/>
          <ac:spMkLst>
            <pc:docMk/>
            <pc:sldMk cId="1329336302" sldId="353"/>
            <ac:spMk id="7" creationId="{DFF66BAF-98F1-8BE7-7FD1-4BEEED165907}"/>
          </ac:spMkLst>
        </pc:spChg>
      </pc:sldChg>
      <pc:sldChg chg="modSp add mod">
        <pc:chgData name="Errol Francke" userId="1baf5052-8130-4f07-8591-895c85ed967e" providerId="ADAL" clId="{2770844B-FD3E-5261-B270-BCCC5ACA5C5D}" dt="2026-03-22T08:14:35.846" v="230" actId="20577"/>
        <pc:sldMkLst>
          <pc:docMk/>
          <pc:sldMk cId="3464469909" sldId="354"/>
        </pc:sldMkLst>
        <pc:spChg chg="mod">
          <ac:chgData name="Errol Francke" userId="1baf5052-8130-4f07-8591-895c85ed967e" providerId="ADAL" clId="{2770844B-FD3E-5261-B270-BCCC5ACA5C5D}" dt="2026-03-22T08:14:35.846" v="230" actId="20577"/>
          <ac:spMkLst>
            <pc:docMk/>
            <pc:sldMk cId="3464469909" sldId="354"/>
            <ac:spMk id="7" creationId="{FF049BCD-1B13-CF2E-B1F3-4463B7BFD37E}"/>
          </ac:spMkLst>
        </pc:spChg>
      </pc:sldChg>
      <pc:sldChg chg="modSp add mod">
        <pc:chgData name="Errol Francke" userId="1baf5052-8130-4f07-8591-895c85ed967e" providerId="ADAL" clId="{2770844B-FD3E-5261-B270-BCCC5ACA5C5D}" dt="2026-03-22T07:58:49.425" v="149" actId="12"/>
        <pc:sldMkLst>
          <pc:docMk/>
          <pc:sldMk cId="1065001770" sldId="355"/>
        </pc:sldMkLst>
        <pc:spChg chg="mod">
          <ac:chgData name="Errol Francke" userId="1baf5052-8130-4f07-8591-895c85ed967e" providerId="ADAL" clId="{2770844B-FD3E-5261-B270-BCCC5ACA5C5D}" dt="2026-03-22T07:57:36.063" v="140" actId="20577"/>
          <ac:spMkLst>
            <pc:docMk/>
            <pc:sldMk cId="1065001770" sldId="355"/>
            <ac:spMk id="6" creationId="{44176D06-E425-A730-2EA2-A97A9AEA6114}"/>
          </ac:spMkLst>
        </pc:spChg>
        <pc:spChg chg="mod">
          <ac:chgData name="Errol Francke" userId="1baf5052-8130-4f07-8591-895c85ed967e" providerId="ADAL" clId="{2770844B-FD3E-5261-B270-BCCC5ACA5C5D}" dt="2026-03-22T07:58:49.425" v="149" actId="12"/>
          <ac:spMkLst>
            <pc:docMk/>
            <pc:sldMk cId="1065001770" sldId="355"/>
            <ac:spMk id="7" creationId="{D9FDFB14-B670-7E27-C291-F9A40AB12039}"/>
          </ac:spMkLst>
        </pc:spChg>
      </pc:sldChg>
      <pc:sldChg chg="modSp add mod">
        <pc:chgData name="Errol Francke" userId="1baf5052-8130-4f07-8591-895c85ed967e" providerId="ADAL" clId="{2770844B-FD3E-5261-B270-BCCC5ACA5C5D}" dt="2026-03-22T09:40:03.373" v="240" actId="20577"/>
        <pc:sldMkLst>
          <pc:docMk/>
          <pc:sldMk cId="109495646" sldId="356"/>
        </pc:sldMkLst>
        <pc:spChg chg="mod">
          <ac:chgData name="Errol Francke" userId="1baf5052-8130-4f07-8591-895c85ed967e" providerId="ADAL" clId="{2770844B-FD3E-5261-B270-BCCC5ACA5C5D}" dt="2026-03-22T09:40:03.373" v="240" actId="20577"/>
          <ac:spMkLst>
            <pc:docMk/>
            <pc:sldMk cId="109495646" sldId="356"/>
            <ac:spMk id="7" creationId="{CEE2DA52-E511-5A93-C637-0F99A5CB99E4}"/>
          </ac:spMkLst>
        </pc:spChg>
      </pc:sldChg>
      <pc:sldChg chg="modSp add mod">
        <pc:chgData name="Errol Francke" userId="1baf5052-8130-4f07-8591-895c85ed967e" providerId="ADAL" clId="{2770844B-FD3E-5261-B270-BCCC5ACA5C5D}" dt="2026-03-22T08:02:20.147" v="180" actId="20577"/>
        <pc:sldMkLst>
          <pc:docMk/>
          <pc:sldMk cId="4213540307" sldId="357"/>
        </pc:sldMkLst>
        <pc:spChg chg="mod">
          <ac:chgData name="Errol Francke" userId="1baf5052-8130-4f07-8591-895c85ed967e" providerId="ADAL" clId="{2770844B-FD3E-5261-B270-BCCC5ACA5C5D}" dt="2026-03-22T08:01:05.969" v="165" actId="20577"/>
          <ac:spMkLst>
            <pc:docMk/>
            <pc:sldMk cId="4213540307" sldId="357"/>
            <ac:spMk id="6" creationId="{4718420D-159D-129A-2302-55B2F096D323}"/>
          </ac:spMkLst>
        </pc:spChg>
        <pc:spChg chg="mod">
          <ac:chgData name="Errol Francke" userId="1baf5052-8130-4f07-8591-895c85ed967e" providerId="ADAL" clId="{2770844B-FD3E-5261-B270-BCCC5ACA5C5D}" dt="2026-03-22T08:02:20.147" v="180" actId="20577"/>
          <ac:spMkLst>
            <pc:docMk/>
            <pc:sldMk cId="4213540307" sldId="357"/>
            <ac:spMk id="7" creationId="{C10978E8-43ED-B772-1296-2216AF935046}"/>
          </ac:spMkLst>
        </pc:spChg>
      </pc:sldChg>
      <pc:sldChg chg="modSp add mod">
        <pc:chgData name="Errol Francke" userId="1baf5052-8130-4f07-8591-895c85ed967e" providerId="ADAL" clId="{2770844B-FD3E-5261-B270-BCCC5ACA5C5D}" dt="2026-03-22T09:40:43.029" v="249" actId="20577"/>
        <pc:sldMkLst>
          <pc:docMk/>
          <pc:sldMk cId="1208503358" sldId="358"/>
        </pc:sldMkLst>
        <pc:spChg chg="mod">
          <ac:chgData name="Errol Francke" userId="1baf5052-8130-4f07-8591-895c85ed967e" providerId="ADAL" clId="{2770844B-FD3E-5261-B270-BCCC5ACA5C5D}" dt="2026-03-22T09:40:43.029" v="249" actId="20577"/>
          <ac:spMkLst>
            <pc:docMk/>
            <pc:sldMk cId="1208503358" sldId="358"/>
            <ac:spMk id="7" creationId="{BC74BB2D-C5DB-8278-4623-1AD64364440F}"/>
          </ac:spMkLst>
        </pc:spChg>
      </pc:sldChg>
      <pc:sldChg chg="modSp add mod">
        <pc:chgData name="Errol Francke" userId="1baf5052-8130-4f07-8591-895c85ed967e" providerId="ADAL" clId="{2770844B-FD3E-5261-B270-BCCC5ACA5C5D}" dt="2026-03-22T09:46:01.382" v="269" actId="20577"/>
        <pc:sldMkLst>
          <pc:docMk/>
          <pc:sldMk cId="83044035" sldId="359"/>
        </pc:sldMkLst>
        <pc:spChg chg="mod">
          <ac:chgData name="Errol Francke" userId="1baf5052-8130-4f07-8591-895c85ed967e" providerId="ADAL" clId="{2770844B-FD3E-5261-B270-BCCC5ACA5C5D}" dt="2026-03-22T09:44:31.880" v="257" actId="255"/>
          <ac:spMkLst>
            <pc:docMk/>
            <pc:sldMk cId="83044035" sldId="359"/>
            <ac:spMk id="6" creationId="{084371C3-9DA9-B459-8B16-6E9FF69F799E}"/>
          </ac:spMkLst>
        </pc:spChg>
        <pc:spChg chg="mod">
          <ac:chgData name="Errol Francke" userId="1baf5052-8130-4f07-8591-895c85ed967e" providerId="ADAL" clId="{2770844B-FD3E-5261-B270-BCCC5ACA5C5D}" dt="2026-03-22T09:46:01.382" v="269" actId="20577"/>
          <ac:spMkLst>
            <pc:docMk/>
            <pc:sldMk cId="83044035" sldId="359"/>
            <ac:spMk id="7" creationId="{3BD69EEC-4BB6-C76E-4270-F71A9DCAD863}"/>
          </ac:spMkLst>
        </pc:spChg>
      </pc:sldChg>
      <pc:sldChg chg="modSp add mod">
        <pc:chgData name="Errol Francke" userId="1baf5052-8130-4f07-8591-895c85ed967e" providerId="ADAL" clId="{2770844B-FD3E-5261-B270-BCCC5ACA5C5D}" dt="2026-03-22T09:49:41.691" v="287" actId="255"/>
        <pc:sldMkLst>
          <pc:docMk/>
          <pc:sldMk cId="4052407864" sldId="360"/>
        </pc:sldMkLst>
        <pc:spChg chg="mod">
          <ac:chgData name="Errol Francke" userId="1baf5052-8130-4f07-8591-895c85ed967e" providerId="ADAL" clId="{2770844B-FD3E-5261-B270-BCCC5ACA5C5D}" dt="2026-03-22T09:49:41.691" v="287" actId="255"/>
          <ac:spMkLst>
            <pc:docMk/>
            <pc:sldMk cId="4052407864" sldId="360"/>
            <ac:spMk id="7" creationId="{3BDA7B36-2DA8-597D-02BA-F362C27C7061}"/>
          </ac:spMkLst>
        </pc:spChg>
      </pc:sldChg>
      <pc:sldChg chg="modSp add mod">
        <pc:chgData name="Errol Francke" userId="1baf5052-8130-4f07-8591-895c85ed967e" providerId="ADAL" clId="{2770844B-FD3E-5261-B270-BCCC5ACA5C5D}" dt="2026-03-22T09:56:10.928" v="382" actId="313"/>
        <pc:sldMkLst>
          <pc:docMk/>
          <pc:sldMk cId="845045951" sldId="361"/>
        </pc:sldMkLst>
        <pc:spChg chg="mod">
          <ac:chgData name="Errol Francke" userId="1baf5052-8130-4f07-8591-895c85ed967e" providerId="ADAL" clId="{2770844B-FD3E-5261-B270-BCCC5ACA5C5D}" dt="2026-03-22T09:56:10.928" v="382" actId="313"/>
          <ac:spMkLst>
            <pc:docMk/>
            <pc:sldMk cId="845045951" sldId="361"/>
            <ac:spMk id="3" creationId="{DBC1735C-D33C-EA98-426E-87BA5D808358}"/>
          </ac:spMkLst>
        </pc:spChg>
      </pc:sldChg>
      <pc:sldChg chg="modSp add mod">
        <pc:chgData name="Errol Francke" userId="1baf5052-8130-4f07-8591-895c85ed967e" providerId="ADAL" clId="{2770844B-FD3E-5261-B270-BCCC5ACA5C5D}" dt="2026-03-22T10:15:56.791" v="540" actId="113"/>
        <pc:sldMkLst>
          <pc:docMk/>
          <pc:sldMk cId="3391141590" sldId="362"/>
        </pc:sldMkLst>
        <pc:spChg chg="mod">
          <ac:chgData name="Errol Francke" userId="1baf5052-8130-4f07-8591-895c85ed967e" providerId="ADAL" clId="{2770844B-FD3E-5261-B270-BCCC5ACA5C5D}" dt="2026-03-22T10:15:24.333" v="538" actId="20577"/>
          <ac:spMkLst>
            <pc:docMk/>
            <pc:sldMk cId="3391141590" sldId="362"/>
            <ac:spMk id="6" creationId="{024AFD81-FB98-9FCE-5AD6-DC5665F7999F}"/>
          </ac:spMkLst>
        </pc:spChg>
        <pc:spChg chg="mod">
          <ac:chgData name="Errol Francke" userId="1baf5052-8130-4f07-8591-895c85ed967e" providerId="ADAL" clId="{2770844B-FD3E-5261-B270-BCCC5ACA5C5D}" dt="2026-03-22T10:15:56.791" v="540" actId="113"/>
          <ac:spMkLst>
            <pc:docMk/>
            <pc:sldMk cId="3391141590" sldId="362"/>
            <ac:spMk id="7" creationId="{465CE57B-F0D7-17BE-817E-82450B7C1BD5}"/>
          </ac:spMkLst>
        </pc:spChg>
      </pc:sldChg>
      <pc:sldChg chg="modSp add mod">
        <pc:chgData name="Errol Francke" userId="1baf5052-8130-4f07-8591-895c85ed967e" providerId="ADAL" clId="{2770844B-FD3E-5261-B270-BCCC5ACA5C5D}" dt="2026-03-22T10:17:22.554" v="556" actId="113"/>
        <pc:sldMkLst>
          <pc:docMk/>
          <pc:sldMk cId="2323849493" sldId="363"/>
        </pc:sldMkLst>
        <pc:spChg chg="mod">
          <ac:chgData name="Errol Francke" userId="1baf5052-8130-4f07-8591-895c85ed967e" providerId="ADAL" clId="{2770844B-FD3E-5261-B270-BCCC5ACA5C5D}" dt="2026-03-22T10:16:34.424" v="552" actId="20577"/>
          <ac:spMkLst>
            <pc:docMk/>
            <pc:sldMk cId="2323849493" sldId="363"/>
            <ac:spMk id="6" creationId="{82C481C2-E8E9-826A-B745-5CDEFED314C8}"/>
          </ac:spMkLst>
        </pc:spChg>
        <pc:spChg chg="mod">
          <ac:chgData name="Errol Francke" userId="1baf5052-8130-4f07-8591-895c85ed967e" providerId="ADAL" clId="{2770844B-FD3E-5261-B270-BCCC5ACA5C5D}" dt="2026-03-22T10:17:22.554" v="556" actId="113"/>
          <ac:spMkLst>
            <pc:docMk/>
            <pc:sldMk cId="2323849493" sldId="363"/>
            <ac:spMk id="7" creationId="{E0FCFBFA-B8D5-E68B-B6B1-9DDAA89E2DC6}"/>
          </ac:spMkLst>
        </pc:spChg>
      </pc:sldChg>
      <pc:sldChg chg="modSp add mod">
        <pc:chgData name="Errol Francke" userId="1baf5052-8130-4f07-8591-895c85ed967e" providerId="ADAL" clId="{2770844B-FD3E-5261-B270-BCCC5ACA5C5D}" dt="2026-03-22T10:18:16.767" v="567" actId="108"/>
        <pc:sldMkLst>
          <pc:docMk/>
          <pc:sldMk cId="77673684" sldId="364"/>
        </pc:sldMkLst>
        <pc:spChg chg="mod">
          <ac:chgData name="Errol Francke" userId="1baf5052-8130-4f07-8591-895c85ed967e" providerId="ADAL" clId="{2770844B-FD3E-5261-B270-BCCC5ACA5C5D}" dt="2026-03-22T10:17:53.116" v="565" actId="20577"/>
          <ac:spMkLst>
            <pc:docMk/>
            <pc:sldMk cId="77673684" sldId="364"/>
            <ac:spMk id="6" creationId="{B983428A-573A-41F0-1338-6A5B54B1EB09}"/>
          </ac:spMkLst>
        </pc:spChg>
        <pc:spChg chg="mod">
          <ac:chgData name="Errol Francke" userId="1baf5052-8130-4f07-8591-895c85ed967e" providerId="ADAL" clId="{2770844B-FD3E-5261-B270-BCCC5ACA5C5D}" dt="2026-03-22T10:18:16.767" v="567" actId="108"/>
          <ac:spMkLst>
            <pc:docMk/>
            <pc:sldMk cId="77673684" sldId="364"/>
            <ac:spMk id="7" creationId="{723624F5-66CD-58B2-BC9E-2A037F1315A7}"/>
          </ac:spMkLst>
        </pc:spChg>
      </pc:sldChg>
      <pc:sldChg chg="modSp add mod">
        <pc:chgData name="Errol Francke" userId="1baf5052-8130-4f07-8591-895c85ed967e" providerId="ADAL" clId="{2770844B-FD3E-5261-B270-BCCC5ACA5C5D}" dt="2026-03-22T10:20:05.366" v="629" actId="108"/>
        <pc:sldMkLst>
          <pc:docMk/>
          <pc:sldMk cId="1727288018" sldId="365"/>
        </pc:sldMkLst>
        <pc:spChg chg="mod">
          <ac:chgData name="Errol Francke" userId="1baf5052-8130-4f07-8591-895c85ed967e" providerId="ADAL" clId="{2770844B-FD3E-5261-B270-BCCC5ACA5C5D}" dt="2026-03-22T10:19:34.505" v="625" actId="313"/>
          <ac:spMkLst>
            <pc:docMk/>
            <pc:sldMk cId="1727288018" sldId="365"/>
            <ac:spMk id="6" creationId="{E0B6898C-A934-3F05-2C73-5EB337839B28}"/>
          </ac:spMkLst>
        </pc:spChg>
        <pc:spChg chg="mod">
          <ac:chgData name="Errol Francke" userId="1baf5052-8130-4f07-8591-895c85ed967e" providerId="ADAL" clId="{2770844B-FD3E-5261-B270-BCCC5ACA5C5D}" dt="2026-03-22T10:20:05.366" v="629" actId="108"/>
          <ac:spMkLst>
            <pc:docMk/>
            <pc:sldMk cId="1727288018" sldId="365"/>
            <ac:spMk id="7" creationId="{3894C88A-394F-409E-76F1-8D8286F1F905}"/>
          </ac:spMkLst>
        </pc:spChg>
      </pc:sldChg>
      <pc:sldChg chg="modSp add mod ord">
        <pc:chgData name="Errol Francke" userId="1baf5052-8130-4f07-8591-895c85ed967e" providerId="ADAL" clId="{2770844B-FD3E-5261-B270-BCCC5ACA5C5D}" dt="2026-03-22T10:27:30.106" v="704" actId="20577"/>
        <pc:sldMkLst>
          <pc:docMk/>
          <pc:sldMk cId="776735812" sldId="366"/>
        </pc:sldMkLst>
        <pc:spChg chg="mod">
          <ac:chgData name="Errol Francke" userId="1baf5052-8130-4f07-8591-895c85ed967e" providerId="ADAL" clId="{2770844B-FD3E-5261-B270-BCCC5ACA5C5D}" dt="2026-03-22T10:27:30.106" v="704" actId="20577"/>
          <ac:spMkLst>
            <pc:docMk/>
            <pc:sldMk cId="776735812" sldId="366"/>
            <ac:spMk id="3" creationId="{F0F838AD-9276-8E4F-05EA-B9BB71071836}"/>
          </ac:spMkLst>
        </pc:spChg>
      </pc:sldChg>
      <pc:sldChg chg="addSp delSp modSp add mod">
        <pc:chgData name="Errol Francke" userId="1baf5052-8130-4f07-8591-895c85ed967e" providerId="ADAL" clId="{2770844B-FD3E-5261-B270-BCCC5ACA5C5D}" dt="2026-03-22T10:34:26.991" v="765"/>
        <pc:sldMkLst>
          <pc:docMk/>
          <pc:sldMk cId="171546012" sldId="367"/>
        </pc:sldMkLst>
        <pc:spChg chg="add">
          <ac:chgData name="Errol Francke" userId="1baf5052-8130-4f07-8591-895c85ed967e" providerId="ADAL" clId="{2770844B-FD3E-5261-B270-BCCC5ACA5C5D}" dt="2026-03-22T10:29:37.099" v="727"/>
          <ac:spMkLst>
            <pc:docMk/>
            <pc:sldMk cId="171546012" sldId="367"/>
            <ac:spMk id="2" creationId="{229C0570-7BBE-419D-9E80-4044F4700398}"/>
          </ac:spMkLst>
        </pc:spChg>
        <pc:spChg chg="mod">
          <ac:chgData name="Errol Francke" userId="1baf5052-8130-4f07-8591-895c85ed967e" providerId="ADAL" clId="{2770844B-FD3E-5261-B270-BCCC5ACA5C5D}" dt="2026-03-22T10:34:16.820" v="763" actId="113"/>
          <ac:spMkLst>
            <pc:docMk/>
            <pc:sldMk cId="171546012" sldId="367"/>
            <ac:spMk id="3" creationId="{F5D0B3D7-C954-6715-5381-B826D35FE1A4}"/>
          </ac:spMkLst>
        </pc:spChg>
        <pc:spChg chg="add mod">
          <ac:chgData name="Errol Francke" userId="1baf5052-8130-4f07-8591-895c85ed967e" providerId="ADAL" clId="{2770844B-FD3E-5261-B270-BCCC5ACA5C5D}" dt="2026-03-22T10:30:04.808" v="731"/>
          <ac:spMkLst>
            <pc:docMk/>
            <pc:sldMk cId="171546012" sldId="367"/>
            <ac:spMk id="4" creationId="{C30FB729-710E-58A3-831D-EE16D3EAD8AF}"/>
          </ac:spMkLst>
        </pc:spChg>
        <pc:spChg chg="add mod">
          <ac:chgData name="Errol Francke" userId="1baf5052-8130-4f07-8591-895c85ed967e" providerId="ADAL" clId="{2770844B-FD3E-5261-B270-BCCC5ACA5C5D}" dt="2026-03-22T10:30:03.529" v="730"/>
          <ac:spMkLst>
            <pc:docMk/>
            <pc:sldMk cId="171546012" sldId="367"/>
            <ac:spMk id="8" creationId="{25D2EBEC-BAF3-4F60-5081-82F6C636D123}"/>
          </ac:spMkLst>
        </pc:spChg>
        <pc:spChg chg="add">
          <ac:chgData name="Errol Francke" userId="1baf5052-8130-4f07-8591-895c85ed967e" providerId="ADAL" clId="{2770844B-FD3E-5261-B270-BCCC5ACA5C5D}" dt="2026-03-22T10:30:22.691" v="739"/>
          <ac:spMkLst>
            <pc:docMk/>
            <pc:sldMk cId="171546012" sldId="367"/>
            <ac:spMk id="9" creationId="{86104418-730A-80B2-DB22-67148119323C}"/>
          </ac:spMkLst>
        </pc:spChg>
        <pc:spChg chg="add del mod">
          <ac:chgData name="Errol Francke" userId="1baf5052-8130-4f07-8591-895c85ed967e" providerId="ADAL" clId="{2770844B-FD3E-5261-B270-BCCC5ACA5C5D}" dt="2026-03-22T10:30:48.650" v="743" actId="478"/>
          <ac:spMkLst>
            <pc:docMk/>
            <pc:sldMk cId="171546012" sldId="367"/>
            <ac:spMk id="10" creationId="{40AAA363-E8B5-7CAB-3A19-D3EF05169982}"/>
          </ac:spMkLst>
        </pc:spChg>
        <pc:spChg chg="add">
          <ac:chgData name="Errol Francke" userId="1baf5052-8130-4f07-8591-895c85ed967e" providerId="ADAL" clId="{2770844B-FD3E-5261-B270-BCCC5ACA5C5D}" dt="2026-03-22T10:31:02.190" v="744"/>
          <ac:spMkLst>
            <pc:docMk/>
            <pc:sldMk cId="171546012" sldId="367"/>
            <ac:spMk id="12" creationId="{905467A1-E68E-D1F4-F695-7856DDD22EAF}"/>
          </ac:spMkLst>
        </pc:spChg>
        <pc:spChg chg="add mod">
          <ac:chgData name="Errol Francke" userId="1baf5052-8130-4f07-8591-895c85ed967e" providerId="ADAL" clId="{2770844B-FD3E-5261-B270-BCCC5ACA5C5D}" dt="2026-03-22T10:31:18.733" v="748" actId="767"/>
          <ac:spMkLst>
            <pc:docMk/>
            <pc:sldMk cId="171546012" sldId="367"/>
            <ac:spMk id="154" creationId="{708EDBBE-3AE3-5D6C-767A-26F02773C0A6}"/>
          </ac:spMkLst>
        </pc:spChg>
        <pc:spChg chg="add">
          <ac:chgData name="Errol Francke" userId="1baf5052-8130-4f07-8591-895c85ed967e" providerId="ADAL" clId="{2770844B-FD3E-5261-B270-BCCC5ACA5C5D}" dt="2026-03-22T10:31:13.789" v="747"/>
          <ac:spMkLst>
            <pc:docMk/>
            <pc:sldMk cId="171546012" sldId="367"/>
            <ac:spMk id="158" creationId="{17F26756-9464-5DB0-B037-21BC89D7A9F7}"/>
          </ac:spMkLst>
        </pc:spChg>
        <pc:spChg chg="add del mod">
          <ac:chgData name="Errol Francke" userId="1baf5052-8130-4f07-8591-895c85ed967e" providerId="ADAL" clId="{2770844B-FD3E-5261-B270-BCCC5ACA5C5D}" dt="2026-03-22T10:34:26.991" v="765"/>
          <ac:spMkLst>
            <pc:docMk/>
            <pc:sldMk cId="171546012" sldId="367"/>
            <ac:spMk id="160" creationId="{E2522182-3E83-290E-2115-EFA6C9FE10DE}"/>
          </ac:spMkLst>
        </pc:spChg>
        <pc:spChg chg="add mod">
          <ac:chgData name="Errol Francke" userId="1baf5052-8130-4f07-8591-895c85ed967e" providerId="ADAL" clId="{2770844B-FD3E-5261-B270-BCCC5ACA5C5D}" dt="2026-03-22T10:31:48.147" v="752"/>
          <ac:spMkLst>
            <pc:docMk/>
            <pc:sldMk cId="171546012" sldId="367"/>
            <ac:spMk id="162" creationId="{A30C96F9-EA76-23E8-6334-8D1E654D3414}"/>
          </ac:spMkLst>
        </pc:spChg>
      </pc:sldChg>
      <pc:sldChg chg="addSp delSp modSp add mod">
        <pc:chgData name="Errol Francke" userId="1baf5052-8130-4f07-8591-895c85ed967e" providerId="ADAL" clId="{2770844B-FD3E-5261-B270-BCCC5ACA5C5D}" dt="2026-03-22T10:37:40.466" v="864"/>
        <pc:sldMkLst>
          <pc:docMk/>
          <pc:sldMk cId="1131443653" sldId="368"/>
        </pc:sldMkLst>
        <pc:spChg chg="add del mod">
          <ac:chgData name="Errol Francke" userId="1baf5052-8130-4f07-8591-895c85ed967e" providerId="ADAL" clId="{2770844B-FD3E-5261-B270-BCCC5ACA5C5D}" dt="2026-03-22T10:37:40.466" v="864"/>
          <ac:spMkLst>
            <pc:docMk/>
            <pc:sldMk cId="1131443653" sldId="368"/>
            <ac:spMk id="2" creationId="{76E46319-91D3-FAAF-0B01-2426088585AF}"/>
          </ac:spMkLst>
        </pc:spChg>
        <pc:spChg chg="mod">
          <ac:chgData name="Errol Francke" userId="1baf5052-8130-4f07-8591-895c85ed967e" providerId="ADAL" clId="{2770844B-FD3E-5261-B270-BCCC5ACA5C5D}" dt="2026-03-22T10:37:01.224" v="862" actId="20577"/>
          <ac:spMkLst>
            <pc:docMk/>
            <pc:sldMk cId="1131443653" sldId="368"/>
            <ac:spMk id="3" creationId="{AB09B974-DF6F-AC2B-2F37-D4CB0762A22B}"/>
          </ac:spMkLst>
        </pc:spChg>
      </pc:sldChg>
      <pc:sldChg chg="add">
        <pc:chgData name="Errol Francke" userId="1baf5052-8130-4f07-8591-895c85ed967e" providerId="ADAL" clId="{2770844B-FD3E-5261-B270-BCCC5ACA5C5D}" dt="2026-03-22T10:48:20.474" v="950" actId="2890"/>
        <pc:sldMkLst>
          <pc:docMk/>
          <pc:sldMk cId="2175388040" sldId="369"/>
        </pc:sldMkLst>
      </pc:sldChg>
      <pc:sldChg chg="modSp add mod">
        <pc:chgData name="Errol Francke" userId="1baf5052-8130-4f07-8591-895c85ed967e" providerId="ADAL" clId="{2770844B-FD3E-5261-B270-BCCC5ACA5C5D}" dt="2026-03-22T10:53:52.601" v="1035" actId="313"/>
        <pc:sldMkLst>
          <pc:docMk/>
          <pc:sldMk cId="3436119305" sldId="370"/>
        </pc:sldMkLst>
        <pc:spChg chg="mod">
          <ac:chgData name="Errol Francke" userId="1baf5052-8130-4f07-8591-895c85ed967e" providerId="ADAL" clId="{2770844B-FD3E-5261-B270-BCCC5ACA5C5D}" dt="2026-03-22T10:51:01.597" v="1002" actId="20577"/>
          <ac:spMkLst>
            <pc:docMk/>
            <pc:sldMk cId="3436119305" sldId="370"/>
            <ac:spMk id="6" creationId="{257C0C65-B600-ACE4-758E-454D86936A52}"/>
          </ac:spMkLst>
        </pc:spChg>
        <pc:spChg chg="mod">
          <ac:chgData name="Errol Francke" userId="1baf5052-8130-4f07-8591-895c85ed967e" providerId="ADAL" clId="{2770844B-FD3E-5261-B270-BCCC5ACA5C5D}" dt="2026-03-22T10:53:52.601" v="1035" actId="313"/>
          <ac:spMkLst>
            <pc:docMk/>
            <pc:sldMk cId="3436119305" sldId="370"/>
            <ac:spMk id="7" creationId="{9A8702E6-AB9D-953A-67AD-94D14F9E1228}"/>
          </ac:spMkLst>
        </pc:spChg>
      </pc:sldChg>
      <pc:sldChg chg="delSp modSp add mod ord">
        <pc:chgData name="Errol Francke" userId="1baf5052-8130-4f07-8591-895c85ed967e" providerId="ADAL" clId="{2770844B-FD3E-5261-B270-BCCC5ACA5C5D}" dt="2026-03-22T11:00:57.428" v="1045" actId="114"/>
        <pc:sldMkLst>
          <pc:docMk/>
          <pc:sldMk cId="3677812047" sldId="371"/>
        </pc:sldMkLst>
        <pc:spChg chg="del">
          <ac:chgData name="Errol Francke" userId="1baf5052-8130-4f07-8591-895c85ed967e" providerId="ADAL" clId="{2770844B-FD3E-5261-B270-BCCC5ACA5C5D}" dt="2026-03-22T11:00:41.628" v="1043" actId="478"/>
          <ac:spMkLst>
            <pc:docMk/>
            <pc:sldMk cId="3677812047" sldId="371"/>
            <ac:spMk id="2" creationId="{86032AF5-E6B4-7009-CE56-5D36788C8CAF}"/>
          </ac:spMkLst>
        </pc:spChg>
        <pc:spChg chg="mod">
          <ac:chgData name="Errol Francke" userId="1baf5052-8130-4f07-8591-895c85ed967e" providerId="ADAL" clId="{2770844B-FD3E-5261-B270-BCCC5ACA5C5D}" dt="2026-03-22T11:00:57.428" v="1045" actId="114"/>
          <ac:spMkLst>
            <pc:docMk/>
            <pc:sldMk cId="3677812047" sldId="371"/>
            <ac:spMk id="7" creationId="{5B5B16D8-73EE-6B7D-0CD1-C18848536F21}"/>
          </ac:spMkLst>
        </pc:spChg>
      </pc:sldChg>
      <pc:sldChg chg="modSp add mod">
        <pc:chgData name="Errol Francke" userId="1baf5052-8130-4f07-8591-895c85ed967e" providerId="ADAL" clId="{2770844B-FD3E-5261-B270-BCCC5ACA5C5D}" dt="2026-03-22T11:01:22.517" v="1052" actId="20577"/>
        <pc:sldMkLst>
          <pc:docMk/>
          <pc:sldMk cId="1503112950" sldId="372"/>
        </pc:sldMkLst>
        <pc:spChg chg="mod">
          <ac:chgData name="Errol Francke" userId="1baf5052-8130-4f07-8591-895c85ed967e" providerId="ADAL" clId="{2770844B-FD3E-5261-B270-BCCC5ACA5C5D}" dt="2026-03-22T11:01:22.517" v="1052" actId="20577"/>
          <ac:spMkLst>
            <pc:docMk/>
            <pc:sldMk cId="1503112950" sldId="372"/>
            <ac:spMk id="6" creationId="{ADEF07F6-B0DD-7293-4C47-1DC9D33C94CB}"/>
          </ac:spMkLst>
        </pc:spChg>
      </pc:sldChg>
      <pc:sldChg chg="addSp modSp add mod">
        <pc:chgData name="Errol Francke" userId="1baf5052-8130-4f07-8591-895c85ed967e" providerId="ADAL" clId="{2770844B-FD3E-5261-B270-BCCC5ACA5C5D}" dt="2026-03-22T11:15:47.332" v="1154" actId="20577"/>
        <pc:sldMkLst>
          <pc:docMk/>
          <pc:sldMk cId="3319052754" sldId="373"/>
        </pc:sldMkLst>
        <pc:spChg chg="mod">
          <ac:chgData name="Errol Francke" userId="1baf5052-8130-4f07-8591-895c85ed967e" providerId="ADAL" clId="{2770844B-FD3E-5261-B270-BCCC5ACA5C5D}" dt="2026-03-22T11:07:22.203" v="1112" actId="20577"/>
          <ac:spMkLst>
            <pc:docMk/>
            <pc:sldMk cId="3319052754" sldId="373"/>
            <ac:spMk id="7" creationId="{5E3D422F-55C9-05B5-67F6-F8BD37B5EEEE}"/>
          </ac:spMkLst>
        </pc:spChg>
        <pc:graphicFrameChg chg="add mod modGraphic">
          <ac:chgData name="Errol Francke" userId="1baf5052-8130-4f07-8591-895c85ed967e" providerId="ADAL" clId="{2770844B-FD3E-5261-B270-BCCC5ACA5C5D}" dt="2026-03-22T11:15:47.332" v="1154" actId="20577"/>
          <ac:graphicFrameMkLst>
            <pc:docMk/>
            <pc:sldMk cId="3319052754" sldId="373"/>
            <ac:graphicFrameMk id="2" creationId="{9838AFFF-F030-FE71-E4E9-AB861DD63729}"/>
          </ac:graphicFrameMkLst>
        </pc:graphicFrameChg>
      </pc:sldChg>
      <pc:sldChg chg="addSp modSp add mod ord">
        <pc:chgData name="Errol Francke" userId="1baf5052-8130-4f07-8591-895c85ed967e" providerId="ADAL" clId="{2770844B-FD3E-5261-B270-BCCC5ACA5C5D}" dt="2026-03-22T11:16:03.207" v="1158" actId="6549"/>
        <pc:sldMkLst>
          <pc:docMk/>
          <pc:sldMk cId="2241621965" sldId="374"/>
        </pc:sldMkLst>
        <pc:spChg chg="mod">
          <ac:chgData name="Errol Francke" userId="1baf5052-8130-4f07-8591-895c85ed967e" providerId="ADAL" clId="{2770844B-FD3E-5261-B270-BCCC5ACA5C5D}" dt="2026-03-22T11:14:30.751" v="1150" actId="20577"/>
          <ac:spMkLst>
            <pc:docMk/>
            <pc:sldMk cId="2241621965" sldId="374"/>
            <ac:spMk id="6" creationId="{EEB68848-12E2-C341-10FE-5AA8904EABB0}"/>
          </ac:spMkLst>
        </pc:spChg>
        <pc:graphicFrameChg chg="modGraphic">
          <ac:chgData name="Errol Francke" userId="1baf5052-8130-4f07-8591-895c85ed967e" providerId="ADAL" clId="{2770844B-FD3E-5261-B270-BCCC5ACA5C5D}" dt="2026-03-22T11:16:03.207" v="1158" actId="6549"/>
          <ac:graphicFrameMkLst>
            <pc:docMk/>
            <pc:sldMk cId="2241621965" sldId="374"/>
            <ac:graphicFrameMk id="2" creationId="{5040FE00-AB63-3865-23C4-8A559D79521A}"/>
          </ac:graphicFrameMkLst>
        </pc:graphicFrameChg>
        <pc:cxnChg chg="add mod">
          <ac:chgData name="Errol Francke" userId="1baf5052-8130-4f07-8591-895c85ed967e" providerId="ADAL" clId="{2770844B-FD3E-5261-B270-BCCC5ACA5C5D}" dt="2026-03-22T11:12:33.345" v="1133" actId="13822"/>
          <ac:cxnSpMkLst>
            <pc:docMk/>
            <pc:sldMk cId="2241621965" sldId="374"/>
            <ac:cxnSpMk id="4" creationId="{7C24F3A6-0073-80DB-9F47-A5507BEA0C5C}"/>
          </ac:cxnSpMkLst>
        </pc:cxnChg>
        <pc:cxnChg chg="add mod">
          <ac:chgData name="Errol Francke" userId="1baf5052-8130-4f07-8591-895c85ed967e" providerId="ADAL" clId="{2770844B-FD3E-5261-B270-BCCC5ACA5C5D}" dt="2026-03-22T11:12:59.163" v="1136" actId="14100"/>
          <ac:cxnSpMkLst>
            <pc:docMk/>
            <pc:sldMk cId="2241621965" sldId="374"/>
            <ac:cxnSpMk id="8" creationId="{AC6EBA1D-24BF-BB16-BEA4-B03A850851F8}"/>
          </ac:cxnSpMkLst>
        </pc:cxnChg>
        <pc:cxnChg chg="add mod">
          <ac:chgData name="Errol Francke" userId="1baf5052-8130-4f07-8591-895c85ed967e" providerId="ADAL" clId="{2770844B-FD3E-5261-B270-BCCC5ACA5C5D}" dt="2026-03-22T11:13:53.747" v="1141" actId="14100"/>
          <ac:cxnSpMkLst>
            <pc:docMk/>
            <pc:sldMk cId="2241621965" sldId="374"/>
            <ac:cxnSpMk id="11" creationId="{B1DC0909-5CE9-A432-96C4-E463FC71CFD6}"/>
          </ac:cxnSpMkLst>
        </pc:cxnChg>
        <pc:cxnChg chg="add mod">
          <ac:chgData name="Errol Francke" userId="1baf5052-8130-4f07-8591-895c85ed967e" providerId="ADAL" clId="{2770844B-FD3E-5261-B270-BCCC5ACA5C5D}" dt="2026-03-22T11:14:11.242" v="1144" actId="14100"/>
          <ac:cxnSpMkLst>
            <pc:docMk/>
            <pc:sldMk cId="2241621965" sldId="374"/>
            <ac:cxnSpMk id="15" creationId="{9C6257BB-42F4-E51C-2BA7-260BC16F1356}"/>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1F901A-D6DB-D14F-9BFE-63338435BB4B}" type="datetimeFigureOut">
              <a:rPr lang="en-GB" smtClean="0"/>
              <a:t>22/03/2026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3FEC5D-7243-E240-ABB0-81FE9EEB8FFA}" type="slidenum">
              <a:rPr lang="en-GB" smtClean="0"/>
              <a:t>‹#›</a:t>
            </a:fld>
            <a:endParaRPr lang="en-GB"/>
          </a:p>
        </p:txBody>
      </p:sp>
    </p:spTree>
    <p:extLst>
      <p:ext uri="{BB962C8B-B14F-4D97-AF65-F5344CB8AC3E}">
        <p14:creationId xmlns:p14="http://schemas.microsoft.com/office/powerpoint/2010/main" val="689312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42568-5259-F96E-C84C-6F6708C210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F8DFC-0513-A179-510A-558D349E42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2EF37-E367-27AC-9F9D-5184CE39592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FE9C566-BD24-52C6-70AA-EAD0BD88310A}"/>
              </a:ext>
            </a:extLst>
          </p:cNvPr>
          <p:cNvSpPr>
            <a:spLocks noGrp="1"/>
          </p:cNvSpPr>
          <p:nvPr>
            <p:ph type="sldNum" sz="quarter" idx="5"/>
          </p:nvPr>
        </p:nvSpPr>
        <p:spPr/>
        <p:txBody>
          <a:bodyPr/>
          <a:lstStyle/>
          <a:p>
            <a:fld id="{253FEC5D-7243-E240-ABB0-81FE9EEB8FFA}" type="slidenum">
              <a:rPr lang="en-GB" smtClean="0"/>
              <a:t>25</a:t>
            </a:fld>
            <a:endParaRPr lang="en-GB"/>
          </a:p>
        </p:txBody>
      </p:sp>
    </p:spTree>
    <p:extLst>
      <p:ext uri="{BB962C8B-B14F-4D97-AF65-F5344CB8AC3E}">
        <p14:creationId xmlns:p14="http://schemas.microsoft.com/office/powerpoint/2010/main" val="1137198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09EEB-6886-758A-2891-D875708004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52193-85E0-A031-FBA4-D2EC3CD90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DA9D20-8F02-12B6-20E5-4776E6ECC12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A1F8AF1-F076-BD10-A6E6-E89E44083AD0}"/>
              </a:ext>
            </a:extLst>
          </p:cNvPr>
          <p:cNvSpPr>
            <a:spLocks noGrp="1"/>
          </p:cNvSpPr>
          <p:nvPr>
            <p:ph type="sldNum" sz="quarter" idx="5"/>
          </p:nvPr>
        </p:nvSpPr>
        <p:spPr/>
        <p:txBody>
          <a:bodyPr/>
          <a:lstStyle/>
          <a:p>
            <a:fld id="{253FEC5D-7243-E240-ABB0-81FE9EEB8FFA}" type="slidenum">
              <a:rPr lang="en-GB" smtClean="0"/>
              <a:t>26</a:t>
            </a:fld>
            <a:endParaRPr lang="en-GB"/>
          </a:p>
        </p:txBody>
      </p:sp>
    </p:spTree>
    <p:extLst>
      <p:ext uri="{BB962C8B-B14F-4D97-AF65-F5344CB8AC3E}">
        <p14:creationId xmlns:p14="http://schemas.microsoft.com/office/powerpoint/2010/main" val="1202679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A9717-74FD-A079-EE0E-63608E642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9898C5-B327-97D1-C053-315F6F4727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AC3EB2-8134-B362-4466-2A7F8FB1FD6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C0AB45C-ABF6-0960-1B39-FDC14A41A25A}"/>
              </a:ext>
            </a:extLst>
          </p:cNvPr>
          <p:cNvSpPr>
            <a:spLocks noGrp="1"/>
          </p:cNvSpPr>
          <p:nvPr>
            <p:ph type="sldNum" sz="quarter" idx="5"/>
          </p:nvPr>
        </p:nvSpPr>
        <p:spPr/>
        <p:txBody>
          <a:bodyPr/>
          <a:lstStyle/>
          <a:p>
            <a:fld id="{253FEC5D-7243-E240-ABB0-81FE9EEB8FFA}" type="slidenum">
              <a:rPr lang="en-GB" smtClean="0"/>
              <a:t>27</a:t>
            </a:fld>
            <a:endParaRPr lang="en-GB"/>
          </a:p>
        </p:txBody>
      </p:sp>
    </p:spTree>
    <p:extLst>
      <p:ext uri="{BB962C8B-B14F-4D97-AF65-F5344CB8AC3E}">
        <p14:creationId xmlns:p14="http://schemas.microsoft.com/office/powerpoint/2010/main" val="546528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CBC51-77F0-1D4E-4DC9-C362132BA9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99687-58D9-8DE6-2A1B-4C8AE0AAF2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5A83D7-41E3-1055-FD47-ED126DF222F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64AB8E1-D053-1436-7B6F-260556F66D09}"/>
              </a:ext>
            </a:extLst>
          </p:cNvPr>
          <p:cNvSpPr>
            <a:spLocks noGrp="1"/>
          </p:cNvSpPr>
          <p:nvPr>
            <p:ph type="sldNum" sz="quarter" idx="5"/>
          </p:nvPr>
        </p:nvSpPr>
        <p:spPr/>
        <p:txBody>
          <a:bodyPr/>
          <a:lstStyle/>
          <a:p>
            <a:fld id="{253FEC5D-7243-E240-ABB0-81FE9EEB8FFA}" type="slidenum">
              <a:rPr lang="en-GB" smtClean="0"/>
              <a:t>28</a:t>
            </a:fld>
            <a:endParaRPr lang="en-GB"/>
          </a:p>
        </p:txBody>
      </p:sp>
    </p:spTree>
    <p:extLst>
      <p:ext uri="{BB962C8B-B14F-4D97-AF65-F5344CB8AC3E}">
        <p14:creationId xmlns:p14="http://schemas.microsoft.com/office/powerpoint/2010/main" val="200879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4C1E0-CB24-7AC9-B9F8-7527AB5B4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56FE33-7E84-09A9-D01C-2582836E3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E60421-4FE8-3A74-672D-E9F84E1386B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2E70606-6B54-B37B-98CB-4217F4E75D86}"/>
              </a:ext>
            </a:extLst>
          </p:cNvPr>
          <p:cNvSpPr>
            <a:spLocks noGrp="1"/>
          </p:cNvSpPr>
          <p:nvPr>
            <p:ph type="sldNum" sz="quarter" idx="5"/>
          </p:nvPr>
        </p:nvSpPr>
        <p:spPr/>
        <p:txBody>
          <a:bodyPr/>
          <a:lstStyle/>
          <a:p>
            <a:fld id="{253FEC5D-7243-E240-ABB0-81FE9EEB8FFA}" type="slidenum">
              <a:rPr lang="en-GB" smtClean="0"/>
              <a:t>29</a:t>
            </a:fld>
            <a:endParaRPr lang="en-GB"/>
          </a:p>
        </p:txBody>
      </p:sp>
    </p:spTree>
    <p:extLst>
      <p:ext uri="{BB962C8B-B14F-4D97-AF65-F5344CB8AC3E}">
        <p14:creationId xmlns:p14="http://schemas.microsoft.com/office/powerpoint/2010/main" val="3324520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rot="-7706139">
            <a:off x="-4463264" y="-79969"/>
            <a:ext cx="10745360" cy="8515698"/>
          </a:xfrm>
          <a:prstGeom prst="rect">
            <a:avLst/>
          </a:prstGeom>
        </p:spPr>
      </p:pic>
      <p:sp>
        <p:nvSpPr>
          <p:cNvPr id="4" name="TextBox 4"/>
          <p:cNvSpPr txBox="1"/>
          <p:nvPr/>
        </p:nvSpPr>
        <p:spPr>
          <a:xfrm>
            <a:off x="-748676" y="2103755"/>
            <a:ext cx="5473076" cy="855362"/>
          </a:xfrm>
          <a:prstGeom prst="rect">
            <a:avLst/>
          </a:prstGeom>
        </p:spPr>
        <p:txBody>
          <a:bodyPr wrap="square" lIns="0" tIns="0" rIns="0" bIns="0" rtlCol="0" anchor="t">
            <a:spAutoFit/>
          </a:bodyPr>
          <a:lstStyle/>
          <a:p>
            <a:pPr algn="ctr">
              <a:lnSpc>
                <a:spcPts val="3359"/>
              </a:lnSpc>
            </a:pPr>
            <a:r>
              <a:rPr lang="en-US" sz="2399" spc="62" dirty="0">
                <a:solidFill>
                  <a:srgbClr val="FFFFFF"/>
                </a:solidFill>
                <a:latin typeface="League Spartan"/>
              </a:rPr>
              <a:t>Research Methodology 4 (Semester One 2026)</a:t>
            </a:r>
          </a:p>
        </p:txBody>
      </p:sp>
      <p:sp>
        <p:nvSpPr>
          <p:cNvPr id="5" name="TextBox 5"/>
          <p:cNvSpPr txBox="1"/>
          <p:nvPr/>
        </p:nvSpPr>
        <p:spPr>
          <a:xfrm>
            <a:off x="-233872" y="5073077"/>
            <a:ext cx="4563948" cy="1810385"/>
          </a:xfrm>
          <a:prstGeom prst="rect">
            <a:avLst/>
          </a:prstGeom>
        </p:spPr>
        <p:txBody>
          <a:bodyPr lIns="0" tIns="0" rIns="0" bIns="0" rtlCol="0" anchor="t">
            <a:spAutoFit/>
          </a:bodyPr>
          <a:lstStyle/>
          <a:p>
            <a:pPr algn="ctr">
              <a:lnSpc>
                <a:spcPts val="3640"/>
              </a:lnSpc>
            </a:pPr>
            <a:r>
              <a:rPr lang="en-US" sz="2600" spc="67">
                <a:solidFill>
                  <a:srgbClr val="FFFFFF"/>
                </a:solidFill>
                <a:latin typeface="League Spartan"/>
              </a:rPr>
              <a:t>A LECTURE SERIES PRESENTED BY </a:t>
            </a:r>
          </a:p>
          <a:p>
            <a:pPr algn="ctr">
              <a:lnSpc>
                <a:spcPts val="3640"/>
              </a:lnSpc>
            </a:pPr>
            <a:r>
              <a:rPr lang="en-US" sz="2600" spc="67">
                <a:solidFill>
                  <a:srgbClr val="FFFFFF"/>
                </a:solidFill>
                <a:latin typeface="League Spartan"/>
              </a:rPr>
              <a:t>DR E.FRANCKE</a:t>
            </a:r>
          </a:p>
          <a:p>
            <a:pPr algn="ctr">
              <a:lnSpc>
                <a:spcPts val="3640"/>
              </a:lnSpc>
            </a:pPr>
            <a:endParaRPr lang="en-US" sz="2600" spc="67">
              <a:solidFill>
                <a:srgbClr val="FFFFFF"/>
              </a:solidFill>
              <a:latin typeface="League Spartan"/>
            </a:endParaRPr>
          </a:p>
        </p:txBody>
      </p:sp>
      <p:sp>
        <p:nvSpPr>
          <p:cNvPr id="6" name="TextBox 6"/>
          <p:cNvSpPr txBox="1"/>
          <p:nvPr/>
        </p:nvSpPr>
        <p:spPr>
          <a:xfrm>
            <a:off x="5189652" y="2103755"/>
            <a:ext cx="4563948" cy="5062924"/>
          </a:xfrm>
          <a:prstGeom prst="rect">
            <a:avLst/>
          </a:prstGeom>
        </p:spPr>
        <p:txBody>
          <a:bodyPr lIns="0" tIns="0" rIns="0" bIns="0" rtlCol="0" anchor="t">
            <a:spAutoFit/>
          </a:bodyPr>
          <a:lstStyle/>
          <a:p>
            <a:pPr algn="ctr">
              <a:lnSpc>
                <a:spcPts val="3640"/>
              </a:lnSpc>
            </a:pPr>
            <a:r>
              <a:rPr lang="en-US" sz="2600" spc="67" dirty="0">
                <a:latin typeface="League Spartan"/>
              </a:rPr>
              <a:t>LECTURE SEVEN</a:t>
            </a:r>
          </a:p>
          <a:p>
            <a:pPr algn="ctr">
              <a:lnSpc>
                <a:spcPts val="3640"/>
              </a:lnSpc>
            </a:pPr>
            <a:endParaRPr lang="en-US" sz="2600" spc="67" dirty="0">
              <a:latin typeface="League Spartan"/>
            </a:endParaRPr>
          </a:p>
          <a:p>
            <a:pPr algn="ctr">
              <a:lnSpc>
                <a:spcPts val="3640"/>
              </a:lnSpc>
            </a:pPr>
            <a:r>
              <a:rPr lang="en-US" sz="2600" spc="67" dirty="0">
                <a:latin typeface="League Spartan"/>
              </a:rPr>
              <a:t>Formulating a Research Problem </a:t>
            </a:r>
          </a:p>
          <a:p>
            <a:pPr algn="ctr">
              <a:lnSpc>
                <a:spcPts val="3640"/>
              </a:lnSpc>
            </a:pPr>
            <a:r>
              <a:rPr lang="en-US" sz="2600" spc="67" dirty="0">
                <a:latin typeface="League Spartan"/>
              </a:rPr>
              <a:t>(Kumar Chapter 4)</a:t>
            </a:r>
            <a:endParaRPr lang="en-ZA" sz="2600" spc="67" dirty="0">
              <a:latin typeface="League Spartan"/>
            </a:endParaRPr>
          </a:p>
          <a:p>
            <a:pPr algn="ctr">
              <a:lnSpc>
                <a:spcPts val="3640"/>
              </a:lnSpc>
            </a:pPr>
            <a:endParaRPr lang="en-ZA" sz="2600" spc="67" dirty="0">
              <a:latin typeface="League Spartan"/>
            </a:endParaRPr>
          </a:p>
          <a:p>
            <a:pPr algn="ctr">
              <a:lnSpc>
                <a:spcPts val="3640"/>
              </a:lnSpc>
            </a:pPr>
            <a:endParaRPr lang="en-US" sz="2600" spc="67" dirty="0">
              <a:latin typeface="League Spartan"/>
            </a:endParaRPr>
          </a:p>
          <a:p>
            <a:pPr algn="ctr">
              <a:lnSpc>
                <a:spcPts val="3640"/>
              </a:lnSpc>
            </a:pPr>
            <a:endParaRPr lang="en-US" sz="2600" spc="67" dirty="0">
              <a:latin typeface="League Spartan"/>
            </a:endParaRPr>
          </a:p>
          <a:p>
            <a:pPr algn="ctr">
              <a:lnSpc>
                <a:spcPts val="3640"/>
              </a:lnSpc>
            </a:pPr>
            <a:endParaRPr lang="en-US" sz="2600" spc="67" dirty="0">
              <a:latin typeface="League Spartan"/>
            </a:endParaRPr>
          </a:p>
          <a:p>
            <a:pPr algn="ctr">
              <a:lnSpc>
                <a:spcPts val="3640"/>
              </a:lnSpc>
            </a:pPr>
            <a:r>
              <a:rPr lang="en-US" sz="2600" spc="67" dirty="0">
                <a:latin typeface="League Spartan"/>
              </a:rPr>
              <a:t>23 March 2026</a:t>
            </a:r>
          </a:p>
          <a:p>
            <a:pPr algn="ctr">
              <a:lnSpc>
                <a:spcPts val="3640"/>
              </a:lnSpc>
            </a:pPr>
            <a:endParaRPr lang="en-US" sz="2600" spc="67" dirty="0">
              <a:latin typeface="League Spart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6A57EACD-61CA-4775-9551-2078FC0BC7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5EA9CEFA-65DF-4773-AB16-4E0811348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A5B46568-197D-4462-A2AB-B32016E07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A310550-C5D3-4B44-A74F-CA522D3EA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4320944-CB85-404B-ACEB-4C621A2DE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F09ADAE-8ED7-4349-9F53-C9846B34AC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4A30888-D632-4303-AD63-F9F6425F67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494E026-3245-4E27-8FA4-B5E503989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0980A2D-E8F8-4D53-96BD-549B6E43C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9B2DDE9-70F9-46DE-A98D-A9E6A15B0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D6359C0-FED2-4F38-AF2C-D2CCB137C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E731DFD6-7643-4367-B357-419597215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D5AD929-BDD1-4C17-B069-7F26DA239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A89B223-AC6D-428A-ADA0-A8107F132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55AE910-CDA0-467B-91F1-30022FC702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80BBB4-49D0-40C7-949B-CE40E918B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A691FB-DA8E-4CB6-B2CB-43996A8A6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6ABC7EF-0297-4356-A5FE-85B70C226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2A4C124-2BE2-47A7-88BD-0D0E70225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77B5782-F97B-49E6-B4CF-05080D43F7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B45F28A-82A7-4E2A-AC1D-A9080F5F5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04D3904-C2B3-4481-9AD0-4F4B97BF79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7E99BD2-8425-452F-BBC9-DA271A4D4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6826B2E-CE5F-4751-AB16-2F5D38E0D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3D69C59-2023-4CEC-BA7C-5EE1834EC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B90D7BC-1D4E-4E24-B1E4-700CFE90C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9425F03-8DA8-4B30-8D52-0F823F557C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5042418-2AFD-437C-BDFE-95057749D1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F7247EC-FBD7-42B0-89E1-981401897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642B17A-8F41-4932-B0D0-CAA198A36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BC09251-BDF7-47DB-8213-2FD24431C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F3F5D47-FD51-41B4-B385-72FB1B83FD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5FEDA36F-4DFB-4CF9-AFCB-DF2830797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4B82A4E-24F2-4AF9-ACD9-032004D5C7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48A1B0D-4A06-45BC-B4BC-CFC5300FB0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5FAD49E-FD72-4576-A940-2428587BC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50C5050F-FCF4-41AE-A014-DA0E79C9D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05C37E2-39BD-41F3-A48B-0D6656AFD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ADE8E63-21C2-4361-9759-81558A67F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1BB2F91E-6261-407E-AB8B-BC2971C5E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1B8D98F-3287-4463-9C66-4D5562880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94B4DF75-5954-4360-BD08-C0F14F07B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9646D91-7334-4EF7-854E-31229C0EBD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B52D0D3-BAB6-4E87-A7E3-042FE194E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C99FAD0-CAF0-416B-A5C2-BF67795C5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0E22E26C-C150-4D82-9949-7CBE6C6E37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072F62D-B9FA-4CBD-8427-DCDAE9724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4A5E7E19-8DF1-4E35-B975-14DB353C5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29CC129-69D0-48B1-969C-406A8EC16C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0863A762-C2BE-4B7F-8F77-FB38598FD6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875ED5B7-A269-4716-8A91-60C4640BC4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B53D700F-89B5-47C3-88CF-F491CCA23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60B6165-C5E0-4495-B9AC-5D3FAA17C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2C06BE7-B255-49E8-AFD7-16EA0DEED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A62BAA60-4FD3-4ED5-85B8-FA1AEBB543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7D285C5F-B15D-4C99-876E-11EA0EDDB8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1D3315B-6CF6-4B8A-9AD6-15E8ED774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2316A1B-DF30-4B08-A25E-634088C3A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3B9824C-F3A0-4BB5-BA2D-E7B2C8739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E74AA607-331A-4D12-9628-01D4184C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BC5FC238-AD32-4501-B2D5-55A3F1409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2651C95-EE88-4D97-A4BD-842E093F0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DD800BB2-C68A-40A6-8CD4-A733BD0DB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697780E-7DCF-4651-9953-FE1A7062C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B417FEE-0006-405F-A3EF-741EC0C6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D2CA75D-333A-4FC0-A35C-150218932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71FE7FEB-856E-4B91-9524-7CB608A04D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B815A820-71A2-4F06-909A-802956FCD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4135222E-6463-4F37-A52D-8E5F48B17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4C684AC-F7CB-4096-BD97-E024A2203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2AEB483C-20AB-4095-912D-AB52A7C322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2D1625C5-4D6F-4AF0-8F52-3E430AD86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BE6AC22C-25A4-400A-8E40-0DA9119C5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B4586291-7B87-4844-A3C7-1B10E7070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7E6C849B-AC63-4611-9425-967763280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3DD2AB7-F94D-4A1E-8D17-3A8418C7D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99CE3DE-A5D3-4CBC-9771-BA0D4A71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51F4BCD-DCFB-49C5-AA53-912A2644D5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217BD47A-2F24-467E-A016-650656A35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260F5B69-D34A-4A38-AC4F-E04BB730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36D5DFC6-ED6D-4E93-BBFD-32876861C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046009FB-3E9E-46F5-9DC9-B225C7B7D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E10C4A9D-1BAD-4C1A-B643-39CEA7C56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B3786231-B3C8-45C0-AB76-F0F35D7E1D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E05DBD8-3FC9-47DE-88E7-849A2BE28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8B45623-D400-48AE-99CB-C50EF8208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50817F4-286D-4A64-A707-319964118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E2CBB23-BC03-4233-B66D-F3E1BC361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45B057C8-A242-41ED-B0DB-78B245C07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9CB4C1C0-5F41-4E24-A7CD-AFB1DE7B3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153209C-5637-4CEC-AB94-73A0EA2C7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F7A55A31-FEC9-482A-B837-965828913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3BA94A3-F00C-4D17-9254-A955E4414F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9A2902DE-23EF-49CE-A669-B9096A9D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5780746-7CB1-459B-ACF8-EE4C8FA2DA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6EC72100-CCC7-485B-AB73-AFE6263C2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0330226-7157-4C26-8B12-849E7E40B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F6FC5CE2-A4E9-48A9-A687-9D3CBDF2C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71F8A61-039C-4875-ABD2-DDAD0AF611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5E9C48D7-E617-453A-95A7-4CBADCB709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028847A-3236-456C-ABCA-F17FACC74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68F10DA-E024-4DFF-B71A-284CE37839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D1258F2-08D2-4674-BB2B-00DA3F054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1CA4E673-ADD3-4C6A-B67D-077CD7F76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E8412C5A-7E5C-437B-A36E-FD4ADC57E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56AC8FA-ED34-4749-9A15-E878B4088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EE8845F-6312-4CB4-8345-10FAA6E91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B6649974-BABE-465B-934C-798CD398A3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A2E8120-B8AC-4058-AB81-44A99CF53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EB3ACBEF-904A-4B73-A8B1-3A62AC125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F80CD75B-0C3D-4186-B1D8-E58A7580E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17D40FB-488F-4EFD-9019-8E5802A73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089A9FA-C815-459B-8D43-862AC2805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A360E5B-3ABC-46DD-9DFE-5D8D1D4D2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DBCC9121-E8F5-49AE-869E-1245398D1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190A7C8-B00C-4DCB-929A-328811039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BC02C4-69CC-4293-9249-E28D9F2C5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4748328-B03B-4EDD-96F0-DAF652720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17E29EF6-5C38-4836-AE46-64215DD78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333BC27D-A755-4489-B73A-5B0EA4BD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E018ADBF-7412-4D0F-BC0F-8710DB9A4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370D54CD-D372-4C7F-B2AC-AB600FE52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BB9398E-F21C-4918-8C5A-90735B80B3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4A7E3180-5F52-4B48-B3BD-F02177C4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B657DEC7-1A91-41CA-B3FD-593EFF942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F66DBED-0EF0-4BC7-A733-8CEB9301F0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27BC7E2-BB50-457E-8D53-CBADC3D0A8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2E5B2F2A-FBC8-42A5-9305-B5C98A24D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7BC862E-B59F-4BFB-A777-05409E727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3FB1571-92E7-4829-BCCD-7DCB0FE981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E4F917C1-A8BC-4A0E-AE36-F9D0BE981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6F8931C-3AC8-4029-B30C-5361BFBCAE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76E87F7-1BC0-472D-B19E-FFB4942471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465149F4-5FFD-4DA3-B387-25DDFF149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FCC143A2-5B71-45E0-A5DC-1AE44CF2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A29C66E6-99F1-4166-B11B-8C47DD310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5D782C24-70D1-4DF0-A631-9FA264292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04EA4D6-FB90-4EE9-9C94-FACE6D79A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F71E17C7-CF11-4295-85DA-5237670B3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73AF0AFB-AF22-44B2-B981-AF6098F19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EC7A3631-6B95-4E40-89A4-0DC231A1A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E320EDD3-FA1E-4F06-B5E6-86BA66BFF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5CB6263-11E9-4CF8-B171-7C627720C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19FB7707-C4F1-4107-A1AA-C702870A5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960F322A-E24F-04B2-8C75-AD3EFEE8B004}"/>
              </a:ext>
            </a:extLst>
          </p:cNvPr>
          <p:cNvSpPr txBox="1"/>
          <p:nvPr/>
        </p:nvSpPr>
        <p:spPr>
          <a:xfrm>
            <a:off x="713782" y="1341402"/>
            <a:ext cx="8201618" cy="5364198"/>
          </a:xfrm>
          <a:prstGeom prst="rect">
            <a:avLst/>
          </a:prstGeom>
        </p:spPr>
        <p:txBody>
          <a:bodyPr vert="horz" lIns="91440" tIns="45720" rIns="91440" bIns="45720" rtlCol="0">
            <a:noAutofit/>
          </a:bodyPr>
          <a:lstStyle/>
          <a:p>
            <a:pPr>
              <a:lnSpc>
                <a:spcPct val="90000"/>
              </a:lnSpc>
              <a:spcAft>
                <a:spcPts val="800"/>
              </a:spcAft>
            </a:pPr>
            <a:r>
              <a:rPr lang="en-US" sz="2800" b="1" spc="86" dirty="0">
                <a:solidFill>
                  <a:schemeClr val="bg1"/>
                </a:solidFill>
              </a:rPr>
              <a:t>THE RESEARCH PROBLEM</a:t>
            </a:r>
            <a:endParaRPr lang="en-US" sz="2400" spc="86" dirty="0">
              <a:solidFill>
                <a:schemeClr val="bg1"/>
              </a:solidFill>
            </a:endParaRPr>
          </a:p>
          <a:p>
            <a:pPr lvl="1" indent="-228600">
              <a:lnSpc>
                <a:spcPct val="90000"/>
              </a:lnSpc>
              <a:spcAft>
                <a:spcPts val="800"/>
              </a:spcAft>
              <a:buFont typeface="Arial" panose="020B0604020202020204" pitchFamily="34" charset="0"/>
              <a:buChar char="•"/>
            </a:pPr>
            <a:r>
              <a:rPr lang="en-US" sz="2400" spc="86" dirty="0">
                <a:solidFill>
                  <a:schemeClr val="bg1"/>
                </a:solidFill>
              </a:rPr>
              <a:t>You will now learn how to turn a broad ICT interest into a clear, feasible research problem. </a:t>
            </a:r>
          </a:p>
          <a:p>
            <a:pPr lvl="1" indent="-228600">
              <a:lnSpc>
                <a:spcPct val="90000"/>
              </a:lnSpc>
              <a:spcAft>
                <a:spcPts val="800"/>
              </a:spcAft>
              <a:buFont typeface="Arial" panose="020B0604020202020204" pitchFamily="34" charset="0"/>
              <a:buChar char="•"/>
            </a:pPr>
            <a:r>
              <a:rPr lang="en-US" sz="2400" spc="86" dirty="0">
                <a:solidFill>
                  <a:schemeClr val="bg1"/>
                </a:solidFill>
              </a:rPr>
              <a:t>Kumar explains that this step sets your destination, and it influences almost every decision that follows: </a:t>
            </a:r>
          </a:p>
          <a:p>
            <a:pPr lvl="2" indent="-228600">
              <a:lnSpc>
                <a:spcPct val="90000"/>
              </a:lnSpc>
              <a:spcAft>
                <a:spcPts val="800"/>
              </a:spcAft>
              <a:buFont typeface="Arial" panose="020B0604020202020204" pitchFamily="34" charset="0"/>
              <a:buChar char="•"/>
            </a:pPr>
            <a:r>
              <a:rPr lang="en-US" sz="2400" spc="86" dirty="0">
                <a:solidFill>
                  <a:schemeClr val="bg1"/>
                </a:solidFill>
              </a:rPr>
              <a:t>your design, your sample, your instruments, your analysis, and even the way you write your report (Kumar, 2011). </a:t>
            </a:r>
          </a:p>
          <a:p>
            <a:pPr lvl="1" indent="-228600">
              <a:lnSpc>
                <a:spcPct val="90000"/>
              </a:lnSpc>
              <a:spcAft>
                <a:spcPts val="800"/>
              </a:spcAft>
              <a:buFont typeface="Arial" panose="020B0604020202020204" pitchFamily="34" charset="0"/>
              <a:buChar char="•"/>
            </a:pPr>
            <a:r>
              <a:rPr lang="en-US" sz="2400" spc="86" dirty="0">
                <a:solidFill>
                  <a:schemeClr val="bg1"/>
                </a:solidFill>
              </a:rPr>
              <a:t>For an ICT practitioner, a research problem is not just an academic exercise. </a:t>
            </a:r>
          </a:p>
          <a:p>
            <a:pPr lvl="1" indent="-228600">
              <a:lnSpc>
                <a:spcPct val="90000"/>
              </a:lnSpc>
              <a:spcAft>
                <a:spcPts val="800"/>
              </a:spcAft>
              <a:buFont typeface="Arial" panose="020B0604020202020204" pitchFamily="34" charset="0"/>
              <a:buChar char="•"/>
            </a:pPr>
            <a:r>
              <a:rPr lang="en-US" sz="2400" spc="86" dirty="0">
                <a:solidFill>
                  <a:schemeClr val="bg1"/>
                </a:solidFill>
              </a:rPr>
              <a:t>It is a disciplined way to investigate a real technical or human issue in your environment, and to produce evidence that can guide improvement.</a:t>
            </a:r>
            <a:endParaRPr lang="en-GB" sz="2400" spc="86" dirty="0">
              <a:solidFill>
                <a:schemeClr val="bg1"/>
              </a:solidFill>
            </a:endParaRPr>
          </a:p>
          <a:p>
            <a:pPr indent="-228600">
              <a:lnSpc>
                <a:spcPct val="90000"/>
              </a:lnSpc>
              <a:spcAft>
                <a:spcPts val="800"/>
              </a:spcAft>
              <a:buFont typeface="Arial" panose="020B0604020202020204" pitchFamily="34" charset="0"/>
              <a:buChar char="•"/>
            </a:pPr>
            <a:endParaRPr lang="en-US" sz="2800" spc="86" dirty="0">
              <a:solidFill>
                <a:schemeClr val="bg1"/>
              </a:solidFill>
            </a:endParaRPr>
          </a:p>
        </p:txBody>
      </p:sp>
      <p:grpSp>
        <p:nvGrpSpPr>
          <p:cNvPr id="155" name="Graphic 190">
            <a:extLst>
              <a:ext uri="{FF2B5EF4-FFF2-40B4-BE49-F238E27FC236}">
                <a16:creationId xmlns:a16="http://schemas.microsoft.com/office/drawing/2014/main" id="{55A100E1-E66E-4ED2-A56A-F7A819228F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4AB9672F-EB60-4C69-965D-C7AD5217C2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47B9190C-E3A6-476A-9BBD-79CC3E7A0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CAB9AD4F-A248-4D49-8779-CE40E64C0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3D4C1981-3D8B-446C-BFAE-E7EE5CF2D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2836907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CA4A05D2-4B76-674E-DAA6-744A8108036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64898AB-2460-4386-79D8-2B1A931E6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CECA81E4-F942-6596-8CAB-19E0B70F46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1EB72EAB-C415-8B72-A764-06BF902EC6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769E3B43-1BE6-3D93-08BB-14FB3BE173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588650AF-3FE0-5685-8D26-85203DD35C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4217FF4-9963-C24F-7C5F-FC1FBE810C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8720125-BBE0-BAC5-0FA3-EDACF6D10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BD4B42E-BB2D-7970-0C2C-90288639F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CEA96D-BFED-98DD-C5D4-0BACA61314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AD59A07-CF3D-246C-45F2-E51EB497D7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7EFF4FCA-936D-BC9C-B549-499CBE294A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D950999-EEE2-D5FC-371F-09410FD03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2EB59C4-FC3A-FC22-6BB6-73ABA71C13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CB6F9D5-BBC9-664B-B036-09BA563C5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06DA301-2C7D-4E59-FCFB-7E867F719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04E3D9B-D541-C2CD-86D7-2E95B3D9E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775D06C-5830-227D-EA00-A6991481F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17C241F3-DC62-0AA2-AB3E-8FDC3890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780DF5BD-5848-E5DB-B54E-D91DDD3AD8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AD733D6-09ED-B756-4E65-C6B36E0F53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5661FCA0-7080-72BB-6D44-5FDDC8EAD8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93A9A137-8E68-B8BC-58BB-025523558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A97771D-1459-2C8D-D533-9471CCB7A3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48207FCC-E10E-0AF5-7C3D-9564B40DE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8A075CDE-584D-9765-3F1D-F4EFB2037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10ABDEE0-4CEE-4F8A-743B-0F0957743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487C3C8B-EA11-465A-0323-9D9D5A3189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CCF0AF5D-206B-1457-F7E7-DBBB76F94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B06FD1E-6913-81EE-35D6-52CE7DD377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C36C3C2-B32B-B52B-79A0-FA62E38CAA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72F23F22-C926-0425-2D9A-73C9A07282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8F933824-D6C4-41E5-3998-3B03DD9737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84B3AA03-05C0-F59A-4264-54FF6C8A7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12B4C66-D041-7D1C-14FD-9973A5DA8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E5D63923-632D-CF6C-B490-44A1126716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CACFC3A7-0BBC-E554-2605-8A7EBC8D4B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9D51978D-6CD8-3A63-4086-5BEE62CBE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9EF09D65-8D1A-E431-82D6-ACAA200175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96B301E7-9073-D024-0B6B-AB57ABC14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3F90D832-1688-7EE5-1A6D-F667A47A39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076AFB7E-3DF5-BC69-6717-61BBDEF25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C443C4FA-06C9-45E7-E8F5-F7779F4D8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3DC2A5E5-CC1A-9E55-D5D3-E56F9EB1A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EFD43D5-071C-ACD2-D3D2-5E7F229DB4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4AC73ACE-E454-5D9C-7F2E-667370E36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F1482216-2C7A-4879-C443-11B88FF509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C2ECCD89-DDF6-EEF0-BA77-7CE5FB8B7A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25EECFE6-54CB-2AE5-6300-CB7E2A395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449C2C7C-A94C-CC4E-F10C-81E875292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0067AA30-1AAF-3F43-E75B-51773A61E1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19114D0A-DF93-A0AC-24FB-5FD6AA428D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4827E66-5F9C-7578-9396-9B64093216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BE22C6B-F61D-811B-334F-DAE35725B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D68A9B4B-EC5B-3A3B-95DB-96B6E38DC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879DE2BA-C616-3E5C-4CF8-12B5E150AB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C01975B-2AD1-FA2D-9B94-EE41317F13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875014BF-1F0B-E821-5FC6-37F3E2B289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D5CC307A-B049-8D39-0F0B-A778B7A98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D36FA2BB-7AD4-3497-00E9-DB0D5EA27B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4EB9AE6-2937-4283-35FD-DF911279C1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CCCF9A0A-CA0E-DD34-C2E9-856D7AB50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C11FA32B-914E-4915-8392-6B8E3D1B4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BCA24DAA-0D17-D723-02F2-AF98A1C08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48D3EE48-68C6-2A73-9220-B741C1D332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EB6FEFD7-03FC-B7F9-C633-5C10924B22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CAEA9D23-13A5-4E36-3383-79C80B09D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93155916-F905-C2ED-27D8-3DA8BFDD3A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36802E46-1EA4-BFFD-E5A1-EE1D2CBE2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EAFF1114-8241-3F77-2FB1-FFADEFC75C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7C9385A9-4049-D66B-60AB-4A3F71940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6BB7B087-7103-BDB5-8F57-E9ED46209F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10ED00BD-2B10-F02B-AB42-B5F5E3315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472AB88D-7BAB-7C39-B920-7BFAF0D851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C4D551F-B8FE-5218-9C36-322B6EA7AB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AD5CABF3-021B-B11A-411A-EBAC3D617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FA953B2F-4EE4-722F-9100-16341B5D2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D3619B2-1FCF-2226-D5A0-59945B0FA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3410AFC1-B207-3F60-C830-8335CBA62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15873F46-4A80-90ED-6C4F-B3310EA56A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12DAFF59-7073-3E6F-28CD-F15508BAA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696C286F-0ED8-7F60-8E28-03FC40938E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5274522D-0307-44AE-5EF3-071C6627B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F970A533-2D2D-239E-6763-27B6765D7B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B0E364E3-530E-5370-7C29-93983D0CA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65B29B41-CBBA-B8B6-A365-929D4AD74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AB88E72-8E02-48FD-7A61-11BD1D681F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CE98DDA0-B3FB-0A4F-1075-E8D3768131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D5948A3C-0B1E-076C-E3E2-D661753F9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5F04A880-F31D-1037-B9FA-D37E23806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1C9D17EC-505A-5987-424B-8D71973EF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E07C8397-7AED-5ED9-0E81-0B935D43CD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1CEAC1AC-70DB-D336-B442-412FAB713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D5AE873-38B3-4C7D-7728-C026037E6B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81DBA6AD-5F13-7C4C-02E4-F0A8881A5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C8E5B106-8C90-48BD-2E63-5B07F996C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D8BEB3DB-8D23-57C1-E4A8-13F7BD612D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89501F0D-5E75-FA2C-B309-4A940106EC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7B432D25-BA56-DA9C-0119-1C458045B4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F9760C2C-BBAA-A108-9182-487B89690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A1E62158-F396-6903-E939-DD3830AE8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33B1B384-1C07-3A12-D92B-ACFA9A28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A979EC0-F73A-88E4-1DBD-F2E281A54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AED8A3F1-A1F6-3003-55B4-9B13E160B0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6D2BC59F-F75C-D114-8D3C-CBBA965AFA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709AECFC-0FA2-421A-9BA3-4221261E7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84AA61EF-103C-3A2D-AFEE-ADDCC72748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FE108985-780F-10A5-E627-964120458A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418C60E3-F6A2-3682-563F-089B0F8D26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63EEDA28-7D1D-3555-0A04-8414EAFA43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2BA7EA84-BCD1-8EA4-BEBB-29C5702024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44DFAD47-1369-0907-DC9A-0476BE63B2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C48734A4-A147-88B6-2D7E-0F0ABF280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A9B986F0-F806-857D-B7E4-96A1964746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E87BB432-35B4-9156-40C6-4C78D0495F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64DAEF17-8DF0-9581-5382-08208DE3EB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44BA14A8-B3B1-D6C1-4B84-E55FADF43A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23E57E3A-C312-E168-2CAB-697A18B54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BCFE078C-9F14-5781-1A5C-B9E99B8928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1744031B-2FE8-8050-A9E5-B30187E47A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12BF4618-DEA2-8870-F7A9-004F32E467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921BD974-3B7C-399D-3323-854BA6CC19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0EEA807E-FC72-D0FC-6862-60D96BBAE2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4653EEDD-DF6F-1407-A171-F2A08C2B2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C3761DC0-B229-BEF8-DEEE-14EEE0C27B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1037FDE-49B0-D644-14C6-2620F2A5D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83D0E110-9CCD-BF3D-10BA-1FB38E2A69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FEED45F-FB1F-C91C-6E19-2DE0CAECF4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F4C9D8DA-323F-72BD-BB73-EDAF851A39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D74BFB02-4919-64AA-1931-39D6E14AF7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42A5A90-B9FA-A212-D807-FC341B793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CB197BE5-2BF8-B594-3519-2E1349C06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AFF91C59-5A6E-11D0-B6D1-326BBF1BD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FDE9D9BE-D20F-7602-EC6F-513EF7DD00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EE948A67-DA8F-7EC9-54CA-65A3EB6AA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06BEA16D-D79C-89C2-F223-F0779F0E7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0AC5328D-D015-1113-592A-74DAE2D86E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14D09BC2-1EDC-14B3-89F1-F3219A571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1394A63-29E5-F77F-D6C6-F40D75177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4D5809-B0DE-72E3-86FC-1FCD3B246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53197ABC-7F0D-B21C-7FA8-8D32BCD9C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4FDFE620-0F82-6A43-0103-1213B1BCE0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E19E161F-0EFD-3E22-FCE4-9CF3FB9B43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B9964C8-6EA8-58B1-1C4B-63364B9B6B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DE88C43E-7725-03DE-0A0C-A625BD121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070F7481-AC7C-0D13-C22D-68EDE241C5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C89DCD38-F449-18F5-08E9-5A2E15EB0BBC}"/>
              </a:ext>
            </a:extLst>
          </p:cNvPr>
          <p:cNvSpPr txBox="1"/>
          <p:nvPr/>
        </p:nvSpPr>
        <p:spPr>
          <a:xfrm>
            <a:off x="713782" y="1341402"/>
            <a:ext cx="8201618" cy="5364198"/>
          </a:xfrm>
          <a:prstGeom prst="rect">
            <a:avLst/>
          </a:prstGeom>
        </p:spPr>
        <p:txBody>
          <a:bodyPr vert="horz" lIns="91440" tIns="45720" rIns="91440" bIns="45720" rtlCol="0">
            <a:noAutofit/>
          </a:bodyPr>
          <a:lstStyle/>
          <a:p>
            <a:pPr>
              <a:lnSpc>
                <a:spcPct val="90000"/>
              </a:lnSpc>
              <a:spcAft>
                <a:spcPts val="800"/>
              </a:spcAft>
            </a:pPr>
            <a:r>
              <a:rPr lang="en-US" sz="2800" b="1" spc="86" dirty="0">
                <a:solidFill>
                  <a:schemeClr val="bg1"/>
                </a:solidFill>
              </a:rPr>
              <a:t>A. Why the research problem matters in ICT</a:t>
            </a:r>
          </a:p>
          <a:p>
            <a:pPr lvl="1" indent="-228600">
              <a:lnSpc>
                <a:spcPct val="90000"/>
              </a:lnSpc>
              <a:spcAft>
                <a:spcPts val="800"/>
              </a:spcAft>
              <a:buFont typeface="Arial" panose="020B0604020202020204" pitchFamily="34" charset="0"/>
              <a:buChar char="•"/>
            </a:pPr>
            <a:r>
              <a:rPr lang="en-US" sz="2400" spc="86" dirty="0">
                <a:solidFill>
                  <a:schemeClr val="bg1"/>
                </a:solidFill>
              </a:rPr>
              <a:t>A research problem tells your supervisor and your reader exactly what you intend to investigate. </a:t>
            </a:r>
          </a:p>
          <a:p>
            <a:pPr lvl="1" indent="-228600">
              <a:lnSpc>
                <a:spcPct val="90000"/>
              </a:lnSpc>
              <a:spcAft>
                <a:spcPts val="800"/>
              </a:spcAft>
              <a:buFont typeface="Arial" panose="020B0604020202020204" pitchFamily="34" charset="0"/>
              <a:buChar char="•"/>
            </a:pPr>
            <a:r>
              <a:rPr lang="en-US" sz="2400" spc="86" dirty="0">
                <a:solidFill>
                  <a:schemeClr val="bg1"/>
                </a:solidFill>
              </a:rPr>
              <a:t>If it is vague, everything becomes vague: </a:t>
            </a:r>
          </a:p>
          <a:p>
            <a:pPr lvl="2" indent="-228600">
              <a:lnSpc>
                <a:spcPct val="90000"/>
              </a:lnSpc>
              <a:spcAft>
                <a:spcPts val="800"/>
              </a:spcAft>
              <a:buFont typeface="Arial" panose="020B0604020202020204" pitchFamily="34" charset="0"/>
              <a:buChar char="•"/>
            </a:pPr>
            <a:r>
              <a:rPr lang="en-US" sz="2400" spc="86" dirty="0">
                <a:solidFill>
                  <a:schemeClr val="bg1"/>
                </a:solidFill>
              </a:rPr>
              <a:t>your data collection questions become unclear, </a:t>
            </a:r>
          </a:p>
          <a:p>
            <a:pPr lvl="2" indent="-228600">
              <a:lnSpc>
                <a:spcPct val="90000"/>
              </a:lnSpc>
              <a:spcAft>
                <a:spcPts val="800"/>
              </a:spcAft>
              <a:buFont typeface="Arial" panose="020B0604020202020204" pitchFamily="34" charset="0"/>
              <a:buChar char="•"/>
            </a:pPr>
            <a:r>
              <a:rPr lang="en-US" sz="2400" spc="86" dirty="0">
                <a:solidFill>
                  <a:schemeClr val="bg1"/>
                </a:solidFill>
              </a:rPr>
              <a:t>your sample becomes random, and </a:t>
            </a:r>
          </a:p>
          <a:p>
            <a:pPr lvl="2" indent="-228600">
              <a:lnSpc>
                <a:spcPct val="90000"/>
              </a:lnSpc>
              <a:spcAft>
                <a:spcPts val="800"/>
              </a:spcAft>
              <a:buFont typeface="Arial" panose="020B0604020202020204" pitchFamily="34" charset="0"/>
              <a:buChar char="•"/>
            </a:pPr>
            <a:r>
              <a:rPr lang="en-US" sz="2400" spc="86" dirty="0">
                <a:solidFill>
                  <a:schemeClr val="bg1"/>
                </a:solidFill>
              </a:rPr>
              <a:t>your analysis becomes unfocused. </a:t>
            </a:r>
          </a:p>
        </p:txBody>
      </p:sp>
      <p:grpSp>
        <p:nvGrpSpPr>
          <p:cNvPr id="155" name="Graphic 190">
            <a:extLst>
              <a:ext uri="{FF2B5EF4-FFF2-40B4-BE49-F238E27FC236}">
                <a16:creationId xmlns:a16="http://schemas.microsoft.com/office/drawing/2014/main" id="{B85D5EC2-3095-BF5E-5082-689433B352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259C30FD-75E0-A2CD-3D1E-F26AD3510D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B354C777-EFF5-3868-5A55-21CAE8FD6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9806C7D0-777E-3A94-E13C-17DA8067A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78EF3FDB-8E9A-E236-4B76-F68C2E4B12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579980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1DAD9C08-AB33-F8A8-0BD1-46C41EA2C2D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63E990C-FE14-96B6-CECD-C44B19CD9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894AEA1F-B451-25D9-D9FE-7484ABCACD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7F940329-D2D8-8D86-518C-EB39634D09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43DDCFD-50BC-28B5-6149-F3CC9144D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146FFB8-E677-54B5-12C4-85656B6F7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AB83AB6-0ABC-CB20-571D-BC29C18F4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9B67AE8D-37DF-CBF1-0315-A90829A45A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995BFDB-2234-0EA8-D250-7DCF608B9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FF2E54A-9683-8308-B739-DC90294DE2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A97BCE6-CD73-D3F6-DE3F-67CCFF64CF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5F9A06E-4726-C203-6505-10DBE5AA8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A4A8453-5628-8212-E6B3-D0DF2B50A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EF6F1794-F530-B4F6-B816-FA8755DDFB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9C84395-379F-D4B1-0259-28A142BA04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B080F0-F87D-4FDE-792A-C8C2BF8E93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3530D00-52EC-A267-8454-39D4CB3E9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DDFB3FF9-8CB8-8EC7-897F-571798074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BE80B34-BDA0-3D88-38C9-701BF687BE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12988EF-06B8-750A-AC1A-883CBA0F17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8B45571-BDD0-1AC5-58C0-CB05567DD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B54D99B-F72C-5312-10FB-599B34FF8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9799E86-54C0-41DA-0347-96390A171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EA79585-6B02-FC17-61AF-B9C7465736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AB6D73C-3CE7-0275-7396-B26F634CDD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8B0C3206-1132-D51C-E498-A5566AFDC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12B4B0F9-38D1-1130-0DBA-13066B284E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2FCFE01-1F0D-23A9-114F-83EB80BBD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C6008D77-ECAC-2EA8-79B3-E3C4B8A6B6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3618D93-5D95-6F90-B2BE-402A3E1272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317F1AF9-4B05-B6CD-B17D-609F6E5B4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D42301-D4F4-1F6C-3BF8-8D38B1388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4D7BDA7-0235-2172-45A3-BAEFC96385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63E4A26-A738-FA0C-3BC7-D77A67E45C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328FC115-D096-754F-1752-EEE2D1F79A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C68E643-E5AC-905B-8388-72E446BD80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18F277D6-9DD7-BA26-3C27-87789B48C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262C6844-FFEC-07A5-CAAF-91E2FD4303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E25FE628-7741-C332-539E-1CF7D6C0E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9B122FB-B170-9F89-52A1-44A3C7139D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BE328EB2-D091-2C87-F8E8-BE23EC6F2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8FE93BF1-96A6-7951-12AE-A40BE3B7B2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77A4167-615F-CB32-A9AB-3AA2151C9B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AEAA77A9-2262-D951-1C3E-C7C3B653C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41A82CCB-9E30-9641-2604-386A0A779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4FD1CF54-6E5F-648C-5039-5D70FB5F3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5302186F-9637-C11A-929E-C98470CA50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BAD56EF1-09CD-F45B-A7DB-C33A1EA296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C3D95D23-C866-B9FF-9D9B-432C2AF29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C8DDF4C1-4C8D-0522-30F3-F3E0B14709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33CE1F1-1272-1649-91AD-DF87DBAB4A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E6BDC6D6-DC1C-6451-E7FD-244C25DD3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1256CB7B-CBEC-7FE1-C9C3-FE185935E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6C9A5BB6-E3E5-A75D-A96E-335CD2A19B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B8823912-CCB7-8262-FB1A-AED2F94D55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0B52628B-7604-B288-ADD2-C5B02C5EEF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9467236B-2CFE-E757-DB2A-151A169FC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6A743228-A044-F236-5DEB-9E1B506867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8EF8A63A-8D79-46AA-96EA-D9AD5BF92E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EA86FDA7-B956-FB24-1C2D-14B1DDA368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BC65FD11-2A93-88EE-5B6A-F3E9DA200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3BAF830-713F-5FD2-702A-13A2A069BA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BD146B5D-A513-6BEC-ED26-934DFF123F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1D040243-7A39-C772-A0B9-9B801AFF6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82BD6426-E001-C9FD-345B-EDAA97A165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0A3244ED-4660-7191-6AD1-68B69E37E5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3B813369-CDDE-D5F0-A5A5-C7D1A32AB4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D9259111-60DD-1BA8-A4FA-E48958B55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69A74285-20C5-D7E2-E824-27A1BEDD30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04956A27-0CD9-8A32-5290-62AB361B4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BF53BD81-0AD0-4CAA-B0DA-5F74450712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9D9CCCA-001B-3B6C-1F63-AE28D000C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26B8E96-3920-D9E9-F7A5-DEBEBC37E0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BB558549-85A3-2D10-C284-031C1D6D4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56752258-1192-4A8F-E909-307AB990AF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5EE2AD4C-DEB2-7AE4-6591-863E10FFCE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0DBCE679-557A-AEDC-326F-0707F2D4FA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93E43422-1DB4-3B5E-B872-31633C55BD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026DABBD-7E52-B95B-D90F-D05DCB88D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2A27D678-E33A-1DE0-CC6B-2E5A8CA149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4BBBD238-F1C0-4A58-E461-E368B42ED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14FA8830-FE7D-888E-F73F-B420C0FD4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AE31B41B-4F2E-2DE7-FC08-180161B7C1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B6862A18-33FC-F7BE-4035-0DE9D90BF0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DFCC3E5C-002B-C65A-ADF2-F311213F58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898CECA3-3C56-C0A6-BC28-587618F2F5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D677EEB8-1669-411B-CEBF-B290BB95DB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923C2A0E-4453-25DE-7633-1447A8D0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A284E25-A6E2-3500-116B-4AB226125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6F2DCA80-8F6A-4222-0CAD-22930B17B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A0CD76CA-C320-309B-5D86-BBDC07EE7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7F53297B-E7DD-5F13-AC5E-1056BEEB3A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7C6558A9-9FD5-4220-C7F1-635B0EF209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CA80ACBD-5C4D-5819-E1F8-2D8FE7E44D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B6F2611-D488-7A56-D103-803FCBFB5B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E07F49C6-6C79-AF1F-BA76-AC0426E5FF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EA94819C-EC51-CA5C-10B0-24DA87C40D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055B39C6-39BA-DB5D-FCA0-35BB495DF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A85615A3-135C-B548-471B-91B46F15AA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3A72D119-026E-EE7F-F840-6AD6513A57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46E39FB0-D7FC-E4B1-70A5-BBD5C2BE5B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981A4B41-DA7D-AA36-6A9F-88F34A5153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06D2A458-065E-F908-4C3C-949B8DB519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3C5126AF-BA16-F87B-3827-78CDFD1E00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A6FA85E9-DD73-3F64-BB42-7E1B37FB3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5D5B92E1-6946-A7CE-7B13-F18502A987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3E56BBA5-6224-A618-5CF0-C131672BA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7D5BD940-B2BD-ABC8-411C-DFEF7AFD19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4902007F-A954-2F3D-4FC3-574229A66D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5CD70F89-133F-B68A-5FE9-252CEE8088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583414A0-C227-4F37-73D2-7276E76D9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5E9551D0-7CB7-464A-D567-D37D65F9F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4BB3B92A-3250-5DEF-4F92-08003C80A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B018BC9B-009F-8D90-763B-CB07095DF1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C4373E7D-1864-EA3C-F61D-0BE0D7839E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A6D66143-C949-D552-D180-C9B1C5908C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B36534A3-046C-C2DB-B80D-37391B22E8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BA2BC65-19B6-0869-F323-4F2A6DC787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F3769981-9655-8CDF-7444-6626D2F68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BEC47EBD-A518-BD55-55B8-E3964527C6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D3CDA09D-11C3-D352-A5BE-8F492F78F0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89D789F-B7ED-0EAD-716B-3E417F961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4943406E-C443-C83A-A48C-CE5ABD847B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079AC46E-C896-A2CA-183E-3AD61F585E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28E93190-591E-0F31-0004-63AA6217D1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7C76CC0C-FC45-309B-FC3D-92E090FAF0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26F89372-FDD1-BB7F-AB4A-3C3E465A52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CE1C4EE0-DFAD-65E6-D82E-937026A67B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A81AA35F-0347-C9AF-6A0F-0A14C80B1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73673154-C68F-BCF7-C628-24DBBDFC5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15353BA5-1081-9296-BE2F-A56B9C9E8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E9EE0395-9174-430E-4E9D-A2818444E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7DE69E5-59D2-AEF5-7B1E-F6592ADF6A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00172E66-9261-8ADF-772A-B715FB96F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6D74758F-0F72-405E-72E6-9C086976D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E8F1FD54-6DCB-ABC9-9328-7B6607393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09C719A5-2F36-BA90-AF0C-BEB38DE894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288A1C-0859-8013-391D-11646EC501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92C639F4-1882-5C35-D9E2-92215A5DB9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DA3C63FC-C2C8-D1B4-9237-A9BB587C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6DED06A0-799C-8DD6-EA77-7926384244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E56D1469-A938-3565-FD90-4085D8AF12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C0A37DF2-0B22-BC21-9BAE-B4F07FC63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9F07564-3209-0347-CF7F-B93EC4B89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AD2320A-B849-ACCE-6F86-EF1B9E73A8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CACEDB66-9466-065F-78DE-15684378A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FB77BD0A-6049-4FDD-192B-6FE686A7DC29}"/>
              </a:ext>
            </a:extLst>
          </p:cNvPr>
          <p:cNvSpPr txBox="1"/>
          <p:nvPr/>
        </p:nvSpPr>
        <p:spPr>
          <a:xfrm>
            <a:off x="713782" y="1341402"/>
            <a:ext cx="8201618" cy="5364198"/>
          </a:xfrm>
          <a:prstGeom prst="rect">
            <a:avLst/>
          </a:prstGeom>
        </p:spPr>
        <p:txBody>
          <a:bodyPr vert="horz" lIns="91440" tIns="45720" rIns="91440" bIns="45720" rtlCol="0">
            <a:noAutofit/>
          </a:bodyPr>
          <a:lstStyle/>
          <a:p>
            <a:pPr>
              <a:lnSpc>
                <a:spcPct val="90000"/>
              </a:lnSpc>
              <a:spcAft>
                <a:spcPts val="800"/>
              </a:spcAft>
            </a:pPr>
            <a:r>
              <a:rPr lang="en-US" sz="2800" b="1" spc="86" dirty="0">
                <a:solidFill>
                  <a:schemeClr val="bg1"/>
                </a:solidFill>
              </a:rPr>
              <a:t>A. Why the research problem matters in ICT</a:t>
            </a:r>
          </a:p>
          <a:p>
            <a:pPr lvl="1" indent="-228600">
              <a:lnSpc>
                <a:spcPct val="90000"/>
              </a:lnSpc>
              <a:spcAft>
                <a:spcPts val="800"/>
              </a:spcAft>
              <a:buFont typeface="Arial" panose="020B0604020202020204" pitchFamily="34" charset="0"/>
              <a:buChar char="•"/>
            </a:pPr>
            <a:r>
              <a:rPr lang="en-US" sz="2400" spc="86" dirty="0">
                <a:solidFill>
                  <a:schemeClr val="bg1"/>
                </a:solidFill>
              </a:rPr>
              <a:t>If it is precise, the rest of the study becomes easier to plan and justify. </a:t>
            </a:r>
          </a:p>
          <a:p>
            <a:pPr lvl="1" indent="-228600">
              <a:lnSpc>
                <a:spcPct val="90000"/>
              </a:lnSpc>
              <a:spcAft>
                <a:spcPts val="800"/>
              </a:spcAft>
              <a:buFont typeface="Arial" panose="020B0604020202020204" pitchFamily="34" charset="0"/>
              <a:buChar char="•"/>
            </a:pPr>
            <a:r>
              <a:rPr lang="en-US" sz="2400" spc="86" dirty="0">
                <a:solidFill>
                  <a:schemeClr val="bg1"/>
                </a:solidFill>
              </a:rPr>
              <a:t>In ICT, the research problem often emerges from practice, for example, </a:t>
            </a:r>
          </a:p>
          <a:p>
            <a:pPr lvl="2" indent="-228600">
              <a:lnSpc>
                <a:spcPct val="90000"/>
              </a:lnSpc>
              <a:spcAft>
                <a:spcPts val="800"/>
              </a:spcAft>
              <a:buFont typeface="Arial" panose="020B0604020202020204" pitchFamily="34" charset="0"/>
              <a:buChar char="•"/>
            </a:pPr>
            <a:r>
              <a:rPr lang="en-US" sz="2400" spc="86" dirty="0">
                <a:solidFill>
                  <a:schemeClr val="bg1"/>
                </a:solidFill>
              </a:rPr>
              <a:t>recurring security incidents, </a:t>
            </a:r>
          </a:p>
          <a:p>
            <a:pPr lvl="2" indent="-228600">
              <a:lnSpc>
                <a:spcPct val="90000"/>
              </a:lnSpc>
              <a:spcAft>
                <a:spcPts val="800"/>
              </a:spcAft>
              <a:buFont typeface="Arial" panose="020B0604020202020204" pitchFamily="34" charset="0"/>
              <a:buChar char="•"/>
            </a:pPr>
            <a:r>
              <a:rPr lang="en-US" sz="2400" spc="86" dirty="0">
                <a:solidFill>
                  <a:schemeClr val="bg1"/>
                </a:solidFill>
              </a:rPr>
              <a:t>user complaints, </a:t>
            </a:r>
          </a:p>
          <a:p>
            <a:pPr lvl="2" indent="-228600">
              <a:lnSpc>
                <a:spcPct val="90000"/>
              </a:lnSpc>
              <a:spcAft>
                <a:spcPts val="800"/>
              </a:spcAft>
              <a:buFont typeface="Arial" panose="020B0604020202020204" pitchFamily="34" charset="0"/>
              <a:buChar char="•"/>
            </a:pPr>
            <a:r>
              <a:rPr lang="en-US" sz="2400" spc="86" dirty="0">
                <a:solidFill>
                  <a:schemeClr val="bg1"/>
                </a:solidFill>
              </a:rPr>
              <a:t>high defect rates after deployment, </a:t>
            </a:r>
          </a:p>
          <a:p>
            <a:pPr lvl="2" indent="-228600">
              <a:lnSpc>
                <a:spcPct val="90000"/>
              </a:lnSpc>
              <a:spcAft>
                <a:spcPts val="800"/>
              </a:spcAft>
              <a:buFont typeface="Arial" panose="020B0604020202020204" pitchFamily="34" charset="0"/>
              <a:buChar char="•"/>
            </a:pPr>
            <a:r>
              <a:rPr lang="en-US" sz="2400" spc="86" dirty="0">
                <a:solidFill>
                  <a:schemeClr val="bg1"/>
                </a:solidFill>
              </a:rPr>
              <a:t>low adoption of a new system, or </a:t>
            </a:r>
          </a:p>
          <a:p>
            <a:pPr lvl="2" indent="-228600">
              <a:lnSpc>
                <a:spcPct val="90000"/>
              </a:lnSpc>
              <a:spcAft>
                <a:spcPts val="800"/>
              </a:spcAft>
              <a:buFont typeface="Arial" panose="020B0604020202020204" pitchFamily="34" charset="0"/>
              <a:buChar char="•"/>
            </a:pPr>
            <a:r>
              <a:rPr lang="en-US" sz="2400" spc="86" dirty="0">
                <a:solidFill>
                  <a:schemeClr val="bg1"/>
                </a:solidFill>
              </a:rPr>
              <a:t>conflicting views about a new technology, such as AI coding assistants.</a:t>
            </a:r>
          </a:p>
          <a:p>
            <a:pPr indent="-228600">
              <a:lnSpc>
                <a:spcPct val="90000"/>
              </a:lnSpc>
              <a:spcAft>
                <a:spcPts val="800"/>
              </a:spcAft>
              <a:buFont typeface="Arial" panose="020B0604020202020204" pitchFamily="34" charset="0"/>
              <a:buChar char="•"/>
            </a:pPr>
            <a:endParaRPr lang="en-US" sz="2800" spc="86" dirty="0">
              <a:solidFill>
                <a:schemeClr val="bg1"/>
              </a:solidFill>
            </a:endParaRPr>
          </a:p>
        </p:txBody>
      </p:sp>
      <p:grpSp>
        <p:nvGrpSpPr>
          <p:cNvPr id="155" name="Graphic 190">
            <a:extLst>
              <a:ext uri="{FF2B5EF4-FFF2-40B4-BE49-F238E27FC236}">
                <a16:creationId xmlns:a16="http://schemas.microsoft.com/office/drawing/2014/main" id="{13671F6C-7351-7A21-B5A4-12F1E389B9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E05C5FE8-1D6F-5D43-9AB0-EF9197B3DA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8D6E3467-BF30-7FC8-B1F0-15CAEA1D31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7E04EC6D-5CFE-154F-A1DF-07556CA5E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128E4F85-A3F7-23FC-31F7-0FE56396E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2439853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0394BF5D-6479-1BA8-D72F-747C457C8EC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A898400-76CA-C778-6C31-6DEB39557B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36039875-E623-0C1A-4615-47061BE2A3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584722C5-BBE8-A89A-CF8E-3FEB61F81E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7BA5DA2B-3569-08A8-C7D6-702186545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01DCC4A-9726-0BD3-595B-7EEEB57D4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CB62389-7D51-5224-B21F-260126B81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7BD94DB-EA09-82BA-42E2-6AEC3DEB7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1120F96-2080-74CB-E3ED-D25ECB5A3E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DB7EE64-0973-8996-7132-6C848D7C23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67C79DF-52A6-AFC5-2C94-838589A8CA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6981A0B3-90F8-B529-A0D8-C5319A5E8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B28FE2B-E980-A837-8A03-CC11BBDB9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6EA172C-22A9-00C0-65C3-C6AA864BDA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8824D17-3276-C2FB-076F-6BB753526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94496EA-992C-391A-27E5-36DA4343ED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F07E17F-9744-F832-78AC-E993F7D0C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ED23695-8484-AC1E-6D59-45E8C89C60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1A1BDD8C-3CF8-81C2-9166-560EB0B2C1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092DA952-28B4-889C-75A0-B186EE3E66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03A574F-3428-3A33-54C6-96D8A25607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507C5926-E24A-FFA3-4D4A-ADB01A95B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310909D-D3BE-0CA4-F6F7-AF5AA4484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F550390-B501-7D52-2F88-6134CC4FE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3732A394-14B7-95C7-71DF-CF651A5733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6C5E78D-F771-AD77-BCE3-51E54F272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58EA1377-15CA-9FB3-2B44-B8AA69B45C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9850105-BAA5-13B8-DC88-807938A24F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9E27FE0-D2D4-9B91-6D17-E5B065889D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D3DA637C-2A90-5609-DB4F-FA5E4C7A43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1BC07C99-3BB6-557B-8F9D-5798702468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B34028E4-38C5-28E1-00B5-0D3B6E2DA5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285800C-4A7B-2504-0EE6-9AAC1355EC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2E30F756-D9EC-D299-BC39-2CAB214E13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4BE52446-2182-5FDB-E06E-34B1486C8C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C97BA27-FC39-5103-162B-3519A50AD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6A86FD45-A04A-4296-ED3C-D529816C9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3B2C1025-356E-7B64-3068-3DED843BF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0C30770F-665A-8F7C-BC46-636E757BA7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B5F471E-F9C5-BB8A-35AC-01F938EF84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45FE140D-06E3-9DAF-2DB2-4ABAE5C37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26E4A73-572E-C803-F324-474795871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6F5242C-92CF-BF79-7750-EB3C12934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B3A21980-CFB1-E263-9476-247155F984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6D5CFF88-F44D-E833-DDDD-28D89531B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A19797E-00C6-01BB-035E-F0DE777B18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A781CE02-ECE1-4FC5-3089-980524A822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2441579B-7D06-6DCA-1A41-D760CA018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4F716984-5D25-D1DE-71A3-03383548F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046F74F-EF11-9431-BC15-DAC2361E54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847E2ADA-1AB0-9219-A748-61BD48958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921CE8B5-1315-3013-4D9B-A6ED080E8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6EBE53A4-A6EC-8B77-AF80-7932A87964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AB432C8C-382F-5D34-46F5-951942E2F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BD0C86A5-1C37-9002-059D-9933C645F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30CBDCDD-7CD0-B385-2CF3-BF9E9135F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F898ED84-954E-141A-626F-26A43F8525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D653CBB9-363D-8C5C-E450-51EC63D19E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FB6376D-BF12-8CAF-014C-9CCFFE651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6265F066-9165-8242-D970-D06032C8F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6FCF9161-7068-E26E-6C68-C4B5757B5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F32214C1-F2B8-C86A-5E61-C5D964A43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401185EB-A7B7-9B44-86C1-26703CE9EA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70F2D8D5-28D7-1AF4-33D9-E7BC57F14C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8ECA9C3C-B2AA-CE6A-FA15-7982A9ED4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061FE929-0150-0E00-6358-DA22AE4C6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A4BD8C9D-E0B8-A064-A80C-30959D2395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5C3E9A2-895F-1EE6-FDDC-C68C5D694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FBDE13C-18FD-CA12-B544-E708550389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CC2C5E2E-57F7-FB71-077F-DF4D613CCA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6BDCB409-0D7E-E783-1F57-E394A5EF7F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DEEB13DE-7226-7608-739C-28D4F113B8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588E3E42-9E7F-15F5-C8D0-56797DD573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D7033311-C60C-963D-7575-A24774A85D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A160C82D-6DBF-B924-4877-AB793793D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7EC3C3D4-7626-9AA2-4F21-639E34459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7C58F16F-0D2B-984D-9CD8-AF1D68AED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B5831E01-C04D-4037-87EB-25079174D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DBBF972-DD9E-AC18-98A3-9F7D987F6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56B8D2F7-B879-2AE6-C118-3DB598452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945FBD7B-4B25-FAD0-ACB7-0C7D701E4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CB50443-D675-F4A7-89E2-48255EB45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0E6562AB-99CB-734D-5EE2-568EE04EAE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597D3229-A8FE-8A79-ACE7-B0B2D37ECE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81CF788-FF2B-2A85-B0A7-97AEF9FF3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9DB8A31-B6CB-9F2C-CA0F-0355A1496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B6445F59-7293-5E5F-7E5D-E5F3F73236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225B7FE4-DC90-C88C-7656-2243E91F4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C8CE9544-B456-0C3C-416B-D1552B0547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2EA2CFB-42CF-DF65-CF87-8E1A8009F1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309BE36E-41F7-4EF0-E1E3-AAE9BB8E0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D2E5B68F-891C-C5CD-9417-CAC7FAE054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A355682-621E-0CB3-77A9-E23871E01B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CD9B2CA-B807-FCAF-C7A3-DA2F02053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EDF6DA4E-484F-C1D4-EDB5-C7F32A0A4A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DC92140B-B2E9-3349-940C-8EC9F54AB1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2AC50C42-83FB-5DC8-3C4E-277BE9BB43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CA1D71B9-58D5-AEB9-BB3C-0E79783F9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CC91DB04-90E0-A608-FB35-D32499113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B13EAD53-EB1D-B6DC-181C-82F11DB564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05B91E54-7FDB-0D67-7CD1-19EAA8F61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43889135-6C69-A709-973A-E1C643124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A8D9AB6D-02EC-2B10-908E-23A7CBC39F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486C6ED9-4A0D-CF47-454B-854356D88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90CE1B89-CFB0-DC5A-F0E6-F9C3B8540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17D51D9E-B0FD-EA81-202C-6DD78F9264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70B3E2FF-B82F-63AB-611E-5EFDFB6B1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40B37335-8CE1-CF2E-1C70-21366E792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DF34E9E9-CEBC-55AC-AFCB-D38437CF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38C59D2E-DE25-8FCF-0B17-21F74A934D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052E6B9F-3DB9-A646-8235-843EBEB9F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700BA499-C9BC-5417-3C5B-99FFD808F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BFB0CBDC-E5AF-1E24-9B6D-35428C22E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EDA61CD-C77F-B754-6234-3075F8D432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B92435E7-FA2B-8B20-B3BA-9AD4CBAB2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393CFCA-DBAC-06EF-724B-6475CDD92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8134F47D-DC18-6BC6-4E17-5BA4A29BBE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79BC4C7B-ABBE-CEAF-3255-E8787F105B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3362431A-7936-4977-8918-6E86133B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0C28C3AA-D477-7E11-95E3-24BF50064E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30754C08-7DC3-8E5E-0B45-F726C4B2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ABBEFCF6-CE1F-D1D6-7470-36A9E726B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8A26649C-8357-D701-245C-F0014D5DF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504508A2-8629-4265-4A90-5B82DF05D1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0D040774-EECF-6E7B-C14E-D4721B3CD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D7F5AB78-BCE8-4BDE-29DF-A19D9CF95D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770E5195-7506-3EA6-3361-975D1B510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64089AF-E95B-58CD-097E-E452FAD862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17258EE-D5E3-238F-74BA-F0E138FD4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D548D7C9-5542-5B0A-D7C4-F2A65EFA3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FA45A5D8-4847-30B9-7209-3C4F7F707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8692FD13-096E-918F-081E-563E0FD215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1EC9E18F-CBB8-EDE7-D352-694D97590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53EC76B6-19BA-C858-E564-86007A45C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C72EA04B-7F4B-5608-06DF-877C833FE3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6F7973E-2BF1-E9ED-DB58-7F4E41BFFF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F27F67BB-EB40-DA6B-183A-E8891CD30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FD6013C3-5355-6C5D-3BC5-BFE957F82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D88E3735-6772-5A2C-FBC4-1CB8B7DE9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EBD4825-24C8-6C6B-1FC5-036466F8E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CE7E59B5-3CDF-E99B-61E3-C84DD5308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A04399AD-CB0D-DC52-649C-F835889B09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3EDB02F2-D2E8-C572-E3E0-2A0479539D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673265DE-0699-F03A-44D9-5B5123EAE2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C92F751C-CB85-7CCB-9BD1-8C622211A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C4C581BB-1EC7-B667-E6C2-7F9361D0D9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91E1399E-5075-7C31-98B9-B16C0D5B21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D5A1E3FB-2CAB-BFFB-6AF6-B84271527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6EEAC697-89C4-EF9E-8EAD-59C696A294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1D740C01-426C-472D-E6B6-976938837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1897FA90-263D-7821-28A1-F6AC6B1F7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B3263511-9E8D-1C31-D29F-31B50DDCCEF3}"/>
              </a:ext>
            </a:extLst>
          </p:cNvPr>
          <p:cNvSpPr txBox="1"/>
          <p:nvPr/>
        </p:nvSpPr>
        <p:spPr>
          <a:xfrm>
            <a:off x="228600" y="336988"/>
            <a:ext cx="8305800" cy="6749612"/>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2800" b="1" spc="86" dirty="0">
                <a:solidFill>
                  <a:schemeClr val="bg1"/>
                </a:solidFill>
              </a:rPr>
              <a:t>B. ICT practice examples of research triggers:</a:t>
            </a:r>
          </a:p>
          <a:p>
            <a:pPr>
              <a:lnSpc>
                <a:spcPct val="90000"/>
              </a:lnSpc>
              <a:spcAft>
                <a:spcPts val="800"/>
              </a:spcAft>
            </a:pPr>
            <a:endParaRPr lang="en-US" sz="2800" b="1" spc="86" dirty="0">
              <a:solidFill>
                <a:schemeClr val="bg1"/>
              </a:solidFill>
            </a:endParaRPr>
          </a:p>
          <a:p>
            <a:pPr>
              <a:lnSpc>
                <a:spcPct val="90000"/>
              </a:lnSpc>
              <a:spcAft>
                <a:spcPts val="800"/>
              </a:spcAft>
            </a:pPr>
            <a:endParaRPr lang="en-US" sz="2800" spc="86" dirty="0">
              <a:solidFill>
                <a:schemeClr val="bg1"/>
              </a:solidFill>
            </a:endParaRPr>
          </a:p>
          <a:p>
            <a:r>
              <a:rPr lang="en-US" dirty="0">
                <a:solidFill>
                  <a:schemeClr val="bg1"/>
                </a:solidFill>
              </a:rPr>
              <a:t>• </a:t>
            </a:r>
            <a:r>
              <a:rPr lang="en-US" sz="2400" dirty="0">
                <a:solidFill>
                  <a:schemeClr val="bg1"/>
                </a:solidFill>
              </a:rPr>
              <a:t>A helpdesk notices that password reset requests spike after every system update and wants to understand why.</a:t>
            </a:r>
          </a:p>
          <a:p>
            <a:endParaRPr lang="en-ZA" sz="2400" dirty="0">
              <a:solidFill>
                <a:schemeClr val="bg1"/>
              </a:solidFill>
            </a:endParaRPr>
          </a:p>
          <a:p>
            <a:r>
              <a:rPr lang="en-US" sz="2400" dirty="0">
                <a:solidFill>
                  <a:schemeClr val="bg1"/>
                </a:solidFill>
              </a:rPr>
              <a:t>• A development team suspects that AI code generation increases speed but may introduce hidden security flaws.</a:t>
            </a:r>
            <a:endParaRPr lang="en-ZA" sz="2400" dirty="0">
              <a:solidFill>
                <a:schemeClr val="bg1"/>
              </a:solidFill>
            </a:endParaRPr>
          </a:p>
          <a:p>
            <a:endParaRPr lang="en-US" sz="2400" dirty="0">
              <a:solidFill>
                <a:schemeClr val="bg1"/>
              </a:solidFill>
            </a:endParaRPr>
          </a:p>
          <a:p>
            <a:r>
              <a:rPr lang="en-US" sz="2400" dirty="0">
                <a:solidFill>
                  <a:schemeClr val="bg1"/>
                </a:solidFill>
              </a:rPr>
              <a:t>• An institution deploys a new learning platform feature, but student usage is low despite training sessions.</a:t>
            </a:r>
            <a:endParaRPr lang="en-ZA" sz="2400" dirty="0">
              <a:solidFill>
                <a:schemeClr val="bg1"/>
              </a:solidFill>
            </a:endParaRPr>
          </a:p>
        </p:txBody>
      </p:sp>
    </p:spTree>
    <p:extLst>
      <p:ext uri="{BB962C8B-B14F-4D97-AF65-F5344CB8AC3E}">
        <p14:creationId xmlns:p14="http://schemas.microsoft.com/office/powerpoint/2010/main" val="3121954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flipH="1">
            <a:off x="-1295402" y="-2286000"/>
            <a:ext cx="5181601" cy="11245010"/>
          </a:xfrm>
          <a:prstGeom prst="rect">
            <a:avLst/>
          </a:prstGeom>
        </p:spPr>
      </p:pic>
      <p:sp>
        <p:nvSpPr>
          <p:cNvPr id="6" name="TextBox 6"/>
          <p:cNvSpPr txBox="1"/>
          <p:nvPr/>
        </p:nvSpPr>
        <p:spPr>
          <a:xfrm>
            <a:off x="152400" y="1600200"/>
            <a:ext cx="3276600" cy="1983235"/>
          </a:xfrm>
          <a:prstGeom prst="rect">
            <a:avLst/>
          </a:prstGeom>
        </p:spPr>
        <p:txBody>
          <a:bodyPr wrap="square" lIns="0" tIns="0" rIns="0" bIns="0" rtlCol="0" anchor="t">
            <a:spAutoFit/>
          </a:bodyPr>
          <a:lstStyle/>
          <a:p>
            <a:pPr>
              <a:lnSpc>
                <a:spcPts val="3919"/>
              </a:lnSpc>
            </a:pPr>
            <a:r>
              <a:rPr lang="en-US" sz="2799" dirty="0">
                <a:latin typeface="League Spartan"/>
              </a:rPr>
              <a:t>C. Characteristics of a good research problem</a:t>
            </a:r>
          </a:p>
        </p:txBody>
      </p:sp>
      <p:sp>
        <p:nvSpPr>
          <p:cNvPr id="7" name="TextBox 7"/>
          <p:cNvSpPr txBox="1"/>
          <p:nvPr/>
        </p:nvSpPr>
        <p:spPr>
          <a:xfrm>
            <a:off x="3962400" y="426958"/>
            <a:ext cx="5715000" cy="6647974"/>
          </a:xfrm>
          <a:prstGeom prst="rect">
            <a:avLst/>
          </a:prstGeom>
        </p:spPr>
        <p:txBody>
          <a:bodyPr wrap="square" lIns="0" tIns="0" rIns="0" bIns="0" rtlCol="0" anchor="t">
            <a:spAutoFit/>
          </a:bodyPr>
          <a:lstStyle/>
          <a:p>
            <a:r>
              <a:rPr lang="en-US" sz="2400" b="1" dirty="0">
                <a:solidFill>
                  <a:schemeClr val="bg1"/>
                </a:solidFill>
              </a:rPr>
              <a:t>A strong research problem is:</a:t>
            </a:r>
          </a:p>
          <a:p>
            <a:endParaRPr lang="en-ZA" sz="2400" dirty="0">
              <a:solidFill>
                <a:schemeClr val="bg1"/>
              </a:solidFill>
            </a:endParaRPr>
          </a:p>
          <a:p>
            <a:r>
              <a:rPr lang="en-US" sz="2400" dirty="0">
                <a:solidFill>
                  <a:schemeClr val="bg1"/>
                </a:solidFill>
              </a:rPr>
              <a:t>• </a:t>
            </a:r>
            <a:r>
              <a:rPr lang="en-US" sz="2400" b="1" dirty="0">
                <a:solidFill>
                  <a:schemeClr val="bg1"/>
                </a:solidFill>
              </a:rPr>
              <a:t>Clear and specific</a:t>
            </a:r>
            <a:r>
              <a:rPr lang="en-US" sz="2400" dirty="0">
                <a:solidFill>
                  <a:schemeClr val="bg1"/>
                </a:solidFill>
              </a:rPr>
              <a:t>: it states exactly what will be studied, in what context, and with whom.</a:t>
            </a:r>
            <a:endParaRPr lang="en-ZA" sz="2400" dirty="0">
              <a:solidFill>
                <a:schemeClr val="bg1"/>
              </a:solidFill>
            </a:endParaRPr>
          </a:p>
          <a:p>
            <a:endParaRPr lang="en-US" sz="2400" dirty="0">
              <a:solidFill>
                <a:schemeClr val="bg1"/>
              </a:solidFill>
            </a:endParaRPr>
          </a:p>
          <a:p>
            <a:r>
              <a:rPr lang="en-US" sz="2400" dirty="0">
                <a:solidFill>
                  <a:schemeClr val="bg1"/>
                </a:solidFill>
              </a:rPr>
              <a:t>• </a:t>
            </a:r>
            <a:r>
              <a:rPr lang="en-US" sz="2400" b="1" dirty="0">
                <a:solidFill>
                  <a:schemeClr val="bg1"/>
                </a:solidFill>
              </a:rPr>
              <a:t>Researchable</a:t>
            </a:r>
            <a:r>
              <a:rPr lang="en-US" sz="2400" dirty="0">
                <a:solidFill>
                  <a:schemeClr val="bg1"/>
                </a:solidFill>
              </a:rPr>
              <a:t>: it can be answered using </a:t>
            </a:r>
          </a:p>
          <a:p>
            <a:r>
              <a:rPr lang="en-US" sz="2400" dirty="0">
                <a:solidFill>
                  <a:schemeClr val="bg1"/>
                </a:solidFill>
              </a:rPr>
              <a:t>data, not only opinion.</a:t>
            </a:r>
            <a:endParaRPr lang="en-ZA" sz="2400" dirty="0">
              <a:solidFill>
                <a:schemeClr val="bg1"/>
              </a:solidFill>
            </a:endParaRPr>
          </a:p>
          <a:p>
            <a:endParaRPr lang="en-US" sz="2400" dirty="0">
              <a:solidFill>
                <a:schemeClr val="bg1"/>
              </a:solidFill>
            </a:endParaRPr>
          </a:p>
          <a:p>
            <a:r>
              <a:rPr lang="en-US" sz="2400" dirty="0">
                <a:solidFill>
                  <a:schemeClr val="bg1"/>
                </a:solidFill>
              </a:rPr>
              <a:t>• </a:t>
            </a:r>
            <a:r>
              <a:rPr lang="en-US" sz="2400" b="1" dirty="0">
                <a:solidFill>
                  <a:schemeClr val="bg1"/>
                </a:solidFill>
              </a:rPr>
              <a:t>Feasible</a:t>
            </a:r>
            <a:r>
              <a:rPr lang="en-US" sz="2400" dirty="0">
                <a:solidFill>
                  <a:schemeClr val="bg1"/>
                </a:solidFill>
              </a:rPr>
              <a:t>: it fits your time frame, access, budget, and skills.</a:t>
            </a:r>
            <a:endParaRPr lang="en-ZA" sz="2400" dirty="0">
              <a:solidFill>
                <a:schemeClr val="bg1"/>
              </a:solidFill>
            </a:endParaRPr>
          </a:p>
          <a:p>
            <a:endParaRPr lang="en-US" sz="2400" dirty="0">
              <a:solidFill>
                <a:schemeClr val="bg1"/>
              </a:solidFill>
            </a:endParaRPr>
          </a:p>
          <a:p>
            <a:r>
              <a:rPr lang="en-US" sz="2400" dirty="0">
                <a:solidFill>
                  <a:schemeClr val="bg1"/>
                </a:solidFill>
              </a:rPr>
              <a:t>• </a:t>
            </a:r>
            <a:r>
              <a:rPr lang="en-US" sz="2400" b="1" dirty="0">
                <a:solidFill>
                  <a:schemeClr val="bg1"/>
                </a:solidFill>
              </a:rPr>
              <a:t>Relevant</a:t>
            </a:r>
            <a:r>
              <a:rPr lang="en-US" sz="2400" dirty="0">
                <a:solidFill>
                  <a:schemeClr val="bg1"/>
                </a:solidFill>
              </a:rPr>
              <a:t>: it matters to an ICT context, such as improving quality, security, usability, or learning.</a:t>
            </a:r>
            <a:endParaRPr lang="en-ZA" sz="2400" dirty="0">
              <a:solidFill>
                <a:schemeClr val="bg1"/>
              </a:solidFill>
            </a:endParaRPr>
          </a:p>
          <a:p>
            <a:endParaRPr lang="en-US" sz="2400" dirty="0">
              <a:solidFill>
                <a:schemeClr val="bg1"/>
              </a:solidFill>
            </a:endParaRPr>
          </a:p>
          <a:p>
            <a:r>
              <a:rPr lang="en-US" sz="2400" dirty="0">
                <a:solidFill>
                  <a:schemeClr val="bg1"/>
                </a:solidFill>
              </a:rPr>
              <a:t>• </a:t>
            </a:r>
            <a:r>
              <a:rPr lang="en-US" sz="2400" b="1" dirty="0">
                <a:solidFill>
                  <a:schemeClr val="bg1"/>
                </a:solidFill>
              </a:rPr>
              <a:t>Ethically workable</a:t>
            </a:r>
            <a:r>
              <a:rPr lang="en-US" sz="2400" dirty="0">
                <a:solidFill>
                  <a:schemeClr val="bg1"/>
                </a:solidFill>
              </a:rPr>
              <a:t>: it can be done with consent and privacy safeguards when people or sensitive data are involved.</a:t>
            </a:r>
            <a:endParaRPr lang="en-ZA" sz="24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451BCD29-18C0-9ED4-4381-3EDCF9936EF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617222A-3907-5AD2-2AE4-33CFBFBD9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A6B1AA71-ED62-8FE5-D490-A82E5921F78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BA3D4AA7-3448-C1E0-27FB-7DE021FDF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2DC1C01B-4216-F206-DC1E-BD7B42F65D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BB856C5C-C2A8-68DA-45EB-FC5E6F7EF4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48832C4-6B76-4C6A-9311-626693B067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37EC208-AD20-0243-6EAB-9E42740C5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2118EAA-593B-7CF5-DF48-6482CD1D1B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AD296F5-96F7-E202-D16F-5A925A6F7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3C0F22E-131C-FB7B-47C7-5C0D4C51C1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9FDD866-73FB-9CD9-7E50-980703B639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349FC22-F8FC-B2AD-EFAE-8F2C58D39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4D1446E-473E-1D27-8628-70C4188BB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0518282-2A0C-0DB3-8FED-355EFF8FB6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A377397-54F9-D04E-43C5-12783C680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9B369EE-E6BD-3038-34B8-38D6F59917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35364C7-D129-4395-8DF8-F586D3740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7263F93-F5C4-E846-845A-C918673F4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14606393-0D32-3129-DD88-60D79562BB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6A477101-2C93-2382-37D8-2B074B52E8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CE70BDA-9E36-DA24-08C3-1426EBE46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58ED09-4202-8895-8617-64D037CDF1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397934C1-F371-89F8-7C8C-47B31B4D2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1F637EC-7003-A668-8939-D2EE70792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E627441-C2B4-CC73-A8F3-0D703386F7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15FC7E8-4106-6680-A5A8-99F1442238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87E3CAD2-5958-194C-7B88-BDDCF32C33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C7E44B18-30C0-4D4A-02B9-BCE3F75E8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898AB90-060B-2FD0-47C7-1418479552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971F0B61-4352-7C30-982D-B83DFD6C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741A28FD-3417-1AD8-9DF6-DA33AB5E20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3E9FB10-1DF4-D12F-493C-655EE68D49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2B9CD93E-2784-7416-37EA-21D2698B50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8E6A7CA-260D-B316-F4A1-ED4F57084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9695610B-85CB-E94C-36E4-7A08FC9CF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320F50F-AD30-8C90-C4C7-E2F5F356B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61CBC9B4-FA0B-1EE8-9122-8AAC7CBD4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36DFACE9-375A-9BC3-95DE-0B6D472B8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801D12E-B034-BB37-A3D6-79B181A1CB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D473BE3-9236-2A54-39EC-28AA659F3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D443E26A-1899-12DA-F452-3658B54FC0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17784794-31BE-A80B-4B18-E9E4CAFB7E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246AFF1A-16D8-7AED-6750-12CD455EAD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90BD0911-91D6-22A7-D93E-C0B288790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CB5A6EB7-4F8C-A411-BE6E-FBEED941CF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94996CB2-1D4E-35E0-444F-5BFFC0597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8BA1527D-3310-DF7B-07AD-5D5F533C32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44AC6A1-26F5-4316-55BA-06BFB2F812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F72C1916-98DD-8524-E00D-2C8FEAF957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1DA1E2B-B05C-F82D-FEE0-D6D20309C8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6B18C728-2EF5-F89C-1951-07C32F77E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C0832C-6CC5-25D6-C4C8-000194E52F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92AD065E-83C6-286A-4862-AD66B8820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FDEC49BB-1A8D-A72C-B992-973356D43F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BD417FDD-E585-C681-2B8A-560DA9D2AB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E634A722-B639-7002-FC1D-608C30EF0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D5D3D928-4A55-C1D3-B2F4-AED4B4558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E8A4DE-874C-CF5A-F033-83FD83E13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9C4E026-8F89-D951-9C4F-72D9BBECB2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EB9F0798-A12E-4FE2-2997-B1F9294D41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C929C905-EB34-A962-F245-09F85670CE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68994DB2-E3F1-5E80-8F9A-B479829111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439569DA-244B-F27B-CD00-5B8F1F74C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450D559-9A3F-4F49-76ED-6218C56A8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72A283F3-BE56-47C4-D60B-2956C0139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D51BC44B-59B9-B52B-FA24-5C25A737E4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B97BA36C-017C-500B-BB6F-B3AC3A31E9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3AE980ED-0843-D946-BBB2-FE250EA9AF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5A00BA41-57AA-C56E-AF95-B4587C9A9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B81081CC-6A8D-F3F4-CF99-EA0ACADF07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18A378F7-4888-9E19-0152-6C262592E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B1CD989-F8AF-FC94-54D4-A5A3F9F9D2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2716084F-8ED9-7791-A84A-BC027BCFAB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308F2F8F-015E-E2E3-A7AC-95B20DA152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7F416848-67FC-7BC1-902E-D82BFEE3AC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BBD3C3CC-E4AA-E0C7-EF41-4011DB29B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FBCB26C8-3698-2DE3-5936-0A027D7B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0644531-16E6-2B95-8350-C75105ED5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18C001C6-55F9-06EF-78C1-88B9F7803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66EE5483-5875-0F61-9CFD-F4CA77797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81DA84D7-FF5D-596A-0AD8-C8548E475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F9D4E25-6885-985C-F1F8-CD73D74F9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748876F7-3BF5-207F-D3AA-758A1C615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0FBE04EF-ED7B-1994-CCAC-7CE39012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3876CAE3-DDA2-4C88-4C24-48DA990A5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FD2CB20F-45A6-BBFB-5D29-88F51A6BF8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44B5A61F-9CEF-C520-2164-610FE8721D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4740C08D-4D3B-EF4C-A82F-124A279C7F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6D2AED91-9B1B-110E-2231-639E3B74B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F85840BB-6720-4406-9B26-2133E09BDC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49E9B11A-78F4-034A-D36C-1DE40BDEE4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12A9BFA7-CBBC-83C4-47F6-6350C7E45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A59D182D-CC2F-47BB-9F53-4DA1DED934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05DCF7C3-B686-8050-BF36-2790EA8218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BEEE0573-139C-F46D-3585-77416CE619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B1531C52-BB5D-8D69-53B8-929BB7A759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CA4CFA48-0ECB-FFC4-A0FD-0EAD7BE6B1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E5F8E693-1753-CBBE-21E1-E592CDEF5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836A5A2B-F720-284A-8209-6EE452784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7782D2ED-8BB3-837C-1939-B90A20E91A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A8AB5DF6-8870-0248-B8A7-1787AF5C3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474BD9D8-F51A-40C0-D413-186FB1419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EC68330-EBC9-C9E8-CDC4-BBB493889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8B6A50FF-F373-559B-9745-897B8DA103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63552416-9DEB-82B7-BA3E-7DFA0D0AD5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6BE659E5-A5CE-070B-330A-9E0DF5B0AB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6FBBBE23-98AF-190E-4B12-7B82A016ED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8035E20-EA5A-AEF1-C33D-70A0B12397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539A9313-6D90-98DB-95CA-E3F40B172E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0E003887-6E2E-379F-B8D5-189FD5A326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D18B62C6-24E0-7438-379C-EAB9F8F47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11954088-9514-4182-E3CD-0F45DB99B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10A9E04C-1F26-AF95-C343-70A549000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0721EF38-8E4C-F2DA-34DD-C8CDB8571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EF918DBB-CB76-32BF-40DA-77BE3FCCD2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161DE126-B3D7-138C-A585-E7A66B1388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6F21B4DF-3546-4862-0D73-0F8EDB9E3C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2A0FD502-9220-E0F3-B574-07E1EFF31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E4D34A46-ECCF-BD76-98B2-6B66A6D1D9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A79DB63D-98CD-376F-B906-C99B79F059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240128A0-6160-DB48-724D-15F036437D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E82E1197-B365-2D8A-F974-7CFD711B4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C8A1B1F4-9CFD-9BBA-96A4-B4535600B5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0AE3123D-939E-ECC5-628F-06991D908A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7F4BE7C7-C8F1-2443-B26A-DB1E29847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FEAC4C04-E4CB-AB7E-1DA1-CE5ECF8493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80902065-D28C-F02C-87CD-47E4F49AAC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5216D5ED-B125-51E8-BAD1-F2C6D517E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6255DB13-7587-C4DC-0456-91CFECEE2C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5CA7796A-4AA8-11F5-824E-F22384BB8F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5E3BBB13-2D7B-318E-D22C-403ECD09E8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69F23EB-650F-E5B1-4FA6-9B7700F969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E4BAC38C-1EA2-7DAA-5307-4632FA05C0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9909B2E-F8FC-6879-636A-EFB422345A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27D4A3C8-5D23-418F-BA0D-350A3AC19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03248596-2B81-407B-A9B2-82272A2F2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5DA80F4-A096-6A3F-19E6-9019770E63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CAFBDF8D-8B4B-F664-A585-8D35CCFAB0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FEA31F9D-EE1A-3468-C7C2-AB16E7F2D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6C16EE8F-CEBD-527F-C37E-68F6B79997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8627EC74-71CD-E643-8C80-B42E44890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0CE7A197-ED8C-5BA0-C967-40A83CFD07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E6CD8389-D5A5-5E52-AB81-3433FA2A40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E035E8D-5C40-5B2D-CE03-125EFA0A13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B19051FC-8B52-9922-4589-6C82E2435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C847098E-566E-4C30-435E-207C1B98B6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54F85DE0-702A-AC58-D190-D763DD51E3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ACADD943-60B3-A078-E6D4-C99CA57380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3AE0F80E-CB58-8B1C-7FDD-3623A3578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DB670212-0BF8-798C-4F5A-5FF448877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945F5A34-414F-A7BF-EAEE-813DF3DFA764}"/>
              </a:ext>
            </a:extLst>
          </p:cNvPr>
          <p:cNvSpPr txBox="1"/>
          <p:nvPr/>
        </p:nvSpPr>
        <p:spPr>
          <a:xfrm>
            <a:off x="228600" y="336988"/>
            <a:ext cx="9525000" cy="6825812"/>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3200" b="1" spc="86" dirty="0">
                <a:solidFill>
                  <a:schemeClr val="bg1"/>
                </a:solidFill>
              </a:rPr>
              <a:t>D. From a broad idea to a researchable ICT problem</a:t>
            </a:r>
          </a:p>
          <a:p>
            <a:pPr>
              <a:lnSpc>
                <a:spcPct val="90000"/>
              </a:lnSpc>
              <a:spcAft>
                <a:spcPts val="800"/>
              </a:spcAft>
            </a:pPr>
            <a:endParaRPr lang="en-US" sz="1200" spc="86" dirty="0">
              <a:solidFill>
                <a:schemeClr val="bg1"/>
              </a:solidFill>
            </a:endParaRPr>
          </a:p>
          <a:p>
            <a:r>
              <a:rPr lang="en-US" sz="2400" b="1" dirty="0">
                <a:solidFill>
                  <a:schemeClr val="bg1"/>
                </a:solidFill>
              </a:rPr>
              <a:t>Use this practical narrowing sequence:</a:t>
            </a:r>
          </a:p>
          <a:p>
            <a:endParaRPr lang="en-ZA" sz="2400" dirty="0">
              <a:solidFill>
                <a:schemeClr val="bg1"/>
              </a:solidFill>
            </a:endParaRPr>
          </a:p>
          <a:p>
            <a:r>
              <a:rPr lang="en-US" sz="2400" dirty="0">
                <a:solidFill>
                  <a:schemeClr val="bg1"/>
                </a:solidFill>
              </a:rPr>
              <a:t>• Start with a broad idea and name the domain (e.g., AI in software development).</a:t>
            </a:r>
          </a:p>
          <a:p>
            <a:endParaRPr lang="en-ZA" sz="2400" dirty="0">
              <a:solidFill>
                <a:schemeClr val="bg1"/>
              </a:solidFill>
            </a:endParaRPr>
          </a:p>
          <a:p>
            <a:r>
              <a:rPr lang="en-US" sz="2400" dirty="0">
                <a:solidFill>
                  <a:schemeClr val="bg1"/>
                </a:solidFill>
              </a:rPr>
              <a:t>• Choose a specific setting (e.g., your campus software lab, a particular </a:t>
            </a:r>
            <a:r>
              <a:rPr lang="en-US" sz="2400" dirty="0" err="1">
                <a:solidFill>
                  <a:schemeClr val="bg1"/>
                </a:solidFill>
              </a:rPr>
              <a:t>organisation</a:t>
            </a:r>
            <a:r>
              <a:rPr lang="en-US" sz="2400" dirty="0">
                <a:solidFill>
                  <a:schemeClr val="bg1"/>
                </a:solidFill>
              </a:rPr>
              <a:t>).</a:t>
            </a:r>
            <a:endParaRPr lang="en-ZA" sz="2400" dirty="0">
              <a:solidFill>
                <a:schemeClr val="bg1"/>
              </a:solidFill>
            </a:endParaRPr>
          </a:p>
          <a:p>
            <a:endParaRPr lang="en-ZA" sz="2400" dirty="0">
              <a:solidFill>
                <a:schemeClr val="bg1"/>
              </a:solidFill>
            </a:endParaRPr>
          </a:p>
          <a:p>
            <a:r>
              <a:rPr lang="en-US" sz="2400" dirty="0">
                <a:solidFill>
                  <a:schemeClr val="bg1"/>
                </a:solidFill>
              </a:rPr>
              <a:t>• Specify the population or data source (e.g., junior developers, code review comments).</a:t>
            </a:r>
            <a:endParaRPr lang="en-ZA" sz="2400" dirty="0">
              <a:solidFill>
                <a:schemeClr val="bg1"/>
              </a:solidFill>
            </a:endParaRPr>
          </a:p>
          <a:p>
            <a:endParaRPr lang="en-ZA" sz="2400" dirty="0">
              <a:solidFill>
                <a:schemeClr val="bg1"/>
              </a:solidFill>
            </a:endParaRPr>
          </a:p>
          <a:p>
            <a:r>
              <a:rPr lang="en-US" sz="2400" dirty="0">
                <a:solidFill>
                  <a:schemeClr val="bg1"/>
                </a:solidFill>
              </a:rPr>
              <a:t>• Decide what you want to find out (describe, compare, or examine relationships).</a:t>
            </a:r>
          </a:p>
          <a:p>
            <a:endParaRPr lang="en-ZA" sz="2400" dirty="0">
              <a:solidFill>
                <a:schemeClr val="bg1"/>
              </a:solidFill>
            </a:endParaRPr>
          </a:p>
          <a:p>
            <a:r>
              <a:rPr lang="en-US" sz="2400" dirty="0">
                <a:solidFill>
                  <a:schemeClr val="bg1"/>
                </a:solidFill>
              </a:rPr>
              <a:t>• Rewrite as a single, answerable research problem or research question.</a:t>
            </a:r>
            <a:endParaRPr lang="en-ZA" sz="2400" dirty="0">
              <a:solidFill>
                <a:schemeClr val="bg1"/>
              </a:solidFill>
            </a:endParaRPr>
          </a:p>
        </p:txBody>
      </p:sp>
    </p:spTree>
    <p:extLst>
      <p:ext uri="{BB962C8B-B14F-4D97-AF65-F5344CB8AC3E}">
        <p14:creationId xmlns:p14="http://schemas.microsoft.com/office/powerpoint/2010/main" val="2109362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BD135A4-146A-C0E5-1BA8-F2F720A8C32B}"/>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8B14D4D-9014-6A60-0934-0BE5D57BF43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F45E8549-F82D-FFCF-8E9B-FB769E65CEB1}"/>
              </a:ext>
            </a:extLst>
          </p:cNvPr>
          <p:cNvSpPr txBox="1"/>
          <p:nvPr/>
        </p:nvSpPr>
        <p:spPr>
          <a:xfrm>
            <a:off x="152400" y="1600200"/>
            <a:ext cx="4038600" cy="1983235"/>
          </a:xfrm>
          <a:prstGeom prst="rect">
            <a:avLst/>
          </a:prstGeom>
        </p:spPr>
        <p:txBody>
          <a:bodyPr wrap="square" lIns="0" tIns="0" rIns="0" bIns="0" rtlCol="0" anchor="t">
            <a:spAutoFit/>
          </a:bodyPr>
          <a:lstStyle/>
          <a:p>
            <a:pPr>
              <a:lnSpc>
                <a:spcPts val="3919"/>
              </a:lnSpc>
            </a:pPr>
            <a:r>
              <a:rPr lang="en-US" sz="2799" dirty="0">
                <a:latin typeface="League Spartan"/>
              </a:rPr>
              <a:t>Worked example: Impact of AI on software development</a:t>
            </a:r>
          </a:p>
        </p:txBody>
      </p:sp>
      <p:sp>
        <p:nvSpPr>
          <p:cNvPr id="7" name="TextBox 7">
            <a:extLst>
              <a:ext uri="{FF2B5EF4-FFF2-40B4-BE49-F238E27FC236}">
                <a16:creationId xmlns:a16="http://schemas.microsoft.com/office/drawing/2014/main" id="{5ED8FFD4-962A-3C17-BEAC-D294FA0D2CE4}"/>
              </a:ext>
            </a:extLst>
          </p:cNvPr>
          <p:cNvSpPr txBox="1"/>
          <p:nvPr/>
        </p:nvSpPr>
        <p:spPr>
          <a:xfrm>
            <a:off x="3886198" y="381000"/>
            <a:ext cx="5791201" cy="5416868"/>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en-US" sz="2200" b="1" spc="86" dirty="0">
                <a:solidFill>
                  <a:srgbClr val="FFFFFF"/>
                </a:solidFill>
                <a:latin typeface="Open Sans"/>
              </a:rPr>
              <a:t>Broad idea</a:t>
            </a:r>
            <a:r>
              <a:rPr lang="en-US" sz="2200" spc="86" dirty="0">
                <a:solidFill>
                  <a:srgbClr val="FFFFFF"/>
                </a:solidFill>
                <a:latin typeface="Open Sans"/>
              </a:rPr>
              <a:t>: “AI is changing software development.”</a:t>
            </a:r>
          </a:p>
          <a:p>
            <a:pPr marL="342900" indent="-342900">
              <a:spcBef>
                <a:spcPct val="0"/>
              </a:spcBef>
              <a:buFont typeface="Arial" panose="020B0604020202020204" pitchFamily="34" charset="0"/>
              <a:buChar char="•"/>
            </a:pPr>
            <a:endParaRPr lang="en-US" sz="2200" spc="86" dirty="0">
              <a:solidFill>
                <a:srgbClr val="FFFFFF"/>
              </a:solidFill>
              <a:latin typeface="Open Sans"/>
            </a:endParaRPr>
          </a:p>
          <a:p>
            <a:pPr marL="342900" indent="-342900">
              <a:spcBef>
                <a:spcPct val="0"/>
              </a:spcBef>
              <a:buFont typeface="Arial" panose="020B0604020202020204" pitchFamily="34" charset="0"/>
              <a:buChar char="•"/>
            </a:pPr>
            <a:r>
              <a:rPr lang="en-US" sz="2200" b="1" spc="86" dirty="0">
                <a:solidFill>
                  <a:srgbClr val="FFFFFF"/>
                </a:solidFill>
                <a:latin typeface="Open Sans"/>
              </a:rPr>
              <a:t>Researchable qualitative question</a:t>
            </a:r>
            <a:r>
              <a:rPr lang="en-US" sz="2200" spc="86" dirty="0">
                <a:solidFill>
                  <a:srgbClr val="FFFFFF"/>
                </a:solidFill>
                <a:latin typeface="Open Sans"/>
              </a:rPr>
              <a:t>: “How do junior developers in a university software project team describe the ways that AI code assistants influence their debugging and code review practices?”</a:t>
            </a:r>
          </a:p>
          <a:p>
            <a:pPr marL="342900" indent="-342900">
              <a:spcBef>
                <a:spcPct val="0"/>
              </a:spcBef>
              <a:buFont typeface="Arial" panose="020B0604020202020204" pitchFamily="34" charset="0"/>
              <a:buChar char="•"/>
            </a:pPr>
            <a:endParaRPr lang="en-US" sz="2200" spc="86" dirty="0">
              <a:solidFill>
                <a:srgbClr val="FFFFFF"/>
              </a:solidFill>
              <a:latin typeface="Open Sans"/>
            </a:endParaRPr>
          </a:p>
          <a:p>
            <a:pPr marL="342900" indent="-342900">
              <a:spcBef>
                <a:spcPct val="0"/>
              </a:spcBef>
              <a:buFont typeface="Arial" panose="020B0604020202020204" pitchFamily="34" charset="0"/>
              <a:buChar char="•"/>
            </a:pPr>
            <a:r>
              <a:rPr lang="en-US" sz="2200" b="1" spc="86" dirty="0">
                <a:solidFill>
                  <a:srgbClr val="FFFFFF"/>
                </a:solidFill>
                <a:latin typeface="Open Sans"/>
              </a:rPr>
              <a:t>Researchable quantitative question</a:t>
            </a:r>
            <a:r>
              <a:rPr lang="en-US" sz="2200" spc="86" dirty="0">
                <a:solidFill>
                  <a:srgbClr val="FFFFFF"/>
                </a:solidFill>
                <a:latin typeface="Open Sans"/>
              </a:rPr>
              <a:t>: “What is the difference in post-release defect density between modules developed with regular AI code assistant use and modules developed without it in the same project?”</a:t>
            </a:r>
          </a:p>
        </p:txBody>
      </p:sp>
    </p:spTree>
    <p:extLst>
      <p:ext uri="{BB962C8B-B14F-4D97-AF65-F5344CB8AC3E}">
        <p14:creationId xmlns:p14="http://schemas.microsoft.com/office/powerpoint/2010/main" val="407914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7AC296F-20F9-7993-3B5D-48DF9DB4F32C}"/>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578038F-6243-CE45-3FC2-A8E04F34E4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4273EA9E-9E84-2C0C-F1F4-111F521D3AE0}"/>
              </a:ext>
            </a:extLst>
          </p:cNvPr>
          <p:cNvSpPr txBox="1"/>
          <p:nvPr/>
        </p:nvSpPr>
        <p:spPr>
          <a:xfrm>
            <a:off x="152400" y="1600200"/>
            <a:ext cx="4038600" cy="1983235"/>
          </a:xfrm>
          <a:prstGeom prst="rect">
            <a:avLst/>
          </a:prstGeom>
        </p:spPr>
        <p:txBody>
          <a:bodyPr wrap="square" lIns="0" tIns="0" rIns="0" bIns="0" rtlCol="0" anchor="t">
            <a:spAutoFit/>
          </a:bodyPr>
          <a:lstStyle/>
          <a:p>
            <a:pPr>
              <a:lnSpc>
                <a:spcPts val="3919"/>
              </a:lnSpc>
            </a:pPr>
            <a:r>
              <a:rPr lang="en-US" sz="2799" dirty="0">
                <a:latin typeface="League Spartan"/>
              </a:rPr>
              <a:t>Worked example: Impact of AI on software development</a:t>
            </a:r>
          </a:p>
        </p:txBody>
      </p:sp>
      <p:sp>
        <p:nvSpPr>
          <p:cNvPr id="7" name="TextBox 7">
            <a:extLst>
              <a:ext uri="{FF2B5EF4-FFF2-40B4-BE49-F238E27FC236}">
                <a16:creationId xmlns:a16="http://schemas.microsoft.com/office/drawing/2014/main" id="{893ADD2D-B890-9B03-00DE-11E51297B260}"/>
              </a:ext>
            </a:extLst>
          </p:cNvPr>
          <p:cNvSpPr txBox="1"/>
          <p:nvPr/>
        </p:nvSpPr>
        <p:spPr>
          <a:xfrm>
            <a:off x="3886198" y="381000"/>
            <a:ext cx="5791201" cy="4739759"/>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en-US" sz="2200" b="1" spc="86" dirty="0">
                <a:solidFill>
                  <a:srgbClr val="FFFFFF"/>
                </a:solidFill>
                <a:latin typeface="Open Sans"/>
              </a:rPr>
              <a:t>Key point</a:t>
            </a:r>
            <a:r>
              <a:rPr lang="en-US" sz="2200" spc="86" dirty="0">
                <a:solidFill>
                  <a:srgbClr val="FFFFFF"/>
                </a:solidFill>
                <a:latin typeface="Open Sans"/>
              </a:rPr>
              <a:t>: a topic becomes researchable when it is specific, located in a context, and answerable using observable data.</a:t>
            </a:r>
          </a:p>
          <a:p>
            <a:pPr marL="342900" indent="-342900">
              <a:spcBef>
                <a:spcPct val="0"/>
              </a:spcBef>
              <a:buFont typeface="Arial" panose="020B0604020202020204" pitchFamily="34" charset="0"/>
              <a:buChar char="•"/>
            </a:pPr>
            <a:endParaRPr lang="en-US" sz="2200" spc="86" dirty="0">
              <a:solidFill>
                <a:srgbClr val="FFFFFF"/>
              </a:solidFill>
              <a:latin typeface="Open Sans"/>
            </a:endParaRPr>
          </a:p>
          <a:p>
            <a:pPr marL="342900" indent="-342900">
              <a:spcBef>
                <a:spcPct val="0"/>
              </a:spcBef>
              <a:buFont typeface="Arial" panose="020B0604020202020204" pitchFamily="34" charset="0"/>
              <a:buChar char="•"/>
            </a:pPr>
            <a:r>
              <a:rPr lang="en-US" sz="2200" b="1" spc="86" dirty="0">
                <a:solidFill>
                  <a:srgbClr val="FFFFFF"/>
                </a:solidFill>
                <a:latin typeface="Open Sans"/>
              </a:rPr>
              <a:t>Problem</a:t>
            </a:r>
            <a:r>
              <a:rPr lang="en-US" sz="2200" spc="86" dirty="0">
                <a:solidFill>
                  <a:srgbClr val="FFFFFF"/>
                </a:solidFill>
                <a:latin typeface="Open Sans"/>
              </a:rPr>
              <a:t>: Despite growing use of AI code assistants in software development, it remains unclear how their use shapes junior developers’ debugging and code review practices and whether this use is linked to differences in software defect outcomes within a university project setting.</a:t>
            </a:r>
          </a:p>
        </p:txBody>
      </p:sp>
    </p:spTree>
    <p:extLst>
      <p:ext uri="{BB962C8B-B14F-4D97-AF65-F5344CB8AC3E}">
        <p14:creationId xmlns:p14="http://schemas.microsoft.com/office/powerpoint/2010/main" val="539778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74F7BC05-B6D0-EA3F-8F0A-8B567CE1E78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12D21A8-1294-2554-9E02-D101E0565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DE99F7DD-199C-C08C-0BFC-02083B4F06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55894D49-A48D-6885-2793-7F83917B0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7997E9A8-5A0E-BF3A-9F73-23D38E37A1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4185F75-52F9-562E-C5E6-EB1DBBF2F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ECEEBC3-821E-A6F8-D698-4A4353C01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94F3931-B64A-83EC-4E76-2D870D6AE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69C39D1-A034-7FC3-3B5A-32ABCE46A7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1B13AF8A-8390-97E7-DB0F-5AF200459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CD74749-1AE1-2983-E027-6F1CEE213E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75464F71-2254-BCA2-2CA1-2ECF6EC329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5938D0DE-4674-712C-76A9-040D6B716A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A465EB1-0D22-BF4D-C7DB-F145AF35B6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DEFCAE0-B132-0985-3747-307CB8A1F2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3E31ED5-8258-A165-43FF-213CF60E79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7894A9C-617F-49F3-9E57-02E415320C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6D25858-E44D-E198-49D5-36E53D248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713707D-75A4-077C-8104-D705D13BCA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F9A6401-F63D-8E2D-A59A-2D64BFF90F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10BB179-5C9D-CB2D-6E63-2F4F85CE3A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8EF5B06E-7EFB-1F38-B5CF-5F81CE9F46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AADF74-035F-63B9-C0FB-4B3581814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A8518EB-2695-1042-0712-987BB7C1E3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FA6112D-57E7-E9A1-E1B5-3B0C9B1594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96FF2B-4282-A1D9-5765-261F36D77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7F502BA-A85B-CF9C-E342-EF53DDDE4C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9F99A46F-0DB9-35E2-CFE9-A9D3984A5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E3FC9BB-C621-48FC-3AF9-AC58B18FD1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298EBDA4-60B9-B669-33E5-3A7B8E1B87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57B6D30-5A15-6B88-05C7-133488CAA4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117FE16C-D2D4-0455-5C2B-BC01DE489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3B23006-1A01-71C0-3C1F-8AA8CDCD89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BAC73699-37CE-B2A3-41AB-AC502027F8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F6BAD11D-6B60-7736-A177-2FEC68AA4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E7803BD-666E-F468-0920-6DEACC7437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D667444F-0D5D-A04A-9CDF-D4D76CC137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311685C8-786E-DD46-2566-BD3D81D0B6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5A1F9CED-D0A1-EF47-BD00-69C04CF79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EEFFD1FF-FCF4-2CAE-9690-633A0628B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4D3F8874-A93A-2920-9E7B-9CA8D162F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E2D2D136-3B7D-FF83-37BF-2BEB174A6A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F9FC40BF-CB3A-442C-2B96-C623EF1273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C65AF410-93EB-C6E0-6F93-380EFD20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F578234E-375B-1460-C769-3DE7B4755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0675711F-CCBD-5060-128A-996F5C9264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C9AFD517-0838-1839-518E-41604E5B35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0B8F50F1-0CB7-A63E-4FFA-A7C1BA54A1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05153E49-086D-319D-AD01-C8DF63CF01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9E26CA7-40B7-19AD-4318-EBE69865C7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48430EA9-C352-1190-3247-1AAE5F98FD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0ABDFC8-A735-2F40-8AAD-B2296BBBC7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C287DFD-2B92-4FCB-6CCB-9666276F52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47F930E-B630-961B-4177-BAA53BEB51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D951F9F-02F7-E651-9397-B627F0FBF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F13C4554-C11F-EC6C-EB33-0B8366A0E4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DFC6ABF8-4A96-73E1-995A-BC2B602B1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8418BE39-35E6-39D1-35AE-CB59C8842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1B1793F6-51A0-F105-47DA-9945AA0348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565AB5BC-07A9-A855-E2CD-852C51235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B80167-9447-CBC4-4DB8-321FB30E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6B102074-3A49-BB0E-D10D-BE67AFB3D6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6D4D2231-1BBB-4191-C9A1-5C543BB6D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39790714-BE22-414A-E8C5-F67C9875C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704D9CD9-4C3A-9548-999B-7DF4C4E9A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022E876E-4EAB-D0D4-4257-5DFC7D1FC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548F2C01-4B94-C3F0-2ABD-7317B06166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9C889711-153D-8430-1605-07D5917AB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0FDD059C-FFB6-BA81-D93C-DC9D3A09F4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41D763A8-EB88-B9A2-FA55-C292A285E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25A3335D-DEE3-05C2-D362-1AEDF1920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45227260-1971-6993-52F3-DD0DEE56A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CB679AAF-969A-64DB-CC06-245BE444C7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102FAA3E-D155-946D-7E96-F24EF13E97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5A494744-067C-76C3-941B-B54FCE3C1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05E2A6C4-53F0-D018-E7C0-D24B9DEB3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150DD7FC-81C7-3BC8-BB43-2AD9F0535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B2C6E772-242B-4CEA-1D01-0285FD324A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A99DEB56-77AE-A511-1952-6C5FE67EAF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A35C303-CD1A-BB9E-5B9A-8929B64055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3B8B759B-6223-42B1-8BC9-C99EC842F6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D9D16875-CA90-68F5-AD8E-BE65D99582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F25FAAB8-B5D5-288B-C943-9FED01D358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C8831CC-7699-71AB-0821-7B111C38A6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F21C8DFF-8640-93A8-60C2-BAE634E63D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4E432BCE-232F-27A6-D9AC-8A16D26BC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03CB45ED-203C-3C35-B5CB-201E2D95F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8C8CCC2E-AF3E-D80C-97D3-1063AB1124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38AE2121-0CC7-AA74-BDF0-A4035191EA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35030416-7CAB-402F-1B90-F270E1F63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0BADCBB4-8825-8127-CBDE-FD5083E8B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1754D834-A78E-2D3A-1EC9-CAF4C34994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C3AA0686-A920-E021-828D-636129DFB3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AA628DEE-5020-8FBA-4C07-04512CB38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E048ADFF-CD6D-08B7-FC4B-9AFC2BBF7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5694FC38-D88F-3267-2BE3-3646A5D1B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03710563-257A-C84F-2DE1-FF2B8A949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B221A918-4313-665C-2DFD-7D7991B0F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79D7734-3139-1C4D-5042-C3C6CE519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2FC674E9-F9A5-71DF-FFC1-0C4942C522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3246F5BC-CFF0-2A8D-184C-24D396498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9E68D099-0D07-61BA-AA0E-F49A41EDB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2E96381B-7B82-33F9-4D7A-F598BDFADB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F3BF268E-00E5-B1F2-1F43-8DB17F022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CE7A64C-1F45-F0E9-3977-2053D64CFE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3632ED8A-A28D-BED1-2F4A-AA649A95C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4EF93C48-9632-3B09-382F-CD002B8608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1F1AED56-1F81-DC1A-4B14-47FBFF242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50AD64FC-833B-8D3D-718A-1998485A35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1AAC0141-F0C8-F33F-A875-0B79DF704F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696CB606-06EE-5F9C-76A7-6F8FDD3E1C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3DFD845E-FE14-0E65-F6FF-F5680076FC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51248AC2-294F-34D5-E88C-87F9234E14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452092F3-815E-2DE5-D2A8-CFC519C04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E4725FC2-C3E9-829F-540F-E31160E55A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E03B5DD7-CB6E-969E-A6BB-1067817BA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6D08B9C-701A-61D8-9774-799D20711A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188C17E5-9275-898B-3A6D-83707A6A8A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96113B20-D99E-531B-7257-64A727EDF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85A1C820-B041-0AF6-52E4-C09FFBD3D8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E4F5DD23-8DF0-AD25-C5F9-05B98C647B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3823DA5D-7E02-1E90-C911-58AD7E3992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AFB34D87-C128-6C37-DDF3-1932E08536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9AEC911B-BF63-2D45-5351-50D8F225EF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C0A14CDA-B6DE-8600-307A-081F62179F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AEC5D43E-5183-730E-29A9-5CF721CF1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36E2ACD9-E994-6A91-A614-A69F7DEADE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8C18EAE6-1773-5C77-F5A4-D6C99A2C0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E1057499-35D4-432A-F887-78A82ED1D2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E6F08951-949D-5C8F-F974-D1233818C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D48C8F24-18D1-FF76-E74C-250D6F151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BE3B075C-97C9-485F-8589-EC784DB74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AEF9A09B-B009-B78D-1787-A03823A814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3F3D4148-D913-221B-1256-FD579B71B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64BB2F2D-032C-9608-30EC-A44CF9338E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9C0AF779-DFDA-8210-9662-6E1BBE114B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3EBC48C-BC11-0353-44D9-E02D1AC53E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A0C597D-7D37-AD58-BEA8-0E5E3FE634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1E170BDE-D2F6-17B2-2B4C-D4214F32EA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D98E3C3-384A-26A7-CD96-1496EB22FF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00C4CDFA-1DA2-7924-BE4A-1CE727363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EEC11916-B405-4CB8-A882-A575F453F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970F080B-FFCC-F123-D1C3-F23AD55B02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41567404-502D-68EE-4E85-94CF05DA1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46044A29-3093-E3C1-37FB-561715425C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E7E53F4F-5045-97B4-2D6F-8098613250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9588E16F-456F-4624-45A8-6DD78C27F1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0951DAC7-CF44-8974-5190-1EA16E0E16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E337160F-DC1E-46BC-A081-55E9D1644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D3C2E572-D223-446E-852E-8AC3B8FBB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67453765-09BE-9473-BDB2-9842AEA4F6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80B268AD-3DD0-8B85-A788-745EDA456D9B}"/>
              </a:ext>
            </a:extLst>
          </p:cNvPr>
          <p:cNvSpPr txBox="1"/>
          <p:nvPr/>
        </p:nvSpPr>
        <p:spPr>
          <a:xfrm>
            <a:off x="228600" y="228600"/>
            <a:ext cx="9372600" cy="6858000"/>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3200" b="1" spc="86" dirty="0">
                <a:solidFill>
                  <a:schemeClr val="bg1"/>
                </a:solidFill>
              </a:rPr>
              <a:t>E. Feasibility and scope checks for ICT projects</a:t>
            </a:r>
          </a:p>
          <a:p>
            <a:pPr>
              <a:lnSpc>
                <a:spcPct val="90000"/>
              </a:lnSpc>
              <a:spcAft>
                <a:spcPts val="800"/>
              </a:spcAft>
            </a:pPr>
            <a:endParaRPr lang="en-US" sz="2000" spc="86" dirty="0">
              <a:solidFill>
                <a:schemeClr val="bg1"/>
              </a:solidFill>
            </a:endParaRPr>
          </a:p>
          <a:p>
            <a:pPr>
              <a:lnSpc>
                <a:spcPct val="90000"/>
              </a:lnSpc>
              <a:spcAft>
                <a:spcPts val="800"/>
              </a:spcAft>
            </a:pPr>
            <a:r>
              <a:rPr lang="en-US" sz="2400" spc="86" dirty="0">
                <a:solidFill>
                  <a:schemeClr val="bg1"/>
                </a:solidFill>
              </a:rPr>
              <a:t>Before you commit to a problem, test it against practical constraints:</a:t>
            </a:r>
          </a:p>
          <a:p>
            <a:pPr>
              <a:lnSpc>
                <a:spcPct val="90000"/>
              </a:lnSpc>
              <a:spcAft>
                <a:spcPts val="800"/>
              </a:spcAft>
            </a:pPr>
            <a:endParaRPr lang="en-US" sz="2400" spc="86" dirty="0">
              <a:solidFill>
                <a:schemeClr val="bg1"/>
              </a:solidFill>
            </a:endParaRPr>
          </a:p>
          <a:p>
            <a:pPr marL="342900" indent="-342900">
              <a:lnSpc>
                <a:spcPct val="90000"/>
              </a:lnSpc>
              <a:spcAft>
                <a:spcPts val="800"/>
              </a:spcAft>
              <a:buFont typeface="Arial" panose="020B0604020202020204" pitchFamily="34" charset="0"/>
              <a:buChar char="•"/>
            </a:pPr>
            <a:r>
              <a:rPr lang="en-US" sz="2400" b="1" spc="86" dirty="0">
                <a:solidFill>
                  <a:schemeClr val="bg1"/>
                </a:solidFill>
              </a:rPr>
              <a:t>Time</a:t>
            </a:r>
            <a:r>
              <a:rPr lang="en-US" sz="2400" spc="86" dirty="0">
                <a:solidFill>
                  <a:schemeClr val="bg1"/>
                </a:solidFill>
              </a:rPr>
              <a:t>: Can you realistically collect and </a:t>
            </a:r>
            <a:r>
              <a:rPr lang="en-US" sz="2400" spc="86" dirty="0" err="1">
                <a:solidFill>
                  <a:schemeClr val="bg1"/>
                </a:solidFill>
              </a:rPr>
              <a:t>analyse</a:t>
            </a:r>
            <a:r>
              <a:rPr lang="en-US" sz="2400" spc="86" dirty="0">
                <a:solidFill>
                  <a:schemeClr val="bg1"/>
                </a:solidFill>
              </a:rPr>
              <a:t> the data within the semester?</a:t>
            </a:r>
          </a:p>
          <a:p>
            <a:pPr marL="342900" indent="-342900">
              <a:lnSpc>
                <a:spcPct val="90000"/>
              </a:lnSpc>
              <a:spcAft>
                <a:spcPts val="800"/>
              </a:spcAft>
              <a:buFont typeface="Arial" panose="020B0604020202020204" pitchFamily="34" charset="0"/>
              <a:buChar char="•"/>
            </a:pPr>
            <a:r>
              <a:rPr lang="en-US" sz="2400" b="1" spc="86" dirty="0">
                <a:solidFill>
                  <a:schemeClr val="bg1"/>
                </a:solidFill>
              </a:rPr>
              <a:t>Access</a:t>
            </a:r>
            <a:r>
              <a:rPr lang="en-US" sz="2400" spc="86" dirty="0">
                <a:solidFill>
                  <a:schemeClr val="bg1"/>
                </a:solidFill>
              </a:rPr>
              <a:t>: Do you have permission to access participants, systems, code repositories, or logs?</a:t>
            </a:r>
          </a:p>
          <a:p>
            <a:pPr marL="342900" indent="-342900">
              <a:lnSpc>
                <a:spcPct val="90000"/>
              </a:lnSpc>
              <a:spcAft>
                <a:spcPts val="800"/>
              </a:spcAft>
              <a:buFont typeface="Arial" panose="020B0604020202020204" pitchFamily="34" charset="0"/>
              <a:buChar char="•"/>
            </a:pPr>
            <a:r>
              <a:rPr lang="en-US" sz="2400" b="1" spc="86" dirty="0">
                <a:solidFill>
                  <a:schemeClr val="bg1"/>
                </a:solidFill>
              </a:rPr>
              <a:t>Resources</a:t>
            </a:r>
            <a:r>
              <a:rPr lang="en-US" sz="2400" spc="86" dirty="0">
                <a:solidFill>
                  <a:schemeClr val="bg1"/>
                </a:solidFill>
              </a:rPr>
              <a:t>: Do you have the tools you need, such as recording devices, survey platforms, or analytics software?</a:t>
            </a:r>
          </a:p>
          <a:p>
            <a:pPr marL="342900" indent="-342900">
              <a:lnSpc>
                <a:spcPct val="90000"/>
              </a:lnSpc>
              <a:spcAft>
                <a:spcPts val="800"/>
              </a:spcAft>
              <a:buFont typeface="Arial" panose="020B0604020202020204" pitchFamily="34" charset="0"/>
              <a:buChar char="•"/>
            </a:pPr>
            <a:r>
              <a:rPr lang="en-US" sz="2400" b="1" spc="86" dirty="0">
                <a:solidFill>
                  <a:schemeClr val="bg1"/>
                </a:solidFill>
              </a:rPr>
              <a:t>Skills</a:t>
            </a:r>
            <a:r>
              <a:rPr lang="en-US" sz="2400" spc="86" dirty="0">
                <a:solidFill>
                  <a:schemeClr val="bg1"/>
                </a:solidFill>
              </a:rPr>
              <a:t>: Do you have the required skills, for example, basic statistics, qualitative coding, or log analysis?</a:t>
            </a:r>
          </a:p>
          <a:p>
            <a:pPr marL="342900" indent="-342900">
              <a:lnSpc>
                <a:spcPct val="90000"/>
              </a:lnSpc>
              <a:spcAft>
                <a:spcPts val="800"/>
              </a:spcAft>
              <a:buFont typeface="Arial" panose="020B0604020202020204" pitchFamily="34" charset="0"/>
              <a:buChar char="•"/>
            </a:pPr>
            <a:r>
              <a:rPr lang="en-US" sz="2400" b="1" spc="86" dirty="0">
                <a:solidFill>
                  <a:schemeClr val="bg1"/>
                </a:solidFill>
              </a:rPr>
              <a:t>Ethics and privacy</a:t>
            </a:r>
            <a:r>
              <a:rPr lang="en-US" sz="2400" spc="86" dirty="0">
                <a:solidFill>
                  <a:schemeClr val="bg1"/>
                </a:solidFill>
              </a:rPr>
              <a:t>: Will you handle personal data, credentials, student records, or proprietary code, and can you </a:t>
            </a:r>
            <a:r>
              <a:rPr lang="en-US" sz="2400" spc="86" dirty="0" err="1">
                <a:solidFill>
                  <a:schemeClr val="bg1"/>
                </a:solidFill>
              </a:rPr>
              <a:t>anonymise</a:t>
            </a:r>
            <a:r>
              <a:rPr lang="en-US" sz="2400" spc="86" dirty="0">
                <a:solidFill>
                  <a:schemeClr val="bg1"/>
                </a:solidFill>
              </a:rPr>
              <a:t> and secure it?</a:t>
            </a:r>
          </a:p>
        </p:txBody>
      </p:sp>
    </p:spTree>
    <p:extLst>
      <p:ext uri="{BB962C8B-B14F-4D97-AF65-F5344CB8AC3E}">
        <p14:creationId xmlns:p14="http://schemas.microsoft.com/office/powerpoint/2010/main" val="1601086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00011DA4-7254-D664-3D4E-A702DADF991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AE8DEB3-6026-E28D-6383-282635179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C7D2E86F-A32E-3BFE-4162-083F771991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D3E1883A-58F4-494E-E170-A44C0F2E1F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D0C85B4A-9F99-87B1-B656-4BAE67609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FB704139-17E4-43DF-B715-DD22EF9C71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6DA00AE2-C6DD-2F85-33C1-1D225A9C19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E8AFB33-18F9-EE1C-1D8F-4C3E36D193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88CBA1F-8075-8118-B174-AD4D39FBBF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2C00CC5-DDE3-F78A-E608-624C735114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679FCFE-ECEA-29AC-26DB-FAE7FD420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F876EDC-2D6D-B16B-0F75-7D445446E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5DA95DB2-2E27-6E17-5803-C10A085A2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E23E7C7C-9EE5-563F-61EA-64E9710F4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A86142C-46DE-B9FD-3BEA-BDF17FCCC6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EB495A5-4513-DAAC-6AF8-D356592E6C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98709EE-6C73-F66F-EA71-AB030E91AE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870EE16-9603-24F0-3AAA-451CABCBC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979257-EBBE-8778-D4EF-AFC21DC51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DBE2543-653E-A047-69D9-314250D0C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1437EA2-8FC9-56F9-89F2-3DE699567A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EE80A30-407D-A06C-CAC8-E1C723911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1CEB72A-99BF-84F6-FC07-3F9D3D209C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C6D03CED-2C42-6EA9-D281-4D11A698A0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796001B-8A72-968F-C2A0-504B0A5449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8C0AB9A8-687C-2D20-A170-F645DA50A8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CF478A6-381E-5CBB-AA51-9A7D785908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D23DA8D-5946-D30D-19C2-74915F7802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8238BC7D-7BBF-F390-01B3-CAA510C1C4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F9D55DB-9AD9-9342-3267-E1663734F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808D22AE-49DF-C6A6-9512-0ED25D949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8373516A-AB0F-656D-40F0-2C1EDA74E7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84E446C4-09BA-47DF-5A60-825F87BC3C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C4360553-34A9-ABF4-CF0C-4AEAF2043D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2ED06C7-14F1-5EBC-494B-4A63692D12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930F8A99-0E10-C448-35E5-6A4CA2C44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18EF4B31-8105-C34D-71DF-4F9F66BDC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A296E455-013F-283B-E6BC-2E0C035283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9527B65-0AF9-DF4D-736C-CE51CF31FF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F4A4E59-30B4-4BBF-5F48-809F6C6B16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84A79470-597B-6B3D-93E4-4C38062DAE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E53B9470-3160-B045-F9A9-5C0739ECF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7A1A154-23A8-43AF-99FE-C5EB2A280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72ED56FD-08F4-7560-15AC-E962655F1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F9189496-0A5C-075C-2880-A330B863FD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110E0486-2B75-9386-7695-471F55707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1AF319C2-34D0-7653-9357-47AD182BA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C6B3795F-E2ED-2BC7-4665-AB68C6F374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1141140A-F9B1-FE1A-15B2-6D41187BF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A5DA836-DDCA-C3F5-997F-10AF46C2E7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79998E9D-2C2D-7B3F-317B-453FB57280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42213492-55A8-3B44-5102-09A801DE1D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9275AFB7-EEC2-E0FE-229C-C4E233130A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8DB19B1A-DCD6-284D-21D4-1CF776EE6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B2494B2B-3750-2827-41B8-BD255F0DE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F5698D68-ADF2-6F34-EC36-448350F573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FC0C2481-6A50-9A10-3EAB-B4E240991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E9D62378-4492-1F11-A037-92682FB96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91C86D44-DE56-7139-46AF-EB49A1B6C1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69DC4509-F878-F0F5-D3FA-F799B6569F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A6807E96-88A6-BDCB-7651-51AE79D45B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004A5738-3D45-70FD-A989-7D6E3323A5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99DACB34-9D98-7E34-6444-6D5C6542BA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DA50729E-E325-71DA-C124-B7EFF5F1B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1573B89C-B669-E41C-8144-41862B0D8A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AB68CC47-192A-2387-7371-D84DD05254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8D427F7-D154-22D7-FA5D-132FB6C9FC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95168641-3B1E-71EB-B045-568BD88E92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3467962-B822-2EE6-EC29-EC1272551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D9BCC2FC-4007-CFB9-90BD-460F3BD8E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B459FB73-BCE9-E298-E1BA-9788558EFB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F1158B6A-09AE-C39D-A9A8-5A8189FCC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C872FDA4-5E80-63D4-9215-171A7E96A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78548E09-3B5E-479E-15BC-AC9523AF9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1536BF23-A3CF-6F7E-934D-96071E399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C6CEA765-6EC2-4842-AE5A-60F37F1BD3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80AFE10-7445-FA96-2482-649D139C3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DCB6A34-E82B-53D5-3D9E-F018E5CF1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099D3A8D-CF83-880F-6CF0-997C0A6E1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0792B7AC-46BC-0F99-CF6D-78017286D2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5E4967A-FF41-E506-2BFA-B8D5EF5E8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428676FA-7062-FF61-AB6C-375402F67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A9D47DE9-E8BF-48AC-6AD3-61EB94E49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C716BFBE-7B54-0C3D-1652-F9A9C14162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43F9506C-7C8D-2652-D3FE-41B6B478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380A8BD4-4236-7122-2989-B73FD9CB8F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46EC5C4E-4F8F-D9DB-B8D9-B59D45089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E9BF9E73-05B4-FB38-AE82-CD6760596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45057C65-D6C1-7CF8-0152-BAB43118F4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6D452B54-F470-56AA-9F78-26F60066B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B1DF3880-0E6F-A8B8-8B45-D136508BE4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66C85E9-0ED0-F176-7A11-1D268181E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B7E111B9-2CF6-DA56-EF03-27270038FC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AA5E8EFA-AD30-A26F-B9A2-ABD7D40CB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DF26CD5-F591-010D-E93D-87A9A67E2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014C5F2A-5361-2AA4-A248-8A0BFD78F4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271829A5-D50B-D289-0ADA-A425806CC2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60960ED5-3BC7-DFAA-D2C0-61098DDBA4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A0C2659B-B374-B524-3E6A-15556B7039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3620C61-7C4B-9C2F-6638-9FA3341E4D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C2B1B148-499F-ACC4-86A7-A3A32778D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45BA2B5D-DF48-F57B-B720-F290F76410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B1B861F3-4F14-506C-A5D5-1EA05BF34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D234BA68-7ACE-670D-3A02-8E389C47C6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E133B136-BBFC-B8C3-90C9-DD90C1E8C0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BC2410B6-01D0-9ECD-8F0F-27B4D13178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07BE7F62-9DE2-1043-AE4E-6C33EC3D1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228F8B0-9183-76E7-6045-9A523CFE8E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C9B3EF89-E3F3-3548-B77C-FFC885DE4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C51CB455-204E-8D2A-E680-F1E3F55198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A3096116-3D0C-AD2C-69C3-DDBDDD87A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C1BC273-E9B1-BE95-A5D1-483FD240EB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961162C8-9611-F91A-0270-942553D01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A0988ABB-0A37-D42B-8E46-E6A14B2CD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362C4108-2B53-6EFD-1A35-2CB019C2D3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FC7AD633-E7F3-B5C0-D7DF-AA6FD63D7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83779F32-6BAF-6C9F-E2BE-A0E41B3E5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0B5E640C-DF53-FF51-B707-EE89FDB207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3CE988BF-342C-EE62-C5DA-06D63005C6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9A54EA3D-884F-6BE2-5916-4407D33C92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A8BF17A9-718A-EC24-CEBE-83D19EF2A8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7359EC9D-7A05-B864-C77C-304B073ADF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829A8F3D-9C66-2101-2865-B9BDB343D1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D156E308-9A77-2CB1-3E9E-1B8D9256C1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0881F0BF-7948-A280-0B94-873CB3048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2633813C-766A-E68C-995E-E27273EA13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4FF8B0F0-016F-9043-E4EB-F8EA307D89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5DCCA138-C859-852D-E693-07BF243F26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CB3E5CA3-F126-F96C-C94A-4F1A81E5E5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01F14606-1658-0C5E-96CC-64C3EC3B7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6E8F82C-265D-0FA6-C205-3EE4E32B2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4490890D-90AB-60F7-73DA-365CC97229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49628F73-E99C-0123-2D46-3EFA8EA00B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56C63810-0627-E03E-40CF-6F4ED0652B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EAA13BE9-D394-23CE-E86B-511DA14BBF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C595E2A3-2A2B-181C-F441-65F7B633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79A153A1-71FE-B7E5-818F-4548078B6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31546F54-DF10-F2B2-C5D4-F2DD65891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359E60EC-7BAE-6440-6CED-09060AE11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C899B90A-6038-F1D5-6DCC-ACEFFB107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41419361-1E71-E945-F21E-8837D91DA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3A0CB6CF-7C77-1D6E-D0E2-3EC064B2B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3769581C-1375-AF44-ED49-15EF37B922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F28BCA89-B34B-F729-446B-510871D3C1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71E211E4-CAE9-8A1B-BC5F-9225F91971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8C331B96-922C-E58C-2CA7-E68A944578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A7B512C9-FF3B-BE59-E6FA-19C07F3832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AF902024-42EB-8B90-A125-24AA595B3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CD8CB38D-4074-B44B-04CB-5560EEDE3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AF8350AE-AFA2-F9AC-D543-8F222F82F7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C9CA030A-6A4F-6A9F-A31D-26BBBFD40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0EA9CA60-450A-526F-9F83-60A3F13493F7}"/>
              </a:ext>
            </a:extLst>
          </p:cNvPr>
          <p:cNvSpPr txBox="1"/>
          <p:nvPr/>
        </p:nvSpPr>
        <p:spPr>
          <a:xfrm>
            <a:off x="228600" y="228600"/>
            <a:ext cx="9372600" cy="6858000"/>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3200" b="1" spc="86" dirty="0">
                <a:solidFill>
                  <a:schemeClr val="bg1"/>
                </a:solidFill>
              </a:rPr>
              <a:t>E. Feasibility and scope checks for ICT projects</a:t>
            </a:r>
          </a:p>
          <a:p>
            <a:pPr>
              <a:lnSpc>
                <a:spcPct val="90000"/>
              </a:lnSpc>
              <a:spcAft>
                <a:spcPts val="800"/>
              </a:spcAft>
            </a:pPr>
            <a:endParaRPr lang="en-US" sz="2000" spc="86" dirty="0">
              <a:solidFill>
                <a:schemeClr val="bg1"/>
              </a:solidFill>
            </a:endParaRPr>
          </a:p>
          <a:p>
            <a:r>
              <a:rPr lang="en-US" sz="2400" b="1" dirty="0">
                <a:solidFill>
                  <a:schemeClr val="bg1"/>
                </a:solidFill>
              </a:rPr>
              <a:t>Example feasibility decision:</a:t>
            </a:r>
          </a:p>
          <a:p>
            <a:endParaRPr lang="en-ZA" sz="2400" dirty="0">
              <a:solidFill>
                <a:schemeClr val="bg1"/>
              </a:solidFill>
            </a:endParaRPr>
          </a:p>
          <a:p>
            <a:r>
              <a:rPr lang="en-US" sz="2400" dirty="0">
                <a:solidFill>
                  <a:schemeClr val="bg1"/>
                </a:solidFill>
              </a:rPr>
              <a:t>If you cannot access production security logs due to policy restrictions, you might shift your study to interviews with security analysts, </a:t>
            </a:r>
            <a:r>
              <a:rPr lang="en-US" sz="2400" dirty="0" err="1">
                <a:solidFill>
                  <a:schemeClr val="bg1"/>
                </a:solidFill>
              </a:rPr>
              <a:t>anonymised</a:t>
            </a:r>
            <a:r>
              <a:rPr lang="en-US" sz="2400" dirty="0">
                <a:solidFill>
                  <a:schemeClr val="bg1"/>
                </a:solidFill>
              </a:rPr>
              <a:t> incident summaries, or a controlled lab simulation where students respond to a phishing scenario.</a:t>
            </a:r>
            <a:endParaRPr lang="en-ZA" sz="2400" dirty="0">
              <a:solidFill>
                <a:schemeClr val="bg1"/>
              </a:solidFill>
            </a:endParaRPr>
          </a:p>
        </p:txBody>
      </p:sp>
    </p:spTree>
    <p:extLst>
      <p:ext uri="{BB962C8B-B14F-4D97-AF65-F5344CB8AC3E}">
        <p14:creationId xmlns:p14="http://schemas.microsoft.com/office/powerpoint/2010/main" val="199067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BA6EBC3-FE30-8920-94D0-8B25B292A93C}"/>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869A3B1-2A03-FA6F-5AAD-73A4593BC63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7947421C-7758-0EFD-92F8-579509A346EC}"/>
              </a:ext>
            </a:extLst>
          </p:cNvPr>
          <p:cNvSpPr txBox="1"/>
          <p:nvPr/>
        </p:nvSpPr>
        <p:spPr>
          <a:xfrm>
            <a:off x="152400" y="1600200"/>
            <a:ext cx="4495800" cy="982961"/>
          </a:xfrm>
          <a:prstGeom prst="rect">
            <a:avLst/>
          </a:prstGeom>
        </p:spPr>
        <p:txBody>
          <a:bodyPr wrap="square" lIns="0" tIns="0" rIns="0" bIns="0" rtlCol="0" anchor="t">
            <a:spAutoFit/>
          </a:bodyPr>
          <a:lstStyle/>
          <a:p>
            <a:pPr>
              <a:lnSpc>
                <a:spcPts val="3919"/>
              </a:lnSpc>
            </a:pPr>
            <a:r>
              <a:rPr lang="en-US" sz="2799" dirty="0">
                <a:latin typeface="League Spartan"/>
              </a:rPr>
              <a:t>F. Establishing the Research Problem</a:t>
            </a:r>
          </a:p>
        </p:txBody>
      </p:sp>
      <p:sp>
        <p:nvSpPr>
          <p:cNvPr id="7" name="TextBox 7">
            <a:extLst>
              <a:ext uri="{FF2B5EF4-FFF2-40B4-BE49-F238E27FC236}">
                <a16:creationId xmlns:a16="http://schemas.microsoft.com/office/drawing/2014/main" id="{FDC51FC8-9951-15CE-194C-2442F951B0D0}"/>
              </a:ext>
            </a:extLst>
          </p:cNvPr>
          <p:cNvSpPr txBox="1"/>
          <p:nvPr/>
        </p:nvSpPr>
        <p:spPr>
          <a:xfrm>
            <a:off x="3886198" y="381000"/>
            <a:ext cx="5791201" cy="5909310"/>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GB" sz="2400" dirty="0">
                <a:solidFill>
                  <a:schemeClr val="bg1"/>
                </a:solidFill>
              </a:rPr>
              <a:t>The </a:t>
            </a:r>
            <a:r>
              <a:rPr lang="en-GB" sz="2400" b="1" dirty="0">
                <a:solidFill>
                  <a:schemeClr val="bg1"/>
                </a:solidFill>
              </a:rPr>
              <a:t>Research Problem</a:t>
            </a:r>
            <a:r>
              <a:rPr lang="en-GB" sz="2400" dirty="0">
                <a:solidFill>
                  <a:schemeClr val="bg1"/>
                </a:solidFill>
              </a:rPr>
              <a:t> and </a:t>
            </a:r>
            <a:r>
              <a:rPr lang="en-GB" sz="2400" b="1" dirty="0">
                <a:solidFill>
                  <a:schemeClr val="bg1"/>
                </a:solidFill>
              </a:rPr>
              <a:t>Problem Statement</a:t>
            </a:r>
            <a:r>
              <a:rPr lang="en-GB" sz="2400" dirty="0">
                <a:solidFill>
                  <a:schemeClr val="bg1"/>
                </a:solidFill>
              </a:rPr>
              <a:t> are the cornerstone of your research. </a:t>
            </a:r>
          </a:p>
          <a:p>
            <a:pPr marL="342900" indent="-342900">
              <a:buFont typeface="Arial" panose="020B0604020202020204" pitchFamily="34" charset="0"/>
              <a:buChar char="•"/>
            </a:pPr>
            <a:r>
              <a:rPr lang="en-GB" sz="2400" dirty="0">
                <a:solidFill>
                  <a:schemeClr val="bg1"/>
                </a:solidFill>
              </a:rPr>
              <a:t>It identifies the issue your research will address and justifies the need for the study. </a:t>
            </a:r>
          </a:p>
          <a:p>
            <a:pPr marL="342900" indent="-342900">
              <a:buFont typeface="Arial" panose="020B0604020202020204" pitchFamily="34" charset="0"/>
              <a:buChar char="•"/>
            </a:pPr>
            <a:r>
              <a:rPr lang="en-GB" sz="2400" dirty="0">
                <a:solidFill>
                  <a:schemeClr val="bg1"/>
                </a:solidFill>
              </a:rPr>
              <a:t>To construct a strong and impactful research problem, it is important to answer several critical sub-questions: </a:t>
            </a:r>
          </a:p>
          <a:p>
            <a:pPr marL="800100" lvl="1" indent="-342900">
              <a:buFont typeface="Arial" panose="020B0604020202020204" pitchFamily="34" charset="0"/>
              <a:buChar char="•"/>
            </a:pPr>
            <a:r>
              <a:rPr lang="en-GB" sz="2400" i="1" dirty="0">
                <a:solidFill>
                  <a:schemeClr val="bg1"/>
                </a:solidFill>
              </a:rPr>
              <a:t>What is the problem? </a:t>
            </a:r>
          </a:p>
          <a:p>
            <a:pPr marL="800100" lvl="1" indent="-342900">
              <a:buFont typeface="Arial" panose="020B0604020202020204" pitchFamily="34" charset="0"/>
              <a:buChar char="•"/>
            </a:pPr>
            <a:r>
              <a:rPr lang="en-GB" sz="2400" i="1" dirty="0">
                <a:solidFill>
                  <a:schemeClr val="bg1"/>
                </a:solidFill>
              </a:rPr>
              <a:t>Why is it a problem? </a:t>
            </a:r>
          </a:p>
          <a:p>
            <a:pPr marL="800100" lvl="1" indent="-342900">
              <a:buFont typeface="Arial" panose="020B0604020202020204" pitchFamily="34" charset="0"/>
              <a:buChar char="•"/>
            </a:pPr>
            <a:r>
              <a:rPr lang="en-GB" sz="2400" i="1" dirty="0">
                <a:solidFill>
                  <a:schemeClr val="bg1"/>
                </a:solidFill>
              </a:rPr>
              <a:t>For whom is it a problem? </a:t>
            </a:r>
            <a:r>
              <a:rPr lang="en-GB" sz="2400" dirty="0">
                <a:solidFill>
                  <a:schemeClr val="bg1"/>
                </a:solidFill>
              </a:rPr>
              <a:t>and</a:t>
            </a:r>
            <a:r>
              <a:rPr lang="en-GB" sz="2400" i="1" dirty="0">
                <a:solidFill>
                  <a:schemeClr val="bg1"/>
                </a:solidFill>
              </a:rPr>
              <a:t> </a:t>
            </a:r>
          </a:p>
          <a:p>
            <a:pPr marL="800100" lvl="1" indent="-342900">
              <a:buFont typeface="Arial" panose="020B0604020202020204" pitchFamily="34" charset="0"/>
              <a:buChar char="•"/>
            </a:pPr>
            <a:r>
              <a:rPr lang="en-GB" sz="2400" i="1" dirty="0">
                <a:solidFill>
                  <a:schemeClr val="bg1"/>
                </a:solidFill>
              </a:rPr>
              <a:t>What are the consequences if the problem is not addressed?</a:t>
            </a:r>
            <a:r>
              <a:rPr lang="en-GB" sz="2400" dirty="0">
                <a:solidFill>
                  <a:schemeClr val="bg1"/>
                </a:solidFill>
              </a:rPr>
              <a:t> </a:t>
            </a:r>
          </a:p>
          <a:p>
            <a:pPr marL="800100" lvl="1" indent="-342900">
              <a:buFont typeface="Arial" panose="020B0604020202020204" pitchFamily="34" charset="0"/>
              <a:buChar char="•"/>
            </a:pPr>
            <a:endParaRPr lang="en-ZA" sz="2400" dirty="0">
              <a:solidFill>
                <a:schemeClr val="bg1"/>
              </a:solidFill>
            </a:endParaRPr>
          </a:p>
          <a:p>
            <a:r>
              <a:rPr lang="en-GB" sz="2400" dirty="0">
                <a:solidFill>
                  <a:schemeClr val="bg1"/>
                </a:solidFill>
              </a:rPr>
              <a:t>These sub-questions help to clarify the scope, significance, and urgency of the research. </a:t>
            </a:r>
            <a:endParaRPr lang="en-US" sz="2400" spc="86" dirty="0">
              <a:solidFill>
                <a:schemeClr val="bg1"/>
              </a:solidFill>
              <a:latin typeface="Open Sans"/>
            </a:endParaRPr>
          </a:p>
        </p:txBody>
      </p:sp>
    </p:spTree>
    <p:extLst>
      <p:ext uri="{BB962C8B-B14F-4D97-AF65-F5344CB8AC3E}">
        <p14:creationId xmlns:p14="http://schemas.microsoft.com/office/powerpoint/2010/main" val="2841976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29B34C7-B800-A574-52B6-F66D85D868A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CF4DE0DA-E708-71CD-D850-15582EAED13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6EFFCED3-4F0F-4F37-6502-FB4B8CAD6163}"/>
              </a:ext>
            </a:extLst>
          </p:cNvPr>
          <p:cNvSpPr txBox="1"/>
          <p:nvPr/>
        </p:nvSpPr>
        <p:spPr>
          <a:xfrm>
            <a:off x="152400" y="1600200"/>
            <a:ext cx="4495800" cy="2983509"/>
          </a:xfrm>
          <a:prstGeom prst="rect">
            <a:avLst/>
          </a:prstGeom>
        </p:spPr>
        <p:txBody>
          <a:bodyPr wrap="square" lIns="0" tIns="0" rIns="0" bIns="0" rtlCol="0" anchor="t">
            <a:spAutoFit/>
          </a:bodyPr>
          <a:lstStyle/>
          <a:p>
            <a:pPr>
              <a:lnSpc>
                <a:spcPts val="3919"/>
              </a:lnSpc>
            </a:pPr>
            <a:r>
              <a:rPr lang="en-US" sz="2799" dirty="0">
                <a:latin typeface="League Spartan"/>
              </a:rPr>
              <a:t>F. Establishing the Research Problem</a:t>
            </a:r>
          </a:p>
          <a:p>
            <a:pPr>
              <a:lnSpc>
                <a:spcPts val="3919"/>
              </a:lnSpc>
            </a:pPr>
            <a:endParaRPr lang="en-US" sz="2799" dirty="0">
              <a:latin typeface="League Spartan"/>
            </a:endParaRPr>
          </a:p>
          <a:p>
            <a:pPr>
              <a:lnSpc>
                <a:spcPts val="3919"/>
              </a:lnSpc>
            </a:pPr>
            <a:r>
              <a:rPr lang="en-US" sz="2799" dirty="0">
                <a:latin typeface="League Spartan"/>
              </a:rPr>
              <a:t>What is the </a:t>
            </a:r>
          </a:p>
          <a:p>
            <a:pPr>
              <a:lnSpc>
                <a:spcPts val="3919"/>
              </a:lnSpc>
            </a:pPr>
            <a:r>
              <a:rPr lang="en-US" sz="2799" dirty="0">
                <a:latin typeface="League Spartan"/>
              </a:rPr>
              <a:t>problem?</a:t>
            </a:r>
          </a:p>
          <a:p>
            <a:pPr>
              <a:lnSpc>
                <a:spcPts val="3919"/>
              </a:lnSpc>
            </a:pPr>
            <a:endParaRPr lang="en-US" sz="2799" dirty="0">
              <a:latin typeface="League Spartan"/>
            </a:endParaRPr>
          </a:p>
        </p:txBody>
      </p:sp>
      <p:sp>
        <p:nvSpPr>
          <p:cNvPr id="7" name="TextBox 7">
            <a:extLst>
              <a:ext uri="{FF2B5EF4-FFF2-40B4-BE49-F238E27FC236}">
                <a16:creationId xmlns:a16="http://schemas.microsoft.com/office/drawing/2014/main" id="{6778CDC1-21A0-4A76-8055-649DB4D34B21}"/>
              </a:ext>
            </a:extLst>
          </p:cNvPr>
          <p:cNvSpPr txBox="1"/>
          <p:nvPr/>
        </p:nvSpPr>
        <p:spPr>
          <a:xfrm>
            <a:off x="3886198" y="381000"/>
            <a:ext cx="5791201" cy="4431983"/>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GB" sz="2400" dirty="0">
                <a:solidFill>
                  <a:schemeClr val="bg1"/>
                </a:solidFill>
              </a:rPr>
              <a:t>This question addresses the core issue that your research seeks to resolve. </a:t>
            </a:r>
          </a:p>
          <a:p>
            <a:pPr marL="342900" indent="-342900">
              <a:buFont typeface="Arial" panose="020B0604020202020204" pitchFamily="34" charset="0"/>
              <a:buChar char="•"/>
            </a:pP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It should be specific, clear, and aligned with your research title and objectives. </a:t>
            </a:r>
          </a:p>
          <a:p>
            <a:pPr marL="342900" indent="-342900">
              <a:buFont typeface="Arial" panose="020B0604020202020204" pitchFamily="34" charset="0"/>
              <a:buChar char="•"/>
            </a:pP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By defining the problem clearly, you lay the foundation for your research.</a:t>
            </a:r>
          </a:p>
          <a:p>
            <a:pPr marL="342900" indent="-342900">
              <a:buFont typeface="Arial" panose="020B0604020202020204" pitchFamily="34" charset="0"/>
              <a:buChar char="•"/>
            </a:pP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The problem should be closely tied to the research title, ensuring consistency throughout the study​. </a:t>
            </a:r>
          </a:p>
        </p:txBody>
      </p:sp>
    </p:spTree>
    <p:extLst>
      <p:ext uri="{BB962C8B-B14F-4D97-AF65-F5344CB8AC3E}">
        <p14:creationId xmlns:p14="http://schemas.microsoft.com/office/powerpoint/2010/main" val="1340696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25A52A1-C859-8E8B-2309-3BEBB2427F51}"/>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F5B66430-4B38-25EA-6028-A4DF4DD38BA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070DEBD7-AF65-A6F0-20D8-C3D8BBBD9573}"/>
              </a:ext>
            </a:extLst>
          </p:cNvPr>
          <p:cNvSpPr txBox="1"/>
          <p:nvPr/>
        </p:nvSpPr>
        <p:spPr>
          <a:xfrm>
            <a:off x="152400" y="1600200"/>
            <a:ext cx="4495800" cy="2983509"/>
          </a:xfrm>
          <a:prstGeom prst="rect">
            <a:avLst/>
          </a:prstGeom>
        </p:spPr>
        <p:txBody>
          <a:bodyPr wrap="square" lIns="0" tIns="0" rIns="0" bIns="0" rtlCol="0" anchor="t">
            <a:spAutoFit/>
          </a:bodyPr>
          <a:lstStyle/>
          <a:p>
            <a:pPr>
              <a:lnSpc>
                <a:spcPts val="3919"/>
              </a:lnSpc>
            </a:pPr>
            <a:r>
              <a:rPr lang="en-US" sz="2799" dirty="0">
                <a:latin typeface="League Spartan"/>
              </a:rPr>
              <a:t>F. Establishing the Research Problem</a:t>
            </a:r>
          </a:p>
          <a:p>
            <a:pPr>
              <a:lnSpc>
                <a:spcPts val="3919"/>
              </a:lnSpc>
            </a:pPr>
            <a:endParaRPr lang="en-US" sz="2799" dirty="0">
              <a:latin typeface="League Spartan"/>
            </a:endParaRPr>
          </a:p>
          <a:p>
            <a:pPr>
              <a:lnSpc>
                <a:spcPts val="3919"/>
              </a:lnSpc>
            </a:pPr>
            <a:r>
              <a:rPr lang="en-US" sz="2799" dirty="0">
                <a:latin typeface="League Spartan"/>
              </a:rPr>
              <a:t>What is the </a:t>
            </a:r>
          </a:p>
          <a:p>
            <a:pPr>
              <a:lnSpc>
                <a:spcPts val="3919"/>
              </a:lnSpc>
            </a:pPr>
            <a:r>
              <a:rPr lang="en-US" sz="2799" dirty="0">
                <a:latin typeface="League Spartan"/>
              </a:rPr>
              <a:t>problem?</a:t>
            </a:r>
          </a:p>
          <a:p>
            <a:pPr>
              <a:lnSpc>
                <a:spcPts val="3919"/>
              </a:lnSpc>
            </a:pPr>
            <a:endParaRPr lang="en-US" sz="2799" dirty="0">
              <a:latin typeface="League Spartan"/>
            </a:endParaRPr>
          </a:p>
        </p:txBody>
      </p:sp>
      <p:sp>
        <p:nvSpPr>
          <p:cNvPr id="7" name="TextBox 7">
            <a:extLst>
              <a:ext uri="{FF2B5EF4-FFF2-40B4-BE49-F238E27FC236}">
                <a16:creationId xmlns:a16="http://schemas.microsoft.com/office/drawing/2014/main" id="{3B8F03B0-051A-37AA-72DA-966E1E061685}"/>
              </a:ext>
            </a:extLst>
          </p:cNvPr>
          <p:cNvSpPr txBox="1"/>
          <p:nvPr/>
        </p:nvSpPr>
        <p:spPr>
          <a:xfrm>
            <a:off x="3886198" y="381000"/>
            <a:ext cx="5791201" cy="4062651"/>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GB" sz="2400" dirty="0">
                <a:solidFill>
                  <a:schemeClr val="bg1"/>
                </a:solidFill>
              </a:rPr>
              <a:t>Similarly, the problem must align with the objectives and research questions.</a:t>
            </a:r>
          </a:p>
          <a:p>
            <a:pPr marL="342900" indent="-342900">
              <a:buFont typeface="Arial" panose="020B0604020202020204" pitchFamily="34" charset="0"/>
              <a:buChar char="•"/>
            </a:pPr>
            <a:endParaRPr lang="en-GB" sz="2400" i="1" dirty="0">
              <a:solidFill>
                <a:schemeClr val="bg1"/>
              </a:solidFill>
            </a:endParaRPr>
          </a:p>
          <a:p>
            <a:pPr algn="ctr"/>
            <a:r>
              <a:rPr lang="en-GB" sz="2400" i="1" dirty="0">
                <a:solidFill>
                  <a:schemeClr val="bg1"/>
                </a:solidFill>
              </a:rPr>
              <a:t>"The problem is that despite the potential benefits of predictive systems in higher education, their adoption is hindered by concerns over data privacy and a lack of staff training (Mofokeng, 2026:38)."</a:t>
            </a:r>
          </a:p>
          <a:p>
            <a:pPr marL="342900" indent="-342900">
              <a:buFont typeface="Arial" panose="020B0604020202020204" pitchFamily="34" charset="0"/>
              <a:buChar char="•"/>
            </a:pP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This clearly defines the specific issue that your research will address.</a:t>
            </a:r>
          </a:p>
        </p:txBody>
      </p:sp>
    </p:spTree>
    <p:extLst>
      <p:ext uri="{BB962C8B-B14F-4D97-AF65-F5344CB8AC3E}">
        <p14:creationId xmlns:p14="http://schemas.microsoft.com/office/powerpoint/2010/main" val="1264313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D98F9E5-DDDE-8121-76B6-B45CD107C6F8}"/>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772150B-39F2-840C-9567-33D666176BB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AD801A17-97AB-6438-52B1-E82000779098}"/>
              </a:ext>
            </a:extLst>
          </p:cNvPr>
          <p:cNvSpPr txBox="1"/>
          <p:nvPr/>
        </p:nvSpPr>
        <p:spPr>
          <a:xfrm>
            <a:off x="152400" y="1600200"/>
            <a:ext cx="4495800" cy="2983509"/>
          </a:xfrm>
          <a:prstGeom prst="rect">
            <a:avLst/>
          </a:prstGeom>
        </p:spPr>
        <p:txBody>
          <a:bodyPr wrap="square" lIns="0" tIns="0" rIns="0" bIns="0" rtlCol="0" anchor="t">
            <a:spAutoFit/>
          </a:bodyPr>
          <a:lstStyle/>
          <a:p>
            <a:pPr>
              <a:lnSpc>
                <a:spcPts val="3919"/>
              </a:lnSpc>
            </a:pPr>
            <a:r>
              <a:rPr lang="en-US" sz="2799" dirty="0">
                <a:latin typeface="League Spartan"/>
              </a:rPr>
              <a:t>F. Establishing the Research Problem</a:t>
            </a:r>
          </a:p>
          <a:p>
            <a:pPr>
              <a:lnSpc>
                <a:spcPts val="3919"/>
              </a:lnSpc>
            </a:pPr>
            <a:endParaRPr lang="en-US" sz="2799" dirty="0">
              <a:latin typeface="League Spartan"/>
            </a:endParaRPr>
          </a:p>
          <a:p>
            <a:pPr>
              <a:lnSpc>
                <a:spcPts val="3919"/>
              </a:lnSpc>
            </a:pPr>
            <a:r>
              <a:rPr lang="en-US" sz="2799" dirty="0">
                <a:latin typeface="League Spartan"/>
              </a:rPr>
              <a:t>Why is it a </a:t>
            </a:r>
          </a:p>
          <a:p>
            <a:pPr>
              <a:lnSpc>
                <a:spcPts val="3919"/>
              </a:lnSpc>
            </a:pPr>
            <a:r>
              <a:rPr lang="en-US" sz="2799" dirty="0">
                <a:latin typeface="League Spartan"/>
              </a:rPr>
              <a:t>problem?</a:t>
            </a:r>
          </a:p>
          <a:p>
            <a:pPr>
              <a:lnSpc>
                <a:spcPts val="3919"/>
              </a:lnSpc>
            </a:pPr>
            <a:endParaRPr lang="en-US" sz="2799" dirty="0">
              <a:latin typeface="League Spartan"/>
            </a:endParaRPr>
          </a:p>
        </p:txBody>
      </p:sp>
      <p:sp>
        <p:nvSpPr>
          <p:cNvPr id="7" name="TextBox 7">
            <a:extLst>
              <a:ext uri="{FF2B5EF4-FFF2-40B4-BE49-F238E27FC236}">
                <a16:creationId xmlns:a16="http://schemas.microsoft.com/office/drawing/2014/main" id="{DFF66BAF-98F1-8BE7-7FD1-4BEEED165907}"/>
              </a:ext>
            </a:extLst>
          </p:cNvPr>
          <p:cNvSpPr txBox="1"/>
          <p:nvPr/>
        </p:nvSpPr>
        <p:spPr>
          <a:xfrm>
            <a:off x="3886198" y="381000"/>
            <a:ext cx="5791201" cy="3323987"/>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GB" sz="2400" dirty="0">
                <a:solidFill>
                  <a:schemeClr val="bg1"/>
                </a:solidFill>
              </a:rPr>
              <a:t>This question explains the significance of the problem. </a:t>
            </a:r>
          </a:p>
          <a:p>
            <a:pPr marL="342900" indent="-342900">
              <a:buFont typeface="Arial" panose="020B0604020202020204" pitchFamily="34" charset="0"/>
              <a:buChar char="•"/>
            </a:pP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Why does it matter that this issue exists? </a:t>
            </a:r>
          </a:p>
          <a:p>
            <a:pPr marL="342900" indent="-342900">
              <a:buFont typeface="Arial" panose="020B0604020202020204" pitchFamily="34" charset="0"/>
              <a:buChar char="•"/>
            </a:pP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In this section, you should provide evidence of the problem's impact or explain how it creates challenges within the field or context of your study.</a:t>
            </a:r>
          </a:p>
        </p:txBody>
      </p:sp>
    </p:spTree>
    <p:extLst>
      <p:ext uri="{BB962C8B-B14F-4D97-AF65-F5344CB8AC3E}">
        <p14:creationId xmlns:p14="http://schemas.microsoft.com/office/powerpoint/2010/main" val="1329336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05FAC2B-0D8A-A277-EFE6-B9C56BDB97EE}"/>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C0C2B05-05F6-EA75-FE86-17FF2AB67F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42F530BA-9814-7F5D-D75D-5055FA3D5E95}"/>
              </a:ext>
            </a:extLst>
          </p:cNvPr>
          <p:cNvSpPr txBox="1"/>
          <p:nvPr/>
        </p:nvSpPr>
        <p:spPr>
          <a:xfrm>
            <a:off x="152400" y="1600200"/>
            <a:ext cx="4495800" cy="2983509"/>
          </a:xfrm>
          <a:prstGeom prst="rect">
            <a:avLst/>
          </a:prstGeom>
        </p:spPr>
        <p:txBody>
          <a:bodyPr wrap="square" lIns="0" tIns="0" rIns="0" bIns="0" rtlCol="0" anchor="t">
            <a:spAutoFit/>
          </a:bodyPr>
          <a:lstStyle/>
          <a:p>
            <a:pPr>
              <a:lnSpc>
                <a:spcPts val="3919"/>
              </a:lnSpc>
            </a:pPr>
            <a:r>
              <a:rPr lang="en-US" sz="2799" dirty="0">
                <a:latin typeface="League Spartan"/>
              </a:rPr>
              <a:t>F. Establishing the Research Problem</a:t>
            </a:r>
          </a:p>
          <a:p>
            <a:pPr>
              <a:lnSpc>
                <a:spcPts val="3919"/>
              </a:lnSpc>
            </a:pPr>
            <a:endParaRPr lang="en-US" sz="2799" dirty="0">
              <a:latin typeface="League Spartan"/>
            </a:endParaRPr>
          </a:p>
          <a:p>
            <a:pPr>
              <a:lnSpc>
                <a:spcPts val="3919"/>
              </a:lnSpc>
            </a:pPr>
            <a:r>
              <a:rPr lang="en-US" sz="2799" dirty="0">
                <a:latin typeface="League Spartan"/>
              </a:rPr>
              <a:t>Why is it a </a:t>
            </a:r>
          </a:p>
          <a:p>
            <a:pPr>
              <a:lnSpc>
                <a:spcPts val="3919"/>
              </a:lnSpc>
            </a:pPr>
            <a:r>
              <a:rPr lang="en-US" sz="2799" dirty="0">
                <a:latin typeface="League Spartan"/>
              </a:rPr>
              <a:t>problem?</a:t>
            </a:r>
          </a:p>
          <a:p>
            <a:pPr>
              <a:lnSpc>
                <a:spcPts val="3919"/>
              </a:lnSpc>
            </a:pPr>
            <a:endParaRPr lang="en-US" sz="2799" dirty="0">
              <a:latin typeface="League Spartan"/>
            </a:endParaRPr>
          </a:p>
        </p:txBody>
      </p:sp>
      <p:sp>
        <p:nvSpPr>
          <p:cNvPr id="7" name="TextBox 7">
            <a:extLst>
              <a:ext uri="{FF2B5EF4-FFF2-40B4-BE49-F238E27FC236}">
                <a16:creationId xmlns:a16="http://schemas.microsoft.com/office/drawing/2014/main" id="{FF049BCD-1B13-CF2E-B1F3-4463B7BFD37E}"/>
              </a:ext>
            </a:extLst>
          </p:cNvPr>
          <p:cNvSpPr txBox="1"/>
          <p:nvPr/>
        </p:nvSpPr>
        <p:spPr>
          <a:xfrm>
            <a:off x="3886198" y="381000"/>
            <a:ext cx="5791201" cy="5170646"/>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GB" sz="2400" dirty="0">
                <a:solidFill>
                  <a:schemeClr val="bg1"/>
                </a:solidFill>
              </a:rPr>
              <a:t>The problem must lay a strong foundation for why the research is necessary.</a:t>
            </a:r>
          </a:p>
          <a:p>
            <a:pPr marL="342900" indent="-342900">
              <a:buFont typeface="Arial" panose="020B0604020202020204" pitchFamily="34" charset="0"/>
              <a:buChar char="•"/>
            </a:pPr>
            <a:endParaRPr lang="en-GB" sz="2400" dirty="0">
              <a:solidFill>
                <a:schemeClr val="bg1"/>
              </a:solidFill>
            </a:endParaRPr>
          </a:p>
          <a:p>
            <a:pPr algn="ctr"/>
            <a:r>
              <a:rPr lang="en-GB" sz="2400" i="1" dirty="0">
                <a:solidFill>
                  <a:schemeClr val="bg1"/>
                </a:solidFill>
              </a:rPr>
              <a:t>"This is a problem because data privacy concerns prevent institutions from fully implementing predictive systems, limiting their ability to improve student retention and performance. Additionally, inadequate staff training leads to poor system usage, reducing the potential benefits of predictive technologies (Sibisi, 2026:5)."</a:t>
            </a:r>
          </a:p>
          <a:p>
            <a:pPr algn="ctr"/>
            <a:endParaRPr lang="en-GB" sz="2400" i="1" dirty="0">
              <a:solidFill>
                <a:schemeClr val="bg1"/>
              </a:solidFill>
            </a:endParaRPr>
          </a:p>
          <a:p>
            <a:pPr marL="342900" indent="-342900">
              <a:buFont typeface="Arial" panose="020B0604020202020204" pitchFamily="34" charset="0"/>
              <a:buChar char="•"/>
            </a:pPr>
            <a:r>
              <a:rPr lang="en-GB" sz="2400" dirty="0">
                <a:solidFill>
                  <a:schemeClr val="bg1"/>
                </a:solidFill>
              </a:rPr>
              <a:t>Here, you explain why the problem is important and why it needs to be solved.</a:t>
            </a:r>
          </a:p>
        </p:txBody>
      </p:sp>
    </p:spTree>
    <p:extLst>
      <p:ext uri="{BB962C8B-B14F-4D97-AF65-F5344CB8AC3E}">
        <p14:creationId xmlns:p14="http://schemas.microsoft.com/office/powerpoint/2010/main" val="3464469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9C8DE83-8E65-A3BC-AB6F-66CD4A2695C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4F9DBB43-77B3-BEE6-387E-996D47F8555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44176D06-E425-A730-2EA2-A97A9AEA6114}"/>
              </a:ext>
            </a:extLst>
          </p:cNvPr>
          <p:cNvSpPr txBox="1"/>
          <p:nvPr/>
        </p:nvSpPr>
        <p:spPr>
          <a:xfrm>
            <a:off x="152400" y="1600200"/>
            <a:ext cx="4495800" cy="2983509"/>
          </a:xfrm>
          <a:prstGeom prst="rect">
            <a:avLst/>
          </a:prstGeom>
        </p:spPr>
        <p:txBody>
          <a:bodyPr wrap="square" lIns="0" tIns="0" rIns="0" bIns="0" rtlCol="0" anchor="t">
            <a:spAutoFit/>
          </a:bodyPr>
          <a:lstStyle/>
          <a:p>
            <a:pPr>
              <a:lnSpc>
                <a:spcPts val="3919"/>
              </a:lnSpc>
            </a:pPr>
            <a:r>
              <a:rPr lang="en-US" sz="2799" dirty="0">
                <a:latin typeface="League Spartan"/>
              </a:rPr>
              <a:t>F. Establishing the Research Problem</a:t>
            </a:r>
          </a:p>
          <a:p>
            <a:pPr>
              <a:lnSpc>
                <a:spcPts val="3919"/>
              </a:lnSpc>
            </a:pPr>
            <a:endParaRPr lang="en-US" sz="2799" dirty="0">
              <a:latin typeface="League Spartan"/>
            </a:endParaRPr>
          </a:p>
          <a:p>
            <a:pPr>
              <a:lnSpc>
                <a:spcPts val="3919"/>
              </a:lnSpc>
            </a:pPr>
            <a:r>
              <a:rPr lang="en-US" sz="2799" dirty="0">
                <a:latin typeface="League Spartan"/>
              </a:rPr>
              <a:t>For Whom is it </a:t>
            </a:r>
          </a:p>
          <a:p>
            <a:pPr>
              <a:lnSpc>
                <a:spcPts val="3919"/>
              </a:lnSpc>
            </a:pPr>
            <a:r>
              <a:rPr lang="en-US" sz="2799" dirty="0">
                <a:latin typeface="League Spartan"/>
              </a:rPr>
              <a:t>a Problem?</a:t>
            </a:r>
          </a:p>
          <a:p>
            <a:pPr>
              <a:lnSpc>
                <a:spcPts val="3919"/>
              </a:lnSpc>
            </a:pPr>
            <a:endParaRPr lang="en-US" sz="2799" dirty="0">
              <a:latin typeface="League Spartan"/>
            </a:endParaRPr>
          </a:p>
        </p:txBody>
      </p:sp>
      <p:sp>
        <p:nvSpPr>
          <p:cNvPr id="7" name="TextBox 7">
            <a:extLst>
              <a:ext uri="{FF2B5EF4-FFF2-40B4-BE49-F238E27FC236}">
                <a16:creationId xmlns:a16="http://schemas.microsoft.com/office/drawing/2014/main" id="{D9FDFB14-B670-7E27-C291-F9A40AB12039}"/>
              </a:ext>
            </a:extLst>
          </p:cNvPr>
          <p:cNvSpPr txBox="1"/>
          <p:nvPr/>
        </p:nvSpPr>
        <p:spPr>
          <a:xfrm>
            <a:off x="3886198" y="381000"/>
            <a:ext cx="5791201" cy="5170646"/>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GB" sz="2400" dirty="0">
                <a:solidFill>
                  <a:schemeClr val="bg1"/>
                </a:solidFill>
              </a:rPr>
              <a:t>This question identifies the stakeholders affected by the problem. </a:t>
            </a:r>
          </a:p>
          <a:p>
            <a:pPr marL="342900" indent="-342900">
              <a:buFont typeface="Arial" panose="020B0604020202020204" pitchFamily="34" charset="0"/>
              <a:buChar char="•"/>
            </a:pP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You must explain who is experiencing this issue and who would benefit if the problem were solved. </a:t>
            </a:r>
          </a:p>
          <a:p>
            <a:pPr marL="342900" indent="-342900">
              <a:buFont typeface="Arial" panose="020B0604020202020204" pitchFamily="34" charset="0"/>
              <a:buChar char="•"/>
            </a:pP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This could include specific groups (e.g., students, staff) or broader entities (e.g., educational institutions).</a:t>
            </a:r>
          </a:p>
          <a:p>
            <a:pPr marL="342900" indent="-342900">
              <a:buFont typeface="Arial" panose="020B0604020202020204" pitchFamily="34" charset="0"/>
              <a:buChar char="•"/>
            </a:pPr>
            <a:endParaRPr lang="en-ZA" sz="2400" dirty="0">
              <a:solidFill>
                <a:schemeClr val="bg1"/>
              </a:solidFill>
            </a:endParaRPr>
          </a:p>
          <a:p>
            <a:pPr marL="342900" indent="-342900">
              <a:buFont typeface="Arial" panose="020B0604020202020204" pitchFamily="34" charset="0"/>
              <a:buChar char="•"/>
            </a:pPr>
            <a:r>
              <a:rPr lang="en-GB" sz="2400" dirty="0">
                <a:solidFill>
                  <a:schemeClr val="bg1"/>
                </a:solidFill>
              </a:rPr>
              <a:t>It is important to clarify who is affected by the problem to make the research relevant and focused​.</a:t>
            </a:r>
            <a:endParaRPr lang="en-ZA" sz="2400" dirty="0">
              <a:solidFill>
                <a:schemeClr val="bg1"/>
              </a:solidFill>
            </a:endParaRPr>
          </a:p>
        </p:txBody>
      </p:sp>
    </p:spTree>
    <p:extLst>
      <p:ext uri="{BB962C8B-B14F-4D97-AF65-F5344CB8AC3E}">
        <p14:creationId xmlns:p14="http://schemas.microsoft.com/office/powerpoint/2010/main" val="1065001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5AB2CC0-E4A5-4B3C-EA9A-F606C876779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2E43715D-7D92-5091-8997-11D52717A1E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FD9508B1-BF27-9C82-E965-A412A766B4ED}"/>
              </a:ext>
            </a:extLst>
          </p:cNvPr>
          <p:cNvSpPr txBox="1"/>
          <p:nvPr/>
        </p:nvSpPr>
        <p:spPr>
          <a:xfrm>
            <a:off x="152400" y="1600200"/>
            <a:ext cx="4495800" cy="2983509"/>
          </a:xfrm>
          <a:prstGeom prst="rect">
            <a:avLst/>
          </a:prstGeom>
        </p:spPr>
        <p:txBody>
          <a:bodyPr wrap="square" lIns="0" tIns="0" rIns="0" bIns="0" rtlCol="0" anchor="t">
            <a:spAutoFit/>
          </a:bodyPr>
          <a:lstStyle/>
          <a:p>
            <a:pPr>
              <a:lnSpc>
                <a:spcPts val="3919"/>
              </a:lnSpc>
            </a:pPr>
            <a:r>
              <a:rPr lang="en-US" sz="2799" dirty="0">
                <a:latin typeface="League Spartan"/>
              </a:rPr>
              <a:t>F. Establishing the Research Problem</a:t>
            </a:r>
          </a:p>
          <a:p>
            <a:pPr>
              <a:lnSpc>
                <a:spcPts val="3919"/>
              </a:lnSpc>
            </a:pPr>
            <a:endParaRPr lang="en-US" sz="2799" dirty="0">
              <a:latin typeface="League Spartan"/>
            </a:endParaRPr>
          </a:p>
          <a:p>
            <a:pPr>
              <a:lnSpc>
                <a:spcPts val="3919"/>
              </a:lnSpc>
            </a:pPr>
            <a:r>
              <a:rPr lang="en-US" sz="2799" dirty="0">
                <a:latin typeface="League Spartan"/>
              </a:rPr>
              <a:t>For Whom is it </a:t>
            </a:r>
          </a:p>
          <a:p>
            <a:pPr>
              <a:lnSpc>
                <a:spcPts val="3919"/>
              </a:lnSpc>
            </a:pPr>
            <a:r>
              <a:rPr lang="en-US" sz="2799" dirty="0">
                <a:latin typeface="League Spartan"/>
              </a:rPr>
              <a:t>a Problem?</a:t>
            </a:r>
          </a:p>
          <a:p>
            <a:pPr>
              <a:lnSpc>
                <a:spcPts val="3919"/>
              </a:lnSpc>
            </a:pPr>
            <a:endParaRPr lang="en-US" sz="2799" dirty="0">
              <a:latin typeface="League Spartan"/>
            </a:endParaRPr>
          </a:p>
        </p:txBody>
      </p:sp>
      <p:sp>
        <p:nvSpPr>
          <p:cNvPr id="7" name="TextBox 7">
            <a:extLst>
              <a:ext uri="{FF2B5EF4-FFF2-40B4-BE49-F238E27FC236}">
                <a16:creationId xmlns:a16="http://schemas.microsoft.com/office/drawing/2014/main" id="{CEE2DA52-E511-5A93-C637-0F99A5CB99E4}"/>
              </a:ext>
            </a:extLst>
          </p:cNvPr>
          <p:cNvSpPr txBox="1"/>
          <p:nvPr/>
        </p:nvSpPr>
        <p:spPr>
          <a:xfrm>
            <a:off x="3886198" y="381000"/>
            <a:ext cx="5791201" cy="4431983"/>
          </a:xfrm>
          <a:prstGeom prst="rect">
            <a:avLst/>
          </a:prstGeom>
        </p:spPr>
        <p:txBody>
          <a:bodyPr wrap="square" lIns="0" tIns="0" rIns="0" bIns="0" rtlCol="0" anchor="t">
            <a:spAutoFit/>
          </a:bodyPr>
          <a:lstStyle/>
          <a:p>
            <a:pPr algn="ctr"/>
            <a:r>
              <a:rPr lang="en-GB" sz="2400" i="1" dirty="0">
                <a:solidFill>
                  <a:schemeClr val="bg1"/>
                </a:solidFill>
              </a:rPr>
              <a:t>"This problem primarily affects academic staff and administrators in higher education institutions, as they are responsible for implementing and using predictive systems. However, it also impacts students, as the limited adoption of these systems reduces the potential for improved educational outcomes (de Jong, 2026:14)."</a:t>
            </a:r>
          </a:p>
          <a:p>
            <a:pPr marL="342900" indent="-342900">
              <a:buFont typeface="Arial" panose="020B0604020202020204" pitchFamily="34" charset="0"/>
              <a:buChar char="•"/>
            </a:pP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This explanation identifies the key stakeholders and explains why they are important to your study.</a:t>
            </a:r>
          </a:p>
        </p:txBody>
      </p:sp>
    </p:spTree>
    <p:extLst>
      <p:ext uri="{BB962C8B-B14F-4D97-AF65-F5344CB8AC3E}">
        <p14:creationId xmlns:p14="http://schemas.microsoft.com/office/powerpoint/2010/main" val="109495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BA89996-10E8-F32F-9538-3E9F988996F9}"/>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74F1FEB9-CEA3-DB8B-C60F-D9523C2375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4718420D-159D-129A-2302-55B2F096D323}"/>
              </a:ext>
            </a:extLst>
          </p:cNvPr>
          <p:cNvSpPr txBox="1"/>
          <p:nvPr/>
        </p:nvSpPr>
        <p:spPr>
          <a:xfrm>
            <a:off x="152400" y="1600200"/>
            <a:ext cx="4495800" cy="4483920"/>
          </a:xfrm>
          <a:prstGeom prst="rect">
            <a:avLst/>
          </a:prstGeom>
        </p:spPr>
        <p:txBody>
          <a:bodyPr wrap="square" lIns="0" tIns="0" rIns="0" bIns="0" rtlCol="0" anchor="t">
            <a:spAutoFit/>
          </a:bodyPr>
          <a:lstStyle/>
          <a:p>
            <a:pPr>
              <a:lnSpc>
                <a:spcPts val="3919"/>
              </a:lnSpc>
            </a:pPr>
            <a:r>
              <a:rPr lang="en-US" sz="2799" dirty="0">
                <a:latin typeface="League Spartan"/>
              </a:rPr>
              <a:t>F. Establishing the Research Problem</a:t>
            </a:r>
          </a:p>
          <a:p>
            <a:pPr>
              <a:lnSpc>
                <a:spcPts val="3919"/>
              </a:lnSpc>
            </a:pPr>
            <a:endParaRPr lang="en-US" sz="2799" dirty="0">
              <a:latin typeface="League Spartan"/>
            </a:endParaRPr>
          </a:p>
          <a:p>
            <a:pPr>
              <a:lnSpc>
                <a:spcPts val="3919"/>
              </a:lnSpc>
            </a:pPr>
            <a:r>
              <a:rPr lang="en-US" sz="2799" dirty="0">
                <a:latin typeface="League Spartan"/>
              </a:rPr>
              <a:t>What are the Consequences</a:t>
            </a:r>
          </a:p>
          <a:p>
            <a:pPr>
              <a:lnSpc>
                <a:spcPts val="3919"/>
              </a:lnSpc>
            </a:pPr>
            <a:r>
              <a:rPr lang="en-US" sz="2799" dirty="0">
                <a:latin typeface="League Spartan"/>
              </a:rPr>
              <a:t>if the Problem</a:t>
            </a:r>
          </a:p>
          <a:p>
            <a:pPr>
              <a:lnSpc>
                <a:spcPts val="3919"/>
              </a:lnSpc>
            </a:pPr>
            <a:r>
              <a:rPr lang="en-US" sz="2799" dirty="0">
                <a:latin typeface="League Spartan"/>
              </a:rPr>
              <a:t>is Not </a:t>
            </a:r>
          </a:p>
          <a:p>
            <a:pPr>
              <a:lnSpc>
                <a:spcPts val="3919"/>
              </a:lnSpc>
            </a:pPr>
            <a:r>
              <a:rPr lang="en-US" sz="2799" dirty="0">
                <a:latin typeface="League Spartan"/>
              </a:rPr>
              <a:t>Addressed?</a:t>
            </a:r>
          </a:p>
          <a:p>
            <a:pPr>
              <a:lnSpc>
                <a:spcPts val="3919"/>
              </a:lnSpc>
            </a:pPr>
            <a:endParaRPr lang="en-US" sz="2799" dirty="0">
              <a:latin typeface="League Spartan"/>
            </a:endParaRPr>
          </a:p>
        </p:txBody>
      </p:sp>
      <p:sp>
        <p:nvSpPr>
          <p:cNvPr id="7" name="TextBox 7">
            <a:extLst>
              <a:ext uri="{FF2B5EF4-FFF2-40B4-BE49-F238E27FC236}">
                <a16:creationId xmlns:a16="http://schemas.microsoft.com/office/drawing/2014/main" id="{C10978E8-43ED-B772-1296-2216AF935046}"/>
              </a:ext>
            </a:extLst>
          </p:cNvPr>
          <p:cNvSpPr txBox="1"/>
          <p:nvPr/>
        </p:nvSpPr>
        <p:spPr>
          <a:xfrm>
            <a:off x="3886198" y="381000"/>
            <a:ext cx="5791201" cy="4801314"/>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GB" sz="2400" dirty="0">
                <a:solidFill>
                  <a:schemeClr val="bg1"/>
                </a:solidFill>
              </a:rPr>
              <a:t>This question outlines the implications of leaving the problem unresolved. </a:t>
            </a:r>
          </a:p>
          <a:p>
            <a:pPr marL="342900" indent="-342900">
              <a:buFont typeface="Arial" panose="020B0604020202020204" pitchFamily="34" charset="0"/>
              <a:buChar char="•"/>
            </a:pP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What are the risks or negative outcomes if no action is taken? </a:t>
            </a:r>
          </a:p>
          <a:p>
            <a:pPr marL="342900" indent="-342900">
              <a:buFont typeface="Arial" panose="020B0604020202020204" pitchFamily="34" charset="0"/>
              <a:buChar char="•"/>
            </a:pP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This section should make it clear that addressing the problem is not only valuable but necessary.</a:t>
            </a:r>
          </a:p>
          <a:p>
            <a:pPr marL="342900" indent="-342900">
              <a:buFont typeface="Arial" panose="020B0604020202020204" pitchFamily="34" charset="0"/>
              <a:buChar char="•"/>
            </a:pP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It is important to frame research questions so they directly address the consequences of the problem.</a:t>
            </a:r>
            <a:endParaRPr lang="en-ZA" sz="2400" dirty="0">
              <a:solidFill>
                <a:schemeClr val="bg1"/>
              </a:solidFill>
            </a:endParaRPr>
          </a:p>
        </p:txBody>
      </p:sp>
    </p:spTree>
    <p:extLst>
      <p:ext uri="{BB962C8B-B14F-4D97-AF65-F5344CB8AC3E}">
        <p14:creationId xmlns:p14="http://schemas.microsoft.com/office/powerpoint/2010/main" val="4213540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C11498D-4E83-51E5-4AF1-0A7796295685}"/>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445B475D-4C01-7226-A1AC-E54C8C92B08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9051E68A-1C36-3C44-7794-C9811BCF0F68}"/>
              </a:ext>
            </a:extLst>
          </p:cNvPr>
          <p:cNvSpPr txBox="1"/>
          <p:nvPr/>
        </p:nvSpPr>
        <p:spPr>
          <a:xfrm>
            <a:off x="152400" y="1600200"/>
            <a:ext cx="4495800" cy="4483920"/>
          </a:xfrm>
          <a:prstGeom prst="rect">
            <a:avLst/>
          </a:prstGeom>
        </p:spPr>
        <p:txBody>
          <a:bodyPr wrap="square" lIns="0" tIns="0" rIns="0" bIns="0" rtlCol="0" anchor="t">
            <a:spAutoFit/>
          </a:bodyPr>
          <a:lstStyle/>
          <a:p>
            <a:pPr>
              <a:lnSpc>
                <a:spcPts val="3919"/>
              </a:lnSpc>
            </a:pPr>
            <a:r>
              <a:rPr lang="en-US" sz="2799" dirty="0">
                <a:latin typeface="League Spartan"/>
              </a:rPr>
              <a:t>F. Establishing the Research Problem</a:t>
            </a:r>
          </a:p>
          <a:p>
            <a:pPr>
              <a:lnSpc>
                <a:spcPts val="3919"/>
              </a:lnSpc>
            </a:pPr>
            <a:endParaRPr lang="en-US" sz="2799" dirty="0">
              <a:latin typeface="League Spartan"/>
            </a:endParaRPr>
          </a:p>
          <a:p>
            <a:pPr>
              <a:lnSpc>
                <a:spcPts val="3919"/>
              </a:lnSpc>
            </a:pPr>
            <a:r>
              <a:rPr lang="en-US" sz="2799" dirty="0">
                <a:latin typeface="League Spartan"/>
              </a:rPr>
              <a:t>What are the Consequences</a:t>
            </a:r>
          </a:p>
          <a:p>
            <a:pPr>
              <a:lnSpc>
                <a:spcPts val="3919"/>
              </a:lnSpc>
            </a:pPr>
            <a:r>
              <a:rPr lang="en-US" sz="2799" dirty="0">
                <a:latin typeface="League Spartan"/>
              </a:rPr>
              <a:t>if the Problem</a:t>
            </a:r>
          </a:p>
          <a:p>
            <a:pPr>
              <a:lnSpc>
                <a:spcPts val="3919"/>
              </a:lnSpc>
            </a:pPr>
            <a:r>
              <a:rPr lang="en-US" sz="2799" dirty="0">
                <a:latin typeface="League Spartan"/>
              </a:rPr>
              <a:t>is Not </a:t>
            </a:r>
          </a:p>
          <a:p>
            <a:pPr>
              <a:lnSpc>
                <a:spcPts val="3919"/>
              </a:lnSpc>
            </a:pPr>
            <a:r>
              <a:rPr lang="en-US" sz="2799" dirty="0">
                <a:latin typeface="League Spartan"/>
              </a:rPr>
              <a:t>Addressed?</a:t>
            </a:r>
          </a:p>
          <a:p>
            <a:pPr>
              <a:lnSpc>
                <a:spcPts val="3919"/>
              </a:lnSpc>
            </a:pPr>
            <a:endParaRPr lang="en-US" sz="2799" dirty="0">
              <a:latin typeface="League Spartan"/>
            </a:endParaRPr>
          </a:p>
        </p:txBody>
      </p:sp>
      <p:sp>
        <p:nvSpPr>
          <p:cNvPr id="7" name="TextBox 7">
            <a:extLst>
              <a:ext uri="{FF2B5EF4-FFF2-40B4-BE49-F238E27FC236}">
                <a16:creationId xmlns:a16="http://schemas.microsoft.com/office/drawing/2014/main" id="{BC74BB2D-C5DB-8278-4623-1AD64364440F}"/>
              </a:ext>
            </a:extLst>
          </p:cNvPr>
          <p:cNvSpPr txBox="1"/>
          <p:nvPr/>
        </p:nvSpPr>
        <p:spPr>
          <a:xfrm>
            <a:off x="3886198" y="381000"/>
            <a:ext cx="5791201" cy="4431983"/>
          </a:xfrm>
          <a:prstGeom prst="rect">
            <a:avLst/>
          </a:prstGeom>
        </p:spPr>
        <p:txBody>
          <a:bodyPr wrap="square" lIns="0" tIns="0" rIns="0" bIns="0" rtlCol="0" anchor="t">
            <a:spAutoFit/>
          </a:bodyPr>
          <a:lstStyle/>
          <a:p>
            <a:pPr algn="ctr"/>
            <a:r>
              <a:rPr lang="en-GB" sz="2400" i="1" dirty="0">
                <a:solidFill>
                  <a:schemeClr val="bg1"/>
                </a:solidFill>
              </a:rPr>
              <a:t>"If this problem is not addressed, higher education institutions will continue to underutilise predictive systems, missing opportunities to improve student outcomes. Moreover, ongoing concerns about data privacy could lead to non-compliance with data protection regulations, exposing institutions to legal risks (Chaine, 2026:24)."</a:t>
            </a:r>
          </a:p>
          <a:p>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This section highlights the urgency of the problem and the potential consequences of inaction.</a:t>
            </a:r>
          </a:p>
        </p:txBody>
      </p:sp>
    </p:spTree>
    <p:extLst>
      <p:ext uri="{BB962C8B-B14F-4D97-AF65-F5344CB8AC3E}">
        <p14:creationId xmlns:p14="http://schemas.microsoft.com/office/powerpoint/2010/main" val="12085033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78E3817-7608-7CCC-D442-E157BB38415A}"/>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04D24C1-D8B0-EA10-D576-B3583214EF4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084371C3-9DA9-B459-8B16-6E9FF69F799E}"/>
              </a:ext>
            </a:extLst>
          </p:cNvPr>
          <p:cNvSpPr txBox="1"/>
          <p:nvPr/>
        </p:nvSpPr>
        <p:spPr>
          <a:xfrm>
            <a:off x="152400" y="1600200"/>
            <a:ext cx="4495800" cy="3275897"/>
          </a:xfrm>
          <a:prstGeom prst="rect">
            <a:avLst/>
          </a:prstGeom>
        </p:spPr>
        <p:txBody>
          <a:bodyPr wrap="square" lIns="0" tIns="0" rIns="0" bIns="0" rtlCol="0" anchor="t">
            <a:spAutoFit/>
          </a:bodyPr>
          <a:lstStyle/>
          <a:p>
            <a:pPr>
              <a:lnSpc>
                <a:spcPts val="3919"/>
              </a:lnSpc>
            </a:pPr>
            <a:r>
              <a:rPr lang="en-US" sz="2799" dirty="0">
                <a:latin typeface="League Spartan"/>
              </a:rPr>
              <a:t>F. Establishing the Research Problem</a:t>
            </a:r>
          </a:p>
          <a:p>
            <a:pPr>
              <a:lnSpc>
                <a:spcPts val="3919"/>
              </a:lnSpc>
            </a:pPr>
            <a:endParaRPr lang="en-US" sz="2799" dirty="0">
              <a:latin typeface="League Spartan"/>
            </a:endParaRPr>
          </a:p>
          <a:p>
            <a:r>
              <a:rPr lang="en-GB" sz="2800" b="1" dirty="0"/>
              <a:t>Essence of the </a:t>
            </a:r>
          </a:p>
          <a:p>
            <a:r>
              <a:rPr lang="en-GB" sz="2800" b="1" dirty="0"/>
              <a:t>Research Problem </a:t>
            </a:r>
          </a:p>
          <a:p>
            <a:r>
              <a:rPr lang="en-GB" sz="2800" b="1" dirty="0"/>
              <a:t>Structure</a:t>
            </a:r>
            <a:endParaRPr lang="en-ZA" sz="2800" dirty="0"/>
          </a:p>
          <a:p>
            <a:pPr>
              <a:lnSpc>
                <a:spcPts val="3919"/>
              </a:lnSpc>
            </a:pPr>
            <a:endParaRPr lang="en-US" sz="2799" dirty="0">
              <a:latin typeface="League Spartan"/>
            </a:endParaRPr>
          </a:p>
        </p:txBody>
      </p:sp>
      <p:sp>
        <p:nvSpPr>
          <p:cNvPr id="7" name="TextBox 7">
            <a:extLst>
              <a:ext uri="{FF2B5EF4-FFF2-40B4-BE49-F238E27FC236}">
                <a16:creationId xmlns:a16="http://schemas.microsoft.com/office/drawing/2014/main" id="{3BD69EEC-4BB6-C76E-4270-F71A9DCAD863}"/>
              </a:ext>
            </a:extLst>
          </p:cNvPr>
          <p:cNvSpPr txBox="1"/>
          <p:nvPr/>
        </p:nvSpPr>
        <p:spPr>
          <a:xfrm>
            <a:off x="3886198" y="381000"/>
            <a:ext cx="5791201" cy="5909310"/>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GB" sz="2400" dirty="0">
                <a:solidFill>
                  <a:schemeClr val="bg1"/>
                </a:solidFill>
              </a:rPr>
              <a:t>The structure of the research problem should be logical, clear, and concise. </a:t>
            </a:r>
          </a:p>
          <a:p>
            <a:pPr marL="342900" indent="-342900">
              <a:buFont typeface="Arial" panose="020B0604020202020204" pitchFamily="34" charset="0"/>
              <a:buChar char="•"/>
            </a:pPr>
            <a:endParaRPr lang="en-GB" sz="2400" dirty="0">
              <a:solidFill>
                <a:schemeClr val="bg1"/>
              </a:solidFill>
            </a:endParaRPr>
          </a:p>
          <a:p>
            <a:r>
              <a:rPr lang="en-GB" sz="2400" dirty="0">
                <a:solidFill>
                  <a:schemeClr val="bg1"/>
                </a:solidFill>
              </a:rPr>
              <a:t>It must:</a:t>
            </a:r>
            <a:endParaRPr lang="en-ZA" sz="2400" dirty="0">
              <a:solidFill>
                <a:schemeClr val="bg1"/>
              </a:solidFill>
            </a:endParaRPr>
          </a:p>
          <a:p>
            <a:pPr marL="342900" lvl="0" indent="-342900">
              <a:buFont typeface="Arial" panose="020B0604020202020204" pitchFamily="34" charset="0"/>
              <a:buChar char="•"/>
            </a:pPr>
            <a:r>
              <a:rPr lang="en-GB" sz="2400" dirty="0">
                <a:solidFill>
                  <a:schemeClr val="bg1"/>
                </a:solidFill>
              </a:rPr>
              <a:t>Identify the problem in a specific and straightforward manner.</a:t>
            </a:r>
          </a:p>
          <a:p>
            <a:pPr marL="342900" lvl="0" indent="-342900">
              <a:buFont typeface="Arial" panose="020B0604020202020204" pitchFamily="34" charset="0"/>
              <a:buChar char="•"/>
            </a:pPr>
            <a:endParaRPr lang="en-ZA" sz="2400" dirty="0">
              <a:solidFill>
                <a:schemeClr val="bg1"/>
              </a:solidFill>
            </a:endParaRPr>
          </a:p>
          <a:p>
            <a:pPr marL="342900" lvl="0" indent="-342900">
              <a:buFont typeface="Arial" panose="020B0604020202020204" pitchFamily="34" charset="0"/>
              <a:buChar char="•"/>
            </a:pPr>
            <a:r>
              <a:rPr lang="en-GB" sz="2400" dirty="0">
                <a:solidFill>
                  <a:schemeClr val="bg1"/>
                </a:solidFill>
              </a:rPr>
              <a:t>Explain why it is a problem and establish its significance.</a:t>
            </a:r>
            <a:endParaRPr lang="en-ZA" sz="2400" dirty="0">
              <a:solidFill>
                <a:schemeClr val="bg1"/>
              </a:solidFill>
            </a:endParaRPr>
          </a:p>
          <a:p>
            <a:pPr marL="342900" lvl="0" indent="-342900">
              <a:buFont typeface="Arial" panose="020B0604020202020204" pitchFamily="34" charset="0"/>
              <a:buChar char="•"/>
            </a:pPr>
            <a:endParaRPr lang="en-GB" sz="2400" dirty="0">
              <a:solidFill>
                <a:schemeClr val="bg1"/>
              </a:solidFill>
            </a:endParaRPr>
          </a:p>
          <a:p>
            <a:pPr marL="342900" lvl="0" indent="-342900">
              <a:buFont typeface="Arial" panose="020B0604020202020204" pitchFamily="34" charset="0"/>
              <a:buChar char="•"/>
            </a:pPr>
            <a:r>
              <a:rPr lang="en-GB" sz="2400" dirty="0">
                <a:solidFill>
                  <a:schemeClr val="bg1"/>
                </a:solidFill>
              </a:rPr>
              <a:t>Clarify for whom the problem is relevant and identify the stakeholders.</a:t>
            </a:r>
            <a:endParaRPr lang="en-ZA" sz="2400" dirty="0">
              <a:solidFill>
                <a:schemeClr val="bg1"/>
              </a:solidFill>
            </a:endParaRPr>
          </a:p>
          <a:p>
            <a:pPr marL="342900" lvl="0" indent="-342900">
              <a:buFont typeface="Arial" panose="020B0604020202020204" pitchFamily="34" charset="0"/>
              <a:buChar char="•"/>
            </a:pPr>
            <a:endParaRPr lang="en-GB" sz="2400" dirty="0">
              <a:solidFill>
                <a:schemeClr val="bg1"/>
              </a:solidFill>
            </a:endParaRPr>
          </a:p>
          <a:p>
            <a:pPr marL="342900" lvl="0" indent="-342900">
              <a:buFont typeface="Arial" panose="020B0604020202020204" pitchFamily="34" charset="0"/>
              <a:buChar char="•"/>
            </a:pPr>
            <a:r>
              <a:rPr lang="en-GB" sz="2400" dirty="0">
                <a:solidFill>
                  <a:schemeClr val="bg1"/>
                </a:solidFill>
              </a:rPr>
              <a:t>Outline the consequences of not addressing the problem, clearly highlighting the urgency.</a:t>
            </a:r>
            <a:endParaRPr lang="en-ZA" sz="2400" dirty="0">
              <a:solidFill>
                <a:schemeClr val="bg1"/>
              </a:solidFill>
            </a:endParaRPr>
          </a:p>
        </p:txBody>
      </p:sp>
    </p:spTree>
    <p:extLst>
      <p:ext uri="{BB962C8B-B14F-4D97-AF65-F5344CB8AC3E}">
        <p14:creationId xmlns:p14="http://schemas.microsoft.com/office/powerpoint/2010/main" val="830440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145AE8A-F545-69CA-2DAD-F84C4B97489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F56481DE-BEA5-7607-B094-2E72F66D88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14BEFF04-2209-54D4-BF1E-B87E88C1D5BE}"/>
              </a:ext>
            </a:extLst>
          </p:cNvPr>
          <p:cNvSpPr txBox="1"/>
          <p:nvPr/>
        </p:nvSpPr>
        <p:spPr>
          <a:xfrm>
            <a:off x="152400" y="1600200"/>
            <a:ext cx="4495800" cy="3275897"/>
          </a:xfrm>
          <a:prstGeom prst="rect">
            <a:avLst/>
          </a:prstGeom>
        </p:spPr>
        <p:txBody>
          <a:bodyPr wrap="square" lIns="0" tIns="0" rIns="0" bIns="0" rtlCol="0" anchor="t">
            <a:spAutoFit/>
          </a:bodyPr>
          <a:lstStyle/>
          <a:p>
            <a:pPr>
              <a:lnSpc>
                <a:spcPts val="3919"/>
              </a:lnSpc>
            </a:pPr>
            <a:r>
              <a:rPr lang="en-US" sz="2799" dirty="0">
                <a:latin typeface="League Spartan"/>
              </a:rPr>
              <a:t>F. Establishing the Research Problem</a:t>
            </a:r>
          </a:p>
          <a:p>
            <a:pPr>
              <a:lnSpc>
                <a:spcPts val="3919"/>
              </a:lnSpc>
            </a:pPr>
            <a:endParaRPr lang="en-US" sz="2799" dirty="0">
              <a:latin typeface="League Spartan"/>
            </a:endParaRPr>
          </a:p>
          <a:p>
            <a:r>
              <a:rPr lang="en-GB" sz="2800" b="1" dirty="0"/>
              <a:t>Essence of the </a:t>
            </a:r>
          </a:p>
          <a:p>
            <a:r>
              <a:rPr lang="en-GB" sz="2800" b="1" dirty="0"/>
              <a:t>Research Problem </a:t>
            </a:r>
          </a:p>
          <a:p>
            <a:r>
              <a:rPr lang="en-GB" sz="2800" b="1" dirty="0"/>
              <a:t>Structure</a:t>
            </a:r>
            <a:endParaRPr lang="en-ZA" sz="2800" dirty="0"/>
          </a:p>
          <a:p>
            <a:pPr>
              <a:lnSpc>
                <a:spcPts val="3919"/>
              </a:lnSpc>
            </a:pPr>
            <a:endParaRPr lang="en-US" sz="2799" dirty="0">
              <a:latin typeface="League Spartan"/>
            </a:endParaRPr>
          </a:p>
        </p:txBody>
      </p:sp>
      <p:sp>
        <p:nvSpPr>
          <p:cNvPr id="7" name="TextBox 7">
            <a:extLst>
              <a:ext uri="{FF2B5EF4-FFF2-40B4-BE49-F238E27FC236}">
                <a16:creationId xmlns:a16="http://schemas.microsoft.com/office/drawing/2014/main" id="{3BDA7B36-2DA8-597D-02BA-F362C27C7061}"/>
              </a:ext>
            </a:extLst>
          </p:cNvPr>
          <p:cNvSpPr txBox="1"/>
          <p:nvPr/>
        </p:nvSpPr>
        <p:spPr>
          <a:xfrm>
            <a:off x="3886198" y="381000"/>
            <a:ext cx="5791201" cy="6771084"/>
          </a:xfrm>
          <a:prstGeom prst="rect">
            <a:avLst/>
          </a:prstGeom>
        </p:spPr>
        <p:txBody>
          <a:bodyPr wrap="square" lIns="0" tIns="0" rIns="0" bIns="0" rtlCol="0" anchor="t">
            <a:spAutoFit/>
          </a:bodyPr>
          <a:lstStyle/>
          <a:p>
            <a:pPr algn="ctr"/>
            <a:r>
              <a:rPr lang="en-GB" sz="2000" i="1" dirty="0">
                <a:solidFill>
                  <a:schemeClr val="bg1"/>
                </a:solidFill>
              </a:rPr>
              <a:t>"The problem is that despite the potential benefits of predictive systems in higher education, their adoption is hindered by concerns over data privacy and a lack of staff training (Mofokeng, 2026:38). This is a problem because data privacy concerns prevent institutions from fully implementing predictive systems, limiting their ability to improve student retention and performance. Additionally, inadequate staff training leads to poor system usage, reducing the potential benefits of predictive technologies (Sibisi, 2026:5). This problem primarily affects academic staff and administrators in higher education institutions, as they are responsible for implementing and using predictive systems. However, it also impacts students, as the limited adoption of these systems reduces the potential for improved educational outcomes (de Jong, 2026:14). If this problem is not addressed, higher education institutions will continue to underutilise predictive systems, missing opportunities to improve student outcomes. Moreover, ongoing concerns about data privacy could lead to non-compliance with data protection regulations, exposing institutions to legal risks (Chaine, 2026:24)."</a:t>
            </a:r>
          </a:p>
        </p:txBody>
      </p:sp>
    </p:spTree>
    <p:extLst>
      <p:ext uri="{BB962C8B-B14F-4D97-AF65-F5344CB8AC3E}">
        <p14:creationId xmlns:p14="http://schemas.microsoft.com/office/powerpoint/2010/main" val="40524078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A822B3FD-3B74-31D5-E91F-164BCEDCA20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86CA6EB-0783-5AEA-83D5-C3B280DDB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C5E144E-C4B7-F690-FAF1-24C0726BED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FF902B04-A5BB-DFB0-9A7D-D95832272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DA07B898-D2B3-0AE8-1806-7789E27D2D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664E804-696F-79DB-49C7-332E4D738E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8CC1C4B3-C0CB-79E7-CBB9-D9EF87FA51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5223F0E-2990-8508-8B10-335496D3DA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0B91CA2C-20F9-C129-B8C2-90B01DA60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BAD9A096-00FC-14B6-8162-3B8DF28BBF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4663808-724E-6218-6E7E-4F650D4F05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1BD9875-5895-B71C-6949-E8CA61F9D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EEA032D-942F-18F1-4F3C-E1183B6C3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F8017B98-BCEB-5947-96B0-07F2920747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B072681-2A1C-990E-87F0-785DD0BEB9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E536206-8753-C7C5-6D95-F4D361DA24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EE4349C-A952-D785-1DC3-92B1BCEB8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1165EB0-A619-6375-E363-0151D078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1F45022-C0E9-BBB6-7C23-7937E1E3B7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59DE980-5830-70F8-AD53-1ABD34E329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AB1859B5-A3E7-5040-3110-BEC151940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F73FD5D-EAA3-7AF0-4D53-A31B3FB23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1205722-2AF2-0B66-24D1-6A24F9023E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41BC742-EDE5-BD75-85A1-14182E9D5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5FFA4B6-F1F7-71DE-14ED-0EC92D624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9372D312-49D7-DA0D-B50E-A18F6AC86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164E5BD-D79C-CA39-65C9-08A3416C9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FC9FC11-9227-CB48-DFB4-E3DB7B39EE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CBCDE664-7DA3-925C-3231-26A009FB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C4FAC22-BEE5-C646-4C57-231E12C5F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C40E6001-8D77-0CB2-77A3-852301C32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151E8468-650A-5A46-9E3E-B0A58337C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FD422DFD-1C10-FB77-B5DB-10F253BEA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7FB6611D-0616-6963-AA36-F37866A4C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C91B35F-382D-4532-B74C-9B59C7B075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DBAD912-0181-9BBF-C67F-4A7472EBD1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70B96FE9-7BA4-0D07-F505-CB7364AB5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FAC49412-1C03-47C3-85C0-EC747B65A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3F1EE864-7673-0D78-9443-D3AC2A6BB8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F798B23-0D20-559B-A63E-EEBF20925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8F033309-FCAD-215D-736B-8F8B870DB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972F856A-AD82-001E-0C05-340986DD56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4EDCE29-7975-0AB6-8DED-830D387B99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B68B0E5C-7883-81EF-E805-CD9D7BE70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B3D7D81-5EC0-6400-AB9B-CE8FF15D6E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0BCC5E9D-4B9C-646D-4EFA-39A46BC2E2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1966C59-9B42-3E84-DCEF-3C25A4655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7A418E8C-48A1-D477-162D-978B6C1B67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E44259AA-BE53-722F-003A-DEA70ED55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08F268A-19E7-C448-10BE-3DBAA77AA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923E7B3D-D8E1-9227-E26A-5AAB2114E8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4F568C77-A342-EE78-30B0-DF56C108A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1A6CB927-DFF5-4857-4F62-9714C7673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1FDC38AF-C488-0585-6FCC-6C265786A8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4F0EB7E0-B713-4DA4-B330-538B2CA1D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37C50D9D-D2A2-F779-D4F9-CE444DFBC7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848E450A-8DE1-DF59-19B3-64440D1C9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67A9897D-0ADE-C100-BBB7-F84AF8DE0C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7C2B32E3-4A48-29EB-4504-730850FF00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CD3544AD-1104-A0F8-1CC2-B6C06EB2E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92FB96F-E87B-F37E-23F8-758709441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FC7C8CF-8A3C-B422-3AA5-E9F0A0E385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D5FEFA89-F19A-0CA6-C862-8BA76180A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3A37F6D6-F99E-679F-1BC3-D65BFD1EE6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80102FFD-A185-32BE-E119-684F64D52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A8A4777F-A582-67AD-F1DD-563C046FE5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0AAB9171-2E94-F1C0-14FB-335AD74BF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974F755D-1CE8-33CB-9893-023CDA31A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26FF3CF-3F97-F50A-69A3-046FF5AB7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62368DE2-5492-AE8B-0A3F-9C725A6A3D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38D266A8-EC02-718F-EAFB-6800B7D1D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8100DA9B-BBC7-5E31-5CC8-674DD57280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7845B196-78F3-37ED-7F57-62F5859E89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D60E85DE-250B-F440-9E8F-0FD88116D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374A9393-0BA1-C366-4A77-DBAEEC4EE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8E34A12-41E1-6253-1899-B2C399EE48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F3BAE3E0-CF8B-9B5F-53B1-6674BE58C1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720E46BE-EA7C-A7F0-9D5B-7E6D34F439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69C8F5CC-5494-33F3-054B-136124F309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2CA87C80-4D9F-32B2-06B1-931E0E8D5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9BCAF590-65F3-2723-DC3B-5E28EB234B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4484D2E5-B318-4163-4183-1F831FD2A0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CBFC3270-987A-8164-E65C-8ED5C47EDB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FC2BDFBF-438E-7828-F92B-5F82635D5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F64F7F54-4993-ACB8-0898-30DA2E6B7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C66D010E-3FBE-BD37-12C9-1FD727BB3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5B8DBAC9-0138-FE10-10E6-1BDF366DB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8851B831-F984-0FD4-0011-290ED2090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F2E11520-C4AE-0CC8-E641-EF8C5DCE1C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9C5FB239-7CF1-B5CE-00ED-70AAE4A5C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BC592B44-7862-8F26-1664-2488AD564C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6500AFBC-199C-BDF9-96BB-401E7250A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5A12F9C3-D680-EA04-E263-65AF86BDE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5ADA4CA-E352-4479-322D-7410087D78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A342CB03-FE64-0594-9C75-A3BC5B12B5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4BD1CAB1-A49A-AC2B-E22C-34F5D200BA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BB99605F-1ABD-56B7-0D01-08CFE184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C6F46198-F891-8FA6-ED1E-F1A7B4D510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03C2EA1B-0265-142A-89D7-E1B7BC3E5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C8FDF0F1-27FA-0405-11F4-ED2C48E136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1DB0F60F-F390-BA8B-6E02-A831BE1CE0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31A212DF-50DA-B39B-BAF5-3744C2B2E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C8BDB79D-5FEC-3E14-07C6-E5636B148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D7A6D23-26D5-2E3D-99DE-3A8793BE17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A97CDE64-EE9C-D47C-2A46-D908B9B1FF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93A8A31C-4482-E6F1-738C-3D907D227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12DFA4E8-4FF6-CF9A-F327-662FA81BD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A3FE215-AF8F-29F8-AE6D-A71A3D8D1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519CCFA9-C092-5769-A5D9-1A330078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F240309F-457E-7735-22B5-2E1A5F51A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DC3B0630-75A6-3C2A-947F-033DC88AE0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387FAF5-7AED-D8CB-CA05-FA9C89ACBB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68C6D665-C06D-0291-B8DF-6CDB404D4C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4A128807-8BB2-D74B-44B8-80805613CF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38970D76-F706-F405-0315-532F2608D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879B3374-0DF5-367A-BF92-1470D9A60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32ABA932-7EBD-3676-81CE-E1FCD5650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950E3E8D-14EC-F4CF-66C3-5DF70A2A46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3B59736E-3094-0B91-7005-80929629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E6BB6FEC-B0B5-7452-B0E0-6B8C82A18C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92A5C787-95B5-B093-DA67-9924AE73B7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90A13A89-D3A6-E972-EC22-B38EA0C95B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1B3171DC-3D62-FA5A-777D-16962C98B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3A8D303F-E0A9-140A-B9A4-409E1D897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AA5EF5F-C7FA-C756-F5FA-DB329F40E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5F9D5730-59EB-3F25-A4FF-22D9C62C1A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6F7A00A7-3410-8BF2-E258-57B8C041E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FCE4BA3D-4A43-FE1A-EEF9-8BE23CE8A6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A16D48D4-697A-10F8-A095-9DE9D96CE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9022FB0D-C041-F4DB-6C77-6917538E0E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FF8800EA-3387-F271-C9F5-CFF4E18E77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791467EA-BEB6-FA16-6957-25AD1C6E44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8B12CCE9-E2DE-D858-A56A-4D8C0DDA4D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1BF54D9D-1E99-B041-3773-0C21E58941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C685B35E-C997-0D84-050C-60B6AA7B82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3BC07072-8E9E-2D05-10BA-EA5D43391B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225BB3F0-04F1-B0C7-9E5A-72491A3C1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99D5F73E-52B0-7D7C-42B7-760167A603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41B28169-E08B-02D9-8ABC-DA00FC1CDB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E7B49022-CE4D-98CD-6B37-C2BE987C74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1326F398-7FA7-3833-665C-BE949EE4C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FD35DDEF-A479-BDF1-E384-EC4C3C0AB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6C093D5-0207-7166-7568-908FBBB70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0CE2C3F4-715D-1FC6-EACD-2CD224FA2A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19E2386B-076B-5A23-C9B7-463AB38F44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F7283E8D-9A80-4763-8863-17B7D1900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B4C21312-E38F-3C15-CD24-7A3D850752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F4D7DE57-D951-7AFD-B71F-ECDEA3544F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7CE37B50-4AFF-C864-C960-BB0A0A5C6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6B764675-75D8-5341-A444-DEA4FF274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C597C5BC-325A-D615-50A4-A2EDC35C8E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B879823A-D691-4B19-BB00-74DF27378566}"/>
              </a:ext>
            </a:extLst>
          </p:cNvPr>
          <p:cNvSpPr txBox="1"/>
          <p:nvPr/>
        </p:nvSpPr>
        <p:spPr>
          <a:xfrm>
            <a:off x="228600" y="152400"/>
            <a:ext cx="9448800" cy="6934200"/>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2800" b="1" spc="86" dirty="0">
                <a:solidFill>
                  <a:schemeClr val="bg1"/>
                </a:solidFill>
              </a:rPr>
              <a:t>Establishing the Problem Statement</a:t>
            </a:r>
          </a:p>
          <a:p>
            <a:pPr>
              <a:lnSpc>
                <a:spcPct val="90000"/>
              </a:lnSpc>
              <a:spcAft>
                <a:spcPts val="800"/>
              </a:spcAft>
            </a:pPr>
            <a:endParaRPr lang="en-US" sz="2300" spc="86" dirty="0">
              <a:solidFill>
                <a:schemeClr val="bg1"/>
              </a:solidFill>
            </a:endParaRPr>
          </a:p>
          <a:p>
            <a:pPr marL="342900" indent="-342900">
              <a:buFont typeface="Arial" panose="020B0604020202020204" pitchFamily="34" charset="0"/>
              <a:buChar char="•"/>
            </a:pPr>
            <a:r>
              <a:rPr lang="en-GB" sz="2400" dirty="0">
                <a:solidFill>
                  <a:schemeClr val="bg1"/>
                </a:solidFill>
              </a:rPr>
              <a:t>Each of these elements works together to form a cohesive, impactful </a:t>
            </a:r>
            <a:r>
              <a:rPr lang="en-GB" sz="2400" b="1" dirty="0">
                <a:solidFill>
                  <a:schemeClr val="bg1"/>
                </a:solidFill>
              </a:rPr>
              <a:t>problem statement </a:t>
            </a:r>
            <a:r>
              <a:rPr lang="en-GB" sz="2400" dirty="0">
                <a:solidFill>
                  <a:schemeClr val="bg1"/>
                </a:solidFill>
              </a:rPr>
              <a:t>that aligns with the research's overall aim. </a:t>
            </a:r>
          </a:p>
          <a:p>
            <a:pPr marL="342900" indent="-342900">
              <a:buFont typeface="Arial" panose="020B0604020202020204" pitchFamily="34" charset="0"/>
              <a:buChar char="•"/>
            </a:pP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The Golden Thread concept is essential in ensuring that the </a:t>
            </a:r>
            <a:r>
              <a:rPr lang="en-GB" sz="2400" b="1" dirty="0">
                <a:solidFill>
                  <a:schemeClr val="bg1"/>
                </a:solidFill>
              </a:rPr>
              <a:t>problem statement </a:t>
            </a:r>
            <a:r>
              <a:rPr lang="en-GB" sz="2400" dirty="0">
                <a:solidFill>
                  <a:schemeClr val="bg1"/>
                </a:solidFill>
              </a:rPr>
              <a:t>is consistently linked to the research questions, objectives, and methodology. </a:t>
            </a:r>
          </a:p>
          <a:p>
            <a:pPr marL="342900" indent="-342900">
              <a:buFont typeface="Arial" panose="020B0604020202020204" pitchFamily="34" charset="0"/>
              <a:buChar char="•"/>
            </a:pP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This structure provides a clear, well-organised, and compelling problem statement that ties directly into the research focus.</a:t>
            </a:r>
          </a:p>
          <a:p>
            <a:pPr marL="342900" indent="-342900">
              <a:buFont typeface="Arial" panose="020B0604020202020204" pitchFamily="34" charset="0"/>
              <a:buChar char="•"/>
            </a:pPr>
            <a:endParaRPr lang="en-ZA" sz="2400" dirty="0">
              <a:solidFill>
                <a:schemeClr val="bg1"/>
              </a:solidFill>
            </a:endParaRPr>
          </a:p>
          <a:p>
            <a:pPr marL="342900" indent="-342900">
              <a:lnSpc>
                <a:spcPct val="90000"/>
              </a:lnSpc>
              <a:spcAft>
                <a:spcPts val="800"/>
              </a:spcAft>
              <a:buFont typeface="Arial" panose="020B0604020202020204" pitchFamily="34" charset="0"/>
              <a:buChar char="•"/>
            </a:pPr>
            <a:endParaRPr lang="en-US" sz="2000" spc="86" dirty="0">
              <a:solidFill>
                <a:schemeClr val="bg1"/>
              </a:solidFill>
            </a:endParaRPr>
          </a:p>
          <a:p>
            <a:pPr marL="800100" lvl="1" indent="-342900">
              <a:lnSpc>
                <a:spcPct val="90000"/>
              </a:lnSpc>
              <a:spcAft>
                <a:spcPts val="800"/>
              </a:spcAft>
              <a:buFont typeface="Arial" panose="020B0604020202020204" pitchFamily="34" charset="0"/>
              <a:buChar char="•"/>
            </a:pPr>
            <a:endParaRPr lang="en-US" sz="2000" spc="86" dirty="0">
              <a:solidFill>
                <a:schemeClr val="bg1"/>
              </a:solidFill>
            </a:endParaRPr>
          </a:p>
        </p:txBody>
      </p:sp>
    </p:spTree>
    <p:extLst>
      <p:ext uri="{BB962C8B-B14F-4D97-AF65-F5344CB8AC3E}">
        <p14:creationId xmlns:p14="http://schemas.microsoft.com/office/powerpoint/2010/main" val="2540011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F650700A-4708-3430-FEA2-24E311F4675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C0BF318-2424-A2AB-3138-7D47109F0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0487B8A2-94A8-98C5-746A-2D61F534A4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DB921399-6BBB-6185-8C9A-D353A11115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FC16E9A0-EA41-884E-44A3-F58941B22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6A29634-6447-CF4B-4A15-3F9D261899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CDC923B-A367-765F-E31E-9B85BBA9A8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5932E39-C4F3-9080-A0B6-FE3E5389AA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B711158-85E7-7BB7-3DE7-04419924C0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A26B3C64-DF79-8308-4512-C155A6904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89D3AAC-00E2-8632-FA04-9763B1B1AE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47ACC9B-DDF2-72C9-9FD7-F0BE6F462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21C0688-B51B-C4F8-647B-4C3C85177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625565A5-3D54-ECBE-42E4-B09B43BF22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C7A8715-740C-D3FD-0794-09B7900A18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68AD63A-C715-BFE6-3B08-F7040A223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228A88B-2C3C-743F-C5C5-D6C70EAEE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DBBF1EF-CC53-8E8E-49BA-7FF31B6FCC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D1F405B-1A64-A6BF-FBF8-4C7040918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CB0E446-3C0D-4269-DB92-AFD773C1B8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C5CB806-45C3-BA8C-E548-31A906FDC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BBCA813-F023-98FB-31C6-49E10E892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DCA3253-D88B-0C14-4440-B39455D38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8C8796A-DCFD-EE15-9B06-57CDDB085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958D12-D406-BAA3-30F5-64C0C024E0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082E72BB-E3EE-91FE-4C72-84E2CAB524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D24392D3-6063-7FC5-5E61-2961DE824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B7A5A4C-C6F3-56B0-84EB-5DA5384468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195B8D59-5A42-91A8-40E8-CCDA82E115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9359BBFE-9BA4-8134-8F9D-CB77E33A9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B9BC124-F46B-35CD-5E2C-7BA5357706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413F60A-EFB8-D690-327D-C71CEC13E6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CF060ECF-185C-30B5-A0DC-B3B6C8E292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B3BBA48-58A0-C711-B972-A2CB0FB648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6AB8D72-C304-A9C2-CC08-C23A79414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CC556AA5-5B30-E7AA-4DE5-0682BB407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DB24C627-DB41-15DF-C3FA-CA802D2CD6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DAC5C51-801A-3CD3-1C6D-EB69D3DFD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973FBE1D-1753-EAAC-AA13-EC5FCBD36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32D2C2B4-9E29-CB4E-04E3-EBB1B842F5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F6575C35-1E02-B576-78A9-D2E7D623B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8744502-AD81-7937-204B-EE1135D6A5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23B9F9E-9596-8704-B43A-2061A4FC2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EB7D0FA3-0EB9-E70E-AC3D-146549DE6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113DFEAF-1D72-2FA8-0EC0-E801389028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CEDF285-2E77-2431-7FA0-C52606B14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F4F0D830-2C26-12A9-CEB9-821FF413CD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6BCDD28A-4D36-BA9D-ADEF-D94EAC848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6832B9D2-0736-6859-031B-4A632B3FA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03A82BA-49D9-FF19-0548-0271727E49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0C952DA1-787A-C2CB-5299-0FA66387C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BE935559-A7B1-2BCA-F67A-74C7C4F18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747BA7C-3DD1-6523-F1BC-0BE2D25A8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F4FA3FD-3EA0-D4F2-751A-C7974B390B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4979AF92-C743-2810-C21A-6C5C473FCB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0BE20933-4986-6C3B-7244-27CA63CD8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22EB320B-52A4-3533-092F-4655229887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C8896BB3-5888-5042-1555-948F3C57AA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FFF62B64-3267-1319-2672-DFA77631A3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E0E594B9-560E-9485-2AE7-2982AB91B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06E7A17F-9FBF-9B79-C2F2-627DC8E2AC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052AE9A1-498A-10A9-329B-11DBCBED17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E8BDAFF2-5967-8B08-31D4-ABA5D37A31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F0A68106-CCFB-43A9-81D9-E7671029F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EB1466EC-5FE4-6957-6630-63DDA81B46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9D7D1FC6-4BA9-0220-D38A-36609D65AE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AA9BA406-9B7E-AED7-FD85-424E320D03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BBDB5E79-8CE2-558C-3D20-B38B8A202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316A9CF3-6464-808B-1A54-F69F70F3ED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1B8ACB95-877E-BDF6-B79F-907D3FF71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26303CE-F964-616D-A26C-67ED11D10C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42E4CF10-7C5A-3455-432F-F4893D295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4DBA740-3005-7005-F000-8A8CA6BF9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55D24BE2-7152-88BA-BF52-CC4314556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E99AA7DA-72B5-76EB-5305-1CEBBC6D3F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893AA59-84E1-740C-8D79-9C0E916B46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278ED323-2465-768F-5B22-A69CBAAD9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89060FFA-ACC8-F39C-2CAB-3790E7501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F8117F43-C143-4B20-CADB-2CD3EE416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E2C26CFB-92D3-F748-9D08-3CE2C6875F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D49227ED-D733-E6CA-FAA4-E9542E513B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C7B14E49-EED5-CE57-8173-AE607C2B6F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ECEF296B-27BD-4CA7-76D6-6AFA56B91E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98A50DEC-704A-15A7-5EC4-C1D14B3227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140A4109-B382-6A70-0F9B-0F47E5DD94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B896676D-A897-823F-0A72-FB78DED612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F239CBEF-AA3A-7B67-A24F-02F2226D7C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9520C670-0487-3990-2006-E60ACF17DA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1D32E73B-53B8-ADF5-1DF5-1849F750F7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F31334A-E170-204A-132C-A6E09DBFBE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DBD36272-46F7-2884-676F-54A8822E7E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851F75EA-2C16-14D2-4729-A7698035CF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06B8C4D9-792F-5A26-7290-C8F5C1968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37B54978-C38D-B204-D4D3-12D939944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E00A72A6-2EB3-4074-A5A1-2D837787BC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E771632A-C2FE-B16B-521D-8EBF388EB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EFEB3058-F42B-BDE2-4792-574579780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DB286157-7788-29D4-5D47-223E13971B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A83046B-7896-16EE-CB5F-816557CDDA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B8E8FE68-69CE-B06D-0748-8B2D79A6BA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CD655AAF-AFD4-D379-29D6-4D4A62C34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E9F8C15-8C39-A93B-839E-6588458852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4602556-760A-87AF-AE59-6F44692EF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739B4BC-99D6-B52F-38DA-FC8E356E9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CDE02AAE-2E56-68D5-88BB-2FD388BE9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6F2CE5D-5B98-1F65-3C90-52C9B34CE0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0288D7BE-448F-6264-4E60-1FACD425B5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E11030CC-4C9B-E24E-43A0-8E4DDCE57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4F47B26C-9D93-CBBC-86D7-1D9E29F1E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04B0F14F-51E0-9535-F2A6-2B89487A8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D2EA027A-BEA2-7EA9-6901-DFE93A689C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38DBB790-A882-78BF-FC81-4D2E952E8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42764550-F06C-36AF-2921-A73A95EF4E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EE7E201-A3C6-708A-5915-EBB39DF00B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CF21B34B-B746-91EF-B9DC-FDC0BBE7E5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2D3E5100-1F9D-241C-F918-A740C62DA2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FFD110FD-4950-A918-EAEB-EDA09615F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F9BB6BAD-BEB7-E53B-568C-EBEE95C2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19DCEEA-A1F8-E807-E6C3-B6BB6BFAD0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24B5E0BA-B673-04C5-6B7A-1F1378B425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3179F306-9EE7-28DC-83A1-43735A9B4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2B862D1A-518A-FEC0-1064-69F771CB8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2F854122-6590-1FE8-7CB3-FCA339E59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2FAFB66A-44E9-BBFF-875B-6AE6FEAA80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55519610-848F-6C66-C84F-E79A02CD24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D9C39FC2-78F9-51CD-0E0D-EE8E07D82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48D647E-B23B-8442-0E8E-F8C3B4F526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EE8221B8-B368-6981-2B49-05B9B435A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7CB590A-8CE9-778D-B48C-BC15ADB7A2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586F3F65-2C93-CB24-9830-8AE5008904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3E41897F-E404-FF0B-FD69-3A603C6703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CD49184B-69B1-1C31-8627-5C2E076F16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BF3CFEBD-D46E-636C-2885-C3301E85C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0AEB2ADD-CB35-D8DB-189E-B604335ED6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20410453-8DD5-8C0F-EB66-70027A332D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0751732E-92F8-E6AB-23BC-DAAFC56C3A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04DFDF9A-45D9-0902-1917-460C34127E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E5FBEBE1-CD8A-FE61-7F9A-A51B9821F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2C025981-D124-4392-E7D7-8DA9A80B4D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BB630913-9B57-3BE3-CDFD-88F4D98B6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4C92838B-6FEB-A1F7-F4C5-E5FA3A37D3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C5AD48A9-1D89-2E62-B3F3-0809A346C5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A0EFAF5C-B56E-3874-7987-236748D245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4B42346E-9FB4-8970-376A-7F4B5D66BE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34DFB991-A220-60B7-6022-F5D8BF2ED8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BDB0B658-F619-B3EE-D2F4-E8A175FB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E8C58AB1-A66C-D190-CACA-A71485B63AA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E5050881-091A-3AFD-B80C-E6C1936DD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04E998F9-1281-B261-F084-0257C6F7CE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BE101691-316D-7873-7FCF-10BD19320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BCFA70A7-9894-8BD7-2AE9-625BEA3260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DBC1735C-D33C-EA98-426E-87BA5D808358}"/>
              </a:ext>
            </a:extLst>
          </p:cNvPr>
          <p:cNvSpPr txBox="1"/>
          <p:nvPr/>
        </p:nvSpPr>
        <p:spPr>
          <a:xfrm>
            <a:off x="228600" y="152400"/>
            <a:ext cx="9448800" cy="6934200"/>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2800" b="1" spc="86" dirty="0">
                <a:solidFill>
                  <a:schemeClr val="bg1"/>
                </a:solidFill>
              </a:rPr>
              <a:t>Establishing the Problem Statement</a:t>
            </a:r>
          </a:p>
          <a:p>
            <a:pPr>
              <a:lnSpc>
                <a:spcPct val="90000"/>
              </a:lnSpc>
              <a:spcAft>
                <a:spcPts val="800"/>
              </a:spcAft>
            </a:pPr>
            <a:endParaRPr lang="en-US" sz="2300" spc="86" dirty="0">
              <a:solidFill>
                <a:schemeClr val="bg1"/>
              </a:solidFill>
            </a:endParaRPr>
          </a:p>
          <a:p>
            <a:r>
              <a:rPr lang="en-GB" sz="2400" dirty="0">
                <a:solidFill>
                  <a:schemeClr val="bg1"/>
                </a:solidFill>
              </a:rPr>
              <a:t>A complete example of a Problem Statement:</a:t>
            </a:r>
          </a:p>
          <a:p>
            <a:endParaRPr lang="en-GB" sz="2400" dirty="0">
              <a:solidFill>
                <a:schemeClr val="bg1"/>
              </a:solidFill>
            </a:endParaRPr>
          </a:p>
          <a:p>
            <a:pPr algn="ctr"/>
            <a:r>
              <a:rPr lang="en-GB" sz="2400" i="1" dirty="0">
                <a:solidFill>
                  <a:schemeClr val="bg1"/>
                </a:solidFill>
              </a:rPr>
              <a:t>"The problem is that despite the potential benefits of predictive systems in higher education, their adoption could be improved by concerns over data privacy and a lack of staff training (Mofokeng, 2026:38). This is a problem because these concerns prevent institutions from fully implementing predictive systems, limiting their ability to improve student retention and performance (Sibisi, 2026:5). The problem affects academic staff and administrators, who are responsible for using these systems, and students, whose educational outcomes are impacted by the underutilisation of predictive technologies (de Jong, 2026:14). If this issue is not addressed, higher education institutions will miss opportunities to enhance student success and face legal risks due to non-compliance with data protection regulations (Chaine, 2026:24)."</a:t>
            </a:r>
          </a:p>
          <a:p>
            <a:pPr marL="342900" indent="-342900">
              <a:buFont typeface="Arial" panose="020B0604020202020204" pitchFamily="34" charset="0"/>
              <a:buChar char="•"/>
            </a:pPr>
            <a:r>
              <a:rPr lang="en-GB" sz="2400" dirty="0">
                <a:solidFill>
                  <a:schemeClr val="bg1"/>
                </a:solidFill>
              </a:rPr>
              <a:t>.</a:t>
            </a:r>
          </a:p>
          <a:p>
            <a:pPr marL="342900" indent="-342900">
              <a:buFont typeface="Arial" panose="020B0604020202020204" pitchFamily="34" charset="0"/>
              <a:buChar char="•"/>
            </a:pPr>
            <a:endParaRPr lang="en-ZA" sz="2400" dirty="0">
              <a:solidFill>
                <a:schemeClr val="bg1"/>
              </a:solidFill>
            </a:endParaRPr>
          </a:p>
          <a:p>
            <a:pPr marL="342900" indent="-342900">
              <a:lnSpc>
                <a:spcPct val="90000"/>
              </a:lnSpc>
              <a:spcAft>
                <a:spcPts val="800"/>
              </a:spcAft>
              <a:buFont typeface="Arial" panose="020B0604020202020204" pitchFamily="34" charset="0"/>
              <a:buChar char="•"/>
            </a:pPr>
            <a:endParaRPr lang="en-US" sz="2000" spc="86" dirty="0">
              <a:solidFill>
                <a:schemeClr val="bg1"/>
              </a:solidFill>
            </a:endParaRPr>
          </a:p>
          <a:p>
            <a:pPr marL="800100" lvl="1" indent="-342900">
              <a:lnSpc>
                <a:spcPct val="90000"/>
              </a:lnSpc>
              <a:spcAft>
                <a:spcPts val="800"/>
              </a:spcAft>
              <a:buFont typeface="Arial" panose="020B0604020202020204" pitchFamily="34" charset="0"/>
              <a:buChar char="•"/>
            </a:pPr>
            <a:endParaRPr lang="en-US" sz="2000" spc="86" dirty="0">
              <a:solidFill>
                <a:schemeClr val="bg1"/>
              </a:solidFill>
            </a:endParaRPr>
          </a:p>
        </p:txBody>
      </p:sp>
    </p:spTree>
    <p:extLst>
      <p:ext uri="{BB962C8B-B14F-4D97-AF65-F5344CB8AC3E}">
        <p14:creationId xmlns:p14="http://schemas.microsoft.com/office/powerpoint/2010/main" val="845045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ED1C927-8FB8-56F8-7670-055CFDD6C9E8}"/>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CA2F78B2-C329-E347-8F83-77E3DEC2670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74873ED7-BD53-BC24-69D6-9CEF30ECC759}"/>
              </a:ext>
            </a:extLst>
          </p:cNvPr>
          <p:cNvSpPr txBox="1"/>
          <p:nvPr/>
        </p:nvSpPr>
        <p:spPr>
          <a:xfrm>
            <a:off x="76200" y="1600200"/>
            <a:ext cx="4495800" cy="2500685"/>
          </a:xfrm>
          <a:prstGeom prst="rect">
            <a:avLst/>
          </a:prstGeom>
        </p:spPr>
        <p:txBody>
          <a:bodyPr wrap="square" lIns="0" tIns="0" rIns="0" bIns="0" rtlCol="0" anchor="t">
            <a:spAutoFit/>
          </a:bodyPr>
          <a:lstStyle/>
          <a:p>
            <a:pPr>
              <a:lnSpc>
                <a:spcPts val="3919"/>
              </a:lnSpc>
            </a:pPr>
            <a:r>
              <a:rPr lang="en-ZA" sz="3200" b="1" dirty="0"/>
              <a:t>Example paragraph </a:t>
            </a:r>
          </a:p>
          <a:p>
            <a:pPr>
              <a:lnSpc>
                <a:spcPts val="3919"/>
              </a:lnSpc>
            </a:pPr>
            <a:r>
              <a:rPr lang="en-ZA" sz="3200" b="1" dirty="0"/>
              <a:t>for Research Problem analysis</a:t>
            </a:r>
          </a:p>
          <a:p>
            <a:pPr>
              <a:lnSpc>
                <a:spcPts val="3919"/>
              </a:lnSpc>
            </a:pPr>
            <a:endParaRPr lang="en-ZA" sz="3200" b="1" dirty="0"/>
          </a:p>
          <a:p>
            <a:pPr>
              <a:lnSpc>
                <a:spcPts val="3919"/>
              </a:lnSpc>
            </a:pPr>
            <a:r>
              <a:rPr lang="en-ZA" sz="3200" b="1" dirty="0"/>
              <a:t>Now you try…</a:t>
            </a:r>
            <a:endParaRPr lang="en-US" sz="3200" b="1" dirty="0"/>
          </a:p>
        </p:txBody>
      </p:sp>
      <p:sp>
        <p:nvSpPr>
          <p:cNvPr id="7" name="TextBox 7">
            <a:extLst>
              <a:ext uri="{FF2B5EF4-FFF2-40B4-BE49-F238E27FC236}">
                <a16:creationId xmlns:a16="http://schemas.microsoft.com/office/drawing/2014/main" id="{768637E9-7C05-CDD3-CF77-CCDCC10BDC79}"/>
              </a:ext>
            </a:extLst>
          </p:cNvPr>
          <p:cNvSpPr txBox="1"/>
          <p:nvPr/>
        </p:nvSpPr>
        <p:spPr>
          <a:xfrm>
            <a:off x="3886198" y="381000"/>
            <a:ext cx="5867402" cy="6463308"/>
          </a:xfrm>
          <a:prstGeom prst="rect">
            <a:avLst/>
          </a:prstGeom>
        </p:spPr>
        <p:txBody>
          <a:bodyPr wrap="square" lIns="0" tIns="0" rIns="0" bIns="0" rtlCol="0" anchor="t">
            <a:spAutoFit/>
          </a:bodyPr>
          <a:lstStyle/>
          <a:p>
            <a:pPr algn="ctr">
              <a:spcBef>
                <a:spcPct val="0"/>
              </a:spcBef>
            </a:pPr>
            <a:r>
              <a:rPr lang="en-US" sz="2000" i="1" spc="86" dirty="0">
                <a:solidFill>
                  <a:srgbClr val="FFFFFF"/>
                </a:solidFill>
              </a:rPr>
              <a:t>Despite the increasing use of digital payment platforms in South Africa, many elderly citizens remain excluded from these services (</a:t>
            </a:r>
            <a:r>
              <a:rPr lang="en-US" sz="2000" i="1" spc="86" dirty="0" err="1">
                <a:solidFill>
                  <a:srgbClr val="FFFFFF"/>
                </a:solidFill>
              </a:rPr>
              <a:t>Appollis</a:t>
            </a:r>
            <a:r>
              <a:rPr lang="en-US" sz="2000" i="1" spc="86" dirty="0">
                <a:solidFill>
                  <a:srgbClr val="FFFFFF"/>
                </a:solidFill>
              </a:rPr>
              <a:t>, 2026:12) because of low digital confidence, limited device literacy, and fear of online fraud (Makgopa, 2026:17). This is a significant problem because digital payment systems are becoming central to everyday transactions, social grant access, banking convenience, and participation in an increasingly </a:t>
            </a:r>
            <a:r>
              <a:rPr lang="en-US" sz="2000" i="1" spc="86" dirty="0" err="1">
                <a:solidFill>
                  <a:srgbClr val="FFFFFF"/>
                </a:solidFill>
              </a:rPr>
              <a:t>digitised</a:t>
            </a:r>
            <a:r>
              <a:rPr lang="en-US" sz="2000" i="1" spc="86" dirty="0">
                <a:solidFill>
                  <a:srgbClr val="FFFFFF"/>
                </a:solidFill>
              </a:rPr>
              <a:t> economy (</a:t>
            </a:r>
            <a:r>
              <a:rPr lang="en-US" sz="2000" i="1" spc="86" dirty="0" err="1">
                <a:solidFill>
                  <a:srgbClr val="FFFFFF"/>
                </a:solidFill>
              </a:rPr>
              <a:t>Mbule</a:t>
            </a:r>
            <a:r>
              <a:rPr lang="en-US" sz="2000" i="1" spc="86" dirty="0">
                <a:solidFill>
                  <a:srgbClr val="FFFFFF"/>
                </a:solidFill>
              </a:rPr>
              <a:t>, 2026:23). The issue is especially relevant to older adults (Mbatha, 2026:16, but it also affects family members, community support workers, financial institutions, retailers, and government agencies that depend on efficient and secure digital service delivery (</a:t>
            </a:r>
            <a:r>
              <a:rPr lang="en-US" sz="2000" i="1" spc="86" dirty="0" err="1">
                <a:solidFill>
                  <a:srgbClr val="FFFFFF"/>
                </a:solidFill>
              </a:rPr>
              <a:t>Nduli</a:t>
            </a:r>
            <a:r>
              <a:rPr lang="en-US" sz="2000" i="1" spc="86" dirty="0">
                <a:solidFill>
                  <a:srgbClr val="FFFFFF"/>
                </a:solidFill>
              </a:rPr>
              <a:t>, 2026:30). If this problem is not addressed, elderly citizens may continue to experience financial exclusion, greater dependence on others, and increased vulnerability to exploitation, while service providers may struggle to achieve inclusive digital transformation (</a:t>
            </a:r>
            <a:r>
              <a:rPr lang="en-GB" sz="2000" i="1" dirty="0">
                <a:solidFill>
                  <a:schemeClr val="bg1"/>
                </a:solidFill>
              </a:rPr>
              <a:t>de Jong, 2026:14)</a:t>
            </a:r>
            <a:r>
              <a:rPr lang="en-US" sz="2000" i="1" spc="86" dirty="0">
                <a:solidFill>
                  <a:srgbClr val="FFFFFF"/>
                </a:solidFill>
              </a:rPr>
              <a:t>.</a:t>
            </a:r>
          </a:p>
        </p:txBody>
      </p:sp>
    </p:spTree>
    <p:extLst>
      <p:ext uri="{BB962C8B-B14F-4D97-AF65-F5344CB8AC3E}">
        <p14:creationId xmlns:p14="http://schemas.microsoft.com/office/powerpoint/2010/main" val="20560748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7D52E22-0D64-C82C-5EB5-71C126EADF7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8749958-D042-C74E-E695-7975A7D21C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024AFD81-FB98-9FCE-5AD6-DC5665F7999F}"/>
              </a:ext>
            </a:extLst>
          </p:cNvPr>
          <p:cNvSpPr txBox="1"/>
          <p:nvPr/>
        </p:nvSpPr>
        <p:spPr>
          <a:xfrm>
            <a:off x="76200" y="1600200"/>
            <a:ext cx="4495800" cy="2984150"/>
          </a:xfrm>
          <a:prstGeom prst="rect">
            <a:avLst/>
          </a:prstGeom>
        </p:spPr>
        <p:txBody>
          <a:bodyPr wrap="square" lIns="0" tIns="0" rIns="0" bIns="0" rtlCol="0" anchor="t">
            <a:spAutoFit/>
          </a:bodyPr>
          <a:lstStyle/>
          <a:p>
            <a:pPr>
              <a:lnSpc>
                <a:spcPts val="3919"/>
              </a:lnSpc>
            </a:pPr>
            <a:r>
              <a:rPr lang="en-ZA" sz="3200" b="1" dirty="0"/>
              <a:t>Example paragraph </a:t>
            </a:r>
          </a:p>
          <a:p>
            <a:pPr>
              <a:lnSpc>
                <a:spcPts val="3919"/>
              </a:lnSpc>
            </a:pPr>
            <a:r>
              <a:rPr lang="en-ZA" sz="3200" b="1" dirty="0"/>
              <a:t>for Research Problem analysis</a:t>
            </a:r>
          </a:p>
          <a:p>
            <a:pPr>
              <a:lnSpc>
                <a:spcPts val="3919"/>
              </a:lnSpc>
            </a:pPr>
            <a:endParaRPr lang="en-ZA" sz="3200" b="1" dirty="0"/>
          </a:p>
          <a:p>
            <a:pPr>
              <a:lnSpc>
                <a:spcPts val="3919"/>
              </a:lnSpc>
            </a:pPr>
            <a:r>
              <a:rPr lang="en-ZA" sz="3200" b="1" dirty="0"/>
              <a:t>What is the </a:t>
            </a:r>
          </a:p>
          <a:p>
            <a:pPr>
              <a:lnSpc>
                <a:spcPts val="3919"/>
              </a:lnSpc>
            </a:pPr>
            <a:r>
              <a:rPr lang="en-ZA" sz="3200" b="1" dirty="0"/>
              <a:t>problem?</a:t>
            </a:r>
            <a:endParaRPr lang="en-US" sz="3200" b="1" dirty="0"/>
          </a:p>
        </p:txBody>
      </p:sp>
      <p:sp>
        <p:nvSpPr>
          <p:cNvPr id="7" name="TextBox 7">
            <a:extLst>
              <a:ext uri="{FF2B5EF4-FFF2-40B4-BE49-F238E27FC236}">
                <a16:creationId xmlns:a16="http://schemas.microsoft.com/office/drawing/2014/main" id="{465CE57B-F0D7-17BE-817E-82450B7C1BD5}"/>
              </a:ext>
            </a:extLst>
          </p:cNvPr>
          <p:cNvSpPr txBox="1"/>
          <p:nvPr/>
        </p:nvSpPr>
        <p:spPr>
          <a:xfrm>
            <a:off x="3886198" y="381000"/>
            <a:ext cx="5867402" cy="6771084"/>
          </a:xfrm>
          <a:prstGeom prst="rect">
            <a:avLst/>
          </a:prstGeom>
        </p:spPr>
        <p:txBody>
          <a:bodyPr wrap="square" lIns="0" tIns="0" rIns="0" bIns="0" rtlCol="0" anchor="t">
            <a:spAutoFit/>
          </a:bodyPr>
          <a:lstStyle/>
          <a:p>
            <a:pPr algn="ctr">
              <a:spcBef>
                <a:spcPct val="0"/>
              </a:spcBef>
            </a:pPr>
            <a:r>
              <a:rPr lang="en-US" sz="2000" b="1" i="1" spc="86" dirty="0">
                <a:solidFill>
                  <a:srgbClr val="FFFFFF"/>
                </a:solidFill>
              </a:rPr>
              <a:t>Despite the increasing use of digital payment platforms in South Africa, many elderly citizens remain excluded from these services (</a:t>
            </a:r>
            <a:r>
              <a:rPr lang="en-US" sz="2000" b="1" i="1" spc="86" dirty="0" err="1">
                <a:solidFill>
                  <a:srgbClr val="FFFFFF"/>
                </a:solidFill>
              </a:rPr>
              <a:t>Appollis</a:t>
            </a:r>
            <a:r>
              <a:rPr lang="en-US" sz="2000" b="1" i="1" spc="86" dirty="0">
                <a:solidFill>
                  <a:srgbClr val="FFFFFF"/>
                </a:solidFill>
              </a:rPr>
              <a:t>, 2026:12) because of low digital confidence, limited device literacy, and fear of online fraud (Makgopa, 2026:17). </a:t>
            </a:r>
            <a:r>
              <a:rPr lang="en-US" sz="2000" i="1" spc="86" dirty="0">
                <a:solidFill>
                  <a:schemeClr val="accent6"/>
                </a:solidFill>
              </a:rPr>
              <a:t>This is a significant problem because digital payment systems are becoming central to everyday transactions, social grant access, banking convenience, and participation in an increasingly </a:t>
            </a:r>
            <a:r>
              <a:rPr lang="en-US" sz="2000" i="1" spc="86" dirty="0" err="1">
                <a:solidFill>
                  <a:schemeClr val="accent6"/>
                </a:solidFill>
              </a:rPr>
              <a:t>digitised</a:t>
            </a:r>
            <a:r>
              <a:rPr lang="en-US" sz="2000" i="1" spc="86" dirty="0">
                <a:solidFill>
                  <a:schemeClr val="accent6"/>
                </a:solidFill>
              </a:rPr>
              <a:t> economy (</a:t>
            </a:r>
            <a:r>
              <a:rPr lang="en-US" sz="2000" i="1" spc="86" dirty="0" err="1">
                <a:solidFill>
                  <a:schemeClr val="accent6"/>
                </a:solidFill>
              </a:rPr>
              <a:t>Mbule</a:t>
            </a:r>
            <a:r>
              <a:rPr lang="en-US" sz="2000" i="1" spc="86" dirty="0">
                <a:solidFill>
                  <a:schemeClr val="accent6"/>
                </a:solidFill>
              </a:rPr>
              <a:t>, 2026:23). The issue is especially relevant to older adults (Mbatha, 2026:16, but it also affects family members, community support workers, financial institutions, retailers, and government agencies that depend on efficient and secure digital service delivery (</a:t>
            </a:r>
            <a:r>
              <a:rPr lang="en-US" sz="2000" i="1" spc="86" dirty="0" err="1">
                <a:solidFill>
                  <a:schemeClr val="accent6"/>
                </a:solidFill>
              </a:rPr>
              <a:t>Nduli</a:t>
            </a:r>
            <a:r>
              <a:rPr lang="en-US" sz="2000" i="1" spc="86" dirty="0">
                <a:solidFill>
                  <a:schemeClr val="accent6"/>
                </a:solidFill>
              </a:rPr>
              <a:t>, 2026:30). If this problem is not addressed, elderly citizens may continue to experience financial exclusion, greater dependence on others, and increased vulnerability to exploitation, while service providers may struggle to achieve inclusive digital transformation (</a:t>
            </a:r>
            <a:r>
              <a:rPr lang="en-GB" sz="2000" i="1" dirty="0">
                <a:solidFill>
                  <a:schemeClr val="accent6"/>
                </a:solidFill>
              </a:rPr>
              <a:t>de Jong, 2026:14)</a:t>
            </a:r>
            <a:r>
              <a:rPr lang="en-US" sz="2000" i="1" spc="86" dirty="0">
                <a:solidFill>
                  <a:schemeClr val="accent6"/>
                </a:solidFill>
              </a:rPr>
              <a:t>.</a:t>
            </a:r>
          </a:p>
        </p:txBody>
      </p:sp>
    </p:spTree>
    <p:extLst>
      <p:ext uri="{BB962C8B-B14F-4D97-AF65-F5344CB8AC3E}">
        <p14:creationId xmlns:p14="http://schemas.microsoft.com/office/powerpoint/2010/main" val="3391141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B711D7E-AA30-1768-EA61-67287BB3788E}"/>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BD5771B-4202-7975-9C9F-BC31BCD773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82C481C2-E8E9-826A-B745-5CDEFED314C8}"/>
              </a:ext>
            </a:extLst>
          </p:cNvPr>
          <p:cNvSpPr txBox="1"/>
          <p:nvPr/>
        </p:nvSpPr>
        <p:spPr>
          <a:xfrm>
            <a:off x="76200" y="1600200"/>
            <a:ext cx="4495800" cy="2984150"/>
          </a:xfrm>
          <a:prstGeom prst="rect">
            <a:avLst/>
          </a:prstGeom>
        </p:spPr>
        <p:txBody>
          <a:bodyPr wrap="square" lIns="0" tIns="0" rIns="0" bIns="0" rtlCol="0" anchor="t">
            <a:spAutoFit/>
          </a:bodyPr>
          <a:lstStyle/>
          <a:p>
            <a:pPr>
              <a:lnSpc>
                <a:spcPts val="3919"/>
              </a:lnSpc>
            </a:pPr>
            <a:r>
              <a:rPr lang="en-ZA" sz="3200" b="1" dirty="0"/>
              <a:t>Example paragraph </a:t>
            </a:r>
          </a:p>
          <a:p>
            <a:pPr>
              <a:lnSpc>
                <a:spcPts val="3919"/>
              </a:lnSpc>
            </a:pPr>
            <a:r>
              <a:rPr lang="en-ZA" sz="3200" b="1" dirty="0"/>
              <a:t>for Research Problem analysis</a:t>
            </a:r>
          </a:p>
          <a:p>
            <a:pPr>
              <a:lnSpc>
                <a:spcPts val="3919"/>
              </a:lnSpc>
            </a:pPr>
            <a:endParaRPr lang="en-ZA" sz="3200" b="1" dirty="0"/>
          </a:p>
          <a:p>
            <a:pPr>
              <a:lnSpc>
                <a:spcPts val="3919"/>
              </a:lnSpc>
            </a:pPr>
            <a:r>
              <a:rPr lang="en-ZA" sz="3200" b="1" dirty="0"/>
              <a:t>Why is it a</a:t>
            </a:r>
          </a:p>
          <a:p>
            <a:pPr>
              <a:lnSpc>
                <a:spcPts val="3919"/>
              </a:lnSpc>
            </a:pPr>
            <a:r>
              <a:rPr lang="en-ZA" sz="3200" b="1" dirty="0"/>
              <a:t>problem?</a:t>
            </a:r>
            <a:endParaRPr lang="en-US" sz="3200" b="1" dirty="0"/>
          </a:p>
        </p:txBody>
      </p:sp>
      <p:sp>
        <p:nvSpPr>
          <p:cNvPr id="7" name="TextBox 7">
            <a:extLst>
              <a:ext uri="{FF2B5EF4-FFF2-40B4-BE49-F238E27FC236}">
                <a16:creationId xmlns:a16="http://schemas.microsoft.com/office/drawing/2014/main" id="{E0FCFBFA-B8D5-E68B-B6B1-9DDAA89E2DC6}"/>
              </a:ext>
            </a:extLst>
          </p:cNvPr>
          <p:cNvSpPr txBox="1"/>
          <p:nvPr/>
        </p:nvSpPr>
        <p:spPr>
          <a:xfrm>
            <a:off x="3886198" y="381000"/>
            <a:ext cx="5867402" cy="6771084"/>
          </a:xfrm>
          <a:prstGeom prst="rect">
            <a:avLst/>
          </a:prstGeom>
        </p:spPr>
        <p:txBody>
          <a:bodyPr wrap="square" lIns="0" tIns="0" rIns="0" bIns="0" rtlCol="0" anchor="t">
            <a:spAutoFit/>
          </a:bodyPr>
          <a:lstStyle/>
          <a:p>
            <a:pPr algn="ctr">
              <a:spcBef>
                <a:spcPct val="0"/>
              </a:spcBef>
            </a:pPr>
            <a:r>
              <a:rPr lang="en-US" sz="2000" i="1" spc="86" dirty="0">
                <a:solidFill>
                  <a:schemeClr val="accent6"/>
                </a:solidFill>
              </a:rPr>
              <a:t>Despite the increasing use of digital payment platforms in South Africa, many elderly citizens remain excluded from these services (</a:t>
            </a:r>
            <a:r>
              <a:rPr lang="en-US" sz="2000" i="1" spc="86" dirty="0" err="1">
                <a:solidFill>
                  <a:schemeClr val="accent6"/>
                </a:solidFill>
              </a:rPr>
              <a:t>Appollis</a:t>
            </a:r>
            <a:r>
              <a:rPr lang="en-US" sz="2000" i="1" spc="86" dirty="0">
                <a:solidFill>
                  <a:schemeClr val="accent6"/>
                </a:solidFill>
              </a:rPr>
              <a:t>, 2026:12) because of low digital confidence, limited device literacy, and fear of online fraud (Makgopa, 2026:17).</a:t>
            </a:r>
            <a:r>
              <a:rPr lang="en-US" sz="2000" b="1" i="1" spc="86" dirty="0">
                <a:solidFill>
                  <a:srgbClr val="FFFFFF"/>
                </a:solidFill>
              </a:rPr>
              <a:t> </a:t>
            </a:r>
            <a:r>
              <a:rPr lang="en-US" sz="2000" b="1" i="1" spc="86" dirty="0">
                <a:solidFill>
                  <a:schemeClr val="bg1"/>
                </a:solidFill>
              </a:rPr>
              <a:t>This is a significant problem because digital payment systems are becoming central to everyday transactions, social grant access, banking convenience, and participation in an increasingly </a:t>
            </a:r>
            <a:r>
              <a:rPr lang="en-US" sz="2000" b="1" i="1" spc="86" dirty="0" err="1">
                <a:solidFill>
                  <a:schemeClr val="bg1"/>
                </a:solidFill>
              </a:rPr>
              <a:t>digitised</a:t>
            </a:r>
            <a:r>
              <a:rPr lang="en-US" sz="2000" b="1" i="1" spc="86" dirty="0">
                <a:solidFill>
                  <a:schemeClr val="bg1"/>
                </a:solidFill>
              </a:rPr>
              <a:t> economy (</a:t>
            </a:r>
            <a:r>
              <a:rPr lang="en-US" sz="2000" b="1" i="1" spc="86" dirty="0" err="1">
                <a:solidFill>
                  <a:schemeClr val="bg1"/>
                </a:solidFill>
              </a:rPr>
              <a:t>Mbule</a:t>
            </a:r>
            <a:r>
              <a:rPr lang="en-US" sz="2000" b="1" i="1" spc="86" dirty="0">
                <a:solidFill>
                  <a:schemeClr val="bg1"/>
                </a:solidFill>
              </a:rPr>
              <a:t>, 2026:23). </a:t>
            </a:r>
            <a:r>
              <a:rPr lang="en-US" sz="2000" i="1" spc="86" dirty="0">
                <a:solidFill>
                  <a:schemeClr val="accent6"/>
                </a:solidFill>
              </a:rPr>
              <a:t>The issue is especially relevant to older adults (Mbatha, 2026:16, but it also affects family members, community support workers, financial institutions, retailers, and government agencies that depend on efficient and secure digital service delivery (</a:t>
            </a:r>
            <a:r>
              <a:rPr lang="en-US" sz="2000" i="1" spc="86" dirty="0" err="1">
                <a:solidFill>
                  <a:schemeClr val="accent6"/>
                </a:solidFill>
              </a:rPr>
              <a:t>Nduli</a:t>
            </a:r>
            <a:r>
              <a:rPr lang="en-US" sz="2000" i="1" spc="86" dirty="0">
                <a:solidFill>
                  <a:schemeClr val="accent6"/>
                </a:solidFill>
              </a:rPr>
              <a:t>, 2026:30). If this problem is not addressed, elderly citizens may continue to experience financial exclusion, greater dependence on others, and increased vulnerability to exploitation, while service providers may struggle to achieve inclusive digital transformation (</a:t>
            </a:r>
            <a:r>
              <a:rPr lang="en-GB" sz="2000" i="1" dirty="0">
                <a:solidFill>
                  <a:schemeClr val="accent6"/>
                </a:solidFill>
              </a:rPr>
              <a:t>de Jong, 2026:14)</a:t>
            </a:r>
            <a:r>
              <a:rPr lang="en-US" sz="2000" i="1" spc="86" dirty="0">
                <a:solidFill>
                  <a:schemeClr val="accent6"/>
                </a:solidFill>
              </a:rPr>
              <a:t>.</a:t>
            </a:r>
          </a:p>
        </p:txBody>
      </p:sp>
    </p:spTree>
    <p:extLst>
      <p:ext uri="{BB962C8B-B14F-4D97-AF65-F5344CB8AC3E}">
        <p14:creationId xmlns:p14="http://schemas.microsoft.com/office/powerpoint/2010/main" val="23238494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45366A9-6CF2-9883-B9C0-F344F433546B}"/>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D59EC87-C7DB-4577-EFF1-71F9CB9DCB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B983428A-573A-41F0-1338-6A5B54B1EB09}"/>
              </a:ext>
            </a:extLst>
          </p:cNvPr>
          <p:cNvSpPr txBox="1"/>
          <p:nvPr/>
        </p:nvSpPr>
        <p:spPr>
          <a:xfrm>
            <a:off x="76200" y="1600200"/>
            <a:ext cx="4495800" cy="2984150"/>
          </a:xfrm>
          <a:prstGeom prst="rect">
            <a:avLst/>
          </a:prstGeom>
        </p:spPr>
        <p:txBody>
          <a:bodyPr wrap="square" lIns="0" tIns="0" rIns="0" bIns="0" rtlCol="0" anchor="t">
            <a:spAutoFit/>
          </a:bodyPr>
          <a:lstStyle/>
          <a:p>
            <a:pPr>
              <a:lnSpc>
                <a:spcPts val="3919"/>
              </a:lnSpc>
            </a:pPr>
            <a:r>
              <a:rPr lang="en-ZA" sz="3200" b="1" dirty="0"/>
              <a:t>Example paragraph </a:t>
            </a:r>
          </a:p>
          <a:p>
            <a:pPr>
              <a:lnSpc>
                <a:spcPts val="3919"/>
              </a:lnSpc>
            </a:pPr>
            <a:r>
              <a:rPr lang="en-ZA" sz="3200" b="1" dirty="0"/>
              <a:t>for Research Problem analysis</a:t>
            </a:r>
          </a:p>
          <a:p>
            <a:pPr>
              <a:lnSpc>
                <a:spcPts val="3919"/>
              </a:lnSpc>
            </a:pPr>
            <a:endParaRPr lang="en-ZA" sz="3200" b="1" dirty="0"/>
          </a:p>
          <a:p>
            <a:pPr>
              <a:lnSpc>
                <a:spcPts val="3919"/>
              </a:lnSpc>
            </a:pPr>
            <a:r>
              <a:rPr lang="en-ZA" sz="3200" b="1" dirty="0"/>
              <a:t>For whom is it a</a:t>
            </a:r>
          </a:p>
          <a:p>
            <a:pPr>
              <a:lnSpc>
                <a:spcPts val="3919"/>
              </a:lnSpc>
            </a:pPr>
            <a:r>
              <a:rPr lang="en-ZA" sz="3200" b="1" dirty="0"/>
              <a:t>problem?</a:t>
            </a:r>
            <a:endParaRPr lang="en-US" sz="3200" b="1" dirty="0"/>
          </a:p>
        </p:txBody>
      </p:sp>
      <p:sp>
        <p:nvSpPr>
          <p:cNvPr id="7" name="TextBox 7">
            <a:extLst>
              <a:ext uri="{FF2B5EF4-FFF2-40B4-BE49-F238E27FC236}">
                <a16:creationId xmlns:a16="http://schemas.microsoft.com/office/drawing/2014/main" id="{723624F5-66CD-58B2-BC9E-2A037F1315A7}"/>
              </a:ext>
            </a:extLst>
          </p:cNvPr>
          <p:cNvSpPr txBox="1"/>
          <p:nvPr/>
        </p:nvSpPr>
        <p:spPr>
          <a:xfrm>
            <a:off x="3886198" y="381000"/>
            <a:ext cx="5867402" cy="6463308"/>
          </a:xfrm>
          <a:prstGeom prst="rect">
            <a:avLst/>
          </a:prstGeom>
        </p:spPr>
        <p:txBody>
          <a:bodyPr wrap="square" lIns="0" tIns="0" rIns="0" bIns="0" rtlCol="0" anchor="t">
            <a:spAutoFit/>
          </a:bodyPr>
          <a:lstStyle/>
          <a:p>
            <a:pPr algn="ctr">
              <a:spcBef>
                <a:spcPct val="0"/>
              </a:spcBef>
            </a:pPr>
            <a:r>
              <a:rPr lang="en-US" sz="2000" i="1" spc="86" dirty="0">
                <a:solidFill>
                  <a:schemeClr val="accent6"/>
                </a:solidFill>
              </a:rPr>
              <a:t>Despite the increasing use of digital payment platforms in South Africa, many elderly citizens remain excluded from these services (</a:t>
            </a:r>
            <a:r>
              <a:rPr lang="en-US" sz="2000" i="1" spc="86" dirty="0" err="1">
                <a:solidFill>
                  <a:schemeClr val="accent6"/>
                </a:solidFill>
              </a:rPr>
              <a:t>Appollis</a:t>
            </a:r>
            <a:r>
              <a:rPr lang="en-US" sz="2000" i="1" spc="86" dirty="0">
                <a:solidFill>
                  <a:schemeClr val="accent6"/>
                </a:solidFill>
              </a:rPr>
              <a:t>, 2026:12) because of low digital confidence, limited device literacy, and fear of online fraud (Makgopa, 2026:17). This is a significant problem because digital payment systems are becoming central to everyday transactions, social grant access, banking convenience, and participation in an increasingly </a:t>
            </a:r>
            <a:r>
              <a:rPr lang="en-US" sz="2000" i="1" spc="86" dirty="0" err="1">
                <a:solidFill>
                  <a:schemeClr val="accent6"/>
                </a:solidFill>
              </a:rPr>
              <a:t>digitised</a:t>
            </a:r>
            <a:r>
              <a:rPr lang="en-US" sz="2000" i="1" spc="86" dirty="0">
                <a:solidFill>
                  <a:schemeClr val="accent6"/>
                </a:solidFill>
              </a:rPr>
              <a:t> economy (</a:t>
            </a:r>
            <a:r>
              <a:rPr lang="en-US" sz="2000" i="1" spc="86" dirty="0" err="1">
                <a:solidFill>
                  <a:schemeClr val="accent6"/>
                </a:solidFill>
              </a:rPr>
              <a:t>Mbule</a:t>
            </a:r>
            <a:r>
              <a:rPr lang="en-US" sz="2000" i="1" spc="86" dirty="0">
                <a:solidFill>
                  <a:schemeClr val="accent6"/>
                </a:solidFill>
              </a:rPr>
              <a:t>, 2026:23). </a:t>
            </a:r>
            <a:r>
              <a:rPr lang="en-US" sz="2000" b="1" i="1" spc="86" dirty="0">
                <a:solidFill>
                  <a:schemeClr val="bg1"/>
                </a:solidFill>
              </a:rPr>
              <a:t>The issue is especially relevant to older adults (Mbatha, 2026:16, but it also affects family members, community support workers, financial institutions, retailers, and government agencies that depend on efficient and secure digital service delivery (</a:t>
            </a:r>
            <a:r>
              <a:rPr lang="en-US" sz="2000" b="1" i="1" spc="86" dirty="0" err="1">
                <a:solidFill>
                  <a:schemeClr val="bg1"/>
                </a:solidFill>
              </a:rPr>
              <a:t>Nduli</a:t>
            </a:r>
            <a:r>
              <a:rPr lang="en-US" sz="2000" b="1" i="1" spc="86" dirty="0">
                <a:solidFill>
                  <a:schemeClr val="bg1"/>
                </a:solidFill>
              </a:rPr>
              <a:t>, 2026:30). </a:t>
            </a:r>
            <a:r>
              <a:rPr lang="en-US" sz="2000" i="1" spc="86" dirty="0">
                <a:solidFill>
                  <a:schemeClr val="accent6"/>
                </a:solidFill>
              </a:rPr>
              <a:t>If this problem is not addressed, elderly citizens may continue to experience financial exclusion, greater dependence on others, and increased vulnerability to exploitation, while service providers may struggle to achieve inclusive digital transformation (</a:t>
            </a:r>
            <a:r>
              <a:rPr lang="en-GB" sz="2000" i="1" dirty="0">
                <a:solidFill>
                  <a:schemeClr val="accent6"/>
                </a:solidFill>
              </a:rPr>
              <a:t>de Jong, 2026:14)</a:t>
            </a:r>
            <a:r>
              <a:rPr lang="en-US" sz="2000" i="1" spc="86" dirty="0">
                <a:solidFill>
                  <a:schemeClr val="accent6"/>
                </a:solidFill>
              </a:rPr>
              <a:t>.</a:t>
            </a:r>
          </a:p>
        </p:txBody>
      </p:sp>
    </p:spTree>
    <p:extLst>
      <p:ext uri="{BB962C8B-B14F-4D97-AF65-F5344CB8AC3E}">
        <p14:creationId xmlns:p14="http://schemas.microsoft.com/office/powerpoint/2010/main" val="77673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5B01E18-1472-F330-8B75-EBCE8373D07F}"/>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C09A5B87-FA50-BB41-7E63-B13C858956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295402" y="-2286000"/>
            <a:ext cx="5181601" cy="11245010"/>
          </a:xfrm>
          <a:prstGeom prst="rect">
            <a:avLst/>
          </a:prstGeom>
        </p:spPr>
      </p:pic>
      <p:sp>
        <p:nvSpPr>
          <p:cNvPr id="6" name="TextBox 6">
            <a:extLst>
              <a:ext uri="{FF2B5EF4-FFF2-40B4-BE49-F238E27FC236}">
                <a16:creationId xmlns:a16="http://schemas.microsoft.com/office/drawing/2014/main" id="{E0B6898C-A934-3F05-2C73-5EB337839B28}"/>
              </a:ext>
            </a:extLst>
          </p:cNvPr>
          <p:cNvSpPr txBox="1"/>
          <p:nvPr/>
        </p:nvSpPr>
        <p:spPr>
          <a:xfrm>
            <a:off x="76200" y="1600200"/>
            <a:ext cx="4495800" cy="3984424"/>
          </a:xfrm>
          <a:prstGeom prst="rect">
            <a:avLst/>
          </a:prstGeom>
        </p:spPr>
        <p:txBody>
          <a:bodyPr wrap="square" lIns="0" tIns="0" rIns="0" bIns="0" rtlCol="0" anchor="t">
            <a:spAutoFit/>
          </a:bodyPr>
          <a:lstStyle/>
          <a:p>
            <a:pPr>
              <a:lnSpc>
                <a:spcPts val="3919"/>
              </a:lnSpc>
            </a:pPr>
            <a:r>
              <a:rPr lang="en-ZA" sz="3200" b="1" dirty="0"/>
              <a:t>Example paragraph </a:t>
            </a:r>
          </a:p>
          <a:p>
            <a:pPr>
              <a:lnSpc>
                <a:spcPts val="3919"/>
              </a:lnSpc>
            </a:pPr>
            <a:r>
              <a:rPr lang="en-ZA" sz="3200" b="1" dirty="0"/>
              <a:t>for Research Problem analysis</a:t>
            </a:r>
          </a:p>
          <a:p>
            <a:pPr>
              <a:lnSpc>
                <a:spcPts val="3919"/>
              </a:lnSpc>
            </a:pPr>
            <a:endParaRPr lang="en-ZA" sz="3200" b="1" dirty="0"/>
          </a:p>
          <a:p>
            <a:pPr>
              <a:lnSpc>
                <a:spcPts val="3919"/>
              </a:lnSpc>
            </a:pPr>
            <a:r>
              <a:rPr lang="en-ZA" sz="3200" b="1" dirty="0"/>
              <a:t>What are the </a:t>
            </a:r>
          </a:p>
          <a:p>
            <a:pPr>
              <a:lnSpc>
                <a:spcPts val="3919"/>
              </a:lnSpc>
            </a:pPr>
            <a:r>
              <a:rPr lang="en-ZA" sz="3200" b="1" dirty="0"/>
              <a:t>consequences if</a:t>
            </a:r>
          </a:p>
          <a:p>
            <a:pPr>
              <a:lnSpc>
                <a:spcPts val="3919"/>
              </a:lnSpc>
            </a:pPr>
            <a:r>
              <a:rPr lang="en-ZA" sz="3200" b="1" dirty="0"/>
              <a:t>the problem</a:t>
            </a:r>
          </a:p>
          <a:p>
            <a:pPr>
              <a:lnSpc>
                <a:spcPts val="3919"/>
              </a:lnSpc>
            </a:pPr>
            <a:r>
              <a:rPr lang="en-ZA" sz="3200" b="1" dirty="0"/>
              <a:t>is not resolved?</a:t>
            </a:r>
            <a:endParaRPr lang="en-US" sz="3200" b="1" dirty="0"/>
          </a:p>
        </p:txBody>
      </p:sp>
      <p:sp>
        <p:nvSpPr>
          <p:cNvPr id="7" name="TextBox 7">
            <a:extLst>
              <a:ext uri="{FF2B5EF4-FFF2-40B4-BE49-F238E27FC236}">
                <a16:creationId xmlns:a16="http://schemas.microsoft.com/office/drawing/2014/main" id="{3894C88A-394F-409E-76F1-8D8286F1F905}"/>
              </a:ext>
            </a:extLst>
          </p:cNvPr>
          <p:cNvSpPr txBox="1"/>
          <p:nvPr/>
        </p:nvSpPr>
        <p:spPr>
          <a:xfrm>
            <a:off x="3886198" y="381000"/>
            <a:ext cx="5867402" cy="6463308"/>
          </a:xfrm>
          <a:prstGeom prst="rect">
            <a:avLst/>
          </a:prstGeom>
        </p:spPr>
        <p:txBody>
          <a:bodyPr wrap="square" lIns="0" tIns="0" rIns="0" bIns="0" rtlCol="0" anchor="t">
            <a:spAutoFit/>
          </a:bodyPr>
          <a:lstStyle/>
          <a:p>
            <a:pPr algn="ctr">
              <a:spcBef>
                <a:spcPct val="0"/>
              </a:spcBef>
            </a:pPr>
            <a:r>
              <a:rPr lang="en-US" sz="2000" i="1" spc="86" dirty="0">
                <a:solidFill>
                  <a:schemeClr val="accent6"/>
                </a:solidFill>
              </a:rPr>
              <a:t>Despite the increasing use of digital payment platforms in South Africa, many elderly citizens remain excluded from these services (</a:t>
            </a:r>
            <a:r>
              <a:rPr lang="en-US" sz="2000" i="1" spc="86" dirty="0" err="1">
                <a:solidFill>
                  <a:schemeClr val="accent6"/>
                </a:solidFill>
              </a:rPr>
              <a:t>Appollis</a:t>
            </a:r>
            <a:r>
              <a:rPr lang="en-US" sz="2000" i="1" spc="86" dirty="0">
                <a:solidFill>
                  <a:schemeClr val="accent6"/>
                </a:solidFill>
              </a:rPr>
              <a:t>, 2026:12) because of low digital confidence, limited device literacy, and fear of online fraud (Makgopa, 2026:17). This is a significant problem because digital payment systems are becoming central to everyday transactions, social grant access, banking convenience, and participation in an increasingly </a:t>
            </a:r>
            <a:r>
              <a:rPr lang="en-US" sz="2000" i="1" spc="86" dirty="0" err="1">
                <a:solidFill>
                  <a:schemeClr val="accent6"/>
                </a:solidFill>
              </a:rPr>
              <a:t>digitised</a:t>
            </a:r>
            <a:r>
              <a:rPr lang="en-US" sz="2000" i="1" spc="86" dirty="0">
                <a:solidFill>
                  <a:schemeClr val="accent6"/>
                </a:solidFill>
              </a:rPr>
              <a:t> economy (</a:t>
            </a:r>
            <a:r>
              <a:rPr lang="en-US" sz="2000" i="1" spc="86" dirty="0" err="1">
                <a:solidFill>
                  <a:schemeClr val="accent6"/>
                </a:solidFill>
              </a:rPr>
              <a:t>Mbule</a:t>
            </a:r>
            <a:r>
              <a:rPr lang="en-US" sz="2000" i="1" spc="86" dirty="0">
                <a:solidFill>
                  <a:schemeClr val="accent6"/>
                </a:solidFill>
              </a:rPr>
              <a:t>, 2026:23). The issue is especially relevant to older adults (Mbatha, 2026:16, but it also affects family members, community support workers, financial institutions, retailers, and government agencies that depend on efficient and secure digital service delivery (</a:t>
            </a:r>
            <a:r>
              <a:rPr lang="en-US" sz="2000" i="1" spc="86" dirty="0" err="1">
                <a:solidFill>
                  <a:schemeClr val="accent6"/>
                </a:solidFill>
              </a:rPr>
              <a:t>Nduli</a:t>
            </a:r>
            <a:r>
              <a:rPr lang="en-US" sz="2000" i="1" spc="86" dirty="0">
                <a:solidFill>
                  <a:schemeClr val="accent6"/>
                </a:solidFill>
              </a:rPr>
              <a:t>, 2026:30). </a:t>
            </a:r>
            <a:r>
              <a:rPr lang="en-US" sz="2000" b="1" i="1" spc="86" dirty="0">
                <a:solidFill>
                  <a:schemeClr val="bg1"/>
                </a:solidFill>
              </a:rPr>
              <a:t>If this problem is not addressed, elderly citizens may continue to experience financial exclusion, greater dependence on others, and increased vulnerability to exploitation, while service providers may struggle to achieve inclusive digital transformation (</a:t>
            </a:r>
            <a:r>
              <a:rPr lang="en-GB" sz="2000" b="1" i="1" spc="86" dirty="0">
                <a:solidFill>
                  <a:schemeClr val="bg1"/>
                </a:solidFill>
              </a:rPr>
              <a:t>de Jong, 2026:14)</a:t>
            </a:r>
            <a:r>
              <a:rPr lang="en-US" sz="2000" b="1" i="1" spc="86" dirty="0">
                <a:solidFill>
                  <a:schemeClr val="bg1"/>
                </a:solidFill>
              </a:rPr>
              <a:t>.</a:t>
            </a:r>
          </a:p>
        </p:txBody>
      </p:sp>
    </p:spTree>
    <p:extLst>
      <p:ext uri="{BB962C8B-B14F-4D97-AF65-F5344CB8AC3E}">
        <p14:creationId xmlns:p14="http://schemas.microsoft.com/office/powerpoint/2010/main" val="1727288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D9657A81-7786-7A8C-3AB3-1C592784290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BFC1AB3-297A-1B3B-03A1-7F8920409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45B090C0-4975-AD4E-AFAF-3C83D18E917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4F5B11F4-C2E1-BC29-344D-48FE104AAC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0483173D-0B76-6AE2-0EA5-756227E7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7B3DCAC-97A0-D6FD-44AD-6B311E23BC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7E9E022-F2F7-3220-1BF9-54C6CF515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0113B65-8B40-BA0E-2383-52718A380A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1B5751CB-DEF3-34C7-0D40-240DA3880E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C48C1FF-E562-7064-B0B7-9296A85DDF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B5287397-035F-3AC0-D40B-9658B6137E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53EF9E6-D57F-AA92-0E32-3733E9F3B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D7AB3B3-1A9D-FF82-9254-B11132C0D6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203FFD9-2EDF-6C36-689A-126FD3A9E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328A105-EE7B-B14B-4DE8-214D64FE1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5F00AED-6BA0-8C99-9709-539C73F3F3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2980009-B639-2D19-1997-BDC36C8225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966DEBF-F866-F979-8F59-6F8A4D977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403A7F6-BCF2-6EDA-3A64-1EF0265AA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198ACCC-5BF0-53C7-4F37-D6752FC8D7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A57272C9-D91D-D889-782A-6A116B82A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500A73C5-BADA-A471-2C6A-53570D09BD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B00627CD-25C1-05EC-1A9D-AD2EF10EB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1D99C5DE-11A1-D2F6-1D17-732FD84F8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DA8C4EEA-8774-BE0C-1224-ACDF86A08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F58F02D2-C819-84D2-B2A6-01B20E5C4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0D5320E-A772-7BD3-D8C2-2C1D4D6B2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B26C5794-9A51-9D71-051D-832B1A15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09B98780-CA4B-F250-5455-6F25362538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E0BF31B-BF50-01F1-9ECA-0AD3D3A88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BD6C142E-F490-41CF-530C-1C1552982D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3FBA12AB-A829-4FAB-5F6A-A559F15FE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D0882F0-2211-9B7A-0EFC-59C67A63C2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764EE69-CA33-DD46-3A1D-D5E75D9C88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BE26C9D7-B076-0AED-B9E5-BD68388C6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C4736D3-0956-14C1-112C-D5B7880EB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D4BA04B8-9EAF-F390-6BE8-BDDCEDD979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8EAD7A7C-9F44-BC1F-93E3-B8D90BAE9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43D5190-4E4B-E9C2-37D1-A62BC632FD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70A1B33-DD32-09D5-EECE-7F06331547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F2FFFF5D-0C48-DE97-041C-FF76AEBD5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20CD6F1-7467-3CD5-5AE1-19F4B46ADF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F0902E8-C98B-C715-B7C7-E97092A8F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376E9F8D-C293-DC30-5659-C8671CE9E9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F8C63EBE-6FFA-03D0-A767-96850E1495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706E0E32-5B80-29D2-53C8-203E370120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D3F4C66D-8CB2-59DF-D251-AC808F726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0AF0D9-D436-AD0E-B649-92CCCE8F6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5EB5A8AA-DFD7-585B-EFCE-94BB2DF79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F3F3D76A-4476-1C1C-745E-96514EC1E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33E1267-D09C-54F1-125F-7325D9DC89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97610F31-CE0C-D3CB-BDA2-FF5171B690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84AECFDE-72C9-E469-5930-5F01C032EA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CBF6210A-0AB1-AE27-1FF0-4CF235B89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302CFE81-18E9-7BAD-2D10-D91B7F6A46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80B7A8A-F242-8D27-208C-DB7C0AFFC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06B12D51-28AE-A169-31B7-C13F5292A8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D34D56BC-F510-3890-A015-AE52F042E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7CA1CDB1-68CA-FC7E-EE9B-C8A9A739D0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5B48D634-2A99-5629-40BF-9B28ECFDE1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E659A9E0-D7BD-3045-ABBC-FE0E351926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EF7FEC68-CF16-721E-90FA-A34CA97F7A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0EAC7952-6C56-5541-F259-1D1508504C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FD382BF9-4F80-A9F0-843F-12E22962C4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C5164ECE-C062-5EF0-0EAB-D52847F61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2A878DDF-4522-36F2-0186-7A14996C43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EE9C7902-AE85-5201-2654-0ABA9A73DC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D38E94AE-75F0-51D5-4391-634D1DD015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6D89981-C677-42EB-1D33-6B27C6A80D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2806DE90-19DB-1941-6D5D-F9A8C6842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78BADBA5-D148-6CC4-CF7B-AC03F12DFA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CC839ADD-E991-D35F-DDBF-7932A98D15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6E95707F-3245-12AD-043E-B8921CD2B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2823DBAE-18CA-3815-AD58-31BC650DB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3A83190D-65FE-1CAC-8470-ACEF5B4313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61E038C4-FD68-0053-0550-ED3079369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EE66B243-E9C4-EB70-4F48-6CE4CD83FD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0A2D24E1-337A-2D90-5E76-C8E50609D2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6A84250D-616E-9E04-BFA3-767486B92A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873569B4-E9D3-8509-4BC6-A82B96E280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C25796E8-E37D-6C26-F762-BF0E79F1F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97EE0165-640A-CD3C-DCF4-2940276F3F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E3598B86-FEAA-BDC2-459E-1800AA787E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7161DB90-FB46-8C5A-F1D7-CFBC943FB2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24AEE226-1BC3-A6A3-08C4-B5750705DE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4FF15538-3F72-637B-9E54-D2D4231873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D13314C1-A764-86D9-DE23-D87C90C6D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91C8E4C4-8A2B-E2D2-0077-46F7D2EEF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805BF93F-7681-E63F-4D30-F230F1F23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259128E5-6E6D-62F9-207D-2D3202E55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3F1F989E-690C-D864-CC8D-6097FD9081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6DA41032-66B0-D356-52C0-FA455DD30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12A30F4D-D414-F96A-2811-80BA944190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BAB7CA8E-F327-A30B-D7C4-06ADC5386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51772DEC-3F19-A214-8D76-99B41C4CD3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5EB765F4-669D-803E-F2C4-5625D2DA2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CFB509E5-54AF-5CEF-9708-20FA00ABF0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6B9255A8-2824-A59F-2C02-2DAFBECD5D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27F5D318-B521-0A25-88CA-6881DB3CBF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BCB27465-AD6B-B9D8-46AB-795CA9DDA7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07ADC84B-5CFF-2548-430A-FE75CB59A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C084EA2-8EF4-3681-E8B5-7D6B8BBF5B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062E37D1-5270-AECD-44D0-BE20212CE5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0EF304DB-17DA-50DD-1266-8520C4EA7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869890C9-D952-3268-FC46-2AC345C9AC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5DC2EC83-6B74-B28E-8270-0F017395C2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56C3213E-4D74-9C2F-388A-21EFDDB0DD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04FD5069-3020-794B-5228-337D2FA995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59AD5508-5D7D-FEE4-1A3B-B1C8385CB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5BD195F9-80BD-A34E-B1A7-674360B189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2F0AE6E8-16F1-F177-1632-601395CD69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441CD6E-D4B8-931D-437D-94FB2F28D2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B19804E8-0ECC-7A3D-9E7F-ACEA3C746D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422A8893-F9E5-3975-0A2D-349D18B88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11E49E61-4907-FFCD-33DA-366BA4963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5B533DFA-ABAB-911E-D329-600FE256E3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2B563B1D-4F92-511A-97E8-373CF0ACE9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CAA22310-DCD1-E392-150A-92CD69602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EE93A5CC-2A78-1B5B-A322-0449B3F2E4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76A0C37B-7DDB-2BCF-C616-D924EDBC74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EC07E081-2258-1DE9-20B7-4B28F8D5A4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ADEEAE71-B6F5-A0AA-A741-8A3E8A39D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0C444A71-753D-65A1-1BB3-6743D8E0F6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EB783843-235D-BFFE-A4A4-7FE7BFE3CD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04EE0B6-041C-BB5C-D7F6-7E077F552C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23BC502C-9260-4C98-C65E-7DD424FE0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E632348-6C61-BD06-FC19-D9F415D22D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F09DE5ED-A706-7587-DC9D-8144C8031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F8EB8CDC-F43A-BD27-E6F8-9309436274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A253264E-185F-67D0-5CB1-58D9B20AE7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397D7AAA-ECC7-5940-28C1-0C7EFB653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1C6DE140-9C56-1EF1-5D37-F88B601252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F305DD40-B756-EF8D-6DCA-BE74F8402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AC6F9796-B953-4F94-9D55-52BBFAC824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A7486C76-9D18-EA17-D19E-E556BCFB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B9F09F7-491E-3AE7-C057-791DE906E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EFC973D0-E3CB-AD7B-4A08-8B4B9D5468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38B14632-A971-5D74-F494-FA9FE6EF1A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B82146CB-1A89-D0E6-8052-05528876F8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49BCEF0-DD2B-F0AA-52EF-7EE99063C1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5D3A7168-0AFA-232C-DF54-9F6A524D8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ED576A53-C72A-2F9D-F8D7-06E86787D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0829E7C5-0ACE-DC65-A3FB-6E962B1C0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2B337FD9-758E-D543-25E6-3D1A54E38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A9641526-CFC3-33AA-197E-BFCC6E959C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56BAAD81-FCE9-10D1-7255-09C435432B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E80C6898-F7A7-F489-D8AE-F9BD8599B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F23A08BF-A0E5-2C76-28D0-1662F040D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CBEAD46-B194-CED3-BE9C-EFAD1136C6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3C7C0F5F-E60F-1E6C-FBB5-75D5F83E3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9EBD2297-8B1A-7AA2-70D4-F7052F5FB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F0F838AD-9276-8E4F-05EA-B9BB71071836}"/>
              </a:ext>
            </a:extLst>
          </p:cNvPr>
          <p:cNvSpPr txBox="1"/>
          <p:nvPr/>
        </p:nvSpPr>
        <p:spPr>
          <a:xfrm>
            <a:off x="228600" y="152400"/>
            <a:ext cx="9448800" cy="6934200"/>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2800" b="1" spc="86" dirty="0">
                <a:solidFill>
                  <a:schemeClr val="bg1"/>
                </a:solidFill>
              </a:rPr>
              <a:t>Problem Statement Examples (Strong):</a:t>
            </a:r>
          </a:p>
          <a:p>
            <a:pPr>
              <a:lnSpc>
                <a:spcPct val="90000"/>
              </a:lnSpc>
              <a:spcAft>
                <a:spcPts val="800"/>
              </a:spcAft>
            </a:pPr>
            <a:endParaRPr lang="en-US" sz="2300" spc="86" dirty="0">
              <a:solidFill>
                <a:schemeClr val="bg1"/>
              </a:solidFill>
            </a:endParaRPr>
          </a:p>
          <a:p>
            <a:pPr algn="ctr"/>
            <a:r>
              <a:rPr lang="en-GB" sz="2200" i="1" dirty="0">
                <a:solidFill>
                  <a:schemeClr val="bg1"/>
                </a:solidFill>
              </a:rPr>
              <a:t>“Despite the growing use of mobile banking applications in South Africa, many elderly users remain reluctant to adopt these services because of limited digital literacy, fear of fraud, and difficulty understanding app interfaces (Citation). This is a significant problem because mobile banking is increasingly linked to financial inclusion, convenience, and access to essential services, especially where physical branches are limited (Citation). The problem affects elderly users directly, but it also affects family members, financial institutions, service providers, and government stakeholders concerned with digital inclusion (Citation). If this issue is not addressed, elderly citizens may remain financially excluded, become more dependent on others for transactions, and face increased vulnerability to exploitation and unequal access to digital financial services (Citation).”</a:t>
            </a:r>
          </a:p>
          <a:p>
            <a:endParaRPr lang="en-GB" sz="2200" b="1" dirty="0">
              <a:solidFill>
                <a:schemeClr val="bg1"/>
              </a:solidFill>
            </a:endParaRPr>
          </a:p>
          <a:p>
            <a:r>
              <a:rPr lang="en-GB" sz="2200" b="1" dirty="0">
                <a:solidFill>
                  <a:schemeClr val="bg1"/>
                </a:solidFill>
              </a:rPr>
              <a:t>Why this is strong…</a:t>
            </a:r>
          </a:p>
          <a:p>
            <a:pPr marL="457200" indent="-457200">
              <a:buFont typeface="+mj-lt"/>
              <a:buAutoNum type="arabicPeriod"/>
            </a:pPr>
            <a:r>
              <a:rPr lang="en-GB" sz="2200" dirty="0">
                <a:solidFill>
                  <a:schemeClr val="bg1"/>
                </a:solidFill>
              </a:rPr>
              <a:t>The problem is specific and easy to identify.</a:t>
            </a:r>
          </a:p>
          <a:p>
            <a:pPr marL="457200" indent="-457200">
              <a:buFont typeface="+mj-lt"/>
              <a:buAutoNum type="arabicPeriod"/>
            </a:pPr>
            <a:r>
              <a:rPr lang="en-GB" sz="2200" dirty="0">
                <a:solidFill>
                  <a:schemeClr val="bg1"/>
                </a:solidFill>
              </a:rPr>
              <a:t>The significance is clearly explained.</a:t>
            </a:r>
          </a:p>
          <a:p>
            <a:pPr marL="457200" indent="-457200">
              <a:buFont typeface="+mj-lt"/>
              <a:buAutoNum type="arabicPeriod"/>
            </a:pPr>
            <a:r>
              <a:rPr lang="en-GB" sz="2200" dirty="0">
                <a:solidFill>
                  <a:schemeClr val="bg1"/>
                </a:solidFill>
              </a:rPr>
              <a:t>The stakeholders are named explicitly.</a:t>
            </a:r>
          </a:p>
          <a:p>
            <a:pPr marL="457200" indent="-457200">
              <a:buFont typeface="+mj-lt"/>
              <a:buAutoNum type="arabicPeriod"/>
            </a:pPr>
            <a:r>
              <a:rPr lang="en-GB" sz="2200" dirty="0">
                <a:solidFill>
                  <a:schemeClr val="bg1"/>
                </a:solidFill>
              </a:rPr>
              <a:t>The consequences are concrete and urgent.</a:t>
            </a:r>
            <a:endParaRPr lang="en-ZA" sz="2400" dirty="0">
              <a:solidFill>
                <a:schemeClr val="bg1"/>
              </a:solidFill>
            </a:endParaRPr>
          </a:p>
          <a:p>
            <a:pPr marL="342900" indent="-342900">
              <a:lnSpc>
                <a:spcPct val="90000"/>
              </a:lnSpc>
              <a:spcAft>
                <a:spcPts val="800"/>
              </a:spcAft>
              <a:buFont typeface="Arial" panose="020B0604020202020204" pitchFamily="34" charset="0"/>
              <a:buChar char="•"/>
            </a:pPr>
            <a:endParaRPr lang="en-US" sz="2000" spc="86" dirty="0">
              <a:solidFill>
                <a:schemeClr val="bg1"/>
              </a:solidFill>
            </a:endParaRPr>
          </a:p>
          <a:p>
            <a:pPr marL="800100" lvl="1" indent="-342900">
              <a:lnSpc>
                <a:spcPct val="90000"/>
              </a:lnSpc>
              <a:spcAft>
                <a:spcPts val="800"/>
              </a:spcAft>
              <a:buFont typeface="Arial" panose="020B0604020202020204" pitchFamily="34" charset="0"/>
              <a:buChar char="•"/>
            </a:pPr>
            <a:endParaRPr lang="en-US" sz="2000" spc="86" dirty="0">
              <a:solidFill>
                <a:schemeClr val="bg1"/>
              </a:solidFill>
            </a:endParaRPr>
          </a:p>
        </p:txBody>
      </p:sp>
    </p:spTree>
    <p:extLst>
      <p:ext uri="{BB962C8B-B14F-4D97-AF65-F5344CB8AC3E}">
        <p14:creationId xmlns:p14="http://schemas.microsoft.com/office/powerpoint/2010/main" val="776735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01BD2BC6-5366-9852-CE7A-1BE8F0BC030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1ED8C09-6151-12E7-86F5-9AE7726BA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AC3617C6-A362-48ED-8259-E013482D2F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669F5BA5-7E61-7244-48AD-F58E4CA325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35380100-2586-0768-8148-2AE4F28BF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0099F23-B9C2-FB33-F9EC-6F9856B2FF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7097DBA-CAE1-67C2-01D6-FF6C383E0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03EC0A0-7014-5B6A-F680-7A2BC8CF22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D6F7AB1-13E9-DBDE-E924-647936E1C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F398DEB-1582-37AE-3867-DE4089567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D61A0E8-37F0-6C05-E44F-E8EBAA75D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44E09A9-961A-C7D0-7876-23EBAB288E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6F8AE3F-AFB7-45F0-FF88-FC90337C1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AC34630-5D1A-2104-8F14-3CBB7025F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A4717EE-9599-2554-D6F3-407DC37CD7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6F0415E-B67C-AFEB-96C2-D1094DFCCD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E9ED5E3-3076-D89B-0E96-B800C92EAF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2E349F7-F604-9972-3703-3F1C2A6FD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60FCC25-7F11-1BE9-5DDF-C3278B20FE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BDD7382-0FA3-408C-EA22-67274C933E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D32B64F-848A-FE80-98C1-FC1F09B4D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B1AB6D3-E208-F682-D300-2EFEC4230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7036A28-1C6E-CD6D-B98A-A1A9EFA2F7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D3C0C45-0132-5F5C-DE6C-777953DBE7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6653D69-2F5B-3B9D-3016-244CDF2E34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177326A0-13D3-5E89-70FF-770D024679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0D115D7-66CF-5CF3-0512-5A2ACB7957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48F27A1-EA46-8F19-A5E2-4956C047E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61A1E14D-1452-3621-57FA-603B78BF5E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97EE81E3-2961-D63B-A4A4-2D9E34B62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706081D7-3FA7-DF52-3D16-456C27E10E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FD73BA98-8162-8225-50DF-2D7E3555C7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7C213606-3FFB-81B7-941C-0382A30D7A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56A1B6E8-9749-2651-1DB8-BBA904E6DF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4DC085C-B142-8125-26B8-FD8F2BB753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AF1D05BB-DE2E-04E4-C932-A541AE35A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08A4A807-7C5C-D005-A8D7-347BB7BB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C2233BB6-6320-F700-0548-0DE7769617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0DF92395-A0B3-799F-55C5-54A8AB1A8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50675697-3339-244F-CA7C-A280893C87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47F41FBC-23DE-3F17-75B7-13DD1A80E7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22034C22-DF6B-7951-7085-4A92404FF5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29065EA3-C6F0-D6C1-667F-34B181807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0962248-A7B9-BAC1-4A5B-A829C969DA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B689AC3-8BC7-0925-10EE-0868726DCB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4C524B8B-3D42-C601-4B27-D42642DAE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9B9F2BC4-7639-18A1-BF1B-335A05017A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F9F49F0-74A4-4530-1FD7-27E29914C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C705226F-90AF-53E1-254A-B5CCFDF05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FFCBE4DE-ED03-4F82-AE4D-DF978C9D2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677BB77A-F22D-0B30-47BB-65B80C7C2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ADB8A23-71B6-126F-21B7-05C50B2F08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9D1A6C7D-C3BA-0B62-F624-E63A61297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16DDD9C8-FBDB-2C67-B169-56059E78B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4C7D41B3-BBDC-CA89-9E1A-71914C759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04F43B55-8687-CA92-A569-ABAAA6DCDE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982F6909-3AD4-B66B-DA2E-FAF61661CF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A5239D9C-1BF4-A015-3401-21ACEDF277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47E7481-79CE-3B57-2063-7AA1E8156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6A20A9EA-1170-49C3-5F44-19F8D8DF1C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90B37D2E-8FFF-6F7D-48AA-4A8211D0F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E7EC5D2A-25A8-DE4E-4EC4-CA6099F2C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C2DD32F0-64B5-D0E9-74D3-4BC3F18AD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64502A1D-F288-2178-F1E0-55820FB844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B1876AD6-8073-C44D-3543-FA02A178C8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21C434E2-DED1-530D-8CA8-7B21FBE98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31361615-8336-E61D-7D05-6A275084B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60D1D9EA-E247-A041-0D68-13D86C3F7E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696CC52F-7E25-CEE9-D348-F8E5B8C15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7A529E8-FA25-3ED3-18D9-2889F9F20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A058E9B-08D6-0F72-2F0B-223046C6A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7D3B499-05C8-AB3E-21F7-5C9A0846AA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4410369B-C2B2-A855-0BA8-A01F2B3E35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B41E9771-5ACA-F028-D8AE-EEF993BFE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9D8E4D11-431A-D99E-9790-D01FBFB18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B5DBEEE-11CE-028A-86EE-F4CD4BEFBA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B96EFEF1-432F-8753-BD25-F687BC2795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8C9D7A6D-E376-EF0A-11D1-A0A6FDAA28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8C4A0763-1F0F-481D-EB04-783CE17D3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B7A1734-621F-FE83-733A-EC008DDB4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61E284F-9FE5-8760-FED7-758A4692C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21A86AA-2D30-3C1A-AA7F-456DDB317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314BA61E-5E5C-DC0B-B9A2-8115641234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3AD2B7FB-E161-C156-878A-0703C60B5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6DE81543-4C58-079E-A5A1-E23D033964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3E8878A-4391-AB72-2D59-AE76D8CE76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2D4919D-F15F-D072-5468-82B04CA89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2CC4E2BD-3E9E-91FC-E202-A8620A807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24B924F-99DC-A717-DF34-F68402E4D2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01C56445-7CE7-659B-B32D-A17785FA4E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D185897-070E-F2B8-6E7C-492A37E6F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775DB11B-8A6A-E6FD-D65E-1BAF35F141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EB2AF020-C469-01F3-E7F9-AAFBDEABD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2E6B36DB-E881-02BE-FFFF-6D7650212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C2731814-589D-8C01-0BB3-BFD7F991A0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A25942F3-9DE5-55D4-2298-57CEE7417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80853931-29D1-CF2F-CDB5-DAA5B328F5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EB370047-1108-B5F2-0C0E-EBDC5382C6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1BA7D3-B50F-F205-699B-9A4E59873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BA034264-0CA2-8114-3397-E96C4D989E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AA596C05-6BE0-5CEB-4F36-8CDA99D14F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884B3CB6-F497-96E7-0FC1-672BE868C2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03B622AB-5766-2F44-E4BC-A1980D87C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11FE5A9B-B740-15BA-602F-6C5B20AD5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04585836-A1B0-118F-DA4A-AB35BD682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D6B898EA-1D25-0B8D-B5AE-6F60DB17DE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0F56B863-BB25-A050-E2D1-0FBB6E59B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1E6CC2FB-2FE4-815E-9F0C-85B4EBA02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60490466-259F-E189-409A-B744F92400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3474F8F8-3576-938D-C021-451767AF33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BCC07567-D752-79AD-FADA-11177ABD4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655A094E-3560-1315-5B5C-14BC32ECE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D8BD0332-4111-D829-C43C-1A0FBB3109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9B48C303-E48F-2BEB-B0A6-6D65D0B6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263E5A72-F734-96F9-C87B-D254DEF22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299C0328-2282-6715-442C-85F6D0FBA8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86A4BEBA-58C8-AA3C-80B8-80767DB188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F2C9FA31-D48A-AB57-5BBE-6423B8085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8DF6BE78-F2AC-979C-2937-57B652C2D2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FB110E0-8D02-505C-98F3-24ABF61566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7AB7A2B3-0124-3252-25C1-B100882768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D9375D63-F232-6DB0-DC8D-FC43B6883A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37C2A90B-7105-E89A-F409-4344391393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DC91FF60-D397-3DAA-9D8C-38AA76F615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7E5D64EE-31FA-0757-7BDC-EA6F2D3217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27AE1ED4-7199-4583-13B5-3F6D0A470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94442339-FC3C-BB1D-D1C7-08D9DA7C6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AFE0B0C9-5C21-F037-0A08-BC36E61F45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54CB902E-88F0-3C22-6F25-78003725D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DDD2ADB-5DDA-699A-BEC3-3A35CEA433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891E87B6-9017-8B76-7A5B-BA648CB3D1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7579E552-AD1D-DBFB-D22C-6D32D51ED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393FB11B-3B8B-EC7B-6FA3-E8EC7E9E09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9F2959DD-E410-1152-AC55-1E7EBCEBE6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1B036837-F033-3E28-73AB-38DC882DC1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A9A6282C-05B7-55CE-6AC3-ABA10214EE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642D74C-AD62-10B8-7B39-F6AE0A8AE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2146178D-1FDD-2301-6DDB-79BDC0A61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40E871FC-47A5-914C-F7CA-E6C11B0649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BA061297-EC95-CA56-9C0E-964DD6743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FDE44621-D6FF-A7F7-DC19-CB4E368A8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C8DC668-6801-854E-3C3B-950F3E15E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12E3DB42-8C65-017E-2DBD-569972E82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7E53B57D-0A6B-F49E-9401-6FA701DB74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0FAAFE1-D892-DB5F-D89F-B3D70A0B4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030357C-A242-E19A-13CA-ADF191D81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6C5EF896-175D-377B-7158-E86158D8A9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A83BB61C-6593-06DE-2B90-B29B305B9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C0079BBF-5209-F5CB-35F6-F027299B4A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4330C9C0-EF29-C8EB-7A72-8657D1595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02B1510E-0970-BEA2-3D71-1B99B9170F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F5D0B3D7-C954-6715-5381-B826D35FE1A4}"/>
              </a:ext>
            </a:extLst>
          </p:cNvPr>
          <p:cNvSpPr txBox="1"/>
          <p:nvPr/>
        </p:nvSpPr>
        <p:spPr>
          <a:xfrm>
            <a:off x="228600" y="152400"/>
            <a:ext cx="9448800" cy="6934200"/>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2800" b="1" spc="86" dirty="0">
                <a:solidFill>
                  <a:schemeClr val="bg1"/>
                </a:solidFill>
              </a:rPr>
              <a:t>Problem Statement Examples (Average):</a:t>
            </a:r>
          </a:p>
          <a:p>
            <a:pPr>
              <a:lnSpc>
                <a:spcPct val="90000"/>
              </a:lnSpc>
              <a:spcAft>
                <a:spcPts val="800"/>
              </a:spcAft>
            </a:pPr>
            <a:endParaRPr lang="en-US" sz="2300" spc="86" dirty="0">
              <a:solidFill>
                <a:schemeClr val="bg1"/>
              </a:solidFill>
            </a:endParaRPr>
          </a:p>
          <a:p>
            <a:pPr algn="ctr"/>
            <a:r>
              <a:rPr lang="en-GB" sz="2200" i="1" dirty="0">
                <a:solidFill>
                  <a:schemeClr val="bg1"/>
                </a:solidFill>
              </a:rPr>
              <a:t>“</a:t>
            </a:r>
            <a:r>
              <a:rPr lang="en-ZA" sz="2400" i="1" dirty="0">
                <a:solidFill>
                  <a:schemeClr val="bg1"/>
                </a:solidFill>
              </a:rPr>
              <a:t>Online learning platforms are widely used in higher education, but some students still struggle to use them effectively </a:t>
            </a:r>
            <a:r>
              <a:rPr lang="en-GB" sz="2400" i="1" dirty="0">
                <a:solidFill>
                  <a:schemeClr val="bg1"/>
                </a:solidFill>
              </a:rPr>
              <a:t>(Citation)</a:t>
            </a:r>
            <a:r>
              <a:rPr lang="en-ZA" sz="2400" i="1" dirty="0">
                <a:solidFill>
                  <a:schemeClr val="bg1"/>
                </a:solidFill>
              </a:rPr>
              <a:t>. This is a problem because the platforms are important for teaching and learning, and when students do not use them well, their academic experience may be affected </a:t>
            </a:r>
            <a:r>
              <a:rPr lang="en-GB" sz="2400" i="1" dirty="0">
                <a:solidFill>
                  <a:schemeClr val="bg1"/>
                </a:solidFill>
              </a:rPr>
              <a:t>(Citation)</a:t>
            </a:r>
            <a:r>
              <a:rPr lang="en-ZA" sz="2400" i="1" dirty="0">
                <a:solidFill>
                  <a:schemeClr val="bg1"/>
                </a:solidFill>
              </a:rPr>
              <a:t>. The issue is mainly relevant to students and lecturers, since both groups rely on online systems in universities </a:t>
            </a:r>
            <a:r>
              <a:rPr lang="en-GB" sz="2400" i="1" dirty="0">
                <a:solidFill>
                  <a:schemeClr val="bg1"/>
                </a:solidFill>
              </a:rPr>
              <a:t>(Citation)</a:t>
            </a:r>
            <a:r>
              <a:rPr lang="en-ZA" sz="2400" i="1" dirty="0">
                <a:solidFill>
                  <a:schemeClr val="bg1"/>
                </a:solidFill>
              </a:rPr>
              <a:t>. If the problem continues, students may remain frustrated and universities may not get the full value from their digital learning systems</a:t>
            </a:r>
            <a:r>
              <a:rPr lang="en-GB" sz="2200" i="1" dirty="0">
                <a:solidFill>
                  <a:schemeClr val="bg1"/>
                </a:solidFill>
              </a:rPr>
              <a:t> (Citation).”</a:t>
            </a:r>
          </a:p>
          <a:p>
            <a:endParaRPr lang="en-GB" b="1" dirty="0">
              <a:solidFill>
                <a:schemeClr val="bg1"/>
              </a:solidFill>
            </a:endParaRPr>
          </a:p>
          <a:p>
            <a:r>
              <a:rPr lang="en-GB" sz="2000" b="1" dirty="0">
                <a:solidFill>
                  <a:schemeClr val="bg1"/>
                </a:solidFill>
              </a:rPr>
              <a:t>Why this is average…</a:t>
            </a:r>
          </a:p>
          <a:p>
            <a:pPr lvl="0" eaLnBrk="0" fontAlgn="base" hangingPunct="0">
              <a:spcBef>
                <a:spcPct val="0"/>
              </a:spcBef>
              <a:spcAft>
                <a:spcPct val="0"/>
              </a:spcAft>
              <a:buFontTx/>
              <a:buChar char="•"/>
            </a:pPr>
            <a:r>
              <a:rPr lang="en-US" altLang="en-US" sz="2000" dirty="0">
                <a:solidFill>
                  <a:schemeClr val="bg1"/>
                </a:solidFill>
              </a:rPr>
              <a:t>The paragraph contains all four elements, but they are general rather than sharply defined.</a:t>
            </a:r>
          </a:p>
          <a:p>
            <a:pPr lvl="0" eaLnBrk="0" fontAlgn="base" hangingPunct="0">
              <a:spcBef>
                <a:spcPct val="0"/>
              </a:spcBef>
              <a:spcAft>
                <a:spcPct val="0"/>
              </a:spcAft>
              <a:buFontTx/>
              <a:buChar char="•"/>
            </a:pPr>
            <a:r>
              <a:rPr lang="en-US" altLang="en-US" sz="2000" dirty="0">
                <a:solidFill>
                  <a:schemeClr val="bg1"/>
                </a:solidFill>
              </a:rPr>
              <a:t>The problem is present, but it is vague because “struggle to use them effectively” is not very specific.</a:t>
            </a:r>
          </a:p>
          <a:p>
            <a:pPr lvl="0" eaLnBrk="0" fontAlgn="base" hangingPunct="0">
              <a:spcBef>
                <a:spcPct val="0"/>
              </a:spcBef>
              <a:spcAft>
                <a:spcPct val="0"/>
              </a:spcAft>
              <a:buFontTx/>
              <a:buChar char="•"/>
            </a:pPr>
            <a:r>
              <a:rPr lang="en-US" altLang="en-US" sz="2000" dirty="0">
                <a:solidFill>
                  <a:schemeClr val="bg1"/>
                </a:solidFill>
              </a:rPr>
              <a:t>The significance is mentioned, but not strongly justified.</a:t>
            </a:r>
          </a:p>
          <a:p>
            <a:pPr lvl="0" eaLnBrk="0" fontAlgn="base" hangingPunct="0">
              <a:spcBef>
                <a:spcPct val="0"/>
              </a:spcBef>
              <a:spcAft>
                <a:spcPct val="0"/>
              </a:spcAft>
              <a:buFontTx/>
              <a:buChar char="•"/>
            </a:pPr>
            <a:r>
              <a:rPr lang="en-US" altLang="en-US" sz="2000" dirty="0">
                <a:solidFill>
                  <a:schemeClr val="bg1"/>
                </a:solidFill>
              </a:rPr>
              <a:t>The stakeholders are identified, but only briefly.</a:t>
            </a:r>
          </a:p>
          <a:p>
            <a:pPr lvl="0" eaLnBrk="0" fontAlgn="base" hangingPunct="0">
              <a:spcBef>
                <a:spcPct val="0"/>
              </a:spcBef>
              <a:spcAft>
                <a:spcPct val="0"/>
              </a:spcAft>
              <a:buFontTx/>
              <a:buChar char="•"/>
            </a:pPr>
            <a:r>
              <a:rPr lang="en-US" altLang="en-US" sz="2000" dirty="0">
                <a:solidFill>
                  <a:schemeClr val="bg1"/>
                </a:solidFill>
              </a:rPr>
              <a:t>The consequences are present, but they are broad and not especially urgent.</a:t>
            </a:r>
          </a:p>
          <a:p>
            <a:pPr marL="342900" indent="-342900">
              <a:lnSpc>
                <a:spcPct val="90000"/>
              </a:lnSpc>
              <a:spcAft>
                <a:spcPts val="800"/>
              </a:spcAft>
              <a:buFont typeface="Arial" panose="020B0604020202020204" pitchFamily="34" charset="0"/>
              <a:buChar char="•"/>
            </a:pPr>
            <a:endParaRPr lang="en-US" sz="2000" spc="86" dirty="0">
              <a:solidFill>
                <a:schemeClr val="bg1"/>
              </a:solidFill>
            </a:endParaRPr>
          </a:p>
          <a:p>
            <a:pPr marL="800100" lvl="1" indent="-342900">
              <a:lnSpc>
                <a:spcPct val="90000"/>
              </a:lnSpc>
              <a:spcAft>
                <a:spcPts val="800"/>
              </a:spcAft>
              <a:buFont typeface="Arial" panose="020B0604020202020204" pitchFamily="34" charset="0"/>
              <a:buChar char="•"/>
            </a:pPr>
            <a:endParaRPr lang="en-US" sz="2000" spc="86" dirty="0">
              <a:solidFill>
                <a:schemeClr val="bg1"/>
              </a:solidFill>
            </a:endParaRPr>
          </a:p>
        </p:txBody>
      </p:sp>
    </p:spTree>
    <p:extLst>
      <p:ext uri="{BB962C8B-B14F-4D97-AF65-F5344CB8AC3E}">
        <p14:creationId xmlns:p14="http://schemas.microsoft.com/office/powerpoint/2010/main" val="1715460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a:extLst>
            <a:ext uri="{FF2B5EF4-FFF2-40B4-BE49-F238E27FC236}">
              <a16:creationId xmlns:a16="http://schemas.microsoft.com/office/drawing/2014/main" id="{A4CDE0F6-4594-B786-DD28-959E6B191AE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82C7718-6454-EF3F-B583-891F8A593C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E9B164A3-0046-D2B3-7EEF-7F23C268826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84879" y="5550774"/>
            <a:ext cx="1489182" cy="1661099"/>
            <a:chOff x="9731107" y="5203828"/>
            <a:chExt cx="1861478" cy="1557272"/>
          </a:xfrm>
          <a:solidFill>
            <a:schemeClr val="bg1"/>
          </a:solidFill>
        </p:grpSpPr>
        <p:sp>
          <p:nvSpPr>
            <p:cNvPr id="11" name="Freeform: Shape 10">
              <a:extLst>
                <a:ext uri="{FF2B5EF4-FFF2-40B4-BE49-F238E27FC236}">
                  <a16:creationId xmlns:a16="http://schemas.microsoft.com/office/drawing/2014/main" id="{2B97BD0B-D129-2C0A-AAFE-26E6B595E3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6D6B7E1F-FA6F-52E6-85E6-96034B990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ECF50C57-3AA7-829A-54C1-6B69A8677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8FD29E4-1B04-5EE4-CD43-44CE448F9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41A011A-6CEF-B12A-524B-D5FC6AB905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A90D062-5827-E961-5D0F-FEA7BDA04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E962D95-B5BC-0556-9D9E-37634B736F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D4E0C3A-6697-CF2E-FA73-80803CE70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FA6234F-8140-4F21-532A-2E6F53CFC1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B809986-A0A3-CA1A-2F0D-5BFF55E710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A01E44D-8CD4-A2D0-6647-73B9E2DC8D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61CD259-CF78-3D2C-9610-E5E34EC619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A211A73-33B3-D528-F3A9-9FB638D2F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00CD678-59BC-114C-2FD6-07731861D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F929777-3058-F11E-2312-E67017F7E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34C10E1-3023-3B24-E0E8-60F71FD819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10B138D1-E0D4-E21F-6B34-E4C4791E6F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1E32116-9091-161E-0D51-843D4A2672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572ADD87-E32A-35D9-F56D-9A1AFAFD84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313895AA-3D8C-DA9E-9040-20D676C65A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6DF6B6D-C34C-BF67-4470-D3C179F09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D19E808D-94B6-2A84-1B09-FB6780616A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918A52E7-8447-5CD6-BF4C-6E4B3BE9B8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CE834BD-CC9F-8E8E-565C-5A496EEF70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4B6E223-A7E0-2285-18E0-F2A8F338F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2714693-BB38-AF1E-69B3-9862A472D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669C681-46A0-B6AB-684C-582E2E3612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F3BCFE1C-94EA-5F55-7ECA-23FE5DDB3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B6EB79D-3B8E-0729-0C27-6915ECBC3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B44D8BA-C247-651B-9147-397E44B12A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B5D469AE-7A89-BC61-609D-E995E5CFD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F1FB3096-2120-F279-F36A-D3719BDC1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AB320836-97EE-6568-ECB3-6C5D21E2D0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3421B508-FAFE-F7D8-BB8E-2FB5D9294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EE58069-8605-E3A3-7D8D-96026BF9D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E5A45DF4-C486-4901-71D0-D795AC290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3F5ABCA-B92E-D16A-84C2-B3011B1C3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FE2B9C4-7542-A2ED-3033-7E04E1AC0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10B4ED0C-F499-0B31-6208-EBFE398A83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DAB4721-49D2-E54A-591E-17A1BE041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4463C40F-9CC3-10AB-82B7-F810C0BF65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6E1251BE-F370-0B00-4335-BDDA0D7DE1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EA60880-F81C-D314-61A5-BC9A67264D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89C906F9-76B3-56B3-C7D6-8E99F8F95D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F142E332-A17E-44E0-E1F9-1DF899A60C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2D1508C8-9C38-B39C-F81E-C93407D1A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A785BFE9-D27B-851B-15D1-8CFE22CC54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CF4A48E-AFA9-C1B1-D050-706DE50AF9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8FD850D0-AD8B-8AF6-1807-050DABFD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9D894433-EE21-4BCF-9D72-D32233121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1337F52B-0877-81D5-6365-957968C154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C952FB66-7E47-8FA6-DB10-D90944275E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8A98024A-2F1E-352B-7148-CF1BDB7B53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5C70CE18-66F0-6C6F-81CC-7A1F1F078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C7F43CC2-4A5E-ED18-FC74-2C2C9B71C8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B1AB070-5B2D-1E32-3D2B-69FA3F4274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1536049C-CFC1-585A-2484-B17D0A3CC7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F3FBAF6-8787-4A09-5406-A468E7294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62D43FE-A35E-7415-3371-E72C92195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16022D80-D1F6-02F7-A72A-62571C77DD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8EC044FB-9C5C-C214-8A2E-9576B970F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1B7CA56C-4EA2-9FCF-C6F7-FBFE02A17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6D6FD6D8-F0B6-C72D-0E43-93E94D290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1BDD8BCF-3A07-02C8-1B6C-CBDAA9F9D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640309B9-139E-15D6-6D6F-3124B66DE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54490240-1A26-B662-FCD5-42BAFB562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CE201720-529C-8593-7BF8-5E9E18C31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89DCBF69-0A03-78A2-3877-B83A5A4DA9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3AFAC12-3EC4-2809-9427-5D549ED6B2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A13DB39C-788A-0CDA-856E-F290706E6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C6616EF-D90E-C21C-F60A-68B7CD972E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CE0B7A22-8D7B-E043-4076-11B5B9A770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F6D101A5-C2AD-F0C2-E245-645731920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5406FD48-2290-7340-6E8C-1DFFE6530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7200FAE3-B7F0-DCCF-E3FB-8629AF1D5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A7E170A8-8A5B-2528-72E6-E68FD9D0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1375ED7-FC71-EB4E-FAAA-47B8F0E5A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6C4C651D-2A44-95B0-0150-2C20BF99C1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BB6C48B-E8A1-4C3A-04C6-7CEDBFDC5F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DF9C95EA-2BE5-015F-7A11-30A917237C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6ACEDFE9-64E9-8240-F06C-9D033BA813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64221952-D7F7-C634-3B90-22E593F8DD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6B4D5F38-C7D9-E47D-6213-890A202ACF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7010A763-880A-FAF2-2FFA-F87678200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C9EF72E-C1F3-1B29-D5B7-B9A8A6621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97E8D0EA-6CA1-D441-06B2-DD5F576A93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28F1F215-887E-DA99-7E31-024BDA964F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AD2EF57F-2B86-8B49-CD1E-9A9486B89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A318EB0F-C59F-3CAB-0380-C9D702C5B0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7296157-B741-EDD0-B2DD-00F6CD5913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2AEF4E64-D3EC-89CC-5CB2-AE5932518D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C6428DFE-E52F-3F7E-571A-612945D594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DFF82215-0142-840A-B054-5F4750AC27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D086A2D-CED3-F466-AEAB-CFA0D09A3B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DD64CBA6-2962-A72D-7B11-35A596EDB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FAC7E2C1-C08A-D4FD-AF8C-706F4F8A8D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6226A065-30AC-CE9E-18E9-2F7891C486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3F8D174C-7A4A-49A0-276A-BA0C5D598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55A3F684-435B-C2C7-D5CB-513227074A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D1B74217-3485-FCFA-01BB-7F2CE69C3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A30B9A0E-CA52-AB23-2592-DFACA7347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9E988118-D582-BD7B-F043-8AE47FDACC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9B78B520-18AA-6F0C-AC1D-56CF4B7CC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48E897ED-32A6-0D82-3EEF-D6756C8A2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6D47F646-0A36-85F7-F764-7C16587BA1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AE865F5E-96C4-252E-42B4-25C1D8312E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E5ED0E42-79F4-C15A-978E-111AE54D5E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539C30D8-5C05-26C5-24BC-C0370842D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350D2A33-BF14-7DF4-F7AE-DA1796914A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DC1A0722-D58D-6629-1386-0C74270925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3DAE8FEC-F12B-FD92-2332-9005ECA5F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2B70CEEB-5A66-D9D5-591B-46F13A354A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9A1F17DD-AB6C-6FD3-30F7-14DD8DE45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A59E66CF-6310-F29F-15C8-E8FFC1C43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94B651CE-0134-61C2-5D24-396B0533FA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5DED307-00C9-5FB1-E2D8-FD26069DFF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518F307-A339-B023-9274-7229A204F2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74F9EF2B-B0ED-6D06-978B-96CAECB510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FB42F8D1-F013-61BD-677D-4AD9F632D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709923CC-8039-DFD4-9C62-98C62F8A4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2C5B5E7A-0952-3FC9-B8AA-7E23C6847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FFEE575C-2F06-A3BF-27BE-679818C7CC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45D6F3EA-F2F7-F61B-413E-E4A4A26A4A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8113CC3F-24EC-D048-F112-58138A86A1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4E22433-6DB8-4EA7-B2E4-B876D3110D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151E3957-B3ED-1793-8AA9-89F1319DE8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B710C261-63A0-4988-2D27-F546922B7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37C4EA25-3FB3-A98A-C4BF-150FD7E29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63E59EFF-D20C-C88C-C2DF-AB9B93A27D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73D1E18D-5483-9BD3-07A2-EE43C46574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E877DF29-1058-CF15-4012-E9D7FE10E5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1D39C632-5B5A-4CC4-93E4-1102A60F57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D69A9B1-5F24-EE85-1148-FB88604BA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6D3A141-CAB8-628A-D986-11ED7CE27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5DEEE3C6-45ED-D6AE-4589-AEF8A25DB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6A790380-71BF-65DB-B5D6-5DC63DDD4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2E805D-5FD0-6B57-1C7E-C14AB3211E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540268BD-7F90-F985-2F7E-4C53D3E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CE5D43B6-8FCB-DCC5-B8A5-2D8A69312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9F88B6EA-31BE-2998-FBA1-D58FD8F1A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061F461C-4078-D1FF-4730-AEFEF9B038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BA749819-E23F-BD4F-80B2-EC8FA6B2AF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914B2EBB-A079-8AF7-822A-79F06EE8F0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grpSp>
        <p:nvGrpSpPr>
          <p:cNvPr id="155" name="Graphic 190">
            <a:extLst>
              <a:ext uri="{FF2B5EF4-FFF2-40B4-BE49-F238E27FC236}">
                <a16:creationId xmlns:a16="http://schemas.microsoft.com/office/drawing/2014/main" id="{13BCCDEB-C91B-E59E-A4FC-858ED947AF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3224" y="774346"/>
            <a:ext cx="1279064" cy="566712"/>
            <a:chOff x="2504802" y="1755501"/>
            <a:chExt cx="1598829" cy="531293"/>
          </a:xfrm>
          <a:solidFill>
            <a:schemeClr val="bg1"/>
          </a:solidFill>
        </p:grpSpPr>
        <p:sp>
          <p:nvSpPr>
            <p:cNvPr id="156" name="Freeform: Shape 155">
              <a:extLst>
                <a:ext uri="{FF2B5EF4-FFF2-40B4-BE49-F238E27FC236}">
                  <a16:creationId xmlns:a16="http://schemas.microsoft.com/office/drawing/2014/main" id="{32582185-4500-06F4-CEE0-4148F7600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5D1A04A5-DD69-F535-6C6B-A29697A908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4C81288C-9B9B-EB13-91DE-9931A8F4F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7484CB5C-70E4-BA07-DA8E-B587FC9AF7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3006" y="336988"/>
            <a:ext cx="745760" cy="99434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 name="TextBox 2">
            <a:extLst>
              <a:ext uri="{FF2B5EF4-FFF2-40B4-BE49-F238E27FC236}">
                <a16:creationId xmlns:a16="http://schemas.microsoft.com/office/drawing/2014/main" id="{AB09B974-DF6F-AC2B-2F37-D4CB0762A22B}"/>
              </a:ext>
            </a:extLst>
          </p:cNvPr>
          <p:cNvSpPr txBox="1"/>
          <p:nvPr/>
        </p:nvSpPr>
        <p:spPr>
          <a:xfrm>
            <a:off x="228600" y="152400"/>
            <a:ext cx="9448800" cy="6934200"/>
          </a:xfrm>
          <a:prstGeom prst="rect">
            <a:avLst/>
          </a:prstGeom>
          <a:solidFill>
            <a:schemeClr val="tx1"/>
          </a:solidFill>
        </p:spPr>
        <p:txBody>
          <a:bodyPr vert="horz" lIns="91440" tIns="45720" rIns="91440" bIns="45720" rtlCol="0">
            <a:noAutofit/>
          </a:bodyPr>
          <a:lstStyle/>
          <a:p>
            <a:pPr>
              <a:lnSpc>
                <a:spcPct val="90000"/>
              </a:lnSpc>
              <a:spcAft>
                <a:spcPts val="800"/>
              </a:spcAft>
            </a:pPr>
            <a:r>
              <a:rPr lang="en-US" sz="2800" b="1" spc="86" dirty="0">
                <a:solidFill>
                  <a:schemeClr val="bg1"/>
                </a:solidFill>
              </a:rPr>
              <a:t>Problem Statement Examples (Weak):</a:t>
            </a:r>
          </a:p>
          <a:p>
            <a:pPr>
              <a:lnSpc>
                <a:spcPct val="90000"/>
              </a:lnSpc>
              <a:spcAft>
                <a:spcPts val="800"/>
              </a:spcAft>
            </a:pPr>
            <a:endParaRPr lang="en-US" sz="2300" spc="86" dirty="0">
              <a:solidFill>
                <a:schemeClr val="bg1"/>
              </a:solidFill>
            </a:endParaRPr>
          </a:p>
          <a:p>
            <a:pPr algn="ctr"/>
            <a:r>
              <a:rPr lang="en-GB" sz="2200" i="1" dirty="0">
                <a:solidFill>
                  <a:schemeClr val="bg1"/>
                </a:solidFill>
              </a:rPr>
              <a:t>“</a:t>
            </a:r>
            <a:r>
              <a:rPr lang="en-ZA" sz="2400" i="1" dirty="0">
                <a:solidFill>
                  <a:schemeClr val="bg1"/>
                </a:solidFill>
              </a:rPr>
              <a:t>Technology is very important today, and many organisations are using digital systems. It is a problem when people do not always use technology properly. This affects many people in society, and if the issue is not solved, things may become difficult in the future.”</a:t>
            </a:r>
            <a:endParaRPr lang="en-GB" sz="2200" i="1" dirty="0">
              <a:solidFill>
                <a:schemeClr val="bg1"/>
              </a:solidFill>
            </a:endParaRPr>
          </a:p>
          <a:p>
            <a:endParaRPr lang="en-GB" b="1" dirty="0">
              <a:solidFill>
                <a:schemeClr val="bg1"/>
              </a:solidFill>
            </a:endParaRPr>
          </a:p>
          <a:p>
            <a:r>
              <a:rPr lang="en-GB" sz="2000" b="1" dirty="0">
                <a:solidFill>
                  <a:schemeClr val="bg1"/>
                </a:solidFill>
              </a:rPr>
              <a:t>Why this is weak…</a:t>
            </a:r>
          </a:p>
          <a:p>
            <a:endParaRPr lang="en-GB" sz="2000" b="1" dirty="0">
              <a:solidFill>
                <a:schemeClr val="bg1"/>
              </a:solidFill>
            </a:endParaRPr>
          </a:p>
          <a:p>
            <a:pPr lvl="0" eaLnBrk="0" fontAlgn="base" hangingPunct="0">
              <a:spcBef>
                <a:spcPct val="0"/>
              </a:spcBef>
              <a:spcAft>
                <a:spcPct val="0"/>
              </a:spcAft>
              <a:buFontTx/>
              <a:buChar char="•"/>
            </a:pPr>
            <a:r>
              <a:rPr lang="en-US" altLang="en-US" sz="2000" dirty="0">
                <a:solidFill>
                  <a:schemeClr val="bg1"/>
                </a:solidFill>
              </a:rPr>
              <a:t>The problem is too vague. It does not say what technology, where, or what specific issue exists.</a:t>
            </a:r>
          </a:p>
          <a:p>
            <a:pPr lvl="0" eaLnBrk="0" fontAlgn="base" hangingPunct="0">
              <a:spcBef>
                <a:spcPct val="0"/>
              </a:spcBef>
              <a:spcAft>
                <a:spcPct val="0"/>
              </a:spcAft>
              <a:buFontTx/>
              <a:buChar char="•"/>
            </a:pPr>
            <a:r>
              <a:rPr lang="en-US" altLang="en-US" sz="2000" dirty="0">
                <a:solidFill>
                  <a:schemeClr val="bg1"/>
                </a:solidFill>
              </a:rPr>
              <a:t>The significance is generic and unsupported.</a:t>
            </a:r>
          </a:p>
          <a:p>
            <a:pPr lvl="0" eaLnBrk="0" fontAlgn="base" hangingPunct="0">
              <a:spcBef>
                <a:spcPct val="0"/>
              </a:spcBef>
              <a:spcAft>
                <a:spcPct val="0"/>
              </a:spcAft>
              <a:buFontTx/>
              <a:buChar char="•"/>
            </a:pPr>
            <a:r>
              <a:rPr lang="en-US" altLang="en-US" sz="2000" dirty="0">
                <a:solidFill>
                  <a:schemeClr val="bg1"/>
                </a:solidFill>
              </a:rPr>
              <a:t>The stakeholders are unclear because “many people in society” is too broad.</a:t>
            </a:r>
          </a:p>
          <a:p>
            <a:pPr lvl="0" eaLnBrk="0" fontAlgn="base" hangingPunct="0">
              <a:spcBef>
                <a:spcPct val="0"/>
              </a:spcBef>
              <a:spcAft>
                <a:spcPct val="0"/>
              </a:spcAft>
              <a:buFontTx/>
              <a:buChar char="•"/>
            </a:pPr>
            <a:r>
              <a:rPr lang="en-US" altLang="en-US" sz="2000" dirty="0">
                <a:solidFill>
                  <a:schemeClr val="bg1"/>
                </a:solidFill>
              </a:rPr>
              <a:t>The consequences are weak because “things may become difficult” is not specific or urgent.</a:t>
            </a:r>
          </a:p>
          <a:p>
            <a:pPr lvl="0" eaLnBrk="0" fontAlgn="base" hangingPunct="0">
              <a:spcBef>
                <a:spcPct val="0"/>
              </a:spcBef>
              <a:spcAft>
                <a:spcPct val="0"/>
              </a:spcAft>
              <a:buFontTx/>
              <a:buChar char="•"/>
            </a:pPr>
            <a:r>
              <a:rPr lang="en-US" altLang="en-US" sz="2000" dirty="0">
                <a:solidFill>
                  <a:schemeClr val="bg1"/>
                </a:solidFill>
              </a:rPr>
              <a:t>The statement does not provide a clear researchable problem and would not guide a study effectively.</a:t>
            </a:r>
          </a:p>
          <a:p>
            <a:pPr lvl="0" eaLnBrk="0" fontAlgn="base" hangingPunct="0">
              <a:spcBef>
                <a:spcPct val="0"/>
              </a:spcBef>
              <a:spcAft>
                <a:spcPct val="0"/>
              </a:spcAft>
              <a:buFontTx/>
              <a:buChar char="•"/>
            </a:pPr>
            <a:r>
              <a:rPr lang="en-US" altLang="en-US" sz="2000" dirty="0">
                <a:solidFill>
                  <a:schemeClr val="bg1"/>
                </a:solidFill>
              </a:rPr>
              <a:t>The text is not supported with credible citations to support the claims.</a:t>
            </a:r>
          </a:p>
        </p:txBody>
      </p:sp>
    </p:spTree>
    <p:extLst>
      <p:ext uri="{BB962C8B-B14F-4D97-AF65-F5344CB8AC3E}">
        <p14:creationId xmlns:p14="http://schemas.microsoft.com/office/powerpoint/2010/main" val="11314436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96C2B5-4ED4-E5E2-C59E-A41C002B1B77}"/>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F1E1E88D-F755-1E6F-69E7-515B520A69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Triangle 56">
            <a:extLst>
              <a:ext uri="{FF2B5EF4-FFF2-40B4-BE49-F238E27FC236}">
                <a16:creationId xmlns:a16="http://schemas.microsoft.com/office/drawing/2014/main" id="{C95AA5FA-70F4-5C62-E0FB-5E93AC4B1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A12602B6-7B29-44F0-E94D-BDF8348A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13D7631F-0A34-BB73-9281-59B3F52C8673}"/>
              </a:ext>
            </a:extLst>
          </p:cNvPr>
          <p:cNvSpPr txBox="1"/>
          <p:nvPr/>
        </p:nvSpPr>
        <p:spPr>
          <a:xfrm>
            <a:off x="513419" y="200478"/>
            <a:ext cx="8705234" cy="141078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kern="1200" dirty="0">
                <a:solidFill>
                  <a:schemeClr val="tx1"/>
                </a:solidFill>
                <a:latin typeface="+mj-lt"/>
                <a:ea typeface="+mj-ea"/>
                <a:cs typeface="+mj-cs"/>
              </a:rPr>
              <a:t>You try…</a:t>
            </a:r>
          </a:p>
        </p:txBody>
      </p:sp>
      <p:sp>
        <p:nvSpPr>
          <p:cNvPr id="2" name="Teardrop 1">
            <a:extLst>
              <a:ext uri="{FF2B5EF4-FFF2-40B4-BE49-F238E27FC236}">
                <a16:creationId xmlns:a16="http://schemas.microsoft.com/office/drawing/2014/main" id="{291DA750-B011-CF20-7577-A29819038F97}"/>
              </a:ext>
            </a:extLst>
          </p:cNvPr>
          <p:cNvSpPr/>
          <p:nvPr/>
        </p:nvSpPr>
        <p:spPr>
          <a:xfrm rot="19354972">
            <a:off x="6299701" y="4144197"/>
            <a:ext cx="4925191" cy="3413760"/>
          </a:xfrm>
          <a:prstGeom prst="teardrop">
            <a:avLst>
              <a:gd name="adj" fmla="val 82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7" name="TextBox 7">
            <a:extLst>
              <a:ext uri="{FF2B5EF4-FFF2-40B4-BE49-F238E27FC236}">
                <a16:creationId xmlns:a16="http://schemas.microsoft.com/office/drawing/2014/main" id="{5D167841-1E38-661C-B0F9-C74FCC86467E}"/>
              </a:ext>
            </a:extLst>
          </p:cNvPr>
          <p:cNvSpPr txBox="1"/>
          <p:nvPr/>
        </p:nvSpPr>
        <p:spPr>
          <a:xfrm>
            <a:off x="503637" y="1295401"/>
            <a:ext cx="8411763" cy="5362504"/>
          </a:xfrm>
          <a:prstGeom prst="rect">
            <a:avLst/>
          </a:prstGeom>
        </p:spPr>
        <p:txBody>
          <a:bodyPr vert="horz" lIns="91440" tIns="45720" rIns="91440" bIns="45720" rtlCol="0" anchor="t">
            <a:normAutofit lnSpcReduction="10000"/>
          </a:bodyPr>
          <a:lstStyle/>
          <a:p>
            <a:r>
              <a:rPr lang="en-ZA" sz="2000" b="1" dirty="0"/>
              <a:t>Fill in the missing words:</a:t>
            </a:r>
          </a:p>
          <a:p>
            <a:r>
              <a:rPr lang="en-ZA" sz="2000" dirty="0"/>
              <a:t>In research, a strong problem statement must be </a:t>
            </a:r>
            <a:r>
              <a:rPr lang="en-ZA" sz="2000" b="1" dirty="0"/>
              <a:t>(1) [________]</a:t>
            </a:r>
            <a:r>
              <a:rPr lang="en-ZA" sz="2000" dirty="0"/>
              <a:t> so that the reader can understand exactly what issue is being investigated, in what context, and with whom. It must also be </a:t>
            </a:r>
            <a:r>
              <a:rPr lang="en-ZA" sz="2000" b="1" dirty="0"/>
              <a:t>(2) [________]</a:t>
            </a:r>
            <a:r>
              <a:rPr lang="en-ZA" sz="2000" dirty="0"/>
              <a:t>, meaning that it can be answered using real data rather than opinion alone. Even a well-written problem may fail if it is not </a:t>
            </a:r>
            <a:r>
              <a:rPr lang="en-ZA" sz="2000" b="1" dirty="0"/>
              <a:t>(3) [________]</a:t>
            </a:r>
            <a:r>
              <a:rPr lang="en-ZA" sz="2000" dirty="0"/>
              <a:t>, because the researcher must still have the time, access, skills, and resources to complete the study. A good problem statement should also explain </a:t>
            </a:r>
            <a:r>
              <a:rPr lang="en-ZA" sz="2000" b="1" dirty="0"/>
              <a:t>(4) [________]</a:t>
            </a:r>
            <a:r>
              <a:rPr lang="en-ZA" sz="2000" dirty="0"/>
              <a:t> are affected by the issue, so that the stakeholders are clearly identified. Finally, the statement must highlight the </a:t>
            </a:r>
            <a:r>
              <a:rPr lang="en-ZA" sz="2000" b="1" dirty="0"/>
              <a:t>(5) [________]</a:t>
            </a:r>
            <a:r>
              <a:rPr lang="en-ZA" sz="2000" dirty="0"/>
              <a:t> of not addressing the issue, because this establishes the urgency and significance of the study.</a:t>
            </a:r>
          </a:p>
          <a:p>
            <a:endParaRPr lang="en-ZA" sz="2000" b="1" dirty="0"/>
          </a:p>
          <a:p>
            <a:r>
              <a:rPr lang="en-ZA" sz="2000" b="1" dirty="0"/>
              <a:t>Answer Choices:</a:t>
            </a:r>
          </a:p>
          <a:p>
            <a:pPr marL="342900" indent="-342900">
              <a:buFont typeface="Arial" panose="020B0604020202020204" pitchFamily="34" charset="0"/>
              <a:buChar char="•"/>
            </a:pPr>
            <a:r>
              <a:rPr lang="en-ZA" sz="2000" dirty="0"/>
              <a:t>bibliography </a:t>
            </a:r>
          </a:p>
          <a:p>
            <a:pPr marL="342900" indent="-342900">
              <a:buFont typeface="Arial" panose="020B0604020202020204" pitchFamily="34" charset="0"/>
              <a:buChar char="•"/>
            </a:pPr>
            <a:r>
              <a:rPr lang="en-ZA" sz="2000" dirty="0"/>
              <a:t>clear and specific</a:t>
            </a:r>
          </a:p>
          <a:p>
            <a:pPr marL="342900" indent="-342900">
              <a:buFont typeface="Arial" panose="020B0604020202020204" pitchFamily="34" charset="0"/>
              <a:buChar char="•"/>
            </a:pPr>
            <a:r>
              <a:rPr lang="en-ZA" sz="2000" dirty="0"/>
              <a:t>Feasible</a:t>
            </a:r>
          </a:p>
          <a:p>
            <a:pPr marL="342900" indent="-342900">
              <a:buFont typeface="Arial" panose="020B0604020202020204" pitchFamily="34" charset="0"/>
              <a:buChar char="•"/>
            </a:pPr>
            <a:r>
              <a:rPr lang="en-ZA" sz="2000" dirty="0"/>
              <a:t>consequences</a:t>
            </a:r>
          </a:p>
          <a:p>
            <a:pPr marL="342900" indent="-342900">
              <a:buFont typeface="Arial" panose="020B0604020202020204" pitchFamily="34" charset="0"/>
              <a:buChar char="•"/>
            </a:pPr>
            <a:r>
              <a:rPr lang="en-ZA" sz="2000" dirty="0"/>
              <a:t>who</a:t>
            </a:r>
          </a:p>
          <a:p>
            <a:pPr marL="342900" indent="-342900">
              <a:buFont typeface="Arial" panose="020B0604020202020204" pitchFamily="34" charset="0"/>
              <a:buChar char="•"/>
            </a:pPr>
            <a:r>
              <a:rPr lang="en-ZA" sz="2000" dirty="0"/>
              <a:t>researchable</a:t>
            </a:r>
          </a:p>
          <a:p>
            <a:pPr marL="342900" indent="-342900">
              <a:buFont typeface="Arial" panose="020B0604020202020204" pitchFamily="34" charset="0"/>
              <a:buChar char="•"/>
            </a:pPr>
            <a:endParaRPr lang="en-ZA" sz="2000" dirty="0"/>
          </a:p>
          <a:p>
            <a:pPr marL="342900" indent="-342900">
              <a:buFont typeface="Arial" panose="020B0604020202020204" pitchFamily="34" charset="0"/>
              <a:buChar char="•"/>
            </a:pPr>
            <a:endParaRPr lang="en-ZA" sz="2000" dirty="0"/>
          </a:p>
          <a:p>
            <a:endParaRPr lang="en-ZA" sz="2000" dirty="0"/>
          </a:p>
        </p:txBody>
      </p:sp>
    </p:spTree>
    <p:extLst>
      <p:ext uri="{BB962C8B-B14F-4D97-AF65-F5344CB8AC3E}">
        <p14:creationId xmlns:p14="http://schemas.microsoft.com/office/powerpoint/2010/main" val="29655919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10833C-C669-4281-81EB-ECE5EDF10BFF}"/>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5672F892-7934-482E-FE22-704EEC51C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Triangle 56">
            <a:extLst>
              <a:ext uri="{FF2B5EF4-FFF2-40B4-BE49-F238E27FC236}">
                <a16:creationId xmlns:a16="http://schemas.microsoft.com/office/drawing/2014/main" id="{4E423252-7BD6-F995-B654-2216108B0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0EFB64F2-CAB4-078D-CA41-BEA4B08EA3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257C0C65-B600-ACE4-758E-454D86936A52}"/>
              </a:ext>
            </a:extLst>
          </p:cNvPr>
          <p:cNvSpPr txBox="1"/>
          <p:nvPr/>
        </p:nvSpPr>
        <p:spPr>
          <a:xfrm>
            <a:off x="513419" y="200478"/>
            <a:ext cx="8705234" cy="141078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kern="1200" dirty="0">
                <a:solidFill>
                  <a:schemeClr val="tx1"/>
                </a:solidFill>
                <a:latin typeface="+mj-lt"/>
                <a:ea typeface="+mj-ea"/>
                <a:cs typeface="+mj-cs"/>
              </a:rPr>
              <a:t>Answer…</a:t>
            </a:r>
          </a:p>
        </p:txBody>
      </p:sp>
      <p:sp>
        <p:nvSpPr>
          <p:cNvPr id="2" name="Teardrop 1">
            <a:extLst>
              <a:ext uri="{FF2B5EF4-FFF2-40B4-BE49-F238E27FC236}">
                <a16:creationId xmlns:a16="http://schemas.microsoft.com/office/drawing/2014/main" id="{01C8F1EF-CFAE-BA05-F036-25893243D815}"/>
              </a:ext>
            </a:extLst>
          </p:cNvPr>
          <p:cNvSpPr/>
          <p:nvPr/>
        </p:nvSpPr>
        <p:spPr>
          <a:xfrm rot="19354972">
            <a:off x="6299701" y="4144197"/>
            <a:ext cx="4925191" cy="3413760"/>
          </a:xfrm>
          <a:prstGeom prst="teardrop">
            <a:avLst>
              <a:gd name="adj" fmla="val 82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7" name="TextBox 7">
            <a:extLst>
              <a:ext uri="{FF2B5EF4-FFF2-40B4-BE49-F238E27FC236}">
                <a16:creationId xmlns:a16="http://schemas.microsoft.com/office/drawing/2014/main" id="{9A8702E6-AB9D-953A-67AD-94D14F9E1228}"/>
              </a:ext>
            </a:extLst>
          </p:cNvPr>
          <p:cNvSpPr txBox="1"/>
          <p:nvPr/>
        </p:nvSpPr>
        <p:spPr>
          <a:xfrm>
            <a:off x="503637" y="1295401"/>
            <a:ext cx="8411763" cy="5362504"/>
          </a:xfrm>
          <a:prstGeom prst="rect">
            <a:avLst/>
          </a:prstGeom>
        </p:spPr>
        <p:txBody>
          <a:bodyPr vert="horz" lIns="91440" tIns="45720" rIns="91440" bIns="45720" rtlCol="0" anchor="t">
            <a:normAutofit lnSpcReduction="10000"/>
          </a:bodyPr>
          <a:lstStyle/>
          <a:p>
            <a:r>
              <a:rPr lang="en-ZA" sz="2000" b="1" dirty="0"/>
              <a:t>Fill in the missing words:</a:t>
            </a:r>
          </a:p>
          <a:p>
            <a:r>
              <a:rPr lang="en-ZA" sz="2000" dirty="0"/>
              <a:t>In research, a strong problem statement must be </a:t>
            </a:r>
            <a:r>
              <a:rPr lang="en-ZA" sz="2000" b="1" dirty="0"/>
              <a:t>(1) [clear and specific] </a:t>
            </a:r>
            <a:r>
              <a:rPr lang="en-ZA" sz="2000" dirty="0"/>
              <a:t>so that the reader can understand exactly what issue is being investigated, in what context, and with whom. It must also be </a:t>
            </a:r>
            <a:r>
              <a:rPr lang="en-ZA" sz="2000" b="1" dirty="0"/>
              <a:t>(2) [researchable]</a:t>
            </a:r>
            <a:r>
              <a:rPr lang="en-ZA" sz="2000" dirty="0"/>
              <a:t>, meaning that it can be answered using real data rather than opinion alone. Even a well-written problem may fail if it is not </a:t>
            </a:r>
            <a:r>
              <a:rPr lang="en-ZA" sz="2000" b="1" dirty="0"/>
              <a:t>(3) [feasible] </a:t>
            </a:r>
            <a:r>
              <a:rPr lang="en-ZA" sz="2000" dirty="0"/>
              <a:t>because the researcher must still have the time, access, skills, and resources to complete the study. A good problem statement should also explain </a:t>
            </a:r>
            <a:r>
              <a:rPr lang="en-ZA" sz="2000" b="1" dirty="0"/>
              <a:t>(4) [who]</a:t>
            </a:r>
            <a:r>
              <a:rPr lang="en-ZA" sz="2000" dirty="0"/>
              <a:t> are affected by the issue, so that the stakeholders are clearly identified. Finally, the statement must highlight the </a:t>
            </a:r>
            <a:r>
              <a:rPr lang="en-ZA" sz="2000" b="1" dirty="0"/>
              <a:t>(5) [consequences]</a:t>
            </a:r>
            <a:r>
              <a:rPr lang="en-ZA" sz="2000" dirty="0"/>
              <a:t> of not addressing the issue, because this establishes the urgency and significance of the study.</a:t>
            </a:r>
          </a:p>
          <a:p>
            <a:endParaRPr lang="en-ZA" sz="2000" b="1" dirty="0"/>
          </a:p>
          <a:p>
            <a:r>
              <a:rPr lang="en-ZA" sz="2000" b="1" dirty="0"/>
              <a:t>Answer Choices:</a:t>
            </a:r>
          </a:p>
          <a:p>
            <a:pPr marL="342900" indent="-342900">
              <a:buFont typeface="Arial" panose="020B0604020202020204" pitchFamily="34" charset="0"/>
              <a:buChar char="•"/>
            </a:pPr>
            <a:r>
              <a:rPr lang="en-ZA" sz="2000" dirty="0"/>
              <a:t>bibliography </a:t>
            </a:r>
          </a:p>
          <a:p>
            <a:pPr marL="342900" indent="-342900">
              <a:buFont typeface="Arial" panose="020B0604020202020204" pitchFamily="34" charset="0"/>
              <a:buChar char="•"/>
            </a:pPr>
            <a:r>
              <a:rPr lang="en-ZA" sz="2000" dirty="0"/>
              <a:t>clear and specific</a:t>
            </a:r>
          </a:p>
          <a:p>
            <a:pPr marL="342900" indent="-342900">
              <a:buFont typeface="Arial" panose="020B0604020202020204" pitchFamily="34" charset="0"/>
              <a:buChar char="•"/>
            </a:pPr>
            <a:r>
              <a:rPr lang="en-ZA" sz="2000" dirty="0"/>
              <a:t>feasible</a:t>
            </a:r>
          </a:p>
          <a:p>
            <a:pPr marL="342900" indent="-342900">
              <a:buFont typeface="Arial" panose="020B0604020202020204" pitchFamily="34" charset="0"/>
              <a:buChar char="•"/>
            </a:pPr>
            <a:r>
              <a:rPr lang="en-ZA" sz="2000" dirty="0"/>
              <a:t>consequences </a:t>
            </a:r>
          </a:p>
          <a:p>
            <a:pPr marL="342900" indent="-342900">
              <a:buFont typeface="Arial" panose="020B0604020202020204" pitchFamily="34" charset="0"/>
              <a:buChar char="•"/>
            </a:pPr>
            <a:r>
              <a:rPr lang="en-ZA" sz="2000" dirty="0"/>
              <a:t>who</a:t>
            </a:r>
          </a:p>
          <a:p>
            <a:pPr marL="342900" indent="-342900">
              <a:buFont typeface="Arial" panose="020B0604020202020204" pitchFamily="34" charset="0"/>
              <a:buChar char="•"/>
            </a:pPr>
            <a:r>
              <a:rPr lang="en-ZA" sz="2000" dirty="0"/>
              <a:t>researchable</a:t>
            </a:r>
          </a:p>
          <a:p>
            <a:pPr marL="342900" indent="-342900">
              <a:buFont typeface="Arial" panose="020B0604020202020204" pitchFamily="34" charset="0"/>
              <a:buChar char="•"/>
            </a:pPr>
            <a:endParaRPr lang="en-ZA" sz="2000" dirty="0"/>
          </a:p>
          <a:p>
            <a:pPr marL="342900" indent="-342900">
              <a:buFont typeface="Arial" panose="020B0604020202020204" pitchFamily="34" charset="0"/>
              <a:buChar char="•"/>
            </a:pPr>
            <a:endParaRPr lang="en-ZA" sz="2000" dirty="0"/>
          </a:p>
          <a:p>
            <a:endParaRPr lang="en-ZA" sz="2000" dirty="0"/>
          </a:p>
        </p:txBody>
      </p:sp>
    </p:spTree>
    <p:extLst>
      <p:ext uri="{BB962C8B-B14F-4D97-AF65-F5344CB8AC3E}">
        <p14:creationId xmlns:p14="http://schemas.microsoft.com/office/powerpoint/2010/main" val="3436119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64D612-69CF-58F2-FB70-DA1392EF8D66}"/>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95F10048-433A-8F64-C49B-2A8D8EF4C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Triangle 56">
            <a:extLst>
              <a:ext uri="{FF2B5EF4-FFF2-40B4-BE49-F238E27FC236}">
                <a16:creationId xmlns:a16="http://schemas.microsoft.com/office/drawing/2014/main" id="{891116F7-4320-A436-9EA7-AE92C0AEE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4EF82263-B883-17D8-8613-2ACACCEEA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AD52E6F7-54B8-F837-DA07-FC285A067A33}"/>
              </a:ext>
            </a:extLst>
          </p:cNvPr>
          <p:cNvSpPr txBox="1"/>
          <p:nvPr/>
        </p:nvSpPr>
        <p:spPr>
          <a:xfrm>
            <a:off x="513419" y="200478"/>
            <a:ext cx="8705234" cy="141078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kern="1200" dirty="0">
                <a:solidFill>
                  <a:schemeClr val="tx1"/>
                </a:solidFill>
                <a:latin typeface="+mj-lt"/>
                <a:ea typeface="+mj-ea"/>
                <a:cs typeface="+mj-cs"/>
              </a:rPr>
              <a:t>You try…</a:t>
            </a:r>
          </a:p>
        </p:txBody>
      </p:sp>
      <p:sp>
        <p:nvSpPr>
          <p:cNvPr id="7" name="TextBox 7">
            <a:extLst>
              <a:ext uri="{FF2B5EF4-FFF2-40B4-BE49-F238E27FC236}">
                <a16:creationId xmlns:a16="http://schemas.microsoft.com/office/drawing/2014/main" id="{5B5B16D8-73EE-6B7D-0CD1-C18848536F21}"/>
              </a:ext>
            </a:extLst>
          </p:cNvPr>
          <p:cNvSpPr txBox="1"/>
          <p:nvPr/>
        </p:nvSpPr>
        <p:spPr>
          <a:xfrm>
            <a:off x="503637" y="1295401"/>
            <a:ext cx="8411763" cy="5362504"/>
          </a:xfrm>
          <a:prstGeom prst="rect">
            <a:avLst/>
          </a:prstGeom>
        </p:spPr>
        <p:txBody>
          <a:bodyPr vert="horz" lIns="91440" tIns="45720" rIns="91440" bIns="45720" rtlCol="0" anchor="t">
            <a:normAutofit/>
          </a:bodyPr>
          <a:lstStyle/>
          <a:p>
            <a:r>
              <a:rPr lang="en-ZA" sz="2000" b="1" dirty="0"/>
              <a:t>Match each research-problem component to its most appropriate function:</a:t>
            </a:r>
          </a:p>
          <a:p>
            <a:endParaRPr lang="en-ZA" sz="2000" b="1" dirty="0"/>
          </a:p>
          <a:p>
            <a:r>
              <a:rPr lang="en-ZA" sz="2000" dirty="0"/>
              <a:t>A student writes the following problem statement for an ICT study:</a:t>
            </a:r>
          </a:p>
          <a:p>
            <a:endParaRPr lang="en-ZA" sz="2000" b="1" dirty="0"/>
          </a:p>
          <a:p>
            <a:r>
              <a:rPr lang="en-ZA" sz="2000" i="1" dirty="0"/>
              <a:t>“Despite the growing use of online banking platforms, many elderly users in South Africa remain reluctant to adopt these services because of low digital confidence, fear of fraud, and difficulty understanding mobile interfaces. This is a significant problem because digital banking increasingly affects financial inclusion, convenience, and access to essential services. The issue affects elderly users directly, but also family members, banks, and government agencies concerned with digital inclusion. If the issue is not addressed, elderly citizens may remain financially excluded, become more dependent on others, and face a higher risk of exploitation.”</a:t>
            </a:r>
          </a:p>
          <a:p>
            <a:pPr marL="342900" indent="-342900">
              <a:buFont typeface="Arial" panose="020B0604020202020204" pitchFamily="34" charset="0"/>
              <a:buChar char="•"/>
            </a:pPr>
            <a:endParaRPr lang="en-ZA" sz="2000" dirty="0"/>
          </a:p>
          <a:p>
            <a:pPr marL="342900" indent="-342900">
              <a:buFont typeface="Arial" panose="020B0604020202020204" pitchFamily="34" charset="0"/>
              <a:buChar char="•"/>
            </a:pPr>
            <a:endParaRPr lang="en-ZA" sz="2000" dirty="0"/>
          </a:p>
          <a:p>
            <a:endParaRPr lang="en-ZA" sz="2000" dirty="0"/>
          </a:p>
        </p:txBody>
      </p:sp>
    </p:spTree>
    <p:extLst>
      <p:ext uri="{BB962C8B-B14F-4D97-AF65-F5344CB8AC3E}">
        <p14:creationId xmlns:p14="http://schemas.microsoft.com/office/powerpoint/2010/main" val="36778120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9E4E60-4B66-2AFF-BF56-E832694C88F2}"/>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A26C07F0-34D9-2499-E3D6-51EAB88E42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Triangle 56">
            <a:extLst>
              <a:ext uri="{FF2B5EF4-FFF2-40B4-BE49-F238E27FC236}">
                <a16:creationId xmlns:a16="http://schemas.microsoft.com/office/drawing/2014/main" id="{E4897D6B-6B1C-CBE1-14A5-54F997A46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F03870F9-1051-681D-2586-D4E4B32B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6F4D231C-5EDF-1CD4-6F8B-6B9C20ED8B7C}"/>
              </a:ext>
            </a:extLst>
          </p:cNvPr>
          <p:cNvSpPr txBox="1"/>
          <p:nvPr/>
        </p:nvSpPr>
        <p:spPr>
          <a:xfrm>
            <a:off x="513419" y="200478"/>
            <a:ext cx="8705234" cy="141078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kern="1200" dirty="0">
                <a:solidFill>
                  <a:schemeClr val="tx1"/>
                </a:solidFill>
                <a:latin typeface="+mj-lt"/>
                <a:ea typeface="+mj-ea"/>
                <a:cs typeface="+mj-cs"/>
              </a:rPr>
              <a:t>You try…</a:t>
            </a:r>
          </a:p>
        </p:txBody>
      </p:sp>
      <p:sp>
        <p:nvSpPr>
          <p:cNvPr id="7" name="TextBox 7">
            <a:extLst>
              <a:ext uri="{FF2B5EF4-FFF2-40B4-BE49-F238E27FC236}">
                <a16:creationId xmlns:a16="http://schemas.microsoft.com/office/drawing/2014/main" id="{5E3D422F-55C9-05B5-67F6-F8BD37B5EEEE}"/>
              </a:ext>
            </a:extLst>
          </p:cNvPr>
          <p:cNvSpPr txBox="1"/>
          <p:nvPr/>
        </p:nvSpPr>
        <p:spPr>
          <a:xfrm>
            <a:off x="503637" y="1295401"/>
            <a:ext cx="8411763" cy="5362504"/>
          </a:xfrm>
          <a:prstGeom prst="rect">
            <a:avLst/>
          </a:prstGeom>
        </p:spPr>
        <p:txBody>
          <a:bodyPr vert="horz" lIns="91440" tIns="45720" rIns="91440" bIns="45720" rtlCol="0" anchor="t">
            <a:normAutofit/>
          </a:bodyPr>
          <a:lstStyle/>
          <a:p>
            <a:r>
              <a:rPr lang="en-ZA" sz="2000" b="1" dirty="0"/>
              <a:t>Match each research-problem component to its most appropriate function:</a:t>
            </a:r>
          </a:p>
          <a:p>
            <a:endParaRPr lang="en-ZA" sz="2000" b="1" dirty="0"/>
          </a:p>
          <a:p>
            <a:endParaRPr lang="en-ZA" sz="2000" dirty="0"/>
          </a:p>
          <a:p>
            <a:pPr marL="342900" indent="-342900">
              <a:buFont typeface="Arial" panose="020B0604020202020204" pitchFamily="34" charset="0"/>
              <a:buChar char="•"/>
            </a:pPr>
            <a:endParaRPr lang="en-ZA" sz="2000" dirty="0"/>
          </a:p>
          <a:p>
            <a:pPr marL="342900" indent="-342900">
              <a:buFont typeface="Arial" panose="020B0604020202020204" pitchFamily="34" charset="0"/>
              <a:buChar char="•"/>
            </a:pPr>
            <a:endParaRPr lang="en-ZA" sz="2000" dirty="0"/>
          </a:p>
          <a:p>
            <a:endParaRPr lang="en-ZA" sz="2000" dirty="0"/>
          </a:p>
        </p:txBody>
      </p:sp>
      <p:graphicFrame>
        <p:nvGraphicFramePr>
          <p:cNvPr id="2" name="Table 1">
            <a:extLst>
              <a:ext uri="{FF2B5EF4-FFF2-40B4-BE49-F238E27FC236}">
                <a16:creationId xmlns:a16="http://schemas.microsoft.com/office/drawing/2014/main" id="{9838AFFF-F030-FE71-E4E9-AB861DD63729}"/>
              </a:ext>
            </a:extLst>
          </p:cNvPr>
          <p:cNvGraphicFramePr>
            <a:graphicFrameLocks noGrp="1"/>
          </p:cNvGraphicFramePr>
          <p:nvPr>
            <p:extLst>
              <p:ext uri="{D42A27DB-BD31-4B8C-83A1-F6EECF244321}">
                <p14:modId xmlns:p14="http://schemas.microsoft.com/office/powerpoint/2010/main" val="1818712919"/>
              </p:ext>
            </p:extLst>
          </p:nvPr>
        </p:nvGraphicFramePr>
        <p:xfrm>
          <a:off x="-10764" y="1752600"/>
          <a:ext cx="9753600" cy="6344920"/>
        </p:xfrm>
        <a:graphic>
          <a:graphicData uri="http://schemas.openxmlformats.org/drawingml/2006/table">
            <a:tbl>
              <a:tblPr firstRow="1" bandRow="1">
                <a:tableStyleId>{5C22544A-7EE6-4342-B048-85BDC9FD1C3A}</a:tableStyleId>
              </a:tblPr>
              <a:tblGrid>
                <a:gridCol w="2982564">
                  <a:extLst>
                    <a:ext uri="{9D8B030D-6E8A-4147-A177-3AD203B41FA5}">
                      <a16:colId xmlns:a16="http://schemas.microsoft.com/office/drawing/2014/main" val="3961386620"/>
                    </a:ext>
                  </a:extLst>
                </a:gridCol>
                <a:gridCol w="6771036">
                  <a:extLst>
                    <a:ext uri="{9D8B030D-6E8A-4147-A177-3AD203B41FA5}">
                      <a16:colId xmlns:a16="http://schemas.microsoft.com/office/drawing/2014/main" val="2667870302"/>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600" b="1" dirty="0"/>
                        <a:t>Prompt</a:t>
                      </a:r>
                    </a:p>
                  </a:txBody>
                  <a:tcPr/>
                </a:tc>
                <a:tc>
                  <a:txBody>
                    <a:bodyPr/>
                    <a:lstStyle/>
                    <a:p>
                      <a:pPr algn="ctr"/>
                      <a:r>
                        <a:rPr lang="en-ZA" sz="1600" b="1" dirty="0"/>
                        <a:t>Answer</a:t>
                      </a:r>
                      <a:endParaRPr lang="en-GB" sz="1600" dirty="0"/>
                    </a:p>
                  </a:txBody>
                  <a:tcPr/>
                </a:tc>
                <a:extLst>
                  <a:ext uri="{0D108BD9-81ED-4DB2-BD59-A6C34878D82A}">
                    <a16:rowId xmlns:a16="http://schemas.microsoft.com/office/drawing/2014/main" val="2687970661"/>
                  </a:ext>
                </a:extLst>
              </a:tr>
              <a:tr h="5160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b="0" dirty="0">
                          <a:latin typeface="+mn-lt"/>
                        </a:rPr>
                        <a:t>This is a significant problem because digital banking increasingly affects financial inclusion, convenience, and access to essential services.</a:t>
                      </a:r>
                      <a:endParaRPr lang="en-GB" sz="1600" b="0" dirty="0">
                        <a:latin typeface="+mn-lt"/>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ZA" sz="1600" b="0" dirty="0">
                          <a:latin typeface="+mn-lt"/>
                        </a:rPr>
                        <a:t>Explains why the problem matters and establishes its significance</a:t>
                      </a:r>
                      <a:endParaRPr lang="en-GB" sz="1600" b="0" dirty="0">
                        <a:latin typeface="+mn-lt"/>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ZA" sz="1600" b="0" dirty="0">
                          <a:latin typeface="+mn-lt"/>
                        </a:rPr>
                        <a:t>Clarifies for whom the problem is relevant and identifies the stakeholders</a:t>
                      </a:r>
                      <a:endParaRPr lang="en-GB" sz="1600" b="0" dirty="0">
                        <a:latin typeface="+mn-lt"/>
                      </a:endParaRPr>
                    </a:p>
                    <a:p>
                      <a:pPr marL="342900" indent="-342900">
                        <a:buFont typeface="+mj-lt"/>
                        <a:buAutoNum type="arabicPeriod"/>
                      </a:pPr>
                      <a:r>
                        <a:rPr lang="en-ZA" sz="1600" b="0" dirty="0">
                          <a:latin typeface="+mn-lt"/>
                        </a:rPr>
                        <a:t>Identifies the problem in a specific and straightforward manner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ZA" sz="1600" b="0" dirty="0">
                          <a:latin typeface="+mn-lt"/>
                        </a:rPr>
                        <a:t>Outlines the consequences of not addressing the problem and highlights urgency</a:t>
                      </a:r>
                    </a:p>
                  </a:txBody>
                  <a:tcPr/>
                </a:tc>
                <a:extLst>
                  <a:ext uri="{0D108BD9-81ED-4DB2-BD59-A6C34878D82A}">
                    <a16:rowId xmlns:a16="http://schemas.microsoft.com/office/drawing/2014/main" val="2276350883"/>
                  </a:ext>
                </a:extLst>
              </a:tr>
              <a:tr h="370840">
                <a:tc>
                  <a:txBody>
                    <a:bodyPr/>
                    <a:lstStyle/>
                    <a:p>
                      <a:r>
                        <a:rPr lang="en-ZA" sz="1600" b="0" dirty="0">
                          <a:latin typeface="+mn-lt"/>
                        </a:rPr>
                        <a:t>If the issue is not addressed, elderly citizens may remain financially excluded, become more dependent on others, and face a higher risk of exploitation. </a:t>
                      </a:r>
                      <a:endParaRPr lang="en-GB" sz="1600" b="0" dirty="0">
                        <a:latin typeface="+mn-lt"/>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Explains why the problem matters and establishes its significance</a:t>
                      </a:r>
                      <a:endParaRPr kumimoji="0" lang="en-GB" sz="1600" b="0" i="0" u="none" strike="noStrike" kern="1200" cap="none" spc="0" normalizeH="0" baseline="0" noProof="0" dirty="0">
                        <a:ln>
                          <a:noFill/>
                        </a:ln>
                        <a:solidFill>
                          <a:prstClr val="black"/>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Clarifies for whom the problem is relevant and identifies the stakeholders</a:t>
                      </a:r>
                      <a:endParaRPr kumimoji="0" lang="en-GB" sz="1600" b="0" i="0" u="none" strike="noStrike" kern="1200" cap="none" spc="0" normalizeH="0" baseline="0" noProof="0" dirty="0">
                        <a:ln>
                          <a:noFill/>
                        </a:ln>
                        <a:solidFill>
                          <a:prstClr val="black"/>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Identifies the problem in a specific and straightforward manner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Outlines the consequences of not addressing the problem and highlights urgency</a:t>
                      </a:r>
                    </a:p>
                  </a:txBody>
                  <a:tcPr/>
                </a:tc>
                <a:extLst>
                  <a:ext uri="{0D108BD9-81ED-4DB2-BD59-A6C34878D82A}">
                    <a16:rowId xmlns:a16="http://schemas.microsoft.com/office/drawing/2014/main" val="369654467"/>
                  </a:ext>
                </a:extLst>
              </a:tr>
              <a:tr h="370840">
                <a:tc>
                  <a:txBody>
                    <a:bodyPr/>
                    <a:lstStyle/>
                    <a:p>
                      <a:r>
                        <a:rPr lang="en-ZA" sz="1600" b="0" dirty="0">
                          <a:latin typeface="+mn-lt"/>
                        </a:rPr>
                        <a:t>The issue affects elderly users directly, but also family members, banks, and government agencies concerned with digital inclusion.</a:t>
                      </a:r>
                      <a:endParaRPr lang="en-GB" sz="1600" b="0" dirty="0">
                        <a:latin typeface="+mn-lt"/>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Explains why the problem matters and establishes its significance</a:t>
                      </a:r>
                      <a:endParaRPr kumimoji="0" lang="en-GB" sz="1600" b="0" i="0" u="none" strike="noStrike" kern="1200" cap="none" spc="0" normalizeH="0" baseline="0" noProof="0" dirty="0">
                        <a:ln>
                          <a:noFill/>
                        </a:ln>
                        <a:solidFill>
                          <a:prstClr val="black"/>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Clarifies for whom the problem is relevant and identifies the stakeholders</a:t>
                      </a:r>
                      <a:endParaRPr kumimoji="0" lang="en-GB" sz="1600" b="0" i="0" u="none" strike="noStrike" kern="1200" cap="none" spc="0" normalizeH="0" baseline="0" noProof="0" dirty="0">
                        <a:ln>
                          <a:noFill/>
                        </a:ln>
                        <a:solidFill>
                          <a:prstClr val="black"/>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Identifies the problem in a specific and straightforward manner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Outlines the consequences of not addressing the problem and highlights urgency</a:t>
                      </a:r>
                    </a:p>
                  </a:txBody>
                  <a:tcPr/>
                </a:tc>
                <a:extLst>
                  <a:ext uri="{0D108BD9-81ED-4DB2-BD59-A6C34878D82A}">
                    <a16:rowId xmlns:a16="http://schemas.microsoft.com/office/drawing/2014/main" val="14996438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b="0" dirty="0">
                          <a:latin typeface="+mn-lt"/>
                        </a:rPr>
                        <a:t>Despite the growing use of online banking platforms, many elderly users in SA remain reluctant to adopt these services because of low digital confidence, fear of fraud, and difficulty understanding mobile interfaces.</a:t>
                      </a:r>
                      <a:endParaRPr lang="en-GB" sz="1600" b="0" dirty="0">
                        <a:latin typeface="+mn-lt"/>
                      </a:endParaRPr>
                    </a:p>
                    <a:p>
                      <a:endParaRPr lang="en-GB" sz="1600" b="0" dirty="0">
                        <a:latin typeface="+mn-lt"/>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Explains why the problem matters and establishes its significance</a:t>
                      </a:r>
                      <a:endParaRPr kumimoji="0" lang="en-GB" sz="1600" b="0" i="0" u="none" strike="noStrike" kern="1200" cap="none" spc="0" normalizeH="0" baseline="0" noProof="0" dirty="0">
                        <a:ln>
                          <a:noFill/>
                        </a:ln>
                        <a:solidFill>
                          <a:prstClr val="black"/>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Clarifies for whom the problem is relevant and identifies the stakeholders</a:t>
                      </a:r>
                      <a:endParaRPr kumimoji="0" lang="en-GB" sz="1600" b="0" i="0" u="none" strike="noStrike" kern="1200" cap="none" spc="0" normalizeH="0" baseline="0" noProof="0" dirty="0">
                        <a:ln>
                          <a:noFill/>
                        </a:ln>
                        <a:solidFill>
                          <a:prstClr val="black"/>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Identifies the problem in a specific and straightforward manner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Outlines the consequences of not addressing the problem and highlights urgency</a:t>
                      </a:r>
                    </a:p>
                  </a:txBody>
                  <a:tcPr/>
                </a:tc>
                <a:extLst>
                  <a:ext uri="{0D108BD9-81ED-4DB2-BD59-A6C34878D82A}">
                    <a16:rowId xmlns:a16="http://schemas.microsoft.com/office/drawing/2014/main" val="3925515029"/>
                  </a:ext>
                </a:extLst>
              </a:tr>
            </a:tbl>
          </a:graphicData>
        </a:graphic>
      </p:graphicFrame>
    </p:spTree>
    <p:extLst>
      <p:ext uri="{BB962C8B-B14F-4D97-AF65-F5344CB8AC3E}">
        <p14:creationId xmlns:p14="http://schemas.microsoft.com/office/powerpoint/2010/main" val="33190527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D8553F-A75E-A099-9B9E-CF67BA7C52BF}"/>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8BFAC5DB-534A-3AEB-2CE0-6F77E2FBA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Triangle 56">
            <a:extLst>
              <a:ext uri="{FF2B5EF4-FFF2-40B4-BE49-F238E27FC236}">
                <a16:creationId xmlns:a16="http://schemas.microsoft.com/office/drawing/2014/main" id="{A4B8D37A-BEB4-A72E-8B00-37A17D231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9171A42B-AE1D-E939-D219-0B36DC7F2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ADEF07F6-B0DD-7293-4C47-1DC9D33C94CB}"/>
              </a:ext>
            </a:extLst>
          </p:cNvPr>
          <p:cNvSpPr txBox="1"/>
          <p:nvPr/>
        </p:nvSpPr>
        <p:spPr>
          <a:xfrm>
            <a:off x="513419" y="200478"/>
            <a:ext cx="8705234" cy="141078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kern="1200" dirty="0">
                <a:solidFill>
                  <a:schemeClr val="tx1"/>
                </a:solidFill>
                <a:latin typeface="+mj-lt"/>
                <a:ea typeface="+mj-ea"/>
                <a:cs typeface="+mj-cs"/>
              </a:rPr>
              <a:t>Answer…</a:t>
            </a:r>
          </a:p>
        </p:txBody>
      </p:sp>
      <p:sp>
        <p:nvSpPr>
          <p:cNvPr id="7" name="TextBox 7">
            <a:extLst>
              <a:ext uri="{FF2B5EF4-FFF2-40B4-BE49-F238E27FC236}">
                <a16:creationId xmlns:a16="http://schemas.microsoft.com/office/drawing/2014/main" id="{6C7E59D0-C163-9065-E310-55957CF74200}"/>
              </a:ext>
            </a:extLst>
          </p:cNvPr>
          <p:cNvSpPr txBox="1"/>
          <p:nvPr/>
        </p:nvSpPr>
        <p:spPr>
          <a:xfrm>
            <a:off x="503637" y="1295401"/>
            <a:ext cx="8411763" cy="5362504"/>
          </a:xfrm>
          <a:prstGeom prst="rect">
            <a:avLst/>
          </a:prstGeom>
        </p:spPr>
        <p:txBody>
          <a:bodyPr vert="horz" lIns="91440" tIns="45720" rIns="91440" bIns="45720" rtlCol="0" anchor="t">
            <a:normAutofit/>
          </a:bodyPr>
          <a:lstStyle/>
          <a:p>
            <a:r>
              <a:rPr lang="en-ZA" sz="2000" b="1" dirty="0"/>
              <a:t>Match each research-problem component to its most appropriate function:</a:t>
            </a:r>
          </a:p>
          <a:p>
            <a:endParaRPr lang="en-ZA" sz="2000" b="1" dirty="0"/>
          </a:p>
          <a:p>
            <a:r>
              <a:rPr lang="en-ZA" sz="2000" dirty="0"/>
              <a:t>A student writes the following problem statement for an ICT study:</a:t>
            </a:r>
          </a:p>
          <a:p>
            <a:endParaRPr lang="en-ZA" sz="2000" b="1" dirty="0"/>
          </a:p>
          <a:p>
            <a:r>
              <a:rPr lang="en-ZA" sz="2000" i="1" dirty="0"/>
              <a:t>“Despite the growing use of online banking platforms, many elderly users in South Africa remain reluctant to adopt these services because of low digital confidence, fear of fraud, and difficulty understanding mobile interfaces. This is a significant problem because digital banking increasingly affects financial inclusion, convenience, and access to essential services. The issue affects elderly users directly, but also family members, banks, and government agencies concerned with digital inclusion. If the issue is not addressed, elderly citizens may remain financially excluded, become more dependent on others, and face a higher risk of exploitation.”</a:t>
            </a:r>
          </a:p>
          <a:p>
            <a:pPr marL="342900" indent="-342900">
              <a:buFont typeface="Arial" panose="020B0604020202020204" pitchFamily="34" charset="0"/>
              <a:buChar char="•"/>
            </a:pPr>
            <a:endParaRPr lang="en-ZA" sz="2000" dirty="0"/>
          </a:p>
          <a:p>
            <a:pPr marL="342900" indent="-342900">
              <a:buFont typeface="Arial" panose="020B0604020202020204" pitchFamily="34" charset="0"/>
              <a:buChar char="•"/>
            </a:pPr>
            <a:endParaRPr lang="en-ZA" sz="2000" dirty="0"/>
          </a:p>
          <a:p>
            <a:endParaRPr lang="en-ZA" sz="2000" dirty="0"/>
          </a:p>
        </p:txBody>
      </p:sp>
    </p:spTree>
    <p:extLst>
      <p:ext uri="{BB962C8B-B14F-4D97-AF65-F5344CB8AC3E}">
        <p14:creationId xmlns:p14="http://schemas.microsoft.com/office/powerpoint/2010/main" val="15031129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1FE2EC-313E-1031-FF18-C66D795ABE1B}"/>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74466E18-0A57-F474-965C-7A719B0C6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Triangle 56">
            <a:extLst>
              <a:ext uri="{FF2B5EF4-FFF2-40B4-BE49-F238E27FC236}">
                <a16:creationId xmlns:a16="http://schemas.microsoft.com/office/drawing/2014/main" id="{F24C8D34-6824-2834-2320-A3285F965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79EC8239-BAAB-88F5-3E09-6D9BD93FE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EEB68848-12E2-C341-10FE-5AA8904EABB0}"/>
              </a:ext>
            </a:extLst>
          </p:cNvPr>
          <p:cNvSpPr txBox="1"/>
          <p:nvPr/>
        </p:nvSpPr>
        <p:spPr>
          <a:xfrm>
            <a:off x="513419" y="200478"/>
            <a:ext cx="8705234" cy="141078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kern="1200" dirty="0">
                <a:solidFill>
                  <a:schemeClr val="tx1"/>
                </a:solidFill>
                <a:latin typeface="+mj-lt"/>
                <a:ea typeface="+mj-ea"/>
                <a:cs typeface="+mj-cs"/>
              </a:rPr>
              <a:t>Answer…</a:t>
            </a:r>
          </a:p>
        </p:txBody>
      </p:sp>
      <p:sp>
        <p:nvSpPr>
          <p:cNvPr id="7" name="TextBox 7">
            <a:extLst>
              <a:ext uri="{FF2B5EF4-FFF2-40B4-BE49-F238E27FC236}">
                <a16:creationId xmlns:a16="http://schemas.microsoft.com/office/drawing/2014/main" id="{ABD35ED5-5624-B2D1-4869-BC9CACE703B2}"/>
              </a:ext>
            </a:extLst>
          </p:cNvPr>
          <p:cNvSpPr txBox="1"/>
          <p:nvPr/>
        </p:nvSpPr>
        <p:spPr>
          <a:xfrm>
            <a:off x="503637" y="1295401"/>
            <a:ext cx="8411763" cy="5362504"/>
          </a:xfrm>
          <a:prstGeom prst="rect">
            <a:avLst/>
          </a:prstGeom>
        </p:spPr>
        <p:txBody>
          <a:bodyPr vert="horz" lIns="91440" tIns="45720" rIns="91440" bIns="45720" rtlCol="0" anchor="t">
            <a:normAutofit/>
          </a:bodyPr>
          <a:lstStyle/>
          <a:p>
            <a:r>
              <a:rPr lang="en-ZA" sz="2000" b="1" dirty="0"/>
              <a:t>Match each research-problem component to its most appropriate function:</a:t>
            </a:r>
          </a:p>
          <a:p>
            <a:endParaRPr lang="en-ZA" sz="2000" b="1" dirty="0"/>
          </a:p>
          <a:p>
            <a:endParaRPr lang="en-ZA" sz="2000" dirty="0"/>
          </a:p>
          <a:p>
            <a:pPr marL="342900" indent="-342900">
              <a:buFont typeface="Arial" panose="020B0604020202020204" pitchFamily="34" charset="0"/>
              <a:buChar char="•"/>
            </a:pPr>
            <a:endParaRPr lang="en-ZA" sz="2000" dirty="0"/>
          </a:p>
          <a:p>
            <a:pPr marL="342900" indent="-342900">
              <a:buFont typeface="Arial" panose="020B0604020202020204" pitchFamily="34" charset="0"/>
              <a:buChar char="•"/>
            </a:pPr>
            <a:endParaRPr lang="en-ZA" sz="2000" dirty="0"/>
          </a:p>
          <a:p>
            <a:endParaRPr lang="en-ZA" sz="2000" dirty="0"/>
          </a:p>
        </p:txBody>
      </p:sp>
      <p:graphicFrame>
        <p:nvGraphicFramePr>
          <p:cNvPr id="2" name="Table 1">
            <a:extLst>
              <a:ext uri="{FF2B5EF4-FFF2-40B4-BE49-F238E27FC236}">
                <a16:creationId xmlns:a16="http://schemas.microsoft.com/office/drawing/2014/main" id="{5040FE00-AB63-3865-23C4-8A559D79521A}"/>
              </a:ext>
            </a:extLst>
          </p:cNvPr>
          <p:cNvGraphicFramePr>
            <a:graphicFrameLocks noGrp="1"/>
          </p:cNvGraphicFramePr>
          <p:nvPr>
            <p:extLst>
              <p:ext uri="{D42A27DB-BD31-4B8C-83A1-F6EECF244321}">
                <p14:modId xmlns:p14="http://schemas.microsoft.com/office/powerpoint/2010/main" val="2579856379"/>
              </p:ext>
            </p:extLst>
          </p:nvPr>
        </p:nvGraphicFramePr>
        <p:xfrm>
          <a:off x="-10764" y="1752600"/>
          <a:ext cx="9753600" cy="634492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3961386620"/>
                    </a:ext>
                  </a:extLst>
                </a:gridCol>
                <a:gridCol w="6781800">
                  <a:extLst>
                    <a:ext uri="{9D8B030D-6E8A-4147-A177-3AD203B41FA5}">
                      <a16:colId xmlns:a16="http://schemas.microsoft.com/office/drawing/2014/main" val="2667870302"/>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600" b="1" dirty="0"/>
                        <a:t>Prompt</a:t>
                      </a:r>
                    </a:p>
                  </a:txBody>
                  <a:tcPr/>
                </a:tc>
                <a:tc>
                  <a:txBody>
                    <a:bodyPr/>
                    <a:lstStyle/>
                    <a:p>
                      <a:pPr algn="ctr"/>
                      <a:r>
                        <a:rPr lang="en-ZA" sz="1600" b="1" dirty="0"/>
                        <a:t>Answer</a:t>
                      </a:r>
                      <a:endParaRPr lang="en-GB" sz="1600" dirty="0"/>
                    </a:p>
                  </a:txBody>
                  <a:tcPr/>
                </a:tc>
                <a:extLst>
                  <a:ext uri="{0D108BD9-81ED-4DB2-BD59-A6C34878D82A}">
                    <a16:rowId xmlns:a16="http://schemas.microsoft.com/office/drawing/2014/main" val="2687970661"/>
                  </a:ext>
                </a:extLst>
              </a:tr>
              <a:tr h="5160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b="0" dirty="0">
                          <a:latin typeface="+mn-lt"/>
                        </a:rPr>
                        <a:t>This is a significant problem because digital banking increasingly affects financial inclusion, convenience, and access to essential services.</a:t>
                      </a:r>
                      <a:endParaRPr lang="en-GB" sz="1600" b="0" dirty="0">
                        <a:latin typeface="+mn-lt"/>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ZA" sz="1600" b="0" dirty="0">
                          <a:latin typeface="+mn-lt"/>
                        </a:rPr>
                        <a:t>Explains why the problem matters and establishes its significance</a:t>
                      </a:r>
                      <a:endParaRPr lang="en-GB" sz="1600" b="0" dirty="0">
                        <a:latin typeface="+mn-lt"/>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ZA" sz="1600" b="0" dirty="0">
                          <a:latin typeface="+mn-lt"/>
                        </a:rPr>
                        <a:t>Clarifies for whom the problem is relevant and identifies the stakeholders</a:t>
                      </a:r>
                      <a:endParaRPr lang="en-GB" sz="1600" b="0" dirty="0">
                        <a:latin typeface="+mn-lt"/>
                      </a:endParaRPr>
                    </a:p>
                    <a:p>
                      <a:pPr marL="342900" indent="-342900">
                        <a:buFont typeface="+mj-lt"/>
                        <a:buAutoNum type="arabicPeriod"/>
                      </a:pPr>
                      <a:r>
                        <a:rPr lang="en-ZA" sz="1600" b="0" dirty="0">
                          <a:latin typeface="+mn-lt"/>
                        </a:rPr>
                        <a:t>Identifies the problem in a specific and straightforward manner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ZA" sz="1600" b="0" dirty="0">
                          <a:latin typeface="+mn-lt"/>
                        </a:rPr>
                        <a:t>Outlines the consequences of not addressing the problem and highlights urgency</a:t>
                      </a:r>
                    </a:p>
                  </a:txBody>
                  <a:tcPr/>
                </a:tc>
                <a:extLst>
                  <a:ext uri="{0D108BD9-81ED-4DB2-BD59-A6C34878D82A}">
                    <a16:rowId xmlns:a16="http://schemas.microsoft.com/office/drawing/2014/main" val="2276350883"/>
                  </a:ext>
                </a:extLst>
              </a:tr>
              <a:tr h="370840">
                <a:tc>
                  <a:txBody>
                    <a:bodyPr/>
                    <a:lstStyle/>
                    <a:p>
                      <a:r>
                        <a:rPr lang="en-ZA" sz="1600" b="0" dirty="0">
                          <a:latin typeface="+mn-lt"/>
                        </a:rPr>
                        <a:t>If the issue is not addressed, elderly citizens may remain financially excluded, become more dependent on others, and face a higher risk of exploitation. </a:t>
                      </a:r>
                      <a:endParaRPr lang="en-GB" sz="1600" b="0" dirty="0">
                        <a:latin typeface="+mn-lt"/>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Explains why the problem matters and establishes its significance</a:t>
                      </a:r>
                      <a:endParaRPr kumimoji="0" lang="en-GB" sz="1600" b="0" i="0" u="none" strike="noStrike" kern="1200" cap="none" spc="0" normalizeH="0" baseline="0" noProof="0" dirty="0">
                        <a:ln>
                          <a:noFill/>
                        </a:ln>
                        <a:solidFill>
                          <a:prstClr val="black"/>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Clarifies for whom the problem is relevant and identifies the stakeholders</a:t>
                      </a:r>
                      <a:endParaRPr kumimoji="0" lang="en-GB" sz="1600" b="0" i="0" u="none" strike="noStrike" kern="1200" cap="none" spc="0" normalizeH="0" baseline="0" noProof="0" dirty="0">
                        <a:ln>
                          <a:noFill/>
                        </a:ln>
                        <a:solidFill>
                          <a:prstClr val="black"/>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Identifies the problem in a specific and straightforward manner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Outlines the consequences of not addressing the problem and highlights urgency</a:t>
                      </a:r>
                    </a:p>
                  </a:txBody>
                  <a:tcPr/>
                </a:tc>
                <a:extLst>
                  <a:ext uri="{0D108BD9-81ED-4DB2-BD59-A6C34878D82A}">
                    <a16:rowId xmlns:a16="http://schemas.microsoft.com/office/drawing/2014/main" val="369654467"/>
                  </a:ext>
                </a:extLst>
              </a:tr>
              <a:tr h="370840">
                <a:tc>
                  <a:txBody>
                    <a:bodyPr/>
                    <a:lstStyle/>
                    <a:p>
                      <a:r>
                        <a:rPr lang="en-ZA" sz="1600" b="0" dirty="0">
                          <a:latin typeface="+mn-lt"/>
                        </a:rPr>
                        <a:t>The issue affects elderly users directly, but also family members, banks, and government agencies concerned with digital inclusion.</a:t>
                      </a:r>
                      <a:endParaRPr lang="en-GB" sz="1600" b="0" dirty="0">
                        <a:latin typeface="+mn-lt"/>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Explains why the problem matters and establishes its significance</a:t>
                      </a:r>
                      <a:endParaRPr kumimoji="0" lang="en-GB" sz="1600" b="0" i="0" u="none" strike="noStrike" kern="1200" cap="none" spc="0" normalizeH="0" baseline="0" noProof="0" dirty="0">
                        <a:ln>
                          <a:noFill/>
                        </a:ln>
                        <a:solidFill>
                          <a:prstClr val="black"/>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Clarifies for whom the problem is relevant and identifies the stakeholders</a:t>
                      </a:r>
                      <a:endParaRPr kumimoji="0" lang="en-GB" sz="1600" b="0" i="0" u="none" strike="noStrike" kern="1200" cap="none" spc="0" normalizeH="0" baseline="0" noProof="0" dirty="0">
                        <a:ln>
                          <a:noFill/>
                        </a:ln>
                        <a:solidFill>
                          <a:prstClr val="black"/>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Identifies the problem in a specific and straightforward manner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Outlines the consequences of not addressing the problem and highlights urgency</a:t>
                      </a:r>
                    </a:p>
                  </a:txBody>
                  <a:tcPr/>
                </a:tc>
                <a:extLst>
                  <a:ext uri="{0D108BD9-81ED-4DB2-BD59-A6C34878D82A}">
                    <a16:rowId xmlns:a16="http://schemas.microsoft.com/office/drawing/2014/main" val="14996438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b="0" dirty="0">
                          <a:latin typeface="+mn-lt"/>
                        </a:rPr>
                        <a:t>Despite the growing use of online banking platforms, many elderly users in SA remain reluctant to adopt these services because of low digital confidence, fear of fraud, and difficulty understanding mobile interfaces.</a:t>
                      </a:r>
                      <a:endParaRPr lang="en-GB" sz="1600" b="0" dirty="0">
                        <a:latin typeface="+mn-lt"/>
                      </a:endParaRPr>
                    </a:p>
                    <a:p>
                      <a:endParaRPr lang="en-GB" sz="1600" b="0" dirty="0">
                        <a:latin typeface="+mn-lt"/>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Explains why the problem matters and establishes its significance</a:t>
                      </a:r>
                      <a:endParaRPr kumimoji="0" lang="en-GB" sz="1600" b="0" i="0" u="none" strike="noStrike" kern="1200" cap="none" spc="0" normalizeH="0" baseline="0" noProof="0" dirty="0">
                        <a:ln>
                          <a:noFill/>
                        </a:ln>
                        <a:solidFill>
                          <a:prstClr val="black"/>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Clarifies for whom the problem is relevant and identifies the stakeholders</a:t>
                      </a:r>
                      <a:endParaRPr kumimoji="0" lang="en-GB" sz="1600" b="0" i="0" u="none" strike="noStrike" kern="1200" cap="none" spc="0" normalizeH="0" baseline="0" noProof="0" dirty="0">
                        <a:ln>
                          <a:noFill/>
                        </a:ln>
                        <a:solidFill>
                          <a:prstClr val="black"/>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Identifies the problem in a specific and straightforward manner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ZA" sz="1600" b="0" i="0" u="none" strike="noStrike" kern="1200" cap="none" spc="0" normalizeH="0" baseline="0" noProof="0" dirty="0">
                          <a:ln>
                            <a:noFill/>
                          </a:ln>
                          <a:solidFill>
                            <a:prstClr val="black"/>
                          </a:solidFill>
                          <a:effectLst/>
                          <a:uLnTx/>
                          <a:uFillTx/>
                          <a:latin typeface="+mn-lt"/>
                          <a:ea typeface="+mn-ea"/>
                          <a:cs typeface="+mn-cs"/>
                        </a:rPr>
                        <a:t>Outlines the consequences of not addressing the problem and highlights urgency</a:t>
                      </a:r>
                    </a:p>
                  </a:txBody>
                  <a:tcPr/>
                </a:tc>
                <a:extLst>
                  <a:ext uri="{0D108BD9-81ED-4DB2-BD59-A6C34878D82A}">
                    <a16:rowId xmlns:a16="http://schemas.microsoft.com/office/drawing/2014/main" val="3925515029"/>
                  </a:ext>
                </a:extLst>
              </a:tr>
            </a:tbl>
          </a:graphicData>
        </a:graphic>
      </p:graphicFrame>
      <p:cxnSp>
        <p:nvCxnSpPr>
          <p:cNvPr id="4" name="Straight Arrow Connector 3">
            <a:extLst>
              <a:ext uri="{FF2B5EF4-FFF2-40B4-BE49-F238E27FC236}">
                <a16:creationId xmlns:a16="http://schemas.microsoft.com/office/drawing/2014/main" id="{7C24F3A6-0073-80DB-9F47-A5507BEA0C5C}"/>
              </a:ext>
            </a:extLst>
          </p:cNvPr>
          <p:cNvCxnSpPr>
            <a:cxnSpLocks/>
          </p:cNvCxnSpPr>
          <p:nvPr/>
        </p:nvCxnSpPr>
        <p:spPr>
          <a:xfrm>
            <a:off x="2438400" y="3886200"/>
            <a:ext cx="609600" cy="45720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AC6EBA1D-24BF-BB16-BEA4-B03A850851F8}"/>
              </a:ext>
            </a:extLst>
          </p:cNvPr>
          <p:cNvCxnSpPr>
            <a:cxnSpLocks/>
          </p:cNvCxnSpPr>
          <p:nvPr/>
        </p:nvCxnSpPr>
        <p:spPr>
          <a:xfrm flipV="1">
            <a:off x="2438400" y="2362200"/>
            <a:ext cx="609600" cy="38100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B1DC0909-5CE9-A432-96C4-E463FC71CFD6}"/>
              </a:ext>
            </a:extLst>
          </p:cNvPr>
          <p:cNvCxnSpPr>
            <a:cxnSpLocks/>
          </p:cNvCxnSpPr>
          <p:nvPr/>
        </p:nvCxnSpPr>
        <p:spPr>
          <a:xfrm flipV="1">
            <a:off x="1676400" y="5181600"/>
            <a:ext cx="1371600" cy="249574"/>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9C6257BB-42F4-E51C-2BA7-260BC16F1356}"/>
              </a:ext>
            </a:extLst>
          </p:cNvPr>
          <p:cNvCxnSpPr>
            <a:cxnSpLocks/>
          </p:cNvCxnSpPr>
          <p:nvPr/>
        </p:nvCxnSpPr>
        <p:spPr>
          <a:xfrm>
            <a:off x="2380343" y="6586362"/>
            <a:ext cx="667657" cy="160252"/>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416219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3D2B36-44BF-AD2F-1447-D6CBB0B151D5}"/>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A670EADD-DD2D-C141-9523-AA5267F9B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Triangle 56">
            <a:extLst>
              <a:ext uri="{FF2B5EF4-FFF2-40B4-BE49-F238E27FC236}">
                <a16:creationId xmlns:a16="http://schemas.microsoft.com/office/drawing/2014/main" id="{604C70B0-5BAB-B3AD-5492-003C081D2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1CC53386-9AFC-BCE0-97E2-37F77B7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a:extLst>
              <a:ext uri="{FF2B5EF4-FFF2-40B4-BE49-F238E27FC236}">
                <a16:creationId xmlns:a16="http://schemas.microsoft.com/office/drawing/2014/main" id="{56F06246-566D-F22D-58A6-A68C501D3723}"/>
              </a:ext>
            </a:extLst>
          </p:cNvPr>
          <p:cNvSpPr txBox="1"/>
          <p:nvPr/>
        </p:nvSpPr>
        <p:spPr>
          <a:xfrm>
            <a:off x="513419" y="200478"/>
            <a:ext cx="8705234" cy="1703710"/>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kern="1200" dirty="0">
                <a:solidFill>
                  <a:schemeClr val="tx1"/>
                </a:solidFill>
                <a:latin typeface="+mj-lt"/>
                <a:ea typeface="+mj-ea"/>
                <a:cs typeface="+mj-cs"/>
              </a:rPr>
              <a:t>THAT’S IT!!!</a:t>
            </a:r>
          </a:p>
        </p:txBody>
      </p:sp>
      <p:sp>
        <p:nvSpPr>
          <p:cNvPr id="2" name="Teardrop 1">
            <a:extLst>
              <a:ext uri="{FF2B5EF4-FFF2-40B4-BE49-F238E27FC236}">
                <a16:creationId xmlns:a16="http://schemas.microsoft.com/office/drawing/2014/main" id="{1A2677A4-611F-8FE1-14E7-90B69F05BC8E}"/>
              </a:ext>
            </a:extLst>
          </p:cNvPr>
          <p:cNvSpPr/>
          <p:nvPr/>
        </p:nvSpPr>
        <p:spPr>
          <a:xfrm rot="19354972">
            <a:off x="6299701" y="4144197"/>
            <a:ext cx="4925191" cy="3413760"/>
          </a:xfrm>
          <a:prstGeom prst="teardrop">
            <a:avLst>
              <a:gd name="adj" fmla="val 82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7" name="TextBox 7">
            <a:extLst>
              <a:ext uri="{FF2B5EF4-FFF2-40B4-BE49-F238E27FC236}">
                <a16:creationId xmlns:a16="http://schemas.microsoft.com/office/drawing/2014/main" id="{9A4D0A7D-0C8A-67E0-874C-831BD50327C8}"/>
              </a:ext>
            </a:extLst>
          </p:cNvPr>
          <p:cNvSpPr txBox="1"/>
          <p:nvPr/>
        </p:nvSpPr>
        <p:spPr>
          <a:xfrm>
            <a:off x="503637" y="1295401"/>
            <a:ext cx="8411763" cy="5362504"/>
          </a:xfrm>
          <a:prstGeom prst="rect">
            <a:avLst/>
          </a:prstGeom>
        </p:spPr>
        <p:txBody>
          <a:bodyPr vert="horz" lIns="91440" tIns="45720" rIns="91440" bIns="45720" rtlCol="0" anchor="t">
            <a:normAutofit/>
          </a:bodyPr>
          <a:lstStyle/>
          <a:p>
            <a:pPr algn="ctr">
              <a:lnSpc>
                <a:spcPct val="90000"/>
              </a:lnSpc>
              <a:spcAft>
                <a:spcPts val="600"/>
              </a:spcAft>
            </a:pPr>
            <a:endParaRPr lang="en-GB" sz="2000" dirty="0">
              <a:solidFill>
                <a:srgbClr val="0070C0"/>
              </a:solidFill>
            </a:endParaRPr>
          </a:p>
          <a:p>
            <a:pPr lvl="0" eaLnBrk="0" fontAlgn="base" hangingPunct="0">
              <a:spcBef>
                <a:spcPct val="0"/>
              </a:spcBef>
              <a:spcAft>
                <a:spcPct val="0"/>
              </a:spcAft>
              <a:buFontTx/>
              <a:buChar char="•"/>
            </a:pPr>
            <a:r>
              <a:rPr lang="en-ZA" sz="2000" dirty="0"/>
              <a:t>This chapter emphasises that </a:t>
            </a:r>
            <a:r>
              <a:rPr lang="en-US" altLang="en-US" sz="2000" dirty="0"/>
              <a:t>a strong research problem gives the study direction, focus, and purpose.</a:t>
            </a:r>
          </a:p>
          <a:p>
            <a:pPr lvl="0" eaLnBrk="0" fontAlgn="base" hangingPunct="0">
              <a:spcBef>
                <a:spcPct val="0"/>
              </a:spcBef>
              <a:spcAft>
                <a:spcPct val="0"/>
              </a:spcAft>
              <a:buFontTx/>
              <a:buChar char="•"/>
            </a:pPr>
            <a:r>
              <a:rPr lang="en-US" altLang="en-US" sz="2000" dirty="0"/>
              <a:t>It must state the issue clearly, specifically, and in a researchable way.</a:t>
            </a:r>
          </a:p>
          <a:p>
            <a:pPr lvl="0" eaLnBrk="0" fontAlgn="base" hangingPunct="0">
              <a:spcBef>
                <a:spcPct val="0"/>
              </a:spcBef>
              <a:spcAft>
                <a:spcPct val="0"/>
              </a:spcAft>
              <a:buFontTx/>
              <a:buChar char="•"/>
            </a:pPr>
            <a:r>
              <a:rPr lang="en-US" altLang="en-US" sz="2000" dirty="0"/>
              <a:t>A good problem explains why the issue matters and why it deserves investigation.</a:t>
            </a:r>
          </a:p>
          <a:p>
            <a:pPr lvl="0" eaLnBrk="0" fontAlgn="base" hangingPunct="0">
              <a:spcBef>
                <a:spcPct val="0"/>
              </a:spcBef>
              <a:spcAft>
                <a:spcPct val="0"/>
              </a:spcAft>
              <a:buFontTx/>
              <a:buChar char="•"/>
            </a:pPr>
            <a:r>
              <a:rPr lang="en-US" altLang="en-US" sz="2000" dirty="0"/>
              <a:t>It should identify who is affected and name the relevant stakeholders.</a:t>
            </a:r>
          </a:p>
          <a:p>
            <a:pPr lvl="0" eaLnBrk="0" fontAlgn="base" hangingPunct="0">
              <a:spcBef>
                <a:spcPct val="0"/>
              </a:spcBef>
              <a:spcAft>
                <a:spcPct val="0"/>
              </a:spcAft>
              <a:buFontTx/>
              <a:buChar char="•"/>
            </a:pPr>
            <a:r>
              <a:rPr lang="en-US" altLang="en-US" sz="2000" dirty="0"/>
              <a:t>It must show the consequences of not addressing the problem, creating urgency.</a:t>
            </a:r>
          </a:p>
          <a:p>
            <a:pPr lvl="0" eaLnBrk="0" fontAlgn="base" hangingPunct="0">
              <a:spcBef>
                <a:spcPct val="0"/>
              </a:spcBef>
              <a:spcAft>
                <a:spcPct val="0"/>
              </a:spcAft>
              <a:buFontTx/>
              <a:buChar char="•"/>
            </a:pPr>
            <a:r>
              <a:rPr lang="en-US" altLang="en-US" sz="2000" dirty="0"/>
              <a:t>The research problem should align with the title, aim, objectives, and questions to maintain the Golden Thread.</a:t>
            </a:r>
          </a:p>
          <a:p>
            <a:pPr lvl="0" eaLnBrk="0" fontAlgn="base" hangingPunct="0">
              <a:spcBef>
                <a:spcPct val="0"/>
              </a:spcBef>
              <a:spcAft>
                <a:spcPct val="0"/>
              </a:spcAft>
              <a:buFontTx/>
              <a:buChar char="•"/>
            </a:pPr>
            <a:r>
              <a:rPr lang="en-US" altLang="en-US" sz="2000" dirty="0"/>
              <a:t>A weak problem leads to a vague study, while a strong                                 problem supports a clear, feasible, and meaningful                                investigation.</a:t>
            </a:r>
          </a:p>
          <a:p>
            <a:endParaRPr lang="en-ZA" sz="2000" dirty="0"/>
          </a:p>
        </p:txBody>
      </p:sp>
    </p:spTree>
    <p:extLst>
      <p:ext uri="{BB962C8B-B14F-4D97-AF65-F5344CB8AC3E}">
        <p14:creationId xmlns:p14="http://schemas.microsoft.com/office/powerpoint/2010/main" val="21753880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6EB97E-9572-FF26-7AEE-D9C2396BE236}"/>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668A1699-CC5A-CF03-5F43-4F686702A3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3600"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Triangle 56">
            <a:extLst>
              <a:ext uri="{FF2B5EF4-FFF2-40B4-BE49-F238E27FC236}">
                <a16:creationId xmlns:a16="http://schemas.microsoft.com/office/drawing/2014/main" id="{06524ABF-51E3-2C40-A878-764571F14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861376" y="3558258"/>
            <a:ext cx="2633472" cy="341376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500C0D9C-1D0D-3FD2-DF71-848FB9400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19" y="664826"/>
            <a:ext cx="8724042" cy="598174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7">
            <a:extLst>
              <a:ext uri="{FF2B5EF4-FFF2-40B4-BE49-F238E27FC236}">
                <a16:creationId xmlns:a16="http://schemas.microsoft.com/office/drawing/2014/main" id="{235F8F3E-7C1B-17CB-6292-B83B32620247}"/>
              </a:ext>
            </a:extLst>
          </p:cNvPr>
          <p:cNvSpPr txBox="1"/>
          <p:nvPr/>
        </p:nvSpPr>
        <p:spPr>
          <a:xfrm>
            <a:off x="669558" y="1529423"/>
            <a:ext cx="8411763" cy="4307625"/>
          </a:xfrm>
          <a:prstGeom prst="rect">
            <a:avLst/>
          </a:prstGeom>
        </p:spPr>
        <p:txBody>
          <a:bodyPr vert="horz" lIns="91440" tIns="45720" rIns="91440" bIns="45720" rtlCol="0" anchor="t">
            <a:normAutofit/>
          </a:bodyPr>
          <a:lstStyle/>
          <a:p>
            <a:pPr algn="ctr">
              <a:lnSpc>
                <a:spcPct val="90000"/>
              </a:lnSpc>
              <a:spcAft>
                <a:spcPts val="600"/>
              </a:spcAft>
            </a:pPr>
            <a:endParaRPr lang="en-GB" sz="3600" dirty="0">
              <a:solidFill>
                <a:srgbClr val="0070C0"/>
              </a:solidFill>
            </a:endParaRPr>
          </a:p>
          <a:p>
            <a:pPr algn="ctr">
              <a:lnSpc>
                <a:spcPct val="90000"/>
              </a:lnSpc>
              <a:spcAft>
                <a:spcPts val="600"/>
              </a:spcAft>
            </a:pPr>
            <a:r>
              <a:rPr lang="en-GB" sz="3600" b="1" dirty="0"/>
              <a:t>See you next week for </a:t>
            </a:r>
          </a:p>
          <a:p>
            <a:pPr algn="ctr">
              <a:lnSpc>
                <a:spcPct val="90000"/>
              </a:lnSpc>
              <a:spcAft>
                <a:spcPts val="600"/>
              </a:spcAft>
            </a:pPr>
            <a:endParaRPr lang="en-GB" sz="3600" dirty="0">
              <a:solidFill>
                <a:srgbClr val="0070C0"/>
              </a:solidFill>
            </a:endParaRPr>
          </a:p>
          <a:p>
            <a:pPr algn="ctr">
              <a:lnSpc>
                <a:spcPct val="90000"/>
              </a:lnSpc>
              <a:spcAft>
                <a:spcPts val="600"/>
              </a:spcAft>
            </a:pPr>
            <a:r>
              <a:rPr lang="en-US" sz="3600" b="1" spc="86" dirty="0"/>
              <a:t>Constructing the Main Research Aim and Sub-Objectives </a:t>
            </a:r>
            <a:endParaRPr lang="en-US" sz="3600" b="1" dirty="0">
              <a:ea typeface="Calibri"/>
              <a:cs typeface="Calibri"/>
            </a:endParaRPr>
          </a:p>
        </p:txBody>
      </p:sp>
      <p:sp>
        <p:nvSpPr>
          <p:cNvPr id="2" name="Teardrop 1">
            <a:extLst>
              <a:ext uri="{FF2B5EF4-FFF2-40B4-BE49-F238E27FC236}">
                <a16:creationId xmlns:a16="http://schemas.microsoft.com/office/drawing/2014/main" id="{CE3E03FE-F656-5FC9-4691-9165278B73E5}"/>
              </a:ext>
            </a:extLst>
          </p:cNvPr>
          <p:cNvSpPr/>
          <p:nvPr/>
        </p:nvSpPr>
        <p:spPr>
          <a:xfrm rot="19354972">
            <a:off x="6489746" y="4103745"/>
            <a:ext cx="4866458" cy="3413760"/>
          </a:xfrm>
          <a:prstGeom prst="teardrop">
            <a:avLst>
              <a:gd name="adj" fmla="val 82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88567072"/>
      </p:ext>
    </p:extLst>
  </p:cSld>
  <p:clrMapOvr>
    <a:masterClrMapping/>
  </p:clrMapOvr>
</p:sld>
</file>

<file path=ppt/theme/theme1.xml><?xml version="1.0" encoding="utf-8"?>
<a:theme xmlns:a="http://schemas.openxmlformats.org/drawingml/2006/main" name="Office Them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1468</TotalTime>
  <Words>4823</Words>
  <Application>Microsoft Macintosh PowerPoint</Application>
  <PresentationFormat>Custom</PresentationFormat>
  <Paragraphs>386</Paragraphs>
  <Slides>40</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League Spartan</vt:lpstr>
      <vt:lpstr>Aptos</vt:lpstr>
      <vt:lpstr>Calibri</vt:lpstr>
      <vt:lpstr>Open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Human Digital Interaction Presentation 2</dc:title>
  <dc:creator>Errol Francke</dc:creator>
  <cp:lastModifiedBy>Errol Francke</cp:lastModifiedBy>
  <cp:revision>193</cp:revision>
  <dcterms:created xsi:type="dcterms:W3CDTF">2006-08-16T00:00:00Z</dcterms:created>
  <dcterms:modified xsi:type="dcterms:W3CDTF">2026-03-22T11:16:10Z</dcterms:modified>
  <dc:identifier>DAFHmFjtwBk</dc:identifier>
</cp:coreProperties>
</file>