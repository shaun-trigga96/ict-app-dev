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2"/>
  </p:notesMasterIdLst>
  <p:sldIdLst>
    <p:sldId id="256" r:id="rId2"/>
    <p:sldId id="257" r:id="rId3"/>
    <p:sldId id="258" r:id="rId4"/>
    <p:sldId id="259" r:id="rId5"/>
    <p:sldId id="261" r:id="rId6"/>
    <p:sldId id="280" r:id="rId7"/>
    <p:sldId id="282" r:id="rId8"/>
    <p:sldId id="283" r:id="rId9"/>
    <p:sldId id="281" r:id="rId10"/>
    <p:sldId id="260" r:id="rId11"/>
    <p:sldId id="284" r:id="rId12"/>
    <p:sldId id="271" r:id="rId13"/>
    <p:sldId id="262" r:id="rId14"/>
    <p:sldId id="272" r:id="rId15"/>
    <p:sldId id="263" r:id="rId16"/>
    <p:sldId id="285" r:id="rId17"/>
    <p:sldId id="264" r:id="rId18"/>
    <p:sldId id="266" r:id="rId19"/>
    <p:sldId id="287" r:id="rId20"/>
    <p:sldId id="286" r:id="rId21"/>
    <p:sldId id="268" r:id="rId22"/>
    <p:sldId id="288" r:id="rId23"/>
    <p:sldId id="289" r:id="rId24"/>
    <p:sldId id="290" r:id="rId25"/>
    <p:sldId id="291" r:id="rId26"/>
    <p:sldId id="292" r:id="rId27"/>
    <p:sldId id="294" r:id="rId28"/>
    <p:sldId id="265" r:id="rId29"/>
    <p:sldId id="295" r:id="rId30"/>
    <p:sldId id="267" r:id="rId31"/>
  </p:sldIdLst>
  <p:sldSz cx="18288000" cy="10287000"/>
  <p:notesSz cx="6858000" cy="9144000"/>
  <p:embeddedFontLst>
    <p:embeddedFont>
      <p:font typeface="Inter" panose="02000503000000020004" pitchFamily="2" charset="0"/>
      <p:regular r:id="rId33"/>
      <p:bold r:id="rId34"/>
      <p:italic r:id="rId35"/>
      <p:boldItalic r:id="rId36"/>
    </p:embeddedFont>
    <p:embeddedFont>
      <p:font typeface="Open Sauce" pitchFamily="2" charset="77"/>
      <p:regular r:id="rId37"/>
    </p:embeddedFont>
    <p:embeddedFont>
      <p:font typeface="Sanchez" panose="02000000000000000000" pitchFamily="2" charset="77"/>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700"/>
    <a:srgbClr val="C495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62644" autoAdjust="0"/>
  </p:normalViewPr>
  <p:slideViewPr>
    <p:cSldViewPr>
      <p:cViewPr varScale="1">
        <p:scale>
          <a:sx n="39" d="100"/>
          <a:sy n="39" d="100"/>
        </p:scale>
        <p:origin x="3048"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Column1</c:v>
                </c:pt>
              </c:strCache>
            </c:strRef>
          </c:tx>
          <c:dPt>
            <c:idx val="0"/>
            <c:bubble3D val="0"/>
            <c:spPr>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D348-49BB-80A4-A8EFE41BB3B9}"/>
              </c:ext>
            </c:extLst>
          </c:dPt>
          <c:dPt>
            <c:idx val="1"/>
            <c:bubble3D val="0"/>
            <c:spPr>
              <a:gradFill rotWithShape="1">
                <a:gsLst>
                  <a:gs pos="0">
                    <a:schemeClr val="accent5">
                      <a:shade val="51000"/>
                      <a:satMod val="130000"/>
                    </a:schemeClr>
                  </a:gs>
                  <a:gs pos="80000">
                    <a:schemeClr val="accent5">
                      <a:shade val="93000"/>
                      <a:satMod val="130000"/>
                    </a:schemeClr>
                  </a:gs>
                  <a:gs pos="100000">
                    <a:schemeClr val="accent5">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D348-49BB-80A4-A8EFE41BB3B9}"/>
              </c:ext>
            </c:extLst>
          </c:dPt>
          <c:cat>
            <c:strRef>
              <c:f>Sheet1!$A$2:$A$3</c:f>
              <c:strCache>
                <c:ptCount val="2"/>
                <c:pt idx="0">
                  <c:v>Direct Quotes</c:v>
                </c:pt>
                <c:pt idx="1">
                  <c:v>Paraphrasing</c:v>
                </c:pt>
              </c:strCache>
            </c:strRef>
          </c:cat>
          <c:val>
            <c:numRef>
              <c:f>Sheet1!$B$2:$B$3</c:f>
              <c:numCache>
                <c:formatCode>General</c:formatCode>
                <c:ptCount val="2"/>
                <c:pt idx="0">
                  <c:v>10</c:v>
                </c:pt>
                <c:pt idx="1">
                  <c:v>90</c:v>
                </c:pt>
              </c:numCache>
            </c:numRef>
          </c:val>
          <c:extLst>
            <c:ext xmlns:c16="http://schemas.microsoft.com/office/drawing/2014/chart" uri="{C3380CC4-5D6E-409C-BE32-E72D297353CC}">
              <c16:uniqueId val="{00000000-E265-45BC-AEAC-409B479C11E0}"/>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3AC2B0-FE16-47FE-AFF2-86E61295F43C}" type="datetimeFigureOut">
              <a:rPr lang="en-ZA" smtClean="0"/>
              <a:t>2026/04/20</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55830A-B483-4AEA-9330-2B01B6FAF8E9}" type="slidenum">
              <a:rPr lang="en-ZA" smtClean="0"/>
              <a:t>‹#›</a:t>
            </a:fld>
            <a:endParaRPr lang="en-ZA"/>
          </a:p>
        </p:txBody>
      </p:sp>
    </p:spTree>
    <p:extLst>
      <p:ext uri="{BB962C8B-B14F-4D97-AF65-F5344CB8AC3E}">
        <p14:creationId xmlns:p14="http://schemas.microsoft.com/office/powerpoint/2010/main" val="980673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D055830A-B483-4AEA-9330-2B01B6FAF8E9}" type="slidenum">
              <a:rPr lang="en-ZA" smtClean="0"/>
              <a:t>2</a:t>
            </a:fld>
            <a:endParaRPr lang="en-ZA"/>
          </a:p>
        </p:txBody>
      </p:sp>
    </p:spTree>
    <p:extLst>
      <p:ext uri="{BB962C8B-B14F-4D97-AF65-F5344CB8AC3E}">
        <p14:creationId xmlns:p14="http://schemas.microsoft.com/office/powerpoint/2010/main" val="2000941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D055830A-B483-4AEA-9330-2B01B6FAF8E9}" type="slidenum">
              <a:rPr lang="en-ZA" smtClean="0"/>
              <a:t>3</a:t>
            </a:fld>
            <a:endParaRPr lang="en-ZA"/>
          </a:p>
        </p:txBody>
      </p:sp>
    </p:spTree>
    <p:extLst>
      <p:ext uri="{BB962C8B-B14F-4D97-AF65-F5344CB8AC3E}">
        <p14:creationId xmlns:p14="http://schemas.microsoft.com/office/powerpoint/2010/main" val="2548192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4</a:t>
            </a:fld>
            <a:endParaRPr lang="en-ZA"/>
          </a:p>
        </p:txBody>
      </p:sp>
    </p:spTree>
    <p:extLst>
      <p:ext uri="{BB962C8B-B14F-4D97-AF65-F5344CB8AC3E}">
        <p14:creationId xmlns:p14="http://schemas.microsoft.com/office/powerpoint/2010/main" val="4240204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5</a:t>
            </a:fld>
            <a:endParaRPr lang="en-ZA"/>
          </a:p>
        </p:txBody>
      </p:sp>
    </p:spTree>
    <p:extLst>
      <p:ext uri="{BB962C8B-B14F-4D97-AF65-F5344CB8AC3E}">
        <p14:creationId xmlns:p14="http://schemas.microsoft.com/office/powerpoint/2010/main" val="27039920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6</a:t>
            </a:fld>
            <a:endParaRPr lang="en-ZA"/>
          </a:p>
        </p:txBody>
      </p:sp>
    </p:spTree>
    <p:extLst>
      <p:ext uri="{BB962C8B-B14F-4D97-AF65-F5344CB8AC3E}">
        <p14:creationId xmlns:p14="http://schemas.microsoft.com/office/powerpoint/2010/main" val="7181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7</a:t>
            </a:fld>
            <a:endParaRPr lang="en-ZA"/>
          </a:p>
        </p:txBody>
      </p:sp>
    </p:spTree>
    <p:extLst>
      <p:ext uri="{BB962C8B-B14F-4D97-AF65-F5344CB8AC3E}">
        <p14:creationId xmlns:p14="http://schemas.microsoft.com/office/powerpoint/2010/main" val="42355232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8</a:t>
            </a:fld>
            <a:endParaRPr lang="en-ZA"/>
          </a:p>
        </p:txBody>
      </p:sp>
    </p:spTree>
    <p:extLst>
      <p:ext uri="{BB962C8B-B14F-4D97-AF65-F5344CB8AC3E}">
        <p14:creationId xmlns:p14="http://schemas.microsoft.com/office/powerpoint/2010/main" val="3733362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9</a:t>
            </a:fld>
            <a:endParaRPr lang="en-ZA"/>
          </a:p>
        </p:txBody>
      </p:sp>
    </p:spTree>
    <p:extLst>
      <p:ext uri="{BB962C8B-B14F-4D97-AF65-F5344CB8AC3E}">
        <p14:creationId xmlns:p14="http://schemas.microsoft.com/office/powerpoint/2010/main" val="10466251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10</a:t>
            </a:fld>
            <a:endParaRPr lang="en-ZA"/>
          </a:p>
        </p:txBody>
      </p:sp>
    </p:spTree>
    <p:extLst>
      <p:ext uri="{BB962C8B-B14F-4D97-AF65-F5344CB8AC3E}">
        <p14:creationId xmlns:p14="http://schemas.microsoft.com/office/powerpoint/2010/main" val="3123564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11</a:t>
            </a:fld>
            <a:endParaRPr lang="en-ZA"/>
          </a:p>
        </p:txBody>
      </p:sp>
    </p:spTree>
    <p:extLst>
      <p:ext uri="{BB962C8B-B14F-4D97-AF65-F5344CB8AC3E}">
        <p14:creationId xmlns:p14="http://schemas.microsoft.com/office/powerpoint/2010/main" val="39976468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12</a:t>
            </a:fld>
            <a:endParaRPr lang="en-ZA"/>
          </a:p>
        </p:txBody>
      </p:sp>
    </p:spTree>
    <p:extLst>
      <p:ext uri="{BB962C8B-B14F-4D97-AF65-F5344CB8AC3E}">
        <p14:creationId xmlns:p14="http://schemas.microsoft.com/office/powerpoint/2010/main" val="3867240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D055830A-B483-4AEA-9330-2B01B6FAF8E9}" type="slidenum">
              <a:rPr lang="en-ZA" smtClean="0"/>
              <a:t>13</a:t>
            </a:fld>
            <a:endParaRPr lang="en-ZA"/>
          </a:p>
        </p:txBody>
      </p:sp>
    </p:spTree>
    <p:extLst>
      <p:ext uri="{BB962C8B-B14F-4D97-AF65-F5344CB8AC3E}">
        <p14:creationId xmlns:p14="http://schemas.microsoft.com/office/powerpoint/2010/main" val="33469530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b="0" i="0" dirty="0">
                <a:solidFill>
                  <a:srgbClr val="E6E8F0"/>
                </a:solidFill>
                <a:effectLst/>
                <a:latin typeface="Google Sans"/>
              </a:rPr>
              <a:t>Source:</a:t>
            </a:r>
          </a:p>
          <a:p>
            <a:pPr marL="0" indent="0" algn="l">
              <a:buFont typeface="Arial" panose="020B0604020202020204" pitchFamily="34" charset="0"/>
              <a:buNone/>
            </a:pPr>
            <a:r>
              <a:rPr lang="en-US" b="0" i="0" dirty="0">
                <a:solidFill>
                  <a:srgbClr val="E6E8F0"/>
                </a:solidFill>
                <a:effectLst/>
                <a:latin typeface="Google Sans"/>
              </a:rPr>
              <a:t>https://www.ref-n-write.com/blog/an-introduction-to-referencing-styles-with-examples/</a:t>
            </a:r>
          </a:p>
          <a:p>
            <a:pPr marL="0" indent="0" algn="l">
              <a:buFont typeface="Arial" panose="020B0604020202020204" pitchFamily="34" charset="0"/>
              <a:buNone/>
            </a:pPr>
            <a:r>
              <a:rPr lang="en-US" b="0" i="0" dirty="0">
                <a:solidFill>
                  <a:srgbClr val="E6E8F0"/>
                </a:solidFill>
                <a:effectLst/>
                <a:latin typeface="Google Sans"/>
              </a:rPr>
              <a:t>https://pitt.libguides.com/citationhelp</a:t>
            </a:r>
          </a:p>
          <a:p>
            <a:pPr marL="0" indent="0" algn="l">
              <a:buFont typeface="Arial" panose="020B0604020202020204" pitchFamily="34" charset="0"/>
              <a:buNone/>
            </a:pPr>
            <a:r>
              <a:rPr lang="en-US" b="0" i="0" dirty="0">
                <a:solidFill>
                  <a:srgbClr val="E6E8F0"/>
                </a:solidFill>
                <a:effectLst/>
                <a:latin typeface="Google Sans"/>
              </a:rPr>
              <a:t>https://www.rlf.org.uk/resources/mla-apa-harvard-or-mhra/</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14</a:t>
            </a:fld>
            <a:endParaRPr lang="en-ZA"/>
          </a:p>
        </p:txBody>
      </p:sp>
    </p:spTree>
    <p:extLst>
      <p:ext uri="{BB962C8B-B14F-4D97-AF65-F5344CB8AC3E}">
        <p14:creationId xmlns:p14="http://schemas.microsoft.com/office/powerpoint/2010/main" val="1579027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a:p>
            <a:endParaRPr lang="en-ZA" dirty="0"/>
          </a:p>
        </p:txBody>
      </p:sp>
      <p:sp>
        <p:nvSpPr>
          <p:cNvPr id="4" name="Slide Number Placeholder 3"/>
          <p:cNvSpPr>
            <a:spLocks noGrp="1"/>
          </p:cNvSpPr>
          <p:nvPr>
            <p:ph type="sldNum" sz="quarter" idx="5"/>
          </p:nvPr>
        </p:nvSpPr>
        <p:spPr/>
        <p:txBody>
          <a:bodyPr/>
          <a:lstStyle/>
          <a:p>
            <a:fld id="{D055830A-B483-4AEA-9330-2B01B6FAF8E9}" type="slidenum">
              <a:rPr lang="en-ZA" smtClean="0"/>
              <a:t>15</a:t>
            </a:fld>
            <a:endParaRPr lang="en-ZA"/>
          </a:p>
        </p:txBody>
      </p:sp>
    </p:spTree>
    <p:extLst>
      <p:ext uri="{BB962C8B-B14F-4D97-AF65-F5344CB8AC3E}">
        <p14:creationId xmlns:p14="http://schemas.microsoft.com/office/powerpoint/2010/main" val="3330313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a:p>
            <a:endParaRPr lang="en-ZA" dirty="0"/>
          </a:p>
        </p:txBody>
      </p:sp>
      <p:sp>
        <p:nvSpPr>
          <p:cNvPr id="4" name="Slide Number Placeholder 3"/>
          <p:cNvSpPr>
            <a:spLocks noGrp="1"/>
          </p:cNvSpPr>
          <p:nvPr>
            <p:ph type="sldNum" sz="quarter" idx="5"/>
          </p:nvPr>
        </p:nvSpPr>
        <p:spPr/>
        <p:txBody>
          <a:bodyPr/>
          <a:lstStyle/>
          <a:p>
            <a:fld id="{D055830A-B483-4AEA-9330-2B01B6FAF8E9}" type="slidenum">
              <a:rPr lang="en-ZA" smtClean="0"/>
              <a:t>16</a:t>
            </a:fld>
            <a:endParaRPr lang="en-ZA"/>
          </a:p>
        </p:txBody>
      </p:sp>
    </p:spTree>
    <p:extLst>
      <p:ext uri="{BB962C8B-B14F-4D97-AF65-F5344CB8AC3E}">
        <p14:creationId xmlns:p14="http://schemas.microsoft.com/office/powerpoint/2010/main" val="26422620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D055830A-B483-4AEA-9330-2B01B6FAF8E9}" type="slidenum">
              <a:rPr lang="en-ZA" smtClean="0"/>
              <a:t>17</a:t>
            </a:fld>
            <a:endParaRPr lang="en-ZA"/>
          </a:p>
        </p:txBody>
      </p:sp>
    </p:spTree>
    <p:extLst>
      <p:ext uri="{BB962C8B-B14F-4D97-AF65-F5344CB8AC3E}">
        <p14:creationId xmlns:p14="http://schemas.microsoft.com/office/powerpoint/2010/main" val="362382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18</a:t>
            </a:fld>
            <a:endParaRPr lang="en-ZA"/>
          </a:p>
        </p:txBody>
      </p:sp>
    </p:spTree>
    <p:extLst>
      <p:ext uri="{BB962C8B-B14F-4D97-AF65-F5344CB8AC3E}">
        <p14:creationId xmlns:p14="http://schemas.microsoft.com/office/powerpoint/2010/main" val="14650315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19</a:t>
            </a:fld>
            <a:endParaRPr lang="en-ZA"/>
          </a:p>
        </p:txBody>
      </p:sp>
    </p:spTree>
    <p:extLst>
      <p:ext uri="{BB962C8B-B14F-4D97-AF65-F5344CB8AC3E}">
        <p14:creationId xmlns:p14="http://schemas.microsoft.com/office/powerpoint/2010/main" val="3225550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a:t>
            </a:r>
          </a:p>
          <a:p>
            <a:r>
              <a:rPr lang="en-US" dirty="0"/>
              <a:t>https://www.science.org/content/article/ai-hallucinates-because-it-s-trained-fake-answers-it-doesn-t-know</a:t>
            </a:r>
          </a:p>
          <a:p>
            <a:r>
              <a:rPr lang="en-US" dirty="0"/>
              <a:t>https://www.insidehighered.com/news/faculty-issues/books-publishing/2026/03/06/journal-submissions-riddled-ai-created-fake</a:t>
            </a:r>
          </a:p>
          <a:p>
            <a:r>
              <a:rPr lang="en-US" dirty="0"/>
              <a:t>https://thebarristergroup.co.uk/blog/responding-to-ai-hallucinations-in-uk-jurisprudence#:~:text=AI%20hallucinations%20occur%20when%20an,Legal%20verification</a:t>
            </a:r>
          </a:p>
          <a:p>
            <a:r>
              <a:rPr lang="en-US" dirty="0"/>
              <a:t>https://www.linkedin.com/posts/reuvencohen_openai-just-found-cause-of-hallucinations-activity-7370576476242395136-mCxG#:~:text=6mo-,OpenAI%20just%20found%20cause%20of%20hallucinations%20of%20models.,learn%20when%20to%20hold%20back.</a:t>
            </a:r>
          </a:p>
          <a:p>
            <a:r>
              <a:rPr lang="en-US" dirty="0"/>
              <a:t>https://medium.com/the-resilient-is/when-ai-makes-things-up-understanding-hallucination-vs-bad-citations-d75e08064f77</a:t>
            </a:r>
          </a:p>
          <a:p>
            <a:r>
              <a:rPr lang="en-US" dirty="0"/>
              <a:t>https://misinforeview.hks.harvard.edu/article/new-sources-of-inaccuracy-a-conceptual-framework-for-studying-ai-hallucinations/</a:t>
            </a:r>
          </a:p>
        </p:txBody>
      </p:sp>
      <p:sp>
        <p:nvSpPr>
          <p:cNvPr id="4" name="Slide Number Placeholder 3"/>
          <p:cNvSpPr>
            <a:spLocks noGrp="1"/>
          </p:cNvSpPr>
          <p:nvPr>
            <p:ph type="sldNum" sz="quarter" idx="5"/>
          </p:nvPr>
        </p:nvSpPr>
        <p:spPr/>
        <p:txBody>
          <a:bodyPr/>
          <a:lstStyle/>
          <a:p>
            <a:fld id="{D055830A-B483-4AEA-9330-2B01B6FAF8E9}" type="slidenum">
              <a:rPr lang="en-ZA" smtClean="0"/>
              <a:t>20</a:t>
            </a:fld>
            <a:endParaRPr lang="en-ZA"/>
          </a:p>
        </p:txBody>
      </p:sp>
    </p:spTree>
    <p:extLst>
      <p:ext uri="{BB962C8B-B14F-4D97-AF65-F5344CB8AC3E}">
        <p14:creationId xmlns:p14="http://schemas.microsoft.com/office/powerpoint/2010/main" val="27489397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21</a:t>
            </a:fld>
            <a:endParaRPr lang="en-ZA"/>
          </a:p>
        </p:txBody>
      </p:sp>
    </p:spTree>
    <p:extLst>
      <p:ext uri="{BB962C8B-B14F-4D97-AF65-F5344CB8AC3E}">
        <p14:creationId xmlns:p14="http://schemas.microsoft.com/office/powerpoint/2010/main" val="38960244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22</a:t>
            </a:fld>
            <a:endParaRPr lang="en-ZA"/>
          </a:p>
        </p:txBody>
      </p:sp>
    </p:spTree>
    <p:extLst>
      <p:ext uri="{BB962C8B-B14F-4D97-AF65-F5344CB8AC3E}">
        <p14:creationId xmlns:p14="http://schemas.microsoft.com/office/powerpoint/2010/main" val="42883504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23</a:t>
            </a:fld>
            <a:endParaRPr lang="en-ZA"/>
          </a:p>
        </p:txBody>
      </p:sp>
    </p:spTree>
    <p:extLst>
      <p:ext uri="{BB962C8B-B14F-4D97-AF65-F5344CB8AC3E}">
        <p14:creationId xmlns:p14="http://schemas.microsoft.com/office/powerpoint/2010/main" val="37074854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24</a:t>
            </a:fld>
            <a:endParaRPr lang="en-ZA"/>
          </a:p>
        </p:txBody>
      </p:sp>
    </p:spTree>
    <p:extLst>
      <p:ext uri="{BB962C8B-B14F-4D97-AF65-F5344CB8AC3E}">
        <p14:creationId xmlns:p14="http://schemas.microsoft.com/office/powerpoint/2010/main" val="21269623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25</a:t>
            </a:fld>
            <a:endParaRPr lang="en-ZA"/>
          </a:p>
        </p:txBody>
      </p:sp>
    </p:spTree>
    <p:extLst>
      <p:ext uri="{BB962C8B-B14F-4D97-AF65-F5344CB8AC3E}">
        <p14:creationId xmlns:p14="http://schemas.microsoft.com/office/powerpoint/2010/main" val="13762440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b="0" i="0" dirty="0">
              <a:solidFill>
                <a:srgbClr val="333333"/>
              </a:solidFill>
              <a:effectLst/>
              <a:latin typeface="Inter" panose="02000503000000020004" pitchFamily="50" charset="0"/>
            </a:endParaRPr>
          </a:p>
        </p:txBody>
      </p:sp>
      <p:sp>
        <p:nvSpPr>
          <p:cNvPr id="4" name="Slide Number Placeholder 3"/>
          <p:cNvSpPr>
            <a:spLocks noGrp="1"/>
          </p:cNvSpPr>
          <p:nvPr>
            <p:ph type="sldNum" sz="quarter" idx="5"/>
          </p:nvPr>
        </p:nvSpPr>
        <p:spPr/>
        <p:txBody>
          <a:bodyPr/>
          <a:lstStyle/>
          <a:p>
            <a:fld id="{D055830A-B483-4AEA-9330-2B01B6FAF8E9}" type="slidenum">
              <a:rPr lang="en-ZA" smtClean="0"/>
              <a:t>26</a:t>
            </a:fld>
            <a:endParaRPr lang="en-ZA"/>
          </a:p>
        </p:txBody>
      </p:sp>
    </p:spTree>
    <p:extLst>
      <p:ext uri="{BB962C8B-B14F-4D97-AF65-F5344CB8AC3E}">
        <p14:creationId xmlns:p14="http://schemas.microsoft.com/office/powerpoint/2010/main" val="38558048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333333"/>
                </a:solidFill>
                <a:effectLst/>
                <a:latin typeface="Inter" panose="02000503000000020004" pitchFamily="50" charset="0"/>
              </a:rPr>
              <a:t>Harvard Referencing for AI-generated work:</a:t>
            </a:r>
          </a:p>
          <a:p>
            <a:pPr algn="l">
              <a:buFont typeface="+mj-lt"/>
              <a:buAutoNum type="arabicPeriod"/>
            </a:pPr>
            <a:r>
              <a:rPr lang="en-US" b="1" i="0" u="sng" dirty="0">
                <a:solidFill>
                  <a:srgbClr val="333333"/>
                </a:solidFill>
                <a:effectLst/>
                <a:latin typeface="Inter" panose="02000503000000020004" pitchFamily="50" charset="0"/>
              </a:rPr>
              <a:t>In-text reference example</a:t>
            </a:r>
            <a:r>
              <a:rPr lang="en-US" b="1" i="0" dirty="0">
                <a:solidFill>
                  <a:srgbClr val="333333"/>
                </a:solidFill>
                <a:effectLst/>
                <a:latin typeface="Inter" panose="02000503000000020004" pitchFamily="50" charset="0"/>
              </a:rPr>
              <a:t>:</a:t>
            </a:r>
            <a:endParaRPr lang="en-US" b="0" i="0" dirty="0">
              <a:solidFill>
                <a:srgbClr val="333333"/>
              </a:solidFill>
              <a:effectLst/>
              <a:latin typeface="Inter" panose="02000503000000020004" pitchFamily="50" charset="0"/>
            </a:endParaRPr>
          </a:p>
          <a:p>
            <a:pPr algn="l"/>
            <a:r>
              <a:rPr lang="en-US" b="0" i="0" dirty="0">
                <a:solidFill>
                  <a:srgbClr val="333333"/>
                </a:solidFill>
                <a:effectLst/>
                <a:latin typeface="Inter" panose="02000503000000020004" pitchFamily="50" charset="0"/>
              </a:rPr>
              <a:t>To acknowledge content or ideas retrieved from an AI tool like ChatGPT, Gemini, etc., include the AI author’s details followed by the year of the communication. This information will appear within your sentence/paragraph/caption, where you draw on the source.</a:t>
            </a:r>
          </a:p>
          <a:p>
            <a:pPr algn="l"/>
            <a:r>
              <a:rPr lang="en-US" b="0" i="0" dirty="0">
                <a:solidFill>
                  <a:srgbClr val="333333"/>
                </a:solidFill>
                <a:effectLst/>
                <a:latin typeface="Inter" panose="02000503000000020004" pitchFamily="50" charset="0"/>
              </a:rPr>
              <a:t>The state of higher education in South Africa is in a state of flux … (OpenAI ChatGPT 2024)</a:t>
            </a:r>
            <a:r>
              <a:rPr lang="en-US" b="0" i="0" baseline="30000" dirty="0">
                <a:solidFill>
                  <a:srgbClr val="333333"/>
                </a:solidFill>
                <a:effectLst/>
                <a:latin typeface="Inter" panose="02000503000000020004" pitchFamily="50" charset="0"/>
              </a:rPr>
              <a:t>1</a:t>
            </a:r>
            <a:endParaRPr lang="en-US" b="0" i="0" dirty="0">
              <a:solidFill>
                <a:srgbClr val="333333"/>
              </a:solidFill>
              <a:effectLst/>
              <a:latin typeface="Inter" panose="02000503000000020004" pitchFamily="50" charset="0"/>
            </a:endParaRPr>
          </a:p>
          <a:p>
            <a:pPr algn="l"/>
            <a:r>
              <a:rPr lang="en-US" b="0" i="0" dirty="0">
                <a:solidFill>
                  <a:srgbClr val="333333"/>
                </a:solidFill>
                <a:effectLst/>
                <a:latin typeface="Inter" panose="02000503000000020004" pitchFamily="50" charset="0"/>
              </a:rPr>
              <a:t>OpenAI ChatGPT (2024)</a:t>
            </a:r>
            <a:r>
              <a:rPr lang="en-US" b="0" i="0" baseline="30000" dirty="0">
                <a:solidFill>
                  <a:srgbClr val="333333"/>
                </a:solidFill>
                <a:effectLst/>
                <a:latin typeface="Inter" panose="02000503000000020004" pitchFamily="50" charset="0"/>
              </a:rPr>
              <a:t>2</a:t>
            </a:r>
            <a:r>
              <a:rPr lang="en-US" b="0" i="0" dirty="0">
                <a:solidFill>
                  <a:srgbClr val="333333"/>
                </a:solidFill>
                <a:effectLst/>
                <a:latin typeface="Inter" panose="02000503000000020004" pitchFamily="50" charset="0"/>
              </a:rPr>
              <a:t> generates a complex narrative on the state of higher education in South Africa, which can be seen as…</a:t>
            </a:r>
          </a:p>
          <a:p>
            <a:pPr algn="l"/>
            <a:r>
              <a:rPr lang="en-US" b="0" i="0" dirty="0">
                <a:solidFill>
                  <a:srgbClr val="333333"/>
                </a:solidFill>
                <a:effectLst/>
                <a:latin typeface="Inter" panose="02000503000000020004" pitchFamily="50" charset="0"/>
              </a:rPr>
              <a:t> </a:t>
            </a:r>
          </a:p>
          <a:p>
            <a:pPr algn="l"/>
            <a:r>
              <a:rPr lang="en-US" b="0" i="0" dirty="0">
                <a:solidFill>
                  <a:srgbClr val="333333"/>
                </a:solidFill>
                <a:effectLst/>
                <a:latin typeface="Inter" panose="02000503000000020004" pitchFamily="50" charset="0"/>
              </a:rPr>
              <a:t>Your citations for references</a:t>
            </a:r>
            <a:r>
              <a:rPr lang="en-US" b="0" i="0" baseline="30000" dirty="0">
                <a:solidFill>
                  <a:srgbClr val="333333"/>
                </a:solidFill>
                <a:effectLst/>
                <a:latin typeface="Inter" panose="02000503000000020004" pitchFamily="50" charset="0"/>
              </a:rPr>
              <a:t>1</a:t>
            </a:r>
            <a:r>
              <a:rPr lang="en-US" b="0" i="0" dirty="0">
                <a:solidFill>
                  <a:srgbClr val="333333"/>
                </a:solidFill>
                <a:effectLst/>
                <a:latin typeface="Inter" panose="02000503000000020004" pitchFamily="50" charset="0"/>
              </a:rPr>
              <a:t> and </a:t>
            </a:r>
            <a:r>
              <a:rPr lang="en-US" b="0" i="0" baseline="30000" dirty="0">
                <a:solidFill>
                  <a:srgbClr val="333333"/>
                </a:solidFill>
                <a:effectLst/>
                <a:latin typeface="Inter" panose="02000503000000020004" pitchFamily="50" charset="0"/>
              </a:rPr>
              <a:t>2</a:t>
            </a:r>
            <a:r>
              <a:rPr lang="en-US" b="0" i="0" dirty="0">
                <a:solidFill>
                  <a:srgbClr val="333333"/>
                </a:solidFill>
                <a:effectLst/>
                <a:latin typeface="Inter" panose="02000503000000020004" pitchFamily="50" charset="0"/>
              </a:rPr>
              <a:t> can then be expanded in the Reference section of the work, like this:</a:t>
            </a:r>
          </a:p>
          <a:p>
            <a:pPr algn="l">
              <a:buFont typeface="+mj-lt"/>
              <a:buAutoNum type="arabicPeriod"/>
            </a:pPr>
            <a:r>
              <a:rPr lang="en-US" b="1" i="0" u="sng" dirty="0">
                <a:solidFill>
                  <a:srgbClr val="333333"/>
                </a:solidFill>
                <a:effectLst/>
                <a:latin typeface="Inter" panose="02000503000000020004" pitchFamily="50" charset="0"/>
              </a:rPr>
              <a:t>Reference list format</a:t>
            </a:r>
            <a:r>
              <a:rPr lang="en-US" b="0" i="0" dirty="0">
                <a:solidFill>
                  <a:srgbClr val="333333"/>
                </a:solidFill>
                <a:effectLst/>
                <a:latin typeface="Inter" panose="02000503000000020004" pitchFamily="50" charset="0"/>
              </a:rPr>
              <a:t>:</a:t>
            </a:r>
          </a:p>
          <a:p>
            <a:pPr algn="l"/>
            <a:r>
              <a:rPr lang="en-US" b="0" i="0" dirty="0">
                <a:solidFill>
                  <a:srgbClr val="333333"/>
                </a:solidFill>
                <a:effectLst/>
                <a:latin typeface="Inter" panose="02000503000000020004" pitchFamily="50" charset="0"/>
              </a:rPr>
              <a:t>NAME OF AI TOOL, Year. [AI Tool name] response to [Name of prompter, e.g. student name], personal communication, 5</a:t>
            </a:r>
            <a:r>
              <a:rPr lang="en-US" b="0" i="0" baseline="30000" dirty="0">
                <a:solidFill>
                  <a:srgbClr val="333333"/>
                </a:solidFill>
                <a:effectLst/>
                <a:latin typeface="Inter" panose="02000503000000020004" pitchFamily="50" charset="0"/>
              </a:rPr>
              <a:t>th</a:t>
            </a:r>
            <a:r>
              <a:rPr lang="en-US" b="0" i="0" dirty="0">
                <a:solidFill>
                  <a:srgbClr val="333333"/>
                </a:solidFill>
                <a:effectLst/>
                <a:latin typeface="Inter" panose="02000503000000020004" pitchFamily="50" charset="0"/>
              </a:rPr>
              <a:t> September 2024.</a:t>
            </a:r>
          </a:p>
          <a:p>
            <a:pPr algn="l"/>
            <a:r>
              <a:rPr lang="en-US" b="0" i="1" dirty="0">
                <a:solidFill>
                  <a:srgbClr val="333333"/>
                </a:solidFill>
                <a:effectLst/>
                <a:latin typeface="Inter" panose="02000503000000020004" pitchFamily="50" charset="0"/>
              </a:rPr>
              <a:t>OpenAI ChatGPT, 2024. ChatGPT response to Simba Livingstone, personal communication, 5</a:t>
            </a:r>
            <a:r>
              <a:rPr lang="en-US" b="0" i="1" baseline="30000" dirty="0">
                <a:solidFill>
                  <a:srgbClr val="333333"/>
                </a:solidFill>
                <a:effectLst/>
                <a:latin typeface="Inter" panose="02000503000000020004" pitchFamily="50" charset="0"/>
              </a:rPr>
              <a:t>th</a:t>
            </a:r>
            <a:r>
              <a:rPr lang="en-US" b="0" i="1" dirty="0">
                <a:solidFill>
                  <a:srgbClr val="333333"/>
                </a:solidFill>
                <a:effectLst/>
                <a:latin typeface="Inter" panose="02000503000000020004" pitchFamily="50" charset="0"/>
              </a:rPr>
              <a:t> September 2024.</a:t>
            </a:r>
            <a:endParaRPr lang="en-US" b="0" i="0" dirty="0">
              <a:solidFill>
                <a:srgbClr val="333333"/>
              </a:solidFill>
              <a:effectLst/>
              <a:latin typeface="Inter" panose="02000503000000020004" pitchFamily="50" charset="0"/>
            </a:endParaRPr>
          </a:p>
          <a:p>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27</a:t>
            </a:fld>
            <a:endParaRPr lang="en-ZA"/>
          </a:p>
        </p:txBody>
      </p:sp>
    </p:spTree>
    <p:extLst>
      <p:ext uri="{BB962C8B-B14F-4D97-AF65-F5344CB8AC3E}">
        <p14:creationId xmlns:p14="http://schemas.microsoft.com/office/powerpoint/2010/main" val="41764100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28</a:t>
            </a:fld>
            <a:endParaRPr lang="en-ZA"/>
          </a:p>
        </p:txBody>
      </p:sp>
    </p:spTree>
    <p:extLst>
      <p:ext uri="{BB962C8B-B14F-4D97-AF65-F5344CB8AC3E}">
        <p14:creationId xmlns:p14="http://schemas.microsoft.com/office/powerpoint/2010/main" val="32447612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29</a:t>
            </a:fld>
            <a:endParaRPr lang="en-ZA"/>
          </a:p>
        </p:txBody>
      </p:sp>
    </p:spTree>
    <p:extLst>
      <p:ext uri="{BB962C8B-B14F-4D97-AF65-F5344CB8AC3E}">
        <p14:creationId xmlns:p14="http://schemas.microsoft.com/office/powerpoint/2010/main" val="25992449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55830A-B483-4AEA-9330-2B01B6FAF8E9}" type="slidenum">
              <a:rPr lang="en-ZA" smtClean="0"/>
              <a:t>30</a:t>
            </a:fld>
            <a:endParaRPr lang="en-ZA"/>
          </a:p>
        </p:txBody>
      </p:sp>
    </p:spTree>
    <p:extLst>
      <p:ext uri="{BB962C8B-B14F-4D97-AF65-F5344CB8AC3E}">
        <p14:creationId xmlns:p14="http://schemas.microsoft.com/office/powerpoint/2010/main" val="1018912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hyperlink" Target="https://www.uts.edu.au/globalassets/sites/default/files/paraphrasing-summarising--quoting-to-avoid-plagiarism-jonny.pdf" TargetMode="Externa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hyperlink" Target="https://uwaterloo.ca/writing-and-communication-centre/blog/how-turn-high-school-hamburger-essay-university-level-paper"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hyperlink" Target="http://desktop-download.mendeley.com/download/Getting_Started_Guide.pdf" TargetMode="External"/><Relationship Id="rId4" Type="http://schemas.openxmlformats.org/officeDocument/2006/relationships/hyperlink" Target="https://libguides.library.cput.ac.za/mendeley"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hyperlink" Target="https://www.nature.com/articles/d41586-026-00969-z"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hyperlink" Target="https://www.cput.ac.za/student-ai-practice-guide"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hyperlink" Target="https://www.sylvainperrier.com/critical-thinking-in-an-ai-world-the-one-human-skill-that-will-not-be-automated/"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morehouse.edu/admissions/blog/the-importance-of-writing-in-todays-world" TargetMode="Externa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grpSp>
        <p:nvGrpSpPr>
          <p:cNvPr id="2" name="Group 2"/>
          <p:cNvGrpSpPr/>
          <p:nvPr/>
        </p:nvGrpSpPr>
        <p:grpSpPr>
          <a:xfrm>
            <a:off x="8295175" y="-314933"/>
            <a:ext cx="11061114" cy="11063997"/>
            <a:chOff x="0" y="0"/>
            <a:chExt cx="2913215" cy="2913974"/>
          </a:xfrm>
        </p:grpSpPr>
        <p:sp>
          <p:nvSpPr>
            <p:cNvPr id="3" name="Freeform 3"/>
            <p:cNvSpPr/>
            <p:nvPr/>
          </p:nvSpPr>
          <p:spPr>
            <a:xfrm>
              <a:off x="0" y="0"/>
              <a:ext cx="2913215" cy="2913974"/>
            </a:xfrm>
            <a:custGeom>
              <a:avLst/>
              <a:gdLst/>
              <a:ahLst/>
              <a:cxnLst/>
              <a:rect l="l" t="t" r="r" b="b"/>
              <a:pathLst>
                <a:path w="2913215" h="2913974">
                  <a:moveTo>
                    <a:pt x="0" y="0"/>
                  </a:moveTo>
                  <a:lnTo>
                    <a:pt x="2913215" y="0"/>
                  </a:lnTo>
                  <a:lnTo>
                    <a:pt x="2913215"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4" name="TextBox 4"/>
            <p:cNvSpPr txBox="1"/>
            <p:nvPr/>
          </p:nvSpPr>
          <p:spPr>
            <a:xfrm>
              <a:off x="0" y="-38100"/>
              <a:ext cx="2913215" cy="295207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9144000" y="716454"/>
            <a:ext cx="8902652" cy="8854092"/>
          </a:xfrm>
          <a:custGeom>
            <a:avLst/>
            <a:gdLst/>
            <a:ahLst/>
            <a:cxnLst/>
            <a:rect l="l" t="t" r="r" b="b"/>
            <a:pathLst>
              <a:path w="8902652" h="8854092">
                <a:moveTo>
                  <a:pt x="0" y="0"/>
                </a:moveTo>
                <a:lnTo>
                  <a:pt x="8902652" y="0"/>
                </a:lnTo>
                <a:lnTo>
                  <a:pt x="8902652" y="8854092"/>
                </a:lnTo>
                <a:lnTo>
                  <a:pt x="0" y="88540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sp>
        <p:nvSpPr>
          <p:cNvPr id="6" name="TextBox 6"/>
          <p:cNvSpPr txBox="1"/>
          <p:nvPr/>
        </p:nvSpPr>
        <p:spPr>
          <a:xfrm>
            <a:off x="264208" y="3467100"/>
            <a:ext cx="7812992" cy="2411814"/>
          </a:xfrm>
          <a:prstGeom prst="rect">
            <a:avLst/>
          </a:prstGeom>
        </p:spPr>
        <p:txBody>
          <a:bodyPr wrap="square" lIns="0" tIns="0" rIns="0" bIns="0" rtlCol="0" anchor="t">
            <a:spAutoFit/>
          </a:bodyPr>
          <a:lstStyle/>
          <a:p>
            <a:pPr marL="0" lvl="0" indent="0" algn="ctr">
              <a:lnSpc>
                <a:spcPts val="10080"/>
              </a:lnSpc>
              <a:spcBef>
                <a:spcPct val="0"/>
              </a:spcBef>
            </a:pPr>
            <a:r>
              <a:rPr lang="en-US" sz="6600" u="none" dirty="0">
                <a:solidFill>
                  <a:srgbClr val="000000"/>
                </a:solidFill>
                <a:latin typeface="Sanchez"/>
                <a:ea typeface="Sanchez"/>
                <a:cs typeface="Sanchez"/>
                <a:sym typeface="Sanchez"/>
              </a:rPr>
              <a:t>Academic Writing: </a:t>
            </a:r>
            <a:r>
              <a:rPr lang="en-US" sz="4400" u="none" dirty="0">
                <a:solidFill>
                  <a:srgbClr val="000000"/>
                </a:solidFill>
                <a:latin typeface="Sanchez"/>
                <a:ea typeface="Sanchez"/>
                <a:cs typeface="Sanchez"/>
                <a:sym typeface="Sanchez"/>
              </a:rPr>
              <a:t>as a NEW IT Researcher</a:t>
            </a:r>
            <a:endParaRPr lang="en-US" sz="6600" u="none" dirty="0">
              <a:solidFill>
                <a:srgbClr val="000000"/>
              </a:solidFill>
              <a:latin typeface="Sanchez"/>
              <a:ea typeface="Sanchez"/>
              <a:cs typeface="Sanchez"/>
              <a:sym typeface="Sanchez"/>
            </a:endParaRPr>
          </a:p>
        </p:txBody>
      </p:sp>
      <p:sp>
        <p:nvSpPr>
          <p:cNvPr id="7" name="TextBox 7"/>
          <p:cNvSpPr txBox="1"/>
          <p:nvPr/>
        </p:nvSpPr>
        <p:spPr>
          <a:xfrm>
            <a:off x="264208" y="8496300"/>
            <a:ext cx="6136592" cy="1544141"/>
          </a:xfrm>
          <a:prstGeom prst="rect">
            <a:avLst/>
          </a:prstGeom>
        </p:spPr>
        <p:txBody>
          <a:bodyPr wrap="square" lIns="0" tIns="0" rIns="0" bIns="0" rtlCol="0" anchor="t">
            <a:spAutoFit/>
          </a:bodyPr>
          <a:lstStyle/>
          <a:p>
            <a:pPr marL="0" lvl="0" indent="0" algn="l">
              <a:lnSpc>
                <a:spcPts val="4060"/>
              </a:lnSpc>
              <a:spcBef>
                <a:spcPct val="0"/>
              </a:spcBef>
            </a:pPr>
            <a:r>
              <a:rPr lang="en-US" sz="2900" dirty="0">
                <a:solidFill>
                  <a:srgbClr val="000000"/>
                </a:solidFill>
                <a:ea typeface="Open Sauce"/>
                <a:cs typeface="Open Sauce"/>
                <a:sym typeface="Open Sauce"/>
              </a:rPr>
              <a:t>Dr. Kirby America</a:t>
            </a:r>
          </a:p>
          <a:p>
            <a:pPr marL="0" lvl="0" indent="0" algn="l">
              <a:lnSpc>
                <a:spcPts val="4060"/>
              </a:lnSpc>
              <a:spcBef>
                <a:spcPct val="0"/>
              </a:spcBef>
            </a:pPr>
            <a:r>
              <a:rPr lang="en-ZA" sz="2900" dirty="0"/>
              <a:t>Research Methodology Guest Lecture</a:t>
            </a:r>
          </a:p>
          <a:p>
            <a:pPr marL="0" lvl="0" indent="0" algn="l">
              <a:lnSpc>
                <a:spcPts val="4060"/>
              </a:lnSpc>
              <a:spcBef>
                <a:spcPct val="0"/>
              </a:spcBef>
            </a:pPr>
            <a:r>
              <a:rPr lang="en-ZA" sz="2900" dirty="0">
                <a:solidFill>
                  <a:srgbClr val="000000"/>
                </a:solidFill>
                <a:ea typeface="Open Sauce"/>
                <a:cs typeface="Open Sauce"/>
                <a:sym typeface="Open Sauce"/>
              </a:rPr>
              <a:t>20 April 2026</a:t>
            </a:r>
            <a:endParaRPr lang="en-US" sz="2900" dirty="0">
              <a:solidFill>
                <a:srgbClr val="000000"/>
              </a:solidFill>
              <a:ea typeface="Open Sauce"/>
              <a:cs typeface="Open Sauce"/>
              <a:sym typeface="Open Sauc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5695313" y="-4267200"/>
            <a:ext cx="6897376" cy="19927577"/>
            <a:chOff x="0" y="0"/>
            <a:chExt cx="2605710" cy="2913974"/>
          </a:xfrm>
        </p:grpSpPr>
        <p:sp>
          <p:nvSpPr>
            <p:cNvPr id="3" name="Freeform 3"/>
            <p:cNvSpPr/>
            <p:nvPr/>
          </p:nvSpPr>
          <p:spPr>
            <a:xfrm>
              <a:off x="0" y="0"/>
              <a:ext cx="2605710" cy="2913974"/>
            </a:xfrm>
            <a:custGeom>
              <a:avLst/>
              <a:gdLst/>
              <a:ahLst/>
              <a:cxnLst/>
              <a:rect l="l" t="t" r="r" b="b"/>
              <a:pathLst>
                <a:path w="2605710" h="2913974">
                  <a:moveTo>
                    <a:pt x="0" y="0"/>
                  </a:moveTo>
                  <a:lnTo>
                    <a:pt x="2605710" y="0"/>
                  </a:lnTo>
                  <a:lnTo>
                    <a:pt x="2605710"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4" name="TextBox 4"/>
            <p:cNvSpPr txBox="1"/>
            <p:nvPr/>
          </p:nvSpPr>
          <p:spPr>
            <a:xfrm>
              <a:off x="0" y="-38100"/>
              <a:ext cx="2605710" cy="295207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262690" y="419100"/>
            <a:ext cx="16023174" cy="930063"/>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Session Roadmap</a:t>
            </a:r>
          </a:p>
        </p:txBody>
      </p:sp>
      <p:pic>
        <p:nvPicPr>
          <p:cNvPr id="7" name="Picture 6" descr="A diagram of a diagram&#10;&#10;AI-generated content may be incorrect.">
            <a:extLst>
              <a:ext uri="{FF2B5EF4-FFF2-40B4-BE49-F238E27FC236}">
                <a16:creationId xmlns:a16="http://schemas.microsoft.com/office/drawing/2014/main" id="{6E07C290-6D67-7027-3D39-A031872118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684" y="1485900"/>
            <a:ext cx="17078632" cy="81117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grpSp>
        <p:nvGrpSpPr>
          <p:cNvPr id="15" name="Group 2">
            <a:extLst>
              <a:ext uri="{FF2B5EF4-FFF2-40B4-BE49-F238E27FC236}">
                <a16:creationId xmlns:a16="http://schemas.microsoft.com/office/drawing/2014/main" id="{73621734-E27E-1EE4-1FBB-77391456F8B8}"/>
              </a:ext>
            </a:extLst>
          </p:cNvPr>
          <p:cNvGrpSpPr/>
          <p:nvPr/>
        </p:nvGrpSpPr>
        <p:grpSpPr>
          <a:xfrm rot="5400000">
            <a:off x="2202964" y="1451693"/>
            <a:ext cx="5754375" cy="8668387"/>
            <a:chOff x="0" y="0"/>
            <a:chExt cx="2605710" cy="2913974"/>
          </a:xfrm>
        </p:grpSpPr>
        <p:sp>
          <p:nvSpPr>
            <p:cNvPr id="16" name="Freeform 3">
              <a:extLst>
                <a:ext uri="{FF2B5EF4-FFF2-40B4-BE49-F238E27FC236}">
                  <a16:creationId xmlns:a16="http://schemas.microsoft.com/office/drawing/2014/main" id="{7AE3014D-5219-082A-EFF2-C0132F62A477}"/>
                </a:ext>
              </a:extLst>
            </p:cNvPr>
            <p:cNvSpPr/>
            <p:nvPr/>
          </p:nvSpPr>
          <p:spPr>
            <a:xfrm>
              <a:off x="0" y="0"/>
              <a:ext cx="2605710" cy="2913974"/>
            </a:xfrm>
            <a:custGeom>
              <a:avLst/>
              <a:gdLst/>
              <a:ahLst/>
              <a:cxnLst/>
              <a:rect l="l" t="t" r="r" b="b"/>
              <a:pathLst>
                <a:path w="2605710" h="2913974">
                  <a:moveTo>
                    <a:pt x="0" y="0"/>
                  </a:moveTo>
                  <a:lnTo>
                    <a:pt x="2605710" y="0"/>
                  </a:lnTo>
                  <a:lnTo>
                    <a:pt x="2605710"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17" name="TextBox 4">
              <a:extLst>
                <a:ext uri="{FF2B5EF4-FFF2-40B4-BE49-F238E27FC236}">
                  <a16:creationId xmlns:a16="http://schemas.microsoft.com/office/drawing/2014/main" id="{9B22DBBC-E28A-A874-B595-4AA3F126C7BE}"/>
                </a:ext>
              </a:extLst>
            </p:cNvPr>
            <p:cNvSpPr txBox="1"/>
            <p:nvPr/>
          </p:nvSpPr>
          <p:spPr>
            <a:xfrm>
              <a:off x="0" y="-38100"/>
              <a:ext cx="2605710" cy="2952074"/>
            </a:xfrm>
            <a:prstGeom prst="rect">
              <a:avLst/>
            </a:prstGeom>
          </p:spPr>
          <p:txBody>
            <a:bodyPr lIns="50800" tIns="50800" rIns="50800" bIns="50800" rtlCol="0" anchor="ctr"/>
            <a:lstStyle/>
            <a:p>
              <a:pPr algn="ctr">
                <a:lnSpc>
                  <a:spcPts val="2659"/>
                </a:lnSpc>
              </a:pPr>
              <a:endParaRPr/>
            </a:p>
          </p:txBody>
        </p:sp>
      </p:grpSp>
      <p:sp>
        <p:nvSpPr>
          <p:cNvPr id="2" name="TextBox 2"/>
          <p:cNvSpPr txBox="1"/>
          <p:nvPr/>
        </p:nvSpPr>
        <p:spPr>
          <a:xfrm>
            <a:off x="1079651" y="3467100"/>
            <a:ext cx="8001000" cy="4237507"/>
          </a:xfrm>
          <a:prstGeom prst="rect">
            <a:avLst/>
          </a:prstGeom>
        </p:spPr>
        <p:txBody>
          <a:bodyPr wrap="square" lIns="0" tIns="0" rIns="0" bIns="0" rtlCol="0" anchor="t">
            <a:spAutoFit/>
          </a:bodyPr>
          <a:lstStyle/>
          <a:p>
            <a:pPr algn="ctr">
              <a:lnSpc>
                <a:spcPts val="4759"/>
              </a:lnSpc>
            </a:pPr>
            <a:r>
              <a:rPr lang="en-US" sz="3600" b="1" dirty="0">
                <a:solidFill>
                  <a:srgbClr val="000000"/>
                </a:solidFill>
                <a:latin typeface="Open Sauce"/>
                <a:ea typeface="Open Sauce"/>
                <a:cs typeface="Open Sauce"/>
                <a:sym typeface="Open Sauce"/>
              </a:rPr>
              <a:t>REMEMBER THE </a:t>
            </a:r>
            <a:r>
              <a:rPr lang="en-US" sz="3600" b="1" dirty="0">
                <a:solidFill>
                  <a:srgbClr val="FFD700"/>
                </a:solidFill>
                <a:effectLst>
                  <a:outerShdw blurRad="38100" dist="38100" dir="2700000" algn="tl">
                    <a:srgbClr val="000000">
                      <a:alpha val="43137"/>
                    </a:srgbClr>
                  </a:outerShdw>
                </a:effectLst>
                <a:latin typeface="Open Sauce"/>
                <a:ea typeface="Open Sauce"/>
                <a:cs typeface="Open Sauce"/>
                <a:sym typeface="Open Sauce"/>
              </a:rPr>
              <a:t>GOLDEN RULES</a:t>
            </a:r>
            <a:r>
              <a:rPr lang="en-US" sz="3600" b="1" dirty="0">
                <a:solidFill>
                  <a:srgbClr val="000000"/>
                </a:solidFill>
                <a:latin typeface="Open Sauce"/>
                <a:ea typeface="Open Sauce"/>
                <a:cs typeface="Open Sauce"/>
                <a:sym typeface="Open Sauce"/>
              </a:rPr>
              <a:t>:</a:t>
            </a:r>
          </a:p>
          <a:p>
            <a:pPr algn="ctr">
              <a:lnSpc>
                <a:spcPts val="4759"/>
              </a:lnSpc>
            </a:pPr>
            <a:endParaRPr lang="en-US" sz="3600" b="1" dirty="0">
              <a:solidFill>
                <a:srgbClr val="000000"/>
              </a:solidFill>
              <a:latin typeface="Open Sauce"/>
              <a:ea typeface="Open Sauce"/>
              <a:cs typeface="Open Sauce"/>
              <a:sym typeface="Open Sauce"/>
            </a:endParaRPr>
          </a:p>
          <a:p>
            <a:pPr marL="457200" indent="-457200">
              <a:lnSpc>
                <a:spcPts val="4759"/>
              </a:lnSpc>
              <a:buFont typeface="Arial" panose="020B0604020202020204" pitchFamily="34" charset="0"/>
              <a:buChar char="•"/>
            </a:pPr>
            <a:r>
              <a:rPr lang="en-US" sz="2400" dirty="0">
                <a:solidFill>
                  <a:srgbClr val="000000"/>
                </a:solidFill>
                <a:latin typeface="Open Sauce"/>
                <a:ea typeface="Open Sauce"/>
                <a:cs typeface="Open Sauce"/>
                <a:sym typeface="Open Sauce"/>
              </a:rPr>
              <a:t>Consistency is key.</a:t>
            </a:r>
          </a:p>
          <a:p>
            <a:pPr marL="457200" indent="-457200">
              <a:lnSpc>
                <a:spcPts val="4759"/>
              </a:lnSpc>
              <a:buFont typeface="Arial" panose="020B0604020202020204" pitchFamily="34" charset="0"/>
              <a:buChar char="•"/>
            </a:pPr>
            <a:r>
              <a:rPr lang="en-US" sz="2400" dirty="0">
                <a:solidFill>
                  <a:srgbClr val="000000"/>
                </a:solidFill>
                <a:latin typeface="Open Sauce"/>
                <a:ea typeface="Open Sauce"/>
                <a:cs typeface="Open Sauce"/>
                <a:sym typeface="Open Sauce"/>
              </a:rPr>
              <a:t>Every in-text citation must have a matching reference list entry.</a:t>
            </a:r>
          </a:p>
          <a:p>
            <a:pPr marL="457200" indent="-457200">
              <a:lnSpc>
                <a:spcPts val="4759"/>
              </a:lnSpc>
              <a:buFont typeface="Arial" panose="020B0604020202020204" pitchFamily="34" charset="0"/>
              <a:buChar char="•"/>
            </a:pPr>
            <a:r>
              <a:rPr lang="en-US" sz="2400" dirty="0">
                <a:solidFill>
                  <a:srgbClr val="000000"/>
                </a:solidFill>
                <a:latin typeface="Open Sauce"/>
                <a:ea typeface="Open Sauce"/>
                <a:cs typeface="Open Sauce"/>
                <a:sym typeface="Open Sauce"/>
              </a:rPr>
              <a:t>Specific IT sources (GitHub, software, technical reports) require specific patterns.</a:t>
            </a:r>
          </a:p>
        </p:txBody>
      </p:sp>
      <p:sp>
        <p:nvSpPr>
          <p:cNvPr id="3" name="TextBox 3"/>
          <p:cNvSpPr txBox="1"/>
          <p:nvPr/>
        </p:nvSpPr>
        <p:spPr>
          <a:xfrm>
            <a:off x="1866900" y="403046"/>
            <a:ext cx="14554200" cy="1013098"/>
          </a:xfrm>
          <a:prstGeom prst="rect">
            <a:avLst/>
          </a:prstGeom>
        </p:spPr>
        <p:txBody>
          <a:bodyPr wrap="square" lIns="0" tIns="0" rIns="0" bIns="0" rtlCol="0" anchor="t">
            <a:spAutoFit/>
          </a:bodyPr>
          <a:lstStyle/>
          <a:p>
            <a:pPr marL="0" lvl="0" indent="0" algn="ctr">
              <a:lnSpc>
                <a:spcPts val="7920"/>
              </a:lnSpc>
            </a:pPr>
            <a:r>
              <a:rPr lang="en-US" sz="7200" dirty="0">
                <a:solidFill>
                  <a:srgbClr val="000000"/>
                </a:solidFill>
                <a:latin typeface="Sanchez"/>
                <a:ea typeface="Sanchez"/>
                <a:cs typeface="Sanchez"/>
                <a:sym typeface="Sanchez"/>
              </a:rPr>
              <a:t>The IT Professional as a Writer</a:t>
            </a:r>
          </a:p>
        </p:txBody>
      </p:sp>
      <p:sp>
        <p:nvSpPr>
          <p:cNvPr id="18" name="Freeform 5">
            <a:extLst>
              <a:ext uri="{FF2B5EF4-FFF2-40B4-BE49-F238E27FC236}">
                <a16:creationId xmlns:a16="http://schemas.microsoft.com/office/drawing/2014/main" id="{91C3BE3F-535E-A258-CBD7-2C6CCFE43E0F}"/>
              </a:ext>
            </a:extLst>
          </p:cNvPr>
          <p:cNvSpPr/>
          <p:nvPr/>
        </p:nvSpPr>
        <p:spPr>
          <a:xfrm>
            <a:off x="10173198" y="2247900"/>
            <a:ext cx="7286937" cy="8229600"/>
          </a:xfrm>
          <a:custGeom>
            <a:avLst/>
            <a:gdLst/>
            <a:ahLst/>
            <a:cxnLst/>
            <a:rect l="l" t="t" r="r" b="b"/>
            <a:pathLst>
              <a:path w="7286937" h="8229600">
                <a:moveTo>
                  <a:pt x="0" y="0"/>
                </a:moveTo>
                <a:lnTo>
                  <a:pt x="7286936" y="0"/>
                </a:lnTo>
                <a:lnTo>
                  <a:pt x="7286936" y="8229600"/>
                </a:lnTo>
                <a:lnTo>
                  <a:pt x="0" y="82296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grpSp>
        <p:nvGrpSpPr>
          <p:cNvPr id="2" name="Group 2"/>
          <p:cNvGrpSpPr/>
          <p:nvPr/>
        </p:nvGrpSpPr>
        <p:grpSpPr>
          <a:xfrm>
            <a:off x="8305801" y="-190500"/>
            <a:ext cx="9982199" cy="11063997"/>
            <a:chOff x="0" y="0"/>
            <a:chExt cx="2481045" cy="2913974"/>
          </a:xfrm>
        </p:grpSpPr>
        <p:sp>
          <p:nvSpPr>
            <p:cNvPr id="3" name="Freeform 3"/>
            <p:cNvSpPr/>
            <p:nvPr/>
          </p:nvSpPr>
          <p:spPr>
            <a:xfrm>
              <a:off x="0" y="0"/>
              <a:ext cx="2481045" cy="2913974"/>
            </a:xfrm>
            <a:custGeom>
              <a:avLst/>
              <a:gdLst/>
              <a:ahLst/>
              <a:cxnLst/>
              <a:rect l="l" t="t" r="r" b="b"/>
              <a:pathLst>
                <a:path w="2481045" h="2913974">
                  <a:moveTo>
                    <a:pt x="0" y="0"/>
                  </a:moveTo>
                  <a:lnTo>
                    <a:pt x="2481045" y="0"/>
                  </a:lnTo>
                  <a:lnTo>
                    <a:pt x="2481045"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4" name="TextBox 4"/>
            <p:cNvSpPr txBox="1"/>
            <p:nvPr/>
          </p:nvSpPr>
          <p:spPr>
            <a:xfrm>
              <a:off x="0" y="-38100"/>
              <a:ext cx="2481045" cy="295207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81000" y="266700"/>
            <a:ext cx="7924801" cy="1846659"/>
          </a:xfrm>
          <a:prstGeom prst="rect">
            <a:avLst/>
          </a:prstGeom>
        </p:spPr>
        <p:txBody>
          <a:bodyPr wrap="square" lIns="0" tIns="0" rIns="0" bIns="0" rtlCol="0" anchor="t">
            <a:spAutoFit/>
          </a:bodyPr>
          <a:lstStyle/>
          <a:p>
            <a:pPr marL="0" lvl="0" indent="0" algn="ctr">
              <a:lnSpc>
                <a:spcPts val="7200"/>
              </a:lnSpc>
            </a:pPr>
            <a:r>
              <a:rPr lang="en-US" sz="6600" dirty="0">
                <a:solidFill>
                  <a:srgbClr val="000000"/>
                </a:solidFill>
                <a:latin typeface="Sanchez"/>
                <a:ea typeface="Sanchez"/>
                <a:cs typeface="Sanchez"/>
                <a:sym typeface="Sanchez"/>
              </a:rPr>
              <a:t>The Mechanics of Academic Writing</a:t>
            </a:r>
          </a:p>
        </p:txBody>
      </p:sp>
      <p:sp>
        <p:nvSpPr>
          <p:cNvPr id="7" name="TextBox 7"/>
          <p:cNvSpPr txBox="1"/>
          <p:nvPr/>
        </p:nvSpPr>
        <p:spPr>
          <a:xfrm>
            <a:off x="8601634" y="0"/>
            <a:ext cx="9457766" cy="10231006"/>
          </a:xfrm>
          <a:prstGeom prst="rect">
            <a:avLst/>
          </a:prstGeom>
        </p:spPr>
        <p:txBody>
          <a:bodyPr wrap="square" lIns="0" tIns="0" rIns="0" bIns="0" rtlCol="0" anchor="t">
            <a:spAutoFit/>
          </a:bodyPr>
          <a:lstStyle/>
          <a:p>
            <a:pPr>
              <a:lnSpc>
                <a:spcPts val="4759"/>
              </a:lnSpc>
            </a:pPr>
            <a:r>
              <a:rPr lang="en-US" sz="3600" b="1" dirty="0">
                <a:solidFill>
                  <a:srgbClr val="000000"/>
                </a:solidFill>
                <a:latin typeface="Open Sauce"/>
                <a:ea typeface="Open Sauce"/>
                <a:cs typeface="Open Sauce"/>
                <a:sym typeface="Open Sauce"/>
              </a:rPr>
              <a:t>TONE</a:t>
            </a:r>
          </a:p>
          <a:p>
            <a:pPr algn="just">
              <a:lnSpc>
                <a:spcPct val="150000"/>
              </a:lnSpc>
            </a:pPr>
            <a:r>
              <a:rPr lang="en-US" dirty="0">
                <a:solidFill>
                  <a:srgbClr val="000000"/>
                </a:solidFill>
                <a:latin typeface="Open Sauce"/>
                <a:ea typeface="Open Sauce"/>
                <a:cs typeface="Open Sauce"/>
                <a:sym typeface="Open Sauce"/>
              </a:rPr>
              <a:t>Academic writing </a:t>
            </a:r>
            <a:r>
              <a:rPr lang="en-US" dirty="0">
                <a:solidFill>
                  <a:srgbClr val="C00000"/>
                </a:solidFill>
                <a:latin typeface="Open Sauce"/>
                <a:ea typeface="Open Sauce"/>
                <a:cs typeface="Open Sauce"/>
                <a:sym typeface="Open Sauce"/>
              </a:rPr>
              <a:t>avoids informal language</a:t>
            </a:r>
            <a:r>
              <a:rPr lang="en-US" dirty="0">
                <a:solidFill>
                  <a:srgbClr val="000000"/>
                </a:solidFill>
                <a:latin typeface="Open Sauce"/>
                <a:ea typeface="Open Sauce"/>
                <a:cs typeface="Open Sauce"/>
                <a:sym typeface="Open Sauce"/>
              </a:rPr>
              <a:t>, slang, contractions (like "don't" or "can't"), and </a:t>
            </a:r>
            <a:r>
              <a:rPr lang="en-US" dirty="0">
                <a:solidFill>
                  <a:srgbClr val="C00000"/>
                </a:solidFill>
                <a:latin typeface="Open Sauce"/>
                <a:ea typeface="Open Sauce"/>
                <a:cs typeface="Open Sauce"/>
                <a:sym typeface="Open Sauce"/>
              </a:rPr>
              <a:t>overly casual expressions</a:t>
            </a:r>
            <a:r>
              <a:rPr lang="en-US" dirty="0">
                <a:solidFill>
                  <a:srgbClr val="000000"/>
                </a:solidFill>
                <a:latin typeface="Open Sauce"/>
                <a:ea typeface="Open Sauce"/>
                <a:cs typeface="Open Sauce"/>
                <a:sym typeface="Open Sauce"/>
              </a:rPr>
              <a:t>. Instead, it uses complete sentences, proper grammar, and vocabulary suited to the subject. Instead of using personal pronouns like I, we, or you, </a:t>
            </a:r>
            <a:r>
              <a:rPr lang="en-US" dirty="0">
                <a:solidFill>
                  <a:srgbClr val="C00000"/>
                </a:solidFill>
                <a:latin typeface="Open Sauce"/>
                <a:ea typeface="Open Sauce"/>
                <a:cs typeface="Open Sauce"/>
                <a:sym typeface="Open Sauce"/>
              </a:rPr>
              <a:t>academic writing typically uses the third person </a:t>
            </a:r>
            <a:r>
              <a:rPr lang="en-US" dirty="0">
                <a:solidFill>
                  <a:srgbClr val="000000"/>
                </a:solidFill>
                <a:latin typeface="Open Sauce"/>
                <a:ea typeface="Open Sauce"/>
                <a:cs typeface="Open Sauce"/>
                <a:sym typeface="Open Sauce"/>
              </a:rPr>
              <a:t>(e.g., the researcher, one, they). This helps </a:t>
            </a:r>
            <a:r>
              <a:rPr lang="en-US" dirty="0">
                <a:solidFill>
                  <a:srgbClr val="C00000"/>
                </a:solidFill>
                <a:latin typeface="Open Sauce"/>
                <a:ea typeface="Open Sauce"/>
                <a:cs typeface="Open Sauce"/>
                <a:sym typeface="Open Sauce"/>
              </a:rPr>
              <a:t>keep the writing neutral and focused on evidence </a:t>
            </a:r>
            <a:r>
              <a:rPr lang="en-US" dirty="0">
                <a:solidFill>
                  <a:srgbClr val="000000"/>
                </a:solidFill>
                <a:latin typeface="Open Sauce"/>
                <a:ea typeface="Open Sauce"/>
                <a:cs typeface="Open Sauce"/>
                <a:sym typeface="Open Sauce"/>
              </a:rPr>
              <a:t>rather than personal opinion or experience.</a:t>
            </a:r>
          </a:p>
          <a:p>
            <a:pPr>
              <a:lnSpc>
                <a:spcPts val="4759"/>
              </a:lnSpc>
            </a:pPr>
            <a:endParaRPr lang="en-US" sz="4000" b="1" dirty="0">
              <a:solidFill>
                <a:srgbClr val="000000"/>
              </a:solidFill>
              <a:latin typeface="Open Sauce"/>
              <a:ea typeface="Open Sauce"/>
              <a:cs typeface="Open Sauce"/>
              <a:sym typeface="Open Sauce"/>
            </a:endParaRPr>
          </a:p>
          <a:p>
            <a:pPr>
              <a:lnSpc>
                <a:spcPts val="4759"/>
              </a:lnSpc>
            </a:pPr>
            <a:r>
              <a:rPr lang="en-US" sz="3600" b="1" dirty="0">
                <a:solidFill>
                  <a:srgbClr val="000000"/>
                </a:solidFill>
                <a:latin typeface="Open Sauce"/>
                <a:ea typeface="Open Sauce"/>
                <a:cs typeface="Open Sauce"/>
                <a:sym typeface="Open Sauce"/>
              </a:rPr>
              <a:t>PRECISE WORD CHOICE</a:t>
            </a:r>
          </a:p>
          <a:p>
            <a:pPr algn="just">
              <a:lnSpc>
                <a:spcPct val="150000"/>
              </a:lnSpc>
            </a:pPr>
            <a:r>
              <a:rPr lang="en-US" dirty="0">
                <a:solidFill>
                  <a:srgbClr val="000000"/>
                </a:solidFill>
                <a:latin typeface="Open Sauce"/>
                <a:ea typeface="Open Sauce"/>
                <a:cs typeface="Open Sauce"/>
                <a:sym typeface="Open Sauce"/>
              </a:rPr>
              <a:t>Academic writing uses </a:t>
            </a:r>
            <a:r>
              <a:rPr lang="en-US" dirty="0">
                <a:solidFill>
                  <a:srgbClr val="C00000"/>
                </a:solidFill>
                <a:latin typeface="Open Sauce"/>
                <a:ea typeface="Open Sauce"/>
                <a:cs typeface="Open Sauce"/>
                <a:sym typeface="Open Sauce"/>
              </a:rPr>
              <a:t>specific and accurate vocabulary </a:t>
            </a:r>
            <a:r>
              <a:rPr lang="en-US" dirty="0">
                <a:solidFill>
                  <a:srgbClr val="000000"/>
                </a:solidFill>
                <a:latin typeface="Open Sauce"/>
                <a:ea typeface="Open Sauce"/>
                <a:cs typeface="Open Sauce"/>
                <a:sym typeface="Open Sauce"/>
              </a:rPr>
              <a:t>to convey meaning clearly. Ambiguous terms or vague expressions are avoided. This ensures that the message is not misinterpreted and that the argument is easy to follow.</a:t>
            </a:r>
          </a:p>
          <a:p>
            <a:pPr algn="just">
              <a:lnSpc>
                <a:spcPct val="150000"/>
              </a:lnSpc>
            </a:pPr>
            <a:endParaRPr lang="en-US" dirty="0">
              <a:solidFill>
                <a:srgbClr val="000000"/>
              </a:solidFill>
              <a:latin typeface="Open Sauce"/>
              <a:ea typeface="Open Sauce"/>
              <a:cs typeface="Open Sauce"/>
              <a:sym typeface="Open Sauce"/>
            </a:endParaRPr>
          </a:p>
          <a:p>
            <a:pPr>
              <a:lnSpc>
                <a:spcPts val="4759"/>
              </a:lnSpc>
            </a:pPr>
            <a:r>
              <a:rPr lang="en-US" sz="3600" b="1" dirty="0">
                <a:solidFill>
                  <a:srgbClr val="000000"/>
                </a:solidFill>
                <a:latin typeface="Open Sauce"/>
                <a:ea typeface="Open Sauce"/>
                <a:cs typeface="Open Sauce"/>
                <a:sym typeface="Open Sauce"/>
              </a:rPr>
              <a:t>OBJECTIVITY</a:t>
            </a:r>
          </a:p>
          <a:p>
            <a:pPr algn="just">
              <a:lnSpc>
                <a:spcPct val="150000"/>
              </a:lnSpc>
            </a:pPr>
            <a:r>
              <a:rPr lang="en-US" dirty="0">
                <a:solidFill>
                  <a:srgbClr val="000000"/>
                </a:solidFill>
                <a:latin typeface="Open Sauce"/>
                <a:ea typeface="Open Sauce"/>
                <a:cs typeface="Open Sauce"/>
                <a:sym typeface="Open Sauce"/>
              </a:rPr>
              <a:t>The writing should </a:t>
            </a:r>
            <a:r>
              <a:rPr lang="en-US" dirty="0">
                <a:solidFill>
                  <a:srgbClr val="C00000"/>
                </a:solidFill>
                <a:latin typeface="Open Sauce"/>
                <a:ea typeface="Open Sauce"/>
                <a:cs typeface="Open Sauce"/>
                <a:sym typeface="Open Sauce"/>
              </a:rPr>
              <a:t>stay centered on the subject matter</a:t>
            </a:r>
            <a:r>
              <a:rPr lang="en-US" dirty="0">
                <a:solidFill>
                  <a:srgbClr val="000000"/>
                </a:solidFill>
                <a:latin typeface="Open Sauce"/>
                <a:ea typeface="Open Sauce"/>
                <a:cs typeface="Open Sauce"/>
                <a:sym typeface="Open Sauce"/>
              </a:rPr>
              <a:t>, supported by </a:t>
            </a:r>
            <a:r>
              <a:rPr lang="en-US" dirty="0">
                <a:solidFill>
                  <a:srgbClr val="C00000"/>
                </a:solidFill>
                <a:latin typeface="Open Sauce"/>
                <a:ea typeface="Open Sauce"/>
                <a:cs typeface="Open Sauce"/>
                <a:sym typeface="Open Sauce"/>
              </a:rPr>
              <a:t>evidence</a:t>
            </a:r>
            <a:r>
              <a:rPr lang="en-US" dirty="0">
                <a:solidFill>
                  <a:srgbClr val="000000"/>
                </a:solidFill>
                <a:latin typeface="Open Sauce"/>
                <a:ea typeface="Open Sauce"/>
                <a:cs typeface="Open Sauce"/>
                <a:sym typeface="Open Sauce"/>
              </a:rPr>
              <a:t>, </a:t>
            </a:r>
            <a:r>
              <a:rPr lang="en-US" dirty="0">
                <a:solidFill>
                  <a:srgbClr val="C00000"/>
                </a:solidFill>
                <a:latin typeface="Open Sauce"/>
                <a:ea typeface="Open Sauce"/>
                <a:cs typeface="Open Sauce"/>
                <a:sym typeface="Open Sauce"/>
              </a:rPr>
              <a:t>facts</a:t>
            </a:r>
            <a:r>
              <a:rPr lang="en-US" dirty="0">
                <a:solidFill>
                  <a:srgbClr val="000000"/>
                </a:solidFill>
                <a:latin typeface="Open Sauce"/>
                <a:ea typeface="Open Sauce"/>
                <a:cs typeface="Open Sauce"/>
                <a:sym typeface="Open Sauce"/>
              </a:rPr>
              <a:t>, and logical reasoning. Personal beliefs or emotions are generally avoided unless specifically asked for, like in reflective writing.</a:t>
            </a:r>
          </a:p>
          <a:p>
            <a:pPr>
              <a:lnSpc>
                <a:spcPts val="4759"/>
              </a:lnSpc>
            </a:pPr>
            <a:endParaRPr lang="en-US" sz="3600" b="1" dirty="0">
              <a:solidFill>
                <a:srgbClr val="000000"/>
              </a:solidFill>
              <a:latin typeface="Open Sauce"/>
              <a:ea typeface="Open Sauce"/>
              <a:cs typeface="Open Sauce"/>
              <a:sym typeface="Open Sauce"/>
            </a:endParaRPr>
          </a:p>
          <a:p>
            <a:pPr>
              <a:lnSpc>
                <a:spcPts val="4759"/>
              </a:lnSpc>
            </a:pPr>
            <a:r>
              <a:rPr lang="en-US" sz="3600" b="1" dirty="0">
                <a:solidFill>
                  <a:srgbClr val="000000"/>
                </a:solidFill>
                <a:latin typeface="Open Sauce"/>
                <a:ea typeface="Open Sauce"/>
                <a:cs typeface="Open Sauce"/>
                <a:sym typeface="Open Sauce"/>
              </a:rPr>
              <a:t>LOGICAL FLOW</a:t>
            </a:r>
          </a:p>
          <a:p>
            <a:pPr>
              <a:lnSpc>
                <a:spcPct val="150000"/>
              </a:lnSpc>
            </a:pPr>
            <a:r>
              <a:rPr lang="en-US" dirty="0">
                <a:solidFill>
                  <a:srgbClr val="000000"/>
                </a:solidFill>
                <a:latin typeface="Open Sauce"/>
                <a:ea typeface="Open Sauce"/>
                <a:cs typeface="Open Sauce"/>
                <a:sym typeface="Open Sauce"/>
              </a:rPr>
              <a:t>The key to achieving a </a:t>
            </a:r>
            <a:r>
              <a:rPr lang="en-US" dirty="0">
                <a:solidFill>
                  <a:srgbClr val="C00000"/>
                </a:solidFill>
                <a:latin typeface="Open Sauce"/>
                <a:ea typeface="Open Sauce"/>
                <a:cs typeface="Open Sauce"/>
                <a:sym typeface="Open Sauce"/>
              </a:rPr>
              <a:t>smooth and orderly progression </a:t>
            </a:r>
            <a:r>
              <a:rPr lang="en-US" dirty="0">
                <a:solidFill>
                  <a:srgbClr val="000000"/>
                </a:solidFill>
                <a:latin typeface="Open Sauce"/>
                <a:ea typeface="Open Sauce"/>
                <a:cs typeface="Open Sauce"/>
                <a:sym typeface="Open Sauce"/>
              </a:rPr>
              <a:t>of ideas, sentences, paragraphs, and content towards a convincing conclusion.</a:t>
            </a:r>
          </a:p>
        </p:txBody>
      </p:sp>
      <p:sp>
        <p:nvSpPr>
          <p:cNvPr id="10" name="Freeform 5">
            <a:extLst>
              <a:ext uri="{FF2B5EF4-FFF2-40B4-BE49-F238E27FC236}">
                <a16:creationId xmlns:a16="http://schemas.microsoft.com/office/drawing/2014/main" id="{6E9C6673-A7F0-7C09-720D-5284BBE31D78}"/>
              </a:ext>
            </a:extLst>
          </p:cNvPr>
          <p:cNvSpPr/>
          <p:nvPr/>
        </p:nvSpPr>
        <p:spPr>
          <a:xfrm>
            <a:off x="762000" y="2933700"/>
            <a:ext cx="6507930" cy="7441500"/>
          </a:xfrm>
          <a:custGeom>
            <a:avLst/>
            <a:gdLst/>
            <a:ahLst/>
            <a:cxnLst/>
            <a:rect l="l" t="t" r="r" b="b"/>
            <a:pathLst>
              <a:path w="6507930" h="7441500">
                <a:moveTo>
                  <a:pt x="0" y="0"/>
                </a:moveTo>
                <a:lnTo>
                  <a:pt x="6507930" y="0"/>
                </a:lnTo>
                <a:lnTo>
                  <a:pt x="6507930" y="7441500"/>
                </a:lnTo>
                <a:lnTo>
                  <a:pt x="0" y="7441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grpSp>
        <p:nvGrpSpPr>
          <p:cNvPr id="2" name="Group 2"/>
          <p:cNvGrpSpPr/>
          <p:nvPr/>
        </p:nvGrpSpPr>
        <p:grpSpPr>
          <a:xfrm>
            <a:off x="-936957" y="-388498"/>
            <a:ext cx="9167773" cy="11063997"/>
            <a:chOff x="0" y="0"/>
            <a:chExt cx="2414557" cy="2913974"/>
          </a:xfrm>
        </p:grpSpPr>
        <p:sp>
          <p:nvSpPr>
            <p:cNvPr id="3" name="Freeform 3"/>
            <p:cNvSpPr/>
            <p:nvPr/>
          </p:nvSpPr>
          <p:spPr>
            <a:xfrm>
              <a:off x="0" y="0"/>
              <a:ext cx="2414557" cy="2913974"/>
            </a:xfrm>
            <a:custGeom>
              <a:avLst/>
              <a:gdLst/>
              <a:ahLst/>
              <a:cxnLst/>
              <a:rect l="l" t="t" r="r" b="b"/>
              <a:pathLst>
                <a:path w="2414557" h="2913974">
                  <a:moveTo>
                    <a:pt x="0" y="0"/>
                  </a:moveTo>
                  <a:lnTo>
                    <a:pt x="2414557" y="0"/>
                  </a:lnTo>
                  <a:lnTo>
                    <a:pt x="2414557"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4" name="TextBox 4"/>
            <p:cNvSpPr txBox="1"/>
            <p:nvPr/>
          </p:nvSpPr>
          <p:spPr>
            <a:xfrm>
              <a:off x="0" y="-38100"/>
              <a:ext cx="2414557" cy="2952074"/>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9144000" y="266700"/>
            <a:ext cx="8382620" cy="1853392"/>
          </a:xfrm>
          <a:prstGeom prst="rect">
            <a:avLst/>
          </a:prstGeom>
        </p:spPr>
        <p:txBody>
          <a:bodyPr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Paraphrasing v Direct Quotes</a:t>
            </a:r>
          </a:p>
        </p:txBody>
      </p:sp>
      <p:sp>
        <p:nvSpPr>
          <p:cNvPr id="6" name="TextBox 6"/>
          <p:cNvSpPr txBox="1"/>
          <p:nvPr/>
        </p:nvSpPr>
        <p:spPr>
          <a:xfrm>
            <a:off x="8892038" y="7658100"/>
            <a:ext cx="8736726" cy="2215991"/>
          </a:xfrm>
          <a:prstGeom prst="rect">
            <a:avLst/>
          </a:prstGeom>
        </p:spPr>
        <p:txBody>
          <a:bodyPr wrap="square" lIns="0" tIns="0" rIns="0" bIns="0" rtlCol="0" anchor="t">
            <a:spAutoFit/>
          </a:bodyPr>
          <a:lstStyle/>
          <a:p>
            <a:pPr algn="just"/>
            <a:r>
              <a:rPr lang="en-US" sz="2400" dirty="0">
                <a:solidFill>
                  <a:srgbClr val="000000"/>
                </a:solidFill>
                <a:latin typeface="Open Sauce"/>
                <a:ea typeface="Open Sauce"/>
                <a:cs typeface="Open Sauce"/>
                <a:sym typeface="Open Sauce"/>
              </a:rPr>
              <a:t>Quoting and paraphrasing are two different ways of including evidence and the ideas of others into your assignments. Using evidence from credible sources to support your thesis is an important part of academic writing. Citing the source of any quote or paraphrase is an important step to avoid plagiarism.</a:t>
            </a:r>
          </a:p>
        </p:txBody>
      </p:sp>
      <p:sp>
        <p:nvSpPr>
          <p:cNvPr id="7" name="Freeform 7"/>
          <p:cNvSpPr/>
          <p:nvPr/>
        </p:nvSpPr>
        <p:spPr>
          <a:xfrm>
            <a:off x="1028700" y="854881"/>
            <a:ext cx="6565486" cy="8577238"/>
          </a:xfrm>
          <a:custGeom>
            <a:avLst/>
            <a:gdLst/>
            <a:ahLst/>
            <a:cxnLst/>
            <a:rect l="l" t="t" r="r" b="b"/>
            <a:pathLst>
              <a:path w="6565486" h="8577238">
                <a:moveTo>
                  <a:pt x="0" y="0"/>
                </a:moveTo>
                <a:lnTo>
                  <a:pt x="6565486" y="0"/>
                </a:lnTo>
                <a:lnTo>
                  <a:pt x="6565486" y="8577238"/>
                </a:lnTo>
                <a:lnTo>
                  <a:pt x="0" y="857723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graphicFrame>
        <p:nvGraphicFramePr>
          <p:cNvPr id="14" name="Chart 13">
            <a:extLst>
              <a:ext uri="{FF2B5EF4-FFF2-40B4-BE49-F238E27FC236}">
                <a16:creationId xmlns:a16="http://schemas.microsoft.com/office/drawing/2014/main" id="{AC43E534-052D-FBD5-985D-EF98EBDDA727}"/>
              </a:ext>
            </a:extLst>
          </p:cNvPr>
          <p:cNvGraphicFramePr/>
          <p:nvPr>
            <p:extLst>
              <p:ext uri="{D42A27DB-BD31-4B8C-83A1-F6EECF244321}">
                <p14:modId xmlns:p14="http://schemas.microsoft.com/office/powerpoint/2010/main" val="4044991246"/>
              </p:ext>
            </p:extLst>
          </p:nvPr>
        </p:nvGraphicFramePr>
        <p:xfrm>
          <a:off x="9559843" y="2120092"/>
          <a:ext cx="7401116" cy="502920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a:extLst>
              <a:ext uri="{FF2B5EF4-FFF2-40B4-BE49-F238E27FC236}">
                <a16:creationId xmlns:a16="http://schemas.microsoft.com/office/drawing/2014/main" id="{1C465F80-A02B-2CB8-C4D2-AE84FB793AF2}"/>
              </a:ext>
            </a:extLst>
          </p:cNvPr>
          <p:cNvSpPr txBox="1"/>
          <p:nvPr/>
        </p:nvSpPr>
        <p:spPr>
          <a:xfrm>
            <a:off x="-457200" y="9729614"/>
            <a:ext cx="8382000" cy="276999"/>
          </a:xfrm>
          <a:prstGeom prst="rect">
            <a:avLst/>
          </a:prstGeom>
          <a:noFill/>
        </p:spPr>
        <p:txBody>
          <a:bodyPr wrap="square">
            <a:spAutoFit/>
          </a:bodyPr>
          <a:lstStyle/>
          <a:p>
            <a:pPr algn="ctr"/>
            <a:r>
              <a:rPr lang="en-ZA" sz="1200" dirty="0">
                <a:hlinkClick r:id="rId5"/>
              </a:rPr>
              <a:t>https://www.uts.edu.au/globalassets/sites/default/files/paraphrasing-summarising--quoting-to-avoid-plagiarism-jonny.pdf</a:t>
            </a:r>
            <a:endParaRPr lang="en-ZA"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6" name="TextBox 6"/>
          <p:cNvSpPr txBox="1"/>
          <p:nvPr/>
        </p:nvSpPr>
        <p:spPr>
          <a:xfrm>
            <a:off x="465678" y="419100"/>
            <a:ext cx="17585244" cy="930063"/>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Paraphrasing v Direct Quotes</a:t>
            </a:r>
          </a:p>
        </p:txBody>
      </p:sp>
      <p:grpSp>
        <p:nvGrpSpPr>
          <p:cNvPr id="2" name="Group 2">
            <a:extLst>
              <a:ext uri="{FF2B5EF4-FFF2-40B4-BE49-F238E27FC236}">
                <a16:creationId xmlns:a16="http://schemas.microsoft.com/office/drawing/2014/main" id="{DC9FF3BC-8C6F-FD23-CE9B-544748C320CA}"/>
              </a:ext>
            </a:extLst>
          </p:cNvPr>
          <p:cNvGrpSpPr/>
          <p:nvPr/>
        </p:nvGrpSpPr>
        <p:grpSpPr>
          <a:xfrm rot="5400000">
            <a:off x="6781800" y="-3094119"/>
            <a:ext cx="4953001" cy="16094242"/>
            <a:chOff x="0" y="0"/>
            <a:chExt cx="2605710" cy="2913974"/>
          </a:xfrm>
        </p:grpSpPr>
        <p:sp>
          <p:nvSpPr>
            <p:cNvPr id="3" name="Freeform 3">
              <a:extLst>
                <a:ext uri="{FF2B5EF4-FFF2-40B4-BE49-F238E27FC236}">
                  <a16:creationId xmlns:a16="http://schemas.microsoft.com/office/drawing/2014/main" id="{13AD5D6F-4CD1-D238-E1B8-8B2F33D4B4F5}"/>
                </a:ext>
              </a:extLst>
            </p:cNvPr>
            <p:cNvSpPr/>
            <p:nvPr/>
          </p:nvSpPr>
          <p:spPr>
            <a:xfrm>
              <a:off x="0" y="0"/>
              <a:ext cx="2605710" cy="2913974"/>
            </a:xfrm>
            <a:custGeom>
              <a:avLst/>
              <a:gdLst/>
              <a:ahLst/>
              <a:cxnLst/>
              <a:rect l="l" t="t" r="r" b="b"/>
              <a:pathLst>
                <a:path w="2605710" h="2913974">
                  <a:moveTo>
                    <a:pt x="0" y="0"/>
                  </a:moveTo>
                  <a:lnTo>
                    <a:pt x="2605710" y="0"/>
                  </a:lnTo>
                  <a:lnTo>
                    <a:pt x="2605710"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4" name="TextBox 4">
              <a:extLst>
                <a:ext uri="{FF2B5EF4-FFF2-40B4-BE49-F238E27FC236}">
                  <a16:creationId xmlns:a16="http://schemas.microsoft.com/office/drawing/2014/main" id="{D1BAF5CC-0007-CB5D-6402-D22D1E3AB8A3}"/>
                </a:ext>
              </a:extLst>
            </p:cNvPr>
            <p:cNvSpPr txBox="1"/>
            <p:nvPr/>
          </p:nvSpPr>
          <p:spPr>
            <a:xfrm>
              <a:off x="0" y="-38100"/>
              <a:ext cx="2605710" cy="2952074"/>
            </a:xfrm>
            <a:prstGeom prst="rect">
              <a:avLst/>
            </a:prstGeom>
          </p:spPr>
          <p:txBody>
            <a:bodyPr lIns="50800" tIns="50800" rIns="50800" bIns="50800" rtlCol="0" anchor="ctr"/>
            <a:lstStyle/>
            <a:p>
              <a:pPr algn="ctr">
                <a:lnSpc>
                  <a:spcPts val="2659"/>
                </a:lnSpc>
              </a:pPr>
              <a:endParaRPr/>
            </a:p>
          </p:txBody>
        </p:sp>
      </p:grpSp>
      <p:sp>
        <p:nvSpPr>
          <p:cNvPr id="7" name="TextBox 6">
            <a:extLst>
              <a:ext uri="{FF2B5EF4-FFF2-40B4-BE49-F238E27FC236}">
                <a16:creationId xmlns:a16="http://schemas.microsoft.com/office/drawing/2014/main" id="{B8D48D4B-2E82-5631-EB9B-43EC1752DBA6}"/>
              </a:ext>
            </a:extLst>
          </p:cNvPr>
          <p:cNvSpPr txBox="1"/>
          <p:nvPr/>
        </p:nvSpPr>
        <p:spPr>
          <a:xfrm>
            <a:off x="1447800" y="2705100"/>
            <a:ext cx="15697200" cy="4524315"/>
          </a:xfrm>
          <a:prstGeom prst="rect">
            <a:avLst/>
          </a:prstGeom>
          <a:noFill/>
        </p:spPr>
        <p:txBody>
          <a:bodyPr wrap="square">
            <a:spAutoFit/>
          </a:bodyPr>
          <a:lstStyle/>
          <a:p>
            <a:pPr algn="just"/>
            <a:r>
              <a:rPr lang="en-US" sz="3600" dirty="0"/>
              <a:t>Academic writing plays a critical role in </a:t>
            </a:r>
            <a:r>
              <a:rPr lang="en-US" sz="3600" dirty="0" err="1"/>
              <a:t>socialising</a:t>
            </a:r>
            <a:r>
              <a:rPr lang="en-US" sz="3600" dirty="0"/>
              <a:t> students into the discourse of subjects and disciplines in universities. However, with the massification higher education, many students especially those in many South African Universities of Technology are struggling to maintain academic writing standards that are acceptable in higher education. This has increased the demand for academic development </a:t>
            </a:r>
            <a:r>
              <a:rPr lang="en-US" sz="3600" dirty="0" err="1"/>
              <a:t>programmes</a:t>
            </a:r>
            <a:r>
              <a:rPr lang="en-US" sz="3600" dirty="0"/>
              <a:t> as a viable strategy to enhance the academic writing skills and other soft skills required by students (Reda, 2011; Jacobs, 2007; Layer, 2006). </a:t>
            </a:r>
            <a:endParaRPr lang="en-ZA" sz="3600" dirty="0"/>
          </a:p>
        </p:txBody>
      </p:sp>
      <p:sp>
        <p:nvSpPr>
          <p:cNvPr id="10" name="TextBox 9">
            <a:extLst>
              <a:ext uri="{FF2B5EF4-FFF2-40B4-BE49-F238E27FC236}">
                <a16:creationId xmlns:a16="http://schemas.microsoft.com/office/drawing/2014/main" id="{EDC0FE6C-8EFC-C05C-0A17-2C2E5B6A7959}"/>
              </a:ext>
            </a:extLst>
          </p:cNvPr>
          <p:cNvSpPr txBox="1"/>
          <p:nvPr/>
        </p:nvSpPr>
        <p:spPr>
          <a:xfrm>
            <a:off x="1187988" y="8192478"/>
            <a:ext cx="16117434" cy="830997"/>
          </a:xfrm>
          <a:prstGeom prst="rect">
            <a:avLst/>
          </a:prstGeom>
          <a:noFill/>
        </p:spPr>
        <p:txBody>
          <a:bodyPr wrap="square">
            <a:spAutoFit/>
          </a:bodyPr>
          <a:lstStyle/>
          <a:p>
            <a:r>
              <a:rPr lang="en-ZA" sz="2400" dirty="0" err="1"/>
              <a:t>Pineteh</a:t>
            </a:r>
            <a:r>
              <a:rPr lang="en-ZA" sz="2400" dirty="0"/>
              <a:t>, E. A. 2014. The Academic Writing Challenges of Undergraduate Students: A South African Case Study</a:t>
            </a:r>
            <a:r>
              <a:rPr lang="en-ZA" sz="2400" i="1" dirty="0"/>
              <a:t>. International Journal of Higher Education</a:t>
            </a:r>
            <a:r>
              <a:rPr lang="en-ZA" sz="2400" dirty="0"/>
              <a:t>, 3(1): 12-22.</a:t>
            </a:r>
            <a:endParaRPr lang="en-ZA" dirty="0"/>
          </a:p>
        </p:txBody>
      </p:sp>
    </p:spTree>
    <p:extLst>
      <p:ext uri="{BB962C8B-B14F-4D97-AF65-F5344CB8AC3E}">
        <p14:creationId xmlns:p14="http://schemas.microsoft.com/office/powerpoint/2010/main" val="1756257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6" name="TextBox 6"/>
          <p:cNvSpPr txBox="1"/>
          <p:nvPr/>
        </p:nvSpPr>
        <p:spPr>
          <a:xfrm>
            <a:off x="465678" y="419100"/>
            <a:ext cx="17585244" cy="930063"/>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Paraphrasing v Direct Quotes</a:t>
            </a:r>
          </a:p>
        </p:txBody>
      </p:sp>
      <p:grpSp>
        <p:nvGrpSpPr>
          <p:cNvPr id="2" name="Group 2">
            <a:extLst>
              <a:ext uri="{FF2B5EF4-FFF2-40B4-BE49-F238E27FC236}">
                <a16:creationId xmlns:a16="http://schemas.microsoft.com/office/drawing/2014/main" id="{DC9FF3BC-8C6F-FD23-CE9B-544748C320CA}"/>
              </a:ext>
            </a:extLst>
          </p:cNvPr>
          <p:cNvGrpSpPr/>
          <p:nvPr/>
        </p:nvGrpSpPr>
        <p:grpSpPr>
          <a:xfrm rot="5400000">
            <a:off x="8077202" y="-4389519"/>
            <a:ext cx="2362197" cy="16094242"/>
            <a:chOff x="0" y="0"/>
            <a:chExt cx="2605710" cy="2913974"/>
          </a:xfrm>
        </p:grpSpPr>
        <p:sp>
          <p:nvSpPr>
            <p:cNvPr id="3" name="Freeform 3">
              <a:extLst>
                <a:ext uri="{FF2B5EF4-FFF2-40B4-BE49-F238E27FC236}">
                  <a16:creationId xmlns:a16="http://schemas.microsoft.com/office/drawing/2014/main" id="{13AD5D6F-4CD1-D238-E1B8-8B2F33D4B4F5}"/>
                </a:ext>
              </a:extLst>
            </p:cNvPr>
            <p:cNvSpPr/>
            <p:nvPr/>
          </p:nvSpPr>
          <p:spPr>
            <a:xfrm>
              <a:off x="0" y="0"/>
              <a:ext cx="2605710" cy="2913974"/>
            </a:xfrm>
            <a:custGeom>
              <a:avLst/>
              <a:gdLst/>
              <a:ahLst/>
              <a:cxnLst/>
              <a:rect l="l" t="t" r="r" b="b"/>
              <a:pathLst>
                <a:path w="2605710" h="2913974">
                  <a:moveTo>
                    <a:pt x="0" y="0"/>
                  </a:moveTo>
                  <a:lnTo>
                    <a:pt x="2605710" y="0"/>
                  </a:lnTo>
                  <a:lnTo>
                    <a:pt x="2605710"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4" name="TextBox 4">
              <a:extLst>
                <a:ext uri="{FF2B5EF4-FFF2-40B4-BE49-F238E27FC236}">
                  <a16:creationId xmlns:a16="http://schemas.microsoft.com/office/drawing/2014/main" id="{D1BAF5CC-0007-CB5D-6402-D22D1E3AB8A3}"/>
                </a:ext>
              </a:extLst>
            </p:cNvPr>
            <p:cNvSpPr txBox="1"/>
            <p:nvPr/>
          </p:nvSpPr>
          <p:spPr>
            <a:xfrm>
              <a:off x="0" y="-38100"/>
              <a:ext cx="2605710" cy="2952074"/>
            </a:xfrm>
            <a:prstGeom prst="rect">
              <a:avLst/>
            </a:prstGeom>
          </p:spPr>
          <p:txBody>
            <a:bodyPr lIns="50800" tIns="50800" rIns="50800" bIns="50800" rtlCol="0" anchor="ctr"/>
            <a:lstStyle/>
            <a:p>
              <a:pPr algn="ctr">
                <a:lnSpc>
                  <a:spcPts val="2659"/>
                </a:lnSpc>
              </a:pPr>
              <a:endParaRPr/>
            </a:p>
          </p:txBody>
        </p:sp>
      </p:grpSp>
      <p:sp>
        <p:nvSpPr>
          <p:cNvPr id="7" name="TextBox 6">
            <a:extLst>
              <a:ext uri="{FF2B5EF4-FFF2-40B4-BE49-F238E27FC236}">
                <a16:creationId xmlns:a16="http://schemas.microsoft.com/office/drawing/2014/main" id="{B8D48D4B-2E82-5631-EB9B-43EC1752DBA6}"/>
              </a:ext>
            </a:extLst>
          </p:cNvPr>
          <p:cNvSpPr txBox="1"/>
          <p:nvPr/>
        </p:nvSpPr>
        <p:spPr>
          <a:xfrm>
            <a:off x="1447800" y="2705100"/>
            <a:ext cx="15697200" cy="1938992"/>
          </a:xfrm>
          <a:prstGeom prst="rect">
            <a:avLst/>
          </a:prstGeom>
          <a:noFill/>
        </p:spPr>
        <p:txBody>
          <a:bodyPr wrap="square">
            <a:spAutoFit/>
          </a:bodyPr>
          <a:lstStyle/>
          <a:p>
            <a:pPr algn="just"/>
            <a:r>
              <a:rPr lang="en-US" sz="2400" dirty="0"/>
              <a:t>Academic writing plays a critical role in </a:t>
            </a:r>
            <a:r>
              <a:rPr lang="en-US" sz="2400" dirty="0" err="1"/>
              <a:t>socialising</a:t>
            </a:r>
            <a:r>
              <a:rPr lang="en-US" sz="2400" dirty="0"/>
              <a:t> students into the discourse of subjects and disciplines in universities. However, with the massification higher education, many students especially those in many South African Universities of Technology are struggling to maintain academic writing standards that are acceptable in higher education. This has increased the demand for academic development </a:t>
            </a:r>
            <a:r>
              <a:rPr lang="en-US" sz="2400" dirty="0" err="1"/>
              <a:t>programmes</a:t>
            </a:r>
            <a:r>
              <a:rPr lang="en-US" sz="2400" dirty="0"/>
              <a:t> as a viable strategy to enhance the academic writing skills and other soft skills required by students (Reda, 2011; Jacobs, 2007; Layer, 2006). </a:t>
            </a:r>
            <a:endParaRPr lang="en-ZA" sz="2400" dirty="0"/>
          </a:p>
        </p:txBody>
      </p:sp>
      <p:sp>
        <p:nvSpPr>
          <p:cNvPr id="10" name="TextBox 9">
            <a:extLst>
              <a:ext uri="{FF2B5EF4-FFF2-40B4-BE49-F238E27FC236}">
                <a16:creationId xmlns:a16="http://schemas.microsoft.com/office/drawing/2014/main" id="{EDC0FE6C-8EFC-C05C-0A17-2C2E5B6A7959}"/>
              </a:ext>
            </a:extLst>
          </p:cNvPr>
          <p:cNvSpPr txBox="1"/>
          <p:nvPr/>
        </p:nvSpPr>
        <p:spPr>
          <a:xfrm>
            <a:off x="1474694" y="8337703"/>
            <a:ext cx="16117434" cy="830997"/>
          </a:xfrm>
          <a:prstGeom prst="rect">
            <a:avLst/>
          </a:prstGeom>
          <a:noFill/>
        </p:spPr>
        <p:txBody>
          <a:bodyPr wrap="square">
            <a:spAutoFit/>
          </a:bodyPr>
          <a:lstStyle/>
          <a:p>
            <a:r>
              <a:rPr lang="en-ZA" sz="2400" dirty="0" err="1"/>
              <a:t>Pineteh</a:t>
            </a:r>
            <a:r>
              <a:rPr lang="en-ZA" sz="2400" dirty="0"/>
              <a:t>, E. A. 2014. The Academic Writing Challenges of Undergraduate Students: A South African Case Study</a:t>
            </a:r>
            <a:r>
              <a:rPr lang="en-ZA" sz="2400" i="1" dirty="0"/>
              <a:t>. International Journal of Higher Education</a:t>
            </a:r>
            <a:r>
              <a:rPr lang="en-ZA" sz="2400" dirty="0"/>
              <a:t>, 3(1): 12-22.</a:t>
            </a:r>
            <a:endParaRPr lang="en-ZA" dirty="0"/>
          </a:p>
        </p:txBody>
      </p:sp>
      <p:sp>
        <p:nvSpPr>
          <p:cNvPr id="5" name="TextBox 4">
            <a:extLst>
              <a:ext uri="{FF2B5EF4-FFF2-40B4-BE49-F238E27FC236}">
                <a16:creationId xmlns:a16="http://schemas.microsoft.com/office/drawing/2014/main" id="{6C333D2E-D4D0-50FA-F6BF-C867B92DE45B}"/>
              </a:ext>
            </a:extLst>
          </p:cNvPr>
          <p:cNvSpPr txBox="1"/>
          <p:nvPr/>
        </p:nvSpPr>
        <p:spPr>
          <a:xfrm>
            <a:off x="1447800" y="1577762"/>
            <a:ext cx="16117434" cy="584775"/>
          </a:xfrm>
          <a:prstGeom prst="rect">
            <a:avLst/>
          </a:prstGeom>
          <a:noFill/>
        </p:spPr>
        <p:txBody>
          <a:bodyPr wrap="square">
            <a:spAutoFit/>
          </a:bodyPr>
          <a:lstStyle/>
          <a:p>
            <a:pPr algn="ctr"/>
            <a:r>
              <a:rPr lang="en-ZA" sz="3200" b="1" dirty="0"/>
              <a:t>PARAPHRASING</a:t>
            </a:r>
            <a:endParaRPr lang="en-ZA" sz="2400" b="1" dirty="0"/>
          </a:p>
        </p:txBody>
      </p:sp>
      <p:grpSp>
        <p:nvGrpSpPr>
          <p:cNvPr id="8" name="Group 2">
            <a:extLst>
              <a:ext uri="{FF2B5EF4-FFF2-40B4-BE49-F238E27FC236}">
                <a16:creationId xmlns:a16="http://schemas.microsoft.com/office/drawing/2014/main" id="{7E230D51-B23B-1109-4959-4CE71F95BCEC}"/>
              </a:ext>
            </a:extLst>
          </p:cNvPr>
          <p:cNvGrpSpPr/>
          <p:nvPr/>
        </p:nvGrpSpPr>
        <p:grpSpPr>
          <a:xfrm rot="5400000">
            <a:off x="8642002" y="-1233918"/>
            <a:ext cx="1232595" cy="16094242"/>
            <a:chOff x="0" y="0"/>
            <a:chExt cx="2605710" cy="2913974"/>
          </a:xfrm>
        </p:grpSpPr>
        <p:sp>
          <p:nvSpPr>
            <p:cNvPr id="9" name="Freeform 3">
              <a:extLst>
                <a:ext uri="{FF2B5EF4-FFF2-40B4-BE49-F238E27FC236}">
                  <a16:creationId xmlns:a16="http://schemas.microsoft.com/office/drawing/2014/main" id="{D0CA7AF0-DD62-7C9C-EA4A-00A1C10B7BFA}"/>
                </a:ext>
              </a:extLst>
            </p:cNvPr>
            <p:cNvSpPr/>
            <p:nvPr/>
          </p:nvSpPr>
          <p:spPr>
            <a:xfrm>
              <a:off x="0" y="0"/>
              <a:ext cx="2605710" cy="2913974"/>
            </a:xfrm>
            <a:custGeom>
              <a:avLst/>
              <a:gdLst/>
              <a:ahLst/>
              <a:cxnLst/>
              <a:rect l="l" t="t" r="r" b="b"/>
              <a:pathLst>
                <a:path w="2605710" h="2913974">
                  <a:moveTo>
                    <a:pt x="0" y="0"/>
                  </a:moveTo>
                  <a:lnTo>
                    <a:pt x="2605710" y="0"/>
                  </a:lnTo>
                  <a:lnTo>
                    <a:pt x="2605710" y="2913974"/>
                  </a:lnTo>
                  <a:lnTo>
                    <a:pt x="0" y="2913974"/>
                  </a:lnTo>
                  <a:close/>
                </a:path>
              </a:pathLst>
            </a:custGeom>
            <a:solidFill>
              <a:schemeClr val="accent6">
                <a:lumMod val="60000"/>
                <a:lumOff val="40000"/>
              </a:schemeClr>
            </a:solidFill>
            <a:ln w="38100" cap="sq">
              <a:solidFill>
                <a:srgbClr val="000000"/>
              </a:solidFill>
              <a:prstDash val="solid"/>
              <a:miter/>
            </a:ln>
          </p:spPr>
          <p:txBody>
            <a:bodyPr/>
            <a:lstStyle/>
            <a:p>
              <a:endParaRPr lang="en-GB"/>
            </a:p>
          </p:txBody>
        </p:sp>
        <p:sp>
          <p:nvSpPr>
            <p:cNvPr id="11" name="TextBox 4">
              <a:extLst>
                <a:ext uri="{FF2B5EF4-FFF2-40B4-BE49-F238E27FC236}">
                  <a16:creationId xmlns:a16="http://schemas.microsoft.com/office/drawing/2014/main" id="{C2E27BA2-991B-5A6F-213A-71FC3B0FB3D3}"/>
                </a:ext>
              </a:extLst>
            </p:cNvPr>
            <p:cNvSpPr txBox="1"/>
            <p:nvPr/>
          </p:nvSpPr>
          <p:spPr>
            <a:xfrm>
              <a:off x="0" y="-38100"/>
              <a:ext cx="2605710" cy="2952074"/>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52FA4E37-B1B6-A1B5-48F9-66133A177755}"/>
              </a:ext>
            </a:extLst>
          </p:cNvPr>
          <p:cNvSpPr txBox="1"/>
          <p:nvPr/>
        </p:nvSpPr>
        <p:spPr>
          <a:xfrm>
            <a:off x="1396252" y="6253793"/>
            <a:ext cx="15697200" cy="954107"/>
          </a:xfrm>
          <a:prstGeom prst="rect">
            <a:avLst/>
          </a:prstGeom>
          <a:noFill/>
        </p:spPr>
        <p:txBody>
          <a:bodyPr wrap="square">
            <a:spAutoFit/>
          </a:bodyPr>
          <a:lstStyle/>
          <a:p>
            <a:pPr algn="just"/>
            <a:r>
              <a:rPr lang="en-US" sz="2800" dirty="0"/>
              <a:t>Higher education institutions use academic writing to introduce students to the specific language and norms of their chosen fields (Reda, 2011).</a:t>
            </a:r>
          </a:p>
        </p:txBody>
      </p:sp>
      <p:cxnSp>
        <p:nvCxnSpPr>
          <p:cNvPr id="16" name="Straight Arrow Connector 15">
            <a:extLst>
              <a:ext uri="{FF2B5EF4-FFF2-40B4-BE49-F238E27FC236}">
                <a16:creationId xmlns:a16="http://schemas.microsoft.com/office/drawing/2014/main" id="{8C6DE5EB-8202-D7C6-6187-E0F60FC3D9CF}"/>
              </a:ext>
            </a:extLst>
          </p:cNvPr>
          <p:cNvCxnSpPr/>
          <p:nvPr/>
        </p:nvCxnSpPr>
        <p:spPr>
          <a:xfrm>
            <a:off x="9448800" y="5143500"/>
            <a:ext cx="0" cy="7620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192092B-29FB-6C63-FF9B-F917505D172F}"/>
              </a:ext>
            </a:extLst>
          </p:cNvPr>
          <p:cNvSpPr txBox="1"/>
          <p:nvPr/>
        </p:nvSpPr>
        <p:spPr>
          <a:xfrm>
            <a:off x="1066800" y="5767658"/>
            <a:ext cx="5023532" cy="400110"/>
          </a:xfrm>
          <a:prstGeom prst="rect">
            <a:avLst/>
          </a:prstGeom>
          <a:noFill/>
        </p:spPr>
        <p:txBody>
          <a:bodyPr wrap="square">
            <a:spAutoFit/>
          </a:bodyPr>
          <a:lstStyle/>
          <a:p>
            <a:r>
              <a:rPr lang="en-US" sz="2000" b="1" dirty="0"/>
              <a:t>“Summary” Style of Paraphrasing</a:t>
            </a:r>
            <a:endParaRPr lang="en-ZA" sz="1600" b="1" dirty="0"/>
          </a:p>
        </p:txBody>
      </p:sp>
    </p:spTree>
    <p:extLst>
      <p:ext uri="{BB962C8B-B14F-4D97-AF65-F5344CB8AC3E}">
        <p14:creationId xmlns:p14="http://schemas.microsoft.com/office/powerpoint/2010/main" val="2137918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6" name="TextBox 6"/>
          <p:cNvSpPr txBox="1"/>
          <p:nvPr/>
        </p:nvSpPr>
        <p:spPr>
          <a:xfrm>
            <a:off x="465678" y="419100"/>
            <a:ext cx="17585244" cy="930063"/>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Paraphrasing v Direct Quotes</a:t>
            </a:r>
          </a:p>
        </p:txBody>
      </p:sp>
      <p:grpSp>
        <p:nvGrpSpPr>
          <p:cNvPr id="2" name="Group 2">
            <a:extLst>
              <a:ext uri="{FF2B5EF4-FFF2-40B4-BE49-F238E27FC236}">
                <a16:creationId xmlns:a16="http://schemas.microsoft.com/office/drawing/2014/main" id="{DC9FF3BC-8C6F-FD23-CE9B-544748C320CA}"/>
              </a:ext>
            </a:extLst>
          </p:cNvPr>
          <p:cNvGrpSpPr/>
          <p:nvPr/>
        </p:nvGrpSpPr>
        <p:grpSpPr>
          <a:xfrm rot="5400000">
            <a:off x="8077202" y="-4389519"/>
            <a:ext cx="2362197" cy="16094242"/>
            <a:chOff x="0" y="0"/>
            <a:chExt cx="2605710" cy="2913974"/>
          </a:xfrm>
        </p:grpSpPr>
        <p:sp>
          <p:nvSpPr>
            <p:cNvPr id="3" name="Freeform 3">
              <a:extLst>
                <a:ext uri="{FF2B5EF4-FFF2-40B4-BE49-F238E27FC236}">
                  <a16:creationId xmlns:a16="http://schemas.microsoft.com/office/drawing/2014/main" id="{13AD5D6F-4CD1-D238-E1B8-8B2F33D4B4F5}"/>
                </a:ext>
              </a:extLst>
            </p:cNvPr>
            <p:cNvSpPr/>
            <p:nvPr/>
          </p:nvSpPr>
          <p:spPr>
            <a:xfrm>
              <a:off x="0" y="0"/>
              <a:ext cx="2605710" cy="2913974"/>
            </a:xfrm>
            <a:custGeom>
              <a:avLst/>
              <a:gdLst/>
              <a:ahLst/>
              <a:cxnLst/>
              <a:rect l="l" t="t" r="r" b="b"/>
              <a:pathLst>
                <a:path w="2605710" h="2913974">
                  <a:moveTo>
                    <a:pt x="0" y="0"/>
                  </a:moveTo>
                  <a:lnTo>
                    <a:pt x="2605710" y="0"/>
                  </a:lnTo>
                  <a:lnTo>
                    <a:pt x="2605710"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4" name="TextBox 4">
              <a:extLst>
                <a:ext uri="{FF2B5EF4-FFF2-40B4-BE49-F238E27FC236}">
                  <a16:creationId xmlns:a16="http://schemas.microsoft.com/office/drawing/2014/main" id="{D1BAF5CC-0007-CB5D-6402-D22D1E3AB8A3}"/>
                </a:ext>
              </a:extLst>
            </p:cNvPr>
            <p:cNvSpPr txBox="1"/>
            <p:nvPr/>
          </p:nvSpPr>
          <p:spPr>
            <a:xfrm>
              <a:off x="0" y="-38100"/>
              <a:ext cx="2605710" cy="2952074"/>
            </a:xfrm>
            <a:prstGeom prst="rect">
              <a:avLst/>
            </a:prstGeom>
          </p:spPr>
          <p:txBody>
            <a:bodyPr lIns="50800" tIns="50800" rIns="50800" bIns="50800" rtlCol="0" anchor="ctr"/>
            <a:lstStyle/>
            <a:p>
              <a:pPr algn="ctr">
                <a:lnSpc>
                  <a:spcPts val="2659"/>
                </a:lnSpc>
              </a:pPr>
              <a:endParaRPr/>
            </a:p>
          </p:txBody>
        </p:sp>
      </p:grpSp>
      <p:sp>
        <p:nvSpPr>
          <p:cNvPr id="7" name="TextBox 6">
            <a:extLst>
              <a:ext uri="{FF2B5EF4-FFF2-40B4-BE49-F238E27FC236}">
                <a16:creationId xmlns:a16="http://schemas.microsoft.com/office/drawing/2014/main" id="{B8D48D4B-2E82-5631-EB9B-43EC1752DBA6}"/>
              </a:ext>
            </a:extLst>
          </p:cNvPr>
          <p:cNvSpPr txBox="1"/>
          <p:nvPr/>
        </p:nvSpPr>
        <p:spPr>
          <a:xfrm>
            <a:off x="1447800" y="2705100"/>
            <a:ext cx="15697200" cy="1938992"/>
          </a:xfrm>
          <a:prstGeom prst="rect">
            <a:avLst/>
          </a:prstGeom>
          <a:noFill/>
        </p:spPr>
        <p:txBody>
          <a:bodyPr wrap="square">
            <a:spAutoFit/>
          </a:bodyPr>
          <a:lstStyle/>
          <a:p>
            <a:pPr algn="just"/>
            <a:r>
              <a:rPr lang="en-US" sz="2400" dirty="0"/>
              <a:t>Academic writing plays a critical role in </a:t>
            </a:r>
            <a:r>
              <a:rPr lang="en-US" sz="2400" dirty="0" err="1"/>
              <a:t>socialising</a:t>
            </a:r>
            <a:r>
              <a:rPr lang="en-US" sz="2400" dirty="0"/>
              <a:t> students into the discourse of subjects and disciplines in universities. However, with the massification higher education, many students especially those in many South African Universities of Technology are struggling to maintain academic writing standards that are acceptable in higher education. This has increased the demand for academic development </a:t>
            </a:r>
            <a:r>
              <a:rPr lang="en-US" sz="2400" dirty="0" err="1"/>
              <a:t>programmes</a:t>
            </a:r>
            <a:r>
              <a:rPr lang="en-US" sz="2400" dirty="0"/>
              <a:t> as a viable strategy to enhance the academic writing skills and other soft skills required by students (Reda, 2011; Jacobs, 2007; Layer, 2006). </a:t>
            </a:r>
            <a:endParaRPr lang="en-ZA" sz="2400" dirty="0"/>
          </a:p>
        </p:txBody>
      </p:sp>
      <p:sp>
        <p:nvSpPr>
          <p:cNvPr id="5" name="TextBox 4">
            <a:extLst>
              <a:ext uri="{FF2B5EF4-FFF2-40B4-BE49-F238E27FC236}">
                <a16:creationId xmlns:a16="http://schemas.microsoft.com/office/drawing/2014/main" id="{6C333D2E-D4D0-50FA-F6BF-C867B92DE45B}"/>
              </a:ext>
            </a:extLst>
          </p:cNvPr>
          <p:cNvSpPr txBox="1"/>
          <p:nvPr/>
        </p:nvSpPr>
        <p:spPr>
          <a:xfrm>
            <a:off x="1447800" y="1577762"/>
            <a:ext cx="16117434" cy="584775"/>
          </a:xfrm>
          <a:prstGeom prst="rect">
            <a:avLst/>
          </a:prstGeom>
          <a:noFill/>
        </p:spPr>
        <p:txBody>
          <a:bodyPr wrap="square">
            <a:spAutoFit/>
          </a:bodyPr>
          <a:lstStyle/>
          <a:p>
            <a:pPr algn="ctr"/>
            <a:r>
              <a:rPr lang="en-ZA" sz="3200" b="1" dirty="0"/>
              <a:t>PARAPHRASING</a:t>
            </a:r>
            <a:endParaRPr lang="en-ZA" sz="2400" b="1" dirty="0"/>
          </a:p>
        </p:txBody>
      </p:sp>
      <p:grpSp>
        <p:nvGrpSpPr>
          <p:cNvPr id="8" name="Group 2">
            <a:extLst>
              <a:ext uri="{FF2B5EF4-FFF2-40B4-BE49-F238E27FC236}">
                <a16:creationId xmlns:a16="http://schemas.microsoft.com/office/drawing/2014/main" id="{7E230D51-B23B-1109-4959-4CE71F95BCEC}"/>
              </a:ext>
            </a:extLst>
          </p:cNvPr>
          <p:cNvGrpSpPr/>
          <p:nvPr/>
        </p:nvGrpSpPr>
        <p:grpSpPr>
          <a:xfrm rot="5400000">
            <a:off x="8321914" y="-913829"/>
            <a:ext cx="1872771" cy="16094242"/>
            <a:chOff x="0" y="0"/>
            <a:chExt cx="2605710" cy="2913974"/>
          </a:xfrm>
        </p:grpSpPr>
        <p:sp>
          <p:nvSpPr>
            <p:cNvPr id="9" name="Freeform 3">
              <a:extLst>
                <a:ext uri="{FF2B5EF4-FFF2-40B4-BE49-F238E27FC236}">
                  <a16:creationId xmlns:a16="http://schemas.microsoft.com/office/drawing/2014/main" id="{D0CA7AF0-DD62-7C9C-EA4A-00A1C10B7BFA}"/>
                </a:ext>
              </a:extLst>
            </p:cNvPr>
            <p:cNvSpPr/>
            <p:nvPr/>
          </p:nvSpPr>
          <p:spPr>
            <a:xfrm>
              <a:off x="0" y="0"/>
              <a:ext cx="2605710" cy="2913974"/>
            </a:xfrm>
            <a:custGeom>
              <a:avLst/>
              <a:gdLst/>
              <a:ahLst/>
              <a:cxnLst/>
              <a:rect l="l" t="t" r="r" b="b"/>
              <a:pathLst>
                <a:path w="2605710" h="2913974">
                  <a:moveTo>
                    <a:pt x="0" y="0"/>
                  </a:moveTo>
                  <a:lnTo>
                    <a:pt x="2605710" y="0"/>
                  </a:lnTo>
                  <a:lnTo>
                    <a:pt x="2605710" y="2913974"/>
                  </a:lnTo>
                  <a:lnTo>
                    <a:pt x="0" y="2913974"/>
                  </a:lnTo>
                  <a:close/>
                </a:path>
              </a:pathLst>
            </a:custGeom>
            <a:solidFill>
              <a:schemeClr val="accent6">
                <a:lumMod val="60000"/>
                <a:lumOff val="40000"/>
              </a:schemeClr>
            </a:solidFill>
            <a:ln w="38100" cap="sq">
              <a:solidFill>
                <a:srgbClr val="000000"/>
              </a:solidFill>
              <a:prstDash val="solid"/>
              <a:miter/>
            </a:ln>
          </p:spPr>
          <p:txBody>
            <a:bodyPr/>
            <a:lstStyle/>
            <a:p>
              <a:endParaRPr lang="en-GB"/>
            </a:p>
          </p:txBody>
        </p:sp>
        <p:sp>
          <p:nvSpPr>
            <p:cNvPr id="11" name="TextBox 4">
              <a:extLst>
                <a:ext uri="{FF2B5EF4-FFF2-40B4-BE49-F238E27FC236}">
                  <a16:creationId xmlns:a16="http://schemas.microsoft.com/office/drawing/2014/main" id="{C2E27BA2-991B-5A6F-213A-71FC3B0FB3D3}"/>
                </a:ext>
              </a:extLst>
            </p:cNvPr>
            <p:cNvSpPr txBox="1"/>
            <p:nvPr/>
          </p:nvSpPr>
          <p:spPr>
            <a:xfrm>
              <a:off x="0" y="-38100"/>
              <a:ext cx="2605710" cy="2952074"/>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52FA4E37-B1B6-A1B5-48F9-66133A177755}"/>
              </a:ext>
            </a:extLst>
          </p:cNvPr>
          <p:cNvSpPr txBox="1"/>
          <p:nvPr/>
        </p:nvSpPr>
        <p:spPr>
          <a:xfrm>
            <a:off x="1396252" y="6253793"/>
            <a:ext cx="15697200" cy="1815882"/>
          </a:xfrm>
          <a:prstGeom prst="rect">
            <a:avLst/>
          </a:prstGeom>
          <a:noFill/>
        </p:spPr>
        <p:txBody>
          <a:bodyPr wrap="square">
            <a:spAutoFit/>
          </a:bodyPr>
          <a:lstStyle/>
          <a:p>
            <a:pPr algn="just"/>
            <a:r>
              <a:rPr lang="en-US" sz="2800" dirty="0"/>
              <a:t>Due to the rapid expansion of the South African higher education sector, many students at Universities of Technology find it difficult to meet the required writing benchmarks. Consequently, there is a growing necessity for support programs that focus on both academic and interpersonal skills (Reda, 2011; Jacobs, 2007).</a:t>
            </a:r>
          </a:p>
        </p:txBody>
      </p:sp>
      <p:cxnSp>
        <p:nvCxnSpPr>
          <p:cNvPr id="16" name="Straight Arrow Connector 15">
            <a:extLst>
              <a:ext uri="{FF2B5EF4-FFF2-40B4-BE49-F238E27FC236}">
                <a16:creationId xmlns:a16="http://schemas.microsoft.com/office/drawing/2014/main" id="{8C6DE5EB-8202-D7C6-6187-E0F60FC3D9CF}"/>
              </a:ext>
            </a:extLst>
          </p:cNvPr>
          <p:cNvCxnSpPr/>
          <p:nvPr/>
        </p:nvCxnSpPr>
        <p:spPr>
          <a:xfrm>
            <a:off x="9448800" y="5143500"/>
            <a:ext cx="0" cy="7620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C849921-E30F-8625-C6D1-0B77DA7409A2}"/>
              </a:ext>
            </a:extLst>
          </p:cNvPr>
          <p:cNvSpPr txBox="1"/>
          <p:nvPr/>
        </p:nvSpPr>
        <p:spPr>
          <a:xfrm>
            <a:off x="1066800" y="5767658"/>
            <a:ext cx="5023532" cy="400110"/>
          </a:xfrm>
          <a:prstGeom prst="rect">
            <a:avLst/>
          </a:prstGeom>
          <a:noFill/>
        </p:spPr>
        <p:txBody>
          <a:bodyPr wrap="square">
            <a:spAutoFit/>
          </a:bodyPr>
          <a:lstStyle/>
          <a:p>
            <a:r>
              <a:rPr lang="en-US" sz="2000" b="1" dirty="0"/>
              <a:t>“Cause and Effect” Style of Paraphrasing</a:t>
            </a:r>
            <a:endParaRPr lang="en-ZA" sz="1600" b="1" dirty="0"/>
          </a:p>
        </p:txBody>
      </p:sp>
      <p:sp>
        <p:nvSpPr>
          <p:cNvPr id="14" name="TextBox 13">
            <a:extLst>
              <a:ext uri="{FF2B5EF4-FFF2-40B4-BE49-F238E27FC236}">
                <a16:creationId xmlns:a16="http://schemas.microsoft.com/office/drawing/2014/main" id="{1D0079C5-1684-3A3C-4EB8-37303FDC36E7}"/>
              </a:ext>
            </a:extLst>
          </p:cNvPr>
          <p:cNvSpPr txBox="1"/>
          <p:nvPr/>
        </p:nvSpPr>
        <p:spPr>
          <a:xfrm>
            <a:off x="1474694" y="8337703"/>
            <a:ext cx="16117434" cy="830997"/>
          </a:xfrm>
          <a:prstGeom prst="rect">
            <a:avLst/>
          </a:prstGeom>
          <a:noFill/>
        </p:spPr>
        <p:txBody>
          <a:bodyPr wrap="square">
            <a:spAutoFit/>
          </a:bodyPr>
          <a:lstStyle/>
          <a:p>
            <a:r>
              <a:rPr lang="en-ZA" sz="2400" dirty="0" err="1"/>
              <a:t>Pineteh</a:t>
            </a:r>
            <a:r>
              <a:rPr lang="en-ZA" sz="2400" dirty="0"/>
              <a:t>, E. A. 2014. The Academic Writing Challenges of Undergraduate Students: A South African Case Study</a:t>
            </a:r>
            <a:r>
              <a:rPr lang="en-ZA" sz="2400" i="1" dirty="0"/>
              <a:t>. International Journal of Higher Education</a:t>
            </a:r>
            <a:r>
              <a:rPr lang="en-ZA" sz="2400" dirty="0"/>
              <a:t>, 3(1): 12-22.</a:t>
            </a:r>
            <a:endParaRPr lang="en-ZA" dirty="0"/>
          </a:p>
        </p:txBody>
      </p:sp>
    </p:spTree>
    <p:extLst>
      <p:ext uri="{BB962C8B-B14F-4D97-AF65-F5344CB8AC3E}">
        <p14:creationId xmlns:p14="http://schemas.microsoft.com/office/powerpoint/2010/main" val="2572956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6" name="TextBox 6"/>
          <p:cNvSpPr txBox="1"/>
          <p:nvPr/>
        </p:nvSpPr>
        <p:spPr>
          <a:xfrm>
            <a:off x="465678" y="419100"/>
            <a:ext cx="17585244" cy="930063"/>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Paraphrasing v Direct Quotes</a:t>
            </a:r>
          </a:p>
        </p:txBody>
      </p:sp>
      <p:grpSp>
        <p:nvGrpSpPr>
          <p:cNvPr id="2" name="Group 2">
            <a:extLst>
              <a:ext uri="{FF2B5EF4-FFF2-40B4-BE49-F238E27FC236}">
                <a16:creationId xmlns:a16="http://schemas.microsoft.com/office/drawing/2014/main" id="{DC9FF3BC-8C6F-FD23-CE9B-544748C320CA}"/>
              </a:ext>
            </a:extLst>
          </p:cNvPr>
          <p:cNvGrpSpPr/>
          <p:nvPr/>
        </p:nvGrpSpPr>
        <p:grpSpPr>
          <a:xfrm rot="5400000">
            <a:off x="8077202" y="-4389519"/>
            <a:ext cx="2362197" cy="16094242"/>
            <a:chOff x="0" y="0"/>
            <a:chExt cx="2605710" cy="2913974"/>
          </a:xfrm>
        </p:grpSpPr>
        <p:sp>
          <p:nvSpPr>
            <p:cNvPr id="3" name="Freeform 3">
              <a:extLst>
                <a:ext uri="{FF2B5EF4-FFF2-40B4-BE49-F238E27FC236}">
                  <a16:creationId xmlns:a16="http://schemas.microsoft.com/office/drawing/2014/main" id="{13AD5D6F-4CD1-D238-E1B8-8B2F33D4B4F5}"/>
                </a:ext>
              </a:extLst>
            </p:cNvPr>
            <p:cNvSpPr/>
            <p:nvPr/>
          </p:nvSpPr>
          <p:spPr>
            <a:xfrm>
              <a:off x="0" y="0"/>
              <a:ext cx="2605710" cy="2913974"/>
            </a:xfrm>
            <a:custGeom>
              <a:avLst/>
              <a:gdLst/>
              <a:ahLst/>
              <a:cxnLst/>
              <a:rect l="l" t="t" r="r" b="b"/>
              <a:pathLst>
                <a:path w="2605710" h="2913974">
                  <a:moveTo>
                    <a:pt x="0" y="0"/>
                  </a:moveTo>
                  <a:lnTo>
                    <a:pt x="2605710" y="0"/>
                  </a:lnTo>
                  <a:lnTo>
                    <a:pt x="2605710"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4" name="TextBox 4">
              <a:extLst>
                <a:ext uri="{FF2B5EF4-FFF2-40B4-BE49-F238E27FC236}">
                  <a16:creationId xmlns:a16="http://schemas.microsoft.com/office/drawing/2014/main" id="{D1BAF5CC-0007-CB5D-6402-D22D1E3AB8A3}"/>
                </a:ext>
              </a:extLst>
            </p:cNvPr>
            <p:cNvSpPr txBox="1"/>
            <p:nvPr/>
          </p:nvSpPr>
          <p:spPr>
            <a:xfrm>
              <a:off x="0" y="-38100"/>
              <a:ext cx="2605710" cy="2952074"/>
            </a:xfrm>
            <a:prstGeom prst="rect">
              <a:avLst/>
            </a:prstGeom>
          </p:spPr>
          <p:txBody>
            <a:bodyPr lIns="50800" tIns="50800" rIns="50800" bIns="50800" rtlCol="0" anchor="ctr"/>
            <a:lstStyle/>
            <a:p>
              <a:pPr algn="ctr">
                <a:lnSpc>
                  <a:spcPts val="2659"/>
                </a:lnSpc>
              </a:pPr>
              <a:endParaRPr/>
            </a:p>
          </p:txBody>
        </p:sp>
      </p:grpSp>
      <p:sp>
        <p:nvSpPr>
          <p:cNvPr id="7" name="TextBox 6">
            <a:extLst>
              <a:ext uri="{FF2B5EF4-FFF2-40B4-BE49-F238E27FC236}">
                <a16:creationId xmlns:a16="http://schemas.microsoft.com/office/drawing/2014/main" id="{B8D48D4B-2E82-5631-EB9B-43EC1752DBA6}"/>
              </a:ext>
            </a:extLst>
          </p:cNvPr>
          <p:cNvSpPr txBox="1"/>
          <p:nvPr/>
        </p:nvSpPr>
        <p:spPr>
          <a:xfrm>
            <a:off x="1447800" y="2705100"/>
            <a:ext cx="15697200" cy="1938992"/>
          </a:xfrm>
          <a:prstGeom prst="rect">
            <a:avLst/>
          </a:prstGeom>
          <a:noFill/>
        </p:spPr>
        <p:txBody>
          <a:bodyPr wrap="square">
            <a:spAutoFit/>
          </a:bodyPr>
          <a:lstStyle/>
          <a:p>
            <a:pPr algn="just"/>
            <a:r>
              <a:rPr lang="en-US" sz="2400" dirty="0"/>
              <a:t>Academic writing plays a critical role in </a:t>
            </a:r>
            <a:r>
              <a:rPr lang="en-US" sz="2400" dirty="0" err="1"/>
              <a:t>socialising</a:t>
            </a:r>
            <a:r>
              <a:rPr lang="en-US" sz="2400" dirty="0"/>
              <a:t> students into the discourse of subjects and disciplines in universities. However, with the massification higher education, many students especially those in many South African Universities of Technology are struggling to maintain academic writing standards that are acceptable in higher education. This has increased the demand for academic development </a:t>
            </a:r>
            <a:r>
              <a:rPr lang="en-US" sz="2400" dirty="0" err="1"/>
              <a:t>programmes</a:t>
            </a:r>
            <a:r>
              <a:rPr lang="en-US" sz="2400" dirty="0"/>
              <a:t> as a viable strategy to enhance the academic writing skills and other soft skills required by students (Reda, 2011; Jacobs, 2007; Layer, 2006). </a:t>
            </a:r>
            <a:endParaRPr lang="en-ZA" sz="2400" dirty="0"/>
          </a:p>
        </p:txBody>
      </p:sp>
      <p:sp>
        <p:nvSpPr>
          <p:cNvPr id="10" name="TextBox 9">
            <a:extLst>
              <a:ext uri="{FF2B5EF4-FFF2-40B4-BE49-F238E27FC236}">
                <a16:creationId xmlns:a16="http://schemas.microsoft.com/office/drawing/2014/main" id="{EDC0FE6C-8EFC-C05C-0A17-2C2E5B6A7959}"/>
              </a:ext>
            </a:extLst>
          </p:cNvPr>
          <p:cNvSpPr txBox="1"/>
          <p:nvPr/>
        </p:nvSpPr>
        <p:spPr>
          <a:xfrm>
            <a:off x="1474694" y="8337703"/>
            <a:ext cx="16117434" cy="830997"/>
          </a:xfrm>
          <a:prstGeom prst="rect">
            <a:avLst/>
          </a:prstGeom>
          <a:noFill/>
        </p:spPr>
        <p:txBody>
          <a:bodyPr wrap="square">
            <a:spAutoFit/>
          </a:bodyPr>
          <a:lstStyle/>
          <a:p>
            <a:r>
              <a:rPr lang="en-ZA" sz="2400" dirty="0" err="1"/>
              <a:t>Pineteh</a:t>
            </a:r>
            <a:r>
              <a:rPr lang="en-ZA" sz="2400" dirty="0"/>
              <a:t>, E. A. 2014. The Academic Writing Challenges of Undergraduate Students: A South African Case Study</a:t>
            </a:r>
            <a:r>
              <a:rPr lang="en-ZA" sz="2400" i="1" dirty="0"/>
              <a:t>. International Journal of Higher Education</a:t>
            </a:r>
            <a:r>
              <a:rPr lang="en-ZA" sz="2400" dirty="0"/>
              <a:t>, 3(1): 12-22.</a:t>
            </a:r>
            <a:endParaRPr lang="en-ZA" dirty="0"/>
          </a:p>
        </p:txBody>
      </p:sp>
      <p:sp>
        <p:nvSpPr>
          <p:cNvPr id="5" name="TextBox 4">
            <a:extLst>
              <a:ext uri="{FF2B5EF4-FFF2-40B4-BE49-F238E27FC236}">
                <a16:creationId xmlns:a16="http://schemas.microsoft.com/office/drawing/2014/main" id="{6C333D2E-D4D0-50FA-F6BF-C867B92DE45B}"/>
              </a:ext>
            </a:extLst>
          </p:cNvPr>
          <p:cNvSpPr txBox="1"/>
          <p:nvPr/>
        </p:nvSpPr>
        <p:spPr>
          <a:xfrm>
            <a:off x="1447800" y="1577762"/>
            <a:ext cx="16117434" cy="584775"/>
          </a:xfrm>
          <a:prstGeom prst="rect">
            <a:avLst/>
          </a:prstGeom>
          <a:noFill/>
        </p:spPr>
        <p:txBody>
          <a:bodyPr wrap="square">
            <a:spAutoFit/>
          </a:bodyPr>
          <a:lstStyle/>
          <a:p>
            <a:pPr algn="ctr"/>
            <a:r>
              <a:rPr lang="en-ZA" sz="3200" b="1" dirty="0"/>
              <a:t>DIRECT QUOTES</a:t>
            </a:r>
            <a:endParaRPr lang="en-ZA" sz="2400" b="1" dirty="0"/>
          </a:p>
        </p:txBody>
      </p:sp>
      <p:grpSp>
        <p:nvGrpSpPr>
          <p:cNvPr id="8" name="Group 2">
            <a:extLst>
              <a:ext uri="{FF2B5EF4-FFF2-40B4-BE49-F238E27FC236}">
                <a16:creationId xmlns:a16="http://schemas.microsoft.com/office/drawing/2014/main" id="{7E230D51-B23B-1109-4959-4CE71F95BCEC}"/>
              </a:ext>
            </a:extLst>
          </p:cNvPr>
          <p:cNvGrpSpPr/>
          <p:nvPr/>
        </p:nvGrpSpPr>
        <p:grpSpPr>
          <a:xfrm rot="5400000">
            <a:off x="8451504" y="-1043420"/>
            <a:ext cx="1613592" cy="16094242"/>
            <a:chOff x="0" y="0"/>
            <a:chExt cx="2605710" cy="2913974"/>
          </a:xfrm>
        </p:grpSpPr>
        <p:sp>
          <p:nvSpPr>
            <p:cNvPr id="9" name="Freeform 3">
              <a:extLst>
                <a:ext uri="{FF2B5EF4-FFF2-40B4-BE49-F238E27FC236}">
                  <a16:creationId xmlns:a16="http://schemas.microsoft.com/office/drawing/2014/main" id="{D0CA7AF0-DD62-7C9C-EA4A-00A1C10B7BFA}"/>
                </a:ext>
              </a:extLst>
            </p:cNvPr>
            <p:cNvSpPr/>
            <p:nvPr/>
          </p:nvSpPr>
          <p:spPr>
            <a:xfrm>
              <a:off x="0" y="0"/>
              <a:ext cx="2605710" cy="2913974"/>
            </a:xfrm>
            <a:custGeom>
              <a:avLst/>
              <a:gdLst/>
              <a:ahLst/>
              <a:cxnLst/>
              <a:rect l="l" t="t" r="r" b="b"/>
              <a:pathLst>
                <a:path w="2605710" h="2913974">
                  <a:moveTo>
                    <a:pt x="0" y="0"/>
                  </a:moveTo>
                  <a:lnTo>
                    <a:pt x="2605710" y="0"/>
                  </a:lnTo>
                  <a:lnTo>
                    <a:pt x="2605710" y="2913974"/>
                  </a:lnTo>
                  <a:lnTo>
                    <a:pt x="0" y="2913974"/>
                  </a:lnTo>
                  <a:close/>
                </a:path>
              </a:pathLst>
            </a:custGeom>
            <a:solidFill>
              <a:schemeClr val="accent6">
                <a:lumMod val="60000"/>
                <a:lumOff val="40000"/>
              </a:schemeClr>
            </a:solidFill>
            <a:ln w="38100" cap="sq">
              <a:solidFill>
                <a:srgbClr val="000000"/>
              </a:solidFill>
              <a:prstDash val="solid"/>
              <a:miter/>
            </a:ln>
          </p:spPr>
          <p:txBody>
            <a:bodyPr/>
            <a:lstStyle/>
            <a:p>
              <a:endParaRPr lang="en-GB"/>
            </a:p>
          </p:txBody>
        </p:sp>
        <p:sp>
          <p:nvSpPr>
            <p:cNvPr id="11" name="TextBox 4">
              <a:extLst>
                <a:ext uri="{FF2B5EF4-FFF2-40B4-BE49-F238E27FC236}">
                  <a16:creationId xmlns:a16="http://schemas.microsoft.com/office/drawing/2014/main" id="{C2E27BA2-991B-5A6F-213A-71FC3B0FB3D3}"/>
                </a:ext>
              </a:extLst>
            </p:cNvPr>
            <p:cNvSpPr txBox="1"/>
            <p:nvPr/>
          </p:nvSpPr>
          <p:spPr>
            <a:xfrm>
              <a:off x="0" y="-38100"/>
              <a:ext cx="2605710" cy="2952074"/>
            </a:xfrm>
            <a:prstGeom prst="rect">
              <a:avLst/>
            </a:prstGeom>
          </p:spPr>
          <p:txBody>
            <a:bodyPr lIns="50800" tIns="50800" rIns="50800" bIns="50800" rtlCol="0" anchor="ctr"/>
            <a:lstStyle/>
            <a:p>
              <a:pPr algn="ctr">
                <a:lnSpc>
                  <a:spcPts val="2659"/>
                </a:lnSpc>
              </a:pPr>
              <a:endParaRPr/>
            </a:p>
          </p:txBody>
        </p:sp>
      </p:grpSp>
      <p:sp>
        <p:nvSpPr>
          <p:cNvPr id="12" name="TextBox 11">
            <a:extLst>
              <a:ext uri="{FF2B5EF4-FFF2-40B4-BE49-F238E27FC236}">
                <a16:creationId xmlns:a16="http://schemas.microsoft.com/office/drawing/2014/main" id="{52FA4E37-B1B6-A1B5-48F9-66133A177755}"/>
              </a:ext>
            </a:extLst>
          </p:cNvPr>
          <p:cNvSpPr txBox="1"/>
          <p:nvPr/>
        </p:nvSpPr>
        <p:spPr>
          <a:xfrm>
            <a:off x="1396252" y="6253793"/>
            <a:ext cx="15697200" cy="1384995"/>
          </a:xfrm>
          <a:prstGeom prst="rect">
            <a:avLst/>
          </a:prstGeom>
          <a:noFill/>
        </p:spPr>
        <p:txBody>
          <a:bodyPr wrap="square">
            <a:spAutoFit/>
          </a:bodyPr>
          <a:lstStyle/>
          <a:p>
            <a:pPr algn="just"/>
            <a:r>
              <a:rPr lang="en-US" sz="2800" dirty="0" err="1"/>
              <a:t>Pineteh</a:t>
            </a:r>
            <a:r>
              <a:rPr lang="en-US" sz="2800" dirty="0"/>
              <a:t> (2014) argue that the growth of the student population has led to a situation where "many students especially those in many South African Universities of Technology are struggling to maintain academic writing standards."</a:t>
            </a:r>
          </a:p>
        </p:txBody>
      </p:sp>
      <p:cxnSp>
        <p:nvCxnSpPr>
          <p:cNvPr id="16" name="Straight Arrow Connector 15">
            <a:extLst>
              <a:ext uri="{FF2B5EF4-FFF2-40B4-BE49-F238E27FC236}">
                <a16:creationId xmlns:a16="http://schemas.microsoft.com/office/drawing/2014/main" id="{8C6DE5EB-8202-D7C6-6187-E0F60FC3D9CF}"/>
              </a:ext>
            </a:extLst>
          </p:cNvPr>
          <p:cNvCxnSpPr/>
          <p:nvPr/>
        </p:nvCxnSpPr>
        <p:spPr>
          <a:xfrm>
            <a:off x="9448800" y="5143500"/>
            <a:ext cx="0" cy="7620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27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2" name="TextBox 2"/>
          <p:cNvSpPr txBox="1"/>
          <p:nvPr/>
        </p:nvSpPr>
        <p:spPr>
          <a:xfrm>
            <a:off x="1853422" y="530598"/>
            <a:ext cx="14581155" cy="963930"/>
          </a:xfrm>
          <a:prstGeom prst="rect">
            <a:avLst/>
          </a:prstGeom>
        </p:spPr>
        <p:txBody>
          <a:bodyPr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Lazy Writing</a:t>
            </a:r>
          </a:p>
        </p:txBody>
      </p:sp>
      <p:grpSp>
        <p:nvGrpSpPr>
          <p:cNvPr id="4" name="Group 4"/>
          <p:cNvGrpSpPr/>
          <p:nvPr/>
        </p:nvGrpSpPr>
        <p:grpSpPr>
          <a:xfrm>
            <a:off x="884679" y="1485824"/>
            <a:ext cx="16201988" cy="2603618"/>
            <a:chOff x="0" y="-76200"/>
            <a:chExt cx="4267190" cy="482973"/>
          </a:xfrm>
        </p:grpSpPr>
        <p:sp>
          <p:nvSpPr>
            <p:cNvPr id="5" name="Freeform 5"/>
            <p:cNvSpPr/>
            <p:nvPr/>
          </p:nvSpPr>
          <p:spPr>
            <a:xfrm>
              <a:off x="0" y="0"/>
              <a:ext cx="4267190" cy="333029"/>
            </a:xfrm>
            <a:custGeom>
              <a:avLst/>
              <a:gdLst/>
              <a:ahLst/>
              <a:cxnLst/>
              <a:rect l="l" t="t" r="r" b="b"/>
              <a:pathLst>
                <a:path w="4267190" h="333029">
                  <a:moveTo>
                    <a:pt x="0" y="0"/>
                  </a:moveTo>
                  <a:lnTo>
                    <a:pt x="4267190" y="0"/>
                  </a:lnTo>
                  <a:lnTo>
                    <a:pt x="4267190" y="333029"/>
                  </a:lnTo>
                  <a:lnTo>
                    <a:pt x="0" y="333029"/>
                  </a:lnTo>
                  <a:close/>
                </a:path>
              </a:pathLst>
            </a:custGeom>
            <a:solidFill>
              <a:srgbClr val="ADC2A7"/>
            </a:solidFill>
            <a:ln w="47625" cap="sq">
              <a:solidFill>
                <a:srgbClr val="000000"/>
              </a:solidFill>
              <a:prstDash val="solid"/>
              <a:miter/>
            </a:ln>
          </p:spPr>
          <p:txBody>
            <a:bodyPr/>
            <a:lstStyle/>
            <a:p>
              <a:endParaRPr lang="en-GB"/>
            </a:p>
          </p:txBody>
        </p:sp>
        <p:sp>
          <p:nvSpPr>
            <p:cNvPr id="6" name="TextBox 6"/>
            <p:cNvSpPr txBox="1"/>
            <p:nvPr/>
          </p:nvSpPr>
          <p:spPr>
            <a:xfrm>
              <a:off x="0" y="-76200"/>
              <a:ext cx="4267190" cy="482973"/>
            </a:xfrm>
            <a:prstGeom prst="rect">
              <a:avLst/>
            </a:prstGeom>
          </p:spPr>
          <p:txBody>
            <a:bodyPr lIns="50800" tIns="50800" rIns="50800" bIns="50800" rtlCol="0" anchor="ctr"/>
            <a:lstStyle/>
            <a:p>
              <a:pPr algn="ctr"/>
              <a:r>
                <a:rPr lang="en-US" sz="4800" b="1" dirty="0"/>
                <a:t>Source:</a:t>
              </a:r>
            </a:p>
            <a:p>
              <a:pPr algn="ctr"/>
              <a:r>
                <a:rPr lang="en-US" sz="4800" dirty="0"/>
                <a:t>"Cloud adoption is influenced by trust."</a:t>
              </a:r>
              <a:endParaRPr lang="en-US" sz="4400" dirty="0">
                <a:solidFill>
                  <a:srgbClr val="FF0000"/>
                </a:solidFill>
                <a:effectLst>
                  <a:outerShdw blurRad="38100" dist="38100" dir="2700000" algn="tl">
                    <a:srgbClr val="000000">
                      <a:alpha val="43137"/>
                    </a:srgbClr>
                  </a:outerShdw>
                </a:effectLst>
                <a:latin typeface="Open Sauce"/>
                <a:ea typeface="Open Sauce"/>
                <a:cs typeface="Open Sauce"/>
                <a:sym typeface="Open Sauce"/>
              </a:endParaRPr>
            </a:p>
          </p:txBody>
        </p:sp>
      </p:grpSp>
      <p:grpSp>
        <p:nvGrpSpPr>
          <p:cNvPr id="7" name="Group 7"/>
          <p:cNvGrpSpPr/>
          <p:nvPr/>
        </p:nvGrpSpPr>
        <p:grpSpPr>
          <a:xfrm>
            <a:off x="884679" y="4672213"/>
            <a:ext cx="16201988" cy="1525346"/>
            <a:chOff x="0" y="0"/>
            <a:chExt cx="4267190" cy="333029"/>
          </a:xfrm>
        </p:grpSpPr>
        <p:sp>
          <p:nvSpPr>
            <p:cNvPr id="8" name="Freeform 8"/>
            <p:cNvSpPr/>
            <p:nvPr/>
          </p:nvSpPr>
          <p:spPr>
            <a:xfrm>
              <a:off x="0" y="0"/>
              <a:ext cx="4267190" cy="333029"/>
            </a:xfrm>
            <a:custGeom>
              <a:avLst/>
              <a:gdLst/>
              <a:ahLst/>
              <a:cxnLst/>
              <a:rect l="l" t="t" r="r" b="b"/>
              <a:pathLst>
                <a:path w="4267190" h="333029">
                  <a:moveTo>
                    <a:pt x="0" y="0"/>
                  </a:moveTo>
                  <a:lnTo>
                    <a:pt x="4267190" y="0"/>
                  </a:lnTo>
                  <a:lnTo>
                    <a:pt x="4267190" y="333029"/>
                  </a:lnTo>
                  <a:lnTo>
                    <a:pt x="0" y="333029"/>
                  </a:lnTo>
                  <a:close/>
                </a:path>
              </a:pathLst>
            </a:custGeom>
            <a:solidFill>
              <a:schemeClr val="tx2">
                <a:lumMod val="40000"/>
                <a:lumOff val="60000"/>
              </a:schemeClr>
            </a:solidFill>
            <a:ln w="47625" cap="sq">
              <a:solidFill>
                <a:srgbClr val="000000"/>
              </a:solidFill>
              <a:prstDash val="solid"/>
              <a:miter/>
            </a:ln>
          </p:spPr>
          <p:txBody>
            <a:bodyPr/>
            <a:lstStyle/>
            <a:p>
              <a:endParaRPr lang="en-GB"/>
            </a:p>
          </p:txBody>
        </p:sp>
        <p:sp>
          <p:nvSpPr>
            <p:cNvPr id="9" name="TextBox 9"/>
            <p:cNvSpPr txBox="1"/>
            <p:nvPr/>
          </p:nvSpPr>
          <p:spPr>
            <a:xfrm>
              <a:off x="0" y="0"/>
              <a:ext cx="4267190" cy="333029"/>
            </a:xfrm>
            <a:prstGeom prst="rect">
              <a:avLst/>
            </a:prstGeom>
          </p:spPr>
          <p:txBody>
            <a:bodyPr lIns="50800" tIns="50800" rIns="50800" bIns="50800" rtlCol="0" anchor="ctr"/>
            <a:lstStyle/>
            <a:p>
              <a:pPr algn="ctr">
                <a:lnSpc>
                  <a:spcPts val="3749"/>
                </a:lnSpc>
              </a:pPr>
              <a:r>
                <a:rPr lang="en-US" sz="3200" b="1" dirty="0"/>
                <a:t>Lazy Writing: </a:t>
              </a:r>
            </a:p>
            <a:p>
              <a:pPr algn="ctr">
                <a:lnSpc>
                  <a:spcPts val="3749"/>
                </a:lnSpc>
              </a:pPr>
              <a:r>
                <a:rPr lang="en-US" sz="3200" dirty="0"/>
                <a:t>The author says cloud adoption is influenced by trust (Nkosi, 2021:120).</a:t>
              </a:r>
              <a:endParaRPr lang="en-US" sz="3200" dirty="0">
                <a:solidFill>
                  <a:srgbClr val="000000"/>
                </a:solidFill>
                <a:effectLst>
                  <a:outerShdw blurRad="38100" dist="38100" dir="2700000" algn="tl">
                    <a:srgbClr val="000000">
                      <a:alpha val="43137"/>
                    </a:srgbClr>
                  </a:outerShdw>
                </a:effectLst>
                <a:latin typeface="Open Sauce"/>
                <a:ea typeface="Open Sauce"/>
                <a:cs typeface="Open Sauce"/>
                <a:sym typeface="Open Sauce"/>
              </a:endParaRPr>
            </a:p>
          </p:txBody>
        </p:sp>
      </p:grpSp>
      <p:grpSp>
        <p:nvGrpSpPr>
          <p:cNvPr id="10" name="Group 10"/>
          <p:cNvGrpSpPr/>
          <p:nvPr/>
        </p:nvGrpSpPr>
        <p:grpSpPr>
          <a:xfrm>
            <a:off x="1028700" y="7353300"/>
            <a:ext cx="16230600" cy="2129573"/>
            <a:chOff x="0" y="0"/>
            <a:chExt cx="4274726" cy="333029"/>
          </a:xfrm>
        </p:grpSpPr>
        <p:sp>
          <p:nvSpPr>
            <p:cNvPr id="11" name="Freeform 11"/>
            <p:cNvSpPr/>
            <p:nvPr/>
          </p:nvSpPr>
          <p:spPr>
            <a:xfrm>
              <a:off x="0" y="0"/>
              <a:ext cx="4274726" cy="333029"/>
            </a:xfrm>
            <a:custGeom>
              <a:avLst/>
              <a:gdLst/>
              <a:ahLst/>
              <a:cxnLst/>
              <a:rect l="l" t="t" r="r" b="b"/>
              <a:pathLst>
                <a:path w="4274726" h="333029">
                  <a:moveTo>
                    <a:pt x="0" y="0"/>
                  </a:moveTo>
                  <a:lnTo>
                    <a:pt x="4274726" y="0"/>
                  </a:lnTo>
                  <a:lnTo>
                    <a:pt x="4274726" y="333029"/>
                  </a:lnTo>
                  <a:lnTo>
                    <a:pt x="0" y="333029"/>
                  </a:lnTo>
                  <a:close/>
                </a:path>
              </a:pathLst>
            </a:custGeom>
            <a:solidFill>
              <a:schemeClr val="accent6">
                <a:lumMod val="60000"/>
                <a:lumOff val="40000"/>
              </a:schemeClr>
            </a:solidFill>
            <a:ln w="47625" cap="sq">
              <a:solidFill>
                <a:srgbClr val="000000"/>
              </a:solidFill>
              <a:prstDash val="solid"/>
              <a:miter/>
            </a:ln>
          </p:spPr>
          <p:txBody>
            <a:bodyPr/>
            <a:lstStyle/>
            <a:p>
              <a:endParaRPr lang="en-GB"/>
            </a:p>
          </p:txBody>
        </p:sp>
        <p:sp>
          <p:nvSpPr>
            <p:cNvPr id="12" name="TextBox 12"/>
            <p:cNvSpPr txBox="1"/>
            <p:nvPr/>
          </p:nvSpPr>
          <p:spPr>
            <a:xfrm>
              <a:off x="0" y="0"/>
              <a:ext cx="4274726" cy="333029"/>
            </a:xfrm>
            <a:prstGeom prst="rect">
              <a:avLst/>
            </a:prstGeom>
          </p:spPr>
          <p:txBody>
            <a:bodyPr lIns="50800" tIns="50800" rIns="50800" bIns="50800" rtlCol="0" anchor="ctr"/>
            <a:lstStyle/>
            <a:p>
              <a:pPr algn="ctr">
                <a:lnSpc>
                  <a:spcPts val="3749"/>
                </a:lnSpc>
              </a:pPr>
              <a:r>
                <a:rPr lang="en-US" sz="3200" b="1" dirty="0"/>
                <a:t>Advanced Writing: </a:t>
              </a:r>
            </a:p>
            <a:p>
              <a:pPr algn="ctr">
                <a:lnSpc>
                  <a:spcPts val="3749"/>
                </a:lnSpc>
              </a:pPr>
              <a:r>
                <a:rPr lang="en-US" sz="3200" dirty="0"/>
                <a:t>While Nkosi (2021:120) highlights trust as a primary driver for cloud adoption, recent SME surveys suggest that cost-efficiency remains the dominant factor for local developers.</a:t>
              </a:r>
              <a:endParaRPr lang="en-US" sz="3200" dirty="0">
                <a:solidFill>
                  <a:srgbClr val="000000"/>
                </a:solidFill>
                <a:effectLst>
                  <a:outerShdw blurRad="38100" dist="38100" dir="2700000" algn="tl">
                    <a:srgbClr val="000000">
                      <a:alpha val="43137"/>
                    </a:srgbClr>
                  </a:outerShdw>
                </a:effectLst>
                <a:latin typeface="Open Sauce"/>
                <a:ea typeface="Open Sauce"/>
                <a:cs typeface="Open Sauce"/>
                <a:sym typeface="Open Sauce"/>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2" name="TextBox 2"/>
          <p:cNvSpPr txBox="1"/>
          <p:nvPr/>
        </p:nvSpPr>
        <p:spPr>
          <a:xfrm>
            <a:off x="1853422" y="530598"/>
            <a:ext cx="14581155" cy="963930"/>
          </a:xfrm>
          <a:prstGeom prst="rect">
            <a:avLst/>
          </a:prstGeom>
        </p:spPr>
        <p:txBody>
          <a:bodyPr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Lazy Writing</a:t>
            </a:r>
          </a:p>
        </p:txBody>
      </p:sp>
      <p:grpSp>
        <p:nvGrpSpPr>
          <p:cNvPr id="7" name="Group 7"/>
          <p:cNvGrpSpPr/>
          <p:nvPr/>
        </p:nvGrpSpPr>
        <p:grpSpPr>
          <a:xfrm>
            <a:off x="712796" y="3013927"/>
            <a:ext cx="9563100" cy="2129573"/>
            <a:chOff x="0" y="0"/>
            <a:chExt cx="4267190" cy="333029"/>
          </a:xfrm>
        </p:grpSpPr>
        <p:sp>
          <p:nvSpPr>
            <p:cNvPr id="8" name="Freeform 8"/>
            <p:cNvSpPr/>
            <p:nvPr/>
          </p:nvSpPr>
          <p:spPr>
            <a:xfrm>
              <a:off x="0" y="0"/>
              <a:ext cx="4267190" cy="333029"/>
            </a:xfrm>
            <a:custGeom>
              <a:avLst/>
              <a:gdLst/>
              <a:ahLst/>
              <a:cxnLst/>
              <a:rect l="l" t="t" r="r" b="b"/>
              <a:pathLst>
                <a:path w="4267190" h="333029">
                  <a:moveTo>
                    <a:pt x="0" y="0"/>
                  </a:moveTo>
                  <a:lnTo>
                    <a:pt x="4267190" y="0"/>
                  </a:lnTo>
                  <a:lnTo>
                    <a:pt x="4267190" y="333029"/>
                  </a:lnTo>
                  <a:lnTo>
                    <a:pt x="0" y="333029"/>
                  </a:lnTo>
                  <a:close/>
                </a:path>
              </a:pathLst>
            </a:custGeom>
            <a:solidFill>
              <a:schemeClr val="tx2">
                <a:lumMod val="40000"/>
                <a:lumOff val="60000"/>
              </a:schemeClr>
            </a:solidFill>
            <a:ln w="47625" cap="sq">
              <a:solidFill>
                <a:srgbClr val="000000"/>
              </a:solidFill>
              <a:prstDash val="solid"/>
              <a:miter/>
            </a:ln>
          </p:spPr>
          <p:txBody>
            <a:bodyPr/>
            <a:lstStyle/>
            <a:p>
              <a:endParaRPr lang="en-GB"/>
            </a:p>
          </p:txBody>
        </p:sp>
        <p:sp>
          <p:nvSpPr>
            <p:cNvPr id="9" name="TextBox 9"/>
            <p:cNvSpPr txBox="1"/>
            <p:nvPr/>
          </p:nvSpPr>
          <p:spPr>
            <a:xfrm>
              <a:off x="0" y="0"/>
              <a:ext cx="4267190" cy="333029"/>
            </a:xfrm>
            <a:prstGeom prst="rect">
              <a:avLst/>
            </a:prstGeom>
          </p:spPr>
          <p:txBody>
            <a:bodyPr lIns="50800" tIns="50800" rIns="50800" bIns="50800" rtlCol="0" anchor="ctr"/>
            <a:lstStyle/>
            <a:p>
              <a:pPr algn="ctr">
                <a:lnSpc>
                  <a:spcPts val="3749"/>
                </a:lnSpc>
              </a:pPr>
              <a:r>
                <a:rPr lang="en-US" sz="2400" b="1" dirty="0"/>
                <a:t>Lazy Writing: </a:t>
              </a:r>
            </a:p>
            <a:p>
              <a:pPr algn="ctr">
                <a:lnSpc>
                  <a:spcPts val="3749"/>
                </a:lnSpc>
              </a:pPr>
              <a:r>
                <a:rPr lang="en-US" sz="2400" dirty="0"/>
                <a:t>Carpenter (2023) says AI is expensive. Rodrigo (2022) says South Africa lacks IT skills. Roan (2024) says loadshedding hurts data centers.</a:t>
              </a:r>
            </a:p>
          </p:txBody>
        </p:sp>
      </p:grpSp>
      <p:grpSp>
        <p:nvGrpSpPr>
          <p:cNvPr id="10" name="Group 10"/>
          <p:cNvGrpSpPr/>
          <p:nvPr/>
        </p:nvGrpSpPr>
        <p:grpSpPr>
          <a:xfrm>
            <a:off x="712796" y="5785555"/>
            <a:ext cx="9563100" cy="2129573"/>
            <a:chOff x="0" y="0"/>
            <a:chExt cx="4274726" cy="333029"/>
          </a:xfrm>
        </p:grpSpPr>
        <p:sp>
          <p:nvSpPr>
            <p:cNvPr id="11" name="Freeform 11"/>
            <p:cNvSpPr/>
            <p:nvPr/>
          </p:nvSpPr>
          <p:spPr>
            <a:xfrm>
              <a:off x="0" y="0"/>
              <a:ext cx="4274726" cy="333029"/>
            </a:xfrm>
            <a:custGeom>
              <a:avLst/>
              <a:gdLst/>
              <a:ahLst/>
              <a:cxnLst/>
              <a:rect l="l" t="t" r="r" b="b"/>
              <a:pathLst>
                <a:path w="4274726" h="333029">
                  <a:moveTo>
                    <a:pt x="0" y="0"/>
                  </a:moveTo>
                  <a:lnTo>
                    <a:pt x="4274726" y="0"/>
                  </a:lnTo>
                  <a:lnTo>
                    <a:pt x="4274726" y="333029"/>
                  </a:lnTo>
                  <a:lnTo>
                    <a:pt x="0" y="333029"/>
                  </a:lnTo>
                  <a:close/>
                </a:path>
              </a:pathLst>
            </a:custGeom>
            <a:solidFill>
              <a:schemeClr val="accent6">
                <a:lumMod val="60000"/>
                <a:lumOff val="40000"/>
              </a:schemeClr>
            </a:solidFill>
            <a:ln w="47625" cap="sq">
              <a:solidFill>
                <a:srgbClr val="000000"/>
              </a:solidFill>
              <a:prstDash val="solid"/>
              <a:miter/>
            </a:ln>
          </p:spPr>
          <p:txBody>
            <a:bodyPr/>
            <a:lstStyle/>
            <a:p>
              <a:endParaRPr lang="en-GB"/>
            </a:p>
          </p:txBody>
        </p:sp>
        <p:sp>
          <p:nvSpPr>
            <p:cNvPr id="12" name="TextBox 12"/>
            <p:cNvSpPr txBox="1"/>
            <p:nvPr/>
          </p:nvSpPr>
          <p:spPr>
            <a:xfrm>
              <a:off x="0" y="0"/>
              <a:ext cx="4274726" cy="333029"/>
            </a:xfrm>
            <a:prstGeom prst="rect">
              <a:avLst/>
            </a:prstGeom>
          </p:spPr>
          <p:txBody>
            <a:bodyPr lIns="50800" tIns="50800" rIns="50800" bIns="50800" rtlCol="0" anchor="ctr"/>
            <a:lstStyle/>
            <a:p>
              <a:pPr algn="ctr">
                <a:lnSpc>
                  <a:spcPts val="3749"/>
                </a:lnSpc>
              </a:pPr>
              <a:r>
                <a:rPr lang="en-US" sz="2400" b="1" dirty="0"/>
                <a:t>Advanced Writing: </a:t>
              </a:r>
            </a:p>
            <a:p>
              <a:pPr algn="ctr">
                <a:lnSpc>
                  <a:spcPts val="3749"/>
                </a:lnSpc>
              </a:pPr>
              <a:r>
                <a:rPr lang="en-US" sz="2400" dirty="0"/>
                <a:t>AI adoption in South Africa faces a triple threat: high infrastructure costs (Carpenter, 2023), a local skills shortage (Rodrigo, 2022), and the technical instability caused by loadshedding (Roan, 2024).</a:t>
              </a:r>
            </a:p>
          </p:txBody>
        </p:sp>
      </p:grpSp>
      <p:pic>
        <p:nvPicPr>
          <p:cNvPr id="3" name="Picture 2">
            <a:extLst>
              <a:ext uri="{FF2B5EF4-FFF2-40B4-BE49-F238E27FC236}">
                <a16:creationId xmlns:a16="http://schemas.microsoft.com/office/drawing/2014/main" id="{33B89306-4414-4F15-AB71-4F2E9117A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43855" y="2623255"/>
            <a:ext cx="6131349" cy="632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5132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2" name="TextBox 2"/>
          <p:cNvSpPr txBox="1"/>
          <p:nvPr/>
        </p:nvSpPr>
        <p:spPr>
          <a:xfrm>
            <a:off x="1331263" y="413613"/>
            <a:ext cx="15412121" cy="930063"/>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Logical Flow: </a:t>
            </a:r>
            <a:r>
              <a:rPr lang="en-US" sz="5400" dirty="0">
                <a:solidFill>
                  <a:srgbClr val="000000"/>
                </a:solidFill>
                <a:latin typeface="Sanchez"/>
                <a:ea typeface="Sanchez"/>
                <a:cs typeface="Sanchez"/>
                <a:sym typeface="Sanchez"/>
              </a:rPr>
              <a:t>The Hamburger Paragraph</a:t>
            </a:r>
            <a:endParaRPr lang="en-US" sz="7200" dirty="0">
              <a:solidFill>
                <a:srgbClr val="000000"/>
              </a:solidFill>
              <a:latin typeface="Sanchez"/>
              <a:ea typeface="Sanchez"/>
              <a:cs typeface="Sanchez"/>
              <a:sym typeface="Sanchez"/>
            </a:endParaRPr>
          </a:p>
        </p:txBody>
      </p:sp>
      <p:pic>
        <p:nvPicPr>
          <p:cNvPr id="1026" name="Picture 2" descr="Hamburger Paragraph Graphic Organizer">
            <a:extLst>
              <a:ext uri="{FF2B5EF4-FFF2-40B4-BE49-F238E27FC236}">
                <a16:creationId xmlns:a16="http://schemas.microsoft.com/office/drawing/2014/main" id="{7ABAAADC-1354-285F-7FC9-67BF02268B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324100"/>
            <a:ext cx="6543675" cy="654367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E5BC1BBD-C79C-6665-C2D5-3445EABA9917}"/>
              </a:ext>
            </a:extLst>
          </p:cNvPr>
          <p:cNvCxnSpPr>
            <a:cxnSpLocks/>
          </p:cNvCxnSpPr>
          <p:nvPr/>
        </p:nvCxnSpPr>
        <p:spPr>
          <a:xfrm flipV="1">
            <a:off x="6248400" y="3009900"/>
            <a:ext cx="4343400" cy="1828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5" name="Group 7">
            <a:extLst>
              <a:ext uri="{FF2B5EF4-FFF2-40B4-BE49-F238E27FC236}">
                <a16:creationId xmlns:a16="http://schemas.microsoft.com/office/drawing/2014/main" id="{18975946-E708-9ABA-641D-D04D65CC432D}"/>
              </a:ext>
            </a:extLst>
          </p:cNvPr>
          <p:cNvGrpSpPr/>
          <p:nvPr/>
        </p:nvGrpSpPr>
        <p:grpSpPr>
          <a:xfrm>
            <a:off x="10658512" y="2537036"/>
            <a:ext cx="7172288" cy="930063"/>
            <a:chOff x="0" y="0"/>
            <a:chExt cx="4267190" cy="333029"/>
          </a:xfrm>
        </p:grpSpPr>
        <p:sp>
          <p:nvSpPr>
            <p:cNvPr id="19" name="Freeform 8">
              <a:extLst>
                <a:ext uri="{FF2B5EF4-FFF2-40B4-BE49-F238E27FC236}">
                  <a16:creationId xmlns:a16="http://schemas.microsoft.com/office/drawing/2014/main" id="{3951A767-B54C-27EE-2042-E42C3CDAC86B}"/>
                </a:ext>
              </a:extLst>
            </p:cNvPr>
            <p:cNvSpPr/>
            <p:nvPr/>
          </p:nvSpPr>
          <p:spPr>
            <a:xfrm>
              <a:off x="0" y="0"/>
              <a:ext cx="4267190" cy="333029"/>
            </a:xfrm>
            <a:custGeom>
              <a:avLst/>
              <a:gdLst/>
              <a:ahLst/>
              <a:cxnLst/>
              <a:rect l="l" t="t" r="r" b="b"/>
              <a:pathLst>
                <a:path w="4267190" h="333029">
                  <a:moveTo>
                    <a:pt x="0" y="0"/>
                  </a:moveTo>
                  <a:lnTo>
                    <a:pt x="4267190" y="0"/>
                  </a:lnTo>
                  <a:lnTo>
                    <a:pt x="4267190" y="333029"/>
                  </a:lnTo>
                  <a:lnTo>
                    <a:pt x="0" y="333029"/>
                  </a:lnTo>
                  <a:close/>
                </a:path>
              </a:pathLst>
            </a:custGeom>
            <a:solidFill>
              <a:schemeClr val="tx2">
                <a:lumMod val="40000"/>
                <a:lumOff val="60000"/>
              </a:schemeClr>
            </a:solidFill>
            <a:ln w="47625" cap="sq">
              <a:solidFill>
                <a:srgbClr val="000000"/>
              </a:solidFill>
              <a:prstDash val="solid"/>
              <a:miter/>
            </a:ln>
          </p:spPr>
          <p:txBody>
            <a:bodyPr/>
            <a:lstStyle/>
            <a:p>
              <a:endParaRPr lang="en-GB"/>
            </a:p>
          </p:txBody>
        </p:sp>
        <p:sp>
          <p:nvSpPr>
            <p:cNvPr id="20" name="TextBox 9">
              <a:extLst>
                <a:ext uri="{FF2B5EF4-FFF2-40B4-BE49-F238E27FC236}">
                  <a16:creationId xmlns:a16="http://schemas.microsoft.com/office/drawing/2014/main" id="{437500B7-6BB4-54DC-F6F4-7C53278D627E}"/>
                </a:ext>
              </a:extLst>
            </p:cNvPr>
            <p:cNvSpPr txBox="1"/>
            <p:nvPr/>
          </p:nvSpPr>
          <p:spPr>
            <a:xfrm>
              <a:off x="0" y="-76200"/>
              <a:ext cx="4267190" cy="409229"/>
            </a:xfrm>
            <a:prstGeom prst="rect">
              <a:avLst/>
            </a:prstGeom>
          </p:spPr>
          <p:txBody>
            <a:bodyPr lIns="50800" tIns="50800" rIns="50800" bIns="50800" rtlCol="0" anchor="ctr"/>
            <a:lstStyle/>
            <a:p>
              <a:pPr algn="ctr">
                <a:lnSpc>
                  <a:spcPct val="150000"/>
                </a:lnSpc>
              </a:pPr>
              <a:r>
                <a:rPr lang="en-US" sz="1600" dirty="0">
                  <a:solidFill>
                    <a:srgbClr val="000000"/>
                  </a:solidFill>
                  <a:latin typeface="Open Sauce"/>
                  <a:ea typeface="Open Sauce"/>
                  <a:cs typeface="Open Sauce"/>
                  <a:sym typeface="Open Sauce"/>
                </a:rPr>
                <a:t>This introduces your main idea.</a:t>
              </a:r>
            </a:p>
            <a:p>
              <a:pPr algn="ctr">
                <a:lnSpc>
                  <a:spcPct val="150000"/>
                </a:lnSpc>
              </a:pPr>
              <a:r>
                <a:rPr lang="en-US" sz="1600" dirty="0">
                  <a:solidFill>
                    <a:srgbClr val="000000"/>
                  </a:solidFill>
                  <a:latin typeface="Open Sauce"/>
                  <a:ea typeface="Open Sauce"/>
                  <a:cs typeface="Open Sauce"/>
                  <a:sym typeface="Open Sauce"/>
                </a:rPr>
                <a:t>“Slow database queries can significantly impact system performance.”</a:t>
              </a:r>
            </a:p>
          </p:txBody>
        </p:sp>
      </p:grpSp>
      <p:sp>
        <p:nvSpPr>
          <p:cNvPr id="23" name="TextBox 22">
            <a:extLst>
              <a:ext uri="{FF2B5EF4-FFF2-40B4-BE49-F238E27FC236}">
                <a16:creationId xmlns:a16="http://schemas.microsoft.com/office/drawing/2014/main" id="{ECCB2D57-D8BE-1550-B8EF-2BA80FF9E11B}"/>
              </a:ext>
            </a:extLst>
          </p:cNvPr>
          <p:cNvSpPr txBox="1"/>
          <p:nvPr/>
        </p:nvSpPr>
        <p:spPr>
          <a:xfrm>
            <a:off x="2514600" y="1419225"/>
            <a:ext cx="13258800" cy="369332"/>
          </a:xfrm>
          <a:prstGeom prst="rect">
            <a:avLst/>
          </a:prstGeom>
          <a:noFill/>
        </p:spPr>
        <p:txBody>
          <a:bodyPr wrap="square">
            <a:spAutoFit/>
          </a:bodyPr>
          <a:lstStyle/>
          <a:p>
            <a:pPr algn="ctr"/>
            <a:r>
              <a:rPr lang="en-US" dirty="0"/>
              <a:t>Research paper topic example: </a:t>
            </a:r>
            <a:r>
              <a:rPr lang="en-US" b="1" i="1" dirty="0"/>
              <a:t>database performance </a:t>
            </a:r>
            <a:r>
              <a:rPr lang="en-US" b="1" i="1" dirty="0" err="1"/>
              <a:t>optimisation</a:t>
            </a:r>
            <a:r>
              <a:rPr lang="en-US" b="1" i="1" dirty="0"/>
              <a:t> </a:t>
            </a:r>
            <a:r>
              <a:rPr lang="en-US" dirty="0"/>
              <a:t>or </a:t>
            </a:r>
            <a:r>
              <a:rPr lang="en-US" b="1" i="1" dirty="0"/>
              <a:t>improving system performance by reducing slow database queries</a:t>
            </a:r>
            <a:endParaRPr lang="en-ZA" b="1" i="1" dirty="0"/>
          </a:p>
        </p:txBody>
      </p:sp>
      <p:grpSp>
        <p:nvGrpSpPr>
          <p:cNvPr id="24" name="Group 7">
            <a:extLst>
              <a:ext uri="{FF2B5EF4-FFF2-40B4-BE49-F238E27FC236}">
                <a16:creationId xmlns:a16="http://schemas.microsoft.com/office/drawing/2014/main" id="{E1159F57-F9CF-D287-88B2-8A14D46012C5}"/>
              </a:ext>
            </a:extLst>
          </p:cNvPr>
          <p:cNvGrpSpPr/>
          <p:nvPr/>
        </p:nvGrpSpPr>
        <p:grpSpPr>
          <a:xfrm>
            <a:off x="10658512" y="3716999"/>
            <a:ext cx="7199182" cy="930066"/>
            <a:chOff x="0" y="-1"/>
            <a:chExt cx="4283191" cy="333030"/>
          </a:xfrm>
        </p:grpSpPr>
        <p:sp>
          <p:nvSpPr>
            <p:cNvPr id="29" name="Freeform 8">
              <a:extLst>
                <a:ext uri="{FF2B5EF4-FFF2-40B4-BE49-F238E27FC236}">
                  <a16:creationId xmlns:a16="http://schemas.microsoft.com/office/drawing/2014/main" id="{FB99D238-CACB-8C1F-B441-61C14CAAFFDF}"/>
                </a:ext>
              </a:extLst>
            </p:cNvPr>
            <p:cNvSpPr/>
            <p:nvPr/>
          </p:nvSpPr>
          <p:spPr>
            <a:xfrm>
              <a:off x="16001" y="0"/>
              <a:ext cx="4267190" cy="333029"/>
            </a:xfrm>
            <a:custGeom>
              <a:avLst/>
              <a:gdLst/>
              <a:ahLst/>
              <a:cxnLst/>
              <a:rect l="l" t="t" r="r" b="b"/>
              <a:pathLst>
                <a:path w="4267190" h="333029">
                  <a:moveTo>
                    <a:pt x="0" y="0"/>
                  </a:moveTo>
                  <a:lnTo>
                    <a:pt x="4267190" y="0"/>
                  </a:lnTo>
                  <a:lnTo>
                    <a:pt x="4267190" y="333029"/>
                  </a:lnTo>
                  <a:lnTo>
                    <a:pt x="0" y="333029"/>
                  </a:lnTo>
                  <a:close/>
                </a:path>
              </a:pathLst>
            </a:custGeom>
            <a:solidFill>
              <a:schemeClr val="accent6">
                <a:lumMod val="60000"/>
                <a:lumOff val="40000"/>
              </a:schemeClr>
            </a:solidFill>
            <a:ln w="47625" cap="sq">
              <a:solidFill>
                <a:srgbClr val="000000"/>
              </a:solidFill>
              <a:prstDash val="solid"/>
              <a:miter/>
            </a:ln>
          </p:spPr>
          <p:txBody>
            <a:bodyPr/>
            <a:lstStyle/>
            <a:p>
              <a:endParaRPr lang="en-GB"/>
            </a:p>
          </p:txBody>
        </p:sp>
        <p:sp>
          <p:nvSpPr>
            <p:cNvPr id="30" name="TextBox 9">
              <a:extLst>
                <a:ext uri="{FF2B5EF4-FFF2-40B4-BE49-F238E27FC236}">
                  <a16:creationId xmlns:a16="http://schemas.microsoft.com/office/drawing/2014/main" id="{035D16DD-7AE3-45A7-AAB6-A631E5A8BC50}"/>
                </a:ext>
              </a:extLst>
            </p:cNvPr>
            <p:cNvSpPr txBox="1"/>
            <p:nvPr/>
          </p:nvSpPr>
          <p:spPr>
            <a:xfrm>
              <a:off x="0" y="-1"/>
              <a:ext cx="4267190" cy="333030"/>
            </a:xfrm>
            <a:prstGeom prst="rect">
              <a:avLst/>
            </a:prstGeom>
          </p:spPr>
          <p:txBody>
            <a:bodyPr lIns="50800" tIns="50800" rIns="50800" bIns="50800" rtlCol="0" anchor="ctr"/>
            <a:lstStyle/>
            <a:p>
              <a:pPr algn="ctr">
                <a:lnSpc>
                  <a:spcPct val="150000"/>
                </a:lnSpc>
              </a:pPr>
              <a:r>
                <a:rPr lang="en-US" sz="1600" dirty="0">
                  <a:solidFill>
                    <a:srgbClr val="000000"/>
                  </a:solidFill>
                  <a:latin typeface="Open Sauce"/>
                  <a:ea typeface="Open Sauce"/>
                  <a:cs typeface="Open Sauce"/>
                  <a:sym typeface="Open Sauce"/>
                </a:rPr>
                <a:t>Explain the causes of slow queries</a:t>
              </a:r>
            </a:p>
          </p:txBody>
        </p:sp>
      </p:grpSp>
      <p:cxnSp>
        <p:nvCxnSpPr>
          <p:cNvPr id="31" name="Straight Arrow Connector 30">
            <a:extLst>
              <a:ext uri="{FF2B5EF4-FFF2-40B4-BE49-F238E27FC236}">
                <a16:creationId xmlns:a16="http://schemas.microsoft.com/office/drawing/2014/main" id="{77584999-0FED-6655-7600-DE219777A615}"/>
              </a:ext>
            </a:extLst>
          </p:cNvPr>
          <p:cNvCxnSpPr>
            <a:cxnSpLocks/>
          </p:cNvCxnSpPr>
          <p:nvPr/>
        </p:nvCxnSpPr>
        <p:spPr>
          <a:xfrm flipV="1">
            <a:off x="5710518" y="4182033"/>
            <a:ext cx="4881282" cy="1571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8" name="Group 7">
            <a:extLst>
              <a:ext uri="{FF2B5EF4-FFF2-40B4-BE49-F238E27FC236}">
                <a16:creationId xmlns:a16="http://schemas.microsoft.com/office/drawing/2014/main" id="{BC812424-AB31-2CF1-A07B-4AABFBD07C01}"/>
              </a:ext>
            </a:extLst>
          </p:cNvPr>
          <p:cNvGrpSpPr/>
          <p:nvPr/>
        </p:nvGrpSpPr>
        <p:grpSpPr>
          <a:xfrm>
            <a:off x="10658512" y="4838700"/>
            <a:ext cx="7172288" cy="951235"/>
            <a:chOff x="0" y="-7581"/>
            <a:chExt cx="4267190" cy="340610"/>
          </a:xfrm>
        </p:grpSpPr>
        <p:sp>
          <p:nvSpPr>
            <p:cNvPr id="39" name="Freeform 8">
              <a:extLst>
                <a:ext uri="{FF2B5EF4-FFF2-40B4-BE49-F238E27FC236}">
                  <a16:creationId xmlns:a16="http://schemas.microsoft.com/office/drawing/2014/main" id="{58DAB89C-3127-C553-228A-56776FBEC1F0}"/>
                </a:ext>
              </a:extLst>
            </p:cNvPr>
            <p:cNvSpPr/>
            <p:nvPr/>
          </p:nvSpPr>
          <p:spPr>
            <a:xfrm>
              <a:off x="0" y="0"/>
              <a:ext cx="4267190" cy="333029"/>
            </a:xfrm>
            <a:custGeom>
              <a:avLst/>
              <a:gdLst/>
              <a:ahLst/>
              <a:cxnLst/>
              <a:rect l="l" t="t" r="r" b="b"/>
              <a:pathLst>
                <a:path w="4267190" h="333029">
                  <a:moveTo>
                    <a:pt x="0" y="0"/>
                  </a:moveTo>
                  <a:lnTo>
                    <a:pt x="4267190" y="0"/>
                  </a:lnTo>
                  <a:lnTo>
                    <a:pt x="4267190" y="333029"/>
                  </a:lnTo>
                  <a:lnTo>
                    <a:pt x="0" y="333029"/>
                  </a:lnTo>
                  <a:close/>
                </a:path>
              </a:pathLst>
            </a:custGeom>
            <a:solidFill>
              <a:schemeClr val="bg2">
                <a:lumMod val="75000"/>
              </a:schemeClr>
            </a:solidFill>
            <a:ln w="47625" cap="sq">
              <a:solidFill>
                <a:srgbClr val="000000"/>
              </a:solidFill>
              <a:prstDash val="solid"/>
              <a:miter/>
            </a:ln>
          </p:spPr>
          <p:txBody>
            <a:bodyPr/>
            <a:lstStyle/>
            <a:p>
              <a:endParaRPr lang="en-GB"/>
            </a:p>
          </p:txBody>
        </p:sp>
        <p:sp>
          <p:nvSpPr>
            <p:cNvPr id="40" name="TextBox 9">
              <a:extLst>
                <a:ext uri="{FF2B5EF4-FFF2-40B4-BE49-F238E27FC236}">
                  <a16:creationId xmlns:a16="http://schemas.microsoft.com/office/drawing/2014/main" id="{D871BDBC-9C65-2995-3822-D5AF11DF3981}"/>
                </a:ext>
              </a:extLst>
            </p:cNvPr>
            <p:cNvSpPr txBox="1"/>
            <p:nvPr/>
          </p:nvSpPr>
          <p:spPr>
            <a:xfrm>
              <a:off x="0" y="-7581"/>
              <a:ext cx="4267190" cy="340610"/>
            </a:xfrm>
            <a:prstGeom prst="rect">
              <a:avLst/>
            </a:prstGeom>
          </p:spPr>
          <p:txBody>
            <a:bodyPr lIns="50800" tIns="50800" rIns="50800" bIns="50800" rtlCol="0" anchor="ctr"/>
            <a:lstStyle/>
            <a:p>
              <a:pPr algn="ctr">
                <a:lnSpc>
                  <a:spcPct val="150000"/>
                </a:lnSpc>
              </a:pPr>
              <a:r>
                <a:rPr lang="en-US" sz="1600" dirty="0">
                  <a:solidFill>
                    <a:srgbClr val="000000"/>
                  </a:solidFill>
                  <a:latin typeface="Open Sauce"/>
                  <a:ea typeface="Open Sauce"/>
                  <a:cs typeface="Open Sauce"/>
                  <a:sym typeface="Open Sauce"/>
                </a:rPr>
                <a:t>Discuss existing solutions like indexing or caching</a:t>
              </a:r>
            </a:p>
          </p:txBody>
        </p:sp>
      </p:grpSp>
      <p:cxnSp>
        <p:nvCxnSpPr>
          <p:cNvPr id="41" name="Straight Arrow Connector 40">
            <a:extLst>
              <a:ext uri="{FF2B5EF4-FFF2-40B4-BE49-F238E27FC236}">
                <a16:creationId xmlns:a16="http://schemas.microsoft.com/office/drawing/2014/main" id="{0A20F519-AEA1-BEDB-F82A-8337B6D2E5CF}"/>
              </a:ext>
            </a:extLst>
          </p:cNvPr>
          <p:cNvCxnSpPr>
            <a:cxnSpLocks/>
          </p:cNvCxnSpPr>
          <p:nvPr/>
        </p:nvCxnSpPr>
        <p:spPr>
          <a:xfrm flipV="1">
            <a:off x="5643806" y="5374243"/>
            <a:ext cx="4947994" cy="10355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3" name="Group 7">
            <a:extLst>
              <a:ext uri="{FF2B5EF4-FFF2-40B4-BE49-F238E27FC236}">
                <a16:creationId xmlns:a16="http://schemas.microsoft.com/office/drawing/2014/main" id="{3060CD24-BF2C-C636-7B0C-80002130E52A}"/>
              </a:ext>
            </a:extLst>
          </p:cNvPr>
          <p:cNvGrpSpPr/>
          <p:nvPr/>
        </p:nvGrpSpPr>
        <p:grpSpPr>
          <a:xfrm>
            <a:off x="10685406" y="6010312"/>
            <a:ext cx="7172288" cy="930066"/>
            <a:chOff x="0" y="0"/>
            <a:chExt cx="4267190" cy="333030"/>
          </a:xfrm>
        </p:grpSpPr>
        <p:sp>
          <p:nvSpPr>
            <p:cNvPr id="44" name="Freeform 8">
              <a:extLst>
                <a:ext uri="{FF2B5EF4-FFF2-40B4-BE49-F238E27FC236}">
                  <a16:creationId xmlns:a16="http://schemas.microsoft.com/office/drawing/2014/main" id="{EAFA6DAD-AF8F-63BE-F712-F26C8746DCCD}"/>
                </a:ext>
              </a:extLst>
            </p:cNvPr>
            <p:cNvSpPr/>
            <p:nvPr/>
          </p:nvSpPr>
          <p:spPr>
            <a:xfrm>
              <a:off x="0" y="0"/>
              <a:ext cx="4267190" cy="333029"/>
            </a:xfrm>
            <a:custGeom>
              <a:avLst/>
              <a:gdLst/>
              <a:ahLst/>
              <a:cxnLst/>
              <a:rect l="l" t="t" r="r" b="b"/>
              <a:pathLst>
                <a:path w="4267190" h="333029">
                  <a:moveTo>
                    <a:pt x="0" y="0"/>
                  </a:moveTo>
                  <a:lnTo>
                    <a:pt x="4267190" y="0"/>
                  </a:lnTo>
                  <a:lnTo>
                    <a:pt x="4267190" y="333029"/>
                  </a:lnTo>
                  <a:lnTo>
                    <a:pt x="0" y="333029"/>
                  </a:lnTo>
                  <a:close/>
                </a:path>
              </a:pathLst>
            </a:custGeom>
            <a:solidFill>
              <a:schemeClr val="accent4">
                <a:lumMod val="60000"/>
                <a:lumOff val="40000"/>
              </a:schemeClr>
            </a:solidFill>
            <a:ln w="47625" cap="sq">
              <a:solidFill>
                <a:srgbClr val="000000"/>
              </a:solidFill>
              <a:prstDash val="solid"/>
              <a:miter/>
            </a:ln>
          </p:spPr>
          <p:txBody>
            <a:bodyPr/>
            <a:lstStyle/>
            <a:p>
              <a:endParaRPr lang="en-GB"/>
            </a:p>
          </p:txBody>
        </p:sp>
        <p:sp>
          <p:nvSpPr>
            <p:cNvPr id="45" name="TextBox 9">
              <a:extLst>
                <a:ext uri="{FF2B5EF4-FFF2-40B4-BE49-F238E27FC236}">
                  <a16:creationId xmlns:a16="http://schemas.microsoft.com/office/drawing/2014/main" id="{A076E2A3-D24B-5118-1E92-6D5C53EFBDE7}"/>
                </a:ext>
              </a:extLst>
            </p:cNvPr>
            <p:cNvSpPr txBox="1"/>
            <p:nvPr/>
          </p:nvSpPr>
          <p:spPr>
            <a:xfrm>
              <a:off x="0" y="10572"/>
              <a:ext cx="4267190" cy="322458"/>
            </a:xfrm>
            <a:prstGeom prst="rect">
              <a:avLst/>
            </a:prstGeom>
          </p:spPr>
          <p:txBody>
            <a:bodyPr lIns="50800" tIns="50800" rIns="50800" bIns="50800" rtlCol="0" anchor="ctr"/>
            <a:lstStyle/>
            <a:p>
              <a:pPr algn="ctr">
                <a:lnSpc>
                  <a:spcPct val="150000"/>
                </a:lnSpc>
              </a:pPr>
              <a:r>
                <a:rPr lang="en-US" sz="1600" dirty="0">
                  <a:solidFill>
                    <a:srgbClr val="000000"/>
                  </a:solidFill>
                  <a:latin typeface="Open Sauce"/>
                  <a:ea typeface="Open Sauce"/>
                  <a:cs typeface="Open Sauce"/>
                  <a:sym typeface="Open Sauce"/>
                </a:rPr>
                <a:t>Improved query speed after </a:t>
              </a:r>
              <a:r>
                <a:rPr lang="en-US" sz="1600" dirty="0" err="1">
                  <a:solidFill>
                    <a:srgbClr val="000000"/>
                  </a:solidFill>
                  <a:latin typeface="Open Sauce"/>
                  <a:ea typeface="Open Sauce"/>
                  <a:cs typeface="Open Sauce"/>
                  <a:sym typeface="Open Sauce"/>
                </a:rPr>
                <a:t>optimisation</a:t>
              </a:r>
              <a:endParaRPr lang="en-US" sz="1600" dirty="0">
                <a:solidFill>
                  <a:srgbClr val="000000"/>
                </a:solidFill>
                <a:latin typeface="Open Sauce"/>
                <a:ea typeface="Open Sauce"/>
                <a:cs typeface="Open Sauce"/>
                <a:sym typeface="Open Sauce"/>
              </a:endParaRPr>
            </a:p>
          </p:txBody>
        </p:sp>
      </p:grpSp>
      <p:cxnSp>
        <p:nvCxnSpPr>
          <p:cNvPr id="46" name="Straight Arrow Connector 45">
            <a:extLst>
              <a:ext uri="{FF2B5EF4-FFF2-40B4-BE49-F238E27FC236}">
                <a16:creationId xmlns:a16="http://schemas.microsoft.com/office/drawing/2014/main" id="{4B1F792C-BBC3-EE8C-31E7-F01E1E1C597A}"/>
              </a:ext>
            </a:extLst>
          </p:cNvPr>
          <p:cNvCxnSpPr>
            <a:cxnSpLocks/>
          </p:cNvCxnSpPr>
          <p:nvPr/>
        </p:nvCxnSpPr>
        <p:spPr>
          <a:xfrm flipV="1">
            <a:off x="5677162" y="6464342"/>
            <a:ext cx="4914638" cy="656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8" name="Group 7">
            <a:extLst>
              <a:ext uri="{FF2B5EF4-FFF2-40B4-BE49-F238E27FC236}">
                <a16:creationId xmlns:a16="http://schemas.microsoft.com/office/drawing/2014/main" id="{5CEB0CB8-ACF9-7AD5-0777-15CF004CC1D6}"/>
              </a:ext>
            </a:extLst>
          </p:cNvPr>
          <p:cNvGrpSpPr/>
          <p:nvPr/>
        </p:nvGrpSpPr>
        <p:grpSpPr>
          <a:xfrm>
            <a:off x="10685406" y="7190278"/>
            <a:ext cx="7172288" cy="1229822"/>
            <a:chOff x="0" y="0"/>
            <a:chExt cx="4267190" cy="333029"/>
          </a:xfrm>
        </p:grpSpPr>
        <p:sp>
          <p:nvSpPr>
            <p:cNvPr id="49" name="Freeform 8">
              <a:extLst>
                <a:ext uri="{FF2B5EF4-FFF2-40B4-BE49-F238E27FC236}">
                  <a16:creationId xmlns:a16="http://schemas.microsoft.com/office/drawing/2014/main" id="{047127A5-07FE-AA1D-6A67-CACD116ED785}"/>
                </a:ext>
              </a:extLst>
            </p:cNvPr>
            <p:cNvSpPr/>
            <p:nvPr/>
          </p:nvSpPr>
          <p:spPr>
            <a:xfrm>
              <a:off x="0" y="0"/>
              <a:ext cx="4267190" cy="333029"/>
            </a:xfrm>
            <a:custGeom>
              <a:avLst/>
              <a:gdLst/>
              <a:ahLst/>
              <a:cxnLst/>
              <a:rect l="l" t="t" r="r" b="b"/>
              <a:pathLst>
                <a:path w="4267190" h="333029">
                  <a:moveTo>
                    <a:pt x="0" y="0"/>
                  </a:moveTo>
                  <a:lnTo>
                    <a:pt x="4267190" y="0"/>
                  </a:lnTo>
                  <a:lnTo>
                    <a:pt x="4267190" y="333029"/>
                  </a:lnTo>
                  <a:lnTo>
                    <a:pt x="0" y="333029"/>
                  </a:lnTo>
                  <a:close/>
                </a:path>
              </a:pathLst>
            </a:custGeom>
            <a:solidFill>
              <a:schemeClr val="accent3"/>
            </a:solidFill>
            <a:ln w="47625" cap="sq">
              <a:solidFill>
                <a:srgbClr val="000000"/>
              </a:solidFill>
              <a:prstDash val="solid"/>
              <a:miter/>
            </a:ln>
          </p:spPr>
          <p:txBody>
            <a:bodyPr/>
            <a:lstStyle/>
            <a:p>
              <a:endParaRPr lang="en-GB"/>
            </a:p>
          </p:txBody>
        </p:sp>
        <p:sp>
          <p:nvSpPr>
            <p:cNvPr id="50" name="TextBox 9">
              <a:extLst>
                <a:ext uri="{FF2B5EF4-FFF2-40B4-BE49-F238E27FC236}">
                  <a16:creationId xmlns:a16="http://schemas.microsoft.com/office/drawing/2014/main" id="{C7F30F60-4BE4-9E16-68A3-1C437BD881F6}"/>
                </a:ext>
              </a:extLst>
            </p:cNvPr>
            <p:cNvSpPr txBox="1"/>
            <p:nvPr/>
          </p:nvSpPr>
          <p:spPr>
            <a:xfrm>
              <a:off x="0" y="10570"/>
              <a:ext cx="4267190" cy="322458"/>
            </a:xfrm>
            <a:prstGeom prst="rect">
              <a:avLst/>
            </a:prstGeom>
          </p:spPr>
          <p:txBody>
            <a:bodyPr lIns="50800" tIns="50800" rIns="50800" bIns="50800" rtlCol="0" anchor="ctr"/>
            <a:lstStyle/>
            <a:p>
              <a:pPr algn="ctr">
                <a:lnSpc>
                  <a:spcPct val="150000"/>
                </a:lnSpc>
              </a:pPr>
              <a:r>
                <a:rPr lang="en-US" sz="1600" dirty="0">
                  <a:solidFill>
                    <a:srgbClr val="000000"/>
                  </a:solidFill>
                  <a:latin typeface="Open Sauce"/>
                  <a:ea typeface="Open Sauce"/>
                  <a:cs typeface="Open Sauce"/>
                  <a:sym typeface="Open Sauce"/>
                </a:rPr>
                <a:t>This wraps up the idea and connects to the next paragraph.</a:t>
              </a:r>
            </a:p>
            <a:p>
              <a:pPr algn="ctr">
                <a:lnSpc>
                  <a:spcPct val="150000"/>
                </a:lnSpc>
              </a:pPr>
              <a:r>
                <a:rPr lang="en-US" sz="1600" dirty="0">
                  <a:solidFill>
                    <a:srgbClr val="000000"/>
                  </a:solidFill>
                  <a:latin typeface="Open Sauce"/>
                  <a:ea typeface="Open Sauce"/>
                  <a:cs typeface="Open Sauce"/>
                  <a:sym typeface="Open Sauce"/>
                </a:rPr>
                <a:t>“These improvements highlight the need for more efficient query </a:t>
              </a:r>
              <a:r>
                <a:rPr lang="en-US" sz="1600" dirty="0" err="1">
                  <a:solidFill>
                    <a:srgbClr val="000000"/>
                  </a:solidFill>
                  <a:latin typeface="Open Sauce"/>
                  <a:ea typeface="Open Sauce"/>
                  <a:cs typeface="Open Sauce"/>
                  <a:sym typeface="Open Sauce"/>
                </a:rPr>
                <a:t>optimisation</a:t>
              </a:r>
              <a:r>
                <a:rPr lang="en-US" sz="1600" dirty="0">
                  <a:solidFill>
                    <a:srgbClr val="000000"/>
                  </a:solidFill>
                  <a:latin typeface="Open Sauce"/>
                  <a:ea typeface="Open Sauce"/>
                  <a:cs typeface="Open Sauce"/>
                  <a:sym typeface="Open Sauce"/>
                </a:rPr>
                <a:t> techniques.”</a:t>
              </a:r>
            </a:p>
          </p:txBody>
        </p:sp>
      </p:grpSp>
      <p:cxnSp>
        <p:nvCxnSpPr>
          <p:cNvPr id="51" name="Straight Arrow Connector 50">
            <a:extLst>
              <a:ext uri="{FF2B5EF4-FFF2-40B4-BE49-F238E27FC236}">
                <a16:creationId xmlns:a16="http://schemas.microsoft.com/office/drawing/2014/main" id="{29C4B596-29AE-27F3-78AF-897301849E0A}"/>
              </a:ext>
            </a:extLst>
          </p:cNvPr>
          <p:cNvCxnSpPr>
            <a:cxnSpLocks/>
          </p:cNvCxnSpPr>
          <p:nvPr/>
        </p:nvCxnSpPr>
        <p:spPr>
          <a:xfrm flipV="1">
            <a:off x="5660484" y="7666058"/>
            <a:ext cx="4931316" cy="211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3" name="Group 10">
            <a:extLst>
              <a:ext uri="{FF2B5EF4-FFF2-40B4-BE49-F238E27FC236}">
                <a16:creationId xmlns:a16="http://schemas.microsoft.com/office/drawing/2014/main" id="{157BF759-D226-AB46-E979-1D6D2E766B7C}"/>
              </a:ext>
            </a:extLst>
          </p:cNvPr>
          <p:cNvGrpSpPr/>
          <p:nvPr/>
        </p:nvGrpSpPr>
        <p:grpSpPr>
          <a:xfrm>
            <a:off x="7193615" y="4685112"/>
            <a:ext cx="3259388" cy="2121455"/>
            <a:chOff x="951366" y="58068"/>
            <a:chExt cx="858440" cy="402699"/>
          </a:xfrm>
        </p:grpSpPr>
        <p:sp>
          <p:nvSpPr>
            <p:cNvPr id="54" name="Freeform 11">
              <a:extLst>
                <a:ext uri="{FF2B5EF4-FFF2-40B4-BE49-F238E27FC236}">
                  <a16:creationId xmlns:a16="http://schemas.microsoft.com/office/drawing/2014/main" id="{80FB450F-C837-B3C4-1712-E997560D139D}"/>
                </a:ext>
              </a:extLst>
            </p:cNvPr>
            <p:cNvSpPr/>
            <p:nvPr/>
          </p:nvSpPr>
          <p:spPr>
            <a:xfrm>
              <a:off x="979203" y="58068"/>
              <a:ext cx="802766" cy="402699"/>
            </a:xfrm>
            <a:custGeom>
              <a:avLst/>
              <a:gdLst/>
              <a:ahLst/>
              <a:cxnLst/>
              <a:rect l="l" t="t" r="r" b="b"/>
              <a:pathLst>
                <a:path w="1340099" h="428298">
                  <a:moveTo>
                    <a:pt x="0" y="0"/>
                  </a:moveTo>
                  <a:lnTo>
                    <a:pt x="1340099" y="0"/>
                  </a:lnTo>
                  <a:lnTo>
                    <a:pt x="1340099" y="428298"/>
                  </a:lnTo>
                  <a:lnTo>
                    <a:pt x="0" y="428298"/>
                  </a:lnTo>
                  <a:close/>
                </a:path>
              </a:pathLst>
            </a:custGeom>
            <a:solidFill>
              <a:srgbClr val="ADC2A7"/>
            </a:solidFill>
            <a:ln w="47625" cap="sq">
              <a:solidFill>
                <a:srgbClr val="000000"/>
              </a:solidFill>
              <a:prstDash val="solid"/>
              <a:miter/>
            </a:ln>
          </p:spPr>
          <p:txBody>
            <a:bodyPr/>
            <a:lstStyle/>
            <a:p>
              <a:endParaRPr lang="en-GB"/>
            </a:p>
          </p:txBody>
        </p:sp>
        <p:sp>
          <p:nvSpPr>
            <p:cNvPr id="55" name="TextBox 12">
              <a:extLst>
                <a:ext uri="{FF2B5EF4-FFF2-40B4-BE49-F238E27FC236}">
                  <a16:creationId xmlns:a16="http://schemas.microsoft.com/office/drawing/2014/main" id="{5140B675-BE19-BDB7-8AEE-F676997B0937}"/>
                </a:ext>
              </a:extLst>
            </p:cNvPr>
            <p:cNvSpPr txBox="1"/>
            <p:nvPr/>
          </p:nvSpPr>
          <p:spPr>
            <a:xfrm>
              <a:off x="951366" y="103986"/>
              <a:ext cx="858440" cy="310863"/>
            </a:xfrm>
            <a:prstGeom prst="rect">
              <a:avLst/>
            </a:prstGeom>
          </p:spPr>
          <p:txBody>
            <a:bodyPr lIns="50800" tIns="50800" rIns="50800" bIns="50800" rtlCol="0" anchor="ctr"/>
            <a:lstStyle/>
            <a:p>
              <a:pPr algn="ctr">
                <a:lnSpc>
                  <a:spcPts val="3749"/>
                </a:lnSpc>
              </a:pPr>
              <a:r>
                <a:rPr lang="en-US" sz="2800" b="1" dirty="0">
                  <a:solidFill>
                    <a:srgbClr val="000000"/>
                  </a:solidFill>
                  <a:latin typeface="Open Sauce"/>
                  <a:ea typeface="Open Sauce"/>
                  <a:cs typeface="Open Sauce"/>
                  <a:sym typeface="Open Sauce"/>
                </a:rPr>
                <a:t>The filling:</a:t>
              </a:r>
            </a:p>
            <a:p>
              <a:pPr algn="ctr">
                <a:lnSpc>
                  <a:spcPts val="3749"/>
                </a:lnSpc>
              </a:pPr>
              <a:r>
                <a:rPr lang="en-US" sz="2800" dirty="0">
                  <a:solidFill>
                    <a:srgbClr val="000000"/>
                  </a:solidFill>
                  <a:latin typeface="Open Sauce"/>
                  <a:ea typeface="Open Sauce"/>
                  <a:cs typeface="Open Sauce"/>
                  <a:sym typeface="Open Sauce"/>
                </a:rPr>
                <a:t>Where you add details!</a:t>
              </a:r>
              <a:endParaRPr lang="en-US" sz="2499" dirty="0">
                <a:solidFill>
                  <a:srgbClr val="000000"/>
                </a:solidFill>
                <a:latin typeface="Open Sauce"/>
                <a:ea typeface="Open Sauce"/>
                <a:cs typeface="Open Sauce"/>
                <a:sym typeface="Open Sauce"/>
              </a:endParaRPr>
            </a:p>
          </p:txBody>
        </p:sp>
      </p:grpSp>
      <p:sp>
        <p:nvSpPr>
          <p:cNvPr id="3" name="TextBox 2">
            <a:extLst>
              <a:ext uri="{FF2B5EF4-FFF2-40B4-BE49-F238E27FC236}">
                <a16:creationId xmlns:a16="http://schemas.microsoft.com/office/drawing/2014/main" id="{2FBD150F-8E08-EC5B-8CB5-F2A8AEADA323}"/>
              </a:ext>
            </a:extLst>
          </p:cNvPr>
          <p:cNvSpPr txBox="1"/>
          <p:nvPr/>
        </p:nvSpPr>
        <p:spPr>
          <a:xfrm>
            <a:off x="3135304" y="9380977"/>
            <a:ext cx="12017391" cy="646331"/>
          </a:xfrm>
          <a:prstGeom prst="rect">
            <a:avLst/>
          </a:prstGeom>
          <a:noFill/>
        </p:spPr>
        <p:txBody>
          <a:bodyPr wrap="square" rtlCol="0">
            <a:spAutoFit/>
          </a:bodyPr>
          <a:lstStyle/>
          <a:p>
            <a:pPr algn="ctr"/>
            <a:r>
              <a:rPr lang="en-US" dirty="0"/>
              <a:t>Dunn, E. 2020. </a:t>
            </a:r>
            <a:r>
              <a:rPr lang="en-US" i="1" dirty="0"/>
              <a:t>How to turn the high school “hamburger” essay into a university-level paper </a:t>
            </a:r>
            <a:r>
              <a:rPr lang="en-US" dirty="0">
                <a:hlinkClick r:id="rId4"/>
              </a:rPr>
              <a:t>https://uwaterloo.ca/writing-and-communication-centre/blog/how-turn-high-school-hamburger-essay-university-level-paper </a:t>
            </a:r>
            <a:r>
              <a:rPr lang="en-US" dirty="0"/>
              <a:t>[17 April 2026].</a:t>
            </a:r>
            <a:endParaRPr lang="en-ZA" dirty="0"/>
          </a:p>
        </p:txBody>
      </p:sp>
    </p:spTree>
    <p:extLst>
      <p:ext uri="{BB962C8B-B14F-4D97-AF65-F5344CB8AC3E}">
        <p14:creationId xmlns:p14="http://schemas.microsoft.com/office/powerpoint/2010/main" val="3157362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grpSp>
        <p:nvGrpSpPr>
          <p:cNvPr id="2" name="Group 2"/>
          <p:cNvGrpSpPr/>
          <p:nvPr/>
        </p:nvGrpSpPr>
        <p:grpSpPr>
          <a:xfrm>
            <a:off x="9735096" y="-242584"/>
            <a:ext cx="9420218" cy="11063997"/>
            <a:chOff x="0" y="0"/>
            <a:chExt cx="2481045" cy="2913974"/>
          </a:xfrm>
        </p:grpSpPr>
        <p:sp>
          <p:nvSpPr>
            <p:cNvPr id="3" name="Freeform 3"/>
            <p:cNvSpPr/>
            <p:nvPr/>
          </p:nvSpPr>
          <p:spPr>
            <a:xfrm>
              <a:off x="0" y="0"/>
              <a:ext cx="2481045" cy="2913974"/>
            </a:xfrm>
            <a:custGeom>
              <a:avLst/>
              <a:gdLst/>
              <a:ahLst/>
              <a:cxnLst/>
              <a:rect l="l" t="t" r="r" b="b"/>
              <a:pathLst>
                <a:path w="2481045" h="2913974">
                  <a:moveTo>
                    <a:pt x="0" y="0"/>
                  </a:moveTo>
                  <a:lnTo>
                    <a:pt x="2481045" y="0"/>
                  </a:lnTo>
                  <a:lnTo>
                    <a:pt x="2481045"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4" name="TextBox 4"/>
            <p:cNvSpPr txBox="1"/>
            <p:nvPr/>
          </p:nvSpPr>
          <p:spPr>
            <a:xfrm>
              <a:off x="0" y="-38100"/>
              <a:ext cx="2481045" cy="295207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0751370" y="1568665"/>
            <a:ext cx="6507930" cy="7441500"/>
          </a:xfrm>
          <a:custGeom>
            <a:avLst/>
            <a:gdLst/>
            <a:ahLst/>
            <a:cxnLst/>
            <a:rect l="l" t="t" r="r" b="b"/>
            <a:pathLst>
              <a:path w="6507930" h="7441500">
                <a:moveTo>
                  <a:pt x="0" y="0"/>
                </a:moveTo>
                <a:lnTo>
                  <a:pt x="6507930" y="0"/>
                </a:lnTo>
                <a:lnTo>
                  <a:pt x="6507930" y="7441500"/>
                </a:lnTo>
                <a:lnTo>
                  <a:pt x="0" y="7441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TextBox 6"/>
          <p:cNvSpPr txBox="1"/>
          <p:nvPr/>
        </p:nvSpPr>
        <p:spPr>
          <a:xfrm>
            <a:off x="359400" y="350139"/>
            <a:ext cx="9013200" cy="1853392"/>
          </a:xfrm>
          <a:prstGeom prst="rect">
            <a:avLst/>
          </a:prstGeom>
        </p:spPr>
        <p:txBody>
          <a:bodyPr wrap="square" lIns="0" tIns="0" rIns="0" bIns="0" rtlCol="0" anchor="t">
            <a:spAutoFit/>
          </a:bodyPr>
          <a:lstStyle/>
          <a:p>
            <a:pPr marL="0" lvl="0" indent="0" algn="ctr">
              <a:lnSpc>
                <a:spcPts val="7200"/>
              </a:lnSpc>
            </a:pPr>
            <a:r>
              <a:rPr lang="en-US" sz="6600" dirty="0">
                <a:solidFill>
                  <a:srgbClr val="000000"/>
                </a:solidFill>
                <a:latin typeface="Sanchez"/>
                <a:ea typeface="Sanchez"/>
                <a:cs typeface="Sanchez"/>
                <a:sym typeface="Sanchez"/>
              </a:rPr>
              <a:t>Referencing Tools &amp; The "Why" of Styles</a:t>
            </a:r>
          </a:p>
        </p:txBody>
      </p:sp>
      <p:sp>
        <p:nvSpPr>
          <p:cNvPr id="7" name="TextBox 7"/>
          <p:cNvSpPr txBox="1"/>
          <p:nvPr/>
        </p:nvSpPr>
        <p:spPr>
          <a:xfrm>
            <a:off x="1000130" y="4076700"/>
            <a:ext cx="7855226" cy="1798890"/>
          </a:xfrm>
          <a:prstGeom prst="rect">
            <a:avLst/>
          </a:prstGeom>
        </p:spPr>
        <p:txBody>
          <a:bodyPr lIns="0" tIns="0" rIns="0" bIns="0" rtlCol="0" anchor="t">
            <a:spAutoFit/>
          </a:bodyPr>
          <a:lstStyle/>
          <a:p>
            <a:pPr algn="ctr">
              <a:lnSpc>
                <a:spcPts val="4759"/>
              </a:lnSpc>
            </a:pPr>
            <a:r>
              <a:rPr lang="en-US" sz="3600" b="1" dirty="0">
                <a:solidFill>
                  <a:srgbClr val="000000"/>
                </a:solidFill>
                <a:latin typeface="Open Sauce"/>
                <a:ea typeface="Open Sauce"/>
                <a:cs typeface="Open Sauce"/>
                <a:sym typeface="Open Sauce"/>
              </a:rPr>
              <a:t>Why so many styles?</a:t>
            </a:r>
          </a:p>
          <a:p>
            <a:pPr algn="ctr">
              <a:lnSpc>
                <a:spcPts val="4759"/>
              </a:lnSpc>
            </a:pPr>
            <a:endParaRPr lang="en-US" sz="3600" b="1" dirty="0">
              <a:solidFill>
                <a:srgbClr val="000000"/>
              </a:solidFill>
              <a:latin typeface="Open Sauce"/>
              <a:ea typeface="Open Sauce"/>
              <a:cs typeface="Open Sauce"/>
              <a:sym typeface="Open Sauce"/>
            </a:endParaRPr>
          </a:p>
          <a:p>
            <a:pPr algn="ctr">
              <a:lnSpc>
                <a:spcPts val="4759"/>
              </a:lnSpc>
            </a:pPr>
            <a:r>
              <a:rPr lang="en-US" sz="3600" b="1" dirty="0">
                <a:solidFill>
                  <a:srgbClr val="000000"/>
                </a:solidFill>
                <a:latin typeface="Open Sauce"/>
                <a:ea typeface="Open Sauce"/>
                <a:cs typeface="Open Sauce"/>
                <a:sym typeface="Open Sauce"/>
              </a:rPr>
              <a:t>Management Tools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2" name="TextBox 2"/>
          <p:cNvSpPr txBox="1"/>
          <p:nvPr/>
        </p:nvSpPr>
        <p:spPr>
          <a:xfrm>
            <a:off x="3393399" y="235803"/>
            <a:ext cx="11496012" cy="930063"/>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Why so many styles?</a:t>
            </a:r>
          </a:p>
        </p:txBody>
      </p:sp>
      <p:sp>
        <p:nvSpPr>
          <p:cNvPr id="3" name="TextBox 3"/>
          <p:cNvSpPr txBox="1"/>
          <p:nvPr/>
        </p:nvSpPr>
        <p:spPr>
          <a:xfrm>
            <a:off x="619048" y="3631451"/>
            <a:ext cx="9059690" cy="3024098"/>
          </a:xfrm>
          <a:prstGeom prst="rect">
            <a:avLst/>
          </a:prstGeom>
        </p:spPr>
        <p:txBody>
          <a:bodyPr wrap="square" lIns="0" tIns="0" rIns="0" bIns="0" rtlCol="0" anchor="t">
            <a:spAutoFit/>
          </a:bodyPr>
          <a:lstStyle/>
          <a:p>
            <a:pPr algn="ctr">
              <a:lnSpc>
                <a:spcPts val="4759"/>
              </a:lnSpc>
            </a:pPr>
            <a:r>
              <a:rPr lang="en-US" sz="3399" dirty="0">
                <a:solidFill>
                  <a:srgbClr val="000000"/>
                </a:solidFill>
                <a:latin typeface="Open Sauce"/>
                <a:ea typeface="Open Sauce"/>
                <a:cs typeface="Open Sauce"/>
                <a:sym typeface="Open Sauce"/>
              </a:rPr>
              <a:t>There are different referencing styles like APA, MLA, Chicago, Harvard, and IEEE. Each style has its own rules for things like punctuation, capitalization, and how to show author names or page numbers.</a:t>
            </a:r>
          </a:p>
        </p:txBody>
      </p:sp>
      <p:pic>
        <p:nvPicPr>
          <p:cNvPr id="4" name="Picture 2" descr="Referencing an Article – Its Styles and Types">
            <a:extLst>
              <a:ext uri="{FF2B5EF4-FFF2-40B4-BE49-F238E27FC236}">
                <a16:creationId xmlns:a16="http://schemas.microsoft.com/office/drawing/2014/main" id="{AA02BD5E-FDD4-1432-FB8A-107AB3176E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00" y="1635337"/>
            <a:ext cx="7381952" cy="7381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5823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2" name="TextBox 2"/>
          <p:cNvSpPr txBox="1"/>
          <p:nvPr/>
        </p:nvSpPr>
        <p:spPr>
          <a:xfrm>
            <a:off x="1143000" y="342900"/>
            <a:ext cx="16002000" cy="930063"/>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Management Tools</a:t>
            </a:r>
          </a:p>
        </p:txBody>
      </p:sp>
      <p:grpSp>
        <p:nvGrpSpPr>
          <p:cNvPr id="10" name="Group 10"/>
          <p:cNvGrpSpPr/>
          <p:nvPr/>
        </p:nvGrpSpPr>
        <p:grpSpPr>
          <a:xfrm>
            <a:off x="1019337" y="1485900"/>
            <a:ext cx="16249325" cy="1447800"/>
            <a:chOff x="0" y="-27755"/>
            <a:chExt cx="812800" cy="365289"/>
          </a:xfrm>
        </p:grpSpPr>
        <p:sp>
          <p:nvSpPr>
            <p:cNvPr id="11" name="Freeform 11"/>
            <p:cNvSpPr/>
            <p:nvPr/>
          </p:nvSpPr>
          <p:spPr>
            <a:xfrm>
              <a:off x="0" y="0"/>
              <a:ext cx="812800" cy="337534"/>
            </a:xfrm>
            <a:custGeom>
              <a:avLst/>
              <a:gdLst/>
              <a:ahLst/>
              <a:cxnLst/>
              <a:rect l="l" t="t" r="r" b="b"/>
              <a:pathLst>
                <a:path w="812800" h="337534">
                  <a:moveTo>
                    <a:pt x="0" y="0"/>
                  </a:moveTo>
                  <a:lnTo>
                    <a:pt x="812800" y="0"/>
                  </a:lnTo>
                  <a:lnTo>
                    <a:pt x="812800" y="337534"/>
                  </a:lnTo>
                  <a:lnTo>
                    <a:pt x="0" y="337534"/>
                  </a:lnTo>
                  <a:close/>
                </a:path>
              </a:pathLst>
            </a:custGeom>
            <a:solidFill>
              <a:srgbClr val="ADC2A7"/>
            </a:solidFill>
            <a:ln w="47625" cap="sq">
              <a:solidFill>
                <a:srgbClr val="000000"/>
              </a:solidFill>
              <a:prstDash val="solid"/>
              <a:miter/>
            </a:ln>
          </p:spPr>
          <p:txBody>
            <a:bodyPr/>
            <a:lstStyle/>
            <a:p>
              <a:endParaRPr lang="en-GB"/>
            </a:p>
          </p:txBody>
        </p:sp>
        <p:sp>
          <p:nvSpPr>
            <p:cNvPr id="12" name="TextBox 12"/>
            <p:cNvSpPr txBox="1"/>
            <p:nvPr/>
          </p:nvSpPr>
          <p:spPr>
            <a:xfrm>
              <a:off x="0" y="-27755"/>
              <a:ext cx="812800" cy="365289"/>
            </a:xfrm>
            <a:prstGeom prst="rect">
              <a:avLst/>
            </a:prstGeom>
          </p:spPr>
          <p:txBody>
            <a:bodyPr lIns="50800" tIns="50800" rIns="50800" bIns="50800" rtlCol="0" anchor="ctr"/>
            <a:lstStyle/>
            <a:p>
              <a:pPr algn="ctr">
                <a:lnSpc>
                  <a:spcPts val="4059"/>
                </a:lnSpc>
              </a:pPr>
              <a:r>
                <a:rPr lang="en-US" sz="2000" dirty="0">
                  <a:solidFill>
                    <a:srgbClr val="000000"/>
                  </a:solidFill>
                  <a:latin typeface="Open Sauce"/>
                  <a:ea typeface="Open Sauce"/>
                  <a:cs typeface="Open Sauce"/>
                  <a:sym typeface="Open Sauce"/>
                </a:rPr>
                <a:t>There are many basic referencing tools available on the Internet. These range from simple reference generators to those which allow you to create bibliographies in a range of styles. </a:t>
              </a:r>
            </a:p>
          </p:txBody>
        </p:sp>
      </p:grpSp>
      <p:pic>
        <p:nvPicPr>
          <p:cNvPr id="1026" name="Picture 2" descr="Mendeley - Wikipedia">
            <a:extLst>
              <a:ext uri="{FF2B5EF4-FFF2-40B4-BE49-F238E27FC236}">
                <a16:creationId xmlns:a16="http://schemas.microsoft.com/office/drawing/2014/main" id="{B238CE51-8457-B49C-9A6B-70DFA5C1C44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8400" y="4686300"/>
            <a:ext cx="3086100" cy="3086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ew Zotero guide and unlimited storage offered - Bibliothèque universitaire  de médecine">
            <a:extLst>
              <a:ext uri="{FF2B5EF4-FFF2-40B4-BE49-F238E27FC236}">
                <a16:creationId xmlns:a16="http://schemas.microsoft.com/office/drawing/2014/main" id="{4B6B91D6-4C1B-984C-B858-AB97E50A26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2991" y="4394613"/>
            <a:ext cx="4982015" cy="36694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EndNote macOS BigSur - free Icon PNG, SVG">
            <a:extLst>
              <a:ext uri="{FF2B5EF4-FFF2-40B4-BE49-F238E27FC236}">
                <a16:creationId xmlns:a16="http://schemas.microsoft.com/office/drawing/2014/main" id="{3E79D022-9F7D-F0D1-A391-6776AEB689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44400" y="4152900"/>
            <a:ext cx="4114800" cy="4114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2" name="TextBox 2"/>
          <p:cNvSpPr txBox="1"/>
          <p:nvPr/>
        </p:nvSpPr>
        <p:spPr>
          <a:xfrm>
            <a:off x="1143000" y="342900"/>
            <a:ext cx="16002000" cy="930063"/>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Management Tools</a:t>
            </a:r>
          </a:p>
        </p:txBody>
      </p:sp>
      <p:pic>
        <p:nvPicPr>
          <p:cNvPr id="4" name="Picture 3" descr="A screenshot of a computer&#10;&#10;AI-generated content may be incorrect.">
            <a:extLst>
              <a:ext uri="{FF2B5EF4-FFF2-40B4-BE49-F238E27FC236}">
                <a16:creationId xmlns:a16="http://schemas.microsoft.com/office/drawing/2014/main" id="{0785C744-94AD-4357-1EF2-80DB9CA5F3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6333" y="1638300"/>
            <a:ext cx="14615334" cy="7543800"/>
          </a:xfrm>
          <a:prstGeom prst="rect">
            <a:avLst/>
          </a:prstGeom>
        </p:spPr>
      </p:pic>
      <p:sp>
        <p:nvSpPr>
          <p:cNvPr id="5" name="TextBox 3">
            <a:extLst>
              <a:ext uri="{FF2B5EF4-FFF2-40B4-BE49-F238E27FC236}">
                <a16:creationId xmlns:a16="http://schemas.microsoft.com/office/drawing/2014/main" id="{8610ADF9-A2B8-D7E7-A5C7-B92488E40D9B}"/>
              </a:ext>
            </a:extLst>
          </p:cNvPr>
          <p:cNvSpPr txBox="1"/>
          <p:nvPr/>
        </p:nvSpPr>
        <p:spPr>
          <a:xfrm>
            <a:off x="-304800" y="9435305"/>
            <a:ext cx="5999567" cy="508794"/>
          </a:xfrm>
          <a:prstGeom prst="rect">
            <a:avLst/>
          </a:prstGeom>
        </p:spPr>
        <p:txBody>
          <a:bodyPr wrap="square" lIns="0" tIns="0" rIns="0" bIns="0" rtlCol="0" anchor="t">
            <a:spAutoFit/>
          </a:bodyPr>
          <a:lstStyle/>
          <a:p>
            <a:pPr algn="ctr">
              <a:lnSpc>
                <a:spcPts val="4759"/>
              </a:lnSpc>
            </a:pPr>
            <a:r>
              <a:rPr lang="en-US" sz="1600" dirty="0">
                <a:solidFill>
                  <a:srgbClr val="000000"/>
                </a:solidFill>
                <a:latin typeface="Open Sauce"/>
                <a:ea typeface="Open Sauce"/>
                <a:cs typeface="Open Sauce"/>
                <a:sym typeface="Open Sauce"/>
                <a:hlinkClick r:id="rId4"/>
              </a:rPr>
              <a:t>https://libguides.library.cput.ac.za/mendeley</a:t>
            </a:r>
            <a:r>
              <a:rPr lang="en-US" sz="1600" dirty="0">
                <a:solidFill>
                  <a:srgbClr val="000000"/>
                </a:solidFill>
                <a:latin typeface="Open Sauce"/>
                <a:ea typeface="Open Sauce"/>
                <a:cs typeface="Open Sauce"/>
                <a:sym typeface="Open Sauce"/>
              </a:rPr>
              <a:t> </a:t>
            </a:r>
          </a:p>
        </p:txBody>
      </p:sp>
      <p:sp>
        <p:nvSpPr>
          <p:cNvPr id="6" name="TextBox 3">
            <a:extLst>
              <a:ext uri="{FF2B5EF4-FFF2-40B4-BE49-F238E27FC236}">
                <a16:creationId xmlns:a16="http://schemas.microsoft.com/office/drawing/2014/main" id="{38979EA5-8FF3-A1D4-3938-6955B457E3F8}"/>
              </a:ext>
            </a:extLst>
          </p:cNvPr>
          <p:cNvSpPr txBox="1"/>
          <p:nvPr/>
        </p:nvSpPr>
        <p:spPr>
          <a:xfrm>
            <a:off x="14097000" y="9435305"/>
            <a:ext cx="4354185" cy="508794"/>
          </a:xfrm>
          <a:prstGeom prst="rect">
            <a:avLst/>
          </a:prstGeom>
        </p:spPr>
        <p:txBody>
          <a:bodyPr wrap="square" lIns="0" tIns="0" rIns="0" bIns="0" rtlCol="0" anchor="t">
            <a:spAutoFit/>
          </a:bodyPr>
          <a:lstStyle/>
          <a:p>
            <a:pPr algn="ctr">
              <a:lnSpc>
                <a:spcPts val="4759"/>
              </a:lnSpc>
            </a:pPr>
            <a:r>
              <a:rPr lang="en-US" sz="1600" dirty="0">
                <a:solidFill>
                  <a:srgbClr val="000000"/>
                </a:solidFill>
                <a:latin typeface="Open Sauce"/>
                <a:ea typeface="Open Sauce"/>
                <a:cs typeface="Open Sauce"/>
                <a:sym typeface="Open Sauce"/>
                <a:hlinkClick r:id="rId5"/>
              </a:rPr>
              <a:t>Getting Started Guide</a:t>
            </a:r>
            <a:endParaRPr lang="en-US" sz="1600" dirty="0">
              <a:solidFill>
                <a:srgbClr val="000000"/>
              </a:solidFill>
              <a:latin typeface="Open Sauce"/>
              <a:ea typeface="Open Sauce"/>
              <a:cs typeface="Open Sauce"/>
              <a:sym typeface="Open Sauce"/>
            </a:endParaRPr>
          </a:p>
        </p:txBody>
      </p:sp>
    </p:spTree>
    <p:extLst>
      <p:ext uri="{BB962C8B-B14F-4D97-AF65-F5344CB8AC3E}">
        <p14:creationId xmlns:p14="http://schemas.microsoft.com/office/powerpoint/2010/main" val="2235569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grpSp>
        <p:nvGrpSpPr>
          <p:cNvPr id="2" name="Group 2"/>
          <p:cNvGrpSpPr/>
          <p:nvPr/>
        </p:nvGrpSpPr>
        <p:grpSpPr>
          <a:xfrm>
            <a:off x="-936957" y="-388498"/>
            <a:ext cx="9167773" cy="11063997"/>
            <a:chOff x="0" y="0"/>
            <a:chExt cx="2414557" cy="2913974"/>
          </a:xfrm>
        </p:grpSpPr>
        <p:sp>
          <p:nvSpPr>
            <p:cNvPr id="3" name="Freeform 3"/>
            <p:cNvSpPr/>
            <p:nvPr/>
          </p:nvSpPr>
          <p:spPr>
            <a:xfrm>
              <a:off x="0" y="0"/>
              <a:ext cx="2414557" cy="2913974"/>
            </a:xfrm>
            <a:custGeom>
              <a:avLst/>
              <a:gdLst/>
              <a:ahLst/>
              <a:cxnLst/>
              <a:rect l="l" t="t" r="r" b="b"/>
              <a:pathLst>
                <a:path w="2414557" h="2913974">
                  <a:moveTo>
                    <a:pt x="0" y="0"/>
                  </a:moveTo>
                  <a:lnTo>
                    <a:pt x="2414557" y="0"/>
                  </a:lnTo>
                  <a:lnTo>
                    <a:pt x="2414557"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4" name="TextBox 4"/>
            <p:cNvSpPr txBox="1"/>
            <p:nvPr/>
          </p:nvSpPr>
          <p:spPr>
            <a:xfrm>
              <a:off x="0" y="-38100"/>
              <a:ext cx="2414557" cy="2952074"/>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9246804" y="342900"/>
            <a:ext cx="8382620" cy="2776722"/>
          </a:xfrm>
          <a:prstGeom prst="rect">
            <a:avLst/>
          </a:prstGeom>
        </p:spPr>
        <p:txBody>
          <a:bodyPr lIns="0" tIns="0" rIns="0" bIns="0" rtlCol="0" anchor="t">
            <a:spAutoFit/>
          </a:bodyPr>
          <a:lstStyle/>
          <a:p>
            <a:pPr marL="0" lvl="0" indent="0" algn="ctr">
              <a:lnSpc>
                <a:spcPts val="7200"/>
              </a:lnSpc>
            </a:pPr>
            <a:r>
              <a:rPr lang="en-US" sz="6600" dirty="0">
                <a:solidFill>
                  <a:srgbClr val="000000"/>
                </a:solidFill>
                <a:latin typeface="Sanchez"/>
                <a:ea typeface="Sanchez"/>
                <a:cs typeface="Sanchez"/>
                <a:sym typeface="Sanchez"/>
              </a:rPr>
              <a:t>The AI Frontier: Ethics &amp; Compliance</a:t>
            </a:r>
          </a:p>
        </p:txBody>
      </p:sp>
      <p:sp>
        <p:nvSpPr>
          <p:cNvPr id="6" name="TextBox 6"/>
          <p:cNvSpPr txBox="1"/>
          <p:nvPr/>
        </p:nvSpPr>
        <p:spPr>
          <a:xfrm>
            <a:off x="8734810" y="4152900"/>
            <a:ext cx="9406608" cy="3610219"/>
          </a:xfrm>
          <a:prstGeom prst="rect">
            <a:avLst/>
          </a:prstGeom>
        </p:spPr>
        <p:txBody>
          <a:bodyPr wrap="square" lIns="0" tIns="0" rIns="0" bIns="0" rtlCol="0" anchor="t">
            <a:spAutoFit/>
          </a:bodyPr>
          <a:lstStyle/>
          <a:p>
            <a:pPr algn="ctr">
              <a:lnSpc>
                <a:spcPts val="4759"/>
              </a:lnSpc>
            </a:pPr>
            <a:r>
              <a:rPr lang="en-US" sz="2800" b="1" dirty="0">
                <a:solidFill>
                  <a:srgbClr val="000000"/>
                </a:solidFill>
                <a:latin typeface="Open Sauce"/>
                <a:ea typeface="Open Sauce"/>
                <a:cs typeface="Open Sauce"/>
                <a:sym typeface="Open Sauce"/>
              </a:rPr>
              <a:t>Hallucinated References</a:t>
            </a:r>
          </a:p>
          <a:p>
            <a:pPr algn="ctr">
              <a:lnSpc>
                <a:spcPts val="4759"/>
              </a:lnSpc>
            </a:pPr>
            <a:endParaRPr lang="en-US" sz="2800" b="1" dirty="0">
              <a:solidFill>
                <a:srgbClr val="000000"/>
              </a:solidFill>
              <a:latin typeface="Open Sauce"/>
              <a:ea typeface="Open Sauce"/>
              <a:cs typeface="Open Sauce"/>
              <a:sym typeface="Open Sauce"/>
            </a:endParaRPr>
          </a:p>
          <a:p>
            <a:pPr algn="ctr">
              <a:lnSpc>
                <a:spcPts val="4759"/>
              </a:lnSpc>
            </a:pPr>
            <a:r>
              <a:rPr lang="en-US" sz="2800" b="1" dirty="0">
                <a:solidFill>
                  <a:srgbClr val="000000"/>
                </a:solidFill>
                <a:latin typeface="Open Sauce"/>
                <a:ea typeface="Open Sauce"/>
                <a:cs typeface="Open Sauce"/>
                <a:sym typeface="Open Sauce"/>
              </a:rPr>
              <a:t>Citing AI at CPUT</a:t>
            </a:r>
          </a:p>
          <a:p>
            <a:pPr algn="ctr">
              <a:lnSpc>
                <a:spcPts val="4759"/>
              </a:lnSpc>
            </a:pPr>
            <a:endParaRPr lang="en-US" sz="2800" b="1" dirty="0">
              <a:solidFill>
                <a:srgbClr val="000000"/>
              </a:solidFill>
              <a:latin typeface="Open Sauce"/>
              <a:ea typeface="Open Sauce"/>
              <a:cs typeface="Open Sauce"/>
              <a:sym typeface="Open Sauce"/>
            </a:endParaRPr>
          </a:p>
          <a:p>
            <a:pPr algn="ctr">
              <a:lnSpc>
                <a:spcPts val="4759"/>
              </a:lnSpc>
            </a:pPr>
            <a:r>
              <a:rPr lang="en-US" sz="2800" b="1" dirty="0">
                <a:solidFill>
                  <a:srgbClr val="000000"/>
                </a:solidFill>
                <a:latin typeface="Open Sauce"/>
                <a:ea typeface="Open Sauce"/>
                <a:cs typeface="Open Sauce"/>
                <a:sym typeface="Open Sauce"/>
              </a:rPr>
              <a:t>The "Human" Value</a:t>
            </a:r>
          </a:p>
          <a:p>
            <a:pPr algn="l">
              <a:lnSpc>
                <a:spcPts val="4759"/>
              </a:lnSpc>
            </a:pPr>
            <a:endParaRPr lang="en-US" sz="2400" dirty="0">
              <a:solidFill>
                <a:srgbClr val="000000"/>
              </a:solidFill>
              <a:latin typeface="Open Sauce"/>
              <a:ea typeface="Open Sauce"/>
              <a:cs typeface="Open Sauce"/>
              <a:sym typeface="Open Sauce"/>
            </a:endParaRPr>
          </a:p>
        </p:txBody>
      </p:sp>
      <p:sp>
        <p:nvSpPr>
          <p:cNvPr id="7" name="Freeform 7"/>
          <p:cNvSpPr/>
          <p:nvPr/>
        </p:nvSpPr>
        <p:spPr>
          <a:xfrm>
            <a:off x="1028700" y="1028700"/>
            <a:ext cx="6252447" cy="8072408"/>
          </a:xfrm>
          <a:custGeom>
            <a:avLst/>
            <a:gdLst/>
            <a:ahLst/>
            <a:cxnLst/>
            <a:rect l="l" t="t" r="r" b="b"/>
            <a:pathLst>
              <a:path w="6252447" h="8072408">
                <a:moveTo>
                  <a:pt x="0" y="0"/>
                </a:moveTo>
                <a:lnTo>
                  <a:pt x="6252447" y="0"/>
                </a:lnTo>
                <a:lnTo>
                  <a:pt x="6252447" y="8072408"/>
                </a:lnTo>
                <a:lnTo>
                  <a:pt x="0" y="80724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2" name="TextBox 2"/>
          <p:cNvSpPr txBox="1"/>
          <p:nvPr/>
        </p:nvSpPr>
        <p:spPr>
          <a:xfrm>
            <a:off x="3357894" y="571500"/>
            <a:ext cx="11572212" cy="930063"/>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Hallucinated References</a:t>
            </a:r>
          </a:p>
        </p:txBody>
      </p:sp>
      <p:grpSp>
        <p:nvGrpSpPr>
          <p:cNvPr id="7" name="Group 7"/>
          <p:cNvGrpSpPr/>
          <p:nvPr/>
        </p:nvGrpSpPr>
        <p:grpSpPr>
          <a:xfrm>
            <a:off x="495300" y="8724900"/>
            <a:ext cx="17297400" cy="1092795"/>
            <a:chOff x="0" y="0"/>
            <a:chExt cx="1340099" cy="428298"/>
          </a:xfrm>
        </p:grpSpPr>
        <p:sp>
          <p:nvSpPr>
            <p:cNvPr id="8" name="Freeform 8"/>
            <p:cNvSpPr/>
            <p:nvPr/>
          </p:nvSpPr>
          <p:spPr>
            <a:xfrm>
              <a:off x="0" y="0"/>
              <a:ext cx="1340099" cy="428298"/>
            </a:xfrm>
            <a:custGeom>
              <a:avLst/>
              <a:gdLst/>
              <a:ahLst/>
              <a:cxnLst/>
              <a:rect l="l" t="t" r="r" b="b"/>
              <a:pathLst>
                <a:path w="1340099" h="428298">
                  <a:moveTo>
                    <a:pt x="0" y="0"/>
                  </a:moveTo>
                  <a:lnTo>
                    <a:pt x="1340099" y="0"/>
                  </a:lnTo>
                  <a:lnTo>
                    <a:pt x="1340099" y="428298"/>
                  </a:lnTo>
                  <a:lnTo>
                    <a:pt x="0" y="428298"/>
                  </a:lnTo>
                  <a:close/>
                </a:path>
              </a:pathLst>
            </a:custGeom>
            <a:solidFill>
              <a:srgbClr val="ADC2A7"/>
            </a:solidFill>
            <a:ln w="47625" cap="sq">
              <a:solidFill>
                <a:srgbClr val="000000"/>
              </a:solidFill>
              <a:prstDash val="solid"/>
              <a:miter/>
            </a:ln>
          </p:spPr>
          <p:txBody>
            <a:bodyPr/>
            <a:lstStyle/>
            <a:p>
              <a:endParaRPr lang="en-GB"/>
            </a:p>
          </p:txBody>
        </p:sp>
        <p:sp>
          <p:nvSpPr>
            <p:cNvPr id="9" name="TextBox 9"/>
            <p:cNvSpPr txBox="1"/>
            <p:nvPr/>
          </p:nvSpPr>
          <p:spPr>
            <a:xfrm>
              <a:off x="0" y="-76200"/>
              <a:ext cx="1340099" cy="504498"/>
            </a:xfrm>
            <a:prstGeom prst="rect">
              <a:avLst/>
            </a:prstGeom>
          </p:spPr>
          <p:txBody>
            <a:bodyPr lIns="50800" tIns="50800" rIns="50800" bIns="50800" rtlCol="0" anchor="ctr"/>
            <a:lstStyle/>
            <a:p>
              <a:pPr algn="ctr">
                <a:lnSpc>
                  <a:spcPts val="3749"/>
                </a:lnSpc>
              </a:pPr>
              <a:r>
                <a:rPr lang="en-US" sz="3200" dirty="0">
                  <a:solidFill>
                    <a:srgbClr val="000000"/>
                  </a:solidFill>
                  <a:latin typeface="Open Sauce"/>
                  <a:ea typeface="Open Sauce"/>
                  <a:cs typeface="Open Sauce"/>
                  <a:sym typeface="Open Sauce"/>
                </a:rPr>
                <a:t>Does this reference look real to you?</a:t>
              </a:r>
            </a:p>
          </p:txBody>
        </p:sp>
      </p:grpSp>
      <p:sp>
        <p:nvSpPr>
          <p:cNvPr id="3" name="TextBox 2">
            <a:extLst>
              <a:ext uri="{FF2B5EF4-FFF2-40B4-BE49-F238E27FC236}">
                <a16:creationId xmlns:a16="http://schemas.microsoft.com/office/drawing/2014/main" id="{906FDF3A-EB1F-6E59-961F-D83D46EC94E7}"/>
              </a:ext>
            </a:extLst>
          </p:cNvPr>
          <p:cNvSpPr txBox="1"/>
          <p:nvPr/>
        </p:nvSpPr>
        <p:spPr>
          <a:xfrm>
            <a:off x="2171700" y="4008424"/>
            <a:ext cx="13944600" cy="1938992"/>
          </a:xfrm>
          <a:prstGeom prst="rect">
            <a:avLst/>
          </a:prstGeom>
          <a:noFill/>
        </p:spPr>
        <p:txBody>
          <a:bodyPr wrap="square" rtlCol="0">
            <a:spAutoFit/>
          </a:bodyPr>
          <a:lstStyle/>
          <a:p>
            <a:pPr algn="ctr"/>
            <a:r>
              <a:rPr lang="en-US" sz="4000" dirty="0"/>
              <a:t>Hendricks, W. 2023. The potential influence of artificial intelligence on plagiarism: A higher education perspective. </a:t>
            </a:r>
            <a:r>
              <a:rPr lang="en-US" sz="4000" i="1" dirty="0"/>
              <a:t>Journal of Artificial Intelligence Research</a:t>
            </a:r>
            <a:r>
              <a:rPr lang="en-US" sz="4000" dirty="0"/>
              <a:t>, 8(3):110-135.</a:t>
            </a:r>
            <a:endParaRPr lang="en-ZA"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2" name="TextBox 2"/>
          <p:cNvSpPr txBox="1"/>
          <p:nvPr/>
        </p:nvSpPr>
        <p:spPr>
          <a:xfrm>
            <a:off x="3357894" y="571500"/>
            <a:ext cx="11572212" cy="930063"/>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Hallucinated References</a:t>
            </a:r>
          </a:p>
        </p:txBody>
      </p:sp>
      <p:grpSp>
        <p:nvGrpSpPr>
          <p:cNvPr id="7" name="Group 7"/>
          <p:cNvGrpSpPr/>
          <p:nvPr/>
        </p:nvGrpSpPr>
        <p:grpSpPr>
          <a:xfrm>
            <a:off x="495300" y="8724900"/>
            <a:ext cx="17297400" cy="1092795"/>
            <a:chOff x="0" y="0"/>
            <a:chExt cx="1340099" cy="428298"/>
          </a:xfrm>
        </p:grpSpPr>
        <p:sp>
          <p:nvSpPr>
            <p:cNvPr id="8" name="Freeform 8"/>
            <p:cNvSpPr/>
            <p:nvPr/>
          </p:nvSpPr>
          <p:spPr>
            <a:xfrm>
              <a:off x="0" y="0"/>
              <a:ext cx="1340099" cy="428298"/>
            </a:xfrm>
            <a:custGeom>
              <a:avLst/>
              <a:gdLst/>
              <a:ahLst/>
              <a:cxnLst/>
              <a:rect l="l" t="t" r="r" b="b"/>
              <a:pathLst>
                <a:path w="1340099" h="428298">
                  <a:moveTo>
                    <a:pt x="0" y="0"/>
                  </a:moveTo>
                  <a:lnTo>
                    <a:pt x="1340099" y="0"/>
                  </a:lnTo>
                  <a:lnTo>
                    <a:pt x="1340099" y="428298"/>
                  </a:lnTo>
                  <a:lnTo>
                    <a:pt x="0" y="428298"/>
                  </a:lnTo>
                  <a:close/>
                </a:path>
              </a:pathLst>
            </a:custGeom>
            <a:solidFill>
              <a:srgbClr val="ADC2A7"/>
            </a:solidFill>
            <a:ln w="47625" cap="sq">
              <a:solidFill>
                <a:srgbClr val="000000"/>
              </a:solidFill>
              <a:prstDash val="solid"/>
              <a:miter/>
            </a:ln>
          </p:spPr>
          <p:txBody>
            <a:bodyPr/>
            <a:lstStyle/>
            <a:p>
              <a:endParaRPr lang="en-GB"/>
            </a:p>
          </p:txBody>
        </p:sp>
        <p:sp>
          <p:nvSpPr>
            <p:cNvPr id="9" name="TextBox 9"/>
            <p:cNvSpPr txBox="1"/>
            <p:nvPr/>
          </p:nvSpPr>
          <p:spPr>
            <a:xfrm>
              <a:off x="0" y="-76200"/>
              <a:ext cx="1340099" cy="504498"/>
            </a:xfrm>
            <a:prstGeom prst="rect">
              <a:avLst/>
            </a:prstGeom>
          </p:spPr>
          <p:txBody>
            <a:bodyPr lIns="50800" tIns="50800" rIns="50800" bIns="50800" rtlCol="0" anchor="ctr"/>
            <a:lstStyle/>
            <a:p>
              <a:pPr algn="ctr">
                <a:lnSpc>
                  <a:spcPts val="3749"/>
                </a:lnSpc>
              </a:pPr>
              <a:r>
                <a:rPr lang="en-US" sz="3200" dirty="0">
                  <a:solidFill>
                    <a:srgbClr val="000000"/>
                  </a:solidFill>
                  <a:latin typeface="Open Sauce"/>
                  <a:ea typeface="Open Sauce"/>
                  <a:cs typeface="Open Sauce"/>
                  <a:sym typeface="Open Sauce"/>
                </a:rPr>
                <a:t>This is what AI does!</a:t>
              </a:r>
            </a:p>
          </p:txBody>
        </p:sp>
      </p:grpSp>
      <p:sp>
        <p:nvSpPr>
          <p:cNvPr id="3" name="TextBox 2">
            <a:extLst>
              <a:ext uri="{FF2B5EF4-FFF2-40B4-BE49-F238E27FC236}">
                <a16:creationId xmlns:a16="http://schemas.microsoft.com/office/drawing/2014/main" id="{906FDF3A-EB1F-6E59-961F-D83D46EC94E7}"/>
              </a:ext>
            </a:extLst>
          </p:cNvPr>
          <p:cNvSpPr txBox="1"/>
          <p:nvPr/>
        </p:nvSpPr>
        <p:spPr>
          <a:xfrm>
            <a:off x="2171700" y="2628900"/>
            <a:ext cx="13944600" cy="1938992"/>
          </a:xfrm>
          <a:prstGeom prst="rect">
            <a:avLst/>
          </a:prstGeom>
          <a:noFill/>
        </p:spPr>
        <p:txBody>
          <a:bodyPr wrap="square" rtlCol="0">
            <a:spAutoFit/>
          </a:bodyPr>
          <a:lstStyle/>
          <a:p>
            <a:pPr algn="ctr"/>
            <a:r>
              <a:rPr lang="en-US" sz="4000" dirty="0">
                <a:solidFill>
                  <a:srgbClr val="FF0000"/>
                </a:solidFill>
                <a:effectLst>
                  <a:outerShdw blurRad="38100" dist="38100" dir="2700000" algn="tl">
                    <a:srgbClr val="000000">
                      <a:alpha val="43137"/>
                    </a:srgbClr>
                  </a:outerShdw>
                </a:effectLst>
              </a:rPr>
              <a:t>Hendricks, W. 2023. The potential influence of artificial intelligence on plagiarism: A higher education perspective. </a:t>
            </a:r>
            <a:r>
              <a:rPr lang="en-US" sz="4000" i="1" dirty="0">
                <a:solidFill>
                  <a:srgbClr val="FF0000"/>
                </a:solidFill>
                <a:effectLst>
                  <a:outerShdw blurRad="38100" dist="38100" dir="2700000" algn="tl">
                    <a:srgbClr val="000000">
                      <a:alpha val="43137"/>
                    </a:srgbClr>
                  </a:outerShdw>
                </a:effectLst>
              </a:rPr>
              <a:t>Journal of Artificial Intelligence Research</a:t>
            </a:r>
            <a:r>
              <a:rPr lang="en-US" sz="4000" dirty="0">
                <a:solidFill>
                  <a:srgbClr val="FF0000"/>
                </a:solidFill>
                <a:effectLst>
                  <a:outerShdw blurRad="38100" dist="38100" dir="2700000" algn="tl">
                    <a:srgbClr val="000000">
                      <a:alpha val="43137"/>
                    </a:srgbClr>
                  </a:outerShdw>
                </a:effectLst>
              </a:rPr>
              <a:t>, 8(3):110-135.</a:t>
            </a:r>
            <a:endParaRPr lang="en-ZA" sz="4000" dirty="0">
              <a:solidFill>
                <a:srgbClr val="FF0000"/>
              </a:solidFill>
              <a:effectLst>
                <a:outerShdw blurRad="38100" dist="38100" dir="2700000" algn="tl">
                  <a:srgbClr val="000000">
                    <a:alpha val="43137"/>
                  </a:srgbClr>
                </a:outerShdw>
              </a:effectLst>
            </a:endParaRPr>
          </a:p>
        </p:txBody>
      </p:sp>
      <p:sp>
        <p:nvSpPr>
          <p:cNvPr id="4" name="TextBox 3">
            <a:extLst>
              <a:ext uri="{FF2B5EF4-FFF2-40B4-BE49-F238E27FC236}">
                <a16:creationId xmlns:a16="http://schemas.microsoft.com/office/drawing/2014/main" id="{2A4C7DF9-E171-0D26-D44C-BDC18DCBF7DA}"/>
              </a:ext>
            </a:extLst>
          </p:cNvPr>
          <p:cNvSpPr txBox="1"/>
          <p:nvPr/>
        </p:nvSpPr>
        <p:spPr>
          <a:xfrm>
            <a:off x="1581150" y="5295900"/>
            <a:ext cx="15125700" cy="1938992"/>
          </a:xfrm>
          <a:prstGeom prst="rect">
            <a:avLst/>
          </a:prstGeom>
          <a:noFill/>
        </p:spPr>
        <p:txBody>
          <a:bodyPr wrap="square" rtlCol="0">
            <a:spAutoFit/>
          </a:bodyPr>
          <a:lstStyle/>
          <a:p>
            <a:pPr algn="ctr"/>
            <a:r>
              <a:rPr lang="en-US" sz="4000" dirty="0" err="1">
                <a:solidFill>
                  <a:srgbClr val="00B050"/>
                </a:solidFill>
                <a:effectLst>
                  <a:outerShdw blurRad="38100" dist="38100" dir="2700000" algn="tl">
                    <a:srgbClr val="000000">
                      <a:alpha val="43137"/>
                    </a:srgbClr>
                  </a:outerShdw>
                </a:effectLst>
              </a:rPr>
              <a:t>Francke</a:t>
            </a:r>
            <a:r>
              <a:rPr lang="en-US" sz="4000" dirty="0">
                <a:solidFill>
                  <a:srgbClr val="00B050"/>
                </a:solidFill>
                <a:effectLst>
                  <a:outerShdw blurRad="38100" dist="38100" dir="2700000" algn="tl">
                    <a:srgbClr val="000000">
                      <a:alpha val="43137"/>
                    </a:srgbClr>
                  </a:outerShdw>
                </a:effectLst>
              </a:rPr>
              <a:t>, E. 2019. The potential influence of artificial intelligence on plagiarism: A higher education perspective. </a:t>
            </a:r>
            <a:r>
              <a:rPr lang="en-US" sz="4000" i="1" dirty="0">
                <a:solidFill>
                  <a:srgbClr val="00B050"/>
                </a:solidFill>
                <a:effectLst>
                  <a:outerShdw blurRad="38100" dist="38100" dir="2700000" algn="tl">
                    <a:srgbClr val="000000">
                      <a:alpha val="43137"/>
                    </a:srgbClr>
                  </a:outerShdw>
                </a:effectLst>
              </a:rPr>
              <a:t>European conference on the impact of artificial intelligence and robotics (ECIAIR 2019)</a:t>
            </a:r>
            <a:r>
              <a:rPr lang="en-US" sz="4000" dirty="0">
                <a:solidFill>
                  <a:srgbClr val="00B050"/>
                </a:solidFill>
                <a:effectLst>
                  <a:outerShdw blurRad="38100" dist="38100" dir="2700000" algn="tl">
                    <a:srgbClr val="000000">
                      <a:alpha val="43137"/>
                    </a:srgbClr>
                  </a:outerShdw>
                </a:effectLst>
              </a:rPr>
              <a:t>, 31:131-140.</a:t>
            </a:r>
            <a:endParaRPr lang="en-ZA" sz="4000" dirty="0">
              <a:solidFill>
                <a:srgbClr val="00B05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13087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grpSp>
        <p:nvGrpSpPr>
          <p:cNvPr id="6" name="Group 2">
            <a:extLst>
              <a:ext uri="{FF2B5EF4-FFF2-40B4-BE49-F238E27FC236}">
                <a16:creationId xmlns:a16="http://schemas.microsoft.com/office/drawing/2014/main" id="{63C3AFE5-BBFF-B134-8EDE-3B9DC96E465B}"/>
              </a:ext>
            </a:extLst>
          </p:cNvPr>
          <p:cNvGrpSpPr/>
          <p:nvPr/>
        </p:nvGrpSpPr>
        <p:grpSpPr>
          <a:xfrm>
            <a:off x="9677400" y="-533161"/>
            <a:ext cx="8610600" cy="11208658"/>
            <a:chOff x="0" y="-38100"/>
            <a:chExt cx="2605710" cy="2952074"/>
          </a:xfrm>
        </p:grpSpPr>
        <p:sp>
          <p:nvSpPr>
            <p:cNvPr id="10" name="Freeform 3">
              <a:extLst>
                <a:ext uri="{FF2B5EF4-FFF2-40B4-BE49-F238E27FC236}">
                  <a16:creationId xmlns:a16="http://schemas.microsoft.com/office/drawing/2014/main" id="{01875B89-B0EF-A256-0A0E-7E544D3440F5}"/>
                </a:ext>
              </a:extLst>
            </p:cNvPr>
            <p:cNvSpPr/>
            <p:nvPr/>
          </p:nvSpPr>
          <p:spPr>
            <a:xfrm>
              <a:off x="0" y="0"/>
              <a:ext cx="2605710" cy="2811654"/>
            </a:xfrm>
            <a:custGeom>
              <a:avLst/>
              <a:gdLst/>
              <a:ahLst/>
              <a:cxnLst/>
              <a:rect l="l" t="t" r="r" b="b"/>
              <a:pathLst>
                <a:path w="2605710" h="2913974">
                  <a:moveTo>
                    <a:pt x="0" y="0"/>
                  </a:moveTo>
                  <a:lnTo>
                    <a:pt x="2605710" y="0"/>
                  </a:lnTo>
                  <a:lnTo>
                    <a:pt x="2605710"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11" name="TextBox 4">
              <a:extLst>
                <a:ext uri="{FF2B5EF4-FFF2-40B4-BE49-F238E27FC236}">
                  <a16:creationId xmlns:a16="http://schemas.microsoft.com/office/drawing/2014/main" id="{828C4BDA-4544-9F3C-8845-06929547FCA8}"/>
                </a:ext>
              </a:extLst>
            </p:cNvPr>
            <p:cNvSpPr txBox="1"/>
            <p:nvPr/>
          </p:nvSpPr>
          <p:spPr>
            <a:xfrm>
              <a:off x="0" y="-38100"/>
              <a:ext cx="2605710" cy="2952074"/>
            </a:xfrm>
            <a:prstGeom prst="rect">
              <a:avLst/>
            </a:prstGeom>
          </p:spPr>
          <p:txBody>
            <a:bodyPr lIns="50800" tIns="50800" rIns="50800" bIns="50800" rtlCol="0" anchor="ctr"/>
            <a:lstStyle/>
            <a:p>
              <a:pPr algn="ctr">
                <a:lnSpc>
                  <a:spcPts val="2659"/>
                </a:lnSpc>
              </a:pPr>
              <a:endParaRPr/>
            </a:p>
          </p:txBody>
        </p:sp>
      </p:grpSp>
      <p:sp>
        <p:nvSpPr>
          <p:cNvPr id="2" name="TextBox 2"/>
          <p:cNvSpPr txBox="1"/>
          <p:nvPr/>
        </p:nvSpPr>
        <p:spPr>
          <a:xfrm>
            <a:off x="224553" y="451063"/>
            <a:ext cx="9525000" cy="1853392"/>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Hallucinated References</a:t>
            </a:r>
          </a:p>
        </p:txBody>
      </p:sp>
      <p:grpSp>
        <p:nvGrpSpPr>
          <p:cNvPr id="7" name="Group 7"/>
          <p:cNvGrpSpPr/>
          <p:nvPr/>
        </p:nvGrpSpPr>
        <p:grpSpPr>
          <a:xfrm>
            <a:off x="2133600" y="2311347"/>
            <a:ext cx="5867400" cy="3440219"/>
            <a:chOff x="0" y="-38100"/>
            <a:chExt cx="1356148" cy="504498"/>
          </a:xfrm>
        </p:grpSpPr>
        <p:sp>
          <p:nvSpPr>
            <p:cNvPr id="8" name="Freeform 8"/>
            <p:cNvSpPr/>
            <p:nvPr/>
          </p:nvSpPr>
          <p:spPr>
            <a:xfrm>
              <a:off x="0" y="0"/>
              <a:ext cx="1340099" cy="428298"/>
            </a:xfrm>
            <a:custGeom>
              <a:avLst/>
              <a:gdLst/>
              <a:ahLst/>
              <a:cxnLst/>
              <a:rect l="l" t="t" r="r" b="b"/>
              <a:pathLst>
                <a:path w="1340099" h="428298">
                  <a:moveTo>
                    <a:pt x="0" y="0"/>
                  </a:moveTo>
                  <a:lnTo>
                    <a:pt x="1340099" y="0"/>
                  </a:lnTo>
                  <a:lnTo>
                    <a:pt x="1340099" y="428298"/>
                  </a:lnTo>
                  <a:lnTo>
                    <a:pt x="0" y="428298"/>
                  </a:lnTo>
                  <a:close/>
                </a:path>
              </a:pathLst>
            </a:custGeom>
            <a:solidFill>
              <a:srgbClr val="ADC2A7"/>
            </a:solidFill>
            <a:ln w="47625" cap="sq">
              <a:solidFill>
                <a:srgbClr val="000000"/>
              </a:solidFill>
              <a:prstDash val="solid"/>
              <a:miter/>
            </a:ln>
          </p:spPr>
          <p:txBody>
            <a:bodyPr/>
            <a:lstStyle/>
            <a:p>
              <a:endParaRPr lang="en-ZA" dirty="0"/>
            </a:p>
          </p:txBody>
        </p:sp>
        <p:sp>
          <p:nvSpPr>
            <p:cNvPr id="9" name="TextBox 9"/>
            <p:cNvSpPr txBox="1"/>
            <p:nvPr/>
          </p:nvSpPr>
          <p:spPr>
            <a:xfrm>
              <a:off x="16049" y="-38100"/>
              <a:ext cx="1340099" cy="504498"/>
            </a:xfrm>
            <a:prstGeom prst="rect">
              <a:avLst/>
            </a:prstGeom>
          </p:spPr>
          <p:txBody>
            <a:bodyPr lIns="50800" tIns="50800" rIns="50800" bIns="50800" rtlCol="0" anchor="ctr"/>
            <a:lstStyle/>
            <a:p>
              <a:pPr>
                <a:lnSpc>
                  <a:spcPts val="3749"/>
                </a:lnSpc>
              </a:pPr>
              <a:r>
                <a:rPr lang="en-US" sz="2800" dirty="0">
                  <a:solidFill>
                    <a:srgbClr val="000000"/>
                  </a:solidFill>
                  <a:latin typeface="Open Sauce"/>
                  <a:ea typeface="Open Sauce"/>
                  <a:cs typeface="Open Sauce"/>
                  <a:sym typeface="Open Sauce"/>
                </a:rPr>
                <a:t>Why AI "Hallucinates" Citations:</a:t>
              </a:r>
            </a:p>
            <a:p>
              <a:pPr>
                <a:lnSpc>
                  <a:spcPts val="3200"/>
                </a:lnSpc>
              </a:pPr>
              <a:endParaRPr lang="en-US" sz="2800" dirty="0">
                <a:solidFill>
                  <a:srgbClr val="000000"/>
                </a:solidFill>
                <a:latin typeface="Open Sauce"/>
                <a:ea typeface="Open Sauce"/>
                <a:cs typeface="Open Sauce"/>
                <a:sym typeface="Open Sauce"/>
              </a:endParaRPr>
            </a:p>
            <a:p>
              <a:pPr marL="457200" indent="-457200">
                <a:lnSpc>
                  <a:spcPts val="3749"/>
                </a:lnSpc>
                <a:buFont typeface="Arial" panose="020B0604020202020204" pitchFamily="34" charset="0"/>
                <a:buChar char="•"/>
              </a:pPr>
              <a:r>
                <a:rPr lang="en-US" sz="2400" dirty="0">
                  <a:solidFill>
                    <a:srgbClr val="000000"/>
                  </a:solidFill>
                  <a:latin typeface="Open Sauce"/>
                  <a:ea typeface="Open Sauce"/>
                  <a:cs typeface="Open Sauce"/>
                  <a:sym typeface="Open Sauce"/>
                </a:rPr>
                <a:t>Probabilistic Guessing</a:t>
              </a:r>
            </a:p>
            <a:p>
              <a:pPr marL="457200" indent="-457200">
                <a:lnSpc>
                  <a:spcPts val="3749"/>
                </a:lnSpc>
                <a:buFont typeface="Arial" panose="020B0604020202020204" pitchFamily="34" charset="0"/>
                <a:buChar char="•"/>
              </a:pPr>
              <a:r>
                <a:rPr lang="en-US" sz="2400" dirty="0">
                  <a:solidFill>
                    <a:srgbClr val="000000"/>
                  </a:solidFill>
                  <a:latin typeface="Open Sauce"/>
                  <a:ea typeface="Open Sauce"/>
                  <a:cs typeface="Open Sauce"/>
                  <a:sym typeface="Open Sauce"/>
                </a:rPr>
                <a:t>Authoritative Tone</a:t>
              </a:r>
            </a:p>
            <a:p>
              <a:pPr marL="457200" indent="-457200">
                <a:lnSpc>
                  <a:spcPts val="3749"/>
                </a:lnSpc>
                <a:buFont typeface="Arial" panose="020B0604020202020204" pitchFamily="34" charset="0"/>
                <a:buChar char="•"/>
              </a:pPr>
              <a:r>
                <a:rPr lang="en-US" sz="2400" dirty="0">
                  <a:solidFill>
                    <a:srgbClr val="000000"/>
                  </a:solidFill>
                  <a:latin typeface="Open Sauce"/>
                  <a:ea typeface="Open Sauce"/>
                  <a:cs typeface="Open Sauce"/>
                  <a:sym typeface="Open Sauce"/>
                </a:rPr>
                <a:t>Knowledge Gaps</a:t>
              </a:r>
            </a:p>
          </p:txBody>
        </p:sp>
      </p:grpSp>
      <p:sp>
        <p:nvSpPr>
          <p:cNvPr id="5" name="Freeform 7">
            <a:extLst>
              <a:ext uri="{FF2B5EF4-FFF2-40B4-BE49-F238E27FC236}">
                <a16:creationId xmlns:a16="http://schemas.microsoft.com/office/drawing/2014/main" id="{956B6104-5AB0-83C7-AAED-52A6E7141C81}"/>
              </a:ext>
            </a:extLst>
          </p:cNvPr>
          <p:cNvSpPr/>
          <p:nvPr/>
        </p:nvSpPr>
        <p:spPr>
          <a:xfrm>
            <a:off x="11353800" y="2214592"/>
            <a:ext cx="6252447" cy="8072408"/>
          </a:xfrm>
          <a:custGeom>
            <a:avLst/>
            <a:gdLst/>
            <a:ahLst/>
            <a:cxnLst/>
            <a:rect l="l" t="t" r="r" b="b"/>
            <a:pathLst>
              <a:path w="6252447" h="8072408">
                <a:moveTo>
                  <a:pt x="0" y="0"/>
                </a:moveTo>
                <a:lnTo>
                  <a:pt x="6252447" y="0"/>
                </a:lnTo>
                <a:lnTo>
                  <a:pt x="6252447" y="8072408"/>
                </a:lnTo>
                <a:lnTo>
                  <a:pt x="0" y="80724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TextBox 3">
            <a:extLst>
              <a:ext uri="{FF2B5EF4-FFF2-40B4-BE49-F238E27FC236}">
                <a16:creationId xmlns:a16="http://schemas.microsoft.com/office/drawing/2014/main" id="{B0A77CBA-8A2E-4F9A-29DA-D012C42E1A32}"/>
              </a:ext>
            </a:extLst>
          </p:cNvPr>
          <p:cNvSpPr txBox="1"/>
          <p:nvPr/>
        </p:nvSpPr>
        <p:spPr>
          <a:xfrm>
            <a:off x="681753" y="9392334"/>
            <a:ext cx="8610600" cy="646331"/>
          </a:xfrm>
          <a:prstGeom prst="rect">
            <a:avLst/>
          </a:prstGeom>
          <a:noFill/>
        </p:spPr>
        <p:txBody>
          <a:bodyPr wrap="square" rtlCol="0">
            <a:spAutoFit/>
          </a:bodyPr>
          <a:lstStyle/>
          <a:p>
            <a:pPr algn="ctr"/>
            <a:r>
              <a:rPr lang="en-US" dirty="0" err="1"/>
              <a:t>Naddaf</a:t>
            </a:r>
            <a:r>
              <a:rPr lang="en-US" dirty="0"/>
              <a:t>, M. and Quill, E. 2026. </a:t>
            </a:r>
            <a:r>
              <a:rPr lang="en-US" i="1" dirty="0"/>
              <a:t>Hallucinated citations are polluting the scientific literature. What can be done? </a:t>
            </a:r>
            <a:r>
              <a:rPr lang="en-US" dirty="0">
                <a:hlinkClick r:id="rId4"/>
              </a:rPr>
              <a:t>https://www.nature.com/articles/d41586-026-00969-z</a:t>
            </a:r>
            <a:r>
              <a:rPr lang="en-US" dirty="0"/>
              <a:t> [17 April 2026].</a:t>
            </a:r>
            <a:endParaRPr lang="en-ZA" dirty="0"/>
          </a:p>
        </p:txBody>
      </p:sp>
      <p:grpSp>
        <p:nvGrpSpPr>
          <p:cNvPr id="13" name="Group 7">
            <a:extLst>
              <a:ext uri="{FF2B5EF4-FFF2-40B4-BE49-F238E27FC236}">
                <a16:creationId xmlns:a16="http://schemas.microsoft.com/office/drawing/2014/main" id="{5B327786-B5CE-3026-5BF4-F8F46A3DFF2A}"/>
              </a:ext>
            </a:extLst>
          </p:cNvPr>
          <p:cNvGrpSpPr/>
          <p:nvPr/>
        </p:nvGrpSpPr>
        <p:grpSpPr>
          <a:xfrm>
            <a:off x="2171700" y="5779673"/>
            <a:ext cx="5867400" cy="3440219"/>
            <a:chOff x="0" y="-38100"/>
            <a:chExt cx="1356148" cy="504498"/>
          </a:xfrm>
        </p:grpSpPr>
        <p:sp>
          <p:nvSpPr>
            <p:cNvPr id="14" name="Freeform 8">
              <a:extLst>
                <a:ext uri="{FF2B5EF4-FFF2-40B4-BE49-F238E27FC236}">
                  <a16:creationId xmlns:a16="http://schemas.microsoft.com/office/drawing/2014/main" id="{48C8D08A-A961-39D6-7172-BE004A74A90D}"/>
                </a:ext>
              </a:extLst>
            </p:cNvPr>
            <p:cNvSpPr/>
            <p:nvPr/>
          </p:nvSpPr>
          <p:spPr>
            <a:xfrm>
              <a:off x="0" y="0"/>
              <a:ext cx="1340099" cy="428298"/>
            </a:xfrm>
            <a:custGeom>
              <a:avLst/>
              <a:gdLst/>
              <a:ahLst/>
              <a:cxnLst/>
              <a:rect l="l" t="t" r="r" b="b"/>
              <a:pathLst>
                <a:path w="1340099" h="428298">
                  <a:moveTo>
                    <a:pt x="0" y="0"/>
                  </a:moveTo>
                  <a:lnTo>
                    <a:pt x="1340099" y="0"/>
                  </a:lnTo>
                  <a:lnTo>
                    <a:pt x="1340099" y="428298"/>
                  </a:lnTo>
                  <a:lnTo>
                    <a:pt x="0" y="428298"/>
                  </a:lnTo>
                  <a:close/>
                </a:path>
              </a:pathLst>
            </a:custGeom>
            <a:solidFill>
              <a:srgbClr val="ADC2A7"/>
            </a:solidFill>
            <a:ln w="47625" cap="sq">
              <a:solidFill>
                <a:srgbClr val="000000"/>
              </a:solidFill>
              <a:prstDash val="solid"/>
              <a:miter/>
            </a:ln>
          </p:spPr>
          <p:txBody>
            <a:bodyPr/>
            <a:lstStyle/>
            <a:p>
              <a:endParaRPr lang="en-ZA" dirty="0"/>
            </a:p>
          </p:txBody>
        </p:sp>
        <p:sp>
          <p:nvSpPr>
            <p:cNvPr id="15" name="TextBox 9">
              <a:extLst>
                <a:ext uri="{FF2B5EF4-FFF2-40B4-BE49-F238E27FC236}">
                  <a16:creationId xmlns:a16="http://schemas.microsoft.com/office/drawing/2014/main" id="{B70E785A-8C3A-9BAC-3C12-B00921628B8D}"/>
                </a:ext>
              </a:extLst>
            </p:cNvPr>
            <p:cNvSpPr txBox="1"/>
            <p:nvPr/>
          </p:nvSpPr>
          <p:spPr>
            <a:xfrm>
              <a:off x="16049" y="-38100"/>
              <a:ext cx="1340099" cy="504498"/>
            </a:xfrm>
            <a:prstGeom prst="rect">
              <a:avLst/>
            </a:prstGeom>
          </p:spPr>
          <p:txBody>
            <a:bodyPr lIns="50800" tIns="50800" rIns="50800" bIns="50800" rtlCol="0" anchor="ctr"/>
            <a:lstStyle/>
            <a:p>
              <a:pPr>
                <a:lnSpc>
                  <a:spcPts val="3749"/>
                </a:lnSpc>
              </a:pPr>
              <a:r>
                <a:rPr lang="en-US" sz="2800" dirty="0">
                  <a:solidFill>
                    <a:srgbClr val="000000"/>
                  </a:solidFill>
                  <a:latin typeface="Open Sauce"/>
                  <a:ea typeface="Open Sauce"/>
                  <a:cs typeface="Open Sauce"/>
                  <a:sym typeface="Open Sauce"/>
                </a:rPr>
                <a:t>Risk for Students:</a:t>
              </a:r>
            </a:p>
            <a:p>
              <a:pPr>
                <a:lnSpc>
                  <a:spcPts val="3200"/>
                </a:lnSpc>
              </a:pPr>
              <a:endParaRPr lang="en-US" sz="2800" dirty="0">
                <a:solidFill>
                  <a:srgbClr val="000000"/>
                </a:solidFill>
                <a:latin typeface="Open Sauce"/>
                <a:ea typeface="Open Sauce"/>
                <a:cs typeface="Open Sauce"/>
                <a:sym typeface="Open Sauce"/>
              </a:endParaRPr>
            </a:p>
            <a:p>
              <a:pPr marL="457200" indent="-457200">
                <a:lnSpc>
                  <a:spcPts val="3749"/>
                </a:lnSpc>
                <a:buFont typeface="Arial" panose="020B0604020202020204" pitchFamily="34" charset="0"/>
                <a:buChar char="•"/>
              </a:pPr>
              <a:r>
                <a:rPr lang="en-US" sz="2400" dirty="0">
                  <a:solidFill>
                    <a:srgbClr val="000000"/>
                  </a:solidFill>
                  <a:latin typeface="Open Sauce"/>
                  <a:ea typeface="Open Sauce"/>
                  <a:cs typeface="Open Sauce"/>
                  <a:sym typeface="Open Sauce"/>
                </a:rPr>
                <a:t>Academic Misconduct</a:t>
              </a:r>
            </a:p>
            <a:p>
              <a:pPr marL="457200" indent="-457200">
                <a:lnSpc>
                  <a:spcPts val="3749"/>
                </a:lnSpc>
                <a:buFont typeface="Arial" panose="020B0604020202020204" pitchFamily="34" charset="0"/>
                <a:buChar char="•"/>
              </a:pPr>
              <a:r>
                <a:rPr lang="en-US" sz="2400" dirty="0">
                  <a:solidFill>
                    <a:srgbClr val="000000"/>
                  </a:solidFill>
                  <a:latin typeface="Open Sauce"/>
                  <a:ea typeface="Open Sauce"/>
                  <a:cs typeface="Open Sauce"/>
                  <a:sym typeface="Open Sauce"/>
                </a:rPr>
                <a:t>Credibility Loss</a:t>
              </a:r>
            </a:p>
            <a:p>
              <a:pPr marL="457200" indent="-457200">
                <a:lnSpc>
                  <a:spcPts val="3749"/>
                </a:lnSpc>
                <a:buFont typeface="Arial" panose="020B0604020202020204" pitchFamily="34" charset="0"/>
                <a:buChar char="•"/>
              </a:pPr>
              <a:r>
                <a:rPr lang="en-US" sz="2400" dirty="0">
                  <a:solidFill>
                    <a:srgbClr val="000000"/>
                  </a:solidFill>
                  <a:latin typeface="Open Sauce"/>
                  <a:ea typeface="Open Sauce"/>
                  <a:cs typeface="Open Sauce"/>
                  <a:sym typeface="Open Sauce"/>
                </a:rPr>
                <a:t>Limited Scope</a:t>
              </a:r>
            </a:p>
          </p:txBody>
        </p:sp>
      </p:grpSp>
    </p:spTree>
    <p:extLst>
      <p:ext uri="{BB962C8B-B14F-4D97-AF65-F5344CB8AC3E}">
        <p14:creationId xmlns:p14="http://schemas.microsoft.com/office/powerpoint/2010/main" val="2530106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grpSp>
        <p:nvGrpSpPr>
          <p:cNvPr id="2" name="Group 2"/>
          <p:cNvGrpSpPr/>
          <p:nvPr/>
        </p:nvGrpSpPr>
        <p:grpSpPr>
          <a:xfrm>
            <a:off x="-1000068" y="-388498"/>
            <a:ext cx="9893554" cy="11063997"/>
            <a:chOff x="0" y="0"/>
            <a:chExt cx="2605710" cy="2913974"/>
          </a:xfrm>
        </p:grpSpPr>
        <p:sp>
          <p:nvSpPr>
            <p:cNvPr id="3" name="Freeform 3"/>
            <p:cNvSpPr/>
            <p:nvPr/>
          </p:nvSpPr>
          <p:spPr>
            <a:xfrm>
              <a:off x="0" y="0"/>
              <a:ext cx="2605710" cy="2913974"/>
            </a:xfrm>
            <a:custGeom>
              <a:avLst/>
              <a:gdLst/>
              <a:ahLst/>
              <a:cxnLst/>
              <a:rect l="l" t="t" r="r" b="b"/>
              <a:pathLst>
                <a:path w="2605710" h="2913974">
                  <a:moveTo>
                    <a:pt x="0" y="0"/>
                  </a:moveTo>
                  <a:lnTo>
                    <a:pt x="2605710" y="0"/>
                  </a:lnTo>
                  <a:lnTo>
                    <a:pt x="2605710"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4" name="TextBox 4"/>
            <p:cNvSpPr txBox="1"/>
            <p:nvPr/>
          </p:nvSpPr>
          <p:spPr>
            <a:xfrm>
              <a:off x="0" y="-38100"/>
              <a:ext cx="2605710" cy="295207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260385" y="1133258"/>
            <a:ext cx="7889239" cy="8020483"/>
          </a:xfrm>
          <a:custGeom>
            <a:avLst/>
            <a:gdLst/>
            <a:ahLst/>
            <a:cxnLst/>
            <a:rect l="l" t="t" r="r" b="b"/>
            <a:pathLst>
              <a:path w="7889239" h="8020483">
                <a:moveTo>
                  <a:pt x="0" y="0"/>
                </a:moveTo>
                <a:lnTo>
                  <a:pt x="7889239" y="0"/>
                </a:lnTo>
                <a:lnTo>
                  <a:pt x="7889239" y="8020483"/>
                </a:lnTo>
                <a:lnTo>
                  <a:pt x="0" y="80204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TextBox 6"/>
          <p:cNvSpPr txBox="1"/>
          <p:nvPr/>
        </p:nvSpPr>
        <p:spPr>
          <a:xfrm>
            <a:off x="9144000" y="291855"/>
            <a:ext cx="8839200" cy="930063"/>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Citing AI at CPUT</a:t>
            </a:r>
          </a:p>
        </p:txBody>
      </p:sp>
      <p:sp>
        <p:nvSpPr>
          <p:cNvPr id="7" name="TextBox 7"/>
          <p:cNvSpPr txBox="1"/>
          <p:nvPr/>
        </p:nvSpPr>
        <p:spPr>
          <a:xfrm>
            <a:off x="9394516" y="3087384"/>
            <a:ext cx="8296802" cy="5056192"/>
          </a:xfrm>
          <a:prstGeom prst="rect">
            <a:avLst/>
          </a:prstGeom>
        </p:spPr>
        <p:txBody>
          <a:bodyPr wrap="square" lIns="0" tIns="0" rIns="0" bIns="0" rtlCol="0" anchor="t">
            <a:spAutoFit/>
          </a:bodyPr>
          <a:lstStyle/>
          <a:p>
            <a:pPr algn="just">
              <a:lnSpc>
                <a:spcPct val="150000"/>
              </a:lnSpc>
            </a:pPr>
            <a:r>
              <a:rPr lang="en-US" sz="3399" dirty="0">
                <a:solidFill>
                  <a:srgbClr val="000000"/>
                </a:solidFill>
                <a:latin typeface="Open Sauce"/>
                <a:ea typeface="Open Sauce"/>
                <a:cs typeface="Open Sauce"/>
                <a:sym typeface="Open Sauce"/>
              </a:rPr>
              <a:t>What does CPUT’s Plagiarism Policy say about AI-generated content?</a:t>
            </a:r>
          </a:p>
          <a:p>
            <a:pPr algn="just">
              <a:lnSpc>
                <a:spcPct val="150000"/>
              </a:lnSpc>
            </a:pPr>
            <a:endParaRPr lang="en-US" sz="3399" dirty="0">
              <a:solidFill>
                <a:srgbClr val="000000"/>
              </a:solidFill>
              <a:latin typeface="Open Sauce"/>
              <a:ea typeface="Open Sauce"/>
              <a:cs typeface="Open Sauce"/>
              <a:sym typeface="Open Sauce"/>
            </a:endParaRPr>
          </a:p>
          <a:p>
            <a:pPr algn="just">
              <a:lnSpc>
                <a:spcPct val="150000"/>
              </a:lnSpc>
            </a:pPr>
            <a:r>
              <a:rPr lang="en-US" sz="2400" dirty="0">
                <a:solidFill>
                  <a:srgbClr val="000000"/>
                </a:solidFill>
                <a:latin typeface="Open Sauce"/>
                <a:ea typeface="Open Sauce"/>
                <a:cs typeface="Open Sauce"/>
                <a:sym typeface="Open Sauce"/>
              </a:rPr>
              <a:t>As a student of CPUT, you agree to adhere to the University’s Policies, Rules and Guidelines. The CPUT Plagiarism Policy says the following about electronically-generated content, of which AI-generated content falls under…</a:t>
            </a:r>
          </a:p>
        </p:txBody>
      </p:sp>
      <p:sp>
        <p:nvSpPr>
          <p:cNvPr id="9" name="TextBox 8">
            <a:extLst>
              <a:ext uri="{FF2B5EF4-FFF2-40B4-BE49-F238E27FC236}">
                <a16:creationId xmlns:a16="http://schemas.microsoft.com/office/drawing/2014/main" id="{D0DCBF21-947D-14D6-FA0A-8447525F1299}"/>
              </a:ext>
            </a:extLst>
          </p:cNvPr>
          <p:cNvSpPr txBox="1"/>
          <p:nvPr/>
        </p:nvSpPr>
        <p:spPr>
          <a:xfrm>
            <a:off x="-100295" y="9402961"/>
            <a:ext cx="8610600" cy="369332"/>
          </a:xfrm>
          <a:prstGeom prst="rect">
            <a:avLst/>
          </a:prstGeom>
          <a:noFill/>
        </p:spPr>
        <p:txBody>
          <a:bodyPr wrap="square" rtlCol="0">
            <a:spAutoFit/>
          </a:bodyPr>
          <a:lstStyle/>
          <a:p>
            <a:pPr algn="ctr"/>
            <a:r>
              <a:rPr lang="en-US" dirty="0">
                <a:hlinkClick r:id="rId4"/>
              </a:rPr>
              <a:t>CPUT Student AI Practical Guide</a:t>
            </a:r>
            <a:endParaRPr lang="en-ZA" dirty="0"/>
          </a:p>
        </p:txBody>
      </p:sp>
    </p:spTree>
    <p:extLst>
      <p:ext uri="{BB962C8B-B14F-4D97-AF65-F5344CB8AC3E}">
        <p14:creationId xmlns:p14="http://schemas.microsoft.com/office/powerpoint/2010/main" val="7464608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2" name="TextBox 2"/>
          <p:cNvSpPr txBox="1"/>
          <p:nvPr/>
        </p:nvSpPr>
        <p:spPr>
          <a:xfrm>
            <a:off x="3357894" y="571500"/>
            <a:ext cx="11572212" cy="930063"/>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Plagiarism</a:t>
            </a:r>
          </a:p>
        </p:txBody>
      </p:sp>
      <p:pic>
        <p:nvPicPr>
          <p:cNvPr id="2050" name="Picture 2">
            <a:extLst>
              <a:ext uri="{FF2B5EF4-FFF2-40B4-BE49-F238E27FC236}">
                <a16:creationId xmlns:a16="http://schemas.microsoft.com/office/drawing/2014/main" id="{0C0F4061-E7F9-C317-60E2-F086006FB9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580" y="2247900"/>
            <a:ext cx="16828839" cy="6851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2634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2" name="TextBox 2"/>
          <p:cNvSpPr txBox="1"/>
          <p:nvPr/>
        </p:nvSpPr>
        <p:spPr>
          <a:xfrm>
            <a:off x="3357894" y="3293474"/>
            <a:ext cx="11572212" cy="3700052"/>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How should I acknowledge, declare the use of, and cite AI-generated content?</a:t>
            </a:r>
          </a:p>
        </p:txBody>
      </p:sp>
    </p:spTree>
    <p:extLst>
      <p:ext uri="{BB962C8B-B14F-4D97-AF65-F5344CB8AC3E}">
        <p14:creationId xmlns:p14="http://schemas.microsoft.com/office/powerpoint/2010/main" val="145181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grpSp>
        <p:nvGrpSpPr>
          <p:cNvPr id="2" name="Group 2"/>
          <p:cNvGrpSpPr/>
          <p:nvPr/>
        </p:nvGrpSpPr>
        <p:grpSpPr>
          <a:xfrm>
            <a:off x="0" y="-388498"/>
            <a:ext cx="7010400" cy="11063997"/>
            <a:chOff x="0" y="0"/>
            <a:chExt cx="2414557" cy="2913974"/>
          </a:xfrm>
        </p:grpSpPr>
        <p:sp>
          <p:nvSpPr>
            <p:cNvPr id="3" name="Freeform 3"/>
            <p:cNvSpPr/>
            <p:nvPr/>
          </p:nvSpPr>
          <p:spPr>
            <a:xfrm>
              <a:off x="0" y="0"/>
              <a:ext cx="2414557" cy="2913974"/>
            </a:xfrm>
            <a:custGeom>
              <a:avLst/>
              <a:gdLst/>
              <a:ahLst/>
              <a:cxnLst/>
              <a:rect l="l" t="t" r="r" b="b"/>
              <a:pathLst>
                <a:path w="2414557" h="2913974">
                  <a:moveTo>
                    <a:pt x="0" y="0"/>
                  </a:moveTo>
                  <a:lnTo>
                    <a:pt x="2414557" y="0"/>
                  </a:lnTo>
                  <a:lnTo>
                    <a:pt x="2414557"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4" name="TextBox 4"/>
            <p:cNvSpPr txBox="1"/>
            <p:nvPr/>
          </p:nvSpPr>
          <p:spPr>
            <a:xfrm>
              <a:off x="0" y="-38100"/>
              <a:ext cx="2414557" cy="2952074"/>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8382000" y="446093"/>
            <a:ext cx="8992220" cy="1853392"/>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Acknowledgements and Declarations</a:t>
            </a:r>
          </a:p>
        </p:txBody>
      </p:sp>
      <p:sp>
        <p:nvSpPr>
          <p:cNvPr id="6" name="TextBox 6"/>
          <p:cNvSpPr txBox="1"/>
          <p:nvPr/>
        </p:nvSpPr>
        <p:spPr>
          <a:xfrm>
            <a:off x="7313984" y="2933700"/>
            <a:ext cx="10669216" cy="6032421"/>
          </a:xfrm>
          <a:prstGeom prst="rect">
            <a:avLst/>
          </a:prstGeom>
        </p:spPr>
        <p:txBody>
          <a:bodyPr wrap="square" lIns="0" tIns="0" rIns="0" bIns="0" rtlCol="0" anchor="t">
            <a:spAutoFit/>
          </a:bodyPr>
          <a:lstStyle/>
          <a:p>
            <a:pPr algn="just">
              <a:lnSpc>
                <a:spcPct val="150000"/>
              </a:lnSpc>
            </a:pPr>
            <a:r>
              <a:rPr lang="en-US" sz="2400" b="0" i="1" dirty="0">
                <a:solidFill>
                  <a:srgbClr val="333333"/>
                </a:solidFill>
                <a:effectLst/>
                <a:latin typeface="Open Sauce" panose="020B0604020202020204" charset="0"/>
              </a:rPr>
              <a:t>“I acknowledge the use of </a:t>
            </a:r>
            <a:r>
              <a:rPr lang="en-US" sz="2400" b="1" i="1" dirty="0">
                <a:solidFill>
                  <a:srgbClr val="333333"/>
                </a:solidFill>
                <a:effectLst/>
                <a:latin typeface="Open Sauce" panose="020B0604020202020204" charset="0"/>
              </a:rPr>
              <a:t>[</a:t>
            </a:r>
            <a:r>
              <a:rPr lang="en-US" sz="2400" b="1" i="1" u="sng" dirty="0">
                <a:solidFill>
                  <a:srgbClr val="333333"/>
                </a:solidFill>
                <a:effectLst/>
                <a:latin typeface="Open Sauce" panose="020B0604020202020204" charset="0"/>
              </a:rPr>
              <a:t>AI tool used</a:t>
            </a:r>
            <a:r>
              <a:rPr lang="en-US" sz="2400" b="0" i="1" dirty="0">
                <a:solidFill>
                  <a:srgbClr val="333333"/>
                </a:solidFill>
                <a:effectLst/>
                <a:latin typeface="Open Sauce" panose="020B0604020202020204" charset="0"/>
              </a:rPr>
              <a:t>] to [</a:t>
            </a:r>
            <a:r>
              <a:rPr lang="en-US" sz="2400" b="1" i="1" u="sng" dirty="0">
                <a:solidFill>
                  <a:srgbClr val="333333"/>
                </a:solidFill>
                <a:effectLst/>
                <a:latin typeface="Open Sauce" panose="020B0604020202020204" charset="0"/>
              </a:rPr>
              <a:t>what was the use case?</a:t>
            </a:r>
            <a:r>
              <a:rPr lang="en-US" sz="2400" b="0" i="1" dirty="0">
                <a:solidFill>
                  <a:srgbClr val="333333"/>
                </a:solidFill>
                <a:effectLst/>
                <a:latin typeface="Open Sauce" panose="020B0604020202020204" charset="0"/>
              </a:rPr>
              <a:t> E.g. help me structure this essay]. I entered this prompt on [</a:t>
            </a:r>
            <a:r>
              <a:rPr lang="en-US" sz="2400" b="1" i="1" dirty="0">
                <a:solidFill>
                  <a:srgbClr val="333333"/>
                </a:solidFill>
                <a:effectLst/>
                <a:latin typeface="Open Sauce" panose="020B0604020202020204" charset="0"/>
              </a:rPr>
              <a:t>date</a:t>
            </a:r>
            <a:r>
              <a:rPr lang="en-US" sz="2400" b="0" i="1" dirty="0">
                <a:solidFill>
                  <a:srgbClr val="333333"/>
                </a:solidFill>
                <a:effectLst/>
                <a:latin typeface="Open Sauce" panose="020B0604020202020204" charset="0"/>
              </a:rPr>
              <a:t>]: [</a:t>
            </a:r>
            <a:r>
              <a:rPr lang="en-US" sz="2400" b="1" i="1" dirty="0">
                <a:solidFill>
                  <a:srgbClr val="333333"/>
                </a:solidFill>
                <a:effectLst/>
                <a:latin typeface="Open Sauce" panose="020B0604020202020204" charset="0"/>
              </a:rPr>
              <a:t> </a:t>
            </a:r>
            <a:r>
              <a:rPr lang="en-US" sz="2400" b="1" i="1" u="sng" dirty="0">
                <a:solidFill>
                  <a:srgbClr val="333333"/>
                </a:solidFill>
                <a:effectLst/>
                <a:latin typeface="Open Sauce" panose="020B0604020202020204" charset="0"/>
              </a:rPr>
              <a:t>Specify the full prompt or list of prompts used</a:t>
            </a:r>
            <a:r>
              <a:rPr lang="en-US" sz="2400" b="0" i="1" dirty="0">
                <a:solidFill>
                  <a:srgbClr val="333333"/>
                </a:solidFill>
                <a:effectLst/>
                <a:latin typeface="Open Sauce" panose="020B0604020202020204" charset="0"/>
              </a:rPr>
              <a:t>]. The outputs from this prompt was used to [</a:t>
            </a:r>
            <a:r>
              <a:rPr lang="en-US" sz="2400" b="1" i="1" dirty="0">
                <a:solidFill>
                  <a:srgbClr val="333333"/>
                </a:solidFill>
                <a:effectLst/>
                <a:latin typeface="Open Sauce" panose="020B0604020202020204" charset="0"/>
              </a:rPr>
              <a:t>how did you use it and benefit from it</a:t>
            </a:r>
            <a:r>
              <a:rPr lang="en-US" sz="2400" b="0" i="1" dirty="0">
                <a:solidFill>
                  <a:srgbClr val="333333"/>
                </a:solidFill>
                <a:effectLst/>
                <a:latin typeface="Open Sauce" panose="020B0604020202020204" charset="0"/>
              </a:rPr>
              <a:t>, e.g. develop an argument for marine protection]. A copy of the original output has been attached to my submission.”</a:t>
            </a:r>
          </a:p>
          <a:p>
            <a:pPr algn="just">
              <a:lnSpc>
                <a:spcPct val="150000"/>
              </a:lnSpc>
            </a:pPr>
            <a:endParaRPr lang="en-US" sz="2400" b="0" i="1" dirty="0">
              <a:solidFill>
                <a:srgbClr val="333333"/>
              </a:solidFill>
              <a:effectLst/>
              <a:latin typeface="Open Sauce" panose="020B0604020202020204" charset="0"/>
            </a:endParaRPr>
          </a:p>
          <a:p>
            <a:pPr algn="just"/>
            <a:endParaRPr lang="en-US" sz="2000" b="0" i="0" dirty="0">
              <a:solidFill>
                <a:srgbClr val="333333"/>
              </a:solidFill>
              <a:effectLst/>
              <a:latin typeface="Open Sauce" panose="020B0604020202020204" charset="0"/>
            </a:endParaRPr>
          </a:p>
          <a:p>
            <a:pPr algn="just"/>
            <a:r>
              <a:rPr lang="en-US" sz="2000" b="0" i="0" dirty="0">
                <a:solidFill>
                  <a:srgbClr val="333333"/>
                </a:solidFill>
                <a:effectLst/>
                <a:latin typeface="Open Sauce" panose="020B0604020202020204" charset="0"/>
              </a:rPr>
              <a:t>So you must include, in your acknowledgements, at least 5 elements:</a:t>
            </a:r>
          </a:p>
          <a:p>
            <a:pPr marL="457200" indent="-457200" algn="just">
              <a:buFont typeface="+mj-lt"/>
              <a:buAutoNum type="arabicPeriod"/>
            </a:pPr>
            <a:r>
              <a:rPr lang="en-US" sz="2000" b="0" i="0" dirty="0">
                <a:solidFill>
                  <a:srgbClr val="333333"/>
                </a:solidFill>
                <a:effectLst/>
                <a:latin typeface="Open Sauce" panose="020B0604020202020204" charset="0"/>
              </a:rPr>
              <a:t>AI tool used</a:t>
            </a:r>
          </a:p>
          <a:p>
            <a:pPr marL="457200" indent="-457200" algn="just">
              <a:buFont typeface="+mj-lt"/>
              <a:buAutoNum type="arabicPeriod"/>
            </a:pPr>
            <a:r>
              <a:rPr lang="en-US" sz="2000" b="0" i="0" dirty="0">
                <a:solidFill>
                  <a:srgbClr val="333333"/>
                </a:solidFill>
                <a:effectLst/>
                <a:latin typeface="Open Sauce" panose="020B0604020202020204" charset="0"/>
              </a:rPr>
              <a:t>What was the use case?</a:t>
            </a:r>
          </a:p>
          <a:p>
            <a:pPr marL="457200" indent="-457200" algn="just">
              <a:buFont typeface="+mj-lt"/>
              <a:buAutoNum type="arabicPeriod"/>
            </a:pPr>
            <a:r>
              <a:rPr lang="en-US" sz="2000" b="0" i="0" dirty="0">
                <a:solidFill>
                  <a:srgbClr val="333333"/>
                </a:solidFill>
                <a:effectLst/>
                <a:latin typeface="Open Sauce" panose="020B0604020202020204" charset="0"/>
              </a:rPr>
              <a:t>Date used</a:t>
            </a:r>
          </a:p>
          <a:p>
            <a:pPr marL="457200" indent="-457200" algn="just">
              <a:buFont typeface="+mj-lt"/>
              <a:buAutoNum type="arabicPeriod"/>
            </a:pPr>
            <a:r>
              <a:rPr lang="en-US" sz="2000" b="0" i="0" dirty="0">
                <a:solidFill>
                  <a:srgbClr val="333333"/>
                </a:solidFill>
                <a:effectLst/>
                <a:latin typeface="Open Sauce" panose="020B0604020202020204" charset="0"/>
              </a:rPr>
              <a:t>Specify the full and actual prompt or list of prompts</a:t>
            </a:r>
          </a:p>
          <a:p>
            <a:pPr marL="457200" indent="-457200" algn="just">
              <a:buFont typeface="+mj-lt"/>
              <a:buAutoNum type="arabicPeriod"/>
            </a:pPr>
            <a:r>
              <a:rPr lang="en-US" sz="2000" b="0" i="0" dirty="0">
                <a:solidFill>
                  <a:srgbClr val="333333"/>
                </a:solidFill>
                <a:effectLst/>
                <a:latin typeface="Open Sauce" panose="020B0604020202020204" charset="0"/>
              </a:rPr>
              <a:t>How did you use it and benefit from it?</a:t>
            </a:r>
          </a:p>
        </p:txBody>
      </p:sp>
      <p:sp>
        <p:nvSpPr>
          <p:cNvPr id="7" name="Freeform 7"/>
          <p:cNvSpPr/>
          <p:nvPr/>
        </p:nvSpPr>
        <p:spPr>
          <a:xfrm>
            <a:off x="-303584" y="782551"/>
            <a:ext cx="6565486" cy="8577238"/>
          </a:xfrm>
          <a:custGeom>
            <a:avLst/>
            <a:gdLst/>
            <a:ahLst/>
            <a:cxnLst/>
            <a:rect l="l" t="t" r="r" b="b"/>
            <a:pathLst>
              <a:path w="6565486" h="8577238">
                <a:moveTo>
                  <a:pt x="0" y="0"/>
                </a:moveTo>
                <a:lnTo>
                  <a:pt x="6565486" y="0"/>
                </a:lnTo>
                <a:lnTo>
                  <a:pt x="6565486" y="8577238"/>
                </a:lnTo>
                <a:lnTo>
                  <a:pt x="0" y="857723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Tree>
    <p:extLst>
      <p:ext uri="{BB962C8B-B14F-4D97-AF65-F5344CB8AC3E}">
        <p14:creationId xmlns:p14="http://schemas.microsoft.com/office/powerpoint/2010/main" val="23077204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2" name="TextBox 2"/>
          <p:cNvSpPr txBox="1"/>
          <p:nvPr/>
        </p:nvSpPr>
        <p:spPr>
          <a:xfrm>
            <a:off x="800100" y="1542514"/>
            <a:ext cx="16687800" cy="7201972"/>
          </a:xfrm>
          <a:prstGeom prst="rect">
            <a:avLst/>
          </a:prstGeom>
        </p:spPr>
        <p:txBody>
          <a:bodyPr wrap="square" lIns="0" tIns="0" rIns="0" bIns="0" rtlCol="0" anchor="t">
            <a:spAutoFit/>
          </a:bodyPr>
          <a:lstStyle/>
          <a:p>
            <a:pPr marL="0" lvl="0" indent="0" algn="just"/>
            <a:r>
              <a:rPr lang="en-US" sz="3600" dirty="0">
                <a:solidFill>
                  <a:srgbClr val="000000"/>
                </a:solidFill>
                <a:latin typeface="Open Sauce" panose="020B0604020202020204" charset="0"/>
                <a:ea typeface="Sanchez"/>
                <a:cs typeface="Sanchez"/>
                <a:sym typeface="Sanchez"/>
              </a:rPr>
              <a:t>I acknowledge the use of ChatGPT (http://chat.openai.com/) to generate ideas for an essay on sustainable development. I entered the following prompt on 5th September 2024:</a:t>
            </a:r>
          </a:p>
          <a:p>
            <a:pPr marL="0" lvl="0" indent="0" algn="just"/>
            <a:endParaRPr lang="en-US" sz="3600" dirty="0">
              <a:solidFill>
                <a:srgbClr val="000000"/>
              </a:solidFill>
              <a:latin typeface="Open Sauce" panose="020B0604020202020204" charset="0"/>
              <a:ea typeface="Sanchez"/>
              <a:cs typeface="Sanchez"/>
              <a:sym typeface="Sanchez"/>
            </a:endParaRPr>
          </a:p>
          <a:p>
            <a:pPr marL="0" lvl="0" indent="0" algn="just"/>
            <a:r>
              <a:rPr lang="en-US" sz="3600" i="1" dirty="0">
                <a:solidFill>
                  <a:srgbClr val="000000"/>
                </a:solidFill>
                <a:latin typeface="Open Sauce" panose="020B0604020202020204" charset="0"/>
                <a:ea typeface="Sanchez"/>
                <a:cs typeface="Sanchez"/>
                <a:sym typeface="Sanchez"/>
              </a:rPr>
              <a:t>“I need to write an essay on the topic of ‘The Need for Sustainable Development’. Please provide me with five ideas that I can use to develop the essay, which is for a 2nd year university subject, in a Diploma in Architecture. You must also provide 5 references and 5 websites for me to refer to”</a:t>
            </a:r>
          </a:p>
          <a:p>
            <a:pPr marL="0" lvl="0" indent="0" algn="just"/>
            <a:endParaRPr lang="en-US" sz="3600" dirty="0">
              <a:solidFill>
                <a:srgbClr val="000000"/>
              </a:solidFill>
              <a:latin typeface="Open Sauce" panose="020B0604020202020204" charset="0"/>
              <a:ea typeface="Sanchez"/>
              <a:cs typeface="Sanchez"/>
              <a:sym typeface="Sanchez"/>
            </a:endParaRPr>
          </a:p>
          <a:p>
            <a:pPr marL="0" lvl="0" indent="0" algn="just"/>
            <a:r>
              <a:rPr lang="en-US" sz="3600" dirty="0">
                <a:solidFill>
                  <a:srgbClr val="000000"/>
                </a:solidFill>
                <a:latin typeface="Open Sauce" panose="020B0604020202020204" charset="0"/>
                <a:ea typeface="Sanchez"/>
                <a:cs typeface="Sanchez"/>
                <a:sym typeface="Sanchez"/>
              </a:rPr>
              <a:t>I then used the response from ChatGPT and modified it with my own knowledge and context to produce my final submission. A copy of the original output is included with my submission (See Appendix A)</a:t>
            </a:r>
          </a:p>
        </p:txBody>
      </p:sp>
    </p:spTree>
    <p:extLst>
      <p:ext uri="{BB962C8B-B14F-4D97-AF65-F5344CB8AC3E}">
        <p14:creationId xmlns:p14="http://schemas.microsoft.com/office/powerpoint/2010/main" val="570925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grpSp>
        <p:nvGrpSpPr>
          <p:cNvPr id="2" name="Group 2"/>
          <p:cNvGrpSpPr/>
          <p:nvPr/>
        </p:nvGrpSpPr>
        <p:grpSpPr>
          <a:xfrm>
            <a:off x="0" y="-388498"/>
            <a:ext cx="7010400" cy="11063997"/>
            <a:chOff x="0" y="0"/>
            <a:chExt cx="2414557" cy="2913974"/>
          </a:xfrm>
        </p:grpSpPr>
        <p:sp>
          <p:nvSpPr>
            <p:cNvPr id="3" name="Freeform 3"/>
            <p:cNvSpPr/>
            <p:nvPr/>
          </p:nvSpPr>
          <p:spPr>
            <a:xfrm>
              <a:off x="0" y="0"/>
              <a:ext cx="2414557" cy="2913974"/>
            </a:xfrm>
            <a:custGeom>
              <a:avLst/>
              <a:gdLst/>
              <a:ahLst/>
              <a:cxnLst/>
              <a:rect l="l" t="t" r="r" b="b"/>
              <a:pathLst>
                <a:path w="2414557" h="2913974">
                  <a:moveTo>
                    <a:pt x="0" y="0"/>
                  </a:moveTo>
                  <a:lnTo>
                    <a:pt x="2414557" y="0"/>
                  </a:lnTo>
                  <a:lnTo>
                    <a:pt x="2414557"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4" name="TextBox 4"/>
            <p:cNvSpPr txBox="1"/>
            <p:nvPr/>
          </p:nvSpPr>
          <p:spPr>
            <a:xfrm>
              <a:off x="0" y="-38100"/>
              <a:ext cx="2414557" cy="2952074"/>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8153400" y="3467100"/>
            <a:ext cx="8992220" cy="2776722"/>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Harvard Referencing for AI-generated work</a:t>
            </a:r>
          </a:p>
        </p:txBody>
      </p:sp>
      <p:sp>
        <p:nvSpPr>
          <p:cNvPr id="7" name="Freeform 7"/>
          <p:cNvSpPr/>
          <p:nvPr/>
        </p:nvSpPr>
        <p:spPr>
          <a:xfrm>
            <a:off x="-303584" y="782551"/>
            <a:ext cx="6565486" cy="8577238"/>
          </a:xfrm>
          <a:custGeom>
            <a:avLst/>
            <a:gdLst/>
            <a:ahLst/>
            <a:cxnLst/>
            <a:rect l="l" t="t" r="r" b="b"/>
            <a:pathLst>
              <a:path w="6565486" h="8577238">
                <a:moveTo>
                  <a:pt x="0" y="0"/>
                </a:moveTo>
                <a:lnTo>
                  <a:pt x="6565486" y="0"/>
                </a:lnTo>
                <a:lnTo>
                  <a:pt x="6565486" y="8577238"/>
                </a:lnTo>
                <a:lnTo>
                  <a:pt x="0" y="857723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Tree>
    <p:extLst>
      <p:ext uri="{BB962C8B-B14F-4D97-AF65-F5344CB8AC3E}">
        <p14:creationId xmlns:p14="http://schemas.microsoft.com/office/powerpoint/2010/main" val="1985680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grpSp>
        <p:nvGrpSpPr>
          <p:cNvPr id="7" name="Group 7"/>
          <p:cNvGrpSpPr/>
          <p:nvPr/>
        </p:nvGrpSpPr>
        <p:grpSpPr>
          <a:xfrm>
            <a:off x="2438400" y="589921"/>
            <a:ext cx="13411200" cy="2419980"/>
            <a:chOff x="0" y="-38100"/>
            <a:chExt cx="1356148" cy="504498"/>
          </a:xfrm>
        </p:grpSpPr>
        <p:sp>
          <p:nvSpPr>
            <p:cNvPr id="8" name="Freeform 8"/>
            <p:cNvSpPr/>
            <p:nvPr/>
          </p:nvSpPr>
          <p:spPr>
            <a:xfrm>
              <a:off x="0" y="0"/>
              <a:ext cx="1340099" cy="428298"/>
            </a:xfrm>
            <a:custGeom>
              <a:avLst/>
              <a:gdLst/>
              <a:ahLst/>
              <a:cxnLst/>
              <a:rect l="l" t="t" r="r" b="b"/>
              <a:pathLst>
                <a:path w="1340099" h="428298">
                  <a:moveTo>
                    <a:pt x="0" y="0"/>
                  </a:moveTo>
                  <a:lnTo>
                    <a:pt x="1340099" y="0"/>
                  </a:lnTo>
                  <a:lnTo>
                    <a:pt x="1340099" y="428298"/>
                  </a:lnTo>
                  <a:lnTo>
                    <a:pt x="0" y="428298"/>
                  </a:lnTo>
                  <a:close/>
                </a:path>
              </a:pathLst>
            </a:custGeom>
            <a:solidFill>
              <a:srgbClr val="ADC2A7"/>
            </a:solidFill>
            <a:ln w="47625" cap="sq">
              <a:solidFill>
                <a:srgbClr val="000000"/>
              </a:solidFill>
              <a:prstDash val="solid"/>
              <a:miter/>
            </a:ln>
          </p:spPr>
          <p:txBody>
            <a:bodyPr/>
            <a:lstStyle/>
            <a:p>
              <a:endParaRPr lang="en-ZA" dirty="0"/>
            </a:p>
          </p:txBody>
        </p:sp>
        <p:sp>
          <p:nvSpPr>
            <p:cNvPr id="9" name="TextBox 9"/>
            <p:cNvSpPr txBox="1"/>
            <p:nvPr/>
          </p:nvSpPr>
          <p:spPr>
            <a:xfrm>
              <a:off x="16049" y="-38100"/>
              <a:ext cx="1340099" cy="504498"/>
            </a:xfrm>
            <a:prstGeom prst="rect">
              <a:avLst/>
            </a:prstGeom>
          </p:spPr>
          <p:txBody>
            <a:bodyPr lIns="50800" tIns="50800" rIns="50800" bIns="50800" rtlCol="0" anchor="ctr"/>
            <a:lstStyle/>
            <a:p>
              <a:pPr algn="ctr">
                <a:lnSpc>
                  <a:spcPts val="3749"/>
                </a:lnSpc>
              </a:pPr>
              <a:r>
                <a:rPr lang="en-US" sz="2800" b="1" dirty="0">
                  <a:solidFill>
                    <a:srgbClr val="000000"/>
                  </a:solidFill>
                  <a:latin typeface="Open Sauce"/>
                  <a:ea typeface="Open Sauce"/>
                  <a:cs typeface="Open Sauce"/>
                  <a:sym typeface="Open Sauce"/>
                </a:rPr>
                <a:t>In-text/Citation:</a:t>
              </a:r>
            </a:p>
            <a:p>
              <a:pPr algn="ctr">
                <a:lnSpc>
                  <a:spcPts val="3749"/>
                </a:lnSpc>
              </a:pPr>
              <a:endParaRPr lang="en-US" sz="2800" dirty="0">
                <a:solidFill>
                  <a:srgbClr val="000000"/>
                </a:solidFill>
                <a:latin typeface="Open Sauce"/>
                <a:ea typeface="Open Sauce"/>
                <a:cs typeface="Open Sauce"/>
                <a:sym typeface="Open Sauce"/>
              </a:endParaRPr>
            </a:p>
            <a:p>
              <a:pPr algn="ctr">
                <a:lnSpc>
                  <a:spcPts val="3749"/>
                </a:lnSpc>
              </a:pPr>
              <a:r>
                <a:rPr lang="en-ZA" sz="2400" b="0" i="0" dirty="0">
                  <a:solidFill>
                    <a:srgbClr val="333333"/>
                  </a:solidFill>
                  <a:effectLst/>
                  <a:latin typeface="Inter" panose="02000503000000020004" pitchFamily="50" charset="0"/>
                </a:rPr>
                <a:t>(OpenAI ChatGPT 2024)</a:t>
              </a:r>
              <a:endParaRPr lang="en-US" sz="2400" dirty="0">
                <a:solidFill>
                  <a:srgbClr val="000000"/>
                </a:solidFill>
                <a:latin typeface="Open Sauce"/>
                <a:ea typeface="Open Sauce"/>
                <a:cs typeface="Open Sauce"/>
                <a:sym typeface="Open Sauce"/>
              </a:endParaRPr>
            </a:p>
          </p:txBody>
        </p:sp>
      </p:grpSp>
      <p:grpSp>
        <p:nvGrpSpPr>
          <p:cNvPr id="16" name="Group 7">
            <a:extLst>
              <a:ext uri="{FF2B5EF4-FFF2-40B4-BE49-F238E27FC236}">
                <a16:creationId xmlns:a16="http://schemas.microsoft.com/office/drawing/2014/main" id="{974708AE-3431-C044-3B34-A10F70DC2B01}"/>
              </a:ext>
            </a:extLst>
          </p:cNvPr>
          <p:cNvGrpSpPr/>
          <p:nvPr/>
        </p:nvGrpSpPr>
        <p:grpSpPr>
          <a:xfrm>
            <a:off x="1524000" y="4686300"/>
            <a:ext cx="14909050" cy="4151829"/>
            <a:chOff x="0" y="-38100"/>
            <a:chExt cx="1340099" cy="504498"/>
          </a:xfrm>
        </p:grpSpPr>
        <p:sp>
          <p:nvSpPr>
            <p:cNvPr id="17" name="Freeform 8">
              <a:extLst>
                <a:ext uri="{FF2B5EF4-FFF2-40B4-BE49-F238E27FC236}">
                  <a16:creationId xmlns:a16="http://schemas.microsoft.com/office/drawing/2014/main" id="{98DE37F0-C33A-9BEA-29F8-569FCFB91BA0}"/>
                </a:ext>
              </a:extLst>
            </p:cNvPr>
            <p:cNvSpPr/>
            <p:nvPr/>
          </p:nvSpPr>
          <p:spPr>
            <a:xfrm>
              <a:off x="0" y="0"/>
              <a:ext cx="1340099" cy="428298"/>
            </a:xfrm>
            <a:custGeom>
              <a:avLst/>
              <a:gdLst/>
              <a:ahLst/>
              <a:cxnLst/>
              <a:rect l="l" t="t" r="r" b="b"/>
              <a:pathLst>
                <a:path w="1340099" h="428298">
                  <a:moveTo>
                    <a:pt x="0" y="0"/>
                  </a:moveTo>
                  <a:lnTo>
                    <a:pt x="1340099" y="0"/>
                  </a:lnTo>
                  <a:lnTo>
                    <a:pt x="1340099" y="428298"/>
                  </a:lnTo>
                  <a:lnTo>
                    <a:pt x="0" y="428298"/>
                  </a:lnTo>
                  <a:close/>
                </a:path>
              </a:pathLst>
            </a:custGeom>
            <a:solidFill>
              <a:srgbClr val="ADC2A7"/>
            </a:solidFill>
            <a:ln w="47625" cap="sq">
              <a:solidFill>
                <a:srgbClr val="000000"/>
              </a:solidFill>
              <a:prstDash val="solid"/>
              <a:miter/>
            </a:ln>
          </p:spPr>
          <p:txBody>
            <a:bodyPr/>
            <a:lstStyle/>
            <a:p>
              <a:endParaRPr lang="en-ZA" dirty="0"/>
            </a:p>
          </p:txBody>
        </p:sp>
        <p:sp>
          <p:nvSpPr>
            <p:cNvPr id="18" name="TextBox 9">
              <a:extLst>
                <a:ext uri="{FF2B5EF4-FFF2-40B4-BE49-F238E27FC236}">
                  <a16:creationId xmlns:a16="http://schemas.microsoft.com/office/drawing/2014/main" id="{8681C429-60F7-983B-5C60-6AFB2890B108}"/>
                </a:ext>
              </a:extLst>
            </p:cNvPr>
            <p:cNvSpPr txBox="1"/>
            <p:nvPr/>
          </p:nvSpPr>
          <p:spPr>
            <a:xfrm>
              <a:off x="16049" y="-38100"/>
              <a:ext cx="1305853" cy="504498"/>
            </a:xfrm>
            <a:prstGeom prst="rect">
              <a:avLst/>
            </a:prstGeom>
          </p:spPr>
          <p:txBody>
            <a:bodyPr lIns="50800" tIns="50800" rIns="50800" bIns="50800" rtlCol="0" anchor="ctr"/>
            <a:lstStyle/>
            <a:p>
              <a:pPr algn="ctr">
                <a:lnSpc>
                  <a:spcPts val="3749"/>
                </a:lnSpc>
              </a:pPr>
              <a:r>
                <a:rPr lang="en-US" sz="2800" b="1" dirty="0">
                  <a:solidFill>
                    <a:srgbClr val="000000"/>
                  </a:solidFill>
                  <a:latin typeface="Open Sauce"/>
                  <a:ea typeface="Open Sauce"/>
                  <a:cs typeface="Open Sauce"/>
                  <a:sym typeface="Open Sauce"/>
                </a:rPr>
                <a:t>Full reference entry:</a:t>
              </a:r>
            </a:p>
            <a:p>
              <a:pPr>
                <a:lnSpc>
                  <a:spcPts val="3200"/>
                </a:lnSpc>
              </a:pPr>
              <a:endParaRPr lang="en-US" sz="2800" dirty="0">
                <a:solidFill>
                  <a:srgbClr val="000000"/>
                </a:solidFill>
                <a:latin typeface="Open Sauce"/>
                <a:ea typeface="Open Sauce"/>
                <a:cs typeface="Open Sauce"/>
                <a:sym typeface="Open Sauce"/>
              </a:endParaRPr>
            </a:p>
            <a:p>
              <a:pPr algn="ctr"/>
              <a:r>
                <a:rPr lang="en-US" sz="2400" b="0" i="0" dirty="0">
                  <a:solidFill>
                    <a:srgbClr val="333333"/>
                  </a:solidFill>
                  <a:effectLst/>
                  <a:latin typeface="Inter" panose="02000503000000020004" pitchFamily="50" charset="0"/>
                </a:rPr>
                <a:t>NAME OF AI TOOL, Year. [AI Tool name] response to [Name of prompter, e.g. student name], personal communication, 5</a:t>
              </a:r>
              <a:r>
                <a:rPr lang="en-US" sz="2400" b="0" i="0" baseline="30000" dirty="0">
                  <a:solidFill>
                    <a:srgbClr val="333333"/>
                  </a:solidFill>
                  <a:effectLst/>
                  <a:latin typeface="Inter" panose="02000503000000020004" pitchFamily="50" charset="0"/>
                </a:rPr>
                <a:t>th</a:t>
              </a:r>
              <a:r>
                <a:rPr lang="en-US" sz="2400" b="0" i="0" dirty="0">
                  <a:solidFill>
                    <a:srgbClr val="333333"/>
                  </a:solidFill>
                  <a:effectLst/>
                  <a:latin typeface="Inter" panose="02000503000000020004" pitchFamily="50" charset="0"/>
                </a:rPr>
                <a:t> September 2024.</a:t>
              </a:r>
            </a:p>
            <a:p>
              <a:pPr algn="ctr"/>
              <a:endParaRPr lang="en-US" sz="2400" b="0" i="0" dirty="0">
                <a:solidFill>
                  <a:srgbClr val="333333"/>
                </a:solidFill>
                <a:effectLst/>
                <a:latin typeface="Inter" panose="02000503000000020004" pitchFamily="50" charset="0"/>
              </a:endParaRPr>
            </a:p>
            <a:p>
              <a:pPr algn="ctr"/>
              <a:r>
                <a:rPr lang="en-US" sz="2400" b="0" i="1" dirty="0">
                  <a:solidFill>
                    <a:srgbClr val="333333"/>
                  </a:solidFill>
                  <a:effectLst/>
                  <a:latin typeface="Inter" panose="02000503000000020004" pitchFamily="50" charset="0"/>
                </a:rPr>
                <a:t>OpenAI ChatGPT, 2024. ChatGPT response to Simba Livingstone, personal communication, 5</a:t>
              </a:r>
              <a:r>
                <a:rPr lang="en-US" sz="2400" b="0" i="1" baseline="30000" dirty="0">
                  <a:solidFill>
                    <a:srgbClr val="333333"/>
                  </a:solidFill>
                  <a:effectLst/>
                  <a:latin typeface="Inter" panose="02000503000000020004" pitchFamily="50" charset="0"/>
                </a:rPr>
                <a:t>th</a:t>
              </a:r>
              <a:r>
                <a:rPr lang="en-US" sz="2400" b="0" i="1" dirty="0">
                  <a:solidFill>
                    <a:srgbClr val="333333"/>
                  </a:solidFill>
                  <a:effectLst/>
                  <a:latin typeface="Inter" panose="02000503000000020004" pitchFamily="50" charset="0"/>
                </a:rPr>
                <a:t> September 2024.</a:t>
              </a:r>
              <a:endParaRPr lang="en-US" sz="2400" b="0" i="0" dirty="0">
                <a:solidFill>
                  <a:srgbClr val="333333"/>
                </a:solidFill>
                <a:effectLst/>
                <a:latin typeface="Inter" panose="02000503000000020004" pitchFamily="50" charset="0"/>
              </a:endParaRPr>
            </a:p>
          </p:txBody>
        </p:sp>
      </p:grpSp>
    </p:spTree>
    <p:extLst>
      <p:ext uri="{BB962C8B-B14F-4D97-AF65-F5344CB8AC3E}">
        <p14:creationId xmlns:p14="http://schemas.microsoft.com/office/powerpoint/2010/main" val="17649258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grpSp>
        <p:nvGrpSpPr>
          <p:cNvPr id="2" name="Group 2"/>
          <p:cNvGrpSpPr/>
          <p:nvPr/>
        </p:nvGrpSpPr>
        <p:grpSpPr>
          <a:xfrm>
            <a:off x="11277600" y="-242584"/>
            <a:ext cx="7010400" cy="11063997"/>
            <a:chOff x="0" y="0"/>
            <a:chExt cx="2481045" cy="2913974"/>
          </a:xfrm>
        </p:grpSpPr>
        <p:sp>
          <p:nvSpPr>
            <p:cNvPr id="3" name="Freeform 3"/>
            <p:cNvSpPr/>
            <p:nvPr/>
          </p:nvSpPr>
          <p:spPr>
            <a:xfrm>
              <a:off x="0" y="0"/>
              <a:ext cx="2481045" cy="2913974"/>
            </a:xfrm>
            <a:custGeom>
              <a:avLst/>
              <a:gdLst/>
              <a:ahLst/>
              <a:cxnLst/>
              <a:rect l="l" t="t" r="r" b="b"/>
              <a:pathLst>
                <a:path w="2481045" h="2913974">
                  <a:moveTo>
                    <a:pt x="0" y="0"/>
                  </a:moveTo>
                  <a:lnTo>
                    <a:pt x="2481045" y="0"/>
                  </a:lnTo>
                  <a:lnTo>
                    <a:pt x="2481045"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4" name="TextBox 4"/>
            <p:cNvSpPr txBox="1"/>
            <p:nvPr/>
          </p:nvSpPr>
          <p:spPr>
            <a:xfrm>
              <a:off x="0" y="-38100"/>
              <a:ext cx="2481045" cy="2952074"/>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66800" y="495300"/>
            <a:ext cx="9168989" cy="930063"/>
          </a:xfrm>
          <a:prstGeom prst="rect">
            <a:avLst/>
          </a:prstGeom>
        </p:spPr>
        <p:txBody>
          <a:bodyPr wrap="square" lIns="0" tIns="0" rIns="0" bIns="0" rtlCol="0" anchor="t">
            <a:spAutoFit/>
          </a:bodyPr>
          <a:lstStyle/>
          <a:p>
            <a:pPr marL="0" lvl="0" indent="0" algn="ctr">
              <a:lnSpc>
                <a:spcPts val="7200"/>
              </a:lnSpc>
            </a:pPr>
            <a:r>
              <a:rPr lang="en-US" sz="7200" dirty="0">
                <a:solidFill>
                  <a:srgbClr val="000000"/>
                </a:solidFill>
                <a:latin typeface="Sanchez"/>
                <a:ea typeface="Sanchez"/>
                <a:cs typeface="Sanchez"/>
                <a:sym typeface="Sanchez"/>
              </a:rPr>
              <a:t>The "Human" Value</a:t>
            </a:r>
          </a:p>
        </p:txBody>
      </p:sp>
      <p:sp>
        <p:nvSpPr>
          <p:cNvPr id="7" name="Freeform 7"/>
          <p:cNvSpPr/>
          <p:nvPr/>
        </p:nvSpPr>
        <p:spPr>
          <a:xfrm>
            <a:off x="11757495" y="1140974"/>
            <a:ext cx="6505924" cy="8005052"/>
          </a:xfrm>
          <a:custGeom>
            <a:avLst/>
            <a:gdLst/>
            <a:ahLst/>
            <a:cxnLst/>
            <a:rect l="l" t="t" r="r" b="b"/>
            <a:pathLst>
              <a:path w="6505924" h="8005052">
                <a:moveTo>
                  <a:pt x="0" y="0"/>
                </a:moveTo>
                <a:lnTo>
                  <a:pt x="6505924" y="0"/>
                </a:lnTo>
                <a:lnTo>
                  <a:pt x="6505924" y="8005052"/>
                </a:lnTo>
                <a:lnTo>
                  <a:pt x="0" y="80050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TextBox 5">
            <a:extLst>
              <a:ext uri="{FF2B5EF4-FFF2-40B4-BE49-F238E27FC236}">
                <a16:creationId xmlns:a16="http://schemas.microsoft.com/office/drawing/2014/main" id="{A7AD0A7A-ED44-A916-1294-FCA567999987}"/>
              </a:ext>
            </a:extLst>
          </p:cNvPr>
          <p:cNvSpPr txBox="1">
            <a:spLocks/>
          </p:cNvSpPr>
          <p:nvPr/>
        </p:nvSpPr>
        <p:spPr>
          <a:xfrm>
            <a:off x="1250744" y="8496300"/>
            <a:ext cx="8610600" cy="923330"/>
          </a:xfrm>
          <a:prstGeom prst="rect">
            <a:avLst/>
          </a:prstGeom>
          <a:noFill/>
        </p:spPr>
        <p:txBody>
          <a:bodyPr wrap="square" rtlCol="0">
            <a:spAutoFit/>
          </a:bodyPr>
          <a:lstStyle/>
          <a:p>
            <a:pPr algn="ctr"/>
            <a:r>
              <a:rPr lang="en-US" dirty="0"/>
              <a:t>Perrier, S. 2026. </a:t>
            </a:r>
            <a:r>
              <a:rPr lang="en-US" i="1" dirty="0"/>
              <a:t>Critical Thinking in an AI World: The One Human Skill That Will Not Be Automated </a:t>
            </a:r>
            <a:r>
              <a:rPr lang="en-US" dirty="0">
                <a:hlinkClick r:id="rId4"/>
              </a:rPr>
              <a:t>https://www.sylvainperrier.com/critical-thinking-in-an-ai-world-the-one-human-skill-that-will-not-be-automated/ </a:t>
            </a:r>
            <a:r>
              <a:rPr lang="en-US" dirty="0"/>
              <a:t>[19 April 2026].</a:t>
            </a:r>
            <a:endParaRPr lang="en-ZA" dirty="0"/>
          </a:p>
        </p:txBody>
      </p:sp>
      <p:sp>
        <p:nvSpPr>
          <p:cNvPr id="10" name="TextBox 2">
            <a:extLst>
              <a:ext uri="{FF2B5EF4-FFF2-40B4-BE49-F238E27FC236}">
                <a16:creationId xmlns:a16="http://schemas.microsoft.com/office/drawing/2014/main" id="{6945262F-0357-EF6E-503A-6F4819AF9406}"/>
              </a:ext>
            </a:extLst>
          </p:cNvPr>
          <p:cNvSpPr txBox="1"/>
          <p:nvPr/>
        </p:nvSpPr>
        <p:spPr>
          <a:xfrm>
            <a:off x="1250744" y="2558177"/>
            <a:ext cx="8801100" cy="5170646"/>
          </a:xfrm>
          <a:prstGeom prst="rect">
            <a:avLst/>
          </a:prstGeom>
        </p:spPr>
        <p:txBody>
          <a:bodyPr wrap="square" lIns="0" tIns="0" rIns="0" bIns="0" rtlCol="0" anchor="t">
            <a:spAutoFit/>
          </a:bodyPr>
          <a:lstStyle/>
          <a:p>
            <a:pPr algn="just"/>
            <a:r>
              <a:rPr lang="en-US" sz="2400" b="0" i="0" dirty="0">
                <a:solidFill>
                  <a:srgbClr val="15171A"/>
                </a:solidFill>
                <a:effectLst/>
                <a:latin typeface="Inter" panose="02000503000000020004" pitchFamily="50" charset="0"/>
              </a:rPr>
              <a:t>“AI's boundaries are set through what it learns, not what it can recognize that a human would learn from a young age and environment.</a:t>
            </a:r>
          </a:p>
          <a:p>
            <a:pPr algn="just"/>
            <a:endParaRPr lang="en-US" sz="2400" b="0" i="0" dirty="0">
              <a:solidFill>
                <a:srgbClr val="15171A"/>
              </a:solidFill>
              <a:effectLst/>
              <a:latin typeface="Inter" panose="02000503000000020004" pitchFamily="50" charset="0"/>
            </a:endParaRPr>
          </a:p>
          <a:p>
            <a:pPr algn="just"/>
            <a:r>
              <a:rPr lang="en-US" sz="2400" b="0" i="0" dirty="0">
                <a:solidFill>
                  <a:srgbClr val="15171A"/>
                </a:solidFill>
                <a:effectLst/>
                <a:latin typeface="Inter" panose="02000503000000020004" pitchFamily="50" charset="0"/>
              </a:rPr>
              <a:t>AI is only good at recognizing patterns from what it has learned.</a:t>
            </a:r>
          </a:p>
          <a:p>
            <a:pPr algn="just"/>
            <a:endParaRPr lang="en-US" sz="2400" b="0" i="0" dirty="0">
              <a:solidFill>
                <a:srgbClr val="15171A"/>
              </a:solidFill>
              <a:effectLst/>
              <a:latin typeface="Inter" panose="02000503000000020004" pitchFamily="50" charset="0"/>
            </a:endParaRPr>
          </a:p>
          <a:p>
            <a:pPr algn="just"/>
            <a:r>
              <a:rPr lang="en-US" sz="2400" b="0" i="0" dirty="0">
                <a:solidFill>
                  <a:srgbClr val="15171A"/>
                </a:solidFill>
                <a:effectLst/>
                <a:latin typeface="Inter" panose="02000503000000020004" pitchFamily="50" charset="0"/>
              </a:rPr>
              <a:t>Humans learn something different. We learn not just patterns, but learning </a:t>
            </a:r>
            <a:r>
              <a:rPr lang="en-US" sz="2400" b="0" i="1" dirty="0">
                <a:solidFill>
                  <a:srgbClr val="15171A"/>
                </a:solidFill>
                <a:effectLst/>
                <a:latin typeface="Inter" panose="02000503000000020004" pitchFamily="50" charset="0"/>
              </a:rPr>
              <a:t>about</a:t>
            </a:r>
            <a:r>
              <a:rPr lang="en-US" sz="2400" b="0" i="0" dirty="0">
                <a:solidFill>
                  <a:srgbClr val="15171A"/>
                </a:solidFill>
                <a:effectLst/>
                <a:latin typeface="Inter" panose="02000503000000020004" pitchFamily="50" charset="0"/>
              </a:rPr>
              <a:t> patterns. We learn when to break them.</a:t>
            </a:r>
          </a:p>
          <a:p>
            <a:pPr algn="just"/>
            <a:endParaRPr lang="en-US" sz="2400" b="0" i="0" dirty="0">
              <a:solidFill>
                <a:srgbClr val="15171A"/>
              </a:solidFill>
              <a:effectLst/>
              <a:latin typeface="Inter" panose="02000503000000020004" pitchFamily="50" charset="0"/>
            </a:endParaRPr>
          </a:p>
          <a:p>
            <a:pPr algn="just"/>
            <a:r>
              <a:rPr lang="en-US" sz="2400" b="0" i="0" dirty="0">
                <a:solidFill>
                  <a:srgbClr val="15171A"/>
                </a:solidFill>
                <a:effectLst/>
                <a:latin typeface="Inter" panose="02000503000000020004" pitchFamily="50" charset="0"/>
              </a:rPr>
              <a:t>This happens through human development from childhood. Through lived experience that can't be replicated through data alone.”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sp>
        <p:nvSpPr>
          <p:cNvPr id="2" name="TextBox 2"/>
          <p:cNvSpPr txBox="1"/>
          <p:nvPr/>
        </p:nvSpPr>
        <p:spPr>
          <a:xfrm>
            <a:off x="1583697" y="1485900"/>
            <a:ext cx="15120606" cy="6390852"/>
          </a:xfrm>
          <a:prstGeom prst="rect">
            <a:avLst/>
          </a:prstGeom>
        </p:spPr>
        <p:txBody>
          <a:bodyPr wrap="square" lIns="0" tIns="0" rIns="0" bIns="0" rtlCol="0" anchor="t">
            <a:spAutoFit/>
          </a:bodyPr>
          <a:lstStyle/>
          <a:p>
            <a:pPr marL="0" lvl="0" indent="0" algn="just">
              <a:lnSpc>
                <a:spcPts val="7200"/>
              </a:lnSpc>
            </a:pPr>
            <a:r>
              <a:rPr lang="en-US" sz="4800" dirty="0">
                <a:solidFill>
                  <a:srgbClr val="000000"/>
                </a:solidFill>
                <a:latin typeface="Sanchez"/>
                <a:ea typeface="Sanchez"/>
                <a:cs typeface="Sanchez"/>
                <a:sym typeface="Sanchez"/>
              </a:rPr>
              <a:t>“Writing isn’t just an academic requirement, it’s a lifelong skill that empowers you to think clearly, communicate effectively, and make a lasting impact. So whether you’re jotting down ideas, crafting an argument, or sharing your story, remember: every word you write is a step toward personal and professional growth.”</a:t>
            </a:r>
          </a:p>
        </p:txBody>
      </p:sp>
      <p:sp>
        <p:nvSpPr>
          <p:cNvPr id="3" name="TextBox 2">
            <a:extLst>
              <a:ext uri="{FF2B5EF4-FFF2-40B4-BE49-F238E27FC236}">
                <a16:creationId xmlns:a16="http://schemas.microsoft.com/office/drawing/2014/main" id="{94FEF9E5-DEF3-0300-876B-A5C0CC7ED76C}"/>
              </a:ext>
            </a:extLst>
          </p:cNvPr>
          <p:cNvSpPr txBox="1">
            <a:spLocks/>
          </p:cNvSpPr>
          <p:nvPr/>
        </p:nvSpPr>
        <p:spPr>
          <a:xfrm>
            <a:off x="5181600" y="8953500"/>
            <a:ext cx="8610600" cy="923330"/>
          </a:xfrm>
          <a:prstGeom prst="rect">
            <a:avLst/>
          </a:prstGeom>
          <a:noFill/>
        </p:spPr>
        <p:txBody>
          <a:bodyPr wrap="square" rtlCol="0">
            <a:spAutoFit/>
          </a:bodyPr>
          <a:lstStyle/>
          <a:p>
            <a:pPr algn="ctr"/>
            <a:r>
              <a:rPr lang="en-US" dirty="0"/>
              <a:t> Morehouse College Writing Center. 2025. </a:t>
            </a:r>
            <a:r>
              <a:rPr lang="en-US" i="1" dirty="0"/>
              <a:t>The Importance Of Writing In Today's World </a:t>
            </a:r>
            <a:r>
              <a:rPr lang="en-US" dirty="0">
                <a:hlinkClick r:id="rId3"/>
              </a:rPr>
              <a:t>https://morehouse.edu/admissions/blog/the-importance-of-writing-in-todays-world </a:t>
            </a:r>
            <a:r>
              <a:rPr lang="en-US" dirty="0"/>
              <a:t>[17 April 2026].</a:t>
            </a:r>
            <a:endParaRPr lang="en-ZA" dirty="0"/>
          </a:p>
        </p:txBody>
      </p:sp>
    </p:spTree>
    <p:extLst>
      <p:ext uri="{BB962C8B-B14F-4D97-AF65-F5344CB8AC3E}">
        <p14:creationId xmlns:p14="http://schemas.microsoft.com/office/powerpoint/2010/main" val="3812348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9DAC4"/>
        </a:solidFill>
        <a:effectLst/>
      </p:bgPr>
    </p:bg>
    <p:spTree>
      <p:nvGrpSpPr>
        <p:cNvPr id="1" name=""/>
        <p:cNvGrpSpPr/>
        <p:nvPr/>
      </p:nvGrpSpPr>
      <p:grpSpPr>
        <a:xfrm>
          <a:off x="0" y="0"/>
          <a:ext cx="0" cy="0"/>
          <a:chOff x="0" y="0"/>
          <a:chExt cx="0" cy="0"/>
        </a:xfrm>
      </p:grpSpPr>
      <p:grpSp>
        <p:nvGrpSpPr>
          <p:cNvPr id="2" name="Group 2"/>
          <p:cNvGrpSpPr/>
          <p:nvPr/>
        </p:nvGrpSpPr>
        <p:grpSpPr>
          <a:xfrm>
            <a:off x="7010400" y="4339972"/>
            <a:ext cx="5124450" cy="5303398"/>
            <a:chOff x="0" y="0"/>
            <a:chExt cx="3096056" cy="2913974"/>
          </a:xfrm>
        </p:grpSpPr>
        <p:sp>
          <p:nvSpPr>
            <p:cNvPr id="3" name="Freeform 3"/>
            <p:cNvSpPr/>
            <p:nvPr/>
          </p:nvSpPr>
          <p:spPr>
            <a:xfrm>
              <a:off x="0" y="0"/>
              <a:ext cx="3096056" cy="2913974"/>
            </a:xfrm>
            <a:custGeom>
              <a:avLst/>
              <a:gdLst/>
              <a:ahLst/>
              <a:cxnLst/>
              <a:rect l="l" t="t" r="r" b="b"/>
              <a:pathLst>
                <a:path w="3096056" h="2913974">
                  <a:moveTo>
                    <a:pt x="0" y="0"/>
                  </a:moveTo>
                  <a:lnTo>
                    <a:pt x="3096056" y="0"/>
                  </a:lnTo>
                  <a:lnTo>
                    <a:pt x="3096056" y="2913974"/>
                  </a:lnTo>
                  <a:lnTo>
                    <a:pt x="0" y="2913974"/>
                  </a:lnTo>
                  <a:close/>
                </a:path>
              </a:pathLst>
            </a:custGeom>
            <a:solidFill>
              <a:srgbClr val="ADC2A7"/>
            </a:solidFill>
            <a:ln w="38100" cap="sq">
              <a:solidFill>
                <a:srgbClr val="000000"/>
              </a:solidFill>
              <a:prstDash val="solid"/>
              <a:miter/>
            </a:ln>
          </p:spPr>
          <p:txBody>
            <a:bodyPr/>
            <a:lstStyle/>
            <a:p>
              <a:endParaRPr lang="en-GB"/>
            </a:p>
          </p:txBody>
        </p:sp>
        <p:sp>
          <p:nvSpPr>
            <p:cNvPr id="4" name="TextBox 4"/>
            <p:cNvSpPr txBox="1"/>
            <p:nvPr/>
          </p:nvSpPr>
          <p:spPr>
            <a:xfrm>
              <a:off x="0" y="-38100"/>
              <a:ext cx="3096056" cy="295207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7010400" y="4305300"/>
            <a:ext cx="5124450" cy="5303399"/>
          </a:xfrm>
          <a:custGeom>
            <a:avLst/>
            <a:gdLst/>
            <a:ahLst/>
            <a:cxnLst/>
            <a:rect l="l" t="t" r="r" b="b"/>
            <a:pathLst>
              <a:path w="8902652" h="8854092">
                <a:moveTo>
                  <a:pt x="0" y="0"/>
                </a:moveTo>
                <a:lnTo>
                  <a:pt x="8902652" y="0"/>
                </a:lnTo>
                <a:lnTo>
                  <a:pt x="8902652" y="8854092"/>
                </a:lnTo>
                <a:lnTo>
                  <a:pt x="0" y="88540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TextBox 6"/>
          <p:cNvSpPr txBox="1"/>
          <p:nvPr/>
        </p:nvSpPr>
        <p:spPr>
          <a:xfrm>
            <a:off x="1082969" y="190500"/>
            <a:ext cx="16122062" cy="3471848"/>
          </a:xfrm>
          <a:prstGeom prst="rect">
            <a:avLst/>
          </a:prstGeom>
        </p:spPr>
        <p:txBody>
          <a:bodyPr wrap="square" lIns="0" tIns="0" rIns="0" bIns="0" rtlCol="0" anchor="t">
            <a:spAutoFit/>
          </a:bodyPr>
          <a:lstStyle/>
          <a:p>
            <a:pPr marL="0" lvl="0" indent="0" algn="ctr">
              <a:lnSpc>
                <a:spcPts val="14000"/>
              </a:lnSpc>
              <a:spcBef>
                <a:spcPct val="0"/>
              </a:spcBef>
            </a:pPr>
            <a:r>
              <a:rPr lang="en-US" sz="10000" dirty="0">
                <a:solidFill>
                  <a:srgbClr val="000000"/>
                </a:solidFill>
                <a:latin typeface="Sanchez"/>
                <a:ea typeface="Sanchez"/>
                <a:cs typeface="Sanchez"/>
                <a:sym typeface="Sanchez"/>
              </a:rPr>
              <a:t>Thank you</a:t>
            </a:r>
          </a:p>
          <a:p>
            <a:pPr marL="0" lvl="0" indent="0" algn="ctr">
              <a:lnSpc>
                <a:spcPts val="14000"/>
              </a:lnSpc>
              <a:spcBef>
                <a:spcPct val="0"/>
              </a:spcBef>
            </a:pPr>
            <a:r>
              <a:rPr lang="en-US" sz="10000" dirty="0">
                <a:solidFill>
                  <a:srgbClr val="000000"/>
                </a:solidFill>
                <a:latin typeface="Sanchez"/>
                <a:ea typeface="Sanchez"/>
                <a:cs typeface="Sanchez"/>
                <a:sym typeface="Sanchez"/>
              </a:rPr>
              <a:t>for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842</TotalTime>
  <Words>2562</Words>
  <Application>Microsoft Macintosh PowerPoint</Application>
  <PresentationFormat>Custom</PresentationFormat>
  <Paragraphs>200</Paragraphs>
  <Slides>30</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Calibri</vt:lpstr>
      <vt:lpstr>Aptos</vt:lpstr>
      <vt:lpstr>Inter</vt:lpstr>
      <vt:lpstr>Google Sans</vt:lpstr>
      <vt:lpstr>Open Sauce</vt:lpstr>
      <vt:lpstr>Sanchez</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Well-Structured Paragraphs Presentation</dc:title>
  <dc:creator>Kirby</dc:creator>
  <cp:lastModifiedBy>Errol Francke</cp:lastModifiedBy>
  <cp:revision>25</cp:revision>
  <dcterms:created xsi:type="dcterms:W3CDTF">2006-08-16T00:00:00Z</dcterms:created>
  <dcterms:modified xsi:type="dcterms:W3CDTF">2026-04-20T16:40:44Z</dcterms:modified>
  <dc:identifier>DAHEMUhRdqk</dc:identifier>
</cp:coreProperties>
</file>