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71" r:id="rId3"/>
    <p:sldId id="257" r:id="rId4"/>
    <p:sldId id="258" r:id="rId5"/>
    <p:sldId id="259" r:id="rId6"/>
    <p:sldId id="273" r:id="rId7"/>
    <p:sldId id="274" r:id="rId8"/>
    <p:sldId id="260" r:id="rId9"/>
    <p:sldId id="261" r:id="rId10"/>
    <p:sldId id="262" r:id="rId11"/>
    <p:sldId id="263" r:id="rId12"/>
    <p:sldId id="264" r:id="rId13"/>
    <p:sldId id="265" r:id="rId14"/>
    <p:sldId id="266" r:id="rId15"/>
    <p:sldId id="267" r:id="rId16"/>
    <p:sldId id="268" r:id="rId17"/>
    <p:sldId id="269" r:id="rId18"/>
    <p:sldId id="270" r:id="rId19"/>
    <p:sldId id="272" r:id="rId20"/>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62" autoAdjust="0"/>
  </p:normalViewPr>
  <p:slideViewPr>
    <p:cSldViewPr>
      <p:cViewPr>
        <p:scale>
          <a:sx n="125" d="100"/>
          <a:sy n="125" d="100"/>
        </p:scale>
        <p:origin x="-1914" y="-13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5D7E6D2A-C040-4EF1-8015-90BC98A0594A}" type="datetimeFigureOut">
              <a:rPr lang="en-US" smtClean="0"/>
              <a:t>10/28/2020</a:t>
            </a:fld>
            <a:endParaRPr lang="en-US"/>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1B7AA44B-151A-4479-B36B-5C1A3CBA6B81}"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B6E89BEF-9B26-499E-9840-7289AC1CE456}" type="datetimeFigureOut">
              <a:rPr lang="en-US" smtClean="0"/>
              <a:t>10/28/2020</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lvl1pPr>
          </a:lstStyle>
          <a:p>
            <a:fld id="{B1E47092-4B34-4D74-9534-C96D2FFB80B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 illustrate</a:t>
            </a:r>
            <a:r>
              <a:rPr lang="en-US" baseline="0" dirty="0" smtClean="0"/>
              <a:t> the importance of the procurement process.</a:t>
            </a:r>
            <a:endParaRPr lang="en-US" dirty="0"/>
          </a:p>
        </p:txBody>
      </p:sp>
      <p:sp>
        <p:nvSpPr>
          <p:cNvPr id="4" name="Slide Number Placeholder 3"/>
          <p:cNvSpPr>
            <a:spLocks noGrp="1"/>
          </p:cNvSpPr>
          <p:nvPr>
            <p:ph type="sldNum" sz="quarter" idx="10"/>
          </p:nvPr>
        </p:nvSpPr>
        <p:spPr/>
        <p:txBody>
          <a:bodyPr/>
          <a:lstStyle/>
          <a:p>
            <a:fld id="{B1E47092-4B34-4D74-9534-C96D2FFB80BE}"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5DAD61-9ED4-44F2-AA0A-0147DE813310}" type="datetime1">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F864F7-F99F-47D5-8113-68EC3D8D4214}" type="datetime1">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B9CE9C-2E79-4D34-BAC1-5E39FDF554DF}" type="datetime1">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006DF9-B638-45F9-B0C4-104598573E27}" type="datetime1">
              <a:rPr lang="en-US" smtClean="0"/>
              <a:t>10/28/2020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9D806F-7250-4042-8DD7-D7802E490B4D}" type="datetime1">
              <a:rPr lang="en-US" smtClean="0"/>
              <a:t>10/28/2020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21B2F16-8C9D-4838-95CD-DD6E7A1C4DAC}" type="datetime1">
              <a:rPr lang="en-US" smtClean="0"/>
              <a:t>10/28/2020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034C84-0F4D-40CD-B4B5-2B2CBBB1415F}" type="datetime1">
              <a:rPr lang="en-US" smtClean="0"/>
              <a:t>10/28/2020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AF4938-4245-4BD7-B7FE-F5B9B91569C7}" type="datetime1">
              <a:rPr lang="en-US" smtClean="0"/>
              <a:t>10/28/2020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8FB81A-DF3B-4C4F-B4F6-387EB3085EB5}" type="datetime1">
              <a:rPr lang="en-US" smtClean="0"/>
              <a:t>10/28/2020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A3BC16-F84A-4B91-B7EA-AA024CDA1B0F}" type="datetime1">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749FAC-4451-4416-BAC8-6F075373AB9E}" type="datetime1">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F037C-DDB4-49A7-8F25-FF5265A1F42F}" type="datetime1">
              <a:rPr lang="en-US" smtClean="0"/>
              <a:t>10/28/2020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74294F-3089-4B37-AA52-685724062AD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Project Procurement</a:t>
            </a:r>
            <a:endParaRPr lang="en-US" dirty="0"/>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274294F-3089-4B37-AA52-685724062AD9}"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Porter’s Value Chain</a:t>
            </a:r>
            <a:endParaRPr lang="en-US" dirty="0"/>
          </a:p>
        </p:txBody>
      </p:sp>
      <p:grpSp>
        <p:nvGrpSpPr>
          <p:cNvPr id="25" name="Group 24"/>
          <p:cNvGrpSpPr/>
          <p:nvPr/>
        </p:nvGrpSpPr>
        <p:grpSpPr>
          <a:xfrm>
            <a:off x="785786" y="1928802"/>
            <a:ext cx="8143932" cy="2928958"/>
            <a:chOff x="500034" y="1785926"/>
            <a:chExt cx="8143932" cy="2928958"/>
          </a:xfrm>
        </p:grpSpPr>
        <p:sp>
          <p:nvSpPr>
            <p:cNvPr id="4" name="Rectangle 3"/>
            <p:cNvSpPr/>
            <p:nvPr/>
          </p:nvSpPr>
          <p:spPr>
            <a:xfrm>
              <a:off x="500034" y="1785926"/>
              <a:ext cx="6000792" cy="29289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Isosceles Triangle 4"/>
            <p:cNvSpPr/>
            <p:nvPr/>
          </p:nvSpPr>
          <p:spPr>
            <a:xfrm rot="5400000">
              <a:off x="6107917" y="2178835"/>
              <a:ext cx="2928958" cy="2143140"/>
            </a:xfrm>
            <a:prstGeom prst="triangle">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500034" y="3214686"/>
              <a:ext cx="457203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0034" y="1785926"/>
              <a:ext cx="6000792" cy="369332"/>
            </a:xfrm>
            <a:prstGeom prst="rect">
              <a:avLst/>
            </a:prstGeom>
            <a:noFill/>
            <a:ln>
              <a:solidFill>
                <a:schemeClr val="tx1"/>
              </a:solidFill>
            </a:ln>
          </p:spPr>
          <p:txBody>
            <a:bodyPr wrap="square" rtlCol="0">
              <a:spAutoFit/>
            </a:bodyPr>
            <a:lstStyle/>
            <a:p>
              <a:r>
                <a:rPr lang="en-US" dirty="0" smtClean="0"/>
                <a:t>Firm Infrastructure</a:t>
              </a:r>
              <a:endParaRPr lang="en-US" dirty="0"/>
            </a:p>
          </p:txBody>
        </p:sp>
        <p:sp>
          <p:nvSpPr>
            <p:cNvPr id="10" name="TextBox 9"/>
            <p:cNvSpPr txBox="1"/>
            <p:nvPr/>
          </p:nvSpPr>
          <p:spPr>
            <a:xfrm>
              <a:off x="500034" y="2143116"/>
              <a:ext cx="6000792" cy="369332"/>
            </a:xfrm>
            <a:prstGeom prst="rect">
              <a:avLst/>
            </a:prstGeom>
            <a:noFill/>
            <a:ln>
              <a:solidFill>
                <a:schemeClr val="tx1"/>
              </a:solidFill>
            </a:ln>
          </p:spPr>
          <p:txBody>
            <a:bodyPr wrap="square" rtlCol="0">
              <a:spAutoFit/>
            </a:bodyPr>
            <a:lstStyle/>
            <a:p>
              <a:r>
                <a:rPr lang="en-US" dirty="0" smtClean="0"/>
                <a:t>Human Resources Management</a:t>
              </a:r>
              <a:endParaRPr lang="en-US" dirty="0"/>
            </a:p>
          </p:txBody>
        </p:sp>
        <p:sp>
          <p:nvSpPr>
            <p:cNvPr id="11" name="TextBox 10"/>
            <p:cNvSpPr txBox="1"/>
            <p:nvPr/>
          </p:nvSpPr>
          <p:spPr>
            <a:xfrm>
              <a:off x="500034" y="2500306"/>
              <a:ext cx="6000792" cy="369332"/>
            </a:xfrm>
            <a:prstGeom prst="rect">
              <a:avLst/>
            </a:prstGeom>
            <a:noFill/>
            <a:ln>
              <a:solidFill>
                <a:schemeClr val="tx1"/>
              </a:solidFill>
            </a:ln>
          </p:spPr>
          <p:txBody>
            <a:bodyPr wrap="square" rtlCol="0">
              <a:spAutoFit/>
            </a:bodyPr>
            <a:lstStyle/>
            <a:p>
              <a:r>
                <a:rPr lang="en-US" dirty="0" smtClean="0"/>
                <a:t>Technology Development</a:t>
              </a:r>
              <a:endParaRPr lang="en-US" dirty="0"/>
            </a:p>
          </p:txBody>
        </p:sp>
        <p:sp>
          <p:nvSpPr>
            <p:cNvPr id="12" name="TextBox 11"/>
            <p:cNvSpPr txBox="1"/>
            <p:nvPr/>
          </p:nvSpPr>
          <p:spPr>
            <a:xfrm>
              <a:off x="500034" y="2857496"/>
              <a:ext cx="6000792" cy="369332"/>
            </a:xfrm>
            <a:prstGeom prst="rect">
              <a:avLst/>
            </a:prstGeom>
            <a:noFill/>
            <a:ln>
              <a:solidFill>
                <a:schemeClr val="tx1"/>
              </a:solidFill>
            </a:ln>
          </p:spPr>
          <p:txBody>
            <a:bodyPr wrap="square" rtlCol="0">
              <a:spAutoFit/>
            </a:bodyPr>
            <a:lstStyle/>
            <a:p>
              <a:r>
                <a:rPr lang="en-US" dirty="0" smtClean="0"/>
                <a:t>Procurement</a:t>
              </a:r>
              <a:endParaRPr lang="en-US" dirty="0"/>
            </a:p>
          </p:txBody>
        </p:sp>
        <p:sp>
          <p:nvSpPr>
            <p:cNvPr id="14" name="TextBox 13"/>
            <p:cNvSpPr txBox="1"/>
            <p:nvPr/>
          </p:nvSpPr>
          <p:spPr>
            <a:xfrm>
              <a:off x="500034" y="3214686"/>
              <a:ext cx="1026243" cy="646331"/>
            </a:xfrm>
            <a:prstGeom prst="rect">
              <a:avLst/>
            </a:prstGeom>
            <a:noFill/>
          </p:spPr>
          <p:txBody>
            <a:bodyPr wrap="square" rtlCol="0">
              <a:spAutoFit/>
            </a:bodyPr>
            <a:lstStyle/>
            <a:p>
              <a:r>
                <a:rPr lang="en-US" dirty="0" smtClean="0"/>
                <a:t>Inbound </a:t>
              </a:r>
            </a:p>
            <a:p>
              <a:r>
                <a:rPr lang="en-US" dirty="0" smtClean="0"/>
                <a:t>Logistics</a:t>
              </a:r>
              <a:endParaRPr lang="en-US" dirty="0"/>
            </a:p>
          </p:txBody>
        </p:sp>
        <p:sp>
          <p:nvSpPr>
            <p:cNvPr id="15" name="TextBox 14"/>
            <p:cNvSpPr txBox="1"/>
            <p:nvPr/>
          </p:nvSpPr>
          <p:spPr>
            <a:xfrm>
              <a:off x="1500166" y="3214686"/>
              <a:ext cx="1214446" cy="369332"/>
            </a:xfrm>
            <a:prstGeom prst="rect">
              <a:avLst/>
            </a:prstGeom>
            <a:noFill/>
          </p:spPr>
          <p:txBody>
            <a:bodyPr wrap="square" rtlCol="0">
              <a:spAutoFit/>
            </a:bodyPr>
            <a:lstStyle/>
            <a:p>
              <a:r>
                <a:rPr lang="en-US" dirty="0" smtClean="0"/>
                <a:t>Operations</a:t>
              </a:r>
            </a:p>
          </p:txBody>
        </p:sp>
        <p:sp>
          <p:nvSpPr>
            <p:cNvPr id="16" name="TextBox 15"/>
            <p:cNvSpPr txBox="1"/>
            <p:nvPr/>
          </p:nvSpPr>
          <p:spPr>
            <a:xfrm>
              <a:off x="2714612" y="3214686"/>
              <a:ext cx="1214446" cy="646331"/>
            </a:xfrm>
            <a:prstGeom prst="rect">
              <a:avLst/>
            </a:prstGeom>
            <a:noFill/>
          </p:spPr>
          <p:txBody>
            <a:bodyPr wrap="square" rtlCol="0">
              <a:spAutoFit/>
            </a:bodyPr>
            <a:lstStyle/>
            <a:p>
              <a:r>
                <a:rPr lang="en-US" dirty="0" smtClean="0"/>
                <a:t>Outbound </a:t>
              </a:r>
            </a:p>
            <a:p>
              <a:r>
                <a:rPr lang="en-US" dirty="0" smtClean="0"/>
                <a:t>Logistics</a:t>
              </a:r>
            </a:p>
          </p:txBody>
        </p:sp>
        <p:sp>
          <p:nvSpPr>
            <p:cNvPr id="17" name="TextBox 16"/>
            <p:cNvSpPr txBox="1"/>
            <p:nvPr/>
          </p:nvSpPr>
          <p:spPr>
            <a:xfrm>
              <a:off x="3929058" y="3214686"/>
              <a:ext cx="1214446" cy="923330"/>
            </a:xfrm>
            <a:prstGeom prst="rect">
              <a:avLst/>
            </a:prstGeom>
            <a:noFill/>
          </p:spPr>
          <p:txBody>
            <a:bodyPr wrap="square" rtlCol="0">
              <a:spAutoFit/>
            </a:bodyPr>
            <a:lstStyle/>
            <a:p>
              <a:r>
                <a:rPr lang="en-US" dirty="0" smtClean="0"/>
                <a:t>Marketing &amp;</a:t>
              </a:r>
            </a:p>
            <a:p>
              <a:r>
                <a:rPr lang="en-US" dirty="0" smtClean="0"/>
                <a:t>Sales</a:t>
              </a:r>
            </a:p>
          </p:txBody>
        </p:sp>
        <p:sp>
          <p:nvSpPr>
            <p:cNvPr id="18" name="TextBox 17"/>
            <p:cNvSpPr txBox="1"/>
            <p:nvPr/>
          </p:nvSpPr>
          <p:spPr>
            <a:xfrm>
              <a:off x="5143504" y="3214686"/>
              <a:ext cx="1214446" cy="369332"/>
            </a:xfrm>
            <a:prstGeom prst="rect">
              <a:avLst/>
            </a:prstGeom>
            <a:noFill/>
          </p:spPr>
          <p:txBody>
            <a:bodyPr wrap="square" rtlCol="0">
              <a:spAutoFit/>
            </a:bodyPr>
            <a:lstStyle/>
            <a:p>
              <a:r>
                <a:rPr lang="en-US" dirty="0" smtClean="0"/>
                <a:t>Service</a:t>
              </a:r>
            </a:p>
          </p:txBody>
        </p:sp>
        <p:cxnSp>
          <p:nvCxnSpPr>
            <p:cNvPr id="20" name="Straight Connector 19"/>
            <p:cNvCxnSpPr/>
            <p:nvPr/>
          </p:nvCxnSpPr>
          <p:spPr>
            <a:xfrm rot="5400000">
              <a:off x="750067"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1964513"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3107521"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4393405"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785786" y="4929198"/>
            <a:ext cx="6609823" cy="369332"/>
          </a:xfrm>
          <a:prstGeom prst="rect">
            <a:avLst/>
          </a:prstGeom>
          <a:noFill/>
        </p:spPr>
        <p:txBody>
          <a:bodyPr wrap="none" rtlCol="0">
            <a:spAutoFit/>
          </a:bodyPr>
          <a:lstStyle/>
          <a:p>
            <a:r>
              <a:rPr lang="en-US" dirty="0" smtClean="0"/>
              <a:t>Porter’s value chain showing support activities and primary activities.</a:t>
            </a:r>
            <a:endParaRPr lang="en-US" dirty="0"/>
          </a:p>
        </p:txBody>
      </p:sp>
      <p:sp>
        <p:nvSpPr>
          <p:cNvPr id="21" name="Slide Number Placeholder 20"/>
          <p:cNvSpPr>
            <a:spLocks noGrp="1"/>
          </p:cNvSpPr>
          <p:nvPr>
            <p:ph type="sldNum" sz="quarter" idx="12"/>
          </p:nvPr>
        </p:nvSpPr>
        <p:spPr/>
        <p:txBody>
          <a:bodyPr/>
          <a:lstStyle/>
          <a:p>
            <a:fld id="{B274294F-3089-4B37-AA52-685724062AD9}"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factors in evaluating </a:t>
            </a:r>
            <a:br>
              <a:rPr lang="en-US" dirty="0" smtClean="0"/>
            </a:br>
            <a:r>
              <a:rPr lang="en-US" dirty="0" smtClean="0"/>
              <a:t>Vendors for MIS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Possess long-range plans for support of the product.</a:t>
            </a:r>
          </a:p>
          <a:p>
            <a:r>
              <a:rPr lang="en-US" dirty="0" smtClean="0"/>
              <a:t>Possess a good corporate reputation for reliability</a:t>
            </a:r>
          </a:p>
          <a:p>
            <a:r>
              <a:rPr lang="en-US" dirty="0" smtClean="0"/>
              <a:t>Reflect financial stability</a:t>
            </a:r>
          </a:p>
          <a:p>
            <a:r>
              <a:rPr lang="en-US" dirty="0" smtClean="0"/>
              <a:t>Possess a high credibility rating in the industry</a:t>
            </a:r>
          </a:p>
          <a:p>
            <a:r>
              <a:rPr lang="en-US" dirty="0" smtClean="0"/>
              <a:t>Provide staff with in-depth industrial knowledge and background</a:t>
            </a:r>
          </a:p>
          <a:p>
            <a:r>
              <a:rPr lang="en-US" dirty="0" smtClean="0"/>
              <a:t>Possess an intimate knowledge of their product</a:t>
            </a:r>
          </a:p>
          <a:p>
            <a:r>
              <a:rPr lang="en-US" dirty="0" smtClean="0"/>
              <a:t>Be totally committed to the support of the product</a:t>
            </a:r>
          </a:p>
          <a:p>
            <a:r>
              <a:rPr lang="en-US" dirty="0" smtClean="0"/>
              <a:t>Be easily accessible and available to clients</a:t>
            </a:r>
          </a:p>
          <a:p>
            <a:r>
              <a:rPr lang="en-US" dirty="0" smtClean="0"/>
              <a:t>Provide an effective implementation program</a:t>
            </a:r>
          </a:p>
          <a:p>
            <a:r>
              <a:rPr lang="en-US" dirty="0" smtClean="0"/>
              <a:t>Provide additional services as needed to support the product</a:t>
            </a:r>
          </a:p>
          <a:p>
            <a:r>
              <a:rPr lang="en-US" dirty="0" smtClean="0"/>
              <a:t>Maintain effective communication with users</a:t>
            </a:r>
          </a:p>
          <a:p>
            <a:r>
              <a:rPr lang="en-US" dirty="0" smtClean="0"/>
              <a:t>Encourage user interaction and involvement</a:t>
            </a:r>
          </a:p>
          <a:p>
            <a:r>
              <a:rPr lang="en-US" dirty="0" smtClean="0"/>
              <a:t>Provide for a well-defined maintenance plan</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Procurement Management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processes related to the purchase of products, services or results necessary to perform the work.</a:t>
            </a:r>
          </a:p>
          <a:p>
            <a:r>
              <a:rPr lang="en-US" dirty="0" smtClean="0"/>
              <a:t>Includes contract management and change control processes required to administer contracts or purchase orders issued by authorized project team members.</a:t>
            </a:r>
          </a:p>
          <a:p>
            <a:r>
              <a:rPr lang="en-US" dirty="0" smtClean="0"/>
              <a:t>Also includes administering any contract issued by an outside organization (the buyer) that is acquiring the project from the performing organization (the seller), and administering contractual obligations placed on the project team by the contract</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Procurement Management</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Plan purchases and acquisitions</a:t>
            </a:r>
          </a:p>
          <a:p>
            <a:pPr lvl="1"/>
            <a:r>
              <a:rPr lang="en-US" dirty="0" smtClean="0"/>
              <a:t>Determining what to purchase and determining when and how to do so.</a:t>
            </a:r>
          </a:p>
          <a:p>
            <a:r>
              <a:rPr lang="en-US" dirty="0" smtClean="0"/>
              <a:t>Plan contracting</a:t>
            </a:r>
          </a:p>
          <a:p>
            <a:pPr lvl="1"/>
            <a:r>
              <a:rPr lang="en-US" dirty="0" smtClean="0"/>
              <a:t>Documenting products, services and results requirements and identifying potential sellers</a:t>
            </a:r>
          </a:p>
          <a:p>
            <a:r>
              <a:rPr lang="en-US" dirty="0" smtClean="0"/>
              <a:t>Request seller responses</a:t>
            </a:r>
          </a:p>
          <a:p>
            <a:pPr lvl="1"/>
            <a:r>
              <a:rPr lang="en-US" dirty="0" smtClean="0"/>
              <a:t>Obtaining information, quotations, bids, offers or proposals</a:t>
            </a:r>
          </a:p>
          <a:p>
            <a:r>
              <a:rPr lang="en-US" dirty="0" smtClean="0"/>
              <a:t>Select sellers</a:t>
            </a:r>
          </a:p>
          <a:p>
            <a:pPr lvl="1"/>
            <a:r>
              <a:rPr lang="en-US" dirty="0" smtClean="0"/>
              <a:t>Reviewing offers, choosing among potential sellers and negotiating a written contract with each seller</a:t>
            </a:r>
          </a:p>
          <a:p>
            <a:r>
              <a:rPr lang="en-US" dirty="0" smtClean="0"/>
              <a:t>Contract administration</a:t>
            </a:r>
          </a:p>
          <a:p>
            <a:pPr lvl="1"/>
            <a:r>
              <a:rPr lang="en-US" dirty="0" smtClean="0"/>
              <a:t>Managing the contract and relationship between the buyer and seller, reviewing and documenting how a seller is performing or has performed to establish required corrective actions and provide a basis for future relationships with the seller. Managing contract related changes and managing the relationship with the outside buyer of the project</a:t>
            </a:r>
          </a:p>
          <a:p>
            <a:r>
              <a:rPr lang="en-US" dirty="0" smtClean="0"/>
              <a:t>Contract closure</a:t>
            </a:r>
          </a:p>
          <a:p>
            <a:pPr lvl="1"/>
            <a:r>
              <a:rPr lang="en-US" dirty="0" smtClean="0"/>
              <a:t>Completing and settling each contract including the resolution of any open items, and closing each contract applicable to the project or a project phase.</a:t>
            </a:r>
          </a:p>
          <a:p>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979712" y="-60175"/>
            <a:ext cx="5922120" cy="6918175"/>
          </a:xfrm>
          <a:prstGeom prst="rect">
            <a:avLst/>
          </a:prstGeom>
          <a:noFill/>
          <a:ln w="9525">
            <a:noFill/>
            <a:miter lim="800000"/>
            <a:headEnd/>
            <a:tailEnd/>
          </a:ln>
        </p:spPr>
      </p:pic>
      <p:sp>
        <p:nvSpPr>
          <p:cNvPr id="5" name="Title 1"/>
          <p:cNvSpPr>
            <a:spLocks noGrp="1"/>
          </p:cNvSpPr>
          <p:nvPr>
            <p:ph type="title"/>
          </p:nvPr>
        </p:nvSpPr>
        <p:spPr>
          <a:xfrm>
            <a:off x="5508104" y="4869160"/>
            <a:ext cx="3168352" cy="1143000"/>
          </a:xfrm>
        </p:spPr>
        <p:txBody>
          <a:bodyPr>
            <a:normAutofit fontScale="90000"/>
          </a:bodyPr>
          <a:lstStyle/>
          <a:p>
            <a:r>
              <a:rPr lang="en-US" dirty="0" smtClean="0"/>
              <a:t>From PMBOK 4</a:t>
            </a:r>
            <a:r>
              <a:rPr lang="en-US" baseline="30000" dirty="0" smtClean="0"/>
              <a:t>th</a:t>
            </a:r>
            <a:r>
              <a:rPr lang="en-US" dirty="0" smtClean="0"/>
              <a:t> Edition</a:t>
            </a:r>
            <a:endParaRPr lang="en-US" dirty="0"/>
          </a:p>
        </p:txBody>
      </p:sp>
      <p:sp>
        <p:nvSpPr>
          <p:cNvPr id="6" name="Slide Number Placeholder 5"/>
          <p:cNvSpPr>
            <a:spLocks noGrp="1"/>
          </p:cNvSpPr>
          <p:nvPr>
            <p:ph type="sldNum" sz="quarter" idx="12"/>
          </p:nvPr>
        </p:nvSpPr>
        <p:spPr/>
        <p:txBody>
          <a:bodyPr/>
          <a:lstStyle/>
          <a:p>
            <a:fld id="{B274294F-3089-4B37-AA52-685724062AD9}"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Procurement Management</a:t>
            </a:r>
            <a:endParaRPr lang="en-GB" dirty="0"/>
          </a:p>
        </p:txBody>
      </p:sp>
      <p:sp>
        <p:nvSpPr>
          <p:cNvPr id="3" name="Content Placeholder 2"/>
          <p:cNvSpPr>
            <a:spLocks noGrp="1"/>
          </p:cNvSpPr>
          <p:nvPr>
            <p:ph idx="1"/>
          </p:nvPr>
        </p:nvSpPr>
        <p:spPr/>
        <p:txBody>
          <a:bodyPr/>
          <a:lstStyle/>
          <a:p>
            <a:r>
              <a:rPr lang="en-US" dirty="0" smtClean="0"/>
              <a:t>Plan Procurements</a:t>
            </a:r>
          </a:p>
          <a:p>
            <a:r>
              <a:rPr lang="en-US" dirty="0" smtClean="0"/>
              <a:t>Conduct Procurements</a:t>
            </a:r>
          </a:p>
          <a:p>
            <a:pPr lvl="1"/>
            <a:r>
              <a:rPr lang="en-US" dirty="0" smtClean="0"/>
              <a:t>Plan Contracting</a:t>
            </a:r>
          </a:p>
          <a:p>
            <a:pPr lvl="1"/>
            <a:r>
              <a:rPr lang="en-US" dirty="0" smtClean="0"/>
              <a:t>Request Seller Responses</a:t>
            </a:r>
          </a:p>
          <a:p>
            <a:pPr lvl="1"/>
            <a:r>
              <a:rPr lang="en-US" dirty="0" smtClean="0"/>
              <a:t>Select Sellers</a:t>
            </a:r>
          </a:p>
          <a:p>
            <a:r>
              <a:rPr lang="en-US" dirty="0" smtClean="0"/>
              <a:t>Administer Procurements</a:t>
            </a:r>
          </a:p>
          <a:p>
            <a:r>
              <a:rPr lang="en-US" dirty="0" smtClean="0"/>
              <a:t>Close Procurements</a:t>
            </a:r>
            <a:endParaRPr lang="en-GB"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7</a:t>
            </a:fld>
            <a:endParaRPr lang="en-US"/>
          </a:p>
        </p:txBody>
      </p:sp>
    </p:spTree>
    <p:extLst>
      <p:ext uri="{BB962C8B-B14F-4D97-AF65-F5344CB8AC3E}">
        <p14:creationId xmlns:p14="http://schemas.microsoft.com/office/powerpoint/2010/main" val="268296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mutually binding agreement that obligates the seller to provide the specified products, services or results and obligates the buyer to provide monetary or other valuable consideration.</a:t>
            </a:r>
          </a:p>
          <a:p>
            <a:r>
              <a:rPr lang="en-US" dirty="0" smtClean="0"/>
              <a:t>A contract is a legal relationship subject to remedy in the courts. Some agreements are simple others are complex. Contracts can reflect the simplicity or complexity of the deliverables.</a:t>
            </a:r>
          </a:p>
          <a:p>
            <a:r>
              <a:rPr lang="en-US" dirty="0" smtClean="0"/>
              <a:t>Depending on the application area, contracts can also be called an agreement, subcontract, or purchase order.</a:t>
            </a:r>
          </a:p>
          <a:p>
            <a:r>
              <a:rPr lang="en-US" dirty="0" smtClean="0"/>
              <a:t>Most organizations have well documented policies and procedures specifying who can enter into agreements on the organization’s behalf.</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purchases and acquisitions</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Plan Purchases and Acquisition process provides a pattern which can be used to determine which needs are better met by using an outside organization versus the project team. Common inputs to this decision is when the result is needed and how best to obtain the result.</a:t>
            </a:r>
          </a:p>
          <a:p>
            <a:r>
              <a:rPr lang="en-US" dirty="0"/>
              <a:t>As with all processes, there are inputs to the Plan Purchases and Acquisitions Process. These inputs provide the foundation for determining what, when, and how to purchase. These input </a:t>
            </a:r>
            <a:r>
              <a:rPr lang="en-US" dirty="0" smtClean="0"/>
              <a:t>are given next.</a:t>
            </a:r>
            <a:endParaRPr lang="en-US" dirty="0"/>
          </a:p>
          <a:p>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Inputs</a:t>
            </a:r>
            <a:endParaRPr lang="en-US" dirty="0"/>
          </a:p>
        </p:txBody>
      </p:sp>
      <p:sp>
        <p:nvSpPr>
          <p:cNvPr id="3" name="Content Placeholder 2"/>
          <p:cNvSpPr>
            <a:spLocks noGrp="1"/>
          </p:cNvSpPr>
          <p:nvPr>
            <p:ph idx="1"/>
          </p:nvPr>
        </p:nvSpPr>
        <p:spPr>
          <a:xfrm>
            <a:off x="500034" y="1571612"/>
            <a:ext cx="8229600" cy="4525963"/>
          </a:xfrm>
        </p:spPr>
        <p:txBody>
          <a:bodyPr>
            <a:normAutofit fontScale="47500" lnSpcReduction="20000"/>
          </a:bodyPr>
          <a:lstStyle/>
          <a:p>
            <a:pPr marL="0" indent="0">
              <a:buNone/>
            </a:pPr>
            <a:r>
              <a:rPr lang="en-US" b="1" dirty="0"/>
              <a:t>Enterprise Environmental Factors</a:t>
            </a:r>
            <a:r>
              <a:rPr lang="en-US" dirty="0"/>
              <a:t> – Enterprise environmental factors concerning mark conditions. What products, services, and results are available in the marketplace? Where can you obtain them? Are there terms and conditions which are applicable? Is there a legal or purchasing department? Or is that the project teams responsibility?</a:t>
            </a:r>
          </a:p>
          <a:p>
            <a:pPr marL="0" indent="0">
              <a:buNone/>
            </a:pPr>
            <a:r>
              <a:rPr lang="en-US" dirty="0"/>
              <a:t/>
            </a:r>
            <a:br>
              <a:rPr lang="en-US" dirty="0"/>
            </a:br>
            <a:r>
              <a:rPr lang="en-US" b="1" dirty="0"/>
              <a:t>Organizational Process Assets</a:t>
            </a:r>
            <a:r>
              <a:rPr lang="en-US" dirty="0"/>
              <a:t> – Organizational process assets depicts whether formal or informal policies and procedures exist for dealing with procurement within the organization. Some common types of organizational process assets are, all requisitions for purchase orders must be signed by the CIO. All purchase requisitions above $2000 must be initialed by all EVPs. All vendors must have been in business for a period of at least 3 years.</a:t>
            </a:r>
          </a:p>
          <a:p>
            <a:pPr marL="0" indent="0">
              <a:buNone/>
            </a:pPr>
            <a:r>
              <a:rPr lang="en-US" dirty="0"/>
              <a:t/>
            </a:r>
            <a:br>
              <a:rPr lang="en-US" dirty="0"/>
            </a:br>
            <a:r>
              <a:rPr lang="en-US" b="1" dirty="0"/>
              <a:t>Project Scope Statement</a:t>
            </a:r>
            <a:r>
              <a:rPr lang="en-US" dirty="0"/>
              <a:t> – Project Scope Statement details the projects boundaries, requirements, constraints, and assumptions. Check out the constraints in the project scope statement to see if there are any required delivery dates or need for skilled resources.</a:t>
            </a:r>
          </a:p>
          <a:p>
            <a:pPr marL="0" indent="0">
              <a:buNone/>
            </a:pPr>
            <a:r>
              <a:rPr lang="en-US" dirty="0"/>
              <a:t/>
            </a:r>
            <a:br>
              <a:rPr lang="en-US" dirty="0"/>
            </a:br>
            <a:r>
              <a:rPr lang="en-US" b="1" dirty="0"/>
              <a:t>Work Breakdown Structure</a:t>
            </a:r>
            <a:r>
              <a:rPr lang="en-US" dirty="0"/>
              <a:t> – The Work Breakdown structure illustrates how each work package’s interdependencies.</a:t>
            </a:r>
          </a:p>
          <a:p>
            <a:pPr marL="0" indent="0">
              <a:buNone/>
            </a:pPr>
            <a:r>
              <a:rPr lang="en-US" dirty="0"/>
              <a:t/>
            </a:r>
            <a:br>
              <a:rPr lang="en-US" dirty="0"/>
            </a:br>
            <a:r>
              <a:rPr lang="en-US" b="1" dirty="0"/>
              <a:t>WBS Dictionary</a:t>
            </a:r>
            <a:r>
              <a:rPr lang="en-US" dirty="0"/>
              <a:t> – The WBS Dictionary details the work needed to complete each WBS package. Check out the contract info and quality needs when reviewing for the planning and acquisition process.</a:t>
            </a:r>
          </a:p>
          <a:p>
            <a:pPr marL="0" lvl="1" indent="0">
              <a:buNone/>
            </a:pPr>
            <a:r>
              <a:rPr lang="en-US" dirty="0" smtClean="0"/>
              <a:t/>
            </a:r>
            <a:br>
              <a:rPr lang="en-US" dirty="0" smtClean="0"/>
            </a:br>
            <a:r>
              <a:rPr lang="en-US" sz="3200" b="1" dirty="0"/>
              <a:t>Project Management Plan</a:t>
            </a:r>
            <a:r>
              <a:rPr lang="en-US" dirty="0" smtClean="0"/>
              <a:t> –  </a:t>
            </a:r>
            <a:r>
              <a:rPr lang="en-US" sz="3200" dirty="0"/>
              <a:t>Check out the following items: Risk register, Risk related contractual agreements, Activity resource requirements, Project  schedule, Activity cost estimates, Cost baseline.</a:t>
            </a:r>
          </a:p>
          <a:p>
            <a:pPr marL="0" indent="0">
              <a:buNone/>
            </a:pP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lvl="0"/>
            <a:r>
              <a:rPr lang="en-US" b="1" dirty="0"/>
              <a:t>Make-or-buy Decisions</a:t>
            </a:r>
            <a:r>
              <a:rPr lang="en-US" dirty="0"/>
              <a:t> - Make-or-buy analysis involves comparing the relative benefits of in-house versus out-sourcing production of a given product, service, or result. Common considers are if the skill set in house is capable of delivering the product or service and if the same quality or a higher standard can be obtained from outside</a:t>
            </a:r>
            <a:r>
              <a:rPr lang="en-US" dirty="0" smtClean="0"/>
              <a:t>.</a:t>
            </a:r>
            <a:r>
              <a:rPr lang="en-US" dirty="0"/>
              <a:t/>
            </a:r>
            <a:br>
              <a:rPr lang="en-US" dirty="0"/>
            </a:br>
            <a:endParaRPr lang="en-US" dirty="0"/>
          </a:p>
          <a:p>
            <a:pPr lvl="0"/>
            <a:r>
              <a:rPr lang="en-US" b="1" dirty="0"/>
              <a:t>Expert Judgment</a:t>
            </a:r>
            <a:r>
              <a:rPr lang="en-US" dirty="0"/>
              <a:t> - Expert judgment brings in specialized advice, such as technical, legal, or market knowledge, to inform buying decisions. Sometimes using experts can bring about new approaches which simply were not considered without the expertise or experience of being one that has already been there done that</a:t>
            </a:r>
            <a:r>
              <a:rPr lang="en-US" dirty="0" smtClean="0"/>
              <a:t>.</a:t>
            </a:r>
            <a:r>
              <a:rPr lang="en-US" dirty="0"/>
              <a:t/>
            </a:r>
            <a:br>
              <a:rPr lang="en-US" dirty="0"/>
            </a:br>
            <a:endParaRPr lang="en-US" dirty="0"/>
          </a:p>
          <a:p>
            <a:pPr lvl="0"/>
            <a:r>
              <a:rPr lang="en-US" b="1" dirty="0"/>
              <a:t>Contract Types</a:t>
            </a:r>
            <a:r>
              <a:rPr lang="en-US" dirty="0"/>
              <a:t> - Contract Types are the types of contracts available for use. Different contracts are used for different purposes and intents. Generally there are three main categories:</a:t>
            </a:r>
          </a:p>
          <a:p>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 Types</a:t>
            </a:r>
            <a:endParaRPr lang="en-US" dirty="0"/>
          </a:p>
        </p:txBody>
      </p:sp>
      <p:sp>
        <p:nvSpPr>
          <p:cNvPr id="3" name="Content Placeholder 2"/>
          <p:cNvSpPr>
            <a:spLocks noGrp="1"/>
          </p:cNvSpPr>
          <p:nvPr>
            <p:ph idx="1"/>
          </p:nvPr>
        </p:nvSpPr>
        <p:spPr>
          <a:xfrm>
            <a:off x="457200" y="1214422"/>
            <a:ext cx="8229600" cy="5357850"/>
          </a:xfrm>
        </p:spPr>
        <p:txBody>
          <a:bodyPr>
            <a:normAutofit fontScale="25000" lnSpcReduction="20000"/>
          </a:bodyPr>
          <a:lstStyle/>
          <a:p>
            <a:pPr marL="0" lvl="0" indent="0">
              <a:buNone/>
            </a:pPr>
            <a:r>
              <a:rPr lang="en-US" sz="6400" b="1" dirty="0"/>
              <a:t>Contract Types </a:t>
            </a:r>
            <a:r>
              <a:rPr lang="en-US" sz="6400" dirty="0"/>
              <a:t>- </a:t>
            </a:r>
            <a:r>
              <a:rPr lang="en-US" sz="6400" dirty="0" smtClean="0"/>
              <a:t>Different </a:t>
            </a:r>
            <a:r>
              <a:rPr lang="en-US" sz="6400" dirty="0"/>
              <a:t>contracts are used for different purposes and intents. Generally there are three main categories:</a:t>
            </a:r>
          </a:p>
          <a:p>
            <a:pPr marL="0" lvl="0" indent="0">
              <a:buNone/>
            </a:pPr>
            <a:endParaRPr lang="en-US" sz="4400" dirty="0"/>
          </a:p>
          <a:p>
            <a:pPr lvl="1"/>
            <a:r>
              <a:rPr lang="en-US" sz="6200" b="1" dirty="0"/>
              <a:t>Fixed-price or lump-sum contracts</a:t>
            </a:r>
            <a:r>
              <a:rPr lang="en-US" sz="6200" dirty="0"/>
              <a:t> – Generally involves a total price for a </a:t>
            </a:r>
            <a:r>
              <a:rPr lang="en-US" sz="6200" dirty="0" smtClean="0"/>
              <a:t>well-defined </a:t>
            </a:r>
            <a:r>
              <a:rPr lang="en-US" sz="6200" dirty="0"/>
              <a:t>product. Fixed-price contracts may include incentives for early delivery. Buying shrink wrapped software is commonly a fixed price contract</a:t>
            </a:r>
            <a:r>
              <a:rPr lang="en-US" sz="6200" dirty="0" smtClean="0"/>
              <a:t>.</a:t>
            </a:r>
            <a:r>
              <a:rPr lang="en-US" sz="6200" dirty="0"/>
              <a:t/>
            </a:r>
            <a:br>
              <a:rPr lang="en-US" sz="6200" dirty="0"/>
            </a:br>
            <a:endParaRPr lang="en-US" sz="6200" dirty="0"/>
          </a:p>
          <a:p>
            <a:pPr lvl="1"/>
            <a:r>
              <a:rPr lang="en-US" sz="6200" b="1" dirty="0"/>
              <a:t>Cost-reimbursable contracts</a:t>
            </a:r>
            <a:r>
              <a:rPr lang="en-US" sz="6200" dirty="0"/>
              <a:t> – Generally involves payment to the vendor for actual cost plus a fee for profit. Actual costs comprise direct and indirect cost of making the product or providing the service. There are three common types of cost-reimbursable contracts.</a:t>
            </a:r>
          </a:p>
          <a:p>
            <a:pPr lvl="2"/>
            <a:r>
              <a:rPr lang="en-US" sz="6200" b="1" dirty="0" smtClean="0"/>
              <a:t>Cost-Plus-Fee </a:t>
            </a:r>
            <a:r>
              <a:rPr lang="en-US" sz="6200" b="1" dirty="0"/>
              <a:t>(CPF) or Cost-Plus-Percentage of Cost (CPPC)</a:t>
            </a:r>
            <a:r>
              <a:rPr lang="en-US" sz="6200" dirty="0"/>
              <a:t> </a:t>
            </a:r>
            <a:r>
              <a:rPr lang="en-US" sz="6200" dirty="0" smtClean="0"/>
              <a:t>– the </a:t>
            </a:r>
            <a:r>
              <a:rPr lang="en-US" sz="6200" dirty="0"/>
              <a:t>seller is reimbursed for the allowable costs and receives a percentage of the costs as a fee.</a:t>
            </a:r>
          </a:p>
          <a:p>
            <a:pPr lvl="2"/>
            <a:r>
              <a:rPr lang="en-US" sz="6200" dirty="0" smtClean="0"/>
              <a:t>Cost-Plus-Fixed-Fee </a:t>
            </a:r>
            <a:r>
              <a:rPr lang="en-US" sz="6200" dirty="0"/>
              <a:t>(CPFF) </a:t>
            </a:r>
            <a:r>
              <a:rPr lang="en-US" sz="6200" dirty="0" smtClean="0"/>
              <a:t>– the </a:t>
            </a:r>
            <a:r>
              <a:rPr lang="en-US" sz="6200" dirty="0"/>
              <a:t>vendor is reimbursed for allowable costs and receives a fixed fee. The fee normally doesn’t change unless scope changes allocate a new fee.</a:t>
            </a:r>
          </a:p>
          <a:p>
            <a:pPr lvl="2"/>
            <a:r>
              <a:rPr lang="en-US" sz="6200" b="1" dirty="0" smtClean="0"/>
              <a:t>Cost-Plus-Incentive-Fee </a:t>
            </a:r>
            <a:r>
              <a:rPr lang="en-US" sz="6200" b="1" dirty="0"/>
              <a:t>(CPIF)</a:t>
            </a:r>
            <a:r>
              <a:rPr lang="en-US" sz="6200" dirty="0"/>
              <a:t> – Cost-Plus-Incentive reimburses the seller for allowable costs and allocates a predetermined fee, as an incentive for achieving certain performance objectives</a:t>
            </a:r>
            <a:r>
              <a:rPr lang="en-US" sz="6200" dirty="0" smtClean="0"/>
              <a:t>.</a:t>
            </a:r>
          </a:p>
          <a:p>
            <a:pPr lvl="2">
              <a:buNone/>
            </a:pPr>
            <a:endParaRPr lang="en-US" sz="6200" dirty="0"/>
          </a:p>
          <a:p>
            <a:pPr lvl="1"/>
            <a:r>
              <a:rPr lang="en-US" sz="6200" b="1" dirty="0"/>
              <a:t>Time and Material contracts</a:t>
            </a:r>
            <a:r>
              <a:rPr lang="en-US" sz="6200" dirty="0"/>
              <a:t> </a:t>
            </a:r>
            <a:r>
              <a:rPr lang="en-US" sz="6200" dirty="0" smtClean="0"/>
              <a:t>–a </a:t>
            </a:r>
            <a:r>
              <a:rPr lang="en-US" sz="6200" dirty="0"/>
              <a:t>hybrid combination of cost-reimbursable and </a:t>
            </a:r>
            <a:r>
              <a:rPr lang="en-US" sz="6200" dirty="0" smtClean="0"/>
              <a:t>fixed </a:t>
            </a:r>
            <a:r>
              <a:rPr lang="en-US" sz="6200" dirty="0"/>
              <a:t>price contracts. A common indicator is their open-ended nature. The full value of the agreement and the exact quantity of items to be delivered are not defined at the time of contract award.</a:t>
            </a:r>
          </a:p>
          <a:p>
            <a:pPr>
              <a:buNone/>
            </a:pPr>
            <a:endParaRPr lang="en-US" sz="6200"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Outputs</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Procurement Management Plan</a:t>
            </a:r>
            <a:r>
              <a:rPr lang="en-US" dirty="0"/>
              <a:t> – The procurement management plan explains how procurement will be managed from inception to closing. Commonly the procurement management plan details the types of contracts to be used, who is accountable for estimates, the guidelines for the build or buy decision. What are the common lead times and how best to handle them? Finally what is the form and format of the statement of work</a:t>
            </a:r>
            <a:r>
              <a:rPr lang="en-US" dirty="0" smtClean="0"/>
              <a:t>?</a:t>
            </a:r>
            <a:r>
              <a:rPr lang="en-US" dirty="0"/>
              <a:t/>
            </a:r>
            <a:br>
              <a:rPr lang="en-US" dirty="0"/>
            </a:br>
            <a:endParaRPr lang="en-US" dirty="0"/>
          </a:p>
          <a:p>
            <a:pPr marL="0" indent="0">
              <a:buNone/>
            </a:pPr>
            <a:r>
              <a:rPr lang="en-US" b="1" dirty="0"/>
              <a:t>Contract Statement of Work (SOW)</a:t>
            </a:r>
            <a:r>
              <a:rPr lang="en-US" dirty="0"/>
              <a:t> - The contract statement of work explains the items being purchased with enough detail and clarifications for everyone to be in agreement with what is being purchased. The contract statement of work should have a clear concise description of the services needed and operational support.</a:t>
            </a:r>
          </a:p>
          <a:p>
            <a:pPr marL="0" indent="0">
              <a:buNone/>
            </a:pPr>
            <a:endParaRPr lang="en-US" dirty="0"/>
          </a:p>
          <a:p>
            <a:pPr marL="0" indent="0">
              <a:buNone/>
            </a:pPr>
            <a:r>
              <a:rPr lang="en-US" b="1" dirty="0"/>
              <a:t>Make-or-buy Decisions</a:t>
            </a:r>
            <a:r>
              <a:rPr lang="en-US" dirty="0"/>
              <a:t> – Make or buy decisions are pretty self explanatory as to the purpose. However, it is good to have a document with a list of the justification for the decision and responsible party.</a:t>
            </a:r>
          </a:p>
          <a:p>
            <a:pPr marL="0" indent="0">
              <a:buNone/>
            </a:pPr>
            <a:endParaRPr lang="en-US" dirty="0"/>
          </a:p>
          <a:p>
            <a:pPr marL="0" indent="0">
              <a:buNone/>
            </a:pPr>
            <a:r>
              <a:rPr lang="en-US" b="1" dirty="0"/>
              <a:t>Requested Changes</a:t>
            </a:r>
            <a:r>
              <a:rPr lang="en-US" dirty="0"/>
              <a:t> – Requested changes to the plan should be placed into the integrated change control process</a:t>
            </a:r>
            <a:r>
              <a:rPr lang="en-US" dirty="0" smtClean="0"/>
              <a:t>.</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Contracting</a:t>
            </a:r>
            <a:endParaRPr lang="en-US" dirty="0"/>
          </a:p>
        </p:txBody>
      </p:sp>
      <p:sp>
        <p:nvSpPr>
          <p:cNvPr id="3" name="Content Placeholder 2"/>
          <p:cNvSpPr>
            <a:spLocks noGrp="1"/>
          </p:cNvSpPr>
          <p:nvPr>
            <p:ph idx="1"/>
          </p:nvPr>
        </p:nvSpPr>
        <p:spPr/>
        <p:txBody>
          <a:bodyPr/>
          <a:lstStyle/>
          <a:p>
            <a:r>
              <a:rPr lang="en-US" dirty="0" smtClean="0"/>
              <a:t>Prepares the documents need to support the Request Seller Responses process and Select sellers process</a:t>
            </a:r>
          </a:p>
          <a:p>
            <a:pPr>
              <a:buNone/>
            </a:pP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Procurement management plan</a:t>
            </a:r>
          </a:p>
          <a:p>
            <a:r>
              <a:rPr lang="en-US" dirty="0" smtClean="0"/>
              <a:t>Contract statement of work</a:t>
            </a:r>
          </a:p>
          <a:p>
            <a:r>
              <a:rPr lang="en-US" dirty="0" smtClean="0"/>
              <a:t>Make or buy decisions – list of items to be purchased those to be produced by the project team</a:t>
            </a:r>
          </a:p>
          <a:p>
            <a:r>
              <a:rPr lang="en-US" dirty="0" smtClean="0"/>
              <a:t>Project management plan</a:t>
            </a:r>
          </a:p>
          <a:p>
            <a:pPr lvl="1"/>
            <a:r>
              <a:rPr lang="en-US" dirty="0" smtClean="0"/>
              <a:t>Risk register – risk related information such as identified risks, root causes of risks, risk owners, risk analysis results, risk prioritization, risk categorization and risk responses generated by the risk management process.</a:t>
            </a:r>
          </a:p>
          <a:p>
            <a:pPr lvl="1"/>
            <a:r>
              <a:rPr lang="en-US" dirty="0" smtClean="0"/>
              <a:t>Risk related contractual agreements – agreements for insurance, services etc that are prepared to specify each party’s responsibility for specific risks.</a:t>
            </a:r>
          </a:p>
          <a:p>
            <a:pPr lvl="1"/>
            <a:r>
              <a:rPr lang="en-US" dirty="0" smtClean="0"/>
              <a:t>Resource requirements</a:t>
            </a:r>
          </a:p>
          <a:p>
            <a:pPr lvl="1"/>
            <a:r>
              <a:rPr lang="en-US" dirty="0" smtClean="0"/>
              <a:t>Project schedule</a:t>
            </a:r>
          </a:p>
          <a:p>
            <a:pPr lvl="1"/>
            <a:r>
              <a:rPr lang="en-US" dirty="0" smtClean="0"/>
              <a:t>Activity cost estimate</a:t>
            </a:r>
          </a:p>
          <a:p>
            <a:pPr lvl="1"/>
            <a:r>
              <a:rPr lang="en-US" dirty="0" smtClean="0"/>
              <a:t>Cost baseline</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techniques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Standard forms – include standard contracts, standard descriptions of procurement items, non-disclosure agreements, proposal evaluation criteria checklists, or standardized versions of all parts of the needed bid documents.</a:t>
            </a:r>
          </a:p>
          <a:p>
            <a:r>
              <a:rPr lang="en-US" dirty="0" smtClean="0"/>
              <a:t>Expert </a:t>
            </a:r>
            <a:r>
              <a:rPr lang="en-US" dirty="0" err="1" smtClean="0"/>
              <a:t>judgement</a:t>
            </a:r>
            <a:r>
              <a:rPr lang="en-US" dirty="0" smtClean="0"/>
              <a:t>  - often required to assess the inputs to and outputs from a process. Expert purchasing </a:t>
            </a:r>
            <a:r>
              <a:rPr lang="en-US" dirty="0" err="1" smtClean="0"/>
              <a:t>judgement</a:t>
            </a:r>
            <a:r>
              <a:rPr lang="en-US" dirty="0" smtClean="0"/>
              <a:t> can also be used to evaluate offers or proposals made by sellers. Expert legal </a:t>
            </a:r>
            <a:r>
              <a:rPr lang="en-US" dirty="0" err="1" smtClean="0"/>
              <a:t>judgement</a:t>
            </a:r>
            <a:r>
              <a:rPr lang="en-US" dirty="0" smtClean="0"/>
              <a:t> may involve the services of a lawyer to assist with non-standard procurement terms and conditions.</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Procurement documents – used to seek proposals from prospective sellers. A term such as bid, tender, or quotation is generally used when the seller selection decision will be based on price (when buying commercial or standard items), while a term such as proposal is generally used when other considerations, such as technical skills or technical approach, are paramount. Common names are “invitation to bid,” “request for proposal,” “request for quotation,” “tender notice,” “invitation for negotiation,” and “contractor initial response.” Procurement documents are structured to facilitate an accurate and complete response from prospective sellers and to facilitate easy evaluation of the bids.</a:t>
            </a:r>
          </a:p>
          <a:p>
            <a:r>
              <a:rPr lang="en-US" dirty="0" smtClean="0"/>
              <a:t>Evaluation criteria – used to rate or score proposals. Can be objective or subjective. Can be limited to purchase price, but often other criteria need to be taken into consideration. E.g. understanding of need, overall or life-cycle cost, technical capability, management approach, technical approach, financial capacity and interest, references, intellectual property rights, proprietary rights.</a:t>
            </a:r>
          </a:p>
          <a:p>
            <a:r>
              <a:rPr lang="en-US" dirty="0" smtClean="0"/>
              <a:t>Contract statement of work (updates)</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Request Seller Responses</a:t>
            </a:r>
            <a:endParaRPr lang="en-US" dirty="0"/>
          </a:p>
        </p:txBody>
      </p:sp>
      <p:sp>
        <p:nvSpPr>
          <p:cNvPr id="3" name="Content Placeholder 2"/>
          <p:cNvSpPr>
            <a:spLocks noGrp="1"/>
          </p:cNvSpPr>
          <p:nvPr>
            <p:ph idx="1"/>
          </p:nvPr>
        </p:nvSpPr>
        <p:spPr/>
        <p:txBody>
          <a:bodyPr/>
          <a:lstStyle/>
          <a:p>
            <a:r>
              <a:rPr lang="en-US" dirty="0" smtClean="0"/>
              <a:t>Obtains responses such as bids and proposals, from prospective sellers on how project requirements can be met. The prospective sellers, normally at no direct cost to the project or buyer, expend most of the actual effort in this process.</a:t>
            </a:r>
          </a:p>
          <a:p>
            <a:endParaRPr lang="en-US" dirty="0"/>
          </a:p>
        </p:txBody>
      </p:sp>
      <p:graphicFrame>
        <p:nvGraphicFramePr>
          <p:cNvPr id="4" name="Table 3"/>
          <p:cNvGraphicFramePr>
            <a:graphicFrameLocks noGrp="1"/>
          </p:cNvGraphicFramePr>
          <p:nvPr/>
        </p:nvGraphicFramePr>
        <p:xfrm>
          <a:off x="928662" y="4572008"/>
          <a:ext cx="7215237" cy="2108200"/>
        </p:xfrm>
        <a:graphic>
          <a:graphicData uri="http://schemas.openxmlformats.org/drawingml/2006/table">
            <a:tbl>
              <a:tblPr firstRow="1" bandRow="1">
                <a:tableStyleId>{5C22544A-7EE6-4342-B048-85BDC9FD1C3A}</a:tableStyleId>
              </a:tblPr>
              <a:tblGrid>
                <a:gridCol w="2405079">
                  <a:extLst>
                    <a:ext uri="{9D8B030D-6E8A-4147-A177-3AD203B41FA5}">
                      <a16:colId xmlns:a16="http://schemas.microsoft.com/office/drawing/2014/main" val="20000"/>
                    </a:ext>
                  </a:extLst>
                </a:gridCol>
                <a:gridCol w="2405079">
                  <a:extLst>
                    <a:ext uri="{9D8B030D-6E8A-4147-A177-3AD203B41FA5}">
                      <a16:colId xmlns:a16="http://schemas.microsoft.com/office/drawing/2014/main" val="20001"/>
                    </a:ext>
                  </a:extLst>
                </a:gridCol>
                <a:gridCol w="2405079">
                  <a:extLst>
                    <a:ext uri="{9D8B030D-6E8A-4147-A177-3AD203B41FA5}">
                      <a16:colId xmlns:a16="http://schemas.microsoft.com/office/drawing/2014/main" val="20002"/>
                    </a:ext>
                  </a:extLst>
                </a:gridCol>
              </a:tblGrid>
              <a:tr h="370840">
                <a:tc>
                  <a:txBody>
                    <a:bodyPr/>
                    <a:lstStyle/>
                    <a:p>
                      <a:r>
                        <a:rPr lang="en-US" dirty="0" smtClean="0"/>
                        <a:t>Inputs</a:t>
                      </a:r>
                      <a:endParaRPr lang="en-US" dirty="0"/>
                    </a:p>
                  </a:txBody>
                  <a:tcPr/>
                </a:tc>
                <a:tc>
                  <a:txBody>
                    <a:bodyPr/>
                    <a:lstStyle/>
                    <a:p>
                      <a:r>
                        <a:rPr lang="en-US" dirty="0" smtClean="0"/>
                        <a:t>Tools and Techniques</a:t>
                      </a:r>
                      <a:endParaRPr lang="en-US" dirty="0"/>
                    </a:p>
                  </a:txBody>
                  <a:tcPr/>
                </a:tc>
                <a:tc>
                  <a:txBody>
                    <a:bodyPr/>
                    <a:lstStyle/>
                    <a:p>
                      <a:r>
                        <a:rPr lang="en-US" dirty="0" smtClean="0"/>
                        <a:t>Outputs</a:t>
                      </a:r>
                      <a:endParaRPr lang="en-US" dirty="0"/>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dirty="0" smtClean="0"/>
                        <a:t>Organizational process assets</a:t>
                      </a:r>
                    </a:p>
                    <a:p>
                      <a:pPr marL="342900" indent="-342900">
                        <a:buFont typeface="+mj-lt"/>
                        <a:buAutoNum type="arabicPeriod"/>
                      </a:pPr>
                      <a:r>
                        <a:rPr lang="en-US" dirty="0" smtClean="0"/>
                        <a:t>Procurement</a:t>
                      </a:r>
                      <a:r>
                        <a:rPr lang="en-US" baseline="0" dirty="0" smtClean="0"/>
                        <a:t> management plan</a:t>
                      </a:r>
                    </a:p>
                    <a:p>
                      <a:pPr marL="342900" indent="-342900">
                        <a:buFont typeface="+mj-lt"/>
                        <a:buAutoNum type="arabicPeriod"/>
                      </a:pPr>
                      <a:r>
                        <a:rPr lang="en-US" baseline="0" dirty="0" smtClean="0"/>
                        <a:t>Procurement documents</a:t>
                      </a:r>
                      <a:endParaRPr lang="en-US" dirty="0"/>
                    </a:p>
                  </a:txBody>
                  <a:tcPr/>
                </a:tc>
                <a:tc>
                  <a:txBody>
                    <a:bodyPr/>
                    <a:lstStyle/>
                    <a:p>
                      <a:pPr marL="342900" indent="-342900">
                        <a:buFont typeface="+mj-lt"/>
                        <a:buAutoNum type="arabicPeriod"/>
                      </a:pPr>
                      <a:r>
                        <a:rPr lang="en-US" sz="1800" kern="1200" dirty="0" smtClean="0">
                          <a:solidFill>
                            <a:schemeClr val="dk1"/>
                          </a:solidFill>
                          <a:latin typeface="+mn-lt"/>
                          <a:ea typeface="+mn-ea"/>
                          <a:cs typeface="+mn-cs"/>
                        </a:rPr>
                        <a:t>Bidder conferences</a:t>
                      </a:r>
                    </a:p>
                    <a:p>
                      <a:pPr marL="342900" indent="-342900">
                        <a:buFont typeface="+mj-lt"/>
                        <a:buAutoNum type="arabicPeriod"/>
                      </a:pPr>
                      <a:r>
                        <a:rPr lang="en-US" sz="1800" kern="1200" dirty="0" smtClean="0">
                          <a:solidFill>
                            <a:schemeClr val="dk1"/>
                          </a:solidFill>
                          <a:latin typeface="+mn-lt"/>
                          <a:ea typeface="+mn-ea"/>
                          <a:cs typeface="+mn-cs"/>
                        </a:rPr>
                        <a:t>Advertising</a:t>
                      </a:r>
                    </a:p>
                    <a:p>
                      <a:pPr marL="342900" indent="-342900">
                        <a:buFont typeface="+mj-lt"/>
                        <a:buAutoNum type="arabicPeriod"/>
                      </a:pPr>
                      <a:r>
                        <a:rPr lang="en-US" sz="1800" kern="1200" dirty="0" smtClean="0">
                          <a:solidFill>
                            <a:schemeClr val="dk1"/>
                          </a:solidFill>
                          <a:latin typeface="+mn-lt"/>
                          <a:ea typeface="+mn-ea"/>
                          <a:cs typeface="+mn-cs"/>
                        </a:rPr>
                        <a:t>Develop qualified sellers list</a:t>
                      </a:r>
                    </a:p>
                  </a:txBody>
                  <a:tcPr/>
                </a:tc>
                <a:tc>
                  <a:txBody>
                    <a:bodyPr/>
                    <a:lstStyle/>
                    <a:p>
                      <a:pPr marL="342900" indent="-342900">
                        <a:buFont typeface="+mj-lt"/>
                        <a:buAutoNum type="arabicPeriod"/>
                      </a:pPr>
                      <a:r>
                        <a:rPr lang="en-US" dirty="0" smtClean="0"/>
                        <a:t>Qualified sellers list</a:t>
                      </a:r>
                    </a:p>
                    <a:p>
                      <a:pPr marL="342900" indent="-342900">
                        <a:buFont typeface="+mj-lt"/>
                        <a:buAutoNum type="arabicPeriod"/>
                      </a:pPr>
                      <a:r>
                        <a:rPr lang="en-US" dirty="0" smtClean="0"/>
                        <a:t>Procurement document</a:t>
                      </a:r>
                      <a:r>
                        <a:rPr lang="en-US" baseline="0" dirty="0" smtClean="0"/>
                        <a:t> package</a:t>
                      </a:r>
                    </a:p>
                    <a:p>
                      <a:pPr marL="342900" indent="-342900">
                        <a:buFont typeface="+mj-lt"/>
                        <a:buAutoNum type="arabicPeriod"/>
                      </a:pPr>
                      <a:r>
                        <a:rPr lang="en-US" baseline="0" dirty="0" smtClean="0"/>
                        <a:t>Proposals</a:t>
                      </a:r>
                      <a:endParaRPr lang="en-US" dirty="0"/>
                    </a:p>
                  </a:txBody>
                  <a:tcPr/>
                </a:tc>
                <a:extLst>
                  <a:ext uri="{0D108BD9-81ED-4DB2-BD59-A6C34878D82A}">
                    <a16:rowId xmlns:a16="http://schemas.microsoft.com/office/drawing/2014/main" val="10001"/>
                  </a:ext>
                </a:extLst>
              </a:tr>
            </a:tbl>
          </a:graphicData>
        </a:graphic>
      </p:graphicFrame>
      <p:sp>
        <p:nvSpPr>
          <p:cNvPr id="5" name="Slide Number Placeholder 4"/>
          <p:cNvSpPr>
            <a:spLocks noGrp="1"/>
          </p:cNvSpPr>
          <p:nvPr>
            <p:ph type="sldNum" sz="quarter" idx="12"/>
          </p:nvPr>
        </p:nvSpPr>
        <p:spPr/>
        <p:txBody>
          <a:bodyPr/>
          <a:lstStyle/>
          <a:p>
            <a:fld id="{B274294F-3089-4B37-AA52-685724062AD9}"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Organization Process Assets – some organizations maintain lists or files with information on prospective and previously qualified sellers (sometimes called bidders) who can be asked to bid, propose, or quote on work. These lists will generally have information on relevant past experience and other characteristics of the prospective sellers.</a:t>
            </a:r>
          </a:p>
          <a:p>
            <a:r>
              <a:rPr lang="en-US" dirty="0" smtClean="0"/>
              <a:t>Procurement management plan – describes how the procurement process will be managed from developing procurement documentation through to contract closure. Possible includes: contract types, who prepares estimates, standardized procurement documents, managing multiple providers, coordinating procurement with other project aspects like scheduling, etc. </a:t>
            </a: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461</TotalTime>
  <Words>2026</Words>
  <Application>Microsoft Office PowerPoint</Application>
  <PresentationFormat>On-screen Show (4:3)</PresentationFormat>
  <Paragraphs>148</Paragraphs>
  <Slides>19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Project Procurement</vt:lpstr>
      <vt:lpstr>Porter’s Value Chain</vt:lpstr>
      <vt:lpstr>Key factors in evaluating  Vendors for MIS</vt:lpstr>
      <vt:lpstr>Project Procurement Management</vt:lpstr>
      <vt:lpstr>Project Procurement Management</vt:lpstr>
      <vt:lpstr>From PMBOK 4th Edition</vt:lpstr>
      <vt:lpstr>Project Procurement Management</vt:lpstr>
      <vt:lpstr>Contract</vt:lpstr>
      <vt:lpstr>Plan purchases and acquisitions</vt:lpstr>
      <vt:lpstr>Inputs</vt:lpstr>
      <vt:lpstr>PowerPoint Presentation</vt:lpstr>
      <vt:lpstr>Contract Types</vt:lpstr>
      <vt:lpstr>Outputs</vt:lpstr>
      <vt:lpstr>Plan Contracting</vt:lpstr>
      <vt:lpstr>Inputs</vt:lpstr>
      <vt:lpstr>Tools and techniques</vt:lpstr>
      <vt:lpstr>Outputs</vt:lpstr>
      <vt:lpstr>Request Seller Responses</vt:lpstr>
      <vt:lpstr>Inputs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Purchasing</dc:title>
  <dc:creator>MakhuraneT</dc:creator>
  <cp:lastModifiedBy>Tem Makhurane</cp:lastModifiedBy>
  <cp:revision>10</cp:revision>
  <dcterms:created xsi:type="dcterms:W3CDTF">2010-09-21T09:02:08Z</dcterms:created>
  <dcterms:modified xsi:type="dcterms:W3CDTF">2020-10-28T15:46:07Z</dcterms:modified>
</cp:coreProperties>
</file>