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58" r:id="rId2"/>
  </p:sldIdLst>
  <p:sldSz cx="43891200" cy="32918400"/>
  <p:notesSz cx="6858000" cy="9144000"/>
  <p:defaultText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defaultTextStyle>
  <p:extLst>
    <p:ext uri="{EFAFB233-063F-42B5-8137-9DF3F51BA10A}">
      <p15:sldGuideLst xmlns:p15="http://schemas.microsoft.com/office/powerpoint/2012/main">
        <p15:guide id="1" pos="27456" userDrawn="1">
          <p15:clr>
            <a:srgbClr val="A4A3A4"/>
          </p15:clr>
        </p15:guide>
        <p15:guide id="2" orient="horz"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4" autoAdjust="0"/>
    <p:restoredTop sz="94694"/>
  </p:normalViewPr>
  <p:slideViewPr>
    <p:cSldViewPr>
      <p:cViewPr>
        <p:scale>
          <a:sx n="18" d="100"/>
          <a:sy n="18" d="100"/>
        </p:scale>
        <p:origin x="930" y="-108"/>
      </p:cViewPr>
      <p:guideLst>
        <p:guide pos="27456"/>
        <p:guide orient="horz"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FE861C-486B-4E18-A0E9-A790238A915C}" type="datetimeFigureOut">
              <a:rPr lang="en-US" smtClean="0"/>
              <a:t>10/15/2020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811066-0135-4CAA-8AD4-89A97190AC00}" type="slidenum">
              <a:rPr lang="en-US" smtClean="0"/>
              <a:t>‹#›</a:t>
            </a:fld>
            <a:endParaRPr lang="en-US"/>
          </a:p>
        </p:txBody>
      </p:sp>
    </p:spTree>
    <p:extLst>
      <p:ext uri="{BB962C8B-B14F-4D97-AF65-F5344CB8AC3E}">
        <p14:creationId xmlns:p14="http://schemas.microsoft.com/office/powerpoint/2010/main" val="1977353237"/>
      </p:ext>
    </p:extLst>
  </p:cSld>
  <p:clrMap bg1="lt1" tx1="dk1" bg2="lt2" tx2="dk2" accent1="accent1" accent2="accent2" accent3="accent3" accent4="accent4" accent5="accent5" accent6="accent6" hlink="hlink" folHlink="folHlink"/>
  <p:notesStyle>
    <a:lvl1pPr marL="0" algn="l" defTabSz="4389120" rtl="0" eaLnBrk="1" latinLnBrk="0" hangingPunct="1">
      <a:defRPr sz="5760" kern="1200">
        <a:solidFill>
          <a:schemeClr val="tx1"/>
        </a:solidFill>
        <a:latin typeface="+mn-lt"/>
        <a:ea typeface="+mn-ea"/>
        <a:cs typeface="+mn-cs"/>
      </a:defRPr>
    </a:lvl1pPr>
    <a:lvl2pPr marL="2194560" algn="l" defTabSz="4389120" rtl="0" eaLnBrk="1" latinLnBrk="0" hangingPunct="1">
      <a:defRPr sz="5760" kern="1200">
        <a:solidFill>
          <a:schemeClr val="tx1"/>
        </a:solidFill>
        <a:latin typeface="+mn-lt"/>
        <a:ea typeface="+mn-ea"/>
        <a:cs typeface="+mn-cs"/>
      </a:defRPr>
    </a:lvl2pPr>
    <a:lvl3pPr marL="4389120" algn="l" defTabSz="4389120" rtl="0" eaLnBrk="1" latinLnBrk="0" hangingPunct="1">
      <a:defRPr sz="5760" kern="1200">
        <a:solidFill>
          <a:schemeClr val="tx1"/>
        </a:solidFill>
        <a:latin typeface="+mn-lt"/>
        <a:ea typeface="+mn-ea"/>
        <a:cs typeface="+mn-cs"/>
      </a:defRPr>
    </a:lvl3pPr>
    <a:lvl4pPr marL="6583680" algn="l" defTabSz="4389120" rtl="0" eaLnBrk="1" latinLnBrk="0" hangingPunct="1">
      <a:defRPr sz="5760" kern="1200">
        <a:solidFill>
          <a:schemeClr val="tx1"/>
        </a:solidFill>
        <a:latin typeface="+mn-lt"/>
        <a:ea typeface="+mn-ea"/>
        <a:cs typeface="+mn-cs"/>
      </a:defRPr>
    </a:lvl4pPr>
    <a:lvl5pPr marL="8778240" algn="l" defTabSz="4389120" rtl="0" eaLnBrk="1" latinLnBrk="0" hangingPunct="1">
      <a:defRPr sz="5760" kern="1200">
        <a:solidFill>
          <a:schemeClr val="tx1"/>
        </a:solidFill>
        <a:latin typeface="+mn-lt"/>
        <a:ea typeface="+mn-ea"/>
        <a:cs typeface="+mn-cs"/>
      </a:defRPr>
    </a:lvl5pPr>
    <a:lvl6pPr marL="10972800" algn="l" defTabSz="4389120" rtl="0" eaLnBrk="1" latinLnBrk="0" hangingPunct="1">
      <a:defRPr sz="5760" kern="1200">
        <a:solidFill>
          <a:schemeClr val="tx1"/>
        </a:solidFill>
        <a:latin typeface="+mn-lt"/>
        <a:ea typeface="+mn-ea"/>
        <a:cs typeface="+mn-cs"/>
      </a:defRPr>
    </a:lvl6pPr>
    <a:lvl7pPr marL="13167360" algn="l" defTabSz="4389120" rtl="0" eaLnBrk="1" latinLnBrk="0" hangingPunct="1">
      <a:defRPr sz="5760" kern="1200">
        <a:solidFill>
          <a:schemeClr val="tx1"/>
        </a:solidFill>
        <a:latin typeface="+mn-lt"/>
        <a:ea typeface="+mn-ea"/>
        <a:cs typeface="+mn-cs"/>
      </a:defRPr>
    </a:lvl7pPr>
    <a:lvl8pPr marL="15361920" algn="l" defTabSz="4389120" rtl="0" eaLnBrk="1" latinLnBrk="0" hangingPunct="1">
      <a:defRPr sz="5760" kern="1200">
        <a:solidFill>
          <a:schemeClr val="tx1"/>
        </a:solidFill>
        <a:latin typeface="+mn-lt"/>
        <a:ea typeface="+mn-ea"/>
        <a:cs typeface="+mn-cs"/>
      </a:defRPr>
    </a:lvl8pPr>
    <a:lvl9pPr marL="17556480" algn="l" defTabSz="4389120" rtl="0" eaLnBrk="1" latinLnBrk="0" hangingPunct="1">
      <a:defRPr sz="576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F811066-0135-4CAA-8AD4-89A97190AC00}" type="slidenum">
              <a:rPr lang="en-US" smtClean="0"/>
              <a:t>1</a:t>
            </a:fld>
            <a:endParaRPr lang="en-US"/>
          </a:p>
        </p:txBody>
      </p:sp>
    </p:spTree>
    <p:extLst>
      <p:ext uri="{BB962C8B-B14F-4D97-AF65-F5344CB8AC3E}">
        <p14:creationId xmlns:p14="http://schemas.microsoft.com/office/powerpoint/2010/main" val="1592674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102BAB4-8B8D-41DD-85C7-81A0CA962007}" type="datetimeFigureOut">
              <a:rPr lang="en-US" smtClean="0"/>
              <a:t>10/15/2020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02BAB4-8B8D-41DD-85C7-81A0CA962007}" type="datetimeFigureOut">
              <a:rPr lang="en-US" smtClean="0"/>
              <a:t>10/15/2020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2BAB4-8B8D-41DD-85C7-81A0CA962007}" type="datetimeFigureOut">
              <a:rPr lang="en-US" smtClean="0"/>
              <a:t>10/15/2020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560" y="7680963"/>
            <a:ext cx="19385280" cy="21724622"/>
          </a:xfrm>
        </p:spPr>
        <p:txBody>
          <a:bodyPr/>
          <a:lstStyle>
            <a:lvl1pPr>
              <a:defRPr sz="13440"/>
            </a:lvl1pPr>
            <a:lvl2pPr>
              <a:defRPr sz="11520"/>
            </a:lvl2pPr>
            <a:lvl3pPr>
              <a:defRPr sz="9600"/>
            </a:lvl3pPr>
            <a:lvl4pPr>
              <a:defRPr sz="8640"/>
            </a:lvl4pPr>
            <a:lvl5pPr>
              <a:defRPr sz="8640"/>
            </a:lvl5pPr>
            <a:lvl6pPr>
              <a:defRPr sz="8640"/>
            </a:lvl6pPr>
            <a:lvl7pPr>
              <a:defRPr sz="8640"/>
            </a:lvl7pPr>
            <a:lvl8pPr>
              <a:defRPr sz="8640"/>
            </a:lvl8pPr>
            <a:lvl9pPr>
              <a:defRPr sz="86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11360" y="7680963"/>
            <a:ext cx="19385280" cy="21724622"/>
          </a:xfrm>
        </p:spPr>
        <p:txBody>
          <a:bodyPr/>
          <a:lstStyle>
            <a:lvl1pPr>
              <a:defRPr sz="13440"/>
            </a:lvl1pPr>
            <a:lvl2pPr>
              <a:defRPr sz="11520"/>
            </a:lvl2pPr>
            <a:lvl3pPr>
              <a:defRPr sz="9600"/>
            </a:lvl3pPr>
            <a:lvl4pPr>
              <a:defRPr sz="8640"/>
            </a:lvl4pPr>
            <a:lvl5pPr>
              <a:defRPr sz="8640"/>
            </a:lvl5pPr>
            <a:lvl6pPr>
              <a:defRPr sz="8640"/>
            </a:lvl6pPr>
            <a:lvl7pPr>
              <a:defRPr sz="8640"/>
            </a:lvl7pPr>
            <a:lvl8pPr>
              <a:defRPr sz="8640"/>
            </a:lvl8pPr>
            <a:lvl9pPr>
              <a:defRPr sz="86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102BAB4-8B8D-41DD-85C7-81A0CA962007}" type="datetimeFigureOut">
              <a:rPr lang="en-US" smtClean="0"/>
              <a:t>10/15/2020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20"/>
            </a:lvl1pPr>
            <a:lvl2pPr>
              <a:defRPr sz="9600"/>
            </a:lvl2pPr>
            <a:lvl3pPr>
              <a:defRPr sz="8640"/>
            </a:lvl3pPr>
            <a:lvl4pPr>
              <a:defRPr sz="7680"/>
            </a:lvl4pPr>
            <a:lvl5pPr>
              <a:defRPr sz="7680"/>
            </a:lvl5pPr>
            <a:lvl6pPr>
              <a:defRPr sz="7680"/>
            </a:lvl6pPr>
            <a:lvl7pPr>
              <a:defRPr sz="7680"/>
            </a:lvl7pPr>
            <a:lvl8pPr>
              <a:defRPr sz="7680"/>
            </a:lvl8pPr>
            <a:lvl9pPr>
              <a:defRPr sz="7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20"/>
            </a:lvl1pPr>
            <a:lvl2pPr>
              <a:defRPr sz="9600"/>
            </a:lvl2pPr>
            <a:lvl3pPr>
              <a:defRPr sz="8640"/>
            </a:lvl3pPr>
            <a:lvl4pPr>
              <a:defRPr sz="7680"/>
            </a:lvl4pPr>
            <a:lvl5pPr>
              <a:defRPr sz="7680"/>
            </a:lvl5pPr>
            <a:lvl6pPr>
              <a:defRPr sz="7680"/>
            </a:lvl6pPr>
            <a:lvl7pPr>
              <a:defRPr sz="7680"/>
            </a:lvl7pPr>
            <a:lvl8pPr>
              <a:defRPr sz="7680"/>
            </a:lvl8pPr>
            <a:lvl9pPr>
              <a:defRPr sz="7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102BAB4-8B8D-41DD-85C7-81A0CA962007}" type="datetimeFigureOut">
              <a:rPr lang="en-US" smtClean="0"/>
              <a:t>10/15/2020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02BAB4-8B8D-41DD-85C7-81A0CA962007}" type="datetimeFigureOut">
              <a:rPr lang="en-US" smtClean="0"/>
              <a:t>10/15/2020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02BAB4-8B8D-41DD-85C7-81A0CA962007}" type="datetimeFigureOut">
              <a:rPr lang="en-US" smtClean="0"/>
              <a:t>10/15/2020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8102BAB4-8B8D-41DD-85C7-81A0CA962007}" type="datetimeFigureOut">
              <a:rPr lang="en-US" smtClean="0"/>
              <a:t>10/15/2020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8102BAB4-8B8D-41DD-85C7-81A0CA962007}" type="datetimeFigureOut">
              <a:rPr lang="en-US" smtClean="0"/>
              <a:t>10/15/2020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02BAB4-8B8D-41DD-85C7-81A0CA962007}" type="datetimeFigureOut">
              <a:rPr lang="en-US" smtClean="0"/>
              <a:t>10/15/2020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5"/>
            <a:ext cx="987552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4560" y="1318265"/>
            <a:ext cx="2889504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02BAB4-8B8D-41DD-85C7-81A0CA962007}" type="datetimeFigureOut">
              <a:rPr lang="en-US" smtClean="0"/>
              <a:t>10/15/2020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44824F-EBE0-443F-8A8F-F64816AF04D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8102BAB4-8B8D-41DD-85C7-81A0CA962007}" type="datetimeFigureOut">
              <a:rPr lang="en-US" smtClean="0"/>
              <a:t>10/15/2020</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B044824F-EBE0-443F-8A8F-F64816AF04D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2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itchFamily="34" charset="0"/>
        <a:buChar char="•"/>
        <a:defRPr sz="15360" kern="1200">
          <a:solidFill>
            <a:schemeClr val="tx1"/>
          </a:solidFill>
          <a:latin typeface="+mn-lt"/>
          <a:ea typeface="+mn-ea"/>
          <a:cs typeface="+mn-cs"/>
        </a:defRPr>
      </a:lvl1pPr>
      <a:lvl2pPr marL="3566160" indent="-1371600" algn="l" defTabSz="4389120" rtl="0" eaLnBrk="1" latinLnBrk="0" hangingPunct="1">
        <a:spcBef>
          <a:spcPct val="20000"/>
        </a:spcBef>
        <a:buFont typeface="Arial" pitchFamily="34" charset="0"/>
        <a:buChar char="–"/>
        <a:defRPr sz="13440" kern="1200">
          <a:solidFill>
            <a:schemeClr val="tx1"/>
          </a:solidFill>
          <a:latin typeface="+mn-lt"/>
          <a:ea typeface="+mn-ea"/>
          <a:cs typeface="+mn-cs"/>
        </a:defRPr>
      </a:lvl2pPr>
      <a:lvl3pPr marL="5486400" indent="-1097280" algn="l" defTabSz="4389120" rtl="0" eaLnBrk="1" latinLnBrk="0" hangingPunct="1">
        <a:spcBef>
          <a:spcPct val="20000"/>
        </a:spcBef>
        <a:buFont typeface="Arial" pitchFamily="34" charset="0"/>
        <a:buChar char="•"/>
        <a:defRPr sz="11520" kern="1200">
          <a:solidFill>
            <a:schemeClr val="tx1"/>
          </a:solidFill>
          <a:latin typeface="+mn-lt"/>
          <a:ea typeface="+mn-ea"/>
          <a:cs typeface="+mn-cs"/>
        </a:defRPr>
      </a:lvl3pPr>
      <a:lvl4pPr marL="76809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coursehero.com/file/67474452/CLOUD-COMPUTING-111docx/" TargetMode="External"/><Relationship Id="rId7"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359228" y="381000"/>
            <a:ext cx="43172744" cy="32080200"/>
          </a:xfrm>
          <a:prstGeom prst="rect">
            <a:avLst/>
          </a:prstGeom>
          <a:noFill/>
          <a:ln w="1016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nip Diagonal Corner Rectangle 4"/>
          <p:cNvSpPr/>
          <p:nvPr/>
        </p:nvSpPr>
        <p:spPr>
          <a:xfrm>
            <a:off x="914400" y="762000"/>
            <a:ext cx="41986200" cy="3590208"/>
          </a:xfrm>
          <a:prstGeom prst="snip2DiagRect">
            <a:avLst/>
          </a:prstGeom>
          <a:solidFill>
            <a:schemeClr val="bg1">
              <a:lumMod val="8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p:cNvGrpSpPr/>
          <p:nvPr/>
        </p:nvGrpSpPr>
        <p:grpSpPr>
          <a:xfrm>
            <a:off x="1014718" y="5050443"/>
            <a:ext cx="11675743" cy="13305729"/>
            <a:chOff x="914400" y="6478996"/>
            <a:chExt cx="11658600" cy="6901780"/>
          </a:xfrm>
          <a:solidFill>
            <a:schemeClr val="bg1"/>
          </a:solidFill>
        </p:grpSpPr>
        <p:sp>
          <p:nvSpPr>
            <p:cNvPr id="34" name="Rectangle 33"/>
            <p:cNvSpPr/>
            <p:nvPr/>
          </p:nvSpPr>
          <p:spPr>
            <a:xfrm>
              <a:off x="914400" y="6762267"/>
              <a:ext cx="11658600" cy="6618509"/>
            </a:xfrm>
            <a:prstGeom prst="rect">
              <a:avLst/>
            </a:prstGeom>
            <a:grpFill/>
            <a:ln w="762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4145744" y="6478996"/>
              <a:ext cx="5193851" cy="965929"/>
            </a:xfrm>
            <a:prstGeom prst="rect">
              <a:avLst/>
            </a:prstGeom>
            <a:grpFill/>
          </p:spPr>
          <p:txBody>
            <a:bodyPr wrap="square" rtlCol="0">
              <a:spAutoFit/>
            </a:bodyPr>
            <a:lstStyle/>
            <a:p>
              <a:pPr algn="ctr"/>
              <a:r>
                <a:rPr lang="en-US" sz="5400" dirty="0" smtClean="0">
                  <a:solidFill>
                    <a:srgbClr val="C00000"/>
                  </a:solidFill>
                  <a:latin typeface="Bangla MN" charset="0"/>
                  <a:ea typeface="Bangla MN" charset="0"/>
                  <a:cs typeface="Bangla MN" charset="0"/>
                </a:rPr>
                <a:t>Abstract</a:t>
              </a:r>
              <a:endParaRPr lang="en-US" sz="5400" dirty="0">
                <a:solidFill>
                  <a:srgbClr val="C00000"/>
                </a:solidFill>
                <a:latin typeface="Bangla MN" charset="0"/>
                <a:ea typeface="Bangla MN" charset="0"/>
                <a:cs typeface="Bangla MN" charset="0"/>
              </a:endParaRPr>
            </a:p>
          </p:txBody>
        </p:sp>
      </p:grpSp>
      <p:grpSp>
        <p:nvGrpSpPr>
          <p:cNvPr id="43" name="Group 42"/>
          <p:cNvGrpSpPr/>
          <p:nvPr/>
        </p:nvGrpSpPr>
        <p:grpSpPr>
          <a:xfrm>
            <a:off x="28465558" y="23826155"/>
            <a:ext cx="14392927" cy="8330254"/>
            <a:chOff x="845736" y="18217490"/>
            <a:chExt cx="11929274" cy="7827920"/>
          </a:xfrm>
        </p:grpSpPr>
        <p:sp>
          <p:nvSpPr>
            <p:cNvPr id="44" name="Rectangle 43"/>
            <p:cNvSpPr/>
            <p:nvPr/>
          </p:nvSpPr>
          <p:spPr>
            <a:xfrm>
              <a:off x="845736" y="18895071"/>
              <a:ext cx="11929274" cy="7150339"/>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4457236" y="18217490"/>
              <a:ext cx="5389812" cy="1604481"/>
            </a:xfrm>
            <a:prstGeom prst="rect">
              <a:avLst/>
            </a:prstGeom>
            <a:solidFill>
              <a:schemeClr val="bg1"/>
            </a:solidFill>
          </p:spPr>
          <p:txBody>
            <a:bodyPr wrap="square" rtlCol="0">
              <a:spAutoFit/>
            </a:bodyPr>
            <a:lstStyle/>
            <a:p>
              <a:pPr algn="ctr"/>
              <a:r>
                <a:rPr lang="en-US" sz="5400" dirty="0">
                  <a:solidFill>
                    <a:srgbClr val="C00000"/>
                  </a:solidFill>
                  <a:latin typeface="Bangla MN" charset="0"/>
                  <a:ea typeface="Bangla MN" charset="0"/>
                  <a:cs typeface="Bangla MN" charset="0"/>
                </a:rPr>
                <a:t>References</a:t>
              </a:r>
            </a:p>
          </p:txBody>
        </p:sp>
      </p:grpSp>
      <p:sp>
        <p:nvSpPr>
          <p:cNvPr id="47" name="Rectangle 46"/>
          <p:cNvSpPr/>
          <p:nvPr/>
        </p:nvSpPr>
        <p:spPr>
          <a:xfrm>
            <a:off x="28465558" y="5596551"/>
            <a:ext cx="14392927" cy="17957779"/>
          </a:xfrm>
          <a:prstGeom prst="rect">
            <a:avLst/>
          </a:prstGeom>
          <a:noFill/>
          <a:ln w="762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1295401" y="1033824"/>
            <a:ext cx="39242999" cy="1015663"/>
          </a:xfrm>
          <a:prstGeom prst="rect">
            <a:avLst/>
          </a:prstGeom>
          <a:noFill/>
        </p:spPr>
        <p:txBody>
          <a:bodyPr wrap="square" rtlCol="0">
            <a:spAutoFit/>
          </a:bodyPr>
          <a:lstStyle/>
          <a:p>
            <a:r>
              <a:rPr lang="en-US" sz="6000" b="1" dirty="0" smtClean="0">
                <a:ln w="3175">
                  <a:noFill/>
                </a:ln>
                <a:solidFill>
                  <a:srgbClr val="C00000"/>
                </a:solidFill>
                <a:latin typeface="Bangla MN" charset="0"/>
                <a:ea typeface="Bangla MN" charset="0"/>
                <a:cs typeface="Bangla MN" charset="0"/>
              </a:rPr>
              <a:t>Reviewing the bandwidth and ICT infrastructure used in Internet Cafés for cloud computing. </a:t>
            </a:r>
            <a:endParaRPr lang="en-US" sz="6000" b="1" dirty="0">
              <a:ln w="3175">
                <a:noFill/>
              </a:ln>
              <a:solidFill>
                <a:srgbClr val="C00000"/>
              </a:solidFill>
              <a:latin typeface="Bangla MN" charset="0"/>
              <a:ea typeface="Bangla MN" charset="0"/>
              <a:cs typeface="Bangla MN" charset="0"/>
            </a:endParaRPr>
          </a:p>
        </p:txBody>
      </p:sp>
      <p:sp>
        <p:nvSpPr>
          <p:cNvPr id="53" name="TextBox 52"/>
          <p:cNvSpPr txBox="1"/>
          <p:nvPr/>
        </p:nvSpPr>
        <p:spPr>
          <a:xfrm>
            <a:off x="32380262" y="5265766"/>
            <a:ext cx="6883957" cy="923330"/>
          </a:xfrm>
          <a:prstGeom prst="rect">
            <a:avLst/>
          </a:prstGeom>
          <a:solidFill>
            <a:schemeClr val="bg1"/>
          </a:solidFill>
        </p:spPr>
        <p:txBody>
          <a:bodyPr wrap="square" rtlCol="0">
            <a:spAutoFit/>
          </a:bodyPr>
          <a:lstStyle/>
          <a:p>
            <a:pPr algn="ctr"/>
            <a:r>
              <a:rPr lang="en-US" sz="5400" dirty="0" smtClean="0">
                <a:solidFill>
                  <a:srgbClr val="C00000"/>
                </a:solidFill>
                <a:latin typeface="Bangla MN" charset="0"/>
                <a:ea typeface="Bangla MN" charset="0"/>
                <a:cs typeface="Bangla MN" charset="0"/>
              </a:rPr>
              <a:t>Discussions</a:t>
            </a:r>
            <a:endParaRPr lang="en-US" sz="5400" dirty="0">
              <a:solidFill>
                <a:srgbClr val="C00000"/>
              </a:solidFill>
              <a:latin typeface="Bangla MN" charset="0"/>
              <a:ea typeface="Bangla MN" charset="0"/>
              <a:cs typeface="Bangla MN" charset="0"/>
            </a:endParaRPr>
          </a:p>
        </p:txBody>
      </p:sp>
      <p:sp>
        <p:nvSpPr>
          <p:cNvPr id="115" name="TextBox 114"/>
          <p:cNvSpPr txBox="1"/>
          <p:nvPr/>
        </p:nvSpPr>
        <p:spPr>
          <a:xfrm>
            <a:off x="1243551" y="2141820"/>
            <a:ext cx="33624261" cy="830997"/>
          </a:xfrm>
          <a:prstGeom prst="rect">
            <a:avLst/>
          </a:prstGeom>
          <a:noFill/>
        </p:spPr>
        <p:txBody>
          <a:bodyPr wrap="square" rtlCol="0">
            <a:spAutoFit/>
          </a:bodyPr>
          <a:lstStyle/>
          <a:p>
            <a:r>
              <a:rPr lang="en-US" sz="4800" b="1" dirty="0" smtClean="0">
                <a:latin typeface="Bangla MN" charset="0"/>
                <a:ea typeface="Bangla MN" charset="0"/>
                <a:cs typeface="Bangla MN" charset="0"/>
              </a:rPr>
              <a:t>Kabai Moipone, </a:t>
            </a:r>
            <a:r>
              <a:rPr lang="en-US" sz="4800" b="1" dirty="0" err="1" smtClean="0">
                <a:latin typeface="Bangla MN" charset="0"/>
                <a:ea typeface="Bangla MN" charset="0"/>
                <a:cs typeface="Bangla MN" charset="0"/>
              </a:rPr>
              <a:t>Mkalali</a:t>
            </a:r>
            <a:r>
              <a:rPr lang="en-US" sz="4800" b="1" dirty="0" smtClean="0">
                <a:latin typeface="Bangla MN" charset="0"/>
                <a:ea typeface="Bangla MN" charset="0"/>
                <a:cs typeface="Bangla MN" charset="0"/>
              </a:rPr>
              <a:t> </a:t>
            </a:r>
            <a:r>
              <a:rPr lang="en-US" sz="4800" b="1" dirty="0" err="1" smtClean="0">
                <a:latin typeface="Bangla MN" charset="0"/>
                <a:ea typeface="Bangla MN" charset="0"/>
                <a:cs typeface="Bangla MN" charset="0"/>
              </a:rPr>
              <a:t>Siphelele</a:t>
            </a:r>
            <a:endParaRPr lang="en-US" sz="4800" b="1" baseline="30000" dirty="0">
              <a:latin typeface="Bangla MN" charset="0"/>
              <a:ea typeface="Bangla MN" charset="0"/>
              <a:cs typeface="Bangla MN" charset="0"/>
            </a:endParaRPr>
          </a:p>
        </p:txBody>
      </p:sp>
      <p:sp>
        <p:nvSpPr>
          <p:cNvPr id="30" name="TextBox 29">
            <a:extLst>
              <a:ext uri="{FF2B5EF4-FFF2-40B4-BE49-F238E27FC236}">
                <a16:creationId xmlns:a16="http://schemas.microsoft.com/office/drawing/2014/main" xmlns="" id="{EABD6380-F16B-42AE-AB20-AED81D8BA8F5}"/>
              </a:ext>
            </a:extLst>
          </p:cNvPr>
          <p:cNvSpPr txBox="1"/>
          <p:nvPr/>
        </p:nvSpPr>
        <p:spPr>
          <a:xfrm>
            <a:off x="1295401" y="2884310"/>
            <a:ext cx="36292239" cy="1200329"/>
          </a:xfrm>
          <a:prstGeom prst="rect">
            <a:avLst/>
          </a:prstGeom>
          <a:noFill/>
        </p:spPr>
        <p:txBody>
          <a:bodyPr wrap="square" rtlCol="0">
            <a:spAutoFit/>
          </a:bodyPr>
          <a:lstStyle/>
          <a:p>
            <a:r>
              <a:rPr lang="en-US" sz="3600" baseline="30000" dirty="0">
                <a:latin typeface="Bangla MN" charset="0"/>
                <a:ea typeface="Bangla MN" charset="0"/>
                <a:cs typeface="Bangla MN" charset="0"/>
              </a:rPr>
              <a:t>1</a:t>
            </a:r>
            <a:r>
              <a:rPr lang="en-US" sz="3600" dirty="0">
                <a:latin typeface="Bangla MN" charset="0"/>
                <a:ea typeface="Bangla MN" charset="0"/>
                <a:cs typeface="Bangla MN" charset="0"/>
              </a:rPr>
              <a:t>Department of </a:t>
            </a:r>
            <a:r>
              <a:rPr lang="en-US" sz="3600" dirty="0" smtClean="0">
                <a:latin typeface="Bangla MN" charset="0"/>
                <a:ea typeface="Bangla MN" charset="0"/>
                <a:cs typeface="Bangla MN" charset="0"/>
              </a:rPr>
              <a:t>Information Technology, Cape Peninsula University </a:t>
            </a:r>
            <a:r>
              <a:rPr lang="en-US" sz="3600" dirty="0">
                <a:latin typeface="Bangla MN" charset="0"/>
                <a:ea typeface="Bangla MN" charset="0"/>
                <a:cs typeface="Bangla MN" charset="0"/>
              </a:rPr>
              <a:t>of </a:t>
            </a:r>
            <a:r>
              <a:rPr lang="en-US" sz="3600" dirty="0" smtClean="0">
                <a:latin typeface="Bangla MN" charset="0"/>
                <a:ea typeface="Bangla MN" charset="0"/>
                <a:cs typeface="Bangla MN" charset="0"/>
              </a:rPr>
              <a:t>Technology </a:t>
            </a:r>
            <a:endParaRPr lang="en-US" sz="3600" dirty="0">
              <a:latin typeface="Bangla MN" charset="0"/>
              <a:ea typeface="Bangla MN" charset="0"/>
              <a:cs typeface="Bangla MN" charset="0"/>
            </a:endParaRPr>
          </a:p>
          <a:p>
            <a:r>
              <a:rPr lang="en-US" sz="3600" dirty="0">
                <a:latin typeface="Bangla MN" charset="0"/>
                <a:ea typeface="Bangla MN" charset="0"/>
                <a:cs typeface="Bangla MN" charset="0"/>
              </a:rPr>
              <a:t>Research </a:t>
            </a:r>
            <a:r>
              <a:rPr lang="en-US" sz="3600" dirty="0" smtClean="0">
                <a:latin typeface="Bangla MN" charset="0"/>
                <a:ea typeface="Bangla MN" charset="0"/>
                <a:cs typeface="Bangla MN" charset="0"/>
              </a:rPr>
              <a:t>Mentor: </a:t>
            </a:r>
            <a:r>
              <a:rPr lang="en-US" sz="3600" dirty="0" err="1" smtClean="0">
                <a:latin typeface="Bangla MN" charset="0"/>
                <a:ea typeface="Bangla MN" charset="0"/>
                <a:cs typeface="Bangla MN" charset="0"/>
              </a:rPr>
              <a:t>Dr</a:t>
            </a:r>
            <a:r>
              <a:rPr lang="en-US" sz="3600" dirty="0" smtClean="0">
                <a:latin typeface="Bangla MN" charset="0"/>
                <a:ea typeface="Bangla MN" charset="0"/>
                <a:cs typeface="Bangla MN" charset="0"/>
              </a:rPr>
              <a:t>, Lynn Coleman</a:t>
            </a:r>
            <a:endParaRPr lang="en-US" sz="3600" baseline="30000" dirty="0">
              <a:latin typeface="Bangla MN" charset="0"/>
              <a:ea typeface="Bangla MN" charset="0"/>
              <a:cs typeface="Bangla MN" charset="0"/>
            </a:endParaRPr>
          </a:p>
        </p:txBody>
      </p:sp>
      <p:grpSp>
        <p:nvGrpSpPr>
          <p:cNvPr id="37" name="Group 36"/>
          <p:cNvGrpSpPr/>
          <p:nvPr/>
        </p:nvGrpSpPr>
        <p:grpSpPr>
          <a:xfrm>
            <a:off x="831143" y="18902281"/>
            <a:ext cx="11850174" cy="13254129"/>
            <a:chOff x="914401" y="19485018"/>
            <a:chExt cx="11609976" cy="12518982"/>
          </a:xfrm>
          <a:solidFill>
            <a:schemeClr val="bg1"/>
          </a:solidFill>
        </p:grpSpPr>
        <p:sp>
          <p:nvSpPr>
            <p:cNvPr id="35" name="Rectangle 34"/>
            <p:cNvSpPr/>
            <p:nvPr/>
          </p:nvSpPr>
          <p:spPr>
            <a:xfrm>
              <a:off x="914401" y="19784857"/>
              <a:ext cx="11609976" cy="12219143"/>
            </a:xfrm>
            <a:prstGeom prst="rect">
              <a:avLst/>
            </a:prstGeom>
            <a:grp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p:nvPr/>
          </p:nvSpPr>
          <p:spPr>
            <a:xfrm>
              <a:off x="3643499" y="19485018"/>
              <a:ext cx="6338570" cy="1941105"/>
            </a:xfrm>
            <a:prstGeom prst="rect">
              <a:avLst/>
            </a:prstGeom>
            <a:grpFill/>
            <a:ln>
              <a:noFill/>
            </a:ln>
          </p:spPr>
          <p:txBody>
            <a:bodyPr wrap="square" rtlCol="0">
              <a:spAutoFit/>
            </a:bodyPr>
            <a:lstStyle/>
            <a:p>
              <a:pPr algn="ctr"/>
              <a:r>
                <a:rPr lang="en-US" sz="5400" dirty="0" smtClean="0">
                  <a:solidFill>
                    <a:srgbClr val="C00000"/>
                  </a:solidFill>
                  <a:latin typeface="Bangla MN" charset="0"/>
                  <a:ea typeface="Bangla MN" charset="0"/>
                  <a:cs typeface="Bangla MN" charset="0"/>
                </a:rPr>
                <a:t>Introduction</a:t>
              </a:r>
              <a:endParaRPr lang="en-US" sz="5400" dirty="0">
                <a:solidFill>
                  <a:srgbClr val="C00000"/>
                </a:solidFill>
                <a:latin typeface="Bangla MN" charset="0"/>
                <a:ea typeface="Bangla MN" charset="0"/>
                <a:cs typeface="Bangla MN" charset="0"/>
              </a:endParaRPr>
            </a:p>
          </p:txBody>
        </p:sp>
      </p:grpSp>
      <p:grpSp>
        <p:nvGrpSpPr>
          <p:cNvPr id="8" name="Group 7">
            <a:extLst>
              <a:ext uri="{FF2B5EF4-FFF2-40B4-BE49-F238E27FC236}">
                <a16:creationId xmlns:a16="http://schemas.microsoft.com/office/drawing/2014/main" xmlns="" id="{F3A17757-1132-41D3-B375-A1C6758D8BC6}"/>
              </a:ext>
            </a:extLst>
          </p:cNvPr>
          <p:cNvGrpSpPr/>
          <p:nvPr/>
        </p:nvGrpSpPr>
        <p:grpSpPr>
          <a:xfrm>
            <a:off x="13034366" y="5297138"/>
            <a:ext cx="15078143" cy="27251094"/>
            <a:chOff x="13058880" y="24059911"/>
            <a:chExt cx="17712132" cy="9028242"/>
          </a:xfrm>
        </p:grpSpPr>
        <p:grpSp>
          <p:nvGrpSpPr>
            <p:cNvPr id="6" name="Group 5"/>
            <p:cNvGrpSpPr/>
            <p:nvPr/>
          </p:nvGrpSpPr>
          <p:grpSpPr>
            <a:xfrm>
              <a:off x="13058880" y="24059911"/>
              <a:ext cx="17712132" cy="8898433"/>
              <a:chOff x="13536444" y="21431159"/>
              <a:chExt cx="13899016" cy="11756458"/>
            </a:xfrm>
          </p:grpSpPr>
          <p:sp>
            <p:nvSpPr>
              <p:cNvPr id="50" name="Rectangle 49"/>
              <p:cNvSpPr/>
              <p:nvPr/>
            </p:nvSpPr>
            <p:spPr>
              <a:xfrm>
                <a:off x="13536444" y="21566383"/>
                <a:ext cx="13899016" cy="11621234"/>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p:cNvSpPr txBox="1"/>
              <p:nvPr/>
            </p:nvSpPr>
            <p:spPr>
              <a:xfrm>
                <a:off x="18288155" y="21431159"/>
                <a:ext cx="4006297" cy="1219888"/>
              </a:xfrm>
              <a:prstGeom prst="rect">
                <a:avLst/>
              </a:prstGeom>
              <a:solidFill>
                <a:schemeClr val="bg1"/>
              </a:solidFill>
            </p:spPr>
            <p:txBody>
              <a:bodyPr wrap="square" rtlCol="0">
                <a:spAutoFit/>
              </a:bodyPr>
              <a:lstStyle/>
              <a:p>
                <a:pPr algn="ctr"/>
                <a:r>
                  <a:rPr lang="en-US" sz="5400" dirty="0" smtClean="0">
                    <a:solidFill>
                      <a:srgbClr val="C00000"/>
                    </a:solidFill>
                    <a:latin typeface="Bangla MN" charset="0"/>
                    <a:ea typeface="Bangla MN" charset="0"/>
                    <a:cs typeface="Bangla MN" charset="0"/>
                  </a:rPr>
                  <a:t>Methods</a:t>
                </a:r>
                <a:endParaRPr lang="en-US" sz="5400" dirty="0">
                  <a:solidFill>
                    <a:srgbClr val="C00000"/>
                  </a:solidFill>
                  <a:latin typeface="Bangla MN" charset="0"/>
                  <a:ea typeface="Bangla MN" charset="0"/>
                  <a:cs typeface="Bangla MN" charset="0"/>
                </a:endParaRPr>
              </a:p>
            </p:txBody>
          </p:sp>
        </p:grpSp>
        <p:sp>
          <p:nvSpPr>
            <p:cNvPr id="18" name="TextBox 17"/>
            <p:cNvSpPr txBox="1"/>
            <p:nvPr/>
          </p:nvSpPr>
          <p:spPr>
            <a:xfrm>
              <a:off x="13422958" y="24533217"/>
              <a:ext cx="17306297" cy="8554936"/>
            </a:xfrm>
            <a:prstGeom prst="rect">
              <a:avLst/>
            </a:prstGeom>
            <a:noFill/>
          </p:spPr>
          <p:txBody>
            <a:bodyPr wrap="square" rtlCol="0">
              <a:spAutoFit/>
            </a:bodyPr>
            <a:lstStyle/>
            <a:p>
              <a:r>
                <a:rPr lang="en-US" sz="4400" dirty="0" smtClean="0"/>
                <a:t>From </a:t>
              </a:r>
              <a:r>
                <a:rPr lang="en-US" sz="4400" dirty="0"/>
                <a:t>an application perspective, </a:t>
              </a:r>
              <a:r>
                <a:rPr lang="en-US" sz="4400" dirty="0" smtClean="0"/>
                <a:t> the type of research we </a:t>
              </a:r>
              <a:r>
                <a:rPr lang="en-US" sz="4400" dirty="0"/>
                <a:t>are conducting </a:t>
              </a:r>
              <a:r>
                <a:rPr lang="en-US" sz="4400" dirty="0" smtClean="0"/>
                <a:t>is an </a:t>
              </a:r>
              <a:r>
                <a:rPr lang="en-US" sz="4400" dirty="0"/>
                <a:t>applied research. This is because our research is based on the data that will be collected to understand how the problem is affecting internet cafés.</a:t>
              </a:r>
            </a:p>
            <a:p>
              <a:endParaRPr lang="en-US" sz="4400" dirty="0" smtClean="0"/>
            </a:p>
            <a:p>
              <a:endParaRPr lang="en-US" sz="4400" dirty="0"/>
            </a:p>
            <a:p>
              <a:endParaRPr lang="en-US" sz="4400" dirty="0" smtClean="0"/>
            </a:p>
            <a:p>
              <a:endParaRPr lang="en-US" sz="4400" dirty="0"/>
            </a:p>
            <a:p>
              <a:endParaRPr lang="en-US" sz="4400" dirty="0" smtClean="0"/>
            </a:p>
            <a:p>
              <a:endParaRPr lang="en-US" sz="4400" dirty="0"/>
            </a:p>
            <a:p>
              <a:endParaRPr lang="en-US" sz="4400" dirty="0" smtClean="0"/>
            </a:p>
            <a:p>
              <a:endParaRPr lang="en-US" sz="4400" dirty="0"/>
            </a:p>
            <a:p>
              <a:endParaRPr lang="en-US" sz="4400" dirty="0" smtClean="0"/>
            </a:p>
            <a:p>
              <a:endParaRPr lang="en-US" sz="4400" dirty="0"/>
            </a:p>
            <a:p>
              <a:endParaRPr lang="en-US" sz="4400" dirty="0" smtClean="0"/>
            </a:p>
            <a:p>
              <a:r>
                <a:rPr lang="en-ZA" sz="4400" dirty="0"/>
                <a:t>In an objective perspective, our research is </a:t>
              </a:r>
              <a:r>
                <a:rPr lang="en-ZA" sz="4400" dirty="0" smtClean="0"/>
                <a:t>descriptive as we </a:t>
              </a:r>
              <a:r>
                <a:rPr lang="en-ZA" sz="4400" dirty="0"/>
                <a:t>describe the infrastructural resources used in cloud computing and how the bandwidth affects data transmission over a network.</a:t>
              </a:r>
              <a:endParaRPr lang="en-US" sz="4400" dirty="0" smtClean="0"/>
            </a:p>
            <a:p>
              <a:endParaRPr lang="en-US" sz="4400" dirty="0" smtClean="0"/>
            </a:p>
            <a:p>
              <a:endParaRPr lang="en-US" sz="4400" dirty="0" smtClean="0"/>
            </a:p>
            <a:p>
              <a:endParaRPr lang="en-US" sz="4400" dirty="0"/>
            </a:p>
            <a:p>
              <a:endParaRPr lang="en-US" sz="4400" dirty="0" smtClean="0"/>
            </a:p>
            <a:p>
              <a:endParaRPr lang="en-US" sz="4400" dirty="0"/>
            </a:p>
            <a:p>
              <a:endParaRPr lang="en-US" sz="4400" dirty="0" smtClean="0"/>
            </a:p>
            <a:p>
              <a:endParaRPr lang="en-US" sz="4400" dirty="0"/>
            </a:p>
            <a:p>
              <a:endParaRPr lang="en-US" sz="4400" dirty="0" smtClean="0"/>
            </a:p>
            <a:p>
              <a:endParaRPr lang="en-US" sz="4400" dirty="0" smtClean="0"/>
            </a:p>
            <a:p>
              <a:r>
                <a:rPr lang="en-US" sz="4400" dirty="0" smtClean="0"/>
                <a:t>Because “</a:t>
              </a:r>
              <a:r>
                <a:rPr lang="en-ZA" sz="4400" dirty="0" smtClean="0"/>
                <a:t>it </a:t>
              </a:r>
              <a:r>
                <a:rPr lang="en-ZA" sz="4400" dirty="0"/>
                <a:t>is usually impossible to include the entire population in your study; the two main restrictions being time and </a:t>
              </a:r>
              <a:r>
                <a:rPr lang="en-ZA" sz="4400" dirty="0" smtClean="0"/>
                <a:t>cost” </a:t>
              </a:r>
              <a:r>
                <a:rPr lang="en-ZA" sz="4400" dirty="0"/>
                <a:t>Maree and </a:t>
              </a:r>
              <a:r>
                <a:rPr lang="en-ZA" sz="4400" dirty="0" err="1"/>
                <a:t>Pietersen</a:t>
              </a:r>
              <a:r>
                <a:rPr lang="en-ZA" sz="4400" dirty="0"/>
                <a:t> (2016:192</a:t>
              </a:r>
              <a:r>
                <a:rPr lang="en-ZA" sz="4400" dirty="0" smtClean="0"/>
                <a:t>),</a:t>
              </a:r>
              <a:r>
                <a:rPr lang="en-ZA" sz="4400" dirty="0"/>
                <a:t> </a:t>
              </a:r>
              <a:r>
                <a:rPr lang="en-ZA" sz="4400" dirty="0" smtClean="0"/>
                <a:t>we will </a:t>
              </a:r>
              <a:r>
                <a:rPr lang="en-US" sz="4400" dirty="0" smtClean="0"/>
                <a:t>use the probability </a:t>
              </a:r>
              <a:r>
                <a:rPr lang="en-US" sz="4400" dirty="0"/>
                <a:t>methods </a:t>
              </a:r>
              <a:r>
                <a:rPr lang="en-US" sz="4400" dirty="0" smtClean="0"/>
                <a:t>for sampling which </a:t>
              </a:r>
              <a:r>
                <a:rPr lang="en-US" sz="4400" dirty="0"/>
                <a:t>are based on the principle of randomness and </a:t>
              </a:r>
              <a:r>
                <a:rPr lang="en-US" sz="4400" dirty="0" smtClean="0"/>
                <a:t>theory.</a:t>
              </a:r>
            </a:p>
            <a:p>
              <a:endParaRPr lang="en-US" sz="4400" dirty="0"/>
            </a:p>
            <a:p>
              <a:r>
                <a:rPr lang="en-US" sz="4400" dirty="0"/>
                <a:t>We used questionnaires to collect data for our </a:t>
              </a:r>
              <a:r>
                <a:rPr lang="en-US" sz="4400" dirty="0" smtClean="0"/>
                <a:t>study, </a:t>
              </a:r>
              <a:r>
                <a:rPr lang="en-US" sz="4400" dirty="0"/>
                <a:t>which is </a:t>
              </a:r>
              <a:r>
                <a:rPr lang="en-US" sz="4400" dirty="0" smtClean="0"/>
                <a:t>“a </a:t>
              </a:r>
              <a:r>
                <a:rPr lang="en-US" sz="4400" dirty="0"/>
                <a:t>written list of questions, the answers to which are recorded by </a:t>
              </a:r>
              <a:r>
                <a:rPr lang="en-US" sz="4400" dirty="0" smtClean="0"/>
                <a:t>respondents” </a:t>
              </a:r>
              <a:r>
                <a:rPr lang="en-ZA" sz="4400" dirty="0"/>
                <a:t>Kumar (</a:t>
              </a:r>
              <a:r>
                <a:rPr lang="en-ZA" sz="4400" dirty="0" smtClean="0"/>
                <a:t>2011:138).</a:t>
              </a:r>
              <a:endParaRPr lang="en-US" sz="4400" dirty="0"/>
            </a:p>
            <a:p>
              <a:pPr marL="481012">
                <a:spcAft>
                  <a:spcPts val="4000"/>
                </a:spcAft>
              </a:pPr>
              <a:endParaRPr lang="en-US" sz="4400" dirty="0">
                <a:latin typeface="Al Bayan Plain" charset="-78"/>
                <a:ea typeface="Al Bayan Plain" charset="-78"/>
                <a:cs typeface="Al Bayan Plain" charset="-78"/>
              </a:endParaRPr>
            </a:p>
          </p:txBody>
        </p:sp>
      </p:grpSp>
      <p:sp>
        <p:nvSpPr>
          <p:cNvPr id="80" name="TextBox 79">
            <a:extLst>
              <a:ext uri="{FF2B5EF4-FFF2-40B4-BE49-F238E27FC236}">
                <a16:creationId xmlns:a16="http://schemas.microsoft.com/office/drawing/2014/main" xmlns="" id="{7E97B591-3EF4-604D-B8F4-85EF95585925}"/>
              </a:ext>
            </a:extLst>
          </p:cNvPr>
          <p:cNvSpPr txBox="1"/>
          <p:nvPr/>
        </p:nvSpPr>
        <p:spPr>
          <a:xfrm>
            <a:off x="37825422" y="1511894"/>
            <a:ext cx="5027838" cy="2308324"/>
          </a:xfrm>
          <a:prstGeom prst="rect">
            <a:avLst/>
          </a:prstGeom>
          <a:noFill/>
        </p:spPr>
        <p:txBody>
          <a:bodyPr wrap="square" rtlCol="0">
            <a:spAutoFit/>
          </a:bodyPr>
          <a:lstStyle/>
          <a:p>
            <a:r>
              <a:rPr lang="en-US" sz="4800" i="1" dirty="0" smtClean="0">
                <a:latin typeface="Lucida Fax" panose="02060602050505020204" pitchFamily="18" charset="77"/>
                <a:cs typeface="Lucida Grande" panose="020B0600040502020204" pitchFamily="34" charset="0"/>
              </a:rPr>
              <a:t>Cape Peninsula University of Technology</a:t>
            </a:r>
            <a:endParaRPr lang="en-US" sz="4800" i="1" dirty="0">
              <a:latin typeface="Lucida Fax" panose="02060602050505020204" pitchFamily="18" charset="77"/>
              <a:cs typeface="Lucida Grande" panose="020B0600040502020204" pitchFamily="34" charset="0"/>
            </a:endParaRPr>
          </a:p>
        </p:txBody>
      </p:sp>
      <p:sp>
        <p:nvSpPr>
          <p:cNvPr id="4" name="TextBox 3"/>
          <p:cNvSpPr txBox="1"/>
          <p:nvPr/>
        </p:nvSpPr>
        <p:spPr>
          <a:xfrm>
            <a:off x="28652323" y="24963210"/>
            <a:ext cx="14248277" cy="7540526"/>
          </a:xfrm>
          <a:prstGeom prst="rect">
            <a:avLst/>
          </a:prstGeom>
          <a:noFill/>
        </p:spPr>
        <p:txBody>
          <a:bodyPr wrap="square" rtlCol="0">
            <a:spAutoFit/>
          </a:bodyPr>
          <a:lstStyle/>
          <a:p>
            <a:pPr marL="571500" indent="-571500">
              <a:buFont typeface="Arial" panose="020B0604020202020204" pitchFamily="34" charset="0"/>
              <a:buChar char="•"/>
            </a:pPr>
            <a:r>
              <a:rPr lang="en-ZA" sz="4400" dirty="0"/>
              <a:t>Best, M.L., &amp; Macaulay, C. (2002). Community internet access in rural areas: Solving the </a:t>
            </a:r>
            <a:r>
              <a:rPr lang="en-ZA" sz="4400" dirty="0" err="1"/>
              <a:t>economicsustainability</a:t>
            </a:r>
            <a:r>
              <a:rPr lang="en-ZA" sz="4400" dirty="0"/>
              <a:t> puzzle, Sari-internet-TRR-2002, Sustainable access in rural India (SARI), Chennai.</a:t>
            </a:r>
            <a:endParaRPr lang="en-ZA" sz="4400" dirty="0" smtClean="0"/>
          </a:p>
          <a:p>
            <a:pPr marL="571500" indent="-571500">
              <a:buFont typeface="Arial" panose="020B0604020202020204" pitchFamily="34" charset="0"/>
              <a:buChar char="•"/>
            </a:pPr>
            <a:r>
              <a:rPr lang="en-ZA" sz="4400" dirty="0" err="1" smtClean="0"/>
              <a:t>Frankenfield</a:t>
            </a:r>
            <a:r>
              <a:rPr lang="en-ZA" sz="4400" dirty="0"/>
              <a:t>, J. 2020. Cloud computing: </a:t>
            </a:r>
            <a:r>
              <a:rPr lang="en-ZA" sz="4400" i="1" dirty="0"/>
              <a:t>CLOUD COMPUTING - Running Head. </a:t>
            </a:r>
            <a:r>
              <a:rPr lang="en-ZA" sz="4400" u="sng" dirty="0">
                <a:hlinkClick r:id="rId3"/>
              </a:rPr>
              <a:t>https://www.coursehero.com/file/67474452/CLOUD-COMPUTING-111docx/</a:t>
            </a:r>
            <a:r>
              <a:rPr lang="en-ZA" sz="4400" dirty="0"/>
              <a:t> [10 October 2020</a:t>
            </a:r>
            <a:r>
              <a:rPr lang="en-ZA" sz="4400" dirty="0" smtClean="0"/>
              <a:t>].</a:t>
            </a:r>
          </a:p>
          <a:p>
            <a:pPr marL="571500" lvl="0" indent="-571500">
              <a:buFont typeface="Arial" panose="020B0604020202020204" pitchFamily="34" charset="0"/>
              <a:buChar char="•"/>
            </a:pPr>
            <a:r>
              <a:rPr lang="en-ZA" sz="4400" dirty="0" smtClean="0"/>
              <a:t>Kumar</a:t>
            </a:r>
            <a:r>
              <a:rPr lang="en-ZA" sz="4400" dirty="0"/>
              <a:t>, R. 2011. </a:t>
            </a:r>
            <a:r>
              <a:rPr lang="en-ZA" sz="4400" i="1" dirty="0"/>
              <a:t>Research Methodology: A step-by-step guide for beginners</a:t>
            </a:r>
            <a:r>
              <a:rPr lang="en-ZA" sz="4400" dirty="0"/>
              <a:t>. 3</a:t>
            </a:r>
            <a:r>
              <a:rPr lang="en-ZA" sz="4400" baseline="30000" dirty="0"/>
              <a:t>rd</a:t>
            </a:r>
            <a:r>
              <a:rPr lang="en-ZA" sz="4400" dirty="0"/>
              <a:t> ed. London: SAGE</a:t>
            </a:r>
            <a:r>
              <a:rPr lang="en-ZA" sz="4400" dirty="0" smtClean="0"/>
              <a:t>.</a:t>
            </a:r>
          </a:p>
          <a:p>
            <a:pPr marL="571500" lvl="0" indent="-571500">
              <a:buFont typeface="Arial" panose="020B0604020202020204" pitchFamily="34" charset="0"/>
              <a:buChar char="•"/>
            </a:pPr>
            <a:endParaRPr lang="en-ZA" sz="4400" dirty="0"/>
          </a:p>
        </p:txBody>
      </p:sp>
      <p:sp>
        <p:nvSpPr>
          <p:cNvPr id="7" name="AutoShape 4" descr="Working at Cape Peninsula University of Technology | Glassdo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63234" y="1289990"/>
            <a:ext cx="2714848" cy="2714848"/>
          </a:xfrm>
          <a:prstGeom prst="rect">
            <a:avLst/>
          </a:prstGeom>
        </p:spPr>
      </p:pic>
      <p:sp>
        <p:nvSpPr>
          <p:cNvPr id="46" name="TextBox 45"/>
          <p:cNvSpPr txBox="1"/>
          <p:nvPr/>
        </p:nvSpPr>
        <p:spPr>
          <a:xfrm>
            <a:off x="996199" y="20408594"/>
            <a:ext cx="11694262" cy="11603176"/>
          </a:xfrm>
          <a:prstGeom prst="rect">
            <a:avLst/>
          </a:prstGeom>
          <a:noFill/>
        </p:spPr>
        <p:txBody>
          <a:bodyPr wrap="square" rtlCol="0">
            <a:spAutoFit/>
          </a:bodyPr>
          <a:lstStyle/>
          <a:p>
            <a:pPr lvl="0"/>
            <a:r>
              <a:rPr lang="en-ZA" sz="4400" dirty="0" err="1"/>
              <a:t>Frankenfield</a:t>
            </a:r>
            <a:r>
              <a:rPr lang="en-ZA" sz="4400" dirty="0"/>
              <a:t> (2020) states that cloud computing is the delivery of different services through the </a:t>
            </a:r>
            <a:r>
              <a:rPr lang="en-ZA" sz="4400" dirty="0" smtClean="0"/>
              <a:t>internet which includes </a:t>
            </a:r>
            <a:r>
              <a:rPr lang="en-ZA" sz="4400" dirty="0"/>
              <a:t>tools </a:t>
            </a:r>
            <a:r>
              <a:rPr lang="en-ZA" sz="4400" dirty="0" smtClean="0"/>
              <a:t>like </a:t>
            </a:r>
            <a:r>
              <a:rPr lang="en-ZA" sz="4400" dirty="0"/>
              <a:t>data </a:t>
            </a:r>
            <a:r>
              <a:rPr lang="en-ZA" sz="4400" dirty="0" smtClean="0"/>
              <a:t>storage, </a:t>
            </a:r>
            <a:r>
              <a:rPr lang="en-ZA" sz="4400" dirty="0"/>
              <a:t>database, networking, and software. Cloud services allow you to save files to a remote database, and you can access them anytime as long as you have internet access</a:t>
            </a:r>
            <a:r>
              <a:rPr lang="en-ZA" sz="4400" dirty="0" smtClean="0"/>
              <a:t>.</a:t>
            </a:r>
          </a:p>
          <a:p>
            <a:pPr lvl="0"/>
            <a:endParaRPr lang="en-ZA" sz="4400" dirty="0"/>
          </a:p>
          <a:p>
            <a:pPr lvl="0"/>
            <a:r>
              <a:rPr lang="en-ZA" sz="4400" dirty="0"/>
              <a:t>Before cloud computing can be used, infrastructural </a:t>
            </a:r>
            <a:r>
              <a:rPr lang="en-ZA" sz="4400" dirty="0" smtClean="0"/>
              <a:t>resources such as </a:t>
            </a:r>
            <a:r>
              <a:rPr lang="en-ZA" sz="4400" dirty="0"/>
              <a:t>network </a:t>
            </a:r>
            <a:r>
              <a:rPr lang="en-ZA" sz="4400" dirty="0" smtClean="0"/>
              <a:t>equipment, computing</a:t>
            </a:r>
            <a:r>
              <a:rPr lang="en-ZA" sz="4400" dirty="0"/>
              <a:t>, </a:t>
            </a:r>
            <a:r>
              <a:rPr lang="en-ZA" sz="4400" dirty="0" smtClean="0"/>
              <a:t>power, etc. </a:t>
            </a:r>
            <a:r>
              <a:rPr lang="en-ZA" sz="4400" dirty="0"/>
              <a:t>are needed to give a head </a:t>
            </a:r>
            <a:r>
              <a:rPr lang="en-ZA" sz="4400" dirty="0" smtClean="0"/>
              <a:t>start.</a:t>
            </a:r>
          </a:p>
          <a:p>
            <a:pPr lvl="0"/>
            <a:endParaRPr lang="en-ZA" sz="4400" dirty="0" smtClean="0"/>
          </a:p>
          <a:p>
            <a:pPr lvl="0"/>
            <a:r>
              <a:rPr lang="en-ZA" sz="4400" dirty="0" smtClean="0"/>
              <a:t>However, when </a:t>
            </a:r>
            <a:r>
              <a:rPr lang="en-ZA" sz="4400" dirty="0"/>
              <a:t>the </a:t>
            </a:r>
            <a:r>
              <a:rPr lang="en-ZA" sz="4400" dirty="0" smtClean="0"/>
              <a:t>bandwidth “</a:t>
            </a:r>
            <a:r>
              <a:rPr lang="en-ZA" sz="4400" dirty="0"/>
              <a:t>rate at which data is </a:t>
            </a:r>
            <a:r>
              <a:rPr lang="en-ZA" sz="4400" dirty="0" smtClean="0"/>
              <a:t>transferred and processed” </a:t>
            </a:r>
            <a:r>
              <a:rPr lang="en-ZA" sz="4400" dirty="0"/>
              <a:t>(Tool et al., 2020</a:t>
            </a:r>
            <a:r>
              <a:rPr lang="en-ZA" sz="4400" dirty="0" smtClean="0"/>
              <a:t>) </a:t>
            </a:r>
            <a:r>
              <a:rPr lang="en-ZA" sz="4400" dirty="0"/>
              <a:t>is </a:t>
            </a:r>
            <a:r>
              <a:rPr lang="en-ZA" sz="4400" dirty="0" smtClean="0"/>
              <a:t>poor cloud computing </a:t>
            </a:r>
            <a:r>
              <a:rPr lang="en-ZA" sz="4400" dirty="0"/>
              <a:t>will become useless to the end user. </a:t>
            </a:r>
          </a:p>
        </p:txBody>
      </p:sp>
      <p:sp>
        <p:nvSpPr>
          <p:cNvPr id="11" name="TextBox 10"/>
          <p:cNvSpPr txBox="1"/>
          <p:nvPr/>
        </p:nvSpPr>
        <p:spPr>
          <a:xfrm>
            <a:off x="1298809" y="6909536"/>
            <a:ext cx="11415293" cy="10248960"/>
          </a:xfrm>
          <a:prstGeom prst="rect">
            <a:avLst/>
          </a:prstGeom>
          <a:noFill/>
        </p:spPr>
        <p:txBody>
          <a:bodyPr wrap="square" rtlCol="0">
            <a:spAutoFit/>
          </a:bodyPr>
          <a:lstStyle/>
          <a:p>
            <a:r>
              <a:rPr lang="en-ZA" sz="4400" dirty="0"/>
              <a:t>Developing economic sectors lack ICT infrastructure to fully equip them to be able to use cloud </a:t>
            </a:r>
            <a:r>
              <a:rPr lang="en-ZA" sz="4400" dirty="0" smtClean="0"/>
              <a:t>computing services. </a:t>
            </a:r>
            <a:r>
              <a:rPr lang="en-ZA" sz="4400" dirty="0"/>
              <a:t>However, for small businesses to maximize cloud computing benefits, services and devices should be </a:t>
            </a:r>
            <a:r>
              <a:rPr lang="en-ZA" sz="4400" dirty="0" smtClean="0"/>
              <a:t>available.</a:t>
            </a:r>
            <a:endParaRPr lang="en-ZA" sz="4400" dirty="0"/>
          </a:p>
          <a:p>
            <a:endParaRPr lang="en-ZA" sz="4400" dirty="0" smtClean="0"/>
          </a:p>
          <a:p>
            <a:r>
              <a:rPr lang="en-ZA" sz="4400" dirty="0" smtClean="0"/>
              <a:t>As </a:t>
            </a:r>
            <a:r>
              <a:rPr lang="en-ZA" sz="4400" dirty="0"/>
              <a:t>cloud computing is achieving increased popularity, concerns are being voiced about infrastructural resources’ reliability, accessibility and cost effectiveness. This study will review the reliability and accessibility of resources needed to use cloud computing and the bandwidth of data transmissions from the cloud in small businesses, the Internet Cafés </a:t>
            </a:r>
            <a:r>
              <a:rPr lang="en-ZA" sz="4400" dirty="0" smtClean="0"/>
              <a:t>to be specific.</a:t>
            </a:r>
            <a:r>
              <a:rPr lang="en-ZA" sz="4400" dirty="0"/>
              <a:t> </a:t>
            </a:r>
            <a:r>
              <a:rPr lang="en-ZA" sz="4400" dirty="0"/>
              <a:t> </a:t>
            </a:r>
          </a:p>
        </p:txBody>
      </p:sp>
      <p:pic>
        <p:nvPicPr>
          <p:cNvPr id="1032" name="Picture 8" descr="black and white.... classy :) | Cafe interior design, Computer room, Cafe  interio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41195" y="9929154"/>
            <a:ext cx="11842162" cy="692265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0" descr="Beginners Guide to Cloud Computing ☁️ | by Ashutosh K Singh | 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66314" y="10401349"/>
            <a:ext cx="11021333" cy="582925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ANDWIDTH VS THROUGHPUT - IP With Ease"/>
          <p:cNvPicPr>
            <a:picLocks noChangeAspect="1" noChangeArrowheads="1"/>
          </p:cNvPicPr>
          <p:nvPr/>
        </p:nvPicPr>
        <p:blipFill rotWithShape="1">
          <a:blip r:embed="rId7">
            <a:extLst>
              <a:ext uri="{28A0092B-C50C-407E-A947-70E740481C1C}">
                <a14:useLocalDpi xmlns:a14="http://schemas.microsoft.com/office/drawing/2010/main" val="0"/>
              </a:ext>
            </a:extLst>
          </a:blip>
          <a:srcRect t="14069"/>
          <a:stretch/>
        </p:blipFill>
        <p:spPr bwMode="auto">
          <a:xfrm>
            <a:off x="14454383" y="20150724"/>
            <a:ext cx="11212008" cy="452915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flipH="1">
            <a:off x="28730604" y="6909536"/>
            <a:ext cx="13665612" cy="16342935"/>
          </a:xfrm>
          <a:prstGeom prst="rect">
            <a:avLst/>
          </a:prstGeom>
          <a:noFill/>
        </p:spPr>
        <p:txBody>
          <a:bodyPr wrap="square" rtlCol="0">
            <a:spAutoFit/>
          </a:bodyPr>
          <a:lstStyle/>
          <a:p>
            <a:r>
              <a:rPr lang="en-US" sz="4400" dirty="0" smtClean="0"/>
              <a:t>We are conducting our research in internet cafés and we are aiming to get as many responses as possible as we have distributed an online questionnaire for internet cafés to respond to it with a consent form attached. </a:t>
            </a:r>
          </a:p>
          <a:p>
            <a:endParaRPr lang="en-US" sz="4400" dirty="0" smtClean="0"/>
          </a:p>
          <a:p>
            <a:endParaRPr lang="en-US" sz="4400" dirty="0"/>
          </a:p>
          <a:p>
            <a:endParaRPr lang="en-US" sz="4400" dirty="0" smtClean="0"/>
          </a:p>
          <a:p>
            <a:endParaRPr lang="en-US" sz="4400" dirty="0"/>
          </a:p>
          <a:p>
            <a:endParaRPr lang="en-US" sz="4400" dirty="0" smtClean="0"/>
          </a:p>
          <a:p>
            <a:endParaRPr lang="en-US" sz="4400" dirty="0"/>
          </a:p>
          <a:p>
            <a:endParaRPr lang="en-US" sz="4400" dirty="0" smtClean="0"/>
          </a:p>
          <a:p>
            <a:endParaRPr lang="en-US" sz="4400" dirty="0"/>
          </a:p>
          <a:p>
            <a:endParaRPr lang="en-US" sz="4400" dirty="0" smtClean="0"/>
          </a:p>
          <a:p>
            <a:endParaRPr lang="en-US" sz="4400" dirty="0" smtClean="0"/>
          </a:p>
          <a:p>
            <a:endParaRPr lang="en-US" sz="4400" dirty="0" smtClean="0"/>
          </a:p>
          <a:p>
            <a:r>
              <a:rPr lang="en-US" sz="4400" dirty="0" smtClean="0"/>
              <a:t>We are therefore hoping to get as many responses as possible out of the 30 internet cafés we are expecting to get responses from. This will help us understand the variation in infrastructural resources currently put in place depending on many factors like affordability and accessibility in order to access cloud computing resources. “All </a:t>
            </a:r>
            <a:r>
              <a:rPr lang="en-US" sz="4400" dirty="0"/>
              <a:t>of the 42 Internet cafe´s studied experienced varying infrastructural </a:t>
            </a:r>
            <a:r>
              <a:rPr lang="en-US" sz="4400" dirty="0" smtClean="0"/>
              <a:t>stresses depending </a:t>
            </a:r>
            <a:r>
              <a:rPr lang="en-US" sz="4400" dirty="0"/>
              <a:t>on particular geographic </a:t>
            </a:r>
            <a:r>
              <a:rPr lang="en-US" sz="4400" dirty="0" smtClean="0"/>
              <a:t>contexts” Best and Macaulay (2002).</a:t>
            </a:r>
            <a:endParaRPr lang="en-US" sz="4400" dirty="0"/>
          </a:p>
        </p:txBody>
      </p:sp>
    </p:spTree>
    <p:extLst>
      <p:ext uri="{BB962C8B-B14F-4D97-AF65-F5344CB8AC3E}">
        <p14:creationId xmlns:p14="http://schemas.microsoft.com/office/powerpoint/2010/main" val="283623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576</Words>
  <Application>Microsoft Office PowerPoint</Application>
  <PresentationFormat>Custom</PresentationFormat>
  <Paragraphs>60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Al Bayan Plain</vt:lpstr>
      <vt:lpstr>Arial</vt:lpstr>
      <vt:lpstr>Bangla MN</vt:lpstr>
      <vt:lpstr>Calibri</vt:lpstr>
      <vt:lpstr>Lucida Fax</vt:lpstr>
      <vt:lpstr>Lucida Grande</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2012-08-24T00:53:15Z</dcterms:created>
  <dcterms:modified xsi:type="dcterms:W3CDTF">2020-10-16T09:23:48Z</dcterms:modified>
</cp:coreProperties>
</file>