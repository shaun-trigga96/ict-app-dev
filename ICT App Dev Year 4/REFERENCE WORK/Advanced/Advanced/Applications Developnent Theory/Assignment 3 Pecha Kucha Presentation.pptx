
<file path=[Content_Types].xml><?xml version="1.0" encoding="utf-8"?>
<Types xmlns="http://schemas.openxmlformats.org/package/2006/content-types">
  <Default Extension="png" ContentType="image/png"/>
  <Default Extension="mp3" ContentType="audio/m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61" r:id="rId5"/>
    <p:sldId id="262" r:id="rId6"/>
    <p:sldId id="263" r:id="rId7"/>
    <p:sldId id="264" r:id="rId8"/>
    <p:sldId id="259" r:id="rId9"/>
    <p:sldId id="260" r:id="rId10"/>
    <p:sldId id="285" r:id="rId11"/>
    <p:sldId id="276" r:id="rId12"/>
    <p:sldId id="277" r:id="rId13"/>
    <p:sldId id="278" r:id="rId14"/>
    <p:sldId id="279" r:id="rId15"/>
    <p:sldId id="280" r:id="rId16"/>
    <p:sldId id="281" r:id="rId17"/>
    <p:sldId id="282" r:id="rId18"/>
    <p:sldId id="283" r:id="rId19"/>
    <p:sldId id="28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0" d="100"/>
          <a:sy n="80" d="100"/>
        </p:scale>
        <p:origin x="378"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9/16/2020</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9/16/2020</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1654562"/>
            <a:ext cx="6815669" cy="1515533"/>
          </a:xfrm>
        </p:spPr>
        <p:txBody>
          <a:bodyPr/>
          <a:lstStyle/>
          <a:p>
            <a:r>
              <a:rPr lang="en-ZA" sz="3200" dirty="0" smtClean="0"/>
              <a:t>Kabai </a:t>
            </a:r>
            <a:r>
              <a:rPr lang="en-ZA" sz="3200" dirty="0" smtClean="0"/>
              <a:t>Moipone </a:t>
            </a:r>
            <a:r>
              <a:rPr lang="en-ZA" sz="3200" dirty="0" smtClean="0"/>
              <a:t>215203569</a:t>
            </a:r>
            <a:br>
              <a:rPr lang="en-ZA" sz="3200" dirty="0" smtClean="0"/>
            </a:br>
            <a:r>
              <a:rPr lang="en-ZA" sz="3200" dirty="0" smtClean="0"/>
              <a:t>Msomi </a:t>
            </a:r>
            <a:r>
              <a:rPr lang="en-ZA" sz="3200" dirty="0" err="1" smtClean="0"/>
              <a:t>Sebe</a:t>
            </a:r>
            <a:r>
              <a:rPr lang="en-ZA" sz="3200" dirty="0" smtClean="0"/>
              <a:t> </a:t>
            </a:r>
            <a:r>
              <a:rPr lang="en-ZA" sz="3200" dirty="0" smtClean="0"/>
              <a:t>216028604</a:t>
            </a:r>
            <a:endParaRPr lang="en-ZA" sz="3200" dirty="0"/>
          </a:p>
        </p:txBody>
      </p:sp>
      <p:sp>
        <p:nvSpPr>
          <p:cNvPr id="3" name="Subtitle 2"/>
          <p:cNvSpPr>
            <a:spLocks noGrp="1"/>
          </p:cNvSpPr>
          <p:nvPr>
            <p:ph type="subTitle" idx="1"/>
          </p:nvPr>
        </p:nvSpPr>
        <p:spPr>
          <a:xfrm>
            <a:off x="2875546" y="3609474"/>
            <a:ext cx="6172201" cy="1684421"/>
          </a:xfrm>
        </p:spPr>
        <p:txBody>
          <a:bodyPr>
            <a:normAutofit fontScale="77500" lnSpcReduction="20000"/>
          </a:bodyPr>
          <a:lstStyle/>
          <a:p>
            <a:pPr algn="l"/>
            <a:r>
              <a:rPr lang="en-US" dirty="0" smtClean="0"/>
              <a:t>Assignment 3</a:t>
            </a:r>
          </a:p>
          <a:p>
            <a:pPr algn="l"/>
            <a:r>
              <a:rPr lang="en-US" dirty="0" smtClean="0"/>
              <a:t>The Tourism System’s Pecha Kucha</a:t>
            </a:r>
          </a:p>
          <a:p>
            <a:pPr algn="l"/>
            <a:endParaRPr lang="en-US" dirty="0"/>
          </a:p>
          <a:p>
            <a:pPr algn="l"/>
            <a:endParaRPr lang="en-US" dirty="0" smtClean="0"/>
          </a:p>
          <a:p>
            <a:r>
              <a:rPr lang="en-ZA" dirty="0"/>
              <a:t>Due Date: </a:t>
            </a:r>
            <a:r>
              <a:rPr lang="en-ZA" dirty="0" smtClean="0"/>
              <a:t>16 September </a:t>
            </a:r>
            <a:r>
              <a:rPr lang="en-ZA" dirty="0"/>
              <a:t>2020</a:t>
            </a:r>
          </a:p>
          <a:p>
            <a:endParaRPr lang="en-ZA" dirty="0"/>
          </a:p>
        </p:txBody>
      </p:sp>
      <p:pic>
        <p:nvPicPr>
          <p:cNvPr id="6" name="Natalie Taylor - Surrender">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609600" y="1654562"/>
            <a:ext cx="609600" cy="609600"/>
          </a:xfrm>
          <a:prstGeom prst="rect">
            <a:avLst/>
          </a:prstGeom>
        </p:spPr>
      </p:pic>
    </p:spTree>
    <p:extLst>
      <p:ext uri="{BB962C8B-B14F-4D97-AF65-F5344CB8AC3E}">
        <p14:creationId xmlns:p14="http://schemas.microsoft.com/office/powerpoint/2010/main" val="1489983576"/>
      </p:ext>
    </p:extLst>
  </p:cSld>
  <p:clrMapOvr>
    <a:masterClrMapping/>
  </p:clrMapOvr>
  <mc:AlternateContent xmlns:mc="http://schemas.openxmlformats.org/markup-compatibility/2006">
    <mc:Choice xmlns:p14="http://schemas.microsoft.com/office/powerpoint/2010/main" Requires="p14">
      <p:transition p14:dur="10" advClick="0" advTm="20000"/>
    </mc:Choice>
    <mc:Fallback>
      <p:transition advClick="0"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Change </a:t>
            </a:r>
            <a:r>
              <a:rPr lang="en-ZA" dirty="0" smtClean="0"/>
              <a:t>Process</a:t>
            </a:r>
            <a:endParaRPr lang="en-ZA" dirty="0"/>
          </a:p>
        </p:txBody>
      </p:sp>
      <p:sp>
        <p:nvSpPr>
          <p:cNvPr id="3" name="Content Placeholder 2"/>
          <p:cNvSpPr>
            <a:spLocks noGrp="1"/>
          </p:cNvSpPr>
          <p:nvPr>
            <p:ph idx="1"/>
          </p:nvPr>
        </p:nvSpPr>
        <p:spPr>
          <a:xfrm>
            <a:off x="1295402" y="2424584"/>
            <a:ext cx="9601196" cy="3807774"/>
          </a:xfrm>
        </p:spPr>
        <p:txBody>
          <a:bodyPr>
            <a:normAutofit fontScale="92500"/>
          </a:bodyPr>
          <a:lstStyle/>
          <a:p>
            <a:r>
              <a:rPr lang="en-US" dirty="0"/>
              <a:t>We use process analysis to understand what is going on in our process. We assessed our current system, practice weaknesses and identified bottlenecks. We will be looking for information about the process’s problem and inefficiencies. The process models will describe the process that may be developed, and it will focus on process characteristics such as </a:t>
            </a:r>
            <a:r>
              <a:rPr lang="en-US" dirty="0" smtClean="0"/>
              <a:t>speed </a:t>
            </a:r>
            <a:r>
              <a:rPr lang="en-US" dirty="0"/>
              <a:t>and robustness.</a:t>
            </a:r>
          </a:p>
          <a:p>
            <a:r>
              <a:rPr lang="en-US" dirty="0"/>
              <a:t>We have identified key characteristics to remain successful and profitable during level 3 lockdown. We </a:t>
            </a:r>
            <a:r>
              <a:rPr lang="en-US" dirty="0" smtClean="0"/>
              <a:t>will need to use </a:t>
            </a:r>
            <a:r>
              <a:rPr lang="en-US" dirty="0"/>
              <a:t>one of the process analysis techniques to improve our tourism system. The most common technique </a:t>
            </a:r>
            <a:r>
              <a:rPr lang="en-US" dirty="0" smtClean="0"/>
              <a:t>is </a:t>
            </a:r>
            <a:r>
              <a:rPr lang="en-US" dirty="0"/>
              <a:t>questionnaires and </a:t>
            </a:r>
            <a:r>
              <a:rPr lang="en-US" dirty="0" smtClean="0"/>
              <a:t>interviews to for information purposes for the next person who comes to the development team who doesn’t know anything about the system.</a:t>
            </a:r>
            <a:endParaRPr lang="en-ZA" dirty="0"/>
          </a:p>
        </p:txBody>
      </p:sp>
    </p:spTree>
    <p:extLst>
      <p:ext uri="{BB962C8B-B14F-4D97-AF65-F5344CB8AC3E}">
        <p14:creationId xmlns:p14="http://schemas.microsoft.com/office/powerpoint/2010/main" val="1434084810"/>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Change Process continues…</a:t>
            </a:r>
            <a:endParaRPr lang="en-ZA" dirty="0"/>
          </a:p>
        </p:txBody>
      </p:sp>
      <p:sp>
        <p:nvSpPr>
          <p:cNvPr id="3" name="Content Placeholder 2"/>
          <p:cNvSpPr>
            <a:spLocks noGrp="1"/>
          </p:cNvSpPr>
          <p:nvPr>
            <p:ph idx="1"/>
          </p:nvPr>
        </p:nvSpPr>
        <p:spPr>
          <a:xfrm>
            <a:off x="1295402" y="2448647"/>
            <a:ext cx="9601196" cy="3795742"/>
          </a:xfrm>
        </p:spPr>
        <p:txBody>
          <a:bodyPr>
            <a:normAutofit/>
          </a:bodyPr>
          <a:lstStyle/>
          <a:p>
            <a:r>
              <a:rPr lang="en-US" dirty="0"/>
              <a:t>We use process analysis to understand what is going on in our process. We will be looking for information about the process’s problem and inefficiencies.</a:t>
            </a:r>
          </a:p>
          <a:p>
            <a:r>
              <a:rPr lang="en-US" dirty="0"/>
              <a:t>We have identified key characteristics to remain successful and profitable during level 3 lockdown. </a:t>
            </a:r>
            <a:r>
              <a:rPr lang="en-US" dirty="0" smtClean="0"/>
              <a:t>We </a:t>
            </a:r>
            <a:r>
              <a:rPr lang="en-US" dirty="0"/>
              <a:t>used process analysis techniques to improve our tourism </a:t>
            </a:r>
            <a:r>
              <a:rPr lang="en-US" dirty="0" smtClean="0"/>
              <a:t>system. The </a:t>
            </a:r>
            <a:r>
              <a:rPr lang="en-US" dirty="0"/>
              <a:t>process </a:t>
            </a:r>
            <a:r>
              <a:rPr lang="en-US" dirty="0" smtClean="0"/>
              <a:t>analysis will help us </a:t>
            </a:r>
            <a:r>
              <a:rPr lang="en-US" dirty="0"/>
              <a:t>to understand the activities involved in the process and the relationship between these </a:t>
            </a:r>
            <a:r>
              <a:rPr lang="en-US" dirty="0" smtClean="0"/>
              <a:t>activities and </a:t>
            </a:r>
            <a:r>
              <a:rPr lang="en-US" dirty="0"/>
              <a:t>understand the </a:t>
            </a:r>
            <a:r>
              <a:rPr lang="en-US" dirty="0" err="1" smtClean="0"/>
              <a:t>Tourspace</a:t>
            </a:r>
            <a:r>
              <a:rPr lang="en-US" dirty="0" smtClean="0"/>
              <a:t> </a:t>
            </a:r>
            <a:r>
              <a:rPr lang="en-US" dirty="0"/>
              <a:t>system process activities and the measurements that </a:t>
            </a:r>
            <a:r>
              <a:rPr lang="en-US" dirty="0" smtClean="0"/>
              <a:t>we will make. </a:t>
            </a:r>
            <a:endParaRPr lang="en-US" dirty="0"/>
          </a:p>
          <a:p>
            <a:endParaRPr lang="en-US" dirty="0"/>
          </a:p>
          <a:p>
            <a:endParaRPr lang="en-ZA" dirty="0"/>
          </a:p>
        </p:txBody>
      </p:sp>
    </p:spTree>
    <p:extLst>
      <p:ext uri="{BB962C8B-B14F-4D97-AF65-F5344CB8AC3E}">
        <p14:creationId xmlns:p14="http://schemas.microsoft.com/office/powerpoint/2010/main" val="2576427005"/>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Change Process continues…</a:t>
            </a:r>
            <a:endParaRPr lang="en-ZA" dirty="0"/>
          </a:p>
        </p:txBody>
      </p:sp>
      <p:sp>
        <p:nvSpPr>
          <p:cNvPr id="3" name="Content Placeholder 2"/>
          <p:cNvSpPr>
            <a:spLocks noGrp="1"/>
          </p:cNvSpPr>
          <p:nvPr>
            <p:ph idx="1"/>
          </p:nvPr>
        </p:nvSpPr>
        <p:spPr/>
        <p:txBody>
          <a:bodyPr>
            <a:normAutofit fontScale="92500" lnSpcReduction="20000"/>
          </a:bodyPr>
          <a:lstStyle/>
          <a:p>
            <a:r>
              <a:rPr lang="en-US" dirty="0"/>
              <a:t>We </a:t>
            </a:r>
            <a:r>
              <a:rPr lang="en-US" dirty="0" smtClean="0"/>
              <a:t>choose </a:t>
            </a:r>
            <a:r>
              <a:rPr lang="en-US" dirty="0"/>
              <a:t>to use questionnaires to discover the extent of which good software engineering practices are </a:t>
            </a:r>
            <a:r>
              <a:rPr lang="en-US" dirty="0" smtClean="0"/>
              <a:t>used. We </a:t>
            </a:r>
            <a:r>
              <a:rPr lang="en-US" dirty="0"/>
              <a:t>used process analysis to understand the activities involved in the process and the relationship between these </a:t>
            </a:r>
            <a:r>
              <a:rPr lang="en-US" dirty="0" smtClean="0"/>
              <a:t>activities in understanding </a:t>
            </a:r>
            <a:r>
              <a:rPr lang="en-US" dirty="0"/>
              <a:t>the </a:t>
            </a:r>
            <a:r>
              <a:rPr lang="en-US" dirty="0" err="1" smtClean="0"/>
              <a:t>Tourspace</a:t>
            </a:r>
            <a:r>
              <a:rPr lang="en-US" dirty="0" smtClean="0"/>
              <a:t> </a:t>
            </a:r>
            <a:r>
              <a:rPr lang="en-US" dirty="0"/>
              <a:t>system process activities and the measurements that have been </a:t>
            </a:r>
            <a:r>
              <a:rPr lang="en-US" dirty="0" smtClean="0"/>
              <a:t>made.</a:t>
            </a:r>
          </a:p>
          <a:p>
            <a:endParaRPr lang="en-US" dirty="0"/>
          </a:p>
          <a:p>
            <a:endParaRPr lang="en-US" dirty="0" smtClean="0"/>
          </a:p>
          <a:p>
            <a:endParaRPr lang="en-US" dirty="0"/>
          </a:p>
          <a:p>
            <a:pPr marL="0" indent="0">
              <a:buNone/>
            </a:pPr>
            <a:r>
              <a:rPr lang="en-US" dirty="0" smtClean="0"/>
              <a:t> </a:t>
            </a:r>
            <a:endParaRPr lang="en-US" dirty="0"/>
          </a:p>
          <a:p>
            <a:endParaRPr lang="en-US" dirty="0"/>
          </a:p>
        </p:txBody>
      </p:sp>
      <p:pic>
        <p:nvPicPr>
          <p:cNvPr id="5" name="Content Placeholder 5" descr="A picture containing device&#10;&#10;Description automatically generated">
            <a:extLst>
              <a:ext uri="{FF2B5EF4-FFF2-40B4-BE49-F238E27FC236}">
                <a16:creationId xmlns="" xmlns:a16="http://schemas.microsoft.com/office/drawing/2014/main" xmlns:lc="http://schemas.openxmlformats.org/drawingml/2006/lockedCanvas" id="{F361C05F-99AD-4A8A-A4A3-78A7AC7C628A}"/>
              </a:ext>
            </a:extLst>
          </p:cNvPr>
          <p:cNvPicPr>
            <a:picLocks noGrp="1" noChangeAspect="1"/>
          </p:cNvPicPr>
          <p:nvPr/>
        </p:nvPicPr>
        <p:blipFill>
          <a:blip r:embed="rId2" cstate="email">
            <a:extLst>
              <a:ext uri="{28A0092B-C50C-407E-A947-70E740481C1C}">
                <a14:useLocalDpi xmlns:a14="http://schemas.microsoft.com/office/drawing/2010/main" val="0"/>
              </a:ext>
            </a:extLst>
          </a:blip>
          <a:stretch>
            <a:fillRect/>
          </a:stretch>
        </p:blipFill>
        <p:spPr>
          <a:xfrm>
            <a:off x="3453063" y="3716422"/>
            <a:ext cx="4920916" cy="2460457"/>
          </a:xfrm>
          <a:prstGeom prst="rect">
            <a:avLst/>
          </a:prstGeom>
        </p:spPr>
      </p:pic>
    </p:spTree>
    <p:extLst>
      <p:ext uri="{BB962C8B-B14F-4D97-AF65-F5344CB8AC3E}">
        <p14:creationId xmlns:p14="http://schemas.microsoft.com/office/powerpoint/2010/main" val="913521167"/>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Change Process continues…</a:t>
            </a:r>
            <a:endParaRPr lang="en-ZA" dirty="0"/>
          </a:p>
        </p:txBody>
      </p:sp>
      <p:sp>
        <p:nvSpPr>
          <p:cNvPr id="3" name="Content Placeholder 2"/>
          <p:cNvSpPr>
            <a:spLocks noGrp="1"/>
          </p:cNvSpPr>
          <p:nvPr>
            <p:ph idx="1"/>
          </p:nvPr>
        </p:nvSpPr>
        <p:spPr>
          <a:xfrm>
            <a:off x="1295402" y="2448647"/>
            <a:ext cx="9601196" cy="3795741"/>
          </a:xfrm>
        </p:spPr>
        <p:txBody>
          <a:bodyPr>
            <a:normAutofit fontScale="92500"/>
          </a:bodyPr>
          <a:lstStyle/>
          <a:p>
            <a:r>
              <a:rPr lang="en-US" dirty="0"/>
              <a:t>Improvement identification – </a:t>
            </a:r>
            <a:r>
              <a:rPr lang="en-US" dirty="0" smtClean="0"/>
              <a:t>We </a:t>
            </a:r>
            <a:r>
              <a:rPr lang="en-US" dirty="0"/>
              <a:t>will use the results of the process analysis to identify ways to challenge quality problems such as travel restrictions, accommodation bookings are not allowed, and restaurants are closed. Cost inefficiencies that we have identified during tourism system analysis. We propose to implement new processes, process structures, methods and tools to address the problems we outlined. We </a:t>
            </a:r>
            <a:r>
              <a:rPr lang="en-US" dirty="0" smtClean="0"/>
              <a:t>will write </a:t>
            </a:r>
            <a:r>
              <a:rPr lang="en-US" dirty="0"/>
              <a:t>these new changes using best practice guide. We will redefine our requirements of the </a:t>
            </a:r>
            <a:r>
              <a:rPr lang="en-US" dirty="0" err="1" smtClean="0"/>
              <a:t>Tourspace</a:t>
            </a:r>
            <a:r>
              <a:rPr lang="en-US" dirty="0" smtClean="0"/>
              <a:t> </a:t>
            </a:r>
            <a:r>
              <a:rPr lang="en-US" dirty="0"/>
              <a:t>system to </a:t>
            </a:r>
            <a:r>
              <a:rPr lang="en-US" dirty="0" smtClean="0"/>
              <a:t>include </a:t>
            </a:r>
            <a:r>
              <a:rPr lang="en-US" dirty="0"/>
              <a:t>the new changes.</a:t>
            </a:r>
          </a:p>
          <a:p>
            <a:r>
              <a:rPr lang="en-US" dirty="0"/>
              <a:t>We will propose new methods that allow our tourism system to display all accommodations and restaurants that are open for domestic traveling and operating during level </a:t>
            </a:r>
            <a:r>
              <a:rPr lang="en-US" dirty="0" smtClean="0"/>
              <a:t>3 and </a:t>
            </a:r>
            <a:r>
              <a:rPr lang="en-US" dirty="0"/>
              <a:t>create methods that increase revenue. </a:t>
            </a:r>
          </a:p>
          <a:p>
            <a:endParaRPr lang="en-ZA" dirty="0"/>
          </a:p>
        </p:txBody>
      </p:sp>
    </p:spTree>
    <p:extLst>
      <p:ext uri="{BB962C8B-B14F-4D97-AF65-F5344CB8AC3E}">
        <p14:creationId xmlns:p14="http://schemas.microsoft.com/office/powerpoint/2010/main" val="2803599720"/>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Change Process continues…</a:t>
            </a:r>
            <a:endParaRPr lang="en-ZA" dirty="0"/>
          </a:p>
        </p:txBody>
      </p:sp>
      <p:sp>
        <p:nvSpPr>
          <p:cNvPr id="3" name="Content Placeholder 2"/>
          <p:cNvSpPr>
            <a:spLocks noGrp="1"/>
          </p:cNvSpPr>
          <p:nvPr>
            <p:ph idx="1"/>
          </p:nvPr>
        </p:nvSpPr>
        <p:spPr>
          <a:xfrm>
            <a:off x="1295402" y="2412553"/>
            <a:ext cx="9601196" cy="3855900"/>
          </a:xfrm>
        </p:spPr>
        <p:txBody>
          <a:bodyPr>
            <a:normAutofit fontScale="85000" lnSpcReduction="10000"/>
          </a:bodyPr>
          <a:lstStyle/>
          <a:p>
            <a:r>
              <a:rPr lang="en-US" dirty="0"/>
              <a:t>Process change introduction – </a:t>
            </a:r>
            <a:r>
              <a:rPr lang="en-US" dirty="0" smtClean="0"/>
              <a:t>We </a:t>
            </a:r>
            <a:r>
              <a:rPr lang="en-US" dirty="0"/>
              <a:t>will implement the methods that we have proposed during the improvement identification stage and we will integrate these methods with other activities and ensure compatibility between these process activities.  We will set enough time to introduce the changes and to ensure our system is compatible with other process activities, procedures and standards. The </a:t>
            </a:r>
            <a:r>
              <a:rPr lang="en-US" dirty="0" err="1" smtClean="0"/>
              <a:t>Tourspace</a:t>
            </a:r>
            <a:r>
              <a:rPr lang="en-US" dirty="0" smtClean="0"/>
              <a:t> </a:t>
            </a:r>
            <a:r>
              <a:rPr lang="en-US" dirty="0"/>
              <a:t>will acquire tools for requirements management and designing processes to use these tools. </a:t>
            </a:r>
            <a:endParaRPr lang="en-US" dirty="0" smtClean="0"/>
          </a:p>
          <a:p>
            <a:r>
              <a:rPr lang="en-US" dirty="0"/>
              <a:t>Process training – </a:t>
            </a:r>
            <a:r>
              <a:rPr lang="en-US" dirty="0" smtClean="0"/>
              <a:t>As </a:t>
            </a:r>
            <a:r>
              <a:rPr lang="en-US" dirty="0"/>
              <a:t>developers that have been involve during the </a:t>
            </a:r>
            <a:r>
              <a:rPr lang="en-US" dirty="0" smtClean="0"/>
              <a:t>implementation of </a:t>
            </a:r>
            <a:r>
              <a:rPr lang="en-US" dirty="0"/>
              <a:t>the </a:t>
            </a:r>
            <a:r>
              <a:rPr lang="en-US" dirty="0" err="1" smtClean="0"/>
              <a:t>Tourspace</a:t>
            </a:r>
            <a:r>
              <a:rPr lang="en-US" dirty="0" smtClean="0"/>
              <a:t> </a:t>
            </a:r>
            <a:r>
              <a:rPr lang="en-US" dirty="0"/>
              <a:t>system, it will not be a challenge to </a:t>
            </a:r>
            <a:r>
              <a:rPr lang="en-US" dirty="0" smtClean="0"/>
              <a:t>fit in </a:t>
            </a:r>
            <a:r>
              <a:rPr lang="en-US" dirty="0"/>
              <a:t>and understand these new proposed changes and how to implement them. </a:t>
            </a:r>
          </a:p>
          <a:p>
            <a:r>
              <a:rPr lang="en-US" dirty="0"/>
              <a:t>The training that we will be required would be when new tools </a:t>
            </a:r>
            <a:r>
              <a:rPr lang="en-US" dirty="0" smtClean="0"/>
              <a:t>that will be introduced</a:t>
            </a:r>
            <a:r>
              <a:rPr lang="en-US" dirty="0"/>
              <a:t>. In the training session, we will have discussions of the value of requirements management, explain the process activities and introduce the tools that </a:t>
            </a:r>
            <a:r>
              <a:rPr lang="en-US" dirty="0" smtClean="0"/>
              <a:t>have been selected.</a:t>
            </a:r>
            <a:endParaRPr lang="en-US" dirty="0"/>
          </a:p>
          <a:p>
            <a:endParaRPr lang="en-US" dirty="0"/>
          </a:p>
          <a:p>
            <a:endParaRPr lang="en-US" dirty="0" smtClean="0"/>
          </a:p>
        </p:txBody>
      </p:sp>
    </p:spTree>
    <p:extLst>
      <p:ext uri="{BB962C8B-B14F-4D97-AF65-F5344CB8AC3E}">
        <p14:creationId xmlns:p14="http://schemas.microsoft.com/office/powerpoint/2010/main" val="2616806459"/>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Change Process continues…</a:t>
            </a:r>
            <a:endParaRPr lang="en-ZA" dirty="0"/>
          </a:p>
        </p:txBody>
      </p:sp>
      <p:sp>
        <p:nvSpPr>
          <p:cNvPr id="3" name="Content Placeholder 2"/>
          <p:cNvSpPr>
            <a:spLocks noGrp="1"/>
          </p:cNvSpPr>
          <p:nvPr>
            <p:ph idx="1"/>
          </p:nvPr>
        </p:nvSpPr>
        <p:spPr>
          <a:xfrm>
            <a:off x="1295402" y="2448648"/>
            <a:ext cx="9601196" cy="3771678"/>
          </a:xfrm>
        </p:spPr>
        <p:txBody>
          <a:bodyPr>
            <a:normAutofit/>
          </a:bodyPr>
          <a:lstStyle/>
          <a:p>
            <a:r>
              <a:rPr lang="en-US" dirty="0"/>
              <a:t>Change tuning – </a:t>
            </a:r>
            <a:r>
              <a:rPr lang="en-US" dirty="0" smtClean="0"/>
              <a:t>We </a:t>
            </a:r>
            <a:r>
              <a:rPr lang="en-US" dirty="0"/>
              <a:t>will perform a test on our </a:t>
            </a:r>
            <a:r>
              <a:rPr lang="en-US" dirty="0" smtClean="0"/>
              <a:t>system </a:t>
            </a:r>
            <a:r>
              <a:rPr lang="en-US" dirty="0"/>
              <a:t>to discover minor problems. After discovering these problems. The process changes will never be effective as soon as they are introduced. Introducing too many changes makes it impossible to assess the effect of each change on the process. </a:t>
            </a:r>
            <a:r>
              <a:rPr lang="en-US" dirty="0" smtClean="0"/>
              <a:t>We will </a:t>
            </a:r>
            <a:r>
              <a:rPr lang="en-US" dirty="0"/>
              <a:t>propose and introduce modifications to the process and if we are happy with the process, the changes will be completely operative.</a:t>
            </a:r>
          </a:p>
          <a:p>
            <a:r>
              <a:rPr lang="en-US" dirty="0"/>
              <a:t>We will make this phase to last for few months to discover defects and to make sure all the changes have been made successfully and the system is going to production. </a:t>
            </a:r>
          </a:p>
        </p:txBody>
      </p:sp>
    </p:spTree>
    <p:extLst>
      <p:ext uri="{BB962C8B-B14F-4D97-AF65-F5344CB8AC3E}">
        <p14:creationId xmlns:p14="http://schemas.microsoft.com/office/powerpoint/2010/main" val="1351065006"/>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Change Process continues…</a:t>
            </a:r>
            <a:endParaRPr lang="en-ZA" dirty="0"/>
          </a:p>
        </p:txBody>
      </p:sp>
      <p:sp>
        <p:nvSpPr>
          <p:cNvPr id="3" name="Content Placeholder 2"/>
          <p:cNvSpPr>
            <a:spLocks noGrp="1"/>
          </p:cNvSpPr>
          <p:nvPr>
            <p:ph idx="1"/>
          </p:nvPr>
        </p:nvSpPr>
        <p:spPr>
          <a:xfrm>
            <a:off x="1295402" y="2448648"/>
            <a:ext cx="9601196" cy="3783710"/>
          </a:xfrm>
        </p:spPr>
        <p:txBody>
          <a:bodyPr>
            <a:normAutofit/>
          </a:bodyPr>
          <a:lstStyle/>
          <a:p>
            <a:r>
              <a:rPr lang="en-US" dirty="0"/>
              <a:t>Improvement prioritization – </a:t>
            </a:r>
            <a:r>
              <a:rPr lang="en-US" dirty="0" smtClean="0"/>
              <a:t>We </a:t>
            </a:r>
            <a:r>
              <a:rPr lang="en-US" dirty="0"/>
              <a:t>will assess all the possible changes on </a:t>
            </a:r>
            <a:r>
              <a:rPr lang="en-US" dirty="0" smtClean="0"/>
              <a:t>our system </a:t>
            </a:r>
            <a:r>
              <a:rPr lang="en-US" dirty="0"/>
              <a:t>and prioritize them for implementation. We will prioritize the changes based on criticality. We will start with the high</a:t>
            </a:r>
            <a:r>
              <a:rPr lang="en-US" dirty="0" smtClean="0"/>
              <a:t>, then </a:t>
            </a:r>
            <a:r>
              <a:rPr lang="en-US" dirty="0"/>
              <a:t>medium and </a:t>
            </a:r>
            <a:r>
              <a:rPr lang="en-US" dirty="0" smtClean="0"/>
              <a:t>lastly low priority changes to </a:t>
            </a:r>
            <a:r>
              <a:rPr lang="en-US" dirty="0"/>
              <a:t>avoid introducing all the changes at once. We will not make too many changes at once but we will consider introducing requirements management processes to manage evolving requirement to the highest process change.</a:t>
            </a:r>
          </a:p>
          <a:p>
            <a:r>
              <a:rPr lang="en-US" dirty="0"/>
              <a:t>We will decide on the process areas that need improvement, how much to introduce these changes and their impact on our </a:t>
            </a:r>
            <a:r>
              <a:rPr lang="en-US" dirty="0" smtClean="0"/>
              <a:t>system.</a:t>
            </a:r>
            <a:endParaRPr lang="en-US" dirty="0"/>
          </a:p>
        </p:txBody>
      </p:sp>
    </p:spTree>
    <p:extLst>
      <p:ext uri="{BB962C8B-B14F-4D97-AF65-F5344CB8AC3E}">
        <p14:creationId xmlns:p14="http://schemas.microsoft.com/office/powerpoint/2010/main" val="3809192639"/>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Change </a:t>
            </a:r>
            <a:r>
              <a:rPr lang="en-ZA" dirty="0" smtClean="0"/>
              <a:t>Process continues…</a:t>
            </a:r>
            <a:endParaRPr lang="en-ZA" dirty="0" smtClean="0"/>
          </a:p>
        </p:txBody>
      </p:sp>
      <p:sp>
        <p:nvSpPr>
          <p:cNvPr id="3" name="Content Placeholder 2"/>
          <p:cNvSpPr>
            <a:spLocks noGrp="1"/>
          </p:cNvSpPr>
          <p:nvPr>
            <p:ph idx="1"/>
          </p:nvPr>
        </p:nvSpPr>
        <p:spPr>
          <a:xfrm>
            <a:off x="1295402" y="2436615"/>
            <a:ext cx="9601196" cy="3807773"/>
          </a:xfrm>
        </p:spPr>
        <p:txBody>
          <a:bodyPr>
            <a:normAutofit/>
          </a:bodyPr>
          <a:lstStyle/>
          <a:p>
            <a:r>
              <a:rPr lang="en-US" dirty="0"/>
              <a:t>We will implement these changes by developing a communication strategy that include a timeline for how the change will be incrementally communicated and how will the change be communicated. Provide effective training to teach the skills and knowledge required to operate efficiently. We will introduce new practices, methods and tools as well as new roles or responsibilities. Measure the change process to ensure that we have achieved our goal which is to reduce the number of defects discovered during integration testing. We will use the process measurements to assess the effectiveness of the changes on our </a:t>
            </a:r>
            <a:r>
              <a:rPr lang="en-US" dirty="0" smtClean="0"/>
              <a:t>system.</a:t>
            </a:r>
            <a:endParaRPr lang="en-US" dirty="0"/>
          </a:p>
        </p:txBody>
      </p:sp>
    </p:spTree>
    <p:extLst>
      <p:ext uri="{BB962C8B-B14F-4D97-AF65-F5344CB8AC3E}">
        <p14:creationId xmlns:p14="http://schemas.microsoft.com/office/powerpoint/2010/main" val="874086553"/>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Change Process continues…</a:t>
            </a:r>
          </a:p>
        </p:txBody>
      </p:sp>
      <p:sp>
        <p:nvSpPr>
          <p:cNvPr id="3" name="Content Placeholder 2"/>
          <p:cNvSpPr>
            <a:spLocks noGrp="1"/>
          </p:cNvSpPr>
          <p:nvPr>
            <p:ph idx="1"/>
          </p:nvPr>
        </p:nvSpPr>
        <p:spPr>
          <a:xfrm>
            <a:off x="4126831" y="3801978"/>
            <a:ext cx="6769765" cy="2073889"/>
          </a:xfrm>
        </p:spPr>
        <p:txBody>
          <a:bodyPr/>
          <a:lstStyle/>
          <a:p>
            <a:pPr marL="0" indent="0">
              <a:buNone/>
            </a:pPr>
            <a:r>
              <a:rPr lang="en-ZA" dirty="0"/>
              <a:t>.</a:t>
            </a:r>
          </a:p>
        </p:txBody>
      </p:sp>
      <p:pic>
        <p:nvPicPr>
          <p:cNvPr id="4" name="Content Placeholder 5">
            <a:extLst>
              <a:ext uri="{FF2B5EF4-FFF2-40B4-BE49-F238E27FC236}">
                <a16:creationId xmlns="" xmlns:a16="http://schemas.microsoft.com/office/drawing/2014/main" xmlns:lc="http://schemas.openxmlformats.org/drawingml/2006/lockedCanvas" id="{51FA5F6F-FDB5-4769-914F-4227F87A3C2A}"/>
              </a:ext>
            </a:extLst>
          </p:cNvPr>
          <p:cNvPicPr>
            <a:picLocks noGrp="1" noChangeAspect="1"/>
          </p:cNvPicPr>
          <p:nvPr/>
        </p:nvPicPr>
        <p:blipFill>
          <a:blip r:embed="rId2" cstate="email">
            <a:extLst>
              <a:ext uri="{28A0092B-C50C-407E-A947-70E740481C1C}">
                <a14:useLocalDpi xmlns:a14="http://schemas.microsoft.com/office/drawing/2010/main" val="0"/>
              </a:ext>
            </a:extLst>
          </a:blip>
          <a:stretch>
            <a:fillRect/>
          </a:stretch>
        </p:blipFill>
        <p:spPr>
          <a:xfrm>
            <a:off x="1725946" y="2443456"/>
            <a:ext cx="8356517" cy="3673323"/>
          </a:xfrm>
          <a:prstGeom prst="rect">
            <a:avLst/>
          </a:prstGeom>
        </p:spPr>
      </p:pic>
    </p:spTree>
    <p:extLst>
      <p:ext uri="{BB962C8B-B14F-4D97-AF65-F5344CB8AC3E}">
        <p14:creationId xmlns:p14="http://schemas.microsoft.com/office/powerpoint/2010/main" val="2483240243"/>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 Lehman’s first Law</a:t>
            </a:r>
            <a:endParaRPr lang="en-ZA" dirty="0"/>
          </a:p>
        </p:txBody>
      </p:sp>
      <p:sp>
        <p:nvSpPr>
          <p:cNvPr id="3" name="Content Placeholder 2"/>
          <p:cNvSpPr>
            <a:spLocks noGrp="1"/>
          </p:cNvSpPr>
          <p:nvPr>
            <p:ph idx="1"/>
          </p:nvPr>
        </p:nvSpPr>
        <p:spPr>
          <a:xfrm>
            <a:off x="1295403" y="2484741"/>
            <a:ext cx="9893966" cy="3771679"/>
          </a:xfrm>
        </p:spPr>
        <p:txBody>
          <a:bodyPr>
            <a:normAutofit lnSpcReduction="10000"/>
          </a:bodyPr>
          <a:lstStyle/>
          <a:p>
            <a:r>
              <a:rPr lang="en-US" dirty="0" smtClean="0"/>
              <a:t>Lehman’s first </a:t>
            </a:r>
            <a:r>
              <a:rPr lang="en-US" dirty="0"/>
              <a:t>law states that system maintenance is an inevitable process. As the </a:t>
            </a:r>
            <a:r>
              <a:rPr lang="en-US" dirty="0" smtClean="0"/>
              <a:t>system’s environment </a:t>
            </a:r>
            <a:r>
              <a:rPr lang="en-US" dirty="0"/>
              <a:t>changes, new requirements emerge and the system must be </a:t>
            </a:r>
            <a:r>
              <a:rPr lang="en-US" dirty="0" smtClean="0"/>
              <a:t>modified. </a:t>
            </a:r>
          </a:p>
          <a:p>
            <a:r>
              <a:rPr lang="en-ZA" dirty="0" smtClean="0"/>
              <a:t>In South Africa, level 3 requirements of the lockdown didn’t allow people to travel all around the world, which was an environmental factor. During that time our system, </a:t>
            </a:r>
            <a:r>
              <a:rPr lang="en-ZA" dirty="0" err="1" smtClean="0"/>
              <a:t>Tourspace</a:t>
            </a:r>
            <a:r>
              <a:rPr lang="en-ZA" dirty="0" smtClean="0"/>
              <a:t>, would have had to change in order to be compliant with the new business regulations. We would have to grey out the buttons for “Safest Accommodations” and “Activities” because hotels and most activities were not permitted during this time. The only thing people could do is to access restaurants to order to collect/be delivered to them, but not dining-in.</a:t>
            </a:r>
            <a:endParaRPr lang="en-ZA" dirty="0"/>
          </a:p>
        </p:txBody>
      </p:sp>
    </p:spTree>
    <p:extLst>
      <p:ext uri="{BB962C8B-B14F-4D97-AF65-F5344CB8AC3E}">
        <p14:creationId xmlns:p14="http://schemas.microsoft.com/office/powerpoint/2010/main" val="2446641511"/>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Lehman’s first </a:t>
            </a:r>
            <a:r>
              <a:rPr lang="en-ZA" dirty="0" smtClean="0"/>
              <a:t>Law continues…</a:t>
            </a:r>
            <a:endParaRPr lang="en-ZA" dirty="0"/>
          </a:p>
        </p:txBody>
      </p:sp>
      <p:sp>
        <p:nvSpPr>
          <p:cNvPr id="3" name="Content Placeholder 2"/>
          <p:cNvSpPr>
            <a:spLocks noGrp="1"/>
          </p:cNvSpPr>
          <p:nvPr>
            <p:ph idx="1"/>
          </p:nvPr>
        </p:nvSpPr>
        <p:spPr>
          <a:xfrm>
            <a:off x="1295400" y="2496775"/>
            <a:ext cx="10086474" cy="3711520"/>
          </a:xfrm>
        </p:spPr>
        <p:txBody>
          <a:bodyPr>
            <a:normAutofit fontScale="92500" lnSpcReduction="10000"/>
          </a:bodyPr>
          <a:lstStyle/>
          <a:p>
            <a:r>
              <a:rPr lang="en-ZA" dirty="0" smtClean="0"/>
              <a:t>Currently in level 2 of the lockdown, the new regulation is to allow guests to dine-in restaurants, opening of hotels, B&amp;Bs or any other accommodation premises, as well as some activities being allowed like opening of cinemas. All these are allowed still under strict precaution measures of social distancing, and travelling to other countries is still prohibited. This is another environmental change which will result in a change adjustment to the </a:t>
            </a:r>
            <a:r>
              <a:rPr lang="en-ZA" dirty="0" err="1" smtClean="0"/>
              <a:t>Tourspace</a:t>
            </a:r>
            <a:r>
              <a:rPr lang="en-ZA" dirty="0" smtClean="0"/>
              <a:t> system according to Lehman.</a:t>
            </a:r>
          </a:p>
          <a:p>
            <a:r>
              <a:rPr lang="en-ZA" dirty="0" smtClean="0"/>
              <a:t>People are now allowed to reserve spaces to dine-in restaurants, which our system will have to change to allow users to be directed to the relevant pages of restaurants they prefer. </a:t>
            </a:r>
            <a:r>
              <a:rPr lang="en-ZA" dirty="0" err="1" smtClean="0"/>
              <a:t>Tourspace</a:t>
            </a:r>
            <a:r>
              <a:rPr lang="en-ZA" dirty="0" smtClean="0"/>
              <a:t> will allow users to access the “Safest Accommodations” and “Thrilling Activities” buttons as they would have been greyed out due unavailability of services in compliance to the </a:t>
            </a:r>
            <a:r>
              <a:rPr lang="en-ZA" dirty="0"/>
              <a:t>business </a:t>
            </a:r>
            <a:r>
              <a:rPr lang="en-ZA" dirty="0" smtClean="0"/>
              <a:t>regulations of the previous level of lockdown.</a:t>
            </a:r>
            <a:endParaRPr lang="en-ZA" dirty="0"/>
          </a:p>
        </p:txBody>
      </p:sp>
    </p:spTree>
    <p:extLst>
      <p:ext uri="{BB962C8B-B14F-4D97-AF65-F5344CB8AC3E}">
        <p14:creationId xmlns:p14="http://schemas.microsoft.com/office/powerpoint/2010/main" val="3632939785"/>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Lehman’s first Law continues…</a:t>
            </a:r>
          </a:p>
        </p:txBody>
      </p:sp>
      <p:sp>
        <p:nvSpPr>
          <p:cNvPr id="3" name="Content Placeholder 2"/>
          <p:cNvSpPr>
            <a:spLocks noGrp="1"/>
          </p:cNvSpPr>
          <p:nvPr>
            <p:ph idx="1"/>
          </p:nvPr>
        </p:nvSpPr>
        <p:spPr>
          <a:xfrm>
            <a:off x="1295400" y="2556932"/>
            <a:ext cx="9601197" cy="3603236"/>
          </a:xfrm>
        </p:spPr>
        <p:txBody>
          <a:bodyPr/>
          <a:lstStyle/>
          <a:p>
            <a:r>
              <a:rPr lang="en-ZA" dirty="0" smtClean="0"/>
              <a:t>In the upcoming level one of the lockdown, the new business regulations to comply with will be introduced, and according to the given environmental requirements for business operation,  our system will have to change to accommodate the new required changes in order for it to stay useful to the end-user’s by fulfilling their needs.</a:t>
            </a:r>
            <a:endParaRPr lang="en-ZA" dirty="0"/>
          </a:p>
        </p:txBody>
      </p:sp>
      <p:pic>
        <p:nvPicPr>
          <p:cNvPr id="4" name="Picture 3"/>
          <p:cNvPicPr>
            <a:picLocks noChangeAspect="1"/>
          </p:cNvPicPr>
          <p:nvPr/>
        </p:nvPicPr>
        <p:blipFill>
          <a:blip r:embed="rId2"/>
          <a:stretch>
            <a:fillRect/>
          </a:stretch>
        </p:blipFill>
        <p:spPr>
          <a:xfrm>
            <a:off x="6249178" y="4748313"/>
            <a:ext cx="4546192" cy="1318126"/>
          </a:xfrm>
          <a:prstGeom prst="rect">
            <a:avLst/>
          </a:prstGeom>
        </p:spPr>
      </p:pic>
      <p:pic>
        <p:nvPicPr>
          <p:cNvPr id="5" name="Picture 4"/>
          <p:cNvPicPr>
            <a:picLocks noChangeAspect="1"/>
          </p:cNvPicPr>
          <p:nvPr/>
        </p:nvPicPr>
        <p:blipFill>
          <a:blip r:embed="rId3"/>
          <a:stretch>
            <a:fillRect/>
          </a:stretch>
        </p:blipFill>
        <p:spPr>
          <a:xfrm>
            <a:off x="1685199" y="4748313"/>
            <a:ext cx="4174180" cy="1411855"/>
          </a:xfrm>
          <a:prstGeom prst="rect">
            <a:avLst/>
          </a:prstGeom>
        </p:spPr>
      </p:pic>
    </p:spTree>
    <p:extLst>
      <p:ext uri="{BB962C8B-B14F-4D97-AF65-F5344CB8AC3E}">
        <p14:creationId xmlns:p14="http://schemas.microsoft.com/office/powerpoint/2010/main" val="1275914444"/>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Lehman’s fifth Law</a:t>
            </a:r>
            <a:endParaRPr lang="en-ZA" dirty="0"/>
          </a:p>
        </p:txBody>
      </p:sp>
      <p:sp>
        <p:nvSpPr>
          <p:cNvPr id="3" name="Content Placeholder 2"/>
          <p:cNvSpPr>
            <a:spLocks noGrp="1"/>
          </p:cNvSpPr>
          <p:nvPr>
            <p:ph idx="1"/>
          </p:nvPr>
        </p:nvSpPr>
        <p:spPr>
          <a:xfrm>
            <a:off x="1295402" y="2436617"/>
            <a:ext cx="9601196" cy="3807772"/>
          </a:xfrm>
        </p:spPr>
        <p:txBody>
          <a:bodyPr>
            <a:normAutofit fontScale="92500" lnSpcReduction="10000"/>
          </a:bodyPr>
          <a:lstStyle/>
          <a:p>
            <a:r>
              <a:rPr lang="en-US" dirty="0"/>
              <a:t>Lehman’s fifth law is concerned with the change increments in each </a:t>
            </a:r>
            <a:r>
              <a:rPr lang="en-US" dirty="0" smtClean="0"/>
              <a:t>system release</a:t>
            </a:r>
            <a:r>
              <a:rPr lang="en-US" dirty="0"/>
              <a:t>. Adding new functionality to a system inevitably introduces </a:t>
            </a:r>
            <a:r>
              <a:rPr lang="en-US" dirty="0" smtClean="0"/>
              <a:t>new system faults</a:t>
            </a:r>
            <a:r>
              <a:rPr lang="en-US" dirty="0"/>
              <a:t>. The more functionality added in each release, the more faults there will </a:t>
            </a:r>
            <a:r>
              <a:rPr lang="en-US" dirty="0" smtClean="0"/>
              <a:t>be.</a:t>
            </a:r>
          </a:p>
          <a:p>
            <a:r>
              <a:rPr lang="en-US" dirty="0" smtClean="0"/>
              <a:t>Because of the lockdown regulations set forth for businesses to comply with, our Tourism system will have to change functionality in increments to accommodate the new ways that the business regulations requires each time lockdown levels are lifted. So in order for our system to remain useful to the end-user, these incremental changes to the system are required each time a new legislation is introduced in a lockdown level, which will bring errors to the system. These errors could include failure of the system that was already functional in the level prior to the one that requires a change increment.</a:t>
            </a:r>
            <a:endParaRPr lang="en-ZA" dirty="0"/>
          </a:p>
        </p:txBody>
      </p:sp>
    </p:spTree>
    <p:extLst>
      <p:ext uri="{BB962C8B-B14F-4D97-AF65-F5344CB8AC3E}">
        <p14:creationId xmlns:p14="http://schemas.microsoft.com/office/powerpoint/2010/main" val="106211726"/>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Lehman’s </a:t>
            </a:r>
            <a:r>
              <a:rPr lang="en-ZA" dirty="0" smtClean="0"/>
              <a:t>fifth </a:t>
            </a:r>
            <a:r>
              <a:rPr lang="en-ZA" dirty="0"/>
              <a:t>Law continues…</a:t>
            </a:r>
          </a:p>
        </p:txBody>
      </p:sp>
      <p:sp>
        <p:nvSpPr>
          <p:cNvPr id="3" name="Content Placeholder 2"/>
          <p:cNvSpPr>
            <a:spLocks noGrp="1"/>
          </p:cNvSpPr>
          <p:nvPr>
            <p:ph idx="1"/>
          </p:nvPr>
        </p:nvSpPr>
        <p:spPr>
          <a:xfrm>
            <a:off x="1295401" y="2460680"/>
            <a:ext cx="9601197" cy="3699488"/>
          </a:xfrm>
        </p:spPr>
        <p:txBody>
          <a:bodyPr>
            <a:normAutofit/>
          </a:bodyPr>
          <a:lstStyle/>
          <a:p>
            <a:r>
              <a:rPr lang="en-ZA" dirty="0" smtClean="0"/>
              <a:t>For example, when level 2 was introduced during level 3 of the lockdown, all the new requirements based on the legislation accompanying level 2 were supposed to be implemented in the tourism system such as allowing tourists to book hotels, and restaurants to dine-in. This had to be implemented so that the system stays compliant with the new level of lockdown. Changing the system from what it provided in level 3 to what it should now provide in compliance to level 2 regulations could cause so many errors such as causing the system to perhaps fail in the validation process of checking the login credential of a user before accessing the system. </a:t>
            </a:r>
            <a:endParaRPr lang="en-ZA" dirty="0"/>
          </a:p>
        </p:txBody>
      </p:sp>
    </p:spTree>
    <p:extLst>
      <p:ext uri="{BB962C8B-B14F-4D97-AF65-F5344CB8AC3E}">
        <p14:creationId xmlns:p14="http://schemas.microsoft.com/office/powerpoint/2010/main" val="578583400"/>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Lehman’s </a:t>
            </a:r>
            <a:r>
              <a:rPr lang="en-ZA" dirty="0" smtClean="0"/>
              <a:t>fifth </a:t>
            </a:r>
            <a:r>
              <a:rPr lang="en-ZA" dirty="0"/>
              <a:t>Law continues…</a:t>
            </a:r>
          </a:p>
        </p:txBody>
      </p:sp>
      <p:sp>
        <p:nvSpPr>
          <p:cNvPr id="3" name="Content Placeholder 2"/>
          <p:cNvSpPr>
            <a:spLocks noGrp="1"/>
          </p:cNvSpPr>
          <p:nvPr>
            <p:ph idx="1"/>
          </p:nvPr>
        </p:nvSpPr>
        <p:spPr/>
        <p:txBody>
          <a:bodyPr/>
          <a:lstStyle/>
          <a:p>
            <a:r>
              <a:rPr lang="en-ZA" dirty="0" smtClean="0"/>
              <a:t>The system could crash, resulting to another system being focused on in addition to the incremental change currently being implemented.</a:t>
            </a:r>
            <a:endParaRPr lang="en-ZA" dirty="0"/>
          </a:p>
        </p:txBody>
      </p:sp>
      <p:pic>
        <p:nvPicPr>
          <p:cNvPr id="3074" name="Picture 2" descr="7 Warning Signs Your Computer Is Going to Crash (And What to D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2665" y="3416844"/>
            <a:ext cx="5568198" cy="2784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000699"/>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Lehman’s sixth Law</a:t>
            </a:r>
            <a:endParaRPr lang="en-ZA" dirty="0"/>
          </a:p>
        </p:txBody>
      </p:sp>
      <p:sp>
        <p:nvSpPr>
          <p:cNvPr id="3" name="Content Placeholder 2"/>
          <p:cNvSpPr>
            <a:spLocks noGrp="1"/>
          </p:cNvSpPr>
          <p:nvPr>
            <p:ph idx="1"/>
          </p:nvPr>
        </p:nvSpPr>
        <p:spPr>
          <a:xfrm>
            <a:off x="1295402" y="2460680"/>
            <a:ext cx="9601196" cy="3318936"/>
          </a:xfrm>
        </p:spPr>
        <p:txBody>
          <a:bodyPr>
            <a:normAutofit lnSpcReduction="10000"/>
          </a:bodyPr>
          <a:lstStyle/>
          <a:p>
            <a:r>
              <a:rPr lang="en-US" dirty="0"/>
              <a:t>The sixth </a:t>
            </a:r>
            <a:r>
              <a:rPr lang="en-US" dirty="0" smtClean="0"/>
              <a:t>law basically says that </a:t>
            </a:r>
            <a:r>
              <a:rPr lang="en-US" dirty="0"/>
              <a:t>users of software will become increasingly unhappy with it unless it is </a:t>
            </a:r>
            <a:r>
              <a:rPr lang="en-US" dirty="0" smtClean="0"/>
              <a:t>maintained and </a:t>
            </a:r>
            <a:r>
              <a:rPr lang="en-US" dirty="0"/>
              <a:t>new functionality is added to it</a:t>
            </a:r>
            <a:r>
              <a:rPr lang="en-US" dirty="0" smtClean="0"/>
              <a:t>.</a:t>
            </a:r>
            <a:endParaRPr lang="en-ZA" dirty="0"/>
          </a:p>
          <a:p>
            <a:r>
              <a:rPr lang="en-ZA" dirty="0" smtClean="0"/>
              <a:t>With regards to level 3 lockdown regulations, our system will have to be maintained every time a new business requirement is introduced so that we will be compliant to the regulations by introducing new functionality that will be suitable for that particular time of the level. Like in level 3, there won’t be any hard functionality the system will provide to the user, there will only be bare minimum functions such as ordering food from restaurants, only as takeaways, not for dining in. </a:t>
            </a:r>
            <a:endParaRPr lang="en-ZA" dirty="0"/>
          </a:p>
        </p:txBody>
      </p:sp>
    </p:spTree>
    <p:extLst>
      <p:ext uri="{BB962C8B-B14F-4D97-AF65-F5344CB8AC3E}">
        <p14:creationId xmlns:p14="http://schemas.microsoft.com/office/powerpoint/2010/main" val="2343303671"/>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Lehman’s sixth </a:t>
            </a:r>
            <a:r>
              <a:rPr lang="en-ZA" dirty="0" smtClean="0"/>
              <a:t>Law continues…</a:t>
            </a:r>
            <a:endParaRPr lang="en-ZA" dirty="0"/>
          </a:p>
        </p:txBody>
      </p:sp>
      <p:sp>
        <p:nvSpPr>
          <p:cNvPr id="3" name="Content Placeholder 2"/>
          <p:cNvSpPr>
            <a:spLocks noGrp="1"/>
          </p:cNvSpPr>
          <p:nvPr>
            <p:ph idx="1"/>
          </p:nvPr>
        </p:nvSpPr>
        <p:spPr>
          <a:xfrm>
            <a:off x="1295402" y="2436616"/>
            <a:ext cx="9713494" cy="3675426"/>
          </a:xfrm>
        </p:spPr>
        <p:txBody>
          <a:bodyPr>
            <a:normAutofit fontScale="92500"/>
          </a:bodyPr>
          <a:lstStyle/>
          <a:p>
            <a:r>
              <a:rPr lang="en-ZA" dirty="0" smtClean="0"/>
              <a:t>For compliance, every time a new level is introduced the system will have to adapt to the new change requirements so that the system users will stay satisfied with our services, and not find </a:t>
            </a:r>
            <a:r>
              <a:rPr lang="en-ZA" dirty="0" err="1" smtClean="0"/>
              <a:t>Tourspace</a:t>
            </a:r>
            <a:r>
              <a:rPr lang="en-ZA" dirty="0" smtClean="0"/>
              <a:t> not useful to their needs or demands. </a:t>
            </a:r>
            <a:endParaRPr lang="en-ZA" dirty="0"/>
          </a:p>
          <a:p>
            <a:r>
              <a:rPr lang="en-ZA" dirty="0" smtClean="0"/>
              <a:t>This will be quite a critical process to change system functionalities incrementally until all the required deliverables are met. In level 3 of the lockdown, this might or will not be an issue at all introducing a simple system that does not require too much functionality, but as the lockdown levels keep being lifted, we will have to adjust to more and more advanced increments that will put the system in jeopardy of crashing, or at least introducing errors that will affect the current functionality. But at last, all requirements will be met to satisfy the end user of the system.</a:t>
            </a:r>
            <a:endParaRPr lang="en-ZA" dirty="0"/>
          </a:p>
        </p:txBody>
      </p:sp>
    </p:spTree>
    <p:extLst>
      <p:ext uri="{BB962C8B-B14F-4D97-AF65-F5344CB8AC3E}">
        <p14:creationId xmlns:p14="http://schemas.microsoft.com/office/powerpoint/2010/main" val="830048934"/>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Lehman’s sixth Law </a:t>
            </a:r>
            <a:r>
              <a:rPr lang="en-ZA" dirty="0" smtClean="0"/>
              <a:t>continues…</a:t>
            </a:r>
            <a:endParaRPr lang="en-ZA" dirty="0"/>
          </a:p>
        </p:txBody>
      </p:sp>
      <p:sp>
        <p:nvSpPr>
          <p:cNvPr id="3" name="Content Placeholder 2"/>
          <p:cNvSpPr>
            <a:spLocks noGrp="1"/>
          </p:cNvSpPr>
          <p:nvPr>
            <p:ph idx="1"/>
          </p:nvPr>
        </p:nvSpPr>
        <p:spPr>
          <a:xfrm>
            <a:off x="3356811" y="3344778"/>
            <a:ext cx="7539786" cy="2634917"/>
          </a:xfrm>
        </p:spPr>
        <p:txBody>
          <a:bodyPr>
            <a:normAutofit fontScale="55000" lnSpcReduction="20000"/>
          </a:bodyPr>
          <a:lstStyle/>
          <a:p>
            <a:endParaRPr lang="en-ZA" dirty="0"/>
          </a:p>
          <a:p>
            <a:endParaRPr lang="en-ZA" dirty="0" smtClean="0"/>
          </a:p>
          <a:p>
            <a:endParaRPr lang="en-ZA" dirty="0"/>
          </a:p>
          <a:p>
            <a:endParaRPr lang="en-ZA" dirty="0" smtClean="0"/>
          </a:p>
          <a:p>
            <a:pPr marL="0" indent="0">
              <a:buNone/>
            </a:pPr>
            <a:r>
              <a:rPr lang="en-ZA" dirty="0" smtClean="0"/>
              <a:t>	</a:t>
            </a:r>
          </a:p>
          <a:p>
            <a:pPr marL="0" indent="0">
              <a:buNone/>
            </a:pPr>
            <a:endParaRPr lang="en-ZA" dirty="0"/>
          </a:p>
          <a:p>
            <a:pPr marL="0" indent="0">
              <a:buNone/>
            </a:pPr>
            <a:endParaRPr lang="en-ZA" dirty="0" smtClean="0"/>
          </a:p>
          <a:p>
            <a:pPr marL="0" indent="0">
              <a:buNone/>
            </a:pPr>
            <a:endParaRPr lang="en-ZA" dirty="0"/>
          </a:p>
          <a:p>
            <a:pPr marL="0" indent="0">
              <a:buNone/>
            </a:pPr>
            <a:r>
              <a:rPr lang="en-ZA" dirty="0" smtClean="0"/>
              <a:t>	</a:t>
            </a:r>
            <a:r>
              <a:rPr lang="en-ZA" dirty="0" err="1" smtClean="0"/>
              <a:t>Tourspace</a:t>
            </a:r>
            <a:r>
              <a:rPr lang="en-ZA" dirty="0" smtClean="0"/>
              <a:t> should be maintained to keep system users happy. </a:t>
            </a:r>
            <a:endParaRPr lang="en-ZA" dirty="0"/>
          </a:p>
        </p:txBody>
      </p:sp>
      <p:pic>
        <p:nvPicPr>
          <p:cNvPr id="5" name="Picture 4"/>
          <p:cNvPicPr>
            <a:picLocks noChangeAspect="1"/>
          </p:cNvPicPr>
          <p:nvPr/>
        </p:nvPicPr>
        <p:blipFill>
          <a:blip r:embed="rId2"/>
          <a:stretch>
            <a:fillRect/>
          </a:stretch>
        </p:blipFill>
        <p:spPr>
          <a:xfrm>
            <a:off x="1044628" y="2502103"/>
            <a:ext cx="2073354" cy="3704205"/>
          </a:xfrm>
          <a:prstGeom prst="rect">
            <a:avLst/>
          </a:prstGeom>
        </p:spPr>
      </p:pic>
      <p:pic>
        <p:nvPicPr>
          <p:cNvPr id="1026" name="Picture 2" descr="Software Maintenance | World TB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1552" y="2471412"/>
            <a:ext cx="3021616" cy="3021616"/>
          </a:xfrm>
          <a:prstGeom prst="rect">
            <a:avLst/>
          </a:prstGeom>
          <a:noFill/>
          <a:extLst>
            <a:ext uri="{909E8E84-426E-40DD-AFC4-6F175D3DCCD1}">
              <a14:hiddenFill xmlns:a14="http://schemas.microsoft.com/office/drawing/2010/main">
                <a:solidFill>
                  <a:srgbClr val="FFFFFF"/>
                </a:solidFill>
              </a14:hiddenFill>
            </a:ext>
          </a:extLst>
        </p:spPr>
      </p:pic>
      <p:sp>
        <p:nvSpPr>
          <p:cNvPr id="6" name="Left Arrow 5"/>
          <p:cNvSpPr/>
          <p:nvPr/>
        </p:nvSpPr>
        <p:spPr>
          <a:xfrm>
            <a:off x="3117982" y="5584930"/>
            <a:ext cx="709863" cy="142102"/>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ZA"/>
          </a:p>
        </p:txBody>
      </p:sp>
      <p:sp>
        <p:nvSpPr>
          <p:cNvPr id="7" name="Right Arrow 6"/>
          <p:cNvSpPr/>
          <p:nvPr/>
        </p:nvSpPr>
        <p:spPr>
          <a:xfrm>
            <a:off x="7879464" y="5584930"/>
            <a:ext cx="721895" cy="14210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ZA"/>
          </a:p>
        </p:txBody>
      </p:sp>
      <p:pic>
        <p:nvPicPr>
          <p:cNvPr id="8" name="Picture 7"/>
          <p:cNvPicPr>
            <a:picLocks noChangeAspect="1"/>
          </p:cNvPicPr>
          <p:nvPr/>
        </p:nvPicPr>
        <p:blipFill>
          <a:blip r:embed="rId4"/>
          <a:stretch>
            <a:fillRect/>
          </a:stretch>
        </p:blipFill>
        <p:spPr>
          <a:xfrm>
            <a:off x="8601359" y="3159365"/>
            <a:ext cx="2552560" cy="2771720"/>
          </a:xfrm>
          <a:prstGeom prst="rect">
            <a:avLst/>
          </a:prstGeom>
        </p:spPr>
      </p:pic>
    </p:spTree>
    <p:extLst>
      <p:ext uri="{BB962C8B-B14F-4D97-AF65-F5344CB8AC3E}">
        <p14:creationId xmlns:p14="http://schemas.microsoft.com/office/powerpoint/2010/main" val="1306778514"/>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61941" y="926430"/>
            <a:ext cx="8610597" cy="1917479"/>
          </a:xfrm>
        </p:spPr>
        <p:txBody>
          <a:bodyPr>
            <a:normAutofit/>
          </a:bodyPr>
          <a:lstStyle/>
          <a:p>
            <a:pPr marL="0" indent="0" algn="ctr">
              <a:buNone/>
            </a:pPr>
            <a:r>
              <a:rPr lang="en-ZA" sz="11500" dirty="0" smtClean="0"/>
              <a:t>The End…</a:t>
            </a:r>
            <a:endParaRPr lang="en-ZA" sz="11500" dirty="0"/>
          </a:p>
        </p:txBody>
      </p:sp>
      <p:pic>
        <p:nvPicPr>
          <p:cNvPr id="4" name="Picture 3"/>
          <p:cNvPicPr>
            <a:picLocks noChangeAspect="1"/>
          </p:cNvPicPr>
          <p:nvPr/>
        </p:nvPicPr>
        <p:blipFill>
          <a:blip r:embed="rId2"/>
          <a:stretch>
            <a:fillRect/>
          </a:stretch>
        </p:blipFill>
        <p:spPr>
          <a:xfrm>
            <a:off x="4935488" y="2970221"/>
            <a:ext cx="2776754" cy="2912619"/>
          </a:xfrm>
          <a:prstGeom prst="rect">
            <a:avLst/>
          </a:prstGeom>
        </p:spPr>
      </p:pic>
    </p:spTree>
    <p:extLst>
      <p:ext uri="{BB962C8B-B14F-4D97-AF65-F5344CB8AC3E}">
        <p14:creationId xmlns:p14="http://schemas.microsoft.com/office/powerpoint/2010/main" val="881047880"/>
      </p:ext>
    </p:extLst>
  </p:cSld>
  <p:clrMapOvr>
    <a:masterClrMapping/>
  </p:clrMapOvr>
  <mc:AlternateContent xmlns:mc="http://schemas.openxmlformats.org/markup-compatibility/2006">
    <mc:Choice xmlns:p14="http://schemas.microsoft.com/office/powerpoint/2010/main" Requires="p14">
      <p:transition spd="slow" p14:dur="2000" advClick="0" advTm="20000"/>
    </mc:Choice>
    <mc:Fallback>
      <p:transition spd="slow" advClick="0" advTm="20000"/>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959</TotalTime>
  <Words>1864</Words>
  <Application>Microsoft Office PowerPoint</Application>
  <PresentationFormat>Widescreen</PresentationFormat>
  <Paragraphs>67</Paragraphs>
  <Slides>20</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Garamond</vt:lpstr>
      <vt:lpstr>Organic</vt:lpstr>
      <vt:lpstr>Kabai Moipone 215203569 Msomi Sebe 216028604</vt:lpstr>
      <vt:lpstr>Change Process</vt:lpstr>
      <vt:lpstr>Change Process continues…</vt:lpstr>
      <vt:lpstr>Change Process continues…</vt:lpstr>
      <vt:lpstr>Change Process continues…</vt:lpstr>
      <vt:lpstr>Change Process continues…</vt:lpstr>
      <vt:lpstr>Change Process continues…</vt:lpstr>
      <vt:lpstr>Change Process continues…</vt:lpstr>
      <vt:lpstr>Change Process continues…</vt:lpstr>
      <vt:lpstr>Change Process continues…</vt:lpstr>
      <vt:lpstr> Lehman’s first Law</vt:lpstr>
      <vt:lpstr>Lehman’s first Law continues…</vt:lpstr>
      <vt:lpstr>Lehman’s first Law continues…</vt:lpstr>
      <vt:lpstr>Lehman’s fifth Law</vt:lpstr>
      <vt:lpstr>Lehman’s fifth Law continues…</vt:lpstr>
      <vt:lpstr>Lehman’s fifth Law continues…</vt:lpstr>
      <vt:lpstr>Lehman’s sixth Law</vt:lpstr>
      <vt:lpstr>Lehman’s sixth Law continues…</vt:lpstr>
      <vt:lpstr>Lehman’s sixth Law continues…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Kabai M. 215203569 Participating Member: Msomi S.</dc:title>
  <dc:creator>Moipone Kabai</dc:creator>
  <cp:lastModifiedBy>Moipone Kabai</cp:lastModifiedBy>
  <cp:revision>59</cp:revision>
  <dcterms:created xsi:type="dcterms:W3CDTF">2020-07-27T14:13:19Z</dcterms:created>
  <dcterms:modified xsi:type="dcterms:W3CDTF">2020-09-16T21:42:43Z</dcterms:modified>
</cp:coreProperties>
</file>