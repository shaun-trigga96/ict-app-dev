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5" r:id="rId3"/>
    <p:sldId id="268" r:id="rId4"/>
    <p:sldId id="260" r:id="rId5"/>
    <p:sldId id="263" r:id="rId6"/>
    <p:sldId id="257" r:id="rId7"/>
    <p:sldId id="267" r:id="rId8"/>
    <p:sldId id="261" r:id="rId9"/>
    <p:sldId id="266" r:id="rId10"/>
    <p:sldId id="262" r:id="rId11"/>
    <p:sldId id="25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9900"/>
    <a:srgbClr val="333399"/>
    <a:srgbClr val="3333CC"/>
    <a:srgbClr val="660066"/>
    <a:srgbClr val="660033"/>
    <a:srgbClr val="993366"/>
    <a:srgbClr val="A50021"/>
    <a:srgbClr val="00FF00"/>
    <a:srgbClr val="000066"/>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8/15/2023</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59ACB-F84B-4BCD-8C2A-415D32BCA6F4}"/>
              </a:ext>
            </a:extLst>
          </p:cNvPr>
          <p:cNvSpPr>
            <a:spLocks noGrp="1"/>
          </p:cNvSpPr>
          <p:nvPr>
            <p:ph type="ctrTitle"/>
          </p:nvPr>
        </p:nvSpPr>
        <p:spPr>
          <a:xfrm>
            <a:off x="1935333" y="954339"/>
            <a:ext cx="9569280" cy="3475618"/>
          </a:xfrm>
        </p:spPr>
        <p:txBody>
          <a:bodyPr>
            <a:normAutofit/>
          </a:bodyPr>
          <a:lstStyle/>
          <a:p>
            <a:pPr algn="ctr"/>
            <a:r>
              <a:rPr lang="en-GB" sz="6600" dirty="0">
                <a:solidFill>
                  <a:srgbClr val="002060"/>
                </a:solidFill>
              </a:rPr>
              <a:t>Answering the</a:t>
            </a:r>
            <a:br>
              <a:rPr lang="en-GB" sz="6600" dirty="0">
                <a:solidFill>
                  <a:srgbClr val="002060"/>
                </a:solidFill>
              </a:rPr>
            </a:br>
            <a:r>
              <a:rPr lang="en-GB" sz="6600" dirty="0">
                <a:solidFill>
                  <a:srgbClr val="002060"/>
                </a:solidFill>
              </a:rPr>
              <a:t>June Exam paper</a:t>
            </a:r>
          </a:p>
        </p:txBody>
      </p:sp>
      <p:sp>
        <p:nvSpPr>
          <p:cNvPr id="3" name="Subtitle 2">
            <a:extLst>
              <a:ext uri="{FF2B5EF4-FFF2-40B4-BE49-F238E27FC236}">
                <a16:creationId xmlns:a16="http://schemas.microsoft.com/office/drawing/2014/main" id="{4FE7C324-77AD-416A-B6EC-BDC6F45EEFAA}"/>
              </a:ext>
            </a:extLst>
          </p:cNvPr>
          <p:cNvSpPr>
            <a:spLocks noGrp="1"/>
          </p:cNvSpPr>
          <p:nvPr>
            <p:ph type="subTitle" idx="1"/>
          </p:nvPr>
        </p:nvSpPr>
        <p:spPr>
          <a:xfrm>
            <a:off x="2589213" y="6152224"/>
            <a:ext cx="8915399" cy="363985"/>
          </a:xfrm>
        </p:spPr>
        <p:txBody>
          <a:bodyPr>
            <a:normAutofit/>
          </a:bodyPr>
          <a:lstStyle/>
          <a:p>
            <a:pPr algn="r"/>
            <a:r>
              <a:rPr lang="en-ZA" sz="1400" dirty="0">
                <a:solidFill>
                  <a:srgbClr val="002060"/>
                </a:solidFill>
                <a:latin typeface="Tahoma" panose="020B0604030504040204" pitchFamily="34" charset="0"/>
                <a:ea typeface="Times New Roman" panose="02020603050405020304" pitchFamily="18" charset="0"/>
              </a:rPr>
              <a:t>Prepared by G Khan</a:t>
            </a:r>
          </a:p>
        </p:txBody>
      </p:sp>
    </p:spTree>
    <p:extLst>
      <p:ext uri="{BB962C8B-B14F-4D97-AF65-F5344CB8AC3E}">
        <p14:creationId xmlns:p14="http://schemas.microsoft.com/office/powerpoint/2010/main" val="2494734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14C3D-80ED-42BB-9536-AB70AF766169}"/>
              </a:ext>
            </a:extLst>
          </p:cNvPr>
          <p:cNvSpPr>
            <a:spLocks noGrp="1"/>
          </p:cNvSpPr>
          <p:nvPr>
            <p:ph type="title"/>
          </p:nvPr>
        </p:nvSpPr>
        <p:spPr>
          <a:xfrm>
            <a:off x="2592925" y="624110"/>
            <a:ext cx="8911687" cy="689785"/>
          </a:xfrm>
        </p:spPr>
        <p:txBody>
          <a:bodyPr>
            <a:normAutofit/>
          </a:bodyPr>
          <a:lstStyle/>
          <a:p>
            <a:r>
              <a:rPr lang="en-US" sz="3200" dirty="0">
                <a:solidFill>
                  <a:srgbClr val="002060"/>
                </a:solidFill>
              </a:rPr>
              <a:t>Question 1</a:t>
            </a:r>
            <a:endParaRPr lang="en-GB" sz="3200" dirty="0">
              <a:solidFill>
                <a:srgbClr val="002060"/>
              </a:solidFill>
            </a:endParaRPr>
          </a:p>
        </p:txBody>
      </p:sp>
      <p:sp>
        <p:nvSpPr>
          <p:cNvPr id="3" name="Content Placeholder 2">
            <a:extLst>
              <a:ext uri="{FF2B5EF4-FFF2-40B4-BE49-F238E27FC236}">
                <a16:creationId xmlns:a16="http://schemas.microsoft.com/office/drawing/2014/main" id="{3663A21D-2F9C-4266-8E27-AB383BFA44DB}"/>
              </a:ext>
            </a:extLst>
          </p:cNvPr>
          <p:cNvSpPr>
            <a:spLocks noGrp="1"/>
          </p:cNvSpPr>
          <p:nvPr>
            <p:ph idx="1"/>
          </p:nvPr>
        </p:nvSpPr>
        <p:spPr>
          <a:xfrm>
            <a:off x="1944210" y="1313895"/>
            <a:ext cx="9560402" cy="5370990"/>
          </a:xfrm>
        </p:spPr>
        <p:txBody>
          <a:bodyPr>
            <a:normAutofit fontScale="85000" lnSpcReduction="10000"/>
          </a:bodyPr>
          <a:lstStyle/>
          <a:p>
            <a:pPr marL="0" indent="0">
              <a:buNone/>
            </a:pPr>
            <a:r>
              <a:rPr lang="en-US" dirty="0">
                <a:solidFill>
                  <a:srgbClr val="002060"/>
                </a:solidFill>
              </a:rPr>
              <a:t> </a:t>
            </a:r>
          </a:p>
          <a:p>
            <a:pPr marL="0" indent="0" algn="just">
              <a:buNone/>
            </a:pPr>
            <a:r>
              <a:rPr lang="en-US" b="1" dirty="0">
                <a:solidFill>
                  <a:srgbClr val="C00000"/>
                </a:solidFill>
                <a:latin typeface="Arial" panose="020B0604020202020204" pitchFamily="34" charset="0"/>
                <a:cs typeface="Arial" panose="020B0604020202020204" pitchFamily="34" charset="0"/>
              </a:rPr>
              <a:t>Theoretical knowledge </a:t>
            </a:r>
            <a:r>
              <a:rPr lang="en-US" dirty="0">
                <a:solidFill>
                  <a:srgbClr val="002060"/>
                </a:solidFill>
                <a:latin typeface="Arial" panose="020B0604020202020204" pitchFamily="34" charset="0"/>
                <a:cs typeface="Arial" panose="020B0604020202020204" pitchFamily="34" charset="0"/>
              </a:rPr>
              <a:t>involves </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learning without adopting a practical approach,</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is gained by reading a book, an article, viewing a presentation, etc.</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teaches about the </a:t>
            </a:r>
            <a:r>
              <a:rPr lang="en-US" sz="2800" b="1" dirty="0">
                <a:solidFill>
                  <a:srgbClr val="00B0F0"/>
                </a:solidFill>
                <a:latin typeface="Arial" panose="020B0604020202020204" pitchFamily="34" charset="0"/>
                <a:cs typeface="Arial" panose="020B0604020202020204" pitchFamily="34" charset="0"/>
              </a:rPr>
              <a:t>experiences of others.</a:t>
            </a:r>
          </a:p>
          <a:p>
            <a:pPr marL="0" indent="0" algn="just">
              <a:buNone/>
            </a:pPr>
            <a:r>
              <a:rPr lang="en-US" b="1" dirty="0">
                <a:solidFill>
                  <a:srgbClr val="C00000"/>
                </a:solidFill>
                <a:latin typeface="Arial" panose="020B0604020202020204" pitchFamily="34" charset="0"/>
                <a:cs typeface="Arial" panose="020B0604020202020204" pitchFamily="34" charset="0"/>
              </a:rPr>
              <a:t>Practical knowledge </a:t>
            </a:r>
            <a:r>
              <a:rPr lang="en-US" dirty="0">
                <a:solidFill>
                  <a:srgbClr val="002060"/>
                </a:solidFill>
                <a:latin typeface="Arial" panose="020B0604020202020204" pitchFamily="34" charset="0"/>
                <a:cs typeface="Arial" panose="020B0604020202020204" pitchFamily="34" charset="0"/>
              </a:rPr>
              <a:t>is </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obtained through </a:t>
            </a:r>
            <a:r>
              <a:rPr lang="en-US" sz="2800" b="1" dirty="0">
                <a:solidFill>
                  <a:srgbClr val="0070C0"/>
                </a:solidFill>
                <a:latin typeface="Arial" panose="020B0604020202020204" pitchFamily="34" charset="0"/>
                <a:cs typeface="Arial" panose="020B0604020202020204" pitchFamily="34" charset="0"/>
              </a:rPr>
              <a:t>hands-on experience </a:t>
            </a:r>
            <a:r>
              <a:rPr lang="en-US" dirty="0">
                <a:solidFill>
                  <a:srgbClr val="002060"/>
                </a:solidFill>
                <a:latin typeface="Arial" panose="020B0604020202020204" pitchFamily="34" charset="0"/>
                <a:cs typeface="Arial" panose="020B0604020202020204" pitchFamily="34" charset="0"/>
              </a:rPr>
              <a:t>of the concept under discussion,</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by working on the concept </a:t>
            </a:r>
            <a:r>
              <a:rPr lang="en-US" sz="2600" b="1" dirty="0">
                <a:solidFill>
                  <a:srgbClr val="7030A0"/>
                </a:solidFill>
                <a:latin typeface="Arial" panose="020B0604020202020204" pitchFamily="34" charset="0"/>
                <a:cs typeface="Arial" panose="020B0604020202020204" pitchFamily="34" charset="0"/>
              </a:rPr>
              <a:t>and understanding through experience why</a:t>
            </a:r>
            <a:r>
              <a:rPr lang="en-US" dirty="0">
                <a:solidFill>
                  <a:srgbClr val="002060"/>
                </a:solidFill>
                <a:latin typeface="Arial" panose="020B0604020202020204" pitchFamily="34" charset="0"/>
                <a:cs typeface="Arial" panose="020B0604020202020204" pitchFamily="34" charset="0"/>
              </a:rPr>
              <a:t> some method is used, what problems arise while following the method, and how to rectify it, etc.</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 people </a:t>
            </a:r>
            <a:r>
              <a:rPr lang="en-US" sz="2400" b="1" dirty="0">
                <a:solidFill>
                  <a:srgbClr val="00B050"/>
                </a:solidFill>
                <a:latin typeface="Arial" panose="020B0604020202020204" pitchFamily="34" charset="0"/>
                <a:cs typeface="Arial" panose="020B0604020202020204" pitchFamily="34" charset="0"/>
              </a:rPr>
              <a:t>generally learn something faster when they work on it</a:t>
            </a:r>
            <a:r>
              <a:rPr lang="en-US" dirty="0">
                <a:solidFill>
                  <a:srgbClr val="002060"/>
                </a:solidFill>
                <a:latin typeface="Arial" panose="020B0604020202020204" pitchFamily="34" charset="0"/>
                <a:cs typeface="Arial" panose="020B0604020202020204" pitchFamily="34" charset="0"/>
              </a:rPr>
              <a:t>. </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Whether it be reading a lesson for an exam, learning a new language, or learning to ride a bike </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the practical </a:t>
            </a:r>
            <a:r>
              <a:rPr lang="en-US" sz="2800" b="1" dirty="0">
                <a:solidFill>
                  <a:srgbClr val="006666"/>
                </a:solidFill>
                <a:latin typeface="Arial" panose="020B0604020202020204" pitchFamily="34" charset="0"/>
                <a:cs typeface="Arial" panose="020B0604020202020204" pitchFamily="34" charset="0"/>
              </a:rPr>
              <a:t>implementation of knowledge in real-life situations </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enables you  to </a:t>
            </a:r>
            <a:r>
              <a:rPr lang="en-US" sz="2800" b="1" dirty="0">
                <a:solidFill>
                  <a:srgbClr val="0000CC"/>
                </a:solidFill>
                <a:latin typeface="Arial" panose="020B0604020202020204" pitchFamily="34" charset="0"/>
                <a:cs typeface="Arial" panose="020B0604020202020204" pitchFamily="34" charset="0"/>
              </a:rPr>
              <a:t>learn through your own experiences</a:t>
            </a:r>
          </a:p>
        </p:txBody>
      </p:sp>
    </p:spTree>
    <p:extLst>
      <p:ext uri="{BB962C8B-B14F-4D97-AF65-F5344CB8AC3E}">
        <p14:creationId xmlns:p14="http://schemas.microsoft.com/office/powerpoint/2010/main" val="521774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14C3D-80ED-42BB-9536-AB70AF766169}"/>
              </a:ext>
            </a:extLst>
          </p:cNvPr>
          <p:cNvSpPr>
            <a:spLocks noGrp="1"/>
          </p:cNvSpPr>
          <p:nvPr>
            <p:ph type="title"/>
          </p:nvPr>
        </p:nvSpPr>
        <p:spPr>
          <a:xfrm>
            <a:off x="2592925" y="624110"/>
            <a:ext cx="8911687" cy="689785"/>
          </a:xfrm>
        </p:spPr>
        <p:txBody>
          <a:bodyPr>
            <a:normAutofit/>
          </a:bodyPr>
          <a:lstStyle/>
          <a:p>
            <a:r>
              <a:rPr lang="en-US" sz="3200" dirty="0">
                <a:solidFill>
                  <a:srgbClr val="002060"/>
                </a:solidFill>
              </a:rPr>
              <a:t>Question 1</a:t>
            </a:r>
            <a:endParaRPr lang="en-GB" sz="3200" dirty="0">
              <a:solidFill>
                <a:srgbClr val="002060"/>
              </a:solidFill>
            </a:endParaRPr>
          </a:p>
        </p:txBody>
      </p:sp>
      <p:sp>
        <p:nvSpPr>
          <p:cNvPr id="3" name="Content Placeholder 2">
            <a:extLst>
              <a:ext uri="{FF2B5EF4-FFF2-40B4-BE49-F238E27FC236}">
                <a16:creationId xmlns:a16="http://schemas.microsoft.com/office/drawing/2014/main" id="{3663A21D-2F9C-4266-8E27-AB383BFA44DB}"/>
              </a:ext>
            </a:extLst>
          </p:cNvPr>
          <p:cNvSpPr>
            <a:spLocks noGrp="1"/>
          </p:cNvSpPr>
          <p:nvPr>
            <p:ph idx="1"/>
          </p:nvPr>
        </p:nvSpPr>
        <p:spPr>
          <a:xfrm>
            <a:off x="1944210" y="1313895"/>
            <a:ext cx="9560402" cy="5370990"/>
          </a:xfrm>
        </p:spPr>
        <p:txBody>
          <a:bodyPr>
            <a:normAutofit fontScale="85000" lnSpcReduction="10000"/>
          </a:bodyPr>
          <a:lstStyle/>
          <a:p>
            <a:pPr marL="0" indent="0">
              <a:buNone/>
            </a:pPr>
            <a:r>
              <a:rPr lang="en-US" dirty="0">
                <a:solidFill>
                  <a:srgbClr val="002060"/>
                </a:solidFill>
              </a:rPr>
              <a:t> </a:t>
            </a:r>
          </a:p>
          <a:p>
            <a:pPr marL="0" indent="0" algn="just">
              <a:buNone/>
            </a:pPr>
            <a:r>
              <a:rPr lang="en-US" b="1" dirty="0">
                <a:solidFill>
                  <a:srgbClr val="C00000"/>
                </a:solidFill>
                <a:latin typeface="Arial" panose="020B0604020202020204" pitchFamily="34" charset="0"/>
                <a:cs typeface="Arial" panose="020B0604020202020204" pitchFamily="34" charset="0"/>
              </a:rPr>
              <a:t>Theoretical knowledge </a:t>
            </a:r>
            <a:r>
              <a:rPr lang="en-US" dirty="0">
                <a:solidFill>
                  <a:srgbClr val="002060"/>
                </a:solidFill>
                <a:latin typeface="Arial" panose="020B0604020202020204" pitchFamily="34" charset="0"/>
                <a:cs typeface="Arial" panose="020B0604020202020204" pitchFamily="34" charset="0"/>
              </a:rPr>
              <a:t>involves </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learning without adopting a practical approach,</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is gained by reading a book, an article, viewing a presentation, etc.</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teaches about the </a:t>
            </a:r>
            <a:r>
              <a:rPr lang="en-US" sz="2800" b="1" dirty="0">
                <a:solidFill>
                  <a:srgbClr val="00B0F0"/>
                </a:solidFill>
                <a:latin typeface="Arial" panose="020B0604020202020204" pitchFamily="34" charset="0"/>
                <a:cs typeface="Arial" panose="020B0604020202020204" pitchFamily="34" charset="0"/>
              </a:rPr>
              <a:t>experiences of others.</a:t>
            </a:r>
          </a:p>
          <a:p>
            <a:pPr marL="0" indent="0" algn="just">
              <a:buNone/>
            </a:pPr>
            <a:r>
              <a:rPr lang="en-US" b="1" dirty="0">
                <a:solidFill>
                  <a:srgbClr val="C00000"/>
                </a:solidFill>
                <a:latin typeface="Arial" panose="020B0604020202020204" pitchFamily="34" charset="0"/>
                <a:cs typeface="Arial" panose="020B0604020202020204" pitchFamily="34" charset="0"/>
              </a:rPr>
              <a:t>Practical knowledge </a:t>
            </a:r>
            <a:r>
              <a:rPr lang="en-US" dirty="0">
                <a:solidFill>
                  <a:srgbClr val="002060"/>
                </a:solidFill>
                <a:latin typeface="Arial" panose="020B0604020202020204" pitchFamily="34" charset="0"/>
                <a:cs typeface="Arial" panose="020B0604020202020204" pitchFamily="34" charset="0"/>
              </a:rPr>
              <a:t>is </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obtained through </a:t>
            </a:r>
            <a:r>
              <a:rPr lang="en-US" sz="2800" b="1" dirty="0">
                <a:solidFill>
                  <a:srgbClr val="0070C0"/>
                </a:solidFill>
                <a:latin typeface="Arial" panose="020B0604020202020204" pitchFamily="34" charset="0"/>
                <a:cs typeface="Arial" panose="020B0604020202020204" pitchFamily="34" charset="0"/>
              </a:rPr>
              <a:t>hands-on experience </a:t>
            </a:r>
            <a:r>
              <a:rPr lang="en-US" dirty="0">
                <a:solidFill>
                  <a:srgbClr val="002060"/>
                </a:solidFill>
                <a:latin typeface="Arial" panose="020B0604020202020204" pitchFamily="34" charset="0"/>
                <a:cs typeface="Arial" panose="020B0604020202020204" pitchFamily="34" charset="0"/>
              </a:rPr>
              <a:t>of the concept under discussion,</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by working on the concept </a:t>
            </a:r>
            <a:r>
              <a:rPr lang="en-US" sz="2600" b="1" dirty="0">
                <a:solidFill>
                  <a:srgbClr val="7030A0"/>
                </a:solidFill>
                <a:latin typeface="Arial" panose="020B0604020202020204" pitchFamily="34" charset="0"/>
                <a:cs typeface="Arial" panose="020B0604020202020204" pitchFamily="34" charset="0"/>
              </a:rPr>
              <a:t>and understanding through experience why</a:t>
            </a:r>
            <a:r>
              <a:rPr lang="en-US" dirty="0">
                <a:solidFill>
                  <a:srgbClr val="002060"/>
                </a:solidFill>
                <a:latin typeface="Arial" panose="020B0604020202020204" pitchFamily="34" charset="0"/>
                <a:cs typeface="Arial" panose="020B0604020202020204" pitchFamily="34" charset="0"/>
              </a:rPr>
              <a:t> some method is used, what problems arise while following the method, and how to rectify it, etc.</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 people </a:t>
            </a:r>
            <a:r>
              <a:rPr lang="en-US" sz="2400" b="1" dirty="0">
                <a:solidFill>
                  <a:srgbClr val="00B050"/>
                </a:solidFill>
                <a:latin typeface="Arial" panose="020B0604020202020204" pitchFamily="34" charset="0"/>
                <a:cs typeface="Arial" panose="020B0604020202020204" pitchFamily="34" charset="0"/>
              </a:rPr>
              <a:t>generally learn something faster when they work on it</a:t>
            </a:r>
            <a:r>
              <a:rPr lang="en-US" dirty="0">
                <a:solidFill>
                  <a:srgbClr val="002060"/>
                </a:solidFill>
                <a:latin typeface="Arial" panose="020B0604020202020204" pitchFamily="34" charset="0"/>
                <a:cs typeface="Arial" panose="020B0604020202020204" pitchFamily="34" charset="0"/>
              </a:rPr>
              <a:t>. </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Whether it be reading a lesson for an exam, learning a new language, or learning to ride a bike </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the practical </a:t>
            </a:r>
            <a:r>
              <a:rPr lang="en-US" sz="2800" b="1" dirty="0">
                <a:solidFill>
                  <a:srgbClr val="006666"/>
                </a:solidFill>
                <a:latin typeface="Arial" panose="020B0604020202020204" pitchFamily="34" charset="0"/>
                <a:cs typeface="Arial" panose="020B0604020202020204" pitchFamily="34" charset="0"/>
              </a:rPr>
              <a:t>implementation of knowledge in real-life situations </a:t>
            </a:r>
          </a:p>
          <a:p>
            <a:pPr algn="just">
              <a:buFont typeface="Wingdings" panose="05000000000000000000" pitchFamily="2" charset="2"/>
              <a:buChar char="Ø"/>
            </a:pPr>
            <a:r>
              <a:rPr lang="en-US" dirty="0">
                <a:solidFill>
                  <a:srgbClr val="002060"/>
                </a:solidFill>
                <a:latin typeface="Arial" panose="020B0604020202020204" pitchFamily="34" charset="0"/>
                <a:cs typeface="Arial" panose="020B0604020202020204" pitchFamily="34" charset="0"/>
              </a:rPr>
              <a:t>enables you  to </a:t>
            </a:r>
            <a:r>
              <a:rPr lang="en-US" sz="2800" b="1" dirty="0">
                <a:solidFill>
                  <a:srgbClr val="0000CC"/>
                </a:solidFill>
                <a:latin typeface="Arial" panose="020B0604020202020204" pitchFamily="34" charset="0"/>
                <a:cs typeface="Arial" panose="020B0604020202020204" pitchFamily="34" charset="0"/>
              </a:rPr>
              <a:t>learn through your own experiences</a:t>
            </a:r>
          </a:p>
        </p:txBody>
      </p:sp>
    </p:spTree>
    <p:extLst>
      <p:ext uri="{BB962C8B-B14F-4D97-AF65-F5344CB8AC3E}">
        <p14:creationId xmlns:p14="http://schemas.microsoft.com/office/powerpoint/2010/main" val="2297021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14C3D-80ED-42BB-9536-AB70AF766169}"/>
              </a:ext>
            </a:extLst>
          </p:cNvPr>
          <p:cNvSpPr>
            <a:spLocks noGrp="1"/>
          </p:cNvSpPr>
          <p:nvPr>
            <p:ph type="title"/>
          </p:nvPr>
        </p:nvSpPr>
        <p:spPr>
          <a:xfrm>
            <a:off x="2592925" y="624110"/>
            <a:ext cx="8911687" cy="689785"/>
          </a:xfrm>
        </p:spPr>
        <p:txBody>
          <a:bodyPr>
            <a:normAutofit/>
          </a:bodyPr>
          <a:lstStyle/>
          <a:p>
            <a:r>
              <a:rPr lang="en-US" sz="3200" dirty="0">
                <a:solidFill>
                  <a:srgbClr val="002060"/>
                </a:solidFill>
              </a:rPr>
              <a:t>Types of Knowledge</a:t>
            </a:r>
            <a:r>
              <a:rPr lang="en-US" sz="1200" dirty="0">
                <a:solidFill>
                  <a:srgbClr val="002060"/>
                </a:solidFill>
              </a:rPr>
              <a:t> cont.</a:t>
            </a:r>
            <a:r>
              <a:rPr lang="en-US" sz="3200" dirty="0">
                <a:solidFill>
                  <a:srgbClr val="002060"/>
                </a:solidFill>
              </a:rPr>
              <a:t> </a:t>
            </a:r>
            <a:endParaRPr lang="en-GB" sz="3200" dirty="0">
              <a:solidFill>
                <a:srgbClr val="002060"/>
              </a:solidFill>
            </a:endParaRPr>
          </a:p>
        </p:txBody>
      </p:sp>
      <p:sp>
        <p:nvSpPr>
          <p:cNvPr id="3" name="Content Placeholder 2">
            <a:extLst>
              <a:ext uri="{FF2B5EF4-FFF2-40B4-BE49-F238E27FC236}">
                <a16:creationId xmlns:a16="http://schemas.microsoft.com/office/drawing/2014/main" id="{3663A21D-2F9C-4266-8E27-AB383BFA44DB}"/>
              </a:ext>
            </a:extLst>
          </p:cNvPr>
          <p:cNvSpPr>
            <a:spLocks noGrp="1"/>
          </p:cNvSpPr>
          <p:nvPr>
            <p:ph idx="1"/>
          </p:nvPr>
        </p:nvSpPr>
        <p:spPr>
          <a:xfrm>
            <a:off x="2254928" y="1313895"/>
            <a:ext cx="9249684" cy="5370990"/>
          </a:xfrm>
        </p:spPr>
        <p:txBody>
          <a:bodyPr>
            <a:normAutofit/>
          </a:bodyPr>
          <a:lstStyle/>
          <a:p>
            <a:pPr lvl="0" algn="just">
              <a:buClr>
                <a:srgbClr val="A53010"/>
              </a:buClr>
              <a:buFont typeface="Wingdings" panose="05000000000000000000" pitchFamily="2" charset="2"/>
              <a:buChar char="Ø"/>
            </a:pPr>
            <a:endParaRPr lang="en-US" sz="2700" b="1" dirty="0">
              <a:solidFill>
                <a:srgbClr val="00B050"/>
              </a:solidFill>
              <a:latin typeface="Arial" panose="020B0604020202020204" pitchFamily="34" charset="0"/>
              <a:cs typeface="Arial" panose="020B0604020202020204" pitchFamily="34" charset="0"/>
            </a:endParaRPr>
          </a:p>
          <a:p>
            <a:pPr lvl="0" algn="just">
              <a:buClr>
                <a:srgbClr val="A53010"/>
              </a:buClr>
              <a:buFont typeface="Wingdings" panose="05000000000000000000" pitchFamily="2" charset="2"/>
              <a:buChar char="Ø"/>
            </a:pPr>
            <a:endParaRPr lang="en-US" sz="2700" b="1" dirty="0">
              <a:solidFill>
                <a:srgbClr val="00B050"/>
              </a:solidFill>
              <a:latin typeface="Arial" panose="020B0604020202020204" pitchFamily="34" charset="0"/>
              <a:cs typeface="Arial" panose="020B0604020202020204" pitchFamily="34" charset="0"/>
            </a:endParaRPr>
          </a:p>
          <a:p>
            <a:pPr lvl="0" algn="just">
              <a:buClr>
                <a:srgbClr val="A53010"/>
              </a:buClr>
              <a:buFont typeface="Wingdings" panose="05000000000000000000" pitchFamily="2" charset="2"/>
              <a:buChar char="Ø"/>
            </a:pPr>
            <a:endParaRPr lang="en-US" sz="2700" b="1" dirty="0">
              <a:solidFill>
                <a:srgbClr val="00B050"/>
              </a:solidFill>
              <a:latin typeface="Arial" panose="020B0604020202020204" pitchFamily="34" charset="0"/>
              <a:cs typeface="Arial" panose="020B0604020202020204" pitchFamily="34" charset="0"/>
            </a:endParaRPr>
          </a:p>
          <a:p>
            <a:pPr lvl="0" algn="just">
              <a:buClr>
                <a:srgbClr val="A53010"/>
              </a:buClr>
              <a:buFont typeface="Wingdings" panose="05000000000000000000" pitchFamily="2" charset="2"/>
              <a:buChar char="Ø"/>
            </a:pPr>
            <a:endParaRPr lang="en-US" sz="2700" b="1" dirty="0">
              <a:solidFill>
                <a:srgbClr val="00B050"/>
              </a:solidFill>
              <a:latin typeface="Arial" panose="020B0604020202020204" pitchFamily="34" charset="0"/>
              <a:cs typeface="Arial" panose="020B0604020202020204" pitchFamily="34" charset="0"/>
            </a:endParaRPr>
          </a:p>
          <a:p>
            <a:pPr lvl="0" algn="just">
              <a:buClr>
                <a:srgbClr val="A53010"/>
              </a:buClr>
              <a:buFont typeface="Wingdings" panose="05000000000000000000" pitchFamily="2" charset="2"/>
              <a:buChar char="Ø"/>
            </a:pPr>
            <a:endParaRPr lang="en-US" sz="2700" b="1" dirty="0">
              <a:solidFill>
                <a:srgbClr val="00B050"/>
              </a:solidFill>
              <a:latin typeface="Arial" panose="020B0604020202020204" pitchFamily="34" charset="0"/>
              <a:cs typeface="Arial" panose="020B0604020202020204" pitchFamily="34" charset="0"/>
            </a:endParaRPr>
          </a:p>
          <a:p>
            <a:pPr lvl="0" algn="just">
              <a:buClr>
                <a:srgbClr val="A53010"/>
              </a:buClr>
              <a:buFont typeface="Wingdings" panose="05000000000000000000" pitchFamily="2" charset="2"/>
              <a:buChar char="Ø"/>
            </a:pPr>
            <a:endParaRPr lang="en-US" sz="2700" b="1" dirty="0">
              <a:solidFill>
                <a:srgbClr val="00B050"/>
              </a:solidFill>
              <a:latin typeface="Arial" panose="020B0604020202020204" pitchFamily="34" charset="0"/>
              <a:cs typeface="Arial" panose="020B0604020202020204" pitchFamily="34" charset="0"/>
            </a:endParaRPr>
          </a:p>
          <a:p>
            <a:pPr lvl="0" algn="just">
              <a:buClr>
                <a:srgbClr val="A53010"/>
              </a:buClr>
              <a:buFont typeface="Wingdings" panose="05000000000000000000" pitchFamily="2" charset="2"/>
              <a:buChar char="Ø"/>
            </a:pPr>
            <a:endParaRPr lang="en-US" sz="2700" b="1" dirty="0">
              <a:solidFill>
                <a:srgbClr val="00B050"/>
              </a:solidFill>
              <a:latin typeface="Arial" panose="020B0604020202020204" pitchFamily="34" charset="0"/>
              <a:cs typeface="Arial" panose="020B0604020202020204" pitchFamily="34" charset="0"/>
            </a:endParaRPr>
          </a:p>
          <a:p>
            <a:pPr lvl="0" algn="just">
              <a:buClr>
                <a:srgbClr val="A53010"/>
              </a:buClr>
              <a:buFont typeface="Wingdings" panose="05000000000000000000" pitchFamily="2" charset="2"/>
              <a:buChar char="Ø"/>
            </a:pPr>
            <a:r>
              <a:rPr lang="en-US" sz="2700" b="1" dirty="0">
                <a:solidFill>
                  <a:srgbClr val="00B050"/>
                </a:solidFill>
                <a:latin typeface="Arial" panose="020B0604020202020204" pitchFamily="34" charset="0"/>
                <a:cs typeface="Arial" panose="020B0604020202020204" pitchFamily="34" charset="0"/>
              </a:rPr>
              <a:t>Practical knowledge combined with theory </a:t>
            </a:r>
            <a:r>
              <a:rPr lang="en-US" sz="3100" b="1" dirty="0">
                <a:solidFill>
                  <a:srgbClr val="7030A0"/>
                </a:solidFill>
                <a:latin typeface="Arial" panose="020B0604020202020204" pitchFamily="34" charset="0"/>
                <a:cs typeface="Arial" panose="020B0604020202020204" pitchFamily="34" charset="0"/>
              </a:rPr>
              <a:t>creates </a:t>
            </a:r>
            <a:r>
              <a:rPr lang="en-US" sz="3400" b="1" dirty="0">
                <a:solidFill>
                  <a:srgbClr val="DE7E18">
                    <a:lumMod val="75000"/>
                  </a:srgbClr>
                </a:solidFill>
                <a:latin typeface="Arial" panose="020B0604020202020204" pitchFamily="34" charset="0"/>
                <a:cs typeface="Arial" panose="020B0604020202020204" pitchFamily="34" charset="0"/>
              </a:rPr>
              <a:t>a clear explanation </a:t>
            </a:r>
            <a:r>
              <a:rPr lang="en-US" sz="3100" b="1" dirty="0">
                <a:solidFill>
                  <a:srgbClr val="002060"/>
                </a:solidFill>
                <a:latin typeface="Arial" panose="020B0604020202020204" pitchFamily="34" charset="0"/>
                <a:cs typeface="Arial" panose="020B0604020202020204" pitchFamily="34" charset="0"/>
              </a:rPr>
              <a:t>of the facts</a:t>
            </a:r>
            <a:r>
              <a:rPr lang="en-US" sz="1500" b="1" dirty="0">
                <a:solidFill>
                  <a:srgbClr val="002060"/>
                </a:solidFill>
                <a:latin typeface="Arial" panose="020B0604020202020204" pitchFamily="34" charset="0"/>
                <a:cs typeface="Arial" panose="020B0604020202020204" pitchFamily="34" charset="0"/>
              </a:rPr>
              <a:t>. </a:t>
            </a:r>
          </a:p>
          <a:p>
            <a:pPr marL="0" indent="0">
              <a:buNone/>
            </a:pPr>
            <a:endParaRPr lang="en-US" dirty="0">
              <a:solidFill>
                <a:srgbClr val="002060"/>
              </a:solidFill>
            </a:endParaRPr>
          </a:p>
        </p:txBody>
      </p:sp>
      <p:pic>
        <p:nvPicPr>
          <p:cNvPr id="5" name="Picture 4">
            <a:extLst>
              <a:ext uri="{FF2B5EF4-FFF2-40B4-BE49-F238E27FC236}">
                <a16:creationId xmlns:a16="http://schemas.microsoft.com/office/drawing/2014/main" id="{AEB47AB3-FA38-4451-806B-EBF23E96EE08}"/>
              </a:ext>
            </a:extLst>
          </p:cNvPr>
          <p:cNvPicPr>
            <a:picLocks noChangeAspect="1"/>
          </p:cNvPicPr>
          <p:nvPr/>
        </p:nvPicPr>
        <p:blipFill>
          <a:blip r:embed="rId2"/>
          <a:stretch>
            <a:fillRect/>
          </a:stretch>
        </p:blipFill>
        <p:spPr>
          <a:xfrm>
            <a:off x="2708334" y="1313895"/>
            <a:ext cx="8166933" cy="3728621"/>
          </a:xfrm>
          <a:prstGeom prst="rect">
            <a:avLst/>
          </a:prstGeom>
        </p:spPr>
      </p:pic>
    </p:spTree>
    <p:extLst>
      <p:ext uri="{BB962C8B-B14F-4D97-AF65-F5344CB8AC3E}">
        <p14:creationId xmlns:p14="http://schemas.microsoft.com/office/powerpoint/2010/main" val="843628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14C3D-80ED-42BB-9536-AB70AF766169}"/>
              </a:ext>
            </a:extLst>
          </p:cNvPr>
          <p:cNvSpPr>
            <a:spLocks noGrp="1"/>
          </p:cNvSpPr>
          <p:nvPr>
            <p:ph type="title"/>
          </p:nvPr>
        </p:nvSpPr>
        <p:spPr>
          <a:xfrm>
            <a:off x="2592925" y="624110"/>
            <a:ext cx="8911687" cy="689785"/>
          </a:xfrm>
        </p:spPr>
        <p:txBody>
          <a:bodyPr>
            <a:normAutofit/>
          </a:bodyPr>
          <a:lstStyle/>
          <a:p>
            <a:r>
              <a:rPr lang="en-US" sz="3200" dirty="0">
                <a:solidFill>
                  <a:srgbClr val="002060"/>
                </a:solidFill>
              </a:rPr>
              <a:t>Theory Questions </a:t>
            </a:r>
            <a:endParaRPr lang="en-GB" sz="3200" dirty="0">
              <a:solidFill>
                <a:srgbClr val="002060"/>
              </a:solidFill>
            </a:endParaRPr>
          </a:p>
        </p:txBody>
      </p:sp>
      <p:sp>
        <p:nvSpPr>
          <p:cNvPr id="3" name="Content Placeholder 2">
            <a:extLst>
              <a:ext uri="{FF2B5EF4-FFF2-40B4-BE49-F238E27FC236}">
                <a16:creationId xmlns:a16="http://schemas.microsoft.com/office/drawing/2014/main" id="{3663A21D-2F9C-4266-8E27-AB383BFA44DB}"/>
              </a:ext>
            </a:extLst>
          </p:cNvPr>
          <p:cNvSpPr>
            <a:spLocks noGrp="1"/>
          </p:cNvSpPr>
          <p:nvPr>
            <p:ph idx="1"/>
          </p:nvPr>
        </p:nvSpPr>
        <p:spPr>
          <a:xfrm>
            <a:off x="1944210" y="1535836"/>
            <a:ext cx="9560402" cy="4980373"/>
          </a:xfrm>
        </p:spPr>
        <p:txBody>
          <a:bodyPr>
            <a:normAutofit/>
          </a:bodyPr>
          <a:lstStyle/>
          <a:p>
            <a:pPr marL="0" indent="0">
              <a:buNone/>
            </a:pPr>
            <a:r>
              <a:rPr lang="en-US" dirty="0">
                <a:solidFill>
                  <a:srgbClr val="002060"/>
                </a:solidFill>
              </a:rPr>
              <a:t>Theory or essay questions </a:t>
            </a:r>
          </a:p>
          <a:p>
            <a:pPr>
              <a:buFont typeface="Arial" panose="020B0604020202020204" pitchFamily="34" charset="0"/>
              <a:buChar char="•"/>
            </a:pPr>
            <a:r>
              <a:rPr lang="en-US" dirty="0">
                <a:solidFill>
                  <a:srgbClr val="002060"/>
                </a:solidFill>
              </a:rPr>
              <a:t>require you to write the answers to questions.  </a:t>
            </a:r>
          </a:p>
          <a:p>
            <a:pPr>
              <a:buFont typeface="Arial" panose="020B0604020202020204" pitchFamily="34" charset="0"/>
              <a:buChar char="•"/>
            </a:pPr>
            <a:r>
              <a:rPr lang="en-US" dirty="0">
                <a:solidFill>
                  <a:srgbClr val="002060"/>
                </a:solidFill>
              </a:rPr>
              <a:t>they assess your ability to </a:t>
            </a:r>
            <a:r>
              <a:rPr lang="en-US" b="1" dirty="0">
                <a:solidFill>
                  <a:srgbClr val="00FF00"/>
                </a:solidFill>
              </a:rPr>
              <a:t>recall relevant information</a:t>
            </a:r>
            <a:r>
              <a:rPr lang="en-US" dirty="0">
                <a:solidFill>
                  <a:srgbClr val="002060"/>
                </a:solidFill>
              </a:rPr>
              <a:t>, </a:t>
            </a:r>
            <a:r>
              <a:rPr lang="en-US" b="1" dirty="0">
                <a:solidFill>
                  <a:srgbClr val="00B050"/>
                </a:solidFill>
              </a:rPr>
              <a:t>analyze it </a:t>
            </a:r>
            <a:r>
              <a:rPr lang="en-US" dirty="0">
                <a:solidFill>
                  <a:srgbClr val="002060"/>
                </a:solidFill>
              </a:rPr>
              <a:t>and </a:t>
            </a:r>
            <a:r>
              <a:rPr lang="en-US" b="1" dirty="0">
                <a:solidFill>
                  <a:schemeClr val="accent5">
                    <a:lumMod val="50000"/>
                  </a:schemeClr>
                </a:solidFill>
              </a:rPr>
              <a:t>explain it </a:t>
            </a:r>
            <a:r>
              <a:rPr lang="en-US" b="1" dirty="0">
                <a:solidFill>
                  <a:srgbClr val="003300"/>
                </a:solidFill>
              </a:rPr>
              <a:t>in an organized manner</a:t>
            </a:r>
            <a:r>
              <a:rPr lang="en-US" dirty="0">
                <a:solidFill>
                  <a:srgbClr val="002060"/>
                </a:solidFill>
              </a:rPr>
              <a:t>.  </a:t>
            </a:r>
          </a:p>
          <a:p>
            <a:pPr marL="0" indent="0">
              <a:buNone/>
            </a:pPr>
            <a:endParaRPr lang="en-US" dirty="0">
              <a:solidFill>
                <a:srgbClr val="002060"/>
              </a:solidFill>
            </a:endParaRPr>
          </a:p>
          <a:p>
            <a:pPr>
              <a:buFont typeface="Arial" panose="020B0604020202020204" pitchFamily="34" charset="0"/>
              <a:buChar char="•"/>
            </a:pPr>
            <a:r>
              <a:rPr lang="en-US" dirty="0">
                <a:solidFill>
                  <a:srgbClr val="002060"/>
                </a:solidFill>
              </a:rPr>
              <a:t>The assessment of high-order or </a:t>
            </a:r>
            <a:r>
              <a:rPr lang="en-US" sz="2800" b="1" dirty="0">
                <a:solidFill>
                  <a:srgbClr val="7030A0"/>
                </a:solidFill>
              </a:rPr>
              <a:t>critical thinking </a:t>
            </a:r>
            <a:r>
              <a:rPr lang="en-US" dirty="0">
                <a:solidFill>
                  <a:srgbClr val="002060"/>
                </a:solidFill>
              </a:rPr>
              <a:t>determines your ability to</a:t>
            </a:r>
          </a:p>
          <a:p>
            <a:pPr marL="0" indent="0">
              <a:buNone/>
            </a:pPr>
            <a:endParaRPr lang="en-US" dirty="0">
              <a:solidFill>
                <a:srgbClr val="002060"/>
              </a:solidFill>
            </a:endParaRPr>
          </a:p>
          <a:p>
            <a:pPr lvl="1" algn="just">
              <a:buFont typeface="Wingdings" panose="05000000000000000000" pitchFamily="2" charset="2"/>
              <a:buChar char="v"/>
            </a:pPr>
            <a:r>
              <a:rPr lang="en-US" b="1" dirty="0">
                <a:solidFill>
                  <a:srgbClr val="00B0F0"/>
                </a:solidFill>
              </a:rPr>
              <a:t>interpret a situation </a:t>
            </a:r>
            <a:r>
              <a:rPr lang="en-US" dirty="0">
                <a:solidFill>
                  <a:srgbClr val="002060"/>
                </a:solidFill>
              </a:rPr>
              <a:t>and </a:t>
            </a:r>
          </a:p>
          <a:p>
            <a:pPr lvl="1" algn="just">
              <a:buFont typeface="Wingdings" panose="05000000000000000000" pitchFamily="2" charset="2"/>
              <a:buChar char="v"/>
            </a:pPr>
            <a:r>
              <a:rPr lang="en-US" sz="1800" b="1" dirty="0">
                <a:solidFill>
                  <a:srgbClr val="0070C0"/>
                </a:solidFill>
              </a:rPr>
              <a:t>correctly infer that a problem exists</a:t>
            </a:r>
            <a:r>
              <a:rPr lang="en-US" dirty="0">
                <a:solidFill>
                  <a:srgbClr val="002060"/>
                </a:solidFill>
              </a:rPr>
              <a:t>, </a:t>
            </a:r>
          </a:p>
          <a:p>
            <a:pPr lvl="1" algn="just">
              <a:buFont typeface="Wingdings" panose="05000000000000000000" pitchFamily="2" charset="2"/>
              <a:buChar char="v"/>
            </a:pPr>
            <a:r>
              <a:rPr lang="en-US" sz="2200" b="1" dirty="0">
                <a:solidFill>
                  <a:srgbClr val="000099"/>
                </a:solidFill>
              </a:rPr>
              <a:t>analyze why the problem continues to exist</a:t>
            </a:r>
            <a:r>
              <a:rPr lang="en-US" dirty="0">
                <a:solidFill>
                  <a:srgbClr val="002060"/>
                </a:solidFill>
              </a:rPr>
              <a:t>, and then </a:t>
            </a:r>
          </a:p>
          <a:p>
            <a:pPr lvl="1" algn="just">
              <a:buFont typeface="Wingdings" panose="05000000000000000000" pitchFamily="2" charset="2"/>
              <a:buChar char="v"/>
            </a:pPr>
            <a:r>
              <a:rPr lang="en-US" sz="3000" b="1" dirty="0">
                <a:solidFill>
                  <a:srgbClr val="006666"/>
                </a:solidFill>
              </a:rPr>
              <a:t>explain</a:t>
            </a:r>
            <a:r>
              <a:rPr lang="en-US" dirty="0">
                <a:solidFill>
                  <a:srgbClr val="002060"/>
                </a:solidFill>
              </a:rPr>
              <a:t> and </a:t>
            </a:r>
            <a:r>
              <a:rPr lang="en-US" sz="3000" b="1" dirty="0">
                <a:solidFill>
                  <a:srgbClr val="00CC99"/>
                </a:solidFill>
              </a:rPr>
              <a:t>evaluate</a:t>
            </a:r>
            <a:r>
              <a:rPr lang="en-US" dirty="0">
                <a:solidFill>
                  <a:srgbClr val="002060"/>
                </a:solidFill>
              </a:rPr>
              <a:t> </a:t>
            </a:r>
            <a:r>
              <a:rPr lang="en-US" sz="2600" b="1" dirty="0">
                <a:solidFill>
                  <a:schemeClr val="accent6">
                    <a:lumMod val="75000"/>
                  </a:schemeClr>
                </a:solidFill>
              </a:rPr>
              <a:t>attempts to solve the problem</a:t>
            </a:r>
            <a:r>
              <a:rPr lang="en-US" dirty="0">
                <a:solidFill>
                  <a:srgbClr val="002060"/>
                </a:solidFill>
              </a:rPr>
              <a:t>.</a:t>
            </a:r>
          </a:p>
        </p:txBody>
      </p:sp>
    </p:spTree>
    <p:extLst>
      <p:ext uri="{BB962C8B-B14F-4D97-AF65-F5344CB8AC3E}">
        <p14:creationId xmlns:p14="http://schemas.microsoft.com/office/powerpoint/2010/main" val="1282186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14C3D-80ED-42BB-9536-AB70AF766169}"/>
              </a:ext>
            </a:extLst>
          </p:cNvPr>
          <p:cNvSpPr>
            <a:spLocks noGrp="1"/>
          </p:cNvSpPr>
          <p:nvPr>
            <p:ph type="title"/>
          </p:nvPr>
        </p:nvSpPr>
        <p:spPr>
          <a:xfrm>
            <a:off x="2589211" y="624110"/>
            <a:ext cx="8915401" cy="956115"/>
          </a:xfrm>
        </p:spPr>
        <p:txBody>
          <a:bodyPr>
            <a:noAutofit/>
          </a:bodyPr>
          <a:lstStyle/>
          <a:p>
            <a:r>
              <a:rPr lang="en-US" sz="3400" b="1" dirty="0">
                <a:solidFill>
                  <a:srgbClr val="002060"/>
                </a:solidFill>
              </a:rPr>
              <a:t>Why assess Critical Thinking skills?</a:t>
            </a:r>
            <a:endParaRPr lang="en-GB" sz="3400" b="1" dirty="0">
              <a:solidFill>
                <a:srgbClr val="002060"/>
              </a:solidFill>
            </a:endParaRPr>
          </a:p>
        </p:txBody>
      </p:sp>
      <p:sp>
        <p:nvSpPr>
          <p:cNvPr id="3" name="Content Placeholder 2">
            <a:extLst>
              <a:ext uri="{FF2B5EF4-FFF2-40B4-BE49-F238E27FC236}">
                <a16:creationId xmlns:a16="http://schemas.microsoft.com/office/drawing/2014/main" id="{3663A21D-2F9C-4266-8E27-AB383BFA44DB}"/>
              </a:ext>
            </a:extLst>
          </p:cNvPr>
          <p:cNvSpPr>
            <a:spLocks noGrp="1"/>
          </p:cNvSpPr>
          <p:nvPr>
            <p:ph idx="1"/>
          </p:nvPr>
        </p:nvSpPr>
        <p:spPr>
          <a:xfrm>
            <a:off x="2589212" y="1882066"/>
            <a:ext cx="8915400" cy="4199138"/>
          </a:xfrm>
        </p:spPr>
        <p:txBody>
          <a:bodyPr>
            <a:normAutofit lnSpcReduction="10000"/>
          </a:bodyPr>
          <a:lstStyle/>
          <a:p>
            <a:pPr marL="0" indent="0" algn="just">
              <a:lnSpc>
                <a:spcPct val="107000"/>
              </a:lnSpc>
              <a:spcAft>
                <a:spcPts val="800"/>
              </a:spcAft>
              <a:buNone/>
            </a:pPr>
            <a:r>
              <a:rPr lang="en-US" dirty="0">
                <a:solidFill>
                  <a:schemeClr val="tx1"/>
                </a:solidFill>
                <a:latin typeface="Tahoma" panose="020B0604030504040204" pitchFamily="34" charset="0"/>
                <a:ea typeface="Calibri" panose="020F0502020204030204" pitchFamily="34" charset="0"/>
                <a:cs typeface="Times New Roman" panose="02020603050405020304" pitchFamily="18" charset="0"/>
              </a:rPr>
              <a:t>Critical Thinking is valued both in the </a:t>
            </a:r>
            <a:r>
              <a:rPr lang="en-US" sz="2800" dirty="0">
                <a:solidFill>
                  <a:schemeClr val="tx1"/>
                </a:solidFill>
                <a:latin typeface="Tahoma" panose="020B0604030504040204" pitchFamily="34" charset="0"/>
                <a:ea typeface="Calibri" panose="020F0502020204030204" pitchFamily="34" charset="0"/>
                <a:cs typeface="Times New Roman" panose="02020603050405020304" pitchFamily="18" charset="0"/>
              </a:rPr>
              <a:t>university</a:t>
            </a:r>
            <a:r>
              <a:rPr lang="en-US" dirty="0">
                <a:solidFill>
                  <a:schemeClr val="tx1"/>
                </a:solidFill>
                <a:latin typeface="Tahoma" panose="020B0604030504040204" pitchFamily="34" charset="0"/>
                <a:ea typeface="Calibri" panose="020F0502020204030204" pitchFamily="34" charset="0"/>
                <a:cs typeface="Times New Roman" panose="02020603050405020304" pitchFamily="18" charset="0"/>
              </a:rPr>
              <a:t> setting and in the professional </a:t>
            </a:r>
            <a:r>
              <a:rPr lang="en-US" sz="2800" dirty="0">
                <a:solidFill>
                  <a:srgbClr val="002060"/>
                </a:solidFill>
                <a:latin typeface="Tahoma" panose="020B0604030504040204" pitchFamily="34" charset="0"/>
                <a:ea typeface="Calibri" panose="020F0502020204030204" pitchFamily="34" charset="0"/>
                <a:cs typeface="Times New Roman" panose="02020603050405020304" pitchFamily="18" charset="0"/>
              </a:rPr>
              <a:t>world of work</a:t>
            </a:r>
            <a:r>
              <a:rPr lang="en-US" dirty="0">
                <a:solidFill>
                  <a:schemeClr val="tx1"/>
                </a:solidFill>
                <a:latin typeface="Tahoma" panose="020B0604030504040204" pitchFamily="34" charset="0"/>
                <a:ea typeface="Calibri" panose="020F0502020204030204" pitchFamily="34" charset="0"/>
                <a:cs typeface="Times New Roman" panose="02020603050405020304" pitchFamily="18" charset="0"/>
              </a:rPr>
              <a:t>.</a:t>
            </a:r>
          </a:p>
          <a:p>
            <a:pPr algn="just">
              <a:lnSpc>
                <a:spcPct val="107000"/>
              </a:lnSpc>
              <a:spcAft>
                <a:spcPts val="800"/>
              </a:spcAft>
              <a:buFont typeface="Wingdings" panose="05000000000000000000" pitchFamily="2" charset="2"/>
              <a:buChar char="ü"/>
            </a:pPr>
            <a:r>
              <a:rPr lang="en-US" sz="2000" dirty="0">
                <a:solidFill>
                  <a:srgbClr val="FF0000"/>
                </a:solidFill>
                <a:latin typeface="Tahoma" panose="020B0604030504040204" pitchFamily="34" charset="0"/>
                <a:ea typeface="Calibri" panose="020F0502020204030204" pitchFamily="34" charset="0"/>
                <a:cs typeface="Times New Roman" panose="02020603050405020304" pitchFamily="18" charset="0"/>
              </a:rPr>
              <a:t>In higher education it is an expected norm </a:t>
            </a:r>
            <a:r>
              <a:rPr lang="en-US" dirty="0">
                <a:solidFill>
                  <a:schemeClr val="tx1"/>
                </a:solidFill>
                <a:latin typeface="Tahoma" panose="020B0604030504040204" pitchFamily="34" charset="0"/>
                <a:ea typeface="Calibri" panose="020F0502020204030204" pitchFamily="34" charset="0"/>
                <a:cs typeface="Times New Roman" panose="02020603050405020304" pitchFamily="18" charset="0"/>
              </a:rPr>
              <a:t>as develops judgment, evaluation, and problem-solving abilities. </a:t>
            </a:r>
          </a:p>
          <a:p>
            <a:pPr algn="just">
              <a:lnSpc>
                <a:spcPct val="107000"/>
              </a:lnSpc>
              <a:spcAft>
                <a:spcPts val="800"/>
              </a:spcAft>
              <a:buFont typeface="Wingdings" panose="05000000000000000000" pitchFamily="2" charset="2"/>
              <a:buChar char="ü"/>
            </a:pPr>
            <a:r>
              <a:rPr lang="en-US" dirty="0">
                <a:solidFill>
                  <a:schemeClr val="tx1"/>
                </a:solidFill>
                <a:latin typeface="Tahoma" panose="020B0604030504040204" pitchFamily="34" charset="0"/>
                <a:ea typeface="Calibri" panose="020F0502020204030204" pitchFamily="34" charset="0"/>
                <a:cs typeface="Times New Roman" panose="02020603050405020304" pitchFamily="18" charset="0"/>
              </a:rPr>
              <a:t>It </a:t>
            </a:r>
            <a:r>
              <a:rPr lang="en-US" sz="2400" dirty="0">
                <a:solidFill>
                  <a:schemeClr val="accent1">
                    <a:lumMod val="75000"/>
                  </a:schemeClr>
                </a:solidFill>
                <a:latin typeface="Tahoma" panose="020B0604030504040204" pitchFamily="34" charset="0"/>
                <a:ea typeface="Calibri" panose="020F0502020204030204" pitchFamily="34" charset="0"/>
                <a:cs typeface="Times New Roman" panose="02020603050405020304" pitchFamily="18" charset="0"/>
              </a:rPr>
              <a:t>enhances academic performance </a:t>
            </a:r>
            <a:r>
              <a:rPr lang="en-US" dirty="0">
                <a:solidFill>
                  <a:schemeClr val="tx1"/>
                </a:solidFill>
                <a:latin typeface="Tahoma" panose="020B0604030504040204" pitchFamily="34" charset="0"/>
                <a:ea typeface="Calibri" panose="020F0502020204030204" pitchFamily="34" charset="0"/>
                <a:cs typeface="Times New Roman" panose="02020603050405020304" pitchFamily="18" charset="0"/>
              </a:rPr>
              <a:t>and is part of lifelong learning - much like IT itself.  </a:t>
            </a:r>
          </a:p>
          <a:p>
            <a:pPr algn="just">
              <a:lnSpc>
                <a:spcPct val="107000"/>
              </a:lnSpc>
              <a:spcAft>
                <a:spcPts val="800"/>
              </a:spcAft>
              <a:buFont typeface="Wingdings" panose="05000000000000000000" pitchFamily="2" charset="2"/>
              <a:buChar char="ü"/>
            </a:pPr>
            <a:r>
              <a:rPr lang="en-US" dirty="0">
                <a:solidFill>
                  <a:schemeClr val="tx1"/>
                </a:solidFill>
                <a:latin typeface="Tahoma" panose="020B0604030504040204" pitchFamily="34" charset="0"/>
                <a:ea typeface="Calibri" panose="020F0502020204030204" pitchFamily="34" charset="0"/>
                <a:cs typeface="Times New Roman" panose="02020603050405020304" pitchFamily="18" charset="0"/>
              </a:rPr>
              <a:t>It helps </a:t>
            </a:r>
            <a:r>
              <a:rPr lang="en-US" sz="2800" dirty="0">
                <a:solidFill>
                  <a:srgbClr val="C00000"/>
                </a:solidFill>
                <a:latin typeface="Tahoma" panose="020B0604030504040204" pitchFamily="34" charset="0"/>
                <a:ea typeface="Calibri" panose="020F0502020204030204" pitchFamily="34" charset="0"/>
                <a:cs typeface="Times New Roman" panose="02020603050405020304" pitchFamily="18" charset="0"/>
              </a:rPr>
              <a:t>creative thinking</a:t>
            </a:r>
            <a:r>
              <a:rPr lang="en-US" dirty="0">
                <a:solidFill>
                  <a:schemeClr val="tx1"/>
                </a:solidFill>
                <a:latin typeface="Tahoma" panose="020B0604030504040204" pitchFamily="34" charset="0"/>
                <a:ea typeface="Calibri" panose="020F0502020204030204" pitchFamily="34" charset="0"/>
                <a:cs typeface="Times New Roman" panose="02020603050405020304" pitchFamily="18" charset="0"/>
              </a:rPr>
              <a:t>.</a:t>
            </a:r>
            <a:endParaRPr lang="en-GB"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solidFill>
                <a:srgbClr val="002060"/>
              </a:solidFill>
            </a:endParaRPr>
          </a:p>
          <a:p>
            <a:pPr marL="0" indent="0">
              <a:buNone/>
            </a:pPr>
            <a:r>
              <a:rPr lang="en-US" dirty="0">
                <a:solidFill>
                  <a:srgbClr val="002060"/>
                </a:solidFill>
              </a:rPr>
              <a:t>Practical tips for applying these skills in an exam are presented next.</a:t>
            </a:r>
          </a:p>
          <a:p>
            <a:pPr marL="0" indent="0">
              <a:buNone/>
            </a:pPr>
            <a:endParaRPr lang="en-US" dirty="0">
              <a:solidFill>
                <a:srgbClr val="002060"/>
              </a:solidFill>
            </a:endParaRPr>
          </a:p>
        </p:txBody>
      </p:sp>
    </p:spTree>
    <p:extLst>
      <p:ext uri="{BB962C8B-B14F-4D97-AF65-F5344CB8AC3E}">
        <p14:creationId xmlns:p14="http://schemas.microsoft.com/office/powerpoint/2010/main" val="268431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14C3D-80ED-42BB-9536-AB70AF766169}"/>
              </a:ext>
            </a:extLst>
          </p:cNvPr>
          <p:cNvSpPr>
            <a:spLocks noGrp="1"/>
          </p:cNvSpPr>
          <p:nvPr>
            <p:ph type="title"/>
          </p:nvPr>
        </p:nvSpPr>
        <p:spPr>
          <a:xfrm>
            <a:off x="2574525" y="624110"/>
            <a:ext cx="8930088" cy="796317"/>
          </a:xfrm>
        </p:spPr>
        <p:txBody>
          <a:bodyPr>
            <a:normAutofit fontScale="90000"/>
          </a:bodyPr>
          <a:lstStyle/>
          <a:p>
            <a:r>
              <a:rPr lang="en-US" sz="3300" b="1" dirty="0">
                <a:solidFill>
                  <a:srgbClr val="002060"/>
                </a:solidFill>
              </a:rPr>
              <a:t>1. Make sure you understand all the instructions </a:t>
            </a:r>
            <a:br>
              <a:rPr lang="en-US" sz="4800" dirty="0">
                <a:solidFill>
                  <a:srgbClr val="002060"/>
                </a:solidFill>
              </a:rPr>
            </a:br>
            <a:endParaRPr lang="en-GB" sz="4800" dirty="0">
              <a:solidFill>
                <a:srgbClr val="002060"/>
              </a:solidFill>
            </a:endParaRPr>
          </a:p>
        </p:txBody>
      </p:sp>
      <p:sp>
        <p:nvSpPr>
          <p:cNvPr id="3" name="Content Placeholder 2">
            <a:extLst>
              <a:ext uri="{FF2B5EF4-FFF2-40B4-BE49-F238E27FC236}">
                <a16:creationId xmlns:a16="http://schemas.microsoft.com/office/drawing/2014/main" id="{3663A21D-2F9C-4266-8E27-AB383BFA44DB}"/>
              </a:ext>
            </a:extLst>
          </p:cNvPr>
          <p:cNvSpPr>
            <a:spLocks noGrp="1"/>
          </p:cNvSpPr>
          <p:nvPr>
            <p:ph idx="1"/>
          </p:nvPr>
        </p:nvSpPr>
        <p:spPr>
          <a:xfrm>
            <a:off x="2589212" y="1882066"/>
            <a:ext cx="8915400" cy="4351824"/>
          </a:xfrm>
        </p:spPr>
        <p:txBody>
          <a:bodyPr>
            <a:normAutofit/>
          </a:bodyPr>
          <a:lstStyle/>
          <a:p>
            <a:pPr algn="just">
              <a:lnSpc>
                <a:spcPct val="107000"/>
              </a:lnSpc>
              <a:spcAft>
                <a:spcPts val="800"/>
              </a:spcAft>
            </a:pPr>
            <a:r>
              <a:rPr lang="en-GB" b="1" dirty="0">
                <a:solidFill>
                  <a:srgbClr val="00CC99"/>
                </a:solidFill>
                <a:latin typeface="Tahoma" panose="020B0604030504040204" pitchFamily="34" charset="0"/>
                <a:ea typeface="Calibri" panose="020F0502020204030204" pitchFamily="34" charset="0"/>
                <a:cs typeface="Times New Roman" panose="02020603050405020304" pitchFamily="18" charset="0"/>
              </a:rPr>
              <a:t>Read the instructions carefully </a:t>
            </a:r>
            <a:r>
              <a:rPr lang="en-GB" dirty="0">
                <a:latin typeface="Tahoma" panose="020B0604030504040204" pitchFamily="34" charset="0"/>
                <a:ea typeface="Calibri" panose="020F0502020204030204" pitchFamily="34" charset="0"/>
                <a:cs typeface="Times New Roman" panose="02020603050405020304" pitchFamily="18" charset="0"/>
              </a:rPr>
              <a:t>so you can understand what the examiner expects from you properly. For example, do they want you to select 4 out of 5 questions? Or is there a question you must compulsorily answer?</a:t>
            </a:r>
            <a:r>
              <a:rPr lang="en-GB" sz="2800" dirty="0">
                <a:solidFill>
                  <a:srgbClr val="303030"/>
                </a:solidFill>
                <a:latin typeface="Segoe UI" panose="020B0502040204020203" pitchFamily="34" charset="0"/>
                <a:ea typeface="Calibri" panose="020F0502020204030204" pitchFamily="34" charset="0"/>
                <a:cs typeface="Times New Roman" panose="02020603050405020304" pitchFamily="18" charset="0"/>
              </a:rPr>
              <a:t> </a:t>
            </a:r>
            <a:endParaRPr lang="en-GB"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GB" b="1" dirty="0">
                <a:solidFill>
                  <a:srgbClr val="00B0F0"/>
                </a:solidFill>
                <a:latin typeface="Tahoma" panose="020B0604030504040204" pitchFamily="34" charset="0"/>
                <a:ea typeface="Calibri" panose="020F0502020204030204" pitchFamily="34" charset="0"/>
                <a:cs typeface="Times New Roman" panose="02020603050405020304" pitchFamily="18" charset="0"/>
              </a:rPr>
              <a:t>Take note of how </a:t>
            </a:r>
            <a:r>
              <a:rPr lang="en-GB" dirty="0">
                <a:latin typeface="Tahoma" panose="020B0604030504040204" pitchFamily="34" charset="0"/>
                <a:ea typeface="Calibri" panose="020F0502020204030204" pitchFamily="34" charset="0"/>
                <a:cs typeface="Times New Roman" panose="02020603050405020304" pitchFamily="18" charset="0"/>
              </a:rPr>
              <a:t>your examiner wants you </a:t>
            </a:r>
            <a:r>
              <a:rPr lang="en-GB" b="1" dirty="0">
                <a:solidFill>
                  <a:srgbClr val="00B0F0"/>
                </a:solidFill>
                <a:latin typeface="Tahoma" panose="020B0604030504040204" pitchFamily="34" charset="0"/>
                <a:ea typeface="Calibri" panose="020F0502020204030204" pitchFamily="34" charset="0"/>
                <a:cs typeface="Times New Roman" panose="02020603050405020304" pitchFamily="18" charset="0"/>
              </a:rPr>
              <a:t>to present your answer</a:t>
            </a:r>
            <a:r>
              <a:rPr lang="en-GB" dirty="0">
                <a:latin typeface="Tahoma" panose="020B0604030504040204" pitchFamily="34" charset="0"/>
                <a:ea typeface="Calibri" panose="020F0502020204030204" pitchFamily="34" charset="0"/>
                <a:cs typeface="Times New Roman" panose="02020603050405020304" pitchFamily="18" charset="0"/>
              </a:rPr>
              <a:t>. Are you expected to explain, describe, list, or differentiate between two terms? </a:t>
            </a:r>
            <a:endParaRPr lang="en-GB"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GB" dirty="0">
                <a:latin typeface="Tahoma" panose="020B0604030504040204" pitchFamily="34" charset="0"/>
                <a:ea typeface="Calibri" panose="020F0502020204030204" pitchFamily="34" charset="0"/>
                <a:cs typeface="Times New Roman" panose="02020603050405020304" pitchFamily="18" charset="0"/>
              </a:rPr>
              <a:t>These are some terms you will come across in your essay questions and it is important that you understand these terms so you can present your answer exactly how they are required.  For more detail on the terms go to the documents on </a:t>
            </a:r>
            <a:r>
              <a:rPr lang="en-GB" b="1" dirty="0">
                <a:solidFill>
                  <a:srgbClr val="000066"/>
                </a:solidFill>
                <a:latin typeface="Tahoma" panose="020B0604030504040204" pitchFamily="34" charset="0"/>
                <a:ea typeface="Calibri" panose="020F0502020204030204" pitchFamily="34" charset="0"/>
                <a:cs typeface="Times New Roman" panose="02020603050405020304" pitchFamily="18" charset="0"/>
              </a:rPr>
              <a:t>Bloom’s taxonomy </a:t>
            </a:r>
            <a:r>
              <a:rPr lang="en-GB" dirty="0">
                <a:solidFill>
                  <a:srgbClr val="000066"/>
                </a:solidFill>
                <a:latin typeface="Tahoma" panose="020B0604030504040204" pitchFamily="34" charset="0"/>
                <a:ea typeface="Calibri" panose="020F0502020204030204" pitchFamily="34" charset="0"/>
                <a:cs typeface="Times New Roman" panose="02020603050405020304" pitchFamily="18" charset="0"/>
              </a:rPr>
              <a:t>in the Content section on Blackboard </a:t>
            </a:r>
            <a:r>
              <a:rPr lang="en-GB" dirty="0">
                <a:latin typeface="Tahoma" panose="020B0604030504040204" pitchFamily="34" charset="0"/>
                <a:ea typeface="Calibri" panose="020F0502020204030204" pitchFamily="34" charset="0"/>
                <a:cs typeface="Times New Roman" panose="02020603050405020304" pitchFamily="18" charset="0"/>
              </a:rPr>
              <a:t>and listen to the PowerPoint presentation and class recordings where this is covered. </a:t>
            </a:r>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US" dirty="0">
              <a:solidFill>
                <a:srgbClr val="002060"/>
              </a:solidFill>
            </a:endParaRPr>
          </a:p>
        </p:txBody>
      </p:sp>
    </p:spTree>
    <p:extLst>
      <p:ext uri="{BB962C8B-B14F-4D97-AF65-F5344CB8AC3E}">
        <p14:creationId xmlns:p14="http://schemas.microsoft.com/office/powerpoint/2010/main" val="2066492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14C3D-80ED-42BB-9536-AB70AF766169}"/>
              </a:ext>
            </a:extLst>
          </p:cNvPr>
          <p:cNvSpPr>
            <a:spLocks noGrp="1"/>
          </p:cNvSpPr>
          <p:nvPr>
            <p:ph type="title"/>
          </p:nvPr>
        </p:nvSpPr>
        <p:spPr>
          <a:xfrm>
            <a:off x="2592925" y="624110"/>
            <a:ext cx="8911687" cy="956115"/>
          </a:xfrm>
        </p:spPr>
        <p:txBody>
          <a:bodyPr>
            <a:normAutofit/>
          </a:bodyPr>
          <a:lstStyle/>
          <a:p>
            <a:r>
              <a:rPr lang="en-US" sz="4000" b="1" dirty="0">
                <a:solidFill>
                  <a:srgbClr val="002060"/>
                </a:solidFill>
                <a:latin typeface="Arial" panose="020B0604020202020204" pitchFamily="34" charset="0"/>
                <a:cs typeface="Arial" panose="020B0604020202020204" pitchFamily="34" charset="0"/>
              </a:rPr>
              <a:t>2. Answer the easy questions first </a:t>
            </a:r>
            <a:endParaRPr lang="en-GB" sz="4000" dirty="0">
              <a:solidFill>
                <a:srgbClr val="00206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663A21D-2F9C-4266-8E27-AB383BFA44DB}"/>
              </a:ext>
            </a:extLst>
          </p:cNvPr>
          <p:cNvSpPr>
            <a:spLocks noGrp="1"/>
          </p:cNvSpPr>
          <p:nvPr>
            <p:ph idx="1"/>
          </p:nvPr>
        </p:nvSpPr>
        <p:spPr>
          <a:xfrm>
            <a:off x="2589212" y="1882066"/>
            <a:ext cx="8915400" cy="4351824"/>
          </a:xfrm>
        </p:spPr>
        <p:txBody>
          <a:bodyPr>
            <a:normAutofit/>
          </a:bodyPr>
          <a:lstStyle/>
          <a:p>
            <a:pPr algn="just">
              <a:lnSpc>
                <a:spcPct val="107000"/>
              </a:lnSpc>
              <a:spcAft>
                <a:spcPts val="800"/>
              </a:spcAft>
            </a:pPr>
            <a:r>
              <a:rPr lang="en-GB" b="1" dirty="0">
                <a:solidFill>
                  <a:srgbClr val="00FF00"/>
                </a:solidFill>
                <a:latin typeface="Tahoma" panose="020B0604030504040204" pitchFamily="34" charset="0"/>
                <a:ea typeface="Calibri" panose="020F0502020204030204" pitchFamily="34" charset="0"/>
                <a:cs typeface="Times New Roman" panose="02020603050405020304" pitchFamily="18" charset="0"/>
              </a:rPr>
              <a:t>Browse through the questions </a:t>
            </a:r>
            <a:r>
              <a:rPr lang="en-GB" dirty="0">
                <a:latin typeface="Tahoma" panose="020B0604030504040204" pitchFamily="34" charset="0"/>
                <a:ea typeface="Calibri" panose="020F0502020204030204" pitchFamily="34" charset="0"/>
                <a:cs typeface="Times New Roman" panose="02020603050405020304" pitchFamily="18" charset="0"/>
              </a:rPr>
              <a:t>after reading the instructions and select the questions in the order ranging from easy to difficult. </a:t>
            </a:r>
          </a:p>
          <a:p>
            <a:pPr algn="just">
              <a:lnSpc>
                <a:spcPct val="107000"/>
              </a:lnSpc>
              <a:spcAft>
                <a:spcPts val="800"/>
              </a:spcAft>
            </a:pPr>
            <a:r>
              <a:rPr lang="en-GB" b="1" dirty="0">
                <a:solidFill>
                  <a:srgbClr val="00B050"/>
                </a:solidFill>
                <a:latin typeface="Tahoma" panose="020B0604030504040204" pitchFamily="34" charset="0"/>
                <a:ea typeface="Calibri" panose="020F0502020204030204" pitchFamily="34" charset="0"/>
                <a:cs typeface="Times New Roman" panose="02020603050405020304" pitchFamily="18" charset="0"/>
              </a:rPr>
              <a:t>Start answering the questions which are easiest </a:t>
            </a:r>
            <a:r>
              <a:rPr lang="en-GB" dirty="0">
                <a:latin typeface="Tahoma" panose="020B0604030504040204" pitchFamily="34" charset="0"/>
                <a:ea typeface="Calibri" panose="020F0502020204030204" pitchFamily="34" charset="0"/>
                <a:cs typeface="Times New Roman" panose="02020603050405020304" pitchFamily="18" charset="0"/>
              </a:rPr>
              <a:t>for you before tackling the more challenging ones. </a:t>
            </a:r>
          </a:p>
          <a:p>
            <a:pPr marL="0" indent="0" algn="just">
              <a:lnSpc>
                <a:spcPct val="107000"/>
              </a:lnSpc>
              <a:spcAft>
                <a:spcPts val="800"/>
              </a:spcAft>
              <a:buNone/>
            </a:pPr>
            <a:r>
              <a:rPr lang="en-GB" dirty="0">
                <a:latin typeface="Tahoma" panose="020B0604030504040204" pitchFamily="34" charset="0"/>
                <a:ea typeface="Calibri" panose="020F0502020204030204" pitchFamily="34" charset="0"/>
                <a:cs typeface="Times New Roman" panose="02020603050405020304" pitchFamily="18" charset="0"/>
              </a:rPr>
              <a:t>Remember, </a:t>
            </a:r>
          </a:p>
          <a:p>
            <a:pPr algn="just">
              <a:lnSpc>
                <a:spcPct val="107000"/>
              </a:lnSpc>
              <a:spcAft>
                <a:spcPts val="800"/>
              </a:spcAft>
            </a:pPr>
            <a:r>
              <a:rPr lang="en-GB" dirty="0">
                <a:latin typeface="Tahoma" panose="020B0604030504040204" pitchFamily="34" charset="0"/>
                <a:ea typeface="Calibri" panose="020F0502020204030204" pitchFamily="34" charset="0"/>
                <a:cs typeface="Times New Roman" panose="02020603050405020304" pitchFamily="18" charset="0"/>
              </a:rPr>
              <a:t>you </a:t>
            </a:r>
            <a:r>
              <a:rPr lang="en-GB" sz="2000" b="1" dirty="0">
                <a:solidFill>
                  <a:srgbClr val="669900"/>
                </a:solidFill>
                <a:latin typeface="Tahoma" panose="020B0604030504040204" pitchFamily="34" charset="0"/>
                <a:ea typeface="Calibri" panose="020F0502020204030204" pitchFamily="34" charset="0"/>
                <a:cs typeface="Times New Roman" panose="02020603050405020304" pitchFamily="18" charset="0"/>
              </a:rPr>
              <a:t>can’t waste time during an exam</a:t>
            </a:r>
            <a:r>
              <a:rPr lang="en-GB" dirty="0">
                <a:latin typeface="Tahoma" panose="020B0604030504040204" pitchFamily="34" charset="0"/>
                <a:ea typeface="Calibri" panose="020F0502020204030204" pitchFamily="34" charset="0"/>
                <a:cs typeface="Times New Roman" panose="02020603050405020304" pitchFamily="18" charset="0"/>
              </a:rPr>
              <a:t> and </a:t>
            </a:r>
          </a:p>
          <a:p>
            <a:pPr algn="just">
              <a:lnSpc>
                <a:spcPct val="107000"/>
              </a:lnSpc>
              <a:spcAft>
                <a:spcPts val="800"/>
              </a:spcAft>
            </a:pPr>
            <a:r>
              <a:rPr lang="en-GB" dirty="0">
                <a:latin typeface="Tahoma" panose="020B0604030504040204" pitchFamily="34" charset="0"/>
                <a:ea typeface="Calibri" panose="020F0502020204030204" pitchFamily="34" charset="0"/>
                <a:cs typeface="Times New Roman" panose="02020603050405020304" pitchFamily="18" charset="0"/>
              </a:rPr>
              <a:t>you can always come back to a question once you are done answering all the other questions.</a:t>
            </a:r>
            <a:endParaRPr lang="en-GB"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solidFill>
                <a:srgbClr val="002060"/>
              </a:solidFill>
            </a:endParaRPr>
          </a:p>
        </p:txBody>
      </p:sp>
    </p:spTree>
    <p:extLst>
      <p:ext uri="{BB962C8B-B14F-4D97-AF65-F5344CB8AC3E}">
        <p14:creationId xmlns:p14="http://schemas.microsoft.com/office/powerpoint/2010/main" val="1281930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14C3D-80ED-42BB-9536-AB70AF766169}"/>
              </a:ext>
            </a:extLst>
          </p:cNvPr>
          <p:cNvSpPr>
            <a:spLocks noGrp="1"/>
          </p:cNvSpPr>
          <p:nvPr>
            <p:ph type="title"/>
          </p:nvPr>
        </p:nvSpPr>
        <p:spPr>
          <a:xfrm>
            <a:off x="2592925" y="624110"/>
            <a:ext cx="8911687" cy="956115"/>
          </a:xfrm>
        </p:spPr>
        <p:txBody>
          <a:bodyPr>
            <a:normAutofit/>
          </a:bodyPr>
          <a:lstStyle/>
          <a:p>
            <a:r>
              <a:rPr lang="en-US" sz="4000" b="1" dirty="0">
                <a:solidFill>
                  <a:srgbClr val="002060"/>
                </a:solidFill>
              </a:rPr>
              <a:t>3. Break down complex questions </a:t>
            </a:r>
            <a:endParaRPr lang="en-GB" sz="4000" dirty="0">
              <a:solidFill>
                <a:srgbClr val="002060"/>
              </a:solidFill>
            </a:endParaRPr>
          </a:p>
        </p:txBody>
      </p:sp>
      <p:sp>
        <p:nvSpPr>
          <p:cNvPr id="3" name="Content Placeholder 2">
            <a:extLst>
              <a:ext uri="{FF2B5EF4-FFF2-40B4-BE49-F238E27FC236}">
                <a16:creationId xmlns:a16="http://schemas.microsoft.com/office/drawing/2014/main" id="{3663A21D-2F9C-4266-8E27-AB383BFA44DB}"/>
              </a:ext>
            </a:extLst>
          </p:cNvPr>
          <p:cNvSpPr>
            <a:spLocks noGrp="1"/>
          </p:cNvSpPr>
          <p:nvPr>
            <p:ph idx="1"/>
          </p:nvPr>
        </p:nvSpPr>
        <p:spPr>
          <a:xfrm>
            <a:off x="2592925" y="2228295"/>
            <a:ext cx="8915400" cy="3346882"/>
          </a:xfrm>
        </p:spPr>
        <p:txBody>
          <a:bodyPr>
            <a:normAutofit/>
          </a:bodyPr>
          <a:lstStyle/>
          <a:p>
            <a:pPr algn="just"/>
            <a:r>
              <a:rPr lang="en-GB" dirty="0">
                <a:latin typeface="Tahoma" panose="020B0604030504040204" pitchFamily="34" charset="0"/>
                <a:ea typeface="Calibri" panose="020F0502020204030204" pitchFamily="34" charset="0"/>
              </a:rPr>
              <a:t>Some questions may seem a bit difficult the first time you read them.  </a:t>
            </a:r>
          </a:p>
          <a:p>
            <a:pPr algn="just"/>
            <a:r>
              <a:rPr lang="en-GB" dirty="0">
                <a:latin typeface="Tahoma" panose="020B0604030504040204" pitchFamily="34" charset="0"/>
                <a:ea typeface="Calibri" panose="020F0502020204030204" pitchFamily="34" charset="0"/>
              </a:rPr>
              <a:t>Apply your knowledge and skills as a software developer to these questions by </a:t>
            </a:r>
            <a:r>
              <a:rPr lang="en-GB" b="1" dirty="0">
                <a:solidFill>
                  <a:schemeClr val="accent2">
                    <a:lumMod val="75000"/>
                  </a:schemeClr>
                </a:solidFill>
                <a:latin typeface="Tahoma" panose="020B0604030504040204" pitchFamily="34" charset="0"/>
                <a:ea typeface="Calibri" panose="020F0502020204030204" pitchFamily="34" charset="0"/>
              </a:rPr>
              <a:t>breaking down the question into smaller sections</a:t>
            </a:r>
            <a:r>
              <a:rPr lang="en-GB" dirty="0">
                <a:latin typeface="Tahoma" panose="020B0604030504040204" pitchFamily="34" charset="0"/>
                <a:ea typeface="Calibri" panose="020F0502020204030204" pitchFamily="34" charset="0"/>
              </a:rPr>
              <a:t>.  </a:t>
            </a:r>
          </a:p>
          <a:p>
            <a:pPr algn="just"/>
            <a:r>
              <a:rPr lang="en-GB" dirty="0">
                <a:latin typeface="Tahoma" panose="020B0604030504040204" pitchFamily="34" charset="0"/>
                <a:ea typeface="Calibri" panose="020F0502020204030204" pitchFamily="34" charset="0"/>
              </a:rPr>
              <a:t>As you work through each section </a:t>
            </a:r>
            <a:r>
              <a:rPr lang="en-GB" b="1" dirty="0">
                <a:solidFill>
                  <a:schemeClr val="accent2"/>
                </a:solidFill>
                <a:latin typeface="Tahoma" panose="020B0604030504040204" pitchFamily="34" charset="0"/>
                <a:ea typeface="Calibri" panose="020F0502020204030204" pitchFamily="34" charset="0"/>
              </a:rPr>
              <a:t>take note of the essay terms used </a:t>
            </a:r>
            <a:r>
              <a:rPr lang="en-GB" dirty="0">
                <a:latin typeface="Tahoma" panose="020B0604030504040204" pitchFamily="34" charset="0"/>
                <a:ea typeface="Calibri" panose="020F0502020204030204" pitchFamily="34" charset="0"/>
              </a:rPr>
              <a:t>in the question  These will help you work out exactly what is required in the question.  </a:t>
            </a:r>
          </a:p>
          <a:p>
            <a:pPr algn="just"/>
            <a:r>
              <a:rPr lang="en-GB" dirty="0">
                <a:latin typeface="Tahoma" panose="020B0604030504040204" pitchFamily="34" charset="0"/>
                <a:ea typeface="Calibri" panose="020F0502020204030204" pitchFamily="34" charset="0"/>
              </a:rPr>
              <a:t>This analysis will help you </a:t>
            </a:r>
            <a:r>
              <a:rPr lang="en-GB" sz="2000" b="1" dirty="0">
                <a:solidFill>
                  <a:schemeClr val="accent3">
                    <a:lumMod val="75000"/>
                  </a:schemeClr>
                </a:solidFill>
                <a:latin typeface="Tahoma" panose="020B0604030504040204" pitchFamily="34" charset="0"/>
                <a:ea typeface="Calibri" panose="020F0502020204030204" pitchFamily="34" charset="0"/>
              </a:rPr>
              <a:t>understand the context of the problem </a:t>
            </a:r>
            <a:r>
              <a:rPr lang="en-GB" dirty="0">
                <a:solidFill>
                  <a:prstClr val="black">
                    <a:lumMod val="75000"/>
                    <a:lumOff val="25000"/>
                  </a:prstClr>
                </a:solidFill>
                <a:latin typeface="Tahoma" panose="020B0604030504040204" pitchFamily="34" charset="0"/>
                <a:ea typeface="Calibri" panose="020F0502020204030204" pitchFamily="34" charset="0"/>
              </a:rPr>
              <a:t>and the</a:t>
            </a:r>
            <a:r>
              <a:rPr lang="en-GB" dirty="0">
                <a:latin typeface="Tahoma" panose="020B0604030504040204" pitchFamily="34" charset="0"/>
                <a:ea typeface="Calibri" panose="020F0502020204030204" pitchFamily="34" charset="0"/>
              </a:rPr>
              <a:t> </a:t>
            </a:r>
            <a:r>
              <a:rPr lang="en-GB" sz="2000" b="1" dirty="0">
                <a:solidFill>
                  <a:schemeClr val="accent1"/>
                </a:solidFill>
                <a:latin typeface="Tahoma" panose="020B0604030504040204" pitchFamily="34" charset="0"/>
                <a:ea typeface="Calibri" panose="020F0502020204030204" pitchFamily="34" charset="0"/>
              </a:rPr>
              <a:t>topic(s) being assessed</a:t>
            </a:r>
            <a:r>
              <a:rPr lang="en-GB" dirty="0">
                <a:latin typeface="Tahoma" panose="020B0604030504040204" pitchFamily="34" charset="0"/>
                <a:ea typeface="Calibri" panose="020F0502020204030204" pitchFamily="34" charset="0"/>
              </a:rPr>
              <a:t>. </a:t>
            </a:r>
          </a:p>
          <a:p>
            <a:pPr algn="just"/>
            <a:r>
              <a:rPr lang="en-GB" dirty="0">
                <a:latin typeface="Tahoma" panose="020B0604030504040204" pitchFamily="34" charset="0"/>
                <a:ea typeface="Calibri" panose="020F0502020204030204" pitchFamily="34" charset="0"/>
              </a:rPr>
              <a:t>Combine your thoughts and responses into a </a:t>
            </a:r>
            <a:r>
              <a:rPr lang="en-GB" sz="2400" b="1" dirty="0">
                <a:solidFill>
                  <a:srgbClr val="C00000"/>
                </a:solidFill>
                <a:latin typeface="Tahoma" panose="020B0604030504040204" pitchFamily="34" charset="0"/>
                <a:ea typeface="Calibri" panose="020F0502020204030204" pitchFamily="34" charset="0"/>
              </a:rPr>
              <a:t>cohesive </a:t>
            </a:r>
            <a:r>
              <a:rPr lang="en-GB" sz="2400" b="1" dirty="0">
                <a:solidFill>
                  <a:srgbClr val="A50021"/>
                </a:solidFill>
                <a:latin typeface="Tahoma" panose="020B0604030504040204" pitchFamily="34" charset="0"/>
                <a:ea typeface="Calibri" panose="020F0502020204030204" pitchFamily="34" charset="0"/>
              </a:rPr>
              <a:t>answer.</a:t>
            </a:r>
            <a:endParaRPr lang="en-GB" dirty="0">
              <a:latin typeface="Tahoma" panose="020B0604030504040204" pitchFamily="34" charset="0"/>
              <a:ea typeface="Calibri" panose="020F0502020204030204" pitchFamily="34" charset="0"/>
            </a:endParaRPr>
          </a:p>
        </p:txBody>
      </p:sp>
    </p:spTree>
    <p:extLst>
      <p:ext uri="{BB962C8B-B14F-4D97-AF65-F5344CB8AC3E}">
        <p14:creationId xmlns:p14="http://schemas.microsoft.com/office/powerpoint/2010/main" val="1511718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14C3D-80ED-42BB-9536-AB70AF766169}"/>
              </a:ext>
            </a:extLst>
          </p:cNvPr>
          <p:cNvSpPr>
            <a:spLocks noGrp="1"/>
          </p:cNvSpPr>
          <p:nvPr>
            <p:ph type="title"/>
          </p:nvPr>
        </p:nvSpPr>
        <p:spPr>
          <a:xfrm>
            <a:off x="1926455" y="452762"/>
            <a:ext cx="9578158" cy="861133"/>
          </a:xfrm>
        </p:spPr>
        <p:txBody>
          <a:bodyPr>
            <a:noAutofit/>
          </a:bodyPr>
          <a:lstStyle/>
          <a:p>
            <a:r>
              <a:rPr lang="en-US" sz="3000" b="1" dirty="0">
                <a:solidFill>
                  <a:srgbClr val="002060"/>
                </a:solidFill>
              </a:rPr>
              <a:t>4. Answer questions according to the marks given.</a:t>
            </a:r>
            <a:br>
              <a:rPr lang="en-US" sz="3000" b="1" dirty="0">
                <a:solidFill>
                  <a:srgbClr val="002060"/>
                </a:solidFill>
              </a:rPr>
            </a:br>
            <a:endParaRPr lang="en-GB" sz="3000" b="1" dirty="0">
              <a:solidFill>
                <a:srgbClr val="002060"/>
              </a:solidFill>
            </a:endParaRPr>
          </a:p>
        </p:txBody>
      </p:sp>
      <p:sp>
        <p:nvSpPr>
          <p:cNvPr id="3" name="Content Placeholder 2">
            <a:extLst>
              <a:ext uri="{FF2B5EF4-FFF2-40B4-BE49-F238E27FC236}">
                <a16:creationId xmlns:a16="http://schemas.microsoft.com/office/drawing/2014/main" id="{3663A21D-2F9C-4266-8E27-AB383BFA44DB}"/>
              </a:ext>
            </a:extLst>
          </p:cNvPr>
          <p:cNvSpPr>
            <a:spLocks noGrp="1"/>
          </p:cNvSpPr>
          <p:nvPr>
            <p:ph idx="1"/>
          </p:nvPr>
        </p:nvSpPr>
        <p:spPr>
          <a:xfrm>
            <a:off x="2589212" y="1491449"/>
            <a:ext cx="8915400" cy="4742441"/>
          </a:xfrm>
        </p:spPr>
        <p:txBody>
          <a:bodyPr>
            <a:normAutofit fontScale="92500" lnSpcReduction="20000"/>
          </a:bodyPr>
          <a:lstStyle/>
          <a:p>
            <a:pPr marL="0" indent="0" algn="just">
              <a:lnSpc>
                <a:spcPct val="107000"/>
              </a:lnSpc>
              <a:spcAft>
                <a:spcPts val="800"/>
              </a:spcAft>
              <a:buNone/>
            </a:pPr>
            <a:r>
              <a:rPr lang="en-GB" dirty="0">
                <a:latin typeface="Tahoma" panose="020B0604030504040204" pitchFamily="34" charset="0"/>
                <a:ea typeface="Calibri" panose="020F0502020204030204" pitchFamily="34" charset="0"/>
                <a:cs typeface="Times New Roman" panose="02020603050405020304" pitchFamily="18" charset="0"/>
              </a:rPr>
              <a:t>After reading and understanding a question, </a:t>
            </a:r>
            <a:r>
              <a:rPr lang="en-GB" sz="2400" b="1" dirty="0">
                <a:latin typeface="Tahoma" panose="020B0604030504040204" pitchFamily="34" charset="0"/>
                <a:ea typeface="Calibri" panose="020F0502020204030204" pitchFamily="34" charset="0"/>
                <a:cs typeface="Times New Roman" panose="02020603050405020304" pitchFamily="18" charset="0"/>
              </a:rPr>
              <a:t>check the number of marks allocated to it.</a:t>
            </a:r>
            <a:r>
              <a:rPr lang="en-GB" dirty="0">
                <a:latin typeface="Tahoma" panose="020B0604030504040204" pitchFamily="34" charset="0"/>
                <a:ea typeface="Calibri" panose="020F0502020204030204" pitchFamily="34" charset="0"/>
                <a:cs typeface="Times New Roman" panose="02020603050405020304" pitchFamily="18" charset="0"/>
              </a:rPr>
              <a:t> </a:t>
            </a:r>
          </a:p>
          <a:p>
            <a:pPr algn="just">
              <a:lnSpc>
                <a:spcPct val="107000"/>
              </a:lnSpc>
              <a:spcAft>
                <a:spcPts val="800"/>
              </a:spcAft>
              <a:buFont typeface="Wingdings" panose="05000000000000000000" pitchFamily="2" charset="2"/>
              <a:buChar char="ü"/>
            </a:pPr>
            <a:r>
              <a:rPr lang="en-GB" dirty="0">
                <a:latin typeface="Tahoma" panose="020B0604030504040204" pitchFamily="34" charset="0"/>
                <a:ea typeface="Calibri" panose="020F0502020204030204" pitchFamily="34" charset="0"/>
                <a:cs typeface="Times New Roman" panose="02020603050405020304" pitchFamily="18" charset="0"/>
              </a:rPr>
              <a:t>	This will give you an idea of </a:t>
            </a:r>
            <a:r>
              <a:rPr lang="en-GB" sz="2000" b="1" dirty="0">
                <a:solidFill>
                  <a:schemeClr val="tx1">
                    <a:lumMod val="85000"/>
                    <a:lumOff val="15000"/>
                  </a:schemeClr>
                </a:solidFill>
                <a:latin typeface="Tahoma" panose="020B0604030504040204" pitchFamily="34" charset="0"/>
                <a:ea typeface="Calibri" panose="020F0502020204030204" pitchFamily="34" charset="0"/>
                <a:cs typeface="Times New Roman" panose="02020603050405020304" pitchFamily="18" charset="0"/>
              </a:rPr>
              <a:t>how bulky or short your answer should be</a:t>
            </a:r>
            <a:r>
              <a:rPr lang="en-GB" dirty="0">
                <a:latin typeface="Tahoma" panose="020B0604030504040204" pitchFamily="34" charset="0"/>
                <a:ea typeface="Calibri" panose="020F0502020204030204" pitchFamily="34" charset="0"/>
                <a:cs typeface="Times New Roman" panose="02020603050405020304" pitchFamily="18" charset="0"/>
              </a:rPr>
              <a:t>. </a:t>
            </a:r>
          </a:p>
          <a:p>
            <a:pPr algn="just">
              <a:lnSpc>
                <a:spcPct val="107000"/>
              </a:lnSpc>
              <a:spcAft>
                <a:spcPts val="800"/>
              </a:spcAft>
              <a:buFont typeface="Wingdings" panose="05000000000000000000" pitchFamily="2" charset="2"/>
              <a:buChar char="ü"/>
            </a:pPr>
            <a:r>
              <a:rPr lang="en-GB" dirty="0">
                <a:latin typeface="Tahoma" panose="020B0604030504040204" pitchFamily="34" charset="0"/>
                <a:ea typeface="Calibri" panose="020F0502020204030204" pitchFamily="34" charset="0"/>
                <a:cs typeface="Times New Roman" panose="02020603050405020304" pitchFamily="18" charset="0"/>
              </a:rPr>
              <a:t>	You can’t write an answer of 2 or 3 lines for a question that has 20 marks attached. It will definitely earn you about 2 or 3 marks for that question. </a:t>
            </a:r>
          </a:p>
          <a:p>
            <a:pPr algn="just">
              <a:lnSpc>
                <a:spcPct val="107000"/>
              </a:lnSpc>
              <a:spcAft>
                <a:spcPts val="800"/>
              </a:spcAft>
              <a:buFont typeface="Wingdings" panose="05000000000000000000" pitchFamily="2" charset="2"/>
              <a:buChar char="ü"/>
            </a:pPr>
            <a:r>
              <a:rPr lang="en-GB" dirty="0">
                <a:latin typeface="Tahoma" panose="020B0604030504040204" pitchFamily="34" charset="0"/>
                <a:ea typeface="Calibri" panose="020F0502020204030204" pitchFamily="34" charset="0"/>
                <a:cs typeface="Times New Roman" panose="02020603050405020304" pitchFamily="18" charset="0"/>
              </a:rPr>
              <a:t>	Neither should you write an answer of 20 lines for a question of 2 marks. Not only would you have </a:t>
            </a:r>
            <a:r>
              <a:rPr lang="en-GB" sz="2000" b="1" dirty="0">
                <a:solidFill>
                  <a:srgbClr val="7030A0"/>
                </a:solidFill>
                <a:latin typeface="Tahoma" panose="020B0604030504040204" pitchFamily="34" charset="0"/>
                <a:ea typeface="Calibri" panose="020F0502020204030204" pitchFamily="34" charset="0"/>
                <a:cs typeface="Times New Roman" panose="02020603050405020304" pitchFamily="18" charset="0"/>
              </a:rPr>
              <a:t>wasted precious exam time </a:t>
            </a:r>
            <a:r>
              <a:rPr lang="en-GB" dirty="0">
                <a:latin typeface="Tahoma" panose="020B0604030504040204" pitchFamily="34" charset="0"/>
                <a:ea typeface="Calibri" panose="020F0502020204030204" pitchFamily="34" charset="0"/>
                <a:cs typeface="Times New Roman" panose="02020603050405020304" pitchFamily="18" charset="0"/>
              </a:rPr>
              <a:t>but you would have </a:t>
            </a:r>
            <a:r>
              <a:rPr lang="en-GB" sz="2000" b="1" dirty="0">
                <a:solidFill>
                  <a:srgbClr val="993366"/>
                </a:solidFill>
                <a:latin typeface="Tahoma" panose="020B0604030504040204" pitchFamily="34" charset="0"/>
                <a:ea typeface="Calibri" panose="020F0502020204030204" pitchFamily="34" charset="0"/>
                <a:cs typeface="Times New Roman" panose="02020603050405020304" pitchFamily="18" charset="0"/>
              </a:rPr>
              <a:t>written unnecessary points</a:t>
            </a:r>
            <a:r>
              <a:rPr lang="en-GB" dirty="0">
                <a:latin typeface="Tahoma" panose="020B0604030504040204" pitchFamily="34" charset="0"/>
                <a:ea typeface="Calibri" panose="020F0502020204030204" pitchFamily="34" charset="0"/>
                <a:cs typeface="Times New Roman" panose="02020603050405020304" pitchFamily="18" charset="0"/>
              </a:rPr>
              <a:t> </a:t>
            </a:r>
            <a:r>
              <a:rPr lang="en-GB" sz="2000" b="1" dirty="0">
                <a:solidFill>
                  <a:srgbClr val="3333CC"/>
                </a:solidFill>
                <a:latin typeface="Tahoma" panose="020B0604030504040204" pitchFamily="34" charset="0"/>
                <a:ea typeface="Calibri" panose="020F0502020204030204" pitchFamily="34" charset="0"/>
                <a:cs typeface="Times New Roman" panose="02020603050405020304" pitchFamily="18" charset="0"/>
              </a:rPr>
              <a:t>which will not earn you more </a:t>
            </a:r>
            <a:r>
              <a:rPr lang="en-GB" dirty="0">
                <a:latin typeface="Tahoma" panose="020B0604030504040204" pitchFamily="34" charset="0"/>
                <a:ea typeface="Calibri" panose="020F0502020204030204" pitchFamily="34" charset="0"/>
                <a:cs typeface="Times New Roman" panose="02020603050405020304" pitchFamily="18" charset="0"/>
              </a:rPr>
              <a:t>than </a:t>
            </a:r>
            <a:r>
              <a:rPr lang="en-GB" b="1" dirty="0">
                <a:solidFill>
                  <a:srgbClr val="0070C0"/>
                </a:solidFill>
                <a:latin typeface="Tahoma" panose="020B0604030504040204" pitchFamily="34" charset="0"/>
                <a:ea typeface="Calibri" panose="020F0502020204030204" pitchFamily="34" charset="0"/>
                <a:cs typeface="Times New Roman" panose="02020603050405020304" pitchFamily="18" charset="0"/>
              </a:rPr>
              <a:t>the</a:t>
            </a:r>
            <a:r>
              <a:rPr lang="en-GB" dirty="0">
                <a:latin typeface="Tahoma" panose="020B0604030504040204" pitchFamily="34" charset="0"/>
                <a:ea typeface="Calibri" panose="020F0502020204030204" pitchFamily="34" charset="0"/>
                <a:cs typeface="Times New Roman" panose="02020603050405020304" pitchFamily="18" charset="0"/>
              </a:rPr>
              <a:t> 2 </a:t>
            </a:r>
            <a:r>
              <a:rPr lang="en-GB" sz="2000" b="1" dirty="0">
                <a:solidFill>
                  <a:srgbClr val="333399"/>
                </a:solidFill>
                <a:latin typeface="Tahoma" panose="020B0604030504040204" pitchFamily="34" charset="0"/>
                <a:ea typeface="Calibri" panose="020F0502020204030204" pitchFamily="34" charset="0"/>
                <a:cs typeface="Times New Roman" panose="02020603050405020304" pitchFamily="18" charset="0"/>
              </a:rPr>
              <a:t>marks </a:t>
            </a:r>
            <a:r>
              <a:rPr lang="en-GB" sz="2000" b="1" dirty="0">
                <a:solidFill>
                  <a:srgbClr val="002060"/>
                </a:solidFill>
                <a:latin typeface="Tahoma" panose="020B0604030504040204" pitchFamily="34" charset="0"/>
                <a:ea typeface="Calibri" panose="020F0502020204030204" pitchFamily="34" charset="0"/>
                <a:cs typeface="Times New Roman" panose="02020603050405020304" pitchFamily="18" charset="0"/>
              </a:rPr>
              <a:t>that are assigned to that question</a:t>
            </a:r>
            <a:r>
              <a:rPr lang="en-GB" dirty="0">
                <a:solidFill>
                  <a:srgbClr val="333399"/>
                </a:solidFill>
                <a:latin typeface="Tahoma" panose="020B0604030504040204" pitchFamily="34" charset="0"/>
                <a:ea typeface="Calibri" panose="020F0502020204030204" pitchFamily="34" charset="0"/>
                <a:cs typeface="Times New Roman" panose="02020603050405020304" pitchFamily="18" charset="0"/>
              </a:rPr>
              <a:t>.</a:t>
            </a:r>
            <a:endParaRPr lang="en-GB" dirty="0">
              <a:solidFill>
                <a:srgbClr val="333399"/>
              </a:solidFill>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en-GB" dirty="0">
                <a:latin typeface="Tahoma" panose="020B0604030504040204" pitchFamily="34" charset="0"/>
                <a:ea typeface="Calibri" panose="020F0502020204030204" pitchFamily="34" charset="0"/>
                <a:cs typeface="Times New Roman" panose="02020603050405020304" pitchFamily="18" charset="0"/>
              </a:rPr>
              <a:t>The marks allocated </a:t>
            </a:r>
            <a:r>
              <a:rPr lang="en-GB" sz="2600" b="1" dirty="0">
                <a:solidFill>
                  <a:srgbClr val="0070C0"/>
                </a:solidFill>
                <a:latin typeface="Tahoma" panose="020B0604030504040204" pitchFamily="34" charset="0"/>
                <a:ea typeface="Calibri" panose="020F0502020204030204" pitchFamily="34" charset="0"/>
                <a:cs typeface="Times New Roman" panose="02020603050405020304" pitchFamily="18" charset="0"/>
              </a:rPr>
              <a:t>will also tell you how important a question </a:t>
            </a:r>
            <a:r>
              <a:rPr lang="en-GB" dirty="0">
                <a:latin typeface="Tahoma" panose="020B0604030504040204" pitchFamily="34" charset="0"/>
                <a:ea typeface="Calibri" panose="020F0502020204030204" pitchFamily="34" charset="0"/>
                <a:cs typeface="Times New Roman" panose="02020603050405020304" pitchFamily="18" charset="0"/>
              </a:rPr>
              <a:t>is. </a:t>
            </a:r>
          </a:p>
          <a:p>
            <a:pPr marL="0" indent="0" algn="just">
              <a:lnSpc>
                <a:spcPct val="107000"/>
              </a:lnSpc>
              <a:spcAft>
                <a:spcPts val="800"/>
              </a:spcAft>
              <a:buNone/>
            </a:pPr>
            <a:r>
              <a:rPr lang="en-GB" dirty="0">
                <a:latin typeface="Tahoma" panose="020B0604030504040204" pitchFamily="34" charset="0"/>
                <a:ea typeface="Calibri" panose="020F0502020204030204" pitchFamily="34" charset="0"/>
                <a:cs typeface="Times New Roman" panose="02020603050405020304" pitchFamily="18" charset="0"/>
              </a:rPr>
              <a:t>This will </a:t>
            </a:r>
            <a:r>
              <a:rPr lang="en-GB" sz="2200" b="1" dirty="0">
                <a:solidFill>
                  <a:srgbClr val="00B0F0"/>
                </a:solidFill>
                <a:latin typeface="Tahoma" panose="020B0604030504040204" pitchFamily="34" charset="0"/>
                <a:ea typeface="Calibri" panose="020F0502020204030204" pitchFamily="34" charset="0"/>
                <a:cs typeface="Times New Roman" panose="02020603050405020304" pitchFamily="18" charset="0"/>
              </a:rPr>
              <a:t>help you prioritize </a:t>
            </a:r>
            <a:r>
              <a:rPr lang="en-GB" dirty="0">
                <a:latin typeface="Tahoma" panose="020B0604030504040204" pitchFamily="34" charset="0"/>
                <a:ea typeface="Calibri" panose="020F0502020204030204" pitchFamily="34" charset="0"/>
                <a:cs typeface="Times New Roman" panose="02020603050405020304" pitchFamily="18" charset="0"/>
              </a:rPr>
              <a:t>when answering all the questions.</a:t>
            </a:r>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US" dirty="0">
              <a:solidFill>
                <a:srgbClr val="002060"/>
              </a:solidFill>
            </a:endParaRPr>
          </a:p>
        </p:txBody>
      </p:sp>
    </p:spTree>
    <p:extLst>
      <p:ext uri="{BB962C8B-B14F-4D97-AF65-F5344CB8AC3E}">
        <p14:creationId xmlns:p14="http://schemas.microsoft.com/office/powerpoint/2010/main" val="42193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FB3F4-1F3F-4340-BADC-94919E279908}"/>
              </a:ext>
            </a:extLst>
          </p:cNvPr>
          <p:cNvSpPr>
            <a:spLocks noGrp="1"/>
          </p:cNvSpPr>
          <p:nvPr>
            <p:ph type="title"/>
          </p:nvPr>
        </p:nvSpPr>
        <p:spPr>
          <a:xfrm>
            <a:off x="1997477" y="624110"/>
            <a:ext cx="9507136" cy="1042765"/>
          </a:xfrm>
        </p:spPr>
        <p:txBody>
          <a:bodyPr>
            <a:normAutofit fontScale="90000"/>
          </a:bodyPr>
          <a:lstStyle/>
          <a:p>
            <a:pPr marL="342900" lvl="0" indent="-342900">
              <a:spcBef>
                <a:spcPts val="1000"/>
              </a:spcBef>
            </a:pPr>
            <a:r>
              <a:rPr lang="en-US" b="1" dirty="0">
                <a:solidFill>
                  <a:srgbClr val="002060"/>
                </a:solidFill>
                <a:latin typeface="Arial" panose="020B0604020202020204" pitchFamily="34" charset="0"/>
                <a:cs typeface="Arial" panose="020B0604020202020204" pitchFamily="34" charset="0"/>
              </a:rPr>
              <a:t>5. Write legibly and arrange your answers neatly</a:t>
            </a:r>
            <a:br>
              <a:rPr lang="en-US" sz="4000" dirty="0"/>
            </a:br>
            <a:endParaRPr lang="en-GB" sz="4000" dirty="0"/>
          </a:p>
        </p:txBody>
      </p:sp>
      <p:sp>
        <p:nvSpPr>
          <p:cNvPr id="4" name="Content Placeholder 3">
            <a:extLst>
              <a:ext uri="{FF2B5EF4-FFF2-40B4-BE49-F238E27FC236}">
                <a16:creationId xmlns:a16="http://schemas.microsoft.com/office/drawing/2014/main" id="{05DF42ED-B601-4A6D-958E-06A4A1CEFD15}"/>
              </a:ext>
            </a:extLst>
          </p:cNvPr>
          <p:cNvSpPr>
            <a:spLocks noGrp="1"/>
          </p:cNvSpPr>
          <p:nvPr>
            <p:ph idx="1"/>
          </p:nvPr>
        </p:nvSpPr>
        <p:spPr/>
        <p:txBody>
          <a:bodyPr>
            <a:normAutofit/>
          </a:bodyPr>
          <a:lstStyle/>
          <a:p>
            <a:pPr algn="just">
              <a:lnSpc>
                <a:spcPct val="107000"/>
              </a:lnSpc>
              <a:spcAft>
                <a:spcPts val="800"/>
              </a:spcAft>
            </a:pPr>
            <a:r>
              <a:rPr lang="en-GB" dirty="0">
                <a:latin typeface="Tahoma" panose="020B0604030504040204" pitchFamily="34" charset="0"/>
                <a:ea typeface="Calibri" panose="020F0502020204030204" pitchFamily="34" charset="0"/>
                <a:cs typeface="Times New Roman" panose="02020603050405020304" pitchFamily="18" charset="0"/>
              </a:rPr>
              <a:t>Make sure you write in a manner that your work can be read once without any difficulty. </a:t>
            </a:r>
          </a:p>
          <a:p>
            <a:pPr algn="just">
              <a:lnSpc>
                <a:spcPct val="107000"/>
              </a:lnSpc>
              <a:spcAft>
                <a:spcPts val="800"/>
              </a:spcAft>
            </a:pPr>
            <a:r>
              <a:rPr lang="en-GB" dirty="0">
                <a:latin typeface="Tahoma" panose="020B0604030504040204" pitchFamily="34" charset="0"/>
                <a:ea typeface="Calibri" panose="020F0502020204030204" pitchFamily="34" charset="0"/>
                <a:cs typeface="Times New Roman" panose="02020603050405020304" pitchFamily="18" charset="0"/>
              </a:rPr>
              <a:t>T</a:t>
            </a:r>
            <a:r>
              <a:rPr lang="en-GB" dirty="0">
                <a:latin typeface="Tahoma" panose="020B0604030504040204" pitchFamily="34" charset="0"/>
                <a:ea typeface="Calibri" panose="020F0502020204030204" pitchFamily="34" charset="0"/>
              </a:rPr>
              <a:t>ry your best to arrange your answers neatly so that they can be easily traced to the questions when marking your scripts. </a:t>
            </a:r>
          </a:p>
          <a:p>
            <a:pPr algn="just">
              <a:lnSpc>
                <a:spcPct val="107000"/>
              </a:lnSpc>
              <a:spcAft>
                <a:spcPts val="800"/>
              </a:spcAft>
            </a:pPr>
            <a:r>
              <a:rPr lang="en-GB" dirty="0">
                <a:latin typeface="Tahoma" panose="020B0604030504040204" pitchFamily="34" charset="0"/>
                <a:ea typeface="Calibri" panose="020F0502020204030204" pitchFamily="34" charset="0"/>
              </a:rPr>
              <a:t>Remember to number your answers and label diagrams, charts, etc.  </a:t>
            </a:r>
          </a:p>
          <a:p>
            <a:pPr algn="just">
              <a:lnSpc>
                <a:spcPct val="107000"/>
              </a:lnSpc>
              <a:spcAft>
                <a:spcPts val="800"/>
              </a:spcAft>
            </a:pPr>
            <a:r>
              <a:rPr lang="en-US" dirty="0">
                <a:latin typeface="Tahoma" panose="020B0604030504040204" pitchFamily="34" charset="0"/>
                <a:ea typeface="Calibri" panose="020F0502020204030204" pitchFamily="34" charset="0"/>
              </a:rPr>
              <a:t>Avoid drawing in ink.  </a:t>
            </a:r>
          </a:p>
          <a:p>
            <a:pPr algn="just">
              <a:lnSpc>
                <a:spcPct val="107000"/>
              </a:lnSpc>
              <a:spcAft>
                <a:spcPts val="800"/>
              </a:spcAft>
            </a:pPr>
            <a:r>
              <a:rPr lang="en-US" dirty="0">
                <a:latin typeface="Tahoma" panose="020B0604030504040204" pitchFamily="34" charset="0"/>
                <a:ea typeface="Calibri" panose="020F0502020204030204" pitchFamily="34" charset="0"/>
              </a:rPr>
              <a:t>When required provide explanatory text to accompany visuals.</a:t>
            </a:r>
          </a:p>
          <a:p>
            <a:pPr algn="just">
              <a:lnSpc>
                <a:spcPct val="107000"/>
              </a:lnSpc>
              <a:spcAft>
                <a:spcPts val="800"/>
              </a:spcAft>
            </a:pPr>
            <a:r>
              <a:rPr lang="en-US" dirty="0">
                <a:latin typeface="Tahoma" panose="020B0604030504040204" pitchFamily="34" charset="0"/>
              </a:rPr>
              <a:t>Read through your work carefully before submitting it.</a:t>
            </a:r>
            <a:endParaRPr lang="en-GB" dirty="0"/>
          </a:p>
        </p:txBody>
      </p:sp>
    </p:spTree>
    <p:extLst>
      <p:ext uri="{BB962C8B-B14F-4D97-AF65-F5344CB8AC3E}">
        <p14:creationId xmlns:p14="http://schemas.microsoft.com/office/powerpoint/2010/main" val="300112682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1227</TotalTime>
  <Words>862</Words>
  <Application>Microsoft Office PowerPoint</Application>
  <PresentationFormat>Widescreen</PresentationFormat>
  <Paragraphs>85</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Century Gothic</vt:lpstr>
      <vt:lpstr>Segoe UI</vt:lpstr>
      <vt:lpstr>Tahoma</vt:lpstr>
      <vt:lpstr>Wingdings</vt:lpstr>
      <vt:lpstr>Wingdings 3</vt:lpstr>
      <vt:lpstr>Wisp</vt:lpstr>
      <vt:lpstr>Answering the June Exam paper</vt:lpstr>
      <vt:lpstr>Question 1</vt:lpstr>
      <vt:lpstr>Question 1</vt:lpstr>
      <vt:lpstr>Types of Knowledge cont. </vt:lpstr>
      <vt:lpstr>Theory Questions </vt:lpstr>
      <vt:lpstr>Why assess Critical Thinking skills?</vt:lpstr>
      <vt:lpstr>1. Make sure you understand all the instructions  </vt:lpstr>
      <vt:lpstr>2. Answer the easy questions first </vt:lpstr>
      <vt:lpstr>3. Break down complex questions </vt:lpstr>
      <vt:lpstr>4. Answer questions according to the marks given. </vt:lpstr>
      <vt:lpstr>5. Write legibly and arrange your answers neatly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(SEG580S)</dc:title>
  <dc:creator>Gillian Khan</dc:creator>
  <cp:lastModifiedBy>Gillian Khan</cp:lastModifiedBy>
  <cp:revision>51</cp:revision>
  <dcterms:created xsi:type="dcterms:W3CDTF">2023-05-23T07:31:09Z</dcterms:created>
  <dcterms:modified xsi:type="dcterms:W3CDTF">2023-08-15T16:41:47Z</dcterms:modified>
</cp:coreProperties>
</file>