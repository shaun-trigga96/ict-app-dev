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5" r:id="rId7"/>
    <p:sldId id="261" r:id="rId8"/>
    <p:sldId id="266" r:id="rId9"/>
    <p:sldId id="267" r:id="rId10"/>
    <p:sldId id="268" r:id="rId11"/>
    <p:sldId id="262" r:id="rId12"/>
    <p:sldId id="263" r:id="rId13"/>
    <p:sldId id="264"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snapToObjects="1">
      <p:cViewPr varScale="1">
        <p:scale>
          <a:sx n="79" d="100"/>
          <a:sy n="79" d="100"/>
        </p:scale>
        <p:origin x="1565"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Semester Two - Week 6</a:t>
            </a:r>
          </a:p>
        </p:txBody>
      </p:sp>
      <p:sp>
        <p:nvSpPr>
          <p:cNvPr id="3" name="Subtitle 2"/>
          <p:cNvSpPr>
            <a:spLocks noGrp="1"/>
          </p:cNvSpPr>
          <p:nvPr>
            <p:ph type="subTitle" idx="1"/>
          </p:nvPr>
        </p:nvSpPr>
        <p:spPr/>
        <p:txBody>
          <a:bodyPr/>
          <a:lstStyle/>
          <a:p>
            <a:r>
              <a:t>Qualitative Data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Introduction</a:t>
            </a:r>
          </a:p>
        </p:txBody>
      </p:sp>
      <p:sp>
        <p:nvSpPr>
          <p:cNvPr id="3" name="Content Placeholder 2"/>
          <p:cNvSpPr>
            <a:spLocks noGrp="1"/>
          </p:cNvSpPr>
          <p:nvPr>
            <p:ph idx="1"/>
          </p:nvPr>
        </p:nvSpPr>
        <p:spPr/>
        <p:txBody>
          <a:bodyPr>
            <a:normAutofit fontScale="92500" lnSpcReduction="20000"/>
          </a:bodyPr>
          <a:lstStyle/>
          <a:p>
            <a:r>
              <a:rPr dirty="0"/>
              <a:t>This week’s focus is on core principles of qualitative data analysis.</a:t>
            </a:r>
          </a:p>
          <a:p>
            <a:endParaRPr dirty="0"/>
          </a:p>
          <a:p>
            <a:r>
              <a:rPr dirty="0"/>
              <a:t>Analysis depends on how data was collected and its purpose (Kumar, 2011).</a:t>
            </a:r>
          </a:p>
          <a:p>
            <a:r>
              <a:rPr dirty="0"/>
              <a:t>Qualitative = interpreting non-numeric data (interviews, focus groups, documents).</a:t>
            </a:r>
          </a:p>
          <a:p>
            <a:r>
              <a:rPr dirty="0"/>
              <a:t>Focus on meanings, experiences, narratives.</a:t>
            </a:r>
          </a:p>
          <a:p>
            <a:r>
              <a:rPr dirty="0" err="1"/>
              <a:t>Recognise</a:t>
            </a:r>
            <a:r>
              <a:rPr dirty="0"/>
              <a:t> patterns, themes, categories – iterative reflection.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 Characteristics of Qualitative Data</a:t>
            </a:r>
          </a:p>
        </p:txBody>
      </p:sp>
      <p:sp>
        <p:nvSpPr>
          <p:cNvPr id="3" name="Content Placeholder 2"/>
          <p:cNvSpPr>
            <a:spLocks noGrp="1"/>
          </p:cNvSpPr>
          <p:nvPr>
            <p:ph idx="1"/>
          </p:nvPr>
        </p:nvSpPr>
        <p:spPr/>
        <p:txBody>
          <a:bodyPr>
            <a:normAutofit lnSpcReduction="10000"/>
          </a:bodyPr>
          <a:lstStyle/>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Textual and contextual: Derived from open-ended sources like interview transcripts, field notes, documents, or recordings.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Rich and descriptive: Provides an in-depth understanding of participants’ experiences and social contexts.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Subjective and interpretive: The researcher becomes the instrument of analysis, guided by a research question and theoretical framework (Kumar, 2011).</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Holistic: Emphasises the full context of human experiences.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endParaRPr lang="en-GB" sz="1800" b="1" dirty="0">
              <a:effectLst/>
              <a:latin typeface="Arial" panose="020B0604020202020204" pitchFamily="34" charset="0"/>
              <a:ea typeface="Times New Roman" panose="02020603050405020304" pitchFamily="18" charset="0"/>
              <a:cs typeface="Arial" panose="020B0604020202020204" pitchFamily="34" charset="0"/>
            </a:endParaRPr>
          </a:p>
          <a:p>
            <a:pPr marL="0" indent="0">
              <a:lnSpc>
                <a:spcPct val="115000"/>
              </a:lnSpc>
              <a:spcAft>
                <a:spcPts val="1000"/>
              </a:spcAft>
              <a:buNone/>
            </a:pPr>
            <a:r>
              <a:rPr lang="en-GB" sz="1800" b="1" dirty="0">
                <a:effectLst/>
                <a:latin typeface="Arial" panose="020B0604020202020204" pitchFamily="34" charset="0"/>
                <a:ea typeface="Times New Roman" panose="02020603050405020304" pitchFamily="18" charset="0"/>
                <a:cs typeface="Arial" panose="020B0604020202020204" pitchFamily="34" charset="0"/>
              </a:rPr>
              <a:t>ICT Example: </a:t>
            </a:r>
            <a:r>
              <a:rPr lang="en-GB" sz="1800" dirty="0">
                <a:effectLst/>
                <a:latin typeface="Arial" panose="020B0604020202020204" pitchFamily="34" charset="0"/>
                <a:ea typeface="Times New Roman" panose="02020603050405020304" pitchFamily="18" charset="0"/>
                <a:cs typeface="Arial" panose="020B0604020202020204" pitchFamily="34" charset="0"/>
              </a:rPr>
              <a:t>An ICT researcher interviewing cybersecurity analysts about their response to ransomware attacks gathers narrative data that reflects not only procedures but feelings, challenges, and workplace culture.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 Thematic Analysis and Coding</a:t>
            </a:r>
          </a:p>
        </p:txBody>
      </p:sp>
      <p:sp>
        <p:nvSpPr>
          <p:cNvPr id="3" name="Content Placeholder 2"/>
          <p:cNvSpPr>
            <a:spLocks noGrp="1"/>
          </p:cNvSpPr>
          <p:nvPr>
            <p:ph idx="1"/>
          </p:nvPr>
        </p:nvSpPr>
        <p:spPr/>
        <p:txBody>
          <a:bodyPr>
            <a:normAutofit lnSpcReduction="10000"/>
          </a:bodyPr>
          <a:lstStyle/>
          <a:p>
            <a:pPr marL="0" indent="0">
              <a:lnSpc>
                <a:spcPct val="115000"/>
              </a:lnSpc>
              <a:spcAft>
                <a:spcPts val="10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Thematic analysis is one of the most commonly used methods. It involves: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Reading and re-reading the data for familiarisation.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Generating initial codes that capture interesting features.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Organising codes into themes that represent patterns in the data.</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Reviewing and refining themes to ensure they relate back to the research question (Braun &amp; Clarke, 2006, in </a:t>
            </a:r>
            <a:r>
              <a:rPr lang="en-GB" sz="1800" dirty="0" err="1">
                <a:effectLst/>
                <a:latin typeface="Arial" panose="020B0604020202020204" pitchFamily="34" charset="0"/>
                <a:ea typeface="Times New Roman" panose="02020603050405020304" pitchFamily="18" charset="0"/>
                <a:cs typeface="Arial" panose="020B0604020202020204" pitchFamily="34" charset="0"/>
              </a:rPr>
              <a:t>GradCoach</a:t>
            </a:r>
            <a:r>
              <a:rPr lang="en-GB" sz="1800" dirty="0">
                <a:effectLst/>
                <a:latin typeface="Arial" panose="020B0604020202020204" pitchFamily="34" charset="0"/>
                <a:ea typeface="Times New Roman" panose="02020603050405020304" pitchFamily="18" charset="0"/>
                <a:cs typeface="Arial" panose="020B0604020202020204" pitchFamily="34" charset="0"/>
              </a:rPr>
              <a:t>, 2025).</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n-GB" sz="1800" dirty="0">
                <a:effectLst/>
                <a:latin typeface="Arial" panose="020B0604020202020204" pitchFamily="34" charset="0"/>
                <a:ea typeface="Times New Roman" panose="02020603050405020304" pitchFamily="18" charset="0"/>
                <a:cs typeface="Arial" panose="020B0604020202020204" pitchFamily="34" charset="0"/>
              </a:rPr>
              <a:t>Coding can be inductive (deriving from data) or deductive (based on existing theory). Codes are grouped into categories, which are wider concepts used to organise and explain findings.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r>
              <a:rPr lang="en-GB" sz="1800" b="1" dirty="0">
                <a:effectLst/>
                <a:latin typeface="Arial" panose="020B0604020202020204" pitchFamily="34" charset="0"/>
                <a:ea typeface="Times New Roman" panose="02020603050405020304" pitchFamily="18" charset="0"/>
              </a:rPr>
              <a:t>ICT Example:</a:t>
            </a:r>
            <a:r>
              <a:rPr lang="en-GB" sz="1800" dirty="0">
                <a:effectLst/>
                <a:latin typeface="Arial" panose="020B0604020202020204" pitchFamily="34" charset="0"/>
                <a:ea typeface="Times New Roman" panose="02020603050405020304" pitchFamily="18" charset="0"/>
              </a:rPr>
              <a:t> When analysing interviews with software developers about agile methodologies, initial codes like “client feedback”, “iteration pressure”, and “testing bottlenecks” may be grouped under a theme like </a:t>
            </a:r>
            <a:r>
              <a:rPr lang="en-GB" sz="1800" b="1" i="1" dirty="0">
                <a:effectLst/>
                <a:latin typeface="Arial" panose="020B0604020202020204" pitchFamily="34" charset="0"/>
                <a:ea typeface="Times New Roman" panose="02020603050405020304" pitchFamily="18" charset="0"/>
              </a:rPr>
              <a:t>project stressors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 Methods of Qualitative Data Analysis</a:t>
            </a:r>
          </a:p>
        </p:txBody>
      </p:sp>
      <p:sp>
        <p:nvSpPr>
          <p:cNvPr id="3" name="Content Placeholder 2"/>
          <p:cNvSpPr>
            <a:spLocks noGrp="1"/>
          </p:cNvSpPr>
          <p:nvPr>
            <p:ph idx="1"/>
          </p:nvPr>
        </p:nvSpPr>
        <p:spPr/>
        <p:txBody>
          <a:bodyPr>
            <a:normAutofit lnSpcReduction="10000"/>
          </a:bodyPr>
          <a:lstStyle/>
          <a:p>
            <a:pPr marL="0" indent="0">
              <a:lnSpc>
                <a:spcPct val="115000"/>
              </a:lnSpc>
              <a:spcAft>
                <a:spcPts val="10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According to Cohen, Manion and Morrison (2017) and Getthematic.com, several approaches can be used:</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Narrative Analysis: Focuses on the stories individuals tell, and how they construct meaning.</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buFont typeface="Courier New" panose="02070309020205020404" pitchFamily="49" charset="0"/>
              <a:buChar char="o"/>
            </a:pPr>
            <a:r>
              <a:rPr lang="en-GB" sz="1800" dirty="0">
                <a:effectLst/>
                <a:latin typeface="Arial" panose="020B0604020202020204" pitchFamily="34" charset="0"/>
                <a:ea typeface="Times New Roman" panose="02020603050405020304" pitchFamily="18" charset="0"/>
                <a:cs typeface="Arial" panose="020B0604020202020204" pitchFamily="34" charset="0"/>
              </a:rPr>
              <a:t>Example: Analysing an interview where an IT manager reflects on their transition to cloud infrastructure.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Content Analysis: Systematically categorises textual data into frequencies or themes.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buFont typeface="Courier New" panose="02070309020205020404" pitchFamily="49" charset="0"/>
              <a:buChar char="o"/>
            </a:pPr>
            <a:r>
              <a:rPr lang="en-GB" sz="1800" dirty="0">
                <a:effectLst/>
                <a:latin typeface="Arial" panose="020B0604020202020204" pitchFamily="34" charset="0"/>
                <a:ea typeface="Times New Roman" panose="02020603050405020304" pitchFamily="18" charset="0"/>
                <a:cs typeface="Arial" panose="020B0604020202020204" pitchFamily="34" charset="0"/>
              </a:rPr>
              <a:t>Example: Reviewing IT forum discussions to determine concerns about generative AI tools.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Discourse Analysis: Studies how language constructs reality, often in institutional or media texts.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buFont typeface="Courier New" panose="02070309020205020404" pitchFamily="49" charset="0"/>
              <a:buChar char="o"/>
            </a:pPr>
            <a:r>
              <a:rPr lang="en-GB" sz="1800" dirty="0">
                <a:effectLst/>
                <a:latin typeface="Arial" panose="020B0604020202020204" pitchFamily="34" charset="0"/>
                <a:ea typeface="Times New Roman" panose="02020603050405020304" pitchFamily="18" charset="0"/>
                <a:cs typeface="Arial" panose="020B0604020202020204" pitchFamily="34" charset="0"/>
              </a:rPr>
              <a:t>Example: Evaluating how AI is described in ICT policy documents.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indent="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E4524-25F7-2B91-4580-5CF4F65CA0D4}"/>
              </a:ext>
            </a:extLst>
          </p:cNvPr>
          <p:cNvSpPr>
            <a:spLocks noGrp="1"/>
          </p:cNvSpPr>
          <p:nvPr>
            <p:ph idx="1"/>
          </p:nvPr>
        </p:nvSpPr>
        <p:spPr/>
        <p:txBody>
          <a:bodyPr>
            <a:normAutofit/>
          </a:bodyPr>
          <a:lstStyle/>
          <a:p>
            <a:pPr marL="342900" lvl="0" indent="-342900">
              <a:lnSpc>
                <a:spcPct val="115000"/>
              </a:lnSpc>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Grounded Theory: Develops a theory based on data collected from participants.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buFont typeface="Courier New" panose="02070309020205020404" pitchFamily="49" charset="0"/>
              <a:buChar char="o"/>
            </a:pPr>
            <a:r>
              <a:rPr lang="en-GB" sz="1800" dirty="0">
                <a:effectLst/>
                <a:latin typeface="Arial" panose="020B0604020202020204" pitchFamily="34" charset="0"/>
                <a:ea typeface="Times New Roman" panose="02020603050405020304" pitchFamily="18" charset="0"/>
                <a:cs typeface="Arial" panose="020B0604020202020204" pitchFamily="34" charset="0"/>
              </a:rPr>
              <a:t>Example: Building a model of how ICT graduates adapt to remote work environments.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GB" sz="1800" dirty="0">
                <a:effectLst/>
                <a:latin typeface="Arial" panose="020B0604020202020204" pitchFamily="34" charset="0"/>
                <a:ea typeface="Times New Roman" panose="02020603050405020304" pitchFamily="18" charset="0"/>
                <a:cs typeface="Arial" panose="020B0604020202020204" pitchFamily="34" charset="0"/>
              </a:rPr>
              <a:t>Framework Analysis: Used in applied policy research, aligning data with predefined research objectives.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r>
              <a:rPr lang="en-GB" sz="1800" dirty="0">
                <a:effectLst/>
                <a:latin typeface="Arial" panose="020B0604020202020204" pitchFamily="34" charset="0"/>
                <a:ea typeface="Times New Roman" panose="02020603050405020304" pitchFamily="18" charset="0"/>
              </a:rPr>
              <a:t>Example: Examining how universities implement internal policies that govern the use of AI tools in academic settings. The goal is to determine whether ethical principles, such as transparency, fairness, and accountability, are reflected in the institution’s practices</a:t>
            </a:r>
            <a:endParaRPr lang="en-GB" sz="1800" dirty="0"/>
          </a:p>
        </p:txBody>
      </p:sp>
    </p:spTree>
    <p:extLst>
      <p:ext uri="{BB962C8B-B14F-4D97-AF65-F5344CB8AC3E}">
        <p14:creationId xmlns:p14="http://schemas.microsoft.com/office/powerpoint/2010/main" val="1981632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 Manual vs Software-Assisted Analysis</a:t>
            </a:r>
          </a:p>
        </p:txBody>
      </p:sp>
      <p:sp>
        <p:nvSpPr>
          <p:cNvPr id="3" name="Content Placeholder 2"/>
          <p:cNvSpPr>
            <a:spLocks noGrp="1"/>
          </p:cNvSpPr>
          <p:nvPr>
            <p:ph idx="1"/>
          </p:nvPr>
        </p:nvSpPr>
        <p:spPr>
          <a:xfrm>
            <a:off x="457199" y="1600200"/>
            <a:ext cx="8317149" cy="4983162"/>
          </a:xfrm>
        </p:spPr>
        <p:txBody>
          <a:bodyPr>
            <a:noAutofit/>
          </a:bodyPr>
          <a:lstStyle/>
          <a:p>
            <a:pPr marL="0" indent="0">
              <a:lnSpc>
                <a:spcPct val="115000"/>
              </a:lnSpc>
              <a:spcBef>
                <a:spcPts val="900"/>
              </a:spcBef>
              <a:spcAft>
                <a:spcPts val="900"/>
              </a:spcAft>
              <a:buNone/>
            </a:pPr>
            <a:r>
              <a:rPr lang="en-GB" sz="1600" dirty="0">
                <a:effectLst/>
                <a:latin typeface="Arial" panose="020B0604020202020204" pitchFamily="34" charset="0"/>
                <a:ea typeface="Times New Roman" panose="02020603050405020304" pitchFamily="18" charset="0"/>
                <a:cs typeface="Arial" panose="020B0604020202020204" pitchFamily="34" charset="0"/>
              </a:rPr>
              <a:t>Qualitative data can be analysed:</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900"/>
              </a:spcBef>
              <a:spcAft>
                <a:spcPts val="900"/>
              </a:spcAft>
              <a:buFont typeface="Symbol" panose="05050102010706020507" pitchFamily="18" charset="2"/>
              <a:buChar char=""/>
            </a:pPr>
            <a:r>
              <a:rPr lang="en-GB" sz="1600" dirty="0">
                <a:effectLst/>
                <a:latin typeface="Arial" panose="020B0604020202020204" pitchFamily="34" charset="0"/>
                <a:ea typeface="Times New Roman" panose="02020603050405020304" pitchFamily="18" charset="0"/>
                <a:cs typeface="Arial" panose="020B0604020202020204" pitchFamily="34" charset="0"/>
              </a:rPr>
              <a:t>Manually: Useful for small datasets. Involves highlighting, annotating, and sorting extracts. </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900"/>
              </a:spcBef>
              <a:spcAft>
                <a:spcPts val="900"/>
              </a:spcAft>
              <a:buFont typeface="Symbol" panose="05050102010706020507" pitchFamily="18" charset="2"/>
              <a:buChar char=""/>
            </a:pPr>
            <a:r>
              <a:rPr lang="en-GB" sz="1600" dirty="0">
                <a:effectLst/>
                <a:latin typeface="Arial" panose="020B0604020202020204" pitchFamily="34" charset="0"/>
                <a:ea typeface="Times New Roman" panose="02020603050405020304" pitchFamily="18" charset="0"/>
                <a:cs typeface="Arial" panose="020B0604020202020204" pitchFamily="34" charset="0"/>
              </a:rPr>
              <a:t>Using software: Tools like NVivo, </a:t>
            </a:r>
            <a:r>
              <a:rPr lang="en-GB" sz="1600"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600" dirty="0">
                <a:effectLst/>
                <a:latin typeface="Arial" panose="020B0604020202020204" pitchFamily="34" charset="0"/>
                <a:ea typeface="Times New Roman" panose="02020603050405020304" pitchFamily="18" charset="0"/>
                <a:cs typeface="Arial" panose="020B0604020202020204" pitchFamily="34" charset="0"/>
              </a:rPr>
              <a:t>, or MAXQDA assist in storing, coding, and visualising themes efficiently, especially for large data volumes.</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114300" indent="0">
              <a:lnSpc>
                <a:spcPct val="115000"/>
              </a:lnSpc>
              <a:spcBef>
                <a:spcPts val="900"/>
              </a:spcBef>
              <a:spcAft>
                <a:spcPts val="900"/>
              </a:spcAft>
              <a:buNone/>
            </a:pPr>
            <a:r>
              <a:rPr lang="en-GB" sz="1600" b="1" dirty="0">
                <a:effectLst/>
                <a:latin typeface="Arial" panose="020B0604020202020204" pitchFamily="34" charset="0"/>
                <a:ea typeface="Times New Roman" panose="02020603050405020304" pitchFamily="18" charset="0"/>
                <a:cs typeface="Arial" panose="020B0604020202020204" pitchFamily="34" charset="0"/>
              </a:rPr>
              <a:t>Example with </a:t>
            </a:r>
            <a:r>
              <a:rPr lang="en-GB" sz="1600" b="1"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600" b="1" dirty="0">
                <a:effectLst/>
                <a:latin typeface="Arial" panose="020B0604020202020204" pitchFamily="34" charset="0"/>
                <a:ea typeface="Times New Roman" panose="02020603050405020304" pitchFamily="18" charset="0"/>
                <a:cs typeface="Arial" panose="020B0604020202020204" pitchFamily="34" charset="0"/>
              </a:rPr>
              <a:t>: </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900"/>
              </a:spcBef>
              <a:spcAft>
                <a:spcPts val="900"/>
              </a:spcAft>
              <a:buFont typeface="Symbol" panose="05050102010706020507" pitchFamily="18" charset="2"/>
              <a:buChar char=""/>
            </a:pPr>
            <a:r>
              <a:rPr lang="en-GB" sz="1600" dirty="0">
                <a:effectLst/>
                <a:latin typeface="Arial" panose="020B0604020202020204" pitchFamily="34" charset="0"/>
                <a:ea typeface="Times New Roman" panose="02020603050405020304" pitchFamily="18" charset="0"/>
                <a:cs typeface="Arial" panose="020B0604020202020204" pitchFamily="34" charset="0"/>
              </a:rPr>
              <a:t>Study Title: Understanding Software Developers’ Perceptions of Agile Methodologies in Distributed Teams</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spcBef>
                <a:spcPts val="900"/>
              </a:spcBef>
              <a:spcAft>
                <a:spcPts val="900"/>
              </a:spcAft>
              <a:buFont typeface="Courier New" panose="02070309020205020404" pitchFamily="49" charset="0"/>
              <a:buChar char="o"/>
            </a:pPr>
            <a:r>
              <a:rPr lang="en-GB" sz="1600" dirty="0">
                <a:effectLst/>
                <a:latin typeface="Arial" panose="020B0604020202020204" pitchFamily="34" charset="0"/>
                <a:ea typeface="Times New Roman" panose="02020603050405020304" pitchFamily="18" charset="0"/>
                <a:cs typeface="Arial" panose="020B0604020202020204" pitchFamily="34" charset="0"/>
              </a:rPr>
              <a:t>Context: This qualitative study explores how software developers working in geographically dispersed teams experience Agile practices, such as daily stand-ups, sprint planning, and retrospectives. Data is collected through in-depth interviews with 10 developers from various tech companies that have adopted remote or hybrid work models.</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5C18E1-D9E7-816B-316D-2FAD7FB8E619}"/>
              </a:ext>
            </a:extLst>
          </p:cNvPr>
          <p:cNvSpPr>
            <a:spLocks noGrp="1"/>
          </p:cNvSpPr>
          <p:nvPr>
            <p:ph idx="1"/>
          </p:nvPr>
        </p:nvSpPr>
        <p:spPr>
          <a:xfrm>
            <a:off x="301558" y="228600"/>
            <a:ext cx="8501974" cy="6357026"/>
          </a:xfrm>
        </p:spPr>
        <p:txBody>
          <a:bodyPr>
            <a:normAutofit/>
          </a:bodyPr>
          <a:lstStyle/>
          <a:p>
            <a:pPr marL="457200">
              <a:lnSpc>
                <a:spcPct val="115000"/>
              </a:lnSpc>
              <a:spcBef>
                <a:spcPts val="900"/>
              </a:spcBef>
              <a:spcAft>
                <a:spcPts val="900"/>
              </a:spcAft>
            </a:pPr>
            <a:r>
              <a:rPr lang="en-GB" sz="1100" b="1" dirty="0">
                <a:effectLst/>
                <a:latin typeface="Arial" panose="020B0604020202020204" pitchFamily="34" charset="0"/>
                <a:ea typeface="Times New Roman" panose="02020603050405020304" pitchFamily="18" charset="0"/>
                <a:cs typeface="Arial" panose="020B0604020202020204" pitchFamily="34" charset="0"/>
              </a:rPr>
              <a:t>Using </a:t>
            </a:r>
            <a:r>
              <a:rPr lang="en-GB" sz="1100" b="1"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100" b="1" dirty="0">
                <a:effectLst/>
                <a:latin typeface="Arial" panose="020B0604020202020204" pitchFamily="34" charset="0"/>
                <a:ea typeface="Times New Roman" panose="02020603050405020304" pitchFamily="18" charset="0"/>
                <a:cs typeface="Arial" panose="020B0604020202020204" pitchFamily="34" charset="0"/>
              </a:rPr>
              <a:t>:</a:t>
            </a:r>
            <a:endParaRPr lang="en-GB" sz="11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900"/>
              </a:spcBef>
              <a:spcAft>
                <a:spcPts val="900"/>
              </a:spcAft>
              <a:buFont typeface="+mj-lt"/>
              <a:buAutoNum type="arabicPeriod"/>
            </a:pPr>
            <a:r>
              <a:rPr lang="en-GB" sz="1400" dirty="0">
                <a:effectLst/>
                <a:latin typeface="Arial" panose="020B0604020202020204" pitchFamily="34" charset="0"/>
                <a:ea typeface="Times New Roman" panose="02020603050405020304" pitchFamily="18" charset="0"/>
                <a:cs typeface="Arial" panose="020B0604020202020204" pitchFamily="34" charset="0"/>
              </a:rPr>
              <a:t>Data Preparation and Import:</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400" dirty="0">
                <a:effectLst/>
                <a:latin typeface="Arial" panose="020B0604020202020204" pitchFamily="34" charset="0"/>
                <a:ea typeface="Times New Roman" panose="02020603050405020304" pitchFamily="18" charset="0"/>
                <a:cs typeface="Arial" panose="020B0604020202020204" pitchFamily="34" charset="0"/>
              </a:rPr>
              <a:t>Interview recordings are transcribed, and the text files are uploaded into </a:t>
            </a:r>
            <a:r>
              <a:rPr lang="en-GB" sz="1400"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400" dirty="0">
                <a:effectLst/>
                <a:latin typeface="Arial" panose="020B0604020202020204" pitchFamily="34" charset="0"/>
                <a:ea typeface="Times New Roman" panose="02020603050405020304" pitchFamily="18" charset="0"/>
                <a:cs typeface="Arial" panose="020B0604020202020204" pitchFamily="34" charset="0"/>
              </a:rPr>
              <a:t>. Each transcript becomes a primary document within the software.</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0" lvl="0" indent="0">
              <a:lnSpc>
                <a:spcPct val="115000"/>
              </a:lnSpc>
              <a:spcBef>
                <a:spcPts val="900"/>
              </a:spcBef>
              <a:spcAft>
                <a:spcPts val="900"/>
              </a:spcAft>
              <a:buNone/>
            </a:pPr>
            <a:r>
              <a:rPr lang="en-GB" sz="1400" dirty="0">
                <a:effectLst/>
                <a:latin typeface="Arial" panose="020B0604020202020204" pitchFamily="34" charset="0"/>
                <a:ea typeface="Times New Roman" panose="02020603050405020304" pitchFamily="18" charset="0"/>
                <a:cs typeface="Arial" panose="020B0604020202020204" pitchFamily="34" charset="0"/>
              </a:rPr>
              <a:t>2. Creating Codes and Code Groups:</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400" dirty="0">
                <a:effectLst/>
                <a:latin typeface="Arial" panose="020B0604020202020204" pitchFamily="34" charset="0"/>
                <a:ea typeface="Times New Roman" panose="02020603050405020304" pitchFamily="18" charset="0"/>
                <a:cs typeface="Arial" panose="020B0604020202020204" pitchFamily="34" charset="0"/>
              </a:rPr>
              <a:t>During initial analysis, the researcher reads through each transcript and creates codes that capture recurring ideas. These include:</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spcBef>
                <a:spcPts val="900"/>
              </a:spcBef>
              <a:spcAft>
                <a:spcPts val="900"/>
              </a:spcAft>
              <a:buFont typeface="Courier New" panose="02070309020205020404" pitchFamily="49" charset="0"/>
              <a:buChar char="o"/>
            </a:pPr>
            <a:r>
              <a:rPr lang="en-GB" sz="1400" dirty="0">
                <a:effectLst/>
                <a:latin typeface="Arial" panose="020B0604020202020204" pitchFamily="34" charset="0"/>
                <a:ea typeface="Times New Roman" panose="02020603050405020304" pitchFamily="18" charset="0"/>
                <a:cs typeface="Arial" panose="020B0604020202020204" pitchFamily="34" charset="0"/>
              </a:rPr>
              <a:t>Time Zone Coordination – comments related to scheduling challenges across different time zones.</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spcBef>
                <a:spcPts val="900"/>
              </a:spcBef>
              <a:spcAft>
                <a:spcPts val="900"/>
              </a:spcAft>
              <a:buFont typeface="Courier New" panose="02070309020205020404" pitchFamily="49" charset="0"/>
              <a:buChar char="o"/>
            </a:pPr>
            <a:r>
              <a:rPr lang="en-GB" sz="1400" dirty="0">
                <a:effectLst/>
                <a:latin typeface="Arial" panose="020B0604020202020204" pitchFamily="34" charset="0"/>
                <a:ea typeface="Times New Roman" panose="02020603050405020304" pitchFamily="18" charset="0"/>
                <a:cs typeface="Arial" panose="020B0604020202020204" pitchFamily="34" charset="0"/>
              </a:rPr>
              <a:t>Agile Rituals Online – references to how Agile ceremonies are conducted virtually.</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spcBef>
                <a:spcPts val="900"/>
              </a:spcBef>
              <a:spcAft>
                <a:spcPts val="900"/>
              </a:spcAft>
              <a:buFont typeface="Courier New" panose="02070309020205020404" pitchFamily="49" charset="0"/>
              <a:buChar char="o"/>
            </a:pPr>
            <a:r>
              <a:rPr lang="en-GB" sz="1400" dirty="0">
                <a:effectLst/>
                <a:latin typeface="Arial" panose="020B0604020202020204" pitchFamily="34" charset="0"/>
                <a:ea typeface="Times New Roman" panose="02020603050405020304" pitchFamily="18" charset="0"/>
                <a:cs typeface="Arial" panose="020B0604020202020204" pitchFamily="34" charset="0"/>
              </a:rPr>
              <a:t>Tool Usage – mentions of platforms like Jira, Slack, Zoom.</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nSpc>
                <a:spcPct val="115000"/>
              </a:lnSpc>
              <a:spcBef>
                <a:spcPts val="900"/>
              </a:spcBef>
              <a:spcAft>
                <a:spcPts val="900"/>
              </a:spcAft>
              <a:buFont typeface="Courier New" panose="02070309020205020404" pitchFamily="49" charset="0"/>
              <a:buChar char="o"/>
            </a:pPr>
            <a:r>
              <a:rPr lang="en-GB" sz="1400" dirty="0">
                <a:effectLst/>
                <a:latin typeface="Arial" panose="020B0604020202020204" pitchFamily="34" charset="0"/>
                <a:ea typeface="Times New Roman" panose="02020603050405020304" pitchFamily="18" charset="0"/>
                <a:cs typeface="Arial" panose="020B0604020202020204" pitchFamily="34" charset="0"/>
              </a:rPr>
              <a:t>Communication Gaps – descriptions of misunderstandings, delays, or limited feedback loops.</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114300" indent="0">
              <a:lnSpc>
                <a:spcPct val="115000"/>
              </a:lnSpc>
              <a:spcBef>
                <a:spcPts val="900"/>
              </a:spcBef>
              <a:spcAft>
                <a:spcPts val="900"/>
              </a:spcAft>
              <a:buNone/>
            </a:pPr>
            <a:r>
              <a:rPr lang="en-GB" sz="1400" dirty="0">
                <a:effectLst/>
                <a:latin typeface="Arial" panose="020B0604020202020204" pitchFamily="34" charset="0"/>
                <a:ea typeface="Times New Roman" panose="02020603050405020304" pitchFamily="18" charset="0"/>
                <a:cs typeface="Arial" panose="020B0604020202020204" pitchFamily="34" charset="0"/>
              </a:rPr>
              <a:t>The researcher also creates code groups, for example:</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900"/>
              </a:spcBef>
              <a:spcAft>
                <a:spcPts val="900"/>
              </a:spcAft>
              <a:buFont typeface="Symbol" panose="05050102010706020507" pitchFamily="18" charset="2"/>
              <a:buChar char=""/>
            </a:pPr>
            <a:r>
              <a:rPr lang="en-GB" sz="1400" i="1" dirty="0">
                <a:effectLst/>
                <a:latin typeface="Arial" panose="020B0604020202020204" pitchFamily="34" charset="0"/>
                <a:ea typeface="Times New Roman" panose="02020603050405020304" pitchFamily="18" charset="0"/>
                <a:cs typeface="Arial" panose="020B0604020202020204" pitchFamily="34" charset="0"/>
              </a:rPr>
              <a:t>Collaboration Barriers</a:t>
            </a:r>
            <a:r>
              <a:rPr lang="en-GB" sz="1400" dirty="0">
                <a:effectLst/>
                <a:latin typeface="Arial" panose="020B0604020202020204" pitchFamily="34" charset="0"/>
                <a:ea typeface="Times New Roman" panose="02020603050405020304" pitchFamily="18" charset="0"/>
                <a:cs typeface="Arial" panose="020B0604020202020204" pitchFamily="34" charset="0"/>
              </a:rPr>
              <a:t> (includes Time Zone Coordination and Communication Gaps)</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900"/>
              </a:spcBef>
              <a:spcAft>
                <a:spcPts val="900"/>
              </a:spcAft>
              <a:buFont typeface="Symbol" panose="05050102010706020507" pitchFamily="18" charset="2"/>
              <a:buChar char=""/>
            </a:pPr>
            <a:r>
              <a:rPr lang="en-GB" sz="1400" i="1" dirty="0">
                <a:effectLst/>
                <a:latin typeface="Arial" panose="020B0604020202020204" pitchFamily="34" charset="0"/>
                <a:ea typeface="Times New Roman" panose="02020603050405020304" pitchFamily="18" charset="0"/>
                <a:cs typeface="Arial" panose="020B0604020202020204" pitchFamily="34" charset="0"/>
              </a:rPr>
              <a:t>Agile Practices</a:t>
            </a:r>
            <a:r>
              <a:rPr lang="en-GB" sz="1400" dirty="0">
                <a:effectLst/>
                <a:latin typeface="Arial" panose="020B0604020202020204" pitchFamily="34" charset="0"/>
                <a:ea typeface="Times New Roman" panose="02020603050405020304" pitchFamily="18" charset="0"/>
                <a:cs typeface="Arial" panose="020B0604020202020204" pitchFamily="34" charset="0"/>
              </a:rPr>
              <a:t> (includes Agile Rituals Online and Tool Usage)</a:t>
            </a:r>
            <a:endParaRPr lang="en-GB" sz="14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3395361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A42EBA-A1A0-1E0B-E732-01D5064AB5B9}"/>
              </a:ext>
            </a:extLst>
          </p:cNvPr>
          <p:cNvSpPr>
            <a:spLocks noGrp="1"/>
          </p:cNvSpPr>
          <p:nvPr>
            <p:ph idx="1"/>
          </p:nvPr>
        </p:nvSpPr>
        <p:spPr>
          <a:xfrm>
            <a:off x="272373" y="413425"/>
            <a:ext cx="8375515" cy="6026286"/>
          </a:xfrm>
        </p:spPr>
        <p:txBody>
          <a:bodyPr>
            <a:normAutofit/>
          </a:bodyPr>
          <a:lstStyle/>
          <a:p>
            <a:pPr marL="0" lvl="0" indent="0">
              <a:lnSpc>
                <a:spcPct val="115000"/>
              </a:lnSpc>
              <a:spcBef>
                <a:spcPts val="900"/>
              </a:spcBef>
              <a:spcAft>
                <a:spcPts val="9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3. Memo Writing and Annotation: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800" dirty="0">
                <a:effectLst/>
                <a:latin typeface="Arial" panose="020B0604020202020204" pitchFamily="34" charset="0"/>
                <a:ea typeface="Times New Roman" panose="02020603050405020304" pitchFamily="18" charset="0"/>
                <a:cs typeface="Arial" panose="020B0604020202020204" pitchFamily="34" charset="0"/>
              </a:rPr>
              <a:t>Memos are employed to analyse emerging patterns, like the influence of asynchronous tools on perceived productivity. Annotations are attached to particular quotes to emphasise nuances or tensions in a participant’s response.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lvl="0" indent="0">
              <a:lnSpc>
                <a:spcPct val="115000"/>
              </a:lnSpc>
              <a:spcBef>
                <a:spcPts val="900"/>
              </a:spcBef>
              <a:spcAft>
                <a:spcPts val="9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4. Query and Co-occurrence Analysis: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800" dirty="0">
                <a:effectLst/>
                <a:latin typeface="Arial" panose="020B0604020202020204" pitchFamily="34" charset="0"/>
                <a:ea typeface="Times New Roman" panose="02020603050405020304" pitchFamily="18" charset="0"/>
                <a:cs typeface="Arial" panose="020B0604020202020204" pitchFamily="34" charset="0"/>
              </a:rPr>
              <a:t>Using the Query Tool, the researcher searches for co-occurring codes (e.g., </a:t>
            </a:r>
            <a:r>
              <a:rPr lang="en-GB" sz="1800" i="1" dirty="0">
                <a:effectLst/>
                <a:latin typeface="Arial" panose="020B0604020202020204" pitchFamily="34" charset="0"/>
                <a:ea typeface="Times New Roman" panose="02020603050405020304" pitchFamily="18" charset="0"/>
                <a:cs typeface="Arial" panose="020B0604020202020204" pitchFamily="34" charset="0"/>
              </a:rPr>
              <a:t>Agile Rituals Online</a:t>
            </a:r>
            <a:r>
              <a:rPr lang="en-GB" sz="1800" dirty="0">
                <a:effectLst/>
                <a:latin typeface="Arial" panose="020B0604020202020204" pitchFamily="34" charset="0"/>
                <a:ea typeface="Times New Roman" panose="02020603050405020304" pitchFamily="18" charset="0"/>
                <a:cs typeface="Arial" panose="020B0604020202020204" pitchFamily="34" charset="0"/>
              </a:rPr>
              <a:t> + </a:t>
            </a:r>
            <a:r>
              <a:rPr lang="en-GB" sz="1800" i="1" dirty="0">
                <a:effectLst/>
                <a:latin typeface="Arial" panose="020B0604020202020204" pitchFamily="34" charset="0"/>
                <a:ea typeface="Times New Roman" panose="02020603050405020304" pitchFamily="18" charset="0"/>
                <a:cs typeface="Arial" panose="020B0604020202020204" pitchFamily="34" charset="0"/>
              </a:rPr>
              <a:t>Communication Gaps</a:t>
            </a:r>
            <a:r>
              <a:rPr lang="en-GB" sz="1800" dirty="0">
                <a:effectLst/>
                <a:latin typeface="Arial" panose="020B0604020202020204" pitchFamily="34" charset="0"/>
                <a:ea typeface="Times New Roman" panose="02020603050405020304" pitchFamily="18" charset="0"/>
                <a:cs typeface="Arial" panose="020B0604020202020204" pitchFamily="34" charset="0"/>
              </a:rPr>
              <a:t>) to explore whether certain practices correlate with specific challenges.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800" dirty="0">
                <a:effectLst/>
                <a:latin typeface="Arial" panose="020B0604020202020204" pitchFamily="34" charset="0"/>
                <a:ea typeface="Times New Roman" panose="02020603050405020304" pitchFamily="18" charset="0"/>
                <a:cs typeface="Arial" panose="020B0604020202020204" pitchFamily="34" charset="0"/>
              </a:rPr>
              <a:t>For instance, the analysis might reveal that developers who rely more on asynchronous Agile rituals (e.g., chat-based retrospectives) also report greater difficulties with team cohesion and shared decision-making.</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457200">
              <a:lnSpc>
                <a:spcPct val="115000"/>
              </a:lnSpc>
              <a:spcBef>
                <a:spcPts val="900"/>
              </a:spcBef>
              <a:spcAft>
                <a:spcPts val="900"/>
              </a:spcAft>
            </a:pP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23835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2F9FB-F37D-F1F8-674D-E4E010335BC0}"/>
              </a:ext>
            </a:extLst>
          </p:cNvPr>
          <p:cNvSpPr>
            <a:spLocks noGrp="1"/>
          </p:cNvSpPr>
          <p:nvPr>
            <p:ph idx="1"/>
          </p:nvPr>
        </p:nvSpPr>
        <p:spPr>
          <a:xfrm>
            <a:off x="350196" y="452336"/>
            <a:ext cx="8229600" cy="5812277"/>
          </a:xfrm>
        </p:spPr>
        <p:txBody>
          <a:bodyPr>
            <a:normAutofit fontScale="92500" lnSpcReduction="10000"/>
          </a:bodyPr>
          <a:lstStyle/>
          <a:p>
            <a:pPr marL="0" lvl="0" indent="0">
              <a:lnSpc>
                <a:spcPct val="115000"/>
              </a:lnSpc>
              <a:spcBef>
                <a:spcPts val="900"/>
              </a:spcBef>
              <a:spcAft>
                <a:spcPts val="9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5. Visualisation: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800" dirty="0">
                <a:effectLst/>
                <a:latin typeface="Arial" panose="020B0604020202020204" pitchFamily="34" charset="0"/>
                <a:ea typeface="Times New Roman" panose="02020603050405020304" pitchFamily="18" charset="0"/>
                <a:cs typeface="Arial" panose="020B0604020202020204" pitchFamily="34" charset="0"/>
              </a:rPr>
              <a:t>The researcher creates networks in </a:t>
            </a:r>
            <a:r>
              <a:rPr lang="en-GB" sz="1800"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800" dirty="0">
                <a:effectLst/>
                <a:latin typeface="Arial" panose="020B0604020202020204" pitchFamily="34" charset="0"/>
                <a:ea typeface="Times New Roman" panose="02020603050405020304" pitchFamily="18" charset="0"/>
                <a:cs typeface="Arial" panose="020B0604020202020204" pitchFamily="34" charset="0"/>
              </a:rPr>
              <a:t> to visually represent the relationships between codes, memos, and quotations. One network map illustrates how Tool Usage is connected to both positive (e.g., flexibility) and negative (e.g., tech overload) experiences.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lvl="0" indent="0">
              <a:lnSpc>
                <a:spcPct val="115000"/>
              </a:lnSpc>
              <a:spcBef>
                <a:spcPts val="900"/>
              </a:spcBef>
              <a:spcAft>
                <a:spcPts val="9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6. Generating Outputs: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685800">
              <a:lnSpc>
                <a:spcPct val="115000"/>
              </a:lnSpc>
              <a:spcBef>
                <a:spcPts val="900"/>
              </a:spcBef>
              <a:spcAft>
                <a:spcPts val="900"/>
              </a:spcAft>
            </a:pPr>
            <a:r>
              <a:rPr lang="en-GB" sz="1800"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800" dirty="0">
                <a:effectLst/>
                <a:latin typeface="Arial" panose="020B0604020202020204" pitchFamily="34" charset="0"/>
                <a:ea typeface="Times New Roman" panose="02020603050405020304" pitchFamily="18" charset="0"/>
                <a:cs typeface="Arial" panose="020B0604020202020204" pitchFamily="34" charset="0"/>
              </a:rPr>
              <a:t> enables the export of code reports, annotated segments, and visual networks. These are used in the findings chapter to substantiate claims with direct quotes and diagrams that show the conceptual structure of the data.</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457200">
              <a:lnSpc>
                <a:spcPct val="115000"/>
              </a:lnSpc>
              <a:spcBef>
                <a:spcPts val="900"/>
              </a:spcBef>
              <a:spcAft>
                <a:spcPts val="900"/>
              </a:spcAft>
            </a:pPr>
            <a:r>
              <a:rPr lang="en-GB" sz="1800" dirty="0">
                <a:effectLst/>
                <a:latin typeface="Arial" panose="020B0604020202020204" pitchFamily="34" charset="0"/>
                <a:ea typeface="Times New Roman" panose="02020603050405020304" pitchFamily="18" charset="0"/>
                <a:cs typeface="Arial" panose="020B0604020202020204" pitchFamily="34" charset="0"/>
              </a:rPr>
              <a:t> </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457200">
              <a:lnSpc>
                <a:spcPct val="115000"/>
              </a:lnSpc>
              <a:spcBef>
                <a:spcPts val="900"/>
              </a:spcBef>
              <a:spcAft>
                <a:spcPts val="900"/>
              </a:spcAft>
            </a:pPr>
            <a:r>
              <a:rPr lang="en-GB" sz="1800" dirty="0" err="1">
                <a:effectLst/>
                <a:latin typeface="Arial" panose="020B0604020202020204" pitchFamily="34" charset="0"/>
                <a:ea typeface="Times New Roman" panose="02020603050405020304" pitchFamily="18" charset="0"/>
                <a:cs typeface="Arial" panose="020B0604020202020204" pitchFamily="34" charset="0"/>
              </a:rPr>
              <a:t>ATLAS.ti</a:t>
            </a:r>
            <a:r>
              <a:rPr lang="en-GB" sz="1800" dirty="0">
                <a:effectLst/>
                <a:latin typeface="Arial" panose="020B0604020202020204" pitchFamily="34" charset="0"/>
                <a:ea typeface="Times New Roman" panose="02020603050405020304" pitchFamily="18" charset="0"/>
                <a:cs typeface="Arial" panose="020B0604020202020204" pitchFamily="34" charset="0"/>
              </a:rPr>
              <a:t> supports structured, flexible, and deeply contextual qualitative analysis. In this ICT example, it allows the researcher to track complex experiences across developers, link abstract themes to grounded quotes, and visually model the data's meaning </a:t>
            </a:r>
            <a:r>
              <a:rPr lang="en-GB" sz="1800" dirty="0" err="1">
                <a:effectLst/>
                <a:latin typeface="Arial" panose="020B0604020202020204" pitchFamily="34" charset="0"/>
                <a:ea typeface="Times New Roman" panose="02020603050405020304" pitchFamily="18" charset="0"/>
                <a:cs typeface="Arial" panose="020B0604020202020204" pitchFamily="34" charset="0"/>
              </a:rPr>
              <a:t>structure..Top</a:t>
            </a:r>
            <a:r>
              <a:rPr lang="en-GB" sz="1800" dirty="0">
                <a:effectLst/>
                <a:latin typeface="Arial" panose="020B0604020202020204" pitchFamily="34" charset="0"/>
                <a:ea typeface="Times New Roman" panose="02020603050405020304" pitchFamily="18" charset="0"/>
                <a:cs typeface="Arial" panose="020B0604020202020204" pitchFamily="34" charset="0"/>
              </a:rPr>
              <a:t> of Form</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298864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 Ethical Considerations in Qualitative Analysis</a:t>
            </a:r>
          </a:p>
        </p:txBody>
      </p:sp>
      <p:sp>
        <p:nvSpPr>
          <p:cNvPr id="3" name="Content Placeholder 2"/>
          <p:cNvSpPr>
            <a:spLocks noGrp="1"/>
          </p:cNvSpPr>
          <p:nvPr>
            <p:ph idx="1"/>
          </p:nvPr>
        </p:nvSpPr>
        <p:spPr/>
        <p:txBody>
          <a:bodyPr/>
          <a:lstStyle/>
          <a:p>
            <a:pPr marL="342900" lvl="0" indent="-342900">
              <a:lnSpc>
                <a:spcPct val="115000"/>
              </a:lnSpc>
              <a:buFont typeface="+mj-lt"/>
              <a:buAutoNum type="arabicPeriod"/>
            </a:pPr>
            <a:r>
              <a:rPr lang="en-GB" sz="1800" dirty="0">
                <a:effectLst/>
                <a:latin typeface="Arial" panose="020B0604020202020204" pitchFamily="34" charset="0"/>
                <a:ea typeface="Times New Roman" panose="02020603050405020304" pitchFamily="18" charset="0"/>
                <a:cs typeface="Arial" panose="020B0604020202020204" pitchFamily="34" charset="0"/>
              </a:rPr>
              <a:t>Anonymise participants during analysis and reporting.</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Times New Roman" panose="02020603050405020304" pitchFamily="18" charset="0"/>
                <a:cs typeface="Arial" panose="020B0604020202020204" pitchFamily="34" charset="0"/>
              </a:rPr>
              <a:t>Interpret data fairly and reflexively, acknowledging your own biases (Creswell, 2009).</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mj-lt"/>
              <a:buAutoNum type="arabicPeriod"/>
            </a:pPr>
            <a:r>
              <a:rPr lang="en-GB" sz="1800" dirty="0">
                <a:effectLst/>
                <a:latin typeface="Arial" panose="020B0604020202020204" pitchFamily="34" charset="0"/>
                <a:ea typeface="Times New Roman" panose="02020603050405020304" pitchFamily="18" charset="0"/>
                <a:cs typeface="Arial" panose="020B0604020202020204" pitchFamily="34" charset="0"/>
              </a:rPr>
              <a:t>Use thick descriptions, detailed context, and quotations to preserve the richness of participants’ experiences.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n-GB" sz="1800" dirty="0">
                <a:effectLst/>
                <a:latin typeface="Arial" panose="020B0604020202020204" pitchFamily="34" charset="0"/>
                <a:ea typeface="Times New Roman" panose="02020603050405020304" pitchFamily="18" charset="0"/>
                <a:cs typeface="Arial" panose="020B0604020202020204" pitchFamily="34" charset="0"/>
              </a:rPr>
              <a:t>Example: When describing the experience of a student navigating proctored online exams, present quotes that show emotion, context, and meaning, rather than a generic summary..</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 Higher-Order Questions</a:t>
            </a:r>
          </a:p>
        </p:txBody>
      </p:sp>
      <p:sp>
        <p:nvSpPr>
          <p:cNvPr id="3" name="Content Placeholder 2"/>
          <p:cNvSpPr>
            <a:spLocks noGrp="1"/>
          </p:cNvSpPr>
          <p:nvPr>
            <p:ph idx="1"/>
          </p:nvPr>
        </p:nvSpPr>
        <p:spPr/>
        <p:txBody>
          <a:bodyPr/>
          <a:lstStyle/>
          <a:p>
            <a:pPr marL="0" lvl="0" indent="0">
              <a:buNone/>
              <a:tabLst>
                <a:tab pos="457200" algn="l"/>
              </a:tabLst>
            </a:pPr>
            <a:r>
              <a:rPr lang="en-GB" sz="1800" b="1" dirty="0">
                <a:effectLst/>
                <a:latin typeface="Arial" panose="020B0604020202020204" pitchFamily="34" charset="0"/>
                <a:ea typeface="Times New Roman" panose="02020603050405020304" pitchFamily="18" charset="0"/>
              </a:rPr>
              <a:t>1. How do thematic analysis and grounded theory differ in their treatment of qualitative data?</a:t>
            </a:r>
            <a:endParaRPr lang="en-GB" sz="1800" dirty="0">
              <a:effectLst/>
              <a:latin typeface="Times New Roman" panose="02020603050405020304" pitchFamily="18" charset="0"/>
              <a:ea typeface="Times New Roman" panose="02020603050405020304" pitchFamily="18" charset="0"/>
            </a:endParaRPr>
          </a:p>
          <a:p>
            <a:pPr marL="114300" indent="0">
              <a:buNone/>
            </a:pPr>
            <a:endParaRPr lang="en-GB" sz="1800" dirty="0">
              <a:effectLst/>
              <a:latin typeface="Times New Roman" panose="02020603050405020304" pitchFamily="18" charset="0"/>
              <a:ea typeface="Times New Roman" panose="02020603050405020304" pitchFamily="18" charset="0"/>
            </a:endParaRPr>
          </a:p>
          <a:p>
            <a:pPr marL="0" lvl="0" indent="0">
              <a:buNone/>
              <a:tabLst>
                <a:tab pos="457200" algn="l"/>
              </a:tabLst>
            </a:pPr>
            <a:r>
              <a:rPr lang="en-GB" sz="1800" b="1" dirty="0">
                <a:effectLst/>
                <a:latin typeface="Arial" panose="020B0604020202020204" pitchFamily="34" charset="0"/>
                <a:ea typeface="Times New Roman" panose="02020603050405020304" pitchFamily="18" charset="0"/>
              </a:rPr>
              <a:t>2. What are the benefits and limitations of using NVivo for qualitative data analysis in ICT research?</a:t>
            </a:r>
            <a:endParaRPr lang="en-GB" sz="1800" dirty="0">
              <a:effectLst/>
              <a:latin typeface="Times New Roman" panose="02020603050405020304" pitchFamily="18" charset="0"/>
              <a:ea typeface="Times New Roman" panose="02020603050405020304" pitchFamily="18" charset="0"/>
            </a:endParaRPr>
          </a:p>
          <a:p>
            <a:pPr marL="0" lvl="0" indent="0">
              <a:buNone/>
              <a:tabLst>
                <a:tab pos="457200" algn="l"/>
              </a:tabLst>
            </a:pPr>
            <a:endParaRPr lang="en-GB" sz="1800" dirty="0">
              <a:latin typeface="Times New Roman" panose="02020603050405020304" pitchFamily="18" charset="0"/>
              <a:ea typeface="Times New Roman" panose="02020603050405020304" pitchFamily="18" charset="0"/>
            </a:endParaRPr>
          </a:p>
          <a:p>
            <a:pPr marL="0" lvl="0" indent="0">
              <a:buNone/>
              <a:tabLst>
                <a:tab pos="457200" algn="l"/>
              </a:tabLst>
            </a:pPr>
            <a:r>
              <a:rPr lang="en-GB" sz="1800" b="1" dirty="0">
                <a:effectLst/>
                <a:latin typeface="Times New Roman" panose="02020603050405020304" pitchFamily="18" charset="0"/>
                <a:ea typeface="Times New Roman" panose="02020603050405020304" pitchFamily="18" charset="0"/>
              </a:rPr>
              <a:t>3. </a:t>
            </a:r>
            <a:r>
              <a:rPr lang="en-GB" sz="1800" b="1" dirty="0">
                <a:effectLst/>
                <a:latin typeface="Arial" panose="020B0604020202020204" pitchFamily="34" charset="0"/>
                <a:ea typeface="Times New Roman" panose="02020603050405020304" pitchFamily="18" charset="0"/>
              </a:rPr>
              <a:t>How would you design a coding framework for analysing interviews about ethical hacking in higher education?</a:t>
            </a:r>
            <a:endParaRPr lang="en-GB" sz="1800" dirty="0">
              <a:effectLst/>
              <a:latin typeface="Times New Roman" panose="02020603050405020304" pitchFamily="18" charset="0"/>
              <a:ea typeface="Times New Roman" panose="02020603050405020304" pitchFamily="18" charset="0"/>
            </a:endParaRPr>
          </a:p>
          <a:p>
            <a:pPr marL="0" indent="0">
              <a:buNone/>
            </a:pPr>
            <a:r>
              <a:rPr lang="en-GB" sz="1800" b="0" dirty="0">
                <a:effectLst/>
                <a:latin typeface="Arial" panose="020B0604020202020204" pitchFamily="34" charset="0"/>
                <a:ea typeface="Times New Roman" panose="02020603050405020304" pitchFamily="18" charset="0"/>
              </a:rPr>
              <a:t> </a:t>
            </a:r>
            <a:endParaRPr lang="en-GB" sz="1800" dirty="0">
              <a:latin typeface="Times New Roman" panose="02020603050405020304" pitchFamily="18" charset="0"/>
              <a:ea typeface="Times New Roman" panose="02020603050405020304" pitchFamily="18" charset="0"/>
            </a:endParaRPr>
          </a:p>
          <a:p>
            <a:pPr marL="0" indent="0">
              <a:buNone/>
            </a:pPr>
            <a:r>
              <a:rPr lang="en-GB" sz="1800" b="1" dirty="0">
                <a:effectLst/>
                <a:latin typeface="Times New Roman" panose="02020603050405020304" pitchFamily="18" charset="0"/>
                <a:ea typeface="Times New Roman" panose="02020603050405020304" pitchFamily="18" charset="0"/>
              </a:rPr>
              <a:t>4. </a:t>
            </a:r>
            <a:r>
              <a:rPr lang="en-GB" sz="1800" b="1" dirty="0">
                <a:effectLst/>
                <a:latin typeface="Arial" panose="020B0604020202020204" pitchFamily="34" charset="0"/>
                <a:ea typeface="Times New Roman" panose="02020603050405020304" pitchFamily="18" charset="0"/>
              </a:rPr>
              <a:t>How can qualitative data analysis maintain trustworthiness and avoid misrepresentation of participant views?</a:t>
            </a:r>
            <a:endParaRPr lang="en-GB" sz="1800" dirty="0">
              <a:effectLst/>
              <a:latin typeface="Times New Roman" panose="02020603050405020304" pitchFamily="18" charset="0"/>
              <a:ea typeface="Times New Roman" panose="02020603050405020304" pitchFamily="18" charset="0"/>
            </a:endParaRPr>
          </a:p>
          <a:p>
            <a:pPr marL="0" indent="0">
              <a:buNone/>
            </a:pPr>
            <a:r>
              <a:rPr lang="en-GB" sz="1800" b="0" dirty="0">
                <a:effectLst/>
                <a:latin typeface="Arial" panose="020B0604020202020204" pitchFamily="34" charset="0"/>
                <a:ea typeface="Times New Roman" panose="02020603050405020304" pitchFamily="18" charset="0"/>
              </a:rPr>
              <a:t> </a:t>
            </a:r>
            <a:endParaRPr lang="en-GB" sz="1800" dirty="0">
              <a:effectLst/>
              <a:latin typeface="Times New Roman" panose="02020603050405020304" pitchFamily="18" charset="0"/>
              <a:ea typeface="Times New Roman" panose="02020603050405020304" pitchFamily="18" charset="0"/>
            </a:endParaRPr>
          </a:p>
          <a:p>
            <a:pPr marL="0" lvl="0" indent="0">
              <a:buNone/>
              <a:tabLst>
                <a:tab pos="457200" algn="l"/>
              </a:tabLst>
            </a:pPr>
            <a:r>
              <a:rPr lang="en-GB" sz="1800" b="1" dirty="0">
                <a:effectLst/>
                <a:latin typeface="Arial" panose="020B0604020202020204" pitchFamily="34" charset="0"/>
                <a:ea typeface="Times New Roman" panose="02020603050405020304" pitchFamily="18" charset="0"/>
              </a:rPr>
              <a:t>5. Compare and contrast content analysis and discourse analysis in the context of analysing software user reviews.?</a:t>
            </a:r>
            <a:endParaRPr lang="en-GB" sz="1800" dirty="0">
              <a:effectLst/>
              <a:latin typeface="Times New Roman" panose="02020603050405020304" pitchFamily="18" charset="0"/>
              <a:ea typeface="Times New Roman" panose="02020603050405020304" pitchFamily="18" charset="0"/>
            </a:endParaRPr>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 Lower-Order Questions</a:t>
            </a:r>
          </a:p>
        </p:txBody>
      </p:sp>
      <p:sp>
        <p:nvSpPr>
          <p:cNvPr id="3" name="Content Placeholder 2"/>
          <p:cNvSpPr>
            <a:spLocks noGrp="1"/>
          </p:cNvSpPr>
          <p:nvPr>
            <p:ph idx="1"/>
          </p:nvPr>
        </p:nvSpPr>
        <p:spPr/>
        <p:txBody>
          <a:bodyPr>
            <a:normAutofit/>
          </a:bodyPr>
          <a:lstStyle/>
          <a:p>
            <a:pPr marL="342900" lvl="0" indent="-342900">
              <a:buFont typeface="+mj-lt"/>
              <a:buAutoNum type="arabicPeriod"/>
            </a:pPr>
            <a:r>
              <a:rPr lang="en-GB" sz="1800" dirty="0">
                <a:solidFill>
                  <a:srgbClr val="000000"/>
                </a:solidFill>
                <a:effectLst/>
                <a:latin typeface="Arial" panose="020B0604020202020204" pitchFamily="34" charset="0"/>
                <a:ea typeface="MS Mincho" panose="02020609040205080304" pitchFamily="49" charset="-128"/>
              </a:rPr>
              <a:t>What is the first step in thematic analysis?</a:t>
            </a:r>
          </a:p>
          <a:p>
            <a:pPr marL="0" indent="0">
              <a:buNone/>
            </a:pPr>
            <a:r>
              <a:rPr lang="en-GB" sz="1800" dirty="0">
                <a:solidFill>
                  <a:srgbClr val="000000"/>
                </a:solidFill>
                <a:effectLst/>
                <a:latin typeface="Arial" panose="020B0604020202020204" pitchFamily="34" charset="0"/>
                <a:ea typeface="MS Mincho" panose="02020609040205080304" pitchFamily="49" charset="-128"/>
              </a:rPr>
              <a:t> </a:t>
            </a:r>
          </a:p>
          <a:p>
            <a:pPr marL="0" indent="0">
              <a:buNone/>
            </a:pPr>
            <a:r>
              <a:rPr lang="en-GB" sz="1800" dirty="0">
                <a:solidFill>
                  <a:srgbClr val="000000"/>
                </a:solidFill>
                <a:effectLst/>
                <a:latin typeface="Arial" panose="020B0604020202020204" pitchFamily="34" charset="0"/>
                <a:ea typeface="MS Mincho" panose="02020609040205080304" pitchFamily="49" charset="-128"/>
              </a:rPr>
              <a:t>A. Creating themes</a:t>
            </a:r>
          </a:p>
          <a:p>
            <a:pPr marL="0" indent="0">
              <a:buNone/>
            </a:pPr>
            <a:r>
              <a:rPr lang="en-GB" sz="1800" dirty="0">
                <a:solidFill>
                  <a:srgbClr val="000000"/>
                </a:solidFill>
                <a:effectLst/>
                <a:latin typeface="Arial" panose="020B0604020202020204" pitchFamily="34" charset="0"/>
                <a:ea typeface="MS Mincho" panose="02020609040205080304" pitchFamily="49" charset="-128"/>
              </a:rPr>
              <a:t>B. Coding</a:t>
            </a:r>
          </a:p>
          <a:p>
            <a:pPr marL="0" indent="0">
              <a:buNone/>
            </a:pPr>
            <a:r>
              <a:rPr lang="en-GB" sz="1800" dirty="0">
                <a:solidFill>
                  <a:srgbClr val="000000"/>
                </a:solidFill>
                <a:effectLst/>
                <a:latin typeface="Arial" panose="020B0604020202020204" pitchFamily="34" charset="0"/>
                <a:ea typeface="MS Mincho" panose="02020609040205080304" pitchFamily="49" charset="-128"/>
              </a:rPr>
              <a:t>C. Familiarising with the dat</a:t>
            </a:r>
            <a:r>
              <a:rPr lang="en-GB" sz="1800" b="1" dirty="0">
                <a:solidFill>
                  <a:srgbClr val="000000"/>
                </a:solidFill>
                <a:effectLst/>
                <a:latin typeface="Arial" panose="020B0604020202020204" pitchFamily="34" charset="0"/>
                <a:ea typeface="MS Mincho" panose="02020609040205080304" pitchFamily="49" charset="-128"/>
              </a:rPr>
              <a:t>a</a:t>
            </a:r>
            <a:r>
              <a:rPr lang="en-GB" sz="1800" dirty="0">
                <a:solidFill>
                  <a:srgbClr val="000000"/>
                </a:solidFill>
                <a:effectLst/>
                <a:latin typeface="Arial" panose="020B0604020202020204" pitchFamily="34" charset="0"/>
                <a:ea typeface="MS Mincho" panose="02020609040205080304" pitchFamily="49" charset="-128"/>
              </a:rPr>
              <a:t> </a:t>
            </a:r>
          </a:p>
          <a:p>
            <a:pPr marL="0" indent="0">
              <a:buNone/>
            </a:pPr>
            <a:r>
              <a:rPr lang="en-GB" sz="1800" dirty="0">
                <a:solidFill>
                  <a:srgbClr val="000000"/>
                </a:solidFill>
                <a:effectLst/>
                <a:latin typeface="Arial" panose="020B0604020202020204" pitchFamily="34" charset="0"/>
                <a:ea typeface="MS Mincho" panose="02020609040205080304" pitchFamily="49" charset="-128"/>
              </a:rPr>
              <a:t>D. Writing the report</a:t>
            </a:r>
          </a:p>
          <a:p>
            <a:pPr marL="0" indent="0">
              <a:buNone/>
            </a:pPr>
            <a:r>
              <a:rPr lang="en-GB" sz="1800" dirty="0">
                <a:solidFill>
                  <a:srgbClr val="000000"/>
                </a:solidFill>
                <a:effectLst/>
                <a:latin typeface="Arial" panose="020B0604020202020204" pitchFamily="34" charset="0"/>
                <a:ea typeface="MS Mincho" panose="02020609040205080304" pitchFamily="49" charset="-128"/>
              </a:rPr>
              <a:t> </a:t>
            </a:r>
          </a:p>
          <a:p>
            <a:pPr marL="0" indent="0">
              <a:buNone/>
            </a:pPr>
            <a:r>
              <a:rPr lang="en-GB" sz="1800" dirty="0">
                <a:solidFill>
                  <a:srgbClr val="000000"/>
                </a:solidFill>
                <a:effectLst/>
                <a:latin typeface="Arial" panose="020B0604020202020204" pitchFamily="34" charset="0"/>
                <a:ea typeface="MS Mincho" panose="02020609040205080304" pitchFamily="49" charset="-128"/>
              </a:rPr>
              <a:t>2. NVivo is best used for:</a:t>
            </a:r>
          </a:p>
          <a:p>
            <a:pPr marL="0" indent="0">
              <a:buNone/>
            </a:pPr>
            <a:r>
              <a:rPr lang="en-GB" sz="1800" dirty="0">
                <a:solidFill>
                  <a:srgbClr val="000000"/>
                </a:solidFill>
                <a:effectLst/>
                <a:latin typeface="Arial" panose="020B0604020202020204" pitchFamily="34" charset="0"/>
                <a:ea typeface="MS Mincho" panose="02020609040205080304" pitchFamily="49" charset="-128"/>
              </a:rPr>
              <a:t>A. Storing and coding qualitative dat</a:t>
            </a:r>
            <a:r>
              <a:rPr lang="en-GB" sz="1800" b="1" dirty="0">
                <a:solidFill>
                  <a:srgbClr val="000000"/>
                </a:solidFill>
                <a:effectLst/>
                <a:latin typeface="Arial" panose="020B0604020202020204" pitchFamily="34" charset="0"/>
                <a:ea typeface="MS Mincho" panose="02020609040205080304" pitchFamily="49" charset="-128"/>
              </a:rPr>
              <a:t>a</a:t>
            </a:r>
            <a:endParaRPr lang="en-GB" sz="1800" dirty="0">
              <a:solidFill>
                <a:srgbClr val="000000"/>
              </a:solidFill>
              <a:effectLst/>
              <a:latin typeface="Arial" panose="020B0604020202020204" pitchFamily="34" charset="0"/>
              <a:ea typeface="MS Mincho" panose="02020609040205080304" pitchFamily="49" charset="-128"/>
            </a:endParaRPr>
          </a:p>
          <a:p>
            <a:pPr marL="0" indent="0">
              <a:buNone/>
            </a:pPr>
            <a:r>
              <a:rPr lang="en-GB" sz="1800" dirty="0">
                <a:solidFill>
                  <a:srgbClr val="000000"/>
                </a:solidFill>
                <a:effectLst/>
                <a:latin typeface="Arial" panose="020B0604020202020204" pitchFamily="34" charset="0"/>
                <a:ea typeface="MS Mincho" panose="02020609040205080304" pitchFamily="49" charset="-128"/>
              </a:rPr>
              <a:t>B. Designing questionnaires</a:t>
            </a:r>
          </a:p>
          <a:p>
            <a:pPr marL="0" indent="0">
              <a:buNone/>
            </a:pPr>
            <a:r>
              <a:rPr lang="en-GB" sz="1800" dirty="0">
                <a:solidFill>
                  <a:srgbClr val="000000"/>
                </a:solidFill>
                <a:effectLst/>
                <a:latin typeface="Arial" panose="020B0604020202020204" pitchFamily="34" charset="0"/>
                <a:ea typeface="MS Mincho" panose="02020609040205080304" pitchFamily="49" charset="-128"/>
              </a:rPr>
              <a:t>C. Quantitative statistical testing </a:t>
            </a:r>
          </a:p>
          <a:p>
            <a:pPr marL="0" indent="0">
              <a:buNone/>
            </a:pPr>
            <a:r>
              <a:rPr lang="en-GB" sz="1800" dirty="0">
                <a:solidFill>
                  <a:srgbClr val="000000"/>
                </a:solidFill>
                <a:effectLst/>
                <a:latin typeface="Arial" panose="020B0604020202020204" pitchFamily="34" charset="0"/>
                <a:ea typeface="MS Mincho" panose="02020609040205080304" pitchFamily="49" charset="-128"/>
              </a:rPr>
              <a:t>D. Running online surveys</a:t>
            </a:r>
          </a:p>
          <a:p>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0B43A-4147-EE51-1896-877B4E463964}"/>
              </a:ext>
            </a:extLst>
          </p:cNvPr>
          <p:cNvSpPr>
            <a:spLocks noGrp="1"/>
          </p:cNvSpPr>
          <p:nvPr>
            <p:ph idx="1"/>
          </p:nvPr>
        </p:nvSpPr>
        <p:spPr>
          <a:xfrm>
            <a:off x="457200" y="350196"/>
            <a:ext cx="8229600" cy="5775967"/>
          </a:xfrm>
        </p:spPr>
        <p:txBody>
          <a:bodyPr>
            <a:normAutofit fontScale="92500" lnSpcReduction="10000"/>
          </a:bodyPr>
          <a:lstStyle/>
          <a:p>
            <a:pPr marL="0" lvl="0" indent="0">
              <a:buNone/>
            </a:pPr>
            <a:r>
              <a:rPr lang="en-GB" sz="1800" dirty="0">
                <a:solidFill>
                  <a:srgbClr val="000000"/>
                </a:solidFill>
                <a:effectLst/>
                <a:latin typeface="Arial" panose="020B0604020202020204" pitchFamily="34" charset="0"/>
                <a:ea typeface="MS Mincho" panose="02020609040205080304" pitchFamily="49" charset="-128"/>
              </a:rPr>
              <a:t>3. Which of the following is not a typical qualitative analysis method?</a:t>
            </a:r>
          </a:p>
          <a:p>
            <a:pPr marL="0" indent="0">
              <a:buNone/>
            </a:pPr>
            <a:r>
              <a:rPr lang="en-GB" sz="1800" dirty="0">
                <a:solidFill>
                  <a:srgbClr val="000000"/>
                </a:solidFill>
                <a:effectLst/>
                <a:latin typeface="Arial" panose="020B0604020202020204" pitchFamily="34" charset="0"/>
                <a:ea typeface="MS Mincho" panose="02020609040205080304" pitchFamily="49" charset="-128"/>
              </a:rPr>
              <a:t>A. Grounded theory</a:t>
            </a:r>
          </a:p>
          <a:p>
            <a:pPr marL="0" indent="0">
              <a:buNone/>
            </a:pPr>
            <a:r>
              <a:rPr lang="en-GB" sz="1800" dirty="0">
                <a:solidFill>
                  <a:srgbClr val="000000"/>
                </a:solidFill>
                <a:effectLst/>
                <a:latin typeface="Arial" panose="020B0604020202020204" pitchFamily="34" charset="0"/>
                <a:ea typeface="MS Mincho" panose="02020609040205080304" pitchFamily="49" charset="-128"/>
              </a:rPr>
              <a:t>B. Regression analysi</a:t>
            </a:r>
            <a:r>
              <a:rPr lang="en-GB" sz="1800" b="1" dirty="0">
                <a:solidFill>
                  <a:srgbClr val="000000"/>
                </a:solidFill>
                <a:effectLst/>
                <a:latin typeface="Arial" panose="020B0604020202020204" pitchFamily="34" charset="0"/>
                <a:ea typeface="MS Mincho" panose="02020609040205080304" pitchFamily="49" charset="-128"/>
              </a:rPr>
              <a:t>s</a:t>
            </a:r>
            <a:endParaRPr lang="en-GB" sz="1800" dirty="0">
              <a:solidFill>
                <a:srgbClr val="000000"/>
              </a:solidFill>
              <a:effectLst/>
              <a:latin typeface="Arial" panose="020B0604020202020204" pitchFamily="34" charset="0"/>
              <a:ea typeface="MS Mincho" panose="02020609040205080304" pitchFamily="49" charset="-128"/>
            </a:endParaRPr>
          </a:p>
          <a:p>
            <a:pPr marL="0" indent="0">
              <a:buNone/>
            </a:pPr>
            <a:r>
              <a:rPr lang="en-GB" sz="1800" dirty="0">
                <a:solidFill>
                  <a:srgbClr val="000000"/>
                </a:solidFill>
                <a:effectLst/>
                <a:latin typeface="Arial" panose="020B0604020202020204" pitchFamily="34" charset="0"/>
                <a:ea typeface="MS Mincho" panose="02020609040205080304" pitchFamily="49" charset="-128"/>
              </a:rPr>
              <a:t>C. Discourse analysis</a:t>
            </a:r>
          </a:p>
          <a:p>
            <a:pPr marL="0" indent="0">
              <a:buNone/>
            </a:pPr>
            <a:r>
              <a:rPr lang="en-GB" sz="1800" dirty="0">
                <a:solidFill>
                  <a:srgbClr val="000000"/>
                </a:solidFill>
                <a:effectLst/>
                <a:latin typeface="Arial" panose="020B0604020202020204" pitchFamily="34" charset="0"/>
                <a:ea typeface="MS Mincho" panose="02020609040205080304" pitchFamily="49" charset="-128"/>
              </a:rPr>
              <a:t>D. Content analysis</a:t>
            </a:r>
          </a:p>
          <a:p>
            <a:pPr marL="0" indent="0">
              <a:buNone/>
            </a:pPr>
            <a:r>
              <a:rPr lang="en-GB" sz="1800" dirty="0">
                <a:solidFill>
                  <a:srgbClr val="000000"/>
                </a:solidFill>
                <a:effectLst/>
                <a:latin typeface="Arial" panose="020B0604020202020204" pitchFamily="34" charset="0"/>
                <a:ea typeface="MS Mincho" panose="02020609040205080304" pitchFamily="49" charset="-128"/>
              </a:rPr>
              <a:t> </a:t>
            </a:r>
          </a:p>
          <a:p>
            <a:pPr marL="0" lvl="0" indent="0">
              <a:buNone/>
            </a:pPr>
            <a:r>
              <a:rPr lang="en-GB" sz="1800" dirty="0">
                <a:solidFill>
                  <a:srgbClr val="000000"/>
                </a:solidFill>
                <a:effectLst/>
                <a:latin typeface="Arial" panose="020B0604020202020204" pitchFamily="34" charset="0"/>
                <a:ea typeface="MS Mincho" panose="02020609040205080304" pitchFamily="49" charset="-128"/>
              </a:rPr>
              <a:t>4. The process of grouping related codes into broader concepts is called:</a:t>
            </a:r>
          </a:p>
          <a:p>
            <a:pPr marL="0" indent="0">
              <a:buNone/>
            </a:pPr>
            <a:endParaRPr lang="en-GB" sz="1800" dirty="0">
              <a:solidFill>
                <a:srgbClr val="000000"/>
              </a:solidFill>
              <a:latin typeface="Arial" panose="020B0604020202020204" pitchFamily="34" charset="0"/>
              <a:ea typeface="MS Mincho" panose="02020609040205080304" pitchFamily="49" charset="-128"/>
            </a:endParaRPr>
          </a:p>
          <a:p>
            <a:pPr marL="0" indent="0">
              <a:buNone/>
            </a:pPr>
            <a:r>
              <a:rPr lang="en-GB" sz="1800" dirty="0">
                <a:solidFill>
                  <a:srgbClr val="000000"/>
                </a:solidFill>
                <a:effectLst/>
                <a:latin typeface="Arial" panose="020B0604020202020204" pitchFamily="34" charset="0"/>
                <a:ea typeface="MS Mincho" panose="02020609040205080304" pitchFamily="49" charset="-128"/>
              </a:rPr>
              <a:t>A. Transcribing</a:t>
            </a:r>
          </a:p>
          <a:p>
            <a:pPr marL="0" indent="0">
              <a:buNone/>
            </a:pPr>
            <a:r>
              <a:rPr lang="en-GB" sz="1800" dirty="0">
                <a:solidFill>
                  <a:srgbClr val="000000"/>
                </a:solidFill>
                <a:effectLst/>
                <a:latin typeface="Arial" panose="020B0604020202020204" pitchFamily="34" charset="0"/>
                <a:ea typeface="MS Mincho" panose="02020609040205080304" pitchFamily="49" charset="-128"/>
              </a:rPr>
              <a:t>B. Narration</a:t>
            </a:r>
          </a:p>
          <a:p>
            <a:pPr marL="0" indent="0">
              <a:buNone/>
            </a:pPr>
            <a:r>
              <a:rPr lang="en-GB" sz="1800" dirty="0">
                <a:solidFill>
                  <a:srgbClr val="000000"/>
                </a:solidFill>
                <a:effectLst/>
                <a:latin typeface="Arial" panose="020B0604020202020204" pitchFamily="34" charset="0"/>
                <a:ea typeface="MS Mincho" panose="02020609040205080304" pitchFamily="49" charset="-128"/>
              </a:rPr>
              <a:t>C. Sampling </a:t>
            </a:r>
          </a:p>
          <a:p>
            <a:pPr marL="0" indent="0">
              <a:buNone/>
            </a:pPr>
            <a:r>
              <a:rPr lang="en-GB" sz="1800" dirty="0">
                <a:solidFill>
                  <a:srgbClr val="000000"/>
                </a:solidFill>
                <a:effectLst/>
                <a:latin typeface="Arial" panose="020B0604020202020204" pitchFamily="34" charset="0"/>
                <a:ea typeface="MS Mincho" panose="02020609040205080304" pitchFamily="49" charset="-128"/>
              </a:rPr>
              <a:t>D. Categorisatio</a:t>
            </a:r>
            <a:r>
              <a:rPr lang="en-GB" sz="1800" b="1" dirty="0">
                <a:solidFill>
                  <a:srgbClr val="000000"/>
                </a:solidFill>
                <a:effectLst/>
                <a:latin typeface="Arial" panose="020B0604020202020204" pitchFamily="34" charset="0"/>
                <a:ea typeface="MS Mincho" panose="02020609040205080304" pitchFamily="49" charset="-128"/>
              </a:rPr>
              <a:t>n</a:t>
            </a:r>
            <a:endParaRPr lang="en-GB" sz="1800" dirty="0">
              <a:solidFill>
                <a:srgbClr val="000000"/>
              </a:solidFill>
              <a:effectLst/>
              <a:latin typeface="Arial" panose="020B0604020202020204" pitchFamily="34" charset="0"/>
              <a:ea typeface="MS Mincho" panose="02020609040205080304" pitchFamily="49" charset="-128"/>
            </a:endParaRPr>
          </a:p>
          <a:p>
            <a:pPr marL="0" indent="0">
              <a:buNone/>
            </a:pPr>
            <a:endParaRPr lang="en-GB" sz="1800" dirty="0">
              <a:solidFill>
                <a:srgbClr val="000000"/>
              </a:solidFill>
              <a:latin typeface="Arial" panose="020B0604020202020204" pitchFamily="34" charset="0"/>
              <a:ea typeface="MS Mincho" panose="02020609040205080304" pitchFamily="49" charset="-128"/>
            </a:endParaRPr>
          </a:p>
          <a:p>
            <a:pPr marL="0" indent="0">
              <a:buNone/>
            </a:pPr>
            <a:r>
              <a:rPr lang="en-GB" sz="1800" dirty="0">
                <a:solidFill>
                  <a:srgbClr val="000000"/>
                </a:solidFill>
                <a:effectLst/>
                <a:latin typeface="Arial" panose="020B0604020202020204" pitchFamily="34" charset="0"/>
                <a:ea typeface="MS Mincho" panose="02020609040205080304" pitchFamily="49" charset="-128"/>
              </a:rPr>
              <a:t>5. What does “thick description” aim to do in qualitative reporting?</a:t>
            </a:r>
          </a:p>
          <a:p>
            <a:pPr marL="0" indent="0">
              <a:buNone/>
            </a:pPr>
            <a:endParaRPr lang="en-GB" sz="1800" dirty="0">
              <a:solidFill>
                <a:srgbClr val="000000"/>
              </a:solidFill>
              <a:latin typeface="Arial" panose="020B0604020202020204" pitchFamily="34" charset="0"/>
              <a:ea typeface="MS Mincho" panose="02020609040205080304" pitchFamily="49" charset="-128"/>
            </a:endParaRPr>
          </a:p>
          <a:p>
            <a:pPr marL="0" indent="0">
              <a:buNone/>
            </a:pPr>
            <a:r>
              <a:rPr lang="en-GB" sz="1800" dirty="0">
                <a:solidFill>
                  <a:srgbClr val="000000"/>
                </a:solidFill>
                <a:effectLst/>
                <a:latin typeface="Arial" panose="020B0604020202020204" pitchFamily="34" charset="0"/>
                <a:ea typeface="MS Mincho" panose="02020609040205080304" pitchFamily="49" charset="-128"/>
              </a:rPr>
              <a:t>A. Inflate participant responses</a:t>
            </a:r>
          </a:p>
          <a:p>
            <a:pPr marL="0" indent="0">
              <a:buNone/>
            </a:pPr>
            <a:r>
              <a:rPr lang="en-GB" sz="1800" dirty="0">
                <a:solidFill>
                  <a:srgbClr val="000000"/>
                </a:solidFill>
                <a:effectLst/>
                <a:latin typeface="Arial" panose="020B0604020202020204" pitchFamily="34" charset="0"/>
                <a:ea typeface="MS Mincho" panose="02020609040205080304" pitchFamily="49" charset="-128"/>
              </a:rPr>
              <a:t>B. Add statistical interpretation</a:t>
            </a:r>
          </a:p>
          <a:p>
            <a:pPr marL="0" indent="0">
              <a:buNone/>
            </a:pPr>
            <a:r>
              <a:rPr lang="en-GB" sz="1800" dirty="0">
                <a:solidFill>
                  <a:srgbClr val="000000"/>
                </a:solidFill>
                <a:effectLst/>
                <a:latin typeface="Arial" panose="020B0604020202020204" pitchFamily="34" charset="0"/>
                <a:ea typeface="MS Mincho" panose="02020609040205080304" pitchFamily="49" charset="-128"/>
              </a:rPr>
              <a:t>C. Provide rich, contextual detai</a:t>
            </a:r>
            <a:r>
              <a:rPr lang="en-GB" sz="1800" b="1" dirty="0">
                <a:solidFill>
                  <a:srgbClr val="000000"/>
                </a:solidFill>
                <a:effectLst/>
                <a:latin typeface="Arial" panose="020B0604020202020204" pitchFamily="34" charset="0"/>
                <a:ea typeface="MS Mincho" panose="02020609040205080304" pitchFamily="49" charset="-128"/>
              </a:rPr>
              <a:t>l</a:t>
            </a:r>
            <a:endParaRPr lang="en-GB" sz="1800" dirty="0">
              <a:solidFill>
                <a:srgbClr val="000000"/>
              </a:solidFill>
              <a:effectLst/>
              <a:latin typeface="Arial" panose="020B0604020202020204" pitchFamily="34" charset="0"/>
              <a:ea typeface="MS Mincho" panose="02020609040205080304" pitchFamily="49" charset="-128"/>
            </a:endParaRPr>
          </a:p>
          <a:p>
            <a:pPr marL="0" indent="0">
              <a:buNone/>
            </a:pPr>
            <a:r>
              <a:rPr lang="en-GB" sz="1800" dirty="0">
                <a:solidFill>
                  <a:srgbClr val="000000"/>
                </a:solidFill>
                <a:effectLst/>
                <a:latin typeface="Arial" panose="020B0604020202020204" pitchFamily="34" charset="0"/>
                <a:ea typeface="MS Mincho" panose="02020609040205080304" pitchFamily="49" charset="-128"/>
              </a:rPr>
              <a:t>D. Summarise findings briefly</a:t>
            </a:r>
          </a:p>
          <a:p>
            <a:pPr marL="0" indent="0">
              <a:buNone/>
            </a:pPr>
            <a:r>
              <a:rPr lang="en-GB" sz="1800" dirty="0">
                <a:solidFill>
                  <a:srgbClr val="000000"/>
                </a:solidFill>
                <a:effectLst/>
                <a:latin typeface="Arial" panose="020B0604020202020204" pitchFamily="34" charset="0"/>
                <a:ea typeface="MS Mincho" panose="02020609040205080304" pitchFamily="49" charset="-128"/>
              </a:rPr>
              <a:t> </a:t>
            </a:r>
          </a:p>
          <a:p>
            <a:endParaRPr lang="en-GB" dirty="0"/>
          </a:p>
        </p:txBody>
      </p:sp>
    </p:spTree>
    <p:extLst>
      <p:ext uri="{BB962C8B-B14F-4D97-AF65-F5344CB8AC3E}">
        <p14:creationId xmlns:p14="http://schemas.microsoft.com/office/powerpoint/2010/main" val="2416539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TotalTime>
  <Words>1402</Words>
  <Application>Microsoft Office PowerPoint</Application>
  <PresentationFormat>On-screen Show (4:3)</PresentationFormat>
  <Paragraphs>114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Symbol</vt:lpstr>
      <vt:lpstr>Times New Roman</vt:lpstr>
      <vt:lpstr>Office Theme</vt:lpstr>
      <vt:lpstr>Semester Two - Week 6</vt:lpstr>
      <vt:lpstr>A. Introduction</vt:lpstr>
      <vt:lpstr>B. Characteristics of Qualitative Data</vt:lpstr>
      <vt:lpstr>C. Thematic Analysis and Coding</vt:lpstr>
      <vt:lpstr>D. Methods of Qualitative Data Analysis</vt:lpstr>
      <vt:lpstr>PowerPoint Presentation</vt:lpstr>
      <vt:lpstr>E. Manual vs Software-Assisted Analysis</vt:lpstr>
      <vt:lpstr>PowerPoint Presentation</vt:lpstr>
      <vt:lpstr>PowerPoint Presentation</vt:lpstr>
      <vt:lpstr>PowerPoint Presentation</vt:lpstr>
      <vt:lpstr>F. Ethical Considerations in Qualitative Analysis</vt:lpstr>
      <vt:lpstr>G. Higher-Order Questions</vt:lpstr>
      <vt:lpstr>H. Lower-Order Questions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Vhutshilo Macheque</cp:lastModifiedBy>
  <cp:revision>2</cp:revision>
  <dcterms:created xsi:type="dcterms:W3CDTF">2013-01-27T09:14:16Z</dcterms:created>
  <dcterms:modified xsi:type="dcterms:W3CDTF">2025-08-18T16:45:50Z</dcterms:modified>
  <cp:category/>
</cp:coreProperties>
</file>