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57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Research Methodology 4 (2025)</a:t>
            </a:r>
          </a:p>
          <a:p>
            <a:r>
              <a:t>Week 5</a:t>
            </a:r>
          </a:p>
        </p:txBody>
      </p:sp>
      <p:sp>
        <p:nvSpPr>
          <p:cNvPr id="3" name="Subtitle 2"/>
          <p:cNvSpPr>
            <a:spLocks noGrp="1"/>
          </p:cNvSpPr>
          <p:nvPr>
            <p:ph type="subTitle" idx="1"/>
          </p:nvPr>
        </p:nvSpPr>
        <p:spPr/>
        <p:txBody>
          <a:bodyPr/>
          <a:lstStyle/>
          <a:p>
            <a:r>
              <a:t>Qualitative Data Analysis – Descriptive and Inferential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C94B6-88BA-2A19-A275-0DCE1A08E410}"/>
              </a:ext>
            </a:extLst>
          </p:cNvPr>
          <p:cNvSpPr>
            <a:spLocks noGrp="1"/>
          </p:cNvSpPr>
          <p:nvPr>
            <p:ph type="title"/>
          </p:nvPr>
        </p:nvSpPr>
        <p:spPr/>
        <p:txBody>
          <a:bodyPr/>
          <a:lstStyle/>
          <a:p>
            <a:r>
              <a:rPr lang="en-US" sz="1800" b="1" dirty="0">
                <a:solidFill>
                  <a:srgbClr val="000000"/>
                </a:solidFill>
                <a:effectLst/>
                <a:latin typeface="Arial" panose="020B0604020202020204" pitchFamily="34" charset="0"/>
                <a:ea typeface="MS Mincho" panose="02020609040205080304" pitchFamily="49" charset="-128"/>
              </a:rPr>
              <a:t>Qualitative Data Analysis – Descriptive and Inferential Statistics</a:t>
            </a:r>
            <a:br>
              <a:rPr lang="en-US" sz="1800" b="1" dirty="0">
                <a:solidFill>
                  <a:srgbClr val="000000"/>
                </a:solidFill>
                <a:effectLst/>
                <a:latin typeface="Arial" panose="020B0604020202020204" pitchFamily="34" charset="0"/>
                <a:ea typeface="MS Mincho" panose="02020609040205080304" pitchFamily="49" charset="-128"/>
              </a:rPr>
            </a:br>
            <a:endParaRPr lang="en-GB" dirty="0"/>
          </a:p>
        </p:txBody>
      </p:sp>
      <p:sp>
        <p:nvSpPr>
          <p:cNvPr id="3" name="Content Placeholder 2">
            <a:extLst>
              <a:ext uri="{FF2B5EF4-FFF2-40B4-BE49-F238E27FC236}">
                <a16:creationId xmlns:a16="http://schemas.microsoft.com/office/drawing/2014/main" id="{48B64CC0-6CDE-1BDD-838C-A8B9FE11767D}"/>
              </a:ext>
            </a:extLst>
          </p:cNvPr>
          <p:cNvSpPr>
            <a:spLocks noGrp="1"/>
          </p:cNvSpPr>
          <p:nvPr>
            <p:ph idx="1"/>
          </p:nvPr>
        </p:nvSpPr>
        <p:spPr>
          <a:xfrm>
            <a:off x="389106" y="1094361"/>
            <a:ext cx="8229600" cy="5082703"/>
          </a:xfrm>
        </p:spPr>
        <p:txBody>
          <a:bodyPr>
            <a:normAutofit/>
          </a:bodyPr>
          <a:lstStyle/>
          <a:p>
            <a:pPr algn="just"/>
            <a:endParaRPr lang="en-US"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algn="just"/>
            <a:r>
              <a:rPr lang="en-US"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This week's focus is on understanding the fundamental principles of quantitative data analysis, including both descriptive and inferential statistics. Quantitative analysis involves the use of numerical data to identify patterns, make predictions, and test hypotheses. Researchers, particularly in Information Technology (IT), often rely on these statistical tools to </a:t>
            </a:r>
            <a:r>
              <a:rPr lang="en-US" sz="1800" dirty="0" err="1">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analyse</a:t>
            </a:r>
            <a:r>
              <a:rPr lang="en-US"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user </a:t>
            </a:r>
            <a:r>
              <a:rPr lang="en-US" sz="1800" dirty="0" err="1">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behaviour</a:t>
            </a:r>
            <a:r>
              <a:rPr lang="en-US"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system performance, and software testing results.</a:t>
            </a:r>
          </a:p>
          <a:p>
            <a:pPr algn="just"/>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r>
              <a:rPr lang="en-US"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Statistical measures are highly effective in conveying findings in a clear and concise way. Their use is desirable in certain situations and essential in others; however, a valid study can be conducted without relying on any statistical measures. There are many statistical measures, ranging from simple to very complex. On one end of the spectrum, you have basic descriptive measures such as mean, mode, and median, while on the other end, there are inferential statistical measures like analysis of variance, factorial analysis, and multiple regression.</a:t>
            </a:r>
            <a:endParaRPr lang="en-GB" dirty="0"/>
          </a:p>
        </p:txBody>
      </p:sp>
    </p:spTree>
    <p:extLst>
      <p:ext uri="{BB962C8B-B14F-4D97-AF65-F5344CB8AC3E}">
        <p14:creationId xmlns:p14="http://schemas.microsoft.com/office/powerpoint/2010/main" val="437662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4092F9-FC31-9D1D-348A-617C55CB486B}"/>
              </a:ext>
            </a:extLst>
          </p:cNvPr>
          <p:cNvSpPr>
            <a:spLocks noGrp="1"/>
          </p:cNvSpPr>
          <p:nvPr>
            <p:ph idx="1"/>
          </p:nvPr>
        </p:nvSpPr>
        <p:spPr>
          <a:xfrm>
            <a:off x="457200" y="948447"/>
            <a:ext cx="8229600" cy="4525963"/>
          </a:xfrm>
        </p:spPr>
        <p:txBody>
          <a:bodyPr>
            <a:normAutofit fontScale="85000" lnSpcReduction="20000"/>
          </a:bodyPr>
          <a:lstStyle/>
          <a:p>
            <a:r>
              <a:rPr lang="en-US" sz="32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Due to its breadth, statistics is regarded as a separate academic discipline, and understanding these measures requires learning about them beforehand. The use of statistical measures depends on the type of data collected, your knowledge of statistics, the purpose of sharing the findings, and the statistical literacy of your audience. Before applying statistical measures, ensure that the data is suitable for such analysis, that you have adequate knowledge of these measures, and that your audience can comprehend them.</a:t>
            </a:r>
            <a:endParaRPr lang="en-GB" sz="32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209012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8093-382A-8070-FF06-8620B9FAA376}"/>
              </a:ext>
            </a:extLst>
          </p:cNvPr>
          <p:cNvSpPr>
            <a:spLocks noGrp="1"/>
          </p:cNvSpPr>
          <p:nvPr>
            <p:ph type="title"/>
          </p:nvPr>
        </p:nvSpPr>
        <p:spPr>
          <a:xfrm>
            <a:off x="457200" y="274638"/>
            <a:ext cx="8297694" cy="1019141"/>
          </a:xfrm>
        </p:spPr>
        <p:txBody>
          <a:bodyPr>
            <a:normAutofit fontScale="90000"/>
          </a:bodyPr>
          <a:lstStyle/>
          <a:p>
            <a:br>
              <a:rPr lang="en-US" sz="44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br>
            <a:r>
              <a:rPr lang="en-US" sz="31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B. Frequency Tables and Percentages</a:t>
            </a:r>
            <a:br>
              <a:rPr lang="en-GB" sz="3100" dirty="0">
                <a:effectLst/>
                <a:latin typeface="Arial" panose="020B0604020202020204" pitchFamily="34" charset="0"/>
                <a:ea typeface="MS Mincho" panose="02020609040205080304" pitchFamily="49" charset="-128"/>
                <a:cs typeface="Times New Roman" panose="02020603050405020304" pitchFamily="18" charset="0"/>
              </a:rPr>
            </a:br>
            <a:endParaRPr lang="en-GB" sz="3100" dirty="0"/>
          </a:p>
        </p:txBody>
      </p:sp>
      <p:sp>
        <p:nvSpPr>
          <p:cNvPr id="3" name="Content Placeholder 2">
            <a:extLst>
              <a:ext uri="{FF2B5EF4-FFF2-40B4-BE49-F238E27FC236}">
                <a16:creationId xmlns:a16="http://schemas.microsoft.com/office/drawing/2014/main" id="{43A6E14A-57D8-96C0-2E8C-18A6EDEBBE59}"/>
              </a:ext>
            </a:extLst>
          </p:cNvPr>
          <p:cNvSpPr>
            <a:spLocks noGrp="1"/>
          </p:cNvSpPr>
          <p:nvPr>
            <p:ph idx="1"/>
          </p:nvPr>
        </p:nvSpPr>
        <p:spPr>
          <a:xfrm>
            <a:off x="457200" y="1391056"/>
            <a:ext cx="8229600" cy="4735108"/>
          </a:xfrm>
        </p:spPr>
        <p:txBody>
          <a:bodyPr>
            <a:normAutofit fontScale="92500" lnSpcReduction="10000"/>
          </a:bodyPr>
          <a:lstStyle/>
          <a:p>
            <a:pPr marL="0" indent="0" algn="just">
              <a:lnSpc>
                <a:spcPct val="115000"/>
              </a:lnSpc>
              <a:spcBef>
                <a:spcPts val="900"/>
              </a:spcBef>
              <a:spcAft>
                <a:spcPts val="900"/>
              </a:spcAft>
              <a:buNone/>
            </a:pP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When researchers gather raw data, especially in large amounts, it can be daunting and hard to interpret. Frequency tables and percentages are simple yet effective tools to assist in organising, summarising, and presenting this information clearly and meaningfully.</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What is a Frequency Table?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table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 table that shows how often each value or category in a dataset occurs. It includes at least two main columns: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Category or Response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(e.g., how often someone uses a platform)</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number of times each response was given)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Often, a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third column</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added to show the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percentage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that each frequency represents out of the total number of responses.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421642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6CA9D-8698-2C2B-0220-5EB6259D9ED6}"/>
              </a:ext>
            </a:extLst>
          </p:cNvPr>
          <p:cNvSpPr>
            <a:spLocks noGrp="1"/>
          </p:cNvSpPr>
          <p:nvPr>
            <p:ph idx="1"/>
          </p:nvPr>
        </p:nvSpPr>
        <p:spPr>
          <a:xfrm>
            <a:off x="233464" y="559340"/>
            <a:ext cx="8618706" cy="5705273"/>
          </a:xfrm>
        </p:spPr>
        <p:txBody>
          <a:bodyPr>
            <a:normAutofit/>
          </a:bodyPr>
          <a:lstStyle/>
          <a:p>
            <a:pPr marL="342900" lvl="0" indent="-342900" algn="just">
              <a:lnSpc>
                <a:spcPct val="115000"/>
              </a:lnSpc>
              <a:spcAft>
                <a:spcPts val="1000"/>
              </a:spcAft>
              <a:buFont typeface="+mj-lt"/>
              <a:buAutoNum type="arabicPeriod"/>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Why Use It?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tables are useful because they:</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Make sense of raw data quickly.</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Help identify patterns or trends in responses.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Allow easy visualisation and comparison across categories.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Can be used to create charts or graphs (e.g., bar graphs or pie charts) for presentations or reports.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Let’s say you are researching how frequently university students use a cloud-based collaboration platform (like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Microsoft Teams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Slack</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Google Docs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for group assignments.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4105847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4B2332-B74F-9CEB-5AC5-FD46A5EFB25F}"/>
              </a:ext>
            </a:extLst>
          </p:cNvPr>
          <p:cNvSpPr>
            <a:spLocks noGrp="1"/>
          </p:cNvSpPr>
          <p:nvPr>
            <p:ph idx="1"/>
          </p:nvPr>
        </p:nvSpPr>
        <p:spPr>
          <a:xfrm>
            <a:off x="457200" y="612844"/>
            <a:ext cx="8229600" cy="5513320"/>
          </a:xfrm>
        </p:spPr>
        <p:txBody>
          <a:bodyPr/>
          <a:lstStyle/>
          <a:p>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After surveying 100 students, you get the following responses:</a:t>
            </a:r>
          </a:p>
          <a:p>
            <a:endParaRPr lang="en-GB" sz="1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effectLst/>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effectLst/>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effectLst/>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latin typeface="Arial" panose="020B0604020202020204" pitchFamily="34" charset="0"/>
              <a:ea typeface="MS Mincho" panose="02020609040205080304" pitchFamily="49" charset="-128"/>
              <a:cs typeface="Arial" panose="020B0604020202020204" pitchFamily="34" charset="0"/>
            </a:endParaRPr>
          </a:p>
          <a:p>
            <a:endParaRPr lang="en-GB" sz="1800" dirty="0">
              <a:solidFill>
                <a:srgbClr val="000000"/>
              </a:solidFill>
              <a:effectLst/>
              <a:latin typeface="Arial" panose="020B0604020202020204" pitchFamily="34" charset="0"/>
              <a:ea typeface="MS Mincho" panose="02020609040205080304" pitchFamily="49" charset="-128"/>
              <a:cs typeface="Arial" panose="020B0604020202020204" pitchFamily="34" charset="0"/>
            </a:endParaRPr>
          </a:p>
          <a:p>
            <a:pPr marL="0" indent="0" algn="just">
              <a:lnSpc>
                <a:spcPct val="115000"/>
              </a:lnSpc>
              <a:spcAft>
                <a:spcPts val="1000"/>
              </a:spcAft>
              <a:buNone/>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 table helps us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immediately understand</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Almost half of the students (45%) are daily users.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Very few (10%) use the platform rarely.</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It gives a snapshot of digital collaboration habits in an educational setting.</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pic>
        <p:nvPicPr>
          <p:cNvPr id="9" name="Picture 8">
            <a:extLst>
              <a:ext uri="{FF2B5EF4-FFF2-40B4-BE49-F238E27FC236}">
                <a16:creationId xmlns:a16="http://schemas.microsoft.com/office/drawing/2014/main" id="{6417F8AB-DAD6-9D2D-6571-FD492559F17B}"/>
              </a:ext>
            </a:extLst>
          </p:cNvPr>
          <p:cNvPicPr>
            <a:picLocks noChangeAspect="1"/>
          </p:cNvPicPr>
          <p:nvPr/>
        </p:nvPicPr>
        <p:blipFill>
          <a:blip r:embed="rId2"/>
          <a:stretch>
            <a:fillRect/>
          </a:stretch>
        </p:blipFill>
        <p:spPr>
          <a:xfrm>
            <a:off x="1134893" y="1298643"/>
            <a:ext cx="5181600" cy="1828800"/>
          </a:xfrm>
          <a:prstGeom prst="rect">
            <a:avLst/>
          </a:prstGeom>
        </p:spPr>
      </p:pic>
    </p:spTree>
    <p:extLst>
      <p:ext uri="{BB962C8B-B14F-4D97-AF65-F5344CB8AC3E}">
        <p14:creationId xmlns:p14="http://schemas.microsoft.com/office/powerpoint/2010/main" val="106654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57E76-F27D-72E8-3020-3D5ED8410FF9}"/>
              </a:ext>
            </a:extLst>
          </p:cNvPr>
          <p:cNvSpPr>
            <a:spLocks noGrp="1"/>
          </p:cNvSpPr>
          <p:nvPr>
            <p:ph idx="1"/>
          </p:nvPr>
        </p:nvSpPr>
        <p:spPr>
          <a:xfrm>
            <a:off x="340468" y="802532"/>
            <a:ext cx="8229600" cy="5141068"/>
          </a:xfrm>
        </p:spPr>
        <p:txBody>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Using Percentages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Percentages are especially useful when comparing groups of different sizes or presenting results to individuals who may not easily understand raw numbers. For example, stating that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45% of students use Google Docs daily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communicates more clearly than “</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45 students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lvl="0" indent="0" algn="just">
              <a:lnSpc>
                <a:spcPct val="115000"/>
              </a:lnSpc>
              <a:spcBef>
                <a:spcPts val="900"/>
              </a:spcBef>
              <a:spcAft>
                <a:spcPts val="900"/>
              </a:spcAft>
              <a:buNone/>
            </a:pPr>
            <a:r>
              <a:rPr lang="en-US" sz="18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C. Measures of Central Tendency and Dispersion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When working with data in research, especially in quantitative studies, it’s vital not only to gather the numbers but also to interpret their significance. This is where measures of central tendency and measures of dispersion become valuable. They help you summarise the data and comprehend its variability, enabling you to draw informed conclusions.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387115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6BDA4-E44B-5AAD-A3E6-EE494824D975}"/>
              </a:ext>
            </a:extLst>
          </p:cNvPr>
          <p:cNvSpPr>
            <a:spLocks noGrp="1"/>
          </p:cNvSpPr>
          <p:nvPr>
            <p:ph idx="1"/>
          </p:nvPr>
        </p:nvSpPr>
        <p:spPr>
          <a:xfrm>
            <a:off x="457200" y="136188"/>
            <a:ext cx="8229600" cy="5989976"/>
          </a:xfrm>
        </p:spPr>
        <p:txBody>
          <a:bodyPr/>
          <a:lstStyle/>
          <a:p>
            <a:pPr marL="342900" lvl="0" indent="-342900" algn="just">
              <a:lnSpc>
                <a:spcPct val="115000"/>
              </a:lnSpc>
              <a:spcAft>
                <a:spcPts val="1000"/>
              </a:spcAft>
              <a:buFont typeface="+mj-lt"/>
              <a:buAutoNum type="arabicPeriod"/>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Measures of Central Tendency: Mean, Median, and Mode</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These are used to describe the </a:t>
            </a:r>
            <a:r>
              <a:rPr lang="en-GB"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central point</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a:t>
            </a:r>
            <a:r>
              <a:rPr lang="en-GB"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average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of a dataset.</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Mean</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(also called the average): This is calculated by adding all the values and dividing by the number of values.</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gn="just">
              <a:lnSpc>
                <a:spcPct val="115000"/>
              </a:lnSpc>
              <a:spcAft>
                <a:spcPts val="1000"/>
              </a:spcAft>
              <a:buSzPts val="1000"/>
              <a:buFont typeface="Courier New" panose="02070309020205020404" pitchFamily="49" charset="0"/>
              <a:buChar char="o"/>
              <a:tabLst>
                <a:tab pos="9144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Suppose you collect data on how long it takes different users to log into a university portal. If the times are 3s, 5s, 6s, and 4s, the mean login time is (3 + 5 + 6 + 4) ÷ 4 = 4.5 seconds.</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Median</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This is the middle value when all the numbers are arranged in order. If there’s an even number of values, the median is the average of the two middle numbers.</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gn="just">
              <a:lnSpc>
                <a:spcPct val="115000"/>
              </a:lnSpc>
              <a:spcAft>
                <a:spcPts val="1000"/>
              </a:spcAft>
              <a:buSzPts val="1000"/>
              <a:buFont typeface="Courier New" panose="02070309020205020404" pitchFamily="49" charset="0"/>
              <a:buChar char="o"/>
              <a:tabLst>
                <a:tab pos="9144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If five users take 2s, 3s, 4s, 5s, and 50s to complete a task, the </a:t>
            </a: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median</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4s (the third number), which better represents the typical experience than the mean, which would be distorted by the outlier (50s).</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Mode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value that occurs most frequently in the dataset.</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gn="just">
              <a:lnSpc>
                <a:spcPct val="115000"/>
              </a:lnSpc>
              <a:spcAft>
                <a:spcPts val="1000"/>
              </a:spcAft>
              <a:buSzPts val="1000"/>
              <a:buFont typeface="Courier New" panose="02070309020205020404" pitchFamily="49" charset="0"/>
              <a:buChar char="o"/>
              <a:tabLst>
                <a:tab pos="9144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If most students in an online survey reported spending "3 hours per week" using AI tools, then "3 hours" is the </a:t>
            </a: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mode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2643821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3AA5D-5BBF-92DF-884E-BB0ADBDC2DB1}"/>
              </a:ext>
            </a:extLst>
          </p:cNvPr>
          <p:cNvSpPr>
            <a:spLocks noGrp="1"/>
          </p:cNvSpPr>
          <p:nvPr>
            <p:ph idx="1"/>
          </p:nvPr>
        </p:nvSpPr>
        <p:spPr>
          <a:xfrm>
            <a:off x="457200" y="175098"/>
            <a:ext cx="8229600" cy="5951065"/>
          </a:xfrm>
        </p:spPr>
        <p:txBody>
          <a:bodyPr>
            <a:normAutofit/>
          </a:bodyPr>
          <a:lstStyle/>
          <a:p>
            <a:pPr marL="0" lvl="0" indent="0" algn="just">
              <a:lnSpc>
                <a:spcPct val="115000"/>
              </a:lnSpc>
              <a:spcAft>
                <a:spcPts val="1000"/>
              </a:spcAft>
              <a:buNone/>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Measures of Dispersion: Range, Variance, and Standard Deviation</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These tell us how </a:t>
            </a:r>
            <a:r>
              <a:rPr lang="en-GB"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spread out</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data is around the central value.</a:t>
            </a:r>
            <a:endParaRPr lang="en-GB" sz="16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Range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difference between the highest and lowest values in the dataset.</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gn="just">
              <a:lnSpc>
                <a:spcPct val="115000"/>
              </a:lnSpc>
              <a:spcAft>
                <a:spcPts val="1000"/>
              </a:spcAft>
              <a:buSzPts val="1000"/>
              <a:buFont typeface="Courier New" panose="02070309020205020404" pitchFamily="49" charset="0"/>
              <a:buChar char="o"/>
              <a:tabLst>
                <a:tab pos="9144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If the fastest login time is 2 seconds and the slowest is 12 seconds, the range is 12 − 2 = 10 seconds.</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Variance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This tells you how far each number in the dataset is from the mean, on average. It is a bit more complex to calculate, but it gives a clearer idea of spread than just using the range.</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Standard Deviation</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This is the square root of the variance and tells you, on average, how much the values deviate from the mean. A smaller standard deviation means data points are close to the mean, while a larger one indicates more variability.</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742950" lvl="1" indent="-285750" algn="just">
              <a:lnSpc>
                <a:spcPct val="115000"/>
              </a:lnSpc>
              <a:spcAft>
                <a:spcPts val="1000"/>
              </a:spcAft>
              <a:buSzPts val="1000"/>
              <a:buFont typeface="Courier New" panose="02070309020205020404" pitchFamily="49" charset="0"/>
              <a:buChar char="o"/>
              <a:tabLst>
                <a:tab pos="914400" algn="l"/>
              </a:tabLst>
            </a:pPr>
            <a:r>
              <a:rPr lang="en-GB"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r>
              <a:rPr lang="en-GB"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evaluating server response times for different software systems, a low standard deviation would mean response times are consistent across users, while a high standard deviation might suggest performance issues or irregular server behaviour.</a:t>
            </a:r>
            <a:endParaRPr lang="en-GB" sz="16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sz="1600" dirty="0"/>
          </a:p>
        </p:txBody>
      </p:sp>
    </p:spTree>
    <p:extLst>
      <p:ext uri="{BB962C8B-B14F-4D97-AF65-F5344CB8AC3E}">
        <p14:creationId xmlns:p14="http://schemas.microsoft.com/office/powerpoint/2010/main" val="1987749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CC6C3A-47F6-6D41-8841-1BEC8B3ABB2B}"/>
              </a:ext>
            </a:extLst>
          </p:cNvPr>
          <p:cNvSpPr>
            <a:spLocks noGrp="1"/>
          </p:cNvSpPr>
          <p:nvPr>
            <p:ph idx="1"/>
          </p:nvPr>
        </p:nvSpPr>
        <p:spPr>
          <a:xfrm>
            <a:off x="457200" y="496112"/>
            <a:ext cx="8229600" cy="5630052"/>
          </a:xfrm>
        </p:spPr>
        <p:txBody>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Why This Matters in ICT Research</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Understanding central tendency and dispersion allows ICT researchers to:</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Describe user behaviour</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effectively (e.g., how long users spend on an app).</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Detect inconsistencies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system performance (e.g., frequent high deviation in response times).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Inform decision-making</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(e.g., selecting the software platform that performs more reliably across various usage conditions).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0" indent="0" algn="just">
              <a:lnSpc>
                <a:spcPct val="115000"/>
              </a:lnSpc>
              <a:spcAft>
                <a:spcPts val="1000"/>
              </a:spcAft>
              <a:buNone/>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 sum, these tools help simplify complex data into meaningful summaries that guide further analysis or system improvements.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513642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2162E-6076-6802-37F8-786D520E993A}"/>
              </a:ext>
            </a:extLst>
          </p:cNvPr>
          <p:cNvSpPr>
            <a:spLocks noGrp="1"/>
          </p:cNvSpPr>
          <p:nvPr>
            <p:ph idx="1"/>
          </p:nvPr>
        </p:nvSpPr>
        <p:spPr>
          <a:xfrm>
            <a:off x="194553" y="184826"/>
            <a:ext cx="8492247" cy="5941337"/>
          </a:xfrm>
        </p:spPr>
        <p:txBody>
          <a:bodyPr>
            <a:normAutofit fontScale="92500" lnSpcReduction="20000"/>
          </a:bodyPr>
          <a:lstStyle/>
          <a:p>
            <a:pPr marL="0" lvl="0" indent="0" algn="just">
              <a:lnSpc>
                <a:spcPct val="115000"/>
              </a:lnSpc>
              <a:spcBef>
                <a:spcPts val="900"/>
              </a:spcBef>
              <a:spcAft>
                <a:spcPts val="900"/>
              </a:spcAft>
              <a:buNone/>
            </a:pPr>
            <a:r>
              <a:rPr lang="en-US" sz="18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D. Use of Excel and SPSS for Descriptive Statistics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Understanding descriptive statistics is essential for summarising and interpreting large sets of numerical data. Tools like Microsoft Excel and SPSS (Statistical Package for the Social Sciences) are popular among researchers because they make data entry, calculation, and visual presentation easier.</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What Are Descriptive Statistics?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Descriptive statistics include basic calculations such as: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Frequency counts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(how often something occurs)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Percentages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Mean </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(Averages)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Median</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middle value)</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Mode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most frequent value)</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Measures of spread</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(range, standard deviation)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These assist researchers in identifying patterns and general trends without the need for complex analyses.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1529663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B5AE89-220A-932F-B7BC-DCEB32EBF0A7}"/>
              </a:ext>
            </a:extLst>
          </p:cNvPr>
          <p:cNvSpPr>
            <a:spLocks noGrp="1"/>
          </p:cNvSpPr>
          <p:nvPr>
            <p:ph idx="1"/>
          </p:nvPr>
        </p:nvSpPr>
        <p:spPr>
          <a:xfrm>
            <a:off x="457200" y="223736"/>
            <a:ext cx="8229600" cy="5902427"/>
          </a:xfrm>
        </p:spPr>
        <p:txBody>
          <a:bodyPr>
            <a:normAutofit lnSpcReduction="10000"/>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Using Excel</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Microsoft Excel is a user-friendly tool that enables users to:</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Enter data manually or import from surveys or online forms.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 built-in functions like =AVERAGE(), =MEDIAN(), =MODE(), and =STDEV() to calculate basic statistics.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Create charts and graphs, such as bar charts, pie charts, and histograms, to visually represent data.</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p>
          <a:p>
            <a:pPr marL="0" indent="0">
              <a:lnSpc>
                <a:spcPct val="115000"/>
              </a:lnSpc>
              <a:spcAft>
                <a:spcPts val="1000"/>
              </a:spcAft>
              <a:buNone/>
            </a:pPr>
            <a:b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Suppose a student conducts a study to determine how long university students use a cloud-based code editor (e.g., </a:t>
            </a:r>
            <a:r>
              <a:rPr lang="en-GB" sz="18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Replit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each day. After collecting data from 30 respondents, the student can input the daily usage hours into an Excel spreadsheet. With a few clicks, Excel can calculate the average usage time, display the number of students who use the tool more than 3 hours per day, and generate a bar chart to illustrate the distribution.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2915831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273603-B915-0F71-0220-0F7664940580}"/>
              </a:ext>
            </a:extLst>
          </p:cNvPr>
          <p:cNvSpPr>
            <a:spLocks noGrp="1"/>
          </p:cNvSpPr>
          <p:nvPr>
            <p:ph idx="1"/>
          </p:nvPr>
        </p:nvSpPr>
        <p:spPr>
          <a:xfrm>
            <a:off x="282102" y="145916"/>
            <a:ext cx="8404698" cy="5980248"/>
          </a:xfrm>
        </p:spPr>
        <p:txBody>
          <a:bodyPr>
            <a:normAutofit lnSpcReduction="10000"/>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Using SPSS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SPSS is a more robust and structured software designed for statistical analysis. Although it may appear daunting initially, it provides: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spreadsheet-like interface to input or import data.</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Menu-driven options for analysis (no need to write formulas).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Built-in tools to calculate descriptive statistics and generate clean, publication-ready tables and charts.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a:lnSpc>
                <a:spcPct val="115000"/>
              </a:lnSpc>
              <a:spcAft>
                <a:spcPts val="1000"/>
              </a:spcAf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ICT Example:</a:t>
            </a:r>
            <a:b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b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student examining user satisfaction with a new student portal might use SPSS to analyse responses to Likert-scale survey questions (e.g., “I find the portal easy to navigate” rated from 1–5). SPSS can compute: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average score per question,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rPr>
              <a:t>How many users chose each response option (frequency tables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Charts that clearly show user sentiment.</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1364687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BF9AC3-8B32-2524-BF31-3424508B53F5}"/>
              </a:ext>
            </a:extLst>
          </p:cNvPr>
          <p:cNvSpPr>
            <a:spLocks noGrp="1"/>
          </p:cNvSpPr>
          <p:nvPr>
            <p:ph idx="1"/>
          </p:nvPr>
        </p:nvSpPr>
        <p:spPr>
          <a:xfrm>
            <a:off x="525294" y="729574"/>
            <a:ext cx="8161506" cy="5396589"/>
          </a:xfrm>
        </p:spPr>
        <p:txBody>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Why Use These Tools?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Accuracy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Minimises human error in calculation.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Efficiency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Speeds up the analysis process.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Clarity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Creates visuals that make complex data easy to understand and present.</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Reusability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You can use templates and scripts to repeat the analysis for other datasets.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 beginner researchers in IT, starting with Excel is usually appropriate. As your confidence grows, learning SPSS can unlock more advanced options for analysing data from databases, surveys, or application </a:t>
            </a:r>
            <a:r>
              <a:rPr lang="en-GB" sz="18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logs.s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1317375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2152A4-C014-2A85-C0D6-0472C4AB7EA3}"/>
              </a:ext>
            </a:extLst>
          </p:cNvPr>
          <p:cNvSpPr>
            <a:spLocks noGrp="1"/>
          </p:cNvSpPr>
          <p:nvPr>
            <p:ph idx="1"/>
          </p:nvPr>
        </p:nvSpPr>
        <p:spPr>
          <a:xfrm>
            <a:off x="321013" y="165370"/>
            <a:ext cx="8365787" cy="5960793"/>
          </a:xfrm>
        </p:spPr>
        <p:txBody>
          <a:bodyPr>
            <a:normAutofit lnSpcReduction="10000"/>
          </a:bodyPr>
          <a:lstStyle/>
          <a:p>
            <a:pPr marL="0" lvl="0" indent="0" algn="just">
              <a:lnSpc>
                <a:spcPct val="115000"/>
              </a:lnSpc>
              <a:spcBef>
                <a:spcPts val="900"/>
              </a:spcBef>
              <a:spcAft>
                <a:spcPts val="900"/>
              </a:spcAft>
              <a:buNone/>
            </a:pPr>
            <a:r>
              <a:rPr lang="en-US" sz="18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E. Introductory Inferential Statistics (Correlation, Chi-Square, T-tests)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Inferential statistics are used to make informed guesses about a population based on data collected from a smaller sample. Unlike descriptive statistics, which summarise what the data shows, inferential statistics assist researchers in determining whether the observed patterns are likely to be genuine or simply due to chance. This is particularly important in ICT research, where we often aim to apply findings to a wider group of users, systems, or technologies.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Correlation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pPr>
            <a:r>
              <a:rPr lang="en-GB" sz="1800" dirty="0">
                <a:solidFill>
                  <a:srgbClr val="000000"/>
                </a:solidFill>
                <a:effectLst/>
                <a:latin typeface="Arial" panose="020B0604020202020204" pitchFamily="34" charset="0"/>
                <a:ea typeface="Times New Roman" panose="02020603050405020304" pitchFamily="18" charset="0"/>
              </a:rPr>
              <a:t>To determine whether two variables are related, and if so, how strongly. </a:t>
            </a:r>
            <a:endParaRPr lang="en-GB" sz="1800" dirty="0">
              <a:effectLst/>
              <a:latin typeface="Times New Roman" panose="02020603050405020304" pitchFamily="18" charset="0"/>
              <a:ea typeface="Times New Roman" panose="02020603050405020304" pitchFamily="18" charset="0"/>
            </a:endParaRPr>
          </a:p>
          <a:p>
            <a:pPr algn="just">
              <a:lnSpc>
                <a:spcPct val="115000"/>
              </a:lnSpc>
            </a:pPr>
            <a:r>
              <a:rPr lang="en-GB" sz="1800" dirty="0">
                <a:solidFill>
                  <a:srgbClr val="000000"/>
                </a:solidFill>
                <a:effectLst/>
                <a:latin typeface="Arial" panose="020B0604020202020204" pitchFamily="34" charset="0"/>
                <a:ea typeface="Times New Roman" panose="02020603050405020304" pitchFamily="18" charset="0"/>
              </a:rPr>
              <a:t>Example in ICT: A researcher might want to know whether there is a relationship between how many hours a student spends using an online learning platform and their final exam score in a programming course. Using Pearson’s correlation coefficient, the researcher can determine if more hours spent on the platform are associated with higher scores, and how strong that relationship is (e.g., weak, moderate, or strong). </a:t>
            </a:r>
            <a:endParaRPr lang="en-GB" sz="1800" dirty="0">
              <a:effectLst/>
              <a:latin typeface="Times New Roman" panose="02020603050405020304" pitchFamily="18" charset="0"/>
              <a:ea typeface="Times New Roman" panose="02020603050405020304" pitchFamily="18" charset="0"/>
            </a:endParaRPr>
          </a:p>
          <a:p>
            <a:pPr algn="just">
              <a:lnSpc>
                <a:spcPct val="115000"/>
              </a:lnSpc>
            </a:pPr>
            <a:r>
              <a:rPr lang="en-GB" sz="1800" dirty="0">
                <a:solidFill>
                  <a:srgbClr val="000000"/>
                </a:solidFill>
                <a:effectLst/>
                <a:latin typeface="Arial" panose="020B0604020202020204" pitchFamily="34" charset="0"/>
                <a:ea typeface="Times New Roman" panose="02020603050405020304" pitchFamily="18" charset="0"/>
              </a:rPr>
              <a:t>Important note: Correlation does not mean causation. A high correlation doesn’t prove that one variable causes the other.</a:t>
            </a:r>
            <a:endParaRPr lang="en-GB" sz="1800" dirty="0">
              <a:effectLst/>
              <a:latin typeface="Times New Roman" panose="02020603050405020304" pitchFamily="18" charset="0"/>
              <a:ea typeface="Times New Roman" panose="02020603050405020304" pitchFamily="18" charset="0"/>
            </a:endParaRPr>
          </a:p>
          <a:p>
            <a:endParaRPr lang="en-GB" dirty="0"/>
          </a:p>
        </p:txBody>
      </p:sp>
    </p:spTree>
    <p:extLst>
      <p:ext uri="{BB962C8B-B14F-4D97-AF65-F5344CB8AC3E}">
        <p14:creationId xmlns:p14="http://schemas.microsoft.com/office/powerpoint/2010/main" val="2981881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7F8ACF-1B52-B679-902E-921B78DA99C0}"/>
              </a:ext>
            </a:extLst>
          </p:cNvPr>
          <p:cNvSpPr>
            <a:spLocks noGrp="1"/>
          </p:cNvSpPr>
          <p:nvPr>
            <p:ph idx="1"/>
          </p:nvPr>
        </p:nvSpPr>
        <p:spPr/>
        <p:txBody>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Chi-Square Test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test whether there is a significant association between two categorical variables.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 in ICT: Imagine you surveyed professionals with different job roles (e.g., software developers, data analysts, network engineers) and asked them which type of project management software they prefer (e.g., Jira, Trello, Asana). The chi-square test can tell you whether the choice of software is dependent on job role, or if any observed pattern is just by chance.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Use Case: Useful for analysing survey results that feature multiple-choice questions with categories.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41490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73E55-629F-B1EB-BB21-20F981F4B034}"/>
              </a:ext>
            </a:extLst>
          </p:cNvPr>
          <p:cNvSpPr>
            <a:spLocks noGrp="1"/>
          </p:cNvSpPr>
          <p:nvPr>
            <p:ph idx="1"/>
          </p:nvPr>
        </p:nvSpPr>
        <p:spPr/>
        <p:txBody>
          <a:bodyPr>
            <a:normAutofit lnSpcReduction="10000"/>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T-Tests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compare the average scores (means) between two groups to see if they are significantly different.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 in ICT: Suppose you implemented an AI-based code-learning tool in one class and used traditional teaching methods in another. After a semester, you measure the average test scores of each group. A t-test can help determine whether the difference in scores between the two groups is statistically significant or if it might have occurred simply by chance.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Independent t-test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Compares the means of two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separate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groups (e.g., AI users vs non-users).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Paired t-test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Compares the means from the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same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group at different times (e.g., before and after using a new tool).</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464588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1B5800-E198-3AD5-0372-224B6BCD5A52}"/>
              </a:ext>
            </a:extLst>
          </p:cNvPr>
          <p:cNvSpPr>
            <a:spLocks noGrp="1"/>
          </p:cNvSpPr>
          <p:nvPr>
            <p:ph idx="1"/>
          </p:nvPr>
        </p:nvSpPr>
        <p:spPr>
          <a:xfrm>
            <a:off x="457200" y="398834"/>
            <a:ext cx="8229600" cy="5727329"/>
          </a:xfrm>
        </p:spPr>
        <p:txBody>
          <a:bodyPr>
            <a:normAutofit/>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T-Tests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compare the average scores (means) between two groups to see if they are significantly different.</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 in ICT: Suppose you implemented an AI-based code-learning tool in one class and used traditional teaching methods in another. After a semester, you measure the average test scores of each group. A t-test can help determine whether the difference in scores between the two groups is statistically significant or if it might have occurred simply by chance.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Independent t-test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Compares the means of two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separate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groups (e.g., AI users vs non-users).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Paired t-test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Compares the means from the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same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group at different times (e.g., before and after using a new tool).</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834671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79040-4395-0842-5EBB-9B9A945F6AC2}"/>
              </a:ext>
            </a:extLst>
          </p:cNvPr>
          <p:cNvSpPr>
            <a:spLocks noGrp="1"/>
          </p:cNvSpPr>
          <p:nvPr>
            <p:ph idx="1"/>
          </p:nvPr>
        </p:nvSpPr>
        <p:spPr>
          <a:xfrm>
            <a:off x="389106" y="680936"/>
            <a:ext cx="8297694" cy="5445227"/>
          </a:xfrm>
        </p:spPr>
        <p:txBody>
          <a:bodyPr>
            <a:normAutofit/>
          </a:bodyPr>
          <a:lstStyle/>
          <a:p>
            <a:pPr marL="0" lvl="0" indent="0" algn="just">
              <a:lnSpc>
                <a:spcPct val="115000"/>
              </a:lnSpc>
              <a:spcBef>
                <a:spcPts val="900"/>
              </a:spcBef>
              <a:spcAft>
                <a:spcPts val="900"/>
              </a:spcAft>
              <a:buNone/>
            </a:pPr>
            <a:r>
              <a:rPr lang="en-US" sz="18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F. Hypothesis Testing Basics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What is a hypothesis?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 research, a hypothesis is a clear, testable statement that predicts a relationship between two or more variables. It functions like an educated guess based on previous knowledge or assumptions. For example, in IT, a student might suspect that using a new programming interface speeds up development time. This expectation becomes a hypothesis.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Why do we test a hypothesis?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Testing a hypothesis helps us find out whether our assumption is true or false using real data. It brings objectivity into research and makes sure that findings are not just opinions or observations, but are supported by evidence.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384631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592319-EB3D-BC5A-4EE9-47BE9CEEC2B1}"/>
              </a:ext>
            </a:extLst>
          </p:cNvPr>
          <p:cNvSpPr>
            <a:spLocks noGrp="1"/>
          </p:cNvSpPr>
          <p:nvPr>
            <p:ph idx="1"/>
          </p:nvPr>
        </p:nvSpPr>
        <p:spPr>
          <a:xfrm>
            <a:off x="564203" y="301557"/>
            <a:ext cx="8258783" cy="6118697"/>
          </a:xfrm>
        </p:spPr>
        <p:txBody>
          <a:bodyPr>
            <a:normAutofit fontScale="85000" lnSpcReduction="10000"/>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Key Terms Simplified</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Null Hypothesis (H</a:t>
            </a:r>
            <a:r>
              <a:rPr lang="en-GB" sz="1800" b="1" dirty="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₀</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default position, assuming there is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difference or relationship between variables.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Alternative Hypothesis (H</a:t>
            </a:r>
            <a:r>
              <a:rPr lang="en-GB" sz="1800" b="1" dirty="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₁</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What you aim to prove – that there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 difference or relationship.</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Significance Level (usually 0.05):</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threshold for deciding whether the result is due to chance. A p-value below this level typically means the result is statistically significant.</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P-value: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 probability value that tells us how likely it is that our results happened by chance.</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Simple IT Example</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algn="just">
              <a:lnSpc>
                <a:spcPct val="115000"/>
              </a:lnSpc>
              <a:spcAft>
                <a:spcPts val="1000"/>
              </a:spcAf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university’s IT department introduces a new version of an antivirus software. The hypothesis is that this updated version reduces system crashes compared to the previous version.</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Null Hypothesis (H</a:t>
            </a:r>
            <a:r>
              <a:rPr lang="en-GB" sz="1800" b="1" dirty="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₀</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new version does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reduce the number of system crashes.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Alternative Hypothesis (H</a:t>
            </a:r>
            <a:r>
              <a:rPr lang="en-GB" sz="1800" b="1" dirty="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₁</a:t>
            </a: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new version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does</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reduce the number of system crashes.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0" indent="0">
              <a:lnSpc>
                <a:spcPct val="115000"/>
              </a:lnSpc>
              <a:spcAft>
                <a:spcPts val="1000"/>
              </a:spcAft>
              <a:buNone/>
            </a:pPr>
            <a:br>
              <a:rPr lang="en-GB" sz="1800" b="1" dirty="0">
                <a:solidFill>
                  <a:srgbClr val="000000"/>
                </a:solidFill>
                <a:effectLst/>
                <a:latin typeface="Arial" panose="020B0604020202020204" pitchFamily="34" charset="0"/>
                <a:ea typeface="Times New Roman" panose="02020603050405020304" pitchFamily="18" charset="0"/>
              </a:rPr>
            </a:b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1969110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7432B6-5D94-6533-416C-53CBD2A02A6C}"/>
              </a:ext>
            </a:extLst>
          </p:cNvPr>
          <p:cNvSpPr>
            <a:spLocks noGrp="1"/>
          </p:cNvSpPr>
          <p:nvPr>
            <p:ph idx="1"/>
          </p:nvPr>
        </p:nvSpPr>
        <p:spPr>
          <a:xfrm>
            <a:off x="262647" y="787940"/>
            <a:ext cx="8424153" cy="5338223"/>
          </a:xfrm>
        </p:spPr>
        <p:txBody>
          <a:bodyPr/>
          <a:lstStyle/>
          <a:p>
            <a:pPr mar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Step-by-step process:</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researcher collects crash data from 100 computers using the old version and 100 using the new version.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They compare the average number of crashes between the two groups using a statistical test (e.g., a t-test).</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If the data shows a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significant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difference (p-value &lt; 0.05), the null hypothesis is rejected, meaning the new software is likely effective.</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Font typeface="+mj-lt"/>
              <a:buAutoNum type="arabicPeriod"/>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If there is </a:t>
            </a:r>
            <a:r>
              <a:rPr lang="en-GB" sz="18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no significant</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difference (p-value &gt; 0.05), the null hypothesis is not rejected, and the researcher concludes that the new software doesn’t show enough improvement.</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3939849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E2626-6567-2C53-0DE5-30CBB68113A7}"/>
              </a:ext>
            </a:extLst>
          </p:cNvPr>
          <p:cNvSpPr>
            <a:spLocks noGrp="1"/>
          </p:cNvSpPr>
          <p:nvPr>
            <p:ph idx="1"/>
          </p:nvPr>
        </p:nvSpPr>
        <p:spPr>
          <a:xfrm>
            <a:off x="389106" y="359924"/>
            <a:ext cx="8297694" cy="5766240"/>
          </a:xfrm>
        </p:spPr>
        <p:txBody>
          <a:bodyPr>
            <a:normAutofit/>
          </a:bodyPr>
          <a:lstStyle/>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 Real-World IT Applications of Hypothesis Testing</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UI/UX Testing:</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Testing whether a new user interface leads to faster task completion.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Network Performance:</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Hypothesising that a new routing algorithm reduces latency.</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Cybersecurity:</a:t>
            </a: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Evaluating whether a new training module reduces phishing response rates among employees.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0" lvl="0" indent="0" algn="just">
              <a:lnSpc>
                <a:spcPct val="115000"/>
              </a:lnSpc>
              <a:spcAft>
                <a:spcPts val="1000"/>
              </a:spcAft>
              <a:buNone/>
            </a:pPr>
            <a:r>
              <a:rPr lang="en-GB"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6. Benefits of Hypothesis Testing</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Provides a structured way to test ideas.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Reduces bias in conclusions.</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lnSpc>
                <a:spcPct val="115000"/>
              </a:lnSpc>
              <a:spcAft>
                <a:spcPts val="1000"/>
              </a:spcAft>
              <a:buSzPts val="1000"/>
              <a:buFont typeface="Symbol" panose="05050102010706020507" pitchFamily="18" charset="2"/>
              <a:buChar char=""/>
              <a:tabLst>
                <a:tab pos="457200" algn="l"/>
              </a:tabLst>
            </a:pPr>
            <a:r>
              <a:rPr lang="en-GB"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Helps in decision-making using data rather than intuition.</a:t>
            </a:r>
            <a:endParaRPr lang="en-GB" sz="180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endParaRPr>
          </a:p>
          <a:p>
            <a:endParaRPr lang="en-GB" dirty="0"/>
          </a:p>
        </p:txBody>
      </p:sp>
    </p:spTree>
    <p:extLst>
      <p:ext uri="{BB962C8B-B14F-4D97-AF65-F5344CB8AC3E}">
        <p14:creationId xmlns:p14="http://schemas.microsoft.com/office/powerpoint/2010/main" val="314071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EA4EE3-A6DA-5624-1C83-A18E28093293}"/>
              </a:ext>
            </a:extLst>
          </p:cNvPr>
          <p:cNvSpPr>
            <a:spLocks noGrp="1"/>
          </p:cNvSpPr>
          <p:nvPr>
            <p:ph idx="1"/>
          </p:nvPr>
        </p:nvSpPr>
        <p:spPr>
          <a:xfrm>
            <a:off x="321013" y="466928"/>
            <a:ext cx="8365787" cy="5659235"/>
          </a:xfrm>
        </p:spPr>
        <p:txBody>
          <a:bodyPr/>
          <a:lstStyle/>
          <a:p>
            <a:pPr marL="0" lvl="0" indent="0" algn="just">
              <a:lnSpc>
                <a:spcPct val="115000"/>
              </a:lnSpc>
              <a:spcBef>
                <a:spcPts val="900"/>
              </a:spcBef>
              <a:spcAft>
                <a:spcPts val="900"/>
              </a:spcAft>
              <a:buNone/>
            </a:pPr>
            <a:r>
              <a:rPr lang="en-US" sz="18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G. Higher-Order Questions </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buFont typeface="+mj-lt"/>
              <a:buAutoNum type="arabicPeriod"/>
              <a:tabLst>
                <a:tab pos="457200" algn="l"/>
              </a:tabLst>
            </a:pPr>
            <a:r>
              <a:rPr lang="en-GB" sz="1800" b="1" dirty="0">
                <a:solidFill>
                  <a:srgbClr val="000000"/>
                </a:solidFill>
                <a:effectLst/>
                <a:latin typeface="Arial" panose="020B0604020202020204" pitchFamily="34" charset="0"/>
                <a:ea typeface="Times New Roman" panose="02020603050405020304" pitchFamily="18" charset="0"/>
              </a:rPr>
              <a:t>How does the choice of descriptive versus inferential statistics influence the interpretation of survey data collected from IT students regarding software tool usage?</a:t>
            </a:r>
            <a:endParaRPr lang="en-GB" sz="1800" dirty="0">
              <a:effectLst/>
              <a:latin typeface="Times New Roman" panose="02020603050405020304" pitchFamily="18" charset="0"/>
              <a:ea typeface="Times New Roman" panose="02020603050405020304" pitchFamily="18" charset="0"/>
            </a:endParaRPr>
          </a:p>
          <a:p>
            <a:pPr marL="457200" algn="just"/>
            <a:r>
              <a:rPr lang="en-GB" sz="1800" b="0" dirty="0">
                <a:solidFill>
                  <a:srgbClr val="000000"/>
                </a:solidFill>
                <a:effectLst/>
                <a:latin typeface="Arial" panose="020B0604020202020204" pitchFamily="34" charset="0"/>
                <a:ea typeface="Times New Roman" panose="02020603050405020304" pitchFamily="18" charset="0"/>
              </a:rPr>
              <a:t> </a:t>
            </a:r>
            <a:endParaRPr lang="en-GB"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GB" sz="1800" b="1" dirty="0">
                <a:solidFill>
                  <a:srgbClr val="000000"/>
                </a:solidFill>
                <a:effectLst/>
                <a:latin typeface="Arial" panose="020B0604020202020204" pitchFamily="34" charset="0"/>
                <a:ea typeface="Times New Roman" panose="02020603050405020304" pitchFamily="18" charset="0"/>
              </a:rPr>
              <a:t>Compare the use of correlation and chi-square tests in analysing relationships between ICT variables. In which scenarios would each be more appropriate, and why?</a:t>
            </a:r>
            <a:endParaRPr lang="en-GB" sz="1800" dirty="0">
              <a:effectLst/>
              <a:latin typeface="Times New Roman" panose="02020603050405020304" pitchFamily="18" charset="0"/>
              <a:ea typeface="Times New Roman" panose="02020603050405020304" pitchFamily="18" charset="0"/>
            </a:endParaRPr>
          </a:p>
          <a:p>
            <a:pPr marL="457200" algn="just">
              <a:lnSpc>
                <a:spcPct val="115000"/>
              </a:lnSpc>
              <a:spcAft>
                <a:spcPts val="1000"/>
              </a:spcAft>
            </a:pPr>
            <a:r>
              <a:rPr lang="en-US" sz="1800" b="0" dirty="0">
                <a:solidFill>
                  <a:srgbClr val="000000"/>
                </a:solidFill>
                <a:effectLst/>
                <a:latin typeface="Arial" panose="020B0604020202020204" pitchFamily="34" charset="0"/>
                <a:ea typeface="MS Mincho" panose="02020609040205080304" pitchFamily="49" charset="-128"/>
                <a:cs typeface="Times New Roman" panose="02020603050405020304" pitchFamily="18" charset="0"/>
              </a:rPr>
              <a:t> </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buFont typeface="+mj-lt"/>
              <a:buAutoNum type="arabicPeriod"/>
              <a:tabLst>
                <a:tab pos="457200" algn="l"/>
              </a:tabLst>
            </a:pPr>
            <a:r>
              <a:rPr lang="en-GB" sz="1800" b="1" dirty="0">
                <a:solidFill>
                  <a:srgbClr val="000000"/>
                </a:solidFill>
                <a:effectLst/>
                <a:latin typeface="Arial" panose="020B0604020202020204" pitchFamily="34" charset="0"/>
                <a:ea typeface="Times New Roman" panose="02020603050405020304" pitchFamily="18" charset="0"/>
              </a:rPr>
              <a:t>Given a dataset showing user satisfaction ratings across three mobile applications, design a statistical plan using measures of central tendency and inferential tests to determine which app performs best. Justify your choice of tests.</a:t>
            </a:r>
            <a:endParaRPr lang="en-GB" sz="1800" dirty="0">
              <a:effectLst/>
              <a:latin typeface="Times New Roman" panose="02020603050405020304" pitchFamily="18" charset="0"/>
              <a:ea typeface="Times New Roman" panose="02020603050405020304" pitchFamily="18" charset="0"/>
            </a:endParaRPr>
          </a:p>
          <a:p>
            <a:endParaRPr lang="en-GB" dirty="0"/>
          </a:p>
        </p:txBody>
      </p:sp>
    </p:spTree>
    <p:extLst>
      <p:ext uri="{BB962C8B-B14F-4D97-AF65-F5344CB8AC3E}">
        <p14:creationId xmlns:p14="http://schemas.microsoft.com/office/powerpoint/2010/main" val="3075497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5DF15F-DB72-166C-7380-F1FDE3103A93}"/>
              </a:ext>
            </a:extLst>
          </p:cNvPr>
          <p:cNvSpPr>
            <a:spLocks noGrp="1"/>
          </p:cNvSpPr>
          <p:nvPr>
            <p:ph idx="1"/>
          </p:nvPr>
        </p:nvSpPr>
        <p:spPr>
          <a:xfrm>
            <a:off x="291830" y="301558"/>
            <a:ext cx="8394970" cy="5824606"/>
          </a:xfrm>
        </p:spPr>
        <p:txBody>
          <a:bodyPr>
            <a:normAutofit fontScale="92500" lnSpcReduction="20000"/>
          </a:bodyPr>
          <a:lstStyle/>
          <a:p>
            <a:pPr marL="0" lvl="0" indent="0" algn="just">
              <a:lnSpc>
                <a:spcPct val="115000"/>
              </a:lnSpc>
              <a:spcBef>
                <a:spcPts val="900"/>
              </a:spcBef>
              <a:spcAft>
                <a:spcPts val="900"/>
              </a:spcAft>
              <a:buNone/>
            </a:pPr>
            <a:r>
              <a:rPr lang="en-US" sz="1800" b="1" dirty="0">
                <a:solidFill>
                  <a:srgbClr val="000000"/>
                </a:solidFill>
                <a:effectLst/>
                <a:latin typeface="Arial" panose="020B0604020202020204" pitchFamily="34" charset="0"/>
                <a:ea typeface="MS Mincho" panose="02020609040205080304" pitchFamily="49" charset="-128"/>
                <a:cs typeface="Arial" panose="020B0604020202020204" pitchFamily="34" charset="0"/>
              </a:rPr>
              <a:t>H. Lower-Order Questions </a:t>
            </a:r>
            <a:endParaRPr lang="en-GB" sz="1800" dirty="0">
              <a:effectLst/>
              <a:latin typeface="Arial" panose="020B0604020202020204" pitchFamily="34" charset="0"/>
              <a:ea typeface="MS Mincho" panose="02020609040205080304" pitchFamily="49" charset="-128"/>
              <a:cs typeface="Times New Roman" panose="02020603050405020304" pitchFamily="18" charset="0"/>
            </a:endParaRPr>
          </a:p>
          <a:p>
            <a:pPr marL="342900" lvl="0" indent="-342900" algn="just">
              <a:buFont typeface="+mj-lt"/>
              <a:buAutoNum type="arabicPeriod"/>
            </a:pPr>
            <a:r>
              <a:rPr lang="en-GB" sz="1800" dirty="0">
                <a:solidFill>
                  <a:srgbClr val="000000"/>
                </a:solidFill>
                <a:effectLst/>
                <a:latin typeface="Arial" panose="020B0604020202020204" pitchFamily="34" charset="0"/>
                <a:ea typeface="MS Mincho" panose="02020609040205080304" pitchFamily="49" charset="-128"/>
              </a:rPr>
              <a:t>Which of the following is NOT a measure of central tendency?</a:t>
            </a:r>
          </a:p>
          <a:p>
            <a:pPr marL="228600" algn="just"/>
            <a:endParaRPr lang="en-GB" sz="1800" dirty="0">
              <a:solidFill>
                <a:srgbClr val="000000"/>
              </a:solidFill>
              <a:effectLst/>
              <a:latin typeface="Arial" panose="020B0604020202020204" pitchFamily="34" charset="0"/>
              <a:ea typeface="MS Mincho" panose="02020609040205080304" pitchFamily="49" charset="-128"/>
            </a:endParaRPr>
          </a:p>
          <a:p>
            <a:pPr marL="228600" algn="just"/>
            <a:r>
              <a:rPr lang="en-GB" sz="1800" dirty="0">
                <a:solidFill>
                  <a:srgbClr val="000000"/>
                </a:solidFill>
                <a:effectLst/>
                <a:latin typeface="Arial" panose="020B0604020202020204" pitchFamily="34" charset="0"/>
                <a:ea typeface="MS Mincho" panose="02020609040205080304" pitchFamily="49" charset="-128"/>
              </a:rPr>
              <a:t>A. Mean</a:t>
            </a:r>
          </a:p>
          <a:p>
            <a:pPr marL="228600" algn="just"/>
            <a:r>
              <a:rPr lang="en-GB" sz="1800" dirty="0">
                <a:solidFill>
                  <a:srgbClr val="000000"/>
                </a:solidFill>
                <a:effectLst/>
                <a:latin typeface="Arial" panose="020B0604020202020204" pitchFamily="34" charset="0"/>
                <a:ea typeface="MS Mincho" panose="02020609040205080304" pitchFamily="49" charset="-128"/>
              </a:rPr>
              <a:t>B. Median</a:t>
            </a:r>
          </a:p>
          <a:p>
            <a:pPr marL="228600" algn="just"/>
            <a:r>
              <a:rPr lang="en-GB" sz="1800" dirty="0">
                <a:solidFill>
                  <a:srgbClr val="000000"/>
                </a:solidFill>
                <a:effectLst/>
                <a:latin typeface="Arial" panose="020B0604020202020204" pitchFamily="34" charset="0"/>
                <a:ea typeface="MS Mincho" panose="02020609040205080304" pitchFamily="49" charset="-128"/>
              </a:rPr>
              <a:t>C. Mode</a:t>
            </a:r>
          </a:p>
          <a:p>
            <a:pPr marL="228600" algn="just"/>
            <a:r>
              <a:rPr lang="en-GB" sz="1800" dirty="0">
                <a:solidFill>
                  <a:srgbClr val="000000"/>
                </a:solidFill>
                <a:effectLst/>
                <a:latin typeface="Arial" panose="020B0604020202020204" pitchFamily="34" charset="0"/>
                <a:ea typeface="MS Mincho" panose="02020609040205080304" pitchFamily="49" charset="-128"/>
              </a:rPr>
              <a:t>D. Rang</a:t>
            </a:r>
            <a:r>
              <a:rPr lang="en-GB" sz="1800" b="1" dirty="0">
                <a:solidFill>
                  <a:srgbClr val="000000"/>
                </a:solidFill>
                <a:effectLst/>
                <a:latin typeface="Arial" panose="020B0604020202020204" pitchFamily="34" charset="0"/>
                <a:ea typeface="MS Mincho" panose="02020609040205080304" pitchFamily="49" charset="-128"/>
              </a:rPr>
              <a:t>e</a:t>
            </a:r>
            <a:endParaRPr lang="en-GB" sz="1800" dirty="0">
              <a:solidFill>
                <a:srgbClr val="000000"/>
              </a:solidFill>
              <a:effectLst/>
              <a:latin typeface="Arial" panose="020B0604020202020204" pitchFamily="34" charset="0"/>
              <a:ea typeface="MS Mincho" panose="02020609040205080304" pitchFamily="49" charset="-128"/>
            </a:endParaRPr>
          </a:p>
          <a:p>
            <a:pPr marL="228600" algn="just"/>
            <a:endParaRPr lang="en-GB" sz="1800" dirty="0">
              <a:solidFill>
                <a:srgbClr val="000000"/>
              </a:solidFill>
              <a:effectLst/>
              <a:latin typeface="Arial" panose="020B0604020202020204" pitchFamily="34" charset="0"/>
              <a:ea typeface="MS Mincho" panose="02020609040205080304" pitchFamily="49" charset="-128"/>
            </a:endParaRPr>
          </a:p>
          <a:p>
            <a:pPr marL="0" lvl="0" indent="0" algn="just">
              <a:buNone/>
            </a:pPr>
            <a:r>
              <a:rPr lang="en-GB" sz="1800" dirty="0">
                <a:solidFill>
                  <a:srgbClr val="000000"/>
                </a:solidFill>
                <a:effectLst/>
                <a:latin typeface="Arial" panose="020B0604020202020204" pitchFamily="34" charset="0"/>
                <a:ea typeface="MS Mincho" panose="02020609040205080304" pitchFamily="49" charset="-128"/>
              </a:rPr>
              <a:t>2. What is the main purpose of descriptive statistics?</a:t>
            </a:r>
          </a:p>
          <a:p>
            <a:pPr marL="228600" algn="just"/>
            <a:r>
              <a:rPr lang="en-GB" sz="1800" dirty="0">
                <a:solidFill>
                  <a:srgbClr val="000000"/>
                </a:solidFill>
                <a:effectLst/>
                <a:latin typeface="Arial" panose="020B0604020202020204" pitchFamily="34" charset="0"/>
                <a:ea typeface="MS Mincho" panose="02020609040205080304" pitchFamily="49" charset="-128"/>
              </a:rPr>
              <a:t> </a:t>
            </a:r>
          </a:p>
          <a:p>
            <a:pPr marL="228600" algn="just"/>
            <a:r>
              <a:rPr lang="en-GB" sz="1800" dirty="0">
                <a:solidFill>
                  <a:srgbClr val="000000"/>
                </a:solidFill>
                <a:effectLst/>
                <a:latin typeface="Arial" panose="020B0604020202020204" pitchFamily="34" charset="0"/>
                <a:ea typeface="MS Mincho" panose="02020609040205080304" pitchFamily="49" charset="-128"/>
              </a:rPr>
              <a:t>A. To test hypotheses</a:t>
            </a:r>
          </a:p>
          <a:p>
            <a:pPr marL="228600" algn="just"/>
            <a:r>
              <a:rPr lang="en-GB" sz="1800" dirty="0">
                <a:solidFill>
                  <a:srgbClr val="000000"/>
                </a:solidFill>
                <a:effectLst/>
                <a:latin typeface="Arial" panose="020B0604020202020204" pitchFamily="34" charset="0"/>
                <a:ea typeface="MS Mincho" panose="02020609040205080304" pitchFamily="49" charset="-128"/>
              </a:rPr>
              <a:t>B. To determine causality</a:t>
            </a:r>
          </a:p>
          <a:p>
            <a:pPr marL="228600" algn="just"/>
            <a:r>
              <a:rPr lang="en-GB" sz="1800" dirty="0">
                <a:solidFill>
                  <a:srgbClr val="000000"/>
                </a:solidFill>
                <a:effectLst/>
                <a:latin typeface="Arial" panose="020B0604020202020204" pitchFamily="34" charset="0"/>
                <a:ea typeface="MS Mincho" panose="02020609040205080304" pitchFamily="49" charset="-128"/>
              </a:rPr>
              <a:t>C. To summarise and describe features of a datase</a:t>
            </a:r>
            <a:r>
              <a:rPr lang="en-GB" sz="1800" b="1" dirty="0">
                <a:solidFill>
                  <a:srgbClr val="000000"/>
                </a:solidFill>
                <a:effectLst/>
                <a:latin typeface="Arial" panose="020B0604020202020204" pitchFamily="34" charset="0"/>
                <a:ea typeface="MS Mincho" panose="02020609040205080304" pitchFamily="49" charset="-128"/>
              </a:rPr>
              <a:t>t</a:t>
            </a:r>
            <a:endParaRPr lang="en-GB" sz="1800" dirty="0">
              <a:solidFill>
                <a:srgbClr val="000000"/>
              </a:solidFill>
              <a:effectLst/>
              <a:latin typeface="Arial" panose="020B0604020202020204" pitchFamily="34" charset="0"/>
              <a:ea typeface="MS Mincho" panose="02020609040205080304" pitchFamily="49" charset="-128"/>
            </a:endParaRPr>
          </a:p>
          <a:p>
            <a:pPr marL="228600" algn="just"/>
            <a:r>
              <a:rPr lang="en-GB" sz="1800" dirty="0">
                <a:solidFill>
                  <a:srgbClr val="000000"/>
                </a:solidFill>
                <a:effectLst/>
                <a:latin typeface="Arial" panose="020B0604020202020204" pitchFamily="34" charset="0"/>
                <a:ea typeface="MS Mincho" panose="02020609040205080304" pitchFamily="49" charset="-128"/>
              </a:rPr>
              <a:t>D. To make generalisations about a population</a:t>
            </a:r>
          </a:p>
          <a:p>
            <a:pPr marL="228600" algn="just"/>
            <a:r>
              <a:rPr lang="en-GB" sz="1800" dirty="0">
                <a:solidFill>
                  <a:srgbClr val="000000"/>
                </a:solidFill>
                <a:effectLst/>
                <a:latin typeface="Arial" panose="020B0604020202020204" pitchFamily="34" charset="0"/>
                <a:ea typeface="MS Mincho" panose="02020609040205080304" pitchFamily="49" charset="-128"/>
              </a:rPr>
              <a:t> </a:t>
            </a:r>
          </a:p>
          <a:p>
            <a:pPr marL="0" lvl="0" indent="0" algn="just">
              <a:buNone/>
            </a:pPr>
            <a:r>
              <a:rPr lang="en-GB" sz="1800" dirty="0">
                <a:solidFill>
                  <a:srgbClr val="000000"/>
                </a:solidFill>
                <a:effectLst/>
                <a:latin typeface="Arial" panose="020B0604020202020204" pitchFamily="34" charset="0"/>
                <a:ea typeface="MS Mincho" panose="02020609040205080304" pitchFamily="49" charset="-128"/>
              </a:rPr>
              <a:t>3 Which of the following statistical tools is commonly used in inferential statistics?</a:t>
            </a:r>
          </a:p>
          <a:p>
            <a:pPr marL="228600" algn="just"/>
            <a:endParaRPr lang="en-GB" sz="1800" dirty="0">
              <a:solidFill>
                <a:srgbClr val="000000"/>
              </a:solidFill>
              <a:effectLst/>
              <a:latin typeface="Arial" panose="020B0604020202020204" pitchFamily="34" charset="0"/>
              <a:ea typeface="MS Mincho" panose="02020609040205080304" pitchFamily="49" charset="-128"/>
            </a:endParaRPr>
          </a:p>
          <a:p>
            <a:pPr marL="228600" algn="just"/>
            <a:r>
              <a:rPr lang="en-GB" sz="1800" dirty="0">
                <a:solidFill>
                  <a:srgbClr val="000000"/>
                </a:solidFill>
                <a:effectLst/>
                <a:latin typeface="Arial" panose="020B0604020202020204" pitchFamily="34" charset="0"/>
                <a:ea typeface="MS Mincho" panose="02020609040205080304" pitchFamily="49" charset="-128"/>
              </a:rPr>
              <a:t>A. Frequency tables</a:t>
            </a:r>
          </a:p>
          <a:p>
            <a:pPr marL="228600" algn="just"/>
            <a:r>
              <a:rPr lang="en-GB" sz="1800" dirty="0">
                <a:solidFill>
                  <a:srgbClr val="000000"/>
                </a:solidFill>
                <a:effectLst/>
                <a:latin typeface="Arial" panose="020B0604020202020204" pitchFamily="34" charset="0"/>
                <a:ea typeface="MS Mincho" panose="02020609040205080304" pitchFamily="49" charset="-128"/>
              </a:rPr>
              <a:t>B. Standard deviation</a:t>
            </a:r>
          </a:p>
          <a:p>
            <a:pPr marL="228600" algn="just"/>
            <a:r>
              <a:rPr lang="en-GB" sz="1800" dirty="0">
                <a:solidFill>
                  <a:srgbClr val="000000"/>
                </a:solidFill>
                <a:effectLst/>
                <a:latin typeface="Arial" panose="020B0604020202020204" pitchFamily="34" charset="0"/>
                <a:ea typeface="MS Mincho" panose="02020609040205080304" pitchFamily="49" charset="-128"/>
              </a:rPr>
              <a:t>C. Chi-square tes</a:t>
            </a:r>
            <a:r>
              <a:rPr lang="en-GB" sz="1800" b="1" dirty="0">
                <a:solidFill>
                  <a:srgbClr val="000000"/>
                </a:solidFill>
                <a:effectLst/>
                <a:latin typeface="Arial" panose="020B0604020202020204" pitchFamily="34" charset="0"/>
                <a:ea typeface="MS Mincho" panose="02020609040205080304" pitchFamily="49" charset="-128"/>
              </a:rPr>
              <a:t>t</a:t>
            </a:r>
            <a:endParaRPr lang="en-GB" sz="1800" dirty="0">
              <a:solidFill>
                <a:srgbClr val="000000"/>
              </a:solidFill>
              <a:effectLst/>
              <a:latin typeface="Arial" panose="020B0604020202020204" pitchFamily="34" charset="0"/>
              <a:ea typeface="MS Mincho" panose="02020609040205080304" pitchFamily="49" charset="-128"/>
            </a:endParaRPr>
          </a:p>
          <a:p>
            <a:pPr marL="228600" algn="just"/>
            <a:r>
              <a:rPr lang="en-GB" sz="1800" dirty="0">
                <a:solidFill>
                  <a:srgbClr val="000000"/>
                </a:solidFill>
                <a:effectLst/>
                <a:latin typeface="Arial" panose="020B0604020202020204" pitchFamily="34" charset="0"/>
                <a:ea typeface="MS Mincho" panose="02020609040205080304" pitchFamily="49" charset="-128"/>
              </a:rPr>
              <a:t>D. Pie chart</a:t>
            </a:r>
          </a:p>
          <a:p>
            <a:endParaRPr lang="en-GB" dirty="0"/>
          </a:p>
        </p:txBody>
      </p:sp>
    </p:spTree>
    <p:extLst>
      <p:ext uri="{BB962C8B-B14F-4D97-AF65-F5344CB8AC3E}">
        <p14:creationId xmlns:p14="http://schemas.microsoft.com/office/powerpoint/2010/main" val="2047163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2937</Words>
  <Application>Microsoft Office PowerPoint</Application>
  <PresentationFormat>On-screen Show (4:3)</PresentationFormat>
  <Paragraphs>171</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 Math</vt:lpstr>
      <vt:lpstr>Courier New</vt:lpstr>
      <vt:lpstr>Symbol</vt:lpstr>
      <vt:lpstr>Times New Roman</vt:lpstr>
      <vt:lpstr>Office Theme</vt:lpstr>
      <vt:lpstr>Research Methodology 4 (2025) Week 5</vt:lpstr>
      <vt:lpstr>Qualitative Data Analysis – Descriptive and Inferential Statistics </vt:lpstr>
      <vt:lpstr>PowerPoint Presentation</vt:lpstr>
      <vt:lpstr> B. Frequency Tables and Percentages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Vhutshilo Macheque</cp:lastModifiedBy>
  <cp:revision>2</cp:revision>
  <dcterms:created xsi:type="dcterms:W3CDTF">2013-01-27T09:14:16Z</dcterms:created>
  <dcterms:modified xsi:type="dcterms:W3CDTF">2025-08-26T20:09:00Z</dcterms:modified>
  <cp:category/>
</cp:coreProperties>
</file>