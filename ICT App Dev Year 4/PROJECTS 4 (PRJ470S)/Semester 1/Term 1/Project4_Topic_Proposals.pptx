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A020"/>
          </a:solidFill>
          <a:ln w="12700">
            <a:solidFill>
              <a:srgbClr val="E8A020"/>
            </a:solidFill>
            <a:prstDash val="solid"/>
          </a:ln>
        </p:spPr>
      </p:sp>
      <p:sp>
        <p:nvSpPr>
          <p:cNvPr id="3" name="Shape 1"/>
          <p:cNvSpPr/>
          <p:nvPr/>
        </p:nvSpPr>
        <p:spPr>
          <a:xfrm>
            <a:off x="6583680" y="457200"/>
            <a:ext cx="3200400" cy="3200400"/>
          </a:xfrm>
          <a:prstGeom prst="ellipse">
            <a:avLst/>
          </a:prstGeom>
          <a:solidFill>
            <a:srgbClr val="E8A020">
              <a:alpha val="12000"/>
            </a:srgbClr>
          </a:solidFill>
          <a:ln w="12700">
            <a:solidFill>
              <a:srgbClr val="E8A020">
                <a:alpha val="30000"/>
              </a:srgbClr>
            </a:solidFill>
            <a:prstDash val="solid"/>
          </a:ln>
        </p:spPr>
      </p:sp>
      <p:sp>
        <p:nvSpPr>
          <p:cNvPr id="4" name="Shape 2"/>
          <p:cNvSpPr/>
          <p:nvPr/>
        </p:nvSpPr>
        <p:spPr>
          <a:xfrm>
            <a:off x="7040880" y="822960"/>
            <a:ext cx="2286000" cy="2286000"/>
          </a:xfrm>
          <a:prstGeom prst="ellipse">
            <a:avLst/>
          </a:prstGeom>
          <a:solidFill>
            <a:srgbClr val="E8A020">
              <a:alpha val="20000"/>
            </a:srgbClr>
          </a:solidFill>
          <a:ln w="12700">
            <a:solidFill>
              <a:srgbClr val="E8A020">
                <a:alpha val="40000"/>
              </a:srgbClr>
            </a:solidFill>
            <a:prstDash val="solid"/>
          </a:ln>
        </p:spPr>
      </p:sp>
      <p:sp>
        <p:nvSpPr>
          <p:cNvPr id="5" name="Text 3"/>
          <p:cNvSpPr/>
          <p:nvPr/>
        </p:nvSpPr>
        <p:spPr>
          <a:xfrm>
            <a:off x="548640" y="1005840"/>
            <a:ext cx="6400800" cy="502920"/>
          </a:xfrm>
          <a:prstGeom prst="rect">
            <a:avLst/>
          </a:prstGeom>
          <a:noFill/>
          <a:ln/>
        </p:spPr>
        <p:txBody>
          <a:bodyPr wrap="square" rtlCol="0" anchor="ctr"/>
          <a:lstStyle/>
          <a:p>
            <a:pPr indent="0" marL="0">
              <a:buNone/>
            </a:pPr>
            <a:r>
              <a:rPr lang="en-US" sz="1600" spc="500" kern="0" dirty="0">
                <a:solidFill>
                  <a:srgbClr val="E8A020"/>
                </a:solidFill>
                <a:latin typeface="Calibri" pitchFamily="34" charset="0"/>
                <a:ea typeface="Calibri" pitchFamily="34" charset="-122"/>
                <a:cs typeface="Calibri" pitchFamily="34" charset="-120"/>
              </a:rPr>
              <a:t>Project 4</a:t>
            </a:r>
            <a:endParaRPr lang="en-US" sz="1600" dirty="0"/>
          </a:p>
        </p:txBody>
      </p:sp>
      <p:sp>
        <p:nvSpPr>
          <p:cNvPr id="6" name="Text 4"/>
          <p:cNvSpPr/>
          <p:nvPr/>
        </p:nvSpPr>
        <p:spPr>
          <a:xfrm>
            <a:off x="548640" y="1463040"/>
            <a:ext cx="7315200" cy="914400"/>
          </a:xfrm>
          <a:prstGeom prst="rect">
            <a:avLst/>
          </a:prstGeom>
          <a:noFill/>
          <a:ln/>
        </p:spPr>
        <p:txBody>
          <a:bodyPr wrap="square"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Research Topic Proposals</a:t>
            </a:r>
            <a:endParaRPr lang="en-US" sz="3800" dirty="0"/>
          </a:p>
        </p:txBody>
      </p:sp>
      <p:sp>
        <p:nvSpPr>
          <p:cNvPr id="7" name="Shape 5"/>
          <p:cNvSpPr/>
          <p:nvPr/>
        </p:nvSpPr>
        <p:spPr>
          <a:xfrm>
            <a:off x="548640" y="2468880"/>
            <a:ext cx="1097280" cy="45720"/>
          </a:xfrm>
          <a:prstGeom prst="rect">
            <a:avLst/>
          </a:prstGeom>
          <a:solidFill>
            <a:srgbClr val="E8A020"/>
          </a:solidFill>
          <a:ln w="12700">
            <a:solidFill>
              <a:srgbClr val="E8A020"/>
            </a:solidFill>
            <a:prstDash val="solid"/>
          </a:ln>
        </p:spPr>
      </p:sp>
      <p:sp>
        <p:nvSpPr>
          <p:cNvPr id="8" name="Text 6"/>
          <p:cNvSpPr/>
          <p:nvPr/>
        </p:nvSpPr>
        <p:spPr>
          <a:xfrm>
            <a:off x="548640" y="2651760"/>
            <a:ext cx="6858000" cy="457200"/>
          </a:xfrm>
          <a:prstGeom prst="rect">
            <a:avLst/>
          </a:prstGeom>
          <a:noFill/>
          <a:ln/>
        </p:spPr>
        <p:txBody>
          <a:bodyPr wrap="square" rtlCol="0" anchor="ctr"/>
          <a:lstStyle/>
          <a:p>
            <a:pPr indent="0" marL="0">
              <a:buNone/>
            </a:pPr>
            <a:r>
              <a:rPr lang="en-US" sz="1400" i="1" dirty="0">
                <a:solidFill>
                  <a:srgbClr val="AABBD4"/>
                </a:solidFill>
                <a:latin typeface="Calibri" pitchFamily="34" charset="0"/>
                <a:ea typeface="Calibri" pitchFamily="34" charset="-122"/>
                <a:cs typeface="Calibri" pitchFamily="34" charset="-120"/>
              </a:rPr>
              <a:t>Three ICT-focused topics with a South African context and global reach</a:t>
            </a:r>
            <a:endParaRPr lang="en-US" sz="1400" dirty="0"/>
          </a:p>
        </p:txBody>
      </p:sp>
      <p:sp>
        <p:nvSpPr>
          <p:cNvPr id="9" name="Shape 7"/>
          <p:cNvSpPr/>
          <p:nvPr/>
        </p:nvSpPr>
        <p:spPr>
          <a:xfrm>
            <a:off x="548640" y="3383280"/>
            <a:ext cx="1920240" cy="502920"/>
          </a:xfrm>
          <a:prstGeom prst="roundRect">
            <a:avLst>
              <a:gd name="adj" fmla="val 14545"/>
            </a:avLst>
          </a:prstGeom>
          <a:solidFill>
            <a:srgbClr val="1565C0"/>
          </a:solidFill>
          <a:ln w="12700">
            <a:solidFill>
              <a:srgbClr val="1565C0"/>
            </a:solidFill>
            <a:prstDash val="solid"/>
          </a:ln>
        </p:spPr>
      </p:sp>
      <p:sp>
        <p:nvSpPr>
          <p:cNvPr id="10" name="Text 8"/>
          <p:cNvSpPr/>
          <p:nvPr/>
        </p:nvSpPr>
        <p:spPr>
          <a:xfrm>
            <a:off x="548640" y="3383280"/>
            <a:ext cx="192024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Cybersecurity</a:t>
            </a:r>
            <a:endParaRPr lang="en-US" sz="1100" dirty="0"/>
          </a:p>
        </p:txBody>
      </p:sp>
      <p:sp>
        <p:nvSpPr>
          <p:cNvPr id="11" name="Shape 9"/>
          <p:cNvSpPr/>
          <p:nvPr/>
        </p:nvSpPr>
        <p:spPr>
          <a:xfrm>
            <a:off x="2578608" y="3383280"/>
            <a:ext cx="1920240" cy="502920"/>
          </a:xfrm>
          <a:prstGeom prst="roundRect">
            <a:avLst>
              <a:gd name="adj" fmla="val 14545"/>
            </a:avLst>
          </a:prstGeom>
          <a:solidFill>
            <a:srgbClr val="00695C"/>
          </a:solidFill>
          <a:ln w="12700">
            <a:solidFill>
              <a:srgbClr val="00695C"/>
            </a:solidFill>
            <a:prstDash val="solid"/>
          </a:ln>
        </p:spPr>
      </p:sp>
      <p:sp>
        <p:nvSpPr>
          <p:cNvPr id="12" name="Text 10"/>
          <p:cNvSpPr/>
          <p:nvPr/>
        </p:nvSpPr>
        <p:spPr>
          <a:xfrm>
            <a:off x="2578608" y="3383280"/>
            <a:ext cx="192024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Fintech</a:t>
            </a:r>
            <a:endParaRPr lang="en-US" sz="1100" dirty="0"/>
          </a:p>
        </p:txBody>
      </p:sp>
      <p:sp>
        <p:nvSpPr>
          <p:cNvPr id="13" name="Shape 11"/>
          <p:cNvSpPr/>
          <p:nvPr/>
        </p:nvSpPr>
        <p:spPr>
          <a:xfrm>
            <a:off x="4608576" y="3383280"/>
            <a:ext cx="1920240" cy="502920"/>
          </a:xfrm>
          <a:prstGeom prst="roundRect">
            <a:avLst>
              <a:gd name="adj" fmla="val 14545"/>
            </a:avLst>
          </a:prstGeom>
          <a:solidFill>
            <a:srgbClr val="6A1B9A"/>
          </a:solidFill>
          <a:ln w="12700">
            <a:solidFill>
              <a:srgbClr val="6A1B9A"/>
            </a:solidFill>
            <a:prstDash val="solid"/>
          </a:ln>
        </p:spPr>
      </p:sp>
      <p:sp>
        <p:nvSpPr>
          <p:cNvPr id="14" name="Text 12"/>
          <p:cNvSpPr/>
          <p:nvPr/>
        </p:nvSpPr>
        <p:spPr>
          <a:xfrm>
            <a:off x="4608576" y="3383280"/>
            <a:ext cx="192024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Cloud Computing</a:t>
            </a:r>
            <a:endParaRPr lang="en-US" sz="1100" dirty="0"/>
          </a:p>
        </p:txBody>
      </p:sp>
      <p:sp>
        <p:nvSpPr>
          <p:cNvPr id="15" name="Shape 13"/>
          <p:cNvSpPr/>
          <p:nvPr/>
        </p:nvSpPr>
        <p:spPr>
          <a:xfrm>
            <a:off x="6638544" y="3383280"/>
            <a:ext cx="1920240" cy="502920"/>
          </a:xfrm>
          <a:prstGeom prst="roundRect">
            <a:avLst>
              <a:gd name="adj" fmla="val 14545"/>
            </a:avLst>
          </a:prstGeom>
          <a:solidFill>
            <a:srgbClr val="B71C1C"/>
          </a:solidFill>
          <a:ln w="12700">
            <a:solidFill>
              <a:srgbClr val="B71C1C"/>
            </a:solidFill>
            <a:prstDash val="solid"/>
          </a:ln>
        </p:spPr>
      </p:sp>
      <p:sp>
        <p:nvSpPr>
          <p:cNvPr id="16" name="Text 14"/>
          <p:cNvSpPr/>
          <p:nvPr/>
        </p:nvSpPr>
        <p:spPr>
          <a:xfrm>
            <a:off x="6638544" y="3383280"/>
            <a:ext cx="192024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Data Centres</a:t>
            </a:r>
            <a:endParaRPr lang="en-US" sz="1100" dirty="0"/>
          </a:p>
        </p:txBody>
      </p:sp>
      <p:sp>
        <p:nvSpPr>
          <p:cNvPr id="17" name="Text 15"/>
          <p:cNvSpPr/>
          <p:nvPr/>
        </p:nvSpPr>
        <p:spPr>
          <a:xfrm>
            <a:off x="0" y="4754880"/>
            <a:ext cx="9144000" cy="274320"/>
          </a:xfrm>
          <a:prstGeom prst="rect">
            <a:avLst/>
          </a:prstGeom>
          <a:noFill/>
          <a:ln/>
        </p:spPr>
        <p:txBody>
          <a:bodyPr wrap="square" rtlCol="0" anchor="ctr"/>
          <a:lstStyle/>
          <a:p>
            <a:pPr algn="ctr" indent="0" marL="0">
              <a:buNone/>
            </a:pPr>
            <a:r>
              <a:rPr lang="en-US" sz="1000" dirty="0">
                <a:solidFill>
                  <a:srgbClr val="6B8CB8"/>
                </a:solidFill>
                <a:latin typeface="Calibri" pitchFamily="34" charset="0"/>
                <a:ea typeface="Calibri" pitchFamily="34" charset="-122"/>
                <a:cs typeface="Calibri" pitchFamily="34" charset="-120"/>
              </a:rPr>
              <a:t>Advanced Diploma in Information Technology  •  2026</a:t>
            </a:r>
            <a:endParaRPr lang="en-US" sz="1000" dirty="0"/>
          </a:p>
        </p:txBody>
      </p:sp>
      <p:sp>
        <p:nvSpPr>
          <p:cNvPr id="18" name="Shape 16"/>
          <p:cNvSpPr/>
          <p:nvPr/>
        </p:nvSpPr>
        <p:spPr>
          <a:xfrm>
            <a:off x="0" y="5093208"/>
            <a:ext cx="9144000" cy="54864"/>
          </a:xfrm>
          <a:prstGeom prst="rect">
            <a:avLst/>
          </a:prstGeom>
          <a:solidFill>
            <a:srgbClr val="E8A020"/>
          </a:solidFill>
          <a:ln w="12700">
            <a:solidFill>
              <a:srgbClr val="E8A020"/>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565C0"/>
          </a:solidFill>
          <a:ln w="12700">
            <a:solidFill>
              <a:srgbClr val="1565C0"/>
            </a:solidFill>
            <a:prstDash val="solid"/>
          </a:ln>
        </p:spPr>
      </p:sp>
      <p:sp>
        <p:nvSpPr>
          <p:cNvPr id="3" name="Shape 1"/>
          <p:cNvSpPr/>
          <p:nvPr/>
        </p:nvSpPr>
        <p:spPr>
          <a:xfrm>
            <a:off x="201168" y="0"/>
            <a:ext cx="8942832" cy="658368"/>
          </a:xfrm>
          <a:prstGeom prst="rect">
            <a:avLst/>
          </a:prstGeom>
          <a:solidFill>
            <a:srgbClr val="0D1B3E"/>
          </a:solidFill>
          <a:ln w="12700">
            <a:solidFill>
              <a:srgbClr val="0D1B3E"/>
            </a:solidFill>
            <a:prstDash val="solid"/>
          </a:ln>
        </p:spPr>
      </p:sp>
      <p:sp>
        <p:nvSpPr>
          <p:cNvPr id="4" name="Text 2"/>
          <p:cNvSpPr/>
          <p:nvPr/>
        </p:nvSpPr>
        <p:spPr>
          <a:xfrm>
            <a:off x="384048" y="36576"/>
            <a:ext cx="4572000" cy="256032"/>
          </a:xfrm>
          <a:prstGeom prst="rect">
            <a:avLst/>
          </a:prstGeom>
          <a:noFill/>
          <a:ln/>
        </p:spPr>
        <p:txBody>
          <a:bodyPr wrap="square" rtlCol="0" anchor="ctr"/>
          <a:lstStyle/>
          <a:p>
            <a:pPr indent="0" marL="0">
              <a:buNone/>
            </a:pPr>
            <a:r>
              <a:rPr lang="en-US" sz="900" b="1" spc="250" kern="0" dirty="0">
                <a:solidFill>
                  <a:srgbClr val="E8A020"/>
                </a:solidFill>
                <a:latin typeface="Calibri" pitchFamily="34" charset="0"/>
                <a:ea typeface="Calibri" pitchFamily="34" charset="-122"/>
                <a:cs typeface="Calibri" pitchFamily="34" charset="-120"/>
              </a:rPr>
              <a:t>PROPOSED TOPIC &amp; AIM</a:t>
            </a:r>
            <a:endParaRPr lang="en-US" sz="900" dirty="0"/>
          </a:p>
        </p:txBody>
      </p:sp>
      <p:sp>
        <p:nvSpPr>
          <p:cNvPr id="5" name="Text 3"/>
          <p:cNvSpPr/>
          <p:nvPr/>
        </p:nvSpPr>
        <p:spPr>
          <a:xfrm>
            <a:off x="384048" y="292608"/>
            <a:ext cx="8412480" cy="329184"/>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  Topic 1  ·  CYBERSECURITY</a:t>
            </a:r>
            <a:endParaRPr lang="en-US" sz="1700" dirty="0"/>
          </a:p>
        </p:txBody>
      </p:sp>
      <p:sp>
        <p:nvSpPr>
          <p:cNvPr id="6" name="Shape 4"/>
          <p:cNvSpPr/>
          <p:nvPr/>
        </p:nvSpPr>
        <p:spPr>
          <a:xfrm>
            <a:off x="320040" y="768096"/>
            <a:ext cx="914400" cy="292608"/>
          </a:xfrm>
          <a:prstGeom prst="rect">
            <a:avLst/>
          </a:prstGeom>
          <a:solidFill>
            <a:srgbClr val="1565C0"/>
          </a:solidFill>
          <a:ln w="12700">
            <a:solidFill>
              <a:srgbClr val="1565C0"/>
            </a:solidFill>
            <a:prstDash val="solid"/>
          </a:ln>
        </p:spPr>
      </p:sp>
      <p:sp>
        <p:nvSpPr>
          <p:cNvPr id="7" name="Text 5"/>
          <p:cNvSpPr/>
          <p:nvPr/>
        </p:nvSpPr>
        <p:spPr>
          <a:xfrm>
            <a:off x="320040" y="768096"/>
            <a:ext cx="914400" cy="292608"/>
          </a:xfrm>
          <a:prstGeom prst="rect">
            <a:avLst/>
          </a:prstGeom>
          <a:noFill/>
          <a:ln/>
        </p:spPr>
        <p:txBody>
          <a:bodyPr wrap="square"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TOPIC</a:t>
            </a:r>
            <a:endParaRPr lang="en-US" sz="1000" dirty="0"/>
          </a:p>
        </p:txBody>
      </p:sp>
      <p:sp>
        <p:nvSpPr>
          <p:cNvPr id="8" name="Shape 6"/>
          <p:cNvSpPr/>
          <p:nvPr/>
        </p:nvSpPr>
        <p:spPr>
          <a:xfrm>
            <a:off x="320040" y="1078992"/>
            <a:ext cx="8503920" cy="841248"/>
          </a:xfrm>
          <a:prstGeom prst="rect">
            <a:avLst/>
          </a:prstGeom>
          <a:solidFill>
            <a:srgbClr val="FFFFFF"/>
          </a:solidFill>
          <a:ln w="15240">
            <a:solidFill>
              <a:srgbClr val="1565C0"/>
            </a:solidFill>
            <a:prstDash val="solid"/>
          </a:ln>
          <a:effectLst>
            <a:outerShdw sx="100000" sy="100000" kx="0" ky="0" algn="bl" rotWithShape="0" blurRad="76200" dist="25400" dir="8100000">
              <a:srgbClr val="000000">
                <a:alpha val="12000"/>
              </a:srgbClr>
            </a:outerShdw>
          </a:effectLst>
        </p:spPr>
      </p:sp>
      <p:sp>
        <p:nvSpPr>
          <p:cNvPr id="9" name="Text 7"/>
          <p:cNvSpPr/>
          <p:nvPr/>
        </p:nvSpPr>
        <p:spPr>
          <a:xfrm>
            <a:off x="502920" y="1115568"/>
            <a:ext cx="8229600" cy="768096"/>
          </a:xfrm>
          <a:prstGeom prst="rect">
            <a:avLst/>
          </a:prstGeom>
          <a:noFill/>
          <a:ln/>
        </p:spPr>
        <p:txBody>
          <a:bodyPr wrap="square" rtlCol="0" anchor="ctr"/>
          <a:lstStyle/>
          <a:p>
            <a:pPr indent="0" marL="0">
              <a:buNone/>
            </a:pPr>
            <a:r>
              <a:rPr lang="en-US" sz="1350" b="1" dirty="0">
                <a:solidFill>
                  <a:srgbClr val="1A2340"/>
                </a:solidFill>
                <a:latin typeface="Calibri" pitchFamily="34" charset="0"/>
                <a:ea typeface="Calibri" pitchFamily="34" charset="-122"/>
                <a:cs typeface="Calibri" pitchFamily="34" charset="-120"/>
              </a:rPr>
              <a:t>The Role of Human Error and Cybersecurity Awareness in Data Breaches within South African Organisations: A Review of Local Incidents and Global Behavioural Research</a:t>
            </a:r>
            <a:endParaRPr lang="en-US" sz="1350" dirty="0"/>
          </a:p>
        </p:txBody>
      </p:sp>
      <p:sp>
        <p:nvSpPr>
          <p:cNvPr id="10" name="Shape 8"/>
          <p:cNvSpPr/>
          <p:nvPr/>
        </p:nvSpPr>
        <p:spPr>
          <a:xfrm>
            <a:off x="320040" y="2029968"/>
            <a:ext cx="804672" cy="292608"/>
          </a:xfrm>
          <a:prstGeom prst="rect">
            <a:avLst/>
          </a:prstGeom>
          <a:solidFill>
            <a:srgbClr val="334477"/>
          </a:solidFill>
          <a:ln w="12700">
            <a:solidFill>
              <a:srgbClr val="334477"/>
            </a:solidFill>
            <a:prstDash val="solid"/>
          </a:ln>
        </p:spPr>
      </p:sp>
      <p:sp>
        <p:nvSpPr>
          <p:cNvPr id="11" name="Text 9"/>
          <p:cNvSpPr/>
          <p:nvPr/>
        </p:nvSpPr>
        <p:spPr>
          <a:xfrm>
            <a:off x="320040" y="2029968"/>
            <a:ext cx="804672" cy="292608"/>
          </a:xfrm>
          <a:prstGeom prst="rect">
            <a:avLst/>
          </a:prstGeom>
          <a:noFill/>
          <a:ln/>
        </p:spPr>
        <p:txBody>
          <a:bodyPr wrap="square"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AIM</a:t>
            </a:r>
            <a:endParaRPr lang="en-US" sz="1000" dirty="0"/>
          </a:p>
        </p:txBody>
      </p:sp>
      <p:sp>
        <p:nvSpPr>
          <p:cNvPr id="12" name="Shape 10"/>
          <p:cNvSpPr/>
          <p:nvPr/>
        </p:nvSpPr>
        <p:spPr>
          <a:xfrm>
            <a:off x="320040" y="2340864"/>
            <a:ext cx="8503920" cy="987552"/>
          </a:xfrm>
          <a:prstGeom prst="rect">
            <a:avLst/>
          </a:prstGeom>
          <a:solidFill>
            <a:srgbClr val="FFFFFF"/>
          </a:solidFill>
          <a:ln w="15240">
            <a:solidFill>
              <a:srgbClr val="334477"/>
            </a:solidFill>
            <a:prstDash val="solid"/>
          </a:ln>
          <a:effectLst>
            <a:outerShdw sx="100000" sy="100000" kx="0" ky="0" algn="bl" rotWithShape="0" blurRad="76200" dist="25400" dir="8100000">
              <a:srgbClr val="000000">
                <a:alpha val="12000"/>
              </a:srgbClr>
            </a:outerShdw>
          </a:effectLst>
        </p:spPr>
      </p:sp>
      <p:sp>
        <p:nvSpPr>
          <p:cNvPr id="13" name="Text 11"/>
          <p:cNvSpPr/>
          <p:nvPr/>
        </p:nvSpPr>
        <p:spPr>
          <a:xfrm>
            <a:off x="502920" y="2377440"/>
            <a:ext cx="8229600" cy="914400"/>
          </a:xfrm>
          <a:prstGeom prst="rect">
            <a:avLst/>
          </a:prstGeom>
          <a:noFill/>
          <a:ln/>
        </p:spPr>
        <p:txBody>
          <a:bodyPr wrap="square" rtlCol="0" anchor="ctr"/>
          <a:lstStyle/>
          <a:p>
            <a:pPr indent="0" marL="0">
              <a:buNone/>
            </a:pPr>
            <a:r>
              <a:rPr lang="en-US" sz="1200" i="1" dirty="0">
                <a:solidFill>
                  <a:srgbClr val="4A5568"/>
                </a:solidFill>
                <a:latin typeface="Calibri" pitchFamily="34" charset="0"/>
                <a:ea typeface="Calibri" pitchFamily="34" charset="-122"/>
                <a:cs typeface="Calibri" pitchFamily="34" charset="-120"/>
              </a:rPr>
              <a:t>To investigate what published literature reveals about the relationship between human error, cybersecurity awareness training and the occurrence of data breaches in South African organisations, and to compare local practices and incidents with documented international approaches and findings.</a:t>
            </a:r>
            <a:endParaRPr lang="en-US" sz="1200" dirty="0"/>
          </a:p>
        </p:txBody>
      </p:sp>
      <p:sp>
        <p:nvSpPr>
          <p:cNvPr id="14" name="Shape 12"/>
          <p:cNvSpPr/>
          <p:nvPr/>
        </p:nvSpPr>
        <p:spPr>
          <a:xfrm>
            <a:off x="320040" y="3438144"/>
            <a:ext cx="2788920" cy="1444752"/>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15" name="Shape 13"/>
          <p:cNvSpPr/>
          <p:nvPr/>
        </p:nvSpPr>
        <p:spPr>
          <a:xfrm>
            <a:off x="320040" y="3438144"/>
            <a:ext cx="2788920" cy="36576"/>
          </a:xfrm>
          <a:prstGeom prst="rect">
            <a:avLst/>
          </a:prstGeom>
          <a:solidFill>
            <a:srgbClr val="1565C0"/>
          </a:solidFill>
          <a:ln w="12700">
            <a:solidFill>
              <a:srgbClr val="1565C0"/>
            </a:solidFill>
            <a:prstDash val="solid"/>
          </a:ln>
        </p:spPr>
      </p:sp>
      <p:sp>
        <p:nvSpPr>
          <p:cNvPr id="16" name="Text 14"/>
          <p:cNvSpPr/>
          <p:nvPr/>
        </p:nvSpPr>
        <p:spPr>
          <a:xfrm>
            <a:off x="411480" y="3493008"/>
            <a:ext cx="2606040" cy="256032"/>
          </a:xfrm>
          <a:prstGeom prst="rect">
            <a:avLst/>
          </a:prstGeom>
          <a:noFill/>
          <a:ln/>
        </p:spPr>
        <p:txBody>
          <a:bodyPr wrap="square" rtlCol="0" anchor="ctr"/>
          <a:lstStyle/>
          <a:p>
            <a:pPr indent="0" marL="0">
              <a:buNone/>
            </a:pPr>
            <a:r>
              <a:rPr lang="en-US" sz="850" b="1" spc="100" kern="0" dirty="0">
                <a:solidFill>
                  <a:srgbClr val="1565C0"/>
                </a:solidFill>
                <a:latin typeface="Calibri" pitchFamily="34" charset="0"/>
                <a:ea typeface="Calibri" pitchFamily="34" charset="-122"/>
                <a:cs typeface="Calibri" pitchFamily="34" charset="-120"/>
              </a:rPr>
              <a:t>🇿🇦  SOUTH AFRICAN CONTEXT</a:t>
            </a:r>
            <a:endParaRPr lang="en-US" sz="850" dirty="0"/>
          </a:p>
        </p:txBody>
      </p:sp>
      <p:sp>
        <p:nvSpPr>
          <p:cNvPr id="17" name="Text 15"/>
          <p:cNvSpPr/>
          <p:nvPr/>
        </p:nvSpPr>
        <p:spPr>
          <a:xfrm>
            <a:off x="411480" y="3767328"/>
            <a:ext cx="2633472" cy="1005840"/>
          </a:xfrm>
          <a:prstGeom prst="rect">
            <a:avLst/>
          </a:prstGeom>
          <a:noFill/>
          <a:ln/>
        </p:spPr>
        <p:txBody>
          <a:bodyPr wrap="square" rtlCol="0" anchor="t"/>
          <a:lstStyle/>
          <a:p>
            <a:pPr marL="342900" indent="-342900">
              <a:buSzPct val="100000"/>
              <a:buChar char="•"/>
            </a:pPr>
            <a:r>
              <a:rPr lang="en-US" sz="1000" dirty="0">
                <a:solidFill>
                  <a:srgbClr val="1A2340"/>
                </a:solidFill>
                <a:latin typeface="Calibri" pitchFamily="34" charset="0"/>
                <a:ea typeface="Calibri" pitchFamily="34" charset="-122"/>
                <a:cs typeface="Calibri" pitchFamily="34" charset="-120"/>
              </a:rPr>
              <a:t>2020 Experian SA breach — 24 million records exposed</a:t>
            </a:r>
            <a:endParaRPr lang="en-US" sz="1000" dirty="0"/>
          </a:p>
          <a:p>
            <a:pPr marL="342900" indent="-342900">
              <a:buSzPct val="100000"/>
              <a:buChar char="•"/>
            </a:pPr>
            <a:r>
              <a:rPr lang="en-US" sz="1000" dirty="0">
                <a:solidFill>
                  <a:srgbClr val="1A2340"/>
                </a:solidFill>
                <a:latin typeface="Calibri" pitchFamily="34" charset="0"/>
                <a:ea typeface="Calibri" pitchFamily="34" charset="-122"/>
                <a:cs typeface="Calibri" pitchFamily="34" charset="-120"/>
              </a:rPr>
              <a:t>POPIA enforcement penalties from 2021</a:t>
            </a:r>
            <a:endParaRPr lang="en-US" sz="1000" dirty="0"/>
          </a:p>
          <a:p>
            <a:pPr marL="342900" indent="-342900">
              <a:buSzPct val="100000"/>
              <a:buChar char="•"/>
            </a:pPr>
            <a:r>
              <a:rPr lang="en-US" sz="1000" dirty="0">
                <a:solidFill>
                  <a:srgbClr val="1A2340"/>
                </a:solidFill>
                <a:latin typeface="Calibri" pitchFamily="34" charset="0"/>
                <a:ea typeface="Calibri" pitchFamily="34" charset="-122"/>
                <a:cs typeface="Calibri" pitchFamily="34" charset="-120"/>
              </a:rPr>
              <a:t>Phishing &amp; social engineering in SA banking and government</a:t>
            </a:r>
            <a:endParaRPr lang="en-US" sz="1000" dirty="0"/>
          </a:p>
        </p:txBody>
      </p:sp>
      <p:sp>
        <p:nvSpPr>
          <p:cNvPr id="18" name="Shape 16"/>
          <p:cNvSpPr/>
          <p:nvPr/>
        </p:nvSpPr>
        <p:spPr>
          <a:xfrm>
            <a:off x="3218688" y="3438144"/>
            <a:ext cx="2788920" cy="1444752"/>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19" name="Shape 17"/>
          <p:cNvSpPr/>
          <p:nvPr/>
        </p:nvSpPr>
        <p:spPr>
          <a:xfrm>
            <a:off x="3218688" y="3438144"/>
            <a:ext cx="2788920" cy="36576"/>
          </a:xfrm>
          <a:prstGeom prst="rect">
            <a:avLst/>
          </a:prstGeom>
          <a:solidFill>
            <a:srgbClr val="1565C0"/>
          </a:solidFill>
          <a:ln w="12700">
            <a:solidFill>
              <a:srgbClr val="1565C0"/>
            </a:solidFill>
            <a:prstDash val="solid"/>
          </a:ln>
        </p:spPr>
      </p:sp>
      <p:sp>
        <p:nvSpPr>
          <p:cNvPr id="20" name="Text 18"/>
          <p:cNvSpPr/>
          <p:nvPr/>
        </p:nvSpPr>
        <p:spPr>
          <a:xfrm>
            <a:off x="3310128" y="3493008"/>
            <a:ext cx="2606040" cy="256032"/>
          </a:xfrm>
          <a:prstGeom prst="rect">
            <a:avLst/>
          </a:prstGeom>
          <a:noFill/>
          <a:ln/>
        </p:spPr>
        <p:txBody>
          <a:bodyPr wrap="square" rtlCol="0" anchor="ctr"/>
          <a:lstStyle/>
          <a:p>
            <a:pPr indent="0" marL="0">
              <a:buNone/>
            </a:pPr>
            <a:r>
              <a:rPr lang="en-US" sz="850" b="1" spc="100" kern="0" dirty="0">
                <a:solidFill>
                  <a:srgbClr val="1565C0"/>
                </a:solidFill>
                <a:latin typeface="Calibri" pitchFamily="34" charset="0"/>
                <a:ea typeface="Calibri" pitchFamily="34" charset="-122"/>
                <a:cs typeface="Calibri" pitchFamily="34" charset="-120"/>
              </a:rPr>
              <a:t>🌍  GLOBAL REACH</a:t>
            </a:r>
            <a:endParaRPr lang="en-US" sz="850" dirty="0"/>
          </a:p>
        </p:txBody>
      </p:sp>
      <p:sp>
        <p:nvSpPr>
          <p:cNvPr id="21" name="Text 19"/>
          <p:cNvSpPr/>
          <p:nvPr/>
        </p:nvSpPr>
        <p:spPr>
          <a:xfrm>
            <a:off x="3310128" y="3767328"/>
            <a:ext cx="2633472" cy="1005840"/>
          </a:xfrm>
          <a:prstGeom prst="rect">
            <a:avLst/>
          </a:prstGeom>
          <a:noFill/>
          <a:ln/>
        </p:spPr>
        <p:txBody>
          <a:bodyPr wrap="square" rtlCol="0" anchor="t"/>
          <a:lstStyle/>
          <a:p>
            <a:pPr marL="342900" indent="-342900">
              <a:buSzPct val="100000"/>
              <a:buChar char="•"/>
            </a:pPr>
            <a:r>
              <a:rPr lang="en-US" sz="1000" dirty="0">
                <a:solidFill>
                  <a:srgbClr val="1A2340"/>
                </a:solidFill>
                <a:latin typeface="Calibri" pitchFamily="34" charset="0"/>
                <a:ea typeface="Calibri" pitchFamily="34" charset="-122"/>
                <a:cs typeface="Calibri" pitchFamily="34" charset="-120"/>
              </a:rPr>
              <a:t>IBM Cost of a Data Breach Report (annual)</a:t>
            </a:r>
            <a:endParaRPr lang="en-US" sz="1000" dirty="0"/>
          </a:p>
          <a:p>
            <a:pPr marL="342900" indent="-342900">
              <a:buSzPct val="100000"/>
              <a:buChar char="•"/>
            </a:pPr>
            <a:r>
              <a:rPr lang="en-US" sz="1000" dirty="0">
                <a:solidFill>
                  <a:srgbClr val="1A2340"/>
                </a:solidFill>
                <a:latin typeface="Calibri" pitchFamily="34" charset="0"/>
                <a:ea typeface="Calibri" pitchFamily="34" charset="-122"/>
                <a:cs typeface="Calibri" pitchFamily="34" charset="-120"/>
              </a:rPr>
              <a:t>Verizon Data Breach Investigations Report</a:t>
            </a:r>
            <a:endParaRPr lang="en-US" sz="1000" dirty="0"/>
          </a:p>
          <a:p>
            <a:pPr marL="342900" indent="-342900">
              <a:buSzPct val="100000"/>
              <a:buChar char="•"/>
            </a:pPr>
            <a:r>
              <a:rPr lang="en-US" sz="1000" dirty="0">
                <a:solidFill>
                  <a:srgbClr val="1A2340"/>
                </a:solidFill>
                <a:latin typeface="Calibri" pitchFamily="34" charset="0"/>
                <a:ea typeface="Calibri" pitchFamily="34" charset="-122"/>
                <a:cs typeface="Calibri" pitchFamily="34" charset="-120"/>
              </a:rPr>
              <a:t>SANS Institute security awareness research &amp; IEEE Access</a:t>
            </a:r>
            <a:endParaRPr lang="en-US" sz="1000" dirty="0"/>
          </a:p>
        </p:txBody>
      </p:sp>
      <p:sp>
        <p:nvSpPr>
          <p:cNvPr id="22" name="Shape 20"/>
          <p:cNvSpPr/>
          <p:nvPr/>
        </p:nvSpPr>
        <p:spPr>
          <a:xfrm>
            <a:off x="6035040" y="3438144"/>
            <a:ext cx="2788920" cy="1444752"/>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23" name="Shape 21"/>
          <p:cNvSpPr/>
          <p:nvPr/>
        </p:nvSpPr>
        <p:spPr>
          <a:xfrm>
            <a:off x="6035040" y="3438144"/>
            <a:ext cx="2788920" cy="36576"/>
          </a:xfrm>
          <a:prstGeom prst="rect">
            <a:avLst/>
          </a:prstGeom>
          <a:solidFill>
            <a:srgbClr val="334477"/>
          </a:solidFill>
          <a:ln w="12700">
            <a:solidFill>
              <a:srgbClr val="334477"/>
            </a:solidFill>
            <a:prstDash val="solid"/>
          </a:ln>
        </p:spPr>
      </p:sp>
      <p:sp>
        <p:nvSpPr>
          <p:cNvPr id="24" name="Text 22"/>
          <p:cNvSpPr/>
          <p:nvPr/>
        </p:nvSpPr>
        <p:spPr>
          <a:xfrm>
            <a:off x="6126480" y="3493008"/>
            <a:ext cx="2606040" cy="256032"/>
          </a:xfrm>
          <a:prstGeom prst="rect">
            <a:avLst/>
          </a:prstGeom>
          <a:noFill/>
          <a:ln/>
        </p:spPr>
        <p:txBody>
          <a:bodyPr wrap="square" rtlCol="0" anchor="ctr"/>
          <a:lstStyle/>
          <a:p>
            <a:pPr indent="0" marL="0">
              <a:buNone/>
            </a:pPr>
            <a:r>
              <a:rPr lang="en-US" sz="850" b="1" spc="100" kern="0" dirty="0">
                <a:solidFill>
                  <a:srgbClr val="334477"/>
                </a:solidFill>
                <a:latin typeface="Calibri" pitchFamily="34" charset="0"/>
                <a:ea typeface="Calibri" pitchFamily="34" charset="-122"/>
                <a:cs typeface="Calibri" pitchFamily="34" charset="-120"/>
              </a:rPr>
              <a:t>⚙️  RESEARCH METHOD</a:t>
            </a:r>
            <a:endParaRPr lang="en-US" sz="850" dirty="0"/>
          </a:p>
        </p:txBody>
      </p:sp>
      <p:sp>
        <p:nvSpPr>
          <p:cNvPr id="25" name="Text 23"/>
          <p:cNvSpPr/>
          <p:nvPr/>
        </p:nvSpPr>
        <p:spPr>
          <a:xfrm>
            <a:off x="6126480" y="3767328"/>
            <a:ext cx="2633472" cy="1005840"/>
          </a:xfrm>
          <a:prstGeom prst="rect">
            <a:avLst/>
          </a:prstGeom>
          <a:noFill/>
          <a:ln/>
        </p:spPr>
        <p:txBody>
          <a:bodyPr wrap="square" rtlCol="0" anchor="t"/>
          <a:lstStyle/>
          <a:p>
            <a:pPr indent="0" marL="0">
              <a:buNone/>
            </a:pPr>
            <a:r>
              <a:rPr lang="en-US" sz="1000" dirty="0">
                <a:solidFill>
                  <a:srgbClr val="1A2340"/>
                </a:solidFill>
                <a:latin typeface="Calibri" pitchFamily="34" charset="0"/>
                <a:ea typeface="Calibri" pitchFamily="34" charset="-122"/>
                <a:cs typeface="Calibri" pitchFamily="34" charset="-120"/>
              </a:rPr>
              <a:t>Qualitative systematic literature review — documents, peer-reviewed articles, industry reports. No interviews or questionnaires.</a:t>
            </a:r>
            <a:endParaRPr lang="en-US" sz="1000" dirty="0"/>
          </a:p>
        </p:txBody>
      </p:sp>
      <p:sp>
        <p:nvSpPr>
          <p:cNvPr id="26" name="Shape 24"/>
          <p:cNvSpPr/>
          <p:nvPr/>
        </p:nvSpPr>
        <p:spPr>
          <a:xfrm>
            <a:off x="201168" y="4910328"/>
            <a:ext cx="8942832" cy="237744"/>
          </a:xfrm>
          <a:prstGeom prst="rect">
            <a:avLst/>
          </a:prstGeom>
          <a:solidFill>
            <a:srgbClr val="0D1B3E"/>
          </a:solidFill>
          <a:ln w="12700">
            <a:solidFill>
              <a:srgbClr val="0D1B3E"/>
            </a:solidFill>
            <a:prstDash val="solid"/>
          </a:ln>
        </p:spPr>
      </p:sp>
      <p:sp>
        <p:nvSpPr>
          <p:cNvPr id="27" name="Text 25"/>
          <p:cNvSpPr/>
          <p:nvPr/>
        </p:nvSpPr>
        <p:spPr>
          <a:xfrm>
            <a:off x="365760" y="4919472"/>
            <a:ext cx="8412480" cy="201168"/>
          </a:xfrm>
          <a:prstGeom prst="rect">
            <a:avLst/>
          </a:prstGeom>
          <a:noFill/>
          <a:ln/>
        </p:spPr>
        <p:txBody>
          <a:bodyPr wrap="square" rtlCol="0" anchor="ctr"/>
          <a:lstStyle/>
          <a:p>
            <a:pPr indent="0" marL="0">
              <a:buNone/>
            </a:pPr>
            <a:r>
              <a:rPr lang="en-US" sz="850" dirty="0">
                <a:solidFill>
                  <a:srgbClr val="6B8CB8"/>
                </a:solidFill>
                <a:latin typeface="Calibri" pitchFamily="34" charset="0"/>
                <a:ea typeface="Calibri" pitchFamily="34" charset="-122"/>
                <a:cs typeface="Calibri" pitchFamily="34" charset="-120"/>
              </a:rPr>
              <a:t>Document &amp; published article analysis only  ·  Aligned with RME478S module requirements</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695C"/>
          </a:solidFill>
          <a:ln w="12700">
            <a:solidFill>
              <a:srgbClr val="00695C"/>
            </a:solidFill>
            <a:prstDash val="solid"/>
          </a:ln>
        </p:spPr>
      </p:sp>
      <p:sp>
        <p:nvSpPr>
          <p:cNvPr id="3" name="Shape 1"/>
          <p:cNvSpPr/>
          <p:nvPr/>
        </p:nvSpPr>
        <p:spPr>
          <a:xfrm>
            <a:off x="201168" y="0"/>
            <a:ext cx="8942832" cy="658368"/>
          </a:xfrm>
          <a:prstGeom prst="rect">
            <a:avLst/>
          </a:prstGeom>
          <a:solidFill>
            <a:srgbClr val="0D1B3E"/>
          </a:solidFill>
          <a:ln w="12700">
            <a:solidFill>
              <a:srgbClr val="0D1B3E"/>
            </a:solidFill>
            <a:prstDash val="solid"/>
          </a:ln>
        </p:spPr>
      </p:sp>
      <p:sp>
        <p:nvSpPr>
          <p:cNvPr id="4" name="Text 2"/>
          <p:cNvSpPr/>
          <p:nvPr/>
        </p:nvSpPr>
        <p:spPr>
          <a:xfrm>
            <a:off x="384048" y="36576"/>
            <a:ext cx="4572000" cy="256032"/>
          </a:xfrm>
          <a:prstGeom prst="rect">
            <a:avLst/>
          </a:prstGeom>
          <a:noFill/>
          <a:ln/>
        </p:spPr>
        <p:txBody>
          <a:bodyPr wrap="square" rtlCol="0" anchor="ctr"/>
          <a:lstStyle/>
          <a:p>
            <a:pPr indent="0" marL="0">
              <a:buNone/>
            </a:pPr>
            <a:r>
              <a:rPr lang="en-US" sz="900" b="1" spc="250" kern="0" dirty="0">
                <a:solidFill>
                  <a:srgbClr val="E8A020"/>
                </a:solidFill>
                <a:latin typeface="Calibri" pitchFamily="34" charset="0"/>
                <a:ea typeface="Calibri" pitchFamily="34" charset="-122"/>
                <a:cs typeface="Calibri" pitchFamily="34" charset="-120"/>
              </a:rPr>
              <a:t>PROPOSED TOPIC &amp; AIM</a:t>
            </a:r>
            <a:endParaRPr lang="en-US" sz="900" dirty="0"/>
          </a:p>
        </p:txBody>
      </p:sp>
      <p:sp>
        <p:nvSpPr>
          <p:cNvPr id="5" name="Text 3"/>
          <p:cNvSpPr/>
          <p:nvPr/>
        </p:nvSpPr>
        <p:spPr>
          <a:xfrm>
            <a:off x="384048" y="292608"/>
            <a:ext cx="8412480" cy="329184"/>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  Topic 2  ·  FINANCIAL TECHNOLOGY</a:t>
            </a:r>
            <a:endParaRPr lang="en-US" sz="1700" dirty="0"/>
          </a:p>
        </p:txBody>
      </p:sp>
      <p:sp>
        <p:nvSpPr>
          <p:cNvPr id="6" name="Shape 4"/>
          <p:cNvSpPr/>
          <p:nvPr/>
        </p:nvSpPr>
        <p:spPr>
          <a:xfrm>
            <a:off x="320040" y="768096"/>
            <a:ext cx="914400" cy="292608"/>
          </a:xfrm>
          <a:prstGeom prst="rect">
            <a:avLst/>
          </a:prstGeom>
          <a:solidFill>
            <a:srgbClr val="00695C"/>
          </a:solidFill>
          <a:ln w="12700">
            <a:solidFill>
              <a:srgbClr val="00695C"/>
            </a:solidFill>
            <a:prstDash val="solid"/>
          </a:ln>
        </p:spPr>
      </p:sp>
      <p:sp>
        <p:nvSpPr>
          <p:cNvPr id="7" name="Text 5"/>
          <p:cNvSpPr/>
          <p:nvPr/>
        </p:nvSpPr>
        <p:spPr>
          <a:xfrm>
            <a:off x="320040" y="768096"/>
            <a:ext cx="914400" cy="292608"/>
          </a:xfrm>
          <a:prstGeom prst="rect">
            <a:avLst/>
          </a:prstGeom>
          <a:noFill/>
          <a:ln/>
        </p:spPr>
        <p:txBody>
          <a:bodyPr wrap="square"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TOPIC</a:t>
            </a:r>
            <a:endParaRPr lang="en-US" sz="1000" dirty="0"/>
          </a:p>
        </p:txBody>
      </p:sp>
      <p:sp>
        <p:nvSpPr>
          <p:cNvPr id="8" name="Shape 6"/>
          <p:cNvSpPr/>
          <p:nvPr/>
        </p:nvSpPr>
        <p:spPr>
          <a:xfrm>
            <a:off x="320040" y="1078992"/>
            <a:ext cx="8503920" cy="841248"/>
          </a:xfrm>
          <a:prstGeom prst="rect">
            <a:avLst/>
          </a:prstGeom>
          <a:solidFill>
            <a:srgbClr val="FFFFFF"/>
          </a:solidFill>
          <a:ln w="15240">
            <a:solidFill>
              <a:srgbClr val="00695C"/>
            </a:solidFill>
            <a:prstDash val="solid"/>
          </a:ln>
          <a:effectLst>
            <a:outerShdw sx="100000" sy="100000" kx="0" ky="0" algn="bl" rotWithShape="0" blurRad="76200" dist="25400" dir="8100000">
              <a:srgbClr val="000000">
                <a:alpha val="12000"/>
              </a:srgbClr>
            </a:outerShdw>
          </a:effectLst>
        </p:spPr>
      </p:sp>
      <p:sp>
        <p:nvSpPr>
          <p:cNvPr id="9" name="Text 7"/>
          <p:cNvSpPr/>
          <p:nvPr/>
        </p:nvSpPr>
        <p:spPr>
          <a:xfrm>
            <a:off x="502920" y="1115568"/>
            <a:ext cx="8229600" cy="768096"/>
          </a:xfrm>
          <a:prstGeom prst="rect">
            <a:avLst/>
          </a:prstGeom>
          <a:noFill/>
          <a:ln/>
        </p:spPr>
        <p:txBody>
          <a:bodyPr wrap="square" rtlCol="0" anchor="ctr"/>
          <a:lstStyle/>
          <a:p>
            <a:pPr indent="0" marL="0">
              <a:buNone/>
            </a:pPr>
            <a:r>
              <a:rPr lang="en-US" sz="1350" b="1" dirty="0">
                <a:solidFill>
                  <a:srgbClr val="1A2340"/>
                </a:solidFill>
                <a:latin typeface="Calibri" pitchFamily="34" charset="0"/>
                <a:ea typeface="Calibri" pitchFamily="34" charset="-122"/>
                <a:cs typeface="Calibri" pitchFamily="34" charset="-120"/>
              </a:rPr>
              <a:t>Fintech Solutions as a Driver of Financial Inclusion in South Africa: A Comparative Analysis with Mobile Banking Models in Sub-Saharan Africa and Global Emerging Markets</a:t>
            </a:r>
            <a:endParaRPr lang="en-US" sz="1350" dirty="0"/>
          </a:p>
        </p:txBody>
      </p:sp>
      <p:sp>
        <p:nvSpPr>
          <p:cNvPr id="10" name="Shape 8"/>
          <p:cNvSpPr/>
          <p:nvPr/>
        </p:nvSpPr>
        <p:spPr>
          <a:xfrm>
            <a:off x="320040" y="2029968"/>
            <a:ext cx="804672" cy="292608"/>
          </a:xfrm>
          <a:prstGeom prst="rect">
            <a:avLst/>
          </a:prstGeom>
          <a:solidFill>
            <a:srgbClr val="334477"/>
          </a:solidFill>
          <a:ln w="12700">
            <a:solidFill>
              <a:srgbClr val="334477"/>
            </a:solidFill>
            <a:prstDash val="solid"/>
          </a:ln>
        </p:spPr>
      </p:sp>
      <p:sp>
        <p:nvSpPr>
          <p:cNvPr id="11" name="Text 9"/>
          <p:cNvSpPr/>
          <p:nvPr/>
        </p:nvSpPr>
        <p:spPr>
          <a:xfrm>
            <a:off x="320040" y="2029968"/>
            <a:ext cx="804672" cy="292608"/>
          </a:xfrm>
          <a:prstGeom prst="rect">
            <a:avLst/>
          </a:prstGeom>
          <a:noFill/>
          <a:ln/>
        </p:spPr>
        <p:txBody>
          <a:bodyPr wrap="square"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AIM</a:t>
            </a:r>
            <a:endParaRPr lang="en-US" sz="1000" dirty="0"/>
          </a:p>
        </p:txBody>
      </p:sp>
      <p:sp>
        <p:nvSpPr>
          <p:cNvPr id="12" name="Shape 10"/>
          <p:cNvSpPr/>
          <p:nvPr/>
        </p:nvSpPr>
        <p:spPr>
          <a:xfrm>
            <a:off x="320040" y="2340864"/>
            <a:ext cx="8503920" cy="987552"/>
          </a:xfrm>
          <a:prstGeom prst="rect">
            <a:avLst/>
          </a:prstGeom>
          <a:solidFill>
            <a:srgbClr val="FFFFFF"/>
          </a:solidFill>
          <a:ln w="15240">
            <a:solidFill>
              <a:srgbClr val="334477"/>
            </a:solidFill>
            <a:prstDash val="solid"/>
          </a:ln>
          <a:effectLst>
            <a:outerShdw sx="100000" sy="100000" kx="0" ky="0" algn="bl" rotWithShape="0" blurRad="76200" dist="25400" dir="8100000">
              <a:srgbClr val="000000">
                <a:alpha val="12000"/>
              </a:srgbClr>
            </a:outerShdw>
          </a:effectLst>
        </p:spPr>
      </p:sp>
      <p:sp>
        <p:nvSpPr>
          <p:cNvPr id="13" name="Text 11"/>
          <p:cNvSpPr/>
          <p:nvPr/>
        </p:nvSpPr>
        <p:spPr>
          <a:xfrm>
            <a:off x="502920" y="2377440"/>
            <a:ext cx="8229600" cy="914400"/>
          </a:xfrm>
          <a:prstGeom prst="rect">
            <a:avLst/>
          </a:prstGeom>
          <a:noFill/>
          <a:ln/>
        </p:spPr>
        <p:txBody>
          <a:bodyPr wrap="square" rtlCol="0" anchor="ctr"/>
          <a:lstStyle/>
          <a:p>
            <a:pPr indent="0" marL="0">
              <a:buNone/>
            </a:pPr>
            <a:r>
              <a:rPr lang="en-US" sz="1200" i="1" dirty="0">
                <a:solidFill>
                  <a:srgbClr val="4A5568"/>
                </a:solidFill>
                <a:latin typeface="Calibri" pitchFamily="34" charset="0"/>
                <a:ea typeface="Calibri" pitchFamily="34" charset="-122"/>
                <a:cs typeface="Calibri" pitchFamily="34" charset="-120"/>
              </a:rPr>
              <a:t>To examine how fintech innovation has contributed to financial inclusion in South Africa, and to draw lessons from successful mobile banking implementations in Sub-Saharan Africa and other emerging markets by analysing published literature, industry reports and policy documents.</a:t>
            </a:r>
            <a:endParaRPr lang="en-US" sz="1200" dirty="0"/>
          </a:p>
        </p:txBody>
      </p:sp>
      <p:sp>
        <p:nvSpPr>
          <p:cNvPr id="14" name="Shape 12"/>
          <p:cNvSpPr/>
          <p:nvPr/>
        </p:nvSpPr>
        <p:spPr>
          <a:xfrm>
            <a:off x="320040" y="3438144"/>
            <a:ext cx="2788920" cy="1444752"/>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15" name="Shape 13"/>
          <p:cNvSpPr/>
          <p:nvPr/>
        </p:nvSpPr>
        <p:spPr>
          <a:xfrm>
            <a:off x="320040" y="3438144"/>
            <a:ext cx="2788920" cy="36576"/>
          </a:xfrm>
          <a:prstGeom prst="rect">
            <a:avLst/>
          </a:prstGeom>
          <a:solidFill>
            <a:srgbClr val="00695C"/>
          </a:solidFill>
          <a:ln w="12700">
            <a:solidFill>
              <a:srgbClr val="00695C"/>
            </a:solidFill>
            <a:prstDash val="solid"/>
          </a:ln>
        </p:spPr>
      </p:sp>
      <p:sp>
        <p:nvSpPr>
          <p:cNvPr id="16" name="Text 14"/>
          <p:cNvSpPr/>
          <p:nvPr/>
        </p:nvSpPr>
        <p:spPr>
          <a:xfrm>
            <a:off x="411480" y="3493008"/>
            <a:ext cx="2606040" cy="256032"/>
          </a:xfrm>
          <a:prstGeom prst="rect">
            <a:avLst/>
          </a:prstGeom>
          <a:noFill/>
          <a:ln/>
        </p:spPr>
        <p:txBody>
          <a:bodyPr wrap="square" rtlCol="0" anchor="ctr"/>
          <a:lstStyle/>
          <a:p>
            <a:pPr indent="0" marL="0">
              <a:buNone/>
            </a:pPr>
            <a:r>
              <a:rPr lang="en-US" sz="850" b="1" spc="100" kern="0" dirty="0">
                <a:solidFill>
                  <a:srgbClr val="00695C"/>
                </a:solidFill>
                <a:latin typeface="Calibri" pitchFamily="34" charset="0"/>
                <a:ea typeface="Calibri" pitchFamily="34" charset="-122"/>
                <a:cs typeface="Calibri" pitchFamily="34" charset="-120"/>
              </a:rPr>
              <a:t>🇿🇦  SOUTH AFRICAN CONTEXT</a:t>
            </a:r>
            <a:endParaRPr lang="en-US" sz="850" dirty="0"/>
          </a:p>
        </p:txBody>
      </p:sp>
      <p:sp>
        <p:nvSpPr>
          <p:cNvPr id="17" name="Text 15"/>
          <p:cNvSpPr/>
          <p:nvPr/>
        </p:nvSpPr>
        <p:spPr>
          <a:xfrm>
            <a:off x="411480" y="3767328"/>
            <a:ext cx="2633472" cy="1005840"/>
          </a:xfrm>
          <a:prstGeom prst="rect">
            <a:avLst/>
          </a:prstGeom>
          <a:noFill/>
          <a:ln/>
        </p:spPr>
        <p:txBody>
          <a:bodyPr wrap="square" rtlCol="0" anchor="t"/>
          <a:lstStyle/>
          <a:p>
            <a:pPr marL="342900" indent="-342900">
              <a:buSzPct val="100000"/>
              <a:buChar char="•"/>
            </a:pPr>
            <a:r>
              <a:rPr lang="en-US" sz="1000" dirty="0">
                <a:solidFill>
                  <a:srgbClr val="1A2340"/>
                </a:solidFill>
                <a:latin typeface="Calibri" pitchFamily="34" charset="0"/>
                <a:ea typeface="Calibri" pitchFamily="34" charset="-122"/>
                <a:cs typeface="Calibri" pitchFamily="34" charset="-120"/>
              </a:rPr>
              <a:t>TymeBank, Capitec &amp; Discovery Bank mobile-first platforms</a:t>
            </a:r>
            <a:endParaRPr lang="en-US" sz="1000" dirty="0"/>
          </a:p>
          <a:p>
            <a:pPr marL="342900" indent="-342900">
              <a:buSzPct val="100000"/>
              <a:buChar char="•"/>
            </a:pPr>
            <a:r>
              <a:rPr lang="en-US" sz="1000" dirty="0">
                <a:solidFill>
                  <a:srgbClr val="1A2340"/>
                </a:solidFill>
                <a:latin typeface="Calibri" pitchFamily="34" charset="0"/>
                <a:ea typeface="Calibri" pitchFamily="34" charset="-122"/>
                <a:cs typeface="Calibri" pitchFamily="34" charset="-120"/>
              </a:rPr>
              <a:t>FSCA Fintech Innovation Hub regulatory framework</a:t>
            </a:r>
            <a:endParaRPr lang="en-US" sz="1000" dirty="0"/>
          </a:p>
          <a:p>
            <a:pPr marL="342900" indent="-342900">
              <a:buSzPct val="100000"/>
              <a:buChar char="•"/>
            </a:pPr>
            <a:r>
              <a:rPr lang="en-US" sz="1000" dirty="0">
                <a:solidFill>
                  <a:srgbClr val="1A2340"/>
                </a:solidFill>
                <a:latin typeface="Calibri" pitchFamily="34" charset="0"/>
                <a:ea typeface="Calibri" pitchFamily="34" charset="-122"/>
                <a:cs typeface="Calibri" pitchFamily="34" charset="-120"/>
              </a:rPr>
              <a:t>FinMark Trust &amp; SARB financial inclusion reports</a:t>
            </a:r>
            <a:endParaRPr lang="en-US" sz="1000" dirty="0"/>
          </a:p>
        </p:txBody>
      </p:sp>
      <p:sp>
        <p:nvSpPr>
          <p:cNvPr id="18" name="Shape 16"/>
          <p:cNvSpPr/>
          <p:nvPr/>
        </p:nvSpPr>
        <p:spPr>
          <a:xfrm>
            <a:off x="3218688" y="3438144"/>
            <a:ext cx="2788920" cy="1444752"/>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19" name="Shape 17"/>
          <p:cNvSpPr/>
          <p:nvPr/>
        </p:nvSpPr>
        <p:spPr>
          <a:xfrm>
            <a:off x="3218688" y="3438144"/>
            <a:ext cx="2788920" cy="36576"/>
          </a:xfrm>
          <a:prstGeom prst="rect">
            <a:avLst/>
          </a:prstGeom>
          <a:solidFill>
            <a:srgbClr val="1565C0"/>
          </a:solidFill>
          <a:ln w="12700">
            <a:solidFill>
              <a:srgbClr val="1565C0"/>
            </a:solidFill>
            <a:prstDash val="solid"/>
          </a:ln>
        </p:spPr>
      </p:sp>
      <p:sp>
        <p:nvSpPr>
          <p:cNvPr id="20" name="Text 18"/>
          <p:cNvSpPr/>
          <p:nvPr/>
        </p:nvSpPr>
        <p:spPr>
          <a:xfrm>
            <a:off x="3310128" y="3493008"/>
            <a:ext cx="2606040" cy="256032"/>
          </a:xfrm>
          <a:prstGeom prst="rect">
            <a:avLst/>
          </a:prstGeom>
          <a:noFill/>
          <a:ln/>
        </p:spPr>
        <p:txBody>
          <a:bodyPr wrap="square" rtlCol="0" anchor="ctr"/>
          <a:lstStyle/>
          <a:p>
            <a:pPr indent="0" marL="0">
              <a:buNone/>
            </a:pPr>
            <a:r>
              <a:rPr lang="en-US" sz="850" b="1" spc="100" kern="0" dirty="0">
                <a:solidFill>
                  <a:srgbClr val="1565C0"/>
                </a:solidFill>
                <a:latin typeface="Calibri" pitchFamily="34" charset="0"/>
                <a:ea typeface="Calibri" pitchFamily="34" charset="-122"/>
                <a:cs typeface="Calibri" pitchFamily="34" charset="-120"/>
              </a:rPr>
              <a:t>🌍  GLOBAL REACH</a:t>
            </a:r>
            <a:endParaRPr lang="en-US" sz="850" dirty="0"/>
          </a:p>
        </p:txBody>
      </p:sp>
      <p:sp>
        <p:nvSpPr>
          <p:cNvPr id="21" name="Text 19"/>
          <p:cNvSpPr/>
          <p:nvPr/>
        </p:nvSpPr>
        <p:spPr>
          <a:xfrm>
            <a:off x="3310128" y="3767328"/>
            <a:ext cx="2633472" cy="1005840"/>
          </a:xfrm>
          <a:prstGeom prst="rect">
            <a:avLst/>
          </a:prstGeom>
          <a:noFill/>
          <a:ln/>
        </p:spPr>
        <p:txBody>
          <a:bodyPr wrap="square" rtlCol="0" anchor="t"/>
          <a:lstStyle/>
          <a:p>
            <a:pPr marL="342900" indent="-342900">
              <a:buSzPct val="100000"/>
              <a:buChar char="•"/>
            </a:pPr>
            <a:r>
              <a:rPr lang="en-US" sz="1000" dirty="0">
                <a:solidFill>
                  <a:srgbClr val="1A2340"/>
                </a:solidFill>
                <a:latin typeface="Calibri" pitchFamily="34" charset="0"/>
                <a:ea typeface="Calibri" pitchFamily="34" charset="-122"/>
                <a:cs typeface="Calibri" pitchFamily="34" charset="-120"/>
              </a:rPr>
              <a:t>Kenya M-Pesa — global benchmark for mobile money</a:t>
            </a:r>
            <a:endParaRPr lang="en-US" sz="1000" dirty="0"/>
          </a:p>
          <a:p>
            <a:pPr marL="342900" indent="-342900">
              <a:buSzPct val="100000"/>
              <a:buChar char="•"/>
            </a:pPr>
            <a:r>
              <a:rPr lang="en-US" sz="1000" dirty="0">
                <a:solidFill>
                  <a:srgbClr val="1A2340"/>
                </a:solidFill>
                <a:latin typeface="Calibri" pitchFamily="34" charset="0"/>
                <a:ea typeface="Calibri" pitchFamily="34" charset="-122"/>
                <a:cs typeface="Calibri" pitchFamily="34" charset="-120"/>
              </a:rPr>
              <a:t>India UPI &amp; Brazil Pix digital payment systems</a:t>
            </a:r>
            <a:endParaRPr lang="en-US" sz="1000" dirty="0"/>
          </a:p>
          <a:p>
            <a:pPr marL="342900" indent="-342900">
              <a:buSzPct val="100000"/>
              <a:buChar char="•"/>
            </a:pPr>
            <a:r>
              <a:rPr lang="en-US" sz="1000" dirty="0">
                <a:solidFill>
                  <a:srgbClr val="1A2340"/>
                </a:solidFill>
                <a:latin typeface="Calibri" pitchFamily="34" charset="0"/>
                <a:ea typeface="Calibri" pitchFamily="34" charset="-122"/>
                <a:cs typeface="Calibri" pitchFamily="34" charset="-120"/>
              </a:rPr>
              <a:t>World Bank &amp; FATF global financial inclusion reports</a:t>
            </a:r>
            <a:endParaRPr lang="en-US" sz="1000" dirty="0"/>
          </a:p>
        </p:txBody>
      </p:sp>
      <p:sp>
        <p:nvSpPr>
          <p:cNvPr id="22" name="Shape 20"/>
          <p:cNvSpPr/>
          <p:nvPr/>
        </p:nvSpPr>
        <p:spPr>
          <a:xfrm>
            <a:off x="6035040" y="3438144"/>
            <a:ext cx="2788920" cy="1444752"/>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23" name="Shape 21"/>
          <p:cNvSpPr/>
          <p:nvPr/>
        </p:nvSpPr>
        <p:spPr>
          <a:xfrm>
            <a:off x="6035040" y="3438144"/>
            <a:ext cx="2788920" cy="36576"/>
          </a:xfrm>
          <a:prstGeom prst="rect">
            <a:avLst/>
          </a:prstGeom>
          <a:solidFill>
            <a:srgbClr val="334477"/>
          </a:solidFill>
          <a:ln w="12700">
            <a:solidFill>
              <a:srgbClr val="334477"/>
            </a:solidFill>
            <a:prstDash val="solid"/>
          </a:ln>
        </p:spPr>
      </p:sp>
      <p:sp>
        <p:nvSpPr>
          <p:cNvPr id="24" name="Text 22"/>
          <p:cNvSpPr/>
          <p:nvPr/>
        </p:nvSpPr>
        <p:spPr>
          <a:xfrm>
            <a:off x="6126480" y="3493008"/>
            <a:ext cx="2606040" cy="256032"/>
          </a:xfrm>
          <a:prstGeom prst="rect">
            <a:avLst/>
          </a:prstGeom>
          <a:noFill/>
          <a:ln/>
        </p:spPr>
        <p:txBody>
          <a:bodyPr wrap="square" rtlCol="0" anchor="ctr"/>
          <a:lstStyle/>
          <a:p>
            <a:pPr indent="0" marL="0">
              <a:buNone/>
            </a:pPr>
            <a:r>
              <a:rPr lang="en-US" sz="850" b="1" spc="100" kern="0" dirty="0">
                <a:solidFill>
                  <a:srgbClr val="334477"/>
                </a:solidFill>
                <a:latin typeface="Calibri" pitchFamily="34" charset="0"/>
                <a:ea typeface="Calibri" pitchFamily="34" charset="-122"/>
                <a:cs typeface="Calibri" pitchFamily="34" charset="-120"/>
              </a:rPr>
              <a:t>⚙️  RESEARCH METHOD</a:t>
            </a:r>
            <a:endParaRPr lang="en-US" sz="850" dirty="0"/>
          </a:p>
        </p:txBody>
      </p:sp>
      <p:sp>
        <p:nvSpPr>
          <p:cNvPr id="25" name="Text 23"/>
          <p:cNvSpPr/>
          <p:nvPr/>
        </p:nvSpPr>
        <p:spPr>
          <a:xfrm>
            <a:off x="6126480" y="3767328"/>
            <a:ext cx="2633472" cy="1005840"/>
          </a:xfrm>
          <a:prstGeom prst="rect">
            <a:avLst/>
          </a:prstGeom>
          <a:noFill/>
          <a:ln/>
        </p:spPr>
        <p:txBody>
          <a:bodyPr wrap="square" rtlCol="0" anchor="t"/>
          <a:lstStyle/>
          <a:p>
            <a:pPr indent="0" marL="0">
              <a:buNone/>
            </a:pPr>
            <a:r>
              <a:rPr lang="en-US" sz="1000" dirty="0">
                <a:solidFill>
                  <a:srgbClr val="1A2340"/>
                </a:solidFill>
                <a:latin typeface="Calibri" pitchFamily="34" charset="0"/>
                <a:ea typeface="Calibri" pitchFamily="34" charset="-122"/>
                <a:cs typeface="Calibri" pitchFamily="34" charset="-120"/>
              </a:rPr>
              <a:t>Qualitative systematic literature review — published journal articles, industry &amp; policy reports. No interviews or questionnaires.</a:t>
            </a:r>
            <a:endParaRPr lang="en-US" sz="1000" dirty="0"/>
          </a:p>
        </p:txBody>
      </p:sp>
      <p:sp>
        <p:nvSpPr>
          <p:cNvPr id="26" name="Shape 24"/>
          <p:cNvSpPr/>
          <p:nvPr/>
        </p:nvSpPr>
        <p:spPr>
          <a:xfrm>
            <a:off x="201168" y="4910328"/>
            <a:ext cx="8942832" cy="237744"/>
          </a:xfrm>
          <a:prstGeom prst="rect">
            <a:avLst/>
          </a:prstGeom>
          <a:solidFill>
            <a:srgbClr val="0D1B3E"/>
          </a:solidFill>
          <a:ln w="12700">
            <a:solidFill>
              <a:srgbClr val="0D1B3E"/>
            </a:solidFill>
            <a:prstDash val="solid"/>
          </a:ln>
        </p:spPr>
      </p:sp>
      <p:sp>
        <p:nvSpPr>
          <p:cNvPr id="27" name="Text 25"/>
          <p:cNvSpPr/>
          <p:nvPr/>
        </p:nvSpPr>
        <p:spPr>
          <a:xfrm>
            <a:off x="365760" y="4919472"/>
            <a:ext cx="8412480" cy="201168"/>
          </a:xfrm>
          <a:prstGeom prst="rect">
            <a:avLst/>
          </a:prstGeom>
          <a:noFill/>
          <a:ln/>
        </p:spPr>
        <p:txBody>
          <a:bodyPr wrap="square" rtlCol="0" anchor="ctr"/>
          <a:lstStyle/>
          <a:p>
            <a:pPr indent="0" marL="0">
              <a:buNone/>
            </a:pPr>
            <a:r>
              <a:rPr lang="en-US" sz="850" dirty="0">
                <a:solidFill>
                  <a:srgbClr val="6B8CB8"/>
                </a:solidFill>
                <a:latin typeface="Calibri" pitchFamily="34" charset="0"/>
                <a:ea typeface="Calibri" pitchFamily="34" charset="-122"/>
                <a:cs typeface="Calibri" pitchFamily="34" charset="-120"/>
              </a:rPr>
              <a:t>Document &amp; published article analysis only  ·  Aligned with RME478S module requirements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6A1B9A"/>
          </a:solidFill>
          <a:ln w="12700">
            <a:solidFill>
              <a:srgbClr val="6A1B9A"/>
            </a:solidFill>
            <a:prstDash val="solid"/>
          </a:ln>
        </p:spPr>
      </p:sp>
      <p:sp>
        <p:nvSpPr>
          <p:cNvPr id="3" name="Shape 1"/>
          <p:cNvSpPr/>
          <p:nvPr/>
        </p:nvSpPr>
        <p:spPr>
          <a:xfrm>
            <a:off x="201168" y="0"/>
            <a:ext cx="8942832" cy="658368"/>
          </a:xfrm>
          <a:prstGeom prst="rect">
            <a:avLst/>
          </a:prstGeom>
          <a:solidFill>
            <a:srgbClr val="0D1B3E"/>
          </a:solidFill>
          <a:ln w="12700">
            <a:solidFill>
              <a:srgbClr val="0D1B3E"/>
            </a:solidFill>
            <a:prstDash val="solid"/>
          </a:ln>
        </p:spPr>
      </p:sp>
      <p:sp>
        <p:nvSpPr>
          <p:cNvPr id="4" name="Text 2"/>
          <p:cNvSpPr/>
          <p:nvPr/>
        </p:nvSpPr>
        <p:spPr>
          <a:xfrm>
            <a:off x="384048" y="36576"/>
            <a:ext cx="4572000" cy="256032"/>
          </a:xfrm>
          <a:prstGeom prst="rect">
            <a:avLst/>
          </a:prstGeom>
          <a:noFill/>
          <a:ln/>
        </p:spPr>
        <p:txBody>
          <a:bodyPr wrap="square" rtlCol="0" anchor="ctr"/>
          <a:lstStyle/>
          <a:p>
            <a:pPr indent="0" marL="0">
              <a:buNone/>
            </a:pPr>
            <a:r>
              <a:rPr lang="en-US" sz="900" b="1" spc="250" kern="0" dirty="0">
                <a:solidFill>
                  <a:srgbClr val="E8A020"/>
                </a:solidFill>
                <a:latin typeface="Calibri" pitchFamily="34" charset="0"/>
                <a:ea typeface="Calibri" pitchFamily="34" charset="-122"/>
                <a:cs typeface="Calibri" pitchFamily="34" charset="-120"/>
              </a:rPr>
              <a:t>PROPOSED TOPIC &amp; AIM</a:t>
            </a:r>
            <a:endParaRPr lang="en-US" sz="900" dirty="0"/>
          </a:p>
        </p:txBody>
      </p:sp>
      <p:sp>
        <p:nvSpPr>
          <p:cNvPr id="5" name="Text 3"/>
          <p:cNvSpPr/>
          <p:nvPr/>
        </p:nvSpPr>
        <p:spPr>
          <a:xfrm>
            <a:off x="384048" y="292608"/>
            <a:ext cx="8412480" cy="329184"/>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  Topic 3  ·  CLOUD COMPUTING</a:t>
            </a:r>
            <a:endParaRPr lang="en-US" sz="1700" dirty="0"/>
          </a:p>
        </p:txBody>
      </p:sp>
      <p:sp>
        <p:nvSpPr>
          <p:cNvPr id="6" name="Shape 4"/>
          <p:cNvSpPr/>
          <p:nvPr/>
        </p:nvSpPr>
        <p:spPr>
          <a:xfrm>
            <a:off x="320040" y="768096"/>
            <a:ext cx="914400" cy="292608"/>
          </a:xfrm>
          <a:prstGeom prst="rect">
            <a:avLst/>
          </a:prstGeom>
          <a:solidFill>
            <a:srgbClr val="6A1B9A"/>
          </a:solidFill>
          <a:ln w="12700">
            <a:solidFill>
              <a:srgbClr val="6A1B9A"/>
            </a:solidFill>
            <a:prstDash val="solid"/>
          </a:ln>
        </p:spPr>
      </p:sp>
      <p:sp>
        <p:nvSpPr>
          <p:cNvPr id="7" name="Text 5"/>
          <p:cNvSpPr/>
          <p:nvPr/>
        </p:nvSpPr>
        <p:spPr>
          <a:xfrm>
            <a:off x="320040" y="768096"/>
            <a:ext cx="914400" cy="292608"/>
          </a:xfrm>
          <a:prstGeom prst="rect">
            <a:avLst/>
          </a:prstGeom>
          <a:noFill/>
          <a:ln/>
        </p:spPr>
        <p:txBody>
          <a:bodyPr wrap="square"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TOPIC</a:t>
            </a:r>
            <a:endParaRPr lang="en-US" sz="1000" dirty="0"/>
          </a:p>
        </p:txBody>
      </p:sp>
      <p:sp>
        <p:nvSpPr>
          <p:cNvPr id="8" name="Shape 6"/>
          <p:cNvSpPr/>
          <p:nvPr/>
        </p:nvSpPr>
        <p:spPr>
          <a:xfrm>
            <a:off x="320040" y="1078992"/>
            <a:ext cx="8503920" cy="841248"/>
          </a:xfrm>
          <a:prstGeom prst="rect">
            <a:avLst/>
          </a:prstGeom>
          <a:solidFill>
            <a:srgbClr val="FFFFFF"/>
          </a:solidFill>
          <a:ln w="15240">
            <a:solidFill>
              <a:srgbClr val="6A1B9A"/>
            </a:solidFill>
            <a:prstDash val="solid"/>
          </a:ln>
          <a:effectLst>
            <a:outerShdw sx="100000" sy="100000" kx="0" ky="0" algn="bl" rotWithShape="0" blurRad="76200" dist="25400" dir="8100000">
              <a:srgbClr val="000000">
                <a:alpha val="12000"/>
              </a:srgbClr>
            </a:outerShdw>
          </a:effectLst>
        </p:spPr>
      </p:sp>
      <p:sp>
        <p:nvSpPr>
          <p:cNvPr id="9" name="Text 7"/>
          <p:cNvSpPr/>
          <p:nvPr/>
        </p:nvSpPr>
        <p:spPr>
          <a:xfrm>
            <a:off x="502920" y="1115568"/>
            <a:ext cx="8229600" cy="768096"/>
          </a:xfrm>
          <a:prstGeom prst="rect">
            <a:avLst/>
          </a:prstGeom>
          <a:noFill/>
          <a:ln/>
        </p:spPr>
        <p:txBody>
          <a:bodyPr wrap="square" rtlCol="0" anchor="ctr"/>
          <a:lstStyle/>
          <a:p>
            <a:pPr indent="0" marL="0">
              <a:buNone/>
            </a:pPr>
            <a:r>
              <a:rPr lang="en-US" sz="1350" b="1" dirty="0">
                <a:solidFill>
                  <a:srgbClr val="1A2340"/>
                </a:solidFill>
                <a:latin typeface="Calibri" pitchFamily="34" charset="0"/>
                <a:ea typeface="Calibri" pitchFamily="34" charset="-122"/>
                <a:cs typeface="Calibri" pitchFamily="34" charset="-120"/>
              </a:rPr>
              <a:t>Barriers to Cloud Computing Adoption among Small and Medium Enterprises in South Africa: A Comparative Review of Challenges and Enabling Strategies in Global Emerging Market Contexts</a:t>
            </a:r>
            <a:endParaRPr lang="en-US" sz="1350" dirty="0"/>
          </a:p>
        </p:txBody>
      </p:sp>
      <p:sp>
        <p:nvSpPr>
          <p:cNvPr id="10" name="Shape 8"/>
          <p:cNvSpPr/>
          <p:nvPr/>
        </p:nvSpPr>
        <p:spPr>
          <a:xfrm>
            <a:off x="320040" y="2029968"/>
            <a:ext cx="804672" cy="292608"/>
          </a:xfrm>
          <a:prstGeom prst="rect">
            <a:avLst/>
          </a:prstGeom>
          <a:solidFill>
            <a:srgbClr val="334477"/>
          </a:solidFill>
          <a:ln w="12700">
            <a:solidFill>
              <a:srgbClr val="334477"/>
            </a:solidFill>
            <a:prstDash val="solid"/>
          </a:ln>
        </p:spPr>
      </p:sp>
      <p:sp>
        <p:nvSpPr>
          <p:cNvPr id="11" name="Text 9"/>
          <p:cNvSpPr/>
          <p:nvPr/>
        </p:nvSpPr>
        <p:spPr>
          <a:xfrm>
            <a:off x="320040" y="2029968"/>
            <a:ext cx="804672" cy="292608"/>
          </a:xfrm>
          <a:prstGeom prst="rect">
            <a:avLst/>
          </a:prstGeom>
          <a:noFill/>
          <a:ln/>
        </p:spPr>
        <p:txBody>
          <a:bodyPr wrap="square"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AIM</a:t>
            </a:r>
            <a:endParaRPr lang="en-US" sz="1000" dirty="0"/>
          </a:p>
        </p:txBody>
      </p:sp>
      <p:sp>
        <p:nvSpPr>
          <p:cNvPr id="12" name="Shape 10"/>
          <p:cNvSpPr/>
          <p:nvPr/>
        </p:nvSpPr>
        <p:spPr>
          <a:xfrm>
            <a:off x="320040" y="2340864"/>
            <a:ext cx="8503920" cy="987552"/>
          </a:xfrm>
          <a:prstGeom prst="rect">
            <a:avLst/>
          </a:prstGeom>
          <a:solidFill>
            <a:srgbClr val="FFFFFF"/>
          </a:solidFill>
          <a:ln w="15240">
            <a:solidFill>
              <a:srgbClr val="334477"/>
            </a:solidFill>
            <a:prstDash val="solid"/>
          </a:ln>
          <a:effectLst>
            <a:outerShdw sx="100000" sy="100000" kx="0" ky="0" algn="bl" rotWithShape="0" blurRad="76200" dist="25400" dir="8100000">
              <a:srgbClr val="000000">
                <a:alpha val="12000"/>
              </a:srgbClr>
            </a:outerShdw>
          </a:effectLst>
        </p:spPr>
      </p:sp>
      <p:sp>
        <p:nvSpPr>
          <p:cNvPr id="13" name="Text 11"/>
          <p:cNvSpPr/>
          <p:nvPr/>
        </p:nvSpPr>
        <p:spPr>
          <a:xfrm>
            <a:off x="502920" y="2377440"/>
            <a:ext cx="8229600" cy="914400"/>
          </a:xfrm>
          <a:prstGeom prst="rect">
            <a:avLst/>
          </a:prstGeom>
          <a:noFill/>
          <a:ln/>
        </p:spPr>
        <p:txBody>
          <a:bodyPr wrap="square" rtlCol="0" anchor="ctr"/>
          <a:lstStyle/>
          <a:p>
            <a:pPr indent="0" marL="0">
              <a:buNone/>
            </a:pPr>
            <a:r>
              <a:rPr lang="en-US" sz="1200" i="1" dirty="0">
                <a:solidFill>
                  <a:srgbClr val="4A5568"/>
                </a:solidFill>
                <a:latin typeface="Calibri" pitchFamily="34" charset="0"/>
                <a:ea typeface="Calibri" pitchFamily="34" charset="-122"/>
                <a:cs typeface="Calibri" pitchFamily="34" charset="-120"/>
              </a:rPr>
              <a:t>To identify and analyse the barriers that hinder cloud computing adoption among South African SMEs, and to compare these challenges and documented enabling strategies with findings from peer-reviewed literature in comparable emerging markets such as Nigeria, India, Malaysia and Brazil.</a:t>
            </a:r>
            <a:endParaRPr lang="en-US" sz="1200" dirty="0"/>
          </a:p>
        </p:txBody>
      </p:sp>
      <p:sp>
        <p:nvSpPr>
          <p:cNvPr id="14" name="Shape 12"/>
          <p:cNvSpPr/>
          <p:nvPr/>
        </p:nvSpPr>
        <p:spPr>
          <a:xfrm>
            <a:off x="320040" y="3438144"/>
            <a:ext cx="2788920" cy="1444752"/>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15" name="Shape 13"/>
          <p:cNvSpPr/>
          <p:nvPr/>
        </p:nvSpPr>
        <p:spPr>
          <a:xfrm>
            <a:off x="320040" y="3438144"/>
            <a:ext cx="2788920" cy="36576"/>
          </a:xfrm>
          <a:prstGeom prst="rect">
            <a:avLst/>
          </a:prstGeom>
          <a:solidFill>
            <a:srgbClr val="6A1B9A"/>
          </a:solidFill>
          <a:ln w="12700">
            <a:solidFill>
              <a:srgbClr val="6A1B9A"/>
            </a:solidFill>
            <a:prstDash val="solid"/>
          </a:ln>
        </p:spPr>
      </p:sp>
      <p:sp>
        <p:nvSpPr>
          <p:cNvPr id="16" name="Text 14"/>
          <p:cNvSpPr/>
          <p:nvPr/>
        </p:nvSpPr>
        <p:spPr>
          <a:xfrm>
            <a:off x="411480" y="3493008"/>
            <a:ext cx="2606040" cy="256032"/>
          </a:xfrm>
          <a:prstGeom prst="rect">
            <a:avLst/>
          </a:prstGeom>
          <a:noFill/>
          <a:ln/>
        </p:spPr>
        <p:txBody>
          <a:bodyPr wrap="square" rtlCol="0" anchor="ctr"/>
          <a:lstStyle/>
          <a:p>
            <a:pPr indent="0" marL="0">
              <a:buNone/>
            </a:pPr>
            <a:r>
              <a:rPr lang="en-US" sz="850" b="1" spc="100" kern="0" dirty="0">
                <a:solidFill>
                  <a:srgbClr val="6A1B9A"/>
                </a:solidFill>
                <a:latin typeface="Calibri" pitchFamily="34" charset="0"/>
                <a:ea typeface="Calibri" pitchFamily="34" charset="-122"/>
                <a:cs typeface="Calibri" pitchFamily="34" charset="-120"/>
              </a:rPr>
              <a:t>🇿🇦  SOUTH AFRICAN CONTEXT</a:t>
            </a:r>
            <a:endParaRPr lang="en-US" sz="850" dirty="0"/>
          </a:p>
        </p:txBody>
      </p:sp>
      <p:sp>
        <p:nvSpPr>
          <p:cNvPr id="17" name="Text 15"/>
          <p:cNvSpPr/>
          <p:nvPr/>
        </p:nvSpPr>
        <p:spPr>
          <a:xfrm>
            <a:off x="411480" y="3767328"/>
            <a:ext cx="2633472" cy="1005840"/>
          </a:xfrm>
          <a:prstGeom prst="rect">
            <a:avLst/>
          </a:prstGeom>
          <a:noFill/>
          <a:ln/>
        </p:spPr>
        <p:txBody>
          <a:bodyPr wrap="square" rtlCol="0" anchor="t"/>
          <a:lstStyle/>
          <a:p>
            <a:pPr marL="342900" indent="-342900">
              <a:buSzPct val="100000"/>
              <a:buChar char="•"/>
            </a:pPr>
            <a:r>
              <a:rPr lang="en-US" sz="1000" dirty="0">
                <a:solidFill>
                  <a:srgbClr val="1A2340"/>
                </a:solidFill>
                <a:latin typeface="Calibri" pitchFamily="34" charset="0"/>
                <a:ea typeface="Calibri" pitchFamily="34" charset="-122"/>
                <a:cs typeface="Calibri" pitchFamily="34" charset="-120"/>
              </a:rPr>
              <a:t>Load shedding impact on cloud service reliability</a:t>
            </a:r>
            <a:endParaRPr lang="en-US" sz="1000" dirty="0"/>
          </a:p>
          <a:p>
            <a:pPr marL="342900" indent="-342900">
              <a:buSzPct val="100000"/>
              <a:buChar char="•"/>
            </a:pPr>
            <a:r>
              <a:rPr lang="en-US" sz="1000" dirty="0">
                <a:solidFill>
                  <a:srgbClr val="1A2340"/>
                </a:solidFill>
                <a:latin typeface="Calibri" pitchFamily="34" charset="0"/>
                <a:ea typeface="Calibri" pitchFamily="34" charset="-122"/>
                <a:cs typeface="Calibri" pitchFamily="34" charset="-120"/>
              </a:rPr>
              <a:t>POPIA data sovereignty obligations for SA businesses</a:t>
            </a:r>
            <a:endParaRPr lang="en-US" sz="1000" dirty="0"/>
          </a:p>
          <a:p>
            <a:pPr marL="342900" indent="-342900">
              <a:buSzPct val="100000"/>
              <a:buChar char="•"/>
            </a:pPr>
            <a:r>
              <a:rPr lang="en-US" sz="1000" dirty="0">
                <a:solidFill>
                  <a:srgbClr val="1A2340"/>
                </a:solidFill>
                <a:latin typeface="Calibri" pitchFamily="34" charset="0"/>
                <a:ea typeface="Calibri" pitchFamily="34" charset="-122"/>
                <a:cs typeface="Calibri" pitchFamily="34" charset="-120"/>
              </a:rPr>
              <a:t>SITA, ISPA &amp; CSIR published SME technology reports</a:t>
            </a:r>
            <a:endParaRPr lang="en-US" sz="1000" dirty="0"/>
          </a:p>
        </p:txBody>
      </p:sp>
      <p:sp>
        <p:nvSpPr>
          <p:cNvPr id="18" name="Shape 16"/>
          <p:cNvSpPr/>
          <p:nvPr/>
        </p:nvSpPr>
        <p:spPr>
          <a:xfrm>
            <a:off x="3218688" y="3438144"/>
            <a:ext cx="2788920" cy="1444752"/>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19" name="Shape 17"/>
          <p:cNvSpPr/>
          <p:nvPr/>
        </p:nvSpPr>
        <p:spPr>
          <a:xfrm>
            <a:off x="3218688" y="3438144"/>
            <a:ext cx="2788920" cy="36576"/>
          </a:xfrm>
          <a:prstGeom prst="rect">
            <a:avLst/>
          </a:prstGeom>
          <a:solidFill>
            <a:srgbClr val="1565C0"/>
          </a:solidFill>
          <a:ln w="12700">
            <a:solidFill>
              <a:srgbClr val="1565C0"/>
            </a:solidFill>
            <a:prstDash val="solid"/>
          </a:ln>
        </p:spPr>
      </p:sp>
      <p:sp>
        <p:nvSpPr>
          <p:cNvPr id="20" name="Text 18"/>
          <p:cNvSpPr/>
          <p:nvPr/>
        </p:nvSpPr>
        <p:spPr>
          <a:xfrm>
            <a:off x="3310128" y="3493008"/>
            <a:ext cx="2606040" cy="256032"/>
          </a:xfrm>
          <a:prstGeom prst="rect">
            <a:avLst/>
          </a:prstGeom>
          <a:noFill/>
          <a:ln/>
        </p:spPr>
        <p:txBody>
          <a:bodyPr wrap="square" rtlCol="0" anchor="ctr"/>
          <a:lstStyle/>
          <a:p>
            <a:pPr indent="0" marL="0">
              <a:buNone/>
            </a:pPr>
            <a:r>
              <a:rPr lang="en-US" sz="850" b="1" spc="100" kern="0" dirty="0">
                <a:solidFill>
                  <a:srgbClr val="1565C0"/>
                </a:solidFill>
                <a:latin typeface="Calibri" pitchFamily="34" charset="0"/>
                <a:ea typeface="Calibri" pitchFamily="34" charset="-122"/>
                <a:cs typeface="Calibri" pitchFamily="34" charset="-120"/>
              </a:rPr>
              <a:t>🌍  GLOBAL REACH</a:t>
            </a:r>
            <a:endParaRPr lang="en-US" sz="850" dirty="0"/>
          </a:p>
        </p:txBody>
      </p:sp>
      <p:sp>
        <p:nvSpPr>
          <p:cNvPr id="21" name="Text 19"/>
          <p:cNvSpPr/>
          <p:nvPr/>
        </p:nvSpPr>
        <p:spPr>
          <a:xfrm>
            <a:off x="3310128" y="3767328"/>
            <a:ext cx="2633472" cy="1005840"/>
          </a:xfrm>
          <a:prstGeom prst="rect">
            <a:avLst/>
          </a:prstGeom>
          <a:noFill/>
          <a:ln/>
        </p:spPr>
        <p:txBody>
          <a:bodyPr wrap="square" rtlCol="0" anchor="t"/>
          <a:lstStyle/>
          <a:p>
            <a:pPr marL="342900" indent="-342900">
              <a:buSzPct val="100000"/>
              <a:buChar char="•"/>
            </a:pPr>
            <a:r>
              <a:rPr lang="en-US" sz="1000" dirty="0">
                <a:solidFill>
                  <a:srgbClr val="1A2340"/>
                </a:solidFill>
                <a:latin typeface="Calibri" pitchFamily="34" charset="0"/>
                <a:ea typeface="Calibri" pitchFamily="34" charset="-122"/>
                <a:cs typeface="Calibri" pitchFamily="34" charset="-120"/>
              </a:rPr>
              <a:t>Gartner &amp; IDC global cloud adoption frameworks</a:t>
            </a:r>
            <a:endParaRPr lang="en-US" sz="1000" dirty="0"/>
          </a:p>
          <a:p>
            <a:pPr marL="342900" indent="-342900">
              <a:buSzPct val="100000"/>
              <a:buChar char="•"/>
            </a:pPr>
            <a:r>
              <a:rPr lang="en-US" sz="1000" dirty="0">
                <a:solidFill>
                  <a:srgbClr val="1A2340"/>
                </a:solidFill>
                <a:latin typeface="Calibri" pitchFamily="34" charset="0"/>
                <a:ea typeface="Calibri" pitchFamily="34" charset="-122"/>
                <a:cs typeface="Calibri" pitchFamily="34" charset="-120"/>
              </a:rPr>
              <a:t>Comparative studies — Nigeria, India, Malaysia, Brazil</a:t>
            </a:r>
            <a:endParaRPr lang="en-US" sz="1000" dirty="0"/>
          </a:p>
          <a:p>
            <a:pPr marL="342900" indent="-342900">
              <a:buSzPct val="100000"/>
              <a:buChar char="•"/>
            </a:pPr>
            <a:r>
              <a:rPr lang="en-US" sz="1000" dirty="0">
                <a:solidFill>
                  <a:srgbClr val="1A2340"/>
                </a:solidFill>
                <a:latin typeface="Calibri" pitchFamily="34" charset="0"/>
                <a:ea typeface="Calibri" pitchFamily="34" charset="-122"/>
                <a:cs typeface="Calibri" pitchFamily="34" charset="-120"/>
              </a:rPr>
              <a:t>International Journal of Cloud Computing &amp; IEEE papers</a:t>
            </a:r>
            <a:endParaRPr lang="en-US" sz="1000" dirty="0"/>
          </a:p>
        </p:txBody>
      </p:sp>
      <p:sp>
        <p:nvSpPr>
          <p:cNvPr id="22" name="Shape 20"/>
          <p:cNvSpPr/>
          <p:nvPr/>
        </p:nvSpPr>
        <p:spPr>
          <a:xfrm>
            <a:off x="6035040" y="3438144"/>
            <a:ext cx="2788920" cy="1444752"/>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23" name="Shape 21"/>
          <p:cNvSpPr/>
          <p:nvPr/>
        </p:nvSpPr>
        <p:spPr>
          <a:xfrm>
            <a:off x="6035040" y="3438144"/>
            <a:ext cx="2788920" cy="36576"/>
          </a:xfrm>
          <a:prstGeom prst="rect">
            <a:avLst/>
          </a:prstGeom>
          <a:solidFill>
            <a:srgbClr val="334477"/>
          </a:solidFill>
          <a:ln w="12700">
            <a:solidFill>
              <a:srgbClr val="334477"/>
            </a:solidFill>
            <a:prstDash val="solid"/>
          </a:ln>
        </p:spPr>
      </p:sp>
      <p:sp>
        <p:nvSpPr>
          <p:cNvPr id="24" name="Text 22"/>
          <p:cNvSpPr/>
          <p:nvPr/>
        </p:nvSpPr>
        <p:spPr>
          <a:xfrm>
            <a:off x="6126480" y="3493008"/>
            <a:ext cx="2606040" cy="256032"/>
          </a:xfrm>
          <a:prstGeom prst="rect">
            <a:avLst/>
          </a:prstGeom>
          <a:noFill/>
          <a:ln/>
        </p:spPr>
        <p:txBody>
          <a:bodyPr wrap="square" rtlCol="0" anchor="ctr"/>
          <a:lstStyle/>
          <a:p>
            <a:pPr indent="0" marL="0">
              <a:buNone/>
            </a:pPr>
            <a:r>
              <a:rPr lang="en-US" sz="850" b="1" spc="100" kern="0" dirty="0">
                <a:solidFill>
                  <a:srgbClr val="334477"/>
                </a:solidFill>
                <a:latin typeface="Calibri" pitchFamily="34" charset="0"/>
                <a:ea typeface="Calibri" pitchFamily="34" charset="-122"/>
                <a:cs typeface="Calibri" pitchFamily="34" charset="-120"/>
              </a:rPr>
              <a:t>⚙️  RESEARCH METHOD</a:t>
            </a:r>
            <a:endParaRPr lang="en-US" sz="850" dirty="0"/>
          </a:p>
        </p:txBody>
      </p:sp>
      <p:sp>
        <p:nvSpPr>
          <p:cNvPr id="25" name="Text 23"/>
          <p:cNvSpPr/>
          <p:nvPr/>
        </p:nvSpPr>
        <p:spPr>
          <a:xfrm>
            <a:off x="6126480" y="3767328"/>
            <a:ext cx="2633472" cy="1005840"/>
          </a:xfrm>
          <a:prstGeom prst="rect">
            <a:avLst/>
          </a:prstGeom>
          <a:noFill/>
          <a:ln/>
        </p:spPr>
        <p:txBody>
          <a:bodyPr wrap="square" rtlCol="0" anchor="t"/>
          <a:lstStyle/>
          <a:p>
            <a:pPr indent="0" marL="0">
              <a:buNone/>
            </a:pPr>
            <a:r>
              <a:rPr lang="en-US" sz="1000" dirty="0">
                <a:solidFill>
                  <a:srgbClr val="1A2340"/>
                </a:solidFill>
                <a:latin typeface="Calibri" pitchFamily="34" charset="0"/>
                <a:ea typeface="Calibri" pitchFamily="34" charset="-122"/>
                <a:cs typeface="Calibri" pitchFamily="34" charset="-120"/>
              </a:rPr>
              <a:t>Qualitative systematic literature review — peer-reviewed journals, industry &amp; government reports. No interviews or questionnaires.</a:t>
            </a:r>
            <a:endParaRPr lang="en-US" sz="1000" dirty="0"/>
          </a:p>
        </p:txBody>
      </p:sp>
      <p:sp>
        <p:nvSpPr>
          <p:cNvPr id="26" name="Shape 24"/>
          <p:cNvSpPr/>
          <p:nvPr/>
        </p:nvSpPr>
        <p:spPr>
          <a:xfrm>
            <a:off x="201168" y="4910328"/>
            <a:ext cx="8942832" cy="237744"/>
          </a:xfrm>
          <a:prstGeom prst="rect">
            <a:avLst/>
          </a:prstGeom>
          <a:solidFill>
            <a:srgbClr val="0D1B3E"/>
          </a:solidFill>
          <a:ln w="12700">
            <a:solidFill>
              <a:srgbClr val="0D1B3E"/>
            </a:solidFill>
            <a:prstDash val="solid"/>
          </a:ln>
        </p:spPr>
      </p:sp>
      <p:sp>
        <p:nvSpPr>
          <p:cNvPr id="27" name="Text 25"/>
          <p:cNvSpPr/>
          <p:nvPr/>
        </p:nvSpPr>
        <p:spPr>
          <a:xfrm>
            <a:off x="365760" y="4919472"/>
            <a:ext cx="8412480" cy="201168"/>
          </a:xfrm>
          <a:prstGeom prst="rect">
            <a:avLst/>
          </a:prstGeom>
          <a:noFill/>
          <a:ln/>
        </p:spPr>
        <p:txBody>
          <a:bodyPr wrap="square" rtlCol="0" anchor="ctr"/>
          <a:lstStyle/>
          <a:p>
            <a:pPr indent="0" marL="0">
              <a:buNone/>
            </a:pPr>
            <a:r>
              <a:rPr lang="en-US" sz="850" dirty="0">
                <a:solidFill>
                  <a:srgbClr val="6B8CB8"/>
                </a:solidFill>
                <a:latin typeface="Calibri" pitchFamily="34" charset="0"/>
                <a:ea typeface="Calibri" pitchFamily="34" charset="-122"/>
                <a:cs typeface="Calibri" pitchFamily="34" charset="-120"/>
              </a:rPr>
              <a:t>Document &amp; published article analysis only  ·  Aligned with RME478S module requirements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B71C1C"/>
          </a:solidFill>
          <a:ln w="12700">
            <a:solidFill>
              <a:srgbClr val="B71C1C"/>
            </a:solidFill>
            <a:prstDash val="solid"/>
          </a:ln>
        </p:spPr>
      </p:sp>
      <p:sp>
        <p:nvSpPr>
          <p:cNvPr id="3" name="Shape 1"/>
          <p:cNvSpPr/>
          <p:nvPr/>
        </p:nvSpPr>
        <p:spPr>
          <a:xfrm>
            <a:off x="201168" y="0"/>
            <a:ext cx="8942832" cy="658368"/>
          </a:xfrm>
          <a:prstGeom prst="rect">
            <a:avLst/>
          </a:prstGeom>
          <a:solidFill>
            <a:srgbClr val="0D1B3E"/>
          </a:solidFill>
          <a:ln w="12700">
            <a:solidFill>
              <a:srgbClr val="0D1B3E"/>
            </a:solidFill>
            <a:prstDash val="solid"/>
          </a:ln>
        </p:spPr>
      </p:sp>
      <p:sp>
        <p:nvSpPr>
          <p:cNvPr id="4" name="Text 2"/>
          <p:cNvSpPr/>
          <p:nvPr/>
        </p:nvSpPr>
        <p:spPr>
          <a:xfrm>
            <a:off x="384048" y="36576"/>
            <a:ext cx="4572000" cy="256032"/>
          </a:xfrm>
          <a:prstGeom prst="rect">
            <a:avLst/>
          </a:prstGeom>
          <a:noFill/>
          <a:ln/>
        </p:spPr>
        <p:txBody>
          <a:bodyPr wrap="square" rtlCol="0" anchor="ctr"/>
          <a:lstStyle/>
          <a:p>
            <a:pPr indent="0" marL="0">
              <a:buNone/>
            </a:pPr>
            <a:r>
              <a:rPr lang="en-US" sz="900" b="1" spc="250" kern="0" dirty="0">
                <a:solidFill>
                  <a:srgbClr val="E8A020"/>
                </a:solidFill>
                <a:latin typeface="Calibri" pitchFamily="34" charset="0"/>
                <a:ea typeface="Calibri" pitchFamily="34" charset="-122"/>
                <a:cs typeface="Calibri" pitchFamily="34" charset="-120"/>
              </a:rPr>
              <a:t>PROPOSED TOPIC &amp; AIM</a:t>
            </a:r>
            <a:endParaRPr lang="en-US" sz="900" dirty="0"/>
          </a:p>
        </p:txBody>
      </p:sp>
      <p:sp>
        <p:nvSpPr>
          <p:cNvPr id="5" name="Text 3"/>
          <p:cNvSpPr/>
          <p:nvPr/>
        </p:nvSpPr>
        <p:spPr>
          <a:xfrm>
            <a:off x="384048" y="292608"/>
            <a:ext cx="8412480" cy="329184"/>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  Topic 4  ·  DATA CENTRE SUSTAINABILITY</a:t>
            </a:r>
            <a:endParaRPr lang="en-US" sz="1700" dirty="0"/>
          </a:p>
        </p:txBody>
      </p:sp>
      <p:sp>
        <p:nvSpPr>
          <p:cNvPr id="6" name="Shape 4"/>
          <p:cNvSpPr/>
          <p:nvPr/>
        </p:nvSpPr>
        <p:spPr>
          <a:xfrm>
            <a:off x="320040" y="768096"/>
            <a:ext cx="914400" cy="292608"/>
          </a:xfrm>
          <a:prstGeom prst="rect">
            <a:avLst/>
          </a:prstGeom>
          <a:solidFill>
            <a:srgbClr val="B71C1C"/>
          </a:solidFill>
          <a:ln w="12700">
            <a:solidFill>
              <a:srgbClr val="B71C1C"/>
            </a:solidFill>
            <a:prstDash val="solid"/>
          </a:ln>
        </p:spPr>
      </p:sp>
      <p:sp>
        <p:nvSpPr>
          <p:cNvPr id="7" name="Text 5"/>
          <p:cNvSpPr/>
          <p:nvPr/>
        </p:nvSpPr>
        <p:spPr>
          <a:xfrm>
            <a:off x="320040" y="768096"/>
            <a:ext cx="914400" cy="292608"/>
          </a:xfrm>
          <a:prstGeom prst="rect">
            <a:avLst/>
          </a:prstGeom>
          <a:noFill/>
          <a:ln/>
        </p:spPr>
        <p:txBody>
          <a:bodyPr wrap="square"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TOPIC</a:t>
            </a:r>
            <a:endParaRPr lang="en-US" sz="1000" dirty="0"/>
          </a:p>
        </p:txBody>
      </p:sp>
      <p:sp>
        <p:nvSpPr>
          <p:cNvPr id="8" name="Shape 6"/>
          <p:cNvSpPr/>
          <p:nvPr/>
        </p:nvSpPr>
        <p:spPr>
          <a:xfrm>
            <a:off x="320040" y="1078992"/>
            <a:ext cx="8503920" cy="841248"/>
          </a:xfrm>
          <a:prstGeom prst="rect">
            <a:avLst/>
          </a:prstGeom>
          <a:solidFill>
            <a:srgbClr val="FFFFFF"/>
          </a:solidFill>
          <a:ln w="15240">
            <a:solidFill>
              <a:srgbClr val="B71C1C"/>
            </a:solidFill>
            <a:prstDash val="solid"/>
          </a:ln>
          <a:effectLst>
            <a:outerShdw sx="100000" sy="100000" kx="0" ky="0" algn="bl" rotWithShape="0" blurRad="76200" dist="25400" dir="8100000">
              <a:srgbClr val="000000">
                <a:alpha val="12000"/>
              </a:srgbClr>
            </a:outerShdw>
          </a:effectLst>
        </p:spPr>
      </p:sp>
      <p:sp>
        <p:nvSpPr>
          <p:cNvPr id="9" name="Text 7"/>
          <p:cNvSpPr/>
          <p:nvPr/>
        </p:nvSpPr>
        <p:spPr>
          <a:xfrm>
            <a:off x="502920" y="1115568"/>
            <a:ext cx="8229600" cy="768096"/>
          </a:xfrm>
          <a:prstGeom prst="rect">
            <a:avLst/>
          </a:prstGeom>
          <a:noFill/>
          <a:ln/>
        </p:spPr>
        <p:txBody>
          <a:bodyPr wrap="square" rtlCol="0" anchor="ctr"/>
          <a:lstStyle/>
          <a:p>
            <a:pPr indent="0" marL="0">
              <a:buNone/>
            </a:pPr>
            <a:r>
              <a:rPr lang="en-US" sz="1350" b="1" dirty="0">
                <a:solidFill>
                  <a:srgbClr val="1A2340"/>
                </a:solidFill>
                <a:latin typeface="Calibri" pitchFamily="34" charset="0"/>
                <a:ea typeface="Calibri" pitchFamily="34" charset="-122"/>
                <a:cs typeface="Calibri" pitchFamily="34" charset="-120"/>
              </a:rPr>
              <a:t>The Environmental and Resource Impact of Data Centre Expansion in South Africa: Balancing Digital Growth with Water and Energy Sustainability</a:t>
            </a:r>
            <a:endParaRPr lang="en-US" sz="1350" dirty="0"/>
          </a:p>
        </p:txBody>
      </p:sp>
      <p:sp>
        <p:nvSpPr>
          <p:cNvPr id="10" name="Shape 8"/>
          <p:cNvSpPr/>
          <p:nvPr/>
        </p:nvSpPr>
        <p:spPr>
          <a:xfrm>
            <a:off x="320040" y="2029968"/>
            <a:ext cx="804672" cy="292608"/>
          </a:xfrm>
          <a:prstGeom prst="rect">
            <a:avLst/>
          </a:prstGeom>
          <a:solidFill>
            <a:srgbClr val="334477"/>
          </a:solidFill>
          <a:ln w="12700">
            <a:solidFill>
              <a:srgbClr val="334477"/>
            </a:solidFill>
            <a:prstDash val="solid"/>
          </a:ln>
        </p:spPr>
      </p:sp>
      <p:sp>
        <p:nvSpPr>
          <p:cNvPr id="11" name="Text 9"/>
          <p:cNvSpPr/>
          <p:nvPr/>
        </p:nvSpPr>
        <p:spPr>
          <a:xfrm>
            <a:off x="320040" y="2029968"/>
            <a:ext cx="804672" cy="292608"/>
          </a:xfrm>
          <a:prstGeom prst="rect">
            <a:avLst/>
          </a:prstGeom>
          <a:noFill/>
          <a:ln/>
        </p:spPr>
        <p:txBody>
          <a:bodyPr wrap="square"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AIM</a:t>
            </a:r>
            <a:endParaRPr lang="en-US" sz="1000" dirty="0"/>
          </a:p>
        </p:txBody>
      </p:sp>
      <p:sp>
        <p:nvSpPr>
          <p:cNvPr id="12" name="Shape 10"/>
          <p:cNvSpPr/>
          <p:nvPr/>
        </p:nvSpPr>
        <p:spPr>
          <a:xfrm>
            <a:off x="320040" y="2340864"/>
            <a:ext cx="8503920" cy="987552"/>
          </a:xfrm>
          <a:prstGeom prst="rect">
            <a:avLst/>
          </a:prstGeom>
          <a:solidFill>
            <a:srgbClr val="FFFFFF"/>
          </a:solidFill>
          <a:ln w="15240">
            <a:solidFill>
              <a:srgbClr val="334477"/>
            </a:solidFill>
            <a:prstDash val="solid"/>
          </a:ln>
          <a:effectLst>
            <a:outerShdw sx="100000" sy="100000" kx="0" ky="0" algn="bl" rotWithShape="0" blurRad="76200" dist="25400" dir="8100000">
              <a:srgbClr val="000000">
                <a:alpha val="12000"/>
              </a:srgbClr>
            </a:outerShdw>
          </a:effectLst>
        </p:spPr>
      </p:sp>
      <p:sp>
        <p:nvSpPr>
          <p:cNvPr id="13" name="Text 11"/>
          <p:cNvSpPr/>
          <p:nvPr/>
        </p:nvSpPr>
        <p:spPr>
          <a:xfrm>
            <a:off x="502920" y="2377440"/>
            <a:ext cx="8229600" cy="914400"/>
          </a:xfrm>
          <a:prstGeom prst="rect">
            <a:avLst/>
          </a:prstGeom>
          <a:noFill/>
          <a:ln/>
        </p:spPr>
        <p:txBody>
          <a:bodyPr wrap="square" rtlCol="0" anchor="ctr"/>
          <a:lstStyle/>
          <a:p>
            <a:pPr indent="0" marL="0">
              <a:buNone/>
            </a:pPr>
            <a:r>
              <a:rPr lang="en-US" sz="1200" i="1" dirty="0">
                <a:solidFill>
                  <a:srgbClr val="4A5568"/>
                </a:solidFill>
                <a:latin typeface="Calibri" pitchFamily="34" charset="0"/>
                <a:ea typeface="Calibri" pitchFamily="34" charset="-122"/>
                <a:cs typeface="Calibri" pitchFamily="34" charset="-120"/>
              </a:rPr>
              <a:t>To investigate the environmental and resource consequences of the rapid growth of data centres in South Africa, with particular focus on water consumption and electricity demand, and to evaluate whether current regulatory frameworks are sufficient to ensure sustainable and transparent data centre development.</a:t>
            </a:r>
            <a:endParaRPr lang="en-US" sz="1200" dirty="0"/>
          </a:p>
        </p:txBody>
      </p:sp>
      <p:sp>
        <p:nvSpPr>
          <p:cNvPr id="14" name="Shape 12"/>
          <p:cNvSpPr/>
          <p:nvPr/>
        </p:nvSpPr>
        <p:spPr>
          <a:xfrm>
            <a:off x="320040" y="3438144"/>
            <a:ext cx="2788920" cy="1444752"/>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15" name="Shape 13"/>
          <p:cNvSpPr/>
          <p:nvPr/>
        </p:nvSpPr>
        <p:spPr>
          <a:xfrm>
            <a:off x="320040" y="3438144"/>
            <a:ext cx="2788920" cy="36576"/>
          </a:xfrm>
          <a:prstGeom prst="rect">
            <a:avLst/>
          </a:prstGeom>
          <a:solidFill>
            <a:srgbClr val="B71C1C"/>
          </a:solidFill>
          <a:ln w="12700">
            <a:solidFill>
              <a:srgbClr val="B71C1C"/>
            </a:solidFill>
            <a:prstDash val="solid"/>
          </a:ln>
        </p:spPr>
      </p:sp>
      <p:sp>
        <p:nvSpPr>
          <p:cNvPr id="16" name="Text 14"/>
          <p:cNvSpPr/>
          <p:nvPr/>
        </p:nvSpPr>
        <p:spPr>
          <a:xfrm>
            <a:off x="411480" y="3493008"/>
            <a:ext cx="2606040" cy="256032"/>
          </a:xfrm>
          <a:prstGeom prst="rect">
            <a:avLst/>
          </a:prstGeom>
          <a:noFill/>
          <a:ln/>
        </p:spPr>
        <p:txBody>
          <a:bodyPr wrap="square" rtlCol="0" anchor="ctr"/>
          <a:lstStyle/>
          <a:p>
            <a:pPr indent="0" marL="0">
              <a:buNone/>
            </a:pPr>
            <a:r>
              <a:rPr lang="en-US" sz="850" b="1" spc="100" kern="0" dirty="0">
                <a:solidFill>
                  <a:srgbClr val="B71C1C"/>
                </a:solidFill>
                <a:latin typeface="Calibri" pitchFamily="34" charset="0"/>
                <a:ea typeface="Calibri" pitchFamily="34" charset="-122"/>
                <a:cs typeface="Calibri" pitchFamily="34" charset="-120"/>
              </a:rPr>
              <a:t>🇿🇦  SOUTH AFRICAN CONTEXT</a:t>
            </a:r>
            <a:endParaRPr lang="en-US" sz="850" dirty="0"/>
          </a:p>
        </p:txBody>
      </p:sp>
      <p:sp>
        <p:nvSpPr>
          <p:cNvPr id="17" name="Text 15"/>
          <p:cNvSpPr/>
          <p:nvPr/>
        </p:nvSpPr>
        <p:spPr>
          <a:xfrm>
            <a:off x="411480" y="3767328"/>
            <a:ext cx="2633472" cy="1005840"/>
          </a:xfrm>
          <a:prstGeom prst="rect">
            <a:avLst/>
          </a:prstGeom>
          <a:noFill/>
          <a:ln/>
        </p:spPr>
        <p:txBody>
          <a:bodyPr wrap="square" rtlCol="0" anchor="t"/>
          <a:lstStyle/>
          <a:p>
            <a:pPr marL="342900" indent="-342900">
              <a:buSzPct val="100000"/>
              <a:buChar char="•"/>
            </a:pPr>
            <a:r>
              <a:rPr lang="en-US" sz="1000" dirty="0">
                <a:solidFill>
                  <a:srgbClr val="1A2340"/>
                </a:solidFill>
                <a:latin typeface="Calibri" pitchFamily="34" charset="0"/>
                <a:ea typeface="Calibri" pitchFamily="34" charset="-122"/>
                <a:cs typeface="Calibri" pitchFamily="34" charset="-120"/>
              </a:rPr>
              <a:t>Teraco used 34,000 kL of water in 2025 — 88% municipal supply</a:t>
            </a:r>
            <a:endParaRPr lang="en-US" sz="1000" dirty="0"/>
          </a:p>
          <a:p>
            <a:pPr marL="342900" indent="-342900">
              <a:buSzPct val="100000"/>
              <a:buChar char="•"/>
            </a:pPr>
            <a:r>
              <a:rPr lang="en-US" sz="1000" dirty="0">
                <a:solidFill>
                  <a:srgbClr val="1A2340"/>
                </a:solidFill>
                <a:latin typeface="Calibri" pitchFamily="34" charset="0"/>
                <a:ea typeface="Calibri" pitchFamily="34" charset="-122"/>
                <a:cs typeface="Calibri" pitchFamily="34" charset="-120"/>
              </a:rPr>
              <a:t>1,000+ MW additional demand planned by new SA data centres</a:t>
            </a:r>
            <a:endParaRPr lang="en-US" sz="1000" dirty="0"/>
          </a:p>
          <a:p>
            <a:pPr marL="342900" indent="-342900">
              <a:buSzPct val="100000"/>
              <a:buChar char="•"/>
            </a:pPr>
            <a:r>
              <a:rPr lang="en-US" sz="1000" dirty="0">
                <a:solidFill>
                  <a:srgbClr val="1A2340"/>
                </a:solidFill>
                <a:latin typeface="Calibri" pitchFamily="34" charset="0"/>
                <a:ea typeface="Calibri" pitchFamily="34" charset="-122"/>
                <a:cs typeface="Calibri" pitchFamily="34" charset="-120"/>
              </a:rPr>
              <a:t>No mandatory public reporting framework exists under SA law</a:t>
            </a:r>
            <a:endParaRPr lang="en-US" sz="1000" dirty="0"/>
          </a:p>
        </p:txBody>
      </p:sp>
      <p:sp>
        <p:nvSpPr>
          <p:cNvPr id="18" name="Shape 16"/>
          <p:cNvSpPr/>
          <p:nvPr/>
        </p:nvSpPr>
        <p:spPr>
          <a:xfrm>
            <a:off x="3218688" y="3438144"/>
            <a:ext cx="2788920" cy="1444752"/>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19" name="Shape 17"/>
          <p:cNvSpPr/>
          <p:nvPr/>
        </p:nvSpPr>
        <p:spPr>
          <a:xfrm>
            <a:off x="3218688" y="3438144"/>
            <a:ext cx="2788920" cy="36576"/>
          </a:xfrm>
          <a:prstGeom prst="rect">
            <a:avLst/>
          </a:prstGeom>
          <a:solidFill>
            <a:srgbClr val="1565C0"/>
          </a:solidFill>
          <a:ln w="12700">
            <a:solidFill>
              <a:srgbClr val="1565C0"/>
            </a:solidFill>
            <a:prstDash val="solid"/>
          </a:ln>
        </p:spPr>
      </p:sp>
      <p:sp>
        <p:nvSpPr>
          <p:cNvPr id="20" name="Text 18"/>
          <p:cNvSpPr/>
          <p:nvPr/>
        </p:nvSpPr>
        <p:spPr>
          <a:xfrm>
            <a:off x="3310128" y="3493008"/>
            <a:ext cx="2606040" cy="256032"/>
          </a:xfrm>
          <a:prstGeom prst="rect">
            <a:avLst/>
          </a:prstGeom>
          <a:noFill/>
          <a:ln/>
        </p:spPr>
        <p:txBody>
          <a:bodyPr wrap="square" rtlCol="0" anchor="ctr"/>
          <a:lstStyle/>
          <a:p>
            <a:pPr indent="0" marL="0">
              <a:buNone/>
            </a:pPr>
            <a:r>
              <a:rPr lang="en-US" sz="850" b="1" spc="100" kern="0" dirty="0">
                <a:solidFill>
                  <a:srgbClr val="1565C0"/>
                </a:solidFill>
                <a:latin typeface="Calibri" pitchFamily="34" charset="0"/>
                <a:ea typeface="Calibri" pitchFamily="34" charset="-122"/>
                <a:cs typeface="Calibri" pitchFamily="34" charset="-120"/>
              </a:rPr>
              <a:t>🌍  GLOBAL REACH</a:t>
            </a:r>
            <a:endParaRPr lang="en-US" sz="850" dirty="0"/>
          </a:p>
        </p:txBody>
      </p:sp>
      <p:sp>
        <p:nvSpPr>
          <p:cNvPr id="21" name="Text 19"/>
          <p:cNvSpPr/>
          <p:nvPr/>
        </p:nvSpPr>
        <p:spPr>
          <a:xfrm>
            <a:off x="3310128" y="3767328"/>
            <a:ext cx="2633472" cy="1005840"/>
          </a:xfrm>
          <a:prstGeom prst="rect">
            <a:avLst/>
          </a:prstGeom>
          <a:noFill/>
          <a:ln/>
        </p:spPr>
        <p:txBody>
          <a:bodyPr wrap="square" rtlCol="0" anchor="t"/>
          <a:lstStyle/>
          <a:p>
            <a:pPr marL="342900" indent="-342900">
              <a:buSzPct val="100000"/>
              <a:buChar char="•"/>
            </a:pPr>
            <a:r>
              <a:rPr lang="en-US" sz="1000" dirty="0">
                <a:solidFill>
                  <a:srgbClr val="1A2340"/>
                </a:solidFill>
                <a:latin typeface="Calibri" pitchFamily="34" charset="0"/>
                <a:ea typeface="Calibri" pitchFamily="34" charset="-122"/>
                <a:cs typeface="Calibri" pitchFamily="34" charset="-120"/>
              </a:rPr>
              <a:t>UNEP Guidelines on data centre environmental impact (2025)</a:t>
            </a:r>
            <a:endParaRPr lang="en-US" sz="1000" dirty="0"/>
          </a:p>
          <a:p>
            <a:pPr marL="342900" indent="-342900">
              <a:buSzPct val="100000"/>
              <a:buChar char="•"/>
            </a:pPr>
            <a:r>
              <a:rPr lang="en-US" sz="1000" dirty="0">
                <a:solidFill>
                  <a:srgbClr val="1A2340"/>
                </a:solidFill>
                <a:latin typeface="Calibri" pitchFamily="34" charset="0"/>
                <a:ea typeface="Calibri" pitchFamily="34" charset="-122"/>
                <a:cs typeface="Calibri" pitchFamily="34" charset="-120"/>
              </a:rPr>
              <a:t>Nature Sustainability &amp; Cell Press — water/carbon modelling</a:t>
            </a:r>
            <a:endParaRPr lang="en-US" sz="1000" dirty="0"/>
          </a:p>
          <a:p>
            <a:pPr marL="342900" indent="-342900">
              <a:buSzPct val="100000"/>
              <a:buChar char="•"/>
            </a:pPr>
            <a:r>
              <a:rPr lang="en-US" sz="1000" dirty="0">
                <a:solidFill>
                  <a:srgbClr val="1A2340"/>
                </a:solidFill>
                <a:latin typeface="Calibri" pitchFamily="34" charset="0"/>
                <a:ea typeface="Calibri" pitchFamily="34" charset="-122"/>
                <a:cs typeface="Calibri" pitchFamily="34" charset="-120"/>
              </a:rPr>
              <a:t>IEA: data centres driving &gt;20% of global electricity demand growth</a:t>
            </a:r>
            <a:endParaRPr lang="en-US" sz="1000" dirty="0"/>
          </a:p>
        </p:txBody>
      </p:sp>
      <p:sp>
        <p:nvSpPr>
          <p:cNvPr id="22" name="Shape 20"/>
          <p:cNvSpPr/>
          <p:nvPr/>
        </p:nvSpPr>
        <p:spPr>
          <a:xfrm>
            <a:off x="6035040" y="3438144"/>
            <a:ext cx="2788920" cy="1444752"/>
          </a:xfrm>
          <a:prstGeom prst="rect">
            <a:avLst/>
          </a:prstGeom>
          <a:solidFill>
            <a:srgbClr val="FFFFFF"/>
          </a:solidFill>
          <a:ln w="6350">
            <a:solidFill>
              <a:srgbClr val="E2E8F0"/>
            </a:solidFill>
            <a:prstDash val="solid"/>
          </a:ln>
          <a:effectLst>
            <a:outerShdw sx="100000" sy="100000" kx="0" ky="0" algn="bl" rotWithShape="0" blurRad="76200" dist="25400" dir="8100000">
              <a:srgbClr val="000000">
                <a:alpha val="12000"/>
              </a:srgbClr>
            </a:outerShdw>
          </a:effectLst>
        </p:spPr>
      </p:sp>
      <p:sp>
        <p:nvSpPr>
          <p:cNvPr id="23" name="Shape 21"/>
          <p:cNvSpPr/>
          <p:nvPr/>
        </p:nvSpPr>
        <p:spPr>
          <a:xfrm>
            <a:off x="6035040" y="3438144"/>
            <a:ext cx="2788920" cy="36576"/>
          </a:xfrm>
          <a:prstGeom prst="rect">
            <a:avLst/>
          </a:prstGeom>
          <a:solidFill>
            <a:srgbClr val="334477"/>
          </a:solidFill>
          <a:ln w="12700">
            <a:solidFill>
              <a:srgbClr val="334477"/>
            </a:solidFill>
            <a:prstDash val="solid"/>
          </a:ln>
        </p:spPr>
      </p:sp>
      <p:sp>
        <p:nvSpPr>
          <p:cNvPr id="24" name="Text 22"/>
          <p:cNvSpPr/>
          <p:nvPr/>
        </p:nvSpPr>
        <p:spPr>
          <a:xfrm>
            <a:off x="6126480" y="3493008"/>
            <a:ext cx="2606040" cy="256032"/>
          </a:xfrm>
          <a:prstGeom prst="rect">
            <a:avLst/>
          </a:prstGeom>
          <a:noFill/>
          <a:ln/>
        </p:spPr>
        <p:txBody>
          <a:bodyPr wrap="square" rtlCol="0" anchor="ctr"/>
          <a:lstStyle/>
          <a:p>
            <a:pPr indent="0" marL="0">
              <a:buNone/>
            </a:pPr>
            <a:r>
              <a:rPr lang="en-US" sz="850" b="1" spc="100" kern="0" dirty="0">
                <a:solidFill>
                  <a:srgbClr val="334477"/>
                </a:solidFill>
                <a:latin typeface="Calibri" pitchFamily="34" charset="0"/>
                <a:ea typeface="Calibri" pitchFamily="34" charset="-122"/>
                <a:cs typeface="Calibri" pitchFamily="34" charset="-120"/>
              </a:rPr>
              <a:t>⚙️  RESEARCH METHOD</a:t>
            </a:r>
            <a:endParaRPr lang="en-US" sz="850" dirty="0"/>
          </a:p>
        </p:txBody>
      </p:sp>
      <p:sp>
        <p:nvSpPr>
          <p:cNvPr id="25" name="Text 23"/>
          <p:cNvSpPr/>
          <p:nvPr/>
        </p:nvSpPr>
        <p:spPr>
          <a:xfrm>
            <a:off x="6126480" y="3767328"/>
            <a:ext cx="2633472" cy="1005840"/>
          </a:xfrm>
          <a:prstGeom prst="rect">
            <a:avLst/>
          </a:prstGeom>
          <a:noFill/>
          <a:ln/>
        </p:spPr>
        <p:txBody>
          <a:bodyPr wrap="square" rtlCol="0" anchor="t"/>
          <a:lstStyle/>
          <a:p>
            <a:pPr indent="0" marL="0">
              <a:buNone/>
            </a:pPr>
            <a:r>
              <a:rPr lang="en-US" sz="1000" dirty="0">
                <a:solidFill>
                  <a:srgbClr val="1A2340"/>
                </a:solidFill>
                <a:latin typeface="Calibri" pitchFamily="34" charset="0"/>
                <a:ea typeface="Calibri" pitchFamily="34" charset="-122"/>
                <a:cs typeface="Calibri" pitchFamily="34" charset="-120"/>
              </a:rPr>
              <a:t>Qualitative systematic literature review — policy documents, peer-reviewed journals, investigative reports. No interviews or questionnaires.</a:t>
            </a:r>
            <a:endParaRPr lang="en-US" sz="1000" dirty="0"/>
          </a:p>
        </p:txBody>
      </p:sp>
      <p:sp>
        <p:nvSpPr>
          <p:cNvPr id="26" name="Shape 24"/>
          <p:cNvSpPr/>
          <p:nvPr/>
        </p:nvSpPr>
        <p:spPr>
          <a:xfrm>
            <a:off x="201168" y="4910328"/>
            <a:ext cx="8942832" cy="237744"/>
          </a:xfrm>
          <a:prstGeom prst="rect">
            <a:avLst/>
          </a:prstGeom>
          <a:solidFill>
            <a:srgbClr val="0D1B3E"/>
          </a:solidFill>
          <a:ln w="12700">
            <a:solidFill>
              <a:srgbClr val="0D1B3E"/>
            </a:solidFill>
            <a:prstDash val="solid"/>
          </a:ln>
        </p:spPr>
      </p:sp>
      <p:sp>
        <p:nvSpPr>
          <p:cNvPr id="27" name="Text 25"/>
          <p:cNvSpPr/>
          <p:nvPr/>
        </p:nvSpPr>
        <p:spPr>
          <a:xfrm>
            <a:off x="365760" y="4919472"/>
            <a:ext cx="8412480" cy="201168"/>
          </a:xfrm>
          <a:prstGeom prst="rect">
            <a:avLst/>
          </a:prstGeom>
          <a:noFill/>
          <a:ln/>
        </p:spPr>
        <p:txBody>
          <a:bodyPr wrap="square" rtlCol="0" anchor="ctr"/>
          <a:lstStyle/>
          <a:p>
            <a:pPr indent="0" marL="0">
              <a:buNone/>
            </a:pPr>
            <a:r>
              <a:rPr lang="en-US" sz="850" dirty="0">
                <a:solidFill>
                  <a:srgbClr val="6B8CB8"/>
                </a:solidFill>
                <a:latin typeface="Calibri" pitchFamily="34" charset="0"/>
                <a:ea typeface="Calibri" pitchFamily="34" charset="-122"/>
                <a:cs typeface="Calibri" pitchFamily="34" charset="-120"/>
              </a:rPr>
              <a:t>Document &amp; published article analysis only  ·  Aligned with RME478S module requirements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A020"/>
          </a:solidFill>
          <a:ln w="12700">
            <a:solidFill>
              <a:srgbClr val="E8A020"/>
            </a:solidFill>
            <a:prstDash val="solid"/>
          </a:ln>
        </p:spPr>
      </p:sp>
      <p:sp>
        <p:nvSpPr>
          <p:cNvPr id="3" name="Text 1"/>
          <p:cNvSpPr/>
          <p:nvPr/>
        </p:nvSpPr>
        <p:spPr>
          <a:xfrm>
            <a:off x="457200" y="91440"/>
            <a:ext cx="8229600" cy="438912"/>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Topic Summary</a:t>
            </a:r>
            <a:endParaRPr lang="en-US" sz="2600" dirty="0"/>
          </a:p>
        </p:txBody>
      </p:sp>
      <p:sp>
        <p:nvSpPr>
          <p:cNvPr id="4" name="Text 2"/>
          <p:cNvSpPr/>
          <p:nvPr/>
        </p:nvSpPr>
        <p:spPr>
          <a:xfrm>
            <a:off x="457200" y="530352"/>
            <a:ext cx="8229600" cy="310896"/>
          </a:xfrm>
          <a:prstGeom prst="rect">
            <a:avLst/>
          </a:prstGeom>
          <a:noFill/>
          <a:ln/>
        </p:spPr>
        <p:txBody>
          <a:bodyPr wrap="square" rtlCol="0" anchor="ctr"/>
          <a:lstStyle/>
          <a:p>
            <a:pPr algn="ctr" indent="0" marL="0">
              <a:buNone/>
            </a:pPr>
            <a:r>
              <a:rPr lang="en-US" sz="1100" i="1" dirty="0">
                <a:solidFill>
                  <a:srgbClr val="AABBD4"/>
                </a:solidFill>
                <a:latin typeface="Calibri" pitchFamily="34" charset="0"/>
                <a:ea typeface="Calibri" pitchFamily="34" charset="-122"/>
                <a:cs typeface="Calibri" pitchFamily="34" charset="-120"/>
              </a:rPr>
              <a:t>All four topics are document-based, ICT-focused and carry both local and global research reach</a:t>
            </a:r>
            <a:endParaRPr lang="en-US" sz="1100" dirty="0"/>
          </a:p>
        </p:txBody>
      </p:sp>
      <p:sp>
        <p:nvSpPr>
          <p:cNvPr id="5" name="Shape 3"/>
          <p:cNvSpPr/>
          <p:nvPr/>
        </p:nvSpPr>
        <p:spPr>
          <a:xfrm>
            <a:off x="164592" y="960120"/>
            <a:ext cx="2084832" cy="3858768"/>
          </a:xfrm>
          <a:prstGeom prst="rect">
            <a:avLst/>
          </a:prstGeom>
          <a:solidFill>
            <a:srgbClr val="132050"/>
          </a:solidFill>
          <a:ln w="19050">
            <a:solidFill>
              <a:srgbClr val="1565C0"/>
            </a:solidFill>
            <a:prstDash val="solid"/>
          </a:ln>
          <a:effectLst>
            <a:outerShdw sx="100000" sy="100000" kx="0" ky="0" algn="bl" rotWithShape="0" blurRad="76200" dist="25400" dir="8100000">
              <a:srgbClr val="000000">
                <a:alpha val="12000"/>
              </a:srgbClr>
            </a:outerShdw>
          </a:effectLst>
        </p:spPr>
      </p:sp>
      <p:sp>
        <p:nvSpPr>
          <p:cNvPr id="6" name="Shape 4"/>
          <p:cNvSpPr/>
          <p:nvPr/>
        </p:nvSpPr>
        <p:spPr>
          <a:xfrm>
            <a:off x="164592" y="960120"/>
            <a:ext cx="2084832" cy="54864"/>
          </a:xfrm>
          <a:prstGeom prst="rect">
            <a:avLst/>
          </a:prstGeom>
          <a:solidFill>
            <a:srgbClr val="1565C0"/>
          </a:solidFill>
          <a:ln w="12700">
            <a:solidFill>
              <a:srgbClr val="1565C0"/>
            </a:solidFill>
            <a:prstDash val="solid"/>
          </a:ln>
        </p:spPr>
      </p:sp>
      <p:sp>
        <p:nvSpPr>
          <p:cNvPr id="7" name="Text 5"/>
          <p:cNvSpPr/>
          <p:nvPr/>
        </p:nvSpPr>
        <p:spPr>
          <a:xfrm>
            <a:off x="256032" y="1033272"/>
            <a:ext cx="1947672" cy="329184"/>
          </a:xfrm>
          <a:prstGeom prst="rect">
            <a:avLst/>
          </a:prstGeom>
          <a:noFill/>
          <a:ln/>
        </p:spPr>
        <p:txBody>
          <a:bodyPr wrap="square" rtlCol="0" anchor="ctr"/>
          <a:lstStyle/>
          <a:p>
            <a:pPr indent="0" marL="0">
              <a:buNone/>
            </a:pPr>
            <a:r>
              <a:rPr lang="en-US" sz="850" b="1" spc="100" kern="0" dirty="0">
                <a:solidFill>
                  <a:srgbClr val="1565C0"/>
                </a:solidFill>
                <a:latin typeface="Calibri" pitchFamily="34" charset="0"/>
                <a:ea typeface="Calibri" pitchFamily="34" charset="-122"/>
                <a:cs typeface="Calibri" pitchFamily="34" charset="-120"/>
              </a:rPr>
              <a:t>🔐  CYBERSECURITY</a:t>
            </a:r>
            <a:endParaRPr lang="en-US" sz="850" dirty="0"/>
          </a:p>
        </p:txBody>
      </p:sp>
      <p:sp>
        <p:nvSpPr>
          <p:cNvPr id="8" name="Text 6"/>
          <p:cNvSpPr/>
          <p:nvPr/>
        </p:nvSpPr>
        <p:spPr>
          <a:xfrm>
            <a:off x="256032" y="1335024"/>
            <a:ext cx="1947672" cy="54864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Human Error &amp; Data Breaches</a:t>
            </a:r>
            <a:endParaRPr lang="en-US" sz="1100" dirty="0"/>
          </a:p>
        </p:txBody>
      </p:sp>
      <p:sp>
        <p:nvSpPr>
          <p:cNvPr id="9" name="Shape 7"/>
          <p:cNvSpPr/>
          <p:nvPr/>
        </p:nvSpPr>
        <p:spPr>
          <a:xfrm>
            <a:off x="256032" y="1920240"/>
            <a:ext cx="1810512" cy="27432"/>
          </a:xfrm>
          <a:prstGeom prst="rect">
            <a:avLst/>
          </a:prstGeom>
          <a:solidFill>
            <a:srgbClr val="2A3A6A"/>
          </a:solidFill>
          <a:ln w="12700">
            <a:solidFill>
              <a:srgbClr val="2A3A6A"/>
            </a:solidFill>
            <a:prstDash val="solid"/>
          </a:ln>
        </p:spPr>
      </p:sp>
      <p:sp>
        <p:nvSpPr>
          <p:cNvPr id="10" name="Text 8"/>
          <p:cNvSpPr/>
          <p:nvPr/>
        </p:nvSpPr>
        <p:spPr>
          <a:xfrm>
            <a:off x="256032" y="1975104"/>
            <a:ext cx="1947672" cy="219456"/>
          </a:xfrm>
          <a:prstGeom prst="rect">
            <a:avLst/>
          </a:prstGeom>
          <a:noFill/>
          <a:ln/>
        </p:spPr>
        <p:txBody>
          <a:bodyPr wrap="square" rtlCol="0" anchor="ctr"/>
          <a:lstStyle/>
          <a:p>
            <a:pPr indent="0" marL="0">
              <a:buNone/>
            </a:pPr>
            <a:r>
              <a:rPr lang="en-US" sz="800" b="1" dirty="0">
                <a:solidFill>
                  <a:srgbClr val="E8A020"/>
                </a:solidFill>
                <a:latin typeface="Calibri" pitchFamily="34" charset="0"/>
                <a:ea typeface="Calibri" pitchFamily="34" charset="-122"/>
                <a:cs typeface="Calibri" pitchFamily="34" charset="-120"/>
              </a:rPr>
              <a:t>🇿🇦 SA Context</a:t>
            </a:r>
            <a:endParaRPr lang="en-US" sz="800" dirty="0"/>
          </a:p>
        </p:txBody>
      </p:sp>
      <p:sp>
        <p:nvSpPr>
          <p:cNvPr id="11" name="Text 9"/>
          <p:cNvSpPr/>
          <p:nvPr/>
        </p:nvSpPr>
        <p:spPr>
          <a:xfrm>
            <a:off x="256032" y="2176272"/>
            <a:ext cx="1947672" cy="594360"/>
          </a:xfrm>
          <a:prstGeom prst="rect">
            <a:avLst/>
          </a:prstGeom>
          <a:noFill/>
          <a:ln/>
        </p:spPr>
        <p:txBody>
          <a:bodyPr wrap="square" rtlCol="0" anchor="ctr"/>
          <a:lstStyle/>
          <a:p>
            <a:pPr indent="0" marL="0">
              <a:buNone/>
            </a:pPr>
            <a:r>
              <a:rPr lang="en-US" sz="850" dirty="0">
                <a:solidFill>
                  <a:srgbClr val="AABBD4"/>
                </a:solidFill>
                <a:latin typeface="Calibri" pitchFamily="34" charset="0"/>
                <a:ea typeface="Calibri" pitchFamily="34" charset="-122"/>
                <a:cs typeface="Calibri" pitchFamily="34" charset="-120"/>
              </a:rPr>
              <a:t>Experian breach, POPIA, banking &amp; gov incidents</a:t>
            </a:r>
            <a:endParaRPr lang="en-US" sz="850" dirty="0"/>
          </a:p>
        </p:txBody>
      </p:sp>
      <p:sp>
        <p:nvSpPr>
          <p:cNvPr id="12" name="Text 10"/>
          <p:cNvSpPr/>
          <p:nvPr/>
        </p:nvSpPr>
        <p:spPr>
          <a:xfrm>
            <a:off x="256032" y="2798064"/>
            <a:ext cx="1947672" cy="219456"/>
          </a:xfrm>
          <a:prstGeom prst="rect">
            <a:avLst/>
          </a:prstGeom>
          <a:noFill/>
          <a:ln/>
        </p:spPr>
        <p:txBody>
          <a:bodyPr wrap="square" rtlCol="0" anchor="ctr"/>
          <a:lstStyle/>
          <a:p>
            <a:pPr indent="0" marL="0">
              <a:buNone/>
            </a:pPr>
            <a:r>
              <a:rPr lang="en-US" sz="800" b="1" dirty="0">
                <a:solidFill>
                  <a:srgbClr val="E8A020"/>
                </a:solidFill>
                <a:latin typeface="Calibri" pitchFamily="34" charset="0"/>
                <a:ea typeface="Calibri" pitchFamily="34" charset="-122"/>
                <a:cs typeface="Calibri" pitchFamily="34" charset="-120"/>
              </a:rPr>
              <a:t>🌍 Global Sources</a:t>
            </a:r>
            <a:endParaRPr lang="en-US" sz="800" dirty="0"/>
          </a:p>
        </p:txBody>
      </p:sp>
      <p:sp>
        <p:nvSpPr>
          <p:cNvPr id="13" name="Text 11"/>
          <p:cNvSpPr/>
          <p:nvPr/>
        </p:nvSpPr>
        <p:spPr>
          <a:xfrm>
            <a:off x="256032" y="2999232"/>
            <a:ext cx="1947672" cy="502920"/>
          </a:xfrm>
          <a:prstGeom prst="rect">
            <a:avLst/>
          </a:prstGeom>
          <a:noFill/>
          <a:ln/>
        </p:spPr>
        <p:txBody>
          <a:bodyPr wrap="square" rtlCol="0" anchor="ctr"/>
          <a:lstStyle/>
          <a:p>
            <a:pPr indent="0" marL="0">
              <a:buNone/>
            </a:pPr>
            <a:r>
              <a:rPr lang="en-US" sz="850" dirty="0">
                <a:solidFill>
                  <a:srgbClr val="AABBD4"/>
                </a:solidFill>
                <a:latin typeface="Calibri" pitchFamily="34" charset="0"/>
                <a:ea typeface="Calibri" pitchFamily="34" charset="-122"/>
                <a:cs typeface="Calibri" pitchFamily="34" charset="-120"/>
              </a:rPr>
              <a:t>IBM, Verizon, SANS, IEEE Access</a:t>
            </a:r>
            <a:endParaRPr lang="en-US" sz="850" dirty="0"/>
          </a:p>
        </p:txBody>
      </p:sp>
      <p:sp>
        <p:nvSpPr>
          <p:cNvPr id="14" name="Shape 12"/>
          <p:cNvSpPr/>
          <p:nvPr/>
        </p:nvSpPr>
        <p:spPr>
          <a:xfrm>
            <a:off x="256032" y="3547872"/>
            <a:ext cx="1901952" cy="1005840"/>
          </a:xfrm>
          <a:prstGeom prst="rect">
            <a:avLst/>
          </a:prstGeom>
          <a:solidFill>
            <a:srgbClr val="1565C0">
              <a:alpha val="15000"/>
            </a:srgbClr>
          </a:solidFill>
          <a:ln w="12700">
            <a:solidFill>
              <a:srgbClr val="1565C0">
                <a:alpha val="30000"/>
              </a:srgbClr>
            </a:solidFill>
            <a:prstDash val="solid"/>
          </a:ln>
        </p:spPr>
      </p:sp>
      <p:sp>
        <p:nvSpPr>
          <p:cNvPr id="15" name="Text 13"/>
          <p:cNvSpPr/>
          <p:nvPr/>
        </p:nvSpPr>
        <p:spPr>
          <a:xfrm>
            <a:off x="274320" y="3566160"/>
            <a:ext cx="1865376" cy="969264"/>
          </a:xfrm>
          <a:prstGeom prst="rect">
            <a:avLst/>
          </a:prstGeom>
          <a:noFill/>
          <a:ln/>
        </p:spPr>
        <p:txBody>
          <a:bodyPr wrap="square" rtlCol="0" anchor="ctr"/>
          <a:lstStyle/>
          <a:p>
            <a:pPr algn="ctr" indent="0" marL="0">
              <a:buNone/>
            </a:pPr>
            <a:r>
              <a:rPr lang="en-US" sz="900" i="1" dirty="0">
                <a:solidFill>
                  <a:srgbClr val="FFFFFF"/>
                </a:solidFill>
                <a:latin typeface="Calibri" pitchFamily="34" charset="0"/>
                <a:ea typeface="Calibri" pitchFamily="34" charset="-122"/>
                <a:cs typeface="Calibri" pitchFamily="34" charset="-120"/>
              </a:rPr>
              <a:t>Behavioural &amp; organisational analysis</a:t>
            </a:r>
            <a:endParaRPr lang="en-US" sz="900" dirty="0"/>
          </a:p>
        </p:txBody>
      </p:sp>
      <p:sp>
        <p:nvSpPr>
          <p:cNvPr id="16" name="Shape 14"/>
          <p:cNvSpPr/>
          <p:nvPr/>
        </p:nvSpPr>
        <p:spPr>
          <a:xfrm>
            <a:off x="2377440" y="960120"/>
            <a:ext cx="2084832" cy="3858768"/>
          </a:xfrm>
          <a:prstGeom prst="rect">
            <a:avLst/>
          </a:prstGeom>
          <a:solidFill>
            <a:srgbClr val="132050"/>
          </a:solidFill>
          <a:ln w="19050">
            <a:solidFill>
              <a:srgbClr val="00695C"/>
            </a:solidFill>
            <a:prstDash val="solid"/>
          </a:ln>
          <a:effectLst>
            <a:outerShdw sx="100000" sy="100000" kx="0" ky="0" algn="bl" rotWithShape="0" blurRad="76200" dist="25400" dir="8100000">
              <a:srgbClr val="000000">
                <a:alpha val="12000"/>
              </a:srgbClr>
            </a:outerShdw>
          </a:effectLst>
        </p:spPr>
      </p:sp>
      <p:sp>
        <p:nvSpPr>
          <p:cNvPr id="17" name="Shape 15"/>
          <p:cNvSpPr/>
          <p:nvPr/>
        </p:nvSpPr>
        <p:spPr>
          <a:xfrm>
            <a:off x="2377440" y="960120"/>
            <a:ext cx="2084832" cy="54864"/>
          </a:xfrm>
          <a:prstGeom prst="rect">
            <a:avLst/>
          </a:prstGeom>
          <a:solidFill>
            <a:srgbClr val="00695C"/>
          </a:solidFill>
          <a:ln w="12700">
            <a:solidFill>
              <a:srgbClr val="00695C"/>
            </a:solidFill>
            <a:prstDash val="solid"/>
          </a:ln>
        </p:spPr>
      </p:sp>
      <p:sp>
        <p:nvSpPr>
          <p:cNvPr id="18" name="Text 16"/>
          <p:cNvSpPr/>
          <p:nvPr/>
        </p:nvSpPr>
        <p:spPr>
          <a:xfrm>
            <a:off x="2468880" y="1033272"/>
            <a:ext cx="1947672" cy="329184"/>
          </a:xfrm>
          <a:prstGeom prst="rect">
            <a:avLst/>
          </a:prstGeom>
          <a:noFill/>
          <a:ln/>
        </p:spPr>
        <p:txBody>
          <a:bodyPr wrap="square" rtlCol="0" anchor="ctr"/>
          <a:lstStyle/>
          <a:p>
            <a:pPr indent="0" marL="0">
              <a:buNone/>
            </a:pPr>
            <a:r>
              <a:rPr lang="en-US" sz="850" b="1" spc="100" kern="0" dirty="0">
                <a:solidFill>
                  <a:srgbClr val="00695C"/>
                </a:solidFill>
                <a:latin typeface="Calibri" pitchFamily="34" charset="0"/>
                <a:ea typeface="Calibri" pitchFamily="34" charset="-122"/>
                <a:cs typeface="Calibri" pitchFamily="34" charset="-120"/>
              </a:rPr>
              <a:t>💳  FINTECH</a:t>
            </a:r>
            <a:endParaRPr lang="en-US" sz="850" dirty="0"/>
          </a:p>
        </p:txBody>
      </p:sp>
      <p:sp>
        <p:nvSpPr>
          <p:cNvPr id="19" name="Text 17"/>
          <p:cNvSpPr/>
          <p:nvPr/>
        </p:nvSpPr>
        <p:spPr>
          <a:xfrm>
            <a:off x="2468880" y="1335024"/>
            <a:ext cx="1947672" cy="54864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Financial Inclusion via Mobile Banking</a:t>
            </a:r>
            <a:endParaRPr lang="en-US" sz="1100" dirty="0"/>
          </a:p>
        </p:txBody>
      </p:sp>
      <p:sp>
        <p:nvSpPr>
          <p:cNvPr id="20" name="Shape 18"/>
          <p:cNvSpPr/>
          <p:nvPr/>
        </p:nvSpPr>
        <p:spPr>
          <a:xfrm>
            <a:off x="2468880" y="1920240"/>
            <a:ext cx="1810512" cy="27432"/>
          </a:xfrm>
          <a:prstGeom prst="rect">
            <a:avLst/>
          </a:prstGeom>
          <a:solidFill>
            <a:srgbClr val="2A3A6A"/>
          </a:solidFill>
          <a:ln w="12700">
            <a:solidFill>
              <a:srgbClr val="2A3A6A"/>
            </a:solidFill>
            <a:prstDash val="solid"/>
          </a:ln>
        </p:spPr>
      </p:sp>
      <p:sp>
        <p:nvSpPr>
          <p:cNvPr id="21" name="Text 19"/>
          <p:cNvSpPr/>
          <p:nvPr/>
        </p:nvSpPr>
        <p:spPr>
          <a:xfrm>
            <a:off x="2468880" y="1975104"/>
            <a:ext cx="1947672" cy="219456"/>
          </a:xfrm>
          <a:prstGeom prst="rect">
            <a:avLst/>
          </a:prstGeom>
          <a:noFill/>
          <a:ln/>
        </p:spPr>
        <p:txBody>
          <a:bodyPr wrap="square" rtlCol="0" anchor="ctr"/>
          <a:lstStyle/>
          <a:p>
            <a:pPr indent="0" marL="0">
              <a:buNone/>
            </a:pPr>
            <a:r>
              <a:rPr lang="en-US" sz="800" b="1" dirty="0">
                <a:solidFill>
                  <a:srgbClr val="E8A020"/>
                </a:solidFill>
                <a:latin typeface="Calibri" pitchFamily="34" charset="0"/>
                <a:ea typeface="Calibri" pitchFamily="34" charset="-122"/>
                <a:cs typeface="Calibri" pitchFamily="34" charset="-120"/>
              </a:rPr>
              <a:t>🇿🇦 SA Context</a:t>
            </a:r>
            <a:endParaRPr lang="en-US" sz="800" dirty="0"/>
          </a:p>
        </p:txBody>
      </p:sp>
      <p:sp>
        <p:nvSpPr>
          <p:cNvPr id="22" name="Text 20"/>
          <p:cNvSpPr/>
          <p:nvPr/>
        </p:nvSpPr>
        <p:spPr>
          <a:xfrm>
            <a:off x="2468880" y="2176272"/>
            <a:ext cx="1947672" cy="594360"/>
          </a:xfrm>
          <a:prstGeom prst="rect">
            <a:avLst/>
          </a:prstGeom>
          <a:noFill/>
          <a:ln/>
        </p:spPr>
        <p:txBody>
          <a:bodyPr wrap="square" rtlCol="0" anchor="ctr"/>
          <a:lstStyle/>
          <a:p>
            <a:pPr indent="0" marL="0">
              <a:buNone/>
            </a:pPr>
            <a:r>
              <a:rPr lang="en-US" sz="850" dirty="0">
                <a:solidFill>
                  <a:srgbClr val="AABBD4"/>
                </a:solidFill>
                <a:latin typeface="Calibri" pitchFamily="34" charset="0"/>
                <a:ea typeface="Calibri" pitchFamily="34" charset="-122"/>
                <a:cs typeface="Calibri" pitchFamily="34" charset="-120"/>
              </a:rPr>
              <a:t>TymeBank, Capitec, FinMark Trust, FSCA</a:t>
            </a:r>
            <a:endParaRPr lang="en-US" sz="850" dirty="0"/>
          </a:p>
        </p:txBody>
      </p:sp>
      <p:sp>
        <p:nvSpPr>
          <p:cNvPr id="23" name="Text 21"/>
          <p:cNvSpPr/>
          <p:nvPr/>
        </p:nvSpPr>
        <p:spPr>
          <a:xfrm>
            <a:off x="2468880" y="2798064"/>
            <a:ext cx="1947672" cy="219456"/>
          </a:xfrm>
          <a:prstGeom prst="rect">
            <a:avLst/>
          </a:prstGeom>
          <a:noFill/>
          <a:ln/>
        </p:spPr>
        <p:txBody>
          <a:bodyPr wrap="square" rtlCol="0" anchor="ctr"/>
          <a:lstStyle/>
          <a:p>
            <a:pPr indent="0" marL="0">
              <a:buNone/>
            </a:pPr>
            <a:r>
              <a:rPr lang="en-US" sz="800" b="1" dirty="0">
                <a:solidFill>
                  <a:srgbClr val="E8A020"/>
                </a:solidFill>
                <a:latin typeface="Calibri" pitchFamily="34" charset="0"/>
                <a:ea typeface="Calibri" pitchFamily="34" charset="-122"/>
                <a:cs typeface="Calibri" pitchFamily="34" charset="-120"/>
              </a:rPr>
              <a:t>🌍 Global Sources</a:t>
            </a:r>
            <a:endParaRPr lang="en-US" sz="800" dirty="0"/>
          </a:p>
        </p:txBody>
      </p:sp>
      <p:sp>
        <p:nvSpPr>
          <p:cNvPr id="24" name="Text 22"/>
          <p:cNvSpPr/>
          <p:nvPr/>
        </p:nvSpPr>
        <p:spPr>
          <a:xfrm>
            <a:off x="2468880" y="2999232"/>
            <a:ext cx="1947672" cy="502920"/>
          </a:xfrm>
          <a:prstGeom prst="rect">
            <a:avLst/>
          </a:prstGeom>
          <a:noFill/>
          <a:ln/>
        </p:spPr>
        <p:txBody>
          <a:bodyPr wrap="square" rtlCol="0" anchor="ctr"/>
          <a:lstStyle/>
          <a:p>
            <a:pPr indent="0" marL="0">
              <a:buNone/>
            </a:pPr>
            <a:r>
              <a:rPr lang="en-US" sz="850" dirty="0">
                <a:solidFill>
                  <a:srgbClr val="AABBD4"/>
                </a:solidFill>
                <a:latin typeface="Calibri" pitchFamily="34" charset="0"/>
                <a:ea typeface="Calibri" pitchFamily="34" charset="-122"/>
                <a:cs typeface="Calibri" pitchFamily="34" charset="-120"/>
              </a:rPr>
              <a:t>M-Pesa, UPI, Pix, World Bank</a:t>
            </a:r>
            <a:endParaRPr lang="en-US" sz="850" dirty="0"/>
          </a:p>
        </p:txBody>
      </p:sp>
      <p:sp>
        <p:nvSpPr>
          <p:cNvPr id="25" name="Shape 23"/>
          <p:cNvSpPr/>
          <p:nvPr/>
        </p:nvSpPr>
        <p:spPr>
          <a:xfrm>
            <a:off x="2468880" y="3547872"/>
            <a:ext cx="1901952" cy="1005840"/>
          </a:xfrm>
          <a:prstGeom prst="rect">
            <a:avLst/>
          </a:prstGeom>
          <a:solidFill>
            <a:srgbClr val="00695C">
              <a:alpha val="15000"/>
            </a:srgbClr>
          </a:solidFill>
          <a:ln w="12700">
            <a:solidFill>
              <a:srgbClr val="00695C">
                <a:alpha val="30000"/>
              </a:srgbClr>
            </a:solidFill>
            <a:prstDash val="solid"/>
          </a:ln>
        </p:spPr>
      </p:sp>
      <p:sp>
        <p:nvSpPr>
          <p:cNvPr id="26" name="Text 24"/>
          <p:cNvSpPr/>
          <p:nvPr/>
        </p:nvSpPr>
        <p:spPr>
          <a:xfrm>
            <a:off x="2487168" y="3566160"/>
            <a:ext cx="1865376" cy="969264"/>
          </a:xfrm>
          <a:prstGeom prst="rect">
            <a:avLst/>
          </a:prstGeom>
          <a:noFill/>
          <a:ln/>
        </p:spPr>
        <p:txBody>
          <a:bodyPr wrap="square" rtlCol="0" anchor="ctr"/>
          <a:lstStyle/>
          <a:p>
            <a:pPr algn="ctr" indent="0" marL="0">
              <a:buNone/>
            </a:pPr>
            <a:r>
              <a:rPr lang="en-US" sz="900" i="1" dirty="0">
                <a:solidFill>
                  <a:srgbClr val="FFFFFF"/>
                </a:solidFill>
                <a:latin typeface="Calibri" pitchFamily="34" charset="0"/>
                <a:ea typeface="Calibri" pitchFamily="34" charset="-122"/>
                <a:cs typeface="Calibri" pitchFamily="34" charset="-120"/>
              </a:rPr>
              <a:t>Comparative developmental analysis</a:t>
            </a:r>
            <a:endParaRPr lang="en-US" sz="900" dirty="0"/>
          </a:p>
        </p:txBody>
      </p:sp>
      <p:sp>
        <p:nvSpPr>
          <p:cNvPr id="27" name="Shape 25"/>
          <p:cNvSpPr/>
          <p:nvPr/>
        </p:nvSpPr>
        <p:spPr>
          <a:xfrm>
            <a:off x="4590288" y="960120"/>
            <a:ext cx="2084832" cy="3858768"/>
          </a:xfrm>
          <a:prstGeom prst="rect">
            <a:avLst/>
          </a:prstGeom>
          <a:solidFill>
            <a:srgbClr val="132050"/>
          </a:solidFill>
          <a:ln w="19050">
            <a:solidFill>
              <a:srgbClr val="6A1B9A"/>
            </a:solidFill>
            <a:prstDash val="solid"/>
          </a:ln>
          <a:effectLst>
            <a:outerShdw sx="100000" sy="100000" kx="0" ky="0" algn="bl" rotWithShape="0" blurRad="76200" dist="25400" dir="8100000">
              <a:srgbClr val="000000">
                <a:alpha val="12000"/>
              </a:srgbClr>
            </a:outerShdw>
          </a:effectLst>
        </p:spPr>
      </p:sp>
      <p:sp>
        <p:nvSpPr>
          <p:cNvPr id="28" name="Shape 26"/>
          <p:cNvSpPr/>
          <p:nvPr/>
        </p:nvSpPr>
        <p:spPr>
          <a:xfrm>
            <a:off x="4590288" y="960120"/>
            <a:ext cx="2084832" cy="54864"/>
          </a:xfrm>
          <a:prstGeom prst="rect">
            <a:avLst/>
          </a:prstGeom>
          <a:solidFill>
            <a:srgbClr val="6A1B9A"/>
          </a:solidFill>
          <a:ln w="12700">
            <a:solidFill>
              <a:srgbClr val="6A1B9A"/>
            </a:solidFill>
            <a:prstDash val="solid"/>
          </a:ln>
        </p:spPr>
      </p:sp>
      <p:sp>
        <p:nvSpPr>
          <p:cNvPr id="29" name="Text 27"/>
          <p:cNvSpPr/>
          <p:nvPr/>
        </p:nvSpPr>
        <p:spPr>
          <a:xfrm>
            <a:off x="4681728" y="1033272"/>
            <a:ext cx="1947672" cy="329184"/>
          </a:xfrm>
          <a:prstGeom prst="rect">
            <a:avLst/>
          </a:prstGeom>
          <a:noFill/>
          <a:ln/>
        </p:spPr>
        <p:txBody>
          <a:bodyPr wrap="square" rtlCol="0" anchor="ctr"/>
          <a:lstStyle/>
          <a:p>
            <a:pPr indent="0" marL="0">
              <a:buNone/>
            </a:pPr>
            <a:r>
              <a:rPr lang="en-US" sz="850" b="1" spc="100" kern="0" dirty="0">
                <a:solidFill>
                  <a:srgbClr val="6A1B9A"/>
                </a:solidFill>
                <a:latin typeface="Calibri" pitchFamily="34" charset="0"/>
                <a:ea typeface="Calibri" pitchFamily="34" charset="-122"/>
                <a:cs typeface="Calibri" pitchFamily="34" charset="-120"/>
              </a:rPr>
              <a:t>☁️  CLOUD COMPUTING</a:t>
            </a:r>
            <a:endParaRPr lang="en-US" sz="850" dirty="0"/>
          </a:p>
        </p:txBody>
      </p:sp>
      <p:sp>
        <p:nvSpPr>
          <p:cNvPr id="30" name="Text 28"/>
          <p:cNvSpPr/>
          <p:nvPr/>
        </p:nvSpPr>
        <p:spPr>
          <a:xfrm>
            <a:off x="4681728" y="1335024"/>
            <a:ext cx="1947672" cy="54864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SME Adoption Barriers</a:t>
            </a:r>
            <a:endParaRPr lang="en-US" sz="1100" dirty="0"/>
          </a:p>
        </p:txBody>
      </p:sp>
      <p:sp>
        <p:nvSpPr>
          <p:cNvPr id="31" name="Shape 29"/>
          <p:cNvSpPr/>
          <p:nvPr/>
        </p:nvSpPr>
        <p:spPr>
          <a:xfrm>
            <a:off x="4681728" y="1920240"/>
            <a:ext cx="1810512" cy="27432"/>
          </a:xfrm>
          <a:prstGeom prst="rect">
            <a:avLst/>
          </a:prstGeom>
          <a:solidFill>
            <a:srgbClr val="2A3A6A"/>
          </a:solidFill>
          <a:ln w="12700">
            <a:solidFill>
              <a:srgbClr val="2A3A6A"/>
            </a:solidFill>
            <a:prstDash val="solid"/>
          </a:ln>
        </p:spPr>
      </p:sp>
      <p:sp>
        <p:nvSpPr>
          <p:cNvPr id="32" name="Text 30"/>
          <p:cNvSpPr/>
          <p:nvPr/>
        </p:nvSpPr>
        <p:spPr>
          <a:xfrm>
            <a:off x="4681728" y="1975104"/>
            <a:ext cx="1947672" cy="219456"/>
          </a:xfrm>
          <a:prstGeom prst="rect">
            <a:avLst/>
          </a:prstGeom>
          <a:noFill/>
          <a:ln/>
        </p:spPr>
        <p:txBody>
          <a:bodyPr wrap="square" rtlCol="0" anchor="ctr"/>
          <a:lstStyle/>
          <a:p>
            <a:pPr indent="0" marL="0">
              <a:buNone/>
            </a:pPr>
            <a:r>
              <a:rPr lang="en-US" sz="800" b="1" dirty="0">
                <a:solidFill>
                  <a:srgbClr val="E8A020"/>
                </a:solidFill>
                <a:latin typeface="Calibri" pitchFamily="34" charset="0"/>
                <a:ea typeface="Calibri" pitchFamily="34" charset="-122"/>
                <a:cs typeface="Calibri" pitchFamily="34" charset="-120"/>
              </a:rPr>
              <a:t>🇿🇦 SA Context</a:t>
            </a:r>
            <a:endParaRPr lang="en-US" sz="800" dirty="0"/>
          </a:p>
        </p:txBody>
      </p:sp>
      <p:sp>
        <p:nvSpPr>
          <p:cNvPr id="33" name="Text 31"/>
          <p:cNvSpPr/>
          <p:nvPr/>
        </p:nvSpPr>
        <p:spPr>
          <a:xfrm>
            <a:off x="4681728" y="2176272"/>
            <a:ext cx="1947672" cy="594360"/>
          </a:xfrm>
          <a:prstGeom prst="rect">
            <a:avLst/>
          </a:prstGeom>
          <a:noFill/>
          <a:ln/>
        </p:spPr>
        <p:txBody>
          <a:bodyPr wrap="square" rtlCol="0" anchor="ctr"/>
          <a:lstStyle/>
          <a:p>
            <a:pPr indent="0" marL="0">
              <a:buNone/>
            </a:pPr>
            <a:r>
              <a:rPr lang="en-US" sz="850" dirty="0">
                <a:solidFill>
                  <a:srgbClr val="AABBD4"/>
                </a:solidFill>
                <a:latin typeface="Calibri" pitchFamily="34" charset="0"/>
                <a:ea typeface="Calibri" pitchFamily="34" charset="-122"/>
                <a:cs typeface="Calibri" pitchFamily="34" charset="-120"/>
              </a:rPr>
              <a:t>Load shedding, POPIA, SITA, ISPA, CSIR</a:t>
            </a:r>
            <a:endParaRPr lang="en-US" sz="850" dirty="0"/>
          </a:p>
        </p:txBody>
      </p:sp>
      <p:sp>
        <p:nvSpPr>
          <p:cNvPr id="34" name="Text 32"/>
          <p:cNvSpPr/>
          <p:nvPr/>
        </p:nvSpPr>
        <p:spPr>
          <a:xfrm>
            <a:off x="4681728" y="2798064"/>
            <a:ext cx="1947672" cy="219456"/>
          </a:xfrm>
          <a:prstGeom prst="rect">
            <a:avLst/>
          </a:prstGeom>
          <a:noFill/>
          <a:ln/>
        </p:spPr>
        <p:txBody>
          <a:bodyPr wrap="square" rtlCol="0" anchor="ctr"/>
          <a:lstStyle/>
          <a:p>
            <a:pPr indent="0" marL="0">
              <a:buNone/>
            </a:pPr>
            <a:r>
              <a:rPr lang="en-US" sz="800" b="1" dirty="0">
                <a:solidFill>
                  <a:srgbClr val="E8A020"/>
                </a:solidFill>
                <a:latin typeface="Calibri" pitchFamily="34" charset="0"/>
                <a:ea typeface="Calibri" pitchFamily="34" charset="-122"/>
                <a:cs typeface="Calibri" pitchFamily="34" charset="-120"/>
              </a:rPr>
              <a:t>🌍 Global Sources</a:t>
            </a:r>
            <a:endParaRPr lang="en-US" sz="800" dirty="0"/>
          </a:p>
        </p:txBody>
      </p:sp>
      <p:sp>
        <p:nvSpPr>
          <p:cNvPr id="35" name="Text 33"/>
          <p:cNvSpPr/>
          <p:nvPr/>
        </p:nvSpPr>
        <p:spPr>
          <a:xfrm>
            <a:off x="4681728" y="2999232"/>
            <a:ext cx="1947672" cy="502920"/>
          </a:xfrm>
          <a:prstGeom prst="rect">
            <a:avLst/>
          </a:prstGeom>
          <a:noFill/>
          <a:ln/>
        </p:spPr>
        <p:txBody>
          <a:bodyPr wrap="square" rtlCol="0" anchor="ctr"/>
          <a:lstStyle/>
          <a:p>
            <a:pPr indent="0" marL="0">
              <a:buNone/>
            </a:pPr>
            <a:r>
              <a:rPr lang="en-US" sz="850" dirty="0">
                <a:solidFill>
                  <a:srgbClr val="AABBD4"/>
                </a:solidFill>
                <a:latin typeface="Calibri" pitchFamily="34" charset="0"/>
                <a:ea typeface="Calibri" pitchFamily="34" charset="-122"/>
                <a:cs typeface="Calibri" pitchFamily="34" charset="-120"/>
              </a:rPr>
              <a:t>Gartner, IDC, Nigeria/India/Brazil studies</a:t>
            </a:r>
            <a:endParaRPr lang="en-US" sz="850" dirty="0"/>
          </a:p>
        </p:txBody>
      </p:sp>
      <p:sp>
        <p:nvSpPr>
          <p:cNvPr id="36" name="Shape 34"/>
          <p:cNvSpPr/>
          <p:nvPr/>
        </p:nvSpPr>
        <p:spPr>
          <a:xfrm>
            <a:off x="4681728" y="3547872"/>
            <a:ext cx="1901952" cy="1005840"/>
          </a:xfrm>
          <a:prstGeom prst="rect">
            <a:avLst/>
          </a:prstGeom>
          <a:solidFill>
            <a:srgbClr val="6A1B9A">
              <a:alpha val="15000"/>
            </a:srgbClr>
          </a:solidFill>
          <a:ln w="12700">
            <a:solidFill>
              <a:srgbClr val="6A1B9A">
                <a:alpha val="30000"/>
              </a:srgbClr>
            </a:solidFill>
            <a:prstDash val="solid"/>
          </a:ln>
        </p:spPr>
      </p:sp>
      <p:sp>
        <p:nvSpPr>
          <p:cNvPr id="37" name="Text 35"/>
          <p:cNvSpPr/>
          <p:nvPr/>
        </p:nvSpPr>
        <p:spPr>
          <a:xfrm>
            <a:off x="4700016" y="3566160"/>
            <a:ext cx="1865376" cy="969264"/>
          </a:xfrm>
          <a:prstGeom prst="rect">
            <a:avLst/>
          </a:prstGeom>
          <a:noFill/>
          <a:ln/>
        </p:spPr>
        <p:txBody>
          <a:bodyPr wrap="square" rtlCol="0" anchor="ctr"/>
          <a:lstStyle/>
          <a:p>
            <a:pPr algn="ctr" indent="0" marL="0">
              <a:buNone/>
            </a:pPr>
            <a:r>
              <a:rPr lang="en-US" sz="900" i="1" dirty="0">
                <a:solidFill>
                  <a:srgbClr val="FFFFFF"/>
                </a:solidFill>
                <a:latin typeface="Calibri" pitchFamily="34" charset="0"/>
                <a:ea typeface="Calibri" pitchFamily="34" charset="-122"/>
                <a:cs typeface="Calibri" pitchFamily="34" charset="-120"/>
              </a:rPr>
              <a:t>Barrier analysis &amp; comparative review</a:t>
            </a:r>
            <a:endParaRPr lang="en-US" sz="900" dirty="0"/>
          </a:p>
        </p:txBody>
      </p:sp>
      <p:sp>
        <p:nvSpPr>
          <p:cNvPr id="38" name="Shape 36"/>
          <p:cNvSpPr/>
          <p:nvPr/>
        </p:nvSpPr>
        <p:spPr>
          <a:xfrm>
            <a:off x="6803136" y="960120"/>
            <a:ext cx="2084832" cy="3858768"/>
          </a:xfrm>
          <a:prstGeom prst="rect">
            <a:avLst/>
          </a:prstGeom>
          <a:solidFill>
            <a:srgbClr val="132050"/>
          </a:solidFill>
          <a:ln w="19050">
            <a:solidFill>
              <a:srgbClr val="B71C1C"/>
            </a:solidFill>
            <a:prstDash val="solid"/>
          </a:ln>
          <a:effectLst>
            <a:outerShdw sx="100000" sy="100000" kx="0" ky="0" algn="bl" rotWithShape="0" blurRad="76200" dist="25400" dir="8100000">
              <a:srgbClr val="000000">
                <a:alpha val="12000"/>
              </a:srgbClr>
            </a:outerShdw>
          </a:effectLst>
        </p:spPr>
      </p:sp>
      <p:sp>
        <p:nvSpPr>
          <p:cNvPr id="39" name="Shape 37"/>
          <p:cNvSpPr/>
          <p:nvPr/>
        </p:nvSpPr>
        <p:spPr>
          <a:xfrm>
            <a:off x="6803136" y="960120"/>
            <a:ext cx="2084832" cy="54864"/>
          </a:xfrm>
          <a:prstGeom prst="rect">
            <a:avLst/>
          </a:prstGeom>
          <a:solidFill>
            <a:srgbClr val="B71C1C"/>
          </a:solidFill>
          <a:ln w="12700">
            <a:solidFill>
              <a:srgbClr val="B71C1C"/>
            </a:solidFill>
            <a:prstDash val="solid"/>
          </a:ln>
        </p:spPr>
      </p:sp>
      <p:sp>
        <p:nvSpPr>
          <p:cNvPr id="40" name="Text 38"/>
          <p:cNvSpPr/>
          <p:nvPr/>
        </p:nvSpPr>
        <p:spPr>
          <a:xfrm>
            <a:off x="6894576" y="1033272"/>
            <a:ext cx="1947672" cy="329184"/>
          </a:xfrm>
          <a:prstGeom prst="rect">
            <a:avLst/>
          </a:prstGeom>
          <a:noFill/>
          <a:ln/>
        </p:spPr>
        <p:txBody>
          <a:bodyPr wrap="square" rtlCol="0" anchor="ctr"/>
          <a:lstStyle/>
          <a:p>
            <a:pPr indent="0" marL="0">
              <a:buNone/>
            </a:pPr>
            <a:r>
              <a:rPr lang="en-US" sz="850" b="1" spc="100" kern="0" dirty="0">
                <a:solidFill>
                  <a:srgbClr val="B71C1C"/>
                </a:solidFill>
                <a:latin typeface="Calibri" pitchFamily="34" charset="0"/>
                <a:ea typeface="Calibri" pitchFamily="34" charset="-122"/>
                <a:cs typeface="Calibri" pitchFamily="34" charset="-120"/>
              </a:rPr>
              <a:t>🏭  DATA CENTRES</a:t>
            </a:r>
            <a:endParaRPr lang="en-US" sz="850" dirty="0"/>
          </a:p>
        </p:txBody>
      </p:sp>
      <p:sp>
        <p:nvSpPr>
          <p:cNvPr id="41" name="Text 39"/>
          <p:cNvSpPr/>
          <p:nvPr/>
        </p:nvSpPr>
        <p:spPr>
          <a:xfrm>
            <a:off x="6894576" y="1335024"/>
            <a:ext cx="1947672" cy="54864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Environmental &amp; Resource Impact</a:t>
            </a:r>
            <a:endParaRPr lang="en-US" sz="1100" dirty="0"/>
          </a:p>
        </p:txBody>
      </p:sp>
      <p:sp>
        <p:nvSpPr>
          <p:cNvPr id="42" name="Shape 40"/>
          <p:cNvSpPr/>
          <p:nvPr/>
        </p:nvSpPr>
        <p:spPr>
          <a:xfrm>
            <a:off x="6894576" y="1920240"/>
            <a:ext cx="1810512" cy="27432"/>
          </a:xfrm>
          <a:prstGeom prst="rect">
            <a:avLst/>
          </a:prstGeom>
          <a:solidFill>
            <a:srgbClr val="2A3A6A"/>
          </a:solidFill>
          <a:ln w="12700">
            <a:solidFill>
              <a:srgbClr val="2A3A6A"/>
            </a:solidFill>
            <a:prstDash val="solid"/>
          </a:ln>
        </p:spPr>
      </p:sp>
      <p:sp>
        <p:nvSpPr>
          <p:cNvPr id="43" name="Text 41"/>
          <p:cNvSpPr/>
          <p:nvPr/>
        </p:nvSpPr>
        <p:spPr>
          <a:xfrm>
            <a:off x="6894576" y="1975104"/>
            <a:ext cx="1947672" cy="219456"/>
          </a:xfrm>
          <a:prstGeom prst="rect">
            <a:avLst/>
          </a:prstGeom>
          <a:noFill/>
          <a:ln/>
        </p:spPr>
        <p:txBody>
          <a:bodyPr wrap="square" rtlCol="0" anchor="ctr"/>
          <a:lstStyle/>
          <a:p>
            <a:pPr indent="0" marL="0">
              <a:buNone/>
            </a:pPr>
            <a:r>
              <a:rPr lang="en-US" sz="800" b="1" dirty="0">
                <a:solidFill>
                  <a:srgbClr val="E8A020"/>
                </a:solidFill>
                <a:latin typeface="Calibri" pitchFamily="34" charset="0"/>
                <a:ea typeface="Calibri" pitchFamily="34" charset="-122"/>
                <a:cs typeface="Calibri" pitchFamily="34" charset="-120"/>
              </a:rPr>
              <a:t>🇿🇦 SA Context</a:t>
            </a:r>
            <a:endParaRPr lang="en-US" sz="800" dirty="0"/>
          </a:p>
        </p:txBody>
      </p:sp>
      <p:sp>
        <p:nvSpPr>
          <p:cNvPr id="44" name="Text 42"/>
          <p:cNvSpPr/>
          <p:nvPr/>
        </p:nvSpPr>
        <p:spPr>
          <a:xfrm>
            <a:off x="6894576" y="2176272"/>
            <a:ext cx="1947672" cy="594360"/>
          </a:xfrm>
          <a:prstGeom prst="rect">
            <a:avLst/>
          </a:prstGeom>
          <a:noFill/>
          <a:ln/>
        </p:spPr>
        <p:txBody>
          <a:bodyPr wrap="square" rtlCol="0" anchor="ctr"/>
          <a:lstStyle/>
          <a:p>
            <a:pPr indent="0" marL="0">
              <a:buNone/>
            </a:pPr>
            <a:r>
              <a:rPr lang="en-US" sz="850" dirty="0">
                <a:solidFill>
                  <a:srgbClr val="AABBD4"/>
                </a:solidFill>
                <a:latin typeface="Calibri" pitchFamily="34" charset="0"/>
                <a:ea typeface="Calibri" pitchFamily="34" charset="-122"/>
                <a:cs typeface="Calibri" pitchFamily="34" charset="-120"/>
              </a:rPr>
              <a:t>Teraco expansion, 1,000+ MW demand, no reporting law</a:t>
            </a:r>
            <a:endParaRPr lang="en-US" sz="850" dirty="0"/>
          </a:p>
        </p:txBody>
      </p:sp>
      <p:sp>
        <p:nvSpPr>
          <p:cNvPr id="45" name="Text 43"/>
          <p:cNvSpPr/>
          <p:nvPr/>
        </p:nvSpPr>
        <p:spPr>
          <a:xfrm>
            <a:off x="6894576" y="2798064"/>
            <a:ext cx="1947672" cy="219456"/>
          </a:xfrm>
          <a:prstGeom prst="rect">
            <a:avLst/>
          </a:prstGeom>
          <a:noFill/>
          <a:ln/>
        </p:spPr>
        <p:txBody>
          <a:bodyPr wrap="square" rtlCol="0" anchor="ctr"/>
          <a:lstStyle/>
          <a:p>
            <a:pPr indent="0" marL="0">
              <a:buNone/>
            </a:pPr>
            <a:r>
              <a:rPr lang="en-US" sz="800" b="1" dirty="0">
                <a:solidFill>
                  <a:srgbClr val="E8A020"/>
                </a:solidFill>
                <a:latin typeface="Calibri" pitchFamily="34" charset="0"/>
                <a:ea typeface="Calibri" pitchFamily="34" charset="-122"/>
                <a:cs typeface="Calibri" pitchFamily="34" charset="-120"/>
              </a:rPr>
              <a:t>🌍 Global Sources</a:t>
            </a:r>
            <a:endParaRPr lang="en-US" sz="800" dirty="0"/>
          </a:p>
        </p:txBody>
      </p:sp>
      <p:sp>
        <p:nvSpPr>
          <p:cNvPr id="46" name="Text 44"/>
          <p:cNvSpPr/>
          <p:nvPr/>
        </p:nvSpPr>
        <p:spPr>
          <a:xfrm>
            <a:off x="6894576" y="2999232"/>
            <a:ext cx="1947672" cy="502920"/>
          </a:xfrm>
          <a:prstGeom prst="rect">
            <a:avLst/>
          </a:prstGeom>
          <a:noFill/>
          <a:ln/>
        </p:spPr>
        <p:txBody>
          <a:bodyPr wrap="square" rtlCol="0" anchor="ctr"/>
          <a:lstStyle/>
          <a:p>
            <a:pPr indent="0" marL="0">
              <a:buNone/>
            </a:pPr>
            <a:r>
              <a:rPr lang="en-US" sz="850" dirty="0">
                <a:solidFill>
                  <a:srgbClr val="AABBD4"/>
                </a:solidFill>
                <a:latin typeface="Calibri" pitchFamily="34" charset="0"/>
                <a:ea typeface="Calibri" pitchFamily="34" charset="-122"/>
                <a:cs typeface="Calibri" pitchFamily="34" charset="-120"/>
              </a:rPr>
              <a:t>UNEP, Nature Sustainability, IEA, Cell Press</a:t>
            </a:r>
            <a:endParaRPr lang="en-US" sz="850" dirty="0"/>
          </a:p>
        </p:txBody>
      </p:sp>
      <p:sp>
        <p:nvSpPr>
          <p:cNvPr id="47" name="Shape 45"/>
          <p:cNvSpPr/>
          <p:nvPr/>
        </p:nvSpPr>
        <p:spPr>
          <a:xfrm>
            <a:off x="6894576" y="3547872"/>
            <a:ext cx="1901952" cy="1005840"/>
          </a:xfrm>
          <a:prstGeom prst="rect">
            <a:avLst/>
          </a:prstGeom>
          <a:solidFill>
            <a:srgbClr val="B71C1C">
              <a:alpha val="15000"/>
            </a:srgbClr>
          </a:solidFill>
          <a:ln w="12700">
            <a:solidFill>
              <a:srgbClr val="B71C1C">
                <a:alpha val="30000"/>
              </a:srgbClr>
            </a:solidFill>
            <a:prstDash val="solid"/>
          </a:ln>
        </p:spPr>
      </p:sp>
      <p:sp>
        <p:nvSpPr>
          <p:cNvPr id="48" name="Text 46"/>
          <p:cNvSpPr/>
          <p:nvPr/>
        </p:nvSpPr>
        <p:spPr>
          <a:xfrm>
            <a:off x="6912864" y="3566160"/>
            <a:ext cx="1865376" cy="969264"/>
          </a:xfrm>
          <a:prstGeom prst="rect">
            <a:avLst/>
          </a:prstGeom>
          <a:noFill/>
          <a:ln/>
        </p:spPr>
        <p:txBody>
          <a:bodyPr wrap="square" rtlCol="0" anchor="ctr"/>
          <a:lstStyle/>
          <a:p>
            <a:pPr algn="ctr" indent="0" marL="0">
              <a:buNone/>
            </a:pPr>
            <a:r>
              <a:rPr lang="en-US" sz="900" i="1" dirty="0">
                <a:solidFill>
                  <a:srgbClr val="FFFFFF"/>
                </a:solidFill>
                <a:latin typeface="Calibri" pitchFamily="34" charset="0"/>
                <a:ea typeface="Calibri" pitchFamily="34" charset="-122"/>
                <a:cs typeface="Calibri" pitchFamily="34" charset="-120"/>
              </a:rPr>
              <a:t>Regulatory gap &amp; comparative analysis</a:t>
            </a:r>
            <a:endParaRPr lang="en-US" sz="900" dirty="0"/>
          </a:p>
        </p:txBody>
      </p:sp>
      <p:sp>
        <p:nvSpPr>
          <p:cNvPr id="49" name="Shape 47"/>
          <p:cNvSpPr/>
          <p:nvPr/>
        </p:nvSpPr>
        <p:spPr>
          <a:xfrm>
            <a:off x="0" y="5093208"/>
            <a:ext cx="9144000" cy="54864"/>
          </a:xfrm>
          <a:prstGeom prst="rect">
            <a:avLst/>
          </a:prstGeom>
          <a:solidFill>
            <a:srgbClr val="E8A020"/>
          </a:solidFill>
          <a:ln w="12700">
            <a:solidFill>
              <a:srgbClr val="E8A020"/>
            </a:solidFill>
            <a:prstDash val="solid"/>
          </a:ln>
        </p:spPr>
      </p:sp>
      <p:sp>
        <p:nvSpPr>
          <p:cNvPr id="50" name="Text 48"/>
          <p:cNvSpPr/>
          <p:nvPr/>
        </p:nvSpPr>
        <p:spPr>
          <a:xfrm>
            <a:off x="0" y="4828032"/>
            <a:ext cx="9144000" cy="256032"/>
          </a:xfrm>
          <a:prstGeom prst="rect">
            <a:avLst/>
          </a:prstGeom>
          <a:noFill/>
          <a:ln/>
        </p:spPr>
        <p:txBody>
          <a:bodyPr wrap="square" rtlCol="0" anchor="ctr"/>
          <a:lstStyle/>
          <a:p>
            <a:pPr algn="ctr" indent="0" marL="0">
              <a:buNone/>
            </a:pPr>
            <a:r>
              <a:rPr lang="en-US" sz="900" dirty="0">
                <a:solidFill>
                  <a:srgbClr val="6B8CB8"/>
                </a:solidFill>
                <a:latin typeface="Calibri" pitchFamily="34" charset="0"/>
                <a:ea typeface="Calibri" pitchFamily="34" charset="-122"/>
                <a:cs typeface="Calibri" pitchFamily="34" charset="-120"/>
              </a:rPr>
              <a:t>Advanced Diploma in ICT  •  Project 4  •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4 Research Topic Proposals</dc:title>
  <dc:subject>PptxGenJS Presentation</dc:subject>
  <dc:creator>PptxGenJS</dc:creator>
  <cp:lastModifiedBy>PptxGenJS</cp:lastModifiedBy>
  <cp:revision>1</cp:revision>
  <dcterms:created xsi:type="dcterms:W3CDTF">2026-02-27T10:22:44Z</dcterms:created>
  <dcterms:modified xsi:type="dcterms:W3CDTF">2026-02-27T10:22:44Z</dcterms:modified>
</cp:coreProperties>
</file>