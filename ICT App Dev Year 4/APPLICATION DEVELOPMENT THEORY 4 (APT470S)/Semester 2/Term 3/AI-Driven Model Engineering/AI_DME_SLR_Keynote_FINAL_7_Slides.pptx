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257" r:id="rId6"/>
    <p:sldId id="258" r:id="rId7"/>
    <p:sldId id="259" r:id="rId8"/>
    <p:sldId id="260" r:id="rId9"/>
    <p:sldId id="261" r:id="rId10"/>
    <p:sldId id="262" r:id="rId11"/>
    <p:sldId id="263" r:id="rId12"/>
    <p:sldId id="264" r:id="rId13"/>
    <p:sldId id="266" r:id="rId14"/>
    <p:sldId id="267" r:id="rId15"/>
    <p:sldId id="268" r:id="rId16"/>
    <p:sldId id="269" r:id="rId17"/>
    <p:sldId id="283" r:id="rId18"/>
    <p:sldId id="284" r:id="rId19"/>
    <p:sldId id="285" r:id="rId20"/>
    <p:sldId id="286" r:id="rId21"/>
    <p:sldId id="287" r:id="rId22"/>
    <p:sldId id="288" r:id="rId23"/>
    <p:sldId id="276" r:id="rId24"/>
    <p:sldId id="289" r:id="rId25"/>
    <p:sldId id="290" r:id="rId26"/>
    <p:sldId id="291" r:id="rId27"/>
    <p:sldId id="280" r:id="rId28"/>
    <p:sldId id="281" r:id="rId29"/>
    <p:sldId id="282"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2130" y="8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642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Good morning. We are the APT470S research group, and our project is a systematic literature review called "AI-Driven Model Engineering: A Systematic Literature Review of Intelligent Model Generation, Transformation, Validation, and Software Synthesis".
Put simply, we asked how artificial intelligence is being used to create, check, change and maintain software models, and how far that work can be trusted. Seven of us will take you through how we found the evidence, what 27 studies tell us, and what we think should be researched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Each of us owns a set of research questions, and we will speak in this order.
I cover the introduction, the method and the search. Phindile Ngozi covers the selection results, the corpus, the AI technologies and the roles AI plays. Thabiso covers lifecycle coverage, transformations and our taxonomy. Zenande covers modelling languages, the conceptual framework and the research agenda. Siyanda covers evaluation, our reference architecture and the gap matrix. Sibongiseni covers quality appraisal, gains and risks, and the requirements-to-model comparison. Phindile Mposwa covers automation maturity, industrial readiness and the limits of our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First, what do we mean by AI-driven model engineering?
In model-driven engineering, models such as UML class diagrams, BPMN process models and metamodels are the main artefacts, and code is generated from them. Building and maintaining those models by hand is slow, and large language models have started to change that.
We define AI-DME as the systematic use of AI to generate, interpret, complete, transform, validate, optimise, synchronise, explain and evolve software models. Our scope is the whole lifecycle of twelve stages, not only generating UML class diagrams, which is where much earlier work stopped.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Our method follows Kitchenham and Charters' guidance for software engineering reviews, and we report selection with PRISMA 2020.
We answer sixteen research questions in seven groups; the brief numbers two questions RQ15, so we call the conceptual-framework question RQ16. Studies had to apply AI to a software model, so code-only studies and studies that use MDE to deploy machine-learning models were excluded. Every exclusion at the second screening has a written reason. IEEE Xplore and SpringerLink were screened by two reviewers; the other databases by one.
Each included study was scored on 18 quality criteria, and the scores weight our evidence rather than exclude studies. Fourteen studies were extracted by team members and thirteen with AI assistance, which we declare in the report.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The searches ran from 15 to 18 March 2026. We searched six databases: IEEE Xplore, SpringerLink, ScienceDirect, the ACM Digital Library, Scopus and Web of Science. The search string combined three facets with AND: an AI technology such as LLMs or machine learning, an MDE context such as UML, SysML, BPMN, DSLs or metamodels, and a modelling task such as generation, transformation, validation, repair or code synthesis.
That returned 7,585 records. SpringerLink gave the most, with 3,093, and Web of Science the fewest, with 93. Four more studies came from the ACM Digital Library through other methods; the workbook does not record how they were first found, which we list as a limitation. Phindile Ngozi will take you through the selection.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Ngozi
Thank you. This is how 7,585 records became 27 studies.
We excluded 6,053 at title and abstract, which left 1,532. After removing 46 duplicates and 120 records that were not logged individually, 1,366 unique records went through a second screening, where 1,117 were excluded, mostly because they did not use AI at all.
We sought 249 full texts. 222 of them could not be retrieved because we had no institutional access to the full text. Of the 27 we could read, four were excluded with reasons, and four studies found by other methods were added. That gives 27. The arithmetic reconciles in our workbook, and every report excluded after retrieval was sought is logged individually.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Ngozi
So what does the corpus look like?
</a:t>
            </a:r>
            <a:r>
              <a:rPr lang="en-GB"/>
              <a:t>Thank you. The field is young: 14 of our 27 studies are from 2026. Eighteen propose a tool or framework, and only eight are evaluations or benchmarks. ScienceDirect supplied nine studies and the ACM Digital Library six. Most studies target general-purpose software engineering, and only three look at safety-critical or embedded systems.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Ngozi
</a:t>
            </a:r>
            <a:r>
              <a:rPr lang="en-GB"/>
              <a:t>85.2 percent of the studies, 23 of 27, use a large language model, mainly GPT models, with Mistral, Qwen, DeepSeek and Llama. Other techniques are thin, and no study uses knowledge graphs or retrieval-augmented generation. Four studies use agent </a:t>
            </a:r>
            <a:r>
              <a:rPr lang="en-GB" err="1"/>
              <a:t>systems,three</a:t>
            </a:r>
            <a:r>
              <a:rPr lang="en-GB"/>
              <a:t> use search-based optimisation, and two each use deep learning, multimodal models and neuro-symbolic AI. In a few years the field has become almost entirely an LLM field.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Ngozi
</a:t>
            </a:r>
            <a:r>
              <a:rPr lang="en-GB"/>
              <a:t>AI plays ten roles. Model generation is the strongest, with five studies, while recommendation, consistency monitoring and orchestration rest on one to three studies each. The roles are now chained into one pipeline: interpret, generate, validate, repair ,then generate code. For example, </a:t>
            </a:r>
            <a:r>
              <a:rPr lang="en-GB" err="1"/>
              <a:t>VeriGen</a:t>
            </a:r>
            <a:r>
              <a:rPr lang="en-GB"/>
              <a:t> interprets requirements, generates </a:t>
            </a:r>
            <a:r>
              <a:rPr lang="en-GB" err="1"/>
              <a:t>models,verifies</a:t>
            </a:r>
            <a:r>
              <a:rPr lang="en-GB"/>
              <a:t> them, repairs them and then generates code in a single tool.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Thabiso Matsaba
One stage stands out: model-code </a:t>
            </a:r>
            <a:r>
              <a:rPr lang="en-US" dirty="0" err="1"/>
              <a:t>synchronisation</a:t>
            </a:r>
            <a:r>
              <a:rPr lang="en-US" dirty="0"/>
              <a:t> has zero studies.
Model-to-code synthesis has six studies and code-to-model extraction has three, including the reverse-engineering work of Siala and Siala and Lano. But nothing keeps the model and the code aligned as either one changes. Runtime modelling rests on one partial study, Eramo et al. in 2024, and model transformation on two.
In practice, this means that once code is generated, the model starts to drift and someone has to re-extract it by hand. For a field that promises continuous engineering, that is the largest gap we found.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Thabiso Matsaba
We turned the coding into a taxonomy with seven dimensions: lifecycle stage, input artefact, output artefact, AI technology, AI role, validation mechanism and quality attribute. Each answers a different question, so a study can be placed on every dimension independently.
The counts matter more than the categories. Several cells are empty or nearly so: synchronisation, knowledge-graph and retrieval techniques, and state-machine outputs. Those empty cells are exactly the research gaps that Siyanda will show in the gap matrix. Zenande will now cover the modelling languages involved.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Zenande Kalipa
Thank you. My first question is which modelling languages and artefacts AI supports.
Structural modelling dominates. UML class diagrams and domain models are generated from requirements, completed and recovered from code, for example by K. Chen and colleagues and by Siala and Lano. BPMN process models appear in Boujmil and Chebil's work, and sequence diagrams in Ahmed et al. and Wang et al.
Architectural languages, EAST-ADL and AADL, appear in automotive and avionics studies by Awan et al. and Tahat et al. DSLs form their own group: RQ2DSL generates grammars, DSL-Xpert 2.0 generates DSL code, and SCEditor-Web targets smart contracts. Formal languages include OCL, Alloy, AGREE contracts and CTL, and the code targets are Java, Python and Solidity. SysML is missing from the included corpus, and no study generates and evaluates state machines or activity diagrams.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Zenande Kalipa
From the evidence we built a conceptual framework with four kinds of variable.
The independent variable is the AI intervention: model family, prompting, fine-tuning, retrieval and agent design. The dependent variable is engineering outcomes: syntactic validity, semantic fidelity, completeness, consistency and time saved. Transparency and grounding mediate the relationship, through intermediate representations, metamodels, deterministic verification and human review. Context moderates it: language strictness, domain complexity, system scale and team expertise.
Four propositions follow. H1, grounding comes from design choices rather than larger models. H2, where studies report results with and without a verifier or structured intermediate, the grounded version performs better. H3, context moderates outcomes. H4, outcome quality limits how much autonomy can safely be granted. Siyanda will take this further.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Siyanda Hlati
Thank you. I cover how studies validate their results.
We sorted evaluation practice into a seven-level hierarchy. Level 0 is an unchecked output, which no included study presents. At Level 1, 12 studies check syntax: does the output parse or compile? 11 compare the output with a reference model using precision, recall or F1. Above that, the numbers drop. 7 check structural completeness and consistency, only 5 check formal conformance with OCL, SMT or model checking, 6 use human users or experts, and 5 test scale, repeated runs or industrial data.
The risk here is simple. A model can be syntactically perfect and still be wrong. Most studies stop at the level that is easiest to automate.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Siyanda Hlati
Our answer is a verifier-guided reference architecture in five layers, each grounded in included studies.
The specification layer structures requirements, for example into RUPP templates. The generation layer holds the LLM and any agents. The verification layer is deterministic: OCL checkers, the JKind SMT solver in AGREE-Dog, or Slither for smart contracts. If a candidate model fails, it goes back to the generator with the diagnosis for repair. The traceability layer links each model element to its requirement, and the governance layer spans all four, putting a named person at the approval gate.
The rule is that the LLM proposes, deterministic tools decide, and a person stays accountable.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Siyanda Hlati
The gap matrix crosses AI technique with model-engineering task. Each cell counts the studies that use that technique for that task.
LLMs fill the top row. Below it, almost every cell is empty or holds a single study, and knowledge graphs, retrieval and graph neural networks are empty for every task. The report also checks the thirteen gaps the brief expected: eleven are confirmed and two are partly addressed. Sibongiseni will now look at the quality of the evidence itself.</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Sibongiseni Tsitsa
Thank you. My questions cover quality, gains and risks.
We appraised every study against 18 criteria, each scored 0, 0.5 or 1. The mean score was 12.8 out of 18, with a range of 10 to 16. Nine studies rated high quality, 17 moderate and one developing.
The criterion averages show where the literature is strong and weak. Studies state their aims clearly, describe their datasets well, and always check outputs with something other than the generating model. They rarely check cross-view consistency, which averages 0.11, rarely involve human experts, at 0.26, and rarely measure completeness, at 0.35. Averages can flatter: only four studies fully meet the statistical-analysis criterion and none fully meets cross-view consistency. We used these scores to weight our synthesis, so claims resting on weaker studies are stated with more caution.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Sibongiseni Tsitsa
Does AI improve on traditional model-driven engineering? It depends on what you measure.
Productivity improves: Ben Chaaben et al. ran a 30-person user study, and Blasco et al. report five hours of unattended generation against ten months of manual work. Adaptability to new languages also improves. Model quality is mixed: K. Chen and colleagues found an F1 of 0.76 for classes but only 0.34 for relationships. Maintainability and energy cost are hardly measured.
The best-evidenced risks are hallucination, nondeterminism and silent incompleteness. In MoRe the most common defects are unnecessary structural features, 34.1 percent, and inheritance misused as reference, 18.2 percent, and Siala and Lano show recall falling from 0.921 to 0.834 on a 17,640-line package. So "AI improves over MDE" is not a supported general claim.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Sibongiseni Tsitsa
Requirements-to-model generation is where we can compare approaches most directly.
Prompting alone gives precise but incomplete models: an F1 of 0.76 for classes but 0.34 for relationships, and almost three times as many semantic errors as human solvers. Each step that adds structure improves the result: fine-tuning raised extraction accuracy from 50.7 to 99.3 percent, an abstract syntax tree output raised F1 from 85.3 to 89.9 percent, and structured templates with a verifier loop raised class-diagram accuracy from 56.2 to 87.8 percent.
The caveat is that every study uses its own dataset, so the gains point the same way but cannot be compared directly. Phindile Mposwa continues.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Mposwa
Thank you. My questions are about automation maturity, reproducibility and industrial readiness.
We propose a six-level maturity model, with an entry condition for each level that can be checked in a paper. Level 1 is manual modelling and serves as a baseline. Six studies sit at level 2, assistive, and six at level 3, interactive co-modelling. The largest group, 11 studies or 40.7 percent, is at level 4: the AI generates substantial models and a human approves them.
Only four studies reach level 5, where a verifier checks and repairs the output: VeriGen, SCEditor-Web, AGREE-Dog and MoRe. No study reaches level 6, where agents keep requirements, models, code and runtime aligned continuously. That level is a research target, not a current reality.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Mposwa
How close is this to industry? Not very close yet.
Only five studies use real industrial data. Eramo et al. report ten industrial case studies. Blasco et al. work with a commercial game and models of more than a thousand elements. Awan et al. use a Volvo car-wiper case with up to 100 concurrent users, and Tahat et al. use avionics cases with 13 fault-injection scenarios. Echeverría et al. use industrial product-line data. Each has a single partner or domain.
Reproducibility is improving but uneven. Several studies share code and data, but prompts, model versions and temperature settings are reported inconsistently. Dao et al. are the positive exception, archiving prompts, outputs and model identifiers. Adoption depends on fitting existing Eclipse-based toolchains and on standards such as ISO 26262.</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Phindile Mposwa
We also need to be open about the limits of our own review.
The biggest is access. We sought 249 full texts and could not retrieve 222 of them, because we had no institutional access to the full text. Every one is logged in our workbook, but our findings rest on the 27 we could read.
Second, reviewer independence is limited: four databases had a single screener, one person scored quality, and we calculated no agreement statistic. Third, thirteen extractions were made and cross-checked with AI assistance. Fourth, we did no snowballing, did not register the protocol, and removed 46 duplicates after screening rather than before. Zenande will close our findings with the research agenda.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Zenande Kalipa
Thank you. Our research agenda has six priorities, in order, and each comes from a gap in the evidence.
First, build and evaluate a complete verifier-guided loop: all five layers of our architecture are evidenced separately, but no study implements them together. Second, model-code synchronisation, which has no study. Third, shared benchmarks at industrial scale that report cost and variance, because every study uses its own dataset. Fourth, behavioural and architectural generation with cross-view checks. Fifth, controlled comparisons with expert modellers and rule-based MDE, since only one study compares directly with human modellers. Sixth, runtime models and self-adaptation, which rest on one partial study. Thandolwethu will close.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To close, four points.
LLMs now appear in 23 of 27 studies, mostly where requirements become models and models become code. Verification is mostly syntactic, and only four studies reach verifier-guided autonomy. Model-code synchronisation has no evidence, and continuous adaptive modelling does not yet exist. Our architecture puts a deterministic verifier and an accountable person between AI output and delivery.
Our conclusion is that AI cannot yet engineer trustworthy models on its own, but it can work usefully inside a verifier-guided, traceable and human-accountable environment.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No script. Leave this slide up briefly, or return to it during questions. The full APA 7 reference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Thandolwethu Siloyi
Thank you. Every number we have shown traces to the report and the master workbook, and quoted study results carry a page reference to the paper.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1143000"/>
            <a:ext cx="11091672" cy="365760"/>
          </a:xfrm>
          <a:prstGeom prst="rect">
            <a:avLst/>
          </a:prstGeom>
          <a:noFill/>
          <a:ln/>
        </p:spPr>
        <p:txBody>
          <a:bodyPr wrap="square" lIns="0" tIns="0" rIns="0" bIns="0" rtlCol="0" anchor="t"/>
          <a:lstStyle/>
          <a:p>
            <a:pPr marL="0" indent="0" algn="ctr">
              <a:buNone/>
            </a:pPr>
            <a:r>
              <a:rPr lang="en-US" sz="1500">
                <a:solidFill>
                  <a:srgbClr val="A1A1A6"/>
                </a:solidFill>
                <a:latin typeface="Arial" pitchFamily="34" charset="0"/>
                <a:ea typeface="Arial" pitchFamily="34" charset="-122"/>
                <a:cs typeface="Arial" pitchFamily="34" charset="-120"/>
              </a:rPr>
              <a:t>APT470S  ·  Research Project  ·  Cape Peninsula University of Technology</a:t>
            </a:r>
            <a:endParaRPr lang="en-US" sz="1500"/>
          </a:p>
        </p:txBody>
      </p:sp>
      <p:pic>
        <p:nvPicPr>
          <p:cNvPr id="4" name="Image 0" descr="img/h_title.png"/>
          <p:cNvPicPr>
            <a:picLocks noChangeAspect="1"/>
          </p:cNvPicPr>
          <p:nvPr/>
        </p:nvPicPr>
        <p:blipFill>
          <a:blip r:embed="rId3"/>
          <a:stretch>
            <a:fillRect/>
          </a:stretch>
        </p:blipFill>
        <p:spPr>
          <a:xfrm>
            <a:off x="2822001" y="1828800"/>
            <a:ext cx="6544949" cy="1143000"/>
          </a:xfrm>
          <a:prstGeom prst="rect">
            <a:avLst/>
          </a:prstGeom>
        </p:spPr>
      </p:pic>
      <p:sp>
        <p:nvSpPr>
          <p:cNvPr id="5" name="Text 1"/>
          <p:cNvSpPr/>
          <p:nvPr/>
        </p:nvSpPr>
        <p:spPr>
          <a:xfrm>
            <a:off x="548640" y="3017520"/>
            <a:ext cx="11091672" cy="1005840"/>
          </a:xfrm>
          <a:prstGeom prst="rect">
            <a:avLst/>
          </a:prstGeom>
          <a:noFill/>
          <a:ln/>
        </p:spPr>
        <p:txBody>
          <a:bodyPr wrap="square" lIns="0" tIns="0" rIns="0" bIns="0" rtlCol="0" anchor="t"/>
          <a:lstStyle/>
          <a:p>
            <a:pPr marL="0" indent="0" algn="ctr">
              <a:buNone/>
            </a:pPr>
            <a:r>
              <a:rPr lang="en-US" sz="6600" b="1">
                <a:solidFill>
                  <a:srgbClr val="FFFFFF"/>
                </a:solidFill>
                <a:latin typeface="Arial" pitchFamily="34" charset="0"/>
                <a:ea typeface="Arial" pitchFamily="34" charset="-122"/>
                <a:cs typeface="Arial" pitchFamily="34" charset="-120"/>
              </a:rPr>
              <a:t>Model Engineering</a:t>
            </a:r>
            <a:endParaRPr lang="en-US" sz="6600"/>
          </a:p>
        </p:txBody>
      </p:sp>
      <p:sp>
        <p:nvSpPr>
          <p:cNvPr id="6" name="Text 2"/>
          <p:cNvSpPr/>
          <p:nvPr/>
        </p:nvSpPr>
        <p:spPr>
          <a:xfrm>
            <a:off x="2011680" y="4251960"/>
            <a:ext cx="8165592" cy="822960"/>
          </a:xfrm>
          <a:prstGeom prst="rect">
            <a:avLst/>
          </a:prstGeom>
          <a:noFill/>
          <a:ln/>
        </p:spPr>
        <p:txBody>
          <a:bodyPr wrap="square" lIns="0" tIns="0" rIns="0" bIns="0" rtlCol="0" anchor="t"/>
          <a:lstStyle/>
          <a:p>
            <a:pPr marL="0" indent="0" algn="ctr">
              <a:buNone/>
            </a:pPr>
            <a:r>
              <a:rPr lang="en-US" sz="1900">
                <a:solidFill>
                  <a:srgbClr val="A1A1A6"/>
                </a:solidFill>
                <a:latin typeface="Arial" pitchFamily="34" charset="0"/>
                <a:ea typeface="Arial" pitchFamily="34" charset="-122"/>
                <a:cs typeface="Arial" pitchFamily="34" charset="-120"/>
              </a:rPr>
              <a:t>A Systematic Literature Review of Intelligent Model Generation, Transformation, Validation, and Software Synthesis</a:t>
            </a:r>
            <a:endParaRPr lang="en-US" sz="1900"/>
          </a:p>
        </p:txBody>
      </p:sp>
      <p:sp>
        <p:nvSpPr>
          <p:cNvPr id="7" name="Text 3"/>
          <p:cNvSpPr/>
          <p:nvPr/>
        </p:nvSpPr>
        <p:spPr>
          <a:xfrm>
            <a:off x="548640" y="5486400"/>
            <a:ext cx="11091672" cy="457200"/>
          </a:xfrm>
          <a:prstGeom prst="rect">
            <a:avLst/>
          </a:prstGeom>
          <a:noFill/>
          <a:ln/>
        </p:spPr>
        <p:txBody>
          <a:bodyPr wrap="square" lIns="0" tIns="0" rIns="0" bIns="0" rtlCol="0" anchor="t"/>
          <a:lstStyle/>
          <a:p>
            <a:pPr marL="0" indent="0" algn="ctr">
              <a:buNone/>
            </a:pPr>
            <a:r>
              <a:rPr lang="en-US" sz="1800" b="1">
                <a:solidFill>
                  <a:srgbClr val="FFFFFF"/>
                </a:solidFill>
                <a:latin typeface="Arial" pitchFamily="34" charset="0"/>
                <a:ea typeface="Arial" pitchFamily="34" charset="-122"/>
                <a:cs typeface="Arial" pitchFamily="34" charset="-120"/>
              </a:rPr>
              <a:t>27 studies.  6 databases.  One lifecycle.</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2</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The team</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Seven people. Sixteen questions.</a:t>
            </a:r>
            <a:endParaRPr lang="en-US" sz="4400"/>
          </a:p>
        </p:txBody>
      </p:sp>
      <p:sp>
        <p:nvSpPr>
          <p:cNvPr id="7" name="Shape 4"/>
          <p:cNvSpPr/>
          <p:nvPr/>
        </p:nvSpPr>
        <p:spPr>
          <a:xfrm>
            <a:off x="548640" y="233172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777240" y="2514600"/>
            <a:ext cx="914400" cy="274320"/>
          </a:xfrm>
          <a:prstGeom prst="rect">
            <a:avLst/>
          </a:prstGeom>
          <a:noFill/>
          <a:ln/>
        </p:spPr>
        <p:txBody>
          <a:bodyPr wrap="square" lIns="0" tIns="0" rIns="0" bIns="0" rtlCol="0" anchor="t"/>
          <a:lstStyle/>
          <a:p>
            <a:pPr marL="0" indent="0" algn="l">
              <a:buNone/>
            </a:pPr>
            <a:r>
              <a:rPr lang="en-US" sz="1200" b="1">
                <a:solidFill>
                  <a:srgbClr val="0071E3"/>
                </a:solidFill>
                <a:latin typeface="Arial" pitchFamily="34" charset="0"/>
                <a:ea typeface="Arial" pitchFamily="34" charset="-122"/>
                <a:cs typeface="Arial" pitchFamily="34" charset="-120"/>
              </a:rPr>
              <a:t>01</a:t>
            </a:r>
            <a:endParaRPr lang="en-US" sz="1200"/>
          </a:p>
        </p:txBody>
      </p:sp>
      <p:sp>
        <p:nvSpPr>
          <p:cNvPr id="9" name="Text 6"/>
          <p:cNvSpPr/>
          <p:nvPr/>
        </p:nvSpPr>
        <p:spPr>
          <a:xfrm>
            <a:off x="777240" y="278892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Thandolwethu Siloyi</a:t>
            </a:r>
            <a:endParaRPr lang="en-US" sz="1700"/>
          </a:p>
        </p:txBody>
      </p:sp>
      <p:sp>
        <p:nvSpPr>
          <p:cNvPr id="10" name="Text 7"/>
          <p:cNvSpPr/>
          <p:nvPr/>
        </p:nvSpPr>
        <p:spPr>
          <a:xfrm>
            <a:off x="777240" y="317296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Introduction, method and search</a:t>
            </a:r>
            <a:endParaRPr lang="en-US" sz="1200"/>
          </a:p>
        </p:txBody>
      </p:sp>
      <p:sp>
        <p:nvSpPr>
          <p:cNvPr id="11" name="Text 8"/>
          <p:cNvSpPr/>
          <p:nvPr/>
        </p:nvSpPr>
        <p:spPr>
          <a:xfrm>
            <a:off x="777240" y="365760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Scope, method and RQ1</a:t>
            </a:r>
            <a:endParaRPr lang="en-US" sz="1100"/>
          </a:p>
        </p:txBody>
      </p:sp>
      <p:sp>
        <p:nvSpPr>
          <p:cNvPr id="12" name="Shape 9"/>
          <p:cNvSpPr/>
          <p:nvPr/>
        </p:nvSpPr>
        <p:spPr>
          <a:xfrm>
            <a:off x="3346704" y="233172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13" name="Text 10"/>
          <p:cNvSpPr/>
          <p:nvPr/>
        </p:nvSpPr>
        <p:spPr>
          <a:xfrm>
            <a:off x="3575304" y="2514600"/>
            <a:ext cx="914400" cy="274320"/>
          </a:xfrm>
          <a:prstGeom prst="rect">
            <a:avLst/>
          </a:prstGeom>
          <a:noFill/>
          <a:ln/>
        </p:spPr>
        <p:txBody>
          <a:bodyPr wrap="square" lIns="0" tIns="0" rIns="0" bIns="0" rtlCol="0" anchor="t"/>
          <a:lstStyle/>
          <a:p>
            <a:pPr marL="0" indent="0" algn="l">
              <a:buNone/>
            </a:pPr>
            <a:r>
              <a:rPr lang="en-US" sz="1200" b="1">
                <a:solidFill>
                  <a:srgbClr val="BF5AF2"/>
                </a:solidFill>
                <a:latin typeface="Arial" pitchFamily="34" charset="0"/>
                <a:ea typeface="Arial" pitchFamily="34" charset="-122"/>
                <a:cs typeface="Arial" pitchFamily="34" charset="-120"/>
              </a:rPr>
              <a:t>02</a:t>
            </a:r>
            <a:endParaRPr lang="en-US" sz="1200"/>
          </a:p>
        </p:txBody>
      </p:sp>
      <p:sp>
        <p:nvSpPr>
          <p:cNvPr id="14" name="Text 11"/>
          <p:cNvSpPr/>
          <p:nvPr/>
        </p:nvSpPr>
        <p:spPr>
          <a:xfrm>
            <a:off x="3575304" y="278892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Phindile Ngozi</a:t>
            </a:r>
            <a:endParaRPr lang="en-US" sz="1700"/>
          </a:p>
        </p:txBody>
      </p:sp>
      <p:sp>
        <p:nvSpPr>
          <p:cNvPr id="15" name="Text 12"/>
          <p:cNvSpPr/>
          <p:nvPr/>
        </p:nvSpPr>
        <p:spPr>
          <a:xfrm>
            <a:off x="3575304" y="317296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Selection, corpus, AI technologies and roles</a:t>
            </a:r>
            <a:endParaRPr lang="en-US" sz="1200"/>
          </a:p>
        </p:txBody>
      </p:sp>
      <p:sp>
        <p:nvSpPr>
          <p:cNvPr id="16" name="Text 13"/>
          <p:cNvSpPr/>
          <p:nvPr/>
        </p:nvSpPr>
        <p:spPr>
          <a:xfrm>
            <a:off x="3575304" y="365760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RQ2, RQ6</a:t>
            </a:r>
            <a:endParaRPr lang="en-US" sz="1100"/>
          </a:p>
        </p:txBody>
      </p:sp>
      <p:sp>
        <p:nvSpPr>
          <p:cNvPr id="17" name="Shape 14"/>
          <p:cNvSpPr/>
          <p:nvPr/>
        </p:nvSpPr>
        <p:spPr>
          <a:xfrm>
            <a:off x="6144768" y="233172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18" name="Text 15"/>
          <p:cNvSpPr/>
          <p:nvPr/>
        </p:nvSpPr>
        <p:spPr>
          <a:xfrm>
            <a:off x="6373368" y="2514600"/>
            <a:ext cx="914400" cy="274320"/>
          </a:xfrm>
          <a:prstGeom prst="rect">
            <a:avLst/>
          </a:prstGeom>
          <a:noFill/>
          <a:ln/>
        </p:spPr>
        <p:txBody>
          <a:bodyPr wrap="square" lIns="0" tIns="0" rIns="0" bIns="0" rtlCol="0" anchor="t"/>
          <a:lstStyle/>
          <a:p>
            <a:pPr marL="0" indent="0" algn="l">
              <a:buNone/>
            </a:pPr>
            <a:r>
              <a:rPr lang="en-US" sz="1200" b="1">
                <a:solidFill>
                  <a:srgbClr val="FF375F"/>
                </a:solidFill>
                <a:latin typeface="Arial" pitchFamily="34" charset="0"/>
                <a:ea typeface="Arial" pitchFamily="34" charset="-122"/>
                <a:cs typeface="Arial" pitchFamily="34" charset="-120"/>
              </a:rPr>
              <a:t>03</a:t>
            </a:r>
            <a:endParaRPr lang="en-US" sz="1200"/>
          </a:p>
        </p:txBody>
      </p:sp>
      <p:sp>
        <p:nvSpPr>
          <p:cNvPr id="19" name="Text 16"/>
          <p:cNvSpPr/>
          <p:nvPr/>
        </p:nvSpPr>
        <p:spPr>
          <a:xfrm>
            <a:off x="6373368" y="278892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Thabiso Matsaba</a:t>
            </a:r>
            <a:endParaRPr lang="en-US" sz="1700"/>
          </a:p>
        </p:txBody>
      </p:sp>
      <p:sp>
        <p:nvSpPr>
          <p:cNvPr id="20" name="Text 17"/>
          <p:cNvSpPr/>
          <p:nvPr/>
        </p:nvSpPr>
        <p:spPr>
          <a:xfrm>
            <a:off x="6373368" y="317296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Lifecycle, transformations, taxonomy</a:t>
            </a:r>
            <a:endParaRPr lang="en-US" sz="1200"/>
          </a:p>
        </p:txBody>
      </p:sp>
      <p:sp>
        <p:nvSpPr>
          <p:cNvPr id="21" name="Text 18"/>
          <p:cNvSpPr/>
          <p:nvPr/>
        </p:nvSpPr>
        <p:spPr>
          <a:xfrm>
            <a:off x="6373368" y="365760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RQ3, RQ5, RQ10</a:t>
            </a:r>
            <a:endParaRPr lang="en-US" sz="1100"/>
          </a:p>
        </p:txBody>
      </p:sp>
      <p:sp>
        <p:nvSpPr>
          <p:cNvPr id="22" name="Shape 19"/>
          <p:cNvSpPr/>
          <p:nvPr/>
        </p:nvSpPr>
        <p:spPr>
          <a:xfrm>
            <a:off x="8942832" y="233172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23" name="Text 20"/>
          <p:cNvSpPr/>
          <p:nvPr/>
        </p:nvSpPr>
        <p:spPr>
          <a:xfrm>
            <a:off x="9171432" y="2514600"/>
            <a:ext cx="914400" cy="274320"/>
          </a:xfrm>
          <a:prstGeom prst="rect">
            <a:avLst/>
          </a:prstGeom>
          <a:noFill/>
          <a:ln/>
        </p:spPr>
        <p:txBody>
          <a:bodyPr wrap="square" lIns="0" tIns="0" rIns="0" bIns="0" rtlCol="0" anchor="t"/>
          <a:lstStyle/>
          <a:p>
            <a:pPr marL="0" indent="0" algn="l">
              <a:buNone/>
            </a:pPr>
            <a:r>
              <a:rPr lang="en-US" sz="1200" b="1">
                <a:solidFill>
                  <a:srgbClr val="FF9F0A"/>
                </a:solidFill>
                <a:latin typeface="Arial" pitchFamily="34" charset="0"/>
                <a:ea typeface="Arial" pitchFamily="34" charset="-122"/>
                <a:cs typeface="Arial" pitchFamily="34" charset="-120"/>
              </a:rPr>
              <a:t>04</a:t>
            </a:r>
            <a:endParaRPr lang="en-US" sz="1200"/>
          </a:p>
        </p:txBody>
      </p:sp>
      <p:sp>
        <p:nvSpPr>
          <p:cNvPr id="24" name="Text 21"/>
          <p:cNvSpPr/>
          <p:nvPr/>
        </p:nvSpPr>
        <p:spPr>
          <a:xfrm>
            <a:off x="9171432" y="278892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Zenande Kalipa</a:t>
            </a:r>
            <a:endParaRPr lang="en-US" sz="1700"/>
          </a:p>
        </p:txBody>
      </p:sp>
      <p:sp>
        <p:nvSpPr>
          <p:cNvPr id="25" name="Text 22"/>
          <p:cNvSpPr/>
          <p:nvPr/>
        </p:nvSpPr>
        <p:spPr>
          <a:xfrm>
            <a:off x="9171432" y="317296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Languages, conceptual framework, agenda</a:t>
            </a:r>
            <a:endParaRPr lang="en-US" sz="1200"/>
          </a:p>
        </p:txBody>
      </p:sp>
      <p:sp>
        <p:nvSpPr>
          <p:cNvPr id="26" name="Text 23"/>
          <p:cNvSpPr/>
          <p:nvPr/>
        </p:nvSpPr>
        <p:spPr>
          <a:xfrm>
            <a:off x="9171432" y="365760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RQ4, RQ15</a:t>
            </a:r>
            <a:endParaRPr lang="en-US" sz="1100"/>
          </a:p>
        </p:txBody>
      </p:sp>
      <p:sp>
        <p:nvSpPr>
          <p:cNvPr id="27" name="Shape 24"/>
          <p:cNvSpPr/>
          <p:nvPr/>
        </p:nvSpPr>
        <p:spPr>
          <a:xfrm>
            <a:off x="1947672" y="425196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28" name="Text 25"/>
          <p:cNvSpPr/>
          <p:nvPr/>
        </p:nvSpPr>
        <p:spPr>
          <a:xfrm>
            <a:off x="2176272" y="4434840"/>
            <a:ext cx="914400" cy="274320"/>
          </a:xfrm>
          <a:prstGeom prst="rect">
            <a:avLst/>
          </a:prstGeom>
          <a:noFill/>
          <a:ln/>
        </p:spPr>
        <p:txBody>
          <a:bodyPr wrap="square" lIns="0" tIns="0" rIns="0" bIns="0" rtlCol="0" anchor="t"/>
          <a:lstStyle/>
          <a:p>
            <a:pPr marL="0" indent="0" algn="l">
              <a:buNone/>
            </a:pPr>
            <a:r>
              <a:rPr lang="en-US" sz="1200" b="1">
                <a:solidFill>
                  <a:srgbClr val="30D158"/>
                </a:solidFill>
                <a:latin typeface="Arial" pitchFamily="34" charset="0"/>
                <a:ea typeface="Arial" pitchFamily="34" charset="-122"/>
                <a:cs typeface="Arial" pitchFamily="34" charset="-120"/>
              </a:rPr>
              <a:t>05</a:t>
            </a:r>
            <a:endParaRPr lang="en-US" sz="1200"/>
          </a:p>
        </p:txBody>
      </p:sp>
      <p:sp>
        <p:nvSpPr>
          <p:cNvPr id="29" name="Text 26"/>
          <p:cNvSpPr/>
          <p:nvPr/>
        </p:nvSpPr>
        <p:spPr>
          <a:xfrm>
            <a:off x="2176272" y="470916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Siyanda Hlati</a:t>
            </a:r>
            <a:endParaRPr lang="en-US" sz="1700"/>
          </a:p>
        </p:txBody>
      </p:sp>
      <p:sp>
        <p:nvSpPr>
          <p:cNvPr id="30" name="Text 27"/>
          <p:cNvSpPr/>
          <p:nvPr/>
        </p:nvSpPr>
        <p:spPr>
          <a:xfrm>
            <a:off x="2176272" y="509320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Evaluation, architecture, gap matrix</a:t>
            </a:r>
            <a:endParaRPr lang="en-US" sz="1200"/>
          </a:p>
        </p:txBody>
      </p:sp>
      <p:sp>
        <p:nvSpPr>
          <p:cNvPr id="31" name="Text 28"/>
          <p:cNvSpPr/>
          <p:nvPr/>
        </p:nvSpPr>
        <p:spPr>
          <a:xfrm>
            <a:off x="2176272" y="557784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RQ8, RQ9, RQ15</a:t>
            </a:r>
            <a:endParaRPr lang="en-US" sz="1100"/>
          </a:p>
        </p:txBody>
      </p:sp>
      <p:sp>
        <p:nvSpPr>
          <p:cNvPr id="32" name="Shape 29"/>
          <p:cNvSpPr/>
          <p:nvPr/>
        </p:nvSpPr>
        <p:spPr>
          <a:xfrm>
            <a:off x="4745736" y="425196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33" name="Text 30"/>
          <p:cNvSpPr/>
          <p:nvPr/>
        </p:nvSpPr>
        <p:spPr>
          <a:xfrm>
            <a:off x="4974336" y="4434840"/>
            <a:ext cx="914400" cy="274320"/>
          </a:xfrm>
          <a:prstGeom prst="rect">
            <a:avLst/>
          </a:prstGeom>
          <a:noFill/>
          <a:ln/>
        </p:spPr>
        <p:txBody>
          <a:bodyPr wrap="square" lIns="0" tIns="0" rIns="0" bIns="0" rtlCol="0" anchor="t"/>
          <a:lstStyle/>
          <a:p>
            <a:pPr marL="0" indent="0" algn="l">
              <a:buNone/>
            </a:pPr>
            <a:r>
              <a:rPr lang="en-US" sz="1200" b="1">
                <a:solidFill>
                  <a:srgbClr val="64D2FF"/>
                </a:solidFill>
                <a:latin typeface="Arial" pitchFamily="34" charset="0"/>
                <a:ea typeface="Arial" pitchFamily="34" charset="-122"/>
                <a:cs typeface="Arial" pitchFamily="34" charset="-120"/>
              </a:rPr>
              <a:t>06</a:t>
            </a:r>
            <a:endParaRPr lang="en-US" sz="1200"/>
          </a:p>
        </p:txBody>
      </p:sp>
      <p:sp>
        <p:nvSpPr>
          <p:cNvPr id="34" name="Text 31"/>
          <p:cNvSpPr/>
          <p:nvPr/>
        </p:nvSpPr>
        <p:spPr>
          <a:xfrm>
            <a:off x="4974336" y="470916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Sibongiseni Tsitsa</a:t>
            </a:r>
            <a:endParaRPr lang="en-US" sz="1700"/>
          </a:p>
        </p:txBody>
      </p:sp>
      <p:sp>
        <p:nvSpPr>
          <p:cNvPr id="35" name="Text 32"/>
          <p:cNvSpPr/>
          <p:nvPr/>
        </p:nvSpPr>
        <p:spPr>
          <a:xfrm>
            <a:off x="4974336" y="509320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Quality appraisal, gains, risks</a:t>
            </a:r>
            <a:endParaRPr lang="en-US" sz="1200"/>
          </a:p>
        </p:txBody>
      </p:sp>
      <p:sp>
        <p:nvSpPr>
          <p:cNvPr id="36" name="Text 33"/>
          <p:cNvSpPr/>
          <p:nvPr/>
        </p:nvSpPr>
        <p:spPr>
          <a:xfrm>
            <a:off x="4974336" y="557784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RQ5, RQ11, RQ12</a:t>
            </a:r>
            <a:endParaRPr lang="en-US" sz="1100"/>
          </a:p>
        </p:txBody>
      </p:sp>
      <p:sp>
        <p:nvSpPr>
          <p:cNvPr id="37" name="Shape 34"/>
          <p:cNvSpPr/>
          <p:nvPr/>
        </p:nvSpPr>
        <p:spPr>
          <a:xfrm>
            <a:off x="7543800" y="4251960"/>
            <a:ext cx="2651760" cy="1691640"/>
          </a:xfrm>
          <a:prstGeom prst="roundRect">
            <a:avLst>
              <a:gd name="adj" fmla="val 11892"/>
            </a:avLst>
          </a:prstGeom>
          <a:solidFill>
            <a:srgbClr val="FFFFFF"/>
          </a:solidFill>
          <a:ln w="12700">
            <a:solidFill>
              <a:srgbClr val="FFFFFF"/>
            </a:solidFill>
            <a:prstDash val="solid"/>
          </a:ln>
        </p:spPr>
        <p:txBody>
          <a:bodyPr/>
          <a:lstStyle/>
          <a:p>
            <a:endParaRPr lang="en-US"/>
          </a:p>
        </p:txBody>
      </p:sp>
      <p:sp>
        <p:nvSpPr>
          <p:cNvPr id="38" name="Text 35"/>
          <p:cNvSpPr/>
          <p:nvPr/>
        </p:nvSpPr>
        <p:spPr>
          <a:xfrm>
            <a:off x="7772400" y="4434840"/>
            <a:ext cx="914400" cy="274320"/>
          </a:xfrm>
          <a:prstGeom prst="rect">
            <a:avLst/>
          </a:prstGeom>
          <a:noFill/>
          <a:ln/>
        </p:spPr>
        <p:txBody>
          <a:bodyPr wrap="square" lIns="0" tIns="0" rIns="0" bIns="0" rtlCol="0" anchor="t"/>
          <a:lstStyle/>
          <a:p>
            <a:pPr marL="0" indent="0" algn="l">
              <a:buNone/>
            </a:pPr>
            <a:r>
              <a:rPr lang="en-US" sz="1200" b="1">
                <a:solidFill>
                  <a:srgbClr val="0071E3"/>
                </a:solidFill>
                <a:latin typeface="Arial" pitchFamily="34" charset="0"/>
                <a:ea typeface="Arial" pitchFamily="34" charset="-122"/>
                <a:cs typeface="Arial" pitchFamily="34" charset="-120"/>
              </a:rPr>
              <a:t>07</a:t>
            </a:r>
            <a:endParaRPr lang="en-US" sz="1200"/>
          </a:p>
        </p:txBody>
      </p:sp>
      <p:sp>
        <p:nvSpPr>
          <p:cNvPr id="39" name="Text 36"/>
          <p:cNvSpPr/>
          <p:nvPr/>
        </p:nvSpPr>
        <p:spPr>
          <a:xfrm>
            <a:off x="7772400" y="4709160"/>
            <a:ext cx="2240280" cy="36576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Phindile Mposwa</a:t>
            </a:r>
            <a:endParaRPr lang="en-US" sz="1700"/>
          </a:p>
        </p:txBody>
      </p:sp>
      <p:sp>
        <p:nvSpPr>
          <p:cNvPr id="40" name="Text 37"/>
          <p:cNvSpPr/>
          <p:nvPr/>
        </p:nvSpPr>
        <p:spPr>
          <a:xfrm>
            <a:off x="7772400" y="5093208"/>
            <a:ext cx="2240280" cy="548640"/>
          </a:xfrm>
          <a:prstGeom prst="rect">
            <a:avLst/>
          </a:prstGeom>
          <a:noFill/>
          <a:ln/>
        </p:spPr>
        <p:txBody>
          <a:bodyPr wrap="square" lIns="0" tIns="0" rIns="0" bIns="0" rtlCol="0" anchor="t"/>
          <a:lstStyle/>
          <a:p>
            <a:pPr marL="0" indent="0" algn="l">
              <a:buNone/>
            </a:pPr>
            <a:r>
              <a:rPr lang="en-US" sz="1200">
                <a:solidFill>
                  <a:srgbClr val="6E6E73"/>
                </a:solidFill>
                <a:latin typeface="Arial" pitchFamily="34" charset="0"/>
                <a:ea typeface="Arial" pitchFamily="34" charset="-122"/>
                <a:cs typeface="Arial" pitchFamily="34" charset="-120"/>
              </a:rPr>
              <a:t>Maturity, readiness, limitations</a:t>
            </a:r>
            <a:endParaRPr lang="en-US" sz="1200"/>
          </a:p>
        </p:txBody>
      </p:sp>
      <p:sp>
        <p:nvSpPr>
          <p:cNvPr id="41" name="Text 38"/>
          <p:cNvSpPr/>
          <p:nvPr/>
        </p:nvSpPr>
        <p:spPr>
          <a:xfrm>
            <a:off x="7772400" y="5577840"/>
            <a:ext cx="2240280" cy="274320"/>
          </a:xfrm>
          <a:prstGeom prst="rect">
            <a:avLst/>
          </a:prstGeom>
          <a:noFill/>
          <a:ln/>
        </p:spPr>
        <p:txBody>
          <a:bodyPr wrap="square" lIns="0" tIns="0" rIns="0" bIns="0" rtlCol="0" anchor="t"/>
          <a:lstStyle/>
          <a:p>
            <a:pPr marL="0" indent="0" algn="l">
              <a:buNone/>
            </a:pPr>
            <a:r>
              <a:rPr lang="en-US" sz="1100" b="1">
                <a:solidFill>
                  <a:srgbClr val="1D1D1F"/>
                </a:solidFill>
                <a:latin typeface="Arial" pitchFamily="34" charset="0"/>
                <a:ea typeface="Arial" pitchFamily="34" charset="-122"/>
                <a:cs typeface="Arial" pitchFamily="34" charset="-120"/>
              </a:rPr>
              <a:t>RQ7, RQ13, RQ14</a:t>
            </a:r>
            <a:endParaRPr lang="en-US" sz="1100"/>
          </a:p>
        </p:txBody>
      </p:sp>
    </p:spTree>
  </p:cSld>
  <p:clrMapOvr>
    <a:masterClrMapping/>
  </p:clrMapOvr>
  <mc:AlternateContent xmlns:mc="http://schemas.openxmlformats.org/markup-compatibility/2006" xmlns:p14="http://schemas.microsoft.com/office/powerpoint/2010/main">
    <mc:Choice Requires="p14">
      <p:transition spd="slow" p14:dur="2000" advTm="11659"/>
    </mc:Choice>
    <mc:Fallback xmlns="">
      <p:transition spd="slow" advTm="1165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3</a:t>
            </a:r>
            <a:endParaRPr lang="en-US" sz="900"/>
          </a:p>
        </p:txBody>
      </p:sp>
      <p:sp>
        <p:nvSpPr>
          <p:cNvPr id="5" name="Text 2"/>
          <p:cNvSpPr/>
          <p:nvPr/>
        </p:nvSpPr>
        <p:spPr>
          <a:xfrm>
            <a:off x="548640" y="91440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What we reviewed</a:t>
            </a:r>
            <a:endParaRPr lang="en-US" sz="1600"/>
          </a:p>
        </p:txBody>
      </p:sp>
      <p:sp>
        <p:nvSpPr>
          <p:cNvPr id="6" name="Text 3"/>
          <p:cNvSpPr/>
          <p:nvPr/>
        </p:nvSpPr>
        <p:spPr>
          <a:xfrm>
            <a:off x="548640" y="1371600"/>
            <a:ext cx="11091672" cy="1737360"/>
          </a:xfrm>
          <a:prstGeom prst="rect">
            <a:avLst/>
          </a:prstGeom>
          <a:noFill/>
          <a:ln/>
        </p:spPr>
        <p:txBody>
          <a:bodyPr wrap="square" lIns="0" tIns="0" rIns="0" bIns="0" rtlCol="0" anchor="t"/>
          <a:lstStyle/>
          <a:p>
            <a:pPr marL="0" indent="0" algn="ctr">
              <a:lnSpc>
                <a:spcPct val="95000"/>
              </a:lnSpc>
              <a:buNone/>
            </a:pPr>
            <a:r>
              <a:rPr lang="en-US" sz="5200" b="1">
                <a:solidFill>
                  <a:srgbClr val="FFFFFF"/>
                </a:solidFill>
                <a:latin typeface="Arial" pitchFamily="34" charset="0"/>
                <a:ea typeface="Arial" pitchFamily="34" charset="-122"/>
                <a:cs typeface="Arial" pitchFamily="34" charset="-120"/>
              </a:rPr>
              <a:t>AI that builds, checks and</a:t>
            </a:r>
            <a:endParaRPr lang="en-US" sz="5200"/>
          </a:p>
          <a:p>
            <a:pPr marL="0" indent="0" algn="ctr">
              <a:lnSpc>
                <a:spcPct val="95000"/>
              </a:lnSpc>
              <a:buNone/>
            </a:pPr>
            <a:r>
              <a:rPr lang="en-US" sz="5200" b="1">
                <a:solidFill>
                  <a:srgbClr val="FFFFFF"/>
                </a:solidFill>
                <a:latin typeface="Arial" pitchFamily="34" charset="0"/>
                <a:ea typeface="Arial" pitchFamily="34" charset="-122"/>
                <a:cs typeface="Arial" pitchFamily="34" charset="-120"/>
              </a:rPr>
              <a:t>repairs software models.</a:t>
            </a:r>
            <a:endParaRPr lang="en-US" sz="5200"/>
          </a:p>
        </p:txBody>
      </p:sp>
      <p:sp>
        <p:nvSpPr>
          <p:cNvPr id="7" name="Shape 4"/>
          <p:cNvSpPr/>
          <p:nvPr/>
        </p:nvSpPr>
        <p:spPr>
          <a:xfrm>
            <a:off x="790956" y="3611880"/>
            <a:ext cx="1060704" cy="457200"/>
          </a:xfrm>
          <a:prstGeom prst="roundRect">
            <a:avLst>
              <a:gd name="adj" fmla="val 50000"/>
            </a:avLst>
          </a:prstGeom>
          <a:solidFill>
            <a:srgbClr val="000000"/>
          </a:solidFill>
          <a:ln w="12700">
            <a:solidFill>
              <a:srgbClr val="2997FF"/>
            </a:solidFill>
            <a:prstDash val="solid"/>
          </a:ln>
        </p:spPr>
        <p:txBody>
          <a:bodyPr/>
          <a:lstStyle/>
          <a:p>
            <a:endParaRPr lang="en-US"/>
          </a:p>
        </p:txBody>
      </p:sp>
      <p:sp>
        <p:nvSpPr>
          <p:cNvPr id="8" name="Text 5"/>
          <p:cNvSpPr/>
          <p:nvPr/>
        </p:nvSpPr>
        <p:spPr>
          <a:xfrm>
            <a:off x="790956" y="3611880"/>
            <a:ext cx="1060704" cy="457200"/>
          </a:xfrm>
          <a:prstGeom prst="rect">
            <a:avLst/>
          </a:prstGeom>
          <a:noFill/>
          <a:ln/>
        </p:spPr>
        <p:txBody>
          <a:bodyPr wrap="square" lIns="0" tIns="0" rIns="0" bIns="0" rtlCol="0" anchor="ctr"/>
          <a:lstStyle/>
          <a:p>
            <a:pPr marL="0" indent="0" algn="ctr">
              <a:buNone/>
            </a:pPr>
            <a:r>
              <a:rPr lang="en-US" sz="1300" b="1">
                <a:solidFill>
                  <a:srgbClr val="2997FF"/>
                </a:solidFill>
                <a:latin typeface="Arial" pitchFamily="34" charset="0"/>
                <a:ea typeface="Arial" pitchFamily="34" charset="-122"/>
                <a:cs typeface="Arial" pitchFamily="34" charset="-120"/>
              </a:rPr>
              <a:t>generate</a:t>
            </a:r>
            <a:endParaRPr lang="en-US" sz="1300"/>
          </a:p>
        </p:txBody>
      </p:sp>
      <p:sp>
        <p:nvSpPr>
          <p:cNvPr id="9" name="Shape 6"/>
          <p:cNvSpPr/>
          <p:nvPr/>
        </p:nvSpPr>
        <p:spPr>
          <a:xfrm>
            <a:off x="1961388" y="3611880"/>
            <a:ext cx="1152144" cy="457200"/>
          </a:xfrm>
          <a:prstGeom prst="roundRect">
            <a:avLst>
              <a:gd name="adj" fmla="val 50000"/>
            </a:avLst>
          </a:prstGeom>
          <a:solidFill>
            <a:srgbClr val="000000"/>
          </a:solidFill>
          <a:ln w="12700">
            <a:solidFill>
              <a:srgbClr val="2997FF"/>
            </a:solidFill>
            <a:prstDash val="solid"/>
          </a:ln>
        </p:spPr>
        <p:txBody>
          <a:bodyPr/>
          <a:lstStyle/>
          <a:p>
            <a:endParaRPr lang="en-US"/>
          </a:p>
        </p:txBody>
      </p:sp>
      <p:sp>
        <p:nvSpPr>
          <p:cNvPr id="10" name="Text 7"/>
          <p:cNvSpPr/>
          <p:nvPr/>
        </p:nvSpPr>
        <p:spPr>
          <a:xfrm>
            <a:off x="1961388" y="3611880"/>
            <a:ext cx="1152144" cy="457200"/>
          </a:xfrm>
          <a:prstGeom prst="rect">
            <a:avLst/>
          </a:prstGeom>
          <a:noFill/>
          <a:ln/>
        </p:spPr>
        <p:txBody>
          <a:bodyPr wrap="square" lIns="0" tIns="0" rIns="0" bIns="0" rtlCol="0" anchor="ctr"/>
          <a:lstStyle/>
          <a:p>
            <a:pPr marL="0" indent="0" algn="ctr">
              <a:buNone/>
            </a:pPr>
            <a:r>
              <a:rPr lang="en-US" sz="1300" b="1">
                <a:solidFill>
                  <a:srgbClr val="2997FF"/>
                </a:solidFill>
                <a:latin typeface="Arial" pitchFamily="34" charset="0"/>
                <a:ea typeface="Arial" pitchFamily="34" charset="-122"/>
                <a:cs typeface="Arial" pitchFamily="34" charset="-120"/>
              </a:rPr>
              <a:t>interpret</a:t>
            </a:r>
            <a:endParaRPr lang="en-US" sz="1300"/>
          </a:p>
        </p:txBody>
      </p:sp>
      <p:sp>
        <p:nvSpPr>
          <p:cNvPr id="11" name="Shape 8"/>
          <p:cNvSpPr/>
          <p:nvPr/>
        </p:nvSpPr>
        <p:spPr>
          <a:xfrm>
            <a:off x="3223260" y="3611880"/>
            <a:ext cx="1060704" cy="457200"/>
          </a:xfrm>
          <a:prstGeom prst="roundRect">
            <a:avLst>
              <a:gd name="adj" fmla="val 50000"/>
            </a:avLst>
          </a:prstGeom>
          <a:solidFill>
            <a:srgbClr val="000000"/>
          </a:solidFill>
          <a:ln w="12700">
            <a:solidFill>
              <a:srgbClr val="64D2FF"/>
            </a:solidFill>
            <a:prstDash val="solid"/>
          </a:ln>
        </p:spPr>
        <p:txBody>
          <a:bodyPr/>
          <a:lstStyle/>
          <a:p>
            <a:endParaRPr lang="en-US"/>
          </a:p>
        </p:txBody>
      </p:sp>
      <p:sp>
        <p:nvSpPr>
          <p:cNvPr id="12" name="Text 9"/>
          <p:cNvSpPr/>
          <p:nvPr/>
        </p:nvSpPr>
        <p:spPr>
          <a:xfrm>
            <a:off x="3223260" y="3611880"/>
            <a:ext cx="1060704" cy="457200"/>
          </a:xfrm>
          <a:prstGeom prst="rect">
            <a:avLst/>
          </a:prstGeom>
          <a:noFill/>
          <a:ln/>
        </p:spPr>
        <p:txBody>
          <a:bodyPr wrap="square" lIns="0" tIns="0" rIns="0" bIns="0" rtlCol="0" anchor="ctr"/>
          <a:lstStyle/>
          <a:p>
            <a:pPr marL="0" indent="0" algn="ctr">
              <a:buNone/>
            </a:pPr>
            <a:r>
              <a:rPr lang="en-US" sz="1300" b="1">
                <a:solidFill>
                  <a:srgbClr val="64D2FF"/>
                </a:solidFill>
                <a:latin typeface="Arial" pitchFamily="34" charset="0"/>
                <a:ea typeface="Arial" pitchFamily="34" charset="-122"/>
                <a:cs typeface="Arial" pitchFamily="34" charset="-120"/>
              </a:rPr>
              <a:t>complete</a:t>
            </a:r>
            <a:endParaRPr lang="en-US" sz="1300"/>
          </a:p>
        </p:txBody>
      </p:sp>
      <p:sp>
        <p:nvSpPr>
          <p:cNvPr id="13" name="Shape 10"/>
          <p:cNvSpPr/>
          <p:nvPr/>
        </p:nvSpPr>
        <p:spPr>
          <a:xfrm>
            <a:off x="4393692" y="3611880"/>
            <a:ext cx="1152144" cy="457200"/>
          </a:xfrm>
          <a:prstGeom prst="roundRect">
            <a:avLst>
              <a:gd name="adj" fmla="val 50000"/>
            </a:avLst>
          </a:prstGeom>
          <a:solidFill>
            <a:srgbClr val="000000"/>
          </a:solidFill>
          <a:ln w="12700">
            <a:solidFill>
              <a:srgbClr val="BF5AF2"/>
            </a:solidFill>
            <a:prstDash val="solid"/>
          </a:ln>
        </p:spPr>
        <p:txBody>
          <a:bodyPr/>
          <a:lstStyle/>
          <a:p>
            <a:endParaRPr lang="en-US"/>
          </a:p>
        </p:txBody>
      </p:sp>
      <p:sp>
        <p:nvSpPr>
          <p:cNvPr id="14" name="Text 11"/>
          <p:cNvSpPr/>
          <p:nvPr/>
        </p:nvSpPr>
        <p:spPr>
          <a:xfrm>
            <a:off x="4393692" y="3611880"/>
            <a:ext cx="1152144" cy="457200"/>
          </a:xfrm>
          <a:prstGeom prst="rect">
            <a:avLst/>
          </a:prstGeom>
          <a:noFill/>
          <a:ln/>
        </p:spPr>
        <p:txBody>
          <a:bodyPr wrap="square" lIns="0" tIns="0" rIns="0" bIns="0" rtlCol="0" anchor="ctr"/>
          <a:lstStyle/>
          <a:p>
            <a:pPr marL="0" indent="0" algn="ctr">
              <a:buNone/>
            </a:pPr>
            <a:r>
              <a:rPr lang="en-US" sz="1300" b="1">
                <a:solidFill>
                  <a:srgbClr val="BF5AF2"/>
                </a:solidFill>
                <a:latin typeface="Arial" pitchFamily="34" charset="0"/>
                <a:ea typeface="Arial" pitchFamily="34" charset="-122"/>
                <a:cs typeface="Arial" pitchFamily="34" charset="-120"/>
              </a:rPr>
              <a:t>transform</a:t>
            </a:r>
            <a:endParaRPr lang="en-US" sz="1300"/>
          </a:p>
        </p:txBody>
      </p:sp>
      <p:sp>
        <p:nvSpPr>
          <p:cNvPr id="15" name="Shape 12"/>
          <p:cNvSpPr/>
          <p:nvPr/>
        </p:nvSpPr>
        <p:spPr>
          <a:xfrm>
            <a:off x="5655564" y="3611880"/>
            <a:ext cx="1060704" cy="457200"/>
          </a:xfrm>
          <a:prstGeom prst="roundRect">
            <a:avLst>
              <a:gd name="adj" fmla="val 50000"/>
            </a:avLst>
          </a:prstGeom>
          <a:solidFill>
            <a:srgbClr val="000000"/>
          </a:solidFill>
          <a:ln w="12700">
            <a:solidFill>
              <a:srgbClr val="BF5AF2"/>
            </a:solidFill>
            <a:prstDash val="solid"/>
          </a:ln>
        </p:spPr>
        <p:txBody>
          <a:bodyPr/>
          <a:lstStyle/>
          <a:p>
            <a:endParaRPr lang="en-US"/>
          </a:p>
        </p:txBody>
      </p:sp>
      <p:sp>
        <p:nvSpPr>
          <p:cNvPr id="16" name="Text 13"/>
          <p:cNvSpPr/>
          <p:nvPr/>
        </p:nvSpPr>
        <p:spPr>
          <a:xfrm>
            <a:off x="5655564" y="3611880"/>
            <a:ext cx="1060704" cy="457200"/>
          </a:xfrm>
          <a:prstGeom prst="rect">
            <a:avLst/>
          </a:prstGeom>
          <a:noFill/>
          <a:ln/>
        </p:spPr>
        <p:txBody>
          <a:bodyPr wrap="square" lIns="0" tIns="0" rIns="0" bIns="0" rtlCol="0" anchor="ctr"/>
          <a:lstStyle/>
          <a:p>
            <a:pPr marL="0" indent="0" algn="ctr">
              <a:buNone/>
            </a:pPr>
            <a:r>
              <a:rPr lang="en-US" sz="1300" b="1">
                <a:solidFill>
                  <a:srgbClr val="BF5AF2"/>
                </a:solidFill>
                <a:latin typeface="Arial" pitchFamily="34" charset="0"/>
                <a:ea typeface="Arial" pitchFamily="34" charset="-122"/>
                <a:cs typeface="Arial" pitchFamily="34" charset="-120"/>
              </a:rPr>
              <a:t>validate</a:t>
            </a:r>
            <a:endParaRPr lang="en-US" sz="1300"/>
          </a:p>
        </p:txBody>
      </p:sp>
      <p:sp>
        <p:nvSpPr>
          <p:cNvPr id="17" name="Shape 14"/>
          <p:cNvSpPr/>
          <p:nvPr/>
        </p:nvSpPr>
        <p:spPr>
          <a:xfrm>
            <a:off x="6825996" y="3611880"/>
            <a:ext cx="1060704" cy="457200"/>
          </a:xfrm>
          <a:prstGeom prst="roundRect">
            <a:avLst>
              <a:gd name="adj" fmla="val 50000"/>
            </a:avLst>
          </a:prstGeom>
          <a:solidFill>
            <a:srgbClr val="000000"/>
          </a:solidFill>
          <a:ln w="12700">
            <a:solidFill>
              <a:srgbClr val="FF375F"/>
            </a:solidFill>
            <a:prstDash val="solid"/>
          </a:ln>
        </p:spPr>
        <p:txBody>
          <a:bodyPr/>
          <a:lstStyle/>
          <a:p>
            <a:endParaRPr lang="en-US"/>
          </a:p>
        </p:txBody>
      </p:sp>
      <p:sp>
        <p:nvSpPr>
          <p:cNvPr id="18" name="Text 15"/>
          <p:cNvSpPr/>
          <p:nvPr/>
        </p:nvSpPr>
        <p:spPr>
          <a:xfrm>
            <a:off x="6825996" y="3611880"/>
            <a:ext cx="1060704" cy="457200"/>
          </a:xfrm>
          <a:prstGeom prst="rect">
            <a:avLst/>
          </a:prstGeom>
          <a:noFill/>
          <a:ln/>
        </p:spPr>
        <p:txBody>
          <a:bodyPr wrap="square" lIns="0" tIns="0" rIns="0" bIns="0" rtlCol="0" anchor="ctr"/>
          <a:lstStyle/>
          <a:p>
            <a:pPr marL="0" indent="0" algn="ctr">
              <a:buNone/>
            </a:pPr>
            <a:r>
              <a:rPr lang="en-US" sz="1300" b="1">
                <a:solidFill>
                  <a:srgbClr val="FF375F"/>
                </a:solidFill>
                <a:latin typeface="Arial" pitchFamily="34" charset="0"/>
                <a:ea typeface="Arial" pitchFamily="34" charset="-122"/>
                <a:cs typeface="Arial" pitchFamily="34" charset="-120"/>
              </a:rPr>
              <a:t>optimise</a:t>
            </a:r>
            <a:endParaRPr lang="en-US" sz="1300"/>
          </a:p>
        </p:txBody>
      </p:sp>
      <p:sp>
        <p:nvSpPr>
          <p:cNvPr id="19" name="Shape 16"/>
          <p:cNvSpPr/>
          <p:nvPr/>
        </p:nvSpPr>
        <p:spPr>
          <a:xfrm>
            <a:off x="7996428" y="3611880"/>
            <a:ext cx="1335024" cy="457200"/>
          </a:xfrm>
          <a:prstGeom prst="roundRect">
            <a:avLst>
              <a:gd name="adj" fmla="val 50000"/>
            </a:avLst>
          </a:prstGeom>
          <a:solidFill>
            <a:srgbClr val="000000"/>
          </a:solidFill>
          <a:ln w="12700">
            <a:solidFill>
              <a:srgbClr val="FF9F0A"/>
            </a:solidFill>
            <a:prstDash val="solid"/>
          </a:ln>
        </p:spPr>
        <p:txBody>
          <a:bodyPr/>
          <a:lstStyle/>
          <a:p>
            <a:endParaRPr lang="en-US"/>
          </a:p>
        </p:txBody>
      </p:sp>
      <p:sp>
        <p:nvSpPr>
          <p:cNvPr id="20" name="Text 17"/>
          <p:cNvSpPr/>
          <p:nvPr/>
        </p:nvSpPr>
        <p:spPr>
          <a:xfrm>
            <a:off x="7996428" y="3611880"/>
            <a:ext cx="1335024" cy="457200"/>
          </a:xfrm>
          <a:prstGeom prst="rect">
            <a:avLst/>
          </a:prstGeom>
          <a:noFill/>
          <a:ln/>
        </p:spPr>
        <p:txBody>
          <a:bodyPr wrap="square" lIns="0" tIns="0" rIns="0" bIns="0" rtlCol="0" anchor="ctr"/>
          <a:lstStyle/>
          <a:p>
            <a:pPr marL="0" indent="0" algn="ctr">
              <a:buNone/>
            </a:pPr>
            <a:r>
              <a:rPr lang="en-US" sz="1300" b="1">
                <a:solidFill>
                  <a:srgbClr val="FF9F0A"/>
                </a:solidFill>
                <a:latin typeface="Arial" pitchFamily="34" charset="0"/>
                <a:ea typeface="Arial" pitchFamily="34" charset="-122"/>
                <a:cs typeface="Arial" pitchFamily="34" charset="-120"/>
              </a:rPr>
              <a:t>synchronise</a:t>
            </a:r>
            <a:endParaRPr lang="en-US" sz="1300"/>
          </a:p>
        </p:txBody>
      </p:sp>
      <p:sp>
        <p:nvSpPr>
          <p:cNvPr id="21" name="Shape 18"/>
          <p:cNvSpPr/>
          <p:nvPr/>
        </p:nvSpPr>
        <p:spPr>
          <a:xfrm>
            <a:off x="9441180" y="3611880"/>
            <a:ext cx="969264" cy="457200"/>
          </a:xfrm>
          <a:prstGeom prst="roundRect">
            <a:avLst>
              <a:gd name="adj" fmla="val 50000"/>
            </a:avLst>
          </a:prstGeom>
          <a:solidFill>
            <a:srgbClr val="000000"/>
          </a:solidFill>
          <a:ln w="12700">
            <a:solidFill>
              <a:srgbClr val="FF9F0A"/>
            </a:solidFill>
            <a:prstDash val="solid"/>
          </a:ln>
        </p:spPr>
        <p:txBody>
          <a:bodyPr/>
          <a:lstStyle/>
          <a:p>
            <a:endParaRPr lang="en-US"/>
          </a:p>
        </p:txBody>
      </p:sp>
      <p:sp>
        <p:nvSpPr>
          <p:cNvPr id="22" name="Text 19"/>
          <p:cNvSpPr/>
          <p:nvPr/>
        </p:nvSpPr>
        <p:spPr>
          <a:xfrm>
            <a:off x="9441180" y="3611880"/>
            <a:ext cx="969264" cy="457200"/>
          </a:xfrm>
          <a:prstGeom prst="rect">
            <a:avLst/>
          </a:prstGeom>
          <a:noFill/>
          <a:ln/>
        </p:spPr>
        <p:txBody>
          <a:bodyPr wrap="square" lIns="0" tIns="0" rIns="0" bIns="0" rtlCol="0" anchor="ctr"/>
          <a:lstStyle/>
          <a:p>
            <a:pPr marL="0" indent="0" algn="ctr">
              <a:buNone/>
            </a:pPr>
            <a:r>
              <a:rPr lang="en-US" sz="1300" b="1">
                <a:solidFill>
                  <a:srgbClr val="FF9F0A"/>
                </a:solidFill>
                <a:latin typeface="Arial" pitchFamily="34" charset="0"/>
                <a:ea typeface="Arial" pitchFamily="34" charset="-122"/>
                <a:cs typeface="Arial" pitchFamily="34" charset="-120"/>
              </a:rPr>
              <a:t>explain</a:t>
            </a:r>
            <a:endParaRPr lang="en-US" sz="1300"/>
          </a:p>
        </p:txBody>
      </p:sp>
      <p:sp>
        <p:nvSpPr>
          <p:cNvPr id="23" name="Shape 20"/>
          <p:cNvSpPr/>
          <p:nvPr/>
        </p:nvSpPr>
        <p:spPr>
          <a:xfrm>
            <a:off x="10520172" y="3611880"/>
            <a:ext cx="877824" cy="457200"/>
          </a:xfrm>
          <a:prstGeom prst="roundRect">
            <a:avLst>
              <a:gd name="adj" fmla="val 50000"/>
            </a:avLst>
          </a:prstGeom>
          <a:solidFill>
            <a:srgbClr val="000000"/>
          </a:solidFill>
          <a:ln w="12700">
            <a:solidFill>
              <a:srgbClr val="30D158"/>
            </a:solidFill>
            <a:prstDash val="solid"/>
          </a:ln>
        </p:spPr>
        <p:txBody>
          <a:bodyPr/>
          <a:lstStyle/>
          <a:p>
            <a:endParaRPr lang="en-US"/>
          </a:p>
        </p:txBody>
      </p:sp>
      <p:sp>
        <p:nvSpPr>
          <p:cNvPr id="24" name="Text 21"/>
          <p:cNvSpPr/>
          <p:nvPr/>
        </p:nvSpPr>
        <p:spPr>
          <a:xfrm>
            <a:off x="10520172" y="3611880"/>
            <a:ext cx="877824" cy="457200"/>
          </a:xfrm>
          <a:prstGeom prst="rect">
            <a:avLst/>
          </a:prstGeom>
          <a:noFill/>
          <a:ln/>
        </p:spPr>
        <p:txBody>
          <a:bodyPr wrap="square" lIns="0" tIns="0" rIns="0" bIns="0" rtlCol="0" anchor="ctr"/>
          <a:lstStyle/>
          <a:p>
            <a:pPr marL="0" indent="0" algn="ctr">
              <a:buNone/>
            </a:pPr>
            <a:r>
              <a:rPr lang="en-US" sz="1300" b="1">
                <a:solidFill>
                  <a:srgbClr val="30D158"/>
                </a:solidFill>
                <a:latin typeface="Arial" pitchFamily="34" charset="0"/>
                <a:ea typeface="Arial" pitchFamily="34" charset="-122"/>
                <a:cs typeface="Arial" pitchFamily="34" charset="-120"/>
              </a:rPr>
              <a:t>evolve</a:t>
            </a:r>
            <a:endParaRPr lang="en-US" sz="1300"/>
          </a:p>
        </p:txBody>
      </p:sp>
      <p:sp>
        <p:nvSpPr>
          <p:cNvPr id="25" name="Text 22"/>
          <p:cNvSpPr/>
          <p:nvPr/>
        </p:nvSpPr>
        <p:spPr>
          <a:xfrm>
            <a:off x="1371600" y="4754880"/>
            <a:ext cx="9445752" cy="731520"/>
          </a:xfrm>
          <a:prstGeom prst="rect">
            <a:avLst/>
          </a:prstGeom>
          <a:noFill/>
          <a:ln/>
        </p:spPr>
        <p:txBody>
          <a:bodyPr wrap="square" lIns="0" tIns="0" rIns="0" bIns="0" rtlCol="0" anchor="t"/>
          <a:lstStyle/>
          <a:p>
            <a:pPr marL="0" indent="0" algn="ctr">
              <a:buNone/>
            </a:pPr>
            <a:r>
              <a:rPr lang="en-US" sz="1800">
                <a:solidFill>
                  <a:srgbClr val="A1A1A6"/>
                </a:solidFill>
                <a:latin typeface="Arial" pitchFamily="34" charset="0"/>
                <a:ea typeface="Arial" pitchFamily="34" charset="-122"/>
                <a:cs typeface="Arial" pitchFamily="34" charset="-120"/>
              </a:rPr>
              <a:t>Across all 12 stages of the model-engineering lifecycle, not only UML class-diagram generation.</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4</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Method</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3400" b="1">
                <a:solidFill>
                  <a:srgbClr val="1D1D1F"/>
                </a:solidFill>
                <a:latin typeface="Arial" pitchFamily="34" charset="0"/>
                <a:ea typeface="Arial" pitchFamily="34" charset="-122"/>
                <a:cs typeface="Arial" pitchFamily="34" charset="-120"/>
              </a:rPr>
              <a:t>Kitchenham guidance, PRISMA 2020 reporting.</a:t>
            </a:r>
            <a:endParaRPr lang="en-US" sz="3400"/>
          </a:p>
        </p:txBody>
      </p:sp>
      <p:sp>
        <p:nvSpPr>
          <p:cNvPr id="7" name="Shape 4"/>
          <p:cNvSpPr/>
          <p:nvPr/>
        </p:nvSpPr>
        <p:spPr>
          <a:xfrm>
            <a:off x="548640" y="21488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822960" y="2377440"/>
            <a:ext cx="3017520" cy="365760"/>
          </a:xfrm>
          <a:prstGeom prst="rect">
            <a:avLst/>
          </a:prstGeom>
          <a:noFill/>
          <a:ln/>
        </p:spPr>
        <p:txBody>
          <a:bodyPr wrap="square" lIns="0" tIns="0" rIns="0" bIns="0" rtlCol="0" anchor="t"/>
          <a:lstStyle/>
          <a:p>
            <a:pPr marL="0" indent="0" algn="l">
              <a:buNone/>
            </a:pPr>
            <a:r>
              <a:rPr lang="en-US" sz="1600" b="1">
                <a:solidFill>
                  <a:srgbClr val="0071E3"/>
                </a:solidFill>
                <a:latin typeface="Arial" pitchFamily="34" charset="0"/>
                <a:ea typeface="Arial" pitchFamily="34" charset="-122"/>
                <a:cs typeface="Arial" pitchFamily="34" charset="-120"/>
              </a:rPr>
              <a:t>Questions</a:t>
            </a:r>
            <a:endParaRPr lang="en-US" sz="1600"/>
          </a:p>
        </p:txBody>
      </p:sp>
      <p:sp>
        <p:nvSpPr>
          <p:cNvPr id="9" name="Text 6"/>
          <p:cNvSpPr/>
          <p:nvPr/>
        </p:nvSpPr>
        <p:spPr>
          <a:xfrm>
            <a:off x="822960" y="2788920"/>
            <a:ext cx="3063240" cy="1188720"/>
          </a:xfrm>
          <a:prstGeom prst="rect">
            <a:avLst/>
          </a:prstGeom>
          <a:noFill/>
          <a:ln/>
        </p:spPr>
        <p:txBody>
          <a:bodyPr wrap="square" lIns="0" tIns="0" rIns="0" bIns="0" rtlCol="0" anchor="t"/>
          <a:lstStyle/>
          <a:p>
            <a:pPr marL="0" indent="0" algn="l">
              <a:buNone/>
            </a:pPr>
            <a:r>
              <a:rPr lang="en-US" sz="1400">
                <a:solidFill>
                  <a:srgbClr val="1D1D1F"/>
                </a:solidFill>
                <a:latin typeface="Arial" pitchFamily="34" charset="0"/>
                <a:ea typeface="Arial" pitchFamily="34" charset="-122"/>
                <a:cs typeface="Arial" pitchFamily="34" charset="-120"/>
              </a:rPr>
              <a:t>16 research questions in 7 groups: landscape, lifecycle, intelligence, quality, transformation, trust and adoption, contribution</a:t>
            </a:r>
            <a:endParaRPr lang="en-US" sz="1400"/>
          </a:p>
        </p:txBody>
      </p:sp>
      <p:sp>
        <p:nvSpPr>
          <p:cNvPr id="10" name="Shape 7"/>
          <p:cNvSpPr/>
          <p:nvPr/>
        </p:nvSpPr>
        <p:spPr>
          <a:xfrm>
            <a:off x="4297680" y="21488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11" name="Text 8"/>
          <p:cNvSpPr/>
          <p:nvPr/>
        </p:nvSpPr>
        <p:spPr>
          <a:xfrm>
            <a:off x="4572000" y="2377440"/>
            <a:ext cx="3017520" cy="365760"/>
          </a:xfrm>
          <a:prstGeom prst="rect">
            <a:avLst/>
          </a:prstGeom>
          <a:noFill/>
          <a:ln/>
        </p:spPr>
        <p:txBody>
          <a:bodyPr wrap="square" lIns="0" tIns="0" rIns="0" bIns="0" rtlCol="0" anchor="t"/>
          <a:lstStyle/>
          <a:p>
            <a:pPr marL="0" indent="0" algn="l">
              <a:buNone/>
            </a:pPr>
            <a:r>
              <a:rPr lang="en-US" sz="1600" b="1">
                <a:solidFill>
                  <a:srgbClr val="BF5AF2"/>
                </a:solidFill>
                <a:latin typeface="Arial" pitchFamily="34" charset="0"/>
                <a:ea typeface="Arial" pitchFamily="34" charset="-122"/>
                <a:cs typeface="Arial" pitchFamily="34" charset="-120"/>
              </a:rPr>
              <a:t>Search</a:t>
            </a:r>
            <a:endParaRPr lang="en-US" sz="1600"/>
          </a:p>
        </p:txBody>
      </p:sp>
      <p:sp>
        <p:nvSpPr>
          <p:cNvPr id="12" name="Text 9"/>
          <p:cNvSpPr/>
          <p:nvPr/>
        </p:nvSpPr>
        <p:spPr>
          <a:xfrm>
            <a:off x="4572000" y="2788920"/>
            <a:ext cx="3063240" cy="1188720"/>
          </a:xfrm>
          <a:prstGeom prst="rect">
            <a:avLst/>
          </a:prstGeom>
          <a:noFill/>
          <a:ln/>
        </p:spPr>
        <p:txBody>
          <a:bodyPr wrap="square" lIns="0" tIns="0" rIns="0" bIns="0" rtlCol="0" anchor="t"/>
          <a:lstStyle/>
          <a:p>
            <a:pPr marL="0" indent="0" algn="l">
              <a:buNone/>
            </a:pPr>
            <a:r>
              <a:rPr lang="en-US" sz="1400">
                <a:solidFill>
                  <a:srgbClr val="1D1D1F"/>
                </a:solidFill>
                <a:latin typeface="Arial" pitchFamily="34" charset="0"/>
                <a:ea typeface="Arial" pitchFamily="34" charset="-122"/>
                <a:cs typeface="Arial" pitchFamily="34" charset="-120"/>
              </a:rPr>
              <a:t>6 databases, 15–18 March 2026, January 2015 onwards; AI technology AND modelling context AND task</a:t>
            </a:r>
            <a:endParaRPr lang="en-US" sz="1400"/>
          </a:p>
        </p:txBody>
      </p:sp>
      <p:sp>
        <p:nvSpPr>
          <p:cNvPr id="13" name="Shape 10"/>
          <p:cNvSpPr/>
          <p:nvPr/>
        </p:nvSpPr>
        <p:spPr>
          <a:xfrm>
            <a:off x="8046720" y="21488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14" name="Text 11"/>
          <p:cNvSpPr/>
          <p:nvPr/>
        </p:nvSpPr>
        <p:spPr>
          <a:xfrm>
            <a:off x="8321040" y="2377440"/>
            <a:ext cx="3017520" cy="365760"/>
          </a:xfrm>
          <a:prstGeom prst="rect">
            <a:avLst/>
          </a:prstGeom>
          <a:noFill/>
          <a:ln/>
        </p:spPr>
        <p:txBody>
          <a:bodyPr wrap="square" lIns="0" tIns="0" rIns="0" bIns="0" rtlCol="0" anchor="t"/>
          <a:lstStyle/>
          <a:p>
            <a:pPr marL="0" indent="0" algn="l">
              <a:buNone/>
            </a:pPr>
            <a:r>
              <a:rPr lang="en-US" sz="1600" b="1">
                <a:solidFill>
                  <a:srgbClr val="FF9F0A"/>
                </a:solidFill>
                <a:latin typeface="Arial" pitchFamily="34" charset="0"/>
                <a:ea typeface="Arial" pitchFamily="34" charset="-122"/>
                <a:cs typeface="Arial" pitchFamily="34" charset="-120"/>
              </a:rPr>
              <a:t>Eligibility</a:t>
            </a:r>
            <a:endParaRPr lang="en-US" sz="1600"/>
          </a:p>
        </p:txBody>
      </p:sp>
      <p:sp>
        <p:nvSpPr>
          <p:cNvPr id="15" name="Text 12"/>
          <p:cNvSpPr/>
          <p:nvPr/>
        </p:nvSpPr>
        <p:spPr>
          <a:xfrm>
            <a:off x="8321040" y="2788920"/>
            <a:ext cx="3063240" cy="1188720"/>
          </a:xfrm>
          <a:prstGeom prst="rect">
            <a:avLst/>
          </a:prstGeom>
          <a:noFill/>
          <a:ln/>
        </p:spPr>
        <p:txBody>
          <a:bodyPr wrap="square" lIns="0" tIns="0" rIns="0" bIns="0" rtlCol="0" anchor="t"/>
          <a:lstStyle/>
          <a:p>
            <a:pPr marL="0" indent="0" algn="l">
              <a:buNone/>
            </a:pPr>
            <a:r>
              <a:rPr lang="en-US" sz="1400">
                <a:solidFill>
                  <a:srgbClr val="1D1D1F"/>
                </a:solidFill>
                <a:latin typeface="Arial" pitchFamily="34" charset="0"/>
                <a:ea typeface="Arial" pitchFamily="34" charset="-122"/>
                <a:cs typeface="Arial" pitchFamily="34" charset="-120"/>
              </a:rPr>
              <a:t>IC1–IC5 and EC1–EC8: AI must act on a software model; code-only and MDE-for-ML studies excluded</a:t>
            </a:r>
            <a:endParaRPr lang="en-US" sz="1400"/>
          </a:p>
        </p:txBody>
      </p:sp>
      <p:sp>
        <p:nvSpPr>
          <p:cNvPr id="16" name="Shape 13"/>
          <p:cNvSpPr/>
          <p:nvPr/>
        </p:nvSpPr>
        <p:spPr>
          <a:xfrm>
            <a:off x="548640" y="42062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17" name="Text 14"/>
          <p:cNvSpPr/>
          <p:nvPr/>
        </p:nvSpPr>
        <p:spPr>
          <a:xfrm>
            <a:off x="822960" y="4434840"/>
            <a:ext cx="3017520" cy="365760"/>
          </a:xfrm>
          <a:prstGeom prst="rect">
            <a:avLst/>
          </a:prstGeom>
          <a:noFill/>
          <a:ln/>
        </p:spPr>
        <p:txBody>
          <a:bodyPr wrap="square" lIns="0" tIns="0" rIns="0" bIns="0" rtlCol="0" anchor="t"/>
          <a:lstStyle/>
          <a:p>
            <a:pPr marL="0" indent="0" algn="l">
              <a:buNone/>
            </a:pPr>
            <a:r>
              <a:rPr lang="en-US" sz="1600" b="1">
                <a:solidFill>
                  <a:srgbClr val="30D158"/>
                </a:solidFill>
                <a:latin typeface="Arial" pitchFamily="34" charset="0"/>
                <a:ea typeface="Arial" pitchFamily="34" charset="-122"/>
                <a:cs typeface="Arial" pitchFamily="34" charset="-120"/>
              </a:rPr>
              <a:t>Screening</a:t>
            </a:r>
            <a:endParaRPr lang="en-US" sz="1600"/>
          </a:p>
        </p:txBody>
      </p:sp>
      <p:sp>
        <p:nvSpPr>
          <p:cNvPr id="18" name="Text 15"/>
          <p:cNvSpPr/>
          <p:nvPr/>
        </p:nvSpPr>
        <p:spPr>
          <a:xfrm>
            <a:off x="822960" y="4846320"/>
            <a:ext cx="3063240" cy="1188720"/>
          </a:xfrm>
          <a:prstGeom prst="rect">
            <a:avLst/>
          </a:prstGeom>
          <a:noFill/>
          <a:ln/>
        </p:spPr>
        <p:txBody>
          <a:bodyPr wrap="square" lIns="0" tIns="0" rIns="0" bIns="0" rtlCol="0" anchor="t"/>
          <a:lstStyle/>
          <a:p>
            <a:pPr marL="0" indent="0" algn="l">
              <a:buNone/>
            </a:pPr>
            <a:r>
              <a:rPr lang="en-US" sz="1400">
                <a:solidFill>
                  <a:srgbClr val="1D1D1F"/>
                </a:solidFill>
                <a:latin typeface="Arial" pitchFamily="34" charset="0"/>
                <a:ea typeface="Arial" pitchFamily="34" charset="-122"/>
                <a:cs typeface="Arial" pitchFamily="34" charset="-120"/>
              </a:rPr>
              <a:t>Title and abstract, then a logged second screening with a reason for every exclusion; two reviewers on IEEE Xplore and SpringerLink</a:t>
            </a:r>
            <a:endParaRPr lang="en-US" sz="1400"/>
          </a:p>
        </p:txBody>
      </p:sp>
      <p:sp>
        <p:nvSpPr>
          <p:cNvPr id="19" name="Shape 16"/>
          <p:cNvSpPr/>
          <p:nvPr/>
        </p:nvSpPr>
        <p:spPr>
          <a:xfrm>
            <a:off x="4297680" y="42062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20" name="Text 17"/>
          <p:cNvSpPr/>
          <p:nvPr/>
        </p:nvSpPr>
        <p:spPr>
          <a:xfrm>
            <a:off x="4572000" y="4434840"/>
            <a:ext cx="3017520" cy="365760"/>
          </a:xfrm>
          <a:prstGeom prst="rect">
            <a:avLst/>
          </a:prstGeom>
          <a:noFill/>
          <a:ln/>
        </p:spPr>
        <p:txBody>
          <a:bodyPr wrap="square" lIns="0" tIns="0" rIns="0" bIns="0" rtlCol="0" anchor="t"/>
          <a:lstStyle/>
          <a:p>
            <a:pPr marL="0" indent="0" algn="l">
              <a:buNone/>
            </a:pPr>
            <a:r>
              <a:rPr lang="en-US" sz="1600" b="1">
                <a:solidFill>
                  <a:srgbClr val="FF375F"/>
                </a:solidFill>
                <a:latin typeface="Arial" pitchFamily="34" charset="0"/>
                <a:ea typeface="Arial" pitchFamily="34" charset="-122"/>
                <a:cs typeface="Arial" pitchFamily="34" charset="-120"/>
              </a:rPr>
              <a:t>Quality</a:t>
            </a:r>
            <a:endParaRPr lang="en-US" sz="1600"/>
          </a:p>
        </p:txBody>
      </p:sp>
      <p:sp>
        <p:nvSpPr>
          <p:cNvPr id="21" name="Text 18"/>
          <p:cNvSpPr/>
          <p:nvPr/>
        </p:nvSpPr>
        <p:spPr>
          <a:xfrm>
            <a:off x="4572000" y="4846320"/>
            <a:ext cx="3063240" cy="1188720"/>
          </a:xfrm>
          <a:prstGeom prst="rect">
            <a:avLst/>
          </a:prstGeom>
          <a:noFill/>
          <a:ln/>
        </p:spPr>
        <p:txBody>
          <a:bodyPr wrap="square" lIns="0" tIns="0" rIns="0" bIns="0" rtlCol="0" anchor="t"/>
          <a:lstStyle/>
          <a:p>
            <a:pPr marL="0" indent="0" algn="l">
              <a:buNone/>
            </a:pPr>
            <a:r>
              <a:rPr lang="en-US" sz="1400">
                <a:solidFill>
                  <a:srgbClr val="1D1D1F"/>
                </a:solidFill>
                <a:latin typeface="Arial" pitchFamily="34" charset="0"/>
                <a:ea typeface="Arial" pitchFamily="34" charset="-122"/>
                <a:cs typeface="Arial" pitchFamily="34" charset="-120"/>
              </a:rPr>
              <a:t>18 criteria scored 0, 0.5 or 1; high ≥ 75%, moderate 60–74%, developing &lt; 60%; used to weight evidence</a:t>
            </a:r>
            <a:endParaRPr lang="en-US" sz="1400"/>
          </a:p>
        </p:txBody>
      </p:sp>
      <p:sp>
        <p:nvSpPr>
          <p:cNvPr id="22" name="Shape 19"/>
          <p:cNvSpPr/>
          <p:nvPr/>
        </p:nvSpPr>
        <p:spPr>
          <a:xfrm>
            <a:off x="8046720" y="42062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23" name="Text 20"/>
          <p:cNvSpPr/>
          <p:nvPr/>
        </p:nvSpPr>
        <p:spPr>
          <a:xfrm>
            <a:off x="8321040" y="4434840"/>
            <a:ext cx="3017520" cy="365760"/>
          </a:xfrm>
          <a:prstGeom prst="rect">
            <a:avLst/>
          </a:prstGeom>
          <a:noFill/>
          <a:ln/>
        </p:spPr>
        <p:txBody>
          <a:bodyPr wrap="square" lIns="0" tIns="0" rIns="0" bIns="0" rtlCol="0" anchor="t"/>
          <a:lstStyle/>
          <a:p>
            <a:pPr marL="0" indent="0" algn="l">
              <a:buNone/>
            </a:pPr>
            <a:r>
              <a:rPr lang="en-US" sz="1600" b="1">
                <a:solidFill>
                  <a:srgbClr val="64D2FF"/>
                </a:solidFill>
                <a:latin typeface="Arial" pitchFamily="34" charset="0"/>
                <a:ea typeface="Arial" pitchFamily="34" charset="-122"/>
                <a:cs typeface="Arial" pitchFamily="34" charset="-120"/>
              </a:rPr>
              <a:t>Extraction</a:t>
            </a:r>
            <a:endParaRPr lang="en-US" sz="1600"/>
          </a:p>
        </p:txBody>
      </p:sp>
      <p:sp>
        <p:nvSpPr>
          <p:cNvPr id="24" name="Text 21"/>
          <p:cNvSpPr/>
          <p:nvPr/>
        </p:nvSpPr>
        <p:spPr>
          <a:xfrm>
            <a:off x="8321040" y="4846320"/>
            <a:ext cx="3063240" cy="1188720"/>
          </a:xfrm>
          <a:prstGeom prst="rect">
            <a:avLst/>
          </a:prstGeom>
          <a:noFill/>
          <a:ln/>
        </p:spPr>
        <p:txBody>
          <a:bodyPr wrap="square" lIns="0" tIns="0" rIns="0" bIns="0" rtlCol="0" anchor="t"/>
          <a:lstStyle/>
          <a:p>
            <a:pPr marL="0" indent="0" algn="l">
              <a:buNone/>
            </a:pPr>
            <a:r>
              <a:rPr lang="en-US" sz="1400">
                <a:solidFill>
                  <a:srgbClr val="1D1D1F"/>
                </a:solidFill>
                <a:latin typeface="Arial" pitchFamily="34" charset="0"/>
                <a:ea typeface="Arial" pitchFamily="34" charset="-122"/>
                <a:cs typeface="Arial" pitchFamily="34" charset="-120"/>
              </a:rPr>
              <a:t>29-field form; 14 studies by team members, 13 with AI assistance; coding in the master workbook</a:t>
            </a:r>
            <a:endParaRPr 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5</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Search</a:t>
            </a:r>
            <a:endParaRPr lang="en-US" sz="1600"/>
          </a:p>
        </p:txBody>
      </p:sp>
      <p:pic>
        <p:nvPicPr>
          <p:cNvPr id="6" name="Image 0" descr="img/h_7585.png"/>
          <p:cNvPicPr>
            <a:picLocks noChangeAspect="1"/>
          </p:cNvPicPr>
          <p:nvPr/>
        </p:nvPicPr>
        <p:blipFill>
          <a:blip r:embed="rId3"/>
          <a:stretch>
            <a:fillRect/>
          </a:stretch>
        </p:blipFill>
        <p:spPr>
          <a:xfrm>
            <a:off x="4090205" y="1188720"/>
            <a:ext cx="4008542" cy="1417320"/>
          </a:xfrm>
          <a:prstGeom prst="rect">
            <a:avLst/>
          </a:prstGeom>
        </p:spPr>
      </p:pic>
      <p:sp>
        <p:nvSpPr>
          <p:cNvPr id="7" name="Text 3"/>
          <p:cNvSpPr/>
          <p:nvPr/>
        </p:nvSpPr>
        <p:spPr>
          <a:xfrm>
            <a:off x="548640" y="2743200"/>
            <a:ext cx="11091672" cy="54864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records from six databases.</a:t>
            </a:r>
            <a:endParaRPr lang="en-US" sz="2600"/>
          </a:p>
        </p:txBody>
      </p:sp>
      <p:sp>
        <p:nvSpPr>
          <p:cNvPr id="8" name="Text 4"/>
          <p:cNvSpPr/>
          <p:nvPr/>
        </p:nvSpPr>
        <p:spPr>
          <a:xfrm>
            <a:off x="685800" y="3749040"/>
            <a:ext cx="1691640" cy="50292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3,093</a:t>
            </a:r>
            <a:endParaRPr lang="en-US" sz="2600"/>
          </a:p>
        </p:txBody>
      </p:sp>
      <p:sp>
        <p:nvSpPr>
          <p:cNvPr id="9" name="Text 5"/>
          <p:cNvSpPr/>
          <p:nvPr/>
        </p:nvSpPr>
        <p:spPr>
          <a:xfrm>
            <a:off x="685800" y="4251960"/>
            <a:ext cx="1691640" cy="32004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SpringerLink</a:t>
            </a:r>
            <a:endParaRPr lang="en-US" sz="1300"/>
          </a:p>
        </p:txBody>
      </p:sp>
      <p:sp>
        <p:nvSpPr>
          <p:cNvPr id="10" name="Text 6"/>
          <p:cNvSpPr/>
          <p:nvPr/>
        </p:nvSpPr>
        <p:spPr>
          <a:xfrm>
            <a:off x="2514600" y="3749040"/>
            <a:ext cx="1691640" cy="50292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2,034</a:t>
            </a:r>
            <a:endParaRPr lang="en-US" sz="2600"/>
          </a:p>
        </p:txBody>
      </p:sp>
      <p:sp>
        <p:nvSpPr>
          <p:cNvPr id="11" name="Text 7"/>
          <p:cNvSpPr/>
          <p:nvPr/>
        </p:nvSpPr>
        <p:spPr>
          <a:xfrm>
            <a:off x="2514600" y="4251960"/>
            <a:ext cx="1691640" cy="32004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ACM DL</a:t>
            </a:r>
            <a:endParaRPr lang="en-US" sz="1300"/>
          </a:p>
        </p:txBody>
      </p:sp>
      <p:sp>
        <p:nvSpPr>
          <p:cNvPr id="12" name="Text 8"/>
          <p:cNvSpPr/>
          <p:nvPr/>
        </p:nvSpPr>
        <p:spPr>
          <a:xfrm>
            <a:off x="4343400" y="3749040"/>
            <a:ext cx="1691640" cy="50292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1,907</a:t>
            </a:r>
            <a:endParaRPr lang="en-US" sz="2600"/>
          </a:p>
        </p:txBody>
      </p:sp>
      <p:sp>
        <p:nvSpPr>
          <p:cNvPr id="13" name="Text 9"/>
          <p:cNvSpPr/>
          <p:nvPr/>
        </p:nvSpPr>
        <p:spPr>
          <a:xfrm>
            <a:off x="4343400" y="4251960"/>
            <a:ext cx="1691640" cy="32004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ScienceDirect</a:t>
            </a:r>
            <a:endParaRPr lang="en-US" sz="1300"/>
          </a:p>
        </p:txBody>
      </p:sp>
      <p:sp>
        <p:nvSpPr>
          <p:cNvPr id="14" name="Text 10"/>
          <p:cNvSpPr/>
          <p:nvPr/>
        </p:nvSpPr>
        <p:spPr>
          <a:xfrm>
            <a:off x="6172200" y="3749040"/>
            <a:ext cx="1691640" cy="50292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318</a:t>
            </a:r>
            <a:endParaRPr lang="en-US" sz="2600"/>
          </a:p>
        </p:txBody>
      </p:sp>
      <p:sp>
        <p:nvSpPr>
          <p:cNvPr id="15" name="Text 11"/>
          <p:cNvSpPr/>
          <p:nvPr/>
        </p:nvSpPr>
        <p:spPr>
          <a:xfrm>
            <a:off x="6172200" y="4251960"/>
            <a:ext cx="1691640" cy="32004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IEEE Xplore</a:t>
            </a:r>
            <a:endParaRPr lang="en-US" sz="1300"/>
          </a:p>
        </p:txBody>
      </p:sp>
      <p:sp>
        <p:nvSpPr>
          <p:cNvPr id="16" name="Text 12"/>
          <p:cNvSpPr/>
          <p:nvPr/>
        </p:nvSpPr>
        <p:spPr>
          <a:xfrm>
            <a:off x="8001000" y="3749040"/>
            <a:ext cx="1691640" cy="50292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140</a:t>
            </a:r>
            <a:endParaRPr lang="en-US" sz="2600"/>
          </a:p>
        </p:txBody>
      </p:sp>
      <p:sp>
        <p:nvSpPr>
          <p:cNvPr id="17" name="Text 13"/>
          <p:cNvSpPr/>
          <p:nvPr/>
        </p:nvSpPr>
        <p:spPr>
          <a:xfrm>
            <a:off x="8001000" y="4251960"/>
            <a:ext cx="1691640" cy="32004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Scopus</a:t>
            </a:r>
            <a:endParaRPr lang="en-US" sz="1300"/>
          </a:p>
        </p:txBody>
      </p:sp>
      <p:sp>
        <p:nvSpPr>
          <p:cNvPr id="18" name="Text 14"/>
          <p:cNvSpPr/>
          <p:nvPr/>
        </p:nvSpPr>
        <p:spPr>
          <a:xfrm>
            <a:off x="9829800" y="3749040"/>
            <a:ext cx="1691640" cy="502920"/>
          </a:xfrm>
          <a:prstGeom prst="rect">
            <a:avLst/>
          </a:prstGeom>
          <a:noFill/>
          <a:ln/>
        </p:spPr>
        <p:txBody>
          <a:bodyPr wrap="square" lIns="0" tIns="0" rIns="0" bIns="0" rtlCol="0" anchor="t"/>
          <a:lstStyle/>
          <a:p>
            <a:pPr marL="0" indent="0" algn="ctr">
              <a:buNone/>
            </a:pPr>
            <a:r>
              <a:rPr lang="en-US" sz="2600" b="1">
                <a:solidFill>
                  <a:srgbClr val="FFFFFF"/>
                </a:solidFill>
                <a:latin typeface="Arial" pitchFamily="34" charset="0"/>
                <a:ea typeface="Arial" pitchFamily="34" charset="-122"/>
                <a:cs typeface="Arial" pitchFamily="34" charset="-120"/>
              </a:rPr>
              <a:t>93</a:t>
            </a:r>
            <a:endParaRPr lang="en-US" sz="2600"/>
          </a:p>
        </p:txBody>
      </p:sp>
      <p:sp>
        <p:nvSpPr>
          <p:cNvPr id="19" name="Text 15"/>
          <p:cNvSpPr/>
          <p:nvPr/>
        </p:nvSpPr>
        <p:spPr>
          <a:xfrm>
            <a:off x="9829800" y="4251960"/>
            <a:ext cx="1691640" cy="32004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Web of Science</a:t>
            </a:r>
            <a:endParaRPr lang="en-US" sz="1300"/>
          </a:p>
        </p:txBody>
      </p:sp>
      <p:sp>
        <p:nvSpPr>
          <p:cNvPr id="20" name="Text 16"/>
          <p:cNvSpPr/>
          <p:nvPr/>
        </p:nvSpPr>
        <p:spPr>
          <a:xfrm>
            <a:off x="548640" y="5257800"/>
            <a:ext cx="11091672" cy="457200"/>
          </a:xfrm>
          <a:prstGeom prst="rect">
            <a:avLst/>
          </a:prstGeom>
          <a:noFill/>
          <a:ln/>
        </p:spPr>
        <p:txBody>
          <a:bodyPr wrap="square" lIns="0" tIns="0" rIns="0" bIns="0" rtlCol="0" anchor="t"/>
          <a:lstStyle/>
          <a:p>
            <a:pPr marL="0" indent="0" algn="ctr">
              <a:buNone/>
            </a:pPr>
            <a:r>
              <a:rPr lang="en-US" sz="1500">
                <a:solidFill>
                  <a:srgbClr val="6E6E73"/>
                </a:solidFill>
                <a:latin typeface="Arial" pitchFamily="34" charset="0"/>
                <a:ea typeface="Arial" pitchFamily="34" charset="-122"/>
                <a:cs typeface="Arial" pitchFamily="34" charset="-120"/>
              </a:rPr>
              <a:t>AI technology  AND  MDE context  AND  modelling task.   Plus 4 studies found through other methods.</a:t>
            </a:r>
            <a:endParaRPr lang="en-US"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6</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PRISMA 2020</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From 7,585 records to 27 studies.</a:t>
            </a:r>
            <a:endParaRPr lang="en-US" sz="4400"/>
          </a:p>
        </p:txBody>
      </p:sp>
      <p:sp>
        <p:nvSpPr>
          <p:cNvPr id="7" name="Text 4"/>
          <p:cNvSpPr/>
          <p:nvPr/>
        </p:nvSpPr>
        <p:spPr>
          <a:xfrm>
            <a:off x="548640" y="2240280"/>
            <a:ext cx="2834640" cy="320040"/>
          </a:xfrm>
          <a:prstGeom prst="rect">
            <a:avLst/>
          </a:prstGeom>
          <a:noFill/>
          <a:ln/>
        </p:spPr>
        <p:txBody>
          <a:bodyPr wrap="square" lIns="0" tIns="0" rIns="0" bIns="0" rtlCol="0" anchor="t"/>
          <a:lstStyle/>
          <a:p>
            <a:pPr marL="0" indent="0" algn="r">
              <a:buNone/>
            </a:pPr>
            <a:r>
              <a:rPr lang="en-US" sz="1500" b="1">
                <a:solidFill>
                  <a:srgbClr val="1D1D1F"/>
                </a:solidFill>
                <a:latin typeface="Arial" pitchFamily="34" charset="0"/>
                <a:ea typeface="Arial" pitchFamily="34" charset="-122"/>
                <a:cs typeface="Arial" pitchFamily="34" charset="-120"/>
              </a:rPr>
              <a:t>Identified</a:t>
            </a:r>
            <a:endParaRPr lang="en-US" sz="1500"/>
          </a:p>
        </p:txBody>
      </p:sp>
      <p:sp>
        <p:nvSpPr>
          <p:cNvPr id="8" name="Text 5"/>
          <p:cNvSpPr/>
          <p:nvPr/>
        </p:nvSpPr>
        <p:spPr>
          <a:xfrm>
            <a:off x="548640" y="2560320"/>
            <a:ext cx="2834640" cy="274320"/>
          </a:xfrm>
          <a:prstGeom prst="rect">
            <a:avLst/>
          </a:prstGeom>
          <a:noFill/>
          <a:ln/>
        </p:spPr>
        <p:txBody>
          <a:bodyPr wrap="square" lIns="0" tIns="0" rIns="0" bIns="0" rtlCol="0" anchor="t"/>
          <a:lstStyle/>
          <a:p>
            <a:pPr marL="0" indent="0" algn="r">
              <a:buNone/>
            </a:pPr>
            <a:r>
              <a:rPr lang="en-US" sz="1200">
                <a:solidFill>
                  <a:srgbClr val="6E6E73"/>
                </a:solidFill>
                <a:latin typeface="Arial" pitchFamily="34" charset="0"/>
                <a:ea typeface="Arial" pitchFamily="34" charset="-122"/>
                <a:cs typeface="Arial" pitchFamily="34" charset="-120"/>
              </a:rPr>
              <a:t>6 databases</a:t>
            </a:r>
            <a:endParaRPr lang="en-US" sz="1200"/>
          </a:p>
        </p:txBody>
      </p:sp>
      <p:sp>
        <p:nvSpPr>
          <p:cNvPr id="9" name="Shape 6"/>
          <p:cNvSpPr/>
          <p:nvPr/>
        </p:nvSpPr>
        <p:spPr>
          <a:xfrm>
            <a:off x="3566160" y="2313432"/>
            <a:ext cx="7498080" cy="457200"/>
          </a:xfrm>
          <a:prstGeom prst="roundRect">
            <a:avLst>
              <a:gd name="adj" fmla="val 50000"/>
            </a:avLst>
          </a:prstGeom>
          <a:solidFill>
            <a:srgbClr val="0071E3"/>
          </a:solidFill>
          <a:ln w="12700">
            <a:solidFill>
              <a:srgbClr val="0071E3"/>
            </a:solidFill>
            <a:prstDash val="solid"/>
          </a:ln>
        </p:spPr>
        <p:txBody>
          <a:bodyPr/>
          <a:lstStyle/>
          <a:p>
            <a:endParaRPr lang="en-US"/>
          </a:p>
        </p:txBody>
      </p:sp>
      <p:sp>
        <p:nvSpPr>
          <p:cNvPr id="10" name="Text 7"/>
          <p:cNvSpPr/>
          <p:nvPr/>
        </p:nvSpPr>
        <p:spPr>
          <a:xfrm>
            <a:off x="11247120" y="2313432"/>
            <a:ext cx="1463040" cy="457200"/>
          </a:xfrm>
          <a:prstGeom prst="rect">
            <a:avLst/>
          </a:prstGeom>
          <a:noFill/>
          <a:ln/>
        </p:spPr>
        <p:txBody>
          <a:bodyPr wrap="square" lIns="0" tIns="0" rIns="0" bIns="0" rtlCol="0" anchor="ctr"/>
          <a:lstStyle/>
          <a:p>
            <a:pPr marL="0" indent="0" algn="l">
              <a:buNone/>
            </a:pPr>
            <a:r>
              <a:rPr lang="en-US" sz="2000" b="1">
                <a:solidFill>
                  <a:srgbClr val="1D1D1F"/>
                </a:solidFill>
                <a:latin typeface="Arial" pitchFamily="34" charset="0"/>
                <a:ea typeface="Arial" pitchFamily="34" charset="-122"/>
                <a:cs typeface="Arial" pitchFamily="34" charset="-120"/>
              </a:rPr>
              <a:t>7,585</a:t>
            </a:r>
            <a:endParaRPr lang="en-US" sz="2000"/>
          </a:p>
        </p:txBody>
      </p:sp>
      <p:sp>
        <p:nvSpPr>
          <p:cNvPr id="11" name="Text 8"/>
          <p:cNvSpPr/>
          <p:nvPr/>
        </p:nvSpPr>
        <p:spPr>
          <a:xfrm>
            <a:off x="548640" y="3008376"/>
            <a:ext cx="2834640" cy="320040"/>
          </a:xfrm>
          <a:prstGeom prst="rect">
            <a:avLst/>
          </a:prstGeom>
          <a:noFill/>
          <a:ln/>
        </p:spPr>
        <p:txBody>
          <a:bodyPr wrap="square" lIns="0" tIns="0" rIns="0" bIns="0" rtlCol="0" anchor="t"/>
          <a:lstStyle/>
          <a:p>
            <a:pPr marL="0" indent="0" algn="r">
              <a:buNone/>
            </a:pPr>
            <a:r>
              <a:rPr lang="en-US" sz="1500" b="1">
                <a:solidFill>
                  <a:srgbClr val="1D1D1F"/>
                </a:solidFill>
                <a:latin typeface="Arial" pitchFamily="34" charset="0"/>
                <a:ea typeface="Arial" pitchFamily="34" charset="-122"/>
                <a:cs typeface="Arial" pitchFamily="34" charset="-120"/>
              </a:rPr>
              <a:t>After title and abstract</a:t>
            </a:r>
            <a:endParaRPr lang="en-US" sz="1500"/>
          </a:p>
        </p:txBody>
      </p:sp>
      <p:sp>
        <p:nvSpPr>
          <p:cNvPr id="12" name="Text 9"/>
          <p:cNvSpPr/>
          <p:nvPr/>
        </p:nvSpPr>
        <p:spPr>
          <a:xfrm>
            <a:off x="548640" y="3328416"/>
            <a:ext cx="2834640" cy="274320"/>
          </a:xfrm>
          <a:prstGeom prst="rect">
            <a:avLst/>
          </a:prstGeom>
          <a:noFill/>
          <a:ln/>
        </p:spPr>
        <p:txBody>
          <a:bodyPr wrap="square" lIns="0" tIns="0" rIns="0" bIns="0" rtlCol="0" anchor="t"/>
          <a:lstStyle/>
          <a:p>
            <a:pPr marL="0" indent="0" algn="r">
              <a:buNone/>
            </a:pPr>
            <a:r>
              <a:rPr lang="en-US" sz="1200">
                <a:solidFill>
                  <a:srgbClr val="6E6E73"/>
                </a:solidFill>
                <a:latin typeface="Arial" pitchFamily="34" charset="0"/>
                <a:ea typeface="Arial" pitchFamily="34" charset="-122"/>
                <a:cs typeface="Arial" pitchFamily="34" charset="-120"/>
              </a:rPr>
              <a:t>6,053 excluded</a:t>
            </a:r>
            <a:endParaRPr lang="en-US" sz="1200"/>
          </a:p>
        </p:txBody>
      </p:sp>
      <p:sp>
        <p:nvSpPr>
          <p:cNvPr id="13" name="Shape 10"/>
          <p:cNvSpPr/>
          <p:nvPr/>
        </p:nvSpPr>
        <p:spPr>
          <a:xfrm>
            <a:off x="3566160" y="3081528"/>
            <a:ext cx="3369781" cy="457200"/>
          </a:xfrm>
          <a:prstGeom prst="roundRect">
            <a:avLst>
              <a:gd name="adj" fmla="val 50000"/>
            </a:avLst>
          </a:prstGeom>
          <a:solidFill>
            <a:srgbClr val="0071E3"/>
          </a:solidFill>
          <a:ln w="12700">
            <a:solidFill>
              <a:srgbClr val="0071E3"/>
            </a:solidFill>
            <a:prstDash val="solid"/>
          </a:ln>
        </p:spPr>
        <p:txBody>
          <a:bodyPr/>
          <a:lstStyle/>
          <a:p>
            <a:endParaRPr lang="en-US"/>
          </a:p>
        </p:txBody>
      </p:sp>
      <p:sp>
        <p:nvSpPr>
          <p:cNvPr id="14" name="Text 11"/>
          <p:cNvSpPr/>
          <p:nvPr/>
        </p:nvSpPr>
        <p:spPr>
          <a:xfrm>
            <a:off x="7118821" y="3081528"/>
            <a:ext cx="1463040" cy="457200"/>
          </a:xfrm>
          <a:prstGeom prst="rect">
            <a:avLst/>
          </a:prstGeom>
          <a:noFill/>
          <a:ln/>
        </p:spPr>
        <p:txBody>
          <a:bodyPr wrap="square" lIns="0" tIns="0" rIns="0" bIns="0" rtlCol="0" anchor="ctr"/>
          <a:lstStyle/>
          <a:p>
            <a:pPr marL="0" indent="0" algn="l">
              <a:buNone/>
            </a:pPr>
            <a:r>
              <a:rPr lang="en-US" sz="2000" b="1">
                <a:solidFill>
                  <a:srgbClr val="1D1D1F"/>
                </a:solidFill>
                <a:latin typeface="Arial" pitchFamily="34" charset="0"/>
                <a:ea typeface="Arial" pitchFamily="34" charset="-122"/>
                <a:cs typeface="Arial" pitchFamily="34" charset="-120"/>
              </a:rPr>
              <a:t>1,532</a:t>
            </a:r>
            <a:endParaRPr lang="en-US" sz="2000"/>
          </a:p>
        </p:txBody>
      </p:sp>
      <p:sp>
        <p:nvSpPr>
          <p:cNvPr id="15" name="Text 12"/>
          <p:cNvSpPr/>
          <p:nvPr/>
        </p:nvSpPr>
        <p:spPr>
          <a:xfrm>
            <a:off x="548640" y="3776472"/>
            <a:ext cx="2834640" cy="320040"/>
          </a:xfrm>
          <a:prstGeom prst="rect">
            <a:avLst/>
          </a:prstGeom>
          <a:noFill/>
          <a:ln/>
        </p:spPr>
        <p:txBody>
          <a:bodyPr wrap="square" lIns="0" tIns="0" rIns="0" bIns="0" rtlCol="0" anchor="t"/>
          <a:lstStyle/>
          <a:p>
            <a:pPr marL="0" indent="0" algn="r">
              <a:buNone/>
            </a:pPr>
            <a:r>
              <a:rPr lang="en-US" sz="1500" b="1">
                <a:solidFill>
                  <a:srgbClr val="1D1D1F"/>
                </a:solidFill>
                <a:latin typeface="Arial" pitchFamily="34" charset="0"/>
                <a:ea typeface="Arial" pitchFamily="34" charset="-122"/>
                <a:cs typeface="Arial" pitchFamily="34" charset="-120"/>
              </a:rPr>
              <a:t>Second screening</a:t>
            </a:r>
            <a:endParaRPr lang="en-US" sz="1500"/>
          </a:p>
        </p:txBody>
      </p:sp>
      <p:sp>
        <p:nvSpPr>
          <p:cNvPr id="16" name="Text 13"/>
          <p:cNvSpPr/>
          <p:nvPr/>
        </p:nvSpPr>
        <p:spPr>
          <a:xfrm>
            <a:off x="548640" y="4096512"/>
            <a:ext cx="2834640" cy="274320"/>
          </a:xfrm>
          <a:prstGeom prst="rect">
            <a:avLst/>
          </a:prstGeom>
          <a:noFill/>
          <a:ln/>
        </p:spPr>
        <p:txBody>
          <a:bodyPr wrap="square" lIns="0" tIns="0" rIns="0" bIns="0" rtlCol="0" anchor="t"/>
          <a:lstStyle/>
          <a:p>
            <a:pPr marL="0" indent="0" algn="r">
              <a:buNone/>
            </a:pPr>
            <a:r>
              <a:rPr lang="en-US" sz="1200">
                <a:solidFill>
                  <a:srgbClr val="6E6E73"/>
                </a:solidFill>
                <a:latin typeface="Arial" pitchFamily="34" charset="0"/>
                <a:ea typeface="Arial" pitchFamily="34" charset="-122"/>
                <a:cs typeface="Arial" pitchFamily="34" charset="-120"/>
              </a:rPr>
              <a:t>46 duplicates, 120 unlogged removed</a:t>
            </a:r>
            <a:endParaRPr lang="en-US" sz="1200"/>
          </a:p>
        </p:txBody>
      </p:sp>
      <p:sp>
        <p:nvSpPr>
          <p:cNvPr id="17" name="Shape 14"/>
          <p:cNvSpPr/>
          <p:nvPr/>
        </p:nvSpPr>
        <p:spPr>
          <a:xfrm>
            <a:off x="3566160" y="3849624"/>
            <a:ext cx="3181981" cy="457200"/>
          </a:xfrm>
          <a:prstGeom prst="roundRect">
            <a:avLst>
              <a:gd name="adj" fmla="val 50000"/>
            </a:avLst>
          </a:prstGeom>
          <a:solidFill>
            <a:srgbClr val="0071E3"/>
          </a:solidFill>
          <a:ln w="12700">
            <a:solidFill>
              <a:srgbClr val="0071E3"/>
            </a:solidFill>
            <a:prstDash val="solid"/>
          </a:ln>
        </p:spPr>
        <p:txBody>
          <a:bodyPr/>
          <a:lstStyle/>
          <a:p>
            <a:endParaRPr lang="en-US"/>
          </a:p>
        </p:txBody>
      </p:sp>
      <p:sp>
        <p:nvSpPr>
          <p:cNvPr id="18" name="Text 15"/>
          <p:cNvSpPr/>
          <p:nvPr/>
        </p:nvSpPr>
        <p:spPr>
          <a:xfrm>
            <a:off x="6931021" y="3849624"/>
            <a:ext cx="1463040" cy="457200"/>
          </a:xfrm>
          <a:prstGeom prst="rect">
            <a:avLst/>
          </a:prstGeom>
          <a:noFill/>
          <a:ln/>
        </p:spPr>
        <p:txBody>
          <a:bodyPr wrap="square" lIns="0" tIns="0" rIns="0" bIns="0" rtlCol="0" anchor="ctr"/>
          <a:lstStyle/>
          <a:p>
            <a:pPr marL="0" indent="0" algn="l">
              <a:buNone/>
            </a:pPr>
            <a:r>
              <a:rPr lang="en-US" sz="2000" b="1">
                <a:solidFill>
                  <a:srgbClr val="1D1D1F"/>
                </a:solidFill>
                <a:latin typeface="Arial" pitchFamily="34" charset="0"/>
                <a:ea typeface="Arial" pitchFamily="34" charset="-122"/>
                <a:cs typeface="Arial" pitchFamily="34" charset="-120"/>
              </a:rPr>
              <a:t>1,366</a:t>
            </a:r>
            <a:endParaRPr lang="en-US" sz="2000"/>
          </a:p>
        </p:txBody>
      </p:sp>
      <p:sp>
        <p:nvSpPr>
          <p:cNvPr id="19" name="Text 16"/>
          <p:cNvSpPr/>
          <p:nvPr/>
        </p:nvSpPr>
        <p:spPr>
          <a:xfrm>
            <a:off x="548640" y="4544568"/>
            <a:ext cx="2834640" cy="320040"/>
          </a:xfrm>
          <a:prstGeom prst="rect">
            <a:avLst/>
          </a:prstGeom>
          <a:noFill/>
          <a:ln/>
        </p:spPr>
        <p:txBody>
          <a:bodyPr wrap="square" lIns="0" tIns="0" rIns="0" bIns="0" rtlCol="0" anchor="t"/>
          <a:lstStyle/>
          <a:p>
            <a:pPr marL="0" indent="0" algn="r">
              <a:buNone/>
            </a:pPr>
            <a:r>
              <a:rPr lang="en-US" sz="1500" b="1">
                <a:solidFill>
                  <a:srgbClr val="1D1D1F"/>
                </a:solidFill>
                <a:latin typeface="Arial" pitchFamily="34" charset="0"/>
                <a:ea typeface="Arial" pitchFamily="34" charset="-122"/>
                <a:cs typeface="Arial" pitchFamily="34" charset="-120"/>
              </a:rPr>
              <a:t>Full text sought</a:t>
            </a:r>
            <a:endParaRPr lang="en-US" sz="1500"/>
          </a:p>
        </p:txBody>
      </p:sp>
      <p:sp>
        <p:nvSpPr>
          <p:cNvPr id="20" name="Text 17"/>
          <p:cNvSpPr/>
          <p:nvPr/>
        </p:nvSpPr>
        <p:spPr>
          <a:xfrm>
            <a:off x="548640" y="4864608"/>
            <a:ext cx="2834640" cy="274320"/>
          </a:xfrm>
          <a:prstGeom prst="rect">
            <a:avLst/>
          </a:prstGeom>
          <a:noFill/>
          <a:ln/>
        </p:spPr>
        <p:txBody>
          <a:bodyPr wrap="square" lIns="0" tIns="0" rIns="0" bIns="0" rtlCol="0" anchor="t"/>
          <a:lstStyle/>
          <a:p>
            <a:pPr marL="0" indent="0" algn="r">
              <a:buNone/>
            </a:pPr>
            <a:r>
              <a:rPr lang="en-US" sz="1200">
                <a:solidFill>
                  <a:srgbClr val="6E6E73"/>
                </a:solidFill>
                <a:latin typeface="Arial" pitchFamily="34" charset="0"/>
                <a:ea typeface="Arial" pitchFamily="34" charset="-122"/>
                <a:cs typeface="Arial" pitchFamily="34" charset="-120"/>
              </a:rPr>
              <a:t>1,117 excluded</a:t>
            </a:r>
            <a:endParaRPr lang="en-US" sz="1200"/>
          </a:p>
        </p:txBody>
      </p:sp>
      <p:sp>
        <p:nvSpPr>
          <p:cNvPr id="21" name="Shape 18"/>
          <p:cNvSpPr/>
          <p:nvPr/>
        </p:nvSpPr>
        <p:spPr>
          <a:xfrm>
            <a:off x="3566160" y="4617720"/>
            <a:ext cx="1358539" cy="457200"/>
          </a:xfrm>
          <a:prstGeom prst="roundRect">
            <a:avLst>
              <a:gd name="adj" fmla="val 50000"/>
            </a:avLst>
          </a:prstGeom>
          <a:solidFill>
            <a:srgbClr val="0071E3"/>
          </a:solidFill>
          <a:ln w="12700">
            <a:solidFill>
              <a:srgbClr val="0071E3"/>
            </a:solidFill>
            <a:prstDash val="solid"/>
          </a:ln>
        </p:spPr>
        <p:txBody>
          <a:bodyPr/>
          <a:lstStyle/>
          <a:p>
            <a:endParaRPr lang="en-US"/>
          </a:p>
        </p:txBody>
      </p:sp>
      <p:sp>
        <p:nvSpPr>
          <p:cNvPr id="22" name="Text 19"/>
          <p:cNvSpPr/>
          <p:nvPr/>
        </p:nvSpPr>
        <p:spPr>
          <a:xfrm>
            <a:off x="5107579" y="4617720"/>
            <a:ext cx="1463040" cy="457200"/>
          </a:xfrm>
          <a:prstGeom prst="rect">
            <a:avLst/>
          </a:prstGeom>
          <a:noFill/>
          <a:ln/>
        </p:spPr>
        <p:txBody>
          <a:bodyPr wrap="square" lIns="0" tIns="0" rIns="0" bIns="0" rtlCol="0" anchor="ctr"/>
          <a:lstStyle/>
          <a:p>
            <a:pPr marL="0" indent="0" algn="l">
              <a:buNone/>
            </a:pPr>
            <a:r>
              <a:rPr lang="en-US" sz="2000" b="1">
                <a:solidFill>
                  <a:srgbClr val="1D1D1F"/>
                </a:solidFill>
                <a:latin typeface="Arial" pitchFamily="34" charset="0"/>
                <a:ea typeface="Arial" pitchFamily="34" charset="-122"/>
                <a:cs typeface="Arial" pitchFamily="34" charset="-120"/>
              </a:rPr>
              <a:t>249</a:t>
            </a:r>
            <a:endParaRPr lang="en-US" sz="2000"/>
          </a:p>
        </p:txBody>
      </p:sp>
      <p:sp>
        <p:nvSpPr>
          <p:cNvPr id="23" name="Text 20"/>
          <p:cNvSpPr/>
          <p:nvPr/>
        </p:nvSpPr>
        <p:spPr>
          <a:xfrm>
            <a:off x="548640" y="5312664"/>
            <a:ext cx="2834640" cy="320040"/>
          </a:xfrm>
          <a:prstGeom prst="rect">
            <a:avLst/>
          </a:prstGeom>
          <a:noFill/>
          <a:ln/>
        </p:spPr>
        <p:txBody>
          <a:bodyPr wrap="square" lIns="0" tIns="0" rIns="0" bIns="0" rtlCol="0" anchor="t"/>
          <a:lstStyle/>
          <a:p>
            <a:pPr marL="0" indent="0" algn="r">
              <a:buNone/>
            </a:pPr>
            <a:r>
              <a:rPr lang="en-US" sz="1500" b="1">
                <a:solidFill>
                  <a:srgbClr val="1D1D1F"/>
                </a:solidFill>
                <a:latin typeface="Arial" pitchFamily="34" charset="0"/>
                <a:ea typeface="Arial" pitchFamily="34" charset="-122"/>
                <a:cs typeface="Arial" pitchFamily="34" charset="-120"/>
              </a:rPr>
              <a:t>Included</a:t>
            </a:r>
            <a:endParaRPr lang="en-US" sz="1500"/>
          </a:p>
        </p:txBody>
      </p:sp>
      <p:sp>
        <p:nvSpPr>
          <p:cNvPr id="24" name="Text 21"/>
          <p:cNvSpPr/>
          <p:nvPr/>
        </p:nvSpPr>
        <p:spPr>
          <a:xfrm>
            <a:off x="548640" y="5632704"/>
            <a:ext cx="2834640" cy="274320"/>
          </a:xfrm>
          <a:prstGeom prst="rect">
            <a:avLst/>
          </a:prstGeom>
          <a:noFill/>
          <a:ln/>
        </p:spPr>
        <p:txBody>
          <a:bodyPr wrap="square" lIns="0" tIns="0" rIns="0" bIns="0" rtlCol="0" anchor="t"/>
          <a:lstStyle/>
          <a:p>
            <a:pPr marL="0" indent="0" algn="r">
              <a:buNone/>
            </a:pPr>
            <a:r>
              <a:rPr lang="en-US" sz="1200">
                <a:solidFill>
                  <a:srgbClr val="6E6E73"/>
                </a:solidFill>
                <a:latin typeface="Arial" pitchFamily="34" charset="0"/>
                <a:ea typeface="Arial" pitchFamily="34" charset="-122"/>
                <a:cs typeface="Arial" pitchFamily="34" charset="-120"/>
              </a:rPr>
              <a:t>222 not retrieved · 4 excluded · 4 added</a:t>
            </a:r>
            <a:endParaRPr lang="en-US" sz="1200"/>
          </a:p>
        </p:txBody>
      </p:sp>
      <p:sp>
        <p:nvSpPr>
          <p:cNvPr id="25" name="Shape 22"/>
          <p:cNvSpPr/>
          <p:nvPr/>
        </p:nvSpPr>
        <p:spPr>
          <a:xfrm>
            <a:off x="3566160" y="5385816"/>
            <a:ext cx="447357" cy="457200"/>
          </a:xfrm>
          <a:prstGeom prst="roundRect">
            <a:avLst>
              <a:gd name="adj" fmla="val 51100"/>
            </a:avLst>
          </a:prstGeom>
          <a:solidFill>
            <a:srgbClr val="BF5AF2"/>
          </a:solidFill>
          <a:ln w="12700">
            <a:solidFill>
              <a:srgbClr val="BF5AF2"/>
            </a:solidFill>
            <a:prstDash val="solid"/>
          </a:ln>
        </p:spPr>
        <p:txBody>
          <a:bodyPr/>
          <a:lstStyle/>
          <a:p>
            <a:endParaRPr lang="en-US"/>
          </a:p>
        </p:txBody>
      </p:sp>
      <p:sp>
        <p:nvSpPr>
          <p:cNvPr id="26" name="Text 23"/>
          <p:cNvSpPr/>
          <p:nvPr/>
        </p:nvSpPr>
        <p:spPr>
          <a:xfrm>
            <a:off x="4196397" y="5385816"/>
            <a:ext cx="1463040" cy="457200"/>
          </a:xfrm>
          <a:prstGeom prst="rect">
            <a:avLst/>
          </a:prstGeom>
          <a:noFill/>
          <a:ln/>
        </p:spPr>
        <p:txBody>
          <a:bodyPr wrap="square" lIns="0" tIns="0" rIns="0" bIns="0" rtlCol="0" anchor="ctr"/>
          <a:lstStyle/>
          <a:p>
            <a:pPr marL="0" indent="0" algn="l">
              <a:buNone/>
            </a:pPr>
            <a:r>
              <a:rPr lang="en-US" sz="2000" b="1">
                <a:solidFill>
                  <a:srgbClr val="BF5AF2"/>
                </a:solidFill>
                <a:latin typeface="Arial" pitchFamily="34" charset="0"/>
                <a:ea typeface="Arial" pitchFamily="34" charset="-122"/>
                <a:cs typeface="Arial" pitchFamily="34" charset="-120"/>
              </a:rPr>
              <a:t>27</a:t>
            </a:r>
            <a:endParaRPr lang="en-US" sz="2000"/>
          </a:p>
        </p:txBody>
      </p:sp>
      <p:sp>
        <p:nvSpPr>
          <p:cNvPr id="27" name="Text 24"/>
          <p:cNvSpPr/>
          <p:nvPr/>
        </p:nvSpPr>
        <p:spPr>
          <a:xfrm>
            <a:off x="548640" y="5989320"/>
            <a:ext cx="11091672" cy="32004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Bar length scaled to the square root of records remaining. Source: PRISMA_Flow sheet.</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Phindile Ngozi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7</a:t>
            </a:r>
            <a:endParaRPr lang="en-US" sz="900"/>
          </a:p>
        </p:txBody>
      </p:sp>
      <p:sp>
        <p:nvSpPr>
          <p:cNvPr id="5" name="Text 2"/>
          <p:cNvSpPr/>
          <p:nvPr/>
        </p:nvSpPr>
        <p:spPr>
          <a:xfrm>
            <a:off x="548640" y="54864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The corpus</a:t>
            </a:r>
            <a:endParaRPr lang="en-US" sz="1600"/>
          </a:p>
        </p:txBody>
      </p:sp>
      <p:sp>
        <p:nvSpPr>
          <p:cNvPr id="6" name="Text 3"/>
          <p:cNvSpPr/>
          <p:nvPr/>
        </p:nvSpPr>
        <p:spPr>
          <a:xfrm>
            <a:off x="548640" y="914400"/>
            <a:ext cx="11091672" cy="822960"/>
          </a:xfrm>
          <a:prstGeom prst="rect">
            <a:avLst/>
          </a:prstGeom>
          <a:noFill/>
          <a:ln/>
        </p:spPr>
        <p:txBody>
          <a:bodyPr wrap="square" lIns="0" tIns="0" rIns="0" bIns="0" rtlCol="0" anchor="t"/>
          <a:lstStyle/>
          <a:p>
            <a:pPr marL="0" indent="0" algn="ctr">
              <a:buNone/>
            </a:pPr>
            <a:r>
              <a:rPr lang="en-US" sz="4400" b="1">
                <a:solidFill>
                  <a:srgbClr val="FFFFFF"/>
                </a:solidFill>
                <a:latin typeface="Arial" pitchFamily="34" charset="0"/>
                <a:ea typeface="Arial" pitchFamily="34" charset="-122"/>
                <a:cs typeface="Arial" pitchFamily="34" charset="-120"/>
              </a:rPr>
              <a:t>A young field.</a:t>
            </a:r>
            <a:endParaRPr lang="en-US" sz="4400"/>
          </a:p>
        </p:txBody>
      </p:sp>
      <p:sp>
        <p:nvSpPr>
          <p:cNvPr id="7" name="Shape 4"/>
          <p:cNvSpPr/>
          <p:nvPr/>
        </p:nvSpPr>
        <p:spPr>
          <a:xfrm>
            <a:off x="548640" y="1920240"/>
            <a:ext cx="5486400" cy="4297680"/>
          </a:xfrm>
          <a:prstGeom prst="roundRect">
            <a:avLst>
              <a:gd name="adj" fmla="val 4681"/>
            </a:avLst>
          </a:prstGeom>
          <a:solidFill>
            <a:srgbClr val="1C1C1E"/>
          </a:solidFill>
          <a:ln w="12700">
            <a:solidFill>
              <a:srgbClr val="1C1C1E"/>
            </a:solidFill>
            <a:prstDash val="solid"/>
          </a:ln>
        </p:spPr>
        <p:txBody>
          <a:bodyPr/>
          <a:lstStyle/>
          <a:p>
            <a:endParaRPr lang="en-US"/>
          </a:p>
        </p:txBody>
      </p:sp>
      <p:sp>
        <p:nvSpPr>
          <p:cNvPr id="8" name="Text 5"/>
          <p:cNvSpPr/>
          <p:nvPr/>
        </p:nvSpPr>
        <p:spPr>
          <a:xfrm>
            <a:off x="868680" y="2148840"/>
            <a:ext cx="2743200" cy="1188720"/>
          </a:xfrm>
          <a:prstGeom prst="rect">
            <a:avLst/>
          </a:prstGeom>
          <a:noFill/>
          <a:ln/>
        </p:spPr>
        <p:txBody>
          <a:bodyPr wrap="square" lIns="0" tIns="0" rIns="0" bIns="0" rtlCol="0" anchor="t"/>
          <a:lstStyle/>
          <a:p>
            <a:pPr marL="0" indent="0" algn="l">
              <a:buNone/>
            </a:pPr>
            <a:r>
              <a:rPr lang="en-US" sz="9000" b="1">
                <a:solidFill>
                  <a:srgbClr val="30D158"/>
                </a:solidFill>
                <a:latin typeface="Arial" pitchFamily="34" charset="0"/>
                <a:ea typeface="Arial" pitchFamily="34" charset="-122"/>
                <a:cs typeface="Arial" pitchFamily="34" charset="-120"/>
              </a:rPr>
              <a:t>14</a:t>
            </a:r>
            <a:endParaRPr lang="en-US" sz="9000"/>
          </a:p>
        </p:txBody>
      </p:sp>
      <p:sp>
        <p:nvSpPr>
          <p:cNvPr id="9" name="Text 6"/>
          <p:cNvSpPr/>
          <p:nvPr/>
        </p:nvSpPr>
        <p:spPr>
          <a:xfrm>
            <a:off x="868680" y="3383280"/>
            <a:ext cx="4846320" cy="411480"/>
          </a:xfrm>
          <a:prstGeom prst="rect">
            <a:avLst/>
          </a:prstGeom>
          <a:noFill/>
          <a:ln/>
        </p:spPr>
        <p:txBody>
          <a:bodyPr wrap="square" lIns="0" tIns="0" rIns="0" bIns="0" rtlCol="0" anchor="t"/>
          <a:lstStyle/>
          <a:p>
            <a:pPr marL="0" indent="0" algn="l">
              <a:buNone/>
            </a:pPr>
            <a:r>
              <a:rPr lang="en-US" sz="1800" b="1">
                <a:solidFill>
                  <a:srgbClr val="FFFFFF"/>
                </a:solidFill>
                <a:latin typeface="Arial" pitchFamily="34" charset="0"/>
                <a:ea typeface="Arial" pitchFamily="34" charset="-122"/>
                <a:cs typeface="Arial" pitchFamily="34" charset="-120"/>
              </a:rPr>
              <a:t>of 27 studies were published in 2026.</a:t>
            </a:r>
            <a:endParaRPr lang="en-US" sz="1800"/>
          </a:p>
        </p:txBody>
      </p:sp>
      <p:sp>
        <p:nvSpPr>
          <p:cNvPr id="10" name="Shape 7"/>
          <p:cNvSpPr/>
          <p:nvPr/>
        </p:nvSpPr>
        <p:spPr>
          <a:xfrm>
            <a:off x="868680" y="5512526"/>
            <a:ext cx="502920" cy="111034"/>
          </a:xfrm>
          <a:prstGeom prst="roundRect">
            <a:avLst>
              <a:gd name="adj" fmla="val 65883"/>
            </a:avLst>
          </a:prstGeom>
          <a:solidFill>
            <a:srgbClr val="3A3A3C"/>
          </a:solidFill>
          <a:ln w="12700">
            <a:solidFill>
              <a:srgbClr val="3A3A3C"/>
            </a:solidFill>
            <a:prstDash val="solid"/>
          </a:ln>
        </p:spPr>
        <p:txBody>
          <a:bodyPr/>
          <a:lstStyle/>
          <a:p>
            <a:endParaRPr lang="en-US"/>
          </a:p>
        </p:txBody>
      </p:sp>
      <p:sp>
        <p:nvSpPr>
          <p:cNvPr id="11" name="Text 8"/>
          <p:cNvSpPr/>
          <p:nvPr/>
        </p:nvSpPr>
        <p:spPr>
          <a:xfrm>
            <a:off x="731520" y="5669280"/>
            <a:ext cx="777240" cy="274320"/>
          </a:xfrm>
          <a:prstGeom prst="rect">
            <a:avLst/>
          </a:prstGeom>
          <a:noFill/>
          <a:ln/>
        </p:spPr>
        <p:txBody>
          <a:bodyPr wrap="square" lIns="0" tIns="0" rIns="0" bIns="0" rtlCol="0" anchor="t"/>
          <a:lstStyle/>
          <a:p>
            <a:pPr marL="0" indent="0" algn="ctr">
              <a:buNone/>
            </a:pPr>
            <a:r>
              <a:rPr lang="en-US" sz="1100">
                <a:solidFill>
                  <a:srgbClr val="A1A1A6"/>
                </a:solidFill>
                <a:latin typeface="Arial" pitchFamily="34" charset="0"/>
                <a:ea typeface="Arial" pitchFamily="34" charset="-122"/>
                <a:cs typeface="Arial" pitchFamily="34" charset="-120"/>
              </a:rPr>
              <a:t>2015</a:t>
            </a:r>
            <a:endParaRPr lang="en-US" sz="1100"/>
          </a:p>
        </p:txBody>
      </p:sp>
      <p:sp>
        <p:nvSpPr>
          <p:cNvPr id="12" name="Shape 9"/>
          <p:cNvSpPr/>
          <p:nvPr/>
        </p:nvSpPr>
        <p:spPr>
          <a:xfrm>
            <a:off x="1691640" y="5401491"/>
            <a:ext cx="502920" cy="222069"/>
          </a:xfrm>
          <a:prstGeom prst="roundRect">
            <a:avLst>
              <a:gd name="adj" fmla="val 32941"/>
            </a:avLst>
          </a:prstGeom>
          <a:solidFill>
            <a:srgbClr val="3A3A3C"/>
          </a:solidFill>
          <a:ln w="12700">
            <a:solidFill>
              <a:srgbClr val="3A3A3C"/>
            </a:solidFill>
            <a:prstDash val="solid"/>
          </a:ln>
        </p:spPr>
        <p:txBody>
          <a:bodyPr/>
          <a:lstStyle/>
          <a:p>
            <a:endParaRPr lang="en-US"/>
          </a:p>
        </p:txBody>
      </p:sp>
      <p:sp>
        <p:nvSpPr>
          <p:cNvPr id="13" name="Text 10"/>
          <p:cNvSpPr/>
          <p:nvPr/>
        </p:nvSpPr>
        <p:spPr>
          <a:xfrm>
            <a:off x="1554480" y="5669280"/>
            <a:ext cx="777240" cy="274320"/>
          </a:xfrm>
          <a:prstGeom prst="rect">
            <a:avLst/>
          </a:prstGeom>
          <a:noFill/>
          <a:ln/>
        </p:spPr>
        <p:txBody>
          <a:bodyPr wrap="square" lIns="0" tIns="0" rIns="0" bIns="0" rtlCol="0" anchor="t"/>
          <a:lstStyle/>
          <a:p>
            <a:pPr marL="0" indent="0" algn="ctr">
              <a:buNone/>
            </a:pPr>
            <a:r>
              <a:rPr lang="en-US" sz="1100">
                <a:solidFill>
                  <a:srgbClr val="A1A1A6"/>
                </a:solidFill>
                <a:latin typeface="Arial" pitchFamily="34" charset="0"/>
                <a:ea typeface="Arial" pitchFamily="34" charset="-122"/>
                <a:cs typeface="Arial" pitchFamily="34" charset="-120"/>
              </a:rPr>
              <a:t>2021</a:t>
            </a:r>
            <a:endParaRPr lang="en-US" sz="1100"/>
          </a:p>
        </p:txBody>
      </p:sp>
      <p:sp>
        <p:nvSpPr>
          <p:cNvPr id="14" name="Shape 11"/>
          <p:cNvSpPr/>
          <p:nvPr/>
        </p:nvSpPr>
        <p:spPr>
          <a:xfrm>
            <a:off x="2514600" y="5512526"/>
            <a:ext cx="502920" cy="111034"/>
          </a:xfrm>
          <a:prstGeom prst="roundRect">
            <a:avLst>
              <a:gd name="adj" fmla="val 65883"/>
            </a:avLst>
          </a:prstGeom>
          <a:solidFill>
            <a:srgbClr val="3A3A3C"/>
          </a:solidFill>
          <a:ln w="12700">
            <a:solidFill>
              <a:srgbClr val="3A3A3C"/>
            </a:solidFill>
            <a:prstDash val="solid"/>
          </a:ln>
        </p:spPr>
        <p:txBody>
          <a:bodyPr/>
          <a:lstStyle/>
          <a:p>
            <a:endParaRPr lang="en-US"/>
          </a:p>
        </p:txBody>
      </p:sp>
      <p:sp>
        <p:nvSpPr>
          <p:cNvPr id="15" name="Text 12"/>
          <p:cNvSpPr/>
          <p:nvPr/>
        </p:nvSpPr>
        <p:spPr>
          <a:xfrm>
            <a:off x="2377440" y="5669280"/>
            <a:ext cx="777240" cy="274320"/>
          </a:xfrm>
          <a:prstGeom prst="rect">
            <a:avLst/>
          </a:prstGeom>
          <a:noFill/>
          <a:ln/>
        </p:spPr>
        <p:txBody>
          <a:bodyPr wrap="square" lIns="0" tIns="0" rIns="0" bIns="0" rtlCol="0" anchor="t"/>
          <a:lstStyle/>
          <a:p>
            <a:pPr marL="0" indent="0" algn="ctr">
              <a:buNone/>
            </a:pPr>
            <a:r>
              <a:rPr lang="en-US" sz="1100">
                <a:solidFill>
                  <a:srgbClr val="A1A1A6"/>
                </a:solidFill>
                <a:latin typeface="Arial" pitchFamily="34" charset="0"/>
                <a:ea typeface="Arial" pitchFamily="34" charset="-122"/>
                <a:cs typeface="Arial" pitchFamily="34" charset="-120"/>
              </a:rPr>
              <a:t>2023</a:t>
            </a:r>
            <a:endParaRPr lang="en-US" sz="1100"/>
          </a:p>
        </p:txBody>
      </p:sp>
      <p:sp>
        <p:nvSpPr>
          <p:cNvPr id="16" name="Shape 13"/>
          <p:cNvSpPr/>
          <p:nvPr/>
        </p:nvSpPr>
        <p:spPr>
          <a:xfrm>
            <a:off x="3337560" y="5179423"/>
            <a:ext cx="502920" cy="444137"/>
          </a:xfrm>
          <a:prstGeom prst="roundRect">
            <a:avLst>
              <a:gd name="adj" fmla="val 16471"/>
            </a:avLst>
          </a:prstGeom>
          <a:solidFill>
            <a:srgbClr val="3A3A3C"/>
          </a:solidFill>
          <a:ln w="12700">
            <a:solidFill>
              <a:srgbClr val="3A3A3C"/>
            </a:solidFill>
            <a:prstDash val="solid"/>
          </a:ln>
        </p:spPr>
        <p:txBody>
          <a:bodyPr/>
          <a:lstStyle/>
          <a:p>
            <a:endParaRPr lang="en-US"/>
          </a:p>
        </p:txBody>
      </p:sp>
      <p:sp>
        <p:nvSpPr>
          <p:cNvPr id="17" name="Text 14"/>
          <p:cNvSpPr/>
          <p:nvPr/>
        </p:nvSpPr>
        <p:spPr>
          <a:xfrm>
            <a:off x="3200400" y="5669280"/>
            <a:ext cx="777240" cy="274320"/>
          </a:xfrm>
          <a:prstGeom prst="rect">
            <a:avLst/>
          </a:prstGeom>
          <a:noFill/>
          <a:ln/>
        </p:spPr>
        <p:txBody>
          <a:bodyPr wrap="square" lIns="0" tIns="0" rIns="0" bIns="0" rtlCol="0" anchor="t"/>
          <a:lstStyle/>
          <a:p>
            <a:pPr marL="0" indent="0" algn="ctr">
              <a:buNone/>
            </a:pPr>
            <a:r>
              <a:rPr lang="en-US" sz="1100">
                <a:solidFill>
                  <a:srgbClr val="A1A1A6"/>
                </a:solidFill>
                <a:latin typeface="Arial" pitchFamily="34" charset="0"/>
                <a:ea typeface="Arial" pitchFamily="34" charset="-122"/>
                <a:cs typeface="Arial" pitchFamily="34" charset="-120"/>
              </a:rPr>
              <a:t>2024</a:t>
            </a:r>
            <a:endParaRPr lang="en-US" sz="1100"/>
          </a:p>
        </p:txBody>
      </p:sp>
      <p:sp>
        <p:nvSpPr>
          <p:cNvPr id="18" name="Shape 15"/>
          <p:cNvSpPr/>
          <p:nvPr/>
        </p:nvSpPr>
        <p:spPr>
          <a:xfrm>
            <a:off x="4160520" y="5068389"/>
            <a:ext cx="502920" cy="555171"/>
          </a:xfrm>
          <a:prstGeom prst="roundRect">
            <a:avLst>
              <a:gd name="adj" fmla="val 14545"/>
            </a:avLst>
          </a:prstGeom>
          <a:solidFill>
            <a:srgbClr val="3A3A3C"/>
          </a:solidFill>
          <a:ln w="12700">
            <a:solidFill>
              <a:srgbClr val="3A3A3C"/>
            </a:solidFill>
            <a:prstDash val="solid"/>
          </a:ln>
        </p:spPr>
        <p:txBody>
          <a:bodyPr/>
          <a:lstStyle/>
          <a:p>
            <a:endParaRPr lang="en-US"/>
          </a:p>
        </p:txBody>
      </p:sp>
      <p:sp>
        <p:nvSpPr>
          <p:cNvPr id="19" name="Text 16"/>
          <p:cNvSpPr/>
          <p:nvPr/>
        </p:nvSpPr>
        <p:spPr>
          <a:xfrm>
            <a:off x="4023360" y="5669280"/>
            <a:ext cx="777240" cy="274320"/>
          </a:xfrm>
          <a:prstGeom prst="rect">
            <a:avLst/>
          </a:prstGeom>
          <a:noFill/>
          <a:ln/>
        </p:spPr>
        <p:txBody>
          <a:bodyPr wrap="square" lIns="0" tIns="0" rIns="0" bIns="0" rtlCol="0" anchor="t"/>
          <a:lstStyle/>
          <a:p>
            <a:pPr marL="0" indent="0" algn="ctr">
              <a:buNone/>
            </a:pPr>
            <a:r>
              <a:rPr lang="en-US" sz="1100">
                <a:solidFill>
                  <a:srgbClr val="A1A1A6"/>
                </a:solidFill>
                <a:latin typeface="Arial" pitchFamily="34" charset="0"/>
                <a:ea typeface="Arial" pitchFamily="34" charset="-122"/>
                <a:cs typeface="Arial" pitchFamily="34" charset="-120"/>
              </a:rPr>
              <a:t>2025</a:t>
            </a:r>
            <a:endParaRPr lang="en-US" sz="1100"/>
          </a:p>
        </p:txBody>
      </p:sp>
      <p:sp>
        <p:nvSpPr>
          <p:cNvPr id="20" name="Shape 17"/>
          <p:cNvSpPr/>
          <p:nvPr/>
        </p:nvSpPr>
        <p:spPr>
          <a:xfrm>
            <a:off x="4983480" y="4069080"/>
            <a:ext cx="502920" cy="1554480"/>
          </a:xfrm>
          <a:prstGeom prst="roundRect">
            <a:avLst>
              <a:gd name="adj" fmla="val 14545"/>
            </a:avLst>
          </a:prstGeom>
          <a:solidFill>
            <a:srgbClr val="30D158"/>
          </a:solidFill>
          <a:ln w="12700">
            <a:solidFill>
              <a:srgbClr val="30D158"/>
            </a:solidFill>
            <a:prstDash val="solid"/>
          </a:ln>
        </p:spPr>
        <p:txBody>
          <a:bodyPr/>
          <a:lstStyle/>
          <a:p>
            <a:endParaRPr lang="en-US"/>
          </a:p>
        </p:txBody>
      </p:sp>
      <p:sp>
        <p:nvSpPr>
          <p:cNvPr id="21" name="Text 18"/>
          <p:cNvSpPr/>
          <p:nvPr/>
        </p:nvSpPr>
        <p:spPr>
          <a:xfrm>
            <a:off x="4846320" y="5669280"/>
            <a:ext cx="777240" cy="274320"/>
          </a:xfrm>
          <a:prstGeom prst="rect">
            <a:avLst/>
          </a:prstGeom>
          <a:noFill/>
          <a:ln/>
        </p:spPr>
        <p:txBody>
          <a:bodyPr wrap="square" lIns="0" tIns="0" rIns="0" bIns="0" rtlCol="0" anchor="t"/>
          <a:lstStyle/>
          <a:p>
            <a:pPr marL="0" indent="0" algn="ctr">
              <a:buNone/>
            </a:pPr>
            <a:r>
              <a:rPr lang="en-US" sz="1100">
                <a:solidFill>
                  <a:srgbClr val="A1A1A6"/>
                </a:solidFill>
                <a:latin typeface="Arial" pitchFamily="34" charset="0"/>
                <a:ea typeface="Arial" pitchFamily="34" charset="-122"/>
                <a:cs typeface="Arial" pitchFamily="34" charset="-120"/>
              </a:rPr>
              <a:t>2026</a:t>
            </a:r>
            <a:endParaRPr lang="en-US" sz="1100"/>
          </a:p>
        </p:txBody>
      </p:sp>
      <p:sp>
        <p:nvSpPr>
          <p:cNvPr id="22" name="Shape 19"/>
          <p:cNvSpPr/>
          <p:nvPr/>
        </p:nvSpPr>
        <p:spPr>
          <a:xfrm>
            <a:off x="6217920" y="1920240"/>
            <a:ext cx="2651760" cy="2057400"/>
          </a:xfrm>
          <a:prstGeom prst="roundRect">
            <a:avLst>
              <a:gd name="adj" fmla="val 9778"/>
            </a:avLst>
          </a:prstGeom>
          <a:solidFill>
            <a:srgbClr val="1C1C1E"/>
          </a:solidFill>
          <a:ln w="12700">
            <a:solidFill>
              <a:srgbClr val="1C1C1E"/>
            </a:solidFill>
            <a:prstDash val="solid"/>
          </a:ln>
        </p:spPr>
        <p:txBody>
          <a:bodyPr/>
          <a:lstStyle/>
          <a:p>
            <a:endParaRPr lang="en-US"/>
          </a:p>
        </p:txBody>
      </p:sp>
      <p:sp>
        <p:nvSpPr>
          <p:cNvPr id="23" name="Text 20"/>
          <p:cNvSpPr/>
          <p:nvPr/>
        </p:nvSpPr>
        <p:spPr>
          <a:xfrm>
            <a:off x="6492240" y="2103120"/>
            <a:ext cx="2194560" cy="822960"/>
          </a:xfrm>
          <a:prstGeom prst="rect">
            <a:avLst/>
          </a:prstGeom>
          <a:noFill/>
          <a:ln/>
        </p:spPr>
        <p:txBody>
          <a:bodyPr wrap="square" lIns="0" tIns="0" rIns="0" bIns="0" rtlCol="0" anchor="t"/>
          <a:lstStyle/>
          <a:p>
            <a:pPr marL="0" indent="0" algn="l">
              <a:buNone/>
            </a:pPr>
            <a:r>
              <a:rPr lang="en-US" sz="5400" b="1">
                <a:solidFill>
                  <a:srgbClr val="2997FF"/>
                </a:solidFill>
                <a:latin typeface="Arial" pitchFamily="34" charset="0"/>
                <a:ea typeface="Arial" pitchFamily="34" charset="-122"/>
                <a:cs typeface="Arial" pitchFamily="34" charset="-120"/>
              </a:rPr>
              <a:t>18</a:t>
            </a:r>
            <a:endParaRPr lang="en-US" sz="5400"/>
          </a:p>
        </p:txBody>
      </p:sp>
      <p:sp>
        <p:nvSpPr>
          <p:cNvPr id="24" name="Text 21"/>
          <p:cNvSpPr/>
          <p:nvPr/>
        </p:nvSpPr>
        <p:spPr>
          <a:xfrm>
            <a:off x="6492240" y="2971800"/>
            <a:ext cx="2194560" cy="731520"/>
          </a:xfrm>
          <a:prstGeom prst="rect">
            <a:avLst/>
          </a:prstGeom>
          <a:noFill/>
          <a:ln/>
        </p:spPr>
        <p:txBody>
          <a:bodyPr wrap="square" lIns="0" tIns="0" rIns="0" bIns="0" rtlCol="0" anchor="t"/>
          <a:lstStyle/>
          <a:p>
            <a:pPr marL="0" indent="0" algn="l">
              <a:buNone/>
            </a:pPr>
            <a:r>
              <a:rPr lang="en-US" sz="1400">
                <a:solidFill>
                  <a:srgbClr val="A1A1A6"/>
                </a:solidFill>
                <a:latin typeface="Arial" pitchFamily="34" charset="0"/>
                <a:ea typeface="Arial" pitchFamily="34" charset="-122"/>
                <a:cs typeface="Arial" pitchFamily="34" charset="-120"/>
              </a:rPr>
              <a:t>propose a tool or framework</a:t>
            </a:r>
            <a:endParaRPr lang="en-US" sz="1400"/>
          </a:p>
        </p:txBody>
      </p:sp>
      <p:sp>
        <p:nvSpPr>
          <p:cNvPr id="25" name="Shape 22"/>
          <p:cNvSpPr/>
          <p:nvPr/>
        </p:nvSpPr>
        <p:spPr>
          <a:xfrm>
            <a:off x="9052560" y="1920240"/>
            <a:ext cx="2587752" cy="2057400"/>
          </a:xfrm>
          <a:prstGeom prst="roundRect">
            <a:avLst>
              <a:gd name="adj" fmla="val 9778"/>
            </a:avLst>
          </a:prstGeom>
          <a:solidFill>
            <a:srgbClr val="1C1C1E"/>
          </a:solidFill>
          <a:ln w="12700">
            <a:solidFill>
              <a:srgbClr val="1C1C1E"/>
            </a:solidFill>
            <a:prstDash val="solid"/>
          </a:ln>
        </p:spPr>
        <p:txBody>
          <a:bodyPr/>
          <a:lstStyle/>
          <a:p>
            <a:endParaRPr lang="en-US"/>
          </a:p>
        </p:txBody>
      </p:sp>
      <p:sp>
        <p:nvSpPr>
          <p:cNvPr id="26" name="Text 23"/>
          <p:cNvSpPr/>
          <p:nvPr/>
        </p:nvSpPr>
        <p:spPr>
          <a:xfrm>
            <a:off x="9326880" y="2103120"/>
            <a:ext cx="2103120" cy="822960"/>
          </a:xfrm>
          <a:prstGeom prst="rect">
            <a:avLst/>
          </a:prstGeom>
          <a:noFill/>
          <a:ln/>
        </p:spPr>
        <p:txBody>
          <a:bodyPr wrap="square" lIns="0" tIns="0" rIns="0" bIns="0" rtlCol="0" anchor="t"/>
          <a:lstStyle/>
          <a:p>
            <a:pPr marL="0" indent="0" algn="l">
              <a:buNone/>
            </a:pPr>
            <a:r>
              <a:rPr lang="en-US" sz="5400" b="1">
                <a:solidFill>
                  <a:srgbClr val="FF9F0A"/>
                </a:solidFill>
                <a:latin typeface="Arial" pitchFamily="34" charset="0"/>
                <a:ea typeface="Arial" pitchFamily="34" charset="-122"/>
                <a:cs typeface="Arial" pitchFamily="34" charset="-120"/>
              </a:rPr>
              <a:t>8</a:t>
            </a:r>
            <a:endParaRPr lang="en-US" sz="5400"/>
          </a:p>
        </p:txBody>
      </p:sp>
      <p:sp>
        <p:nvSpPr>
          <p:cNvPr id="27" name="Text 24"/>
          <p:cNvSpPr/>
          <p:nvPr/>
        </p:nvSpPr>
        <p:spPr>
          <a:xfrm>
            <a:off x="9326880" y="2971800"/>
            <a:ext cx="2103120" cy="731520"/>
          </a:xfrm>
          <a:prstGeom prst="rect">
            <a:avLst/>
          </a:prstGeom>
          <a:noFill/>
          <a:ln/>
        </p:spPr>
        <p:txBody>
          <a:bodyPr wrap="square" lIns="0" tIns="0" rIns="0" bIns="0" rtlCol="0" anchor="t"/>
          <a:lstStyle/>
          <a:p>
            <a:pPr marL="0" indent="0" algn="l">
              <a:buNone/>
            </a:pPr>
            <a:r>
              <a:rPr lang="en-US" sz="1400">
                <a:solidFill>
                  <a:srgbClr val="A1A1A6"/>
                </a:solidFill>
                <a:latin typeface="Arial" pitchFamily="34" charset="0"/>
                <a:ea typeface="Arial" pitchFamily="34" charset="-122"/>
                <a:cs typeface="Arial" pitchFamily="34" charset="-120"/>
              </a:rPr>
              <a:t>are empirical evaluations or benchmarks</a:t>
            </a:r>
            <a:endParaRPr lang="en-US" sz="1400"/>
          </a:p>
        </p:txBody>
      </p:sp>
      <p:sp>
        <p:nvSpPr>
          <p:cNvPr id="28" name="Shape 25"/>
          <p:cNvSpPr/>
          <p:nvPr/>
        </p:nvSpPr>
        <p:spPr>
          <a:xfrm>
            <a:off x="6217920" y="4160520"/>
            <a:ext cx="2651760" cy="2057400"/>
          </a:xfrm>
          <a:prstGeom prst="roundRect">
            <a:avLst>
              <a:gd name="adj" fmla="val 9778"/>
            </a:avLst>
          </a:prstGeom>
          <a:solidFill>
            <a:srgbClr val="1C1C1E"/>
          </a:solidFill>
          <a:ln w="12700">
            <a:solidFill>
              <a:srgbClr val="1C1C1E"/>
            </a:solidFill>
            <a:prstDash val="solid"/>
          </a:ln>
        </p:spPr>
        <p:txBody>
          <a:bodyPr/>
          <a:lstStyle/>
          <a:p>
            <a:endParaRPr lang="en-US"/>
          </a:p>
        </p:txBody>
      </p:sp>
      <p:sp>
        <p:nvSpPr>
          <p:cNvPr id="29" name="Text 26"/>
          <p:cNvSpPr/>
          <p:nvPr/>
        </p:nvSpPr>
        <p:spPr>
          <a:xfrm>
            <a:off x="6492240" y="4343400"/>
            <a:ext cx="2194560" cy="822960"/>
          </a:xfrm>
          <a:prstGeom prst="rect">
            <a:avLst/>
          </a:prstGeom>
          <a:noFill/>
          <a:ln/>
        </p:spPr>
        <p:txBody>
          <a:bodyPr wrap="square" lIns="0" tIns="0" rIns="0" bIns="0" rtlCol="0" anchor="t"/>
          <a:lstStyle/>
          <a:p>
            <a:pPr marL="0" indent="0" algn="l">
              <a:buNone/>
            </a:pPr>
            <a:r>
              <a:rPr lang="en-US" sz="5400" b="1">
                <a:solidFill>
                  <a:srgbClr val="BF5AF2"/>
                </a:solidFill>
                <a:latin typeface="Arial" pitchFamily="34" charset="0"/>
                <a:ea typeface="Arial" pitchFamily="34" charset="-122"/>
                <a:cs typeface="Arial" pitchFamily="34" charset="-120"/>
              </a:rPr>
              <a:t>9</a:t>
            </a:r>
            <a:endParaRPr lang="en-US" sz="5400"/>
          </a:p>
        </p:txBody>
      </p:sp>
      <p:sp>
        <p:nvSpPr>
          <p:cNvPr id="30" name="Text 27"/>
          <p:cNvSpPr/>
          <p:nvPr/>
        </p:nvSpPr>
        <p:spPr>
          <a:xfrm>
            <a:off x="6492240" y="5212080"/>
            <a:ext cx="2194560" cy="731520"/>
          </a:xfrm>
          <a:prstGeom prst="rect">
            <a:avLst/>
          </a:prstGeom>
          <a:noFill/>
          <a:ln/>
        </p:spPr>
        <p:txBody>
          <a:bodyPr wrap="square" lIns="0" tIns="0" rIns="0" bIns="0" rtlCol="0" anchor="t"/>
          <a:lstStyle/>
          <a:p>
            <a:pPr marL="0" indent="0" algn="l">
              <a:buNone/>
            </a:pPr>
            <a:r>
              <a:rPr lang="en-US" sz="1400">
                <a:solidFill>
                  <a:srgbClr val="A1A1A6"/>
                </a:solidFill>
                <a:latin typeface="Arial" pitchFamily="34" charset="0"/>
                <a:ea typeface="Arial" pitchFamily="34" charset="-122"/>
                <a:cs typeface="Arial" pitchFamily="34" charset="-120"/>
              </a:rPr>
              <a:t>from ScienceDirect, the largest source</a:t>
            </a:r>
            <a:endParaRPr lang="en-US" sz="1400"/>
          </a:p>
        </p:txBody>
      </p:sp>
      <p:sp>
        <p:nvSpPr>
          <p:cNvPr id="31" name="Shape 28"/>
          <p:cNvSpPr/>
          <p:nvPr/>
        </p:nvSpPr>
        <p:spPr>
          <a:xfrm>
            <a:off x="9052560" y="4160520"/>
            <a:ext cx="2587752" cy="2057400"/>
          </a:xfrm>
          <a:prstGeom prst="roundRect">
            <a:avLst>
              <a:gd name="adj" fmla="val 9778"/>
            </a:avLst>
          </a:prstGeom>
          <a:solidFill>
            <a:srgbClr val="1C1C1E"/>
          </a:solidFill>
          <a:ln w="12700">
            <a:solidFill>
              <a:srgbClr val="1C1C1E"/>
            </a:solidFill>
            <a:prstDash val="solid"/>
          </a:ln>
        </p:spPr>
        <p:txBody>
          <a:bodyPr/>
          <a:lstStyle/>
          <a:p>
            <a:endParaRPr lang="en-US"/>
          </a:p>
        </p:txBody>
      </p:sp>
      <p:sp>
        <p:nvSpPr>
          <p:cNvPr id="32" name="Text 29"/>
          <p:cNvSpPr/>
          <p:nvPr/>
        </p:nvSpPr>
        <p:spPr>
          <a:xfrm>
            <a:off x="9326880" y="4343400"/>
            <a:ext cx="2103120" cy="822960"/>
          </a:xfrm>
          <a:prstGeom prst="rect">
            <a:avLst/>
          </a:prstGeom>
          <a:noFill/>
          <a:ln/>
        </p:spPr>
        <p:txBody>
          <a:bodyPr wrap="square" lIns="0" tIns="0" rIns="0" bIns="0" rtlCol="0" anchor="t"/>
          <a:lstStyle/>
          <a:p>
            <a:pPr marL="0" indent="0" algn="l">
              <a:buNone/>
            </a:pPr>
            <a:r>
              <a:rPr lang="en-US" sz="5400" b="1">
                <a:solidFill>
                  <a:srgbClr val="FF375F"/>
                </a:solidFill>
                <a:latin typeface="Arial" pitchFamily="34" charset="0"/>
                <a:ea typeface="Arial" pitchFamily="34" charset="-122"/>
                <a:cs typeface="Arial" pitchFamily="34" charset="-120"/>
              </a:rPr>
              <a:t>3</a:t>
            </a:r>
            <a:endParaRPr lang="en-US" sz="5400"/>
          </a:p>
        </p:txBody>
      </p:sp>
      <p:sp>
        <p:nvSpPr>
          <p:cNvPr id="33" name="Text 30"/>
          <p:cNvSpPr/>
          <p:nvPr/>
        </p:nvSpPr>
        <p:spPr>
          <a:xfrm>
            <a:off x="9326880" y="5212080"/>
            <a:ext cx="2103120" cy="731520"/>
          </a:xfrm>
          <a:prstGeom prst="rect">
            <a:avLst/>
          </a:prstGeom>
          <a:noFill/>
          <a:ln/>
        </p:spPr>
        <p:txBody>
          <a:bodyPr wrap="square" lIns="0" tIns="0" rIns="0" bIns="0" rtlCol="0" anchor="t"/>
          <a:lstStyle/>
          <a:p>
            <a:pPr marL="0" indent="0" algn="l">
              <a:buNone/>
            </a:pPr>
            <a:r>
              <a:rPr lang="en-US" sz="1400">
                <a:solidFill>
                  <a:srgbClr val="A1A1A6"/>
                </a:solidFill>
                <a:latin typeface="Arial" pitchFamily="34" charset="0"/>
                <a:ea typeface="Arial" pitchFamily="34" charset="-122"/>
                <a:cs typeface="Arial" pitchFamily="34" charset="-120"/>
              </a:rPr>
              <a:t>in safety-critical or embedded systems</a:t>
            </a:r>
            <a:endParaRPr lang="en-US" sz="1400"/>
          </a:p>
        </p:txBody>
      </p:sp>
    </p:spTree>
  </p:cSld>
  <p:clrMapOvr>
    <a:masterClrMapping/>
  </p:clrMapOvr>
  <mc:AlternateContent xmlns:mc="http://schemas.openxmlformats.org/markup-compatibility/2006" xmlns:p14="http://schemas.microsoft.com/office/powerpoint/2010/main">
    <mc:Choice Requires="p14">
      <p:transition spd="slow" p14:dur="2000" advTm="31205"/>
    </mc:Choice>
    <mc:Fallback xmlns="">
      <p:transition spd="slow" advTm="3120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Phindile Ngozi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8</a:t>
            </a:r>
            <a:endParaRPr lang="en-US" sz="900"/>
          </a:p>
        </p:txBody>
      </p:sp>
      <p:sp>
        <p:nvSpPr>
          <p:cNvPr id="5" name="Text 2"/>
          <p:cNvSpPr/>
          <p:nvPr/>
        </p:nvSpPr>
        <p:spPr>
          <a:xfrm>
            <a:off x="548640" y="82296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AI technologies</a:t>
            </a:r>
            <a:endParaRPr lang="en-US" sz="1600"/>
          </a:p>
        </p:txBody>
      </p:sp>
      <p:pic>
        <p:nvPicPr>
          <p:cNvPr id="6" name="Image 0" descr="img/h_852.png"/>
          <p:cNvPicPr>
            <a:picLocks noChangeAspect="1"/>
          </p:cNvPicPr>
          <p:nvPr/>
        </p:nvPicPr>
        <p:blipFill>
          <a:blip r:embed="rId3"/>
          <a:stretch>
            <a:fillRect/>
          </a:stretch>
        </p:blipFill>
        <p:spPr>
          <a:xfrm>
            <a:off x="3308423" y="1371600"/>
            <a:ext cx="5572106" cy="1463040"/>
          </a:xfrm>
          <a:prstGeom prst="rect">
            <a:avLst/>
          </a:prstGeom>
        </p:spPr>
      </p:pic>
      <p:sp>
        <p:nvSpPr>
          <p:cNvPr id="7" name="Text 3"/>
          <p:cNvSpPr/>
          <p:nvPr/>
        </p:nvSpPr>
        <p:spPr>
          <a:xfrm>
            <a:off x="548640" y="3017520"/>
            <a:ext cx="11091672" cy="548640"/>
          </a:xfrm>
          <a:prstGeom prst="rect">
            <a:avLst/>
          </a:prstGeom>
          <a:noFill/>
          <a:ln/>
        </p:spPr>
        <p:txBody>
          <a:bodyPr wrap="square" lIns="0" tIns="0" rIns="0" bIns="0" rtlCol="0" anchor="t"/>
          <a:lstStyle/>
          <a:p>
            <a:pPr marL="0" indent="0" algn="ctr">
              <a:buNone/>
            </a:pPr>
            <a:r>
              <a:rPr lang="en-US" sz="2800" b="1">
                <a:solidFill>
                  <a:srgbClr val="FFFFFF"/>
                </a:solidFill>
                <a:latin typeface="Arial" pitchFamily="34" charset="0"/>
                <a:ea typeface="Arial" pitchFamily="34" charset="-122"/>
                <a:cs typeface="Arial" pitchFamily="34" charset="-120"/>
              </a:rPr>
              <a:t>of studies run on a large language model.</a:t>
            </a:r>
            <a:endParaRPr lang="en-US" sz="2800"/>
          </a:p>
        </p:txBody>
      </p:sp>
      <p:sp>
        <p:nvSpPr>
          <p:cNvPr id="8" name="Shape 4"/>
          <p:cNvSpPr/>
          <p:nvPr/>
        </p:nvSpPr>
        <p:spPr>
          <a:xfrm>
            <a:off x="1888236" y="3886200"/>
            <a:ext cx="1005840"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9" name="Text 5"/>
          <p:cNvSpPr/>
          <p:nvPr/>
        </p:nvSpPr>
        <p:spPr>
          <a:xfrm>
            <a:off x="1888236" y="3886200"/>
            <a:ext cx="1005840"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GPT-4</a:t>
            </a:r>
            <a:endParaRPr lang="en-US" sz="1400"/>
          </a:p>
        </p:txBody>
      </p:sp>
      <p:sp>
        <p:nvSpPr>
          <p:cNvPr id="10" name="Shape 6"/>
          <p:cNvSpPr/>
          <p:nvPr/>
        </p:nvSpPr>
        <p:spPr>
          <a:xfrm>
            <a:off x="3058668" y="3886200"/>
            <a:ext cx="1115568"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11" name="Text 7"/>
          <p:cNvSpPr/>
          <p:nvPr/>
        </p:nvSpPr>
        <p:spPr>
          <a:xfrm>
            <a:off x="3058668" y="3886200"/>
            <a:ext cx="1115568"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GPT-4o</a:t>
            </a:r>
            <a:endParaRPr lang="en-US" sz="1400"/>
          </a:p>
        </p:txBody>
      </p:sp>
      <p:sp>
        <p:nvSpPr>
          <p:cNvPr id="12" name="Shape 8"/>
          <p:cNvSpPr/>
          <p:nvPr/>
        </p:nvSpPr>
        <p:spPr>
          <a:xfrm>
            <a:off x="4338828" y="3886200"/>
            <a:ext cx="1005840"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13" name="Text 9"/>
          <p:cNvSpPr/>
          <p:nvPr/>
        </p:nvSpPr>
        <p:spPr>
          <a:xfrm>
            <a:off x="4338828" y="3886200"/>
            <a:ext cx="1005840"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GPT-5</a:t>
            </a:r>
            <a:endParaRPr lang="en-US" sz="1400"/>
          </a:p>
        </p:txBody>
      </p:sp>
      <p:sp>
        <p:nvSpPr>
          <p:cNvPr id="14" name="Shape 10"/>
          <p:cNvSpPr/>
          <p:nvPr/>
        </p:nvSpPr>
        <p:spPr>
          <a:xfrm>
            <a:off x="5509260" y="3886200"/>
            <a:ext cx="1335024"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15" name="Text 11"/>
          <p:cNvSpPr/>
          <p:nvPr/>
        </p:nvSpPr>
        <p:spPr>
          <a:xfrm>
            <a:off x="5509260" y="3886200"/>
            <a:ext cx="1335024"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DeepSeek</a:t>
            </a:r>
            <a:endParaRPr lang="en-US" sz="1400"/>
          </a:p>
        </p:txBody>
      </p:sp>
      <p:sp>
        <p:nvSpPr>
          <p:cNvPr id="16" name="Shape 12"/>
          <p:cNvSpPr/>
          <p:nvPr/>
        </p:nvSpPr>
        <p:spPr>
          <a:xfrm>
            <a:off x="7008876" y="3886200"/>
            <a:ext cx="896112"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17" name="Text 13"/>
          <p:cNvSpPr/>
          <p:nvPr/>
        </p:nvSpPr>
        <p:spPr>
          <a:xfrm>
            <a:off x="7008876" y="3886200"/>
            <a:ext cx="896112"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Qwen</a:t>
            </a:r>
            <a:endParaRPr lang="en-US" sz="1400"/>
          </a:p>
        </p:txBody>
      </p:sp>
      <p:sp>
        <p:nvSpPr>
          <p:cNvPr id="18" name="Shape 14"/>
          <p:cNvSpPr/>
          <p:nvPr/>
        </p:nvSpPr>
        <p:spPr>
          <a:xfrm>
            <a:off x="8069580" y="3886200"/>
            <a:ext cx="1005840"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19" name="Text 15"/>
          <p:cNvSpPr/>
          <p:nvPr/>
        </p:nvSpPr>
        <p:spPr>
          <a:xfrm>
            <a:off x="8069580" y="3886200"/>
            <a:ext cx="1005840"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Llama</a:t>
            </a:r>
            <a:endParaRPr lang="en-US" sz="1400"/>
          </a:p>
        </p:txBody>
      </p:sp>
      <p:sp>
        <p:nvSpPr>
          <p:cNvPr id="20" name="Shape 16"/>
          <p:cNvSpPr/>
          <p:nvPr/>
        </p:nvSpPr>
        <p:spPr>
          <a:xfrm>
            <a:off x="9240012" y="3886200"/>
            <a:ext cx="1225296" cy="420624"/>
          </a:xfrm>
          <a:prstGeom prst="roundRect">
            <a:avLst>
              <a:gd name="adj" fmla="val 50000"/>
            </a:avLst>
          </a:prstGeom>
          <a:solidFill>
            <a:srgbClr val="1C1C1E"/>
          </a:solidFill>
          <a:ln w="12700">
            <a:solidFill>
              <a:srgbClr val="3A3A3C"/>
            </a:solidFill>
            <a:prstDash val="solid"/>
          </a:ln>
        </p:spPr>
        <p:txBody>
          <a:bodyPr/>
          <a:lstStyle/>
          <a:p>
            <a:endParaRPr lang="en-US"/>
          </a:p>
        </p:txBody>
      </p:sp>
      <p:sp>
        <p:nvSpPr>
          <p:cNvPr id="21" name="Text 17"/>
          <p:cNvSpPr/>
          <p:nvPr/>
        </p:nvSpPr>
        <p:spPr>
          <a:xfrm>
            <a:off x="9240012" y="3886200"/>
            <a:ext cx="1225296" cy="420624"/>
          </a:xfrm>
          <a:prstGeom prst="rect">
            <a:avLst/>
          </a:prstGeom>
          <a:noFill/>
          <a:ln/>
        </p:spPr>
        <p:txBody>
          <a:bodyPr wrap="square" lIns="0" tIns="0" rIns="0" bIns="0" rtlCol="0" anchor="ctr"/>
          <a:lstStyle/>
          <a:p>
            <a:pPr marL="0" indent="0" algn="ctr">
              <a:buNone/>
            </a:pPr>
            <a:r>
              <a:rPr lang="en-US" sz="1400">
                <a:solidFill>
                  <a:srgbClr val="FFFFFF"/>
                </a:solidFill>
                <a:latin typeface="Arial" pitchFamily="34" charset="0"/>
                <a:ea typeface="Arial" pitchFamily="34" charset="-122"/>
                <a:cs typeface="Arial" pitchFamily="34" charset="-120"/>
              </a:rPr>
              <a:t>Mistral</a:t>
            </a:r>
            <a:endParaRPr lang="en-US" sz="1400"/>
          </a:p>
        </p:txBody>
      </p:sp>
      <p:sp>
        <p:nvSpPr>
          <p:cNvPr id="22" name="Text 18"/>
          <p:cNvSpPr/>
          <p:nvPr/>
        </p:nvSpPr>
        <p:spPr>
          <a:xfrm>
            <a:off x="822960" y="4846320"/>
            <a:ext cx="1645920" cy="548640"/>
          </a:xfrm>
          <a:prstGeom prst="rect">
            <a:avLst/>
          </a:prstGeom>
          <a:noFill/>
          <a:ln/>
        </p:spPr>
        <p:txBody>
          <a:bodyPr wrap="square" lIns="0" tIns="0" rIns="0" bIns="0" rtlCol="0" anchor="t"/>
          <a:lstStyle/>
          <a:p>
            <a:pPr marL="0" indent="0" algn="ctr">
              <a:buNone/>
            </a:pPr>
            <a:r>
              <a:rPr lang="en-US" sz="3000" b="1">
                <a:solidFill>
                  <a:srgbClr val="FFFFFF"/>
                </a:solidFill>
                <a:latin typeface="Arial" pitchFamily="34" charset="0"/>
                <a:ea typeface="Arial" pitchFamily="34" charset="-122"/>
                <a:cs typeface="Arial" pitchFamily="34" charset="-120"/>
              </a:rPr>
              <a:t>4</a:t>
            </a:r>
            <a:endParaRPr lang="en-US" sz="3000"/>
          </a:p>
        </p:txBody>
      </p:sp>
      <p:sp>
        <p:nvSpPr>
          <p:cNvPr id="23" name="Text 19"/>
          <p:cNvSpPr/>
          <p:nvPr/>
        </p:nvSpPr>
        <p:spPr>
          <a:xfrm>
            <a:off x="822960" y="5394960"/>
            <a:ext cx="1645920" cy="457200"/>
          </a:xfrm>
          <a:prstGeom prst="rect">
            <a:avLst/>
          </a:prstGeom>
          <a:noFill/>
          <a:ln/>
        </p:spPr>
        <p:txBody>
          <a:bodyPr wrap="square" lIns="0" tIns="0" rIns="0" bIns="0" rtlCol="0" anchor="t"/>
          <a:lstStyle/>
          <a:p>
            <a:pPr marL="0" indent="0" algn="ctr">
              <a:buNone/>
            </a:pPr>
            <a:r>
              <a:rPr lang="en-US" sz="1200">
                <a:solidFill>
                  <a:srgbClr val="A1A1A6"/>
                </a:solidFill>
                <a:latin typeface="Arial" pitchFamily="34" charset="0"/>
                <a:ea typeface="Arial" pitchFamily="34" charset="-122"/>
                <a:cs typeface="Arial" pitchFamily="34" charset="-120"/>
              </a:rPr>
              <a:t>agent systems</a:t>
            </a:r>
            <a:endParaRPr lang="en-US" sz="1200"/>
          </a:p>
        </p:txBody>
      </p:sp>
      <p:sp>
        <p:nvSpPr>
          <p:cNvPr id="24" name="Text 20"/>
          <p:cNvSpPr/>
          <p:nvPr/>
        </p:nvSpPr>
        <p:spPr>
          <a:xfrm>
            <a:off x="2606040" y="4846320"/>
            <a:ext cx="1645920" cy="548640"/>
          </a:xfrm>
          <a:prstGeom prst="rect">
            <a:avLst/>
          </a:prstGeom>
          <a:noFill/>
          <a:ln/>
        </p:spPr>
        <p:txBody>
          <a:bodyPr wrap="square" lIns="0" tIns="0" rIns="0" bIns="0" rtlCol="0" anchor="t"/>
          <a:lstStyle/>
          <a:p>
            <a:pPr marL="0" indent="0" algn="ctr">
              <a:buNone/>
            </a:pPr>
            <a:r>
              <a:rPr lang="en-US" sz="3000" b="1">
                <a:solidFill>
                  <a:srgbClr val="FFFFFF"/>
                </a:solidFill>
                <a:latin typeface="Arial" pitchFamily="34" charset="0"/>
                <a:ea typeface="Arial" pitchFamily="34" charset="-122"/>
                <a:cs typeface="Arial" pitchFamily="34" charset="-120"/>
              </a:rPr>
              <a:t>3</a:t>
            </a:r>
            <a:endParaRPr lang="en-US" sz="3000"/>
          </a:p>
        </p:txBody>
      </p:sp>
      <p:sp>
        <p:nvSpPr>
          <p:cNvPr id="25" name="Text 21"/>
          <p:cNvSpPr/>
          <p:nvPr/>
        </p:nvSpPr>
        <p:spPr>
          <a:xfrm>
            <a:off x="2606040" y="5394960"/>
            <a:ext cx="1645920" cy="457200"/>
          </a:xfrm>
          <a:prstGeom prst="rect">
            <a:avLst/>
          </a:prstGeom>
          <a:noFill/>
          <a:ln/>
        </p:spPr>
        <p:txBody>
          <a:bodyPr wrap="square" lIns="0" tIns="0" rIns="0" bIns="0" rtlCol="0" anchor="t"/>
          <a:lstStyle/>
          <a:p>
            <a:pPr marL="0" indent="0" algn="ctr">
              <a:buNone/>
            </a:pPr>
            <a:r>
              <a:rPr lang="en-US" sz="1200">
                <a:solidFill>
                  <a:srgbClr val="A1A1A6"/>
                </a:solidFill>
                <a:latin typeface="Arial" pitchFamily="34" charset="0"/>
                <a:ea typeface="Arial" pitchFamily="34" charset="-122"/>
                <a:cs typeface="Arial" pitchFamily="34" charset="-120"/>
              </a:rPr>
              <a:t>search-based</a:t>
            </a:r>
            <a:endParaRPr lang="en-US" sz="1200"/>
          </a:p>
        </p:txBody>
      </p:sp>
      <p:sp>
        <p:nvSpPr>
          <p:cNvPr id="26" name="Text 22"/>
          <p:cNvSpPr/>
          <p:nvPr/>
        </p:nvSpPr>
        <p:spPr>
          <a:xfrm>
            <a:off x="4389120" y="4846320"/>
            <a:ext cx="1645920" cy="548640"/>
          </a:xfrm>
          <a:prstGeom prst="rect">
            <a:avLst/>
          </a:prstGeom>
          <a:noFill/>
          <a:ln/>
        </p:spPr>
        <p:txBody>
          <a:bodyPr wrap="square" lIns="0" tIns="0" rIns="0" bIns="0" rtlCol="0" anchor="t"/>
          <a:lstStyle/>
          <a:p>
            <a:pPr marL="0" indent="0" algn="ctr">
              <a:buNone/>
            </a:pPr>
            <a:r>
              <a:rPr lang="en-US" sz="3000" b="1">
                <a:solidFill>
                  <a:srgbClr val="FFFFFF"/>
                </a:solidFill>
                <a:latin typeface="Arial" pitchFamily="34" charset="0"/>
                <a:ea typeface="Arial" pitchFamily="34" charset="-122"/>
                <a:cs typeface="Arial" pitchFamily="34" charset="-120"/>
              </a:rPr>
              <a:t>2</a:t>
            </a:r>
            <a:endParaRPr lang="en-US" sz="3000"/>
          </a:p>
        </p:txBody>
      </p:sp>
      <p:sp>
        <p:nvSpPr>
          <p:cNvPr id="27" name="Text 23"/>
          <p:cNvSpPr/>
          <p:nvPr/>
        </p:nvSpPr>
        <p:spPr>
          <a:xfrm>
            <a:off x="4389120" y="5394960"/>
            <a:ext cx="1645920" cy="457200"/>
          </a:xfrm>
          <a:prstGeom prst="rect">
            <a:avLst/>
          </a:prstGeom>
          <a:noFill/>
          <a:ln/>
        </p:spPr>
        <p:txBody>
          <a:bodyPr wrap="square" lIns="0" tIns="0" rIns="0" bIns="0" rtlCol="0" anchor="t"/>
          <a:lstStyle/>
          <a:p>
            <a:pPr marL="0" indent="0" algn="ctr">
              <a:buNone/>
            </a:pPr>
            <a:r>
              <a:rPr lang="en-US" sz="1200">
                <a:solidFill>
                  <a:srgbClr val="A1A1A6"/>
                </a:solidFill>
                <a:latin typeface="Arial" pitchFamily="34" charset="0"/>
                <a:ea typeface="Arial" pitchFamily="34" charset="-122"/>
                <a:cs typeface="Arial" pitchFamily="34" charset="-120"/>
              </a:rPr>
              <a:t>deep learning</a:t>
            </a:r>
            <a:endParaRPr lang="en-US" sz="1200"/>
          </a:p>
        </p:txBody>
      </p:sp>
      <p:sp>
        <p:nvSpPr>
          <p:cNvPr id="28" name="Text 24"/>
          <p:cNvSpPr/>
          <p:nvPr/>
        </p:nvSpPr>
        <p:spPr>
          <a:xfrm>
            <a:off x="6172200" y="4846320"/>
            <a:ext cx="1645920" cy="548640"/>
          </a:xfrm>
          <a:prstGeom prst="rect">
            <a:avLst/>
          </a:prstGeom>
          <a:noFill/>
          <a:ln/>
        </p:spPr>
        <p:txBody>
          <a:bodyPr wrap="square" lIns="0" tIns="0" rIns="0" bIns="0" rtlCol="0" anchor="t"/>
          <a:lstStyle/>
          <a:p>
            <a:pPr marL="0" indent="0" algn="ctr">
              <a:buNone/>
            </a:pPr>
            <a:r>
              <a:rPr lang="en-US" sz="3000" b="1">
                <a:solidFill>
                  <a:srgbClr val="FFFFFF"/>
                </a:solidFill>
                <a:latin typeface="Arial" pitchFamily="34" charset="0"/>
                <a:ea typeface="Arial" pitchFamily="34" charset="-122"/>
                <a:cs typeface="Arial" pitchFamily="34" charset="-120"/>
              </a:rPr>
              <a:t>2</a:t>
            </a:r>
            <a:endParaRPr lang="en-US" sz="3000"/>
          </a:p>
        </p:txBody>
      </p:sp>
      <p:sp>
        <p:nvSpPr>
          <p:cNvPr id="29" name="Text 25"/>
          <p:cNvSpPr/>
          <p:nvPr/>
        </p:nvSpPr>
        <p:spPr>
          <a:xfrm>
            <a:off x="6172200" y="5394960"/>
            <a:ext cx="1645920" cy="457200"/>
          </a:xfrm>
          <a:prstGeom prst="rect">
            <a:avLst/>
          </a:prstGeom>
          <a:noFill/>
          <a:ln/>
        </p:spPr>
        <p:txBody>
          <a:bodyPr wrap="square" lIns="0" tIns="0" rIns="0" bIns="0" rtlCol="0" anchor="t"/>
          <a:lstStyle/>
          <a:p>
            <a:pPr marL="0" indent="0" algn="ctr">
              <a:buNone/>
            </a:pPr>
            <a:r>
              <a:rPr lang="en-US" sz="1200">
                <a:solidFill>
                  <a:srgbClr val="A1A1A6"/>
                </a:solidFill>
                <a:latin typeface="Arial" pitchFamily="34" charset="0"/>
                <a:ea typeface="Arial" pitchFamily="34" charset="-122"/>
                <a:cs typeface="Arial" pitchFamily="34" charset="-120"/>
              </a:rPr>
              <a:t>multimodal</a:t>
            </a:r>
            <a:endParaRPr lang="en-US" sz="1200"/>
          </a:p>
        </p:txBody>
      </p:sp>
      <p:sp>
        <p:nvSpPr>
          <p:cNvPr id="30" name="Text 26"/>
          <p:cNvSpPr/>
          <p:nvPr/>
        </p:nvSpPr>
        <p:spPr>
          <a:xfrm>
            <a:off x="7955280" y="4846320"/>
            <a:ext cx="1645920" cy="548640"/>
          </a:xfrm>
          <a:prstGeom prst="rect">
            <a:avLst/>
          </a:prstGeom>
          <a:noFill/>
          <a:ln/>
        </p:spPr>
        <p:txBody>
          <a:bodyPr wrap="square" lIns="0" tIns="0" rIns="0" bIns="0" rtlCol="0" anchor="t"/>
          <a:lstStyle/>
          <a:p>
            <a:pPr marL="0" indent="0" algn="ctr">
              <a:buNone/>
            </a:pPr>
            <a:r>
              <a:rPr lang="en-US" sz="3000" b="1">
                <a:solidFill>
                  <a:srgbClr val="FFFFFF"/>
                </a:solidFill>
                <a:latin typeface="Arial" pitchFamily="34" charset="0"/>
                <a:ea typeface="Arial" pitchFamily="34" charset="-122"/>
                <a:cs typeface="Arial" pitchFamily="34" charset="-120"/>
              </a:rPr>
              <a:t>2</a:t>
            </a:r>
            <a:endParaRPr lang="en-US" sz="3000"/>
          </a:p>
        </p:txBody>
      </p:sp>
      <p:sp>
        <p:nvSpPr>
          <p:cNvPr id="31" name="Text 27"/>
          <p:cNvSpPr/>
          <p:nvPr/>
        </p:nvSpPr>
        <p:spPr>
          <a:xfrm>
            <a:off x="7955280" y="5394960"/>
            <a:ext cx="1645920" cy="457200"/>
          </a:xfrm>
          <a:prstGeom prst="rect">
            <a:avLst/>
          </a:prstGeom>
          <a:noFill/>
          <a:ln/>
        </p:spPr>
        <p:txBody>
          <a:bodyPr wrap="square" lIns="0" tIns="0" rIns="0" bIns="0" rtlCol="0" anchor="t"/>
          <a:lstStyle/>
          <a:p>
            <a:pPr marL="0" indent="0" algn="ctr">
              <a:buNone/>
            </a:pPr>
            <a:r>
              <a:rPr lang="en-US" sz="1200">
                <a:solidFill>
                  <a:srgbClr val="A1A1A6"/>
                </a:solidFill>
                <a:latin typeface="Arial" pitchFamily="34" charset="0"/>
                <a:ea typeface="Arial" pitchFamily="34" charset="-122"/>
                <a:cs typeface="Arial" pitchFamily="34" charset="-120"/>
              </a:rPr>
              <a:t>neuro-symbolic</a:t>
            </a:r>
            <a:endParaRPr lang="en-US" sz="1200"/>
          </a:p>
        </p:txBody>
      </p:sp>
      <p:sp>
        <p:nvSpPr>
          <p:cNvPr id="32" name="Text 28"/>
          <p:cNvSpPr/>
          <p:nvPr/>
        </p:nvSpPr>
        <p:spPr>
          <a:xfrm>
            <a:off x="9240012" y="4828032"/>
            <a:ext cx="1645920" cy="548640"/>
          </a:xfrm>
          <a:prstGeom prst="rect">
            <a:avLst/>
          </a:prstGeom>
          <a:noFill/>
          <a:ln/>
        </p:spPr>
        <p:txBody>
          <a:bodyPr wrap="square" lIns="0" tIns="0" rIns="0" bIns="0" rtlCol="0" anchor="t"/>
          <a:lstStyle/>
          <a:p>
            <a:pPr marL="0" indent="0" algn="ctr">
              <a:buNone/>
            </a:pPr>
            <a:r>
              <a:rPr lang="en-US" sz="3000" b="1">
                <a:solidFill>
                  <a:srgbClr val="FF453A"/>
                </a:solidFill>
                <a:latin typeface="Arial" pitchFamily="34" charset="0"/>
                <a:ea typeface="Arial" pitchFamily="34" charset="-122"/>
                <a:cs typeface="Arial" pitchFamily="34" charset="-120"/>
              </a:rPr>
              <a:t>0</a:t>
            </a:r>
            <a:endParaRPr lang="en-US" sz="3000"/>
          </a:p>
        </p:txBody>
      </p:sp>
      <p:sp>
        <p:nvSpPr>
          <p:cNvPr id="33" name="Text 29"/>
          <p:cNvSpPr/>
          <p:nvPr/>
        </p:nvSpPr>
        <p:spPr>
          <a:xfrm>
            <a:off x="9240012" y="5413248"/>
            <a:ext cx="1645920" cy="457200"/>
          </a:xfrm>
          <a:prstGeom prst="rect">
            <a:avLst/>
          </a:prstGeom>
          <a:noFill/>
          <a:ln/>
        </p:spPr>
        <p:txBody>
          <a:bodyPr wrap="square" lIns="0" tIns="0" rIns="0" bIns="0" rtlCol="0" anchor="t"/>
          <a:lstStyle/>
          <a:p>
            <a:pPr marL="0" indent="0" algn="ctr">
              <a:buNone/>
            </a:pPr>
            <a:r>
              <a:rPr lang="en-US" sz="1200">
                <a:solidFill>
                  <a:srgbClr val="A1A1A6"/>
                </a:solidFill>
                <a:latin typeface="Arial" pitchFamily="34" charset="0"/>
                <a:ea typeface="Arial" pitchFamily="34" charset="-122"/>
                <a:cs typeface="Arial" pitchFamily="34" charset="-120"/>
              </a:rPr>
              <a:t>knowledge graphs, RAG</a:t>
            </a:r>
            <a:endParaRPr lang="en-US" sz="1200"/>
          </a:p>
        </p:txBody>
      </p:sp>
    </p:spTree>
  </p:cSld>
  <p:clrMapOvr>
    <a:masterClrMapping/>
  </p:clrMapOvr>
  <mc:AlternateContent xmlns:mc="http://schemas.openxmlformats.org/markup-compatibility/2006" xmlns:p14="http://schemas.microsoft.com/office/powerpoint/2010/main">
    <mc:Choice Requires="p14">
      <p:transition spd="slow" p14:dur="2000" advTm="36032"/>
    </mc:Choice>
    <mc:Fallback xmlns="">
      <p:transition spd="slow" advTm="3603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Phindile Ngozi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9</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What AI does</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Ten roles, chained into one pipeline.</a:t>
            </a:r>
            <a:endParaRPr lang="en-US" sz="4400"/>
          </a:p>
        </p:txBody>
      </p:sp>
      <p:sp>
        <p:nvSpPr>
          <p:cNvPr id="7" name="Shape 4"/>
          <p:cNvSpPr/>
          <p:nvPr/>
        </p:nvSpPr>
        <p:spPr>
          <a:xfrm>
            <a:off x="548640" y="233172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8" name="Shape 5"/>
          <p:cNvSpPr/>
          <p:nvPr/>
        </p:nvSpPr>
        <p:spPr>
          <a:xfrm>
            <a:off x="777240" y="2587752"/>
            <a:ext cx="201168" cy="201168"/>
          </a:xfrm>
          <a:prstGeom prst="ellipse">
            <a:avLst/>
          </a:prstGeom>
          <a:solidFill>
            <a:srgbClr val="0071E3"/>
          </a:solidFill>
          <a:ln w="12700">
            <a:solidFill>
              <a:srgbClr val="0071E3"/>
            </a:solidFill>
            <a:prstDash val="solid"/>
          </a:ln>
        </p:spPr>
        <p:txBody>
          <a:bodyPr/>
          <a:lstStyle/>
          <a:p>
            <a:endParaRPr lang="en-US"/>
          </a:p>
        </p:txBody>
      </p:sp>
      <p:sp>
        <p:nvSpPr>
          <p:cNvPr id="9" name="Text 6"/>
          <p:cNvSpPr/>
          <p:nvPr/>
        </p:nvSpPr>
        <p:spPr>
          <a:xfrm>
            <a:off x="2011680" y="253288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01</a:t>
            </a:r>
            <a:endParaRPr lang="en-US" sz="1100"/>
          </a:p>
        </p:txBody>
      </p:sp>
      <p:sp>
        <p:nvSpPr>
          <p:cNvPr id="10" name="Text 7"/>
          <p:cNvSpPr/>
          <p:nvPr/>
        </p:nvSpPr>
        <p:spPr>
          <a:xfrm>
            <a:off x="777240" y="292608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Interpret</a:t>
            </a:r>
            <a:endParaRPr lang="en-US" sz="1700"/>
          </a:p>
        </p:txBody>
      </p:sp>
      <p:sp>
        <p:nvSpPr>
          <p:cNvPr id="11" name="Text 8"/>
          <p:cNvSpPr/>
          <p:nvPr/>
        </p:nvSpPr>
        <p:spPr>
          <a:xfrm>
            <a:off x="777240" y="352044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Moderate · 4 studies</a:t>
            </a:r>
            <a:endParaRPr lang="en-US" sz="1100"/>
          </a:p>
        </p:txBody>
      </p:sp>
      <p:sp>
        <p:nvSpPr>
          <p:cNvPr id="12" name="Shape 9"/>
          <p:cNvSpPr/>
          <p:nvPr/>
        </p:nvSpPr>
        <p:spPr>
          <a:xfrm>
            <a:off x="2798064" y="233172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13" name="Shape 10"/>
          <p:cNvSpPr/>
          <p:nvPr/>
        </p:nvSpPr>
        <p:spPr>
          <a:xfrm>
            <a:off x="3026664" y="2587752"/>
            <a:ext cx="201168" cy="201168"/>
          </a:xfrm>
          <a:prstGeom prst="ellipse">
            <a:avLst/>
          </a:prstGeom>
          <a:solidFill>
            <a:srgbClr val="BF5AF2"/>
          </a:solidFill>
          <a:ln w="12700">
            <a:solidFill>
              <a:srgbClr val="BF5AF2"/>
            </a:solidFill>
            <a:prstDash val="solid"/>
          </a:ln>
        </p:spPr>
        <p:txBody>
          <a:bodyPr/>
          <a:lstStyle/>
          <a:p>
            <a:endParaRPr lang="en-US"/>
          </a:p>
        </p:txBody>
      </p:sp>
      <p:sp>
        <p:nvSpPr>
          <p:cNvPr id="14" name="Text 11"/>
          <p:cNvSpPr/>
          <p:nvPr/>
        </p:nvSpPr>
        <p:spPr>
          <a:xfrm>
            <a:off x="4261104" y="253288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02</a:t>
            </a:r>
            <a:endParaRPr lang="en-US" sz="1100"/>
          </a:p>
        </p:txBody>
      </p:sp>
      <p:sp>
        <p:nvSpPr>
          <p:cNvPr id="15" name="Text 12"/>
          <p:cNvSpPr/>
          <p:nvPr/>
        </p:nvSpPr>
        <p:spPr>
          <a:xfrm>
            <a:off x="3026664" y="292608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Generate</a:t>
            </a:r>
            <a:endParaRPr lang="en-US" sz="1700"/>
          </a:p>
        </p:txBody>
      </p:sp>
      <p:sp>
        <p:nvSpPr>
          <p:cNvPr id="16" name="Text 13"/>
          <p:cNvSpPr/>
          <p:nvPr/>
        </p:nvSpPr>
        <p:spPr>
          <a:xfrm>
            <a:off x="3026664" y="352044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Heavy · 5 studies</a:t>
            </a:r>
            <a:endParaRPr lang="en-US" sz="1100"/>
          </a:p>
        </p:txBody>
      </p:sp>
      <p:sp>
        <p:nvSpPr>
          <p:cNvPr id="17" name="Shape 14"/>
          <p:cNvSpPr/>
          <p:nvPr/>
        </p:nvSpPr>
        <p:spPr>
          <a:xfrm>
            <a:off x="5047488" y="233172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18" name="Shape 15"/>
          <p:cNvSpPr/>
          <p:nvPr/>
        </p:nvSpPr>
        <p:spPr>
          <a:xfrm>
            <a:off x="5276088" y="2587752"/>
            <a:ext cx="201168" cy="201168"/>
          </a:xfrm>
          <a:prstGeom prst="ellipse">
            <a:avLst/>
          </a:prstGeom>
          <a:solidFill>
            <a:srgbClr val="C7C7CC"/>
          </a:solidFill>
          <a:ln w="12700">
            <a:solidFill>
              <a:srgbClr val="C7C7CC"/>
            </a:solidFill>
            <a:prstDash val="solid"/>
          </a:ln>
        </p:spPr>
        <p:txBody>
          <a:bodyPr/>
          <a:lstStyle/>
          <a:p>
            <a:endParaRPr lang="en-US"/>
          </a:p>
        </p:txBody>
      </p:sp>
      <p:sp>
        <p:nvSpPr>
          <p:cNvPr id="19" name="Text 16"/>
          <p:cNvSpPr/>
          <p:nvPr/>
        </p:nvSpPr>
        <p:spPr>
          <a:xfrm>
            <a:off x="6510528" y="253288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03</a:t>
            </a:r>
            <a:endParaRPr lang="en-US" sz="1100"/>
          </a:p>
        </p:txBody>
      </p:sp>
      <p:sp>
        <p:nvSpPr>
          <p:cNvPr id="20" name="Text 17"/>
          <p:cNvSpPr/>
          <p:nvPr/>
        </p:nvSpPr>
        <p:spPr>
          <a:xfrm>
            <a:off x="5276088" y="292608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Complete</a:t>
            </a:r>
            <a:endParaRPr lang="en-US" sz="1700"/>
          </a:p>
        </p:txBody>
      </p:sp>
      <p:sp>
        <p:nvSpPr>
          <p:cNvPr id="21" name="Text 18"/>
          <p:cNvSpPr/>
          <p:nvPr/>
        </p:nvSpPr>
        <p:spPr>
          <a:xfrm>
            <a:off x="5276088" y="352044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Light · 1 study</a:t>
            </a:r>
            <a:endParaRPr lang="en-US" sz="1100"/>
          </a:p>
        </p:txBody>
      </p:sp>
      <p:sp>
        <p:nvSpPr>
          <p:cNvPr id="22" name="Shape 19"/>
          <p:cNvSpPr/>
          <p:nvPr/>
        </p:nvSpPr>
        <p:spPr>
          <a:xfrm>
            <a:off x="7296912" y="233172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23" name="Shape 20"/>
          <p:cNvSpPr/>
          <p:nvPr/>
        </p:nvSpPr>
        <p:spPr>
          <a:xfrm>
            <a:off x="7525512" y="2587752"/>
            <a:ext cx="201168" cy="201168"/>
          </a:xfrm>
          <a:prstGeom prst="ellipse">
            <a:avLst/>
          </a:prstGeom>
          <a:solidFill>
            <a:srgbClr val="0071E3"/>
          </a:solidFill>
          <a:ln w="12700">
            <a:solidFill>
              <a:srgbClr val="0071E3"/>
            </a:solidFill>
            <a:prstDash val="solid"/>
          </a:ln>
        </p:spPr>
        <p:txBody>
          <a:bodyPr/>
          <a:lstStyle/>
          <a:p>
            <a:endParaRPr lang="en-US"/>
          </a:p>
        </p:txBody>
      </p:sp>
      <p:sp>
        <p:nvSpPr>
          <p:cNvPr id="24" name="Text 21"/>
          <p:cNvSpPr/>
          <p:nvPr/>
        </p:nvSpPr>
        <p:spPr>
          <a:xfrm>
            <a:off x="8759952" y="253288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04</a:t>
            </a:r>
            <a:endParaRPr lang="en-US" sz="1100"/>
          </a:p>
        </p:txBody>
      </p:sp>
      <p:sp>
        <p:nvSpPr>
          <p:cNvPr id="25" name="Text 22"/>
          <p:cNvSpPr/>
          <p:nvPr/>
        </p:nvSpPr>
        <p:spPr>
          <a:xfrm>
            <a:off x="7525512" y="292608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Critique</a:t>
            </a:r>
            <a:endParaRPr lang="en-US" sz="1700"/>
          </a:p>
        </p:txBody>
      </p:sp>
      <p:sp>
        <p:nvSpPr>
          <p:cNvPr id="26" name="Text 23"/>
          <p:cNvSpPr/>
          <p:nvPr/>
        </p:nvSpPr>
        <p:spPr>
          <a:xfrm>
            <a:off x="7525512" y="352044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Moderate · 3 studies</a:t>
            </a:r>
            <a:endParaRPr lang="en-US" sz="1100"/>
          </a:p>
        </p:txBody>
      </p:sp>
      <p:sp>
        <p:nvSpPr>
          <p:cNvPr id="27" name="Shape 24"/>
          <p:cNvSpPr/>
          <p:nvPr/>
        </p:nvSpPr>
        <p:spPr>
          <a:xfrm>
            <a:off x="9546336" y="233172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28" name="Shape 25"/>
          <p:cNvSpPr/>
          <p:nvPr/>
        </p:nvSpPr>
        <p:spPr>
          <a:xfrm>
            <a:off x="9774936" y="2587752"/>
            <a:ext cx="201168" cy="201168"/>
          </a:xfrm>
          <a:prstGeom prst="ellipse">
            <a:avLst/>
          </a:prstGeom>
          <a:solidFill>
            <a:srgbClr val="0071E3"/>
          </a:solidFill>
          <a:ln w="12700">
            <a:solidFill>
              <a:srgbClr val="0071E3"/>
            </a:solidFill>
            <a:prstDash val="solid"/>
          </a:ln>
        </p:spPr>
        <p:txBody>
          <a:bodyPr/>
          <a:lstStyle/>
          <a:p>
            <a:endParaRPr lang="en-US"/>
          </a:p>
        </p:txBody>
      </p:sp>
      <p:sp>
        <p:nvSpPr>
          <p:cNvPr id="29" name="Text 26"/>
          <p:cNvSpPr/>
          <p:nvPr/>
        </p:nvSpPr>
        <p:spPr>
          <a:xfrm>
            <a:off x="11009376" y="253288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05</a:t>
            </a:r>
            <a:endParaRPr lang="en-US" sz="1100"/>
          </a:p>
        </p:txBody>
      </p:sp>
      <p:sp>
        <p:nvSpPr>
          <p:cNvPr id="30" name="Text 27"/>
          <p:cNvSpPr/>
          <p:nvPr/>
        </p:nvSpPr>
        <p:spPr>
          <a:xfrm>
            <a:off x="9774936" y="292608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Repair</a:t>
            </a:r>
            <a:endParaRPr lang="en-US" sz="1700"/>
          </a:p>
        </p:txBody>
      </p:sp>
      <p:sp>
        <p:nvSpPr>
          <p:cNvPr id="31" name="Text 28"/>
          <p:cNvSpPr/>
          <p:nvPr/>
        </p:nvSpPr>
        <p:spPr>
          <a:xfrm>
            <a:off x="9774936" y="352044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Moderate · 3 studies</a:t>
            </a:r>
            <a:endParaRPr lang="en-US" sz="1100"/>
          </a:p>
        </p:txBody>
      </p:sp>
      <p:sp>
        <p:nvSpPr>
          <p:cNvPr id="32" name="Shape 29"/>
          <p:cNvSpPr/>
          <p:nvPr/>
        </p:nvSpPr>
        <p:spPr>
          <a:xfrm>
            <a:off x="548640" y="420624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33" name="Shape 30"/>
          <p:cNvSpPr/>
          <p:nvPr/>
        </p:nvSpPr>
        <p:spPr>
          <a:xfrm>
            <a:off x="777240" y="4462272"/>
            <a:ext cx="201168" cy="201168"/>
          </a:xfrm>
          <a:prstGeom prst="ellipse">
            <a:avLst/>
          </a:prstGeom>
          <a:solidFill>
            <a:srgbClr val="C7C7CC"/>
          </a:solidFill>
          <a:ln w="12700">
            <a:solidFill>
              <a:srgbClr val="C7C7CC"/>
            </a:solidFill>
            <a:prstDash val="solid"/>
          </a:ln>
        </p:spPr>
        <p:txBody>
          <a:bodyPr/>
          <a:lstStyle/>
          <a:p>
            <a:endParaRPr lang="en-US"/>
          </a:p>
        </p:txBody>
      </p:sp>
      <p:sp>
        <p:nvSpPr>
          <p:cNvPr id="34" name="Text 31"/>
          <p:cNvSpPr/>
          <p:nvPr/>
        </p:nvSpPr>
        <p:spPr>
          <a:xfrm>
            <a:off x="2011680" y="440740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06</a:t>
            </a:r>
            <a:endParaRPr lang="en-US" sz="1100"/>
          </a:p>
        </p:txBody>
      </p:sp>
      <p:sp>
        <p:nvSpPr>
          <p:cNvPr id="35" name="Text 32"/>
          <p:cNvSpPr/>
          <p:nvPr/>
        </p:nvSpPr>
        <p:spPr>
          <a:xfrm>
            <a:off x="777240" y="480060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Transform</a:t>
            </a:r>
            <a:endParaRPr lang="en-US" sz="1700"/>
          </a:p>
        </p:txBody>
      </p:sp>
      <p:sp>
        <p:nvSpPr>
          <p:cNvPr id="36" name="Text 33"/>
          <p:cNvSpPr/>
          <p:nvPr/>
        </p:nvSpPr>
        <p:spPr>
          <a:xfrm>
            <a:off x="777240" y="539496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Light · 2 studies</a:t>
            </a:r>
            <a:endParaRPr lang="en-US" sz="1100"/>
          </a:p>
        </p:txBody>
      </p:sp>
      <p:sp>
        <p:nvSpPr>
          <p:cNvPr id="37" name="Shape 34"/>
          <p:cNvSpPr/>
          <p:nvPr/>
        </p:nvSpPr>
        <p:spPr>
          <a:xfrm>
            <a:off x="2798064" y="420624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38" name="Shape 35"/>
          <p:cNvSpPr/>
          <p:nvPr/>
        </p:nvSpPr>
        <p:spPr>
          <a:xfrm>
            <a:off x="3026664" y="4462272"/>
            <a:ext cx="201168" cy="201168"/>
          </a:xfrm>
          <a:prstGeom prst="ellipse">
            <a:avLst/>
          </a:prstGeom>
          <a:solidFill>
            <a:srgbClr val="0071E3"/>
          </a:solidFill>
          <a:ln w="12700">
            <a:solidFill>
              <a:srgbClr val="0071E3"/>
            </a:solidFill>
            <a:prstDash val="solid"/>
          </a:ln>
        </p:spPr>
        <p:txBody>
          <a:bodyPr/>
          <a:lstStyle/>
          <a:p>
            <a:endParaRPr lang="en-US"/>
          </a:p>
        </p:txBody>
      </p:sp>
      <p:sp>
        <p:nvSpPr>
          <p:cNvPr id="39" name="Text 36"/>
          <p:cNvSpPr/>
          <p:nvPr/>
        </p:nvSpPr>
        <p:spPr>
          <a:xfrm>
            <a:off x="4261104" y="440740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07</a:t>
            </a:r>
            <a:endParaRPr lang="en-US" sz="1100"/>
          </a:p>
        </p:txBody>
      </p:sp>
      <p:sp>
        <p:nvSpPr>
          <p:cNvPr id="40" name="Text 37"/>
          <p:cNvSpPr/>
          <p:nvPr/>
        </p:nvSpPr>
        <p:spPr>
          <a:xfrm>
            <a:off x="3026664" y="480060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Generate code</a:t>
            </a:r>
            <a:endParaRPr lang="en-US" sz="1700"/>
          </a:p>
        </p:txBody>
      </p:sp>
      <p:sp>
        <p:nvSpPr>
          <p:cNvPr id="41" name="Text 38"/>
          <p:cNvSpPr/>
          <p:nvPr/>
        </p:nvSpPr>
        <p:spPr>
          <a:xfrm>
            <a:off x="3026664" y="539496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Moderate · 4 studies</a:t>
            </a:r>
            <a:endParaRPr lang="en-US" sz="1100"/>
          </a:p>
        </p:txBody>
      </p:sp>
      <p:sp>
        <p:nvSpPr>
          <p:cNvPr id="42" name="Shape 39"/>
          <p:cNvSpPr/>
          <p:nvPr/>
        </p:nvSpPr>
        <p:spPr>
          <a:xfrm>
            <a:off x="5047488" y="420624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43" name="Shape 40"/>
          <p:cNvSpPr/>
          <p:nvPr/>
        </p:nvSpPr>
        <p:spPr>
          <a:xfrm>
            <a:off x="5276088" y="4462272"/>
            <a:ext cx="201168" cy="201168"/>
          </a:xfrm>
          <a:prstGeom prst="ellipse">
            <a:avLst/>
          </a:prstGeom>
          <a:solidFill>
            <a:srgbClr val="0071E3"/>
          </a:solidFill>
          <a:ln w="12700">
            <a:solidFill>
              <a:srgbClr val="0071E3"/>
            </a:solidFill>
            <a:prstDash val="solid"/>
          </a:ln>
        </p:spPr>
        <p:txBody>
          <a:bodyPr/>
          <a:lstStyle/>
          <a:p>
            <a:endParaRPr lang="en-US"/>
          </a:p>
        </p:txBody>
      </p:sp>
      <p:sp>
        <p:nvSpPr>
          <p:cNvPr id="44" name="Text 41"/>
          <p:cNvSpPr/>
          <p:nvPr/>
        </p:nvSpPr>
        <p:spPr>
          <a:xfrm>
            <a:off x="6510528" y="440740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08</a:t>
            </a:r>
            <a:endParaRPr lang="en-US" sz="1100"/>
          </a:p>
        </p:txBody>
      </p:sp>
      <p:sp>
        <p:nvSpPr>
          <p:cNvPr id="45" name="Text 42"/>
          <p:cNvSpPr/>
          <p:nvPr/>
        </p:nvSpPr>
        <p:spPr>
          <a:xfrm>
            <a:off x="5276088" y="480060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Reverse engineer</a:t>
            </a:r>
            <a:endParaRPr lang="en-US" sz="1700"/>
          </a:p>
        </p:txBody>
      </p:sp>
      <p:sp>
        <p:nvSpPr>
          <p:cNvPr id="46" name="Text 43"/>
          <p:cNvSpPr/>
          <p:nvPr/>
        </p:nvSpPr>
        <p:spPr>
          <a:xfrm>
            <a:off x="5276088" y="539496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Moderate · 3 studies</a:t>
            </a:r>
            <a:endParaRPr lang="en-US" sz="1100"/>
          </a:p>
        </p:txBody>
      </p:sp>
      <p:sp>
        <p:nvSpPr>
          <p:cNvPr id="47" name="Shape 44"/>
          <p:cNvSpPr/>
          <p:nvPr/>
        </p:nvSpPr>
        <p:spPr>
          <a:xfrm>
            <a:off x="7296912" y="420624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48" name="Shape 45"/>
          <p:cNvSpPr/>
          <p:nvPr/>
        </p:nvSpPr>
        <p:spPr>
          <a:xfrm>
            <a:off x="7525512" y="4462272"/>
            <a:ext cx="201168" cy="201168"/>
          </a:xfrm>
          <a:prstGeom prst="ellipse">
            <a:avLst/>
          </a:prstGeom>
          <a:solidFill>
            <a:srgbClr val="C7C7CC"/>
          </a:solidFill>
          <a:ln w="12700">
            <a:solidFill>
              <a:srgbClr val="C7C7CC"/>
            </a:solidFill>
            <a:prstDash val="solid"/>
          </a:ln>
        </p:spPr>
        <p:txBody>
          <a:bodyPr/>
          <a:lstStyle/>
          <a:p>
            <a:endParaRPr lang="en-US"/>
          </a:p>
        </p:txBody>
      </p:sp>
      <p:sp>
        <p:nvSpPr>
          <p:cNvPr id="49" name="Text 46"/>
          <p:cNvSpPr/>
          <p:nvPr/>
        </p:nvSpPr>
        <p:spPr>
          <a:xfrm>
            <a:off x="8759952" y="440740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09</a:t>
            </a:r>
            <a:endParaRPr lang="en-US" sz="1100"/>
          </a:p>
        </p:txBody>
      </p:sp>
      <p:sp>
        <p:nvSpPr>
          <p:cNvPr id="50" name="Text 47"/>
          <p:cNvSpPr/>
          <p:nvPr/>
        </p:nvSpPr>
        <p:spPr>
          <a:xfrm>
            <a:off x="7525512" y="480060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Monitor consistency</a:t>
            </a:r>
            <a:endParaRPr lang="en-US" sz="1700"/>
          </a:p>
        </p:txBody>
      </p:sp>
      <p:sp>
        <p:nvSpPr>
          <p:cNvPr id="51" name="Text 48"/>
          <p:cNvSpPr/>
          <p:nvPr/>
        </p:nvSpPr>
        <p:spPr>
          <a:xfrm>
            <a:off x="7525512" y="539496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Light · 3 studies</a:t>
            </a:r>
            <a:endParaRPr lang="en-US" sz="1100"/>
          </a:p>
        </p:txBody>
      </p:sp>
      <p:sp>
        <p:nvSpPr>
          <p:cNvPr id="52" name="Shape 49"/>
          <p:cNvSpPr/>
          <p:nvPr/>
        </p:nvSpPr>
        <p:spPr>
          <a:xfrm>
            <a:off x="9546336" y="4206240"/>
            <a:ext cx="2103120" cy="1645920"/>
          </a:xfrm>
          <a:prstGeom prst="roundRect">
            <a:avLst>
              <a:gd name="adj" fmla="val 12222"/>
            </a:avLst>
          </a:prstGeom>
          <a:solidFill>
            <a:srgbClr val="FFFFFF"/>
          </a:solidFill>
          <a:ln w="12700">
            <a:solidFill>
              <a:srgbClr val="FFFFFF"/>
            </a:solidFill>
            <a:prstDash val="solid"/>
          </a:ln>
        </p:spPr>
        <p:txBody>
          <a:bodyPr/>
          <a:lstStyle/>
          <a:p>
            <a:endParaRPr lang="en-US"/>
          </a:p>
        </p:txBody>
      </p:sp>
      <p:sp>
        <p:nvSpPr>
          <p:cNvPr id="53" name="Shape 50"/>
          <p:cNvSpPr/>
          <p:nvPr/>
        </p:nvSpPr>
        <p:spPr>
          <a:xfrm>
            <a:off x="9774936" y="4462272"/>
            <a:ext cx="201168" cy="201168"/>
          </a:xfrm>
          <a:prstGeom prst="ellipse">
            <a:avLst/>
          </a:prstGeom>
          <a:solidFill>
            <a:srgbClr val="C7C7CC"/>
          </a:solidFill>
          <a:ln w="12700">
            <a:solidFill>
              <a:srgbClr val="C7C7CC"/>
            </a:solidFill>
            <a:prstDash val="solid"/>
          </a:ln>
        </p:spPr>
        <p:txBody>
          <a:bodyPr/>
          <a:lstStyle/>
          <a:p>
            <a:endParaRPr lang="en-US"/>
          </a:p>
        </p:txBody>
      </p:sp>
      <p:sp>
        <p:nvSpPr>
          <p:cNvPr id="54" name="Text 51"/>
          <p:cNvSpPr/>
          <p:nvPr/>
        </p:nvSpPr>
        <p:spPr>
          <a:xfrm>
            <a:off x="11009376" y="4407408"/>
            <a:ext cx="457200" cy="274320"/>
          </a:xfrm>
          <a:prstGeom prst="rect">
            <a:avLst/>
          </a:prstGeom>
          <a:noFill/>
          <a:ln/>
        </p:spPr>
        <p:txBody>
          <a:bodyPr wrap="square" lIns="0" tIns="0" rIns="0" bIns="0" rtlCol="0" anchor="t"/>
          <a:lstStyle/>
          <a:p>
            <a:pPr marL="0" indent="0" algn="r">
              <a:buNone/>
            </a:pPr>
            <a:r>
              <a:rPr lang="en-US" sz="1100">
                <a:solidFill>
                  <a:srgbClr val="6E6E73"/>
                </a:solidFill>
                <a:latin typeface="Arial" pitchFamily="34" charset="0"/>
                <a:ea typeface="Arial" pitchFamily="34" charset="-122"/>
                <a:cs typeface="Arial" pitchFamily="34" charset="-120"/>
              </a:rPr>
              <a:t>10</a:t>
            </a:r>
            <a:endParaRPr lang="en-US" sz="1100"/>
          </a:p>
        </p:txBody>
      </p:sp>
      <p:sp>
        <p:nvSpPr>
          <p:cNvPr id="55" name="Text 52"/>
          <p:cNvSpPr/>
          <p:nvPr/>
        </p:nvSpPr>
        <p:spPr>
          <a:xfrm>
            <a:off x="9774936" y="4800600"/>
            <a:ext cx="1737360" cy="548640"/>
          </a:xfrm>
          <a:prstGeom prst="rect">
            <a:avLst/>
          </a:prstGeom>
          <a:noFill/>
          <a:ln/>
        </p:spPr>
        <p:txBody>
          <a:bodyPr wrap="square" lIns="0" tIns="0" rIns="0" bIns="0" rtlCol="0" anchor="t"/>
          <a:lstStyle/>
          <a:p>
            <a:pPr marL="0" indent="0" algn="l">
              <a:buNone/>
            </a:pPr>
            <a:r>
              <a:rPr lang="en-US" sz="1700" b="1">
                <a:solidFill>
                  <a:srgbClr val="1D1D1F"/>
                </a:solidFill>
                <a:latin typeface="Arial" pitchFamily="34" charset="0"/>
                <a:ea typeface="Arial" pitchFamily="34" charset="-122"/>
                <a:cs typeface="Arial" pitchFamily="34" charset="-120"/>
              </a:rPr>
              <a:t>Orchestrate</a:t>
            </a:r>
            <a:endParaRPr lang="en-US" sz="1700"/>
          </a:p>
        </p:txBody>
      </p:sp>
      <p:sp>
        <p:nvSpPr>
          <p:cNvPr id="56" name="Text 53"/>
          <p:cNvSpPr/>
          <p:nvPr/>
        </p:nvSpPr>
        <p:spPr>
          <a:xfrm>
            <a:off x="9774936" y="5394960"/>
            <a:ext cx="1783080" cy="274320"/>
          </a:xfrm>
          <a:prstGeom prst="rect">
            <a:avLst/>
          </a:prstGeom>
          <a:noFill/>
          <a:ln/>
        </p:spPr>
        <p:txBody>
          <a:bodyPr wrap="square" lIns="0" tIns="0" rIns="0" bIns="0" rtlCol="0" anchor="t"/>
          <a:lstStyle/>
          <a:p>
            <a:pPr marL="0" indent="0" algn="l">
              <a:buNone/>
            </a:pPr>
            <a:r>
              <a:rPr lang="en-US" sz="1100">
                <a:solidFill>
                  <a:srgbClr val="6E6E73"/>
                </a:solidFill>
                <a:latin typeface="Arial" pitchFamily="34" charset="0"/>
                <a:ea typeface="Arial" pitchFamily="34" charset="-122"/>
                <a:cs typeface="Arial" pitchFamily="34" charset="-120"/>
              </a:rPr>
              <a:t>Light · 3 studies</a:t>
            </a:r>
            <a:endParaRPr lang="en-US" sz="1100"/>
          </a:p>
        </p:txBody>
      </p:sp>
      <p:sp>
        <p:nvSpPr>
          <p:cNvPr id="57" name="Text 54"/>
          <p:cNvSpPr/>
          <p:nvPr/>
        </p:nvSpPr>
        <p:spPr>
          <a:xfrm>
            <a:off x="548640" y="6035040"/>
            <a:ext cx="11091672" cy="274320"/>
          </a:xfrm>
          <a:prstGeom prst="rect">
            <a:avLst/>
          </a:prstGeom>
          <a:noFill/>
          <a:ln/>
        </p:spPr>
        <p:txBody>
          <a:bodyPr wrap="square" lIns="0" tIns="0" rIns="0" bIns="0" rtlCol="0" anchor="t"/>
          <a:lstStyle/>
          <a:p>
            <a:pPr marL="0" indent="0" algn="ctr">
              <a:buNone/>
            </a:pPr>
            <a:r>
              <a:rPr lang="en-US" sz="1200">
                <a:solidFill>
                  <a:srgbClr val="BF5AF2"/>
                </a:solidFill>
                <a:latin typeface="Arial" pitchFamily="34" charset="0"/>
                <a:ea typeface="Arial" pitchFamily="34" charset="-122"/>
                <a:cs typeface="Arial" pitchFamily="34" charset="-120"/>
              </a:rPr>
              <a:t>● </a:t>
            </a:r>
            <a:r>
              <a:rPr lang="en-US" sz="1200">
                <a:solidFill>
                  <a:srgbClr val="6E6E73"/>
                </a:solidFill>
                <a:latin typeface="Arial" pitchFamily="34" charset="0"/>
                <a:ea typeface="Arial" pitchFamily="34" charset="-122"/>
                <a:cs typeface="Arial" pitchFamily="34" charset="-120"/>
              </a:rPr>
              <a:t>Heavy    </a:t>
            </a:r>
            <a:r>
              <a:rPr lang="en-US" sz="1200">
                <a:solidFill>
                  <a:srgbClr val="0071E3"/>
                </a:solidFill>
                <a:latin typeface="Arial" pitchFamily="34" charset="0"/>
                <a:ea typeface="Arial" pitchFamily="34" charset="-122"/>
                <a:cs typeface="Arial" pitchFamily="34" charset="-120"/>
              </a:rPr>
              <a:t>● </a:t>
            </a:r>
            <a:r>
              <a:rPr lang="en-US" sz="1200">
                <a:solidFill>
                  <a:srgbClr val="6E6E73"/>
                </a:solidFill>
                <a:latin typeface="Arial" pitchFamily="34" charset="0"/>
                <a:ea typeface="Arial" pitchFamily="34" charset="-122"/>
                <a:cs typeface="Arial" pitchFamily="34" charset="-120"/>
              </a:rPr>
              <a:t>Moderate    </a:t>
            </a:r>
            <a:r>
              <a:rPr lang="en-US" sz="1200">
                <a:solidFill>
                  <a:srgbClr val="C7C7CC"/>
                </a:solidFill>
                <a:latin typeface="Arial" pitchFamily="34" charset="0"/>
                <a:ea typeface="Arial" pitchFamily="34" charset="-122"/>
                <a:cs typeface="Arial" pitchFamily="34" charset="-120"/>
              </a:rPr>
              <a:t>● </a:t>
            </a:r>
            <a:r>
              <a:rPr lang="en-US" sz="1200">
                <a:solidFill>
                  <a:srgbClr val="6E6E73"/>
                </a:solidFill>
                <a:latin typeface="Arial" pitchFamily="34" charset="0"/>
                <a:ea typeface="Arial" pitchFamily="34" charset="-122"/>
                <a:cs typeface="Arial" pitchFamily="34" charset="-120"/>
              </a:rPr>
              <a:t>Light (strength as rated in report Table 9)</a:t>
            </a:r>
            <a:endParaRPr lang="en-US" sz="1200"/>
          </a:p>
        </p:txBody>
      </p:sp>
    </p:spTree>
  </p:cSld>
  <p:clrMapOvr>
    <a:masterClrMapping/>
  </p:clrMapOvr>
  <mc:AlternateContent xmlns:mc="http://schemas.openxmlformats.org/markup-compatibility/2006" xmlns:p14="http://schemas.microsoft.com/office/powerpoint/2010/main">
    <mc:Choice Requires="p14">
      <p:transition spd="slow" p14:dur="2000" advTm="30635"/>
    </mc:Choice>
    <mc:Fallback xmlns="">
      <p:transition spd="slow" advTm="3063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Thabiso Matsaba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11</a:t>
            </a:r>
            <a:endParaRPr lang="en-US" sz="900"/>
          </a:p>
        </p:txBody>
      </p:sp>
      <p:sp>
        <p:nvSpPr>
          <p:cNvPr id="5" name="Text 2"/>
          <p:cNvSpPr/>
          <p:nvPr/>
        </p:nvSpPr>
        <p:spPr>
          <a:xfrm>
            <a:off x="548640" y="822960"/>
            <a:ext cx="11091672" cy="365760"/>
          </a:xfrm>
          <a:prstGeom prst="rect">
            <a:avLst/>
          </a:prstGeom>
          <a:noFill/>
          <a:ln/>
        </p:spPr>
        <p:txBody>
          <a:bodyPr wrap="square" lIns="0" tIns="0" rIns="0" bIns="0" rtlCol="0" anchor="t"/>
          <a:lstStyle/>
          <a:p>
            <a:pPr marL="0" indent="0" algn="ctr">
              <a:buNone/>
            </a:pPr>
            <a:r>
              <a:rPr lang="en-US" sz="1600" b="1">
                <a:solidFill>
                  <a:srgbClr val="FF453A"/>
                </a:solidFill>
                <a:latin typeface="Arial" pitchFamily="34" charset="0"/>
                <a:ea typeface="Arial" pitchFamily="34" charset="-122"/>
                <a:cs typeface="Arial" pitchFamily="34" charset="-120"/>
              </a:rPr>
              <a:t>The biggest gap</a:t>
            </a:r>
            <a:endParaRPr lang="en-US" sz="1600"/>
          </a:p>
        </p:txBody>
      </p:sp>
      <p:pic>
        <p:nvPicPr>
          <p:cNvPr id="6" name="Image 0" descr="img/h_zero.png"/>
          <p:cNvPicPr>
            <a:picLocks noChangeAspect="1"/>
          </p:cNvPicPr>
          <p:nvPr/>
        </p:nvPicPr>
        <p:blipFill>
          <a:blip r:embed="rId3"/>
          <a:stretch>
            <a:fillRect/>
          </a:stretch>
        </p:blipFill>
        <p:spPr>
          <a:xfrm>
            <a:off x="5364163" y="1371600"/>
            <a:ext cx="1460626" cy="1828800"/>
          </a:xfrm>
          <a:prstGeom prst="rect">
            <a:avLst/>
          </a:prstGeom>
        </p:spPr>
      </p:pic>
      <p:sp>
        <p:nvSpPr>
          <p:cNvPr id="7" name="Text 3"/>
          <p:cNvSpPr/>
          <p:nvPr/>
        </p:nvSpPr>
        <p:spPr>
          <a:xfrm>
            <a:off x="548640" y="3337560"/>
            <a:ext cx="11091672" cy="548640"/>
          </a:xfrm>
          <a:prstGeom prst="rect">
            <a:avLst/>
          </a:prstGeom>
          <a:noFill/>
          <a:ln/>
        </p:spPr>
        <p:txBody>
          <a:bodyPr wrap="square" lIns="0" tIns="0" rIns="0" bIns="0" rtlCol="0" anchor="t"/>
          <a:lstStyle/>
          <a:p>
            <a:pPr marL="0" indent="0" algn="ctr">
              <a:buNone/>
            </a:pPr>
            <a:r>
              <a:rPr lang="en-US" sz="3000" b="1">
                <a:solidFill>
                  <a:srgbClr val="FFFFFF"/>
                </a:solidFill>
                <a:latin typeface="Arial" pitchFamily="34" charset="0"/>
                <a:ea typeface="Arial" pitchFamily="34" charset="-122"/>
                <a:cs typeface="Arial" pitchFamily="34" charset="-120"/>
              </a:rPr>
              <a:t>studies keep models and code in sync.</a:t>
            </a:r>
            <a:endParaRPr lang="en-US" sz="3000"/>
          </a:p>
        </p:txBody>
      </p:sp>
      <p:sp>
        <p:nvSpPr>
          <p:cNvPr id="8" name="Shape 4"/>
          <p:cNvSpPr/>
          <p:nvPr/>
        </p:nvSpPr>
        <p:spPr>
          <a:xfrm>
            <a:off x="1508760" y="4343400"/>
            <a:ext cx="2194560" cy="1463040"/>
          </a:xfrm>
          <a:prstGeom prst="roundRect">
            <a:avLst>
              <a:gd name="adj" fmla="val 13750"/>
            </a:avLst>
          </a:prstGeom>
          <a:solidFill>
            <a:srgbClr val="1C1C1E"/>
          </a:solidFill>
          <a:ln w="12700">
            <a:solidFill>
              <a:srgbClr val="1C1C1E"/>
            </a:solidFill>
            <a:prstDash val="solid"/>
          </a:ln>
        </p:spPr>
        <p:txBody>
          <a:bodyPr/>
          <a:lstStyle/>
          <a:p>
            <a:endParaRPr lang="en-US"/>
          </a:p>
        </p:txBody>
      </p:sp>
      <p:sp>
        <p:nvSpPr>
          <p:cNvPr id="9" name="Text 5"/>
          <p:cNvSpPr/>
          <p:nvPr/>
        </p:nvSpPr>
        <p:spPr>
          <a:xfrm>
            <a:off x="1508760" y="4480560"/>
            <a:ext cx="2194560" cy="685800"/>
          </a:xfrm>
          <a:prstGeom prst="rect">
            <a:avLst/>
          </a:prstGeom>
          <a:noFill/>
          <a:ln/>
        </p:spPr>
        <p:txBody>
          <a:bodyPr wrap="square" lIns="0" tIns="0" rIns="0" bIns="0" rtlCol="0" anchor="t"/>
          <a:lstStyle/>
          <a:p>
            <a:pPr marL="0" indent="0" algn="ctr">
              <a:buNone/>
            </a:pPr>
            <a:r>
              <a:rPr lang="en-US" sz="4000" b="1">
                <a:solidFill>
                  <a:srgbClr val="FFFFFF"/>
                </a:solidFill>
                <a:latin typeface="Arial" pitchFamily="34" charset="0"/>
                <a:ea typeface="Arial" pitchFamily="34" charset="-122"/>
                <a:cs typeface="Arial" pitchFamily="34" charset="-120"/>
              </a:rPr>
              <a:t>6</a:t>
            </a:r>
            <a:endParaRPr lang="en-US" sz="4000"/>
          </a:p>
        </p:txBody>
      </p:sp>
      <p:sp>
        <p:nvSpPr>
          <p:cNvPr id="10" name="Text 6"/>
          <p:cNvSpPr/>
          <p:nvPr/>
        </p:nvSpPr>
        <p:spPr>
          <a:xfrm>
            <a:off x="1645920" y="5166360"/>
            <a:ext cx="1920240" cy="50292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model to code</a:t>
            </a:r>
            <a:endParaRPr lang="en-US" sz="1300"/>
          </a:p>
        </p:txBody>
      </p:sp>
      <p:sp>
        <p:nvSpPr>
          <p:cNvPr id="11" name="Shape 7"/>
          <p:cNvSpPr/>
          <p:nvPr/>
        </p:nvSpPr>
        <p:spPr>
          <a:xfrm>
            <a:off x="3886200" y="4343400"/>
            <a:ext cx="2194560" cy="1463040"/>
          </a:xfrm>
          <a:prstGeom prst="roundRect">
            <a:avLst>
              <a:gd name="adj" fmla="val 13750"/>
            </a:avLst>
          </a:prstGeom>
          <a:solidFill>
            <a:srgbClr val="1C1C1E"/>
          </a:solidFill>
          <a:ln w="12700">
            <a:solidFill>
              <a:srgbClr val="1C1C1E"/>
            </a:solidFill>
            <a:prstDash val="solid"/>
          </a:ln>
        </p:spPr>
        <p:txBody>
          <a:bodyPr/>
          <a:lstStyle/>
          <a:p>
            <a:endParaRPr lang="en-US"/>
          </a:p>
        </p:txBody>
      </p:sp>
      <p:sp>
        <p:nvSpPr>
          <p:cNvPr id="12" name="Text 8"/>
          <p:cNvSpPr/>
          <p:nvPr/>
        </p:nvSpPr>
        <p:spPr>
          <a:xfrm>
            <a:off x="3886200" y="4480560"/>
            <a:ext cx="2194560" cy="685800"/>
          </a:xfrm>
          <a:prstGeom prst="rect">
            <a:avLst/>
          </a:prstGeom>
          <a:noFill/>
          <a:ln/>
        </p:spPr>
        <p:txBody>
          <a:bodyPr wrap="square" lIns="0" tIns="0" rIns="0" bIns="0" rtlCol="0" anchor="t"/>
          <a:lstStyle/>
          <a:p>
            <a:pPr marL="0" indent="0" algn="ctr">
              <a:buNone/>
            </a:pPr>
            <a:r>
              <a:rPr lang="en-US" sz="4000" b="1">
                <a:solidFill>
                  <a:srgbClr val="FFFFFF"/>
                </a:solidFill>
                <a:latin typeface="Arial" pitchFamily="34" charset="0"/>
                <a:ea typeface="Arial" pitchFamily="34" charset="-122"/>
                <a:cs typeface="Arial" pitchFamily="34" charset="-120"/>
              </a:rPr>
              <a:t>3</a:t>
            </a:r>
            <a:endParaRPr lang="en-US" sz="4000"/>
          </a:p>
        </p:txBody>
      </p:sp>
      <p:sp>
        <p:nvSpPr>
          <p:cNvPr id="13" name="Text 9"/>
          <p:cNvSpPr/>
          <p:nvPr/>
        </p:nvSpPr>
        <p:spPr>
          <a:xfrm>
            <a:off x="4023360" y="5166360"/>
            <a:ext cx="1920240" cy="50292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code to model</a:t>
            </a:r>
            <a:endParaRPr lang="en-US" sz="1300"/>
          </a:p>
        </p:txBody>
      </p:sp>
      <p:sp>
        <p:nvSpPr>
          <p:cNvPr id="14" name="Shape 10"/>
          <p:cNvSpPr/>
          <p:nvPr/>
        </p:nvSpPr>
        <p:spPr>
          <a:xfrm>
            <a:off x="6263640" y="4343400"/>
            <a:ext cx="2194560" cy="1463040"/>
          </a:xfrm>
          <a:prstGeom prst="roundRect">
            <a:avLst>
              <a:gd name="adj" fmla="val 13750"/>
            </a:avLst>
          </a:prstGeom>
          <a:solidFill>
            <a:srgbClr val="1C1C1E"/>
          </a:solidFill>
          <a:ln w="12700">
            <a:solidFill>
              <a:srgbClr val="1C1C1E"/>
            </a:solidFill>
            <a:prstDash val="solid"/>
          </a:ln>
        </p:spPr>
        <p:txBody>
          <a:bodyPr/>
          <a:lstStyle/>
          <a:p>
            <a:endParaRPr lang="en-US"/>
          </a:p>
        </p:txBody>
      </p:sp>
      <p:sp>
        <p:nvSpPr>
          <p:cNvPr id="15" name="Text 11"/>
          <p:cNvSpPr/>
          <p:nvPr/>
        </p:nvSpPr>
        <p:spPr>
          <a:xfrm>
            <a:off x="6263640" y="4480560"/>
            <a:ext cx="2194560" cy="685800"/>
          </a:xfrm>
          <a:prstGeom prst="rect">
            <a:avLst/>
          </a:prstGeom>
          <a:noFill/>
          <a:ln/>
        </p:spPr>
        <p:txBody>
          <a:bodyPr wrap="square" lIns="0" tIns="0" rIns="0" bIns="0" rtlCol="0" anchor="t"/>
          <a:lstStyle/>
          <a:p>
            <a:pPr marL="0" indent="0" algn="ctr">
              <a:buNone/>
            </a:pPr>
            <a:r>
              <a:rPr lang="en-US" sz="4000" b="1">
                <a:solidFill>
                  <a:srgbClr val="FFFFFF"/>
                </a:solidFill>
                <a:latin typeface="Arial" pitchFamily="34" charset="0"/>
                <a:ea typeface="Arial" pitchFamily="34" charset="-122"/>
                <a:cs typeface="Arial" pitchFamily="34" charset="-120"/>
              </a:rPr>
              <a:t>2</a:t>
            </a:r>
            <a:endParaRPr lang="en-US" sz="4000"/>
          </a:p>
        </p:txBody>
      </p:sp>
      <p:sp>
        <p:nvSpPr>
          <p:cNvPr id="16" name="Text 12"/>
          <p:cNvSpPr/>
          <p:nvPr/>
        </p:nvSpPr>
        <p:spPr>
          <a:xfrm>
            <a:off x="6400800" y="5166360"/>
            <a:ext cx="1920240" cy="50292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model transformation</a:t>
            </a:r>
            <a:endParaRPr lang="en-US" sz="1300"/>
          </a:p>
        </p:txBody>
      </p:sp>
      <p:sp>
        <p:nvSpPr>
          <p:cNvPr id="17" name="Shape 13"/>
          <p:cNvSpPr/>
          <p:nvPr/>
        </p:nvSpPr>
        <p:spPr>
          <a:xfrm>
            <a:off x="8641080" y="4343400"/>
            <a:ext cx="2194560" cy="1463040"/>
          </a:xfrm>
          <a:prstGeom prst="roundRect">
            <a:avLst>
              <a:gd name="adj" fmla="val 13750"/>
            </a:avLst>
          </a:prstGeom>
          <a:solidFill>
            <a:srgbClr val="1C1C1E"/>
          </a:solidFill>
          <a:ln w="12700">
            <a:solidFill>
              <a:srgbClr val="1C1C1E"/>
            </a:solidFill>
            <a:prstDash val="solid"/>
          </a:ln>
        </p:spPr>
        <p:txBody>
          <a:bodyPr/>
          <a:lstStyle/>
          <a:p>
            <a:endParaRPr lang="en-US"/>
          </a:p>
        </p:txBody>
      </p:sp>
      <p:sp>
        <p:nvSpPr>
          <p:cNvPr id="18" name="Text 14"/>
          <p:cNvSpPr/>
          <p:nvPr/>
        </p:nvSpPr>
        <p:spPr>
          <a:xfrm>
            <a:off x="8641080" y="4480560"/>
            <a:ext cx="2194560" cy="685800"/>
          </a:xfrm>
          <a:prstGeom prst="rect">
            <a:avLst/>
          </a:prstGeom>
          <a:noFill/>
          <a:ln/>
        </p:spPr>
        <p:txBody>
          <a:bodyPr wrap="square" lIns="0" tIns="0" rIns="0" bIns="0" rtlCol="0" anchor="t"/>
          <a:lstStyle/>
          <a:p>
            <a:pPr marL="0" indent="0" algn="ctr">
              <a:buNone/>
            </a:pPr>
            <a:r>
              <a:rPr lang="en-US" sz="4000" b="1">
                <a:solidFill>
                  <a:srgbClr val="FFFFFF"/>
                </a:solidFill>
                <a:latin typeface="Arial" pitchFamily="34" charset="0"/>
                <a:ea typeface="Arial" pitchFamily="34" charset="-122"/>
                <a:cs typeface="Arial" pitchFamily="34" charset="-120"/>
              </a:rPr>
              <a:t>1</a:t>
            </a:r>
            <a:endParaRPr lang="en-US" sz="4000"/>
          </a:p>
        </p:txBody>
      </p:sp>
      <p:sp>
        <p:nvSpPr>
          <p:cNvPr id="19" name="Text 15"/>
          <p:cNvSpPr/>
          <p:nvPr/>
        </p:nvSpPr>
        <p:spPr>
          <a:xfrm>
            <a:off x="8778240" y="5166360"/>
            <a:ext cx="1920240" cy="50292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runtime modelling (partial)</a:t>
            </a:r>
            <a:endParaRPr lang="en-US" sz="1300"/>
          </a:p>
        </p:txBody>
      </p:sp>
    </p:spTree>
  </p:cSld>
  <p:clrMapOvr>
    <a:masterClrMapping/>
  </p:clrMapOvr>
  <mc:AlternateContent xmlns:mc="http://schemas.openxmlformats.org/markup-compatibility/2006">
    <mc:Choice xmlns:p14="http://schemas.microsoft.com/office/powerpoint/2010/main" Requires="p14">
      <p:transition spd="slow" p14:dur="2000" advTm="47864"/>
    </mc:Choice>
    <mc:Fallback>
      <p:transition spd="slow" advTm="4786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Thabiso Matsaba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12</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Taxonomy</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3400" b="1">
                <a:solidFill>
                  <a:srgbClr val="1D1D1F"/>
                </a:solidFill>
                <a:latin typeface="Arial" pitchFamily="34" charset="0"/>
                <a:ea typeface="Arial" pitchFamily="34" charset="-122"/>
                <a:cs typeface="Arial" pitchFamily="34" charset="-120"/>
              </a:rPr>
              <a:t>Seven dimensions. The empty cells are the gaps.</a:t>
            </a:r>
            <a:endParaRPr lang="en-US" sz="3400"/>
          </a:p>
        </p:txBody>
      </p:sp>
      <p:pic>
        <p:nvPicPr>
          <p:cNvPr id="7" name="Image 0" descr="img/taxonomy.png"/>
          <p:cNvPicPr>
            <a:picLocks noChangeAspect="1"/>
          </p:cNvPicPr>
          <p:nvPr/>
        </p:nvPicPr>
        <p:blipFill>
          <a:blip r:embed="rId3"/>
          <a:stretch>
            <a:fillRect/>
          </a:stretch>
        </p:blipFill>
        <p:spPr>
          <a:xfrm>
            <a:off x="2718262" y="1965960"/>
            <a:ext cx="6752428" cy="4206240"/>
          </a:xfrm>
          <a:prstGeom prst="rect">
            <a:avLst/>
          </a:prstGeom>
        </p:spPr>
      </p:pic>
      <p:sp>
        <p:nvSpPr>
          <p:cNvPr id="8" name="Text 4"/>
          <p:cNvSpPr/>
          <p:nvPr/>
        </p:nvSpPr>
        <p:spPr>
          <a:xfrm>
            <a:off x="548640" y="6217920"/>
            <a:ext cx="11091672" cy="228600"/>
          </a:xfrm>
          <a:prstGeom prst="rect">
            <a:avLst/>
          </a:prstGeom>
          <a:noFill/>
          <a:ln/>
        </p:spPr>
        <p:txBody>
          <a:bodyPr wrap="square" lIns="0" tIns="0" rIns="0" bIns="0" rtlCol="0" anchor="t"/>
          <a:lstStyle/>
          <a:p>
            <a:pPr marL="0" indent="0" algn="ctr">
              <a:buNone/>
            </a:pPr>
            <a:r>
              <a:rPr lang="en-US" sz="1100">
                <a:solidFill>
                  <a:srgbClr val="6E6E73"/>
                </a:solidFill>
                <a:latin typeface="Arial" pitchFamily="34" charset="0"/>
                <a:ea typeface="Arial" pitchFamily="34" charset="-122"/>
                <a:cs typeface="Arial" pitchFamily="34" charset="-120"/>
              </a:rPr>
              <a:t>Report Figure 4. Counts are included studies (multi-label).</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2000" advTm="46608"/>
    </mc:Choice>
    <mc:Fallback>
      <p:transition spd="slow" advTm="4660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Zenande Kalipa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13</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Modelling languages</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UML leads. SysML is missing.</a:t>
            </a:r>
            <a:endParaRPr lang="en-US" sz="4400"/>
          </a:p>
        </p:txBody>
      </p:sp>
      <p:sp>
        <p:nvSpPr>
          <p:cNvPr id="7" name="Shape 4"/>
          <p:cNvSpPr/>
          <p:nvPr/>
        </p:nvSpPr>
        <p:spPr>
          <a:xfrm>
            <a:off x="548640" y="2240280"/>
            <a:ext cx="3566160" cy="1828800"/>
          </a:xfrm>
          <a:prstGeom prst="roundRect">
            <a:avLst>
              <a:gd name="adj" fmla="val 11000"/>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822960" y="2468880"/>
            <a:ext cx="3017520" cy="365760"/>
          </a:xfrm>
          <a:prstGeom prst="rect">
            <a:avLst/>
          </a:prstGeom>
          <a:noFill/>
          <a:ln/>
        </p:spPr>
        <p:txBody>
          <a:bodyPr wrap="square" lIns="0" tIns="0" rIns="0" bIns="0" rtlCol="0" anchor="t"/>
          <a:lstStyle/>
          <a:p>
            <a:pPr marL="0" indent="0" algn="l">
              <a:buNone/>
            </a:pPr>
            <a:r>
              <a:rPr lang="en-US" sz="1400" b="1">
                <a:solidFill>
                  <a:srgbClr val="BF5AF2"/>
                </a:solidFill>
                <a:latin typeface="Arial" pitchFamily="34" charset="0"/>
                <a:ea typeface="Arial" pitchFamily="34" charset="-122"/>
                <a:cs typeface="Arial" pitchFamily="34" charset="-120"/>
              </a:rPr>
              <a:t>Structural</a:t>
            </a:r>
            <a:endParaRPr lang="en-US" sz="1400"/>
          </a:p>
        </p:txBody>
      </p:sp>
      <p:sp>
        <p:nvSpPr>
          <p:cNvPr id="9" name="Text 6"/>
          <p:cNvSpPr/>
          <p:nvPr/>
        </p:nvSpPr>
        <p:spPr>
          <a:xfrm>
            <a:off x="822960" y="2834640"/>
            <a:ext cx="3017520" cy="1188720"/>
          </a:xfrm>
          <a:prstGeom prst="rect">
            <a:avLst/>
          </a:prstGeom>
          <a:noFill/>
          <a:ln/>
        </p:spPr>
        <p:txBody>
          <a:bodyPr wrap="square" lIns="0" tIns="0" rIns="0" bIns="0" rtlCol="0" anchor="t"/>
          <a:lstStyle/>
          <a:p>
            <a:pPr marL="0" indent="0" algn="l">
              <a:lnSpc>
                <a:spcPct val="100000"/>
              </a:lnSpc>
              <a:buNone/>
            </a:pPr>
            <a:r>
              <a:rPr lang="en-US" sz="1600" b="1">
                <a:solidFill>
                  <a:srgbClr val="1D1D1F"/>
                </a:solidFill>
                <a:latin typeface="Arial" pitchFamily="34" charset="0"/>
                <a:ea typeface="Arial" pitchFamily="34" charset="-122"/>
                <a:cs typeface="Arial" pitchFamily="34" charset="-120"/>
              </a:rPr>
              <a:t>UML class</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Domain models</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Ecore</a:t>
            </a:r>
            <a:endParaRPr lang="en-US" sz="1600"/>
          </a:p>
        </p:txBody>
      </p:sp>
      <p:sp>
        <p:nvSpPr>
          <p:cNvPr id="10" name="Shape 7"/>
          <p:cNvSpPr/>
          <p:nvPr/>
        </p:nvSpPr>
        <p:spPr>
          <a:xfrm>
            <a:off x="4297680" y="2240280"/>
            <a:ext cx="3566160" cy="1828800"/>
          </a:xfrm>
          <a:prstGeom prst="roundRect">
            <a:avLst>
              <a:gd name="adj" fmla="val 11000"/>
            </a:avLst>
          </a:prstGeom>
          <a:solidFill>
            <a:srgbClr val="FFFFFF"/>
          </a:solidFill>
          <a:ln w="12700">
            <a:solidFill>
              <a:srgbClr val="FFFFFF"/>
            </a:solidFill>
            <a:prstDash val="solid"/>
          </a:ln>
        </p:spPr>
        <p:txBody>
          <a:bodyPr/>
          <a:lstStyle/>
          <a:p>
            <a:endParaRPr lang="en-US"/>
          </a:p>
        </p:txBody>
      </p:sp>
      <p:sp>
        <p:nvSpPr>
          <p:cNvPr id="11" name="Text 8"/>
          <p:cNvSpPr/>
          <p:nvPr/>
        </p:nvSpPr>
        <p:spPr>
          <a:xfrm>
            <a:off x="4572000" y="2468880"/>
            <a:ext cx="3017520" cy="365760"/>
          </a:xfrm>
          <a:prstGeom prst="rect">
            <a:avLst/>
          </a:prstGeom>
          <a:noFill/>
          <a:ln/>
        </p:spPr>
        <p:txBody>
          <a:bodyPr wrap="square" lIns="0" tIns="0" rIns="0" bIns="0" rtlCol="0" anchor="t"/>
          <a:lstStyle/>
          <a:p>
            <a:pPr marL="0" indent="0" algn="l">
              <a:buNone/>
            </a:pPr>
            <a:r>
              <a:rPr lang="en-US" sz="1400" b="1">
                <a:solidFill>
                  <a:srgbClr val="0071E3"/>
                </a:solidFill>
                <a:latin typeface="Arial" pitchFamily="34" charset="0"/>
                <a:ea typeface="Arial" pitchFamily="34" charset="-122"/>
                <a:cs typeface="Arial" pitchFamily="34" charset="-120"/>
              </a:rPr>
              <a:t>Behavioural</a:t>
            </a:r>
            <a:endParaRPr lang="en-US" sz="1400"/>
          </a:p>
        </p:txBody>
      </p:sp>
      <p:sp>
        <p:nvSpPr>
          <p:cNvPr id="12" name="Text 9"/>
          <p:cNvSpPr/>
          <p:nvPr/>
        </p:nvSpPr>
        <p:spPr>
          <a:xfrm>
            <a:off x="4572000" y="2834640"/>
            <a:ext cx="3017520" cy="1188720"/>
          </a:xfrm>
          <a:prstGeom prst="rect">
            <a:avLst/>
          </a:prstGeom>
          <a:noFill/>
          <a:ln/>
        </p:spPr>
        <p:txBody>
          <a:bodyPr wrap="square" lIns="0" tIns="0" rIns="0" bIns="0" rtlCol="0" anchor="t"/>
          <a:lstStyle/>
          <a:p>
            <a:pPr marL="0" indent="0" algn="l">
              <a:lnSpc>
                <a:spcPct val="100000"/>
              </a:lnSpc>
              <a:buNone/>
            </a:pPr>
            <a:r>
              <a:rPr lang="en-US" sz="1600" b="1">
                <a:solidFill>
                  <a:srgbClr val="1D1D1F"/>
                </a:solidFill>
                <a:latin typeface="Arial" pitchFamily="34" charset="0"/>
                <a:ea typeface="Arial" pitchFamily="34" charset="-122"/>
                <a:cs typeface="Arial" pitchFamily="34" charset="-120"/>
              </a:rPr>
              <a:t>BPMN</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Sequence</a:t>
            </a:r>
            <a:endParaRPr lang="en-US" sz="1600"/>
          </a:p>
        </p:txBody>
      </p:sp>
      <p:sp>
        <p:nvSpPr>
          <p:cNvPr id="13" name="Shape 10"/>
          <p:cNvSpPr/>
          <p:nvPr/>
        </p:nvSpPr>
        <p:spPr>
          <a:xfrm>
            <a:off x="8046720" y="2240280"/>
            <a:ext cx="3566160" cy="1828800"/>
          </a:xfrm>
          <a:prstGeom prst="roundRect">
            <a:avLst>
              <a:gd name="adj" fmla="val 11000"/>
            </a:avLst>
          </a:prstGeom>
          <a:solidFill>
            <a:srgbClr val="FFFFFF"/>
          </a:solidFill>
          <a:ln w="12700">
            <a:solidFill>
              <a:srgbClr val="FFFFFF"/>
            </a:solidFill>
            <a:prstDash val="solid"/>
          </a:ln>
        </p:spPr>
        <p:txBody>
          <a:bodyPr/>
          <a:lstStyle/>
          <a:p>
            <a:endParaRPr lang="en-US"/>
          </a:p>
        </p:txBody>
      </p:sp>
      <p:sp>
        <p:nvSpPr>
          <p:cNvPr id="14" name="Text 11"/>
          <p:cNvSpPr/>
          <p:nvPr/>
        </p:nvSpPr>
        <p:spPr>
          <a:xfrm>
            <a:off x="8321040" y="2468880"/>
            <a:ext cx="3017520" cy="365760"/>
          </a:xfrm>
          <a:prstGeom prst="rect">
            <a:avLst/>
          </a:prstGeom>
          <a:noFill/>
          <a:ln/>
        </p:spPr>
        <p:txBody>
          <a:bodyPr wrap="square" lIns="0" tIns="0" rIns="0" bIns="0" rtlCol="0" anchor="t"/>
          <a:lstStyle/>
          <a:p>
            <a:pPr marL="0" indent="0" algn="l">
              <a:buNone/>
            </a:pPr>
            <a:r>
              <a:rPr lang="en-US" sz="1400" b="1">
                <a:solidFill>
                  <a:srgbClr val="FF9F0A"/>
                </a:solidFill>
                <a:latin typeface="Arial" pitchFamily="34" charset="0"/>
                <a:ea typeface="Arial" pitchFamily="34" charset="-122"/>
                <a:cs typeface="Arial" pitchFamily="34" charset="-120"/>
              </a:rPr>
              <a:t>Architectural</a:t>
            </a:r>
            <a:endParaRPr lang="en-US" sz="1400"/>
          </a:p>
        </p:txBody>
      </p:sp>
      <p:sp>
        <p:nvSpPr>
          <p:cNvPr id="15" name="Text 12"/>
          <p:cNvSpPr/>
          <p:nvPr/>
        </p:nvSpPr>
        <p:spPr>
          <a:xfrm>
            <a:off x="8321040" y="2834640"/>
            <a:ext cx="3017520" cy="1188720"/>
          </a:xfrm>
          <a:prstGeom prst="rect">
            <a:avLst/>
          </a:prstGeom>
          <a:noFill/>
          <a:ln/>
        </p:spPr>
        <p:txBody>
          <a:bodyPr wrap="square" lIns="0" tIns="0" rIns="0" bIns="0" rtlCol="0" anchor="t"/>
          <a:lstStyle/>
          <a:p>
            <a:pPr marL="0" indent="0" algn="l">
              <a:lnSpc>
                <a:spcPct val="100000"/>
              </a:lnSpc>
              <a:buNone/>
            </a:pPr>
            <a:r>
              <a:rPr lang="en-US" sz="1600" b="1">
                <a:solidFill>
                  <a:srgbClr val="1D1D1F"/>
                </a:solidFill>
                <a:latin typeface="Arial" pitchFamily="34" charset="0"/>
                <a:ea typeface="Arial" pitchFamily="34" charset="-122"/>
                <a:cs typeface="Arial" pitchFamily="34" charset="-120"/>
              </a:rPr>
              <a:t>EAST-ADL</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AADL</a:t>
            </a:r>
            <a:endParaRPr lang="en-US" sz="1600"/>
          </a:p>
        </p:txBody>
      </p:sp>
      <p:sp>
        <p:nvSpPr>
          <p:cNvPr id="16" name="Shape 13"/>
          <p:cNvSpPr/>
          <p:nvPr/>
        </p:nvSpPr>
        <p:spPr>
          <a:xfrm>
            <a:off x="548640" y="4251960"/>
            <a:ext cx="3566160" cy="1828800"/>
          </a:xfrm>
          <a:prstGeom prst="roundRect">
            <a:avLst>
              <a:gd name="adj" fmla="val 11000"/>
            </a:avLst>
          </a:prstGeom>
          <a:solidFill>
            <a:srgbClr val="FFFFFF"/>
          </a:solidFill>
          <a:ln w="12700">
            <a:solidFill>
              <a:srgbClr val="FFFFFF"/>
            </a:solidFill>
            <a:prstDash val="solid"/>
          </a:ln>
        </p:spPr>
        <p:txBody>
          <a:bodyPr/>
          <a:lstStyle/>
          <a:p>
            <a:endParaRPr lang="en-US"/>
          </a:p>
        </p:txBody>
      </p:sp>
      <p:sp>
        <p:nvSpPr>
          <p:cNvPr id="17" name="Text 14"/>
          <p:cNvSpPr/>
          <p:nvPr/>
        </p:nvSpPr>
        <p:spPr>
          <a:xfrm>
            <a:off x="822960" y="4480560"/>
            <a:ext cx="3017520" cy="365760"/>
          </a:xfrm>
          <a:prstGeom prst="rect">
            <a:avLst/>
          </a:prstGeom>
          <a:noFill/>
          <a:ln/>
        </p:spPr>
        <p:txBody>
          <a:bodyPr wrap="square" lIns="0" tIns="0" rIns="0" bIns="0" rtlCol="0" anchor="t"/>
          <a:lstStyle/>
          <a:p>
            <a:pPr marL="0" indent="0" algn="l">
              <a:buNone/>
            </a:pPr>
            <a:r>
              <a:rPr lang="en-US" sz="1400" b="1">
                <a:solidFill>
                  <a:srgbClr val="30D158"/>
                </a:solidFill>
                <a:latin typeface="Arial" pitchFamily="34" charset="0"/>
                <a:ea typeface="Arial" pitchFamily="34" charset="-122"/>
                <a:cs typeface="Arial" pitchFamily="34" charset="-120"/>
              </a:rPr>
              <a:t>Domain-specific</a:t>
            </a:r>
            <a:endParaRPr lang="en-US" sz="1400"/>
          </a:p>
        </p:txBody>
      </p:sp>
      <p:sp>
        <p:nvSpPr>
          <p:cNvPr id="18" name="Text 15"/>
          <p:cNvSpPr/>
          <p:nvPr/>
        </p:nvSpPr>
        <p:spPr>
          <a:xfrm>
            <a:off x="822960" y="4846320"/>
            <a:ext cx="3017520" cy="1188720"/>
          </a:xfrm>
          <a:prstGeom prst="rect">
            <a:avLst/>
          </a:prstGeom>
          <a:noFill/>
          <a:ln/>
        </p:spPr>
        <p:txBody>
          <a:bodyPr wrap="square" lIns="0" tIns="0" rIns="0" bIns="0" rtlCol="0" anchor="t"/>
          <a:lstStyle/>
          <a:p>
            <a:pPr marL="0" indent="0" algn="l">
              <a:lnSpc>
                <a:spcPct val="100000"/>
              </a:lnSpc>
              <a:buNone/>
            </a:pPr>
            <a:r>
              <a:rPr lang="en-US" sz="1600" b="1">
                <a:solidFill>
                  <a:srgbClr val="1D1D1F"/>
                </a:solidFill>
                <a:latin typeface="Arial" pitchFamily="34" charset="0"/>
                <a:ea typeface="Arial" pitchFamily="34" charset="-122"/>
                <a:cs typeface="Arial" pitchFamily="34" charset="-120"/>
              </a:rPr>
              <a:t>TextX grammars</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DSL instances</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Smart-contract DSML</a:t>
            </a:r>
            <a:endParaRPr lang="en-US" sz="1600"/>
          </a:p>
        </p:txBody>
      </p:sp>
      <p:sp>
        <p:nvSpPr>
          <p:cNvPr id="19" name="Shape 16"/>
          <p:cNvSpPr/>
          <p:nvPr/>
        </p:nvSpPr>
        <p:spPr>
          <a:xfrm>
            <a:off x="4297680" y="4251960"/>
            <a:ext cx="3566160" cy="1828800"/>
          </a:xfrm>
          <a:prstGeom prst="roundRect">
            <a:avLst>
              <a:gd name="adj" fmla="val 11000"/>
            </a:avLst>
          </a:prstGeom>
          <a:solidFill>
            <a:srgbClr val="FFFFFF"/>
          </a:solidFill>
          <a:ln w="12700">
            <a:solidFill>
              <a:srgbClr val="FFFFFF"/>
            </a:solidFill>
            <a:prstDash val="solid"/>
          </a:ln>
        </p:spPr>
        <p:txBody>
          <a:bodyPr/>
          <a:lstStyle/>
          <a:p>
            <a:endParaRPr lang="en-US"/>
          </a:p>
        </p:txBody>
      </p:sp>
      <p:sp>
        <p:nvSpPr>
          <p:cNvPr id="20" name="Text 17"/>
          <p:cNvSpPr/>
          <p:nvPr/>
        </p:nvSpPr>
        <p:spPr>
          <a:xfrm>
            <a:off x="4572000" y="4480560"/>
            <a:ext cx="3017520" cy="365760"/>
          </a:xfrm>
          <a:prstGeom prst="rect">
            <a:avLst/>
          </a:prstGeom>
          <a:noFill/>
          <a:ln/>
        </p:spPr>
        <p:txBody>
          <a:bodyPr wrap="square" lIns="0" tIns="0" rIns="0" bIns="0" rtlCol="0" anchor="t"/>
          <a:lstStyle/>
          <a:p>
            <a:pPr marL="0" indent="0" algn="l">
              <a:buNone/>
            </a:pPr>
            <a:r>
              <a:rPr lang="en-US" sz="1400" b="1">
                <a:solidFill>
                  <a:srgbClr val="FF375F"/>
                </a:solidFill>
                <a:latin typeface="Arial" pitchFamily="34" charset="0"/>
                <a:ea typeface="Arial" pitchFamily="34" charset="-122"/>
                <a:cs typeface="Arial" pitchFamily="34" charset="-120"/>
              </a:rPr>
              <a:t>Formal</a:t>
            </a:r>
            <a:endParaRPr lang="en-US" sz="1400"/>
          </a:p>
        </p:txBody>
      </p:sp>
      <p:sp>
        <p:nvSpPr>
          <p:cNvPr id="21" name="Text 18"/>
          <p:cNvSpPr/>
          <p:nvPr/>
        </p:nvSpPr>
        <p:spPr>
          <a:xfrm>
            <a:off x="4572000" y="4846320"/>
            <a:ext cx="3017520" cy="1188720"/>
          </a:xfrm>
          <a:prstGeom prst="rect">
            <a:avLst/>
          </a:prstGeom>
          <a:noFill/>
          <a:ln/>
        </p:spPr>
        <p:txBody>
          <a:bodyPr wrap="square" lIns="0" tIns="0" rIns="0" bIns="0" rtlCol="0" anchor="t"/>
          <a:lstStyle/>
          <a:p>
            <a:pPr marL="0" indent="0" algn="l">
              <a:lnSpc>
                <a:spcPct val="100000"/>
              </a:lnSpc>
              <a:buNone/>
            </a:pPr>
            <a:r>
              <a:rPr lang="en-US" sz="1600" b="1">
                <a:solidFill>
                  <a:srgbClr val="1D1D1F"/>
                </a:solidFill>
                <a:latin typeface="Arial" pitchFamily="34" charset="0"/>
                <a:ea typeface="Arial" pitchFamily="34" charset="-122"/>
                <a:cs typeface="Arial" pitchFamily="34" charset="-120"/>
              </a:rPr>
              <a:t>OCL</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Alloy</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AGREE</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CTL</a:t>
            </a:r>
            <a:endParaRPr lang="en-US" sz="1600"/>
          </a:p>
        </p:txBody>
      </p:sp>
      <p:sp>
        <p:nvSpPr>
          <p:cNvPr id="22" name="Shape 19"/>
          <p:cNvSpPr/>
          <p:nvPr/>
        </p:nvSpPr>
        <p:spPr>
          <a:xfrm>
            <a:off x="8046720" y="4251960"/>
            <a:ext cx="3566160" cy="1828800"/>
          </a:xfrm>
          <a:prstGeom prst="roundRect">
            <a:avLst>
              <a:gd name="adj" fmla="val 11000"/>
            </a:avLst>
          </a:prstGeom>
          <a:solidFill>
            <a:srgbClr val="FFFFFF"/>
          </a:solidFill>
          <a:ln w="12700">
            <a:solidFill>
              <a:srgbClr val="FFFFFF"/>
            </a:solidFill>
            <a:prstDash val="solid"/>
          </a:ln>
        </p:spPr>
        <p:txBody>
          <a:bodyPr/>
          <a:lstStyle/>
          <a:p>
            <a:endParaRPr lang="en-US"/>
          </a:p>
        </p:txBody>
      </p:sp>
      <p:sp>
        <p:nvSpPr>
          <p:cNvPr id="23" name="Text 20"/>
          <p:cNvSpPr/>
          <p:nvPr/>
        </p:nvSpPr>
        <p:spPr>
          <a:xfrm>
            <a:off x="8321040" y="4480560"/>
            <a:ext cx="3017520" cy="365760"/>
          </a:xfrm>
          <a:prstGeom prst="rect">
            <a:avLst/>
          </a:prstGeom>
          <a:noFill/>
          <a:ln/>
        </p:spPr>
        <p:txBody>
          <a:bodyPr wrap="square" lIns="0" tIns="0" rIns="0" bIns="0" rtlCol="0" anchor="t"/>
          <a:lstStyle/>
          <a:p>
            <a:pPr marL="0" indent="0" algn="l">
              <a:buNone/>
            </a:pPr>
            <a:r>
              <a:rPr lang="en-US" sz="1400" b="1">
                <a:solidFill>
                  <a:srgbClr val="5E5CE6"/>
                </a:solidFill>
                <a:latin typeface="Arial" pitchFamily="34" charset="0"/>
                <a:ea typeface="Arial" pitchFamily="34" charset="-122"/>
                <a:cs typeface="Arial" pitchFamily="34" charset="-120"/>
              </a:rPr>
              <a:t>Code</a:t>
            </a:r>
            <a:endParaRPr lang="en-US" sz="1400"/>
          </a:p>
        </p:txBody>
      </p:sp>
      <p:sp>
        <p:nvSpPr>
          <p:cNvPr id="24" name="Text 21"/>
          <p:cNvSpPr/>
          <p:nvPr/>
        </p:nvSpPr>
        <p:spPr>
          <a:xfrm>
            <a:off x="8321040" y="4846320"/>
            <a:ext cx="3017520" cy="1188720"/>
          </a:xfrm>
          <a:prstGeom prst="rect">
            <a:avLst/>
          </a:prstGeom>
          <a:noFill/>
          <a:ln/>
        </p:spPr>
        <p:txBody>
          <a:bodyPr wrap="square" lIns="0" tIns="0" rIns="0" bIns="0" rtlCol="0" anchor="t"/>
          <a:lstStyle/>
          <a:p>
            <a:pPr marL="0" indent="0" algn="l">
              <a:lnSpc>
                <a:spcPct val="100000"/>
              </a:lnSpc>
              <a:buNone/>
            </a:pPr>
            <a:r>
              <a:rPr lang="en-US" sz="1600" b="1">
                <a:solidFill>
                  <a:srgbClr val="1D1D1F"/>
                </a:solidFill>
                <a:latin typeface="Arial" pitchFamily="34" charset="0"/>
                <a:ea typeface="Arial" pitchFamily="34" charset="-122"/>
                <a:cs typeface="Arial" pitchFamily="34" charset="-120"/>
              </a:rPr>
              <a:t>Java</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Python</a:t>
            </a:r>
            <a:endParaRPr lang="en-US" sz="1600"/>
          </a:p>
          <a:p>
            <a:pPr marL="0" indent="0" algn="l">
              <a:lnSpc>
                <a:spcPct val="100000"/>
              </a:lnSpc>
              <a:buNone/>
            </a:pPr>
            <a:r>
              <a:rPr lang="en-US" sz="1600" b="1">
                <a:solidFill>
                  <a:srgbClr val="1D1D1F"/>
                </a:solidFill>
                <a:latin typeface="Arial" pitchFamily="34" charset="0"/>
                <a:ea typeface="Arial" pitchFamily="34" charset="-122"/>
                <a:cs typeface="Arial" pitchFamily="34" charset="-120"/>
              </a:rPr>
              <a:t>Solidity</a:t>
            </a:r>
            <a:endParaRPr lang="en-US" sz="1600"/>
          </a:p>
        </p:txBody>
      </p:sp>
      <p:sp>
        <p:nvSpPr>
          <p:cNvPr id="25" name="Text 22"/>
          <p:cNvSpPr/>
          <p:nvPr/>
        </p:nvSpPr>
        <p:spPr>
          <a:xfrm>
            <a:off x="548640" y="6035040"/>
            <a:ext cx="11091672" cy="320040"/>
          </a:xfrm>
          <a:prstGeom prst="rect">
            <a:avLst/>
          </a:prstGeom>
          <a:noFill/>
          <a:ln/>
        </p:spPr>
        <p:txBody>
          <a:bodyPr wrap="square" lIns="0" tIns="0" rIns="0" bIns="0" rtlCol="0" anchor="t"/>
          <a:lstStyle/>
          <a:p>
            <a:pPr marL="0" indent="0" algn="ctr">
              <a:buNone/>
            </a:pPr>
            <a:r>
              <a:rPr lang="en-US" sz="1300">
                <a:solidFill>
                  <a:srgbClr val="6E6E73"/>
                </a:solidFill>
                <a:latin typeface="Arial" pitchFamily="34" charset="0"/>
                <a:ea typeface="Arial" pitchFamily="34" charset="-122"/>
                <a:cs typeface="Arial" pitchFamily="34" charset="-120"/>
              </a:rPr>
              <a:t>SysML: 0 included studies. State machines and activity diagrams: not generated and evaluated in any study.</a:t>
            </a:r>
            <a:endParaRPr lang="en-US" sz="1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Zenande Kalipa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14</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Conceptual framework</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200" b="1">
                <a:solidFill>
                  <a:srgbClr val="FFFFFF"/>
                </a:solidFill>
                <a:latin typeface="Arial" pitchFamily="34" charset="0"/>
                <a:ea typeface="Arial" pitchFamily="34" charset="-122"/>
                <a:cs typeface="Arial" pitchFamily="34" charset="-120"/>
              </a:rPr>
              <a:t>Grounding is what makes AI output usable.</a:t>
            </a:r>
            <a:endParaRPr lang="en-US" sz="4200"/>
          </a:p>
        </p:txBody>
      </p:sp>
      <p:sp>
        <p:nvSpPr>
          <p:cNvPr id="7" name="Shape 4"/>
          <p:cNvSpPr/>
          <p:nvPr/>
        </p:nvSpPr>
        <p:spPr>
          <a:xfrm>
            <a:off x="548640" y="3429000"/>
            <a:ext cx="3291840" cy="2194560"/>
          </a:xfrm>
          <a:prstGeom prst="roundRect">
            <a:avLst>
              <a:gd name="adj" fmla="val 9167"/>
            </a:avLst>
          </a:prstGeom>
          <a:solidFill>
            <a:srgbClr val="1C1C1E"/>
          </a:solidFill>
          <a:ln w="12700">
            <a:solidFill>
              <a:srgbClr val="1C1C1E"/>
            </a:solidFill>
            <a:prstDash val="solid"/>
          </a:ln>
        </p:spPr>
        <p:txBody>
          <a:bodyPr/>
          <a:lstStyle/>
          <a:p>
            <a:endParaRPr lang="en-US"/>
          </a:p>
        </p:txBody>
      </p:sp>
      <p:sp>
        <p:nvSpPr>
          <p:cNvPr id="8" name="Text 5"/>
          <p:cNvSpPr/>
          <p:nvPr/>
        </p:nvSpPr>
        <p:spPr>
          <a:xfrm>
            <a:off x="777240" y="3611880"/>
            <a:ext cx="2834640" cy="274320"/>
          </a:xfrm>
          <a:prstGeom prst="rect">
            <a:avLst/>
          </a:prstGeom>
          <a:noFill/>
          <a:ln/>
        </p:spPr>
        <p:txBody>
          <a:bodyPr wrap="square" lIns="0" tIns="0" rIns="0" bIns="0" rtlCol="0" anchor="t"/>
          <a:lstStyle/>
          <a:p>
            <a:pPr marL="0" indent="0" algn="l">
              <a:buNone/>
            </a:pPr>
            <a:r>
              <a:rPr lang="en-US" sz="1200" b="1">
                <a:solidFill>
                  <a:srgbClr val="2997FF"/>
                </a:solidFill>
                <a:latin typeface="Arial" pitchFamily="34" charset="0"/>
                <a:ea typeface="Arial" pitchFamily="34" charset="-122"/>
                <a:cs typeface="Arial" pitchFamily="34" charset="-120"/>
              </a:rPr>
              <a:t>INDEPENDENT</a:t>
            </a:r>
            <a:endParaRPr lang="en-US" sz="1200"/>
          </a:p>
        </p:txBody>
      </p:sp>
      <p:sp>
        <p:nvSpPr>
          <p:cNvPr id="9" name="Text 6"/>
          <p:cNvSpPr/>
          <p:nvPr/>
        </p:nvSpPr>
        <p:spPr>
          <a:xfrm>
            <a:off x="777240" y="3886200"/>
            <a:ext cx="2834640" cy="411480"/>
          </a:xfrm>
          <a:prstGeom prst="rect">
            <a:avLst/>
          </a:prstGeom>
          <a:noFill/>
          <a:ln/>
        </p:spPr>
        <p:txBody>
          <a:bodyPr wrap="square" lIns="0" tIns="0" rIns="0" bIns="0" rtlCol="0" anchor="t"/>
          <a:lstStyle/>
          <a:p>
            <a:pPr marL="0" indent="0" algn="l">
              <a:buNone/>
            </a:pPr>
            <a:r>
              <a:rPr lang="en-US" sz="1700" b="1">
                <a:solidFill>
                  <a:srgbClr val="FFFFFF"/>
                </a:solidFill>
                <a:latin typeface="Arial" pitchFamily="34" charset="0"/>
                <a:ea typeface="Arial" pitchFamily="34" charset="-122"/>
                <a:cs typeface="Arial" pitchFamily="34" charset="-120"/>
              </a:rPr>
              <a:t>AI intervention</a:t>
            </a:r>
            <a:endParaRPr lang="en-US" sz="1700"/>
          </a:p>
        </p:txBody>
      </p:sp>
      <p:sp>
        <p:nvSpPr>
          <p:cNvPr id="10" name="Text 7"/>
          <p:cNvSpPr/>
          <p:nvPr/>
        </p:nvSpPr>
        <p:spPr>
          <a:xfrm>
            <a:off x="777240" y="4343400"/>
            <a:ext cx="2834640" cy="118872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Model family, prompting, fine-tuning, retrieval, agent design</a:t>
            </a:r>
            <a:endParaRPr lang="en-US" sz="1300"/>
          </a:p>
        </p:txBody>
      </p:sp>
      <p:sp>
        <p:nvSpPr>
          <p:cNvPr id="11" name="Shape 8"/>
          <p:cNvSpPr/>
          <p:nvPr/>
        </p:nvSpPr>
        <p:spPr>
          <a:xfrm>
            <a:off x="4453128" y="3429000"/>
            <a:ext cx="3291840" cy="2194560"/>
          </a:xfrm>
          <a:prstGeom prst="roundRect">
            <a:avLst>
              <a:gd name="adj" fmla="val 9167"/>
            </a:avLst>
          </a:prstGeom>
          <a:solidFill>
            <a:srgbClr val="1C1C1E"/>
          </a:solidFill>
          <a:ln w="12700">
            <a:solidFill>
              <a:srgbClr val="1C1C1E"/>
            </a:solidFill>
            <a:prstDash val="solid"/>
          </a:ln>
        </p:spPr>
        <p:txBody>
          <a:bodyPr/>
          <a:lstStyle/>
          <a:p>
            <a:endParaRPr lang="en-US"/>
          </a:p>
        </p:txBody>
      </p:sp>
      <p:sp>
        <p:nvSpPr>
          <p:cNvPr id="12" name="Text 9"/>
          <p:cNvSpPr/>
          <p:nvPr/>
        </p:nvSpPr>
        <p:spPr>
          <a:xfrm>
            <a:off x="4681728" y="3611880"/>
            <a:ext cx="2834640" cy="274320"/>
          </a:xfrm>
          <a:prstGeom prst="rect">
            <a:avLst/>
          </a:prstGeom>
          <a:noFill/>
          <a:ln/>
        </p:spPr>
        <p:txBody>
          <a:bodyPr wrap="square" lIns="0" tIns="0" rIns="0" bIns="0" rtlCol="0" anchor="t"/>
          <a:lstStyle/>
          <a:p>
            <a:pPr marL="0" indent="0" algn="l">
              <a:buNone/>
            </a:pPr>
            <a:r>
              <a:rPr lang="en-US" sz="1200" b="1">
                <a:solidFill>
                  <a:srgbClr val="FF9F0A"/>
                </a:solidFill>
                <a:latin typeface="Arial" pitchFamily="34" charset="0"/>
                <a:ea typeface="Arial" pitchFamily="34" charset="-122"/>
                <a:cs typeface="Arial" pitchFamily="34" charset="-120"/>
              </a:rPr>
              <a:t>MEDIATING</a:t>
            </a:r>
            <a:endParaRPr lang="en-US" sz="1200"/>
          </a:p>
        </p:txBody>
      </p:sp>
      <p:sp>
        <p:nvSpPr>
          <p:cNvPr id="13" name="Text 10"/>
          <p:cNvSpPr/>
          <p:nvPr/>
        </p:nvSpPr>
        <p:spPr>
          <a:xfrm>
            <a:off x="4681728" y="3886200"/>
            <a:ext cx="2834640" cy="411480"/>
          </a:xfrm>
          <a:prstGeom prst="rect">
            <a:avLst/>
          </a:prstGeom>
          <a:noFill/>
          <a:ln/>
        </p:spPr>
        <p:txBody>
          <a:bodyPr wrap="square" lIns="0" tIns="0" rIns="0" bIns="0" rtlCol="0" anchor="t"/>
          <a:lstStyle/>
          <a:p>
            <a:pPr marL="0" indent="0" algn="l">
              <a:buNone/>
            </a:pPr>
            <a:r>
              <a:rPr lang="en-US" sz="1700" b="1">
                <a:solidFill>
                  <a:srgbClr val="FFFFFF"/>
                </a:solidFill>
                <a:latin typeface="Arial" pitchFamily="34" charset="0"/>
                <a:ea typeface="Arial" pitchFamily="34" charset="-122"/>
                <a:cs typeface="Arial" pitchFamily="34" charset="-120"/>
              </a:rPr>
              <a:t>Transparency &amp; grounding</a:t>
            </a:r>
            <a:endParaRPr lang="en-US" sz="1700"/>
          </a:p>
        </p:txBody>
      </p:sp>
      <p:sp>
        <p:nvSpPr>
          <p:cNvPr id="14" name="Text 11"/>
          <p:cNvSpPr/>
          <p:nvPr/>
        </p:nvSpPr>
        <p:spPr>
          <a:xfrm>
            <a:off x="4681728" y="4343400"/>
            <a:ext cx="2834640" cy="118872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Intermediate representations, metamodels, deterministic verification, human review</a:t>
            </a:r>
            <a:endParaRPr lang="en-US" sz="1300"/>
          </a:p>
        </p:txBody>
      </p:sp>
      <p:sp>
        <p:nvSpPr>
          <p:cNvPr id="15" name="Shape 12"/>
          <p:cNvSpPr/>
          <p:nvPr/>
        </p:nvSpPr>
        <p:spPr>
          <a:xfrm>
            <a:off x="8348472" y="3429000"/>
            <a:ext cx="3291840" cy="2194560"/>
          </a:xfrm>
          <a:prstGeom prst="roundRect">
            <a:avLst>
              <a:gd name="adj" fmla="val 9167"/>
            </a:avLst>
          </a:prstGeom>
          <a:solidFill>
            <a:srgbClr val="1C1C1E"/>
          </a:solidFill>
          <a:ln w="12700">
            <a:solidFill>
              <a:srgbClr val="1C1C1E"/>
            </a:solidFill>
            <a:prstDash val="solid"/>
          </a:ln>
        </p:spPr>
        <p:txBody>
          <a:bodyPr/>
          <a:lstStyle/>
          <a:p>
            <a:endParaRPr lang="en-US"/>
          </a:p>
        </p:txBody>
      </p:sp>
      <p:sp>
        <p:nvSpPr>
          <p:cNvPr id="16" name="Text 13"/>
          <p:cNvSpPr/>
          <p:nvPr/>
        </p:nvSpPr>
        <p:spPr>
          <a:xfrm>
            <a:off x="8577072" y="3611880"/>
            <a:ext cx="2834640" cy="274320"/>
          </a:xfrm>
          <a:prstGeom prst="rect">
            <a:avLst/>
          </a:prstGeom>
          <a:noFill/>
          <a:ln/>
        </p:spPr>
        <p:txBody>
          <a:bodyPr wrap="square" lIns="0" tIns="0" rIns="0" bIns="0" rtlCol="0" anchor="t"/>
          <a:lstStyle/>
          <a:p>
            <a:pPr marL="0" indent="0" algn="l">
              <a:buNone/>
            </a:pPr>
            <a:r>
              <a:rPr lang="en-US" sz="1200" b="1">
                <a:solidFill>
                  <a:srgbClr val="30D158"/>
                </a:solidFill>
                <a:latin typeface="Arial" pitchFamily="34" charset="0"/>
                <a:ea typeface="Arial" pitchFamily="34" charset="-122"/>
                <a:cs typeface="Arial" pitchFamily="34" charset="-120"/>
              </a:rPr>
              <a:t>DEPENDENT</a:t>
            </a:r>
            <a:endParaRPr lang="en-US" sz="1200"/>
          </a:p>
        </p:txBody>
      </p:sp>
      <p:sp>
        <p:nvSpPr>
          <p:cNvPr id="17" name="Text 14"/>
          <p:cNvSpPr/>
          <p:nvPr/>
        </p:nvSpPr>
        <p:spPr>
          <a:xfrm>
            <a:off x="8577072" y="3886200"/>
            <a:ext cx="2834640" cy="411480"/>
          </a:xfrm>
          <a:prstGeom prst="rect">
            <a:avLst/>
          </a:prstGeom>
          <a:noFill/>
          <a:ln/>
        </p:spPr>
        <p:txBody>
          <a:bodyPr wrap="square" lIns="0" tIns="0" rIns="0" bIns="0" rtlCol="0" anchor="t"/>
          <a:lstStyle/>
          <a:p>
            <a:pPr marL="0" indent="0" algn="l">
              <a:buNone/>
            </a:pPr>
            <a:r>
              <a:rPr lang="en-US" sz="1700" b="1">
                <a:solidFill>
                  <a:srgbClr val="FFFFFF"/>
                </a:solidFill>
                <a:latin typeface="Arial" pitchFamily="34" charset="0"/>
                <a:ea typeface="Arial" pitchFamily="34" charset="-122"/>
                <a:cs typeface="Arial" pitchFamily="34" charset="-120"/>
              </a:rPr>
              <a:t>Engineering outcomes</a:t>
            </a:r>
            <a:endParaRPr lang="en-US" sz="1700"/>
          </a:p>
        </p:txBody>
      </p:sp>
      <p:sp>
        <p:nvSpPr>
          <p:cNvPr id="18" name="Text 15"/>
          <p:cNvSpPr/>
          <p:nvPr/>
        </p:nvSpPr>
        <p:spPr>
          <a:xfrm>
            <a:off x="8577072" y="4343400"/>
            <a:ext cx="2834640" cy="118872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Syntactic validity, semantic fidelity, completeness, consistency, time saved</a:t>
            </a:r>
            <a:endParaRPr lang="en-US" sz="1300"/>
          </a:p>
        </p:txBody>
      </p:sp>
      <p:sp>
        <p:nvSpPr>
          <p:cNvPr id="19" name="Shape 16"/>
          <p:cNvSpPr/>
          <p:nvPr/>
        </p:nvSpPr>
        <p:spPr>
          <a:xfrm>
            <a:off x="4453128" y="2011680"/>
            <a:ext cx="3291840" cy="1188720"/>
          </a:xfrm>
          <a:prstGeom prst="roundRect">
            <a:avLst>
              <a:gd name="adj" fmla="val 16923"/>
            </a:avLst>
          </a:prstGeom>
          <a:solidFill>
            <a:srgbClr val="1C1C1E"/>
          </a:solidFill>
          <a:ln w="12700">
            <a:solidFill>
              <a:srgbClr val="1C1C1E"/>
            </a:solidFill>
            <a:prstDash val="solid"/>
          </a:ln>
        </p:spPr>
        <p:txBody>
          <a:bodyPr/>
          <a:lstStyle/>
          <a:p>
            <a:endParaRPr lang="en-US"/>
          </a:p>
        </p:txBody>
      </p:sp>
      <p:sp>
        <p:nvSpPr>
          <p:cNvPr id="20" name="Text 17"/>
          <p:cNvSpPr/>
          <p:nvPr/>
        </p:nvSpPr>
        <p:spPr>
          <a:xfrm>
            <a:off x="4681728" y="2194560"/>
            <a:ext cx="2834640" cy="274320"/>
          </a:xfrm>
          <a:prstGeom prst="rect">
            <a:avLst/>
          </a:prstGeom>
          <a:noFill/>
          <a:ln/>
        </p:spPr>
        <p:txBody>
          <a:bodyPr wrap="square" lIns="0" tIns="0" rIns="0" bIns="0" rtlCol="0" anchor="t"/>
          <a:lstStyle/>
          <a:p>
            <a:pPr marL="0" indent="0" algn="l">
              <a:buNone/>
            </a:pPr>
            <a:r>
              <a:rPr lang="en-US" sz="1200" b="1">
                <a:solidFill>
                  <a:srgbClr val="FF375F"/>
                </a:solidFill>
                <a:latin typeface="Arial" pitchFamily="34" charset="0"/>
                <a:ea typeface="Arial" pitchFamily="34" charset="-122"/>
                <a:cs typeface="Arial" pitchFamily="34" charset="-120"/>
              </a:rPr>
              <a:t>MODERATING</a:t>
            </a:r>
            <a:endParaRPr lang="en-US" sz="1200"/>
          </a:p>
        </p:txBody>
      </p:sp>
      <p:sp>
        <p:nvSpPr>
          <p:cNvPr id="21" name="Text 18"/>
          <p:cNvSpPr/>
          <p:nvPr/>
        </p:nvSpPr>
        <p:spPr>
          <a:xfrm>
            <a:off x="4681728" y="2468880"/>
            <a:ext cx="2834640" cy="411480"/>
          </a:xfrm>
          <a:prstGeom prst="rect">
            <a:avLst/>
          </a:prstGeom>
          <a:noFill/>
          <a:ln/>
        </p:spPr>
        <p:txBody>
          <a:bodyPr wrap="square" lIns="0" tIns="0" rIns="0" bIns="0" rtlCol="0" anchor="t"/>
          <a:lstStyle/>
          <a:p>
            <a:pPr marL="0" indent="0" algn="l">
              <a:buNone/>
            </a:pPr>
            <a:r>
              <a:rPr lang="en-US" sz="1700" b="1">
                <a:solidFill>
                  <a:srgbClr val="FFFFFF"/>
                </a:solidFill>
                <a:latin typeface="Arial" pitchFamily="34" charset="0"/>
                <a:ea typeface="Arial" pitchFamily="34" charset="-122"/>
                <a:cs typeface="Arial" pitchFamily="34" charset="-120"/>
              </a:rPr>
              <a:t>Context</a:t>
            </a:r>
            <a:endParaRPr lang="en-US" sz="1700"/>
          </a:p>
        </p:txBody>
      </p:sp>
      <p:sp>
        <p:nvSpPr>
          <p:cNvPr id="22" name="Text 19"/>
          <p:cNvSpPr/>
          <p:nvPr/>
        </p:nvSpPr>
        <p:spPr>
          <a:xfrm>
            <a:off x="4681728" y="2926080"/>
            <a:ext cx="2834640" cy="182880"/>
          </a:xfrm>
          <a:prstGeom prst="rect">
            <a:avLst/>
          </a:prstGeom>
          <a:noFill/>
          <a:ln/>
        </p:spPr>
        <p:txBody>
          <a:bodyPr wrap="square" lIns="0" tIns="0" rIns="0" bIns="0" rtlCol="0" anchor="t"/>
          <a:lstStyle/>
          <a:p>
            <a:pPr marL="0" indent="0" algn="l">
              <a:buNone/>
            </a:pPr>
            <a:endParaRPr lang="en-US" sz="1300"/>
          </a:p>
        </p:txBody>
      </p:sp>
      <p:sp>
        <p:nvSpPr>
          <p:cNvPr id="23" name="Text 20"/>
          <p:cNvSpPr/>
          <p:nvPr/>
        </p:nvSpPr>
        <p:spPr>
          <a:xfrm>
            <a:off x="7863840" y="2286000"/>
            <a:ext cx="3749040" cy="64008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Language strictness, domain complexity, system scale, team expertise</a:t>
            </a:r>
            <a:endParaRPr lang="en-US" sz="1300"/>
          </a:p>
        </p:txBody>
      </p:sp>
      <p:sp>
        <p:nvSpPr>
          <p:cNvPr id="24" name="Shape 21"/>
          <p:cNvSpPr/>
          <p:nvPr/>
        </p:nvSpPr>
        <p:spPr>
          <a:xfrm>
            <a:off x="3858768" y="4526280"/>
            <a:ext cx="667512" cy="0"/>
          </a:xfrm>
          <a:prstGeom prst="line">
            <a:avLst/>
          </a:prstGeom>
          <a:noFill/>
          <a:ln w="25400">
            <a:solidFill>
              <a:srgbClr val="A1A1A6"/>
            </a:solidFill>
            <a:prstDash val="solid"/>
            <a:tailEnd type="triangle"/>
          </a:ln>
        </p:spPr>
        <p:txBody>
          <a:bodyPr/>
          <a:lstStyle/>
          <a:p>
            <a:endParaRPr lang="en-US"/>
          </a:p>
        </p:txBody>
      </p:sp>
      <p:sp>
        <p:nvSpPr>
          <p:cNvPr id="25" name="Shape 22"/>
          <p:cNvSpPr/>
          <p:nvPr/>
        </p:nvSpPr>
        <p:spPr>
          <a:xfrm>
            <a:off x="7763256" y="4526280"/>
            <a:ext cx="566928" cy="0"/>
          </a:xfrm>
          <a:prstGeom prst="line">
            <a:avLst/>
          </a:prstGeom>
          <a:noFill/>
          <a:ln w="25400">
            <a:solidFill>
              <a:srgbClr val="A1A1A6"/>
            </a:solidFill>
            <a:prstDash val="solid"/>
            <a:tailEnd type="triangle"/>
          </a:ln>
        </p:spPr>
        <p:txBody>
          <a:bodyPr/>
          <a:lstStyle/>
          <a:p>
            <a:endParaRPr lang="en-US"/>
          </a:p>
        </p:txBody>
      </p:sp>
      <p:sp>
        <p:nvSpPr>
          <p:cNvPr id="26" name="Shape 23"/>
          <p:cNvSpPr/>
          <p:nvPr/>
        </p:nvSpPr>
        <p:spPr>
          <a:xfrm>
            <a:off x="6099048" y="3218688"/>
            <a:ext cx="0" cy="192024"/>
          </a:xfrm>
          <a:prstGeom prst="line">
            <a:avLst/>
          </a:prstGeom>
          <a:noFill/>
          <a:ln w="25400">
            <a:solidFill>
              <a:srgbClr val="FF375F"/>
            </a:solidFill>
            <a:prstDash val="solid"/>
            <a:tailEnd type="triangle"/>
          </a:ln>
        </p:spPr>
        <p:txBody>
          <a:bodyPr/>
          <a:lstStyle/>
          <a:p>
            <a:endParaRPr lang="en-US"/>
          </a:p>
        </p:txBody>
      </p:sp>
      <p:sp>
        <p:nvSpPr>
          <p:cNvPr id="27" name="Text 24"/>
          <p:cNvSpPr/>
          <p:nvPr/>
        </p:nvSpPr>
        <p:spPr>
          <a:xfrm>
            <a:off x="548640" y="5852160"/>
            <a:ext cx="11091672" cy="365760"/>
          </a:xfrm>
          <a:prstGeom prst="rect">
            <a:avLst/>
          </a:prstGeom>
          <a:noFill/>
          <a:ln/>
        </p:spPr>
        <p:txBody>
          <a:bodyPr wrap="square" lIns="0" tIns="0" rIns="0" bIns="0" rtlCol="0" anchor="t"/>
          <a:lstStyle/>
          <a:p>
            <a:pPr marL="0" indent="0" algn="ctr">
              <a:buNone/>
            </a:pPr>
            <a:r>
              <a:rPr lang="en-US" sz="1400">
                <a:solidFill>
                  <a:srgbClr val="A1A1A6"/>
                </a:solidFill>
                <a:latin typeface="Arial" pitchFamily="34" charset="0"/>
                <a:ea typeface="Arial" pitchFamily="34" charset="-122"/>
                <a:cs typeface="Arial" pitchFamily="34" charset="-120"/>
              </a:rPr>
              <a:t>H1 grounding comes from design choices · H2 grounding improves outcomes · H3 context moderates · H4 outcome quality limits safe autonomy</a:t>
            </a:r>
            <a:endParaRPr 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Siyanda Hlati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15</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Evaluation hierarchy</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3400" b="1">
                <a:solidFill>
                  <a:srgbClr val="1D1D1F"/>
                </a:solidFill>
                <a:latin typeface="Arial" pitchFamily="34" charset="0"/>
                <a:ea typeface="Arial" pitchFamily="34" charset="-122"/>
                <a:cs typeface="Arial" pitchFamily="34" charset="-120"/>
              </a:rPr>
              <a:t>12 check syntax. 5 check formal conformance.</a:t>
            </a:r>
            <a:endParaRPr lang="en-US" sz="3400"/>
          </a:p>
        </p:txBody>
      </p:sp>
      <p:sp>
        <p:nvSpPr>
          <p:cNvPr id="7" name="Shape 4"/>
          <p:cNvSpPr/>
          <p:nvPr/>
        </p:nvSpPr>
        <p:spPr>
          <a:xfrm>
            <a:off x="960120" y="5202936"/>
            <a:ext cx="914400" cy="54864"/>
          </a:xfrm>
          <a:prstGeom prst="roundRect">
            <a:avLst>
              <a:gd name="adj" fmla="val 166667"/>
            </a:avLst>
          </a:prstGeom>
          <a:solidFill>
            <a:srgbClr val="D1D1D6"/>
          </a:solidFill>
          <a:ln w="12700">
            <a:solidFill>
              <a:srgbClr val="D1D1D6"/>
            </a:solidFill>
            <a:prstDash val="solid"/>
          </a:ln>
        </p:spPr>
        <p:txBody>
          <a:bodyPr/>
          <a:lstStyle/>
          <a:p>
            <a:endParaRPr lang="en-US"/>
          </a:p>
        </p:txBody>
      </p:sp>
      <p:sp>
        <p:nvSpPr>
          <p:cNvPr id="8" name="Text 5"/>
          <p:cNvSpPr/>
          <p:nvPr/>
        </p:nvSpPr>
        <p:spPr>
          <a:xfrm>
            <a:off x="640080" y="4700016"/>
            <a:ext cx="1554480" cy="457200"/>
          </a:xfrm>
          <a:prstGeom prst="rect">
            <a:avLst/>
          </a:prstGeom>
          <a:noFill/>
          <a:ln/>
        </p:spPr>
        <p:txBody>
          <a:bodyPr wrap="square" lIns="0" tIns="0" rIns="0" bIns="0" rtlCol="0" anchor="t"/>
          <a:lstStyle/>
          <a:p>
            <a:pPr marL="0" indent="0" algn="ctr">
              <a:buNone/>
            </a:pPr>
            <a:r>
              <a:rPr lang="en-US" sz="2600" b="1">
                <a:solidFill>
                  <a:srgbClr val="1D1D1F"/>
                </a:solidFill>
                <a:latin typeface="Arial" pitchFamily="34" charset="0"/>
                <a:ea typeface="Arial" pitchFamily="34" charset="-122"/>
                <a:cs typeface="Arial" pitchFamily="34" charset="-120"/>
              </a:rPr>
              <a:t>0</a:t>
            </a:r>
            <a:endParaRPr lang="en-US" sz="2600"/>
          </a:p>
        </p:txBody>
      </p:sp>
      <p:sp>
        <p:nvSpPr>
          <p:cNvPr id="9" name="Text 6"/>
          <p:cNvSpPr/>
          <p:nvPr/>
        </p:nvSpPr>
        <p:spPr>
          <a:xfrm>
            <a:off x="640080"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0  Unchecked</a:t>
            </a:r>
            <a:endParaRPr lang="en-US" sz="1300"/>
          </a:p>
        </p:txBody>
      </p:sp>
      <p:sp>
        <p:nvSpPr>
          <p:cNvPr id="10" name="Text 7"/>
          <p:cNvSpPr/>
          <p:nvPr/>
        </p:nvSpPr>
        <p:spPr>
          <a:xfrm>
            <a:off x="640080"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raw generation</a:t>
            </a:r>
            <a:endParaRPr lang="en-US" sz="1200"/>
          </a:p>
        </p:txBody>
      </p:sp>
      <p:sp>
        <p:nvSpPr>
          <p:cNvPr id="11" name="Shape 8"/>
          <p:cNvSpPr/>
          <p:nvPr/>
        </p:nvSpPr>
        <p:spPr>
          <a:xfrm>
            <a:off x="2532888" y="2514600"/>
            <a:ext cx="914400" cy="2743200"/>
          </a:xfrm>
          <a:prstGeom prst="roundRect">
            <a:avLst>
              <a:gd name="adj" fmla="val 10000"/>
            </a:avLst>
          </a:prstGeom>
          <a:solidFill>
            <a:srgbClr val="0071E3"/>
          </a:solidFill>
          <a:ln w="12700">
            <a:solidFill>
              <a:srgbClr val="0071E3"/>
            </a:solidFill>
            <a:prstDash val="solid"/>
          </a:ln>
        </p:spPr>
        <p:txBody>
          <a:bodyPr/>
          <a:lstStyle/>
          <a:p>
            <a:endParaRPr lang="en-US"/>
          </a:p>
        </p:txBody>
      </p:sp>
      <p:sp>
        <p:nvSpPr>
          <p:cNvPr id="12" name="Text 9"/>
          <p:cNvSpPr/>
          <p:nvPr/>
        </p:nvSpPr>
        <p:spPr>
          <a:xfrm>
            <a:off x="2212848" y="2011680"/>
            <a:ext cx="1554480" cy="457200"/>
          </a:xfrm>
          <a:prstGeom prst="rect">
            <a:avLst/>
          </a:prstGeom>
          <a:noFill/>
          <a:ln/>
        </p:spPr>
        <p:txBody>
          <a:bodyPr wrap="square" lIns="0" tIns="0" rIns="0" bIns="0" rtlCol="0" anchor="t"/>
          <a:lstStyle/>
          <a:p>
            <a:pPr marL="0" indent="0" algn="ctr">
              <a:buNone/>
            </a:pPr>
            <a:r>
              <a:rPr lang="en-US" sz="2600" b="1">
                <a:solidFill>
                  <a:srgbClr val="1D1D1F"/>
                </a:solidFill>
                <a:latin typeface="Arial" pitchFamily="34" charset="0"/>
                <a:ea typeface="Arial" pitchFamily="34" charset="-122"/>
                <a:cs typeface="Arial" pitchFamily="34" charset="-120"/>
              </a:rPr>
              <a:t>12</a:t>
            </a:r>
            <a:endParaRPr lang="en-US" sz="2600"/>
          </a:p>
        </p:txBody>
      </p:sp>
      <p:sp>
        <p:nvSpPr>
          <p:cNvPr id="13" name="Text 10"/>
          <p:cNvSpPr/>
          <p:nvPr/>
        </p:nvSpPr>
        <p:spPr>
          <a:xfrm>
            <a:off x="2212848"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1  Syntactic</a:t>
            </a:r>
            <a:endParaRPr lang="en-US" sz="1300"/>
          </a:p>
        </p:txBody>
      </p:sp>
      <p:sp>
        <p:nvSpPr>
          <p:cNvPr id="14" name="Text 11"/>
          <p:cNvSpPr/>
          <p:nvPr/>
        </p:nvSpPr>
        <p:spPr>
          <a:xfrm>
            <a:off x="2212848"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parses, compiles</a:t>
            </a:r>
            <a:endParaRPr lang="en-US" sz="1200"/>
          </a:p>
        </p:txBody>
      </p:sp>
      <p:sp>
        <p:nvSpPr>
          <p:cNvPr id="15" name="Shape 12"/>
          <p:cNvSpPr/>
          <p:nvPr/>
        </p:nvSpPr>
        <p:spPr>
          <a:xfrm>
            <a:off x="4105656" y="2743200"/>
            <a:ext cx="914400" cy="2514600"/>
          </a:xfrm>
          <a:prstGeom prst="roundRect">
            <a:avLst>
              <a:gd name="adj" fmla="val 10000"/>
            </a:avLst>
          </a:prstGeom>
          <a:solidFill>
            <a:srgbClr val="0071E3"/>
          </a:solidFill>
          <a:ln w="12700">
            <a:solidFill>
              <a:srgbClr val="0071E3"/>
            </a:solidFill>
            <a:prstDash val="solid"/>
          </a:ln>
        </p:spPr>
        <p:txBody>
          <a:bodyPr/>
          <a:lstStyle/>
          <a:p>
            <a:endParaRPr lang="en-US"/>
          </a:p>
        </p:txBody>
      </p:sp>
      <p:sp>
        <p:nvSpPr>
          <p:cNvPr id="16" name="Text 13"/>
          <p:cNvSpPr/>
          <p:nvPr/>
        </p:nvSpPr>
        <p:spPr>
          <a:xfrm>
            <a:off x="3785616" y="2240280"/>
            <a:ext cx="1554480" cy="457200"/>
          </a:xfrm>
          <a:prstGeom prst="rect">
            <a:avLst/>
          </a:prstGeom>
          <a:noFill/>
          <a:ln/>
        </p:spPr>
        <p:txBody>
          <a:bodyPr wrap="square" lIns="0" tIns="0" rIns="0" bIns="0" rtlCol="0" anchor="t"/>
          <a:lstStyle/>
          <a:p>
            <a:pPr marL="0" indent="0" algn="ctr">
              <a:buNone/>
            </a:pPr>
            <a:r>
              <a:rPr lang="en-US" sz="2600" b="1">
                <a:solidFill>
                  <a:srgbClr val="1D1D1F"/>
                </a:solidFill>
                <a:latin typeface="Arial" pitchFamily="34" charset="0"/>
                <a:ea typeface="Arial" pitchFamily="34" charset="-122"/>
                <a:cs typeface="Arial" pitchFamily="34" charset="-120"/>
              </a:rPr>
              <a:t>11</a:t>
            </a:r>
            <a:endParaRPr lang="en-US" sz="2600"/>
          </a:p>
        </p:txBody>
      </p:sp>
      <p:sp>
        <p:nvSpPr>
          <p:cNvPr id="17" name="Text 14"/>
          <p:cNvSpPr/>
          <p:nvPr/>
        </p:nvSpPr>
        <p:spPr>
          <a:xfrm>
            <a:off x="3785616"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2  Semantic</a:t>
            </a:r>
            <a:endParaRPr lang="en-US" sz="1300"/>
          </a:p>
        </p:txBody>
      </p:sp>
      <p:sp>
        <p:nvSpPr>
          <p:cNvPr id="18" name="Text 15"/>
          <p:cNvSpPr/>
          <p:nvPr/>
        </p:nvSpPr>
        <p:spPr>
          <a:xfrm>
            <a:off x="3785616"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precision, recall, F1</a:t>
            </a:r>
            <a:endParaRPr lang="en-US" sz="1200"/>
          </a:p>
        </p:txBody>
      </p:sp>
      <p:sp>
        <p:nvSpPr>
          <p:cNvPr id="19" name="Shape 16"/>
          <p:cNvSpPr/>
          <p:nvPr/>
        </p:nvSpPr>
        <p:spPr>
          <a:xfrm>
            <a:off x="5678424" y="3657600"/>
            <a:ext cx="914400" cy="1600200"/>
          </a:xfrm>
          <a:prstGeom prst="roundRect">
            <a:avLst>
              <a:gd name="adj" fmla="val 10000"/>
            </a:avLst>
          </a:prstGeom>
          <a:solidFill>
            <a:srgbClr val="AEAEB2"/>
          </a:solidFill>
          <a:ln w="12700">
            <a:solidFill>
              <a:srgbClr val="AEAEB2"/>
            </a:solidFill>
            <a:prstDash val="solid"/>
          </a:ln>
        </p:spPr>
        <p:txBody>
          <a:bodyPr/>
          <a:lstStyle/>
          <a:p>
            <a:endParaRPr lang="en-US"/>
          </a:p>
        </p:txBody>
      </p:sp>
      <p:sp>
        <p:nvSpPr>
          <p:cNvPr id="20" name="Text 17"/>
          <p:cNvSpPr/>
          <p:nvPr/>
        </p:nvSpPr>
        <p:spPr>
          <a:xfrm>
            <a:off x="5358384" y="3154680"/>
            <a:ext cx="1554480" cy="457200"/>
          </a:xfrm>
          <a:prstGeom prst="rect">
            <a:avLst/>
          </a:prstGeom>
          <a:noFill/>
          <a:ln/>
        </p:spPr>
        <p:txBody>
          <a:bodyPr wrap="square" lIns="0" tIns="0" rIns="0" bIns="0" rtlCol="0" anchor="t"/>
          <a:lstStyle/>
          <a:p>
            <a:pPr marL="0" indent="0" algn="ctr">
              <a:buNone/>
            </a:pPr>
            <a:r>
              <a:rPr lang="en-US" sz="2600" b="1">
                <a:solidFill>
                  <a:srgbClr val="1D1D1F"/>
                </a:solidFill>
                <a:latin typeface="Arial" pitchFamily="34" charset="0"/>
                <a:ea typeface="Arial" pitchFamily="34" charset="-122"/>
                <a:cs typeface="Arial" pitchFamily="34" charset="-120"/>
              </a:rPr>
              <a:t>7</a:t>
            </a:r>
            <a:endParaRPr lang="en-US" sz="2600"/>
          </a:p>
        </p:txBody>
      </p:sp>
      <p:sp>
        <p:nvSpPr>
          <p:cNvPr id="21" name="Text 18"/>
          <p:cNvSpPr/>
          <p:nvPr/>
        </p:nvSpPr>
        <p:spPr>
          <a:xfrm>
            <a:off x="5358384"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3  Structural</a:t>
            </a:r>
            <a:endParaRPr lang="en-US" sz="1300"/>
          </a:p>
        </p:txBody>
      </p:sp>
      <p:sp>
        <p:nvSpPr>
          <p:cNvPr id="22" name="Text 19"/>
          <p:cNvSpPr/>
          <p:nvPr/>
        </p:nvSpPr>
        <p:spPr>
          <a:xfrm>
            <a:off x="5358384"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completeness, consistency</a:t>
            </a:r>
            <a:endParaRPr lang="en-US" sz="1200"/>
          </a:p>
        </p:txBody>
      </p:sp>
      <p:sp>
        <p:nvSpPr>
          <p:cNvPr id="23" name="Shape 20"/>
          <p:cNvSpPr/>
          <p:nvPr/>
        </p:nvSpPr>
        <p:spPr>
          <a:xfrm>
            <a:off x="7251192" y="4114800"/>
            <a:ext cx="914400" cy="1143000"/>
          </a:xfrm>
          <a:prstGeom prst="roundRect">
            <a:avLst>
              <a:gd name="adj" fmla="val 10000"/>
            </a:avLst>
          </a:prstGeom>
          <a:solidFill>
            <a:srgbClr val="FF375F"/>
          </a:solidFill>
          <a:ln w="12700">
            <a:solidFill>
              <a:srgbClr val="FF375F"/>
            </a:solidFill>
            <a:prstDash val="solid"/>
          </a:ln>
        </p:spPr>
        <p:txBody>
          <a:bodyPr/>
          <a:lstStyle/>
          <a:p>
            <a:endParaRPr lang="en-US"/>
          </a:p>
        </p:txBody>
      </p:sp>
      <p:sp>
        <p:nvSpPr>
          <p:cNvPr id="24" name="Text 21"/>
          <p:cNvSpPr/>
          <p:nvPr/>
        </p:nvSpPr>
        <p:spPr>
          <a:xfrm>
            <a:off x="6931152" y="3611880"/>
            <a:ext cx="1554480" cy="457200"/>
          </a:xfrm>
          <a:prstGeom prst="rect">
            <a:avLst/>
          </a:prstGeom>
          <a:noFill/>
          <a:ln/>
        </p:spPr>
        <p:txBody>
          <a:bodyPr wrap="square" lIns="0" tIns="0" rIns="0" bIns="0" rtlCol="0" anchor="t"/>
          <a:lstStyle/>
          <a:p>
            <a:pPr marL="0" indent="0" algn="ctr">
              <a:buNone/>
            </a:pPr>
            <a:r>
              <a:rPr lang="en-US" sz="2600" b="1">
                <a:solidFill>
                  <a:srgbClr val="FF375F"/>
                </a:solidFill>
                <a:latin typeface="Arial" pitchFamily="34" charset="0"/>
                <a:ea typeface="Arial" pitchFamily="34" charset="-122"/>
                <a:cs typeface="Arial" pitchFamily="34" charset="-120"/>
              </a:rPr>
              <a:t>5</a:t>
            </a:r>
            <a:endParaRPr lang="en-US" sz="2600"/>
          </a:p>
        </p:txBody>
      </p:sp>
      <p:sp>
        <p:nvSpPr>
          <p:cNvPr id="25" name="Text 22"/>
          <p:cNvSpPr/>
          <p:nvPr/>
        </p:nvSpPr>
        <p:spPr>
          <a:xfrm>
            <a:off x="6931152"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4  Formal</a:t>
            </a:r>
            <a:endParaRPr lang="en-US" sz="1300"/>
          </a:p>
        </p:txBody>
      </p:sp>
      <p:sp>
        <p:nvSpPr>
          <p:cNvPr id="26" name="Text 23"/>
          <p:cNvSpPr/>
          <p:nvPr/>
        </p:nvSpPr>
        <p:spPr>
          <a:xfrm>
            <a:off x="6931152"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OCL, SMT, model checking</a:t>
            </a:r>
            <a:endParaRPr lang="en-US" sz="1200"/>
          </a:p>
        </p:txBody>
      </p:sp>
      <p:sp>
        <p:nvSpPr>
          <p:cNvPr id="27" name="Shape 24"/>
          <p:cNvSpPr/>
          <p:nvPr/>
        </p:nvSpPr>
        <p:spPr>
          <a:xfrm>
            <a:off x="8823960" y="3886200"/>
            <a:ext cx="914400" cy="1371600"/>
          </a:xfrm>
          <a:prstGeom prst="roundRect">
            <a:avLst>
              <a:gd name="adj" fmla="val 10000"/>
            </a:avLst>
          </a:prstGeom>
          <a:solidFill>
            <a:srgbClr val="AEAEB2"/>
          </a:solidFill>
          <a:ln w="12700">
            <a:solidFill>
              <a:srgbClr val="AEAEB2"/>
            </a:solidFill>
            <a:prstDash val="solid"/>
          </a:ln>
        </p:spPr>
        <p:txBody>
          <a:bodyPr/>
          <a:lstStyle/>
          <a:p>
            <a:endParaRPr lang="en-US"/>
          </a:p>
        </p:txBody>
      </p:sp>
      <p:sp>
        <p:nvSpPr>
          <p:cNvPr id="28" name="Text 25"/>
          <p:cNvSpPr/>
          <p:nvPr/>
        </p:nvSpPr>
        <p:spPr>
          <a:xfrm>
            <a:off x="8503920" y="3383280"/>
            <a:ext cx="1554480" cy="457200"/>
          </a:xfrm>
          <a:prstGeom prst="rect">
            <a:avLst/>
          </a:prstGeom>
          <a:noFill/>
          <a:ln/>
        </p:spPr>
        <p:txBody>
          <a:bodyPr wrap="square" lIns="0" tIns="0" rIns="0" bIns="0" rtlCol="0" anchor="t"/>
          <a:lstStyle/>
          <a:p>
            <a:pPr marL="0" indent="0" algn="ctr">
              <a:buNone/>
            </a:pPr>
            <a:r>
              <a:rPr lang="en-US" sz="2600" b="1">
                <a:solidFill>
                  <a:srgbClr val="1D1D1F"/>
                </a:solidFill>
                <a:latin typeface="Arial" pitchFamily="34" charset="0"/>
                <a:ea typeface="Arial" pitchFamily="34" charset="-122"/>
                <a:cs typeface="Arial" pitchFamily="34" charset="-120"/>
              </a:rPr>
              <a:t>6</a:t>
            </a:r>
            <a:endParaRPr lang="en-US" sz="2600"/>
          </a:p>
        </p:txBody>
      </p:sp>
      <p:sp>
        <p:nvSpPr>
          <p:cNvPr id="29" name="Text 26"/>
          <p:cNvSpPr/>
          <p:nvPr/>
        </p:nvSpPr>
        <p:spPr>
          <a:xfrm>
            <a:off x="8503920"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5  Human</a:t>
            </a:r>
            <a:endParaRPr lang="en-US" sz="1300"/>
          </a:p>
        </p:txBody>
      </p:sp>
      <p:sp>
        <p:nvSpPr>
          <p:cNvPr id="30" name="Text 27"/>
          <p:cNvSpPr/>
          <p:nvPr/>
        </p:nvSpPr>
        <p:spPr>
          <a:xfrm>
            <a:off x="8503920"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users, experts</a:t>
            </a:r>
            <a:endParaRPr lang="en-US" sz="1200"/>
          </a:p>
        </p:txBody>
      </p:sp>
      <p:sp>
        <p:nvSpPr>
          <p:cNvPr id="31" name="Shape 28"/>
          <p:cNvSpPr/>
          <p:nvPr/>
        </p:nvSpPr>
        <p:spPr>
          <a:xfrm>
            <a:off x="10396728" y="4114800"/>
            <a:ext cx="914400" cy="1143000"/>
          </a:xfrm>
          <a:prstGeom prst="roundRect">
            <a:avLst>
              <a:gd name="adj" fmla="val 10000"/>
            </a:avLst>
          </a:prstGeom>
          <a:solidFill>
            <a:srgbClr val="AEAEB2"/>
          </a:solidFill>
          <a:ln w="12700">
            <a:solidFill>
              <a:srgbClr val="AEAEB2"/>
            </a:solidFill>
            <a:prstDash val="solid"/>
          </a:ln>
        </p:spPr>
        <p:txBody>
          <a:bodyPr/>
          <a:lstStyle/>
          <a:p>
            <a:endParaRPr lang="en-US"/>
          </a:p>
        </p:txBody>
      </p:sp>
      <p:sp>
        <p:nvSpPr>
          <p:cNvPr id="32" name="Text 29"/>
          <p:cNvSpPr/>
          <p:nvPr/>
        </p:nvSpPr>
        <p:spPr>
          <a:xfrm>
            <a:off x="10076688" y="3611880"/>
            <a:ext cx="1554480" cy="457200"/>
          </a:xfrm>
          <a:prstGeom prst="rect">
            <a:avLst/>
          </a:prstGeom>
          <a:noFill/>
          <a:ln/>
        </p:spPr>
        <p:txBody>
          <a:bodyPr wrap="square" lIns="0" tIns="0" rIns="0" bIns="0" rtlCol="0" anchor="t"/>
          <a:lstStyle/>
          <a:p>
            <a:pPr marL="0" indent="0" algn="ctr">
              <a:buNone/>
            </a:pPr>
            <a:r>
              <a:rPr lang="en-US" sz="2600" b="1">
                <a:solidFill>
                  <a:srgbClr val="1D1D1F"/>
                </a:solidFill>
                <a:latin typeface="Arial" pitchFamily="34" charset="0"/>
                <a:ea typeface="Arial" pitchFamily="34" charset="-122"/>
                <a:cs typeface="Arial" pitchFamily="34" charset="-120"/>
              </a:rPr>
              <a:t>5</a:t>
            </a:r>
            <a:endParaRPr lang="en-US" sz="2600"/>
          </a:p>
        </p:txBody>
      </p:sp>
      <p:sp>
        <p:nvSpPr>
          <p:cNvPr id="33" name="Text 30"/>
          <p:cNvSpPr/>
          <p:nvPr/>
        </p:nvSpPr>
        <p:spPr>
          <a:xfrm>
            <a:off x="10076688" y="5367528"/>
            <a:ext cx="1554480" cy="320040"/>
          </a:xfrm>
          <a:prstGeom prst="rect">
            <a:avLst/>
          </a:prstGeom>
          <a:noFill/>
          <a:ln/>
        </p:spPr>
        <p:txBody>
          <a:bodyPr wrap="square" lIns="0" tIns="0" rIns="0" bIns="0" rtlCol="0" anchor="t"/>
          <a:lstStyle/>
          <a:p>
            <a:pPr marL="0" indent="0" algn="ctr">
              <a:buNone/>
            </a:pPr>
            <a:r>
              <a:rPr lang="en-US" sz="1300" b="1">
                <a:solidFill>
                  <a:srgbClr val="1D1D1F"/>
                </a:solidFill>
                <a:latin typeface="Arial" pitchFamily="34" charset="0"/>
                <a:ea typeface="Arial" pitchFamily="34" charset="-122"/>
                <a:cs typeface="Arial" pitchFamily="34" charset="-120"/>
              </a:rPr>
              <a:t>Level 6  System</a:t>
            </a:r>
            <a:endParaRPr lang="en-US" sz="1300"/>
          </a:p>
        </p:txBody>
      </p:sp>
      <p:sp>
        <p:nvSpPr>
          <p:cNvPr id="34" name="Text 31"/>
          <p:cNvSpPr/>
          <p:nvPr/>
        </p:nvSpPr>
        <p:spPr>
          <a:xfrm>
            <a:off x="10076688" y="5669280"/>
            <a:ext cx="1554480" cy="45720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scale, repeat runs, industry</a:t>
            </a:r>
            <a:endParaRPr lang="en-US" sz="1200"/>
          </a:p>
        </p:txBody>
      </p:sp>
    </p:spTree>
  </p:cSld>
  <p:clrMapOvr>
    <a:masterClrMapping/>
  </p:clrMapOvr>
  <mc:AlternateContent xmlns:mc="http://schemas.openxmlformats.org/markup-compatibility/2006" xmlns:p14="http://schemas.microsoft.com/office/powerpoint/2010/main">
    <mc:Choice Requires="p14">
      <p:transition spd="slow" p14:dur="2000" advTm="43855"/>
    </mc:Choice>
    <mc:Fallback xmlns="">
      <p:transition spd="slow" advTm="4385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8484A"/>
                </a:solidFill>
                <a:effectLst/>
                <a:uLnTx/>
                <a:uFillTx/>
                <a:latin typeface="Arial" pitchFamily="34" charset="0"/>
                <a:ea typeface="Arial" pitchFamily="34" charset="-122"/>
                <a:cs typeface="Arial" pitchFamily="34" charset="-120"/>
              </a:rPr>
              <a:t>Siyanda Hlati</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8484A"/>
                </a:solidFill>
                <a:effectLst/>
                <a:uLnTx/>
                <a:uFillTx/>
                <a:latin typeface="Arial" pitchFamily="34" charset="0"/>
                <a:ea typeface="Arial" pitchFamily="34" charset="-122"/>
                <a:cs typeface="Arial" pitchFamily="34" charset="-120"/>
              </a:rPr>
              <a:t>16</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9F0A"/>
                </a:solidFill>
                <a:effectLst/>
                <a:uLnTx/>
                <a:uFillTx/>
                <a:latin typeface="Arial" pitchFamily="34" charset="0"/>
                <a:ea typeface="Arial" pitchFamily="34" charset="-122"/>
                <a:cs typeface="Arial" pitchFamily="34" charset="-120"/>
              </a:rPr>
              <a:t>Reference architecture</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The LLM proposes. Tools decide. People sign off.</a:t>
            </a:r>
            <a:endParaRPr kumimoji="0" lang="en-US" sz="3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p:cNvSpPr/>
          <p:nvPr/>
        </p:nvSpPr>
        <p:spPr>
          <a:xfrm>
            <a:off x="548640" y="2788920"/>
            <a:ext cx="2103120" cy="2377440"/>
          </a:xfrm>
          <a:prstGeom prst="roundRect">
            <a:avLst>
              <a:gd name="adj" fmla="val 9565"/>
            </a:avLst>
          </a:prstGeom>
          <a:solidFill>
            <a:srgbClr val="1C1C1E"/>
          </a:solidFill>
          <a:ln w="12700">
            <a:solidFill>
              <a:srgbClr val="1C1C1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749808" y="2990088"/>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Layer 1</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749808" y="3291840"/>
            <a:ext cx="1783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997FF"/>
                </a:solidFill>
                <a:effectLst/>
                <a:uLnTx/>
                <a:uFillTx/>
                <a:latin typeface="Arial" pitchFamily="34" charset="0"/>
                <a:ea typeface="Arial" pitchFamily="34" charset="-122"/>
                <a:cs typeface="Arial" pitchFamily="34" charset="-120"/>
              </a:rPr>
              <a:t>Specification</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749808" y="3794760"/>
            <a:ext cx="173736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Requirements into RUPP templates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749808" y="4709160"/>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6 studies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2670048" y="3977640"/>
            <a:ext cx="146304" cy="0"/>
          </a:xfrm>
          <a:prstGeom prst="line">
            <a:avLst/>
          </a:prstGeom>
          <a:noFill/>
          <a:ln w="19050">
            <a:solidFill>
              <a:srgbClr val="A1A1A6"/>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2834640" y="2788920"/>
            <a:ext cx="2103120" cy="2377440"/>
          </a:xfrm>
          <a:prstGeom prst="roundRect">
            <a:avLst>
              <a:gd name="adj" fmla="val 9565"/>
            </a:avLst>
          </a:prstGeom>
          <a:solidFill>
            <a:srgbClr val="1C1C1E"/>
          </a:solidFill>
          <a:ln w="12700">
            <a:solidFill>
              <a:srgbClr val="1C1C1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3035808" y="2990088"/>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Layer 2</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3035808" y="3291840"/>
            <a:ext cx="1783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BF5AF2"/>
                </a:solidFill>
                <a:effectLst/>
                <a:uLnTx/>
                <a:uFillTx/>
                <a:latin typeface="Arial" pitchFamily="34" charset="0"/>
                <a:ea typeface="Arial" pitchFamily="34" charset="-122"/>
                <a:cs typeface="Arial" pitchFamily="34" charset="-120"/>
              </a:rPr>
              <a:t>Generation</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035808" y="3794760"/>
            <a:ext cx="173736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LLM core and agent orchestration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3035808" y="4709160"/>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9 studies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4956048" y="3977640"/>
            <a:ext cx="146304" cy="0"/>
          </a:xfrm>
          <a:prstGeom prst="line">
            <a:avLst/>
          </a:prstGeom>
          <a:noFill/>
          <a:ln w="19050">
            <a:solidFill>
              <a:srgbClr val="A1A1A6"/>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5120640" y="2788920"/>
            <a:ext cx="2103120" cy="2377440"/>
          </a:xfrm>
          <a:prstGeom prst="roundRect">
            <a:avLst>
              <a:gd name="adj" fmla="val 9565"/>
            </a:avLst>
          </a:prstGeom>
          <a:solidFill>
            <a:srgbClr val="2C2416"/>
          </a:solidFill>
          <a:ln w="12700">
            <a:solidFill>
              <a:srgbClr val="2C241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5120640" y="2788920"/>
            <a:ext cx="2103120" cy="2377440"/>
          </a:xfrm>
          <a:prstGeom prst="roundRect">
            <a:avLst>
              <a:gd name="adj" fmla="val 9565"/>
            </a:avLst>
          </a:prstGeom>
          <a:ln w="25400">
            <a:solidFill>
              <a:srgbClr val="FF9F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5321808" y="2990088"/>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Layer 3</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5321808" y="3291840"/>
            <a:ext cx="1783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9F0A"/>
                </a:solidFill>
                <a:effectLst/>
                <a:uLnTx/>
                <a:uFillTx/>
                <a:latin typeface="Arial" pitchFamily="34" charset="0"/>
                <a:ea typeface="Arial" pitchFamily="34" charset="-122"/>
                <a:cs typeface="Arial" pitchFamily="34" charset="-120"/>
              </a:rPr>
              <a:t>Verification</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p:nvPr/>
        </p:nvSpPr>
        <p:spPr>
          <a:xfrm>
            <a:off x="5321808" y="3794760"/>
            <a:ext cx="173736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OCL checkers, JKind SMT, Slither</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5321808" y="4709160"/>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7 studies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2"/>
          <p:cNvSpPr/>
          <p:nvPr/>
        </p:nvSpPr>
        <p:spPr>
          <a:xfrm>
            <a:off x="7242048" y="3977640"/>
            <a:ext cx="146304" cy="0"/>
          </a:xfrm>
          <a:prstGeom prst="line">
            <a:avLst/>
          </a:prstGeom>
          <a:noFill/>
          <a:ln w="19050">
            <a:solidFill>
              <a:srgbClr val="A1A1A6"/>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a:off x="7406640" y="2788920"/>
            <a:ext cx="2103120" cy="2377440"/>
          </a:xfrm>
          <a:prstGeom prst="roundRect">
            <a:avLst>
              <a:gd name="adj" fmla="val 9565"/>
            </a:avLst>
          </a:prstGeom>
          <a:solidFill>
            <a:srgbClr val="1C1C1E"/>
          </a:solidFill>
          <a:ln w="12700">
            <a:solidFill>
              <a:srgbClr val="1C1C1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p:nvPr/>
        </p:nvSpPr>
        <p:spPr>
          <a:xfrm>
            <a:off x="7607808" y="2990088"/>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Layer 4</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7607808" y="3291840"/>
            <a:ext cx="1783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30D158"/>
                </a:solidFill>
                <a:effectLst/>
                <a:uLnTx/>
                <a:uFillTx/>
                <a:latin typeface="Arial" pitchFamily="34" charset="0"/>
                <a:ea typeface="Arial" pitchFamily="34" charset="-122"/>
                <a:cs typeface="Arial" pitchFamily="34" charset="-120"/>
              </a:rPr>
              <a:t>Traceability</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7607808" y="3794760"/>
            <a:ext cx="173736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Requirement-to-model links, change logs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p:nvPr/>
        </p:nvSpPr>
        <p:spPr>
          <a:xfrm>
            <a:off x="7607808" y="4709160"/>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7 studies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8"/>
          <p:cNvSpPr/>
          <p:nvPr/>
        </p:nvSpPr>
        <p:spPr>
          <a:xfrm>
            <a:off x="9528048" y="3977640"/>
            <a:ext cx="146304" cy="0"/>
          </a:xfrm>
          <a:prstGeom prst="line">
            <a:avLst/>
          </a:prstGeom>
          <a:noFill/>
          <a:ln w="19050">
            <a:solidFill>
              <a:srgbClr val="A1A1A6"/>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9"/>
          <p:cNvSpPr/>
          <p:nvPr/>
        </p:nvSpPr>
        <p:spPr>
          <a:xfrm>
            <a:off x="9692640" y="2788920"/>
            <a:ext cx="2103120" cy="2377440"/>
          </a:xfrm>
          <a:prstGeom prst="roundRect">
            <a:avLst>
              <a:gd name="adj" fmla="val 9565"/>
            </a:avLst>
          </a:prstGeom>
          <a:solidFill>
            <a:srgbClr val="1C1C1E"/>
          </a:solidFill>
          <a:ln w="12700">
            <a:solidFill>
              <a:srgbClr val="1C1C1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0"/>
          <p:cNvSpPr/>
          <p:nvPr/>
        </p:nvSpPr>
        <p:spPr>
          <a:xfrm>
            <a:off x="9893808" y="2990088"/>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Layer 5</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1"/>
          <p:cNvSpPr/>
          <p:nvPr/>
        </p:nvSpPr>
        <p:spPr>
          <a:xfrm>
            <a:off x="9893808" y="3291840"/>
            <a:ext cx="17830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64D2FF"/>
                </a:solidFill>
                <a:effectLst/>
                <a:uLnTx/>
                <a:uFillTx/>
                <a:latin typeface="Arial" pitchFamily="34" charset="0"/>
                <a:ea typeface="Arial" pitchFamily="34" charset="-122"/>
                <a:cs typeface="Arial" pitchFamily="34" charset="-120"/>
              </a:rPr>
              <a:t>Governance</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2"/>
          <p:cNvSpPr/>
          <p:nvPr/>
        </p:nvSpPr>
        <p:spPr>
          <a:xfrm>
            <a:off x="9893808" y="3794760"/>
            <a:ext cx="173736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Human approval gate spanning all layers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3"/>
          <p:cNvSpPr/>
          <p:nvPr/>
        </p:nvSpPr>
        <p:spPr>
          <a:xfrm>
            <a:off x="9893808" y="4709160"/>
            <a:ext cx="16459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5 studies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4"/>
          <p:cNvSpPr/>
          <p:nvPr/>
        </p:nvSpPr>
        <p:spPr>
          <a:xfrm>
            <a:off x="3886200" y="5440680"/>
            <a:ext cx="2286000" cy="0"/>
          </a:xfrm>
          <a:prstGeom prst="line">
            <a:avLst/>
          </a:prstGeom>
          <a:noFill/>
          <a:ln w="19050">
            <a:solidFill>
              <a:srgbClr val="FF45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5"/>
          <p:cNvSpPr/>
          <p:nvPr/>
        </p:nvSpPr>
        <p:spPr>
          <a:xfrm>
            <a:off x="6172200" y="5166360"/>
            <a:ext cx="0" cy="274320"/>
          </a:xfrm>
          <a:prstGeom prst="line">
            <a:avLst/>
          </a:prstGeom>
          <a:noFill/>
          <a:ln w="19050">
            <a:solidFill>
              <a:srgbClr val="FF453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6"/>
          <p:cNvSpPr/>
          <p:nvPr/>
        </p:nvSpPr>
        <p:spPr>
          <a:xfrm>
            <a:off x="3886200" y="5166360"/>
            <a:ext cx="0" cy="274320"/>
          </a:xfrm>
          <a:prstGeom prst="line">
            <a:avLst/>
          </a:prstGeom>
          <a:noFill/>
          <a:ln w="19050">
            <a:solidFill>
              <a:srgbClr val="FF453A"/>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7"/>
          <p:cNvSpPr/>
          <p:nvPr/>
        </p:nvSpPr>
        <p:spPr>
          <a:xfrm>
            <a:off x="3886200" y="5532120"/>
            <a:ext cx="548640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Fails verification? Back to generation with the diagnosis.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37671"/>
    </mc:Choice>
    <mc:Fallback xmlns="">
      <p:transition spd="slow" advTm="3767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8484A"/>
                </a:solidFill>
                <a:effectLst/>
                <a:uLnTx/>
                <a:uFillTx/>
                <a:latin typeface="Arial" pitchFamily="34" charset="0"/>
                <a:ea typeface="Arial" pitchFamily="34" charset="-122"/>
                <a:cs typeface="Arial" pitchFamily="34" charset="-120"/>
              </a:rPr>
              <a:t>Siyanda Hlati</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8484A"/>
                </a:solidFill>
                <a:effectLst/>
                <a:uLnTx/>
                <a:uFillTx/>
                <a:latin typeface="Arial" pitchFamily="34" charset="0"/>
                <a:ea typeface="Arial" pitchFamily="34" charset="-122"/>
                <a:cs typeface="Arial" pitchFamily="34" charset="-120"/>
              </a:rPr>
              <a:t>17</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9F0A"/>
                </a:solidFill>
                <a:effectLst/>
                <a:uLnTx/>
                <a:uFillTx/>
                <a:latin typeface="Arial" pitchFamily="34" charset="0"/>
                <a:ea typeface="Arial" pitchFamily="34" charset="-122"/>
                <a:cs typeface="Arial" pitchFamily="34" charset="-120"/>
              </a:rPr>
              <a:t>Gap matrix</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Outside LLMs, almost every cell is empty.</a:t>
            </a:r>
            <a:endParaRPr kumimoji="0" lang="en-US" sz="4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338328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Req. understanding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461772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Model generation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585216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Completion &amp; QA</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708660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Repair</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32104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Transformation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955548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Model-to-code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10789920" y="2057400"/>
            <a:ext cx="1188720" cy="457200"/>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Runtime &amp; evolution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2606040"/>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LLMs / Foundation Models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3456432" y="2633472"/>
            <a:ext cx="1051560" cy="420624"/>
          </a:xfrm>
          <a:prstGeom prst="roundRect">
            <a:avLst>
              <a:gd name="adj" fmla="val 17391"/>
            </a:avLst>
          </a:prstGeom>
          <a:solidFill>
            <a:srgbClr val="BF5AF2"/>
          </a:solidFill>
          <a:ln w="12700">
            <a:solidFill>
              <a:srgbClr val="BF5A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45643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6</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4"/>
          <p:cNvSpPr/>
          <p:nvPr/>
        </p:nvSpPr>
        <p:spPr>
          <a:xfrm>
            <a:off x="4690872" y="2633472"/>
            <a:ext cx="1051560" cy="420624"/>
          </a:xfrm>
          <a:prstGeom prst="roundRect">
            <a:avLst>
              <a:gd name="adj" fmla="val 17391"/>
            </a:avLst>
          </a:prstGeom>
          <a:solidFill>
            <a:srgbClr val="BF5AF2"/>
          </a:solidFill>
          <a:ln w="12700">
            <a:solidFill>
              <a:srgbClr val="BF5A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69087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8</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5925312" y="2633472"/>
            <a:ext cx="1051560" cy="420624"/>
          </a:xfrm>
          <a:prstGeom prst="roundRect">
            <a:avLst>
              <a:gd name="adj" fmla="val 17391"/>
            </a:avLst>
          </a:prstGeom>
          <a:solidFill>
            <a:srgbClr val="BF5AF2"/>
          </a:solidFill>
          <a:ln w="12700">
            <a:solidFill>
              <a:srgbClr val="BF5A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92531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7</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7159752" y="2633472"/>
            <a:ext cx="1051560" cy="420624"/>
          </a:xfrm>
          <a:prstGeom prst="roundRect">
            <a:avLst>
              <a:gd name="adj" fmla="val 17391"/>
            </a:avLst>
          </a:prstGeom>
          <a:solidFill>
            <a:srgbClr val="2997FF"/>
          </a:solidFill>
          <a:ln w="12700">
            <a:solidFill>
              <a:srgbClr val="299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715975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4</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8394192" y="2633472"/>
            <a:ext cx="1051560" cy="420624"/>
          </a:xfrm>
          <a:prstGeom prst="roundRect">
            <a:avLst>
              <a:gd name="adj" fmla="val 17391"/>
            </a:avLst>
          </a:prstGeom>
          <a:solidFill>
            <a:srgbClr val="BF5AF2"/>
          </a:solidFill>
          <a:ln w="12700">
            <a:solidFill>
              <a:srgbClr val="BF5A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839419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6</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2"/>
          <p:cNvSpPr/>
          <p:nvPr/>
        </p:nvSpPr>
        <p:spPr>
          <a:xfrm>
            <a:off x="9628632" y="2633472"/>
            <a:ext cx="1051560" cy="420624"/>
          </a:xfrm>
          <a:prstGeom prst="roundRect">
            <a:avLst>
              <a:gd name="adj" fmla="val 17391"/>
            </a:avLst>
          </a:prstGeom>
          <a:solidFill>
            <a:srgbClr val="BF5AF2"/>
          </a:solidFill>
          <a:ln w="12700">
            <a:solidFill>
              <a:srgbClr val="BF5A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962863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5</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10863072" y="2633472"/>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10863072" y="263347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2</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548640" y="3118104"/>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Specialised ML / Evolutionary</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7"/>
          <p:cNvSpPr/>
          <p:nvPr/>
        </p:nvSpPr>
        <p:spPr>
          <a:xfrm>
            <a:off x="3456432" y="314553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345643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9"/>
          <p:cNvSpPr/>
          <p:nvPr/>
        </p:nvSpPr>
        <p:spPr>
          <a:xfrm>
            <a:off x="4690872" y="3145536"/>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0"/>
          <p:cNvSpPr/>
          <p:nvPr/>
        </p:nvSpPr>
        <p:spPr>
          <a:xfrm>
            <a:off x="469087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1"/>
          <p:cNvSpPr/>
          <p:nvPr/>
        </p:nvSpPr>
        <p:spPr>
          <a:xfrm>
            <a:off x="5925312" y="314553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2"/>
          <p:cNvSpPr/>
          <p:nvPr/>
        </p:nvSpPr>
        <p:spPr>
          <a:xfrm>
            <a:off x="592531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3"/>
          <p:cNvSpPr/>
          <p:nvPr/>
        </p:nvSpPr>
        <p:spPr>
          <a:xfrm>
            <a:off x="7159752" y="314553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4"/>
          <p:cNvSpPr/>
          <p:nvPr/>
        </p:nvSpPr>
        <p:spPr>
          <a:xfrm>
            <a:off x="715975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5"/>
          <p:cNvSpPr/>
          <p:nvPr/>
        </p:nvSpPr>
        <p:spPr>
          <a:xfrm>
            <a:off x="8394192" y="314553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6"/>
          <p:cNvSpPr/>
          <p:nvPr/>
        </p:nvSpPr>
        <p:spPr>
          <a:xfrm>
            <a:off x="839419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7"/>
          <p:cNvSpPr/>
          <p:nvPr/>
        </p:nvSpPr>
        <p:spPr>
          <a:xfrm>
            <a:off x="9628632" y="314553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8"/>
          <p:cNvSpPr/>
          <p:nvPr/>
        </p:nvSpPr>
        <p:spPr>
          <a:xfrm>
            <a:off x="962863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9"/>
          <p:cNvSpPr/>
          <p:nvPr/>
        </p:nvSpPr>
        <p:spPr>
          <a:xfrm>
            <a:off x="10863072" y="3145536"/>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0"/>
          <p:cNvSpPr/>
          <p:nvPr/>
        </p:nvSpPr>
        <p:spPr>
          <a:xfrm>
            <a:off x="10863072" y="314553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2</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1"/>
          <p:cNvSpPr/>
          <p:nvPr/>
        </p:nvSpPr>
        <p:spPr>
          <a:xfrm>
            <a:off x="548640" y="3630168"/>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Deep Learning (Seq2Seq / Seq2AST / CNN)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2"/>
          <p:cNvSpPr/>
          <p:nvPr/>
        </p:nvSpPr>
        <p:spPr>
          <a:xfrm>
            <a:off x="3456432" y="3657600"/>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3"/>
          <p:cNvSpPr/>
          <p:nvPr/>
        </p:nvSpPr>
        <p:spPr>
          <a:xfrm>
            <a:off x="345643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4"/>
          <p:cNvSpPr/>
          <p:nvPr/>
        </p:nvSpPr>
        <p:spPr>
          <a:xfrm>
            <a:off x="4690872" y="3657600"/>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5"/>
          <p:cNvSpPr/>
          <p:nvPr/>
        </p:nvSpPr>
        <p:spPr>
          <a:xfrm>
            <a:off x="469087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6"/>
          <p:cNvSpPr/>
          <p:nvPr/>
        </p:nvSpPr>
        <p:spPr>
          <a:xfrm>
            <a:off x="5925312" y="3657600"/>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7"/>
          <p:cNvSpPr/>
          <p:nvPr/>
        </p:nvSpPr>
        <p:spPr>
          <a:xfrm>
            <a:off x="592531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a:off x="7159752" y="3657600"/>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49"/>
          <p:cNvSpPr/>
          <p:nvPr/>
        </p:nvSpPr>
        <p:spPr>
          <a:xfrm>
            <a:off x="715975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0"/>
          <p:cNvSpPr/>
          <p:nvPr/>
        </p:nvSpPr>
        <p:spPr>
          <a:xfrm>
            <a:off x="8394192" y="3657600"/>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1"/>
          <p:cNvSpPr/>
          <p:nvPr/>
        </p:nvSpPr>
        <p:spPr>
          <a:xfrm>
            <a:off x="839419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2"/>
          <p:cNvSpPr/>
          <p:nvPr/>
        </p:nvSpPr>
        <p:spPr>
          <a:xfrm>
            <a:off x="9628632" y="3657600"/>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3"/>
          <p:cNvSpPr/>
          <p:nvPr/>
        </p:nvSpPr>
        <p:spPr>
          <a:xfrm>
            <a:off x="962863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4"/>
          <p:cNvSpPr/>
          <p:nvPr/>
        </p:nvSpPr>
        <p:spPr>
          <a:xfrm>
            <a:off x="10863072" y="3657600"/>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5"/>
          <p:cNvSpPr/>
          <p:nvPr/>
        </p:nvSpPr>
        <p:spPr>
          <a:xfrm>
            <a:off x="10863072" y="3657600"/>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6"/>
          <p:cNvSpPr/>
          <p:nvPr/>
        </p:nvSpPr>
        <p:spPr>
          <a:xfrm>
            <a:off x="548640" y="4142232"/>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Multimodal Foundation Models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7"/>
          <p:cNvSpPr/>
          <p:nvPr/>
        </p:nvSpPr>
        <p:spPr>
          <a:xfrm>
            <a:off x="3456432" y="4169664"/>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8"/>
          <p:cNvSpPr/>
          <p:nvPr/>
        </p:nvSpPr>
        <p:spPr>
          <a:xfrm>
            <a:off x="345643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59"/>
          <p:cNvSpPr/>
          <p:nvPr/>
        </p:nvSpPr>
        <p:spPr>
          <a:xfrm>
            <a:off x="4690872" y="4169664"/>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0"/>
          <p:cNvSpPr/>
          <p:nvPr/>
        </p:nvSpPr>
        <p:spPr>
          <a:xfrm>
            <a:off x="469087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a:off x="5925312" y="4169664"/>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2"/>
          <p:cNvSpPr/>
          <p:nvPr/>
        </p:nvSpPr>
        <p:spPr>
          <a:xfrm>
            <a:off x="592531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3"/>
          <p:cNvSpPr/>
          <p:nvPr/>
        </p:nvSpPr>
        <p:spPr>
          <a:xfrm>
            <a:off x="7159752" y="4169664"/>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4"/>
          <p:cNvSpPr/>
          <p:nvPr/>
        </p:nvSpPr>
        <p:spPr>
          <a:xfrm>
            <a:off x="715975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5"/>
          <p:cNvSpPr/>
          <p:nvPr/>
        </p:nvSpPr>
        <p:spPr>
          <a:xfrm>
            <a:off x="8394192" y="4169664"/>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66"/>
          <p:cNvSpPr/>
          <p:nvPr/>
        </p:nvSpPr>
        <p:spPr>
          <a:xfrm>
            <a:off x="839419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7"/>
          <p:cNvSpPr/>
          <p:nvPr/>
        </p:nvSpPr>
        <p:spPr>
          <a:xfrm>
            <a:off x="9628632" y="4169664"/>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Text 68"/>
          <p:cNvSpPr/>
          <p:nvPr/>
        </p:nvSpPr>
        <p:spPr>
          <a:xfrm>
            <a:off x="962863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9"/>
          <p:cNvSpPr/>
          <p:nvPr/>
        </p:nvSpPr>
        <p:spPr>
          <a:xfrm>
            <a:off x="10863072" y="4169664"/>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Text 70"/>
          <p:cNvSpPr/>
          <p:nvPr/>
        </p:nvSpPr>
        <p:spPr>
          <a:xfrm>
            <a:off x="10863072" y="4169664"/>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Text 71"/>
          <p:cNvSpPr/>
          <p:nvPr/>
        </p:nvSpPr>
        <p:spPr>
          <a:xfrm>
            <a:off x="548640" y="4654296"/>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Knowledge Graphs, RAG &amp; GNNs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2"/>
          <p:cNvSpPr/>
          <p:nvPr/>
        </p:nvSpPr>
        <p:spPr>
          <a:xfrm>
            <a:off x="345643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73"/>
          <p:cNvSpPr/>
          <p:nvPr/>
        </p:nvSpPr>
        <p:spPr>
          <a:xfrm>
            <a:off x="345643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4"/>
          <p:cNvSpPr/>
          <p:nvPr/>
        </p:nvSpPr>
        <p:spPr>
          <a:xfrm>
            <a:off x="469087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5"/>
          <p:cNvSpPr/>
          <p:nvPr/>
        </p:nvSpPr>
        <p:spPr>
          <a:xfrm>
            <a:off x="469087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6"/>
          <p:cNvSpPr/>
          <p:nvPr/>
        </p:nvSpPr>
        <p:spPr>
          <a:xfrm>
            <a:off x="592531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Text 77"/>
          <p:cNvSpPr/>
          <p:nvPr/>
        </p:nvSpPr>
        <p:spPr>
          <a:xfrm>
            <a:off x="592531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8"/>
          <p:cNvSpPr/>
          <p:nvPr/>
        </p:nvSpPr>
        <p:spPr>
          <a:xfrm>
            <a:off x="715975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p:nvPr/>
        </p:nvSpPr>
        <p:spPr>
          <a:xfrm>
            <a:off x="715975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0"/>
          <p:cNvSpPr/>
          <p:nvPr/>
        </p:nvSpPr>
        <p:spPr>
          <a:xfrm>
            <a:off x="839419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Text 81"/>
          <p:cNvSpPr/>
          <p:nvPr/>
        </p:nvSpPr>
        <p:spPr>
          <a:xfrm>
            <a:off x="839419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2"/>
          <p:cNvSpPr/>
          <p:nvPr/>
        </p:nvSpPr>
        <p:spPr>
          <a:xfrm>
            <a:off x="962863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83"/>
          <p:cNvSpPr/>
          <p:nvPr/>
        </p:nvSpPr>
        <p:spPr>
          <a:xfrm>
            <a:off x="962863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4"/>
          <p:cNvSpPr/>
          <p:nvPr/>
        </p:nvSpPr>
        <p:spPr>
          <a:xfrm>
            <a:off x="10863072" y="4681728"/>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5"/>
          <p:cNvSpPr/>
          <p:nvPr/>
        </p:nvSpPr>
        <p:spPr>
          <a:xfrm>
            <a:off x="10863072" y="4681728"/>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Text 86"/>
          <p:cNvSpPr/>
          <p:nvPr/>
        </p:nvSpPr>
        <p:spPr>
          <a:xfrm>
            <a:off x="548640" y="5166360"/>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Single &amp; Multi-Agent Systems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7"/>
          <p:cNvSpPr/>
          <p:nvPr/>
        </p:nvSpPr>
        <p:spPr>
          <a:xfrm>
            <a:off x="3456432" y="5193792"/>
            <a:ext cx="1051560" cy="420624"/>
          </a:xfrm>
          <a:prstGeom prst="roundRect">
            <a:avLst>
              <a:gd name="adj" fmla="val 17391"/>
            </a:avLst>
          </a:prstGeom>
          <a:solidFill>
            <a:srgbClr val="2997FF"/>
          </a:solidFill>
          <a:ln w="12700">
            <a:solidFill>
              <a:srgbClr val="299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Text 88"/>
          <p:cNvSpPr/>
          <p:nvPr/>
        </p:nvSpPr>
        <p:spPr>
          <a:xfrm>
            <a:off x="345643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3</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89"/>
          <p:cNvSpPr/>
          <p:nvPr/>
        </p:nvSpPr>
        <p:spPr>
          <a:xfrm>
            <a:off x="4690872" y="5193792"/>
            <a:ext cx="1051560" cy="420624"/>
          </a:xfrm>
          <a:prstGeom prst="roundRect">
            <a:avLst>
              <a:gd name="adj" fmla="val 17391"/>
            </a:avLst>
          </a:prstGeom>
          <a:solidFill>
            <a:srgbClr val="2997FF"/>
          </a:solidFill>
          <a:ln w="12700">
            <a:solidFill>
              <a:srgbClr val="2997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p:nvPr/>
        </p:nvSpPr>
        <p:spPr>
          <a:xfrm>
            <a:off x="469087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3</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1"/>
          <p:cNvSpPr/>
          <p:nvPr/>
        </p:nvSpPr>
        <p:spPr>
          <a:xfrm>
            <a:off x="5925312" y="5193792"/>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Text 92"/>
          <p:cNvSpPr/>
          <p:nvPr/>
        </p:nvSpPr>
        <p:spPr>
          <a:xfrm>
            <a:off x="592531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3"/>
          <p:cNvSpPr/>
          <p:nvPr/>
        </p:nvSpPr>
        <p:spPr>
          <a:xfrm>
            <a:off x="7159752" y="5193792"/>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Text 94"/>
          <p:cNvSpPr/>
          <p:nvPr/>
        </p:nvSpPr>
        <p:spPr>
          <a:xfrm>
            <a:off x="715975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5"/>
          <p:cNvSpPr/>
          <p:nvPr/>
        </p:nvSpPr>
        <p:spPr>
          <a:xfrm>
            <a:off x="8394192" y="5193792"/>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Text 96"/>
          <p:cNvSpPr/>
          <p:nvPr/>
        </p:nvSpPr>
        <p:spPr>
          <a:xfrm>
            <a:off x="839419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7"/>
          <p:cNvSpPr/>
          <p:nvPr/>
        </p:nvSpPr>
        <p:spPr>
          <a:xfrm>
            <a:off x="9628632" y="5193792"/>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Text 98"/>
          <p:cNvSpPr/>
          <p:nvPr/>
        </p:nvSpPr>
        <p:spPr>
          <a:xfrm>
            <a:off x="962863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99"/>
          <p:cNvSpPr/>
          <p:nvPr/>
        </p:nvSpPr>
        <p:spPr>
          <a:xfrm>
            <a:off x="10863072" y="5193792"/>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Text 100"/>
          <p:cNvSpPr/>
          <p:nvPr/>
        </p:nvSpPr>
        <p:spPr>
          <a:xfrm>
            <a:off x="10863072" y="5193792"/>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Text 101"/>
          <p:cNvSpPr/>
          <p:nvPr/>
        </p:nvSpPr>
        <p:spPr>
          <a:xfrm>
            <a:off x="548640" y="5678424"/>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Neuro-Symbolic AI</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2"/>
          <p:cNvSpPr/>
          <p:nvPr/>
        </p:nvSpPr>
        <p:spPr>
          <a:xfrm>
            <a:off x="3456432" y="570585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Text 103"/>
          <p:cNvSpPr/>
          <p:nvPr/>
        </p:nvSpPr>
        <p:spPr>
          <a:xfrm>
            <a:off x="345643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4"/>
          <p:cNvSpPr/>
          <p:nvPr/>
        </p:nvSpPr>
        <p:spPr>
          <a:xfrm>
            <a:off x="4690872" y="5705856"/>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Text 105"/>
          <p:cNvSpPr/>
          <p:nvPr/>
        </p:nvSpPr>
        <p:spPr>
          <a:xfrm>
            <a:off x="469087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6"/>
          <p:cNvSpPr/>
          <p:nvPr/>
        </p:nvSpPr>
        <p:spPr>
          <a:xfrm>
            <a:off x="5925312" y="5705856"/>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Text 107"/>
          <p:cNvSpPr/>
          <p:nvPr/>
        </p:nvSpPr>
        <p:spPr>
          <a:xfrm>
            <a:off x="592531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1</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8"/>
          <p:cNvSpPr/>
          <p:nvPr/>
        </p:nvSpPr>
        <p:spPr>
          <a:xfrm>
            <a:off x="7159752" y="5705856"/>
            <a:ext cx="1051560" cy="420624"/>
          </a:xfrm>
          <a:prstGeom prst="roundRect">
            <a:avLst>
              <a:gd name="adj" fmla="val 17391"/>
            </a:avLst>
          </a:prstGeom>
          <a:solidFill>
            <a:srgbClr val="2C2C2E"/>
          </a:solidFill>
          <a:ln w="12700">
            <a:solidFill>
              <a:srgbClr val="2C2C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Text 109"/>
          <p:cNvSpPr/>
          <p:nvPr/>
        </p:nvSpPr>
        <p:spPr>
          <a:xfrm>
            <a:off x="715975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2</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0"/>
          <p:cNvSpPr/>
          <p:nvPr/>
        </p:nvSpPr>
        <p:spPr>
          <a:xfrm>
            <a:off x="8394192" y="570585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Text 111"/>
          <p:cNvSpPr/>
          <p:nvPr/>
        </p:nvSpPr>
        <p:spPr>
          <a:xfrm>
            <a:off x="839419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2"/>
          <p:cNvSpPr/>
          <p:nvPr/>
        </p:nvSpPr>
        <p:spPr>
          <a:xfrm>
            <a:off x="9628632" y="570585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Text 113"/>
          <p:cNvSpPr/>
          <p:nvPr/>
        </p:nvSpPr>
        <p:spPr>
          <a:xfrm>
            <a:off x="962863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4"/>
          <p:cNvSpPr/>
          <p:nvPr/>
        </p:nvSpPr>
        <p:spPr>
          <a:xfrm>
            <a:off x="10863072" y="5705856"/>
            <a:ext cx="1051560" cy="420624"/>
          </a:xfrm>
          <a:prstGeom prst="roundRect">
            <a:avLst>
              <a:gd name="adj" fmla="val 17391"/>
            </a:avLst>
          </a:prstGeom>
          <a:solidFill>
            <a:srgbClr val="3A1A1A"/>
          </a:solidFill>
          <a:ln w="12700">
            <a:solidFill>
              <a:srgbClr val="3A1A1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Text 115"/>
          <p:cNvSpPr/>
          <p:nvPr/>
        </p:nvSpPr>
        <p:spPr>
          <a:xfrm>
            <a:off x="10863072" y="5705856"/>
            <a:ext cx="105156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453A"/>
                </a:solidFill>
                <a:effectLst/>
                <a:uLnTx/>
                <a:uFillTx/>
                <a:latin typeface="Arial" pitchFamily="34" charset="0"/>
                <a:ea typeface="Arial" pitchFamily="34" charset="-122"/>
                <a:cs typeface="Arial" pitchFamily="34" charset="-120"/>
              </a:rPr>
              <a:t>0</a:t>
            </a:r>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Text 116"/>
          <p:cNvSpPr/>
          <p:nvPr/>
        </p:nvSpPr>
        <p:spPr>
          <a:xfrm>
            <a:off x="548640" y="6172200"/>
            <a:ext cx="11091672" cy="27432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A1A1A6"/>
                </a:solidFill>
                <a:effectLst/>
                <a:uLnTx/>
                <a:uFillTx/>
                <a:latin typeface="Arial" pitchFamily="34" charset="0"/>
                <a:ea typeface="Arial" pitchFamily="34" charset="-122"/>
                <a:cs typeface="Arial" pitchFamily="34" charset="-120"/>
              </a:rPr>
              <a:t>Studies per technique × task cell (report Table 15a). Red = no study.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34195"/>
    </mc:Choice>
    <mc:Fallback xmlns="">
      <p:transition spd="slow" advTm="3419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Sibongiseni Tsitsa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18</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Quality appraisal</a:t>
            </a:r>
            <a:endParaRPr lang="en-US" sz="1600"/>
          </a:p>
        </p:txBody>
      </p:sp>
      <p:pic>
        <p:nvPicPr>
          <p:cNvPr id="6" name="Image 0" descr="img/h_128.png"/>
          <p:cNvPicPr>
            <a:picLocks noChangeAspect="1"/>
          </p:cNvPicPr>
          <p:nvPr/>
        </p:nvPicPr>
        <p:blipFill>
          <a:blip r:embed="rId3"/>
          <a:stretch>
            <a:fillRect/>
          </a:stretch>
        </p:blipFill>
        <p:spPr>
          <a:xfrm>
            <a:off x="548640" y="1280160"/>
            <a:ext cx="3255173" cy="1234440"/>
          </a:xfrm>
          <a:prstGeom prst="rect">
            <a:avLst/>
          </a:prstGeom>
        </p:spPr>
      </p:pic>
      <p:sp>
        <p:nvSpPr>
          <p:cNvPr id="7" name="Text 3"/>
          <p:cNvSpPr/>
          <p:nvPr/>
        </p:nvSpPr>
        <p:spPr>
          <a:xfrm>
            <a:off x="3931920" y="1783080"/>
            <a:ext cx="1371600" cy="640080"/>
          </a:xfrm>
          <a:prstGeom prst="rect">
            <a:avLst/>
          </a:prstGeom>
          <a:noFill/>
          <a:ln/>
        </p:spPr>
        <p:txBody>
          <a:bodyPr wrap="square" lIns="0" tIns="0" rIns="0" bIns="0" rtlCol="0" anchor="t"/>
          <a:lstStyle/>
          <a:p>
            <a:pPr marL="0" indent="0" algn="l">
              <a:buNone/>
            </a:pPr>
            <a:r>
              <a:rPr lang="en-US" sz="3600" b="1">
                <a:solidFill>
                  <a:srgbClr val="A1A1A6"/>
                </a:solidFill>
                <a:latin typeface="Arial" pitchFamily="34" charset="0"/>
                <a:ea typeface="Arial" pitchFamily="34" charset="-122"/>
                <a:cs typeface="Arial" pitchFamily="34" charset="-120"/>
              </a:rPr>
              <a:t>/ 18</a:t>
            </a:r>
            <a:endParaRPr lang="en-US" sz="3600"/>
          </a:p>
        </p:txBody>
      </p:sp>
      <p:sp>
        <p:nvSpPr>
          <p:cNvPr id="8" name="Text 4"/>
          <p:cNvSpPr/>
          <p:nvPr/>
        </p:nvSpPr>
        <p:spPr>
          <a:xfrm>
            <a:off x="548640" y="2697480"/>
            <a:ext cx="4937760" cy="731520"/>
          </a:xfrm>
          <a:prstGeom prst="rect">
            <a:avLst/>
          </a:prstGeom>
          <a:noFill/>
          <a:ln/>
        </p:spPr>
        <p:txBody>
          <a:bodyPr wrap="square" lIns="0" tIns="0" rIns="0" bIns="0" rtlCol="0" anchor="t"/>
          <a:lstStyle/>
          <a:p>
            <a:pPr marL="0" indent="0" algn="l">
              <a:buNone/>
            </a:pPr>
            <a:r>
              <a:rPr lang="en-US" sz="1600">
                <a:solidFill>
                  <a:srgbClr val="A1A1A6"/>
                </a:solidFill>
                <a:latin typeface="Arial" pitchFamily="34" charset="0"/>
                <a:ea typeface="Arial" pitchFamily="34" charset="-122"/>
                <a:cs typeface="Arial" pitchFamily="34" charset="-120"/>
              </a:rPr>
              <a:t>mean quality score across 27 studies,</a:t>
            </a:r>
            <a:endParaRPr lang="en-US" sz="1600"/>
          </a:p>
          <a:p>
            <a:pPr marL="0" indent="0" algn="l">
              <a:buNone/>
            </a:pPr>
            <a:r>
              <a:rPr lang="en-US" sz="1600">
                <a:solidFill>
                  <a:srgbClr val="A1A1A6"/>
                </a:solidFill>
                <a:latin typeface="Arial" pitchFamily="34" charset="0"/>
                <a:ea typeface="Arial" pitchFamily="34" charset="-122"/>
                <a:cs typeface="Arial" pitchFamily="34" charset="-120"/>
              </a:rPr>
              <a:t>18 criteria scored 0, 0.5 or 1.</a:t>
            </a:r>
            <a:endParaRPr lang="en-US" sz="1600"/>
          </a:p>
        </p:txBody>
      </p:sp>
      <p:sp>
        <p:nvSpPr>
          <p:cNvPr id="9" name="Shape 5"/>
          <p:cNvSpPr/>
          <p:nvPr/>
        </p:nvSpPr>
        <p:spPr>
          <a:xfrm>
            <a:off x="548640" y="3749040"/>
            <a:ext cx="1554480" cy="1371600"/>
          </a:xfrm>
          <a:prstGeom prst="roundRect">
            <a:avLst>
              <a:gd name="adj" fmla="val 14667"/>
            </a:avLst>
          </a:prstGeom>
          <a:solidFill>
            <a:srgbClr val="1C1C1E"/>
          </a:solidFill>
          <a:ln w="12700">
            <a:solidFill>
              <a:srgbClr val="1C1C1E"/>
            </a:solidFill>
            <a:prstDash val="solid"/>
          </a:ln>
        </p:spPr>
        <p:txBody>
          <a:bodyPr/>
          <a:lstStyle/>
          <a:p>
            <a:endParaRPr lang="en-US"/>
          </a:p>
        </p:txBody>
      </p:sp>
      <p:sp>
        <p:nvSpPr>
          <p:cNvPr id="10" name="Text 6"/>
          <p:cNvSpPr/>
          <p:nvPr/>
        </p:nvSpPr>
        <p:spPr>
          <a:xfrm>
            <a:off x="548640" y="3886200"/>
            <a:ext cx="1554480" cy="640080"/>
          </a:xfrm>
          <a:prstGeom prst="rect">
            <a:avLst/>
          </a:prstGeom>
          <a:noFill/>
          <a:ln/>
        </p:spPr>
        <p:txBody>
          <a:bodyPr wrap="square" lIns="0" tIns="0" rIns="0" bIns="0" rtlCol="0" anchor="t"/>
          <a:lstStyle/>
          <a:p>
            <a:pPr marL="0" indent="0" algn="ctr">
              <a:buNone/>
            </a:pPr>
            <a:r>
              <a:rPr lang="en-US" sz="3600" b="1">
                <a:solidFill>
                  <a:srgbClr val="30D158"/>
                </a:solidFill>
                <a:latin typeface="Arial" pitchFamily="34" charset="0"/>
                <a:ea typeface="Arial" pitchFamily="34" charset="-122"/>
                <a:cs typeface="Arial" pitchFamily="34" charset="-120"/>
              </a:rPr>
              <a:t>9</a:t>
            </a:r>
            <a:endParaRPr lang="en-US" sz="3600"/>
          </a:p>
        </p:txBody>
      </p:sp>
      <p:sp>
        <p:nvSpPr>
          <p:cNvPr id="11" name="Text 7"/>
          <p:cNvSpPr/>
          <p:nvPr/>
        </p:nvSpPr>
        <p:spPr>
          <a:xfrm>
            <a:off x="548640" y="4526280"/>
            <a:ext cx="1554480" cy="36576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high</a:t>
            </a:r>
            <a:endParaRPr lang="en-US" sz="1300"/>
          </a:p>
        </p:txBody>
      </p:sp>
      <p:sp>
        <p:nvSpPr>
          <p:cNvPr id="12" name="Shape 8"/>
          <p:cNvSpPr/>
          <p:nvPr/>
        </p:nvSpPr>
        <p:spPr>
          <a:xfrm>
            <a:off x="2240280" y="3749040"/>
            <a:ext cx="1554480" cy="1371600"/>
          </a:xfrm>
          <a:prstGeom prst="roundRect">
            <a:avLst>
              <a:gd name="adj" fmla="val 14667"/>
            </a:avLst>
          </a:prstGeom>
          <a:solidFill>
            <a:srgbClr val="1C1C1E"/>
          </a:solidFill>
          <a:ln w="12700">
            <a:solidFill>
              <a:srgbClr val="1C1C1E"/>
            </a:solidFill>
            <a:prstDash val="solid"/>
          </a:ln>
        </p:spPr>
        <p:txBody>
          <a:bodyPr/>
          <a:lstStyle/>
          <a:p>
            <a:endParaRPr lang="en-US"/>
          </a:p>
        </p:txBody>
      </p:sp>
      <p:sp>
        <p:nvSpPr>
          <p:cNvPr id="13" name="Text 9"/>
          <p:cNvSpPr/>
          <p:nvPr/>
        </p:nvSpPr>
        <p:spPr>
          <a:xfrm>
            <a:off x="2240280" y="3886200"/>
            <a:ext cx="1554480" cy="640080"/>
          </a:xfrm>
          <a:prstGeom prst="rect">
            <a:avLst/>
          </a:prstGeom>
          <a:noFill/>
          <a:ln/>
        </p:spPr>
        <p:txBody>
          <a:bodyPr wrap="square" lIns="0" tIns="0" rIns="0" bIns="0" rtlCol="0" anchor="t"/>
          <a:lstStyle/>
          <a:p>
            <a:pPr marL="0" indent="0" algn="ctr">
              <a:buNone/>
            </a:pPr>
            <a:r>
              <a:rPr lang="en-US" sz="3600" b="1">
                <a:solidFill>
                  <a:srgbClr val="FF9F0A"/>
                </a:solidFill>
                <a:latin typeface="Arial" pitchFamily="34" charset="0"/>
                <a:ea typeface="Arial" pitchFamily="34" charset="-122"/>
                <a:cs typeface="Arial" pitchFamily="34" charset="-120"/>
              </a:rPr>
              <a:t>17</a:t>
            </a:r>
            <a:endParaRPr lang="en-US" sz="3600"/>
          </a:p>
        </p:txBody>
      </p:sp>
      <p:sp>
        <p:nvSpPr>
          <p:cNvPr id="14" name="Text 10"/>
          <p:cNvSpPr/>
          <p:nvPr/>
        </p:nvSpPr>
        <p:spPr>
          <a:xfrm>
            <a:off x="2240280" y="4526280"/>
            <a:ext cx="1554480" cy="36576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moderate</a:t>
            </a:r>
            <a:endParaRPr lang="en-US" sz="1300"/>
          </a:p>
        </p:txBody>
      </p:sp>
      <p:sp>
        <p:nvSpPr>
          <p:cNvPr id="15" name="Shape 11"/>
          <p:cNvSpPr/>
          <p:nvPr/>
        </p:nvSpPr>
        <p:spPr>
          <a:xfrm>
            <a:off x="3931920" y="3749040"/>
            <a:ext cx="1554480" cy="1371600"/>
          </a:xfrm>
          <a:prstGeom prst="roundRect">
            <a:avLst>
              <a:gd name="adj" fmla="val 14667"/>
            </a:avLst>
          </a:prstGeom>
          <a:solidFill>
            <a:srgbClr val="1C1C1E"/>
          </a:solidFill>
          <a:ln w="12700">
            <a:solidFill>
              <a:srgbClr val="1C1C1E"/>
            </a:solidFill>
            <a:prstDash val="solid"/>
          </a:ln>
        </p:spPr>
        <p:txBody>
          <a:bodyPr/>
          <a:lstStyle/>
          <a:p>
            <a:endParaRPr lang="en-US"/>
          </a:p>
        </p:txBody>
      </p:sp>
      <p:sp>
        <p:nvSpPr>
          <p:cNvPr id="16" name="Text 12"/>
          <p:cNvSpPr/>
          <p:nvPr/>
        </p:nvSpPr>
        <p:spPr>
          <a:xfrm>
            <a:off x="3931920" y="3886200"/>
            <a:ext cx="1554480" cy="640080"/>
          </a:xfrm>
          <a:prstGeom prst="rect">
            <a:avLst/>
          </a:prstGeom>
          <a:noFill/>
          <a:ln/>
        </p:spPr>
        <p:txBody>
          <a:bodyPr wrap="square" lIns="0" tIns="0" rIns="0" bIns="0" rtlCol="0" anchor="t"/>
          <a:lstStyle/>
          <a:p>
            <a:pPr marL="0" indent="0" algn="ctr">
              <a:buNone/>
            </a:pPr>
            <a:r>
              <a:rPr lang="en-US" sz="3600" b="1">
                <a:solidFill>
                  <a:srgbClr val="FF453A"/>
                </a:solidFill>
                <a:latin typeface="Arial" pitchFamily="34" charset="0"/>
                <a:ea typeface="Arial" pitchFamily="34" charset="-122"/>
                <a:cs typeface="Arial" pitchFamily="34" charset="-120"/>
              </a:rPr>
              <a:t>1</a:t>
            </a:r>
            <a:endParaRPr lang="en-US" sz="3600"/>
          </a:p>
        </p:txBody>
      </p:sp>
      <p:sp>
        <p:nvSpPr>
          <p:cNvPr id="17" name="Text 13"/>
          <p:cNvSpPr/>
          <p:nvPr/>
        </p:nvSpPr>
        <p:spPr>
          <a:xfrm>
            <a:off x="3931920" y="4526280"/>
            <a:ext cx="1554480" cy="365760"/>
          </a:xfrm>
          <a:prstGeom prst="rect">
            <a:avLst/>
          </a:prstGeom>
          <a:noFill/>
          <a:ln/>
        </p:spPr>
        <p:txBody>
          <a:bodyPr wrap="square" lIns="0" tIns="0" rIns="0" bIns="0" rtlCol="0" anchor="t"/>
          <a:lstStyle/>
          <a:p>
            <a:pPr marL="0" indent="0" algn="ctr">
              <a:buNone/>
            </a:pPr>
            <a:r>
              <a:rPr lang="en-US" sz="1300">
                <a:solidFill>
                  <a:srgbClr val="A1A1A6"/>
                </a:solidFill>
                <a:latin typeface="Arial" pitchFamily="34" charset="0"/>
                <a:ea typeface="Arial" pitchFamily="34" charset="-122"/>
                <a:cs typeface="Arial" pitchFamily="34" charset="-120"/>
              </a:rPr>
              <a:t>developing</a:t>
            </a:r>
            <a:endParaRPr lang="en-US" sz="1300"/>
          </a:p>
        </p:txBody>
      </p:sp>
      <p:sp>
        <p:nvSpPr>
          <p:cNvPr id="18" name="Text 14"/>
          <p:cNvSpPr/>
          <p:nvPr/>
        </p:nvSpPr>
        <p:spPr>
          <a:xfrm>
            <a:off x="6309360" y="1325880"/>
            <a:ext cx="5303520" cy="320040"/>
          </a:xfrm>
          <a:prstGeom prst="rect">
            <a:avLst/>
          </a:prstGeom>
          <a:noFill/>
          <a:ln/>
        </p:spPr>
        <p:txBody>
          <a:bodyPr wrap="square" lIns="0" tIns="0" rIns="0" bIns="0" rtlCol="0" anchor="t"/>
          <a:lstStyle/>
          <a:p>
            <a:pPr marL="0" indent="0" algn="l">
              <a:buNone/>
            </a:pPr>
            <a:r>
              <a:rPr lang="en-US" sz="1300" b="1">
                <a:solidFill>
                  <a:srgbClr val="A1A1A6"/>
                </a:solidFill>
                <a:latin typeface="Arial" pitchFamily="34" charset="0"/>
                <a:ea typeface="Arial" pitchFamily="34" charset="-122"/>
                <a:cs typeface="Arial" pitchFamily="34" charset="-120"/>
              </a:rPr>
              <a:t>Strongest and weakest criteria (mean)</a:t>
            </a:r>
            <a:endParaRPr lang="en-US" sz="1300"/>
          </a:p>
        </p:txBody>
      </p:sp>
      <p:sp>
        <p:nvSpPr>
          <p:cNvPr id="19" name="Text 15"/>
          <p:cNvSpPr/>
          <p:nvPr/>
        </p:nvSpPr>
        <p:spPr>
          <a:xfrm>
            <a:off x="6309360" y="1828800"/>
            <a:ext cx="2560320" cy="365760"/>
          </a:xfrm>
          <a:prstGeom prst="rect">
            <a:avLst/>
          </a:prstGeom>
          <a:noFill/>
          <a:ln/>
        </p:spPr>
        <p:txBody>
          <a:bodyPr wrap="square" lIns="0" tIns="0" rIns="0" bIns="0" rtlCol="0" anchor="ctr"/>
          <a:lstStyle/>
          <a:p>
            <a:pPr marL="0" indent="0" algn="l">
              <a:buNone/>
            </a:pPr>
            <a:r>
              <a:rPr lang="en-US" sz="1500">
                <a:solidFill>
                  <a:srgbClr val="FFFFFF"/>
                </a:solidFill>
                <a:latin typeface="Arial" pitchFamily="34" charset="0"/>
                <a:ea typeface="Arial" pitchFamily="34" charset="-122"/>
                <a:cs typeface="Arial" pitchFamily="34" charset="-120"/>
              </a:rPr>
              <a:t>Research clarity</a:t>
            </a:r>
            <a:endParaRPr lang="en-US" sz="1500"/>
          </a:p>
        </p:txBody>
      </p:sp>
      <p:sp>
        <p:nvSpPr>
          <p:cNvPr id="20" name="Shape 16"/>
          <p:cNvSpPr/>
          <p:nvPr/>
        </p:nvSpPr>
        <p:spPr>
          <a:xfrm>
            <a:off x="8915400" y="1947672"/>
            <a:ext cx="2103120" cy="128016"/>
          </a:xfrm>
          <a:prstGeom prst="roundRect">
            <a:avLst>
              <a:gd name="adj" fmla="val 50000"/>
            </a:avLst>
          </a:prstGeom>
          <a:solidFill>
            <a:srgbClr val="3A3A3C"/>
          </a:solidFill>
          <a:ln w="12700">
            <a:solidFill>
              <a:srgbClr val="3A3A3C"/>
            </a:solidFill>
            <a:prstDash val="solid"/>
          </a:ln>
        </p:spPr>
        <p:txBody>
          <a:bodyPr/>
          <a:lstStyle/>
          <a:p>
            <a:endParaRPr lang="en-US"/>
          </a:p>
        </p:txBody>
      </p:sp>
      <p:sp>
        <p:nvSpPr>
          <p:cNvPr id="21" name="Shape 17"/>
          <p:cNvSpPr/>
          <p:nvPr/>
        </p:nvSpPr>
        <p:spPr>
          <a:xfrm>
            <a:off x="8915400" y="1947672"/>
            <a:ext cx="2103120" cy="128016"/>
          </a:xfrm>
          <a:prstGeom prst="roundRect">
            <a:avLst>
              <a:gd name="adj" fmla="val 50000"/>
            </a:avLst>
          </a:prstGeom>
          <a:solidFill>
            <a:srgbClr val="30D158"/>
          </a:solidFill>
          <a:ln w="12700">
            <a:solidFill>
              <a:srgbClr val="30D158"/>
            </a:solidFill>
            <a:prstDash val="solid"/>
          </a:ln>
        </p:spPr>
        <p:txBody>
          <a:bodyPr/>
          <a:lstStyle/>
          <a:p>
            <a:endParaRPr lang="en-US"/>
          </a:p>
        </p:txBody>
      </p:sp>
      <p:sp>
        <p:nvSpPr>
          <p:cNvPr id="22" name="Text 18"/>
          <p:cNvSpPr/>
          <p:nvPr/>
        </p:nvSpPr>
        <p:spPr>
          <a:xfrm>
            <a:off x="11109960" y="1828800"/>
            <a:ext cx="548640" cy="365760"/>
          </a:xfrm>
          <a:prstGeom prst="rect">
            <a:avLst/>
          </a:prstGeom>
          <a:noFill/>
          <a:ln/>
        </p:spPr>
        <p:txBody>
          <a:bodyPr wrap="square" lIns="0" tIns="0" rIns="0" bIns="0" rtlCol="0" anchor="ctr"/>
          <a:lstStyle/>
          <a:p>
            <a:pPr marL="0" indent="0" algn="l">
              <a:buNone/>
            </a:pPr>
            <a:r>
              <a:rPr lang="en-US" sz="1500" b="1">
                <a:solidFill>
                  <a:srgbClr val="30D158"/>
                </a:solidFill>
                <a:latin typeface="Arial" pitchFamily="34" charset="0"/>
                <a:ea typeface="Arial" pitchFamily="34" charset="-122"/>
                <a:cs typeface="Arial" pitchFamily="34" charset="-120"/>
              </a:rPr>
              <a:t>1.00</a:t>
            </a:r>
            <a:endParaRPr lang="en-US" sz="1500"/>
          </a:p>
        </p:txBody>
      </p:sp>
      <p:sp>
        <p:nvSpPr>
          <p:cNvPr id="23" name="Text 19"/>
          <p:cNvSpPr/>
          <p:nvPr/>
        </p:nvSpPr>
        <p:spPr>
          <a:xfrm>
            <a:off x="6309360" y="2450592"/>
            <a:ext cx="2560320" cy="365760"/>
          </a:xfrm>
          <a:prstGeom prst="rect">
            <a:avLst/>
          </a:prstGeom>
          <a:noFill/>
          <a:ln/>
        </p:spPr>
        <p:txBody>
          <a:bodyPr wrap="square" lIns="0" tIns="0" rIns="0" bIns="0" rtlCol="0" anchor="ctr"/>
          <a:lstStyle/>
          <a:p>
            <a:pPr marL="0" indent="0" algn="l">
              <a:buNone/>
            </a:pPr>
            <a:r>
              <a:rPr lang="en-US" sz="1500">
                <a:solidFill>
                  <a:srgbClr val="FFFFFF"/>
                </a:solidFill>
                <a:latin typeface="Arial" pitchFamily="34" charset="0"/>
                <a:ea typeface="Arial" pitchFamily="34" charset="-122"/>
                <a:cs typeface="Arial" pitchFamily="34" charset="-120"/>
              </a:rPr>
              <a:t>Independent validation</a:t>
            </a:r>
            <a:endParaRPr lang="en-US" sz="1500"/>
          </a:p>
        </p:txBody>
      </p:sp>
      <p:sp>
        <p:nvSpPr>
          <p:cNvPr id="24" name="Shape 20"/>
          <p:cNvSpPr/>
          <p:nvPr/>
        </p:nvSpPr>
        <p:spPr>
          <a:xfrm>
            <a:off x="8915400" y="2569464"/>
            <a:ext cx="2103120" cy="128016"/>
          </a:xfrm>
          <a:prstGeom prst="roundRect">
            <a:avLst>
              <a:gd name="adj" fmla="val 50000"/>
            </a:avLst>
          </a:prstGeom>
          <a:solidFill>
            <a:srgbClr val="3A3A3C"/>
          </a:solidFill>
          <a:ln w="12700">
            <a:solidFill>
              <a:srgbClr val="3A3A3C"/>
            </a:solidFill>
            <a:prstDash val="solid"/>
          </a:ln>
        </p:spPr>
        <p:txBody>
          <a:bodyPr/>
          <a:lstStyle/>
          <a:p>
            <a:endParaRPr lang="en-US"/>
          </a:p>
        </p:txBody>
      </p:sp>
      <p:sp>
        <p:nvSpPr>
          <p:cNvPr id="25" name="Shape 21"/>
          <p:cNvSpPr/>
          <p:nvPr/>
        </p:nvSpPr>
        <p:spPr>
          <a:xfrm>
            <a:off x="8915400" y="2569464"/>
            <a:ext cx="2103120" cy="128016"/>
          </a:xfrm>
          <a:prstGeom prst="roundRect">
            <a:avLst>
              <a:gd name="adj" fmla="val 50000"/>
            </a:avLst>
          </a:prstGeom>
          <a:solidFill>
            <a:srgbClr val="30D158"/>
          </a:solidFill>
          <a:ln w="12700">
            <a:solidFill>
              <a:srgbClr val="30D158"/>
            </a:solidFill>
            <a:prstDash val="solid"/>
          </a:ln>
        </p:spPr>
        <p:txBody>
          <a:bodyPr/>
          <a:lstStyle/>
          <a:p>
            <a:endParaRPr lang="en-US"/>
          </a:p>
        </p:txBody>
      </p:sp>
      <p:sp>
        <p:nvSpPr>
          <p:cNvPr id="26" name="Text 22"/>
          <p:cNvSpPr/>
          <p:nvPr/>
        </p:nvSpPr>
        <p:spPr>
          <a:xfrm>
            <a:off x="11109960" y="2450592"/>
            <a:ext cx="548640" cy="365760"/>
          </a:xfrm>
          <a:prstGeom prst="rect">
            <a:avLst/>
          </a:prstGeom>
          <a:noFill/>
          <a:ln/>
        </p:spPr>
        <p:txBody>
          <a:bodyPr wrap="square" lIns="0" tIns="0" rIns="0" bIns="0" rtlCol="0" anchor="ctr"/>
          <a:lstStyle/>
          <a:p>
            <a:pPr marL="0" indent="0" algn="l">
              <a:buNone/>
            </a:pPr>
            <a:r>
              <a:rPr lang="en-US" sz="1500" b="1">
                <a:solidFill>
                  <a:srgbClr val="30D158"/>
                </a:solidFill>
                <a:latin typeface="Arial" pitchFamily="34" charset="0"/>
                <a:ea typeface="Arial" pitchFamily="34" charset="-122"/>
                <a:cs typeface="Arial" pitchFamily="34" charset="-120"/>
              </a:rPr>
              <a:t>1.00</a:t>
            </a:r>
            <a:endParaRPr lang="en-US" sz="1500"/>
          </a:p>
        </p:txBody>
      </p:sp>
      <p:sp>
        <p:nvSpPr>
          <p:cNvPr id="27" name="Text 23"/>
          <p:cNvSpPr/>
          <p:nvPr/>
        </p:nvSpPr>
        <p:spPr>
          <a:xfrm>
            <a:off x="6309360" y="3072384"/>
            <a:ext cx="2560320" cy="365760"/>
          </a:xfrm>
          <a:prstGeom prst="rect">
            <a:avLst/>
          </a:prstGeom>
          <a:noFill/>
          <a:ln/>
        </p:spPr>
        <p:txBody>
          <a:bodyPr wrap="square" lIns="0" tIns="0" rIns="0" bIns="0" rtlCol="0" anchor="ctr"/>
          <a:lstStyle/>
          <a:p>
            <a:pPr marL="0" indent="0" algn="l">
              <a:buNone/>
            </a:pPr>
            <a:r>
              <a:rPr lang="en-US" sz="1500">
                <a:solidFill>
                  <a:srgbClr val="FFFFFF"/>
                </a:solidFill>
                <a:latin typeface="Arial" pitchFamily="34" charset="0"/>
                <a:ea typeface="Arial" pitchFamily="34" charset="-122"/>
                <a:cs typeface="Arial" pitchFamily="34" charset="-120"/>
              </a:rPr>
              <a:t>Context</a:t>
            </a:r>
            <a:endParaRPr lang="en-US" sz="1500"/>
          </a:p>
        </p:txBody>
      </p:sp>
      <p:sp>
        <p:nvSpPr>
          <p:cNvPr id="28" name="Shape 24"/>
          <p:cNvSpPr/>
          <p:nvPr/>
        </p:nvSpPr>
        <p:spPr>
          <a:xfrm>
            <a:off x="8915400" y="3191256"/>
            <a:ext cx="2103120" cy="128016"/>
          </a:xfrm>
          <a:prstGeom prst="roundRect">
            <a:avLst>
              <a:gd name="adj" fmla="val 50000"/>
            </a:avLst>
          </a:prstGeom>
          <a:solidFill>
            <a:srgbClr val="3A3A3C"/>
          </a:solidFill>
          <a:ln w="12700">
            <a:solidFill>
              <a:srgbClr val="3A3A3C"/>
            </a:solidFill>
            <a:prstDash val="solid"/>
          </a:ln>
        </p:spPr>
        <p:txBody>
          <a:bodyPr/>
          <a:lstStyle/>
          <a:p>
            <a:endParaRPr lang="en-US"/>
          </a:p>
        </p:txBody>
      </p:sp>
      <p:sp>
        <p:nvSpPr>
          <p:cNvPr id="29" name="Shape 25"/>
          <p:cNvSpPr/>
          <p:nvPr/>
        </p:nvSpPr>
        <p:spPr>
          <a:xfrm>
            <a:off x="8915400" y="3191256"/>
            <a:ext cx="2018995" cy="128016"/>
          </a:xfrm>
          <a:prstGeom prst="roundRect">
            <a:avLst>
              <a:gd name="adj" fmla="val 50000"/>
            </a:avLst>
          </a:prstGeom>
          <a:solidFill>
            <a:srgbClr val="30D158"/>
          </a:solidFill>
          <a:ln w="12700">
            <a:solidFill>
              <a:srgbClr val="30D158"/>
            </a:solidFill>
            <a:prstDash val="solid"/>
          </a:ln>
        </p:spPr>
        <p:txBody>
          <a:bodyPr/>
          <a:lstStyle/>
          <a:p>
            <a:endParaRPr lang="en-US"/>
          </a:p>
        </p:txBody>
      </p:sp>
      <p:sp>
        <p:nvSpPr>
          <p:cNvPr id="30" name="Text 26"/>
          <p:cNvSpPr/>
          <p:nvPr/>
        </p:nvSpPr>
        <p:spPr>
          <a:xfrm>
            <a:off x="11109960" y="3072384"/>
            <a:ext cx="548640" cy="365760"/>
          </a:xfrm>
          <a:prstGeom prst="rect">
            <a:avLst/>
          </a:prstGeom>
          <a:noFill/>
          <a:ln/>
        </p:spPr>
        <p:txBody>
          <a:bodyPr wrap="square" lIns="0" tIns="0" rIns="0" bIns="0" rtlCol="0" anchor="ctr"/>
          <a:lstStyle/>
          <a:p>
            <a:pPr marL="0" indent="0" algn="l">
              <a:buNone/>
            </a:pPr>
            <a:r>
              <a:rPr lang="en-US" sz="1500" b="1">
                <a:solidFill>
                  <a:srgbClr val="30D158"/>
                </a:solidFill>
                <a:latin typeface="Arial" pitchFamily="34" charset="0"/>
                <a:ea typeface="Arial" pitchFamily="34" charset="-122"/>
                <a:cs typeface="Arial" pitchFamily="34" charset="-120"/>
              </a:rPr>
              <a:t>0.96</a:t>
            </a:r>
            <a:endParaRPr lang="en-US" sz="1500"/>
          </a:p>
        </p:txBody>
      </p:sp>
      <p:sp>
        <p:nvSpPr>
          <p:cNvPr id="31" name="Text 27"/>
          <p:cNvSpPr/>
          <p:nvPr/>
        </p:nvSpPr>
        <p:spPr>
          <a:xfrm>
            <a:off x="6309360" y="3968496"/>
            <a:ext cx="2560320" cy="365760"/>
          </a:xfrm>
          <a:prstGeom prst="rect">
            <a:avLst/>
          </a:prstGeom>
          <a:noFill/>
          <a:ln/>
        </p:spPr>
        <p:txBody>
          <a:bodyPr wrap="square" lIns="0" tIns="0" rIns="0" bIns="0" rtlCol="0" anchor="ctr"/>
          <a:lstStyle/>
          <a:p>
            <a:pPr marL="0" indent="0" algn="l">
              <a:buNone/>
            </a:pPr>
            <a:r>
              <a:rPr lang="en-US" sz="1500">
                <a:solidFill>
                  <a:srgbClr val="FFFFFF"/>
                </a:solidFill>
                <a:latin typeface="Arial" pitchFamily="34" charset="0"/>
                <a:ea typeface="Arial" pitchFamily="34" charset="-122"/>
                <a:cs typeface="Arial" pitchFamily="34" charset="-120"/>
              </a:rPr>
              <a:t>Completeness</a:t>
            </a:r>
            <a:endParaRPr lang="en-US" sz="1500"/>
          </a:p>
        </p:txBody>
      </p:sp>
      <p:sp>
        <p:nvSpPr>
          <p:cNvPr id="32" name="Shape 28"/>
          <p:cNvSpPr/>
          <p:nvPr/>
        </p:nvSpPr>
        <p:spPr>
          <a:xfrm>
            <a:off x="8915400" y="4087368"/>
            <a:ext cx="2103120" cy="128016"/>
          </a:xfrm>
          <a:prstGeom prst="roundRect">
            <a:avLst>
              <a:gd name="adj" fmla="val 50000"/>
            </a:avLst>
          </a:prstGeom>
          <a:solidFill>
            <a:srgbClr val="3A3A3C"/>
          </a:solidFill>
          <a:ln w="12700">
            <a:solidFill>
              <a:srgbClr val="3A3A3C"/>
            </a:solidFill>
            <a:prstDash val="solid"/>
          </a:ln>
        </p:spPr>
        <p:txBody>
          <a:bodyPr/>
          <a:lstStyle/>
          <a:p>
            <a:endParaRPr lang="en-US"/>
          </a:p>
        </p:txBody>
      </p:sp>
      <p:sp>
        <p:nvSpPr>
          <p:cNvPr id="33" name="Shape 29"/>
          <p:cNvSpPr/>
          <p:nvPr/>
        </p:nvSpPr>
        <p:spPr>
          <a:xfrm>
            <a:off x="8915400" y="4087368"/>
            <a:ext cx="736092" cy="128016"/>
          </a:xfrm>
          <a:prstGeom prst="roundRect">
            <a:avLst>
              <a:gd name="adj" fmla="val 50000"/>
            </a:avLst>
          </a:prstGeom>
          <a:solidFill>
            <a:srgbClr val="FF453A"/>
          </a:solidFill>
          <a:ln w="12700">
            <a:solidFill>
              <a:srgbClr val="FF453A"/>
            </a:solidFill>
            <a:prstDash val="solid"/>
          </a:ln>
        </p:spPr>
        <p:txBody>
          <a:bodyPr/>
          <a:lstStyle/>
          <a:p>
            <a:endParaRPr lang="en-US"/>
          </a:p>
        </p:txBody>
      </p:sp>
      <p:sp>
        <p:nvSpPr>
          <p:cNvPr id="34" name="Text 30"/>
          <p:cNvSpPr/>
          <p:nvPr/>
        </p:nvSpPr>
        <p:spPr>
          <a:xfrm>
            <a:off x="11109960" y="3968496"/>
            <a:ext cx="548640" cy="365760"/>
          </a:xfrm>
          <a:prstGeom prst="rect">
            <a:avLst/>
          </a:prstGeom>
          <a:noFill/>
          <a:ln/>
        </p:spPr>
        <p:txBody>
          <a:bodyPr wrap="square" lIns="0" tIns="0" rIns="0" bIns="0" rtlCol="0" anchor="ctr"/>
          <a:lstStyle/>
          <a:p>
            <a:pPr marL="0" indent="0" algn="l">
              <a:buNone/>
            </a:pPr>
            <a:r>
              <a:rPr lang="en-US" sz="1500" b="1">
                <a:solidFill>
                  <a:srgbClr val="FF453A"/>
                </a:solidFill>
                <a:latin typeface="Arial" pitchFamily="34" charset="0"/>
                <a:ea typeface="Arial" pitchFamily="34" charset="-122"/>
                <a:cs typeface="Arial" pitchFamily="34" charset="-120"/>
              </a:rPr>
              <a:t>0.35</a:t>
            </a:r>
            <a:endParaRPr lang="en-US" sz="1500"/>
          </a:p>
        </p:txBody>
      </p:sp>
      <p:sp>
        <p:nvSpPr>
          <p:cNvPr id="35" name="Text 31"/>
          <p:cNvSpPr/>
          <p:nvPr/>
        </p:nvSpPr>
        <p:spPr>
          <a:xfrm>
            <a:off x="6309360" y="4590288"/>
            <a:ext cx="2560320" cy="365760"/>
          </a:xfrm>
          <a:prstGeom prst="rect">
            <a:avLst/>
          </a:prstGeom>
          <a:noFill/>
          <a:ln/>
        </p:spPr>
        <p:txBody>
          <a:bodyPr wrap="square" lIns="0" tIns="0" rIns="0" bIns="0" rtlCol="0" anchor="ctr"/>
          <a:lstStyle/>
          <a:p>
            <a:pPr marL="0" indent="0" algn="l">
              <a:buNone/>
            </a:pPr>
            <a:r>
              <a:rPr lang="en-US" sz="1500">
                <a:solidFill>
                  <a:srgbClr val="FFFFFF"/>
                </a:solidFill>
                <a:latin typeface="Arial" pitchFamily="34" charset="0"/>
                <a:ea typeface="Arial" pitchFamily="34" charset="-122"/>
                <a:cs typeface="Arial" pitchFamily="34" charset="-120"/>
              </a:rPr>
              <a:t>Human expertise</a:t>
            </a:r>
            <a:endParaRPr lang="en-US" sz="1500"/>
          </a:p>
        </p:txBody>
      </p:sp>
      <p:sp>
        <p:nvSpPr>
          <p:cNvPr id="36" name="Shape 32"/>
          <p:cNvSpPr/>
          <p:nvPr/>
        </p:nvSpPr>
        <p:spPr>
          <a:xfrm>
            <a:off x="8915400" y="4709160"/>
            <a:ext cx="2103120" cy="128016"/>
          </a:xfrm>
          <a:prstGeom prst="roundRect">
            <a:avLst>
              <a:gd name="adj" fmla="val 50000"/>
            </a:avLst>
          </a:prstGeom>
          <a:solidFill>
            <a:srgbClr val="3A3A3C"/>
          </a:solidFill>
          <a:ln w="12700">
            <a:solidFill>
              <a:srgbClr val="3A3A3C"/>
            </a:solidFill>
            <a:prstDash val="solid"/>
          </a:ln>
        </p:spPr>
        <p:txBody>
          <a:bodyPr/>
          <a:lstStyle/>
          <a:p>
            <a:endParaRPr lang="en-US"/>
          </a:p>
        </p:txBody>
      </p:sp>
      <p:sp>
        <p:nvSpPr>
          <p:cNvPr id="37" name="Shape 33"/>
          <p:cNvSpPr/>
          <p:nvPr/>
        </p:nvSpPr>
        <p:spPr>
          <a:xfrm>
            <a:off x="8915400" y="4709160"/>
            <a:ext cx="546811" cy="128016"/>
          </a:xfrm>
          <a:prstGeom prst="roundRect">
            <a:avLst>
              <a:gd name="adj" fmla="val 50000"/>
            </a:avLst>
          </a:prstGeom>
          <a:solidFill>
            <a:srgbClr val="FF453A"/>
          </a:solidFill>
          <a:ln w="12700">
            <a:solidFill>
              <a:srgbClr val="FF453A"/>
            </a:solidFill>
            <a:prstDash val="solid"/>
          </a:ln>
        </p:spPr>
        <p:txBody>
          <a:bodyPr/>
          <a:lstStyle/>
          <a:p>
            <a:endParaRPr lang="en-US"/>
          </a:p>
        </p:txBody>
      </p:sp>
      <p:sp>
        <p:nvSpPr>
          <p:cNvPr id="38" name="Text 34"/>
          <p:cNvSpPr/>
          <p:nvPr/>
        </p:nvSpPr>
        <p:spPr>
          <a:xfrm>
            <a:off x="11109960" y="4590288"/>
            <a:ext cx="548640" cy="365760"/>
          </a:xfrm>
          <a:prstGeom prst="rect">
            <a:avLst/>
          </a:prstGeom>
          <a:noFill/>
          <a:ln/>
        </p:spPr>
        <p:txBody>
          <a:bodyPr wrap="square" lIns="0" tIns="0" rIns="0" bIns="0" rtlCol="0" anchor="ctr"/>
          <a:lstStyle/>
          <a:p>
            <a:pPr marL="0" indent="0" algn="l">
              <a:buNone/>
            </a:pPr>
            <a:r>
              <a:rPr lang="en-US" sz="1500" b="1">
                <a:solidFill>
                  <a:srgbClr val="FF453A"/>
                </a:solidFill>
                <a:latin typeface="Arial" pitchFamily="34" charset="0"/>
                <a:ea typeface="Arial" pitchFamily="34" charset="-122"/>
                <a:cs typeface="Arial" pitchFamily="34" charset="-120"/>
              </a:rPr>
              <a:t>0.26</a:t>
            </a:r>
            <a:endParaRPr lang="en-US" sz="1500"/>
          </a:p>
        </p:txBody>
      </p:sp>
      <p:sp>
        <p:nvSpPr>
          <p:cNvPr id="39" name="Text 35"/>
          <p:cNvSpPr/>
          <p:nvPr/>
        </p:nvSpPr>
        <p:spPr>
          <a:xfrm>
            <a:off x="6309360" y="5212080"/>
            <a:ext cx="2560320" cy="365760"/>
          </a:xfrm>
          <a:prstGeom prst="rect">
            <a:avLst/>
          </a:prstGeom>
          <a:noFill/>
          <a:ln/>
        </p:spPr>
        <p:txBody>
          <a:bodyPr wrap="square" lIns="0" tIns="0" rIns="0" bIns="0" rtlCol="0" anchor="ctr"/>
          <a:lstStyle/>
          <a:p>
            <a:pPr marL="0" indent="0" algn="l">
              <a:buNone/>
            </a:pPr>
            <a:r>
              <a:rPr lang="en-US" sz="1500">
                <a:solidFill>
                  <a:srgbClr val="FFFFFF"/>
                </a:solidFill>
                <a:latin typeface="Arial" pitchFamily="34" charset="0"/>
                <a:ea typeface="Arial" pitchFamily="34" charset="-122"/>
                <a:cs typeface="Arial" pitchFamily="34" charset="-120"/>
              </a:rPr>
              <a:t>Cross-view consistency</a:t>
            </a:r>
            <a:endParaRPr lang="en-US" sz="1500"/>
          </a:p>
        </p:txBody>
      </p:sp>
      <p:sp>
        <p:nvSpPr>
          <p:cNvPr id="40" name="Shape 36"/>
          <p:cNvSpPr/>
          <p:nvPr/>
        </p:nvSpPr>
        <p:spPr>
          <a:xfrm>
            <a:off x="8915400" y="5330952"/>
            <a:ext cx="2103120" cy="128016"/>
          </a:xfrm>
          <a:prstGeom prst="roundRect">
            <a:avLst>
              <a:gd name="adj" fmla="val 50000"/>
            </a:avLst>
          </a:prstGeom>
          <a:solidFill>
            <a:srgbClr val="3A3A3C"/>
          </a:solidFill>
          <a:ln w="12700">
            <a:solidFill>
              <a:srgbClr val="3A3A3C"/>
            </a:solidFill>
            <a:prstDash val="solid"/>
          </a:ln>
        </p:spPr>
        <p:txBody>
          <a:bodyPr/>
          <a:lstStyle/>
          <a:p>
            <a:endParaRPr lang="en-US"/>
          </a:p>
        </p:txBody>
      </p:sp>
      <p:sp>
        <p:nvSpPr>
          <p:cNvPr id="41" name="Shape 37"/>
          <p:cNvSpPr/>
          <p:nvPr/>
        </p:nvSpPr>
        <p:spPr>
          <a:xfrm>
            <a:off x="8915400" y="5330952"/>
            <a:ext cx="231343" cy="128016"/>
          </a:xfrm>
          <a:prstGeom prst="roundRect">
            <a:avLst>
              <a:gd name="adj" fmla="val 50000"/>
            </a:avLst>
          </a:prstGeom>
          <a:solidFill>
            <a:srgbClr val="FF453A"/>
          </a:solidFill>
          <a:ln w="12700">
            <a:solidFill>
              <a:srgbClr val="FF453A"/>
            </a:solidFill>
            <a:prstDash val="solid"/>
          </a:ln>
        </p:spPr>
        <p:txBody>
          <a:bodyPr/>
          <a:lstStyle/>
          <a:p>
            <a:endParaRPr lang="en-US"/>
          </a:p>
        </p:txBody>
      </p:sp>
      <p:sp>
        <p:nvSpPr>
          <p:cNvPr id="42" name="Text 38"/>
          <p:cNvSpPr/>
          <p:nvPr/>
        </p:nvSpPr>
        <p:spPr>
          <a:xfrm>
            <a:off x="11109960" y="5212080"/>
            <a:ext cx="548640" cy="365760"/>
          </a:xfrm>
          <a:prstGeom prst="rect">
            <a:avLst/>
          </a:prstGeom>
          <a:noFill/>
          <a:ln/>
        </p:spPr>
        <p:txBody>
          <a:bodyPr wrap="square" lIns="0" tIns="0" rIns="0" bIns="0" rtlCol="0" anchor="ctr"/>
          <a:lstStyle/>
          <a:p>
            <a:pPr marL="0" indent="0" algn="l">
              <a:buNone/>
            </a:pPr>
            <a:r>
              <a:rPr lang="en-US" sz="1500" b="1">
                <a:solidFill>
                  <a:srgbClr val="FF453A"/>
                </a:solidFill>
                <a:latin typeface="Arial" pitchFamily="34" charset="0"/>
                <a:ea typeface="Arial" pitchFamily="34" charset="-122"/>
                <a:cs typeface="Arial" pitchFamily="34" charset="-120"/>
              </a:rPr>
              <a:t>0.11</a:t>
            </a:r>
            <a:endParaRPr lang="en-US" sz="1500"/>
          </a:p>
        </p:txBody>
      </p:sp>
      <p:sp>
        <p:nvSpPr>
          <p:cNvPr id="43" name="Text 39"/>
          <p:cNvSpPr/>
          <p:nvPr/>
        </p:nvSpPr>
        <p:spPr>
          <a:xfrm>
            <a:off x="6309360" y="5760720"/>
            <a:ext cx="5303520" cy="274320"/>
          </a:xfrm>
          <a:prstGeom prst="rect">
            <a:avLst/>
          </a:prstGeom>
          <a:noFill/>
          <a:ln/>
        </p:spPr>
        <p:txBody>
          <a:bodyPr wrap="square" lIns="0" tIns="0" rIns="0" bIns="0" rtlCol="0" anchor="t"/>
          <a:lstStyle/>
          <a:p>
            <a:pPr marL="0" indent="0" algn="l">
              <a:buNone/>
            </a:pPr>
            <a:r>
              <a:rPr lang="en-US" sz="1200">
                <a:solidFill>
                  <a:srgbClr val="A1A1A6"/>
                </a:solidFill>
                <a:latin typeface="Arial" pitchFamily="34" charset="0"/>
                <a:ea typeface="Arial" pitchFamily="34" charset="-122"/>
                <a:cs typeface="Arial" pitchFamily="34" charset="-120"/>
              </a:rPr>
              <a:t>Means from report Table 6. Only 4 studies fully meet statistical analysis; 0 fully meet cross-view consistency.</a:t>
            </a:r>
            <a:endParaRPr lang="en-US" sz="1200"/>
          </a:p>
        </p:txBody>
      </p:sp>
    </p:spTree>
    <p:extLst>
      <p:ext uri="{BB962C8B-B14F-4D97-AF65-F5344CB8AC3E}">
        <p14:creationId xmlns:p14="http://schemas.microsoft.com/office/powerpoint/2010/main" val="2835551324"/>
      </p:ext>
    </p:extLst>
  </p:cSld>
  <p:clrMapOvr>
    <a:masterClrMapping/>
  </p:clrMapOvr>
  <mc:AlternateContent xmlns:mc="http://schemas.openxmlformats.org/markup-compatibility/2006" xmlns:p14="http://schemas.microsoft.com/office/powerpoint/2010/main">
    <mc:Choice Requires="p14">
      <p:transition spd="slow" p14:dur="2000" advTm="49649"/>
    </mc:Choice>
    <mc:Fallback xmlns="">
      <p:transition spd="slow" advTm="4964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Sibongiseni Tsitsa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19</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Gains and risks</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Faster, yes. Better? It depends.</a:t>
            </a:r>
            <a:endParaRPr lang="en-US" sz="4400"/>
          </a:p>
        </p:txBody>
      </p:sp>
      <p:sp>
        <p:nvSpPr>
          <p:cNvPr id="7" name="Shape 4"/>
          <p:cNvSpPr/>
          <p:nvPr/>
        </p:nvSpPr>
        <p:spPr>
          <a:xfrm>
            <a:off x="548640" y="2148840"/>
            <a:ext cx="3566160" cy="1965960"/>
          </a:xfrm>
          <a:prstGeom prst="roundRect">
            <a:avLst>
              <a:gd name="adj" fmla="val 10233"/>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822960" y="2377440"/>
            <a:ext cx="3017520" cy="274320"/>
          </a:xfrm>
          <a:prstGeom prst="rect">
            <a:avLst/>
          </a:prstGeom>
          <a:noFill/>
          <a:ln/>
        </p:spPr>
        <p:txBody>
          <a:bodyPr wrap="square" lIns="0" tIns="0" rIns="0" bIns="0" rtlCol="0" anchor="t"/>
          <a:lstStyle/>
          <a:p>
            <a:pPr marL="0" indent="0" algn="l">
              <a:buNone/>
            </a:pPr>
            <a:r>
              <a:rPr lang="en-US" sz="1200" b="1">
                <a:solidFill>
                  <a:srgbClr val="30D158"/>
                </a:solidFill>
                <a:latin typeface="Arial" pitchFamily="34" charset="0"/>
                <a:ea typeface="Arial" pitchFamily="34" charset="-122"/>
                <a:cs typeface="Arial" pitchFamily="34" charset="-120"/>
              </a:rPr>
              <a:t>IMPROVES</a:t>
            </a:r>
            <a:endParaRPr lang="en-US" sz="1200"/>
          </a:p>
        </p:txBody>
      </p:sp>
      <p:sp>
        <p:nvSpPr>
          <p:cNvPr id="9" name="Text 6"/>
          <p:cNvSpPr/>
          <p:nvPr/>
        </p:nvSpPr>
        <p:spPr>
          <a:xfrm>
            <a:off x="822960" y="2697480"/>
            <a:ext cx="3017520" cy="822960"/>
          </a:xfrm>
          <a:prstGeom prst="rect">
            <a:avLst/>
          </a:prstGeom>
          <a:noFill/>
          <a:ln/>
        </p:spPr>
        <p:txBody>
          <a:bodyPr wrap="square" lIns="0" tIns="0" rIns="0" bIns="0" rtlCol="0" anchor="t"/>
          <a:lstStyle/>
          <a:p>
            <a:pPr marL="0" indent="0" algn="l">
              <a:buNone/>
            </a:pPr>
            <a:r>
              <a:rPr lang="en-US" sz="2200" b="1">
                <a:solidFill>
                  <a:srgbClr val="1D1D1F"/>
                </a:solidFill>
                <a:latin typeface="Arial" pitchFamily="34" charset="0"/>
                <a:ea typeface="Arial" pitchFamily="34" charset="-122"/>
                <a:cs typeface="Arial" pitchFamily="34" charset="-120"/>
              </a:rPr>
              <a:t>5 hours vs 10 months</a:t>
            </a:r>
            <a:endParaRPr lang="en-US" sz="2200"/>
          </a:p>
        </p:txBody>
      </p:sp>
      <p:sp>
        <p:nvSpPr>
          <p:cNvPr id="10" name="Text 7"/>
          <p:cNvSpPr/>
          <p:nvPr/>
        </p:nvSpPr>
        <p:spPr>
          <a:xfrm>
            <a:off x="822960" y="3520440"/>
            <a:ext cx="3017520" cy="50292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Unattended model generation against manual work (Blasco et al., 2021).</a:t>
            </a:r>
            <a:endParaRPr lang="en-US" sz="1300"/>
          </a:p>
        </p:txBody>
      </p:sp>
      <p:sp>
        <p:nvSpPr>
          <p:cNvPr id="11" name="Shape 8"/>
          <p:cNvSpPr/>
          <p:nvPr/>
        </p:nvSpPr>
        <p:spPr>
          <a:xfrm>
            <a:off x="4315968" y="2148840"/>
            <a:ext cx="3566160" cy="1965960"/>
          </a:xfrm>
          <a:prstGeom prst="roundRect">
            <a:avLst>
              <a:gd name="adj" fmla="val 10233"/>
            </a:avLst>
          </a:prstGeom>
          <a:solidFill>
            <a:srgbClr val="FFFFFF"/>
          </a:solidFill>
          <a:ln w="12700">
            <a:solidFill>
              <a:srgbClr val="FFFFFF"/>
            </a:solidFill>
            <a:prstDash val="solid"/>
          </a:ln>
        </p:spPr>
        <p:txBody>
          <a:bodyPr/>
          <a:lstStyle/>
          <a:p>
            <a:endParaRPr lang="en-US"/>
          </a:p>
        </p:txBody>
      </p:sp>
      <p:sp>
        <p:nvSpPr>
          <p:cNvPr id="12" name="Text 9"/>
          <p:cNvSpPr/>
          <p:nvPr/>
        </p:nvSpPr>
        <p:spPr>
          <a:xfrm>
            <a:off x="4590288" y="2377440"/>
            <a:ext cx="3017520" cy="274320"/>
          </a:xfrm>
          <a:prstGeom prst="rect">
            <a:avLst/>
          </a:prstGeom>
          <a:noFill/>
          <a:ln/>
        </p:spPr>
        <p:txBody>
          <a:bodyPr wrap="square" lIns="0" tIns="0" rIns="0" bIns="0" rtlCol="0" anchor="t"/>
          <a:lstStyle/>
          <a:p>
            <a:pPr marL="0" indent="0" algn="l">
              <a:buNone/>
            </a:pPr>
            <a:r>
              <a:rPr lang="en-US" sz="1200" b="1">
                <a:solidFill>
                  <a:srgbClr val="FF9F0A"/>
                </a:solidFill>
                <a:latin typeface="Arial" pitchFamily="34" charset="0"/>
                <a:ea typeface="Arial" pitchFamily="34" charset="-122"/>
                <a:cs typeface="Arial" pitchFamily="34" charset="-120"/>
              </a:rPr>
              <a:t>MIXED</a:t>
            </a:r>
            <a:endParaRPr lang="en-US" sz="1200"/>
          </a:p>
        </p:txBody>
      </p:sp>
      <p:sp>
        <p:nvSpPr>
          <p:cNvPr id="13" name="Text 10"/>
          <p:cNvSpPr/>
          <p:nvPr/>
        </p:nvSpPr>
        <p:spPr>
          <a:xfrm>
            <a:off x="4590288" y="2697480"/>
            <a:ext cx="3017520" cy="822960"/>
          </a:xfrm>
          <a:prstGeom prst="rect">
            <a:avLst/>
          </a:prstGeom>
          <a:noFill/>
          <a:ln/>
        </p:spPr>
        <p:txBody>
          <a:bodyPr wrap="square" lIns="0" tIns="0" rIns="0" bIns="0" rtlCol="0" anchor="t"/>
          <a:lstStyle/>
          <a:p>
            <a:pPr marL="0" indent="0" algn="l">
              <a:buNone/>
            </a:pPr>
            <a:r>
              <a:rPr lang="en-US" sz="2200" b="1">
                <a:solidFill>
                  <a:srgbClr val="1D1D1F"/>
                </a:solidFill>
                <a:latin typeface="Arial" pitchFamily="34" charset="0"/>
                <a:ea typeface="Arial" pitchFamily="34" charset="-122"/>
                <a:cs typeface="Arial" pitchFamily="34" charset="-120"/>
              </a:rPr>
              <a:t>F1 0.76 vs 0.34</a:t>
            </a:r>
            <a:endParaRPr lang="en-US" sz="2200"/>
          </a:p>
        </p:txBody>
      </p:sp>
      <p:sp>
        <p:nvSpPr>
          <p:cNvPr id="14" name="Text 11"/>
          <p:cNvSpPr/>
          <p:nvPr/>
        </p:nvSpPr>
        <p:spPr>
          <a:xfrm>
            <a:off x="4590288" y="3520440"/>
            <a:ext cx="3017520" cy="50292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Classes are found; relationships are missed (K. Chen et al., 2023).</a:t>
            </a:r>
            <a:endParaRPr lang="en-US" sz="1300"/>
          </a:p>
        </p:txBody>
      </p:sp>
      <p:sp>
        <p:nvSpPr>
          <p:cNvPr id="15" name="Shape 12"/>
          <p:cNvSpPr/>
          <p:nvPr/>
        </p:nvSpPr>
        <p:spPr>
          <a:xfrm>
            <a:off x="8083296" y="2148840"/>
            <a:ext cx="3566160" cy="1965960"/>
          </a:xfrm>
          <a:prstGeom prst="roundRect">
            <a:avLst>
              <a:gd name="adj" fmla="val 10233"/>
            </a:avLst>
          </a:prstGeom>
          <a:solidFill>
            <a:srgbClr val="FFFFFF"/>
          </a:solidFill>
          <a:ln w="12700">
            <a:solidFill>
              <a:srgbClr val="FFFFFF"/>
            </a:solidFill>
            <a:prstDash val="solid"/>
          </a:ln>
        </p:spPr>
        <p:txBody>
          <a:bodyPr/>
          <a:lstStyle/>
          <a:p>
            <a:endParaRPr lang="en-US"/>
          </a:p>
        </p:txBody>
      </p:sp>
      <p:sp>
        <p:nvSpPr>
          <p:cNvPr id="16" name="Text 13"/>
          <p:cNvSpPr/>
          <p:nvPr/>
        </p:nvSpPr>
        <p:spPr>
          <a:xfrm>
            <a:off x="8357616" y="2377440"/>
            <a:ext cx="3017520" cy="274320"/>
          </a:xfrm>
          <a:prstGeom prst="rect">
            <a:avLst/>
          </a:prstGeom>
          <a:noFill/>
          <a:ln/>
        </p:spPr>
        <p:txBody>
          <a:bodyPr wrap="square" lIns="0" tIns="0" rIns="0" bIns="0" rtlCol="0" anchor="t"/>
          <a:lstStyle/>
          <a:p>
            <a:pPr marL="0" indent="0" algn="l">
              <a:buNone/>
            </a:pPr>
            <a:r>
              <a:rPr lang="en-US" sz="1200" b="1">
                <a:solidFill>
                  <a:srgbClr val="6E6E73"/>
                </a:solidFill>
                <a:latin typeface="Arial" pitchFamily="34" charset="0"/>
                <a:ea typeface="Arial" pitchFamily="34" charset="-122"/>
                <a:cs typeface="Arial" pitchFamily="34" charset="-120"/>
              </a:rPr>
              <a:t>UNMEASURED</a:t>
            </a:r>
            <a:endParaRPr lang="en-US" sz="1200"/>
          </a:p>
        </p:txBody>
      </p:sp>
      <p:sp>
        <p:nvSpPr>
          <p:cNvPr id="17" name="Text 14"/>
          <p:cNvSpPr/>
          <p:nvPr/>
        </p:nvSpPr>
        <p:spPr>
          <a:xfrm>
            <a:off x="8357616" y="2697480"/>
            <a:ext cx="3017520" cy="822960"/>
          </a:xfrm>
          <a:prstGeom prst="rect">
            <a:avLst/>
          </a:prstGeom>
          <a:noFill/>
          <a:ln/>
        </p:spPr>
        <p:txBody>
          <a:bodyPr wrap="square" lIns="0" tIns="0" rIns="0" bIns="0" rtlCol="0" anchor="t"/>
          <a:lstStyle/>
          <a:p>
            <a:pPr marL="0" indent="0" algn="l">
              <a:buNone/>
            </a:pPr>
            <a:r>
              <a:rPr lang="en-US" sz="2200" b="1">
                <a:solidFill>
                  <a:srgbClr val="1D1D1F"/>
                </a:solidFill>
                <a:latin typeface="Arial" pitchFamily="34" charset="0"/>
                <a:ea typeface="Arial" pitchFamily="34" charset="-122"/>
                <a:cs typeface="Arial" pitchFamily="34" charset="-120"/>
              </a:rPr>
              <a:t>Maintainability, energy</a:t>
            </a:r>
            <a:endParaRPr lang="en-US" sz="2200"/>
          </a:p>
        </p:txBody>
      </p:sp>
      <p:sp>
        <p:nvSpPr>
          <p:cNvPr id="18" name="Text 15"/>
          <p:cNvSpPr/>
          <p:nvPr/>
        </p:nvSpPr>
        <p:spPr>
          <a:xfrm>
            <a:off x="8357616" y="3520440"/>
            <a:ext cx="3017520" cy="50292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Rarely measured; no MDE-vs-LLM energy comparison.</a:t>
            </a:r>
            <a:endParaRPr lang="en-US" sz="1300"/>
          </a:p>
        </p:txBody>
      </p:sp>
      <p:sp>
        <p:nvSpPr>
          <p:cNvPr id="19" name="Shape 16"/>
          <p:cNvSpPr/>
          <p:nvPr/>
        </p:nvSpPr>
        <p:spPr>
          <a:xfrm>
            <a:off x="548640" y="4297680"/>
            <a:ext cx="5486400" cy="1920240"/>
          </a:xfrm>
          <a:prstGeom prst="roundRect">
            <a:avLst>
              <a:gd name="adj" fmla="val 10476"/>
            </a:avLst>
          </a:prstGeom>
          <a:solidFill>
            <a:srgbClr val="FFFFFF"/>
          </a:solidFill>
          <a:ln w="12700">
            <a:solidFill>
              <a:srgbClr val="FFFFFF"/>
            </a:solidFill>
            <a:prstDash val="solid"/>
          </a:ln>
        </p:spPr>
        <p:txBody>
          <a:bodyPr/>
          <a:lstStyle/>
          <a:p>
            <a:endParaRPr lang="en-US"/>
          </a:p>
        </p:txBody>
      </p:sp>
      <p:sp>
        <p:nvSpPr>
          <p:cNvPr id="20" name="Text 17"/>
          <p:cNvSpPr/>
          <p:nvPr/>
        </p:nvSpPr>
        <p:spPr>
          <a:xfrm>
            <a:off x="822960" y="4526280"/>
            <a:ext cx="4937760" cy="274320"/>
          </a:xfrm>
          <a:prstGeom prst="rect">
            <a:avLst/>
          </a:prstGeom>
          <a:noFill/>
          <a:ln/>
        </p:spPr>
        <p:txBody>
          <a:bodyPr wrap="square" lIns="0" tIns="0" rIns="0" bIns="0" rtlCol="0" anchor="t"/>
          <a:lstStyle/>
          <a:p>
            <a:pPr marL="0" indent="0" algn="l">
              <a:buNone/>
            </a:pPr>
            <a:r>
              <a:rPr lang="en-US" sz="1200" b="1">
                <a:solidFill>
                  <a:srgbClr val="FF453A"/>
                </a:solidFill>
                <a:latin typeface="Arial" pitchFamily="34" charset="0"/>
                <a:ea typeface="Arial" pitchFamily="34" charset="-122"/>
                <a:cs typeface="Arial" pitchFamily="34" charset="-120"/>
              </a:rPr>
              <a:t>RISK · STRONG EVIDENCE</a:t>
            </a:r>
            <a:endParaRPr lang="en-US" sz="1200"/>
          </a:p>
        </p:txBody>
      </p:sp>
      <p:sp>
        <p:nvSpPr>
          <p:cNvPr id="21" name="Text 18"/>
          <p:cNvSpPr/>
          <p:nvPr/>
        </p:nvSpPr>
        <p:spPr>
          <a:xfrm>
            <a:off x="822960" y="4846320"/>
            <a:ext cx="4937760" cy="822960"/>
          </a:xfrm>
          <a:prstGeom prst="rect">
            <a:avLst/>
          </a:prstGeom>
          <a:noFill/>
          <a:ln/>
        </p:spPr>
        <p:txBody>
          <a:bodyPr wrap="square" lIns="0" tIns="0" rIns="0" bIns="0" rtlCol="0" anchor="t"/>
          <a:lstStyle/>
          <a:p>
            <a:pPr marL="0" indent="0" algn="l">
              <a:buNone/>
            </a:pPr>
            <a:r>
              <a:rPr lang="en-US" sz="2200" b="1">
                <a:solidFill>
                  <a:srgbClr val="1D1D1F"/>
                </a:solidFill>
                <a:latin typeface="Arial" pitchFamily="34" charset="0"/>
                <a:ea typeface="Arial" pitchFamily="34" charset="-122"/>
                <a:cs typeface="Arial" pitchFamily="34" charset="-120"/>
              </a:rPr>
              <a:t>Hallucination, nondeterminism, silent omission</a:t>
            </a:r>
            <a:endParaRPr lang="en-US" sz="2200"/>
          </a:p>
        </p:txBody>
      </p:sp>
      <p:sp>
        <p:nvSpPr>
          <p:cNvPr id="22" name="Text 19"/>
          <p:cNvSpPr/>
          <p:nvPr/>
        </p:nvSpPr>
        <p:spPr>
          <a:xfrm>
            <a:off x="822960" y="5669280"/>
            <a:ext cx="4937760" cy="45720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Top MoRe defects: unnecessary features 34.1%, inheritance misused 18.2% (R. Chen et al., 2026).</a:t>
            </a:r>
            <a:endParaRPr lang="en-US" sz="1300"/>
          </a:p>
        </p:txBody>
      </p:sp>
      <p:sp>
        <p:nvSpPr>
          <p:cNvPr id="23" name="Shape 20"/>
          <p:cNvSpPr/>
          <p:nvPr/>
        </p:nvSpPr>
        <p:spPr>
          <a:xfrm>
            <a:off x="6217920" y="4297680"/>
            <a:ext cx="5431536" cy="1920240"/>
          </a:xfrm>
          <a:prstGeom prst="roundRect">
            <a:avLst>
              <a:gd name="adj" fmla="val 10476"/>
            </a:avLst>
          </a:prstGeom>
          <a:solidFill>
            <a:srgbClr val="FFFFFF"/>
          </a:solidFill>
          <a:ln w="12700">
            <a:solidFill>
              <a:srgbClr val="FFFFFF"/>
            </a:solidFill>
            <a:prstDash val="solid"/>
          </a:ln>
        </p:spPr>
        <p:txBody>
          <a:bodyPr/>
          <a:lstStyle/>
          <a:p>
            <a:endParaRPr lang="en-US"/>
          </a:p>
        </p:txBody>
      </p:sp>
      <p:sp>
        <p:nvSpPr>
          <p:cNvPr id="24" name="Text 21"/>
          <p:cNvSpPr/>
          <p:nvPr/>
        </p:nvSpPr>
        <p:spPr>
          <a:xfrm>
            <a:off x="6492240" y="4526280"/>
            <a:ext cx="4882896" cy="274320"/>
          </a:xfrm>
          <a:prstGeom prst="rect">
            <a:avLst/>
          </a:prstGeom>
          <a:noFill/>
          <a:ln/>
        </p:spPr>
        <p:txBody>
          <a:bodyPr wrap="square" lIns="0" tIns="0" rIns="0" bIns="0" rtlCol="0" anchor="t"/>
          <a:lstStyle/>
          <a:p>
            <a:pPr marL="0" indent="0" algn="l">
              <a:buNone/>
            </a:pPr>
            <a:r>
              <a:rPr lang="en-US" sz="1200" b="1">
                <a:solidFill>
                  <a:srgbClr val="FF375F"/>
                </a:solidFill>
                <a:latin typeface="Arial" pitchFamily="34" charset="0"/>
                <a:ea typeface="Arial" pitchFamily="34" charset="-122"/>
                <a:cs typeface="Arial" pitchFamily="34" charset="-120"/>
              </a:rPr>
              <a:t>RISK · SCALE</a:t>
            </a:r>
            <a:endParaRPr lang="en-US" sz="1200"/>
          </a:p>
        </p:txBody>
      </p:sp>
      <p:sp>
        <p:nvSpPr>
          <p:cNvPr id="25" name="Text 22"/>
          <p:cNvSpPr/>
          <p:nvPr/>
        </p:nvSpPr>
        <p:spPr>
          <a:xfrm>
            <a:off x="6492240" y="4846320"/>
            <a:ext cx="4882896" cy="822960"/>
          </a:xfrm>
          <a:prstGeom prst="rect">
            <a:avLst/>
          </a:prstGeom>
          <a:noFill/>
          <a:ln/>
        </p:spPr>
        <p:txBody>
          <a:bodyPr wrap="square" lIns="0" tIns="0" rIns="0" bIns="0" rtlCol="0" anchor="t"/>
          <a:lstStyle/>
          <a:p>
            <a:pPr marL="0" indent="0" algn="l">
              <a:buNone/>
            </a:pPr>
            <a:r>
              <a:rPr lang="en-US" sz="2200" b="1">
                <a:solidFill>
                  <a:srgbClr val="1D1D1F"/>
                </a:solidFill>
                <a:latin typeface="Arial" pitchFamily="34" charset="0"/>
                <a:ea typeface="Arial" pitchFamily="34" charset="-122"/>
                <a:cs typeface="Arial" pitchFamily="34" charset="-120"/>
              </a:rPr>
              <a:t>Recall 0.921 → 0.834</a:t>
            </a:r>
            <a:endParaRPr lang="en-US" sz="2200"/>
          </a:p>
        </p:txBody>
      </p:sp>
      <p:sp>
        <p:nvSpPr>
          <p:cNvPr id="26" name="Text 23"/>
          <p:cNvSpPr/>
          <p:nvPr/>
        </p:nvSpPr>
        <p:spPr>
          <a:xfrm>
            <a:off x="6492240" y="5669280"/>
            <a:ext cx="4882896" cy="45720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On a 17,640-line package (Siala &amp; Lano, 2026).</a:t>
            </a:r>
            <a:endParaRPr lang="en-US" sz="1300"/>
          </a:p>
        </p:txBody>
      </p:sp>
    </p:spTree>
    <p:extLst>
      <p:ext uri="{BB962C8B-B14F-4D97-AF65-F5344CB8AC3E}">
        <p14:creationId xmlns:p14="http://schemas.microsoft.com/office/powerpoint/2010/main" val="1834493430"/>
      </p:ext>
    </p:extLst>
  </p:cSld>
  <p:clrMapOvr>
    <a:masterClrMapping/>
  </p:clrMapOvr>
  <mc:AlternateContent xmlns:mc="http://schemas.openxmlformats.org/markup-compatibility/2006" xmlns:p14="http://schemas.microsoft.com/office/powerpoint/2010/main">
    <mc:Choice Requires="p14">
      <p:transition spd="slow" p14:dur="2000" advTm="64998"/>
    </mc:Choice>
    <mc:Fallback xmlns="">
      <p:transition spd="slow" advTm="6499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Sibongiseni Tsitsa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20</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Requirements to models</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More structure, better models.</a:t>
            </a:r>
            <a:endParaRPr lang="en-US" sz="4400"/>
          </a:p>
        </p:txBody>
      </p:sp>
      <p:sp>
        <p:nvSpPr>
          <p:cNvPr id="7" name="Text 4"/>
          <p:cNvSpPr/>
          <p:nvPr/>
        </p:nvSpPr>
        <p:spPr>
          <a:xfrm>
            <a:off x="822960" y="2103120"/>
            <a:ext cx="3017520" cy="320040"/>
          </a:xfrm>
          <a:prstGeom prst="rect">
            <a:avLst/>
          </a:prstGeom>
          <a:noFill/>
          <a:ln/>
        </p:spPr>
        <p:txBody>
          <a:bodyPr wrap="square" lIns="0" tIns="0" rIns="0" bIns="0" rtlCol="0" anchor="t"/>
          <a:lstStyle/>
          <a:p>
            <a:pPr marL="0" indent="0" algn="l">
              <a:buNone/>
            </a:pPr>
            <a:r>
              <a:rPr lang="en-US" sz="1300" b="1">
                <a:solidFill>
                  <a:srgbClr val="6E6E73"/>
                </a:solidFill>
                <a:latin typeface="Arial" pitchFamily="34" charset="0"/>
                <a:ea typeface="Arial" pitchFamily="34" charset="-122"/>
                <a:cs typeface="Arial" pitchFamily="34" charset="-120"/>
              </a:rPr>
              <a:t>STUDY</a:t>
            </a:r>
            <a:endParaRPr lang="en-US" sz="1300"/>
          </a:p>
        </p:txBody>
      </p:sp>
      <p:sp>
        <p:nvSpPr>
          <p:cNvPr id="8" name="Text 5"/>
          <p:cNvSpPr/>
          <p:nvPr/>
        </p:nvSpPr>
        <p:spPr>
          <a:xfrm>
            <a:off x="3931920" y="2103120"/>
            <a:ext cx="3108960" cy="320040"/>
          </a:xfrm>
          <a:prstGeom prst="rect">
            <a:avLst/>
          </a:prstGeom>
          <a:noFill/>
          <a:ln/>
        </p:spPr>
        <p:txBody>
          <a:bodyPr wrap="square" lIns="0" tIns="0" rIns="0" bIns="0" rtlCol="0" anchor="t"/>
          <a:lstStyle/>
          <a:p>
            <a:pPr marL="0" indent="0" algn="l">
              <a:buNone/>
            </a:pPr>
            <a:r>
              <a:rPr lang="en-US" sz="1300" b="1">
                <a:solidFill>
                  <a:srgbClr val="6E6E73"/>
                </a:solidFill>
                <a:latin typeface="Arial" pitchFamily="34" charset="0"/>
                <a:ea typeface="Arial" pitchFamily="34" charset="-122"/>
                <a:cs typeface="Arial" pitchFamily="34" charset="-120"/>
              </a:rPr>
              <a:t>WHAT WAS ADDED</a:t>
            </a:r>
            <a:endParaRPr lang="en-US" sz="1300"/>
          </a:p>
        </p:txBody>
      </p:sp>
      <p:sp>
        <p:nvSpPr>
          <p:cNvPr id="9" name="Text 6"/>
          <p:cNvSpPr/>
          <p:nvPr/>
        </p:nvSpPr>
        <p:spPr>
          <a:xfrm>
            <a:off x="7132320" y="2103120"/>
            <a:ext cx="4389120" cy="320040"/>
          </a:xfrm>
          <a:prstGeom prst="rect">
            <a:avLst/>
          </a:prstGeom>
          <a:noFill/>
          <a:ln/>
        </p:spPr>
        <p:txBody>
          <a:bodyPr wrap="square" lIns="0" tIns="0" rIns="0" bIns="0" rtlCol="0" anchor="t"/>
          <a:lstStyle/>
          <a:p>
            <a:pPr marL="0" indent="0" algn="l">
              <a:buNone/>
            </a:pPr>
            <a:r>
              <a:rPr lang="en-US" sz="1300" b="1">
                <a:solidFill>
                  <a:srgbClr val="6E6E73"/>
                </a:solidFill>
                <a:latin typeface="Arial" pitchFamily="34" charset="0"/>
                <a:ea typeface="Arial" pitchFamily="34" charset="-122"/>
                <a:cs typeface="Arial" pitchFamily="34" charset="-120"/>
              </a:rPr>
              <a:t>REPORTED RESULT</a:t>
            </a:r>
            <a:endParaRPr lang="en-US" sz="1300"/>
          </a:p>
        </p:txBody>
      </p:sp>
      <p:sp>
        <p:nvSpPr>
          <p:cNvPr id="10" name="Shape 7"/>
          <p:cNvSpPr/>
          <p:nvPr/>
        </p:nvSpPr>
        <p:spPr>
          <a:xfrm>
            <a:off x="548640" y="2514600"/>
            <a:ext cx="11091672" cy="603504"/>
          </a:xfrm>
          <a:prstGeom prst="roundRect">
            <a:avLst>
              <a:gd name="adj" fmla="val 33333"/>
            </a:avLst>
          </a:prstGeom>
          <a:solidFill>
            <a:srgbClr val="FFFFFF"/>
          </a:solidFill>
          <a:ln w="12700">
            <a:solidFill>
              <a:srgbClr val="FFFFFF"/>
            </a:solidFill>
            <a:prstDash val="solid"/>
          </a:ln>
        </p:spPr>
        <p:txBody>
          <a:bodyPr/>
          <a:lstStyle/>
          <a:p>
            <a:endParaRPr lang="en-US"/>
          </a:p>
        </p:txBody>
      </p:sp>
      <p:sp>
        <p:nvSpPr>
          <p:cNvPr id="11" name="Text 8"/>
          <p:cNvSpPr/>
          <p:nvPr/>
        </p:nvSpPr>
        <p:spPr>
          <a:xfrm>
            <a:off x="822960" y="2514600"/>
            <a:ext cx="3017520" cy="603504"/>
          </a:xfrm>
          <a:prstGeom prst="rect">
            <a:avLst/>
          </a:prstGeom>
          <a:noFill/>
          <a:ln/>
        </p:spPr>
        <p:txBody>
          <a:bodyPr wrap="square" lIns="0" tIns="0" rIns="0" bIns="0" rtlCol="0" anchor="ctr"/>
          <a:lstStyle/>
          <a:p>
            <a:pPr marL="0" indent="0" algn="l">
              <a:buNone/>
            </a:pPr>
            <a:r>
              <a:rPr lang="en-US" sz="1500" b="1">
                <a:solidFill>
                  <a:srgbClr val="1D1D1F"/>
                </a:solidFill>
                <a:latin typeface="Arial" pitchFamily="34" charset="0"/>
                <a:ea typeface="Arial" pitchFamily="34" charset="-122"/>
                <a:cs typeface="Arial" pitchFamily="34" charset="-120"/>
              </a:rPr>
              <a:t>K. Chen et al., 2023</a:t>
            </a:r>
            <a:endParaRPr lang="en-US" sz="1500"/>
          </a:p>
        </p:txBody>
      </p:sp>
      <p:sp>
        <p:nvSpPr>
          <p:cNvPr id="12" name="Text 9"/>
          <p:cNvSpPr/>
          <p:nvPr/>
        </p:nvSpPr>
        <p:spPr>
          <a:xfrm>
            <a:off x="3931920" y="2514600"/>
            <a:ext cx="3108960" cy="603504"/>
          </a:xfrm>
          <a:prstGeom prst="rect">
            <a:avLst/>
          </a:prstGeom>
          <a:noFill/>
          <a:ln/>
        </p:spPr>
        <p:txBody>
          <a:bodyPr wrap="square" lIns="0" tIns="0" rIns="0" bIns="0" rtlCol="0" anchor="ctr"/>
          <a:lstStyle/>
          <a:p>
            <a:pPr marL="0" indent="0" algn="l">
              <a:buNone/>
            </a:pPr>
            <a:r>
              <a:rPr lang="en-US" sz="1500">
                <a:solidFill>
                  <a:srgbClr val="6E6E73"/>
                </a:solidFill>
                <a:latin typeface="Arial" pitchFamily="34" charset="0"/>
                <a:ea typeface="Arial" pitchFamily="34" charset="-122"/>
                <a:cs typeface="Arial" pitchFamily="34" charset="-120"/>
              </a:rPr>
              <a:t>Prompting only</a:t>
            </a:r>
            <a:endParaRPr lang="en-US" sz="1500"/>
          </a:p>
        </p:txBody>
      </p:sp>
      <p:sp>
        <p:nvSpPr>
          <p:cNvPr id="13" name="Text 10"/>
          <p:cNvSpPr/>
          <p:nvPr/>
        </p:nvSpPr>
        <p:spPr>
          <a:xfrm>
            <a:off x="7132320" y="2514600"/>
            <a:ext cx="4389120" cy="603504"/>
          </a:xfrm>
          <a:prstGeom prst="rect">
            <a:avLst/>
          </a:prstGeom>
          <a:noFill/>
          <a:ln/>
        </p:spPr>
        <p:txBody>
          <a:bodyPr wrap="square" lIns="0" tIns="0" rIns="0" bIns="0" rtlCol="0" anchor="ctr"/>
          <a:lstStyle/>
          <a:p>
            <a:pPr marL="0" indent="0" algn="l">
              <a:buNone/>
            </a:pPr>
            <a:r>
              <a:rPr lang="en-US" sz="1500">
                <a:solidFill>
                  <a:srgbClr val="1D1D1F"/>
                </a:solidFill>
                <a:latin typeface="Arial" pitchFamily="34" charset="0"/>
                <a:ea typeface="Arial" pitchFamily="34" charset="-122"/>
                <a:cs typeface="Arial" pitchFamily="34" charset="-120"/>
              </a:rPr>
              <a:t>F1 0.76 classes, 0.34 relationships</a:t>
            </a:r>
            <a:endParaRPr lang="en-US" sz="1500"/>
          </a:p>
        </p:txBody>
      </p:sp>
      <p:sp>
        <p:nvSpPr>
          <p:cNvPr id="14" name="Shape 11"/>
          <p:cNvSpPr/>
          <p:nvPr/>
        </p:nvSpPr>
        <p:spPr>
          <a:xfrm>
            <a:off x="548640" y="3227832"/>
            <a:ext cx="11091672" cy="603504"/>
          </a:xfrm>
          <a:prstGeom prst="roundRect">
            <a:avLst>
              <a:gd name="adj" fmla="val 33333"/>
            </a:avLst>
          </a:prstGeom>
          <a:solidFill>
            <a:srgbClr val="FFFFFF"/>
          </a:solidFill>
          <a:ln w="12700">
            <a:solidFill>
              <a:srgbClr val="FFFFFF"/>
            </a:solidFill>
            <a:prstDash val="solid"/>
          </a:ln>
        </p:spPr>
        <p:txBody>
          <a:bodyPr/>
          <a:lstStyle/>
          <a:p>
            <a:endParaRPr lang="en-US"/>
          </a:p>
        </p:txBody>
      </p:sp>
      <p:sp>
        <p:nvSpPr>
          <p:cNvPr id="15" name="Text 12"/>
          <p:cNvSpPr/>
          <p:nvPr/>
        </p:nvSpPr>
        <p:spPr>
          <a:xfrm>
            <a:off x="822960" y="3227832"/>
            <a:ext cx="3017520" cy="603504"/>
          </a:xfrm>
          <a:prstGeom prst="rect">
            <a:avLst/>
          </a:prstGeom>
          <a:noFill/>
          <a:ln/>
        </p:spPr>
        <p:txBody>
          <a:bodyPr wrap="square" lIns="0" tIns="0" rIns="0" bIns="0" rtlCol="0" anchor="ctr"/>
          <a:lstStyle/>
          <a:p>
            <a:pPr marL="0" indent="0" algn="l">
              <a:buNone/>
            </a:pPr>
            <a:r>
              <a:rPr lang="en-US" sz="1500" b="1">
                <a:solidFill>
                  <a:srgbClr val="1D1D1F"/>
                </a:solidFill>
                <a:latin typeface="Arial" pitchFamily="34" charset="0"/>
                <a:ea typeface="Arial" pitchFamily="34" charset="-122"/>
                <a:cs typeface="Arial" pitchFamily="34" charset="-120"/>
              </a:rPr>
              <a:t>De Bari et al., 2024</a:t>
            </a:r>
            <a:endParaRPr lang="en-US" sz="1500"/>
          </a:p>
        </p:txBody>
      </p:sp>
      <p:sp>
        <p:nvSpPr>
          <p:cNvPr id="16" name="Text 13"/>
          <p:cNvSpPr/>
          <p:nvPr/>
        </p:nvSpPr>
        <p:spPr>
          <a:xfrm>
            <a:off x="3931920" y="3227832"/>
            <a:ext cx="3108960" cy="603504"/>
          </a:xfrm>
          <a:prstGeom prst="rect">
            <a:avLst/>
          </a:prstGeom>
          <a:noFill/>
          <a:ln/>
        </p:spPr>
        <p:txBody>
          <a:bodyPr wrap="square" lIns="0" tIns="0" rIns="0" bIns="0" rtlCol="0" anchor="ctr"/>
          <a:lstStyle/>
          <a:p>
            <a:pPr marL="0" indent="0" algn="l">
              <a:buNone/>
            </a:pPr>
            <a:r>
              <a:rPr lang="en-US" sz="1500">
                <a:solidFill>
                  <a:srgbClr val="6E6E73"/>
                </a:solidFill>
                <a:latin typeface="Arial" pitchFamily="34" charset="0"/>
                <a:ea typeface="Arial" pitchFamily="34" charset="-122"/>
                <a:cs typeface="Arial" pitchFamily="34" charset="-120"/>
              </a:rPr>
              <a:t>Prompting only</a:t>
            </a:r>
            <a:endParaRPr lang="en-US" sz="1500"/>
          </a:p>
        </p:txBody>
      </p:sp>
      <p:sp>
        <p:nvSpPr>
          <p:cNvPr id="17" name="Text 14"/>
          <p:cNvSpPr/>
          <p:nvPr/>
        </p:nvSpPr>
        <p:spPr>
          <a:xfrm>
            <a:off x="7132320" y="3227832"/>
            <a:ext cx="4389120" cy="603504"/>
          </a:xfrm>
          <a:prstGeom prst="rect">
            <a:avLst/>
          </a:prstGeom>
          <a:noFill/>
          <a:ln/>
        </p:spPr>
        <p:txBody>
          <a:bodyPr wrap="square" lIns="0" tIns="0" rIns="0" bIns="0" rtlCol="0" anchor="ctr"/>
          <a:lstStyle/>
          <a:p>
            <a:pPr marL="0" indent="0" algn="l">
              <a:buNone/>
            </a:pPr>
            <a:r>
              <a:rPr lang="en-US" sz="1500">
                <a:solidFill>
                  <a:srgbClr val="1D1D1F"/>
                </a:solidFill>
                <a:latin typeface="Arial" pitchFamily="34" charset="0"/>
                <a:ea typeface="Arial" pitchFamily="34" charset="-122"/>
                <a:cs typeface="Arial" pitchFamily="34" charset="-120"/>
              </a:rPr>
              <a:t>4.85 vs 1.75 semantic errors, LLM vs human</a:t>
            </a:r>
            <a:endParaRPr lang="en-US" sz="1500"/>
          </a:p>
        </p:txBody>
      </p:sp>
      <p:sp>
        <p:nvSpPr>
          <p:cNvPr id="18" name="Shape 15"/>
          <p:cNvSpPr/>
          <p:nvPr/>
        </p:nvSpPr>
        <p:spPr>
          <a:xfrm>
            <a:off x="548640" y="3941064"/>
            <a:ext cx="11091672" cy="603504"/>
          </a:xfrm>
          <a:prstGeom prst="roundRect">
            <a:avLst>
              <a:gd name="adj" fmla="val 33333"/>
            </a:avLst>
          </a:prstGeom>
          <a:solidFill>
            <a:srgbClr val="FFFFFF"/>
          </a:solidFill>
          <a:ln w="12700">
            <a:solidFill>
              <a:srgbClr val="FFFFFF"/>
            </a:solidFill>
            <a:prstDash val="solid"/>
          </a:ln>
        </p:spPr>
        <p:txBody>
          <a:bodyPr/>
          <a:lstStyle/>
          <a:p>
            <a:endParaRPr lang="en-US"/>
          </a:p>
        </p:txBody>
      </p:sp>
      <p:sp>
        <p:nvSpPr>
          <p:cNvPr id="19" name="Text 16"/>
          <p:cNvSpPr/>
          <p:nvPr/>
        </p:nvSpPr>
        <p:spPr>
          <a:xfrm>
            <a:off x="822960" y="3941064"/>
            <a:ext cx="3017520" cy="603504"/>
          </a:xfrm>
          <a:prstGeom prst="rect">
            <a:avLst/>
          </a:prstGeom>
          <a:noFill/>
          <a:ln/>
        </p:spPr>
        <p:txBody>
          <a:bodyPr wrap="square" lIns="0" tIns="0" rIns="0" bIns="0" rtlCol="0" anchor="ctr"/>
          <a:lstStyle/>
          <a:p>
            <a:pPr marL="0" indent="0" algn="l">
              <a:buNone/>
            </a:pPr>
            <a:r>
              <a:rPr lang="en-US" sz="1500" b="1">
                <a:solidFill>
                  <a:srgbClr val="1D1D1F"/>
                </a:solidFill>
                <a:latin typeface="Arial" pitchFamily="34" charset="0"/>
                <a:ea typeface="Arial" pitchFamily="34" charset="-122"/>
                <a:cs typeface="Arial" pitchFamily="34" charset="-120"/>
              </a:rPr>
              <a:t>Siala &amp; Lano, 2025</a:t>
            </a:r>
            <a:endParaRPr lang="en-US" sz="1500"/>
          </a:p>
        </p:txBody>
      </p:sp>
      <p:sp>
        <p:nvSpPr>
          <p:cNvPr id="20" name="Text 17"/>
          <p:cNvSpPr/>
          <p:nvPr/>
        </p:nvSpPr>
        <p:spPr>
          <a:xfrm>
            <a:off x="3931920" y="3941064"/>
            <a:ext cx="3108960" cy="603504"/>
          </a:xfrm>
          <a:prstGeom prst="rect">
            <a:avLst/>
          </a:prstGeom>
          <a:noFill/>
          <a:ln/>
        </p:spPr>
        <p:txBody>
          <a:bodyPr wrap="square" lIns="0" tIns="0" rIns="0" bIns="0" rtlCol="0" anchor="ctr"/>
          <a:lstStyle/>
          <a:p>
            <a:pPr marL="0" indent="0" algn="l">
              <a:buNone/>
            </a:pPr>
            <a:r>
              <a:rPr lang="en-US" sz="1500">
                <a:solidFill>
                  <a:srgbClr val="0071E3"/>
                </a:solidFill>
                <a:latin typeface="Arial" pitchFamily="34" charset="0"/>
                <a:ea typeface="Arial" pitchFamily="34" charset="-122"/>
                <a:cs typeface="Arial" pitchFamily="34" charset="-120"/>
              </a:rPr>
              <a:t>Fine-tuned Mistral-7B</a:t>
            </a:r>
            <a:endParaRPr lang="en-US" sz="1500"/>
          </a:p>
        </p:txBody>
      </p:sp>
      <p:sp>
        <p:nvSpPr>
          <p:cNvPr id="21" name="Text 18"/>
          <p:cNvSpPr/>
          <p:nvPr/>
        </p:nvSpPr>
        <p:spPr>
          <a:xfrm>
            <a:off x="7132320" y="3941064"/>
            <a:ext cx="4389120" cy="603504"/>
          </a:xfrm>
          <a:prstGeom prst="rect">
            <a:avLst/>
          </a:prstGeom>
          <a:noFill/>
          <a:ln/>
        </p:spPr>
        <p:txBody>
          <a:bodyPr wrap="square" lIns="0" tIns="0" rIns="0" bIns="0" rtlCol="0" anchor="ctr"/>
          <a:lstStyle/>
          <a:p>
            <a:pPr marL="0" indent="0" algn="l">
              <a:buNone/>
            </a:pPr>
            <a:r>
              <a:rPr lang="en-US" sz="1500">
                <a:solidFill>
                  <a:srgbClr val="1D1D1F"/>
                </a:solidFill>
                <a:latin typeface="Arial" pitchFamily="34" charset="0"/>
                <a:ea typeface="Arial" pitchFamily="34" charset="-122"/>
                <a:cs typeface="Arial" pitchFamily="34" charset="-120"/>
              </a:rPr>
              <a:t>99.3% vs 50.7% for the base model</a:t>
            </a:r>
            <a:endParaRPr lang="en-US" sz="1500"/>
          </a:p>
        </p:txBody>
      </p:sp>
      <p:sp>
        <p:nvSpPr>
          <p:cNvPr id="22" name="Shape 19"/>
          <p:cNvSpPr/>
          <p:nvPr/>
        </p:nvSpPr>
        <p:spPr>
          <a:xfrm>
            <a:off x="548640" y="4654296"/>
            <a:ext cx="11091672" cy="603504"/>
          </a:xfrm>
          <a:prstGeom prst="roundRect">
            <a:avLst>
              <a:gd name="adj" fmla="val 33333"/>
            </a:avLst>
          </a:prstGeom>
          <a:solidFill>
            <a:srgbClr val="FFFFFF"/>
          </a:solidFill>
          <a:ln w="12700">
            <a:solidFill>
              <a:srgbClr val="FFFFFF"/>
            </a:solidFill>
            <a:prstDash val="solid"/>
          </a:ln>
        </p:spPr>
        <p:txBody>
          <a:bodyPr/>
          <a:lstStyle/>
          <a:p>
            <a:endParaRPr lang="en-US"/>
          </a:p>
        </p:txBody>
      </p:sp>
      <p:sp>
        <p:nvSpPr>
          <p:cNvPr id="23" name="Text 20"/>
          <p:cNvSpPr/>
          <p:nvPr/>
        </p:nvSpPr>
        <p:spPr>
          <a:xfrm>
            <a:off x="822960" y="4654296"/>
            <a:ext cx="3017520" cy="603504"/>
          </a:xfrm>
          <a:prstGeom prst="rect">
            <a:avLst/>
          </a:prstGeom>
          <a:noFill/>
          <a:ln/>
        </p:spPr>
        <p:txBody>
          <a:bodyPr wrap="square" lIns="0" tIns="0" rIns="0" bIns="0" rtlCol="0" anchor="ctr"/>
          <a:lstStyle/>
          <a:p>
            <a:pPr marL="0" indent="0" algn="l">
              <a:buNone/>
            </a:pPr>
            <a:r>
              <a:rPr lang="en-US" sz="1500" b="1">
                <a:solidFill>
                  <a:srgbClr val="1D1D1F"/>
                </a:solidFill>
                <a:latin typeface="Arial" pitchFamily="34" charset="0"/>
                <a:ea typeface="Arial" pitchFamily="34" charset="-122"/>
                <a:cs typeface="Arial" pitchFamily="34" charset="-120"/>
              </a:rPr>
              <a:t>Alaswad et al., 2026</a:t>
            </a:r>
            <a:endParaRPr lang="en-US" sz="1500"/>
          </a:p>
        </p:txBody>
      </p:sp>
      <p:sp>
        <p:nvSpPr>
          <p:cNvPr id="24" name="Text 21"/>
          <p:cNvSpPr/>
          <p:nvPr/>
        </p:nvSpPr>
        <p:spPr>
          <a:xfrm>
            <a:off x="3931920" y="4654296"/>
            <a:ext cx="3108960" cy="603504"/>
          </a:xfrm>
          <a:prstGeom prst="rect">
            <a:avLst/>
          </a:prstGeom>
          <a:noFill/>
          <a:ln/>
        </p:spPr>
        <p:txBody>
          <a:bodyPr wrap="square" lIns="0" tIns="0" rIns="0" bIns="0" rtlCol="0" anchor="ctr"/>
          <a:lstStyle/>
          <a:p>
            <a:pPr marL="0" indent="0" algn="l">
              <a:buNone/>
            </a:pPr>
            <a:r>
              <a:rPr lang="en-US" sz="1500">
                <a:solidFill>
                  <a:srgbClr val="0071E3"/>
                </a:solidFill>
                <a:latin typeface="Arial" pitchFamily="34" charset="0"/>
                <a:ea typeface="Arial" pitchFamily="34" charset="-122"/>
                <a:cs typeface="Arial" pitchFamily="34" charset="-120"/>
              </a:rPr>
              <a:t>AST as output format</a:t>
            </a:r>
            <a:endParaRPr lang="en-US" sz="1500"/>
          </a:p>
        </p:txBody>
      </p:sp>
      <p:sp>
        <p:nvSpPr>
          <p:cNvPr id="25" name="Text 22"/>
          <p:cNvSpPr/>
          <p:nvPr/>
        </p:nvSpPr>
        <p:spPr>
          <a:xfrm>
            <a:off x="7132320" y="4654296"/>
            <a:ext cx="4389120" cy="603504"/>
          </a:xfrm>
          <a:prstGeom prst="rect">
            <a:avLst/>
          </a:prstGeom>
          <a:noFill/>
          <a:ln/>
        </p:spPr>
        <p:txBody>
          <a:bodyPr wrap="square" lIns="0" tIns="0" rIns="0" bIns="0" rtlCol="0" anchor="ctr"/>
          <a:lstStyle/>
          <a:p>
            <a:pPr marL="0" indent="0" algn="l">
              <a:buNone/>
            </a:pPr>
            <a:r>
              <a:rPr lang="en-US" sz="1500">
                <a:solidFill>
                  <a:srgbClr val="1D1D1F"/>
                </a:solidFill>
                <a:latin typeface="Arial" pitchFamily="34" charset="0"/>
                <a:ea typeface="Arial" pitchFamily="34" charset="-122"/>
                <a:cs typeface="Arial" pitchFamily="34" charset="-120"/>
              </a:rPr>
              <a:t>F1 89.9% vs 85.3% for base Seq2AST</a:t>
            </a:r>
            <a:endParaRPr lang="en-US" sz="1500"/>
          </a:p>
        </p:txBody>
      </p:sp>
      <p:sp>
        <p:nvSpPr>
          <p:cNvPr id="26" name="Shape 23"/>
          <p:cNvSpPr/>
          <p:nvPr/>
        </p:nvSpPr>
        <p:spPr>
          <a:xfrm>
            <a:off x="548640" y="5367528"/>
            <a:ext cx="11091672" cy="603504"/>
          </a:xfrm>
          <a:prstGeom prst="roundRect">
            <a:avLst>
              <a:gd name="adj" fmla="val 33333"/>
            </a:avLst>
          </a:prstGeom>
          <a:solidFill>
            <a:srgbClr val="FFFFFF"/>
          </a:solidFill>
          <a:ln w="12700">
            <a:solidFill>
              <a:srgbClr val="FFFFFF"/>
            </a:solidFill>
            <a:prstDash val="solid"/>
          </a:ln>
        </p:spPr>
        <p:txBody>
          <a:bodyPr/>
          <a:lstStyle/>
          <a:p>
            <a:endParaRPr lang="en-US"/>
          </a:p>
        </p:txBody>
      </p:sp>
      <p:sp>
        <p:nvSpPr>
          <p:cNvPr id="27" name="Text 24"/>
          <p:cNvSpPr/>
          <p:nvPr/>
        </p:nvSpPr>
        <p:spPr>
          <a:xfrm>
            <a:off x="822960" y="5367528"/>
            <a:ext cx="3017520" cy="603504"/>
          </a:xfrm>
          <a:prstGeom prst="rect">
            <a:avLst/>
          </a:prstGeom>
          <a:noFill/>
          <a:ln/>
        </p:spPr>
        <p:txBody>
          <a:bodyPr wrap="square" lIns="0" tIns="0" rIns="0" bIns="0" rtlCol="0" anchor="ctr"/>
          <a:lstStyle/>
          <a:p>
            <a:pPr marL="0" indent="0" algn="l">
              <a:buNone/>
            </a:pPr>
            <a:r>
              <a:rPr lang="en-US" sz="1500" b="1">
                <a:solidFill>
                  <a:srgbClr val="1D1D1F"/>
                </a:solidFill>
                <a:latin typeface="Arial" pitchFamily="34" charset="0"/>
                <a:ea typeface="Arial" pitchFamily="34" charset="-122"/>
                <a:cs typeface="Arial" pitchFamily="34" charset="-120"/>
              </a:rPr>
              <a:t>Ahmed et al., 2026</a:t>
            </a:r>
            <a:endParaRPr lang="en-US" sz="1500"/>
          </a:p>
        </p:txBody>
      </p:sp>
      <p:sp>
        <p:nvSpPr>
          <p:cNvPr id="28" name="Text 25"/>
          <p:cNvSpPr/>
          <p:nvPr/>
        </p:nvSpPr>
        <p:spPr>
          <a:xfrm>
            <a:off x="3931920" y="5367528"/>
            <a:ext cx="3108960" cy="603504"/>
          </a:xfrm>
          <a:prstGeom prst="rect">
            <a:avLst/>
          </a:prstGeom>
          <a:noFill/>
          <a:ln/>
        </p:spPr>
        <p:txBody>
          <a:bodyPr wrap="square" lIns="0" tIns="0" rIns="0" bIns="0" rtlCol="0" anchor="ctr"/>
          <a:lstStyle/>
          <a:p>
            <a:pPr marL="0" indent="0" algn="l">
              <a:buNone/>
            </a:pPr>
            <a:r>
              <a:rPr lang="en-US" sz="1500">
                <a:solidFill>
                  <a:srgbClr val="0071E3"/>
                </a:solidFill>
                <a:latin typeface="Arial" pitchFamily="34" charset="0"/>
                <a:ea typeface="Arial" pitchFamily="34" charset="-122"/>
                <a:cs typeface="Arial" pitchFamily="34" charset="-120"/>
              </a:rPr>
              <a:t>Templates + verifier loop</a:t>
            </a:r>
            <a:endParaRPr lang="en-US" sz="1500"/>
          </a:p>
        </p:txBody>
      </p:sp>
      <p:sp>
        <p:nvSpPr>
          <p:cNvPr id="29" name="Text 26"/>
          <p:cNvSpPr/>
          <p:nvPr/>
        </p:nvSpPr>
        <p:spPr>
          <a:xfrm>
            <a:off x="7132320" y="5367528"/>
            <a:ext cx="4389120" cy="603504"/>
          </a:xfrm>
          <a:prstGeom prst="rect">
            <a:avLst/>
          </a:prstGeom>
          <a:noFill/>
          <a:ln/>
        </p:spPr>
        <p:txBody>
          <a:bodyPr wrap="square" lIns="0" tIns="0" rIns="0" bIns="0" rtlCol="0" anchor="ctr"/>
          <a:lstStyle/>
          <a:p>
            <a:pPr marL="0" indent="0" algn="l">
              <a:buNone/>
            </a:pPr>
            <a:r>
              <a:rPr lang="en-US" sz="1500">
                <a:solidFill>
                  <a:srgbClr val="1D1D1F"/>
                </a:solidFill>
                <a:latin typeface="Arial" pitchFamily="34" charset="0"/>
                <a:ea typeface="Arial" pitchFamily="34" charset="-122"/>
                <a:cs typeface="Arial" pitchFamily="34" charset="-120"/>
              </a:rPr>
              <a:t>Class-diagram accuracy 56.2% to 87.8%</a:t>
            </a:r>
            <a:endParaRPr lang="en-US" sz="1500"/>
          </a:p>
        </p:txBody>
      </p:sp>
      <p:sp>
        <p:nvSpPr>
          <p:cNvPr id="30" name="Text 27"/>
          <p:cNvSpPr/>
          <p:nvPr/>
        </p:nvSpPr>
        <p:spPr>
          <a:xfrm>
            <a:off x="548640" y="6126480"/>
            <a:ext cx="11091672" cy="274320"/>
          </a:xfrm>
          <a:prstGeom prst="rect">
            <a:avLst/>
          </a:prstGeom>
          <a:noFill/>
          <a:ln/>
        </p:spPr>
        <p:txBody>
          <a:bodyPr wrap="square" lIns="0" tIns="0" rIns="0" bIns="0" rtlCol="0" anchor="t"/>
          <a:lstStyle/>
          <a:p>
            <a:pPr marL="0" indent="0" algn="ctr">
              <a:buNone/>
            </a:pPr>
            <a:r>
              <a:rPr lang="en-US" sz="1300">
                <a:solidFill>
                  <a:srgbClr val="6E6E73"/>
                </a:solidFill>
                <a:latin typeface="Arial" pitchFamily="34" charset="0"/>
                <a:ea typeface="Arial" pitchFamily="34" charset="-122"/>
                <a:cs typeface="Arial" pitchFamily="34" charset="-120"/>
              </a:rPr>
              <a:t>Each study uses its own dataset, so the gains point the same way but cannot be compared directly.</a:t>
            </a:r>
            <a:endParaRPr lang="en-US" sz="1300"/>
          </a:p>
        </p:txBody>
      </p:sp>
    </p:spTree>
    <p:extLst>
      <p:ext uri="{BB962C8B-B14F-4D97-AF65-F5344CB8AC3E}">
        <p14:creationId xmlns:p14="http://schemas.microsoft.com/office/powerpoint/2010/main" val="2144575193"/>
      </p:ext>
    </p:extLst>
  </p:cSld>
  <p:clrMapOvr>
    <a:masterClrMapping/>
  </p:clrMapOvr>
  <mc:AlternateContent xmlns:mc="http://schemas.openxmlformats.org/markup-compatibility/2006" xmlns:p14="http://schemas.microsoft.com/office/powerpoint/2010/main">
    <mc:Choice Requires="p14">
      <p:transition spd="slow" p14:dur="2000" advTm="62794"/>
    </mc:Choice>
    <mc:Fallback xmlns="">
      <p:transition spd="slow" advTm="6279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Phindile Mposwa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21</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Automation maturity</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FFFFFF"/>
                </a:solidFill>
                <a:latin typeface="Arial" pitchFamily="34" charset="0"/>
                <a:ea typeface="Arial" pitchFamily="34" charset="-122"/>
                <a:cs typeface="Arial" pitchFamily="34" charset="-120"/>
              </a:rPr>
              <a:t>Most studies stop at level 4.</a:t>
            </a:r>
            <a:endParaRPr lang="en-US" sz="4400"/>
          </a:p>
        </p:txBody>
      </p:sp>
      <p:sp>
        <p:nvSpPr>
          <p:cNvPr id="7" name="Shape 4"/>
          <p:cNvSpPr/>
          <p:nvPr/>
        </p:nvSpPr>
        <p:spPr>
          <a:xfrm>
            <a:off x="685800" y="4846320"/>
            <a:ext cx="1737360" cy="1143000"/>
          </a:xfrm>
          <a:prstGeom prst="roundRect">
            <a:avLst>
              <a:gd name="adj" fmla="val 12000"/>
            </a:avLst>
          </a:prstGeom>
          <a:solidFill>
            <a:srgbClr val="000000"/>
          </a:solidFill>
          <a:ln w="15875">
            <a:solidFill>
              <a:srgbClr val="48484A"/>
            </a:solidFill>
            <a:prstDash val="dash"/>
          </a:ln>
        </p:spPr>
        <p:txBody>
          <a:bodyPr/>
          <a:lstStyle/>
          <a:p>
            <a:endParaRPr lang="en-US"/>
          </a:p>
        </p:txBody>
      </p:sp>
      <p:sp>
        <p:nvSpPr>
          <p:cNvPr id="8" name="Text 5"/>
          <p:cNvSpPr/>
          <p:nvPr/>
        </p:nvSpPr>
        <p:spPr>
          <a:xfrm>
            <a:off x="868680" y="4983480"/>
            <a:ext cx="914400" cy="320040"/>
          </a:xfrm>
          <a:prstGeom prst="rect">
            <a:avLst/>
          </a:prstGeom>
          <a:noFill/>
          <a:ln/>
        </p:spPr>
        <p:txBody>
          <a:bodyPr wrap="square" lIns="0" tIns="0" rIns="0" bIns="0" rtlCol="0" anchor="t"/>
          <a:lstStyle/>
          <a:p>
            <a:pPr marL="0" indent="0" algn="l">
              <a:buNone/>
            </a:pPr>
            <a:r>
              <a:rPr lang="en-US" sz="1400" b="1">
                <a:solidFill>
                  <a:srgbClr val="6E6E73"/>
                </a:solidFill>
                <a:latin typeface="Arial" pitchFamily="34" charset="0"/>
                <a:ea typeface="Arial" pitchFamily="34" charset="-122"/>
                <a:cs typeface="Arial" pitchFamily="34" charset="-120"/>
              </a:rPr>
              <a:t>L1</a:t>
            </a:r>
            <a:endParaRPr lang="en-US" sz="1400"/>
          </a:p>
        </p:txBody>
      </p:sp>
      <p:sp>
        <p:nvSpPr>
          <p:cNvPr id="9" name="Text 6"/>
          <p:cNvSpPr/>
          <p:nvPr/>
        </p:nvSpPr>
        <p:spPr>
          <a:xfrm>
            <a:off x="868680" y="5257800"/>
            <a:ext cx="1463040" cy="548640"/>
          </a:xfrm>
          <a:prstGeom prst="rect">
            <a:avLst/>
          </a:prstGeom>
          <a:noFill/>
          <a:ln/>
        </p:spPr>
        <p:txBody>
          <a:bodyPr wrap="square" lIns="0" tIns="0" rIns="0" bIns="0" rtlCol="0" anchor="t"/>
          <a:lstStyle/>
          <a:p>
            <a:pPr marL="0" indent="0" algn="l">
              <a:buNone/>
            </a:pPr>
            <a:r>
              <a:rPr lang="en-US" sz="1300" b="1">
                <a:solidFill>
                  <a:srgbClr val="6E6E73"/>
                </a:solidFill>
                <a:latin typeface="Arial" pitchFamily="34" charset="0"/>
                <a:ea typeface="Arial" pitchFamily="34" charset="-122"/>
                <a:cs typeface="Arial" pitchFamily="34" charset="-120"/>
              </a:rPr>
              <a:t>Manual</a:t>
            </a:r>
            <a:endParaRPr lang="en-US" sz="1300"/>
          </a:p>
        </p:txBody>
      </p:sp>
      <p:sp>
        <p:nvSpPr>
          <p:cNvPr id="10" name="Text 7"/>
          <p:cNvSpPr/>
          <p:nvPr/>
        </p:nvSpPr>
        <p:spPr>
          <a:xfrm>
            <a:off x="868680" y="5605272"/>
            <a:ext cx="1463040" cy="274320"/>
          </a:xfrm>
          <a:prstGeom prst="rect">
            <a:avLst/>
          </a:prstGeom>
          <a:noFill/>
          <a:ln/>
        </p:spPr>
        <p:txBody>
          <a:bodyPr wrap="square" lIns="0" tIns="0" rIns="0" bIns="0" rtlCol="0" anchor="t"/>
          <a:lstStyle/>
          <a:p>
            <a:pPr marL="0" indent="0" algn="l">
              <a:buNone/>
            </a:pPr>
            <a:r>
              <a:rPr lang="en-US" sz="1100">
                <a:solidFill>
                  <a:srgbClr val="A1A1A6"/>
                </a:solidFill>
                <a:latin typeface="Arial" pitchFamily="34" charset="0"/>
                <a:ea typeface="Arial" pitchFamily="34" charset="-122"/>
                <a:cs typeface="Arial" pitchFamily="34" charset="-120"/>
              </a:rPr>
              <a:t>no study</a:t>
            </a:r>
            <a:endParaRPr lang="en-US" sz="1100"/>
          </a:p>
        </p:txBody>
      </p:sp>
      <p:sp>
        <p:nvSpPr>
          <p:cNvPr id="11" name="Shape 8"/>
          <p:cNvSpPr/>
          <p:nvPr/>
        </p:nvSpPr>
        <p:spPr>
          <a:xfrm>
            <a:off x="2514600" y="4425696"/>
            <a:ext cx="1737360" cy="1563624"/>
          </a:xfrm>
          <a:prstGeom prst="roundRect">
            <a:avLst>
              <a:gd name="adj" fmla="val 12865"/>
            </a:avLst>
          </a:prstGeom>
          <a:solidFill>
            <a:srgbClr val="2C2C2E"/>
          </a:solidFill>
          <a:ln w="12700">
            <a:solidFill>
              <a:srgbClr val="2C2C2E"/>
            </a:solidFill>
            <a:prstDash val="solid"/>
          </a:ln>
        </p:spPr>
        <p:txBody>
          <a:bodyPr/>
          <a:lstStyle/>
          <a:p>
            <a:endParaRPr lang="en-US"/>
          </a:p>
        </p:txBody>
      </p:sp>
      <p:sp>
        <p:nvSpPr>
          <p:cNvPr id="12" name="Text 9"/>
          <p:cNvSpPr/>
          <p:nvPr/>
        </p:nvSpPr>
        <p:spPr>
          <a:xfrm>
            <a:off x="2697480" y="4562856"/>
            <a:ext cx="914400" cy="320040"/>
          </a:xfrm>
          <a:prstGeom prst="rect">
            <a:avLst/>
          </a:prstGeom>
          <a:noFill/>
          <a:ln/>
        </p:spPr>
        <p:txBody>
          <a:bodyPr wrap="square" lIns="0" tIns="0" rIns="0" bIns="0" rtlCol="0" anchor="t"/>
          <a:lstStyle/>
          <a:p>
            <a:pPr marL="0" indent="0" algn="l">
              <a:buNone/>
            </a:pPr>
            <a:r>
              <a:rPr lang="en-US" sz="1400" b="1">
                <a:solidFill>
                  <a:srgbClr val="FF9F0A"/>
                </a:solidFill>
                <a:latin typeface="Arial" pitchFamily="34" charset="0"/>
                <a:ea typeface="Arial" pitchFamily="34" charset="-122"/>
                <a:cs typeface="Arial" pitchFamily="34" charset="-120"/>
              </a:rPr>
              <a:t>L2</a:t>
            </a:r>
            <a:endParaRPr lang="en-US" sz="1400"/>
          </a:p>
        </p:txBody>
      </p:sp>
      <p:sp>
        <p:nvSpPr>
          <p:cNvPr id="13" name="Text 10"/>
          <p:cNvSpPr/>
          <p:nvPr/>
        </p:nvSpPr>
        <p:spPr>
          <a:xfrm>
            <a:off x="2697480" y="4837176"/>
            <a:ext cx="1463040" cy="548640"/>
          </a:xfrm>
          <a:prstGeom prst="rect">
            <a:avLst/>
          </a:prstGeom>
          <a:noFill/>
          <a:ln/>
        </p:spPr>
        <p:txBody>
          <a:bodyPr wrap="square" lIns="0" tIns="0" rIns="0" bIns="0" rtlCol="0" anchor="t"/>
          <a:lstStyle/>
          <a:p>
            <a:pPr marL="0" indent="0" algn="l">
              <a:buNone/>
            </a:pPr>
            <a:r>
              <a:rPr lang="en-US" sz="1300" b="1">
                <a:solidFill>
                  <a:srgbClr val="FFFFFF"/>
                </a:solidFill>
                <a:latin typeface="Arial" pitchFamily="34" charset="0"/>
                <a:ea typeface="Arial" pitchFamily="34" charset="-122"/>
                <a:cs typeface="Arial" pitchFamily="34" charset="-120"/>
              </a:rPr>
              <a:t>Assistive</a:t>
            </a:r>
            <a:endParaRPr lang="en-US" sz="1300"/>
          </a:p>
        </p:txBody>
      </p:sp>
      <p:sp>
        <p:nvSpPr>
          <p:cNvPr id="14" name="Text 11"/>
          <p:cNvSpPr/>
          <p:nvPr/>
        </p:nvSpPr>
        <p:spPr>
          <a:xfrm>
            <a:off x="2697480" y="5074920"/>
            <a:ext cx="1463040" cy="54864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6</a:t>
            </a:r>
            <a:endParaRPr lang="en-US" sz="3000"/>
          </a:p>
        </p:txBody>
      </p:sp>
      <p:sp>
        <p:nvSpPr>
          <p:cNvPr id="15" name="Text 12"/>
          <p:cNvSpPr/>
          <p:nvPr/>
        </p:nvSpPr>
        <p:spPr>
          <a:xfrm>
            <a:off x="2697480" y="5605272"/>
            <a:ext cx="1463040" cy="274320"/>
          </a:xfrm>
          <a:prstGeom prst="rect">
            <a:avLst/>
          </a:prstGeom>
          <a:noFill/>
          <a:ln/>
        </p:spPr>
        <p:txBody>
          <a:bodyPr wrap="square" lIns="0" tIns="0" rIns="0" bIns="0" rtlCol="0" anchor="t"/>
          <a:lstStyle/>
          <a:p>
            <a:pPr marL="0" indent="0" algn="l">
              <a:buNone/>
            </a:pPr>
            <a:r>
              <a:rPr lang="en-US" sz="1100">
                <a:solidFill>
                  <a:srgbClr val="A1A1A6"/>
                </a:solidFill>
                <a:latin typeface="Arial" pitchFamily="34" charset="0"/>
                <a:ea typeface="Arial" pitchFamily="34" charset="-122"/>
                <a:cs typeface="Arial" pitchFamily="34" charset="-120"/>
              </a:rPr>
              <a:t>22.2%</a:t>
            </a:r>
            <a:endParaRPr lang="en-US" sz="1100"/>
          </a:p>
        </p:txBody>
      </p:sp>
      <p:sp>
        <p:nvSpPr>
          <p:cNvPr id="16" name="Shape 13"/>
          <p:cNvSpPr/>
          <p:nvPr/>
        </p:nvSpPr>
        <p:spPr>
          <a:xfrm>
            <a:off x="4343400" y="4005072"/>
            <a:ext cx="1737360" cy="1984248"/>
          </a:xfrm>
          <a:prstGeom prst="roundRect">
            <a:avLst>
              <a:gd name="adj" fmla="val 11579"/>
            </a:avLst>
          </a:prstGeom>
          <a:solidFill>
            <a:srgbClr val="2C2C2E"/>
          </a:solidFill>
          <a:ln w="12700">
            <a:solidFill>
              <a:srgbClr val="2C2C2E"/>
            </a:solidFill>
            <a:prstDash val="solid"/>
          </a:ln>
        </p:spPr>
        <p:txBody>
          <a:bodyPr/>
          <a:lstStyle/>
          <a:p>
            <a:endParaRPr lang="en-US"/>
          </a:p>
        </p:txBody>
      </p:sp>
      <p:sp>
        <p:nvSpPr>
          <p:cNvPr id="17" name="Text 14"/>
          <p:cNvSpPr/>
          <p:nvPr/>
        </p:nvSpPr>
        <p:spPr>
          <a:xfrm>
            <a:off x="4526280" y="4142232"/>
            <a:ext cx="914400" cy="320040"/>
          </a:xfrm>
          <a:prstGeom prst="rect">
            <a:avLst/>
          </a:prstGeom>
          <a:noFill/>
          <a:ln/>
        </p:spPr>
        <p:txBody>
          <a:bodyPr wrap="square" lIns="0" tIns="0" rIns="0" bIns="0" rtlCol="0" anchor="t"/>
          <a:lstStyle/>
          <a:p>
            <a:pPr marL="0" indent="0" algn="l">
              <a:buNone/>
            </a:pPr>
            <a:r>
              <a:rPr lang="en-US" sz="1400" b="1">
                <a:solidFill>
                  <a:srgbClr val="FF9F0A"/>
                </a:solidFill>
                <a:latin typeface="Arial" pitchFamily="34" charset="0"/>
                <a:ea typeface="Arial" pitchFamily="34" charset="-122"/>
                <a:cs typeface="Arial" pitchFamily="34" charset="-120"/>
              </a:rPr>
              <a:t>L3</a:t>
            </a:r>
            <a:endParaRPr lang="en-US" sz="1400"/>
          </a:p>
        </p:txBody>
      </p:sp>
      <p:sp>
        <p:nvSpPr>
          <p:cNvPr id="18" name="Text 15"/>
          <p:cNvSpPr/>
          <p:nvPr/>
        </p:nvSpPr>
        <p:spPr>
          <a:xfrm>
            <a:off x="4526280" y="4416552"/>
            <a:ext cx="1463040" cy="548640"/>
          </a:xfrm>
          <a:prstGeom prst="rect">
            <a:avLst/>
          </a:prstGeom>
          <a:noFill/>
          <a:ln/>
        </p:spPr>
        <p:txBody>
          <a:bodyPr wrap="square" lIns="0" tIns="0" rIns="0" bIns="0" rtlCol="0" anchor="t"/>
          <a:lstStyle/>
          <a:p>
            <a:pPr marL="0" indent="0" algn="l">
              <a:buNone/>
            </a:pPr>
            <a:r>
              <a:rPr lang="en-US" sz="1300" b="1">
                <a:solidFill>
                  <a:srgbClr val="FFFFFF"/>
                </a:solidFill>
                <a:latin typeface="Arial" pitchFamily="34" charset="0"/>
                <a:ea typeface="Arial" pitchFamily="34" charset="-122"/>
                <a:cs typeface="Arial" pitchFamily="34" charset="-120"/>
              </a:rPr>
              <a:t>Interactive</a:t>
            </a:r>
            <a:endParaRPr lang="en-US" sz="1300"/>
          </a:p>
        </p:txBody>
      </p:sp>
      <p:sp>
        <p:nvSpPr>
          <p:cNvPr id="19" name="Text 16"/>
          <p:cNvSpPr/>
          <p:nvPr/>
        </p:nvSpPr>
        <p:spPr>
          <a:xfrm>
            <a:off x="4526280" y="5074920"/>
            <a:ext cx="1463040" cy="54864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6</a:t>
            </a:r>
            <a:endParaRPr lang="en-US" sz="3000"/>
          </a:p>
        </p:txBody>
      </p:sp>
      <p:sp>
        <p:nvSpPr>
          <p:cNvPr id="20" name="Text 17"/>
          <p:cNvSpPr/>
          <p:nvPr/>
        </p:nvSpPr>
        <p:spPr>
          <a:xfrm>
            <a:off x="4526280" y="5605272"/>
            <a:ext cx="1463040" cy="274320"/>
          </a:xfrm>
          <a:prstGeom prst="rect">
            <a:avLst/>
          </a:prstGeom>
          <a:noFill/>
          <a:ln/>
        </p:spPr>
        <p:txBody>
          <a:bodyPr wrap="square" lIns="0" tIns="0" rIns="0" bIns="0" rtlCol="0" anchor="t"/>
          <a:lstStyle/>
          <a:p>
            <a:pPr marL="0" indent="0" algn="l">
              <a:buNone/>
            </a:pPr>
            <a:r>
              <a:rPr lang="en-US" sz="1100">
                <a:solidFill>
                  <a:srgbClr val="A1A1A6"/>
                </a:solidFill>
                <a:latin typeface="Arial" pitchFamily="34" charset="0"/>
                <a:ea typeface="Arial" pitchFamily="34" charset="-122"/>
                <a:cs typeface="Arial" pitchFamily="34" charset="-120"/>
              </a:rPr>
              <a:t>22.2%</a:t>
            </a:r>
            <a:endParaRPr lang="en-US" sz="1100"/>
          </a:p>
        </p:txBody>
      </p:sp>
      <p:sp>
        <p:nvSpPr>
          <p:cNvPr id="21" name="Shape 18"/>
          <p:cNvSpPr/>
          <p:nvPr/>
        </p:nvSpPr>
        <p:spPr>
          <a:xfrm>
            <a:off x="6172200" y="3584448"/>
            <a:ext cx="1737360" cy="2404872"/>
          </a:xfrm>
          <a:prstGeom prst="roundRect">
            <a:avLst>
              <a:gd name="adj" fmla="val 11579"/>
            </a:avLst>
          </a:prstGeom>
          <a:solidFill>
            <a:srgbClr val="FF9F0A"/>
          </a:solidFill>
          <a:ln w="12700">
            <a:solidFill>
              <a:srgbClr val="FF9F0A"/>
            </a:solidFill>
            <a:prstDash val="solid"/>
          </a:ln>
        </p:spPr>
        <p:txBody>
          <a:bodyPr/>
          <a:lstStyle/>
          <a:p>
            <a:endParaRPr lang="en-US"/>
          </a:p>
        </p:txBody>
      </p:sp>
      <p:sp>
        <p:nvSpPr>
          <p:cNvPr id="22" name="Text 19"/>
          <p:cNvSpPr/>
          <p:nvPr/>
        </p:nvSpPr>
        <p:spPr>
          <a:xfrm>
            <a:off x="6355080" y="3721608"/>
            <a:ext cx="914400" cy="320040"/>
          </a:xfrm>
          <a:prstGeom prst="rect">
            <a:avLst/>
          </a:prstGeom>
          <a:noFill/>
          <a:ln/>
        </p:spPr>
        <p:txBody>
          <a:bodyPr wrap="square" lIns="0" tIns="0" rIns="0" bIns="0" rtlCol="0" anchor="t"/>
          <a:lstStyle/>
          <a:p>
            <a:pPr marL="0" indent="0" algn="l">
              <a:buNone/>
            </a:pPr>
            <a:r>
              <a:rPr lang="en-US" sz="1400" b="1">
                <a:solidFill>
                  <a:srgbClr val="000000"/>
                </a:solidFill>
                <a:latin typeface="Arial" pitchFamily="34" charset="0"/>
                <a:ea typeface="Arial" pitchFamily="34" charset="-122"/>
                <a:cs typeface="Arial" pitchFamily="34" charset="-120"/>
              </a:rPr>
              <a:t>L4</a:t>
            </a:r>
            <a:endParaRPr lang="en-US" sz="1400"/>
          </a:p>
        </p:txBody>
      </p:sp>
      <p:sp>
        <p:nvSpPr>
          <p:cNvPr id="23" name="Text 20"/>
          <p:cNvSpPr/>
          <p:nvPr/>
        </p:nvSpPr>
        <p:spPr>
          <a:xfrm>
            <a:off x="6355080" y="3995928"/>
            <a:ext cx="1463040" cy="548640"/>
          </a:xfrm>
          <a:prstGeom prst="rect">
            <a:avLst/>
          </a:prstGeom>
          <a:noFill/>
          <a:ln/>
        </p:spPr>
        <p:txBody>
          <a:bodyPr wrap="square" lIns="0" tIns="0" rIns="0" bIns="0" rtlCol="0" anchor="t"/>
          <a:lstStyle/>
          <a:p>
            <a:pPr marL="0" indent="0" algn="l">
              <a:buNone/>
            </a:pPr>
            <a:r>
              <a:rPr lang="en-US" sz="1300" b="1">
                <a:solidFill>
                  <a:srgbClr val="000000"/>
                </a:solidFill>
                <a:latin typeface="Arial" pitchFamily="34" charset="0"/>
                <a:ea typeface="Arial" pitchFamily="34" charset="-122"/>
                <a:cs typeface="Arial" pitchFamily="34" charset="-120"/>
              </a:rPr>
              <a:t>Semi-autonomous</a:t>
            </a:r>
            <a:endParaRPr lang="en-US" sz="1300"/>
          </a:p>
        </p:txBody>
      </p:sp>
      <p:sp>
        <p:nvSpPr>
          <p:cNvPr id="24" name="Text 21"/>
          <p:cNvSpPr/>
          <p:nvPr/>
        </p:nvSpPr>
        <p:spPr>
          <a:xfrm>
            <a:off x="6355080" y="5074920"/>
            <a:ext cx="1463040" cy="548640"/>
          </a:xfrm>
          <a:prstGeom prst="rect">
            <a:avLst/>
          </a:prstGeom>
          <a:noFill/>
          <a:ln/>
        </p:spPr>
        <p:txBody>
          <a:bodyPr wrap="square" lIns="0" tIns="0" rIns="0" bIns="0" rtlCol="0" anchor="t"/>
          <a:lstStyle/>
          <a:p>
            <a:pPr marL="0" indent="0" algn="l">
              <a:buNone/>
            </a:pPr>
            <a:r>
              <a:rPr lang="en-US" sz="3000" b="1">
                <a:solidFill>
                  <a:srgbClr val="000000"/>
                </a:solidFill>
                <a:latin typeface="Arial" pitchFamily="34" charset="0"/>
                <a:ea typeface="Arial" pitchFamily="34" charset="-122"/>
                <a:cs typeface="Arial" pitchFamily="34" charset="-120"/>
              </a:rPr>
              <a:t>11</a:t>
            </a:r>
            <a:endParaRPr lang="en-US" sz="3000"/>
          </a:p>
        </p:txBody>
      </p:sp>
      <p:sp>
        <p:nvSpPr>
          <p:cNvPr id="25" name="Text 22"/>
          <p:cNvSpPr/>
          <p:nvPr/>
        </p:nvSpPr>
        <p:spPr>
          <a:xfrm>
            <a:off x="6355080" y="5605272"/>
            <a:ext cx="1463040" cy="274320"/>
          </a:xfrm>
          <a:prstGeom prst="rect">
            <a:avLst/>
          </a:prstGeom>
          <a:noFill/>
          <a:ln/>
        </p:spPr>
        <p:txBody>
          <a:bodyPr wrap="square" lIns="0" tIns="0" rIns="0" bIns="0" rtlCol="0" anchor="t"/>
          <a:lstStyle/>
          <a:p>
            <a:pPr marL="0" indent="0" algn="l">
              <a:buNone/>
            </a:pPr>
            <a:r>
              <a:rPr lang="en-US" sz="1100">
                <a:solidFill>
                  <a:srgbClr val="000000"/>
                </a:solidFill>
                <a:latin typeface="Arial" pitchFamily="34" charset="0"/>
                <a:ea typeface="Arial" pitchFamily="34" charset="-122"/>
                <a:cs typeface="Arial" pitchFamily="34" charset="-120"/>
              </a:rPr>
              <a:t>40.7%</a:t>
            </a:r>
            <a:endParaRPr lang="en-US" sz="1100"/>
          </a:p>
        </p:txBody>
      </p:sp>
      <p:sp>
        <p:nvSpPr>
          <p:cNvPr id="26" name="Shape 23"/>
          <p:cNvSpPr/>
          <p:nvPr/>
        </p:nvSpPr>
        <p:spPr>
          <a:xfrm>
            <a:off x="8001000" y="3163824"/>
            <a:ext cx="1737360" cy="2825496"/>
          </a:xfrm>
          <a:prstGeom prst="roundRect">
            <a:avLst>
              <a:gd name="adj" fmla="val 11579"/>
            </a:avLst>
          </a:prstGeom>
          <a:solidFill>
            <a:srgbClr val="2C2C2E"/>
          </a:solidFill>
          <a:ln w="12700">
            <a:solidFill>
              <a:srgbClr val="2C2C2E"/>
            </a:solidFill>
            <a:prstDash val="solid"/>
          </a:ln>
        </p:spPr>
        <p:txBody>
          <a:bodyPr/>
          <a:lstStyle/>
          <a:p>
            <a:endParaRPr lang="en-US"/>
          </a:p>
        </p:txBody>
      </p:sp>
      <p:sp>
        <p:nvSpPr>
          <p:cNvPr id="27" name="Text 24"/>
          <p:cNvSpPr/>
          <p:nvPr/>
        </p:nvSpPr>
        <p:spPr>
          <a:xfrm>
            <a:off x="8183880" y="3300984"/>
            <a:ext cx="914400" cy="320040"/>
          </a:xfrm>
          <a:prstGeom prst="rect">
            <a:avLst/>
          </a:prstGeom>
          <a:noFill/>
          <a:ln/>
        </p:spPr>
        <p:txBody>
          <a:bodyPr wrap="square" lIns="0" tIns="0" rIns="0" bIns="0" rtlCol="0" anchor="t"/>
          <a:lstStyle/>
          <a:p>
            <a:pPr marL="0" indent="0" algn="l">
              <a:buNone/>
            </a:pPr>
            <a:r>
              <a:rPr lang="en-US" sz="1400" b="1">
                <a:solidFill>
                  <a:srgbClr val="FF9F0A"/>
                </a:solidFill>
                <a:latin typeface="Arial" pitchFamily="34" charset="0"/>
                <a:ea typeface="Arial" pitchFamily="34" charset="-122"/>
                <a:cs typeface="Arial" pitchFamily="34" charset="-120"/>
              </a:rPr>
              <a:t>L5</a:t>
            </a:r>
            <a:endParaRPr lang="en-US" sz="1400"/>
          </a:p>
        </p:txBody>
      </p:sp>
      <p:sp>
        <p:nvSpPr>
          <p:cNvPr id="28" name="Text 25"/>
          <p:cNvSpPr/>
          <p:nvPr/>
        </p:nvSpPr>
        <p:spPr>
          <a:xfrm>
            <a:off x="8183880" y="3575304"/>
            <a:ext cx="1463040" cy="548640"/>
          </a:xfrm>
          <a:prstGeom prst="rect">
            <a:avLst/>
          </a:prstGeom>
          <a:noFill/>
          <a:ln/>
        </p:spPr>
        <p:txBody>
          <a:bodyPr wrap="square" lIns="0" tIns="0" rIns="0" bIns="0" rtlCol="0" anchor="t"/>
          <a:lstStyle/>
          <a:p>
            <a:pPr marL="0" indent="0" algn="l">
              <a:buNone/>
            </a:pPr>
            <a:r>
              <a:rPr lang="en-US" sz="1300" b="1">
                <a:solidFill>
                  <a:srgbClr val="FFFFFF"/>
                </a:solidFill>
                <a:latin typeface="Arial" pitchFamily="34" charset="0"/>
                <a:ea typeface="Arial" pitchFamily="34" charset="-122"/>
                <a:cs typeface="Arial" pitchFamily="34" charset="-120"/>
              </a:rPr>
              <a:t>Verifier-guided</a:t>
            </a:r>
            <a:endParaRPr lang="en-US" sz="1300"/>
          </a:p>
        </p:txBody>
      </p:sp>
      <p:sp>
        <p:nvSpPr>
          <p:cNvPr id="29" name="Text 26"/>
          <p:cNvSpPr/>
          <p:nvPr/>
        </p:nvSpPr>
        <p:spPr>
          <a:xfrm>
            <a:off x="8183880" y="5074920"/>
            <a:ext cx="1463040" cy="54864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4</a:t>
            </a:r>
            <a:endParaRPr lang="en-US" sz="3000"/>
          </a:p>
        </p:txBody>
      </p:sp>
      <p:sp>
        <p:nvSpPr>
          <p:cNvPr id="30" name="Text 27"/>
          <p:cNvSpPr/>
          <p:nvPr/>
        </p:nvSpPr>
        <p:spPr>
          <a:xfrm>
            <a:off x="8183880" y="5605272"/>
            <a:ext cx="1463040" cy="274320"/>
          </a:xfrm>
          <a:prstGeom prst="rect">
            <a:avLst/>
          </a:prstGeom>
          <a:noFill/>
          <a:ln/>
        </p:spPr>
        <p:txBody>
          <a:bodyPr wrap="square" lIns="0" tIns="0" rIns="0" bIns="0" rtlCol="0" anchor="t"/>
          <a:lstStyle/>
          <a:p>
            <a:pPr marL="0" indent="0" algn="l">
              <a:buNone/>
            </a:pPr>
            <a:r>
              <a:rPr lang="en-US" sz="1100">
                <a:solidFill>
                  <a:srgbClr val="A1A1A6"/>
                </a:solidFill>
                <a:latin typeface="Arial" pitchFamily="34" charset="0"/>
                <a:ea typeface="Arial" pitchFamily="34" charset="-122"/>
                <a:cs typeface="Arial" pitchFamily="34" charset="-120"/>
              </a:rPr>
              <a:t>14.8%</a:t>
            </a:r>
            <a:endParaRPr lang="en-US" sz="1100"/>
          </a:p>
        </p:txBody>
      </p:sp>
      <p:sp>
        <p:nvSpPr>
          <p:cNvPr id="31" name="Shape 28"/>
          <p:cNvSpPr/>
          <p:nvPr/>
        </p:nvSpPr>
        <p:spPr>
          <a:xfrm>
            <a:off x="9829800" y="2743200"/>
            <a:ext cx="1737360" cy="3246120"/>
          </a:xfrm>
          <a:prstGeom prst="roundRect">
            <a:avLst>
              <a:gd name="adj" fmla="val 7895"/>
            </a:avLst>
          </a:prstGeom>
          <a:solidFill>
            <a:srgbClr val="000000"/>
          </a:solidFill>
          <a:ln w="15875">
            <a:solidFill>
              <a:srgbClr val="48484A"/>
            </a:solidFill>
            <a:prstDash val="dash"/>
          </a:ln>
        </p:spPr>
        <p:txBody>
          <a:bodyPr/>
          <a:lstStyle/>
          <a:p>
            <a:endParaRPr lang="en-US"/>
          </a:p>
        </p:txBody>
      </p:sp>
      <p:sp>
        <p:nvSpPr>
          <p:cNvPr id="32" name="Text 29"/>
          <p:cNvSpPr/>
          <p:nvPr/>
        </p:nvSpPr>
        <p:spPr>
          <a:xfrm>
            <a:off x="10012680" y="2880360"/>
            <a:ext cx="914400" cy="320040"/>
          </a:xfrm>
          <a:prstGeom prst="rect">
            <a:avLst/>
          </a:prstGeom>
          <a:noFill/>
          <a:ln/>
        </p:spPr>
        <p:txBody>
          <a:bodyPr wrap="square" lIns="0" tIns="0" rIns="0" bIns="0" rtlCol="0" anchor="t"/>
          <a:lstStyle/>
          <a:p>
            <a:pPr marL="0" indent="0" algn="l">
              <a:buNone/>
            </a:pPr>
            <a:r>
              <a:rPr lang="en-US" sz="1400" b="1">
                <a:solidFill>
                  <a:srgbClr val="6E6E73"/>
                </a:solidFill>
                <a:latin typeface="Arial" pitchFamily="34" charset="0"/>
                <a:ea typeface="Arial" pitchFamily="34" charset="-122"/>
                <a:cs typeface="Arial" pitchFamily="34" charset="-120"/>
              </a:rPr>
              <a:t>L6</a:t>
            </a:r>
            <a:endParaRPr lang="en-US" sz="1400"/>
          </a:p>
        </p:txBody>
      </p:sp>
      <p:sp>
        <p:nvSpPr>
          <p:cNvPr id="33" name="Text 30"/>
          <p:cNvSpPr/>
          <p:nvPr/>
        </p:nvSpPr>
        <p:spPr>
          <a:xfrm>
            <a:off x="10012680" y="3154680"/>
            <a:ext cx="1463040" cy="548640"/>
          </a:xfrm>
          <a:prstGeom prst="rect">
            <a:avLst/>
          </a:prstGeom>
          <a:noFill/>
          <a:ln/>
        </p:spPr>
        <p:txBody>
          <a:bodyPr wrap="square" lIns="0" tIns="0" rIns="0" bIns="0" rtlCol="0" anchor="t"/>
          <a:lstStyle/>
          <a:p>
            <a:pPr marL="0" indent="0" algn="l">
              <a:buNone/>
            </a:pPr>
            <a:r>
              <a:rPr lang="en-US" sz="1300" b="1">
                <a:solidFill>
                  <a:srgbClr val="6E6E73"/>
                </a:solidFill>
                <a:latin typeface="Arial" pitchFamily="34" charset="0"/>
                <a:ea typeface="Arial" pitchFamily="34" charset="-122"/>
                <a:cs typeface="Arial" pitchFamily="34" charset="-120"/>
              </a:rPr>
              <a:t>Continuous adaptive</a:t>
            </a:r>
            <a:endParaRPr lang="en-US" sz="1300"/>
          </a:p>
        </p:txBody>
      </p:sp>
      <p:sp>
        <p:nvSpPr>
          <p:cNvPr id="34" name="Text 31"/>
          <p:cNvSpPr/>
          <p:nvPr/>
        </p:nvSpPr>
        <p:spPr>
          <a:xfrm>
            <a:off x="10012680" y="5074920"/>
            <a:ext cx="1463040" cy="548640"/>
          </a:xfrm>
          <a:prstGeom prst="rect">
            <a:avLst/>
          </a:prstGeom>
          <a:noFill/>
          <a:ln/>
        </p:spPr>
        <p:txBody>
          <a:bodyPr wrap="square" lIns="0" tIns="0" rIns="0" bIns="0" rtlCol="0" anchor="t"/>
          <a:lstStyle/>
          <a:p>
            <a:pPr marL="0" indent="0" algn="l">
              <a:buNone/>
            </a:pPr>
            <a:r>
              <a:rPr lang="en-US" sz="3000" b="1">
                <a:solidFill>
                  <a:srgbClr val="6E6E73"/>
                </a:solidFill>
                <a:latin typeface="Arial" pitchFamily="34" charset="0"/>
                <a:ea typeface="Arial" pitchFamily="34" charset="-122"/>
                <a:cs typeface="Arial" pitchFamily="34" charset="-120"/>
              </a:rPr>
              <a:t>0</a:t>
            </a:r>
            <a:endParaRPr lang="en-US" sz="3000"/>
          </a:p>
        </p:txBody>
      </p:sp>
      <p:sp>
        <p:nvSpPr>
          <p:cNvPr id="35" name="Text 32"/>
          <p:cNvSpPr/>
          <p:nvPr/>
        </p:nvSpPr>
        <p:spPr>
          <a:xfrm>
            <a:off x="10012680" y="5605272"/>
            <a:ext cx="1463040" cy="274320"/>
          </a:xfrm>
          <a:prstGeom prst="rect">
            <a:avLst/>
          </a:prstGeom>
          <a:noFill/>
          <a:ln/>
        </p:spPr>
        <p:txBody>
          <a:bodyPr wrap="square" lIns="0" tIns="0" rIns="0" bIns="0" rtlCol="0" anchor="t"/>
          <a:lstStyle/>
          <a:p>
            <a:pPr marL="0" indent="0" algn="l">
              <a:buNone/>
            </a:pPr>
            <a:r>
              <a:rPr lang="en-US" sz="1100">
                <a:solidFill>
                  <a:srgbClr val="A1A1A6"/>
                </a:solidFill>
                <a:latin typeface="Arial" pitchFamily="34" charset="0"/>
                <a:ea typeface="Arial" pitchFamily="34" charset="-122"/>
                <a:cs typeface="Arial" pitchFamily="34" charset="-120"/>
              </a:rPr>
              <a:t>no study</a:t>
            </a:r>
            <a:endParaRPr lang="en-US" sz="1100"/>
          </a:p>
        </p:txBody>
      </p:sp>
      <p:sp>
        <p:nvSpPr>
          <p:cNvPr id="36" name="Text 33"/>
          <p:cNvSpPr/>
          <p:nvPr/>
        </p:nvSpPr>
        <p:spPr>
          <a:xfrm>
            <a:off x="6428232" y="2103120"/>
            <a:ext cx="5212080" cy="320040"/>
          </a:xfrm>
          <a:prstGeom prst="rect">
            <a:avLst/>
          </a:prstGeom>
          <a:noFill/>
          <a:ln/>
        </p:spPr>
        <p:txBody>
          <a:bodyPr wrap="square" lIns="0" tIns="0" rIns="0" bIns="0" rtlCol="0" anchor="t"/>
          <a:lstStyle/>
          <a:p>
            <a:pPr marL="0" indent="0" algn="r">
              <a:buNone/>
            </a:pPr>
            <a:r>
              <a:rPr lang="en-US" sz="1300">
                <a:solidFill>
                  <a:srgbClr val="A1A1A6"/>
                </a:solidFill>
                <a:latin typeface="Arial" pitchFamily="34" charset="0"/>
                <a:ea typeface="Arial" pitchFamily="34" charset="-122"/>
                <a:cs typeface="Arial" pitchFamily="34" charset="-120"/>
              </a:rPr>
              <a:t>Level 5: VeriGen, SCEditor-Web, AGREE-Dog, MoRe</a:t>
            </a:r>
            <a:endParaRPr lang="en-US" sz="13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Phindile Mposwa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22</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Industrial readiness</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Five studies. Five real-world settings.</a:t>
            </a:r>
            <a:endParaRPr lang="en-US" sz="4400"/>
          </a:p>
        </p:txBody>
      </p:sp>
      <p:sp>
        <p:nvSpPr>
          <p:cNvPr id="7" name="Shape 4"/>
          <p:cNvSpPr/>
          <p:nvPr/>
        </p:nvSpPr>
        <p:spPr>
          <a:xfrm>
            <a:off x="548640" y="2240280"/>
            <a:ext cx="2103120" cy="2148840"/>
          </a:xfrm>
          <a:prstGeom prst="roundRect">
            <a:avLst>
              <a:gd name="adj" fmla="val 9565"/>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749808" y="2468880"/>
            <a:ext cx="1737360" cy="73152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10 industrial case studies</a:t>
            </a:r>
            <a:endParaRPr lang="en-US" sz="1800"/>
          </a:p>
        </p:txBody>
      </p:sp>
      <p:sp>
        <p:nvSpPr>
          <p:cNvPr id="9" name="Text 6"/>
          <p:cNvSpPr/>
          <p:nvPr/>
        </p:nvSpPr>
        <p:spPr>
          <a:xfrm>
            <a:off x="749808" y="3246120"/>
            <a:ext cx="1737360" cy="54864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DevOps (AIDOaRt)</a:t>
            </a:r>
            <a:endParaRPr lang="en-US" sz="1300"/>
          </a:p>
        </p:txBody>
      </p:sp>
      <p:sp>
        <p:nvSpPr>
          <p:cNvPr id="10" name="Text 7"/>
          <p:cNvSpPr/>
          <p:nvPr/>
        </p:nvSpPr>
        <p:spPr>
          <a:xfrm>
            <a:off x="749808" y="3931920"/>
            <a:ext cx="1737360" cy="274320"/>
          </a:xfrm>
          <a:prstGeom prst="rect">
            <a:avLst/>
          </a:prstGeom>
          <a:noFill/>
          <a:ln/>
        </p:spPr>
        <p:txBody>
          <a:bodyPr wrap="square" lIns="0" tIns="0" rIns="0" bIns="0" rtlCol="0" anchor="t"/>
          <a:lstStyle/>
          <a:p>
            <a:pPr marL="0" indent="0" algn="l">
              <a:buNone/>
            </a:pPr>
            <a:r>
              <a:rPr lang="en-US" sz="1100" b="1">
                <a:solidFill>
                  <a:srgbClr val="0071E3"/>
                </a:solidFill>
                <a:latin typeface="Arial" pitchFamily="34" charset="0"/>
                <a:ea typeface="Arial" pitchFamily="34" charset="-122"/>
                <a:cs typeface="Arial" pitchFamily="34" charset="-120"/>
              </a:rPr>
              <a:t>Eramo et al., 2024</a:t>
            </a:r>
            <a:endParaRPr lang="en-US" sz="1100"/>
          </a:p>
        </p:txBody>
      </p:sp>
      <p:sp>
        <p:nvSpPr>
          <p:cNvPr id="11" name="Shape 8"/>
          <p:cNvSpPr/>
          <p:nvPr/>
        </p:nvSpPr>
        <p:spPr>
          <a:xfrm>
            <a:off x="2798064" y="2240280"/>
            <a:ext cx="2103120" cy="2148840"/>
          </a:xfrm>
          <a:prstGeom prst="roundRect">
            <a:avLst>
              <a:gd name="adj" fmla="val 9565"/>
            </a:avLst>
          </a:prstGeom>
          <a:solidFill>
            <a:srgbClr val="FFFFFF"/>
          </a:solidFill>
          <a:ln w="12700">
            <a:solidFill>
              <a:srgbClr val="FFFFFF"/>
            </a:solidFill>
            <a:prstDash val="solid"/>
          </a:ln>
        </p:spPr>
        <p:txBody>
          <a:bodyPr/>
          <a:lstStyle/>
          <a:p>
            <a:endParaRPr lang="en-US"/>
          </a:p>
        </p:txBody>
      </p:sp>
      <p:sp>
        <p:nvSpPr>
          <p:cNvPr id="12" name="Text 9"/>
          <p:cNvSpPr/>
          <p:nvPr/>
        </p:nvSpPr>
        <p:spPr>
          <a:xfrm>
            <a:off x="2999232" y="2468880"/>
            <a:ext cx="1737360" cy="73152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Commercial game</a:t>
            </a:r>
            <a:endParaRPr lang="en-US" sz="1800"/>
          </a:p>
        </p:txBody>
      </p:sp>
      <p:sp>
        <p:nvSpPr>
          <p:cNvPr id="13" name="Text 10"/>
          <p:cNvSpPr/>
          <p:nvPr/>
        </p:nvSpPr>
        <p:spPr>
          <a:xfrm>
            <a:off x="2999232" y="3246120"/>
            <a:ext cx="1737360" cy="54864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Models of 1,000+ elements</a:t>
            </a:r>
            <a:endParaRPr lang="en-US" sz="1300"/>
          </a:p>
        </p:txBody>
      </p:sp>
      <p:sp>
        <p:nvSpPr>
          <p:cNvPr id="14" name="Text 11"/>
          <p:cNvSpPr/>
          <p:nvPr/>
        </p:nvSpPr>
        <p:spPr>
          <a:xfrm>
            <a:off x="2999232" y="3931920"/>
            <a:ext cx="1737360" cy="274320"/>
          </a:xfrm>
          <a:prstGeom prst="rect">
            <a:avLst/>
          </a:prstGeom>
          <a:noFill/>
          <a:ln/>
        </p:spPr>
        <p:txBody>
          <a:bodyPr wrap="square" lIns="0" tIns="0" rIns="0" bIns="0" rtlCol="0" anchor="t"/>
          <a:lstStyle/>
          <a:p>
            <a:pPr marL="0" indent="0" algn="l">
              <a:buNone/>
            </a:pPr>
            <a:r>
              <a:rPr lang="en-US" sz="1100" b="1">
                <a:solidFill>
                  <a:srgbClr val="0071E3"/>
                </a:solidFill>
                <a:latin typeface="Arial" pitchFamily="34" charset="0"/>
                <a:ea typeface="Arial" pitchFamily="34" charset="-122"/>
                <a:cs typeface="Arial" pitchFamily="34" charset="-120"/>
              </a:rPr>
              <a:t>Blasco et al., 2021</a:t>
            </a:r>
            <a:endParaRPr lang="en-US" sz="1100"/>
          </a:p>
        </p:txBody>
      </p:sp>
      <p:sp>
        <p:nvSpPr>
          <p:cNvPr id="15" name="Shape 12"/>
          <p:cNvSpPr/>
          <p:nvPr/>
        </p:nvSpPr>
        <p:spPr>
          <a:xfrm>
            <a:off x="5047488" y="2240280"/>
            <a:ext cx="2103120" cy="2148840"/>
          </a:xfrm>
          <a:prstGeom prst="roundRect">
            <a:avLst>
              <a:gd name="adj" fmla="val 9565"/>
            </a:avLst>
          </a:prstGeom>
          <a:solidFill>
            <a:srgbClr val="FFFFFF"/>
          </a:solidFill>
          <a:ln w="12700">
            <a:solidFill>
              <a:srgbClr val="FFFFFF"/>
            </a:solidFill>
            <a:prstDash val="solid"/>
          </a:ln>
        </p:spPr>
        <p:txBody>
          <a:bodyPr/>
          <a:lstStyle/>
          <a:p>
            <a:endParaRPr lang="en-US"/>
          </a:p>
        </p:txBody>
      </p:sp>
      <p:sp>
        <p:nvSpPr>
          <p:cNvPr id="16" name="Text 13"/>
          <p:cNvSpPr/>
          <p:nvPr/>
        </p:nvSpPr>
        <p:spPr>
          <a:xfrm>
            <a:off x="5248656" y="2468880"/>
            <a:ext cx="1737360" cy="73152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Volvo car-wiper case</a:t>
            </a:r>
            <a:endParaRPr lang="en-US" sz="1800"/>
          </a:p>
        </p:txBody>
      </p:sp>
      <p:sp>
        <p:nvSpPr>
          <p:cNvPr id="17" name="Text 14"/>
          <p:cNvSpPr/>
          <p:nvPr/>
        </p:nvSpPr>
        <p:spPr>
          <a:xfrm>
            <a:off x="5248656" y="3246120"/>
            <a:ext cx="1737360" cy="54864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EAST-ADL, up to 100 users</a:t>
            </a:r>
            <a:endParaRPr lang="en-US" sz="1300"/>
          </a:p>
        </p:txBody>
      </p:sp>
      <p:sp>
        <p:nvSpPr>
          <p:cNvPr id="18" name="Text 15"/>
          <p:cNvSpPr/>
          <p:nvPr/>
        </p:nvSpPr>
        <p:spPr>
          <a:xfrm>
            <a:off x="5248656" y="3931920"/>
            <a:ext cx="1737360" cy="274320"/>
          </a:xfrm>
          <a:prstGeom prst="rect">
            <a:avLst/>
          </a:prstGeom>
          <a:noFill/>
          <a:ln/>
        </p:spPr>
        <p:txBody>
          <a:bodyPr wrap="square" lIns="0" tIns="0" rIns="0" bIns="0" rtlCol="0" anchor="t"/>
          <a:lstStyle/>
          <a:p>
            <a:pPr marL="0" indent="0" algn="l">
              <a:buNone/>
            </a:pPr>
            <a:r>
              <a:rPr lang="en-US" sz="1100" b="1">
                <a:solidFill>
                  <a:srgbClr val="0071E3"/>
                </a:solidFill>
                <a:latin typeface="Arial" pitchFamily="34" charset="0"/>
                <a:ea typeface="Arial" pitchFamily="34" charset="-122"/>
                <a:cs typeface="Arial" pitchFamily="34" charset="-120"/>
              </a:rPr>
              <a:t>Awan et al., 2026</a:t>
            </a:r>
            <a:endParaRPr lang="en-US" sz="1100"/>
          </a:p>
        </p:txBody>
      </p:sp>
      <p:sp>
        <p:nvSpPr>
          <p:cNvPr id="19" name="Shape 16"/>
          <p:cNvSpPr/>
          <p:nvPr/>
        </p:nvSpPr>
        <p:spPr>
          <a:xfrm>
            <a:off x="7296912" y="2240280"/>
            <a:ext cx="2103120" cy="2148840"/>
          </a:xfrm>
          <a:prstGeom prst="roundRect">
            <a:avLst>
              <a:gd name="adj" fmla="val 9565"/>
            </a:avLst>
          </a:prstGeom>
          <a:solidFill>
            <a:srgbClr val="FFFFFF"/>
          </a:solidFill>
          <a:ln w="12700">
            <a:solidFill>
              <a:srgbClr val="FFFFFF"/>
            </a:solidFill>
            <a:prstDash val="solid"/>
          </a:ln>
        </p:spPr>
        <p:txBody>
          <a:bodyPr/>
          <a:lstStyle/>
          <a:p>
            <a:endParaRPr lang="en-US"/>
          </a:p>
        </p:txBody>
      </p:sp>
      <p:sp>
        <p:nvSpPr>
          <p:cNvPr id="20" name="Text 17"/>
          <p:cNvSpPr/>
          <p:nvPr/>
        </p:nvSpPr>
        <p:spPr>
          <a:xfrm>
            <a:off x="7498080" y="2468880"/>
            <a:ext cx="1737360" cy="73152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Avionics</a:t>
            </a:r>
            <a:endParaRPr lang="en-US" sz="1800"/>
          </a:p>
        </p:txBody>
      </p:sp>
      <p:sp>
        <p:nvSpPr>
          <p:cNvPr id="21" name="Text 18"/>
          <p:cNvSpPr/>
          <p:nvPr/>
        </p:nvSpPr>
        <p:spPr>
          <a:xfrm>
            <a:off x="7498080" y="3246120"/>
            <a:ext cx="1737360" cy="54864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13 fault-injection scenarios</a:t>
            </a:r>
            <a:endParaRPr lang="en-US" sz="1300"/>
          </a:p>
        </p:txBody>
      </p:sp>
      <p:sp>
        <p:nvSpPr>
          <p:cNvPr id="22" name="Text 19"/>
          <p:cNvSpPr/>
          <p:nvPr/>
        </p:nvSpPr>
        <p:spPr>
          <a:xfrm>
            <a:off x="7498080" y="3931920"/>
            <a:ext cx="1737360" cy="274320"/>
          </a:xfrm>
          <a:prstGeom prst="rect">
            <a:avLst/>
          </a:prstGeom>
          <a:noFill/>
          <a:ln/>
        </p:spPr>
        <p:txBody>
          <a:bodyPr wrap="square" lIns="0" tIns="0" rIns="0" bIns="0" rtlCol="0" anchor="t"/>
          <a:lstStyle/>
          <a:p>
            <a:pPr marL="0" indent="0" algn="l">
              <a:buNone/>
            </a:pPr>
            <a:r>
              <a:rPr lang="en-US" sz="1100" b="1">
                <a:solidFill>
                  <a:srgbClr val="0071E3"/>
                </a:solidFill>
                <a:latin typeface="Arial" pitchFamily="34" charset="0"/>
                <a:ea typeface="Arial" pitchFamily="34" charset="-122"/>
                <a:cs typeface="Arial" pitchFamily="34" charset="-120"/>
              </a:rPr>
              <a:t>Tahat et al., 2026</a:t>
            </a:r>
            <a:endParaRPr lang="en-US" sz="1100"/>
          </a:p>
        </p:txBody>
      </p:sp>
      <p:sp>
        <p:nvSpPr>
          <p:cNvPr id="23" name="Shape 20"/>
          <p:cNvSpPr/>
          <p:nvPr/>
        </p:nvSpPr>
        <p:spPr>
          <a:xfrm>
            <a:off x="9546336" y="2240280"/>
            <a:ext cx="2103120" cy="2148840"/>
          </a:xfrm>
          <a:prstGeom prst="roundRect">
            <a:avLst>
              <a:gd name="adj" fmla="val 9565"/>
            </a:avLst>
          </a:prstGeom>
          <a:solidFill>
            <a:srgbClr val="FFFFFF"/>
          </a:solidFill>
          <a:ln w="12700">
            <a:solidFill>
              <a:srgbClr val="FFFFFF"/>
            </a:solidFill>
            <a:prstDash val="solid"/>
          </a:ln>
        </p:spPr>
        <p:txBody>
          <a:bodyPr/>
          <a:lstStyle/>
          <a:p>
            <a:endParaRPr lang="en-US"/>
          </a:p>
        </p:txBody>
      </p:sp>
      <p:sp>
        <p:nvSpPr>
          <p:cNvPr id="24" name="Text 21"/>
          <p:cNvSpPr/>
          <p:nvPr/>
        </p:nvSpPr>
        <p:spPr>
          <a:xfrm>
            <a:off x="9747504" y="2468880"/>
            <a:ext cx="1737360" cy="73152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Product-line data</a:t>
            </a:r>
            <a:endParaRPr lang="en-US" sz="1800"/>
          </a:p>
        </p:txBody>
      </p:sp>
      <p:sp>
        <p:nvSpPr>
          <p:cNvPr id="25" name="Text 22"/>
          <p:cNvSpPr/>
          <p:nvPr/>
        </p:nvSpPr>
        <p:spPr>
          <a:xfrm>
            <a:off x="9747504" y="3246120"/>
            <a:ext cx="1737360" cy="548640"/>
          </a:xfrm>
          <a:prstGeom prst="rect">
            <a:avLst/>
          </a:prstGeom>
          <a:noFill/>
          <a:ln/>
        </p:spPr>
        <p:txBody>
          <a:bodyPr wrap="square" lIns="0" tIns="0" rIns="0" bIns="0" rtlCol="0" anchor="t"/>
          <a:lstStyle/>
          <a:p>
            <a:pPr marL="0" indent="0" algn="l">
              <a:buNone/>
            </a:pPr>
            <a:r>
              <a:rPr lang="en-US" sz="1300">
                <a:solidFill>
                  <a:srgbClr val="6E6E73"/>
                </a:solidFill>
                <a:latin typeface="Arial" pitchFamily="34" charset="0"/>
                <a:ea typeface="Arial" pitchFamily="34" charset="-122"/>
                <a:cs typeface="Arial" pitchFamily="34" charset="-120"/>
              </a:rPr>
              <a:t>Industrial feature location</a:t>
            </a:r>
            <a:endParaRPr lang="en-US" sz="1300"/>
          </a:p>
        </p:txBody>
      </p:sp>
      <p:sp>
        <p:nvSpPr>
          <p:cNvPr id="26" name="Text 23"/>
          <p:cNvSpPr/>
          <p:nvPr/>
        </p:nvSpPr>
        <p:spPr>
          <a:xfrm>
            <a:off x="9747504" y="3931920"/>
            <a:ext cx="1737360" cy="274320"/>
          </a:xfrm>
          <a:prstGeom prst="rect">
            <a:avLst/>
          </a:prstGeom>
          <a:noFill/>
          <a:ln/>
        </p:spPr>
        <p:txBody>
          <a:bodyPr wrap="square" lIns="0" tIns="0" rIns="0" bIns="0" rtlCol="0" anchor="t"/>
          <a:lstStyle/>
          <a:p>
            <a:pPr marL="0" indent="0" algn="l">
              <a:buNone/>
            </a:pPr>
            <a:r>
              <a:rPr lang="en-US" sz="1100" b="1">
                <a:solidFill>
                  <a:srgbClr val="0071E3"/>
                </a:solidFill>
                <a:latin typeface="Arial" pitchFamily="34" charset="0"/>
                <a:ea typeface="Arial" pitchFamily="34" charset="-122"/>
                <a:cs typeface="Arial" pitchFamily="34" charset="-120"/>
              </a:rPr>
              <a:t>Echeverría et al., 2021</a:t>
            </a:r>
            <a:endParaRPr lang="en-US" sz="1100"/>
          </a:p>
        </p:txBody>
      </p:sp>
      <p:sp>
        <p:nvSpPr>
          <p:cNvPr id="27" name="Shape 24"/>
          <p:cNvSpPr/>
          <p:nvPr/>
        </p:nvSpPr>
        <p:spPr>
          <a:xfrm>
            <a:off x="548640" y="4617720"/>
            <a:ext cx="11091672" cy="1508760"/>
          </a:xfrm>
          <a:prstGeom prst="roundRect">
            <a:avLst>
              <a:gd name="adj" fmla="val 13333"/>
            </a:avLst>
          </a:prstGeom>
          <a:solidFill>
            <a:srgbClr val="FFFFFF"/>
          </a:solidFill>
          <a:ln w="12700">
            <a:solidFill>
              <a:srgbClr val="FFFFFF"/>
            </a:solidFill>
            <a:prstDash val="solid"/>
          </a:ln>
        </p:spPr>
        <p:txBody>
          <a:bodyPr/>
          <a:lstStyle/>
          <a:p>
            <a:endParaRPr lang="en-US"/>
          </a:p>
        </p:txBody>
      </p:sp>
      <p:sp>
        <p:nvSpPr>
          <p:cNvPr id="28" name="Text 25"/>
          <p:cNvSpPr/>
          <p:nvPr/>
        </p:nvSpPr>
        <p:spPr>
          <a:xfrm>
            <a:off x="868680" y="4800600"/>
            <a:ext cx="4572000" cy="411480"/>
          </a:xfrm>
          <a:prstGeom prst="rect">
            <a:avLst/>
          </a:prstGeom>
          <a:noFill/>
          <a:ln/>
        </p:spPr>
        <p:txBody>
          <a:bodyPr wrap="square" lIns="0" tIns="0" rIns="0" bIns="0" rtlCol="0" anchor="t"/>
          <a:lstStyle/>
          <a:p>
            <a:pPr marL="0" indent="0" algn="l">
              <a:buNone/>
            </a:pPr>
            <a:r>
              <a:rPr lang="en-US" sz="2000" b="1">
                <a:solidFill>
                  <a:srgbClr val="1D1D1F"/>
                </a:solidFill>
                <a:latin typeface="Arial" pitchFamily="34" charset="0"/>
                <a:ea typeface="Arial" pitchFamily="34" charset="-122"/>
                <a:cs typeface="Arial" pitchFamily="34" charset="-120"/>
              </a:rPr>
              <a:t>Reproducibility is partial.</a:t>
            </a:r>
            <a:endParaRPr lang="en-US" sz="2000"/>
          </a:p>
        </p:txBody>
      </p:sp>
      <p:sp>
        <p:nvSpPr>
          <p:cNvPr id="29" name="Text 26"/>
          <p:cNvSpPr/>
          <p:nvPr/>
        </p:nvSpPr>
        <p:spPr>
          <a:xfrm>
            <a:off x="868680" y="5257800"/>
            <a:ext cx="10424160" cy="73152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Prompts, model versions and temperature are reported inconsistently; Dao et al. (2026) is the exception, archiving prompts, outputs and model identifiers. Adoption depends on fitting existing Eclipse-based toolchains and standards such as ISO 26262.</a:t>
            </a:r>
            <a:endParaRPr lang="en-US" sz="1400"/>
          </a:p>
        </p:txBody>
      </p:sp>
    </p:spTree>
    <p:extLst>
      <p:ext uri="{BB962C8B-B14F-4D97-AF65-F5344CB8AC3E}">
        <p14:creationId xmlns:p14="http://schemas.microsoft.com/office/powerpoint/2010/main" val="3089368108"/>
      </p:ext>
    </p:extLst>
  </p:cSld>
  <p:clrMapOvr>
    <a:masterClrMapping/>
  </p:clrMapOvr>
  <mc:AlternateContent xmlns:mc="http://schemas.openxmlformats.org/markup-compatibility/2006" xmlns:p14="http://schemas.microsoft.com/office/powerpoint/2010/main">
    <mc:Choice Requires="p14">
      <p:transition spd="slow" p14:dur="2000" advTm="53688"/>
    </mc:Choice>
    <mc:Fallback xmlns="">
      <p:transition spd="slow" advTm="5368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Phindile Mposwa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23</a:t>
            </a:r>
            <a:endParaRPr lang="en-US" sz="900"/>
          </a:p>
        </p:txBody>
      </p:sp>
      <p:sp>
        <p:nvSpPr>
          <p:cNvPr id="5" name="Text 2"/>
          <p:cNvSpPr/>
          <p:nvPr/>
        </p:nvSpPr>
        <p:spPr>
          <a:xfrm>
            <a:off x="548640" y="822960"/>
            <a:ext cx="11091672" cy="365760"/>
          </a:xfrm>
          <a:prstGeom prst="rect">
            <a:avLst/>
          </a:prstGeom>
          <a:noFill/>
          <a:ln/>
        </p:spPr>
        <p:txBody>
          <a:bodyPr wrap="square" lIns="0" tIns="0" rIns="0" bIns="0" rtlCol="0" anchor="t"/>
          <a:lstStyle/>
          <a:p>
            <a:pPr marL="0" indent="0" algn="ctr">
              <a:buNone/>
            </a:pPr>
            <a:r>
              <a:rPr lang="en-US" sz="1600" b="1">
                <a:solidFill>
                  <a:srgbClr val="FF453A"/>
                </a:solidFill>
                <a:latin typeface="Arial" pitchFamily="34" charset="0"/>
                <a:ea typeface="Arial" pitchFamily="34" charset="-122"/>
                <a:cs typeface="Arial" pitchFamily="34" charset="-120"/>
              </a:rPr>
              <a:t>Limits of this review</a:t>
            </a:r>
            <a:endParaRPr lang="en-US" sz="1600"/>
          </a:p>
        </p:txBody>
      </p:sp>
      <p:pic>
        <p:nvPicPr>
          <p:cNvPr id="6" name="Image 0" descr="img/h_222.png"/>
          <p:cNvPicPr>
            <a:picLocks noChangeAspect="1"/>
          </p:cNvPicPr>
          <p:nvPr/>
        </p:nvPicPr>
        <p:blipFill>
          <a:blip r:embed="rId3"/>
          <a:stretch>
            <a:fillRect/>
          </a:stretch>
        </p:blipFill>
        <p:spPr>
          <a:xfrm>
            <a:off x="4413693" y="1371600"/>
            <a:ext cx="3361567" cy="1463040"/>
          </a:xfrm>
          <a:prstGeom prst="rect">
            <a:avLst/>
          </a:prstGeom>
        </p:spPr>
      </p:pic>
      <p:sp>
        <p:nvSpPr>
          <p:cNvPr id="7" name="Text 3"/>
          <p:cNvSpPr/>
          <p:nvPr/>
        </p:nvSpPr>
        <p:spPr>
          <a:xfrm>
            <a:off x="548640" y="2971800"/>
            <a:ext cx="11091672" cy="548640"/>
          </a:xfrm>
          <a:prstGeom prst="rect">
            <a:avLst/>
          </a:prstGeom>
          <a:noFill/>
          <a:ln/>
        </p:spPr>
        <p:txBody>
          <a:bodyPr wrap="square" lIns="0" tIns="0" rIns="0" bIns="0" rtlCol="0" anchor="t"/>
          <a:lstStyle/>
          <a:p>
            <a:pPr marL="0" indent="0" algn="ctr">
              <a:buNone/>
            </a:pPr>
            <a:r>
              <a:rPr lang="en-US" sz="2800" b="1">
                <a:solidFill>
                  <a:srgbClr val="FFFFFF"/>
                </a:solidFill>
                <a:latin typeface="Arial" pitchFamily="34" charset="0"/>
                <a:ea typeface="Arial" pitchFamily="34" charset="-122"/>
                <a:cs typeface="Arial" pitchFamily="34" charset="-120"/>
              </a:rPr>
              <a:t>of 249 full texts could not be retrieved.</a:t>
            </a:r>
            <a:endParaRPr lang="en-US" sz="2800"/>
          </a:p>
        </p:txBody>
      </p:sp>
      <p:sp>
        <p:nvSpPr>
          <p:cNvPr id="8" name="Text 4"/>
          <p:cNvSpPr/>
          <p:nvPr/>
        </p:nvSpPr>
        <p:spPr>
          <a:xfrm>
            <a:off x="548640" y="3520440"/>
            <a:ext cx="11091672" cy="411480"/>
          </a:xfrm>
          <a:prstGeom prst="rect">
            <a:avLst/>
          </a:prstGeom>
          <a:noFill/>
          <a:ln/>
        </p:spPr>
        <p:txBody>
          <a:bodyPr wrap="square" lIns="0" tIns="0" rIns="0" bIns="0" rtlCol="0" anchor="t"/>
          <a:lstStyle/>
          <a:p>
            <a:pPr marL="0" indent="0" algn="ctr">
              <a:buNone/>
            </a:pPr>
            <a:r>
              <a:rPr lang="en-US" sz="1700">
                <a:solidFill>
                  <a:srgbClr val="A1A1A6"/>
                </a:solidFill>
                <a:latin typeface="Arial" pitchFamily="34" charset="0"/>
                <a:ea typeface="Arial" pitchFamily="34" charset="-122"/>
                <a:cs typeface="Arial" pitchFamily="34" charset="-120"/>
              </a:rPr>
              <a:t>No institutional access to those full texts. Every one is logged in Excluded_Records.</a:t>
            </a:r>
            <a:endParaRPr lang="en-US" sz="1700"/>
          </a:p>
        </p:txBody>
      </p:sp>
      <p:sp>
        <p:nvSpPr>
          <p:cNvPr id="9" name="Shape 5"/>
          <p:cNvSpPr/>
          <p:nvPr/>
        </p:nvSpPr>
        <p:spPr>
          <a:xfrm>
            <a:off x="548640" y="4297680"/>
            <a:ext cx="2651760" cy="1737360"/>
          </a:xfrm>
          <a:prstGeom prst="roundRect">
            <a:avLst>
              <a:gd name="adj" fmla="val 11579"/>
            </a:avLst>
          </a:prstGeom>
          <a:solidFill>
            <a:srgbClr val="1C1C1E"/>
          </a:solidFill>
          <a:ln w="12700">
            <a:solidFill>
              <a:srgbClr val="1C1C1E"/>
            </a:solidFill>
            <a:prstDash val="solid"/>
          </a:ln>
        </p:spPr>
        <p:txBody>
          <a:bodyPr/>
          <a:lstStyle/>
          <a:p>
            <a:endParaRPr lang="en-US"/>
          </a:p>
        </p:txBody>
      </p:sp>
      <p:sp>
        <p:nvSpPr>
          <p:cNvPr id="10" name="Text 6"/>
          <p:cNvSpPr/>
          <p:nvPr/>
        </p:nvSpPr>
        <p:spPr>
          <a:xfrm>
            <a:off x="777240" y="4434840"/>
            <a:ext cx="2286000" cy="64008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1 rater</a:t>
            </a:r>
            <a:endParaRPr lang="en-US" sz="3000"/>
          </a:p>
        </p:txBody>
      </p:sp>
      <p:sp>
        <p:nvSpPr>
          <p:cNvPr id="11" name="Text 7"/>
          <p:cNvSpPr/>
          <p:nvPr/>
        </p:nvSpPr>
        <p:spPr>
          <a:xfrm>
            <a:off x="777240" y="5074920"/>
            <a:ext cx="2240280" cy="82296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single screener on four databases; one quality rater; no kappa</a:t>
            </a:r>
            <a:endParaRPr lang="en-US" sz="1300"/>
          </a:p>
        </p:txBody>
      </p:sp>
      <p:sp>
        <p:nvSpPr>
          <p:cNvPr id="12" name="Shape 8"/>
          <p:cNvSpPr/>
          <p:nvPr/>
        </p:nvSpPr>
        <p:spPr>
          <a:xfrm>
            <a:off x="3364992" y="4297680"/>
            <a:ext cx="2651760" cy="1737360"/>
          </a:xfrm>
          <a:prstGeom prst="roundRect">
            <a:avLst>
              <a:gd name="adj" fmla="val 11579"/>
            </a:avLst>
          </a:prstGeom>
          <a:solidFill>
            <a:srgbClr val="1C1C1E"/>
          </a:solidFill>
          <a:ln w="12700">
            <a:solidFill>
              <a:srgbClr val="1C1C1E"/>
            </a:solidFill>
            <a:prstDash val="solid"/>
          </a:ln>
        </p:spPr>
        <p:txBody>
          <a:bodyPr/>
          <a:lstStyle/>
          <a:p>
            <a:endParaRPr lang="en-US"/>
          </a:p>
        </p:txBody>
      </p:sp>
      <p:sp>
        <p:nvSpPr>
          <p:cNvPr id="13" name="Text 9"/>
          <p:cNvSpPr/>
          <p:nvPr/>
        </p:nvSpPr>
        <p:spPr>
          <a:xfrm>
            <a:off x="3593592" y="4434840"/>
            <a:ext cx="2286000" cy="64008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13 rows</a:t>
            </a:r>
            <a:endParaRPr lang="en-US" sz="3000"/>
          </a:p>
        </p:txBody>
      </p:sp>
      <p:sp>
        <p:nvSpPr>
          <p:cNvPr id="14" name="Text 10"/>
          <p:cNvSpPr/>
          <p:nvPr/>
        </p:nvSpPr>
        <p:spPr>
          <a:xfrm>
            <a:off x="3593592" y="5074920"/>
            <a:ext cx="2240280" cy="82296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extracted and cross-checked with AI assistance</a:t>
            </a:r>
            <a:endParaRPr lang="en-US" sz="1300"/>
          </a:p>
        </p:txBody>
      </p:sp>
      <p:sp>
        <p:nvSpPr>
          <p:cNvPr id="15" name="Shape 11"/>
          <p:cNvSpPr/>
          <p:nvPr/>
        </p:nvSpPr>
        <p:spPr>
          <a:xfrm>
            <a:off x="6181344" y="4297680"/>
            <a:ext cx="2651760" cy="1737360"/>
          </a:xfrm>
          <a:prstGeom prst="roundRect">
            <a:avLst>
              <a:gd name="adj" fmla="val 11579"/>
            </a:avLst>
          </a:prstGeom>
          <a:solidFill>
            <a:srgbClr val="1C1C1E"/>
          </a:solidFill>
          <a:ln w="12700">
            <a:solidFill>
              <a:srgbClr val="1C1C1E"/>
            </a:solidFill>
            <a:prstDash val="solid"/>
          </a:ln>
        </p:spPr>
        <p:txBody>
          <a:bodyPr/>
          <a:lstStyle/>
          <a:p>
            <a:endParaRPr lang="en-US"/>
          </a:p>
        </p:txBody>
      </p:sp>
      <p:sp>
        <p:nvSpPr>
          <p:cNvPr id="16" name="Text 12"/>
          <p:cNvSpPr/>
          <p:nvPr/>
        </p:nvSpPr>
        <p:spPr>
          <a:xfrm>
            <a:off x="6409944" y="4434840"/>
            <a:ext cx="2286000" cy="64008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0</a:t>
            </a:r>
            <a:endParaRPr lang="en-US" sz="3000"/>
          </a:p>
        </p:txBody>
      </p:sp>
      <p:sp>
        <p:nvSpPr>
          <p:cNvPr id="17" name="Text 13"/>
          <p:cNvSpPr/>
          <p:nvPr/>
        </p:nvSpPr>
        <p:spPr>
          <a:xfrm>
            <a:off x="6409944" y="5074920"/>
            <a:ext cx="2240280" cy="82296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snowballing; protocol not registered</a:t>
            </a:r>
            <a:endParaRPr lang="en-US" sz="1300"/>
          </a:p>
        </p:txBody>
      </p:sp>
      <p:sp>
        <p:nvSpPr>
          <p:cNvPr id="18" name="Shape 14"/>
          <p:cNvSpPr/>
          <p:nvPr/>
        </p:nvSpPr>
        <p:spPr>
          <a:xfrm>
            <a:off x="8997696" y="4297680"/>
            <a:ext cx="2651760" cy="1737360"/>
          </a:xfrm>
          <a:prstGeom prst="roundRect">
            <a:avLst>
              <a:gd name="adj" fmla="val 11579"/>
            </a:avLst>
          </a:prstGeom>
          <a:solidFill>
            <a:srgbClr val="1C1C1E"/>
          </a:solidFill>
          <a:ln w="12700">
            <a:solidFill>
              <a:srgbClr val="1C1C1E"/>
            </a:solidFill>
            <a:prstDash val="solid"/>
          </a:ln>
        </p:spPr>
        <p:txBody>
          <a:bodyPr/>
          <a:lstStyle/>
          <a:p>
            <a:endParaRPr lang="en-US"/>
          </a:p>
        </p:txBody>
      </p:sp>
      <p:sp>
        <p:nvSpPr>
          <p:cNvPr id="19" name="Text 15"/>
          <p:cNvSpPr/>
          <p:nvPr/>
        </p:nvSpPr>
        <p:spPr>
          <a:xfrm>
            <a:off x="9226296" y="4434840"/>
            <a:ext cx="2286000" cy="640080"/>
          </a:xfrm>
          <a:prstGeom prst="rect">
            <a:avLst/>
          </a:prstGeom>
          <a:noFill/>
          <a:ln/>
        </p:spPr>
        <p:txBody>
          <a:bodyPr wrap="square" lIns="0" tIns="0" rIns="0" bIns="0" rtlCol="0" anchor="t"/>
          <a:lstStyle/>
          <a:p>
            <a:pPr marL="0" indent="0" algn="l">
              <a:buNone/>
            </a:pPr>
            <a:r>
              <a:rPr lang="en-US" sz="3000" b="1">
                <a:solidFill>
                  <a:srgbClr val="FFFFFF"/>
                </a:solidFill>
                <a:latin typeface="Arial" pitchFamily="34" charset="0"/>
                <a:ea typeface="Arial" pitchFamily="34" charset="-122"/>
                <a:cs typeface="Arial" pitchFamily="34" charset="-120"/>
              </a:rPr>
              <a:t>46</a:t>
            </a:r>
            <a:endParaRPr lang="en-US" sz="3000"/>
          </a:p>
        </p:txBody>
      </p:sp>
      <p:sp>
        <p:nvSpPr>
          <p:cNvPr id="20" name="Text 16"/>
          <p:cNvSpPr/>
          <p:nvPr/>
        </p:nvSpPr>
        <p:spPr>
          <a:xfrm>
            <a:off x="9226296" y="5074920"/>
            <a:ext cx="2240280" cy="822960"/>
          </a:xfrm>
          <a:prstGeom prst="rect">
            <a:avLst/>
          </a:prstGeom>
          <a:noFill/>
          <a:ln/>
        </p:spPr>
        <p:txBody>
          <a:bodyPr wrap="square" lIns="0" tIns="0" rIns="0" bIns="0" rtlCol="0" anchor="t"/>
          <a:lstStyle/>
          <a:p>
            <a:pPr marL="0" indent="0" algn="l">
              <a:buNone/>
            </a:pPr>
            <a:r>
              <a:rPr lang="en-US" sz="1300">
                <a:solidFill>
                  <a:srgbClr val="A1A1A6"/>
                </a:solidFill>
                <a:latin typeface="Arial" pitchFamily="34" charset="0"/>
                <a:ea typeface="Arial" pitchFamily="34" charset="-122"/>
                <a:cs typeface="Arial" pitchFamily="34" charset="-120"/>
              </a:rPr>
              <a:t>duplicates removed after screening, not during</a:t>
            </a:r>
            <a:endParaRPr lang="en-US" sz="1300"/>
          </a:p>
        </p:txBody>
      </p:sp>
    </p:spTree>
    <p:extLst>
      <p:ext uri="{BB962C8B-B14F-4D97-AF65-F5344CB8AC3E}">
        <p14:creationId xmlns:p14="http://schemas.microsoft.com/office/powerpoint/2010/main" val="560083391"/>
      </p:ext>
    </p:extLst>
  </p:cSld>
  <p:clrMapOvr>
    <a:masterClrMapping/>
  </p:clrMapOvr>
  <mc:AlternateContent xmlns:mc="http://schemas.openxmlformats.org/markup-compatibility/2006" xmlns:p14="http://schemas.microsoft.com/office/powerpoint/2010/main">
    <mc:Choice Requires="p14">
      <p:transition spd="slow" p14:dur="2000" advTm="53058"/>
    </mc:Choice>
    <mc:Fallback xmlns="">
      <p:transition spd="slow" advTm="53058"/>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Zenande Kalipa</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24</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Research agenda</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4400" b="1">
                <a:solidFill>
                  <a:srgbClr val="1D1D1F"/>
                </a:solidFill>
                <a:latin typeface="Arial" pitchFamily="34" charset="0"/>
                <a:ea typeface="Arial" pitchFamily="34" charset="-122"/>
                <a:cs typeface="Arial" pitchFamily="34" charset="-120"/>
              </a:rPr>
              <a:t>Six priorities, in order.</a:t>
            </a:r>
            <a:endParaRPr lang="en-US" sz="4400"/>
          </a:p>
        </p:txBody>
      </p:sp>
      <p:sp>
        <p:nvSpPr>
          <p:cNvPr id="7" name="Shape 4"/>
          <p:cNvSpPr/>
          <p:nvPr/>
        </p:nvSpPr>
        <p:spPr>
          <a:xfrm>
            <a:off x="548640" y="21488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822960" y="2286000"/>
            <a:ext cx="914400" cy="822960"/>
          </a:xfrm>
          <a:prstGeom prst="rect">
            <a:avLst/>
          </a:prstGeom>
          <a:noFill/>
          <a:ln/>
        </p:spPr>
        <p:txBody>
          <a:bodyPr wrap="square" lIns="0" tIns="0" rIns="0" bIns="0" rtlCol="0" anchor="t"/>
          <a:lstStyle/>
          <a:p>
            <a:pPr marL="0" indent="0" algn="l">
              <a:buNone/>
            </a:pPr>
            <a:r>
              <a:rPr lang="en-US" sz="4800" b="1">
                <a:solidFill>
                  <a:srgbClr val="FF375F"/>
                </a:solidFill>
                <a:latin typeface="Arial" pitchFamily="34" charset="0"/>
                <a:ea typeface="Arial" pitchFamily="34" charset="-122"/>
                <a:cs typeface="Arial" pitchFamily="34" charset="-120"/>
              </a:rPr>
              <a:t>1</a:t>
            </a:r>
            <a:endParaRPr lang="en-US" sz="4800"/>
          </a:p>
        </p:txBody>
      </p:sp>
      <p:sp>
        <p:nvSpPr>
          <p:cNvPr id="9" name="Text 6"/>
          <p:cNvSpPr/>
          <p:nvPr/>
        </p:nvSpPr>
        <p:spPr>
          <a:xfrm>
            <a:off x="1600200" y="2423160"/>
            <a:ext cx="2331720" cy="82296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Complete verifier-guided loop</a:t>
            </a:r>
            <a:endParaRPr lang="en-US" sz="1800"/>
          </a:p>
        </p:txBody>
      </p:sp>
      <p:sp>
        <p:nvSpPr>
          <p:cNvPr id="10" name="Text 7"/>
          <p:cNvSpPr/>
          <p:nvPr/>
        </p:nvSpPr>
        <p:spPr>
          <a:xfrm>
            <a:off x="822960" y="3291840"/>
            <a:ext cx="3017520" cy="64008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All five layers evidenced separately, none together</a:t>
            </a:r>
            <a:endParaRPr lang="en-US" sz="1400"/>
          </a:p>
        </p:txBody>
      </p:sp>
      <p:sp>
        <p:nvSpPr>
          <p:cNvPr id="11" name="Shape 8"/>
          <p:cNvSpPr/>
          <p:nvPr/>
        </p:nvSpPr>
        <p:spPr>
          <a:xfrm>
            <a:off x="4297680" y="21488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12" name="Text 9"/>
          <p:cNvSpPr/>
          <p:nvPr/>
        </p:nvSpPr>
        <p:spPr>
          <a:xfrm>
            <a:off x="4572000" y="2286000"/>
            <a:ext cx="914400" cy="822960"/>
          </a:xfrm>
          <a:prstGeom prst="rect">
            <a:avLst/>
          </a:prstGeom>
          <a:noFill/>
          <a:ln/>
        </p:spPr>
        <p:txBody>
          <a:bodyPr wrap="square" lIns="0" tIns="0" rIns="0" bIns="0" rtlCol="0" anchor="t"/>
          <a:lstStyle/>
          <a:p>
            <a:pPr marL="0" indent="0" algn="l">
              <a:buNone/>
            </a:pPr>
            <a:r>
              <a:rPr lang="en-US" sz="4800" b="1">
                <a:solidFill>
                  <a:srgbClr val="FF9F0A"/>
                </a:solidFill>
                <a:latin typeface="Arial" pitchFamily="34" charset="0"/>
                <a:ea typeface="Arial" pitchFamily="34" charset="-122"/>
                <a:cs typeface="Arial" pitchFamily="34" charset="-120"/>
              </a:rPr>
              <a:t>2</a:t>
            </a:r>
            <a:endParaRPr lang="en-US" sz="4800"/>
          </a:p>
        </p:txBody>
      </p:sp>
      <p:sp>
        <p:nvSpPr>
          <p:cNvPr id="13" name="Text 10"/>
          <p:cNvSpPr/>
          <p:nvPr/>
        </p:nvSpPr>
        <p:spPr>
          <a:xfrm>
            <a:off x="5349240" y="2423160"/>
            <a:ext cx="2331720" cy="82296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Model-code synchronisation</a:t>
            </a:r>
            <a:endParaRPr lang="en-US" sz="1800"/>
          </a:p>
        </p:txBody>
      </p:sp>
      <p:sp>
        <p:nvSpPr>
          <p:cNvPr id="14" name="Text 11"/>
          <p:cNvSpPr/>
          <p:nvPr/>
        </p:nvSpPr>
        <p:spPr>
          <a:xfrm>
            <a:off x="4572000" y="3291840"/>
            <a:ext cx="3017520" cy="64008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Stage 9 has zero studies</a:t>
            </a:r>
            <a:endParaRPr lang="en-US" sz="1400"/>
          </a:p>
        </p:txBody>
      </p:sp>
      <p:sp>
        <p:nvSpPr>
          <p:cNvPr id="15" name="Shape 12"/>
          <p:cNvSpPr/>
          <p:nvPr/>
        </p:nvSpPr>
        <p:spPr>
          <a:xfrm>
            <a:off x="8046720" y="21488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16" name="Text 13"/>
          <p:cNvSpPr/>
          <p:nvPr/>
        </p:nvSpPr>
        <p:spPr>
          <a:xfrm>
            <a:off x="8321040" y="2286000"/>
            <a:ext cx="914400" cy="822960"/>
          </a:xfrm>
          <a:prstGeom prst="rect">
            <a:avLst/>
          </a:prstGeom>
          <a:noFill/>
          <a:ln/>
        </p:spPr>
        <p:txBody>
          <a:bodyPr wrap="square" lIns="0" tIns="0" rIns="0" bIns="0" rtlCol="0" anchor="t"/>
          <a:lstStyle/>
          <a:p>
            <a:pPr marL="0" indent="0" algn="l">
              <a:buNone/>
            </a:pPr>
            <a:r>
              <a:rPr lang="en-US" sz="4800" b="1">
                <a:solidFill>
                  <a:srgbClr val="BF5AF2"/>
                </a:solidFill>
                <a:latin typeface="Arial" pitchFamily="34" charset="0"/>
                <a:ea typeface="Arial" pitchFamily="34" charset="-122"/>
                <a:cs typeface="Arial" pitchFamily="34" charset="-120"/>
              </a:rPr>
              <a:t>3</a:t>
            </a:r>
            <a:endParaRPr lang="en-US" sz="4800"/>
          </a:p>
        </p:txBody>
      </p:sp>
      <p:sp>
        <p:nvSpPr>
          <p:cNvPr id="17" name="Text 14"/>
          <p:cNvSpPr/>
          <p:nvPr/>
        </p:nvSpPr>
        <p:spPr>
          <a:xfrm>
            <a:off x="9098280" y="2423160"/>
            <a:ext cx="2331720" cy="82296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Shared industrial benchmarks</a:t>
            </a:r>
            <a:endParaRPr lang="en-US" sz="1800"/>
          </a:p>
        </p:txBody>
      </p:sp>
      <p:sp>
        <p:nvSpPr>
          <p:cNvPr id="18" name="Text 15"/>
          <p:cNvSpPr/>
          <p:nvPr/>
        </p:nvSpPr>
        <p:spPr>
          <a:xfrm>
            <a:off x="8321040" y="3291840"/>
            <a:ext cx="3017520" cy="64008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Every study uses its own dataset</a:t>
            </a:r>
            <a:endParaRPr lang="en-US" sz="1400"/>
          </a:p>
        </p:txBody>
      </p:sp>
      <p:sp>
        <p:nvSpPr>
          <p:cNvPr id="19" name="Shape 16"/>
          <p:cNvSpPr/>
          <p:nvPr/>
        </p:nvSpPr>
        <p:spPr>
          <a:xfrm>
            <a:off x="548640" y="42062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20" name="Text 17"/>
          <p:cNvSpPr/>
          <p:nvPr/>
        </p:nvSpPr>
        <p:spPr>
          <a:xfrm>
            <a:off x="822960" y="4343400"/>
            <a:ext cx="914400" cy="822960"/>
          </a:xfrm>
          <a:prstGeom prst="rect">
            <a:avLst/>
          </a:prstGeom>
          <a:noFill/>
          <a:ln/>
        </p:spPr>
        <p:txBody>
          <a:bodyPr wrap="square" lIns="0" tIns="0" rIns="0" bIns="0" rtlCol="0" anchor="t"/>
          <a:lstStyle/>
          <a:p>
            <a:pPr marL="0" indent="0" algn="l">
              <a:buNone/>
            </a:pPr>
            <a:r>
              <a:rPr lang="en-US" sz="4800" b="1">
                <a:solidFill>
                  <a:srgbClr val="0071E3"/>
                </a:solidFill>
                <a:latin typeface="Arial" pitchFamily="34" charset="0"/>
                <a:ea typeface="Arial" pitchFamily="34" charset="-122"/>
                <a:cs typeface="Arial" pitchFamily="34" charset="-120"/>
              </a:rPr>
              <a:t>4</a:t>
            </a:r>
            <a:endParaRPr lang="en-US" sz="4800"/>
          </a:p>
        </p:txBody>
      </p:sp>
      <p:sp>
        <p:nvSpPr>
          <p:cNvPr id="21" name="Text 18"/>
          <p:cNvSpPr/>
          <p:nvPr/>
        </p:nvSpPr>
        <p:spPr>
          <a:xfrm>
            <a:off x="1600200" y="4480560"/>
            <a:ext cx="2331720" cy="82296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Behavioural and architectural views</a:t>
            </a:r>
            <a:endParaRPr lang="en-US" sz="1800"/>
          </a:p>
        </p:txBody>
      </p:sp>
      <p:sp>
        <p:nvSpPr>
          <p:cNvPr id="22" name="Text 19"/>
          <p:cNvSpPr/>
          <p:nvPr/>
        </p:nvSpPr>
        <p:spPr>
          <a:xfrm>
            <a:off x="822960" y="5349240"/>
            <a:ext cx="3017520" cy="64008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Class diagrams dominate; consistency 0.11</a:t>
            </a:r>
            <a:endParaRPr lang="en-US" sz="1400"/>
          </a:p>
        </p:txBody>
      </p:sp>
      <p:sp>
        <p:nvSpPr>
          <p:cNvPr id="23" name="Shape 20"/>
          <p:cNvSpPr/>
          <p:nvPr/>
        </p:nvSpPr>
        <p:spPr>
          <a:xfrm>
            <a:off x="4297680" y="42062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24" name="Text 21"/>
          <p:cNvSpPr/>
          <p:nvPr/>
        </p:nvSpPr>
        <p:spPr>
          <a:xfrm>
            <a:off x="4572000" y="4343400"/>
            <a:ext cx="914400" cy="822960"/>
          </a:xfrm>
          <a:prstGeom prst="rect">
            <a:avLst/>
          </a:prstGeom>
          <a:noFill/>
          <a:ln/>
        </p:spPr>
        <p:txBody>
          <a:bodyPr wrap="square" lIns="0" tIns="0" rIns="0" bIns="0" rtlCol="0" anchor="t"/>
          <a:lstStyle/>
          <a:p>
            <a:pPr marL="0" indent="0" algn="l">
              <a:buNone/>
            </a:pPr>
            <a:r>
              <a:rPr lang="en-US" sz="4800" b="1">
                <a:solidFill>
                  <a:srgbClr val="30D158"/>
                </a:solidFill>
                <a:latin typeface="Arial" pitchFamily="34" charset="0"/>
                <a:ea typeface="Arial" pitchFamily="34" charset="-122"/>
                <a:cs typeface="Arial" pitchFamily="34" charset="-120"/>
              </a:rPr>
              <a:t>5</a:t>
            </a:r>
            <a:endParaRPr lang="en-US" sz="4800"/>
          </a:p>
        </p:txBody>
      </p:sp>
      <p:sp>
        <p:nvSpPr>
          <p:cNvPr id="25" name="Text 22"/>
          <p:cNvSpPr/>
          <p:nvPr/>
        </p:nvSpPr>
        <p:spPr>
          <a:xfrm>
            <a:off x="5349240" y="4480560"/>
            <a:ext cx="2331720" cy="82296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Expert and MDE comparison</a:t>
            </a:r>
            <a:endParaRPr lang="en-US" sz="1800"/>
          </a:p>
        </p:txBody>
      </p:sp>
      <p:sp>
        <p:nvSpPr>
          <p:cNvPr id="26" name="Text 23"/>
          <p:cNvSpPr/>
          <p:nvPr/>
        </p:nvSpPr>
        <p:spPr>
          <a:xfrm>
            <a:off x="4572000" y="5349240"/>
            <a:ext cx="3017520" cy="64008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One direct comparison with human modellers</a:t>
            </a:r>
            <a:endParaRPr lang="en-US" sz="1400"/>
          </a:p>
        </p:txBody>
      </p:sp>
      <p:sp>
        <p:nvSpPr>
          <p:cNvPr id="27" name="Shape 24"/>
          <p:cNvSpPr/>
          <p:nvPr/>
        </p:nvSpPr>
        <p:spPr>
          <a:xfrm>
            <a:off x="8046720" y="4206240"/>
            <a:ext cx="3566160" cy="1874520"/>
          </a:xfrm>
          <a:prstGeom prst="roundRect">
            <a:avLst>
              <a:gd name="adj" fmla="val 10732"/>
            </a:avLst>
          </a:prstGeom>
          <a:solidFill>
            <a:srgbClr val="FFFFFF"/>
          </a:solidFill>
          <a:ln w="12700">
            <a:solidFill>
              <a:srgbClr val="FFFFFF"/>
            </a:solidFill>
            <a:prstDash val="solid"/>
          </a:ln>
        </p:spPr>
        <p:txBody>
          <a:bodyPr/>
          <a:lstStyle/>
          <a:p>
            <a:endParaRPr lang="en-US"/>
          </a:p>
        </p:txBody>
      </p:sp>
      <p:sp>
        <p:nvSpPr>
          <p:cNvPr id="28" name="Text 25"/>
          <p:cNvSpPr/>
          <p:nvPr/>
        </p:nvSpPr>
        <p:spPr>
          <a:xfrm>
            <a:off x="8321040" y="4343400"/>
            <a:ext cx="914400" cy="822960"/>
          </a:xfrm>
          <a:prstGeom prst="rect">
            <a:avLst/>
          </a:prstGeom>
          <a:noFill/>
          <a:ln/>
        </p:spPr>
        <p:txBody>
          <a:bodyPr wrap="square" lIns="0" tIns="0" rIns="0" bIns="0" rtlCol="0" anchor="t"/>
          <a:lstStyle/>
          <a:p>
            <a:pPr marL="0" indent="0" algn="l">
              <a:buNone/>
            </a:pPr>
            <a:r>
              <a:rPr lang="en-US" sz="4800" b="1">
                <a:solidFill>
                  <a:srgbClr val="64D2FF"/>
                </a:solidFill>
                <a:latin typeface="Arial" pitchFamily="34" charset="0"/>
                <a:ea typeface="Arial" pitchFamily="34" charset="-122"/>
                <a:cs typeface="Arial" pitchFamily="34" charset="-120"/>
              </a:rPr>
              <a:t>6</a:t>
            </a:r>
            <a:endParaRPr lang="en-US" sz="4800"/>
          </a:p>
        </p:txBody>
      </p:sp>
      <p:sp>
        <p:nvSpPr>
          <p:cNvPr id="29" name="Text 26"/>
          <p:cNvSpPr/>
          <p:nvPr/>
        </p:nvSpPr>
        <p:spPr>
          <a:xfrm>
            <a:off x="9098280" y="4480560"/>
            <a:ext cx="2331720" cy="822960"/>
          </a:xfrm>
          <a:prstGeom prst="rect">
            <a:avLst/>
          </a:prstGeom>
          <a:noFill/>
          <a:ln/>
        </p:spPr>
        <p:txBody>
          <a:bodyPr wrap="square" lIns="0" tIns="0" rIns="0" bIns="0" rtlCol="0" anchor="t"/>
          <a:lstStyle/>
          <a:p>
            <a:pPr marL="0" indent="0" algn="l">
              <a:buNone/>
            </a:pPr>
            <a:r>
              <a:rPr lang="en-US" sz="1800" b="1">
                <a:solidFill>
                  <a:srgbClr val="1D1D1F"/>
                </a:solidFill>
                <a:latin typeface="Arial" pitchFamily="34" charset="0"/>
                <a:ea typeface="Arial" pitchFamily="34" charset="-122"/>
                <a:cs typeface="Arial" pitchFamily="34" charset="-120"/>
              </a:rPr>
              <a:t>Runtime models</a:t>
            </a:r>
            <a:endParaRPr lang="en-US" sz="1800"/>
          </a:p>
        </p:txBody>
      </p:sp>
      <p:sp>
        <p:nvSpPr>
          <p:cNvPr id="30" name="Text 27"/>
          <p:cNvSpPr/>
          <p:nvPr/>
        </p:nvSpPr>
        <p:spPr>
          <a:xfrm>
            <a:off x="8321040" y="5349240"/>
            <a:ext cx="3017520" cy="640080"/>
          </a:xfrm>
          <a:prstGeom prst="rect">
            <a:avLst/>
          </a:prstGeom>
          <a:noFill/>
          <a:ln/>
        </p:spPr>
        <p:txBody>
          <a:bodyPr wrap="square" lIns="0" tIns="0" rIns="0" bIns="0" rtlCol="0" anchor="t"/>
          <a:lstStyle/>
          <a:p>
            <a:pPr marL="0" indent="0" algn="l">
              <a:buNone/>
            </a:pPr>
            <a:r>
              <a:rPr lang="en-US" sz="1400">
                <a:solidFill>
                  <a:srgbClr val="6E6E73"/>
                </a:solidFill>
                <a:latin typeface="Arial" pitchFamily="34" charset="0"/>
                <a:ea typeface="Arial" pitchFamily="34" charset="-122"/>
                <a:cs typeface="Arial" pitchFamily="34" charset="-120"/>
              </a:rPr>
              <a:t>One partial study</a:t>
            </a:r>
            <a:endParaRPr lang="en-US" sz="1400"/>
          </a:p>
        </p:txBody>
      </p:sp>
    </p:spTree>
    <p:extLst>
      <p:ext uri="{BB962C8B-B14F-4D97-AF65-F5344CB8AC3E}">
        <p14:creationId xmlns:p14="http://schemas.microsoft.com/office/powerpoint/2010/main" val="2190264464"/>
      </p:ext>
    </p:extLst>
  </p:cSld>
  <p:clrMapOvr>
    <a:masterClrMapping/>
  </p:clrMapOvr>
  <mc:AlternateContent xmlns:mc="http://schemas.openxmlformats.org/markup-compatibility/2006" xmlns:p14="http://schemas.microsoft.com/office/powerpoint/2010/main">
    <mc:Choice Requires="p14">
      <p:transition spd="slow" p14:dur="2000" advTm="45875"/>
    </mc:Choice>
    <mc:Fallback xmlns="">
      <p:transition spd="slow" advTm="4587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25</a:t>
            </a:r>
            <a:endParaRPr lang="en-US" sz="900"/>
          </a:p>
        </p:txBody>
      </p:sp>
      <p:sp>
        <p:nvSpPr>
          <p:cNvPr id="5" name="Text 2"/>
          <p:cNvSpPr/>
          <p:nvPr/>
        </p:nvSpPr>
        <p:spPr>
          <a:xfrm>
            <a:off x="548640" y="685800"/>
            <a:ext cx="11091672" cy="365760"/>
          </a:xfrm>
          <a:prstGeom prst="rect">
            <a:avLst/>
          </a:prstGeom>
          <a:noFill/>
          <a:ln/>
        </p:spPr>
        <p:txBody>
          <a:bodyPr wrap="square" lIns="0" tIns="0" rIns="0" bIns="0" rtlCol="0" anchor="t"/>
          <a:lstStyle/>
          <a:p>
            <a:pPr marL="0" indent="0" algn="ctr">
              <a:buNone/>
            </a:pPr>
            <a:r>
              <a:rPr lang="en-US" sz="1600" b="1">
                <a:solidFill>
                  <a:srgbClr val="FF9F0A"/>
                </a:solidFill>
                <a:latin typeface="Arial" pitchFamily="34" charset="0"/>
                <a:ea typeface="Arial" pitchFamily="34" charset="-122"/>
                <a:cs typeface="Arial" pitchFamily="34" charset="-120"/>
              </a:rPr>
              <a:t>Conclusion</a:t>
            </a:r>
            <a:endParaRPr lang="en-US" sz="1600"/>
          </a:p>
        </p:txBody>
      </p:sp>
      <p:sp>
        <p:nvSpPr>
          <p:cNvPr id="6" name="Text 3"/>
          <p:cNvSpPr/>
          <p:nvPr/>
        </p:nvSpPr>
        <p:spPr>
          <a:xfrm>
            <a:off x="548640" y="1051560"/>
            <a:ext cx="11091672" cy="822960"/>
          </a:xfrm>
          <a:prstGeom prst="rect">
            <a:avLst/>
          </a:prstGeom>
          <a:noFill/>
          <a:ln/>
        </p:spPr>
        <p:txBody>
          <a:bodyPr wrap="square" lIns="0" tIns="0" rIns="0" bIns="0" rtlCol="0" anchor="t"/>
          <a:lstStyle/>
          <a:p>
            <a:pPr marL="0" indent="0" algn="ctr">
              <a:buNone/>
            </a:pPr>
            <a:r>
              <a:rPr lang="en-US" sz="3200" b="1">
                <a:solidFill>
                  <a:srgbClr val="FFFFFF"/>
                </a:solidFill>
                <a:latin typeface="Arial" pitchFamily="34" charset="0"/>
                <a:ea typeface="Arial" pitchFamily="34" charset="-122"/>
                <a:cs typeface="Arial" pitchFamily="34" charset="-120"/>
              </a:rPr>
              <a:t>Useful inside guard rails. Not trustworthy on its own.</a:t>
            </a:r>
            <a:endParaRPr lang="en-US" sz="3200"/>
          </a:p>
        </p:txBody>
      </p:sp>
      <p:sp>
        <p:nvSpPr>
          <p:cNvPr id="7" name="Shape 4"/>
          <p:cNvSpPr/>
          <p:nvPr/>
        </p:nvSpPr>
        <p:spPr>
          <a:xfrm>
            <a:off x="548640" y="2148840"/>
            <a:ext cx="5440680" cy="1828800"/>
          </a:xfrm>
          <a:prstGeom prst="roundRect">
            <a:avLst>
              <a:gd name="adj" fmla="val 11000"/>
            </a:avLst>
          </a:prstGeom>
          <a:solidFill>
            <a:srgbClr val="1C1C1E"/>
          </a:solidFill>
          <a:ln w="12700">
            <a:solidFill>
              <a:srgbClr val="1C1C1E"/>
            </a:solidFill>
            <a:prstDash val="solid"/>
          </a:ln>
        </p:spPr>
        <p:txBody>
          <a:bodyPr/>
          <a:lstStyle/>
          <a:p>
            <a:endParaRPr lang="en-US"/>
          </a:p>
        </p:txBody>
      </p:sp>
      <p:sp>
        <p:nvSpPr>
          <p:cNvPr id="8" name="Text 5"/>
          <p:cNvSpPr/>
          <p:nvPr/>
        </p:nvSpPr>
        <p:spPr>
          <a:xfrm>
            <a:off x="868680" y="2331720"/>
            <a:ext cx="4846320" cy="731520"/>
          </a:xfrm>
          <a:prstGeom prst="rect">
            <a:avLst/>
          </a:prstGeom>
          <a:noFill/>
          <a:ln/>
        </p:spPr>
        <p:txBody>
          <a:bodyPr wrap="square" lIns="0" tIns="0" rIns="0" bIns="0" rtlCol="0" anchor="t"/>
          <a:lstStyle/>
          <a:p>
            <a:pPr marL="0" indent="0" algn="l">
              <a:buNone/>
            </a:pPr>
            <a:r>
              <a:rPr lang="en-US" sz="3600" b="1">
                <a:solidFill>
                  <a:srgbClr val="2997FF"/>
                </a:solidFill>
                <a:latin typeface="Arial" pitchFamily="34" charset="0"/>
                <a:ea typeface="Arial" pitchFamily="34" charset="-122"/>
                <a:cs typeface="Arial" pitchFamily="34" charset="-120"/>
              </a:rPr>
              <a:t>23 of 27</a:t>
            </a:r>
            <a:endParaRPr lang="en-US" sz="3600"/>
          </a:p>
        </p:txBody>
      </p:sp>
      <p:sp>
        <p:nvSpPr>
          <p:cNvPr id="9" name="Text 6"/>
          <p:cNvSpPr/>
          <p:nvPr/>
        </p:nvSpPr>
        <p:spPr>
          <a:xfrm>
            <a:off x="868680" y="3063240"/>
            <a:ext cx="4846320" cy="822960"/>
          </a:xfrm>
          <a:prstGeom prst="rect">
            <a:avLst/>
          </a:prstGeom>
          <a:noFill/>
          <a:ln/>
        </p:spPr>
        <p:txBody>
          <a:bodyPr wrap="square" lIns="0" tIns="0" rIns="0" bIns="0" rtlCol="0" anchor="t"/>
          <a:lstStyle/>
          <a:p>
            <a:pPr marL="0" indent="0" algn="l">
              <a:buNone/>
            </a:pPr>
            <a:r>
              <a:rPr lang="en-US" sz="1600">
                <a:solidFill>
                  <a:srgbClr val="A1A1A6"/>
                </a:solidFill>
                <a:latin typeface="Arial" pitchFamily="34" charset="0"/>
                <a:ea typeface="Arial" pitchFamily="34" charset="-122"/>
                <a:cs typeface="Arial" pitchFamily="34" charset="-120"/>
              </a:rPr>
              <a:t>studies use LLMs, mostly where requirements become models and models become code</a:t>
            </a:r>
            <a:endParaRPr lang="en-US" sz="1600"/>
          </a:p>
        </p:txBody>
      </p:sp>
      <p:sp>
        <p:nvSpPr>
          <p:cNvPr id="10" name="Shape 7"/>
          <p:cNvSpPr/>
          <p:nvPr/>
        </p:nvSpPr>
        <p:spPr>
          <a:xfrm>
            <a:off x="6172200" y="2148840"/>
            <a:ext cx="5440680" cy="1828800"/>
          </a:xfrm>
          <a:prstGeom prst="roundRect">
            <a:avLst>
              <a:gd name="adj" fmla="val 11000"/>
            </a:avLst>
          </a:prstGeom>
          <a:solidFill>
            <a:srgbClr val="1C1C1E"/>
          </a:solidFill>
          <a:ln w="12700">
            <a:solidFill>
              <a:srgbClr val="1C1C1E"/>
            </a:solidFill>
            <a:prstDash val="solid"/>
          </a:ln>
        </p:spPr>
        <p:txBody>
          <a:bodyPr/>
          <a:lstStyle/>
          <a:p>
            <a:endParaRPr lang="en-US"/>
          </a:p>
        </p:txBody>
      </p:sp>
      <p:sp>
        <p:nvSpPr>
          <p:cNvPr id="11" name="Text 8"/>
          <p:cNvSpPr/>
          <p:nvPr/>
        </p:nvSpPr>
        <p:spPr>
          <a:xfrm>
            <a:off x="6492240" y="2331720"/>
            <a:ext cx="4846320" cy="731520"/>
          </a:xfrm>
          <a:prstGeom prst="rect">
            <a:avLst/>
          </a:prstGeom>
          <a:noFill/>
          <a:ln/>
        </p:spPr>
        <p:txBody>
          <a:bodyPr wrap="square" lIns="0" tIns="0" rIns="0" bIns="0" rtlCol="0" anchor="t"/>
          <a:lstStyle/>
          <a:p>
            <a:pPr marL="0" indent="0" algn="l">
              <a:buNone/>
            </a:pPr>
            <a:r>
              <a:rPr lang="en-US" sz="3600" b="1">
                <a:solidFill>
                  <a:srgbClr val="FF9F0A"/>
                </a:solidFill>
                <a:latin typeface="Arial" pitchFamily="34" charset="0"/>
                <a:ea typeface="Arial" pitchFamily="34" charset="-122"/>
                <a:cs typeface="Arial" pitchFamily="34" charset="-120"/>
              </a:rPr>
              <a:t>4</a:t>
            </a:r>
            <a:endParaRPr lang="en-US" sz="3600"/>
          </a:p>
        </p:txBody>
      </p:sp>
      <p:sp>
        <p:nvSpPr>
          <p:cNvPr id="12" name="Text 9"/>
          <p:cNvSpPr/>
          <p:nvPr/>
        </p:nvSpPr>
        <p:spPr>
          <a:xfrm>
            <a:off x="6492240" y="3063240"/>
            <a:ext cx="4846320" cy="822960"/>
          </a:xfrm>
          <a:prstGeom prst="rect">
            <a:avLst/>
          </a:prstGeom>
          <a:noFill/>
          <a:ln/>
        </p:spPr>
        <p:txBody>
          <a:bodyPr wrap="square" lIns="0" tIns="0" rIns="0" bIns="0" rtlCol="0" anchor="t"/>
          <a:lstStyle/>
          <a:p>
            <a:pPr marL="0" indent="0" algn="l">
              <a:buNone/>
            </a:pPr>
            <a:r>
              <a:rPr lang="en-US" sz="1600">
                <a:solidFill>
                  <a:srgbClr val="A1A1A6"/>
                </a:solidFill>
                <a:latin typeface="Arial" pitchFamily="34" charset="0"/>
                <a:ea typeface="Arial" pitchFamily="34" charset="-122"/>
                <a:cs typeface="Arial" pitchFamily="34" charset="-120"/>
              </a:rPr>
              <a:t>studies reach verifier-guided autonomy; evaluation rarely goes beyond syntax and reference matching</a:t>
            </a:r>
            <a:endParaRPr lang="en-US" sz="1600"/>
          </a:p>
        </p:txBody>
      </p:sp>
      <p:sp>
        <p:nvSpPr>
          <p:cNvPr id="13" name="Shape 10"/>
          <p:cNvSpPr/>
          <p:nvPr/>
        </p:nvSpPr>
        <p:spPr>
          <a:xfrm>
            <a:off x="548640" y="4160520"/>
            <a:ext cx="5440680" cy="1828800"/>
          </a:xfrm>
          <a:prstGeom prst="roundRect">
            <a:avLst>
              <a:gd name="adj" fmla="val 11000"/>
            </a:avLst>
          </a:prstGeom>
          <a:solidFill>
            <a:srgbClr val="1C1C1E"/>
          </a:solidFill>
          <a:ln w="12700">
            <a:solidFill>
              <a:srgbClr val="1C1C1E"/>
            </a:solidFill>
            <a:prstDash val="solid"/>
          </a:ln>
        </p:spPr>
        <p:txBody>
          <a:bodyPr/>
          <a:lstStyle/>
          <a:p>
            <a:endParaRPr lang="en-US"/>
          </a:p>
        </p:txBody>
      </p:sp>
      <p:sp>
        <p:nvSpPr>
          <p:cNvPr id="14" name="Text 11"/>
          <p:cNvSpPr/>
          <p:nvPr/>
        </p:nvSpPr>
        <p:spPr>
          <a:xfrm>
            <a:off x="868680" y="4343400"/>
            <a:ext cx="4846320" cy="731520"/>
          </a:xfrm>
          <a:prstGeom prst="rect">
            <a:avLst/>
          </a:prstGeom>
          <a:noFill/>
          <a:ln/>
        </p:spPr>
        <p:txBody>
          <a:bodyPr wrap="square" lIns="0" tIns="0" rIns="0" bIns="0" rtlCol="0" anchor="t"/>
          <a:lstStyle/>
          <a:p>
            <a:pPr marL="0" indent="0" algn="l">
              <a:buNone/>
            </a:pPr>
            <a:r>
              <a:rPr lang="en-US" sz="3600" b="1">
                <a:solidFill>
                  <a:srgbClr val="FF453A"/>
                </a:solidFill>
                <a:latin typeface="Arial" pitchFamily="34" charset="0"/>
                <a:ea typeface="Arial" pitchFamily="34" charset="-122"/>
                <a:cs typeface="Arial" pitchFamily="34" charset="-120"/>
              </a:rPr>
              <a:t>0</a:t>
            </a:r>
            <a:endParaRPr lang="en-US" sz="3600"/>
          </a:p>
        </p:txBody>
      </p:sp>
      <p:sp>
        <p:nvSpPr>
          <p:cNvPr id="15" name="Text 12"/>
          <p:cNvSpPr/>
          <p:nvPr/>
        </p:nvSpPr>
        <p:spPr>
          <a:xfrm>
            <a:off x="868680" y="5074920"/>
            <a:ext cx="4846320" cy="822960"/>
          </a:xfrm>
          <a:prstGeom prst="rect">
            <a:avLst/>
          </a:prstGeom>
          <a:noFill/>
          <a:ln/>
        </p:spPr>
        <p:txBody>
          <a:bodyPr wrap="square" lIns="0" tIns="0" rIns="0" bIns="0" rtlCol="0" anchor="t"/>
          <a:lstStyle/>
          <a:p>
            <a:pPr marL="0" indent="0" algn="l">
              <a:buNone/>
            </a:pPr>
            <a:r>
              <a:rPr lang="en-US" sz="1600">
                <a:solidFill>
                  <a:srgbClr val="A1A1A6"/>
                </a:solidFill>
                <a:latin typeface="Arial" pitchFamily="34" charset="0"/>
                <a:ea typeface="Arial" pitchFamily="34" charset="-122"/>
                <a:cs typeface="Arial" pitchFamily="34" charset="-120"/>
              </a:rPr>
              <a:t>studies keep models and code synchronised; continuous adaptive modelling does not yet exist</a:t>
            </a:r>
            <a:endParaRPr lang="en-US" sz="1600"/>
          </a:p>
        </p:txBody>
      </p:sp>
      <p:sp>
        <p:nvSpPr>
          <p:cNvPr id="16" name="Shape 13"/>
          <p:cNvSpPr/>
          <p:nvPr/>
        </p:nvSpPr>
        <p:spPr>
          <a:xfrm>
            <a:off x="6172200" y="4160520"/>
            <a:ext cx="5440680" cy="1828800"/>
          </a:xfrm>
          <a:prstGeom prst="roundRect">
            <a:avLst>
              <a:gd name="adj" fmla="val 11000"/>
            </a:avLst>
          </a:prstGeom>
          <a:solidFill>
            <a:srgbClr val="1C1C1E"/>
          </a:solidFill>
          <a:ln w="12700">
            <a:solidFill>
              <a:srgbClr val="1C1C1E"/>
            </a:solidFill>
            <a:prstDash val="solid"/>
          </a:ln>
        </p:spPr>
        <p:txBody>
          <a:bodyPr/>
          <a:lstStyle/>
          <a:p>
            <a:endParaRPr lang="en-US"/>
          </a:p>
        </p:txBody>
      </p:sp>
      <p:sp>
        <p:nvSpPr>
          <p:cNvPr id="17" name="Text 14"/>
          <p:cNvSpPr/>
          <p:nvPr/>
        </p:nvSpPr>
        <p:spPr>
          <a:xfrm>
            <a:off x="6492240" y="4343400"/>
            <a:ext cx="4846320" cy="731520"/>
          </a:xfrm>
          <a:prstGeom prst="rect">
            <a:avLst/>
          </a:prstGeom>
          <a:noFill/>
          <a:ln/>
        </p:spPr>
        <p:txBody>
          <a:bodyPr wrap="square" lIns="0" tIns="0" rIns="0" bIns="0" rtlCol="0" anchor="t"/>
          <a:lstStyle/>
          <a:p>
            <a:pPr marL="0" indent="0" algn="l">
              <a:buNone/>
            </a:pPr>
            <a:r>
              <a:rPr lang="en-US" sz="3600" b="1">
                <a:solidFill>
                  <a:srgbClr val="30D158"/>
                </a:solidFill>
                <a:latin typeface="Arial" pitchFamily="34" charset="0"/>
                <a:ea typeface="Arial" pitchFamily="34" charset="-122"/>
                <a:cs typeface="Arial" pitchFamily="34" charset="-120"/>
              </a:rPr>
              <a:t>5 layers</a:t>
            </a:r>
            <a:endParaRPr lang="en-US" sz="3600"/>
          </a:p>
        </p:txBody>
      </p:sp>
      <p:sp>
        <p:nvSpPr>
          <p:cNvPr id="18" name="Text 15"/>
          <p:cNvSpPr/>
          <p:nvPr/>
        </p:nvSpPr>
        <p:spPr>
          <a:xfrm>
            <a:off x="6492240" y="5074920"/>
            <a:ext cx="4846320" cy="822960"/>
          </a:xfrm>
          <a:prstGeom prst="rect">
            <a:avLst/>
          </a:prstGeom>
          <a:noFill/>
          <a:ln/>
        </p:spPr>
        <p:txBody>
          <a:bodyPr wrap="square" lIns="0" tIns="0" rIns="0" bIns="0" rtlCol="0" anchor="t"/>
          <a:lstStyle/>
          <a:p>
            <a:pPr marL="0" indent="0" algn="l">
              <a:buNone/>
            </a:pPr>
            <a:r>
              <a:rPr lang="en-US" sz="1600">
                <a:solidFill>
                  <a:srgbClr val="A1A1A6"/>
                </a:solidFill>
                <a:latin typeface="Arial" pitchFamily="34" charset="0"/>
                <a:ea typeface="Arial" pitchFamily="34" charset="-122"/>
                <a:cs typeface="Arial" pitchFamily="34" charset="-120"/>
              </a:rPr>
              <a:t>our architecture puts a deterministic verifier and an accountable person between AI and delivery</a:t>
            </a:r>
            <a:endParaRPr lang="en-US"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5F5F7"/>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B0B0B5"/>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B0B0B5"/>
                </a:solidFill>
                <a:latin typeface="Arial" pitchFamily="34" charset="0"/>
                <a:ea typeface="Arial" pitchFamily="34" charset="-122"/>
                <a:cs typeface="Arial" pitchFamily="34" charset="-120"/>
              </a:rPr>
              <a:t>26</a:t>
            </a:r>
            <a:endParaRPr lang="en-US" sz="900"/>
          </a:p>
        </p:txBody>
      </p:sp>
      <p:sp>
        <p:nvSpPr>
          <p:cNvPr id="5" name="Text 2"/>
          <p:cNvSpPr/>
          <p:nvPr/>
        </p:nvSpPr>
        <p:spPr>
          <a:xfrm>
            <a:off x="548640" y="457200"/>
            <a:ext cx="11091672" cy="365760"/>
          </a:xfrm>
          <a:prstGeom prst="rect">
            <a:avLst/>
          </a:prstGeom>
          <a:noFill/>
          <a:ln/>
        </p:spPr>
        <p:txBody>
          <a:bodyPr wrap="square" lIns="0" tIns="0" rIns="0" bIns="0" rtlCol="0" anchor="t"/>
          <a:lstStyle/>
          <a:p>
            <a:pPr marL="0" indent="0" algn="ctr">
              <a:buNone/>
            </a:pPr>
            <a:r>
              <a:rPr lang="en-US" sz="1600" b="1">
                <a:solidFill>
                  <a:srgbClr val="0071E3"/>
                </a:solidFill>
                <a:latin typeface="Arial" pitchFamily="34" charset="0"/>
                <a:ea typeface="Arial" pitchFamily="34" charset="-122"/>
                <a:cs typeface="Arial" pitchFamily="34" charset="-120"/>
              </a:rPr>
              <a:t>Key references</a:t>
            </a:r>
            <a:endParaRPr lang="en-US" sz="1600"/>
          </a:p>
        </p:txBody>
      </p:sp>
      <p:sp>
        <p:nvSpPr>
          <p:cNvPr id="6" name="Text 3"/>
          <p:cNvSpPr/>
          <p:nvPr/>
        </p:nvSpPr>
        <p:spPr>
          <a:xfrm>
            <a:off x="548640" y="1005840"/>
            <a:ext cx="5486400" cy="5303520"/>
          </a:xfrm>
          <a:prstGeom prst="rect">
            <a:avLst/>
          </a:prstGeom>
          <a:noFill/>
          <a:ln/>
        </p:spPr>
        <p:txBody>
          <a:bodyPr wrap="square" lIns="0" tIns="0" rIns="0" bIns="0" rtlCol="0" anchor="t"/>
          <a:lstStyle/>
          <a:p>
            <a:pPr marL="0" indent="0" algn="l">
              <a:lnSpc>
                <a:spcPct val="125000"/>
              </a:lnSpc>
              <a:buNone/>
            </a:pPr>
            <a:r>
              <a:rPr lang="en-US" sz="1200">
                <a:solidFill>
                  <a:srgbClr val="1D1D1F"/>
                </a:solidFill>
                <a:latin typeface="Arial" pitchFamily="34" charset="0"/>
                <a:ea typeface="Arial" pitchFamily="34" charset="-122"/>
                <a:cs typeface="Arial" pitchFamily="34" charset="-120"/>
              </a:rPr>
              <a:t>Ahmed, M. A., et al. (2026). VeriGen. IEEE Access, 14, 36860–36880.</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Alaswad, F., et al. (2026). AST-guided transformers for UML modeling. Machine Learning with Applications, 25, 100940.</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Awan, M. M., et al. (2026). AI-augmented collaborative blended modeling. IET Software, 6696040.</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Ben Chaaben, M., et al. (2026). Domain modeling assistance with LLMs. ACM TOSEM, 35(4), 112.</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Blasco, D., et al. (2021). Evolutionary generation of software models. Journal of Systems and Software, 171, 110804.</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Chen, K., et al. (2023). Automated domain modeling with LLMs. MODELS 2023, 162–172.</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Chen, R., Shen, J., &amp; He, X. (2026). MoRe. Electronics, 15(6), 1239.</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Dao, D., Bucaioni, A., &amp; Cicchetti, A. (2026). Change-aware round-trip benchmarking. Journal of Systems and Software, 113014.</a:t>
            </a:r>
            <a:endParaRPr lang="en-US" sz="1200"/>
          </a:p>
        </p:txBody>
      </p:sp>
      <p:sp>
        <p:nvSpPr>
          <p:cNvPr id="7" name="Text 4"/>
          <p:cNvSpPr/>
          <p:nvPr/>
        </p:nvSpPr>
        <p:spPr>
          <a:xfrm>
            <a:off x="6263640" y="1005840"/>
            <a:ext cx="5486400" cy="5303520"/>
          </a:xfrm>
          <a:prstGeom prst="rect">
            <a:avLst/>
          </a:prstGeom>
          <a:noFill/>
          <a:ln/>
        </p:spPr>
        <p:txBody>
          <a:bodyPr wrap="square" lIns="0" tIns="0" rIns="0" bIns="0" rtlCol="0" anchor="t"/>
          <a:lstStyle/>
          <a:p>
            <a:pPr marL="0" indent="0" algn="l">
              <a:lnSpc>
                <a:spcPct val="125000"/>
              </a:lnSpc>
              <a:buNone/>
            </a:pPr>
            <a:r>
              <a:rPr lang="en-US" sz="1200">
                <a:solidFill>
                  <a:srgbClr val="1D1D1F"/>
                </a:solidFill>
                <a:latin typeface="Arial" pitchFamily="34" charset="0"/>
                <a:ea typeface="Arial" pitchFamily="34" charset="-122"/>
                <a:cs typeface="Arial" pitchFamily="34" charset="-120"/>
              </a:rPr>
              <a:t>De Bari, D., et al. (2024). LLMs in UML class diagram exercises. ESEM 2024.</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Eramo, R., et al. (2024). Model-based intelligent automation in DevOps. Journal of Systems and Software, 217, 112180.</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Kitchenham, B., &amp; Charters, S. (2007). Guidelines for SLRs in software engineering (v2.3).</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Page, M. J., et al. (2021). The PRISMA 2020 statement. BMJ, 372, n71.</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Siala, H. A., &amp; Lano, K. (2025). LLMs to extract UML class diagrams from Java. ICoSSE 2025, 70–74.</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Siala, H. A., &amp; Lano, K. (2026). Abstracting UML and OCL from Java and Python. Journal of Systems and Software, 238, 112874.</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Tahat, A., et al. (2026). AGREE-Dog Copilot. AISoLA 2025, LNCS 16220, 112–131.</a:t>
            </a:r>
            <a:endParaRPr lang="en-US" sz="1200"/>
          </a:p>
          <a:p>
            <a:pPr marL="0" indent="0" algn="l">
              <a:lnSpc>
                <a:spcPct val="125000"/>
              </a:lnSpc>
              <a:buNone/>
            </a:pPr>
            <a:r>
              <a:rPr lang="en-US" sz="1200">
                <a:solidFill>
                  <a:srgbClr val="1D1D1F"/>
                </a:solidFill>
                <a:latin typeface="Arial" pitchFamily="34" charset="0"/>
                <a:ea typeface="Arial" pitchFamily="34" charset="-122"/>
                <a:cs typeface="Arial" pitchFamily="34" charset="-120"/>
              </a:rPr>
              <a:t>Tsampouris, T., et al. (2025). RQ2DSL. ICTAI 2025, 1300–1307.</a:t>
            </a:r>
            <a:endParaRPr lang="en-US" sz="1200"/>
          </a:p>
        </p:txBody>
      </p:sp>
      <p:sp>
        <p:nvSpPr>
          <p:cNvPr id="8" name="Text 5"/>
          <p:cNvSpPr/>
          <p:nvPr/>
        </p:nvSpPr>
        <p:spPr>
          <a:xfrm>
            <a:off x="548640" y="6172200"/>
            <a:ext cx="11091672" cy="274320"/>
          </a:xfrm>
          <a:prstGeom prst="rect">
            <a:avLst/>
          </a:prstGeom>
          <a:noFill/>
          <a:ln/>
        </p:spPr>
        <p:txBody>
          <a:bodyPr wrap="square" lIns="0" tIns="0" rIns="0" bIns="0" rtlCol="0" anchor="t"/>
          <a:lstStyle/>
          <a:p>
            <a:pPr marL="0" indent="0" algn="ctr">
              <a:buNone/>
            </a:pPr>
            <a:r>
              <a:rPr lang="en-US" sz="1200">
                <a:solidFill>
                  <a:srgbClr val="6E6E73"/>
                </a:solidFill>
                <a:latin typeface="Arial" pitchFamily="34" charset="0"/>
                <a:ea typeface="Arial" pitchFamily="34" charset="-122"/>
                <a:cs typeface="Arial" pitchFamily="34" charset="-120"/>
              </a:rPr>
              <a:t>Full APA 7 list: SLR report, References.</a:t>
            </a:r>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900">
                <a:solidFill>
                  <a:srgbClr val="48484A"/>
                </a:solidFill>
                <a:latin typeface="Arial" pitchFamily="34" charset="0"/>
                <a:ea typeface="Arial" pitchFamily="34" charset="-122"/>
                <a:cs typeface="Arial" pitchFamily="34" charset="-120"/>
              </a:rPr>
              <a:t>Thandolwethu Siloyi</a:t>
            </a:r>
            <a:endParaRPr lang="en-US" sz="900"/>
          </a:p>
        </p:txBody>
      </p:sp>
      <p:sp>
        <p:nvSpPr>
          <p:cNvPr id="4" name="Text 1"/>
          <p:cNvSpPr/>
          <p:nvPr/>
        </p:nvSpPr>
        <p:spPr>
          <a:xfrm>
            <a:off x="11183112" y="6419088"/>
            <a:ext cx="457200" cy="274320"/>
          </a:xfrm>
          <a:prstGeom prst="rect">
            <a:avLst/>
          </a:prstGeom>
          <a:noFill/>
          <a:ln/>
        </p:spPr>
        <p:txBody>
          <a:bodyPr wrap="square" lIns="0" tIns="0" rIns="0" bIns="0" rtlCol="0" anchor="ctr"/>
          <a:lstStyle/>
          <a:p>
            <a:pPr marL="0" indent="0" algn="r">
              <a:buNone/>
            </a:pPr>
            <a:r>
              <a:rPr lang="en-US" sz="900">
                <a:solidFill>
                  <a:srgbClr val="48484A"/>
                </a:solidFill>
                <a:latin typeface="Arial" pitchFamily="34" charset="0"/>
                <a:ea typeface="Arial" pitchFamily="34" charset="-122"/>
                <a:cs typeface="Arial" pitchFamily="34" charset="-120"/>
              </a:rPr>
              <a:t>27</a:t>
            </a:r>
            <a:endParaRPr lang="en-US" sz="900"/>
          </a:p>
        </p:txBody>
      </p:sp>
      <p:pic>
        <p:nvPicPr>
          <p:cNvPr id="5" name="Image 0" descr="img/h_thanks.png"/>
          <p:cNvPicPr>
            <a:picLocks noChangeAspect="1"/>
          </p:cNvPicPr>
          <p:nvPr/>
        </p:nvPicPr>
        <p:blipFill>
          <a:blip r:embed="rId3"/>
          <a:stretch>
            <a:fillRect/>
          </a:stretch>
        </p:blipFill>
        <p:spPr>
          <a:xfrm>
            <a:off x="2375800" y="1737360"/>
            <a:ext cx="7437353" cy="1371600"/>
          </a:xfrm>
          <a:prstGeom prst="rect">
            <a:avLst/>
          </a:prstGeom>
        </p:spPr>
      </p:pic>
      <p:sp>
        <p:nvSpPr>
          <p:cNvPr id="6" name="Text 2"/>
          <p:cNvSpPr/>
          <p:nvPr/>
        </p:nvSpPr>
        <p:spPr>
          <a:xfrm>
            <a:off x="548640" y="3383280"/>
            <a:ext cx="11091672" cy="640080"/>
          </a:xfrm>
          <a:prstGeom prst="rect">
            <a:avLst/>
          </a:prstGeom>
          <a:noFill/>
          <a:ln/>
        </p:spPr>
        <p:txBody>
          <a:bodyPr wrap="square" lIns="0" tIns="0" rIns="0" bIns="0" rtlCol="0" anchor="t"/>
          <a:lstStyle/>
          <a:p>
            <a:pPr marL="0" indent="0" algn="ctr">
              <a:buNone/>
            </a:pPr>
            <a:r>
              <a:rPr lang="en-US" sz="3000" b="1">
                <a:solidFill>
                  <a:srgbClr val="A1A1A6"/>
                </a:solidFill>
                <a:latin typeface="Arial" pitchFamily="34" charset="0"/>
                <a:ea typeface="Arial" pitchFamily="34" charset="-122"/>
                <a:cs typeface="Arial" pitchFamily="34" charset="-120"/>
              </a:rPr>
              <a:t>Questions welcome.</a:t>
            </a:r>
            <a:endParaRPr lang="en-US" sz="3000"/>
          </a:p>
        </p:txBody>
      </p:sp>
      <p:sp>
        <p:nvSpPr>
          <p:cNvPr id="7" name="Text 3"/>
          <p:cNvSpPr/>
          <p:nvPr/>
        </p:nvSpPr>
        <p:spPr>
          <a:xfrm>
            <a:off x="548640" y="5120640"/>
            <a:ext cx="11091672" cy="365760"/>
          </a:xfrm>
          <a:prstGeom prst="rect">
            <a:avLst/>
          </a:prstGeom>
          <a:noFill/>
          <a:ln/>
        </p:spPr>
        <p:txBody>
          <a:bodyPr wrap="square" lIns="0" tIns="0" rIns="0" bIns="0" rtlCol="0" anchor="t"/>
          <a:lstStyle/>
          <a:p>
            <a:pPr marL="0" indent="0" algn="ctr">
              <a:buNone/>
            </a:pPr>
            <a:r>
              <a:rPr lang="en-US" sz="1400">
                <a:solidFill>
                  <a:srgbClr val="6E6E73"/>
                </a:solidFill>
                <a:latin typeface="Arial" pitchFamily="34" charset="0"/>
                <a:ea typeface="Arial" pitchFamily="34" charset="-122"/>
                <a:cs typeface="Arial" pitchFamily="34" charset="-120"/>
              </a:rPr>
              <a:t>Numbers trace to the SLR report and master workbook (FINAL_7); study results to the cited papers.</a:t>
            </a:r>
            <a:endParaRPr lang="en-US"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b1551f8-93ad-48c0-86da-7e3276a3479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271803688CE834F80A3A500315C760A" ma:contentTypeVersion="14" ma:contentTypeDescription="Create a new document." ma:contentTypeScope="" ma:versionID="1d0812df93b79b3b57dafa95c951352c">
  <xsd:schema xmlns:xsd="http://www.w3.org/2001/XMLSchema" xmlns:xs="http://www.w3.org/2001/XMLSchema" xmlns:p="http://schemas.microsoft.com/office/2006/metadata/properties" xmlns:ns3="0b1551f8-93ad-48c0-86da-7e3276a34794" targetNamespace="http://schemas.microsoft.com/office/2006/metadata/properties" ma:root="true" ma:fieldsID="0f7a1cf250cf3fb62a9f71279b0defb4" ns3:_="">
    <xsd:import namespace="0b1551f8-93ad-48c0-86da-7e3276a3479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1551f8-93ad-48c0-86da-7e3276a347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A5C2BE-BDBE-47FD-963D-ED15E971BD17}">
  <ds:schemaRefs>
    <ds:schemaRef ds:uri="http://schemas.microsoft.com/sharepoint/v3/contenttype/forms"/>
  </ds:schemaRefs>
</ds:datastoreItem>
</file>

<file path=customXml/itemProps2.xml><?xml version="1.0" encoding="utf-8"?>
<ds:datastoreItem xmlns:ds="http://schemas.openxmlformats.org/officeDocument/2006/customXml" ds:itemID="{86B971B5-F94F-45EA-B859-35BAA0E89448}">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dcmitype/"/>
    <ds:schemaRef ds:uri="http://purl.org/dc/terms/"/>
    <ds:schemaRef ds:uri="http://schemas.openxmlformats.org/package/2006/metadata/core-properties"/>
    <ds:schemaRef ds:uri="0b1551f8-93ad-48c0-86da-7e3276a34794"/>
    <ds:schemaRef ds:uri="http://www.w3.org/XML/1998/namespace"/>
  </ds:schemaRefs>
</ds:datastoreItem>
</file>

<file path=customXml/itemProps3.xml><?xml version="1.0" encoding="utf-8"?>
<ds:datastoreItem xmlns:ds="http://schemas.openxmlformats.org/officeDocument/2006/customXml" ds:itemID="{7EF190FC-2D90-452A-A86A-0D12A676C7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1551f8-93ad-48c0-86da-7e3276a347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86</TotalTime>
  <Words>5401</Words>
  <Application>Microsoft Office PowerPoint</Application>
  <PresentationFormat>Widescreen</PresentationFormat>
  <Paragraphs>602</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Model Engineering: SLR (N = 27)</dc:title>
  <dc:subject>PptxGenJS Presentation</dc:subject>
  <dc:creator>PptxGenJS</dc:creator>
  <cp:lastModifiedBy>Thabiso Patrick Matsaba</cp:lastModifiedBy>
  <cp:revision>8</cp:revision>
  <dcterms:created xsi:type="dcterms:W3CDTF">2026-09-25T15:02:41Z</dcterms:created>
  <dcterms:modified xsi:type="dcterms:W3CDTF">2026-09-27T13:08:45Z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0x010100F271803688CE834F80A3A500315C760A</vt:lpwstr>
  </property>
</Properties>
</file>