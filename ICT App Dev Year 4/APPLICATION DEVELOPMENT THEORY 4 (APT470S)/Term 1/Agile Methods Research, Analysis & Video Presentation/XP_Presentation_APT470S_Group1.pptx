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7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8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3A5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3A5C"/>
                </a:solidFill>
                <a:latin typeface="Arial"/>
              </a:rPr>
              <a:t>Standish Chaos Report (1994) — % of Software Projects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 Status (%)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On Time &amp; Budget</c:v>
                  </c:pt>
                  <c:pt idx="1">
                    <c:v>Challenged / Late</c:v>
                  </c:pt>
                  <c:pt idx="2">
                    <c:v>Failed / Cancelled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53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Defect Reduction — TDD vs Non-TDD Baseline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 Reduction vs Non-TDD (%)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E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3A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1F3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IBM
Team A</c:v>
                  </c:pt>
                  <c:pt idx="1">
                    <c:v>IBM
Team B</c:v>
                  </c:pt>
                  <c:pt idx="2">
                    <c:v>Microsoft
Team A</c:v>
                  </c:pt>
                  <c:pt idx="3">
                    <c:v>Microsoft
Team 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60</c:v>
                </c:pt>
                <c:pt idx="2">
                  <c:v>77</c:v>
                </c:pt>
                <c:pt idx="3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Solo vs Pair Programming — Performance Score Comparison (solo baseline = 65)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Solo Developer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Code Quality</c:v>
                  </c:pt>
                  <c:pt idx="1">
                    <c:v>Speed</c:v>
                  </c:pt>
                  <c:pt idx="2">
                    <c:v>Knowledge Sharing</c:v>
                  </c:pt>
                  <c:pt idx="3">
                    <c:v>Bug Detection</c:v>
                  </c:pt>
                  <c:pt idx="4">
                    <c:v>Mentoring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85</c:v>
                </c:pt>
                <c:pt idx="2">
                  <c:v>40</c:v>
                </c:pt>
                <c:pt idx="3">
                  <c:v>55</c:v>
                </c:pt>
                <c:pt idx="4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Pair Programming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Code Quality</c:v>
                  </c:pt>
                  <c:pt idx="1">
                    <c:v>Speed</c:v>
                  </c:pt>
                  <c:pt idx="2">
                    <c:v>Knowledge Sharing</c:v>
                  </c:pt>
                  <c:pt idx="3">
                    <c:v>Bug Detection</c:v>
                  </c:pt>
                  <c:pt idx="4">
                    <c:v>Mentoring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88</c:v>
                </c:pt>
                <c:pt idx="1">
                  <c:v>80</c:v>
                </c:pt>
                <c:pt idx="2">
                  <c:v>90</c:v>
                </c:pt>
                <c:pt idx="3">
                  <c:v>85</c:v>
                </c:pt>
                <c:pt idx="4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Pair Programming: Assumption vs Reality (solo baseline = 100)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Assumption (solo = 100)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Effort Overhead</c:v>
                  </c:pt>
                  <c:pt idx="1">
                    <c:v>Calendar Time</c:v>
                  </c:pt>
                  <c:pt idx="2">
                    <c:v>Code Quality</c:v>
                  </c:pt>
                  <c:pt idx="3">
                    <c:v>Bug Rate</c:v>
                  </c:pt>
                  <c:pt idx="4">
                    <c:v>Knowledge Transfer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Reality (research-based)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Effort Overhead</c:v>
                  </c:pt>
                  <c:pt idx="1">
                    <c:v>Calendar Time</c:v>
                  </c:pt>
                  <c:pt idx="2">
                    <c:v>Code Quality</c:v>
                  </c:pt>
                  <c:pt idx="3">
                    <c:v>Bug Rate</c:v>
                  </c:pt>
                  <c:pt idx="4">
                    <c:v>Knowledge Transfer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</c:v>
                </c:pt>
                <c:pt idx="1">
                  <c:v>55</c:v>
                </c:pt>
                <c:pt idx="2">
                  <c:v>135</c:v>
                </c:pt>
                <c:pt idx="3">
                  <c:v>40</c:v>
                </c:pt>
                <c:pt idx="4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Agile Framework Radar (1=low, 5=high)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XP</c:v>
                </c:pt>
              </c:strCache>
            </c:strRef>
          </c:tx>
          <c:spPr>
            <a:solidFill>
              <a:srgbClr val="00C9A7"/>
            </a:solidFill>
            <a:ln w="25400" cap="flat">
              <a:solidFill>
                <a:srgbClr val="00C9A7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0C9A7"/>
              </a:solidFill>
              <a:ln w="9525" cap="flat">
                <a:solidFill>
                  <a:srgbClr val="00C9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Technical Practices</c:v>
                  </c:pt>
                  <c:pt idx="1">
                    <c:v>Customer Collab</c:v>
                  </c:pt>
                  <c:pt idx="2">
                    <c:v>Iteration Speed</c:v>
                  </c:pt>
                  <c:pt idx="3">
                    <c:v>Code Quality Focus</c:v>
                  </c:pt>
                  <c:pt idx="4">
                    <c:v>Scalability</c:v>
                  </c:pt>
                  <c:pt idx="5">
                    <c:v>Tooling Support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2</c:v>
                </c:pt>
                <c:pt idx="5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Scrum</c:v>
                </c:pt>
              </c:strCache>
            </c:strRef>
          </c:tx>
          <c:spPr>
            <a:solidFill>
              <a:srgbClr val="F4A261"/>
            </a:solidFill>
            <a:ln w="25400" cap="flat">
              <a:solidFill>
                <a:srgbClr val="F4A261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Technical Practices</c:v>
                  </c:pt>
                  <c:pt idx="1">
                    <c:v>Customer Collab</c:v>
                  </c:pt>
                  <c:pt idx="2">
                    <c:v>Iteration Speed</c:v>
                  </c:pt>
                  <c:pt idx="3">
                    <c:v>Code Quality Focus</c:v>
                  </c:pt>
                  <c:pt idx="4">
                    <c:v>Scalability</c:v>
                  </c:pt>
                  <c:pt idx="5">
                    <c:v>Tooling Support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Crystal</c:v>
                </c:pt>
              </c:strCache>
            </c:strRef>
          </c:tx>
          <c:spPr>
            <a:solidFill>
              <a:srgbClr val="E63946"/>
            </a:solidFill>
            <a:ln w="2540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Technical Practices</c:v>
                  </c:pt>
                  <c:pt idx="1">
                    <c:v>Customer Collab</c:v>
                  </c:pt>
                  <c:pt idx="2">
                    <c:v>Iteration Speed</c:v>
                  </c:pt>
                  <c:pt idx="3">
                    <c:v>Code Quality Focus</c:v>
                  </c:pt>
                  <c:pt idx="4">
                    <c:v>Scalability</c:v>
                  </c:pt>
                  <c:pt idx="5">
                    <c:v>Tooling Support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FDD</c:v>
                </c:pt>
              </c:strCache>
            </c:strRef>
          </c:tx>
          <c:spPr>
            <a:solidFill>
              <a:srgbClr val="6A4C9C"/>
            </a:solidFill>
            <a:ln w="25400" cap="flat">
              <a:solidFill>
                <a:srgbClr val="6A4C9C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6A4C9C"/>
              </a:solidFill>
              <a:ln w="9525" cap="flat">
                <a:solidFill>
                  <a:srgbClr val="6A4C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Technical Practices</c:v>
                  </c:pt>
                  <c:pt idx="1">
                    <c:v>Customer Collab</c:v>
                  </c:pt>
                  <c:pt idx="2">
                    <c:v>Iteration Speed</c:v>
                  </c:pt>
                  <c:pt idx="3">
                    <c:v>Code Quality Focus</c:v>
                  </c:pt>
                  <c:pt idx="4">
                    <c:v>Scalability</c:v>
                  </c:pt>
                  <c:pt idx="5">
                    <c:v>Tooling Support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Global Agile Framework Adoption (% teams)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Agile Adoption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8A"/>
              </a:solidFill>
              <a:effectLst/>
            </c:spPr>
          </c:dPt>
          <c:dPt>
            <c:idx val="1"/>
            <c:bubble3D val="0"/>
            <c:spPr>
              <a:solidFill>
                <a:srgbClr val="00C9A7"/>
              </a:solidFill>
              <a:effectLst/>
            </c:spPr>
          </c:dPt>
          <c:dPt>
            <c:idx val="2"/>
            <c:bubble3D val="0"/>
            <c:spPr>
              <a:solidFill>
                <a:srgbClr val="6A4C9C"/>
              </a:solidFill>
              <a:effectLst/>
            </c:spPr>
          </c:dPt>
          <c:dPt>
            <c:idx val="3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bubble3D val="0"/>
            <c:spPr>
              <a:solidFill>
                <a:srgbClr val="E63946"/>
              </a:solidFill>
              <a:effectLst/>
            </c:spPr>
          </c:dPt>
          <c:dPt>
            <c:idx val="5"/>
            <c:bubble3D val="0"/>
            <c:spPr>
              <a:solidFill>
                <a:srgbClr val="00897B"/>
              </a:solidFill>
              <a:effectLst/>
            </c:spPr>
          </c:dPt>
          <c:dPt>
            <c:idx val="6"/>
            <c:bubble3D val="0"/>
            <c:spPr>
              <a:solidFill>
                <a:srgbClr val="B0BEC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Scrum (61%)</c:v>
                </c:pt>
                <c:pt idx="1">
                  <c:v>ScrumXP Hybrid (20%)</c:v>
                </c:pt>
                <c:pt idx="2">
                  <c:v>SAFe (35%)</c:v>
                </c:pt>
                <c:pt idx="3">
                  <c:v>Kanban (32%)</c:v>
                </c:pt>
                <c:pt idx="4">
                  <c:v>XP Pure (8%)</c:v>
                </c:pt>
                <c:pt idx="5">
                  <c:v>Lean (15%)</c:v>
                </c:pt>
                <c:pt idx="6">
                  <c:v>Other (12%)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61</c:v>
                </c:pt>
                <c:pt idx="1">
                  <c:v>20</c:v>
                </c:pt>
                <c:pt idx="2">
                  <c:v>35</c:v>
                </c:pt>
                <c:pt idx="3">
                  <c:v>32</c:v>
                </c:pt>
                <c:pt idx="4">
                  <c:v>8</c:v>
                </c:pt>
                <c:pt idx="5">
                  <c:v>15</c:v>
                </c:pt>
                <c:pt idx="6">
                  <c:v>12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Deployment Frequency — Elite vs Low Performers
(XP CI/CD practices as the key differentiator)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Elite Performers (deploys/day)</c:v>
                </c:pt>
              </c:strCache>
            </c:strRef>
          </c:tx>
          <c:spPr>
            <a:solidFill>
              <a:srgbClr val="00C9A7"/>
            </a:solidFill>
            <a:ln w="38100" cap="flat">
              <a:solidFill>
                <a:srgbClr val="00C9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9A7"/>
              </a:solidFill>
              <a:ln w="9525" cap="flat">
                <a:solidFill>
                  <a:srgbClr val="00C9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14</c:v>
                </c:pt>
                <c:pt idx="4">
                  <c:v>22</c:v>
                </c:pt>
                <c:pt idx="5">
                  <c:v>30</c:v>
                </c:pt>
                <c:pt idx="6">
                  <c:v>40</c:v>
                </c:pt>
                <c:pt idx="7">
                  <c:v>52</c:v>
                </c:pt>
                <c:pt idx="8">
                  <c:v>60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 Performers (deploys/month)</c:v>
                </c:pt>
              </c:strCache>
            </c:strRef>
          </c:tx>
          <c:spPr>
            <a:solidFill>
              <a:srgbClr val="E63946"/>
            </a:solidFill>
            <a:ln w="3810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0.3</c:v>
                </c:pt>
                <c:pt idx="1">
                  <c:v>0.4</c:v>
                </c:pt>
                <c:pt idx="2">
                  <c:v>0.5</c:v>
                </c:pt>
                <c:pt idx="3">
                  <c:v>0.6</c:v>
                </c:pt>
                <c:pt idx="4">
                  <c:v>0.7</c:v>
                </c:pt>
                <c:pt idx="5">
                  <c:v>0.8</c:v>
                </c:pt>
                <c:pt idx="6">
                  <c:v>0.9</c:v>
                </c:pt>
                <c:pt idx="7">
                  <c:v>1</c:v>
                </c:pt>
                <c:pt idx="8">
                  <c:v>1.1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Empirical Evidence Strength by XP Practice (%) — systematic literature review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Empirical Evidence Strength (%)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TDD</c:v>
                  </c:pt>
                  <c:pt idx="1">
                    <c:v>CI/CD</c:v>
                  </c:pt>
                  <c:pt idx="2">
                    <c:v>Refactoring</c:v>
                  </c:pt>
                  <c:pt idx="3">
                    <c:v>Pair Programming</c:v>
                  </c:pt>
                  <c:pt idx="4">
                    <c:v>Coll. Ownership</c:v>
                  </c:pt>
                  <c:pt idx="5">
                    <c:v>On-Site Customer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</c:v>
                </c:pt>
                <c:pt idx="1">
                  <c:v>90</c:v>
                </c:pt>
                <c:pt idx="2">
                  <c:v>82</c:v>
                </c:pt>
                <c:pt idx="3">
                  <c:v>74</c:v>
                </c:pt>
                <c:pt idx="4">
                  <c:v>58</c:v>
                </c:pt>
                <c:pt idx="5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8.xm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548640"/>
            <a:ext cx="2926080" cy="2926080"/>
          </a:xfrm>
          <a:prstGeom prst="ellipse">
            <a:avLst/>
          </a:prstGeom>
          <a:solidFill>
            <a:srgbClr val="2C5F8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2560320"/>
            <a:ext cx="1828800" cy="1828800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3657600"/>
            <a:ext cx="914400" cy="914400"/>
          </a:xfrm>
          <a:prstGeom prst="ellipse">
            <a:avLst/>
          </a:prstGeom>
          <a:solidFill>
            <a:srgbClr val="F4A261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029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</a:t>
            </a:r>
            <a:endParaRPr lang="en-US" sz="4400" dirty="0"/>
          </a:p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</a:t>
            </a:r>
            <a:endParaRPr lang="en-US" sz="8600" dirty="0"/>
          </a:p>
        </p:txBody>
      </p:sp>
      <p:sp>
        <p:nvSpPr>
          <p:cNvPr id="9" name="Text 7"/>
          <p:cNvSpPr/>
          <p:nvPr/>
        </p:nvSpPr>
        <p:spPr>
          <a:xfrm>
            <a:off x="411480" y="28163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Analysis &amp; Video Presentation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– Applications Development Theory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Peninsula University of Technology  | 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18795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·  Thabiso Matsaba  ·  220296006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Prof A. Ajibesin  ·  Due: 13 March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87568" y="274320"/>
            <a:ext cx="3246120" cy="658368"/>
          </a:xfrm>
          <a:prstGeom prst="rect">
            <a:avLst/>
          </a:prstGeom>
          <a:solidFill>
            <a:srgbClr val="2C5F8A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79008" y="310896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Origins of XP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87568" y="1033272"/>
            <a:ext cx="3246120" cy="658368"/>
          </a:xfrm>
          <a:prstGeom prst="rect">
            <a:avLst/>
          </a:prstGeom>
          <a:solidFill>
            <a:srgbClr val="2C5F8A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1069848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Five Values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87568" y="1792224"/>
            <a:ext cx="3246120" cy="658368"/>
          </a:xfrm>
          <a:prstGeom prst="rect">
            <a:avLst/>
          </a:prstGeom>
          <a:solidFill>
            <a:srgbClr val="2C5F8A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9008" y="1828800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Core Practices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87568" y="2551176"/>
            <a:ext cx="3246120" cy="658368"/>
          </a:xfrm>
          <a:prstGeom prst="rect">
            <a:avLst/>
          </a:prstGeom>
          <a:solidFill>
            <a:srgbClr val="2C5F8A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79008" y="2587752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Controversy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87568" y="3310128"/>
            <a:ext cx="3246120" cy="658368"/>
          </a:xfrm>
          <a:prstGeom prst="rect">
            <a:avLst/>
          </a:prstGeom>
          <a:solidFill>
            <a:srgbClr val="2C5F8A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9008" y="3346704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XP vs Agile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87568" y="4069080"/>
            <a:ext cx="3246120" cy="658368"/>
          </a:xfrm>
          <a:prstGeom prst="rect">
            <a:avLst/>
          </a:prstGeom>
          <a:solidFill>
            <a:srgbClr val="2C5F8A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9008" y="4105656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 Evolution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research questions  ·  10 minutes  ·  20 slides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051560"/>
            <a:ext cx="42245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51560"/>
            <a:ext cx="777240" cy="1115568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0759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" y="10881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2144" y="11430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Origins of XP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52144" y="15270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Project · Beck · Cunningham · Jeffries (1996–1999)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09160" y="1051560"/>
            <a:ext cx="42245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1051560"/>
            <a:ext cx="777240" cy="1115568"/>
          </a:xfrm>
          <a:prstGeom prst="rect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30759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09160" y="10881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605272" y="11430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Values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605272" y="15270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· Simplicity · Feedback · Courage · Respect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56032" y="2313432"/>
            <a:ext cx="42245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2313432"/>
            <a:ext cx="777240" cy="1115568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9464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56032" y="23500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52144" y="24048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XP Practices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152144" y="278892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· Pair Programming · CI · Refactoring · Collective Ownership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709160" y="2313432"/>
            <a:ext cx="42245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09160" y="2313432"/>
            <a:ext cx="777240" cy="111556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569464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709160" y="23500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605272" y="24048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Controversial Practices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5605272" y="278892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 Debate · On-Site Customer Challenges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256032" y="3575304"/>
            <a:ext cx="42245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256032" y="3575304"/>
            <a:ext cx="777240" cy="1115568"/>
          </a:xfrm>
          <a:prstGeom prst="rect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831336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256032" y="3611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1152144" y="36667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vs Other Agile Methods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1152144" y="405079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· Crystal · FDD · Radar Comparison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4709160" y="3575304"/>
            <a:ext cx="42245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709160" y="3575304"/>
            <a:ext cx="777240" cy="111556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831336"/>
            <a:ext cx="457200" cy="4572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709160" y="3611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5605272" y="36667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XP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5605272" y="405079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 → DevOps Era → Remote Work Adaptations (2020+)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Origins – The Software Crisis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1994 Standish Chaos Report exposed systematic project failure across the industry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56032" y="1024128"/>
          <a:ext cx="44805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256032" y="422452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Standish Group (1994)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937760" y="1024128"/>
            <a:ext cx="3977640" cy="315468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74920" y="10789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C3 Project — Chrysler (1994–2000)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10912" y="1481328"/>
            <a:ext cx="3831336" cy="384048"/>
          </a:xfrm>
          <a:prstGeom prst="rect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65776" y="149961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44768" y="149961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payroll for 87,000 employees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10912" y="1920240"/>
            <a:ext cx="3831336" cy="384048"/>
          </a:xfrm>
          <a:prstGeom prst="rect">
            <a:avLst/>
          </a:prstGeom>
          <a:solidFill>
            <a:srgbClr val="2C5F8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65776" y="193852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144768" y="193852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Smalltalk + GemStone object database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10912" y="2359152"/>
            <a:ext cx="3831336" cy="384048"/>
          </a:xfrm>
          <a:prstGeom prst="rect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65776" y="237744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44768" y="23774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failures, duplicated logic, missed deadlines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010912" y="2798064"/>
            <a:ext cx="3831336" cy="384048"/>
          </a:xfrm>
          <a:prstGeom prst="rect">
            <a:avLst/>
          </a:prstGeom>
          <a:solidFill>
            <a:srgbClr val="2C5F8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65776" y="281635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Beck's Fix: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144768" y="281635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"Take every proven practice to an extreme"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010912" y="3236976"/>
            <a:ext cx="3831336" cy="384048"/>
          </a:xfrm>
          <a:prstGeom prst="rect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65776" y="325526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44768" y="325526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complete XP project — then cancelled in 2000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010912" y="3675888"/>
            <a:ext cx="3831336" cy="384048"/>
          </a:xfrm>
          <a:prstGeom prst="rect">
            <a:avLst/>
          </a:prstGeom>
          <a:solidFill>
            <a:srgbClr val="2C5F8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65776" y="369417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Legacy: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144768" y="369417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published 1999 → Agile Manifesto 2001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010912" y="4133088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I arrived at Chrysler I made a list of everything I thought made software development go well and pushed each item to the extreme." — Kent Beck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The Founding Trio of XP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practitioners who turned informal habits into a named, teachable methodology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60704" y="1005840"/>
            <a:ext cx="1261872" cy="12618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0704" y="1152144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6032" y="2377440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Beck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182880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52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Architect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3072384"/>
            <a:ext cx="2779776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3072384"/>
            <a:ext cx="64008" cy="1719072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14553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the C3 project at Chrysler (1996)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0624" y="346557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"XP Explained" 1st &amp; 2nd Editions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0624" y="378561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Co-signed the Agile Manifesto (2001)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0624" y="410565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Coined the term "Extreme Programming"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" y="442569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TDD, CI &amp; pair programming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23360" y="1005840"/>
            <a:ext cx="1261872" cy="12618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23360" y="1152144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218688" y="2377440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Cunningham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94176" y="2743200"/>
            <a:ext cx="182880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94176" y="2752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Co-Developer &amp; Philosopher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18688" y="3072384"/>
            <a:ext cx="2779776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3072384"/>
            <a:ext cx="64008" cy="1719072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14553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Co-invented CRC cards at OOPSLA (1989)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46557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WikiWikiWeb — XP's first forum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78561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Coined the "Technical Debt" metaphor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410565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collective code ownership thinking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442569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intellectual ancestor of Beck's XP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86016" y="1005840"/>
            <a:ext cx="1261872" cy="126187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86016" y="1152144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181344" y="2377440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 Jeffries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656832" y="2743200"/>
            <a:ext cx="182880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2752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XP Coach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81344" y="3072384"/>
            <a:ext cx="2779776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81344" y="3072384"/>
            <a:ext cx="64008" cy="1719072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314553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Invited by Beck to join C3 (1996)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45936" y="346557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XP values into daily habits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45936" y="378561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practitioner of TDD in a live project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45936" y="410565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Co-authored "Extreme Programming Installed"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45936" y="442569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practices one-by-one for teams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The Five Core Values of XP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"Values are the root, practices the branches — you cannot have one without the other." — Beck &amp; Andres (2004)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56432" y="1481328"/>
            <a:ext cx="2231136" cy="2231136"/>
          </a:xfrm>
          <a:prstGeom prst="ellipse">
            <a:avLst/>
          </a:prstGeom>
          <a:solidFill>
            <a:srgbClr val="2C5F8A"/>
          </a:solidFill>
          <a:ln w="381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6432" y="205740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" y="960120"/>
            <a:ext cx="2331720" cy="1261872"/>
          </a:xfrm>
          <a:prstGeom prst="rect">
            <a:avLst/>
          </a:prstGeom>
          <a:solidFill>
            <a:srgbClr val="00C9A7">
              <a:alpha val="85000"/>
            </a:srgbClr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" y="960120"/>
            <a:ext cx="2331720" cy="36576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" y="1014984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9966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4592" y="1380744"/>
            <a:ext cx="2176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customer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game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1440" y="3017520"/>
            <a:ext cx="2331720" cy="1261872"/>
          </a:xfrm>
          <a:prstGeom prst="rect">
            <a:avLst/>
          </a:prstGeom>
          <a:solidFill>
            <a:srgbClr val="00897B">
              <a:alpha val="85000"/>
            </a:srgbClr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" y="3017520"/>
            <a:ext cx="233172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3072384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8912" y="30540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64592" y="3438144"/>
            <a:ext cx="2176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YAGNI principle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design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simplest thing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675120" y="960120"/>
            <a:ext cx="2331720" cy="1261872"/>
          </a:xfrm>
          <a:prstGeom prst="rect">
            <a:avLst/>
          </a:prstGeom>
          <a:solidFill>
            <a:srgbClr val="F4A261">
              <a:alpha val="85000"/>
            </a:srgbClr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675120" y="960120"/>
            <a:ext cx="233172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101498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22592" y="9966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748272" y="1380744"/>
            <a:ext cx="2176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red-green cycle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builds in minutes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demos weekly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675120" y="3017520"/>
            <a:ext cx="2331720" cy="1261872"/>
          </a:xfrm>
          <a:prstGeom prst="rect">
            <a:avLst/>
          </a:prstGeom>
          <a:solidFill>
            <a:srgbClr val="E63946">
              <a:alpha val="85000"/>
            </a:srgbClr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675120" y="3017520"/>
            <a:ext cx="2331720" cy="3657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307238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22592" y="30540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748272" y="3438144"/>
            <a:ext cx="2176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refactoring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reporting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broken designs now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383280" y="3611880"/>
            <a:ext cx="2331720" cy="1261872"/>
          </a:xfrm>
          <a:prstGeom prst="rect">
            <a:avLst/>
          </a:prstGeom>
          <a:solidFill>
            <a:srgbClr val="6A4C9C">
              <a:alpha val="85000"/>
            </a:srgbClr>
          </a:solidFill>
          <a:ln w="25400">
            <a:solidFill>
              <a:srgbClr val="6A4C9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383280" y="3611880"/>
            <a:ext cx="2331720" cy="365760"/>
          </a:xfrm>
          <a:prstGeom prst="rect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3666744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730752" y="36484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456432" y="4032504"/>
            <a:ext cx="2176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ownership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rockstar coders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274320" y="4809744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"XP is probably the best-known and most widely used of the agile methods." — Sommerville (2016, p.68)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Values → Technical Practices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is operationalised through concrete engineering discipline — not abstract principles alone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051560"/>
            <a:ext cx="863193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51560"/>
            <a:ext cx="1737360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23444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84832" y="1143000"/>
            <a:ext cx="6729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customer  ·  Pair programming  ·  Planning game  ·  User stories  ·  Big visible charts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828800"/>
            <a:ext cx="863193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1828800"/>
            <a:ext cx="1737360" cy="694944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01168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84832" y="1920240"/>
            <a:ext cx="6729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YAGNI principle  ·  Simplest passing test  ·  Refactoring  ·  No speculative over-design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606040"/>
            <a:ext cx="863193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606040"/>
            <a:ext cx="1737360" cy="694944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78892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84832" y="2697480"/>
            <a:ext cx="6729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(milliseconds)  ·  Continuous Integration (minutes)  ·  Customer demos (weekly)  ·  Velocity tracking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3383280"/>
            <a:ext cx="863193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383280"/>
            <a:ext cx="1737360" cy="694944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56616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84832" y="3474720"/>
            <a:ext cx="6729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refactoring  ·  Honest velocity reporting  ·  Fixing broken designs  ·  Saying no to bad scope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4160520"/>
            <a:ext cx="863193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4160520"/>
            <a:ext cx="1737360" cy="694944"/>
          </a:xfrm>
          <a:prstGeom prst="rect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43434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84832" y="4251960"/>
            <a:ext cx="6729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code ownership  ·  Pair accountability  ·  No "rockstar" developers  ·  Shared technical standards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4919472"/>
            <a:ext cx="8631936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The Twelve XP Practices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Pressman (2015, pp.90–97) &amp; Sommerville (2016, pp.72–76) — twelve mutually reinforcing disciplines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24128"/>
            <a:ext cx="2029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24128"/>
            <a:ext cx="2029968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05156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" y="1773936"/>
            <a:ext cx="1627632" cy="228600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78308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14016" y="1024128"/>
            <a:ext cx="2029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14016" y="1024128"/>
            <a:ext cx="2029968" cy="402336"/>
          </a:xfrm>
          <a:prstGeom prst="rect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105156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15184" y="1773936"/>
            <a:ext cx="1627632" cy="22860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178308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99432" y="1024128"/>
            <a:ext cx="2029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99432" y="1024128"/>
            <a:ext cx="2029968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105156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1773936"/>
            <a:ext cx="1627632" cy="22860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78308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84848" y="1024128"/>
            <a:ext cx="2029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84848" y="1024128"/>
            <a:ext cx="2029968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105156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86016" y="1773936"/>
            <a:ext cx="1627632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86016" y="178308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2322576"/>
            <a:ext cx="2029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322576"/>
            <a:ext cx="2029968" cy="402336"/>
          </a:xfrm>
          <a:prstGeom prst="rect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35000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" y="3072384"/>
            <a:ext cx="1627632" cy="22860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308152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14016" y="2322576"/>
            <a:ext cx="2029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14016" y="2322576"/>
            <a:ext cx="2029968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14016" y="235000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15184" y="3072384"/>
            <a:ext cx="1627632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15184" y="308152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99432" y="2322576"/>
            <a:ext cx="2029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99432" y="2322576"/>
            <a:ext cx="2029968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9432" y="235000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00600" y="3072384"/>
            <a:ext cx="1627632" cy="22860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08152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784848" y="2322576"/>
            <a:ext cx="2029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84848" y="2322576"/>
            <a:ext cx="2029968" cy="402336"/>
          </a:xfrm>
          <a:prstGeom prst="rect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84848" y="235000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986016" y="3072384"/>
            <a:ext cx="1627632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86016" y="308152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8600" y="3621024"/>
            <a:ext cx="2029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28600" y="3621024"/>
            <a:ext cx="2029968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364845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29768" y="4370832"/>
            <a:ext cx="1627632" cy="22860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768" y="437997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414016" y="3621024"/>
            <a:ext cx="2029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414016" y="3621024"/>
            <a:ext cx="2029968" cy="402336"/>
          </a:xfrm>
          <a:prstGeom prst="rect">
            <a:avLst/>
          </a:prstGeom>
          <a:solidFill>
            <a:srgbClr val="B0BE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14016" y="364845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Metaphor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615184" y="4370832"/>
            <a:ext cx="1627632" cy="228600"/>
          </a:xfrm>
          <a:prstGeom prst="rect">
            <a:avLst/>
          </a:prstGeom>
          <a:solidFill>
            <a:srgbClr val="9E9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15184" y="437997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99432" y="3621024"/>
            <a:ext cx="2029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599432" y="3621024"/>
            <a:ext cx="2029968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99432" y="364845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800600" y="4370832"/>
            <a:ext cx="1627632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437997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784848" y="3621024"/>
            <a:ext cx="2029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784848" y="3621024"/>
            <a:ext cx="2029968" cy="402336"/>
          </a:xfrm>
          <a:prstGeom prst="rect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84848" y="364845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986016" y="4370832"/>
            <a:ext cx="1627632" cy="22860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86016" y="437997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TDD — The Evidence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Nagappan, Maximilien, Bhat &amp; Williams (2008) — Empirical Software Engineering 13(3)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56032" y="1024128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256032" y="427939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Nagappan et al. (2008), Empirical Software Engineering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68112" y="1024128"/>
            <a:ext cx="3429000" cy="82296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68112" y="1069848"/>
            <a:ext cx="342900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40–90%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5468112" y="1452067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reduction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68112" y="1698955"/>
            <a:ext cx="34290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Nagappan et al. (2008)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468112" y="1901952"/>
            <a:ext cx="3429000" cy="822960"/>
          </a:xfrm>
          <a:prstGeom prst="rect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68112" y="1947672"/>
            <a:ext cx="342900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15–35%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5468112" y="2329891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dev time cost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68112" y="2576779"/>
            <a:ext cx="34290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Rafique &amp; Misic (2013)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468112" y="2779776"/>
            <a:ext cx="3429000" cy="822960"/>
          </a:xfrm>
          <a:prstGeom prst="rect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68112" y="2825496"/>
            <a:ext cx="342900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5468112" y="3207715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studies in meta-analysis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68112" y="3454603"/>
            <a:ext cx="34290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Rafique &amp; Misic (2013)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468112" y="3694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TDD Cycle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68112" y="4005072"/>
            <a:ext cx="1078992" cy="676656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68112" y="402336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failing test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611112" y="4005072"/>
            <a:ext cx="1078992" cy="676656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11112" y="402336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minimum code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754112" y="4005072"/>
            <a:ext cx="1078992" cy="676656"/>
          </a:xfrm>
          <a:prstGeom prst="rect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54112" y="402336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code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Pair Programming — What the Data Shows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 et al. (2000) · Hannay et al. (2010) — 154 industrial studies reviewed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56032" y="1024128"/>
          <a:ext cx="55778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256032" y="431596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Williams et al. (2000), Hannay et al. (2010), Canfora et al. (2005)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035040" y="1024128"/>
            <a:ext cx="2852928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35040" y="1069848"/>
            <a:ext cx="2852928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035040" y="1442557"/>
            <a:ext cx="2852928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overhead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100%!)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35040" y="1683959"/>
            <a:ext cx="2852928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 et al. (2000)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035040" y="1883664"/>
            <a:ext cx="2852928" cy="804672"/>
          </a:xfrm>
          <a:prstGeom prst="rect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35040" y="1929384"/>
            <a:ext cx="2852928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035040" y="2302093"/>
            <a:ext cx="2852928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studies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35040" y="2543495"/>
            <a:ext cx="2852928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Hannay et al. (2010)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035040" y="2743200"/>
            <a:ext cx="2852928" cy="804672"/>
          </a:xfrm>
          <a:prstGeom prst="rect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35040" y="2788920"/>
            <a:ext cx="2852928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6035040" y="3161629"/>
            <a:ext cx="2852928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defects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complex tasks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35040" y="3403031"/>
            <a:ext cx="2852928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Canfora et al. (2005)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035040" y="3602736"/>
            <a:ext cx="28529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108192" y="3630168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"Pair programming is a socially demanding, not just technically demanding practice."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CI · Refactoring · Collective Ownership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backbone of XP — practices that work together as a system, not in isolation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024128"/>
            <a:ext cx="8631936" cy="11887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06070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Pipeline  (XP 1999 → Modern CI/CD)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89888"/>
            <a:ext cx="1280160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0817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45920" y="161848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92224" y="1389888"/>
            <a:ext cx="1280160" cy="658368"/>
          </a:xfrm>
          <a:prstGeom prst="rect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92224" y="140817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72384" y="161848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18688" y="1389888"/>
            <a:ext cx="1280160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140817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98848" y="161848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45152" y="1389888"/>
            <a:ext cx="128016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140817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25312" y="161848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71616" y="1389888"/>
            <a:ext cx="1280160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71616" y="140817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51776" y="161848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1389888"/>
            <a:ext cx="1280160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140817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2359152"/>
            <a:ext cx="281635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359152"/>
            <a:ext cx="2816352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3682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7472" y="2779776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277063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integrations per day is the XP rule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" y="3182112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31729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run at every commit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3584448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575304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Always-green mainline principle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" y="3986784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97764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into Jenkins, GitHub Actions, CircleCI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" y="4389120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37997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Pressman: "Immediate feedback when a change breaks a build"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18688" y="2359152"/>
            <a:ext cx="281635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18688" y="2359152"/>
            <a:ext cx="2816352" cy="347472"/>
          </a:xfrm>
          <a:prstGeom prst="rect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23682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310128" y="2779776"/>
            <a:ext cx="164592" cy="164592"/>
          </a:xfrm>
          <a:prstGeom prst="ellipse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29584" y="277063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code without changing behaviour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10128" y="3182112"/>
            <a:ext cx="164592" cy="164592"/>
          </a:xfrm>
          <a:prstGeom prst="ellipse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9584" y="31729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Fowler catalogued 80+ refactoring patterns (1999)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310128" y="3584448"/>
            <a:ext cx="164592" cy="164592"/>
          </a:xfrm>
          <a:prstGeom prst="ellipse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29584" y="3575304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IDE tooling makes it safe and fast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310128" y="3986784"/>
            <a:ext cx="164592" cy="164592"/>
          </a:xfrm>
          <a:prstGeom prst="ellipse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29584" y="397764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accumulation of technical debt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10128" y="4389120"/>
            <a:ext cx="164592" cy="164592"/>
          </a:xfrm>
          <a:prstGeom prst="ellipse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29584" y="437997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YAGNI — build simple now, improve safely later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81344" y="2359152"/>
            <a:ext cx="281635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81344" y="2359152"/>
            <a:ext cx="2816352" cy="347472"/>
          </a:xfrm>
          <a:prstGeom prst="rect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72784" y="23682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Ownership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272784" y="2779776"/>
            <a:ext cx="164592" cy="164592"/>
          </a:xfrm>
          <a:prstGeom prst="ellipse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92240" y="277063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developer may change any part of the codebase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272784" y="3182112"/>
            <a:ext cx="164592" cy="164592"/>
          </a:xfrm>
          <a:prstGeom prst="ellipse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0" y="31729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TDD safety net to work without fear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72784" y="3584448"/>
            <a:ext cx="164592" cy="164592"/>
          </a:xfrm>
          <a:prstGeom prst="ellipse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3575304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single-developer bus-factor risk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272784" y="3986784"/>
            <a:ext cx="164592" cy="164592"/>
          </a:xfrm>
          <a:prstGeom prst="ellipse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92240" y="397764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Democratises technical decision-making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272784" y="4389120"/>
            <a:ext cx="164592" cy="164592"/>
          </a:xfrm>
          <a:prstGeom prst="ellipse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92240" y="437997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"rockstar developer" knowledge bottlenecks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Pair Programming — The Controversy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Boehm &amp; Turner (2004): "Doubling personnel cost is economically irrational" — but is it?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56032" y="1024128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256032" y="43159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Williams et al. (2000) · Hannay et al. (2010)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925312" y="1024128"/>
            <a:ext cx="2962656" cy="3767328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35040" y="1078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Pair Programming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tooling extends XP to distributed teams: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16752" y="1737360"/>
            <a:ext cx="2798064" cy="457200"/>
          </a:xfrm>
          <a:prstGeom prst="rect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1755648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Live Share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80760" y="193852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co-editing &amp; shared terminal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16752" y="2267712"/>
            <a:ext cx="2798064" cy="457200"/>
          </a:xfrm>
          <a:prstGeom prst="rect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2286000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Code With Me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80760" y="246888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IDE sharing across locations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16752" y="2798064"/>
            <a:ext cx="2798064" cy="457200"/>
          </a:xfrm>
          <a:prstGeom prst="rect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281635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Codespaces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80760" y="299923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paired environments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016752" y="3328416"/>
            <a:ext cx="2798064" cy="457200"/>
          </a:xfrm>
          <a:prstGeom prst="rect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3346704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/ Pop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080760" y="352958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remote pairing tools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016752" y="3858768"/>
            <a:ext cx="2798064" cy="71323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80760" y="3895344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"Selective Pairing"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on complex/risky code.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on routine tasks.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On-Site Customer — The Most Controversial Practice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significant problem with agile methods." — Sommerville (2016, p.71)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024128"/>
            <a:ext cx="4160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24128"/>
            <a:ext cx="4160520" cy="3657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7899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6656" y="10424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Challenges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" y="1463040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" y="147218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5216" y="14630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 have full-time operational roles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9184" y="1810512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" y="181965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5216" y="18105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time is an opportunity cost orgs resist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9184" y="2157984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9184" y="216712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5216" y="21579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dev requires tolerance for incomplete software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9184" y="2505456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9184" y="25146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85216" y="25054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customers (BAs) reduce directness of feedback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9184" y="2852928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9184" y="28620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85216" y="28529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extends feedback cycles significantly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727448" y="1024128"/>
            <a:ext cx="4160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27448" y="1024128"/>
            <a:ext cx="416052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078992"/>
            <a:ext cx="256032" cy="25603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138928" y="10424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Solutions (2000–Present)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800600" y="1463040"/>
            <a:ext cx="4014216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46320" y="14813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Product Owner: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199632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Formalises proxy customer with real authority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800600" y="1810512"/>
            <a:ext cx="401421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46320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(Cucumber):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199632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business ↔ technical requirements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800600" y="2157984"/>
            <a:ext cx="4014216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846320" y="2176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Acceptance Criteria: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6199632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stories with testable conditions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800600" y="2505456"/>
            <a:ext cx="401421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46320" y="25237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Reviews: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199632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demos maintain engagement &amp; feedback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800600" y="2852928"/>
            <a:ext cx="4014216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846320" y="28712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Linear: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6199632" y="28712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backlog participation without full-time presence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256032" y="3456432"/>
            <a:ext cx="8631936" cy="137160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43"/>
          <p:cNvSpPr/>
          <p:nvPr/>
        </p:nvSpPr>
        <p:spPr>
          <a:xfrm>
            <a:off x="411480" y="35112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On-Site Customer Practice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347472" y="3840480"/>
            <a:ext cx="1481328" cy="841248"/>
          </a:xfrm>
          <a:prstGeom prst="rect">
            <a:avLst/>
          </a:prstGeom>
          <a:solidFill>
            <a:srgbClr val="2C5F8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47472" y="385876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(1999)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1828800" y="416966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Shape 47"/>
          <p:cNvSpPr/>
          <p:nvPr/>
        </p:nvSpPr>
        <p:spPr>
          <a:xfrm>
            <a:off x="2057400" y="3840480"/>
            <a:ext cx="1481328" cy="841248"/>
          </a:xfrm>
          <a:prstGeom prst="rect">
            <a:avLst/>
          </a:prstGeom>
          <a:solidFill>
            <a:srgbClr val="2C5F8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2057400" y="385876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 Proxy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(2000s)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3538728" y="416966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4" name="Shape 50"/>
          <p:cNvSpPr/>
          <p:nvPr/>
        </p:nvSpPr>
        <p:spPr>
          <a:xfrm>
            <a:off x="3767328" y="3840480"/>
            <a:ext cx="1481328" cy="841248"/>
          </a:xfrm>
          <a:prstGeom prst="rect">
            <a:avLst/>
          </a:prstGeom>
          <a:solidFill>
            <a:srgbClr val="2C5F8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767328" y="385876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PO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(2004)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5248656" y="416966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7" name="Shape 53"/>
          <p:cNvSpPr/>
          <p:nvPr/>
        </p:nvSpPr>
        <p:spPr>
          <a:xfrm>
            <a:off x="5477256" y="3840480"/>
            <a:ext cx="1481328" cy="841248"/>
          </a:xfrm>
          <a:prstGeom prst="rect">
            <a:avLst/>
          </a:prstGeom>
          <a:solidFill>
            <a:srgbClr val="2C5F8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5477256" y="385876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(2010s)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6958584" y="416966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0" name="Shape 56"/>
          <p:cNvSpPr/>
          <p:nvPr/>
        </p:nvSpPr>
        <p:spPr>
          <a:xfrm>
            <a:off x="7187184" y="3840480"/>
            <a:ext cx="1481328" cy="84124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187184" y="385876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(2024+)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XP vs Other Agile Frameworks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is the only Agile method that prescribes HOW to write code — not just how to manage the process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56032" y="1024128"/>
          <a:ext cx="4462272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64608" y="1024128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58368"/>
                <a:gridCol w="658368"/>
                <a:gridCol w="658368"/>
                <a:gridCol w="58521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C5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F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Practices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Full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⚬ 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Length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wks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wks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Feature-based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Ownership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class 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Small–Med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SAFe/LeSS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864608" y="3072384"/>
            <a:ext cx="4023360" cy="1481328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83480" y="3127248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XP is the "Engineering Agile"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983480" y="3474720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93792" y="347472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manages process — XP manages code quality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983480" y="3730752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93792" y="3730752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manages social dynamics — XP prevents defects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983480" y="3986784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93792" y="3986784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FDD manages delivery pipelines — XP manages technical excellence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983480" y="4242816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93792" y="4242816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Tarawneh et al. (2022): XP produces highest code quality scores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Agile Adoption Landscape (2023)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VersionOne 17th Annual State of Agile Report — XP practices adopted widely inside Scrum frameworks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56032" y="1024128"/>
          <a:ext cx="4370832" cy="34015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256032" y="4480560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Multiple responses permitted. Source: VersionOne (2023)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773168" y="1024128"/>
            <a:ext cx="41148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3168" y="1024128"/>
            <a:ext cx="4114800" cy="347472"/>
          </a:xfrm>
          <a:prstGeom prst="rect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64608" y="10424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Practice Adoption Inside Teams (%)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64608" y="1444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82512" y="1463040"/>
            <a:ext cx="32004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82512" y="1463040"/>
            <a:ext cx="2784348" cy="18288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12580" y="14630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64608" y="17739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82512" y="1792224"/>
            <a:ext cx="32004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82512" y="1792224"/>
            <a:ext cx="2272284" cy="182880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00516" y="17922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64608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382512" y="2121408"/>
            <a:ext cx="32004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82512" y="2121408"/>
            <a:ext cx="2016252" cy="182880"/>
          </a:xfrm>
          <a:prstGeom prst="rect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44484" y="21214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64608" y="2432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382512" y="2450592"/>
            <a:ext cx="32004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82512" y="2450592"/>
            <a:ext cx="1856232" cy="182880"/>
          </a:xfrm>
          <a:prstGeom prst="rect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84464" y="245059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64608" y="27614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Coll. Ownership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382512" y="2779776"/>
            <a:ext cx="32004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82512" y="2779776"/>
            <a:ext cx="1408176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36408" y="277977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64608" y="30906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382512" y="3108960"/>
            <a:ext cx="32004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82512" y="3108960"/>
            <a:ext cx="992124" cy="18288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20356" y="3108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864608" y="341985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Customer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382512" y="3438144"/>
            <a:ext cx="32004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382512" y="3438144"/>
            <a:ext cx="576072" cy="182880"/>
          </a:xfrm>
          <a:prstGeom prst="rect">
            <a:avLst/>
          </a:prstGeom>
          <a:solidFill>
            <a:srgbClr val="B0BE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004304" y="343814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864608" y="42245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XP practices are now standard engineering hygiene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Scrum/SAFe hybrid frameworks globally.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Evolution of XP (1996 – Present)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crisis response on C3 to the engineering backbone of modern DevOps culture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2816352"/>
            <a:ext cx="8631936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24128"/>
            <a:ext cx="1298448" cy="1664208"/>
          </a:xfrm>
          <a:prstGeom prst="rect">
            <a:avLst/>
          </a:prstGeom>
          <a:solidFill>
            <a:srgbClr val="1A3A5C">
              <a:alpha val="80000"/>
            </a:srgbClr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024128"/>
            <a:ext cx="1298448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0332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" y="1389888"/>
            <a:ext cx="12070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Project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 leads first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engagement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50392" y="2779776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3080" y="1024128"/>
            <a:ext cx="1298448" cy="1664208"/>
          </a:xfrm>
          <a:prstGeom prst="rect">
            <a:avLst/>
          </a:prstGeom>
          <a:solidFill>
            <a:srgbClr val="1A3A5C">
              <a:alpha val="80000"/>
            </a:srgbClr>
          </a:solidFill>
          <a:ln w="25400">
            <a:solidFill>
              <a:srgbClr val="2C5F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783080" y="1024128"/>
            <a:ext cx="1298448" cy="329184"/>
          </a:xfrm>
          <a:prstGeom prst="rect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10332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1389888"/>
            <a:ext cx="12070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"XP Explained"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Edition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 Beck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2779776"/>
            <a:ext cx="182880" cy="182880"/>
          </a:xfrm>
          <a:prstGeom prst="ellipse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18688" y="1024128"/>
            <a:ext cx="1298448" cy="1664208"/>
          </a:xfrm>
          <a:prstGeom prst="rect">
            <a:avLst/>
          </a:prstGeom>
          <a:solidFill>
            <a:srgbClr val="1A3A5C">
              <a:alpha val="80000"/>
            </a:srgbClr>
          </a:solidFill>
          <a:ln w="25400">
            <a:solidFill>
              <a:srgbClr val="6A4C9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1024128"/>
            <a:ext cx="1298448" cy="329184"/>
          </a:xfrm>
          <a:prstGeom prst="rect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10332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64408" y="1389888"/>
            <a:ext cx="12070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Manifesto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 among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signatories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21608" y="2779776"/>
            <a:ext cx="182880" cy="182880"/>
          </a:xfrm>
          <a:prstGeom prst="ellipse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54296" y="1024128"/>
            <a:ext cx="1298448" cy="1664208"/>
          </a:xfrm>
          <a:prstGeom prst="rect">
            <a:avLst/>
          </a:prstGeom>
          <a:solidFill>
            <a:srgbClr val="1A3A5C">
              <a:alpha val="80000"/>
            </a:srgbClr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54296" y="1024128"/>
            <a:ext cx="1298448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4296" y="10332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0016" y="1389888"/>
            <a:ext cx="12070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"XP Explained"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Ed — Respect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as 5th value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57216" y="2779776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9904" y="1024128"/>
            <a:ext cx="1298448" cy="1664208"/>
          </a:xfrm>
          <a:prstGeom prst="rect">
            <a:avLst/>
          </a:prstGeom>
          <a:solidFill>
            <a:srgbClr val="1A3A5C">
              <a:alpha val="80000"/>
            </a:srgbClr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1024128"/>
            <a:ext cx="1298448" cy="329184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10332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35624" y="1389888"/>
            <a:ext cx="12070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DevOps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practices go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592824" y="2779776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25512" y="1024128"/>
            <a:ext cx="1298448" cy="1664208"/>
          </a:xfrm>
          <a:prstGeom prst="rect">
            <a:avLst/>
          </a:prstGeom>
          <a:solidFill>
            <a:srgbClr val="1A3A5C">
              <a:alpha val="80000"/>
            </a:srgbClr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25512" y="1024128"/>
            <a:ext cx="1298448" cy="329184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25512" y="10332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2020+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571232" y="1389888"/>
            <a:ext cx="12070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drives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XP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28432" y="2779776"/>
            <a:ext cx="182880" cy="1828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2999232"/>
            <a:ext cx="2852928" cy="1792224"/>
          </a:xfrm>
          <a:prstGeom prst="rect">
            <a:avLst/>
          </a:prstGeom>
          <a:solidFill>
            <a:srgbClr val="1A3A5C">
              <a:alpha val="80000"/>
            </a:srgbClr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032" y="2999232"/>
            <a:ext cx="2852928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00837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→ 2nd Edition Changes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47472" y="3364992"/>
            <a:ext cx="267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Respect as 5th value · Distinguished primary vs corollary practices · Moderated absolutist prescriptions to context-sensitive guidance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27832" y="2999232"/>
            <a:ext cx="2852928" cy="1792224"/>
          </a:xfrm>
          <a:prstGeom prst="rect">
            <a:avLst/>
          </a:prstGeom>
          <a:solidFill>
            <a:srgbClr val="1A3A5C">
              <a:alpha val="80000"/>
            </a:srgbClr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27832" y="2999232"/>
            <a:ext cx="2852928" cy="329184"/>
          </a:xfrm>
          <a:prstGeom prst="rect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9272" y="300837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→ DevOps Connection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319272" y="3364992"/>
            <a:ext cx="267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· Trunk-based development · Infrastructure-as-Code · Feature flags — all rooted directly in XP engineering principles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99632" y="2999232"/>
            <a:ext cx="2852928" cy="1792224"/>
          </a:xfrm>
          <a:prstGeom prst="rect">
            <a:avLst/>
          </a:prstGeom>
          <a:solidFill>
            <a:srgbClr val="1A3A5C">
              <a:alpha val="80000"/>
            </a:srgbClr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99632" y="2999232"/>
            <a:ext cx="2852928" cy="329184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91072" y="300837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Era Adaptations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291072" y="3364992"/>
            <a:ext cx="267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pair programming (VSCode Live Share) · Async customer feedback · ScrumXP hybrids as dominant adoption pattern (2020+)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What Survived, What Evolved, What Was Left Behind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years of XP in industry practice — the scorecard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24128"/>
            <a:ext cx="2852928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24128"/>
            <a:ext cx="2852928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4241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ENDURED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1752" y="1481328"/>
            <a:ext cx="2706624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" y="1499616"/>
            <a:ext cx="54864" cy="402336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49047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→ Standard globally (JUnit, pytest, RSpec, Jasmine)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1752" y="1975104"/>
            <a:ext cx="27066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1993392"/>
            <a:ext cx="54864" cy="402336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98424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→ Full CI/CD pipelines (Jenkins, GitHub Actions, CircleCI)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1752" y="2468880"/>
            <a:ext cx="2706624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" y="2487168"/>
            <a:ext cx="54864" cy="402336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478024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→ IDE tooling makes it effortless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1752" y="2962656"/>
            <a:ext cx="27066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" y="2980944"/>
            <a:ext cx="54864" cy="402336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7180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iterations → Sprint &amp; Kanban cycles everywhere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1752" y="3456432"/>
            <a:ext cx="2706624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" y="3474720"/>
            <a:ext cx="54864" cy="402336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465576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 → Enforced by linters &amp; formatters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1752" y="3950208"/>
            <a:ext cx="27066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1752" y="3968496"/>
            <a:ext cx="54864" cy="402336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95935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design → YAGNI adopted industry-wide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1024128"/>
            <a:ext cx="2852928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1024128"/>
            <a:ext cx="2852928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104241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ADAPTED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73552" y="1481328"/>
            <a:ext cx="2706624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73552" y="1499616"/>
            <a:ext cx="54864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149047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Customer → Scrum Product Owner role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73552" y="1975104"/>
            <a:ext cx="27066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73552" y="1993392"/>
            <a:ext cx="54864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198424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 → Remote tools + PR code reviews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73552" y="2468880"/>
            <a:ext cx="2706624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73552" y="2487168"/>
            <a:ext cx="54864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2478024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40-hr Week → "Sustainable pace" as principle not rule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73552" y="2962656"/>
            <a:ext cx="27066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73552" y="2980944"/>
            <a:ext cx="54864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297180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Ownership → Feature team ownership model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73552" y="3456432"/>
            <a:ext cx="2706624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73552" y="3474720"/>
            <a:ext cx="54864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3465576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Game → Sprint Planning + Backlog Refinement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73552" y="3950208"/>
            <a:ext cx="27066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73552" y="3968496"/>
            <a:ext cx="54864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83280" y="395935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Metaphor → Domain-Driven Design (DDD) replaced it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72200" y="1024128"/>
            <a:ext cx="2852928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72200" y="1024128"/>
            <a:ext cx="2852928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104241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LARGELY ABANDONED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245352" y="1481328"/>
            <a:ext cx="2706624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45352" y="1499616"/>
            <a:ext cx="54864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149047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physical co-location → Distributed teams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45352" y="1975104"/>
            <a:ext cx="27066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45352" y="1993392"/>
            <a:ext cx="54864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198424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all-or-nothing XP → ScrumXP hybrids dominate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45352" y="2468880"/>
            <a:ext cx="2706624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45352" y="2487168"/>
            <a:ext cx="54864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55080" y="2478024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Metaphor practice → Superseded by DDD &amp; Event Storming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245352" y="2962656"/>
            <a:ext cx="27066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45352" y="2980944"/>
            <a:ext cx="54864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297180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 only constraint → SAFe/LeSS for scaling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45352" y="3456432"/>
            <a:ext cx="2706624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45352" y="3474720"/>
            <a:ext cx="54864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55080" y="3465576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12-practice rigidity → Selective adoption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245352" y="3950208"/>
            <a:ext cx="27066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45352" y="3968496"/>
            <a:ext cx="54864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55080" y="395935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integration processes → Fully automated pipelines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XP's Legacy in the DevOps &amp; Cloud Era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XP's engineering DNA is embedded in every modern CI/CD pipeline and cloud-native workflow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56032" y="1024128"/>
          <a:ext cx="55778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256032" y="431596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DORA State of DevOps Reports (2015–2023)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035040" y="1024128"/>
            <a:ext cx="2852928" cy="3767328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44768" y="107899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Practice → DevOps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08192" y="1444752"/>
            <a:ext cx="2706624" cy="420624"/>
          </a:xfrm>
          <a:prstGeom prst="rect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63056" y="146304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71232" y="146304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CI/CD Pipelines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08192" y="1920240"/>
            <a:ext cx="2706624" cy="420624"/>
          </a:xfrm>
          <a:prstGeom prst="rect">
            <a:avLst/>
          </a:prstGeom>
          <a:solidFill>
            <a:srgbClr val="1A3A5C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63056" y="193852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Releases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571232" y="193852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Continuous Deployment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08192" y="2395728"/>
            <a:ext cx="2706624" cy="420624"/>
          </a:xfrm>
          <a:prstGeom prst="rect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63056" y="241401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Ownership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571232" y="241401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Team Topologies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108192" y="2871216"/>
            <a:ext cx="2706624" cy="420624"/>
          </a:xfrm>
          <a:prstGeom prst="rect">
            <a:avLst/>
          </a:prstGeom>
          <a:solidFill>
            <a:srgbClr val="1A3A5C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63056" y="288950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571232" y="288950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Shift-Left Testing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108192" y="3346704"/>
            <a:ext cx="2706624" cy="420624"/>
          </a:xfrm>
          <a:prstGeom prst="rect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63056" y="33649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571232" y="336499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Infrastructure-as-Code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108192" y="3822192"/>
            <a:ext cx="2706624" cy="420624"/>
          </a:xfrm>
          <a:prstGeom prst="rect">
            <a:avLst/>
          </a:prstGeom>
          <a:solidFill>
            <a:srgbClr val="1A3A5C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63056" y="384048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Design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571232" y="384048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Microservices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Synthesis: XP Evaluated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balanced, evidence-based assessment drawn from 10 academic sources and two leading textbooks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024128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24128"/>
            <a:ext cx="416052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069848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" y="10424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" y="1463040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" y="147218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3504" y="1463040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technically rigorous Agile framework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9184" y="1792224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" y="180136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3504" y="1792224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reduces defects 40–90% (Nagappan et al., 2008)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9184" y="2121408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9184" y="213055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3504" y="212140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practices proven at industrial scale globally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9184" y="2450592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9184" y="245973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" y="2450592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ownership prevents knowledge-silo risk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9184" y="2779776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9184" y="27889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03504" y="2779776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prevents late-stage surprises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727448" y="1024128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27448" y="1024128"/>
            <a:ext cx="4160520" cy="3657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69848"/>
            <a:ext cx="256032" cy="25603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120640" y="10424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800600" y="1463040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00600" y="147218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074920" y="1463040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customer is organisationally unrealistic (Sommerville, 2016)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4800600" y="1792224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00600" y="180136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5074920" y="1792224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poorly to large teams without modification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800600" y="2121408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800600" y="213055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5074920" y="212140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discipline demands; unsuitable for inexperienced teams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800600" y="2450592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00600" y="245973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5074920" y="2450592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evidence is context-dependent (Ghafari, 2020)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800600" y="2779776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800600" y="27889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5074920" y="2779776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 requires sustained cultural buy-in</a:t>
            </a:r>
            <a:endParaRPr lang="en-US" sz="9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256032" y="3246120"/>
          <a:ext cx="8631936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by the Numbers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 from peer-reviewed research and industry reports spanning 25 years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Extreme Programming (XP)  ·  Group 1  ·  Thabiso Matsaba  ·  220296006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C5F8A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024128"/>
            <a:ext cx="2834640" cy="1664208"/>
          </a:xfrm>
          <a:prstGeom prst="rect">
            <a:avLst/>
          </a:prstGeom>
          <a:solidFill>
            <a:srgbClr val="1A3A5C">
              <a:alpha val="75000"/>
            </a:srgbClr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024128"/>
            <a:ext cx="28346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13385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40–90%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6032" y="1901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reduction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TDD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" y="24140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Nagappan et al. (2008)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46120" y="1024128"/>
            <a:ext cx="2834640" cy="1664208"/>
          </a:xfrm>
          <a:prstGeom prst="rect">
            <a:avLst/>
          </a:prstGeom>
          <a:solidFill>
            <a:srgbClr val="1A3A5C">
              <a:alpha val="75000"/>
            </a:srgbClr>
          </a:solidFill>
          <a:ln w="25400">
            <a:solidFill>
              <a:srgbClr val="2C5F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24128"/>
            <a:ext cx="2834640" cy="64008"/>
          </a:xfrm>
          <a:prstGeom prst="rect">
            <a:avLst/>
          </a:prstGeom>
          <a:solidFill>
            <a:srgbClr val="2C5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13385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246120" y="1901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overhead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24140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 et al. (2000)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36208" y="1024128"/>
            <a:ext cx="2834640" cy="1664208"/>
          </a:xfrm>
          <a:prstGeom prst="rect">
            <a:avLst/>
          </a:prstGeom>
          <a:solidFill>
            <a:srgbClr val="1A3A5C">
              <a:alpha val="75000"/>
            </a:srgbClr>
          </a:solidFill>
          <a:ln w="25400">
            <a:solidFill>
              <a:srgbClr val="6A4C9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36208" y="1024128"/>
            <a:ext cx="2834640" cy="64008"/>
          </a:xfrm>
          <a:prstGeom prst="rect">
            <a:avLst/>
          </a:prstGeom>
          <a:solidFill>
            <a:srgbClr val="6A4C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13385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236208" y="1901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reviewed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36208" y="24140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Hannay et al. (2010)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" y="2852928"/>
            <a:ext cx="2834640" cy="1664208"/>
          </a:xfrm>
          <a:prstGeom prst="rect">
            <a:avLst/>
          </a:prstGeom>
          <a:solidFill>
            <a:srgbClr val="1A3A5C">
              <a:alpha val="75000"/>
            </a:srgbClr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852928"/>
            <a:ext cx="283464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96265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256032" y="37307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teams now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CI/CD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" y="42428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VersionOne (2023)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46120" y="2852928"/>
            <a:ext cx="2834640" cy="1664208"/>
          </a:xfrm>
          <a:prstGeom prst="rect">
            <a:avLst/>
          </a:prstGeom>
          <a:solidFill>
            <a:srgbClr val="1A3A5C">
              <a:alpha val="75000"/>
            </a:srgbClr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2852928"/>
            <a:ext cx="283464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296265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3246120" y="37307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using XP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globally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46120" y="42428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VersionOne (2023)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36208" y="2852928"/>
            <a:ext cx="2834640" cy="1664208"/>
          </a:xfrm>
          <a:prstGeom prst="rect">
            <a:avLst/>
          </a:prstGeom>
          <a:solidFill>
            <a:srgbClr val="1A3A5C">
              <a:alpha val="75000"/>
            </a:srgbClr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36208" y="2852928"/>
            <a:ext cx="283464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296265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4200" dirty="0"/>
          </a:p>
        </p:txBody>
      </p:sp>
      <p:sp>
        <p:nvSpPr>
          <p:cNvPr id="38" name="Text 36"/>
          <p:cNvSpPr/>
          <p:nvPr/>
        </p:nvSpPr>
        <p:spPr>
          <a:xfrm>
            <a:off x="6236208" y="37307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studies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36208" y="42428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Rafique &amp; Misic (2013)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3840480" cy="3840480"/>
          </a:xfrm>
          <a:prstGeom prst="ellipse">
            <a:avLst/>
          </a:prstGeom>
          <a:solidFill>
            <a:srgbClr val="1A3A5C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2C5F8A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657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6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"XP's most enduring contribution is its insistence that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excellence is non-negotiable for sustained agility."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" y="2121408"/>
            <a:ext cx="8449056" cy="566928"/>
          </a:xfrm>
          <a:prstGeom prst="rect">
            <a:avLst/>
          </a:prstGeom>
          <a:solidFill>
            <a:srgbClr val="1A3A5C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2194560"/>
            <a:ext cx="420624" cy="42062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2231136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2176272"/>
            <a:ext cx="7717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&amp; CI have the strongest empirical support — 40–90% defect reduction (Nagappan et al., 2008)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761488"/>
            <a:ext cx="8449056" cy="566928"/>
          </a:xfrm>
          <a:prstGeom prst="rect">
            <a:avLst/>
          </a:prstGeom>
          <a:solidFill>
            <a:srgbClr val="1A3A5C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912" y="2834640"/>
            <a:ext cx="420624" cy="42062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287121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9264" y="2816352"/>
            <a:ext cx="7717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 quality benefits are clear; productivity impact is context-dependent (Hannay et al., 2010)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7472" y="3401568"/>
            <a:ext cx="8449056" cy="566928"/>
          </a:xfrm>
          <a:prstGeom prst="rect">
            <a:avLst/>
          </a:prstGeom>
          <a:solidFill>
            <a:srgbClr val="1A3A5C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38912" y="3474720"/>
            <a:ext cx="420624" cy="42062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51129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9264" y="3456432"/>
            <a:ext cx="7717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XP's engineering DNA lives in every modern CI/CD pipeline, DevOps workflow and cloud-native system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47472" y="4041648"/>
            <a:ext cx="8449056" cy="566928"/>
          </a:xfrm>
          <a:prstGeom prst="rect">
            <a:avLst/>
          </a:prstGeom>
          <a:solidFill>
            <a:srgbClr val="1A3A5C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38912" y="4114800"/>
            <a:ext cx="420624" cy="42062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15137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9264" y="4096512"/>
            <a:ext cx="7717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ScrumXP hybrids now dominate — XP practices adopted selectively inside Scrum and SAFe globally (VersionOne, 2023)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3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74320" y="479145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APT470S  ·  Applications Development Theory 4  ·  Group 1  ·  Thabiso Matsaba  ·  220296006  ·  Prof A. Ajibesin  ·  CPUT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Extreme Programming – APT470S</dc:title>
  <dc:subject>PptxGenJS Presentation</dc:subject>
  <dc:creator>Group 1</dc:creator>
  <cp:lastModifiedBy>Group 1</cp:lastModifiedBy>
  <cp:revision>1</cp:revision>
  <dcterms:created xsi:type="dcterms:W3CDTF">2026-03-10T14:42:08Z</dcterms:created>
  <dcterms:modified xsi:type="dcterms:W3CDTF">2026-03-10T14:42:08Z</dcterms:modified>
</cp:coreProperties>
</file>