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" y="0"/>
            <a:ext cx="9084564" cy="548640"/>
          </a:xfrm>
          <a:prstGeom prst="rect">
            <a:avLst/>
          </a:prstGeom>
          <a:solidFill>
            <a:srgbClr val="09152A"/>
          </a:solidFill>
          <a:ln w="12700">
            <a:solidFill>
              <a:srgbClr val="091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5486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2A5070"/>
                </a:solidFill>
              </a:rPr>
              <a:t>CAPE PENINSULA UNIVERSITY OF TECHNOLOGY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237744" y="25603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A90"/>
                </a:solidFill>
              </a:rPr>
              <a:t>APT470S  •  Extreme Programming (XP)  •  Group 1  • 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818120" y="91440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914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52A"/>
                </a:solidFill>
              </a:rPr>
              <a:t>Q3  •  10 Marks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7744" y="603504"/>
            <a:ext cx="868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XP Practices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" y="104241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90"/>
                </a:solidFill>
              </a:rPr>
              <a:t>Critical Evaluation  —  TDD  •  Pair Programming  •  Collective Ownership  •  Continuous Integration  •  On-site Customer  •  Refactoring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7744" y="1280160"/>
            <a:ext cx="8650224" cy="0"/>
          </a:xfrm>
          <a:prstGeom prst="line">
            <a:avLst/>
          </a:prstGeom>
          <a:noFill/>
          <a:ln w="12700">
            <a:solidFill>
              <a:srgbClr val="0C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" y="1380744"/>
            <a:ext cx="283464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344168"/>
            <a:ext cx="2834640" cy="1645920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344168"/>
            <a:ext cx="28346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42646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F5A623">
              <a:alpha val="18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426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</a:rPr>
              <a:t>TDD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10896" y="14264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Test-Driven Development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" y="1728216"/>
            <a:ext cx="1417320" cy="173736"/>
          </a:xfrm>
          <a:prstGeom prst="roundRect">
            <a:avLst>
              <a:gd name="adj" fmla="val 26316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72821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</a:rPr>
              <a:t>● Strongest Empirical Support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10896" y="1956816"/>
            <a:ext cx="2615184" cy="0"/>
          </a:xfrm>
          <a:prstGeom prst="line">
            <a:avLst/>
          </a:prstGeom>
          <a:noFill/>
          <a:ln w="9525">
            <a:solidFill>
              <a:srgbClr val="0C2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1168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Red–Green–Refactor cycle: write a failing test, make it pass, improve the code. Dybå &amp; Dingsøyr (2008) found TDD significantly reduces defect density. The most widely adopted XP practice in mainstream software — embraced by DevOps and CI/CD pipelines globally.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182112" y="1380744"/>
            <a:ext cx="283464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45536" y="1344168"/>
            <a:ext cx="2834640" cy="1645920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5536" y="1344168"/>
            <a:ext cx="28346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142646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38BDF8">
              <a:alpha val="18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1426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</a:rPr>
              <a:t>PP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55264" y="14264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9584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Programming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55264" y="1728216"/>
            <a:ext cx="1417320" cy="173736"/>
          </a:xfrm>
          <a:prstGeom prst="roundRect">
            <a:avLst>
              <a:gd name="adj" fmla="val 26316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172821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BDF8"/>
                </a:solidFill>
              </a:rPr>
              <a:t>● Strong Support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255264" y="1956816"/>
            <a:ext cx="2615184" cy="0"/>
          </a:xfrm>
          <a:prstGeom prst="line">
            <a:avLst/>
          </a:prstGeom>
          <a:noFill/>
          <a:ln w="9525">
            <a:solidFill>
              <a:srgbClr val="0C20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55264" y="201168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devs, one machine: one writes code (driver), one reviews in real time (navigator). Williams et al. (2000) show pairs produce higher-quality code with marginally more effort — offset by knowledge transfer, reduced bugs, and onboarding benefits.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126480" y="1380744"/>
            <a:ext cx="283464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9904" y="1344168"/>
            <a:ext cx="2834640" cy="1645920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9904" y="1344168"/>
            <a:ext cx="28346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142646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A78BFA">
              <a:alpha val="18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14264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CO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9632" y="142646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73952" y="14356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Collective Ownership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9632" y="1728216"/>
            <a:ext cx="1417320" cy="173736"/>
          </a:xfrm>
          <a:prstGeom prst="roundRect">
            <a:avLst>
              <a:gd name="adj" fmla="val 26316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172821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BDF8"/>
                </a:solidFill>
              </a:rPr>
              <a:t>● Strong Support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199632" y="1956816"/>
            <a:ext cx="2615184" cy="0"/>
          </a:xfrm>
          <a:prstGeom prst="line">
            <a:avLst/>
          </a:prstGeom>
          <a:noFill/>
          <a:ln w="9525">
            <a:solidFill>
              <a:srgbClr val="0C20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01168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member can change any code, any time. Eliminates bottlenecks from individual code ownership. Most effective when paired with TDD — tests act as a safety net preventing regressions when others refactor unfamiliar modules.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37744" y="3118104"/>
            <a:ext cx="283464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3081528"/>
            <a:ext cx="2834640" cy="1645920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081528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23744" y="316382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34D399">
              <a:alpha val="18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3744" y="31638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</a:rPr>
              <a:t>CI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10896" y="31638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85216" y="3172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Integration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0896" y="3465576"/>
            <a:ext cx="1417320" cy="173736"/>
          </a:xfrm>
          <a:prstGeom prst="roundRect">
            <a:avLst>
              <a:gd name="adj" fmla="val 26316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" y="346557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4D399"/>
                </a:solidFill>
              </a:rPr>
              <a:t>● Strongest Empirical Support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10896" y="3694176"/>
            <a:ext cx="2615184" cy="0"/>
          </a:xfrm>
          <a:prstGeom prst="line">
            <a:avLst/>
          </a:prstGeom>
          <a:noFill/>
          <a:ln w="9525">
            <a:solidFill>
              <a:srgbClr val="0C20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749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build multiple times per day. CI tools (Jenkins, GitHub Actions, CircleCI) have become industry standard well beyond XP. Fowler (2006) documented CI as one of the highest-impact practices for reducing integration risk and deployment pain.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182112" y="3118104"/>
            <a:ext cx="2834640" cy="16459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145536" y="3081528"/>
            <a:ext cx="2834640" cy="1645920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45536" y="3081528"/>
            <a:ext cx="283464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68112" y="316382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FB923C">
              <a:alpha val="18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31638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923C"/>
                </a:solidFill>
              </a:rPr>
              <a:t>OSC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55264" y="31638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🧑‍💼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3529584" y="31729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On-site Customer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55264" y="3465576"/>
            <a:ext cx="1417320" cy="173736"/>
          </a:xfrm>
          <a:prstGeom prst="roundRect">
            <a:avLst>
              <a:gd name="adj" fmla="val 26316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55264" y="346557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B923C"/>
                </a:solidFill>
              </a:rPr>
              <a:t>● Contested in Practice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3255264" y="3694176"/>
            <a:ext cx="2615184" cy="0"/>
          </a:xfrm>
          <a:prstGeom prst="line">
            <a:avLst/>
          </a:prstGeom>
          <a:noFill/>
          <a:ln w="9525">
            <a:solidFill>
              <a:srgbClr val="0C20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55264" y="3749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customer representative embedded with the team full-time. Ideal in theory; highly disruptive in practice. Remote work and distributed teams have forced adaptation — modern teams use Product Owner proxies, async tools, and sprint reviews as replacements.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26480" y="3118104"/>
            <a:ext cx="2834640" cy="740664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89904" y="3081528"/>
            <a:ext cx="2834640" cy="740664"/>
          </a:xfrm>
          <a:prstGeom prst="rect">
            <a:avLst/>
          </a:prstGeom>
          <a:solidFill>
            <a:srgbClr val="0B1E33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89904" y="3081528"/>
            <a:ext cx="283464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12480" y="3154680"/>
            <a:ext cx="411480" cy="182880"/>
          </a:xfrm>
          <a:prstGeom prst="roundRect">
            <a:avLst>
              <a:gd name="adj" fmla="val 25000"/>
            </a:avLst>
          </a:prstGeom>
          <a:solidFill>
            <a:srgbClr val="F472B6">
              <a:alpha val="18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31546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72B6"/>
                </a:solidFill>
              </a:rPr>
              <a:t>RF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199632" y="31546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🔧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455664" y="315468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Refactoring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199632" y="3410712"/>
            <a:ext cx="932688" cy="155448"/>
          </a:xfrm>
          <a:prstGeom prst="roundRect">
            <a:avLst>
              <a:gd name="adj" fmla="val 29412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341071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8BDF8"/>
                </a:solidFill>
              </a:rPr>
              <a:t>● Strong Support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6199632" y="362102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structure without changing behaviour — Fowler (1999). Best alongside TDD as a safety net.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089904" y="3858768"/>
            <a:ext cx="2816352" cy="837590"/>
          </a:xfrm>
          <a:prstGeom prst="rect">
            <a:avLst/>
          </a:prstGeom>
          <a:solidFill>
            <a:srgbClr val="030A14"/>
          </a:solidFill>
          <a:ln w="19050">
            <a:solidFill>
              <a:srgbClr val="0E20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9904" y="3858768"/>
            <a:ext cx="146304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9904" y="3858768"/>
            <a:ext cx="0" cy="146304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59952" y="3858768"/>
            <a:ext cx="146304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06256" y="3858768"/>
            <a:ext cx="0" cy="146304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9904" y="4696358"/>
            <a:ext cx="146304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9904" y="4550054"/>
            <a:ext cx="0" cy="146304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59952" y="4696358"/>
            <a:ext cx="146304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06256" y="4550054"/>
            <a:ext cx="0" cy="146304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72200" y="3922776"/>
            <a:ext cx="91440" cy="91440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81928" y="391820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5A623"/>
                </a:solidFill>
              </a:rPr>
              <a:t>LIVE  •  Thabiso Matsaba</a:t>
            </a:r>
            <a:endParaRPr lang="en-US" sz="650" dirty="0"/>
          </a:p>
        </p:txBody>
      </p:sp>
      <p:pic>
        <p:nvPicPr>
          <p:cNvPr id="8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4059936"/>
            <a:ext cx="2743200" cy="599846"/>
          </a:xfrm>
          <a:prstGeom prst="rect">
            <a:avLst/>
          </a:prstGeom>
        </p:spPr>
      </p:pic>
      <p:sp>
        <p:nvSpPr>
          <p:cNvPr id="88" name="Shape 85"/>
          <p:cNvSpPr/>
          <p:nvPr/>
        </p:nvSpPr>
        <p:spPr>
          <a:xfrm>
            <a:off x="59436" y="4974336"/>
            <a:ext cx="9084564" cy="169164"/>
          </a:xfrm>
          <a:prstGeom prst="rect">
            <a:avLst/>
          </a:prstGeom>
          <a:solidFill>
            <a:srgbClr val="030A14"/>
          </a:solidFill>
          <a:ln w="12700">
            <a:solidFill>
              <a:srgbClr val="030A14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37744" y="49834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E3A5F"/>
                </a:solidFill>
              </a:rPr>
              <a:t>Thabiso Matsaba  •  220296006  •  Q3: Core XP Practices</a:t>
            </a:r>
            <a:endParaRPr lang="en-US" sz="620" dirty="0"/>
          </a:p>
        </p:txBody>
      </p:sp>
      <p:sp>
        <p:nvSpPr>
          <p:cNvPr id="90" name="Text 87"/>
          <p:cNvSpPr/>
          <p:nvPr/>
        </p:nvSpPr>
        <p:spPr>
          <a:xfrm>
            <a:off x="5029200" y="49834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1E3A5F"/>
                </a:solidFill>
              </a:rPr>
              <a:t>Due: 11 March 2026  •  Slide 6 of 18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2026-03-02T22:19:52Z</dcterms:created>
  <dcterms:modified xsi:type="dcterms:W3CDTF">2026-03-02T22:19:52Z</dcterms:modified>
</cp:coreProperties>
</file>