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5329B8-C0A6-485C-AC76-69DF7FE2F821}" v="306" dt="2026-03-08T10:36:18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807F1-59FD-1438-7D99-47DDED18F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5C08-1EEA-B715-ECE6-D1251C188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238EE-2ED2-A256-193C-09680317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A917B-1130-D1A4-AD03-A2EC1E1B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D0B1B-76D3-6989-B97A-0A379B1B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4173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08F5E-7816-B25C-B0D5-DCFB49EBC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4C97A-E6A8-DEFF-0B9C-3940F74E3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5D3CC-B924-C5AD-C0A9-139A0AC9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0C6BE-576D-F70E-5362-02DCFAFE2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EEB32-4D61-1DD6-D992-FE1A80A2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9055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A4A9-2C25-E969-FB7F-4DCDD810D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5090B-F9D5-13FD-8DC7-ED1A374F7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09108-5392-BBE9-A0B3-AFD782024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64A81-5CD3-199F-DFE3-B025F304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17CBA-1622-B939-117F-57AA1B78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77518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94E0-6C8B-4739-8872-B8C7BA976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A4A50-C8EE-EF6F-D570-DCB008D1C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22B58-B625-EA8B-C273-18B9D7328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55AA7-81C2-1670-2CCD-E50C77132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5CF80-00F2-A2F9-94EB-5DC719EA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EF1A0-4A63-C989-021A-C2E24F62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285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5A4B-7052-9065-E21D-7CE6D29AA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98D84-6515-4039-C20B-D015D9C63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E11BF-EB12-5ACD-0E57-2B2C9264D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08287-A40C-7893-E82E-4FFCD52DD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43FD7-EDC9-1712-BD96-3FD07E57D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3244A-45C0-B267-CDC8-8FFC0B44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BF857-DFA4-0253-85A2-04AF3BBC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080D8F-15E6-3CF0-76FD-55426C37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7827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08BEA-866E-1815-24C4-704F086D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C42909-5E22-1216-11E2-CAA5818FB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61C70-A0FA-76B8-189E-90BAA565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1C250-F6B3-3CB8-3EF5-75FDC1CA4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1943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374E7-8216-1CD6-BFE3-0366689F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907C0-7286-AA40-97E5-5EFDEC2D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A639B-70F3-9226-343B-699E7730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3345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8D50-A26E-6495-2192-A8D19EF76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6D6F1-B3D0-161E-364D-8B0F6EB3E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8F513-ACC7-DB0A-F509-A7BFBEE74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B896C-753D-E2AD-BAB1-ADD22694B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4EF4D-4447-4EBC-E206-80986BF91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0190E-FD60-C3C7-1A11-BAE38F4F6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7419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276F-B34E-3DDD-2EE9-3FF24FB06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7ABC5-DEDB-5698-E30E-AB5F20D37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6ACA0-1EDE-94D4-5904-5B60ED1E5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64134-AC61-873B-C597-5DF471D7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D2873-A23D-6D15-71AE-9866D9FC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09EFE-2E05-77A8-B1C3-CDA83DF1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17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D865-D99B-C0B6-1CA6-26A47AC3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2B52B-653C-E3E4-26A6-36E831AB6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84AE9-C4CA-05BF-F0F2-DE919F836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F0874-8025-1999-CA57-99D120A2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913A-56B4-BE03-DAB2-9CB2AE69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202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B10EC-8ADC-2C28-E6B1-C251223EB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688AF-8EA9-3EEC-F6C0-516623F87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B8843-E549-B210-CC7A-9A2F9B4C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CF3E3-F6B6-2B48-67E4-2C299B52D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7D69B-186B-156E-CBFC-A8A1E797C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1108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F7C9C-A61C-0A64-9C6E-F3C99EAF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CAFC7-D682-CE8D-6BB0-1D4A229AE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FAB34-A8DA-151F-82B4-8859CF990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FBC76-4B2C-497F-B260-2F3ED3520D90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AD317-6FD3-55E2-8A02-F1FC0EB1A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9EA3E-9810-4104-76B9-A6FF98C7A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4EABF-CDBC-413A-8CFA-5FBFD69602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5739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1BACA-39CC-B4E5-0DA6-A63F5CC6D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PERT calculation process 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2DF6AD-E6A4-3625-4ADD-F9AA3D310F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0200"/>
                <a:ext cx="10515600" cy="489267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ZA" dirty="0"/>
                  <a:t>Draw the network using the AON or AOA convention.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ZA" dirty="0"/>
                  <a:t>Calculate the expected durations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Z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𝐸𝐷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ZA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ZA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ZA" b="0" i="1" smtClean="0">
                                <a:latin typeface="Cambria Math" panose="02040503050406030204" pitchFamily="18" charset="0"/>
                              </a:rPr>
                              <m:t>+4</m:t>
                            </m:r>
                            <m:r>
                              <a:rPr lang="en-ZA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ZA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ZA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ZA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lang="en-ZA" dirty="0"/>
                  <a:t> and use these as the durations on the network. (Hint: Use the ceiling(ED), i.e.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Z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𝐸𝐷</m:t>
                        </m:r>
                      </m:e>
                    </m:d>
                  </m:oMath>
                </a14:m>
                <a:r>
                  <a:rPr lang="en-ZA" dirty="0"/>
                  <a:t> e.g. given a number like 5.1 make it 6.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ZA" dirty="0"/>
                  <a:t>Calculate the early start and early finish times via the forward-pass and backward pass as usual.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ZA" dirty="0"/>
                  <a:t>For the activities or tasks that lie on the critical path; calculate the variances for each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Z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Z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Z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Z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ZA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ZA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ZA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num>
                                  <m:den>
                                    <m:r>
                                      <a:rPr lang="en-ZA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Z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ZA" dirty="0"/>
                  <a:t>; and add these variances to find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Z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ZA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ZA" dirty="0"/>
                  <a:t>.</a:t>
                </a:r>
              </a:p>
              <a:p>
                <a:endParaRPr lang="en-Z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2DF6AD-E6A4-3625-4ADD-F9AA3D310F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200"/>
                <a:ext cx="10515600" cy="4892675"/>
              </a:xfrm>
              <a:blipFill>
                <a:blip r:embed="rId2"/>
                <a:stretch>
                  <a:fillRect l="-1217" t="-2244" r="-1449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568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58B581-24EA-A019-B4D2-3CA5894762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1480"/>
                <a:ext cx="10515600" cy="5765483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5"/>
                </a:pPr>
                <a:r>
                  <a:rPr lang="en-ZA" dirty="0"/>
                  <a:t>Calculate the z value using the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ZA" i="1">
                        <a:latin typeface="Cambria Math" panose="02040503050406030204" pitchFamily="18" charset="0"/>
                      </a:rPr>
                      <m:t>z</m:t>
                    </m:r>
                    <m:r>
                      <a:rPr lang="en-Z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Z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ZA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ZA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Z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ZA" i="1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</m:oMath>
                </a14:m>
                <a:r>
                  <a:rPr lang="en-ZA" dirty="0"/>
                  <a:t>, where x is a particular end date.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ZA" dirty="0"/>
                  <a:t>Look up the probability using the z-table.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endParaRPr lang="en-ZA" dirty="0"/>
              </a:p>
              <a:p>
                <a:pPr marL="0" indent="0">
                  <a:buNone/>
                </a:pPr>
                <a:r>
                  <a:rPr lang="en-ZA" dirty="0"/>
                  <a:t>Alternatively, if given a probability, and required to determine an end time, then the formula must be utilised as follows:</a:t>
                </a:r>
              </a:p>
              <a:p>
                <a:pPr marL="0" indent="0">
                  <a:buNone/>
                </a:pPr>
                <a:endParaRPr lang="en-ZA" dirty="0"/>
              </a:p>
              <a:p>
                <a:pPr marL="514350" indent="-514350">
                  <a:lnSpc>
                    <a:spcPct val="70000"/>
                  </a:lnSpc>
                  <a:buFont typeface="+mj-lt"/>
                  <a:buAutoNum type="arabicPeriod" startAt="5"/>
                </a:pPr>
                <a:r>
                  <a:rPr lang="en-ZA" sz="2600" dirty="0"/>
                  <a:t>Look up the z value associated with the probability using the z-table.</a:t>
                </a:r>
              </a:p>
              <a:p>
                <a:pPr marL="514350" indent="-514350">
                  <a:lnSpc>
                    <a:spcPct val="70000"/>
                  </a:lnSpc>
                  <a:buFont typeface="+mj-lt"/>
                  <a:buAutoNum type="arabicPeriod" startAt="5"/>
                </a:pPr>
                <a:r>
                  <a:rPr lang="en-ZA" sz="2600" dirty="0"/>
                  <a:t>Calculate the duration or end time using </a:t>
                </a:r>
                <a14:m>
                  <m:oMath xmlns:m="http://schemas.openxmlformats.org/officeDocument/2006/math">
                    <m:r>
                      <a:rPr lang="en-ZA" sz="2600"/>
                      <m:t>𝑥</m:t>
                    </m:r>
                    <m:r>
                      <a:rPr lang="en-ZA" sz="2600"/>
                      <m:t>=</m:t>
                    </m:r>
                    <m:r>
                      <a:rPr lang="en-ZA" sz="2600"/>
                      <m:t>𝑧𝑠</m:t>
                    </m:r>
                    <m:r>
                      <a:rPr lang="en-ZA" sz="2600"/>
                      <m:t>+</m:t>
                    </m:r>
                    <m:r>
                      <a:rPr lang="en-ZA" sz="2600"/>
                      <m:t>𝜇</m:t>
                    </m:r>
                  </m:oMath>
                </a14:m>
                <a:r>
                  <a:rPr lang="en-ZA" sz="2600" dirty="0"/>
                  <a:t>.</a:t>
                </a:r>
              </a:p>
              <a:p>
                <a:endParaRPr lang="en-Z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58B581-24EA-A019-B4D2-3CA5894762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1480"/>
                <a:ext cx="10515600" cy="5765483"/>
              </a:xfrm>
              <a:blipFill>
                <a:blip r:embed="rId2"/>
                <a:stretch>
                  <a:fillRect l="-1217" t="-847" r="-168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8394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4C7E0E2-41B0-44BF-B5F3-E112B49F306B}">
  <we:reference id="WA200004052" version="1.0.0.2" store="Omex" storeType="OMEX"/>
  <we:alternateReferences>
    <we:reference id="WA200004052" version="1.0.0.2" store="WA200004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4553</TotalTime>
  <Words>177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PERT calculation process summary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2</cp:revision>
  <dcterms:created xsi:type="dcterms:W3CDTF">2026-03-05T06:39:07Z</dcterms:created>
  <dcterms:modified xsi:type="dcterms:W3CDTF">2026-03-08T10:38:53Z</dcterms:modified>
</cp:coreProperties>
</file>