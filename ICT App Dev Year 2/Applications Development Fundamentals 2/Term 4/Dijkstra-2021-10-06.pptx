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58" r:id="rId6"/>
    <p:sldId id="259" r:id="rId7"/>
    <p:sldId id="260" r:id="rId8"/>
    <p:sldId id="292" r:id="rId9"/>
    <p:sldId id="293" r:id="rId10"/>
    <p:sldId id="291" r:id="rId11"/>
    <p:sldId id="261" r:id="rId12"/>
    <p:sldId id="262" r:id="rId13"/>
    <p:sldId id="263" r:id="rId14"/>
    <p:sldId id="264" r:id="rId15"/>
    <p:sldId id="265" r:id="rId16"/>
    <p:sldId id="266" r:id="rId17"/>
    <p:sldId id="290" r:id="rId18"/>
    <p:sldId id="267" r:id="rId19"/>
    <p:sldId id="268" r:id="rId20"/>
    <p:sldId id="289"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270" r:id="rId34"/>
    <p:sldId id="271" r:id="rId35"/>
    <p:sldId id="272" r:id="rId36"/>
    <p:sldId id="273" r:id="rId37"/>
    <p:sldId id="274" r:id="rId38"/>
    <p:sldId id="275" r:id="rId39"/>
    <p:sldId id="276" r:id="rId40"/>
    <p:sldId id="277" r:id="rId41"/>
    <p:sldId id="278" r:id="rId42"/>
    <p:sldId id="29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S PGothic" panose="020B0600070205080204" pitchFamily="-101" charset="-128"/>
              <a:cs typeface="MS PGothic" panose="020B0600070205080204" pitchFamily="-101" charset="-128"/>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p>
            <a:pPr lvl="0"/>
            <a:r>
              <a:rPr dirty="0"/>
              <a:t>Click to edit Master title style</a:t>
            </a:r>
            <a:endParaRPr dirty="0"/>
          </a:p>
        </p:txBody>
      </p:sp>
      <p:sp>
        <p:nvSpPr>
          <p:cNvPr id="1027" name="Text Placeholder 2"/>
          <p:cNvSpPr>
            <a:spLocks noGrp="1"/>
          </p:cNvSpPr>
          <p:nvPr>
            <p:ph type="body" idx="1"/>
          </p:nvPr>
        </p:nvSpPr>
        <p:spPr>
          <a:xfrm>
            <a:off x="609600" y="1600200"/>
            <a:ext cx="109728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lstStyle>
            <a:lvl1pPr>
              <a:defRPr sz="1200">
                <a:solidFill>
                  <a:srgbClr val="898989"/>
                </a:solidFill>
                <a:latin typeface="Calibri" panose="020F0502020204030204" charset="0"/>
              </a:defRPr>
            </a:lvl1pPr>
          </a:lstStyle>
          <a:p>
            <a:pPr lvl="0" eaLnBrk="1" hangingPunct="1"/>
            <a:fld id="{BB962C8B-B14F-4D97-AF65-F5344CB8AC3E}" type="datetime1">
              <a:rPr lang="en-US" dirty="0"/>
            </a:fld>
            <a:endParaRPr lang="en-US" dirty="0">
              <a:latin typeface="Arial" panose="020B0604020202020204" pitchFamily="34" charset="0"/>
            </a:endParaRPr>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charset="0"/>
              </a:defRPr>
            </a:lvl1pPr>
          </a:lstStyle>
          <a:p>
            <a:pPr lvl="0" eaLnBrk="1" hangingPunct="1"/>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101" charset="-128"/>
          <a:cs typeface="MS PGothic" panose="020B0600070205080204" pitchFamily="-101" charset="-128"/>
        </a:defRPr>
      </a:lvl1pPr>
      <a:lvl2pPr algn="ctr" defTabSz="457200" rtl="0" eaLnBrk="0" fontAlgn="base" hangingPunct="0">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2pPr>
      <a:lvl3pPr algn="ctr" defTabSz="457200" rtl="0" eaLnBrk="0" fontAlgn="base" hangingPunct="0">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3pPr>
      <a:lvl4pPr algn="ctr" defTabSz="457200" rtl="0" eaLnBrk="0" fontAlgn="base" hangingPunct="0">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4pPr>
      <a:lvl5pPr algn="ctr" defTabSz="457200" rtl="0" eaLnBrk="0" fontAlgn="base" hangingPunct="0">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5pPr>
      <a:lvl6pPr marL="457200" algn="ctr" defTabSz="457200" rtl="0" fontAlgn="base">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6pPr>
      <a:lvl7pPr marL="914400" algn="ctr" defTabSz="457200" rtl="0" fontAlgn="base">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7pPr>
      <a:lvl8pPr marL="1371600" algn="ctr" defTabSz="457200" rtl="0" fontAlgn="base">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8pPr>
      <a:lvl9pPr marL="1828800" algn="ctr" defTabSz="457200" rtl="0" fontAlgn="base">
        <a:spcBef>
          <a:spcPct val="0"/>
        </a:spcBef>
        <a:spcAft>
          <a:spcPct val="0"/>
        </a:spcAft>
        <a:defRPr sz="4400">
          <a:solidFill>
            <a:schemeClr val="tx1"/>
          </a:solidFill>
          <a:latin typeface="Calibri" panose="020F0502020204030204" charset="0"/>
          <a:ea typeface="MS PGothic" panose="020B0600070205080204" pitchFamily="-101" charset="-128"/>
          <a:cs typeface="MS PGothic" panose="020B0600070205080204" pitchFamily="-101"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101" charset="-128"/>
          <a:cs typeface="MS PGothic" panose="020B0600070205080204" pitchFamily="-101"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101"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101"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01"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01"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Dijkstra's Algorithm</a:t>
            </a:r>
            <a:endParaRPr lang="en-US"/>
          </a:p>
        </p:txBody>
      </p:sp>
      <p:sp>
        <p:nvSpPr>
          <p:cNvPr id="3" name="Subtitle 2"/>
          <p:cNvSpPr>
            <a:spLocks noGrp="1"/>
          </p:cNvSpPr>
          <p:nvPr>
            <p:ph type="subTitle" idx="1"/>
          </p:nvPr>
        </p:nvSpPr>
        <p:spPr/>
        <p:txBody>
          <a:bodyPr/>
          <a:p>
            <a:r>
              <a:rPr lang="en-ZA" altLang="en-US"/>
              <a:t>Delivered by : Mr Zukile Ndyalivana</a:t>
            </a:r>
            <a:endParaRPr lang="en-ZA"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60000"/>
          </a:bodyPr>
          <a:p>
            <a:pPr marL="0" indent="0">
              <a:buNone/>
            </a:pPr>
            <a:r>
              <a:rPr lang="en-ZA" altLang="en-US" b="1"/>
              <a:t>Shortest Path Problem</a:t>
            </a:r>
            <a:endParaRPr lang="en-ZA" altLang="en-US" b="1"/>
          </a:p>
          <a:p>
            <a:r>
              <a:rPr lang="en-ZA" altLang="en-US"/>
              <a:t>Have you ever used Google Maps to find the shortest route or minimum cost of gas to get from one point to another? </a:t>
            </a:r>
            <a:endParaRPr lang="en-ZA" altLang="en-US"/>
          </a:p>
          <a:p>
            <a:r>
              <a:rPr lang="en-ZA" altLang="en-US"/>
              <a:t>If so, then you've encountered an example of the </a:t>
            </a:r>
            <a:r>
              <a:rPr lang="en-ZA" altLang="en-US" b="1"/>
              <a:t>shortest path problem</a:t>
            </a:r>
            <a:r>
              <a:rPr lang="en-ZA" altLang="en-US"/>
              <a:t>. </a:t>
            </a:r>
            <a:endParaRPr lang="en-ZA" altLang="en-US"/>
          </a:p>
          <a:p>
            <a:r>
              <a:rPr lang="en-ZA" altLang="en-US"/>
              <a:t>In math terms, this is a way to find the shortest possible distance between two vertices on a graph.</a:t>
            </a:r>
            <a:endParaRPr lang="en-ZA" altLang="en-US"/>
          </a:p>
          <a:p>
            <a:endParaRPr lang="en-ZA" altLang="en-US"/>
          </a:p>
          <a:p>
            <a:r>
              <a:rPr lang="en-ZA" altLang="en-US" b="1"/>
              <a:t>Suppose </a:t>
            </a:r>
            <a:endParaRPr lang="en-ZA" altLang="en-US" b="1"/>
          </a:p>
          <a:p>
            <a:pPr marL="457200" lvl="1" indent="0">
              <a:buNone/>
            </a:pPr>
            <a:r>
              <a:rPr lang="en-ZA" altLang="en-US"/>
              <a:t>we're trying to find the shortest path from your house to Divya's house. </a:t>
            </a:r>
            <a:endParaRPr lang="en-ZA" altLang="en-US"/>
          </a:p>
          <a:p>
            <a:pPr marL="457200" lvl="1" indent="0">
              <a:buNone/>
            </a:pPr>
            <a:r>
              <a:rPr lang="en-ZA" altLang="en-US"/>
              <a:t>We know the distances between various locations throughout town. </a:t>
            </a:r>
            <a:endParaRPr lang="en-ZA" altLang="en-US"/>
          </a:p>
          <a:p>
            <a:pPr marL="457200" lvl="1" indent="0">
              <a:buNone/>
            </a:pPr>
            <a:r>
              <a:rPr lang="en-ZA" altLang="en-US"/>
              <a:t>If we let various locations be </a:t>
            </a:r>
            <a:r>
              <a:rPr lang="en-ZA" altLang="en-US" b="1"/>
              <a:t>vertices </a:t>
            </a:r>
            <a:r>
              <a:rPr lang="en-ZA" altLang="en-US"/>
              <a:t>and the routes between them be</a:t>
            </a:r>
            <a:r>
              <a:rPr lang="en-ZA" altLang="en-US" b="1"/>
              <a:t> edges</a:t>
            </a:r>
            <a:r>
              <a:rPr lang="en-ZA" altLang="en-US"/>
              <a:t>,</a:t>
            </a:r>
            <a:endParaRPr lang="en-ZA" altLang="en-US"/>
          </a:p>
          <a:p>
            <a:pPr marL="457200" lvl="1" indent="0">
              <a:buNone/>
            </a:pPr>
            <a:r>
              <a:rPr lang="en-ZA" altLang="en-US"/>
              <a:t> we can create a weighted graph representing the situation. </a:t>
            </a:r>
            <a:endParaRPr lang="en-ZA" altLang="en-US"/>
          </a:p>
          <a:p>
            <a:pPr marL="457200" lvl="1" indent="0">
              <a:buNone/>
            </a:pPr>
            <a:r>
              <a:rPr lang="en-ZA" altLang="en-US" b="1"/>
              <a:t>Quick definition: </a:t>
            </a:r>
            <a:r>
              <a:rPr lang="en-ZA" altLang="en-US"/>
              <a:t>a weighted graph is a collection of </a:t>
            </a:r>
            <a:r>
              <a:rPr lang="en-ZA" altLang="en-US" b="1"/>
              <a:t>vertices</a:t>
            </a:r>
            <a:r>
              <a:rPr lang="en-ZA" altLang="en-US"/>
              <a:t> and </a:t>
            </a:r>
            <a:r>
              <a:rPr lang="en-ZA" altLang="en-US" b="1"/>
              <a:t>edges</a:t>
            </a:r>
            <a:r>
              <a:rPr lang="en-ZA" altLang="en-US"/>
              <a:t> with edges having </a:t>
            </a:r>
            <a:r>
              <a:rPr lang="en-ZA" altLang="en-US" b="1"/>
              <a:t>a numerical value (or weight) </a:t>
            </a:r>
            <a:r>
              <a:rPr lang="en-ZA" altLang="en-US"/>
              <a:t>associated with them.</a:t>
            </a:r>
            <a:endParaRPr lang="en-ZA"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787775" y="2100580"/>
            <a:ext cx="4499610" cy="34975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ZA" altLang="en-US"/>
              <a:t>T</a:t>
            </a:r>
            <a:r>
              <a:rPr lang="en-US"/>
              <a:t>his graph is a great example of a weighted graph using the terms that we just laid out. </a:t>
            </a:r>
            <a:endParaRPr lang="en-US"/>
          </a:p>
          <a:p>
            <a:r>
              <a:rPr lang="en-US"/>
              <a:t>There are quite a few different routes we could take, but we want to know which one is the </a:t>
            </a:r>
            <a:r>
              <a:rPr lang="en-US" b="1"/>
              <a:t>shortest</a:t>
            </a:r>
            <a:r>
              <a:rPr lang="en-US"/>
              <a:t>. </a:t>
            </a:r>
            <a:br>
              <a:rPr lang="en-US"/>
            </a:br>
            <a:r>
              <a:rPr lang="en-US"/>
              <a:t>Thankfully, we've got a nice </a:t>
            </a:r>
            <a:r>
              <a:rPr lang="en-US" b="1"/>
              <a:t>algorithm that can help us.</a:t>
            </a:r>
            <a:endParaRPr 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lnSpcReduction="20000"/>
          </a:bodyPr>
          <a:p>
            <a:pPr marL="0" indent="0">
              <a:buNone/>
            </a:pPr>
            <a:r>
              <a:rPr lang="en-US"/>
              <a:t>Dijkstra's Algorithm</a:t>
            </a:r>
            <a:endParaRPr lang="en-US"/>
          </a:p>
          <a:p>
            <a:r>
              <a:rPr lang="en-US"/>
              <a:t>Dijkstra's algorithm is an algorithm we can use to find shortest distances or minimum costs depending on what is represented in a graph.</a:t>
            </a:r>
            <a:endParaRPr lang="en-US"/>
          </a:p>
          <a:p>
            <a:r>
              <a:rPr lang="en-US"/>
              <a:t> You're basically working backwards from the </a:t>
            </a:r>
            <a:r>
              <a:rPr lang="en-US" b="1"/>
              <a:t>end to the beginning</a:t>
            </a:r>
            <a:r>
              <a:rPr lang="en-US"/>
              <a:t>, finding the shortest </a:t>
            </a:r>
            <a:r>
              <a:rPr lang="en-US" b="1"/>
              <a:t>leg each time</a:t>
            </a:r>
            <a:r>
              <a:rPr lang="en-US"/>
              <a:t>. </a:t>
            </a:r>
            <a:endParaRPr lang="en-US"/>
          </a:p>
          <a:p>
            <a:r>
              <a:rPr lang="en-US"/>
              <a:t>Dijkstra's algorithm makes use of weights of the edges for finding the path that minimizes the total distance (weight) among the source node and all other nodes. </a:t>
            </a:r>
            <a:endParaRPr lang="en-US"/>
          </a:p>
          <a:p>
            <a:r>
              <a:rPr lang="en-US"/>
              <a:t>This algorithm is also known as the single-source shortest path algorithm.</a:t>
            </a:r>
            <a:endParaRPr 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Dijkstra’s algorithm is the iterative algorithmic process to provide us with the shortest path from one specific starting node to all other nodes of a graph. </a:t>
            </a:r>
            <a:endParaRPr lang="en-US"/>
          </a:p>
          <a:p>
            <a:r>
              <a:rPr lang="en-US"/>
              <a:t>It is different from the minimum spanning tree as the shortest distance among two vertices might not involve all the vertices of the graph.</a:t>
            </a:r>
            <a:endParaRPr lang="en-US"/>
          </a:p>
          <a:p>
            <a:r>
              <a:rPr lang="en-ZA" altLang="en-US" b="1"/>
              <a:t>N</a:t>
            </a:r>
            <a:r>
              <a:rPr lang="en-US" b="1"/>
              <a:t>ote</a:t>
            </a:r>
            <a:r>
              <a:rPr lang="en-ZA" altLang="en-US" b="1"/>
              <a:t>:</a:t>
            </a:r>
            <a:r>
              <a:rPr lang="en-US"/>
              <a:t> that Dijkstra’s algorithm is only applicable when all weights are positive because, during the execution, the weights of the edges are added to find the shortest path.</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And therefore if any of the weights are introduced to be negative on the edges of the graph, the algorithm would never work properly. </a:t>
            </a:r>
            <a:endParaRPr lang="en-US"/>
          </a:p>
          <a:p>
            <a:r>
              <a:rPr lang="en-US"/>
              <a:t>However, some algorithms like the Bellman-Ford Algorithm can be used in such cases.</a:t>
            </a:r>
            <a:endParaRPr lang="en-US"/>
          </a:p>
          <a:p>
            <a:r>
              <a:rPr lang="en-US"/>
              <a:t>Generally, Dijkstra’s algorithm works on the principle of relaxation where an approximation of the accurate distance is steadily displaced by more suitable values until the shortest distance is achieved.</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sym typeface="+mn-ea"/>
              </a:rPr>
              <a:t>The steps to this algorithm are as follows:</a:t>
            </a:r>
            <a:endParaRPr lang="en-US"/>
          </a:p>
          <a:p>
            <a:endParaRPr lang="en-US"/>
          </a:p>
          <a:p>
            <a:r>
              <a:rPr lang="en-US">
                <a:sym typeface="+mn-ea"/>
              </a:rPr>
              <a:t>Step 1: Start at the ending vertex by marking it with a</a:t>
            </a:r>
            <a:r>
              <a:rPr lang="en-US" b="1">
                <a:sym typeface="+mn-ea"/>
              </a:rPr>
              <a:t> distance of 0,</a:t>
            </a:r>
            <a:r>
              <a:rPr lang="en-US">
                <a:sym typeface="+mn-ea"/>
              </a:rPr>
              <a:t> because it's 0 units from the end. </a:t>
            </a:r>
            <a:endParaRPr lang="en-US"/>
          </a:p>
          <a:p>
            <a:r>
              <a:rPr lang="en-US">
                <a:sym typeface="+mn-ea"/>
              </a:rPr>
              <a:t>Call this vertex your </a:t>
            </a:r>
            <a:r>
              <a:rPr lang="en-US" b="1">
                <a:sym typeface="+mn-ea"/>
              </a:rPr>
              <a:t>current vertex</a:t>
            </a:r>
            <a:r>
              <a:rPr lang="en-US">
                <a:sym typeface="+mn-ea"/>
              </a:rPr>
              <a:t>, and put a </a:t>
            </a:r>
            <a:r>
              <a:rPr lang="en-US" b="1">
                <a:sym typeface="+mn-ea"/>
              </a:rPr>
              <a:t>circle around it indicating</a:t>
            </a:r>
            <a:r>
              <a:rPr lang="en-US">
                <a:sym typeface="+mn-ea"/>
              </a:rPr>
              <a:t> as such.</a:t>
            </a:r>
            <a:endParaRPr 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Step 2: #Identify all of the vertices that are connected to the current vertex with an</a:t>
            </a:r>
            <a:r>
              <a:rPr lang="en-US" b="1"/>
              <a:t> edge</a:t>
            </a:r>
            <a:r>
              <a:rPr lang="en-US"/>
              <a:t>. </a:t>
            </a:r>
            <a:endParaRPr lang="en-US"/>
          </a:p>
          <a:p>
            <a:r>
              <a:rPr lang="en-US"/>
              <a:t>Calculate their distance to the end by adding the weight of the edge to the mark on the</a:t>
            </a:r>
            <a:r>
              <a:rPr lang="en-US" b="1"/>
              <a:t> current vertex</a:t>
            </a:r>
            <a:r>
              <a:rPr lang="en-US"/>
              <a:t>. </a:t>
            </a:r>
            <a:endParaRPr lang="en-US"/>
          </a:p>
          <a:p>
            <a:r>
              <a:rPr lang="en-US"/>
              <a:t>Mark each of the vertices with their corresponding distance, but only change a vertex's mark if it's less than a previous mark.</a:t>
            </a:r>
            <a:endParaRPr lang="en-US"/>
          </a:p>
          <a:p>
            <a:r>
              <a:rPr lang="en-US"/>
              <a:t> Each time you mark the starting vertex with a mark, </a:t>
            </a:r>
            <a:r>
              <a:rPr lang="en-US" b="1"/>
              <a:t>keep track</a:t>
            </a:r>
            <a:r>
              <a:rPr lang="en-US"/>
              <a:t> of the path that resulted in that mark.</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Step 3: Label the current vertex as visited by putting an </a:t>
            </a:r>
            <a:r>
              <a:rPr lang="en-US" b="1"/>
              <a:t>X over it</a:t>
            </a:r>
            <a:r>
              <a:rPr lang="en-US"/>
              <a:t>. Once a vertex is visited,</a:t>
            </a:r>
            <a:r>
              <a:rPr lang="en-US" b="1"/>
              <a:t> we won't look at it again.</a:t>
            </a:r>
            <a:endParaRPr lang="en-US"/>
          </a:p>
          <a:p>
            <a:endParaRPr lang="en-US"/>
          </a:p>
          <a:p>
            <a:r>
              <a:rPr lang="en-US"/>
              <a:t>Step 4: Of the vertices you just marked, find the one with the </a:t>
            </a:r>
            <a:r>
              <a:rPr lang="en-US" b="1"/>
              <a:t>smallest mark,</a:t>
            </a:r>
            <a:r>
              <a:rPr lang="en-US"/>
              <a:t> and make </a:t>
            </a:r>
            <a:r>
              <a:rPr lang="en-US" b="1"/>
              <a:t>it your current verte</a:t>
            </a:r>
            <a:r>
              <a:rPr lang="en-US"/>
              <a:t>x. </a:t>
            </a:r>
            <a:endParaRPr lang="en-US"/>
          </a:p>
          <a:p>
            <a:r>
              <a:rPr lang="en-US"/>
              <a:t>Now, you can start again </a:t>
            </a:r>
            <a:r>
              <a:rPr lang="en-US" b="1"/>
              <a:t>from step 2</a:t>
            </a:r>
            <a:r>
              <a:rPr lang="en-US"/>
              <a: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ZA" altLang="en-US"/>
              <a:t>S</a:t>
            </a:r>
            <a:r>
              <a:rPr lang="en-US"/>
              <a:t>tep 5: Once you've labeled the beginning vertex as visited - stop. The distance of the shortest path is the mark of the starting vertex, and the shortest path is the path that resulted in that mark.</a:t>
            </a:r>
            <a:endParaRPr lang="en-US"/>
          </a:p>
          <a:p>
            <a:endParaRPr lang="en-US"/>
          </a:p>
          <a:p>
            <a:r>
              <a:rPr lang="en-US"/>
              <a:t>Let's now consider finding the shortest path from your house to Divya's house to illustrate this algorithm.</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sp>
        <p:nvSpPr>
          <p:cNvPr id="3" name="Content Placeholder 2"/>
          <p:cNvSpPr>
            <a:spLocks noGrp="1"/>
          </p:cNvSpPr>
          <p:nvPr>
            <p:ph sz="half" idx="1"/>
          </p:nvPr>
        </p:nvSpPr>
        <p:spPr/>
        <p:txBody>
          <a:bodyPr/>
          <a:p>
            <a:pPr marL="0" indent="0">
              <a:buNone/>
            </a:pPr>
            <a:r>
              <a:rPr lang="en-US"/>
              <a:t>Application</a:t>
            </a:r>
            <a:endParaRPr lang="en-US"/>
          </a:p>
          <a:p>
            <a:r>
              <a:rPr lang="en-US"/>
              <a:t>First, we start at the ending vertex </a:t>
            </a:r>
            <a:r>
              <a:rPr lang="en-US" b="1"/>
              <a:t>(Divya's house)</a:t>
            </a:r>
            <a:r>
              <a:rPr lang="en-US"/>
              <a:t>.</a:t>
            </a:r>
            <a:endParaRPr lang="en-US"/>
          </a:p>
          <a:p>
            <a:r>
              <a:rPr lang="en-US"/>
              <a:t> Mark it with a zero and call this vertex the current vertex, putting a circle around it, as you can see on the graph:</a:t>
            </a:r>
            <a:endParaRPr lang="en-US"/>
          </a:p>
          <a:p>
            <a:endParaRPr lang="en-US"/>
          </a:p>
        </p:txBody>
      </p:sp>
      <p:pic>
        <p:nvPicPr>
          <p:cNvPr id="4" name="Content Placeholder 3"/>
          <p:cNvPicPr>
            <a:picLocks noChangeAspect="1"/>
          </p:cNvPicPr>
          <p:nvPr>
            <p:ph sz="half" idx="2"/>
          </p:nvPr>
        </p:nvPicPr>
        <p:blipFill>
          <a:blip r:embed="rId1"/>
          <a:stretch>
            <a:fillRect/>
          </a:stretch>
        </p:blipFill>
        <p:spPr>
          <a:xfrm>
            <a:off x="6922770" y="1910080"/>
            <a:ext cx="4332605" cy="3383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90000" lnSpcReduction="20000"/>
          </a:bodyPr>
          <a:p>
            <a:r>
              <a:rPr lang="en-US"/>
              <a:t>The next step is to mark any vertices that are connected to Divya's house by an edge with the distance from the end. </a:t>
            </a:r>
            <a:endParaRPr lang="en-US"/>
          </a:p>
          <a:p>
            <a:r>
              <a:rPr lang="en-US"/>
              <a:t>Let's quickly calculate these distances while we look at a visual representation of what's going on using our previous graph:</a:t>
            </a:r>
            <a:endParaRPr lang="en-US"/>
          </a:p>
          <a:p>
            <a:endParaRPr lang="en-US"/>
          </a:p>
          <a:p>
            <a:r>
              <a:rPr lang="en-US"/>
              <a:t>Movie theater = 0 + 4 = 4</a:t>
            </a:r>
            <a:endParaRPr lang="en-US"/>
          </a:p>
          <a:p>
            <a:r>
              <a:rPr lang="en-US"/>
              <a:t>Grocery store = 0 + 5 = 5</a:t>
            </a:r>
            <a:endParaRPr lang="en-US"/>
          </a:p>
          <a:p>
            <a:r>
              <a:rPr lang="en-US"/>
              <a:t>Gas station = 0 + 6 = 6</a:t>
            </a:r>
            <a:endParaRPr lang="en-US"/>
          </a:p>
        </p:txBody>
      </p:sp>
      <p:pic>
        <p:nvPicPr>
          <p:cNvPr id="5" name="Content Placeholder 4"/>
          <p:cNvPicPr>
            <a:picLocks noChangeAspect="1"/>
          </p:cNvPicPr>
          <p:nvPr>
            <p:ph sz="half" idx="2"/>
          </p:nvPr>
        </p:nvPicPr>
        <p:blipFill>
          <a:blip r:embed="rId1"/>
          <a:stretch>
            <a:fillRect/>
          </a:stretch>
        </p:blipFill>
        <p:spPr>
          <a:xfrm>
            <a:off x="6889115" y="1927225"/>
            <a:ext cx="4126865" cy="35394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a:xfrm>
            <a:off x="838200" y="1825625"/>
            <a:ext cx="10515600" cy="3824605"/>
          </a:xfrm>
        </p:spPr>
        <p:txBody>
          <a:bodyPr/>
          <a:p>
            <a:r>
              <a:rPr lang="en-US"/>
              <a:t>We're now done with Divya's house, so we label it as visited with an X. We see that the smallest marked vertex is the movie theater with a mark of 4. </a:t>
            </a:r>
            <a:endParaRPr lang="en-US"/>
          </a:p>
          <a:p>
            <a:r>
              <a:rPr lang="en-US" b="1"/>
              <a:t>This our new current vertex</a:t>
            </a:r>
            <a:r>
              <a:rPr lang="en-US"/>
              <a:t>, and we start again at step 2.</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a:xfrm>
            <a:off x="838200" y="1825625"/>
            <a:ext cx="10515600" cy="4556125"/>
          </a:xfrm>
        </p:spPr>
        <p:txBody>
          <a:bodyPr>
            <a:normAutofit fontScale="90000"/>
          </a:bodyPr>
          <a:p>
            <a:pPr marL="0" indent="0">
              <a:buNone/>
            </a:pPr>
            <a:r>
              <a:rPr lang="en-ZA" altLang="en-US" b="1"/>
              <a:t>More </a:t>
            </a:r>
            <a:r>
              <a:rPr lang="en-US" b="1"/>
              <a:t>APPLICATIONS</a:t>
            </a:r>
            <a:r>
              <a:rPr lang="en-ZA" altLang="en-US" b="1"/>
              <a:t> of the algorithm</a:t>
            </a:r>
            <a:endParaRPr lang="en-US" b="1"/>
          </a:p>
          <a:p>
            <a:r>
              <a:rPr lang="en-US"/>
              <a:t> Traffic information systems use Dijkstra‘s algorithm in order to track the source and destina_x0002_tions from a given particular source and destination</a:t>
            </a:r>
            <a:endParaRPr lang="en-US"/>
          </a:p>
          <a:p>
            <a:r>
              <a:rPr lang="en-US"/>
              <a:t> In the Link-state routing protocol approach, using Dijkstra‘s algorithm each router calculates</a:t>
            </a:r>
            <a:endParaRPr lang="en-US"/>
          </a:p>
          <a:p>
            <a:r>
              <a:rPr lang="en-US"/>
              <a:t>the shortest path to each network and enters this information into the route table.</a:t>
            </a:r>
            <a:endParaRPr lang="en-US"/>
          </a:p>
          <a:p>
            <a:r>
              <a:rPr lang="en-US"/>
              <a:t>OSPF- Open Shortest Path First, used in Internet routing. It uses a link-state in the individ_x0002_ual areas that make up the hierarchy. The computation is based on Dijkstra‘s algorithm which</a:t>
            </a:r>
            <a:r>
              <a:rPr lang="en-ZA" altLang="en-US"/>
              <a:t> </a:t>
            </a:r>
            <a:r>
              <a:rPr lang="en-US"/>
              <a:t>is used to calculate the shortest path tree inside each area of the network.</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ZA" altLang="en-US"/>
              <a:t>Numerical Algorithm</a:t>
            </a:r>
            <a:endParaRPr lang="en-ZA" altLang="en-US"/>
          </a:p>
        </p:txBody>
      </p:sp>
      <p:sp>
        <p:nvSpPr>
          <p:cNvPr id="3" name="Content Placeholder 2"/>
          <p:cNvSpPr>
            <a:spLocks noGrp="1"/>
          </p:cNvSpPr>
          <p:nvPr>
            <p:ph sz="half" idx="1"/>
          </p:nvPr>
        </p:nvSpPr>
        <p:spPr>
          <a:xfrm>
            <a:off x="838200" y="1825625"/>
            <a:ext cx="9788525" cy="3677920"/>
          </a:xfrm>
        </p:spPr>
        <p:txBody>
          <a:bodyPr/>
          <a:p>
            <a:r>
              <a:rPr lang="en-ZA" altLang="en-US"/>
              <a:t>Formula: </a:t>
            </a:r>
            <a:endParaRPr lang="en-ZA" altLang="en-US"/>
          </a:p>
          <a:p>
            <a:r>
              <a:rPr lang="en-ZA" altLang="en-US"/>
              <a:t>O(|V|^2+|E|=O(V)^2)</a:t>
            </a:r>
            <a:endParaRPr lang="en-ZA" altLang="en-US"/>
          </a:p>
          <a:p>
            <a:r>
              <a:rPr lang="en-ZA" altLang="en-US"/>
              <a:t>WHERE , </a:t>
            </a:r>
            <a:endParaRPr lang="en-ZA" altLang="en-US"/>
          </a:p>
          <a:p>
            <a:r>
              <a:rPr lang="en-ZA" altLang="en-US"/>
              <a:t>   E=Edges and V=Vertices</a:t>
            </a:r>
            <a:endParaRPr lang="en-ZA" altLang="en-US"/>
          </a:p>
          <a:p>
            <a:r>
              <a:rPr lang="en-ZA" altLang="en-US"/>
              <a:t>|E|=Function of edges</a:t>
            </a:r>
            <a:endParaRPr lang="en-ZA" altLang="en-US"/>
          </a:p>
          <a:p>
            <a:r>
              <a:rPr lang="en-ZA" altLang="en-US"/>
              <a:t>|V|=Function of Vertices and</a:t>
            </a:r>
            <a:endParaRPr lang="en-ZA" altLang="en-US"/>
          </a:p>
          <a:p>
            <a:r>
              <a:rPr lang="en-ZA" altLang="en-US"/>
              <a:t>O=Constant</a:t>
            </a:r>
            <a:endParaRPr lang="en-ZA"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noProof="0" dirty="0" err="1" smtClean="0">
                <a:ln>
                  <a:noFill/>
                </a:ln>
                <a:effectLst/>
                <a:uLnTx/>
                <a:uFillTx/>
                <a:latin typeface="+mn-lt"/>
                <a:ea typeface="+mn-ea"/>
                <a:cs typeface="+mn-cs"/>
                <a:sym typeface="+mn-ea"/>
              </a:rPr>
              <a:t>Dijkstra’s</a:t>
            </a:r>
            <a:r>
              <a:rPr lang="en-US" noProof="0" dirty="0" smtClean="0">
                <a:ln>
                  <a:noFill/>
                </a:ln>
                <a:effectLst/>
                <a:uLnTx/>
                <a:uFillTx/>
                <a:latin typeface="+mn-lt"/>
                <a:ea typeface="+mn-ea"/>
                <a:cs typeface="+mn-cs"/>
                <a:sym typeface="+mn-ea"/>
              </a:rPr>
              <a:t> works out well as a greedy algorithm</a:t>
            </a:r>
            <a:endParaRPr lang="en-US"/>
          </a:p>
        </p:txBody>
      </p:sp>
      <p:sp>
        <p:nvSpPr>
          <p:cNvPr id="3" name="Content Placeholder 2"/>
          <p:cNvSpPr>
            <a:spLocks noGrp="1"/>
          </p:cNvSpPr>
          <p:nvPr>
            <p:ph sz="half" idx="1"/>
          </p:nvPr>
        </p:nvSpPr>
        <p:spPr>
          <a:xfrm>
            <a:off x="838200" y="1825625"/>
            <a:ext cx="10515600" cy="4205605"/>
          </a:xfrm>
        </p:spPr>
        <p:txBody>
          <a:bodyPr>
            <a:normAutofit fontScale="60000"/>
          </a:bodyPr>
          <a:p>
            <a:pPr marL="365125" marR="0" lvl="0" indent="-282575"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Char char=""/>
              <a:defRPr/>
            </a:pPr>
            <a:r>
              <a:rPr lang="en-US" sz="2800" noProof="0" dirty="0" smtClean="0">
                <a:ln>
                  <a:noFill/>
                </a:ln>
                <a:effectLst/>
                <a:uLnTx/>
                <a:uFillTx/>
                <a:sym typeface="+mn-ea"/>
              </a:rPr>
              <a:t>Greedy algorithms work in </a:t>
            </a:r>
            <a:r>
              <a:rPr lang="en-US" sz="2800" b="1" noProof="0" dirty="0" smtClean="0">
                <a:ln>
                  <a:noFill/>
                </a:ln>
                <a:effectLst/>
                <a:uLnTx/>
                <a:uFillTx/>
                <a:sym typeface="+mn-ea"/>
              </a:rPr>
              <a:t>phases.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In each phase, </a:t>
            </a:r>
            <a:endParaRPr lang="en-US" sz="2800" noProof="0" dirty="0" smtClean="0">
              <a:ln>
                <a:noFill/>
              </a:ln>
              <a:effectLst/>
              <a:uLnTx/>
              <a:uFillTx/>
              <a:sym typeface="+mn-ea"/>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a decision is made that appears</a:t>
            </a:r>
            <a:r>
              <a:rPr lang="en-US" sz="2800" b="1" noProof="0" dirty="0" smtClean="0">
                <a:ln>
                  <a:noFill/>
                </a:ln>
                <a:effectLst/>
                <a:uLnTx/>
                <a:uFillTx/>
                <a:sym typeface="+mn-ea"/>
              </a:rPr>
              <a:t> to be good</a:t>
            </a:r>
            <a:r>
              <a:rPr lang="en-US" sz="2800" noProof="0" dirty="0" smtClean="0">
                <a:ln>
                  <a:noFill/>
                </a:ln>
                <a:effectLst/>
                <a:uLnTx/>
                <a:uFillTx/>
                <a:sym typeface="+mn-ea"/>
              </a:rPr>
              <a:t>, without regard for future consequences.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b="1" noProof="0" dirty="0" smtClean="0">
                <a:ln>
                  <a:noFill/>
                </a:ln>
                <a:effectLst/>
                <a:uLnTx/>
                <a:uFillTx/>
                <a:sym typeface="+mn-ea"/>
              </a:rPr>
              <a:t>“Take what you can get now”</a:t>
            </a:r>
            <a:endParaRPr kumimoji="0" lang="en-US" sz="28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When the algorithm</a:t>
            </a:r>
            <a:r>
              <a:rPr lang="en-US" sz="2800" b="1" noProof="0" dirty="0" smtClean="0">
                <a:ln>
                  <a:noFill/>
                </a:ln>
                <a:effectLst/>
                <a:uLnTx/>
                <a:uFillTx/>
                <a:sym typeface="+mn-ea"/>
              </a:rPr>
              <a:t> terminates</a:t>
            </a:r>
            <a:r>
              <a:rPr lang="en-US" sz="2800" noProof="0" dirty="0" smtClean="0">
                <a:ln>
                  <a:noFill/>
                </a:ln>
                <a:effectLst/>
                <a:uLnTx/>
                <a:uFillTx/>
                <a:sym typeface="+mn-ea"/>
              </a:rPr>
              <a:t>, we hope that the local </a:t>
            </a:r>
            <a:r>
              <a:rPr lang="en-US" sz="2800" b="1" noProof="0" dirty="0" smtClean="0">
                <a:ln>
                  <a:noFill/>
                </a:ln>
                <a:effectLst/>
                <a:uLnTx/>
                <a:uFillTx/>
                <a:sym typeface="+mn-ea"/>
              </a:rPr>
              <a:t>optimum</a:t>
            </a:r>
            <a:r>
              <a:rPr lang="en-US" sz="2800" noProof="0" dirty="0" smtClean="0">
                <a:ln>
                  <a:noFill/>
                </a:ln>
                <a:effectLst/>
                <a:uLnTx/>
                <a:uFillTx/>
                <a:sym typeface="+mn-ea"/>
              </a:rPr>
              <a:t> is equal to the </a:t>
            </a:r>
            <a:r>
              <a:rPr lang="en-US" sz="2800" b="1" noProof="0" dirty="0" smtClean="0">
                <a:ln>
                  <a:noFill/>
                </a:ln>
                <a:effectLst/>
                <a:uLnTx/>
                <a:uFillTx/>
                <a:sym typeface="+mn-ea"/>
              </a:rPr>
              <a:t>global optimum</a:t>
            </a:r>
            <a:r>
              <a:rPr lang="en-US" sz="2800" noProof="0" dirty="0" smtClean="0">
                <a:ln>
                  <a:noFill/>
                </a:ln>
                <a:effectLst/>
                <a:uLnTx/>
                <a:uFillTx/>
                <a:sym typeface="+mn-ea"/>
              </a:rPr>
              <a:t>.</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65125" marR="0" lvl="0" indent="-282575"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Char char=""/>
              <a:defRPr/>
            </a:pPr>
            <a:r>
              <a:rPr lang="en-US" sz="2800" noProof="0" dirty="0" smtClean="0">
                <a:ln>
                  <a:noFill/>
                </a:ln>
                <a:effectLst/>
                <a:uLnTx/>
                <a:uFillTx/>
                <a:sym typeface="+mn-ea"/>
              </a:rPr>
              <a:t>That’s why </a:t>
            </a:r>
            <a:r>
              <a:rPr lang="en-US" sz="2800" noProof="0" dirty="0" err="1" smtClean="0">
                <a:ln>
                  <a:noFill/>
                </a:ln>
                <a:effectLst/>
                <a:uLnTx/>
                <a:uFillTx/>
                <a:sym typeface="+mn-ea"/>
              </a:rPr>
              <a:t>Dijkstra’s</a:t>
            </a:r>
            <a:r>
              <a:rPr lang="en-US" sz="2800" noProof="0" dirty="0" smtClean="0">
                <a:ln>
                  <a:noFill/>
                </a:ln>
                <a:effectLst/>
                <a:uLnTx/>
                <a:uFillTx/>
                <a:sym typeface="+mn-ea"/>
              </a:rPr>
              <a:t> works out well as a greedy algorithm</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It’s greedy </a:t>
            </a:r>
            <a:endParaRPr lang="en-US" sz="2800" noProof="0" dirty="0" smtClean="0">
              <a:ln>
                <a:noFill/>
              </a:ln>
              <a:effectLst/>
              <a:uLnTx/>
              <a:uFillTx/>
              <a:sym typeface="+mn-ea"/>
            </a:endParaRPr>
          </a:p>
          <a:p>
            <a:pPr marL="1097280" marR="0" lvl="2"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330" noProof="0" dirty="0" smtClean="0">
                <a:ln>
                  <a:noFill/>
                </a:ln>
                <a:effectLst/>
                <a:uLnTx/>
                <a:uFillTx/>
                <a:sym typeface="+mn-ea"/>
              </a:rPr>
              <a:t>because we assume we have a shortest distance to a vertex before we ever examine all the edges that even lead into that vertex.</a:t>
            </a:r>
            <a:endParaRPr kumimoji="0" lang="en-US" sz="233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It works since all shortest paths contain </a:t>
            </a:r>
            <a:r>
              <a:rPr lang="en-US" sz="2800" noProof="0" dirty="0" err="1" smtClean="0">
                <a:ln>
                  <a:noFill/>
                </a:ln>
                <a:effectLst/>
                <a:uLnTx/>
                <a:uFillTx/>
                <a:sym typeface="+mn-ea"/>
              </a:rPr>
              <a:t>subpaths</a:t>
            </a:r>
            <a:r>
              <a:rPr lang="en-US" sz="2800" noProof="0" dirty="0" smtClean="0">
                <a:ln>
                  <a:noFill/>
                </a:ln>
                <a:effectLst/>
                <a:uLnTx/>
                <a:uFillTx/>
                <a:sym typeface="+mn-ea"/>
              </a:rPr>
              <a:t> that are also shortest paths.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36855" algn="l" defTabSz="914400" rtl="0" eaLnBrk="0" fontAlgn="base" latinLnBrk="0" hangingPunct="0">
              <a:lnSpc>
                <a:spcPct val="100000"/>
              </a:lnSpc>
              <a:spcBef>
                <a:spcPts val="550"/>
              </a:spcBef>
              <a:spcAft>
                <a:spcPct val="0"/>
              </a:spcAft>
              <a:buClr>
                <a:schemeClr val="accent1"/>
              </a:buClr>
              <a:buSzTx/>
              <a:buFont typeface="Verdana" panose="020B0604030504040204" pitchFamily="34" charset="0"/>
              <a:buChar char="◦"/>
              <a:defRPr/>
            </a:pPr>
            <a:r>
              <a:rPr lang="en-US" sz="2800" noProof="0" dirty="0" smtClean="0">
                <a:ln>
                  <a:noFill/>
                </a:ln>
                <a:effectLst/>
                <a:uLnTx/>
                <a:uFillTx/>
                <a:sym typeface="+mn-ea"/>
              </a:rPr>
              <a:t>This also works because we assume no</a:t>
            </a:r>
            <a:r>
              <a:rPr lang="en-US" sz="2800" b="1" noProof="0" dirty="0" smtClean="0">
                <a:ln>
                  <a:noFill/>
                </a:ln>
                <a:effectLst/>
                <a:uLnTx/>
                <a:uFillTx/>
                <a:sym typeface="+mn-ea"/>
              </a:rPr>
              <a:t> negative edge weights.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a:xfrm>
            <a:off x="838200" y="1825625"/>
            <a:ext cx="10515600" cy="4263390"/>
          </a:xfrm>
        </p:spPr>
        <p:txBody>
          <a:bodyPr>
            <a:normAutofit lnSpcReduction="20000"/>
          </a:bodyPr>
          <a:p>
            <a:pPr marL="0" indent="0">
              <a:buNone/>
            </a:pPr>
            <a:r>
              <a:rPr lang="en-US" b="1"/>
              <a:t>DISADVANTAGES OF DIJKSTRA‘S ALGORITHM</a:t>
            </a:r>
            <a:endParaRPr lang="en-US" b="1"/>
          </a:p>
          <a:p>
            <a:r>
              <a:rPr lang="en-US"/>
              <a:t>The major disadvantage of the algorithm is the fact that it does a blind search there by</a:t>
            </a:r>
            <a:endParaRPr lang="en-US"/>
          </a:p>
          <a:p>
            <a:r>
              <a:rPr lang="en-US"/>
              <a:t>consuming a lot of time waste of necessary resources.</a:t>
            </a:r>
            <a:endParaRPr lang="en-US"/>
          </a:p>
          <a:p>
            <a:r>
              <a:rPr lang="en-US"/>
              <a:t>Another disadvantage is that it cannot handle negative edges. This leads to acyclic graphs</a:t>
            </a:r>
            <a:r>
              <a:rPr lang="en-ZA" altLang="en-US"/>
              <a:t> </a:t>
            </a:r>
            <a:r>
              <a:rPr lang="en-US"/>
              <a:t>and most often cannot obtain the right shortest path.</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lnSpcReduction="20000"/>
          </a:bodyPr>
          <a:p>
            <a:r>
              <a:rPr lang="en-US"/>
              <a:t>We will calculate the shortest path between node C and the other nodes in the graph.</a:t>
            </a:r>
            <a:endParaRPr lang="en-US"/>
          </a:p>
          <a:p>
            <a:endParaRPr lang="en-US"/>
          </a:p>
          <a:p>
            <a:r>
              <a:rPr lang="en-US"/>
              <a:t>During the execution of the algorithm, each node will be marked with its minimum distance to node C as we have selected node C. </a:t>
            </a:r>
            <a:endParaRPr lang="en-US"/>
          </a:p>
          <a:p>
            <a:endParaRPr lang="en-US"/>
          </a:p>
          <a:p>
            <a:r>
              <a:rPr lang="en-US"/>
              <a:t> </a:t>
            </a:r>
            <a:endParaRPr lang="en-US"/>
          </a:p>
        </p:txBody>
      </p:sp>
      <p:pic>
        <p:nvPicPr>
          <p:cNvPr id="100" name="Content Placeholder 99"/>
          <p:cNvPicPr/>
          <p:nvPr>
            <p:ph sz="half" idx="2"/>
          </p:nvPr>
        </p:nvPicPr>
        <p:blipFill>
          <a:blip r:embed="rId1"/>
          <a:stretch>
            <a:fillRect/>
          </a:stretch>
        </p:blipFill>
        <p:spPr>
          <a:xfrm>
            <a:off x="6172200" y="1825625"/>
            <a:ext cx="5181600" cy="435165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In this case, the minimum distance is 0 for node C. Also, for the rest of the nodes, as we don’t know this distance, they will be marked as infinity (∞), except node C (currently marked as red dot).</a:t>
            </a:r>
            <a:endParaRPr lang="en-US"/>
          </a:p>
        </p:txBody>
      </p:sp>
      <p:pic>
        <p:nvPicPr>
          <p:cNvPr id="5" name="Content Placeholder 4"/>
          <p:cNvPicPr>
            <a:picLocks noChangeAspect="1"/>
          </p:cNvPicPr>
          <p:nvPr>
            <p:ph sz="half" idx="2"/>
          </p:nvPr>
        </p:nvPicPr>
        <p:blipFill>
          <a:blip r:embed="rId1"/>
          <a:stretch>
            <a:fillRect/>
          </a:stretch>
        </p:blipFill>
        <p:spPr>
          <a:xfrm>
            <a:off x="6406515" y="2005965"/>
            <a:ext cx="5181600" cy="24866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80000"/>
          </a:bodyPr>
          <a:p>
            <a:r>
              <a:rPr lang="en-US"/>
              <a:t>Now the neighbours of node C will be checked, i.e, node A, B, and D. We start with B, here we will add the minimum distance of current node (0) with the weight of the edge (7) that linked the node C to node B and get 0+ 7= 7.</a:t>
            </a:r>
            <a:endParaRPr lang="en-US"/>
          </a:p>
          <a:p>
            <a:endParaRPr lang="en-US"/>
          </a:p>
          <a:p>
            <a:r>
              <a:rPr lang="en-US"/>
              <a:t> Now, this value will be compared with the minimum distance of B (infinity), the least value is the one that remains the minimum distance of B, like in this case, 7 is less than infinity, and marks the least value to node B.</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Now, the same process is checked with neighbour A. We add 0 with 1 (weight of edge that connects node C to A), and get 1. Again, 1 is compared with the minimum distance of A (infinity), and marks the lowest value.</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The same is repeated with node D, and marked 2 as lowest value at D.</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Since, all the neighbours of node C have checked, so node C is marked as visited with a green check mark.</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Now, we will select the new current node such that the node must be unvisited with the lowest minimum distance, or the node with the least number and no check mark. Here, node A is the unvisited with minimum distance 1, marked as current node with red dot. </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90000" lnSpcReduction="10000"/>
          </a:bodyPr>
          <a:p>
            <a:r>
              <a:rPr lang="en-US"/>
              <a:t>We repeat the algorithm, checking the neighbour of the current node while ignoring the visited node, so only node B will be checked.</a:t>
            </a:r>
            <a:endParaRPr lang="en-US"/>
          </a:p>
          <a:p>
            <a:endParaRPr lang="en-US"/>
          </a:p>
          <a:p>
            <a:endParaRPr lang="en-US"/>
          </a:p>
          <a:p>
            <a:r>
              <a:rPr lang="en-US"/>
              <a:t>For node B, we add 1 with 3 (weight of the edge connecting node A to B) and obtain 4. This value, 4, will be compared with the minimum distance of B, 7, and mark the lowest value at B as 4. </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p>
            <a:r>
              <a:rPr lang="en-US"/>
              <a:t>After this, node A marked as visited with a green check mark. The current node is selected as node D, it is unvisited and has a smallest recent distance. We repeat the algorithm and check for node B and E.</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80000"/>
          </a:bodyPr>
          <a:p>
            <a:r>
              <a:rPr lang="en-US"/>
              <a:t>For node B, we add 2 to 5, get 7 and compare it with the minimum distance value of B, since 7&gt;4, so leave the smallest distance value at node B as 4. </a:t>
            </a:r>
            <a:endParaRPr lang="en-US"/>
          </a:p>
          <a:p>
            <a:endParaRPr lang="en-US"/>
          </a:p>
          <a:p>
            <a:pPr marL="0" indent="0">
              <a:buNone/>
            </a:pPr>
            <a:endParaRPr lang="en-US"/>
          </a:p>
          <a:p>
            <a:r>
              <a:rPr lang="en-US"/>
              <a:t>For node E, we obtain 2+ 7= 9, and compare it with the minimum distance of E which is infinity, and mark the smallest value as node E as 9. The node D is marked as visited with a green check mark.</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70000"/>
          </a:bodyPr>
          <a:p>
            <a:r>
              <a:rPr lang="en-US"/>
              <a:t>he current node is set as node B, here we need to check only node E as it is unvisited and the node D is visited. We obtain 4+ 1=5, compare it with the minimum distance of the node.</a:t>
            </a:r>
            <a:endParaRPr lang="en-US"/>
          </a:p>
          <a:p>
            <a:endParaRPr lang="en-US"/>
          </a:p>
          <a:p>
            <a:endParaRPr lang="en-US"/>
          </a:p>
          <a:p>
            <a:r>
              <a:rPr lang="en-US"/>
              <a:t>As 9 &gt; 5, leave the smallest value at node node E as 5.</a:t>
            </a:r>
            <a:endParaRPr lang="en-US"/>
          </a:p>
          <a:p>
            <a:endParaRPr lang="en-US"/>
          </a:p>
          <a:p>
            <a:r>
              <a:rPr lang="en-US"/>
              <a:t>We mark D as visited node with a green check mark, and node E is set as the current node.</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lnSpcReduction="10000"/>
          </a:bodyPr>
          <a:p>
            <a:r>
              <a:rPr lang="en-US"/>
              <a:t>Since it doesn’t have any unvisited neighbours, so there is not any requirement to check anything. Node E is marked as a visited node with a green mark.</a:t>
            </a:r>
            <a:endParaRPr lang="en-US"/>
          </a:p>
          <a:p>
            <a:r>
              <a:rPr lang="en-US"/>
              <a:t>So, we are done as no unvisited node is left. The minimum distance of each node is now representing the minimum distance of that node from node C.</a:t>
            </a:r>
            <a:endParaRPr lang="en-US"/>
          </a:p>
        </p:txBody>
      </p:sp>
      <p:pic>
        <p:nvPicPr>
          <p:cNvPr id="5" name="Content Placeholder 4"/>
          <p:cNvPicPr>
            <a:picLocks noChangeAspect="1"/>
          </p:cNvPicPr>
          <p:nvPr>
            <p:ph sz="half" idx="2"/>
          </p:nvPr>
        </p:nvPicPr>
        <p:blipFill>
          <a:blip r:embed="rId1"/>
          <a:stretch>
            <a:fillRect/>
          </a:stretch>
        </p:blipFill>
        <p:spPr>
          <a:xfrm>
            <a:off x="6172200" y="2757805"/>
            <a:ext cx="5181600" cy="24866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1507" name="Rectangle 2"/>
          <p:cNvSpPr>
            <a:spLocks noGrp="1"/>
          </p:cNvSpPr>
          <p:nvPr>
            <p:ph type="title"/>
          </p:nvPr>
        </p:nvSpPr>
        <p:spPr/>
        <p:txBody>
          <a:bodyPr vert="horz" wrap="square" lIns="91440" tIns="45720" rIns="91440" bIns="45720" anchor="ctr" anchorCtr="0"/>
          <a:p>
            <a:r>
              <a:rPr dirty="0"/>
              <a:t>Example: Initialization</a:t>
            </a:r>
            <a:endParaRPr dirty="0"/>
          </a:p>
        </p:txBody>
      </p:sp>
      <p:sp>
        <p:nvSpPr>
          <p:cNvPr id="21508" name="Oval 3"/>
          <p:cNvSpPr/>
          <p:nvPr/>
        </p:nvSpPr>
        <p:spPr>
          <a:xfrm>
            <a:off x="4876800" y="2438400"/>
            <a:ext cx="457200" cy="457200"/>
          </a:xfrm>
          <a:prstGeom prst="ellipse">
            <a:avLst/>
          </a:prstGeom>
          <a:solidFill>
            <a:schemeClr val="bg1"/>
          </a:solidFill>
          <a:ln w="9525" cap="flat" cmpd="sng">
            <a:solidFill>
              <a:schemeClr val="accent2"/>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1509"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1510"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1511" name="AutoShape 6"/>
          <p:cNvCxnSpPr>
            <a:stCxn id="21509" idx="2"/>
            <a:endCxn id="21510"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1512" name="AutoShape 7"/>
          <p:cNvCxnSpPr>
            <a:stCxn id="21524" idx="2"/>
            <a:endCxn id="21521"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1513" name="AutoShape 8"/>
          <p:cNvCxnSpPr>
            <a:stCxn id="21508" idx="6"/>
            <a:endCxn id="21514"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1514" name="Oval 9"/>
          <p:cNvSpPr/>
          <p:nvPr/>
        </p:nvSpPr>
        <p:spPr>
          <a:xfrm>
            <a:off x="6934200" y="2438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1515" name="Oval 10"/>
          <p:cNvSpPr/>
          <p:nvPr/>
        </p:nvSpPr>
        <p:spPr>
          <a:xfrm>
            <a:off x="7848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1516" name="AutoShape 11"/>
          <p:cNvCxnSpPr>
            <a:stCxn id="21515" idx="2"/>
            <a:endCxn id="21524"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1517" name="AutoShape 12"/>
          <p:cNvCxnSpPr>
            <a:stCxn id="21515" idx="1"/>
            <a:endCxn id="21514"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1518" name="AutoShape 13"/>
          <p:cNvCxnSpPr>
            <a:stCxn id="21509" idx="7"/>
            <a:endCxn id="21515"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1519" name="AutoShape 14"/>
          <p:cNvCxnSpPr>
            <a:stCxn id="21508" idx="5"/>
            <a:endCxn id="21524"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1520" name="AutoShape 15"/>
          <p:cNvCxnSpPr>
            <a:stCxn id="21514" idx="3"/>
            <a:endCxn id="21524"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1521" name="Oval 16"/>
          <p:cNvSpPr/>
          <p:nvPr/>
        </p:nvSpPr>
        <p:spPr>
          <a:xfrm>
            <a:off x="38862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1522" name="AutoShape 17"/>
          <p:cNvCxnSpPr>
            <a:stCxn id="21521" idx="7"/>
            <a:endCxn id="21508"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1523" name="AutoShape 18"/>
          <p:cNvCxnSpPr>
            <a:stCxn id="21510" idx="1"/>
            <a:endCxn id="21521"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1524" name="Oval 19"/>
          <p:cNvSpPr/>
          <p:nvPr/>
        </p:nvSpPr>
        <p:spPr>
          <a:xfrm>
            <a:off x="5943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1525" name="AutoShape 20"/>
          <p:cNvCxnSpPr>
            <a:stCxn id="21509" idx="1"/>
            <a:endCxn id="21524"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1526" name="AutoShape 21"/>
          <p:cNvCxnSpPr>
            <a:stCxn id="21510" idx="7"/>
            <a:endCxn id="21524"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1527"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1528"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1529"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1530"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1531"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1532"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1533"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1534" name="Text Box 29"/>
          <p:cNvSpPr txBox="1"/>
          <p:nvPr/>
        </p:nvSpPr>
        <p:spPr>
          <a:xfrm>
            <a:off x="7010400" y="3581559"/>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1535"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1536"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1537"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1538"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1539"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1540" name="Text Box 35"/>
          <p:cNvSpPr txBox="1"/>
          <p:nvPr/>
        </p:nvSpPr>
        <p:spPr>
          <a:xfrm>
            <a:off x="7010400" y="2047875"/>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1" name="Text Box 38"/>
          <p:cNvSpPr txBox="1"/>
          <p:nvPr/>
        </p:nvSpPr>
        <p:spPr>
          <a:xfrm>
            <a:off x="3447415" y="362585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2" name="Text Box 39"/>
          <p:cNvSpPr txBox="1"/>
          <p:nvPr/>
        </p:nvSpPr>
        <p:spPr>
          <a:xfrm>
            <a:off x="8382000" y="35814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3" name="Text Box 40"/>
          <p:cNvSpPr txBox="1"/>
          <p:nvPr/>
        </p:nvSpPr>
        <p:spPr>
          <a:xfrm>
            <a:off x="6019800" y="41148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4" name="Text Box 43"/>
          <p:cNvSpPr txBox="1"/>
          <p:nvPr/>
        </p:nvSpPr>
        <p:spPr>
          <a:xfrm>
            <a:off x="4073525" y="5848350"/>
            <a:ext cx="4399280" cy="368300"/>
          </a:xfrm>
          <a:prstGeom prst="rect">
            <a:avLst/>
          </a:prstGeom>
          <a:noFill/>
          <a:ln w="9525">
            <a:noFill/>
          </a:ln>
        </p:spPr>
        <p:txBody>
          <a:bodyPr wrap="none">
            <a:spAutoFit/>
          </a:bodyPr>
          <a:p>
            <a:r>
              <a:rPr dirty="0">
                <a:latin typeface="Arial" panose="020B0604020202020204" pitchFamily="34" charset="0"/>
              </a:rPr>
              <a:t>Pick vertex in List with minimum distance.</a:t>
            </a:r>
            <a:endParaRPr dirty="0">
              <a:latin typeface="Arial" panose="020B0604020202020204" pitchFamily="34" charset="0"/>
            </a:endParaRPr>
          </a:p>
        </p:txBody>
      </p:sp>
      <p:sp>
        <p:nvSpPr>
          <p:cNvPr id="21545" name="Text Box 44"/>
          <p:cNvSpPr txBox="1"/>
          <p:nvPr/>
        </p:nvSpPr>
        <p:spPr>
          <a:xfrm>
            <a:off x="4953000" y="52578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6" name="Text Box 45"/>
          <p:cNvSpPr txBox="1"/>
          <p:nvPr/>
        </p:nvSpPr>
        <p:spPr>
          <a:xfrm>
            <a:off x="7010400" y="52578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1547" name="Text Box 46"/>
          <p:cNvSpPr txBox="1"/>
          <p:nvPr/>
        </p:nvSpPr>
        <p:spPr>
          <a:xfrm>
            <a:off x="1590675" y="2068195"/>
            <a:ext cx="2482850" cy="368300"/>
          </a:xfrm>
          <a:prstGeom prst="rect">
            <a:avLst/>
          </a:prstGeom>
          <a:noFill/>
          <a:ln w="9525">
            <a:noFill/>
          </a:ln>
        </p:spPr>
        <p:txBody>
          <a:bodyPr wrap="square">
            <a:spAutoFit/>
          </a:bodyPr>
          <a:p>
            <a:pPr>
              <a:spcBef>
                <a:spcPct val="50000"/>
              </a:spcBef>
            </a:pPr>
            <a:r>
              <a:rPr dirty="0">
                <a:latin typeface="Arial" panose="020B0604020202020204" pitchFamily="34" charset="0"/>
              </a:rPr>
              <a:t>Distance(source) = 0</a:t>
            </a:r>
            <a:endParaRPr dirty="0">
              <a:latin typeface="Arial" panose="020B0604020202020204" pitchFamily="34" charset="0"/>
            </a:endParaRPr>
          </a:p>
        </p:txBody>
      </p:sp>
      <p:sp>
        <p:nvSpPr>
          <p:cNvPr id="21548" name="Line 47"/>
          <p:cNvSpPr/>
          <p:nvPr/>
        </p:nvSpPr>
        <p:spPr>
          <a:xfrm>
            <a:off x="4572000" y="2362200"/>
            <a:ext cx="304800" cy="152400"/>
          </a:xfrm>
          <a:prstGeom prst="line">
            <a:avLst/>
          </a:prstGeom>
          <a:ln w="9525" cap="flat" cmpd="sng">
            <a:solidFill>
              <a:schemeClr val="tx1"/>
            </a:solidFill>
            <a:prstDash val="solid"/>
            <a:headEnd type="none" w="med" len="med"/>
            <a:tailEnd type="triangle" w="med" len="med"/>
          </a:ln>
        </p:spPr>
      </p:sp>
      <p:sp>
        <p:nvSpPr>
          <p:cNvPr id="21549" name="Text Box 48"/>
          <p:cNvSpPr txBox="1"/>
          <p:nvPr/>
        </p:nvSpPr>
        <p:spPr>
          <a:xfrm>
            <a:off x="7848600" y="2133600"/>
            <a:ext cx="2514600" cy="645160"/>
          </a:xfrm>
          <a:prstGeom prst="rect">
            <a:avLst/>
          </a:prstGeom>
          <a:noFill/>
          <a:ln w="9525">
            <a:noFill/>
          </a:ln>
        </p:spPr>
        <p:txBody>
          <a:bodyPr>
            <a:spAutoFit/>
          </a:bodyPr>
          <a:p>
            <a:pPr>
              <a:spcBef>
                <a:spcPct val="50000"/>
              </a:spcBef>
            </a:pPr>
            <a:r>
              <a:rPr>
                <a:latin typeface="Arial" panose="020B0604020202020204" pitchFamily="34" charset="0"/>
              </a:rPr>
              <a:t>Distance (all vertices but source) = </a:t>
            </a:r>
            <a:r>
              <a:rPr>
                <a:solidFill>
                  <a:srgbClr val="674EA7"/>
                </a:solidFill>
                <a:latin typeface="Constantia" panose="02030602050306030303" pitchFamily="-101" charset="0"/>
              </a:rPr>
              <a:t>∞ </a:t>
            </a:r>
            <a:endParaRPr>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2531" name="Rectangle 2"/>
          <p:cNvSpPr>
            <a:spLocks noGrp="1"/>
          </p:cNvSpPr>
          <p:nvPr>
            <p:ph type="title"/>
          </p:nvPr>
        </p:nvSpPr>
        <p:spPr/>
        <p:txBody>
          <a:bodyPr vert="horz" wrap="square" lIns="91440" tIns="45720" rIns="91440" bIns="45720" anchor="ctr" anchorCtr="0"/>
          <a:p>
            <a:r>
              <a:rPr dirty="0">
                <a:solidFill>
                  <a:srgbClr val="000000"/>
                </a:solidFill>
              </a:rPr>
              <a:t>Example: Update neighbors' distance</a:t>
            </a:r>
            <a:endParaRPr dirty="0">
              <a:solidFill>
                <a:srgbClr val="000000"/>
              </a:solidFill>
            </a:endParaRPr>
          </a:p>
        </p:txBody>
      </p:sp>
      <p:sp>
        <p:nvSpPr>
          <p:cNvPr id="22532" name="Oval 3"/>
          <p:cNvSpPr/>
          <p:nvPr/>
        </p:nvSpPr>
        <p:spPr>
          <a:xfrm>
            <a:off x="4876800" y="2438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2533"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2534"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2535" name="AutoShape 6"/>
          <p:cNvCxnSpPr>
            <a:stCxn id="22533" idx="2"/>
            <a:endCxn id="22534"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2536" name="AutoShape 7"/>
          <p:cNvCxnSpPr>
            <a:stCxn id="22548" idx="2"/>
            <a:endCxn id="22545"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2537" name="AutoShape 8"/>
          <p:cNvCxnSpPr/>
          <p:nvPr/>
        </p:nvCxnSpPr>
        <p:spPr>
          <a:xfrm>
            <a:off x="5334000" y="2667000"/>
            <a:ext cx="1600200" cy="0"/>
          </a:xfrm>
          <a:prstGeom prst="straightConnector1">
            <a:avLst/>
          </a:prstGeom>
          <a:ln w="28575" cap="flat" cmpd="sng">
            <a:solidFill>
              <a:schemeClr val="accent1"/>
            </a:solidFill>
            <a:prstDash val="solid"/>
            <a:headEnd type="none" w="med" len="med"/>
            <a:tailEnd type="triangle" w="med" len="med"/>
          </a:ln>
        </p:spPr>
      </p:cxnSp>
      <p:sp>
        <p:nvSpPr>
          <p:cNvPr id="22538" name="Oval 9"/>
          <p:cNvSpPr/>
          <p:nvPr/>
        </p:nvSpPr>
        <p:spPr>
          <a:xfrm>
            <a:off x="6934200" y="2438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2539" name="Oval 10"/>
          <p:cNvSpPr/>
          <p:nvPr/>
        </p:nvSpPr>
        <p:spPr>
          <a:xfrm>
            <a:off x="7848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2540" name="AutoShape 11"/>
          <p:cNvCxnSpPr>
            <a:stCxn id="22539" idx="2"/>
            <a:endCxn id="22548"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2541" name="AutoShape 12"/>
          <p:cNvCxnSpPr>
            <a:stCxn id="22539" idx="1"/>
            <a:endCxn id="22538"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2542" name="AutoShape 13"/>
          <p:cNvCxnSpPr>
            <a:stCxn id="22533" idx="7"/>
            <a:endCxn id="22539"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2543" name="AutoShape 14"/>
          <p:cNvCxnSpPr>
            <a:stCxn id="22532" idx="5"/>
            <a:endCxn id="22548" idx="1"/>
          </p:cNvCxnSpPr>
          <p:nvPr/>
        </p:nvCxnSpPr>
        <p:spPr>
          <a:xfrm>
            <a:off x="5267325" y="2843213"/>
            <a:ext cx="742950" cy="804862"/>
          </a:xfrm>
          <a:prstGeom prst="straightConnector1">
            <a:avLst/>
          </a:prstGeom>
          <a:ln w="28575" cap="flat" cmpd="sng">
            <a:solidFill>
              <a:schemeClr val="accent1"/>
            </a:solidFill>
            <a:prstDash val="solid"/>
            <a:headEnd type="none" w="med" len="med"/>
            <a:tailEnd type="triangle" w="med" len="med"/>
          </a:ln>
        </p:spPr>
      </p:cxnSp>
      <p:cxnSp>
        <p:nvCxnSpPr>
          <p:cNvPr id="22544" name="AutoShape 15"/>
          <p:cNvCxnSpPr>
            <a:stCxn id="22538" idx="3"/>
            <a:endCxn id="22548"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2545" name="Oval 16"/>
          <p:cNvSpPr/>
          <p:nvPr/>
        </p:nvSpPr>
        <p:spPr>
          <a:xfrm>
            <a:off x="38862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2546" name="AutoShape 17"/>
          <p:cNvCxnSpPr>
            <a:stCxn id="22545" idx="7"/>
            <a:endCxn id="22532" idx="3"/>
          </p:cNvCxnSpPr>
          <p:nvPr/>
        </p:nvCxnSpPr>
        <p:spPr>
          <a:xfrm flipV="1">
            <a:off x="4276725" y="2843213"/>
            <a:ext cx="666750" cy="804862"/>
          </a:xfrm>
          <a:prstGeom prst="straightConnector1">
            <a:avLst/>
          </a:prstGeom>
          <a:ln w="12700" cap="flat" cmpd="sng">
            <a:solidFill>
              <a:schemeClr val="tx1"/>
            </a:solidFill>
            <a:prstDash val="solid"/>
            <a:headEnd type="none" w="med" len="med"/>
            <a:tailEnd type="triangle" w="med" len="med"/>
          </a:ln>
        </p:spPr>
      </p:cxnSp>
      <p:cxnSp>
        <p:nvCxnSpPr>
          <p:cNvPr id="22547" name="AutoShape 18"/>
          <p:cNvCxnSpPr>
            <a:stCxn id="22534" idx="1"/>
            <a:endCxn id="22545"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2548" name="Oval 19"/>
          <p:cNvSpPr/>
          <p:nvPr/>
        </p:nvSpPr>
        <p:spPr>
          <a:xfrm>
            <a:off x="5943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2549" name="AutoShape 20"/>
          <p:cNvCxnSpPr>
            <a:stCxn id="22533" idx="1"/>
            <a:endCxn id="22548"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2550" name="AutoShape 21"/>
          <p:cNvCxnSpPr>
            <a:stCxn id="22534" idx="7"/>
            <a:endCxn id="22548"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2551"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2552"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2553"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2554"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2555"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2556"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2557"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2558"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2559"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2560"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2561"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2562"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2563"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2564" name="Text Box 35"/>
          <p:cNvSpPr txBox="1"/>
          <p:nvPr/>
        </p:nvSpPr>
        <p:spPr>
          <a:xfrm>
            <a:off x="7010400" y="2057400"/>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2565" name="Text Box 36"/>
          <p:cNvSpPr txBox="1"/>
          <p:nvPr/>
        </p:nvSpPr>
        <p:spPr>
          <a:xfrm>
            <a:off x="3505200" y="36576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2566" name="Text Box 37"/>
          <p:cNvSpPr txBox="1"/>
          <p:nvPr/>
        </p:nvSpPr>
        <p:spPr>
          <a:xfrm>
            <a:off x="8382000" y="35814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2567" name="Text Box 38"/>
          <p:cNvSpPr txBox="1"/>
          <p:nvPr/>
        </p:nvSpPr>
        <p:spPr>
          <a:xfrm>
            <a:off x="6019800" y="4124325"/>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2568" name="Text Box 45"/>
          <p:cNvSpPr txBox="1"/>
          <p:nvPr/>
        </p:nvSpPr>
        <p:spPr>
          <a:xfrm>
            <a:off x="4953000" y="52578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2569" name="Text Box 46"/>
          <p:cNvSpPr txBox="1"/>
          <p:nvPr/>
        </p:nvSpPr>
        <p:spPr>
          <a:xfrm>
            <a:off x="7010400" y="5257800"/>
            <a:ext cx="438785" cy="368300"/>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2570" name="Text Box 47"/>
          <p:cNvSpPr txBox="1"/>
          <p:nvPr/>
        </p:nvSpPr>
        <p:spPr>
          <a:xfrm>
            <a:off x="1905000" y="4724400"/>
            <a:ext cx="1947863" cy="783590"/>
          </a:xfrm>
          <a:prstGeom prst="rect">
            <a:avLst/>
          </a:prstGeom>
          <a:noFill/>
          <a:ln w="9525">
            <a:noFill/>
          </a:ln>
        </p:spPr>
        <p:txBody>
          <a:bodyPr>
            <a:spAutoFit/>
          </a:bodyPr>
          <a:p>
            <a:pPr>
              <a:spcBef>
                <a:spcPct val="50000"/>
              </a:spcBef>
            </a:pPr>
            <a:r>
              <a:rPr dirty="0">
                <a:latin typeface="Arial" panose="020B0604020202020204" pitchFamily="34" charset="0"/>
              </a:rPr>
              <a:t>Distance(B) = 2</a:t>
            </a:r>
            <a:endParaRPr dirty="0">
              <a:latin typeface="Arial" panose="020B0604020202020204" pitchFamily="34" charset="0"/>
            </a:endParaRPr>
          </a:p>
          <a:p>
            <a:pPr>
              <a:spcBef>
                <a:spcPct val="50000"/>
              </a:spcBef>
            </a:pPr>
            <a:endParaRPr dirty="0">
              <a:latin typeface="Arial" panose="020B0604020202020204" pitchFamily="34" charset="0"/>
            </a:endParaRPr>
          </a:p>
        </p:txBody>
      </p:sp>
      <p:sp>
        <p:nvSpPr>
          <p:cNvPr id="22571" name="Text Box 48"/>
          <p:cNvSpPr txBox="1"/>
          <p:nvPr/>
        </p:nvSpPr>
        <p:spPr>
          <a:xfrm>
            <a:off x="1905000" y="5029200"/>
            <a:ext cx="1947863" cy="783590"/>
          </a:xfrm>
          <a:prstGeom prst="rect">
            <a:avLst/>
          </a:prstGeom>
          <a:noFill/>
          <a:ln w="9525">
            <a:noFill/>
          </a:ln>
        </p:spPr>
        <p:txBody>
          <a:bodyPr>
            <a:spAutoFit/>
          </a:bodyPr>
          <a:p>
            <a:pPr>
              <a:spcBef>
                <a:spcPct val="50000"/>
              </a:spcBef>
            </a:pPr>
            <a:r>
              <a:rPr dirty="0">
                <a:latin typeface="Arial" panose="020B0604020202020204" pitchFamily="34" charset="0"/>
              </a:rPr>
              <a:t>Distance(D) = 1</a:t>
            </a:r>
            <a:endParaRPr dirty="0">
              <a:latin typeface="Arial" panose="020B0604020202020204" pitchFamily="34" charset="0"/>
            </a:endParaRPr>
          </a:p>
          <a:p>
            <a:pPr>
              <a:spcBef>
                <a:spcPct val="50000"/>
              </a:spcBef>
            </a:pPr>
            <a:endParaRPr dirty="0">
              <a:latin typeface="Arial" panose="020B0604020202020204" pitchFamily="34" charset="0"/>
            </a:endParaRPr>
          </a:p>
        </p:txBody>
      </p:sp>
      <p:sp>
        <p:nvSpPr>
          <p:cNvPr id="22572" name="Line 43"/>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2573" name="Line 44"/>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3555" name="Rectangle 2"/>
          <p:cNvSpPr>
            <a:spLocks noGrp="1"/>
          </p:cNvSpPr>
          <p:nvPr>
            <p:ph type="title"/>
          </p:nvPr>
        </p:nvSpPr>
        <p:spPr/>
        <p:txBody>
          <a:bodyPr vert="horz" wrap="square" lIns="91440" tIns="45720" rIns="91440" bIns="45720" anchor="ctr" anchorCtr="0"/>
          <a:p>
            <a:r>
              <a:rPr dirty="0">
                <a:solidFill>
                  <a:srgbClr val="000000"/>
                </a:solidFill>
              </a:rPr>
              <a:t>Example: Remove vertex with minimum distance</a:t>
            </a:r>
            <a:endParaRPr dirty="0">
              <a:solidFill>
                <a:srgbClr val="000000"/>
              </a:solidFill>
            </a:endParaRPr>
          </a:p>
        </p:txBody>
      </p:sp>
      <p:sp>
        <p:nvSpPr>
          <p:cNvPr id="23556" name="Text Box 41"/>
          <p:cNvSpPr txBox="1"/>
          <p:nvPr/>
        </p:nvSpPr>
        <p:spPr>
          <a:xfrm>
            <a:off x="3706813" y="5848350"/>
            <a:ext cx="5059680" cy="368300"/>
          </a:xfrm>
          <a:prstGeom prst="rect">
            <a:avLst/>
          </a:prstGeom>
          <a:noFill/>
          <a:ln w="9525">
            <a:noFill/>
          </a:ln>
        </p:spPr>
        <p:txBody>
          <a:bodyPr wrap="none">
            <a:spAutoFit/>
          </a:bodyPr>
          <a:p>
            <a:r>
              <a:rPr dirty="0">
                <a:latin typeface="Arial" panose="020B0604020202020204" pitchFamily="34" charset="0"/>
              </a:rPr>
              <a:t>Pick vertex in List with minimum distance, i.e., D</a:t>
            </a:r>
            <a:endParaRPr dirty="0">
              <a:latin typeface="Arial" panose="020B0604020202020204" pitchFamily="34" charset="0"/>
            </a:endParaRPr>
          </a:p>
        </p:txBody>
      </p:sp>
      <p:grpSp>
        <p:nvGrpSpPr>
          <p:cNvPr id="23557" name="Group 45"/>
          <p:cNvGrpSpPr/>
          <p:nvPr/>
        </p:nvGrpSpPr>
        <p:grpSpPr>
          <a:xfrm>
            <a:off x="3505200" y="2027238"/>
            <a:ext cx="5314951" cy="3598863"/>
            <a:chOff x="1248" y="1277"/>
            <a:chExt cx="3348" cy="2267"/>
          </a:xfrm>
        </p:grpSpPr>
        <p:sp>
          <p:nvSpPr>
            <p:cNvPr id="23560" name="Oval 3"/>
            <p:cNvSpPr/>
            <p:nvPr/>
          </p:nvSpPr>
          <p:spPr>
            <a:xfrm>
              <a:off x="2112" y="1536"/>
              <a:ext cx="288" cy="288"/>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3561" name="Oval 4"/>
            <p:cNvSpPr/>
            <p:nvPr/>
          </p:nvSpPr>
          <p:spPr>
            <a:xfrm>
              <a:off x="3408" y="2976"/>
              <a:ext cx="288" cy="288"/>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3562" name="Oval 5"/>
            <p:cNvSpPr/>
            <p:nvPr/>
          </p:nvSpPr>
          <p:spPr>
            <a:xfrm>
              <a:off x="2112" y="2976"/>
              <a:ext cx="288" cy="288"/>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3563" name="AutoShape 6"/>
            <p:cNvCxnSpPr>
              <a:stCxn id="23561" idx="2"/>
              <a:endCxn id="23562" idx="6"/>
            </p:cNvCxnSpPr>
            <p:nvPr/>
          </p:nvCxnSpPr>
          <p:spPr>
            <a:xfrm flipH="1">
              <a:off x="2400" y="3120"/>
              <a:ext cx="1008" cy="0"/>
            </a:xfrm>
            <a:prstGeom prst="straightConnector1">
              <a:avLst/>
            </a:prstGeom>
            <a:ln w="12700" cap="flat" cmpd="sng">
              <a:solidFill>
                <a:schemeClr val="tx1"/>
              </a:solidFill>
              <a:prstDash val="solid"/>
              <a:headEnd type="none" w="med" len="med"/>
              <a:tailEnd type="triangle" w="med" len="med"/>
            </a:ln>
          </p:spPr>
        </p:cxnSp>
        <p:cxnSp>
          <p:nvCxnSpPr>
            <p:cNvPr id="23564" name="AutoShape 7"/>
            <p:cNvCxnSpPr>
              <a:stCxn id="23576" idx="2"/>
              <a:endCxn id="23573" idx="6"/>
            </p:cNvCxnSpPr>
            <p:nvPr/>
          </p:nvCxnSpPr>
          <p:spPr>
            <a:xfrm flipH="1">
              <a:off x="1776" y="2400"/>
              <a:ext cx="1008" cy="0"/>
            </a:xfrm>
            <a:prstGeom prst="straightConnector1">
              <a:avLst/>
            </a:prstGeom>
            <a:ln w="12700" cap="flat" cmpd="sng">
              <a:solidFill>
                <a:schemeClr val="tx1"/>
              </a:solidFill>
              <a:prstDash val="solid"/>
              <a:headEnd type="none" w="med" len="med"/>
              <a:tailEnd type="triangle" w="med" len="med"/>
            </a:ln>
          </p:spPr>
        </p:cxnSp>
        <p:cxnSp>
          <p:nvCxnSpPr>
            <p:cNvPr id="23565" name="AutoShape 8"/>
            <p:cNvCxnSpPr>
              <a:stCxn id="23560" idx="6"/>
              <a:endCxn id="23566" idx="2"/>
            </p:cNvCxnSpPr>
            <p:nvPr/>
          </p:nvCxnSpPr>
          <p:spPr>
            <a:xfrm>
              <a:off x="2400" y="1680"/>
              <a:ext cx="1008" cy="0"/>
            </a:xfrm>
            <a:prstGeom prst="straightConnector1">
              <a:avLst/>
            </a:prstGeom>
            <a:ln w="12700" cap="flat" cmpd="sng">
              <a:solidFill>
                <a:schemeClr val="tx1"/>
              </a:solidFill>
              <a:prstDash val="solid"/>
              <a:headEnd type="none" w="med" len="med"/>
              <a:tailEnd type="triangle" w="med" len="med"/>
            </a:ln>
          </p:spPr>
        </p:cxnSp>
        <p:sp>
          <p:nvSpPr>
            <p:cNvPr id="23566" name="Oval 9"/>
            <p:cNvSpPr/>
            <p:nvPr/>
          </p:nvSpPr>
          <p:spPr>
            <a:xfrm>
              <a:off x="3408" y="1536"/>
              <a:ext cx="288" cy="288"/>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3567" name="Oval 10"/>
            <p:cNvSpPr/>
            <p:nvPr/>
          </p:nvSpPr>
          <p:spPr>
            <a:xfrm>
              <a:off x="3984" y="2256"/>
              <a:ext cx="288" cy="288"/>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3568" name="AutoShape 11"/>
            <p:cNvCxnSpPr>
              <a:stCxn id="23567" idx="2"/>
              <a:endCxn id="23576" idx="6"/>
            </p:cNvCxnSpPr>
            <p:nvPr/>
          </p:nvCxnSpPr>
          <p:spPr>
            <a:xfrm flipH="1">
              <a:off x="3072" y="2400"/>
              <a:ext cx="912" cy="0"/>
            </a:xfrm>
            <a:prstGeom prst="straightConnector1">
              <a:avLst/>
            </a:prstGeom>
            <a:ln w="12700" cap="flat" cmpd="sng">
              <a:solidFill>
                <a:schemeClr val="tx1"/>
              </a:solidFill>
              <a:prstDash val="solid"/>
              <a:headEnd type="triangle" w="med" len="med"/>
              <a:tailEnd type="none" w="med" len="med"/>
            </a:ln>
          </p:spPr>
        </p:cxnSp>
        <p:cxnSp>
          <p:nvCxnSpPr>
            <p:cNvPr id="23569" name="AutoShape 12"/>
            <p:cNvCxnSpPr>
              <a:stCxn id="23567" idx="1"/>
              <a:endCxn id="23566" idx="5"/>
            </p:cNvCxnSpPr>
            <p:nvPr/>
          </p:nvCxnSpPr>
          <p:spPr>
            <a:xfrm flipH="1" flipV="1">
              <a:off x="3654" y="1782"/>
              <a:ext cx="372" cy="516"/>
            </a:xfrm>
            <a:prstGeom prst="straightConnector1">
              <a:avLst/>
            </a:prstGeom>
            <a:ln w="12700" cap="flat" cmpd="sng">
              <a:solidFill>
                <a:schemeClr val="tx1"/>
              </a:solidFill>
              <a:prstDash val="solid"/>
              <a:headEnd type="triangle" w="med" len="med"/>
              <a:tailEnd type="none" w="med" len="med"/>
            </a:ln>
          </p:spPr>
        </p:cxnSp>
        <p:cxnSp>
          <p:nvCxnSpPr>
            <p:cNvPr id="23570" name="AutoShape 13"/>
            <p:cNvCxnSpPr>
              <a:stCxn id="23561" idx="7"/>
              <a:endCxn id="23567" idx="3"/>
            </p:cNvCxnSpPr>
            <p:nvPr/>
          </p:nvCxnSpPr>
          <p:spPr>
            <a:xfrm flipV="1">
              <a:off x="3654" y="2502"/>
              <a:ext cx="372" cy="516"/>
            </a:xfrm>
            <a:prstGeom prst="straightConnector1">
              <a:avLst/>
            </a:prstGeom>
            <a:ln w="12700" cap="flat" cmpd="sng">
              <a:solidFill>
                <a:schemeClr val="tx1"/>
              </a:solidFill>
              <a:prstDash val="solid"/>
              <a:headEnd type="triangle" w="med" len="med"/>
              <a:tailEnd type="none" w="med" len="med"/>
            </a:ln>
          </p:spPr>
        </p:cxnSp>
        <p:cxnSp>
          <p:nvCxnSpPr>
            <p:cNvPr id="23571" name="AutoShape 14"/>
            <p:cNvCxnSpPr>
              <a:stCxn id="23560" idx="5"/>
              <a:endCxn id="23576" idx="1"/>
            </p:cNvCxnSpPr>
            <p:nvPr/>
          </p:nvCxnSpPr>
          <p:spPr>
            <a:xfrm>
              <a:off x="2358" y="1782"/>
              <a:ext cx="468" cy="516"/>
            </a:xfrm>
            <a:prstGeom prst="straightConnector1">
              <a:avLst/>
            </a:prstGeom>
            <a:ln w="12700" cap="flat" cmpd="sng">
              <a:solidFill>
                <a:schemeClr val="tx1"/>
              </a:solidFill>
              <a:prstDash val="solid"/>
              <a:headEnd type="none" w="med" len="med"/>
              <a:tailEnd type="triangle" w="med" len="med"/>
            </a:ln>
          </p:spPr>
        </p:cxnSp>
        <p:cxnSp>
          <p:nvCxnSpPr>
            <p:cNvPr id="23572" name="AutoShape 15"/>
            <p:cNvCxnSpPr>
              <a:stCxn id="23566" idx="3"/>
              <a:endCxn id="23576" idx="7"/>
            </p:cNvCxnSpPr>
            <p:nvPr/>
          </p:nvCxnSpPr>
          <p:spPr>
            <a:xfrm flipH="1">
              <a:off x="3030" y="1782"/>
              <a:ext cx="420" cy="516"/>
            </a:xfrm>
            <a:prstGeom prst="straightConnector1">
              <a:avLst/>
            </a:prstGeom>
            <a:ln w="12700" cap="flat" cmpd="sng">
              <a:solidFill>
                <a:schemeClr val="tx1"/>
              </a:solidFill>
              <a:prstDash val="solid"/>
              <a:headEnd type="none" w="med" len="med"/>
              <a:tailEnd type="triangle" w="med" len="med"/>
            </a:ln>
          </p:spPr>
        </p:cxnSp>
        <p:sp>
          <p:nvSpPr>
            <p:cNvPr id="23573" name="Oval 16"/>
            <p:cNvSpPr/>
            <p:nvPr/>
          </p:nvSpPr>
          <p:spPr>
            <a:xfrm>
              <a:off x="1488" y="2256"/>
              <a:ext cx="288" cy="288"/>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3574" name="AutoShape 17"/>
            <p:cNvCxnSpPr>
              <a:stCxn id="23573" idx="7"/>
              <a:endCxn id="23560" idx="3"/>
            </p:cNvCxnSpPr>
            <p:nvPr/>
          </p:nvCxnSpPr>
          <p:spPr>
            <a:xfrm flipV="1">
              <a:off x="1734" y="1782"/>
              <a:ext cx="420" cy="516"/>
            </a:xfrm>
            <a:prstGeom prst="straightConnector1">
              <a:avLst/>
            </a:prstGeom>
            <a:ln w="12700" cap="flat" cmpd="sng">
              <a:solidFill>
                <a:schemeClr val="tx1"/>
              </a:solidFill>
              <a:prstDash val="solid"/>
              <a:headEnd type="none" w="med" len="med"/>
              <a:tailEnd type="triangle" w="med" len="med"/>
            </a:ln>
          </p:spPr>
        </p:cxnSp>
        <p:cxnSp>
          <p:nvCxnSpPr>
            <p:cNvPr id="23575" name="AutoShape 18"/>
            <p:cNvCxnSpPr>
              <a:stCxn id="23562" idx="1"/>
              <a:endCxn id="23573" idx="5"/>
            </p:cNvCxnSpPr>
            <p:nvPr/>
          </p:nvCxnSpPr>
          <p:spPr>
            <a:xfrm flipH="1" flipV="1">
              <a:off x="1734" y="2502"/>
              <a:ext cx="420" cy="516"/>
            </a:xfrm>
            <a:prstGeom prst="straightConnector1">
              <a:avLst/>
            </a:prstGeom>
            <a:ln w="12700" cap="flat" cmpd="sng">
              <a:solidFill>
                <a:schemeClr val="tx1"/>
              </a:solidFill>
              <a:prstDash val="solid"/>
              <a:headEnd type="triangle" w="med" len="med"/>
              <a:tailEnd type="none" w="med" len="med"/>
            </a:ln>
          </p:spPr>
        </p:cxnSp>
        <p:sp>
          <p:nvSpPr>
            <p:cNvPr id="23576" name="Oval 19"/>
            <p:cNvSpPr/>
            <p:nvPr/>
          </p:nvSpPr>
          <p:spPr>
            <a:xfrm>
              <a:off x="2784" y="2256"/>
              <a:ext cx="288" cy="288"/>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3577" name="AutoShape 20"/>
            <p:cNvCxnSpPr>
              <a:stCxn id="23561" idx="1"/>
              <a:endCxn id="23576" idx="5"/>
            </p:cNvCxnSpPr>
            <p:nvPr/>
          </p:nvCxnSpPr>
          <p:spPr>
            <a:xfrm flipH="1" flipV="1">
              <a:off x="3030" y="2502"/>
              <a:ext cx="420" cy="516"/>
            </a:xfrm>
            <a:prstGeom prst="straightConnector1">
              <a:avLst/>
            </a:prstGeom>
            <a:ln w="12700" cap="flat" cmpd="sng">
              <a:solidFill>
                <a:schemeClr val="tx1"/>
              </a:solidFill>
              <a:prstDash val="solid"/>
              <a:headEnd type="triangle" w="med" len="med"/>
              <a:tailEnd type="none" w="med" len="med"/>
            </a:ln>
          </p:spPr>
        </p:cxnSp>
        <p:cxnSp>
          <p:nvCxnSpPr>
            <p:cNvPr id="23578" name="AutoShape 21"/>
            <p:cNvCxnSpPr>
              <a:stCxn id="23562" idx="7"/>
              <a:endCxn id="23576" idx="3"/>
            </p:cNvCxnSpPr>
            <p:nvPr/>
          </p:nvCxnSpPr>
          <p:spPr>
            <a:xfrm flipV="1">
              <a:off x="2358" y="2502"/>
              <a:ext cx="468" cy="516"/>
            </a:xfrm>
            <a:prstGeom prst="straightConnector1">
              <a:avLst/>
            </a:prstGeom>
            <a:ln w="12700" cap="flat" cmpd="sng">
              <a:solidFill>
                <a:schemeClr val="tx1"/>
              </a:solidFill>
              <a:prstDash val="solid"/>
              <a:headEnd type="triangle" w="med" len="med"/>
              <a:tailEnd type="none" w="med" len="med"/>
            </a:ln>
          </p:spPr>
        </p:cxnSp>
        <p:sp>
          <p:nvSpPr>
            <p:cNvPr id="23579" name="Text Box 22"/>
            <p:cNvSpPr txBox="1"/>
            <p:nvPr/>
          </p:nvSpPr>
          <p:spPr>
            <a:xfrm>
              <a:off x="1737" y="1939"/>
              <a:ext cx="168" cy="174"/>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3580" name="Text Box 23"/>
            <p:cNvSpPr txBox="1"/>
            <p:nvPr/>
          </p:nvSpPr>
          <p:spPr>
            <a:xfrm>
              <a:off x="2562" y="1930"/>
              <a:ext cx="168" cy="174"/>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3581" name="Text Box 24"/>
            <p:cNvSpPr txBox="1"/>
            <p:nvPr/>
          </p:nvSpPr>
          <p:spPr>
            <a:xfrm>
              <a:off x="2832" y="1536"/>
              <a:ext cx="168" cy="174"/>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3582" name="Text Box 25"/>
            <p:cNvSpPr txBox="1"/>
            <p:nvPr/>
          </p:nvSpPr>
          <p:spPr>
            <a:xfrm>
              <a:off x="3763" y="1930"/>
              <a:ext cx="222" cy="174"/>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3583" name="Text Box 26"/>
            <p:cNvSpPr txBox="1"/>
            <p:nvPr/>
          </p:nvSpPr>
          <p:spPr>
            <a:xfrm>
              <a:off x="3101" y="1930"/>
              <a:ext cx="168" cy="174"/>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3584" name="Text Box 27"/>
            <p:cNvSpPr txBox="1"/>
            <p:nvPr/>
          </p:nvSpPr>
          <p:spPr>
            <a:xfrm>
              <a:off x="3888" y="2659"/>
              <a:ext cx="168" cy="174"/>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3585" name="Text Box 28"/>
            <p:cNvSpPr txBox="1"/>
            <p:nvPr/>
          </p:nvSpPr>
          <p:spPr>
            <a:xfrm>
              <a:off x="3264" y="2659"/>
              <a:ext cx="168" cy="174"/>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3586" name="Text Box 29"/>
            <p:cNvSpPr txBox="1"/>
            <p:nvPr/>
          </p:nvSpPr>
          <p:spPr>
            <a:xfrm>
              <a:off x="3456" y="2256"/>
              <a:ext cx="168" cy="174"/>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3587" name="Text Box 30"/>
            <p:cNvSpPr txBox="1"/>
            <p:nvPr/>
          </p:nvSpPr>
          <p:spPr>
            <a:xfrm>
              <a:off x="2160" y="2256"/>
              <a:ext cx="168" cy="174"/>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3588" name="Text Box 31"/>
            <p:cNvSpPr txBox="1"/>
            <p:nvPr/>
          </p:nvSpPr>
          <p:spPr>
            <a:xfrm>
              <a:off x="2448" y="2659"/>
              <a:ext cx="168" cy="174"/>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3589" name="Text Box 32"/>
            <p:cNvSpPr txBox="1"/>
            <p:nvPr/>
          </p:nvSpPr>
          <p:spPr>
            <a:xfrm>
              <a:off x="1776" y="2659"/>
              <a:ext cx="168" cy="174"/>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3590" name="Text Box 33"/>
            <p:cNvSpPr txBox="1"/>
            <p:nvPr/>
          </p:nvSpPr>
          <p:spPr>
            <a:xfrm>
              <a:off x="2880" y="2976"/>
              <a:ext cx="168" cy="174"/>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3591" name="Text Box 34"/>
            <p:cNvSpPr txBox="1"/>
            <p:nvPr/>
          </p:nvSpPr>
          <p:spPr>
            <a:xfrm>
              <a:off x="2160" y="1277"/>
              <a:ext cx="195" cy="232"/>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3592" name="Text Box 35"/>
            <p:cNvSpPr txBox="1"/>
            <p:nvPr/>
          </p:nvSpPr>
          <p:spPr>
            <a:xfrm>
              <a:off x="3456" y="1296"/>
              <a:ext cx="195" cy="232"/>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3593" name="Text Box 36"/>
            <p:cNvSpPr txBox="1"/>
            <p:nvPr/>
          </p:nvSpPr>
          <p:spPr>
            <a:xfrm>
              <a:off x="1248" y="2304"/>
              <a:ext cx="276" cy="232"/>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3594" name="Text Box 37"/>
            <p:cNvSpPr txBox="1"/>
            <p:nvPr/>
          </p:nvSpPr>
          <p:spPr>
            <a:xfrm>
              <a:off x="4320" y="2256"/>
              <a:ext cx="276" cy="232"/>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3595" name="Text Box 38"/>
            <p:cNvSpPr txBox="1"/>
            <p:nvPr/>
          </p:nvSpPr>
          <p:spPr>
            <a:xfrm>
              <a:off x="2832" y="2598"/>
              <a:ext cx="195" cy="232"/>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3596" name="Text Box 39"/>
            <p:cNvSpPr txBox="1"/>
            <p:nvPr/>
          </p:nvSpPr>
          <p:spPr>
            <a:xfrm>
              <a:off x="2160" y="3312"/>
              <a:ext cx="276" cy="232"/>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sp>
          <p:nvSpPr>
            <p:cNvPr id="23597" name="Text Box 40"/>
            <p:cNvSpPr txBox="1"/>
            <p:nvPr/>
          </p:nvSpPr>
          <p:spPr>
            <a:xfrm>
              <a:off x="3456" y="3312"/>
              <a:ext cx="276" cy="232"/>
            </a:xfrm>
            <a:prstGeom prst="rect">
              <a:avLst/>
            </a:prstGeom>
            <a:solidFill>
              <a:srgbClr val="FFFFCC"/>
            </a:solidFill>
            <a:ln w="9525">
              <a:noFill/>
            </a:ln>
          </p:spPr>
          <p:txBody>
            <a:bodyPr wrap="none">
              <a:spAutoFit/>
            </a:bodyPr>
            <a:p>
              <a:r>
                <a:rPr>
                  <a:solidFill>
                    <a:srgbClr val="674EA7"/>
                  </a:solidFill>
                  <a:latin typeface="Constantia" panose="02030602050306030303" pitchFamily="-101" charset="0"/>
                </a:rPr>
                <a:t>∞ </a:t>
              </a:r>
              <a:endParaRPr>
                <a:latin typeface="Arial" panose="020B0604020202020204" pitchFamily="34" charset="0"/>
              </a:endParaRPr>
            </a:p>
          </p:txBody>
        </p:sp>
      </p:grpSp>
      <p:sp>
        <p:nvSpPr>
          <p:cNvPr id="23558" name="Line 43"/>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3559" name="Line 44"/>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4579" name="Rectangle 2"/>
          <p:cNvSpPr>
            <a:spLocks noGrp="1"/>
          </p:cNvSpPr>
          <p:nvPr>
            <p:ph type="title"/>
          </p:nvPr>
        </p:nvSpPr>
        <p:spPr/>
        <p:txBody>
          <a:bodyPr vert="horz" wrap="square" lIns="91440" tIns="45720" rIns="91440" bIns="45720" anchor="ctr" anchorCtr="0"/>
          <a:p>
            <a:r>
              <a:rPr dirty="0">
                <a:solidFill>
                  <a:srgbClr val="000000"/>
                </a:solidFill>
              </a:rPr>
              <a:t>Example: Update neighbors</a:t>
            </a:r>
            <a:endParaRPr dirty="0">
              <a:solidFill>
                <a:srgbClr val="000000"/>
              </a:solidFill>
            </a:endParaRPr>
          </a:p>
        </p:txBody>
      </p:sp>
      <p:sp>
        <p:nvSpPr>
          <p:cNvPr id="24580"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4581"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4582"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4583" name="AutoShape 6"/>
          <p:cNvCxnSpPr>
            <a:stCxn id="24581" idx="2"/>
            <a:endCxn id="24582"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4584" name="AutoShape 7"/>
          <p:cNvCxnSpPr>
            <a:stCxn id="24596" idx="2"/>
            <a:endCxn id="24593" idx="6"/>
          </p:cNvCxnSpPr>
          <p:nvPr/>
        </p:nvCxnSpPr>
        <p:spPr>
          <a:xfrm flipH="1">
            <a:off x="4343400" y="3810000"/>
            <a:ext cx="1585913" cy="0"/>
          </a:xfrm>
          <a:prstGeom prst="straightConnector1">
            <a:avLst/>
          </a:prstGeom>
          <a:ln w="28575" cap="flat" cmpd="sng">
            <a:solidFill>
              <a:schemeClr val="accent1"/>
            </a:solidFill>
            <a:prstDash val="solid"/>
            <a:headEnd type="none" w="med" len="med"/>
            <a:tailEnd type="triangle" w="med" len="med"/>
          </a:ln>
        </p:spPr>
      </p:cxnSp>
      <p:cxnSp>
        <p:nvCxnSpPr>
          <p:cNvPr id="24585" name="AutoShape 8"/>
          <p:cNvCxnSpPr>
            <a:stCxn id="24580" idx="6"/>
            <a:endCxn id="24586"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4586" name="Oval 9"/>
          <p:cNvSpPr/>
          <p:nvPr/>
        </p:nvSpPr>
        <p:spPr>
          <a:xfrm>
            <a:off x="6934200" y="2438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4587" name="Oval 10"/>
          <p:cNvSpPr/>
          <p:nvPr/>
        </p:nvSpPr>
        <p:spPr>
          <a:xfrm>
            <a:off x="7848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4588" name="AutoShape 11"/>
          <p:cNvCxnSpPr/>
          <p:nvPr/>
        </p:nvCxnSpPr>
        <p:spPr>
          <a:xfrm flipH="1">
            <a:off x="6400800" y="3810000"/>
            <a:ext cx="1447800" cy="0"/>
          </a:xfrm>
          <a:prstGeom prst="straightConnector1">
            <a:avLst/>
          </a:prstGeom>
          <a:ln w="28575" cap="flat" cmpd="sng">
            <a:solidFill>
              <a:schemeClr val="accent1"/>
            </a:solidFill>
            <a:prstDash val="solid"/>
            <a:headEnd type="triangle" w="med" len="med"/>
            <a:tailEnd type="none" w="med" len="med"/>
          </a:ln>
        </p:spPr>
      </p:cxnSp>
      <p:cxnSp>
        <p:nvCxnSpPr>
          <p:cNvPr id="24589" name="AutoShape 12"/>
          <p:cNvCxnSpPr>
            <a:stCxn id="24587" idx="1"/>
            <a:endCxn id="24586"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4590" name="AutoShape 13"/>
          <p:cNvCxnSpPr>
            <a:stCxn id="24581" idx="7"/>
            <a:endCxn id="24587"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4591" name="AutoShape 14"/>
          <p:cNvCxnSpPr>
            <a:stCxn id="24580" idx="5"/>
            <a:endCxn id="24596" idx="1"/>
          </p:cNvCxnSpPr>
          <p:nvPr/>
        </p:nvCxnSpPr>
        <p:spPr>
          <a:xfrm>
            <a:off x="5267325" y="2828925"/>
            <a:ext cx="742950" cy="804863"/>
          </a:xfrm>
          <a:prstGeom prst="straightConnector1">
            <a:avLst/>
          </a:prstGeom>
          <a:ln w="12700" cap="flat" cmpd="sng">
            <a:solidFill>
              <a:schemeClr val="tx1"/>
            </a:solidFill>
            <a:prstDash val="solid"/>
            <a:headEnd type="none" w="med" len="med"/>
            <a:tailEnd type="triangle" w="med" len="med"/>
          </a:ln>
        </p:spPr>
      </p:cxnSp>
      <p:cxnSp>
        <p:nvCxnSpPr>
          <p:cNvPr id="24592" name="AutoShape 15"/>
          <p:cNvCxnSpPr>
            <a:stCxn id="24586" idx="3"/>
            <a:endCxn id="24596" idx="7"/>
          </p:cNvCxnSpPr>
          <p:nvPr/>
        </p:nvCxnSpPr>
        <p:spPr>
          <a:xfrm flipH="1">
            <a:off x="6334125" y="2828925"/>
            <a:ext cx="666750" cy="804863"/>
          </a:xfrm>
          <a:prstGeom prst="straightConnector1">
            <a:avLst/>
          </a:prstGeom>
          <a:ln w="12700" cap="flat" cmpd="sng">
            <a:solidFill>
              <a:schemeClr val="tx1"/>
            </a:solidFill>
            <a:prstDash val="solid"/>
            <a:headEnd type="none" w="med" len="med"/>
            <a:tailEnd type="triangle" w="med" len="med"/>
          </a:ln>
        </p:spPr>
      </p:cxnSp>
      <p:sp>
        <p:nvSpPr>
          <p:cNvPr id="24593" name="Oval 16"/>
          <p:cNvSpPr/>
          <p:nvPr/>
        </p:nvSpPr>
        <p:spPr>
          <a:xfrm>
            <a:off x="38862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4594" name="AutoShape 17"/>
          <p:cNvCxnSpPr>
            <a:stCxn id="24593" idx="7"/>
            <a:endCxn id="24580"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4595" name="AutoShape 18"/>
          <p:cNvCxnSpPr>
            <a:stCxn id="24582" idx="1"/>
            <a:endCxn id="24593"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4596" name="Oval 19"/>
          <p:cNvSpPr/>
          <p:nvPr/>
        </p:nvSpPr>
        <p:spPr>
          <a:xfrm>
            <a:off x="5943600" y="3581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4597" name="AutoShape 20"/>
          <p:cNvCxnSpPr>
            <a:stCxn id="24581" idx="1"/>
            <a:endCxn id="24596" idx="5"/>
          </p:cNvCxnSpPr>
          <p:nvPr/>
        </p:nvCxnSpPr>
        <p:spPr>
          <a:xfrm flipH="1" flipV="1">
            <a:off x="6334125" y="3986213"/>
            <a:ext cx="666750" cy="804862"/>
          </a:xfrm>
          <a:prstGeom prst="straightConnector1">
            <a:avLst/>
          </a:prstGeom>
          <a:ln w="28575" cap="flat" cmpd="sng">
            <a:solidFill>
              <a:schemeClr val="accent1"/>
            </a:solidFill>
            <a:prstDash val="solid"/>
            <a:headEnd type="triangle" w="med" len="med"/>
            <a:tailEnd type="none" w="med" len="med"/>
          </a:ln>
        </p:spPr>
      </p:cxnSp>
      <p:cxnSp>
        <p:nvCxnSpPr>
          <p:cNvPr id="24598" name="AutoShape 21"/>
          <p:cNvCxnSpPr>
            <a:stCxn id="24582" idx="7"/>
            <a:endCxn id="24596" idx="3"/>
          </p:cNvCxnSpPr>
          <p:nvPr/>
        </p:nvCxnSpPr>
        <p:spPr>
          <a:xfrm flipV="1">
            <a:off x="5267325" y="3986213"/>
            <a:ext cx="742950" cy="804862"/>
          </a:xfrm>
          <a:prstGeom prst="straightConnector1">
            <a:avLst/>
          </a:prstGeom>
          <a:ln w="28575" cap="flat" cmpd="sng">
            <a:solidFill>
              <a:schemeClr val="accent1"/>
            </a:solidFill>
            <a:prstDash val="solid"/>
            <a:headEnd type="triangle" w="med" len="med"/>
            <a:tailEnd type="none" w="med" len="med"/>
          </a:ln>
        </p:spPr>
      </p:cxnSp>
      <p:sp>
        <p:nvSpPr>
          <p:cNvPr id="24599"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4600"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4601"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4602"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4603"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4604"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4605"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4606"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4607"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4608"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4609"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4610"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4611"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4612"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4613" name="Text Box 36"/>
          <p:cNvSpPr txBox="1"/>
          <p:nvPr/>
        </p:nvSpPr>
        <p:spPr>
          <a:xfrm>
            <a:off x="3505200" y="3667125"/>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4614" name="Text Box 37"/>
          <p:cNvSpPr txBox="1"/>
          <p:nvPr/>
        </p:nvSpPr>
        <p:spPr>
          <a:xfrm>
            <a:off x="8382000" y="3590925"/>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4615"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4616" name="Text Box 39"/>
          <p:cNvSpPr txBox="1"/>
          <p:nvPr/>
        </p:nvSpPr>
        <p:spPr>
          <a:xfrm>
            <a:off x="4953000" y="5257800"/>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9</a:t>
            </a:r>
            <a:endParaRPr dirty="0">
              <a:latin typeface="Arial" panose="020B0604020202020204" pitchFamily="34" charset="0"/>
            </a:endParaRPr>
          </a:p>
        </p:txBody>
      </p:sp>
      <p:sp>
        <p:nvSpPr>
          <p:cNvPr id="24617" name="Text Box 40"/>
          <p:cNvSpPr txBox="1"/>
          <p:nvPr/>
        </p:nvSpPr>
        <p:spPr>
          <a:xfrm>
            <a:off x="7010400" y="5257800"/>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
        <p:nvSpPr>
          <p:cNvPr id="24618" name="Line 43"/>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4619" name="Line 44"/>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4620" name="Line 45"/>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4621" name="Line 46"/>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4622" name="Line 47"/>
          <p:cNvSpPr/>
          <p:nvPr/>
        </p:nvSpPr>
        <p:spPr>
          <a:xfrm flipV="1">
            <a:off x="5486400" y="4114800"/>
            <a:ext cx="533400" cy="609600"/>
          </a:xfrm>
          <a:prstGeom prst="line">
            <a:avLst/>
          </a:prstGeom>
          <a:ln w="28575" cap="flat" cmpd="sng">
            <a:solidFill>
              <a:srgbClr val="FF0000"/>
            </a:solidFill>
            <a:prstDash val="solid"/>
            <a:headEnd type="none" w="med" len="med"/>
            <a:tailEnd type="triangle" w="med" len="med"/>
          </a:ln>
        </p:spPr>
      </p:sp>
      <p:sp>
        <p:nvSpPr>
          <p:cNvPr id="24623" name="Line 48"/>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4624" name="Text Box 49"/>
          <p:cNvSpPr txBox="1"/>
          <p:nvPr/>
        </p:nvSpPr>
        <p:spPr>
          <a:xfrm>
            <a:off x="1828800" y="4724400"/>
            <a:ext cx="2728913" cy="1198880"/>
          </a:xfrm>
          <a:prstGeom prst="rect">
            <a:avLst/>
          </a:prstGeom>
          <a:noFill/>
          <a:ln w="9525">
            <a:noFill/>
          </a:ln>
        </p:spPr>
        <p:txBody>
          <a:bodyPr>
            <a:spAutoFit/>
          </a:bodyPr>
          <a:p>
            <a:pPr>
              <a:spcBef>
                <a:spcPct val="50000"/>
              </a:spcBef>
            </a:pPr>
            <a:r>
              <a:rPr dirty="0">
                <a:latin typeface="Arial" panose="020B0604020202020204" pitchFamily="34" charset="0"/>
              </a:rPr>
              <a:t>Distance(C) = 1 + 2 = 3 Distance(E) = 1 + 2 = 3 Distance(F) = 1 + 8 = 9 Distance(G) = 1 + 4 = 5</a:t>
            </a:r>
            <a:endParaRPr dirty="0">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5603" name="Rectangle 2"/>
          <p:cNvSpPr>
            <a:spLocks noGrp="1"/>
          </p:cNvSpPr>
          <p:nvPr>
            <p:ph type="title"/>
          </p:nvPr>
        </p:nvSpPr>
        <p:spPr/>
        <p:txBody>
          <a:bodyPr vert="horz" wrap="square" lIns="91440" tIns="45720" rIns="91440" bIns="45720" anchor="ctr" anchorCtr="0"/>
          <a:p>
            <a:r>
              <a:rPr dirty="0">
                <a:solidFill>
                  <a:srgbClr val="000000"/>
                </a:solidFill>
              </a:rPr>
              <a:t>Example: Continued...</a:t>
            </a:r>
            <a:endParaRPr dirty="0">
              <a:solidFill>
                <a:srgbClr val="FF0000"/>
              </a:solidFill>
            </a:endParaRPr>
          </a:p>
        </p:txBody>
      </p:sp>
      <p:sp>
        <p:nvSpPr>
          <p:cNvPr id="25604"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5605"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5606"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5607" name="AutoShape 6"/>
          <p:cNvCxnSpPr>
            <a:stCxn id="25605" idx="2"/>
            <a:endCxn id="25606"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5608" name="AutoShape 7"/>
          <p:cNvCxnSpPr>
            <a:stCxn id="25620" idx="2"/>
            <a:endCxn id="25617"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5609" name="AutoShape 8"/>
          <p:cNvCxnSpPr>
            <a:stCxn id="25604" idx="6"/>
            <a:endCxn id="25610" idx="2"/>
          </p:cNvCxnSpPr>
          <p:nvPr/>
        </p:nvCxnSpPr>
        <p:spPr>
          <a:xfrm>
            <a:off x="5334000" y="2667000"/>
            <a:ext cx="1585913" cy="0"/>
          </a:xfrm>
          <a:prstGeom prst="straightConnector1">
            <a:avLst/>
          </a:prstGeom>
          <a:ln w="12700" cap="flat" cmpd="sng">
            <a:solidFill>
              <a:schemeClr val="tx1"/>
            </a:solidFill>
            <a:prstDash val="solid"/>
            <a:headEnd type="none" w="med" len="med"/>
            <a:tailEnd type="triangle" w="med" len="med"/>
          </a:ln>
        </p:spPr>
      </p:cxnSp>
      <p:sp>
        <p:nvSpPr>
          <p:cNvPr id="25610" name="Oval 9"/>
          <p:cNvSpPr/>
          <p:nvPr/>
        </p:nvSpPr>
        <p:spPr>
          <a:xfrm>
            <a:off x="6934200" y="2438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5611" name="Oval 10"/>
          <p:cNvSpPr/>
          <p:nvPr/>
        </p:nvSpPr>
        <p:spPr>
          <a:xfrm>
            <a:off x="78486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5612" name="AutoShape 11"/>
          <p:cNvCxnSpPr>
            <a:stCxn id="25611" idx="2"/>
            <a:endCxn id="25620"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5613" name="AutoShape 12"/>
          <p:cNvCxnSpPr>
            <a:stCxn id="25611" idx="1"/>
            <a:endCxn id="25610" idx="5"/>
          </p:cNvCxnSpPr>
          <p:nvPr/>
        </p:nvCxnSpPr>
        <p:spPr>
          <a:xfrm flipH="1" flipV="1">
            <a:off x="7324725" y="2843213"/>
            <a:ext cx="590550" cy="804862"/>
          </a:xfrm>
          <a:prstGeom prst="straightConnector1">
            <a:avLst/>
          </a:prstGeom>
          <a:ln w="28575" cap="flat" cmpd="sng">
            <a:solidFill>
              <a:schemeClr val="accent1"/>
            </a:solidFill>
            <a:prstDash val="solid"/>
            <a:headEnd type="triangle" w="med" len="med"/>
            <a:tailEnd type="none" w="med" len="med"/>
          </a:ln>
        </p:spPr>
      </p:cxnSp>
      <p:cxnSp>
        <p:nvCxnSpPr>
          <p:cNvPr id="25614" name="AutoShape 13"/>
          <p:cNvCxnSpPr>
            <a:stCxn id="25605" idx="7"/>
            <a:endCxn id="25611"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5615" name="AutoShape 14"/>
          <p:cNvCxnSpPr>
            <a:stCxn id="25604" idx="5"/>
            <a:endCxn id="25620"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5616" name="AutoShape 15"/>
          <p:cNvCxnSpPr>
            <a:stCxn id="25610" idx="3"/>
            <a:endCxn id="25620" idx="7"/>
          </p:cNvCxnSpPr>
          <p:nvPr/>
        </p:nvCxnSpPr>
        <p:spPr>
          <a:xfrm flipH="1">
            <a:off x="6334125" y="2843213"/>
            <a:ext cx="666750" cy="804862"/>
          </a:xfrm>
          <a:prstGeom prst="straightConnector1">
            <a:avLst/>
          </a:prstGeom>
          <a:ln w="28575" cap="flat" cmpd="sng">
            <a:solidFill>
              <a:schemeClr val="accent1"/>
            </a:solidFill>
            <a:prstDash val="solid"/>
            <a:headEnd type="none" w="med" len="med"/>
            <a:tailEnd type="triangle" w="med" len="med"/>
          </a:ln>
        </p:spPr>
      </p:cxnSp>
      <p:sp>
        <p:nvSpPr>
          <p:cNvPr id="25617" name="Oval 16"/>
          <p:cNvSpPr/>
          <p:nvPr/>
        </p:nvSpPr>
        <p:spPr>
          <a:xfrm>
            <a:off x="38862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5618" name="AutoShape 17"/>
          <p:cNvCxnSpPr>
            <a:stCxn id="25617" idx="7"/>
            <a:endCxn id="25604"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5619" name="AutoShape 18"/>
          <p:cNvCxnSpPr>
            <a:stCxn id="25606" idx="1"/>
            <a:endCxn id="25617"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5620" name="Oval 19"/>
          <p:cNvSpPr/>
          <p:nvPr/>
        </p:nvSpPr>
        <p:spPr>
          <a:xfrm>
            <a:off x="5943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5621" name="AutoShape 20"/>
          <p:cNvCxnSpPr>
            <a:stCxn id="25605" idx="1"/>
            <a:endCxn id="25620"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5622" name="AutoShape 21"/>
          <p:cNvCxnSpPr>
            <a:stCxn id="25606" idx="7"/>
            <a:endCxn id="25620"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5623"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5624"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5625"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5626"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5627"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5628"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5629"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5630"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5631"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5632"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5633"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5634"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5635"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5636"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5637" name="Text Box 36"/>
          <p:cNvSpPr txBox="1"/>
          <p:nvPr/>
        </p:nvSpPr>
        <p:spPr>
          <a:xfrm>
            <a:off x="3505200" y="36671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5638" name="Text Box 37"/>
          <p:cNvSpPr txBox="1"/>
          <p:nvPr/>
        </p:nvSpPr>
        <p:spPr>
          <a:xfrm>
            <a:off x="8382000" y="35909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5639"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5640" name="Text Box 42"/>
          <p:cNvSpPr txBox="1"/>
          <p:nvPr/>
        </p:nvSpPr>
        <p:spPr>
          <a:xfrm>
            <a:off x="2438400" y="1676400"/>
            <a:ext cx="6977380" cy="368300"/>
          </a:xfrm>
          <a:prstGeom prst="rect">
            <a:avLst/>
          </a:prstGeom>
          <a:noFill/>
          <a:ln w="9525">
            <a:noFill/>
          </a:ln>
        </p:spPr>
        <p:txBody>
          <a:bodyPr wrap="none">
            <a:spAutoFit/>
          </a:bodyPr>
          <a:p>
            <a:r>
              <a:rPr dirty="0">
                <a:latin typeface="Arial" panose="020B0604020202020204" pitchFamily="34" charset="0"/>
              </a:rPr>
              <a:t>Pick vertex in List with minimum distance (B) and update neighbors</a:t>
            </a:r>
            <a:endParaRPr dirty="0">
              <a:latin typeface="Arial" panose="020B0604020202020204" pitchFamily="34" charset="0"/>
            </a:endParaRPr>
          </a:p>
        </p:txBody>
      </p:sp>
      <p:sp>
        <p:nvSpPr>
          <p:cNvPr id="25641" name="Line 43"/>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5642" name="Line 44"/>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5643" name="Line 45"/>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5644" name="Line 46"/>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5645" name="Line 47"/>
          <p:cNvSpPr/>
          <p:nvPr/>
        </p:nvSpPr>
        <p:spPr>
          <a:xfrm flipV="1">
            <a:off x="5486400" y="4114800"/>
            <a:ext cx="533400" cy="609600"/>
          </a:xfrm>
          <a:prstGeom prst="line">
            <a:avLst/>
          </a:prstGeom>
          <a:ln w="28575" cap="flat" cmpd="sng">
            <a:solidFill>
              <a:srgbClr val="FF0000"/>
            </a:solidFill>
            <a:prstDash val="solid"/>
            <a:headEnd type="none" w="med" len="med"/>
            <a:tailEnd type="triangle" w="med" len="med"/>
          </a:ln>
        </p:spPr>
      </p:sp>
      <p:sp>
        <p:nvSpPr>
          <p:cNvPr id="25646" name="Line 48"/>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5647" name="Text Box 49"/>
          <p:cNvSpPr txBox="1"/>
          <p:nvPr/>
        </p:nvSpPr>
        <p:spPr>
          <a:xfrm>
            <a:off x="49530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9</a:t>
            </a:r>
            <a:endParaRPr dirty="0">
              <a:latin typeface="Arial" panose="020B0604020202020204" pitchFamily="34" charset="0"/>
            </a:endParaRPr>
          </a:p>
        </p:txBody>
      </p:sp>
      <p:sp>
        <p:nvSpPr>
          <p:cNvPr id="25648" name="Text Box 50"/>
          <p:cNvSpPr txBox="1"/>
          <p:nvPr/>
        </p:nvSpPr>
        <p:spPr>
          <a:xfrm>
            <a:off x="70104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
        <p:nvSpPr>
          <p:cNvPr id="25649" name="Text Box 51"/>
          <p:cNvSpPr txBox="1"/>
          <p:nvPr/>
        </p:nvSpPr>
        <p:spPr>
          <a:xfrm>
            <a:off x="7696200" y="4419600"/>
            <a:ext cx="2743200" cy="1753235"/>
          </a:xfrm>
          <a:prstGeom prst="rect">
            <a:avLst/>
          </a:prstGeom>
          <a:noFill/>
          <a:ln w="9525">
            <a:noFill/>
          </a:ln>
        </p:spPr>
        <p:txBody>
          <a:bodyPr>
            <a:spAutoFit/>
          </a:bodyPr>
          <a:p>
            <a:pPr>
              <a:spcBef>
                <a:spcPct val="50000"/>
              </a:spcBef>
            </a:pPr>
            <a:r>
              <a:rPr dirty="0">
                <a:latin typeface="Arial" panose="020B0604020202020204" pitchFamily="34" charset="0"/>
              </a:rPr>
              <a:t>Note : distance(D)</a:t>
            </a:r>
            <a:r>
              <a:rPr baseline="-25000" dirty="0">
                <a:latin typeface="Arial" panose="020B0604020202020204" pitchFamily="34" charset="0"/>
              </a:rPr>
              <a:t> </a:t>
            </a:r>
            <a:r>
              <a:rPr dirty="0">
                <a:latin typeface="Arial" panose="020B0604020202020204" pitchFamily="34" charset="0"/>
              </a:rPr>
              <a:t>not updated since D is already known and distance(E) not updated since it is larger than previously computed</a:t>
            </a:r>
            <a:endParaRPr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6627" name="Rectangle 2"/>
          <p:cNvSpPr>
            <a:spLocks noGrp="1"/>
          </p:cNvSpPr>
          <p:nvPr>
            <p:ph type="title"/>
          </p:nvPr>
        </p:nvSpPr>
        <p:spPr/>
        <p:txBody>
          <a:bodyPr vert="horz" wrap="square" lIns="91440" tIns="45720" rIns="91440" bIns="45720" anchor="ctr" anchorCtr="0"/>
          <a:p>
            <a:r>
              <a:rPr dirty="0">
                <a:solidFill>
                  <a:srgbClr val="000000"/>
                </a:solidFill>
              </a:rPr>
              <a:t>Example: Continued...</a:t>
            </a:r>
            <a:endParaRPr dirty="0">
              <a:solidFill>
                <a:srgbClr val="FF0000"/>
              </a:solidFill>
            </a:endParaRPr>
          </a:p>
        </p:txBody>
      </p:sp>
      <p:sp>
        <p:nvSpPr>
          <p:cNvPr id="26628"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6629"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6630"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6631" name="AutoShape 6"/>
          <p:cNvCxnSpPr>
            <a:stCxn id="26629" idx="2"/>
            <a:endCxn id="26630"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6632" name="AutoShape 7"/>
          <p:cNvCxnSpPr>
            <a:stCxn id="26644" idx="2"/>
            <a:endCxn id="26641"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6633" name="AutoShape 8"/>
          <p:cNvCxnSpPr>
            <a:stCxn id="26628" idx="6"/>
            <a:endCxn id="26634"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6634" name="Oval 9"/>
          <p:cNvSpPr/>
          <p:nvPr/>
        </p:nvSpPr>
        <p:spPr>
          <a:xfrm>
            <a:off x="69342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6635" name="Oval 10"/>
          <p:cNvSpPr/>
          <p:nvPr/>
        </p:nvSpPr>
        <p:spPr>
          <a:xfrm>
            <a:off x="7848600" y="3581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6636" name="AutoShape 11"/>
          <p:cNvCxnSpPr>
            <a:stCxn id="26635" idx="2"/>
            <a:endCxn id="26644" idx="6"/>
          </p:cNvCxnSpPr>
          <p:nvPr/>
        </p:nvCxnSpPr>
        <p:spPr>
          <a:xfrm flipH="1">
            <a:off x="6400800" y="3810000"/>
            <a:ext cx="1433513" cy="0"/>
          </a:xfrm>
          <a:prstGeom prst="straightConnector1">
            <a:avLst/>
          </a:prstGeom>
          <a:ln w="12700" cap="flat" cmpd="sng">
            <a:solidFill>
              <a:schemeClr val="tx1"/>
            </a:solidFill>
            <a:prstDash val="solid"/>
            <a:headEnd type="triangle" w="med" len="med"/>
            <a:tailEnd type="none" w="med" len="med"/>
          </a:ln>
        </p:spPr>
      </p:cxnSp>
      <p:cxnSp>
        <p:nvCxnSpPr>
          <p:cNvPr id="26637" name="AutoShape 12"/>
          <p:cNvCxnSpPr>
            <a:stCxn id="26635" idx="1"/>
            <a:endCxn id="26634" idx="5"/>
          </p:cNvCxnSpPr>
          <p:nvPr/>
        </p:nvCxnSpPr>
        <p:spPr>
          <a:xfrm flipH="1" flipV="1">
            <a:off x="7324725" y="2828925"/>
            <a:ext cx="590550" cy="804863"/>
          </a:xfrm>
          <a:prstGeom prst="straightConnector1">
            <a:avLst/>
          </a:prstGeom>
          <a:ln w="12700" cap="flat" cmpd="sng">
            <a:solidFill>
              <a:schemeClr val="tx1"/>
            </a:solidFill>
            <a:prstDash val="solid"/>
            <a:headEnd type="triangle" w="med" len="med"/>
            <a:tailEnd type="none" w="med" len="med"/>
          </a:ln>
        </p:spPr>
      </p:cxnSp>
      <p:cxnSp>
        <p:nvCxnSpPr>
          <p:cNvPr id="26638" name="AutoShape 13"/>
          <p:cNvCxnSpPr>
            <a:stCxn id="26629" idx="7"/>
            <a:endCxn id="26635" idx="3"/>
          </p:cNvCxnSpPr>
          <p:nvPr/>
        </p:nvCxnSpPr>
        <p:spPr>
          <a:xfrm flipV="1">
            <a:off x="7324725" y="3986213"/>
            <a:ext cx="590550" cy="804862"/>
          </a:xfrm>
          <a:prstGeom prst="straightConnector1">
            <a:avLst/>
          </a:prstGeom>
          <a:ln w="28575" cap="flat" cmpd="sng">
            <a:solidFill>
              <a:schemeClr val="accent1"/>
            </a:solidFill>
            <a:prstDash val="solid"/>
            <a:headEnd type="triangle" w="med" len="med"/>
            <a:tailEnd type="none" w="med" len="med"/>
          </a:ln>
        </p:spPr>
      </p:cxnSp>
      <p:cxnSp>
        <p:nvCxnSpPr>
          <p:cNvPr id="26639" name="AutoShape 14"/>
          <p:cNvCxnSpPr>
            <a:stCxn id="26628" idx="5"/>
            <a:endCxn id="26644"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6640" name="AutoShape 15"/>
          <p:cNvCxnSpPr>
            <a:stCxn id="26634" idx="3"/>
            <a:endCxn id="26644"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6641" name="Oval 16"/>
          <p:cNvSpPr/>
          <p:nvPr/>
        </p:nvSpPr>
        <p:spPr>
          <a:xfrm>
            <a:off x="3886200" y="3581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6642" name="AutoShape 17"/>
          <p:cNvCxnSpPr>
            <a:stCxn id="26641" idx="7"/>
            <a:endCxn id="26628"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6643" name="AutoShape 18"/>
          <p:cNvCxnSpPr>
            <a:stCxn id="26630" idx="1"/>
            <a:endCxn id="26641"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6644" name="Oval 19"/>
          <p:cNvSpPr/>
          <p:nvPr/>
        </p:nvSpPr>
        <p:spPr>
          <a:xfrm>
            <a:off x="5943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6645" name="AutoShape 20"/>
          <p:cNvCxnSpPr>
            <a:stCxn id="26629" idx="1"/>
            <a:endCxn id="26644"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6646" name="AutoShape 21"/>
          <p:cNvCxnSpPr>
            <a:stCxn id="26630" idx="7"/>
            <a:endCxn id="26644"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6647"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6648"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6649"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6650"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6651"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6652"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6653"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6654"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6655"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6656"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6657"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6658"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6659"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6660"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6661" name="Text Box 36"/>
          <p:cNvSpPr txBox="1"/>
          <p:nvPr/>
        </p:nvSpPr>
        <p:spPr>
          <a:xfrm>
            <a:off x="3505200" y="36671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6662" name="Text Box 37"/>
          <p:cNvSpPr txBox="1"/>
          <p:nvPr/>
        </p:nvSpPr>
        <p:spPr>
          <a:xfrm>
            <a:off x="8382000" y="35909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6663"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6664" name="Line 42"/>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6665" name="Line 43"/>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6666" name="Line 44"/>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6667" name="Line 45"/>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6668" name="Line 46"/>
          <p:cNvSpPr/>
          <p:nvPr/>
        </p:nvSpPr>
        <p:spPr>
          <a:xfrm flipV="1">
            <a:off x="5486400" y="4114800"/>
            <a:ext cx="533400" cy="609600"/>
          </a:xfrm>
          <a:prstGeom prst="line">
            <a:avLst/>
          </a:prstGeom>
          <a:ln w="28575" cap="flat" cmpd="sng">
            <a:solidFill>
              <a:srgbClr val="FF0000"/>
            </a:solidFill>
            <a:prstDash val="solid"/>
            <a:headEnd type="none" w="med" len="med"/>
            <a:tailEnd type="triangle" w="med" len="med"/>
          </a:ln>
        </p:spPr>
      </p:sp>
      <p:sp>
        <p:nvSpPr>
          <p:cNvPr id="26669" name="Line 47"/>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6670" name="Text Box 48"/>
          <p:cNvSpPr txBox="1"/>
          <p:nvPr/>
        </p:nvSpPr>
        <p:spPr>
          <a:xfrm>
            <a:off x="49530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9</a:t>
            </a:r>
            <a:endParaRPr dirty="0">
              <a:latin typeface="Arial" panose="020B0604020202020204" pitchFamily="34" charset="0"/>
            </a:endParaRPr>
          </a:p>
        </p:txBody>
      </p:sp>
      <p:sp>
        <p:nvSpPr>
          <p:cNvPr id="26671" name="Text Box 49"/>
          <p:cNvSpPr txBox="1"/>
          <p:nvPr/>
        </p:nvSpPr>
        <p:spPr>
          <a:xfrm>
            <a:off x="70104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
        <p:nvSpPr>
          <p:cNvPr id="26672" name="Text Box 50"/>
          <p:cNvSpPr txBox="1"/>
          <p:nvPr/>
        </p:nvSpPr>
        <p:spPr>
          <a:xfrm>
            <a:off x="7924800" y="4953000"/>
            <a:ext cx="2133600" cy="368300"/>
          </a:xfrm>
          <a:prstGeom prst="rect">
            <a:avLst/>
          </a:prstGeom>
          <a:noFill/>
          <a:ln w="9525">
            <a:noFill/>
          </a:ln>
        </p:spPr>
        <p:txBody>
          <a:bodyPr>
            <a:spAutoFit/>
          </a:bodyPr>
          <a:p>
            <a:pPr>
              <a:spcBef>
                <a:spcPct val="50000"/>
              </a:spcBef>
            </a:pPr>
            <a:r>
              <a:rPr dirty="0">
                <a:latin typeface="Arial" panose="020B0604020202020204" pitchFamily="34" charset="0"/>
              </a:rPr>
              <a:t>No updating</a:t>
            </a:r>
            <a:endParaRPr dirty="0">
              <a:latin typeface="Arial" panose="020B0604020202020204" pitchFamily="34" charset="0"/>
            </a:endParaRPr>
          </a:p>
        </p:txBody>
      </p:sp>
      <p:sp>
        <p:nvSpPr>
          <p:cNvPr id="26673" name="Text Box 42"/>
          <p:cNvSpPr txBox="1"/>
          <p:nvPr/>
        </p:nvSpPr>
        <p:spPr>
          <a:xfrm>
            <a:off x="2540000" y="1481138"/>
            <a:ext cx="6736080" cy="368300"/>
          </a:xfrm>
          <a:prstGeom prst="rect">
            <a:avLst/>
          </a:prstGeom>
          <a:noFill/>
          <a:ln w="9525">
            <a:noFill/>
          </a:ln>
        </p:spPr>
        <p:txBody>
          <a:bodyPr wrap="none">
            <a:spAutoFit/>
          </a:bodyPr>
          <a:p>
            <a:r>
              <a:rPr dirty="0">
                <a:latin typeface="Arial" panose="020B0604020202020204" pitchFamily="34" charset="0"/>
              </a:rPr>
              <a:t>Pick vertex List with minimum distance (E) and update neighbors</a:t>
            </a:r>
            <a:endParaRPr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7651" name="Rectangle 2"/>
          <p:cNvSpPr>
            <a:spLocks noGrp="1"/>
          </p:cNvSpPr>
          <p:nvPr>
            <p:ph type="title"/>
          </p:nvPr>
        </p:nvSpPr>
        <p:spPr/>
        <p:txBody>
          <a:bodyPr vert="horz" wrap="square" lIns="91440" tIns="45720" rIns="91440" bIns="45720" anchor="ctr" anchorCtr="0"/>
          <a:p>
            <a:r>
              <a:rPr dirty="0">
                <a:solidFill>
                  <a:srgbClr val="000000"/>
                </a:solidFill>
              </a:rPr>
              <a:t>Example: Continued...</a:t>
            </a:r>
            <a:endParaRPr dirty="0">
              <a:solidFill>
                <a:srgbClr val="FF0000"/>
              </a:solidFill>
            </a:endParaRPr>
          </a:p>
        </p:txBody>
      </p:sp>
      <p:sp>
        <p:nvSpPr>
          <p:cNvPr id="27652"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7653" name="Oval 4"/>
          <p:cNvSpPr/>
          <p:nvPr/>
        </p:nvSpPr>
        <p:spPr>
          <a:xfrm>
            <a:off x="69342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7654"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7655" name="AutoShape 6"/>
          <p:cNvCxnSpPr>
            <a:stCxn id="27653" idx="2"/>
            <a:endCxn id="27654" idx="6"/>
          </p:cNvCxnSpPr>
          <p:nvPr/>
        </p:nvCxnSpPr>
        <p:spPr>
          <a:xfrm flipH="1">
            <a:off x="5334000" y="4953000"/>
            <a:ext cx="1600200" cy="0"/>
          </a:xfrm>
          <a:prstGeom prst="straightConnector1">
            <a:avLst/>
          </a:prstGeom>
          <a:ln w="12700" cap="flat" cmpd="sng">
            <a:solidFill>
              <a:schemeClr val="tx1"/>
            </a:solidFill>
            <a:prstDash val="solid"/>
            <a:headEnd type="none" w="med" len="med"/>
            <a:tailEnd type="triangle" w="med" len="med"/>
          </a:ln>
        </p:spPr>
      </p:cxnSp>
      <p:cxnSp>
        <p:nvCxnSpPr>
          <p:cNvPr id="27656" name="AutoShape 7"/>
          <p:cNvCxnSpPr>
            <a:stCxn id="27668" idx="2"/>
            <a:endCxn id="27665" idx="6"/>
          </p:cNvCxnSpPr>
          <p:nvPr/>
        </p:nvCxnSpPr>
        <p:spPr>
          <a:xfrm flipH="1">
            <a:off x="4357688" y="3810000"/>
            <a:ext cx="1585912" cy="0"/>
          </a:xfrm>
          <a:prstGeom prst="straightConnector1">
            <a:avLst/>
          </a:prstGeom>
          <a:ln w="12700" cap="flat" cmpd="sng">
            <a:solidFill>
              <a:schemeClr val="tx1"/>
            </a:solidFill>
            <a:prstDash val="solid"/>
            <a:headEnd type="none" w="med" len="med"/>
            <a:tailEnd type="triangle" w="med" len="med"/>
          </a:ln>
        </p:spPr>
      </p:cxnSp>
      <p:cxnSp>
        <p:nvCxnSpPr>
          <p:cNvPr id="27657" name="AutoShape 8"/>
          <p:cNvCxnSpPr>
            <a:stCxn id="27652" idx="6"/>
            <a:endCxn id="27658"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7658" name="Oval 9"/>
          <p:cNvSpPr/>
          <p:nvPr/>
        </p:nvSpPr>
        <p:spPr>
          <a:xfrm>
            <a:off x="69342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7659" name="Oval 10"/>
          <p:cNvSpPr/>
          <p:nvPr/>
        </p:nvSpPr>
        <p:spPr>
          <a:xfrm>
            <a:off x="7848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7660" name="AutoShape 11"/>
          <p:cNvCxnSpPr>
            <a:stCxn id="27659" idx="2"/>
            <a:endCxn id="27668"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7661" name="AutoShape 12"/>
          <p:cNvCxnSpPr>
            <a:stCxn id="27659" idx="1"/>
            <a:endCxn id="27658"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7662" name="AutoShape 13"/>
          <p:cNvCxnSpPr>
            <a:stCxn id="27653" idx="7"/>
            <a:endCxn id="27659"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7663" name="AutoShape 14"/>
          <p:cNvCxnSpPr>
            <a:stCxn id="27652" idx="5"/>
            <a:endCxn id="27668"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7664" name="AutoShape 15"/>
          <p:cNvCxnSpPr>
            <a:stCxn id="27658" idx="3"/>
            <a:endCxn id="27668"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7665" name="Oval 16"/>
          <p:cNvSpPr/>
          <p:nvPr/>
        </p:nvSpPr>
        <p:spPr>
          <a:xfrm>
            <a:off x="3886200" y="3581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7666" name="AutoShape 17"/>
          <p:cNvCxnSpPr>
            <a:stCxn id="27665" idx="7"/>
            <a:endCxn id="27652" idx="3"/>
          </p:cNvCxnSpPr>
          <p:nvPr/>
        </p:nvCxnSpPr>
        <p:spPr>
          <a:xfrm flipV="1">
            <a:off x="4276725" y="2828925"/>
            <a:ext cx="666750" cy="804863"/>
          </a:xfrm>
          <a:prstGeom prst="straightConnector1">
            <a:avLst/>
          </a:prstGeom>
          <a:ln w="12700" cap="flat" cmpd="sng">
            <a:solidFill>
              <a:schemeClr val="tx1"/>
            </a:solidFill>
            <a:prstDash val="solid"/>
            <a:headEnd type="none" w="med" len="med"/>
            <a:tailEnd type="triangle" w="med" len="med"/>
          </a:ln>
        </p:spPr>
      </p:cxnSp>
      <p:cxnSp>
        <p:nvCxnSpPr>
          <p:cNvPr id="27667" name="AutoShape 18"/>
          <p:cNvCxnSpPr>
            <a:stCxn id="27654" idx="1"/>
            <a:endCxn id="27665" idx="5"/>
          </p:cNvCxnSpPr>
          <p:nvPr/>
        </p:nvCxnSpPr>
        <p:spPr>
          <a:xfrm flipH="1" flipV="1">
            <a:off x="4276725" y="3986213"/>
            <a:ext cx="666750" cy="804862"/>
          </a:xfrm>
          <a:prstGeom prst="straightConnector1">
            <a:avLst/>
          </a:prstGeom>
          <a:ln w="28575" cap="flat" cmpd="sng">
            <a:solidFill>
              <a:schemeClr val="accent1"/>
            </a:solidFill>
            <a:prstDash val="solid"/>
            <a:headEnd type="triangle" w="med" len="med"/>
            <a:tailEnd type="none" w="med" len="med"/>
          </a:ln>
        </p:spPr>
      </p:cxnSp>
      <p:sp>
        <p:nvSpPr>
          <p:cNvPr id="27668" name="Oval 19"/>
          <p:cNvSpPr/>
          <p:nvPr/>
        </p:nvSpPr>
        <p:spPr>
          <a:xfrm>
            <a:off x="5943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7669" name="AutoShape 20"/>
          <p:cNvCxnSpPr>
            <a:stCxn id="27653" idx="1"/>
            <a:endCxn id="27668"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7670" name="AutoShape 21"/>
          <p:cNvCxnSpPr>
            <a:stCxn id="27654" idx="7"/>
            <a:endCxn id="27668"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7671"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7672"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7673"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7674"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7675"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7676"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7677"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7678"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7679"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7680"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7681"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7682"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7683"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7684"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7685" name="Text Box 36"/>
          <p:cNvSpPr txBox="1"/>
          <p:nvPr/>
        </p:nvSpPr>
        <p:spPr>
          <a:xfrm>
            <a:off x="3505200" y="36671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7686" name="Text Box 37"/>
          <p:cNvSpPr txBox="1"/>
          <p:nvPr/>
        </p:nvSpPr>
        <p:spPr>
          <a:xfrm>
            <a:off x="8382000" y="35909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7687"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7688" name="Line 40"/>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7689" name="Line 41"/>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7690" name="Line 42"/>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7691" name="Line 43"/>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7692" name="Line 44"/>
          <p:cNvSpPr/>
          <p:nvPr/>
        </p:nvSpPr>
        <p:spPr>
          <a:xfrm flipH="1" flipV="1">
            <a:off x="4495800" y="4038600"/>
            <a:ext cx="533400" cy="609600"/>
          </a:xfrm>
          <a:prstGeom prst="line">
            <a:avLst/>
          </a:prstGeom>
          <a:ln w="28575" cap="flat" cmpd="sng">
            <a:solidFill>
              <a:srgbClr val="FF0000"/>
            </a:solidFill>
            <a:prstDash val="solid"/>
            <a:headEnd type="none" w="med" len="med"/>
            <a:tailEnd type="triangle" w="med" len="med"/>
          </a:ln>
        </p:spPr>
      </p:sp>
      <p:sp>
        <p:nvSpPr>
          <p:cNvPr id="27693" name="Line 45"/>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7694" name="Text Box 46"/>
          <p:cNvSpPr txBox="1"/>
          <p:nvPr/>
        </p:nvSpPr>
        <p:spPr>
          <a:xfrm>
            <a:off x="4953000" y="5257800"/>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8</a:t>
            </a:r>
            <a:endParaRPr dirty="0">
              <a:latin typeface="Arial" panose="020B0604020202020204" pitchFamily="34" charset="0"/>
            </a:endParaRPr>
          </a:p>
        </p:txBody>
      </p:sp>
      <p:sp>
        <p:nvSpPr>
          <p:cNvPr id="27695" name="Text Box 47"/>
          <p:cNvSpPr txBox="1"/>
          <p:nvPr/>
        </p:nvSpPr>
        <p:spPr>
          <a:xfrm>
            <a:off x="70104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
        <p:nvSpPr>
          <p:cNvPr id="27696" name="Text Box 42"/>
          <p:cNvSpPr txBox="1"/>
          <p:nvPr/>
        </p:nvSpPr>
        <p:spPr>
          <a:xfrm>
            <a:off x="2540000" y="1481138"/>
            <a:ext cx="6748780" cy="368300"/>
          </a:xfrm>
          <a:prstGeom prst="rect">
            <a:avLst/>
          </a:prstGeom>
          <a:noFill/>
          <a:ln w="9525">
            <a:noFill/>
          </a:ln>
        </p:spPr>
        <p:txBody>
          <a:bodyPr wrap="none">
            <a:spAutoFit/>
          </a:bodyPr>
          <a:p>
            <a:r>
              <a:rPr dirty="0">
                <a:latin typeface="Arial" panose="020B0604020202020204" pitchFamily="34" charset="0"/>
              </a:rPr>
              <a:t>Pick vertex List with minimum distance (C) and update neighbors</a:t>
            </a:r>
            <a:endParaRPr dirty="0">
              <a:latin typeface="Arial" panose="020B0604020202020204" pitchFamily="34" charset="0"/>
            </a:endParaRPr>
          </a:p>
        </p:txBody>
      </p:sp>
      <p:sp>
        <p:nvSpPr>
          <p:cNvPr id="27697" name="Text Box 49"/>
          <p:cNvSpPr txBox="1"/>
          <p:nvPr/>
        </p:nvSpPr>
        <p:spPr>
          <a:xfrm>
            <a:off x="1828800" y="4724400"/>
            <a:ext cx="2728913" cy="368300"/>
          </a:xfrm>
          <a:prstGeom prst="rect">
            <a:avLst/>
          </a:prstGeom>
          <a:noFill/>
          <a:ln w="9525">
            <a:noFill/>
          </a:ln>
        </p:spPr>
        <p:txBody>
          <a:bodyPr>
            <a:spAutoFit/>
          </a:bodyPr>
          <a:p>
            <a:pPr>
              <a:spcBef>
                <a:spcPct val="50000"/>
              </a:spcBef>
            </a:pPr>
            <a:r>
              <a:rPr dirty="0">
                <a:latin typeface="Arial" panose="020B0604020202020204" pitchFamily="34" charset="0"/>
              </a:rPr>
              <a:t>Distance(F) = 3 + 5 = 8</a:t>
            </a:r>
            <a:endParaRPr dirty="0">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8675" name="Rectangle 2"/>
          <p:cNvSpPr>
            <a:spLocks noGrp="1"/>
          </p:cNvSpPr>
          <p:nvPr>
            <p:ph type="title"/>
          </p:nvPr>
        </p:nvSpPr>
        <p:spPr/>
        <p:txBody>
          <a:bodyPr vert="horz" wrap="square" lIns="91440" tIns="45720" rIns="91440" bIns="45720" anchor="ctr" anchorCtr="0"/>
          <a:p>
            <a:r>
              <a:rPr dirty="0">
                <a:solidFill>
                  <a:srgbClr val="000000"/>
                </a:solidFill>
              </a:rPr>
              <a:t>Example: Continued...</a:t>
            </a:r>
            <a:endParaRPr dirty="0">
              <a:solidFill>
                <a:srgbClr val="FF0000"/>
              </a:solidFill>
            </a:endParaRPr>
          </a:p>
        </p:txBody>
      </p:sp>
      <p:sp>
        <p:nvSpPr>
          <p:cNvPr id="28676"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8677" name="Oval 4"/>
          <p:cNvSpPr/>
          <p:nvPr/>
        </p:nvSpPr>
        <p:spPr>
          <a:xfrm>
            <a:off x="6934200" y="4724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8678" name="Oval 5"/>
          <p:cNvSpPr/>
          <p:nvPr/>
        </p:nvSpPr>
        <p:spPr>
          <a:xfrm>
            <a:off x="4876800" y="4724400"/>
            <a:ext cx="457200" cy="457200"/>
          </a:xfrm>
          <a:prstGeom prst="ellipse">
            <a:avLst/>
          </a:prstGeom>
          <a:noFill/>
          <a:ln w="9525" cap="flat" cmpd="sng">
            <a:solidFill>
              <a:srgbClr val="0000FF"/>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8679" name="AutoShape 6"/>
          <p:cNvCxnSpPr>
            <a:stCxn id="28677" idx="2"/>
            <a:endCxn id="28678" idx="6"/>
          </p:cNvCxnSpPr>
          <p:nvPr/>
        </p:nvCxnSpPr>
        <p:spPr>
          <a:xfrm flipH="1">
            <a:off x="5334000" y="4953000"/>
            <a:ext cx="1585913" cy="0"/>
          </a:xfrm>
          <a:prstGeom prst="straightConnector1">
            <a:avLst/>
          </a:prstGeom>
          <a:ln w="28575" cap="flat" cmpd="sng">
            <a:solidFill>
              <a:schemeClr val="accent1"/>
            </a:solidFill>
            <a:prstDash val="solid"/>
            <a:headEnd type="none" w="med" len="med"/>
            <a:tailEnd type="triangle" w="med" len="med"/>
          </a:ln>
        </p:spPr>
      </p:cxnSp>
      <p:cxnSp>
        <p:nvCxnSpPr>
          <p:cNvPr id="28680" name="AutoShape 7"/>
          <p:cNvCxnSpPr>
            <a:stCxn id="28692" idx="2"/>
            <a:endCxn id="28689"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8681" name="AutoShape 8"/>
          <p:cNvCxnSpPr>
            <a:stCxn id="28676" idx="6"/>
            <a:endCxn id="28682"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8682" name="Oval 9"/>
          <p:cNvSpPr/>
          <p:nvPr/>
        </p:nvSpPr>
        <p:spPr>
          <a:xfrm>
            <a:off x="69342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8683" name="Oval 10"/>
          <p:cNvSpPr/>
          <p:nvPr/>
        </p:nvSpPr>
        <p:spPr>
          <a:xfrm>
            <a:off x="7848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8684" name="AutoShape 11"/>
          <p:cNvCxnSpPr>
            <a:stCxn id="28683" idx="2"/>
            <a:endCxn id="28692"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8685" name="AutoShape 12"/>
          <p:cNvCxnSpPr>
            <a:stCxn id="28683" idx="1"/>
            <a:endCxn id="28682"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8686" name="AutoShape 13"/>
          <p:cNvCxnSpPr>
            <a:stCxn id="28677" idx="7"/>
            <a:endCxn id="28683" idx="3"/>
          </p:cNvCxnSpPr>
          <p:nvPr/>
        </p:nvCxnSpPr>
        <p:spPr>
          <a:xfrm flipV="1">
            <a:off x="7324725" y="3971925"/>
            <a:ext cx="590550" cy="804863"/>
          </a:xfrm>
          <a:prstGeom prst="straightConnector1">
            <a:avLst/>
          </a:prstGeom>
          <a:ln w="12700" cap="flat" cmpd="sng">
            <a:solidFill>
              <a:schemeClr val="tx1"/>
            </a:solidFill>
            <a:prstDash val="solid"/>
            <a:headEnd type="triangle" w="med" len="med"/>
            <a:tailEnd type="none" w="med" len="med"/>
          </a:ln>
        </p:spPr>
      </p:cxnSp>
      <p:cxnSp>
        <p:nvCxnSpPr>
          <p:cNvPr id="28687" name="AutoShape 14"/>
          <p:cNvCxnSpPr>
            <a:stCxn id="28676" idx="5"/>
            <a:endCxn id="28692"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8688" name="AutoShape 15"/>
          <p:cNvCxnSpPr>
            <a:stCxn id="28682" idx="3"/>
            <a:endCxn id="28692"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8689" name="Oval 16"/>
          <p:cNvSpPr/>
          <p:nvPr/>
        </p:nvSpPr>
        <p:spPr>
          <a:xfrm>
            <a:off x="38862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8690" name="AutoShape 17"/>
          <p:cNvCxnSpPr>
            <a:stCxn id="28689" idx="7"/>
            <a:endCxn id="28676"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8691" name="AutoShape 18"/>
          <p:cNvCxnSpPr>
            <a:stCxn id="28678" idx="1"/>
            <a:endCxn id="28689" idx="5"/>
          </p:cNvCxnSpPr>
          <p:nvPr/>
        </p:nvCxnSpPr>
        <p:spPr>
          <a:xfrm flipH="1" flipV="1">
            <a:off x="4276725" y="3971925"/>
            <a:ext cx="666750" cy="819150"/>
          </a:xfrm>
          <a:prstGeom prst="straightConnector1">
            <a:avLst/>
          </a:prstGeom>
          <a:ln w="12700" cap="flat" cmpd="sng">
            <a:solidFill>
              <a:schemeClr val="tx1"/>
            </a:solidFill>
            <a:prstDash val="solid"/>
            <a:headEnd type="triangle" w="med" len="med"/>
            <a:tailEnd type="none" w="med" len="med"/>
          </a:ln>
        </p:spPr>
      </p:cxnSp>
      <p:sp>
        <p:nvSpPr>
          <p:cNvPr id="28692" name="Oval 19"/>
          <p:cNvSpPr/>
          <p:nvPr/>
        </p:nvSpPr>
        <p:spPr>
          <a:xfrm>
            <a:off x="5943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8693" name="AutoShape 20"/>
          <p:cNvCxnSpPr>
            <a:stCxn id="28677" idx="1"/>
            <a:endCxn id="28692" idx="5"/>
          </p:cNvCxnSpPr>
          <p:nvPr/>
        </p:nvCxnSpPr>
        <p:spPr>
          <a:xfrm flipH="1" flipV="1">
            <a:off x="6334125" y="3971925"/>
            <a:ext cx="666750" cy="804863"/>
          </a:xfrm>
          <a:prstGeom prst="straightConnector1">
            <a:avLst/>
          </a:prstGeom>
          <a:ln w="12700" cap="flat" cmpd="sng">
            <a:solidFill>
              <a:schemeClr val="tx1"/>
            </a:solidFill>
            <a:prstDash val="solid"/>
            <a:headEnd type="triangle" w="med" len="med"/>
            <a:tailEnd type="none" w="med" len="med"/>
          </a:ln>
        </p:spPr>
      </p:cxnSp>
      <p:cxnSp>
        <p:nvCxnSpPr>
          <p:cNvPr id="28694" name="AutoShape 21"/>
          <p:cNvCxnSpPr>
            <a:stCxn id="28678" idx="7"/>
            <a:endCxn id="28692" idx="3"/>
          </p:cNvCxnSpPr>
          <p:nvPr/>
        </p:nvCxnSpPr>
        <p:spPr>
          <a:xfrm flipV="1">
            <a:off x="5267325" y="3971925"/>
            <a:ext cx="742950" cy="819150"/>
          </a:xfrm>
          <a:prstGeom prst="straightConnector1">
            <a:avLst/>
          </a:prstGeom>
          <a:ln w="12700" cap="flat" cmpd="sng">
            <a:solidFill>
              <a:schemeClr val="tx1"/>
            </a:solidFill>
            <a:prstDash val="solid"/>
            <a:headEnd type="triangle" w="med" len="med"/>
            <a:tailEnd type="none" w="med" len="med"/>
          </a:ln>
        </p:spPr>
      </p:cxnSp>
      <p:sp>
        <p:nvSpPr>
          <p:cNvPr id="28695"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8696"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8697"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8698"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8699"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8700"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8701"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8702"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8703"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8704"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8705"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8706"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8707"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8708"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8709" name="Text Box 36"/>
          <p:cNvSpPr txBox="1"/>
          <p:nvPr/>
        </p:nvSpPr>
        <p:spPr>
          <a:xfrm>
            <a:off x="3505200" y="36671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8710" name="Text Box 37"/>
          <p:cNvSpPr txBox="1"/>
          <p:nvPr/>
        </p:nvSpPr>
        <p:spPr>
          <a:xfrm>
            <a:off x="8382000" y="35909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8711"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8712" name="Line 40"/>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8713" name="Line 41"/>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8714" name="Line 42"/>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8715" name="Line 43"/>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8716" name="Line 44"/>
          <p:cNvSpPr/>
          <p:nvPr/>
        </p:nvSpPr>
        <p:spPr>
          <a:xfrm flipV="1">
            <a:off x="5486400" y="5105400"/>
            <a:ext cx="1371600" cy="0"/>
          </a:xfrm>
          <a:prstGeom prst="line">
            <a:avLst/>
          </a:prstGeom>
          <a:ln w="28575" cap="flat" cmpd="sng">
            <a:solidFill>
              <a:srgbClr val="FF0000"/>
            </a:solidFill>
            <a:prstDash val="solid"/>
            <a:headEnd type="none" w="med" len="med"/>
            <a:tailEnd type="triangle" w="med" len="med"/>
          </a:ln>
        </p:spPr>
      </p:sp>
      <p:sp>
        <p:nvSpPr>
          <p:cNvPr id="28717" name="Line 45"/>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8718" name="Text Box 46"/>
          <p:cNvSpPr txBox="1"/>
          <p:nvPr/>
        </p:nvSpPr>
        <p:spPr>
          <a:xfrm>
            <a:off x="4953000" y="5257800"/>
            <a:ext cx="309880" cy="368300"/>
          </a:xfrm>
          <a:prstGeom prst="rect">
            <a:avLst/>
          </a:prstGeom>
          <a:solidFill>
            <a:srgbClr val="FFFFCC"/>
          </a:solidFill>
          <a:ln w="15875" cap="flat" cmpd="sng">
            <a:solidFill>
              <a:srgbClr val="FF0000"/>
            </a:solidFill>
            <a:prstDash val="solid"/>
            <a:miter/>
            <a:headEnd type="none" w="med" len="med"/>
            <a:tailEnd type="none" w="med" len="med"/>
          </a:ln>
        </p:spPr>
        <p:txBody>
          <a:bodyPr wrap="none">
            <a:spAutoFit/>
          </a:bodyPr>
          <a:p>
            <a:r>
              <a:rPr dirty="0">
                <a:latin typeface="Arial" panose="020B0604020202020204" pitchFamily="34" charset="0"/>
                <a:sym typeface="Symbol" panose="05050102010706020507" pitchFamily="-101" charset="2"/>
              </a:rPr>
              <a:t>6</a:t>
            </a:r>
            <a:endParaRPr dirty="0">
              <a:latin typeface="Arial" panose="020B0604020202020204" pitchFamily="34" charset="0"/>
            </a:endParaRPr>
          </a:p>
        </p:txBody>
      </p:sp>
      <p:sp>
        <p:nvSpPr>
          <p:cNvPr id="28719" name="Text Box 47"/>
          <p:cNvSpPr txBox="1"/>
          <p:nvPr/>
        </p:nvSpPr>
        <p:spPr>
          <a:xfrm>
            <a:off x="70104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
        <p:nvSpPr>
          <p:cNvPr id="28720" name="Text Box 49"/>
          <p:cNvSpPr txBox="1"/>
          <p:nvPr/>
        </p:nvSpPr>
        <p:spPr>
          <a:xfrm>
            <a:off x="1752600" y="5581650"/>
            <a:ext cx="3581400" cy="368300"/>
          </a:xfrm>
          <a:prstGeom prst="rect">
            <a:avLst/>
          </a:prstGeom>
          <a:noFill/>
          <a:ln w="9525">
            <a:noFill/>
          </a:ln>
        </p:spPr>
        <p:txBody>
          <a:bodyPr>
            <a:spAutoFit/>
          </a:bodyPr>
          <a:p>
            <a:pPr>
              <a:spcBef>
                <a:spcPct val="50000"/>
              </a:spcBef>
            </a:pPr>
            <a:r>
              <a:rPr dirty="0">
                <a:latin typeface="Arial" panose="020B0604020202020204" pitchFamily="34" charset="0"/>
              </a:rPr>
              <a:t>Distance(F) = min (8, 5+1) = 6</a:t>
            </a:r>
            <a:endParaRPr dirty="0">
              <a:latin typeface="Arial" panose="020B0604020202020204" pitchFamily="34" charset="0"/>
            </a:endParaRPr>
          </a:p>
        </p:txBody>
      </p:sp>
      <p:sp>
        <p:nvSpPr>
          <p:cNvPr id="28721" name="Text Box 50"/>
          <p:cNvSpPr txBox="1"/>
          <p:nvPr/>
        </p:nvSpPr>
        <p:spPr>
          <a:xfrm>
            <a:off x="2362200" y="5029200"/>
            <a:ext cx="2057400" cy="368300"/>
          </a:xfrm>
          <a:prstGeom prst="rect">
            <a:avLst/>
          </a:prstGeom>
          <a:noFill/>
          <a:ln w="9525">
            <a:noFill/>
          </a:ln>
        </p:spPr>
        <p:txBody>
          <a:bodyPr>
            <a:spAutoFit/>
          </a:bodyPr>
          <a:p>
            <a:pPr>
              <a:spcBef>
                <a:spcPct val="50000"/>
              </a:spcBef>
            </a:pPr>
            <a:r>
              <a:rPr dirty="0">
                <a:latin typeface="Arial" panose="020B0604020202020204" pitchFamily="34" charset="0"/>
              </a:rPr>
              <a:t>Previous distance</a:t>
            </a:r>
            <a:endParaRPr dirty="0">
              <a:latin typeface="Arial" panose="020B0604020202020204" pitchFamily="34" charset="0"/>
            </a:endParaRPr>
          </a:p>
        </p:txBody>
      </p:sp>
      <p:sp>
        <p:nvSpPr>
          <p:cNvPr id="28722" name="Line 51"/>
          <p:cNvSpPr/>
          <p:nvPr/>
        </p:nvSpPr>
        <p:spPr>
          <a:xfrm flipH="1">
            <a:off x="3860800" y="5410200"/>
            <a:ext cx="76200" cy="152400"/>
          </a:xfrm>
          <a:prstGeom prst="line">
            <a:avLst/>
          </a:prstGeom>
          <a:ln w="9525" cap="flat" cmpd="sng">
            <a:solidFill>
              <a:schemeClr val="tx1"/>
            </a:solidFill>
            <a:prstDash val="solid"/>
            <a:headEnd type="none" w="med" len="med"/>
            <a:tailEnd type="triangle" w="med" len="med"/>
          </a:ln>
        </p:spPr>
      </p:sp>
      <p:sp>
        <p:nvSpPr>
          <p:cNvPr id="28723" name="Text Box 42"/>
          <p:cNvSpPr txBox="1"/>
          <p:nvPr/>
        </p:nvSpPr>
        <p:spPr>
          <a:xfrm>
            <a:off x="2540000" y="1481138"/>
            <a:ext cx="6761480" cy="368300"/>
          </a:xfrm>
          <a:prstGeom prst="rect">
            <a:avLst/>
          </a:prstGeom>
          <a:noFill/>
          <a:ln w="9525">
            <a:noFill/>
          </a:ln>
        </p:spPr>
        <p:txBody>
          <a:bodyPr wrap="none">
            <a:spAutoFit/>
          </a:bodyPr>
          <a:p>
            <a:r>
              <a:rPr dirty="0">
                <a:latin typeface="Arial" panose="020B0604020202020204" pitchFamily="34" charset="0"/>
              </a:rPr>
              <a:t>Pick vertex List with minimum distance (G) and update neighbors</a:t>
            </a:r>
            <a:endParaRPr dirty="0">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Slide Number Placeholder 5"/>
          <p:cNvSpPr txBox="1">
            <a:spLocks noGrp="1"/>
          </p:cNvSpPr>
          <p:nvPr>
            <p:ph type="sldNum" sz="quarter" idx="12"/>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101" charset="-128"/>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101" charset="-128"/>
                <a:cs typeface="+mn-cs"/>
              </a:defRPr>
            </a:lvl5pPr>
          </a:lstStyle>
          <a:p>
            <a:pPr lvl="0" algn="r" eaLnBrk="1" hangingPunct="1"/>
            <a:fld id="{9A0DB2DC-4C9A-4742-B13C-FB6460FD3503}" type="slidenum">
              <a:rPr lang="en-US" sz="1200" dirty="0">
                <a:solidFill>
                  <a:srgbClr val="898989"/>
                </a:solidFill>
                <a:latin typeface="Calibri" panose="020F0502020204030204" charset="0"/>
              </a:rPr>
            </a:fld>
            <a:endParaRPr lang="en-US" sz="1200" dirty="0">
              <a:solidFill>
                <a:srgbClr val="898989"/>
              </a:solidFill>
              <a:latin typeface="Calibri" panose="020F0502020204030204" charset="0"/>
            </a:endParaRPr>
          </a:p>
        </p:txBody>
      </p:sp>
      <p:sp>
        <p:nvSpPr>
          <p:cNvPr id="29699" name="Rectangle 2"/>
          <p:cNvSpPr>
            <a:spLocks noGrp="1"/>
          </p:cNvSpPr>
          <p:nvPr>
            <p:ph type="title"/>
          </p:nvPr>
        </p:nvSpPr>
        <p:spPr/>
        <p:txBody>
          <a:bodyPr vert="horz" wrap="square" lIns="91440" tIns="45720" rIns="91440" bIns="45720" anchor="ctr" anchorCtr="0"/>
          <a:p>
            <a:r>
              <a:rPr dirty="0">
                <a:solidFill>
                  <a:srgbClr val="000000"/>
                </a:solidFill>
              </a:rPr>
              <a:t>Example (end)</a:t>
            </a:r>
            <a:endParaRPr dirty="0">
              <a:solidFill>
                <a:srgbClr val="000000"/>
              </a:solidFill>
            </a:endParaRPr>
          </a:p>
        </p:txBody>
      </p:sp>
      <p:sp>
        <p:nvSpPr>
          <p:cNvPr id="29700" name="Oval 3"/>
          <p:cNvSpPr/>
          <p:nvPr/>
        </p:nvSpPr>
        <p:spPr>
          <a:xfrm>
            <a:off x="48768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A</a:t>
            </a:r>
            <a:endParaRPr baseline="-25000" dirty="0">
              <a:latin typeface="Times New Roman" panose="02020603050405020304" pitchFamily="-101" charset="0"/>
            </a:endParaRPr>
          </a:p>
        </p:txBody>
      </p:sp>
      <p:sp>
        <p:nvSpPr>
          <p:cNvPr id="29701" name="Oval 4"/>
          <p:cNvSpPr/>
          <p:nvPr/>
        </p:nvSpPr>
        <p:spPr>
          <a:xfrm>
            <a:off x="6934200" y="4724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G</a:t>
            </a:r>
            <a:endParaRPr baseline="-25000" dirty="0">
              <a:latin typeface="Times New Roman" panose="02020603050405020304" pitchFamily="-101" charset="0"/>
            </a:endParaRPr>
          </a:p>
        </p:txBody>
      </p:sp>
      <p:sp>
        <p:nvSpPr>
          <p:cNvPr id="29702" name="Oval 5"/>
          <p:cNvSpPr/>
          <p:nvPr/>
        </p:nvSpPr>
        <p:spPr>
          <a:xfrm>
            <a:off x="4876800" y="4724400"/>
            <a:ext cx="457200" cy="457200"/>
          </a:xfrm>
          <a:prstGeom prst="ellipse">
            <a:avLst/>
          </a:prstGeom>
          <a:solidFill>
            <a:schemeClr val="folHlink"/>
          </a:solidFill>
          <a:ln w="2857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F</a:t>
            </a:r>
            <a:endParaRPr baseline="-25000" dirty="0">
              <a:latin typeface="Times New Roman" panose="02020603050405020304" pitchFamily="-101" charset="0"/>
            </a:endParaRPr>
          </a:p>
        </p:txBody>
      </p:sp>
      <p:cxnSp>
        <p:nvCxnSpPr>
          <p:cNvPr id="29703" name="AutoShape 6"/>
          <p:cNvCxnSpPr>
            <a:stCxn id="29701" idx="2"/>
            <a:endCxn id="29702" idx="6"/>
          </p:cNvCxnSpPr>
          <p:nvPr/>
        </p:nvCxnSpPr>
        <p:spPr>
          <a:xfrm flipH="1">
            <a:off x="5348288" y="4953000"/>
            <a:ext cx="1585912" cy="0"/>
          </a:xfrm>
          <a:prstGeom prst="straightConnector1">
            <a:avLst/>
          </a:prstGeom>
          <a:ln w="12700" cap="flat" cmpd="sng">
            <a:solidFill>
              <a:schemeClr val="tx1"/>
            </a:solidFill>
            <a:prstDash val="solid"/>
            <a:headEnd type="none" w="med" len="med"/>
            <a:tailEnd type="triangle" w="med" len="med"/>
          </a:ln>
        </p:spPr>
      </p:cxnSp>
      <p:cxnSp>
        <p:nvCxnSpPr>
          <p:cNvPr id="29704" name="AutoShape 7"/>
          <p:cNvCxnSpPr>
            <a:stCxn id="29716" idx="2"/>
            <a:endCxn id="29713" idx="6"/>
          </p:cNvCxnSpPr>
          <p:nvPr/>
        </p:nvCxnSpPr>
        <p:spPr>
          <a:xfrm flipH="1">
            <a:off x="4343400" y="3810000"/>
            <a:ext cx="1600200" cy="0"/>
          </a:xfrm>
          <a:prstGeom prst="straightConnector1">
            <a:avLst/>
          </a:prstGeom>
          <a:ln w="12700" cap="flat" cmpd="sng">
            <a:solidFill>
              <a:schemeClr val="tx1"/>
            </a:solidFill>
            <a:prstDash val="solid"/>
            <a:headEnd type="none" w="med" len="med"/>
            <a:tailEnd type="triangle" w="med" len="med"/>
          </a:ln>
        </p:spPr>
      </p:cxnSp>
      <p:cxnSp>
        <p:nvCxnSpPr>
          <p:cNvPr id="29705" name="AutoShape 8"/>
          <p:cNvCxnSpPr>
            <a:stCxn id="29700" idx="6"/>
            <a:endCxn id="29706" idx="2"/>
          </p:cNvCxnSpPr>
          <p:nvPr/>
        </p:nvCxnSpPr>
        <p:spPr>
          <a:xfrm>
            <a:off x="5334000" y="2667000"/>
            <a:ext cx="1600200" cy="0"/>
          </a:xfrm>
          <a:prstGeom prst="straightConnector1">
            <a:avLst/>
          </a:prstGeom>
          <a:ln w="12700" cap="flat" cmpd="sng">
            <a:solidFill>
              <a:schemeClr val="tx1"/>
            </a:solidFill>
            <a:prstDash val="solid"/>
            <a:headEnd type="none" w="med" len="med"/>
            <a:tailEnd type="triangle" w="med" len="med"/>
          </a:ln>
        </p:spPr>
      </p:cxnSp>
      <p:sp>
        <p:nvSpPr>
          <p:cNvPr id="29706" name="Oval 9"/>
          <p:cNvSpPr/>
          <p:nvPr/>
        </p:nvSpPr>
        <p:spPr>
          <a:xfrm>
            <a:off x="6934200" y="2438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B</a:t>
            </a:r>
            <a:endParaRPr baseline="-25000" dirty="0">
              <a:latin typeface="Times New Roman" panose="02020603050405020304" pitchFamily="-101" charset="0"/>
            </a:endParaRPr>
          </a:p>
        </p:txBody>
      </p:sp>
      <p:sp>
        <p:nvSpPr>
          <p:cNvPr id="29707" name="Oval 10"/>
          <p:cNvSpPr/>
          <p:nvPr/>
        </p:nvSpPr>
        <p:spPr>
          <a:xfrm>
            <a:off x="7848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E</a:t>
            </a:r>
            <a:endParaRPr baseline="-25000" dirty="0">
              <a:latin typeface="Times New Roman" panose="02020603050405020304" pitchFamily="-101" charset="0"/>
            </a:endParaRPr>
          </a:p>
        </p:txBody>
      </p:sp>
      <p:cxnSp>
        <p:nvCxnSpPr>
          <p:cNvPr id="29708" name="AutoShape 11"/>
          <p:cNvCxnSpPr>
            <a:stCxn id="29707" idx="2"/>
            <a:endCxn id="29716" idx="6"/>
          </p:cNvCxnSpPr>
          <p:nvPr/>
        </p:nvCxnSpPr>
        <p:spPr>
          <a:xfrm flipH="1">
            <a:off x="6400800" y="3810000"/>
            <a:ext cx="1447800" cy="0"/>
          </a:xfrm>
          <a:prstGeom prst="straightConnector1">
            <a:avLst/>
          </a:prstGeom>
          <a:ln w="12700" cap="flat" cmpd="sng">
            <a:solidFill>
              <a:schemeClr val="tx1"/>
            </a:solidFill>
            <a:prstDash val="solid"/>
            <a:headEnd type="triangle" w="med" len="med"/>
            <a:tailEnd type="none" w="med" len="med"/>
          </a:ln>
        </p:spPr>
      </p:cxnSp>
      <p:cxnSp>
        <p:nvCxnSpPr>
          <p:cNvPr id="29709" name="AutoShape 12"/>
          <p:cNvCxnSpPr>
            <a:stCxn id="29707" idx="1"/>
            <a:endCxn id="29706" idx="5"/>
          </p:cNvCxnSpPr>
          <p:nvPr/>
        </p:nvCxnSpPr>
        <p:spPr>
          <a:xfrm flipH="1" flipV="1">
            <a:off x="7324725" y="2828925"/>
            <a:ext cx="590550" cy="819150"/>
          </a:xfrm>
          <a:prstGeom prst="straightConnector1">
            <a:avLst/>
          </a:prstGeom>
          <a:ln w="12700" cap="flat" cmpd="sng">
            <a:solidFill>
              <a:schemeClr val="tx1"/>
            </a:solidFill>
            <a:prstDash val="solid"/>
            <a:headEnd type="triangle" w="med" len="med"/>
            <a:tailEnd type="none" w="med" len="med"/>
          </a:ln>
        </p:spPr>
      </p:cxnSp>
      <p:cxnSp>
        <p:nvCxnSpPr>
          <p:cNvPr id="29710" name="AutoShape 13"/>
          <p:cNvCxnSpPr>
            <a:stCxn id="29701" idx="7"/>
            <a:endCxn id="29707" idx="3"/>
          </p:cNvCxnSpPr>
          <p:nvPr/>
        </p:nvCxnSpPr>
        <p:spPr>
          <a:xfrm flipV="1">
            <a:off x="7324725" y="3971925"/>
            <a:ext cx="590550" cy="819150"/>
          </a:xfrm>
          <a:prstGeom prst="straightConnector1">
            <a:avLst/>
          </a:prstGeom>
          <a:ln w="12700" cap="flat" cmpd="sng">
            <a:solidFill>
              <a:schemeClr val="tx1"/>
            </a:solidFill>
            <a:prstDash val="solid"/>
            <a:headEnd type="triangle" w="med" len="med"/>
            <a:tailEnd type="none" w="med" len="med"/>
          </a:ln>
        </p:spPr>
      </p:cxnSp>
      <p:cxnSp>
        <p:nvCxnSpPr>
          <p:cNvPr id="29711" name="AutoShape 14"/>
          <p:cNvCxnSpPr>
            <a:stCxn id="29700" idx="5"/>
            <a:endCxn id="29716" idx="1"/>
          </p:cNvCxnSpPr>
          <p:nvPr/>
        </p:nvCxnSpPr>
        <p:spPr>
          <a:xfrm>
            <a:off x="5267325" y="2828925"/>
            <a:ext cx="742950" cy="819150"/>
          </a:xfrm>
          <a:prstGeom prst="straightConnector1">
            <a:avLst/>
          </a:prstGeom>
          <a:ln w="12700" cap="flat" cmpd="sng">
            <a:solidFill>
              <a:schemeClr val="tx1"/>
            </a:solidFill>
            <a:prstDash val="solid"/>
            <a:headEnd type="none" w="med" len="med"/>
            <a:tailEnd type="triangle" w="med" len="med"/>
          </a:ln>
        </p:spPr>
      </p:cxnSp>
      <p:cxnSp>
        <p:nvCxnSpPr>
          <p:cNvPr id="29712" name="AutoShape 15"/>
          <p:cNvCxnSpPr>
            <a:stCxn id="29706" idx="3"/>
            <a:endCxn id="29716" idx="7"/>
          </p:cNvCxnSpPr>
          <p:nvPr/>
        </p:nvCxnSpPr>
        <p:spPr>
          <a:xfrm flipH="1">
            <a:off x="6334125" y="2828925"/>
            <a:ext cx="666750" cy="819150"/>
          </a:xfrm>
          <a:prstGeom prst="straightConnector1">
            <a:avLst/>
          </a:prstGeom>
          <a:ln w="12700" cap="flat" cmpd="sng">
            <a:solidFill>
              <a:schemeClr val="tx1"/>
            </a:solidFill>
            <a:prstDash val="solid"/>
            <a:headEnd type="none" w="med" len="med"/>
            <a:tailEnd type="triangle" w="med" len="med"/>
          </a:ln>
        </p:spPr>
      </p:cxnSp>
      <p:sp>
        <p:nvSpPr>
          <p:cNvPr id="29713" name="Oval 16"/>
          <p:cNvSpPr/>
          <p:nvPr/>
        </p:nvSpPr>
        <p:spPr>
          <a:xfrm>
            <a:off x="38862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C</a:t>
            </a:r>
            <a:endParaRPr baseline="-25000" dirty="0">
              <a:latin typeface="Times New Roman" panose="02020603050405020304" pitchFamily="-101" charset="0"/>
            </a:endParaRPr>
          </a:p>
        </p:txBody>
      </p:sp>
      <p:cxnSp>
        <p:nvCxnSpPr>
          <p:cNvPr id="29714" name="AutoShape 17"/>
          <p:cNvCxnSpPr>
            <a:stCxn id="29713" idx="7"/>
            <a:endCxn id="29700" idx="3"/>
          </p:cNvCxnSpPr>
          <p:nvPr/>
        </p:nvCxnSpPr>
        <p:spPr>
          <a:xfrm flipV="1">
            <a:off x="4276725" y="2828925"/>
            <a:ext cx="666750" cy="819150"/>
          </a:xfrm>
          <a:prstGeom prst="straightConnector1">
            <a:avLst/>
          </a:prstGeom>
          <a:ln w="12700" cap="flat" cmpd="sng">
            <a:solidFill>
              <a:schemeClr val="tx1"/>
            </a:solidFill>
            <a:prstDash val="solid"/>
            <a:headEnd type="none" w="med" len="med"/>
            <a:tailEnd type="triangle" w="med" len="med"/>
          </a:ln>
        </p:spPr>
      </p:cxnSp>
      <p:cxnSp>
        <p:nvCxnSpPr>
          <p:cNvPr id="29715" name="AutoShape 18"/>
          <p:cNvCxnSpPr>
            <a:stCxn id="29702" idx="1"/>
            <a:endCxn id="29713" idx="5"/>
          </p:cNvCxnSpPr>
          <p:nvPr/>
        </p:nvCxnSpPr>
        <p:spPr>
          <a:xfrm flipH="1" flipV="1">
            <a:off x="4276725" y="3971925"/>
            <a:ext cx="666750" cy="804863"/>
          </a:xfrm>
          <a:prstGeom prst="straightConnector1">
            <a:avLst/>
          </a:prstGeom>
          <a:ln w="12700" cap="flat" cmpd="sng">
            <a:solidFill>
              <a:schemeClr val="tx1"/>
            </a:solidFill>
            <a:prstDash val="solid"/>
            <a:headEnd type="triangle" w="med" len="med"/>
            <a:tailEnd type="none" w="med" len="med"/>
          </a:ln>
        </p:spPr>
      </p:cxnSp>
      <p:sp>
        <p:nvSpPr>
          <p:cNvPr id="29716" name="Oval 19"/>
          <p:cNvSpPr/>
          <p:nvPr/>
        </p:nvSpPr>
        <p:spPr>
          <a:xfrm>
            <a:off x="5943600" y="3581400"/>
            <a:ext cx="457200" cy="457200"/>
          </a:xfrm>
          <a:prstGeom prst="ellipse">
            <a:avLst/>
          </a:prstGeom>
          <a:solidFill>
            <a:schemeClr val="folHlink"/>
          </a:solidFill>
          <a:ln w="9525" cap="flat" cmpd="sng">
            <a:solidFill>
              <a:srgbClr val="FF0000"/>
            </a:solidFill>
            <a:prstDash val="solid"/>
            <a:headEnd type="none" w="med" len="med"/>
            <a:tailEnd type="none" w="med" len="med"/>
          </a:ln>
        </p:spPr>
        <p:txBody>
          <a:bodyPr wrap="none" anchor="ctr" anchorCtr="0"/>
          <a:p>
            <a:r>
              <a:rPr dirty="0">
                <a:latin typeface="Times New Roman" panose="02020603050405020304" pitchFamily="-101" charset="0"/>
              </a:rPr>
              <a:t>D</a:t>
            </a:r>
            <a:endParaRPr baseline="-25000" dirty="0">
              <a:latin typeface="Times New Roman" panose="02020603050405020304" pitchFamily="-101" charset="0"/>
            </a:endParaRPr>
          </a:p>
        </p:txBody>
      </p:sp>
      <p:cxnSp>
        <p:nvCxnSpPr>
          <p:cNvPr id="29717" name="AutoShape 20"/>
          <p:cNvCxnSpPr>
            <a:stCxn id="29701" idx="1"/>
            <a:endCxn id="29716" idx="5"/>
          </p:cNvCxnSpPr>
          <p:nvPr/>
        </p:nvCxnSpPr>
        <p:spPr>
          <a:xfrm flipH="1" flipV="1">
            <a:off x="6334125" y="3971925"/>
            <a:ext cx="666750" cy="819150"/>
          </a:xfrm>
          <a:prstGeom prst="straightConnector1">
            <a:avLst/>
          </a:prstGeom>
          <a:ln w="12700" cap="flat" cmpd="sng">
            <a:solidFill>
              <a:schemeClr val="tx1"/>
            </a:solidFill>
            <a:prstDash val="solid"/>
            <a:headEnd type="triangle" w="med" len="med"/>
            <a:tailEnd type="none" w="med" len="med"/>
          </a:ln>
        </p:spPr>
      </p:cxnSp>
      <p:cxnSp>
        <p:nvCxnSpPr>
          <p:cNvPr id="29718" name="AutoShape 21"/>
          <p:cNvCxnSpPr>
            <a:stCxn id="29702" idx="7"/>
            <a:endCxn id="29716" idx="3"/>
          </p:cNvCxnSpPr>
          <p:nvPr/>
        </p:nvCxnSpPr>
        <p:spPr>
          <a:xfrm flipV="1">
            <a:off x="5267325" y="3971925"/>
            <a:ext cx="742950" cy="804863"/>
          </a:xfrm>
          <a:prstGeom prst="straightConnector1">
            <a:avLst/>
          </a:prstGeom>
          <a:ln w="12700" cap="flat" cmpd="sng">
            <a:solidFill>
              <a:schemeClr val="tx1"/>
            </a:solidFill>
            <a:prstDash val="solid"/>
            <a:headEnd type="triangle" w="med" len="med"/>
            <a:tailEnd type="none" w="med" len="med"/>
          </a:ln>
        </p:spPr>
      </p:cxnSp>
      <p:sp>
        <p:nvSpPr>
          <p:cNvPr id="29719" name="Text Box 22"/>
          <p:cNvSpPr txBox="1"/>
          <p:nvPr/>
        </p:nvSpPr>
        <p:spPr>
          <a:xfrm>
            <a:off x="4281488" y="3077686"/>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9720" name="Text Box 23"/>
          <p:cNvSpPr txBox="1"/>
          <p:nvPr/>
        </p:nvSpPr>
        <p:spPr>
          <a:xfrm>
            <a:off x="5591175" y="3063399"/>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9721" name="Text Box 24"/>
          <p:cNvSpPr txBox="1"/>
          <p:nvPr/>
        </p:nvSpPr>
        <p:spPr>
          <a:xfrm>
            <a:off x="6019800" y="2437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9722" name="Text Box 25"/>
          <p:cNvSpPr txBox="1"/>
          <p:nvPr/>
        </p:nvSpPr>
        <p:spPr>
          <a:xfrm>
            <a:off x="7497763" y="3063399"/>
            <a:ext cx="351790" cy="275590"/>
          </a:xfrm>
          <a:prstGeom prst="rect">
            <a:avLst/>
          </a:prstGeom>
          <a:noFill/>
          <a:ln w="9525">
            <a:noFill/>
          </a:ln>
        </p:spPr>
        <p:txBody>
          <a:bodyPr wrap="none" anchor="ctr" anchorCtr="0">
            <a:spAutoFit/>
          </a:bodyPr>
          <a:p>
            <a:r>
              <a:rPr sz="1200" dirty="0">
                <a:latin typeface="Arial" panose="020B0604020202020204" pitchFamily="34" charset="0"/>
              </a:rPr>
              <a:t>10</a:t>
            </a:r>
            <a:endParaRPr sz="1200" dirty="0">
              <a:latin typeface="Arial" panose="020B0604020202020204" pitchFamily="34" charset="0"/>
            </a:endParaRPr>
          </a:p>
        </p:txBody>
      </p:sp>
      <p:sp>
        <p:nvSpPr>
          <p:cNvPr id="29723" name="Text Box 26"/>
          <p:cNvSpPr txBox="1"/>
          <p:nvPr/>
        </p:nvSpPr>
        <p:spPr>
          <a:xfrm>
            <a:off x="6446838" y="3063399"/>
            <a:ext cx="267335" cy="275590"/>
          </a:xfrm>
          <a:prstGeom prst="rect">
            <a:avLst/>
          </a:prstGeom>
          <a:noFill/>
          <a:ln w="9525">
            <a:noFill/>
          </a:ln>
        </p:spPr>
        <p:txBody>
          <a:bodyPr wrap="none" anchor="ctr" anchorCtr="0">
            <a:spAutoFit/>
          </a:bodyPr>
          <a:p>
            <a:r>
              <a:rPr sz="1200" dirty="0">
                <a:latin typeface="Arial" panose="020B0604020202020204" pitchFamily="34" charset="0"/>
              </a:rPr>
              <a:t>3</a:t>
            </a:r>
            <a:endParaRPr sz="1200" dirty="0">
              <a:latin typeface="Arial" panose="020B0604020202020204" pitchFamily="34" charset="0"/>
            </a:endParaRPr>
          </a:p>
        </p:txBody>
      </p:sp>
      <p:sp>
        <p:nvSpPr>
          <p:cNvPr id="29724" name="Text Box 27"/>
          <p:cNvSpPr txBox="1"/>
          <p:nvPr/>
        </p:nvSpPr>
        <p:spPr>
          <a:xfrm>
            <a:off x="7696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6</a:t>
            </a:r>
            <a:endParaRPr sz="1200" dirty="0">
              <a:latin typeface="Arial" panose="020B0604020202020204" pitchFamily="34" charset="0"/>
            </a:endParaRPr>
          </a:p>
        </p:txBody>
      </p:sp>
      <p:sp>
        <p:nvSpPr>
          <p:cNvPr id="29725" name="Text Box 28"/>
          <p:cNvSpPr txBox="1"/>
          <p:nvPr/>
        </p:nvSpPr>
        <p:spPr>
          <a:xfrm>
            <a:off x="67056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4</a:t>
            </a:r>
            <a:endParaRPr sz="1200" dirty="0">
              <a:latin typeface="Arial" panose="020B0604020202020204" pitchFamily="34" charset="0"/>
            </a:endParaRPr>
          </a:p>
        </p:txBody>
      </p:sp>
      <p:sp>
        <p:nvSpPr>
          <p:cNvPr id="29726" name="Text Box 29"/>
          <p:cNvSpPr txBox="1"/>
          <p:nvPr/>
        </p:nvSpPr>
        <p:spPr>
          <a:xfrm>
            <a:off x="70104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9727" name="Text Box 30"/>
          <p:cNvSpPr txBox="1"/>
          <p:nvPr/>
        </p:nvSpPr>
        <p:spPr>
          <a:xfrm>
            <a:off x="4953000" y="3580924"/>
            <a:ext cx="267335" cy="275590"/>
          </a:xfrm>
          <a:prstGeom prst="rect">
            <a:avLst/>
          </a:prstGeom>
          <a:noFill/>
          <a:ln w="9525">
            <a:noFill/>
          </a:ln>
        </p:spPr>
        <p:txBody>
          <a:bodyPr wrap="none" anchor="ctr" anchorCtr="0">
            <a:spAutoFit/>
          </a:bodyPr>
          <a:p>
            <a:r>
              <a:rPr sz="1200" dirty="0">
                <a:latin typeface="Arial" panose="020B0604020202020204" pitchFamily="34" charset="0"/>
              </a:rPr>
              <a:t>2</a:t>
            </a:r>
            <a:endParaRPr sz="1200" dirty="0">
              <a:latin typeface="Arial" panose="020B0604020202020204" pitchFamily="34" charset="0"/>
            </a:endParaRPr>
          </a:p>
        </p:txBody>
      </p:sp>
      <p:sp>
        <p:nvSpPr>
          <p:cNvPr id="29728" name="Text Box 31"/>
          <p:cNvSpPr txBox="1"/>
          <p:nvPr/>
        </p:nvSpPr>
        <p:spPr>
          <a:xfrm>
            <a:off x="54102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8</a:t>
            </a:r>
            <a:endParaRPr sz="1200" dirty="0">
              <a:latin typeface="Arial" panose="020B0604020202020204" pitchFamily="34" charset="0"/>
            </a:endParaRPr>
          </a:p>
        </p:txBody>
      </p:sp>
      <p:sp>
        <p:nvSpPr>
          <p:cNvPr id="29729" name="Text Box 32"/>
          <p:cNvSpPr txBox="1"/>
          <p:nvPr/>
        </p:nvSpPr>
        <p:spPr>
          <a:xfrm>
            <a:off x="4343400" y="4220687"/>
            <a:ext cx="267335" cy="275590"/>
          </a:xfrm>
          <a:prstGeom prst="rect">
            <a:avLst/>
          </a:prstGeom>
          <a:noFill/>
          <a:ln w="9525">
            <a:noFill/>
          </a:ln>
        </p:spPr>
        <p:txBody>
          <a:bodyPr wrap="none" anchor="ctr" anchorCtr="0">
            <a:spAutoFit/>
          </a:bodyPr>
          <a:p>
            <a:r>
              <a:rPr sz="1200" dirty="0">
                <a:latin typeface="Arial" panose="020B0604020202020204" pitchFamily="34" charset="0"/>
              </a:rPr>
              <a:t>5</a:t>
            </a:r>
            <a:endParaRPr sz="1200" dirty="0">
              <a:latin typeface="Arial" panose="020B0604020202020204" pitchFamily="34" charset="0"/>
            </a:endParaRPr>
          </a:p>
        </p:txBody>
      </p:sp>
      <p:sp>
        <p:nvSpPr>
          <p:cNvPr id="29730" name="Text Box 33"/>
          <p:cNvSpPr txBox="1"/>
          <p:nvPr/>
        </p:nvSpPr>
        <p:spPr>
          <a:xfrm>
            <a:off x="6096000" y="4723924"/>
            <a:ext cx="267335" cy="275590"/>
          </a:xfrm>
          <a:prstGeom prst="rect">
            <a:avLst/>
          </a:prstGeom>
          <a:noFill/>
          <a:ln w="9525">
            <a:noFill/>
          </a:ln>
        </p:spPr>
        <p:txBody>
          <a:bodyPr wrap="none" anchor="ctr" anchorCtr="0">
            <a:spAutoFit/>
          </a:bodyPr>
          <a:p>
            <a:r>
              <a:rPr sz="1200" dirty="0">
                <a:latin typeface="Arial" panose="020B0604020202020204" pitchFamily="34" charset="0"/>
              </a:rPr>
              <a:t>1</a:t>
            </a:r>
            <a:endParaRPr sz="1200" dirty="0">
              <a:latin typeface="Arial" panose="020B0604020202020204" pitchFamily="34" charset="0"/>
            </a:endParaRPr>
          </a:p>
        </p:txBody>
      </p:sp>
      <p:sp>
        <p:nvSpPr>
          <p:cNvPr id="29731" name="Text Box 34"/>
          <p:cNvSpPr txBox="1"/>
          <p:nvPr/>
        </p:nvSpPr>
        <p:spPr>
          <a:xfrm>
            <a:off x="4953000" y="2027238"/>
            <a:ext cx="309880" cy="368300"/>
          </a:xfrm>
          <a:prstGeom prst="rect">
            <a:avLst/>
          </a:prstGeom>
          <a:solidFill>
            <a:srgbClr val="FFFFCC"/>
          </a:solidFill>
          <a:ln w="9525">
            <a:noFill/>
          </a:ln>
        </p:spPr>
        <p:txBody>
          <a:bodyPr wrap="none">
            <a:spAutoFit/>
          </a:bodyPr>
          <a:p>
            <a:r>
              <a:rPr dirty="0">
                <a:latin typeface="Arial" panose="020B0604020202020204" pitchFamily="34" charset="0"/>
              </a:rPr>
              <a:t>0</a:t>
            </a:r>
            <a:endParaRPr dirty="0">
              <a:latin typeface="Arial" panose="020B0604020202020204" pitchFamily="34" charset="0"/>
            </a:endParaRPr>
          </a:p>
        </p:txBody>
      </p:sp>
      <p:sp>
        <p:nvSpPr>
          <p:cNvPr id="29732" name="Text Box 35"/>
          <p:cNvSpPr txBox="1"/>
          <p:nvPr/>
        </p:nvSpPr>
        <p:spPr>
          <a:xfrm>
            <a:off x="7010400" y="20574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2</a:t>
            </a:r>
            <a:endParaRPr dirty="0">
              <a:latin typeface="Arial" panose="020B0604020202020204" pitchFamily="34" charset="0"/>
            </a:endParaRPr>
          </a:p>
        </p:txBody>
      </p:sp>
      <p:sp>
        <p:nvSpPr>
          <p:cNvPr id="29733" name="Text Box 36"/>
          <p:cNvSpPr txBox="1"/>
          <p:nvPr/>
        </p:nvSpPr>
        <p:spPr>
          <a:xfrm>
            <a:off x="3505200" y="36671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9734" name="Text Box 37"/>
          <p:cNvSpPr txBox="1"/>
          <p:nvPr/>
        </p:nvSpPr>
        <p:spPr>
          <a:xfrm>
            <a:off x="8382000" y="35909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3</a:t>
            </a:r>
            <a:endParaRPr dirty="0">
              <a:latin typeface="Arial" panose="020B0604020202020204" pitchFamily="34" charset="0"/>
            </a:endParaRPr>
          </a:p>
        </p:txBody>
      </p:sp>
      <p:sp>
        <p:nvSpPr>
          <p:cNvPr id="29735" name="Text Box 38"/>
          <p:cNvSpPr txBox="1"/>
          <p:nvPr/>
        </p:nvSpPr>
        <p:spPr>
          <a:xfrm>
            <a:off x="6019800" y="4124325"/>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1</a:t>
            </a:r>
            <a:endParaRPr dirty="0">
              <a:latin typeface="Arial" panose="020B0604020202020204" pitchFamily="34" charset="0"/>
            </a:endParaRPr>
          </a:p>
        </p:txBody>
      </p:sp>
      <p:sp>
        <p:nvSpPr>
          <p:cNvPr id="29736" name="Text Box 39"/>
          <p:cNvSpPr txBox="1"/>
          <p:nvPr/>
        </p:nvSpPr>
        <p:spPr>
          <a:xfrm>
            <a:off x="3184525" y="5649913"/>
            <a:ext cx="6431280" cy="368300"/>
          </a:xfrm>
          <a:prstGeom prst="rect">
            <a:avLst/>
          </a:prstGeom>
          <a:noFill/>
          <a:ln w="9525">
            <a:noFill/>
          </a:ln>
        </p:spPr>
        <p:txBody>
          <a:bodyPr wrap="none">
            <a:spAutoFit/>
          </a:bodyPr>
          <a:p>
            <a:r>
              <a:rPr dirty="0">
                <a:latin typeface="Arial" panose="020B0604020202020204" pitchFamily="34" charset="0"/>
              </a:rPr>
              <a:t>Pick vertex not in S with lowest cost (F) and update neighbors</a:t>
            </a:r>
            <a:endParaRPr dirty="0">
              <a:latin typeface="Arial" panose="020B0604020202020204" pitchFamily="34" charset="0"/>
            </a:endParaRPr>
          </a:p>
        </p:txBody>
      </p:sp>
      <p:sp>
        <p:nvSpPr>
          <p:cNvPr id="29737" name="Line 40"/>
          <p:cNvSpPr/>
          <p:nvPr/>
        </p:nvSpPr>
        <p:spPr>
          <a:xfrm flipH="1" flipV="1">
            <a:off x="5181600" y="2971800"/>
            <a:ext cx="685800" cy="685800"/>
          </a:xfrm>
          <a:prstGeom prst="line">
            <a:avLst/>
          </a:prstGeom>
          <a:ln w="28575" cap="flat" cmpd="sng">
            <a:solidFill>
              <a:srgbClr val="FF0000"/>
            </a:solidFill>
            <a:prstDash val="solid"/>
            <a:headEnd type="none" w="med" len="med"/>
            <a:tailEnd type="triangle" w="med" len="med"/>
          </a:ln>
        </p:spPr>
      </p:sp>
      <p:sp>
        <p:nvSpPr>
          <p:cNvPr id="29738" name="Line 41"/>
          <p:cNvSpPr/>
          <p:nvPr/>
        </p:nvSpPr>
        <p:spPr>
          <a:xfrm flipH="1" flipV="1">
            <a:off x="5486400" y="2743200"/>
            <a:ext cx="1371600" cy="0"/>
          </a:xfrm>
          <a:prstGeom prst="line">
            <a:avLst/>
          </a:prstGeom>
          <a:ln w="28575" cap="flat" cmpd="sng">
            <a:solidFill>
              <a:srgbClr val="FF0000"/>
            </a:solidFill>
            <a:prstDash val="solid"/>
            <a:headEnd type="none" w="med" len="med"/>
            <a:tailEnd type="triangle" w="med" len="med"/>
          </a:ln>
        </p:spPr>
      </p:sp>
      <p:sp>
        <p:nvSpPr>
          <p:cNvPr id="29739" name="Line 42"/>
          <p:cNvSpPr/>
          <p:nvPr/>
        </p:nvSpPr>
        <p:spPr>
          <a:xfrm flipH="1" flipV="1">
            <a:off x="6400800" y="3962400"/>
            <a:ext cx="1371600" cy="0"/>
          </a:xfrm>
          <a:prstGeom prst="line">
            <a:avLst/>
          </a:prstGeom>
          <a:ln w="28575" cap="flat" cmpd="sng">
            <a:solidFill>
              <a:srgbClr val="FF0000"/>
            </a:solidFill>
            <a:prstDash val="solid"/>
            <a:headEnd type="none" w="med" len="med"/>
            <a:tailEnd type="triangle" w="med" len="med"/>
          </a:ln>
        </p:spPr>
      </p:sp>
      <p:sp>
        <p:nvSpPr>
          <p:cNvPr id="29740" name="Line 43"/>
          <p:cNvSpPr/>
          <p:nvPr/>
        </p:nvSpPr>
        <p:spPr>
          <a:xfrm flipH="1" flipV="1">
            <a:off x="6324600" y="4114800"/>
            <a:ext cx="533400" cy="685800"/>
          </a:xfrm>
          <a:prstGeom prst="line">
            <a:avLst/>
          </a:prstGeom>
          <a:ln w="28575" cap="flat" cmpd="sng">
            <a:solidFill>
              <a:srgbClr val="FF0000"/>
            </a:solidFill>
            <a:prstDash val="solid"/>
            <a:headEnd type="none" w="med" len="med"/>
            <a:tailEnd type="triangle" w="med" len="med"/>
          </a:ln>
        </p:spPr>
      </p:sp>
      <p:sp>
        <p:nvSpPr>
          <p:cNvPr id="29741" name="Line 44"/>
          <p:cNvSpPr/>
          <p:nvPr/>
        </p:nvSpPr>
        <p:spPr>
          <a:xfrm flipV="1">
            <a:off x="5486400" y="5105400"/>
            <a:ext cx="1371600" cy="0"/>
          </a:xfrm>
          <a:prstGeom prst="line">
            <a:avLst/>
          </a:prstGeom>
          <a:ln w="28575" cap="flat" cmpd="sng">
            <a:solidFill>
              <a:srgbClr val="FF0000"/>
            </a:solidFill>
            <a:prstDash val="solid"/>
            <a:headEnd type="none" w="med" len="med"/>
            <a:tailEnd type="triangle" w="med" len="med"/>
          </a:ln>
        </p:spPr>
      </p:sp>
      <p:sp>
        <p:nvSpPr>
          <p:cNvPr id="29742" name="Line 45"/>
          <p:cNvSpPr/>
          <p:nvPr/>
        </p:nvSpPr>
        <p:spPr>
          <a:xfrm flipV="1">
            <a:off x="4419600" y="3962400"/>
            <a:ext cx="1447800" cy="0"/>
          </a:xfrm>
          <a:prstGeom prst="line">
            <a:avLst/>
          </a:prstGeom>
          <a:ln w="28575" cap="flat" cmpd="sng">
            <a:solidFill>
              <a:srgbClr val="FF0000"/>
            </a:solidFill>
            <a:prstDash val="solid"/>
            <a:headEnd type="none" w="med" len="med"/>
            <a:tailEnd type="triangle" w="med" len="med"/>
          </a:ln>
        </p:spPr>
      </p:sp>
      <p:sp>
        <p:nvSpPr>
          <p:cNvPr id="29743" name="Text Box 46"/>
          <p:cNvSpPr txBox="1"/>
          <p:nvPr/>
        </p:nvSpPr>
        <p:spPr>
          <a:xfrm>
            <a:off x="49530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6</a:t>
            </a:r>
            <a:endParaRPr dirty="0">
              <a:latin typeface="Arial" panose="020B0604020202020204" pitchFamily="34" charset="0"/>
            </a:endParaRPr>
          </a:p>
        </p:txBody>
      </p:sp>
      <p:sp>
        <p:nvSpPr>
          <p:cNvPr id="29744" name="Text Box 47"/>
          <p:cNvSpPr txBox="1"/>
          <p:nvPr/>
        </p:nvSpPr>
        <p:spPr>
          <a:xfrm>
            <a:off x="7010400" y="5257800"/>
            <a:ext cx="309880" cy="368300"/>
          </a:xfrm>
          <a:prstGeom prst="rect">
            <a:avLst/>
          </a:prstGeom>
          <a:solidFill>
            <a:srgbClr val="FFFFCC"/>
          </a:solidFill>
          <a:ln w="9525">
            <a:noFill/>
          </a:ln>
        </p:spPr>
        <p:txBody>
          <a:bodyPr wrap="none">
            <a:spAutoFit/>
          </a:bodyPr>
          <a:p>
            <a:r>
              <a:rPr dirty="0">
                <a:latin typeface="Arial" panose="020B0604020202020204" pitchFamily="34" charset="0"/>
                <a:sym typeface="Symbol" panose="05050102010706020507" pitchFamily="-101" charset="2"/>
              </a:rPr>
              <a:t>5</a:t>
            </a:r>
            <a:endParaRPr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10367</Words>
  <Application>WPS Presentation</Application>
  <PresentationFormat>Widescreen</PresentationFormat>
  <Paragraphs>687</Paragraphs>
  <Slides>40</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40</vt:i4>
      </vt:variant>
    </vt:vector>
  </HeadingPairs>
  <TitlesOfParts>
    <vt:vector size="56" baseType="lpstr">
      <vt:lpstr>Arial</vt:lpstr>
      <vt:lpstr>SimSun</vt:lpstr>
      <vt:lpstr>Wingdings</vt:lpstr>
      <vt:lpstr>Arial Unicode MS</vt:lpstr>
      <vt:lpstr>Calibri Light</vt:lpstr>
      <vt:lpstr>Calibri</vt:lpstr>
      <vt:lpstr>Microsoft YaHei</vt:lpstr>
      <vt:lpstr>Wingdings 2</vt:lpstr>
      <vt:lpstr>Verdana</vt:lpstr>
      <vt:lpstr>MS PGothic</vt:lpstr>
      <vt:lpstr>Arial</vt:lpstr>
      <vt:lpstr>Times New Roman</vt:lpstr>
      <vt:lpstr>Constantia</vt:lpstr>
      <vt:lpstr>Symbol</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 Initialization</vt:lpstr>
      <vt:lpstr>Example: Update neighbors' distance</vt:lpstr>
      <vt:lpstr>Example: Remove vertex with minimum distance</vt:lpstr>
      <vt:lpstr>Example: Update neighbors</vt:lpstr>
      <vt:lpstr>Example: Continued...</vt:lpstr>
      <vt:lpstr>Example: Continued...</vt:lpstr>
      <vt:lpstr>Example: Continued...</vt:lpstr>
      <vt:lpstr>Example: Continued...</vt:lpstr>
      <vt:lpstr>Example (end)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Dijkstra's Algorithm</dc:title>
  <dc:creator>unaaz</dc:creator>
  <cp:lastModifiedBy>unaaz</cp:lastModifiedBy>
  <cp:revision>1</cp:revision>
  <dcterms:created xsi:type="dcterms:W3CDTF">2021-10-06T06:52:03Z</dcterms:created>
  <dcterms:modified xsi:type="dcterms:W3CDTF">2021-10-06T06:52:04Z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A8D6AF73CDDF43B4BEE325D65A3EA833</vt:lpwstr>
  </property>
  <property fmtid="{D5CDD505-2E9C-101B-9397-08002B2CF9AE}" pid="3" name="KSOProductBuildVer">
    <vt:lpwstr>1033-11.2.0.10323</vt:lpwstr>
  </property>
</Properties>
</file>