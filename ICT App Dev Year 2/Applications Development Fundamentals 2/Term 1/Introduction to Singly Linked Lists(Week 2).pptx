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4" r:id="rId3"/>
    <p:sldId id="258" r:id="rId4"/>
    <p:sldId id="259" r:id="rId5"/>
    <p:sldId id="273" r:id="rId6"/>
    <p:sldId id="261" r:id="rId7"/>
    <p:sldId id="262" r:id="rId8"/>
    <p:sldId id="263" r:id="rId9"/>
    <p:sldId id="272" r:id="rId10"/>
    <p:sldId id="264" r:id="rId11"/>
    <p:sldId id="266" r:id="rId12"/>
    <p:sldId id="265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79484" autoAdjust="0"/>
  </p:normalViewPr>
  <p:slideViewPr>
    <p:cSldViewPr snapToGrid="0">
      <p:cViewPr varScale="1">
        <p:scale>
          <a:sx n="70" d="100"/>
          <a:sy n="70" d="100"/>
        </p:scale>
        <p:origin x="1166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9C2C29-E69D-47A9-AA7D-E630F159A099}" type="datetimeFigureOut">
              <a:rPr lang="en-ZA" smtClean="0"/>
              <a:t>2021/03/09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54CF0B-372C-4584-ACDA-79806159E91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10674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Data_structure" TargetMode="External"/><Relationship Id="rId7" Type="http://schemas.openxmlformats.org/officeDocument/2006/relationships/hyperlink" Target="https://en.wikipedia.org/wiki/Pointer_(computer_programming)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Data" TargetMode="External"/><Relationship Id="rId5" Type="http://schemas.openxmlformats.org/officeDocument/2006/relationships/hyperlink" Target="https://en.wikipedia.org/wiki/Tree_(data_structure)" TargetMode="External"/><Relationship Id="rId4" Type="http://schemas.openxmlformats.org/officeDocument/2006/relationships/hyperlink" Target="https://en.wikipedia.org/wiki/Linked_list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en-US" sz="1200" b="1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is a basic unit of a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 tooltip="Data structure"/>
              </a:rPr>
              <a:t>data structure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such as a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4" tooltip="Linked list"/>
              </a:rPr>
              <a:t>linked list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or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5" tooltip="Tree (data structure)"/>
              </a:rPr>
              <a:t>tree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data structure. Nodes contain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6" tooltip="Data"/>
              </a:rPr>
              <a:t>data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and also may link to other nodes. Links between nodes are often implemented by </a:t>
            </a:r>
            <a:r>
              <a:rPr lang="en-US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7" tooltip="Pointer (computer programming)"/>
              </a:rPr>
              <a:t>pointers</a:t>
            </a:r>
            <a:r>
              <a:rPr 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154CF0B-372C-4584-ACDA-79806159E914}" type="slidenum">
              <a:rPr lang="en-ZA" smtClean="0"/>
              <a:t>3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6749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2221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020603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94295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84502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3012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118906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95741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201213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137087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7053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7252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13E405-F701-4760-AFD7-4F389B84DF92}" type="datetimeFigureOut">
              <a:rPr lang="en-ZA" smtClean="0"/>
              <a:t>2021/03/08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930793-F03B-4FD2-B452-90FB8C60D9F4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6008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Introduction to </a:t>
            </a:r>
            <a:r>
              <a:rPr lang="en-ZA" b="1" dirty="0" smtClean="0"/>
              <a:t>Linked </a:t>
            </a:r>
            <a:r>
              <a:rPr lang="en-ZA" b="1" dirty="0"/>
              <a:t>Lists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By  Mr. Zukile Ndyalivana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724735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634" y="566057"/>
            <a:ext cx="11014166" cy="5610906"/>
          </a:xfrm>
        </p:spPr>
        <p:txBody>
          <a:bodyPr/>
          <a:lstStyle/>
          <a:p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Objectives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  Overview of a linked list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 smtClean="0"/>
              <a:t>Implementation of a linked list in java</a:t>
            </a:r>
          </a:p>
          <a:p>
            <a:pPr lvl="2"/>
            <a:r>
              <a:rPr lang="en-US" b="1" dirty="0" smtClean="0"/>
              <a:t>Implementation</a:t>
            </a:r>
            <a:r>
              <a:rPr lang="en-US" dirty="0" smtClean="0"/>
              <a:t> </a:t>
            </a:r>
            <a:r>
              <a:rPr lang="en-US" dirty="0"/>
              <a:t>of a </a:t>
            </a:r>
            <a:r>
              <a:rPr lang="en-US" b="1" dirty="0"/>
              <a:t>node</a:t>
            </a:r>
            <a:r>
              <a:rPr lang="en-US" dirty="0"/>
              <a:t> of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singly linked list </a:t>
            </a:r>
            <a:endParaRPr lang="en-US" b="1" dirty="0" smtClean="0">
              <a:solidFill>
                <a:schemeClr val="accent2">
                  <a:lumMod val="75000"/>
                </a:schemeClr>
              </a:solidFill>
            </a:endParaRPr>
          </a:p>
          <a:p>
            <a:pPr marL="1371600" lvl="3" indent="0">
              <a:buNone/>
            </a:pPr>
            <a:r>
              <a:rPr lang="en-US" b="1" dirty="0" smtClean="0"/>
              <a:t>Insertion</a:t>
            </a:r>
            <a:r>
              <a:rPr lang="en-US" dirty="0" smtClean="0"/>
              <a:t> </a:t>
            </a:r>
            <a:r>
              <a:rPr lang="en-US" dirty="0"/>
              <a:t>in a Singly </a:t>
            </a:r>
            <a:r>
              <a:rPr lang="en-US" dirty="0" smtClean="0"/>
              <a:t>Linked </a:t>
            </a:r>
            <a:r>
              <a:rPr lang="en-US" dirty="0"/>
              <a:t>List </a:t>
            </a:r>
            <a:endParaRPr lang="en-US" dirty="0" smtClean="0"/>
          </a:p>
          <a:p>
            <a:pPr marL="1828800" lvl="4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Inserting </a:t>
            </a:r>
            <a:r>
              <a:rPr lang="en-US" dirty="0"/>
              <a:t>a new node </a:t>
            </a:r>
            <a:r>
              <a:rPr lang="en-US" i="1" dirty="0" smtClean="0"/>
              <a:t> </a:t>
            </a:r>
            <a:r>
              <a:rPr lang="en-US" dirty="0"/>
              <a:t>at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beginning</a:t>
            </a:r>
            <a:r>
              <a:rPr lang="en-US" dirty="0"/>
              <a:t> of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singly linked list</a:t>
            </a:r>
            <a:r>
              <a:rPr lang="en-US" dirty="0"/>
              <a:t>. </a:t>
            </a:r>
            <a:endParaRPr lang="en-US" dirty="0" smtClean="0"/>
          </a:p>
          <a:p>
            <a:pPr marL="1828800" lvl="4" indent="0"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Inserting </a:t>
            </a:r>
            <a:r>
              <a:rPr lang="en-US" dirty="0"/>
              <a:t>an Element at the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Tail </a:t>
            </a:r>
            <a:r>
              <a:rPr lang="en-US" dirty="0"/>
              <a:t>of a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Singly Linked List </a:t>
            </a:r>
            <a:endParaRPr lang="en-US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marL="1828800" lvl="4" indent="0">
              <a:buNone/>
            </a:pP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Removing </a:t>
            </a:r>
            <a:r>
              <a:rPr lang="en-US" dirty="0" smtClean="0"/>
              <a:t>an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element</a:t>
            </a:r>
            <a:r>
              <a:rPr lang="en-US" dirty="0" smtClean="0"/>
              <a:t> in a </a:t>
            </a:r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Singly Linked List</a:t>
            </a:r>
            <a:endParaRPr lang="en-ZA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68870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94" y="278674"/>
            <a:ext cx="11258006" cy="5898289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What is a Linked List?</a:t>
            </a:r>
          </a:p>
          <a:p>
            <a:pPr lvl="1" fontAlgn="base"/>
            <a:r>
              <a:rPr lang="en-US" dirty="0"/>
              <a:t>A Linked List is a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linear data structure </a:t>
            </a:r>
            <a:r>
              <a:rPr lang="en-US" dirty="0"/>
              <a:t>consisting of a </a:t>
            </a:r>
            <a:r>
              <a:rPr lang="en-US" dirty="0" smtClean="0"/>
              <a:t>collection of</a:t>
            </a:r>
            <a:r>
              <a:rPr lang="en-US" dirty="0"/>
              <a:t> 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Nodes </a:t>
            </a:r>
            <a:endParaRPr lang="en-US" b="1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These </a:t>
            </a:r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nodes</a:t>
            </a:r>
            <a:r>
              <a:rPr lang="en-US" dirty="0" smtClean="0"/>
              <a:t> are:</a:t>
            </a:r>
          </a:p>
          <a:p>
            <a:pPr marL="1371600" lvl="3" indent="0" fontAlgn="base">
              <a:buNone/>
            </a:pPr>
            <a:r>
              <a:rPr lang="en-US" dirty="0" smtClean="0"/>
              <a:t> Not </a:t>
            </a:r>
            <a:r>
              <a:rPr lang="en-US" b="1" dirty="0">
                <a:solidFill>
                  <a:srgbClr val="FF0000"/>
                </a:solidFill>
              </a:rPr>
              <a:t>stored in contiguous but random memory locations</a:t>
            </a:r>
            <a:r>
              <a:rPr lang="en-US" dirty="0"/>
              <a:t>. </a:t>
            </a:r>
            <a:endParaRPr lang="en-US" dirty="0" smtClean="0"/>
          </a:p>
          <a:p>
            <a:pPr lvl="1" fontAlgn="base"/>
            <a:r>
              <a:rPr lang="en-US" dirty="0" smtClean="0"/>
              <a:t>It </a:t>
            </a:r>
            <a:r>
              <a:rPr lang="en-US" dirty="0"/>
              <a:t>is a commonly used data structure in </a:t>
            </a:r>
            <a:r>
              <a:rPr lang="en-US" b="1" dirty="0"/>
              <a:t>Computer programs </a:t>
            </a:r>
            <a:endParaRPr lang="en-US" b="1" dirty="0" smtClean="0"/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And </a:t>
            </a:r>
            <a:r>
              <a:rPr lang="en-US" dirty="0"/>
              <a:t>helps us to build even </a:t>
            </a:r>
            <a:r>
              <a:rPr lang="en-US" b="1" dirty="0">
                <a:solidFill>
                  <a:srgbClr val="FF0000"/>
                </a:solidFill>
              </a:rPr>
              <a:t>more complex </a:t>
            </a:r>
            <a:r>
              <a:rPr lang="en-US" dirty="0"/>
              <a:t>data structures like </a:t>
            </a:r>
            <a:endParaRPr lang="en-US" dirty="0" smtClean="0"/>
          </a:p>
          <a:p>
            <a:pPr marL="914400" lvl="2" indent="0" fontAlgn="base">
              <a:buNone/>
            </a:pPr>
            <a:r>
              <a:rPr lang="en-US" sz="2400" b="1" dirty="0" smtClean="0">
                <a:solidFill>
                  <a:schemeClr val="accent6">
                    <a:lumMod val="75000"/>
                  </a:schemeClr>
                </a:solidFill>
              </a:rPr>
              <a:t>Stacks</a:t>
            </a:r>
            <a:r>
              <a:rPr lang="en-US" sz="2400" b="1" dirty="0">
                <a:solidFill>
                  <a:schemeClr val="accent6">
                    <a:lumMod val="75000"/>
                  </a:schemeClr>
                </a:solidFill>
              </a:rPr>
              <a:t>, Queues, Skip Lists, etc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2220541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91589"/>
            <a:ext cx="11109960" cy="5985374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/>
              <a:t>A Linked List has the following features: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dirty="0"/>
              <a:t>Each node of the list contains </a:t>
            </a:r>
            <a:endParaRPr lang="en-US" dirty="0" smtClean="0"/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a</a:t>
            </a:r>
            <a:r>
              <a:rPr lang="en-US" dirty="0"/>
              <a:t> </a:t>
            </a:r>
            <a:r>
              <a:rPr lang="en-US" b="1" dirty="0">
                <a:solidFill>
                  <a:srgbClr val="FF0000"/>
                </a:solidFill>
              </a:rPr>
              <a:t>data field</a:t>
            </a:r>
            <a:r>
              <a:rPr lang="en-US" b="1" dirty="0"/>
              <a:t> </a:t>
            </a:r>
            <a:r>
              <a:rPr lang="en-US" dirty="0"/>
              <a:t>which can be a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 number</a:t>
            </a:r>
            <a:r>
              <a:rPr lang="en-US" dirty="0"/>
              <a:t>,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string, </a:t>
            </a:r>
            <a:r>
              <a:rPr lang="en-US" dirty="0"/>
              <a:t>or any other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type of data </a:t>
            </a:r>
            <a:endParaRPr lang="en-US" b="1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And </a:t>
            </a:r>
            <a:r>
              <a:rPr lang="en-US" dirty="0"/>
              <a:t>a </a:t>
            </a:r>
            <a:r>
              <a:rPr lang="en-US" b="1" dirty="0">
                <a:solidFill>
                  <a:srgbClr val="FF0000"/>
                </a:solidFill>
              </a:rPr>
              <a:t>pointer/reference/link</a:t>
            </a:r>
            <a:r>
              <a:rPr lang="en-US" dirty="0"/>
              <a:t> field which is actually the address in memory of the next node in the list.</a:t>
            </a:r>
          </a:p>
          <a:p>
            <a:pPr lvl="1" fontAlgn="base">
              <a:buFont typeface="Wingdings" panose="05000000000000000000" pitchFamily="2" charset="2"/>
              <a:buChar char="Ø"/>
            </a:pPr>
            <a:r>
              <a:rPr lang="en-US" dirty="0"/>
              <a:t>There are three common types of Linked Lists:</a:t>
            </a: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</a:rPr>
              <a:t>Singly Linked List</a:t>
            </a: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</a:rPr>
              <a:t>Doubly Linked List</a:t>
            </a: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rgbClr val="FF0000"/>
                </a:solidFill>
              </a:rPr>
              <a:t>Circular Linked List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06887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42417" y="836023"/>
            <a:ext cx="9241771" cy="4859383"/>
          </a:xfrm>
          <a:prstGeom prst="rect">
            <a:avLst/>
          </a:prstGeom>
          <a:ln>
            <a:solidFill>
              <a:srgbClr val="0070C0"/>
            </a:solidFill>
          </a:ln>
        </p:spPr>
      </p:pic>
    </p:spTree>
    <p:extLst>
      <p:ext uri="{BB962C8B-B14F-4D97-AF65-F5344CB8AC3E}">
        <p14:creationId xmlns:p14="http://schemas.microsoft.com/office/powerpoint/2010/main" val="2269475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348343"/>
            <a:ext cx="11109960" cy="5828620"/>
          </a:xfrm>
        </p:spPr>
        <p:txBody>
          <a:bodyPr/>
          <a:lstStyle/>
          <a:p>
            <a:r>
              <a:rPr lang="en-US" dirty="0"/>
              <a:t>The reference to the </a:t>
            </a:r>
            <a:r>
              <a:rPr lang="en-US" b="1" dirty="0">
                <a:solidFill>
                  <a:srgbClr val="FF0000"/>
                </a:solidFill>
              </a:rPr>
              <a:t>first</a:t>
            </a:r>
            <a:r>
              <a:rPr lang="en-US" dirty="0"/>
              <a:t> node in the list is called the </a:t>
            </a:r>
            <a:r>
              <a:rPr lang="en-US" b="1" dirty="0">
                <a:solidFill>
                  <a:srgbClr val="FF0000"/>
                </a:solidFill>
              </a:rPr>
              <a:t>HEAD</a:t>
            </a:r>
            <a:r>
              <a:rPr lang="en-US" dirty="0"/>
              <a:t> of the </a:t>
            </a:r>
            <a:r>
              <a:rPr lang="en-US" dirty="0" smtClean="0"/>
              <a:t>list.</a:t>
            </a:r>
          </a:p>
          <a:p>
            <a:r>
              <a:rPr lang="en-US" dirty="0" smtClean="0"/>
              <a:t>The </a:t>
            </a:r>
            <a:r>
              <a:rPr lang="en-US" b="1" dirty="0">
                <a:solidFill>
                  <a:schemeClr val="accent2">
                    <a:lumMod val="50000"/>
                  </a:schemeClr>
                </a:solidFill>
              </a:rPr>
              <a:t>pointer/reference/link</a:t>
            </a:r>
            <a:r>
              <a:rPr lang="en-US" dirty="0"/>
              <a:t> field contained in the node is used to traverse to the next </a:t>
            </a:r>
            <a:r>
              <a:rPr lang="en-US" dirty="0" smtClean="0"/>
              <a:t>node.</a:t>
            </a:r>
          </a:p>
          <a:p>
            <a:r>
              <a:rPr lang="en-US" dirty="0" smtClean="0"/>
              <a:t>And </a:t>
            </a:r>
            <a:r>
              <a:rPr lang="en-US" dirty="0"/>
              <a:t>to its next node and so on till we reach a node that points to </a:t>
            </a:r>
            <a:r>
              <a:rPr lang="en-US" b="1" dirty="0">
                <a:solidFill>
                  <a:srgbClr val="FF0000"/>
                </a:solidFill>
              </a:rPr>
              <a:t>NULL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r>
              <a:rPr lang="en-US" dirty="0" smtClean="0"/>
              <a:t>N:B</a:t>
            </a:r>
          </a:p>
          <a:p>
            <a:pPr lvl="1"/>
            <a:r>
              <a:rPr lang="en-US" dirty="0" smtClean="0"/>
              <a:t> </a:t>
            </a:r>
            <a:r>
              <a:rPr lang="en-US" dirty="0"/>
              <a:t>This is the </a:t>
            </a:r>
            <a:r>
              <a:rPr lang="en-US" b="1" dirty="0">
                <a:solidFill>
                  <a:srgbClr val="FF0000"/>
                </a:solidFill>
              </a:rPr>
              <a:t>last</a:t>
            </a:r>
            <a:r>
              <a:rPr lang="en-US" dirty="0">
                <a:solidFill>
                  <a:srgbClr val="FF0000"/>
                </a:solidFill>
              </a:rPr>
              <a:t> </a:t>
            </a:r>
            <a:r>
              <a:rPr lang="en-US" dirty="0"/>
              <a:t>node in the list</a:t>
            </a:r>
            <a:r>
              <a:rPr lang="en-US" dirty="0" smtClean="0"/>
              <a:t>.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 </a:t>
            </a:r>
            <a:r>
              <a:rPr lang="en-US" dirty="0" smtClean="0"/>
              <a:t>Furthermore, </a:t>
            </a:r>
          </a:p>
          <a:p>
            <a:pPr lvl="3"/>
            <a:r>
              <a:rPr lang="en-US" dirty="0"/>
              <a:t>A</a:t>
            </a:r>
            <a:r>
              <a:rPr lang="en-US" dirty="0" smtClean="0"/>
              <a:t> </a:t>
            </a:r>
            <a:r>
              <a:rPr lang="en-US" dirty="0"/>
              <a:t>singly linked list can only be traversed in one and only one direction </a:t>
            </a:r>
            <a:endParaRPr lang="en-US" dirty="0" smtClean="0"/>
          </a:p>
          <a:p>
            <a:pPr marL="1371600" lvl="3" indent="0">
              <a:buNone/>
            </a:pPr>
            <a:r>
              <a:rPr lang="en-US" dirty="0" smtClean="0"/>
              <a:t>Which is from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head to the last node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lvl="2"/>
            <a:r>
              <a:rPr lang="en-US" dirty="0" smtClean="0"/>
              <a:t> </a:t>
            </a:r>
            <a:r>
              <a:rPr lang="en-US" dirty="0"/>
              <a:t>There is no way to traverse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from the last node back to the head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438370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2549" y="60960"/>
            <a:ext cx="11101251" cy="6116003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Arrays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v/s Singly Linked List ?</a:t>
            </a:r>
          </a:p>
          <a:p>
            <a:pPr fontAlgn="base"/>
            <a:r>
              <a:rPr lang="en-US" dirty="0"/>
              <a:t>You must be wondering why do we need 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</a:rPr>
              <a:t>another data structure </a:t>
            </a:r>
            <a:r>
              <a:rPr lang="en-US" dirty="0"/>
              <a:t>when we already have a powerful data structure </a:t>
            </a:r>
            <a:r>
              <a:rPr lang="en-US" b="1" dirty="0">
                <a:solidFill>
                  <a:srgbClr val="FF0000"/>
                </a:solidFill>
              </a:rPr>
              <a:t>Arrays</a:t>
            </a:r>
            <a:r>
              <a:rPr lang="en-US" b="1" dirty="0"/>
              <a:t>, </a:t>
            </a:r>
            <a:endParaRPr lang="en-US" b="1" dirty="0" smtClean="0"/>
          </a:p>
          <a:p>
            <a:pPr fontAlgn="base"/>
            <a:r>
              <a:rPr lang="en-US" b="1" dirty="0" smtClean="0">
                <a:solidFill>
                  <a:srgbClr val="FF0000"/>
                </a:solidFill>
              </a:rPr>
              <a:t>We know that it is easy </a:t>
            </a:r>
            <a:r>
              <a:rPr lang="en-US" dirty="0"/>
              <a:t>to create and </a:t>
            </a:r>
            <a:r>
              <a:rPr lang="en-US" b="1" dirty="0">
                <a:solidFill>
                  <a:srgbClr val="FF0000"/>
                </a:solidFill>
              </a:rPr>
              <a:t>simple to use</a:t>
            </a:r>
            <a:r>
              <a:rPr lang="en-US" dirty="0"/>
              <a:t>. </a:t>
            </a:r>
            <a:endParaRPr lang="en-US" dirty="0" smtClean="0"/>
          </a:p>
          <a:p>
            <a:pPr fontAlgn="base"/>
            <a:r>
              <a:rPr lang="en-US" dirty="0" smtClean="0"/>
              <a:t>However</a:t>
            </a:r>
          </a:p>
          <a:p>
            <a:pPr lvl="1" fontAlgn="base">
              <a:buFont typeface="Wingdings" panose="05000000000000000000" pitchFamily="2" charset="2"/>
              <a:buChar char="v"/>
            </a:pPr>
            <a:r>
              <a:rPr lang="en-US" dirty="0" smtClean="0"/>
              <a:t>There are some </a:t>
            </a:r>
            <a:r>
              <a:rPr lang="en-US" dirty="0"/>
              <a:t>limitations of arrays </a:t>
            </a:r>
            <a:endParaRPr lang="en-US" dirty="0" smtClean="0"/>
          </a:p>
          <a:p>
            <a:pPr lvl="1" fontAlgn="base">
              <a:buFont typeface="Wingdings" panose="05000000000000000000" pitchFamily="2" charset="2"/>
              <a:buChar char="v"/>
            </a:pPr>
            <a:r>
              <a:rPr lang="en-US" dirty="0" smtClean="0"/>
              <a:t>And </a:t>
            </a:r>
            <a:r>
              <a:rPr lang="en-US" dirty="0"/>
              <a:t>how a Linked List overcomes these limitations.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22800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6" y="182880"/>
            <a:ext cx="11144794" cy="5994083"/>
          </a:xfrm>
        </p:spPr>
        <p:txBody>
          <a:bodyPr>
            <a:normAutofit fontScale="92500" lnSpcReduction="10000"/>
          </a:bodyPr>
          <a:lstStyle/>
          <a:p>
            <a:pPr marL="0" indent="0" fontAlgn="base">
              <a:buNone/>
            </a:pPr>
            <a:r>
              <a:rPr lang="en-US" dirty="0" smtClean="0"/>
              <a:t>Limitations Of Arrays</a:t>
            </a:r>
          </a:p>
          <a:p>
            <a:pPr algn="just" fontAlgn="base"/>
            <a:r>
              <a:rPr lang="en-US" b="1" dirty="0" smtClean="0">
                <a:solidFill>
                  <a:srgbClr val="FF0000"/>
                </a:solidFill>
              </a:rPr>
              <a:t>Fixed Size:</a:t>
            </a:r>
            <a:r>
              <a:rPr lang="en-US" dirty="0" smtClean="0">
                <a:solidFill>
                  <a:srgbClr val="FF0000"/>
                </a:solidFill>
              </a:rPr>
              <a:t> </a:t>
            </a:r>
          </a:p>
          <a:p>
            <a:pPr marL="457200" lvl="1" indent="0" algn="just" fontAlgn="base">
              <a:buNone/>
            </a:pPr>
            <a:r>
              <a:rPr lang="en-US" dirty="0" smtClean="0"/>
              <a:t>Array elements are stored in contiguous memory locations. </a:t>
            </a:r>
          </a:p>
          <a:p>
            <a:pPr algn="just" fontAlgn="base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Accordingly,</a:t>
            </a:r>
          </a:p>
          <a:p>
            <a:pPr marL="457200" lvl="1" indent="0" algn="just" fontAlgn="base">
              <a:buNone/>
            </a:pPr>
            <a:r>
              <a:rPr lang="en-US" dirty="0" smtClean="0"/>
              <a:t> the size of the array needs to be known in advance at the time of its creation, and predicting this size can be a challenging task. </a:t>
            </a:r>
          </a:p>
          <a:p>
            <a:pPr algn="just" fontAlgn="base"/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Moreover, </a:t>
            </a:r>
          </a:p>
          <a:p>
            <a:pPr marL="457200" lvl="1" indent="0" algn="just" fontAlgn="base">
              <a:buNone/>
            </a:pPr>
            <a:r>
              <a:rPr lang="en-US" dirty="0" smtClean="0"/>
              <a:t>once created, the size of the array cannot be modified and declaring a large-sized array could result in a wastage of memory if we do not end up storing that many elements.</a:t>
            </a:r>
          </a:p>
          <a:p>
            <a:pPr algn="just" fontAlgn="base"/>
            <a:r>
              <a:rPr lang="en-US" b="1" dirty="0" smtClean="0">
                <a:solidFill>
                  <a:srgbClr val="FF0000"/>
                </a:solidFill>
              </a:rPr>
              <a:t>Performance:</a:t>
            </a:r>
            <a:r>
              <a:rPr lang="en-US" dirty="0" smtClean="0">
                <a:solidFill>
                  <a:srgbClr val="FF0000"/>
                </a:solidFill>
              </a:rPr>
              <a:t> </a:t>
            </a:r>
          </a:p>
          <a:p>
            <a:pPr lvl="1" algn="just" fontAlgn="base"/>
            <a:r>
              <a:rPr lang="en-US" dirty="0" smtClean="0"/>
              <a:t>Since the size of the array cannot be modified dynamically, </a:t>
            </a:r>
          </a:p>
          <a:p>
            <a:pPr lvl="2" algn="just" fontAlgn="base"/>
            <a:r>
              <a:rPr lang="en-US" b="1" dirty="0" smtClean="0"/>
              <a:t>adding</a:t>
            </a:r>
            <a:r>
              <a:rPr lang="en-US" dirty="0" smtClean="0"/>
              <a:t> a new element to an array is another expensive operation. </a:t>
            </a:r>
          </a:p>
          <a:p>
            <a:pPr lvl="1" algn="just" fontAlgn="base"/>
            <a:r>
              <a:rPr lang="en-US" dirty="0" smtClean="0"/>
              <a:t>This involves allocating a location in the memory with the size of the new array, copying the elements of the old array to the new location, and finally adding the new element. </a:t>
            </a:r>
          </a:p>
          <a:p>
            <a:pPr lvl="1" algn="just" fontAlgn="base"/>
            <a:r>
              <a:rPr lang="en-US" b="1" dirty="0" smtClean="0">
                <a:solidFill>
                  <a:srgbClr val="FF0000"/>
                </a:solidFill>
              </a:rPr>
              <a:t>Similarly </a:t>
            </a:r>
          </a:p>
          <a:p>
            <a:pPr marL="914400" lvl="2" indent="0" algn="just" fontAlgn="base">
              <a:buNone/>
            </a:pPr>
            <a:r>
              <a:rPr lang="en-US" b="1" dirty="0" smtClean="0"/>
              <a:t>deleting</a:t>
            </a:r>
            <a:r>
              <a:rPr lang="en-US" dirty="0" smtClean="0"/>
              <a:t> an element from an array is an expensive operation as all the elements after the deleted element must be shifted left.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28080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9006" y="209006"/>
            <a:ext cx="11144794" cy="5967957"/>
          </a:xfrm>
        </p:spPr>
        <p:txBody>
          <a:bodyPr>
            <a:normAutofit/>
          </a:bodyPr>
          <a:lstStyle/>
          <a:p>
            <a:pPr marL="0" indent="0" algn="just" fontAlgn="base">
              <a:buNone/>
            </a:pPr>
            <a:r>
              <a:rPr lang="en-US" b="1" dirty="0" smtClean="0"/>
              <a:t>Linked Lists </a:t>
            </a:r>
            <a:r>
              <a:rPr lang="en-US" dirty="0" smtClean="0"/>
              <a:t>– </a:t>
            </a:r>
          </a:p>
          <a:p>
            <a:pPr marL="457200" lvl="1" indent="0" algn="just" fontAlgn="base">
              <a:buNone/>
            </a:pPr>
            <a:r>
              <a:rPr lang="en-US" b="1" dirty="0" smtClean="0">
                <a:solidFill>
                  <a:schemeClr val="accent2">
                    <a:lumMod val="75000"/>
                  </a:schemeClr>
                </a:solidFill>
              </a:rPr>
              <a:t>A solution</a:t>
            </a:r>
          </a:p>
          <a:p>
            <a:pPr lvl="1" algn="just" fontAlgn="base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Dynamic Memory Allocation: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 </a:t>
            </a:r>
          </a:p>
          <a:p>
            <a:pPr lvl="2" algn="just" fontAlgn="base">
              <a:buFont typeface="Wingdings" panose="05000000000000000000" pitchFamily="2" charset="2"/>
              <a:buChar char="v"/>
            </a:pPr>
            <a:r>
              <a:rPr lang="en-US" dirty="0" smtClean="0"/>
              <a:t>As Linked Lists do not need </a:t>
            </a:r>
            <a:r>
              <a:rPr lang="en-US" b="1" dirty="0" smtClean="0">
                <a:solidFill>
                  <a:srgbClr val="FF0000"/>
                </a:solidFill>
              </a:rPr>
              <a:t>contiguous memory locations </a:t>
            </a:r>
            <a:r>
              <a:rPr lang="en-US" dirty="0" smtClean="0"/>
              <a:t>to store their elements, memory is allocated dynamically at </a:t>
            </a:r>
            <a:r>
              <a:rPr lang="en-US" b="1" dirty="0" smtClean="0">
                <a:solidFill>
                  <a:srgbClr val="FF0000"/>
                </a:solidFill>
              </a:rPr>
              <a:t>runtime</a:t>
            </a:r>
            <a:r>
              <a:rPr lang="en-US" dirty="0" smtClean="0"/>
              <a:t> whenever a new node is created. </a:t>
            </a:r>
          </a:p>
          <a:p>
            <a:pPr lvl="1" algn="just" fontAlgn="base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As a result, </a:t>
            </a:r>
          </a:p>
          <a:p>
            <a:pPr lvl="2" algn="just" fontAlgn="base">
              <a:buFont typeface="Wingdings" panose="05000000000000000000" pitchFamily="2" charset="2"/>
              <a:buChar char="v"/>
            </a:pPr>
            <a:r>
              <a:rPr lang="en-US" dirty="0"/>
              <a:t>K</a:t>
            </a:r>
            <a:r>
              <a:rPr lang="en-US" dirty="0" smtClean="0"/>
              <a:t>nowing and predicting the size of the linked list in advance is </a:t>
            </a:r>
            <a:r>
              <a:rPr lang="en-US" b="1" dirty="0" smtClean="0">
                <a:solidFill>
                  <a:srgbClr val="FF0000"/>
                </a:solidFill>
              </a:rPr>
              <a:t>not a necessary requirement</a:t>
            </a:r>
            <a:r>
              <a:rPr lang="en-US" dirty="0" smtClean="0"/>
              <a:t>.</a:t>
            </a:r>
          </a:p>
          <a:p>
            <a:pPr lvl="1" algn="just" fontAlgn="base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Performance:</a:t>
            </a:r>
            <a:r>
              <a:rPr lang="en-US" dirty="0" smtClean="0">
                <a:solidFill>
                  <a:schemeClr val="accent6">
                    <a:lumMod val="75000"/>
                  </a:schemeClr>
                </a:solidFill>
              </a:rPr>
              <a:t> </a:t>
            </a:r>
          </a:p>
          <a:p>
            <a:pPr lvl="2" algn="just" fontAlgn="base">
              <a:buFont typeface="Wingdings" panose="05000000000000000000" pitchFamily="2" charset="2"/>
              <a:buChar char="v"/>
            </a:pPr>
            <a:r>
              <a:rPr lang="en-US" dirty="0" smtClean="0"/>
              <a:t>Adding an element to a linked list does not require copying the list to a new memory location. Similarly, deleting an element does not require shifting of elements to the left. </a:t>
            </a:r>
          </a:p>
          <a:p>
            <a:pPr lvl="1" algn="just" fontAlgn="base"/>
            <a:r>
              <a:rPr lang="en-US" b="1" dirty="0" smtClean="0">
                <a:solidFill>
                  <a:schemeClr val="accent6">
                    <a:lumMod val="75000"/>
                  </a:schemeClr>
                </a:solidFill>
              </a:rPr>
              <a:t>Nevertheless, </a:t>
            </a:r>
          </a:p>
          <a:p>
            <a:pPr lvl="2" algn="just" fontAlgn="base">
              <a:buFont typeface="Wingdings" panose="05000000000000000000" pitchFamily="2" charset="2"/>
              <a:buChar char="v"/>
            </a:pPr>
            <a:r>
              <a:rPr lang="en-US" dirty="0"/>
              <a:t>T</a:t>
            </a:r>
            <a:r>
              <a:rPr lang="en-US" dirty="0" smtClean="0"/>
              <a:t>he previous node needs to be updated with the pointer/reference of the next correct node in the memory.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69139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634" y="287383"/>
            <a:ext cx="11014166" cy="5889580"/>
          </a:xfrm>
        </p:spPr>
        <p:txBody>
          <a:bodyPr/>
          <a:lstStyle/>
          <a:p>
            <a:pPr marL="0" indent="0" fontAlgn="base">
              <a:buNone/>
            </a:pPr>
            <a:r>
              <a:rPr lang="en-US" b="1" dirty="0"/>
              <a:t>Custom Singly Linked List In Java</a:t>
            </a:r>
          </a:p>
          <a:p>
            <a:pPr fontAlgn="base"/>
            <a:r>
              <a:rPr lang="en-US" dirty="0" smtClean="0"/>
              <a:t>Creating </a:t>
            </a:r>
            <a:r>
              <a:rPr lang="en-US" dirty="0"/>
              <a:t>a Singly Linked List</a:t>
            </a: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/>
              <a:t>A singly linked list in java can be created by using a </a:t>
            </a:r>
            <a:r>
              <a:rPr lang="en-US" b="1" dirty="0">
                <a:solidFill>
                  <a:srgbClr val="FF0000"/>
                </a:solidFill>
              </a:rPr>
              <a:t>self-referential class</a:t>
            </a:r>
            <a:r>
              <a:rPr lang="en-US" dirty="0"/>
              <a:t>. </a:t>
            </a:r>
            <a:endParaRPr lang="en-US" dirty="0" smtClean="0"/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A </a:t>
            </a:r>
            <a:r>
              <a:rPr lang="en-US" dirty="0"/>
              <a:t>self-referential class is one that holds a </a:t>
            </a:r>
            <a:r>
              <a:rPr lang="en-US" b="1" dirty="0">
                <a:solidFill>
                  <a:srgbClr val="FF0000"/>
                </a:solidFill>
              </a:rPr>
              <a:t>reference to itself</a:t>
            </a:r>
            <a:r>
              <a:rPr lang="en-US" b="1" dirty="0" smtClean="0">
                <a:solidFill>
                  <a:srgbClr val="FF0000"/>
                </a:solidFill>
              </a:rPr>
              <a:t>.</a:t>
            </a:r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 </a:t>
            </a:r>
            <a:r>
              <a:rPr lang="en-US" dirty="0"/>
              <a:t>Below is a class SinglyLinkedList that encloses an inner self-referential class Node having two fields, </a:t>
            </a:r>
            <a:endParaRPr lang="en-US" dirty="0" smtClean="0"/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a </a:t>
            </a:r>
            <a:r>
              <a:rPr lang="en-US" dirty="0"/>
              <a:t>data field which is an integer and a </a:t>
            </a:r>
            <a:r>
              <a:rPr lang="en-US" b="1" dirty="0">
                <a:solidFill>
                  <a:srgbClr val="FF0000"/>
                </a:solidFill>
              </a:rPr>
              <a:t>“next” </a:t>
            </a:r>
            <a:r>
              <a:rPr lang="en-US" dirty="0"/>
              <a:t>field which is of the type Node. </a:t>
            </a:r>
            <a:endParaRPr lang="en-US" dirty="0" smtClean="0"/>
          </a:p>
          <a:p>
            <a:pPr lvl="2" fontAlgn="base">
              <a:buFont typeface="Wingdings" panose="05000000000000000000" pitchFamily="2" charset="2"/>
              <a:buChar char="v"/>
            </a:pPr>
            <a:r>
              <a:rPr lang="en-US" dirty="0" smtClean="0"/>
              <a:t>The </a:t>
            </a:r>
            <a:r>
              <a:rPr lang="en-US" dirty="0"/>
              <a:t>outer class also holds the reference</a:t>
            </a:r>
            <a:r>
              <a:rPr lang="en-US" b="1" dirty="0">
                <a:solidFill>
                  <a:srgbClr val="FF0000"/>
                </a:solidFill>
              </a:rPr>
              <a:t>/pointer/link to the HEAD of the list</a:t>
            </a:r>
            <a:r>
              <a:rPr lang="en-US" dirty="0"/>
              <a:t>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90265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429" y="391886"/>
            <a:ext cx="10918371" cy="5785077"/>
          </a:xfrm>
        </p:spPr>
        <p:txBody>
          <a:bodyPr>
            <a:normAutofit/>
          </a:bodyPr>
          <a:lstStyle/>
          <a:p>
            <a:pPr marL="0" indent="0" fontAlgn="base">
              <a:buNone/>
            </a:pPr>
            <a:r>
              <a:rPr lang="en-US" b="1" dirty="0">
                <a:solidFill>
                  <a:srgbClr val="FF0000"/>
                </a:solidFill>
              </a:rPr>
              <a:t>Inserting Nodes Into a Singly Linked List</a:t>
            </a:r>
          </a:p>
          <a:p>
            <a:pPr marL="457200" lvl="1" indent="0" fontAlgn="base">
              <a:buNone/>
            </a:pPr>
            <a:r>
              <a:rPr lang="en-US" dirty="0"/>
              <a:t>There are three cases to consider for inserting a node into a singly linked list. Adding a node to the :</a:t>
            </a:r>
          </a:p>
          <a:p>
            <a:pPr lvl="2" fontAlgn="base"/>
            <a:r>
              <a:rPr lang="en-US" dirty="0">
                <a:solidFill>
                  <a:srgbClr val="FF0000"/>
                </a:solidFill>
              </a:rPr>
              <a:t>Beginning of the list.</a:t>
            </a:r>
          </a:p>
          <a:p>
            <a:pPr lvl="2" fontAlgn="base"/>
            <a:r>
              <a:rPr lang="en-US" dirty="0">
                <a:solidFill>
                  <a:srgbClr val="FF0000"/>
                </a:solidFill>
              </a:rPr>
              <a:t>End of the list.</a:t>
            </a:r>
          </a:p>
          <a:p>
            <a:pPr lvl="2" fontAlgn="base"/>
            <a:r>
              <a:rPr lang="en-US" dirty="0">
                <a:solidFill>
                  <a:srgbClr val="FF0000"/>
                </a:solidFill>
              </a:rPr>
              <a:t>Specified position in the list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pPr marL="0" indent="0" fontAlgn="base">
              <a:buNone/>
            </a:pPr>
            <a:r>
              <a:rPr lang="en-US" dirty="0" smtClean="0"/>
              <a:t>Inserting a node at the beginning of the list</a:t>
            </a:r>
          </a:p>
          <a:p>
            <a:pPr lvl="1" fontAlgn="base">
              <a:buFont typeface="Wingdings" panose="05000000000000000000" pitchFamily="2" charset="2"/>
              <a:buChar char="v"/>
            </a:pPr>
            <a:r>
              <a:rPr lang="en-US" dirty="0" smtClean="0"/>
              <a:t>To </a:t>
            </a:r>
            <a:r>
              <a:rPr lang="en-US" dirty="0"/>
              <a:t>insert a new node at the beginning of the list the following algorithm is used :</a:t>
            </a:r>
          </a:p>
          <a:p>
            <a:pPr lvl="2" fontAlgn="base">
              <a:buFont typeface="Wingdings" panose="05000000000000000000" pitchFamily="2" charset="2"/>
              <a:buChar char="Ø"/>
            </a:pPr>
            <a:r>
              <a:rPr lang="en-US" dirty="0"/>
              <a:t>Assign the reference of the HEAD to the new node’s next field.</a:t>
            </a:r>
          </a:p>
          <a:p>
            <a:pPr lvl="2" fontAlgn="base">
              <a:buFont typeface="Wingdings" panose="05000000000000000000" pitchFamily="2" charset="2"/>
              <a:buChar char="Ø"/>
            </a:pPr>
            <a:r>
              <a:rPr lang="en-US" dirty="0"/>
              <a:t>Make the new node as the HEAD of the list.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20775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304800"/>
            <a:ext cx="11109960" cy="5872163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public class </a:t>
            </a:r>
            <a:r>
              <a:rPr lang="en-ZA" dirty="0" err="1" smtClean="0">
                <a:solidFill>
                  <a:schemeClr val="accent1">
                    <a:lumMod val="50000"/>
                  </a:schemeClr>
                </a:solidFill>
              </a:rPr>
              <a:t>SinglyLinkedList</a:t>
            </a: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{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// reference to head / first node of the Singly Linked List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public Node head = null;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// class Node that hold data and a reference/link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// to the next Node in the list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class Node {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    private </a:t>
            </a:r>
            <a:r>
              <a:rPr lang="en-ZA" dirty="0" err="1" smtClean="0">
                <a:solidFill>
                  <a:schemeClr val="accent1">
                    <a:lumMod val="50000"/>
                  </a:schemeClr>
                </a:solidFill>
              </a:rPr>
              <a:t>int</a:t>
            </a: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data;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    private Node next;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    public Node(</a:t>
            </a:r>
            <a:r>
              <a:rPr lang="en-ZA" dirty="0" err="1" smtClean="0">
                <a:solidFill>
                  <a:schemeClr val="accent1">
                    <a:lumMod val="50000"/>
                  </a:schemeClr>
                </a:solidFill>
              </a:rPr>
              <a:t>int</a:t>
            </a: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data) {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        </a:t>
            </a:r>
            <a:r>
              <a:rPr lang="en-ZA" dirty="0" err="1" smtClean="0">
                <a:solidFill>
                  <a:schemeClr val="accent1">
                    <a:lumMod val="50000"/>
                  </a:schemeClr>
                </a:solidFill>
              </a:rPr>
              <a:t>this.data</a:t>
            </a: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= data;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        </a:t>
            </a:r>
            <a:r>
              <a:rPr lang="en-ZA" dirty="0" err="1" smtClean="0">
                <a:solidFill>
                  <a:schemeClr val="accent1">
                    <a:lumMod val="50000"/>
                  </a:schemeClr>
                </a:solidFill>
              </a:rPr>
              <a:t>this.next</a:t>
            </a: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= null;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    }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    }</a:t>
            </a:r>
          </a:p>
          <a:p>
            <a:pPr marL="0" indent="0">
              <a:buNone/>
            </a:pPr>
            <a:r>
              <a:rPr lang="en-ZA" dirty="0" smtClean="0">
                <a:solidFill>
                  <a:schemeClr val="accent1">
                    <a:lumMod val="50000"/>
                  </a:schemeClr>
                </a:solidFill>
              </a:rPr>
              <a:t>}</a:t>
            </a:r>
            <a:endParaRPr lang="en-ZA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01440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926" y="243840"/>
            <a:ext cx="11022874" cy="5933123"/>
          </a:xfrm>
        </p:spPr>
        <p:txBody>
          <a:bodyPr>
            <a:normAutofit/>
          </a:bodyPr>
          <a:lstStyle/>
          <a:p>
            <a:r>
              <a:rPr lang="en-US" dirty="0" smtClean="0"/>
              <a:t>Inserting a node with data N at the beginning of the list</a:t>
            </a:r>
          </a:p>
          <a:p>
            <a:r>
              <a:rPr lang="en-US" dirty="0" smtClean="0"/>
              <a:t>Add a node to beginning of the list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// Point the new node's next to head</a:t>
            </a:r>
          </a:p>
          <a:p>
            <a:pPr marL="457200" lvl="1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newNode.next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this.head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// Make the new node as head</a:t>
            </a:r>
          </a:p>
          <a:p>
            <a:pPr marL="457200" lvl="1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this.head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newNode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  <a:endParaRPr lang="en-ZA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1422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278674"/>
            <a:ext cx="11049000" cy="5898289"/>
          </a:xfrm>
        </p:spPr>
        <p:txBody>
          <a:bodyPr/>
          <a:lstStyle/>
          <a:p>
            <a:pPr fontAlgn="base"/>
            <a:r>
              <a:rPr lang="en-US" dirty="0"/>
              <a:t> Inserting a node at the end of the list</a:t>
            </a:r>
          </a:p>
          <a:p>
            <a:pPr fontAlgn="base"/>
            <a:r>
              <a:rPr lang="en-US" dirty="0"/>
              <a:t>To insert a node at the end of the list the </a:t>
            </a:r>
            <a:endParaRPr lang="en-US" dirty="0" smtClean="0"/>
          </a:p>
          <a:p>
            <a:pPr marL="457200" lvl="1" indent="0" fontAlgn="base">
              <a:buNone/>
            </a:pPr>
            <a:r>
              <a:rPr lang="en-US" dirty="0" smtClean="0"/>
              <a:t>following </a:t>
            </a:r>
            <a:r>
              <a:rPr lang="en-US" dirty="0"/>
              <a:t>algorithm is </a:t>
            </a:r>
            <a:r>
              <a:rPr lang="en-US" dirty="0" smtClean="0"/>
              <a:t>followed</a:t>
            </a:r>
            <a:endParaRPr lang="en-US" dirty="0"/>
          </a:p>
          <a:p>
            <a:pPr marL="457200" lvl="1" indent="0" fontAlgn="base">
              <a:buNone/>
            </a:pPr>
            <a:r>
              <a:rPr lang="en-US" dirty="0"/>
              <a:t>Traverse the list until we find the last node.</a:t>
            </a:r>
          </a:p>
          <a:p>
            <a:pPr marL="457200" lvl="1" indent="0" fontAlgn="base">
              <a:buNone/>
            </a:pPr>
            <a:r>
              <a:rPr lang="en-US" dirty="0"/>
              <a:t>The new node’s reference is assigned to the last node’s next field.</a:t>
            </a:r>
          </a:p>
        </p:txBody>
      </p:sp>
    </p:spTree>
    <p:extLst>
      <p:ext uri="{BB962C8B-B14F-4D97-AF65-F5344CB8AC3E}">
        <p14:creationId xmlns:p14="http://schemas.microsoft.com/office/powerpoint/2010/main" val="26215628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7714" y="252549"/>
            <a:ext cx="11136086" cy="5924414"/>
          </a:xfrm>
        </p:spPr>
        <p:txBody>
          <a:bodyPr>
            <a:normAutofit/>
          </a:bodyPr>
          <a:lstStyle/>
          <a:p>
            <a:r>
              <a:rPr lang="en-US" dirty="0" smtClean="0"/>
              <a:t>Inserting a node with data N at the end of the list</a:t>
            </a:r>
          </a:p>
          <a:p>
            <a:pPr marL="0" indent="0">
              <a:buNone/>
            </a:pPr>
            <a:r>
              <a:rPr lang="en-US" dirty="0" smtClean="0"/>
              <a:t>Add a node to the end of the list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Node cur = </a:t>
            </a:r>
            <a:r>
              <a:rPr lang="en-US" dirty="0" err="1" smtClean="0">
                <a:solidFill>
                  <a:srgbClr val="FF0000"/>
                </a:solidFill>
              </a:rPr>
              <a:t>this.head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// traverse to the end of the list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while (</a:t>
            </a:r>
            <a:r>
              <a:rPr lang="en-US" dirty="0" err="1" smtClean="0">
                <a:solidFill>
                  <a:srgbClr val="FF0000"/>
                </a:solidFill>
              </a:rPr>
              <a:t>cur.next</a:t>
            </a:r>
            <a:r>
              <a:rPr lang="en-US" dirty="0" smtClean="0">
                <a:solidFill>
                  <a:srgbClr val="FF0000"/>
                </a:solidFill>
              </a:rPr>
              <a:t> != null) {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cur = </a:t>
            </a:r>
            <a:r>
              <a:rPr lang="en-US" dirty="0" err="1" smtClean="0">
                <a:solidFill>
                  <a:srgbClr val="FF0000"/>
                </a:solidFill>
              </a:rPr>
              <a:t>cur.next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}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rgbClr val="FF0000"/>
                </a:solidFill>
              </a:rPr>
              <a:t>cur.next</a:t>
            </a:r>
            <a:r>
              <a:rPr lang="en-US" dirty="0" smtClean="0">
                <a:solidFill>
                  <a:srgbClr val="FF0000"/>
                </a:solidFill>
              </a:rPr>
              <a:t> = </a:t>
            </a:r>
            <a:r>
              <a:rPr lang="en-US" dirty="0" err="1" smtClean="0">
                <a:solidFill>
                  <a:srgbClr val="FF0000"/>
                </a:solidFill>
              </a:rPr>
              <a:t>newNode</a:t>
            </a:r>
            <a:r>
              <a:rPr lang="en-US" dirty="0" smtClean="0"/>
              <a:t>;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618133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8343" y="409303"/>
            <a:ext cx="11005457" cy="5767660"/>
          </a:xfrm>
        </p:spPr>
        <p:txBody>
          <a:bodyPr/>
          <a:lstStyle/>
          <a:p>
            <a:pPr marL="0" indent="0" fontAlgn="base">
              <a:buNone/>
            </a:pPr>
            <a:r>
              <a:rPr lang="en-US" dirty="0"/>
              <a:t>Inserting a node at a specified position in the list</a:t>
            </a:r>
          </a:p>
          <a:p>
            <a:pPr lvl="1" fontAlgn="base"/>
            <a:r>
              <a:rPr lang="en-US" dirty="0"/>
              <a:t>To insert a node at a specified position in the list the following algorithm is followed –</a:t>
            </a:r>
          </a:p>
          <a:p>
            <a:pPr lvl="1" fontAlgn="base"/>
            <a:r>
              <a:rPr lang="en-US" dirty="0"/>
              <a:t>Traverse </a:t>
            </a:r>
            <a:r>
              <a:rPr lang="en-US" dirty="0" smtClean="0"/>
              <a:t>(position – 1) times </a:t>
            </a:r>
            <a:r>
              <a:rPr lang="en-US" dirty="0"/>
              <a:t>or till the end of the list is reached and maintain previous and current references.</a:t>
            </a:r>
          </a:p>
          <a:p>
            <a:pPr lvl="1" fontAlgn="base"/>
            <a:r>
              <a:rPr lang="en-US" dirty="0"/>
              <a:t>Assign the reference of the new node to the </a:t>
            </a:r>
            <a:r>
              <a:rPr lang="en-US" dirty="0" err="1"/>
              <a:t>prev</a:t>
            </a:r>
            <a:r>
              <a:rPr lang="en-US" dirty="0"/>
              <a:t> node’s next field.</a:t>
            </a:r>
          </a:p>
          <a:p>
            <a:pPr lvl="1" fontAlgn="base"/>
            <a:r>
              <a:rPr lang="en-US" dirty="0"/>
              <a:t>Assign the cur node’s reference to the new node’s next field.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415133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217" y="121920"/>
            <a:ext cx="11031583" cy="6055043"/>
          </a:xfrm>
        </p:spPr>
        <p:txBody>
          <a:bodyPr>
            <a:normAutofit/>
          </a:bodyPr>
          <a:lstStyle/>
          <a:p>
            <a:r>
              <a:rPr lang="en-US" dirty="0" smtClean="0"/>
              <a:t>Inserting a node with data N at position 3 in the list</a:t>
            </a:r>
          </a:p>
          <a:p>
            <a:pPr marL="457200" lvl="1" indent="0">
              <a:buNone/>
            </a:pPr>
            <a:r>
              <a:rPr lang="en-US" dirty="0" smtClean="0"/>
              <a:t>At a node at a specified position in the list</a:t>
            </a:r>
          </a:p>
          <a:p>
            <a:pPr marL="457200" lvl="1" indent="0">
              <a:buNone/>
            </a:pPr>
            <a:r>
              <a:rPr lang="en-US" dirty="0" smtClean="0"/>
              <a:t>// traverse to the end of the list and check positions moved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while (</a:t>
            </a:r>
            <a:r>
              <a:rPr lang="en-US" dirty="0" err="1" smtClean="0">
                <a:solidFill>
                  <a:srgbClr val="FF0000"/>
                </a:solidFill>
              </a:rPr>
              <a:t>cur.next</a:t>
            </a:r>
            <a:r>
              <a:rPr lang="en-US" dirty="0" smtClean="0">
                <a:solidFill>
                  <a:srgbClr val="FF0000"/>
                </a:solidFill>
              </a:rPr>
              <a:t> != null &amp;&amp; --position &gt; 0) {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// update the </a:t>
            </a:r>
            <a:r>
              <a:rPr lang="en-US" dirty="0" err="1" smtClean="0">
                <a:solidFill>
                  <a:srgbClr val="FF0000"/>
                </a:solidFill>
              </a:rPr>
              <a:t>prev</a:t>
            </a:r>
            <a:r>
              <a:rPr lang="en-US" dirty="0" smtClean="0">
                <a:solidFill>
                  <a:srgbClr val="FF0000"/>
                </a:solidFill>
              </a:rPr>
              <a:t> and cur references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</a:t>
            </a:r>
            <a:r>
              <a:rPr lang="en-US" dirty="0" err="1" smtClean="0">
                <a:solidFill>
                  <a:srgbClr val="FF0000"/>
                </a:solidFill>
              </a:rPr>
              <a:t>prev</a:t>
            </a:r>
            <a:r>
              <a:rPr lang="en-US" dirty="0" smtClean="0">
                <a:solidFill>
                  <a:srgbClr val="FF0000"/>
                </a:solidFill>
              </a:rPr>
              <a:t> = cur;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    cur = </a:t>
            </a:r>
            <a:r>
              <a:rPr lang="en-US" dirty="0" err="1" smtClean="0">
                <a:solidFill>
                  <a:srgbClr val="FF0000"/>
                </a:solidFill>
              </a:rPr>
              <a:t>cur.next</a:t>
            </a:r>
            <a:r>
              <a:rPr lang="en-US" dirty="0" smtClean="0">
                <a:solidFill>
                  <a:srgbClr val="FF0000"/>
                </a:solidFill>
              </a:rPr>
              <a:t>;</a:t>
            </a:r>
          </a:p>
          <a:p>
            <a:pPr marL="457200" lvl="1" indent="0">
              <a:buNone/>
            </a:pPr>
            <a:r>
              <a:rPr lang="en-US" dirty="0" smtClean="0">
                <a:solidFill>
                  <a:srgbClr val="FF0000"/>
                </a:solidFill>
              </a:rPr>
              <a:t>}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</a:p>
          <a:p>
            <a:pPr marL="457200" lvl="1" indent="0">
              <a:buNone/>
            </a:pPr>
            <a:r>
              <a:rPr lang="en-US" dirty="0" smtClean="0"/>
              <a:t>// update </a:t>
            </a:r>
            <a:r>
              <a:rPr lang="en-US" dirty="0" err="1" smtClean="0"/>
              <a:t>prev</a:t>
            </a:r>
            <a:r>
              <a:rPr lang="en-US" dirty="0" smtClean="0"/>
              <a:t> to point to new node</a:t>
            </a:r>
          </a:p>
          <a:p>
            <a:pPr marL="457200" lvl="1" indent="0">
              <a:buNone/>
            </a:pPr>
            <a:r>
              <a:rPr lang="en-US" dirty="0" err="1" smtClean="0"/>
              <a:t>prev.next</a:t>
            </a:r>
            <a:r>
              <a:rPr lang="en-US" dirty="0" smtClean="0"/>
              <a:t> = </a:t>
            </a:r>
            <a:r>
              <a:rPr lang="en-US" dirty="0" err="1" smtClean="0"/>
              <a:t>newNode</a:t>
            </a:r>
            <a:r>
              <a:rPr lang="en-US" dirty="0" smtClean="0"/>
              <a:t>;</a:t>
            </a:r>
          </a:p>
          <a:p>
            <a:pPr marL="457200" lvl="1" indent="0">
              <a:buNone/>
            </a:pPr>
            <a:r>
              <a:rPr lang="en-US" dirty="0" smtClean="0"/>
              <a:t> </a:t>
            </a:r>
          </a:p>
          <a:p>
            <a:pPr marL="457200" lvl="1" indent="0">
              <a:buNone/>
            </a:pPr>
            <a:r>
              <a:rPr lang="en-US" dirty="0" smtClean="0"/>
              <a:t>// &amp; new node to point to current node</a:t>
            </a:r>
          </a:p>
          <a:p>
            <a:pPr marL="457200" lvl="1" indent="0">
              <a:buNone/>
            </a:pPr>
            <a:r>
              <a:rPr lang="en-US" dirty="0" err="1" smtClean="0"/>
              <a:t>newNode.next</a:t>
            </a:r>
            <a:r>
              <a:rPr lang="en-US" dirty="0" smtClean="0"/>
              <a:t> = cur;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1340228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611</Words>
  <Application>Microsoft Office PowerPoint</Application>
  <PresentationFormat>Widescreen</PresentationFormat>
  <Paragraphs>137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Wingdings</vt:lpstr>
      <vt:lpstr>Office Theme</vt:lpstr>
      <vt:lpstr>Introduction to Linked Lists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CPUT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Sammuel Nonelelo</dc:creator>
  <cp:lastModifiedBy>Sammuel Nonelelo</cp:lastModifiedBy>
  <cp:revision>19</cp:revision>
  <dcterms:created xsi:type="dcterms:W3CDTF">2021-03-08T16:00:30Z</dcterms:created>
  <dcterms:modified xsi:type="dcterms:W3CDTF">2021-03-09T08:20:11Z</dcterms:modified>
</cp:coreProperties>
</file>