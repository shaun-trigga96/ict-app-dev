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75" r:id="rId4"/>
    <p:sldId id="280" r:id="rId5"/>
    <p:sldId id="281" r:id="rId6"/>
    <p:sldId id="282" r:id="rId7"/>
    <p:sldId id="279" r:id="rId8"/>
    <p:sldId id="283" r:id="rId9"/>
    <p:sldId id="284" r:id="rId10"/>
    <p:sldId id="286" r:id="rId11"/>
    <p:sldId id="287" r:id="rId12"/>
    <p:sldId id="278" r:id="rId13"/>
    <p:sldId id="276" r:id="rId14"/>
    <p:sldId id="277" r:id="rId15"/>
    <p:sldId id="285" r:id="rId16"/>
    <p:sldId id="288" r:id="rId17"/>
    <p:sldId id="289" r:id="rId18"/>
    <p:sldId id="290" r:id="rId19"/>
    <p:sldId id="2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484" autoAdjust="0"/>
  </p:normalViewPr>
  <p:slideViewPr>
    <p:cSldViewPr snapToGrid="0">
      <p:cViewPr varScale="1">
        <p:scale>
          <a:sx n="57" d="100"/>
          <a:sy n="57" d="100"/>
        </p:scale>
        <p:origin x="1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C2C29-E69D-47A9-AA7D-E630F159A099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CF0B-372C-4584-ACDA-79806159E9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067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CF0B-372C-4584-ACDA-79806159E914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92919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22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206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429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845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01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89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574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012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370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705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252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3E405-F701-4760-AFD7-4F389B84DF92}" type="datetimeFigureOut">
              <a:rPr lang="en-ZA" smtClean="0"/>
              <a:t>2021/03/18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600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</a:t>
            </a:r>
            <a:r>
              <a:rPr lang="en-ZA" b="1" dirty="0"/>
              <a:t>Linked Lists (continued)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 Mr. Radford Burger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7247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634" y="566057"/>
            <a:ext cx="11014166" cy="5610906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Objectives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800" dirty="0">
                <a:latin typeface="Gill Sans MT" panose="020B0502020104020203" pitchFamily="34" charset="0"/>
              </a:rPr>
              <a:t>  </a:t>
            </a:r>
            <a:r>
              <a:rPr lang="en-US" sz="3200" dirty="0">
                <a:latin typeface="Gill Sans MT" panose="020B0502020104020203" pitchFamily="34" charset="0"/>
              </a:rPr>
              <a:t>What is a linked list?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3200" dirty="0">
              <a:latin typeface="Gill Sans MT" panose="020B0502020104020203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3200" dirty="0">
                <a:latin typeface="Gill Sans MT" panose="020B0502020104020203" pitchFamily="34" charset="0"/>
              </a:rPr>
              <a:t> Basic operations on a Singly Linked List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800" dirty="0">
              <a:latin typeface="Gill Sans MT" panose="020B0502020104020203" pitchFamily="34" charset="0"/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Inserting </a:t>
            </a:r>
            <a:r>
              <a:rPr lang="en-US" sz="2800" dirty="0">
                <a:latin typeface="Gill Sans MT" panose="020B0502020104020203" pitchFamily="34" charset="0"/>
              </a:rPr>
              <a:t>a new node </a:t>
            </a:r>
            <a:r>
              <a:rPr lang="en-US" sz="2800" i="1" dirty="0">
                <a:latin typeface="Gill Sans MT" panose="020B0502020104020203" pitchFamily="34" charset="0"/>
              </a:rPr>
              <a:t> </a:t>
            </a:r>
            <a:r>
              <a:rPr lang="en-US" sz="2800" dirty="0">
                <a:latin typeface="Gill Sans MT" panose="020B0502020104020203" pitchFamily="34" charset="0"/>
              </a:rPr>
              <a:t>at the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beginning</a:t>
            </a:r>
            <a:r>
              <a:rPr lang="en-US" sz="2800" dirty="0">
                <a:latin typeface="Gill Sans MT" panose="020B0502020104020203" pitchFamily="34" charset="0"/>
              </a:rPr>
              <a:t> of a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singly linked list</a:t>
            </a:r>
            <a:r>
              <a:rPr lang="en-US" sz="2800" dirty="0">
                <a:latin typeface="Gill Sans MT" panose="020B0502020104020203" pitchFamily="34" charset="0"/>
              </a:rPr>
              <a:t>.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Inserting </a:t>
            </a:r>
            <a:r>
              <a:rPr lang="en-US" sz="2800" dirty="0">
                <a:latin typeface="Gill Sans MT" panose="020B0502020104020203" pitchFamily="34" charset="0"/>
              </a:rPr>
              <a:t>a new node at the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Tail </a:t>
            </a:r>
            <a:r>
              <a:rPr lang="en-US" sz="2800" dirty="0">
                <a:latin typeface="Gill Sans MT" panose="020B0502020104020203" pitchFamily="34" charset="0"/>
              </a:rPr>
              <a:t>of a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Singly Linked List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Removing </a:t>
            </a:r>
            <a:r>
              <a:rPr lang="en-US" sz="2800" dirty="0">
                <a:latin typeface="Gill Sans MT" panose="020B0502020104020203" pitchFamily="34" charset="0"/>
              </a:rPr>
              <a:t>an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element</a:t>
            </a:r>
            <a:r>
              <a:rPr lang="en-US" sz="2800" dirty="0">
                <a:latin typeface="Gill Sans MT" panose="020B0502020104020203" pitchFamily="34" charset="0"/>
              </a:rPr>
              <a:t> in a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Gill Sans MT" panose="020B0502020104020203" pitchFamily="34" charset="0"/>
              </a:rPr>
              <a:t>Singly Linked List</a:t>
            </a:r>
            <a:endParaRPr lang="en-ZA" sz="2800" b="1" dirty="0">
              <a:solidFill>
                <a:schemeClr val="accent1">
                  <a:lumMod val="75000"/>
                </a:schemeClr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88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C66-B0F5-4A19-A0F5-5D40D60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a Linked List?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D189D-D754-4725-AE6F-FDAE928A8BDC}"/>
              </a:ext>
            </a:extLst>
          </p:cNvPr>
          <p:cNvSpPr txBox="1"/>
          <p:nvPr/>
        </p:nvSpPr>
        <p:spPr>
          <a:xfrm>
            <a:off x="203200" y="1436660"/>
            <a:ext cx="1178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a sequence of data structures or nodes , which are connected together via links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E049B-FB8D-4B84-A264-65BB118BC49A}"/>
              </a:ext>
            </a:extLst>
          </p:cNvPr>
          <p:cNvSpPr txBox="1"/>
          <p:nvPr/>
        </p:nvSpPr>
        <p:spPr>
          <a:xfrm>
            <a:off x="711199" y="2074724"/>
            <a:ext cx="9719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ill Sans MT" panose="020B0502020104020203" pitchFamily="34" charset="0"/>
              </a:rPr>
              <a:t>Nodes have two parts</a:t>
            </a:r>
            <a:r>
              <a:rPr lang="en-US" sz="2800" dirty="0">
                <a:highlight>
                  <a:srgbClr val="FFFF00"/>
                </a:highlight>
                <a:latin typeface="Gill Sans MT" panose="020B0502020104020203" pitchFamily="34" charset="0"/>
              </a:rPr>
              <a:t>, value </a:t>
            </a:r>
            <a:r>
              <a:rPr lang="en-US" sz="2800" dirty="0">
                <a:latin typeface="Gill Sans MT" panose="020B0502020104020203" pitchFamily="34" charset="0"/>
              </a:rPr>
              <a:t>part and </a:t>
            </a:r>
            <a:r>
              <a:rPr lang="en-US" sz="2800" dirty="0">
                <a:highlight>
                  <a:srgbClr val="FFFF00"/>
                </a:highlight>
                <a:latin typeface="Gill Sans MT" panose="020B0502020104020203" pitchFamily="34" charset="0"/>
              </a:rPr>
              <a:t>link</a:t>
            </a:r>
            <a:r>
              <a:rPr lang="en-US" sz="2800" dirty="0">
                <a:latin typeface="Gill Sans MT" panose="020B0502020104020203" pitchFamily="34" charset="0"/>
              </a:rPr>
              <a:t> part.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B4763-3AA1-452F-B64F-2EA11CB6AE95}"/>
              </a:ext>
            </a:extLst>
          </p:cNvPr>
          <p:cNvSpPr txBox="1"/>
          <p:nvPr/>
        </p:nvSpPr>
        <p:spPr>
          <a:xfrm>
            <a:off x="1828800" y="2813388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ill Sans MT" panose="020B0502020104020203" pitchFamily="34" charset="0"/>
              </a:rPr>
              <a:t>Value part is used to stores the data items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F38CD-0329-4EB2-B067-2630BB41D4FD}"/>
              </a:ext>
            </a:extLst>
          </p:cNvPr>
          <p:cNvSpPr txBox="1"/>
          <p:nvPr/>
        </p:nvSpPr>
        <p:spPr>
          <a:xfrm>
            <a:off x="838200" y="3552052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ill Sans MT" panose="020B0502020104020203" pitchFamily="34" charset="0"/>
              </a:rPr>
              <a:t>The link part (or next) is a reference, which is used to store addresses of the next element in the list.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pic>
        <p:nvPicPr>
          <p:cNvPr id="13" name="Picture 1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7ED61E33-4838-4D72-86FB-F0DD0F4DE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7" y="4721603"/>
            <a:ext cx="9548193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77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C66-B0F5-4A19-A0F5-5D40D60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Linked Lists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D189D-D754-4725-AE6F-FDAE928A8BDC}"/>
              </a:ext>
            </a:extLst>
          </p:cNvPr>
          <p:cNvSpPr txBox="1"/>
          <p:nvPr/>
        </p:nvSpPr>
        <p:spPr>
          <a:xfrm>
            <a:off x="1594583" y="1931218"/>
            <a:ext cx="9002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Singly Linked List</a:t>
            </a:r>
            <a:r>
              <a:rPr lang="en-US" sz="28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− Item navigation is forward only.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E049B-FB8D-4B84-A264-65BB118BC49A}"/>
              </a:ext>
            </a:extLst>
          </p:cNvPr>
          <p:cNvSpPr txBox="1"/>
          <p:nvPr/>
        </p:nvSpPr>
        <p:spPr>
          <a:xfrm>
            <a:off x="1389955" y="3218189"/>
            <a:ext cx="94120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Doubly Linked List</a:t>
            </a:r>
            <a:r>
              <a:rPr lang="en-US" sz="28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− Items can be navigated forward and backward.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112F2-E325-4399-A23D-1809199BA064}"/>
              </a:ext>
            </a:extLst>
          </p:cNvPr>
          <p:cNvSpPr txBox="1"/>
          <p:nvPr/>
        </p:nvSpPr>
        <p:spPr>
          <a:xfrm>
            <a:off x="1594581" y="4936047"/>
            <a:ext cx="90028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Circular Linked List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− Last item contains link of the first element as next and the first element has a link to the last element as previous</a:t>
            </a: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4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C66-B0F5-4A19-A0F5-5D40D60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Types of Linked Lists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D189D-D754-4725-AE6F-FDAE928A8BDC}"/>
              </a:ext>
            </a:extLst>
          </p:cNvPr>
          <p:cNvSpPr txBox="1"/>
          <p:nvPr/>
        </p:nvSpPr>
        <p:spPr>
          <a:xfrm>
            <a:off x="612449" y="1997142"/>
            <a:ext cx="3536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Singly Linked List</a:t>
            </a:r>
            <a:r>
              <a:rPr lang="en-US" sz="2800" b="0" i="0" dirty="0"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 </a:t>
            </a:r>
            <a:endParaRPr lang="en-GB" sz="2800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E049B-FB8D-4B84-A264-65BB118BC49A}"/>
              </a:ext>
            </a:extLst>
          </p:cNvPr>
          <p:cNvSpPr txBox="1"/>
          <p:nvPr/>
        </p:nvSpPr>
        <p:spPr>
          <a:xfrm>
            <a:off x="612448" y="3910278"/>
            <a:ext cx="3740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Doubly Linked List</a:t>
            </a:r>
            <a:endParaRPr lang="en-GB" sz="2800" dirty="0">
              <a:solidFill>
                <a:srgbClr val="FFC000"/>
              </a:solidFill>
              <a:latin typeface="Gill Sans MT" panose="020B05020201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2112F2-E325-4399-A23D-1809199BA064}"/>
              </a:ext>
            </a:extLst>
          </p:cNvPr>
          <p:cNvSpPr txBox="1"/>
          <p:nvPr/>
        </p:nvSpPr>
        <p:spPr>
          <a:xfrm>
            <a:off x="612448" y="5800194"/>
            <a:ext cx="3740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Circular Linked List</a:t>
            </a:r>
            <a:endParaRPr lang="en-GB" sz="2800" dirty="0">
              <a:solidFill>
                <a:srgbClr val="C00000"/>
              </a:solidFill>
              <a:latin typeface="Gill Sans MT" panose="020B0502020104020203" pitchFamily="34" charset="0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9D94F23-8F11-47CE-9DF1-489648F76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12" y="1690688"/>
            <a:ext cx="6367788" cy="1334569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431378B1-DD8D-429F-AD19-643A237A4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11" y="3578343"/>
            <a:ext cx="6367787" cy="1163869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70611B17-1C70-43C0-982B-F1C0B9618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11" y="5167313"/>
            <a:ext cx="6367787" cy="1325562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51303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C66-B0F5-4A19-A0F5-5D40D60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operations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D189D-D754-4725-AE6F-FDAE928A8BDC}"/>
              </a:ext>
            </a:extLst>
          </p:cNvPr>
          <p:cNvSpPr txBox="1"/>
          <p:nvPr/>
        </p:nvSpPr>
        <p:spPr>
          <a:xfrm>
            <a:off x="203200" y="2022905"/>
            <a:ext cx="1178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Insertion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Adds an element to the list.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2BE2E-93F1-449B-ABEA-C884B605B7C6}"/>
              </a:ext>
            </a:extLst>
          </p:cNvPr>
          <p:cNvSpPr txBox="1"/>
          <p:nvPr/>
        </p:nvSpPr>
        <p:spPr>
          <a:xfrm>
            <a:off x="203200" y="2981310"/>
            <a:ext cx="1178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Deletion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Deletes an element from the list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72DEE-08E4-480E-8614-0D282477E44F}"/>
              </a:ext>
            </a:extLst>
          </p:cNvPr>
          <p:cNvSpPr txBox="1"/>
          <p:nvPr/>
        </p:nvSpPr>
        <p:spPr>
          <a:xfrm>
            <a:off x="203200" y="3939715"/>
            <a:ext cx="1178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Display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Displays the complete list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95267B-85DF-4608-9C07-C613BC4D3979}"/>
              </a:ext>
            </a:extLst>
          </p:cNvPr>
          <p:cNvSpPr txBox="1"/>
          <p:nvPr/>
        </p:nvSpPr>
        <p:spPr>
          <a:xfrm>
            <a:off x="203200" y="4898120"/>
            <a:ext cx="1178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Search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− Searches an element using the given key</a:t>
            </a: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40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C66-B0F5-4A19-A0F5-5D40D60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Singly Linked List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ED189D-D754-4725-AE6F-FDAE928A8BDC}"/>
              </a:ext>
            </a:extLst>
          </p:cNvPr>
          <p:cNvSpPr txBox="1"/>
          <p:nvPr/>
        </p:nvSpPr>
        <p:spPr>
          <a:xfrm>
            <a:off x="1594585" y="1905819"/>
            <a:ext cx="90028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00B050"/>
                </a:solidFill>
                <a:effectLst/>
                <a:latin typeface="Gill Sans MT" panose="020B0502020104020203" pitchFamily="34" charset="0"/>
              </a:rPr>
              <a:t>Head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: </a:t>
            </a:r>
            <a:r>
              <a:rPr lang="en-US" sz="2800" dirty="0"/>
              <a:t> the only entry point to the list and all of its elements.</a:t>
            </a:r>
          </a:p>
          <a:p>
            <a:pPr algn="ctr"/>
            <a:r>
              <a:rPr lang="en-US" sz="2800" dirty="0">
                <a:latin typeface="Gill Sans MT" panose="020B0502020104020203" pitchFamily="34" charset="0"/>
              </a:rPr>
              <a:t>Head is a link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E049B-FB8D-4B84-A264-65BB118BC49A}"/>
              </a:ext>
            </a:extLst>
          </p:cNvPr>
          <p:cNvSpPr txBox="1"/>
          <p:nvPr/>
        </p:nvSpPr>
        <p:spPr>
          <a:xfrm>
            <a:off x="2751666" y="5797727"/>
            <a:ext cx="6587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Tail</a:t>
            </a:r>
            <a:r>
              <a:rPr lang="en-US" sz="2800" dirty="0">
                <a:latin typeface="Gill Sans MT" panose="020B0502020104020203" pitchFamily="34" charset="0"/>
              </a:rPr>
              <a:t>: </a:t>
            </a:r>
            <a:r>
              <a:rPr lang="en-US" sz="2800" dirty="0"/>
              <a:t>the last item in the list points to null</a:t>
            </a:r>
            <a:endParaRPr lang="en-GB" sz="2800" dirty="0">
              <a:latin typeface="Gill Sans MT" panose="020B0502020104020203" pitchFamily="34" charset="0"/>
            </a:endParaRPr>
          </a:p>
        </p:txBody>
      </p:sp>
      <p:pic>
        <p:nvPicPr>
          <p:cNvPr id="13" name="Picture 1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7ED61E33-4838-4D72-86FB-F0DD0F4DE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901" y="3173583"/>
            <a:ext cx="9548193" cy="1879600"/>
          </a:xfrm>
          <a:prstGeom prst="rect">
            <a:avLst/>
          </a:prstGeom>
        </p:spPr>
      </p:pic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AA1808F-3947-4708-BAAC-18846D95973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685406" y="4511314"/>
            <a:ext cx="1191858" cy="108373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2DC0FE-756D-4C1C-887C-08F0DF3E5283}"/>
              </a:ext>
            </a:extLst>
          </p:cNvPr>
          <p:cNvCxnSpPr/>
          <p:nvPr/>
        </p:nvCxnSpPr>
        <p:spPr>
          <a:xfrm>
            <a:off x="2235200" y="2429039"/>
            <a:ext cx="0" cy="99996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604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An empty Singly Linked List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D6B53-02FF-4B96-A87E-C4EA153B23FC}"/>
              </a:ext>
            </a:extLst>
          </p:cNvPr>
          <p:cNvSpPr txBox="1"/>
          <p:nvPr/>
        </p:nvSpPr>
        <p:spPr>
          <a:xfrm>
            <a:off x="2150533" y="2032000"/>
            <a:ext cx="82465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Gill Sans MT" panose="020B0502020104020203" pitchFamily="34" charset="0"/>
              </a:rPr>
              <a:t>empty list is represented by setting the head to null.</a:t>
            </a:r>
          </a:p>
          <a:p>
            <a:br>
              <a:rPr lang="en-US" dirty="0"/>
            </a:br>
            <a:endParaRPr lang="en-GB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41A390A3-9B23-4AFC-A2D0-EA8877B9E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461" y="3429000"/>
            <a:ext cx="2558677" cy="947341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1971270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beginning of a Singly Linked List</a:t>
            </a:r>
            <a:endParaRPr lang="en-GB" dirty="0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F06F3115-155F-4EC3-A115-F989A71000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667" y="1819050"/>
            <a:ext cx="9042399" cy="426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beginning of a Singly Linked List</a:t>
            </a:r>
          </a:p>
          <a:p>
            <a:pPr algn="ctr"/>
            <a:r>
              <a:rPr lang="en-US" sz="3900" dirty="0"/>
              <a:t>Let’s break it down…</a:t>
            </a:r>
            <a:endParaRPr lang="en-GB" sz="3900" dirty="0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82AEFF4C-62F4-4D0D-8D0B-E82E8CB1E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32" y="2307993"/>
            <a:ext cx="7636933" cy="1656789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C128ED6-C0BF-4B22-9E51-4A67B4558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32" y="4710143"/>
            <a:ext cx="7636933" cy="165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769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beginning of a Singly Linked List</a:t>
            </a:r>
          </a:p>
          <a:p>
            <a:pPr algn="ctr"/>
            <a:r>
              <a:rPr lang="en-US" sz="3900" dirty="0"/>
              <a:t>Let’s break it down…</a:t>
            </a:r>
            <a:endParaRPr lang="en-GB" sz="3900" dirty="0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82AEFF4C-62F4-4D0D-8D0B-E82E8CB1E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32" y="2307993"/>
            <a:ext cx="7636933" cy="1656789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C128ED6-C0BF-4B22-9E51-4A67B4558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32" y="4710143"/>
            <a:ext cx="7636933" cy="1656789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8ADE6D5E-9B86-46BB-A39B-12D88CE6F1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31" y="2307994"/>
            <a:ext cx="7636933" cy="1625902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0A1C0607-6904-45BB-8828-5F893DBEDC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32" y="4710143"/>
            <a:ext cx="7636932" cy="165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0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CC66-B0F5-4A19-A0F5-5D40D609A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365125"/>
            <a:ext cx="11599333" cy="1325563"/>
          </a:xfrm>
        </p:spPr>
        <p:txBody>
          <a:bodyPr/>
          <a:lstStyle/>
          <a:p>
            <a:pPr algn="ctr"/>
            <a:r>
              <a:rPr lang="en-US" dirty="0"/>
              <a:t>Insert at a specific position in a Singly Linked List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155E8-2CE4-4DEB-8179-DAE290BFA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66" y="1690688"/>
            <a:ext cx="9431867" cy="48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0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E6D9DDC-D92C-477E-BA13-4E8404461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1862667"/>
            <a:ext cx="9550400" cy="450426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FBB7A9D-F252-4BE5-AFA3-823CAED72A8C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a specific position in a Singly Linked List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1521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F462B3F-CBFD-40A7-B266-DA28DACF43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467" y="1540933"/>
            <a:ext cx="9736665" cy="5130799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a specific position in a Singly Linked List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486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end of a Singly Linked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34539-5F85-4B00-8ADF-DFD7AB4AF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56" y="1895886"/>
            <a:ext cx="5288743" cy="20850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69AE98-D64C-4BAF-887F-CF270F6E1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34" y="1895885"/>
            <a:ext cx="3936614" cy="1372247"/>
          </a:xfrm>
          <a:prstGeom prst="rect">
            <a:avLst/>
          </a:prstGeom>
        </p:spPr>
      </p:pic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5E68D4A-1B38-49C5-81BC-70279C9A4D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881" y="4430408"/>
            <a:ext cx="8077200" cy="172991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08ABA-2C38-45B9-9C4E-D52DD64DE245}"/>
              </a:ext>
            </a:extLst>
          </p:cNvPr>
          <p:cNvCxnSpPr>
            <a:cxnSpLocks/>
          </p:cNvCxnSpPr>
          <p:nvPr/>
        </p:nvCxnSpPr>
        <p:spPr>
          <a:xfrm>
            <a:off x="1032933" y="4165600"/>
            <a:ext cx="92456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EDF33C-1055-4AF8-80E1-FE63609F39A3}"/>
              </a:ext>
            </a:extLst>
          </p:cNvPr>
          <p:cNvCxnSpPr/>
          <p:nvPr/>
        </p:nvCxnSpPr>
        <p:spPr>
          <a:xfrm>
            <a:off x="6265332" y="1710267"/>
            <a:ext cx="0" cy="22706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560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end of a Singly Linked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34539-5F85-4B00-8ADF-DFD7AB4AF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56" y="1895886"/>
            <a:ext cx="5288743" cy="20850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69AE98-D64C-4BAF-887F-CF270F6E1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34" y="1895885"/>
            <a:ext cx="3936614" cy="13722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08ABA-2C38-45B9-9C4E-D52DD64DE245}"/>
              </a:ext>
            </a:extLst>
          </p:cNvPr>
          <p:cNvCxnSpPr>
            <a:cxnSpLocks/>
          </p:cNvCxnSpPr>
          <p:nvPr/>
        </p:nvCxnSpPr>
        <p:spPr>
          <a:xfrm>
            <a:off x="1032933" y="4165600"/>
            <a:ext cx="92456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EDF33C-1055-4AF8-80E1-FE63609F39A3}"/>
              </a:ext>
            </a:extLst>
          </p:cNvPr>
          <p:cNvCxnSpPr/>
          <p:nvPr/>
        </p:nvCxnSpPr>
        <p:spPr>
          <a:xfrm>
            <a:off x="6265332" y="1710267"/>
            <a:ext cx="0" cy="227063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2148004-555B-4757-99AA-1A5DD32E0C55}"/>
              </a:ext>
            </a:extLst>
          </p:cNvPr>
          <p:cNvSpPr txBox="1"/>
          <p:nvPr/>
        </p:nvSpPr>
        <p:spPr>
          <a:xfrm>
            <a:off x="643468" y="4910667"/>
            <a:ext cx="545253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1. The head points to the memory address 1024 and it is the last node.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088C4-7AC6-433E-807D-9D11616181DA}"/>
              </a:ext>
            </a:extLst>
          </p:cNvPr>
          <p:cNvSpPr txBox="1"/>
          <p:nvPr/>
        </p:nvSpPr>
        <p:spPr>
          <a:xfrm>
            <a:off x="6265332" y="4633668"/>
            <a:ext cx="545253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b="0" i="0" dirty="0">
              <a:solidFill>
                <a:srgbClr val="161616"/>
              </a:solidFill>
              <a:effectLst/>
              <a:latin typeface="Open Sans"/>
            </a:endParaRPr>
          </a:p>
          <a:p>
            <a:pPr algn="l"/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2. The new node with data as 20 and reference is NULL (address 2024).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91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Insert at end of a Singly Linked List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5E68D4A-1B38-49C5-81BC-70279C9A4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881" y="4430408"/>
            <a:ext cx="8077200" cy="17299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BDD88-4DA9-4C9F-BE18-CA850CAA6A4E}"/>
              </a:ext>
            </a:extLst>
          </p:cNvPr>
          <p:cNvSpPr txBox="1"/>
          <p:nvPr/>
        </p:nvSpPr>
        <p:spPr>
          <a:xfrm>
            <a:off x="1388533" y="2065867"/>
            <a:ext cx="7653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set last </a:t>
            </a:r>
            <a:r>
              <a:rPr lang="en-US" sz="2800" b="0" i="0" dirty="0" err="1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node.next</a:t>
            </a:r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 = new node. </a:t>
            </a:r>
          </a:p>
          <a:p>
            <a:endParaRPr lang="en-US" sz="2800" b="0" i="0" dirty="0">
              <a:solidFill>
                <a:srgbClr val="161616"/>
              </a:solidFill>
              <a:effectLst/>
              <a:latin typeface="Gill Sans MT" panose="020B0502020104020203" pitchFamily="34" charset="0"/>
            </a:endParaRPr>
          </a:p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The new node added at the end of the linked list.</a:t>
            </a: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18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Something to think about…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95E68D4A-1B38-49C5-81BC-70279C9A4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881" y="4430408"/>
            <a:ext cx="8077200" cy="17299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ABDD88-4DA9-4C9F-BE18-CA850CAA6A4E}"/>
              </a:ext>
            </a:extLst>
          </p:cNvPr>
          <p:cNvSpPr txBox="1"/>
          <p:nvPr/>
        </p:nvSpPr>
        <p:spPr>
          <a:xfrm>
            <a:off x="592667" y="2065867"/>
            <a:ext cx="8449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How do you go about deleting the first element?</a:t>
            </a:r>
          </a:p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How do you go about deleting a node, given its value?</a:t>
            </a:r>
          </a:p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How do you go about deleting the last element?</a:t>
            </a:r>
          </a:p>
        </p:txBody>
      </p:sp>
      <p:pic>
        <p:nvPicPr>
          <p:cNvPr id="9" name="Picture 8" descr="A picture containing clipart&#10;&#10;Description automatically generated">
            <a:extLst>
              <a:ext uri="{FF2B5EF4-FFF2-40B4-BE49-F238E27FC236}">
                <a16:creationId xmlns:a16="http://schemas.microsoft.com/office/drawing/2014/main" id="{E890C9B1-44C7-457B-868D-1B0AB8EFE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466" y="1388352"/>
            <a:ext cx="2621617" cy="25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95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435D5A-0924-440C-8793-673F73155F47}"/>
              </a:ext>
            </a:extLst>
          </p:cNvPr>
          <p:cNvSpPr txBox="1">
            <a:spLocks/>
          </p:cNvSpPr>
          <p:nvPr/>
        </p:nvSpPr>
        <p:spPr>
          <a:xfrm>
            <a:off x="296333" y="491068"/>
            <a:ext cx="11599333" cy="1071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Something else to think about…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ABDD88-4DA9-4C9F-BE18-CA850CAA6A4E}"/>
              </a:ext>
            </a:extLst>
          </p:cNvPr>
          <p:cNvSpPr txBox="1"/>
          <p:nvPr/>
        </p:nvSpPr>
        <p:spPr>
          <a:xfrm>
            <a:off x="296333" y="2065867"/>
            <a:ext cx="87460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Does the amount of time taken to insert an element at the beginning of an array </a:t>
            </a:r>
            <a:r>
              <a:rPr lang="en-US" sz="2800" dirty="0">
                <a:solidFill>
                  <a:srgbClr val="161616"/>
                </a:solidFill>
                <a:latin typeface="Gill Sans MT" panose="020B0502020104020203" pitchFamily="34" charset="0"/>
              </a:rPr>
              <a:t>depend on the length of the array</a:t>
            </a:r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?</a:t>
            </a:r>
          </a:p>
          <a:p>
            <a:endParaRPr lang="en-US" sz="2800" b="0" i="0" dirty="0">
              <a:solidFill>
                <a:srgbClr val="161616"/>
              </a:solidFill>
              <a:effectLst/>
              <a:latin typeface="Gill Sans MT" panose="020B0502020104020203" pitchFamily="34" charset="0"/>
            </a:endParaRPr>
          </a:p>
          <a:p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Does the amount of time taken to insert an element at the beginning of a Linked List </a:t>
            </a:r>
            <a:r>
              <a:rPr lang="en-US" sz="2800" dirty="0">
                <a:solidFill>
                  <a:srgbClr val="161616"/>
                </a:solidFill>
                <a:latin typeface="Gill Sans MT" panose="020B0502020104020203" pitchFamily="34" charset="0"/>
              </a:rPr>
              <a:t>depend on the size of the list</a:t>
            </a:r>
            <a:r>
              <a:rPr lang="en-US" sz="2800" b="0" i="0" dirty="0">
                <a:solidFill>
                  <a:srgbClr val="161616"/>
                </a:solidFill>
                <a:effectLst/>
                <a:latin typeface="Gill Sans MT" panose="020B0502020104020203" pitchFamily="34" charset="0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74EB5-246D-4D80-A817-CD81A44DD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591" y="1562632"/>
            <a:ext cx="2991075" cy="29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6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3400</TotalTime>
  <Words>513</Words>
  <Application>Microsoft Office PowerPoint</Application>
  <PresentationFormat>Widescreen</PresentationFormat>
  <Paragraphs>61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Gill Sans MT</vt:lpstr>
      <vt:lpstr>Open Sans</vt:lpstr>
      <vt:lpstr>Wingdings</vt:lpstr>
      <vt:lpstr>Office Theme</vt:lpstr>
      <vt:lpstr>Introduction to Linked Lists (continued)</vt:lpstr>
      <vt:lpstr>PowerPoint Presentation</vt:lpstr>
      <vt:lpstr>What is a Linked List?</vt:lpstr>
      <vt:lpstr>Types of Linked Lists</vt:lpstr>
      <vt:lpstr>Types of Linked Lists</vt:lpstr>
      <vt:lpstr>Basic operations</vt:lpstr>
      <vt:lpstr>Singly Linked List</vt:lpstr>
      <vt:lpstr>PowerPoint Presentation</vt:lpstr>
      <vt:lpstr>PowerPoint Presentation</vt:lpstr>
      <vt:lpstr>PowerPoint Presentation</vt:lpstr>
      <vt:lpstr>PowerPoint Presentation</vt:lpstr>
      <vt:lpstr>Insert at a specific position in a Singly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Sammuel Nonelelo</dc:creator>
  <cp:lastModifiedBy>Radford Burger</cp:lastModifiedBy>
  <cp:revision>50</cp:revision>
  <dcterms:created xsi:type="dcterms:W3CDTF">2021-03-08T16:00:30Z</dcterms:created>
  <dcterms:modified xsi:type="dcterms:W3CDTF">2021-03-18T08:57:50Z</dcterms:modified>
</cp:coreProperties>
</file>