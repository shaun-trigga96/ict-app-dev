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0" r:id="rId5"/>
    <p:sldId id="261" r:id="rId6"/>
    <p:sldId id="259" r:id="rId7"/>
    <p:sldId id="262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0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0C718-9995-4351-9097-130CDC89CF38}" type="datetimeFigureOut">
              <a:rPr lang="en-ZA" smtClean="0"/>
              <a:t>2021/03/17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84639-1F6B-49C7-8A2A-E448791F16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65465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0C718-9995-4351-9097-130CDC89CF38}" type="datetimeFigureOut">
              <a:rPr lang="en-ZA" smtClean="0"/>
              <a:t>2021/03/17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84639-1F6B-49C7-8A2A-E448791F16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25498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0C718-9995-4351-9097-130CDC89CF38}" type="datetimeFigureOut">
              <a:rPr lang="en-ZA" smtClean="0"/>
              <a:t>2021/03/17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84639-1F6B-49C7-8A2A-E448791F16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98182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0C718-9995-4351-9097-130CDC89CF38}" type="datetimeFigureOut">
              <a:rPr lang="en-ZA" smtClean="0"/>
              <a:t>2021/03/17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84639-1F6B-49C7-8A2A-E448791F16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868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0C718-9995-4351-9097-130CDC89CF38}" type="datetimeFigureOut">
              <a:rPr lang="en-ZA" smtClean="0"/>
              <a:t>2021/03/17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84639-1F6B-49C7-8A2A-E448791F16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85089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0C718-9995-4351-9097-130CDC89CF38}" type="datetimeFigureOut">
              <a:rPr lang="en-ZA" smtClean="0"/>
              <a:t>2021/03/17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84639-1F6B-49C7-8A2A-E448791F16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19909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0C718-9995-4351-9097-130CDC89CF38}" type="datetimeFigureOut">
              <a:rPr lang="en-ZA" smtClean="0"/>
              <a:t>2021/03/17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84639-1F6B-49C7-8A2A-E448791F16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58588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0C718-9995-4351-9097-130CDC89CF38}" type="datetimeFigureOut">
              <a:rPr lang="en-ZA" smtClean="0"/>
              <a:t>2021/03/17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84639-1F6B-49C7-8A2A-E448791F16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4333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0C718-9995-4351-9097-130CDC89CF38}" type="datetimeFigureOut">
              <a:rPr lang="en-ZA" smtClean="0"/>
              <a:t>2021/03/17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84639-1F6B-49C7-8A2A-E448791F16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98600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0C718-9995-4351-9097-130CDC89CF38}" type="datetimeFigureOut">
              <a:rPr lang="en-ZA" smtClean="0"/>
              <a:t>2021/03/17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84639-1F6B-49C7-8A2A-E448791F16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25929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0C718-9995-4351-9097-130CDC89CF38}" type="datetimeFigureOut">
              <a:rPr lang="en-ZA" smtClean="0"/>
              <a:t>2021/03/17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84639-1F6B-49C7-8A2A-E448791F16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4923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90C718-9995-4351-9097-130CDC89CF38}" type="datetimeFigureOut">
              <a:rPr lang="en-ZA" smtClean="0"/>
              <a:t>2021/03/17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284639-1F6B-49C7-8A2A-E448791F16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33465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Working of a LinkedList</a:t>
            </a:r>
            <a:br>
              <a:rPr lang="en-US" dirty="0" smtClean="0"/>
            </a:br>
            <a:endParaRPr lang="en-Z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ZA" dirty="0" smtClean="0"/>
              <a:t>Zukile Ndyalivana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458141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208" y="345233"/>
            <a:ext cx="10924592" cy="583173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Working of a LinkedList</a:t>
            </a:r>
          </a:p>
          <a:p>
            <a:r>
              <a:rPr lang="en-US" dirty="0" smtClean="0"/>
              <a:t>Elements in linked lists are not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stored in sequence</a:t>
            </a:r>
            <a:r>
              <a:rPr lang="en-US" dirty="0" smtClean="0"/>
              <a:t>. </a:t>
            </a:r>
          </a:p>
          <a:p>
            <a:r>
              <a:rPr lang="en-US" dirty="0" smtClean="0"/>
              <a:t>Instead, </a:t>
            </a:r>
          </a:p>
          <a:p>
            <a:pPr lvl="1"/>
            <a:r>
              <a:rPr lang="en-US" dirty="0" smtClean="0"/>
              <a:t>they are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scattered </a:t>
            </a:r>
            <a:r>
              <a:rPr lang="en-US" dirty="0" smtClean="0"/>
              <a:t>and connected through links (</a:t>
            </a:r>
            <a:r>
              <a:rPr lang="en-US" b="1" dirty="0" err="1" smtClean="0">
                <a:solidFill>
                  <a:schemeClr val="accent1">
                    <a:lumMod val="75000"/>
                  </a:schemeClr>
                </a:solidFill>
              </a:rPr>
              <a:t>Prev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Next</a:t>
            </a:r>
            <a:r>
              <a:rPr lang="en-US" dirty="0" smtClean="0"/>
              <a:t>).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538354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555" y="447869"/>
            <a:ext cx="10971245" cy="5729094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Methods of Java LinkedList</a:t>
            </a:r>
          </a:p>
          <a:p>
            <a:r>
              <a:rPr lang="en-US" dirty="0" smtClean="0"/>
              <a:t>LinkedList provides various methods that allow us to perform different operations in linked lists. 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N:B,  </a:t>
            </a:r>
            <a:r>
              <a:rPr lang="en-US" dirty="0" smtClean="0"/>
              <a:t>four commonly used </a:t>
            </a:r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LinkedList Operators </a:t>
            </a:r>
            <a:r>
              <a:rPr lang="en-US" dirty="0" smtClean="0"/>
              <a:t>in this tutorial:</a:t>
            </a:r>
          </a:p>
          <a:p>
            <a:pPr marL="457200" lvl="1" indent="0">
              <a:buNone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Add elements</a:t>
            </a:r>
          </a:p>
          <a:p>
            <a:pPr marL="457200" lvl="1" indent="0">
              <a:buNone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Remove elements</a:t>
            </a:r>
          </a:p>
          <a:p>
            <a:pPr marL="457200" lvl="1" indent="0">
              <a:buNone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Access elements</a:t>
            </a:r>
            <a:endParaRPr lang="en-US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457200" lvl="1" indent="0">
              <a:buNone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Change elements</a:t>
            </a:r>
          </a:p>
          <a:p>
            <a:pPr marL="457200" lvl="1" indent="0">
              <a:buNone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Remove elements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740293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281" y="142613"/>
            <a:ext cx="11110519" cy="603435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b="0" i="0" dirty="0" smtClean="0">
                <a:solidFill>
                  <a:srgbClr val="4A4A4A"/>
                </a:solidFill>
                <a:effectLst/>
                <a:latin typeface="Open Sans"/>
              </a:rPr>
              <a:t>There’s a variety of built-in methods that you can use when working with your linked list. </a:t>
            </a:r>
          </a:p>
          <a:p>
            <a:pPr algn="just"/>
            <a:r>
              <a:rPr lang="en-US" dirty="0" smtClean="0">
                <a:solidFill>
                  <a:srgbClr val="FF0000"/>
                </a:solidFill>
                <a:latin typeface="Open Sans"/>
              </a:rPr>
              <a:t>Note: </a:t>
            </a:r>
          </a:p>
          <a:p>
            <a:pPr marL="457200" lvl="1" indent="0" algn="just">
              <a:buNone/>
            </a:pPr>
            <a:r>
              <a:rPr lang="en-US" dirty="0" smtClean="0">
                <a:solidFill>
                  <a:srgbClr val="4A4A4A"/>
                </a:solidFill>
                <a:latin typeface="Open Sans"/>
              </a:rPr>
              <a:t>there is a </a:t>
            </a:r>
            <a:r>
              <a:rPr lang="en-US" b="0" i="0" dirty="0" smtClean="0">
                <a:solidFill>
                  <a:srgbClr val="4A4A4A"/>
                </a:solidFill>
                <a:effectLst/>
                <a:latin typeface="Open Sans"/>
              </a:rPr>
              <a:t>lot of basic methods with their functionality to work with LinkedList :</a:t>
            </a:r>
          </a:p>
          <a:p>
            <a:pPr algn="just"/>
            <a:endParaRPr lang="en-US" b="0" i="0" dirty="0" smtClean="0">
              <a:solidFill>
                <a:srgbClr val="4A4A4A"/>
              </a:solidFill>
              <a:effectLst/>
              <a:latin typeface="Open Sans"/>
            </a:endParaRPr>
          </a:p>
          <a:p>
            <a:pPr marL="457200" lvl="1" indent="0">
              <a:buNone/>
            </a:pPr>
            <a:r>
              <a:rPr lang="en-US" b="1" i="0" dirty="0" smtClean="0">
                <a:solidFill>
                  <a:srgbClr val="FF0000"/>
                </a:solidFill>
                <a:effectLst/>
                <a:latin typeface="Open Sans"/>
              </a:rPr>
              <a:t>add(E e)</a:t>
            </a:r>
            <a:r>
              <a:rPr lang="en-US" b="0" i="0" dirty="0" smtClean="0">
                <a:solidFill>
                  <a:srgbClr val="FF0000"/>
                </a:solidFill>
                <a:effectLst/>
                <a:latin typeface="Open Sans"/>
              </a:rPr>
              <a:t> </a:t>
            </a:r>
            <a:r>
              <a:rPr lang="en-US" b="0" i="0" dirty="0" smtClean="0">
                <a:solidFill>
                  <a:srgbClr val="4A4A4A"/>
                </a:solidFill>
                <a:effectLst/>
                <a:latin typeface="Open Sans"/>
              </a:rPr>
              <a:t>– This method adds elements to the linked list one after the other</a:t>
            </a:r>
          </a:p>
          <a:p>
            <a:pPr marL="457200" lvl="1" indent="0">
              <a:buNone/>
            </a:pPr>
            <a:r>
              <a:rPr lang="en-US" b="1" i="0" dirty="0" smtClean="0">
                <a:solidFill>
                  <a:srgbClr val="FF0000"/>
                </a:solidFill>
                <a:effectLst/>
                <a:latin typeface="Open Sans"/>
              </a:rPr>
              <a:t>add​(</a:t>
            </a:r>
            <a:r>
              <a:rPr lang="en-US" b="1" i="0" dirty="0" err="1" smtClean="0">
                <a:solidFill>
                  <a:srgbClr val="FF0000"/>
                </a:solidFill>
                <a:effectLst/>
                <a:latin typeface="Open Sans"/>
              </a:rPr>
              <a:t>int</a:t>
            </a:r>
            <a:r>
              <a:rPr lang="en-US" b="1" i="0" dirty="0" smtClean="0">
                <a:solidFill>
                  <a:srgbClr val="FF0000"/>
                </a:solidFill>
                <a:effectLst/>
                <a:latin typeface="Open Sans"/>
              </a:rPr>
              <a:t> index, E element)</a:t>
            </a:r>
            <a:r>
              <a:rPr lang="en-US" b="0" i="0" dirty="0" smtClean="0">
                <a:solidFill>
                  <a:srgbClr val="4A4A4A"/>
                </a:solidFill>
                <a:effectLst/>
                <a:latin typeface="Open Sans"/>
              </a:rPr>
              <a:t>  – This method adds the specified element at the specified position in this list.</a:t>
            </a:r>
          </a:p>
          <a:p>
            <a:pPr marL="457200" lvl="1" indent="0">
              <a:buNone/>
            </a:pPr>
            <a:r>
              <a:rPr lang="en-US" b="1" i="0" dirty="0" err="1" smtClean="0">
                <a:solidFill>
                  <a:srgbClr val="FF0000"/>
                </a:solidFill>
                <a:effectLst/>
                <a:latin typeface="Open Sans"/>
              </a:rPr>
              <a:t>addFirst</a:t>
            </a:r>
            <a:r>
              <a:rPr lang="en-US" b="1" i="0" dirty="0" smtClean="0">
                <a:solidFill>
                  <a:srgbClr val="FF0000"/>
                </a:solidFill>
                <a:effectLst/>
                <a:latin typeface="Open Sans"/>
              </a:rPr>
              <a:t>(E e)</a:t>
            </a:r>
            <a:r>
              <a:rPr lang="en-US" b="0" i="0" dirty="0" smtClean="0">
                <a:solidFill>
                  <a:srgbClr val="4A4A4A"/>
                </a:solidFill>
                <a:effectLst/>
                <a:latin typeface="Open Sans"/>
              </a:rPr>
              <a:t> – This method adds the specified element at the beginning of this list</a:t>
            </a:r>
          </a:p>
          <a:p>
            <a:pPr marL="457200" lvl="1" indent="0">
              <a:buNone/>
            </a:pPr>
            <a:r>
              <a:rPr lang="en-US" b="1" i="0" dirty="0" err="1" smtClean="0">
                <a:solidFill>
                  <a:srgbClr val="FF0000"/>
                </a:solidFill>
                <a:effectLst/>
                <a:latin typeface="Open Sans"/>
              </a:rPr>
              <a:t>addLast</a:t>
            </a:r>
            <a:r>
              <a:rPr lang="en-US" b="1" i="0" dirty="0" smtClean="0">
                <a:solidFill>
                  <a:srgbClr val="FF0000"/>
                </a:solidFill>
                <a:effectLst/>
                <a:latin typeface="Open Sans"/>
              </a:rPr>
              <a:t>​(E e)</a:t>
            </a:r>
            <a:r>
              <a:rPr lang="en-US" b="0" i="0" dirty="0" smtClean="0">
                <a:solidFill>
                  <a:srgbClr val="FF0000"/>
                </a:solidFill>
                <a:effectLst/>
                <a:latin typeface="Open Sans"/>
              </a:rPr>
              <a:t> </a:t>
            </a:r>
            <a:r>
              <a:rPr lang="en-US" b="0" i="0" dirty="0" smtClean="0">
                <a:solidFill>
                  <a:srgbClr val="4A4A4A"/>
                </a:solidFill>
                <a:effectLst/>
                <a:latin typeface="Open Sans"/>
              </a:rPr>
              <a:t>–  This method adds the specified element to the end of this list</a:t>
            </a:r>
          </a:p>
          <a:p>
            <a:pPr marL="457200" lvl="1" indent="0">
              <a:buNone/>
            </a:pPr>
            <a:r>
              <a:rPr lang="en-US" b="1" i="0" dirty="0" smtClean="0">
                <a:solidFill>
                  <a:srgbClr val="FF0000"/>
                </a:solidFill>
                <a:effectLst/>
                <a:latin typeface="Open Sans"/>
              </a:rPr>
              <a:t>get​(</a:t>
            </a:r>
            <a:r>
              <a:rPr lang="en-US" b="1" i="0" dirty="0" err="1" smtClean="0">
                <a:solidFill>
                  <a:srgbClr val="FF0000"/>
                </a:solidFill>
                <a:effectLst/>
                <a:latin typeface="Open Sans"/>
              </a:rPr>
              <a:t>int</a:t>
            </a:r>
            <a:r>
              <a:rPr lang="en-US" b="1" i="0" dirty="0" smtClean="0">
                <a:solidFill>
                  <a:srgbClr val="FF0000"/>
                </a:solidFill>
                <a:effectLst/>
                <a:latin typeface="Open Sans"/>
              </a:rPr>
              <a:t> index):</a:t>
            </a:r>
            <a:r>
              <a:rPr lang="en-US" b="0" i="0" dirty="0" smtClean="0">
                <a:solidFill>
                  <a:srgbClr val="4A4A4A"/>
                </a:solidFill>
                <a:effectLst/>
                <a:latin typeface="Open Sans"/>
              </a:rPr>
              <a:t> This method returns the element at the specified position in this list</a:t>
            </a:r>
          </a:p>
          <a:p>
            <a:pPr marL="0" indent="0"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765965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8782" y="285226"/>
            <a:ext cx="11035018" cy="5891737"/>
          </a:xfrm>
        </p:spPr>
        <p:txBody>
          <a:bodyPr/>
          <a:lstStyle/>
          <a:p>
            <a:pPr marL="457200" lvl="1" indent="0">
              <a:buNone/>
            </a:pPr>
            <a:r>
              <a:rPr lang="en-US" b="1" i="0" dirty="0" smtClean="0">
                <a:solidFill>
                  <a:srgbClr val="FF0000"/>
                </a:solidFill>
                <a:effectLst/>
                <a:latin typeface="Open Sans"/>
              </a:rPr>
              <a:t>set​(</a:t>
            </a:r>
            <a:r>
              <a:rPr lang="en-US" b="1" i="0" dirty="0" err="1" smtClean="0">
                <a:solidFill>
                  <a:srgbClr val="FF0000"/>
                </a:solidFill>
                <a:effectLst/>
                <a:latin typeface="Open Sans"/>
              </a:rPr>
              <a:t>int</a:t>
            </a:r>
            <a:r>
              <a:rPr lang="en-US" b="1" i="0" dirty="0" smtClean="0">
                <a:solidFill>
                  <a:srgbClr val="FF0000"/>
                </a:solidFill>
                <a:effectLst/>
                <a:latin typeface="Open Sans"/>
              </a:rPr>
              <a:t> index, E element):</a:t>
            </a:r>
            <a:r>
              <a:rPr lang="en-US" b="0" i="0" dirty="0" smtClean="0">
                <a:solidFill>
                  <a:srgbClr val="4A4A4A"/>
                </a:solidFill>
                <a:effectLst/>
                <a:latin typeface="Open Sans"/>
              </a:rPr>
              <a:t> This method replaces the element at the specified position in this list with the specified element</a:t>
            </a:r>
          </a:p>
          <a:p>
            <a:pPr marL="457200" lvl="1" indent="0">
              <a:buNone/>
            </a:pPr>
            <a:r>
              <a:rPr lang="en-US" b="1" i="0" dirty="0" smtClean="0">
                <a:solidFill>
                  <a:srgbClr val="FF0000"/>
                </a:solidFill>
                <a:effectLst/>
                <a:latin typeface="Open Sans"/>
              </a:rPr>
              <a:t>remove​(</a:t>
            </a:r>
            <a:r>
              <a:rPr lang="en-US" b="1" i="0" dirty="0" err="1" smtClean="0">
                <a:solidFill>
                  <a:srgbClr val="FF0000"/>
                </a:solidFill>
                <a:effectLst/>
                <a:latin typeface="Open Sans"/>
              </a:rPr>
              <a:t>int</a:t>
            </a:r>
            <a:r>
              <a:rPr lang="en-US" b="1" i="0" dirty="0" smtClean="0">
                <a:solidFill>
                  <a:srgbClr val="FF0000"/>
                </a:solidFill>
                <a:effectLst/>
                <a:latin typeface="Open Sans"/>
              </a:rPr>
              <a:t> index):</a:t>
            </a:r>
            <a:r>
              <a:rPr lang="en-US" b="0" i="0" dirty="0" smtClean="0">
                <a:solidFill>
                  <a:srgbClr val="4A4A4A"/>
                </a:solidFill>
                <a:effectLst/>
                <a:latin typeface="Open Sans"/>
              </a:rPr>
              <a:t> This method removes the element at the specified position in this list</a:t>
            </a:r>
          </a:p>
          <a:p>
            <a:pPr marL="457200" lvl="1" indent="0">
              <a:buNone/>
            </a:pPr>
            <a:r>
              <a:rPr lang="en-US" b="1" i="0" dirty="0" err="1" smtClean="0">
                <a:solidFill>
                  <a:srgbClr val="FF0000"/>
                </a:solidFill>
                <a:effectLst/>
                <a:latin typeface="Open Sans"/>
              </a:rPr>
              <a:t>removeFirst</a:t>
            </a:r>
            <a:r>
              <a:rPr lang="en-US" b="1" i="0" dirty="0" smtClean="0">
                <a:solidFill>
                  <a:srgbClr val="FF0000"/>
                </a:solidFill>
                <a:effectLst/>
                <a:latin typeface="Open Sans"/>
              </a:rPr>
              <a:t>​():</a:t>
            </a:r>
            <a:r>
              <a:rPr lang="en-US" b="0" i="0" dirty="0" smtClean="0">
                <a:solidFill>
                  <a:srgbClr val="FF0000"/>
                </a:solidFill>
                <a:effectLst/>
                <a:latin typeface="Open Sans"/>
              </a:rPr>
              <a:t> </a:t>
            </a:r>
            <a:r>
              <a:rPr lang="en-US" b="0" i="0" dirty="0" smtClean="0">
                <a:solidFill>
                  <a:srgbClr val="4A4A4A"/>
                </a:solidFill>
                <a:effectLst/>
                <a:latin typeface="Open Sans"/>
              </a:rPr>
              <a:t>This method removes and returns the first element from this list</a:t>
            </a:r>
          </a:p>
          <a:p>
            <a:pPr marL="457200" lvl="1" indent="0">
              <a:buNone/>
            </a:pPr>
            <a:r>
              <a:rPr lang="en-US" b="1" i="0" dirty="0" err="1" smtClean="0">
                <a:solidFill>
                  <a:srgbClr val="FF0000"/>
                </a:solidFill>
                <a:effectLst/>
                <a:latin typeface="Open Sans"/>
              </a:rPr>
              <a:t>removeLast</a:t>
            </a:r>
            <a:r>
              <a:rPr lang="en-US" b="1" i="0" dirty="0" smtClean="0">
                <a:solidFill>
                  <a:srgbClr val="FF0000"/>
                </a:solidFill>
                <a:effectLst/>
                <a:latin typeface="Open Sans"/>
              </a:rPr>
              <a:t>​():</a:t>
            </a:r>
            <a:r>
              <a:rPr lang="en-US" b="0" i="0" dirty="0" smtClean="0">
                <a:solidFill>
                  <a:srgbClr val="FF0000"/>
                </a:solidFill>
                <a:effectLst/>
                <a:latin typeface="Open Sans"/>
              </a:rPr>
              <a:t> </a:t>
            </a:r>
            <a:r>
              <a:rPr lang="en-US" b="0" i="0" dirty="0" smtClean="0">
                <a:solidFill>
                  <a:srgbClr val="4A4A4A"/>
                </a:solidFill>
                <a:effectLst/>
                <a:latin typeface="Open Sans"/>
              </a:rPr>
              <a:t>This method removes and returns the last element from this list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53143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192" y="401216"/>
            <a:ext cx="10868608" cy="5775747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</a:rPr>
              <a:t>Add elements to a LinkedList</a:t>
            </a:r>
          </a:p>
          <a:p>
            <a:r>
              <a:rPr lang="en-US" dirty="0" smtClean="0"/>
              <a:t>We can use the </a:t>
            </a:r>
            <a:r>
              <a:rPr lang="en-US" b="1" dirty="0" smtClean="0">
                <a:solidFill>
                  <a:srgbClr val="FF0000"/>
                </a:solidFill>
              </a:rPr>
              <a:t>add() </a:t>
            </a:r>
            <a:r>
              <a:rPr lang="en-US" dirty="0" smtClean="0"/>
              <a:t>method to add an element (node) at the end of the LinkedList. </a:t>
            </a:r>
          </a:p>
          <a:p>
            <a:pPr marL="0" indent="0" algn="ctr">
              <a:buNone/>
            </a:pPr>
            <a:r>
              <a:rPr lang="en-US" sz="3600" dirty="0" smtClean="0"/>
              <a:t>For example:…….</a:t>
            </a:r>
            <a:r>
              <a:rPr lang="en-US" sz="3600" b="1" dirty="0" smtClean="0">
                <a:solidFill>
                  <a:srgbClr val="FF0000"/>
                </a:solidFill>
              </a:rPr>
              <a:t>lets try our method first</a:t>
            </a:r>
            <a:r>
              <a:rPr lang="en-US" sz="3600" dirty="0" smtClean="0"/>
              <a:t>…</a:t>
            </a:r>
          </a:p>
          <a:p>
            <a:pPr marL="0" indent="0">
              <a:buNone/>
            </a:pPr>
            <a:r>
              <a:rPr lang="en-ZA" sz="3600" dirty="0" smtClean="0"/>
              <a:t>what is needed</a:t>
            </a:r>
          </a:p>
          <a:p>
            <a:pPr marL="457200" lvl="1" indent="0">
              <a:buNone/>
            </a:pPr>
            <a:r>
              <a:rPr lang="en-ZA" sz="3200" dirty="0" smtClean="0">
                <a:solidFill>
                  <a:schemeClr val="accent1">
                    <a:lumMod val="75000"/>
                  </a:schemeClr>
                </a:solidFill>
              </a:rPr>
              <a:t> head of list </a:t>
            </a:r>
          </a:p>
          <a:p>
            <a:pPr marL="457200" lvl="1" indent="0">
              <a:buNone/>
            </a:pPr>
            <a:r>
              <a:rPr lang="en-ZA" sz="3200" dirty="0" smtClean="0">
                <a:solidFill>
                  <a:schemeClr val="accent1">
                    <a:lumMod val="75000"/>
                  </a:schemeClr>
                </a:solidFill>
              </a:rPr>
              <a:t>    Linked list Node. </a:t>
            </a:r>
          </a:p>
          <a:p>
            <a:pPr marL="457200" lvl="1" indent="0">
              <a:buNone/>
            </a:pPr>
            <a:r>
              <a:rPr lang="en-ZA" sz="3200" dirty="0" smtClean="0">
                <a:solidFill>
                  <a:schemeClr val="accent1">
                    <a:lumMod val="75000"/>
                  </a:schemeClr>
                </a:solidFill>
              </a:rPr>
              <a:t>    Create an inner class is made and  make it static </a:t>
            </a:r>
          </a:p>
          <a:p>
            <a:pPr marL="457200" lvl="1" indent="0">
              <a:buNone/>
            </a:pPr>
            <a:r>
              <a:rPr lang="en-ZA" sz="3200" dirty="0" smtClean="0">
                <a:solidFill>
                  <a:schemeClr val="accent1">
                    <a:lumMod val="75000"/>
                  </a:schemeClr>
                </a:solidFill>
              </a:rPr>
              <a:t>     so that main() can access it </a:t>
            </a:r>
          </a:p>
          <a:p>
            <a:pPr marL="457200" lvl="1" indent="0">
              <a:buNone/>
            </a:pPr>
            <a:r>
              <a:rPr lang="en-ZA" sz="3200" dirty="0" smtClean="0">
                <a:solidFill>
                  <a:schemeClr val="accent1">
                    <a:lumMod val="75000"/>
                  </a:schemeClr>
                </a:solidFill>
              </a:rPr>
              <a:t>        create a Constructor </a:t>
            </a:r>
            <a:endParaRPr lang="en-US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4323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6837" y="0"/>
            <a:ext cx="11076963" cy="6176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ZA" dirty="0" smtClean="0"/>
          </a:p>
          <a:p>
            <a:pPr marL="0" indent="0">
              <a:buNone/>
            </a:pPr>
            <a:r>
              <a:rPr lang="en-ZA" dirty="0" smtClean="0">
                <a:solidFill>
                  <a:schemeClr val="accent1">
                    <a:lumMod val="75000"/>
                  </a:schemeClr>
                </a:solidFill>
              </a:rPr>
              <a:t>  Method to insert a new node </a:t>
            </a:r>
          </a:p>
          <a:p>
            <a:pPr marL="0" indent="0">
              <a:buNone/>
            </a:pPr>
            <a:r>
              <a:rPr lang="en-ZA" dirty="0" smtClean="0">
                <a:solidFill>
                  <a:schemeClr val="accent1">
                    <a:lumMod val="75000"/>
                  </a:schemeClr>
                </a:solidFill>
              </a:rPr>
              <a:t>         Create a new node with given data </a:t>
            </a:r>
          </a:p>
          <a:p>
            <a:pPr marL="0" indent="0">
              <a:buNone/>
            </a:pPr>
            <a:r>
              <a:rPr lang="en-ZA" dirty="0" smtClean="0">
                <a:solidFill>
                  <a:schemeClr val="accent1">
                    <a:lumMod val="75000"/>
                  </a:schemeClr>
                </a:solidFill>
              </a:rPr>
              <a:t>If the Linked List is empty, </a:t>
            </a:r>
          </a:p>
          <a:p>
            <a:pPr marL="0" indent="0">
              <a:buNone/>
            </a:pPr>
            <a:r>
              <a:rPr lang="en-ZA" dirty="0" smtClean="0">
                <a:solidFill>
                  <a:schemeClr val="accent1">
                    <a:lumMod val="75000"/>
                  </a:schemeClr>
                </a:solidFill>
              </a:rPr>
              <a:t>         then make the new node as head </a:t>
            </a:r>
          </a:p>
          <a:p>
            <a:pPr marL="0" indent="0">
              <a:buNone/>
            </a:pPr>
            <a:r>
              <a:rPr lang="en-ZA" dirty="0" smtClean="0">
                <a:solidFill>
                  <a:schemeClr val="accent1">
                    <a:lumMod val="75000"/>
                  </a:schemeClr>
                </a:solidFill>
              </a:rPr>
              <a:t>Else walk through till the last node </a:t>
            </a:r>
          </a:p>
          <a:p>
            <a:pPr marL="0" indent="0">
              <a:buNone/>
            </a:pPr>
            <a:r>
              <a:rPr lang="en-ZA" dirty="0" smtClean="0">
                <a:solidFill>
                  <a:schemeClr val="accent1">
                    <a:lumMod val="75000"/>
                  </a:schemeClr>
                </a:solidFill>
              </a:rPr>
              <a:t>         and insert the new node there </a:t>
            </a:r>
          </a:p>
          <a:p>
            <a:pPr marL="0" indent="0">
              <a:buNone/>
            </a:pPr>
            <a:r>
              <a:rPr lang="en-ZA" dirty="0" smtClean="0">
                <a:solidFill>
                  <a:schemeClr val="accent1">
                    <a:lumMod val="75000"/>
                  </a:schemeClr>
                </a:solidFill>
              </a:rPr>
              <a:t>            Insert the new no de at last node </a:t>
            </a:r>
            <a:endParaRPr lang="en-ZA" dirty="0" smtClean="0">
              <a:solidFill>
                <a:schemeClr val="accent1">
                  <a:lumMod val="75000"/>
                </a:schemeClr>
              </a:solidFill>
            </a:endParaRPr>
          </a:p>
          <a:p>
            <a:endParaRPr lang="en-ZA" dirty="0" smtClean="0"/>
          </a:p>
          <a:p>
            <a:pPr marL="0" indent="0">
              <a:buNone/>
            </a:pPr>
            <a:r>
              <a:rPr lang="en-ZA" dirty="0" smtClean="0"/>
              <a:t>        </a:t>
            </a:r>
          </a:p>
          <a:p>
            <a:pPr marL="0" indent="0">
              <a:buNone/>
            </a:pPr>
            <a:r>
              <a:rPr lang="en-ZA" dirty="0" smtClean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755444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7171" y="167780"/>
            <a:ext cx="11026629" cy="6009183"/>
          </a:xfrm>
        </p:spPr>
        <p:txBody>
          <a:bodyPr/>
          <a:lstStyle/>
          <a:p>
            <a:pPr marL="0" indent="0">
              <a:buNone/>
            </a:pPr>
            <a:r>
              <a:rPr lang="en-ZA" dirty="0" smtClean="0">
                <a:solidFill>
                  <a:schemeClr val="accent1">
                    <a:lumMod val="75000"/>
                  </a:schemeClr>
                </a:solidFill>
              </a:rPr>
              <a:t>Return the list by head </a:t>
            </a:r>
          </a:p>
          <a:p>
            <a:pPr marL="0" indent="0">
              <a:buNone/>
            </a:pPr>
            <a:r>
              <a:rPr lang="en-ZA" dirty="0" smtClean="0">
                <a:solidFill>
                  <a:schemeClr val="accent1">
                    <a:lumMod val="75000"/>
                  </a:schemeClr>
                </a:solidFill>
              </a:rPr>
              <a:t>    Method to print the LinkedList</a:t>
            </a:r>
          </a:p>
          <a:p>
            <a:pPr marL="0" indent="0">
              <a:buNone/>
            </a:pPr>
            <a:r>
              <a:rPr lang="en-ZA" dirty="0" smtClean="0">
                <a:solidFill>
                  <a:schemeClr val="accent1">
                    <a:lumMod val="75000"/>
                  </a:schemeClr>
                </a:solidFill>
              </a:rPr>
              <a:t>        Traverse through the LinkedList </a:t>
            </a:r>
          </a:p>
          <a:p>
            <a:pPr marL="0" indent="0">
              <a:buNone/>
            </a:pPr>
            <a:r>
              <a:rPr lang="en-ZA" dirty="0" smtClean="0">
                <a:solidFill>
                  <a:schemeClr val="accent1">
                    <a:lumMod val="75000"/>
                  </a:schemeClr>
                </a:solidFill>
              </a:rPr>
              <a:t>Print the data at current node </a:t>
            </a:r>
          </a:p>
          <a:p>
            <a:pPr marL="0" indent="0">
              <a:buNone/>
            </a:pPr>
            <a:r>
              <a:rPr lang="en-ZA" dirty="0" smtClean="0">
                <a:solidFill>
                  <a:schemeClr val="accent1">
                    <a:lumMod val="75000"/>
                  </a:schemeClr>
                </a:solidFill>
              </a:rPr>
              <a:t>            Go to next node </a:t>
            </a:r>
          </a:p>
          <a:p>
            <a:pPr marL="0" indent="0">
              <a:buNone/>
            </a:pPr>
            <a:r>
              <a:rPr lang="en-ZA" dirty="0" smtClean="0">
                <a:solidFill>
                  <a:schemeClr val="accent1">
                    <a:lumMod val="75000"/>
                  </a:schemeClr>
                </a:solidFill>
              </a:rPr>
              <a:t>Create a the main method</a:t>
            </a:r>
            <a:endParaRPr lang="en-ZA" dirty="0" smtClean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6438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753</TotalTime>
  <Words>277</Words>
  <Application>Microsoft Office PowerPoint</Application>
  <PresentationFormat>Widescreen</PresentationFormat>
  <Paragraphs>54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Open Sans</vt:lpstr>
      <vt:lpstr>Office Theme</vt:lpstr>
      <vt:lpstr>Working of a LinkedList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CPUT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Sammuel Nonelelo</dc:creator>
  <cp:lastModifiedBy>Sammuel Nonelelo</cp:lastModifiedBy>
  <cp:revision>8</cp:revision>
  <dcterms:created xsi:type="dcterms:W3CDTF">2021-03-17T18:05:09Z</dcterms:created>
  <dcterms:modified xsi:type="dcterms:W3CDTF">2021-03-18T06:38:59Z</dcterms:modified>
</cp:coreProperties>
</file>