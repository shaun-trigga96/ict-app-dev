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3" r:id="rId3"/>
    <p:sldId id="293" r:id="rId4"/>
    <p:sldId id="285" r:id="rId5"/>
    <p:sldId id="295" r:id="rId6"/>
    <p:sldId id="296" r:id="rId7"/>
    <p:sldId id="299" r:id="rId8"/>
    <p:sldId id="286" r:id="rId9"/>
    <p:sldId id="287" r:id="rId10"/>
    <p:sldId id="288" r:id="rId11"/>
    <p:sldId id="305" r:id="rId12"/>
    <p:sldId id="289" r:id="rId13"/>
    <p:sldId id="290" r:id="rId14"/>
    <p:sldId id="304" r:id="rId15"/>
    <p:sldId id="298" r:id="rId16"/>
    <p:sldId id="292" r:id="rId17"/>
    <p:sldId id="291" r:id="rId18"/>
    <p:sldId id="300" r:id="rId19"/>
    <p:sldId id="301" r:id="rId20"/>
    <p:sldId id="302" r:id="rId21"/>
    <p:sldId id="3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muel Nonelelo" initials="SN" lastIdx="1" clrIdx="0">
    <p:extLst>
      <p:ext uri="{19B8F6BF-5375-455C-9EA6-DF929625EA0E}">
        <p15:presenceInfo xmlns:p15="http://schemas.microsoft.com/office/powerpoint/2012/main" userId="Sammuel Nonelel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8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3-24T14:46:20.459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618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765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6824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023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177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005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5517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659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8078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4732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7782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BC6F1-72A6-4EAB-B4F5-5B80A467C601}" type="datetimeFigureOut">
              <a:rPr lang="en-ZA" smtClean="0"/>
              <a:t>2021/04/12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DDC35-25FC-4433-8A14-0E6C10FAD4D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137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825" y="1122363"/>
            <a:ext cx="11382375" cy="260191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Second Part: Data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Structure - </a:t>
            </a:r>
            <a:r>
              <a:rPr lang="en-US" b="1" dirty="0">
                <a:solidFill>
                  <a:srgbClr val="FF0000"/>
                </a:solidFill>
              </a:rPr>
              <a:t>Doubly Linked List</a:t>
            </a:r>
            <a:r>
              <a:rPr lang="en-US" dirty="0"/>
              <a:t/>
            </a:r>
            <a:br>
              <a:rPr lang="en-US" dirty="0"/>
            </a:b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4012" y="3602038"/>
            <a:ext cx="9144000" cy="1655762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Mr. Zukile </a:t>
            </a:r>
            <a:r>
              <a:rPr lang="en-US" b="1" dirty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dyalivana</a:t>
            </a:r>
            <a:endParaRPr lang="en-ZA" b="1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020" y="4978717"/>
            <a:ext cx="2971800" cy="15335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5753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27" y="360727"/>
            <a:ext cx="10993073" cy="5816236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As previously stated, </a:t>
            </a:r>
            <a:r>
              <a:rPr lang="en-US" b="1" dirty="0" smtClean="0"/>
              <a:t>a </a:t>
            </a:r>
            <a:r>
              <a:rPr lang="en-US" b="1" dirty="0" smtClean="0"/>
              <a:t>Doubly </a:t>
            </a:r>
            <a:r>
              <a:rPr lang="en-US" b="1" dirty="0"/>
              <a:t>Linked </a:t>
            </a:r>
            <a:r>
              <a:rPr lang="en-US" b="1" dirty="0" smtClean="0"/>
              <a:t>List is:</a:t>
            </a:r>
            <a:endParaRPr lang="en-US" b="1" dirty="0"/>
          </a:p>
          <a:p>
            <a:r>
              <a:rPr lang="en-US" dirty="0" smtClean="0"/>
              <a:t>Another linked list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Also</a:t>
            </a:r>
          </a:p>
          <a:p>
            <a:pPr marL="457200" lvl="1" indent="0">
              <a:buNone/>
            </a:pPr>
            <a:r>
              <a:rPr lang="en-US" dirty="0"/>
              <a:t>D</a:t>
            </a:r>
            <a:r>
              <a:rPr lang="en-US" dirty="0" smtClean="0"/>
              <a:t>oubly </a:t>
            </a:r>
            <a:r>
              <a:rPr lang="en-US" dirty="0"/>
              <a:t>linked list </a:t>
            </a:r>
            <a:r>
              <a:rPr lang="en-US" dirty="0" smtClean="0"/>
              <a:t>has: </a:t>
            </a:r>
          </a:p>
          <a:p>
            <a:pPr marL="914400" lvl="2" indent="0">
              <a:buNone/>
            </a:pPr>
            <a:r>
              <a:rPr lang="en-US" dirty="0" smtClean="0"/>
              <a:t>An </a:t>
            </a:r>
            <a:r>
              <a:rPr lang="en-US" dirty="0"/>
              <a:t>additional pointer known as the </a:t>
            </a:r>
            <a:r>
              <a:rPr lang="en-US" b="1" dirty="0"/>
              <a:t>previous pointer </a:t>
            </a:r>
            <a:r>
              <a:rPr lang="en-US" dirty="0"/>
              <a:t>in its node apart from the data part and the next pointer as in the </a:t>
            </a:r>
            <a:r>
              <a:rPr lang="en-US" b="1" dirty="0"/>
              <a:t>singly linked list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 smtClean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2246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880" y="1358265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/>
              <a:t>A node in the doubly linked list looks as follows</a:t>
            </a:r>
            <a:r>
              <a:rPr lang="en-US" b="1" dirty="0" smtClean="0"/>
              <a:t>:</a:t>
            </a:r>
          </a:p>
          <a:p>
            <a:pPr marL="457200" lvl="1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</a:t>
            </a:r>
            <a:endParaRPr lang="en-US" b="1" dirty="0"/>
          </a:p>
          <a:p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311" y="3123818"/>
            <a:ext cx="7034534" cy="159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17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004" y="402672"/>
            <a:ext cx="11051796" cy="5774291"/>
          </a:xfrm>
        </p:spPr>
        <p:txBody>
          <a:bodyPr/>
          <a:lstStyle/>
          <a:p>
            <a:r>
              <a:rPr lang="en-US" dirty="0" smtClean="0"/>
              <a:t>Please note that: </a:t>
            </a:r>
            <a:endParaRPr lang="en-US" dirty="0" smtClean="0"/>
          </a:p>
          <a:p>
            <a:pPr marL="457200" lvl="1" indent="0">
              <a:buNone/>
            </a:pPr>
            <a:r>
              <a:rPr lang="en-US" b="1" dirty="0" smtClean="0"/>
              <a:t> </a:t>
            </a:r>
            <a:r>
              <a:rPr lang="en-US" b="1" dirty="0"/>
              <a:t>“</a:t>
            </a:r>
            <a:r>
              <a:rPr lang="en-US" b="1" dirty="0">
                <a:solidFill>
                  <a:srgbClr val="FF0000"/>
                </a:solidFill>
              </a:rPr>
              <a:t>Prev</a:t>
            </a:r>
            <a:r>
              <a:rPr lang="en-US" b="1" dirty="0"/>
              <a:t>” and “</a:t>
            </a:r>
            <a:r>
              <a:rPr lang="en-US" b="1" dirty="0">
                <a:solidFill>
                  <a:srgbClr val="FF0000"/>
                </a:solidFill>
              </a:rPr>
              <a:t>Next</a:t>
            </a:r>
            <a:r>
              <a:rPr lang="en-US" b="1" dirty="0"/>
              <a:t>” </a:t>
            </a:r>
            <a:r>
              <a:rPr lang="en-US" dirty="0"/>
              <a:t>are pointers to the previous and next elements of the </a:t>
            </a:r>
            <a:r>
              <a:rPr lang="en-US" b="1" dirty="0"/>
              <a:t>node </a:t>
            </a:r>
            <a:r>
              <a:rPr lang="en-US" dirty="0"/>
              <a:t>respectively.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The </a:t>
            </a:r>
            <a:r>
              <a:rPr lang="en-US" b="1" dirty="0">
                <a:solidFill>
                  <a:srgbClr val="FF0000"/>
                </a:solidFill>
              </a:rPr>
              <a:t>‘Data’ </a:t>
            </a:r>
            <a:r>
              <a:rPr lang="en-US" dirty="0"/>
              <a:t>is the actual element that is stored in the node.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46637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98120"/>
            <a:ext cx="11109960" cy="597884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</a:t>
            </a:r>
            <a:r>
              <a:rPr lang="en-US" b="1" dirty="0" smtClean="0"/>
              <a:t>mportant </a:t>
            </a:r>
            <a:r>
              <a:rPr lang="en-US" b="1" dirty="0"/>
              <a:t>points to be </a:t>
            </a:r>
            <a:r>
              <a:rPr lang="en-US" b="1" dirty="0" smtClean="0"/>
              <a:t>consider:</a:t>
            </a:r>
            <a:endParaRPr lang="en-US" b="1" dirty="0"/>
          </a:p>
          <a:p>
            <a:pPr lvl="1"/>
            <a:r>
              <a:rPr lang="en-US" dirty="0"/>
              <a:t>Doubly Linked List </a:t>
            </a:r>
            <a:r>
              <a:rPr lang="en-US" dirty="0" smtClean="0"/>
              <a:t>contains: </a:t>
            </a:r>
          </a:p>
          <a:p>
            <a:pPr marL="1371600" lvl="3" indent="0">
              <a:buNone/>
            </a:pPr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link element called </a:t>
            </a:r>
            <a:r>
              <a:rPr lang="en-US" sz="2800" b="1" dirty="0">
                <a:solidFill>
                  <a:srgbClr val="FF0000"/>
                </a:solidFill>
              </a:rPr>
              <a:t>first and last.</a:t>
            </a:r>
          </a:p>
          <a:p>
            <a:pPr marL="914400" lvl="2" indent="0">
              <a:buNone/>
            </a:pP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NB: Each link:</a:t>
            </a:r>
          </a:p>
          <a:p>
            <a:pPr marL="1371600" lvl="3" indent="0">
              <a:buNone/>
            </a:pPr>
            <a:r>
              <a:rPr lang="en-US" dirty="0" smtClean="0"/>
              <a:t> Carries </a:t>
            </a:r>
            <a:r>
              <a:rPr lang="en-US" dirty="0"/>
              <a:t>a </a:t>
            </a:r>
            <a:r>
              <a:rPr lang="en-US" b="1" dirty="0"/>
              <a:t>data field(s) and </a:t>
            </a:r>
            <a:r>
              <a:rPr lang="en-US" dirty="0"/>
              <a:t>two link fields called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next </a:t>
            </a:r>
            <a:r>
              <a:rPr lang="en-US" sz="2800" b="1" dirty="0">
                <a:solidFill>
                  <a:srgbClr val="00B0F0"/>
                </a:solidFill>
              </a:rPr>
              <a:t>and </a:t>
            </a:r>
            <a:r>
              <a:rPr lang="en-US" sz="2800" b="1" dirty="0" smtClean="0">
                <a:solidFill>
                  <a:srgbClr val="00B0F0"/>
                </a:solidFill>
              </a:rPr>
              <a:t>prev</a:t>
            </a:r>
            <a:r>
              <a:rPr lang="en-US" sz="2800" b="1" dirty="0" smtClean="0"/>
              <a:t>.</a:t>
            </a:r>
            <a:endParaRPr lang="en-US" sz="2800" b="1" dirty="0"/>
          </a:p>
          <a:p>
            <a:pPr marL="914400" lvl="2" indent="0">
              <a:buNone/>
            </a:pPr>
            <a:r>
              <a:rPr lang="en-US" dirty="0"/>
              <a:t>Each link is linked with its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next </a:t>
            </a: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</a:rPr>
              <a:t>link:</a:t>
            </a:r>
          </a:p>
          <a:p>
            <a:pPr marL="1371600" lvl="3" indent="0">
              <a:buNone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/>
              <a:t>Using </a:t>
            </a:r>
            <a:r>
              <a:rPr lang="en-US" dirty="0"/>
              <a:t>its </a:t>
            </a:r>
            <a:r>
              <a:rPr lang="en-US" sz="2800" b="1" dirty="0">
                <a:solidFill>
                  <a:srgbClr val="FF0000"/>
                </a:solidFill>
              </a:rPr>
              <a:t>next link.</a:t>
            </a:r>
          </a:p>
          <a:p>
            <a:pPr marL="914400" lvl="2" indent="0">
              <a:buNone/>
            </a:pPr>
            <a:r>
              <a:rPr lang="en-US" dirty="0"/>
              <a:t>Each link is linked with its previous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link using its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previous link.</a:t>
            </a:r>
          </a:p>
          <a:p>
            <a:pPr marL="1371600" lvl="3" indent="0">
              <a:buNone/>
            </a:pPr>
            <a:r>
              <a:rPr lang="en-US" dirty="0"/>
              <a:t>The last link carries a link as </a:t>
            </a:r>
            <a:r>
              <a:rPr lang="en-US" sz="2800" b="1" dirty="0">
                <a:solidFill>
                  <a:srgbClr val="FF0000"/>
                </a:solidFill>
              </a:rPr>
              <a:t>null</a:t>
            </a:r>
            <a:r>
              <a:rPr lang="en-US" dirty="0"/>
              <a:t> to mark the end of the list</a:t>
            </a:r>
            <a:r>
              <a:rPr lang="en-US" dirty="0" smtClean="0"/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1252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" y="137160"/>
            <a:ext cx="11148060" cy="6039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chemeClr val="accent1">
                    <a:lumMod val="50000"/>
                  </a:schemeClr>
                </a:solidFill>
              </a:rPr>
              <a:t>Basic Operations</a:t>
            </a:r>
          </a:p>
          <a:p>
            <a:pPr marL="457200" lvl="1" indent="0">
              <a:buNone/>
            </a:pPr>
            <a:r>
              <a:rPr lang="en-US" dirty="0"/>
              <a:t>Following are the </a:t>
            </a:r>
            <a:r>
              <a:rPr lang="en-US" b="1" dirty="0"/>
              <a:t>basic operations </a:t>
            </a:r>
            <a:r>
              <a:rPr lang="en-US" dirty="0"/>
              <a:t>supported by a list.</a:t>
            </a:r>
          </a:p>
          <a:p>
            <a:pPr marL="914400" lvl="2" indent="0">
              <a:buNone/>
            </a:pPr>
            <a:r>
              <a:rPr lang="en-US" dirty="0" err="1" smtClean="0"/>
              <a:t>DoublyLinkedList</a:t>
            </a:r>
            <a:r>
              <a:rPr lang="en-US" dirty="0"/>
              <a:t>(): </a:t>
            </a:r>
            <a:r>
              <a:rPr lang="en-US" dirty="0" smtClean="0"/>
              <a:t>Makes </a:t>
            </a:r>
            <a:r>
              <a:rPr lang="en-US" dirty="0"/>
              <a:t>an empty doubly linked list. </a:t>
            </a:r>
            <a:r>
              <a:rPr lang="en-US" dirty="0" smtClean="0"/>
              <a:t> </a:t>
            </a:r>
          </a:p>
          <a:p>
            <a:pPr marL="914400" lvl="2" indent="0">
              <a:buNone/>
            </a:pPr>
            <a:r>
              <a:rPr lang="en-US" dirty="0" err="1" smtClean="0"/>
              <a:t>isEmpty</a:t>
            </a:r>
            <a:r>
              <a:rPr lang="en-US" dirty="0"/>
              <a:t>():Returns true if the doubly linked list does not contain any item.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size</a:t>
            </a:r>
            <a:r>
              <a:rPr lang="en-US" dirty="0"/>
              <a:t>(): Returns the number of items in the doubly linked list.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 </a:t>
            </a:r>
            <a:r>
              <a:rPr lang="en-US" dirty="0"/>
              <a:t>get(int </a:t>
            </a:r>
            <a:r>
              <a:rPr lang="en-US" dirty="0" smtClean="0"/>
              <a:t>index</a:t>
            </a:r>
            <a:r>
              <a:rPr lang="en-US" dirty="0"/>
              <a:t>): Returns the item at the specified index.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 err="1" smtClean="0"/>
              <a:t>addFirst</a:t>
            </a:r>
            <a:r>
              <a:rPr lang="en-US" dirty="0" smtClean="0"/>
              <a:t>(Item </a:t>
            </a:r>
            <a:r>
              <a:rPr lang="en-US" dirty="0"/>
              <a:t>item): Inserts the specified item at the head of the doubly linked list.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07613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6" y="383176"/>
            <a:ext cx="11495314" cy="6174377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US" dirty="0"/>
              <a:t> </a:t>
            </a:r>
            <a:r>
              <a:rPr lang="en-US" dirty="0" err="1"/>
              <a:t>addLast</a:t>
            </a:r>
            <a:r>
              <a:rPr lang="en-US" dirty="0"/>
              <a:t>(Item item): Inserts the specified item at the </a:t>
            </a:r>
            <a:r>
              <a:rPr lang="en-US" b="1" dirty="0"/>
              <a:t>tail </a:t>
            </a:r>
            <a:r>
              <a:rPr lang="en-US" dirty="0"/>
              <a:t>of the doubly linked list. </a:t>
            </a:r>
          </a:p>
          <a:p>
            <a:pPr marL="457200" lvl="1" indent="0" algn="just">
              <a:buNone/>
            </a:pPr>
            <a:r>
              <a:rPr lang="en-US" dirty="0"/>
              <a:t> add(int index, Item item): Inserts the specified item at the </a:t>
            </a:r>
            <a:r>
              <a:rPr lang="en-US" b="1" dirty="0"/>
              <a:t>specified index</a:t>
            </a:r>
            <a:r>
              <a:rPr lang="en-US" dirty="0"/>
              <a:t>. </a:t>
            </a:r>
          </a:p>
          <a:p>
            <a:pPr marL="457200" lvl="1" indent="0" algn="just">
              <a:buNone/>
            </a:pPr>
            <a:r>
              <a:rPr lang="en-US" dirty="0"/>
              <a:t>Item </a:t>
            </a:r>
            <a:r>
              <a:rPr lang="en-US" dirty="0" err="1"/>
              <a:t>removeFirst</a:t>
            </a:r>
            <a:r>
              <a:rPr lang="en-US" dirty="0"/>
              <a:t>(): Retrieves and removes the </a:t>
            </a:r>
            <a:r>
              <a:rPr lang="en-US" b="1" dirty="0"/>
              <a:t>head of the doubly linked list</a:t>
            </a:r>
            <a:r>
              <a:rPr lang="en-US" dirty="0"/>
              <a:t>.</a:t>
            </a:r>
          </a:p>
          <a:p>
            <a:pPr marL="457200" lvl="1" indent="0" algn="just">
              <a:buNone/>
            </a:pPr>
            <a:r>
              <a:rPr lang="en-US" dirty="0"/>
              <a:t> Item </a:t>
            </a:r>
            <a:r>
              <a:rPr lang="en-US" dirty="0" err="1"/>
              <a:t>removeLast</a:t>
            </a:r>
            <a:r>
              <a:rPr lang="en-US" dirty="0"/>
              <a:t>(): Retrieves and removes the </a:t>
            </a:r>
            <a:r>
              <a:rPr lang="en-US" b="1" dirty="0"/>
              <a:t>tail of the doubly linked list.</a:t>
            </a:r>
          </a:p>
          <a:p>
            <a:pPr marL="457200" lvl="1" indent="0" algn="just">
              <a:buNone/>
            </a:pPr>
            <a:r>
              <a:rPr lang="en-US" dirty="0"/>
              <a:t> Item remove(int index): Retrieves and removes the item at the specified index.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15849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226" y="343949"/>
            <a:ext cx="11068574" cy="583301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following figure shows a doubly linked list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428" y="1774924"/>
            <a:ext cx="8150348" cy="297106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90800" y="2480310"/>
            <a:ext cx="66675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4598670" y="3699510"/>
            <a:ext cx="640080" cy="822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ZA" dirty="0"/>
          </a:p>
        </p:txBody>
      </p:sp>
      <p:sp>
        <p:nvSpPr>
          <p:cNvPr id="6" name="Rectangle 5"/>
          <p:cNvSpPr/>
          <p:nvPr/>
        </p:nvSpPr>
        <p:spPr>
          <a:xfrm>
            <a:off x="6501492" y="3699510"/>
            <a:ext cx="640080" cy="822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ZA" dirty="0"/>
          </a:p>
        </p:txBody>
      </p:sp>
      <p:sp>
        <p:nvSpPr>
          <p:cNvPr id="7" name="Rectangle 6"/>
          <p:cNvSpPr/>
          <p:nvPr/>
        </p:nvSpPr>
        <p:spPr>
          <a:xfrm>
            <a:off x="8404314" y="3699510"/>
            <a:ext cx="640080" cy="822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17565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429" y="444137"/>
            <a:ext cx="10918371" cy="573282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The above diagram shows the doubly linked list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There are four nodes in this list. 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As </a:t>
            </a:r>
            <a:r>
              <a:rPr lang="en-US" b="1" dirty="0">
                <a:solidFill>
                  <a:srgbClr val="FF0000"/>
                </a:solidFill>
              </a:rPr>
              <a:t>you can </a:t>
            </a:r>
            <a:r>
              <a:rPr lang="en-US" b="1" dirty="0" smtClean="0">
                <a:solidFill>
                  <a:srgbClr val="FF0000"/>
                </a:solidFill>
              </a:rPr>
              <a:t>see: </a:t>
            </a:r>
          </a:p>
          <a:p>
            <a:pPr marL="914400" lvl="2" indent="0">
              <a:buNone/>
            </a:pPr>
            <a:r>
              <a:rPr lang="en-US" dirty="0" smtClean="0"/>
              <a:t>the </a:t>
            </a:r>
            <a:r>
              <a:rPr lang="en-US" dirty="0"/>
              <a:t>previous pointer of the </a:t>
            </a:r>
            <a:r>
              <a:rPr lang="en-US" b="1" dirty="0"/>
              <a:t>first node</a:t>
            </a:r>
            <a:r>
              <a:rPr lang="en-US" dirty="0"/>
              <a:t>, and the </a:t>
            </a:r>
            <a:r>
              <a:rPr lang="en-US" b="1" dirty="0"/>
              <a:t>next pointer </a:t>
            </a:r>
            <a:r>
              <a:rPr lang="en-US" dirty="0"/>
              <a:t>of the last node is </a:t>
            </a:r>
            <a:r>
              <a:rPr lang="en-US" b="1" dirty="0"/>
              <a:t>set to null</a:t>
            </a:r>
            <a:r>
              <a:rPr lang="en-US" dirty="0"/>
              <a:t>.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The </a:t>
            </a:r>
            <a:r>
              <a:rPr lang="en-US" b="1" dirty="0">
                <a:solidFill>
                  <a:srgbClr val="FF0000"/>
                </a:solidFill>
              </a:rPr>
              <a:t>previous pointer </a:t>
            </a:r>
            <a:r>
              <a:rPr lang="en-US" dirty="0"/>
              <a:t>set to </a:t>
            </a:r>
            <a:r>
              <a:rPr lang="en-US" b="1" dirty="0">
                <a:solidFill>
                  <a:srgbClr val="FF0000"/>
                </a:solidFill>
              </a:rPr>
              <a:t>null</a:t>
            </a:r>
            <a:r>
              <a:rPr lang="en-US" dirty="0"/>
              <a:t> indicates that this is the</a:t>
            </a:r>
            <a:r>
              <a:rPr lang="en-US" b="1" dirty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first node in the doubly </a:t>
            </a:r>
            <a:r>
              <a:rPr lang="en-US" b="1" dirty="0">
                <a:solidFill>
                  <a:srgbClr val="FF0000"/>
                </a:solidFill>
              </a:rPr>
              <a:t>linked list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 smtClean="0"/>
              <a:t>On the other side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the </a:t>
            </a:r>
            <a:r>
              <a:rPr lang="en-US" b="1" dirty="0" smtClean="0">
                <a:solidFill>
                  <a:srgbClr val="FF0000"/>
                </a:solidFill>
              </a:rPr>
              <a:t>next pointer set to null </a:t>
            </a:r>
            <a:r>
              <a:rPr lang="en-US" dirty="0" smtClean="0"/>
              <a:t>indicates </a:t>
            </a:r>
            <a:r>
              <a:rPr lang="en-US" b="1" dirty="0" smtClean="0">
                <a:solidFill>
                  <a:srgbClr val="FF0000"/>
                </a:solidFill>
              </a:rPr>
              <a:t>the node is the last node.</a:t>
            </a:r>
            <a:endParaRPr lang="en-ZA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536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6" y="383177"/>
            <a:ext cx="10961914" cy="5793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As each node has pointers pointing to the </a:t>
            </a:r>
            <a:r>
              <a:rPr lang="en-US" b="1" dirty="0">
                <a:solidFill>
                  <a:srgbClr val="FF0000"/>
                </a:solidFill>
              </a:rPr>
              <a:t>previous and next nodes</a:t>
            </a:r>
            <a:r>
              <a:rPr lang="en-US" dirty="0" smtClean="0"/>
              <a:t>,</a:t>
            </a:r>
          </a:p>
          <a:p>
            <a:pPr marL="914400" lvl="2" indent="0">
              <a:buNone/>
            </a:pPr>
            <a:r>
              <a:rPr lang="en-US" dirty="0" smtClean="0"/>
              <a:t> </a:t>
            </a:r>
            <a:r>
              <a:rPr lang="en-US" dirty="0"/>
              <a:t>the doubly linked list can be traversed easily in </a:t>
            </a:r>
            <a:r>
              <a:rPr lang="en-US" b="1" dirty="0">
                <a:solidFill>
                  <a:srgbClr val="FF0000"/>
                </a:solidFill>
              </a:rPr>
              <a:t>forward as well as backward </a:t>
            </a:r>
            <a:r>
              <a:rPr lang="en-US" b="1" dirty="0" smtClean="0">
                <a:solidFill>
                  <a:srgbClr val="FF0000"/>
                </a:solidFill>
              </a:rPr>
              <a:t>direction.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You can quickly </a:t>
            </a:r>
            <a:r>
              <a:rPr lang="en-US" b="1" dirty="0"/>
              <a:t>add the new node </a:t>
            </a:r>
            <a:r>
              <a:rPr lang="en-US" dirty="0"/>
              <a:t>just by </a:t>
            </a:r>
            <a:r>
              <a:rPr lang="en-US" b="1" dirty="0">
                <a:solidFill>
                  <a:srgbClr val="FF0000"/>
                </a:solidFill>
              </a:rPr>
              <a:t>changing the pointers.</a:t>
            </a:r>
          </a:p>
          <a:p>
            <a:r>
              <a:rPr lang="en-US" b="1" dirty="0"/>
              <a:t>Similarly, </a:t>
            </a:r>
            <a:endParaRPr lang="en-US" b="1" dirty="0" smtClean="0"/>
          </a:p>
          <a:p>
            <a:pPr marL="914400" lvl="2" indent="0">
              <a:buNone/>
            </a:pPr>
            <a:r>
              <a:rPr lang="en-US" dirty="0"/>
              <a:t>F</a:t>
            </a:r>
            <a:r>
              <a:rPr lang="en-US" dirty="0" smtClean="0"/>
              <a:t>or </a:t>
            </a:r>
            <a:r>
              <a:rPr lang="en-US" dirty="0"/>
              <a:t>delete </a:t>
            </a:r>
            <a:r>
              <a:rPr lang="en-US" dirty="0" smtClean="0"/>
              <a:t>operation</a:t>
            </a:r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/>
              <a:t>since we have previous as well as next pointers</a:t>
            </a:r>
            <a:r>
              <a:rPr lang="en-US" dirty="0" smtClean="0"/>
              <a:t>,</a:t>
            </a:r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/>
              <a:t>the deletion is easier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And </a:t>
            </a:r>
            <a:r>
              <a:rPr lang="en-US" dirty="0"/>
              <a:t>we need not traverse the whole list to find the previous node as in </a:t>
            </a:r>
            <a:r>
              <a:rPr lang="en-US" dirty="0" smtClean="0"/>
              <a:t>case </a:t>
            </a:r>
            <a:r>
              <a:rPr lang="en-US" dirty="0"/>
              <a:t>of the </a:t>
            </a:r>
            <a:r>
              <a:rPr lang="en-US" b="1" dirty="0">
                <a:solidFill>
                  <a:srgbClr val="FF0000"/>
                </a:solidFill>
              </a:rPr>
              <a:t>singly linked list</a:t>
            </a:r>
            <a:r>
              <a:rPr lang="en-US" b="1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6786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217" y="391886"/>
            <a:ext cx="11031583" cy="5785077"/>
          </a:xfrm>
        </p:spPr>
        <p:txBody>
          <a:bodyPr/>
          <a:lstStyle/>
          <a:p>
            <a:r>
              <a:rPr lang="en-US" dirty="0" smtClean="0"/>
              <a:t>Note:</a:t>
            </a:r>
          </a:p>
          <a:p>
            <a:pPr marL="457200" lvl="1" indent="0">
              <a:buNone/>
            </a:pPr>
            <a:r>
              <a:rPr lang="en-US" dirty="0" smtClean="0"/>
              <a:t>In </a:t>
            </a:r>
            <a:r>
              <a:rPr lang="en-US" dirty="0"/>
              <a:t>singly linked list,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to </a:t>
            </a:r>
            <a:r>
              <a:rPr lang="en-US" dirty="0"/>
              <a:t>delete a node, </a:t>
            </a:r>
            <a:r>
              <a:rPr lang="en-US" dirty="0" smtClean="0"/>
              <a:t>pointer </a:t>
            </a:r>
            <a:r>
              <a:rPr lang="en-US" dirty="0"/>
              <a:t>to the previous node is needed</a:t>
            </a:r>
            <a:r>
              <a:rPr lang="en-US" dirty="0" smtClean="0"/>
              <a:t>.</a:t>
            </a:r>
          </a:p>
          <a:p>
            <a:pPr marL="914400" lvl="2" indent="0">
              <a:buNone/>
            </a:pPr>
            <a:r>
              <a:rPr lang="en-US" dirty="0" smtClean="0"/>
              <a:t> </a:t>
            </a:r>
            <a:r>
              <a:rPr lang="en-US" dirty="0"/>
              <a:t>To get this previous node, sometimes </a:t>
            </a:r>
            <a:r>
              <a:rPr lang="en-US" b="1" dirty="0">
                <a:solidFill>
                  <a:srgbClr val="FF0000"/>
                </a:solidFill>
              </a:rPr>
              <a:t>the list is traversed</a:t>
            </a:r>
            <a:r>
              <a:rPr lang="en-US" dirty="0" smtClean="0"/>
              <a:t>.</a:t>
            </a:r>
          </a:p>
          <a:p>
            <a:pPr marL="914400" lvl="2" indent="0">
              <a:buNone/>
            </a:pPr>
            <a:r>
              <a:rPr lang="en-US" dirty="0" smtClean="0"/>
              <a:t> </a:t>
            </a:r>
            <a:r>
              <a:rPr lang="en-US" dirty="0"/>
              <a:t>In DLL, we can get the previous node </a:t>
            </a:r>
            <a:r>
              <a:rPr lang="en-US" b="1" dirty="0">
                <a:solidFill>
                  <a:srgbClr val="FF0000"/>
                </a:solidFill>
              </a:rPr>
              <a:t>using previous pointer</a:t>
            </a:r>
            <a:r>
              <a:rPr lang="en-US" dirty="0"/>
              <a:t>. </a:t>
            </a:r>
            <a:r>
              <a:rPr lang="en-US" dirty="0"/>
              <a:t/>
            </a:r>
            <a:br>
              <a:rPr lang="en-US" dirty="0"/>
            </a:b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53211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505" y="402672"/>
            <a:ext cx="11387775" cy="60387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Disadvantages</a:t>
            </a:r>
          </a:p>
          <a:p>
            <a:pPr marL="914400" lvl="2" indent="0">
              <a:buNone/>
            </a:pPr>
            <a:r>
              <a:rPr lang="en-US" dirty="0"/>
              <a:t>Since </a:t>
            </a:r>
            <a:r>
              <a:rPr lang="en-US" dirty="0" smtClean="0"/>
              <a:t>there is:</a:t>
            </a:r>
          </a:p>
          <a:p>
            <a:pPr marL="914400" lvl="2" indent="0">
              <a:buNone/>
            </a:pPr>
            <a:r>
              <a:rPr lang="en-US" dirty="0" smtClean="0"/>
              <a:t>An </a:t>
            </a:r>
            <a:r>
              <a:rPr lang="en-US" dirty="0"/>
              <a:t>extra pointer in the doubly linked list i.e. </a:t>
            </a:r>
            <a:endParaRPr lang="en-US" dirty="0" smtClean="0"/>
          </a:p>
          <a:p>
            <a:pPr marL="1371600" lvl="3" indent="0">
              <a:buNone/>
            </a:pPr>
            <a:r>
              <a:rPr lang="en-US" dirty="0" smtClean="0"/>
              <a:t>the </a:t>
            </a:r>
            <a:r>
              <a:rPr lang="en-US" b="1" dirty="0">
                <a:solidFill>
                  <a:srgbClr val="FF0000"/>
                </a:solidFill>
              </a:rPr>
              <a:t>previous </a:t>
            </a:r>
            <a:r>
              <a:rPr lang="en-US" b="1" dirty="0" smtClean="0">
                <a:solidFill>
                  <a:srgbClr val="FF0000"/>
                </a:solidFill>
              </a:rPr>
              <a:t>pointer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additional </a:t>
            </a:r>
            <a:r>
              <a:rPr lang="en-US" b="1" dirty="0">
                <a:solidFill>
                  <a:srgbClr val="FF0000"/>
                </a:solidFill>
              </a:rPr>
              <a:t>memory space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is required to store this pointer </a:t>
            </a: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371600" lvl="3" indent="0">
              <a:buNone/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As well as the </a:t>
            </a:r>
            <a:r>
              <a:rPr lang="en-US" b="1" dirty="0" smtClean="0">
                <a:solidFill>
                  <a:srgbClr val="FF0000"/>
                </a:solidFill>
              </a:rPr>
              <a:t>next </a:t>
            </a:r>
            <a:r>
              <a:rPr lang="en-US" b="1" dirty="0">
                <a:solidFill>
                  <a:srgbClr val="FF0000"/>
                </a:solidFill>
              </a:rPr>
              <a:t>pointer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1371600" lvl="3" indent="0">
              <a:buNone/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nd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data item.</a:t>
            </a:r>
          </a:p>
          <a:p>
            <a:pPr marL="914400" lvl="2" indent="0">
              <a:buNone/>
            </a:pPr>
            <a:r>
              <a:rPr lang="en-US" dirty="0"/>
              <a:t>All the operations like </a:t>
            </a:r>
            <a:r>
              <a:rPr lang="en-US" dirty="0" smtClean="0"/>
              <a:t>:</a:t>
            </a:r>
          </a:p>
          <a:p>
            <a:pPr marL="1371600" lvl="3" indent="0">
              <a:buNone/>
            </a:pPr>
            <a:r>
              <a:rPr lang="en-US" dirty="0" smtClean="0"/>
              <a:t>addition</a:t>
            </a:r>
            <a:r>
              <a:rPr lang="en-US" dirty="0"/>
              <a:t>, deletion, etc. require that both previous and next pointers are </a:t>
            </a:r>
            <a:r>
              <a:rPr lang="en-US" b="1" dirty="0">
                <a:solidFill>
                  <a:srgbClr val="FF0000"/>
                </a:solidFill>
              </a:rPr>
              <a:t>manipulated</a:t>
            </a:r>
            <a:r>
              <a:rPr lang="en-US" b="1" dirty="0"/>
              <a:t> </a:t>
            </a:r>
            <a:r>
              <a:rPr lang="en-US" dirty="0"/>
              <a:t>thus imposing operational overhead</a:t>
            </a:r>
            <a:r>
              <a:rPr lang="en-US" dirty="0" smtClean="0"/>
              <a:t>.</a:t>
            </a:r>
          </a:p>
          <a:p>
            <a:pPr marL="1371600" lvl="3" indent="0">
              <a:buNone/>
            </a:pPr>
            <a:r>
              <a:rPr lang="en-US" dirty="0" smtClean="0"/>
              <a:t>In actual sense ,</a:t>
            </a:r>
            <a:r>
              <a:rPr lang="en-US" dirty="0"/>
              <a:t> </a:t>
            </a:r>
            <a:r>
              <a:rPr lang="en-US" dirty="0" smtClean="0"/>
              <a:t>carrying out the above two operations:</a:t>
            </a:r>
          </a:p>
          <a:p>
            <a:pPr marL="1371600" lvl="3" indent="0">
              <a:buNone/>
            </a:pPr>
            <a:r>
              <a:rPr lang="en-US" dirty="0"/>
              <a:t> </a:t>
            </a:r>
            <a:r>
              <a:rPr lang="en-US" dirty="0" smtClean="0"/>
              <a:t>     take </a:t>
            </a:r>
            <a:r>
              <a:rPr lang="en-US" dirty="0"/>
              <a:t>more time than linear linked list because more pointer operations are required than linear linked list.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77322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137" y="252549"/>
            <a:ext cx="10909663" cy="5924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Implementation In Java</a:t>
            </a:r>
          </a:p>
          <a:p>
            <a:pPr marL="457200" lvl="1" indent="0">
              <a:buNone/>
            </a:pPr>
            <a:r>
              <a:rPr lang="en-US" dirty="0"/>
              <a:t>The implementation of doubly linked list in Java comprises of creating </a:t>
            </a:r>
            <a:endParaRPr lang="en-US" dirty="0" smtClean="0"/>
          </a:p>
          <a:p>
            <a:pPr marL="457200" lvl="1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doubly-linked list class</a:t>
            </a:r>
            <a:r>
              <a:rPr lang="en-US" dirty="0"/>
              <a:t>,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the </a:t>
            </a:r>
            <a:r>
              <a:rPr lang="en-US" b="1" dirty="0">
                <a:solidFill>
                  <a:srgbClr val="FF0000"/>
                </a:solidFill>
              </a:rPr>
              <a:t>node class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 smtClean="0"/>
              <a:t>and </a:t>
            </a:r>
            <a:r>
              <a:rPr lang="en-US" b="1" dirty="0">
                <a:solidFill>
                  <a:srgbClr val="FF0000"/>
                </a:solidFill>
              </a:rPr>
              <a:t>adding nodes to the doubly linked </a:t>
            </a:r>
            <a:r>
              <a:rPr lang="en-US" b="1" dirty="0" smtClean="0">
                <a:solidFill>
                  <a:srgbClr val="FF0000"/>
                </a:solidFill>
              </a:rPr>
              <a:t>list.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The addition of new nodes is usually done at the end of the list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8039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Memory Representation</a:t>
            </a:r>
          </a:p>
          <a:p>
            <a:pPr marL="0" indent="0">
              <a:buNone/>
            </a:pPr>
            <a:r>
              <a:rPr lang="en-US" dirty="0"/>
              <a:t>A doubly linked list is maintained using linear arrays in the memory the same as a single linked list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exception</a:t>
            </a:r>
          </a:p>
          <a:p>
            <a:pPr marL="0" indent="0">
              <a:buNone/>
            </a:pPr>
            <a:r>
              <a:rPr lang="en-US" dirty="0" smtClean="0"/>
              <a:t>  Doubly linked list requires </a:t>
            </a:r>
            <a:r>
              <a:rPr lang="en-US" b="1" dirty="0"/>
              <a:t>FIRST and LAST </a:t>
            </a:r>
            <a:r>
              <a:rPr lang="en-US" dirty="0"/>
              <a:t>both pointer variables and one more pointer field in the node PREV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However </a:t>
            </a:r>
            <a:r>
              <a:rPr lang="en-US" dirty="0"/>
              <a:t>the list for </a:t>
            </a:r>
            <a:r>
              <a:rPr lang="en-US" b="1" dirty="0"/>
              <a:t>available space </a:t>
            </a:r>
            <a:r>
              <a:rPr lang="en-US" dirty="0"/>
              <a:t>in the list is represented in the same manner.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83390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558800"/>
            <a:ext cx="10835640" cy="56181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class </a:t>
            </a:r>
            <a:r>
              <a:rPr lang="en-US" dirty="0" err="1">
                <a:solidFill>
                  <a:srgbClr val="FF0000"/>
                </a:solidFill>
              </a:rPr>
              <a:t>DoublyLinkedList</a:t>
            </a:r>
            <a:r>
              <a:rPr lang="en-US" dirty="0">
                <a:solidFill>
                  <a:srgbClr val="FF0000"/>
                </a:solidFill>
              </a:rPr>
              <a:t> {    </a:t>
            </a:r>
          </a:p>
          <a:p>
            <a:pPr marL="0" indent="0">
              <a:buNone/>
            </a:pPr>
            <a:r>
              <a:rPr lang="en-US" dirty="0"/>
              <a:t>    //A node class for doubly linked list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class Node{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</a:t>
            </a:r>
            <a:r>
              <a:rPr lang="en-US" dirty="0" smtClean="0">
                <a:solidFill>
                  <a:srgbClr val="FF0000"/>
                </a:solidFill>
              </a:rPr>
              <a:t>String data;  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Node previous;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Node next; 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// create the constructor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public </a:t>
            </a:r>
            <a:r>
              <a:rPr lang="en-US" dirty="0" smtClean="0">
                <a:solidFill>
                  <a:srgbClr val="FF0000"/>
                </a:solidFill>
              </a:rPr>
              <a:t>Node(String </a:t>
            </a:r>
            <a:r>
              <a:rPr lang="en-US" dirty="0">
                <a:solidFill>
                  <a:srgbClr val="FF0000"/>
                </a:solidFill>
              </a:rPr>
              <a:t>item) {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</a:t>
            </a:r>
            <a:r>
              <a:rPr lang="en-US" dirty="0" err="1">
                <a:solidFill>
                  <a:srgbClr val="FF0000"/>
                </a:solidFill>
              </a:rPr>
              <a:t>this.item</a:t>
            </a:r>
            <a:r>
              <a:rPr lang="en-US" dirty="0">
                <a:solidFill>
                  <a:srgbClr val="FF0000"/>
                </a:solidFill>
              </a:rPr>
              <a:t> = item;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}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} 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620" y="1857856"/>
            <a:ext cx="6588180" cy="14949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61200" y="2063930"/>
            <a:ext cx="2265680" cy="1075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</a:t>
            </a:r>
            <a:endParaRPr lang="en-ZA" dirty="0"/>
          </a:p>
        </p:txBody>
      </p:sp>
      <p:sp>
        <p:nvSpPr>
          <p:cNvPr id="7" name="Rectangle 6"/>
          <p:cNvSpPr/>
          <p:nvPr/>
        </p:nvSpPr>
        <p:spPr>
          <a:xfrm>
            <a:off x="5852160" y="2082086"/>
            <a:ext cx="1209040" cy="1057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Prev</a:t>
            </a:r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9326880" y="2103833"/>
            <a:ext cx="1016000" cy="1024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38894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283" y="184558"/>
            <a:ext cx="10959517" cy="5992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Inserting the  </a:t>
            </a:r>
            <a:r>
              <a:rPr lang="en-US" b="1" dirty="0">
                <a:solidFill>
                  <a:srgbClr val="FF0000"/>
                </a:solidFill>
              </a:rPr>
              <a:t>a </a:t>
            </a:r>
            <a:r>
              <a:rPr lang="en-US" b="1" dirty="0" smtClean="0">
                <a:solidFill>
                  <a:srgbClr val="FF0000"/>
                </a:solidFill>
              </a:rPr>
              <a:t>new node at the end </a:t>
            </a:r>
            <a:r>
              <a:rPr lang="en-US" b="1" dirty="0">
                <a:solidFill>
                  <a:srgbClr val="FF0000"/>
                </a:solidFill>
              </a:rPr>
              <a:t>of the </a:t>
            </a:r>
            <a:r>
              <a:rPr lang="en-US" b="1" dirty="0" smtClean="0">
                <a:solidFill>
                  <a:srgbClr val="FF0000"/>
                </a:solidFill>
              </a:rPr>
              <a:t>Doubly Linked List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ZA" dirty="0" smtClean="0"/>
              <a:t>The algorithm</a:t>
            </a:r>
          </a:p>
          <a:p>
            <a:pPr marL="914400" lvl="2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Define a method called </a:t>
            </a:r>
            <a:r>
              <a:rPr lang="en-US" b="1" dirty="0" err="1" smtClean="0">
                <a:solidFill>
                  <a:srgbClr val="FF0000"/>
                </a:solidFill>
              </a:rPr>
              <a:t>addAtEnd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US" dirty="0" smtClean="0"/>
              <a:t>Add node to the list,</a:t>
            </a:r>
          </a:p>
          <a:p>
            <a:pPr marL="914400" lvl="2" indent="0">
              <a:buNone/>
            </a:pPr>
            <a:r>
              <a:rPr lang="en-US" dirty="0" smtClean="0"/>
              <a:t>first </a:t>
            </a:r>
            <a:r>
              <a:rPr lang="en-US" dirty="0" smtClean="0"/>
              <a:t>check whether </a:t>
            </a: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head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/>
              <a:t>null, </a:t>
            </a:r>
            <a:endParaRPr lang="en-US" b="1" dirty="0" smtClean="0"/>
          </a:p>
          <a:p>
            <a:pPr marL="1828800" lvl="4" indent="0">
              <a:buNone/>
            </a:pPr>
            <a:r>
              <a:rPr lang="en-US" dirty="0" smtClean="0"/>
              <a:t>then </a:t>
            </a:r>
            <a:r>
              <a:rPr lang="en-US" dirty="0"/>
              <a:t>it will insert the node as the </a:t>
            </a:r>
            <a:r>
              <a:rPr lang="en-US" b="1" dirty="0">
                <a:solidFill>
                  <a:srgbClr val="FF0000"/>
                </a:solidFill>
              </a:rPr>
              <a:t>head.</a:t>
            </a:r>
          </a:p>
          <a:p>
            <a:pPr marL="914400" lvl="2" indent="0">
              <a:buNone/>
            </a:pPr>
            <a:r>
              <a:rPr lang="en-US" dirty="0"/>
              <a:t>Both </a:t>
            </a:r>
            <a:r>
              <a:rPr lang="en-US" b="1" dirty="0">
                <a:solidFill>
                  <a:srgbClr val="FF0000"/>
                </a:solidFill>
              </a:rPr>
              <a:t>head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tail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/>
              <a:t>:</a:t>
            </a:r>
          </a:p>
          <a:p>
            <a:pPr marL="1371600" lvl="3" indent="0">
              <a:buNone/>
            </a:pPr>
            <a:r>
              <a:rPr lang="en-US" dirty="0" smtClean="0"/>
              <a:t>will </a:t>
            </a:r>
            <a:r>
              <a:rPr lang="en-US" dirty="0"/>
              <a:t>point to a newly </a:t>
            </a:r>
            <a:r>
              <a:rPr lang="en-US" b="1" dirty="0">
                <a:solidFill>
                  <a:srgbClr val="FF0000"/>
                </a:solidFill>
              </a:rPr>
              <a:t>added node</a:t>
            </a:r>
            <a:r>
              <a:rPr lang="en-US" dirty="0"/>
              <a:t>.</a:t>
            </a:r>
          </a:p>
          <a:p>
            <a:pPr marL="914400" lvl="2" indent="0">
              <a:buNone/>
            </a:pPr>
            <a:r>
              <a:rPr lang="en-US" dirty="0"/>
              <a:t>Head's previous </a:t>
            </a:r>
            <a:r>
              <a:rPr lang="en-US" dirty="0" smtClean="0"/>
              <a:t>pointer:</a:t>
            </a:r>
          </a:p>
          <a:p>
            <a:pPr marL="1828800" lvl="4" indent="0">
              <a:buNone/>
            </a:pPr>
            <a:r>
              <a:rPr lang="en-US" dirty="0" smtClean="0"/>
              <a:t> </a:t>
            </a:r>
            <a:r>
              <a:rPr lang="en-US" dirty="0"/>
              <a:t>will </a:t>
            </a:r>
            <a:r>
              <a:rPr lang="en-US" b="1" dirty="0">
                <a:solidFill>
                  <a:srgbClr val="FF0000"/>
                </a:solidFill>
              </a:rPr>
              <a:t>point to null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1828800" lvl="4" indent="0">
              <a:buNone/>
            </a:pPr>
            <a:r>
              <a:rPr lang="en-US" dirty="0"/>
              <a:t>A</a:t>
            </a:r>
            <a:r>
              <a:rPr lang="en-US" dirty="0" smtClean="0"/>
              <a:t>nd </a:t>
            </a:r>
            <a:r>
              <a:rPr lang="en-US" dirty="0"/>
              <a:t>tail's </a:t>
            </a:r>
            <a:r>
              <a:rPr lang="en-US" b="1" dirty="0">
                <a:solidFill>
                  <a:srgbClr val="FF0000"/>
                </a:solidFill>
              </a:rPr>
              <a:t>next pointer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will point to </a:t>
            </a:r>
            <a:r>
              <a:rPr lang="en-US" b="1" dirty="0">
                <a:solidFill>
                  <a:srgbClr val="FF0000"/>
                </a:solidFill>
              </a:rPr>
              <a:t>null.</a:t>
            </a:r>
          </a:p>
          <a:p>
            <a:pPr marL="914400" lvl="2" indent="0">
              <a:buNone/>
            </a:pPr>
            <a:r>
              <a:rPr lang="en-US" dirty="0"/>
              <a:t>If the </a:t>
            </a:r>
            <a:r>
              <a:rPr lang="en-US" b="1" dirty="0">
                <a:solidFill>
                  <a:srgbClr val="FF0000"/>
                </a:solidFill>
              </a:rPr>
              <a:t>head</a:t>
            </a:r>
            <a:r>
              <a:rPr lang="en-US" dirty="0"/>
              <a:t> is not </a:t>
            </a:r>
            <a:r>
              <a:rPr lang="en-US" b="1" dirty="0">
                <a:solidFill>
                  <a:srgbClr val="FF0000"/>
                </a:solidFill>
              </a:rPr>
              <a:t>null</a:t>
            </a:r>
            <a:r>
              <a:rPr lang="en-US" dirty="0">
                <a:solidFill>
                  <a:srgbClr val="FF0000"/>
                </a:solidFill>
              </a:rPr>
              <a:t>, </a:t>
            </a:r>
            <a:endParaRPr lang="en-US" dirty="0" smtClean="0">
              <a:solidFill>
                <a:srgbClr val="FF0000"/>
              </a:solidFill>
            </a:endParaRPr>
          </a:p>
          <a:p>
            <a:pPr marL="1371600" lvl="3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insert</a:t>
            </a:r>
            <a:r>
              <a:rPr lang="en-US" dirty="0" smtClean="0"/>
              <a:t> the new node at </a:t>
            </a: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end of the list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1828800" lvl="4" indent="0">
              <a:buNone/>
            </a:pPr>
            <a:r>
              <a:rPr lang="en-US" dirty="0" smtClean="0"/>
              <a:t>Then make the </a:t>
            </a:r>
            <a:r>
              <a:rPr lang="en-US" b="1" dirty="0" smtClean="0">
                <a:solidFill>
                  <a:srgbClr val="FF0000"/>
                </a:solidFill>
              </a:rPr>
              <a:t>new </a:t>
            </a:r>
            <a:r>
              <a:rPr lang="en-US" b="1" dirty="0">
                <a:solidFill>
                  <a:srgbClr val="FF0000"/>
                </a:solidFill>
              </a:rPr>
              <a:t>node's previous pointer </a:t>
            </a:r>
            <a:r>
              <a:rPr lang="en-US" dirty="0" smtClean="0"/>
              <a:t>to </a:t>
            </a:r>
            <a:r>
              <a:rPr lang="en-US" dirty="0"/>
              <a:t>point to </a:t>
            </a:r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tail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2286000" lvl="5" indent="0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new node </a:t>
            </a:r>
            <a:r>
              <a:rPr lang="en-US" dirty="0"/>
              <a:t>will become the </a:t>
            </a:r>
            <a:r>
              <a:rPr lang="en-US" b="1" dirty="0">
                <a:solidFill>
                  <a:srgbClr val="FF0000"/>
                </a:solidFill>
              </a:rPr>
              <a:t>new tail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marL="2286000" lvl="5" indent="0">
              <a:buNone/>
            </a:pPr>
            <a:r>
              <a:rPr lang="en-US" dirty="0" smtClean="0"/>
              <a:t> </a:t>
            </a:r>
            <a:r>
              <a:rPr lang="en-US" dirty="0"/>
              <a:t>Tail's </a:t>
            </a:r>
            <a:r>
              <a:rPr lang="en-US" b="1" dirty="0">
                <a:solidFill>
                  <a:srgbClr val="FF0000"/>
                </a:solidFill>
              </a:rPr>
              <a:t>next pointer </a:t>
            </a:r>
            <a:r>
              <a:rPr lang="en-US" dirty="0"/>
              <a:t>will point to </a:t>
            </a:r>
            <a:r>
              <a:rPr lang="en-US" b="1" dirty="0">
                <a:solidFill>
                  <a:srgbClr val="FF0000"/>
                </a:solidFill>
              </a:rPr>
              <a:t>null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marL="2286000" lvl="5" indent="0">
              <a:buNone/>
            </a:pPr>
            <a:endParaRPr lang="en-US" dirty="0" smtClean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8140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505" y="394283"/>
            <a:ext cx="10976295" cy="578268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below diagram shows the addition of the new node at the end of the doubly linked list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452" y="1411398"/>
            <a:ext cx="6294584" cy="2803298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2758440" y="1946910"/>
            <a:ext cx="483870" cy="601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A</a:t>
            </a:r>
            <a:endParaRPr lang="en-ZA" sz="1000" dirty="0"/>
          </a:p>
        </p:txBody>
      </p:sp>
      <p:sp>
        <p:nvSpPr>
          <p:cNvPr id="10" name="Rectangle 9"/>
          <p:cNvSpPr/>
          <p:nvPr/>
        </p:nvSpPr>
        <p:spPr>
          <a:xfrm>
            <a:off x="4305300" y="1946910"/>
            <a:ext cx="483870" cy="601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B</a:t>
            </a:r>
            <a:endParaRPr lang="en-ZA" sz="1000" dirty="0"/>
          </a:p>
        </p:txBody>
      </p:sp>
      <p:sp>
        <p:nvSpPr>
          <p:cNvPr id="11" name="Rectangle 10"/>
          <p:cNvSpPr/>
          <p:nvPr/>
        </p:nvSpPr>
        <p:spPr>
          <a:xfrm>
            <a:off x="7265670" y="3028950"/>
            <a:ext cx="483870" cy="617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E</a:t>
            </a:r>
            <a:endParaRPr lang="en-ZA" sz="1000" dirty="0"/>
          </a:p>
        </p:txBody>
      </p:sp>
      <p:sp>
        <p:nvSpPr>
          <p:cNvPr id="12" name="Rectangle 11"/>
          <p:cNvSpPr/>
          <p:nvPr/>
        </p:nvSpPr>
        <p:spPr>
          <a:xfrm>
            <a:off x="5772150" y="1981200"/>
            <a:ext cx="483870" cy="601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C</a:t>
            </a:r>
            <a:endParaRPr lang="en-ZA" sz="1000" dirty="0"/>
          </a:p>
        </p:txBody>
      </p:sp>
      <p:sp>
        <p:nvSpPr>
          <p:cNvPr id="13" name="Rectangle 12"/>
          <p:cNvSpPr/>
          <p:nvPr/>
        </p:nvSpPr>
        <p:spPr>
          <a:xfrm>
            <a:off x="7197090" y="1981200"/>
            <a:ext cx="525780" cy="601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D</a:t>
            </a:r>
            <a:endParaRPr lang="en-ZA" sz="1000" dirty="0"/>
          </a:p>
        </p:txBody>
      </p:sp>
    </p:spTree>
    <p:extLst>
      <p:ext uri="{BB962C8B-B14F-4D97-AF65-F5344CB8AC3E}">
        <p14:creationId xmlns:p14="http://schemas.microsoft.com/office/powerpoint/2010/main" val="732364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423" y="191589"/>
            <a:ext cx="11127377" cy="5985374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Insert a node at a particular </a:t>
            </a:r>
            <a:r>
              <a:rPr lang="en-ZA" dirty="0" smtClean="0"/>
              <a:t>position</a:t>
            </a:r>
          </a:p>
          <a:p>
            <a:pPr marL="0" indent="0">
              <a:buNone/>
            </a:pPr>
            <a:r>
              <a:rPr lang="en-US" dirty="0" smtClean="0"/>
              <a:t>Algorithm: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A</a:t>
            </a: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 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new node with given element is created</a:t>
            </a: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.</a:t>
            </a:r>
          </a:p>
          <a:p>
            <a:pPr marL="914400" lvl="2" indent="0">
              <a:buNone/>
            </a:pP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 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If the insert position is 1</a:t>
            </a: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,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 </a:t>
            </a: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    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then the new node is made to head. </a:t>
            </a:r>
            <a:endParaRPr lang="en-US" dirty="0" smtClean="0">
              <a:solidFill>
                <a:srgbClr val="212529"/>
              </a:solidFill>
              <a:latin typeface="helvetica" panose="020B0604020202020204" pitchFamily="34" charset="0"/>
            </a:endParaRPr>
          </a:p>
          <a:p>
            <a:pPr marL="914400" lvl="2" indent="0">
              <a:buNone/>
            </a:pP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Otherwise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, </a:t>
            </a:r>
            <a:endParaRPr lang="en-US" dirty="0" smtClean="0">
              <a:solidFill>
                <a:srgbClr val="212529"/>
              </a:solidFill>
              <a:latin typeface="helvetica" panose="020B0604020202020204" pitchFamily="34" charset="0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 </a:t>
            </a: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   </a:t>
            </a:r>
            <a:r>
              <a:rPr lang="en-US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traverse</a:t>
            </a: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 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to the node that is </a:t>
            </a:r>
            <a:r>
              <a:rPr lang="en-US" b="1" dirty="0">
                <a:solidFill>
                  <a:srgbClr val="FF0000"/>
                </a:solidFill>
                <a:latin typeface="helvetica" panose="020B0604020202020204" pitchFamily="34" charset="0"/>
              </a:rPr>
              <a:t>previous 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to the </a:t>
            </a:r>
            <a:r>
              <a:rPr lang="en-US" dirty="0">
                <a:solidFill>
                  <a:srgbClr val="FF0000"/>
                </a:solidFill>
                <a:latin typeface="helvetica" panose="020B0604020202020204" pitchFamily="34" charset="0"/>
              </a:rPr>
              <a:t>insert position </a:t>
            </a:r>
            <a:endParaRPr lang="en-US" dirty="0" smtClean="0">
              <a:solidFill>
                <a:srgbClr val="FF0000"/>
              </a:solidFill>
              <a:latin typeface="helvetica" panose="020B0604020202020204" pitchFamily="34" charset="0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 </a:t>
            </a: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      And 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check if it is </a:t>
            </a:r>
            <a:r>
              <a:rPr lang="en-US" dirty="0">
                <a:solidFill>
                  <a:srgbClr val="FF0000"/>
                </a:solidFill>
                <a:latin typeface="helvetica" panose="020B0604020202020204" pitchFamily="34" charset="0"/>
              </a:rPr>
              <a:t>null or not. </a:t>
            </a:r>
            <a:endParaRPr lang="en-US" dirty="0" smtClean="0">
              <a:solidFill>
                <a:srgbClr val="FF0000"/>
              </a:solidFill>
              <a:latin typeface="helvetica" panose="020B0604020202020204" pitchFamily="34" charset="0"/>
            </a:endParaRPr>
          </a:p>
          <a:p>
            <a:pPr marL="914400" lvl="2" indent="0">
              <a:buNone/>
            </a:pP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In 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case of null, </a:t>
            </a:r>
            <a:endParaRPr lang="en-US" dirty="0" smtClean="0">
              <a:solidFill>
                <a:srgbClr val="212529"/>
              </a:solidFill>
              <a:latin typeface="helvetica" panose="020B0604020202020204" pitchFamily="34" charset="0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 </a:t>
            </a: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       the 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specified position does not exist</a:t>
            </a: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.</a:t>
            </a:r>
          </a:p>
          <a:p>
            <a:pPr marL="914400" lvl="2" indent="0">
              <a:buNone/>
            </a:pPr>
            <a:r>
              <a:rPr lang="en-US" dirty="0" smtClean="0">
                <a:solidFill>
                  <a:srgbClr val="212529"/>
                </a:solidFill>
                <a:latin typeface="helvetica" panose="020B0604020202020204" pitchFamily="34" charset="0"/>
              </a:rPr>
              <a:t> 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In other case, </a:t>
            </a:r>
            <a:r>
              <a:rPr lang="en-US" b="1" dirty="0">
                <a:solidFill>
                  <a:srgbClr val="FF0000"/>
                </a:solidFill>
                <a:latin typeface="helvetica" panose="020B0604020202020204" pitchFamily="34" charset="0"/>
              </a:rPr>
              <a:t>update the links</a:t>
            </a:r>
            <a:r>
              <a:rPr lang="en-US" dirty="0">
                <a:solidFill>
                  <a:srgbClr val="212529"/>
                </a:solidFill>
                <a:latin typeface="helvetica" panose="020B0604020202020204" pitchFamily="34" charset="0"/>
              </a:rPr>
              <a:t>. 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98048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ubly Linked List - Add Node At E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085" y="1739108"/>
            <a:ext cx="7414903" cy="3078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689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461554"/>
            <a:ext cx="10927080" cy="5715409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 </a:t>
            </a:r>
            <a:r>
              <a:rPr lang="en-US" b="1" dirty="0"/>
              <a:t>How to </a:t>
            </a:r>
            <a:r>
              <a:rPr lang="en-US" b="1" dirty="0" smtClean="0"/>
              <a:t>Remove the first </a:t>
            </a:r>
            <a:r>
              <a:rPr lang="en-US" b="1" dirty="0"/>
              <a:t>node in a Doubly Linked List in </a:t>
            </a:r>
            <a:r>
              <a:rPr lang="en-US" b="1" dirty="0" smtClean="0"/>
              <a:t>Java</a:t>
            </a:r>
            <a:endParaRPr lang="en-US" sz="4800" dirty="0" smtClean="0"/>
          </a:p>
          <a:p>
            <a:pPr fontAlgn="base"/>
            <a:r>
              <a:rPr lang="en-US" b="1" dirty="0" smtClean="0"/>
              <a:t>The logic:</a:t>
            </a:r>
            <a:endParaRPr lang="en-US" sz="4000" dirty="0" smtClean="0"/>
          </a:p>
          <a:p>
            <a:pPr marL="914400" lvl="2" indent="0" fontAlgn="base">
              <a:buNone/>
            </a:pPr>
            <a:r>
              <a:rPr lang="en-US" sz="2800" dirty="0" smtClean="0"/>
              <a:t>if </a:t>
            </a:r>
            <a:r>
              <a:rPr lang="en-US" sz="2800" dirty="0"/>
              <a:t>List is Empty </a:t>
            </a:r>
            <a:endParaRPr lang="en-US" sz="2800" dirty="0" smtClean="0"/>
          </a:p>
          <a:p>
            <a:pPr marL="914400" lvl="2" indent="0" fontAlgn="base">
              <a:buNone/>
            </a:pPr>
            <a:r>
              <a:rPr lang="en-US" sz="2800" dirty="0" smtClean="0"/>
              <a:t>then </a:t>
            </a:r>
            <a:r>
              <a:rPr lang="en-US" sz="2800" dirty="0"/>
              <a:t>throws </a:t>
            </a:r>
            <a:r>
              <a:rPr lang="en-US" sz="2800" dirty="0" err="1"/>
              <a:t>NoSuchElementException</a:t>
            </a:r>
            <a:r>
              <a:rPr lang="en-US" sz="2800" dirty="0"/>
              <a:t> Exception</a:t>
            </a:r>
            <a:endParaRPr lang="en-US" sz="4800" dirty="0"/>
          </a:p>
          <a:p>
            <a:pPr marL="914400" lvl="2" indent="0" fontAlgn="base">
              <a:buNone/>
            </a:pPr>
            <a:r>
              <a:rPr lang="en-US" sz="2800" dirty="0"/>
              <a:t>if List is not empty </a:t>
            </a:r>
            <a:endParaRPr lang="en-US" sz="2800" dirty="0" smtClean="0"/>
          </a:p>
          <a:p>
            <a:pPr marL="914400" lvl="2" indent="0" fontAlgn="base">
              <a:buNone/>
            </a:pPr>
            <a:r>
              <a:rPr lang="en-US" sz="2800" dirty="0" smtClean="0"/>
              <a:t>then </a:t>
            </a:r>
          </a:p>
          <a:p>
            <a:pPr marL="914400" lvl="2" indent="0" fontAlgn="base">
              <a:buNone/>
            </a:pPr>
            <a:r>
              <a:rPr lang="en-US" sz="2800" dirty="0" smtClean="0"/>
              <a:t>head  assigns </a:t>
            </a:r>
            <a:r>
              <a:rPr lang="en-US" sz="2800" dirty="0"/>
              <a:t>to </a:t>
            </a:r>
            <a:r>
              <a:rPr lang="en-US" sz="2800" b="1" dirty="0">
                <a:solidFill>
                  <a:srgbClr val="FF0000"/>
                </a:solidFill>
              </a:rPr>
              <a:t>temp Node</a:t>
            </a:r>
            <a:r>
              <a:rPr lang="en-US" sz="2800" dirty="0"/>
              <a:t> </a:t>
            </a:r>
            <a:endParaRPr lang="en-US" sz="4800" dirty="0"/>
          </a:p>
          <a:p>
            <a:pPr marL="1371600" lvl="3" indent="0" fontAlgn="base">
              <a:buNone/>
            </a:pPr>
            <a:r>
              <a:rPr lang="en-US" sz="2400" dirty="0"/>
              <a:t>if  head ==  tail that means list has only one Node so </a:t>
            </a:r>
            <a:r>
              <a:rPr lang="en-US" sz="2400" dirty="0">
                <a:solidFill>
                  <a:srgbClr val="FF0000"/>
                </a:solidFill>
              </a:rPr>
              <a:t>nullify tail node</a:t>
            </a:r>
            <a:endParaRPr lang="en-US" sz="4000" dirty="0">
              <a:solidFill>
                <a:srgbClr val="FF0000"/>
              </a:solidFill>
            </a:endParaRPr>
          </a:p>
          <a:p>
            <a:pPr marL="1371600" lvl="3" indent="0" fontAlgn="base">
              <a:buNone/>
            </a:pPr>
            <a:r>
              <a:rPr lang="en-US" sz="2400" dirty="0"/>
              <a:t>if List has more than one Node then nullify </a:t>
            </a:r>
            <a:r>
              <a:rPr lang="en-US" sz="2400" dirty="0" err="1">
                <a:solidFill>
                  <a:srgbClr val="FF0000"/>
                </a:solidFill>
              </a:rPr>
              <a:t>head.next.previous</a:t>
            </a:r>
            <a:r>
              <a:rPr lang="en-US" sz="2400" dirty="0"/>
              <a:t> </a:t>
            </a:r>
            <a:endParaRPr lang="en-US" sz="2400" dirty="0" smtClean="0"/>
          </a:p>
          <a:p>
            <a:pPr marL="1371600" lvl="3" indent="0" fontAlgn="base">
              <a:buNone/>
            </a:pPr>
            <a:r>
              <a:rPr lang="en-US" sz="2400" dirty="0" smtClean="0"/>
              <a:t>so </a:t>
            </a:r>
            <a:r>
              <a:rPr lang="en-US" sz="2400" dirty="0"/>
              <a:t>that first’s node next and next Node’s previous pointer disconnects</a:t>
            </a:r>
            <a:r>
              <a:rPr lang="en-US" sz="2400" dirty="0" smtClean="0"/>
              <a:t>.</a:t>
            </a:r>
            <a:endParaRPr lang="en-US" sz="4000" dirty="0" smtClean="0"/>
          </a:p>
          <a:p>
            <a:pPr marL="914400" lvl="2" indent="0" fontAlgn="base">
              <a:buNone/>
            </a:pPr>
            <a:r>
              <a:rPr lang="en-US" sz="2800" dirty="0" smtClean="0"/>
              <a:t>      3.  Afterward, </a:t>
            </a:r>
          </a:p>
          <a:p>
            <a:pPr marL="914400" lvl="2" indent="0" fontAlgn="base">
              <a:buNone/>
            </a:pPr>
            <a:r>
              <a:rPr lang="en-US" sz="2800" dirty="0" smtClean="0"/>
              <a:t>           the </a:t>
            </a:r>
            <a:r>
              <a:rPr lang="en-US" sz="2800" dirty="0"/>
              <a:t>head’s move to the next pointer and temp’s next pointer nullify.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087103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Delete a node in a Doubly Linked List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821" y="1541417"/>
            <a:ext cx="10181346" cy="325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6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6565</TotalTime>
  <Words>1056</Words>
  <Application>Microsoft Office PowerPoint</Application>
  <PresentationFormat>Widescreen</PresentationFormat>
  <Paragraphs>141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helvetica</vt:lpstr>
      <vt:lpstr>Office Theme</vt:lpstr>
      <vt:lpstr>Second Part: Data Structure - Doubly Linked List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CPUT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- Doubly Linked List</dc:title>
  <dc:creator>Sammuel Nonelelo</dc:creator>
  <cp:lastModifiedBy>Sammuel Nonelelo</cp:lastModifiedBy>
  <cp:revision>75</cp:revision>
  <dcterms:created xsi:type="dcterms:W3CDTF">2021-03-22T10:22:23Z</dcterms:created>
  <dcterms:modified xsi:type="dcterms:W3CDTF">2021-04-13T08:51:52Z</dcterms:modified>
</cp:coreProperties>
</file>