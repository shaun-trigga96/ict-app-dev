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5" r:id="rId8"/>
    <p:sldId id="287" r:id="rId9"/>
    <p:sldId id="288" r:id="rId10"/>
    <p:sldId id="289" r:id="rId11"/>
    <p:sldId id="283" r:id="rId12"/>
    <p:sldId id="286" r:id="rId13"/>
    <p:sldId id="284" r:id="rId14"/>
    <p:sldId id="276" r:id="rId15"/>
    <p:sldId id="274" r:id="rId16"/>
    <p:sldId id="282" r:id="rId17"/>
    <p:sldId id="285" r:id="rId18"/>
    <p:sldId id="278" r:id="rId19"/>
    <p:sldId id="279" r:id="rId20"/>
    <p:sldId id="280" r:id="rId21"/>
    <p:sldId id="262" r:id="rId22"/>
    <p:sldId id="281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0355" autoAdjust="0"/>
    <p:restoredTop sz="94660"/>
  </p:normalViewPr>
  <p:slideViewPr>
    <p:cSldViewPr snapToGrid="0">
      <p:cViewPr varScale="1">
        <p:scale>
          <a:sx n="80" d="100"/>
          <a:sy n="80" d="100"/>
        </p:scale>
        <p:origin x="106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07BC8-3D9A-462D-8C60-CB8C70053F05}" type="datetimeFigureOut">
              <a:rPr lang="en-ZA" smtClean="0"/>
              <a:t>2021/04/14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75A43-3B0F-4E00-8207-FB166C823E6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7295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07BC8-3D9A-462D-8C60-CB8C70053F05}" type="datetimeFigureOut">
              <a:rPr lang="en-ZA" smtClean="0"/>
              <a:t>2021/04/14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75A43-3B0F-4E00-8207-FB166C823E6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68059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07BC8-3D9A-462D-8C60-CB8C70053F05}" type="datetimeFigureOut">
              <a:rPr lang="en-ZA" smtClean="0"/>
              <a:t>2021/04/14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75A43-3B0F-4E00-8207-FB166C823E6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15903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07BC8-3D9A-462D-8C60-CB8C70053F05}" type="datetimeFigureOut">
              <a:rPr lang="en-ZA" smtClean="0"/>
              <a:t>2021/04/14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75A43-3B0F-4E00-8207-FB166C823E6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97691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07BC8-3D9A-462D-8C60-CB8C70053F05}" type="datetimeFigureOut">
              <a:rPr lang="en-ZA" smtClean="0"/>
              <a:t>2021/04/14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75A43-3B0F-4E00-8207-FB166C823E6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74304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07BC8-3D9A-462D-8C60-CB8C70053F05}" type="datetimeFigureOut">
              <a:rPr lang="en-ZA" smtClean="0"/>
              <a:t>2021/04/14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75A43-3B0F-4E00-8207-FB166C823E6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84644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07BC8-3D9A-462D-8C60-CB8C70053F05}" type="datetimeFigureOut">
              <a:rPr lang="en-ZA" smtClean="0"/>
              <a:t>2021/04/14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75A43-3B0F-4E00-8207-FB166C823E6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88760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07BC8-3D9A-462D-8C60-CB8C70053F05}" type="datetimeFigureOut">
              <a:rPr lang="en-ZA" smtClean="0"/>
              <a:t>2021/04/14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75A43-3B0F-4E00-8207-FB166C823E6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01295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07BC8-3D9A-462D-8C60-CB8C70053F05}" type="datetimeFigureOut">
              <a:rPr lang="en-ZA" smtClean="0"/>
              <a:t>2021/04/14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75A43-3B0F-4E00-8207-FB166C823E6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85587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07BC8-3D9A-462D-8C60-CB8C70053F05}" type="datetimeFigureOut">
              <a:rPr lang="en-ZA" smtClean="0"/>
              <a:t>2021/04/14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75A43-3B0F-4E00-8207-FB166C823E6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16940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07BC8-3D9A-462D-8C60-CB8C70053F05}" type="datetimeFigureOut">
              <a:rPr lang="en-ZA" smtClean="0"/>
              <a:t>2021/04/14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75A43-3B0F-4E00-8207-FB166C823E6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82068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B07BC8-3D9A-462D-8C60-CB8C70053F05}" type="datetimeFigureOut">
              <a:rPr lang="en-ZA" smtClean="0"/>
              <a:t>2021/04/14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E75A43-3B0F-4E00-8207-FB166C823E6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61671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8286" y="493486"/>
            <a:ext cx="10479314" cy="3108552"/>
          </a:xfrm>
        </p:spPr>
        <p:txBody>
          <a:bodyPr>
            <a:normAutofit/>
          </a:bodyPr>
          <a:lstStyle/>
          <a:p>
            <a:r>
              <a:rPr lang="en-US" b="1" dirty="0" smtClean="0"/>
              <a:t>Introduction to Data Structures:</a:t>
            </a:r>
            <a:br>
              <a:rPr lang="en-US" b="1" dirty="0" smtClean="0"/>
            </a:br>
            <a:r>
              <a:rPr lang="en-ZA" b="1" dirty="0" smtClean="0">
                <a:solidFill>
                  <a:srgbClr val="FF0000"/>
                </a:solidFill>
              </a:rPr>
              <a:t>Circular </a:t>
            </a:r>
            <a:r>
              <a:rPr lang="en-ZA" b="1" dirty="0">
                <a:solidFill>
                  <a:srgbClr val="FF0000"/>
                </a:solidFill>
              </a:rPr>
              <a:t>Linked List</a:t>
            </a:r>
            <a:r>
              <a:rPr lang="en-ZA" dirty="0"/>
              <a:t/>
            </a:r>
            <a:br>
              <a:rPr lang="en-ZA" dirty="0"/>
            </a:br>
            <a:endParaRPr lang="en-Z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smtClean="0"/>
              <a:t>By Mr. Zukile  </a:t>
            </a:r>
            <a:r>
              <a:rPr lang="en-US" b="1" dirty="0"/>
              <a:t>N</a:t>
            </a:r>
            <a:r>
              <a:rPr lang="en-US" b="1" dirty="0" smtClean="0"/>
              <a:t>dyalivana</a:t>
            </a:r>
            <a:endParaRPr lang="en-ZA" b="1" dirty="0"/>
          </a:p>
        </p:txBody>
      </p:sp>
    </p:spTree>
    <p:extLst>
      <p:ext uri="{BB962C8B-B14F-4D97-AF65-F5344CB8AC3E}">
        <p14:creationId xmlns:p14="http://schemas.microsoft.com/office/powerpoint/2010/main" val="2982759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"/>
            <a:ext cx="12191999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Circular Linked List is little more </a:t>
            </a:r>
            <a:r>
              <a:rPr lang="en-US" b="1" dirty="0" smtClean="0">
                <a:solidFill>
                  <a:srgbClr val="FF0000"/>
                </a:solidFill>
              </a:rPr>
              <a:t>complicated </a:t>
            </a:r>
            <a:r>
              <a:rPr lang="en-US" b="1" dirty="0">
                <a:solidFill>
                  <a:srgbClr val="FF0000"/>
                </a:solidFill>
              </a:rPr>
              <a:t>linked data structure</a:t>
            </a:r>
            <a:r>
              <a:rPr lang="en-US" b="1" dirty="0" smtClean="0">
                <a:solidFill>
                  <a:srgbClr val="FF0000"/>
                </a:solidFill>
              </a:rPr>
              <a:t>.</a:t>
            </a:r>
          </a:p>
          <a:p>
            <a:r>
              <a:rPr lang="en-US" dirty="0" smtClean="0"/>
              <a:t> </a:t>
            </a:r>
            <a:r>
              <a:rPr lang="en-US" b="1" dirty="0"/>
              <a:t>In the circular linked </a:t>
            </a:r>
            <a:r>
              <a:rPr lang="en-US" b="1" dirty="0" smtClean="0"/>
              <a:t>list: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/>
              <a:t> </a:t>
            </a:r>
            <a:r>
              <a:rPr lang="en-US" dirty="0" smtClean="0"/>
              <a:t>  We </a:t>
            </a:r>
            <a:r>
              <a:rPr lang="en-US" dirty="0"/>
              <a:t>can insert elements </a:t>
            </a:r>
            <a:r>
              <a:rPr lang="en-US" b="1" dirty="0">
                <a:solidFill>
                  <a:srgbClr val="FF0000"/>
                </a:solidFill>
              </a:rPr>
              <a:t>anywhere</a:t>
            </a:r>
            <a:r>
              <a:rPr lang="en-US" dirty="0"/>
              <a:t> in the list </a:t>
            </a:r>
            <a:endParaRPr lang="en-US" dirty="0" smtClean="0"/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 smtClean="0"/>
              <a:t>   Whereas </a:t>
            </a:r>
            <a:r>
              <a:rPr lang="en-US" dirty="0"/>
              <a:t>in </a:t>
            </a:r>
            <a:r>
              <a:rPr lang="en-US" dirty="0" smtClean="0"/>
              <a:t>the 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array</a:t>
            </a:r>
            <a:r>
              <a:rPr lang="en-US" dirty="0" smtClean="0"/>
              <a:t>  for instance:</a:t>
            </a:r>
            <a:endParaRPr lang="en-US" dirty="0" smtClean="0"/>
          </a:p>
          <a:p>
            <a:pPr marL="914400" lvl="2" indent="0">
              <a:buNone/>
            </a:pPr>
            <a:r>
              <a:rPr lang="en-US" dirty="0" smtClean="0"/>
              <a:t> We </a:t>
            </a:r>
            <a:r>
              <a:rPr lang="en-US" dirty="0"/>
              <a:t>cannot insert </a:t>
            </a:r>
            <a:r>
              <a:rPr lang="en-US" dirty="0" smtClean="0"/>
              <a:t>elements </a:t>
            </a:r>
            <a:r>
              <a:rPr lang="en-US" dirty="0"/>
              <a:t>anywhere in the list because it is in </a:t>
            </a:r>
            <a:r>
              <a:rPr lang="en-US" dirty="0" smtClean="0"/>
              <a:t>the </a:t>
            </a:r>
            <a:r>
              <a:rPr lang="en-US" b="1" dirty="0" smtClean="0">
                <a:solidFill>
                  <a:srgbClr val="FF0000"/>
                </a:solidFill>
              </a:rPr>
              <a:t>contiguous memory</a:t>
            </a:r>
            <a:r>
              <a:rPr lang="en-US" dirty="0" smtClean="0"/>
              <a:t>.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b="1" dirty="0">
                <a:solidFill>
                  <a:srgbClr val="FF0000"/>
                </a:solidFill>
              </a:rPr>
              <a:t>In the circular linked list </a:t>
            </a:r>
            <a:r>
              <a:rPr lang="en-US" b="1" dirty="0" smtClean="0">
                <a:solidFill>
                  <a:srgbClr val="FF0000"/>
                </a:solidFill>
              </a:rPr>
              <a:t>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/>
              <a:t>T</a:t>
            </a:r>
            <a:r>
              <a:rPr lang="en-US" dirty="0" smtClean="0"/>
              <a:t>he </a:t>
            </a:r>
            <a:r>
              <a:rPr lang="en-US" dirty="0"/>
              <a:t>previous element stores the address of the next element </a:t>
            </a:r>
            <a:endParaRPr lang="en-US" dirty="0" smtClean="0"/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 smtClean="0"/>
              <a:t>And </a:t>
            </a:r>
            <a:r>
              <a:rPr lang="en-US" dirty="0"/>
              <a:t>the last element stores the address of the starting element. 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311379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 dirty="0" smtClean="0"/>
              <a:t>The elements </a:t>
            </a:r>
            <a:r>
              <a:rPr lang="en-US" dirty="0" smtClean="0"/>
              <a:t>point </a:t>
            </a:r>
            <a:r>
              <a:rPr lang="en-US" dirty="0" smtClean="0"/>
              <a:t>to each other in a </a:t>
            </a:r>
            <a:r>
              <a:rPr lang="en-US" b="1" dirty="0" smtClean="0">
                <a:solidFill>
                  <a:srgbClr val="FF0000"/>
                </a:solidFill>
              </a:rPr>
              <a:t>circular way </a:t>
            </a:r>
            <a:r>
              <a:rPr lang="en-US" dirty="0" smtClean="0"/>
              <a:t>which forms a </a:t>
            </a:r>
            <a:r>
              <a:rPr lang="en-US" b="1" dirty="0" smtClean="0">
                <a:solidFill>
                  <a:srgbClr val="FF0000"/>
                </a:solidFill>
              </a:rPr>
              <a:t>circular chain</a:t>
            </a:r>
            <a:r>
              <a:rPr lang="en-US" dirty="0" smtClean="0"/>
              <a:t>.</a:t>
            </a:r>
          </a:p>
          <a:p>
            <a:r>
              <a:rPr lang="en-US" dirty="0" smtClean="0"/>
              <a:t> The circular linked list has a </a:t>
            </a:r>
            <a:r>
              <a:rPr lang="en-US" b="1" dirty="0" smtClean="0">
                <a:solidFill>
                  <a:srgbClr val="00B0F0"/>
                </a:solidFill>
              </a:rPr>
              <a:t>dynamic size </a:t>
            </a:r>
          </a:p>
          <a:p>
            <a:pPr marL="457200" lvl="1" indent="0">
              <a:buNone/>
            </a:pPr>
            <a:r>
              <a:rPr lang="en-US" dirty="0" smtClean="0"/>
              <a:t>which means the memory can be allocated </a:t>
            </a:r>
            <a:r>
              <a:rPr lang="en-US" b="1" dirty="0" smtClean="0">
                <a:solidFill>
                  <a:srgbClr val="00B0F0"/>
                </a:solidFill>
              </a:rPr>
              <a:t>when it is required</a:t>
            </a:r>
            <a:r>
              <a:rPr lang="en-US" dirty="0" smtClean="0">
                <a:solidFill>
                  <a:srgbClr val="00B0F0"/>
                </a:solidFill>
              </a:rPr>
              <a:t>.</a:t>
            </a:r>
            <a:endParaRPr lang="en-ZA" dirty="0" smtClean="0">
              <a:solidFill>
                <a:srgbClr val="00B0F0"/>
              </a:solidFill>
            </a:endParaRP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436388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ircular Linked List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587" y="964733"/>
            <a:ext cx="11604767" cy="3481431"/>
          </a:xfrm>
          <a:prstGeom prst="rect">
            <a:avLst/>
          </a:prstGeom>
          <a:solidFill>
            <a:schemeClr val="accent2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8330268" y="1812023"/>
            <a:ext cx="947956" cy="69628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sp>
        <p:nvSpPr>
          <p:cNvPr id="5" name="Rectangle 4"/>
          <p:cNvSpPr/>
          <p:nvPr/>
        </p:nvSpPr>
        <p:spPr>
          <a:xfrm>
            <a:off x="4781725" y="1744910"/>
            <a:ext cx="1043643" cy="8179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6" name="Rectangle 5"/>
          <p:cNvSpPr/>
          <p:nvPr/>
        </p:nvSpPr>
        <p:spPr>
          <a:xfrm>
            <a:off x="8330268" y="1744910"/>
            <a:ext cx="1006614" cy="8053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" name="Rectangle 6"/>
          <p:cNvSpPr/>
          <p:nvPr/>
        </p:nvSpPr>
        <p:spPr>
          <a:xfrm>
            <a:off x="1719743" y="1744910"/>
            <a:ext cx="931178" cy="8053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8" name="Rectangle 7"/>
          <p:cNvSpPr/>
          <p:nvPr/>
        </p:nvSpPr>
        <p:spPr>
          <a:xfrm>
            <a:off x="830510" y="1744910"/>
            <a:ext cx="889233" cy="80534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</a:t>
            </a:r>
            <a:endParaRPr lang="en-ZA" dirty="0"/>
          </a:p>
        </p:txBody>
      </p:sp>
      <p:sp>
        <p:nvSpPr>
          <p:cNvPr id="9" name="Rectangle 8"/>
          <p:cNvSpPr/>
          <p:nvPr/>
        </p:nvSpPr>
        <p:spPr>
          <a:xfrm>
            <a:off x="3850547" y="1744910"/>
            <a:ext cx="931178" cy="81792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12</a:t>
            </a:r>
            <a:endParaRPr lang="en-ZA" dirty="0"/>
          </a:p>
        </p:txBody>
      </p:sp>
      <p:sp>
        <p:nvSpPr>
          <p:cNvPr id="11" name="Rectangle 10"/>
          <p:cNvSpPr/>
          <p:nvPr/>
        </p:nvSpPr>
        <p:spPr>
          <a:xfrm>
            <a:off x="7286625" y="1744911"/>
            <a:ext cx="1043643" cy="8053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16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849213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689" y="469790"/>
            <a:ext cx="11080531" cy="61622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Application of Circular Linked List</a:t>
            </a:r>
          </a:p>
          <a:p>
            <a:r>
              <a:rPr lang="en-US" dirty="0"/>
              <a:t>The real life application where the circular linked list is used is our </a:t>
            </a:r>
            <a:r>
              <a:rPr lang="en-US" b="1" dirty="0">
                <a:solidFill>
                  <a:srgbClr val="00B0F0"/>
                </a:solidFill>
              </a:rPr>
              <a:t>Personal Computers, </a:t>
            </a:r>
            <a:endParaRPr lang="en-US" b="1" dirty="0" smtClean="0">
              <a:solidFill>
                <a:srgbClr val="00B0F0"/>
              </a:solidFill>
            </a:endParaRPr>
          </a:p>
          <a:p>
            <a:pPr marL="457200" lvl="1" indent="0">
              <a:buNone/>
            </a:pPr>
            <a:r>
              <a:rPr lang="en-US" dirty="0"/>
              <a:t>W</a:t>
            </a:r>
            <a:r>
              <a:rPr lang="en-US" dirty="0" smtClean="0"/>
              <a:t>here </a:t>
            </a:r>
            <a:r>
              <a:rPr lang="en-US" b="1" dirty="0">
                <a:solidFill>
                  <a:srgbClr val="FF0000"/>
                </a:solidFill>
              </a:rPr>
              <a:t>multiple applications </a:t>
            </a:r>
            <a:r>
              <a:rPr lang="en-US" dirty="0"/>
              <a:t>are running. 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 smtClean="0"/>
              <a:t>All </a:t>
            </a:r>
            <a:r>
              <a:rPr lang="en-US" dirty="0"/>
              <a:t>the running applications are kept in a circular linked list 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 smtClean="0"/>
              <a:t>And </a:t>
            </a:r>
            <a:r>
              <a:rPr lang="en-US" dirty="0"/>
              <a:t>the OS gives a fixed time slot to all for running. 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 smtClean="0"/>
              <a:t>The </a:t>
            </a:r>
            <a:r>
              <a:rPr lang="en-US" b="1" dirty="0">
                <a:solidFill>
                  <a:srgbClr val="FF0000"/>
                </a:solidFill>
              </a:rPr>
              <a:t>Operating System </a:t>
            </a:r>
            <a:r>
              <a:rPr lang="en-US" dirty="0"/>
              <a:t>keeps on </a:t>
            </a:r>
            <a:r>
              <a:rPr lang="en-US" b="1" dirty="0">
                <a:solidFill>
                  <a:srgbClr val="FF0000"/>
                </a:solidFill>
              </a:rPr>
              <a:t>iterating over </a:t>
            </a:r>
            <a:r>
              <a:rPr lang="en-US" dirty="0"/>
              <a:t>the linked list until all the applications are completed.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086584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2338" y="285226"/>
            <a:ext cx="11585196" cy="6325299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</a:rPr>
              <a:t>Another example:</a:t>
            </a:r>
          </a:p>
          <a:p>
            <a:r>
              <a:rPr lang="en-US" b="1" dirty="0" smtClean="0"/>
              <a:t>Multiplayer games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 smtClean="0"/>
              <a:t>All the Players are kept in a Circular Linked List and the pointer keeps on moving forward as a player's chance ends.</a:t>
            </a:r>
          </a:p>
          <a:p>
            <a:pPr marL="457200" lvl="1" indent="0">
              <a:buNone/>
            </a:pPr>
            <a:r>
              <a:rPr lang="en-US" dirty="0" smtClean="0"/>
              <a:t>Circular Linked List can also be used:</a:t>
            </a:r>
          </a:p>
          <a:p>
            <a:pPr marL="914400" lvl="2" indent="0">
              <a:buNone/>
            </a:pPr>
            <a:r>
              <a:rPr lang="en-US" dirty="0" smtClean="0"/>
              <a:t>to create Circular Queue. </a:t>
            </a:r>
          </a:p>
          <a:p>
            <a:pPr marL="1371600" lvl="3" indent="0">
              <a:buNone/>
            </a:pPr>
            <a:r>
              <a:rPr lang="en-US" dirty="0" smtClean="0"/>
              <a:t>In a </a:t>
            </a:r>
            <a:r>
              <a:rPr lang="en-US" b="1" dirty="0" smtClean="0">
                <a:solidFill>
                  <a:srgbClr val="FF0000"/>
                </a:solidFill>
              </a:rPr>
              <a:t>Queue</a:t>
            </a:r>
            <a:r>
              <a:rPr lang="en-US" dirty="0" smtClean="0"/>
              <a:t> we have to keep two pointers, </a:t>
            </a:r>
            <a:r>
              <a:rPr lang="en-US" b="1" dirty="0" smtClean="0">
                <a:solidFill>
                  <a:srgbClr val="FF0000"/>
                </a:solidFill>
              </a:rPr>
              <a:t>FRONT and REAR </a:t>
            </a:r>
            <a:r>
              <a:rPr lang="en-US" dirty="0" smtClean="0"/>
              <a:t>in memory all the time,</a:t>
            </a:r>
          </a:p>
          <a:p>
            <a:pPr marL="1371600" lvl="3" indent="0">
              <a:buNone/>
            </a:pPr>
            <a:r>
              <a:rPr lang="en-US" dirty="0" smtClean="0"/>
              <a:t>Where as in Circular Linked List, </a:t>
            </a:r>
          </a:p>
          <a:p>
            <a:pPr marL="1828800" lvl="4" indent="0">
              <a:buNone/>
            </a:pPr>
            <a:r>
              <a:rPr lang="en-US" b="1" dirty="0" smtClean="0">
                <a:solidFill>
                  <a:srgbClr val="FF0000"/>
                </a:solidFill>
              </a:rPr>
              <a:t>only one pointer is required</a:t>
            </a:r>
            <a:r>
              <a:rPr lang="en-US" dirty="0" smtClean="0"/>
              <a:t>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891192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946" y="167779"/>
            <a:ext cx="11160853" cy="6009183"/>
          </a:xfrm>
        </p:spPr>
        <p:txBody>
          <a:bodyPr>
            <a:normAutofit/>
          </a:bodyPr>
          <a:lstStyle/>
          <a:p>
            <a:pPr marL="457200" lvl="1" indent="0" fontAlgn="base">
              <a:buNone/>
            </a:pPr>
            <a:r>
              <a:rPr lang="en-US" b="1" dirty="0" smtClean="0">
                <a:solidFill>
                  <a:srgbClr val="FF0000"/>
                </a:solidFill>
              </a:rPr>
              <a:t>NOTE</a:t>
            </a:r>
            <a:r>
              <a:rPr lang="en-US" b="1" dirty="0">
                <a:solidFill>
                  <a:srgbClr val="FF0000"/>
                </a:solidFill>
              </a:rPr>
              <a:t>,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Any node can be a starting point. </a:t>
            </a:r>
          </a:p>
          <a:p>
            <a:pPr lvl="2" fontAlgn="base">
              <a:buFont typeface="Wingdings" panose="05000000000000000000" pitchFamily="2" charset="2"/>
              <a:buChar char="v"/>
            </a:pPr>
            <a:r>
              <a:rPr lang="en-US" dirty="0" smtClean="0"/>
              <a:t>We can traverse the whole list by starting from any point. </a:t>
            </a:r>
          </a:p>
          <a:p>
            <a:pPr lvl="2" fontAlgn="base">
              <a:buFont typeface="Wingdings" panose="05000000000000000000" pitchFamily="2" charset="2"/>
              <a:buChar char="v"/>
            </a:pPr>
            <a:r>
              <a:rPr lang="en-US" dirty="0" smtClean="0"/>
              <a:t>We just need to stop when the first visited node is visited again.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781809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775" y="438150"/>
            <a:ext cx="10868025" cy="573881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There are 2 Types of Circular Linked Lists:</a:t>
            </a:r>
            <a:endParaRPr lang="en-US" dirty="0"/>
          </a:p>
          <a:p>
            <a:r>
              <a:rPr lang="en-US" dirty="0"/>
              <a:t>Singly </a:t>
            </a:r>
            <a:r>
              <a:rPr lang="en-US" b="1" dirty="0" smtClean="0">
                <a:solidFill>
                  <a:srgbClr val="FF0000"/>
                </a:solidFill>
              </a:rPr>
              <a:t>Circular</a:t>
            </a:r>
            <a:r>
              <a:rPr lang="en-US" dirty="0" smtClean="0"/>
              <a:t> </a:t>
            </a:r>
            <a:r>
              <a:rPr lang="en-US" dirty="0"/>
              <a:t>Linked List</a:t>
            </a:r>
          </a:p>
          <a:p>
            <a:r>
              <a:rPr lang="en-US" dirty="0" smtClean="0"/>
              <a:t>Doubly </a:t>
            </a:r>
            <a:r>
              <a:rPr lang="en-US" b="1" dirty="0" smtClean="0">
                <a:solidFill>
                  <a:srgbClr val="FF0000"/>
                </a:solidFill>
              </a:rPr>
              <a:t>Circular</a:t>
            </a:r>
            <a:r>
              <a:rPr lang="en-US" dirty="0" smtClean="0"/>
              <a:t> Linked List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0107541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5275" y="428626"/>
            <a:ext cx="11058525" cy="5748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1375B0"/>
                </a:solidFill>
                <a:latin typeface="Nunito Sans"/>
              </a:rPr>
              <a:t>Singly Circular Linked List</a:t>
            </a:r>
          </a:p>
          <a:p>
            <a:r>
              <a:rPr lang="en-US" dirty="0">
                <a:latin typeface="Nunito Sans"/>
              </a:rPr>
              <a:t>The type of circular linked list whose every node has a pointer to its next node only is known as a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Nunito Sans"/>
              </a:rPr>
              <a:t>singly circular linked list</a:t>
            </a:r>
            <a:r>
              <a:rPr lang="en-US" dirty="0">
                <a:latin typeface="Nunito Sans"/>
              </a:rPr>
              <a:t>.</a:t>
            </a:r>
          </a:p>
          <a:p>
            <a:endParaRPr lang="en-ZA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799" y="2388395"/>
            <a:ext cx="9817276" cy="2526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9933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775" y="247650"/>
            <a:ext cx="11249025" cy="5929313"/>
          </a:xfrm>
        </p:spPr>
        <p:txBody>
          <a:bodyPr/>
          <a:lstStyle/>
          <a:p>
            <a:r>
              <a:rPr lang="en-US" dirty="0"/>
              <a:t>Circular Doubly Linked List has properties of both doubly linked list and circular linked list in which two consecutive elements are linked or connected by previous and next </a:t>
            </a:r>
            <a:r>
              <a:rPr lang="en-US" dirty="0" smtClean="0"/>
              <a:t>pointer</a:t>
            </a:r>
          </a:p>
          <a:p>
            <a:pPr marL="457200" lvl="1" indent="0">
              <a:buNone/>
            </a:pPr>
            <a:r>
              <a:rPr lang="en-US" dirty="0" smtClean="0"/>
              <a:t> And </a:t>
            </a:r>
            <a:r>
              <a:rPr lang="en-US" dirty="0"/>
              <a:t>the last node points to first node by next pointer and also the first node points to last node by previous pointer.</a:t>
            </a:r>
            <a:endParaRPr lang="en-ZA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2690812"/>
            <a:ext cx="10248900" cy="2767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3537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Advantages of Circular Linked List</a:t>
            </a:r>
            <a:br>
              <a:rPr lang="en-US" b="1" dirty="0"/>
            </a:br>
            <a:endParaRPr lang="en-ZA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0025" y="1552575"/>
            <a:ext cx="11658600" cy="4953000"/>
          </a:xfrm>
        </p:spPr>
        <p:txBody>
          <a:bodyPr>
            <a:normAutofit/>
          </a:bodyPr>
          <a:lstStyle/>
          <a:p>
            <a:pPr marL="457200" lvl="1" indent="0" fontAlgn="base">
              <a:buNone/>
            </a:pPr>
            <a:r>
              <a:rPr lang="en-US" dirty="0"/>
              <a:t>Very </a:t>
            </a:r>
            <a:r>
              <a:rPr lang="en-US" b="1" dirty="0"/>
              <a:t>effective</a:t>
            </a:r>
            <a:r>
              <a:rPr lang="en-US" dirty="0"/>
              <a:t> for the implementation of </a:t>
            </a:r>
            <a:r>
              <a:rPr lang="en-US" b="1" dirty="0">
                <a:solidFill>
                  <a:srgbClr val="FF0000"/>
                </a:solidFill>
              </a:rPr>
              <a:t>queue</a:t>
            </a:r>
            <a:r>
              <a:rPr lang="en-US" dirty="0"/>
              <a:t>.</a:t>
            </a:r>
          </a:p>
          <a:p>
            <a:pPr marL="457200" lvl="1" indent="0" fontAlgn="base">
              <a:buNone/>
            </a:pPr>
            <a:r>
              <a:rPr lang="en-ZA" dirty="0"/>
              <a:t>The </a:t>
            </a:r>
            <a:r>
              <a:rPr lang="en-ZA" b="1" dirty="0">
                <a:solidFill>
                  <a:srgbClr val="FF0000"/>
                </a:solidFill>
              </a:rPr>
              <a:t>queue data structure </a:t>
            </a:r>
            <a:r>
              <a:rPr lang="en-ZA" dirty="0"/>
              <a:t>implementation in Java:</a:t>
            </a:r>
          </a:p>
          <a:p>
            <a:pPr marL="457200" lvl="1" indent="0" fontAlgn="base">
              <a:buNone/>
            </a:pPr>
            <a:r>
              <a:rPr lang="en-ZA" dirty="0"/>
              <a:t>       Uses a </a:t>
            </a:r>
            <a:r>
              <a:rPr lang="en-ZA" b="1" dirty="0">
                <a:solidFill>
                  <a:srgbClr val="FF0000"/>
                </a:solidFill>
              </a:rPr>
              <a:t>circular linked list </a:t>
            </a:r>
            <a:r>
              <a:rPr lang="en-ZA" dirty="0"/>
              <a:t>as its </a:t>
            </a:r>
            <a:r>
              <a:rPr lang="en-ZA" b="1" dirty="0">
                <a:solidFill>
                  <a:srgbClr val="FF0000"/>
                </a:solidFill>
              </a:rPr>
              <a:t>internal implementation</a:t>
            </a:r>
            <a:r>
              <a:rPr lang="en-ZA" dirty="0" smtClean="0"/>
              <a:t>.</a:t>
            </a:r>
            <a:endParaRPr lang="en-US" dirty="0"/>
          </a:p>
          <a:p>
            <a:pPr marL="457200" lvl="1" indent="0" fontAlgn="base">
              <a:buNone/>
            </a:pP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 smtClean="0">
                <a:solidFill>
                  <a:srgbClr val="FF0000"/>
                </a:solidFill>
              </a:rPr>
              <a:t>Furthermore </a:t>
            </a:r>
          </a:p>
          <a:p>
            <a:pPr marL="457200" lvl="1" indent="0" fontAlgn="base">
              <a:buNone/>
            </a:pPr>
            <a:r>
              <a:rPr lang="en-US" dirty="0" smtClean="0"/>
              <a:t>there </a:t>
            </a:r>
            <a:r>
              <a:rPr lang="en-US" dirty="0"/>
              <a:t>is no need to maintain two pointers for front and rear </a:t>
            </a:r>
            <a:endParaRPr lang="en-US" dirty="0" smtClean="0"/>
          </a:p>
          <a:p>
            <a:pPr marL="457200" lvl="1" indent="0" fontAlgn="base">
              <a:buNone/>
            </a:pPr>
            <a:r>
              <a:rPr lang="en-US" dirty="0"/>
              <a:t> </a:t>
            </a:r>
            <a:r>
              <a:rPr lang="en-US" dirty="0" smtClean="0"/>
              <a:t>    especially if </a:t>
            </a:r>
            <a:r>
              <a:rPr lang="en-US" dirty="0"/>
              <a:t>we use </a:t>
            </a:r>
            <a:r>
              <a:rPr lang="en-US" b="1" dirty="0">
                <a:solidFill>
                  <a:srgbClr val="FF0000"/>
                </a:solidFill>
              </a:rPr>
              <a:t>circular linked list. </a:t>
            </a:r>
          </a:p>
          <a:p>
            <a:pPr marL="457200" lvl="1" indent="0" fontAlgn="base">
              <a:buNone/>
            </a:pPr>
            <a:r>
              <a:rPr lang="en-US" dirty="0" smtClean="0"/>
              <a:t>We can maintain a pointer to the last inserted node and front can always be obtained as </a:t>
            </a:r>
            <a:r>
              <a:rPr lang="en-US" b="1" dirty="0" smtClean="0">
                <a:solidFill>
                  <a:srgbClr val="FF0000"/>
                </a:solidFill>
              </a:rPr>
              <a:t>next of last.</a:t>
            </a:r>
          </a:p>
          <a:p>
            <a:pPr marL="457200" lvl="1" indent="0" fontAlgn="base">
              <a:buNone/>
            </a:pPr>
            <a:r>
              <a:rPr lang="en-US" b="1" dirty="0" smtClean="0">
                <a:solidFill>
                  <a:srgbClr val="FF0000"/>
                </a:solidFill>
              </a:rPr>
              <a:t>N.B</a:t>
            </a:r>
            <a:endParaRPr lang="en-US" b="1" dirty="0">
              <a:solidFill>
                <a:srgbClr val="FF0000"/>
              </a:solidFill>
            </a:endParaRPr>
          </a:p>
          <a:p>
            <a:pPr marL="457200" lvl="1" indent="0" fontAlgn="base">
              <a:buNone/>
            </a:pPr>
            <a:r>
              <a:rPr lang="en-US" dirty="0"/>
              <a:t>Any node can be a starting point. </a:t>
            </a:r>
            <a:endParaRPr lang="en-US" dirty="0" smtClean="0"/>
          </a:p>
          <a:p>
            <a:pPr marL="914400" lvl="2" indent="0" fontAlgn="base">
              <a:buNone/>
            </a:pPr>
            <a:r>
              <a:rPr lang="en-US" dirty="0" smtClean="0"/>
              <a:t>We </a:t>
            </a:r>
            <a:r>
              <a:rPr lang="en-US" dirty="0"/>
              <a:t>can traverse the whole list </a:t>
            </a:r>
            <a:r>
              <a:rPr lang="en-US" b="1" dirty="0">
                <a:solidFill>
                  <a:srgbClr val="FF0000"/>
                </a:solidFill>
              </a:rPr>
              <a:t>by starting from any point. 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0344620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2425" y="438150"/>
            <a:ext cx="11001375" cy="5738813"/>
          </a:xfrm>
        </p:spPr>
        <p:txBody>
          <a:bodyPr/>
          <a:lstStyle/>
          <a:p>
            <a:pPr marL="457200" lvl="1" indent="0" fontAlgn="base">
              <a:buNone/>
            </a:pPr>
            <a:r>
              <a:rPr lang="en-US" dirty="0"/>
              <a:t>We just need to stop when the first visited node is visited again.</a:t>
            </a:r>
            <a:endParaRPr lang="en-US" b="1" dirty="0">
              <a:solidFill>
                <a:srgbClr val="FF0000"/>
              </a:solidFill>
            </a:endParaRPr>
          </a:p>
          <a:p>
            <a:pPr marL="457200" lvl="1" indent="0" fontAlgn="base">
              <a:buNone/>
            </a:pPr>
            <a:r>
              <a:rPr lang="en-US" dirty="0"/>
              <a:t>Circular Doubly Linked Lists are used for implementation of </a:t>
            </a:r>
            <a:r>
              <a:rPr lang="en-US" b="1" dirty="0">
                <a:solidFill>
                  <a:srgbClr val="FF0000"/>
                </a:solidFill>
              </a:rPr>
              <a:t>advanced data structures </a:t>
            </a:r>
            <a:r>
              <a:rPr lang="en-US" dirty="0"/>
              <a:t>like </a:t>
            </a:r>
            <a:r>
              <a:rPr lang="en-US" b="1" dirty="0">
                <a:solidFill>
                  <a:srgbClr val="FF0000"/>
                </a:solidFill>
              </a:rPr>
              <a:t>Fibonacci Heap</a:t>
            </a:r>
            <a:r>
              <a:rPr lang="en-US" dirty="0">
                <a:solidFill>
                  <a:srgbClr val="FF0000"/>
                </a:solidFill>
              </a:rPr>
              <a:t>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1917073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0" y="205740"/>
            <a:ext cx="11163300" cy="5971223"/>
          </a:xfrm>
        </p:spPr>
        <p:txBody>
          <a:bodyPr/>
          <a:lstStyle/>
          <a:p>
            <a:r>
              <a:rPr lang="en-US" dirty="0" smtClean="0"/>
              <a:t>There are many </a:t>
            </a:r>
            <a:r>
              <a:rPr lang="en-US" dirty="0"/>
              <a:t>computer science problems </a:t>
            </a:r>
            <a:r>
              <a:rPr lang="en-US" dirty="0" smtClean="0"/>
              <a:t>that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 smtClean="0"/>
              <a:t>Are by nature circular: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 smtClean="0"/>
              <a:t>E.g. the Round-robin scheduling algorithm</a:t>
            </a:r>
          </a:p>
          <a:p>
            <a:pPr marL="457200" lvl="1" indent="0">
              <a:buNone/>
            </a:pPr>
            <a:endParaRPr lang="en-US" dirty="0" smtClean="0"/>
          </a:p>
          <a:p>
            <a:pPr marL="457200" lvl="1" indent="0">
              <a:buNone/>
            </a:pPr>
            <a:r>
              <a:rPr lang="en-US" dirty="0" smtClean="0"/>
              <a:t>N.B: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/>
              <a:t> </a:t>
            </a:r>
            <a:r>
              <a:rPr lang="en-US" dirty="0" smtClean="0"/>
              <a:t>    </a:t>
            </a:r>
            <a:r>
              <a:rPr lang="en-US" dirty="0" smtClean="0"/>
              <a:t>The </a:t>
            </a:r>
            <a:r>
              <a:rPr lang="en-US" dirty="0"/>
              <a:t>complete list can be traversed starting with any node.</a:t>
            </a:r>
          </a:p>
        </p:txBody>
      </p:sp>
    </p:spTree>
    <p:extLst>
      <p:ext uri="{BB962C8B-B14F-4D97-AF65-F5344CB8AC3E}">
        <p14:creationId xmlns:p14="http://schemas.microsoft.com/office/powerpoint/2010/main" val="8283224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6503" y="251670"/>
            <a:ext cx="11127297" cy="5925293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</a:rPr>
              <a:t>Drawbacks</a:t>
            </a:r>
            <a:endParaRPr lang="en-US" b="1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dirty="0"/>
              <a:t>Depending </a:t>
            </a:r>
            <a:r>
              <a:rPr lang="en-US" dirty="0" smtClean="0"/>
              <a:t>on the implementation</a:t>
            </a:r>
            <a:r>
              <a:rPr lang="en-US" dirty="0"/>
              <a:t>: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 smtClean="0"/>
              <a:t>Doing </a:t>
            </a:r>
            <a:r>
              <a:rPr lang="en-US" dirty="0" smtClean="0"/>
              <a:t>insertion </a:t>
            </a:r>
            <a:r>
              <a:rPr lang="en-US" dirty="0"/>
              <a:t>at start of list would require doing a search for the last node which could be </a:t>
            </a:r>
            <a:r>
              <a:rPr lang="en-US" b="1" dirty="0">
                <a:solidFill>
                  <a:srgbClr val="FF0000"/>
                </a:solidFill>
              </a:rPr>
              <a:t>expensive.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823445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6743" y="348343"/>
            <a:ext cx="11713027" cy="6241143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</a:rPr>
              <a:t>As we know</a:t>
            </a:r>
          </a:p>
          <a:p>
            <a:pPr marL="457200" lvl="1" indent="0">
              <a:buNone/>
            </a:pPr>
            <a:r>
              <a:rPr lang="en-US" b="1" dirty="0" smtClean="0">
                <a:solidFill>
                  <a:srgbClr val="FF0000"/>
                </a:solidFill>
              </a:rPr>
              <a:t>there  exist quite a number of  data structures</a:t>
            </a:r>
          </a:p>
          <a:p>
            <a:pPr marL="457200" lvl="1" indent="0">
              <a:buNone/>
            </a:pPr>
            <a:r>
              <a:rPr lang="en-US" b="1" dirty="0"/>
              <a:t> </a:t>
            </a:r>
            <a:r>
              <a:rPr lang="en-US" b="1" dirty="0">
                <a:solidFill>
                  <a:schemeClr val="accent2"/>
                </a:solidFill>
              </a:rPr>
              <a:t>like</a:t>
            </a:r>
            <a:r>
              <a:rPr lang="en-US" dirty="0">
                <a:solidFill>
                  <a:schemeClr val="accent2"/>
                </a:solidFill>
              </a:rPr>
              <a:t> </a:t>
            </a:r>
            <a:r>
              <a:rPr lang="en-US" b="1" dirty="0" smtClean="0">
                <a:solidFill>
                  <a:schemeClr val="accent2"/>
                </a:solidFill>
              </a:rPr>
              <a:t>arrays</a:t>
            </a:r>
            <a:r>
              <a:rPr lang="en-US" dirty="0" smtClean="0">
                <a:solidFill>
                  <a:schemeClr val="accent2"/>
                </a:solidFill>
              </a:rPr>
              <a:t>,</a:t>
            </a:r>
          </a:p>
          <a:p>
            <a:pPr marL="457200" lvl="1" indent="0">
              <a:buNone/>
            </a:pPr>
            <a:r>
              <a:rPr lang="en-US" b="1" dirty="0" smtClean="0">
                <a:solidFill>
                  <a:schemeClr val="accent2"/>
                </a:solidFill>
              </a:rPr>
              <a:t> linked lists, etc.</a:t>
            </a:r>
          </a:p>
          <a:p>
            <a:r>
              <a:rPr lang="en-US" dirty="0" smtClean="0"/>
              <a:t> The arrangement of these </a:t>
            </a:r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</a:rPr>
              <a:t>data structures </a:t>
            </a:r>
            <a:r>
              <a:rPr lang="en-US" dirty="0" smtClean="0"/>
              <a:t>have their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strengths</a:t>
            </a:r>
            <a:r>
              <a:rPr lang="en-US" dirty="0" smtClean="0"/>
              <a:t> and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weaknesses. </a:t>
            </a:r>
          </a:p>
        </p:txBody>
      </p:sp>
    </p:spTree>
    <p:extLst>
      <p:ext uri="{BB962C8B-B14F-4D97-AF65-F5344CB8AC3E}">
        <p14:creationId xmlns:p14="http://schemas.microsoft.com/office/powerpoint/2010/main" val="3062635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80" y="449580"/>
            <a:ext cx="11132820" cy="5727383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accent2"/>
                </a:solidFill>
              </a:rPr>
              <a:t>For these reasons, </a:t>
            </a:r>
          </a:p>
          <a:p>
            <a:pPr marL="457200" lvl="1" indent="0">
              <a:buNone/>
            </a:pPr>
            <a:r>
              <a:rPr lang="en-US" dirty="0"/>
              <a:t>Therefore it is important to know the </a:t>
            </a:r>
          </a:p>
          <a:p>
            <a:pPr marL="914400" lvl="2" indent="0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B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enefits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and drawbacks </a:t>
            </a:r>
            <a:r>
              <a:rPr lang="en-US" dirty="0" smtClean="0"/>
              <a:t>of different </a:t>
            </a:r>
            <a:r>
              <a:rPr lang="en-US" dirty="0"/>
              <a:t>data structures</a:t>
            </a:r>
          </a:p>
          <a:p>
            <a:pPr marL="914400" lvl="2" indent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Why</a:t>
            </a:r>
            <a:r>
              <a:rPr lang="en-US" sz="2800" b="1" dirty="0" smtClean="0">
                <a:solidFill>
                  <a:schemeClr val="accent2"/>
                </a:solidFill>
              </a:rPr>
              <a:t>?</a:t>
            </a:r>
            <a:endParaRPr lang="en-US" sz="2800" b="1" dirty="0">
              <a:solidFill>
                <a:schemeClr val="accent2"/>
              </a:solidFill>
            </a:endParaRPr>
          </a:p>
          <a:p>
            <a:pPr marL="914400" lvl="2" indent="0">
              <a:buNone/>
            </a:pPr>
            <a:r>
              <a:rPr lang="en-US" dirty="0"/>
              <a:t>Because we want to be good at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designing</a:t>
            </a:r>
            <a:r>
              <a:rPr lang="en-US" dirty="0"/>
              <a:t>,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optimizing</a:t>
            </a:r>
            <a:r>
              <a:rPr lang="en-US" dirty="0"/>
              <a:t>, as well  as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scaling programs</a:t>
            </a:r>
            <a:r>
              <a:rPr lang="en-US" dirty="0"/>
              <a:t>.</a:t>
            </a:r>
            <a:endParaRPr lang="en-ZA" dirty="0"/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9266550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9574" y="304800"/>
            <a:ext cx="11372851" cy="6257925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Basic Operations</a:t>
            </a:r>
          </a:p>
          <a:p>
            <a:pPr marL="0" indent="0">
              <a:buNone/>
            </a:pPr>
            <a:r>
              <a:rPr lang="en-US" dirty="0"/>
              <a:t>Following are the important operations supported by a circular list.</a:t>
            </a:r>
          </a:p>
          <a:p>
            <a:pPr lvl="1"/>
            <a:r>
              <a:rPr lang="en-US" b="1" dirty="0"/>
              <a:t>insert</a:t>
            </a:r>
            <a:r>
              <a:rPr lang="en-US" dirty="0"/>
              <a:t> − Inserts an element at the start of the list.</a:t>
            </a:r>
          </a:p>
          <a:p>
            <a:pPr lvl="1"/>
            <a:r>
              <a:rPr lang="en-US" b="1" dirty="0"/>
              <a:t>delete</a:t>
            </a:r>
            <a:r>
              <a:rPr lang="en-US" dirty="0"/>
              <a:t> − Deletes an element from the start of the list.</a:t>
            </a:r>
          </a:p>
          <a:p>
            <a:pPr lvl="1"/>
            <a:r>
              <a:rPr lang="en-US" b="1" dirty="0"/>
              <a:t>display</a:t>
            </a:r>
            <a:r>
              <a:rPr lang="en-US" dirty="0"/>
              <a:t> − Displays the list.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2716500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125"/>
            <a:ext cx="10896600" cy="1325563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Operations</a:t>
            </a:r>
            <a:r>
              <a:rPr lang="en-US" dirty="0" smtClean="0"/>
              <a:t> 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3875" y="1581150"/>
            <a:ext cx="10829925" cy="4595814"/>
          </a:xfrm>
        </p:spPr>
        <p:txBody>
          <a:bodyPr/>
          <a:lstStyle/>
          <a:p>
            <a:pPr marL="0" indent="0" fontAlgn="base">
              <a:buNone/>
            </a:pPr>
            <a:r>
              <a:rPr lang="en-US" b="1" dirty="0" smtClean="0">
                <a:solidFill>
                  <a:schemeClr val="accent1"/>
                </a:solidFill>
              </a:rPr>
              <a:t>Insertion</a:t>
            </a:r>
            <a:r>
              <a:rPr lang="en-US" dirty="0"/>
              <a:t> </a:t>
            </a:r>
            <a:br>
              <a:rPr lang="en-US" dirty="0"/>
            </a:br>
            <a:r>
              <a:rPr lang="en-US" dirty="0" smtClean="0"/>
              <a:t>      A </a:t>
            </a:r>
            <a:r>
              <a:rPr lang="en-US" dirty="0"/>
              <a:t>node can be added </a:t>
            </a:r>
            <a:r>
              <a:rPr lang="en-US" dirty="0" smtClean="0"/>
              <a:t>in  </a:t>
            </a:r>
            <a:r>
              <a:rPr lang="en-US" dirty="0"/>
              <a:t>three </a:t>
            </a:r>
            <a:r>
              <a:rPr lang="en-US" dirty="0" smtClean="0"/>
              <a:t> variety of ways</a:t>
            </a:r>
            <a:r>
              <a:rPr lang="en-US" dirty="0"/>
              <a:t>: </a:t>
            </a:r>
          </a:p>
          <a:p>
            <a:pPr lvl="1" fontAlgn="base"/>
            <a:r>
              <a:rPr lang="en-US" dirty="0" smtClean="0"/>
              <a:t>Insertion </a:t>
            </a:r>
            <a:r>
              <a:rPr lang="en-US" dirty="0"/>
              <a:t>in an empty list</a:t>
            </a:r>
          </a:p>
          <a:p>
            <a:pPr lvl="1" fontAlgn="base"/>
            <a:r>
              <a:rPr lang="en-US" dirty="0"/>
              <a:t>Insertion at the beginning of the list</a:t>
            </a:r>
          </a:p>
          <a:p>
            <a:pPr lvl="1" fontAlgn="base"/>
            <a:r>
              <a:rPr lang="en-US" dirty="0"/>
              <a:t>Insertion at the end of the list</a:t>
            </a:r>
          </a:p>
          <a:p>
            <a:pPr lvl="1" fontAlgn="base"/>
            <a:r>
              <a:rPr lang="en-US" dirty="0"/>
              <a:t>Insertion in between the nodes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0774449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283" y="394283"/>
            <a:ext cx="10959517" cy="578268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Insertion in an empty List</a:t>
            </a:r>
            <a:r>
              <a:rPr lang="en-US" dirty="0"/>
              <a:t> </a:t>
            </a:r>
            <a:br>
              <a:rPr lang="en-US" dirty="0"/>
            </a:br>
            <a:r>
              <a:rPr lang="en-US" dirty="0" smtClean="0"/>
              <a:t>     Initially</a:t>
            </a:r>
            <a:r>
              <a:rPr lang="en-US" dirty="0"/>
              <a:t>, </a:t>
            </a:r>
            <a:endParaRPr lang="en-US" dirty="0" smtClean="0"/>
          </a:p>
          <a:p>
            <a:pPr marL="914400" lvl="2" indent="0">
              <a:buNone/>
            </a:pPr>
            <a:r>
              <a:rPr lang="en-US" dirty="0"/>
              <a:t>W</a:t>
            </a:r>
            <a:r>
              <a:rPr lang="en-US" dirty="0" smtClean="0"/>
              <a:t>hen </a:t>
            </a:r>
            <a:r>
              <a:rPr lang="en-US" dirty="0"/>
              <a:t>the list is empty, </a:t>
            </a:r>
            <a:r>
              <a:rPr lang="en-US" i="1" dirty="0"/>
              <a:t>last</a:t>
            </a:r>
            <a:r>
              <a:rPr lang="en-US" dirty="0"/>
              <a:t> pointer will be NULL. </a:t>
            </a:r>
            <a:br>
              <a:rPr lang="en-US" dirty="0"/>
            </a:br>
            <a:r>
              <a:rPr lang="en-US" dirty="0"/>
              <a:t> </a:t>
            </a:r>
            <a:endParaRPr lang="en-US" dirty="0" smtClean="0"/>
          </a:p>
          <a:p>
            <a:pPr marL="914400" lvl="2" indent="0">
              <a:buNone/>
            </a:pPr>
            <a:endParaRPr lang="en-US" dirty="0" smtClean="0"/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endParaRPr lang="en-US" dirty="0" smtClean="0"/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r>
              <a:rPr lang="en-US" dirty="0" smtClean="0"/>
              <a:t>                                                    </a:t>
            </a:r>
            <a:endParaRPr lang="en-ZA" dirty="0"/>
          </a:p>
        </p:txBody>
      </p:sp>
      <p:pic>
        <p:nvPicPr>
          <p:cNvPr id="1032" name="Picture 8" descr="https://media.geeksforgeeks.org/wp-content/uploads/CircularSinglyLinkedList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0700" y="2058799"/>
            <a:ext cx="4114421" cy="2971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2462213" y="2466974"/>
            <a:ext cx="2571750" cy="14382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Null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0806903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226" y="377505"/>
            <a:ext cx="11068574" cy="5799458"/>
          </a:xfrm>
        </p:spPr>
        <p:txBody>
          <a:bodyPr/>
          <a:lstStyle/>
          <a:p>
            <a:r>
              <a:rPr lang="en-US" dirty="0"/>
              <a:t>After inserting a node A</a:t>
            </a:r>
            <a:r>
              <a:rPr lang="en-US" dirty="0" smtClean="0"/>
              <a:t>,</a:t>
            </a:r>
            <a:r>
              <a:rPr lang="en-US" dirty="0"/>
              <a:t> </a:t>
            </a:r>
            <a:endParaRPr lang="en-US" dirty="0" smtClean="0"/>
          </a:p>
          <a:p>
            <a:endParaRPr lang="en-US" dirty="0"/>
          </a:p>
          <a:p>
            <a:endParaRPr lang="en-ZA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747" y="1492629"/>
            <a:ext cx="4507554" cy="459011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119437" y="4795838"/>
            <a:ext cx="2738438" cy="4857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Node A</a:t>
            </a:r>
            <a:endParaRPr lang="en-ZA" dirty="0"/>
          </a:p>
        </p:txBody>
      </p:sp>
      <p:sp>
        <p:nvSpPr>
          <p:cNvPr id="7" name="Rectangle 6"/>
          <p:cNvSpPr/>
          <p:nvPr/>
        </p:nvSpPr>
        <p:spPr>
          <a:xfrm>
            <a:off x="3119437" y="3709988"/>
            <a:ext cx="1333501" cy="1047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“A”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1478198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8781" y="436228"/>
            <a:ext cx="11610363" cy="6224631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Implementing Circular Linked List</a:t>
            </a:r>
          </a:p>
          <a:p>
            <a:pPr marL="457200" lvl="1" indent="0">
              <a:buNone/>
            </a:pPr>
            <a:r>
              <a:rPr lang="en-US" dirty="0"/>
              <a:t>Implementing a circular linked list is very easy </a:t>
            </a:r>
          </a:p>
          <a:p>
            <a:pPr marL="914400" lvl="2" indent="0">
              <a:buNone/>
            </a:pPr>
            <a:r>
              <a:rPr lang="en-US" dirty="0" smtClean="0"/>
              <a:t>And </a:t>
            </a:r>
            <a:r>
              <a:rPr lang="en-US" dirty="0"/>
              <a:t>almost similar to linear linked list implementation</a:t>
            </a:r>
            <a:r>
              <a:rPr lang="en-US" dirty="0" smtClean="0"/>
              <a:t>,</a:t>
            </a:r>
          </a:p>
          <a:p>
            <a:pPr marL="1371600" lvl="3" indent="0">
              <a:buNone/>
            </a:pPr>
            <a:r>
              <a:rPr lang="en-US" dirty="0" smtClean="0"/>
              <a:t> With </a:t>
            </a:r>
            <a:r>
              <a:rPr lang="en-US" dirty="0"/>
              <a:t>the only difference being that, </a:t>
            </a:r>
            <a:endParaRPr lang="en-US" dirty="0" smtClean="0"/>
          </a:p>
          <a:p>
            <a:pPr marL="1371600" lvl="3" indent="0">
              <a:buNone/>
            </a:pPr>
            <a:r>
              <a:rPr lang="en-US" dirty="0"/>
              <a:t> </a:t>
            </a:r>
            <a:r>
              <a:rPr lang="en-US" dirty="0" smtClean="0"/>
              <a:t>In </a:t>
            </a:r>
            <a:r>
              <a:rPr lang="en-US" dirty="0"/>
              <a:t>circular linked list the last </a:t>
            </a:r>
            <a:r>
              <a:rPr lang="en-US" b="1" dirty="0"/>
              <a:t>Node</a:t>
            </a:r>
            <a:r>
              <a:rPr lang="en-US" dirty="0"/>
              <a:t> will have it's </a:t>
            </a:r>
            <a:r>
              <a:rPr lang="en-US" b="1" dirty="0"/>
              <a:t>next</a:t>
            </a:r>
            <a:r>
              <a:rPr lang="en-US" dirty="0"/>
              <a:t> point to the </a:t>
            </a:r>
            <a:r>
              <a:rPr lang="en-US" b="1" dirty="0"/>
              <a:t>Head</a:t>
            </a:r>
            <a:r>
              <a:rPr lang="en-US" dirty="0"/>
              <a:t> of the List</a:t>
            </a:r>
            <a:r>
              <a:rPr lang="en-US" dirty="0" smtClean="0"/>
              <a:t>.</a:t>
            </a:r>
          </a:p>
          <a:p>
            <a:pPr marL="914400" lvl="2" indent="0">
              <a:buNone/>
            </a:pPr>
            <a:r>
              <a:rPr lang="en-US" dirty="0" smtClean="0"/>
              <a:t> In Linear linked list the last Node simply holds NULL in it's next pointer.</a:t>
            </a:r>
          </a:p>
          <a:p>
            <a:pPr marL="914400" lvl="2" indent="0">
              <a:buNone/>
            </a:pPr>
            <a:r>
              <a:rPr lang="en-US" dirty="0" smtClean="0"/>
              <a:t>So this will be our </a:t>
            </a:r>
            <a:r>
              <a:rPr lang="en-US" b="1" i="1" dirty="0" smtClean="0"/>
              <a:t>Node class</a:t>
            </a:r>
            <a:r>
              <a:rPr lang="en-US" dirty="0" smtClean="0"/>
              <a:t>, </a:t>
            </a:r>
          </a:p>
          <a:p>
            <a:pPr marL="1371600" lvl="3" indent="0">
              <a:buNone/>
            </a:pPr>
            <a:r>
              <a:rPr lang="en-US" dirty="0" smtClean="0"/>
              <a:t>As we have already studied in the lesson</a:t>
            </a:r>
          </a:p>
          <a:p>
            <a:pPr marL="1371600" lvl="3" indent="0">
              <a:buNone/>
            </a:pPr>
            <a:r>
              <a:rPr lang="en-US" dirty="0" smtClean="0"/>
              <a:t> it will be used to form the List.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683216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6091" y="296092"/>
            <a:ext cx="11057709" cy="588087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</a:t>
            </a:r>
            <a:r>
              <a:rPr lang="en-US" dirty="0" smtClean="0"/>
              <a:t>actual implementation contains: </a:t>
            </a:r>
          </a:p>
          <a:p>
            <a:pPr marL="914400" lvl="2" indent="0">
              <a:buNone/>
            </a:pPr>
            <a:r>
              <a:rPr lang="en-US" dirty="0" smtClean="0"/>
              <a:t>Two </a:t>
            </a:r>
            <a:r>
              <a:rPr lang="en-US" dirty="0"/>
              <a:t>pointers as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head and tail </a:t>
            </a:r>
            <a:r>
              <a:rPr lang="en-US" dirty="0"/>
              <a:t>and the tail pointers internally point to the head node. </a:t>
            </a:r>
            <a:endParaRPr lang="en-US" dirty="0" smtClean="0"/>
          </a:p>
          <a:p>
            <a:pPr marL="914400" lvl="2" indent="0">
              <a:buNone/>
            </a:pPr>
            <a:r>
              <a:rPr lang="en-US" dirty="0" smtClean="0"/>
              <a:t>Below </a:t>
            </a:r>
            <a:r>
              <a:rPr lang="en-US" dirty="0"/>
              <a:t>is our implementation class</a:t>
            </a:r>
            <a:r>
              <a:rPr lang="en-US" dirty="0" smtClean="0"/>
              <a:t>.</a:t>
            </a:r>
          </a:p>
          <a:p>
            <a:pPr marL="914400" lvl="2" indent="0">
              <a:buNone/>
            </a:pPr>
            <a:r>
              <a:rPr lang="en-US" dirty="0">
                <a:solidFill>
                  <a:srgbClr val="FF0000"/>
                </a:solidFill>
              </a:rPr>
              <a:t>public class </a:t>
            </a:r>
            <a:r>
              <a:rPr lang="en-US" dirty="0" err="1">
                <a:solidFill>
                  <a:srgbClr val="FF0000"/>
                </a:solidFill>
              </a:rPr>
              <a:t>CircularLinkedList</a:t>
            </a:r>
            <a:r>
              <a:rPr lang="en-US" dirty="0">
                <a:solidFill>
                  <a:srgbClr val="FF0000"/>
                </a:solidFill>
              </a:rPr>
              <a:t> {</a:t>
            </a:r>
            <a:endParaRPr lang="en-US" dirty="0" smtClean="0">
              <a:solidFill>
                <a:srgbClr val="FF0000"/>
              </a:solidFill>
            </a:endParaRPr>
          </a:p>
          <a:p>
            <a:pPr marL="914400" lvl="2" indent="0">
              <a:buNone/>
            </a:pPr>
            <a:r>
              <a:rPr lang="en-US" dirty="0">
                <a:solidFill>
                  <a:srgbClr val="FF0000"/>
                </a:solidFill>
              </a:rPr>
              <a:t>               public class Node </a:t>
            </a:r>
            <a:r>
              <a:rPr lang="en-US" dirty="0" smtClean="0">
                <a:solidFill>
                  <a:srgbClr val="FF0000"/>
                </a:solidFill>
              </a:rPr>
              <a:t>{</a:t>
            </a:r>
            <a:endParaRPr lang="en-US" dirty="0">
              <a:solidFill>
                <a:srgbClr val="FF0000"/>
              </a:solidFill>
            </a:endParaRPr>
          </a:p>
          <a:p>
            <a:pPr marL="1828800" lvl="4" indent="0">
              <a:buNone/>
            </a:pPr>
            <a:r>
              <a:rPr lang="en-US" dirty="0">
                <a:solidFill>
                  <a:srgbClr val="FF0000"/>
                </a:solidFill>
              </a:rPr>
              <a:t>    </a:t>
            </a:r>
            <a:r>
              <a:rPr lang="en-US" dirty="0" smtClean="0">
                <a:solidFill>
                  <a:srgbClr val="FF0000"/>
                </a:solidFill>
              </a:rPr>
              <a:t>                      </a:t>
            </a:r>
            <a:r>
              <a:rPr lang="en-US" dirty="0">
                <a:solidFill>
                  <a:srgbClr val="FF0000"/>
                </a:solidFill>
              </a:rPr>
              <a:t>private int data;</a:t>
            </a:r>
          </a:p>
          <a:p>
            <a:pPr marL="1828800" lvl="4" indent="0">
              <a:buNone/>
            </a:pPr>
            <a:r>
              <a:rPr lang="en-US" dirty="0">
                <a:solidFill>
                  <a:srgbClr val="FF0000"/>
                </a:solidFill>
              </a:rPr>
              <a:t>        </a:t>
            </a:r>
            <a:r>
              <a:rPr lang="en-US" dirty="0" smtClean="0">
                <a:solidFill>
                  <a:srgbClr val="FF0000"/>
                </a:solidFill>
              </a:rPr>
              <a:t>                  private </a:t>
            </a:r>
            <a:r>
              <a:rPr lang="en-US" dirty="0">
                <a:solidFill>
                  <a:srgbClr val="FF0000"/>
                </a:solidFill>
              </a:rPr>
              <a:t>Node </a:t>
            </a:r>
            <a:r>
              <a:rPr lang="en-US" dirty="0" err="1">
                <a:solidFill>
                  <a:srgbClr val="FF0000"/>
                </a:solidFill>
              </a:rPr>
              <a:t>nextNode</a:t>
            </a:r>
            <a:r>
              <a:rPr lang="en-US" dirty="0" smtClean="0">
                <a:solidFill>
                  <a:srgbClr val="FF0000"/>
                </a:solidFill>
              </a:rPr>
              <a:t>;</a:t>
            </a:r>
          </a:p>
          <a:p>
            <a:pPr marL="1828800" lvl="4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}</a:t>
            </a:r>
          </a:p>
          <a:p>
            <a:pPr marL="914400" lvl="2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}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1951409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5418</TotalTime>
  <Words>723</Words>
  <Application>Microsoft Office PowerPoint</Application>
  <PresentationFormat>Widescreen</PresentationFormat>
  <Paragraphs>112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Nunito Sans</vt:lpstr>
      <vt:lpstr>Wingdings</vt:lpstr>
      <vt:lpstr>Office Theme</vt:lpstr>
      <vt:lpstr>Introduction to Data Structures: Circular Linked List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Advantages of Circular Linked List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Operations </vt:lpstr>
      <vt:lpstr>PowerPoint Presentation</vt:lpstr>
      <vt:lpstr>PowerPoint Presentation</vt:lpstr>
      <vt:lpstr>PowerPoint Presentation</vt:lpstr>
      <vt:lpstr>PowerPoint Presentation</vt:lpstr>
    </vt:vector>
  </TitlesOfParts>
  <Company>CPUT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Sammuel Nonelelo</dc:creator>
  <cp:lastModifiedBy>Sammuel Nonelelo</cp:lastModifiedBy>
  <cp:revision>43</cp:revision>
  <dcterms:created xsi:type="dcterms:W3CDTF">2021-04-08T16:10:21Z</dcterms:created>
  <dcterms:modified xsi:type="dcterms:W3CDTF">2021-04-15T08:21:28Z</dcterms:modified>
</cp:coreProperties>
</file>