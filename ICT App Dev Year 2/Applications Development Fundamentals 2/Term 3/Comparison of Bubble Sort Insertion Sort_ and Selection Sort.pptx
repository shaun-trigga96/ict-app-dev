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57" r:id="rId6"/>
    <p:sldId id="269" r:id="rId7"/>
    <p:sldId id="261" r:id="rId8"/>
    <p:sldId id="260" r:id="rId9"/>
    <p:sldId id="271" r:id="rId10"/>
    <p:sldId id="263" r:id="rId11"/>
    <p:sldId id="264" r:id="rId12"/>
    <p:sldId id="267" r:id="rId13"/>
    <p:sldId id="270" r:id="rId14"/>
    <p:sldId id="266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ZA" altLang="en-US" b="1" dirty="0">
                <a:solidFill>
                  <a:srgbClr val="FF0000"/>
                </a:solidFill>
              </a:rPr>
              <a:t>Comparison</a:t>
            </a:r>
            <a:r>
              <a:rPr lang="en-ZA" altLang="en-US" b="1" dirty="0"/>
              <a:t> of</a:t>
            </a:r>
            <a:r>
              <a:rPr lang="en-ZA" altLang="en-US" b="1" dirty="0">
                <a:solidFill>
                  <a:srgbClr val="FF0000"/>
                </a:solidFill>
              </a:rPr>
              <a:t> Bubble Sort</a:t>
            </a:r>
            <a:r>
              <a:rPr lang="en-ZA" altLang="en-US" b="1" dirty="0"/>
              <a:t> </a:t>
            </a:r>
            <a:r>
              <a:rPr lang="en-ZA" altLang="en-US" b="1" dirty="0">
                <a:solidFill>
                  <a:srgbClr val="FF0000"/>
                </a:solidFill>
              </a:rPr>
              <a:t>Insertion Sort,</a:t>
            </a:r>
            <a:r>
              <a:rPr lang="en-ZA" altLang="en-US" b="1" dirty="0"/>
              <a:t> and </a:t>
            </a:r>
            <a:r>
              <a:rPr lang="en-ZA" altLang="en-US" b="1" dirty="0">
                <a:solidFill>
                  <a:srgbClr val="FF0000"/>
                </a:solidFill>
              </a:rPr>
              <a:t>Selection Sort</a:t>
            </a:r>
            <a:endParaRPr lang="en-ZA" alt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altLang="en-US"/>
              <a:t>By Zukile Ndyalivana</a:t>
            </a:r>
            <a:endParaRPr lang="en-ZA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490" y="354965"/>
            <a:ext cx="11656695" cy="630237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b="1">
                <a:solidFill>
                  <a:srgbClr val="FF0000"/>
                </a:solidFill>
              </a:rPr>
              <a:t>Optimized Bubble Sort Algorithm</a:t>
            </a:r>
            <a:endParaRPr lang="en-US" b="1">
              <a:solidFill>
                <a:srgbClr val="FF0000"/>
              </a:solidFill>
            </a:endParaRPr>
          </a:p>
          <a:p>
            <a:pPr lvl="1"/>
            <a:r>
              <a:rPr lang="en-US"/>
              <a:t>To optimize our bubble sort algorithm, we can introduce a </a:t>
            </a:r>
            <a:r>
              <a:rPr lang="en-US" b="1">
                <a:solidFill>
                  <a:srgbClr val="FF0000"/>
                </a:solidFill>
              </a:rPr>
              <a:t>flag</a:t>
            </a:r>
            <a:r>
              <a:rPr lang="en-US"/>
              <a:t> to monitor whether elements are getting swapped inside the</a:t>
            </a:r>
            <a:r>
              <a:rPr lang="en-US">
                <a:solidFill>
                  <a:srgbClr val="FF0000"/>
                </a:solidFill>
                <a:highlight>
                  <a:srgbClr val="FFFF00"/>
                </a:highlight>
              </a:rPr>
              <a:t> inner for loop.</a:t>
            </a:r>
            <a:endParaRPr lang="en-US"/>
          </a:p>
          <a:p>
            <a:pPr lvl="1"/>
            <a:endParaRPr lang="en-US"/>
          </a:p>
          <a:p>
            <a:pPr lvl="1"/>
            <a:r>
              <a:rPr lang="en-US">
                <a:highlight>
                  <a:srgbClr val="FFFF00"/>
                </a:highlight>
              </a:rPr>
              <a:t>Hence, in the </a:t>
            </a:r>
            <a:r>
              <a:rPr lang="en-US">
                <a:solidFill>
                  <a:srgbClr val="FF0000"/>
                </a:solidFill>
              </a:rPr>
              <a:t>inner for loop</a:t>
            </a:r>
            <a:r>
              <a:rPr lang="en-US">
                <a:highlight>
                  <a:srgbClr val="FFFF00"/>
                </a:highlight>
              </a:rPr>
              <a:t>, we check </a:t>
            </a:r>
            <a:r>
              <a:rPr lang="en-US">
                <a:solidFill>
                  <a:srgbClr val="FF0000"/>
                </a:solidFill>
                <a:highlight>
                  <a:srgbClr val="FFFF00"/>
                </a:highlight>
              </a:rPr>
              <a:t>whether swapping of elements </a:t>
            </a:r>
            <a:r>
              <a:rPr lang="en-US">
                <a:highlight>
                  <a:srgbClr val="FFFF00"/>
                </a:highlight>
              </a:rPr>
              <a:t>is taking place or not, everytime.</a:t>
            </a:r>
            <a:endParaRPr lang="en-US">
              <a:highlight>
                <a:srgbClr val="FFFF00"/>
              </a:highlight>
            </a:endParaRPr>
          </a:p>
          <a:p>
            <a:pPr lvl="1"/>
            <a:endParaRPr lang="en-US"/>
          </a:p>
          <a:p>
            <a:pPr lvl="1"/>
            <a:r>
              <a:rPr lang="en-US"/>
              <a:t>If for a particular iteration, no swapping took place, </a:t>
            </a:r>
            <a:endParaRPr lang="en-US"/>
          </a:p>
          <a:p>
            <a:pPr marL="914400" lvl="2" indent="0">
              <a:buNone/>
            </a:pPr>
            <a:r>
              <a:rPr lang="en-US" b="1"/>
              <a:t>it means the array has been </a:t>
            </a:r>
            <a:r>
              <a:rPr lang="en-US" b="1">
                <a:solidFill>
                  <a:srgbClr val="FF0000"/>
                </a:solidFill>
              </a:rPr>
              <a:t>sorted</a:t>
            </a:r>
            <a:r>
              <a:rPr lang="en-US" b="1"/>
              <a:t> and we can jump out of the </a:t>
            </a:r>
            <a:r>
              <a:rPr lang="en-US" b="1">
                <a:solidFill>
                  <a:srgbClr val="FF0000"/>
                </a:solidFill>
              </a:rPr>
              <a:t>for loop</a:t>
            </a:r>
            <a:r>
              <a:rPr lang="en-US" b="1"/>
              <a:t>, instead of executing all the iterations.</a:t>
            </a:r>
            <a:endParaRPr lang="en-US" b="1"/>
          </a:p>
          <a:p>
            <a:pPr lvl="1"/>
            <a:endParaRPr lang="en-US"/>
          </a:p>
          <a:p>
            <a:pPr lvl="1"/>
            <a:r>
              <a:rPr lang="en-US"/>
              <a:t>Let's consider an array with values</a:t>
            </a:r>
            <a:r>
              <a:rPr lang="en-US">
                <a:solidFill>
                  <a:srgbClr val="FF0000"/>
                </a:solidFill>
              </a:rPr>
              <a:t> {11, 17, 18, 26, 23}</a:t>
            </a:r>
            <a:endParaRPr lang="en-US">
              <a:solidFill>
                <a:srgbClr val="FF0000"/>
              </a:solidFill>
            </a:endParaRPr>
          </a:p>
          <a:p>
            <a:pPr lvl="1"/>
            <a:endParaRPr lang="en-US"/>
          </a:p>
          <a:p>
            <a:pPr lvl="1"/>
            <a:r>
              <a:rPr lang="en-US"/>
              <a:t>Below, we have a pictorial representation of how the optimized bubble sort will sort the given array.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83030" y="236855"/>
            <a:ext cx="9022080" cy="66401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420" y="339725"/>
            <a:ext cx="11041380" cy="5837555"/>
          </a:xfrm>
        </p:spPr>
        <p:txBody>
          <a:bodyPr/>
          <a:p>
            <a:r>
              <a:rPr lang="en-ZA" altLang="en-US"/>
              <a:t>Emplemntation of an Optimized Bubble Sort</a:t>
            </a:r>
            <a:endParaRPr lang="en-US"/>
          </a:p>
          <a:p>
            <a:r>
              <a:rPr lang="en-US"/>
              <a:t>Bubble sort is by using a </a:t>
            </a:r>
            <a:r>
              <a:rPr lang="en-US" b="1"/>
              <a:t>flag in a</a:t>
            </a:r>
            <a:r>
              <a:rPr lang="en-US" b="1">
                <a:solidFill>
                  <a:srgbClr val="FF0000"/>
                </a:solidFill>
              </a:rPr>
              <a:t> while loop</a:t>
            </a:r>
            <a:r>
              <a:rPr lang="en-US"/>
              <a:t> to determine if the given list is </a:t>
            </a:r>
            <a:r>
              <a:rPr lang="en-US" b="1">
                <a:solidFill>
                  <a:srgbClr val="FF0000"/>
                </a:solidFill>
              </a:rPr>
              <a:t>sorted or not</a:t>
            </a:r>
            <a:r>
              <a:rPr lang="en-US" b="1"/>
              <a:t>.</a:t>
            </a:r>
            <a:r>
              <a:rPr lang="en-US"/>
              <a:t> </a:t>
            </a:r>
            <a:endParaRPr lang="en-US"/>
          </a:p>
          <a:p>
            <a:r>
              <a:rPr lang="en-US"/>
              <a:t>Each loop will bubble up the l</a:t>
            </a:r>
            <a:r>
              <a:rPr lang="en-US" b="1"/>
              <a:t>argest value</a:t>
            </a:r>
            <a:r>
              <a:rPr lang="en-US"/>
              <a:t>(smallest value for descending order) of the remaining unsorted elements to the correct position. </a:t>
            </a:r>
            <a:endParaRPr lang="en-US"/>
          </a:p>
          <a:p>
            <a:r>
              <a:rPr lang="en-US"/>
              <a:t>Bubble up means the swap of </a:t>
            </a:r>
            <a:r>
              <a:rPr lang="en-US" b="1"/>
              <a:t>two values</a:t>
            </a:r>
            <a:r>
              <a:rPr lang="en-US"/>
              <a:t>, </a:t>
            </a:r>
            <a:endParaRPr lang="en-US"/>
          </a:p>
          <a:p>
            <a:pPr marL="457200" lvl="1" indent="0">
              <a:buNone/>
            </a:pPr>
            <a:r>
              <a:rPr lang="en-US"/>
              <a:t>when looping through each element in the list, if the value of the current position is larger than the value of the next position, swap them and set the </a:t>
            </a:r>
            <a:r>
              <a:rPr lang="en-US" b="1">
                <a:solidFill>
                  <a:srgbClr val="FF0000"/>
                </a:solidFill>
              </a:rPr>
              <a:t>swapped flag to true</a:t>
            </a:r>
            <a:r>
              <a:rPr lang="en-US"/>
              <a:t>, </a:t>
            </a:r>
            <a:endParaRPr lang="en-US"/>
          </a:p>
          <a:p>
            <a:pPr marL="457200" lvl="1" indent="0">
              <a:buNone/>
            </a:pPr>
            <a:r>
              <a:rPr lang="en-US"/>
              <a:t>so that the next outer while loop will loop through list again to do the next round of bubbling. </a:t>
            </a:r>
            <a:endParaRPr lang="en-US"/>
          </a:p>
          <a:p>
            <a:pPr marL="0" indent="0">
              <a:buNone/>
            </a:pPr>
            <a:r>
              <a:rPr lang="en-US"/>
              <a:t>Each inner loop will bubble up one value to the correct position, thus the number of inner loops will decrease </a:t>
            </a:r>
            <a:r>
              <a:rPr lang="en-US" b="1"/>
              <a:t>by 1 in the next iteration.</a:t>
            </a:r>
            <a:endParaRPr lang="en-US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390" y="230505"/>
            <a:ext cx="11154410" cy="5946775"/>
          </a:xfrm>
        </p:spPr>
        <p:txBody>
          <a:bodyPr/>
          <a:p>
            <a:pPr marL="0" indent="0">
              <a:buNone/>
            </a:pPr>
            <a:r>
              <a:rPr lang="en-US"/>
              <a:t>Time Complexity: </a:t>
            </a:r>
            <a:endParaRPr lang="en-US"/>
          </a:p>
          <a:p>
            <a:pPr lvl="1"/>
            <a:r>
              <a:rPr lang="en-US"/>
              <a:t>Best Case Sorted array as input. Or almost all elements are in proper place. [ O(N) ]. O(1) swaps.</a:t>
            </a:r>
            <a:endParaRPr lang="en-US"/>
          </a:p>
          <a:p>
            <a:pPr lvl="1"/>
            <a:r>
              <a:rPr lang="en-US"/>
              <a:t>Worst Case: Reversely sorted / Very few elements are in proper place.</a:t>
            </a:r>
            <a:r>
              <a:rPr lang="en-US" b="1"/>
              <a:t> [ O(N</a:t>
            </a:r>
            <a:r>
              <a:rPr lang="en-ZA" altLang="en-US" b="1"/>
              <a:t>^</a:t>
            </a:r>
            <a:r>
              <a:rPr lang="en-US" b="1"/>
              <a:t>2) ] </a:t>
            </a:r>
            <a:r>
              <a:rPr lang="en-US"/>
              <a:t>. O(N2) swaps.</a:t>
            </a:r>
            <a:endParaRPr lang="en-US"/>
          </a:p>
          <a:p>
            <a:pPr lvl="1"/>
            <a:r>
              <a:rPr lang="en-US"/>
              <a:t>Average Case: </a:t>
            </a:r>
            <a:r>
              <a:rPr lang="en-US" b="1">
                <a:solidFill>
                  <a:srgbClr val="FF0000"/>
                </a:solidFill>
              </a:rPr>
              <a:t>[ O(N2) ] . O(N2) swaps</a:t>
            </a:r>
            <a:r>
              <a:rPr lang="en-US"/>
              <a:t>.</a:t>
            </a:r>
            <a:endParaRPr lang="en-US"/>
          </a:p>
          <a:p>
            <a:pPr lvl="1"/>
            <a:r>
              <a:rPr lang="en-US"/>
              <a:t>Space Complexity: A </a:t>
            </a:r>
            <a:r>
              <a:rPr lang="en-US" b="1">
                <a:solidFill>
                  <a:srgbClr val="FF0000"/>
                </a:solidFill>
              </a:rPr>
              <a:t>t</a:t>
            </a:r>
            <a:r>
              <a:rPr lang="en-US" b="1">
                <a:solidFill>
                  <a:srgbClr val="FF0000"/>
                </a:solidFill>
              </a:rPr>
              <a:t>emporary variable </a:t>
            </a:r>
            <a:r>
              <a:rPr lang="en-US"/>
              <a:t>is used in swapping </a:t>
            </a:r>
            <a:endParaRPr lang="en-US"/>
          </a:p>
          <a:p>
            <a:pPr lvl="1"/>
            <a:r>
              <a:rPr lang="en-US"/>
              <a:t>[ auxiliary, O(1) ]. Hence it is </a:t>
            </a:r>
            <a:r>
              <a:rPr lang="en-US" b="1"/>
              <a:t>In-Place sort. </a:t>
            </a:r>
            <a:endParaRPr lang="en-US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ZA" altLang="en-US"/>
              <a:t>Insertion Sort Algorithm</a:t>
            </a:r>
            <a:endParaRPr lang="en-ZA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r>
              <a:rPr lang="en-US"/>
              <a:t>Insertion sort starts by assuming the first element in the list is already sorted, </a:t>
            </a:r>
            <a:endParaRPr lang="en-US"/>
          </a:p>
          <a:p>
            <a:pPr marL="457200" lvl="1" indent="0">
              <a:buNone/>
            </a:pPr>
            <a:r>
              <a:rPr lang="en-US"/>
              <a:t>then loops through the rest of elements in the list and inserts each element into the correction position in the previous sorted elements. </a:t>
            </a:r>
            <a:endParaRPr lang="en-US"/>
          </a:p>
          <a:p>
            <a:pPr lvl="0"/>
            <a:r>
              <a:rPr lang="en-US"/>
              <a:t>There will be an outer loop that goes through each element and this element will be saved to a </a:t>
            </a:r>
            <a:r>
              <a:rPr lang="en-US" b="1"/>
              <a:t>temporary variable</a:t>
            </a:r>
            <a:r>
              <a:rPr lang="en-US"/>
              <a:t>. </a:t>
            </a:r>
            <a:endParaRPr lang="en-US"/>
          </a:p>
          <a:p>
            <a:pPr lvl="0"/>
            <a:r>
              <a:rPr lang="en-US"/>
              <a:t>An inner loop will go backwards starting from the current </a:t>
            </a:r>
            <a:r>
              <a:rPr lang="en-US" b="1"/>
              <a:t>index-1</a:t>
            </a:r>
            <a:r>
              <a:rPr lang="en-US"/>
              <a:t> until it reaches to the first position or it finds the correct position for the element of the current outer index.</a:t>
            </a:r>
            <a:endParaRPr lang="en-ZA" altLang="en-US"/>
          </a:p>
          <a:p>
            <a:pPr lvl="0"/>
            <a:r>
              <a:rPr lang="en-US"/>
              <a:t> Each of the inner loop will move the element one position up if it hasn’t find a correct position for the value to be inserted, which is the value of the current outer loop index which is saved in the temporary variable. </a:t>
            </a:r>
            <a:endParaRPr lang="en-US"/>
          </a:p>
          <a:p>
            <a:pPr lvl="0"/>
            <a:r>
              <a:rPr lang="en-US"/>
              <a:t>This </a:t>
            </a:r>
            <a:r>
              <a:rPr lang="en-US" b="1"/>
              <a:t>temporary variable</a:t>
            </a:r>
            <a:r>
              <a:rPr lang="en-US"/>
              <a:t> will be inserted to the correct position once the inner loop finds the correct position for it.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545" y="321310"/>
            <a:ext cx="11184255" cy="5855970"/>
          </a:xfrm>
        </p:spPr>
        <p:txBody>
          <a:bodyPr>
            <a:normAutofit/>
          </a:bodyPr>
          <a:p>
            <a:r>
              <a:rPr lang="en-US"/>
              <a:t>Another Example: </a:t>
            </a:r>
            <a:endParaRPr lang="en-US"/>
          </a:p>
          <a:p>
            <a:pPr marL="457200" lvl="1" indent="0">
              <a:buNone/>
            </a:pPr>
            <a:r>
              <a:rPr lang="en-US"/>
              <a:t>12, 11, 13, 5, 6</a:t>
            </a:r>
            <a:endParaRPr lang="en-US"/>
          </a:p>
          <a:p>
            <a:pPr marL="457200" lvl="1" indent="0">
              <a:buNone/>
            </a:pPr>
            <a:r>
              <a:rPr lang="en-US"/>
              <a:t>Let us loop for i = 1 (second element of the array) to 4 (last element of the array)</a:t>
            </a:r>
            <a:endParaRPr lang="en-US"/>
          </a:p>
          <a:p>
            <a:pPr marL="457200" lvl="1" indent="0">
              <a:buNone/>
            </a:pPr>
            <a:r>
              <a:rPr lang="en-US"/>
              <a:t>i = 1. Since 11 is smaller than 12, move 12 and insert 11 before 12 </a:t>
            </a:r>
            <a:endParaRPr lang="en-US"/>
          </a:p>
          <a:p>
            <a:pPr marL="457200" lvl="1" indent="0">
              <a:buNone/>
            </a:pPr>
            <a:r>
              <a:rPr lang="en-US"/>
              <a:t>11, 12, 13, 5, 6</a:t>
            </a:r>
            <a:endParaRPr lang="en-US"/>
          </a:p>
          <a:p>
            <a:pPr marL="457200" lvl="1" indent="0">
              <a:buNone/>
            </a:pPr>
            <a:r>
              <a:rPr lang="en-US"/>
              <a:t>i = 2. 13 will remain at its position as all elements in A[0..I-1] are smaller than 13 </a:t>
            </a:r>
            <a:endParaRPr lang="en-US"/>
          </a:p>
          <a:p>
            <a:pPr marL="457200" lvl="1" indent="0">
              <a:buNone/>
            </a:pPr>
            <a:r>
              <a:rPr lang="en-US"/>
              <a:t>11, 12, 13, 5, 6</a:t>
            </a:r>
            <a:endParaRPr lang="en-US"/>
          </a:p>
          <a:p>
            <a:pPr marL="457200" lvl="1" indent="0">
              <a:buNone/>
            </a:pPr>
            <a:r>
              <a:rPr lang="en-US"/>
              <a:t>i = 3. 5 will move to the beginning and all other elements from 11 to 13 will move one position ahead of their current position. </a:t>
            </a:r>
            <a:endParaRPr lang="en-US"/>
          </a:p>
          <a:p>
            <a:pPr marL="457200" lvl="1" indent="0">
              <a:buNone/>
            </a:pPr>
            <a:r>
              <a:rPr lang="en-US"/>
              <a:t>5, 11, 12, 13, 6</a:t>
            </a:r>
            <a:endParaRPr lang="en-US"/>
          </a:p>
          <a:p>
            <a:pPr marL="457200" lvl="1" indent="0">
              <a:buNone/>
            </a:pPr>
            <a:r>
              <a:rPr lang="en-US"/>
              <a:t>i = 4. 6 will move to position after 5, and elements from 11 to 13 will move one position ahead of their current position. </a:t>
            </a:r>
            <a:endParaRPr lang="en-US"/>
          </a:p>
          <a:p>
            <a:pPr marL="457200" lvl="1" indent="0">
              <a:buNone/>
            </a:pPr>
            <a:r>
              <a:rPr lang="en-US"/>
              <a:t>5, 6, 11, 12, 13 </a:t>
            </a:r>
            <a:endParaRPr lang="en-US"/>
          </a:p>
          <a:p>
            <a:pPr marL="457200" lvl="1" indent="0">
              <a:buNone/>
            </a:pPr>
            <a:r>
              <a:rPr lang="en-US"/>
              <a:t> 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rPr lang="en-US">
                <a:sym typeface="+mn-ea"/>
              </a:rPr>
              <a:t>Selection </a:t>
            </a:r>
            <a:r>
              <a:rPr lang="en-ZA" altLang="en-US">
                <a:sym typeface="+mn-ea"/>
              </a:rPr>
              <a:t>S</a:t>
            </a:r>
            <a:r>
              <a:rPr lang="en-US">
                <a:sym typeface="+mn-ea"/>
              </a:rPr>
              <a:t>ort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p>
            <a:r>
              <a:rPr lang="en-US"/>
              <a:t>Selection sort is a sorting algorithm that selects the smallest element from an unsorted list in each iteration and places that element at the beginning of the unsorted list.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itle 1126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b="1"/>
              <a:t>Selection Sort</a:t>
            </a:r>
            <a:endParaRPr b="1"/>
          </a:p>
        </p:txBody>
      </p:sp>
      <p:sp>
        <p:nvSpPr>
          <p:cNvPr id="11267" name="Text Placeholder 11266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lnSpc>
                <a:spcPct val="90000"/>
              </a:lnSpc>
            </a:pPr>
            <a:r>
              <a:rPr sz="2400"/>
              <a:t>Reduces number of swaps to </a:t>
            </a:r>
            <a:r>
              <a:rPr sz="2400" b="1"/>
              <a:t>O(N).</a:t>
            </a:r>
            <a:endParaRPr sz="2400" b="1"/>
          </a:p>
          <a:p>
            <a:pPr>
              <a:lnSpc>
                <a:spcPct val="90000"/>
              </a:lnSpc>
            </a:pPr>
            <a:r>
              <a:rPr sz="2400"/>
              <a:t>Start at the </a:t>
            </a:r>
            <a:r>
              <a:rPr sz="2400" b="1"/>
              <a:t>left end.</a:t>
            </a:r>
            <a:endParaRPr sz="2400" b="1"/>
          </a:p>
          <a:p>
            <a:pPr>
              <a:lnSpc>
                <a:spcPct val="90000"/>
              </a:lnSpc>
            </a:pPr>
            <a:r>
              <a:rPr sz="2400"/>
              <a:t>Mark the leftmost item, say as min.</a:t>
            </a:r>
            <a:endParaRPr sz="2400"/>
          </a:p>
          <a:p>
            <a:pPr>
              <a:lnSpc>
                <a:spcPct val="90000"/>
              </a:lnSpc>
            </a:pPr>
            <a:r>
              <a:rPr sz="2400"/>
              <a:t>Compare this item with the next item, the shortest among two now becomes min.</a:t>
            </a:r>
            <a:endParaRPr sz="2400"/>
          </a:p>
          <a:p>
            <a:pPr>
              <a:lnSpc>
                <a:spcPct val="90000"/>
              </a:lnSpc>
            </a:pPr>
            <a:r>
              <a:rPr sz="2400"/>
              <a:t>Keep comparing till the end, the final min item is swapped at placed at position 0.</a:t>
            </a:r>
            <a:endParaRPr sz="2400"/>
          </a:p>
          <a:p>
            <a:pPr>
              <a:lnSpc>
                <a:spcPct val="90000"/>
              </a:lnSpc>
            </a:pPr>
            <a:r>
              <a:rPr sz="2400"/>
              <a:t>Then start with position 1 and repeat the process.</a:t>
            </a:r>
            <a:endParaRPr sz="2400"/>
          </a:p>
          <a:p>
            <a:pPr>
              <a:lnSpc>
                <a:spcPct val="90000"/>
              </a:lnSpc>
            </a:pPr>
            <a:r>
              <a:rPr sz="2400"/>
              <a:t>The number of comparisons are more but the number of swaps is considerably reduced.</a:t>
            </a:r>
            <a:endParaRPr sz="2400"/>
          </a:p>
          <a:p>
            <a:pPr>
              <a:lnSpc>
                <a:spcPct val="90000"/>
              </a:lnSpc>
            </a:pPr>
            <a:r>
              <a:rPr sz="2400" b="1">
                <a:solidFill>
                  <a:srgbClr val="FF3300"/>
                </a:solidFill>
              </a:rPr>
              <a:t>What situation is this sort good for?</a:t>
            </a:r>
            <a:endParaRPr sz="2400" b="1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itle 1228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Selection Sort</a:t>
            </a:r>
          </a:p>
        </p:txBody>
      </p:sp>
      <p:sp>
        <p:nvSpPr>
          <p:cNvPr id="12291" name="Text Placeholder 12290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1"/>
              <a:t>Efficiency:</a:t>
            </a:r>
            <a:endParaRPr b="1"/>
          </a:p>
          <a:p>
            <a:pPr>
              <a:buNone/>
            </a:pPr>
            <a:r>
              <a:t>	-- Number of comparisons is same, 	N*(N-1)/2.</a:t>
            </a:r>
          </a:p>
          <a:p>
            <a:pPr>
              <a:buNone/>
            </a:pPr>
            <a:r>
              <a:t>	-- runs in </a:t>
            </a:r>
            <a:r>
              <a:rPr b="1"/>
              <a:t>O(N</a:t>
            </a:r>
            <a:r>
              <a:rPr b="1" baseline="30000"/>
              <a:t>2</a:t>
            </a:r>
            <a:r>
              <a:rPr b="1"/>
              <a:t>) time.</a:t>
            </a:r>
            <a:endParaRPr b="1"/>
          </a:p>
          <a:p>
            <a:r>
              <a:t>How do you compare it to Bubble sort?</a:t>
            </a:r>
          </a:p>
          <a:p>
            <a:pPr lvl="1"/>
            <a:r>
              <a:rPr b="1">
                <a:solidFill>
                  <a:srgbClr val="FF3300"/>
                </a:solidFill>
              </a:rPr>
              <a:t>Faster than bubble sort because of fewer swaps.</a:t>
            </a:r>
            <a:endParaRPr b="1">
              <a:solidFill>
                <a:srgbClr val="FF3300"/>
              </a:solidFill>
            </a:endParaRPr>
          </a:p>
          <a:p>
            <a:pPr>
              <a:buNone/>
            </a:pPr>
            <a:endParaRPr b="1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charRg st="121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charRg st="121" end="1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itle 1945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Insertion Sort</a:t>
            </a:r>
          </a:p>
        </p:txBody>
      </p:sp>
      <p:sp>
        <p:nvSpPr>
          <p:cNvPr id="19459" name="Text Placeholder 19458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For already sorted data, runs in O(N) time.</a:t>
            </a:r>
          </a:p>
          <a:p>
            <a:r>
              <a:t>For data arranged in inverse order, runs no faster than bubble sort.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745" y="274955"/>
            <a:ext cx="11108055" cy="5902325"/>
          </a:xfrm>
        </p:spPr>
        <p:txBody>
          <a:bodyPr/>
          <a:p>
            <a:r>
              <a:rPr lang="en-US"/>
              <a:t>Selection sort selects i-th smallest element and places at i-th position. </a:t>
            </a:r>
            <a:endParaRPr lang="en-US"/>
          </a:p>
          <a:p>
            <a:r>
              <a:rPr lang="en-US"/>
              <a:t>This algorithm divides the array into two parts: sorted (left) and unsorted (right) subarray.</a:t>
            </a:r>
            <a:endParaRPr lang="en-US"/>
          </a:p>
          <a:p>
            <a:r>
              <a:rPr lang="en-US"/>
              <a:t> It selects the smallest element from unsorted subarray and places in the first position of that subarray (ascending order).</a:t>
            </a:r>
            <a:endParaRPr lang="en-US"/>
          </a:p>
          <a:p>
            <a:r>
              <a:rPr lang="en-US"/>
              <a:t> It repeatedly selects the next smallest element. 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itle 18433"/>
          <p:cNvSpPr>
            <a:spLocks noGrp="1"/>
          </p:cNvSpPr>
          <p:nvPr>
            <p:ph type="title"/>
          </p:nvPr>
        </p:nvSpPr>
        <p:spPr>
          <a:xfrm>
            <a:off x="1076325" y="381000"/>
            <a:ext cx="9591675" cy="1066800"/>
          </a:xfrm>
        </p:spPr>
        <p:txBody>
          <a:bodyPr anchor="ctr" anchorCtr="0"/>
          <a:p>
            <a:r>
              <a:t>Insertion Sort Analysis</a:t>
            </a:r>
          </a:p>
        </p:txBody>
      </p:sp>
      <p:sp>
        <p:nvSpPr>
          <p:cNvPr id="18435" name="Text Placeholder 18434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lnSpc>
                <a:spcPct val="80000"/>
              </a:lnSpc>
            </a:pPr>
            <a:r>
              <a:rPr sz="2800"/>
              <a:t>On the first pass, compares at the most one item, two on second pass and so on. N-1 comparisons in the last pass.</a:t>
            </a:r>
            <a:endParaRPr sz="2800"/>
          </a:p>
          <a:p>
            <a:pPr>
              <a:lnSpc>
                <a:spcPct val="80000"/>
              </a:lnSpc>
            </a:pPr>
            <a:r>
              <a:rPr sz="2800"/>
              <a:t>On each pass an average of only half of the maximum number of items are actually compared before the insertion point is found.</a:t>
            </a:r>
            <a:endParaRPr sz="2800"/>
          </a:p>
          <a:p>
            <a:pPr>
              <a:lnSpc>
                <a:spcPct val="80000"/>
              </a:lnSpc>
            </a:pPr>
            <a:r>
              <a:rPr sz="2800" b="1"/>
              <a:t>N*(N-1)/4 comparisons.</a:t>
            </a:r>
            <a:endParaRPr sz="2800"/>
          </a:p>
          <a:p>
            <a:pPr>
              <a:lnSpc>
                <a:spcPct val="80000"/>
              </a:lnSpc>
            </a:pPr>
            <a:r>
              <a:rPr sz="2800"/>
              <a:t>Since there is no swapping, it is twice as faster than  bubble sort and faster than selection Sort.</a:t>
            </a:r>
            <a:endParaRPr sz="2800"/>
          </a:p>
          <a:p>
            <a:pPr>
              <a:lnSpc>
                <a:spcPct val="80000"/>
              </a:lnSpc>
            </a:pPr>
            <a:r>
              <a:rPr sz="2800" b="1"/>
              <a:t>Runs in O(N</a:t>
            </a:r>
            <a:r>
              <a:rPr sz="2800" b="1" baseline="30000"/>
              <a:t>2</a:t>
            </a:r>
            <a:r>
              <a:rPr sz="2800" b="1"/>
              <a:t>) time.</a:t>
            </a:r>
            <a:endParaRPr sz="2800" b="1"/>
          </a:p>
          <a:p>
            <a:pPr>
              <a:lnSpc>
                <a:spcPct val="80000"/>
              </a:lnSpc>
              <a:buNone/>
            </a:pPr>
            <a:endParaRPr sz="28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itle 2048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b="1"/>
              <a:t>Comparison</a:t>
            </a:r>
            <a:endParaRPr b="1"/>
          </a:p>
        </p:txBody>
      </p:sp>
      <p:sp>
        <p:nvSpPr>
          <p:cNvPr id="20483" name="Text Placeholder 2048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Bubble sort is useful for small amounts of data.</a:t>
            </a:r>
          </a:p>
          <a:p>
            <a:r>
              <a:t>Selection sort can be used when amount of data is small and swapping is time-consuming.</a:t>
            </a:r>
          </a:p>
          <a:p>
            <a:r>
              <a:t>Insertion sort is most versatile and the best when the list is almost sorted.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5118</Words>
  <Application>WPS Presentation</Application>
  <PresentationFormat>Widescreen</PresentationFormat>
  <Paragraphs>103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Selection Sort</vt:lpstr>
      <vt:lpstr>Selection Sort</vt:lpstr>
      <vt:lpstr>Insertion Sort</vt:lpstr>
      <vt:lpstr>PowerPoint 演示文稿</vt:lpstr>
      <vt:lpstr>Insertion Sort Analysis</vt:lpstr>
      <vt:lpstr>Comparison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Comparison of Bubble Sort Insertion Sort, and Selection Sort</dc:title>
  <dc:creator/>
  <cp:lastModifiedBy>unaaz</cp:lastModifiedBy>
  <cp:revision>1</cp:revision>
  <dcterms:created xsi:type="dcterms:W3CDTF">2021-08-18T08:42:23Z</dcterms:created>
  <dcterms:modified xsi:type="dcterms:W3CDTF">2021-08-18T08:42:24Z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B960483026B64B868A426FD82ABA9190</vt:lpwstr>
  </property>
  <property fmtid="{D5CDD505-2E9C-101B-9397-08002B2CF9AE}" pid="3" name="KSOProductBuildVer">
    <vt:lpwstr>1033-11.2.0.10258</vt:lpwstr>
  </property>
</Properties>
</file>