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301" r:id="rId3"/>
    <p:sldId id="306" r:id="rId4"/>
    <p:sldId id="310" r:id="rId5"/>
    <p:sldId id="309" r:id="rId6"/>
    <p:sldId id="308" r:id="rId7"/>
    <p:sldId id="279" r:id="rId8"/>
    <p:sldId id="280" r:id="rId9"/>
    <p:sldId id="281" r:id="rId10"/>
    <p:sldId id="282" r:id="rId11"/>
    <p:sldId id="283" r:id="rId12"/>
    <p:sldId id="285" r:id="rId13"/>
    <p:sldId id="302" r:id="rId14"/>
    <p:sldId id="303" r:id="rId15"/>
    <p:sldId id="312" r:id="rId16"/>
    <p:sldId id="311" r:id="rId17"/>
    <p:sldId id="304"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00" autoAdjust="0"/>
    <p:restoredTop sz="94660"/>
  </p:normalViewPr>
  <p:slideViewPr>
    <p:cSldViewPr>
      <p:cViewPr varScale="1">
        <p:scale>
          <a:sx n="56" d="100"/>
          <a:sy n="56" d="100"/>
        </p:scale>
        <p:origin x="1200" y="5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9E2F2C-E289-4897-A4AF-2EFA9A42822E}" type="datetimeFigureOut">
              <a:rPr lang="en-ZA" smtClean="0"/>
              <a:t>22/09/2020</a:t>
            </a:fld>
            <a:endParaRPr lang="en-Z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1376C8-A80C-479A-8292-8AB60C29D792}" type="slidenum">
              <a:rPr lang="en-ZA" smtClean="0"/>
              <a:t>‹#›</a:t>
            </a:fld>
            <a:endParaRPr lang="en-ZA"/>
          </a:p>
        </p:txBody>
      </p:sp>
    </p:spTree>
    <p:extLst>
      <p:ext uri="{BB962C8B-B14F-4D97-AF65-F5344CB8AC3E}">
        <p14:creationId xmlns:p14="http://schemas.microsoft.com/office/powerpoint/2010/main" val="1372155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21376C8-A80C-479A-8292-8AB60C29D792}" type="slidenum">
              <a:rPr lang="en-ZA" smtClean="0"/>
              <a:t>4</a:t>
            </a:fld>
            <a:endParaRPr lang="en-ZA"/>
          </a:p>
        </p:txBody>
      </p:sp>
    </p:spTree>
    <p:extLst>
      <p:ext uri="{BB962C8B-B14F-4D97-AF65-F5344CB8AC3E}">
        <p14:creationId xmlns:p14="http://schemas.microsoft.com/office/powerpoint/2010/main" val="449513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21376C8-A80C-479A-8292-8AB60C29D792}" type="slidenum">
              <a:rPr lang="en-ZA" smtClean="0"/>
              <a:t>5</a:t>
            </a:fld>
            <a:endParaRPr lang="en-ZA"/>
          </a:p>
        </p:txBody>
      </p:sp>
    </p:spTree>
    <p:extLst>
      <p:ext uri="{BB962C8B-B14F-4D97-AF65-F5344CB8AC3E}">
        <p14:creationId xmlns:p14="http://schemas.microsoft.com/office/powerpoint/2010/main" val="4125863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8AE2173-4B2F-4F65-98F6-E8FDEA74ADBD}" type="datetimeFigureOut">
              <a:rPr lang="en-US" smtClean="0"/>
              <a:pPr/>
              <a:t>9/22/2020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E2347-9B7A-4BCF-848D-399981787B8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AE2173-4B2F-4F65-98F6-E8FDEA74ADBD}" type="datetimeFigureOut">
              <a:rPr lang="en-US" smtClean="0"/>
              <a:pPr/>
              <a:t>9/22/2020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E2347-9B7A-4BCF-848D-399981787B8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8AE2173-4B2F-4F65-98F6-E8FDEA74ADBD}" type="datetimeFigureOut">
              <a:rPr lang="en-US" smtClean="0"/>
              <a:pPr/>
              <a:t>9/22/2020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E2347-9B7A-4BCF-848D-399981787B8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8AE2173-4B2F-4F65-98F6-E8FDEA74ADBD}" type="datetimeFigureOut">
              <a:rPr lang="en-US" smtClean="0"/>
              <a:pPr/>
              <a:t>9/22/2020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3E2347-9B7A-4BCF-848D-399981787B8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8AE2173-4B2F-4F65-98F6-E8FDEA74ADBD}" type="datetimeFigureOut">
              <a:rPr lang="en-US" smtClean="0"/>
              <a:pPr/>
              <a:t>9/22/2020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3E2347-9B7A-4BCF-848D-399981787B8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8AE2173-4B2F-4F65-98F6-E8FDEA74ADBD}" type="datetimeFigureOut">
              <a:rPr lang="en-US" smtClean="0"/>
              <a:pPr/>
              <a:t>9/22/2020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3E2347-9B7A-4BCF-848D-399981787B8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AE2173-4B2F-4F65-98F6-E8FDEA74ADBD}" type="datetimeFigureOut">
              <a:rPr lang="en-US" smtClean="0"/>
              <a:pPr/>
              <a:t>9/22/2020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3E2347-9B7A-4BCF-848D-399981787B8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AE2173-4B2F-4F65-98F6-E8FDEA74ADBD}" type="datetimeFigureOut">
              <a:rPr lang="en-US" smtClean="0"/>
              <a:pPr/>
              <a:t>9/22/2020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3E2347-9B7A-4BCF-848D-399981787B8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AE2173-4B2F-4F65-98F6-E8FDEA74ADBD}" type="datetimeFigureOut">
              <a:rPr lang="en-US" smtClean="0"/>
              <a:pPr/>
              <a:t>9/22/2020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3E2347-9B7A-4BCF-848D-399981787B8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AE2173-4B2F-4F65-98F6-E8FDEA74ADBD}" type="datetimeFigureOut">
              <a:rPr lang="en-US" smtClean="0"/>
              <a:pPr/>
              <a:t>9/22/2020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E2347-9B7A-4BCF-848D-399981787B8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AE2173-4B2F-4F65-98F6-E8FDEA74ADBD}" type="datetimeFigureOut">
              <a:rPr lang="en-US" smtClean="0"/>
              <a:pPr/>
              <a:t>9/22/2020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E2347-9B7A-4BCF-848D-399981787B8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AE2173-4B2F-4F65-98F6-E8FDEA74ADBD}" type="datetimeFigureOut">
              <a:rPr lang="en-US" smtClean="0"/>
              <a:pPr/>
              <a:t>9/22/2020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3E2347-9B7A-4BCF-848D-399981787B8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killsyouneed.com/learn/research-proposal.html" TargetMode="External"/><Relationship Id="rId2" Type="http://schemas.openxmlformats.org/officeDocument/2006/relationships/hyperlink" Target="http://ixion.cput.ac/library" TargetMode="External"/><Relationship Id="rId1" Type="http://schemas.openxmlformats.org/officeDocument/2006/relationships/slideLayout" Target="../slideLayouts/slideLayout1.xml"/><Relationship Id="rId4" Type="http://schemas.openxmlformats.org/officeDocument/2006/relationships/hyperlink" Target="file:///E:\2016\2nd%20Year\Term%202\Research%20and%20Writing\Research\qualmethods.pdf"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style>
          <a:lnRef idx="0">
            <a:schemeClr val="accent4"/>
          </a:lnRef>
          <a:fillRef idx="3">
            <a:schemeClr val="accent4"/>
          </a:fillRef>
          <a:effectRef idx="3">
            <a:schemeClr val="accent4"/>
          </a:effectRef>
          <a:fontRef idx="minor">
            <a:schemeClr val="lt1"/>
          </a:fontRef>
        </p:style>
        <p:txBody>
          <a:bodyPr/>
          <a:lstStyle/>
          <a:p>
            <a:r>
              <a:rPr lang="en-US" b="1" dirty="0" smtClean="0">
                <a:solidFill>
                  <a:srgbClr val="FF0000"/>
                </a:solidFill>
              </a:rPr>
              <a:t>Research</a:t>
            </a:r>
            <a:r>
              <a:rPr lang="en-US" b="1" dirty="0" smtClean="0"/>
              <a:t> guidelines</a:t>
            </a:r>
            <a:endParaRPr lang="en-US" b="1" dirty="0"/>
          </a:p>
        </p:txBody>
      </p:sp>
      <p:sp>
        <p:nvSpPr>
          <p:cNvPr id="3" name="Subtitle 2"/>
          <p:cNvSpPr>
            <a:spLocks noGrp="1"/>
          </p:cNvSpPr>
          <p:nvPr>
            <p:ph type="subTitle" idx="1"/>
          </p:nvPr>
        </p:nvSpPr>
        <p:spPr>
          <a:xfrm>
            <a:off x="1475656" y="4149080"/>
            <a:ext cx="6400800" cy="1584176"/>
          </a:xfrm>
        </p:spPr>
        <p:txBody>
          <a:bodyPr>
            <a:normAutofit fontScale="40000" lnSpcReduction="20000"/>
          </a:bodyPr>
          <a:lstStyle/>
          <a:p>
            <a:endParaRPr lang="en-US" sz="2400" dirty="0" smtClean="0"/>
          </a:p>
          <a:p>
            <a:endParaRPr lang="en-US" sz="2400" dirty="0"/>
          </a:p>
          <a:p>
            <a:r>
              <a:rPr lang="en-US" sz="2400" dirty="0" smtClean="0"/>
              <a:t>Referencing guidelines sourced from the CPUT website’s library services:</a:t>
            </a:r>
          </a:p>
          <a:p>
            <a:r>
              <a:rPr lang="en-US" sz="2400" dirty="0" smtClean="0">
                <a:hlinkClick r:id="rId2"/>
              </a:rPr>
              <a:t>http://ixion.cput.ac/library</a:t>
            </a:r>
            <a:endParaRPr lang="en-US" sz="2400" dirty="0" smtClean="0"/>
          </a:p>
          <a:p>
            <a:endParaRPr lang="en-US" sz="2400" dirty="0" smtClean="0"/>
          </a:p>
          <a:p>
            <a:r>
              <a:rPr lang="en-ZA" sz="2400" b="1" dirty="0">
                <a:hlinkClick r:id="rId3"/>
              </a:rPr>
              <a:t>Writing a Research </a:t>
            </a:r>
            <a:r>
              <a:rPr lang="en-ZA" sz="2400" b="1" dirty="0" smtClean="0">
                <a:hlinkClick r:id="rId3"/>
              </a:rPr>
              <a:t>Proposal</a:t>
            </a:r>
            <a:r>
              <a:rPr lang="en-ZA" sz="2400" b="1" u="sng" dirty="0" smtClean="0"/>
              <a:t>: </a:t>
            </a:r>
          </a:p>
          <a:p>
            <a:r>
              <a:rPr lang="en-ZA" sz="1600" dirty="0" smtClean="0">
                <a:hlinkClick r:id="rId3"/>
              </a:rPr>
              <a:t>http</a:t>
            </a:r>
            <a:r>
              <a:rPr lang="en-ZA" sz="1600" dirty="0">
                <a:hlinkClick r:id="rId3"/>
              </a:rPr>
              <a:t>://</a:t>
            </a:r>
            <a:r>
              <a:rPr lang="en-ZA" sz="1600" dirty="0" smtClean="0">
                <a:hlinkClick r:id="rId3"/>
              </a:rPr>
              <a:t>www.skillsyouneed.com/learn/research-proposal.html</a:t>
            </a:r>
            <a:endParaRPr lang="en-ZA" sz="1600" dirty="0" smtClean="0"/>
          </a:p>
          <a:p>
            <a:endParaRPr lang="en-ZA" sz="2200" b="1" dirty="0" smtClean="0">
              <a:solidFill>
                <a:schemeClr val="accent1">
                  <a:lumMod val="50000"/>
                </a:schemeClr>
              </a:solidFill>
            </a:endParaRPr>
          </a:p>
          <a:p>
            <a:r>
              <a:rPr lang="en-US" sz="2200" b="1" dirty="0">
                <a:solidFill>
                  <a:schemeClr val="accent1">
                    <a:lumMod val="50000"/>
                  </a:schemeClr>
                </a:solidFill>
              </a:rPr>
              <a:t>Qualitative Research Methods: A Data Collector’s Field </a:t>
            </a:r>
            <a:r>
              <a:rPr lang="en-US" sz="2200" b="1" dirty="0" smtClean="0">
                <a:solidFill>
                  <a:schemeClr val="accent1">
                    <a:lumMod val="50000"/>
                  </a:schemeClr>
                </a:solidFill>
              </a:rPr>
              <a:t>Guide</a:t>
            </a:r>
            <a:r>
              <a:rPr lang="en-US" sz="2200" b="1" dirty="0">
                <a:solidFill>
                  <a:schemeClr val="accent1">
                    <a:lumMod val="50000"/>
                  </a:schemeClr>
                </a:solidFill>
              </a:rPr>
              <a:t>: </a:t>
            </a:r>
            <a:r>
              <a:rPr lang="en-US" sz="2200" b="1" dirty="0">
                <a:solidFill>
                  <a:schemeClr val="accent1">
                    <a:lumMod val="50000"/>
                  </a:schemeClr>
                </a:solidFill>
                <a:hlinkClick r:id="rId4" action="ppaction://hlinkfile"/>
              </a:rPr>
              <a:t>file:///E:/</a:t>
            </a:r>
            <a:r>
              <a:rPr lang="en-US" sz="2200" b="1" dirty="0" smtClean="0">
                <a:solidFill>
                  <a:schemeClr val="accent1">
                    <a:lumMod val="50000"/>
                  </a:schemeClr>
                </a:solidFill>
                <a:hlinkClick r:id="rId4" action="ppaction://hlinkfile"/>
              </a:rPr>
              <a:t>2016/2nd%20Year/Term%202/Research%20and%20Writing/Research/qualmethods.pdf</a:t>
            </a:r>
            <a:endParaRPr lang="en-US" sz="2200" b="1" dirty="0" smtClean="0">
              <a:solidFill>
                <a:schemeClr val="accent1">
                  <a:lumMod val="50000"/>
                </a:schemeClr>
              </a:solidFill>
            </a:endParaRPr>
          </a:p>
          <a:p>
            <a:endParaRPr lang="en-ZA" sz="2200" b="1" dirty="0" smtClean="0">
              <a:solidFill>
                <a:schemeClr val="accent1">
                  <a:lumMod val="50000"/>
                </a:schemeClr>
              </a:solidFill>
            </a:endParaRPr>
          </a:p>
          <a:p>
            <a:endParaRPr lang="en-ZA" sz="2400" b="1" u="sng" dirty="0" smtClean="0"/>
          </a:p>
          <a:p>
            <a:endParaRPr lang="en-US" sz="2400" dirty="0" smtClean="0"/>
          </a:p>
          <a:p>
            <a:endParaRPr lang="en-US" sz="2400" dirty="0" smtClean="0"/>
          </a:p>
          <a:p>
            <a:endParaRPr 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a:ln>
            <a:solidFill>
              <a:schemeClr val="accent4">
                <a:lumMod val="75000"/>
              </a:schemeClr>
            </a:solidFill>
          </a:ln>
        </p:spPr>
        <p:txBody>
          <a:bodyPr>
            <a:normAutofit/>
          </a:bodyPr>
          <a:lstStyle/>
          <a:p>
            <a:r>
              <a:rPr lang="en-ZA" sz="3600" b="1" dirty="0" smtClean="0"/>
              <a:t>What is Research?</a:t>
            </a:r>
            <a:endParaRPr lang="en-ZA" sz="3600" b="1" dirty="0"/>
          </a:p>
        </p:txBody>
      </p:sp>
      <p:sp>
        <p:nvSpPr>
          <p:cNvPr id="3" name="Content Placeholder 2"/>
          <p:cNvSpPr>
            <a:spLocks noGrp="1"/>
          </p:cNvSpPr>
          <p:nvPr>
            <p:ph idx="1"/>
          </p:nvPr>
        </p:nvSpPr>
        <p:spPr>
          <a:solidFill>
            <a:schemeClr val="accent4">
              <a:lumMod val="20000"/>
              <a:lumOff val="80000"/>
            </a:schemeClr>
          </a:solidFill>
        </p:spPr>
        <p:txBody>
          <a:bodyPr>
            <a:normAutofit fontScale="62500" lnSpcReduction="20000"/>
          </a:bodyPr>
          <a:lstStyle/>
          <a:p>
            <a:pPr marL="0" indent="0">
              <a:buNone/>
            </a:pPr>
            <a:r>
              <a:rPr lang="en-US" b="1" u="sng" dirty="0" smtClean="0"/>
              <a:t>In general terms, scientific research consists of an investigation that:</a:t>
            </a:r>
          </a:p>
          <a:p>
            <a:pPr marL="0" indent="0">
              <a:buNone/>
            </a:pPr>
            <a:endParaRPr lang="en-US" dirty="0" smtClean="0"/>
          </a:p>
          <a:p>
            <a:pPr marL="0" indent="0">
              <a:buNone/>
            </a:pPr>
            <a:r>
              <a:rPr lang="en-US" dirty="0" smtClean="0"/>
              <a:t>• 	Seeks </a:t>
            </a:r>
            <a:r>
              <a:rPr lang="en-US" dirty="0"/>
              <a:t>answers to a </a:t>
            </a:r>
            <a:r>
              <a:rPr lang="en-US" dirty="0" smtClean="0"/>
              <a:t>question.</a:t>
            </a:r>
          </a:p>
          <a:p>
            <a:pPr marL="0" indent="0">
              <a:buNone/>
            </a:pPr>
            <a:r>
              <a:rPr lang="en-US" dirty="0" smtClean="0"/>
              <a:t>	For example: </a:t>
            </a:r>
            <a:r>
              <a:rPr lang="en-US" i="1" dirty="0" smtClean="0"/>
              <a:t>Are CPUT students equipped to receive online learning?</a:t>
            </a:r>
          </a:p>
          <a:p>
            <a:pPr marL="0" indent="0">
              <a:buNone/>
            </a:pPr>
            <a:endParaRPr lang="en-US" dirty="0" smtClean="0"/>
          </a:p>
          <a:p>
            <a:pPr marL="0" indent="0">
              <a:buNone/>
            </a:pPr>
            <a:r>
              <a:rPr lang="en-US" dirty="0" smtClean="0"/>
              <a:t>• 	Systematically </a:t>
            </a:r>
            <a:r>
              <a:rPr lang="en-US" dirty="0"/>
              <a:t>uses a</a:t>
            </a:r>
            <a:r>
              <a:rPr lang="en-US" b="1" dirty="0"/>
              <a:t> predefined set of procedures </a:t>
            </a:r>
            <a:r>
              <a:rPr lang="en-US" dirty="0"/>
              <a:t>to answer </a:t>
            </a:r>
            <a:r>
              <a:rPr lang="en-US" dirty="0" smtClean="0"/>
              <a:t>	the  question. </a:t>
            </a:r>
          </a:p>
          <a:p>
            <a:pPr marL="0" indent="0">
              <a:buNone/>
            </a:pPr>
            <a:endParaRPr lang="en-US" dirty="0" smtClean="0"/>
          </a:p>
          <a:p>
            <a:pPr marL="0" indent="0">
              <a:buNone/>
            </a:pPr>
            <a:r>
              <a:rPr lang="en-US" dirty="0" smtClean="0"/>
              <a:t>• 	Collects evidence.</a:t>
            </a:r>
          </a:p>
          <a:p>
            <a:pPr marL="0" indent="0">
              <a:buNone/>
            </a:pPr>
            <a:endParaRPr lang="en-US" dirty="0" smtClean="0"/>
          </a:p>
          <a:p>
            <a:pPr marL="0" indent="0">
              <a:buNone/>
            </a:pPr>
            <a:r>
              <a:rPr lang="en-US" dirty="0" smtClean="0"/>
              <a:t>• 	Produces </a:t>
            </a:r>
            <a:r>
              <a:rPr lang="en-US" dirty="0"/>
              <a:t>findings that were not determined in </a:t>
            </a:r>
            <a:r>
              <a:rPr lang="en-US" dirty="0" smtClean="0"/>
              <a:t>advance. </a:t>
            </a:r>
          </a:p>
          <a:p>
            <a:pPr marL="0" indent="0">
              <a:buNone/>
            </a:pPr>
            <a:endParaRPr lang="en-US" dirty="0" smtClean="0"/>
          </a:p>
          <a:p>
            <a:pPr marL="0" indent="0">
              <a:buNone/>
            </a:pPr>
            <a:r>
              <a:rPr lang="en-US" dirty="0" smtClean="0"/>
              <a:t>• 	Produces </a:t>
            </a:r>
            <a:r>
              <a:rPr lang="en-US" dirty="0"/>
              <a:t>findings that are applicable beyond the immediate </a:t>
            </a:r>
            <a:r>
              <a:rPr lang="en-US" dirty="0" smtClean="0"/>
              <a:t>	boundaries </a:t>
            </a:r>
            <a:r>
              <a:rPr lang="en-US" dirty="0"/>
              <a:t>of the </a:t>
            </a:r>
            <a:r>
              <a:rPr lang="en-US" dirty="0" smtClean="0"/>
              <a:t>study.</a:t>
            </a:r>
            <a:endParaRPr lang="en-ZA" dirty="0"/>
          </a:p>
        </p:txBody>
      </p:sp>
    </p:spTree>
    <p:extLst>
      <p:ext uri="{BB962C8B-B14F-4D97-AF65-F5344CB8AC3E}">
        <p14:creationId xmlns:p14="http://schemas.microsoft.com/office/powerpoint/2010/main" val="32806283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1008112"/>
          </a:xfrm>
        </p:spPr>
        <p:style>
          <a:lnRef idx="2">
            <a:schemeClr val="accent4"/>
          </a:lnRef>
          <a:fillRef idx="1">
            <a:schemeClr val="lt1"/>
          </a:fillRef>
          <a:effectRef idx="0">
            <a:schemeClr val="accent4"/>
          </a:effectRef>
          <a:fontRef idx="minor">
            <a:schemeClr val="dk1"/>
          </a:fontRef>
        </p:style>
        <p:txBody>
          <a:bodyPr/>
          <a:lstStyle/>
          <a:p>
            <a:r>
              <a:rPr lang="en-US" b="1" dirty="0" smtClean="0"/>
              <a:t>Types of Data </a:t>
            </a:r>
            <a:endParaRPr lang="en-US" b="1" dirty="0"/>
          </a:p>
        </p:txBody>
      </p:sp>
      <p:sp>
        <p:nvSpPr>
          <p:cNvPr id="3" name="Content Placeholder 2"/>
          <p:cNvSpPr>
            <a:spLocks noGrp="1"/>
          </p:cNvSpPr>
          <p:nvPr>
            <p:ph idx="1"/>
          </p:nvPr>
        </p:nvSpPr>
        <p:spPr>
          <a:solidFill>
            <a:schemeClr val="accent4">
              <a:lumMod val="20000"/>
              <a:lumOff val="80000"/>
            </a:schemeClr>
          </a:solidFill>
        </p:spPr>
        <p:txBody>
          <a:bodyPr>
            <a:normAutofit lnSpcReduction="10000"/>
          </a:bodyPr>
          <a:lstStyle/>
          <a:p>
            <a:pPr>
              <a:lnSpc>
                <a:spcPct val="90000"/>
              </a:lnSpc>
              <a:buNone/>
            </a:pPr>
            <a:r>
              <a:rPr lang="en-US" dirty="0" smtClean="0"/>
              <a:t>	</a:t>
            </a:r>
            <a:r>
              <a:rPr lang="en-US" b="1" dirty="0" smtClean="0">
                <a:solidFill>
                  <a:srgbClr val="FF0000"/>
                </a:solidFill>
              </a:rPr>
              <a:t>PRIMARY DATA</a:t>
            </a:r>
          </a:p>
          <a:p>
            <a:pPr>
              <a:lnSpc>
                <a:spcPct val="90000"/>
              </a:lnSpc>
            </a:pPr>
            <a:r>
              <a:rPr lang="en-US" dirty="0" smtClean="0"/>
              <a:t>Research that is conducted for the </a:t>
            </a:r>
            <a:r>
              <a:rPr lang="en-US" b="1" dirty="0" smtClean="0"/>
              <a:t>first</a:t>
            </a:r>
            <a:r>
              <a:rPr lang="en-US" dirty="0" smtClean="0"/>
              <a:t> time and by </a:t>
            </a:r>
            <a:r>
              <a:rPr lang="en-US" b="1" dirty="0" smtClean="0"/>
              <a:t>yourself</a:t>
            </a:r>
            <a:r>
              <a:rPr lang="en-US" dirty="0" smtClean="0"/>
              <a:t>.</a:t>
            </a:r>
          </a:p>
          <a:p>
            <a:pPr>
              <a:lnSpc>
                <a:spcPct val="90000"/>
              </a:lnSpc>
            </a:pPr>
            <a:endParaRPr lang="en-US" dirty="0" smtClean="0"/>
          </a:p>
          <a:p>
            <a:pPr>
              <a:lnSpc>
                <a:spcPct val="90000"/>
              </a:lnSpc>
            </a:pPr>
            <a:r>
              <a:rPr lang="en-US" dirty="0" smtClean="0"/>
              <a:t>It includes interviews, surveys or questionnaires. </a:t>
            </a:r>
          </a:p>
          <a:p>
            <a:pPr>
              <a:lnSpc>
                <a:spcPct val="90000"/>
              </a:lnSpc>
            </a:pPr>
            <a:endParaRPr lang="en-US" dirty="0" smtClean="0"/>
          </a:p>
          <a:p>
            <a:pPr>
              <a:lnSpc>
                <a:spcPct val="90000"/>
              </a:lnSpc>
            </a:pPr>
            <a:r>
              <a:rPr lang="en-US" dirty="0" smtClean="0"/>
              <a:t>Questions for primary research: you can either use </a:t>
            </a:r>
            <a:r>
              <a:rPr lang="en-US" b="1" dirty="0" smtClean="0"/>
              <a:t>open</a:t>
            </a:r>
            <a:r>
              <a:rPr lang="en-US" dirty="0" smtClean="0"/>
              <a:t> or </a:t>
            </a:r>
            <a:r>
              <a:rPr lang="en-US" b="1" dirty="0" smtClean="0"/>
              <a:t>closed</a:t>
            </a:r>
            <a:r>
              <a:rPr lang="en-US" dirty="0" smtClean="0"/>
              <a:t> </a:t>
            </a:r>
            <a:r>
              <a:rPr lang="en-US" b="1" dirty="0" smtClean="0"/>
              <a:t>ended</a:t>
            </a:r>
            <a:r>
              <a:rPr lang="en-US" dirty="0" smtClean="0"/>
              <a:t> questions.</a:t>
            </a:r>
          </a:p>
          <a:p>
            <a:pPr>
              <a:lnSpc>
                <a:spcPct val="90000"/>
              </a:lnSpc>
            </a:pPr>
            <a:endParaRPr lang="en-US" dirty="0" smtClean="0"/>
          </a:p>
          <a:p>
            <a:pPr>
              <a:lnSpc>
                <a:spcPct val="90000"/>
              </a:lnSpc>
            </a:pPr>
            <a:endParaRPr lang="en-US" dirty="0" smtClean="0"/>
          </a:p>
          <a:p>
            <a:endParaRPr lang="en-US" dirty="0"/>
          </a:p>
        </p:txBody>
      </p:sp>
    </p:spTree>
    <p:extLst>
      <p:ext uri="{BB962C8B-B14F-4D97-AF65-F5344CB8AC3E}">
        <p14:creationId xmlns:p14="http://schemas.microsoft.com/office/powerpoint/2010/main" val="37534696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892480" cy="764704"/>
          </a:xfrm>
          <a:ln>
            <a:solidFill>
              <a:schemeClr val="accent4">
                <a:lumMod val="75000"/>
              </a:schemeClr>
            </a:solidFill>
          </a:ln>
        </p:spPr>
        <p:txBody>
          <a:bodyPr>
            <a:normAutofit fontScale="90000"/>
          </a:bodyPr>
          <a:lstStyle/>
          <a:p>
            <a:r>
              <a:rPr lang="en-ZA" sz="3200" b="1" dirty="0" smtClean="0"/>
              <a:t>Primary Data: Open and Closed ended </a:t>
            </a:r>
            <a:r>
              <a:rPr lang="en-ZA" sz="3200" b="1" dirty="0" smtClean="0">
                <a:solidFill>
                  <a:srgbClr val="C00000"/>
                </a:solidFill>
              </a:rPr>
              <a:t>survey questions</a:t>
            </a:r>
            <a:endParaRPr lang="en-ZA" sz="3200" b="1" dirty="0">
              <a:solidFill>
                <a:srgbClr val="C0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30818736"/>
              </p:ext>
            </p:extLst>
          </p:nvPr>
        </p:nvGraphicFramePr>
        <p:xfrm>
          <a:off x="539552" y="939539"/>
          <a:ext cx="8229600" cy="4389120"/>
        </p:xfrm>
        <a:graphic>
          <a:graphicData uri="http://schemas.openxmlformats.org/drawingml/2006/table">
            <a:tbl>
              <a:tblPr firstRow="1" bandRow="1">
                <a:tableStyleId>{ED083AE6-46FA-4A59-8FB0-9F97EB10719F}</a:tableStyleId>
              </a:tblPr>
              <a:tblGrid>
                <a:gridCol w="4114800"/>
                <a:gridCol w="4114800"/>
              </a:tblGrid>
              <a:tr h="370840">
                <a:tc>
                  <a:txBody>
                    <a:bodyPr/>
                    <a:lstStyle/>
                    <a:p>
                      <a:pPr marL="0" indent="0">
                        <a:buFont typeface="Arial" panose="020B0604020202020204" pitchFamily="34" charset="0"/>
                        <a:buNone/>
                      </a:pPr>
                      <a:r>
                        <a:rPr lang="en-ZA" sz="2800" dirty="0" smtClean="0"/>
                        <a:t>OPEN</a:t>
                      </a:r>
                    </a:p>
                  </a:txBody>
                  <a:tcPr/>
                </a:tc>
                <a:tc>
                  <a:txBody>
                    <a:bodyPr/>
                    <a:lstStyle/>
                    <a:p>
                      <a:r>
                        <a:rPr lang="en-ZA" sz="2800" dirty="0" smtClean="0"/>
                        <a:t>CLOSED</a:t>
                      </a:r>
                      <a:endParaRPr lang="en-ZA" sz="2800" dirty="0"/>
                    </a:p>
                  </a:txBody>
                  <a:tcPr/>
                </a:tc>
              </a:tr>
              <a:tr h="370840">
                <a:tc>
                  <a:txBody>
                    <a:bodyPr/>
                    <a:lstStyle/>
                    <a:p>
                      <a:pPr marL="285750" indent="-285750">
                        <a:buFont typeface="Arial" panose="020B0604020202020204" pitchFamily="34" charset="0"/>
                        <a:buChar char="•"/>
                      </a:pPr>
                      <a:r>
                        <a:rPr lang="en-ZA" dirty="0" smtClean="0"/>
                        <a:t>How do you get to</a:t>
                      </a:r>
                      <a:r>
                        <a:rPr lang="en-ZA" baseline="0" dirty="0" smtClean="0"/>
                        <a:t> varsity?</a:t>
                      </a:r>
                      <a:endParaRPr lang="en-ZA" dirty="0" smtClean="0"/>
                    </a:p>
                  </a:txBody>
                  <a:tcPr/>
                </a:tc>
                <a:tc>
                  <a:txBody>
                    <a:bodyPr/>
                    <a:lstStyle/>
                    <a:p>
                      <a:pPr marL="0" indent="0">
                        <a:buFont typeface="Arial" panose="020B0604020202020204" pitchFamily="34" charset="0"/>
                        <a:buNone/>
                      </a:pPr>
                      <a:r>
                        <a:rPr lang="en-ZA" dirty="0" smtClean="0"/>
                        <a:t>Do you get to</a:t>
                      </a:r>
                      <a:r>
                        <a:rPr lang="en-ZA" baseline="0" dirty="0" smtClean="0"/>
                        <a:t> varsity by:</a:t>
                      </a:r>
                    </a:p>
                    <a:p>
                      <a:pPr marL="342900" indent="-342900">
                        <a:buFont typeface="+mj-lt"/>
                        <a:buAutoNum type="arabicPeriod"/>
                      </a:pPr>
                      <a:r>
                        <a:rPr lang="en-ZA" baseline="0" dirty="0" smtClean="0"/>
                        <a:t>Train</a:t>
                      </a:r>
                    </a:p>
                    <a:p>
                      <a:pPr marL="342900" indent="-342900">
                        <a:buFont typeface="+mj-lt"/>
                        <a:buAutoNum type="arabicPeriod"/>
                      </a:pPr>
                      <a:r>
                        <a:rPr lang="en-ZA" baseline="0" dirty="0" smtClean="0"/>
                        <a:t>Taxi</a:t>
                      </a:r>
                    </a:p>
                    <a:p>
                      <a:pPr marL="342900" indent="-342900">
                        <a:buFont typeface="+mj-lt"/>
                        <a:buAutoNum type="arabicPeriod"/>
                      </a:pPr>
                      <a:r>
                        <a:rPr lang="en-ZA" baseline="0" dirty="0" smtClean="0"/>
                        <a:t>Bus</a:t>
                      </a:r>
                    </a:p>
                    <a:p>
                      <a:pPr marL="342900" indent="-342900">
                        <a:buFont typeface="+mj-lt"/>
                        <a:buAutoNum type="arabicPeriod"/>
                      </a:pPr>
                      <a:r>
                        <a:rPr lang="en-ZA" baseline="0" dirty="0" smtClean="0"/>
                        <a:t>Driving yourself</a:t>
                      </a:r>
                    </a:p>
                    <a:p>
                      <a:pPr marL="342900" indent="-342900">
                        <a:buFont typeface="+mj-lt"/>
                        <a:buAutoNum type="arabicPeriod"/>
                      </a:pPr>
                      <a:r>
                        <a:rPr lang="en-ZA" baseline="0" dirty="0" smtClean="0"/>
                        <a:t>Walking</a:t>
                      </a:r>
                    </a:p>
                    <a:p>
                      <a:pPr marL="342900" indent="-342900">
                        <a:buFont typeface="+mj-lt"/>
                        <a:buAutoNum type="arabicPeriod"/>
                      </a:pPr>
                      <a:endParaRPr lang="en-ZA" dirty="0"/>
                    </a:p>
                  </a:txBody>
                  <a:tcPr/>
                </a:tc>
              </a:tr>
              <a:tr h="370840">
                <a:tc>
                  <a:txBody>
                    <a:bodyPr/>
                    <a:lstStyle/>
                    <a:p>
                      <a:pPr marL="285750" indent="-285750">
                        <a:buFont typeface="Arial" panose="020B0604020202020204" pitchFamily="34" charset="0"/>
                        <a:buChar char="•"/>
                      </a:pPr>
                      <a:r>
                        <a:rPr lang="en-ZA" dirty="0" smtClean="0"/>
                        <a:t>What’s most confusing</a:t>
                      </a:r>
                      <a:r>
                        <a:rPr lang="en-ZA" baseline="0" dirty="0" smtClean="0"/>
                        <a:t> about the phone?</a:t>
                      </a:r>
                    </a:p>
                    <a:p>
                      <a:pPr marL="285750" indent="-285750">
                        <a:buFont typeface="Arial" panose="020B0604020202020204" pitchFamily="34" charset="0"/>
                        <a:buChar char="•"/>
                      </a:pPr>
                      <a:r>
                        <a:rPr lang="en-ZA" baseline="0" dirty="0" smtClean="0"/>
                        <a:t>What about the phone worked well for you?</a:t>
                      </a:r>
                    </a:p>
                    <a:p>
                      <a:endParaRPr lang="en-ZA" dirty="0" smtClean="0"/>
                    </a:p>
                  </a:txBody>
                  <a:tcPr/>
                </a:tc>
                <a:tc>
                  <a:txBody>
                    <a:bodyPr/>
                    <a:lstStyle/>
                    <a:p>
                      <a:r>
                        <a:rPr lang="en-ZA" baseline="0" dirty="0" smtClean="0"/>
                        <a:t>Is the phone easy to use?</a:t>
                      </a:r>
                    </a:p>
                    <a:p>
                      <a:pPr marL="342900" indent="-342900">
                        <a:buFont typeface="+mj-lt"/>
                        <a:buAutoNum type="arabicPeriod"/>
                      </a:pPr>
                      <a:r>
                        <a:rPr lang="en-ZA" baseline="0" dirty="0" smtClean="0"/>
                        <a:t>Yes</a:t>
                      </a:r>
                    </a:p>
                    <a:p>
                      <a:pPr marL="342900" indent="-342900">
                        <a:buFont typeface="+mj-lt"/>
                        <a:buAutoNum type="arabicPeriod"/>
                      </a:pPr>
                      <a:r>
                        <a:rPr lang="en-ZA" baseline="0" dirty="0" smtClean="0"/>
                        <a:t>No</a:t>
                      </a:r>
                    </a:p>
                  </a:txBody>
                  <a:tcPr/>
                </a:tc>
              </a:tr>
              <a:tr h="370840">
                <a:tc gridSpan="2">
                  <a:txBody>
                    <a:bodyPr/>
                    <a:lstStyle/>
                    <a:p>
                      <a:pPr marL="0" indent="0" algn="ctr">
                        <a:buFont typeface="Arial" panose="020B0604020202020204" pitchFamily="34" charset="0"/>
                        <a:buNone/>
                      </a:pPr>
                      <a:endParaRPr lang="en-ZA" sz="2000" b="1" dirty="0" smtClean="0">
                        <a:solidFill>
                          <a:srgbClr val="7030A0"/>
                        </a:solidFill>
                      </a:endParaRPr>
                    </a:p>
                  </a:txBody>
                  <a:tcPr/>
                </a:tc>
                <a:tc hMerge="1">
                  <a:txBody>
                    <a:bodyPr/>
                    <a:lstStyle/>
                    <a:p>
                      <a:pPr marL="285750" indent="-285750">
                        <a:buFont typeface="Arial" panose="020B0604020202020204" pitchFamily="34" charset="0"/>
                        <a:buChar char="•"/>
                      </a:pPr>
                      <a:endParaRPr lang="en-ZA" baseline="0" dirty="0" smtClean="0"/>
                    </a:p>
                  </a:txBody>
                  <a:tcPr/>
                </a:tc>
              </a:tr>
            </a:tbl>
          </a:graphicData>
        </a:graphic>
      </p:graphicFrame>
    </p:spTree>
    <p:extLst>
      <p:ext uri="{BB962C8B-B14F-4D97-AF65-F5344CB8AC3E}">
        <p14:creationId xmlns:p14="http://schemas.microsoft.com/office/powerpoint/2010/main" val="11477236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892480" cy="764704"/>
          </a:xfrm>
          <a:ln>
            <a:solidFill>
              <a:schemeClr val="accent4">
                <a:lumMod val="75000"/>
              </a:schemeClr>
            </a:solidFill>
          </a:ln>
        </p:spPr>
        <p:txBody>
          <a:bodyPr>
            <a:normAutofit fontScale="90000"/>
          </a:bodyPr>
          <a:lstStyle/>
          <a:p>
            <a:r>
              <a:rPr lang="en-ZA" sz="3200" b="1" dirty="0" smtClean="0"/>
              <a:t>Primary Data: Open and Closed ended </a:t>
            </a:r>
            <a:r>
              <a:rPr lang="en-ZA" sz="3200" b="1" dirty="0" smtClean="0">
                <a:solidFill>
                  <a:srgbClr val="C00000"/>
                </a:solidFill>
              </a:rPr>
              <a:t>survey questions</a:t>
            </a:r>
            <a:endParaRPr lang="en-ZA" sz="3200" b="1" dirty="0">
              <a:solidFill>
                <a:srgbClr val="C0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20488840"/>
              </p:ext>
            </p:extLst>
          </p:nvPr>
        </p:nvGraphicFramePr>
        <p:xfrm>
          <a:off x="539552" y="939539"/>
          <a:ext cx="8229600" cy="4754880"/>
        </p:xfrm>
        <a:graphic>
          <a:graphicData uri="http://schemas.openxmlformats.org/drawingml/2006/table">
            <a:tbl>
              <a:tblPr firstRow="1" bandRow="1">
                <a:tableStyleId>{ED083AE6-46FA-4A59-8FB0-9F97EB10719F}</a:tableStyleId>
              </a:tblPr>
              <a:tblGrid>
                <a:gridCol w="4114800"/>
                <a:gridCol w="4114800"/>
              </a:tblGrid>
              <a:tr h="370840">
                <a:tc>
                  <a:txBody>
                    <a:bodyPr/>
                    <a:lstStyle/>
                    <a:p>
                      <a:pPr marL="0" indent="0">
                        <a:buFont typeface="Arial" panose="020B0604020202020204" pitchFamily="34" charset="0"/>
                        <a:buNone/>
                      </a:pPr>
                      <a:r>
                        <a:rPr lang="en-ZA" sz="2800" dirty="0" smtClean="0"/>
                        <a:t>OPEN</a:t>
                      </a:r>
                    </a:p>
                  </a:txBody>
                  <a:tcPr/>
                </a:tc>
                <a:tc>
                  <a:txBody>
                    <a:bodyPr/>
                    <a:lstStyle/>
                    <a:p>
                      <a:r>
                        <a:rPr lang="en-ZA" sz="2800" dirty="0" smtClean="0"/>
                        <a:t>CLOSED</a:t>
                      </a:r>
                      <a:endParaRPr lang="en-ZA" sz="2800" dirty="0"/>
                    </a:p>
                  </a:txBody>
                  <a:tcPr/>
                </a:tc>
              </a:tr>
              <a:tr h="370840">
                <a:tc>
                  <a:txBody>
                    <a:bodyPr/>
                    <a:lstStyle/>
                    <a:p>
                      <a:pPr marL="285750" indent="-285750">
                        <a:buFont typeface="Arial" panose="020B0604020202020204" pitchFamily="34" charset="0"/>
                        <a:buChar char="•"/>
                      </a:pPr>
                      <a:r>
                        <a:rPr lang="en-ZA" b="1" dirty="0" smtClean="0"/>
                        <a:t>OPEN</a:t>
                      </a:r>
                      <a:r>
                        <a:rPr lang="en-ZA" baseline="0" dirty="0" smtClean="0"/>
                        <a:t> = Unstructured responses</a:t>
                      </a:r>
                    </a:p>
                    <a:p>
                      <a:pPr marL="285750" indent="-285750">
                        <a:buFont typeface="Arial" panose="020B0604020202020204" pitchFamily="34" charset="0"/>
                        <a:buChar char="•"/>
                      </a:pPr>
                      <a:r>
                        <a:rPr lang="en-ZA" baseline="0" dirty="0" smtClean="0"/>
                        <a:t>Unlimited possible answers</a:t>
                      </a:r>
                    </a:p>
                    <a:p>
                      <a:pPr marL="285750" indent="-285750">
                        <a:buFont typeface="Arial" panose="020B0604020202020204" pitchFamily="34" charset="0"/>
                        <a:buChar char="•"/>
                      </a:pPr>
                      <a:r>
                        <a:rPr lang="en-ZA" baseline="0" dirty="0" smtClean="0"/>
                        <a:t>Detailed and qualified answers</a:t>
                      </a:r>
                    </a:p>
                    <a:p>
                      <a:pPr marL="285750" indent="-285750">
                        <a:buFont typeface="Arial" panose="020B0604020202020204" pitchFamily="34" charset="0"/>
                        <a:buChar char="•"/>
                      </a:pPr>
                      <a:r>
                        <a:rPr lang="en-ZA" baseline="0" dirty="0" smtClean="0"/>
                        <a:t>Allow unanticipated findings</a:t>
                      </a:r>
                    </a:p>
                    <a:p>
                      <a:pPr marL="0" indent="0">
                        <a:buFont typeface="Arial" panose="020B0604020202020204" pitchFamily="34" charset="0"/>
                        <a:buNone/>
                      </a:pPr>
                      <a:endParaRPr lang="en-ZA" dirty="0" smtClean="0"/>
                    </a:p>
                  </a:txBody>
                  <a:tcPr/>
                </a:tc>
                <a:tc>
                  <a:txBody>
                    <a:bodyPr/>
                    <a:lstStyle/>
                    <a:p>
                      <a:pPr marL="285750" indent="-285750">
                        <a:buFont typeface="Arial" panose="020B0604020202020204" pitchFamily="34" charset="0"/>
                        <a:buChar char="•"/>
                      </a:pPr>
                      <a:r>
                        <a:rPr lang="en-ZA" b="1" dirty="0" smtClean="0"/>
                        <a:t>CLOSED</a:t>
                      </a:r>
                      <a:r>
                        <a:rPr lang="en-ZA" dirty="0" smtClean="0"/>
                        <a:t> = Fixed</a:t>
                      </a:r>
                      <a:r>
                        <a:rPr lang="en-ZA" baseline="0" dirty="0" smtClean="0"/>
                        <a:t> responses</a:t>
                      </a:r>
                    </a:p>
                    <a:p>
                      <a:pPr marL="285750" indent="-285750">
                        <a:buFont typeface="Arial" panose="020B0604020202020204" pitchFamily="34" charset="0"/>
                        <a:buChar char="•"/>
                      </a:pPr>
                      <a:r>
                        <a:rPr lang="en-ZA" baseline="0" dirty="0" smtClean="0"/>
                        <a:t>Quicker and easier to answer/code</a:t>
                      </a:r>
                    </a:p>
                    <a:p>
                      <a:pPr marL="285750" indent="-285750">
                        <a:buFont typeface="Arial" panose="020B0604020202020204" pitchFamily="34" charset="0"/>
                        <a:buChar char="•"/>
                      </a:pPr>
                      <a:r>
                        <a:rPr lang="en-ZA" baseline="0" dirty="0" smtClean="0"/>
                        <a:t>Fewer irrelevant responses</a:t>
                      </a:r>
                    </a:p>
                    <a:p>
                      <a:pPr marL="0" indent="0">
                        <a:buFont typeface="Arial" panose="020B0604020202020204" pitchFamily="34" charset="0"/>
                        <a:buNone/>
                      </a:pPr>
                      <a:endParaRPr lang="en-ZA" baseline="0" dirty="0" smtClean="0"/>
                    </a:p>
                    <a:p>
                      <a:pPr marL="0" indent="0">
                        <a:buFont typeface="Arial" panose="020B0604020202020204" pitchFamily="34" charset="0"/>
                        <a:buNone/>
                      </a:pPr>
                      <a:endParaRPr lang="en-ZA" dirty="0"/>
                    </a:p>
                  </a:txBody>
                  <a:tcPr/>
                </a:tc>
              </a:tr>
              <a:tr h="370840">
                <a:tc>
                  <a:txBody>
                    <a:bodyPr/>
                    <a:lstStyle/>
                    <a:p>
                      <a:r>
                        <a:rPr lang="en-ZA" sz="2000" b="1" dirty="0" smtClean="0"/>
                        <a:t>BUT:</a:t>
                      </a:r>
                    </a:p>
                    <a:p>
                      <a:pPr marL="285750" indent="-285750">
                        <a:buFont typeface="Arial" panose="020B0604020202020204" pitchFamily="34" charset="0"/>
                        <a:buChar char="•"/>
                      </a:pPr>
                      <a:r>
                        <a:rPr lang="en-ZA" dirty="0" smtClean="0"/>
                        <a:t>Different</a:t>
                      </a:r>
                      <a:r>
                        <a:rPr lang="en-ZA" baseline="0" dirty="0" smtClean="0"/>
                        <a:t> levels of response detail</a:t>
                      </a:r>
                    </a:p>
                    <a:p>
                      <a:pPr marL="285750" indent="-285750">
                        <a:buFont typeface="Arial" panose="020B0604020202020204" pitchFamily="34" charset="0"/>
                        <a:buChar char="•"/>
                      </a:pPr>
                      <a:r>
                        <a:rPr lang="en-ZA" baseline="0" dirty="0" smtClean="0"/>
                        <a:t>Statistical analysis difficult</a:t>
                      </a:r>
                    </a:p>
                    <a:p>
                      <a:pPr marL="285750" indent="-285750">
                        <a:buFont typeface="Arial" panose="020B0604020202020204" pitchFamily="34" charset="0"/>
                        <a:buChar char="•"/>
                      </a:pPr>
                      <a:r>
                        <a:rPr lang="en-ZA" baseline="0" dirty="0" smtClean="0"/>
                        <a:t>May be lots of useless information</a:t>
                      </a:r>
                    </a:p>
                    <a:p>
                      <a:pPr marL="285750" indent="-285750">
                        <a:buFont typeface="Arial" panose="020B0604020202020204" pitchFamily="34" charset="0"/>
                        <a:buChar char="•"/>
                      </a:pPr>
                      <a:r>
                        <a:rPr lang="en-ZA" baseline="0" dirty="0" smtClean="0"/>
                        <a:t>Time-consuming to answer/record</a:t>
                      </a:r>
                    </a:p>
                    <a:p>
                      <a:pPr marL="285750" indent="-285750">
                        <a:buFont typeface="Arial" panose="020B0604020202020204" pitchFamily="34" charset="0"/>
                        <a:buChar char="•"/>
                      </a:pPr>
                      <a:r>
                        <a:rPr lang="en-ZA" baseline="0" dirty="0" smtClean="0"/>
                        <a:t>Difficult to code afterwards</a:t>
                      </a:r>
                    </a:p>
                    <a:p>
                      <a:pPr marL="285750" indent="-285750">
                        <a:buFont typeface="Arial" panose="020B0604020202020204" pitchFamily="34" charset="0"/>
                        <a:buChar char="•"/>
                      </a:pPr>
                      <a:r>
                        <a:rPr lang="en-ZA" baseline="0" dirty="0" smtClean="0"/>
                        <a:t>Questions may intimidate</a:t>
                      </a:r>
                      <a:endParaRPr lang="en-ZA" dirty="0" smtClean="0"/>
                    </a:p>
                  </a:txBody>
                  <a:tcPr/>
                </a:tc>
                <a:tc>
                  <a:txBody>
                    <a:bodyPr/>
                    <a:lstStyle/>
                    <a:p>
                      <a:r>
                        <a:rPr lang="en-ZA" sz="2400" b="1" dirty="0" smtClean="0"/>
                        <a:t>BUT:</a:t>
                      </a:r>
                    </a:p>
                    <a:p>
                      <a:pPr marL="285750" indent="-285750">
                        <a:buFont typeface="Arial" panose="020B0604020202020204" pitchFamily="34" charset="0"/>
                        <a:buChar char="•"/>
                      </a:pPr>
                      <a:r>
                        <a:rPr lang="en-ZA" dirty="0" smtClean="0"/>
                        <a:t>May suggest answers</a:t>
                      </a:r>
                    </a:p>
                    <a:p>
                      <a:pPr marL="285750" indent="-285750">
                        <a:buFont typeface="Arial" panose="020B0604020202020204" pitchFamily="34" charset="0"/>
                        <a:buChar char="•"/>
                      </a:pPr>
                      <a:r>
                        <a:rPr lang="en-ZA" dirty="0" smtClean="0"/>
                        <a:t>Can’t provide all possible answers</a:t>
                      </a:r>
                    </a:p>
                    <a:p>
                      <a:pPr marL="285750" indent="-285750">
                        <a:buFont typeface="Arial" panose="020B0604020202020204" pitchFamily="34" charset="0"/>
                        <a:buChar char="•"/>
                      </a:pPr>
                      <a:r>
                        <a:rPr lang="en-ZA" dirty="0" smtClean="0"/>
                        <a:t>Those with no opinion or knowledge can respond</a:t>
                      </a:r>
                    </a:p>
                    <a:p>
                      <a:pPr marL="285750" indent="-285750">
                        <a:buFont typeface="Arial" panose="020B0604020202020204" pitchFamily="34" charset="0"/>
                        <a:buChar char="•"/>
                      </a:pPr>
                      <a:r>
                        <a:rPr lang="en-ZA" dirty="0" smtClean="0"/>
                        <a:t>Can be confusing/frustrating</a:t>
                      </a:r>
                    </a:p>
                    <a:p>
                      <a:pPr marL="285750" indent="-285750">
                        <a:buFont typeface="Arial" panose="020B0604020202020204" pitchFamily="34" charset="0"/>
                        <a:buChar char="•"/>
                      </a:pPr>
                      <a:r>
                        <a:rPr lang="en-ZA" dirty="0" smtClean="0"/>
                        <a:t>Misinterpretation</a:t>
                      </a:r>
                      <a:r>
                        <a:rPr lang="en-ZA" baseline="0" dirty="0" smtClean="0"/>
                        <a:t> can go unnoticed</a:t>
                      </a:r>
                    </a:p>
                    <a:p>
                      <a:pPr marL="285750" indent="-285750">
                        <a:buFont typeface="Arial" panose="020B0604020202020204" pitchFamily="34" charset="0"/>
                        <a:buChar char="•"/>
                      </a:pPr>
                      <a:r>
                        <a:rPr lang="en-ZA" baseline="0" dirty="0" smtClean="0"/>
                        <a:t>Force simplistic answers</a:t>
                      </a:r>
                    </a:p>
                  </a:txBody>
                  <a:tcPr/>
                </a:tc>
              </a:tr>
              <a:tr h="370840">
                <a:tc gridSpan="2">
                  <a:txBody>
                    <a:bodyPr/>
                    <a:lstStyle/>
                    <a:p>
                      <a:pPr marL="0" indent="0" algn="ctr">
                        <a:buFont typeface="Arial" panose="020B0604020202020204" pitchFamily="34" charset="0"/>
                        <a:buNone/>
                      </a:pPr>
                      <a:r>
                        <a:rPr lang="en-ZA" sz="2000" b="1" dirty="0" smtClean="0">
                          <a:solidFill>
                            <a:srgbClr val="7030A0"/>
                          </a:solidFill>
                        </a:rPr>
                        <a:t>OFTEN</a:t>
                      </a:r>
                      <a:r>
                        <a:rPr lang="en-ZA" sz="2000" b="1" baseline="0" dirty="0" smtClean="0">
                          <a:solidFill>
                            <a:srgbClr val="7030A0"/>
                          </a:solidFill>
                        </a:rPr>
                        <a:t> THE BEST IDEA IS TO </a:t>
                      </a:r>
                      <a:r>
                        <a:rPr lang="en-ZA" sz="2000" b="1" baseline="0" dirty="0" smtClean="0">
                          <a:solidFill>
                            <a:srgbClr val="C00000"/>
                          </a:solidFill>
                        </a:rPr>
                        <a:t>MIX BOTH TYPES </a:t>
                      </a:r>
                      <a:r>
                        <a:rPr lang="en-ZA" sz="2000" b="1" baseline="0" dirty="0" smtClean="0">
                          <a:solidFill>
                            <a:srgbClr val="7030A0"/>
                          </a:solidFill>
                        </a:rPr>
                        <a:t>OF QUESTIONS IN A SURVEY!!!</a:t>
                      </a:r>
                      <a:endParaRPr lang="en-ZA" sz="2000" b="1" dirty="0" smtClean="0">
                        <a:solidFill>
                          <a:srgbClr val="7030A0"/>
                        </a:solidFill>
                      </a:endParaRPr>
                    </a:p>
                  </a:txBody>
                  <a:tcPr/>
                </a:tc>
                <a:tc hMerge="1">
                  <a:txBody>
                    <a:bodyPr/>
                    <a:lstStyle/>
                    <a:p>
                      <a:pPr marL="285750" indent="-285750">
                        <a:buFont typeface="Arial" panose="020B0604020202020204" pitchFamily="34" charset="0"/>
                        <a:buChar char="•"/>
                      </a:pPr>
                      <a:endParaRPr lang="en-ZA" baseline="0" dirty="0" smtClean="0"/>
                    </a:p>
                  </a:txBody>
                  <a:tcPr/>
                </a:tc>
              </a:tr>
            </a:tbl>
          </a:graphicData>
        </a:graphic>
      </p:graphicFrame>
    </p:spTree>
    <p:extLst>
      <p:ext uri="{BB962C8B-B14F-4D97-AF65-F5344CB8AC3E}">
        <p14:creationId xmlns:p14="http://schemas.microsoft.com/office/powerpoint/2010/main" val="6576786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792088"/>
          </a:xfrm>
        </p:spPr>
        <p:style>
          <a:lnRef idx="2">
            <a:schemeClr val="accent4"/>
          </a:lnRef>
          <a:fillRef idx="1">
            <a:schemeClr val="lt1"/>
          </a:fillRef>
          <a:effectRef idx="0">
            <a:schemeClr val="accent4"/>
          </a:effectRef>
          <a:fontRef idx="minor">
            <a:schemeClr val="dk1"/>
          </a:fontRef>
        </p:style>
        <p:txBody>
          <a:bodyPr/>
          <a:lstStyle/>
          <a:p>
            <a:r>
              <a:rPr lang="en-US" b="1" dirty="0" smtClean="0"/>
              <a:t>Types of Data </a:t>
            </a:r>
            <a:endParaRPr lang="en-US" b="1" dirty="0"/>
          </a:p>
        </p:txBody>
      </p:sp>
      <p:sp>
        <p:nvSpPr>
          <p:cNvPr id="3" name="Content Placeholder 2"/>
          <p:cNvSpPr>
            <a:spLocks noGrp="1"/>
          </p:cNvSpPr>
          <p:nvPr>
            <p:ph idx="1"/>
          </p:nvPr>
        </p:nvSpPr>
        <p:spPr>
          <a:xfrm>
            <a:off x="457200" y="1600200"/>
            <a:ext cx="8229600" cy="4925144"/>
          </a:xfrm>
          <a:solidFill>
            <a:schemeClr val="accent4">
              <a:lumMod val="20000"/>
              <a:lumOff val="80000"/>
            </a:schemeClr>
          </a:solidFill>
        </p:spPr>
        <p:txBody>
          <a:bodyPr>
            <a:normAutofit fontScale="77500" lnSpcReduction="20000"/>
          </a:bodyPr>
          <a:lstStyle/>
          <a:p>
            <a:pPr>
              <a:buNone/>
            </a:pPr>
            <a:r>
              <a:rPr lang="en-US" dirty="0" smtClean="0"/>
              <a:t>	</a:t>
            </a:r>
            <a:r>
              <a:rPr lang="en-US" b="1" dirty="0" smtClean="0">
                <a:solidFill>
                  <a:srgbClr val="FF0000"/>
                </a:solidFill>
              </a:rPr>
              <a:t>SECONDARY DATA</a:t>
            </a:r>
          </a:p>
          <a:p>
            <a:pPr>
              <a:buNone/>
            </a:pPr>
            <a:endParaRPr lang="en-US" b="1" dirty="0" smtClean="0"/>
          </a:p>
          <a:p>
            <a:r>
              <a:rPr lang="en-US" dirty="0" smtClean="0"/>
              <a:t>Research done by others.</a:t>
            </a:r>
          </a:p>
          <a:p>
            <a:endParaRPr lang="en-US" dirty="0" smtClean="0"/>
          </a:p>
          <a:p>
            <a:r>
              <a:rPr lang="en-US" dirty="0" smtClean="0"/>
              <a:t>Secondary sources</a:t>
            </a:r>
          </a:p>
          <a:p>
            <a:endParaRPr lang="en-US" dirty="0" smtClean="0"/>
          </a:p>
          <a:p>
            <a:r>
              <a:rPr lang="en-US" dirty="0" smtClean="0"/>
              <a:t>Books, journals, encyclopedia, newspaper articles, theses, online articles etc.</a:t>
            </a:r>
          </a:p>
          <a:p>
            <a:endParaRPr lang="en-US" dirty="0" smtClean="0"/>
          </a:p>
          <a:p>
            <a:r>
              <a:rPr lang="en-US" dirty="0"/>
              <a:t>Researchers can either choose to use primary or secondary data for their studies. Both have their advantages and disadvantages, and </a:t>
            </a:r>
            <a:r>
              <a:rPr lang="en-US" b="1" dirty="0"/>
              <a:t>most researchers </a:t>
            </a:r>
            <a:r>
              <a:rPr lang="en-US" dirty="0"/>
              <a:t>will use a </a:t>
            </a:r>
            <a:r>
              <a:rPr lang="en-US" b="1" dirty="0">
                <a:solidFill>
                  <a:srgbClr val="FF0000"/>
                </a:solidFill>
              </a:rPr>
              <a:t>combination</a:t>
            </a:r>
            <a:r>
              <a:rPr lang="en-US" dirty="0">
                <a:solidFill>
                  <a:srgbClr val="FF0000"/>
                </a:solidFill>
              </a:rPr>
              <a:t> </a:t>
            </a:r>
            <a:r>
              <a:rPr lang="en-US" dirty="0"/>
              <a:t>of the two.</a:t>
            </a:r>
            <a:endParaRPr lang="en-US" dirty="0" smtClean="0"/>
          </a:p>
          <a:p>
            <a:endParaRPr lang="en-US" dirty="0" smtClean="0"/>
          </a:p>
          <a:p>
            <a:endParaRPr lang="en-US" dirty="0"/>
          </a:p>
        </p:txBody>
      </p:sp>
    </p:spTree>
    <p:extLst>
      <p:ext uri="{BB962C8B-B14F-4D97-AF65-F5344CB8AC3E}">
        <p14:creationId xmlns:p14="http://schemas.microsoft.com/office/powerpoint/2010/main" val="9299732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a:ln>
            <a:solidFill>
              <a:schemeClr val="accent4">
                <a:lumMod val="75000"/>
              </a:schemeClr>
            </a:solidFill>
          </a:ln>
        </p:spPr>
        <p:txBody>
          <a:bodyPr>
            <a:normAutofit fontScale="90000"/>
          </a:bodyPr>
          <a:lstStyle/>
          <a:p>
            <a:r>
              <a:rPr lang="en-ZA" sz="3200" b="1" dirty="0" smtClean="0"/>
              <a:t>Types of Research Methods:</a:t>
            </a:r>
            <a:br>
              <a:rPr lang="en-ZA" sz="3200" b="1" dirty="0" smtClean="0"/>
            </a:br>
            <a:r>
              <a:rPr lang="en-ZA" sz="3200" b="1" dirty="0" smtClean="0"/>
              <a:t> </a:t>
            </a:r>
            <a:r>
              <a:rPr lang="en-ZA" sz="3200" b="1" dirty="0" smtClean="0">
                <a:solidFill>
                  <a:schemeClr val="accent1">
                    <a:lumMod val="50000"/>
                  </a:schemeClr>
                </a:solidFill>
              </a:rPr>
              <a:t>Quantitative</a:t>
            </a:r>
            <a:r>
              <a:rPr lang="en-ZA" sz="3200" b="1" dirty="0" smtClean="0"/>
              <a:t> and  </a:t>
            </a:r>
            <a:r>
              <a:rPr lang="en-ZA" sz="3200" b="1" dirty="0" smtClean="0">
                <a:solidFill>
                  <a:srgbClr val="FF0000"/>
                </a:solidFill>
              </a:rPr>
              <a:t>Qualitative</a:t>
            </a:r>
            <a:r>
              <a:rPr lang="en-ZA" sz="3200" b="1" dirty="0" smtClean="0"/>
              <a:t> Research Methods</a:t>
            </a:r>
            <a:endParaRPr lang="en-ZA" sz="3200" b="1" dirty="0"/>
          </a:p>
        </p:txBody>
      </p:sp>
      <p:sp>
        <p:nvSpPr>
          <p:cNvPr id="3" name="Content Placeholder 2"/>
          <p:cNvSpPr>
            <a:spLocks noGrp="1"/>
          </p:cNvSpPr>
          <p:nvPr>
            <p:ph idx="1"/>
          </p:nvPr>
        </p:nvSpPr>
        <p:spPr>
          <a:xfrm>
            <a:off x="457200" y="1340768"/>
            <a:ext cx="8229600" cy="5256584"/>
          </a:xfrm>
          <a:solidFill>
            <a:schemeClr val="accent4">
              <a:lumMod val="20000"/>
              <a:lumOff val="80000"/>
            </a:schemeClr>
          </a:solidFill>
        </p:spPr>
        <p:txBody>
          <a:bodyPr>
            <a:normAutofit/>
          </a:bodyPr>
          <a:lstStyle/>
          <a:p>
            <a:r>
              <a:rPr lang="en-ZA" sz="2000" dirty="0" smtClean="0"/>
              <a:t>Research methods are split broadly into </a:t>
            </a:r>
            <a:r>
              <a:rPr lang="en-ZA" sz="2000" b="1" dirty="0" smtClean="0"/>
              <a:t>quantitative</a:t>
            </a:r>
            <a:r>
              <a:rPr lang="en-ZA" sz="2000" dirty="0" smtClean="0"/>
              <a:t> and </a:t>
            </a:r>
            <a:r>
              <a:rPr lang="en-ZA" sz="2000" b="1" dirty="0" smtClean="0"/>
              <a:t>qualitative</a:t>
            </a:r>
            <a:r>
              <a:rPr lang="en-ZA" sz="2000" dirty="0" smtClean="0"/>
              <a:t> methods.</a:t>
            </a:r>
          </a:p>
          <a:p>
            <a:pPr marL="0" indent="0">
              <a:buNone/>
            </a:pPr>
            <a:endParaRPr lang="en-ZA" sz="2000" dirty="0" smtClean="0"/>
          </a:p>
          <a:p>
            <a:r>
              <a:rPr lang="en-ZA" sz="2000" b="1" dirty="0">
                <a:solidFill>
                  <a:srgbClr val="002060"/>
                </a:solidFill>
              </a:rPr>
              <a:t>Quantitative research </a:t>
            </a:r>
            <a:r>
              <a:rPr lang="en-ZA" sz="2000" dirty="0"/>
              <a:t>is “explaining phenomena by collecting </a:t>
            </a:r>
            <a:r>
              <a:rPr lang="en-ZA" sz="2000" b="1" dirty="0"/>
              <a:t>numerical data </a:t>
            </a:r>
            <a:r>
              <a:rPr lang="en-ZA" sz="2000" dirty="0"/>
              <a:t>that are analysed using mathematically based methods (in particular statistics</a:t>
            </a:r>
            <a:r>
              <a:rPr lang="en-ZA" sz="2000" dirty="0" smtClean="0"/>
              <a:t>)” (</a:t>
            </a:r>
            <a:r>
              <a:rPr lang="en-ZA" sz="2000" dirty="0" err="1" smtClean="0"/>
              <a:t>Aliaga</a:t>
            </a:r>
            <a:r>
              <a:rPr lang="en-ZA" sz="2000" dirty="0" smtClean="0"/>
              <a:t> &amp; Gunderson; 2005).</a:t>
            </a:r>
          </a:p>
          <a:p>
            <a:pPr marL="0" indent="0">
              <a:buNone/>
            </a:pPr>
            <a:endParaRPr lang="en-ZA" sz="2000" dirty="0" smtClean="0"/>
          </a:p>
          <a:p>
            <a:r>
              <a:rPr lang="en-ZA" sz="2000" b="1" dirty="0">
                <a:solidFill>
                  <a:srgbClr val="FF0000"/>
                </a:solidFill>
              </a:rPr>
              <a:t>Qualitative research </a:t>
            </a:r>
            <a:r>
              <a:rPr lang="en-ZA" sz="2000" dirty="0"/>
              <a:t>seeks to answer questions about</a:t>
            </a:r>
            <a:r>
              <a:rPr lang="en-ZA" sz="2000" b="1" dirty="0"/>
              <a:t> why and how </a:t>
            </a:r>
            <a:r>
              <a:rPr lang="en-ZA" sz="2000" dirty="0"/>
              <a:t>people behave in the way that they do. It provides in-depth information about </a:t>
            </a:r>
            <a:r>
              <a:rPr lang="en-ZA" sz="2000" b="1" dirty="0"/>
              <a:t>human behaviour</a:t>
            </a:r>
            <a:r>
              <a:rPr lang="en-ZA" sz="2000" dirty="0" smtClean="0"/>
              <a:t>.</a:t>
            </a:r>
          </a:p>
          <a:p>
            <a:endParaRPr lang="en-ZA" sz="2400" dirty="0" smtClean="0"/>
          </a:p>
          <a:p>
            <a:pPr marL="0" indent="0">
              <a:buNone/>
            </a:pPr>
            <a:endParaRPr lang="en-ZA" sz="2400" dirty="0"/>
          </a:p>
          <a:p>
            <a:endParaRPr lang="en-ZA" sz="2400" dirty="0"/>
          </a:p>
          <a:p>
            <a:endParaRPr lang="en-ZA" sz="2400" dirty="0"/>
          </a:p>
          <a:p>
            <a:endParaRPr lang="en-ZA" sz="2400" dirty="0"/>
          </a:p>
          <a:p>
            <a:pPr marL="0" indent="0">
              <a:buNone/>
            </a:pPr>
            <a:endParaRPr lang="en-ZA" dirty="0"/>
          </a:p>
        </p:txBody>
      </p:sp>
    </p:spTree>
    <p:extLst>
      <p:ext uri="{BB962C8B-B14F-4D97-AF65-F5344CB8AC3E}">
        <p14:creationId xmlns:p14="http://schemas.microsoft.com/office/powerpoint/2010/main" val="4513024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a:ln>
            <a:solidFill>
              <a:schemeClr val="accent4">
                <a:lumMod val="75000"/>
              </a:schemeClr>
            </a:solidFill>
          </a:ln>
        </p:spPr>
        <p:txBody>
          <a:bodyPr>
            <a:normAutofit fontScale="90000"/>
          </a:bodyPr>
          <a:lstStyle/>
          <a:p>
            <a:r>
              <a:rPr lang="en-ZA" sz="2800" b="1" dirty="0"/>
              <a:t>Types of Research:</a:t>
            </a:r>
            <a:br>
              <a:rPr lang="en-ZA" sz="2800" b="1" dirty="0"/>
            </a:br>
            <a:r>
              <a:rPr lang="en-ZA" sz="2800" b="1" dirty="0"/>
              <a:t> </a:t>
            </a:r>
            <a:r>
              <a:rPr lang="en-ZA" sz="2800" b="1" dirty="0">
                <a:solidFill>
                  <a:schemeClr val="tx2">
                    <a:lumMod val="75000"/>
                  </a:schemeClr>
                </a:solidFill>
              </a:rPr>
              <a:t>Quantitative </a:t>
            </a:r>
            <a:r>
              <a:rPr lang="en-ZA" sz="2800" b="1" dirty="0" smtClean="0">
                <a:solidFill>
                  <a:schemeClr val="tx2">
                    <a:lumMod val="75000"/>
                  </a:schemeClr>
                </a:solidFill>
              </a:rPr>
              <a:t>Research Methods</a:t>
            </a:r>
            <a:endParaRPr lang="en-ZA" sz="2800" dirty="0">
              <a:solidFill>
                <a:schemeClr val="tx2">
                  <a:lumMod val="75000"/>
                </a:schemeClr>
              </a:solidFill>
            </a:endParaRPr>
          </a:p>
        </p:txBody>
      </p:sp>
      <p:sp>
        <p:nvSpPr>
          <p:cNvPr id="3" name="Content Placeholder 2"/>
          <p:cNvSpPr>
            <a:spLocks noGrp="1"/>
          </p:cNvSpPr>
          <p:nvPr>
            <p:ph idx="1"/>
          </p:nvPr>
        </p:nvSpPr>
        <p:spPr>
          <a:xfrm>
            <a:off x="467544" y="980728"/>
            <a:ext cx="8229600" cy="5145435"/>
          </a:xfrm>
          <a:solidFill>
            <a:schemeClr val="accent4">
              <a:lumMod val="20000"/>
              <a:lumOff val="80000"/>
            </a:schemeClr>
          </a:solidFill>
        </p:spPr>
        <p:txBody>
          <a:bodyPr>
            <a:normAutofit/>
          </a:bodyPr>
          <a:lstStyle/>
          <a:p>
            <a:r>
              <a:rPr lang="en-ZA" sz="2400" dirty="0" smtClean="0"/>
              <a:t>Quantitative </a:t>
            </a:r>
            <a:r>
              <a:rPr lang="en-ZA" sz="2400" dirty="0"/>
              <a:t>research is perhaps the simpler to define and identify.</a:t>
            </a:r>
          </a:p>
          <a:p>
            <a:pPr marL="0" indent="0">
              <a:buNone/>
            </a:pPr>
            <a:endParaRPr lang="en-ZA" sz="2400" dirty="0"/>
          </a:p>
          <a:p>
            <a:r>
              <a:rPr lang="en-ZA" sz="2400" dirty="0"/>
              <a:t>The data produced are always </a:t>
            </a:r>
            <a:r>
              <a:rPr lang="en-ZA" sz="2400" b="1" dirty="0">
                <a:solidFill>
                  <a:srgbClr val="002060"/>
                </a:solidFill>
              </a:rPr>
              <a:t>numerical</a:t>
            </a:r>
            <a:r>
              <a:rPr lang="en-ZA" sz="2400" dirty="0"/>
              <a:t>, and they are analysed using mathematical and statistical methods. If there are no numbers involved, then it’s </a:t>
            </a:r>
            <a:r>
              <a:rPr lang="en-ZA" sz="2400" b="1" dirty="0">
                <a:solidFill>
                  <a:srgbClr val="FF0000"/>
                </a:solidFill>
              </a:rPr>
              <a:t>not</a:t>
            </a:r>
            <a:r>
              <a:rPr lang="en-ZA" sz="2400" dirty="0">
                <a:solidFill>
                  <a:srgbClr val="FF0000"/>
                </a:solidFill>
              </a:rPr>
              <a:t> </a:t>
            </a:r>
            <a:r>
              <a:rPr lang="en-ZA" sz="2400" dirty="0"/>
              <a:t>quantitative research</a:t>
            </a:r>
            <a:r>
              <a:rPr lang="en-ZA" sz="2400" dirty="0" smtClean="0"/>
              <a:t>.</a:t>
            </a:r>
          </a:p>
          <a:p>
            <a:endParaRPr lang="en-ZA" sz="2400" dirty="0"/>
          </a:p>
          <a:p>
            <a:r>
              <a:rPr lang="en-ZA" sz="2400" dirty="0"/>
              <a:t>E</a:t>
            </a:r>
            <a:r>
              <a:rPr lang="en-ZA" sz="2400" dirty="0" smtClean="0"/>
              <a:t>ven </a:t>
            </a:r>
            <a:r>
              <a:rPr lang="en-ZA" sz="2400" dirty="0"/>
              <a:t>phenomena that are not obviously numerical in nature can be examined using quantitative methods.</a:t>
            </a:r>
          </a:p>
          <a:p>
            <a:pPr lvl="1"/>
            <a:r>
              <a:rPr lang="en-ZA" sz="2400" dirty="0"/>
              <a:t>Example: turning opinions into numbers</a:t>
            </a:r>
          </a:p>
          <a:p>
            <a:endParaRPr lang="en-ZA" sz="2400" dirty="0" smtClean="0"/>
          </a:p>
          <a:p>
            <a:pPr marL="0" indent="0">
              <a:buNone/>
            </a:pPr>
            <a:endParaRPr lang="en-ZA" sz="2400" dirty="0"/>
          </a:p>
          <a:p>
            <a:endParaRPr lang="en-ZA" dirty="0"/>
          </a:p>
        </p:txBody>
      </p:sp>
    </p:spTree>
    <p:extLst>
      <p:ext uri="{BB962C8B-B14F-4D97-AF65-F5344CB8AC3E}">
        <p14:creationId xmlns:p14="http://schemas.microsoft.com/office/powerpoint/2010/main" val="36461688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648072"/>
          </a:xfrm>
          <a:ln>
            <a:solidFill>
              <a:schemeClr val="accent4">
                <a:lumMod val="75000"/>
              </a:schemeClr>
            </a:solidFill>
          </a:ln>
        </p:spPr>
        <p:txBody>
          <a:bodyPr>
            <a:normAutofit fontScale="90000"/>
          </a:bodyPr>
          <a:lstStyle/>
          <a:p>
            <a:r>
              <a:rPr lang="en-ZA" sz="2800" b="1" dirty="0"/>
              <a:t>Types of Research:</a:t>
            </a:r>
            <a:br>
              <a:rPr lang="en-ZA" sz="2800" b="1" dirty="0"/>
            </a:br>
            <a:r>
              <a:rPr lang="en-ZA" sz="2800" b="1" dirty="0"/>
              <a:t> </a:t>
            </a:r>
            <a:r>
              <a:rPr lang="en-ZA" sz="2800" b="1" dirty="0">
                <a:solidFill>
                  <a:schemeClr val="tx2">
                    <a:lumMod val="75000"/>
                  </a:schemeClr>
                </a:solidFill>
              </a:rPr>
              <a:t>Quantitative Research Methods</a:t>
            </a:r>
            <a:endParaRPr lang="en-ZA" sz="2800" dirty="0"/>
          </a:p>
        </p:txBody>
      </p:sp>
      <p:sp>
        <p:nvSpPr>
          <p:cNvPr id="3" name="Content Placeholder 2"/>
          <p:cNvSpPr>
            <a:spLocks noGrp="1"/>
          </p:cNvSpPr>
          <p:nvPr>
            <p:ph idx="1"/>
          </p:nvPr>
        </p:nvSpPr>
        <p:spPr>
          <a:xfrm>
            <a:off x="349188" y="858476"/>
            <a:ext cx="8229600" cy="5832648"/>
          </a:xfrm>
          <a:solidFill>
            <a:schemeClr val="accent4">
              <a:lumMod val="20000"/>
              <a:lumOff val="80000"/>
            </a:schemeClr>
          </a:solidFill>
        </p:spPr>
        <p:txBody>
          <a:bodyPr>
            <a:normAutofit/>
          </a:bodyPr>
          <a:lstStyle/>
          <a:p>
            <a:pPr lvl="1"/>
            <a:endParaRPr lang="en-ZA" sz="1800" dirty="0"/>
          </a:p>
          <a:p>
            <a:r>
              <a:rPr lang="en-ZA" sz="1800" dirty="0"/>
              <a:t>If you wish to carry out </a:t>
            </a:r>
            <a:r>
              <a:rPr lang="en-ZA" sz="1800" b="1" dirty="0"/>
              <a:t>statistical analysis of the opinions </a:t>
            </a:r>
            <a:r>
              <a:rPr lang="en-ZA" sz="1800" dirty="0"/>
              <a:t>of a group of people about a particular issue or element of their lives, you can ask them to express their relative agreement with statements and answer on a five- or seven-point </a:t>
            </a:r>
            <a:r>
              <a:rPr lang="en-ZA" sz="1800" dirty="0" smtClean="0"/>
              <a:t>scale:</a:t>
            </a:r>
          </a:p>
          <a:p>
            <a:pPr lvl="1"/>
            <a:r>
              <a:rPr lang="en-ZA" sz="1600" dirty="0" smtClean="0"/>
              <a:t>where </a:t>
            </a:r>
            <a:r>
              <a:rPr lang="en-ZA" sz="1600" dirty="0"/>
              <a:t>1 is strongly disagree, 2 is disagree, 3 is neutral, 4 is agree and 5 is strongly agree (the seven-point scale also has slightly agree/disagree).</a:t>
            </a:r>
          </a:p>
          <a:p>
            <a:pPr marL="0" indent="0">
              <a:buNone/>
            </a:pPr>
            <a:endParaRPr lang="en-ZA" sz="1600" dirty="0"/>
          </a:p>
          <a:p>
            <a:r>
              <a:rPr lang="en-ZA" sz="1800" dirty="0"/>
              <a:t>Such scales are called </a:t>
            </a:r>
            <a:r>
              <a:rPr lang="en-ZA" sz="1800" b="1" dirty="0" err="1">
                <a:solidFill>
                  <a:schemeClr val="tx2">
                    <a:lumMod val="75000"/>
                  </a:schemeClr>
                </a:solidFill>
              </a:rPr>
              <a:t>Likert</a:t>
            </a:r>
            <a:r>
              <a:rPr lang="en-ZA" sz="1800" b="1" dirty="0">
                <a:solidFill>
                  <a:schemeClr val="tx2">
                    <a:lumMod val="75000"/>
                  </a:schemeClr>
                </a:solidFill>
              </a:rPr>
              <a:t> scales</a:t>
            </a:r>
            <a:r>
              <a:rPr lang="en-ZA" sz="1800" dirty="0"/>
              <a:t>, and enable statements of opinion to be directly translated into numerical data</a:t>
            </a:r>
            <a:r>
              <a:rPr lang="en-ZA" sz="1800" dirty="0" smtClean="0"/>
              <a:t>.</a:t>
            </a:r>
            <a:endParaRPr lang="en-ZA" sz="1800" dirty="0"/>
          </a:p>
          <a:p>
            <a:pPr marL="0" indent="0">
              <a:buNone/>
            </a:pPr>
            <a:endParaRPr lang="en-ZA" sz="1800" dirty="0"/>
          </a:p>
          <a:p>
            <a:r>
              <a:rPr lang="en-ZA" sz="1800" dirty="0"/>
              <a:t>The development of </a:t>
            </a:r>
            <a:r>
              <a:rPr lang="en-ZA" sz="1800" dirty="0" err="1"/>
              <a:t>Likert</a:t>
            </a:r>
            <a:r>
              <a:rPr lang="en-ZA" sz="1800" dirty="0"/>
              <a:t> scales and similar techniques mean that </a:t>
            </a:r>
            <a:r>
              <a:rPr lang="en-ZA" sz="1800" b="1" dirty="0"/>
              <a:t>most phenomena </a:t>
            </a:r>
            <a:r>
              <a:rPr lang="en-ZA" sz="1800" dirty="0"/>
              <a:t>can be studied using quantitative techniques.</a:t>
            </a:r>
          </a:p>
          <a:p>
            <a:endParaRPr lang="en-ZA" sz="1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4797152"/>
            <a:ext cx="6336704" cy="187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89831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936104"/>
          </a:xfrm>
          <a:ln>
            <a:solidFill>
              <a:schemeClr val="accent4">
                <a:lumMod val="75000"/>
              </a:schemeClr>
            </a:solidFill>
          </a:ln>
        </p:spPr>
        <p:txBody>
          <a:bodyPr>
            <a:normAutofit fontScale="90000"/>
          </a:bodyPr>
          <a:lstStyle/>
          <a:p>
            <a:r>
              <a:rPr lang="en-ZA" sz="2800" b="1" dirty="0"/>
              <a:t>Types of Research:</a:t>
            </a:r>
            <a:br>
              <a:rPr lang="en-ZA" sz="2800" b="1" dirty="0"/>
            </a:br>
            <a:r>
              <a:rPr lang="en-ZA" sz="2800" b="1" dirty="0"/>
              <a:t> </a:t>
            </a:r>
            <a:r>
              <a:rPr lang="en-ZA" sz="2800" b="1" dirty="0">
                <a:solidFill>
                  <a:schemeClr val="tx2">
                    <a:lumMod val="75000"/>
                  </a:schemeClr>
                </a:solidFill>
              </a:rPr>
              <a:t>Quantitative Research Methods</a:t>
            </a:r>
            <a:endParaRPr lang="en-ZA" sz="2800" dirty="0"/>
          </a:p>
        </p:txBody>
      </p:sp>
      <p:sp>
        <p:nvSpPr>
          <p:cNvPr id="3" name="Content Placeholder 2"/>
          <p:cNvSpPr>
            <a:spLocks noGrp="1"/>
          </p:cNvSpPr>
          <p:nvPr>
            <p:ph idx="1"/>
          </p:nvPr>
        </p:nvSpPr>
        <p:spPr>
          <a:xfrm>
            <a:off x="457200" y="1268760"/>
            <a:ext cx="8229600" cy="4857403"/>
          </a:xfrm>
          <a:solidFill>
            <a:schemeClr val="accent4">
              <a:lumMod val="20000"/>
              <a:lumOff val="80000"/>
            </a:schemeClr>
          </a:solidFill>
        </p:spPr>
        <p:txBody>
          <a:bodyPr>
            <a:normAutofit/>
          </a:bodyPr>
          <a:lstStyle/>
          <a:p>
            <a:pPr marL="0" indent="0">
              <a:buNone/>
            </a:pPr>
            <a:r>
              <a:rPr lang="en-ZA" sz="2400" b="1" dirty="0" smtClean="0"/>
              <a:t>Disadvantages: </a:t>
            </a:r>
          </a:p>
          <a:p>
            <a:pPr marL="0" indent="0">
              <a:buNone/>
            </a:pPr>
            <a:endParaRPr lang="en-ZA" sz="2400" dirty="0" smtClean="0"/>
          </a:p>
          <a:p>
            <a:r>
              <a:rPr lang="en-ZA" sz="2400" dirty="0" smtClean="0"/>
              <a:t>However</a:t>
            </a:r>
            <a:r>
              <a:rPr lang="en-ZA" sz="2400" dirty="0"/>
              <a:t>, it is important to note that quantitative methods are not necessarily the most suitable methods for investigation. </a:t>
            </a:r>
            <a:endParaRPr lang="en-ZA" sz="2400" dirty="0" smtClean="0"/>
          </a:p>
          <a:p>
            <a:endParaRPr lang="en-ZA" sz="2400" dirty="0"/>
          </a:p>
          <a:p>
            <a:r>
              <a:rPr lang="en-ZA" sz="2400" dirty="0" smtClean="0"/>
              <a:t>They </a:t>
            </a:r>
            <a:r>
              <a:rPr lang="en-ZA" sz="2400" dirty="0"/>
              <a:t>are unlikely to be very helpful when you want to understand the detailed reasons for particular </a:t>
            </a:r>
            <a:r>
              <a:rPr lang="en-ZA" sz="2400" b="1" dirty="0"/>
              <a:t>behaviour in </a:t>
            </a:r>
            <a:r>
              <a:rPr lang="en-ZA" sz="2400" b="1" dirty="0" smtClean="0"/>
              <a:t>depth.</a:t>
            </a:r>
            <a:endParaRPr lang="en-ZA" sz="2400" dirty="0"/>
          </a:p>
        </p:txBody>
      </p:sp>
    </p:spTree>
    <p:extLst>
      <p:ext uri="{BB962C8B-B14F-4D97-AF65-F5344CB8AC3E}">
        <p14:creationId xmlns:p14="http://schemas.microsoft.com/office/powerpoint/2010/main" val="33283115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a:ln>
            <a:solidFill>
              <a:schemeClr val="accent4">
                <a:lumMod val="75000"/>
              </a:schemeClr>
            </a:solidFill>
          </a:ln>
        </p:spPr>
        <p:txBody>
          <a:bodyPr>
            <a:normAutofit/>
          </a:bodyPr>
          <a:lstStyle/>
          <a:p>
            <a:r>
              <a:rPr lang="en-ZA" sz="2400" b="1" dirty="0"/>
              <a:t>Types of Research:</a:t>
            </a:r>
            <a:br>
              <a:rPr lang="en-ZA" sz="2400" b="1" dirty="0"/>
            </a:br>
            <a:r>
              <a:rPr lang="en-ZA" sz="2400" b="1" dirty="0"/>
              <a:t> </a:t>
            </a:r>
            <a:r>
              <a:rPr lang="en-ZA" sz="2400" b="1" dirty="0">
                <a:solidFill>
                  <a:schemeClr val="tx2">
                    <a:lumMod val="75000"/>
                  </a:schemeClr>
                </a:solidFill>
              </a:rPr>
              <a:t>Quantitative Research Methods</a:t>
            </a:r>
            <a:endParaRPr lang="en-ZA" sz="2400" dirty="0"/>
          </a:p>
        </p:txBody>
      </p:sp>
      <p:sp>
        <p:nvSpPr>
          <p:cNvPr id="3" name="Content Placeholder 2"/>
          <p:cNvSpPr>
            <a:spLocks noGrp="1"/>
          </p:cNvSpPr>
          <p:nvPr>
            <p:ph idx="1"/>
          </p:nvPr>
        </p:nvSpPr>
        <p:spPr>
          <a:xfrm>
            <a:off x="457200" y="1124744"/>
            <a:ext cx="8229600" cy="5400600"/>
          </a:xfrm>
          <a:solidFill>
            <a:schemeClr val="accent4">
              <a:lumMod val="20000"/>
              <a:lumOff val="80000"/>
            </a:schemeClr>
          </a:solidFill>
        </p:spPr>
        <p:txBody>
          <a:bodyPr>
            <a:normAutofit lnSpcReduction="10000"/>
          </a:bodyPr>
          <a:lstStyle/>
          <a:p>
            <a:pPr marL="0" indent="0">
              <a:buNone/>
            </a:pPr>
            <a:r>
              <a:rPr lang="en-ZA" sz="2400" b="1" dirty="0" smtClean="0"/>
              <a:t>Sources of Quantitative Data</a:t>
            </a:r>
          </a:p>
          <a:p>
            <a:pPr marL="0" indent="0">
              <a:buNone/>
            </a:pPr>
            <a:r>
              <a:rPr lang="en-ZA" sz="1900" u="sng" dirty="0" smtClean="0"/>
              <a:t>The most common sources of quantitative data include:</a:t>
            </a:r>
          </a:p>
          <a:p>
            <a:pPr marL="0" indent="0">
              <a:buNone/>
            </a:pPr>
            <a:endParaRPr lang="en-ZA" sz="1900" dirty="0" smtClean="0"/>
          </a:p>
          <a:p>
            <a:r>
              <a:rPr lang="en-ZA" sz="1900" b="1" dirty="0" smtClean="0"/>
              <a:t>Surveys</a:t>
            </a:r>
            <a:r>
              <a:rPr lang="en-ZA" sz="1900" dirty="0"/>
              <a:t> </a:t>
            </a:r>
            <a:r>
              <a:rPr lang="en-ZA" sz="1900" dirty="0" smtClean="0"/>
              <a:t>- </a:t>
            </a:r>
            <a:r>
              <a:rPr lang="en-ZA" sz="1900" dirty="0"/>
              <a:t>whether conducted online, by phone or in person. These rely on the </a:t>
            </a:r>
            <a:r>
              <a:rPr lang="en-ZA" sz="1900" dirty="0" smtClean="0"/>
              <a:t>	       same </a:t>
            </a:r>
            <a:r>
              <a:rPr lang="en-ZA" sz="1900" dirty="0"/>
              <a:t>questions being asked in the same way to a large number of </a:t>
            </a:r>
            <a:r>
              <a:rPr lang="en-ZA" sz="1900" dirty="0" smtClean="0"/>
              <a:t>	       people;</a:t>
            </a:r>
          </a:p>
          <a:p>
            <a:endParaRPr lang="en-ZA" sz="1900" dirty="0"/>
          </a:p>
          <a:p>
            <a:r>
              <a:rPr lang="en-ZA" sz="1900" b="1" dirty="0" smtClean="0"/>
              <a:t>Observations</a:t>
            </a:r>
            <a:r>
              <a:rPr lang="en-ZA" sz="1900" dirty="0" smtClean="0"/>
              <a:t> - </a:t>
            </a:r>
            <a:r>
              <a:rPr lang="en-ZA" sz="1900" dirty="0"/>
              <a:t>which may either involve counting the number of times that a </a:t>
            </a:r>
            <a:r>
              <a:rPr lang="en-ZA" sz="1900" dirty="0" smtClean="0"/>
              <a:t>		particular </a:t>
            </a:r>
            <a:r>
              <a:rPr lang="en-ZA" sz="1900" dirty="0"/>
              <a:t>phenomenon occurs, such as how often a particular </a:t>
            </a:r>
            <a:r>
              <a:rPr lang="en-ZA" sz="1900" dirty="0" smtClean="0"/>
              <a:t>		word </a:t>
            </a:r>
            <a:r>
              <a:rPr lang="en-ZA" sz="1900" dirty="0"/>
              <a:t>is used in interviews, or coding observational data to </a:t>
            </a:r>
            <a:r>
              <a:rPr lang="en-ZA" sz="1900" dirty="0" smtClean="0"/>
              <a:t>		translate </a:t>
            </a:r>
            <a:r>
              <a:rPr lang="en-ZA" sz="1900" dirty="0"/>
              <a:t>it into numbers; </a:t>
            </a:r>
            <a:r>
              <a:rPr lang="en-ZA" sz="1900" dirty="0" smtClean="0"/>
              <a:t>and</a:t>
            </a:r>
          </a:p>
          <a:p>
            <a:endParaRPr lang="en-ZA" sz="1900" dirty="0"/>
          </a:p>
          <a:p>
            <a:r>
              <a:rPr lang="en-ZA" sz="1900" b="1" dirty="0"/>
              <a:t>Secondary </a:t>
            </a:r>
            <a:r>
              <a:rPr lang="en-ZA" sz="1900" b="1" dirty="0" smtClean="0"/>
              <a:t>data </a:t>
            </a:r>
            <a:r>
              <a:rPr lang="en-ZA" sz="1900" dirty="0" smtClean="0"/>
              <a:t>- </a:t>
            </a:r>
            <a:r>
              <a:rPr lang="en-ZA" sz="1900" dirty="0"/>
              <a:t>such as </a:t>
            </a:r>
            <a:r>
              <a:rPr lang="en-ZA" sz="1900" dirty="0" smtClean="0"/>
              <a:t>published articles/company accounts etc.</a:t>
            </a:r>
            <a:endParaRPr lang="en-ZA" sz="1900" dirty="0"/>
          </a:p>
          <a:p>
            <a:pPr marL="0" indent="0">
              <a:buNone/>
            </a:pPr>
            <a:r>
              <a:rPr lang="en-ZA" sz="2000" dirty="0" smtClean="0"/>
              <a:t>Example: Quantifying how many students have access to data and devices through surveys/observations/previously published reports as a method in answering the research question, ‘</a:t>
            </a:r>
            <a:r>
              <a:rPr lang="en-US" sz="2000" i="1" dirty="0" smtClean="0"/>
              <a:t>Are </a:t>
            </a:r>
            <a:r>
              <a:rPr lang="en-US" sz="2000" i="1" dirty="0"/>
              <a:t>CPUT students equipped to receive online learning</a:t>
            </a:r>
            <a:r>
              <a:rPr lang="en-US" sz="2000" i="1" dirty="0" smtClean="0"/>
              <a:t>?’</a:t>
            </a:r>
            <a:endParaRPr lang="en-US" sz="2000" i="1" dirty="0"/>
          </a:p>
          <a:p>
            <a:pPr marL="0" indent="0">
              <a:buNone/>
            </a:pPr>
            <a:endParaRPr lang="en-ZA" sz="2000" dirty="0"/>
          </a:p>
        </p:txBody>
      </p:sp>
    </p:spTree>
    <p:extLst>
      <p:ext uri="{BB962C8B-B14F-4D97-AF65-F5344CB8AC3E}">
        <p14:creationId xmlns:p14="http://schemas.microsoft.com/office/powerpoint/2010/main" val="38128053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a:ln>
            <a:solidFill>
              <a:schemeClr val="accent4">
                <a:lumMod val="75000"/>
              </a:schemeClr>
            </a:solidFill>
          </a:ln>
        </p:spPr>
        <p:txBody>
          <a:bodyPr>
            <a:normAutofit/>
          </a:bodyPr>
          <a:lstStyle/>
          <a:p>
            <a:r>
              <a:rPr lang="en-ZA" sz="2800" b="1" dirty="0" smtClean="0"/>
              <a:t>Types of Research:</a:t>
            </a:r>
            <a:br>
              <a:rPr lang="en-ZA" sz="2800" b="1" dirty="0" smtClean="0"/>
            </a:br>
            <a:r>
              <a:rPr lang="en-ZA" sz="2800" b="1" dirty="0" smtClean="0">
                <a:solidFill>
                  <a:srgbClr val="FF0000"/>
                </a:solidFill>
              </a:rPr>
              <a:t>Qualitative Research Methods</a:t>
            </a:r>
            <a:endParaRPr lang="en-ZA" sz="2800" b="1" dirty="0">
              <a:solidFill>
                <a:srgbClr val="FF0000"/>
              </a:solidFill>
            </a:endParaRPr>
          </a:p>
        </p:txBody>
      </p:sp>
      <p:sp>
        <p:nvSpPr>
          <p:cNvPr id="3" name="Content Placeholder 2"/>
          <p:cNvSpPr>
            <a:spLocks noGrp="1"/>
          </p:cNvSpPr>
          <p:nvPr>
            <p:ph idx="1"/>
          </p:nvPr>
        </p:nvSpPr>
        <p:spPr>
          <a:xfrm>
            <a:off x="457200" y="1196752"/>
            <a:ext cx="8229600" cy="5661248"/>
          </a:xfrm>
          <a:solidFill>
            <a:schemeClr val="accent4">
              <a:lumMod val="20000"/>
              <a:lumOff val="80000"/>
            </a:schemeClr>
          </a:solidFill>
        </p:spPr>
        <p:txBody>
          <a:bodyPr>
            <a:normAutofit/>
          </a:bodyPr>
          <a:lstStyle/>
          <a:p>
            <a:r>
              <a:rPr lang="en-US" sz="2000" dirty="0"/>
              <a:t>The strength of qualitative research is its ability to provide complex textual </a:t>
            </a:r>
            <a:r>
              <a:rPr lang="en-US" sz="2000" b="1" dirty="0"/>
              <a:t>descriptions</a:t>
            </a:r>
            <a:r>
              <a:rPr lang="en-US" sz="2000" dirty="0"/>
              <a:t> of how people experience a given research issue. It provides information about the “human” side of an issue – that is, the often contradictory behaviors, beliefs, opinions, emotions, and relationships of individuals. </a:t>
            </a:r>
            <a:endParaRPr lang="en-US" sz="2000" dirty="0" smtClean="0"/>
          </a:p>
          <a:p>
            <a:endParaRPr lang="en-US" sz="2000" dirty="0" smtClean="0"/>
          </a:p>
          <a:p>
            <a:r>
              <a:rPr lang="en-US" sz="2000" dirty="0"/>
              <a:t>Qualitative methods are also effective in identifying </a:t>
            </a:r>
            <a:r>
              <a:rPr lang="en-US" sz="2000" b="1" dirty="0"/>
              <a:t>intangible factors</a:t>
            </a:r>
            <a:r>
              <a:rPr lang="en-US" sz="2000" dirty="0"/>
              <a:t>, such </a:t>
            </a:r>
            <a:r>
              <a:rPr lang="en-US" sz="2000" dirty="0" smtClean="0"/>
              <a:t>as:</a:t>
            </a:r>
            <a:endParaRPr lang="en-US" sz="2000" dirty="0" smtClean="0"/>
          </a:p>
          <a:p>
            <a:pPr lvl="1"/>
            <a:r>
              <a:rPr lang="en-US" sz="2400" b="1" dirty="0" smtClean="0">
                <a:solidFill>
                  <a:srgbClr val="00B050"/>
                </a:solidFill>
              </a:rPr>
              <a:t>Social norms</a:t>
            </a:r>
          </a:p>
          <a:p>
            <a:pPr lvl="1"/>
            <a:r>
              <a:rPr lang="en-US" sz="2400" b="1" dirty="0">
                <a:solidFill>
                  <a:srgbClr val="00B050"/>
                </a:solidFill>
              </a:rPr>
              <a:t>S</a:t>
            </a:r>
            <a:r>
              <a:rPr lang="en-US" sz="2400" b="1" dirty="0" smtClean="0">
                <a:solidFill>
                  <a:srgbClr val="00B050"/>
                </a:solidFill>
              </a:rPr>
              <a:t>ocioeconomic status</a:t>
            </a:r>
          </a:p>
          <a:p>
            <a:pPr lvl="1"/>
            <a:r>
              <a:rPr lang="en-US" sz="2400" b="1" dirty="0">
                <a:solidFill>
                  <a:srgbClr val="00B050"/>
                </a:solidFill>
              </a:rPr>
              <a:t>G</a:t>
            </a:r>
            <a:r>
              <a:rPr lang="en-US" sz="2400" b="1" dirty="0" smtClean="0">
                <a:solidFill>
                  <a:srgbClr val="00B050"/>
                </a:solidFill>
              </a:rPr>
              <a:t>ender roles</a:t>
            </a:r>
          </a:p>
          <a:p>
            <a:pPr lvl="1"/>
            <a:r>
              <a:rPr lang="en-US" sz="2400" b="1" dirty="0">
                <a:solidFill>
                  <a:srgbClr val="00B050"/>
                </a:solidFill>
              </a:rPr>
              <a:t>E</a:t>
            </a:r>
            <a:r>
              <a:rPr lang="en-US" sz="2400" b="1" dirty="0" smtClean="0">
                <a:solidFill>
                  <a:srgbClr val="00B050"/>
                </a:solidFill>
              </a:rPr>
              <a:t>thnicity</a:t>
            </a:r>
          </a:p>
          <a:p>
            <a:pPr lvl="1"/>
            <a:r>
              <a:rPr lang="en-US" sz="2400" b="1" dirty="0" smtClean="0">
                <a:solidFill>
                  <a:srgbClr val="00B050"/>
                </a:solidFill>
              </a:rPr>
              <a:t>Religion</a:t>
            </a:r>
          </a:p>
          <a:p>
            <a:pPr lvl="1"/>
            <a:endParaRPr lang="en-US" sz="1800" b="1" dirty="0" smtClean="0">
              <a:solidFill>
                <a:srgbClr val="00B050"/>
              </a:solidFill>
            </a:endParaRPr>
          </a:p>
          <a:p>
            <a:endParaRPr lang="en-ZA" sz="1800" dirty="0" smtClean="0"/>
          </a:p>
          <a:p>
            <a:endParaRPr lang="en-ZA" sz="1800" dirty="0"/>
          </a:p>
          <a:p>
            <a:endParaRPr lang="en-ZA" dirty="0"/>
          </a:p>
        </p:txBody>
      </p:sp>
    </p:spTree>
    <p:extLst>
      <p:ext uri="{BB962C8B-B14F-4D97-AF65-F5344CB8AC3E}">
        <p14:creationId xmlns:p14="http://schemas.microsoft.com/office/powerpoint/2010/main" val="39832568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008112"/>
          </a:xfrm>
          <a:ln>
            <a:solidFill>
              <a:schemeClr val="accent4">
                <a:lumMod val="75000"/>
              </a:schemeClr>
            </a:solidFill>
          </a:ln>
        </p:spPr>
        <p:txBody>
          <a:bodyPr>
            <a:normAutofit/>
          </a:bodyPr>
          <a:lstStyle/>
          <a:p>
            <a:r>
              <a:rPr lang="en-ZA" sz="2800" b="1" dirty="0"/>
              <a:t>Types of Research:</a:t>
            </a:r>
            <a:br>
              <a:rPr lang="en-ZA" sz="2800" b="1" dirty="0"/>
            </a:br>
            <a:r>
              <a:rPr lang="en-ZA" sz="2800" b="1" dirty="0">
                <a:solidFill>
                  <a:srgbClr val="FF0000"/>
                </a:solidFill>
              </a:rPr>
              <a:t>Qualitative Research Methods</a:t>
            </a:r>
            <a:endParaRPr lang="en-ZA" sz="2800" dirty="0"/>
          </a:p>
        </p:txBody>
      </p:sp>
      <p:sp>
        <p:nvSpPr>
          <p:cNvPr id="3" name="Content Placeholder 2"/>
          <p:cNvSpPr>
            <a:spLocks noGrp="1"/>
          </p:cNvSpPr>
          <p:nvPr>
            <p:ph idx="1"/>
          </p:nvPr>
        </p:nvSpPr>
        <p:spPr>
          <a:xfrm>
            <a:off x="457200" y="1124744"/>
            <a:ext cx="8229600" cy="5001419"/>
          </a:xfrm>
          <a:solidFill>
            <a:schemeClr val="accent4">
              <a:lumMod val="20000"/>
              <a:lumOff val="80000"/>
            </a:schemeClr>
          </a:solidFill>
        </p:spPr>
        <p:txBody>
          <a:bodyPr>
            <a:normAutofit fontScale="77500" lnSpcReduction="20000"/>
          </a:bodyPr>
          <a:lstStyle/>
          <a:p>
            <a:r>
              <a:rPr lang="en-US" sz="2400" dirty="0"/>
              <a:t>When used along with quantitative methods, qualitative research can help us to interpret and better understand the </a:t>
            </a:r>
            <a:r>
              <a:rPr lang="en-US" sz="2400" b="1" dirty="0">
                <a:solidFill>
                  <a:srgbClr val="FF0000"/>
                </a:solidFill>
              </a:rPr>
              <a:t>complex reality </a:t>
            </a:r>
            <a:r>
              <a:rPr lang="en-US" sz="2400" dirty="0"/>
              <a:t>of a given situation and the </a:t>
            </a:r>
            <a:r>
              <a:rPr lang="en-US" sz="2400" b="1" dirty="0"/>
              <a:t>implications</a:t>
            </a:r>
            <a:r>
              <a:rPr lang="en-US" sz="2400" dirty="0"/>
              <a:t> of quantitative data</a:t>
            </a:r>
            <a:r>
              <a:rPr lang="en-US" sz="2400" dirty="0" smtClean="0"/>
              <a:t>. This leads us to better, more effective and appropriate recommendations or solutions for the problem.</a:t>
            </a:r>
          </a:p>
          <a:p>
            <a:pPr marL="0" indent="0">
              <a:buNone/>
            </a:pPr>
            <a:endParaRPr lang="en-ZA" sz="2400" dirty="0" smtClean="0"/>
          </a:p>
          <a:p>
            <a:r>
              <a:rPr lang="en-ZA" sz="2400" dirty="0" smtClean="0"/>
              <a:t>Qualitative </a:t>
            </a:r>
            <a:r>
              <a:rPr lang="en-ZA" sz="2400" dirty="0"/>
              <a:t>analysis results in rich data that gives an in-depth picture and it is particularly useful for </a:t>
            </a:r>
            <a:r>
              <a:rPr lang="en-ZA" sz="2800" b="1" dirty="0"/>
              <a:t>exploring how and why things have happened</a:t>
            </a:r>
            <a:r>
              <a:rPr lang="en-ZA" sz="2400" dirty="0" smtClean="0"/>
              <a:t>.</a:t>
            </a:r>
          </a:p>
          <a:p>
            <a:endParaRPr lang="en-ZA" sz="2400" dirty="0" smtClean="0"/>
          </a:p>
          <a:p>
            <a:r>
              <a:rPr lang="en-ZA" sz="2400" dirty="0"/>
              <a:t>Example: Designing interviews/questionnaires/focus group discussions and/or learning through secondary sources HOW and WHY students do or do not have access to data and devices as a method when answering the research questions, “</a:t>
            </a:r>
            <a:r>
              <a:rPr lang="en-US" sz="2400" i="1" dirty="0"/>
              <a:t>Are CPUT students equipped to receive online learning</a:t>
            </a:r>
            <a:r>
              <a:rPr lang="en-US" sz="2400" i="1" dirty="0" smtClean="0"/>
              <a:t>?”</a:t>
            </a:r>
          </a:p>
          <a:p>
            <a:pPr marL="0" indent="0">
              <a:buNone/>
            </a:pPr>
            <a:endParaRPr lang="en-ZA" sz="2400" b="1" dirty="0"/>
          </a:p>
          <a:p>
            <a:pPr marL="0" indent="0">
              <a:buNone/>
            </a:pPr>
            <a:endParaRPr lang="en-ZA" sz="2400" b="1" dirty="0" smtClean="0"/>
          </a:p>
          <a:p>
            <a:pPr marL="0" indent="0">
              <a:buNone/>
            </a:pPr>
            <a:r>
              <a:rPr lang="en-ZA" sz="2400" b="1" dirty="0" smtClean="0"/>
              <a:t>Disadvantages</a:t>
            </a:r>
            <a:r>
              <a:rPr lang="en-ZA" sz="2400" b="1" dirty="0" smtClean="0"/>
              <a:t>:</a:t>
            </a:r>
            <a:endParaRPr lang="en-ZA" sz="2400" b="1" dirty="0"/>
          </a:p>
          <a:p>
            <a:pPr marL="0" indent="0">
              <a:buNone/>
            </a:pPr>
            <a:r>
              <a:rPr lang="en-ZA" sz="2400" dirty="0" smtClean="0"/>
              <a:t>Example:</a:t>
            </a:r>
          </a:p>
          <a:p>
            <a:r>
              <a:rPr lang="en-ZA" sz="2400" dirty="0" smtClean="0"/>
              <a:t>Participants may </a:t>
            </a:r>
            <a:r>
              <a:rPr lang="en-ZA" sz="2400" dirty="0"/>
              <a:t>say what </a:t>
            </a:r>
            <a:r>
              <a:rPr lang="en-ZA" sz="2400" b="1" dirty="0"/>
              <a:t>they think the researcher wishes </a:t>
            </a:r>
            <a:r>
              <a:rPr lang="en-ZA" sz="2400" dirty="0"/>
              <a:t>to hear. </a:t>
            </a:r>
            <a:endParaRPr lang="en-ZA" sz="2400" dirty="0" smtClean="0"/>
          </a:p>
          <a:p>
            <a:endParaRPr lang="en-ZA" sz="2400" dirty="0" smtClean="0"/>
          </a:p>
          <a:p>
            <a:pPr marL="0" indent="0">
              <a:buNone/>
            </a:pPr>
            <a:endParaRPr lang="en-ZA" sz="2400" b="1" dirty="0" smtClean="0"/>
          </a:p>
          <a:p>
            <a:pPr marL="0" indent="0">
              <a:buNone/>
            </a:pPr>
            <a:endParaRPr lang="en-ZA" sz="2400" b="1" dirty="0" smtClean="0"/>
          </a:p>
          <a:p>
            <a:pPr marL="0" indent="0">
              <a:buNone/>
            </a:pPr>
            <a:endParaRPr lang="en-ZA" sz="2400" b="1" dirty="0"/>
          </a:p>
        </p:txBody>
      </p:sp>
    </p:spTree>
    <p:extLst>
      <p:ext uri="{BB962C8B-B14F-4D97-AF65-F5344CB8AC3E}">
        <p14:creationId xmlns:p14="http://schemas.microsoft.com/office/powerpoint/2010/main" val="41947886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a:ln>
            <a:solidFill>
              <a:schemeClr val="accent4">
                <a:lumMod val="75000"/>
              </a:schemeClr>
            </a:solidFill>
          </a:ln>
        </p:spPr>
        <p:txBody>
          <a:bodyPr>
            <a:normAutofit fontScale="90000"/>
          </a:bodyPr>
          <a:lstStyle/>
          <a:p>
            <a:r>
              <a:rPr lang="en-ZA" sz="2800" b="1" dirty="0"/>
              <a:t>Types of Research:</a:t>
            </a:r>
            <a:br>
              <a:rPr lang="en-ZA" sz="2800" b="1" dirty="0"/>
            </a:br>
            <a:r>
              <a:rPr lang="en-ZA" sz="2800" b="1" dirty="0">
                <a:solidFill>
                  <a:srgbClr val="FF0000"/>
                </a:solidFill>
              </a:rPr>
              <a:t>Qualitative Research Methods</a:t>
            </a:r>
            <a:endParaRPr lang="en-ZA" sz="2800" dirty="0"/>
          </a:p>
        </p:txBody>
      </p:sp>
      <p:sp>
        <p:nvSpPr>
          <p:cNvPr id="3" name="Content Placeholder 2"/>
          <p:cNvSpPr>
            <a:spLocks noGrp="1"/>
          </p:cNvSpPr>
          <p:nvPr>
            <p:ph idx="1"/>
          </p:nvPr>
        </p:nvSpPr>
        <p:spPr>
          <a:xfrm>
            <a:off x="457200" y="1124744"/>
            <a:ext cx="8229600" cy="5001419"/>
          </a:xfrm>
          <a:solidFill>
            <a:schemeClr val="accent4">
              <a:lumMod val="20000"/>
              <a:lumOff val="80000"/>
            </a:schemeClr>
          </a:solidFill>
        </p:spPr>
        <p:txBody>
          <a:bodyPr>
            <a:normAutofit fontScale="92500" lnSpcReduction="20000"/>
          </a:bodyPr>
          <a:lstStyle/>
          <a:p>
            <a:pPr marL="0" indent="0">
              <a:buNone/>
            </a:pPr>
            <a:r>
              <a:rPr lang="en-ZA" sz="2600" b="1" dirty="0" smtClean="0"/>
              <a:t>Sources of Qualitative Data</a:t>
            </a:r>
          </a:p>
          <a:p>
            <a:pPr marL="0" indent="0">
              <a:buNone/>
            </a:pPr>
            <a:r>
              <a:rPr lang="en-ZA" sz="2000" u="sng" dirty="0" smtClean="0"/>
              <a:t>The most common include:</a:t>
            </a:r>
          </a:p>
          <a:p>
            <a:r>
              <a:rPr lang="en-ZA" sz="2000" b="1" dirty="0">
                <a:solidFill>
                  <a:schemeClr val="accent2">
                    <a:lumMod val="75000"/>
                  </a:schemeClr>
                </a:solidFill>
              </a:rPr>
              <a:t>Interviews</a:t>
            </a:r>
            <a:r>
              <a:rPr lang="en-ZA" sz="2000" dirty="0"/>
              <a:t>, which may be </a:t>
            </a:r>
            <a:r>
              <a:rPr lang="en-ZA" sz="2000" dirty="0" smtClean="0"/>
              <a:t>structured/semi-structured/unstructured. </a:t>
            </a:r>
            <a:r>
              <a:rPr lang="en-US" sz="2000" dirty="0"/>
              <a:t>The quality of the data collected in an interview will depend on both the interview </a:t>
            </a:r>
            <a:r>
              <a:rPr lang="en-US" sz="2000" b="1" dirty="0"/>
              <a:t>design</a:t>
            </a:r>
            <a:r>
              <a:rPr lang="en-US" sz="2000" dirty="0"/>
              <a:t> and on the skill of the interviewer. For example, a poorly designed interview may include</a:t>
            </a:r>
            <a:r>
              <a:rPr lang="en-US" sz="2000" b="1" dirty="0"/>
              <a:t> leading questions </a:t>
            </a:r>
            <a:r>
              <a:rPr lang="en-US" sz="2000" dirty="0"/>
              <a:t>or questions that are not understood by the subject. A poor interviewer may consciously or unconsciously influence the responses that the subject makes. In either circumstance, the research findings will be influenced </a:t>
            </a:r>
            <a:r>
              <a:rPr lang="en-US" sz="2000" u="sng" dirty="0"/>
              <a:t>detrimentally</a:t>
            </a:r>
            <a:r>
              <a:rPr lang="en-US" sz="2000" dirty="0"/>
              <a:t>. </a:t>
            </a:r>
            <a:endParaRPr lang="en-ZA" sz="2000" dirty="0" smtClean="0"/>
          </a:p>
          <a:p>
            <a:pPr marL="0" indent="0">
              <a:buNone/>
            </a:pPr>
            <a:endParaRPr lang="en-ZA" sz="2000" dirty="0" smtClean="0"/>
          </a:p>
          <a:p>
            <a:r>
              <a:rPr lang="en-ZA" sz="2000" b="1" dirty="0" smtClean="0"/>
              <a:t>Structured</a:t>
            </a:r>
            <a:r>
              <a:rPr lang="en-ZA" sz="2000" dirty="0" smtClean="0"/>
              <a:t> - </a:t>
            </a:r>
            <a:r>
              <a:rPr lang="en-US" sz="2000" dirty="0"/>
              <a:t>questions are planned and created in advance. All </a:t>
            </a:r>
            <a:r>
              <a:rPr lang="en-US" sz="2000" dirty="0" smtClean="0"/>
              <a:t> participants</a:t>
            </a:r>
            <a:r>
              <a:rPr lang="en-US" sz="2000" dirty="0"/>
              <a:t> are asked the same questions in the same order. </a:t>
            </a:r>
            <a:r>
              <a:rPr lang="en-US" sz="2000" dirty="0" smtClean="0"/>
              <a:t>A tightly scheduled structure of questions is used, very much like a </a:t>
            </a:r>
            <a:r>
              <a:rPr lang="en-US" sz="2000" dirty="0"/>
              <a:t>q</a:t>
            </a:r>
            <a:r>
              <a:rPr lang="en-US" sz="2000" dirty="0" smtClean="0"/>
              <a:t>uestionnaire. The questions may be structured in such a way that a limited range of responses is elicited, like with closed questions. However, it is not unusual for structured interviews to contain a few open-ended catch-all’, final questions, which are useful to capture as much information as possible, but increase the amount of time required to </a:t>
            </a:r>
            <a:r>
              <a:rPr lang="en-US" sz="2000" dirty="0" err="1" smtClean="0"/>
              <a:t>analyse</a:t>
            </a:r>
            <a:r>
              <a:rPr lang="en-US" sz="2000" dirty="0" smtClean="0"/>
              <a:t> the interview findings.</a:t>
            </a:r>
          </a:p>
          <a:p>
            <a:endParaRPr lang="en-US" sz="2000" dirty="0" smtClean="0"/>
          </a:p>
          <a:p>
            <a:pPr marL="0" indent="0">
              <a:buNone/>
            </a:pPr>
            <a:endParaRPr lang="en-ZA" sz="2000" dirty="0"/>
          </a:p>
          <a:p>
            <a:pPr marL="0" indent="0">
              <a:buNone/>
            </a:pPr>
            <a:endParaRPr lang="en-ZA" sz="2000" dirty="0"/>
          </a:p>
        </p:txBody>
      </p:sp>
      <p:sp>
        <p:nvSpPr>
          <p:cNvPr id="4"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304800" y="304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45720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 name="Rectangle 5"/>
          <p:cNvSpPr>
            <a:spLocks noChangeArrowheads="1"/>
          </p:cNvSpPr>
          <p:nvPr/>
        </p:nvSpPr>
        <p:spPr bwMode="auto">
          <a:xfrm>
            <a:off x="609600" y="609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6452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A" b="1" dirty="0"/>
              <a:t>Types of Research:</a:t>
            </a:r>
            <a:br>
              <a:rPr lang="en-ZA" b="1" dirty="0"/>
            </a:br>
            <a:r>
              <a:rPr lang="en-ZA" b="1" dirty="0">
                <a:solidFill>
                  <a:srgbClr val="FF0000"/>
                </a:solidFill>
              </a:rPr>
              <a:t>Qualitative Research Methods</a:t>
            </a:r>
            <a:endParaRPr lang="en-ZA" dirty="0"/>
          </a:p>
        </p:txBody>
      </p:sp>
      <p:sp>
        <p:nvSpPr>
          <p:cNvPr id="3" name="Content Placeholder 2"/>
          <p:cNvSpPr>
            <a:spLocks noGrp="1"/>
          </p:cNvSpPr>
          <p:nvPr>
            <p:ph idx="1"/>
          </p:nvPr>
        </p:nvSpPr>
        <p:spPr>
          <a:solidFill>
            <a:schemeClr val="accent4">
              <a:lumMod val="20000"/>
              <a:lumOff val="80000"/>
            </a:schemeClr>
          </a:solidFill>
        </p:spPr>
        <p:txBody>
          <a:bodyPr>
            <a:normAutofit lnSpcReduction="10000"/>
          </a:bodyPr>
          <a:lstStyle/>
          <a:p>
            <a:pPr lvl="0"/>
            <a:r>
              <a:rPr lang="en-US" sz="2000" b="1" dirty="0">
                <a:solidFill>
                  <a:prstClr val="black"/>
                </a:solidFill>
              </a:rPr>
              <a:t>Semi-structured</a:t>
            </a:r>
            <a:r>
              <a:rPr lang="en-US" sz="1700" dirty="0">
                <a:solidFill>
                  <a:prstClr val="black"/>
                </a:solidFill>
              </a:rPr>
              <a:t> </a:t>
            </a:r>
            <a:r>
              <a:rPr lang="en-US" sz="1700" dirty="0" smtClean="0">
                <a:solidFill>
                  <a:prstClr val="black"/>
                </a:solidFill>
              </a:rPr>
              <a:t>–</a:t>
            </a:r>
            <a:r>
              <a:rPr lang="en-US" sz="1800" dirty="0" smtClean="0"/>
              <a:t>Semi-structured </a:t>
            </a:r>
            <a:r>
              <a:rPr lang="en-US" sz="1800" dirty="0"/>
              <a:t>interviews involve a series of open-ended questions based on the topic areas the researcher wants to cover. The open-ended nature of the question defines the topic under investigation but provides opportunities for both interviewer and interviewee to discuss some topics in </a:t>
            </a:r>
            <a:r>
              <a:rPr lang="en-US" sz="1800" b="1" dirty="0"/>
              <a:t>more detail</a:t>
            </a:r>
            <a:r>
              <a:rPr lang="en-US" sz="1800" dirty="0"/>
              <a:t>. If the interviewee has difficulty answering a question or provides only a brief response, the interviewer can use </a:t>
            </a:r>
            <a:r>
              <a:rPr lang="en-US" sz="1800" b="1" dirty="0"/>
              <a:t>cues or prompts </a:t>
            </a:r>
            <a:r>
              <a:rPr lang="en-US" sz="1800" dirty="0"/>
              <a:t>to encourage the interviewee to consider the question further. In a semi-structured interview, the interviewer also has the freedom to probe the interviewee to elaborate on the original response or to follow a line of inquiry introduced by the interviewee.</a:t>
            </a:r>
            <a:endParaRPr lang="en-US" sz="1700" dirty="0">
              <a:solidFill>
                <a:prstClr val="black"/>
              </a:solidFill>
            </a:endParaRPr>
          </a:p>
          <a:p>
            <a:pPr marL="0" lvl="0" indent="0">
              <a:buNone/>
            </a:pPr>
            <a:endParaRPr lang="en-US" sz="1700" dirty="0">
              <a:solidFill>
                <a:prstClr val="black"/>
              </a:solidFill>
            </a:endParaRPr>
          </a:p>
          <a:p>
            <a:pPr lvl="0"/>
            <a:r>
              <a:rPr lang="en-US" sz="2000" b="1" dirty="0">
                <a:solidFill>
                  <a:prstClr val="black"/>
                </a:solidFill>
              </a:rPr>
              <a:t>Unstructured</a:t>
            </a:r>
            <a:r>
              <a:rPr lang="en-US" sz="1700" dirty="0">
                <a:solidFill>
                  <a:prstClr val="black"/>
                </a:solidFill>
              </a:rPr>
              <a:t> - </a:t>
            </a:r>
            <a:r>
              <a:rPr lang="en-US" sz="1700" dirty="0" smtClean="0">
                <a:solidFill>
                  <a:prstClr val="black"/>
                </a:solidFill>
              </a:rPr>
              <a:t> </a:t>
            </a:r>
            <a:r>
              <a:rPr lang="en-US" sz="1800" dirty="0"/>
              <a:t>Unstructured interviews (sometimes referred to as "depth" or "in depth" interviews) are so called because they have very little structure at all. The interviewer approaches the interview with the aim of discussing a </a:t>
            </a:r>
            <a:r>
              <a:rPr lang="en-US" sz="1800" b="1" dirty="0"/>
              <a:t>limited</a:t>
            </a:r>
            <a:r>
              <a:rPr lang="en-US" sz="1800" dirty="0"/>
              <a:t> number of topics, sometimes as few as one or two, and frames successive questions according to the interviewee's previous response. Although only one or two topics are discussed they are covered in </a:t>
            </a:r>
            <a:r>
              <a:rPr lang="en-US" sz="1800" b="1" dirty="0"/>
              <a:t>great detail</a:t>
            </a:r>
            <a:r>
              <a:rPr lang="en-US" sz="1800" dirty="0"/>
              <a:t>. </a:t>
            </a:r>
            <a:endParaRPr lang="en-ZA" sz="1700" dirty="0">
              <a:solidFill>
                <a:prstClr val="black"/>
              </a:solidFill>
            </a:endParaRPr>
          </a:p>
          <a:p>
            <a:endParaRPr lang="en-ZA" dirty="0"/>
          </a:p>
        </p:txBody>
      </p:sp>
      <p:sp>
        <p:nvSpPr>
          <p:cNvPr id="4"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85415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sz="2500" b="1" dirty="0">
                <a:solidFill>
                  <a:prstClr val="black"/>
                </a:solidFill>
              </a:rPr>
              <a:t>Types of Research:</a:t>
            </a:r>
            <a:br>
              <a:rPr lang="en-ZA" sz="2500" b="1" dirty="0">
                <a:solidFill>
                  <a:prstClr val="black"/>
                </a:solidFill>
              </a:rPr>
            </a:br>
            <a:r>
              <a:rPr lang="en-ZA" sz="2500" b="1" dirty="0">
                <a:solidFill>
                  <a:srgbClr val="FF0000"/>
                </a:solidFill>
              </a:rPr>
              <a:t>Qualitative Research Methods</a:t>
            </a:r>
            <a:endParaRPr lang="en-ZA" dirty="0"/>
          </a:p>
        </p:txBody>
      </p:sp>
      <p:sp>
        <p:nvSpPr>
          <p:cNvPr id="3" name="Content Placeholder 2"/>
          <p:cNvSpPr>
            <a:spLocks noGrp="1"/>
          </p:cNvSpPr>
          <p:nvPr>
            <p:ph idx="1"/>
          </p:nvPr>
        </p:nvSpPr>
        <p:spPr>
          <a:solidFill>
            <a:schemeClr val="accent4">
              <a:lumMod val="20000"/>
              <a:lumOff val="80000"/>
            </a:schemeClr>
          </a:solidFill>
        </p:spPr>
        <p:txBody>
          <a:bodyPr/>
          <a:lstStyle/>
          <a:p>
            <a:pPr lvl="0"/>
            <a:r>
              <a:rPr lang="en-ZA" sz="1900" b="1" dirty="0">
                <a:solidFill>
                  <a:srgbClr val="7030A0"/>
                </a:solidFill>
              </a:rPr>
              <a:t>Focus groups</a:t>
            </a:r>
            <a:r>
              <a:rPr lang="en-ZA" sz="1900" dirty="0">
                <a:solidFill>
                  <a:prstClr val="black"/>
                </a:solidFill>
              </a:rPr>
              <a:t>, which involve multiple participants discussing an issue;</a:t>
            </a:r>
          </a:p>
          <a:p>
            <a:pPr lvl="0"/>
            <a:endParaRPr lang="en-ZA" sz="1900" dirty="0">
              <a:solidFill>
                <a:prstClr val="black"/>
              </a:solidFill>
            </a:endParaRPr>
          </a:p>
          <a:p>
            <a:pPr lvl="0"/>
            <a:r>
              <a:rPr lang="en-ZA" sz="1900" b="1" dirty="0">
                <a:solidFill>
                  <a:srgbClr val="F79646">
                    <a:lumMod val="75000"/>
                  </a:srgbClr>
                </a:solidFill>
              </a:rPr>
              <a:t>Questionnaires</a:t>
            </a:r>
            <a:r>
              <a:rPr lang="en-ZA" sz="1900" dirty="0">
                <a:solidFill>
                  <a:prstClr val="black"/>
                </a:solidFill>
              </a:rPr>
              <a:t>, where participants fill in the answers to the questions asked;</a:t>
            </a:r>
          </a:p>
          <a:p>
            <a:pPr lvl="0"/>
            <a:endParaRPr lang="en-ZA" sz="1900" dirty="0">
              <a:solidFill>
                <a:prstClr val="black"/>
              </a:solidFill>
            </a:endParaRPr>
          </a:p>
          <a:p>
            <a:pPr lvl="0"/>
            <a:r>
              <a:rPr lang="en-ZA" sz="1900" b="1" dirty="0">
                <a:solidFill>
                  <a:srgbClr val="9BBB59"/>
                </a:solidFill>
              </a:rPr>
              <a:t>Secondary data</a:t>
            </a:r>
            <a:r>
              <a:rPr lang="en-ZA" sz="1900" dirty="0">
                <a:solidFill>
                  <a:prstClr val="black"/>
                </a:solidFill>
              </a:rPr>
              <a:t>, including diaries/written accounts of past events/company reports/newspaper reports/published data in journals, books, theses etc.;</a:t>
            </a:r>
          </a:p>
          <a:p>
            <a:pPr lvl="0"/>
            <a:endParaRPr lang="en-ZA" sz="1900" dirty="0">
              <a:solidFill>
                <a:prstClr val="black"/>
              </a:solidFill>
            </a:endParaRPr>
          </a:p>
          <a:p>
            <a:pPr lvl="0"/>
            <a:r>
              <a:rPr lang="en-ZA" sz="1900" b="1" dirty="0">
                <a:solidFill>
                  <a:srgbClr val="00B0F0"/>
                </a:solidFill>
              </a:rPr>
              <a:t>Observations</a:t>
            </a:r>
            <a:r>
              <a:rPr lang="en-ZA" sz="1900" dirty="0">
                <a:solidFill>
                  <a:prstClr val="black"/>
                </a:solidFill>
              </a:rPr>
              <a:t>, which may be on site, or under ‘laboratory conditions’, for example, where participants are asked to role-play a situation to show what they might do.</a:t>
            </a:r>
          </a:p>
          <a:p>
            <a:endParaRPr lang="en-ZA" dirty="0"/>
          </a:p>
        </p:txBody>
      </p:sp>
    </p:spTree>
    <p:extLst>
      <p:ext uri="{BB962C8B-B14F-4D97-AF65-F5344CB8AC3E}">
        <p14:creationId xmlns:p14="http://schemas.microsoft.com/office/powerpoint/2010/main" val="1936286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71400"/>
            <a:ext cx="8229600" cy="1152128"/>
          </a:xfrm>
          <a:ln>
            <a:solidFill>
              <a:schemeClr val="accent4">
                <a:lumMod val="75000"/>
              </a:schemeClr>
            </a:solidFill>
          </a:ln>
        </p:spPr>
        <p:txBody>
          <a:bodyPr>
            <a:normAutofit/>
          </a:bodyPr>
          <a:lstStyle/>
          <a:p>
            <a:r>
              <a:rPr lang="en-ZA" sz="2800" b="1" dirty="0"/>
              <a:t>Types of Research:</a:t>
            </a:r>
            <a:br>
              <a:rPr lang="en-ZA" sz="2800" b="1" dirty="0"/>
            </a:br>
            <a:r>
              <a:rPr lang="en-ZA" sz="2800" b="1" dirty="0">
                <a:solidFill>
                  <a:srgbClr val="FF0000"/>
                </a:solidFill>
              </a:rPr>
              <a:t>Qualitative Research Methods</a:t>
            </a:r>
            <a:endParaRPr lang="en-ZA" sz="2800" dirty="0"/>
          </a:p>
        </p:txBody>
      </p:sp>
      <p:sp>
        <p:nvSpPr>
          <p:cNvPr id="3" name="Content Placeholder 2"/>
          <p:cNvSpPr>
            <a:spLocks noGrp="1"/>
          </p:cNvSpPr>
          <p:nvPr>
            <p:ph idx="1"/>
          </p:nvPr>
        </p:nvSpPr>
        <p:spPr>
          <a:xfrm>
            <a:off x="457200" y="1340768"/>
            <a:ext cx="8229600" cy="4785395"/>
          </a:xfrm>
          <a:solidFill>
            <a:schemeClr val="accent4">
              <a:lumMod val="20000"/>
              <a:lumOff val="80000"/>
            </a:schemeClr>
          </a:solidFill>
        </p:spPr>
        <p:txBody>
          <a:bodyPr>
            <a:normAutofit/>
          </a:bodyPr>
          <a:lstStyle/>
          <a:p>
            <a:pPr marL="0" indent="0">
              <a:buNone/>
            </a:pPr>
            <a:r>
              <a:rPr lang="en-ZA" sz="2800" b="1" dirty="0" smtClean="0"/>
              <a:t>Analysing Qualitative Data</a:t>
            </a:r>
          </a:p>
          <a:p>
            <a:r>
              <a:rPr lang="en-ZA" sz="2400" dirty="0" smtClean="0"/>
              <a:t>Because </a:t>
            </a:r>
            <a:r>
              <a:rPr lang="en-ZA" sz="2400" dirty="0"/>
              <a:t>qualitative data are drawn from a wide variety of sources, they can be radically different in scope</a:t>
            </a:r>
            <a:r>
              <a:rPr lang="en-ZA" sz="2400" dirty="0" smtClean="0"/>
              <a:t>.</a:t>
            </a:r>
          </a:p>
          <a:p>
            <a:endParaRPr lang="en-ZA" sz="2400" dirty="0"/>
          </a:p>
          <a:p>
            <a:r>
              <a:rPr lang="en-ZA" sz="2400" dirty="0"/>
              <a:t>There are, therefore, a wide variety of methods for analysing them, many of which involve structuring and </a:t>
            </a:r>
            <a:r>
              <a:rPr lang="en-ZA" sz="2400" b="1" dirty="0"/>
              <a:t>coding the data into groups and themes</a:t>
            </a:r>
            <a:r>
              <a:rPr lang="en-ZA" sz="2400" dirty="0"/>
              <a:t>. </a:t>
            </a:r>
            <a:endParaRPr lang="en-ZA" sz="2400" dirty="0" smtClean="0"/>
          </a:p>
          <a:p>
            <a:pPr marL="0" indent="0">
              <a:buNone/>
            </a:pPr>
            <a:endParaRPr lang="en-ZA" sz="2400" dirty="0" smtClean="0"/>
          </a:p>
          <a:p>
            <a:r>
              <a:rPr lang="en-ZA" sz="2400" dirty="0" smtClean="0"/>
              <a:t>The </a:t>
            </a:r>
            <a:r>
              <a:rPr lang="en-ZA" sz="2400" dirty="0"/>
              <a:t>best way to work out which ones are right for your research is to discuss it with </a:t>
            </a:r>
            <a:r>
              <a:rPr lang="en-ZA" sz="2400" dirty="0" smtClean="0"/>
              <a:t>your lecturer/supervisor</a:t>
            </a:r>
            <a:r>
              <a:rPr lang="en-ZA" sz="2400" dirty="0"/>
              <a:t>.</a:t>
            </a:r>
          </a:p>
          <a:p>
            <a:endParaRPr lang="en-ZA" dirty="0"/>
          </a:p>
        </p:txBody>
      </p:sp>
    </p:spTree>
    <p:extLst>
      <p:ext uri="{BB962C8B-B14F-4D97-AF65-F5344CB8AC3E}">
        <p14:creationId xmlns:p14="http://schemas.microsoft.com/office/powerpoint/2010/main" val="28538262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4"/>
          </a:lnRef>
          <a:fillRef idx="1">
            <a:schemeClr val="lt1"/>
          </a:fillRef>
          <a:effectRef idx="0">
            <a:schemeClr val="accent4"/>
          </a:effectRef>
          <a:fontRef idx="minor">
            <a:schemeClr val="dk1"/>
          </a:fontRef>
        </p:style>
        <p:txBody>
          <a:bodyPr>
            <a:normAutofit fontScale="90000"/>
          </a:bodyPr>
          <a:lstStyle/>
          <a:p>
            <a:r>
              <a:rPr lang="en-US" b="1" dirty="0" smtClean="0"/>
              <a:t>How to integrate research material</a:t>
            </a:r>
            <a:endParaRPr lang="en-US" b="1" dirty="0"/>
          </a:p>
        </p:txBody>
      </p:sp>
      <p:sp>
        <p:nvSpPr>
          <p:cNvPr id="3" name="Content Placeholder 2"/>
          <p:cNvSpPr>
            <a:spLocks noGrp="1"/>
          </p:cNvSpPr>
          <p:nvPr>
            <p:ph idx="1"/>
          </p:nvPr>
        </p:nvSpPr>
        <p:spPr>
          <a:solidFill>
            <a:schemeClr val="accent4">
              <a:lumMod val="20000"/>
              <a:lumOff val="80000"/>
            </a:schemeClr>
          </a:solidFill>
        </p:spPr>
        <p:txBody>
          <a:bodyPr/>
          <a:lstStyle/>
          <a:p>
            <a:r>
              <a:rPr lang="en-US" dirty="0" smtClean="0"/>
              <a:t>Use the material to </a:t>
            </a:r>
            <a:r>
              <a:rPr lang="en-US" b="1" dirty="0" smtClean="0"/>
              <a:t>support</a:t>
            </a:r>
            <a:r>
              <a:rPr lang="en-US" dirty="0" smtClean="0"/>
              <a:t> your arguments, making sure your ideas flow coherently and cohesively.</a:t>
            </a:r>
          </a:p>
          <a:p>
            <a:pPr>
              <a:buNone/>
            </a:pPr>
            <a:endParaRPr lang="en-US" dirty="0" smtClean="0"/>
          </a:p>
          <a:p>
            <a:r>
              <a:rPr lang="en-US" dirty="0" smtClean="0"/>
              <a:t>Use the relevant material to support the </a:t>
            </a:r>
            <a:r>
              <a:rPr lang="en-US" b="1" dirty="0" smtClean="0"/>
              <a:t>main idea</a:t>
            </a:r>
            <a:r>
              <a:rPr lang="en-US" dirty="0" smtClean="0"/>
              <a:t> in  each paragraph.</a:t>
            </a:r>
          </a:p>
          <a:p>
            <a:pPr>
              <a:buNone/>
            </a:pPr>
            <a:endParaRPr lang="en-US" dirty="0" smtClean="0"/>
          </a:p>
          <a:p>
            <a:r>
              <a:rPr lang="en-US" dirty="0" smtClean="0"/>
              <a:t>Use the information as </a:t>
            </a:r>
            <a:r>
              <a:rPr lang="en-US" b="1" dirty="0" smtClean="0"/>
              <a:t>accurately</a:t>
            </a:r>
            <a:r>
              <a:rPr lang="en-US" dirty="0" smtClean="0"/>
              <a:t> as possible.</a:t>
            </a:r>
          </a:p>
          <a:p>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1732</TotalTime>
  <Words>1274</Words>
  <Application>Microsoft Office PowerPoint</Application>
  <PresentationFormat>On-screen Show (4:3)</PresentationFormat>
  <Paragraphs>191</Paragraphs>
  <Slides>18</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Research guidelines</vt:lpstr>
      <vt:lpstr>What is Research?</vt:lpstr>
      <vt:lpstr>Types of Data </vt:lpstr>
      <vt:lpstr>Primary Data: Open and Closed ended survey questions</vt:lpstr>
      <vt:lpstr>Primary Data: Open and Closed ended survey questions</vt:lpstr>
      <vt:lpstr>Types of Data </vt:lpstr>
      <vt:lpstr>Types of Research Methods:  Quantitative and  Qualitative Research Methods</vt:lpstr>
      <vt:lpstr>Types of Research:  Quantitative Research Methods</vt:lpstr>
      <vt:lpstr>Types of Research:  Quantitative Research Methods</vt:lpstr>
      <vt:lpstr>Types of Research:  Quantitative Research Methods</vt:lpstr>
      <vt:lpstr>Types of Research:  Quantitative Research Methods</vt:lpstr>
      <vt:lpstr>Types of Research: Qualitative Research Methods</vt:lpstr>
      <vt:lpstr>Types of Research: Qualitative Research Methods</vt:lpstr>
      <vt:lpstr>Types of Research: Qualitative Research Methods</vt:lpstr>
      <vt:lpstr>Types of Research: Qualitative Research Methods</vt:lpstr>
      <vt:lpstr>Types of Research: Qualitative Research Methods</vt:lpstr>
      <vt:lpstr>Types of Research: Qualitative Research Methods</vt:lpstr>
      <vt:lpstr>How to integrate research material</vt:lpstr>
    </vt:vector>
  </TitlesOfParts>
  <Company>CPUT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Referencing guidelines</dc:title>
  <dc:creator>FID IT</dc:creator>
  <cp:lastModifiedBy>Nicole Wessels</cp:lastModifiedBy>
  <cp:revision>78</cp:revision>
  <dcterms:created xsi:type="dcterms:W3CDTF">2011-05-10T11:19:45Z</dcterms:created>
  <dcterms:modified xsi:type="dcterms:W3CDTF">2020-09-22T08:54:43Z</dcterms:modified>
</cp:coreProperties>
</file>