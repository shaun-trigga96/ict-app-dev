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0" r:id="rId4"/>
    <p:sldId id="261" r:id="rId5"/>
    <p:sldId id="262" r:id="rId6"/>
    <p:sldId id="257" r:id="rId7"/>
    <p:sldId id="259" r:id="rId8"/>
    <p:sldId id="258" r:id="rId9"/>
    <p:sldId id="267" r:id="rId10"/>
    <p:sldId id="266" r:id="rId11"/>
    <p:sldId id="268" r:id="rId12"/>
    <p:sldId id="269" r:id="rId13"/>
    <p:sldId id="274" r:id="rId14"/>
    <p:sldId id="275" r:id="rId15"/>
    <p:sldId id="276" r:id="rId16"/>
    <p:sldId id="27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E2173-4B2F-4F65-98F6-E8FDEA74ADBD}" type="datetimeFigureOut">
              <a:rPr lang="en-US" smtClean="0"/>
              <a:pPr/>
              <a:t>9/18/2020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E2347-9B7A-4BCF-848D-399981787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ixion.cput.ac/library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general.rau.ac.za/infosci/raujourna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</a:t>
            </a:r>
            <a:r>
              <a:rPr lang="en-US" b="1" dirty="0" smtClean="0">
                <a:solidFill>
                  <a:srgbClr val="FF0000"/>
                </a:solidFill>
              </a:rPr>
              <a:t>eferencing</a:t>
            </a:r>
            <a:r>
              <a:rPr lang="en-US" b="1" dirty="0" smtClean="0"/>
              <a:t> guidelines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Referencing guidelines sourced from the CPUT website’s library services:</a:t>
            </a:r>
          </a:p>
          <a:p>
            <a:r>
              <a:rPr lang="en-US" sz="2400" dirty="0" smtClean="0">
                <a:hlinkClick r:id="rId2"/>
              </a:rPr>
              <a:t>http://ixion.cput.ac/library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ZA" b="1" dirty="0" smtClean="0"/>
              <a:t>Plagiarism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Plagiarism is the practice of copying someone</a:t>
            </a:r>
          </a:p>
          <a:p>
            <a:pPr>
              <a:buNone/>
            </a:pPr>
            <a:r>
              <a:rPr lang="en-US" dirty="0" smtClean="0"/>
              <a:t>else’s words or ideas without acknowledging</a:t>
            </a:r>
          </a:p>
          <a:p>
            <a:pPr>
              <a:buNone/>
            </a:pPr>
            <a:r>
              <a:rPr lang="en-US" dirty="0" smtClean="0"/>
              <a:t>them.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It can be likened to shoplifting, taking without</a:t>
            </a:r>
          </a:p>
          <a:p>
            <a:pPr>
              <a:buNone/>
            </a:pPr>
            <a:r>
              <a:rPr lang="en-US" dirty="0" smtClean="0"/>
              <a:t>paying! It is the </a:t>
            </a:r>
            <a:r>
              <a:rPr lang="en-US" b="1" dirty="0" smtClean="0">
                <a:solidFill>
                  <a:srgbClr val="FF0000"/>
                </a:solidFill>
              </a:rPr>
              <a:t>most serious crime </a:t>
            </a:r>
            <a:r>
              <a:rPr lang="en-US" dirty="0" smtClean="0"/>
              <a:t>that can be</a:t>
            </a:r>
          </a:p>
          <a:p>
            <a:pPr>
              <a:buNone/>
            </a:pPr>
            <a:r>
              <a:rPr lang="en-US" dirty="0" smtClean="0"/>
              <a:t>committed in academic writing” </a:t>
            </a:r>
          </a:p>
          <a:p>
            <a:pPr>
              <a:buNone/>
            </a:pPr>
            <a:r>
              <a:rPr lang="en-US" dirty="0" smtClean="0"/>
              <a:t>(Cleary 2003:371). Thus it is important to </a:t>
            </a:r>
            <a:r>
              <a:rPr lang="en-US" b="1" dirty="0" smtClean="0"/>
              <a:t>reference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your sources!</a:t>
            </a:r>
          </a:p>
          <a:p>
            <a:pPr>
              <a:buNone/>
            </a:pPr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Referencing: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700" b="1" dirty="0" smtClean="0"/>
              <a:t>What is referencing and why is it necessary?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Referencing is a </a:t>
            </a:r>
            <a:r>
              <a:rPr lang="en-US" sz="2000" b="1" dirty="0" smtClean="0"/>
              <a:t>standardised</a:t>
            </a:r>
            <a:r>
              <a:rPr lang="en-US" sz="2000" dirty="0" smtClean="0"/>
              <a:t> method of </a:t>
            </a:r>
            <a:r>
              <a:rPr lang="en-US" sz="2000" b="1" dirty="0" smtClean="0"/>
              <a:t>acknowledging</a:t>
            </a:r>
            <a:r>
              <a:rPr lang="en-US" sz="2000" dirty="0" smtClean="0"/>
              <a:t> the </a:t>
            </a:r>
            <a:r>
              <a:rPr lang="en-US" sz="2000" b="1" dirty="0" smtClean="0"/>
              <a:t>sources of information</a:t>
            </a:r>
            <a:r>
              <a:rPr lang="en-US" sz="2000" dirty="0" smtClean="0"/>
              <a:t> you have consulted.</a:t>
            </a:r>
          </a:p>
          <a:p>
            <a:endParaRPr lang="en-US" sz="2000" dirty="0" smtClean="0"/>
          </a:p>
          <a:p>
            <a:r>
              <a:rPr lang="en-US" sz="2000" dirty="0" smtClean="0"/>
              <a:t> Anything - words, figures, theories, ideas, facts - originating from another source and used in your assignment must be referenced (i.e. acknowledged).</a:t>
            </a:r>
          </a:p>
          <a:p>
            <a:pPr>
              <a:buNone/>
            </a:pP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Referencing is done for the following reasons:</a:t>
            </a:r>
          </a:p>
          <a:p>
            <a:r>
              <a:rPr lang="en-US" sz="2000" dirty="0" smtClean="0"/>
              <a:t>to avoid </a:t>
            </a:r>
            <a:r>
              <a:rPr lang="en-US" sz="2000" b="1" dirty="0" smtClean="0"/>
              <a:t>plagiarism;</a:t>
            </a:r>
            <a:endParaRPr lang="en-US" sz="2000" dirty="0" smtClean="0"/>
          </a:p>
          <a:p>
            <a:r>
              <a:rPr lang="en-US" sz="2000" dirty="0" smtClean="0"/>
              <a:t>so that the reader can verify </a:t>
            </a:r>
            <a:r>
              <a:rPr lang="en-US" sz="2000" b="1" dirty="0" smtClean="0"/>
              <a:t>quotations;</a:t>
            </a:r>
            <a:endParaRPr lang="en-US" sz="2000" dirty="0" smtClean="0"/>
          </a:p>
          <a:p>
            <a:r>
              <a:rPr lang="en-US" sz="2000" dirty="0" smtClean="0"/>
              <a:t>so that the reader can follow up on the </a:t>
            </a:r>
            <a:r>
              <a:rPr lang="en-US" sz="2000" b="1" dirty="0" smtClean="0"/>
              <a:t>original</a:t>
            </a:r>
            <a:r>
              <a:rPr lang="en-US" sz="2000" dirty="0" smtClean="0"/>
              <a:t> author's thinking by consulting the source you have used.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19256" cy="692696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Referencing styles 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83264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sz="2200" dirty="0" smtClean="0"/>
              <a:t>Different </a:t>
            </a:r>
            <a:r>
              <a:rPr lang="en-US" sz="2200" dirty="0" err="1" smtClean="0"/>
              <a:t>organisations</a:t>
            </a:r>
            <a:r>
              <a:rPr lang="en-US" sz="2200" dirty="0" smtClean="0"/>
              <a:t> have developed different referencing styles. The style you have to use is prescribed by your academic department or faculty. A specific style is usually also prescribed by the publisher or the journal for which you are writing, if you intend publishing. Style manuals are published and updated by the originating </a:t>
            </a:r>
            <a:r>
              <a:rPr lang="en-US" sz="2200" dirty="0" err="1" smtClean="0"/>
              <a:t>organisations</a:t>
            </a:r>
            <a:r>
              <a:rPr lang="en-US" sz="2200" dirty="0" smtClean="0"/>
              <a:t>. They are available in printed format but also online on the Internet. Two examples of referencing styles are:</a:t>
            </a:r>
          </a:p>
          <a:p>
            <a:endParaRPr lang="en-US" sz="2200" dirty="0"/>
          </a:p>
          <a:p>
            <a:endParaRPr lang="en-US" sz="2200" dirty="0" smtClean="0"/>
          </a:p>
          <a:p>
            <a:endParaRPr lang="en-US" sz="2200" dirty="0"/>
          </a:p>
          <a:p>
            <a:endParaRPr lang="en-US" sz="2200" dirty="0" smtClean="0"/>
          </a:p>
          <a:p>
            <a:endParaRPr lang="en-US" sz="2400" dirty="0" smtClean="0"/>
          </a:p>
          <a:p>
            <a:r>
              <a:rPr lang="en-US" sz="2200" dirty="0" smtClean="0"/>
              <a:t>The most-used style at the Cape Peninsula University of Technology is the</a:t>
            </a:r>
            <a:r>
              <a:rPr lang="en-US" sz="2200" b="1" dirty="0" smtClean="0"/>
              <a:t> Harvard Referencing Style</a:t>
            </a:r>
            <a:r>
              <a:rPr lang="en-US" sz="2200" dirty="0" smtClean="0"/>
              <a:t>, but the medical field uses the </a:t>
            </a:r>
            <a:r>
              <a:rPr lang="en-US" sz="2200" b="1" dirty="0" smtClean="0"/>
              <a:t>Vancouver Referencing Style</a:t>
            </a:r>
            <a:r>
              <a:rPr lang="en-US" sz="2200" dirty="0" smtClean="0"/>
              <a:t>. Check with your lecturer which style you should use. </a:t>
            </a:r>
          </a:p>
          <a:p>
            <a:r>
              <a:rPr lang="en-US" sz="2200" dirty="0" smtClean="0"/>
              <a:t>Styles are </a:t>
            </a:r>
            <a:r>
              <a:rPr lang="en-US" sz="2200" b="1" dirty="0" smtClean="0">
                <a:solidFill>
                  <a:srgbClr val="FF0000"/>
                </a:solidFill>
              </a:rPr>
              <a:t>never mixed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en-US" sz="2200" dirty="0" smtClean="0"/>
              <a:t>- once you have decided on a style you follow that style only and you follow it to the letter. In other words you should follow it </a:t>
            </a:r>
            <a:r>
              <a:rPr lang="en-US" sz="2200" b="1" dirty="0" smtClean="0">
                <a:solidFill>
                  <a:srgbClr val="FF0000"/>
                </a:solidFill>
              </a:rPr>
              <a:t>exactly</a:t>
            </a:r>
            <a:r>
              <a:rPr lang="en-US" sz="2200" dirty="0" smtClean="0"/>
              <a:t>. </a:t>
            </a:r>
          </a:p>
          <a:p>
            <a:endParaRPr lang="en-US" sz="2200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03648" y="2996952"/>
          <a:ext cx="6096000" cy="1473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Style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Developed by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Harvard Style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Harvard University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Vancouver Style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International Committee of Medical Journal Editors (ICMJE) and National Library of Medicine 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 smtClean="0"/>
              <a:t>What information do I need for proper referencing?</a:t>
            </a:r>
            <a:br>
              <a:rPr lang="en-US" sz="3600" b="1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An acknowledgement within the body of your essay would include the </a:t>
            </a:r>
            <a:r>
              <a:rPr lang="en-US" b="1" dirty="0" smtClean="0"/>
              <a:t>name of the author</a:t>
            </a:r>
            <a:r>
              <a:rPr lang="en-US" dirty="0" smtClean="0"/>
              <a:t>, the </a:t>
            </a:r>
            <a:r>
              <a:rPr lang="en-US" b="1" dirty="0" smtClean="0"/>
              <a:t>date of publication</a:t>
            </a:r>
            <a:r>
              <a:rPr lang="en-US" dirty="0" smtClean="0"/>
              <a:t> and the </a:t>
            </a:r>
            <a:r>
              <a:rPr lang="en-US" b="1" dirty="0" smtClean="0"/>
              <a:t>page numbers</a:t>
            </a:r>
            <a:r>
              <a:rPr lang="en-US" dirty="0" smtClean="0"/>
              <a:t>, </a:t>
            </a:r>
            <a:r>
              <a:rPr lang="en-US" dirty="0" err="1" smtClean="0"/>
              <a:t>eg</a:t>
            </a:r>
            <a:r>
              <a:rPr lang="en-US" dirty="0" smtClean="0"/>
              <a:t> Anderson (1987:73-74).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You need to know </a:t>
            </a:r>
            <a:r>
              <a:rPr lang="en-US" b="1" dirty="0" smtClean="0"/>
              <a:t>which referencing style</a:t>
            </a:r>
            <a:r>
              <a:rPr lang="en-US" dirty="0" smtClean="0"/>
              <a:t> you are following so that you give the elements in the correct order and use the correct </a:t>
            </a:r>
            <a:r>
              <a:rPr lang="en-US" dirty="0" smtClean="0">
                <a:solidFill>
                  <a:srgbClr val="FF0000"/>
                </a:solidFill>
              </a:rPr>
              <a:t>punctuation</a:t>
            </a:r>
            <a:r>
              <a:rPr lang="en-US" dirty="0" smtClean="0"/>
              <a:t> within and between the elements.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At this point - known as </a:t>
            </a:r>
            <a:r>
              <a:rPr lang="en-US" b="1" dirty="0" smtClean="0"/>
              <a:t>"in-text referencing" </a:t>
            </a:r>
            <a:r>
              <a:rPr lang="en-US" dirty="0" smtClean="0"/>
              <a:t>- you are giving the reader only the author(s), date of publication and page references of the source. He/she will find the full details in your </a:t>
            </a:r>
            <a:r>
              <a:rPr lang="en-US" b="1" dirty="0" smtClean="0"/>
              <a:t>bibliography/reference list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200" b="1" dirty="0" smtClean="0"/>
              <a:t/>
            </a:r>
            <a:br>
              <a:rPr lang="en-US" sz="2200" b="1" dirty="0" smtClean="0"/>
            </a:br>
            <a:r>
              <a:rPr lang="en-US" sz="2200" b="1" dirty="0"/>
              <a:t/>
            </a:r>
            <a:br>
              <a:rPr lang="en-US" sz="2200" b="1" dirty="0"/>
            </a:br>
            <a:r>
              <a:rPr lang="en-US" sz="2200" b="1" dirty="0" smtClean="0"/>
              <a:t/>
            </a:r>
            <a:br>
              <a:rPr lang="en-US" sz="2200" b="1" dirty="0" smtClean="0"/>
            </a:br>
            <a:r>
              <a:rPr lang="en-US" sz="2200" b="1" dirty="0" smtClean="0"/>
              <a:t>How do I apply this reference technique?</a:t>
            </a:r>
            <a:br>
              <a:rPr lang="en-US" sz="2200" b="1" dirty="0" smtClean="0"/>
            </a:br>
            <a:r>
              <a:rPr lang="en-US" sz="2200" dirty="0" smtClean="0"/>
              <a:t>There are different ways of referencing:</a:t>
            </a:r>
            <a:br>
              <a:rPr lang="en-US" sz="2200" dirty="0" smtClean="0"/>
            </a:br>
            <a:r>
              <a:rPr lang="en-US" sz="2200" b="1" dirty="0" smtClean="0"/>
              <a:t>PARAPHRASING OR QUOTING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	Paraphrasing (writing the ideas in your own words)</a:t>
            </a:r>
            <a:endParaRPr lang="en-US" dirty="0" smtClean="0"/>
          </a:p>
          <a:p>
            <a:r>
              <a:rPr lang="en-US" b="1" dirty="0" smtClean="0"/>
              <a:t>Harvard style </a:t>
            </a:r>
            <a:r>
              <a:rPr lang="en-US" dirty="0" smtClean="0"/>
              <a:t>   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Anderson (1987:73-74) advances three arguments against the death penalty. He contends that the death penalty is inhumane and no society that purports to be </a:t>
            </a:r>
            <a:r>
              <a:rPr lang="en-US" dirty="0" err="1" smtClean="0"/>
              <a:t>civilised</a:t>
            </a:r>
            <a:r>
              <a:rPr lang="en-US" dirty="0" smtClean="0"/>
              <a:t> can condone it.     </a:t>
            </a:r>
          </a:p>
          <a:p>
            <a:pPr>
              <a:buNone/>
            </a:pPr>
            <a:endParaRPr lang="en-US" dirty="0"/>
          </a:p>
          <a:p>
            <a:r>
              <a:rPr lang="en-US" dirty="0" smtClean="0"/>
              <a:t>Note: </a:t>
            </a:r>
          </a:p>
          <a:p>
            <a:pPr>
              <a:buNone/>
            </a:pPr>
            <a:r>
              <a:rPr lang="en-US" dirty="0" smtClean="0"/>
              <a:t>	The sentence starts with the surname of the author followed by the date and page reference in round brackets.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92088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b="1" dirty="0" smtClean="0"/>
              <a:t> </a:t>
            </a:r>
            <a:r>
              <a:rPr lang="en-US" sz="3100" b="1" dirty="0" smtClean="0"/>
              <a:t>How do I apply this reference technique? 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62500" lnSpcReduction="20000"/>
          </a:bodyPr>
          <a:lstStyle/>
          <a:p>
            <a:r>
              <a:rPr lang="en-US" sz="4200" b="1" dirty="0" smtClean="0"/>
              <a:t>Quoting (writing the exact words of the author)</a:t>
            </a:r>
            <a:r>
              <a:rPr lang="en-US" sz="4200" dirty="0" smtClean="0"/>
              <a:t/>
            </a:r>
            <a:br>
              <a:rPr lang="en-US" sz="4200" dirty="0" smtClean="0"/>
            </a:br>
            <a:endParaRPr lang="en-US" sz="4200" dirty="0" smtClean="0"/>
          </a:p>
          <a:p>
            <a:r>
              <a:rPr lang="en-US" b="1" dirty="0" smtClean="0"/>
              <a:t>Harvard style </a:t>
            </a:r>
            <a:r>
              <a:rPr lang="en-US" dirty="0" smtClean="0"/>
              <a:t>   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smtClean="0"/>
              <a:t>	 "My arguments against the death penalty are three-fold. To do away with any human being is </a:t>
            </a:r>
            <a:r>
              <a:rPr lang="en-US" dirty="0" err="1" smtClean="0"/>
              <a:t>uncivilised</a:t>
            </a:r>
            <a:r>
              <a:rPr lang="en-US" dirty="0" smtClean="0"/>
              <a:t> and inhumane. There is no proof that the death penalty acts as a deterrent to heinous criminal acts... and it's a documented fact that many innocent men and women have been wrongly sentenced for the crimes of others" (Anderson, 1987:73-74).     </a:t>
            </a:r>
          </a:p>
          <a:p>
            <a:endParaRPr lang="en-US" dirty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Notes: 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ellipsis</a:t>
            </a:r>
            <a:r>
              <a:rPr lang="en-US" dirty="0" smtClean="0"/>
              <a:t> (....), indicates that you have omitted certain words in the original. The information copied from the original author is given in quotation marks ("....“).</a:t>
            </a:r>
          </a:p>
          <a:p>
            <a:r>
              <a:rPr lang="en-US" dirty="0" smtClean="0"/>
              <a:t>The sentence ends with the surname of the author, the date of the publication and the page references in round brackets.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363272" cy="100811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Two other forms of quoting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Harvard style </a:t>
            </a:r>
            <a:r>
              <a:rPr lang="en-US" dirty="0" smtClean="0"/>
              <a:t>   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Anderson (1987:74) states: "The death penalty is no deterrent to crime."   </a:t>
            </a:r>
          </a:p>
          <a:p>
            <a:pPr>
              <a:buNone/>
            </a:pPr>
            <a:r>
              <a:rPr lang="en-US" dirty="0" smtClean="0"/>
              <a:t>  </a:t>
            </a:r>
          </a:p>
          <a:p>
            <a:pPr>
              <a:buNone/>
            </a:pPr>
            <a:r>
              <a:rPr lang="en-US" b="1" dirty="0" smtClean="0"/>
              <a:t>					OR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Anderson (1987:74) concludes that "the death penalty is no deterrent to crime".  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99412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ZA" b="1" dirty="0" smtClean="0"/>
              <a:t>Referencing quotations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/>
          <a:p>
            <a:pPr marL="365760" indent="-256032">
              <a:buFont typeface="Wingdings 3"/>
              <a:buChar char=""/>
              <a:defRPr/>
            </a:pPr>
            <a:r>
              <a:rPr lang="en-US" dirty="0" smtClean="0"/>
              <a:t>The quotation should not be too long.</a:t>
            </a:r>
          </a:p>
          <a:p>
            <a:pPr marL="365760" indent="-256032">
              <a:buFont typeface="Wingdings 3"/>
              <a:buChar char=""/>
              <a:defRPr/>
            </a:pPr>
            <a:r>
              <a:rPr lang="en-US" dirty="0" smtClean="0"/>
              <a:t>It should be relevant and fulfill its purpose in the essay.</a:t>
            </a:r>
          </a:p>
          <a:p>
            <a:pPr marL="365760" indent="-256032">
              <a:buNone/>
              <a:defRPr/>
            </a:pPr>
            <a:endParaRPr lang="en-US" dirty="0" smtClean="0"/>
          </a:p>
          <a:p>
            <a:pPr marL="365760" indent="-256032">
              <a:buFont typeface="Wingdings 3"/>
              <a:buChar char=""/>
              <a:defRPr/>
            </a:pPr>
            <a:r>
              <a:rPr lang="en-US" dirty="0" smtClean="0"/>
              <a:t>It should not break the flow of the essay.</a:t>
            </a:r>
          </a:p>
          <a:p>
            <a:pPr marL="365760" indent="-256032">
              <a:buNone/>
              <a:defRPr/>
            </a:pPr>
            <a:endParaRPr lang="en-US" dirty="0" smtClean="0"/>
          </a:p>
          <a:p>
            <a:pPr marL="365760" indent="-256032">
              <a:buFont typeface="Wingdings 3"/>
              <a:buChar char=""/>
              <a:defRPr/>
            </a:pPr>
            <a:r>
              <a:rPr lang="en-US" dirty="0" smtClean="0"/>
              <a:t>For short quotations: use double inverted commas and provide author’s surname, year of publication and page number.</a:t>
            </a:r>
          </a:p>
          <a:p>
            <a:pPr marL="365760" indent="-256032">
              <a:buNone/>
              <a:defRPr/>
            </a:pPr>
            <a:endParaRPr lang="en-US" dirty="0" smtClean="0"/>
          </a:p>
          <a:p>
            <a:pPr marL="365760" indent="-256032">
              <a:buFont typeface="Wingdings 3"/>
              <a:buChar char=""/>
              <a:defRPr/>
            </a:pPr>
            <a:r>
              <a:rPr lang="en-US" dirty="0" smtClean="0"/>
              <a:t>For long quotations: Indent without inverted commas and provide the author’s surname, year of publication and page number. See examples in your textbook.</a:t>
            </a:r>
          </a:p>
          <a:p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ZA" b="1" dirty="0" smtClean="0"/>
              <a:t>Referencing quotations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 smtClean="0"/>
              <a:t>Use ellipsis points when quoting a portion of a quotation.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Use square brackets within quotations to add your own clarification, comment or correction.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Use [sic] to indicate that a mistake in the quote which is not yours.</a:t>
            </a:r>
          </a:p>
          <a:p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ZA" b="1" dirty="0" smtClean="0"/>
              <a:t>Referencing paraphrased ideas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Make sure you put the idea in your own words and not simply </a:t>
            </a:r>
            <a:r>
              <a:rPr lang="en-US" b="1" dirty="0" smtClean="0"/>
              <a:t>replacing</a:t>
            </a:r>
            <a:r>
              <a:rPr lang="en-US" dirty="0" smtClean="0"/>
              <a:t> one word with a synonym.</a:t>
            </a:r>
          </a:p>
          <a:p>
            <a:endParaRPr lang="en-US" dirty="0" smtClean="0"/>
          </a:p>
          <a:p>
            <a:r>
              <a:rPr lang="en-US" dirty="0" smtClean="0"/>
              <a:t>You can paraphrase an idea from one or several sources.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At the end of the paraphrased idea, provide the author’s surname and year of publication.  Same rule applies to more than one source.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You can also provide a page number if the idea is from a </a:t>
            </a:r>
            <a:r>
              <a:rPr lang="en-US" b="1" dirty="0" smtClean="0"/>
              <a:t>particular</a:t>
            </a:r>
            <a:r>
              <a:rPr lang="en-US" dirty="0" smtClean="0"/>
              <a:t> page or pages.</a:t>
            </a:r>
          </a:p>
          <a:p>
            <a:pPr>
              <a:buNone/>
            </a:pPr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ZA" b="1" dirty="0" smtClean="0"/>
              <a:t>Contents of a bibliographical or reference list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 smtClean="0"/>
              <a:t>Author’s name</a:t>
            </a:r>
          </a:p>
          <a:p>
            <a:r>
              <a:rPr lang="en-US" dirty="0" smtClean="0"/>
              <a:t>Date of publication</a:t>
            </a:r>
          </a:p>
          <a:p>
            <a:r>
              <a:rPr lang="en-US" dirty="0" smtClean="0"/>
              <a:t>Full title of book or article</a:t>
            </a:r>
          </a:p>
          <a:p>
            <a:r>
              <a:rPr lang="en-US" dirty="0" smtClean="0"/>
              <a:t>Edition number if available</a:t>
            </a:r>
          </a:p>
          <a:p>
            <a:r>
              <a:rPr lang="en-US" dirty="0" smtClean="0"/>
              <a:t>Place of publication (City)</a:t>
            </a:r>
          </a:p>
          <a:p>
            <a:r>
              <a:rPr lang="en-US" dirty="0" smtClean="0"/>
              <a:t>Name of publisher</a:t>
            </a:r>
          </a:p>
          <a:p>
            <a:endParaRPr lang="en-US" dirty="0" smtClean="0"/>
          </a:p>
          <a:p>
            <a:pPr>
              <a:buNone/>
            </a:pPr>
            <a:endParaRPr lang="en-ZA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Examples of a book and its entry in a reference list: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u="sng" dirty="0" smtClean="0"/>
              <a:t>Book with 1 author:</a:t>
            </a:r>
          </a:p>
          <a:p>
            <a:pPr>
              <a:buNone/>
            </a:pPr>
            <a:r>
              <a:rPr lang="en-US" dirty="0" smtClean="0"/>
              <a:t>	Chase, J. 1979. </a:t>
            </a:r>
            <a:r>
              <a:rPr lang="en-US" i="1" dirty="0" smtClean="0"/>
              <a:t>Advertising in the modern world</a:t>
            </a:r>
            <a:r>
              <a:rPr lang="en-US" dirty="0" smtClean="0"/>
              <a:t>. New York: Simon &amp; Schuster.</a:t>
            </a:r>
          </a:p>
          <a:p>
            <a:pPr>
              <a:buNone/>
            </a:pPr>
            <a:endParaRPr lang="en-US" dirty="0" smtClean="0"/>
          </a:p>
          <a:p>
            <a:r>
              <a:rPr lang="en-US" u="sng" dirty="0" smtClean="0"/>
              <a:t>Book with 2 authors:</a:t>
            </a:r>
          </a:p>
          <a:p>
            <a:pPr>
              <a:buNone/>
            </a:pPr>
            <a:r>
              <a:rPr lang="en-US" dirty="0" smtClean="0"/>
              <a:t>	Ellis, R. &amp; Peters, J.P. 2000. </a:t>
            </a:r>
            <a:r>
              <a:rPr lang="en-US" i="1" dirty="0" smtClean="0"/>
              <a:t>Writing about literature</a:t>
            </a:r>
            <a:r>
              <a:rPr lang="en-US" dirty="0" smtClean="0"/>
              <a:t>. London: </a:t>
            </a:r>
            <a:r>
              <a:rPr lang="en-US" dirty="0" err="1" smtClean="0"/>
              <a:t>Macmillian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u="sng" dirty="0" smtClean="0"/>
          </a:p>
          <a:p>
            <a:r>
              <a:rPr lang="en-US" u="sng" dirty="0" smtClean="0"/>
              <a:t> Book with multiple authors (3 or more):</a:t>
            </a:r>
          </a:p>
          <a:p>
            <a:pPr>
              <a:buNone/>
            </a:pPr>
            <a:r>
              <a:rPr lang="en-US" dirty="0" smtClean="0"/>
              <a:t>	Henderson, R.S., Smith, P.G., </a:t>
            </a:r>
            <a:r>
              <a:rPr lang="en-US" dirty="0" err="1" smtClean="0"/>
              <a:t>Rossiter</a:t>
            </a:r>
            <a:r>
              <a:rPr lang="en-US" dirty="0" smtClean="0"/>
              <a:t>, I. &amp; King, P.Q. 1987. </a:t>
            </a:r>
            <a:r>
              <a:rPr lang="en-US" i="1" dirty="0" smtClean="0"/>
              <a:t>The tenets of moral philosophy</a:t>
            </a:r>
            <a:r>
              <a:rPr lang="en-US" dirty="0" smtClean="0"/>
              <a:t>. New York: Van </a:t>
            </a:r>
            <a:r>
              <a:rPr lang="en-US" dirty="0" err="1" smtClean="0"/>
              <a:t>Nostrand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smtClean="0"/>
              <a:t>Examples of a journal and its entry in a reference list: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Journals vary in their frequency and details such as  - volume/issue/page numbers.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/>
              <a:t>Examples:</a:t>
            </a:r>
          </a:p>
          <a:p>
            <a:pPr>
              <a:buNone/>
            </a:pPr>
            <a:r>
              <a:rPr lang="en-US" u="sng" dirty="0" smtClean="0"/>
              <a:t>Indication of </a:t>
            </a:r>
            <a:r>
              <a:rPr lang="en-US" u="sng" dirty="0" err="1" smtClean="0"/>
              <a:t>vol</a:t>
            </a:r>
            <a:r>
              <a:rPr lang="en-US" u="sng" dirty="0" smtClean="0"/>
              <a:t>, issue, pp, date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Kruger, J.P. 1988. Sexism in advertising. </a:t>
            </a:r>
            <a:r>
              <a:rPr lang="en-US" i="1" dirty="0" err="1" smtClean="0"/>
              <a:t>Communicare</a:t>
            </a:r>
            <a:r>
              <a:rPr lang="en-US" dirty="0" smtClean="0"/>
              <a:t>, 7(3):12-15, March 11.</a:t>
            </a:r>
          </a:p>
          <a:p>
            <a:pPr>
              <a:buNone/>
            </a:pPr>
            <a:endParaRPr lang="en-US" u="sng" dirty="0" smtClean="0"/>
          </a:p>
          <a:p>
            <a:pPr>
              <a:buNone/>
            </a:pPr>
            <a:r>
              <a:rPr lang="en-US" u="sng" dirty="0" smtClean="0"/>
              <a:t>Indication of </a:t>
            </a:r>
            <a:r>
              <a:rPr lang="en-US" u="sng" dirty="0" err="1" smtClean="0"/>
              <a:t>vol</a:t>
            </a:r>
            <a:r>
              <a:rPr lang="en-US" u="sng" dirty="0" smtClean="0"/>
              <a:t>, pp and season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Lee, S.T. 1986. The semantics of advertising. </a:t>
            </a:r>
            <a:r>
              <a:rPr lang="en-US" i="1" dirty="0" smtClean="0"/>
              <a:t>Psychology Today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19:34-37, Fall.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u="sng" dirty="0" smtClean="0"/>
              <a:t>Journal which is </a:t>
            </a:r>
            <a:r>
              <a:rPr lang="en-US" b="1" u="sng" dirty="0" smtClean="0"/>
              <a:t>electronic</a:t>
            </a:r>
            <a:r>
              <a:rPr lang="en-US" u="sng" dirty="0" smtClean="0"/>
              <a:t>:</a:t>
            </a:r>
          </a:p>
          <a:p>
            <a:pPr>
              <a:buNone/>
            </a:pPr>
            <a:r>
              <a:rPr lang="en-US" dirty="0" smtClean="0"/>
              <a:t>Jones, F., </a:t>
            </a:r>
            <a:r>
              <a:rPr lang="en-US" dirty="0" err="1" smtClean="0"/>
              <a:t>Davids</a:t>
            </a:r>
            <a:r>
              <a:rPr lang="en-US" dirty="0" smtClean="0"/>
              <a:t>, C. &amp; Du </a:t>
            </a:r>
            <a:r>
              <a:rPr lang="en-US" dirty="0" err="1" smtClean="0"/>
              <a:t>Toit</a:t>
            </a:r>
            <a:r>
              <a:rPr lang="en-US" dirty="0" smtClean="0"/>
              <a:t>, A. 2005. Analysis of the citation of web-based</a:t>
            </a:r>
          </a:p>
          <a:p>
            <a:pPr>
              <a:buNone/>
            </a:pPr>
            <a:r>
              <a:rPr lang="en-US" dirty="0" smtClean="0"/>
              <a:t>information resources by </a:t>
            </a:r>
            <a:r>
              <a:rPr lang="en-US" dirty="0" err="1" smtClean="0"/>
              <a:t>Unisa</a:t>
            </a:r>
            <a:r>
              <a:rPr lang="en-US" dirty="0" smtClean="0"/>
              <a:t> academic researchers. </a:t>
            </a:r>
            <a:r>
              <a:rPr lang="en-US" i="1" dirty="0" smtClean="0"/>
              <a:t>South African Journal of</a:t>
            </a:r>
          </a:p>
          <a:p>
            <a:pPr>
              <a:buNone/>
            </a:pPr>
            <a:r>
              <a:rPr lang="en-US" i="1" dirty="0" smtClean="0"/>
              <a:t>Information Management</a:t>
            </a:r>
            <a:r>
              <a:rPr lang="en-US" dirty="0" smtClean="0"/>
              <a:t>, 7(3). </a:t>
            </a:r>
            <a:r>
              <a:rPr lang="en-US" dirty="0" smtClean="0">
                <a:hlinkClick r:id="rId2"/>
              </a:rPr>
              <a:t>http://general.rau.ac.za/infosci/raujournal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[16 November 2005].</a:t>
            </a:r>
          </a:p>
          <a:p>
            <a:pPr>
              <a:buNone/>
            </a:pPr>
            <a:endParaRPr lang="en-US" dirty="0" smtClean="0"/>
          </a:p>
          <a:p>
            <a:pPr lvl="4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 smtClean="0"/>
              <a:t>Further hints on punctuation: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88632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r>
              <a:rPr lang="en-US" u="sng" dirty="0" smtClean="0"/>
              <a:t>A “stand-alone” (full sentence) quotation preceded by comma or colon – The full stop comes </a:t>
            </a:r>
            <a:r>
              <a:rPr lang="en-US" b="1" u="sng" dirty="0" smtClean="0"/>
              <a:t>before</a:t>
            </a:r>
            <a:r>
              <a:rPr lang="en-US" u="sng" dirty="0" smtClean="0"/>
              <a:t> the inverted commas:</a:t>
            </a:r>
          </a:p>
          <a:p>
            <a:pPr>
              <a:buNone/>
            </a:pPr>
            <a:r>
              <a:rPr lang="en-US" dirty="0" smtClean="0"/>
              <a:t>	Elliot (1937: 54) notes: “The poets of the 17</a:t>
            </a:r>
            <a:r>
              <a:rPr lang="en-US" baseline="30000" dirty="0" smtClean="0"/>
              <a:t>th</a:t>
            </a:r>
            <a:r>
              <a:rPr lang="en-US" dirty="0" smtClean="0"/>
              <a:t> century possessed a mechanism of sensibility which could devour any experience</a:t>
            </a:r>
            <a:r>
              <a:rPr lang="en-US" b="1" dirty="0" smtClean="0">
                <a:solidFill>
                  <a:srgbClr val="FF0000"/>
                </a:solidFill>
              </a:rPr>
              <a:t>.”</a:t>
            </a: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u="sng" dirty="0" smtClean="0"/>
              <a:t>A quotation which is incorporated into a sentence – The full stop is placed </a:t>
            </a:r>
            <a:r>
              <a:rPr lang="en-US" b="1" u="sng" dirty="0" smtClean="0"/>
              <a:t>after</a:t>
            </a:r>
            <a:r>
              <a:rPr lang="en-US" u="sng" dirty="0" smtClean="0"/>
              <a:t> the inverted commas:</a:t>
            </a:r>
          </a:p>
          <a:p>
            <a:pPr>
              <a:buNone/>
            </a:pPr>
            <a:r>
              <a:rPr lang="en-US" dirty="0" smtClean="0"/>
              <a:t>	Elliot (1937: 54) claimed that the 17</a:t>
            </a:r>
            <a:r>
              <a:rPr lang="en-US" baseline="30000" dirty="0" smtClean="0"/>
              <a:t>th</a:t>
            </a:r>
            <a:r>
              <a:rPr lang="en-US" dirty="0" smtClean="0"/>
              <a:t> century poets “possessed a mechanism  of sensibility which could devour any experience</a:t>
            </a:r>
            <a:r>
              <a:rPr lang="en-US" b="1" dirty="0" smtClean="0">
                <a:solidFill>
                  <a:srgbClr val="FF0000"/>
                </a:solidFill>
              </a:rPr>
              <a:t>”.</a:t>
            </a: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/>
          </a:p>
          <a:p>
            <a:r>
              <a:rPr lang="en-US" u="sng" dirty="0" smtClean="0"/>
              <a:t>Even if paraphrasing (i.e. not quoting directly) – must cite author, date and page:</a:t>
            </a:r>
          </a:p>
          <a:p>
            <a:pPr>
              <a:buNone/>
            </a:pPr>
            <a:r>
              <a:rPr lang="en-US" dirty="0" smtClean="0"/>
              <a:t>	Eliot </a:t>
            </a:r>
            <a:r>
              <a:rPr lang="en-US" b="1" dirty="0" smtClean="0">
                <a:solidFill>
                  <a:srgbClr val="FF0000"/>
                </a:solidFill>
              </a:rPr>
              <a:t>(1937: 54) </a:t>
            </a:r>
            <a:r>
              <a:rPr lang="en-US" dirty="0" smtClean="0"/>
              <a:t>claimed that the 17</a:t>
            </a:r>
            <a:r>
              <a:rPr lang="en-US" baseline="30000" dirty="0" smtClean="0"/>
              <a:t>th</a:t>
            </a:r>
            <a:r>
              <a:rPr lang="en-US" dirty="0" smtClean="0"/>
              <a:t> century poets possessed a special type of sensibility which could transform even the most mundane experience.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 smtClean="0"/>
              <a:t>Further hints: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Pay attention to spacing – ONE space after each punctuation mark.</a:t>
            </a:r>
          </a:p>
          <a:p>
            <a:endParaRPr lang="en-US" dirty="0" smtClean="0"/>
          </a:p>
          <a:p>
            <a:r>
              <a:rPr lang="en-US" dirty="0" smtClean="0"/>
              <a:t>The titles of books and the titles of journals are always in </a:t>
            </a:r>
            <a:r>
              <a:rPr lang="en-US" sz="4600" i="1" dirty="0" smtClean="0"/>
              <a:t>italics</a:t>
            </a:r>
            <a:r>
              <a:rPr lang="en-US" dirty="0" smtClean="0"/>
              <a:t> (but </a:t>
            </a:r>
            <a:r>
              <a:rPr lang="en-US" b="1" dirty="0" smtClean="0">
                <a:solidFill>
                  <a:srgbClr val="FF0000"/>
                </a:solidFill>
              </a:rPr>
              <a:t>NOT</a:t>
            </a:r>
            <a:r>
              <a:rPr lang="en-US" dirty="0" smtClean="0"/>
              <a:t> the title of journal </a:t>
            </a:r>
            <a:r>
              <a:rPr lang="en-US" b="1" dirty="0" smtClean="0"/>
              <a:t>articles</a:t>
            </a:r>
            <a:r>
              <a:rPr lang="en-US" dirty="0" smtClean="0"/>
              <a:t>).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Do not justify the right margin in the reference list – if you do, you will get unnecessary “white space” between items, </a:t>
            </a:r>
            <a:r>
              <a:rPr lang="en-US" dirty="0" smtClean="0"/>
              <a:t>especially </a:t>
            </a:r>
            <a:r>
              <a:rPr lang="en-US" dirty="0" smtClean="0"/>
              <a:t>when citing websites.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NEVER</a:t>
            </a:r>
            <a:r>
              <a:rPr lang="en-US" dirty="0" smtClean="0"/>
              <a:t> number the reference list, always list it </a:t>
            </a:r>
            <a:r>
              <a:rPr lang="en-US" b="1" dirty="0" smtClean="0"/>
              <a:t>alphabetically </a:t>
            </a:r>
            <a:r>
              <a:rPr lang="en-US" dirty="0" smtClean="0"/>
              <a:t>according to the authors’ </a:t>
            </a:r>
            <a:r>
              <a:rPr lang="en-US" b="1" dirty="0" smtClean="0"/>
              <a:t>surnames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814</Words>
  <Application>Microsoft Office PowerPoint</Application>
  <PresentationFormat>On-screen Show (4:3)</PresentationFormat>
  <Paragraphs>144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 3</vt:lpstr>
      <vt:lpstr>Office Theme</vt:lpstr>
      <vt:lpstr>Referencing guidelines</vt:lpstr>
      <vt:lpstr>Plagiarism</vt:lpstr>
      <vt:lpstr> Referencing: What is referencing and why is it necessary? </vt:lpstr>
      <vt:lpstr> Referencing styles  </vt:lpstr>
      <vt:lpstr> What information do I need for proper referencing? </vt:lpstr>
      <vt:lpstr>   How do I apply this reference technique? There are different ways of referencing: PARAPHRASING OR QUOTING  </vt:lpstr>
      <vt:lpstr>  How do I apply this reference technique?  </vt:lpstr>
      <vt:lpstr> Two other forms of quoting  </vt:lpstr>
      <vt:lpstr>Referencing quotations</vt:lpstr>
      <vt:lpstr>Referencing quotations</vt:lpstr>
      <vt:lpstr>Referencing paraphrased ideas</vt:lpstr>
      <vt:lpstr>Contents of a bibliographical or reference list</vt:lpstr>
      <vt:lpstr> Examples of a book and its entry in a reference list: </vt:lpstr>
      <vt:lpstr>Examples of a journal and its entry in a reference list:</vt:lpstr>
      <vt:lpstr>Further hints on punctuation:</vt:lpstr>
      <vt:lpstr>Further hints:</vt:lpstr>
    </vt:vector>
  </TitlesOfParts>
  <Company>CPUT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Referencing guidelines</dc:title>
  <dc:creator>FID IT</dc:creator>
  <cp:lastModifiedBy>Linda Mkaza</cp:lastModifiedBy>
  <cp:revision>45</cp:revision>
  <dcterms:created xsi:type="dcterms:W3CDTF">2011-05-10T11:19:45Z</dcterms:created>
  <dcterms:modified xsi:type="dcterms:W3CDTF">2020-09-18T07:13:50Z</dcterms:modified>
</cp:coreProperties>
</file>