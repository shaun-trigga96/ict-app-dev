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47"/>
  </p:notesMasterIdLst>
  <p:handoutMasterIdLst>
    <p:handoutMasterId r:id="rId48"/>
  </p:handoutMasterIdLst>
  <p:sldIdLst>
    <p:sldId id="311" r:id="rId2"/>
    <p:sldId id="312" r:id="rId3"/>
    <p:sldId id="313" r:id="rId4"/>
    <p:sldId id="314" r:id="rId5"/>
    <p:sldId id="315" r:id="rId6"/>
    <p:sldId id="316" r:id="rId7"/>
    <p:sldId id="317" r:id="rId8"/>
    <p:sldId id="318"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a:srgbClr val="CFCFCF"/>
    <a:srgbClr val="DDDDDD"/>
    <a:srgbClr val="B2B2B2"/>
    <a:srgbClr val="C0C0C0"/>
    <a:srgbClr val="1B70A5"/>
    <a:srgbClr val="FFFFFF"/>
    <a:srgbClr val="96CDEE"/>
    <a:srgbClr val="0F3F5D"/>
    <a:srgbClr val="0177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02" autoAdjust="0"/>
  </p:normalViewPr>
  <p:slideViewPr>
    <p:cSldViewPr>
      <p:cViewPr>
        <p:scale>
          <a:sx n="75" d="100"/>
          <a:sy n="75" d="100"/>
        </p:scale>
        <p:origin x="-738" y="-486"/>
      </p:cViewPr>
      <p:guideLst>
        <p:guide orient="horz" pos="2160"/>
        <p:guide pos="2880"/>
      </p:guideLst>
    </p:cSldViewPr>
  </p:slideViewPr>
  <p:outlineViewPr>
    <p:cViewPr>
      <p:scale>
        <a:sx n="33" d="100"/>
        <a:sy n="33" d="100"/>
      </p:scale>
      <p:origin x="0" y="3020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defRPr/>
            </a:pPr>
            <a:r>
              <a:rPr lang="en-US" altLang="en-US" sz="1200" b="1" dirty="0" smtClean="0">
                <a:latin typeface="Arial" pitchFamily="34" charset="0"/>
                <a:cs typeface="Arial" pitchFamily="34" charset="0"/>
              </a:rPr>
              <a:t>Learning Objectives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Upon completion of this material, you should be able to:</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Discuss the relationship between information security and physical security</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Describe key physical security considerations, including fire control and surveillance systems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Identify critical physical environment considerations for computing facilities, including uninterruptible power supplies</a:t>
            </a:r>
          </a:p>
          <a:p>
            <a:pPr eaLnBrk="1" hangingPunct="1">
              <a:defRPr/>
            </a:pPr>
            <a:endParaRPr lang="en-US" altLang="en-US" sz="1200" b="1" dirty="0" smtClean="0">
              <a:latin typeface="Arial" pitchFamily="34" charset="0"/>
              <a:cs typeface="Arial" pitchFamily="34" charset="0"/>
            </a:endParaRPr>
          </a:p>
          <a:p>
            <a:endParaRPr lang="en-US" sz="12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449569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t>Introduction</a:t>
            </a:r>
          </a:p>
          <a:p>
            <a:pPr marL="362480" indent="-362480">
              <a:spcBef>
                <a:spcPct val="20000"/>
              </a:spcBef>
              <a:buFontTx/>
              <a:buChar char="•"/>
              <a:defRPr/>
            </a:pPr>
            <a:r>
              <a:rPr lang="en-US" altLang="en-US" sz="1200" kern="0" dirty="0" smtClean="0">
                <a:solidFill>
                  <a:srgbClr val="222222"/>
                </a:solidFill>
                <a:latin typeface="Arial"/>
              </a:rPr>
              <a:t>Physical security involves protection of physical items, objects, or areas from unauthorized access and misuse</a:t>
            </a:r>
          </a:p>
          <a:p>
            <a:pPr marL="362480" indent="-362480">
              <a:spcBef>
                <a:spcPct val="20000"/>
              </a:spcBef>
              <a:buFontTx/>
              <a:buChar char="•"/>
              <a:defRPr/>
            </a:pPr>
            <a:r>
              <a:rPr lang="en-US" altLang="en-US" sz="1200" kern="0" dirty="0" smtClean="0">
                <a:solidFill>
                  <a:srgbClr val="222222"/>
                </a:solidFill>
                <a:latin typeface="Arial"/>
              </a:rPr>
              <a:t>Most technology-based controls can be circumvented if an attacker gains physical access </a:t>
            </a:r>
          </a:p>
          <a:p>
            <a:pPr marL="362480" indent="-362480">
              <a:spcBef>
                <a:spcPct val="20000"/>
              </a:spcBef>
              <a:buFontTx/>
              <a:buChar char="•"/>
              <a:defRPr/>
            </a:pPr>
            <a:r>
              <a:rPr lang="en-US" altLang="en-US" sz="1200" kern="0" dirty="0" smtClean="0">
                <a:solidFill>
                  <a:srgbClr val="222222"/>
                </a:solidFill>
                <a:latin typeface="Arial"/>
              </a:rPr>
              <a:t>Physical security is as important as logical security</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1545794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smtClean="0">
                <a:latin typeface="Arial" pitchFamily="34" charset="0"/>
                <a:cs typeface="Arial" pitchFamily="34" charset="0"/>
              </a:rPr>
              <a:t>Seven Major Sources of Physical Loss</a:t>
            </a:r>
          </a:p>
          <a:p>
            <a:pPr eaLnBrk="1" hangingPunct="1"/>
            <a:r>
              <a:rPr lang="en-US" altLang="en-US" dirty="0" smtClean="0">
                <a:latin typeface="Arial" pitchFamily="34" charset="0"/>
                <a:cs typeface="Arial" pitchFamily="34" charset="0"/>
              </a:rPr>
              <a:t>From </a:t>
            </a:r>
            <a:r>
              <a:rPr lang="en-US" altLang="en-US" dirty="0" err="1" smtClean="0">
                <a:latin typeface="Arial" pitchFamily="34" charset="0"/>
                <a:cs typeface="Arial" pitchFamily="34" charset="0"/>
              </a:rPr>
              <a:t>Donn</a:t>
            </a:r>
            <a:r>
              <a:rPr lang="en-US" altLang="en-US" dirty="0" smtClean="0">
                <a:latin typeface="Arial" pitchFamily="34" charset="0"/>
                <a:cs typeface="Arial" pitchFamily="34" charset="0"/>
              </a:rPr>
              <a:t> B. Parker </a:t>
            </a:r>
          </a:p>
          <a:p>
            <a:pPr eaLnBrk="1" hangingPunct="1">
              <a:buFontTx/>
              <a:buChar char="•"/>
            </a:pPr>
            <a:r>
              <a:rPr lang="en-US" altLang="en-US" dirty="0" smtClean="0">
                <a:latin typeface="Arial" pitchFamily="34" charset="0"/>
                <a:cs typeface="Arial" pitchFamily="34" charset="0"/>
              </a:rPr>
              <a:t> Extreme temperature: heat, cold</a:t>
            </a:r>
          </a:p>
          <a:p>
            <a:pPr eaLnBrk="1" hangingPunct="1">
              <a:buFontTx/>
              <a:buChar char="•"/>
            </a:pPr>
            <a:r>
              <a:rPr lang="en-US" altLang="en-US" dirty="0" smtClean="0">
                <a:latin typeface="Arial" pitchFamily="34" charset="0"/>
                <a:cs typeface="Arial" pitchFamily="34" charset="0"/>
              </a:rPr>
              <a:t> Gases: war gases, commercial vapors, humid or dry air, suspended particles</a:t>
            </a:r>
          </a:p>
          <a:p>
            <a:pPr eaLnBrk="1" hangingPunct="1">
              <a:buFontTx/>
              <a:buChar char="•"/>
            </a:pPr>
            <a:r>
              <a:rPr lang="en-US" altLang="en-US" dirty="0" smtClean="0">
                <a:latin typeface="Arial" pitchFamily="34" charset="0"/>
                <a:cs typeface="Arial" pitchFamily="34" charset="0"/>
              </a:rPr>
              <a:t> Liquids: water, chemicals</a:t>
            </a:r>
          </a:p>
          <a:p>
            <a:pPr eaLnBrk="1" hangingPunct="1">
              <a:buFontTx/>
              <a:buChar char="•"/>
            </a:pPr>
            <a:r>
              <a:rPr lang="en-US" altLang="en-US" dirty="0" smtClean="0">
                <a:latin typeface="Arial" pitchFamily="34" charset="0"/>
                <a:cs typeface="Arial" pitchFamily="34" charset="0"/>
              </a:rPr>
              <a:t> Living organisms: viruses, bacteria, people, animals, insects</a:t>
            </a:r>
          </a:p>
          <a:p>
            <a:pPr eaLnBrk="1" hangingPunct="1">
              <a:buFontTx/>
              <a:buChar char="•"/>
            </a:pPr>
            <a:r>
              <a:rPr lang="en-US" altLang="en-US" dirty="0" smtClean="0">
                <a:latin typeface="Arial" pitchFamily="34" charset="0"/>
                <a:cs typeface="Arial" pitchFamily="34" charset="0"/>
              </a:rPr>
              <a:t> Projectiles: tangible objects in motion, powered objects</a:t>
            </a:r>
          </a:p>
          <a:p>
            <a:pPr eaLnBrk="1" hangingPunct="1">
              <a:buFontTx/>
              <a:buChar char="•"/>
            </a:pPr>
            <a:r>
              <a:rPr lang="en-US" altLang="en-US" dirty="0" smtClean="0">
                <a:latin typeface="Arial" pitchFamily="34" charset="0"/>
                <a:cs typeface="Arial" pitchFamily="34" charset="0"/>
              </a:rPr>
              <a:t> Movement: collapse, shearing, shaking, vibration, liquefaction, flows waves, separation, slide</a:t>
            </a:r>
          </a:p>
          <a:p>
            <a:pPr eaLnBrk="1" hangingPunct="1">
              <a:buFontTx/>
              <a:buChar char="•"/>
            </a:pPr>
            <a:r>
              <a:rPr lang="en-US" altLang="en-US" dirty="0" smtClean="0">
                <a:latin typeface="Arial" pitchFamily="34" charset="0"/>
                <a:cs typeface="Arial" pitchFamily="34" charset="0"/>
              </a:rPr>
              <a:t> Energy anomalies: electrical surge or failure, magnetism, static electricity, aging circuitry; radiation: sound, light, radio, microwave, electromagnetic, </a:t>
            </a:r>
            <a:r>
              <a:rPr lang="en-US" altLang="en-US" dirty="0" smtClean="0">
                <a:latin typeface="Arial" pitchFamily="34" charset="0"/>
                <a:cs typeface="Arial" pitchFamily="34" charset="0"/>
              </a:rPr>
              <a:t>atomic</a:t>
            </a:r>
            <a:endParaRPr lang="en-US" altLang="en-US"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a:t>
            </a:fld>
            <a:endParaRPr lang="en-US" dirty="0"/>
          </a:p>
        </p:txBody>
      </p:sp>
    </p:spTree>
    <p:extLst>
      <p:ext uri="{BB962C8B-B14F-4D97-AF65-F5344CB8AC3E}">
        <p14:creationId xmlns:p14="http://schemas.microsoft.com/office/powerpoint/2010/main" val="2322355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eaLnBrk="1" hangingPunct="1">
              <a:defRPr/>
            </a:pPr>
            <a:r>
              <a:rPr lang="en-US" altLang="en-US" sz="1200" b="1" dirty="0" smtClean="0">
                <a:latin typeface="Arial" pitchFamily="34" charset="0"/>
                <a:cs typeface="Arial" pitchFamily="34" charset="0"/>
              </a:rPr>
              <a:t>Introduction</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Community roles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General management: responsible for facility security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IT management and professionals: responsible for environmental and access security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Information security management and professionals: perform risk assessments and implementation </a:t>
            </a:r>
            <a:r>
              <a:rPr lang="en-US" altLang="en-US" sz="1200" kern="0" dirty="0" smtClean="0">
                <a:solidFill>
                  <a:srgbClr val="222222"/>
                </a:solidFill>
                <a:latin typeface="Arial" pitchFamily="34" charset="0"/>
                <a:cs typeface="Arial" pitchFamily="34" charset="0"/>
              </a:rPr>
              <a:t>reviews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a:t>
            </a:fld>
            <a:endParaRPr lang="en-US" dirty="0"/>
          </a:p>
        </p:txBody>
      </p:sp>
    </p:spTree>
    <p:extLst>
      <p:ext uri="{BB962C8B-B14F-4D97-AF65-F5344CB8AC3E}">
        <p14:creationId xmlns:p14="http://schemas.microsoft.com/office/powerpoint/2010/main" val="2472493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t>Physical Access Controls</a:t>
            </a:r>
          </a:p>
          <a:p>
            <a:pPr marL="362480" indent="-362480">
              <a:spcBef>
                <a:spcPct val="20000"/>
              </a:spcBef>
              <a:buFontTx/>
              <a:buChar char="•"/>
              <a:defRPr/>
            </a:pPr>
            <a:r>
              <a:rPr lang="en-US" altLang="en-US" sz="1200" kern="0" dirty="0" smtClean="0">
                <a:solidFill>
                  <a:srgbClr val="222222"/>
                </a:solidFill>
                <a:latin typeface="Arial"/>
              </a:rPr>
              <a:t>Secure facility: physical location with controls implemented to minimize risk of attacks from physical threats</a:t>
            </a:r>
          </a:p>
          <a:p>
            <a:pPr marL="362480" indent="-362480">
              <a:spcBef>
                <a:spcPct val="20000"/>
              </a:spcBef>
              <a:buFontTx/>
              <a:buChar char="•"/>
              <a:defRPr/>
            </a:pPr>
            <a:r>
              <a:rPr lang="en-US" altLang="en-US" sz="1200" kern="0" dirty="0" smtClean="0">
                <a:solidFill>
                  <a:srgbClr val="222222"/>
                </a:solidFill>
                <a:latin typeface="Arial"/>
              </a:rPr>
              <a:t>Secure facility can take advantage of natural terrain, local traffic flow, and surrounding development; can complement these with protection mechanisms (fences, gates, walls, guards, alarms)</a:t>
            </a:r>
          </a:p>
          <a:p>
            <a:pPr eaLnBrk="1" hangingPunct="1">
              <a:defRPr/>
            </a:pPr>
            <a:endParaRPr lang="en-US" altLang="en-US" b="1"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110499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smtClean="0">
                <a:latin typeface="Arial" pitchFamily="34" charset="0"/>
                <a:cs typeface="Arial" pitchFamily="34" charset="0"/>
              </a:rPr>
              <a:t>Controls for Protecting the Secure Facility</a:t>
            </a:r>
          </a:p>
          <a:p>
            <a:pPr eaLnBrk="1" hangingPunct="1"/>
            <a:r>
              <a:rPr lang="en-US" altLang="en-US" dirty="0" smtClean="0">
                <a:latin typeface="Arial" pitchFamily="34" charset="0"/>
                <a:cs typeface="Arial" pitchFamily="34" charset="0"/>
              </a:rPr>
              <a:t>There are a number of physical security controls and issues that the organization’s communities of interest should consider together when implementing physical security:</a:t>
            </a:r>
          </a:p>
          <a:p>
            <a:pPr eaLnBrk="1" hangingPunct="1">
              <a:buFontTx/>
              <a:buChar char="•"/>
            </a:pPr>
            <a:r>
              <a:rPr lang="en-US" altLang="en-US" dirty="0" smtClean="0">
                <a:latin typeface="Arial" pitchFamily="34" charset="0"/>
                <a:cs typeface="Arial" pitchFamily="34" charset="0"/>
              </a:rPr>
              <a:t> Walls, fencing, and gates </a:t>
            </a:r>
          </a:p>
          <a:p>
            <a:pPr eaLnBrk="1" hangingPunct="1">
              <a:buFontTx/>
              <a:buChar char="•"/>
            </a:pPr>
            <a:r>
              <a:rPr lang="en-US" altLang="en-US" dirty="0" smtClean="0">
                <a:latin typeface="Arial" pitchFamily="34" charset="0"/>
                <a:cs typeface="Arial" pitchFamily="34" charset="0"/>
              </a:rPr>
              <a:t> Guards to apply human reasoning </a:t>
            </a:r>
          </a:p>
          <a:p>
            <a:pPr eaLnBrk="1" hangingPunct="1">
              <a:buFontTx/>
              <a:buChar char="•"/>
            </a:pPr>
            <a:r>
              <a:rPr lang="en-US" altLang="en-US" dirty="0" smtClean="0">
                <a:latin typeface="Arial" pitchFamily="34" charset="0"/>
                <a:cs typeface="Arial" pitchFamily="34" charset="0"/>
              </a:rPr>
              <a:t> Dogs to provide their keen sense of smell and hearing and  to be placed in harm’s way in lieu of humans</a:t>
            </a:r>
          </a:p>
          <a:p>
            <a:pPr eaLnBrk="1" hangingPunct="1">
              <a:buFontTx/>
              <a:buChar char="•"/>
            </a:pPr>
            <a:r>
              <a:rPr lang="en-US" altLang="en-US" dirty="0" smtClean="0">
                <a:latin typeface="Arial" pitchFamily="34" charset="0"/>
                <a:cs typeface="Arial" pitchFamily="34" charset="0"/>
              </a:rPr>
              <a:t> ID cards and badges</a:t>
            </a:r>
          </a:p>
          <a:p>
            <a:pPr eaLnBrk="1" hangingPunct="1">
              <a:buFontTx/>
              <a:buChar char="•"/>
            </a:pPr>
            <a:r>
              <a:rPr lang="en-US" altLang="en-US" dirty="0" smtClean="0">
                <a:latin typeface="Arial" pitchFamily="34" charset="0"/>
                <a:cs typeface="Arial" pitchFamily="34" charset="0"/>
              </a:rPr>
              <a:t> Locks and keys</a:t>
            </a:r>
          </a:p>
          <a:p>
            <a:pPr eaLnBrk="1" hangingPunct="1">
              <a:buFontTx/>
              <a:buChar char="•"/>
            </a:pPr>
            <a:r>
              <a:rPr lang="en-US" altLang="en-US" dirty="0" smtClean="0">
                <a:latin typeface="Arial" pitchFamily="34" charset="0"/>
                <a:cs typeface="Arial" pitchFamily="34" charset="0"/>
              </a:rPr>
              <a:t> Mantraps</a:t>
            </a:r>
          </a:p>
          <a:p>
            <a:pPr eaLnBrk="1" hangingPunct="1">
              <a:buFontTx/>
              <a:buChar char="•"/>
            </a:pPr>
            <a:r>
              <a:rPr lang="en-US" altLang="en-US" dirty="0" smtClean="0">
                <a:latin typeface="Arial" pitchFamily="34" charset="0"/>
                <a:cs typeface="Arial" pitchFamily="34" charset="0"/>
              </a:rPr>
              <a:t> Electronic monitoring</a:t>
            </a:r>
          </a:p>
          <a:p>
            <a:pPr eaLnBrk="1" hangingPunct="1">
              <a:buFontTx/>
              <a:buChar char="•"/>
            </a:pPr>
            <a:r>
              <a:rPr lang="en-US" altLang="en-US" dirty="0" smtClean="0">
                <a:latin typeface="Arial" pitchFamily="34" charset="0"/>
                <a:cs typeface="Arial" pitchFamily="34" charset="0"/>
              </a:rPr>
              <a:t> Alarms and alarm systems</a:t>
            </a:r>
          </a:p>
          <a:p>
            <a:pPr eaLnBrk="1" hangingPunct="1">
              <a:buFontTx/>
              <a:buChar char="•"/>
            </a:pPr>
            <a:r>
              <a:rPr lang="en-US" altLang="en-US" dirty="0" smtClean="0">
                <a:latin typeface="Arial" pitchFamily="34" charset="0"/>
                <a:cs typeface="Arial" pitchFamily="34" charset="0"/>
              </a:rPr>
              <a:t> Computer rooms</a:t>
            </a:r>
          </a:p>
          <a:p>
            <a:pPr eaLnBrk="1" hangingPunct="1">
              <a:buFontTx/>
              <a:buChar char="•"/>
            </a:pPr>
            <a:r>
              <a:rPr lang="en-US" altLang="en-US" dirty="0" smtClean="0">
                <a:latin typeface="Arial" pitchFamily="34" charset="0"/>
                <a:cs typeface="Arial" pitchFamily="34" charset="0"/>
              </a:rPr>
              <a:t> Walls and doors</a:t>
            </a:r>
          </a:p>
          <a:p>
            <a:pPr eaLnBrk="1" hangingPunct="1"/>
            <a:endParaRPr lang="en-US" altLang="en-US"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7</a:t>
            </a:fld>
            <a:endParaRPr lang="en-US" dirty="0"/>
          </a:p>
        </p:txBody>
      </p:sp>
    </p:spTree>
    <p:extLst>
      <p:ext uri="{BB962C8B-B14F-4D97-AF65-F5344CB8AC3E}">
        <p14:creationId xmlns:p14="http://schemas.microsoft.com/office/powerpoint/2010/main" val="4191531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defRPr/>
            </a:pPr>
            <a:r>
              <a:rPr lang="en-US" sz="1200" b="1" dirty="0" smtClean="0">
                <a:latin typeface="Arial" pitchFamily="34" charset="0"/>
                <a:cs typeface="Arial" pitchFamily="34" charset="0"/>
              </a:rPr>
              <a:t>Physical Security Controls</a:t>
            </a:r>
          </a:p>
          <a:p>
            <a:pPr marL="362480" indent="-362480">
              <a:spcBef>
                <a:spcPct val="20000"/>
              </a:spcBef>
              <a:buFontTx/>
              <a:buChar char="•"/>
              <a:defRPr/>
            </a:pPr>
            <a:r>
              <a:rPr lang="en-US" sz="1200" kern="0" dirty="0" smtClean="0">
                <a:solidFill>
                  <a:srgbClr val="222222"/>
                </a:solidFill>
                <a:latin typeface="Arial" pitchFamily="34" charset="0"/>
                <a:cs typeface="Arial" pitchFamily="34" charset="0"/>
              </a:rPr>
              <a:t>Walls, Fencing, and Gates</a:t>
            </a:r>
          </a:p>
          <a:p>
            <a:pPr marL="785372" lvl="1" indent="-302066">
              <a:spcBef>
                <a:spcPct val="20000"/>
              </a:spcBef>
              <a:buFontTx/>
              <a:buChar char="–"/>
              <a:defRPr/>
            </a:pPr>
            <a:r>
              <a:rPr lang="en-US" sz="1200" kern="0" dirty="0" smtClean="0">
                <a:solidFill>
                  <a:srgbClr val="222222"/>
                </a:solidFill>
                <a:latin typeface="Arial" pitchFamily="34" charset="0"/>
                <a:cs typeface="Arial" pitchFamily="34" charset="0"/>
              </a:rPr>
              <a:t>Some of the oldest and most reliable elements of physical security; essential starting point for perimeter control</a:t>
            </a:r>
          </a:p>
          <a:p>
            <a:pPr marL="362480" indent="-362480">
              <a:spcBef>
                <a:spcPct val="20000"/>
              </a:spcBef>
              <a:buFontTx/>
              <a:buChar char="•"/>
              <a:defRPr/>
            </a:pPr>
            <a:r>
              <a:rPr lang="en-US" sz="1200" kern="0" dirty="0" smtClean="0">
                <a:solidFill>
                  <a:srgbClr val="222222"/>
                </a:solidFill>
                <a:latin typeface="Arial" pitchFamily="34" charset="0"/>
                <a:cs typeface="Arial" pitchFamily="34" charset="0"/>
              </a:rPr>
              <a:t>Guards</a:t>
            </a:r>
          </a:p>
          <a:p>
            <a:pPr marL="785372" lvl="1" indent="-302066">
              <a:spcBef>
                <a:spcPct val="20000"/>
              </a:spcBef>
              <a:buFontTx/>
              <a:buChar char="–"/>
              <a:defRPr/>
            </a:pPr>
            <a:r>
              <a:rPr lang="en-US" sz="1200" kern="0" dirty="0" smtClean="0">
                <a:solidFill>
                  <a:srgbClr val="222222"/>
                </a:solidFill>
                <a:latin typeface="Arial" pitchFamily="34" charset="0"/>
                <a:cs typeface="Arial" pitchFamily="34" charset="0"/>
              </a:rPr>
              <a:t>Can evaluate each situation as it arises to make reasoned responses; most have standard operating procedures</a:t>
            </a:r>
          </a:p>
          <a:p>
            <a:pPr marL="362480" indent="-362480">
              <a:spcBef>
                <a:spcPct val="20000"/>
              </a:spcBef>
              <a:buFontTx/>
              <a:buChar char="•"/>
              <a:defRPr/>
            </a:pPr>
            <a:r>
              <a:rPr lang="en-US" sz="1200" kern="0" dirty="0" smtClean="0">
                <a:solidFill>
                  <a:srgbClr val="222222"/>
                </a:solidFill>
                <a:latin typeface="Arial" pitchFamily="34" charset="0"/>
                <a:cs typeface="Arial" pitchFamily="34" charset="0"/>
              </a:rPr>
              <a:t>Dogs</a:t>
            </a:r>
          </a:p>
          <a:p>
            <a:pPr marL="785372" lvl="1" indent="-302066">
              <a:spcBef>
                <a:spcPct val="20000"/>
              </a:spcBef>
              <a:buFontTx/>
              <a:buChar char="–"/>
              <a:defRPr/>
            </a:pPr>
            <a:r>
              <a:rPr lang="en-US" sz="1200" kern="0" dirty="0" smtClean="0">
                <a:solidFill>
                  <a:srgbClr val="222222"/>
                </a:solidFill>
                <a:latin typeface="Arial" pitchFamily="34" charset="0"/>
                <a:cs typeface="Arial" pitchFamily="34" charset="0"/>
              </a:rPr>
              <a:t>Keen sense of smell and hearing can detect intrusions human guards cannot</a:t>
            </a:r>
          </a:p>
          <a:p>
            <a:pPr>
              <a:defRPr/>
            </a:pPr>
            <a:endParaRPr lang="en-US" sz="1200" b="1" dirty="0" smtClean="0">
              <a:latin typeface="Arial" pitchFamily="34" charset="0"/>
              <a:cs typeface="Arial" pitchFamily="34" charset="0"/>
            </a:endParaRPr>
          </a:p>
          <a:p>
            <a:endParaRPr lang="en-US" sz="12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8</a:t>
            </a:fld>
            <a:endParaRPr lang="en-US" dirty="0"/>
          </a:p>
        </p:txBody>
      </p:sp>
    </p:spTree>
    <p:extLst>
      <p:ext uri="{BB962C8B-B14F-4D97-AF65-F5344CB8AC3E}">
        <p14:creationId xmlns:p14="http://schemas.microsoft.com/office/powerpoint/2010/main" val="2532871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spcBef>
                <a:spcPct val="20000"/>
              </a:spcBef>
              <a:defRPr/>
            </a:pPr>
            <a:r>
              <a:rPr lang="en-US" altLang="en-US" sz="1200" b="1" kern="0" dirty="0" smtClean="0">
                <a:solidFill>
                  <a:srgbClr val="222222"/>
                </a:solidFill>
                <a:latin typeface="Arial"/>
              </a:rPr>
              <a:t>ID Cards and Badges</a:t>
            </a:r>
          </a:p>
          <a:p>
            <a:pPr marL="785372" lvl="1" indent="-302066">
              <a:spcBef>
                <a:spcPct val="20000"/>
              </a:spcBef>
              <a:buFontTx/>
              <a:buChar char="–"/>
              <a:defRPr/>
            </a:pPr>
            <a:r>
              <a:rPr lang="en-US" altLang="en-US" sz="1200" kern="0" dirty="0" smtClean="0">
                <a:solidFill>
                  <a:srgbClr val="222222"/>
                </a:solidFill>
                <a:latin typeface="Arial"/>
              </a:rPr>
              <a:t>ID card is typically concealed; name badge is visible</a:t>
            </a:r>
          </a:p>
          <a:p>
            <a:pPr marL="785372" lvl="1" indent="-302066">
              <a:spcBef>
                <a:spcPct val="20000"/>
              </a:spcBef>
              <a:buFontTx/>
              <a:buChar char="–"/>
              <a:defRPr/>
            </a:pPr>
            <a:r>
              <a:rPr lang="en-US" altLang="en-US" sz="1200" kern="0" dirty="0" smtClean="0">
                <a:solidFill>
                  <a:srgbClr val="222222"/>
                </a:solidFill>
                <a:latin typeface="Arial"/>
              </a:rPr>
              <a:t>Serve as simple form of biometrics (facial recognition) </a:t>
            </a:r>
          </a:p>
          <a:p>
            <a:pPr marL="785372" lvl="1" indent="-302066">
              <a:spcBef>
                <a:spcPct val="20000"/>
              </a:spcBef>
              <a:buFontTx/>
              <a:buChar char="–"/>
              <a:defRPr/>
            </a:pPr>
            <a:r>
              <a:rPr lang="en-US" altLang="en-US" sz="1200" kern="0" dirty="0" smtClean="0">
                <a:solidFill>
                  <a:srgbClr val="222222"/>
                </a:solidFill>
                <a:latin typeface="Arial"/>
              </a:rPr>
              <a:t>Should not be only means of control as cards can be easily duplicated, stolen, and modified</a:t>
            </a:r>
          </a:p>
          <a:p>
            <a:pPr marL="785372" lvl="1" indent="-302066">
              <a:spcBef>
                <a:spcPct val="20000"/>
              </a:spcBef>
              <a:buFontTx/>
              <a:buChar char="–"/>
              <a:defRPr/>
            </a:pPr>
            <a:r>
              <a:rPr lang="en-US" altLang="en-US" sz="1200" kern="0" dirty="0" smtClean="0">
                <a:solidFill>
                  <a:srgbClr val="222222"/>
                </a:solidFill>
                <a:latin typeface="Arial"/>
              </a:rPr>
              <a:t>Tailgating occurs when authorized individual opens a door and other people also enter</a:t>
            </a:r>
          </a:p>
          <a:p>
            <a:endParaRPr lang="en-US" sz="1200"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9</a:t>
            </a:fld>
            <a:endParaRPr lang="en-US" dirty="0"/>
          </a:p>
        </p:txBody>
      </p:sp>
    </p:spTree>
    <p:extLst>
      <p:ext uri="{BB962C8B-B14F-4D97-AF65-F5344CB8AC3E}">
        <p14:creationId xmlns:p14="http://schemas.microsoft.com/office/powerpoint/2010/main" val="4223276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defRPr/>
            </a:pPr>
            <a:r>
              <a:rPr lang="en-US" altLang="en-US" sz="1200" b="1" dirty="0" smtClean="0"/>
              <a:t>Locks and Keys</a:t>
            </a:r>
          </a:p>
          <a:p>
            <a:pPr marL="785372" lvl="1" indent="-302066">
              <a:spcBef>
                <a:spcPct val="20000"/>
              </a:spcBef>
              <a:buFontTx/>
              <a:buChar char="–"/>
              <a:defRPr/>
            </a:pPr>
            <a:r>
              <a:rPr lang="en-US" altLang="en-US" sz="1200" kern="0" dirty="0" smtClean="0">
                <a:solidFill>
                  <a:srgbClr val="222222"/>
                </a:solidFill>
                <a:latin typeface="Arial"/>
              </a:rPr>
              <a:t>Two types of locks: mechanical and electromechanical</a:t>
            </a:r>
          </a:p>
          <a:p>
            <a:pPr marL="785372" lvl="1" indent="-302066">
              <a:spcBef>
                <a:spcPct val="20000"/>
              </a:spcBef>
              <a:buFontTx/>
              <a:buChar char="–"/>
              <a:defRPr/>
            </a:pPr>
            <a:r>
              <a:rPr lang="en-US" altLang="en-US" sz="1200" kern="0" dirty="0" smtClean="0">
                <a:solidFill>
                  <a:srgbClr val="222222"/>
                </a:solidFill>
                <a:latin typeface="Arial"/>
              </a:rPr>
              <a:t>Locks can also be divided into four categories: manual, programmable, electronic, biometric</a:t>
            </a:r>
          </a:p>
          <a:p>
            <a:pPr marL="785372" lvl="1" indent="-302066">
              <a:spcBef>
                <a:spcPct val="20000"/>
              </a:spcBef>
              <a:buFontTx/>
              <a:buChar char="–"/>
              <a:defRPr/>
            </a:pPr>
            <a:r>
              <a:rPr lang="en-US" altLang="en-US" sz="1200" kern="0" dirty="0" smtClean="0">
                <a:solidFill>
                  <a:srgbClr val="222222"/>
                </a:solidFill>
                <a:latin typeface="Arial"/>
              </a:rPr>
              <a:t>Locks fail and alternative procedures for controlling access must be put in place</a:t>
            </a:r>
          </a:p>
          <a:p>
            <a:pPr marL="785372" lvl="1" indent="-302066">
              <a:spcBef>
                <a:spcPct val="20000"/>
              </a:spcBef>
              <a:buFontTx/>
              <a:buChar char="–"/>
              <a:defRPr/>
            </a:pPr>
            <a:r>
              <a:rPr lang="en-US" altLang="en-US" sz="1200" kern="0" dirty="0" smtClean="0">
                <a:solidFill>
                  <a:srgbClr val="222222"/>
                </a:solidFill>
                <a:latin typeface="Arial"/>
              </a:rPr>
              <a:t>Locks fail in one of two ways:</a:t>
            </a:r>
          </a:p>
          <a:p>
            <a:pPr marL="1208265" lvl="2" indent="-241653">
              <a:spcBef>
                <a:spcPct val="20000"/>
              </a:spcBef>
              <a:buFontTx/>
              <a:buChar char="•"/>
              <a:defRPr/>
            </a:pPr>
            <a:r>
              <a:rPr lang="en-US" altLang="en-US" sz="1200" kern="0" dirty="0" smtClean="0">
                <a:solidFill>
                  <a:srgbClr val="222222"/>
                </a:solidFill>
                <a:latin typeface="Arial"/>
              </a:rPr>
              <a:t>Fail-safe lock</a:t>
            </a:r>
          </a:p>
          <a:p>
            <a:pPr marL="1208265" lvl="2" indent="-241653">
              <a:spcBef>
                <a:spcPct val="20000"/>
              </a:spcBef>
              <a:buFontTx/>
              <a:buChar char="•"/>
              <a:defRPr/>
            </a:pPr>
            <a:r>
              <a:rPr lang="en-US" altLang="en-US" sz="1200" kern="0" dirty="0" smtClean="0">
                <a:solidFill>
                  <a:srgbClr val="222222"/>
                </a:solidFill>
                <a:latin typeface="Arial"/>
              </a:rPr>
              <a:t>Fail-secure lock</a:t>
            </a:r>
          </a:p>
          <a:p>
            <a:endParaRPr lang="en-US" sz="1200"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10</a:t>
            </a:fld>
            <a:endParaRPr lang="en-US" dirty="0"/>
          </a:p>
        </p:txBody>
      </p:sp>
    </p:spTree>
    <p:extLst>
      <p:ext uri="{BB962C8B-B14F-4D97-AF65-F5344CB8AC3E}">
        <p14:creationId xmlns:p14="http://schemas.microsoft.com/office/powerpoint/2010/main" val="1457422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defRPr/>
            </a:pPr>
            <a:r>
              <a:rPr lang="en-US" altLang="en-US" sz="1200" b="1" dirty="0" smtClean="0">
                <a:latin typeface="Arial" pitchFamily="34" charset="0"/>
                <a:cs typeface="Arial" pitchFamily="34" charset="0"/>
              </a:rPr>
              <a:t>Mantraps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Small enclosure that has entry point and different exit point</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Individual enters mantrap, requests access, and, if verified, is allowed to exit mantrap into facility</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Individual denied entry is not allowed to exit until security official overrides automatic locks of the </a:t>
            </a:r>
            <a:r>
              <a:rPr lang="en-US" altLang="en-US" sz="1200" kern="0" dirty="0" smtClean="0">
                <a:solidFill>
                  <a:srgbClr val="222222"/>
                </a:solidFill>
                <a:latin typeface="Arial" pitchFamily="34" charset="0"/>
                <a:cs typeface="Arial" pitchFamily="34" charset="0"/>
              </a:rPr>
              <a:t>enclosure</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11</a:t>
            </a:fld>
            <a:endParaRPr lang="en-US" dirty="0"/>
          </a:p>
        </p:txBody>
      </p:sp>
    </p:spTree>
    <p:extLst>
      <p:ext uri="{BB962C8B-B14F-4D97-AF65-F5344CB8AC3E}">
        <p14:creationId xmlns:p14="http://schemas.microsoft.com/office/powerpoint/2010/main" val="1937132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defRPr/>
            </a:pPr>
            <a:r>
              <a:rPr lang="en-US" altLang="en-US" sz="1200" b="1" dirty="0" smtClean="0">
                <a:latin typeface="Arial" pitchFamily="34" charset="0"/>
                <a:cs typeface="Arial" pitchFamily="34" charset="0"/>
              </a:rPr>
              <a:t>Electronic Monitoring</a:t>
            </a:r>
          </a:p>
          <a:p>
            <a:pPr marL="785372" lvl="1" indent="-302066" algn="l">
              <a:spcBef>
                <a:spcPct val="20000"/>
              </a:spcBef>
              <a:buFontTx/>
              <a:buChar char="–"/>
              <a:defRPr/>
            </a:pPr>
            <a:r>
              <a:rPr lang="en-US" altLang="en-US" sz="1200" kern="0" dirty="0" smtClean="0">
                <a:solidFill>
                  <a:srgbClr val="222222"/>
                </a:solidFill>
                <a:latin typeface="Arial" pitchFamily="34" charset="0"/>
                <a:cs typeface="Arial" pitchFamily="34" charset="0"/>
              </a:rPr>
              <a:t>Equipment can record events in areas where other types of physical controls are impractical </a:t>
            </a:r>
          </a:p>
          <a:p>
            <a:pPr marL="785372" lvl="1" indent="-302066" algn="l">
              <a:spcBef>
                <a:spcPct val="20000"/>
              </a:spcBef>
              <a:buFontTx/>
              <a:buChar char="–"/>
              <a:defRPr/>
            </a:pPr>
            <a:r>
              <a:rPr lang="en-US" altLang="en-US" sz="1200" kern="0" dirty="0" smtClean="0">
                <a:solidFill>
                  <a:srgbClr val="222222"/>
                </a:solidFill>
                <a:latin typeface="Arial" pitchFamily="34" charset="0"/>
                <a:cs typeface="Arial" pitchFamily="34" charset="0"/>
              </a:rPr>
              <a:t>May use cameras with video recorders; includes closed-circuit television (CCT) systems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Drawbacks </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Passive; does not prevent access or prohibited activity  </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Recordings often are not monitored in real time; must be reviewed to have any </a:t>
            </a:r>
            <a:r>
              <a:rPr lang="en-US" altLang="en-US" sz="1200" kern="0" dirty="0" smtClean="0">
                <a:solidFill>
                  <a:srgbClr val="222222"/>
                </a:solidFill>
                <a:latin typeface="Arial" pitchFamily="34" charset="0"/>
                <a:cs typeface="Arial" pitchFamily="34" charset="0"/>
              </a:rPr>
              <a:t>value</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12</a:t>
            </a:fld>
            <a:endParaRPr lang="en-US" dirty="0"/>
          </a:p>
        </p:txBody>
      </p:sp>
    </p:spTree>
    <p:extLst>
      <p:ext uri="{BB962C8B-B14F-4D97-AF65-F5344CB8AC3E}">
        <p14:creationId xmlns:p14="http://schemas.microsoft.com/office/powerpoint/2010/main" val="3901475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defRPr/>
            </a:pPr>
            <a:r>
              <a:rPr lang="en-US" altLang="en-US" sz="1200" b="1" dirty="0" smtClean="0"/>
              <a:t>Alarms and Alarm Systems</a:t>
            </a:r>
          </a:p>
          <a:p>
            <a:pPr marL="785372" lvl="1" indent="-302066">
              <a:spcBef>
                <a:spcPct val="20000"/>
              </a:spcBef>
              <a:buFontTx/>
              <a:buChar char="–"/>
              <a:defRPr/>
            </a:pPr>
            <a:r>
              <a:rPr lang="en-US" altLang="en-US" sz="1200" kern="0" dirty="0" smtClean="0">
                <a:solidFill>
                  <a:srgbClr val="222222"/>
                </a:solidFill>
                <a:latin typeface="Arial"/>
              </a:rPr>
              <a:t>Alarm systems notify people/systems when an event occurs</a:t>
            </a:r>
          </a:p>
          <a:p>
            <a:pPr marL="785372" lvl="1" indent="-302066">
              <a:spcBef>
                <a:spcPct val="20000"/>
              </a:spcBef>
              <a:buFontTx/>
              <a:buChar char="–"/>
              <a:defRPr/>
            </a:pPr>
            <a:r>
              <a:rPr lang="en-US" altLang="en-US" sz="1200" kern="0" dirty="0" smtClean="0">
                <a:solidFill>
                  <a:srgbClr val="222222"/>
                </a:solidFill>
                <a:latin typeface="Arial"/>
              </a:rPr>
              <a:t>Detect fire, intrusion, environmental disturbance, or an interruption in services </a:t>
            </a:r>
          </a:p>
          <a:p>
            <a:pPr marL="785372" lvl="1" indent="-302066">
              <a:spcBef>
                <a:spcPct val="20000"/>
              </a:spcBef>
              <a:buFontTx/>
              <a:buChar char="–"/>
              <a:defRPr/>
            </a:pPr>
            <a:r>
              <a:rPr lang="en-US" altLang="en-US" sz="1200" kern="0" dirty="0" smtClean="0">
                <a:solidFill>
                  <a:srgbClr val="222222"/>
                </a:solidFill>
                <a:latin typeface="Arial"/>
              </a:rPr>
              <a:t>Rely on sensors that detect event; e.g., motion detectors, thermal detectors, glass breakage detectors, weight sensors, contact </a:t>
            </a:r>
            <a:r>
              <a:rPr lang="en-US" altLang="en-US" sz="1200" kern="0" dirty="0" smtClean="0">
                <a:solidFill>
                  <a:srgbClr val="222222"/>
                </a:solidFill>
                <a:latin typeface="Arial"/>
              </a:rPr>
              <a:t>sensors</a:t>
            </a:r>
            <a:endParaRPr lang="en-US" altLang="en-US" sz="1200" kern="0" dirty="0" smtClean="0">
              <a:solidFill>
                <a:srgbClr val="222222"/>
              </a:solidFill>
              <a:latin typeface="Arial"/>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2046399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defRPr/>
            </a:pPr>
            <a:r>
              <a:rPr lang="en-US" altLang="en-US" sz="1200" b="1" dirty="0" smtClean="0">
                <a:latin typeface="Arial" pitchFamily="34" charset="0"/>
                <a:cs typeface="Arial" pitchFamily="34" charset="0"/>
              </a:rPr>
              <a:t>Computer Rooms and Wiring Closets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Require special attention to ensure confidentiality, integrity, and availability of information</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Logical access controls easily defeated if attacker gains physical access to computing equipment</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Custodial staff often the least scrutinized people who have access to offices; are given greatest degree of unsupervised </a:t>
            </a:r>
            <a:r>
              <a:rPr lang="en-US" altLang="en-US" sz="1200" kern="0" dirty="0" smtClean="0">
                <a:solidFill>
                  <a:srgbClr val="222222"/>
                </a:solidFill>
                <a:latin typeface="Arial" pitchFamily="34" charset="0"/>
                <a:cs typeface="Arial" pitchFamily="34" charset="0"/>
              </a:rPr>
              <a:t>access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14</a:t>
            </a:fld>
            <a:endParaRPr lang="en-US" dirty="0"/>
          </a:p>
        </p:txBody>
      </p:sp>
    </p:spTree>
    <p:extLst>
      <p:ext uri="{BB962C8B-B14F-4D97-AF65-F5344CB8AC3E}">
        <p14:creationId xmlns:p14="http://schemas.microsoft.com/office/powerpoint/2010/main" val="2753735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defRPr/>
            </a:pPr>
            <a:r>
              <a:rPr lang="en-US" altLang="en-US" sz="1200" b="1" dirty="0" smtClean="0">
                <a:latin typeface="Arial" pitchFamily="34" charset="0"/>
                <a:cs typeface="Arial" pitchFamily="34" charset="0"/>
              </a:rPr>
              <a:t>Interior Walls and Doors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Information asset security sometimes compromised by improper construction of facility walls and doors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Facility walls typically either standard interior or firewall</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High-security areas must have firewall-grade walls to provide physical security against potential intruders and fires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Doors allowing access to high security rooms should be evaluated</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To secure doors, install push or crash bars on computer rooms and </a:t>
            </a:r>
            <a:r>
              <a:rPr lang="en-US" altLang="en-US" sz="1200" kern="0" dirty="0" smtClean="0">
                <a:solidFill>
                  <a:srgbClr val="222222"/>
                </a:solidFill>
                <a:latin typeface="Arial" pitchFamily="34" charset="0"/>
                <a:cs typeface="Arial" pitchFamily="34" charset="0"/>
              </a:rPr>
              <a:t>closets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15</a:t>
            </a:fld>
            <a:endParaRPr lang="en-US" dirty="0"/>
          </a:p>
        </p:txBody>
      </p:sp>
    </p:spTree>
    <p:extLst>
      <p:ext uri="{BB962C8B-B14F-4D97-AF65-F5344CB8AC3E}">
        <p14:creationId xmlns:p14="http://schemas.microsoft.com/office/powerpoint/2010/main" val="1722265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16</a:t>
            </a:fld>
            <a:endParaRPr lang="en-US" dirty="0"/>
          </a:p>
        </p:txBody>
      </p:sp>
    </p:spTree>
    <p:extLst>
      <p:ext uri="{BB962C8B-B14F-4D97-AF65-F5344CB8AC3E}">
        <p14:creationId xmlns:p14="http://schemas.microsoft.com/office/powerpoint/2010/main" val="2745450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latin typeface="Arial" pitchFamily="34" charset="0"/>
                <a:cs typeface="Arial" pitchFamily="34" charset="0"/>
              </a:rPr>
              <a:t>Fire Safety</a:t>
            </a:r>
            <a:r>
              <a:rPr lang="en-US" altLang="en-US" dirty="0" smtClean="0">
                <a:latin typeface="Arial" pitchFamily="34" charset="0"/>
                <a:cs typeface="Arial" pitchFamily="34" charset="0"/>
              </a:rPr>
              <a:t> </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Most serious threat to safety of people who work in an organization is fire</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Fires account for more property damage, personal injury, and death than any other threat</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Imperative that physical security plans implement strong measures to detect and respond to fires and fire </a:t>
            </a:r>
            <a:r>
              <a:rPr lang="en-US" altLang="en-US" sz="1200" kern="0" dirty="0" smtClean="0">
                <a:solidFill>
                  <a:srgbClr val="222222"/>
                </a:solidFill>
                <a:latin typeface="Arial" pitchFamily="34" charset="0"/>
                <a:cs typeface="Arial" pitchFamily="34" charset="0"/>
              </a:rPr>
              <a:t>hazards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19</a:t>
            </a:fld>
            <a:endParaRPr lang="en-US" dirty="0"/>
          </a:p>
        </p:txBody>
      </p:sp>
    </p:spTree>
    <p:extLst>
      <p:ext uri="{BB962C8B-B14F-4D97-AF65-F5344CB8AC3E}">
        <p14:creationId xmlns:p14="http://schemas.microsoft.com/office/powerpoint/2010/main" val="1565540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defRPr/>
            </a:pPr>
            <a:r>
              <a:rPr lang="en-US" altLang="en-US" sz="1200" b="1" dirty="0" smtClean="0">
                <a:latin typeface="Arial" pitchFamily="34" charset="0"/>
                <a:cs typeface="Arial" pitchFamily="34" charset="0"/>
              </a:rPr>
              <a:t>Fire Detection and Response</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Fire suppression systems: devices installed and maintained to detect and respond to a fire, potential fire, or combustion danger</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Flame point: temperature of ignition</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Deny an environment of temperature, fuel, or oxygen</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Water and water mist systems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Carbon dioxide systems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Soda acid systems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Gas-based </a:t>
            </a:r>
            <a:r>
              <a:rPr lang="en-US" altLang="en-US" sz="1200" kern="0" dirty="0" smtClean="0">
                <a:solidFill>
                  <a:srgbClr val="222222"/>
                </a:solidFill>
                <a:latin typeface="Arial" pitchFamily="34" charset="0"/>
                <a:cs typeface="Arial" pitchFamily="34" charset="0"/>
              </a:rPr>
              <a:t>systems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20</a:t>
            </a:fld>
            <a:endParaRPr lang="en-US" dirty="0"/>
          </a:p>
        </p:txBody>
      </p:sp>
    </p:spTree>
    <p:extLst>
      <p:ext uri="{BB962C8B-B14F-4D97-AF65-F5344CB8AC3E}">
        <p14:creationId xmlns:p14="http://schemas.microsoft.com/office/powerpoint/2010/main" val="3912479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eaLnBrk="1" hangingPunct="1">
              <a:defRPr/>
            </a:pPr>
            <a:r>
              <a:rPr lang="en-US" altLang="en-US" sz="1200" b="1" dirty="0" smtClean="0">
                <a:latin typeface="Arial" pitchFamily="34" charset="0"/>
                <a:cs typeface="Arial" pitchFamily="34" charset="0"/>
              </a:rPr>
              <a:t>Fire Detection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Fire detection systems fall into two general categories: manual and automatic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To prevent attacker slipping into offices during an evacuation, programs often designate a person from each office area to serve as a floor monitor</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There are three basic types of fire detection systems: thermal detection, smoke detection, flame detection</a:t>
            </a: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21</a:t>
            </a:fld>
            <a:endParaRPr lang="en-US" dirty="0"/>
          </a:p>
        </p:txBody>
      </p:sp>
    </p:spTree>
    <p:extLst>
      <p:ext uri="{BB962C8B-B14F-4D97-AF65-F5344CB8AC3E}">
        <p14:creationId xmlns:p14="http://schemas.microsoft.com/office/powerpoint/2010/main" val="2249683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eaLnBrk="1" hangingPunct="1"/>
            <a:r>
              <a:rPr lang="en-US" altLang="en-US" b="1" dirty="0" smtClean="0">
                <a:latin typeface="Arial" pitchFamily="34" charset="0"/>
                <a:cs typeface="Arial" pitchFamily="34" charset="0"/>
              </a:rPr>
              <a:t>Fire Suppression</a:t>
            </a:r>
            <a:r>
              <a:rPr lang="en-US" altLang="en-US" dirty="0" smtClean="0">
                <a:latin typeface="Arial" pitchFamily="34" charset="0"/>
                <a:cs typeface="Arial" pitchFamily="34" charset="0"/>
              </a:rPr>
              <a:t> </a:t>
            </a:r>
          </a:p>
          <a:p>
            <a:pPr eaLnBrk="1" hangingPunct="1"/>
            <a:r>
              <a:rPr lang="en-US" altLang="en-US" dirty="0" smtClean="0">
                <a:latin typeface="Arial" pitchFamily="34" charset="0"/>
                <a:cs typeface="Arial" pitchFamily="34" charset="0"/>
              </a:rPr>
              <a:t>Fire suppression systems can consist of portable, manual, or automatic apparatus. Portable extinguishers are rated by the type of fire: </a:t>
            </a:r>
          </a:p>
          <a:p>
            <a:pPr eaLnBrk="1" hangingPunct="1">
              <a:buFontTx/>
              <a:buChar char="•"/>
            </a:pPr>
            <a:r>
              <a:rPr lang="en-US" altLang="en-US" dirty="0" smtClean="0">
                <a:latin typeface="Arial" pitchFamily="34" charset="0"/>
                <a:cs typeface="Arial" pitchFamily="34" charset="0"/>
              </a:rPr>
              <a:t> Class A: Fires of ordinary combustible fuels. Use water and multipurpose, dry chemical fire extinguishers.</a:t>
            </a:r>
          </a:p>
          <a:p>
            <a:pPr eaLnBrk="1" hangingPunct="1">
              <a:buFontTx/>
              <a:buChar char="•"/>
            </a:pPr>
            <a:r>
              <a:rPr lang="en-US" altLang="en-US" dirty="0" smtClean="0">
                <a:latin typeface="Arial" pitchFamily="34" charset="0"/>
                <a:cs typeface="Arial" pitchFamily="34" charset="0"/>
              </a:rPr>
              <a:t> Class B: Fires fueled by combustible liquids or gases, such as solvents, gasoline, paint, lacquer, and oil. Use carbon dioxide, multipurpose dry chemical, and </a:t>
            </a:r>
            <a:r>
              <a:rPr lang="en-US" altLang="en-US" dirty="0" err="1" smtClean="0">
                <a:latin typeface="Arial" pitchFamily="34" charset="0"/>
                <a:cs typeface="Arial" pitchFamily="34" charset="0"/>
              </a:rPr>
              <a:t>halon</a:t>
            </a:r>
            <a:r>
              <a:rPr lang="en-US" altLang="en-US" dirty="0" smtClean="0">
                <a:latin typeface="Arial" pitchFamily="34" charset="0"/>
                <a:cs typeface="Arial" pitchFamily="34" charset="0"/>
              </a:rPr>
              <a:t> fire extinguishers.</a:t>
            </a:r>
          </a:p>
          <a:p>
            <a:pPr eaLnBrk="1" hangingPunct="1">
              <a:buFontTx/>
              <a:buChar char="•"/>
            </a:pPr>
            <a:r>
              <a:rPr lang="en-US" altLang="en-US" dirty="0" smtClean="0">
                <a:latin typeface="Arial" pitchFamily="34" charset="0"/>
                <a:cs typeface="Arial" pitchFamily="34" charset="0"/>
              </a:rPr>
              <a:t> Class C: Fires with energized electrical equipment or appliances. Use carbon dioxide, multi-purpose dry chemical, and </a:t>
            </a:r>
            <a:r>
              <a:rPr lang="en-US" altLang="en-US" dirty="0" err="1" smtClean="0">
                <a:latin typeface="Arial" pitchFamily="34" charset="0"/>
                <a:cs typeface="Arial" pitchFamily="34" charset="0"/>
              </a:rPr>
              <a:t>halon</a:t>
            </a:r>
            <a:r>
              <a:rPr lang="en-US" altLang="en-US" dirty="0" smtClean="0">
                <a:latin typeface="Arial" pitchFamily="34" charset="0"/>
                <a:cs typeface="Arial" pitchFamily="34" charset="0"/>
              </a:rPr>
              <a:t> fire extinguishers. </a:t>
            </a:r>
          </a:p>
          <a:p>
            <a:pPr eaLnBrk="1" hangingPunct="1">
              <a:buFontTx/>
              <a:buChar char="•"/>
            </a:pPr>
            <a:r>
              <a:rPr lang="en-US" altLang="en-US" dirty="0" smtClean="0">
                <a:latin typeface="Arial" pitchFamily="34" charset="0"/>
                <a:cs typeface="Arial" pitchFamily="34" charset="0"/>
              </a:rPr>
              <a:t> Class D: Fires fueled by combustible metals, such as magnesium, lithium, and sodium. Use special extinguishing agents and techniques.  </a:t>
            </a:r>
          </a:p>
          <a:p>
            <a:pPr eaLnBrk="1" hangingPunct="1"/>
            <a:r>
              <a:rPr lang="en-US" altLang="en-US" dirty="0" smtClean="0">
                <a:latin typeface="Arial" pitchFamily="34" charset="0"/>
                <a:cs typeface="Arial" pitchFamily="34" charset="0"/>
              </a:rPr>
              <a:t>Manual and automatic fire response can include installed systems designed to apply suppressive agents. These are usually either sprinkler or gaseous systems.  </a:t>
            </a:r>
          </a:p>
          <a:p>
            <a:pPr eaLnBrk="1" hangingPunct="1"/>
            <a:r>
              <a:rPr lang="en-US" altLang="en-US" dirty="0" smtClean="0">
                <a:latin typeface="Arial" pitchFamily="34" charset="0"/>
                <a:cs typeface="Arial" pitchFamily="34" charset="0"/>
              </a:rPr>
              <a:t>All sprinkler systems are designed to apply liquid, usually water, to all areas in which a fire has been detected.  </a:t>
            </a:r>
          </a:p>
          <a:p>
            <a:pPr eaLnBrk="1" hangingPunct="1"/>
            <a:r>
              <a:rPr lang="en-US" altLang="en-US" dirty="0" smtClean="0">
                <a:latin typeface="Arial" pitchFamily="34" charset="0"/>
                <a:cs typeface="Arial" pitchFamily="34" charset="0"/>
              </a:rPr>
              <a:t>In sprinkler systems, the organization can implement wet-pipe, dry-pipe, or pre-action systems.  </a:t>
            </a:r>
          </a:p>
          <a:p>
            <a:pPr eaLnBrk="1" hangingPunct="1"/>
            <a:r>
              <a:rPr lang="en-US" altLang="en-US" dirty="0" smtClean="0">
                <a:latin typeface="Arial" pitchFamily="34" charset="0"/>
                <a:cs typeface="Arial" pitchFamily="34" charset="0"/>
              </a:rPr>
              <a:t>Water mist sprinklers are the newest form of sprinkler systems and rely on ultra fine mists instead of traditional shower-type systems</a:t>
            </a:r>
            <a:r>
              <a:rPr lang="en-US" altLang="en-US" dirty="0" smtClean="0">
                <a:latin typeface="Arial" pitchFamily="34" charset="0"/>
                <a:cs typeface="Arial" pitchFamily="34" charset="0"/>
              </a:rPr>
              <a:t>.</a:t>
            </a:r>
            <a:endParaRPr lang="en-US" altLang="en-US"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22</a:t>
            </a:fld>
            <a:endParaRPr lang="en-US" dirty="0"/>
          </a:p>
        </p:txBody>
      </p:sp>
    </p:spTree>
    <p:extLst>
      <p:ext uri="{BB962C8B-B14F-4D97-AF65-F5344CB8AC3E}">
        <p14:creationId xmlns:p14="http://schemas.microsoft.com/office/powerpoint/2010/main" val="1661538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defRPr/>
            </a:pPr>
            <a:r>
              <a:rPr lang="en-US" altLang="en-US" sz="1200" b="1" dirty="0" smtClean="0"/>
              <a:t>Gaseous Emission Systems</a:t>
            </a:r>
          </a:p>
          <a:p>
            <a:pPr marL="785372" lvl="1" indent="-302066">
              <a:spcBef>
                <a:spcPct val="20000"/>
              </a:spcBef>
              <a:buFontTx/>
              <a:buChar char="–"/>
              <a:defRPr/>
            </a:pPr>
            <a:r>
              <a:rPr lang="en-US" altLang="en-US" sz="1200" kern="0" dirty="0" smtClean="0">
                <a:solidFill>
                  <a:srgbClr val="222222"/>
                </a:solidFill>
                <a:latin typeface="Arial"/>
              </a:rPr>
              <a:t>Until recently, two types of systems: carbon dioxide </a:t>
            </a:r>
            <a:br>
              <a:rPr lang="en-US" altLang="en-US" sz="1200" kern="0" dirty="0" smtClean="0">
                <a:solidFill>
                  <a:srgbClr val="222222"/>
                </a:solidFill>
                <a:latin typeface="Arial"/>
              </a:rPr>
            </a:br>
            <a:r>
              <a:rPr lang="en-US" altLang="en-US" sz="1200" kern="0" dirty="0" smtClean="0">
                <a:solidFill>
                  <a:srgbClr val="222222"/>
                </a:solidFill>
                <a:latin typeface="Arial"/>
              </a:rPr>
              <a:t>and </a:t>
            </a:r>
            <a:r>
              <a:rPr lang="en-US" altLang="en-US" sz="1200" kern="0" dirty="0" err="1" smtClean="0">
                <a:solidFill>
                  <a:srgbClr val="222222"/>
                </a:solidFill>
                <a:latin typeface="Arial"/>
              </a:rPr>
              <a:t>Halon</a:t>
            </a:r>
            <a:endParaRPr lang="en-US" altLang="en-US" sz="1200" kern="0" dirty="0" smtClean="0">
              <a:solidFill>
                <a:srgbClr val="222222"/>
              </a:solidFill>
              <a:latin typeface="Arial"/>
            </a:endParaRPr>
          </a:p>
          <a:p>
            <a:pPr marL="785372" lvl="1" indent="-302066">
              <a:spcBef>
                <a:spcPct val="20000"/>
              </a:spcBef>
              <a:buFontTx/>
              <a:buChar char="–"/>
              <a:defRPr/>
            </a:pPr>
            <a:r>
              <a:rPr lang="en-US" altLang="en-US" sz="1200" kern="0" dirty="0" smtClean="0">
                <a:solidFill>
                  <a:srgbClr val="222222"/>
                </a:solidFill>
                <a:latin typeface="Arial"/>
              </a:rPr>
              <a:t>Carbon dioxide removes fire’s oxygen supply </a:t>
            </a:r>
          </a:p>
          <a:p>
            <a:pPr marL="785372" lvl="1" indent="-302066">
              <a:spcBef>
                <a:spcPct val="20000"/>
              </a:spcBef>
              <a:buFontTx/>
              <a:buChar char="–"/>
              <a:defRPr/>
            </a:pPr>
            <a:r>
              <a:rPr lang="en-US" altLang="en-US" sz="1200" kern="0" dirty="0" err="1" smtClean="0">
                <a:solidFill>
                  <a:srgbClr val="222222"/>
                </a:solidFill>
                <a:latin typeface="Arial"/>
              </a:rPr>
              <a:t>Halon</a:t>
            </a:r>
            <a:r>
              <a:rPr lang="en-US" altLang="en-US" sz="1200" kern="0" dirty="0" smtClean="0">
                <a:solidFill>
                  <a:srgbClr val="222222"/>
                </a:solidFill>
                <a:latin typeface="Arial"/>
              </a:rPr>
              <a:t> is clean but has been classified as an ozone-depleting substance; new installations are prohibited</a:t>
            </a:r>
          </a:p>
          <a:p>
            <a:pPr marL="785372" lvl="1" indent="-302066">
              <a:spcBef>
                <a:spcPct val="20000"/>
              </a:spcBef>
              <a:buFontTx/>
              <a:buChar char="–"/>
              <a:defRPr/>
            </a:pPr>
            <a:r>
              <a:rPr lang="en-US" altLang="en-US" sz="1200" kern="0" dirty="0" smtClean="0">
                <a:solidFill>
                  <a:srgbClr val="222222"/>
                </a:solidFill>
                <a:latin typeface="Arial"/>
              </a:rPr>
              <a:t>Alternative clean agents presented in Table 9-1, reported to be less effective than </a:t>
            </a:r>
            <a:r>
              <a:rPr lang="en-US" altLang="en-US" sz="1200" kern="0" dirty="0" err="1" smtClean="0">
                <a:solidFill>
                  <a:srgbClr val="222222"/>
                </a:solidFill>
                <a:latin typeface="Arial"/>
              </a:rPr>
              <a:t>Halon</a:t>
            </a:r>
            <a:endParaRPr lang="en-US" altLang="en-US" sz="1200" kern="0" dirty="0" smtClean="0">
              <a:solidFill>
                <a:srgbClr val="222222"/>
              </a:solidFill>
              <a:latin typeface="Arial"/>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23</a:t>
            </a:fld>
            <a:endParaRPr lang="en-US" dirty="0"/>
          </a:p>
        </p:txBody>
      </p:sp>
    </p:spTree>
    <p:extLst>
      <p:ext uri="{BB962C8B-B14F-4D97-AF65-F5344CB8AC3E}">
        <p14:creationId xmlns:p14="http://schemas.microsoft.com/office/powerpoint/2010/main" val="3590968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24</a:t>
            </a:fld>
            <a:endParaRPr lang="en-US" dirty="0"/>
          </a:p>
        </p:txBody>
      </p:sp>
    </p:spTree>
    <p:extLst>
      <p:ext uri="{BB962C8B-B14F-4D97-AF65-F5344CB8AC3E}">
        <p14:creationId xmlns:p14="http://schemas.microsoft.com/office/powerpoint/2010/main" val="2140566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latin typeface="Arial" pitchFamily="34" charset="0"/>
                <a:cs typeface="Arial" pitchFamily="34" charset="0"/>
              </a:rPr>
              <a:t>Failure of Supporting Utilities and Structural Collapse</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Supporting utilities (heating, ventilation, and air conditioning; power; water) have significant impact on continued safe operation of a facility</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Each utility must be properly managed to prevent potential damage to information and information </a:t>
            </a:r>
            <a:r>
              <a:rPr lang="en-US" altLang="en-US" sz="1200" kern="0" dirty="0" smtClean="0">
                <a:solidFill>
                  <a:srgbClr val="222222"/>
                </a:solidFill>
                <a:latin typeface="Arial" pitchFamily="34" charset="0"/>
                <a:cs typeface="Arial" pitchFamily="34" charset="0"/>
              </a:rPr>
              <a:t>systems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27</a:t>
            </a:fld>
            <a:endParaRPr lang="en-US" dirty="0"/>
          </a:p>
        </p:txBody>
      </p:sp>
    </p:spTree>
    <p:extLst>
      <p:ext uri="{BB962C8B-B14F-4D97-AF65-F5344CB8AC3E}">
        <p14:creationId xmlns:p14="http://schemas.microsoft.com/office/powerpoint/2010/main" val="20254127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eaLnBrk="1" hangingPunct="1"/>
            <a:r>
              <a:rPr lang="en-US" altLang="en-US" b="1" dirty="0" smtClean="0">
                <a:latin typeface="Arial" pitchFamily="34" charset="0"/>
                <a:cs typeface="Arial" pitchFamily="34" charset="0"/>
              </a:rPr>
              <a:t>Heating, Ventilation, and Air Conditioning</a:t>
            </a:r>
          </a:p>
          <a:p>
            <a:pPr eaLnBrk="1" hangingPunct="1"/>
            <a:r>
              <a:rPr lang="en-US" altLang="en-US" dirty="0" smtClean="0">
                <a:latin typeface="Arial" pitchFamily="34" charset="0"/>
                <a:cs typeface="Arial" pitchFamily="34" charset="0"/>
              </a:rPr>
              <a:t>Although traditionally a facilities management responsibility, the operation of the heating, ventilation, and air conditioning (HVAC) system can have dramatic impact on information and information systems operations and protection.  </a:t>
            </a:r>
          </a:p>
          <a:p>
            <a:pPr eaLnBrk="1" hangingPunct="1"/>
            <a:r>
              <a:rPr lang="en-US" altLang="en-US" dirty="0" smtClean="0">
                <a:latin typeface="Arial" pitchFamily="34" charset="0"/>
                <a:cs typeface="Arial" pitchFamily="34" charset="0"/>
              </a:rPr>
              <a:t>Specifically there are four areas within the HVAC system that can cause damage to information-carrying systems: temperature, filtration, humidity, and static electricity.  </a:t>
            </a:r>
          </a:p>
          <a:p>
            <a:pPr eaLnBrk="1" hangingPunct="1"/>
            <a:r>
              <a:rPr lang="en-US" altLang="en-US" dirty="0" smtClean="0">
                <a:latin typeface="Arial" pitchFamily="34" charset="0"/>
                <a:cs typeface="Arial" pitchFamily="34" charset="0"/>
              </a:rPr>
              <a:t>Temperature</a:t>
            </a:r>
          </a:p>
          <a:p>
            <a:pPr lvl="1" eaLnBrk="1" hangingPunct="1"/>
            <a:r>
              <a:rPr lang="en-US" altLang="en-US" dirty="0" smtClean="0">
                <a:latin typeface="Arial" pitchFamily="34" charset="0"/>
                <a:cs typeface="Arial" pitchFamily="34" charset="0"/>
              </a:rPr>
              <a:t>Computer systems are electronic and as such are subject to damage from extreme temperature.  </a:t>
            </a:r>
          </a:p>
          <a:p>
            <a:pPr lvl="1" eaLnBrk="1" hangingPunct="1"/>
            <a:r>
              <a:rPr lang="en-US" altLang="en-US" dirty="0" smtClean="0">
                <a:latin typeface="Arial" pitchFamily="34" charset="0"/>
                <a:cs typeface="Arial" pitchFamily="34" charset="0"/>
              </a:rPr>
              <a:t>Rapid changes in temperature, from hot to cold, or from cold to hot can produce condensation, which can create short circuits or otherwise damage systems and components. </a:t>
            </a:r>
          </a:p>
          <a:p>
            <a:pPr lvl="1" eaLnBrk="1" hangingPunct="1"/>
            <a:r>
              <a:rPr lang="en-US" altLang="en-US" dirty="0" smtClean="0">
                <a:latin typeface="Arial" pitchFamily="34" charset="0"/>
                <a:cs typeface="Arial" pitchFamily="34" charset="0"/>
              </a:rPr>
              <a:t>The optimal temperature for a computing environment (and people) is between 70 and 74 degrees Fahrenheit.</a:t>
            </a:r>
          </a:p>
          <a:p>
            <a:pPr eaLnBrk="1" hangingPunct="1"/>
            <a:r>
              <a:rPr lang="en-US" altLang="en-US" dirty="0" smtClean="0">
                <a:latin typeface="Arial" pitchFamily="34" charset="0"/>
                <a:cs typeface="Arial" pitchFamily="34" charset="0"/>
              </a:rPr>
              <a:t>Humidity </a:t>
            </a:r>
          </a:p>
          <a:p>
            <a:pPr lvl="1" eaLnBrk="1" hangingPunct="1"/>
            <a:r>
              <a:rPr lang="en-US" altLang="en-US" dirty="0" smtClean="0">
                <a:latin typeface="Arial" pitchFamily="34" charset="0"/>
                <a:cs typeface="Arial" pitchFamily="34" charset="0"/>
              </a:rPr>
              <a:t>Humidity is the amount of moisture in the air.  </a:t>
            </a:r>
          </a:p>
          <a:p>
            <a:pPr lvl="1" eaLnBrk="1" hangingPunct="1"/>
            <a:r>
              <a:rPr lang="en-US" altLang="en-US" dirty="0" smtClean="0">
                <a:latin typeface="Arial" pitchFamily="34" charset="0"/>
                <a:cs typeface="Arial" pitchFamily="34" charset="0"/>
              </a:rPr>
              <a:t>High humidity levels create condensation problems, and low humidity levels can increase the amount of static electricity in the environment. </a:t>
            </a:r>
          </a:p>
          <a:p>
            <a:pPr lvl="1" eaLnBrk="1" hangingPunct="1"/>
            <a:r>
              <a:rPr lang="en-US" altLang="en-US" dirty="0" smtClean="0">
                <a:latin typeface="Arial" pitchFamily="34" charset="0"/>
                <a:cs typeface="Arial" pitchFamily="34" charset="0"/>
              </a:rPr>
              <a:t>With condensation comes the short-circuiting of electrical equipment and the potential for mold and rot in paper-based information storage. </a:t>
            </a:r>
          </a:p>
          <a:p>
            <a:pPr eaLnBrk="1" hangingPunct="1"/>
            <a:r>
              <a:rPr lang="en-US" altLang="en-US" dirty="0" smtClean="0">
                <a:latin typeface="Arial" pitchFamily="34" charset="0"/>
                <a:cs typeface="Arial" pitchFamily="34" charset="0"/>
              </a:rPr>
              <a:t>Static</a:t>
            </a:r>
          </a:p>
          <a:p>
            <a:pPr lvl="1" eaLnBrk="1" hangingPunct="1"/>
            <a:r>
              <a:rPr lang="en-US" altLang="en-US" dirty="0" smtClean="0">
                <a:latin typeface="Arial" pitchFamily="34" charset="0"/>
                <a:cs typeface="Arial" pitchFamily="34" charset="0"/>
              </a:rPr>
              <a:t>Static electricity is caused by a process called </a:t>
            </a:r>
            <a:r>
              <a:rPr lang="en-US" altLang="en-US" dirty="0" err="1" smtClean="0">
                <a:latin typeface="Arial" pitchFamily="34" charset="0"/>
                <a:cs typeface="Arial" pitchFamily="34" charset="0"/>
              </a:rPr>
              <a:t>triboelectrification</a:t>
            </a:r>
            <a:r>
              <a:rPr lang="en-US" altLang="en-US" dirty="0" smtClean="0">
                <a:latin typeface="Arial" pitchFamily="34" charset="0"/>
                <a:cs typeface="Arial" pitchFamily="34" charset="0"/>
              </a:rPr>
              <a:t>, which occurs when two materials are rubbed or touched and electrons are exchanged, resulting in one object becoming more positively changed and the other more negatively charged. </a:t>
            </a:r>
          </a:p>
          <a:p>
            <a:pPr lvl="1" eaLnBrk="1" hangingPunct="1"/>
            <a:r>
              <a:rPr lang="en-US" altLang="en-US" dirty="0" smtClean="0">
                <a:latin typeface="Arial" pitchFamily="34" charset="0"/>
                <a:cs typeface="Arial" pitchFamily="34" charset="0"/>
              </a:rPr>
              <a:t>When a third object with an opposite charge or ground is encountered, electrons flow again and a spark is produced. </a:t>
            </a:r>
          </a:p>
          <a:p>
            <a:pPr lvl="1" eaLnBrk="1" hangingPunct="1"/>
            <a:r>
              <a:rPr lang="en-US" altLang="en-US" dirty="0" smtClean="0">
                <a:latin typeface="Arial" pitchFamily="34" charset="0"/>
                <a:cs typeface="Arial" pitchFamily="34" charset="0"/>
              </a:rPr>
              <a:t>One of the leading causes of damage to sensitive circuitry is electro-static discharge (ESD). </a:t>
            </a:r>
          </a:p>
          <a:p>
            <a:pPr eaLnBrk="1" hangingPunct="1"/>
            <a:r>
              <a:rPr lang="en-US" altLang="en-US" dirty="0" smtClean="0">
                <a:latin typeface="Arial" pitchFamily="34" charset="0"/>
                <a:cs typeface="Arial" pitchFamily="34" charset="0"/>
              </a:rPr>
              <a:t>Static</a:t>
            </a:r>
          </a:p>
          <a:p>
            <a:pPr lvl="1" eaLnBrk="1" hangingPunct="1"/>
            <a:r>
              <a:rPr lang="en-US" altLang="en-US" dirty="0" smtClean="0">
                <a:latin typeface="Arial" pitchFamily="34" charset="0"/>
                <a:cs typeface="Arial" pitchFamily="34" charset="0"/>
              </a:rPr>
              <a:t>Integrated circuits in a computer use between two and five volts of electricity.  </a:t>
            </a:r>
          </a:p>
          <a:p>
            <a:pPr lvl="1" eaLnBrk="1" hangingPunct="1"/>
            <a:r>
              <a:rPr lang="en-US" altLang="en-US" dirty="0" smtClean="0">
                <a:latin typeface="Arial" pitchFamily="34" charset="0"/>
                <a:cs typeface="Arial" pitchFamily="34" charset="0"/>
              </a:rPr>
              <a:t>Voltage levels as low as 200 can cause microchip damage. </a:t>
            </a:r>
          </a:p>
          <a:p>
            <a:pPr lvl="1" eaLnBrk="1" hangingPunct="1"/>
            <a:r>
              <a:rPr lang="en-US" altLang="en-US" dirty="0" smtClean="0">
                <a:latin typeface="Arial" pitchFamily="34" charset="0"/>
                <a:cs typeface="Arial" pitchFamily="34" charset="0"/>
              </a:rPr>
              <a:t>Static electricity is not even noticeable to humans until levels approach 1,500 volts, and you can’t see the little blue spark until it approaches 4,000 volts.  </a:t>
            </a:r>
          </a:p>
          <a:p>
            <a:pPr lvl="1" eaLnBrk="1" hangingPunct="1"/>
            <a:r>
              <a:rPr lang="en-US" altLang="en-US" dirty="0" smtClean="0">
                <a:latin typeface="Arial" pitchFamily="34" charset="0"/>
                <a:cs typeface="Arial" pitchFamily="34" charset="0"/>
              </a:rPr>
              <a:t>A person can generate up to 12,000 volts of static current by walking across a carpet.  </a:t>
            </a:r>
          </a:p>
          <a:p>
            <a:pPr eaLnBrk="1" hangingPunct="1"/>
            <a:r>
              <a:rPr lang="en-US" altLang="en-US" dirty="0" smtClean="0">
                <a:latin typeface="Arial" pitchFamily="34" charset="0"/>
                <a:cs typeface="Arial" pitchFamily="34" charset="0"/>
              </a:rPr>
              <a:t>Static</a:t>
            </a:r>
          </a:p>
          <a:p>
            <a:pPr lvl="1" eaLnBrk="1" hangingPunct="1"/>
            <a:r>
              <a:rPr lang="en-US" altLang="en-US" dirty="0" smtClean="0">
                <a:latin typeface="Arial" pitchFamily="34" charset="0"/>
                <a:cs typeface="Arial" pitchFamily="34" charset="0"/>
              </a:rPr>
              <a:t>Two types of failures can result from ESD damage to chips. Immediate failures, also known as catastrophic failures, occur right away and are usually totally destructive. </a:t>
            </a:r>
          </a:p>
          <a:p>
            <a:pPr lvl="1" eaLnBrk="1" hangingPunct="1"/>
            <a:r>
              <a:rPr lang="en-US" altLang="en-US" dirty="0" smtClean="0">
                <a:latin typeface="Arial" pitchFamily="34" charset="0"/>
                <a:cs typeface="Arial" pitchFamily="34" charset="0"/>
              </a:rPr>
              <a:t>Latent failures or delayed failures can occur weeks or even months after the damage is done. </a:t>
            </a:r>
          </a:p>
          <a:p>
            <a:pPr lvl="1" eaLnBrk="1" hangingPunct="1"/>
            <a:r>
              <a:rPr lang="en-US" altLang="en-US" dirty="0" smtClean="0">
                <a:latin typeface="Arial" pitchFamily="34" charset="0"/>
                <a:cs typeface="Arial" pitchFamily="34" charset="0"/>
              </a:rPr>
              <a:t>It is imperative to maintain the optimal level of humidity, which is between 40 and 60 percent in the computing environment. Humidity levels below this range create static, and levels above create condensation</a:t>
            </a:r>
            <a:r>
              <a:rPr lang="en-US" altLang="en-US" dirty="0" smtClean="0">
                <a:latin typeface="Arial" pitchFamily="34" charset="0"/>
                <a:cs typeface="Arial" pitchFamily="34" charset="0"/>
              </a:rPr>
              <a:t>.</a:t>
            </a:r>
            <a:endParaRPr lang="en-US" altLang="en-US"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28</a:t>
            </a:fld>
            <a:endParaRPr lang="en-US" dirty="0"/>
          </a:p>
        </p:txBody>
      </p:sp>
    </p:spTree>
    <p:extLst>
      <p:ext uri="{BB962C8B-B14F-4D97-AF65-F5344CB8AC3E}">
        <p14:creationId xmlns:p14="http://schemas.microsoft.com/office/powerpoint/2010/main" val="1466880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eaLnBrk="1" hangingPunct="1">
              <a:defRPr/>
            </a:pPr>
            <a:r>
              <a:rPr lang="en-US" altLang="en-US" sz="1200" b="1" dirty="0" smtClean="0">
                <a:latin typeface="Arial" pitchFamily="34" charset="0"/>
                <a:cs typeface="Arial" pitchFamily="34" charset="0"/>
              </a:rPr>
              <a:t>Ventilation Shafts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While ductwork is small in residential buildings, in large commercial buildings it can be large enough for an individual to climb though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If ducts are large, security can install wire mesh grids at various points to compartmentalize the runs</a:t>
            </a:r>
          </a:p>
          <a:p>
            <a:pPr eaLnBrk="1" hangingPunct="1">
              <a:defRPr/>
            </a:pPr>
            <a:r>
              <a:rPr lang="en-US" altLang="en-US" sz="1200" b="1" dirty="0" smtClean="0">
                <a:latin typeface="Arial" pitchFamily="34" charset="0"/>
                <a:cs typeface="Arial" pitchFamily="34" charset="0"/>
              </a:rPr>
              <a:t>Power Management and Conditioning</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Power systems used by information-processing equipment must be properly installed and correctly grounded</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Noise that interferes with the normal 60 Hertz cycle can result in inaccurate time clocks or unreliable internal clocks inside </a:t>
            </a:r>
            <a:r>
              <a:rPr lang="en-US" altLang="en-US" sz="1200" kern="0" dirty="0" smtClean="0">
                <a:solidFill>
                  <a:srgbClr val="222222"/>
                </a:solidFill>
                <a:latin typeface="Arial" pitchFamily="34" charset="0"/>
                <a:cs typeface="Arial" pitchFamily="34" charset="0"/>
              </a:rPr>
              <a:t>CPU</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29</a:t>
            </a:fld>
            <a:endParaRPr lang="en-US" dirty="0"/>
          </a:p>
        </p:txBody>
      </p:sp>
    </p:spTree>
    <p:extLst>
      <p:ext uri="{BB962C8B-B14F-4D97-AF65-F5344CB8AC3E}">
        <p14:creationId xmlns:p14="http://schemas.microsoft.com/office/powerpoint/2010/main" val="19591836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spcBef>
                <a:spcPct val="20000"/>
              </a:spcBef>
              <a:defRPr/>
            </a:pPr>
            <a:r>
              <a:rPr lang="en-US" altLang="en-US" sz="1200" b="1" kern="0" dirty="0" smtClean="0">
                <a:solidFill>
                  <a:srgbClr val="222222"/>
                </a:solidFill>
                <a:latin typeface="Arial"/>
              </a:rPr>
              <a:t>Grounding and amperage</a:t>
            </a:r>
          </a:p>
          <a:p>
            <a:pPr marL="785372" lvl="1" indent="-302066">
              <a:spcBef>
                <a:spcPct val="20000"/>
              </a:spcBef>
              <a:buFontTx/>
              <a:buChar char="–"/>
              <a:defRPr/>
            </a:pPr>
            <a:r>
              <a:rPr lang="en-US" altLang="en-US" sz="1200" kern="0" dirty="0" smtClean="0">
                <a:solidFill>
                  <a:srgbClr val="222222"/>
                </a:solidFill>
                <a:latin typeface="Arial"/>
              </a:rPr>
              <a:t>Grounding ensures that returning flow of current is properly discharged to ground</a:t>
            </a:r>
          </a:p>
          <a:p>
            <a:pPr marL="785372" lvl="1" indent="-302066">
              <a:spcBef>
                <a:spcPct val="20000"/>
              </a:spcBef>
              <a:buFontTx/>
              <a:buChar char="–"/>
              <a:defRPr/>
            </a:pPr>
            <a:r>
              <a:rPr lang="en-US" altLang="en-US" sz="1200" kern="0" dirty="0" smtClean="0">
                <a:solidFill>
                  <a:srgbClr val="222222"/>
                </a:solidFill>
                <a:latin typeface="Arial"/>
              </a:rPr>
              <a:t>GFCI: capable of quickly identifying and interrupting a ground fault</a:t>
            </a:r>
          </a:p>
          <a:p>
            <a:pPr marL="785372" lvl="1" indent="-302066">
              <a:spcBef>
                <a:spcPct val="20000"/>
              </a:spcBef>
              <a:buFontTx/>
              <a:buChar char="–"/>
              <a:defRPr/>
            </a:pPr>
            <a:r>
              <a:rPr lang="en-US" altLang="en-US" sz="1200" kern="0" dirty="0" smtClean="0">
                <a:solidFill>
                  <a:srgbClr val="222222"/>
                </a:solidFill>
                <a:latin typeface="Arial"/>
              </a:rPr>
              <a:t>Overloading a circuit can create a load exceeding electrical cable’s rating, increasing risk of overheating and fire</a:t>
            </a: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30</a:t>
            </a:fld>
            <a:endParaRPr lang="en-US" dirty="0"/>
          </a:p>
        </p:txBody>
      </p:sp>
    </p:spTree>
    <p:extLst>
      <p:ext uri="{BB962C8B-B14F-4D97-AF65-F5344CB8AC3E}">
        <p14:creationId xmlns:p14="http://schemas.microsoft.com/office/powerpoint/2010/main" val="4124644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spcBef>
                <a:spcPct val="20000"/>
              </a:spcBef>
              <a:defRPr/>
            </a:pPr>
            <a:r>
              <a:rPr lang="en-US" altLang="en-US" sz="1200" b="1" kern="0" dirty="0" smtClean="0">
                <a:solidFill>
                  <a:srgbClr val="222222"/>
                </a:solidFill>
                <a:latin typeface="Arial" pitchFamily="34" charset="0"/>
                <a:cs typeface="Arial" pitchFamily="34" charset="0"/>
              </a:rPr>
              <a:t>Uninterruptible power supply (UPS)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 case of power outage, UPS is backup power source for major computing systems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Basic UPS configurations: </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Standby</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Line-interactive</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Standby online hybrid</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Standby </a:t>
            </a:r>
            <a:r>
              <a:rPr lang="en-US" altLang="en-US" sz="1200" kern="0" dirty="0" err="1" smtClean="0">
                <a:solidFill>
                  <a:srgbClr val="222222"/>
                </a:solidFill>
                <a:latin typeface="Arial" pitchFamily="34" charset="0"/>
                <a:cs typeface="Arial" pitchFamily="34" charset="0"/>
              </a:rPr>
              <a:t>erroresonant</a:t>
            </a:r>
            <a:endParaRPr lang="en-US" altLang="en-US" sz="1200" kern="0" dirty="0" smtClean="0">
              <a:solidFill>
                <a:srgbClr val="222222"/>
              </a:solidFill>
              <a:latin typeface="Arial" pitchFamily="34" charset="0"/>
              <a:cs typeface="Arial" pitchFamily="34" charset="0"/>
            </a:endParaRP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Double conversion online</a:t>
            </a:r>
          </a:p>
          <a:p>
            <a:pPr marL="1208265" lvl="2" indent="-241653">
              <a:spcBef>
                <a:spcPct val="20000"/>
              </a:spcBef>
              <a:buFontTx/>
              <a:buChar char="•"/>
              <a:defRPr/>
            </a:pPr>
            <a:r>
              <a:rPr lang="en-US" altLang="en-US" sz="1200" kern="0" dirty="0" smtClean="0">
                <a:solidFill>
                  <a:srgbClr val="222222"/>
                </a:solidFill>
                <a:latin typeface="Arial" pitchFamily="34" charset="0"/>
                <a:cs typeface="Arial" pitchFamily="34" charset="0"/>
              </a:rPr>
              <a:t>Data conversion </a:t>
            </a:r>
            <a:r>
              <a:rPr lang="en-US" altLang="en-US" sz="1200" kern="0" dirty="0" smtClean="0">
                <a:solidFill>
                  <a:srgbClr val="222222"/>
                </a:solidFill>
                <a:latin typeface="Arial" pitchFamily="34" charset="0"/>
                <a:cs typeface="Arial" pitchFamily="34" charset="0"/>
              </a:rPr>
              <a:t>online</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31</a:t>
            </a:fld>
            <a:endParaRPr lang="en-US" dirty="0"/>
          </a:p>
        </p:txBody>
      </p:sp>
    </p:spTree>
    <p:extLst>
      <p:ext uri="{BB962C8B-B14F-4D97-AF65-F5344CB8AC3E}">
        <p14:creationId xmlns:p14="http://schemas.microsoft.com/office/powerpoint/2010/main" val="1213674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sz="1200" b="1" dirty="0" smtClean="0">
                <a:latin typeface="Arial" pitchFamily="34" charset="0"/>
                <a:cs typeface="Arial" pitchFamily="34" charset="0"/>
              </a:rPr>
              <a:t>Emergency Shutoff</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Important aspect of power management is ability to stop power immediately if the current represents a risk to human or machine safety</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Most computer rooms and wiring closets are equipped with an emergency power </a:t>
            </a:r>
            <a:r>
              <a:rPr lang="en-US" altLang="en-US" sz="1200" kern="0" dirty="0" smtClean="0">
                <a:solidFill>
                  <a:srgbClr val="222222"/>
                </a:solidFill>
                <a:latin typeface="Arial" pitchFamily="34" charset="0"/>
                <a:cs typeface="Arial" pitchFamily="34" charset="0"/>
              </a:rPr>
              <a:t>shutoff</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32</a:t>
            </a:fld>
            <a:endParaRPr lang="en-US" dirty="0"/>
          </a:p>
        </p:txBody>
      </p:sp>
    </p:spTree>
    <p:extLst>
      <p:ext uri="{BB962C8B-B14F-4D97-AF65-F5344CB8AC3E}">
        <p14:creationId xmlns:p14="http://schemas.microsoft.com/office/powerpoint/2010/main" val="12191368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t>Water Problems</a:t>
            </a:r>
          </a:p>
          <a:p>
            <a:pPr marL="362480" indent="-362480">
              <a:spcBef>
                <a:spcPct val="20000"/>
              </a:spcBef>
              <a:buFontTx/>
              <a:buChar char="•"/>
              <a:defRPr/>
            </a:pPr>
            <a:r>
              <a:rPr lang="en-US" altLang="en-US" sz="1200" kern="0" dirty="0" smtClean="0">
                <a:solidFill>
                  <a:srgbClr val="222222"/>
                </a:solidFill>
                <a:latin typeface="Arial"/>
              </a:rPr>
              <a:t>Lack of water poses problem to systems, including fire suppression and air-conditioning systems</a:t>
            </a:r>
          </a:p>
          <a:p>
            <a:pPr marL="362480" indent="-362480">
              <a:spcBef>
                <a:spcPct val="20000"/>
              </a:spcBef>
              <a:buFontTx/>
              <a:buChar char="•"/>
              <a:defRPr/>
            </a:pPr>
            <a:r>
              <a:rPr lang="en-US" altLang="en-US" sz="1200" kern="0" dirty="0" smtClean="0">
                <a:solidFill>
                  <a:srgbClr val="222222"/>
                </a:solidFill>
                <a:latin typeface="Arial"/>
              </a:rPr>
              <a:t>Surplus of water, or water pressure, poses a real threat (flooding, leaks)</a:t>
            </a:r>
          </a:p>
          <a:p>
            <a:pPr marL="362480" indent="-362480">
              <a:spcBef>
                <a:spcPct val="20000"/>
              </a:spcBef>
              <a:buFontTx/>
              <a:buChar char="•"/>
              <a:defRPr/>
            </a:pPr>
            <a:r>
              <a:rPr lang="en-US" altLang="en-US" sz="1200" kern="0" dirty="0" smtClean="0">
                <a:solidFill>
                  <a:srgbClr val="222222"/>
                </a:solidFill>
                <a:latin typeface="Arial"/>
              </a:rPr>
              <a:t>Very important to integrate water detection systems into alarm systems that regulate overall facility </a:t>
            </a:r>
            <a:r>
              <a:rPr lang="en-US" altLang="en-US" sz="1200" kern="0" dirty="0" smtClean="0">
                <a:solidFill>
                  <a:srgbClr val="222222"/>
                </a:solidFill>
                <a:latin typeface="Arial"/>
              </a:rPr>
              <a:t>operations</a:t>
            </a:r>
            <a:endParaRPr lang="en-US" altLang="en-US" sz="1200" kern="0" dirty="0" smtClean="0">
              <a:solidFill>
                <a:srgbClr val="222222"/>
              </a:solidFill>
              <a:latin typeface="Arial"/>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35</a:t>
            </a:fld>
            <a:endParaRPr lang="en-US" dirty="0"/>
          </a:p>
        </p:txBody>
      </p:sp>
    </p:spTree>
    <p:extLst>
      <p:ext uri="{BB962C8B-B14F-4D97-AF65-F5344CB8AC3E}">
        <p14:creationId xmlns:p14="http://schemas.microsoft.com/office/powerpoint/2010/main" val="1562139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t>Structural Collapse </a:t>
            </a:r>
          </a:p>
          <a:p>
            <a:pPr marL="362480" indent="-362480">
              <a:spcBef>
                <a:spcPct val="20000"/>
              </a:spcBef>
              <a:buFontTx/>
              <a:buChar char="•"/>
              <a:defRPr/>
            </a:pPr>
            <a:r>
              <a:rPr lang="en-US" altLang="en-US" sz="1200" kern="0" dirty="0" smtClean="0">
                <a:solidFill>
                  <a:srgbClr val="222222"/>
                </a:solidFill>
                <a:latin typeface="Arial"/>
              </a:rPr>
              <a:t>Unavoidable environmental factors/forces can cause failures in structures that house organization</a:t>
            </a:r>
          </a:p>
          <a:p>
            <a:pPr marL="362480" indent="-362480">
              <a:spcBef>
                <a:spcPct val="20000"/>
              </a:spcBef>
              <a:buFontTx/>
              <a:buChar char="•"/>
              <a:defRPr/>
            </a:pPr>
            <a:r>
              <a:rPr lang="en-US" altLang="en-US" sz="1200" kern="0" dirty="0" smtClean="0">
                <a:solidFill>
                  <a:srgbClr val="222222"/>
                </a:solidFill>
                <a:latin typeface="Arial"/>
              </a:rPr>
              <a:t>Structures designed and constructed with specific load limits; overloading these limits results in structural failure and potential injury or loss of life</a:t>
            </a:r>
          </a:p>
          <a:p>
            <a:pPr marL="362480" indent="-362480">
              <a:spcBef>
                <a:spcPct val="20000"/>
              </a:spcBef>
              <a:buFontTx/>
              <a:buChar char="•"/>
              <a:defRPr/>
            </a:pPr>
            <a:r>
              <a:rPr lang="en-US" altLang="en-US" sz="1200" kern="0" dirty="0" smtClean="0">
                <a:solidFill>
                  <a:srgbClr val="222222"/>
                </a:solidFill>
                <a:latin typeface="Arial"/>
              </a:rPr>
              <a:t>Periodic inspections by qualified civil engineers assist in identifying potentially dangerous structural conditions</a:t>
            </a:r>
          </a:p>
          <a:p>
            <a:pPr eaLnBrk="1" hangingPunct="1">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36</a:t>
            </a:fld>
            <a:endParaRPr lang="en-US" dirty="0"/>
          </a:p>
        </p:txBody>
      </p:sp>
    </p:spTree>
    <p:extLst>
      <p:ext uri="{BB962C8B-B14F-4D97-AF65-F5344CB8AC3E}">
        <p14:creationId xmlns:p14="http://schemas.microsoft.com/office/powerpoint/2010/main" val="1714631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latin typeface="Arial" pitchFamily="34" charset="0"/>
                <a:cs typeface="Arial" pitchFamily="34" charset="0"/>
              </a:rPr>
              <a:t>Maintenance of Facility Systems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Physical security must be constantly documented, evaluated, and tested</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Documentation of facility’s configuration, operation, and function should be integrated into disaster recovery plans and standard operating procedures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Testing helps improve the facility’s physical security and identify weak </a:t>
            </a:r>
            <a:r>
              <a:rPr lang="en-US" altLang="en-US" sz="1200" kern="0" dirty="0" smtClean="0">
                <a:solidFill>
                  <a:srgbClr val="222222"/>
                </a:solidFill>
                <a:latin typeface="Arial" pitchFamily="34" charset="0"/>
                <a:cs typeface="Arial" pitchFamily="34" charset="0"/>
              </a:rPr>
              <a:t>points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37</a:t>
            </a:fld>
            <a:endParaRPr lang="en-US" dirty="0"/>
          </a:p>
        </p:txBody>
      </p:sp>
    </p:spTree>
    <p:extLst>
      <p:ext uri="{BB962C8B-B14F-4D97-AF65-F5344CB8AC3E}">
        <p14:creationId xmlns:p14="http://schemas.microsoft.com/office/powerpoint/2010/main" val="1264654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eaLnBrk="1" hangingPunct="1">
              <a:defRPr/>
            </a:pPr>
            <a:r>
              <a:rPr lang="en-US" altLang="en-US" sz="1200" b="1" dirty="0" smtClean="0">
                <a:latin typeface="Arial" pitchFamily="34" charset="0"/>
                <a:cs typeface="Arial" pitchFamily="34" charset="0"/>
              </a:rPr>
              <a:t>Interception of Data </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Three methods of data interception:</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Direct observation</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Interception of data transmission</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Electromagnetic interception</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U.S. government developed TEMPEST program to reduce risk of electromagnetic radiation (EMR) </a:t>
            </a:r>
            <a:r>
              <a:rPr lang="en-US" altLang="en-US" sz="1200" kern="0" dirty="0" smtClean="0">
                <a:solidFill>
                  <a:srgbClr val="222222"/>
                </a:solidFill>
                <a:latin typeface="Arial" pitchFamily="34" charset="0"/>
                <a:cs typeface="Arial" pitchFamily="34" charset="0"/>
              </a:rPr>
              <a:t>monitoring</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38</a:t>
            </a:fld>
            <a:endParaRPr lang="en-US" dirty="0"/>
          </a:p>
        </p:txBody>
      </p:sp>
    </p:spTree>
    <p:extLst>
      <p:ext uri="{BB962C8B-B14F-4D97-AF65-F5344CB8AC3E}">
        <p14:creationId xmlns:p14="http://schemas.microsoft.com/office/powerpoint/2010/main" val="208225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defRPr/>
            </a:pPr>
            <a:r>
              <a:rPr lang="en-US" altLang="en-US" sz="1200" b="1" dirty="0" smtClean="0">
                <a:latin typeface="Arial" pitchFamily="34" charset="0"/>
                <a:cs typeface="Arial" pitchFamily="34" charset="0"/>
              </a:rPr>
              <a:t>Securing Mobile and Portable Systems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Mobile computing requires more security than typical computing infrastructures on organization’s premises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Many mobile computing systems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Have corporate information stored within them</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Some are configured to facilitate user’s access into organization’s secure computing </a:t>
            </a:r>
            <a:r>
              <a:rPr lang="en-US" altLang="en-US" sz="1200" kern="0" dirty="0" smtClean="0">
                <a:solidFill>
                  <a:srgbClr val="222222"/>
                </a:solidFill>
                <a:latin typeface="Arial" pitchFamily="34" charset="0"/>
                <a:cs typeface="Arial" pitchFamily="34" charset="0"/>
              </a:rPr>
              <a:t>facilities</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39</a:t>
            </a:fld>
            <a:endParaRPr lang="en-US" dirty="0"/>
          </a:p>
        </p:txBody>
      </p:sp>
    </p:spTree>
    <p:extLst>
      <p:ext uri="{BB962C8B-B14F-4D97-AF65-F5344CB8AC3E}">
        <p14:creationId xmlns:p14="http://schemas.microsoft.com/office/powerpoint/2010/main" val="21901825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sz="1200" b="1" dirty="0" smtClean="0">
                <a:latin typeface="Arial" pitchFamily="34" charset="0"/>
                <a:cs typeface="Arial" pitchFamily="34" charset="0"/>
              </a:rPr>
              <a:t>Securing Mobile and Portable Systems (continued)</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Controls support security and retrieval of lost or stolen laptops </a:t>
            </a:r>
          </a:p>
          <a:p>
            <a:pPr marL="785372" lvl="1" indent="-302066">
              <a:spcBef>
                <a:spcPct val="20000"/>
              </a:spcBef>
              <a:buFontTx/>
              <a:buChar char="–"/>
              <a:defRPr/>
            </a:pPr>
            <a:r>
              <a:rPr lang="en-US" altLang="en-US" sz="1200" kern="0" dirty="0" err="1" smtClean="0">
                <a:solidFill>
                  <a:srgbClr val="222222"/>
                </a:solidFill>
                <a:latin typeface="Arial" pitchFamily="34" charset="0"/>
                <a:cs typeface="Arial" pitchFamily="34" charset="0"/>
              </a:rPr>
              <a:t>CompuTrace</a:t>
            </a:r>
            <a:r>
              <a:rPr lang="en-US" altLang="en-US" sz="1200" kern="0" dirty="0" smtClean="0">
                <a:solidFill>
                  <a:srgbClr val="222222"/>
                </a:solidFill>
                <a:latin typeface="Arial" pitchFamily="34" charset="0"/>
                <a:cs typeface="Arial" pitchFamily="34" charset="0"/>
              </a:rPr>
              <a:t> software, stored on laptop; reports to a central monitoring center</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Burglar alarms made up of a PC card that contains a motion </a:t>
            </a:r>
            <a:r>
              <a:rPr lang="en-US" altLang="en-US" sz="1200" kern="0" dirty="0" smtClean="0">
                <a:solidFill>
                  <a:srgbClr val="222222"/>
                </a:solidFill>
                <a:latin typeface="Arial" pitchFamily="34" charset="0"/>
                <a:cs typeface="Arial" pitchFamily="34" charset="0"/>
              </a:rPr>
              <a:t>detector</a:t>
            </a:r>
            <a:endParaRPr lang="en-US" altLang="en-US" sz="1200" kern="0" dirty="0" smtClean="0">
              <a:solidFill>
                <a:srgbClr val="222222"/>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40</a:t>
            </a:fld>
            <a:endParaRPr lang="en-US" dirty="0"/>
          </a:p>
        </p:txBody>
      </p:sp>
    </p:spTree>
    <p:extLst>
      <p:ext uri="{BB962C8B-B14F-4D97-AF65-F5344CB8AC3E}">
        <p14:creationId xmlns:p14="http://schemas.microsoft.com/office/powerpoint/2010/main" val="33620696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altLang="en-US" b="1" dirty="0" smtClean="0"/>
              <a:t>Remote Computing Security</a:t>
            </a:r>
          </a:p>
          <a:p>
            <a:pPr marL="362480" indent="-362480">
              <a:spcBef>
                <a:spcPct val="20000"/>
              </a:spcBef>
              <a:buFontTx/>
              <a:buChar char="•"/>
              <a:defRPr/>
            </a:pPr>
            <a:r>
              <a:rPr lang="en-US" altLang="en-US" sz="1200" kern="0" dirty="0" smtClean="0">
                <a:solidFill>
                  <a:srgbClr val="222222"/>
                </a:solidFill>
                <a:latin typeface="Arial"/>
              </a:rPr>
              <a:t>Remote site computing involves variety of computing sites outside organization’s main facility</a:t>
            </a:r>
          </a:p>
          <a:p>
            <a:pPr marL="362480" indent="-362480">
              <a:spcBef>
                <a:spcPct val="20000"/>
              </a:spcBef>
              <a:buFontTx/>
              <a:buChar char="•"/>
              <a:defRPr/>
            </a:pPr>
            <a:r>
              <a:rPr lang="en-US" altLang="en-US" sz="1200" kern="0" dirty="0" smtClean="0">
                <a:solidFill>
                  <a:srgbClr val="222222"/>
                </a:solidFill>
                <a:latin typeface="Arial"/>
              </a:rPr>
              <a:t>Telecommuting: off-site computing using Internet, dial-up, or leased point-to-point links</a:t>
            </a:r>
          </a:p>
          <a:p>
            <a:pPr marL="362480" indent="-362480">
              <a:spcBef>
                <a:spcPct val="20000"/>
              </a:spcBef>
              <a:buFontTx/>
              <a:buChar char="•"/>
              <a:defRPr/>
            </a:pPr>
            <a:r>
              <a:rPr lang="en-US" altLang="en-US" sz="1200" kern="0" dirty="0" smtClean="0">
                <a:solidFill>
                  <a:srgbClr val="222222"/>
                </a:solidFill>
                <a:latin typeface="Arial"/>
              </a:rPr>
              <a:t>Employees may need to access networks on business trips; telecommuters need access from home systems or satellite offices </a:t>
            </a:r>
          </a:p>
          <a:p>
            <a:pPr marL="362480" indent="-362480">
              <a:spcBef>
                <a:spcPct val="20000"/>
              </a:spcBef>
              <a:buFontTx/>
              <a:buChar char="•"/>
              <a:defRPr/>
            </a:pPr>
            <a:r>
              <a:rPr lang="en-US" altLang="en-US" sz="1200" kern="0" dirty="0" smtClean="0">
                <a:solidFill>
                  <a:srgbClr val="222222"/>
                </a:solidFill>
                <a:latin typeface="Arial"/>
              </a:rPr>
              <a:t>Telecommuter’s computers must be made more secure than organization’s systems</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42</a:t>
            </a:fld>
            <a:endParaRPr lang="en-US" dirty="0"/>
          </a:p>
        </p:txBody>
      </p:sp>
    </p:spTree>
    <p:extLst>
      <p:ext uri="{BB962C8B-B14F-4D97-AF65-F5344CB8AC3E}">
        <p14:creationId xmlns:p14="http://schemas.microsoft.com/office/powerpoint/2010/main" val="4235315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eaLnBrk="1" hangingPunct="1">
              <a:defRPr/>
            </a:pPr>
            <a:r>
              <a:rPr lang="en-US" altLang="en-US" sz="1200" b="1" dirty="0" smtClean="0">
                <a:latin typeface="Arial" pitchFamily="34" charset="0"/>
                <a:cs typeface="Arial" pitchFamily="34" charset="0"/>
              </a:rPr>
              <a:t>Special Considerations for Physical Security Threats</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Develop physical security in-house or outsource?</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Many qualified and professional agencies </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Benefit of outsourcing includes gaining experience and knowledge of agencies</a:t>
            </a:r>
          </a:p>
          <a:p>
            <a:pPr marL="785372" lvl="1" indent="-302066">
              <a:spcBef>
                <a:spcPct val="20000"/>
              </a:spcBef>
              <a:buFontTx/>
              <a:buChar char="–"/>
              <a:defRPr/>
            </a:pPr>
            <a:r>
              <a:rPr lang="en-US" altLang="en-US" sz="1200" kern="0" dirty="0" smtClean="0">
                <a:solidFill>
                  <a:srgbClr val="222222"/>
                </a:solidFill>
                <a:latin typeface="Arial" pitchFamily="34" charset="0"/>
                <a:cs typeface="Arial" pitchFamily="34" charset="0"/>
              </a:rPr>
              <a:t>Downside includes high expense, loss of control over individual components, and level of trust that must be placed in another company</a:t>
            </a:r>
          </a:p>
          <a:p>
            <a:pPr marL="362480" indent="-362480">
              <a:spcBef>
                <a:spcPct val="20000"/>
              </a:spcBef>
              <a:buFontTx/>
              <a:buChar char="•"/>
              <a:defRPr/>
            </a:pPr>
            <a:r>
              <a:rPr lang="en-US" altLang="en-US" sz="1200" kern="0" dirty="0" smtClean="0">
                <a:solidFill>
                  <a:srgbClr val="222222"/>
                </a:solidFill>
                <a:latin typeface="Arial" pitchFamily="34" charset="0"/>
                <a:cs typeface="Arial" pitchFamily="34" charset="0"/>
              </a:rPr>
              <a:t>Social engineering: use of people skills to obtain information from employees that should not be released</a:t>
            </a:r>
          </a:p>
          <a:p>
            <a:endParaRPr lang="en-US" sz="12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43</a:t>
            </a:fld>
            <a:endParaRPr lang="en-US" dirty="0"/>
          </a:p>
        </p:txBody>
      </p:sp>
    </p:spTree>
    <p:extLst>
      <p:ext uri="{BB962C8B-B14F-4D97-AF65-F5344CB8AC3E}">
        <p14:creationId xmlns:p14="http://schemas.microsoft.com/office/powerpoint/2010/main" val="41489706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smtClean="0">
                <a:latin typeface="Arial" pitchFamily="34" charset="0"/>
                <a:cs typeface="Arial" pitchFamily="34" charset="0"/>
              </a:rPr>
              <a:t>Inventory Management</a:t>
            </a:r>
          </a:p>
          <a:p>
            <a:pPr eaLnBrk="1" hangingPunct="1"/>
            <a:r>
              <a:rPr lang="en-US" altLang="en-US" dirty="0" smtClean="0">
                <a:latin typeface="Arial" pitchFamily="34" charset="0"/>
                <a:cs typeface="Arial" pitchFamily="34" charset="0"/>
              </a:rPr>
              <a:t>As with other organizational resources, computing equipment should be inventoried and inspected on a regular basis. Similarly classified information should also be inventoried and managed. </a:t>
            </a:r>
          </a:p>
          <a:p>
            <a:pPr eaLnBrk="1" hangingPunct="1"/>
            <a:r>
              <a:rPr lang="en-US" altLang="en-US" dirty="0" smtClean="0">
                <a:latin typeface="Arial" pitchFamily="34" charset="0"/>
                <a:cs typeface="Arial" pitchFamily="34" charset="0"/>
              </a:rPr>
              <a:t>Whenever a classified document is reproduced, a stamp should be placed on the original before it is copied. </a:t>
            </a:r>
          </a:p>
          <a:p>
            <a:pPr eaLnBrk="1" hangingPunct="1"/>
            <a:r>
              <a:rPr lang="en-US" altLang="en-US" dirty="0" smtClean="0">
                <a:latin typeface="Arial" pitchFamily="34" charset="0"/>
                <a:cs typeface="Arial" pitchFamily="34" charset="0"/>
              </a:rPr>
              <a:t>This stamp states the document’s classification level and document number for tracking. </a:t>
            </a:r>
          </a:p>
          <a:p>
            <a:pPr eaLnBrk="1" hangingPunct="1"/>
            <a:r>
              <a:rPr lang="en-US" altLang="en-US" dirty="0" smtClean="0">
                <a:latin typeface="Arial" pitchFamily="34" charset="0"/>
                <a:cs typeface="Arial" pitchFamily="34" charset="0"/>
              </a:rPr>
              <a:t>Each classified copy is issued to its receiver, who signs for the document</a:t>
            </a:r>
            <a:r>
              <a:rPr lang="en-US" altLang="en-US" dirty="0" smtClean="0">
                <a:latin typeface="Arial" pitchFamily="34" charset="0"/>
                <a:cs typeface="Arial" pitchFamily="34" charset="0"/>
              </a:rPr>
              <a:t>.</a:t>
            </a:r>
            <a:endParaRPr lang="en-US" altLang="en-US"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44</a:t>
            </a:fld>
            <a:endParaRPr lang="en-US" dirty="0"/>
          </a:p>
        </p:txBody>
      </p:sp>
    </p:spTree>
    <p:extLst>
      <p:ext uri="{BB962C8B-B14F-4D97-AF65-F5344CB8AC3E}">
        <p14:creationId xmlns:p14="http://schemas.microsoft.com/office/powerpoint/2010/main" val="42526049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45</a:t>
            </a:fld>
            <a:endParaRPr lang="en-US" dirty="0"/>
          </a:p>
        </p:txBody>
      </p:sp>
    </p:spTree>
    <p:extLst>
      <p:ext uri="{BB962C8B-B14F-4D97-AF65-F5344CB8AC3E}">
        <p14:creationId xmlns:p14="http://schemas.microsoft.com/office/powerpoint/2010/main" val="1617717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4774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16661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683887321"/>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4204895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a:prstGeom prst="rect">
            <a:avLst/>
          </a:prstGeo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3625454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78893014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228600"/>
            <a:ext cx="8229600" cy="622828"/>
          </a:xfrm>
        </p:spPr>
        <p:txBody>
          <a:bodyPr/>
          <a:lstStyle/>
          <a:p>
            <a:pPr algn="l"/>
            <a:r>
              <a:rPr lang="en-US" altLang="en-US" dirty="0"/>
              <a:t>Principles of Information Security</a:t>
            </a:r>
            <a:endParaRPr lang="en-US" dirty="0"/>
          </a:p>
        </p:txBody>
      </p:sp>
      <p:sp>
        <p:nvSpPr>
          <p:cNvPr id="5" name="Text Placeholder 4"/>
          <p:cNvSpPr>
            <a:spLocks noGrp="1"/>
          </p:cNvSpPr>
          <p:nvPr>
            <p:ph type="body" sz="quarter" idx="13"/>
          </p:nvPr>
        </p:nvSpPr>
        <p:spPr>
          <a:xfrm>
            <a:off x="38100" y="816430"/>
            <a:ext cx="8229600" cy="478970"/>
          </a:xfrm>
        </p:spPr>
        <p:txBody>
          <a:bodyPr/>
          <a:lstStyle/>
          <a:p>
            <a:r>
              <a:rPr lang="en-US" dirty="0"/>
              <a:t>Sixth Edition</a:t>
            </a:r>
          </a:p>
        </p:txBody>
      </p:sp>
      <p:sp>
        <p:nvSpPr>
          <p:cNvPr id="6" name="Text Placeholder 5"/>
          <p:cNvSpPr>
            <a:spLocks noGrp="1"/>
          </p:cNvSpPr>
          <p:nvPr>
            <p:ph type="body" sz="quarter" idx="14"/>
          </p:nvPr>
        </p:nvSpPr>
        <p:spPr>
          <a:xfrm>
            <a:off x="4495800" y="3200400"/>
            <a:ext cx="4267200" cy="1600200"/>
          </a:xfrm>
        </p:spPr>
        <p:txBody>
          <a:bodyPr/>
          <a:lstStyle/>
          <a:p>
            <a:pPr algn="ctr"/>
            <a:r>
              <a:rPr lang="en-US" sz="4000" b="1" dirty="0" smtClean="0"/>
              <a:t>Chapter 9</a:t>
            </a:r>
          </a:p>
          <a:p>
            <a:pPr algn="ctr"/>
            <a:r>
              <a:rPr lang="en-US" sz="4000" dirty="0" smtClean="0"/>
              <a:t>Physical Security</a:t>
            </a:r>
            <a:endParaRPr lang="en-US" sz="4000" dirty="0"/>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a:t>
            </a:r>
            <a:r>
              <a:rPr lang="en-US" sz="1200" dirty="0" err="1">
                <a:solidFill>
                  <a:schemeClr val="bg1"/>
                </a:solidFill>
              </a:rPr>
              <a:t>Cengage</a:t>
            </a:r>
            <a:r>
              <a:rPr lang="en-US" sz="1200" dirty="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8" name="Picture 4" title="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10057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Learning Objectives</a:t>
            </a:r>
            <a:endParaRPr lang="en-US" dirty="0"/>
          </a:p>
        </p:txBody>
      </p:sp>
      <p:sp>
        <p:nvSpPr>
          <p:cNvPr id="3" name="Content Placeholder 2"/>
          <p:cNvSpPr>
            <a:spLocks noGrp="1"/>
          </p:cNvSpPr>
          <p:nvPr>
            <p:ph idx="1"/>
          </p:nvPr>
        </p:nvSpPr>
        <p:spPr/>
        <p:txBody>
          <a:bodyPr/>
          <a:lstStyle/>
          <a:p>
            <a:pPr>
              <a:spcBef>
                <a:spcPts val="600"/>
              </a:spcBef>
            </a:pPr>
            <a:r>
              <a:rPr lang="en-US" altLang="en-US" dirty="0"/>
              <a:t>Upon completion of this material, you should be able to:</a:t>
            </a:r>
          </a:p>
          <a:p>
            <a:pPr lvl="1">
              <a:spcBef>
                <a:spcPts val="600"/>
              </a:spcBef>
            </a:pPr>
            <a:r>
              <a:rPr lang="en-US" altLang="en-US" dirty="0"/>
              <a:t>Discuss the relationship between information security and physical security</a:t>
            </a:r>
          </a:p>
          <a:p>
            <a:pPr lvl="1">
              <a:spcBef>
                <a:spcPts val="600"/>
              </a:spcBef>
            </a:pPr>
            <a:r>
              <a:rPr lang="en-US" altLang="en-US" dirty="0"/>
              <a:t>Describe key physical security considerations, including fire control and surveillance systems</a:t>
            </a:r>
          </a:p>
          <a:p>
            <a:pPr lvl="1">
              <a:spcBef>
                <a:spcPts val="600"/>
              </a:spcBef>
            </a:pPr>
            <a:r>
              <a:rPr lang="en-US" altLang="en-US" dirty="0"/>
              <a:t>Identify critical physical environment considerations for computing facilities, including uninterruptible power </a:t>
            </a:r>
            <a:r>
              <a:rPr lang="en-US" altLang="en-US" dirty="0" smtClean="0"/>
              <a:t>supplies</a:t>
            </a:r>
            <a:endParaRPr lang="en-US" altLang="en-US" dirty="0"/>
          </a:p>
        </p:txBody>
      </p:sp>
    </p:spTree>
    <p:extLst>
      <p:ext uri="{BB962C8B-B14F-4D97-AF65-F5344CB8AC3E}">
        <p14:creationId xmlns:p14="http://schemas.microsoft.com/office/powerpoint/2010/main" val="30307896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Introduction (1 of 3)</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Physical security involves the protection of physical items, objects, or areas from unauthorized access and misuse.</a:t>
            </a:r>
          </a:p>
          <a:p>
            <a:pPr>
              <a:spcBef>
                <a:spcPts val="600"/>
              </a:spcBef>
            </a:pPr>
            <a:r>
              <a:rPr lang="en-US" altLang="en-US" dirty="0"/>
              <a:t>Most technology-based controls can be circumvented if an attacker gains physical access. </a:t>
            </a:r>
          </a:p>
          <a:p>
            <a:pPr>
              <a:spcBef>
                <a:spcPts val="600"/>
              </a:spcBef>
            </a:pPr>
            <a:r>
              <a:rPr lang="en-US" altLang="en-US" dirty="0"/>
              <a:t>Physical security is as important as logical security</a:t>
            </a:r>
            <a:r>
              <a:rPr lang="en-US" altLang="en-US" dirty="0" smtClean="0"/>
              <a:t>.</a:t>
            </a:r>
            <a:endParaRPr lang="en-US" altLang="en-US" dirty="0"/>
          </a:p>
        </p:txBody>
      </p:sp>
    </p:spTree>
    <p:extLst>
      <p:ext uri="{BB962C8B-B14F-4D97-AF65-F5344CB8AC3E}">
        <p14:creationId xmlns:p14="http://schemas.microsoft.com/office/powerpoint/2010/main" val="3301021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a:t>
            </a:r>
            <a:r>
              <a:rPr lang="en-US" altLang="en-US" dirty="0" smtClean="0"/>
              <a:t>(2 </a:t>
            </a:r>
            <a:r>
              <a:rPr lang="en-US" altLang="en-US" dirty="0"/>
              <a:t>of 3)</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err="1"/>
              <a:t>Donn</a:t>
            </a:r>
            <a:r>
              <a:rPr lang="en-US" altLang="en-US" dirty="0"/>
              <a:t> B. Parker’s seven major sources of physical loss:</a:t>
            </a:r>
          </a:p>
          <a:p>
            <a:pPr lvl="1">
              <a:spcBef>
                <a:spcPts val="600"/>
              </a:spcBef>
            </a:pPr>
            <a:r>
              <a:rPr lang="en-US" altLang="en-US" dirty="0"/>
              <a:t>Extreme temperature: heat, cold </a:t>
            </a:r>
          </a:p>
          <a:p>
            <a:pPr lvl="1">
              <a:spcBef>
                <a:spcPts val="600"/>
              </a:spcBef>
            </a:pPr>
            <a:r>
              <a:rPr lang="en-US" altLang="en-US" dirty="0"/>
              <a:t>Gases: war gases, commercial vapors, humid or dry air, suspended particles</a:t>
            </a:r>
          </a:p>
          <a:p>
            <a:pPr lvl="1">
              <a:spcBef>
                <a:spcPts val="600"/>
              </a:spcBef>
            </a:pPr>
            <a:r>
              <a:rPr lang="en-US" altLang="en-US" dirty="0"/>
              <a:t>Liquids: water, chemicals</a:t>
            </a:r>
          </a:p>
          <a:p>
            <a:pPr lvl="1">
              <a:spcBef>
                <a:spcPts val="600"/>
              </a:spcBef>
            </a:pPr>
            <a:r>
              <a:rPr lang="en-US" altLang="en-US" dirty="0"/>
              <a:t>Living organisms: viruses, bacteria, people, animals, insects</a:t>
            </a:r>
          </a:p>
          <a:p>
            <a:pPr lvl="1">
              <a:spcBef>
                <a:spcPts val="600"/>
              </a:spcBef>
            </a:pPr>
            <a:r>
              <a:rPr lang="en-US" altLang="en-US" dirty="0"/>
              <a:t>Projectiles: tangible objects in motion, powered </a:t>
            </a:r>
            <a:r>
              <a:rPr lang="en-US" altLang="en-US" dirty="0" smtClean="0"/>
              <a:t>objects</a:t>
            </a:r>
          </a:p>
          <a:p>
            <a:pPr lvl="1">
              <a:spcBef>
                <a:spcPts val="600"/>
              </a:spcBef>
            </a:pPr>
            <a:r>
              <a:rPr lang="en-US" altLang="en-US" dirty="0"/>
              <a:t>Movement: collapse, shearing, shaking, vibration, liquefaction, flow waves, separation, </a:t>
            </a:r>
            <a:r>
              <a:rPr lang="en-US" altLang="en-US" dirty="0" smtClean="0"/>
              <a:t>slide</a:t>
            </a:r>
            <a:endParaRPr lang="en-US" altLang="en-US" dirty="0"/>
          </a:p>
        </p:txBody>
      </p:sp>
    </p:spTree>
    <p:extLst>
      <p:ext uri="{BB962C8B-B14F-4D97-AF65-F5344CB8AC3E}">
        <p14:creationId xmlns:p14="http://schemas.microsoft.com/office/powerpoint/2010/main" val="27301560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a:t>
            </a:r>
            <a:r>
              <a:rPr lang="en-US" altLang="en-US" dirty="0" smtClean="0"/>
              <a:t>(3 </a:t>
            </a:r>
            <a:r>
              <a:rPr lang="en-US" altLang="en-US" dirty="0"/>
              <a:t>of 3)</a:t>
            </a:r>
            <a:endParaRPr lang="en-US" dirty="0"/>
          </a:p>
        </p:txBody>
      </p:sp>
      <p:sp>
        <p:nvSpPr>
          <p:cNvPr id="3" name="Content Placeholder 2"/>
          <p:cNvSpPr>
            <a:spLocks noGrp="1"/>
          </p:cNvSpPr>
          <p:nvPr>
            <p:ph idx="1"/>
          </p:nvPr>
        </p:nvSpPr>
        <p:spPr/>
        <p:txBody>
          <a:bodyPr>
            <a:normAutofit/>
          </a:bodyPr>
          <a:lstStyle/>
          <a:p>
            <a:pPr lvl="1">
              <a:spcBef>
                <a:spcPts val="600"/>
              </a:spcBef>
            </a:pPr>
            <a:r>
              <a:rPr lang="en-US" altLang="en-US" dirty="0" smtClean="0"/>
              <a:t>Energy anomalies: electrical surge or failure, magnetism, static electricity, aging circuitry; radiation: sound, light, radio, microwave, electromagnetic, atomic</a:t>
            </a:r>
          </a:p>
          <a:p>
            <a:pPr>
              <a:spcBef>
                <a:spcPts val="600"/>
              </a:spcBef>
            </a:pPr>
            <a:r>
              <a:rPr lang="en-US" altLang="en-US" dirty="0"/>
              <a:t>Community roles</a:t>
            </a:r>
            <a:r>
              <a:rPr lang="en-US" dirty="0"/>
              <a:t>:</a:t>
            </a:r>
            <a:endParaRPr lang="en-US" altLang="en-US" dirty="0"/>
          </a:p>
          <a:p>
            <a:pPr lvl="1">
              <a:spcBef>
                <a:spcPts val="600"/>
              </a:spcBef>
            </a:pPr>
            <a:r>
              <a:rPr lang="en-US" altLang="en-US" dirty="0"/>
              <a:t>General management: responsible for facility security </a:t>
            </a:r>
          </a:p>
          <a:p>
            <a:pPr lvl="1">
              <a:spcBef>
                <a:spcPts val="600"/>
              </a:spcBef>
            </a:pPr>
            <a:r>
              <a:rPr lang="en-US" altLang="en-US" dirty="0"/>
              <a:t>IT management and professionals: responsible for environmental and access security </a:t>
            </a:r>
          </a:p>
          <a:p>
            <a:pPr lvl="1">
              <a:spcBef>
                <a:spcPts val="600"/>
              </a:spcBef>
            </a:pPr>
            <a:r>
              <a:rPr lang="en-US" altLang="en-US" dirty="0"/>
              <a:t>Information security management and professionals: perform risk assessments and implementation </a:t>
            </a:r>
            <a:r>
              <a:rPr lang="en-US" altLang="en-US" dirty="0" smtClean="0"/>
              <a:t>reviews</a:t>
            </a:r>
            <a:endParaRPr lang="en-US" altLang="en-US" dirty="0"/>
          </a:p>
        </p:txBody>
      </p:sp>
    </p:spTree>
    <p:extLst>
      <p:ext uri="{BB962C8B-B14F-4D97-AF65-F5344CB8AC3E}">
        <p14:creationId xmlns:p14="http://schemas.microsoft.com/office/powerpoint/2010/main" val="765626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Access Controls</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Secure facility: physical location with controls implemented to minimize the risk of attacks from physical threats.</a:t>
            </a:r>
          </a:p>
          <a:p>
            <a:pPr>
              <a:spcBef>
                <a:spcPts val="600"/>
              </a:spcBef>
            </a:pPr>
            <a:r>
              <a:rPr lang="en-US" altLang="en-US" dirty="0"/>
              <a:t>Secure facility can take advantage of natural terrain, local traffic flow, and surrounding development and can complement these with protection mechanisms (fences, gates, walls, guards, alarms</a:t>
            </a:r>
            <a:r>
              <a:rPr lang="en-US" altLang="en-US" dirty="0" smtClean="0"/>
              <a:t>).</a:t>
            </a:r>
            <a:endParaRPr lang="en-US" altLang="en-US" dirty="0"/>
          </a:p>
        </p:txBody>
      </p:sp>
    </p:spTree>
    <p:extLst>
      <p:ext uri="{BB962C8B-B14F-4D97-AF65-F5344CB8AC3E}">
        <p14:creationId xmlns:p14="http://schemas.microsoft.com/office/powerpoint/2010/main" val="2804531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a:t>
            </a:r>
            <a:r>
              <a:rPr lang="en-US" altLang="en-US" dirty="0" smtClean="0"/>
              <a:t>Controls (1 of 9)</a:t>
            </a:r>
            <a:endParaRPr lang="en-US" dirty="0"/>
          </a:p>
        </p:txBody>
      </p:sp>
      <p:sp>
        <p:nvSpPr>
          <p:cNvPr id="3" name="Content Placeholder 2"/>
          <p:cNvSpPr>
            <a:spLocks noGrp="1"/>
          </p:cNvSpPr>
          <p:nvPr>
            <p:ph idx="1"/>
          </p:nvPr>
        </p:nvSpPr>
        <p:spPr>
          <a:xfrm>
            <a:off x="228600" y="1219200"/>
            <a:ext cx="8763000" cy="4876800"/>
          </a:xfrm>
        </p:spPr>
        <p:txBody>
          <a:bodyPr>
            <a:noAutofit/>
          </a:bodyPr>
          <a:lstStyle/>
          <a:p>
            <a:pPr>
              <a:spcBef>
                <a:spcPts val="600"/>
              </a:spcBef>
            </a:pPr>
            <a:r>
              <a:rPr lang="en-US" altLang="en-US" dirty="0"/>
              <a:t>Walls, fencing, and gates</a:t>
            </a:r>
          </a:p>
          <a:p>
            <a:pPr>
              <a:spcBef>
                <a:spcPts val="600"/>
              </a:spcBef>
            </a:pPr>
            <a:r>
              <a:rPr lang="en-US" altLang="en-US" dirty="0"/>
              <a:t>Guards </a:t>
            </a:r>
          </a:p>
          <a:p>
            <a:pPr>
              <a:spcBef>
                <a:spcPts val="600"/>
              </a:spcBef>
            </a:pPr>
            <a:r>
              <a:rPr lang="en-US" altLang="en-US" dirty="0"/>
              <a:t>Dogs </a:t>
            </a:r>
          </a:p>
          <a:p>
            <a:pPr>
              <a:spcBef>
                <a:spcPts val="600"/>
              </a:spcBef>
            </a:pPr>
            <a:r>
              <a:rPr lang="en-US" altLang="en-US" dirty="0"/>
              <a:t>ID cards and badges</a:t>
            </a:r>
          </a:p>
          <a:p>
            <a:pPr>
              <a:spcBef>
                <a:spcPts val="600"/>
              </a:spcBef>
            </a:pPr>
            <a:r>
              <a:rPr lang="en-US" altLang="en-US" dirty="0"/>
              <a:t>Locks and keys</a:t>
            </a:r>
          </a:p>
          <a:p>
            <a:pPr>
              <a:spcBef>
                <a:spcPts val="600"/>
              </a:spcBef>
            </a:pPr>
            <a:r>
              <a:rPr lang="en-US" altLang="en-US" dirty="0"/>
              <a:t>Mantraps</a:t>
            </a:r>
          </a:p>
          <a:p>
            <a:pPr>
              <a:spcBef>
                <a:spcPts val="600"/>
              </a:spcBef>
            </a:pPr>
            <a:r>
              <a:rPr lang="en-US" altLang="en-US" dirty="0"/>
              <a:t>Electronic monitoring</a:t>
            </a:r>
          </a:p>
          <a:p>
            <a:pPr>
              <a:spcBef>
                <a:spcPts val="600"/>
              </a:spcBef>
            </a:pPr>
            <a:r>
              <a:rPr lang="en-US" altLang="en-US" dirty="0"/>
              <a:t>Alarms and alarm systems</a:t>
            </a:r>
          </a:p>
          <a:p>
            <a:pPr>
              <a:spcBef>
                <a:spcPts val="600"/>
              </a:spcBef>
            </a:pPr>
            <a:r>
              <a:rPr lang="en-US" altLang="en-US" dirty="0"/>
              <a:t>Computer rooms and wiring closets</a:t>
            </a:r>
          </a:p>
          <a:p>
            <a:pPr>
              <a:spcBef>
                <a:spcPts val="600"/>
              </a:spcBef>
            </a:pPr>
            <a:r>
              <a:rPr lang="en-US" altLang="en-US" dirty="0"/>
              <a:t>Interior walls and </a:t>
            </a:r>
            <a:r>
              <a:rPr lang="en-US" altLang="en-US" dirty="0" smtClean="0"/>
              <a:t>doors</a:t>
            </a:r>
            <a:endParaRPr lang="en-US" altLang="en-US" dirty="0"/>
          </a:p>
        </p:txBody>
      </p:sp>
    </p:spTree>
    <p:extLst>
      <p:ext uri="{BB962C8B-B14F-4D97-AF65-F5344CB8AC3E}">
        <p14:creationId xmlns:p14="http://schemas.microsoft.com/office/powerpoint/2010/main" val="25085839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(2 </a:t>
            </a:r>
            <a:r>
              <a:rPr lang="en-US" altLang="en-US" dirty="0"/>
              <a:t>of 9</a:t>
            </a:r>
            <a:r>
              <a:rPr lang="en-US" altLang="en-US" dirty="0" smtClean="0"/>
              <a:t>)</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Walls, fencing, and gates</a:t>
            </a:r>
          </a:p>
          <a:p>
            <a:pPr lvl="1">
              <a:spcBef>
                <a:spcPts val="600"/>
              </a:spcBef>
            </a:pPr>
            <a:r>
              <a:rPr lang="en-US" altLang="en-US" dirty="0"/>
              <a:t>Some of the oldest and most reliable elements of physical security; the essential starting point for perimeter control</a:t>
            </a:r>
          </a:p>
          <a:p>
            <a:pPr>
              <a:spcBef>
                <a:spcPts val="600"/>
              </a:spcBef>
            </a:pPr>
            <a:r>
              <a:rPr lang="en-US" altLang="en-US" dirty="0"/>
              <a:t>Guards</a:t>
            </a:r>
          </a:p>
          <a:p>
            <a:pPr lvl="1">
              <a:spcBef>
                <a:spcPts val="600"/>
              </a:spcBef>
            </a:pPr>
            <a:r>
              <a:rPr lang="en-US" altLang="en-US" dirty="0"/>
              <a:t>Can evaluate each situation as it arises to make reasoned responses; most have standard operating procedures</a:t>
            </a:r>
          </a:p>
          <a:p>
            <a:pPr>
              <a:spcBef>
                <a:spcPts val="600"/>
              </a:spcBef>
            </a:pPr>
            <a:r>
              <a:rPr lang="en-US" altLang="en-US" dirty="0"/>
              <a:t>Dogs</a:t>
            </a:r>
          </a:p>
          <a:p>
            <a:pPr lvl="1">
              <a:spcBef>
                <a:spcPts val="600"/>
              </a:spcBef>
            </a:pPr>
            <a:r>
              <a:rPr lang="en-US" altLang="en-US" dirty="0"/>
              <a:t>Keen sense of smell and hearing can detect intrusions that human guards cannot</a:t>
            </a:r>
          </a:p>
        </p:txBody>
      </p:sp>
    </p:spTree>
    <p:extLst>
      <p:ext uri="{BB962C8B-B14F-4D97-AF65-F5344CB8AC3E}">
        <p14:creationId xmlns:p14="http://schemas.microsoft.com/office/powerpoint/2010/main" val="26765389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(3 </a:t>
            </a:r>
            <a:r>
              <a:rPr lang="en-US" altLang="en-US" dirty="0"/>
              <a:t>of </a:t>
            </a:r>
            <a:r>
              <a:rPr lang="en-US" altLang="en-US" dirty="0" smtClean="0"/>
              <a:t>9)</a:t>
            </a:r>
            <a:endParaRPr lang="en-US" dirty="0"/>
          </a:p>
        </p:txBody>
      </p:sp>
      <p:sp>
        <p:nvSpPr>
          <p:cNvPr id="3" name="Content Placeholder 2"/>
          <p:cNvSpPr>
            <a:spLocks noGrp="1"/>
          </p:cNvSpPr>
          <p:nvPr>
            <p:ph idx="1"/>
          </p:nvPr>
        </p:nvSpPr>
        <p:spPr>
          <a:xfrm>
            <a:off x="370901" y="1295400"/>
            <a:ext cx="8763000" cy="4830763"/>
          </a:xfrm>
        </p:spPr>
        <p:txBody>
          <a:bodyPr/>
          <a:lstStyle/>
          <a:p>
            <a:pPr>
              <a:spcBef>
                <a:spcPts val="600"/>
              </a:spcBef>
            </a:pPr>
            <a:r>
              <a:rPr lang="en-US" altLang="en-US" dirty="0"/>
              <a:t>ID cards and badges</a:t>
            </a:r>
          </a:p>
          <a:p>
            <a:pPr lvl="1">
              <a:spcBef>
                <a:spcPts val="600"/>
              </a:spcBef>
            </a:pPr>
            <a:r>
              <a:rPr lang="en-US" altLang="en-US" dirty="0"/>
              <a:t>ID card is typically concealed and name badge is visible</a:t>
            </a:r>
          </a:p>
          <a:p>
            <a:pPr lvl="1">
              <a:spcBef>
                <a:spcPts val="600"/>
              </a:spcBef>
            </a:pPr>
            <a:r>
              <a:rPr lang="en-US" altLang="en-US" dirty="0"/>
              <a:t>Serve as a simple form of biometrics (facial recognition) </a:t>
            </a:r>
          </a:p>
          <a:p>
            <a:pPr lvl="1">
              <a:spcBef>
                <a:spcPts val="600"/>
              </a:spcBef>
            </a:pPr>
            <a:r>
              <a:rPr lang="en-US" altLang="en-US" dirty="0"/>
              <a:t>Should not be the only means of control as cards can be easily duplicated, stolen, and modified</a:t>
            </a:r>
          </a:p>
          <a:p>
            <a:pPr lvl="1">
              <a:spcBef>
                <a:spcPts val="600"/>
              </a:spcBef>
            </a:pPr>
            <a:r>
              <a:rPr lang="en-US" altLang="en-US" dirty="0"/>
              <a:t>Tailgating occurs when an authorized individual opens a door and other people also </a:t>
            </a:r>
            <a:r>
              <a:rPr lang="en-US" altLang="en-US" dirty="0" smtClean="0"/>
              <a:t>enter</a:t>
            </a:r>
            <a:endParaRPr lang="en-US" altLang="en-US" dirty="0"/>
          </a:p>
        </p:txBody>
      </p:sp>
    </p:spTree>
    <p:extLst>
      <p:ext uri="{BB962C8B-B14F-4D97-AF65-F5344CB8AC3E}">
        <p14:creationId xmlns:p14="http://schemas.microsoft.com/office/powerpoint/2010/main" val="708976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(4 </a:t>
            </a:r>
            <a:r>
              <a:rPr lang="en-US" altLang="en-US" dirty="0"/>
              <a:t>of 9)</a:t>
            </a:r>
            <a:endParaRPr lang="en-US" dirty="0"/>
          </a:p>
        </p:txBody>
      </p:sp>
      <p:sp>
        <p:nvSpPr>
          <p:cNvPr id="3" name="Content Placeholder 2"/>
          <p:cNvSpPr>
            <a:spLocks noGrp="1"/>
          </p:cNvSpPr>
          <p:nvPr>
            <p:ph idx="1"/>
          </p:nvPr>
        </p:nvSpPr>
        <p:spPr/>
        <p:txBody>
          <a:bodyPr/>
          <a:lstStyle/>
          <a:p>
            <a:pPr>
              <a:spcBef>
                <a:spcPts val="600"/>
              </a:spcBef>
            </a:pPr>
            <a:r>
              <a:rPr lang="en-US" altLang="en-US" dirty="0"/>
              <a:t>Locks and keys</a:t>
            </a:r>
          </a:p>
          <a:p>
            <a:pPr lvl="1">
              <a:spcBef>
                <a:spcPts val="600"/>
              </a:spcBef>
            </a:pPr>
            <a:r>
              <a:rPr lang="en-US" altLang="en-US" dirty="0"/>
              <a:t>Two types of locks: mechanical and electromechanical</a:t>
            </a:r>
          </a:p>
          <a:p>
            <a:pPr lvl="1">
              <a:spcBef>
                <a:spcPts val="600"/>
              </a:spcBef>
            </a:pPr>
            <a:r>
              <a:rPr lang="en-US" altLang="en-US" dirty="0"/>
              <a:t>Locks can also be divided into four categories: manual, programmable, electronic, biometric</a:t>
            </a:r>
          </a:p>
          <a:p>
            <a:pPr lvl="1">
              <a:spcBef>
                <a:spcPts val="600"/>
              </a:spcBef>
            </a:pPr>
            <a:r>
              <a:rPr lang="en-US" altLang="en-US" dirty="0"/>
              <a:t>Locks fail and alternative procedures for controlling access must be put in place</a:t>
            </a:r>
          </a:p>
          <a:p>
            <a:pPr lvl="1">
              <a:spcBef>
                <a:spcPts val="600"/>
              </a:spcBef>
            </a:pPr>
            <a:r>
              <a:rPr lang="en-US" altLang="en-US" dirty="0"/>
              <a:t>Locks fail in one of two ways:</a:t>
            </a:r>
          </a:p>
          <a:p>
            <a:pPr lvl="2">
              <a:spcBef>
                <a:spcPts val="600"/>
              </a:spcBef>
            </a:pPr>
            <a:r>
              <a:rPr lang="en-US" altLang="en-US" dirty="0"/>
              <a:t>Fail-safe lock</a:t>
            </a:r>
          </a:p>
          <a:p>
            <a:pPr lvl="2">
              <a:spcBef>
                <a:spcPts val="600"/>
              </a:spcBef>
            </a:pPr>
            <a:r>
              <a:rPr lang="en-US" altLang="en-US" dirty="0"/>
              <a:t>Fail-secure </a:t>
            </a:r>
            <a:r>
              <a:rPr lang="en-US" altLang="en-US" dirty="0" smtClean="0"/>
              <a:t>lock</a:t>
            </a:r>
            <a:endParaRPr lang="en-US" altLang="en-US" dirty="0"/>
          </a:p>
        </p:txBody>
      </p:sp>
    </p:spTree>
    <p:extLst>
      <p:ext uri="{BB962C8B-B14F-4D97-AF65-F5344CB8AC3E}">
        <p14:creationId xmlns:p14="http://schemas.microsoft.com/office/powerpoint/2010/main" val="9839843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(5 </a:t>
            </a:r>
            <a:r>
              <a:rPr lang="en-US" altLang="en-US" dirty="0"/>
              <a:t>of 9)</a:t>
            </a:r>
            <a:endParaRPr lang="en-US" dirty="0"/>
          </a:p>
        </p:txBody>
      </p:sp>
      <p:sp>
        <p:nvSpPr>
          <p:cNvPr id="3" name="Content Placeholder 2"/>
          <p:cNvSpPr>
            <a:spLocks noGrp="1"/>
          </p:cNvSpPr>
          <p:nvPr>
            <p:ph idx="1"/>
          </p:nvPr>
        </p:nvSpPr>
        <p:spPr/>
        <p:txBody>
          <a:bodyPr/>
          <a:lstStyle/>
          <a:p>
            <a:pPr>
              <a:spcBef>
                <a:spcPts val="600"/>
              </a:spcBef>
            </a:pPr>
            <a:r>
              <a:rPr lang="en-US" altLang="en-US" dirty="0"/>
              <a:t>Mantraps</a:t>
            </a:r>
          </a:p>
          <a:p>
            <a:pPr lvl="1">
              <a:spcBef>
                <a:spcPts val="600"/>
              </a:spcBef>
            </a:pPr>
            <a:r>
              <a:rPr lang="en-US" altLang="en-US" dirty="0"/>
              <a:t>Small enclosure that has an entry point and a different exit point.</a:t>
            </a:r>
          </a:p>
          <a:p>
            <a:pPr lvl="1">
              <a:spcBef>
                <a:spcPts val="600"/>
              </a:spcBef>
            </a:pPr>
            <a:r>
              <a:rPr lang="en-US" altLang="en-US" dirty="0"/>
              <a:t>Individual enters mantrap, requests access, and, if verified, is allowed to exit mantrap into facility.</a:t>
            </a:r>
          </a:p>
          <a:p>
            <a:pPr lvl="1">
              <a:spcBef>
                <a:spcPts val="600"/>
              </a:spcBef>
            </a:pPr>
            <a:r>
              <a:rPr lang="en-US" altLang="en-US" dirty="0"/>
              <a:t>Individual denied entry is not allowed to exit until the security official overrides automatic locks of the enclosure</a:t>
            </a:r>
            <a:r>
              <a:rPr lang="en-US" altLang="en-US" dirty="0" smtClean="0"/>
              <a:t>.</a:t>
            </a:r>
            <a:endParaRPr lang="en-US" altLang="en-US" dirty="0"/>
          </a:p>
        </p:txBody>
      </p:sp>
    </p:spTree>
    <p:extLst>
      <p:ext uri="{BB962C8B-B14F-4D97-AF65-F5344CB8AC3E}">
        <p14:creationId xmlns:p14="http://schemas.microsoft.com/office/powerpoint/2010/main" val="13146698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(6 </a:t>
            </a:r>
            <a:r>
              <a:rPr lang="en-US" altLang="en-US" dirty="0"/>
              <a:t>of 9)</a:t>
            </a:r>
            <a:endParaRPr lang="en-US" dirty="0"/>
          </a:p>
        </p:txBody>
      </p:sp>
      <p:sp>
        <p:nvSpPr>
          <p:cNvPr id="3" name="Content Placeholder 2"/>
          <p:cNvSpPr>
            <a:spLocks noGrp="1"/>
          </p:cNvSpPr>
          <p:nvPr>
            <p:ph idx="1"/>
          </p:nvPr>
        </p:nvSpPr>
        <p:spPr/>
        <p:txBody>
          <a:bodyPr/>
          <a:lstStyle/>
          <a:p>
            <a:pPr>
              <a:spcBef>
                <a:spcPts val="600"/>
              </a:spcBef>
            </a:pPr>
            <a:r>
              <a:rPr lang="en-US" altLang="en-US" dirty="0" smtClean="0"/>
              <a:t>Electronic monitoring</a:t>
            </a:r>
            <a:endParaRPr lang="en-US" altLang="en-US" dirty="0"/>
          </a:p>
          <a:p>
            <a:pPr lvl="1">
              <a:spcBef>
                <a:spcPts val="600"/>
              </a:spcBef>
            </a:pPr>
            <a:r>
              <a:rPr lang="en-US" altLang="en-US" dirty="0"/>
              <a:t>Equipment can record events in areas where other types of physical controls are impractical</a:t>
            </a:r>
          </a:p>
          <a:p>
            <a:pPr lvl="1">
              <a:spcBef>
                <a:spcPts val="600"/>
              </a:spcBef>
            </a:pPr>
            <a:r>
              <a:rPr lang="en-US" altLang="en-US" dirty="0"/>
              <a:t>May use cameras with video recorders; includes closed-circuit television (CCT) systems </a:t>
            </a:r>
          </a:p>
          <a:p>
            <a:pPr lvl="1">
              <a:spcBef>
                <a:spcPts val="600"/>
              </a:spcBef>
            </a:pPr>
            <a:r>
              <a:rPr lang="en-US" altLang="en-US" dirty="0"/>
              <a:t>Drawbacks </a:t>
            </a:r>
          </a:p>
          <a:p>
            <a:pPr lvl="2">
              <a:spcBef>
                <a:spcPts val="600"/>
              </a:spcBef>
            </a:pPr>
            <a:r>
              <a:rPr lang="en-US" altLang="en-US" dirty="0"/>
              <a:t>Passive; does not prevent access or prohibited activity  </a:t>
            </a:r>
          </a:p>
          <a:p>
            <a:pPr lvl="2">
              <a:spcBef>
                <a:spcPts val="600"/>
              </a:spcBef>
            </a:pPr>
            <a:r>
              <a:rPr lang="en-US" altLang="en-US" dirty="0"/>
              <a:t>Recordings often are not monitored in real time; must be reviewed to have any </a:t>
            </a:r>
            <a:r>
              <a:rPr lang="en-US" altLang="en-US" dirty="0" smtClean="0"/>
              <a:t>value</a:t>
            </a:r>
            <a:endParaRPr lang="en-US" altLang="en-US" dirty="0"/>
          </a:p>
        </p:txBody>
      </p:sp>
    </p:spTree>
    <p:extLst>
      <p:ext uri="{BB962C8B-B14F-4D97-AF65-F5344CB8AC3E}">
        <p14:creationId xmlns:p14="http://schemas.microsoft.com/office/powerpoint/2010/main" val="2128711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(7 </a:t>
            </a:r>
            <a:r>
              <a:rPr lang="en-US" altLang="en-US" dirty="0"/>
              <a:t>of 9)</a:t>
            </a:r>
            <a:endParaRPr lang="en-US" dirty="0"/>
          </a:p>
        </p:txBody>
      </p:sp>
      <p:sp>
        <p:nvSpPr>
          <p:cNvPr id="3" name="Content Placeholder 2"/>
          <p:cNvSpPr>
            <a:spLocks noGrp="1"/>
          </p:cNvSpPr>
          <p:nvPr>
            <p:ph idx="1"/>
          </p:nvPr>
        </p:nvSpPr>
        <p:spPr/>
        <p:txBody>
          <a:bodyPr/>
          <a:lstStyle/>
          <a:p>
            <a:pPr>
              <a:spcBef>
                <a:spcPts val="600"/>
              </a:spcBef>
            </a:pPr>
            <a:r>
              <a:rPr lang="en-US" altLang="en-US" dirty="0"/>
              <a:t>Alarms and alarm systems</a:t>
            </a:r>
          </a:p>
          <a:p>
            <a:pPr lvl="1">
              <a:spcBef>
                <a:spcPts val="600"/>
              </a:spcBef>
            </a:pPr>
            <a:r>
              <a:rPr lang="en-US" altLang="en-US" dirty="0"/>
              <a:t>Alarm systems notify people/systems when an event occurs</a:t>
            </a:r>
          </a:p>
          <a:p>
            <a:pPr lvl="1">
              <a:spcBef>
                <a:spcPts val="600"/>
              </a:spcBef>
            </a:pPr>
            <a:r>
              <a:rPr lang="en-US" altLang="en-US" dirty="0"/>
              <a:t>Detect fire, intrusion, environmental disturbance, or an interruption in services </a:t>
            </a:r>
          </a:p>
          <a:p>
            <a:pPr lvl="1">
              <a:spcBef>
                <a:spcPts val="600"/>
              </a:spcBef>
            </a:pPr>
            <a:r>
              <a:rPr lang="en-US" altLang="en-US" dirty="0"/>
              <a:t>Rely on sensors that detect an event, for example, motion detectors, thermal detectors, glass breakage detectors, weight sensors, and contact </a:t>
            </a:r>
            <a:r>
              <a:rPr lang="en-US" altLang="en-US" dirty="0" smtClean="0"/>
              <a:t>sensors</a:t>
            </a:r>
            <a:endParaRPr lang="en-US" altLang="en-US" dirty="0"/>
          </a:p>
        </p:txBody>
      </p:sp>
    </p:spTree>
    <p:extLst>
      <p:ext uri="{BB962C8B-B14F-4D97-AF65-F5344CB8AC3E}">
        <p14:creationId xmlns:p14="http://schemas.microsoft.com/office/powerpoint/2010/main" val="12781689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(8 </a:t>
            </a:r>
            <a:r>
              <a:rPr lang="en-US" altLang="en-US" dirty="0"/>
              <a:t>of 9)</a:t>
            </a:r>
            <a:endParaRPr lang="en-US" dirty="0"/>
          </a:p>
        </p:txBody>
      </p:sp>
      <p:sp>
        <p:nvSpPr>
          <p:cNvPr id="3" name="Content Placeholder 2"/>
          <p:cNvSpPr>
            <a:spLocks noGrp="1"/>
          </p:cNvSpPr>
          <p:nvPr>
            <p:ph idx="1"/>
          </p:nvPr>
        </p:nvSpPr>
        <p:spPr/>
        <p:txBody>
          <a:bodyPr/>
          <a:lstStyle/>
          <a:p>
            <a:pPr>
              <a:spcBef>
                <a:spcPts val="600"/>
              </a:spcBef>
            </a:pPr>
            <a:r>
              <a:rPr lang="en-US" altLang="en-US" dirty="0"/>
              <a:t>Computer rooms and wiring closets</a:t>
            </a:r>
          </a:p>
          <a:p>
            <a:pPr lvl="1">
              <a:spcBef>
                <a:spcPts val="600"/>
              </a:spcBef>
            </a:pPr>
            <a:r>
              <a:rPr lang="en-US" altLang="en-US" dirty="0"/>
              <a:t>Require special attention to ensure confidentiality, integrity, and availability of information.</a:t>
            </a:r>
          </a:p>
          <a:p>
            <a:pPr lvl="1">
              <a:spcBef>
                <a:spcPts val="600"/>
              </a:spcBef>
            </a:pPr>
            <a:r>
              <a:rPr lang="en-US" altLang="en-US" dirty="0"/>
              <a:t>Logical access controls are easily defeated if attacker gains physical access to computing equipment.</a:t>
            </a:r>
          </a:p>
          <a:p>
            <a:pPr lvl="1">
              <a:spcBef>
                <a:spcPts val="600"/>
              </a:spcBef>
            </a:pPr>
            <a:r>
              <a:rPr lang="en-US" altLang="en-US" dirty="0"/>
              <a:t>Custodial staff, often the least scrutinized people who have access to offices, are given greatest degree of unsupervised access.</a:t>
            </a:r>
          </a:p>
        </p:txBody>
      </p:sp>
    </p:spTree>
    <p:extLst>
      <p:ext uri="{BB962C8B-B14F-4D97-AF65-F5344CB8AC3E}">
        <p14:creationId xmlns:p14="http://schemas.microsoft.com/office/powerpoint/2010/main" val="322375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Security Controls </a:t>
            </a:r>
            <a:r>
              <a:rPr lang="en-US" altLang="en-US" dirty="0" smtClean="0"/>
              <a:t>(9 </a:t>
            </a:r>
            <a:r>
              <a:rPr lang="en-US" altLang="en-US" dirty="0"/>
              <a:t>of 9)</a:t>
            </a:r>
            <a:endParaRPr lang="en-US" dirty="0"/>
          </a:p>
        </p:txBody>
      </p:sp>
      <p:sp>
        <p:nvSpPr>
          <p:cNvPr id="3" name="Content Placeholder 2"/>
          <p:cNvSpPr>
            <a:spLocks noGrp="1"/>
          </p:cNvSpPr>
          <p:nvPr>
            <p:ph idx="1"/>
          </p:nvPr>
        </p:nvSpPr>
        <p:spPr/>
        <p:txBody>
          <a:bodyPr>
            <a:normAutofit fontScale="92500" lnSpcReduction="10000"/>
          </a:bodyPr>
          <a:lstStyle/>
          <a:p>
            <a:pPr>
              <a:spcBef>
                <a:spcPts val="600"/>
              </a:spcBef>
            </a:pPr>
            <a:r>
              <a:rPr lang="en-US" altLang="en-US" sz="2800" dirty="0"/>
              <a:t>Interior walls and doors</a:t>
            </a:r>
          </a:p>
          <a:p>
            <a:pPr lvl="1">
              <a:spcBef>
                <a:spcPts val="600"/>
              </a:spcBef>
            </a:pPr>
            <a:r>
              <a:rPr lang="en-US" altLang="en-US" sz="2600" dirty="0"/>
              <a:t>Information asset security is sometimes compromised by improper construction of facility walls and doors.</a:t>
            </a:r>
          </a:p>
          <a:p>
            <a:pPr lvl="1">
              <a:spcBef>
                <a:spcPts val="600"/>
              </a:spcBef>
            </a:pPr>
            <a:r>
              <a:rPr lang="en-US" altLang="en-US" sz="2600" dirty="0"/>
              <a:t>Facility walls are typically either standard interior or firewall.</a:t>
            </a:r>
          </a:p>
          <a:p>
            <a:pPr lvl="1">
              <a:spcBef>
                <a:spcPts val="600"/>
              </a:spcBef>
            </a:pPr>
            <a:r>
              <a:rPr lang="en-US" altLang="en-US" sz="2600" dirty="0"/>
              <a:t>High-security areas must have firewall-grade walls to provide physical security against potential intruders and fires.</a:t>
            </a:r>
          </a:p>
          <a:p>
            <a:pPr lvl="1">
              <a:spcBef>
                <a:spcPts val="600"/>
              </a:spcBef>
            </a:pPr>
            <a:r>
              <a:rPr lang="en-US" altLang="en-US" sz="2600" dirty="0"/>
              <a:t>Doors allowing access to high-security rooms should be evaluated.</a:t>
            </a:r>
          </a:p>
          <a:p>
            <a:pPr lvl="1">
              <a:spcBef>
                <a:spcPts val="600"/>
              </a:spcBef>
            </a:pPr>
            <a:r>
              <a:rPr lang="en-US" altLang="en-US" sz="2600" dirty="0"/>
              <a:t>To secure doors, install push or crash bars on computer rooms and closets.</a:t>
            </a:r>
          </a:p>
        </p:txBody>
      </p:sp>
    </p:spTree>
    <p:extLst>
      <p:ext uri="{BB962C8B-B14F-4D97-AF65-F5344CB8AC3E}">
        <p14:creationId xmlns:p14="http://schemas.microsoft.com/office/powerpoint/2010/main" val="3867039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7200"/>
            <a:ext cx="8167631" cy="1038301"/>
          </a:xfrm>
        </p:spPr>
        <p:txBody>
          <a:bodyPr anchor="ctr">
            <a:noAutofit/>
          </a:bodyPr>
          <a:lstStyle/>
          <a:p>
            <a:r>
              <a:rPr lang="en-US" b="1" dirty="0"/>
              <a:t>Figure 9-1  </a:t>
            </a:r>
            <a:r>
              <a:rPr lang="en-US" dirty="0" smtClean="0"/>
              <a:t>Tailgating</a:t>
            </a:r>
            <a:endParaRPr lang="en-US" dirty="0"/>
          </a:p>
        </p:txBody>
      </p:sp>
      <p:pic>
        <p:nvPicPr>
          <p:cNvPr id="1026" name="Picture 2" descr="A figure shows two photos and the photo on the left shows a man swiping his card in card swiping machine. A notice is shown in the top left corner of the photo. The notice reads as, “3028, on a white background and ISA Lab on a black back ground.” A photo on the right shows the hand of a man on the door and trying to stop the door from closing.&#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905000"/>
            <a:ext cx="847810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32471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545" y="252857"/>
            <a:ext cx="7481455" cy="891286"/>
          </a:xfrm>
        </p:spPr>
        <p:txBody>
          <a:bodyPr anchor="ctr">
            <a:noAutofit/>
          </a:bodyPr>
          <a:lstStyle/>
          <a:p>
            <a:r>
              <a:rPr lang="en-US" b="1" dirty="0"/>
              <a:t>Figure 9-2  </a:t>
            </a:r>
            <a:r>
              <a:rPr lang="en-US" dirty="0" smtClean="0"/>
              <a:t>Locks</a:t>
            </a:r>
            <a:endParaRPr lang="en-US" dirty="0"/>
          </a:p>
        </p:txBody>
      </p:sp>
      <p:pic>
        <p:nvPicPr>
          <p:cNvPr id="2050" name="Picture 2" descr="An illustration shows three photos one on the left and two photos on the right. A photo on the left is labeled as, “Programmable/mechanical.” It shows a lock below the series of numbers from 1-5 with a circular button beside each numbers. A photo on the right shows two photos one below the other and is labeled as, “Electronic.” A photo on the top shows two locks with series of number buttons above the lock. A photo on the bottom shows a black back ground with series of number buttons on it.&#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4164" y="1600200"/>
            <a:ext cx="5403273" cy="443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566715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169" y="164058"/>
            <a:ext cx="8091431" cy="943910"/>
          </a:xfrm>
        </p:spPr>
        <p:txBody>
          <a:bodyPr anchor="ctr">
            <a:noAutofit/>
          </a:bodyPr>
          <a:lstStyle/>
          <a:p>
            <a:r>
              <a:rPr lang="en-US" b="1" dirty="0"/>
              <a:t>Figure 9-3  </a:t>
            </a:r>
            <a:r>
              <a:rPr lang="en-US" dirty="0" smtClean="0"/>
              <a:t>Mantraps</a:t>
            </a:r>
            <a:endParaRPr lang="en-US" dirty="0"/>
          </a:p>
        </p:txBody>
      </p:sp>
      <p:pic>
        <p:nvPicPr>
          <p:cNvPr id="3074" name="Picture 2" descr="An illustration shows box with two partitions. A horizontal partition is shown near the bottom of the box and a vertical partition is shown near the right end above the horizontal partition. A V shaped structure with a circle and a partition on the middle of the circle is shown on one side of V shape. The box to the left of vertical partition is labeled as, “Server room, Inner lock, outer lock.” The outer lock is labeled above the horizontal partition. The box to the right of vertical partition is labeled as, “Mantrap.” An arrow facing upwards is facing upwards below the horizontal partition. To the left of upward arrow a text labeled as, “Hallway” is shown. The text from the top to the right of box reads as, “2 – Intruder attempts to gain access and is denied access through inner lock, 3 – Intruder denied access to exit from outer lock and held until released by security, 1 – Intruder allowed in through outer lock.”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6705600" cy="4721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675122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Fire Security and Safety </a:t>
            </a:r>
            <a:endParaRPr lang="en-US" dirty="0"/>
          </a:p>
        </p:txBody>
      </p:sp>
      <p:sp>
        <p:nvSpPr>
          <p:cNvPr id="5" name="Content Placeholder 4"/>
          <p:cNvSpPr>
            <a:spLocks noGrp="1"/>
          </p:cNvSpPr>
          <p:nvPr>
            <p:ph idx="1"/>
          </p:nvPr>
        </p:nvSpPr>
        <p:spPr/>
        <p:txBody>
          <a:bodyPr>
            <a:normAutofit/>
          </a:bodyPr>
          <a:lstStyle/>
          <a:p>
            <a:pPr>
              <a:spcBef>
                <a:spcPts val="600"/>
              </a:spcBef>
            </a:pPr>
            <a:r>
              <a:rPr lang="en-US" altLang="en-US" dirty="0"/>
              <a:t>Most serious threat to safety of people who work in an organization is fire.</a:t>
            </a:r>
          </a:p>
          <a:p>
            <a:pPr>
              <a:spcBef>
                <a:spcPts val="600"/>
              </a:spcBef>
            </a:pPr>
            <a:r>
              <a:rPr lang="en-US" altLang="en-US" dirty="0"/>
              <a:t>Fires account for more property damage, personal injury, and death than any other threat.</a:t>
            </a:r>
          </a:p>
          <a:p>
            <a:pPr>
              <a:spcBef>
                <a:spcPts val="600"/>
              </a:spcBef>
            </a:pPr>
            <a:r>
              <a:rPr lang="en-US" altLang="en-US" dirty="0"/>
              <a:t>It is imperative that physical security plans implement strong measures to detect and respond to fires and fire hazards</a:t>
            </a:r>
            <a:r>
              <a:rPr lang="en-US" altLang="en-US" dirty="0" smtClean="0"/>
              <a:t>.</a:t>
            </a:r>
            <a:endParaRPr lang="en-US" altLang="en-US" dirty="0"/>
          </a:p>
        </p:txBody>
      </p:sp>
    </p:spTree>
    <p:extLst>
      <p:ext uri="{BB962C8B-B14F-4D97-AF65-F5344CB8AC3E}">
        <p14:creationId xmlns:p14="http://schemas.microsoft.com/office/powerpoint/2010/main" val="5214241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Fire Detection and </a:t>
            </a:r>
            <a:r>
              <a:rPr lang="en-US" altLang="en-US" dirty="0" smtClean="0"/>
              <a:t>Response (1 of 4)</a:t>
            </a:r>
            <a:endParaRPr lang="en-US" dirty="0"/>
          </a:p>
        </p:txBody>
      </p:sp>
      <p:sp>
        <p:nvSpPr>
          <p:cNvPr id="3" name="Content Placeholder 2"/>
          <p:cNvSpPr>
            <a:spLocks noGrp="1"/>
          </p:cNvSpPr>
          <p:nvPr>
            <p:ph idx="1"/>
          </p:nvPr>
        </p:nvSpPr>
        <p:spPr/>
        <p:txBody>
          <a:bodyPr/>
          <a:lstStyle/>
          <a:p>
            <a:pPr>
              <a:spcBef>
                <a:spcPts val="600"/>
              </a:spcBef>
            </a:pPr>
            <a:r>
              <a:rPr lang="en-US" altLang="en-US" dirty="0"/>
              <a:t>Fire suppression systems: devices installed and maintained to detect and respond to a fire, potential fire, or combustion danger.</a:t>
            </a:r>
          </a:p>
          <a:p>
            <a:pPr>
              <a:spcBef>
                <a:spcPts val="600"/>
              </a:spcBef>
            </a:pPr>
            <a:r>
              <a:rPr lang="en-US" altLang="en-US" dirty="0"/>
              <a:t>Flame point: temperature of ignition.</a:t>
            </a:r>
          </a:p>
          <a:p>
            <a:pPr>
              <a:spcBef>
                <a:spcPts val="600"/>
              </a:spcBef>
            </a:pPr>
            <a:r>
              <a:rPr lang="en-US" altLang="en-US" dirty="0"/>
              <a:t>Deny an environment of temperature, fuel, or oxygen</a:t>
            </a:r>
          </a:p>
          <a:p>
            <a:pPr lvl="1">
              <a:spcBef>
                <a:spcPts val="600"/>
              </a:spcBef>
            </a:pPr>
            <a:r>
              <a:rPr lang="en-US" altLang="en-US" dirty="0"/>
              <a:t>Water and water mist systems</a:t>
            </a:r>
          </a:p>
          <a:p>
            <a:pPr lvl="1">
              <a:spcBef>
                <a:spcPts val="600"/>
              </a:spcBef>
            </a:pPr>
            <a:r>
              <a:rPr lang="en-US" altLang="en-US" dirty="0"/>
              <a:t>Carbon dioxide systems</a:t>
            </a:r>
          </a:p>
          <a:p>
            <a:pPr lvl="1">
              <a:spcBef>
                <a:spcPts val="600"/>
              </a:spcBef>
            </a:pPr>
            <a:r>
              <a:rPr lang="en-US" altLang="en-US" dirty="0"/>
              <a:t>Soda acid systems</a:t>
            </a:r>
          </a:p>
          <a:p>
            <a:pPr lvl="1">
              <a:spcBef>
                <a:spcPts val="600"/>
              </a:spcBef>
            </a:pPr>
            <a:r>
              <a:rPr lang="en-US" altLang="en-US" dirty="0"/>
              <a:t>Gas-based </a:t>
            </a:r>
            <a:r>
              <a:rPr lang="en-US" altLang="en-US" dirty="0" smtClean="0"/>
              <a:t>systems</a:t>
            </a:r>
            <a:endParaRPr lang="en-US" altLang="en-US" dirty="0"/>
          </a:p>
        </p:txBody>
      </p:sp>
    </p:spTree>
    <p:extLst>
      <p:ext uri="{BB962C8B-B14F-4D97-AF65-F5344CB8AC3E}">
        <p14:creationId xmlns:p14="http://schemas.microsoft.com/office/powerpoint/2010/main" val="2694602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Fire Detection and Response </a:t>
            </a:r>
            <a:r>
              <a:rPr lang="en-US" altLang="en-US" dirty="0" smtClean="0"/>
              <a:t>(2 </a:t>
            </a:r>
            <a:r>
              <a:rPr lang="en-US" altLang="en-US" dirty="0"/>
              <a:t>of 4)</a:t>
            </a:r>
            <a:endParaRPr lang="en-US" dirty="0"/>
          </a:p>
        </p:txBody>
      </p:sp>
      <p:sp>
        <p:nvSpPr>
          <p:cNvPr id="3" name="Content Placeholder 2"/>
          <p:cNvSpPr>
            <a:spLocks noGrp="1"/>
          </p:cNvSpPr>
          <p:nvPr>
            <p:ph idx="1"/>
          </p:nvPr>
        </p:nvSpPr>
        <p:spPr/>
        <p:txBody>
          <a:bodyPr/>
          <a:lstStyle/>
          <a:p>
            <a:pPr>
              <a:spcBef>
                <a:spcPts val="600"/>
              </a:spcBef>
            </a:pPr>
            <a:r>
              <a:rPr lang="en-US" altLang="en-US" dirty="0"/>
              <a:t>Fire detection</a:t>
            </a:r>
          </a:p>
          <a:p>
            <a:pPr lvl="1">
              <a:spcBef>
                <a:spcPts val="600"/>
              </a:spcBef>
            </a:pPr>
            <a:r>
              <a:rPr lang="en-US" altLang="en-US" dirty="0"/>
              <a:t>Fire detection systems fall into two general categories: manual and automatic </a:t>
            </a:r>
          </a:p>
          <a:p>
            <a:pPr lvl="1">
              <a:spcBef>
                <a:spcPts val="600"/>
              </a:spcBef>
            </a:pPr>
            <a:r>
              <a:rPr lang="en-US" altLang="en-US" dirty="0"/>
              <a:t>To prevent an attacker slipping into offices during an evacuation, programs often designate a person from each office area to serve as a floor monitor</a:t>
            </a:r>
          </a:p>
          <a:p>
            <a:pPr lvl="1">
              <a:spcBef>
                <a:spcPts val="600"/>
              </a:spcBef>
            </a:pPr>
            <a:r>
              <a:rPr lang="en-US" altLang="en-US" dirty="0"/>
              <a:t>There are three basic types of fire detection systems: thermal detection, smoke detection, flame </a:t>
            </a:r>
            <a:r>
              <a:rPr lang="en-US" altLang="en-US" dirty="0" smtClean="0"/>
              <a:t>detection</a:t>
            </a:r>
            <a:endParaRPr lang="en-US" altLang="en-US" dirty="0"/>
          </a:p>
        </p:txBody>
      </p:sp>
    </p:spTree>
    <p:extLst>
      <p:ext uri="{BB962C8B-B14F-4D97-AF65-F5344CB8AC3E}">
        <p14:creationId xmlns:p14="http://schemas.microsoft.com/office/powerpoint/2010/main" val="25584228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Fire Detection and Response </a:t>
            </a:r>
            <a:r>
              <a:rPr lang="en-US" altLang="en-US" dirty="0" smtClean="0"/>
              <a:t>(3 </a:t>
            </a:r>
            <a:r>
              <a:rPr lang="en-US" altLang="en-US" dirty="0"/>
              <a:t>of 4)</a:t>
            </a:r>
            <a:endParaRPr lang="en-US" dirty="0"/>
          </a:p>
        </p:txBody>
      </p:sp>
      <p:sp>
        <p:nvSpPr>
          <p:cNvPr id="3" name="Content Placeholder 2"/>
          <p:cNvSpPr>
            <a:spLocks noGrp="1"/>
          </p:cNvSpPr>
          <p:nvPr>
            <p:ph idx="1"/>
          </p:nvPr>
        </p:nvSpPr>
        <p:spPr/>
        <p:txBody>
          <a:bodyPr/>
          <a:lstStyle/>
          <a:p>
            <a:pPr>
              <a:spcBef>
                <a:spcPts val="600"/>
              </a:spcBef>
            </a:pPr>
            <a:r>
              <a:rPr lang="en-US" altLang="en-US" dirty="0"/>
              <a:t>Fire suppression </a:t>
            </a:r>
          </a:p>
          <a:p>
            <a:pPr lvl="1">
              <a:spcBef>
                <a:spcPts val="600"/>
              </a:spcBef>
            </a:pPr>
            <a:r>
              <a:rPr lang="en-US" altLang="en-US" dirty="0"/>
              <a:t>Systems can consist of portable, manual, or automatic apparatus</a:t>
            </a:r>
          </a:p>
          <a:p>
            <a:pPr lvl="1">
              <a:spcBef>
                <a:spcPts val="600"/>
              </a:spcBef>
            </a:pPr>
            <a:r>
              <a:rPr lang="en-US" altLang="en-US" dirty="0"/>
              <a:t>Portable extinguishers are rated by the type of fire: Class A, Class B, Class C, Class D, Class K</a:t>
            </a:r>
          </a:p>
          <a:p>
            <a:pPr lvl="1">
              <a:spcBef>
                <a:spcPts val="600"/>
              </a:spcBef>
            </a:pPr>
            <a:r>
              <a:rPr lang="en-US" altLang="en-US" dirty="0"/>
              <a:t>Installed systems apply suppressive agents, usually either sprinkler or gaseous systems</a:t>
            </a:r>
          </a:p>
        </p:txBody>
      </p:sp>
    </p:spTree>
    <p:extLst>
      <p:ext uri="{BB962C8B-B14F-4D97-AF65-F5344CB8AC3E}">
        <p14:creationId xmlns:p14="http://schemas.microsoft.com/office/powerpoint/2010/main" val="13289546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Fire Detection and Response </a:t>
            </a:r>
            <a:r>
              <a:rPr lang="en-US" altLang="en-US" dirty="0" smtClean="0"/>
              <a:t>(4 </a:t>
            </a:r>
            <a:r>
              <a:rPr lang="en-US" altLang="en-US" dirty="0"/>
              <a:t>of 4)</a:t>
            </a:r>
            <a:endParaRPr lang="en-US" dirty="0"/>
          </a:p>
        </p:txBody>
      </p:sp>
      <p:sp>
        <p:nvSpPr>
          <p:cNvPr id="3" name="Content Placeholder 2"/>
          <p:cNvSpPr>
            <a:spLocks noGrp="1"/>
          </p:cNvSpPr>
          <p:nvPr>
            <p:ph idx="1"/>
          </p:nvPr>
        </p:nvSpPr>
        <p:spPr/>
        <p:txBody>
          <a:bodyPr/>
          <a:lstStyle/>
          <a:p>
            <a:pPr>
              <a:spcBef>
                <a:spcPts val="600"/>
              </a:spcBef>
            </a:pPr>
            <a:r>
              <a:rPr lang="en-US" altLang="en-US" dirty="0"/>
              <a:t>Gaseous emission systems</a:t>
            </a:r>
          </a:p>
          <a:p>
            <a:pPr lvl="1">
              <a:spcBef>
                <a:spcPts val="600"/>
              </a:spcBef>
            </a:pPr>
            <a:r>
              <a:rPr lang="en-US" altLang="en-US" dirty="0"/>
              <a:t>Until recently, two types of systems: carbon dioxide and </a:t>
            </a:r>
            <a:r>
              <a:rPr lang="en-US" altLang="en-US" dirty="0" err="1"/>
              <a:t>Halon</a:t>
            </a:r>
            <a:endParaRPr lang="en-US" altLang="en-US" dirty="0"/>
          </a:p>
          <a:p>
            <a:pPr lvl="1">
              <a:spcBef>
                <a:spcPts val="600"/>
              </a:spcBef>
            </a:pPr>
            <a:r>
              <a:rPr lang="en-US" altLang="en-US" dirty="0"/>
              <a:t>Carbon dioxide removes fire’s oxygen supply</a:t>
            </a:r>
          </a:p>
          <a:p>
            <a:pPr lvl="1">
              <a:spcBef>
                <a:spcPts val="600"/>
              </a:spcBef>
            </a:pPr>
            <a:r>
              <a:rPr lang="en-US" altLang="en-US" dirty="0" err="1"/>
              <a:t>Halon</a:t>
            </a:r>
            <a:r>
              <a:rPr lang="en-US" altLang="en-US" dirty="0"/>
              <a:t> is clean but has been classified as an ozone-depleting substance; new installations are prohibited</a:t>
            </a:r>
          </a:p>
          <a:p>
            <a:pPr lvl="1">
              <a:spcBef>
                <a:spcPts val="600"/>
              </a:spcBef>
            </a:pPr>
            <a:r>
              <a:rPr lang="en-US" altLang="en-US" dirty="0"/>
              <a:t>Alternative clean agents presented in Table 9-1 (found on page 521 in the text) are reported to be less effective than </a:t>
            </a:r>
            <a:r>
              <a:rPr lang="en-US" altLang="en-US" dirty="0" err="1" smtClean="0"/>
              <a:t>Halon</a:t>
            </a:r>
            <a:endParaRPr lang="en-US" altLang="en-US" dirty="0"/>
          </a:p>
        </p:txBody>
      </p:sp>
    </p:spTree>
    <p:extLst>
      <p:ext uri="{BB962C8B-B14F-4D97-AF65-F5344CB8AC3E}">
        <p14:creationId xmlns:p14="http://schemas.microsoft.com/office/powerpoint/2010/main" val="20393488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138989"/>
            <a:ext cx="8686800" cy="775411"/>
          </a:xfrm>
        </p:spPr>
        <p:txBody>
          <a:bodyPr anchor="ctr">
            <a:noAutofit/>
          </a:bodyPr>
          <a:lstStyle/>
          <a:p>
            <a:r>
              <a:rPr lang="en-US" b="1" dirty="0"/>
              <a:t>Figure 9-4  </a:t>
            </a:r>
            <a:r>
              <a:rPr lang="en-US" dirty="0"/>
              <a:t>Water sprinkler </a:t>
            </a:r>
            <a:r>
              <a:rPr lang="en-US" dirty="0" smtClean="0"/>
              <a:t>system</a:t>
            </a:r>
            <a:endParaRPr lang="en-US" dirty="0"/>
          </a:p>
        </p:txBody>
      </p:sp>
      <p:pic>
        <p:nvPicPr>
          <p:cNvPr id="4099" name="Picture 3" descr="A figure shows two photos on the left and the other on the right. A photo on the left shows a water sprinkler system and a photo on the right shows an enlarged view of stopper of water sprinkler system. The text below the photos reads as, “When the ambient temperature reaches 140–150º F, the liquid-filled glass tube trigger breaks, releasing the stopper and allowing water to hit the diffuser, spraying water throughout the area.”&#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88473"/>
            <a:ext cx="4737253" cy="2978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4"/>
          <p:cNvSpPr>
            <a:spLocks noGrp="1"/>
          </p:cNvSpPr>
          <p:nvPr>
            <p:ph sz="quarter" idx="10"/>
          </p:nvPr>
        </p:nvSpPr>
        <p:spPr>
          <a:xfrm>
            <a:off x="228600" y="4555998"/>
            <a:ext cx="8534400" cy="1693164"/>
          </a:xfrm>
        </p:spPr>
        <p:txBody>
          <a:bodyPr>
            <a:noAutofit/>
          </a:bodyPr>
          <a:lstStyle/>
          <a:p>
            <a:pPr>
              <a:spcBef>
                <a:spcPts val="600"/>
              </a:spcBef>
            </a:pPr>
            <a:r>
              <a:rPr lang="en-US" dirty="0"/>
              <a:t>When the ambient temperature </a:t>
            </a:r>
            <a:r>
              <a:rPr lang="en-US" dirty="0" smtClean="0"/>
              <a:t>reaches 140-150°F, the liquid- filled </a:t>
            </a:r>
            <a:r>
              <a:rPr lang="en-US" dirty="0"/>
              <a:t>glass tube </a:t>
            </a:r>
            <a:r>
              <a:rPr lang="en-US" dirty="0" smtClean="0"/>
              <a:t>trigger </a:t>
            </a:r>
            <a:r>
              <a:rPr lang="en-US" dirty="0"/>
              <a:t>breaks, releasing the stopper and </a:t>
            </a:r>
            <a:r>
              <a:rPr lang="en-US" dirty="0" smtClean="0"/>
              <a:t>allowing </a:t>
            </a:r>
            <a:r>
              <a:rPr lang="en-US" dirty="0"/>
              <a:t>water to hit the diffuser, spaying water </a:t>
            </a:r>
            <a:r>
              <a:rPr lang="en-US" dirty="0" smtClean="0"/>
              <a:t>throughout the </a:t>
            </a:r>
            <a:r>
              <a:rPr lang="en-US" dirty="0" smtClean="0"/>
              <a:t>area</a:t>
            </a:r>
            <a:endParaRPr lang="en-US" dirty="0"/>
          </a:p>
        </p:txBody>
      </p:sp>
    </p:spTree>
    <p:extLst>
      <p:ext uri="{BB962C8B-B14F-4D97-AF65-F5344CB8AC3E}">
        <p14:creationId xmlns:p14="http://schemas.microsoft.com/office/powerpoint/2010/main" val="2176175600"/>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41080" cy="1039091"/>
          </a:xfrm>
        </p:spPr>
        <p:txBody>
          <a:bodyPr anchor="ctr">
            <a:noAutofit/>
          </a:bodyPr>
          <a:lstStyle/>
          <a:p>
            <a:r>
              <a:rPr lang="en-US" sz="3200" b="1" dirty="0"/>
              <a:t>Figure 9-5  </a:t>
            </a:r>
            <a:r>
              <a:rPr lang="en-US" sz="3200" dirty="0"/>
              <a:t>Gaseous fire suppression </a:t>
            </a:r>
            <a:r>
              <a:rPr lang="en-US" sz="3200" dirty="0" smtClean="0"/>
              <a:t>system (1 of 2)</a:t>
            </a:r>
            <a:endParaRPr lang="en-US" sz="3200" dirty="0"/>
          </a:p>
        </p:txBody>
      </p:sp>
      <p:sp>
        <p:nvSpPr>
          <p:cNvPr id="3" name="Content Placeholder 2"/>
          <p:cNvSpPr>
            <a:spLocks noGrp="1"/>
          </p:cNvSpPr>
          <p:nvPr>
            <p:ph idx="1"/>
          </p:nvPr>
        </p:nvSpPr>
        <p:spPr/>
        <p:txBody>
          <a:bodyPr>
            <a:normAutofit/>
          </a:bodyPr>
          <a:lstStyle/>
          <a:p>
            <a:pPr>
              <a:spcBef>
                <a:spcPts val="600"/>
              </a:spcBef>
            </a:pPr>
            <a:r>
              <a:rPr lang="en-US" dirty="0" smtClean="0"/>
              <a:t>System Components:</a:t>
            </a:r>
          </a:p>
          <a:p>
            <a:pPr marL="914400" lvl="1" indent="-457200">
              <a:spcBef>
                <a:spcPts val="600"/>
              </a:spcBef>
              <a:buFont typeface="+mj-lt"/>
              <a:buAutoNum type="arabicPeriod"/>
            </a:pPr>
            <a:r>
              <a:rPr lang="en-US" sz="2600" dirty="0" smtClean="0"/>
              <a:t>Discharge nozzles</a:t>
            </a:r>
          </a:p>
          <a:p>
            <a:pPr marL="914400" lvl="1" indent="-457200">
              <a:spcBef>
                <a:spcPts val="600"/>
              </a:spcBef>
              <a:buFont typeface="+mj-lt"/>
              <a:buAutoNum type="arabicPeriod"/>
            </a:pPr>
            <a:r>
              <a:rPr lang="en-US" sz="2600" dirty="0" smtClean="0"/>
              <a:t>Piping</a:t>
            </a:r>
          </a:p>
          <a:p>
            <a:pPr marL="914400" lvl="1" indent="-457200">
              <a:spcBef>
                <a:spcPts val="600"/>
              </a:spcBef>
              <a:buFont typeface="+mj-lt"/>
              <a:buAutoNum type="arabicPeriod"/>
            </a:pPr>
            <a:r>
              <a:rPr lang="en-US" sz="2600" dirty="0" smtClean="0"/>
              <a:t>Control panel</a:t>
            </a:r>
          </a:p>
          <a:p>
            <a:pPr marL="914400" lvl="1" indent="-457200">
              <a:spcBef>
                <a:spcPts val="600"/>
              </a:spcBef>
              <a:buFont typeface="+mj-lt"/>
              <a:buAutoNum type="arabicPeriod"/>
            </a:pPr>
            <a:r>
              <a:rPr lang="en-US" sz="2600" dirty="0" smtClean="0"/>
              <a:t>Discharge or warning alarms (s)</a:t>
            </a:r>
          </a:p>
          <a:p>
            <a:pPr marL="914400" lvl="1" indent="-457200">
              <a:spcBef>
                <a:spcPts val="600"/>
              </a:spcBef>
              <a:buFont typeface="+mj-lt"/>
              <a:buAutoNum type="arabicPeriod"/>
            </a:pPr>
            <a:r>
              <a:rPr lang="en-US" sz="2600" dirty="0" smtClean="0"/>
              <a:t>Hazard warning or caution signs</a:t>
            </a:r>
          </a:p>
          <a:p>
            <a:pPr marL="914400" lvl="1" indent="-457200">
              <a:spcBef>
                <a:spcPts val="600"/>
              </a:spcBef>
              <a:buFont typeface="+mj-lt"/>
              <a:buAutoNum type="arabicPeriod"/>
            </a:pPr>
            <a:r>
              <a:rPr lang="en-US" sz="2600" dirty="0" smtClean="0"/>
              <a:t>Automatic fire detection devices (s)</a:t>
            </a:r>
          </a:p>
          <a:p>
            <a:pPr marL="914400" lvl="1" indent="-457200">
              <a:spcBef>
                <a:spcPts val="600"/>
              </a:spcBef>
              <a:buFont typeface="+mj-lt"/>
              <a:buAutoNum type="arabicPeriod"/>
            </a:pPr>
            <a:r>
              <a:rPr lang="en-US" sz="2600" dirty="0" smtClean="0"/>
              <a:t>Manual discharge station (s)</a:t>
            </a:r>
          </a:p>
          <a:p>
            <a:pPr marL="914400" lvl="1" indent="-457200">
              <a:spcBef>
                <a:spcPts val="600"/>
              </a:spcBef>
              <a:buFont typeface="+mj-lt"/>
              <a:buAutoNum type="arabicPeriod"/>
            </a:pPr>
            <a:r>
              <a:rPr lang="en-US" sz="2600" dirty="0" smtClean="0"/>
              <a:t>Storage container (s) and extinguishing agent</a:t>
            </a:r>
            <a:endParaRPr lang="en-US" sz="2600" dirty="0"/>
          </a:p>
        </p:txBody>
      </p:sp>
    </p:spTree>
    <p:extLst>
      <p:ext uri="{BB962C8B-B14F-4D97-AF65-F5344CB8AC3E}">
        <p14:creationId xmlns:p14="http://schemas.microsoft.com/office/powerpoint/2010/main" val="538501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52400" y="58408"/>
            <a:ext cx="8915400" cy="1469972"/>
          </a:xfrm>
        </p:spPr>
        <p:txBody>
          <a:bodyPr anchor="ctr">
            <a:noAutofit/>
          </a:bodyPr>
          <a:lstStyle/>
          <a:p>
            <a:r>
              <a:rPr lang="en-US" b="1" dirty="0"/>
              <a:t>Figure 9-5  </a:t>
            </a:r>
            <a:r>
              <a:rPr lang="en-US" dirty="0"/>
              <a:t>Gaseous fire suppression </a:t>
            </a:r>
            <a:r>
              <a:rPr lang="en-US" dirty="0" smtClean="0"/>
              <a:t>system (2 of 2)</a:t>
            </a:r>
            <a:endParaRPr lang="en-US" dirty="0"/>
          </a:p>
        </p:txBody>
      </p:sp>
      <p:pic>
        <p:nvPicPr>
          <p:cNvPr id="4" name="Picture 3" descr="An illustration shows a room like structure shown in side view. A door is shown and is numbered as, 5 with a notice “Warning” and a triangle is shown below it in the front view of room. A rectangular box like structure is numbered as, 4 and is shown to the left of the door. Many cylindrical structures numbered as, 8 are shown on the side wall with many pipes attached to it. Many pipes with nozzle numbered as, 1 and a big nozzle in the center of room and is labeled as, 6 at the bottom is shown on the top view of room. A pipe near the front view of room is numbered as, 2. An “Exit” door is shown at the back side of room. A box like structure is shown to the right of door and is numbered as, 7. A box is shown on the top of back wall and is numbered as, 4. A box is shown on the side wall beside the cylinder and many pipes emerges from the box and is numbered as, 3. The text to the left of the room reads as, “1 Discharge nozzles, 2 Piping, 3 Control panel, 4 Discharge or warning alarm(s), 5 Hazard warning or caution signs, 6 Automatic fire detection device(s), 7 Manual discharge station(s), 8 Storage container(s) &amp; extinguishing agent.”&#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23999"/>
            <a:ext cx="5410200" cy="4364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302953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altLang="en-US" dirty="0"/>
              <a:t>Failure of Supporting Utilities and </a:t>
            </a:r>
            <a:br>
              <a:rPr lang="en-US" altLang="en-US" dirty="0"/>
            </a:br>
            <a:r>
              <a:rPr lang="en-US" altLang="en-US" dirty="0"/>
              <a:t>Structural Collapse</a:t>
            </a:r>
            <a:endParaRPr lang="en-US" dirty="0"/>
          </a:p>
        </p:txBody>
      </p:sp>
      <p:sp>
        <p:nvSpPr>
          <p:cNvPr id="5" name="Content Placeholder 4"/>
          <p:cNvSpPr>
            <a:spLocks noGrp="1"/>
          </p:cNvSpPr>
          <p:nvPr>
            <p:ph idx="1"/>
          </p:nvPr>
        </p:nvSpPr>
        <p:spPr/>
        <p:txBody>
          <a:bodyPr>
            <a:normAutofit/>
          </a:bodyPr>
          <a:lstStyle/>
          <a:p>
            <a:pPr>
              <a:spcBef>
                <a:spcPts val="600"/>
              </a:spcBef>
            </a:pPr>
            <a:r>
              <a:rPr lang="en-US" altLang="en-US" dirty="0"/>
              <a:t>Supporting utilities (heating, ventilation, and air conditioning; power; water) have significant impact on continued safe operation of a facility.</a:t>
            </a:r>
          </a:p>
          <a:p>
            <a:pPr>
              <a:spcBef>
                <a:spcPts val="600"/>
              </a:spcBef>
            </a:pPr>
            <a:r>
              <a:rPr lang="en-US" altLang="en-US" dirty="0"/>
              <a:t>Each utility must be properly managed to prevent potential damage to information and information systems</a:t>
            </a:r>
            <a:r>
              <a:rPr lang="en-US" altLang="en-US" sz="2800" dirty="0" smtClean="0"/>
              <a:t>.</a:t>
            </a:r>
            <a:endParaRPr lang="en-US" altLang="en-US" sz="2800" dirty="0"/>
          </a:p>
        </p:txBody>
      </p:sp>
    </p:spTree>
    <p:extLst>
      <p:ext uri="{BB962C8B-B14F-4D97-AF65-F5344CB8AC3E}">
        <p14:creationId xmlns:p14="http://schemas.microsoft.com/office/powerpoint/2010/main" val="3468252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709"/>
            <a:ext cx="9067800" cy="1039091"/>
          </a:xfrm>
        </p:spPr>
        <p:txBody>
          <a:bodyPr>
            <a:noAutofit/>
          </a:bodyPr>
          <a:lstStyle/>
          <a:p>
            <a:r>
              <a:rPr lang="en-US" altLang="en-US" dirty="0"/>
              <a:t>Heating, Ventilation, and Air </a:t>
            </a:r>
            <a:r>
              <a:rPr lang="en-US" altLang="en-US" dirty="0" smtClean="0"/>
              <a:t>Conditioning (1 of 5)</a:t>
            </a:r>
            <a:endParaRPr lang="en-US" dirty="0"/>
          </a:p>
        </p:txBody>
      </p:sp>
      <p:sp>
        <p:nvSpPr>
          <p:cNvPr id="3" name="Content Placeholder 2"/>
          <p:cNvSpPr>
            <a:spLocks noGrp="1"/>
          </p:cNvSpPr>
          <p:nvPr>
            <p:ph idx="1"/>
          </p:nvPr>
        </p:nvSpPr>
        <p:spPr/>
        <p:txBody>
          <a:bodyPr/>
          <a:lstStyle/>
          <a:p>
            <a:pPr>
              <a:spcBef>
                <a:spcPts val="600"/>
              </a:spcBef>
            </a:pPr>
            <a:r>
              <a:rPr lang="en-US" altLang="en-US" dirty="0"/>
              <a:t>Areas within heating, ventilation, and air conditioning (HVAC) systems that can cause damage to information systems include:</a:t>
            </a:r>
          </a:p>
          <a:p>
            <a:pPr lvl="1">
              <a:spcBef>
                <a:spcPts val="600"/>
              </a:spcBef>
            </a:pPr>
            <a:r>
              <a:rPr lang="en-US" altLang="en-US" dirty="0"/>
              <a:t>Temperature</a:t>
            </a:r>
          </a:p>
          <a:p>
            <a:pPr lvl="1">
              <a:spcBef>
                <a:spcPts val="600"/>
              </a:spcBef>
            </a:pPr>
            <a:r>
              <a:rPr lang="en-US" altLang="en-US" dirty="0"/>
              <a:t>Filtration</a:t>
            </a:r>
          </a:p>
          <a:p>
            <a:pPr lvl="1">
              <a:spcBef>
                <a:spcPts val="600"/>
              </a:spcBef>
            </a:pPr>
            <a:r>
              <a:rPr lang="en-US" altLang="en-US" dirty="0"/>
              <a:t>Humidity </a:t>
            </a:r>
          </a:p>
          <a:p>
            <a:pPr lvl="1">
              <a:spcBef>
                <a:spcPts val="600"/>
              </a:spcBef>
            </a:pPr>
            <a:r>
              <a:rPr lang="en-US" altLang="en-US" dirty="0"/>
              <a:t>Static </a:t>
            </a:r>
            <a:r>
              <a:rPr lang="en-US" altLang="en-US" dirty="0" smtClean="0"/>
              <a:t>electricity</a:t>
            </a:r>
          </a:p>
        </p:txBody>
      </p:sp>
    </p:spTree>
    <p:extLst>
      <p:ext uri="{BB962C8B-B14F-4D97-AF65-F5344CB8AC3E}">
        <p14:creationId xmlns:p14="http://schemas.microsoft.com/office/powerpoint/2010/main" val="35787348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709"/>
            <a:ext cx="8762999" cy="1039091"/>
          </a:xfrm>
        </p:spPr>
        <p:txBody>
          <a:bodyPr>
            <a:noAutofit/>
          </a:bodyPr>
          <a:lstStyle/>
          <a:p>
            <a:r>
              <a:rPr lang="en-US" altLang="en-US" dirty="0"/>
              <a:t>Heating, Ventilation, and Air Conditioning </a:t>
            </a:r>
            <a:r>
              <a:rPr lang="en-US" altLang="en-US" dirty="0" smtClean="0"/>
              <a:t>(2 of </a:t>
            </a:r>
            <a:r>
              <a:rPr lang="en-US" altLang="en-US" dirty="0"/>
              <a:t>5</a:t>
            </a:r>
            <a:r>
              <a:rPr lang="en-US" altLang="en-US" dirty="0" smtClean="0"/>
              <a:t>)</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Ventilation shafts</a:t>
            </a:r>
          </a:p>
          <a:p>
            <a:pPr lvl="1">
              <a:spcBef>
                <a:spcPts val="600"/>
              </a:spcBef>
            </a:pPr>
            <a:r>
              <a:rPr lang="en-US" altLang="en-US" dirty="0"/>
              <a:t>While ductwork is small in residential buildings, in large commercial buildings, it can be large enough for an individual to climb through</a:t>
            </a:r>
          </a:p>
          <a:p>
            <a:pPr lvl="1">
              <a:spcBef>
                <a:spcPts val="600"/>
              </a:spcBef>
            </a:pPr>
            <a:r>
              <a:rPr lang="en-US" altLang="en-US" dirty="0"/>
              <a:t>If ducts are large, security can install wire mesh grids at various points to compartmentalize the </a:t>
            </a:r>
            <a:r>
              <a:rPr lang="en-US" altLang="en-US" dirty="0" smtClean="0"/>
              <a:t>runs</a:t>
            </a:r>
          </a:p>
          <a:p>
            <a:pPr>
              <a:spcBef>
                <a:spcPts val="600"/>
              </a:spcBef>
            </a:pPr>
            <a:r>
              <a:rPr lang="en-US" altLang="en-US" dirty="0"/>
              <a:t>Power management and conditioning</a:t>
            </a:r>
          </a:p>
          <a:p>
            <a:pPr lvl="1">
              <a:spcBef>
                <a:spcPts val="600"/>
              </a:spcBef>
            </a:pPr>
            <a:r>
              <a:rPr lang="en-US" altLang="en-US" dirty="0"/>
              <a:t>Power systems used by information-processing equipment must be properly installed and correctly </a:t>
            </a:r>
            <a:r>
              <a:rPr lang="en-US" altLang="en-US" dirty="0" smtClean="0"/>
              <a:t>grounded</a:t>
            </a:r>
            <a:endParaRPr lang="en-US" altLang="en-US" dirty="0"/>
          </a:p>
        </p:txBody>
      </p:sp>
    </p:spTree>
    <p:extLst>
      <p:ext uri="{BB962C8B-B14F-4D97-AF65-F5344CB8AC3E}">
        <p14:creationId xmlns:p14="http://schemas.microsoft.com/office/powerpoint/2010/main" val="136391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709"/>
            <a:ext cx="8839200" cy="1039091"/>
          </a:xfrm>
        </p:spPr>
        <p:txBody>
          <a:bodyPr>
            <a:noAutofit/>
          </a:bodyPr>
          <a:lstStyle/>
          <a:p>
            <a:r>
              <a:rPr lang="en-US" altLang="en-US" dirty="0"/>
              <a:t>Heating, Ventilation, and Air Conditioning </a:t>
            </a:r>
            <a:r>
              <a:rPr lang="en-US" altLang="en-US" dirty="0" smtClean="0"/>
              <a:t>(3 </a:t>
            </a:r>
            <a:r>
              <a:rPr lang="en-US" altLang="en-US" dirty="0"/>
              <a:t>of 5</a:t>
            </a:r>
            <a:r>
              <a:rPr lang="en-US" altLang="en-US" dirty="0" smtClean="0"/>
              <a:t>)</a:t>
            </a:r>
            <a:endParaRPr lang="en-US" dirty="0"/>
          </a:p>
        </p:txBody>
      </p:sp>
      <p:sp>
        <p:nvSpPr>
          <p:cNvPr id="3" name="Content Placeholder 2"/>
          <p:cNvSpPr>
            <a:spLocks noGrp="1"/>
          </p:cNvSpPr>
          <p:nvPr>
            <p:ph idx="1"/>
          </p:nvPr>
        </p:nvSpPr>
        <p:spPr/>
        <p:txBody>
          <a:bodyPr/>
          <a:lstStyle/>
          <a:p>
            <a:pPr marL="742950" lvl="2" indent="-342900">
              <a:spcBef>
                <a:spcPts val="600"/>
              </a:spcBef>
              <a:buSzPct val="100000"/>
              <a:buFont typeface="Arial" pitchFamily="34" charset="0"/>
              <a:buChar char="–"/>
            </a:pPr>
            <a:r>
              <a:rPr lang="en-US" altLang="en-US" sz="2400" dirty="0"/>
              <a:t>Noise that interferes with the normal 60-Hertz cycle can result in inaccurate time clocks or unreliable internal clocks inside the CPU</a:t>
            </a:r>
          </a:p>
          <a:p>
            <a:pPr>
              <a:spcBef>
                <a:spcPts val="600"/>
              </a:spcBef>
            </a:pPr>
            <a:r>
              <a:rPr lang="en-US" altLang="en-US" dirty="0"/>
              <a:t>Grounding and amperage</a:t>
            </a:r>
          </a:p>
          <a:p>
            <a:pPr lvl="1">
              <a:spcBef>
                <a:spcPts val="600"/>
              </a:spcBef>
            </a:pPr>
            <a:r>
              <a:rPr lang="en-US" altLang="en-US" dirty="0"/>
              <a:t>Grounding ensures that the returning flow of current is properly discharged to ground</a:t>
            </a:r>
          </a:p>
          <a:p>
            <a:pPr lvl="1">
              <a:spcBef>
                <a:spcPts val="600"/>
              </a:spcBef>
            </a:pPr>
            <a:r>
              <a:rPr lang="en-US" dirty="0"/>
              <a:t>Ground fault circuit interruption (GFIC)</a:t>
            </a:r>
            <a:r>
              <a:rPr lang="en-US" altLang="en-US" dirty="0"/>
              <a:t> capable of quickly identifying and interrupting a ground fault</a:t>
            </a:r>
          </a:p>
          <a:p>
            <a:pPr lvl="1">
              <a:spcBef>
                <a:spcPts val="600"/>
              </a:spcBef>
            </a:pPr>
            <a:r>
              <a:rPr lang="en-US" altLang="en-US" dirty="0"/>
              <a:t>Overloading a circuit can create a load exceeding electrical cable’s rating, increasing the risk of overheating and </a:t>
            </a:r>
            <a:r>
              <a:rPr lang="en-US" altLang="en-US" dirty="0" smtClean="0"/>
              <a:t>fire</a:t>
            </a:r>
            <a:endParaRPr lang="en-US" altLang="en-US" dirty="0"/>
          </a:p>
        </p:txBody>
      </p:sp>
    </p:spTree>
    <p:extLst>
      <p:ext uri="{BB962C8B-B14F-4D97-AF65-F5344CB8AC3E}">
        <p14:creationId xmlns:p14="http://schemas.microsoft.com/office/powerpoint/2010/main" val="19844102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1039091"/>
          </a:xfrm>
        </p:spPr>
        <p:txBody>
          <a:bodyPr>
            <a:noAutofit/>
          </a:bodyPr>
          <a:lstStyle/>
          <a:p>
            <a:r>
              <a:rPr lang="en-US" altLang="en-US" dirty="0"/>
              <a:t>Heating, Ventilation, and Air Conditioning </a:t>
            </a:r>
            <a:r>
              <a:rPr lang="en-US" altLang="en-US" dirty="0" smtClean="0"/>
              <a:t>(4 </a:t>
            </a:r>
            <a:r>
              <a:rPr lang="en-US" altLang="en-US" dirty="0"/>
              <a:t>of </a:t>
            </a:r>
            <a:r>
              <a:rPr lang="en-US" altLang="en-US" dirty="0" smtClean="0"/>
              <a:t>5)</a:t>
            </a:r>
            <a:endParaRPr lang="en-US" dirty="0"/>
          </a:p>
        </p:txBody>
      </p:sp>
      <p:sp>
        <p:nvSpPr>
          <p:cNvPr id="3" name="Content Placeholder 2"/>
          <p:cNvSpPr>
            <a:spLocks noGrp="1"/>
          </p:cNvSpPr>
          <p:nvPr>
            <p:ph idx="1"/>
          </p:nvPr>
        </p:nvSpPr>
        <p:spPr/>
        <p:txBody>
          <a:bodyPr/>
          <a:lstStyle/>
          <a:p>
            <a:pPr>
              <a:spcBef>
                <a:spcPts val="600"/>
              </a:spcBef>
            </a:pPr>
            <a:r>
              <a:rPr lang="en-US" altLang="en-US" dirty="0"/>
              <a:t>Uninterruptible power supply (UPS)</a:t>
            </a:r>
          </a:p>
          <a:p>
            <a:pPr lvl="1">
              <a:spcBef>
                <a:spcPts val="600"/>
              </a:spcBef>
            </a:pPr>
            <a:r>
              <a:rPr lang="en-US" altLang="en-US" dirty="0"/>
              <a:t>In case of power outage, UPS is the backup power source for major computing systems</a:t>
            </a:r>
          </a:p>
          <a:p>
            <a:pPr lvl="1">
              <a:spcBef>
                <a:spcPts val="600"/>
              </a:spcBef>
            </a:pPr>
            <a:r>
              <a:rPr lang="en-US" altLang="en-US" dirty="0"/>
              <a:t>Basic UPS configurations: </a:t>
            </a:r>
          </a:p>
          <a:p>
            <a:pPr lvl="2">
              <a:spcBef>
                <a:spcPts val="600"/>
              </a:spcBef>
            </a:pPr>
            <a:r>
              <a:rPr lang="en-US" altLang="en-US" dirty="0"/>
              <a:t>Standby</a:t>
            </a:r>
          </a:p>
          <a:p>
            <a:pPr lvl="2">
              <a:spcBef>
                <a:spcPts val="600"/>
              </a:spcBef>
            </a:pPr>
            <a:r>
              <a:rPr lang="en-US" altLang="en-US" dirty="0"/>
              <a:t>Line-interactive</a:t>
            </a:r>
          </a:p>
          <a:p>
            <a:pPr lvl="2">
              <a:spcBef>
                <a:spcPts val="600"/>
              </a:spcBef>
            </a:pPr>
            <a:r>
              <a:rPr lang="en-US" altLang="en-US" dirty="0"/>
              <a:t>Standby online hybrid</a:t>
            </a:r>
          </a:p>
          <a:p>
            <a:pPr lvl="2">
              <a:spcBef>
                <a:spcPts val="600"/>
              </a:spcBef>
            </a:pPr>
            <a:r>
              <a:rPr lang="en-US" altLang="en-US" dirty="0"/>
              <a:t>Standby </a:t>
            </a:r>
            <a:r>
              <a:rPr lang="en-US" altLang="en-US" dirty="0" err="1"/>
              <a:t>ferroresonant</a:t>
            </a:r>
            <a:endParaRPr lang="en-US" altLang="en-US" dirty="0"/>
          </a:p>
          <a:p>
            <a:pPr lvl="2">
              <a:spcBef>
                <a:spcPts val="600"/>
              </a:spcBef>
            </a:pPr>
            <a:r>
              <a:rPr lang="en-US" altLang="en-US" dirty="0"/>
              <a:t>Double conversion online</a:t>
            </a:r>
          </a:p>
          <a:p>
            <a:pPr lvl="2">
              <a:spcBef>
                <a:spcPts val="600"/>
              </a:spcBef>
            </a:pPr>
            <a:r>
              <a:rPr lang="en-US" altLang="en-US" dirty="0"/>
              <a:t>Data conversion </a:t>
            </a:r>
            <a:r>
              <a:rPr lang="en-US" altLang="en-US" dirty="0" smtClean="0"/>
              <a:t>online</a:t>
            </a:r>
            <a:endParaRPr lang="en-US" altLang="en-US" dirty="0"/>
          </a:p>
        </p:txBody>
      </p:sp>
    </p:spTree>
    <p:extLst>
      <p:ext uri="{BB962C8B-B14F-4D97-AF65-F5344CB8AC3E}">
        <p14:creationId xmlns:p14="http://schemas.microsoft.com/office/powerpoint/2010/main" val="3699969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709"/>
            <a:ext cx="8915399" cy="1039091"/>
          </a:xfrm>
        </p:spPr>
        <p:txBody>
          <a:bodyPr>
            <a:noAutofit/>
          </a:bodyPr>
          <a:lstStyle/>
          <a:p>
            <a:r>
              <a:rPr lang="en-US" altLang="en-US" dirty="0"/>
              <a:t>Heating, Ventilation, and Air Conditioning </a:t>
            </a:r>
            <a:r>
              <a:rPr lang="en-US" altLang="en-US" dirty="0" smtClean="0"/>
              <a:t>(5 </a:t>
            </a:r>
            <a:r>
              <a:rPr lang="en-US" altLang="en-US" dirty="0"/>
              <a:t>of 5</a:t>
            </a:r>
            <a:r>
              <a:rPr lang="en-US" altLang="en-US" dirty="0" smtClean="0"/>
              <a:t>)</a:t>
            </a:r>
            <a:endParaRPr lang="en-US" dirty="0"/>
          </a:p>
        </p:txBody>
      </p:sp>
      <p:sp>
        <p:nvSpPr>
          <p:cNvPr id="3" name="Content Placeholder 2"/>
          <p:cNvSpPr>
            <a:spLocks noGrp="1"/>
          </p:cNvSpPr>
          <p:nvPr>
            <p:ph idx="1"/>
          </p:nvPr>
        </p:nvSpPr>
        <p:spPr/>
        <p:txBody>
          <a:bodyPr/>
          <a:lstStyle/>
          <a:p>
            <a:pPr>
              <a:spcBef>
                <a:spcPts val="600"/>
              </a:spcBef>
            </a:pPr>
            <a:r>
              <a:rPr lang="en-US" altLang="en-US" dirty="0"/>
              <a:t>Emergency shutoff</a:t>
            </a:r>
          </a:p>
          <a:p>
            <a:pPr lvl="1">
              <a:spcBef>
                <a:spcPts val="600"/>
              </a:spcBef>
            </a:pPr>
            <a:r>
              <a:rPr lang="en-US" altLang="en-US" dirty="0"/>
              <a:t>Important aspect of power management is the ability to stop power immediately if the current represents a risk to human or machine safety</a:t>
            </a:r>
          </a:p>
          <a:p>
            <a:pPr lvl="1">
              <a:spcBef>
                <a:spcPts val="600"/>
              </a:spcBef>
            </a:pPr>
            <a:r>
              <a:rPr lang="en-US" altLang="en-US" dirty="0"/>
              <a:t>Most computer rooms and wiring closets are equipped with an emergency power </a:t>
            </a:r>
            <a:r>
              <a:rPr lang="en-US" altLang="en-US" dirty="0" smtClean="0"/>
              <a:t>shutoff</a:t>
            </a:r>
            <a:endParaRPr lang="en-US" altLang="en-US" dirty="0"/>
          </a:p>
        </p:txBody>
      </p:sp>
    </p:spTree>
    <p:extLst>
      <p:ext uri="{BB962C8B-B14F-4D97-AF65-F5344CB8AC3E}">
        <p14:creationId xmlns:p14="http://schemas.microsoft.com/office/powerpoint/2010/main" val="703677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9168" y="129026"/>
            <a:ext cx="8396231" cy="1090174"/>
          </a:xfrm>
        </p:spPr>
        <p:txBody>
          <a:bodyPr anchor="ctr">
            <a:noAutofit/>
          </a:bodyPr>
          <a:lstStyle/>
          <a:p>
            <a:pPr marL="0" indent="0">
              <a:lnSpc>
                <a:spcPct val="100000"/>
              </a:lnSpc>
              <a:spcBef>
                <a:spcPts val="0"/>
              </a:spcBef>
              <a:tabLst>
                <a:tab pos="4397375" algn="l"/>
              </a:tabLst>
            </a:pPr>
            <a:r>
              <a:rPr lang="en-US" b="1" dirty="0"/>
              <a:t>Table 9-1  </a:t>
            </a:r>
            <a:r>
              <a:rPr lang="en-US" dirty="0"/>
              <a:t>Static Charge Damage in </a:t>
            </a:r>
            <a:r>
              <a:rPr lang="en-US" dirty="0" smtClean="0"/>
              <a:t>Computers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711510194"/>
              </p:ext>
            </p:extLst>
          </p:nvPr>
        </p:nvGraphicFramePr>
        <p:xfrm>
          <a:off x="762000" y="1983186"/>
          <a:ext cx="7620000" cy="3732089"/>
        </p:xfrm>
        <a:graphic>
          <a:graphicData uri="http://schemas.openxmlformats.org/drawingml/2006/table">
            <a:tbl>
              <a:tblPr firstRow="1" bandRow="1">
                <a:tableStyleId>{5940675A-B579-460E-94D1-54222C63F5DA}</a:tableStyleId>
              </a:tblPr>
              <a:tblGrid>
                <a:gridCol w="3810000"/>
                <a:gridCol w="3810000"/>
              </a:tblGrid>
              <a:tr h="381000">
                <a:tc>
                  <a:txBody>
                    <a:bodyPr/>
                    <a:lstStyle/>
                    <a:p>
                      <a:pPr algn="ctr" fontAlgn="t"/>
                      <a:r>
                        <a:rPr lang="en-US" sz="1600" b="1" i="0" u="none" strike="noStrike" dirty="0">
                          <a:solidFill>
                            <a:schemeClr val="bg1"/>
                          </a:solidFill>
                          <a:effectLst/>
                          <a:latin typeface="Arial" pitchFamily="34" charset="0"/>
                          <a:cs typeface="Arial" pitchFamily="34" charset="0"/>
                        </a:rPr>
                        <a:t>Voltage</a:t>
                      </a:r>
                    </a:p>
                  </a:txBody>
                  <a:tcPr marL="7620" marR="7620" marT="7620" marB="0" anchor="ctr">
                    <a:solidFill>
                      <a:srgbClr val="364162"/>
                    </a:solidFill>
                  </a:tcPr>
                </a:tc>
                <a:tc>
                  <a:txBody>
                    <a:bodyPr/>
                    <a:lstStyle/>
                    <a:p>
                      <a:pPr algn="ctr" fontAlgn="t"/>
                      <a:r>
                        <a:rPr lang="en-US" sz="1600" b="1" i="0" u="none" strike="noStrike" dirty="0">
                          <a:solidFill>
                            <a:schemeClr val="bg1"/>
                          </a:solidFill>
                          <a:effectLst/>
                          <a:latin typeface="Arial" pitchFamily="34" charset="0"/>
                          <a:cs typeface="Arial" pitchFamily="34" charset="0"/>
                        </a:rPr>
                        <a:t>Possible Damage</a:t>
                      </a:r>
                    </a:p>
                  </a:txBody>
                  <a:tcPr marL="7620" marR="7620" marT="7620" marB="0" anchor="ctr">
                    <a:solidFill>
                      <a:srgbClr val="364162"/>
                    </a:solidFill>
                  </a:tcPr>
                </a:tc>
              </a:tr>
              <a:tr h="565345">
                <a:tc>
                  <a:txBody>
                    <a:bodyPr/>
                    <a:lstStyle/>
                    <a:p>
                      <a:pPr algn="ctr" fontAlgn="t"/>
                      <a:r>
                        <a:rPr lang="en-US" sz="1600" b="0" i="0" u="none" strike="noStrike" dirty="0">
                          <a:solidFill>
                            <a:srgbClr val="000000"/>
                          </a:solidFill>
                          <a:effectLst/>
                          <a:latin typeface="Arial" pitchFamily="34" charset="0"/>
                          <a:cs typeface="Arial" pitchFamily="34" charset="0"/>
                        </a:rPr>
                        <a:t>40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High probability of damage to sensitive circuits and transistors</a:t>
                      </a:r>
                    </a:p>
                  </a:txBody>
                  <a:tcPr marL="7620" marR="7620" marT="7620" marB="0" anchor="ctr"/>
                </a:tc>
              </a:tr>
              <a:tr h="535110">
                <a:tc>
                  <a:txBody>
                    <a:bodyPr/>
                    <a:lstStyle/>
                    <a:p>
                      <a:pPr algn="ctr" fontAlgn="t"/>
                      <a:r>
                        <a:rPr lang="en-US" sz="1600" b="0" i="0" u="none" strike="noStrike" dirty="0">
                          <a:solidFill>
                            <a:srgbClr val="000000"/>
                          </a:solidFill>
                          <a:effectLst/>
                          <a:latin typeface="Arial" pitchFamily="34" charset="0"/>
                          <a:cs typeface="Arial" pitchFamily="34" charset="0"/>
                        </a:rPr>
                        <a:t>1.000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Scrambles monitor display</a:t>
                      </a:r>
                    </a:p>
                  </a:txBody>
                  <a:tcPr marL="7620" marR="7620" marT="7620" marB="0" anchor="ctr"/>
                </a:tc>
              </a:tr>
              <a:tr h="535110">
                <a:tc>
                  <a:txBody>
                    <a:bodyPr/>
                    <a:lstStyle/>
                    <a:p>
                      <a:pPr algn="ctr" fontAlgn="t"/>
                      <a:r>
                        <a:rPr lang="en-US" sz="1600" b="0" i="0" u="none" strike="noStrike" dirty="0">
                          <a:solidFill>
                            <a:srgbClr val="000000"/>
                          </a:solidFill>
                          <a:effectLst/>
                          <a:latin typeface="Arial" pitchFamily="34" charset="0"/>
                          <a:cs typeface="Arial" pitchFamily="34" charset="0"/>
                        </a:rPr>
                        <a:t>1,500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Can cause disk drive data loss</a:t>
                      </a:r>
                    </a:p>
                  </a:txBody>
                  <a:tcPr marL="7620" marR="7620" marT="7620" marB="0" anchor="ctr"/>
                </a:tc>
              </a:tr>
              <a:tr h="565345">
                <a:tc>
                  <a:txBody>
                    <a:bodyPr/>
                    <a:lstStyle/>
                    <a:p>
                      <a:pPr algn="ctr" fontAlgn="t"/>
                      <a:r>
                        <a:rPr lang="en-US" sz="1600" b="0" i="0" u="none" strike="noStrike">
                          <a:solidFill>
                            <a:srgbClr val="000000"/>
                          </a:solidFill>
                          <a:effectLst/>
                          <a:latin typeface="Arial" pitchFamily="34" charset="0"/>
                          <a:cs typeface="Arial" pitchFamily="34" charset="0"/>
                        </a:rPr>
                        <a:t>2,000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High probability of system shutdown</a:t>
                      </a:r>
                    </a:p>
                  </a:txBody>
                  <a:tcPr marL="7620" marR="7620" marT="7620" marB="0" anchor="ctr"/>
                </a:tc>
              </a:tr>
              <a:tr h="535110">
                <a:tc>
                  <a:txBody>
                    <a:bodyPr/>
                    <a:lstStyle/>
                    <a:p>
                      <a:pPr algn="ctr" fontAlgn="t"/>
                      <a:r>
                        <a:rPr lang="en-US" sz="1600" b="0" i="0" u="none" strike="noStrike">
                          <a:solidFill>
                            <a:srgbClr val="000000"/>
                          </a:solidFill>
                          <a:effectLst/>
                          <a:latin typeface="Arial" pitchFamily="34" charset="0"/>
                          <a:cs typeface="Arial" pitchFamily="34" charset="0"/>
                        </a:rPr>
                        <a:t>4000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May jam printers</a:t>
                      </a:r>
                    </a:p>
                  </a:txBody>
                  <a:tcPr marL="7620" marR="7620" marT="7620" marB="0" anchor="ctr"/>
                </a:tc>
              </a:tr>
              <a:tr h="615069">
                <a:tc>
                  <a:txBody>
                    <a:bodyPr/>
                    <a:lstStyle/>
                    <a:p>
                      <a:pPr algn="ctr" fontAlgn="t"/>
                      <a:r>
                        <a:rPr lang="en-US" sz="1600" b="0" i="0" u="none" strike="noStrike">
                          <a:solidFill>
                            <a:srgbClr val="000000"/>
                          </a:solidFill>
                          <a:effectLst/>
                          <a:latin typeface="Arial" pitchFamily="34" charset="0"/>
                          <a:cs typeface="Arial" pitchFamily="34" charset="0"/>
                        </a:rPr>
                        <a:t>17,000</a:t>
                      </a:r>
                    </a:p>
                  </a:txBody>
                  <a:tcPr marL="7620" marR="7620" marT="7620" marB="0" anchor="ctr"/>
                </a:tc>
                <a:tc>
                  <a:txBody>
                    <a:bodyPr/>
                    <a:lstStyle/>
                    <a:p>
                      <a:pPr algn="ctr" fontAlgn="t"/>
                      <a:r>
                        <a:rPr lang="en-US" sz="1600" b="0" i="0" u="none" strike="noStrike" dirty="0">
                          <a:solidFill>
                            <a:srgbClr val="000000"/>
                          </a:solidFill>
                          <a:effectLst/>
                          <a:latin typeface="Arial" pitchFamily="34" charset="0"/>
                          <a:cs typeface="Arial" pitchFamily="34" charset="0"/>
                        </a:rPr>
                        <a:t>Causes certain and permanent damage to almost all </a:t>
                      </a:r>
                      <a:r>
                        <a:rPr lang="en-US" sz="1600" b="0" i="0" u="none" strike="noStrike" dirty="0" err="1">
                          <a:solidFill>
                            <a:srgbClr val="000000"/>
                          </a:solidFill>
                          <a:effectLst/>
                          <a:latin typeface="Arial" pitchFamily="34" charset="0"/>
                          <a:cs typeface="Arial" pitchFamily="34" charset="0"/>
                        </a:rPr>
                        <a:t>microcircuitry</a:t>
                      </a:r>
                      <a:endParaRPr lang="en-US" sz="1600" b="0" i="0" u="none" strike="noStrike" dirty="0">
                        <a:solidFill>
                          <a:srgbClr val="000000"/>
                        </a:solidFill>
                        <a:effectLst/>
                        <a:latin typeface="Arial" pitchFamily="34" charset="0"/>
                        <a:cs typeface="Arial" pitchFamily="34" charset="0"/>
                      </a:endParaRPr>
                    </a:p>
                  </a:txBody>
                  <a:tcPr marL="7620" marR="7620" marT="7620" marB="0" anchor="ctr"/>
                </a:tc>
              </a:tr>
            </a:tbl>
          </a:graphicData>
        </a:graphic>
      </p:graphicFrame>
    </p:spTree>
    <p:extLst>
      <p:ext uri="{BB962C8B-B14F-4D97-AF65-F5344CB8AC3E}">
        <p14:creationId xmlns:p14="http://schemas.microsoft.com/office/powerpoint/2010/main" val="2552869138"/>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5400"/>
            <a:ext cx="8763000" cy="1574800"/>
          </a:xfrm>
        </p:spPr>
        <p:txBody>
          <a:bodyPr anchor="ctr">
            <a:noAutofit/>
          </a:bodyPr>
          <a:lstStyle/>
          <a:p>
            <a:r>
              <a:rPr lang="en-US" b="1" dirty="0"/>
              <a:t>Figure 9-6  </a:t>
            </a:r>
            <a:r>
              <a:rPr lang="en-US" dirty="0"/>
              <a:t>Types of uninterruptible power </a:t>
            </a:r>
            <a:r>
              <a:rPr lang="en-US" dirty="0" smtClean="0"/>
              <a:t>supplies</a:t>
            </a:r>
            <a:endParaRPr lang="en-US" dirty="0"/>
          </a:p>
        </p:txBody>
      </p:sp>
      <p:pic>
        <p:nvPicPr>
          <p:cNvPr id="6146" name="Picture 2" descr="A figure shows five illustrations with three illustrations on the left side and two illustrations on the right side. The first illustration labeled as, “Standby UPS” on the left shows an input arrow from the right pointing to a box labeled as, “Surge Suppressor.” The output from “Surge Suppressor” is given to a box labeled as, “Filter.” The output from “Filter” points to a box labeled as, “Transfer switch.” A dotted arrow from the input arrow points to a box labeled as, “Battery Charger.” The output from “Battery Charger” points to a box labeled as, “Battery.” The output from Battery points to a box labeled as, “Inverter.” The output from Inverter points to a box labeled as, “Transfer switch.” The second illustration labeled as, “Line interactive UPS” shows an input arrow to a box labeled as, “Transfer Switch.” The output from Transfer switch points to a box labeled as, “Inverter.” The output from Inverter is labeled as, “charging (normal)” points to a box labeled as, “Battery.” An arrow from Battery is labeled as, “Discharging (Power fail)” points to “Inverter.” The third illustration is labeled as, “Standby-ferro UPS.” An input arrow from right points to a box labeled as, “Transfer switch.” The output from Transfer switch points to a box labeled as, “Transformer.” A dotted line from input points to a box labeled as, “Battery charger.” The output from “Battery charger” points to a box labeled as, “Inverter.” The output from Inverter points to a box labeled as, “Transformer.” A battery like illustration pointing upwards and downwards is shown below the arrow between “Battery charger” and “Inverter.” The fourth illustration on the right is labeled as, “Double conversion online UPS” shows an input arrow pointing to a box labeled as, “Rectifier.” The output from Rectifier points to a box labeled as, “Inverter.” A battery like illustration pointing upwards and downwards is shown below the arrow between “Rectifier” and “Inverter.” A dotted line connects the input of Rectifier and the output of Inverter to a box labeled as, “Static Bypass Switch.” The fifth illustration labeled as, “Delta conversion online UPS” shows an input to “Delta Transformer.” The output of “Delta Transformer” points to a box labeled as, “Delta Converter.” A double sided arrow is shown between a box labeled as, “Main Inverter” and “Delta Converter.” A battery like illustration pointing upwards and downwards is shown below the arrow between “Main Inverter” and “Delta Converter.” A dotted line connects the input of Delta Transformer and the output of Main Inverter to a box labeled as, “Static Bypass Switch.”&#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52600"/>
            <a:ext cx="6595533" cy="4406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9835220"/>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Water Problems</a:t>
            </a:r>
            <a:endParaRPr lang="en-US" dirty="0"/>
          </a:p>
        </p:txBody>
      </p:sp>
      <p:sp>
        <p:nvSpPr>
          <p:cNvPr id="5" name="Content Placeholder 4"/>
          <p:cNvSpPr>
            <a:spLocks noGrp="1"/>
          </p:cNvSpPr>
          <p:nvPr>
            <p:ph idx="1"/>
          </p:nvPr>
        </p:nvSpPr>
        <p:spPr/>
        <p:txBody>
          <a:bodyPr>
            <a:normAutofit/>
          </a:bodyPr>
          <a:lstStyle/>
          <a:p>
            <a:pPr>
              <a:spcBef>
                <a:spcPts val="600"/>
              </a:spcBef>
            </a:pPr>
            <a:r>
              <a:rPr lang="en-US" altLang="en-US" dirty="0"/>
              <a:t>Lack of water poses problem to systems, including fire suppression and air-conditioning systems.</a:t>
            </a:r>
          </a:p>
          <a:p>
            <a:pPr>
              <a:spcBef>
                <a:spcPts val="600"/>
              </a:spcBef>
            </a:pPr>
            <a:r>
              <a:rPr lang="en-US" altLang="en-US" dirty="0"/>
              <a:t>Surplus of water, or water pressure, poses a real threat (flooding, leaks).</a:t>
            </a:r>
          </a:p>
          <a:p>
            <a:pPr>
              <a:spcBef>
                <a:spcPts val="600"/>
              </a:spcBef>
            </a:pPr>
            <a:r>
              <a:rPr lang="en-US" altLang="en-US" dirty="0"/>
              <a:t>Very important to integrate water detection systems into alarm systems that regulate overall facility operations</a:t>
            </a:r>
            <a:r>
              <a:rPr lang="en-US" altLang="en-US" dirty="0" smtClean="0"/>
              <a:t>.</a:t>
            </a:r>
            <a:endParaRPr lang="en-US" altLang="en-US" dirty="0"/>
          </a:p>
        </p:txBody>
      </p:sp>
    </p:spTree>
    <p:extLst>
      <p:ext uri="{BB962C8B-B14F-4D97-AF65-F5344CB8AC3E}">
        <p14:creationId xmlns:p14="http://schemas.microsoft.com/office/powerpoint/2010/main" val="4041552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Structural Collapse </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Unavoidable environmental factors/forces can cause failures in structures that house an organization.</a:t>
            </a:r>
          </a:p>
          <a:p>
            <a:pPr>
              <a:spcBef>
                <a:spcPts val="600"/>
              </a:spcBef>
            </a:pPr>
            <a:r>
              <a:rPr lang="en-US" altLang="en-US" dirty="0"/>
              <a:t>Structures are designed and constructed with specific load limits; overloading these limits results in structural failure and potential injury or loss of life.</a:t>
            </a:r>
          </a:p>
          <a:p>
            <a:pPr>
              <a:spcBef>
                <a:spcPts val="600"/>
              </a:spcBef>
            </a:pPr>
            <a:r>
              <a:rPr lang="en-US" altLang="en-US" dirty="0"/>
              <a:t>Periodic inspections by qualified civil engineers assist in identifying potentially dangerous structural conditions</a:t>
            </a:r>
            <a:r>
              <a:rPr lang="en-US" altLang="en-US" dirty="0" smtClean="0"/>
              <a:t>.</a:t>
            </a:r>
            <a:endParaRPr lang="en-US" altLang="en-US" dirty="0"/>
          </a:p>
        </p:txBody>
      </p:sp>
    </p:spTree>
    <p:extLst>
      <p:ext uri="{BB962C8B-B14F-4D97-AF65-F5344CB8AC3E}">
        <p14:creationId xmlns:p14="http://schemas.microsoft.com/office/powerpoint/2010/main" val="3166091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Maintenance of Facility Systems</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Physical security must be constantly documented, evaluated, and tested.</a:t>
            </a:r>
          </a:p>
          <a:p>
            <a:pPr>
              <a:spcBef>
                <a:spcPts val="600"/>
              </a:spcBef>
            </a:pPr>
            <a:r>
              <a:rPr lang="en-US" altLang="en-US" dirty="0"/>
              <a:t>Documentation of facility’s configuration, operation, and function should be integrated into disaster recovery plans and standard operating procedures.</a:t>
            </a:r>
          </a:p>
          <a:p>
            <a:pPr>
              <a:spcBef>
                <a:spcPts val="600"/>
              </a:spcBef>
            </a:pPr>
            <a:r>
              <a:rPr lang="en-US" altLang="en-US" dirty="0"/>
              <a:t>Testing helps improve the facility’s physical security and identify weak points. </a:t>
            </a:r>
          </a:p>
        </p:txBody>
      </p:sp>
    </p:spTree>
    <p:extLst>
      <p:ext uri="{BB962C8B-B14F-4D97-AF65-F5344CB8AC3E}">
        <p14:creationId xmlns:p14="http://schemas.microsoft.com/office/powerpoint/2010/main" val="1659199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Interception of Data </a:t>
            </a:r>
            <a:endParaRPr lang="en-US" dirty="0"/>
          </a:p>
        </p:txBody>
      </p:sp>
      <p:sp>
        <p:nvSpPr>
          <p:cNvPr id="3" name="Content Placeholder 2"/>
          <p:cNvSpPr>
            <a:spLocks noGrp="1"/>
          </p:cNvSpPr>
          <p:nvPr>
            <p:ph idx="1"/>
          </p:nvPr>
        </p:nvSpPr>
        <p:spPr/>
        <p:txBody>
          <a:bodyPr/>
          <a:lstStyle/>
          <a:p>
            <a:pPr>
              <a:spcBef>
                <a:spcPts val="600"/>
              </a:spcBef>
            </a:pPr>
            <a:r>
              <a:rPr lang="en-US" altLang="en-US" dirty="0"/>
              <a:t>Three methods of data interception:</a:t>
            </a:r>
          </a:p>
          <a:p>
            <a:pPr lvl="1">
              <a:spcBef>
                <a:spcPts val="600"/>
              </a:spcBef>
            </a:pPr>
            <a:r>
              <a:rPr lang="en-US" altLang="en-US" dirty="0"/>
              <a:t>Direct observation</a:t>
            </a:r>
          </a:p>
          <a:p>
            <a:pPr lvl="1">
              <a:spcBef>
                <a:spcPts val="600"/>
              </a:spcBef>
            </a:pPr>
            <a:r>
              <a:rPr lang="en-US" altLang="en-US" dirty="0"/>
              <a:t>Interception of data transmission</a:t>
            </a:r>
          </a:p>
          <a:p>
            <a:pPr lvl="1">
              <a:spcBef>
                <a:spcPts val="600"/>
              </a:spcBef>
            </a:pPr>
            <a:r>
              <a:rPr lang="en-US" altLang="en-US" dirty="0"/>
              <a:t>Electromagnetic interception</a:t>
            </a:r>
          </a:p>
          <a:p>
            <a:pPr>
              <a:spcBef>
                <a:spcPts val="600"/>
              </a:spcBef>
            </a:pPr>
            <a:r>
              <a:rPr lang="en-US" altLang="en-US" dirty="0"/>
              <a:t>U.S. government developed TEMPEST program to reduce the risk of electromagnetic radiation (EMR) monitoring</a:t>
            </a:r>
            <a:r>
              <a:rPr lang="en-US" altLang="en-US" dirty="0" smtClean="0"/>
              <a:t>.</a:t>
            </a:r>
            <a:endParaRPr lang="en-US" altLang="en-US" dirty="0"/>
          </a:p>
        </p:txBody>
      </p:sp>
    </p:spTree>
    <p:extLst>
      <p:ext uri="{BB962C8B-B14F-4D97-AF65-F5344CB8AC3E}">
        <p14:creationId xmlns:p14="http://schemas.microsoft.com/office/powerpoint/2010/main" val="813975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718" y="27709"/>
            <a:ext cx="7966363" cy="1039091"/>
          </a:xfrm>
        </p:spPr>
        <p:txBody>
          <a:bodyPr>
            <a:noAutofit/>
          </a:bodyPr>
          <a:lstStyle/>
          <a:p>
            <a:r>
              <a:rPr lang="en-US" altLang="en-US" dirty="0"/>
              <a:t>Securing Mobile and Portable </a:t>
            </a:r>
            <a:r>
              <a:rPr lang="en-US" altLang="en-US" dirty="0" smtClean="0"/>
              <a:t>Systems (1 of 2)</a:t>
            </a:r>
            <a:endParaRPr lang="en-US" dirty="0"/>
          </a:p>
        </p:txBody>
      </p:sp>
      <p:sp>
        <p:nvSpPr>
          <p:cNvPr id="3" name="Content Placeholder 2"/>
          <p:cNvSpPr>
            <a:spLocks noGrp="1"/>
          </p:cNvSpPr>
          <p:nvPr>
            <p:ph idx="1"/>
          </p:nvPr>
        </p:nvSpPr>
        <p:spPr/>
        <p:txBody>
          <a:bodyPr/>
          <a:lstStyle/>
          <a:p>
            <a:pPr>
              <a:spcBef>
                <a:spcPts val="600"/>
              </a:spcBef>
            </a:pPr>
            <a:r>
              <a:rPr lang="en-US" altLang="en-US" dirty="0"/>
              <a:t>Mobile computing requires more security than typical computing infrastructures on the organization’s premises.</a:t>
            </a:r>
          </a:p>
          <a:p>
            <a:pPr>
              <a:spcBef>
                <a:spcPts val="600"/>
              </a:spcBef>
            </a:pPr>
            <a:r>
              <a:rPr lang="en-US" altLang="en-US" dirty="0"/>
              <a:t>Many mobile computing systems </a:t>
            </a:r>
          </a:p>
          <a:p>
            <a:pPr lvl="1">
              <a:spcBef>
                <a:spcPts val="600"/>
              </a:spcBef>
            </a:pPr>
            <a:r>
              <a:rPr lang="en-US" altLang="en-US" dirty="0"/>
              <a:t>Have corporate information stored within them.</a:t>
            </a:r>
          </a:p>
          <a:p>
            <a:pPr lvl="1">
              <a:spcBef>
                <a:spcPts val="600"/>
              </a:spcBef>
            </a:pPr>
            <a:r>
              <a:rPr lang="en-US" altLang="en-US" dirty="0"/>
              <a:t>Are configured to facilitate user’s access into organization’s secure computing facilities</a:t>
            </a:r>
            <a:r>
              <a:rPr lang="en-US" altLang="en-US" dirty="0" smtClean="0"/>
              <a:t>.</a:t>
            </a:r>
            <a:endParaRPr lang="en-US" altLang="en-US" dirty="0"/>
          </a:p>
        </p:txBody>
      </p:sp>
    </p:spTree>
    <p:extLst>
      <p:ext uri="{BB962C8B-B14F-4D97-AF65-F5344CB8AC3E}">
        <p14:creationId xmlns:p14="http://schemas.microsoft.com/office/powerpoint/2010/main" val="23679262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39091"/>
          </a:xfrm>
        </p:spPr>
        <p:txBody>
          <a:bodyPr>
            <a:noAutofit/>
          </a:bodyPr>
          <a:lstStyle/>
          <a:p>
            <a:r>
              <a:rPr lang="en-US" altLang="en-US" dirty="0"/>
              <a:t>Securing Mobile and Portable </a:t>
            </a:r>
            <a:r>
              <a:rPr lang="en-US" altLang="en-US" dirty="0" smtClean="0"/>
              <a:t>Systems (2 of 2)</a:t>
            </a:r>
            <a:endParaRPr lang="en-US" dirty="0"/>
          </a:p>
        </p:txBody>
      </p:sp>
      <p:sp>
        <p:nvSpPr>
          <p:cNvPr id="3" name="Content Placeholder 2"/>
          <p:cNvSpPr>
            <a:spLocks noGrp="1"/>
          </p:cNvSpPr>
          <p:nvPr>
            <p:ph idx="1"/>
          </p:nvPr>
        </p:nvSpPr>
        <p:spPr/>
        <p:txBody>
          <a:bodyPr/>
          <a:lstStyle/>
          <a:p>
            <a:pPr>
              <a:spcBef>
                <a:spcPts val="600"/>
              </a:spcBef>
            </a:pPr>
            <a:r>
              <a:rPr lang="en-US" altLang="en-US" dirty="0"/>
              <a:t>Controls support security and retrieval of lost or stolen laptops </a:t>
            </a:r>
          </a:p>
          <a:p>
            <a:pPr lvl="1">
              <a:spcBef>
                <a:spcPts val="600"/>
              </a:spcBef>
            </a:pPr>
            <a:r>
              <a:rPr lang="en-US" altLang="en-US" dirty="0" err="1"/>
              <a:t>CompuTrace</a:t>
            </a:r>
            <a:r>
              <a:rPr lang="en-US" altLang="en-US" dirty="0"/>
              <a:t> software, stored on laptop; reports to a central monitoring center</a:t>
            </a:r>
          </a:p>
          <a:p>
            <a:pPr lvl="1">
              <a:spcBef>
                <a:spcPts val="600"/>
              </a:spcBef>
            </a:pPr>
            <a:r>
              <a:rPr lang="en-US" altLang="en-US" dirty="0"/>
              <a:t>Burglar alarms are made up of a PC card that contains a motion </a:t>
            </a:r>
            <a:r>
              <a:rPr lang="en-US" altLang="en-US" dirty="0" smtClean="0"/>
              <a:t>detector</a:t>
            </a:r>
            <a:endParaRPr lang="en-US" altLang="en-US" dirty="0"/>
          </a:p>
        </p:txBody>
      </p:sp>
    </p:spTree>
    <p:extLst>
      <p:ext uri="{BB962C8B-B14F-4D97-AF65-F5344CB8AC3E}">
        <p14:creationId xmlns:p14="http://schemas.microsoft.com/office/powerpoint/2010/main" val="2224794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698" y="215189"/>
            <a:ext cx="8835902" cy="1004011"/>
          </a:xfrm>
        </p:spPr>
        <p:txBody>
          <a:bodyPr anchor="ctr">
            <a:noAutofit/>
          </a:bodyPr>
          <a:lstStyle/>
          <a:p>
            <a:r>
              <a:rPr lang="en-US" b="1" dirty="0"/>
              <a:t>Figure 9-7  </a:t>
            </a:r>
            <a:r>
              <a:rPr lang="en-US" dirty="0"/>
              <a:t>Laptop </a:t>
            </a:r>
            <a:r>
              <a:rPr lang="en-US" dirty="0" smtClean="0"/>
              <a:t>recovery</a:t>
            </a:r>
            <a:endParaRPr lang="en-US" dirty="0"/>
          </a:p>
        </p:txBody>
      </p:sp>
      <p:pic>
        <p:nvPicPr>
          <p:cNvPr id="7170" name="Picture 2" descr="An illustration shows three images. The first image shows a laptop and the text below the laptop reads as, “Laptop loaded with trace software, periodically reports connection and electronic serial number.” An arrow points to the second image. The second image shows a person in typing something in a computer and a telephone to the right of computer. Some art works are on the wall at the background of computer. The text below the second image reads as, “Central monitoring station verifies ownership and status.” An arrow points to the third image. The third image shows a policeman holding both his hands together at his back. The text below the third image reads as, “After report of theft, central monitoring provides information to law enforcement.”&#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400"/>
            <a:ext cx="8472022"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767912"/>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Remote Computing Security</a:t>
            </a:r>
            <a:endParaRPr lang="en-US" dirty="0"/>
          </a:p>
        </p:txBody>
      </p:sp>
      <p:sp>
        <p:nvSpPr>
          <p:cNvPr id="5" name="Content Placeholder 4"/>
          <p:cNvSpPr>
            <a:spLocks noGrp="1"/>
          </p:cNvSpPr>
          <p:nvPr>
            <p:ph idx="1"/>
          </p:nvPr>
        </p:nvSpPr>
        <p:spPr/>
        <p:txBody>
          <a:bodyPr>
            <a:normAutofit/>
          </a:bodyPr>
          <a:lstStyle/>
          <a:p>
            <a:pPr>
              <a:spcBef>
                <a:spcPts val="600"/>
              </a:spcBef>
            </a:pPr>
            <a:r>
              <a:rPr lang="en-US" altLang="en-US" dirty="0"/>
              <a:t>Remote site computing involves variety of computing sites outside the organization’s main facility.</a:t>
            </a:r>
          </a:p>
          <a:p>
            <a:pPr>
              <a:spcBef>
                <a:spcPts val="600"/>
              </a:spcBef>
            </a:pPr>
            <a:r>
              <a:rPr lang="en-US" altLang="en-US" dirty="0"/>
              <a:t>Telecommuting: off-site computing using Internet, dial-up, or leased point-to-point links.</a:t>
            </a:r>
          </a:p>
          <a:p>
            <a:pPr>
              <a:spcBef>
                <a:spcPts val="600"/>
              </a:spcBef>
            </a:pPr>
            <a:r>
              <a:rPr lang="en-US" altLang="en-US" dirty="0"/>
              <a:t>Employees may need to access networks on business trips; telecommuters need access from home systems or satellite offices. </a:t>
            </a:r>
          </a:p>
          <a:p>
            <a:pPr>
              <a:spcBef>
                <a:spcPts val="600"/>
              </a:spcBef>
            </a:pPr>
            <a:r>
              <a:rPr lang="en-US" altLang="en-US" dirty="0"/>
              <a:t>Telecommuter’s computers must be made more secure than organization’s systems.</a:t>
            </a:r>
          </a:p>
        </p:txBody>
      </p:sp>
    </p:spTree>
    <p:extLst>
      <p:ext uri="{BB962C8B-B14F-4D97-AF65-F5344CB8AC3E}">
        <p14:creationId xmlns:p14="http://schemas.microsoft.com/office/powerpoint/2010/main" val="883515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t>Special Considerations for Physical </a:t>
            </a:r>
            <a:br>
              <a:rPr lang="en-US" altLang="en-US" dirty="0"/>
            </a:br>
            <a:r>
              <a:rPr lang="en-US" altLang="en-US" dirty="0"/>
              <a:t>Security Threats</a:t>
            </a:r>
            <a:endParaRPr lang="en-US" dirty="0"/>
          </a:p>
        </p:txBody>
      </p:sp>
      <p:sp>
        <p:nvSpPr>
          <p:cNvPr id="3" name="Content Placeholder 2"/>
          <p:cNvSpPr>
            <a:spLocks noGrp="1"/>
          </p:cNvSpPr>
          <p:nvPr>
            <p:ph idx="1"/>
          </p:nvPr>
        </p:nvSpPr>
        <p:spPr/>
        <p:txBody>
          <a:bodyPr/>
          <a:lstStyle/>
          <a:p>
            <a:pPr>
              <a:spcBef>
                <a:spcPts val="600"/>
              </a:spcBef>
            </a:pPr>
            <a:r>
              <a:rPr lang="en-US" altLang="en-US" dirty="0"/>
              <a:t>Develop physical security in-house or outsource?</a:t>
            </a:r>
          </a:p>
          <a:p>
            <a:pPr lvl="1">
              <a:spcBef>
                <a:spcPts val="600"/>
              </a:spcBef>
            </a:pPr>
            <a:r>
              <a:rPr lang="en-US" altLang="en-US" sz="2600" dirty="0"/>
              <a:t>Many qualified and professional agencies </a:t>
            </a:r>
          </a:p>
          <a:p>
            <a:pPr lvl="1">
              <a:spcBef>
                <a:spcPts val="600"/>
              </a:spcBef>
            </a:pPr>
            <a:r>
              <a:rPr lang="en-US" altLang="en-US" sz="2600" dirty="0"/>
              <a:t>Benefit of outsourcing includes gaining experience and knowledge of agencies</a:t>
            </a:r>
          </a:p>
          <a:p>
            <a:pPr lvl="1">
              <a:spcBef>
                <a:spcPts val="600"/>
              </a:spcBef>
            </a:pPr>
            <a:r>
              <a:rPr lang="en-US" altLang="en-US" sz="2600" dirty="0"/>
              <a:t>Downside includes high expense, loss of control over individual components, and level of trust that must be placed in another company</a:t>
            </a:r>
          </a:p>
          <a:p>
            <a:pPr>
              <a:spcBef>
                <a:spcPts val="600"/>
              </a:spcBef>
            </a:pPr>
            <a:r>
              <a:rPr lang="en-US" altLang="en-US" dirty="0"/>
              <a:t>Social engineering: use of people skills to obtain information from employees that should not be released</a:t>
            </a:r>
          </a:p>
        </p:txBody>
      </p:sp>
    </p:spTree>
    <p:extLst>
      <p:ext uri="{BB962C8B-B14F-4D97-AF65-F5344CB8AC3E}">
        <p14:creationId xmlns:p14="http://schemas.microsoft.com/office/powerpoint/2010/main" val="1790718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Inventory Management</a:t>
            </a:r>
            <a:endParaRPr lang="en-US" dirty="0"/>
          </a:p>
        </p:txBody>
      </p:sp>
      <p:sp>
        <p:nvSpPr>
          <p:cNvPr id="3" name="Content Placeholder 2"/>
          <p:cNvSpPr>
            <a:spLocks noGrp="1"/>
          </p:cNvSpPr>
          <p:nvPr>
            <p:ph idx="1"/>
          </p:nvPr>
        </p:nvSpPr>
        <p:spPr/>
        <p:txBody>
          <a:bodyPr>
            <a:normAutofit/>
          </a:bodyPr>
          <a:lstStyle/>
          <a:p>
            <a:pPr>
              <a:spcBef>
                <a:spcPts val="600"/>
              </a:spcBef>
            </a:pPr>
            <a:r>
              <a:rPr lang="en-US" altLang="en-US" dirty="0"/>
              <a:t>Computing equipment should be inventoried and inspected on a regular basis.</a:t>
            </a:r>
          </a:p>
          <a:p>
            <a:pPr>
              <a:spcBef>
                <a:spcPts val="600"/>
              </a:spcBef>
            </a:pPr>
            <a:r>
              <a:rPr lang="en-US" altLang="en-US" dirty="0"/>
              <a:t>Classified information should also be inventoried and managed.</a:t>
            </a:r>
          </a:p>
          <a:p>
            <a:pPr>
              <a:spcBef>
                <a:spcPts val="600"/>
              </a:spcBef>
            </a:pPr>
            <a:r>
              <a:rPr lang="en-US" altLang="en-US" dirty="0"/>
              <a:t>Physical security of computing equipment, data storage media, and classified documents varies for each organization</a:t>
            </a:r>
            <a:r>
              <a:rPr lang="en-US" altLang="en-US" dirty="0" smtClean="0"/>
              <a:t>.</a:t>
            </a:r>
            <a:endParaRPr lang="en-US" altLang="en-US" dirty="0"/>
          </a:p>
        </p:txBody>
      </p:sp>
    </p:spTree>
    <p:extLst>
      <p:ext uri="{BB962C8B-B14F-4D97-AF65-F5344CB8AC3E}">
        <p14:creationId xmlns:p14="http://schemas.microsoft.com/office/powerpoint/2010/main" val="230240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a:t>
            </a:r>
            <a:endParaRPr lang="en-US" dirty="0"/>
          </a:p>
        </p:txBody>
      </p:sp>
      <p:sp>
        <p:nvSpPr>
          <p:cNvPr id="3" name="Content Placeholder 2"/>
          <p:cNvSpPr>
            <a:spLocks noGrp="1"/>
          </p:cNvSpPr>
          <p:nvPr>
            <p:ph idx="1"/>
          </p:nvPr>
        </p:nvSpPr>
        <p:spPr/>
        <p:txBody>
          <a:bodyPr>
            <a:noAutofit/>
          </a:bodyPr>
          <a:lstStyle/>
          <a:p>
            <a:pPr>
              <a:spcBef>
                <a:spcPts val="600"/>
              </a:spcBef>
            </a:pPr>
            <a:r>
              <a:rPr lang="en-US" altLang="en-US" dirty="0"/>
              <a:t>Threats to information security that are unique to </a:t>
            </a:r>
            <a:br>
              <a:rPr lang="en-US" altLang="en-US" dirty="0"/>
            </a:br>
            <a:r>
              <a:rPr lang="en-US" altLang="en-US" dirty="0"/>
              <a:t>physical security</a:t>
            </a:r>
          </a:p>
          <a:p>
            <a:pPr>
              <a:spcBef>
                <a:spcPts val="600"/>
              </a:spcBef>
            </a:pPr>
            <a:r>
              <a:rPr lang="en-US" altLang="en-US" dirty="0"/>
              <a:t>Key physical security considerations in a facility site</a:t>
            </a:r>
          </a:p>
          <a:p>
            <a:pPr>
              <a:spcBef>
                <a:spcPts val="600"/>
              </a:spcBef>
            </a:pPr>
            <a:r>
              <a:rPr lang="en-US" altLang="en-US" dirty="0"/>
              <a:t>Physical security monitoring components</a:t>
            </a:r>
          </a:p>
          <a:p>
            <a:pPr>
              <a:spcBef>
                <a:spcPts val="600"/>
              </a:spcBef>
            </a:pPr>
            <a:r>
              <a:rPr lang="en-US" altLang="en-US" dirty="0"/>
              <a:t>Essential elements of access control </a:t>
            </a:r>
          </a:p>
          <a:p>
            <a:pPr>
              <a:spcBef>
                <a:spcPts val="600"/>
              </a:spcBef>
            </a:pPr>
            <a:r>
              <a:rPr lang="en-US" altLang="en-US" dirty="0"/>
              <a:t>Fire safety, fire detection, and response</a:t>
            </a:r>
          </a:p>
          <a:p>
            <a:pPr>
              <a:spcBef>
                <a:spcPts val="600"/>
              </a:spcBef>
            </a:pPr>
            <a:r>
              <a:rPr lang="en-US" altLang="en-US" dirty="0"/>
              <a:t>Importance of supporting utilities, especially use of uninterruptible power supplies</a:t>
            </a:r>
          </a:p>
          <a:p>
            <a:pPr>
              <a:spcBef>
                <a:spcPts val="600"/>
              </a:spcBef>
            </a:pPr>
            <a:r>
              <a:rPr lang="en-US" altLang="en-US" dirty="0"/>
              <a:t>Countermeasures to physical theft of computing </a:t>
            </a:r>
            <a:r>
              <a:rPr lang="en-US" altLang="en-US" dirty="0" smtClean="0"/>
              <a:t>devices</a:t>
            </a:r>
            <a:endParaRPr lang="en-US" altLang="en-US" dirty="0"/>
          </a:p>
        </p:txBody>
      </p:sp>
    </p:spTree>
    <p:extLst>
      <p:ext uri="{BB962C8B-B14F-4D97-AF65-F5344CB8AC3E}">
        <p14:creationId xmlns:p14="http://schemas.microsoft.com/office/powerpoint/2010/main" val="3405729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5379</TotalTime>
  <Words>4569</Words>
  <Application>Microsoft Office PowerPoint</Application>
  <PresentationFormat>On-screen Show (4:3)</PresentationFormat>
  <Paragraphs>479</Paragraphs>
  <Slides>45</Slides>
  <Notes>37</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Sample</vt:lpstr>
      <vt:lpstr>Principles of Information Security</vt:lpstr>
      <vt:lpstr>Learning Objectives</vt:lpstr>
      <vt:lpstr>Introduction (1 of 3)</vt:lpstr>
      <vt:lpstr>Introduction (2 of 3)</vt:lpstr>
      <vt:lpstr>Introduction (3 of 3)</vt:lpstr>
      <vt:lpstr>Physical Access Controls</vt:lpstr>
      <vt:lpstr>Physical Security Controls (1 of 9)</vt:lpstr>
      <vt:lpstr>Physical Security Controls (2 of 9)</vt:lpstr>
      <vt:lpstr>Physical Security Controls (3 of 9)</vt:lpstr>
      <vt:lpstr>Physical Security Controls (4 of 9)</vt:lpstr>
      <vt:lpstr>Physical Security Controls (5 of 9)</vt:lpstr>
      <vt:lpstr>Physical Security Controls (6 of 9)</vt:lpstr>
      <vt:lpstr>Physical Security Controls (7 of 9)</vt:lpstr>
      <vt:lpstr>Physical Security Controls (8 of 9)</vt:lpstr>
      <vt:lpstr>Physical Security Controls (9 of 9)</vt:lpstr>
      <vt:lpstr>Figure 9-1  Tailgating</vt:lpstr>
      <vt:lpstr>Figure 9-2  Locks</vt:lpstr>
      <vt:lpstr>Figure 9-3  Mantraps</vt:lpstr>
      <vt:lpstr>Fire Security and Safety </vt:lpstr>
      <vt:lpstr>Fire Detection and Response (1 of 4)</vt:lpstr>
      <vt:lpstr>Fire Detection and Response (2 of 4)</vt:lpstr>
      <vt:lpstr>Fire Detection and Response (3 of 4)</vt:lpstr>
      <vt:lpstr>Fire Detection and Response (4 of 4)</vt:lpstr>
      <vt:lpstr>Figure 9-4  Water sprinkler system</vt:lpstr>
      <vt:lpstr>Figure 9-5  Gaseous fire suppression system (1 of 2)</vt:lpstr>
      <vt:lpstr>Figure 9-5  Gaseous fire suppression system (2 of 2)</vt:lpstr>
      <vt:lpstr>Failure of Supporting Utilities and  Structural Collapse</vt:lpstr>
      <vt:lpstr>Heating, Ventilation, and Air Conditioning (1 of 5)</vt:lpstr>
      <vt:lpstr>Heating, Ventilation, and Air Conditioning (2 of 5)</vt:lpstr>
      <vt:lpstr>Heating, Ventilation, and Air Conditioning (3 of 5)</vt:lpstr>
      <vt:lpstr>Heating, Ventilation, and Air Conditioning (4 of 5)</vt:lpstr>
      <vt:lpstr>Heating, Ventilation, and Air Conditioning (5 of 5)</vt:lpstr>
      <vt:lpstr>Table 9-1  Static Charge Damage in Computers</vt:lpstr>
      <vt:lpstr>Figure 9-6  Types of uninterruptible power supplies</vt:lpstr>
      <vt:lpstr>Water Problems</vt:lpstr>
      <vt:lpstr>Structural Collapse </vt:lpstr>
      <vt:lpstr>Maintenance of Facility Systems</vt:lpstr>
      <vt:lpstr>Interception of Data </vt:lpstr>
      <vt:lpstr>Securing Mobile and Portable Systems (1 of 2)</vt:lpstr>
      <vt:lpstr>Securing Mobile and Portable Systems (2 of 2)</vt:lpstr>
      <vt:lpstr>Figure 9-7  Laptop recovery</vt:lpstr>
      <vt:lpstr>Remote Computing Security</vt:lpstr>
      <vt:lpstr>Special Considerations for Physical  Security Threats</vt:lpstr>
      <vt:lpstr>Inventory Management</vt:lpstr>
      <vt:lpstr>Summary</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Physical Security</dc:title>
  <dc:creator>Whitman</dc:creator>
  <cp:lastModifiedBy>CD</cp:lastModifiedBy>
  <cp:revision>368</cp:revision>
  <cp:lastPrinted>2017-03-09T12:30:14Z</cp:lastPrinted>
  <dcterms:created xsi:type="dcterms:W3CDTF">2007-02-15T20:50:52Z</dcterms:created>
  <dcterms:modified xsi:type="dcterms:W3CDTF">2017-03-20T13:53:30Z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