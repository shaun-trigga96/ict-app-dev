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7" r:id="rId1"/>
  </p:sldMasterIdLst>
  <p:notesMasterIdLst>
    <p:notesMasterId r:id="rId52"/>
  </p:notesMasterIdLst>
  <p:handoutMasterIdLst>
    <p:handoutMasterId r:id="rId53"/>
  </p:handoutMasterIdLst>
  <p:sldIdLst>
    <p:sldId id="306" r:id="rId2"/>
    <p:sldId id="258" r:id="rId3"/>
    <p:sldId id="260" r:id="rId4"/>
    <p:sldId id="261" r:id="rId5"/>
    <p:sldId id="262" r:id="rId6"/>
    <p:sldId id="263" r:id="rId7"/>
    <p:sldId id="308" r:id="rId8"/>
    <p:sldId id="309" r:id="rId9"/>
    <p:sldId id="310"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311" r:id="rId27"/>
    <p:sldId id="280" r:id="rId28"/>
    <p:sldId id="281" r:id="rId29"/>
    <p:sldId id="282" r:id="rId30"/>
    <p:sldId id="283" r:id="rId31"/>
    <p:sldId id="284" r:id="rId32"/>
    <p:sldId id="285" r:id="rId33"/>
    <p:sldId id="286" r:id="rId34"/>
    <p:sldId id="288" r:id="rId35"/>
    <p:sldId id="289" r:id="rId36"/>
    <p:sldId id="312"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4162"/>
    <a:srgbClr val="1B70A5"/>
    <a:srgbClr val="FFFFFF"/>
    <a:srgbClr val="96CDEE"/>
    <a:srgbClr val="0F3F5D"/>
    <a:srgbClr val="01773A"/>
    <a:srgbClr val="156B13"/>
    <a:srgbClr val="008000"/>
    <a:srgbClr val="F20000"/>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622" autoAdjust="0"/>
    <p:restoredTop sz="86355" autoAdjust="0"/>
  </p:normalViewPr>
  <p:slideViewPr>
    <p:cSldViewPr>
      <p:cViewPr>
        <p:scale>
          <a:sx n="66" d="100"/>
          <a:sy n="66" d="100"/>
        </p:scale>
        <p:origin x="-1188" y="-72"/>
      </p:cViewPr>
      <p:guideLst>
        <p:guide orient="horz" pos="2160"/>
        <p:guide pos="2880"/>
      </p:guideLst>
    </p:cSldViewPr>
  </p:slideViewPr>
  <p:outlineViewPr>
    <p:cViewPr>
      <p:scale>
        <a:sx n="33" d="100"/>
        <a:sy n="33" d="100"/>
      </p:scale>
      <p:origin x="0" y="-4158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3/20/2017</a:t>
            </a:fld>
            <a:endParaRPr lang="en-US"/>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3/20/2017</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64628FA2-B7E1-49E6-A4B3-783C8E4AABBE}" type="slidenum">
              <a:rPr lang="en-US" altLang="en-US"/>
              <a:pPr/>
              <a:t>2</a:t>
            </a:fld>
            <a:endParaRPr lang="en-US" altLang="en-US"/>
          </a:p>
        </p:txBody>
      </p:sp>
      <p:sp>
        <p:nvSpPr>
          <p:cNvPr id="59395"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p:txBody>
          <a:bodyPr>
            <a:normAutofit fontScale="85000" lnSpcReduction="10000"/>
          </a:bodyPr>
          <a:lstStyle/>
          <a:p>
            <a:pPr eaLnBrk="1" hangingPunct="1">
              <a:defRPr/>
            </a:pPr>
            <a:r>
              <a:rPr lang="en-US" altLang="en-US" b="1" dirty="0" smtClean="0"/>
              <a:t>Learning Objectives</a:t>
            </a:r>
          </a:p>
          <a:p>
            <a:pPr marL="342900" indent="-342900">
              <a:spcBef>
                <a:spcPct val="20000"/>
              </a:spcBef>
              <a:buFontTx/>
              <a:buChar char="•"/>
              <a:defRPr/>
            </a:pPr>
            <a:r>
              <a:rPr lang="en-US" altLang="en-US" sz="2600" kern="0" dirty="0" smtClean="0">
                <a:solidFill>
                  <a:srgbClr val="222222"/>
                </a:solidFill>
                <a:latin typeface="Arial"/>
              </a:rPr>
              <a:t>Upon completion of this material, you should be able to:</a:t>
            </a:r>
          </a:p>
          <a:p>
            <a:pPr marL="742950" lvl="1" indent="-285750">
              <a:spcBef>
                <a:spcPct val="20000"/>
              </a:spcBef>
              <a:buFontTx/>
              <a:buChar char="–"/>
              <a:defRPr/>
            </a:pPr>
            <a:r>
              <a:rPr lang="en-US" altLang="en-US" sz="2400" kern="0" dirty="0" smtClean="0">
                <a:solidFill>
                  <a:srgbClr val="222222"/>
                </a:solidFill>
                <a:latin typeface="Arial"/>
              </a:rPr>
              <a:t>Explain how an organization’s information security blueprint becomes a project plan</a:t>
            </a:r>
          </a:p>
          <a:p>
            <a:pPr marL="742950" lvl="1" indent="-285750">
              <a:spcBef>
                <a:spcPct val="20000"/>
              </a:spcBef>
              <a:buFontTx/>
              <a:buChar char="–"/>
              <a:defRPr/>
            </a:pPr>
            <a:r>
              <a:rPr lang="en-US" altLang="en-US" sz="2400" kern="0" dirty="0" smtClean="0">
                <a:solidFill>
                  <a:srgbClr val="222222"/>
                </a:solidFill>
                <a:latin typeface="Arial"/>
              </a:rPr>
              <a:t>Discuss the many organizational considerations that a project plan must address</a:t>
            </a:r>
          </a:p>
          <a:p>
            <a:pPr marL="742950" lvl="1" indent="-285750">
              <a:spcBef>
                <a:spcPct val="20000"/>
              </a:spcBef>
              <a:buFontTx/>
              <a:buChar char="–"/>
              <a:defRPr/>
            </a:pPr>
            <a:r>
              <a:rPr lang="en-US" altLang="en-US" sz="2400" kern="0" dirty="0" smtClean="0">
                <a:solidFill>
                  <a:srgbClr val="222222"/>
                </a:solidFill>
                <a:latin typeface="Arial"/>
              </a:rPr>
              <a:t>Explain the significance of the project manager’s role in the success of an information security project</a:t>
            </a:r>
          </a:p>
          <a:p>
            <a:pPr marL="742950" lvl="1" indent="-285750">
              <a:spcBef>
                <a:spcPct val="20000"/>
              </a:spcBef>
              <a:buFontTx/>
              <a:buChar char="–"/>
              <a:defRPr/>
            </a:pPr>
            <a:r>
              <a:rPr lang="en-US" altLang="en-US" sz="2400" kern="0" dirty="0" smtClean="0">
                <a:solidFill>
                  <a:srgbClr val="222222"/>
                </a:solidFill>
                <a:latin typeface="Arial"/>
              </a:rPr>
              <a:t>Describe the need for professional project management for complex projects</a:t>
            </a:r>
          </a:p>
          <a:p>
            <a:pPr eaLnBrk="1" hangingPunct="1">
              <a:defRPr/>
            </a:pPr>
            <a:endParaRPr lang="en-US" altLang="en-US" b="1" dirty="0" smtClean="0"/>
          </a:p>
        </p:txBody>
      </p:sp>
    </p:spTree>
    <p:extLst>
      <p:ext uri="{BB962C8B-B14F-4D97-AF65-F5344CB8AC3E}">
        <p14:creationId xmlns:p14="http://schemas.microsoft.com/office/powerpoint/2010/main" val="2972923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5E518E59-58F6-4C45-B3D4-2D10D86C2C40}" type="slidenum">
              <a:rPr lang="en-US" altLang="en-US"/>
              <a:pPr/>
              <a:t>3</a:t>
            </a:fld>
            <a:endParaRPr lang="en-US" altLang="en-US"/>
          </a:p>
        </p:txBody>
      </p:sp>
      <p:sp>
        <p:nvSpPr>
          <p:cNvPr id="61443"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p:txBody>
          <a:bodyPr>
            <a:normAutofit fontScale="70000" lnSpcReduction="20000"/>
          </a:bodyPr>
          <a:lstStyle/>
          <a:p>
            <a:pPr eaLnBrk="1" hangingPunct="1">
              <a:defRPr/>
            </a:pPr>
            <a:r>
              <a:rPr lang="en-US" altLang="en-US" b="1" dirty="0" smtClean="0"/>
              <a:t>Introduction</a:t>
            </a:r>
          </a:p>
          <a:p>
            <a:pPr marL="342900" indent="-342900">
              <a:spcBef>
                <a:spcPct val="20000"/>
              </a:spcBef>
              <a:buFontTx/>
              <a:buChar char="•"/>
              <a:defRPr/>
            </a:pPr>
            <a:r>
              <a:rPr lang="en-US" altLang="en-US" sz="2600" kern="0" dirty="0" smtClean="0">
                <a:solidFill>
                  <a:srgbClr val="222222"/>
                </a:solidFill>
                <a:latin typeface="Arial"/>
              </a:rPr>
              <a:t>SecSDLC implementation phase is accomplished by changing the configuration and operation of organization’s information systems</a:t>
            </a:r>
          </a:p>
          <a:p>
            <a:pPr marL="342900" indent="-342900">
              <a:spcBef>
                <a:spcPct val="20000"/>
              </a:spcBef>
              <a:buFontTx/>
              <a:buChar char="•"/>
              <a:defRPr/>
            </a:pPr>
            <a:r>
              <a:rPr lang="en-US" altLang="en-US" sz="2600" kern="0" dirty="0" smtClean="0">
                <a:solidFill>
                  <a:srgbClr val="222222"/>
                </a:solidFill>
                <a:latin typeface="Arial"/>
              </a:rPr>
              <a:t>Implementation includes changes to: </a:t>
            </a:r>
          </a:p>
          <a:p>
            <a:pPr marL="742950" lvl="1" indent="-285750">
              <a:spcBef>
                <a:spcPct val="20000"/>
              </a:spcBef>
              <a:buFontTx/>
              <a:buChar char="–"/>
              <a:defRPr/>
            </a:pPr>
            <a:r>
              <a:rPr lang="en-US" altLang="en-US" sz="2400" kern="0" dirty="0" smtClean="0">
                <a:solidFill>
                  <a:srgbClr val="222222"/>
                </a:solidFill>
                <a:latin typeface="Arial"/>
              </a:rPr>
              <a:t>Procedures (through policy)</a:t>
            </a:r>
          </a:p>
          <a:p>
            <a:pPr marL="742950" lvl="1" indent="-285750">
              <a:spcBef>
                <a:spcPct val="20000"/>
              </a:spcBef>
              <a:buFontTx/>
              <a:buChar char="–"/>
              <a:defRPr/>
            </a:pPr>
            <a:r>
              <a:rPr lang="en-US" altLang="en-US" sz="2400" kern="0" dirty="0" smtClean="0">
                <a:solidFill>
                  <a:srgbClr val="222222"/>
                </a:solidFill>
                <a:latin typeface="Arial"/>
              </a:rPr>
              <a:t>People (through training)</a:t>
            </a:r>
          </a:p>
          <a:p>
            <a:pPr marL="742950" lvl="1" indent="-285750">
              <a:spcBef>
                <a:spcPct val="20000"/>
              </a:spcBef>
              <a:buFontTx/>
              <a:buChar char="–"/>
              <a:defRPr/>
            </a:pPr>
            <a:r>
              <a:rPr lang="en-US" altLang="en-US" sz="2400" kern="0" dirty="0" smtClean="0">
                <a:solidFill>
                  <a:srgbClr val="222222"/>
                </a:solidFill>
                <a:latin typeface="Arial"/>
              </a:rPr>
              <a:t>Hardware (through firewalls)</a:t>
            </a:r>
          </a:p>
          <a:p>
            <a:pPr marL="742950" lvl="1" indent="-285750">
              <a:spcBef>
                <a:spcPct val="20000"/>
              </a:spcBef>
              <a:buFontTx/>
              <a:buChar char="–"/>
              <a:defRPr/>
            </a:pPr>
            <a:r>
              <a:rPr lang="en-US" altLang="en-US" sz="2400" kern="0" dirty="0" smtClean="0">
                <a:solidFill>
                  <a:srgbClr val="222222"/>
                </a:solidFill>
                <a:latin typeface="Arial"/>
              </a:rPr>
              <a:t>Software (through encryption)</a:t>
            </a:r>
          </a:p>
          <a:p>
            <a:pPr marL="742950" lvl="1" indent="-285750">
              <a:spcBef>
                <a:spcPct val="20000"/>
              </a:spcBef>
              <a:buFontTx/>
              <a:buChar char="–"/>
              <a:defRPr/>
            </a:pPr>
            <a:r>
              <a:rPr lang="en-US" altLang="en-US" sz="2400" kern="0" dirty="0" smtClean="0">
                <a:solidFill>
                  <a:srgbClr val="222222"/>
                </a:solidFill>
                <a:latin typeface="Arial"/>
              </a:rPr>
              <a:t>Data (through classification)</a:t>
            </a:r>
          </a:p>
          <a:p>
            <a:pPr marL="342900" indent="-342900">
              <a:spcBef>
                <a:spcPct val="20000"/>
              </a:spcBef>
              <a:buFontTx/>
              <a:buChar char="•"/>
              <a:defRPr/>
            </a:pPr>
            <a:r>
              <a:rPr lang="en-US" altLang="en-US" sz="2600" kern="0" dirty="0" smtClean="0">
                <a:solidFill>
                  <a:srgbClr val="222222"/>
                </a:solidFill>
                <a:latin typeface="Arial"/>
              </a:rPr>
              <a:t>Organization translates blueprint for information security into a project plan</a:t>
            </a:r>
          </a:p>
        </p:txBody>
      </p:sp>
    </p:spTree>
    <p:extLst>
      <p:ext uri="{BB962C8B-B14F-4D97-AF65-F5344CB8AC3E}">
        <p14:creationId xmlns:p14="http://schemas.microsoft.com/office/powerpoint/2010/main" val="2821563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F047211D-C24D-46A7-AF60-88148AA8024C}" type="slidenum">
              <a:rPr lang="en-US" altLang="en-US"/>
              <a:pPr/>
              <a:t>4</a:t>
            </a:fld>
            <a:endParaRPr lang="en-US" altLang="en-US"/>
          </a:p>
        </p:txBody>
      </p:sp>
      <p:sp>
        <p:nvSpPr>
          <p:cNvPr id="62467"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p:txBody>
          <a:bodyPr>
            <a:normAutofit fontScale="77500" lnSpcReduction="20000"/>
          </a:bodyPr>
          <a:lstStyle/>
          <a:p>
            <a:pPr eaLnBrk="1" hangingPunct="1">
              <a:defRPr/>
            </a:pPr>
            <a:r>
              <a:rPr lang="en-US" altLang="en-US" b="1" dirty="0" smtClean="0"/>
              <a:t>Project Management in the Implementation Phase </a:t>
            </a:r>
          </a:p>
          <a:p>
            <a:pPr marL="342900" indent="-342900">
              <a:spcBef>
                <a:spcPct val="20000"/>
              </a:spcBef>
              <a:buFontTx/>
              <a:buChar char="•"/>
              <a:defRPr/>
            </a:pPr>
            <a:r>
              <a:rPr lang="en-US" altLang="en-US" sz="2600" kern="0" dirty="0" smtClean="0">
                <a:solidFill>
                  <a:srgbClr val="222222"/>
                </a:solidFill>
                <a:latin typeface="Arial"/>
              </a:rPr>
              <a:t>Project plan must address project leadership, managerial/technical/budgetary considerations, and organizational resistance to change</a:t>
            </a:r>
          </a:p>
          <a:p>
            <a:pPr marL="342900" indent="-342900">
              <a:spcBef>
                <a:spcPct val="20000"/>
              </a:spcBef>
              <a:buFontTx/>
              <a:buChar char="•"/>
              <a:defRPr/>
            </a:pPr>
            <a:r>
              <a:rPr lang="en-US" altLang="en-US" sz="2600" kern="0" dirty="0" smtClean="0">
                <a:solidFill>
                  <a:srgbClr val="222222"/>
                </a:solidFill>
                <a:latin typeface="Arial"/>
              </a:rPr>
              <a:t>Major steps in executing project plan are:</a:t>
            </a:r>
          </a:p>
          <a:p>
            <a:pPr marL="742950" lvl="1" indent="-285750">
              <a:spcBef>
                <a:spcPct val="20000"/>
              </a:spcBef>
              <a:buFontTx/>
              <a:buChar char="–"/>
              <a:defRPr/>
            </a:pPr>
            <a:r>
              <a:rPr lang="en-US" altLang="en-US" sz="2400" kern="0" dirty="0" smtClean="0">
                <a:solidFill>
                  <a:srgbClr val="222222"/>
                </a:solidFill>
                <a:latin typeface="Arial"/>
              </a:rPr>
              <a:t>Planning the project</a:t>
            </a:r>
          </a:p>
          <a:p>
            <a:pPr marL="742950" lvl="1" indent="-285750">
              <a:spcBef>
                <a:spcPct val="20000"/>
              </a:spcBef>
              <a:buFontTx/>
              <a:buChar char="–"/>
              <a:defRPr/>
            </a:pPr>
            <a:r>
              <a:rPr lang="en-US" altLang="en-US" sz="2400" kern="0" dirty="0" smtClean="0">
                <a:solidFill>
                  <a:srgbClr val="222222"/>
                </a:solidFill>
                <a:latin typeface="Arial"/>
              </a:rPr>
              <a:t>Supervising tasks and action steps </a:t>
            </a:r>
          </a:p>
          <a:p>
            <a:pPr marL="742950" lvl="1" indent="-285750">
              <a:spcBef>
                <a:spcPct val="20000"/>
              </a:spcBef>
              <a:buFontTx/>
              <a:buChar char="–"/>
              <a:defRPr/>
            </a:pPr>
            <a:r>
              <a:rPr lang="en-US" altLang="en-US" sz="2400" kern="0" dirty="0" smtClean="0">
                <a:solidFill>
                  <a:srgbClr val="222222"/>
                </a:solidFill>
                <a:latin typeface="Arial"/>
              </a:rPr>
              <a:t>Wrapping up </a:t>
            </a:r>
          </a:p>
          <a:p>
            <a:pPr marL="342900" indent="-342900">
              <a:spcBef>
                <a:spcPct val="20000"/>
              </a:spcBef>
              <a:buFontTx/>
              <a:buChar char="•"/>
              <a:defRPr/>
            </a:pPr>
            <a:r>
              <a:rPr lang="en-US" altLang="en-US" sz="2600" kern="0" dirty="0" smtClean="0">
                <a:solidFill>
                  <a:srgbClr val="222222"/>
                </a:solidFill>
                <a:latin typeface="Arial"/>
              </a:rPr>
              <a:t>Each organization must determine its own project management methodology for IT and information security projects</a:t>
            </a:r>
          </a:p>
        </p:txBody>
      </p:sp>
    </p:spTree>
    <p:extLst>
      <p:ext uri="{BB962C8B-B14F-4D97-AF65-F5344CB8AC3E}">
        <p14:creationId xmlns:p14="http://schemas.microsoft.com/office/powerpoint/2010/main" val="4091884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465EFE00-DD3E-46C6-A057-977AA3E9979F}" type="slidenum">
              <a:rPr lang="en-US" altLang="en-US"/>
              <a:pPr/>
              <a:t>5</a:t>
            </a:fld>
            <a:endParaRPr lang="en-US" altLang="en-US"/>
          </a:p>
        </p:txBody>
      </p:sp>
      <p:sp>
        <p:nvSpPr>
          <p:cNvPr id="63491"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p:txBody>
          <a:bodyPr>
            <a:normAutofit fontScale="70000" lnSpcReduction="20000"/>
          </a:bodyPr>
          <a:lstStyle/>
          <a:p>
            <a:pPr eaLnBrk="1" hangingPunct="1">
              <a:defRPr/>
            </a:pPr>
            <a:r>
              <a:rPr lang="en-US" altLang="en-US" b="1" dirty="0" smtClean="0"/>
              <a:t>Developing the Project Plan</a:t>
            </a:r>
          </a:p>
          <a:p>
            <a:pPr marL="342900" indent="-342900">
              <a:spcBef>
                <a:spcPct val="20000"/>
              </a:spcBef>
              <a:buFontTx/>
              <a:buChar char="•"/>
              <a:defRPr/>
            </a:pPr>
            <a:r>
              <a:rPr lang="en-US" altLang="en-US" sz="2600" kern="0" dirty="0" smtClean="0">
                <a:solidFill>
                  <a:srgbClr val="222222"/>
                </a:solidFill>
                <a:latin typeface="Arial"/>
              </a:rPr>
              <a:t>Creation of project plan can be done using work breakdown structure (WBS)</a:t>
            </a:r>
          </a:p>
          <a:p>
            <a:pPr marL="342900" indent="-342900">
              <a:spcBef>
                <a:spcPct val="20000"/>
              </a:spcBef>
              <a:buFontTx/>
              <a:buChar char="•"/>
              <a:defRPr/>
            </a:pPr>
            <a:r>
              <a:rPr lang="en-US" altLang="en-US" sz="2600" kern="0" dirty="0" smtClean="0">
                <a:solidFill>
                  <a:srgbClr val="222222"/>
                </a:solidFill>
                <a:latin typeface="Arial"/>
              </a:rPr>
              <a:t>Major project tasks in WBS are:</a:t>
            </a:r>
          </a:p>
          <a:p>
            <a:pPr marL="742950" lvl="1" indent="-285750">
              <a:spcBef>
                <a:spcPct val="20000"/>
              </a:spcBef>
              <a:buFontTx/>
              <a:buChar char="–"/>
              <a:defRPr/>
            </a:pPr>
            <a:r>
              <a:rPr lang="en-US" altLang="en-US" sz="2400" kern="0" dirty="0" smtClean="0">
                <a:solidFill>
                  <a:srgbClr val="222222"/>
                </a:solidFill>
                <a:latin typeface="Arial"/>
              </a:rPr>
              <a:t>Work to be accomplished</a:t>
            </a:r>
          </a:p>
          <a:p>
            <a:pPr marL="742950" lvl="1" indent="-285750">
              <a:spcBef>
                <a:spcPct val="20000"/>
              </a:spcBef>
              <a:buFontTx/>
              <a:buChar char="–"/>
              <a:defRPr/>
            </a:pPr>
            <a:r>
              <a:rPr lang="en-US" altLang="en-US" sz="2400" kern="0" dirty="0" smtClean="0">
                <a:solidFill>
                  <a:srgbClr val="222222"/>
                </a:solidFill>
                <a:latin typeface="Arial"/>
              </a:rPr>
              <a:t>People/skill sets assigned</a:t>
            </a:r>
          </a:p>
          <a:p>
            <a:pPr marL="742950" lvl="1" indent="-285750">
              <a:spcBef>
                <a:spcPct val="20000"/>
              </a:spcBef>
              <a:buFontTx/>
              <a:buChar char="–"/>
              <a:defRPr/>
            </a:pPr>
            <a:r>
              <a:rPr lang="en-US" altLang="en-US" sz="2400" kern="0" dirty="0" smtClean="0">
                <a:solidFill>
                  <a:srgbClr val="222222"/>
                </a:solidFill>
                <a:latin typeface="Arial"/>
              </a:rPr>
              <a:t>Start and end dates</a:t>
            </a:r>
          </a:p>
          <a:p>
            <a:pPr marL="742950" lvl="1" indent="-285750">
              <a:spcBef>
                <a:spcPct val="20000"/>
              </a:spcBef>
              <a:buFontTx/>
              <a:buChar char="–"/>
              <a:defRPr/>
            </a:pPr>
            <a:r>
              <a:rPr lang="en-US" altLang="en-US" sz="2400" kern="0" dirty="0" smtClean="0">
                <a:solidFill>
                  <a:srgbClr val="222222"/>
                </a:solidFill>
                <a:latin typeface="Arial"/>
              </a:rPr>
              <a:t>Amount of effort required</a:t>
            </a:r>
          </a:p>
          <a:p>
            <a:pPr marL="742950" lvl="1" indent="-285750">
              <a:spcBef>
                <a:spcPct val="20000"/>
              </a:spcBef>
              <a:buFontTx/>
              <a:buChar char="–"/>
              <a:defRPr/>
            </a:pPr>
            <a:r>
              <a:rPr lang="en-US" altLang="en-US" sz="2400" kern="0" dirty="0" smtClean="0">
                <a:solidFill>
                  <a:srgbClr val="222222"/>
                </a:solidFill>
                <a:latin typeface="Arial"/>
              </a:rPr>
              <a:t>Estimated capital and noncapital expenses</a:t>
            </a:r>
          </a:p>
          <a:p>
            <a:pPr marL="742950" lvl="1" indent="-285750">
              <a:spcBef>
                <a:spcPct val="20000"/>
              </a:spcBef>
              <a:buFontTx/>
              <a:buChar char="–"/>
              <a:defRPr/>
            </a:pPr>
            <a:r>
              <a:rPr lang="en-US" altLang="en-US" sz="2400" kern="0" dirty="0" smtClean="0">
                <a:solidFill>
                  <a:srgbClr val="222222"/>
                </a:solidFill>
                <a:latin typeface="Arial"/>
              </a:rPr>
              <a:t>Identification of dependencies between/among tasks</a:t>
            </a:r>
          </a:p>
          <a:p>
            <a:pPr marL="342900" indent="-342900">
              <a:spcBef>
                <a:spcPct val="20000"/>
              </a:spcBef>
              <a:buFontTx/>
              <a:buChar char="•"/>
              <a:defRPr/>
            </a:pPr>
            <a:r>
              <a:rPr lang="en-US" altLang="en-US" sz="2600" kern="0" dirty="0" smtClean="0">
                <a:solidFill>
                  <a:srgbClr val="222222"/>
                </a:solidFill>
                <a:latin typeface="Arial"/>
              </a:rPr>
              <a:t>Each major WBS task is further divided into smaller tasks or specific action steps</a:t>
            </a:r>
          </a:p>
        </p:txBody>
      </p:sp>
    </p:spTree>
    <p:extLst>
      <p:ext uri="{BB962C8B-B14F-4D97-AF65-F5344CB8AC3E}">
        <p14:creationId xmlns:p14="http://schemas.microsoft.com/office/powerpoint/2010/main" val="3236342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3DE07A83-9088-4368-9CC2-E9C878431F81}" type="slidenum">
              <a:rPr lang="en-US" altLang="en-US"/>
              <a:pPr/>
              <a:t>10</a:t>
            </a:fld>
            <a:endParaRPr lang="en-US" altLang="en-US"/>
          </a:p>
        </p:txBody>
      </p:sp>
      <p:sp>
        <p:nvSpPr>
          <p:cNvPr id="64515"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p:txBody>
          <a:bodyPr/>
          <a:lstStyle/>
          <a:p>
            <a:pPr eaLnBrk="1" hangingPunct="1">
              <a:defRPr/>
            </a:pPr>
            <a:r>
              <a:rPr lang="en-US" altLang="en-US" b="1" dirty="0" smtClean="0"/>
              <a:t>Project Planning Considerations</a:t>
            </a:r>
          </a:p>
          <a:p>
            <a:pPr marL="342900" indent="-342900">
              <a:spcBef>
                <a:spcPct val="20000"/>
              </a:spcBef>
              <a:buFontTx/>
              <a:buChar char="•"/>
              <a:defRPr/>
            </a:pPr>
            <a:r>
              <a:rPr lang="en-US" altLang="en-US" sz="2600" kern="0" dirty="0" smtClean="0">
                <a:solidFill>
                  <a:srgbClr val="222222"/>
                </a:solidFill>
                <a:latin typeface="Arial"/>
              </a:rPr>
              <a:t>As project plan is developed, adding detail is not always straightforward</a:t>
            </a:r>
          </a:p>
          <a:p>
            <a:pPr marL="342900" indent="-342900">
              <a:spcBef>
                <a:spcPct val="20000"/>
              </a:spcBef>
              <a:buFontTx/>
              <a:buChar char="•"/>
              <a:defRPr/>
            </a:pPr>
            <a:r>
              <a:rPr lang="en-US" altLang="en-US" sz="2600" kern="0" dirty="0" smtClean="0">
                <a:solidFill>
                  <a:srgbClr val="222222"/>
                </a:solidFill>
                <a:latin typeface="Arial"/>
              </a:rPr>
              <a:t>Special considerations include financial, priority, time and schedule, staff, procurement, organizational feasibility, training and indoctrination, and scope</a:t>
            </a:r>
          </a:p>
        </p:txBody>
      </p:sp>
    </p:spTree>
    <p:extLst>
      <p:ext uri="{BB962C8B-B14F-4D97-AF65-F5344CB8AC3E}">
        <p14:creationId xmlns:p14="http://schemas.microsoft.com/office/powerpoint/2010/main" val="4009628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B62A1350-DD9A-4CE6-90A1-F540BA1F4164}" type="slidenum">
              <a:rPr lang="en-US" altLang="en-US"/>
              <a:pPr/>
              <a:t>11</a:t>
            </a:fld>
            <a:endParaRPr lang="en-US" altLang="en-US"/>
          </a:p>
        </p:txBody>
      </p:sp>
      <p:sp>
        <p:nvSpPr>
          <p:cNvPr id="65539"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Financial Considerations</a:t>
            </a:r>
          </a:p>
          <a:p>
            <a:pPr marL="742950" lvl="1" indent="-285750">
              <a:spcBef>
                <a:spcPct val="20000"/>
              </a:spcBef>
              <a:buFontTx/>
              <a:buChar char="–"/>
              <a:defRPr/>
            </a:pPr>
            <a:r>
              <a:rPr lang="en-US" altLang="en-US" sz="2400" kern="0" dirty="0" smtClean="0">
                <a:solidFill>
                  <a:srgbClr val="222222"/>
                </a:solidFill>
                <a:latin typeface="Arial"/>
              </a:rPr>
              <a:t>Regardless of existing information security needs, the amount of effort that can be expended depends on available funds</a:t>
            </a:r>
          </a:p>
          <a:p>
            <a:pPr marL="742950" lvl="1" indent="-285750">
              <a:spcBef>
                <a:spcPct val="20000"/>
              </a:spcBef>
              <a:buFontTx/>
              <a:buChar char="–"/>
              <a:defRPr/>
            </a:pPr>
            <a:r>
              <a:rPr lang="en-US" altLang="en-US" sz="2400" kern="0" dirty="0" smtClean="0">
                <a:solidFill>
                  <a:srgbClr val="222222"/>
                </a:solidFill>
                <a:latin typeface="Arial"/>
              </a:rPr>
              <a:t>Cost benefit analysis must be reviewed and verified prior to development of project plan</a:t>
            </a:r>
          </a:p>
          <a:p>
            <a:pPr marL="742950" lvl="1" indent="-285750">
              <a:spcBef>
                <a:spcPct val="20000"/>
              </a:spcBef>
              <a:buFontTx/>
              <a:buChar char="–"/>
              <a:defRPr/>
            </a:pPr>
            <a:r>
              <a:rPr lang="en-US" altLang="en-US" sz="2400" kern="0" dirty="0" smtClean="0">
                <a:solidFill>
                  <a:srgbClr val="222222"/>
                </a:solidFill>
                <a:latin typeface="Arial"/>
              </a:rPr>
              <a:t>Both public and private organizations have budgetary constraints, though of a different nature</a:t>
            </a:r>
          </a:p>
          <a:p>
            <a:pPr marL="742950" lvl="1" indent="-285750">
              <a:spcBef>
                <a:spcPct val="20000"/>
              </a:spcBef>
              <a:buFontTx/>
              <a:buChar char="–"/>
              <a:defRPr/>
            </a:pPr>
            <a:r>
              <a:rPr lang="en-US" altLang="en-US" sz="2400" kern="0" dirty="0" smtClean="0">
                <a:solidFill>
                  <a:srgbClr val="222222"/>
                </a:solidFill>
                <a:latin typeface="Arial"/>
              </a:rPr>
              <a:t>To justify an amount budgeted for a security project at either public or for-profit organizations, it may be useful to benchmark expenses of similar organizations</a:t>
            </a:r>
          </a:p>
        </p:txBody>
      </p:sp>
    </p:spTree>
    <p:extLst>
      <p:ext uri="{BB962C8B-B14F-4D97-AF65-F5344CB8AC3E}">
        <p14:creationId xmlns:p14="http://schemas.microsoft.com/office/powerpoint/2010/main" val="3359170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92F3FD4C-BE0D-490A-9E68-D848F8E3064F}" type="slidenum">
              <a:rPr lang="en-US" altLang="en-US"/>
              <a:pPr/>
              <a:t>12</a:t>
            </a:fld>
            <a:endParaRPr lang="en-US" altLang="en-US"/>
          </a:p>
        </p:txBody>
      </p:sp>
      <p:sp>
        <p:nvSpPr>
          <p:cNvPr id="66563"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p:txBody>
          <a:bodyPr/>
          <a:lstStyle/>
          <a:p>
            <a:pPr eaLnBrk="1" hangingPunct="1">
              <a:defRPr/>
            </a:pPr>
            <a:r>
              <a:rPr lang="en-US" altLang="en-US" b="1" dirty="0" smtClean="0"/>
              <a:t>Priority Considerations</a:t>
            </a:r>
          </a:p>
          <a:p>
            <a:pPr marL="742950" lvl="1" indent="-285750">
              <a:spcBef>
                <a:spcPct val="20000"/>
              </a:spcBef>
              <a:buFontTx/>
              <a:buChar char="–"/>
              <a:defRPr/>
            </a:pPr>
            <a:r>
              <a:rPr lang="en-US" altLang="en-US" sz="2400" kern="0" dirty="0" smtClean="0">
                <a:solidFill>
                  <a:srgbClr val="222222"/>
                </a:solidFill>
                <a:latin typeface="Arial"/>
              </a:rPr>
              <a:t>In general, the most important information security controls should be scheduled first</a:t>
            </a:r>
          </a:p>
          <a:p>
            <a:pPr marL="742950" lvl="1" indent="-285750">
              <a:spcBef>
                <a:spcPct val="20000"/>
              </a:spcBef>
              <a:buFontTx/>
              <a:buChar char="–"/>
              <a:defRPr/>
            </a:pPr>
            <a:r>
              <a:rPr lang="en-US" altLang="en-US" sz="2400" kern="0" dirty="0" smtClean="0">
                <a:solidFill>
                  <a:srgbClr val="222222"/>
                </a:solidFill>
                <a:latin typeface="Arial"/>
              </a:rPr>
              <a:t>Implementation of controls is guided by prioritization of threats and value of threatened information assets</a:t>
            </a:r>
          </a:p>
        </p:txBody>
      </p:sp>
    </p:spTree>
    <p:extLst>
      <p:ext uri="{BB962C8B-B14F-4D97-AF65-F5344CB8AC3E}">
        <p14:creationId xmlns:p14="http://schemas.microsoft.com/office/powerpoint/2010/main" val="918413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4BA3A3BA-2853-4F82-922F-ABD3D49E38AC}" type="slidenum">
              <a:rPr lang="en-US" altLang="en-US"/>
              <a:pPr/>
              <a:t>13</a:t>
            </a:fld>
            <a:endParaRPr lang="en-US" altLang="en-US"/>
          </a:p>
        </p:txBody>
      </p:sp>
      <p:sp>
        <p:nvSpPr>
          <p:cNvPr id="67587"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p:txBody>
          <a:bodyPr/>
          <a:lstStyle/>
          <a:p>
            <a:pPr eaLnBrk="1" hangingPunct="1">
              <a:defRPr/>
            </a:pPr>
            <a:r>
              <a:rPr lang="en-US" altLang="en-US" b="1" dirty="0" smtClean="0"/>
              <a:t>Time and Scheduling Considerations</a:t>
            </a:r>
          </a:p>
          <a:p>
            <a:pPr marL="742950" lvl="1" indent="-285750">
              <a:spcBef>
                <a:spcPct val="20000"/>
              </a:spcBef>
              <a:buFontTx/>
              <a:buChar char="–"/>
              <a:defRPr/>
            </a:pPr>
            <a:r>
              <a:rPr lang="en-US" altLang="en-US" sz="2400" kern="0" dirty="0" smtClean="0">
                <a:solidFill>
                  <a:srgbClr val="222222"/>
                </a:solidFill>
                <a:latin typeface="Arial"/>
              </a:rPr>
              <a:t>Time impacts project plans at dozens of points, including: </a:t>
            </a:r>
          </a:p>
          <a:p>
            <a:pPr marL="1143000" lvl="2" indent="-228600">
              <a:spcBef>
                <a:spcPct val="20000"/>
              </a:spcBef>
              <a:buFontTx/>
              <a:buChar char="•"/>
              <a:defRPr/>
            </a:pPr>
            <a:r>
              <a:rPr lang="en-US" altLang="en-US" sz="2200" kern="0" dirty="0" smtClean="0">
                <a:solidFill>
                  <a:srgbClr val="222222"/>
                </a:solidFill>
                <a:latin typeface="Arial"/>
              </a:rPr>
              <a:t>Time to order, receive, install, and configure security control</a:t>
            </a:r>
          </a:p>
          <a:p>
            <a:pPr marL="1143000" lvl="2" indent="-228600">
              <a:spcBef>
                <a:spcPct val="20000"/>
              </a:spcBef>
              <a:buFontTx/>
              <a:buChar char="•"/>
              <a:defRPr/>
            </a:pPr>
            <a:r>
              <a:rPr lang="en-US" altLang="en-US" sz="2200" kern="0" dirty="0" smtClean="0">
                <a:solidFill>
                  <a:srgbClr val="222222"/>
                </a:solidFill>
                <a:latin typeface="Arial"/>
              </a:rPr>
              <a:t>Time to train the users</a:t>
            </a:r>
          </a:p>
          <a:p>
            <a:pPr marL="1143000" lvl="2" indent="-228600">
              <a:spcBef>
                <a:spcPct val="20000"/>
              </a:spcBef>
              <a:buFontTx/>
              <a:buChar char="•"/>
              <a:defRPr/>
            </a:pPr>
            <a:r>
              <a:rPr lang="en-US" altLang="en-US" sz="2200" kern="0" dirty="0" smtClean="0">
                <a:solidFill>
                  <a:srgbClr val="222222"/>
                </a:solidFill>
                <a:latin typeface="Arial"/>
              </a:rPr>
              <a:t>Time to realize control’s return on investment </a:t>
            </a:r>
          </a:p>
        </p:txBody>
      </p:sp>
    </p:spTree>
    <p:extLst>
      <p:ext uri="{BB962C8B-B14F-4D97-AF65-F5344CB8AC3E}">
        <p14:creationId xmlns:p14="http://schemas.microsoft.com/office/powerpoint/2010/main" val="493522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2A0EBD4F-5898-47FD-AA91-F3538DE89638}" type="slidenum">
              <a:rPr lang="en-US" altLang="en-US"/>
              <a:pPr/>
              <a:t>14</a:t>
            </a:fld>
            <a:endParaRPr lang="en-US" altLang="en-US"/>
          </a:p>
        </p:txBody>
      </p:sp>
      <p:sp>
        <p:nvSpPr>
          <p:cNvPr id="68611"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p:txBody>
          <a:bodyPr>
            <a:normAutofit fontScale="85000" lnSpcReduction="20000"/>
          </a:bodyPr>
          <a:lstStyle/>
          <a:p>
            <a:pPr marL="342900" indent="-342900">
              <a:spcBef>
                <a:spcPct val="20000"/>
              </a:spcBef>
              <a:buFontTx/>
              <a:buChar char="•"/>
              <a:defRPr/>
            </a:pPr>
            <a:r>
              <a:rPr lang="en-US" altLang="en-US" sz="2600" b="1" kern="0" dirty="0" smtClean="0">
                <a:solidFill>
                  <a:srgbClr val="222222"/>
                </a:solidFill>
                <a:latin typeface="Arial"/>
              </a:rPr>
              <a:t>Staffing considerations</a:t>
            </a:r>
          </a:p>
          <a:p>
            <a:pPr marL="742950" lvl="1" indent="-285750">
              <a:spcBef>
                <a:spcPct val="20000"/>
              </a:spcBef>
              <a:buFontTx/>
              <a:buChar char="–"/>
              <a:defRPr/>
            </a:pPr>
            <a:r>
              <a:rPr lang="en-US" altLang="en-US" sz="2200" kern="0" dirty="0" smtClean="0">
                <a:solidFill>
                  <a:srgbClr val="222222"/>
                </a:solidFill>
                <a:latin typeface="Arial"/>
              </a:rPr>
              <a:t>Need for qualified, trained, and available personnel constrains project plan</a:t>
            </a:r>
          </a:p>
          <a:p>
            <a:pPr marL="742950" lvl="1" indent="-285750">
              <a:spcBef>
                <a:spcPct val="20000"/>
              </a:spcBef>
              <a:buFontTx/>
              <a:buChar char="–"/>
              <a:defRPr/>
            </a:pPr>
            <a:r>
              <a:rPr lang="en-US" altLang="en-US" sz="2200" kern="0" dirty="0" smtClean="0">
                <a:solidFill>
                  <a:srgbClr val="222222"/>
                </a:solidFill>
                <a:latin typeface="Arial"/>
              </a:rPr>
              <a:t>Experienced staff is often needed to implement technologies and develop and implement policies and training programs</a:t>
            </a:r>
          </a:p>
          <a:p>
            <a:pPr marL="342900" indent="-342900">
              <a:spcBef>
                <a:spcPct val="20000"/>
              </a:spcBef>
              <a:buFontTx/>
              <a:buChar char="•"/>
              <a:defRPr/>
            </a:pPr>
            <a:r>
              <a:rPr lang="en-US" altLang="en-US" sz="2600" kern="0" dirty="0" smtClean="0">
                <a:solidFill>
                  <a:srgbClr val="222222"/>
                </a:solidFill>
                <a:latin typeface="Arial"/>
              </a:rPr>
              <a:t>Procurement considerations</a:t>
            </a:r>
          </a:p>
          <a:p>
            <a:pPr marL="742950" lvl="1" indent="-285750">
              <a:spcBef>
                <a:spcPct val="20000"/>
              </a:spcBef>
              <a:buFontTx/>
              <a:buChar char="–"/>
              <a:defRPr/>
            </a:pPr>
            <a:r>
              <a:rPr lang="en-US" altLang="en-US" sz="2200" kern="0" dirty="0" smtClean="0">
                <a:solidFill>
                  <a:srgbClr val="222222"/>
                </a:solidFill>
                <a:latin typeface="Arial"/>
              </a:rPr>
              <a:t>Often constraints on selection of equipment/services</a:t>
            </a:r>
          </a:p>
          <a:p>
            <a:pPr marL="1143000" lvl="2" indent="-228600">
              <a:spcBef>
                <a:spcPct val="20000"/>
              </a:spcBef>
              <a:buFontTx/>
              <a:buChar char="•"/>
              <a:defRPr/>
            </a:pPr>
            <a:r>
              <a:rPr lang="en-US" altLang="en-US" sz="2000" kern="0" dirty="0" smtClean="0">
                <a:solidFill>
                  <a:srgbClr val="222222"/>
                </a:solidFill>
                <a:latin typeface="Arial"/>
              </a:rPr>
              <a:t>Some organizations require use of particular service vendors/manufacturers/suppliers</a:t>
            </a:r>
          </a:p>
          <a:p>
            <a:pPr marL="742950" lvl="1" indent="-285750">
              <a:spcBef>
                <a:spcPct val="20000"/>
              </a:spcBef>
              <a:buFontTx/>
              <a:buChar char="–"/>
              <a:defRPr/>
            </a:pPr>
            <a:r>
              <a:rPr lang="en-US" altLang="en-US" sz="2200" kern="0" dirty="0" smtClean="0">
                <a:solidFill>
                  <a:srgbClr val="222222"/>
                </a:solidFill>
                <a:latin typeface="Arial"/>
              </a:rPr>
              <a:t>These constraints may limit which technologies can be acquired</a:t>
            </a:r>
          </a:p>
        </p:txBody>
      </p:sp>
    </p:spTree>
    <p:extLst>
      <p:ext uri="{BB962C8B-B14F-4D97-AF65-F5344CB8AC3E}">
        <p14:creationId xmlns:p14="http://schemas.microsoft.com/office/powerpoint/2010/main" val="3732124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7184BA4F-14CA-42D5-9146-C243530542FC}" type="slidenum">
              <a:rPr lang="en-US" altLang="en-US"/>
              <a:pPr/>
              <a:t>15</a:t>
            </a:fld>
            <a:endParaRPr lang="en-US" altLang="en-US"/>
          </a:p>
        </p:txBody>
      </p:sp>
      <p:sp>
        <p:nvSpPr>
          <p:cNvPr id="69635"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p:txBody>
          <a:bodyPr>
            <a:normAutofit lnSpcReduction="10000"/>
          </a:bodyPr>
          <a:lstStyle/>
          <a:p>
            <a:pPr eaLnBrk="1" hangingPunct="1">
              <a:defRPr/>
            </a:pPr>
            <a:r>
              <a:rPr lang="en-US" altLang="en-US" b="1" dirty="0" smtClean="0"/>
              <a:t>Organizational Feasibility Considerations</a:t>
            </a:r>
          </a:p>
          <a:p>
            <a:pPr marL="742950" lvl="1" indent="-285750">
              <a:spcBef>
                <a:spcPct val="20000"/>
              </a:spcBef>
              <a:buFontTx/>
              <a:buChar char="–"/>
              <a:defRPr/>
            </a:pPr>
            <a:r>
              <a:rPr lang="en-US" altLang="en-US" sz="2400" kern="0" dirty="0" smtClean="0">
                <a:solidFill>
                  <a:srgbClr val="222222"/>
                </a:solidFill>
                <a:latin typeface="Arial"/>
              </a:rPr>
              <a:t>Changes should be transparent to system users unless the new technology is intended to change procedures (e.g., requiring additional authentication or verification)</a:t>
            </a:r>
          </a:p>
          <a:p>
            <a:pPr marL="742950" lvl="1" indent="-285750">
              <a:spcBef>
                <a:spcPct val="20000"/>
              </a:spcBef>
              <a:buFontTx/>
              <a:buChar char="–"/>
              <a:defRPr/>
            </a:pPr>
            <a:r>
              <a:rPr lang="en-US" altLang="en-US" sz="2400" kern="0" dirty="0" smtClean="0">
                <a:solidFill>
                  <a:srgbClr val="222222"/>
                </a:solidFill>
                <a:latin typeface="Arial"/>
              </a:rPr>
              <a:t>Successful project requires that organization be able to assimilate proposed changes</a:t>
            </a:r>
          </a:p>
          <a:p>
            <a:pPr marL="742950" lvl="1" indent="-285750">
              <a:spcBef>
                <a:spcPct val="20000"/>
              </a:spcBef>
              <a:buFontTx/>
              <a:buChar char="–"/>
              <a:defRPr/>
            </a:pPr>
            <a:r>
              <a:rPr lang="en-US" altLang="en-US" sz="2400" kern="0" dirty="0" smtClean="0">
                <a:solidFill>
                  <a:srgbClr val="222222"/>
                </a:solidFill>
                <a:latin typeface="Arial"/>
              </a:rPr>
              <a:t>New technologies sometimes require new policies, employee training, and education</a:t>
            </a:r>
          </a:p>
        </p:txBody>
      </p:sp>
    </p:spTree>
    <p:extLst>
      <p:ext uri="{BB962C8B-B14F-4D97-AF65-F5344CB8AC3E}">
        <p14:creationId xmlns:p14="http://schemas.microsoft.com/office/powerpoint/2010/main" val="2606699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B4FB0568-0BAE-4465-A4FB-09DB284F7345}" type="slidenum">
              <a:rPr lang="en-US" altLang="en-US"/>
              <a:pPr/>
              <a:t>16</a:t>
            </a:fld>
            <a:endParaRPr lang="en-US" altLang="en-US"/>
          </a:p>
        </p:txBody>
      </p:sp>
      <p:sp>
        <p:nvSpPr>
          <p:cNvPr id="70659"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p:txBody>
          <a:bodyPr/>
          <a:lstStyle/>
          <a:p>
            <a:pPr eaLnBrk="1" hangingPunct="1">
              <a:defRPr/>
            </a:pPr>
            <a:r>
              <a:rPr lang="en-US" altLang="en-US" b="1" dirty="0" smtClean="0"/>
              <a:t>Training and Indoctrination Considerations</a:t>
            </a:r>
          </a:p>
          <a:p>
            <a:pPr marL="742950" lvl="1" indent="-285750">
              <a:spcBef>
                <a:spcPct val="20000"/>
              </a:spcBef>
              <a:buFontTx/>
              <a:buChar char="–"/>
              <a:defRPr/>
            </a:pPr>
            <a:r>
              <a:rPr lang="en-US" altLang="en-US" sz="2400" kern="0" dirty="0" smtClean="0">
                <a:solidFill>
                  <a:srgbClr val="222222"/>
                </a:solidFill>
                <a:latin typeface="Arial"/>
              </a:rPr>
              <a:t>Size of organization and normal conduct of business may preclude a large training program for new security procedures/technologies </a:t>
            </a:r>
          </a:p>
          <a:p>
            <a:pPr marL="742950" lvl="1" indent="-285750">
              <a:spcBef>
                <a:spcPct val="20000"/>
              </a:spcBef>
              <a:buFontTx/>
              <a:buChar char="–"/>
              <a:defRPr/>
            </a:pPr>
            <a:r>
              <a:rPr lang="en-US" altLang="en-US" sz="2400" kern="0" dirty="0" smtClean="0">
                <a:solidFill>
                  <a:srgbClr val="222222"/>
                </a:solidFill>
                <a:latin typeface="Arial"/>
              </a:rPr>
              <a:t>If so, organization should conduct phased-in or pilot implementation</a:t>
            </a:r>
          </a:p>
        </p:txBody>
      </p:sp>
    </p:spTree>
    <p:extLst>
      <p:ext uri="{BB962C8B-B14F-4D97-AF65-F5344CB8AC3E}">
        <p14:creationId xmlns:p14="http://schemas.microsoft.com/office/powerpoint/2010/main" val="1878993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E1282525-2DFC-4756-B50B-5A9CC318C1DE}" type="slidenum">
              <a:rPr lang="en-US" altLang="en-US"/>
              <a:pPr/>
              <a:t>17</a:t>
            </a:fld>
            <a:endParaRPr lang="en-US" altLang="en-US"/>
          </a:p>
        </p:txBody>
      </p:sp>
      <p:sp>
        <p:nvSpPr>
          <p:cNvPr id="71683"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p:txBody>
          <a:bodyPr/>
          <a:lstStyle/>
          <a:p>
            <a:pPr eaLnBrk="1" hangingPunct="1">
              <a:defRPr/>
            </a:pPr>
            <a:r>
              <a:rPr lang="en-US" altLang="en-US" b="1" dirty="0" smtClean="0"/>
              <a:t>Scope Considerations</a:t>
            </a:r>
          </a:p>
          <a:p>
            <a:pPr marL="742950" lvl="1" indent="-285750">
              <a:spcBef>
                <a:spcPct val="20000"/>
              </a:spcBef>
              <a:buFontTx/>
              <a:buChar char="–"/>
              <a:defRPr/>
            </a:pPr>
            <a:r>
              <a:rPr lang="en-US" altLang="en-US" sz="2400" kern="0" dirty="0" smtClean="0">
                <a:solidFill>
                  <a:srgbClr val="222222"/>
                </a:solidFill>
                <a:latin typeface="Arial"/>
              </a:rPr>
              <a:t>Project scope: description of project’s features, capabilities, functions, and quality level, used as the basis of a project plan</a:t>
            </a:r>
          </a:p>
          <a:p>
            <a:pPr marL="742950" lvl="1" indent="-285750">
              <a:spcBef>
                <a:spcPct val="20000"/>
              </a:spcBef>
              <a:buFontTx/>
              <a:buChar char="–"/>
              <a:defRPr/>
            </a:pPr>
            <a:r>
              <a:rPr lang="en-US" altLang="en-US" sz="2400" kern="0" dirty="0" smtClean="0">
                <a:solidFill>
                  <a:srgbClr val="222222"/>
                </a:solidFill>
                <a:latin typeface="Arial"/>
              </a:rPr>
              <a:t>Organizations should implement large information security projects in stages</a:t>
            </a:r>
          </a:p>
        </p:txBody>
      </p:sp>
    </p:spTree>
    <p:extLst>
      <p:ext uri="{BB962C8B-B14F-4D97-AF65-F5344CB8AC3E}">
        <p14:creationId xmlns:p14="http://schemas.microsoft.com/office/powerpoint/2010/main" val="8431641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CDEA5B13-E73B-4A12-B5AF-85D1DC54D892}" type="slidenum">
              <a:rPr lang="en-US" altLang="en-US"/>
              <a:pPr/>
              <a:t>18</a:t>
            </a:fld>
            <a:endParaRPr lang="en-US" altLang="en-US"/>
          </a:p>
        </p:txBody>
      </p:sp>
      <p:sp>
        <p:nvSpPr>
          <p:cNvPr id="72707"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p:txBody>
          <a:bodyPr>
            <a:normAutofit lnSpcReduction="10000"/>
          </a:bodyPr>
          <a:lstStyle/>
          <a:p>
            <a:pPr eaLnBrk="1" hangingPunct="1">
              <a:defRPr/>
            </a:pPr>
            <a:r>
              <a:rPr lang="en-US" altLang="en-US" b="1" dirty="0" smtClean="0"/>
              <a:t>The Need for Project Management</a:t>
            </a:r>
          </a:p>
          <a:p>
            <a:pPr marL="342900" indent="-342900">
              <a:spcBef>
                <a:spcPct val="20000"/>
              </a:spcBef>
              <a:buFontTx/>
              <a:buChar char="•"/>
              <a:defRPr/>
            </a:pPr>
            <a:r>
              <a:rPr lang="en-US" altLang="en-US" sz="2600" kern="0" dirty="0" smtClean="0">
                <a:solidFill>
                  <a:srgbClr val="222222"/>
                </a:solidFill>
                <a:latin typeface="Arial"/>
              </a:rPr>
              <a:t>Project management requires a unique set of skills and thorough understanding of a broad body of specialized knowledge</a:t>
            </a:r>
          </a:p>
          <a:p>
            <a:pPr marL="342900" indent="-342900">
              <a:spcBef>
                <a:spcPct val="20000"/>
              </a:spcBef>
              <a:buFontTx/>
              <a:buChar char="•"/>
              <a:defRPr/>
            </a:pPr>
            <a:r>
              <a:rPr lang="en-US" altLang="en-US" sz="2600" kern="0" dirty="0" smtClean="0">
                <a:solidFill>
                  <a:srgbClr val="222222"/>
                </a:solidFill>
                <a:latin typeface="Arial"/>
              </a:rPr>
              <a:t>Most information security projects require a trained project manager (a CISO) or skilled IT manager trained in project management techniques</a:t>
            </a:r>
          </a:p>
        </p:txBody>
      </p:sp>
    </p:spTree>
    <p:extLst>
      <p:ext uri="{BB962C8B-B14F-4D97-AF65-F5344CB8AC3E}">
        <p14:creationId xmlns:p14="http://schemas.microsoft.com/office/powerpoint/2010/main" val="34384182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0B1163C2-60E5-407E-88C0-E4B0E8F45342}" type="slidenum">
              <a:rPr lang="en-US" altLang="en-US"/>
              <a:pPr/>
              <a:t>19</a:t>
            </a:fld>
            <a:endParaRPr lang="en-US" altLang="en-US"/>
          </a:p>
        </p:txBody>
      </p:sp>
      <p:sp>
        <p:nvSpPr>
          <p:cNvPr id="73731"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Supervised Implementation</a:t>
            </a:r>
          </a:p>
          <a:p>
            <a:pPr marL="742950" lvl="1" indent="-285750">
              <a:spcBef>
                <a:spcPct val="20000"/>
              </a:spcBef>
              <a:buFontTx/>
              <a:buChar char="–"/>
              <a:defRPr/>
            </a:pPr>
            <a:r>
              <a:rPr lang="en-US" altLang="en-US" sz="2400" kern="0" dirty="0" smtClean="0">
                <a:solidFill>
                  <a:srgbClr val="222222"/>
                </a:solidFill>
                <a:latin typeface="Arial"/>
              </a:rPr>
              <a:t>Some organizations may designate champion from general management community of interest to supervise implementation of information security project plan </a:t>
            </a:r>
          </a:p>
          <a:p>
            <a:pPr marL="742950" lvl="1" indent="-285750">
              <a:spcBef>
                <a:spcPct val="20000"/>
              </a:spcBef>
              <a:buFontTx/>
              <a:buChar char="–"/>
              <a:defRPr/>
            </a:pPr>
            <a:r>
              <a:rPr lang="en-US" altLang="en-US" sz="2400" kern="0" dirty="0" smtClean="0">
                <a:solidFill>
                  <a:srgbClr val="222222"/>
                </a:solidFill>
                <a:latin typeface="Arial"/>
              </a:rPr>
              <a:t>An alternative is to designate senior IT manager or CIO to lead implementation</a:t>
            </a:r>
          </a:p>
          <a:p>
            <a:pPr marL="742950" lvl="1" indent="-285750">
              <a:spcBef>
                <a:spcPct val="20000"/>
              </a:spcBef>
              <a:buFontTx/>
              <a:buChar char="–"/>
              <a:defRPr/>
            </a:pPr>
            <a:r>
              <a:rPr lang="en-US" altLang="en-US" sz="2400" kern="0" dirty="0" smtClean="0">
                <a:solidFill>
                  <a:srgbClr val="222222"/>
                </a:solidFill>
                <a:latin typeface="Arial"/>
              </a:rPr>
              <a:t>Best solution is to designate a suitable person from information security community of interest</a:t>
            </a:r>
          </a:p>
          <a:p>
            <a:pPr marL="742950" lvl="1" indent="-285750">
              <a:spcBef>
                <a:spcPct val="20000"/>
              </a:spcBef>
              <a:buFontTx/>
              <a:buChar char="–"/>
              <a:defRPr/>
            </a:pPr>
            <a:r>
              <a:rPr lang="en-US" altLang="en-US" sz="2400" kern="0" dirty="0" smtClean="0">
                <a:solidFill>
                  <a:srgbClr val="222222"/>
                </a:solidFill>
                <a:latin typeface="Arial"/>
              </a:rPr>
              <a:t>In final analysis, each organization must find project leadership best suited to its specific needs</a:t>
            </a:r>
          </a:p>
        </p:txBody>
      </p:sp>
    </p:spTree>
    <p:extLst>
      <p:ext uri="{BB962C8B-B14F-4D97-AF65-F5344CB8AC3E}">
        <p14:creationId xmlns:p14="http://schemas.microsoft.com/office/powerpoint/2010/main" val="246288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D7C68CA0-0498-4656-B436-6CF7EFD1E8C5}" type="slidenum">
              <a:rPr lang="en-US" altLang="en-US"/>
              <a:pPr/>
              <a:t>20</a:t>
            </a:fld>
            <a:endParaRPr lang="en-US" altLang="en-US"/>
          </a:p>
        </p:txBody>
      </p:sp>
      <p:sp>
        <p:nvSpPr>
          <p:cNvPr id="74755"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Executing the Plan</a:t>
            </a:r>
          </a:p>
          <a:p>
            <a:pPr marL="742950" lvl="1" indent="-285750">
              <a:spcBef>
                <a:spcPct val="20000"/>
              </a:spcBef>
              <a:buFontTx/>
              <a:buChar char="–"/>
              <a:defRPr/>
            </a:pPr>
            <a:r>
              <a:rPr lang="en-US" altLang="en-US" sz="2400" kern="0" dirty="0" smtClean="0">
                <a:solidFill>
                  <a:srgbClr val="222222"/>
                </a:solidFill>
                <a:latin typeface="Arial"/>
              </a:rPr>
              <a:t>Negative feedback loop ensures project progress is measured periodically</a:t>
            </a:r>
          </a:p>
          <a:p>
            <a:pPr marL="1143000" lvl="2" indent="-228600">
              <a:spcBef>
                <a:spcPct val="20000"/>
              </a:spcBef>
              <a:buFontTx/>
              <a:buChar char="•"/>
              <a:defRPr/>
            </a:pPr>
            <a:r>
              <a:rPr lang="en-US" altLang="en-US" sz="2200" kern="0" dirty="0" smtClean="0">
                <a:solidFill>
                  <a:srgbClr val="222222"/>
                </a:solidFill>
                <a:latin typeface="Arial"/>
              </a:rPr>
              <a:t>When significant deviation occurs, corrective action taken</a:t>
            </a:r>
          </a:p>
          <a:p>
            <a:pPr marL="742950" lvl="1" indent="-285750">
              <a:spcBef>
                <a:spcPct val="20000"/>
              </a:spcBef>
              <a:buFontTx/>
              <a:buChar char="–"/>
              <a:defRPr/>
            </a:pPr>
            <a:r>
              <a:rPr lang="en-US" altLang="en-US" sz="2400" kern="0" dirty="0" smtClean="0">
                <a:solidFill>
                  <a:srgbClr val="222222"/>
                </a:solidFill>
                <a:latin typeface="Arial"/>
              </a:rPr>
              <a:t>Often, project manager can adjust one of three planning parameters for task being corrected: </a:t>
            </a:r>
          </a:p>
          <a:p>
            <a:pPr marL="1143000" lvl="2" indent="-228600">
              <a:spcBef>
                <a:spcPct val="20000"/>
              </a:spcBef>
              <a:buFontTx/>
              <a:buChar char="•"/>
              <a:defRPr/>
            </a:pPr>
            <a:r>
              <a:rPr lang="en-US" altLang="en-US" sz="2200" kern="0" dirty="0" smtClean="0">
                <a:solidFill>
                  <a:srgbClr val="222222"/>
                </a:solidFill>
                <a:latin typeface="Arial"/>
              </a:rPr>
              <a:t>Effort and money allocated</a:t>
            </a:r>
          </a:p>
          <a:p>
            <a:pPr marL="1143000" lvl="2" indent="-228600">
              <a:spcBef>
                <a:spcPct val="20000"/>
              </a:spcBef>
              <a:buFontTx/>
              <a:buChar char="•"/>
              <a:defRPr/>
            </a:pPr>
            <a:r>
              <a:rPr lang="en-US" altLang="en-US" sz="2200" kern="0" dirty="0" smtClean="0">
                <a:solidFill>
                  <a:srgbClr val="222222"/>
                </a:solidFill>
                <a:latin typeface="Arial"/>
              </a:rPr>
              <a:t>Elapsed time/Scheduling impact</a:t>
            </a:r>
          </a:p>
          <a:p>
            <a:pPr marL="1143000" lvl="2" indent="-228600">
              <a:spcBef>
                <a:spcPct val="20000"/>
              </a:spcBef>
              <a:buFontTx/>
              <a:buChar char="•"/>
              <a:defRPr/>
            </a:pPr>
            <a:r>
              <a:rPr lang="en-US" altLang="en-US" sz="2200" kern="0" dirty="0" smtClean="0">
                <a:solidFill>
                  <a:srgbClr val="222222"/>
                </a:solidFill>
                <a:latin typeface="Arial"/>
              </a:rPr>
              <a:t>Quality or quantity of deliverable</a:t>
            </a:r>
          </a:p>
        </p:txBody>
      </p:sp>
    </p:spTree>
    <p:extLst>
      <p:ext uri="{BB962C8B-B14F-4D97-AF65-F5344CB8AC3E}">
        <p14:creationId xmlns:p14="http://schemas.microsoft.com/office/powerpoint/2010/main" val="10302329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p:txBody>
          <a:bodyPr/>
          <a:lstStyle/>
          <a:p>
            <a:endParaRPr lang="en-US" altLang="en-US" smtClean="0"/>
          </a:p>
        </p:txBody>
      </p:sp>
      <p:sp>
        <p:nvSpPr>
          <p:cNvPr id="75780"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5D1C8714-22BA-43E4-A990-5856F0FC7B65}" type="slidenum">
              <a:rPr lang="en-US" altLang="en-US"/>
              <a:pPr/>
              <a:t>21</a:t>
            </a:fld>
            <a:endParaRPr lang="en-US" altLang="en-US"/>
          </a:p>
        </p:txBody>
      </p:sp>
    </p:spTree>
    <p:extLst>
      <p:ext uri="{BB962C8B-B14F-4D97-AF65-F5344CB8AC3E}">
        <p14:creationId xmlns:p14="http://schemas.microsoft.com/office/powerpoint/2010/main" val="41080676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8B059A86-1BFD-4BA1-8625-E21D13D7C8A6}" type="slidenum">
              <a:rPr lang="en-US" altLang="en-US"/>
              <a:pPr/>
              <a:t>22</a:t>
            </a:fld>
            <a:endParaRPr lang="en-US" altLang="en-US"/>
          </a:p>
        </p:txBody>
      </p:sp>
      <p:sp>
        <p:nvSpPr>
          <p:cNvPr id="76803"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p:txBody>
          <a:bodyPr>
            <a:normAutofit fontScale="92500" lnSpcReduction="10000"/>
          </a:bodyPr>
          <a:lstStyle/>
          <a:p>
            <a:pPr eaLnBrk="1" hangingPunct="1">
              <a:defRPr/>
            </a:pPr>
            <a:r>
              <a:rPr lang="en-US" altLang="en-US" b="1" dirty="0" smtClean="0"/>
              <a:t>Project Wrap-up</a:t>
            </a:r>
          </a:p>
          <a:p>
            <a:pPr marL="742950" lvl="1" indent="-285750">
              <a:spcBef>
                <a:spcPct val="20000"/>
              </a:spcBef>
              <a:buFontTx/>
              <a:buChar char="–"/>
              <a:defRPr/>
            </a:pPr>
            <a:r>
              <a:rPr lang="en-US" altLang="en-US" sz="2400" kern="0" dirty="0" smtClean="0">
                <a:solidFill>
                  <a:srgbClr val="222222"/>
                </a:solidFill>
                <a:latin typeface="Arial"/>
              </a:rPr>
              <a:t>Project wrap-up is usually handled as procedural task and assigned to mid-level IT or information security manager</a:t>
            </a:r>
          </a:p>
          <a:p>
            <a:pPr marL="742950" lvl="1" indent="-285750">
              <a:spcBef>
                <a:spcPct val="20000"/>
              </a:spcBef>
              <a:buFontTx/>
              <a:buChar char="–"/>
              <a:defRPr/>
            </a:pPr>
            <a:r>
              <a:rPr lang="en-US" altLang="en-US" sz="2400" kern="0" dirty="0" smtClean="0">
                <a:solidFill>
                  <a:srgbClr val="222222"/>
                </a:solidFill>
                <a:latin typeface="Arial"/>
              </a:rPr>
              <a:t>Collect documentation, finalize status reports, and deliver final report and presentation at wrap-up meeting</a:t>
            </a:r>
          </a:p>
          <a:p>
            <a:pPr marL="742950" lvl="1" indent="-285750">
              <a:spcBef>
                <a:spcPct val="20000"/>
              </a:spcBef>
              <a:buFontTx/>
              <a:buChar char="–"/>
              <a:defRPr/>
            </a:pPr>
            <a:r>
              <a:rPr lang="en-US" altLang="en-US" sz="2400" kern="0" dirty="0" smtClean="0">
                <a:solidFill>
                  <a:srgbClr val="222222"/>
                </a:solidFill>
                <a:latin typeface="Arial"/>
              </a:rPr>
              <a:t>Goal of wrap-up is to resolve any pending issues, critique overall project effort, and draw conclusions about how to improve process</a:t>
            </a:r>
          </a:p>
        </p:txBody>
      </p:sp>
    </p:spTree>
    <p:extLst>
      <p:ext uri="{BB962C8B-B14F-4D97-AF65-F5344CB8AC3E}">
        <p14:creationId xmlns:p14="http://schemas.microsoft.com/office/powerpoint/2010/main" val="9385155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85000" lnSpcReduction="20000"/>
          </a:bodyPr>
          <a:lstStyle/>
          <a:p>
            <a:pPr>
              <a:defRPr/>
            </a:pPr>
            <a:r>
              <a:rPr lang="en-US" b="1" dirty="0" smtClean="0"/>
              <a:t>Security Project Management Certifications</a:t>
            </a:r>
          </a:p>
          <a:p>
            <a:pPr marL="342900" indent="-342900">
              <a:spcBef>
                <a:spcPct val="20000"/>
              </a:spcBef>
              <a:buFontTx/>
              <a:buChar char="•"/>
              <a:defRPr/>
            </a:pPr>
            <a:r>
              <a:rPr lang="en-US" sz="2600" kern="0" dirty="0" smtClean="0">
                <a:solidFill>
                  <a:srgbClr val="222222"/>
                </a:solidFill>
                <a:latin typeface="Arial"/>
              </a:rPr>
              <a:t>GIAC certified project manager</a:t>
            </a:r>
          </a:p>
          <a:p>
            <a:pPr marL="742950" lvl="1" indent="-285750">
              <a:spcBef>
                <a:spcPct val="20000"/>
              </a:spcBef>
              <a:buFontTx/>
              <a:buChar char="–"/>
              <a:defRPr/>
            </a:pPr>
            <a:r>
              <a:rPr lang="en-US" sz="2400" kern="0" dirty="0" smtClean="0">
                <a:solidFill>
                  <a:srgbClr val="222222"/>
                </a:solidFill>
                <a:latin typeface="Arial"/>
              </a:rPr>
              <a:t>Offered by SANS Institute; focuses on security professionals/managers with project management responsibilities</a:t>
            </a:r>
          </a:p>
          <a:p>
            <a:pPr marL="342900" indent="-342900">
              <a:spcBef>
                <a:spcPct val="20000"/>
              </a:spcBef>
              <a:buFontTx/>
              <a:buChar char="•"/>
              <a:defRPr/>
            </a:pPr>
            <a:r>
              <a:rPr lang="en-US" sz="2600" kern="0" dirty="0" smtClean="0">
                <a:solidFill>
                  <a:srgbClr val="222222"/>
                </a:solidFill>
                <a:latin typeface="Arial"/>
              </a:rPr>
              <a:t>IT security project management </a:t>
            </a:r>
          </a:p>
          <a:p>
            <a:pPr marL="742950" lvl="1" indent="-285750">
              <a:spcBef>
                <a:spcPct val="20000"/>
              </a:spcBef>
              <a:buFontTx/>
              <a:buChar char="–"/>
              <a:defRPr/>
            </a:pPr>
            <a:r>
              <a:rPr lang="en-US" sz="2400" kern="0" dirty="0" smtClean="0">
                <a:solidFill>
                  <a:srgbClr val="222222"/>
                </a:solidFill>
                <a:latin typeface="Arial"/>
              </a:rPr>
              <a:t>Offered by EC Council as a milestone in its Certified E-Business Professional program</a:t>
            </a:r>
          </a:p>
          <a:p>
            <a:pPr marL="342900" indent="-342900">
              <a:spcBef>
                <a:spcPct val="20000"/>
              </a:spcBef>
              <a:buFontTx/>
              <a:buChar char="•"/>
              <a:defRPr/>
            </a:pPr>
            <a:r>
              <a:rPr lang="en-US" sz="2600" kern="0" dirty="0" smtClean="0">
                <a:solidFill>
                  <a:srgbClr val="222222"/>
                </a:solidFill>
                <a:latin typeface="Arial"/>
              </a:rPr>
              <a:t>Certified security project manager</a:t>
            </a:r>
          </a:p>
          <a:p>
            <a:pPr marL="742950" lvl="1" indent="-285750">
              <a:spcBef>
                <a:spcPct val="20000"/>
              </a:spcBef>
              <a:buFontTx/>
              <a:buChar char="–"/>
              <a:defRPr/>
            </a:pPr>
            <a:r>
              <a:rPr lang="en-US" sz="2400" kern="0" dirty="0" smtClean="0">
                <a:solidFill>
                  <a:srgbClr val="222222"/>
                </a:solidFill>
                <a:latin typeface="Arial"/>
              </a:rPr>
              <a:t>Security Industry Association focused on physical security; also incorporates information security</a:t>
            </a:r>
          </a:p>
        </p:txBody>
      </p:sp>
      <p:sp>
        <p:nvSpPr>
          <p:cNvPr id="77828"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4D48B26B-CAC9-4FA0-B5D7-250B2125DE97}" type="slidenum">
              <a:rPr lang="en-US" altLang="en-US"/>
              <a:pPr/>
              <a:t>23</a:t>
            </a:fld>
            <a:endParaRPr lang="en-US" altLang="en-US"/>
          </a:p>
        </p:txBody>
      </p:sp>
    </p:spTree>
    <p:extLst>
      <p:ext uri="{BB962C8B-B14F-4D97-AF65-F5344CB8AC3E}">
        <p14:creationId xmlns:p14="http://schemas.microsoft.com/office/powerpoint/2010/main" val="3514293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2C473ABF-E5B0-45E6-B086-0DFC822A4BA5}" type="slidenum">
              <a:rPr lang="en-US" altLang="en-US"/>
              <a:pPr/>
              <a:t>24</a:t>
            </a:fld>
            <a:endParaRPr lang="en-US" alt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p:txBody>
          <a:bodyPr/>
          <a:lstStyle/>
          <a:p>
            <a:pPr eaLnBrk="1" hangingPunct="1"/>
            <a:r>
              <a:rPr lang="en-US" altLang="en-US" b="1" smtClean="0"/>
              <a:t>Technical Topics of Implementation</a:t>
            </a:r>
          </a:p>
          <a:p>
            <a:pPr eaLnBrk="1" hangingPunct="1"/>
            <a:r>
              <a:rPr lang="en-US" altLang="en-US" smtClean="0"/>
              <a:t>Some parts of the implementation process are technical in nature, dealing with the application of technology, while others are not, dealing instead with the human interface to technical systems. </a:t>
            </a:r>
          </a:p>
          <a:p>
            <a:pPr eaLnBrk="1" hangingPunct="1"/>
            <a:endParaRPr lang="en-US" altLang="en-US" smtClean="0"/>
          </a:p>
        </p:txBody>
      </p:sp>
    </p:spTree>
    <p:extLst>
      <p:ext uri="{BB962C8B-B14F-4D97-AF65-F5344CB8AC3E}">
        <p14:creationId xmlns:p14="http://schemas.microsoft.com/office/powerpoint/2010/main" val="11987879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BE02E84D-EA23-479B-83AB-480AAAE1178F}" type="slidenum">
              <a:rPr lang="en-US" altLang="en-US"/>
              <a:pPr/>
              <a:t>25</a:t>
            </a:fld>
            <a:endParaRPr lang="en-US" altLang="en-US"/>
          </a:p>
        </p:txBody>
      </p:sp>
      <p:sp>
        <p:nvSpPr>
          <p:cNvPr id="79875"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Conversion Strategies</a:t>
            </a:r>
          </a:p>
          <a:p>
            <a:pPr marL="342900" indent="-342900">
              <a:spcBef>
                <a:spcPct val="20000"/>
              </a:spcBef>
              <a:buFontTx/>
              <a:buChar char="•"/>
              <a:defRPr/>
            </a:pPr>
            <a:r>
              <a:rPr lang="en-US" altLang="en-US" sz="2600" kern="0" dirty="0" smtClean="0">
                <a:solidFill>
                  <a:srgbClr val="222222"/>
                </a:solidFill>
                <a:latin typeface="Arial"/>
              </a:rPr>
              <a:t>As components of new security system are planned, provisions must be made for changeover from previous method of performing task to new method</a:t>
            </a:r>
          </a:p>
          <a:p>
            <a:pPr marL="342900" indent="-342900">
              <a:spcBef>
                <a:spcPct val="20000"/>
              </a:spcBef>
              <a:buFontTx/>
              <a:buChar char="•"/>
              <a:defRPr/>
            </a:pPr>
            <a:r>
              <a:rPr lang="en-US" altLang="en-US" sz="2600" kern="0" dirty="0" smtClean="0">
                <a:solidFill>
                  <a:srgbClr val="222222"/>
                </a:solidFill>
                <a:latin typeface="Arial"/>
              </a:rPr>
              <a:t>Four basic approaches:</a:t>
            </a:r>
          </a:p>
          <a:p>
            <a:pPr marL="742950" lvl="1" indent="-285750">
              <a:spcBef>
                <a:spcPct val="20000"/>
              </a:spcBef>
              <a:buFontTx/>
              <a:buChar char="–"/>
              <a:defRPr/>
            </a:pPr>
            <a:r>
              <a:rPr lang="en-US" altLang="en-US" sz="2400" kern="0" dirty="0" smtClean="0">
                <a:solidFill>
                  <a:srgbClr val="222222"/>
                </a:solidFill>
                <a:latin typeface="Arial"/>
              </a:rPr>
              <a:t>Direct changeover</a:t>
            </a:r>
          </a:p>
          <a:p>
            <a:pPr marL="742950" lvl="1" indent="-285750">
              <a:spcBef>
                <a:spcPct val="20000"/>
              </a:spcBef>
              <a:buFontTx/>
              <a:buChar char="–"/>
              <a:defRPr/>
            </a:pPr>
            <a:r>
              <a:rPr lang="en-US" altLang="en-US" sz="2400" kern="0" dirty="0" smtClean="0">
                <a:solidFill>
                  <a:srgbClr val="222222"/>
                </a:solidFill>
                <a:latin typeface="Arial"/>
              </a:rPr>
              <a:t>Phased implementation</a:t>
            </a:r>
          </a:p>
          <a:p>
            <a:pPr marL="742950" lvl="1" indent="-285750">
              <a:spcBef>
                <a:spcPct val="20000"/>
              </a:spcBef>
              <a:buFontTx/>
              <a:buChar char="–"/>
              <a:defRPr/>
            </a:pPr>
            <a:r>
              <a:rPr lang="en-US" altLang="en-US" sz="2400" kern="0" dirty="0" smtClean="0">
                <a:solidFill>
                  <a:srgbClr val="222222"/>
                </a:solidFill>
                <a:latin typeface="Arial"/>
              </a:rPr>
              <a:t>Pilot implementation</a:t>
            </a:r>
          </a:p>
          <a:p>
            <a:pPr marL="742950" lvl="1" indent="-285750">
              <a:spcBef>
                <a:spcPct val="20000"/>
              </a:spcBef>
              <a:buFontTx/>
              <a:buChar char="–"/>
              <a:defRPr/>
            </a:pPr>
            <a:r>
              <a:rPr lang="en-US" altLang="en-US" sz="2400" kern="0" dirty="0" smtClean="0">
                <a:solidFill>
                  <a:srgbClr val="222222"/>
                </a:solidFill>
                <a:latin typeface="Arial"/>
              </a:rPr>
              <a:t>Parallel operations</a:t>
            </a:r>
          </a:p>
        </p:txBody>
      </p:sp>
    </p:spTree>
    <p:extLst>
      <p:ext uri="{BB962C8B-B14F-4D97-AF65-F5344CB8AC3E}">
        <p14:creationId xmlns:p14="http://schemas.microsoft.com/office/powerpoint/2010/main" val="30844008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BE02E84D-EA23-479B-83AB-480AAAE1178F}" type="slidenum">
              <a:rPr lang="en-US" altLang="en-US"/>
              <a:pPr/>
              <a:t>26</a:t>
            </a:fld>
            <a:endParaRPr lang="en-US" altLang="en-US"/>
          </a:p>
        </p:txBody>
      </p:sp>
      <p:sp>
        <p:nvSpPr>
          <p:cNvPr id="79875"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Conversion Strategies</a:t>
            </a:r>
          </a:p>
          <a:p>
            <a:pPr marL="342900" indent="-342900">
              <a:spcBef>
                <a:spcPct val="20000"/>
              </a:spcBef>
              <a:buFontTx/>
              <a:buChar char="•"/>
              <a:defRPr/>
            </a:pPr>
            <a:r>
              <a:rPr lang="en-US" altLang="en-US" sz="2600" kern="0" dirty="0" smtClean="0">
                <a:solidFill>
                  <a:srgbClr val="222222"/>
                </a:solidFill>
                <a:latin typeface="Arial"/>
              </a:rPr>
              <a:t>As components of new security system are planned, provisions must be made for changeover from previous method of performing task to new method</a:t>
            </a:r>
          </a:p>
          <a:p>
            <a:pPr marL="342900" indent="-342900">
              <a:spcBef>
                <a:spcPct val="20000"/>
              </a:spcBef>
              <a:buFontTx/>
              <a:buChar char="•"/>
              <a:defRPr/>
            </a:pPr>
            <a:r>
              <a:rPr lang="en-US" altLang="en-US" sz="2600" kern="0" dirty="0" smtClean="0">
                <a:solidFill>
                  <a:srgbClr val="222222"/>
                </a:solidFill>
                <a:latin typeface="Arial"/>
              </a:rPr>
              <a:t>Four basic approaches:</a:t>
            </a:r>
          </a:p>
          <a:p>
            <a:pPr marL="742950" lvl="1" indent="-285750">
              <a:spcBef>
                <a:spcPct val="20000"/>
              </a:spcBef>
              <a:buFontTx/>
              <a:buChar char="–"/>
              <a:defRPr/>
            </a:pPr>
            <a:r>
              <a:rPr lang="en-US" altLang="en-US" sz="2400" kern="0" dirty="0" smtClean="0">
                <a:solidFill>
                  <a:srgbClr val="222222"/>
                </a:solidFill>
                <a:latin typeface="Arial"/>
              </a:rPr>
              <a:t>Direct changeover</a:t>
            </a:r>
          </a:p>
          <a:p>
            <a:pPr marL="742950" lvl="1" indent="-285750">
              <a:spcBef>
                <a:spcPct val="20000"/>
              </a:spcBef>
              <a:buFontTx/>
              <a:buChar char="–"/>
              <a:defRPr/>
            </a:pPr>
            <a:r>
              <a:rPr lang="en-US" altLang="en-US" sz="2400" kern="0" dirty="0" smtClean="0">
                <a:solidFill>
                  <a:srgbClr val="222222"/>
                </a:solidFill>
                <a:latin typeface="Arial"/>
              </a:rPr>
              <a:t>Phased implementation</a:t>
            </a:r>
          </a:p>
          <a:p>
            <a:pPr marL="742950" lvl="1" indent="-285750">
              <a:spcBef>
                <a:spcPct val="20000"/>
              </a:spcBef>
              <a:buFontTx/>
              <a:buChar char="–"/>
              <a:defRPr/>
            </a:pPr>
            <a:r>
              <a:rPr lang="en-US" altLang="en-US" sz="2400" kern="0" dirty="0" smtClean="0">
                <a:solidFill>
                  <a:srgbClr val="222222"/>
                </a:solidFill>
                <a:latin typeface="Arial"/>
              </a:rPr>
              <a:t>Pilot implementation</a:t>
            </a:r>
          </a:p>
          <a:p>
            <a:pPr marL="742950" lvl="1" indent="-285750">
              <a:spcBef>
                <a:spcPct val="20000"/>
              </a:spcBef>
              <a:buFontTx/>
              <a:buChar char="–"/>
              <a:defRPr/>
            </a:pPr>
            <a:r>
              <a:rPr lang="en-US" altLang="en-US" sz="2400" kern="0" dirty="0" smtClean="0">
                <a:solidFill>
                  <a:srgbClr val="222222"/>
                </a:solidFill>
                <a:latin typeface="Arial"/>
              </a:rPr>
              <a:t>Parallel operations</a:t>
            </a:r>
          </a:p>
        </p:txBody>
      </p:sp>
    </p:spTree>
    <p:extLst>
      <p:ext uri="{BB962C8B-B14F-4D97-AF65-F5344CB8AC3E}">
        <p14:creationId xmlns:p14="http://schemas.microsoft.com/office/powerpoint/2010/main" val="30844008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CAD61FF3-2986-45E0-953A-0A66B4DF6039}" type="slidenum">
              <a:rPr lang="en-US" altLang="en-US"/>
              <a:pPr/>
              <a:t>27</a:t>
            </a:fld>
            <a:endParaRPr lang="en-US" altLang="en-US"/>
          </a:p>
        </p:txBody>
      </p:sp>
      <p:sp>
        <p:nvSpPr>
          <p:cNvPr id="80899"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p:txBody>
          <a:bodyPr>
            <a:normAutofit fontScale="77500" lnSpcReduction="20000"/>
          </a:bodyPr>
          <a:lstStyle/>
          <a:p>
            <a:pPr eaLnBrk="1" hangingPunct="1">
              <a:defRPr/>
            </a:pPr>
            <a:r>
              <a:rPr lang="en-US" altLang="en-US" b="1" dirty="0" smtClean="0"/>
              <a:t>The Bull’s-Eye Model </a:t>
            </a:r>
          </a:p>
          <a:p>
            <a:pPr marL="457200" indent="-457200" eaLnBrk="1" hangingPunct="1">
              <a:buFont typeface="Arial" panose="020B0604020202020204" pitchFamily="34" charset="0"/>
              <a:buChar char="•"/>
              <a:defRPr/>
            </a:pPr>
            <a:r>
              <a:rPr lang="en-US" altLang="en-US" sz="2600" kern="0" dirty="0" smtClean="0">
                <a:solidFill>
                  <a:srgbClr val="222222"/>
                </a:solidFill>
                <a:latin typeface="Arial"/>
              </a:rPr>
              <a:t>Proven method for prioritizing program of complex change</a:t>
            </a:r>
          </a:p>
          <a:p>
            <a:pPr marL="342900" indent="-342900">
              <a:spcBef>
                <a:spcPct val="20000"/>
              </a:spcBef>
              <a:buFontTx/>
              <a:buChar char="•"/>
              <a:defRPr/>
            </a:pPr>
            <a:r>
              <a:rPr lang="en-US" altLang="en-US" sz="2600" kern="0" dirty="0" smtClean="0">
                <a:solidFill>
                  <a:srgbClr val="222222"/>
                </a:solidFill>
                <a:latin typeface="Arial"/>
              </a:rPr>
              <a:t>Requires that issues be addressed from general to specific; focus is on systematic solutions and not individual problems</a:t>
            </a:r>
          </a:p>
          <a:p>
            <a:pPr marL="342900" indent="-342900">
              <a:spcBef>
                <a:spcPct val="20000"/>
              </a:spcBef>
              <a:buFontTx/>
              <a:buChar char="•"/>
              <a:defRPr/>
            </a:pPr>
            <a:r>
              <a:rPr lang="en-US" altLang="en-US" sz="2600" kern="0" dirty="0" smtClean="0">
                <a:solidFill>
                  <a:srgbClr val="222222"/>
                </a:solidFill>
                <a:latin typeface="Arial"/>
              </a:rPr>
              <a:t>Relies on process of project plan evaluation infour layers: </a:t>
            </a:r>
          </a:p>
          <a:p>
            <a:pPr marL="742950" lvl="1" indent="-285750">
              <a:spcBef>
                <a:spcPct val="20000"/>
              </a:spcBef>
              <a:buFontTx/>
              <a:buChar char="–"/>
              <a:defRPr/>
            </a:pPr>
            <a:r>
              <a:rPr lang="en-US" altLang="en-US" sz="2400" kern="0" dirty="0" smtClean="0">
                <a:solidFill>
                  <a:srgbClr val="222222"/>
                </a:solidFill>
                <a:latin typeface="Arial"/>
              </a:rPr>
              <a:t>Policies</a:t>
            </a:r>
          </a:p>
          <a:p>
            <a:pPr marL="742950" lvl="1" indent="-285750">
              <a:spcBef>
                <a:spcPct val="20000"/>
              </a:spcBef>
              <a:buFontTx/>
              <a:buChar char="–"/>
              <a:defRPr/>
            </a:pPr>
            <a:r>
              <a:rPr lang="en-US" altLang="en-US" sz="2400" kern="0" dirty="0" smtClean="0">
                <a:solidFill>
                  <a:srgbClr val="222222"/>
                </a:solidFill>
                <a:latin typeface="Arial"/>
              </a:rPr>
              <a:t>Networks</a:t>
            </a:r>
          </a:p>
          <a:p>
            <a:pPr marL="742950" lvl="1" indent="-285750">
              <a:spcBef>
                <a:spcPct val="20000"/>
              </a:spcBef>
              <a:buFontTx/>
              <a:buChar char="–"/>
              <a:defRPr/>
            </a:pPr>
            <a:r>
              <a:rPr lang="en-US" altLang="en-US" sz="2400" kern="0" dirty="0" smtClean="0">
                <a:solidFill>
                  <a:srgbClr val="222222"/>
                </a:solidFill>
                <a:latin typeface="Arial"/>
              </a:rPr>
              <a:t>Systems</a:t>
            </a:r>
          </a:p>
          <a:p>
            <a:pPr marL="742950" lvl="1" indent="-285750">
              <a:spcBef>
                <a:spcPct val="20000"/>
              </a:spcBef>
              <a:buFontTx/>
              <a:buChar char="–"/>
              <a:defRPr/>
            </a:pPr>
            <a:r>
              <a:rPr lang="en-US" altLang="en-US" sz="2400" kern="0" dirty="0" smtClean="0">
                <a:solidFill>
                  <a:srgbClr val="222222"/>
                </a:solidFill>
                <a:latin typeface="Arial"/>
              </a:rPr>
              <a:t>Applications</a:t>
            </a:r>
          </a:p>
        </p:txBody>
      </p:sp>
    </p:spTree>
    <p:extLst>
      <p:ext uri="{BB962C8B-B14F-4D97-AF65-F5344CB8AC3E}">
        <p14:creationId xmlns:p14="http://schemas.microsoft.com/office/powerpoint/2010/main" val="3177296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p:txBody>
          <a:bodyPr/>
          <a:lstStyle/>
          <a:p>
            <a:endParaRPr lang="en-US" altLang="en-US" smtClean="0"/>
          </a:p>
        </p:txBody>
      </p:sp>
      <p:sp>
        <p:nvSpPr>
          <p:cNvPr id="81924"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1CA74F10-CE45-4607-9807-4E872FF7B2BB}" type="slidenum">
              <a:rPr lang="en-US" altLang="en-US"/>
              <a:pPr/>
              <a:t>28</a:t>
            </a:fld>
            <a:endParaRPr lang="en-US" altLang="en-US"/>
          </a:p>
        </p:txBody>
      </p:sp>
    </p:spTree>
    <p:extLst>
      <p:ext uri="{BB962C8B-B14F-4D97-AF65-F5344CB8AC3E}">
        <p14:creationId xmlns:p14="http://schemas.microsoft.com/office/powerpoint/2010/main" val="18658126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A8DCA076-E825-4FE5-B6D5-ACE50B9BEBA5}" type="slidenum">
              <a:rPr lang="en-US" altLang="en-US"/>
              <a:pPr/>
              <a:t>29</a:t>
            </a:fld>
            <a:endParaRPr lang="en-US" altLang="en-US"/>
          </a:p>
        </p:txBody>
      </p:sp>
      <p:sp>
        <p:nvSpPr>
          <p:cNvPr id="82947"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p:txBody>
          <a:bodyPr>
            <a:normAutofit fontScale="92500" lnSpcReduction="10000"/>
          </a:bodyPr>
          <a:lstStyle/>
          <a:p>
            <a:pPr eaLnBrk="1" hangingPunct="1">
              <a:defRPr/>
            </a:pPr>
            <a:r>
              <a:rPr lang="en-US" altLang="en-US" b="1" dirty="0" smtClean="0"/>
              <a:t>To Outsource or Not </a:t>
            </a:r>
          </a:p>
          <a:p>
            <a:pPr marL="342900" indent="-342900">
              <a:spcBef>
                <a:spcPct val="20000"/>
              </a:spcBef>
              <a:buFontTx/>
              <a:buChar char="•"/>
              <a:defRPr/>
            </a:pPr>
            <a:r>
              <a:rPr lang="en-US" altLang="en-US" sz="2600" kern="0" dirty="0" smtClean="0">
                <a:solidFill>
                  <a:srgbClr val="222222"/>
                </a:solidFill>
                <a:latin typeface="Arial"/>
              </a:rPr>
              <a:t>Just as some organizations outsource IT operations, organizations can outsource part or all of information security programs</a:t>
            </a:r>
          </a:p>
          <a:p>
            <a:pPr marL="342900" indent="-342900">
              <a:spcBef>
                <a:spcPct val="20000"/>
              </a:spcBef>
              <a:buFontTx/>
              <a:buChar char="•"/>
              <a:defRPr/>
            </a:pPr>
            <a:r>
              <a:rPr lang="en-US" altLang="en-US" sz="2600" kern="0" dirty="0" smtClean="0">
                <a:solidFill>
                  <a:srgbClr val="222222"/>
                </a:solidFill>
                <a:latin typeface="Arial"/>
              </a:rPr>
              <a:t>When organization outsources most/all IT services, information security should be part of contract arrangement with supplier</a:t>
            </a:r>
          </a:p>
          <a:p>
            <a:pPr marL="342900" indent="-342900">
              <a:spcBef>
                <a:spcPct val="20000"/>
              </a:spcBef>
              <a:buFontTx/>
              <a:buChar char="•"/>
              <a:defRPr/>
            </a:pPr>
            <a:r>
              <a:rPr lang="en-US" altLang="en-US" sz="2600" kern="0" dirty="0" smtClean="0">
                <a:solidFill>
                  <a:srgbClr val="222222"/>
                </a:solidFill>
                <a:latin typeface="Arial"/>
              </a:rPr>
              <a:t>Organizations of all sizes frequently outsource network monitoring functions</a:t>
            </a:r>
          </a:p>
        </p:txBody>
      </p:sp>
    </p:spTree>
    <p:extLst>
      <p:ext uri="{BB962C8B-B14F-4D97-AF65-F5344CB8AC3E}">
        <p14:creationId xmlns:p14="http://schemas.microsoft.com/office/powerpoint/2010/main" val="2043245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A8C93949-0839-4C76-A864-37CB6F7F7007}" type="slidenum">
              <a:rPr lang="en-US" altLang="en-US"/>
              <a:pPr/>
              <a:t>30</a:t>
            </a:fld>
            <a:endParaRPr lang="en-US" alt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p:txBody>
          <a:bodyPr>
            <a:normAutofit fontScale="92500"/>
          </a:bodyPr>
          <a:lstStyle/>
          <a:p>
            <a:pPr eaLnBrk="1" hangingPunct="1"/>
            <a:r>
              <a:rPr lang="en-US" altLang="en-US" b="1" smtClean="0"/>
              <a:t>Technology Governance and Change Control</a:t>
            </a:r>
          </a:p>
          <a:p>
            <a:pPr eaLnBrk="1" hangingPunct="1"/>
            <a:r>
              <a:rPr lang="en-US" altLang="en-US" smtClean="0"/>
              <a:t>Other factors that determine the success of an organization’s IT and information security are technology governance and change control processes. </a:t>
            </a:r>
          </a:p>
          <a:p>
            <a:pPr eaLnBrk="1" hangingPunct="1"/>
            <a:r>
              <a:rPr lang="en-US" altLang="en-US" smtClean="0"/>
              <a:t>Technology governance is a complex process that an organization uses to manage the impacts and costs caused by technology implementation, innovation, and obsolescence. </a:t>
            </a:r>
          </a:p>
          <a:p>
            <a:pPr eaLnBrk="1" hangingPunct="1"/>
            <a:r>
              <a:rPr lang="en-US" altLang="en-US" smtClean="0"/>
              <a:t>Technology governance also facilitates the communication about technical advances and issues across the organization.</a:t>
            </a:r>
          </a:p>
          <a:p>
            <a:pPr eaLnBrk="1" hangingPunct="1"/>
            <a:r>
              <a:rPr lang="en-US" altLang="en-US" smtClean="0"/>
              <a:t>Medium or large organizations deal with the impact of technical change on the operation of the organization through a change control process. </a:t>
            </a:r>
          </a:p>
          <a:p>
            <a:pPr eaLnBrk="1" hangingPunct="1"/>
            <a:r>
              <a:rPr lang="en-US" altLang="en-US" smtClean="0"/>
              <a:t>By managing the process of change, the organization can:</a:t>
            </a:r>
          </a:p>
          <a:p>
            <a:pPr eaLnBrk="1" hangingPunct="1">
              <a:buFontTx/>
              <a:buChar char="•"/>
            </a:pPr>
            <a:r>
              <a:rPr lang="en-US" altLang="en-US" smtClean="0"/>
              <a:t> Improve communication about change </a:t>
            </a:r>
          </a:p>
          <a:p>
            <a:pPr eaLnBrk="1" hangingPunct="1">
              <a:buFontTx/>
              <a:buChar char="•"/>
            </a:pPr>
            <a:r>
              <a:rPr lang="en-US" altLang="en-US" smtClean="0"/>
              <a:t> Enhance coordination between organizational groups as change is scheduled and completed</a:t>
            </a:r>
          </a:p>
          <a:p>
            <a:pPr eaLnBrk="1" hangingPunct="1">
              <a:buFontTx/>
              <a:buChar char="•"/>
            </a:pPr>
            <a:r>
              <a:rPr lang="en-US" altLang="en-US" smtClean="0"/>
              <a:t> Reduce unintended consequences by having a process to resolve potential conflict and disruption</a:t>
            </a:r>
          </a:p>
          <a:p>
            <a:pPr eaLnBrk="1" hangingPunct="1">
              <a:buFontTx/>
              <a:buChar char="•"/>
            </a:pPr>
            <a:r>
              <a:rPr lang="en-US" altLang="en-US" smtClean="0"/>
              <a:t> Improve quality of service as potential failures are eliminated and groups work together</a:t>
            </a:r>
          </a:p>
          <a:p>
            <a:pPr eaLnBrk="1" hangingPunct="1">
              <a:buFontTx/>
              <a:buChar char="•"/>
            </a:pPr>
            <a:r>
              <a:rPr lang="en-US" altLang="en-US" smtClean="0"/>
              <a:t> Assure management that all groups are complying with the organization’s policies regarding technology governance, procurement, accounting, and information security</a:t>
            </a:r>
          </a:p>
          <a:p>
            <a:pPr eaLnBrk="1" hangingPunct="1"/>
            <a:endParaRPr lang="en-US" altLang="en-US" smtClean="0"/>
          </a:p>
        </p:txBody>
      </p:sp>
    </p:spTree>
    <p:extLst>
      <p:ext uri="{BB962C8B-B14F-4D97-AF65-F5344CB8AC3E}">
        <p14:creationId xmlns:p14="http://schemas.microsoft.com/office/powerpoint/2010/main" val="38605514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17B478DA-8D47-41E4-AA6D-63E0E7918058}" type="slidenum">
              <a:rPr lang="en-US" altLang="en-US"/>
              <a:pPr/>
              <a:t>31</a:t>
            </a:fld>
            <a:endParaRPr lang="en-US" altLang="en-US"/>
          </a:p>
        </p:txBody>
      </p:sp>
      <p:sp>
        <p:nvSpPr>
          <p:cNvPr id="84995"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p:txBody>
          <a:bodyPr/>
          <a:lstStyle/>
          <a:p>
            <a:pPr eaLnBrk="1" hangingPunct="1">
              <a:defRPr/>
            </a:pPr>
            <a:r>
              <a:rPr lang="en-US" altLang="en-US" b="1" dirty="0" smtClean="0"/>
              <a:t>Nontechnical Topics of Implementation</a:t>
            </a:r>
          </a:p>
          <a:p>
            <a:pPr marL="342900" indent="-342900">
              <a:spcBef>
                <a:spcPct val="20000"/>
              </a:spcBef>
              <a:buFontTx/>
              <a:buChar char="•"/>
              <a:defRPr/>
            </a:pPr>
            <a:r>
              <a:rPr lang="en-US" altLang="en-US" sz="2600" kern="0" dirty="0" smtClean="0">
                <a:solidFill>
                  <a:srgbClr val="222222"/>
                </a:solidFill>
                <a:latin typeface="Arial"/>
              </a:rPr>
              <a:t>Some aspects of implementation are not technical in nature, instead dealing with the human interface to technical systems </a:t>
            </a:r>
          </a:p>
          <a:p>
            <a:pPr marL="342900" indent="-342900">
              <a:spcBef>
                <a:spcPct val="20000"/>
              </a:spcBef>
              <a:buFontTx/>
              <a:buChar char="•"/>
              <a:defRPr/>
            </a:pPr>
            <a:r>
              <a:rPr lang="en-US" altLang="en-US" sz="2600" kern="0" dirty="0" smtClean="0">
                <a:solidFill>
                  <a:srgbClr val="222222"/>
                </a:solidFill>
                <a:latin typeface="Arial"/>
              </a:rPr>
              <a:t>Include creating a culture of change management and considerations for organizations facing change</a:t>
            </a:r>
          </a:p>
        </p:txBody>
      </p:sp>
    </p:spTree>
    <p:extLst>
      <p:ext uri="{BB962C8B-B14F-4D97-AF65-F5344CB8AC3E}">
        <p14:creationId xmlns:p14="http://schemas.microsoft.com/office/powerpoint/2010/main" val="38911941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141AD129-F3BF-490E-B9DD-40F645DF5311}" type="slidenum">
              <a:rPr lang="en-US" altLang="en-US"/>
              <a:pPr/>
              <a:t>32</a:t>
            </a:fld>
            <a:endParaRPr lang="en-US" altLang="en-US"/>
          </a:p>
        </p:txBody>
      </p:sp>
      <p:sp>
        <p:nvSpPr>
          <p:cNvPr id="86019"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p:txBody>
          <a:bodyPr>
            <a:normAutofit fontScale="77500" lnSpcReduction="20000"/>
          </a:bodyPr>
          <a:lstStyle/>
          <a:p>
            <a:pPr eaLnBrk="1" hangingPunct="1">
              <a:defRPr/>
            </a:pPr>
            <a:r>
              <a:rPr lang="en-US" altLang="en-US" b="1" dirty="0" smtClean="0"/>
              <a:t>The Culture of Change Management</a:t>
            </a:r>
          </a:p>
          <a:p>
            <a:pPr marL="342900" indent="-342900">
              <a:spcBef>
                <a:spcPct val="20000"/>
              </a:spcBef>
              <a:buFontTx/>
              <a:buChar char="•"/>
              <a:defRPr/>
            </a:pPr>
            <a:r>
              <a:rPr lang="en-US" altLang="en-US" sz="2600" kern="0" dirty="0" smtClean="0">
                <a:solidFill>
                  <a:srgbClr val="222222"/>
                </a:solidFill>
                <a:latin typeface="Arial"/>
              </a:rPr>
              <a:t>Prospect of change can cause employees to consciously or unconsciously resist the change</a:t>
            </a:r>
          </a:p>
          <a:p>
            <a:pPr marL="342900" indent="-342900">
              <a:spcBef>
                <a:spcPct val="20000"/>
              </a:spcBef>
              <a:buFontTx/>
              <a:buChar char="•"/>
              <a:defRPr/>
            </a:pPr>
            <a:r>
              <a:rPr lang="en-US" altLang="en-US" sz="2600" kern="0" dirty="0" smtClean="0">
                <a:solidFill>
                  <a:srgbClr val="222222"/>
                </a:solidFill>
                <a:latin typeface="Arial"/>
              </a:rPr>
              <a:t>The stress of change can increase the probability of mistakes or create vulnerabilities in systems</a:t>
            </a:r>
          </a:p>
          <a:p>
            <a:pPr marL="342900" indent="-342900">
              <a:spcBef>
                <a:spcPct val="20000"/>
              </a:spcBef>
              <a:buFontTx/>
              <a:buChar char="•"/>
              <a:defRPr/>
            </a:pPr>
            <a:r>
              <a:rPr lang="en-US" altLang="en-US" sz="2600" kern="0" dirty="0" smtClean="0">
                <a:solidFill>
                  <a:srgbClr val="222222"/>
                </a:solidFill>
                <a:latin typeface="Arial"/>
              </a:rPr>
              <a:t>Change management can lower resistance to change and build resilience</a:t>
            </a:r>
          </a:p>
          <a:p>
            <a:pPr marL="342900" indent="-342900">
              <a:spcBef>
                <a:spcPct val="20000"/>
              </a:spcBef>
              <a:buFontTx/>
              <a:buChar char="•"/>
              <a:defRPr/>
            </a:pPr>
            <a:r>
              <a:rPr lang="en-US" altLang="en-US" sz="2600" kern="0" dirty="0" smtClean="0">
                <a:solidFill>
                  <a:srgbClr val="222222"/>
                </a:solidFill>
                <a:latin typeface="Arial"/>
              </a:rPr>
              <a:t>Lewin change model: </a:t>
            </a:r>
          </a:p>
          <a:p>
            <a:pPr marL="742950" lvl="1" indent="-285750">
              <a:spcBef>
                <a:spcPct val="20000"/>
              </a:spcBef>
              <a:buFontTx/>
              <a:buChar char="–"/>
              <a:defRPr/>
            </a:pPr>
            <a:r>
              <a:rPr lang="en-US" altLang="en-US" sz="2400" kern="0" dirty="0" smtClean="0">
                <a:solidFill>
                  <a:srgbClr val="222222"/>
                </a:solidFill>
                <a:latin typeface="Arial"/>
              </a:rPr>
              <a:t>Unfreezing</a:t>
            </a:r>
          </a:p>
          <a:p>
            <a:pPr marL="742950" lvl="1" indent="-285750">
              <a:spcBef>
                <a:spcPct val="20000"/>
              </a:spcBef>
              <a:buFontTx/>
              <a:buChar char="–"/>
              <a:defRPr/>
            </a:pPr>
            <a:r>
              <a:rPr lang="en-US" altLang="en-US" sz="2400" kern="0" dirty="0" smtClean="0">
                <a:solidFill>
                  <a:srgbClr val="222222"/>
                </a:solidFill>
                <a:latin typeface="Arial"/>
              </a:rPr>
              <a:t>Moving</a:t>
            </a:r>
          </a:p>
          <a:p>
            <a:pPr marL="742950" lvl="1" indent="-285750">
              <a:spcBef>
                <a:spcPct val="20000"/>
              </a:spcBef>
              <a:buFontTx/>
              <a:buChar char="–"/>
              <a:defRPr/>
            </a:pPr>
            <a:r>
              <a:rPr lang="en-US" altLang="en-US" sz="2400" kern="0" dirty="0" smtClean="0">
                <a:solidFill>
                  <a:srgbClr val="222222"/>
                </a:solidFill>
                <a:latin typeface="Arial"/>
              </a:rPr>
              <a:t>Refreezing</a:t>
            </a:r>
          </a:p>
          <a:p>
            <a:pPr eaLnBrk="1" hangingPunct="1">
              <a:defRPr/>
            </a:pPr>
            <a:endParaRPr lang="en-US" altLang="en-US" dirty="0" smtClean="0"/>
          </a:p>
        </p:txBody>
      </p:sp>
    </p:spTree>
    <p:extLst>
      <p:ext uri="{BB962C8B-B14F-4D97-AF65-F5344CB8AC3E}">
        <p14:creationId xmlns:p14="http://schemas.microsoft.com/office/powerpoint/2010/main" val="22059104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05379F59-65DE-4D41-8557-27A6A005C1DF}" type="slidenum">
              <a:rPr lang="en-US" altLang="en-US"/>
              <a:pPr/>
              <a:t>33</a:t>
            </a:fld>
            <a:endParaRPr lang="en-US" altLang="en-U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p:txBody>
          <a:bodyPr/>
          <a:lstStyle/>
          <a:p>
            <a:pPr eaLnBrk="1" hangingPunct="1"/>
            <a:r>
              <a:rPr lang="en-US" altLang="en-US" b="1" smtClean="0"/>
              <a:t>Considerations for Organizational Change</a:t>
            </a:r>
          </a:p>
          <a:p>
            <a:pPr eaLnBrk="1" hangingPunct="1"/>
            <a:r>
              <a:rPr lang="en-US" altLang="en-US" smtClean="0"/>
              <a:t>In order to make an organization more amenable to change, some steps can be taken. </a:t>
            </a:r>
          </a:p>
          <a:p>
            <a:pPr eaLnBrk="1" hangingPunct="1"/>
            <a:r>
              <a:rPr lang="en-US" altLang="en-US" smtClean="0"/>
              <a:t>This includes reducing resistance to change from the beginning of the planning process and steps taken to modify the organization to be more accepting of change. </a:t>
            </a:r>
          </a:p>
          <a:p>
            <a:pPr eaLnBrk="1" hangingPunct="1"/>
            <a:endParaRPr lang="en-US" altLang="en-US" smtClean="0"/>
          </a:p>
        </p:txBody>
      </p:sp>
    </p:spTree>
    <p:extLst>
      <p:ext uri="{BB962C8B-B14F-4D97-AF65-F5344CB8AC3E}">
        <p14:creationId xmlns:p14="http://schemas.microsoft.com/office/powerpoint/2010/main" val="423229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16649D0D-7CC0-4B06-B750-43E456CDEAD6}" type="slidenum">
              <a:rPr lang="en-US" altLang="en-US"/>
              <a:pPr/>
              <a:t>34</a:t>
            </a:fld>
            <a:endParaRPr lang="en-US" altLang="en-US"/>
          </a:p>
        </p:txBody>
      </p:sp>
      <p:sp>
        <p:nvSpPr>
          <p:cNvPr id="89091"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p:txBody>
          <a:bodyPr>
            <a:normAutofit fontScale="92500"/>
          </a:bodyPr>
          <a:lstStyle/>
          <a:p>
            <a:pPr>
              <a:spcBef>
                <a:spcPct val="20000"/>
              </a:spcBef>
              <a:defRPr/>
            </a:pPr>
            <a:r>
              <a:rPr lang="en-US" altLang="en-US" sz="2600" b="1" kern="0" dirty="0" smtClean="0">
                <a:solidFill>
                  <a:srgbClr val="222222"/>
                </a:solidFill>
                <a:latin typeface="Arial"/>
              </a:rPr>
              <a:t>Developing a culture that supports change</a:t>
            </a:r>
          </a:p>
          <a:p>
            <a:pPr marL="742950" lvl="1" indent="-285750">
              <a:spcBef>
                <a:spcPct val="20000"/>
              </a:spcBef>
              <a:buFontTx/>
              <a:buChar char="–"/>
              <a:defRPr/>
            </a:pPr>
            <a:r>
              <a:rPr lang="en-US" altLang="en-US" sz="2400" kern="0" dirty="0" smtClean="0">
                <a:solidFill>
                  <a:srgbClr val="222222"/>
                </a:solidFill>
                <a:latin typeface="Arial"/>
              </a:rPr>
              <a:t>Ideal organization fosters resilience to change</a:t>
            </a:r>
          </a:p>
          <a:p>
            <a:pPr marL="742950" lvl="1" indent="-285750">
              <a:spcBef>
                <a:spcPct val="20000"/>
              </a:spcBef>
              <a:buFontTx/>
              <a:buChar char="–"/>
              <a:defRPr/>
            </a:pPr>
            <a:r>
              <a:rPr lang="en-US" altLang="en-US" sz="2400" kern="0" dirty="0" smtClean="0">
                <a:solidFill>
                  <a:srgbClr val="222222"/>
                </a:solidFill>
                <a:latin typeface="Arial"/>
              </a:rPr>
              <a:t>Resilience: organization understands change is a necessary part of organizational culture, and embracing change is more productive than fighting it</a:t>
            </a:r>
          </a:p>
          <a:p>
            <a:pPr marL="742950" lvl="1" indent="-285750">
              <a:spcBef>
                <a:spcPct val="20000"/>
              </a:spcBef>
              <a:buFontTx/>
              <a:buChar char="–"/>
              <a:defRPr/>
            </a:pPr>
            <a:r>
              <a:rPr lang="en-US" altLang="en-US" sz="2400" kern="0" dirty="0" smtClean="0">
                <a:solidFill>
                  <a:srgbClr val="222222"/>
                </a:solidFill>
                <a:latin typeface="Arial"/>
              </a:rPr>
              <a:t>To develop such a culture, organization must successfully accomplish many projects that require change</a:t>
            </a:r>
          </a:p>
        </p:txBody>
      </p:sp>
    </p:spTree>
    <p:extLst>
      <p:ext uri="{BB962C8B-B14F-4D97-AF65-F5344CB8AC3E}">
        <p14:creationId xmlns:p14="http://schemas.microsoft.com/office/powerpoint/2010/main" val="19245114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p:txBody>
          <a:bodyPr>
            <a:normAutofit lnSpcReduction="10000"/>
          </a:bodyPr>
          <a:lstStyle/>
          <a:p>
            <a:pPr>
              <a:defRPr/>
            </a:pPr>
            <a:r>
              <a:rPr lang="en-US" altLang="en-US" b="1" dirty="0" smtClean="0"/>
              <a:t>Information Systems Security Certification and Accreditation</a:t>
            </a:r>
          </a:p>
          <a:p>
            <a:pPr marL="342900" indent="-342900">
              <a:spcBef>
                <a:spcPct val="20000"/>
              </a:spcBef>
              <a:buFontTx/>
              <a:buChar char="•"/>
              <a:defRPr/>
            </a:pPr>
            <a:r>
              <a:rPr lang="en-US" altLang="en-US" sz="2600" kern="0" dirty="0" smtClean="0">
                <a:solidFill>
                  <a:srgbClr val="222222"/>
                </a:solidFill>
                <a:latin typeface="Arial"/>
              </a:rPr>
              <a:t>It may seem that only systems handling secret government data require security certification and accreditation</a:t>
            </a:r>
          </a:p>
          <a:p>
            <a:pPr marL="342900" indent="-342900">
              <a:spcBef>
                <a:spcPct val="20000"/>
              </a:spcBef>
              <a:buFontTx/>
              <a:buChar char="•"/>
              <a:defRPr/>
            </a:pPr>
            <a:r>
              <a:rPr lang="en-US" altLang="en-US" sz="2600" kern="0" dirty="0" smtClean="0">
                <a:solidFill>
                  <a:srgbClr val="222222"/>
                </a:solidFill>
                <a:latin typeface="Arial"/>
              </a:rPr>
              <a:t>In order to comply with recent federal regulations protecting personal privacy, organizations need to have formal mechanisms for verification and validation</a:t>
            </a:r>
          </a:p>
          <a:p>
            <a:pPr>
              <a:defRPr/>
            </a:pPr>
            <a:endParaRPr lang="en-US" altLang="en-US" b="1" dirty="0" smtClean="0"/>
          </a:p>
        </p:txBody>
      </p:sp>
      <p:sp>
        <p:nvSpPr>
          <p:cNvPr id="90116"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51CD610A-3062-43A3-A655-8C894FD8F6C9}" type="slidenum">
              <a:rPr lang="en-US" altLang="en-US"/>
              <a:pPr/>
              <a:t>35</a:t>
            </a:fld>
            <a:endParaRPr lang="en-US" altLang="en-US"/>
          </a:p>
        </p:txBody>
      </p:sp>
    </p:spTree>
    <p:extLst>
      <p:ext uri="{BB962C8B-B14F-4D97-AF65-F5344CB8AC3E}">
        <p14:creationId xmlns:p14="http://schemas.microsoft.com/office/powerpoint/2010/main" val="31882085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85000" lnSpcReduction="20000"/>
          </a:bodyPr>
          <a:lstStyle/>
          <a:p>
            <a:pPr>
              <a:defRPr/>
            </a:pPr>
            <a:r>
              <a:rPr lang="en-US" b="1" dirty="0" smtClean="0"/>
              <a:t>The NIST Security Life Cycle Approach</a:t>
            </a:r>
          </a:p>
          <a:p>
            <a:pPr marL="342900" indent="-342900">
              <a:spcBef>
                <a:spcPct val="20000"/>
              </a:spcBef>
              <a:buFontTx/>
              <a:buChar char="•"/>
              <a:defRPr/>
            </a:pPr>
            <a:r>
              <a:rPr lang="en-US" altLang="en-US" sz="2400" kern="0" dirty="0" smtClean="0">
                <a:solidFill>
                  <a:srgbClr val="222222"/>
                </a:solidFill>
                <a:latin typeface="Arial"/>
              </a:rPr>
              <a:t>SP 800-37, Rev. 1: Guidelines for Applying the Risk Management Framework to Federal Information Systems; and CNSS Instruction-1000: National Information Assurance Certification and Accreditation Process (NIACAP)</a:t>
            </a:r>
          </a:p>
          <a:p>
            <a:pPr marL="742950" lvl="1" indent="-285750">
              <a:spcBef>
                <a:spcPct val="20000"/>
              </a:spcBef>
              <a:buFontTx/>
              <a:buChar char="–"/>
              <a:defRPr/>
            </a:pPr>
            <a:r>
              <a:rPr lang="en-US" altLang="en-US" sz="2000" kern="0" dirty="0" smtClean="0">
                <a:solidFill>
                  <a:srgbClr val="222222"/>
                </a:solidFill>
                <a:latin typeface="Arial"/>
              </a:rPr>
              <a:t>Provide guidance for the certification and accreditation of federal information systems</a:t>
            </a:r>
          </a:p>
          <a:p>
            <a:pPr marL="342900" indent="-342900">
              <a:spcBef>
                <a:spcPct val="20000"/>
              </a:spcBef>
              <a:buFontTx/>
              <a:buChar char="•"/>
              <a:defRPr/>
            </a:pPr>
            <a:r>
              <a:rPr lang="en-US" altLang="en-US" sz="2400" kern="0" dirty="0" smtClean="0">
                <a:solidFill>
                  <a:srgbClr val="222222"/>
                </a:solidFill>
                <a:latin typeface="Arial"/>
              </a:rPr>
              <a:t>Information processed by the federal government is grouped into one of three categories:</a:t>
            </a:r>
          </a:p>
          <a:p>
            <a:pPr marL="742950" lvl="1" indent="-285750">
              <a:spcBef>
                <a:spcPct val="20000"/>
              </a:spcBef>
              <a:buFontTx/>
              <a:buChar char="–"/>
              <a:defRPr/>
            </a:pPr>
            <a:r>
              <a:rPr lang="en-US" altLang="en-US" sz="2000" kern="0" dirty="0" smtClean="0">
                <a:solidFill>
                  <a:srgbClr val="222222"/>
                </a:solidFill>
                <a:latin typeface="Arial"/>
              </a:rPr>
              <a:t>National security information (NSI)</a:t>
            </a:r>
          </a:p>
          <a:p>
            <a:pPr marL="742950" lvl="1" indent="-285750">
              <a:spcBef>
                <a:spcPct val="20000"/>
              </a:spcBef>
              <a:buFontTx/>
              <a:buChar char="–"/>
              <a:defRPr/>
            </a:pPr>
            <a:r>
              <a:rPr lang="en-US" altLang="en-US" sz="2000" kern="0" dirty="0" smtClean="0">
                <a:solidFill>
                  <a:srgbClr val="222222"/>
                </a:solidFill>
                <a:latin typeface="Arial"/>
              </a:rPr>
              <a:t>Non-NSI</a:t>
            </a:r>
          </a:p>
          <a:p>
            <a:pPr marL="742950" lvl="1" indent="-285750">
              <a:spcBef>
                <a:spcPct val="20000"/>
              </a:spcBef>
              <a:buFontTx/>
              <a:buChar char="–"/>
              <a:defRPr/>
            </a:pPr>
            <a:r>
              <a:rPr lang="en-US" altLang="en-US" sz="2000" kern="0" dirty="0" smtClean="0">
                <a:solidFill>
                  <a:srgbClr val="222222"/>
                </a:solidFill>
                <a:latin typeface="Arial"/>
              </a:rPr>
              <a:t>Intelligence community (IC)</a:t>
            </a:r>
          </a:p>
        </p:txBody>
      </p:sp>
      <p:sp>
        <p:nvSpPr>
          <p:cNvPr id="92164"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4F0C7B74-2589-485F-B576-6D822B035206}" type="slidenum">
              <a:rPr lang="en-US" altLang="en-US"/>
              <a:pPr/>
              <a:t>37</a:t>
            </a:fld>
            <a:endParaRPr lang="en-US" altLang="en-US"/>
          </a:p>
        </p:txBody>
      </p:sp>
    </p:spTree>
    <p:extLst>
      <p:ext uri="{BB962C8B-B14F-4D97-AF65-F5344CB8AC3E}">
        <p14:creationId xmlns:p14="http://schemas.microsoft.com/office/powerpoint/2010/main" val="5686220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92500" lnSpcReduction="20000"/>
          </a:bodyPr>
          <a:lstStyle/>
          <a:p>
            <a:pPr>
              <a:defRPr/>
            </a:pPr>
            <a:r>
              <a:rPr lang="en-US" b="1" dirty="0" smtClean="0"/>
              <a:t>NIST Security Life Cycle Approach</a:t>
            </a:r>
          </a:p>
          <a:p>
            <a:pPr marL="342900" indent="-342900">
              <a:spcBef>
                <a:spcPct val="20000"/>
              </a:spcBef>
              <a:buFontTx/>
              <a:buChar char="•"/>
              <a:defRPr/>
            </a:pPr>
            <a:r>
              <a:rPr lang="en-US" altLang="en-US" sz="2600" kern="0" dirty="0" smtClean="0">
                <a:solidFill>
                  <a:srgbClr val="222222"/>
                </a:solidFill>
                <a:latin typeface="Arial"/>
              </a:rPr>
              <a:t>A new publication, NIST SP 800-39: </a:t>
            </a:r>
            <a:r>
              <a:rPr lang="en-US" altLang="en-US" sz="2600" i="1" kern="0" dirty="0" smtClean="0">
                <a:solidFill>
                  <a:srgbClr val="222222"/>
                </a:solidFill>
                <a:latin typeface="Arial"/>
              </a:rPr>
              <a:t>Integrated Enterprise-Wide Risk Management: Organization, Mission, and Information Systems View </a:t>
            </a:r>
            <a:r>
              <a:rPr lang="en-US" altLang="en-US" sz="2600" kern="0" dirty="0" smtClean="0">
                <a:solidFill>
                  <a:srgbClr val="222222"/>
                </a:solidFill>
                <a:latin typeface="Arial"/>
              </a:rPr>
              <a:t>builds on a three-tiered approach to risk management</a:t>
            </a:r>
          </a:p>
          <a:p>
            <a:pPr marL="742950" lvl="1" indent="-285750">
              <a:spcBef>
                <a:spcPct val="20000"/>
              </a:spcBef>
              <a:buFontTx/>
              <a:buChar char="–"/>
              <a:defRPr/>
            </a:pPr>
            <a:r>
              <a:rPr lang="en-US" altLang="en-US" sz="2400" kern="0" dirty="0" smtClean="0">
                <a:solidFill>
                  <a:srgbClr val="222222"/>
                </a:solidFill>
                <a:latin typeface="Arial"/>
              </a:rPr>
              <a:t>Tier 1 addresses risk from organizational perspective</a:t>
            </a:r>
          </a:p>
          <a:p>
            <a:pPr marL="742950" lvl="1" indent="-285750">
              <a:spcBef>
                <a:spcPct val="20000"/>
              </a:spcBef>
              <a:buFontTx/>
              <a:buChar char="–"/>
              <a:defRPr/>
            </a:pPr>
            <a:r>
              <a:rPr lang="en-US" altLang="en-US" sz="2400" kern="0" dirty="0" smtClean="0">
                <a:solidFill>
                  <a:srgbClr val="222222"/>
                </a:solidFill>
                <a:latin typeface="Arial"/>
              </a:rPr>
              <a:t>Tier 2 addresses risk from mission/business process perspective</a:t>
            </a:r>
          </a:p>
          <a:p>
            <a:pPr marL="742950" lvl="1" indent="-285750">
              <a:spcBef>
                <a:spcPct val="20000"/>
              </a:spcBef>
              <a:buFontTx/>
              <a:buChar char="–"/>
              <a:defRPr/>
            </a:pPr>
            <a:r>
              <a:rPr lang="en-US" altLang="en-US" sz="2400" kern="0" dirty="0" smtClean="0">
                <a:solidFill>
                  <a:srgbClr val="222222"/>
                </a:solidFill>
                <a:latin typeface="Arial"/>
              </a:rPr>
              <a:t>Tier 3 addresses risk from information system perspective</a:t>
            </a:r>
          </a:p>
          <a:p>
            <a:pPr>
              <a:defRPr/>
            </a:pPr>
            <a:endParaRPr lang="en-US" b="1" dirty="0"/>
          </a:p>
        </p:txBody>
      </p:sp>
      <p:sp>
        <p:nvSpPr>
          <p:cNvPr id="93188"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5B5354CE-4408-4670-818D-F99E450B20F4}" type="slidenum">
              <a:rPr lang="en-US" altLang="en-US"/>
              <a:pPr/>
              <a:t>38</a:t>
            </a:fld>
            <a:endParaRPr lang="en-US" altLang="en-US"/>
          </a:p>
        </p:txBody>
      </p:sp>
    </p:spTree>
    <p:extLst>
      <p:ext uri="{BB962C8B-B14F-4D97-AF65-F5344CB8AC3E}">
        <p14:creationId xmlns:p14="http://schemas.microsoft.com/office/powerpoint/2010/main" val="37408431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77500" lnSpcReduction="20000"/>
          </a:bodyPr>
          <a:lstStyle/>
          <a:p>
            <a:pPr>
              <a:defRPr/>
            </a:pPr>
            <a:r>
              <a:rPr lang="en-US" b="1" dirty="0" smtClean="0"/>
              <a:t>NSTISS Certification and Accreditation</a:t>
            </a:r>
          </a:p>
          <a:p>
            <a:pPr marL="342900" indent="-342900">
              <a:spcBef>
                <a:spcPct val="20000"/>
              </a:spcBef>
              <a:buFontTx/>
              <a:buChar char="•"/>
              <a:defRPr/>
            </a:pPr>
            <a:r>
              <a:rPr lang="en-US" sz="2600" kern="0" dirty="0" smtClean="0">
                <a:solidFill>
                  <a:srgbClr val="222222"/>
                </a:solidFill>
                <a:latin typeface="Arial"/>
              </a:rPr>
              <a:t>National security interest systems have their own C&amp;A standards</a:t>
            </a:r>
          </a:p>
          <a:p>
            <a:pPr marL="342900" indent="-342900">
              <a:spcBef>
                <a:spcPct val="20000"/>
              </a:spcBef>
              <a:buFontTx/>
              <a:buChar char="•"/>
              <a:defRPr/>
            </a:pPr>
            <a:r>
              <a:rPr lang="en-US" sz="2600" kern="0" dirty="0" smtClean="0">
                <a:solidFill>
                  <a:srgbClr val="222222"/>
                </a:solidFill>
                <a:latin typeface="Arial"/>
              </a:rPr>
              <a:t>NSTISS Instruction 1000: National Information Assurance Certification and Accreditation Process (NIACAP)</a:t>
            </a:r>
          </a:p>
          <a:p>
            <a:pPr marL="742950" lvl="1" indent="-285750">
              <a:spcBef>
                <a:spcPct val="20000"/>
              </a:spcBef>
              <a:buFontTx/>
              <a:buChar char="–"/>
              <a:defRPr/>
            </a:pPr>
            <a:r>
              <a:rPr lang="en-US" sz="2400" kern="0" dirty="0" smtClean="0">
                <a:solidFill>
                  <a:srgbClr val="222222"/>
                </a:solidFill>
                <a:latin typeface="Arial"/>
              </a:rPr>
              <a:t>Establishes minimum national standards for certifying/accrediting national security systems</a:t>
            </a:r>
          </a:p>
          <a:p>
            <a:pPr marL="742950" lvl="1" indent="-285750">
              <a:spcBef>
                <a:spcPct val="20000"/>
              </a:spcBef>
              <a:buFontTx/>
              <a:buChar char="–"/>
              <a:defRPr/>
            </a:pPr>
            <a:r>
              <a:rPr lang="en-US" sz="2400" kern="0" dirty="0" smtClean="0">
                <a:solidFill>
                  <a:srgbClr val="222222"/>
                </a:solidFill>
                <a:latin typeface="Arial"/>
              </a:rPr>
              <a:t>Designed to certify that IS meets documented requirements </a:t>
            </a:r>
          </a:p>
          <a:p>
            <a:pPr marL="742950" lvl="1" indent="-285750">
              <a:spcBef>
                <a:spcPct val="20000"/>
              </a:spcBef>
              <a:buFontTx/>
              <a:buChar char="–"/>
              <a:defRPr/>
            </a:pPr>
            <a:r>
              <a:rPr lang="en-US" sz="2400" kern="0" dirty="0" smtClean="0">
                <a:solidFill>
                  <a:srgbClr val="222222"/>
                </a:solidFill>
                <a:latin typeface="Arial"/>
              </a:rPr>
              <a:t>Composed of four phases: Definition, Verification, Validation, and Post Accreditation</a:t>
            </a:r>
          </a:p>
          <a:p>
            <a:pPr>
              <a:defRPr/>
            </a:pPr>
            <a:endParaRPr lang="en-US" b="1" dirty="0"/>
          </a:p>
        </p:txBody>
      </p:sp>
      <p:sp>
        <p:nvSpPr>
          <p:cNvPr id="94212"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4E6CB98F-7609-4063-88F6-1C9D0D5B17A8}" type="slidenum">
              <a:rPr lang="en-US" altLang="en-US"/>
              <a:pPr/>
              <a:t>42</a:t>
            </a:fld>
            <a:endParaRPr lang="en-US" altLang="en-US"/>
          </a:p>
        </p:txBody>
      </p:sp>
    </p:spTree>
    <p:extLst>
      <p:ext uri="{BB962C8B-B14F-4D97-AF65-F5344CB8AC3E}">
        <p14:creationId xmlns:p14="http://schemas.microsoft.com/office/powerpoint/2010/main" val="20095504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43</a:t>
            </a:fld>
            <a:endParaRPr lang="en-US" dirty="0"/>
          </a:p>
        </p:txBody>
      </p:sp>
    </p:spTree>
    <p:extLst>
      <p:ext uri="{BB962C8B-B14F-4D97-AF65-F5344CB8AC3E}">
        <p14:creationId xmlns:p14="http://schemas.microsoft.com/office/powerpoint/2010/main" val="10625176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44</a:t>
            </a:fld>
            <a:endParaRPr lang="en-US" dirty="0"/>
          </a:p>
        </p:txBody>
      </p:sp>
    </p:spTree>
    <p:extLst>
      <p:ext uri="{BB962C8B-B14F-4D97-AF65-F5344CB8AC3E}">
        <p14:creationId xmlns:p14="http://schemas.microsoft.com/office/powerpoint/2010/main" val="3298235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45</a:t>
            </a:fld>
            <a:endParaRPr lang="en-US" dirty="0"/>
          </a:p>
        </p:txBody>
      </p:sp>
    </p:spTree>
    <p:extLst>
      <p:ext uri="{BB962C8B-B14F-4D97-AF65-F5344CB8AC3E}">
        <p14:creationId xmlns:p14="http://schemas.microsoft.com/office/powerpoint/2010/main" val="2662390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46</a:t>
            </a:fld>
            <a:endParaRPr lang="en-US" dirty="0"/>
          </a:p>
        </p:txBody>
      </p:sp>
    </p:spTree>
    <p:extLst>
      <p:ext uri="{BB962C8B-B14F-4D97-AF65-F5344CB8AC3E}">
        <p14:creationId xmlns:p14="http://schemas.microsoft.com/office/powerpoint/2010/main" val="19653892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47</a:t>
            </a:fld>
            <a:endParaRPr lang="en-US" dirty="0"/>
          </a:p>
        </p:txBody>
      </p:sp>
    </p:spTree>
    <p:extLst>
      <p:ext uri="{BB962C8B-B14F-4D97-AF65-F5344CB8AC3E}">
        <p14:creationId xmlns:p14="http://schemas.microsoft.com/office/powerpoint/2010/main" val="13459300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92500" lnSpcReduction="10000"/>
          </a:bodyPr>
          <a:lstStyle/>
          <a:p>
            <a:pPr>
              <a:defRPr/>
            </a:pPr>
            <a:r>
              <a:rPr lang="en-US" b="1" dirty="0" smtClean="0"/>
              <a:t>ISO 27001/27002 Systems Certification and Accreditation</a:t>
            </a:r>
          </a:p>
          <a:p>
            <a:pPr marL="342900" indent="-342900">
              <a:spcBef>
                <a:spcPct val="20000"/>
              </a:spcBef>
              <a:buFontTx/>
              <a:buChar char="•"/>
              <a:defRPr/>
            </a:pPr>
            <a:r>
              <a:rPr lang="en-US" altLang="en-US" sz="2600" kern="0" dirty="0" smtClean="0">
                <a:solidFill>
                  <a:srgbClr val="222222"/>
                </a:solidFill>
                <a:latin typeface="Arial"/>
              </a:rPr>
              <a:t>Organizations outside the United States apply the standards provided under these standards</a:t>
            </a:r>
          </a:p>
          <a:p>
            <a:pPr marL="342900" indent="-342900">
              <a:spcBef>
                <a:spcPct val="20000"/>
              </a:spcBef>
              <a:buFontTx/>
              <a:buChar char="•"/>
              <a:defRPr/>
            </a:pPr>
            <a:r>
              <a:rPr lang="en-US" altLang="en-US" sz="2600" kern="0" dirty="0" smtClean="0">
                <a:solidFill>
                  <a:srgbClr val="222222"/>
                </a:solidFill>
                <a:latin typeface="Arial"/>
              </a:rPr>
              <a:t>Standards were originally created to provide a foundation for British certification of information security management systems (ISMSs)</a:t>
            </a:r>
          </a:p>
          <a:p>
            <a:pPr marL="342900" indent="-342900">
              <a:spcBef>
                <a:spcPct val="20000"/>
              </a:spcBef>
              <a:buFontTx/>
              <a:buChar char="•"/>
              <a:defRPr/>
            </a:pPr>
            <a:r>
              <a:rPr lang="en-US" altLang="en-US" sz="2600" kern="0" dirty="0" smtClean="0">
                <a:solidFill>
                  <a:srgbClr val="222222"/>
                </a:solidFill>
                <a:latin typeface="Arial"/>
              </a:rPr>
              <a:t>Organizations wishing to demonstrate their systems have met this international standard must follow the certification process</a:t>
            </a:r>
          </a:p>
          <a:p>
            <a:pPr>
              <a:defRPr/>
            </a:pPr>
            <a:endParaRPr lang="en-US" b="1" dirty="0"/>
          </a:p>
        </p:txBody>
      </p:sp>
      <p:sp>
        <p:nvSpPr>
          <p:cNvPr id="95236"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D3A13A29-6953-44BC-8D65-CC4C97214369}" type="slidenum">
              <a:rPr lang="en-US" altLang="en-US"/>
              <a:pPr/>
              <a:t>48</a:t>
            </a:fld>
            <a:endParaRPr lang="en-US" altLang="en-US"/>
          </a:p>
        </p:txBody>
      </p:sp>
    </p:spTree>
    <p:extLst>
      <p:ext uri="{BB962C8B-B14F-4D97-AF65-F5344CB8AC3E}">
        <p14:creationId xmlns:p14="http://schemas.microsoft.com/office/powerpoint/2010/main" val="34599179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p:txBody>
          <a:bodyPr/>
          <a:lstStyle/>
          <a:p>
            <a:endParaRPr lang="en-US" altLang="en-US" smtClean="0"/>
          </a:p>
        </p:txBody>
      </p:sp>
      <p:sp>
        <p:nvSpPr>
          <p:cNvPr id="96260" name="Slide Number Placeholder 3"/>
          <p:cNvSpPr>
            <a:spLocks noGrp="1"/>
          </p:cNvSpPr>
          <p:nvPr>
            <p:ph type="sldNum" sz="quarter" idx="5"/>
          </p:nvPr>
        </p:nvSpPr>
        <p:spPr>
          <a:noFill/>
        </p:spPr>
        <p:txBody>
          <a:bodyPr/>
          <a:lstStyle>
            <a:lvl1pPr defTabSz="966788" eaLnBrk="0" hangingPunct="0">
              <a:defRPr>
                <a:solidFill>
                  <a:schemeClr val="tx1"/>
                </a:solidFill>
                <a:latin typeface="Arial" panose="020B0604020202020204" pitchFamily="34" charset="0"/>
              </a:defRPr>
            </a:lvl1pPr>
            <a:lvl2pPr marL="785813" indent="-303213" defTabSz="966788" eaLnBrk="0" hangingPunct="0">
              <a:defRPr>
                <a:solidFill>
                  <a:schemeClr val="tx1"/>
                </a:solidFill>
                <a:latin typeface="Arial" panose="020B0604020202020204" pitchFamily="34" charset="0"/>
              </a:defRPr>
            </a:lvl2pPr>
            <a:lvl3pPr marL="1208088" indent="-241300" defTabSz="966788" eaLnBrk="0" hangingPunct="0">
              <a:defRPr>
                <a:solidFill>
                  <a:schemeClr val="tx1"/>
                </a:solidFill>
                <a:latin typeface="Arial" panose="020B0604020202020204" pitchFamily="34" charset="0"/>
              </a:defRPr>
            </a:lvl3pPr>
            <a:lvl4pPr marL="1692275" indent="-242888" defTabSz="966788" eaLnBrk="0" hangingPunct="0">
              <a:defRPr>
                <a:solidFill>
                  <a:schemeClr val="tx1"/>
                </a:solidFill>
                <a:latin typeface="Arial" panose="020B0604020202020204" pitchFamily="34" charset="0"/>
              </a:defRPr>
            </a:lvl4pPr>
            <a:lvl5pPr marL="2174875" indent="-241300" defTabSz="966788" eaLnBrk="0" hangingPunct="0">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1BA60832-D937-4BC4-B2BE-B60EB935BEF5}" type="slidenum">
              <a:rPr lang="en-US" altLang="en-US"/>
              <a:pPr/>
              <a:t>50</a:t>
            </a:fld>
            <a:endParaRPr lang="en-US" altLang="en-US"/>
          </a:p>
        </p:txBody>
      </p:sp>
    </p:spTree>
    <p:extLst>
      <p:ext uri="{BB962C8B-B14F-4D97-AF65-F5344CB8AC3E}">
        <p14:creationId xmlns:p14="http://schemas.microsoft.com/office/powerpoint/2010/main" val="4032991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6" name="Rectangle 15"/>
          <p:cNvSpPr/>
          <p:nvPr/>
        </p:nvSpPr>
        <p:spPr bwMode="white">
          <a:xfrm>
            <a:off x="0" y="0"/>
            <a:ext cx="9144000" cy="1371600"/>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a:xfrm>
            <a:off x="457200" y="228600"/>
            <a:ext cx="8229600" cy="622828"/>
          </a:xfrm>
        </p:spPr>
        <p:txBody>
          <a:bodyPr anchor="t">
            <a:noAutofit/>
          </a:bodyPr>
          <a:lstStyle>
            <a:lvl1pP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7" name="Conten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400">
                <a:solidFill>
                  <a:schemeClr val="bg1"/>
                </a:solidFill>
                <a:latin typeface="Arial" pitchFamily="34" charset="0"/>
                <a:ea typeface="Verdana" pitchFamily="34" charset="0"/>
                <a:cs typeface="Arial" pitchFamily="34" charset="0"/>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atin typeface="Arial" pitchFamily="34" charset="0"/>
                <a:ea typeface="Verdana" pitchFamily="34" charset="0"/>
                <a:cs typeface="Arial" pitchFamily="34" charset="0"/>
              </a:defRPr>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800">
                <a:latin typeface="Arial" pitchFamily="34" charset="0"/>
                <a:ea typeface="Verdana" pitchFamily="34" charset="0"/>
                <a:cs typeface="Arial" pitchFamily="34" charset="0"/>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2" name="Rectangle 11"/>
          <p:cNvSpPr/>
          <p:nvPr userDrawn="1"/>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2729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974639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smtClean="0"/>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 name="Content Placeholder 3"/>
          <p:cNvSpPr>
            <a:spLocks noGrp="1"/>
          </p:cNvSpPr>
          <p:nvPr>
            <p:ph sz="quarter" idx="10"/>
          </p:nvPr>
        </p:nvSpPr>
        <p:spPr>
          <a:xfrm>
            <a:off x="491331" y="5181600"/>
            <a:ext cx="8153400" cy="838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a:t>
            </a:r>
            <a:r>
              <a:rPr lang="en-US" sz="1200" dirty="0" err="1" smtClean="0">
                <a:solidFill>
                  <a:schemeClr val="bg1"/>
                </a:solidFill>
              </a:rPr>
              <a:t>Cengage</a:t>
            </a:r>
            <a:r>
              <a:rPr lang="en-US" sz="1200" dirty="0" smtClean="0">
                <a:solidFill>
                  <a:schemeClr val="bg1"/>
                </a:solidFill>
              </a:rPr>
              <a:t>.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Tree>
    <p:extLst>
      <p:ext uri="{BB962C8B-B14F-4D97-AF65-F5344CB8AC3E}">
        <p14:creationId xmlns:p14="http://schemas.microsoft.com/office/powerpoint/2010/main" val="3189939115"/>
      </p:ext>
    </p:extLst>
  </p:cSld>
  <p:clrMapOvr>
    <a:masterClrMapping/>
  </p:clrMapOvr>
  <p:transition spd="slow"/>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bwMode="white">
          <a:xfrm>
            <a:off x="-7938" y="63246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pyright" descr="Pearson: Copyright 2015, 2012, 2009"/>
          <p:cNvSpPr txBox="1">
            <a:spLocks noChangeArrowheads="1"/>
          </p:cNvSpPr>
          <p:nvPr/>
        </p:nvSpPr>
        <p:spPr bwMode="auto">
          <a:xfrm>
            <a:off x="1388395" y="6394712"/>
            <a:ext cx="7714039" cy="504445"/>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a:t>
            </a:r>
            <a:r>
              <a:rPr lang="en-US" sz="1200" dirty="0" err="1" smtClean="0">
                <a:solidFill>
                  <a:schemeClr val="bg1"/>
                </a:solidFill>
              </a:rPr>
              <a:t>Cengage</a:t>
            </a:r>
            <a:r>
              <a:rPr lang="en-US" sz="1200" dirty="0" smtClean="0">
                <a:solidFill>
                  <a:schemeClr val="bg1"/>
                </a:solidFill>
              </a:rPr>
              <a:t>. May not be copied, scanned, or duplicated, in whole or in part, except for use as permitted in a license distributed with a certain product or service or otherwise on a password-protected website for classroom use.</a:t>
            </a:r>
          </a:p>
        </p:txBody>
      </p:sp>
      <p:pic>
        <p:nvPicPr>
          <p:cNvPr id="9"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422159"/>
            <a:ext cx="1316182" cy="435841"/>
          </a:xfrm>
          <a:prstGeom prst="rect">
            <a:avLst/>
          </a:prstGeom>
          <a:solidFill>
            <a:srgbClr val="364162"/>
          </a:solidFill>
          <a:ln>
            <a:noFill/>
          </a:ln>
          <a:extLst/>
        </p:spPr>
      </p:pic>
    </p:spTree>
    <p:extLst>
      <p:ext uri="{BB962C8B-B14F-4D97-AF65-F5344CB8AC3E}">
        <p14:creationId xmlns:p14="http://schemas.microsoft.com/office/powerpoint/2010/main" val="34700572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125" y="1538818"/>
            <a:ext cx="8415338" cy="4785781"/>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t="2" r="-8081" b="-56075"/>
          <a:stretch/>
        </p:blipFill>
        <p:spPr>
          <a:xfrm>
            <a:off x="1597683" y="6487629"/>
            <a:ext cx="7165318" cy="141771"/>
          </a:xfrm>
          <a:prstGeom prst="rect">
            <a:avLst/>
          </a:prstGeom>
        </p:spPr>
      </p:pic>
      <p:sp>
        <p:nvSpPr>
          <p:cNvPr id="2" name="Footer Placeholder 1"/>
          <p:cNvSpPr>
            <a:spLocks noGrp="1"/>
          </p:cNvSpPr>
          <p:nvPr>
            <p:ph type="ftr" sz="quarter" idx="10"/>
          </p:nvPr>
        </p:nvSpPr>
        <p:spPr>
          <a:xfrm>
            <a:off x="1597682" y="6578465"/>
            <a:ext cx="6781693" cy="244535"/>
          </a:xfrm>
          <a:prstGeom prst="rect">
            <a:avLst/>
          </a:prstGeom>
        </p:spPr>
        <p:txBody>
          <a:bodyPr/>
          <a:lstStyle>
            <a:lvl1pPr algn="l" rtl="0" fontAlgn="base">
              <a:spcBef>
                <a:spcPct val="0"/>
              </a:spcBef>
              <a:spcAft>
                <a:spcPct val="0"/>
              </a:spcAft>
              <a:defRPr lang="en-US" sz="600" kern="1200" smtClean="0">
                <a:solidFill>
                  <a:schemeClr val="tx1">
                    <a:tint val="75000"/>
                  </a:schemeClr>
                </a:solidFill>
                <a:latin typeface="Arial" charset="0"/>
                <a:ea typeface="+mn-ea"/>
                <a:cs typeface="Arial" charset="0"/>
              </a:defRPr>
            </a:lvl1pPr>
          </a:lstStyle>
          <a:p>
            <a:r>
              <a:rPr lang="en-US" dirty="0"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pic>
        <p:nvPicPr>
          <p:cNvPr id="9" name="Picture 8"/>
          <p:cNvPicPr>
            <a:picLocks noChangeAspect="1"/>
          </p:cNvPicPr>
          <p:nvPr userDrawn="1"/>
        </p:nvPicPr>
        <p:blipFill>
          <a:blip r:embed="rId5"/>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6" name="Rectangle 15"/>
          <p:cNvSpPr/>
          <p:nvPr/>
        </p:nvSpPr>
        <p:spPr bwMode="white">
          <a:xfrm>
            <a:off x="0" y="0"/>
            <a:ext cx="9144000" cy="1371600"/>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a:xfrm>
            <a:off x="457200" y="228600"/>
            <a:ext cx="8229600" cy="622828"/>
          </a:xfrm>
        </p:spPr>
        <p:txBody>
          <a:bodyPr anchor="t">
            <a:noAutofit/>
          </a:bodyPr>
          <a:lstStyle>
            <a:lvl1pP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7" name="Conten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400">
                <a:solidFill>
                  <a:schemeClr val="bg1"/>
                </a:solidFill>
                <a:latin typeface="Arial" pitchFamily="34" charset="0"/>
                <a:ea typeface="Verdana" pitchFamily="34" charset="0"/>
                <a:cs typeface="Arial" pitchFamily="34" charset="0"/>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atin typeface="Arial" pitchFamily="34" charset="0"/>
                <a:ea typeface="Verdana" pitchFamily="34" charset="0"/>
                <a:cs typeface="Arial" pitchFamily="34" charset="0"/>
              </a:defRPr>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800">
                <a:latin typeface="Arial" pitchFamily="34" charset="0"/>
                <a:ea typeface="Verdana" pitchFamily="34" charset="0"/>
                <a:cs typeface="Arial" pitchFamily="34" charset="0"/>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2" name="Rectangle 11"/>
          <p:cNvSpPr/>
          <p:nvPr userDrawn="1"/>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36496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Content Placeholder 1"/>
          <p:cNvSpPr>
            <a:spLocks noGrp="1"/>
          </p:cNvSpPr>
          <p:nvPr>
            <p:ph type="title"/>
          </p:nvPr>
        </p:nvSpPr>
        <p:spPr>
          <a:xfrm>
            <a:off x="457200" y="27709"/>
            <a:ext cx="8229600" cy="1039091"/>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Content Placeholder 2"/>
          <p:cNvSpPr>
            <a:spLocks noGrp="1"/>
          </p:cNvSpPr>
          <p:nvPr>
            <p:ph type="body" idx="1"/>
          </p:nvPr>
        </p:nvSpPr>
        <p:spPr>
          <a:xfrm>
            <a:off x="228600" y="1295400"/>
            <a:ext cx="8763000" cy="48307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Rectangle 6"/>
          <p:cNvSpPr/>
          <p:nvPr/>
        </p:nvSpPr>
        <p:spPr bwMode="white">
          <a:xfrm>
            <a:off x="0" y="0"/>
            <a:ext cx="9144000" cy="113355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pyright" descr="Pearson: Copyright 2015, 2012, 2009"/>
          <p:cNvSpPr txBox="1">
            <a:spLocks noChangeArrowheads="1"/>
          </p:cNvSpPr>
          <p:nvPr/>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a:t>
            </a:r>
            <a:r>
              <a:rPr lang="en-US" sz="1200" dirty="0" err="1" smtClean="0">
                <a:solidFill>
                  <a:schemeClr val="bg1"/>
                </a:solidFill>
              </a:rPr>
              <a:t>Cengage</a:t>
            </a:r>
            <a:r>
              <a:rPr lang="en-US" sz="1200" dirty="0" smtClean="0">
                <a:solidFill>
                  <a:schemeClr val="bg1"/>
                </a:solidFill>
              </a:rPr>
              <a:t>. May not be copied, scanned, or duplicated, in whole or in part, except for use as permitted in a license distributed with a certain product or service or otherwise on a password-protected website for classroom use.</a:t>
            </a:r>
          </a:p>
        </p:txBody>
      </p:sp>
      <p:pic>
        <p:nvPicPr>
          <p:cNvPr id="9" name="Picture 4"/>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
        <p:nvSpPr>
          <p:cNvPr id="11" name="Rectangle 5"/>
          <p:cNvSpPr>
            <a:spLocks noGrp="1" noChangeArrowheads="1"/>
          </p:cNvSpPr>
          <p:nvPr>
            <p:ph type="title"/>
          </p:nvPr>
        </p:nvSpPr>
        <p:spPr bwMode="auto">
          <a:xfrm>
            <a:off x="76200" y="38100"/>
            <a:ext cx="8915400" cy="104156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US" altLang="en-US" dirty="0" smtClean="0"/>
          </a:p>
        </p:txBody>
      </p:sp>
    </p:spTree>
    <p:extLst>
      <p:ext uri="{BB962C8B-B14F-4D97-AF65-F5344CB8AC3E}">
        <p14:creationId xmlns:p14="http://schemas.microsoft.com/office/powerpoint/2010/main" val="2874976688"/>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54" r:id="rId5"/>
    <p:sldLayoutId id="2147483763" r:id="rId6"/>
  </p:sldLayoutIdLst>
  <p:hf hdr="0" ftr="0" dt="0"/>
  <p:txStyles>
    <p:titleStyle>
      <a:lvl1pPr algn="ctr" defTabSz="914400" rtl="0" eaLnBrk="1" latinLnBrk="0" hangingPunct="1">
        <a:spcBef>
          <a:spcPct val="0"/>
        </a:spcBef>
        <a:buNone/>
        <a:defRPr sz="3600"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rgbClr val="364162"/>
        </a:buClr>
        <a:buFont typeface="Arial" pitchFamily="34" charset="0"/>
        <a:buChar char="•"/>
        <a:defRPr sz="2600" kern="1200">
          <a:solidFill>
            <a:schemeClr val="tx1"/>
          </a:solidFill>
          <a:latin typeface="Arial" pitchFamily="34" charset="0"/>
          <a:ea typeface="Verdana" pitchFamily="34" charset="0"/>
          <a:cs typeface="Arial" pitchFamily="34" charset="0"/>
        </a:defRPr>
      </a:lvl1pPr>
      <a:lvl2pPr marL="742950" indent="-285750" algn="l" defTabSz="914400" rtl="0" eaLnBrk="1" latinLnBrk="0" hangingPunct="1">
        <a:spcBef>
          <a:spcPct val="20000"/>
        </a:spcBef>
        <a:buClr>
          <a:srgbClr val="364162"/>
        </a:buClr>
        <a:buFont typeface="Arial" pitchFamily="34" charset="0"/>
        <a:buChar char="–"/>
        <a:defRPr sz="2400" kern="1200">
          <a:solidFill>
            <a:schemeClr val="tx1"/>
          </a:solidFill>
          <a:latin typeface="Arial" pitchFamily="34" charset="0"/>
          <a:ea typeface="Verdana" pitchFamily="34" charset="0"/>
          <a:cs typeface="Arial" pitchFamily="34" charset="0"/>
        </a:defRPr>
      </a:lvl2pPr>
      <a:lvl3pPr marL="1143000" indent="-228600" algn="l" defTabSz="914400" rtl="0" eaLnBrk="1" latinLnBrk="0" hangingPunct="1">
        <a:spcBef>
          <a:spcPct val="20000"/>
        </a:spcBef>
        <a:buClr>
          <a:srgbClr val="364162"/>
        </a:buClr>
        <a:buFont typeface="Wingdings" pitchFamily="2" charset="2"/>
        <a:buChar char="§"/>
        <a:defRPr sz="2200" kern="1200">
          <a:solidFill>
            <a:schemeClr val="tx1"/>
          </a:solidFill>
          <a:latin typeface="Arial" pitchFamily="34" charset="0"/>
          <a:ea typeface="Verdana" pitchFamily="34" charset="0"/>
          <a:cs typeface="Arial" pitchFamily="34" charset="0"/>
        </a:defRPr>
      </a:lvl3pPr>
      <a:lvl4pPr marL="1600200" indent="-228600" algn="l" defTabSz="914400" rtl="0" eaLnBrk="1" latinLnBrk="0" hangingPunct="1">
        <a:spcBef>
          <a:spcPct val="20000"/>
        </a:spcBef>
        <a:buClr>
          <a:srgbClr val="364162"/>
        </a:buClr>
        <a:buFont typeface="Courier New" pitchFamily="49" charset="0"/>
        <a:buChar char="o"/>
        <a:defRPr sz="2000" kern="1200">
          <a:solidFill>
            <a:schemeClr val="tx1"/>
          </a:solidFill>
          <a:latin typeface="Arial" pitchFamily="34" charset="0"/>
          <a:ea typeface="Verdana" pitchFamily="34" charset="0"/>
          <a:cs typeface="Arial" pitchFamily="34" charset="0"/>
        </a:defRPr>
      </a:lvl4pPr>
      <a:lvl5pPr marL="2057400" indent="-228600" algn="l" defTabSz="914400" rtl="0" eaLnBrk="1" latinLnBrk="0" hangingPunct="1">
        <a:spcBef>
          <a:spcPct val="20000"/>
        </a:spcBef>
        <a:buClr>
          <a:srgbClr val="364162"/>
        </a:buClr>
        <a:buFont typeface="Arial" pitchFamily="34" charset="0"/>
        <a:buChar char="»"/>
        <a:defRPr sz="2000"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 y="228600"/>
            <a:ext cx="8229600" cy="622828"/>
          </a:xfrm>
        </p:spPr>
        <p:txBody>
          <a:bodyPr/>
          <a:lstStyle/>
          <a:p>
            <a:pPr algn="l"/>
            <a:r>
              <a:rPr lang="en-US" altLang="en-US" dirty="0"/>
              <a:t>Principles of Information Security</a:t>
            </a:r>
            <a:endParaRPr lang="en-US" dirty="0"/>
          </a:p>
        </p:txBody>
      </p:sp>
      <p:sp>
        <p:nvSpPr>
          <p:cNvPr id="5" name="Content Placeholder 4"/>
          <p:cNvSpPr>
            <a:spLocks noGrp="1"/>
          </p:cNvSpPr>
          <p:nvPr>
            <p:ph type="body" sz="quarter" idx="13"/>
          </p:nvPr>
        </p:nvSpPr>
        <p:spPr>
          <a:xfrm>
            <a:off x="38100" y="816430"/>
            <a:ext cx="8229600" cy="478970"/>
          </a:xfrm>
        </p:spPr>
        <p:txBody>
          <a:bodyPr/>
          <a:lstStyle/>
          <a:p>
            <a:r>
              <a:rPr lang="en-US" dirty="0"/>
              <a:t>Sixth Edition</a:t>
            </a:r>
          </a:p>
        </p:txBody>
      </p:sp>
      <p:pic>
        <p:nvPicPr>
          <p:cNvPr id="1026" name="Picture 2" descr="Book cover reads book name, title, edition number, and name of the author as follows: &quot;Information Security,&quot; &quot;Principles of Information Security,&quot; “Sixth Edition,&quot; and &quot;Michael E. Whitman&quot; and  &quot;Herbert J. Mattord.&quot; A photo on the cover page shows a screenshot with the close up view of digital cod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70356"/>
            <a:ext cx="3332305" cy="470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5"/>
          <p:cNvSpPr>
            <a:spLocks noGrp="1"/>
          </p:cNvSpPr>
          <p:nvPr>
            <p:ph type="body" sz="quarter" idx="14"/>
          </p:nvPr>
        </p:nvSpPr>
        <p:spPr>
          <a:xfrm>
            <a:off x="4800600" y="2438400"/>
            <a:ext cx="3886200" cy="2895600"/>
          </a:xfrm>
        </p:spPr>
        <p:txBody>
          <a:bodyPr/>
          <a:lstStyle/>
          <a:p>
            <a:pPr algn="ctr"/>
            <a:r>
              <a:rPr lang="en-US" sz="4000" b="1" dirty="0" smtClean="0"/>
              <a:t>Chapter 10</a:t>
            </a:r>
          </a:p>
          <a:p>
            <a:pPr algn="ctr"/>
            <a:r>
              <a:rPr lang="en-US" sz="4000" b="1" dirty="0"/>
              <a:t> </a:t>
            </a:r>
            <a:r>
              <a:rPr lang="en-US" sz="4000" dirty="0" smtClean="0"/>
              <a:t>Implementing Information Security</a:t>
            </a:r>
          </a:p>
        </p:txBody>
      </p:sp>
      <p:pic>
        <p:nvPicPr>
          <p:cNvPr id="8" name="Picture 4" title="Cengage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
        <p:nvSpPr>
          <p:cNvPr id="7" name="Content Placeholder 6"/>
          <p:cNvSpPr>
            <a:spLocks noGrp="1"/>
          </p:cNvSpPr>
          <p:nvPr>
            <p:ph type="body" sz="quarter" idx="15"/>
          </p:nvPr>
        </p:nvSpPr>
        <p:spPr>
          <a:xfrm>
            <a:off x="1435100" y="6261658"/>
            <a:ext cx="7696200" cy="604230"/>
          </a:xfrm>
        </p:spPr>
        <p:txBody>
          <a:bodyPr/>
          <a:lstStyle/>
          <a:p>
            <a:pPr lvl="0" algn="ctr" eaLnBrk="0" fontAlgn="base" hangingPunct="0">
              <a:spcBef>
                <a:spcPct val="0"/>
              </a:spcBef>
              <a:spcAft>
                <a:spcPct val="0"/>
              </a:spcAft>
              <a:buClrTx/>
              <a:defRPr/>
            </a:pPr>
            <a:r>
              <a:rPr lang="en-US" sz="1200" dirty="0">
                <a:solidFill>
                  <a:schemeClr val="bg1"/>
                </a:solidFill>
                <a:ea typeface="ＭＳ Ｐゴシック" charset="-128"/>
              </a:rPr>
              <a:t>Copyright </a:t>
            </a:r>
            <a:r>
              <a:rPr lang="en-US" sz="1200" dirty="0">
                <a:solidFill>
                  <a:schemeClr val="bg1"/>
                </a:solidFill>
              </a:rPr>
              <a:t>© 2018 </a:t>
            </a:r>
            <a:r>
              <a:rPr lang="en-US" sz="1200" dirty="0" err="1">
                <a:solidFill>
                  <a:schemeClr val="bg1"/>
                </a:solidFill>
              </a:rPr>
              <a:t>Cengage</a:t>
            </a:r>
            <a:r>
              <a:rPr lang="en-US" sz="1200" dirty="0">
                <a:solidFill>
                  <a:schemeClr val="bg1"/>
                </a:solidFill>
              </a:rPr>
              <a:t>.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60880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4"/>
          <p:cNvSpPr>
            <a:spLocks noGrp="1" noChangeArrowheads="1"/>
          </p:cNvSpPr>
          <p:nvPr>
            <p:ph type="title"/>
          </p:nvPr>
        </p:nvSpPr>
        <p:spPr/>
        <p:txBody>
          <a:bodyPr anchor="ctr"/>
          <a:lstStyle/>
          <a:p>
            <a:r>
              <a:rPr lang="en-US" altLang="en-US" dirty="0" smtClean="0"/>
              <a:t>Learning Objectives</a:t>
            </a:r>
          </a:p>
        </p:txBody>
      </p:sp>
      <p:sp>
        <p:nvSpPr>
          <p:cNvPr id="9219" name="Content Placeholder 5"/>
          <p:cNvSpPr>
            <a:spLocks noGrp="1" noChangeArrowheads="1"/>
          </p:cNvSpPr>
          <p:nvPr>
            <p:ph idx="1"/>
          </p:nvPr>
        </p:nvSpPr>
        <p:spPr>
          <a:xfrm>
            <a:off x="304800" y="1371600"/>
            <a:ext cx="8534399" cy="4724400"/>
          </a:xfrm>
        </p:spPr>
        <p:txBody>
          <a:bodyPr>
            <a:normAutofit fontScale="77500" lnSpcReduction="20000"/>
          </a:bodyPr>
          <a:lstStyle/>
          <a:p>
            <a:r>
              <a:rPr lang="en-US" altLang="en-US" sz="3400" dirty="0" smtClean="0"/>
              <a:t>Upon completion of this material, you should be able to:</a:t>
            </a:r>
          </a:p>
          <a:p>
            <a:pPr lvl="1"/>
            <a:r>
              <a:rPr lang="en-US" altLang="en-US" sz="3100" dirty="0" smtClean="0"/>
              <a:t>Explain </a:t>
            </a:r>
            <a:r>
              <a:rPr lang="en-US" altLang="en-US" sz="3100" dirty="0"/>
              <a:t>how an organization’s information security blueprint becomes a project plan</a:t>
            </a:r>
          </a:p>
          <a:p>
            <a:pPr lvl="1"/>
            <a:r>
              <a:rPr lang="en-US" altLang="en-US" sz="3100" dirty="0" smtClean="0"/>
              <a:t>Discuss </a:t>
            </a:r>
            <a:r>
              <a:rPr lang="en-US" altLang="en-US" sz="3100" dirty="0"/>
              <a:t>the many organizational considerations that a project plan must address</a:t>
            </a:r>
          </a:p>
          <a:p>
            <a:pPr lvl="1"/>
            <a:r>
              <a:rPr lang="en-US" altLang="en-US" sz="3100" dirty="0" smtClean="0"/>
              <a:t>Explain </a:t>
            </a:r>
            <a:r>
              <a:rPr lang="en-US" altLang="en-US" sz="3100" dirty="0"/>
              <a:t>the significance of the project manager’s role in the success of an </a:t>
            </a:r>
            <a:r>
              <a:rPr lang="en-US" altLang="en-US" sz="3100" dirty="0" smtClean="0"/>
              <a:t>information security </a:t>
            </a:r>
            <a:r>
              <a:rPr lang="en-US" altLang="en-US" sz="3100" dirty="0"/>
              <a:t>project</a:t>
            </a:r>
          </a:p>
          <a:p>
            <a:pPr lvl="1"/>
            <a:r>
              <a:rPr lang="en-US" altLang="en-US" sz="3100" dirty="0" smtClean="0"/>
              <a:t>Describe </a:t>
            </a:r>
            <a:r>
              <a:rPr lang="en-US" altLang="en-US" sz="3100" dirty="0"/>
              <a:t>the need for professional project management for complex projects</a:t>
            </a:r>
          </a:p>
          <a:p>
            <a:pPr lvl="1"/>
            <a:r>
              <a:rPr lang="en-US" altLang="en-US" sz="3100" dirty="0" smtClean="0"/>
              <a:t>Discuss </a:t>
            </a:r>
            <a:r>
              <a:rPr lang="en-US" altLang="en-US" sz="3100" dirty="0"/>
              <a:t>technical strategies and models for implementing a project plan</a:t>
            </a:r>
          </a:p>
          <a:p>
            <a:pPr lvl="1"/>
            <a:r>
              <a:rPr lang="en-US" altLang="en-US" sz="3100" dirty="0" smtClean="0"/>
              <a:t>List </a:t>
            </a:r>
            <a:r>
              <a:rPr lang="en-US" altLang="en-US" sz="3100" dirty="0"/>
              <a:t>and discuss the nontechnical problems that organizations face in times of rapid change</a:t>
            </a:r>
            <a:endParaRPr lang="en-US" altLang="en-US" sz="3100" dirty="0" smtClean="0"/>
          </a:p>
        </p:txBody>
      </p:sp>
    </p:spTree>
    <p:extLst>
      <p:ext uri="{BB962C8B-B14F-4D97-AF65-F5344CB8AC3E}">
        <p14:creationId xmlns:p14="http://schemas.microsoft.com/office/powerpoint/2010/main" val="10364777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2"/>
          <p:cNvSpPr>
            <a:spLocks noGrp="1" noChangeArrowheads="1"/>
          </p:cNvSpPr>
          <p:nvPr>
            <p:ph type="title"/>
          </p:nvPr>
        </p:nvSpPr>
        <p:spPr/>
        <p:txBody>
          <a:bodyPr anchor="ctr"/>
          <a:lstStyle/>
          <a:p>
            <a:r>
              <a:rPr lang="en-US" altLang="en-US" dirty="0" smtClean="0"/>
              <a:t>Introduction</a:t>
            </a:r>
          </a:p>
        </p:txBody>
      </p:sp>
      <p:sp>
        <p:nvSpPr>
          <p:cNvPr id="11267" name="Content Placeholder 3"/>
          <p:cNvSpPr>
            <a:spLocks noGrp="1" noChangeArrowheads="1"/>
          </p:cNvSpPr>
          <p:nvPr>
            <p:ph idx="1"/>
          </p:nvPr>
        </p:nvSpPr>
        <p:spPr>
          <a:xfrm>
            <a:off x="365124" y="1295400"/>
            <a:ext cx="8474076" cy="4876800"/>
          </a:xfrm>
        </p:spPr>
        <p:txBody>
          <a:bodyPr>
            <a:normAutofit/>
          </a:bodyPr>
          <a:lstStyle/>
          <a:p>
            <a:r>
              <a:rPr lang="en-US" altLang="en-US" dirty="0" smtClean="0"/>
              <a:t>InfoSec blueprint implementation is accomplished by changing the configuration and operation of an organization’s information systems.</a:t>
            </a:r>
          </a:p>
          <a:p>
            <a:r>
              <a:rPr lang="en-US" altLang="en-US" dirty="0" smtClean="0"/>
              <a:t>Implementation includes changes to: </a:t>
            </a:r>
          </a:p>
          <a:p>
            <a:pPr lvl="1"/>
            <a:r>
              <a:rPr lang="en-US" altLang="en-US" dirty="0" smtClean="0"/>
              <a:t>Procedures (through policy)</a:t>
            </a:r>
          </a:p>
          <a:p>
            <a:pPr lvl="1"/>
            <a:r>
              <a:rPr lang="en-US" altLang="en-US" dirty="0" smtClean="0"/>
              <a:t>People (through training)</a:t>
            </a:r>
          </a:p>
          <a:p>
            <a:pPr lvl="1"/>
            <a:r>
              <a:rPr lang="en-US" altLang="en-US" dirty="0" smtClean="0"/>
              <a:t>Hardware (through firewalls)</a:t>
            </a:r>
          </a:p>
          <a:p>
            <a:pPr lvl="1"/>
            <a:r>
              <a:rPr lang="en-US" altLang="en-US" dirty="0" smtClean="0"/>
              <a:t>Software (through encryption)</a:t>
            </a:r>
          </a:p>
          <a:p>
            <a:pPr lvl="1"/>
            <a:r>
              <a:rPr lang="en-US" altLang="en-US" dirty="0" smtClean="0"/>
              <a:t>Data (through classification)</a:t>
            </a:r>
          </a:p>
          <a:p>
            <a:r>
              <a:rPr lang="en-US" altLang="en-US" dirty="0" smtClean="0"/>
              <a:t>Organization translates </a:t>
            </a:r>
            <a:r>
              <a:rPr lang="en-US" dirty="0" smtClean="0"/>
              <a:t>its </a:t>
            </a:r>
            <a:r>
              <a:rPr lang="en-US" altLang="en-US" dirty="0" smtClean="0"/>
              <a:t>blueprint for information security into a project plan.</a:t>
            </a:r>
          </a:p>
        </p:txBody>
      </p:sp>
    </p:spTree>
    <p:extLst>
      <p:ext uri="{BB962C8B-B14F-4D97-AF65-F5344CB8AC3E}">
        <p14:creationId xmlns:p14="http://schemas.microsoft.com/office/powerpoint/2010/main" val="33599226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p:txBody>
          <a:bodyPr anchor="ctr"/>
          <a:lstStyle/>
          <a:p>
            <a:r>
              <a:rPr lang="en-US" altLang="en-US" dirty="0" smtClean="0"/>
              <a:t>Information Security Project Management</a:t>
            </a:r>
          </a:p>
        </p:txBody>
      </p:sp>
      <p:sp>
        <p:nvSpPr>
          <p:cNvPr id="12291" name="Content Placeholder 3"/>
          <p:cNvSpPr>
            <a:spLocks noGrp="1" noChangeArrowheads="1"/>
          </p:cNvSpPr>
          <p:nvPr>
            <p:ph idx="1"/>
          </p:nvPr>
        </p:nvSpPr>
        <p:spPr/>
        <p:txBody>
          <a:bodyPr/>
          <a:lstStyle/>
          <a:p>
            <a:r>
              <a:rPr lang="en-US" altLang="en-US" dirty="0" smtClean="0"/>
              <a:t>Project plan must address project leadership, managerial/technical/budgetary considerations, and organizational resistance to change.</a:t>
            </a:r>
          </a:p>
          <a:p>
            <a:r>
              <a:rPr lang="en-US" altLang="en-US" dirty="0" smtClean="0"/>
              <a:t>Major steps in executing a project plan are:</a:t>
            </a:r>
          </a:p>
          <a:p>
            <a:pPr lvl="1"/>
            <a:r>
              <a:rPr lang="en-US" altLang="en-US" dirty="0" smtClean="0"/>
              <a:t>Planning the project</a:t>
            </a:r>
          </a:p>
          <a:p>
            <a:pPr lvl="1"/>
            <a:r>
              <a:rPr lang="en-US" altLang="en-US" dirty="0" smtClean="0"/>
              <a:t>Supervising tasks and action steps </a:t>
            </a:r>
          </a:p>
          <a:p>
            <a:pPr lvl="1"/>
            <a:r>
              <a:rPr lang="en-US" altLang="en-US" dirty="0" smtClean="0"/>
              <a:t>Wrapping up </a:t>
            </a:r>
          </a:p>
          <a:p>
            <a:r>
              <a:rPr lang="en-US" altLang="en-US" dirty="0" smtClean="0"/>
              <a:t>Each organization must determine its own project management methodology for IT and information security projects.</a:t>
            </a:r>
          </a:p>
        </p:txBody>
      </p:sp>
    </p:spTree>
    <p:extLst>
      <p:ext uri="{BB962C8B-B14F-4D97-AF65-F5344CB8AC3E}">
        <p14:creationId xmlns:p14="http://schemas.microsoft.com/office/powerpoint/2010/main" val="9235102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2"/>
          <p:cNvSpPr>
            <a:spLocks noGrp="1" noChangeArrowheads="1"/>
          </p:cNvSpPr>
          <p:nvPr>
            <p:ph type="title"/>
          </p:nvPr>
        </p:nvSpPr>
        <p:spPr/>
        <p:txBody>
          <a:bodyPr anchor="ctr"/>
          <a:lstStyle/>
          <a:p>
            <a:r>
              <a:rPr lang="en-US" altLang="en-US" dirty="0" smtClean="0"/>
              <a:t>Developing the Project Plan</a:t>
            </a:r>
          </a:p>
        </p:txBody>
      </p:sp>
      <p:sp>
        <p:nvSpPr>
          <p:cNvPr id="13315" name="Content Placeholder 3"/>
          <p:cNvSpPr>
            <a:spLocks noGrp="1" noChangeArrowheads="1"/>
          </p:cNvSpPr>
          <p:nvPr>
            <p:ph idx="1"/>
          </p:nvPr>
        </p:nvSpPr>
        <p:spPr>
          <a:xfrm>
            <a:off x="212592" y="1244853"/>
            <a:ext cx="8855208" cy="5003547"/>
          </a:xfrm>
        </p:spPr>
        <p:txBody>
          <a:bodyPr>
            <a:normAutofit fontScale="70000" lnSpcReduction="20000"/>
          </a:bodyPr>
          <a:lstStyle/>
          <a:p>
            <a:r>
              <a:rPr lang="en-US" altLang="en-US" sz="3700" dirty="0" smtClean="0"/>
              <a:t>Creation of a project plan can be done using a tool such as the work breakdown structure (WBS).</a:t>
            </a:r>
          </a:p>
          <a:p>
            <a:r>
              <a:rPr lang="en-US" altLang="en-US" sz="3700" dirty="0" smtClean="0"/>
              <a:t>Major project tasks in WBS are:</a:t>
            </a:r>
          </a:p>
          <a:p>
            <a:pPr lvl="1"/>
            <a:r>
              <a:rPr lang="en-US" altLang="en-US" sz="3400" dirty="0"/>
              <a:t>Work to be accomplished (activities and deliverables)</a:t>
            </a:r>
          </a:p>
          <a:p>
            <a:pPr lvl="1"/>
            <a:r>
              <a:rPr lang="en-US" altLang="en-US" sz="3400" dirty="0" smtClean="0"/>
              <a:t>The </a:t>
            </a:r>
            <a:r>
              <a:rPr lang="en-US" altLang="en-US" sz="3400" dirty="0"/>
              <a:t>people or skill sets assigned to perform the </a:t>
            </a:r>
            <a:r>
              <a:rPr lang="en-US" altLang="en-US" sz="3400" dirty="0" smtClean="0"/>
              <a:t>task</a:t>
            </a:r>
          </a:p>
          <a:p>
            <a:pPr lvl="1"/>
            <a:r>
              <a:rPr lang="en-US" altLang="en-US" sz="3400" dirty="0" smtClean="0"/>
              <a:t>Start </a:t>
            </a:r>
            <a:r>
              <a:rPr lang="en-US" altLang="en-US" sz="3400" dirty="0"/>
              <a:t>and end dates for the task, when known</a:t>
            </a:r>
          </a:p>
          <a:p>
            <a:pPr lvl="1"/>
            <a:r>
              <a:rPr lang="en-US" altLang="en-US" sz="3400" dirty="0" smtClean="0"/>
              <a:t>Amount </a:t>
            </a:r>
            <a:r>
              <a:rPr lang="en-US" altLang="en-US" sz="3400" dirty="0"/>
              <a:t>of effort required for completion, in hours or work days</a:t>
            </a:r>
          </a:p>
          <a:p>
            <a:pPr lvl="1"/>
            <a:r>
              <a:rPr lang="en-US" altLang="en-US" sz="3400" dirty="0" smtClean="0"/>
              <a:t>Estimated </a:t>
            </a:r>
            <a:r>
              <a:rPr lang="en-US" altLang="en-US" sz="3400" dirty="0"/>
              <a:t>capital expenses for the task</a:t>
            </a:r>
          </a:p>
          <a:p>
            <a:pPr lvl="1"/>
            <a:r>
              <a:rPr lang="en-US" altLang="en-US" sz="3400" dirty="0" smtClean="0"/>
              <a:t>Estimated </a:t>
            </a:r>
            <a:r>
              <a:rPr lang="en-US" altLang="en-US" sz="3400" dirty="0"/>
              <a:t>noncapital expenses for the task</a:t>
            </a:r>
          </a:p>
          <a:p>
            <a:pPr lvl="1"/>
            <a:r>
              <a:rPr lang="en-US" altLang="en-US" sz="3400" dirty="0" smtClean="0"/>
              <a:t>Identification </a:t>
            </a:r>
            <a:r>
              <a:rPr lang="en-US" altLang="en-US" sz="3400" dirty="0"/>
              <a:t>of dependencies between and among </a:t>
            </a:r>
            <a:r>
              <a:rPr lang="en-US" altLang="en-US" sz="3400" dirty="0" smtClean="0"/>
              <a:t>tasks</a:t>
            </a:r>
          </a:p>
          <a:p>
            <a:r>
              <a:rPr lang="en-US" altLang="en-US" sz="3700" dirty="0" smtClean="0"/>
              <a:t>Each major WBS task is further divided into smaller tasks or specific action steps.</a:t>
            </a:r>
          </a:p>
        </p:txBody>
      </p:sp>
    </p:spTree>
    <p:extLst>
      <p:ext uri="{BB962C8B-B14F-4D97-AF65-F5344CB8AC3E}">
        <p14:creationId xmlns:p14="http://schemas.microsoft.com/office/powerpoint/2010/main" val="19006859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38588"/>
            <a:ext cx="8032638" cy="1104412"/>
          </a:xfrm>
        </p:spPr>
        <p:txBody>
          <a:bodyPr anchor="ctr">
            <a:noAutofit/>
          </a:bodyPr>
          <a:lstStyle/>
          <a:p>
            <a:r>
              <a:rPr lang="en-US" dirty="0" smtClean="0"/>
              <a:t>Table 10-1 Example Project Plan Work Breakdown Structure (1 of 4)</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2536369090"/>
              </p:ext>
            </p:extLst>
          </p:nvPr>
        </p:nvGraphicFramePr>
        <p:xfrm>
          <a:off x="533400" y="1600200"/>
          <a:ext cx="8305799" cy="4328160"/>
        </p:xfrm>
        <a:graphic>
          <a:graphicData uri="http://schemas.openxmlformats.org/drawingml/2006/table">
            <a:tbl>
              <a:tblPr firstRow="1" bandRow="1">
                <a:tableStyleId>{5940675A-B579-460E-94D1-54222C63F5DA}</a:tableStyleId>
              </a:tblPr>
              <a:tblGrid>
                <a:gridCol w="1371599"/>
                <a:gridCol w="1295400"/>
                <a:gridCol w="990600"/>
                <a:gridCol w="1219200"/>
                <a:gridCol w="1219200"/>
                <a:gridCol w="1219200"/>
                <a:gridCol w="990600"/>
              </a:tblGrid>
              <a:tr h="762002">
                <a:tc>
                  <a:txBody>
                    <a:bodyPr/>
                    <a:lstStyle/>
                    <a:p>
                      <a:r>
                        <a:rPr lang="en-US" sz="1600" b="1" dirty="0" smtClean="0">
                          <a:solidFill>
                            <a:schemeClr val="bg1"/>
                          </a:solidFill>
                          <a:latin typeface="Arial" pitchFamily="34" charset="0"/>
                          <a:cs typeface="Arial" pitchFamily="34" charset="0"/>
                        </a:rPr>
                        <a:t>Task or Subtask</a:t>
                      </a:r>
                      <a:r>
                        <a:rPr lang="en-US" sz="1600" b="1" baseline="0" dirty="0" smtClean="0">
                          <a:solidFill>
                            <a:schemeClr val="bg1"/>
                          </a:solidFill>
                          <a:latin typeface="Arial" pitchFamily="34" charset="0"/>
                          <a:cs typeface="Arial" pitchFamily="34" charset="0"/>
                        </a:rPr>
                        <a:t> </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Resources</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Start</a:t>
                      </a:r>
                      <a:r>
                        <a:rPr lang="en-US" sz="1600" b="1" baseline="0" dirty="0" smtClean="0">
                          <a:solidFill>
                            <a:schemeClr val="bg1"/>
                          </a:solidFill>
                          <a:latin typeface="Arial" pitchFamily="34" charset="0"/>
                          <a:cs typeface="Arial" pitchFamily="34" charset="0"/>
                        </a:rPr>
                        <a:t> (S) &amp; End (E) Dates</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Estimated Effort in Hours</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Estimated Capital Expense</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Estimated Non capital Expense</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Depend-</a:t>
                      </a:r>
                      <a:r>
                        <a:rPr lang="en-US" sz="1600" b="1" dirty="0" err="1" smtClean="0">
                          <a:solidFill>
                            <a:schemeClr val="bg1"/>
                          </a:solidFill>
                          <a:latin typeface="Arial" pitchFamily="34" charset="0"/>
                          <a:cs typeface="Arial" pitchFamily="34" charset="0"/>
                        </a:rPr>
                        <a:t>encies</a:t>
                      </a:r>
                      <a:endParaRPr lang="en-US" sz="1600" b="1" dirty="0">
                        <a:solidFill>
                          <a:schemeClr val="bg1"/>
                        </a:solidFill>
                        <a:latin typeface="Arial" pitchFamily="34" charset="0"/>
                        <a:cs typeface="Arial" pitchFamily="34" charset="0"/>
                      </a:endParaRPr>
                    </a:p>
                  </a:txBody>
                  <a:tcPr anchor="ctr">
                    <a:solidFill>
                      <a:srgbClr val="364162"/>
                    </a:solidFill>
                  </a:tcPr>
                </a:tc>
              </a:tr>
              <a:tr h="838200">
                <a:tc>
                  <a:txBody>
                    <a:bodyPr/>
                    <a:lstStyle/>
                    <a:p>
                      <a:r>
                        <a:rPr lang="en-US" sz="1400" dirty="0" smtClean="0">
                          <a:latin typeface="Arial" pitchFamily="34" charset="0"/>
                          <a:cs typeface="Arial" pitchFamily="34" charset="0"/>
                        </a:rPr>
                        <a:t>1 Contact</a:t>
                      </a:r>
                      <a:r>
                        <a:rPr lang="en-US" sz="1400" baseline="0" dirty="0" smtClean="0">
                          <a:latin typeface="Arial" pitchFamily="34" charset="0"/>
                          <a:cs typeface="Arial" pitchFamily="34" charset="0"/>
                        </a:rPr>
                        <a:t> field office and confirm network assumptions </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Network architect</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S: 9/22</a:t>
                      </a:r>
                    </a:p>
                    <a:p>
                      <a:r>
                        <a:rPr lang="en-US" sz="1400" dirty="0" smtClean="0">
                          <a:latin typeface="Arial" pitchFamily="34" charset="0"/>
                          <a:cs typeface="Arial" pitchFamily="34" charset="0"/>
                        </a:rPr>
                        <a:t>E: 9/22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$200</a:t>
                      </a:r>
                      <a:endParaRPr lang="en-US" sz="1400" dirty="0">
                        <a:latin typeface="Arial" pitchFamily="34" charset="0"/>
                        <a:cs typeface="Arial" pitchFamily="34" charset="0"/>
                      </a:endParaRPr>
                    </a:p>
                  </a:txBody>
                  <a:tcPr anchor="ctr"/>
                </a:tc>
                <a:tc>
                  <a:txBody>
                    <a:bodyPr/>
                    <a:lstStyle/>
                    <a:p>
                      <a:endParaRPr lang="en-US" sz="1400" dirty="0">
                        <a:latin typeface="Arial" pitchFamily="34" charset="0"/>
                        <a:cs typeface="Arial" pitchFamily="34" charset="0"/>
                      </a:endParaRPr>
                    </a:p>
                  </a:txBody>
                  <a:tcPr anchor="ctr"/>
                </a:tc>
              </a:tr>
              <a:tr h="731520">
                <a:tc>
                  <a:txBody>
                    <a:bodyPr/>
                    <a:lstStyle/>
                    <a:p>
                      <a:r>
                        <a:rPr lang="en-US" sz="1400" kern="1200" dirty="0" smtClean="0">
                          <a:solidFill>
                            <a:schemeClr val="tx1"/>
                          </a:solidFill>
                          <a:effectLst/>
                          <a:latin typeface="Arial" pitchFamily="34" charset="0"/>
                          <a:ea typeface="+mn-ea"/>
                          <a:cs typeface="Arial" pitchFamily="34" charset="0"/>
                        </a:rPr>
                        <a:t>2 Purchase standard</a:t>
                      </a:r>
                    </a:p>
                    <a:p>
                      <a:r>
                        <a:rPr lang="en-US" sz="1400" kern="1200" dirty="0" smtClean="0">
                          <a:solidFill>
                            <a:schemeClr val="tx1"/>
                          </a:solidFill>
                          <a:effectLst/>
                          <a:latin typeface="Arial" pitchFamily="34" charset="0"/>
                          <a:ea typeface="+mn-ea"/>
                          <a:cs typeface="Arial" pitchFamily="34" charset="0"/>
                        </a:rPr>
                        <a:t>firewall hardware</a:t>
                      </a:r>
                      <a:endParaRPr lang="en-US" sz="1400" dirty="0">
                        <a:latin typeface="Arial" pitchFamily="34" charset="0"/>
                        <a:cs typeface="Arial" pitchFamily="34" charset="0"/>
                      </a:endParaRPr>
                    </a:p>
                  </a:txBody>
                  <a:tcPr anchor="ctr"/>
                </a:tc>
                <a:tc>
                  <a:txBody>
                    <a:bodyPr/>
                    <a:lstStyle/>
                    <a:p>
                      <a:endParaRPr lang="en-US" sz="1400" dirty="0">
                        <a:latin typeface="Arial" pitchFamily="34" charset="0"/>
                        <a:cs typeface="Arial" pitchFamily="34" charset="0"/>
                      </a:endParaRPr>
                    </a:p>
                  </a:txBody>
                  <a:tcPr anchor="ctr"/>
                </a:tc>
                <a:tc>
                  <a:txBody>
                    <a:bodyPr/>
                    <a:lstStyle/>
                    <a:p>
                      <a:endParaRPr lang="en-US" sz="1400" dirty="0">
                        <a:latin typeface="Arial" pitchFamily="34" charset="0"/>
                        <a:cs typeface="Arial" pitchFamily="34" charset="0"/>
                      </a:endParaRPr>
                    </a:p>
                  </a:txBody>
                  <a:tcPr anchor="ctr"/>
                </a:tc>
                <a:tc>
                  <a:txBody>
                    <a:bodyPr/>
                    <a:lstStyle/>
                    <a:p>
                      <a:endParaRPr lang="en-US" sz="1400" dirty="0">
                        <a:latin typeface="Arial" pitchFamily="34" charset="0"/>
                        <a:cs typeface="Arial" pitchFamily="34" charset="0"/>
                      </a:endParaRPr>
                    </a:p>
                  </a:txBody>
                  <a:tcPr anchor="ctr"/>
                </a:tc>
                <a:tc>
                  <a:txBody>
                    <a:bodyPr/>
                    <a:lstStyle/>
                    <a:p>
                      <a:endParaRPr lang="en-US" sz="1400" dirty="0">
                        <a:latin typeface="Arial" pitchFamily="34" charset="0"/>
                        <a:cs typeface="Arial" pitchFamily="34" charset="0"/>
                      </a:endParaRPr>
                    </a:p>
                  </a:txBody>
                  <a:tcPr anchor="ctr"/>
                </a:tc>
                <a:tc>
                  <a:txBody>
                    <a:bodyPr/>
                    <a:lstStyle/>
                    <a:p>
                      <a:endParaRPr lang="en-US" sz="1400">
                        <a:latin typeface="Arial" pitchFamily="34" charset="0"/>
                        <a:cs typeface="Arial" pitchFamily="34" charset="0"/>
                      </a:endParaRPr>
                    </a:p>
                  </a:txBody>
                  <a:tcPr anchor="ctr"/>
                </a:tc>
                <a:tc>
                  <a:txBody>
                    <a:bodyPr/>
                    <a:lstStyle/>
                    <a:p>
                      <a:endParaRPr lang="en-US" sz="1400">
                        <a:latin typeface="Arial" pitchFamily="34" charset="0"/>
                        <a:cs typeface="Arial" pitchFamily="34" charset="0"/>
                      </a:endParaRPr>
                    </a:p>
                  </a:txBody>
                  <a:tcPr anchor="ctr"/>
                </a:tc>
              </a:tr>
              <a:tr h="418662">
                <a:tc>
                  <a:txBody>
                    <a:bodyPr/>
                    <a:lstStyle/>
                    <a:p>
                      <a:r>
                        <a:rPr lang="en-US" sz="1400" kern="1200" dirty="0" smtClean="0">
                          <a:solidFill>
                            <a:schemeClr val="tx1"/>
                          </a:solidFill>
                          <a:effectLst/>
                          <a:latin typeface="Arial" pitchFamily="34" charset="0"/>
                          <a:ea typeface="+mn-ea"/>
                          <a:cs typeface="Arial" pitchFamily="34" charset="0"/>
                        </a:rPr>
                        <a:t>2.1</a:t>
                      </a:r>
                      <a:r>
                        <a:rPr lang="en-US" sz="1400" kern="1200" baseline="0" dirty="0" smtClean="0">
                          <a:solidFill>
                            <a:schemeClr val="tx1"/>
                          </a:solidFill>
                          <a:effectLst/>
                          <a:latin typeface="Arial" pitchFamily="34" charset="0"/>
                          <a:ea typeface="+mn-ea"/>
                          <a:cs typeface="Arial" pitchFamily="34" charset="0"/>
                        </a:rPr>
                        <a:t> </a:t>
                      </a:r>
                      <a:r>
                        <a:rPr lang="en-US" sz="1400" kern="1200" dirty="0" smtClean="0">
                          <a:solidFill>
                            <a:schemeClr val="tx1"/>
                          </a:solidFill>
                          <a:effectLst/>
                          <a:latin typeface="Arial" pitchFamily="34" charset="0"/>
                          <a:ea typeface="+mn-ea"/>
                          <a:cs typeface="Arial" pitchFamily="34" charset="0"/>
                        </a:rPr>
                        <a:t>Order firewall through purchasing group</a:t>
                      </a:r>
                      <a:endParaRPr lang="en-US" sz="14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Network architect</a:t>
                      </a:r>
                    </a:p>
                    <a:p>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S: 9/23</a:t>
                      </a:r>
                    </a:p>
                    <a:p>
                      <a:r>
                        <a:rPr lang="en-US" sz="1400" dirty="0" smtClean="0">
                          <a:latin typeface="Arial" pitchFamily="34" charset="0"/>
                          <a:cs typeface="Arial" pitchFamily="34" charset="0"/>
                        </a:rPr>
                        <a:t>E: 9/23</a:t>
                      </a:r>
                    </a:p>
                    <a:p>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$100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a:t>
                      </a:r>
                      <a:endParaRPr lang="en-US" sz="1400" dirty="0">
                        <a:latin typeface="Arial" pitchFamily="34" charset="0"/>
                        <a:cs typeface="Arial" pitchFamily="34" charset="0"/>
                      </a:endParaRPr>
                    </a:p>
                  </a:txBody>
                  <a:tcPr anchor="ctr"/>
                </a:tc>
              </a:tr>
            </a:tbl>
          </a:graphicData>
        </a:graphic>
      </p:graphicFrame>
    </p:spTree>
    <p:extLst>
      <p:ext uri="{BB962C8B-B14F-4D97-AF65-F5344CB8AC3E}">
        <p14:creationId xmlns:p14="http://schemas.microsoft.com/office/powerpoint/2010/main" val="776762664"/>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78399"/>
            <a:ext cx="8032638" cy="1104412"/>
          </a:xfrm>
        </p:spPr>
        <p:txBody>
          <a:bodyPr anchor="ctr">
            <a:noAutofit/>
          </a:bodyPr>
          <a:lstStyle/>
          <a:p>
            <a:r>
              <a:rPr lang="en-US" dirty="0" smtClean="0"/>
              <a:t>Table 10-1 Example Project Plan Work Breakdown Structure (2 of 4)</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2207431648"/>
              </p:ext>
            </p:extLst>
          </p:nvPr>
        </p:nvGraphicFramePr>
        <p:xfrm>
          <a:off x="228600" y="1752600"/>
          <a:ext cx="8610598" cy="3962401"/>
        </p:xfrm>
        <a:graphic>
          <a:graphicData uri="http://schemas.openxmlformats.org/drawingml/2006/table">
            <a:tbl>
              <a:tblPr firstRow="1" bandRow="1">
                <a:tableStyleId>{5940675A-B579-460E-94D1-54222C63F5DA}</a:tableStyleId>
              </a:tblPr>
              <a:tblGrid>
                <a:gridCol w="1421933"/>
                <a:gridCol w="1342938"/>
                <a:gridCol w="1026952"/>
                <a:gridCol w="1263941"/>
                <a:gridCol w="1263941"/>
                <a:gridCol w="1263941"/>
                <a:gridCol w="1026952"/>
              </a:tblGrid>
              <a:tr h="1153400">
                <a:tc>
                  <a:txBody>
                    <a:bodyPr/>
                    <a:lstStyle/>
                    <a:p>
                      <a:r>
                        <a:rPr lang="en-US" sz="1600" b="1" dirty="0" smtClean="0">
                          <a:solidFill>
                            <a:schemeClr val="bg1"/>
                          </a:solidFill>
                          <a:latin typeface="Arial" pitchFamily="34" charset="0"/>
                          <a:cs typeface="Arial" pitchFamily="34" charset="0"/>
                        </a:rPr>
                        <a:t>Task or Subtask</a:t>
                      </a:r>
                      <a:r>
                        <a:rPr lang="en-US" sz="1600" b="1" baseline="0" dirty="0" smtClean="0">
                          <a:solidFill>
                            <a:schemeClr val="bg1"/>
                          </a:solidFill>
                          <a:latin typeface="Arial" pitchFamily="34" charset="0"/>
                          <a:cs typeface="Arial" pitchFamily="34" charset="0"/>
                        </a:rPr>
                        <a:t> </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Resources</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Start</a:t>
                      </a:r>
                      <a:r>
                        <a:rPr lang="en-US" sz="1600" b="1" baseline="0" dirty="0" smtClean="0">
                          <a:solidFill>
                            <a:schemeClr val="bg1"/>
                          </a:solidFill>
                          <a:latin typeface="Arial" pitchFamily="34" charset="0"/>
                          <a:cs typeface="Arial" pitchFamily="34" charset="0"/>
                        </a:rPr>
                        <a:t> (S) &amp; End (E) Dates</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Estimated Effort in Hours</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Estimated Capital Expense</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Estimated Non capital Expense</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Depend-</a:t>
                      </a:r>
                      <a:r>
                        <a:rPr lang="en-US" sz="1600" b="1" dirty="0" err="1" smtClean="0">
                          <a:solidFill>
                            <a:schemeClr val="bg1"/>
                          </a:solidFill>
                          <a:latin typeface="Arial" pitchFamily="34" charset="0"/>
                          <a:cs typeface="Arial" pitchFamily="34" charset="0"/>
                        </a:rPr>
                        <a:t>encies</a:t>
                      </a:r>
                      <a:endParaRPr lang="en-US" sz="1600" b="1" dirty="0">
                        <a:solidFill>
                          <a:schemeClr val="bg1"/>
                        </a:solidFill>
                        <a:latin typeface="Arial" pitchFamily="34" charset="0"/>
                        <a:cs typeface="Arial" pitchFamily="34" charset="0"/>
                      </a:endParaRPr>
                    </a:p>
                  </a:txBody>
                  <a:tcPr anchor="ctr">
                    <a:solidFill>
                      <a:srgbClr val="364162"/>
                    </a:solidFill>
                  </a:tcPr>
                </a:tc>
              </a:tr>
              <a:tr h="790904">
                <a:tc>
                  <a:txBody>
                    <a:bodyPr/>
                    <a:lstStyle/>
                    <a:p>
                      <a:r>
                        <a:rPr lang="en-US" sz="1400" kern="1200" dirty="0" smtClean="0">
                          <a:solidFill>
                            <a:schemeClr val="tx1"/>
                          </a:solidFill>
                          <a:effectLst/>
                          <a:latin typeface="Arial" pitchFamily="34" charset="0"/>
                          <a:ea typeface="+mn-ea"/>
                          <a:cs typeface="Arial" pitchFamily="34" charset="0"/>
                        </a:rPr>
                        <a:t>2.2</a:t>
                      </a:r>
                      <a:r>
                        <a:rPr lang="en-US" sz="1400" kern="1200" baseline="0" dirty="0" smtClean="0">
                          <a:solidFill>
                            <a:schemeClr val="tx1"/>
                          </a:solidFill>
                          <a:effectLst/>
                          <a:latin typeface="Arial" pitchFamily="34" charset="0"/>
                          <a:ea typeface="+mn-ea"/>
                          <a:cs typeface="Arial" pitchFamily="34" charset="0"/>
                        </a:rPr>
                        <a:t> </a:t>
                      </a:r>
                      <a:r>
                        <a:rPr lang="en-US" sz="1400" kern="1200" dirty="0" smtClean="0">
                          <a:solidFill>
                            <a:schemeClr val="tx1"/>
                          </a:solidFill>
                          <a:effectLst/>
                          <a:latin typeface="Arial" pitchFamily="34" charset="0"/>
                          <a:ea typeface="+mn-ea"/>
                          <a:cs typeface="Arial" pitchFamily="34" charset="0"/>
                        </a:rPr>
                        <a:t>Order firewall from manufacturer</a:t>
                      </a:r>
                      <a:endParaRPr lang="en-US" sz="1400" dirty="0">
                        <a:latin typeface="Arial" pitchFamily="34" charset="0"/>
                        <a:cs typeface="Arial" pitchFamily="34" charset="0"/>
                      </a:endParaRPr>
                    </a:p>
                  </a:txBody>
                  <a:tcPr anchor="ctr"/>
                </a:tc>
                <a:tc>
                  <a:txBody>
                    <a:bodyPr/>
                    <a:lstStyle/>
                    <a:p>
                      <a:r>
                        <a:rPr lang="en-US" sz="1400" kern="1200" dirty="0" smtClean="0">
                          <a:solidFill>
                            <a:schemeClr val="tx1"/>
                          </a:solidFill>
                          <a:effectLst/>
                          <a:latin typeface="Arial" pitchFamily="34" charset="0"/>
                          <a:ea typeface="+mn-ea"/>
                          <a:cs typeface="Arial" pitchFamily="34" charset="0"/>
                        </a:rPr>
                        <a:t>Purchasing</a:t>
                      </a:r>
                    </a:p>
                    <a:p>
                      <a:r>
                        <a:rPr lang="en-US" sz="1400" dirty="0" smtClean="0">
                          <a:latin typeface="Arial" pitchFamily="34" charset="0"/>
                          <a:cs typeface="Arial" pitchFamily="34" charset="0"/>
                        </a:rPr>
                        <a:t>group</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S: 9/24</a:t>
                      </a:r>
                    </a:p>
                    <a:p>
                      <a:r>
                        <a:rPr lang="en-US" sz="1400" dirty="0" smtClean="0">
                          <a:latin typeface="Arial" pitchFamily="34" charset="0"/>
                          <a:cs typeface="Arial" pitchFamily="34" charset="0"/>
                        </a:rPr>
                        <a:t>E: 9/24</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$4,500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$100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2.1</a:t>
                      </a:r>
                      <a:endParaRPr lang="en-US" sz="1400" dirty="0">
                        <a:latin typeface="Arial" pitchFamily="34" charset="0"/>
                        <a:cs typeface="Arial" pitchFamily="34" charset="0"/>
                      </a:endParaRPr>
                    </a:p>
                  </a:txBody>
                  <a:tcPr anchor="ctr"/>
                </a:tc>
              </a:tr>
              <a:tr h="589624">
                <a:tc>
                  <a:txBody>
                    <a:bodyPr/>
                    <a:lstStyle/>
                    <a:p>
                      <a:r>
                        <a:rPr lang="en-US" sz="1400" kern="1200" dirty="0" smtClean="0">
                          <a:solidFill>
                            <a:schemeClr val="tx1"/>
                          </a:solidFill>
                          <a:effectLst/>
                          <a:latin typeface="Arial" pitchFamily="34" charset="0"/>
                          <a:ea typeface="+mn-ea"/>
                          <a:cs typeface="Arial" pitchFamily="34" charset="0"/>
                        </a:rPr>
                        <a:t>2.3 Firewall delivered</a:t>
                      </a:r>
                      <a:endParaRPr lang="en-US" sz="1400" dirty="0">
                        <a:latin typeface="Arial" pitchFamily="34" charset="0"/>
                        <a:cs typeface="Arial" pitchFamily="34" charset="0"/>
                      </a:endParaRPr>
                    </a:p>
                  </a:txBody>
                  <a:tcPr anchor="ctr"/>
                </a:tc>
                <a:tc>
                  <a:txBody>
                    <a:bodyPr/>
                    <a:lstStyle/>
                    <a:p>
                      <a:r>
                        <a:rPr lang="en-US" sz="1400" kern="1200" dirty="0" smtClean="0">
                          <a:solidFill>
                            <a:schemeClr val="tx1"/>
                          </a:solidFill>
                          <a:effectLst/>
                          <a:latin typeface="Arial" pitchFamily="34" charset="0"/>
                          <a:ea typeface="+mn-ea"/>
                          <a:cs typeface="Arial" pitchFamily="34" charset="0"/>
                        </a:rPr>
                        <a:t>Purchasing</a:t>
                      </a:r>
                    </a:p>
                    <a:p>
                      <a:r>
                        <a:rPr lang="en-US" sz="1400" dirty="0" smtClean="0">
                          <a:latin typeface="Arial" pitchFamily="34" charset="0"/>
                          <a:cs typeface="Arial" pitchFamily="34" charset="0"/>
                        </a:rPr>
                        <a:t>group</a:t>
                      </a:r>
                    </a:p>
                  </a:txBody>
                  <a:tcPr anchor="ctr"/>
                </a:tc>
                <a:tc>
                  <a:txBody>
                    <a:bodyPr/>
                    <a:lstStyle/>
                    <a:p>
                      <a:r>
                        <a:rPr lang="en-US" sz="1400" dirty="0" smtClean="0">
                          <a:latin typeface="Arial" pitchFamily="34" charset="0"/>
                          <a:cs typeface="Arial" pitchFamily="34" charset="0"/>
                        </a:rPr>
                        <a:t>E:</a:t>
                      </a:r>
                      <a:r>
                        <a:rPr lang="en-US" sz="1400" baseline="0" dirty="0" smtClean="0">
                          <a:latin typeface="Arial" pitchFamily="34" charset="0"/>
                          <a:cs typeface="Arial" pitchFamily="34" charset="0"/>
                        </a:rPr>
                        <a:t> 10/3</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1</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$50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2.2</a:t>
                      </a:r>
                      <a:endParaRPr lang="en-US" sz="1400" dirty="0">
                        <a:latin typeface="Arial" pitchFamily="34" charset="0"/>
                        <a:cs typeface="Arial" pitchFamily="34" charset="0"/>
                      </a:endParaRPr>
                    </a:p>
                  </a:txBody>
                  <a:tcPr anchor="ctr"/>
                </a:tc>
              </a:tr>
              <a:tr h="637569">
                <a:tc>
                  <a:txBody>
                    <a:bodyPr/>
                    <a:lstStyle/>
                    <a:p>
                      <a:pPr marL="125730" marR="0">
                        <a:spcBef>
                          <a:spcPts val="0"/>
                        </a:spcBef>
                        <a:spcAft>
                          <a:spcPts val="0"/>
                        </a:spcAft>
                        <a:tabLst>
                          <a:tab pos="1478280" algn="r"/>
                        </a:tabLst>
                      </a:pPr>
                      <a:r>
                        <a:rPr lang="en-US" sz="1400" dirty="0" smtClean="0">
                          <a:solidFill>
                            <a:srgbClr val="000000"/>
                          </a:solidFill>
                          <a:effectLst/>
                          <a:latin typeface="Arial" pitchFamily="34" charset="0"/>
                          <a:ea typeface="Calibri"/>
                          <a:cs typeface="Arial" pitchFamily="34" charset="0"/>
                        </a:rPr>
                        <a:t>3</a:t>
                      </a:r>
                      <a:r>
                        <a:rPr lang="en-US" sz="1400" baseline="0" dirty="0" smtClean="0">
                          <a:solidFill>
                            <a:srgbClr val="000000"/>
                          </a:solidFill>
                          <a:effectLst/>
                          <a:latin typeface="Arial" pitchFamily="34" charset="0"/>
                          <a:ea typeface="Calibri"/>
                          <a:cs typeface="Arial" pitchFamily="34" charset="0"/>
                        </a:rPr>
                        <a:t> </a:t>
                      </a:r>
                      <a:r>
                        <a:rPr lang="en-US" sz="1400" spc="-50" dirty="0" smtClean="0">
                          <a:solidFill>
                            <a:srgbClr val="000000"/>
                          </a:solidFill>
                          <a:effectLst/>
                          <a:latin typeface="Arial" pitchFamily="34" charset="0"/>
                          <a:ea typeface="Calibri"/>
                          <a:cs typeface="Arial" pitchFamily="34" charset="0"/>
                        </a:rPr>
                        <a:t>Configure </a:t>
                      </a:r>
                      <a:r>
                        <a:rPr lang="en-US" sz="1400" spc="-50" dirty="0">
                          <a:solidFill>
                            <a:srgbClr val="000000"/>
                          </a:solidFill>
                          <a:effectLst/>
                          <a:latin typeface="Arial" pitchFamily="34" charset="0"/>
                          <a:ea typeface="Calibri"/>
                          <a:cs typeface="Arial" pitchFamily="34" charset="0"/>
                        </a:rPr>
                        <a:t>firewall</a:t>
                      </a:r>
                      <a:endParaRPr lang="en-US" sz="1100" dirty="0">
                        <a:effectLst/>
                        <a:latin typeface="Arial" pitchFamily="34" charset="0"/>
                        <a:ea typeface="Calibri"/>
                        <a:cs typeface="Arial" pitchFamily="34" charset="0"/>
                      </a:endParaRPr>
                    </a:p>
                  </a:txBody>
                  <a:tcPr marL="0" marR="0" marT="0" marB="0" anchor="ctr"/>
                </a:tc>
                <a:tc>
                  <a:txBody>
                    <a:bodyPr/>
                    <a:lstStyle/>
                    <a:p>
                      <a:pPr marL="59055"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rgbClr val="000000"/>
                          </a:solidFill>
                          <a:effectLst/>
                          <a:latin typeface="Arial" pitchFamily="34" charset="0"/>
                          <a:ea typeface="Calibri"/>
                          <a:cs typeface="Arial" pitchFamily="34" charset="0"/>
                        </a:rPr>
                        <a:t>Network </a:t>
                      </a:r>
                      <a:r>
                        <a:rPr lang="en-US" sz="1400" dirty="0" smtClean="0">
                          <a:latin typeface="Arial" pitchFamily="34" charset="0"/>
                          <a:cs typeface="Arial" pitchFamily="34" charset="0"/>
                        </a:rPr>
                        <a:t>architect</a:t>
                      </a:r>
                    </a:p>
                    <a:p>
                      <a:pPr marL="59055" marR="0">
                        <a:spcBef>
                          <a:spcPts val="0"/>
                        </a:spcBef>
                        <a:spcAft>
                          <a:spcPts val="0"/>
                        </a:spcAft>
                      </a:pPr>
                      <a:endParaRPr lang="en-US" sz="1100" dirty="0">
                        <a:effectLst/>
                        <a:latin typeface="Arial" pitchFamily="34" charset="0"/>
                        <a:ea typeface="Calibri"/>
                        <a:cs typeface="Arial" pitchFamily="34" charset="0"/>
                      </a:endParaRPr>
                    </a:p>
                  </a:txBody>
                  <a:tcPr marL="0" marR="0" marT="0" marB="0" anchor="ctr"/>
                </a:tc>
                <a:tc>
                  <a:txBody>
                    <a:bodyPr/>
                    <a:lstStyle/>
                    <a:p>
                      <a:pPr marL="41275" marR="0">
                        <a:spcBef>
                          <a:spcPts val="0"/>
                        </a:spcBef>
                        <a:spcAft>
                          <a:spcPts val="0"/>
                        </a:spcAft>
                      </a:pPr>
                      <a:r>
                        <a:rPr lang="en-US" sz="1400" dirty="0" smtClean="0">
                          <a:solidFill>
                            <a:srgbClr val="000000"/>
                          </a:solidFill>
                          <a:effectLst/>
                          <a:latin typeface="Arial" pitchFamily="34" charset="0"/>
                          <a:ea typeface="Calibri"/>
                          <a:cs typeface="Arial" pitchFamily="34" charset="0"/>
                        </a:rPr>
                        <a:t>S: 10/3</a:t>
                      </a:r>
                    </a:p>
                    <a:p>
                      <a:pPr marL="41275" marR="0">
                        <a:spcBef>
                          <a:spcPts val="0"/>
                        </a:spcBef>
                        <a:spcAft>
                          <a:spcPts val="0"/>
                        </a:spcAft>
                      </a:pPr>
                      <a:r>
                        <a:rPr lang="en-US" sz="1400" dirty="0" smtClean="0">
                          <a:solidFill>
                            <a:srgbClr val="000000"/>
                          </a:solidFill>
                          <a:effectLst/>
                          <a:latin typeface="Arial" pitchFamily="34" charset="0"/>
                          <a:ea typeface="Calibri"/>
                          <a:cs typeface="Arial" pitchFamily="34" charset="0"/>
                        </a:rPr>
                        <a:t>E:</a:t>
                      </a:r>
                      <a:r>
                        <a:rPr lang="en-US" sz="1400" baseline="0" dirty="0" smtClean="0">
                          <a:solidFill>
                            <a:srgbClr val="000000"/>
                          </a:solidFill>
                          <a:effectLst/>
                          <a:latin typeface="Arial" pitchFamily="34" charset="0"/>
                          <a:ea typeface="Calibri"/>
                          <a:cs typeface="Arial" pitchFamily="34" charset="0"/>
                        </a:rPr>
                        <a:t> 10/5</a:t>
                      </a:r>
                      <a:endParaRPr lang="en-US" sz="1100" dirty="0">
                        <a:effectLst/>
                        <a:latin typeface="Arial" pitchFamily="34" charset="0"/>
                        <a:ea typeface="Calibri"/>
                        <a:cs typeface="Arial" pitchFamily="34" charset="0"/>
                      </a:endParaRPr>
                    </a:p>
                  </a:txBody>
                  <a:tcPr marL="0" marR="0" marT="0" marB="0" anchor="ctr"/>
                </a:tc>
                <a:tc>
                  <a:txBody>
                    <a:bodyPr/>
                    <a:lstStyle/>
                    <a:p>
                      <a:pPr marL="0" marR="694690" algn="l">
                        <a:spcBef>
                          <a:spcPts val="0"/>
                        </a:spcBef>
                        <a:spcAft>
                          <a:spcPts val="0"/>
                        </a:spcAft>
                      </a:pPr>
                      <a:r>
                        <a:rPr lang="en-US" sz="1400" baseline="0" dirty="0" smtClean="0">
                          <a:solidFill>
                            <a:srgbClr val="000000"/>
                          </a:solidFill>
                          <a:effectLst/>
                          <a:latin typeface="Arial" pitchFamily="34" charset="0"/>
                          <a:ea typeface="Calibri"/>
                          <a:cs typeface="Arial" pitchFamily="34" charset="0"/>
                        </a:rPr>
                        <a:t> 8</a:t>
                      </a:r>
                      <a:endParaRPr lang="en-US" sz="1100" dirty="0">
                        <a:effectLst/>
                        <a:latin typeface="Arial" pitchFamily="34" charset="0"/>
                        <a:ea typeface="Calibri"/>
                        <a:cs typeface="Arial" pitchFamily="34" charset="0"/>
                      </a:endParaRPr>
                    </a:p>
                  </a:txBody>
                  <a:tcPr marL="0" marR="0" marT="0" marB="0" anchor="ctr"/>
                </a:tc>
                <a:tc>
                  <a:txBody>
                    <a:bodyPr/>
                    <a:lstStyle/>
                    <a:p>
                      <a:pPr marL="53340" marR="0">
                        <a:spcBef>
                          <a:spcPts val="0"/>
                        </a:spcBef>
                        <a:spcAft>
                          <a:spcPts val="0"/>
                        </a:spcAft>
                      </a:pPr>
                      <a:r>
                        <a:rPr lang="en-US" sz="1400" dirty="0" smtClean="0">
                          <a:solidFill>
                            <a:srgbClr val="000000"/>
                          </a:solidFill>
                          <a:effectLst/>
                          <a:latin typeface="Arial" pitchFamily="34" charset="0"/>
                          <a:ea typeface="Calibri"/>
                          <a:cs typeface="Arial" pitchFamily="34" charset="0"/>
                        </a:rPr>
                        <a:t>$0</a:t>
                      </a:r>
                      <a:endParaRPr lang="en-US" sz="1100" dirty="0">
                        <a:effectLst/>
                        <a:latin typeface="Arial" pitchFamily="34" charset="0"/>
                        <a:ea typeface="Calibri"/>
                        <a:cs typeface="Arial" pitchFamily="34" charset="0"/>
                      </a:endParaRPr>
                    </a:p>
                  </a:txBody>
                  <a:tcPr marL="0" marR="0" marT="0" marB="0" anchor="ctr"/>
                </a:tc>
                <a:tc>
                  <a:txBody>
                    <a:bodyPr/>
                    <a:lstStyle/>
                    <a:p>
                      <a:pPr marL="65405" marR="0">
                        <a:spcBef>
                          <a:spcPts val="0"/>
                        </a:spcBef>
                        <a:spcAft>
                          <a:spcPts val="0"/>
                        </a:spcAft>
                      </a:pPr>
                      <a:r>
                        <a:rPr lang="en-US" sz="1400" dirty="0" smtClean="0">
                          <a:solidFill>
                            <a:srgbClr val="000000"/>
                          </a:solidFill>
                          <a:effectLst/>
                          <a:latin typeface="Arial" pitchFamily="34" charset="0"/>
                          <a:ea typeface="Calibri"/>
                          <a:cs typeface="Arial" pitchFamily="34" charset="0"/>
                        </a:rPr>
                        <a:t>$800</a:t>
                      </a:r>
                      <a:endParaRPr lang="en-US" sz="1100" dirty="0">
                        <a:effectLst/>
                        <a:latin typeface="Arial" pitchFamily="34" charset="0"/>
                        <a:ea typeface="Calibri"/>
                        <a:cs typeface="Arial" pitchFamily="34" charset="0"/>
                      </a:endParaRPr>
                    </a:p>
                  </a:txBody>
                  <a:tcPr marL="0" marR="0" marT="0" marB="0" anchor="ctr"/>
                </a:tc>
                <a:tc>
                  <a:txBody>
                    <a:bodyPr/>
                    <a:lstStyle/>
                    <a:p>
                      <a:pPr marL="0" marR="0" indent="109538">
                        <a:spcBef>
                          <a:spcPts val="0"/>
                        </a:spcBef>
                        <a:spcAft>
                          <a:spcPts val="0"/>
                        </a:spcAft>
                        <a:tabLst>
                          <a:tab pos="152400" algn="dec"/>
                        </a:tabLst>
                      </a:pPr>
                      <a:r>
                        <a:rPr lang="en-US" sz="1400" dirty="0">
                          <a:solidFill>
                            <a:srgbClr val="000000"/>
                          </a:solidFill>
                          <a:effectLst/>
                          <a:latin typeface="Arial" pitchFamily="34" charset="0"/>
                          <a:ea typeface="Calibri"/>
                          <a:cs typeface="Arial" pitchFamily="34" charset="0"/>
                        </a:rPr>
                        <a:t>2.3</a:t>
                      </a:r>
                      <a:endParaRPr lang="en-US" sz="1100" dirty="0">
                        <a:effectLst/>
                        <a:latin typeface="Arial" pitchFamily="34" charset="0"/>
                        <a:ea typeface="Calibri"/>
                        <a:cs typeface="Arial" pitchFamily="34" charset="0"/>
                      </a:endParaRPr>
                    </a:p>
                  </a:txBody>
                  <a:tcPr marL="0" marR="0" marT="0" marB="0" anchor="ctr"/>
                </a:tc>
              </a:tr>
              <a:tr h="790904">
                <a:tc>
                  <a:txBody>
                    <a:bodyPr/>
                    <a:lstStyle/>
                    <a:p>
                      <a:r>
                        <a:rPr lang="en-US" sz="1400" i="0" kern="1200" dirty="0" smtClean="0">
                          <a:solidFill>
                            <a:schemeClr val="tx1"/>
                          </a:solidFill>
                          <a:effectLst/>
                          <a:latin typeface="Arial" pitchFamily="34" charset="0"/>
                          <a:ea typeface="+mn-ea"/>
                          <a:cs typeface="Arial" pitchFamily="34" charset="0"/>
                        </a:rPr>
                        <a:t>4</a:t>
                      </a:r>
                      <a:r>
                        <a:rPr lang="en-US" sz="1400" i="0" kern="1200" baseline="0" dirty="0" smtClean="0">
                          <a:solidFill>
                            <a:schemeClr val="tx1"/>
                          </a:solidFill>
                          <a:effectLst/>
                          <a:latin typeface="Arial" pitchFamily="34" charset="0"/>
                          <a:ea typeface="+mn-ea"/>
                          <a:cs typeface="Arial" pitchFamily="34" charset="0"/>
                        </a:rPr>
                        <a:t> </a:t>
                      </a:r>
                      <a:r>
                        <a:rPr lang="en-US" sz="1400" i="0" kern="1200" dirty="0" smtClean="0">
                          <a:solidFill>
                            <a:schemeClr val="tx1"/>
                          </a:solidFill>
                          <a:effectLst/>
                          <a:latin typeface="Arial" pitchFamily="34" charset="0"/>
                          <a:ea typeface="+mn-ea"/>
                          <a:cs typeface="Arial" pitchFamily="34" charset="0"/>
                        </a:rPr>
                        <a:t>Package and ship firewall </a:t>
                      </a:r>
                      <a:r>
                        <a:rPr lang="en-US" sz="1400" kern="1200" dirty="0" smtClean="0">
                          <a:solidFill>
                            <a:schemeClr val="tx1"/>
                          </a:solidFill>
                          <a:effectLst/>
                          <a:latin typeface="Arial" pitchFamily="34" charset="0"/>
                          <a:ea typeface="+mn-ea"/>
                          <a:cs typeface="Arial" pitchFamily="34" charset="0"/>
                        </a:rPr>
                        <a:t>to field office</a:t>
                      </a:r>
                      <a:endParaRPr lang="en-US" sz="1400" i="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Student</a:t>
                      </a:r>
                      <a:r>
                        <a:rPr lang="en-US" sz="1400" baseline="0" dirty="0" smtClean="0">
                          <a:latin typeface="Arial" pitchFamily="34" charset="0"/>
                          <a:cs typeface="Arial" pitchFamily="34" charset="0"/>
                        </a:rPr>
                        <a:t> intern</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S:</a:t>
                      </a:r>
                      <a:r>
                        <a:rPr lang="en-US" sz="1400" baseline="0" dirty="0" smtClean="0">
                          <a:latin typeface="Arial" pitchFamily="34" charset="0"/>
                          <a:cs typeface="Arial" pitchFamily="34" charset="0"/>
                        </a:rPr>
                        <a:t> 10/6</a:t>
                      </a:r>
                    </a:p>
                    <a:p>
                      <a:r>
                        <a:rPr lang="en-US" sz="1400" baseline="0" dirty="0" smtClean="0">
                          <a:latin typeface="Arial" pitchFamily="34" charset="0"/>
                          <a:cs typeface="Arial" pitchFamily="34" charset="0"/>
                        </a:rPr>
                        <a:t>E: 10/15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2</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$0</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$85</a:t>
                      </a:r>
                      <a:endParaRPr lang="en-US" sz="1400" dirty="0">
                        <a:latin typeface="Arial" pitchFamily="34" charset="0"/>
                        <a:cs typeface="Arial" pitchFamily="34" charset="0"/>
                      </a:endParaRPr>
                    </a:p>
                  </a:txBody>
                  <a:tcPr anchor="ctr"/>
                </a:tc>
                <a:tc>
                  <a:txBody>
                    <a:bodyPr/>
                    <a:lstStyle/>
                    <a:p>
                      <a:r>
                        <a:rPr lang="en-US" sz="1400" dirty="0" smtClean="0">
                          <a:latin typeface="Arial" pitchFamily="34" charset="0"/>
                          <a:cs typeface="Arial" pitchFamily="34" charset="0"/>
                        </a:rPr>
                        <a:t>3</a:t>
                      </a:r>
                    </a:p>
                  </a:txBody>
                  <a:tcPr anchor="ctr"/>
                </a:tc>
              </a:tr>
            </a:tbl>
          </a:graphicData>
        </a:graphic>
      </p:graphicFrame>
    </p:spTree>
    <p:extLst>
      <p:ext uri="{BB962C8B-B14F-4D97-AF65-F5344CB8AC3E}">
        <p14:creationId xmlns:p14="http://schemas.microsoft.com/office/powerpoint/2010/main" val="4148753199"/>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02199"/>
            <a:ext cx="8032638" cy="1104412"/>
          </a:xfrm>
        </p:spPr>
        <p:txBody>
          <a:bodyPr anchor="ctr">
            <a:noAutofit/>
          </a:bodyPr>
          <a:lstStyle/>
          <a:p>
            <a:r>
              <a:rPr lang="en-US" dirty="0" smtClean="0"/>
              <a:t>Table 10-1 Example Project Plan Work Breakdown Structure (3 of 4)</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283940346"/>
              </p:ext>
            </p:extLst>
          </p:nvPr>
        </p:nvGraphicFramePr>
        <p:xfrm>
          <a:off x="609600" y="1752600"/>
          <a:ext cx="8305799" cy="3901440"/>
        </p:xfrm>
        <a:graphic>
          <a:graphicData uri="http://schemas.openxmlformats.org/drawingml/2006/table">
            <a:tbl>
              <a:tblPr firstRow="1" bandRow="1">
                <a:tableStyleId>{5940675A-B579-460E-94D1-54222C63F5DA}</a:tableStyleId>
              </a:tblPr>
              <a:tblGrid>
                <a:gridCol w="1447800"/>
                <a:gridCol w="1295400"/>
                <a:gridCol w="914399"/>
                <a:gridCol w="1219200"/>
                <a:gridCol w="1219200"/>
                <a:gridCol w="1219200"/>
                <a:gridCol w="990600"/>
              </a:tblGrid>
              <a:tr h="762002">
                <a:tc>
                  <a:txBody>
                    <a:bodyPr/>
                    <a:lstStyle/>
                    <a:p>
                      <a:r>
                        <a:rPr lang="en-US" sz="1600" b="1" dirty="0" smtClean="0">
                          <a:solidFill>
                            <a:schemeClr val="bg1"/>
                          </a:solidFill>
                          <a:latin typeface="Arial" pitchFamily="34" charset="0"/>
                          <a:cs typeface="Arial" pitchFamily="34" charset="0"/>
                        </a:rPr>
                        <a:t>Task or Subtask</a:t>
                      </a:r>
                      <a:r>
                        <a:rPr lang="en-US" sz="1600" b="1" baseline="0" dirty="0" smtClean="0">
                          <a:solidFill>
                            <a:schemeClr val="bg1"/>
                          </a:solidFill>
                          <a:latin typeface="Arial" pitchFamily="34" charset="0"/>
                          <a:cs typeface="Arial" pitchFamily="34" charset="0"/>
                        </a:rPr>
                        <a:t> </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Resources</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Start</a:t>
                      </a:r>
                      <a:r>
                        <a:rPr lang="en-US" sz="1600" b="1" baseline="0" dirty="0" smtClean="0">
                          <a:solidFill>
                            <a:schemeClr val="bg1"/>
                          </a:solidFill>
                          <a:latin typeface="Arial" pitchFamily="34" charset="0"/>
                          <a:cs typeface="Arial" pitchFamily="34" charset="0"/>
                        </a:rPr>
                        <a:t> (S) &amp; End (E) Dates</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Estimated Effort in Hours</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Estimated Capital Expense</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Estimated Non capital Expense</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Depend-</a:t>
                      </a:r>
                      <a:r>
                        <a:rPr lang="en-US" sz="1600" b="1" dirty="0" err="1" smtClean="0">
                          <a:solidFill>
                            <a:schemeClr val="bg1"/>
                          </a:solidFill>
                          <a:latin typeface="Arial" pitchFamily="34" charset="0"/>
                          <a:cs typeface="Arial" pitchFamily="34" charset="0"/>
                        </a:rPr>
                        <a:t>encies</a:t>
                      </a:r>
                      <a:endParaRPr lang="en-US" sz="1600" b="1" dirty="0">
                        <a:solidFill>
                          <a:schemeClr val="bg1"/>
                        </a:solidFill>
                        <a:latin typeface="Arial" pitchFamily="34" charset="0"/>
                        <a:cs typeface="Arial" pitchFamily="34" charset="0"/>
                      </a:endParaRPr>
                    </a:p>
                  </a:txBody>
                  <a:tcPr anchor="ctr">
                    <a:solidFill>
                      <a:srgbClr val="364162"/>
                    </a:solidFill>
                  </a:tcPr>
                </a:tc>
              </a:tr>
              <a:tr h="418662">
                <a:tc>
                  <a:txBody>
                    <a:bodyPr/>
                    <a:lstStyle/>
                    <a:p>
                      <a:r>
                        <a:rPr lang="en-US" sz="1400" kern="1200" dirty="0" smtClean="0">
                          <a:solidFill>
                            <a:schemeClr val="tx1"/>
                          </a:solidFill>
                          <a:effectLst/>
                          <a:latin typeface="Arial" pitchFamily="34" charset="0"/>
                          <a:ea typeface="+mn-ea"/>
                          <a:cs typeface="Arial" pitchFamily="34" charset="0"/>
                        </a:rPr>
                        <a:t>5</a:t>
                      </a:r>
                      <a:r>
                        <a:rPr lang="en-US" sz="1400" kern="1200" baseline="0" dirty="0" smtClean="0">
                          <a:solidFill>
                            <a:schemeClr val="tx1"/>
                          </a:solidFill>
                          <a:effectLst/>
                          <a:latin typeface="Arial" pitchFamily="34" charset="0"/>
                          <a:ea typeface="+mn-ea"/>
                          <a:cs typeface="Arial" pitchFamily="34" charset="0"/>
                        </a:rPr>
                        <a:t> </a:t>
                      </a:r>
                      <a:r>
                        <a:rPr lang="en-US" sz="1400" kern="1200" dirty="0" smtClean="0">
                          <a:solidFill>
                            <a:schemeClr val="tx1"/>
                          </a:solidFill>
                          <a:effectLst/>
                          <a:latin typeface="Arial" pitchFamily="34" charset="0"/>
                          <a:ea typeface="+mn-ea"/>
                          <a:cs typeface="Arial" pitchFamily="34" charset="0"/>
                        </a:rPr>
                        <a:t>Work with local technical resource to install and test</a:t>
                      </a:r>
                      <a:endParaRPr lang="en-US" sz="1100" i="0" dirty="0">
                        <a:latin typeface="Arial" pitchFamily="34" charset="0"/>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rgbClr val="000000"/>
                          </a:solidFill>
                          <a:effectLst/>
                          <a:latin typeface="Arial" pitchFamily="34" charset="0"/>
                          <a:ea typeface="Calibri"/>
                          <a:cs typeface="Arial" pitchFamily="34" charset="0"/>
                        </a:rPr>
                        <a:t>Network </a:t>
                      </a:r>
                      <a:r>
                        <a:rPr lang="en-US" sz="1400" dirty="0" smtClean="0">
                          <a:latin typeface="Arial" pitchFamily="34" charset="0"/>
                          <a:cs typeface="Arial" pitchFamily="34" charset="0"/>
                        </a:rPr>
                        <a:t>architect</a:t>
                      </a:r>
                    </a:p>
                  </a:txBody>
                  <a:tcPr/>
                </a:tc>
                <a:tc>
                  <a:txBody>
                    <a:bodyPr/>
                    <a:lstStyle/>
                    <a:p>
                      <a:r>
                        <a:rPr lang="en-US" sz="1400" kern="1200" dirty="0" smtClean="0">
                          <a:solidFill>
                            <a:schemeClr val="tx1"/>
                          </a:solidFill>
                          <a:effectLst/>
                          <a:latin typeface="Arial" pitchFamily="34" charset="0"/>
                          <a:ea typeface="+mn-ea"/>
                          <a:cs typeface="Arial" pitchFamily="34" charset="0"/>
                        </a:rPr>
                        <a:t>S: 10/22</a:t>
                      </a:r>
                    </a:p>
                    <a:p>
                      <a:r>
                        <a:rPr lang="en-US" sz="1400" kern="1200" dirty="0" smtClean="0">
                          <a:solidFill>
                            <a:schemeClr val="tx1"/>
                          </a:solidFill>
                          <a:effectLst/>
                          <a:latin typeface="Arial" pitchFamily="34" charset="0"/>
                          <a:ea typeface="+mn-ea"/>
                          <a:cs typeface="Arial" pitchFamily="34" charset="0"/>
                        </a:rPr>
                        <a:t>E: 10/31</a:t>
                      </a:r>
                      <a:endParaRPr lang="en-US" sz="11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6</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$600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4</a:t>
                      </a:r>
                    </a:p>
                  </a:txBody>
                  <a:tcPr/>
                </a:tc>
              </a:tr>
              <a:tr h="418662">
                <a:tc>
                  <a:txBody>
                    <a:bodyPr/>
                    <a:lstStyle/>
                    <a:p>
                      <a:r>
                        <a:rPr lang="en-US" sz="1400" kern="1200" dirty="0" smtClean="0">
                          <a:solidFill>
                            <a:schemeClr val="tx1"/>
                          </a:solidFill>
                          <a:effectLst/>
                          <a:latin typeface="Arial" pitchFamily="34" charset="0"/>
                          <a:ea typeface="+mn-ea"/>
                          <a:cs typeface="Arial" pitchFamily="34" charset="0"/>
                        </a:rPr>
                        <a:t>6</a:t>
                      </a:r>
                      <a:r>
                        <a:rPr lang="en-US" sz="1400" kern="1200" baseline="0" dirty="0" smtClean="0">
                          <a:solidFill>
                            <a:schemeClr val="tx1"/>
                          </a:solidFill>
                          <a:effectLst/>
                          <a:latin typeface="Arial" pitchFamily="34" charset="0"/>
                          <a:ea typeface="+mn-ea"/>
                          <a:cs typeface="Arial" pitchFamily="34" charset="0"/>
                        </a:rPr>
                        <a:t> </a:t>
                      </a:r>
                      <a:r>
                        <a:rPr lang="en-US" sz="1400" kern="1200" dirty="0" smtClean="0">
                          <a:solidFill>
                            <a:schemeClr val="tx1"/>
                          </a:solidFill>
                          <a:effectLst/>
                          <a:latin typeface="Arial" pitchFamily="34" charset="0"/>
                          <a:ea typeface="+mn-ea"/>
                          <a:cs typeface="Arial" pitchFamily="34" charset="0"/>
                        </a:rPr>
                        <a:t>Penetration test</a:t>
                      </a:r>
                      <a:endParaRPr lang="en-US" sz="1100" dirty="0">
                        <a:latin typeface="Arial" pitchFamily="34" charset="0"/>
                        <a:cs typeface="Arial" pitchFamily="34" charset="0"/>
                      </a:endParaRPr>
                    </a:p>
                  </a:txBody>
                  <a:tcPr/>
                </a:tc>
                <a:tc>
                  <a:txBody>
                    <a:bodyPr/>
                    <a:lstStyle/>
                    <a:p>
                      <a:endParaRPr lang="en-US" sz="1400" dirty="0">
                        <a:latin typeface="Arial" pitchFamily="34" charset="0"/>
                        <a:cs typeface="Arial" pitchFamily="34" charset="0"/>
                      </a:endParaRPr>
                    </a:p>
                  </a:txBody>
                  <a:tcPr/>
                </a:tc>
                <a:tc>
                  <a:txBody>
                    <a:bodyPr/>
                    <a:lstStyle/>
                    <a:p>
                      <a:endParaRPr lang="en-US" sz="1400" dirty="0">
                        <a:latin typeface="Arial" pitchFamily="34" charset="0"/>
                        <a:cs typeface="Arial" pitchFamily="34" charset="0"/>
                      </a:endParaRPr>
                    </a:p>
                  </a:txBody>
                  <a:tcPr/>
                </a:tc>
                <a:tc>
                  <a:txBody>
                    <a:bodyPr/>
                    <a:lstStyle/>
                    <a:p>
                      <a:endParaRPr lang="en-US" sz="1400" dirty="0">
                        <a:latin typeface="Arial" pitchFamily="34" charset="0"/>
                        <a:cs typeface="Arial" pitchFamily="34" charset="0"/>
                      </a:endParaRPr>
                    </a:p>
                  </a:txBody>
                  <a:tcPr/>
                </a:tc>
                <a:tc>
                  <a:txBody>
                    <a:bodyPr/>
                    <a:lstStyle/>
                    <a:p>
                      <a:endParaRPr lang="en-US" sz="1400" dirty="0">
                        <a:latin typeface="Arial" pitchFamily="34" charset="0"/>
                        <a:cs typeface="Arial" pitchFamily="34" charset="0"/>
                      </a:endParaRPr>
                    </a:p>
                  </a:txBody>
                  <a:tcPr/>
                </a:tc>
                <a:tc>
                  <a:txBody>
                    <a:bodyPr/>
                    <a:lstStyle/>
                    <a:p>
                      <a:endParaRPr lang="en-US" sz="1400" dirty="0">
                        <a:latin typeface="Arial" pitchFamily="34" charset="0"/>
                        <a:cs typeface="Arial" pitchFamily="34" charset="0"/>
                      </a:endParaRPr>
                    </a:p>
                  </a:txBody>
                  <a:tcPr/>
                </a:tc>
                <a:tc>
                  <a:txBody>
                    <a:bodyPr/>
                    <a:lstStyle/>
                    <a:p>
                      <a:endParaRPr lang="en-US" sz="1400" dirty="0">
                        <a:latin typeface="Arial" pitchFamily="34" charset="0"/>
                        <a:cs typeface="Arial" pitchFamily="34" charset="0"/>
                      </a:endParaRPr>
                    </a:p>
                  </a:txBody>
                  <a:tcPr/>
                </a:tc>
              </a:tr>
              <a:tr h="624840">
                <a:tc>
                  <a:txBody>
                    <a:bodyPr/>
                    <a:lstStyle/>
                    <a:p>
                      <a:r>
                        <a:rPr lang="en-US" sz="1400" kern="1200" dirty="0" smtClean="0">
                          <a:solidFill>
                            <a:schemeClr val="tx1"/>
                          </a:solidFill>
                          <a:effectLst/>
                          <a:latin typeface="Arial" pitchFamily="34" charset="0"/>
                          <a:ea typeface="+mn-ea"/>
                          <a:cs typeface="Arial" pitchFamily="34" charset="0"/>
                        </a:rPr>
                        <a:t>6.1</a:t>
                      </a:r>
                      <a:r>
                        <a:rPr lang="en-US" sz="1400" kern="1200" baseline="0" dirty="0" smtClean="0">
                          <a:solidFill>
                            <a:schemeClr val="tx1"/>
                          </a:solidFill>
                          <a:effectLst/>
                          <a:latin typeface="Arial" pitchFamily="34" charset="0"/>
                          <a:ea typeface="+mn-ea"/>
                          <a:cs typeface="Arial" pitchFamily="34" charset="0"/>
                        </a:rPr>
                        <a:t> </a:t>
                      </a:r>
                      <a:r>
                        <a:rPr lang="en-US" sz="1400" kern="1200" dirty="0" smtClean="0">
                          <a:solidFill>
                            <a:schemeClr val="tx1"/>
                          </a:solidFill>
                          <a:effectLst/>
                          <a:latin typeface="Arial" pitchFamily="34" charset="0"/>
                          <a:ea typeface="+mn-ea"/>
                          <a:cs typeface="Arial" pitchFamily="34" charset="0"/>
                        </a:rPr>
                        <a:t>Request penetration test</a:t>
                      </a:r>
                      <a:endParaRPr lang="en-US" sz="1400" dirty="0">
                        <a:latin typeface="Arial" pitchFamily="34" charset="0"/>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rgbClr val="000000"/>
                          </a:solidFill>
                          <a:effectLst/>
                          <a:latin typeface="Arial" pitchFamily="34" charset="0"/>
                          <a:ea typeface="Calibri"/>
                          <a:cs typeface="Arial" pitchFamily="34" charset="0"/>
                        </a:rPr>
                        <a:t>Network </a:t>
                      </a:r>
                      <a:r>
                        <a:rPr lang="en-US" sz="1400" dirty="0" smtClean="0">
                          <a:latin typeface="Arial" pitchFamily="34" charset="0"/>
                          <a:cs typeface="Arial" pitchFamily="34" charset="0"/>
                        </a:rPr>
                        <a:t>architect</a:t>
                      </a:r>
                    </a:p>
                    <a:p>
                      <a:endParaRPr lang="en-US" sz="1400" dirty="0">
                        <a:latin typeface="Arial" pitchFamily="34" charset="0"/>
                        <a:cs typeface="Arial" pitchFamily="34" charset="0"/>
                      </a:endParaRPr>
                    </a:p>
                  </a:txBody>
                  <a:tcPr/>
                </a:tc>
                <a:tc>
                  <a:txBody>
                    <a:bodyPr/>
                    <a:lstStyle/>
                    <a:p>
                      <a:r>
                        <a:rPr lang="en-US" sz="1400" kern="1200" dirty="0" smtClean="0">
                          <a:solidFill>
                            <a:schemeClr val="tx1"/>
                          </a:solidFill>
                          <a:effectLst/>
                          <a:latin typeface="Arial" pitchFamily="34" charset="0"/>
                          <a:ea typeface="+mn-ea"/>
                          <a:cs typeface="Arial" pitchFamily="34" charset="0"/>
                        </a:rPr>
                        <a:t>S: 11/1</a:t>
                      </a:r>
                    </a:p>
                    <a:p>
                      <a:r>
                        <a:rPr lang="en-US" sz="1400" kern="1200" dirty="0" smtClean="0">
                          <a:solidFill>
                            <a:schemeClr val="tx1"/>
                          </a:solidFill>
                          <a:effectLst/>
                          <a:latin typeface="Arial" pitchFamily="34" charset="0"/>
                          <a:ea typeface="+mn-ea"/>
                          <a:cs typeface="Arial" pitchFamily="34" charset="0"/>
                        </a:rPr>
                        <a:t>E: 11/1</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1</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$0 </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$100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5</a:t>
                      </a:r>
                      <a:endParaRPr lang="en-US" sz="1400" dirty="0">
                        <a:latin typeface="Arial" pitchFamily="34" charset="0"/>
                        <a:cs typeface="Arial" pitchFamily="34" charset="0"/>
                      </a:endParaRPr>
                    </a:p>
                  </a:txBody>
                  <a:tcPr/>
                </a:tc>
              </a:tr>
              <a:tr h="579120">
                <a:tc>
                  <a:txBody>
                    <a:bodyPr/>
                    <a:lstStyle/>
                    <a:p>
                      <a:pPr marL="125730" marR="0" algn="l">
                        <a:spcBef>
                          <a:spcPts val="0"/>
                        </a:spcBef>
                        <a:spcAft>
                          <a:spcPts val="0"/>
                        </a:spcAft>
                        <a:tabLst>
                          <a:tab pos="1478280" algn="r"/>
                        </a:tabLst>
                      </a:pPr>
                      <a:r>
                        <a:rPr lang="en-US" sz="1400" kern="1200" dirty="0" smtClean="0">
                          <a:solidFill>
                            <a:schemeClr val="tx1"/>
                          </a:solidFill>
                          <a:effectLst/>
                          <a:latin typeface="Arial" pitchFamily="34" charset="0"/>
                          <a:ea typeface="+mn-ea"/>
                          <a:cs typeface="Arial" pitchFamily="34" charset="0"/>
                        </a:rPr>
                        <a:t>6.2</a:t>
                      </a:r>
                      <a:r>
                        <a:rPr lang="en-US" sz="1400" kern="1200" baseline="0" dirty="0" smtClean="0">
                          <a:solidFill>
                            <a:schemeClr val="tx1"/>
                          </a:solidFill>
                          <a:effectLst/>
                          <a:latin typeface="Arial" pitchFamily="34" charset="0"/>
                          <a:ea typeface="+mn-ea"/>
                          <a:cs typeface="Arial" pitchFamily="34" charset="0"/>
                        </a:rPr>
                        <a:t> </a:t>
                      </a:r>
                      <a:r>
                        <a:rPr lang="en-US" sz="1400" kern="1200" dirty="0" smtClean="0">
                          <a:solidFill>
                            <a:schemeClr val="tx1"/>
                          </a:solidFill>
                          <a:effectLst/>
                          <a:latin typeface="Arial" pitchFamily="34" charset="0"/>
                          <a:ea typeface="+mn-ea"/>
                          <a:cs typeface="Arial" pitchFamily="34" charset="0"/>
                        </a:rPr>
                        <a:t>Perform penetration</a:t>
                      </a:r>
                      <a:r>
                        <a:rPr lang="en-US" sz="1400" kern="1200" baseline="0" dirty="0" smtClean="0">
                          <a:solidFill>
                            <a:schemeClr val="tx1"/>
                          </a:solidFill>
                          <a:effectLst/>
                          <a:latin typeface="Arial" pitchFamily="34" charset="0"/>
                          <a:ea typeface="+mn-ea"/>
                          <a:cs typeface="Arial" pitchFamily="34" charset="0"/>
                        </a:rPr>
                        <a:t> </a:t>
                      </a:r>
                      <a:r>
                        <a:rPr lang="en-US" sz="1400" kern="1200" dirty="0" smtClean="0">
                          <a:solidFill>
                            <a:schemeClr val="tx1"/>
                          </a:solidFill>
                          <a:effectLst/>
                          <a:latin typeface="Arial" pitchFamily="34" charset="0"/>
                          <a:ea typeface="+mn-ea"/>
                          <a:cs typeface="Arial" pitchFamily="34" charset="0"/>
                        </a:rPr>
                        <a:t>test</a:t>
                      </a:r>
                      <a:endParaRPr lang="en-US" sz="1400" dirty="0">
                        <a:effectLst/>
                        <a:latin typeface="Arial" pitchFamily="34" charset="0"/>
                        <a:ea typeface="Calibri"/>
                        <a:cs typeface="Arial" pitchFamily="34" charset="0"/>
                      </a:endParaRPr>
                    </a:p>
                  </a:txBody>
                  <a:tcPr marL="0" marR="0" marT="0" marB="0" anchor="ctr"/>
                </a:tc>
                <a:tc>
                  <a:txBody>
                    <a:bodyPr/>
                    <a:lstStyle/>
                    <a:p>
                      <a:pPr marL="59055"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rgbClr val="000000"/>
                          </a:solidFill>
                          <a:effectLst/>
                          <a:latin typeface="Arial" pitchFamily="34" charset="0"/>
                          <a:ea typeface="Calibri"/>
                          <a:cs typeface="Arial" pitchFamily="34" charset="0"/>
                        </a:rPr>
                        <a:t>Penetration test team</a:t>
                      </a:r>
                      <a:endParaRPr lang="en-US" sz="1400" dirty="0" smtClean="0">
                        <a:effectLst/>
                        <a:latin typeface="Arial" pitchFamily="34" charset="0"/>
                        <a:ea typeface="Calibri"/>
                        <a:cs typeface="Arial" pitchFamily="34" charset="0"/>
                      </a:endParaRPr>
                    </a:p>
                    <a:p>
                      <a:pPr marL="59055" marR="0" algn="l">
                        <a:spcBef>
                          <a:spcPts val="0"/>
                        </a:spcBef>
                        <a:spcAft>
                          <a:spcPts val="0"/>
                        </a:spcAft>
                      </a:pPr>
                      <a:endParaRPr lang="en-US" sz="1400" dirty="0">
                        <a:effectLst/>
                        <a:latin typeface="Arial" pitchFamily="34" charset="0"/>
                        <a:ea typeface="Calibri"/>
                        <a:cs typeface="Arial" pitchFamily="34" charset="0"/>
                      </a:endParaRPr>
                    </a:p>
                  </a:txBody>
                  <a:tcPr marL="0" marR="0" marT="0" marB="0" anchor="ctr"/>
                </a:tc>
                <a:tc>
                  <a:txBody>
                    <a:bodyPr/>
                    <a:lstStyle/>
                    <a:p>
                      <a:pPr marL="53975" indent="55563" algn="l"/>
                      <a:r>
                        <a:rPr lang="en-US" sz="1400" kern="1200" dirty="0" smtClean="0">
                          <a:solidFill>
                            <a:schemeClr val="tx1"/>
                          </a:solidFill>
                          <a:effectLst/>
                          <a:latin typeface="Arial" pitchFamily="34" charset="0"/>
                          <a:ea typeface="+mn-ea"/>
                          <a:cs typeface="Arial" pitchFamily="34" charset="0"/>
                        </a:rPr>
                        <a:t>S: 11/2</a:t>
                      </a:r>
                    </a:p>
                    <a:p>
                      <a:pPr marL="0" indent="109538" algn="l"/>
                      <a:r>
                        <a:rPr lang="en-US" sz="1400" kern="1200" dirty="0" smtClean="0">
                          <a:solidFill>
                            <a:schemeClr val="tx1"/>
                          </a:solidFill>
                          <a:effectLst/>
                          <a:latin typeface="Arial" pitchFamily="34" charset="0"/>
                          <a:ea typeface="+mn-ea"/>
                          <a:cs typeface="Arial" pitchFamily="34" charset="0"/>
                        </a:rPr>
                        <a:t>E: 11/12</a:t>
                      </a:r>
                      <a:endParaRPr lang="en-US" sz="1400" dirty="0" smtClean="0">
                        <a:latin typeface="Arial" pitchFamily="34" charset="0"/>
                        <a:cs typeface="Arial" pitchFamily="34" charset="0"/>
                      </a:endParaRPr>
                    </a:p>
                    <a:p>
                      <a:pPr marL="41275" marR="0" algn="l">
                        <a:spcBef>
                          <a:spcPts val="0"/>
                        </a:spcBef>
                        <a:spcAft>
                          <a:spcPts val="0"/>
                        </a:spcAft>
                      </a:pPr>
                      <a:endParaRPr lang="en-US" sz="1400" dirty="0">
                        <a:effectLst/>
                        <a:latin typeface="Arial" pitchFamily="34" charset="0"/>
                        <a:ea typeface="Calibri"/>
                        <a:cs typeface="Arial" pitchFamily="34" charset="0"/>
                      </a:endParaRPr>
                    </a:p>
                  </a:txBody>
                  <a:tcPr marL="0" marR="0" marT="0" marB="0" anchor="ctr"/>
                </a:tc>
                <a:tc>
                  <a:txBody>
                    <a:bodyPr/>
                    <a:lstStyle/>
                    <a:p>
                      <a:pPr marL="0" marR="694690" algn="l">
                        <a:spcBef>
                          <a:spcPts val="0"/>
                        </a:spcBef>
                        <a:spcAft>
                          <a:spcPts val="0"/>
                        </a:spcAft>
                      </a:pPr>
                      <a:r>
                        <a:rPr lang="en-US" sz="1400" baseline="0" dirty="0" smtClean="0">
                          <a:effectLst/>
                          <a:latin typeface="Arial" pitchFamily="34" charset="0"/>
                          <a:ea typeface="Calibri"/>
                          <a:cs typeface="Arial" pitchFamily="34" charset="0"/>
                        </a:rPr>
                        <a:t> 9</a:t>
                      </a:r>
                      <a:endParaRPr lang="en-US" sz="1400" dirty="0">
                        <a:effectLst/>
                        <a:latin typeface="Arial" pitchFamily="34" charset="0"/>
                        <a:ea typeface="Calibri"/>
                        <a:cs typeface="Arial" pitchFamily="34" charset="0"/>
                      </a:endParaRPr>
                    </a:p>
                  </a:txBody>
                  <a:tcPr marL="0" marR="0" marT="0" marB="0" anchor="ctr"/>
                </a:tc>
                <a:tc>
                  <a:txBody>
                    <a:bodyPr/>
                    <a:lstStyle/>
                    <a:p>
                      <a:pPr marL="53340" marR="0" algn="l">
                        <a:spcBef>
                          <a:spcPts val="0"/>
                        </a:spcBef>
                        <a:spcAft>
                          <a:spcPts val="0"/>
                        </a:spcAft>
                      </a:pPr>
                      <a:r>
                        <a:rPr lang="en-US" sz="1400" dirty="0" smtClean="0">
                          <a:effectLst/>
                          <a:latin typeface="Arial" pitchFamily="34" charset="0"/>
                          <a:ea typeface="Calibri"/>
                          <a:cs typeface="Arial" pitchFamily="34" charset="0"/>
                        </a:rPr>
                        <a:t>$0</a:t>
                      </a:r>
                      <a:endParaRPr lang="en-US" sz="1400" dirty="0">
                        <a:effectLst/>
                        <a:latin typeface="Arial" pitchFamily="34" charset="0"/>
                        <a:ea typeface="Calibri"/>
                        <a:cs typeface="Arial" pitchFamily="34" charset="0"/>
                      </a:endParaRPr>
                    </a:p>
                  </a:txBody>
                  <a:tcPr marL="0" marR="0" marT="0" marB="0" anchor="ctr"/>
                </a:tc>
                <a:tc>
                  <a:txBody>
                    <a:bodyPr/>
                    <a:lstStyle/>
                    <a:p>
                      <a:pPr marL="65405" marR="0" algn="l">
                        <a:spcBef>
                          <a:spcPts val="0"/>
                        </a:spcBef>
                        <a:spcAft>
                          <a:spcPts val="0"/>
                        </a:spcAft>
                      </a:pPr>
                      <a:r>
                        <a:rPr lang="en-US" sz="1400" dirty="0" smtClean="0">
                          <a:effectLst/>
                          <a:latin typeface="Arial" pitchFamily="34" charset="0"/>
                          <a:ea typeface="Calibri"/>
                          <a:cs typeface="Arial" pitchFamily="34" charset="0"/>
                        </a:rPr>
                        <a:t>$900</a:t>
                      </a:r>
                      <a:endParaRPr lang="en-US" sz="1400" dirty="0">
                        <a:effectLst/>
                        <a:latin typeface="Arial" pitchFamily="34" charset="0"/>
                        <a:ea typeface="Calibri"/>
                        <a:cs typeface="Arial" pitchFamily="34" charset="0"/>
                      </a:endParaRPr>
                    </a:p>
                  </a:txBody>
                  <a:tcPr marL="0" marR="0" marT="0" marB="0" anchor="ctr"/>
                </a:tc>
                <a:tc>
                  <a:txBody>
                    <a:bodyPr/>
                    <a:lstStyle/>
                    <a:p>
                      <a:pPr marL="0" marR="0" indent="109538" algn="l">
                        <a:spcBef>
                          <a:spcPts val="0"/>
                        </a:spcBef>
                        <a:spcAft>
                          <a:spcPts val="0"/>
                        </a:spcAft>
                        <a:tabLst>
                          <a:tab pos="152400" algn="dec"/>
                        </a:tabLst>
                      </a:pPr>
                      <a:r>
                        <a:rPr lang="en-US" sz="1400" dirty="0" smtClean="0">
                          <a:effectLst/>
                          <a:latin typeface="Arial" pitchFamily="34" charset="0"/>
                          <a:ea typeface="Calibri"/>
                          <a:cs typeface="Arial" pitchFamily="34" charset="0"/>
                        </a:rPr>
                        <a:t>6.1</a:t>
                      </a:r>
                      <a:endParaRPr lang="en-US" sz="1400" dirty="0">
                        <a:effectLst/>
                        <a:latin typeface="Arial" pitchFamily="34" charset="0"/>
                        <a:ea typeface="Calibri"/>
                        <a:cs typeface="Arial" pitchFamily="34" charset="0"/>
                      </a:endParaRPr>
                    </a:p>
                  </a:txBody>
                  <a:tcPr marL="0" marR="0" marT="0" marB="0" anchor="ctr"/>
                </a:tc>
              </a:tr>
            </a:tbl>
          </a:graphicData>
        </a:graphic>
      </p:graphicFrame>
    </p:spTree>
    <p:extLst>
      <p:ext uri="{BB962C8B-B14F-4D97-AF65-F5344CB8AC3E}">
        <p14:creationId xmlns:p14="http://schemas.microsoft.com/office/powerpoint/2010/main" val="2799526812"/>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52400"/>
            <a:ext cx="8032638" cy="1214853"/>
          </a:xfrm>
        </p:spPr>
        <p:txBody>
          <a:bodyPr anchor="ctr">
            <a:noAutofit/>
          </a:bodyPr>
          <a:lstStyle/>
          <a:p>
            <a:r>
              <a:rPr lang="en-US" dirty="0" smtClean="0"/>
              <a:t>Table 10-1 Example Project Plan Work Breakdown Structure (4 of 4)</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2554441240"/>
              </p:ext>
            </p:extLst>
          </p:nvPr>
        </p:nvGraphicFramePr>
        <p:xfrm>
          <a:off x="457201" y="1905000"/>
          <a:ext cx="8305799" cy="3566160"/>
        </p:xfrm>
        <a:graphic>
          <a:graphicData uri="http://schemas.openxmlformats.org/drawingml/2006/table">
            <a:tbl>
              <a:tblPr firstRow="1" bandRow="1">
                <a:tableStyleId>{5940675A-B579-460E-94D1-54222C63F5DA}</a:tableStyleId>
              </a:tblPr>
              <a:tblGrid>
                <a:gridCol w="1371600"/>
                <a:gridCol w="1295400"/>
                <a:gridCol w="990599"/>
                <a:gridCol w="1219200"/>
                <a:gridCol w="1219200"/>
                <a:gridCol w="1219200"/>
                <a:gridCol w="990600"/>
              </a:tblGrid>
              <a:tr h="914400">
                <a:tc>
                  <a:txBody>
                    <a:bodyPr/>
                    <a:lstStyle/>
                    <a:p>
                      <a:r>
                        <a:rPr lang="en-US" sz="1600" b="1" dirty="0" smtClean="0">
                          <a:solidFill>
                            <a:schemeClr val="bg1"/>
                          </a:solidFill>
                          <a:latin typeface="Arial" pitchFamily="34" charset="0"/>
                          <a:cs typeface="Arial" pitchFamily="34" charset="0"/>
                        </a:rPr>
                        <a:t>Task or Subtask</a:t>
                      </a:r>
                      <a:r>
                        <a:rPr lang="en-US" sz="1600" b="1" baseline="0" dirty="0" smtClean="0">
                          <a:solidFill>
                            <a:schemeClr val="bg1"/>
                          </a:solidFill>
                          <a:latin typeface="Arial" pitchFamily="34" charset="0"/>
                          <a:cs typeface="Arial" pitchFamily="34" charset="0"/>
                        </a:rPr>
                        <a:t> </a:t>
                      </a:r>
                      <a:endParaRPr lang="en-US" sz="1600" b="1" dirty="0">
                        <a:solidFill>
                          <a:schemeClr val="bg1"/>
                        </a:solidFill>
                        <a:latin typeface="Arial" pitchFamily="34" charset="0"/>
                        <a:cs typeface="Arial" pitchFamily="34" charset="0"/>
                      </a:endParaRPr>
                    </a:p>
                  </a:txBody>
                  <a:tcPr>
                    <a:solidFill>
                      <a:srgbClr val="364162"/>
                    </a:solidFill>
                  </a:tcPr>
                </a:tc>
                <a:tc>
                  <a:txBody>
                    <a:bodyPr/>
                    <a:lstStyle/>
                    <a:p>
                      <a:r>
                        <a:rPr lang="en-US" sz="1600" b="1" dirty="0" smtClean="0">
                          <a:solidFill>
                            <a:schemeClr val="bg1"/>
                          </a:solidFill>
                          <a:latin typeface="Arial" pitchFamily="34" charset="0"/>
                          <a:cs typeface="Arial" pitchFamily="34" charset="0"/>
                        </a:rPr>
                        <a:t>Resources</a:t>
                      </a:r>
                      <a:endParaRPr lang="en-US" sz="1600" b="1" dirty="0">
                        <a:solidFill>
                          <a:schemeClr val="bg1"/>
                        </a:solidFill>
                        <a:latin typeface="Arial" pitchFamily="34" charset="0"/>
                        <a:cs typeface="Arial" pitchFamily="34" charset="0"/>
                      </a:endParaRPr>
                    </a:p>
                  </a:txBody>
                  <a:tcPr>
                    <a:solidFill>
                      <a:srgbClr val="364162"/>
                    </a:solidFill>
                  </a:tcPr>
                </a:tc>
                <a:tc>
                  <a:txBody>
                    <a:bodyPr/>
                    <a:lstStyle/>
                    <a:p>
                      <a:r>
                        <a:rPr lang="en-US" sz="1600" b="1" dirty="0" smtClean="0">
                          <a:solidFill>
                            <a:schemeClr val="bg1"/>
                          </a:solidFill>
                          <a:latin typeface="Arial" pitchFamily="34" charset="0"/>
                          <a:cs typeface="Arial" pitchFamily="34" charset="0"/>
                        </a:rPr>
                        <a:t>Start</a:t>
                      </a:r>
                      <a:r>
                        <a:rPr lang="en-US" sz="1600" b="1" baseline="0" dirty="0" smtClean="0">
                          <a:solidFill>
                            <a:schemeClr val="bg1"/>
                          </a:solidFill>
                          <a:latin typeface="Arial" pitchFamily="34" charset="0"/>
                          <a:cs typeface="Arial" pitchFamily="34" charset="0"/>
                        </a:rPr>
                        <a:t> (S) &amp; End (E) Dates</a:t>
                      </a:r>
                      <a:endParaRPr lang="en-US" sz="1600" b="1" dirty="0">
                        <a:solidFill>
                          <a:schemeClr val="bg1"/>
                        </a:solidFill>
                        <a:latin typeface="Arial" pitchFamily="34" charset="0"/>
                        <a:cs typeface="Arial" pitchFamily="34" charset="0"/>
                      </a:endParaRPr>
                    </a:p>
                  </a:txBody>
                  <a:tcPr>
                    <a:solidFill>
                      <a:srgbClr val="364162"/>
                    </a:solidFill>
                  </a:tcPr>
                </a:tc>
                <a:tc>
                  <a:txBody>
                    <a:bodyPr/>
                    <a:lstStyle/>
                    <a:p>
                      <a:r>
                        <a:rPr lang="en-US" sz="1600" b="1" dirty="0" smtClean="0">
                          <a:solidFill>
                            <a:schemeClr val="bg1"/>
                          </a:solidFill>
                          <a:latin typeface="Arial" pitchFamily="34" charset="0"/>
                          <a:cs typeface="Arial" pitchFamily="34" charset="0"/>
                        </a:rPr>
                        <a:t>Estimated Effort in Hours</a:t>
                      </a:r>
                      <a:endParaRPr lang="en-US" sz="1600" b="1" dirty="0">
                        <a:solidFill>
                          <a:schemeClr val="bg1"/>
                        </a:solidFill>
                        <a:latin typeface="Arial" pitchFamily="34" charset="0"/>
                        <a:cs typeface="Arial" pitchFamily="34" charset="0"/>
                      </a:endParaRPr>
                    </a:p>
                  </a:txBody>
                  <a:tcPr>
                    <a:solidFill>
                      <a:srgbClr val="364162"/>
                    </a:solidFill>
                  </a:tcPr>
                </a:tc>
                <a:tc>
                  <a:txBody>
                    <a:bodyPr/>
                    <a:lstStyle/>
                    <a:p>
                      <a:r>
                        <a:rPr lang="en-US" sz="1600" b="1" dirty="0" smtClean="0">
                          <a:solidFill>
                            <a:schemeClr val="bg1"/>
                          </a:solidFill>
                          <a:latin typeface="Arial" pitchFamily="34" charset="0"/>
                          <a:cs typeface="Arial" pitchFamily="34" charset="0"/>
                        </a:rPr>
                        <a:t>Estimated Capital Expense</a:t>
                      </a:r>
                      <a:endParaRPr lang="en-US" sz="1600" b="1" dirty="0">
                        <a:solidFill>
                          <a:schemeClr val="bg1"/>
                        </a:solidFill>
                        <a:latin typeface="Arial" pitchFamily="34" charset="0"/>
                        <a:cs typeface="Arial" pitchFamily="34" charset="0"/>
                      </a:endParaRPr>
                    </a:p>
                  </a:txBody>
                  <a:tcPr>
                    <a:solidFill>
                      <a:srgbClr val="364162"/>
                    </a:solidFill>
                  </a:tcPr>
                </a:tc>
                <a:tc>
                  <a:txBody>
                    <a:bodyPr/>
                    <a:lstStyle/>
                    <a:p>
                      <a:r>
                        <a:rPr lang="en-US" sz="1600" b="1" dirty="0" smtClean="0">
                          <a:solidFill>
                            <a:schemeClr val="bg1"/>
                          </a:solidFill>
                          <a:latin typeface="Arial" pitchFamily="34" charset="0"/>
                          <a:cs typeface="Arial" pitchFamily="34" charset="0"/>
                        </a:rPr>
                        <a:t>Estimated Non capital Expense</a:t>
                      </a:r>
                      <a:endParaRPr lang="en-US" sz="1600" b="1" dirty="0">
                        <a:solidFill>
                          <a:schemeClr val="bg1"/>
                        </a:solidFill>
                        <a:latin typeface="Arial" pitchFamily="34" charset="0"/>
                        <a:cs typeface="Arial" pitchFamily="34" charset="0"/>
                      </a:endParaRPr>
                    </a:p>
                  </a:txBody>
                  <a:tcPr>
                    <a:solidFill>
                      <a:srgbClr val="364162"/>
                    </a:solidFill>
                  </a:tcPr>
                </a:tc>
                <a:tc>
                  <a:txBody>
                    <a:bodyPr/>
                    <a:lstStyle/>
                    <a:p>
                      <a:r>
                        <a:rPr lang="en-US" sz="1600" b="1" dirty="0" smtClean="0">
                          <a:solidFill>
                            <a:schemeClr val="bg1"/>
                          </a:solidFill>
                          <a:latin typeface="Arial" pitchFamily="34" charset="0"/>
                          <a:cs typeface="Arial" pitchFamily="34" charset="0"/>
                        </a:rPr>
                        <a:t>Depend-</a:t>
                      </a:r>
                      <a:r>
                        <a:rPr lang="en-US" sz="1600" b="1" dirty="0" err="1" smtClean="0">
                          <a:solidFill>
                            <a:schemeClr val="bg1"/>
                          </a:solidFill>
                          <a:latin typeface="Arial" pitchFamily="34" charset="0"/>
                          <a:cs typeface="Arial" pitchFamily="34" charset="0"/>
                        </a:rPr>
                        <a:t>encies</a:t>
                      </a:r>
                      <a:endParaRPr lang="en-US" sz="1600" b="1" dirty="0">
                        <a:solidFill>
                          <a:schemeClr val="bg1"/>
                        </a:solidFill>
                        <a:latin typeface="Arial" pitchFamily="34" charset="0"/>
                        <a:cs typeface="Arial" pitchFamily="34" charset="0"/>
                      </a:endParaRPr>
                    </a:p>
                  </a:txBody>
                  <a:tcPr>
                    <a:solidFill>
                      <a:srgbClr val="364162"/>
                    </a:solidFill>
                  </a:tcPr>
                </a:tc>
              </a:tr>
              <a:tr h="914400">
                <a:tc>
                  <a:txBody>
                    <a:bodyPr/>
                    <a:lstStyle/>
                    <a:p>
                      <a:pPr marL="109538" indent="0"/>
                      <a:r>
                        <a:rPr lang="en-US" sz="1400" dirty="0" smtClean="0">
                          <a:latin typeface="Arial" pitchFamily="34" charset="0"/>
                          <a:cs typeface="Arial" pitchFamily="34" charset="0"/>
                        </a:rPr>
                        <a:t>6.3</a:t>
                      </a:r>
                      <a:r>
                        <a:rPr lang="en-US" sz="1400" baseline="0" dirty="0" smtClean="0">
                          <a:latin typeface="Arial" pitchFamily="34" charset="0"/>
                          <a:cs typeface="Arial" pitchFamily="34" charset="0"/>
                        </a:rPr>
                        <a:t> Verify that result of penetration test were passing </a:t>
                      </a:r>
                      <a:endParaRPr lang="en-US" sz="1400" dirty="0">
                        <a:latin typeface="Arial" pitchFamily="34" charset="0"/>
                        <a:cs typeface="Arial" pitchFamily="34" charset="0"/>
                      </a:endParaRPr>
                    </a:p>
                  </a:txBody>
                  <a:tcPr marL="0" marR="0" marT="0" marB="0" anchor="ctr"/>
                </a:tc>
                <a:tc>
                  <a:txBody>
                    <a:bodyPr/>
                    <a:lstStyle/>
                    <a:p>
                      <a:pPr marL="53975" indent="0"/>
                      <a:r>
                        <a:rPr lang="en-US" sz="1400" dirty="0" smtClean="0">
                          <a:latin typeface="Arial" pitchFamily="34" charset="0"/>
                          <a:cs typeface="Arial" pitchFamily="34" charset="0"/>
                        </a:rPr>
                        <a:t>Network architect</a:t>
                      </a:r>
                      <a:endParaRPr lang="en-US" sz="1400" dirty="0">
                        <a:latin typeface="Arial" pitchFamily="34" charset="0"/>
                        <a:cs typeface="Arial" pitchFamily="34" charset="0"/>
                      </a:endParaRPr>
                    </a:p>
                  </a:txBody>
                  <a:tcPr marL="0" marR="0" marT="0" marB="0" anchor="ctr"/>
                </a:tc>
                <a:tc>
                  <a:txBody>
                    <a:bodyPr/>
                    <a:lstStyle/>
                    <a:p>
                      <a:pPr marL="0" indent="0"/>
                      <a:r>
                        <a:rPr lang="en-US" sz="1400" dirty="0" smtClean="0">
                          <a:latin typeface="Arial" pitchFamily="34" charset="0"/>
                          <a:cs typeface="Arial" pitchFamily="34" charset="0"/>
                        </a:rPr>
                        <a:t>S: 11/13</a:t>
                      </a:r>
                    </a:p>
                    <a:p>
                      <a:pPr marL="0" indent="0"/>
                      <a:r>
                        <a:rPr lang="en-US" sz="1400" dirty="0" smtClean="0">
                          <a:latin typeface="Arial" pitchFamily="34" charset="0"/>
                          <a:cs typeface="Arial" pitchFamily="34" charset="0"/>
                        </a:rPr>
                        <a:t>E: 11/15</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2</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$200</a:t>
                      </a:r>
                      <a:endParaRPr lang="en-US" sz="1400" dirty="0">
                        <a:latin typeface="Arial" pitchFamily="34" charset="0"/>
                        <a:cs typeface="Arial" pitchFamily="34" charset="0"/>
                      </a:endParaRPr>
                    </a:p>
                  </a:txBody>
                  <a:tcPr/>
                </a:tc>
                <a:tc>
                  <a:txBody>
                    <a:bodyPr/>
                    <a:lstStyle/>
                    <a:p>
                      <a:r>
                        <a:rPr lang="en-US" sz="1400" dirty="0" smtClean="0">
                          <a:latin typeface="Arial" pitchFamily="34" charset="0"/>
                          <a:cs typeface="Arial" pitchFamily="34" charset="0"/>
                        </a:rPr>
                        <a:t>6.2</a:t>
                      </a:r>
                    </a:p>
                  </a:txBody>
                  <a:tcPr/>
                </a:tc>
              </a:tr>
              <a:tr h="914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effectLst/>
                          <a:latin typeface="Arial" pitchFamily="34" charset="0"/>
                          <a:ea typeface="Calibri"/>
                          <a:cs typeface="Arial" pitchFamily="34" charset="0"/>
                        </a:rPr>
                        <a:t>7. Get remote office sign-off and update all network</a:t>
                      </a:r>
                      <a:r>
                        <a:rPr lang="en-US" sz="1400" baseline="0" dirty="0" smtClean="0">
                          <a:effectLst/>
                          <a:latin typeface="Arial" pitchFamily="34" charset="0"/>
                          <a:ea typeface="Calibri"/>
                          <a:cs typeface="Arial" pitchFamily="34" charset="0"/>
                        </a:rPr>
                        <a:t> drawings and documents</a:t>
                      </a:r>
                      <a:r>
                        <a:rPr lang="en-US" sz="1400" dirty="0" smtClean="0">
                          <a:effectLst/>
                          <a:latin typeface="Arial" pitchFamily="34" charset="0"/>
                          <a:ea typeface="Calibri"/>
                          <a:cs typeface="Arial" pitchFamily="34" charset="0"/>
                        </a:rPr>
                        <a:t> </a:t>
                      </a:r>
                    </a:p>
                    <a:p>
                      <a:endParaRPr lang="en-US" sz="1400" b="1" dirty="0">
                        <a:latin typeface="Arial" pitchFamily="34" charset="0"/>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Arial" pitchFamily="34" charset="0"/>
                          <a:cs typeface="Arial" pitchFamily="34" charset="0"/>
                        </a:rPr>
                        <a:t>Network architect</a:t>
                      </a:r>
                    </a:p>
                  </a:txBody>
                  <a:tcPr/>
                </a:tc>
                <a:tc>
                  <a:txBody>
                    <a:bodyPr/>
                    <a:lstStyle/>
                    <a:p>
                      <a:r>
                        <a:rPr lang="en-US" sz="1400" b="0" dirty="0" smtClean="0">
                          <a:latin typeface="Arial" pitchFamily="34" charset="0"/>
                          <a:cs typeface="Arial" pitchFamily="34" charset="0"/>
                        </a:rPr>
                        <a:t>S: 11/16</a:t>
                      </a:r>
                    </a:p>
                    <a:p>
                      <a:r>
                        <a:rPr lang="en-US" sz="1400" b="0" dirty="0" smtClean="0">
                          <a:latin typeface="Arial" pitchFamily="34" charset="0"/>
                          <a:cs typeface="Arial" pitchFamily="34" charset="0"/>
                        </a:rPr>
                        <a:t>E: 11/30</a:t>
                      </a:r>
                      <a:endParaRPr lang="en-US" sz="1400" b="0" dirty="0">
                        <a:latin typeface="Arial" pitchFamily="34" charset="0"/>
                        <a:cs typeface="Arial" pitchFamily="34" charset="0"/>
                      </a:endParaRPr>
                    </a:p>
                  </a:txBody>
                  <a:tcPr/>
                </a:tc>
                <a:tc>
                  <a:txBody>
                    <a:bodyPr/>
                    <a:lstStyle/>
                    <a:p>
                      <a:r>
                        <a:rPr lang="en-US" sz="1400" b="0" dirty="0" smtClean="0">
                          <a:latin typeface="Arial" pitchFamily="34" charset="0"/>
                          <a:cs typeface="Arial" pitchFamily="34" charset="0"/>
                        </a:rPr>
                        <a:t>8</a:t>
                      </a:r>
                      <a:endParaRPr lang="en-US" sz="1400" b="0" dirty="0">
                        <a:latin typeface="Arial" pitchFamily="34" charset="0"/>
                        <a:cs typeface="Arial" pitchFamily="34" charset="0"/>
                      </a:endParaRPr>
                    </a:p>
                  </a:txBody>
                  <a:tcPr/>
                </a:tc>
                <a:tc>
                  <a:txBody>
                    <a:bodyPr/>
                    <a:lstStyle/>
                    <a:p>
                      <a:r>
                        <a:rPr lang="en-US" sz="1400" b="0" dirty="0" smtClean="0">
                          <a:latin typeface="Arial" pitchFamily="34" charset="0"/>
                          <a:cs typeface="Arial" pitchFamily="34" charset="0"/>
                        </a:rPr>
                        <a:t>$0</a:t>
                      </a:r>
                      <a:endParaRPr lang="en-US" sz="1400" b="0" dirty="0">
                        <a:latin typeface="Arial" pitchFamily="34" charset="0"/>
                        <a:cs typeface="Arial" pitchFamily="34" charset="0"/>
                      </a:endParaRPr>
                    </a:p>
                  </a:txBody>
                  <a:tcPr/>
                </a:tc>
                <a:tc>
                  <a:txBody>
                    <a:bodyPr/>
                    <a:lstStyle/>
                    <a:p>
                      <a:r>
                        <a:rPr lang="en-US" sz="1400" b="0" dirty="0" smtClean="0">
                          <a:latin typeface="Arial" pitchFamily="34" charset="0"/>
                          <a:cs typeface="Arial" pitchFamily="34" charset="0"/>
                        </a:rPr>
                        <a:t>$800</a:t>
                      </a:r>
                      <a:endParaRPr lang="en-US" sz="1400" b="0" dirty="0">
                        <a:latin typeface="Arial" pitchFamily="34" charset="0"/>
                        <a:cs typeface="Arial" pitchFamily="34" charset="0"/>
                      </a:endParaRPr>
                    </a:p>
                  </a:txBody>
                  <a:tcPr/>
                </a:tc>
                <a:tc>
                  <a:txBody>
                    <a:bodyPr/>
                    <a:lstStyle/>
                    <a:p>
                      <a:r>
                        <a:rPr lang="en-US" sz="1400" b="0" dirty="0" smtClean="0">
                          <a:latin typeface="Arial" pitchFamily="34" charset="0"/>
                          <a:cs typeface="Arial" pitchFamily="34" charset="0"/>
                        </a:rPr>
                        <a:t>6.2</a:t>
                      </a:r>
                      <a:endParaRPr lang="en-US" sz="1400" b="0" dirty="0">
                        <a:latin typeface="Arial" pitchFamily="34" charset="0"/>
                        <a:cs typeface="Arial" pitchFamily="34" charset="0"/>
                      </a:endParaRPr>
                    </a:p>
                  </a:txBody>
                  <a:tcPr/>
                </a:tc>
              </a:tr>
            </a:tbl>
          </a:graphicData>
        </a:graphic>
      </p:graphicFrame>
    </p:spTree>
    <p:extLst>
      <p:ext uri="{BB962C8B-B14F-4D97-AF65-F5344CB8AC3E}">
        <p14:creationId xmlns:p14="http://schemas.microsoft.com/office/powerpoint/2010/main" val="2642353275"/>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4"/>
          <p:cNvSpPr>
            <a:spLocks noGrp="1" noChangeArrowheads="1"/>
          </p:cNvSpPr>
          <p:nvPr>
            <p:ph type="title"/>
          </p:nvPr>
        </p:nvSpPr>
        <p:spPr/>
        <p:txBody>
          <a:bodyPr anchor="ctr"/>
          <a:lstStyle/>
          <a:p>
            <a:r>
              <a:rPr lang="en-US" altLang="en-US" dirty="0" smtClean="0"/>
              <a:t>Project Planning Considerations (1 of 8)</a:t>
            </a:r>
          </a:p>
        </p:txBody>
      </p:sp>
      <p:sp>
        <p:nvSpPr>
          <p:cNvPr id="15363" name="Content Placeholder 5"/>
          <p:cNvSpPr>
            <a:spLocks noGrp="1" noChangeArrowheads="1"/>
          </p:cNvSpPr>
          <p:nvPr>
            <p:ph idx="1"/>
          </p:nvPr>
        </p:nvSpPr>
        <p:spPr/>
        <p:txBody>
          <a:bodyPr>
            <a:normAutofit/>
          </a:bodyPr>
          <a:lstStyle/>
          <a:p>
            <a:r>
              <a:rPr lang="en-US" altLang="en-US" dirty="0" smtClean="0"/>
              <a:t>As project plan is developed, adding detail is not always straightforward.</a:t>
            </a:r>
          </a:p>
          <a:p>
            <a:r>
              <a:rPr lang="en-US" altLang="en-US" dirty="0" smtClean="0"/>
              <a:t>Special considerations include financial, priority, time and schedule, staff, procurement, organizational feasibility, training and indoctrination, and scope.</a:t>
            </a:r>
          </a:p>
        </p:txBody>
      </p:sp>
    </p:spTree>
    <p:extLst>
      <p:ext uri="{BB962C8B-B14F-4D97-AF65-F5344CB8AC3E}">
        <p14:creationId xmlns:p14="http://schemas.microsoft.com/office/powerpoint/2010/main" val="19595265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2"/>
          <p:cNvSpPr>
            <a:spLocks noGrp="1" noChangeArrowheads="1"/>
          </p:cNvSpPr>
          <p:nvPr>
            <p:ph type="title"/>
          </p:nvPr>
        </p:nvSpPr>
        <p:spPr/>
        <p:txBody>
          <a:bodyPr anchor="ctr"/>
          <a:lstStyle/>
          <a:p>
            <a:r>
              <a:rPr lang="en-US" altLang="en-US" dirty="0" smtClean="0"/>
              <a:t>Project Planning Considerations (2 of 8)</a:t>
            </a:r>
          </a:p>
        </p:txBody>
      </p:sp>
      <p:sp>
        <p:nvSpPr>
          <p:cNvPr id="16387" name="Content Placeholder 3"/>
          <p:cNvSpPr>
            <a:spLocks noGrp="1" noChangeArrowheads="1"/>
          </p:cNvSpPr>
          <p:nvPr>
            <p:ph idx="1"/>
          </p:nvPr>
        </p:nvSpPr>
        <p:spPr>
          <a:xfrm>
            <a:off x="365124" y="1295400"/>
            <a:ext cx="8474076" cy="4648200"/>
          </a:xfrm>
        </p:spPr>
        <p:txBody>
          <a:bodyPr>
            <a:normAutofit fontScale="92500"/>
          </a:bodyPr>
          <a:lstStyle/>
          <a:p>
            <a:r>
              <a:rPr lang="en-US" altLang="en-US" sz="2800" dirty="0" smtClean="0"/>
              <a:t>Financial considerations</a:t>
            </a:r>
          </a:p>
          <a:p>
            <a:pPr lvl="1"/>
            <a:r>
              <a:rPr lang="en-US" altLang="en-US" sz="2600" dirty="0" smtClean="0"/>
              <a:t>Regardless of existing information security needs, the amount of effort that can be expended depends on available funds</a:t>
            </a:r>
          </a:p>
          <a:p>
            <a:pPr lvl="1"/>
            <a:r>
              <a:rPr lang="en-US" altLang="en-US" sz="2600" dirty="0" smtClean="0"/>
              <a:t>Cost-benefit analysis must be reviewed and verified prior to the development of a project plan</a:t>
            </a:r>
          </a:p>
          <a:p>
            <a:pPr lvl="1"/>
            <a:r>
              <a:rPr lang="en-US" altLang="en-US" sz="2600" dirty="0" smtClean="0"/>
              <a:t>Both public and private organizations have budgetary constraints, though of a different nature</a:t>
            </a:r>
          </a:p>
          <a:p>
            <a:pPr lvl="1"/>
            <a:r>
              <a:rPr lang="en-US" altLang="en-US" sz="2600" dirty="0" smtClean="0"/>
              <a:t>To justify an amount budgeted for a security project at either public or for-profit organizations, it may be useful to benchmark expenses of similar organizations</a:t>
            </a:r>
          </a:p>
        </p:txBody>
      </p:sp>
    </p:spTree>
    <p:extLst>
      <p:ext uri="{BB962C8B-B14F-4D97-AF65-F5344CB8AC3E}">
        <p14:creationId xmlns:p14="http://schemas.microsoft.com/office/powerpoint/2010/main" val="33971219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2"/>
          <p:cNvSpPr>
            <a:spLocks noGrp="1" noChangeArrowheads="1"/>
          </p:cNvSpPr>
          <p:nvPr>
            <p:ph type="title"/>
          </p:nvPr>
        </p:nvSpPr>
        <p:spPr/>
        <p:txBody>
          <a:bodyPr anchor="ctr"/>
          <a:lstStyle/>
          <a:p>
            <a:r>
              <a:rPr lang="en-US" altLang="en-US" dirty="0" smtClean="0"/>
              <a:t>Project Planning Considerations (3 of 8)</a:t>
            </a:r>
          </a:p>
        </p:txBody>
      </p:sp>
      <p:sp>
        <p:nvSpPr>
          <p:cNvPr id="17411" name="Content Placeholder 3"/>
          <p:cNvSpPr>
            <a:spLocks noGrp="1" noChangeArrowheads="1"/>
          </p:cNvSpPr>
          <p:nvPr>
            <p:ph idx="1"/>
          </p:nvPr>
        </p:nvSpPr>
        <p:spPr>
          <a:xfrm>
            <a:off x="365124" y="1538818"/>
            <a:ext cx="8550275" cy="4252382"/>
          </a:xfrm>
        </p:spPr>
        <p:txBody>
          <a:bodyPr>
            <a:normAutofit/>
          </a:bodyPr>
          <a:lstStyle/>
          <a:p>
            <a:r>
              <a:rPr lang="en-US" altLang="en-US" dirty="0" smtClean="0"/>
              <a:t>Priority considerations</a:t>
            </a:r>
          </a:p>
          <a:p>
            <a:pPr lvl="1"/>
            <a:r>
              <a:rPr lang="en-US" altLang="en-US" dirty="0" smtClean="0"/>
              <a:t>In general, the most important information security controls should be scheduled first</a:t>
            </a:r>
          </a:p>
          <a:p>
            <a:pPr lvl="1"/>
            <a:r>
              <a:rPr lang="en-US" altLang="en-US" dirty="0" smtClean="0"/>
              <a:t>Implementation of controls is guided by the prioritization of threats and value of threatened information assets</a:t>
            </a:r>
          </a:p>
        </p:txBody>
      </p:sp>
    </p:spTree>
    <p:extLst>
      <p:ext uri="{BB962C8B-B14F-4D97-AF65-F5344CB8AC3E}">
        <p14:creationId xmlns:p14="http://schemas.microsoft.com/office/powerpoint/2010/main" val="11687320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4"/>
          <p:cNvSpPr>
            <a:spLocks noGrp="1" noChangeArrowheads="1"/>
          </p:cNvSpPr>
          <p:nvPr>
            <p:ph type="title"/>
          </p:nvPr>
        </p:nvSpPr>
        <p:spPr/>
        <p:txBody>
          <a:bodyPr anchor="ctr"/>
          <a:lstStyle/>
          <a:p>
            <a:r>
              <a:rPr lang="en-US" altLang="en-US" dirty="0" smtClean="0"/>
              <a:t>Project Planning Considerations (4 of 8)</a:t>
            </a:r>
          </a:p>
        </p:txBody>
      </p:sp>
      <p:sp>
        <p:nvSpPr>
          <p:cNvPr id="18435" name="Content Placeholder 5"/>
          <p:cNvSpPr>
            <a:spLocks noGrp="1" noChangeArrowheads="1"/>
          </p:cNvSpPr>
          <p:nvPr>
            <p:ph idx="1"/>
          </p:nvPr>
        </p:nvSpPr>
        <p:spPr>
          <a:xfrm>
            <a:off x="228600" y="1295401"/>
            <a:ext cx="8763000" cy="4572000"/>
          </a:xfrm>
        </p:spPr>
        <p:txBody>
          <a:bodyPr/>
          <a:lstStyle/>
          <a:p>
            <a:r>
              <a:rPr lang="en-US" altLang="en-US" dirty="0" smtClean="0"/>
              <a:t>Time and scheduling considerations</a:t>
            </a:r>
          </a:p>
          <a:p>
            <a:pPr lvl="1"/>
            <a:r>
              <a:rPr lang="en-US" altLang="en-US" dirty="0" smtClean="0"/>
              <a:t>Time impacts project plans at dozens of points, including: </a:t>
            </a:r>
          </a:p>
          <a:p>
            <a:pPr lvl="2"/>
            <a:r>
              <a:rPr lang="en-US" altLang="en-US" dirty="0" smtClean="0"/>
              <a:t>Time to order, receive, install, and configure security control</a:t>
            </a:r>
          </a:p>
          <a:p>
            <a:pPr lvl="2"/>
            <a:r>
              <a:rPr lang="en-US" altLang="en-US" dirty="0" smtClean="0"/>
              <a:t>Time to train the users</a:t>
            </a:r>
          </a:p>
          <a:p>
            <a:pPr lvl="2"/>
            <a:r>
              <a:rPr lang="en-US" altLang="en-US" dirty="0" smtClean="0"/>
              <a:t>Time to realize control’s return on investment </a:t>
            </a:r>
          </a:p>
        </p:txBody>
      </p:sp>
    </p:spTree>
    <p:extLst>
      <p:ext uri="{BB962C8B-B14F-4D97-AF65-F5344CB8AC3E}">
        <p14:creationId xmlns:p14="http://schemas.microsoft.com/office/powerpoint/2010/main" val="36683078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2"/>
          <p:cNvSpPr>
            <a:spLocks noGrp="1" noChangeArrowheads="1"/>
          </p:cNvSpPr>
          <p:nvPr>
            <p:ph type="title"/>
          </p:nvPr>
        </p:nvSpPr>
        <p:spPr/>
        <p:txBody>
          <a:bodyPr anchor="ctr"/>
          <a:lstStyle/>
          <a:p>
            <a:r>
              <a:rPr lang="en-US" altLang="en-US" dirty="0" smtClean="0"/>
              <a:t>Project Planning Considerations (5 of 8)</a:t>
            </a:r>
          </a:p>
        </p:txBody>
      </p:sp>
      <p:sp>
        <p:nvSpPr>
          <p:cNvPr id="19459" name="Content Placeholder 3"/>
          <p:cNvSpPr>
            <a:spLocks noGrp="1" noChangeArrowheads="1"/>
          </p:cNvSpPr>
          <p:nvPr>
            <p:ph idx="1"/>
          </p:nvPr>
        </p:nvSpPr>
        <p:spPr>
          <a:xfrm>
            <a:off x="237892" y="1229689"/>
            <a:ext cx="8652340" cy="4897294"/>
          </a:xfrm>
        </p:spPr>
        <p:txBody>
          <a:bodyPr>
            <a:normAutofit fontScale="92500" lnSpcReduction="10000"/>
          </a:bodyPr>
          <a:lstStyle/>
          <a:p>
            <a:r>
              <a:rPr lang="en-US" altLang="en-US" sz="2800" dirty="0" smtClean="0"/>
              <a:t>Staffing considerations</a:t>
            </a:r>
          </a:p>
          <a:p>
            <a:pPr lvl="1"/>
            <a:r>
              <a:rPr lang="en-US" altLang="en-US" sz="2600" dirty="0" smtClean="0"/>
              <a:t>Need for qualified, trained, and available personnel constrains project plan</a:t>
            </a:r>
          </a:p>
          <a:p>
            <a:pPr lvl="1"/>
            <a:r>
              <a:rPr lang="en-US" altLang="en-US" sz="2600" dirty="0" smtClean="0"/>
              <a:t>Experienced staff is often needed to implement technologies and develop and implement policies and training programs</a:t>
            </a:r>
          </a:p>
          <a:p>
            <a:r>
              <a:rPr lang="en-US" altLang="en-US" sz="2800" dirty="0" smtClean="0"/>
              <a:t>Procurement considerations</a:t>
            </a:r>
          </a:p>
          <a:p>
            <a:pPr lvl="1"/>
            <a:r>
              <a:rPr lang="en-US" altLang="en-US" sz="2600" dirty="0" smtClean="0"/>
              <a:t>Often constraints on the selection of equipment/services</a:t>
            </a:r>
          </a:p>
          <a:p>
            <a:pPr lvl="2"/>
            <a:r>
              <a:rPr lang="en-US" altLang="en-US" sz="2400" dirty="0" smtClean="0"/>
              <a:t>Some organizations require use of particular service vendors/manufacturers/suppliers</a:t>
            </a:r>
          </a:p>
          <a:p>
            <a:pPr lvl="1"/>
            <a:r>
              <a:rPr lang="en-US" altLang="en-US" sz="2600" dirty="0" smtClean="0"/>
              <a:t>These constraints may limit which technologies can be acquired</a:t>
            </a:r>
          </a:p>
        </p:txBody>
      </p:sp>
    </p:spTree>
    <p:extLst>
      <p:ext uri="{BB962C8B-B14F-4D97-AF65-F5344CB8AC3E}">
        <p14:creationId xmlns:p14="http://schemas.microsoft.com/office/powerpoint/2010/main" val="18816403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2"/>
          <p:cNvSpPr>
            <a:spLocks noGrp="1" noChangeArrowheads="1"/>
          </p:cNvSpPr>
          <p:nvPr>
            <p:ph type="title"/>
          </p:nvPr>
        </p:nvSpPr>
        <p:spPr/>
        <p:txBody>
          <a:bodyPr anchor="ctr"/>
          <a:lstStyle/>
          <a:p>
            <a:r>
              <a:rPr lang="en-US" altLang="en-US" dirty="0" smtClean="0"/>
              <a:t>Project Planning Considerations (6 of 8)</a:t>
            </a:r>
          </a:p>
        </p:txBody>
      </p:sp>
      <p:sp>
        <p:nvSpPr>
          <p:cNvPr id="20483" name="Content Placeholder 3"/>
          <p:cNvSpPr>
            <a:spLocks noGrp="1" noChangeArrowheads="1"/>
          </p:cNvSpPr>
          <p:nvPr>
            <p:ph idx="1"/>
          </p:nvPr>
        </p:nvSpPr>
        <p:spPr>
          <a:xfrm>
            <a:off x="381000" y="1295400"/>
            <a:ext cx="8382000" cy="4495800"/>
          </a:xfrm>
        </p:spPr>
        <p:txBody>
          <a:bodyPr>
            <a:normAutofit/>
          </a:bodyPr>
          <a:lstStyle/>
          <a:p>
            <a:r>
              <a:rPr lang="en-US" altLang="en-US" dirty="0" smtClean="0"/>
              <a:t>Organizational feasibility considerations</a:t>
            </a:r>
          </a:p>
          <a:p>
            <a:pPr lvl="1"/>
            <a:r>
              <a:rPr lang="en-US" altLang="en-US" dirty="0" smtClean="0"/>
              <a:t>Changes should be transparent to system users unless the new technology is intended to change procedures (e.g., requiring additional authentication or verification)</a:t>
            </a:r>
          </a:p>
          <a:p>
            <a:pPr lvl="1"/>
            <a:r>
              <a:rPr lang="en-US" altLang="en-US" dirty="0" smtClean="0"/>
              <a:t>Successful project requires that an organization be able to assimilate proposed changes</a:t>
            </a:r>
          </a:p>
          <a:p>
            <a:pPr lvl="1"/>
            <a:r>
              <a:rPr lang="en-US" altLang="en-US" dirty="0" smtClean="0"/>
              <a:t>New technologies sometimes require new policies, employee training, and education</a:t>
            </a:r>
          </a:p>
        </p:txBody>
      </p:sp>
    </p:spTree>
    <p:extLst>
      <p:ext uri="{BB962C8B-B14F-4D97-AF65-F5344CB8AC3E}">
        <p14:creationId xmlns:p14="http://schemas.microsoft.com/office/powerpoint/2010/main" val="32635592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noChangeArrowheads="1"/>
          </p:cNvSpPr>
          <p:nvPr>
            <p:ph type="title"/>
          </p:nvPr>
        </p:nvSpPr>
        <p:spPr/>
        <p:txBody>
          <a:bodyPr anchor="ctr"/>
          <a:lstStyle/>
          <a:p>
            <a:r>
              <a:rPr lang="en-US" altLang="en-US" dirty="0" smtClean="0"/>
              <a:t>Project Planning Considerations (7 of 8)</a:t>
            </a:r>
          </a:p>
        </p:txBody>
      </p:sp>
      <p:sp>
        <p:nvSpPr>
          <p:cNvPr id="21507" name="Content Placeholder 3"/>
          <p:cNvSpPr>
            <a:spLocks noGrp="1" noChangeArrowheads="1"/>
          </p:cNvSpPr>
          <p:nvPr>
            <p:ph idx="1"/>
          </p:nvPr>
        </p:nvSpPr>
        <p:spPr>
          <a:xfrm>
            <a:off x="365125" y="1295400"/>
            <a:ext cx="8474075" cy="4724400"/>
          </a:xfrm>
        </p:spPr>
        <p:txBody>
          <a:bodyPr>
            <a:normAutofit/>
          </a:bodyPr>
          <a:lstStyle/>
          <a:p>
            <a:r>
              <a:rPr lang="en-US" altLang="en-US" dirty="0" smtClean="0"/>
              <a:t>Training and indoctrination considerations</a:t>
            </a:r>
          </a:p>
          <a:p>
            <a:pPr lvl="1"/>
            <a:r>
              <a:rPr lang="en-US" altLang="en-US" dirty="0" smtClean="0"/>
              <a:t>Size of an organization and the normal conduct of business may preclude a large training program for new security procedures/technologies</a:t>
            </a:r>
          </a:p>
          <a:p>
            <a:pPr lvl="1"/>
            <a:r>
              <a:rPr lang="en-US" altLang="en-US" dirty="0" smtClean="0"/>
              <a:t>If so, the organization should conduct a phased-in or pilot implementation</a:t>
            </a:r>
          </a:p>
        </p:txBody>
      </p:sp>
    </p:spTree>
    <p:extLst>
      <p:ext uri="{BB962C8B-B14F-4D97-AF65-F5344CB8AC3E}">
        <p14:creationId xmlns:p14="http://schemas.microsoft.com/office/powerpoint/2010/main" val="17734525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2"/>
          <p:cNvSpPr>
            <a:spLocks noGrp="1" noChangeArrowheads="1"/>
          </p:cNvSpPr>
          <p:nvPr>
            <p:ph type="title"/>
          </p:nvPr>
        </p:nvSpPr>
        <p:spPr/>
        <p:txBody>
          <a:bodyPr anchor="ctr"/>
          <a:lstStyle/>
          <a:p>
            <a:r>
              <a:rPr lang="en-US" altLang="en-US" dirty="0" smtClean="0"/>
              <a:t>Project Planning Considerations (8 of 8)</a:t>
            </a:r>
          </a:p>
        </p:txBody>
      </p:sp>
      <p:sp>
        <p:nvSpPr>
          <p:cNvPr id="22531" name="Content Placeholder 3"/>
          <p:cNvSpPr>
            <a:spLocks noGrp="1" noChangeArrowheads="1"/>
          </p:cNvSpPr>
          <p:nvPr>
            <p:ph idx="1"/>
          </p:nvPr>
        </p:nvSpPr>
        <p:spPr>
          <a:xfrm>
            <a:off x="365124" y="1538818"/>
            <a:ext cx="8474075" cy="4480982"/>
          </a:xfrm>
        </p:spPr>
        <p:txBody>
          <a:bodyPr>
            <a:normAutofit/>
          </a:bodyPr>
          <a:lstStyle/>
          <a:p>
            <a:r>
              <a:rPr lang="en-US" altLang="en-US" dirty="0" smtClean="0"/>
              <a:t>Scope considerations</a:t>
            </a:r>
          </a:p>
          <a:p>
            <a:pPr lvl="1"/>
            <a:r>
              <a:rPr lang="en-US" altLang="en-US" dirty="0" smtClean="0"/>
              <a:t>Project scope: description of project’s features, capabilities, functions, and quality level, used as the basis of a project plan</a:t>
            </a:r>
          </a:p>
          <a:p>
            <a:pPr lvl="1"/>
            <a:r>
              <a:rPr lang="en-US" altLang="en-US" dirty="0" smtClean="0"/>
              <a:t>Organizations should implement large information security projects in stages</a:t>
            </a:r>
          </a:p>
        </p:txBody>
      </p:sp>
    </p:spTree>
    <p:extLst>
      <p:ext uri="{BB962C8B-B14F-4D97-AF65-F5344CB8AC3E}">
        <p14:creationId xmlns:p14="http://schemas.microsoft.com/office/powerpoint/2010/main" val="9052292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2"/>
          <p:cNvSpPr>
            <a:spLocks noGrp="1" noChangeArrowheads="1"/>
          </p:cNvSpPr>
          <p:nvPr>
            <p:ph type="title"/>
          </p:nvPr>
        </p:nvSpPr>
        <p:spPr/>
        <p:txBody>
          <a:bodyPr anchor="ctr"/>
          <a:lstStyle/>
          <a:p>
            <a:r>
              <a:rPr lang="en-US" altLang="en-US" dirty="0" smtClean="0"/>
              <a:t>The Need for Project Management (1 of 5)</a:t>
            </a:r>
          </a:p>
        </p:txBody>
      </p:sp>
      <p:sp>
        <p:nvSpPr>
          <p:cNvPr id="23555" name="Content Placeholder 3"/>
          <p:cNvSpPr>
            <a:spLocks noGrp="1" noChangeArrowheads="1"/>
          </p:cNvSpPr>
          <p:nvPr>
            <p:ph idx="1"/>
          </p:nvPr>
        </p:nvSpPr>
        <p:spPr/>
        <p:txBody>
          <a:bodyPr>
            <a:normAutofit/>
          </a:bodyPr>
          <a:lstStyle/>
          <a:p>
            <a:r>
              <a:rPr lang="en-US" altLang="en-US" dirty="0" smtClean="0"/>
              <a:t>Project management requires a unique set of skills and thorough understanding of a broad body of specialized knowledge.</a:t>
            </a:r>
          </a:p>
          <a:p>
            <a:r>
              <a:rPr lang="en-US" altLang="en-US" dirty="0" smtClean="0"/>
              <a:t>Most information security projects require a trained project manager (a CISO) or skilled IT manager trained in project management techniques.</a:t>
            </a:r>
          </a:p>
        </p:txBody>
      </p:sp>
    </p:spTree>
    <p:extLst>
      <p:ext uri="{BB962C8B-B14F-4D97-AF65-F5344CB8AC3E}">
        <p14:creationId xmlns:p14="http://schemas.microsoft.com/office/powerpoint/2010/main" val="29884227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2"/>
          <p:cNvSpPr>
            <a:spLocks noGrp="1" noChangeArrowheads="1"/>
          </p:cNvSpPr>
          <p:nvPr>
            <p:ph type="title"/>
          </p:nvPr>
        </p:nvSpPr>
        <p:spPr/>
        <p:txBody>
          <a:bodyPr anchor="ctr"/>
          <a:lstStyle/>
          <a:p>
            <a:r>
              <a:rPr lang="en-US" altLang="en-US" dirty="0" smtClean="0"/>
              <a:t>The Need for Project Management (2 of 5)</a:t>
            </a:r>
          </a:p>
        </p:txBody>
      </p:sp>
      <p:sp>
        <p:nvSpPr>
          <p:cNvPr id="24579" name="Content Placeholder 3"/>
          <p:cNvSpPr>
            <a:spLocks noGrp="1" noChangeArrowheads="1"/>
          </p:cNvSpPr>
          <p:nvPr>
            <p:ph idx="1"/>
          </p:nvPr>
        </p:nvSpPr>
        <p:spPr>
          <a:xfrm>
            <a:off x="304800" y="1295400"/>
            <a:ext cx="8474075" cy="4557182"/>
          </a:xfrm>
        </p:spPr>
        <p:txBody>
          <a:bodyPr>
            <a:normAutofit/>
          </a:bodyPr>
          <a:lstStyle/>
          <a:p>
            <a:r>
              <a:rPr lang="en-US" altLang="en-US" dirty="0" smtClean="0"/>
              <a:t>Supervised implementation</a:t>
            </a:r>
          </a:p>
          <a:p>
            <a:pPr lvl="1"/>
            <a:r>
              <a:rPr lang="en-US" altLang="en-US" dirty="0" smtClean="0"/>
              <a:t>Some organizations may designate a champion from general management community of interest to supervise the implementation of an information security project plan</a:t>
            </a:r>
          </a:p>
          <a:p>
            <a:pPr lvl="1"/>
            <a:r>
              <a:rPr lang="en-US" altLang="en-US" dirty="0" smtClean="0"/>
              <a:t>An alternative is to designate a senior IT manager or CIO to lead implementation</a:t>
            </a:r>
          </a:p>
          <a:p>
            <a:pPr lvl="1"/>
            <a:r>
              <a:rPr lang="en-US" altLang="en-US" dirty="0" smtClean="0"/>
              <a:t>Best solution is to designate a suitable person from information security community of interest</a:t>
            </a:r>
          </a:p>
          <a:p>
            <a:pPr lvl="1"/>
            <a:r>
              <a:rPr lang="en-US" altLang="en-US" dirty="0" smtClean="0"/>
              <a:t>In final analysis, each organization must find the project leadership best suited to its specific needs</a:t>
            </a:r>
          </a:p>
        </p:txBody>
      </p:sp>
    </p:spTree>
    <p:extLst>
      <p:ext uri="{BB962C8B-B14F-4D97-AF65-F5344CB8AC3E}">
        <p14:creationId xmlns:p14="http://schemas.microsoft.com/office/powerpoint/2010/main" val="22996667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2"/>
          <p:cNvSpPr>
            <a:spLocks noGrp="1" noChangeArrowheads="1"/>
          </p:cNvSpPr>
          <p:nvPr>
            <p:ph type="title"/>
          </p:nvPr>
        </p:nvSpPr>
        <p:spPr/>
        <p:txBody>
          <a:bodyPr anchor="ctr"/>
          <a:lstStyle/>
          <a:p>
            <a:r>
              <a:rPr lang="en-US" altLang="en-US" dirty="0" smtClean="0"/>
              <a:t>The Need for Project Management (3 of 5)</a:t>
            </a:r>
          </a:p>
        </p:txBody>
      </p:sp>
      <p:sp>
        <p:nvSpPr>
          <p:cNvPr id="25603" name="Content Placeholder 3"/>
          <p:cNvSpPr>
            <a:spLocks noGrp="1" noChangeArrowheads="1"/>
          </p:cNvSpPr>
          <p:nvPr>
            <p:ph idx="1"/>
          </p:nvPr>
        </p:nvSpPr>
        <p:spPr>
          <a:xfrm>
            <a:off x="365124" y="1295400"/>
            <a:ext cx="8474076" cy="4724400"/>
          </a:xfrm>
        </p:spPr>
        <p:txBody>
          <a:bodyPr>
            <a:normAutofit/>
          </a:bodyPr>
          <a:lstStyle/>
          <a:p>
            <a:r>
              <a:rPr lang="en-US" altLang="en-US" dirty="0" smtClean="0"/>
              <a:t>Executing the plan</a:t>
            </a:r>
          </a:p>
          <a:p>
            <a:pPr lvl="1"/>
            <a:r>
              <a:rPr lang="en-US" altLang="en-US" dirty="0" smtClean="0"/>
              <a:t>A negative feedback loop ensures that project progress is measured periodically</a:t>
            </a:r>
          </a:p>
          <a:p>
            <a:pPr lvl="2"/>
            <a:r>
              <a:rPr lang="en-US" altLang="en-US" dirty="0" smtClean="0"/>
              <a:t>When significant deviation occurs, corrective action is taken</a:t>
            </a:r>
          </a:p>
          <a:p>
            <a:pPr lvl="1"/>
            <a:r>
              <a:rPr lang="en-US" altLang="en-US" dirty="0" smtClean="0"/>
              <a:t>Often, a project manager can adjust one of three planning parameters for the task being corrected:</a:t>
            </a:r>
            <a:r>
              <a:rPr lang="en-US" altLang="en-US" sz="2600" dirty="0" smtClean="0"/>
              <a:t> </a:t>
            </a:r>
          </a:p>
          <a:p>
            <a:pPr lvl="2"/>
            <a:r>
              <a:rPr lang="en-US" altLang="en-US" dirty="0" smtClean="0"/>
              <a:t>Effort and money allocated</a:t>
            </a:r>
          </a:p>
          <a:p>
            <a:pPr lvl="2"/>
            <a:r>
              <a:rPr lang="en-US" altLang="en-US" dirty="0" smtClean="0"/>
              <a:t>Elapsed time/Scheduling impact</a:t>
            </a:r>
          </a:p>
          <a:p>
            <a:pPr lvl="2"/>
            <a:r>
              <a:rPr lang="en-US" altLang="en-US" dirty="0" smtClean="0"/>
              <a:t>Quality or quantity of deliverable</a:t>
            </a:r>
          </a:p>
        </p:txBody>
      </p:sp>
    </p:spTree>
    <p:extLst>
      <p:ext uri="{BB962C8B-B14F-4D97-AF65-F5344CB8AC3E}">
        <p14:creationId xmlns:p14="http://schemas.microsoft.com/office/powerpoint/2010/main" val="38566242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55681" y="114986"/>
            <a:ext cx="8032638" cy="1004011"/>
          </a:xfrm>
        </p:spPr>
        <p:txBody>
          <a:bodyPr anchor="ctr">
            <a:normAutofit/>
          </a:bodyPr>
          <a:lstStyle/>
          <a:p>
            <a:r>
              <a:rPr lang="en-US" b="1" dirty="0"/>
              <a:t>Figure 10-1  </a:t>
            </a:r>
            <a:r>
              <a:rPr lang="en-US" dirty="0"/>
              <a:t>Gap </a:t>
            </a:r>
            <a:r>
              <a:rPr lang="en-US" dirty="0" smtClean="0"/>
              <a:t>analysis (4 of 5)</a:t>
            </a:r>
            <a:endParaRPr lang="en-US" dirty="0"/>
          </a:p>
        </p:txBody>
      </p:sp>
      <p:pic>
        <p:nvPicPr>
          <p:cNvPr id="1026" name="Picture 2" descr="A flow diagram shows an action step labeled as, “Plan initiated” points to another action step box by an arrow labeled as, “Current state assessed.” The “Current state assessed” points to another action step box by an arrow labeled as, “Current state compared to desired state as per plan.” The “Current state compared to desired state as per plan” points to a decision making box labeled as, “Current= Desired?” An arrow from the left of decision box labeled as, “Yes” points to action step box labeled as, “Monitor and periodically reassess.” An arrow from “Monitor and periodically reassess” points to action step box labeled as, “Current state assessed.” An arrow facing downwards labeled as, “No” from decision box points to action step box labeled as, “Develop gap analysis remediation plan.” An arrow from “Develop gap analysis remediation plan” points to an action step box labeled as, “Implement gap analysis remediation plan and reassess.” An arrow from “Implement gap analysis remediation plan and reassess” points to an action step box labeled as, “Current state assessed.”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0844" y="1118997"/>
            <a:ext cx="4022313" cy="4748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6308669"/>
      </p:ext>
    </p:extLst>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2"/>
          <p:cNvSpPr>
            <a:spLocks noGrp="1" noChangeArrowheads="1"/>
          </p:cNvSpPr>
          <p:nvPr>
            <p:ph type="title"/>
          </p:nvPr>
        </p:nvSpPr>
        <p:spPr/>
        <p:txBody>
          <a:bodyPr anchor="ctr"/>
          <a:lstStyle/>
          <a:p>
            <a:r>
              <a:rPr lang="en-US" altLang="en-US" dirty="0" smtClean="0"/>
              <a:t>The Need for Project Management (5 of 5)</a:t>
            </a:r>
          </a:p>
        </p:txBody>
      </p:sp>
      <p:sp>
        <p:nvSpPr>
          <p:cNvPr id="27651" name="Content Placeholder 3"/>
          <p:cNvSpPr>
            <a:spLocks noGrp="1" noChangeArrowheads="1"/>
          </p:cNvSpPr>
          <p:nvPr>
            <p:ph idx="1"/>
          </p:nvPr>
        </p:nvSpPr>
        <p:spPr>
          <a:xfrm>
            <a:off x="365125" y="1538818"/>
            <a:ext cx="8397875" cy="4557182"/>
          </a:xfrm>
        </p:spPr>
        <p:txBody>
          <a:bodyPr>
            <a:normAutofit/>
          </a:bodyPr>
          <a:lstStyle/>
          <a:p>
            <a:r>
              <a:rPr lang="en-US" altLang="en-US" dirty="0" smtClean="0"/>
              <a:t>Project wrap-up</a:t>
            </a:r>
          </a:p>
          <a:p>
            <a:pPr lvl="1"/>
            <a:r>
              <a:rPr lang="en-US" altLang="en-US" dirty="0" smtClean="0"/>
              <a:t>Project wrap-up is usually handled as a procedural task and assigned to a mid-level IT or information security manager</a:t>
            </a:r>
          </a:p>
          <a:p>
            <a:pPr lvl="1"/>
            <a:r>
              <a:rPr lang="en-US" altLang="en-US" dirty="0" smtClean="0"/>
              <a:t>Collect documentation, finalizes status reports, and delivers final report and presentation at wrap-up meeting</a:t>
            </a:r>
          </a:p>
          <a:p>
            <a:pPr lvl="1"/>
            <a:r>
              <a:rPr lang="en-US" altLang="en-US" dirty="0" smtClean="0"/>
              <a:t>Goal of wrap-up is to resolve any pending issues, critique overall project effort, and draw conclusions about how to improve process</a:t>
            </a:r>
          </a:p>
        </p:txBody>
      </p:sp>
    </p:spTree>
    <p:extLst>
      <p:ext uri="{BB962C8B-B14F-4D97-AF65-F5344CB8AC3E}">
        <p14:creationId xmlns:p14="http://schemas.microsoft.com/office/powerpoint/2010/main" val="13130805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nchor="ctr"/>
          <a:lstStyle/>
          <a:p>
            <a:r>
              <a:rPr lang="en-US" altLang="en-US" dirty="0" smtClean="0"/>
              <a:t>Security Project Management Certifications</a:t>
            </a:r>
          </a:p>
        </p:txBody>
      </p:sp>
      <p:sp>
        <p:nvSpPr>
          <p:cNvPr id="28675" name="Content Placeholder 2"/>
          <p:cNvSpPr>
            <a:spLocks noGrp="1"/>
          </p:cNvSpPr>
          <p:nvPr>
            <p:ph idx="1"/>
          </p:nvPr>
        </p:nvSpPr>
        <p:spPr>
          <a:xfrm>
            <a:off x="365125" y="1371600"/>
            <a:ext cx="8397875" cy="4599201"/>
          </a:xfrm>
        </p:spPr>
        <p:txBody>
          <a:bodyPr/>
          <a:lstStyle/>
          <a:p>
            <a:r>
              <a:rPr lang="en-US" altLang="en-US" dirty="0" smtClean="0"/>
              <a:t>GIAC certified project manager</a:t>
            </a:r>
          </a:p>
          <a:p>
            <a:pPr lvl="1"/>
            <a:r>
              <a:rPr lang="en-US" altLang="en-US" dirty="0" smtClean="0"/>
              <a:t>Offered by SANS Institute; focuses on security professionals/managers with project management responsibilities</a:t>
            </a:r>
          </a:p>
          <a:p>
            <a:r>
              <a:rPr lang="en-US" altLang="en-US" dirty="0"/>
              <a:t>IT security project management </a:t>
            </a:r>
          </a:p>
          <a:p>
            <a:pPr lvl="1"/>
            <a:r>
              <a:rPr lang="en-US" altLang="en-US" dirty="0" smtClean="0"/>
              <a:t>Offered by EC Council as a milestone in its Certified E-Business Professional program</a:t>
            </a:r>
          </a:p>
          <a:p>
            <a:r>
              <a:rPr lang="en-US" altLang="en-US" dirty="0"/>
              <a:t>Certified security project manager</a:t>
            </a:r>
          </a:p>
          <a:p>
            <a:pPr lvl="1"/>
            <a:r>
              <a:rPr lang="en-US" altLang="en-US" dirty="0"/>
              <a:t>Security Industry Association focused on physical security; also incorporates information security</a:t>
            </a:r>
          </a:p>
        </p:txBody>
      </p:sp>
    </p:spTree>
    <p:extLst>
      <p:ext uri="{BB962C8B-B14F-4D97-AF65-F5344CB8AC3E}">
        <p14:creationId xmlns:p14="http://schemas.microsoft.com/office/powerpoint/2010/main" val="10288172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2"/>
          <p:cNvSpPr>
            <a:spLocks noGrp="1" noChangeArrowheads="1"/>
          </p:cNvSpPr>
          <p:nvPr>
            <p:ph type="title"/>
          </p:nvPr>
        </p:nvSpPr>
        <p:spPr/>
        <p:txBody>
          <a:bodyPr anchor="ctr"/>
          <a:lstStyle/>
          <a:p>
            <a:r>
              <a:rPr lang="en-US" altLang="en-US" dirty="0" smtClean="0"/>
              <a:t>Technical Aspects of Implementation</a:t>
            </a:r>
          </a:p>
        </p:txBody>
      </p:sp>
      <p:sp>
        <p:nvSpPr>
          <p:cNvPr id="29699" name="Content Placeholder 3"/>
          <p:cNvSpPr>
            <a:spLocks noGrp="1" noChangeArrowheads="1"/>
          </p:cNvSpPr>
          <p:nvPr>
            <p:ph idx="1"/>
          </p:nvPr>
        </p:nvSpPr>
        <p:spPr>
          <a:xfrm>
            <a:off x="365124" y="1371600"/>
            <a:ext cx="8474076" cy="4724400"/>
          </a:xfrm>
        </p:spPr>
        <p:txBody>
          <a:bodyPr>
            <a:normAutofit/>
          </a:bodyPr>
          <a:lstStyle/>
          <a:p>
            <a:r>
              <a:rPr lang="en-US" altLang="en-US" dirty="0" smtClean="0"/>
              <a:t>Some aspects of implementation process are technical and deal with the application of technology.</a:t>
            </a:r>
          </a:p>
          <a:p>
            <a:r>
              <a:rPr lang="en-US" altLang="en-US" dirty="0" smtClean="0"/>
              <a:t>Others deal with human interface to technical systems.</a:t>
            </a:r>
          </a:p>
        </p:txBody>
      </p:sp>
    </p:spTree>
    <p:extLst>
      <p:ext uri="{BB962C8B-B14F-4D97-AF65-F5344CB8AC3E}">
        <p14:creationId xmlns:p14="http://schemas.microsoft.com/office/powerpoint/2010/main" val="15654930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p:cNvSpPr>
            <a:spLocks noGrp="1" noChangeArrowheads="1"/>
          </p:cNvSpPr>
          <p:nvPr>
            <p:ph type="title"/>
          </p:nvPr>
        </p:nvSpPr>
        <p:spPr/>
        <p:txBody>
          <a:bodyPr anchor="ctr"/>
          <a:lstStyle/>
          <a:p>
            <a:r>
              <a:rPr lang="en-US" altLang="en-US" dirty="0" smtClean="0"/>
              <a:t>Conversion Strategies (1 of 2)</a:t>
            </a:r>
          </a:p>
        </p:txBody>
      </p:sp>
      <p:sp>
        <p:nvSpPr>
          <p:cNvPr id="30723" name="Content Placeholder 3"/>
          <p:cNvSpPr>
            <a:spLocks noGrp="1" noChangeArrowheads="1"/>
          </p:cNvSpPr>
          <p:nvPr>
            <p:ph idx="1"/>
          </p:nvPr>
        </p:nvSpPr>
        <p:spPr>
          <a:xfrm>
            <a:off x="228600" y="1371600"/>
            <a:ext cx="8610600" cy="4495800"/>
          </a:xfrm>
        </p:spPr>
        <p:txBody>
          <a:bodyPr>
            <a:normAutofit/>
          </a:bodyPr>
          <a:lstStyle/>
          <a:p>
            <a:r>
              <a:rPr lang="en-US" altLang="en-US" dirty="0" smtClean="0"/>
              <a:t>As the components of the new security system are planned, provisions must be made for changeover from the previous method of performing a task to the new method.</a:t>
            </a:r>
          </a:p>
          <a:p>
            <a:r>
              <a:rPr lang="en-US" altLang="en-US" dirty="0" smtClean="0"/>
              <a:t>Four basic approaches:</a:t>
            </a:r>
          </a:p>
          <a:p>
            <a:pPr lvl="1"/>
            <a:r>
              <a:rPr lang="en-US" altLang="en-US" dirty="0" smtClean="0"/>
              <a:t>Direct changeover</a:t>
            </a:r>
          </a:p>
          <a:p>
            <a:pPr lvl="1"/>
            <a:r>
              <a:rPr lang="en-US" altLang="en-US" dirty="0" smtClean="0"/>
              <a:t>Phased implementation</a:t>
            </a:r>
          </a:p>
          <a:p>
            <a:pPr lvl="1"/>
            <a:r>
              <a:rPr lang="en-US" altLang="en-US" dirty="0" smtClean="0"/>
              <a:t>Pilot implementation</a:t>
            </a:r>
          </a:p>
          <a:p>
            <a:pPr lvl="1"/>
            <a:r>
              <a:rPr lang="en-US" altLang="en-US" dirty="0" smtClean="0"/>
              <a:t>Parallel operations</a:t>
            </a:r>
          </a:p>
        </p:txBody>
      </p:sp>
    </p:spTree>
    <p:extLst>
      <p:ext uri="{BB962C8B-B14F-4D97-AF65-F5344CB8AC3E}">
        <p14:creationId xmlns:p14="http://schemas.microsoft.com/office/powerpoint/2010/main" val="95911340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p:cNvSpPr>
            <a:spLocks noGrp="1" noChangeArrowheads="1"/>
          </p:cNvSpPr>
          <p:nvPr>
            <p:ph type="title"/>
          </p:nvPr>
        </p:nvSpPr>
        <p:spPr>
          <a:xfrm>
            <a:off x="519168" y="152400"/>
            <a:ext cx="8167631" cy="1209237"/>
          </a:xfrm>
        </p:spPr>
        <p:txBody>
          <a:bodyPr anchor="ctr">
            <a:noAutofit/>
          </a:bodyPr>
          <a:lstStyle/>
          <a:p>
            <a:pPr marL="0" indent="0">
              <a:lnSpc>
                <a:spcPct val="100000"/>
              </a:lnSpc>
              <a:spcBef>
                <a:spcPts val="0"/>
              </a:spcBef>
              <a:tabLst>
                <a:tab pos="4397375" algn="l"/>
              </a:tabLst>
            </a:pPr>
            <a:r>
              <a:rPr lang="en-US" b="1" dirty="0"/>
              <a:t>Figure 10-2  </a:t>
            </a:r>
            <a:r>
              <a:rPr lang="en-US" dirty="0"/>
              <a:t>Conversion </a:t>
            </a:r>
            <a:r>
              <a:rPr lang="en-US" dirty="0" smtClean="0"/>
              <a:t>strategies </a:t>
            </a:r>
            <a:br>
              <a:rPr lang="en-US" dirty="0" smtClean="0"/>
            </a:br>
            <a:r>
              <a:rPr lang="en-US" dirty="0" smtClean="0"/>
              <a:t>(2 of 2)</a:t>
            </a:r>
            <a:endParaRPr lang="en-US" baseline="30000" dirty="0"/>
          </a:p>
        </p:txBody>
      </p:sp>
      <p:pic>
        <p:nvPicPr>
          <p:cNvPr id="2050" name="Picture 2" descr="An illustration shows a block labeled as, “Direct” and a division in between the block. The left of block is labeled as, “Old system” and the right of block is labeled as, “New system.” An illustration labeled as, “Phased” is shown below and a block on the left is labeled as, “New system” a staircase like structure divides the block into two. An illustration labeled as, “Pilot” is shown below and left of the block is labeled as, “Old system” and the right of the block is labeled as, “New system.” A step like structure divides the block into two. An illustration labeled as, “Parallel” is shown below and the block labeled as, “Old system” and a block labeled as, “New system” is attached to the right end of the above block.&#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100" y="1609536"/>
            <a:ext cx="5173801" cy="3876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8884698"/>
      </p:ext>
    </p:extLst>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2"/>
          <p:cNvSpPr>
            <a:spLocks noGrp="1" noChangeArrowheads="1"/>
          </p:cNvSpPr>
          <p:nvPr>
            <p:ph type="title"/>
          </p:nvPr>
        </p:nvSpPr>
        <p:spPr/>
        <p:txBody>
          <a:bodyPr anchor="ctr"/>
          <a:lstStyle/>
          <a:p>
            <a:r>
              <a:rPr lang="en-US" altLang="en-US" dirty="0" smtClean="0"/>
              <a:t>The Bull’s-Eye Model (1 of 2)</a:t>
            </a:r>
          </a:p>
        </p:txBody>
      </p:sp>
      <p:sp>
        <p:nvSpPr>
          <p:cNvPr id="31747" name="Content Placeholder 3"/>
          <p:cNvSpPr>
            <a:spLocks noGrp="1" noChangeArrowheads="1"/>
          </p:cNvSpPr>
          <p:nvPr>
            <p:ph idx="1"/>
          </p:nvPr>
        </p:nvSpPr>
        <p:spPr>
          <a:xfrm>
            <a:off x="365124" y="1295400"/>
            <a:ext cx="8474076" cy="4876800"/>
          </a:xfrm>
        </p:spPr>
        <p:txBody>
          <a:bodyPr>
            <a:normAutofit/>
          </a:bodyPr>
          <a:lstStyle/>
          <a:p>
            <a:r>
              <a:rPr lang="en-US" altLang="en-US" dirty="0" smtClean="0"/>
              <a:t>Proven method for prioritizing program of complex change.</a:t>
            </a:r>
          </a:p>
          <a:p>
            <a:r>
              <a:rPr lang="en-US" altLang="en-US" dirty="0" smtClean="0"/>
              <a:t>Requires that issues be addressed from general to specific; focus is on systematic solutions and not on individual problems.</a:t>
            </a:r>
          </a:p>
          <a:p>
            <a:r>
              <a:rPr lang="en-US" altLang="en-US" dirty="0" smtClean="0"/>
              <a:t>Relies on the process of project plan evaluation in four layers: </a:t>
            </a:r>
          </a:p>
          <a:p>
            <a:pPr lvl="1"/>
            <a:r>
              <a:rPr lang="en-US" altLang="en-US" dirty="0" smtClean="0"/>
              <a:t>Policies</a:t>
            </a:r>
          </a:p>
          <a:p>
            <a:pPr lvl="1"/>
            <a:r>
              <a:rPr lang="en-US" altLang="en-US" dirty="0" smtClean="0"/>
              <a:t>Networks</a:t>
            </a:r>
          </a:p>
          <a:p>
            <a:pPr lvl="1"/>
            <a:r>
              <a:rPr lang="en-US" altLang="en-US" dirty="0" smtClean="0"/>
              <a:t>Systems</a:t>
            </a:r>
          </a:p>
          <a:p>
            <a:pPr lvl="1"/>
            <a:r>
              <a:rPr lang="en-US" altLang="en-US" dirty="0" smtClean="0"/>
              <a:t>Applications</a:t>
            </a:r>
          </a:p>
        </p:txBody>
      </p:sp>
    </p:spTree>
    <p:extLst>
      <p:ext uri="{BB962C8B-B14F-4D97-AF65-F5344CB8AC3E}">
        <p14:creationId xmlns:p14="http://schemas.microsoft.com/office/powerpoint/2010/main" val="190135444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596" y="129217"/>
            <a:ext cx="8900574" cy="1060340"/>
          </a:xfrm>
        </p:spPr>
        <p:txBody>
          <a:bodyPr anchor="ctr">
            <a:noAutofit/>
          </a:bodyPr>
          <a:lstStyle/>
          <a:p>
            <a:r>
              <a:rPr lang="en-US" b="1" dirty="0"/>
              <a:t>Figure 10-3  </a:t>
            </a:r>
            <a:r>
              <a:rPr lang="en-US" dirty="0"/>
              <a:t>The bull’s-eye </a:t>
            </a:r>
            <a:r>
              <a:rPr lang="en-US" dirty="0" smtClean="0"/>
              <a:t>model (2 of 2)</a:t>
            </a:r>
            <a:endParaRPr lang="en-US" dirty="0"/>
          </a:p>
        </p:txBody>
      </p:sp>
      <p:pic>
        <p:nvPicPr>
          <p:cNvPr id="3074" name="Picture 2" descr="An illustration shows four circles. The outer circle is labeled as, “Policies” and the circle below it is labeled as, “Networks” and the circle below it is labeled as, “Systems.” The center circle is labeled as, “Applications.”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3661" y="1524000"/>
            <a:ext cx="4576678" cy="4348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7127850"/>
      </p:ext>
    </p:extLst>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p:cNvSpPr>
            <a:spLocks noGrp="1" noChangeArrowheads="1"/>
          </p:cNvSpPr>
          <p:nvPr>
            <p:ph type="title"/>
          </p:nvPr>
        </p:nvSpPr>
        <p:spPr/>
        <p:txBody>
          <a:bodyPr anchor="ctr"/>
          <a:lstStyle/>
          <a:p>
            <a:r>
              <a:rPr lang="en-US" altLang="en-US" dirty="0" smtClean="0"/>
              <a:t>To Outsource or Not </a:t>
            </a:r>
          </a:p>
        </p:txBody>
      </p:sp>
      <p:sp>
        <p:nvSpPr>
          <p:cNvPr id="33795" name="Content Placeholder 3"/>
          <p:cNvSpPr>
            <a:spLocks noGrp="1" noChangeArrowheads="1"/>
          </p:cNvSpPr>
          <p:nvPr>
            <p:ph idx="1"/>
          </p:nvPr>
        </p:nvSpPr>
        <p:spPr>
          <a:xfrm>
            <a:off x="365125" y="1295400"/>
            <a:ext cx="8397875" cy="4724400"/>
          </a:xfrm>
        </p:spPr>
        <p:txBody>
          <a:bodyPr>
            <a:normAutofit/>
          </a:bodyPr>
          <a:lstStyle/>
          <a:p>
            <a:r>
              <a:rPr lang="en-US" altLang="en-US" dirty="0" smtClean="0"/>
              <a:t>Just as some organizations outsource IT operations, organizations can outsource part or all of their information security programs.</a:t>
            </a:r>
          </a:p>
          <a:p>
            <a:r>
              <a:rPr lang="en-US" altLang="en-US" dirty="0" smtClean="0"/>
              <a:t>When an organization outsources most/all IT services, information security should be part of the contract arrangement with the supplier.</a:t>
            </a:r>
          </a:p>
          <a:p>
            <a:r>
              <a:rPr lang="en-US" altLang="en-US" dirty="0" smtClean="0"/>
              <a:t>Organizations of all sizes frequently outsource network monitoring functions.</a:t>
            </a:r>
          </a:p>
        </p:txBody>
      </p:sp>
    </p:spTree>
    <p:extLst>
      <p:ext uri="{BB962C8B-B14F-4D97-AF65-F5344CB8AC3E}">
        <p14:creationId xmlns:p14="http://schemas.microsoft.com/office/powerpoint/2010/main" val="324476162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p:cNvSpPr>
            <a:spLocks noGrp="1" noChangeArrowheads="1"/>
          </p:cNvSpPr>
          <p:nvPr>
            <p:ph type="title"/>
          </p:nvPr>
        </p:nvSpPr>
        <p:spPr>
          <a:xfrm>
            <a:off x="0" y="0"/>
            <a:ext cx="9052560" cy="1039091"/>
          </a:xfrm>
        </p:spPr>
        <p:txBody>
          <a:bodyPr anchor="ctr">
            <a:noAutofit/>
          </a:bodyPr>
          <a:lstStyle/>
          <a:p>
            <a:r>
              <a:rPr lang="en-US" altLang="en-US" dirty="0" smtClean="0"/>
              <a:t>Technology Governance and Change Control</a:t>
            </a:r>
          </a:p>
        </p:txBody>
      </p:sp>
      <p:sp>
        <p:nvSpPr>
          <p:cNvPr id="34819" name="Content Placeholder 3"/>
          <p:cNvSpPr>
            <a:spLocks noGrp="1" noChangeArrowheads="1"/>
          </p:cNvSpPr>
          <p:nvPr>
            <p:ph idx="1"/>
          </p:nvPr>
        </p:nvSpPr>
        <p:spPr>
          <a:xfrm>
            <a:off x="381000" y="1371600"/>
            <a:ext cx="8382000" cy="4724400"/>
          </a:xfrm>
        </p:spPr>
        <p:txBody>
          <a:bodyPr>
            <a:normAutofit/>
          </a:bodyPr>
          <a:lstStyle/>
          <a:p>
            <a:r>
              <a:rPr lang="en-US" altLang="en-US" dirty="0" smtClean="0"/>
              <a:t>Technology governance guides how frequently technical systems are updated and how updates are approved/funded.</a:t>
            </a:r>
          </a:p>
          <a:p>
            <a:r>
              <a:rPr lang="en-US" altLang="en-US" dirty="0" smtClean="0"/>
              <a:t>By managing the process of change, the organization can:</a:t>
            </a:r>
          </a:p>
          <a:p>
            <a:pPr lvl="1"/>
            <a:r>
              <a:rPr lang="en-US" altLang="en-US" dirty="0"/>
              <a:t>i</a:t>
            </a:r>
            <a:r>
              <a:rPr lang="en-US" altLang="en-US" dirty="0" smtClean="0"/>
              <a:t>mprove communication </a:t>
            </a:r>
          </a:p>
          <a:p>
            <a:pPr lvl="1"/>
            <a:r>
              <a:rPr lang="en-US" altLang="en-US" dirty="0" smtClean="0"/>
              <a:t>enhance coordination </a:t>
            </a:r>
          </a:p>
          <a:p>
            <a:pPr lvl="1"/>
            <a:r>
              <a:rPr lang="en-US" altLang="en-US" dirty="0" smtClean="0"/>
              <a:t>reduce unintended consequences </a:t>
            </a:r>
          </a:p>
          <a:p>
            <a:pPr lvl="1"/>
            <a:r>
              <a:rPr lang="en-US" altLang="en-US" dirty="0" smtClean="0"/>
              <a:t>improve quality of service, and </a:t>
            </a:r>
          </a:p>
          <a:p>
            <a:pPr lvl="1"/>
            <a:r>
              <a:rPr lang="en-US" altLang="en-US" dirty="0" smtClean="0"/>
              <a:t>ensure groups are complying with policies</a:t>
            </a:r>
          </a:p>
        </p:txBody>
      </p:sp>
    </p:spTree>
    <p:extLst>
      <p:ext uri="{BB962C8B-B14F-4D97-AF65-F5344CB8AC3E}">
        <p14:creationId xmlns:p14="http://schemas.microsoft.com/office/powerpoint/2010/main" val="216872784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2"/>
          <p:cNvSpPr>
            <a:spLocks noGrp="1" noChangeArrowheads="1"/>
          </p:cNvSpPr>
          <p:nvPr>
            <p:ph type="title"/>
          </p:nvPr>
        </p:nvSpPr>
        <p:spPr/>
        <p:txBody>
          <a:bodyPr anchor="ctr"/>
          <a:lstStyle/>
          <a:p>
            <a:r>
              <a:rPr lang="en-US" altLang="en-US" dirty="0" smtClean="0"/>
              <a:t>Nontechnical Aspects of Implementation</a:t>
            </a:r>
          </a:p>
        </p:txBody>
      </p:sp>
      <p:sp>
        <p:nvSpPr>
          <p:cNvPr id="35843" name="Content Placeholder 3"/>
          <p:cNvSpPr>
            <a:spLocks noGrp="1" noChangeArrowheads="1"/>
          </p:cNvSpPr>
          <p:nvPr>
            <p:ph idx="1"/>
          </p:nvPr>
        </p:nvSpPr>
        <p:spPr>
          <a:xfrm>
            <a:off x="304800" y="1447800"/>
            <a:ext cx="8534399" cy="4572000"/>
          </a:xfrm>
        </p:spPr>
        <p:txBody>
          <a:bodyPr>
            <a:normAutofit/>
          </a:bodyPr>
          <a:lstStyle/>
          <a:p>
            <a:r>
              <a:rPr lang="en-US" altLang="en-US" dirty="0" smtClean="0"/>
              <a:t>Some aspects of implementation are not technical in nature, instead dealing with the human interface to technical systems. </a:t>
            </a:r>
          </a:p>
          <a:p>
            <a:r>
              <a:rPr lang="en-US" dirty="0" smtClean="0"/>
              <a:t>These i</a:t>
            </a:r>
            <a:r>
              <a:rPr lang="en-US" altLang="en-US" dirty="0" smtClean="0"/>
              <a:t>nclude creating a culture of change management and considerations for the organizations facing change.</a:t>
            </a:r>
          </a:p>
        </p:txBody>
      </p:sp>
    </p:spTree>
    <p:extLst>
      <p:ext uri="{BB962C8B-B14F-4D97-AF65-F5344CB8AC3E}">
        <p14:creationId xmlns:p14="http://schemas.microsoft.com/office/powerpoint/2010/main" val="9225425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2"/>
          <p:cNvSpPr>
            <a:spLocks noGrp="1" noChangeArrowheads="1"/>
          </p:cNvSpPr>
          <p:nvPr>
            <p:ph type="title"/>
          </p:nvPr>
        </p:nvSpPr>
        <p:spPr/>
        <p:txBody>
          <a:bodyPr anchor="ctr"/>
          <a:lstStyle/>
          <a:p>
            <a:r>
              <a:rPr lang="en-US" altLang="en-US" dirty="0" smtClean="0"/>
              <a:t>The Culture of Change Management</a:t>
            </a:r>
          </a:p>
        </p:txBody>
      </p:sp>
      <p:sp>
        <p:nvSpPr>
          <p:cNvPr id="36867" name="Content Placeholder 3"/>
          <p:cNvSpPr>
            <a:spLocks noGrp="1" noChangeArrowheads="1"/>
          </p:cNvSpPr>
          <p:nvPr>
            <p:ph idx="1"/>
          </p:nvPr>
        </p:nvSpPr>
        <p:spPr>
          <a:xfrm>
            <a:off x="365124" y="1371600"/>
            <a:ext cx="8474076" cy="4495800"/>
          </a:xfrm>
        </p:spPr>
        <p:txBody>
          <a:bodyPr>
            <a:normAutofit/>
          </a:bodyPr>
          <a:lstStyle/>
          <a:p>
            <a:r>
              <a:rPr lang="en-US" altLang="en-US" dirty="0" smtClean="0"/>
              <a:t>Prospect of change can cause employees to consciously or unconsciously resist the change.</a:t>
            </a:r>
          </a:p>
          <a:p>
            <a:r>
              <a:rPr lang="en-US" altLang="en-US" dirty="0" smtClean="0"/>
              <a:t>The stress of change can increase the probability of mistakes or create vulnerabilities in systems.</a:t>
            </a:r>
          </a:p>
          <a:p>
            <a:r>
              <a:rPr lang="en-US" altLang="en-US" dirty="0" smtClean="0"/>
              <a:t>Change management can lower </a:t>
            </a:r>
            <a:r>
              <a:rPr lang="en-US" dirty="0" smtClean="0"/>
              <a:t>employee </a:t>
            </a:r>
            <a:r>
              <a:rPr lang="en-US" altLang="en-US" dirty="0" smtClean="0"/>
              <a:t>resistance to change and build resilience.</a:t>
            </a:r>
          </a:p>
          <a:p>
            <a:r>
              <a:rPr lang="en-US" altLang="en-US" dirty="0" err="1" smtClean="0"/>
              <a:t>Lewin</a:t>
            </a:r>
            <a:r>
              <a:rPr lang="en-US" altLang="en-US" dirty="0" smtClean="0"/>
              <a:t> change model: </a:t>
            </a:r>
          </a:p>
          <a:p>
            <a:pPr lvl="1"/>
            <a:r>
              <a:rPr lang="en-US" altLang="en-US" dirty="0" smtClean="0"/>
              <a:t>Unfreezing</a:t>
            </a:r>
          </a:p>
          <a:p>
            <a:pPr lvl="1"/>
            <a:r>
              <a:rPr lang="en-US" altLang="en-US" dirty="0" smtClean="0"/>
              <a:t>Moving</a:t>
            </a:r>
          </a:p>
          <a:p>
            <a:pPr lvl="1"/>
            <a:r>
              <a:rPr lang="en-US" altLang="en-US" dirty="0" smtClean="0"/>
              <a:t>Refreezing</a:t>
            </a:r>
          </a:p>
        </p:txBody>
      </p:sp>
    </p:spTree>
    <p:extLst>
      <p:ext uri="{BB962C8B-B14F-4D97-AF65-F5344CB8AC3E}">
        <p14:creationId xmlns:p14="http://schemas.microsoft.com/office/powerpoint/2010/main" val="34359221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2"/>
          <p:cNvSpPr>
            <a:spLocks noGrp="1" noChangeArrowheads="1"/>
          </p:cNvSpPr>
          <p:nvPr>
            <p:ph type="title"/>
          </p:nvPr>
        </p:nvSpPr>
        <p:spPr>
          <a:xfrm>
            <a:off x="457200" y="27709"/>
            <a:ext cx="8001000" cy="1039091"/>
          </a:xfrm>
        </p:spPr>
        <p:txBody>
          <a:bodyPr anchor="ctr">
            <a:noAutofit/>
          </a:bodyPr>
          <a:lstStyle/>
          <a:p>
            <a:r>
              <a:rPr lang="en-US" altLang="en-US" dirty="0" smtClean="0"/>
              <a:t>Considerations for Organizational Change (1 of 2)</a:t>
            </a:r>
          </a:p>
        </p:txBody>
      </p:sp>
      <p:sp>
        <p:nvSpPr>
          <p:cNvPr id="37891" name="Content Placeholder 3"/>
          <p:cNvSpPr>
            <a:spLocks noGrp="1" noChangeArrowheads="1"/>
          </p:cNvSpPr>
          <p:nvPr>
            <p:ph idx="1"/>
          </p:nvPr>
        </p:nvSpPr>
        <p:spPr>
          <a:xfrm>
            <a:off x="193084" y="1204179"/>
            <a:ext cx="8818157" cy="5044002"/>
          </a:xfrm>
        </p:spPr>
        <p:txBody>
          <a:bodyPr>
            <a:normAutofit fontScale="92500" lnSpcReduction="10000"/>
          </a:bodyPr>
          <a:lstStyle/>
          <a:p>
            <a:r>
              <a:rPr lang="en-US" altLang="en-US" sz="2800" dirty="0" smtClean="0"/>
              <a:t>Steps can be taken to make employees more amenable to change:</a:t>
            </a:r>
          </a:p>
          <a:p>
            <a:pPr lvl="1"/>
            <a:r>
              <a:rPr lang="en-US" altLang="en-US" sz="2600" dirty="0" smtClean="0"/>
              <a:t>Reducing resistance to change from the start</a:t>
            </a:r>
          </a:p>
          <a:p>
            <a:pPr lvl="1"/>
            <a:r>
              <a:rPr lang="en-US" altLang="en-US" sz="2600" dirty="0" smtClean="0"/>
              <a:t>Developing a culture that supports change</a:t>
            </a:r>
          </a:p>
          <a:p>
            <a:r>
              <a:rPr lang="en-US" altLang="en-US" sz="2800" dirty="0"/>
              <a:t>Reducing resistance to change from the start</a:t>
            </a:r>
          </a:p>
          <a:p>
            <a:pPr lvl="1"/>
            <a:r>
              <a:rPr lang="en-US" altLang="en-US" sz="2600" dirty="0"/>
              <a:t>The more ingrained the existing methods and behaviors, the more difficult the </a:t>
            </a:r>
            <a:r>
              <a:rPr lang="en-US" altLang="en-US" sz="2600" dirty="0" smtClean="0"/>
              <a:t>change</a:t>
            </a:r>
            <a:endParaRPr lang="en-US" altLang="en-US" sz="2600" dirty="0"/>
          </a:p>
          <a:p>
            <a:pPr lvl="1"/>
            <a:r>
              <a:rPr lang="en-US" altLang="en-US" sz="2600" dirty="0"/>
              <a:t>Best to improve interaction between affected members of </a:t>
            </a:r>
            <a:r>
              <a:rPr lang="en-US" altLang="en-US" sz="2600" dirty="0" smtClean="0"/>
              <a:t>the organization </a:t>
            </a:r>
            <a:r>
              <a:rPr lang="en-US" altLang="en-US" sz="2600" dirty="0"/>
              <a:t>and project planners in early project phases</a:t>
            </a:r>
          </a:p>
          <a:p>
            <a:pPr lvl="1"/>
            <a:r>
              <a:rPr lang="en-US" altLang="en-US" sz="2600" dirty="0"/>
              <a:t>Three-step process for project managers: communicate, educate, and involve</a:t>
            </a:r>
          </a:p>
          <a:p>
            <a:pPr lvl="1"/>
            <a:r>
              <a:rPr lang="en-US" altLang="en-US" sz="2600" dirty="0"/>
              <a:t>Joint application </a:t>
            </a:r>
            <a:r>
              <a:rPr lang="en-US" altLang="en-US" sz="2600" dirty="0" smtClean="0"/>
              <a:t>development</a:t>
            </a:r>
            <a:endParaRPr lang="en-US" altLang="en-US" sz="2600" dirty="0"/>
          </a:p>
        </p:txBody>
      </p:sp>
    </p:spTree>
    <p:extLst>
      <p:ext uri="{BB962C8B-B14F-4D97-AF65-F5344CB8AC3E}">
        <p14:creationId xmlns:p14="http://schemas.microsoft.com/office/powerpoint/2010/main" val="268830223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2"/>
          <p:cNvSpPr>
            <a:spLocks noGrp="1" noChangeArrowheads="1"/>
          </p:cNvSpPr>
          <p:nvPr>
            <p:ph type="title"/>
          </p:nvPr>
        </p:nvSpPr>
        <p:spPr>
          <a:xfrm>
            <a:off x="579120" y="27709"/>
            <a:ext cx="8031480" cy="1115291"/>
          </a:xfrm>
        </p:spPr>
        <p:txBody>
          <a:bodyPr anchor="ctr">
            <a:noAutofit/>
          </a:bodyPr>
          <a:lstStyle/>
          <a:p>
            <a:r>
              <a:rPr lang="en-US" altLang="en-US" dirty="0" smtClean="0"/>
              <a:t>Considerations for Organizational Change (2 of 2)</a:t>
            </a:r>
          </a:p>
        </p:txBody>
      </p:sp>
      <p:sp>
        <p:nvSpPr>
          <p:cNvPr id="39939" name="Content Placeholder 3"/>
          <p:cNvSpPr>
            <a:spLocks noGrp="1" noChangeArrowheads="1"/>
          </p:cNvSpPr>
          <p:nvPr>
            <p:ph idx="1"/>
          </p:nvPr>
        </p:nvSpPr>
        <p:spPr>
          <a:xfrm>
            <a:off x="365125" y="1538818"/>
            <a:ext cx="8397875" cy="4480982"/>
          </a:xfrm>
        </p:spPr>
        <p:txBody>
          <a:bodyPr>
            <a:normAutofit/>
          </a:bodyPr>
          <a:lstStyle/>
          <a:p>
            <a:r>
              <a:rPr lang="en-US" altLang="en-US" dirty="0" smtClean="0"/>
              <a:t>Developing a culture that supports change</a:t>
            </a:r>
          </a:p>
          <a:p>
            <a:pPr lvl="1"/>
            <a:r>
              <a:rPr lang="en-US" dirty="0" smtClean="0"/>
              <a:t>An ideal</a:t>
            </a:r>
            <a:r>
              <a:rPr lang="en-US" altLang="en-US" dirty="0" smtClean="0"/>
              <a:t> organization fosters resilience to change</a:t>
            </a:r>
          </a:p>
          <a:p>
            <a:pPr lvl="1"/>
            <a:r>
              <a:rPr lang="en-US" altLang="en-US" dirty="0" smtClean="0"/>
              <a:t>Resilience: An organization understands change is a necessary part of the organizational culture, and embracing change is more productive than fighting it</a:t>
            </a:r>
          </a:p>
          <a:p>
            <a:pPr lvl="1"/>
            <a:r>
              <a:rPr lang="en-US" altLang="en-US" dirty="0" smtClean="0"/>
              <a:t>To develop such a culture, the organization must successfully accomplish many projects that require change</a:t>
            </a:r>
          </a:p>
        </p:txBody>
      </p:sp>
    </p:spTree>
    <p:extLst>
      <p:ext uri="{BB962C8B-B14F-4D97-AF65-F5344CB8AC3E}">
        <p14:creationId xmlns:p14="http://schemas.microsoft.com/office/powerpoint/2010/main" val="422348503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2"/>
          <p:cNvSpPr>
            <a:spLocks noGrp="1" noChangeArrowheads="1"/>
          </p:cNvSpPr>
          <p:nvPr>
            <p:ph type="title"/>
          </p:nvPr>
        </p:nvSpPr>
        <p:spPr/>
        <p:txBody>
          <a:bodyPr anchor="ctr">
            <a:noAutofit/>
          </a:bodyPr>
          <a:lstStyle/>
          <a:p>
            <a:r>
              <a:rPr lang="en-US" altLang="en-US" dirty="0" smtClean="0"/>
              <a:t>Information Systems Security Certification and Accreditation (1 of 2)</a:t>
            </a:r>
          </a:p>
        </p:txBody>
      </p:sp>
      <p:sp>
        <p:nvSpPr>
          <p:cNvPr id="40963" name="Content Placeholder 3"/>
          <p:cNvSpPr>
            <a:spLocks noGrp="1" noChangeArrowheads="1"/>
          </p:cNvSpPr>
          <p:nvPr>
            <p:ph idx="1"/>
          </p:nvPr>
        </p:nvSpPr>
        <p:spPr>
          <a:xfrm>
            <a:off x="304800" y="1219200"/>
            <a:ext cx="8626476" cy="4694682"/>
          </a:xfrm>
        </p:spPr>
        <p:txBody>
          <a:bodyPr>
            <a:normAutofit/>
          </a:bodyPr>
          <a:lstStyle/>
          <a:p>
            <a:r>
              <a:rPr lang="en-US" altLang="en-US" dirty="0" smtClean="0"/>
              <a:t>It may seem that only systems handling secret government data require security certification and accreditation.</a:t>
            </a:r>
          </a:p>
          <a:p>
            <a:r>
              <a:rPr lang="en-US" altLang="en-US" dirty="0" smtClean="0"/>
              <a:t>In order to comply with recent federal regulations protecting personal privacy, the organizations need to have formal mechanisms for verification and validation.</a:t>
            </a:r>
          </a:p>
          <a:p>
            <a:r>
              <a:rPr lang="en-US" altLang="en-US" dirty="0"/>
              <a:t>Certification versus </a:t>
            </a:r>
            <a:r>
              <a:rPr lang="en-US" altLang="en-US" dirty="0" smtClean="0"/>
              <a:t>accreditation</a:t>
            </a:r>
            <a:endParaRPr lang="en-US" altLang="en-US" dirty="0"/>
          </a:p>
        </p:txBody>
      </p:sp>
    </p:spTree>
    <p:extLst>
      <p:ext uri="{BB962C8B-B14F-4D97-AF65-F5344CB8AC3E}">
        <p14:creationId xmlns:p14="http://schemas.microsoft.com/office/powerpoint/2010/main" val="120899825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t>Information Systems Security Certification and </a:t>
            </a:r>
            <a:r>
              <a:rPr lang="en-US" altLang="en-US" dirty="0" smtClean="0"/>
              <a:t>Accreditation (2 of 2)</a:t>
            </a:r>
            <a:endParaRPr lang="en-US" dirty="0"/>
          </a:p>
        </p:txBody>
      </p:sp>
      <p:sp>
        <p:nvSpPr>
          <p:cNvPr id="3" name="Content Placeholder 2"/>
          <p:cNvSpPr>
            <a:spLocks noGrp="1"/>
          </p:cNvSpPr>
          <p:nvPr>
            <p:ph idx="1"/>
          </p:nvPr>
        </p:nvSpPr>
        <p:spPr/>
        <p:txBody>
          <a:bodyPr>
            <a:normAutofit/>
          </a:bodyPr>
          <a:lstStyle/>
          <a:p>
            <a:pPr lvl="1"/>
            <a:r>
              <a:rPr lang="en-US" altLang="en-US" dirty="0"/>
              <a:t>Accreditation: authorizes an IT system to process, store, or transmit information; assures systems of adequate quality</a:t>
            </a:r>
          </a:p>
          <a:p>
            <a:pPr lvl="1"/>
            <a:r>
              <a:rPr lang="en-US" altLang="en-US" dirty="0"/>
              <a:t>Certification: evaluation of technical and nontechnical security controls of IT system establishing extent to which design and implementation meet security </a:t>
            </a:r>
            <a:r>
              <a:rPr lang="en-US" altLang="en-US" dirty="0" smtClean="0"/>
              <a:t>requirements</a:t>
            </a:r>
            <a:endParaRPr lang="en-US" altLang="en-US" dirty="0"/>
          </a:p>
        </p:txBody>
      </p:sp>
    </p:spTree>
    <p:extLst>
      <p:ext uri="{BB962C8B-B14F-4D97-AF65-F5344CB8AC3E}">
        <p14:creationId xmlns:p14="http://schemas.microsoft.com/office/powerpoint/2010/main" val="17530656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457200" y="27709"/>
            <a:ext cx="8229600" cy="1039091"/>
          </a:xfrm>
        </p:spPr>
        <p:txBody>
          <a:bodyPr anchor="ctr">
            <a:noAutofit/>
          </a:bodyPr>
          <a:lstStyle/>
          <a:p>
            <a:r>
              <a:rPr lang="en-US" altLang="en-US" dirty="0" smtClean="0"/>
              <a:t>The NIST Security Life Cycle Approach (1 of 2)</a:t>
            </a:r>
          </a:p>
        </p:txBody>
      </p:sp>
      <p:sp>
        <p:nvSpPr>
          <p:cNvPr id="43011" name="Content Placeholder 2"/>
          <p:cNvSpPr>
            <a:spLocks noGrp="1"/>
          </p:cNvSpPr>
          <p:nvPr>
            <p:ph idx="1"/>
          </p:nvPr>
        </p:nvSpPr>
        <p:spPr>
          <a:xfrm>
            <a:off x="365124" y="1295400"/>
            <a:ext cx="8474076" cy="4876800"/>
          </a:xfrm>
        </p:spPr>
        <p:txBody>
          <a:bodyPr>
            <a:normAutofit lnSpcReduction="10000"/>
          </a:bodyPr>
          <a:lstStyle/>
          <a:p>
            <a:r>
              <a:rPr lang="en-US" altLang="en-US" dirty="0" smtClean="0"/>
              <a:t>SP 800-37, Rev. 1: Guidelines for Applying the Risk Management Framework to Federal Information Systems, and CNSS Instruction-1000: National Information Assurance Certification and Accreditation Process (NIACAP).</a:t>
            </a:r>
          </a:p>
          <a:p>
            <a:pPr lvl="1"/>
            <a:r>
              <a:rPr lang="en-US" altLang="en-US" dirty="0" smtClean="0"/>
              <a:t>Provide guidance for the certification and accreditation of federal information systems</a:t>
            </a:r>
          </a:p>
          <a:p>
            <a:r>
              <a:rPr lang="en-US" altLang="en-US" dirty="0" smtClean="0"/>
              <a:t>Information processed by the federal government is grouped into one of three categories:</a:t>
            </a:r>
          </a:p>
          <a:p>
            <a:pPr lvl="1"/>
            <a:r>
              <a:rPr lang="en-US" altLang="en-US" dirty="0" smtClean="0"/>
              <a:t>National security information (NSI)</a:t>
            </a:r>
          </a:p>
          <a:p>
            <a:pPr lvl="1"/>
            <a:r>
              <a:rPr lang="en-US" altLang="en-US" dirty="0" smtClean="0"/>
              <a:t>Non-NSI</a:t>
            </a:r>
          </a:p>
          <a:p>
            <a:pPr lvl="1"/>
            <a:r>
              <a:rPr lang="en-US" altLang="en-US" dirty="0" smtClean="0"/>
              <a:t>Intelligence community (IC)</a:t>
            </a:r>
          </a:p>
        </p:txBody>
      </p:sp>
    </p:spTree>
    <p:extLst>
      <p:ext uri="{BB962C8B-B14F-4D97-AF65-F5344CB8AC3E}">
        <p14:creationId xmlns:p14="http://schemas.microsoft.com/office/powerpoint/2010/main" val="1241445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457200" y="27709"/>
            <a:ext cx="8229600" cy="1039091"/>
          </a:xfrm>
        </p:spPr>
        <p:txBody>
          <a:bodyPr anchor="ctr">
            <a:noAutofit/>
          </a:bodyPr>
          <a:lstStyle/>
          <a:p>
            <a:r>
              <a:rPr lang="en-US" altLang="en-US" dirty="0" smtClean="0"/>
              <a:t>The NIST Security Life Cycle Approach (2 of 2)</a:t>
            </a:r>
          </a:p>
        </p:txBody>
      </p:sp>
      <p:sp>
        <p:nvSpPr>
          <p:cNvPr id="44035" name="Content Placeholder 2"/>
          <p:cNvSpPr>
            <a:spLocks noGrp="1"/>
          </p:cNvSpPr>
          <p:nvPr>
            <p:ph idx="1"/>
          </p:nvPr>
        </p:nvSpPr>
        <p:spPr/>
        <p:txBody>
          <a:bodyPr/>
          <a:lstStyle/>
          <a:p>
            <a:r>
              <a:rPr lang="en-US" altLang="en-US" dirty="0" smtClean="0"/>
              <a:t>A new publication, NIST SP 800-39: Integrated Enterprise-Wide Risk Management: Organization, Mission, and Information Systems View builds on a three-tiered approach to risk management</a:t>
            </a:r>
          </a:p>
          <a:p>
            <a:pPr lvl="1"/>
            <a:r>
              <a:rPr lang="en-US" altLang="en-US" dirty="0" smtClean="0"/>
              <a:t>Tier 1 addresses risk from organizational perspective</a:t>
            </a:r>
          </a:p>
          <a:p>
            <a:pPr lvl="1"/>
            <a:r>
              <a:rPr lang="en-US" altLang="en-US" dirty="0" smtClean="0"/>
              <a:t>Tier 2 addresses risk from mission/business process perspective</a:t>
            </a:r>
          </a:p>
          <a:p>
            <a:pPr lvl="1"/>
            <a:r>
              <a:rPr lang="en-US" altLang="en-US" dirty="0" smtClean="0"/>
              <a:t>Tier 3 addresses risk from information system perspective</a:t>
            </a:r>
          </a:p>
        </p:txBody>
      </p:sp>
    </p:spTree>
    <p:extLst>
      <p:ext uri="{BB962C8B-B14F-4D97-AF65-F5344CB8AC3E}">
        <p14:creationId xmlns:p14="http://schemas.microsoft.com/office/powerpoint/2010/main" val="324768271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19169" y="76200"/>
            <a:ext cx="8032638" cy="1214853"/>
          </a:xfrm>
        </p:spPr>
        <p:txBody>
          <a:bodyPr anchor="ctr">
            <a:noAutofit/>
          </a:bodyPr>
          <a:lstStyle/>
          <a:p>
            <a:r>
              <a:rPr lang="en-US" b="1" dirty="0"/>
              <a:t>Figure 10-4  </a:t>
            </a:r>
            <a:r>
              <a:rPr lang="en-US" dirty="0"/>
              <a:t>Tiered Risk Management </a:t>
            </a:r>
            <a:r>
              <a:rPr lang="en-US" dirty="0" smtClean="0"/>
              <a:t>Framework</a:t>
            </a:r>
            <a:endParaRPr lang="en-US" dirty="0"/>
          </a:p>
        </p:txBody>
      </p:sp>
      <p:pic>
        <p:nvPicPr>
          <p:cNvPr id="4098" name="Picture 2" descr="An illustration shows a pyramidal hierarchy of various managements. The pyramid is divided into two and the top section is labeled as, “Tier 1 Organization (Governance).” The middle section is labeled as, “Tier 2 Mission/ Business Process (Information and Information flows).” The bottom section is labeled as, “Tier 3 Information System (Environment of Operation).” An arrow facing upwards is labeled as, “Strategic Risk” and an arrow facing downwards is labeled as, “Tactical Risk” is shown to the right of pyramid. The text to the text of pyramid reads as, “Multitier Organization-Wide Risk Management, Implemented by the Risk Executive (Function), tightly coupled to Enterprise Architecture and Information Security Architecture System Development Life Cycle Focus, Disciplined and Structured Process, Flexible and Agile Implementation.”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957" y="1663650"/>
            <a:ext cx="7708087" cy="376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5707829"/>
      </p:ext>
    </p:extLst>
  </p:cSld>
  <p:clrMapOvr>
    <a:masterClrMapping/>
  </p:clrMapOvr>
  <p:transition spd="slow"/>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19169" y="76200"/>
            <a:ext cx="8032638" cy="1104412"/>
          </a:xfrm>
        </p:spPr>
        <p:txBody>
          <a:bodyPr anchor="ctr">
            <a:noAutofit/>
          </a:bodyPr>
          <a:lstStyle/>
          <a:p>
            <a:r>
              <a:rPr lang="en-US" b="1" dirty="0"/>
              <a:t>Figure 10-5  </a:t>
            </a:r>
            <a:r>
              <a:rPr lang="en-US" dirty="0"/>
              <a:t>Risk Management </a:t>
            </a:r>
            <a:r>
              <a:rPr lang="en-US" dirty="0" smtClean="0"/>
              <a:t>Framework</a:t>
            </a:r>
            <a:endParaRPr lang="en-US" dirty="0"/>
          </a:p>
        </p:txBody>
      </p:sp>
      <p:pic>
        <p:nvPicPr>
          <p:cNvPr id="5123" name="Picture 3" descr="An illustration shows a box labeled as, “Step 1 Categorize Information System” is shown and a box labeled as, “Step 2 Select Security Controls” is shown clockwise and an arrow is shown above the Step2. A box labeled as, “Step 3 Implement Security Controls” is shown below the “Step 2.” An arrow pointing downwards is shown in between Step 2 and Step3. A box labeled as, “Step 4 Assess Security Controls” is shown clockwise to the above step. An arrow facing left is shown below the Step 3. A box labeled as, “Step 5 Authorize Information System” is shown clockwise to the above step. An arrow facing right is shown below Step 5. A box labeled as, “Step 6 Monitor Security Controls” is above Step 5. An arrow facing upwards is shown in between Step 5 and Step6. An arrow facing right is shown above Step 6. A text above the arrow reads as, “Repeat as necessary.” A box labeled as, “Architecture Description” is shown to the left of Step 1 and points to the Step 1. The text below it reads as, “Architecture Reference Models Segment and Solution Architectures Mission and Business Processes Information System Boundaries.” A box labeled as, “Organizational Inputs” is shown to the right of Step 1 and points to the Step 1. The text below it reads as, “Laws, Directives, Policy Guidance Strategic Goals and Objectives Priorities and Resource Availability Supply Chain Considerations.” The text labeled as, “Process Overview” and “Starting Point” is shown in between two boxes.&#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4003" y="1524000"/>
            <a:ext cx="6055995" cy="429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1562238"/>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19169" y="222344"/>
            <a:ext cx="8032638" cy="1149256"/>
          </a:xfrm>
        </p:spPr>
        <p:txBody>
          <a:bodyPr anchor="ctr">
            <a:noAutofit/>
          </a:bodyPr>
          <a:lstStyle/>
          <a:p>
            <a:r>
              <a:rPr lang="en-US" b="1" dirty="0"/>
              <a:t>Figure 10-6  </a:t>
            </a:r>
            <a:r>
              <a:rPr lang="en-US" dirty="0"/>
              <a:t>Security control allocation from NIST SP 800-37, </a:t>
            </a:r>
            <a:r>
              <a:rPr lang="en-US" dirty="0" smtClean="0"/>
              <a:t>Rev.1</a:t>
            </a:r>
            <a:endParaRPr lang="en-US" dirty="0"/>
          </a:p>
        </p:txBody>
      </p:sp>
      <p:pic>
        <p:nvPicPr>
          <p:cNvPr id="6146" name="Picture 2" descr="An illustration on the top shows a box labeled as, “Risk Executive Function Organization-Wide Risk Governance and Oversight.” The text below it reads as, “Core Missions/Business Processes Security Requirements Policy Guidance.” Two arrows are shown pointing downwards to two boxes labeled as, “Information System” below this the text reads as, “System-specific controls.” An arrow points to the left to a big box which has three boxes labeled as, “Security Plan, Security Assessment Report, Plan of Action and Milestone.” An arrow points to the right to a big box which has the text same as that of the left. The left and right box points to an arrow pointing upwards labeled as, “Authorization Decision.” A block labeled as, “Hybrid Controls” is shown below two boxes labeled as, “Information System.” An arrow facing upwards is shown beside each block labeled as, “Hybrid Controls.” A box labeled as, “Risk Management Framework (RMF)” is shown in between two Hybrid Controls. Two arrows points upwards from “Risk Management Framework (RMF)” to two boxes labeled as, “Information System.” An arrow points downwards to a block labeled as, “Common Controls Security Controls Inherited by Organizational Information Systems.” An arrow pointing downwards from the above text points to a box which has three boxes labeled as, “Security Plan, Security Assessment Report, Plan of Action and Milestone.” An arrow facing downwards points to an arrow pointing both sides labeled as, “Authorization Decision.”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9775" y="1515427"/>
            <a:ext cx="512445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213257"/>
      </p:ext>
    </p:extLst>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nchor="ctr"/>
          <a:lstStyle/>
          <a:p>
            <a:r>
              <a:rPr lang="en-US" altLang="en-US" dirty="0" smtClean="0"/>
              <a:t>NSTISS Certification and Accreditation</a:t>
            </a:r>
          </a:p>
        </p:txBody>
      </p:sp>
      <p:sp>
        <p:nvSpPr>
          <p:cNvPr id="48131" name="Content Placeholder 2"/>
          <p:cNvSpPr>
            <a:spLocks noGrp="1"/>
          </p:cNvSpPr>
          <p:nvPr>
            <p:ph idx="1"/>
          </p:nvPr>
        </p:nvSpPr>
        <p:spPr>
          <a:xfrm>
            <a:off x="365125" y="1447800"/>
            <a:ext cx="8397875" cy="4633382"/>
          </a:xfrm>
        </p:spPr>
        <p:txBody>
          <a:bodyPr>
            <a:normAutofit/>
          </a:bodyPr>
          <a:lstStyle/>
          <a:p>
            <a:r>
              <a:rPr lang="en-US" altLang="en-US" dirty="0" smtClean="0"/>
              <a:t>National security interest systems have their own C&amp;A standards.</a:t>
            </a:r>
          </a:p>
          <a:p>
            <a:r>
              <a:rPr lang="en-US" altLang="en-US" dirty="0" smtClean="0"/>
              <a:t>NSTISS Instruction 1000: National Information Assurance Certification and Accreditation Process (NIACAP)</a:t>
            </a:r>
          </a:p>
          <a:p>
            <a:pPr lvl="1"/>
            <a:r>
              <a:rPr lang="en-US" altLang="en-US" dirty="0" smtClean="0"/>
              <a:t>Establishes minimum national standards for certifying/accrediting national security systems</a:t>
            </a:r>
          </a:p>
          <a:p>
            <a:pPr lvl="1"/>
            <a:r>
              <a:rPr lang="en-US" altLang="en-US" dirty="0" smtClean="0"/>
              <a:t>Designed to certify that the IS meets documented requirements </a:t>
            </a:r>
          </a:p>
          <a:p>
            <a:pPr lvl="1"/>
            <a:r>
              <a:rPr lang="en-US" altLang="en-US" dirty="0" smtClean="0"/>
              <a:t>Composed of four phases: definition, verification, validation, and post accreditation</a:t>
            </a:r>
          </a:p>
        </p:txBody>
      </p:sp>
    </p:spTree>
    <p:extLst>
      <p:ext uri="{BB962C8B-B14F-4D97-AF65-F5344CB8AC3E}">
        <p14:creationId xmlns:p14="http://schemas.microsoft.com/office/powerpoint/2010/main" val="23786870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19169" y="131420"/>
            <a:ext cx="8032638" cy="1104412"/>
          </a:xfrm>
        </p:spPr>
        <p:txBody>
          <a:bodyPr anchor="ctr">
            <a:noAutofit/>
          </a:bodyPr>
          <a:lstStyle/>
          <a:p>
            <a:r>
              <a:rPr lang="en-US" b="1" dirty="0">
                <a:latin typeface="Calibri" panose="020F0502020204030204" pitchFamily="34" charset="0"/>
              </a:rPr>
              <a:t>Figure 10-7  </a:t>
            </a:r>
            <a:r>
              <a:rPr lang="en-US" dirty="0">
                <a:latin typeface="Calibri" panose="020F0502020204030204" pitchFamily="34" charset="0"/>
              </a:rPr>
              <a:t>Overview of the NIACAP </a:t>
            </a:r>
            <a:r>
              <a:rPr lang="en-US" dirty="0" smtClean="0">
                <a:latin typeface="Calibri" panose="020F0502020204030204" pitchFamily="34" charset="0"/>
              </a:rPr>
              <a:t>process</a:t>
            </a:r>
            <a:endParaRPr lang="en-US" dirty="0"/>
          </a:p>
        </p:txBody>
      </p:sp>
      <p:pic>
        <p:nvPicPr>
          <p:cNvPr id="2" name="Picture 1" descr="An illustration shows a circle divided into four quadrants. The center of the circle is labeled as, “SSAA.” The top left quadrant is labeled as, “Maintain SSAA, Change Management (CM) and Change Control, security Operations, Operate the System.” The top left quadrant is named as, “Phase 4 Post Accreditation.” An arrow from “Maintain SSAA” points to “SSAA.” An arrow from SSAA points to “Operate the System.” The top right quadrant is named as, “Phase 1 Definition.” It is labeled as, “Determine Requirements, Define Boundaries, Tailor the Process &amp; Scope the Effort, Draft the SSAA.” The left quadrant at the bottom is named as, “Phase 3 Validation.” It is labeled as, “Document Results Evaluate Procedural, Physical, Personnel, CM, etc. Procedures Test Installed System.” An arrow points from Document Results to “SSAA.” An arrow from SSAA points to Test Installed System.” The right quadrant at the bottom is named as, “Phase 2 Verification.” It is labeled as, “System Development Activities, Initial Certification Analysis, Document Results.” An arrow from Document Results points “SSAA.” An arrow from SSAA points to “System Development Activities.”&#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0936" y="1524000"/>
            <a:ext cx="4279209" cy="4007514"/>
          </a:xfrm>
          <a:prstGeom prst="rect">
            <a:avLst/>
          </a:prstGeom>
        </p:spPr>
      </p:pic>
      <p:sp>
        <p:nvSpPr>
          <p:cNvPr id="4" name="Content Placeholder 3"/>
          <p:cNvSpPr>
            <a:spLocks noGrp="1"/>
          </p:cNvSpPr>
          <p:nvPr>
            <p:ph sz="quarter" idx="10"/>
          </p:nvPr>
        </p:nvSpPr>
        <p:spPr>
          <a:xfrm>
            <a:off x="491331" y="5638800"/>
            <a:ext cx="8043069" cy="381000"/>
          </a:xfrm>
        </p:spPr>
        <p:txBody>
          <a:bodyPr>
            <a:noAutofit/>
          </a:bodyPr>
          <a:lstStyle/>
          <a:p>
            <a:pPr marL="0" indent="0" eaLnBrk="0" fontAlgn="base" hangingPunct="0">
              <a:spcBef>
                <a:spcPct val="30000"/>
              </a:spcBef>
              <a:spcAft>
                <a:spcPct val="0"/>
              </a:spcAft>
              <a:buClrTx/>
              <a:buNone/>
              <a:defRPr/>
            </a:pPr>
            <a:r>
              <a:rPr lang="en-US" sz="2000" i="1" dirty="0"/>
              <a:t>Source: NSTISSI-1000</a:t>
            </a:r>
            <a:r>
              <a:rPr lang="en-US" sz="2000" i="1" dirty="0" smtClean="0"/>
              <a:t>.</a:t>
            </a:r>
            <a:endParaRPr lang="en-US" sz="2000" i="1" dirty="0"/>
          </a:p>
        </p:txBody>
      </p:sp>
    </p:spTree>
    <p:extLst>
      <p:ext uri="{BB962C8B-B14F-4D97-AF65-F5344CB8AC3E}">
        <p14:creationId xmlns:p14="http://schemas.microsoft.com/office/powerpoint/2010/main" val="906424285"/>
      </p:ext>
    </p:extLst>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19169" y="152400"/>
            <a:ext cx="8032638" cy="1104412"/>
          </a:xfrm>
        </p:spPr>
        <p:txBody>
          <a:bodyPr anchor="ctr">
            <a:noAutofit/>
          </a:bodyPr>
          <a:lstStyle/>
          <a:p>
            <a:pPr marL="0" indent="0">
              <a:lnSpc>
                <a:spcPct val="100000"/>
              </a:lnSpc>
              <a:spcBef>
                <a:spcPts val="0"/>
              </a:spcBef>
              <a:tabLst>
                <a:tab pos="4397375" algn="l"/>
              </a:tabLst>
            </a:pPr>
            <a:r>
              <a:rPr lang="en-US" b="1" dirty="0"/>
              <a:t>Figure 10-8  </a:t>
            </a:r>
            <a:r>
              <a:rPr lang="en-US" dirty="0"/>
              <a:t>NIACAP Phase 1, </a:t>
            </a:r>
            <a:r>
              <a:rPr lang="en-US" dirty="0" smtClean="0"/>
              <a:t>Definition</a:t>
            </a:r>
            <a:endParaRPr lang="en-US" dirty="0"/>
          </a:p>
        </p:txBody>
      </p:sp>
      <p:pic>
        <p:nvPicPr>
          <p:cNvPr id="2" name="Picture 1" descr="An illustration shows the box labeled as, “Inputs” and the text reads as, “Business Case or Mission Need, Threat, Systems Docs., Requirements, etc.” It points to an action step box of flow diagram labeled as, “Preparation.” An arrow points to another action step box labeled as, “Registration.” An arrow from “Registration” points to another action step box labeled as, “Negotiation.” An arrow labeled as, “No” from “Negotiation” points to decision box labeled as, “Agreement?” An arrow from “Agreement?” points to “Negotiation.” An arrow labeled as, “Yes” points from “Agreement?” to “SSAA.” An arrow from “SSAA” points to “Phase 2, Verification.” The flow diagram is labeled as, “Activities.” The text below the flow diagram is labeled as, “Task.” An arrow from “Preparation” points to a text which reads as, “Review Documentation.” An arrow from “Registration” points to the text which reads as, “2. Prepare Mission Description and System Identification 3. Register System 4. Describe Environment and Threat 5. Describe System Architecture 6. Determine Security Requirements 7. Identify Organization and Resources 8. Tailor NIACAP and Plan Work 9. Draft SSAA.” An arrow from “Negotiation” points to the text which reads as, “10. Certifications Requirements Review 11. Agree on Level of Effort and Schedule 12. Approve Phase 1 SSAA.”&#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2299" y="1712479"/>
            <a:ext cx="5441499" cy="3691150"/>
          </a:xfrm>
          <a:prstGeom prst="rect">
            <a:avLst/>
          </a:prstGeom>
        </p:spPr>
      </p:pic>
      <p:sp>
        <p:nvSpPr>
          <p:cNvPr id="4" name="Content Placeholder 3"/>
          <p:cNvSpPr>
            <a:spLocks noGrp="1"/>
          </p:cNvSpPr>
          <p:nvPr>
            <p:ph sz="quarter" idx="10"/>
          </p:nvPr>
        </p:nvSpPr>
        <p:spPr>
          <a:xfrm>
            <a:off x="381000" y="5588187"/>
            <a:ext cx="8153400" cy="507813"/>
          </a:xfrm>
        </p:spPr>
        <p:txBody>
          <a:bodyPr>
            <a:normAutofit/>
          </a:bodyPr>
          <a:lstStyle/>
          <a:p>
            <a:pPr marL="0" indent="0">
              <a:buNone/>
            </a:pPr>
            <a:r>
              <a:rPr lang="en-US" sz="2000" i="1" dirty="0"/>
              <a:t>Source: NSTISSI-1000</a:t>
            </a:r>
            <a:r>
              <a:rPr lang="en-US" sz="2000" i="1" dirty="0" smtClean="0"/>
              <a:t>.</a:t>
            </a:r>
            <a:endParaRPr lang="en-US" sz="2000" dirty="0"/>
          </a:p>
        </p:txBody>
      </p:sp>
    </p:spTree>
    <p:extLst>
      <p:ext uri="{BB962C8B-B14F-4D97-AF65-F5344CB8AC3E}">
        <p14:creationId xmlns:p14="http://schemas.microsoft.com/office/powerpoint/2010/main" val="2832922014"/>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19169" y="152400"/>
            <a:ext cx="8032638" cy="1214853"/>
          </a:xfrm>
        </p:spPr>
        <p:txBody>
          <a:bodyPr anchor="ctr">
            <a:noAutofit/>
          </a:bodyPr>
          <a:lstStyle/>
          <a:p>
            <a:pPr marL="0" indent="0">
              <a:lnSpc>
                <a:spcPct val="100000"/>
              </a:lnSpc>
              <a:spcBef>
                <a:spcPts val="0"/>
              </a:spcBef>
              <a:tabLst>
                <a:tab pos="4397375" algn="l"/>
              </a:tabLst>
            </a:pPr>
            <a:r>
              <a:rPr lang="en-US" b="1" dirty="0"/>
              <a:t>Figure 10-9  </a:t>
            </a:r>
            <a:r>
              <a:rPr lang="en-US" dirty="0"/>
              <a:t>NIACAP Phase 2, </a:t>
            </a:r>
            <a:r>
              <a:rPr lang="en-US" dirty="0" smtClean="0"/>
              <a:t>Verification</a:t>
            </a:r>
            <a:endParaRPr lang="en-US" dirty="0"/>
          </a:p>
        </p:txBody>
      </p:sp>
      <p:pic>
        <p:nvPicPr>
          <p:cNvPr id="2" name="Picture 1" descr="&quot;An illustration shows the box labeled as, “Inputs” and the text reads as, “SSAA from Phase 1, Systems Documents, Configuration Control Plans, etc.” The flow diagram below it is labeled as, “Activities.” An arrow from input points to action step box labeled as, “Systems Activities— Integration or Development” points to another action step box labeled as, “Initial Certification Analysis” points to the decision box labeled as, “Pass?” An arrow labeled as, “Life Cycle Activity (1 to n)” points to three boxes labeled as, “Systems Activities— Integration or Development, Initial Certification Analysis and Pass.” The first arrow is labeled as, “Revise”, the second arrow is labeled as, “Reanalyze” and the third arrow is labeled as, “No.” An arrow from the “Pass?” decision box is labeled as “Yes” and points to a decision box labeled as, “Ready for Phase 3?” An arrow from this decision box is labeled as, “No” and points to a circle labeled as, “A.” An arrow pointing downwards from the decision box labeled as, “Yes” points to a box labeled as, “Updated SSAA.” An arrow from the above box points to an action box labeled as, “Phase 3, Validation.” An arrow from “Initial Certification Analysis” points to the text which reads as, “1. System Architecture 2. Software Design 3. Network Connection(s) 4. Integrity of Integrated products 5. Life Cycle Management 6. Prepare Security Requirements Validation Procedures 7. Vulnerability Evaluation.” &quo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1588526"/>
            <a:ext cx="4873767" cy="3752801"/>
          </a:xfrm>
          <a:prstGeom prst="rect">
            <a:avLst/>
          </a:prstGeom>
        </p:spPr>
      </p:pic>
      <p:sp>
        <p:nvSpPr>
          <p:cNvPr id="4" name="Content Placeholder 3"/>
          <p:cNvSpPr>
            <a:spLocks noGrp="1"/>
          </p:cNvSpPr>
          <p:nvPr>
            <p:ph sz="quarter" idx="10"/>
          </p:nvPr>
        </p:nvSpPr>
        <p:spPr>
          <a:xfrm>
            <a:off x="491330" y="5562600"/>
            <a:ext cx="8195469" cy="457200"/>
          </a:xfrm>
        </p:spPr>
        <p:txBody>
          <a:bodyPr>
            <a:normAutofit/>
          </a:bodyPr>
          <a:lstStyle/>
          <a:p>
            <a:pPr marL="0" indent="0">
              <a:buNone/>
            </a:pPr>
            <a:r>
              <a:rPr lang="en-US" sz="2000" i="1" dirty="0"/>
              <a:t>Source: NSTISSI-1000</a:t>
            </a:r>
            <a:r>
              <a:rPr lang="en-US" sz="2000" i="1" dirty="0" smtClean="0"/>
              <a:t>.</a:t>
            </a:r>
            <a:endParaRPr lang="en-US" sz="2000" dirty="0"/>
          </a:p>
        </p:txBody>
      </p:sp>
    </p:spTree>
    <p:extLst>
      <p:ext uri="{BB962C8B-B14F-4D97-AF65-F5344CB8AC3E}">
        <p14:creationId xmlns:p14="http://schemas.microsoft.com/office/powerpoint/2010/main" val="2161027089"/>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19169" y="123179"/>
            <a:ext cx="8032638" cy="1214853"/>
          </a:xfrm>
        </p:spPr>
        <p:txBody>
          <a:bodyPr anchor="ctr">
            <a:noAutofit/>
          </a:bodyPr>
          <a:lstStyle/>
          <a:p>
            <a:pPr marL="0" indent="0">
              <a:lnSpc>
                <a:spcPct val="100000"/>
              </a:lnSpc>
              <a:spcBef>
                <a:spcPts val="0"/>
              </a:spcBef>
              <a:tabLst>
                <a:tab pos="4397375" algn="l"/>
              </a:tabLst>
            </a:pPr>
            <a:r>
              <a:rPr lang="en-US" b="1" dirty="0"/>
              <a:t>Figure 10-10  </a:t>
            </a:r>
            <a:r>
              <a:rPr lang="en-US" dirty="0"/>
              <a:t>NIACAP Phase 3, </a:t>
            </a:r>
            <a:r>
              <a:rPr lang="en-US" dirty="0" smtClean="0"/>
              <a:t>Validation</a:t>
            </a:r>
            <a:endParaRPr lang="en-US" dirty="0"/>
          </a:p>
        </p:txBody>
      </p:sp>
      <p:pic>
        <p:nvPicPr>
          <p:cNvPr id="2" name="Picture 1" descr="&quot;An illustration shows the box labeled as, “Inputs” and the text reads as, “SSAA from Phase 2,Test Procedures and Site Information.” The flow diagram below it is labeled as, “Activities.” An arrow from input points to action step box labeled as, “Certification Evaluation of Integrated System.” An arrow from this points to a decision box labeled as, “Certify system.” An arrow facing downwards is labeled as, “No” points a circle labeled as, “A.” An arrow from “Certify system” points to action step box labeled as, “Develop Recommendation.” An arrow from “Develop Recommendation” points to a decision box labeled as, “Accreditation Granted?” An arrow from the right of decision box points a circle labeled as, “A.” An arrow facing downwards from the decision box is labeled as, “Yes” and points to “Updated SSAA.” An arrow from this points to “Phase 4, Post Accreditation.” An arrow from “Certification Evaluation of Integrated System” points to the text labeled as, “Task.” The text reads as, “1. Security Test and Evaluation 2. Penetration Testing 3. TEMPEST Evaluation 4. COMSEC Evaluation 5. System Management Analysis 6. Site Evaluation 7. Contingency Plan Evaluation 8. Risk Management Review.”  &#10;&quot;&#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2241" y="1620313"/>
            <a:ext cx="5839519" cy="3912477"/>
          </a:xfrm>
          <a:prstGeom prst="rect">
            <a:avLst/>
          </a:prstGeom>
        </p:spPr>
      </p:pic>
      <p:sp>
        <p:nvSpPr>
          <p:cNvPr id="4" name="Content Placeholder 3"/>
          <p:cNvSpPr>
            <a:spLocks noGrp="1"/>
          </p:cNvSpPr>
          <p:nvPr>
            <p:ph sz="quarter" idx="10"/>
          </p:nvPr>
        </p:nvSpPr>
        <p:spPr>
          <a:xfrm>
            <a:off x="491331" y="5608990"/>
            <a:ext cx="8119269" cy="487010"/>
          </a:xfrm>
        </p:spPr>
        <p:txBody>
          <a:bodyPr>
            <a:normAutofit/>
          </a:bodyPr>
          <a:lstStyle/>
          <a:p>
            <a:pPr marL="0" indent="0">
              <a:buNone/>
            </a:pPr>
            <a:r>
              <a:rPr lang="en-US" sz="2000" i="1" dirty="0"/>
              <a:t>Source: NSTISSI-1000</a:t>
            </a:r>
            <a:r>
              <a:rPr lang="en-US" sz="2000" i="1" dirty="0" smtClean="0"/>
              <a:t>.</a:t>
            </a:r>
            <a:endParaRPr lang="en-US" sz="2000" dirty="0"/>
          </a:p>
        </p:txBody>
      </p:sp>
    </p:spTree>
    <p:extLst>
      <p:ext uri="{BB962C8B-B14F-4D97-AF65-F5344CB8AC3E}">
        <p14:creationId xmlns:p14="http://schemas.microsoft.com/office/powerpoint/2010/main" val="3031893598"/>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54162" y="152400"/>
            <a:ext cx="8032638" cy="1214853"/>
          </a:xfrm>
        </p:spPr>
        <p:txBody>
          <a:bodyPr anchor="ctr">
            <a:noAutofit/>
          </a:bodyPr>
          <a:lstStyle/>
          <a:p>
            <a:pPr marL="0" indent="0">
              <a:lnSpc>
                <a:spcPct val="100000"/>
              </a:lnSpc>
              <a:spcBef>
                <a:spcPts val="0"/>
              </a:spcBef>
              <a:tabLst>
                <a:tab pos="4397375" algn="l"/>
              </a:tabLst>
            </a:pPr>
            <a:r>
              <a:rPr lang="en-US" b="1" dirty="0"/>
              <a:t>Figure 10-11  </a:t>
            </a:r>
            <a:r>
              <a:rPr lang="en-US" dirty="0"/>
              <a:t>NIACAP Phase 4, Post </a:t>
            </a:r>
            <a:r>
              <a:rPr lang="en-US" dirty="0" smtClean="0"/>
              <a:t>Accreditation</a:t>
            </a:r>
            <a:endParaRPr lang="en-US" dirty="0"/>
          </a:p>
        </p:txBody>
      </p:sp>
      <p:pic>
        <p:nvPicPr>
          <p:cNvPr id="2" name="Picture 1" descr="&quot;An illustration shows the box labeled as, “Inputs” and the text reads as, “SSAA from Phase 3, Test Procedures, and Site Information.” The flow diagram below it is labeled as, “Activities.” An arrow from input points to action step box labeled as, “System operations, Security Operations.” An arrow from this points to decision box labeled as, “Validation required?” An arrow labeled as, “No” to the right of decision box points to another decision box labeled as, “Change requested or required?” An arrow labeled as, “No” points from “Change requested or required?” to “System operations, Security Operations.” An arrow labeled as, “Yes” points downwards from “Validation required?” to an action step box labeled as, “Compliance Validation.” An arrow points to an arrow which is in between “Validation required?” and “Change requested or required?” An arrow labeled as, “Yes” facing downwards points from this decision box to a circle labeled as, “A” and an action step box labeled as, “Phase 1, Definition.” An arrow from “System operations, Security Operations” points to the text labeled as, “Task.” The text reads as, “1. SSAA Maintenance2. Physical, Personnel, and Management Control Review 3. TEMPEST Evaluation 4. COMSEC Evaluation 5. Contingency Plan Maintenance 6. Change Management 7. System Security Management 8. Risk Management Review.” An arrow from “Compliance Validation” points to the text labeled as, “Task.” The text reads as, “9. Site and Physical Security Validation 10. Security Procedures Validation 11. System Changes and Related Impact Validation 12. System Architecture and System Interfaces Validation 13. Management Procedures Validation 14. Risk Decisions Validation.”&#10;&quot;&#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8960" y="1600200"/>
            <a:ext cx="4861440" cy="3848642"/>
          </a:xfrm>
          <a:prstGeom prst="rect">
            <a:avLst/>
          </a:prstGeom>
        </p:spPr>
      </p:pic>
      <p:sp>
        <p:nvSpPr>
          <p:cNvPr id="3" name="Content Placeholder 2"/>
          <p:cNvSpPr>
            <a:spLocks noGrp="1"/>
          </p:cNvSpPr>
          <p:nvPr>
            <p:ph sz="quarter" idx="10"/>
          </p:nvPr>
        </p:nvSpPr>
        <p:spPr>
          <a:xfrm>
            <a:off x="491331" y="5638800"/>
            <a:ext cx="7890669" cy="381000"/>
          </a:xfrm>
        </p:spPr>
        <p:txBody>
          <a:bodyPr>
            <a:noAutofit/>
          </a:bodyPr>
          <a:lstStyle/>
          <a:p>
            <a:pPr marL="0" indent="0">
              <a:buNone/>
            </a:pPr>
            <a:r>
              <a:rPr lang="en-US" sz="2000" i="1" dirty="0"/>
              <a:t>Source: NSTISSI-1000</a:t>
            </a:r>
            <a:r>
              <a:rPr lang="en-US" sz="2000" i="1" dirty="0" smtClean="0"/>
              <a:t>.</a:t>
            </a:r>
            <a:endParaRPr lang="en-US" sz="2000" dirty="0"/>
          </a:p>
        </p:txBody>
      </p:sp>
    </p:spTree>
    <p:extLst>
      <p:ext uri="{BB962C8B-B14F-4D97-AF65-F5344CB8AC3E}">
        <p14:creationId xmlns:p14="http://schemas.microsoft.com/office/powerpoint/2010/main" val="2804553054"/>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nchor="ctr">
            <a:noAutofit/>
          </a:bodyPr>
          <a:lstStyle/>
          <a:p>
            <a:r>
              <a:rPr lang="en-US" altLang="en-US" dirty="0" smtClean="0"/>
              <a:t>ISO 27001/ 27002 Systems Certification and Accreditation</a:t>
            </a:r>
          </a:p>
        </p:txBody>
      </p:sp>
      <p:sp>
        <p:nvSpPr>
          <p:cNvPr id="54275" name="Content Placeholder 2"/>
          <p:cNvSpPr>
            <a:spLocks noGrp="1"/>
          </p:cNvSpPr>
          <p:nvPr>
            <p:ph idx="1"/>
          </p:nvPr>
        </p:nvSpPr>
        <p:spPr/>
        <p:txBody>
          <a:bodyPr>
            <a:normAutofit/>
          </a:bodyPr>
          <a:lstStyle/>
          <a:p>
            <a:r>
              <a:rPr lang="en-US" altLang="en-US" dirty="0" smtClean="0"/>
              <a:t>Organizations outside the United States apply these standards.</a:t>
            </a:r>
          </a:p>
          <a:p>
            <a:r>
              <a:rPr lang="en-US" altLang="en-US" dirty="0" smtClean="0"/>
              <a:t>Standards were originally created to provide a foundation for British certification of information security management systems (ISMSs).</a:t>
            </a:r>
          </a:p>
          <a:p>
            <a:r>
              <a:rPr lang="en-US" altLang="en-US" dirty="0" smtClean="0"/>
              <a:t>Organizations wishing to demonstrate their systems have met this international standard must follow the certification process.</a:t>
            </a:r>
          </a:p>
        </p:txBody>
      </p:sp>
    </p:spTree>
    <p:extLst>
      <p:ext uri="{BB962C8B-B14F-4D97-AF65-F5344CB8AC3E}">
        <p14:creationId xmlns:p14="http://schemas.microsoft.com/office/powerpoint/2010/main" val="1488858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19169" y="0"/>
            <a:ext cx="8032638" cy="1214853"/>
          </a:xfrm>
        </p:spPr>
        <p:txBody>
          <a:bodyPr anchor="ctr">
            <a:noAutofit/>
          </a:bodyPr>
          <a:lstStyle/>
          <a:p>
            <a:pPr marL="0" indent="0">
              <a:lnSpc>
                <a:spcPct val="100000"/>
              </a:lnSpc>
              <a:spcBef>
                <a:spcPts val="0"/>
              </a:spcBef>
              <a:tabLst>
                <a:tab pos="4397375" algn="l"/>
              </a:tabLst>
            </a:pPr>
            <a:r>
              <a:rPr lang="en-US" b="1" dirty="0"/>
              <a:t>Figure 10-12  </a:t>
            </a:r>
            <a:r>
              <a:rPr lang="en-US" dirty="0"/>
              <a:t>ISMS certification and </a:t>
            </a:r>
            <a:r>
              <a:rPr lang="en-US" dirty="0" smtClean="0"/>
              <a:t>accreditation</a:t>
            </a:r>
            <a:endParaRPr lang="en-US" dirty="0"/>
          </a:p>
        </p:txBody>
      </p:sp>
      <p:pic>
        <p:nvPicPr>
          <p:cNvPr id="7171" name="Picture 3" descr="A flow diagram shows three headings labeled as, “Inputs, Processes Deliverables.” An action step box labeled as, “Company decides to implement ISO 27001” is shown below “Processes” points to action step box labeled as, “Management commitment, assign project responsibilities.” An arrow points to a box labeled as, “Boundary of ISMS Framework.” An arrow from “Management commitment, assign project responsibilities” points to action step box labeled as, “Define information security policy.” An arrow points downwards to action step box labeled as, “Define scope of ISMS.” An arrow points downwards to action step box labeled as, “Perform RA for scope of ISMS.” An arrow points downwards to a box labeled as, “Decide how to manage risks identified.” An arrow points downwards to action step box labeled as, “Select objectives and controls to be implemented.” The action step box under Inputs labeled as, “Identify main threats, risks, impacts, and vulnerabilities” points to “Perform RA for scope of ISMS.” The action step box under Inputs labeled as, “Company approach to risk management” points to “Decide how to manage risks identified.” The action step box under Inputs labeled as, “Controls and guidance from ISO 17799 plus controls not in ISO 17799” points to “Select objectives and controls to be implemented.” The action step box under Processes is labeled as, “Define information security policy” points to “Deliver policy document” under Deliverables. The action step box under Processes is labeled as, “Define scope of ISMS” points to “Deliver ISMS scope document” under Deliverables. The action step box under Processes is labeled as, “Perform RA for scope of ISMS” points to “Produce RA document” under Deliverables. The action step box under Processes is labeled as, “Decide how to manage risks identified” points to “Agree to and document accountabilities and responsibilities” under Deliverables. The action step box under Processes is labeled as, “Select objectives and controls to be implemented” points to “Prepare SOA” under Deliverables. An arrow from “Select objectives and controls to be implemented” points to an action step box labeled as, “Implement controls” below the “Boundary of ISMS Framework.” An arrow from this points to an action step box labeled as, “Get ready for and undergo certification.” A label “Yes” is shown below “Get ready for and undergo certification.” An arrow from this points to a decision box labeled as, “Pass?” An arrow labeled as, “No” points to an action step labeled as, “Take corrective action” and an arrow from this points to the arrow which is in between “Implement controls” and “Get ready for and undergo certification.” An arrow to the right of “Pass?” points to an action step labeled as, “Certificate granted.”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4898" y="1465118"/>
            <a:ext cx="2814205" cy="45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4101845"/>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2"/>
          <p:cNvSpPr>
            <a:spLocks noGrp="1" noChangeArrowheads="1"/>
          </p:cNvSpPr>
          <p:nvPr>
            <p:ph type="title"/>
          </p:nvPr>
        </p:nvSpPr>
        <p:spPr/>
        <p:txBody>
          <a:bodyPr/>
          <a:lstStyle/>
          <a:p>
            <a:r>
              <a:rPr lang="en-US" altLang="en-US" dirty="0" smtClean="0"/>
              <a:t>Summary</a:t>
            </a:r>
          </a:p>
        </p:txBody>
      </p:sp>
      <p:sp>
        <p:nvSpPr>
          <p:cNvPr id="56323" name="Content Placeholder 3"/>
          <p:cNvSpPr>
            <a:spLocks noGrp="1" noChangeArrowheads="1"/>
          </p:cNvSpPr>
          <p:nvPr>
            <p:ph idx="1"/>
          </p:nvPr>
        </p:nvSpPr>
        <p:spPr/>
        <p:txBody>
          <a:bodyPr>
            <a:normAutofit/>
          </a:bodyPr>
          <a:lstStyle/>
          <a:p>
            <a:r>
              <a:rPr lang="en-US" altLang="en-US" dirty="0" smtClean="0"/>
              <a:t>Moving from security blueprint to project plan</a:t>
            </a:r>
          </a:p>
          <a:p>
            <a:r>
              <a:rPr lang="en-US" altLang="en-US" dirty="0" smtClean="0"/>
              <a:t>Organizational considerations addressed by project plan</a:t>
            </a:r>
          </a:p>
          <a:p>
            <a:r>
              <a:rPr lang="en-US" altLang="en-US" dirty="0" smtClean="0"/>
              <a:t>Project manager’s role in the success of an information security project</a:t>
            </a:r>
          </a:p>
          <a:p>
            <a:r>
              <a:rPr lang="en-US" altLang="en-US" dirty="0" smtClean="0"/>
              <a:t>Technical strategies and models for implementing project plan</a:t>
            </a:r>
          </a:p>
          <a:p>
            <a:r>
              <a:rPr lang="en-US" altLang="en-US" dirty="0" smtClean="0"/>
              <a:t>Nontechnical problems that organizations face in times of rapid change</a:t>
            </a:r>
          </a:p>
        </p:txBody>
      </p:sp>
    </p:spTree>
    <p:extLst>
      <p:ext uri="{BB962C8B-B14F-4D97-AF65-F5344CB8AC3E}">
        <p14:creationId xmlns:p14="http://schemas.microsoft.com/office/powerpoint/2010/main" val="748759617"/>
      </p:ext>
    </p:extLst>
  </p:cSld>
  <p:clrMapOvr>
    <a:masterClrMapping/>
  </p:clrMapOvr>
</p:sld>
</file>

<file path=ppt/theme/theme1.xml><?xml version="1.0" encoding="utf-8"?>
<a:theme xmlns:a="http://schemas.openxmlformats.org/drawingml/2006/main" name="S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5287</TotalTime>
  <Words>4238</Words>
  <Application>Microsoft Office PowerPoint</Application>
  <PresentationFormat>On-screen Show (4:3)</PresentationFormat>
  <Paragraphs>552</Paragraphs>
  <Slides>50</Slides>
  <Notes>40</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Sample</vt:lpstr>
      <vt:lpstr>Principles of Information Security</vt:lpstr>
      <vt:lpstr>Learning Objectives</vt:lpstr>
      <vt:lpstr>Introduction</vt:lpstr>
      <vt:lpstr>Information Security Project Management</vt:lpstr>
      <vt:lpstr>Developing the Project Plan</vt:lpstr>
      <vt:lpstr>Table 10-1 Example Project Plan Work Breakdown Structure (1 of 4)</vt:lpstr>
      <vt:lpstr>Table 10-1 Example Project Plan Work Breakdown Structure (2 of 4)</vt:lpstr>
      <vt:lpstr>Table 10-1 Example Project Plan Work Breakdown Structure (3 of 4)</vt:lpstr>
      <vt:lpstr>Table 10-1 Example Project Plan Work Breakdown Structure (4 of 4)</vt:lpstr>
      <vt:lpstr>Project Planning Considerations (1 of 8)</vt:lpstr>
      <vt:lpstr>Project Planning Considerations (2 of 8)</vt:lpstr>
      <vt:lpstr>Project Planning Considerations (3 of 8)</vt:lpstr>
      <vt:lpstr>Project Planning Considerations (4 of 8)</vt:lpstr>
      <vt:lpstr>Project Planning Considerations (5 of 8)</vt:lpstr>
      <vt:lpstr>Project Planning Considerations (6 of 8)</vt:lpstr>
      <vt:lpstr>Project Planning Considerations (7 of 8)</vt:lpstr>
      <vt:lpstr>Project Planning Considerations (8 of 8)</vt:lpstr>
      <vt:lpstr>The Need for Project Management (1 of 5)</vt:lpstr>
      <vt:lpstr>The Need for Project Management (2 of 5)</vt:lpstr>
      <vt:lpstr>The Need for Project Management (3 of 5)</vt:lpstr>
      <vt:lpstr>Figure 10-1  Gap analysis (4 of 5)</vt:lpstr>
      <vt:lpstr>The Need for Project Management (5 of 5)</vt:lpstr>
      <vt:lpstr>Security Project Management Certifications</vt:lpstr>
      <vt:lpstr>Technical Aspects of Implementation</vt:lpstr>
      <vt:lpstr>Conversion Strategies (1 of 2)</vt:lpstr>
      <vt:lpstr>Figure 10-2  Conversion strategies  (2 of 2)</vt:lpstr>
      <vt:lpstr>The Bull’s-Eye Model (1 of 2)</vt:lpstr>
      <vt:lpstr>Figure 10-3  The bull’s-eye model (2 of 2)</vt:lpstr>
      <vt:lpstr>To Outsource or Not </vt:lpstr>
      <vt:lpstr>Technology Governance and Change Control</vt:lpstr>
      <vt:lpstr>Nontechnical Aspects of Implementation</vt:lpstr>
      <vt:lpstr>The Culture of Change Management</vt:lpstr>
      <vt:lpstr>Considerations for Organizational Change (1 of 2)</vt:lpstr>
      <vt:lpstr>Considerations for Organizational Change (2 of 2)</vt:lpstr>
      <vt:lpstr>Information Systems Security Certification and Accreditation (1 of 2)</vt:lpstr>
      <vt:lpstr>Information Systems Security Certification and Accreditation (2 of 2)</vt:lpstr>
      <vt:lpstr>The NIST Security Life Cycle Approach (1 of 2)</vt:lpstr>
      <vt:lpstr>The NIST Security Life Cycle Approach (2 of 2)</vt:lpstr>
      <vt:lpstr>Figure 10-4  Tiered Risk Management Framework</vt:lpstr>
      <vt:lpstr>Figure 10-5  Risk Management Framework</vt:lpstr>
      <vt:lpstr>Figure 10-6  Security control allocation from NIST SP 800-37, Rev.1</vt:lpstr>
      <vt:lpstr>NSTISS Certification and Accreditation</vt:lpstr>
      <vt:lpstr>Figure 10-7  Overview of the NIACAP process</vt:lpstr>
      <vt:lpstr>Figure 10-8  NIACAP Phase 1, Definition</vt:lpstr>
      <vt:lpstr>Figure 10-9  NIACAP Phase 2, Verification</vt:lpstr>
      <vt:lpstr>Figure 10-10  NIACAP Phase 3, Validation</vt:lpstr>
      <vt:lpstr>Figure 10-11  NIACAP Phase 4, Post Accreditation</vt:lpstr>
      <vt:lpstr>ISO 27001/ 27002 Systems Certification and Accreditation</vt:lpstr>
      <vt:lpstr>Figure 10-12  ISMS certification and accreditation</vt:lpstr>
      <vt:lpstr>Summary</vt:lpstr>
    </vt:vector>
  </TitlesOfParts>
  <Company>Course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Implementing Information Security</dc:title>
  <dc:creator>Whitman</dc:creator>
  <cp:lastModifiedBy>CD</cp:lastModifiedBy>
  <cp:revision>339</cp:revision>
  <cp:lastPrinted>2010-11-12T17:54:40Z</cp:lastPrinted>
  <dcterms:created xsi:type="dcterms:W3CDTF">2007-02-15T20:50:52Z</dcterms:created>
  <dcterms:modified xsi:type="dcterms:W3CDTF">2017-03-20T16:44:58Z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