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7" r:id="rId1"/>
  </p:sldMasterIdLst>
  <p:notesMasterIdLst>
    <p:notesMasterId r:id="rId54"/>
  </p:notesMasterIdLst>
  <p:handoutMasterIdLst>
    <p:handoutMasterId r:id="rId55"/>
  </p:handoutMasterIdLst>
  <p:sldIdLst>
    <p:sldId id="310" r:id="rId2"/>
    <p:sldId id="258" r:id="rId3"/>
    <p:sldId id="311" r:id="rId4"/>
    <p:sldId id="260" r:id="rId5"/>
    <p:sldId id="261" r:id="rId6"/>
    <p:sldId id="262" r:id="rId7"/>
    <p:sldId id="265" r:id="rId8"/>
    <p:sldId id="266" r:id="rId9"/>
    <p:sldId id="312" r:id="rId10"/>
    <p:sldId id="268" r:id="rId11"/>
    <p:sldId id="270" r:id="rId12"/>
    <p:sldId id="263" r:id="rId13"/>
    <p:sldId id="264" r:id="rId14"/>
    <p:sldId id="269" r:id="rId15"/>
    <p:sldId id="271" r:id="rId16"/>
    <p:sldId id="272" r:id="rId17"/>
    <p:sldId id="273" r:id="rId18"/>
    <p:sldId id="275" r:id="rId19"/>
    <p:sldId id="317" r:id="rId20"/>
    <p:sldId id="276" r:id="rId21"/>
    <p:sldId id="277" r:id="rId22"/>
    <p:sldId id="313" r:id="rId23"/>
    <p:sldId id="309" r:id="rId24"/>
    <p:sldId id="278" r:id="rId25"/>
    <p:sldId id="279" r:id="rId26"/>
    <p:sldId id="280" r:id="rId27"/>
    <p:sldId id="281" r:id="rId28"/>
    <p:sldId id="282" r:id="rId29"/>
    <p:sldId id="284" r:id="rId30"/>
    <p:sldId id="285" r:id="rId31"/>
    <p:sldId id="286" r:id="rId32"/>
    <p:sldId id="287" r:id="rId33"/>
    <p:sldId id="318" r:id="rId34"/>
    <p:sldId id="288" r:id="rId35"/>
    <p:sldId id="289" r:id="rId36"/>
    <p:sldId id="290" r:id="rId37"/>
    <p:sldId id="291" r:id="rId38"/>
    <p:sldId id="292" r:id="rId39"/>
    <p:sldId id="295" r:id="rId40"/>
    <p:sldId id="314" r:id="rId41"/>
    <p:sldId id="316" r:id="rId42"/>
    <p:sldId id="297" r:id="rId43"/>
    <p:sldId id="298" r:id="rId44"/>
    <p:sldId id="299" r:id="rId45"/>
    <p:sldId id="300" r:id="rId46"/>
    <p:sldId id="301" r:id="rId47"/>
    <p:sldId id="302" r:id="rId48"/>
    <p:sldId id="304" r:id="rId49"/>
    <p:sldId id="315" r:id="rId50"/>
    <p:sldId id="303" r:id="rId51"/>
    <p:sldId id="305" r:id="rId52"/>
    <p:sldId id="306" r:id="rId5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97158" autoAdjust="0"/>
  </p:normalViewPr>
  <p:slideViewPr>
    <p:cSldViewPr>
      <p:cViewPr>
        <p:scale>
          <a:sx n="66" d="100"/>
          <a:sy n="66" d="100"/>
        </p:scale>
        <p:origin x="-1188" y="-138"/>
      </p:cViewPr>
      <p:guideLst>
        <p:guide orient="horz" pos="2160"/>
        <p:guide pos="2880"/>
      </p:guideLst>
    </p:cSldViewPr>
  </p:slideViewPr>
  <p:outlineViewPr>
    <p:cViewPr>
      <p:scale>
        <a:sx n="33" d="100"/>
        <a:sy n="33" d="100"/>
      </p:scale>
      <p:origin x="48"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DE9CF25-3F62-40AC-8BF2-AFC7FACED144}" type="slidenum">
              <a:rPr lang="en-US" altLang="en-US"/>
              <a:pPr/>
              <a:t>2</a:t>
            </a:fld>
            <a:endParaRPr lang="en-US" altLang="en-US"/>
          </a:p>
        </p:txBody>
      </p:sp>
      <p:sp>
        <p:nvSpPr>
          <p:cNvPr id="62467" name="Rectangle 1026"/>
          <p:cNvSpPr>
            <a:spLocks noGrp="1" noRot="1" noChangeAspect="1" noChangeArrowheads="1" noTextEdit="1"/>
          </p:cNvSpPr>
          <p:nvPr>
            <p:ph type="sldImg"/>
          </p:nvPr>
        </p:nvSpPr>
        <p:spPr>
          <a:ln/>
        </p:spPr>
      </p:sp>
      <p:sp>
        <p:nvSpPr>
          <p:cNvPr id="59396" name="Rectangle 1027"/>
          <p:cNvSpPr>
            <a:spLocks noGrp="1" noChangeArrowheads="1"/>
          </p:cNvSpPr>
          <p:nvPr>
            <p:ph type="body" idx="1"/>
          </p:nvPr>
        </p:nvSpPr>
        <p:spPr/>
        <p:txBody>
          <a:bodyPr>
            <a:normAutofit fontScale="85000" lnSpcReduction="10000"/>
          </a:bodyPr>
          <a:lstStyle/>
          <a:p>
            <a:pPr eaLnBrk="1" hangingPunct="1">
              <a:defRPr/>
            </a:pPr>
            <a:r>
              <a:rPr lang="en-US" altLang="en-US" b="1" dirty="0" smtClean="0"/>
              <a:t>Learning Objectives</a:t>
            </a:r>
          </a:p>
          <a:p>
            <a:pPr marL="342900" indent="-342900">
              <a:spcBef>
                <a:spcPct val="20000"/>
              </a:spcBef>
              <a:buFontTx/>
              <a:buChar char="•"/>
              <a:defRPr/>
            </a:pPr>
            <a:r>
              <a:rPr lang="en-US" altLang="en-US" sz="2600" kern="0" dirty="0" smtClean="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smtClean="0">
                <a:solidFill>
                  <a:srgbClr val="222222"/>
                </a:solidFill>
                <a:latin typeface="Arial"/>
              </a:rPr>
              <a:t>Describe where and how the information security function should be positioned within organizations</a:t>
            </a:r>
          </a:p>
          <a:p>
            <a:pPr marL="742950" lvl="1" indent="-285750">
              <a:spcBef>
                <a:spcPct val="20000"/>
              </a:spcBef>
              <a:buFontTx/>
              <a:buChar char="–"/>
              <a:defRPr/>
            </a:pPr>
            <a:r>
              <a:rPr lang="en-US" altLang="en-US" sz="2400" kern="0" dirty="0" smtClean="0">
                <a:solidFill>
                  <a:srgbClr val="222222"/>
                </a:solidFill>
                <a:latin typeface="Arial"/>
              </a:rPr>
              <a:t>Explain the issues and concerns related to staffing the information security function</a:t>
            </a:r>
          </a:p>
          <a:p>
            <a:pPr marL="742950" lvl="1" indent="-285750">
              <a:spcBef>
                <a:spcPct val="20000"/>
              </a:spcBef>
              <a:buFontTx/>
              <a:buChar char="–"/>
              <a:defRPr/>
            </a:pPr>
            <a:r>
              <a:rPr lang="en-US" altLang="en-US" sz="2400" kern="0" dirty="0" smtClean="0">
                <a:solidFill>
                  <a:srgbClr val="222222"/>
                </a:solidFill>
                <a:latin typeface="Arial"/>
              </a:rPr>
              <a:t>Enumerate the credentials that information security professionals can earn to gain recognition in the field</a:t>
            </a:r>
          </a:p>
          <a:p>
            <a:pPr marL="742950" lvl="1" indent="-285750">
              <a:spcBef>
                <a:spcPct val="20000"/>
              </a:spcBef>
              <a:buFontTx/>
              <a:buChar char="–"/>
              <a:defRPr/>
            </a:pPr>
            <a:r>
              <a:rPr lang="en-US" altLang="en-US" sz="2400" kern="0" dirty="0" smtClean="0">
                <a:solidFill>
                  <a:srgbClr val="222222"/>
                </a:solidFill>
                <a:latin typeface="Arial"/>
              </a:rPr>
              <a:t>Discuss how an organization’s employment policies and practices can support the information security effort</a:t>
            </a:r>
          </a:p>
          <a:p>
            <a:pPr eaLnBrk="1" hangingPunct="1">
              <a:defRPr/>
            </a:pPr>
            <a:endParaRPr lang="en-US" altLang="en-US" b="1" dirty="0" smtClean="0"/>
          </a:p>
        </p:txBody>
      </p:sp>
    </p:spTree>
    <p:extLst>
      <p:ext uri="{BB962C8B-B14F-4D97-AF65-F5344CB8AC3E}">
        <p14:creationId xmlns:p14="http://schemas.microsoft.com/office/powerpoint/2010/main" val="47870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DE9CF25-3F62-40AC-8BF2-AFC7FACED144}" type="slidenum">
              <a:rPr lang="en-US" altLang="en-US"/>
              <a:pPr/>
              <a:t>3</a:t>
            </a:fld>
            <a:endParaRPr lang="en-US" altLang="en-US"/>
          </a:p>
        </p:txBody>
      </p:sp>
      <p:sp>
        <p:nvSpPr>
          <p:cNvPr id="62467" name="Rectangle 1026"/>
          <p:cNvSpPr>
            <a:spLocks noGrp="1" noRot="1" noChangeAspect="1" noChangeArrowheads="1" noTextEdit="1"/>
          </p:cNvSpPr>
          <p:nvPr>
            <p:ph type="sldImg"/>
          </p:nvPr>
        </p:nvSpPr>
        <p:spPr>
          <a:ln/>
        </p:spPr>
      </p:sp>
      <p:sp>
        <p:nvSpPr>
          <p:cNvPr id="59396" name="Rectangle 1027"/>
          <p:cNvSpPr>
            <a:spLocks noGrp="1" noChangeArrowheads="1"/>
          </p:cNvSpPr>
          <p:nvPr>
            <p:ph type="body" idx="1"/>
          </p:nvPr>
        </p:nvSpPr>
        <p:spPr/>
        <p:txBody>
          <a:bodyPr>
            <a:normAutofit fontScale="85000" lnSpcReduction="10000"/>
          </a:bodyPr>
          <a:lstStyle/>
          <a:p>
            <a:pPr eaLnBrk="1" hangingPunct="1">
              <a:defRPr/>
            </a:pPr>
            <a:r>
              <a:rPr lang="en-US" altLang="en-US" b="1" dirty="0" smtClean="0"/>
              <a:t>Learning Objectives</a:t>
            </a:r>
          </a:p>
          <a:p>
            <a:pPr marL="342900" indent="-342900">
              <a:spcBef>
                <a:spcPct val="20000"/>
              </a:spcBef>
              <a:buFontTx/>
              <a:buChar char="•"/>
              <a:defRPr/>
            </a:pPr>
            <a:r>
              <a:rPr lang="en-US" altLang="en-US" sz="2600" kern="0" dirty="0" smtClean="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smtClean="0">
                <a:solidFill>
                  <a:srgbClr val="222222"/>
                </a:solidFill>
                <a:latin typeface="Arial"/>
              </a:rPr>
              <a:t>Describe where and how the information security function should be positioned within organizations</a:t>
            </a:r>
          </a:p>
          <a:p>
            <a:pPr marL="742950" lvl="1" indent="-285750">
              <a:spcBef>
                <a:spcPct val="20000"/>
              </a:spcBef>
              <a:buFontTx/>
              <a:buChar char="–"/>
              <a:defRPr/>
            </a:pPr>
            <a:r>
              <a:rPr lang="en-US" altLang="en-US" sz="2400" kern="0" dirty="0" smtClean="0">
                <a:solidFill>
                  <a:srgbClr val="222222"/>
                </a:solidFill>
                <a:latin typeface="Arial"/>
              </a:rPr>
              <a:t>Explain the issues and concerns related to staffing the information security function</a:t>
            </a:r>
          </a:p>
          <a:p>
            <a:pPr marL="742950" lvl="1" indent="-285750">
              <a:spcBef>
                <a:spcPct val="20000"/>
              </a:spcBef>
              <a:buFontTx/>
              <a:buChar char="–"/>
              <a:defRPr/>
            </a:pPr>
            <a:r>
              <a:rPr lang="en-US" altLang="en-US" sz="2400" kern="0" dirty="0" smtClean="0">
                <a:solidFill>
                  <a:srgbClr val="222222"/>
                </a:solidFill>
                <a:latin typeface="Arial"/>
              </a:rPr>
              <a:t>Enumerate the credentials that information security professionals can earn to gain recognition in the field</a:t>
            </a:r>
          </a:p>
          <a:p>
            <a:pPr marL="742950" lvl="1" indent="-285750">
              <a:spcBef>
                <a:spcPct val="20000"/>
              </a:spcBef>
              <a:buFontTx/>
              <a:buChar char="–"/>
              <a:defRPr/>
            </a:pPr>
            <a:r>
              <a:rPr lang="en-US" altLang="en-US" sz="2400" kern="0" dirty="0" smtClean="0">
                <a:solidFill>
                  <a:srgbClr val="222222"/>
                </a:solidFill>
                <a:latin typeface="Arial"/>
              </a:rPr>
              <a:t>Discuss how an organization’s employment policies and practices can support the information security effort</a:t>
            </a:r>
          </a:p>
          <a:p>
            <a:pPr eaLnBrk="1" hangingPunct="1">
              <a:defRPr/>
            </a:pPr>
            <a:endParaRPr lang="en-US" altLang="en-US" b="1" dirty="0" smtClean="0"/>
          </a:p>
        </p:txBody>
      </p:sp>
    </p:spTree>
    <p:extLst>
      <p:ext uri="{BB962C8B-B14F-4D97-AF65-F5344CB8AC3E}">
        <p14:creationId xmlns:p14="http://schemas.microsoft.com/office/powerpoint/2010/main" val="47870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F8722AD-3DC6-4BC5-A606-7C3E74464118}" type="slidenum">
              <a:rPr lang="en-US" altLang="en-US"/>
              <a:pPr/>
              <a:t>4</a:t>
            </a:fld>
            <a:endParaRPr lang="en-US" altLang="en-US"/>
          </a:p>
        </p:txBody>
      </p:sp>
      <p:sp>
        <p:nvSpPr>
          <p:cNvPr id="64515"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Introduction</a:t>
            </a:r>
          </a:p>
          <a:p>
            <a:pPr marL="342900" indent="-342900">
              <a:spcBef>
                <a:spcPct val="20000"/>
              </a:spcBef>
              <a:buFontTx/>
              <a:buChar char="•"/>
              <a:defRPr/>
            </a:pPr>
            <a:r>
              <a:rPr lang="en-US" altLang="en-US" sz="2600" kern="0" dirty="0" smtClean="0">
                <a:solidFill>
                  <a:srgbClr val="222222"/>
                </a:solidFill>
                <a:latin typeface="Arial"/>
              </a:rPr>
              <a:t>When implementing information security, there are many human resource issues that must be addressed</a:t>
            </a:r>
          </a:p>
          <a:p>
            <a:pPr marL="742950" lvl="1" indent="-285750">
              <a:spcBef>
                <a:spcPct val="20000"/>
              </a:spcBef>
              <a:buFontTx/>
              <a:buChar char="–"/>
              <a:defRPr/>
            </a:pPr>
            <a:r>
              <a:rPr lang="en-US" altLang="en-US" sz="2400" kern="0" dirty="0" smtClean="0">
                <a:solidFill>
                  <a:srgbClr val="222222"/>
                </a:solidFill>
                <a:latin typeface="Arial"/>
              </a:rPr>
              <a:t>Positioning and naming</a:t>
            </a:r>
          </a:p>
          <a:p>
            <a:pPr marL="742950" lvl="1" indent="-285750">
              <a:spcBef>
                <a:spcPct val="20000"/>
              </a:spcBef>
              <a:buFontTx/>
              <a:buChar char="–"/>
              <a:defRPr/>
            </a:pPr>
            <a:r>
              <a:rPr lang="en-US" altLang="en-US" sz="2400" kern="0" dirty="0" smtClean="0">
                <a:solidFill>
                  <a:srgbClr val="222222"/>
                </a:solidFill>
                <a:latin typeface="Arial"/>
              </a:rPr>
              <a:t>Staffing </a:t>
            </a:r>
          </a:p>
          <a:p>
            <a:pPr marL="742950" lvl="1" indent="-285750">
              <a:spcBef>
                <a:spcPct val="20000"/>
              </a:spcBef>
              <a:buFontTx/>
              <a:buChar char="–"/>
              <a:defRPr/>
            </a:pPr>
            <a:r>
              <a:rPr lang="en-US" altLang="en-US" sz="2400" kern="0" dirty="0" smtClean="0">
                <a:solidFill>
                  <a:srgbClr val="222222"/>
                </a:solidFill>
                <a:latin typeface="Arial"/>
              </a:rPr>
              <a:t>Assessing impact of information security on every IT function </a:t>
            </a:r>
          </a:p>
          <a:p>
            <a:pPr marL="742950" lvl="1" indent="-285750">
              <a:spcBef>
                <a:spcPct val="20000"/>
              </a:spcBef>
              <a:buFontTx/>
              <a:buChar char="–"/>
              <a:defRPr/>
            </a:pPr>
            <a:r>
              <a:rPr lang="en-US" altLang="en-US" sz="2400" kern="0" dirty="0" smtClean="0">
                <a:solidFill>
                  <a:srgbClr val="222222"/>
                </a:solidFill>
                <a:latin typeface="Arial"/>
              </a:rPr>
              <a:t>Integrating solid information security concepts into personnel management practices </a:t>
            </a:r>
          </a:p>
          <a:p>
            <a:pPr marL="342900" indent="-342900">
              <a:spcBef>
                <a:spcPct val="20000"/>
              </a:spcBef>
              <a:buFontTx/>
              <a:buChar char="•"/>
              <a:defRPr/>
            </a:pPr>
            <a:r>
              <a:rPr lang="en-US" altLang="en-US" sz="2600" kern="0" dirty="0" smtClean="0">
                <a:solidFill>
                  <a:srgbClr val="222222"/>
                </a:solidFill>
                <a:latin typeface="Arial"/>
              </a:rPr>
              <a:t>Employees often feel threatened when information security program is being created/enhanced</a:t>
            </a:r>
          </a:p>
        </p:txBody>
      </p:sp>
    </p:spTree>
    <p:extLst>
      <p:ext uri="{BB962C8B-B14F-4D97-AF65-F5344CB8AC3E}">
        <p14:creationId xmlns:p14="http://schemas.microsoft.com/office/powerpoint/2010/main" val="1283303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5253961-787D-4E99-8AD2-249F7E464512}" type="slidenum">
              <a:rPr lang="en-US" altLang="en-US"/>
              <a:pPr/>
              <a:t>5</a:t>
            </a:fld>
            <a:endParaRPr lang="en-US" altLang="en-US"/>
          </a:p>
        </p:txBody>
      </p:sp>
      <p:sp>
        <p:nvSpPr>
          <p:cNvPr id="65539"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Positioning and Staffing the Security Function</a:t>
            </a:r>
          </a:p>
          <a:p>
            <a:pPr marL="342900" indent="-342900">
              <a:spcBef>
                <a:spcPct val="20000"/>
              </a:spcBef>
              <a:buFontTx/>
              <a:buChar char="•"/>
              <a:defRPr/>
            </a:pPr>
            <a:r>
              <a:rPr lang="en-US" altLang="en-US" sz="2600" kern="0" dirty="0" smtClean="0">
                <a:solidFill>
                  <a:srgbClr val="222222"/>
                </a:solidFill>
                <a:latin typeface="Arial"/>
              </a:rPr>
              <a:t>The security function can be placed within:</a:t>
            </a:r>
          </a:p>
          <a:p>
            <a:pPr marL="742950" lvl="1" indent="-285750">
              <a:spcBef>
                <a:spcPct val="20000"/>
              </a:spcBef>
              <a:buFontTx/>
              <a:buChar char="–"/>
              <a:defRPr/>
            </a:pPr>
            <a:r>
              <a:rPr lang="en-US" altLang="en-US" sz="2400" kern="0" dirty="0" smtClean="0">
                <a:solidFill>
                  <a:srgbClr val="222222"/>
                </a:solidFill>
                <a:latin typeface="Arial"/>
              </a:rPr>
              <a:t>IT function </a:t>
            </a:r>
          </a:p>
          <a:p>
            <a:pPr marL="742950" lvl="1" indent="-285750">
              <a:spcBef>
                <a:spcPct val="20000"/>
              </a:spcBef>
              <a:buFontTx/>
              <a:buChar char="–"/>
              <a:defRPr/>
            </a:pPr>
            <a:r>
              <a:rPr lang="en-US" altLang="en-US" sz="2400" kern="0" dirty="0" smtClean="0">
                <a:solidFill>
                  <a:srgbClr val="222222"/>
                </a:solidFill>
                <a:latin typeface="Arial"/>
              </a:rPr>
              <a:t>Physical security function</a:t>
            </a:r>
          </a:p>
          <a:p>
            <a:pPr marL="742950" lvl="1" indent="-285750">
              <a:spcBef>
                <a:spcPct val="20000"/>
              </a:spcBef>
              <a:buFontTx/>
              <a:buChar char="–"/>
              <a:defRPr/>
            </a:pPr>
            <a:r>
              <a:rPr lang="en-US" altLang="en-US" sz="2400" kern="0" dirty="0" smtClean="0">
                <a:solidFill>
                  <a:srgbClr val="222222"/>
                </a:solidFill>
                <a:latin typeface="Arial"/>
              </a:rPr>
              <a:t>Administrative services function</a:t>
            </a:r>
          </a:p>
          <a:p>
            <a:pPr marL="742950" lvl="1" indent="-285750">
              <a:spcBef>
                <a:spcPct val="20000"/>
              </a:spcBef>
              <a:buFontTx/>
              <a:buChar char="–"/>
              <a:defRPr/>
            </a:pPr>
            <a:r>
              <a:rPr lang="en-US" altLang="en-US" sz="2400" kern="0" dirty="0" smtClean="0">
                <a:solidFill>
                  <a:srgbClr val="222222"/>
                </a:solidFill>
                <a:latin typeface="Arial"/>
              </a:rPr>
              <a:t>Insurance and risk management function</a:t>
            </a:r>
          </a:p>
          <a:p>
            <a:pPr marL="742950" lvl="1" indent="-285750">
              <a:spcBef>
                <a:spcPct val="20000"/>
              </a:spcBef>
              <a:buFontTx/>
              <a:buChar char="–"/>
              <a:defRPr/>
            </a:pPr>
            <a:r>
              <a:rPr lang="en-US" altLang="en-US" sz="2400" kern="0" dirty="0" smtClean="0">
                <a:solidFill>
                  <a:srgbClr val="222222"/>
                </a:solidFill>
                <a:latin typeface="Arial"/>
              </a:rPr>
              <a:t>Legal department</a:t>
            </a:r>
          </a:p>
          <a:p>
            <a:pPr marL="342900" indent="-342900">
              <a:spcBef>
                <a:spcPct val="20000"/>
              </a:spcBef>
              <a:buFontTx/>
              <a:buChar char="•"/>
              <a:defRPr/>
            </a:pPr>
            <a:r>
              <a:rPr lang="en-US" altLang="en-US" sz="2600" kern="0" dirty="0" smtClean="0">
                <a:solidFill>
                  <a:srgbClr val="222222"/>
                </a:solidFill>
                <a:latin typeface="Arial"/>
              </a:rPr>
              <a:t>IS should balance duty to monitor compliance with needs for education, training, awareness, and customer service</a:t>
            </a:r>
          </a:p>
        </p:txBody>
      </p:sp>
    </p:spTree>
    <p:extLst>
      <p:ext uri="{BB962C8B-B14F-4D97-AF65-F5344CB8AC3E}">
        <p14:creationId xmlns:p14="http://schemas.microsoft.com/office/powerpoint/2010/main" val="3743258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E65E102-EA04-4BCD-9033-473312310771}" type="slidenum">
              <a:rPr lang="en-US" altLang="en-US"/>
              <a:pPr/>
              <a:t>6</a:t>
            </a:fld>
            <a:endParaRPr lang="en-US" altLang="en-US"/>
          </a:p>
        </p:txBody>
      </p:sp>
      <p:sp>
        <p:nvSpPr>
          <p:cNvPr id="66563"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p:txBody>
          <a:bodyPr>
            <a:normAutofit lnSpcReduction="10000"/>
          </a:bodyPr>
          <a:lstStyle/>
          <a:p>
            <a:pPr eaLnBrk="1" hangingPunct="1">
              <a:defRPr/>
            </a:pPr>
            <a:r>
              <a:rPr lang="en-US" altLang="en-US" b="1" dirty="0" smtClean="0"/>
              <a:t>Staffing the Security Function </a:t>
            </a:r>
          </a:p>
          <a:p>
            <a:pPr marL="342900" indent="-342900">
              <a:spcBef>
                <a:spcPct val="20000"/>
              </a:spcBef>
              <a:buFontTx/>
              <a:buChar char="•"/>
              <a:defRPr/>
            </a:pPr>
            <a:r>
              <a:rPr lang="en-US" altLang="en-US" sz="2600" kern="0" dirty="0" smtClean="0">
                <a:solidFill>
                  <a:srgbClr val="222222"/>
                </a:solidFill>
                <a:latin typeface="Arial"/>
              </a:rPr>
              <a:t>Selecting personnel is based on several criteria, including some not within control of organization (supply and demand) </a:t>
            </a:r>
          </a:p>
          <a:p>
            <a:pPr marL="342900" indent="-342900">
              <a:spcBef>
                <a:spcPct val="20000"/>
              </a:spcBef>
              <a:buFontTx/>
              <a:buChar char="•"/>
              <a:defRPr/>
            </a:pPr>
            <a:r>
              <a:rPr lang="en-US" altLang="en-US" sz="2600" kern="0" dirty="0" smtClean="0">
                <a:solidFill>
                  <a:srgbClr val="222222"/>
                </a:solidFill>
                <a:latin typeface="Arial"/>
              </a:rPr>
              <a:t>Many professionals enter security market by gaining skills, experience, and credentials </a:t>
            </a:r>
          </a:p>
          <a:p>
            <a:pPr marL="342900" indent="-342900">
              <a:spcBef>
                <a:spcPct val="20000"/>
              </a:spcBef>
              <a:buFontTx/>
              <a:buChar char="•"/>
              <a:defRPr/>
            </a:pPr>
            <a:r>
              <a:rPr lang="en-US" altLang="en-US" sz="2600" kern="0" dirty="0" smtClean="0">
                <a:solidFill>
                  <a:srgbClr val="222222"/>
                </a:solidFill>
                <a:latin typeface="Arial"/>
              </a:rPr>
              <a:t>At present, information security industry is in a period of high demand</a:t>
            </a:r>
          </a:p>
        </p:txBody>
      </p:sp>
    </p:spTree>
    <p:extLst>
      <p:ext uri="{BB962C8B-B14F-4D97-AF65-F5344CB8AC3E}">
        <p14:creationId xmlns:p14="http://schemas.microsoft.com/office/powerpoint/2010/main" val="1294202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2BFB606-DC9F-4DBE-BE86-EF44E998FEAD}" type="slidenum">
              <a:rPr lang="en-US" altLang="en-US"/>
              <a:pPr/>
              <a:t>7</a:t>
            </a:fld>
            <a:endParaRPr lang="en-US" altLang="en-US"/>
          </a:p>
        </p:txBody>
      </p:sp>
      <p:sp>
        <p:nvSpPr>
          <p:cNvPr id="67587"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Qualifications and Requirements</a:t>
            </a:r>
          </a:p>
          <a:p>
            <a:pPr marL="742950" lvl="1" indent="-285750">
              <a:spcBef>
                <a:spcPct val="20000"/>
              </a:spcBef>
              <a:buFontTx/>
              <a:buChar char="–"/>
              <a:defRPr/>
            </a:pPr>
            <a:r>
              <a:rPr lang="en-US" altLang="en-US" sz="2400" kern="0" dirty="0" smtClean="0">
                <a:solidFill>
                  <a:srgbClr val="222222"/>
                </a:solidFill>
                <a:latin typeface="Arial"/>
              </a:rPr>
              <a:t>Establishing better hiring practices requires the following: </a:t>
            </a:r>
          </a:p>
          <a:p>
            <a:pPr marL="1143000" lvl="2" indent="-228600">
              <a:spcBef>
                <a:spcPct val="20000"/>
              </a:spcBef>
              <a:buFontTx/>
              <a:buChar char="•"/>
              <a:defRPr/>
            </a:pPr>
            <a:r>
              <a:rPr lang="en-US" altLang="en-US" sz="2200" kern="0" dirty="0" smtClean="0">
                <a:solidFill>
                  <a:srgbClr val="222222"/>
                </a:solidFill>
                <a:latin typeface="Arial"/>
              </a:rPr>
              <a:t>General management should learn more about skills and qualifications for positions</a:t>
            </a:r>
          </a:p>
          <a:p>
            <a:pPr marL="1143000" lvl="2" indent="-228600">
              <a:spcBef>
                <a:spcPct val="20000"/>
              </a:spcBef>
              <a:buFontTx/>
              <a:buChar char="•"/>
              <a:defRPr/>
            </a:pPr>
            <a:r>
              <a:rPr lang="en-US" altLang="en-US" sz="2200" kern="0" dirty="0" smtClean="0">
                <a:solidFill>
                  <a:srgbClr val="222222"/>
                </a:solidFill>
                <a:latin typeface="Arial"/>
              </a:rPr>
              <a:t>Upper management should learn about budgetary needs of information security function</a:t>
            </a:r>
          </a:p>
          <a:p>
            <a:pPr marL="1143000" lvl="2" indent="-228600">
              <a:spcBef>
                <a:spcPct val="20000"/>
              </a:spcBef>
              <a:buFontTx/>
              <a:buChar char="•"/>
              <a:defRPr/>
            </a:pPr>
            <a:r>
              <a:rPr lang="en-US" altLang="en-US" sz="2200" kern="0" dirty="0" smtClean="0">
                <a:solidFill>
                  <a:srgbClr val="222222"/>
                </a:solidFill>
                <a:latin typeface="Arial"/>
              </a:rPr>
              <a:t>IT and general management should grant appropriate levels of influence and prestige to information security </a:t>
            </a:r>
          </a:p>
          <a:p>
            <a:pPr marL="742950" lvl="1" indent="-285750">
              <a:spcBef>
                <a:spcPct val="20000"/>
              </a:spcBef>
              <a:buFontTx/>
              <a:buChar char="–"/>
              <a:defRPr/>
            </a:pPr>
            <a:r>
              <a:rPr lang="en-US" altLang="en-US" sz="2400" kern="0" dirty="0" smtClean="0">
                <a:solidFill>
                  <a:srgbClr val="222222"/>
                </a:solidFill>
                <a:latin typeface="Arial"/>
              </a:rPr>
              <a:t>Organizations typically look for technically qualified information security generalist</a:t>
            </a:r>
          </a:p>
        </p:txBody>
      </p:sp>
    </p:spTree>
    <p:extLst>
      <p:ext uri="{BB962C8B-B14F-4D97-AF65-F5344CB8AC3E}">
        <p14:creationId xmlns:p14="http://schemas.microsoft.com/office/powerpoint/2010/main" val="159019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9258A819-6F36-4C20-9CEF-A6A8F001EFAF}" type="slidenum">
              <a:rPr lang="en-US" altLang="en-US"/>
              <a:pPr/>
              <a:t>8</a:t>
            </a:fld>
            <a:endParaRPr lang="en-US" altLang="en-US"/>
          </a:p>
        </p:txBody>
      </p:sp>
      <p:sp>
        <p:nvSpPr>
          <p:cNvPr id="68611"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p:txBody>
          <a:bodyPr>
            <a:normAutofit fontScale="92500" lnSpcReduction="10000"/>
          </a:bodyPr>
          <a:lstStyle/>
          <a:p>
            <a:pPr>
              <a:spcBef>
                <a:spcPct val="20000"/>
              </a:spcBef>
              <a:defRPr/>
            </a:pPr>
            <a:r>
              <a:rPr lang="en-US" altLang="en-US" sz="2600" b="1" kern="0" dirty="0" smtClean="0">
                <a:solidFill>
                  <a:srgbClr val="222222"/>
                </a:solidFill>
                <a:latin typeface="Arial"/>
              </a:rPr>
              <a:t>Qualifications and requirements (cont’d.)</a:t>
            </a:r>
          </a:p>
          <a:p>
            <a:pPr marL="742950" lvl="1" indent="-285750">
              <a:spcBef>
                <a:spcPct val="20000"/>
              </a:spcBef>
              <a:buFontTx/>
              <a:buChar char="–"/>
              <a:defRPr/>
            </a:pPr>
            <a:r>
              <a:rPr lang="en-US" altLang="en-US" sz="2400" kern="0" dirty="0" smtClean="0">
                <a:solidFill>
                  <a:srgbClr val="222222"/>
                </a:solidFill>
                <a:latin typeface="Arial"/>
              </a:rPr>
              <a:t>Organizations look for candidates who understand:</a:t>
            </a:r>
          </a:p>
          <a:p>
            <a:pPr marL="1143000" lvl="2" indent="-228600">
              <a:spcBef>
                <a:spcPct val="20000"/>
              </a:spcBef>
              <a:buFontTx/>
              <a:buChar char="•"/>
              <a:defRPr/>
            </a:pPr>
            <a:r>
              <a:rPr lang="en-US" altLang="en-US" sz="2200" kern="0" dirty="0" smtClean="0">
                <a:solidFill>
                  <a:srgbClr val="222222"/>
                </a:solidFill>
                <a:latin typeface="Arial"/>
              </a:rPr>
              <a:t>How an organization operates at all levels</a:t>
            </a:r>
          </a:p>
          <a:p>
            <a:pPr marL="1143000" lvl="2" indent="-228600">
              <a:spcBef>
                <a:spcPct val="20000"/>
              </a:spcBef>
              <a:buFontTx/>
              <a:buChar char="•"/>
              <a:defRPr/>
            </a:pPr>
            <a:r>
              <a:rPr lang="en-US" altLang="en-US" sz="2200" kern="0" dirty="0" smtClean="0">
                <a:solidFill>
                  <a:srgbClr val="222222"/>
                </a:solidFill>
                <a:latin typeface="Arial"/>
              </a:rPr>
              <a:t>Information security is usually a management problem, not a technical problem</a:t>
            </a:r>
          </a:p>
          <a:p>
            <a:pPr marL="1143000" lvl="2" indent="-228600">
              <a:spcBef>
                <a:spcPct val="20000"/>
              </a:spcBef>
              <a:buFontTx/>
              <a:buChar char="•"/>
              <a:defRPr/>
            </a:pPr>
            <a:r>
              <a:rPr lang="en-US" altLang="en-US" sz="2200" kern="0" dirty="0" smtClean="0">
                <a:solidFill>
                  <a:srgbClr val="222222"/>
                </a:solidFill>
                <a:latin typeface="Arial"/>
              </a:rPr>
              <a:t>Importance of strong communications and writing skills</a:t>
            </a:r>
          </a:p>
          <a:p>
            <a:pPr marL="1143000" lvl="2" indent="-228600">
              <a:spcBef>
                <a:spcPct val="20000"/>
              </a:spcBef>
              <a:buFontTx/>
              <a:buChar char="•"/>
              <a:defRPr/>
            </a:pPr>
            <a:r>
              <a:rPr lang="en-US" altLang="en-US" sz="2200" kern="0" dirty="0" smtClean="0">
                <a:solidFill>
                  <a:srgbClr val="222222"/>
                </a:solidFill>
                <a:latin typeface="Arial"/>
              </a:rPr>
              <a:t>The role of policy in guiding security efforts</a:t>
            </a:r>
          </a:p>
          <a:p>
            <a:pPr marL="1143000" lvl="2" indent="-228600">
              <a:spcBef>
                <a:spcPct val="20000"/>
              </a:spcBef>
              <a:buFontTx/>
              <a:buChar char="•"/>
              <a:defRPr/>
            </a:pPr>
            <a:r>
              <a:rPr lang="en-US" altLang="en-US" sz="2200" kern="0" dirty="0" smtClean="0">
                <a:solidFill>
                  <a:srgbClr val="222222"/>
                </a:solidFill>
                <a:latin typeface="Arial"/>
              </a:rPr>
              <a:t>Most mainstream IT technologies </a:t>
            </a:r>
          </a:p>
          <a:p>
            <a:pPr marL="1143000" lvl="2" indent="-228600">
              <a:spcBef>
                <a:spcPct val="20000"/>
              </a:spcBef>
              <a:buFontTx/>
              <a:buChar char="•"/>
              <a:defRPr/>
            </a:pPr>
            <a:r>
              <a:rPr lang="en-US" altLang="en-US" sz="2200" kern="0" dirty="0" smtClean="0">
                <a:solidFill>
                  <a:srgbClr val="222222"/>
                </a:solidFill>
                <a:latin typeface="Arial"/>
              </a:rPr>
              <a:t>The terminology of IT and information security</a:t>
            </a:r>
          </a:p>
          <a:p>
            <a:pPr eaLnBrk="1" hangingPunct="1">
              <a:defRPr/>
            </a:pPr>
            <a:endParaRPr lang="en-US" altLang="en-US" dirty="0" smtClean="0"/>
          </a:p>
          <a:p>
            <a:pPr eaLnBrk="1" hangingPunct="1">
              <a:defRPr/>
            </a:pPr>
            <a:endParaRPr lang="en-US" altLang="en-US" dirty="0" smtClean="0"/>
          </a:p>
        </p:txBody>
      </p:sp>
    </p:spTree>
    <p:extLst>
      <p:ext uri="{BB962C8B-B14F-4D97-AF65-F5344CB8AC3E}">
        <p14:creationId xmlns:p14="http://schemas.microsoft.com/office/powerpoint/2010/main" val="3411575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9258A819-6F36-4C20-9CEF-A6A8F001EFAF}" type="slidenum">
              <a:rPr lang="en-US" altLang="en-US"/>
              <a:pPr/>
              <a:t>9</a:t>
            </a:fld>
            <a:endParaRPr lang="en-US" altLang="en-US"/>
          </a:p>
        </p:txBody>
      </p:sp>
      <p:sp>
        <p:nvSpPr>
          <p:cNvPr id="68611"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p:txBody>
          <a:bodyPr>
            <a:normAutofit fontScale="92500" lnSpcReduction="10000"/>
          </a:bodyPr>
          <a:lstStyle/>
          <a:p>
            <a:pPr>
              <a:spcBef>
                <a:spcPct val="20000"/>
              </a:spcBef>
              <a:defRPr/>
            </a:pPr>
            <a:r>
              <a:rPr lang="en-US" altLang="en-US" sz="2600" b="1" kern="0" dirty="0" smtClean="0">
                <a:solidFill>
                  <a:srgbClr val="222222"/>
                </a:solidFill>
                <a:latin typeface="Arial"/>
              </a:rPr>
              <a:t>Qualifications and requirements (cont’d.)</a:t>
            </a:r>
          </a:p>
          <a:p>
            <a:pPr marL="742950" lvl="1" indent="-285750">
              <a:spcBef>
                <a:spcPct val="20000"/>
              </a:spcBef>
              <a:buFontTx/>
              <a:buChar char="–"/>
              <a:defRPr/>
            </a:pPr>
            <a:r>
              <a:rPr lang="en-US" altLang="en-US" sz="2400" kern="0" dirty="0" smtClean="0">
                <a:solidFill>
                  <a:srgbClr val="222222"/>
                </a:solidFill>
                <a:latin typeface="Arial"/>
              </a:rPr>
              <a:t>Organizations look for candidates who understand:</a:t>
            </a:r>
          </a:p>
          <a:p>
            <a:pPr marL="1143000" lvl="2" indent="-228600">
              <a:spcBef>
                <a:spcPct val="20000"/>
              </a:spcBef>
              <a:buFontTx/>
              <a:buChar char="•"/>
              <a:defRPr/>
            </a:pPr>
            <a:r>
              <a:rPr lang="en-US" altLang="en-US" sz="2200" kern="0" dirty="0" smtClean="0">
                <a:solidFill>
                  <a:srgbClr val="222222"/>
                </a:solidFill>
                <a:latin typeface="Arial"/>
              </a:rPr>
              <a:t>How an organization operates at all levels</a:t>
            </a:r>
          </a:p>
          <a:p>
            <a:pPr marL="1143000" lvl="2" indent="-228600">
              <a:spcBef>
                <a:spcPct val="20000"/>
              </a:spcBef>
              <a:buFontTx/>
              <a:buChar char="•"/>
              <a:defRPr/>
            </a:pPr>
            <a:r>
              <a:rPr lang="en-US" altLang="en-US" sz="2200" kern="0" dirty="0" smtClean="0">
                <a:solidFill>
                  <a:srgbClr val="222222"/>
                </a:solidFill>
                <a:latin typeface="Arial"/>
              </a:rPr>
              <a:t>Information security is usually a management problem, not a technical problem</a:t>
            </a:r>
          </a:p>
          <a:p>
            <a:pPr marL="1143000" lvl="2" indent="-228600">
              <a:spcBef>
                <a:spcPct val="20000"/>
              </a:spcBef>
              <a:buFontTx/>
              <a:buChar char="•"/>
              <a:defRPr/>
            </a:pPr>
            <a:r>
              <a:rPr lang="en-US" altLang="en-US" sz="2200" kern="0" dirty="0" smtClean="0">
                <a:solidFill>
                  <a:srgbClr val="222222"/>
                </a:solidFill>
                <a:latin typeface="Arial"/>
              </a:rPr>
              <a:t>Importance of strong communications and writing skills</a:t>
            </a:r>
          </a:p>
          <a:p>
            <a:pPr marL="1143000" lvl="2" indent="-228600">
              <a:spcBef>
                <a:spcPct val="20000"/>
              </a:spcBef>
              <a:buFontTx/>
              <a:buChar char="•"/>
              <a:defRPr/>
            </a:pPr>
            <a:r>
              <a:rPr lang="en-US" altLang="en-US" sz="2200" kern="0" dirty="0" smtClean="0">
                <a:solidFill>
                  <a:srgbClr val="222222"/>
                </a:solidFill>
                <a:latin typeface="Arial"/>
              </a:rPr>
              <a:t>The role of policy in guiding security efforts</a:t>
            </a:r>
          </a:p>
          <a:p>
            <a:pPr marL="1143000" lvl="2" indent="-228600">
              <a:spcBef>
                <a:spcPct val="20000"/>
              </a:spcBef>
              <a:buFontTx/>
              <a:buChar char="•"/>
              <a:defRPr/>
            </a:pPr>
            <a:r>
              <a:rPr lang="en-US" altLang="en-US" sz="2200" kern="0" dirty="0" smtClean="0">
                <a:solidFill>
                  <a:srgbClr val="222222"/>
                </a:solidFill>
                <a:latin typeface="Arial"/>
              </a:rPr>
              <a:t>Most mainstream IT technologies </a:t>
            </a:r>
          </a:p>
          <a:p>
            <a:pPr marL="1143000" lvl="2" indent="-228600">
              <a:spcBef>
                <a:spcPct val="20000"/>
              </a:spcBef>
              <a:buFontTx/>
              <a:buChar char="•"/>
              <a:defRPr/>
            </a:pPr>
            <a:r>
              <a:rPr lang="en-US" altLang="en-US" sz="2200" kern="0" dirty="0" smtClean="0">
                <a:solidFill>
                  <a:srgbClr val="222222"/>
                </a:solidFill>
                <a:latin typeface="Arial"/>
              </a:rPr>
              <a:t>The terminology of IT and information security</a:t>
            </a:r>
          </a:p>
          <a:p>
            <a:pPr eaLnBrk="1" hangingPunct="1">
              <a:defRPr/>
            </a:pPr>
            <a:endParaRPr lang="en-US" altLang="en-US" dirty="0" smtClean="0"/>
          </a:p>
          <a:p>
            <a:pPr eaLnBrk="1" hangingPunct="1">
              <a:defRPr/>
            </a:pPr>
            <a:endParaRPr lang="en-US" altLang="en-US" dirty="0" smtClean="0"/>
          </a:p>
        </p:txBody>
      </p:sp>
    </p:spTree>
    <p:extLst>
      <p:ext uri="{BB962C8B-B14F-4D97-AF65-F5344CB8AC3E}">
        <p14:creationId xmlns:p14="http://schemas.microsoft.com/office/powerpoint/2010/main" val="3411575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4D6E2CB-1600-4F08-BF4A-7C3215C1D58A}" type="slidenum">
              <a:rPr lang="en-US" altLang="en-US"/>
              <a:pPr/>
              <a:t>10</a:t>
            </a:fld>
            <a:endParaRPr lang="en-US" altLang="en-US"/>
          </a:p>
        </p:txBody>
      </p:sp>
      <p:sp>
        <p:nvSpPr>
          <p:cNvPr id="70659"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Entry into the Security Profession</a:t>
            </a:r>
          </a:p>
          <a:p>
            <a:pPr marL="742950" lvl="1" indent="-285750">
              <a:spcBef>
                <a:spcPct val="20000"/>
              </a:spcBef>
              <a:buFontTx/>
              <a:buChar char="–"/>
              <a:defRPr/>
            </a:pPr>
            <a:r>
              <a:rPr lang="en-US" altLang="en-US" sz="2400" kern="0" dirty="0" smtClean="0">
                <a:solidFill>
                  <a:srgbClr val="222222"/>
                </a:solidFill>
                <a:latin typeface="Arial"/>
              </a:rPr>
              <a:t>Many information security professionals enter the field through one of two career paths: </a:t>
            </a:r>
          </a:p>
          <a:p>
            <a:pPr marL="1143000" lvl="2" indent="-228600">
              <a:spcBef>
                <a:spcPct val="20000"/>
              </a:spcBef>
              <a:buFontTx/>
              <a:buChar char="•"/>
              <a:defRPr/>
            </a:pPr>
            <a:r>
              <a:rPr lang="en-US" altLang="en-US" sz="2200" kern="0" dirty="0" smtClean="0">
                <a:solidFill>
                  <a:srgbClr val="222222"/>
                </a:solidFill>
                <a:latin typeface="Arial"/>
              </a:rPr>
              <a:t>Law enforcement and military</a:t>
            </a:r>
          </a:p>
          <a:p>
            <a:pPr marL="1143000" lvl="2" indent="-228600">
              <a:spcBef>
                <a:spcPct val="20000"/>
              </a:spcBef>
              <a:buFontTx/>
              <a:buChar char="•"/>
              <a:defRPr/>
            </a:pPr>
            <a:r>
              <a:rPr lang="en-US" altLang="en-US" sz="2200" kern="0" dirty="0" smtClean="0">
                <a:solidFill>
                  <a:srgbClr val="222222"/>
                </a:solidFill>
                <a:latin typeface="Arial"/>
              </a:rPr>
              <a:t>Technical, working on security applications and processes </a:t>
            </a:r>
          </a:p>
          <a:p>
            <a:pPr marL="742950" lvl="1" indent="-285750">
              <a:spcBef>
                <a:spcPct val="20000"/>
              </a:spcBef>
              <a:buFontTx/>
              <a:buChar char="–"/>
              <a:defRPr/>
            </a:pPr>
            <a:r>
              <a:rPr lang="en-US" altLang="en-US" sz="2400" kern="0" dirty="0" smtClean="0">
                <a:solidFill>
                  <a:srgbClr val="222222"/>
                </a:solidFill>
                <a:latin typeface="Arial"/>
              </a:rPr>
              <a:t>Today, students select and tailor degree programs to prepare for work in information security</a:t>
            </a:r>
          </a:p>
          <a:p>
            <a:pPr marL="742950" lvl="1" indent="-285750">
              <a:spcBef>
                <a:spcPct val="20000"/>
              </a:spcBef>
              <a:buFontTx/>
              <a:buChar char="–"/>
              <a:defRPr/>
            </a:pPr>
            <a:r>
              <a:rPr lang="en-US" altLang="en-US" sz="2400" kern="0" dirty="0" smtClean="0">
                <a:solidFill>
                  <a:srgbClr val="222222"/>
                </a:solidFill>
                <a:latin typeface="Arial"/>
              </a:rPr>
              <a:t>Organizations can foster greater professionalism by matching qualified candidates to clearly defined roles in information security</a:t>
            </a:r>
          </a:p>
          <a:p>
            <a:pPr eaLnBrk="1" hangingPunct="1">
              <a:defRPr/>
            </a:pPr>
            <a:endParaRPr lang="en-US" altLang="en-US" dirty="0" smtClean="0"/>
          </a:p>
        </p:txBody>
      </p:sp>
    </p:spTree>
    <p:extLst>
      <p:ext uri="{BB962C8B-B14F-4D97-AF65-F5344CB8AC3E}">
        <p14:creationId xmlns:p14="http://schemas.microsoft.com/office/powerpoint/2010/main" val="869738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016BF66-7F89-403C-A899-CA270FE4829F}" type="slidenum">
              <a:rPr lang="en-US" altLang="en-US"/>
              <a:pPr/>
              <a:t>11</a:t>
            </a:fld>
            <a:endParaRPr lang="en-US"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p:txBody>
          <a:bodyPr/>
          <a:lstStyle/>
          <a:p>
            <a:pPr eaLnBrk="1" hangingPunct="1"/>
            <a:r>
              <a:rPr lang="en-US" altLang="en-US" b="1" smtClean="0"/>
              <a:t>Information Security Positions </a:t>
            </a:r>
          </a:p>
          <a:p>
            <a:pPr eaLnBrk="1" hangingPunct="1"/>
            <a:r>
              <a:rPr lang="en-US" altLang="en-US" smtClean="0"/>
              <a:t>The use of standard job descriptions can increase the degree of professionalism in the information security field as well as improve the consistency of roles and responsibilities between organizations. </a:t>
            </a:r>
          </a:p>
          <a:p>
            <a:pPr eaLnBrk="1" hangingPunct="1"/>
            <a:r>
              <a:rPr lang="en-US" altLang="en-US" smtClean="0"/>
              <a:t>Organizations that are revising the roles and responsibilities of InfoSec staff can consult references like Wood’s book </a:t>
            </a:r>
            <a:r>
              <a:rPr lang="en-US" altLang="en-US" i="1" smtClean="0"/>
              <a:t>Information Security Roles and Responsibilities Made Easy</a:t>
            </a:r>
            <a:r>
              <a:rPr lang="en-US" altLang="en-US" smtClean="0"/>
              <a:t>, or  Schwartz, et al’s report “InfoSec Staffing Help Wanted”. </a:t>
            </a:r>
          </a:p>
          <a:p>
            <a:pPr eaLnBrk="1" hangingPunct="1"/>
            <a:endParaRPr lang="en-US" altLang="en-US" smtClean="0"/>
          </a:p>
        </p:txBody>
      </p:sp>
    </p:spTree>
    <p:extLst>
      <p:ext uri="{BB962C8B-B14F-4D97-AF65-F5344CB8AC3E}">
        <p14:creationId xmlns:p14="http://schemas.microsoft.com/office/powerpoint/2010/main" val="2334628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12</a:t>
            </a:fld>
            <a:endParaRPr lang="en-US" dirty="0"/>
          </a:p>
        </p:txBody>
      </p:sp>
    </p:spTree>
    <p:extLst>
      <p:ext uri="{BB962C8B-B14F-4D97-AF65-F5344CB8AC3E}">
        <p14:creationId xmlns:p14="http://schemas.microsoft.com/office/powerpoint/2010/main" val="4177023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3086466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p:txBody>
          <a:bodyPr/>
          <a:lstStyle/>
          <a:p>
            <a:endParaRPr lang="en-US" altLang="en-US" dirty="0" smtClean="0"/>
          </a:p>
        </p:txBody>
      </p:sp>
      <p:sp>
        <p:nvSpPr>
          <p:cNvPr id="71684"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AD5EFC8-3151-484C-9F7E-00A231C00FAF}" type="slidenum">
              <a:rPr lang="en-US" altLang="en-US"/>
              <a:pPr/>
              <a:t>14</a:t>
            </a:fld>
            <a:endParaRPr lang="en-US" altLang="en-US"/>
          </a:p>
        </p:txBody>
      </p:sp>
    </p:spTree>
    <p:extLst>
      <p:ext uri="{BB962C8B-B14F-4D97-AF65-F5344CB8AC3E}">
        <p14:creationId xmlns:p14="http://schemas.microsoft.com/office/powerpoint/2010/main" val="946794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p:txBody>
          <a:bodyPr/>
          <a:lstStyle/>
          <a:p>
            <a:endParaRPr lang="en-US" altLang="en-US" smtClean="0"/>
          </a:p>
        </p:txBody>
      </p:sp>
      <p:sp>
        <p:nvSpPr>
          <p:cNvPr id="73732"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6CE96EA-5F46-4398-8620-4E7DC797847A}" type="slidenum">
              <a:rPr lang="en-US" altLang="en-US"/>
              <a:pPr/>
              <a:t>15</a:t>
            </a:fld>
            <a:endParaRPr lang="en-US" altLang="en-US"/>
          </a:p>
        </p:txBody>
      </p:sp>
    </p:spTree>
    <p:extLst>
      <p:ext uri="{BB962C8B-B14F-4D97-AF65-F5344CB8AC3E}">
        <p14:creationId xmlns:p14="http://schemas.microsoft.com/office/powerpoint/2010/main" val="3013103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B3B6566-7C1C-4EB1-8D8E-1B0A6358D886}" type="slidenum">
              <a:rPr lang="en-US" altLang="en-US"/>
              <a:pPr/>
              <a:t>16</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p:txBody>
          <a:bodyPr>
            <a:normAutofit fontScale="85000" lnSpcReduction="20000"/>
          </a:bodyPr>
          <a:lstStyle/>
          <a:p>
            <a:pPr eaLnBrk="1" hangingPunct="1"/>
            <a:r>
              <a:rPr lang="en-US" altLang="en-US" b="1" smtClean="0"/>
              <a:t>Chief Information Security Officer</a:t>
            </a:r>
          </a:p>
          <a:p>
            <a:pPr eaLnBrk="1" hangingPunct="1"/>
            <a:r>
              <a:rPr lang="en-US" altLang="en-US" smtClean="0"/>
              <a:t>This position is typically considered the top information security officer in the organization.  </a:t>
            </a:r>
          </a:p>
          <a:p>
            <a:pPr eaLnBrk="1" hangingPunct="1"/>
            <a:r>
              <a:rPr lang="en-US" altLang="en-US" smtClean="0"/>
              <a:t>The CISO is usually not an executive-level position and frequently reports to the Chief Information Officer. </a:t>
            </a:r>
          </a:p>
          <a:p>
            <a:pPr eaLnBrk="1" hangingPunct="1"/>
            <a:r>
              <a:rPr lang="en-US" altLang="en-US" smtClean="0"/>
              <a:t>Though CISOs are business managers first and technologists second, they must also be conversant in all areas of security, including technical, planning, and policy. </a:t>
            </a:r>
          </a:p>
          <a:p>
            <a:pPr eaLnBrk="1" hangingPunct="1"/>
            <a:r>
              <a:rPr lang="en-US" altLang="en-US" smtClean="0"/>
              <a:t>The CISO performs the following functions:</a:t>
            </a:r>
          </a:p>
          <a:p>
            <a:pPr eaLnBrk="1" hangingPunct="1">
              <a:buFontTx/>
              <a:buChar char="•"/>
            </a:pPr>
            <a:r>
              <a:rPr lang="en-US" altLang="en-US" smtClean="0"/>
              <a:t> Manages the overall InfoSec program</a:t>
            </a:r>
          </a:p>
          <a:p>
            <a:pPr eaLnBrk="1" hangingPunct="1">
              <a:buFontTx/>
              <a:buChar char="•"/>
            </a:pPr>
            <a:r>
              <a:rPr lang="en-US" altLang="en-US" smtClean="0"/>
              <a:t> Drafts or approves information security policies</a:t>
            </a:r>
          </a:p>
          <a:p>
            <a:pPr eaLnBrk="1" hangingPunct="1">
              <a:buFontTx/>
              <a:buChar char="•"/>
            </a:pPr>
            <a:r>
              <a:rPr lang="en-US" altLang="en-US" smtClean="0"/>
              <a:t> Works with the CIO on strategic plans, develops tactical plans, and works with security managers on operational plans</a:t>
            </a:r>
          </a:p>
          <a:p>
            <a:pPr eaLnBrk="1" hangingPunct="1">
              <a:buFontTx/>
              <a:buChar char="•"/>
            </a:pPr>
            <a:r>
              <a:rPr lang="en-US" altLang="en-US" smtClean="0"/>
              <a:t> Develops InfoSec budgets based on funding</a:t>
            </a:r>
          </a:p>
          <a:p>
            <a:pPr eaLnBrk="1" hangingPunct="1">
              <a:buFontTx/>
              <a:buChar char="•"/>
            </a:pPr>
            <a:r>
              <a:rPr lang="en-US" altLang="en-US" smtClean="0"/>
              <a:t> Sets priorities for the purchase and implementation of InfoSec projects &amp; technology</a:t>
            </a:r>
          </a:p>
          <a:p>
            <a:pPr eaLnBrk="1" hangingPunct="1">
              <a:buFontTx/>
              <a:buChar char="•"/>
            </a:pPr>
            <a:r>
              <a:rPr lang="en-US" altLang="en-US" smtClean="0"/>
              <a:t> Makes decisions or recommendations on the recruiting, hiring, and firing of security staff</a:t>
            </a:r>
          </a:p>
          <a:p>
            <a:pPr eaLnBrk="1" hangingPunct="1">
              <a:buFontTx/>
              <a:buChar char="•"/>
            </a:pPr>
            <a:r>
              <a:rPr lang="en-US" altLang="en-US" smtClean="0"/>
              <a:t> Acts as the spokesperson for the security team </a:t>
            </a:r>
          </a:p>
          <a:p>
            <a:pPr eaLnBrk="1" hangingPunct="1"/>
            <a:r>
              <a:rPr lang="en-US" altLang="en-US" b="1" smtClean="0"/>
              <a:t>Qualifications and Position Requirements</a:t>
            </a:r>
            <a:r>
              <a:rPr lang="en-US" altLang="en-US" smtClean="0"/>
              <a:t> </a:t>
            </a:r>
          </a:p>
          <a:p>
            <a:pPr eaLnBrk="1" hangingPunct="1"/>
            <a:r>
              <a:rPr lang="en-US" altLang="en-US" smtClean="0"/>
              <a:t>The most common qualification expected for this type of position is the Certified Information Systems Security Professional.</a:t>
            </a:r>
          </a:p>
          <a:p>
            <a:pPr eaLnBrk="1" hangingPunct="1"/>
            <a:r>
              <a:rPr lang="en-US" altLang="en-US" smtClean="0"/>
              <a:t>A graduate degree in one of the following areas is also probably required: criminal justice, business, technology, or other related fields.  </a:t>
            </a:r>
          </a:p>
          <a:p>
            <a:pPr eaLnBrk="1" hangingPunct="1"/>
            <a:r>
              <a:rPr lang="en-US" altLang="en-US" smtClean="0"/>
              <a:t>To qualify for this level position, the candidate demonstrates experience as a security manager and presents experience with planning, policy, and budgets.  </a:t>
            </a:r>
          </a:p>
          <a:p>
            <a:pPr eaLnBrk="1" hangingPunct="1"/>
            <a:endParaRPr lang="en-US" altLang="en-US" smtClean="0"/>
          </a:p>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3121963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p:txBody>
          <a:bodyPr/>
          <a:lstStyle/>
          <a:p>
            <a:endParaRPr lang="en-US" altLang="en-US" smtClean="0"/>
          </a:p>
        </p:txBody>
      </p:sp>
      <p:sp>
        <p:nvSpPr>
          <p:cNvPr id="7578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597C12E-530C-455B-A45E-26328C844BD2}" type="slidenum">
              <a:rPr lang="en-US" altLang="en-US"/>
              <a:pPr/>
              <a:t>17</a:t>
            </a:fld>
            <a:endParaRPr lang="en-US" altLang="en-US"/>
          </a:p>
        </p:txBody>
      </p:sp>
    </p:spTree>
    <p:extLst>
      <p:ext uri="{BB962C8B-B14F-4D97-AF65-F5344CB8AC3E}">
        <p14:creationId xmlns:p14="http://schemas.microsoft.com/office/powerpoint/2010/main" val="970318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52EE63B-D05D-4831-973C-7CD5A0AC60B8}" type="slidenum">
              <a:rPr lang="en-US" altLang="en-US"/>
              <a:pPr/>
              <a:t>18</a:t>
            </a:fld>
            <a:endParaRPr lang="en-US" altLang="en-US"/>
          </a:p>
        </p:txBody>
      </p:sp>
      <p:sp>
        <p:nvSpPr>
          <p:cNvPr id="77827"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Security Technician</a:t>
            </a:r>
          </a:p>
          <a:p>
            <a:pPr marL="742950" lvl="1" indent="-285750">
              <a:spcBef>
                <a:spcPct val="20000"/>
              </a:spcBef>
              <a:buFontTx/>
              <a:buChar char="–"/>
              <a:defRPr/>
            </a:pPr>
            <a:r>
              <a:rPr lang="en-US" altLang="en-US" sz="2400" kern="0" dirty="0" smtClean="0">
                <a:solidFill>
                  <a:srgbClr val="222222"/>
                </a:solidFill>
                <a:latin typeface="Arial"/>
              </a:rPr>
              <a:t>Technically qualified employees tasked to configure security hardware and software </a:t>
            </a:r>
          </a:p>
          <a:p>
            <a:pPr marL="742950" lvl="1" indent="-285750">
              <a:spcBef>
                <a:spcPct val="20000"/>
              </a:spcBef>
              <a:buFontTx/>
              <a:buChar char="–"/>
              <a:defRPr/>
            </a:pPr>
            <a:r>
              <a:rPr lang="en-US" altLang="en-US" sz="2400" kern="0" dirty="0" smtClean="0">
                <a:solidFill>
                  <a:srgbClr val="222222"/>
                </a:solidFill>
                <a:latin typeface="Arial"/>
              </a:rPr>
              <a:t>Tend to be specialized</a:t>
            </a:r>
          </a:p>
          <a:p>
            <a:pPr marL="742950" lvl="1" indent="-285750">
              <a:spcBef>
                <a:spcPct val="20000"/>
              </a:spcBef>
              <a:buFontTx/>
              <a:buChar char="–"/>
              <a:defRPr/>
            </a:pPr>
            <a:r>
              <a:rPr lang="en-US" altLang="en-US" sz="2400" kern="0" dirty="0" smtClean="0">
                <a:solidFill>
                  <a:srgbClr val="222222"/>
                </a:solidFill>
                <a:latin typeface="Arial"/>
              </a:rPr>
              <a:t>Typical qualifications:</a:t>
            </a:r>
          </a:p>
          <a:p>
            <a:pPr marL="1143000" lvl="2" indent="-228600">
              <a:spcBef>
                <a:spcPct val="20000"/>
              </a:spcBef>
              <a:buFontTx/>
              <a:buChar char="•"/>
              <a:defRPr/>
            </a:pPr>
            <a:r>
              <a:rPr lang="en-US" altLang="en-US" sz="2200" kern="0" dirty="0" smtClean="0">
                <a:solidFill>
                  <a:srgbClr val="222222"/>
                </a:solidFill>
                <a:latin typeface="Arial"/>
              </a:rPr>
              <a:t>Varied; organizations prefer expert, certified, proficient technician</a:t>
            </a:r>
          </a:p>
          <a:p>
            <a:pPr marL="1143000" lvl="2" indent="-228600">
              <a:spcBef>
                <a:spcPct val="20000"/>
              </a:spcBef>
              <a:buFontTx/>
              <a:buChar char="•"/>
              <a:defRPr/>
            </a:pPr>
            <a:r>
              <a:rPr lang="en-US" altLang="en-US" sz="2200" kern="0" dirty="0" smtClean="0">
                <a:solidFill>
                  <a:srgbClr val="222222"/>
                </a:solidFill>
                <a:latin typeface="Arial"/>
              </a:rPr>
              <a:t>Some experience with a particular hardware and software package</a:t>
            </a:r>
          </a:p>
          <a:p>
            <a:pPr marL="1143000" lvl="2" indent="-228600">
              <a:spcBef>
                <a:spcPct val="20000"/>
              </a:spcBef>
              <a:buFontTx/>
              <a:buChar char="•"/>
              <a:defRPr/>
            </a:pPr>
            <a:r>
              <a:rPr lang="en-US" altLang="en-US" sz="2200" kern="0" dirty="0" smtClean="0">
                <a:solidFill>
                  <a:srgbClr val="222222"/>
                </a:solidFill>
                <a:latin typeface="Arial"/>
              </a:rPr>
              <a:t>Actual experience in using a technology usually required</a:t>
            </a:r>
          </a:p>
        </p:txBody>
      </p:sp>
    </p:spTree>
    <p:extLst>
      <p:ext uri="{BB962C8B-B14F-4D97-AF65-F5344CB8AC3E}">
        <p14:creationId xmlns:p14="http://schemas.microsoft.com/office/powerpoint/2010/main" val="3168803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52EE63B-D05D-4831-973C-7CD5A0AC60B8}" type="slidenum">
              <a:rPr lang="en-US" altLang="en-US"/>
              <a:pPr/>
              <a:t>19</a:t>
            </a:fld>
            <a:endParaRPr lang="en-US" altLang="en-US"/>
          </a:p>
        </p:txBody>
      </p:sp>
      <p:sp>
        <p:nvSpPr>
          <p:cNvPr id="77827"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Security Technician</a:t>
            </a:r>
          </a:p>
          <a:p>
            <a:pPr marL="742950" lvl="1" indent="-285750">
              <a:spcBef>
                <a:spcPct val="20000"/>
              </a:spcBef>
              <a:buFontTx/>
              <a:buChar char="–"/>
              <a:defRPr/>
            </a:pPr>
            <a:r>
              <a:rPr lang="en-US" altLang="en-US" sz="2400" kern="0" dirty="0" smtClean="0">
                <a:solidFill>
                  <a:srgbClr val="222222"/>
                </a:solidFill>
                <a:latin typeface="Arial"/>
              </a:rPr>
              <a:t>Technically qualified employees tasked to configure security hardware and software </a:t>
            </a:r>
          </a:p>
          <a:p>
            <a:pPr marL="742950" lvl="1" indent="-285750">
              <a:spcBef>
                <a:spcPct val="20000"/>
              </a:spcBef>
              <a:buFontTx/>
              <a:buChar char="–"/>
              <a:defRPr/>
            </a:pPr>
            <a:r>
              <a:rPr lang="en-US" altLang="en-US" sz="2400" kern="0" dirty="0" smtClean="0">
                <a:solidFill>
                  <a:srgbClr val="222222"/>
                </a:solidFill>
                <a:latin typeface="Arial"/>
              </a:rPr>
              <a:t>Tend to be specialized</a:t>
            </a:r>
          </a:p>
          <a:p>
            <a:pPr marL="742950" lvl="1" indent="-285750">
              <a:spcBef>
                <a:spcPct val="20000"/>
              </a:spcBef>
              <a:buFontTx/>
              <a:buChar char="–"/>
              <a:defRPr/>
            </a:pPr>
            <a:r>
              <a:rPr lang="en-US" altLang="en-US" sz="2400" kern="0" dirty="0" smtClean="0">
                <a:solidFill>
                  <a:srgbClr val="222222"/>
                </a:solidFill>
                <a:latin typeface="Arial"/>
              </a:rPr>
              <a:t>Typical qualifications:</a:t>
            </a:r>
          </a:p>
          <a:p>
            <a:pPr marL="1143000" lvl="2" indent="-228600">
              <a:spcBef>
                <a:spcPct val="20000"/>
              </a:spcBef>
              <a:buFontTx/>
              <a:buChar char="•"/>
              <a:defRPr/>
            </a:pPr>
            <a:r>
              <a:rPr lang="en-US" altLang="en-US" sz="2200" kern="0" dirty="0" smtClean="0">
                <a:solidFill>
                  <a:srgbClr val="222222"/>
                </a:solidFill>
                <a:latin typeface="Arial"/>
              </a:rPr>
              <a:t>Varied; organizations prefer expert, certified, proficient technician</a:t>
            </a:r>
          </a:p>
          <a:p>
            <a:pPr marL="1143000" lvl="2" indent="-228600">
              <a:spcBef>
                <a:spcPct val="20000"/>
              </a:spcBef>
              <a:buFontTx/>
              <a:buChar char="•"/>
              <a:defRPr/>
            </a:pPr>
            <a:r>
              <a:rPr lang="en-US" altLang="en-US" sz="2200" kern="0" dirty="0" smtClean="0">
                <a:solidFill>
                  <a:srgbClr val="222222"/>
                </a:solidFill>
                <a:latin typeface="Arial"/>
              </a:rPr>
              <a:t>Some experience with a particular hardware and software package</a:t>
            </a:r>
          </a:p>
          <a:p>
            <a:pPr marL="1143000" lvl="2" indent="-228600">
              <a:spcBef>
                <a:spcPct val="20000"/>
              </a:spcBef>
              <a:buFontTx/>
              <a:buChar char="•"/>
              <a:defRPr/>
            </a:pPr>
            <a:r>
              <a:rPr lang="en-US" altLang="en-US" sz="2200" kern="0" dirty="0" smtClean="0">
                <a:solidFill>
                  <a:srgbClr val="222222"/>
                </a:solidFill>
                <a:latin typeface="Arial"/>
              </a:rPr>
              <a:t>Actual experience in using a technology usually required</a:t>
            </a:r>
          </a:p>
        </p:txBody>
      </p:sp>
    </p:spTree>
    <p:extLst>
      <p:ext uri="{BB962C8B-B14F-4D97-AF65-F5344CB8AC3E}">
        <p14:creationId xmlns:p14="http://schemas.microsoft.com/office/powerpoint/2010/main" val="3168803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0FF1F91-D55D-4B40-BD33-94429F20EACD}" type="slidenum">
              <a:rPr lang="en-US" altLang="en-US"/>
              <a:pPr/>
              <a:t>20</a:t>
            </a:fld>
            <a:endParaRPr lang="en-US" altLang="en-US"/>
          </a:p>
        </p:txBody>
      </p:sp>
      <p:sp>
        <p:nvSpPr>
          <p:cNvPr id="78851"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p:txBody>
          <a:bodyPr/>
          <a:lstStyle/>
          <a:p>
            <a:pPr eaLnBrk="1" hangingPunct="1">
              <a:defRPr/>
            </a:pPr>
            <a:r>
              <a:rPr lang="en-US" altLang="en-US" b="1" dirty="0" smtClean="0"/>
              <a:t>Credentials of Information Security Professionals</a:t>
            </a:r>
          </a:p>
          <a:p>
            <a:pPr marL="342900" indent="-342900">
              <a:spcBef>
                <a:spcPct val="20000"/>
              </a:spcBef>
              <a:buFontTx/>
              <a:buChar char="•"/>
              <a:defRPr/>
            </a:pPr>
            <a:r>
              <a:rPr lang="en-US" altLang="en-US" sz="2600" kern="0" dirty="0" smtClean="0">
                <a:solidFill>
                  <a:srgbClr val="222222"/>
                </a:solidFill>
                <a:latin typeface="Arial"/>
              </a:rPr>
              <a:t>Many organizations seek industry-recognized certifications </a:t>
            </a:r>
          </a:p>
          <a:p>
            <a:pPr marL="342900" indent="-342900">
              <a:spcBef>
                <a:spcPct val="20000"/>
              </a:spcBef>
              <a:buFontTx/>
              <a:buChar char="•"/>
              <a:defRPr/>
            </a:pPr>
            <a:r>
              <a:rPr lang="en-US" altLang="en-US" sz="2600" kern="0" dirty="0" smtClean="0">
                <a:solidFill>
                  <a:srgbClr val="222222"/>
                </a:solidFill>
                <a:latin typeface="Arial"/>
              </a:rPr>
              <a:t>Most existing certifications are relatively new and not fully understood by hiring organizations</a:t>
            </a:r>
          </a:p>
          <a:p>
            <a:pPr eaLnBrk="1" hangingPunct="1">
              <a:defRPr/>
            </a:pPr>
            <a:endParaRPr lang="en-US" altLang="en-US" b="1" dirty="0" smtClean="0"/>
          </a:p>
        </p:txBody>
      </p:sp>
    </p:spTree>
    <p:extLst>
      <p:ext uri="{BB962C8B-B14F-4D97-AF65-F5344CB8AC3E}">
        <p14:creationId xmlns:p14="http://schemas.microsoft.com/office/powerpoint/2010/main" val="3689049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Certifications</a:t>
            </a:r>
          </a:p>
          <a:p>
            <a:pPr marL="342900" indent="-342900">
              <a:spcBef>
                <a:spcPct val="20000"/>
              </a:spcBef>
              <a:buFontTx/>
              <a:buChar char="•"/>
              <a:defRPr/>
            </a:pPr>
            <a:r>
              <a:rPr lang="en-US" altLang="en-US" sz="2600" kern="0" dirty="0" smtClean="0">
                <a:solidFill>
                  <a:srgbClr val="222222"/>
                </a:solidFill>
                <a:latin typeface="Arial"/>
              </a:rPr>
              <a:t>(ISC)</a:t>
            </a:r>
            <a:r>
              <a:rPr lang="en-US" altLang="en-US" sz="2600" kern="0" baseline="30000" dirty="0" smtClean="0">
                <a:solidFill>
                  <a:srgbClr val="222222"/>
                </a:solidFill>
                <a:latin typeface="Arial"/>
              </a:rPr>
              <a:t>2</a:t>
            </a:r>
            <a:r>
              <a:rPr lang="en-US" altLang="en-US" sz="2600" kern="0" dirty="0" smtClean="0">
                <a:solidFill>
                  <a:srgbClr val="222222"/>
                </a:solidFill>
                <a:latin typeface="Arial"/>
              </a:rPr>
              <a:t>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Security Professional (CISSP)</a:t>
            </a:r>
          </a:p>
          <a:p>
            <a:pPr marL="742950" lvl="1" indent="-285750">
              <a:spcBef>
                <a:spcPct val="20000"/>
              </a:spcBef>
              <a:buFontTx/>
              <a:buChar char="–"/>
              <a:defRPr/>
            </a:pPr>
            <a:r>
              <a:rPr lang="en-US" altLang="en-US" sz="2150" kern="0" dirty="0" smtClean="0">
                <a:solidFill>
                  <a:srgbClr val="222222"/>
                </a:solidFill>
                <a:latin typeface="Arial"/>
              </a:rPr>
              <a:t>Systems Security Certified Practitioner (SSCP)</a:t>
            </a:r>
          </a:p>
          <a:p>
            <a:pPr marL="742950" lvl="1" indent="-285750">
              <a:spcBef>
                <a:spcPct val="20000"/>
              </a:spcBef>
              <a:buFontTx/>
              <a:buChar char="–"/>
              <a:defRPr/>
            </a:pPr>
            <a:r>
              <a:rPr lang="en-US" altLang="en-US" sz="2150" kern="0" dirty="0" smtClean="0">
                <a:solidFill>
                  <a:srgbClr val="222222"/>
                </a:solidFill>
                <a:latin typeface="Arial"/>
              </a:rPr>
              <a:t>Certified Secure Software Lifecycle Professional (CSSLP)</a:t>
            </a:r>
          </a:p>
          <a:p>
            <a:pPr marL="742950" lvl="1" indent="-285750">
              <a:spcBef>
                <a:spcPct val="20000"/>
              </a:spcBef>
              <a:buFontTx/>
              <a:buChar char="–"/>
              <a:defRPr/>
            </a:pPr>
            <a:r>
              <a:rPr lang="en-US" altLang="en-US" sz="2150" kern="0" dirty="0" smtClean="0">
                <a:solidFill>
                  <a:srgbClr val="222222"/>
                </a:solidFill>
                <a:latin typeface="Arial"/>
              </a:rPr>
              <a:t>Associate of (ISC)</a:t>
            </a:r>
            <a:r>
              <a:rPr lang="en-US" altLang="en-US" sz="2150" kern="0" baseline="30000" dirty="0" smtClean="0">
                <a:solidFill>
                  <a:srgbClr val="222222"/>
                </a:solidFill>
                <a:latin typeface="Arial"/>
              </a:rPr>
              <a:t>2</a:t>
            </a:r>
          </a:p>
          <a:p>
            <a:pPr marL="342900" indent="-342900">
              <a:spcBef>
                <a:spcPct val="20000"/>
              </a:spcBef>
              <a:buFontTx/>
              <a:buChar char="•"/>
              <a:defRPr/>
            </a:pPr>
            <a:r>
              <a:rPr lang="en-US" altLang="en-US" sz="2600" kern="0" dirty="0" smtClean="0">
                <a:solidFill>
                  <a:srgbClr val="222222"/>
                </a:solidFill>
                <a:latin typeface="Arial"/>
              </a:rPr>
              <a:t>ISACA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Manager(CISM)</a:t>
            </a:r>
          </a:p>
          <a:p>
            <a:pPr marL="742950" lvl="1" indent="-285750">
              <a:spcBef>
                <a:spcPct val="20000"/>
              </a:spcBef>
              <a:buFontTx/>
              <a:buChar char="–"/>
              <a:defRPr/>
            </a:pPr>
            <a:r>
              <a:rPr lang="en-US" altLang="en-US" sz="2150" kern="0" dirty="0" smtClean="0">
                <a:solidFill>
                  <a:srgbClr val="222222"/>
                </a:solidFill>
                <a:latin typeface="Arial"/>
              </a:rPr>
              <a:t>Certified Information Security Auditor (CISA)</a:t>
            </a:r>
          </a:p>
          <a:p>
            <a:pPr marL="742950" lvl="1" indent="-285750">
              <a:spcBef>
                <a:spcPct val="20000"/>
              </a:spcBef>
              <a:buFontTx/>
              <a:buChar char="–"/>
              <a:defRPr/>
            </a:pPr>
            <a:r>
              <a:rPr lang="en-US" altLang="en-US" sz="2150" kern="0" dirty="0" smtClean="0">
                <a:solidFill>
                  <a:srgbClr val="222222"/>
                </a:solidFill>
                <a:latin typeface="Arial"/>
              </a:rPr>
              <a:t>Certified in the Governance of Enterprise IT (CGEIT)</a:t>
            </a:r>
          </a:p>
          <a:p>
            <a:pPr marL="742950" lvl="1" indent="-285750">
              <a:spcBef>
                <a:spcPct val="20000"/>
              </a:spcBef>
              <a:buFontTx/>
              <a:buChar char="–"/>
              <a:defRPr/>
            </a:pPr>
            <a:r>
              <a:rPr lang="en-US" altLang="en-US" sz="2150" kern="0" dirty="0" smtClean="0">
                <a:solidFill>
                  <a:srgbClr val="222222"/>
                </a:solidFill>
                <a:latin typeface="Arial"/>
              </a:rPr>
              <a:t>Certified in Risk and Information Systems Control (CRISC)</a:t>
            </a:r>
          </a:p>
          <a:p>
            <a:pPr>
              <a:defRPr/>
            </a:pPr>
            <a:endParaRPr lang="en-US" b="1" dirty="0"/>
          </a:p>
        </p:txBody>
      </p:sp>
      <p:sp>
        <p:nvSpPr>
          <p:cNvPr id="7987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B3826DB-7ED1-4803-978C-C7D66F02E9C3}" type="slidenum">
              <a:rPr lang="en-US" altLang="en-US"/>
              <a:pPr/>
              <a:t>21</a:t>
            </a:fld>
            <a:endParaRPr lang="en-US" altLang="en-US"/>
          </a:p>
        </p:txBody>
      </p:sp>
    </p:spTree>
    <p:extLst>
      <p:ext uri="{BB962C8B-B14F-4D97-AF65-F5344CB8AC3E}">
        <p14:creationId xmlns:p14="http://schemas.microsoft.com/office/powerpoint/2010/main" val="6625657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Certifications</a:t>
            </a:r>
          </a:p>
          <a:p>
            <a:pPr marL="342900" indent="-342900">
              <a:spcBef>
                <a:spcPct val="20000"/>
              </a:spcBef>
              <a:buFontTx/>
              <a:buChar char="•"/>
              <a:defRPr/>
            </a:pPr>
            <a:r>
              <a:rPr lang="en-US" altLang="en-US" sz="2600" kern="0" dirty="0" smtClean="0">
                <a:solidFill>
                  <a:srgbClr val="222222"/>
                </a:solidFill>
                <a:latin typeface="Arial"/>
              </a:rPr>
              <a:t>(ISC)</a:t>
            </a:r>
            <a:r>
              <a:rPr lang="en-US" altLang="en-US" sz="2600" kern="0" baseline="30000" dirty="0" smtClean="0">
                <a:solidFill>
                  <a:srgbClr val="222222"/>
                </a:solidFill>
                <a:latin typeface="Arial"/>
              </a:rPr>
              <a:t>2</a:t>
            </a:r>
            <a:r>
              <a:rPr lang="en-US" altLang="en-US" sz="2600" kern="0" dirty="0" smtClean="0">
                <a:solidFill>
                  <a:srgbClr val="222222"/>
                </a:solidFill>
                <a:latin typeface="Arial"/>
              </a:rPr>
              <a:t>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Security Professional (CISSP)</a:t>
            </a:r>
          </a:p>
          <a:p>
            <a:pPr marL="742950" lvl="1" indent="-285750">
              <a:spcBef>
                <a:spcPct val="20000"/>
              </a:spcBef>
              <a:buFontTx/>
              <a:buChar char="–"/>
              <a:defRPr/>
            </a:pPr>
            <a:r>
              <a:rPr lang="en-US" altLang="en-US" sz="2150" kern="0" dirty="0" smtClean="0">
                <a:solidFill>
                  <a:srgbClr val="222222"/>
                </a:solidFill>
                <a:latin typeface="Arial"/>
              </a:rPr>
              <a:t>Systems Security Certified Practitioner (SSCP)</a:t>
            </a:r>
          </a:p>
          <a:p>
            <a:pPr marL="742950" lvl="1" indent="-285750">
              <a:spcBef>
                <a:spcPct val="20000"/>
              </a:spcBef>
              <a:buFontTx/>
              <a:buChar char="–"/>
              <a:defRPr/>
            </a:pPr>
            <a:r>
              <a:rPr lang="en-US" altLang="en-US" sz="2150" kern="0" dirty="0" smtClean="0">
                <a:solidFill>
                  <a:srgbClr val="222222"/>
                </a:solidFill>
                <a:latin typeface="Arial"/>
              </a:rPr>
              <a:t>Certified Secure Software Lifecycle Professional (CSSLP)</a:t>
            </a:r>
          </a:p>
          <a:p>
            <a:pPr marL="742950" lvl="1" indent="-285750">
              <a:spcBef>
                <a:spcPct val="20000"/>
              </a:spcBef>
              <a:buFontTx/>
              <a:buChar char="–"/>
              <a:defRPr/>
            </a:pPr>
            <a:r>
              <a:rPr lang="en-US" altLang="en-US" sz="2150" kern="0" dirty="0" smtClean="0">
                <a:solidFill>
                  <a:srgbClr val="222222"/>
                </a:solidFill>
                <a:latin typeface="Arial"/>
              </a:rPr>
              <a:t>Associate of (ISC)</a:t>
            </a:r>
            <a:r>
              <a:rPr lang="en-US" altLang="en-US" sz="2150" kern="0" baseline="30000" dirty="0" smtClean="0">
                <a:solidFill>
                  <a:srgbClr val="222222"/>
                </a:solidFill>
                <a:latin typeface="Arial"/>
              </a:rPr>
              <a:t>2</a:t>
            </a:r>
          </a:p>
          <a:p>
            <a:pPr marL="342900" indent="-342900">
              <a:spcBef>
                <a:spcPct val="20000"/>
              </a:spcBef>
              <a:buFontTx/>
              <a:buChar char="•"/>
              <a:defRPr/>
            </a:pPr>
            <a:r>
              <a:rPr lang="en-US" altLang="en-US" sz="2600" kern="0" dirty="0" smtClean="0">
                <a:solidFill>
                  <a:srgbClr val="222222"/>
                </a:solidFill>
                <a:latin typeface="Arial"/>
              </a:rPr>
              <a:t>ISACA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Manager(CISM)</a:t>
            </a:r>
          </a:p>
          <a:p>
            <a:pPr marL="742950" lvl="1" indent="-285750">
              <a:spcBef>
                <a:spcPct val="20000"/>
              </a:spcBef>
              <a:buFontTx/>
              <a:buChar char="–"/>
              <a:defRPr/>
            </a:pPr>
            <a:r>
              <a:rPr lang="en-US" altLang="en-US" sz="2150" kern="0" dirty="0" smtClean="0">
                <a:solidFill>
                  <a:srgbClr val="222222"/>
                </a:solidFill>
                <a:latin typeface="Arial"/>
              </a:rPr>
              <a:t>Certified Information Security Auditor (CISA)</a:t>
            </a:r>
          </a:p>
          <a:p>
            <a:pPr marL="742950" lvl="1" indent="-285750">
              <a:spcBef>
                <a:spcPct val="20000"/>
              </a:spcBef>
              <a:buFontTx/>
              <a:buChar char="–"/>
              <a:defRPr/>
            </a:pPr>
            <a:r>
              <a:rPr lang="en-US" altLang="en-US" sz="2150" kern="0" dirty="0" smtClean="0">
                <a:solidFill>
                  <a:srgbClr val="222222"/>
                </a:solidFill>
                <a:latin typeface="Arial"/>
              </a:rPr>
              <a:t>Certified in the Governance of Enterprise IT (CGEIT)</a:t>
            </a:r>
          </a:p>
          <a:p>
            <a:pPr marL="742950" lvl="1" indent="-285750">
              <a:spcBef>
                <a:spcPct val="20000"/>
              </a:spcBef>
              <a:buFontTx/>
              <a:buChar char="–"/>
              <a:defRPr/>
            </a:pPr>
            <a:r>
              <a:rPr lang="en-US" altLang="en-US" sz="2150" kern="0" dirty="0" smtClean="0">
                <a:solidFill>
                  <a:srgbClr val="222222"/>
                </a:solidFill>
                <a:latin typeface="Arial"/>
              </a:rPr>
              <a:t>Certified in Risk and Information Systems Control (CRISC)</a:t>
            </a:r>
          </a:p>
          <a:p>
            <a:pPr>
              <a:defRPr/>
            </a:pPr>
            <a:endParaRPr lang="en-US" b="1" dirty="0"/>
          </a:p>
        </p:txBody>
      </p:sp>
      <p:sp>
        <p:nvSpPr>
          <p:cNvPr id="7987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B3826DB-7ED1-4803-978C-C7D66F02E9C3}" type="slidenum">
              <a:rPr lang="en-US" altLang="en-US"/>
              <a:pPr/>
              <a:t>22</a:t>
            </a:fld>
            <a:endParaRPr lang="en-US" altLang="en-US"/>
          </a:p>
        </p:txBody>
      </p:sp>
    </p:spTree>
    <p:extLst>
      <p:ext uri="{BB962C8B-B14F-4D97-AF65-F5344CB8AC3E}">
        <p14:creationId xmlns:p14="http://schemas.microsoft.com/office/powerpoint/2010/main" val="662565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Certifications</a:t>
            </a:r>
          </a:p>
          <a:p>
            <a:pPr marL="342900" indent="-342900">
              <a:spcBef>
                <a:spcPct val="20000"/>
              </a:spcBef>
              <a:buFontTx/>
              <a:buChar char="•"/>
              <a:defRPr/>
            </a:pPr>
            <a:r>
              <a:rPr lang="en-US" altLang="en-US" sz="2600" kern="0" dirty="0" smtClean="0">
                <a:solidFill>
                  <a:srgbClr val="222222"/>
                </a:solidFill>
                <a:latin typeface="Arial"/>
              </a:rPr>
              <a:t>(ISC)</a:t>
            </a:r>
            <a:r>
              <a:rPr lang="en-US" altLang="en-US" sz="2600" kern="0" baseline="30000" dirty="0" smtClean="0">
                <a:solidFill>
                  <a:srgbClr val="222222"/>
                </a:solidFill>
                <a:latin typeface="Arial"/>
              </a:rPr>
              <a:t>2</a:t>
            </a:r>
            <a:r>
              <a:rPr lang="en-US" altLang="en-US" sz="2600" kern="0" dirty="0" smtClean="0">
                <a:solidFill>
                  <a:srgbClr val="222222"/>
                </a:solidFill>
                <a:latin typeface="Arial"/>
              </a:rPr>
              <a:t>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Security Professional (CISSP)</a:t>
            </a:r>
          </a:p>
          <a:p>
            <a:pPr marL="742950" lvl="1" indent="-285750">
              <a:spcBef>
                <a:spcPct val="20000"/>
              </a:spcBef>
              <a:buFontTx/>
              <a:buChar char="–"/>
              <a:defRPr/>
            </a:pPr>
            <a:r>
              <a:rPr lang="en-US" altLang="en-US" sz="2150" kern="0" dirty="0" smtClean="0">
                <a:solidFill>
                  <a:srgbClr val="222222"/>
                </a:solidFill>
                <a:latin typeface="Arial"/>
              </a:rPr>
              <a:t>Systems Security Certified Practitioner (SSCP)</a:t>
            </a:r>
          </a:p>
          <a:p>
            <a:pPr marL="742950" lvl="1" indent="-285750">
              <a:spcBef>
                <a:spcPct val="20000"/>
              </a:spcBef>
              <a:buFontTx/>
              <a:buChar char="–"/>
              <a:defRPr/>
            </a:pPr>
            <a:r>
              <a:rPr lang="en-US" altLang="en-US" sz="2150" kern="0" dirty="0" smtClean="0">
                <a:solidFill>
                  <a:srgbClr val="222222"/>
                </a:solidFill>
                <a:latin typeface="Arial"/>
              </a:rPr>
              <a:t>Certified Secure Software Lifecycle Professional (CSSLP)</a:t>
            </a:r>
          </a:p>
          <a:p>
            <a:pPr marL="742950" lvl="1" indent="-285750">
              <a:spcBef>
                <a:spcPct val="20000"/>
              </a:spcBef>
              <a:buFontTx/>
              <a:buChar char="–"/>
              <a:defRPr/>
            </a:pPr>
            <a:r>
              <a:rPr lang="en-US" altLang="en-US" sz="2150" kern="0" dirty="0" smtClean="0">
                <a:solidFill>
                  <a:srgbClr val="222222"/>
                </a:solidFill>
                <a:latin typeface="Arial"/>
              </a:rPr>
              <a:t>Associate of (ISC)</a:t>
            </a:r>
            <a:r>
              <a:rPr lang="en-US" altLang="en-US" sz="2150" kern="0" baseline="30000" dirty="0" smtClean="0">
                <a:solidFill>
                  <a:srgbClr val="222222"/>
                </a:solidFill>
                <a:latin typeface="Arial"/>
              </a:rPr>
              <a:t>2</a:t>
            </a:r>
          </a:p>
          <a:p>
            <a:pPr marL="342900" indent="-342900">
              <a:spcBef>
                <a:spcPct val="20000"/>
              </a:spcBef>
              <a:buFontTx/>
              <a:buChar char="•"/>
              <a:defRPr/>
            </a:pPr>
            <a:r>
              <a:rPr lang="en-US" altLang="en-US" sz="2600" kern="0" dirty="0" smtClean="0">
                <a:solidFill>
                  <a:srgbClr val="222222"/>
                </a:solidFill>
                <a:latin typeface="Arial"/>
              </a:rPr>
              <a:t>ISACA Certifications</a:t>
            </a:r>
          </a:p>
          <a:p>
            <a:pPr marL="742950" lvl="1" indent="-285750">
              <a:spcBef>
                <a:spcPct val="20000"/>
              </a:spcBef>
              <a:buFontTx/>
              <a:buChar char="–"/>
              <a:defRPr/>
            </a:pPr>
            <a:r>
              <a:rPr lang="en-US" altLang="en-US" sz="2150" kern="0" dirty="0" smtClean="0">
                <a:solidFill>
                  <a:srgbClr val="222222"/>
                </a:solidFill>
                <a:latin typeface="Arial"/>
              </a:rPr>
              <a:t>Certified Information Systems Manager(CISM)</a:t>
            </a:r>
          </a:p>
          <a:p>
            <a:pPr marL="742950" lvl="1" indent="-285750">
              <a:spcBef>
                <a:spcPct val="20000"/>
              </a:spcBef>
              <a:buFontTx/>
              <a:buChar char="–"/>
              <a:defRPr/>
            </a:pPr>
            <a:r>
              <a:rPr lang="en-US" altLang="en-US" sz="2150" kern="0" dirty="0" smtClean="0">
                <a:solidFill>
                  <a:srgbClr val="222222"/>
                </a:solidFill>
                <a:latin typeface="Arial"/>
              </a:rPr>
              <a:t>Certified Information Security Auditor (CISA)</a:t>
            </a:r>
          </a:p>
          <a:p>
            <a:pPr marL="742950" lvl="1" indent="-285750">
              <a:spcBef>
                <a:spcPct val="20000"/>
              </a:spcBef>
              <a:buFontTx/>
              <a:buChar char="–"/>
              <a:defRPr/>
            </a:pPr>
            <a:r>
              <a:rPr lang="en-US" altLang="en-US" sz="2150" kern="0" dirty="0" smtClean="0">
                <a:solidFill>
                  <a:srgbClr val="222222"/>
                </a:solidFill>
                <a:latin typeface="Arial"/>
              </a:rPr>
              <a:t>Certified in the Governance of Enterprise IT (CGEIT)</a:t>
            </a:r>
          </a:p>
          <a:p>
            <a:pPr marL="742950" lvl="1" indent="-285750">
              <a:spcBef>
                <a:spcPct val="20000"/>
              </a:spcBef>
              <a:buFontTx/>
              <a:buChar char="–"/>
              <a:defRPr/>
            </a:pPr>
            <a:r>
              <a:rPr lang="en-US" altLang="en-US" sz="2150" kern="0" dirty="0" smtClean="0">
                <a:solidFill>
                  <a:srgbClr val="222222"/>
                </a:solidFill>
                <a:latin typeface="Arial"/>
              </a:rPr>
              <a:t>Certified in Risk and Information Systems Control (CRISC)</a:t>
            </a:r>
          </a:p>
          <a:p>
            <a:pPr>
              <a:defRPr/>
            </a:pPr>
            <a:endParaRPr lang="en-US" b="1" dirty="0"/>
          </a:p>
        </p:txBody>
      </p:sp>
      <p:sp>
        <p:nvSpPr>
          <p:cNvPr id="7987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B3826DB-7ED1-4803-978C-C7D66F02E9C3}" type="slidenum">
              <a:rPr lang="en-US" altLang="en-US"/>
              <a:pPr/>
              <a:t>23</a:t>
            </a:fld>
            <a:endParaRPr lang="en-US" altLang="en-US"/>
          </a:p>
        </p:txBody>
      </p:sp>
    </p:spTree>
    <p:extLst>
      <p:ext uri="{BB962C8B-B14F-4D97-AF65-F5344CB8AC3E}">
        <p14:creationId xmlns:p14="http://schemas.microsoft.com/office/powerpoint/2010/main" val="879293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b="1" dirty="0" smtClean="0"/>
              <a:t>Certifications</a:t>
            </a:r>
          </a:p>
          <a:p>
            <a:pPr marL="342900" indent="-342900">
              <a:spcBef>
                <a:spcPct val="20000"/>
              </a:spcBef>
              <a:buFontTx/>
              <a:buChar char="•"/>
              <a:defRPr/>
            </a:pPr>
            <a:r>
              <a:rPr lang="fr-FR" altLang="en-US" sz="2600" kern="0" dirty="0" smtClean="0">
                <a:solidFill>
                  <a:srgbClr val="222222"/>
                </a:solidFill>
                <a:latin typeface="Arial"/>
              </a:rPr>
              <a:t>SANS Global Information Assurance Certification (GIAC)</a:t>
            </a:r>
          </a:p>
          <a:p>
            <a:pPr marL="342900" indent="-342900">
              <a:spcBef>
                <a:spcPct val="20000"/>
              </a:spcBef>
              <a:buFontTx/>
              <a:buChar char="•"/>
              <a:defRPr/>
            </a:pPr>
            <a:r>
              <a:rPr lang="en-US" altLang="en-US" sz="2600" kern="0" dirty="0" smtClean="0">
                <a:solidFill>
                  <a:srgbClr val="222222"/>
                </a:solidFill>
                <a:latin typeface="Arial"/>
              </a:rPr>
              <a:t>EC Council Certified CISO (ClCISO)</a:t>
            </a:r>
          </a:p>
          <a:p>
            <a:pPr marL="342900" indent="-342900">
              <a:spcBef>
                <a:spcPct val="20000"/>
              </a:spcBef>
              <a:buFontTx/>
              <a:buChar char="•"/>
              <a:defRPr/>
            </a:pPr>
            <a:r>
              <a:rPr lang="en-US" altLang="en-US" sz="2600" kern="0" dirty="0" smtClean="0">
                <a:solidFill>
                  <a:srgbClr val="222222"/>
                </a:solidFill>
                <a:latin typeface="Arial"/>
              </a:rPr>
              <a:t>CompTIA’s Security+</a:t>
            </a:r>
          </a:p>
          <a:p>
            <a:pPr marL="342900" indent="-342900">
              <a:spcBef>
                <a:spcPct val="20000"/>
              </a:spcBef>
              <a:buFontTx/>
              <a:buChar char="•"/>
              <a:defRPr/>
            </a:pPr>
            <a:r>
              <a:rPr lang="en-US" altLang="en-US" sz="2600" kern="0" dirty="0" smtClean="0">
                <a:solidFill>
                  <a:srgbClr val="222222"/>
                </a:solidFill>
                <a:latin typeface="Arial"/>
              </a:rPr>
              <a:t>Certified Computer Examiner (CCE)</a:t>
            </a:r>
          </a:p>
          <a:p>
            <a:pPr>
              <a:defRPr/>
            </a:pPr>
            <a:endParaRPr lang="en-US" b="1" dirty="0"/>
          </a:p>
        </p:txBody>
      </p:sp>
      <p:sp>
        <p:nvSpPr>
          <p:cNvPr id="8090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0979110-8D7F-4E4B-AB44-8924BDB55658}" type="slidenum">
              <a:rPr lang="en-US" altLang="en-US"/>
              <a:pPr/>
              <a:t>24</a:t>
            </a:fld>
            <a:endParaRPr lang="en-US" altLang="en-US"/>
          </a:p>
        </p:txBody>
      </p:sp>
    </p:spTree>
    <p:extLst>
      <p:ext uri="{BB962C8B-B14F-4D97-AF65-F5344CB8AC3E}">
        <p14:creationId xmlns:p14="http://schemas.microsoft.com/office/powerpoint/2010/main" val="4214699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FF5C2C1-4992-4489-AD07-BD1CAD22E6C2}" type="slidenum">
              <a:rPr lang="en-US" altLang="en-US"/>
              <a:pPr/>
              <a:t>25</a:t>
            </a:fld>
            <a:endParaRPr lang="en-US" altLang="en-US"/>
          </a:p>
        </p:txBody>
      </p:sp>
      <p:sp>
        <p:nvSpPr>
          <p:cNvPr id="8192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Certification Costs</a:t>
            </a:r>
          </a:p>
          <a:p>
            <a:pPr marL="342900" indent="-342900">
              <a:spcBef>
                <a:spcPct val="20000"/>
              </a:spcBef>
              <a:buFontTx/>
              <a:buChar char="•"/>
              <a:defRPr/>
            </a:pPr>
            <a:r>
              <a:rPr lang="en-US" altLang="en-US" sz="2600" kern="0" dirty="0" smtClean="0">
                <a:solidFill>
                  <a:srgbClr val="222222"/>
                </a:solidFill>
                <a:latin typeface="Arial"/>
              </a:rPr>
              <a:t>More preferred certifications can be expensive</a:t>
            </a:r>
          </a:p>
          <a:p>
            <a:pPr marL="342900" indent="-342900">
              <a:spcBef>
                <a:spcPct val="20000"/>
              </a:spcBef>
              <a:buFontTx/>
              <a:buChar char="•"/>
              <a:defRPr/>
            </a:pPr>
            <a:r>
              <a:rPr lang="en-US" altLang="en-US" sz="2600" kern="0" dirty="0" smtClean="0">
                <a:solidFill>
                  <a:srgbClr val="222222"/>
                </a:solidFill>
                <a:latin typeface="Arial"/>
              </a:rPr>
              <a:t>Even experienced professionals find exams difficult without some review</a:t>
            </a:r>
          </a:p>
          <a:p>
            <a:pPr marL="342900" indent="-342900">
              <a:spcBef>
                <a:spcPct val="20000"/>
              </a:spcBef>
              <a:buFontTx/>
              <a:buChar char="•"/>
              <a:defRPr/>
            </a:pPr>
            <a:r>
              <a:rPr lang="en-US" altLang="en-US" sz="2600" kern="0" dirty="0" smtClean="0">
                <a:solidFill>
                  <a:srgbClr val="222222"/>
                </a:solidFill>
                <a:latin typeface="Arial"/>
              </a:rPr>
              <a:t>Many candidates engage in individual or group study sessions and purchase exam review books</a:t>
            </a:r>
          </a:p>
          <a:p>
            <a:pPr marL="342900" indent="-342900">
              <a:spcBef>
                <a:spcPct val="20000"/>
              </a:spcBef>
              <a:buFontTx/>
              <a:buChar char="•"/>
              <a:defRPr/>
            </a:pPr>
            <a:r>
              <a:rPr lang="en-US" altLang="en-US" sz="2600" kern="0" dirty="0" smtClean="0">
                <a:solidFill>
                  <a:srgbClr val="222222"/>
                </a:solidFill>
                <a:latin typeface="Arial"/>
              </a:rPr>
              <a:t>Before attempting a certification exam, do all homework and review exam criteria, its purpose, and requirements to ensure that the time and energy spent pursuing certification are worthwhile</a:t>
            </a:r>
          </a:p>
        </p:txBody>
      </p:sp>
    </p:spTree>
    <p:extLst>
      <p:ext uri="{BB962C8B-B14F-4D97-AF65-F5344CB8AC3E}">
        <p14:creationId xmlns:p14="http://schemas.microsoft.com/office/powerpoint/2010/main" val="832689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p:txBody>
          <a:bodyPr/>
          <a:lstStyle/>
          <a:p>
            <a:endParaRPr lang="en-US" altLang="en-US" dirty="0" smtClean="0"/>
          </a:p>
        </p:txBody>
      </p:sp>
      <p:sp>
        <p:nvSpPr>
          <p:cNvPr id="8294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4129D41-B2D3-414F-9946-34C108C15FD8}" type="slidenum">
              <a:rPr lang="en-US" altLang="en-US"/>
              <a:pPr/>
              <a:t>26</a:t>
            </a:fld>
            <a:endParaRPr lang="en-US" altLang="en-US"/>
          </a:p>
        </p:txBody>
      </p:sp>
    </p:spTree>
    <p:extLst>
      <p:ext uri="{BB962C8B-B14F-4D97-AF65-F5344CB8AC3E}">
        <p14:creationId xmlns:p14="http://schemas.microsoft.com/office/powerpoint/2010/main" val="3258105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D960723-5FC2-47F3-9341-CE1C33ACDD73}" type="slidenum">
              <a:rPr lang="en-US" altLang="en-US"/>
              <a:pPr/>
              <a:t>27</a:t>
            </a:fld>
            <a:endParaRPr lang="en-US" altLang="en-US"/>
          </a:p>
        </p:txBody>
      </p:sp>
      <p:sp>
        <p:nvSpPr>
          <p:cNvPr id="8397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Advice for Information Security Professionals</a:t>
            </a:r>
          </a:p>
          <a:p>
            <a:pPr marL="342900" indent="-342900">
              <a:spcBef>
                <a:spcPct val="20000"/>
              </a:spcBef>
              <a:buFontTx/>
              <a:buChar char="•"/>
              <a:defRPr/>
            </a:pPr>
            <a:r>
              <a:rPr lang="en-US" altLang="en-US" sz="2600" kern="0" dirty="0" smtClean="0">
                <a:solidFill>
                  <a:srgbClr val="222222"/>
                </a:solidFill>
                <a:latin typeface="Arial"/>
              </a:rPr>
              <a:t>Always remember: business before technology </a:t>
            </a:r>
          </a:p>
          <a:p>
            <a:pPr marL="342900" indent="-342900">
              <a:spcBef>
                <a:spcPct val="20000"/>
              </a:spcBef>
              <a:buFontTx/>
              <a:buChar char="•"/>
              <a:defRPr/>
            </a:pPr>
            <a:r>
              <a:rPr lang="en-US" altLang="en-US" sz="2600" kern="0" dirty="0" smtClean="0">
                <a:solidFill>
                  <a:srgbClr val="222222"/>
                </a:solidFill>
                <a:latin typeface="Arial"/>
              </a:rPr>
              <a:t>Technology provides elegant solutions for some problems, but only exacerbates others</a:t>
            </a:r>
          </a:p>
          <a:p>
            <a:pPr marL="342900" indent="-342900">
              <a:spcBef>
                <a:spcPct val="20000"/>
              </a:spcBef>
              <a:buFontTx/>
              <a:buChar char="•"/>
              <a:defRPr/>
            </a:pPr>
            <a:r>
              <a:rPr lang="en-US" altLang="en-US" sz="2600" kern="0" dirty="0" smtClean="0">
                <a:solidFill>
                  <a:srgbClr val="222222"/>
                </a:solidFill>
                <a:latin typeface="Arial"/>
              </a:rPr>
              <a:t>Never lose sight of goal: protection</a:t>
            </a:r>
          </a:p>
          <a:p>
            <a:pPr marL="342900" indent="-342900">
              <a:spcBef>
                <a:spcPct val="20000"/>
              </a:spcBef>
              <a:buFontTx/>
              <a:buChar char="•"/>
              <a:defRPr/>
            </a:pPr>
            <a:r>
              <a:rPr lang="en-US" altLang="en-US" sz="2600" kern="0" dirty="0" smtClean="0">
                <a:solidFill>
                  <a:srgbClr val="222222"/>
                </a:solidFill>
                <a:latin typeface="Arial"/>
              </a:rPr>
              <a:t>Be heard and not seen</a:t>
            </a:r>
          </a:p>
          <a:p>
            <a:pPr marL="342900" indent="-342900">
              <a:spcBef>
                <a:spcPct val="20000"/>
              </a:spcBef>
              <a:buFontTx/>
              <a:buChar char="•"/>
              <a:defRPr/>
            </a:pPr>
            <a:r>
              <a:rPr lang="en-US" altLang="en-US" sz="2600" kern="0" dirty="0" smtClean="0">
                <a:solidFill>
                  <a:srgbClr val="222222"/>
                </a:solidFill>
                <a:latin typeface="Arial"/>
              </a:rPr>
              <a:t>Know more than you say; be more skillful than you let on </a:t>
            </a:r>
          </a:p>
          <a:p>
            <a:pPr marL="342900" indent="-342900">
              <a:spcBef>
                <a:spcPct val="20000"/>
              </a:spcBef>
              <a:buFontTx/>
              <a:buChar char="•"/>
              <a:defRPr/>
            </a:pPr>
            <a:r>
              <a:rPr lang="en-US" altLang="en-US" sz="2600" kern="0" dirty="0" smtClean="0">
                <a:solidFill>
                  <a:srgbClr val="222222"/>
                </a:solidFill>
                <a:latin typeface="Arial"/>
              </a:rPr>
              <a:t>Speak to users, not at them</a:t>
            </a:r>
          </a:p>
          <a:p>
            <a:pPr marL="342900" indent="-342900">
              <a:spcBef>
                <a:spcPct val="20000"/>
              </a:spcBef>
              <a:buFontTx/>
              <a:buChar char="•"/>
              <a:defRPr/>
            </a:pPr>
            <a:r>
              <a:rPr lang="en-US" altLang="en-US" sz="2600" kern="0" dirty="0" smtClean="0">
                <a:solidFill>
                  <a:srgbClr val="222222"/>
                </a:solidFill>
                <a:latin typeface="Arial"/>
              </a:rPr>
              <a:t>Your education is never complete</a:t>
            </a:r>
          </a:p>
        </p:txBody>
      </p:sp>
    </p:spTree>
    <p:extLst>
      <p:ext uri="{BB962C8B-B14F-4D97-AF65-F5344CB8AC3E}">
        <p14:creationId xmlns:p14="http://schemas.microsoft.com/office/powerpoint/2010/main" val="11887462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CF09AB2-E21A-4E2A-8D10-03635A93944C}" type="slidenum">
              <a:rPr lang="en-US" altLang="en-US"/>
              <a:pPr/>
              <a:t>28</a:t>
            </a:fld>
            <a:endParaRPr lang="en-US" altLang="en-US"/>
          </a:p>
        </p:txBody>
      </p:sp>
      <p:sp>
        <p:nvSpPr>
          <p:cNvPr id="8499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p:txBody>
          <a:bodyPr>
            <a:normAutofit lnSpcReduction="10000"/>
          </a:bodyPr>
          <a:lstStyle/>
          <a:p>
            <a:pPr eaLnBrk="1" hangingPunct="1">
              <a:defRPr/>
            </a:pPr>
            <a:r>
              <a:rPr lang="en-US" altLang="en-US" b="1" dirty="0" smtClean="0"/>
              <a:t>Employment Policies and Practices</a:t>
            </a:r>
          </a:p>
          <a:p>
            <a:pPr marL="342900" indent="-342900">
              <a:spcBef>
                <a:spcPct val="20000"/>
              </a:spcBef>
              <a:buFontTx/>
              <a:buChar char="•"/>
              <a:defRPr/>
            </a:pPr>
            <a:r>
              <a:rPr lang="en-US" altLang="en-US" sz="2600" kern="0" dirty="0" smtClean="0">
                <a:solidFill>
                  <a:srgbClr val="222222"/>
                </a:solidFill>
                <a:latin typeface="Arial"/>
              </a:rPr>
              <a:t>Organization should make information security a documented part of every employee’s job description </a:t>
            </a:r>
          </a:p>
          <a:p>
            <a:pPr marL="342900" indent="-342900">
              <a:spcBef>
                <a:spcPct val="20000"/>
              </a:spcBef>
              <a:buFontTx/>
              <a:buChar char="•"/>
              <a:defRPr/>
            </a:pPr>
            <a:r>
              <a:rPr lang="en-US" altLang="en-US" sz="2600" kern="0" dirty="0" smtClean="0">
                <a:solidFill>
                  <a:srgbClr val="222222"/>
                </a:solidFill>
                <a:latin typeface="Arial"/>
              </a:rPr>
              <a:t>Management community of interest should integrate solid information solid concepts for information security into organization’s employment policies and practices</a:t>
            </a:r>
          </a:p>
        </p:txBody>
      </p:sp>
    </p:spTree>
    <p:extLst>
      <p:ext uri="{BB962C8B-B14F-4D97-AF65-F5344CB8AC3E}">
        <p14:creationId xmlns:p14="http://schemas.microsoft.com/office/powerpoint/2010/main" val="3497828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02EF63F-AF5D-4E1C-8B7D-0A03DC27A8E5}" type="slidenum">
              <a:rPr lang="en-US" altLang="en-US"/>
              <a:pPr/>
              <a:t>29</a:t>
            </a:fld>
            <a:endParaRPr lang="en-US" altLang="en-US"/>
          </a:p>
        </p:txBody>
      </p:sp>
      <p:sp>
        <p:nvSpPr>
          <p:cNvPr id="87043"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p:txBody>
          <a:bodyPr/>
          <a:lstStyle/>
          <a:p>
            <a:pPr eaLnBrk="1" hangingPunct="1">
              <a:defRPr/>
            </a:pPr>
            <a:r>
              <a:rPr lang="en-US" altLang="en-US" b="1" dirty="0" smtClean="0"/>
              <a:t>Job Descriptions</a:t>
            </a:r>
          </a:p>
          <a:p>
            <a:pPr marL="342900" indent="-342900">
              <a:spcBef>
                <a:spcPct val="20000"/>
              </a:spcBef>
              <a:buFontTx/>
              <a:buChar char="•"/>
              <a:defRPr/>
            </a:pPr>
            <a:r>
              <a:rPr lang="en-US" altLang="en-US" sz="2600" kern="0" dirty="0" smtClean="0">
                <a:solidFill>
                  <a:srgbClr val="222222"/>
                </a:solidFill>
                <a:latin typeface="Arial"/>
              </a:rPr>
              <a:t>Integrating information security perspectives into hiring process begins with reviewing and updating all job descriptions</a:t>
            </a:r>
          </a:p>
          <a:p>
            <a:pPr marL="342900" indent="-342900">
              <a:spcBef>
                <a:spcPct val="20000"/>
              </a:spcBef>
              <a:buFontTx/>
              <a:buChar char="•"/>
              <a:defRPr/>
            </a:pPr>
            <a:r>
              <a:rPr lang="en-US" altLang="en-US" sz="2600" kern="0" dirty="0" smtClean="0">
                <a:solidFill>
                  <a:srgbClr val="222222"/>
                </a:solidFill>
                <a:latin typeface="Arial"/>
              </a:rPr>
              <a:t>Organization should avoid revealing access privileges to prospective employees when advertising open positions</a:t>
            </a:r>
          </a:p>
        </p:txBody>
      </p:sp>
    </p:spTree>
    <p:extLst>
      <p:ext uri="{BB962C8B-B14F-4D97-AF65-F5344CB8AC3E}">
        <p14:creationId xmlns:p14="http://schemas.microsoft.com/office/powerpoint/2010/main" val="193344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3467B52-A117-4F42-A12D-C765A43C317B}" type="slidenum">
              <a:rPr lang="en-US" altLang="en-US"/>
              <a:pPr/>
              <a:t>30</a:t>
            </a:fld>
            <a:endParaRPr lang="en-US" altLang="en-US"/>
          </a:p>
        </p:txBody>
      </p:sp>
      <p:sp>
        <p:nvSpPr>
          <p:cNvPr id="88067"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Interviews</a:t>
            </a:r>
          </a:p>
          <a:p>
            <a:pPr marL="342900" indent="-342900">
              <a:spcBef>
                <a:spcPct val="20000"/>
              </a:spcBef>
              <a:buFontTx/>
              <a:buChar char="•"/>
              <a:defRPr/>
            </a:pPr>
            <a:r>
              <a:rPr lang="en-US" altLang="en-US" sz="2600" kern="0" dirty="0" smtClean="0">
                <a:solidFill>
                  <a:srgbClr val="222222"/>
                </a:solidFill>
                <a:latin typeface="Arial"/>
              </a:rPr>
              <a:t>An opening within the information security department creates a unique opportunity for the security manager to educate HR on certifications, experience, and qualifications of a good candidate</a:t>
            </a:r>
          </a:p>
          <a:p>
            <a:pPr marL="342900" indent="-342900">
              <a:spcBef>
                <a:spcPct val="20000"/>
              </a:spcBef>
              <a:buFontTx/>
              <a:buChar char="•"/>
              <a:defRPr/>
            </a:pPr>
            <a:r>
              <a:rPr lang="en-US" altLang="en-US" sz="2600" kern="0" dirty="0" smtClean="0">
                <a:solidFill>
                  <a:srgbClr val="222222"/>
                </a:solidFill>
                <a:latin typeface="Arial"/>
              </a:rPr>
              <a:t>Information security should advise HR to limit information provided to the candidate on the responsibilities and access rights of the new hire</a:t>
            </a:r>
          </a:p>
          <a:p>
            <a:pPr marL="342900" indent="-342900">
              <a:spcBef>
                <a:spcPct val="20000"/>
              </a:spcBef>
              <a:buFontTx/>
              <a:buChar char="•"/>
              <a:defRPr/>
            </a:pPr>
            <a:r>
              <a:rPr lang="en-US" altLang="en-US" sz="2600" kern="0" dirty="0" smtClean="0">
                <a:solidFill>
                  <a:srgbClr val="222222"/>
                </a:solidFill>
                <a:latin typeface="Arial"/>
              </a:rPr>
              <a:t>For organizations that include on-site visits as part of interviews, it’s important to exercise caution when showing candidate around facility</a:t>
            </a:r>
          </a:p>
        </p:txBody>
      </p:sp>
    </p:spTree>
    <p:extLst>
      <p:ext uri="{BB962C8B-B14F-4D97-AF65-F5344CB8AC3E}">
        <p14:creationId xmlns:p14="http://schemas.microsoft.com/office/powerpoint/2010/main" val="1128700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p:txBody>
          <a:bodyPr/>
          <a:lstStyle/>
          <a:p>
            <a:endParaRPr lang="en-US" altLang="en-US" dirty="0" smtClean="0"/>
          </a:p>
        </p:txBody>
      </p:sp>
      <p:sp>
        <p:nvSpPr>
          <p:cNvPr id="89092"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567EA34-A40A-414A-B91D-847BF3CC55C0}" type="slidenum">
              <a:rPr lang="en-US" altLang="en-US"/>
              <a:pPr/>
              <a:t>31</a:t>
            </a:fld>
            <a:endParaRPr lang="en-US" altLang="en-US"/>
          </a:p>
        </p:txBody>
      </p:sp>
    </p:spTree>
    <p:extLst>
      <p:ext uri="{BB962C8B-B14F-4D97-AF65-F5344CB8AC3E}">
        <p14:creationId xmlns:p14="http://schemas.microsoft.com/office/powerpoint/2010/main" val="25788172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D7E64B4-C64F-41AD-93B9-D07C3D4D761B}" type="slidenum">
              <a:rPr lang="en-US" altLang="en-US"/>
              <a:pPr/>
              <a:t>32</a:t>
            </a:fld>
            <a:endParaRPr lang="en-US" altLang="en-US"/>
          </a:p>
        </p:txBody>
      </p:sp>
      <p:sp>
        <p:nvSpPr>
          <p:cNvPr id="9011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Background Checks</a:t>
            </a:r>
          </a:p>
          <a:p>
            <a:pPr marL="342900" indent="-342900">
              <a:spcBef>
                <a:spcPct val="20000"/>
              </a:spcBef>
              <a:buFontTx/>
              <a:buChar char="•"/>
              <a:defRPr/>
            </a:pPr>
            <a:r>
              <a:rPr lang="en-US" altLang="en-US" sz="2600" kern="0" dirty="0" smtClean="0">
                <a:solidFill>
                  <a:srgbClr val="222222"/>
                </a:solidFill>
                <a:latin typeface="Arial"/>
              </a:rPr>
              <a:t>Should be conducted before organization extends offer to candidate</a:t>
            </a:r>
          </a:p>
          <a:p>
            <a:pPr marL="342900" indent="-342900">
              <a:spcBef>
                <a:spcPct val="20000"/>
              </a:spcBef>
              <a:buFontTx/>
              <a:buChar char="•"/>
              <a:defRPr/>
            </a:pPr>
            <a:r>
              <a:rPr lang="en-US" altLang="en-US" sz="2600" kern="0" dirty="0" smtClean="0">
                <a:solidFill>
                  <a:srgbClr val="222222"/>
                </a:solidFill>
                <a:latin typeface="Arial"/>
              </a:rPr>
              <a:t>Investigation into a candidate’s past</a:t>
            </a:r>
          </a:p>
          <a:p>
            <a:pPr marL="342900" indent="-342900">
              <a:spcBef>
                <a:spcPct val="20000"/>
              </a:spcBef>
              <a:buFontTx/>
              <a:buChar char="•"/>
              <a:defRPr/>
            </a:pPr>
            <a:r>
              <a:rPr lang="en-US" altLang="en-US" sz="2600" kern="0" dirty="0" smtClean="0">
                <a:solidFill>
                  <a:srgbClr val="222222"/>
                </a:solidFill>
                <a:latin typeface="Arial"/>
              </a:rPr>
              <a:t>Background checks differ in level of detail and depth with which candidate is examined</a:t>
            </a:r>
          </a:p>
          <a:p>
            <a:pPr marL="342900" indent="-342900">
              <a:spcBef>
                <a:spcPct val="20000"/>
              </a:spcBef>
              <a:buFontTx/>
              <a:buChar char="•"/>
              <a:defRPr/>
            </a:pPr>
            <a:r>
              <a:rPr lang="en-US" altLang="en-US" sz="2600" kern="0" dirty="0" smtClean="0">
                <a:solidFill>
                  <a:srgbClr val="222222"/>
                </a:solidFill>
                <a:latin typeface="Arial"/>
              </a:rPr>
              <a:t>May include identity check, education and credential check, previous employment verification, references check, worker’s compensation history, motor vehicle records, drug history, credit history, and more</a:t>
            </a:r>
          </a:p>
        </p:txBody>
      </p:sp>
    </p:spTree>
    <p:extLst>
      <p:ext uri="{BB962C8B-B14F-4D97-AF65-F5344CB8AC3E}">
        <p14:creationId xmlns:p14="http://schemas.microsoft.com/office/powerpoint/2010/main" val="14588094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D7E64B4-C64F-41AD-93B9-D07C3D4D761B}" type="slidenum">
              <a:rPr lang="en-US" altLang="en-US"/>
              <a:pPr/>
              <a:t>33</a:t>
            </a:fld>
            <a:endParaRPr lang="en-US" altLang="en-US"/>
          </a:p>
        </p:txBody>
      </p:sp>
      <p:sp>
        <p:nvSpPr>
          <p:cNvPr id="9011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Background Checks</a:t>
            </a:r>
          </a:p>
          <a:p>
            <a:pPr marL="342900" indent="-342900">
              <a:spcBef>
                <a:spcPct val="20000"/>
              </a:spcBef>
              <a:buFontTx/>
              <a:buChar char="•"/>
              <a:defRPr/>
            </a:pPr>
            <a:r>
              <a:rPr lang="en-US" altLang="en-US" sz="2600" kern="0" dirty="0" smtClean="0">
                <a:solidFill>
                  <a:srgbClr val="222222"/>
                </a:solidFill>
                <a:latin typeface="Arial"/>
              </a:rPr>
              <a:t>Should be conducted before organization extends offer to candidate</a:t>
            </a:r>
          </a:p>
          <a:p>
            <a:pPr marL="342900" indent="-342900">
              <a:spcBef>
                <a:spcPct val="20000"/>
              </a:spcBef>
              <a:buFontTx/>
              <a:buChar char="•"/>
              <a:defRPr/>
            </a:pPr>
            <a:r>
              <a:rPr lang="en-US" altLang="en-US" sz="2600" kern="0" dirty="0" smtClean="0">
                <a:solidFill>
                  <a:srgbClr val="222222"/>
                </a:solidFill>
                <a:latin typeface="Arial"/>
              </a:rPr>
              <a:t>Investigation into a candidate’s past</a:t>
            </a:r>
          </a:p>
          <a:p>
            <a:pPr marL="342900" indent="-342900">
              <a:spcBef>
                <a:spcPct val="20000"/>
              </a:spcBef>
              <a:buFontTx/>
              <a:buChar char="•"/>
              <a:defRPr/>
            </a:pPr>
            <a:r>
              <a:rPr lang="en-US" altLang="en-US" sz="2600" kern="0" dirty="0" smtClean="0">
                <a:solidFill>
                  <a:srgbClr val="222222"/>
                </a:solidFill>
                <a:latin typeface="Arial"/>
              </a:rPr>
              <a:t>Background checks differ in level of detail and depth with which candidate is examined</a:t>
            </a:r>
          </a:p>
          <a:p>
            <a:pPr marL="342900" indent="-342900">
              <a:spcBef>
                <a:spcPct val="20000"/>
              </a:spcBef>
              <a:buFontTx/>
              <a:buChar char="•"/>
              <a:defRPr/>
            </a:pPr>
            <a:r>
              <a:rPr lang="en-US" altLang="en-US" sz="2600" kern="0" dirty="0" smtClean="0">
                <a:solidFill>
                  <a:srgbClr val="222222"/>
                </a:solidFill>
                <a:latin typeface="Arial"/>
              </a:rPr>
              <a:t>May include identity check, education and credential check, previous employment verification, references check, worker’s compensation history, motor vehicle records, drug history, credit history, and more</a:t>
            </a:r>
          </a:p>
        </p:txBody>
      </p:sp>
    </p:spTree>
    <p:extLst>
      <p:ext uri="{BB962C8B-B14F-4D97-AF65-F5344CB8AC3E}">
        <p14:creationId xmlns:p14="http://schemas.microsoft.com/office/powerpoint/2010/main" val="14588094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1C6A8A5-DDCC-4CC9-9252-5DE1C6FD6F3E}" type="slidenum">
              <a:rPr lang="en-US" altLang="en-US"/>
              <a:pPr/>
              <a:t>34</a:t>
            </a:fld>
            <a:endParaRPr lang="en-US" altLang="en-US"/>
          </a:p>
        </p:txBody>
      </p:sp>
      <p:sp>
        <p:nvSpPr>
          <p:cNvPr id="9113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Employment Contracts</a:t>
            </a:r>
          </a:p>
          <a:p>
            <a:pPr marL="342900" indent="-342900">
              <a:spcBef>
                <a:spcPct val="20000"/>
              </a:spcBef>
              <a:buFontTx/>
              <a:buChar char="•"/>
              <a:defRPr/>
            </a:pPr>
            <a:r>
              <a:rPr lang="en-US" altLang="en-US" sz="2600" kern="0" dirty="0" smtClean="0">
                <a:solidFill>
                  <a:srgbClr val="222222"/>
                </a:solidFill>
                <a:latin typeface="Arial"/>
              </a:rPr>
              <a:t>Should be conducted before organization extends offer to candidate</a:t>
            </a:r>
          </a:p>
          <a:p>
            <a:pPr marL="342900" indent="-342900">
              <a:spcBef>
                <a:spcPct val="20000"/>
              </a:spcBef>
              <a:buFontTx/>
              <a:buChar char="•"/>
              <a:defRPr/>
            </a:pPr>
            <a:r>
              <a:rPr lang="en-US" altLang="en-US" sz="2600" kern="0" dirty="0" smtClean="0">
                <a:solidFill>
                  <a:srgbClr val="222222"/>
                </a:solidFill>
                <a:latin typeface="Arial"/>
              </a:rPr>
              <a:t>Investigation into a candidate’s past</a:t>
            </a:r>
          </a:p>
          <a:p>
            <a:pPr marL="342900" indent="-342900">
              <a:spcBef>
                <a:spcPct val="20000"/>
              </a:spcBef>
              <a:buFontTx/>
              <a:buChar char="•"/>
              <a:defRPr/>
            </a:pPr>
            <a:r>
              <a:rPr lang="en-US" altLang="en-US" sz="2600" kern="0" dirty="0" smtClean="0">
                <a:solidFill>
                  <a:srgbClr val="222222"/>
                </a:solidFill>
                <a:latin typeface="Arial"/>
              </a:rPr>
              <a:t>Background checks differ in level of detail and depth with which candidate is examined</a:t>
            </a:r>
          </a:p>
          <a:p>
            <a:pPr marL="342900" indent="-342900">
              <a:spcBef>
                <a:spcPct val="20000"/>
              </a:spcBef>
              <a:buFontTx/>
              <a:buChar char="•"/>
              <a:defRPr/>
            </a:pPr>
            <a:r>
              <a:rPr lang="en-US" altLang="en-US" sz="2600" kern="0" dirty="0" smtClean="0">
                <a:solidFill>
                  <a:srgbClr val="222222"/>
                </a:solidFill>
                <a:latin typeface="Arial"/>
              </a:rPr>
              <a:t>May include identity check, education and credential check, previous employment verification, references check, worker’s compensation history, motor vehicle records, drug history, credit history, and more</a:t>
            </a:r>
          </a:p>
        </p:txBody>
      </p:sp>
    </p:spTree>
    <p:extLst>
      <p:ext uri="{BB962C8B-B14F-4D97-AF65-F5344CB8AC3E}">
        <p14:creationId xmlns:p14="http://schemas.microsoft.com/office/powerpoint/2010/main" val="28138791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E65ACD1-3178-4E96-ABF7-743183B9EEDF}" type="slidenum">
              <a:rPr lang="en-US" altLang="en-US"/>
              <a:pPr/>
              <a:t>35</a:t>
            </a:fld>
            <a:endParaRPr lang="en-US" altLang="en-US"/>
          </a:p>
        </p:txBody>
      </p:sp>
      <p:sp>
        <p:nvSpPr>
          <p:cNvPr id="9216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New Hire Orientation</a:t>
            </a:r>
          </a:p>
          <a:p>
            <a:pPr marL="342900" indent="-342900">
              <a:spcBef>
                <a:spcPct val="20000"/>
              </a:spcBef>
              <a:buFontTx/>
              <a:buChar char="•"/>
              <a:defRPr/>
            </a:pPr>
            <a:r>
              <a:rPr lang="en-US" altLang="en-US" sz="2600" kern="0" dirty="0" smtClean="0">
                <a:solidFill>
                  <a:srgbClr val="222222"/>
                </a:solidFill>
                <a:latin typeface="Arial"/>
              </a:rPr>
              <a:t>New employees should receive extensive information security briefing on policies, procedures, and requirements for information security</a:t>
            </a:r>
          </a:p>
          <a:p>
            <a:pPr marL="342900" indent="-342900">
              <a:spcBef>
                <a:spcPct val="20000"/>
              </a:spcBef>
              <a:buFontTx/>
              <a:buChar char="•"/>
              <a:defRPr/>
            </a:pPr>
            <a:r>
              <a:rPr lang="en-US" altLang="en-US" sz="2600" kern="0" dirty="0" smtClean="0">
                <a:solidFill>
                  <a:srgbClr val="222222"/>
                </a:solidFill>
                <a:latin typeface="Arial"/>
              </a:rPr>
              <a:t>Levels of authorized access should be outlined; training provided on secure use of information systems</a:t>
            </a:r>
          </a:p>
          <a:p>
            <a:pPr marL="342900" indent="-342900">
              <a:spcBef>
                <a:spcPct val="20000"/>
              </a:spcBef>
              <a:buFontTx/>
              <a:buChar char="•"/>
              <a:defRPr/>
            </a:pPr>
            <a:r>
              <a:rPr lang="en-US" altLang="en-US" sz="2600" kern="0" dirty="0" smtClean="0">
                <a:solidFill>
                  <a:srgbClr val="222222"/>
                </a:solidFill>
                <a:latin typeface="Arial"/>
              </a:rPr>
              <a:t>By the time employees start, they should be thoroughly briefed on security components and their rights and responsibilities </a:t>
            </a:r>
          </a:p>
        </p:txBody>
      </p:sp>
    </p:spTree>
    <p:extLst>
      <p:ext uri="{BB962C8B-B14F-4D97-AF65-F5344CB8AC3E}">
        <p14:creationId xmlns:p14="http://schemas.microsoft.com/office/powerpoint/2010/main" val="3606211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037B294-9310-4382-96F2-0BB8189E6D0F}" type="slidenum">
              <a:rPr lang="en-US" altLang="en-US"/>
              <a:pPr/>
              <a:t>36</a:t>
            </a:fld>
            <a:endParaRPr lang="en-US" altLang="en-US"/>
          </a:p>
        </p:txBody>
      </p:sp>
      <p:sp>
        <p:nvSpPr>
          <p:cNvPr id="9318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On-the-Job Security Training</a:t>
            </a:r>
          </a:p>
          <a:p>
            <a:pPr marL="342900" indent="-342900">
              <a:spcBef>
                <a:spcPct val="20000"/>
              </a:spcBef>
              <a:buFontTx/>
              <a:buChar char="•"/>
              <a:defRPr/>
            </a:pPr>
            <a:r>
              <a:rPr lang="en-US" altLang="en-US" sz="2600" kern="0" dirty="0" smtClean="0">
                <a:solidFill>
                  <a:srgbClr val="222222"/>
                </a:solidFill>
                <a:latin typeface="Arial"/>
              </a:rPr>
              <a:t>Organization should integrate security awareness education into job orientation and security training</a:t>
            </a:r>
          </a:p>
          <a:p>
            <a:pPr marL="342900" indent="-342900">
              <a:spcBef>
                <a:spcPct val="20000"/>
              </a:spcBef>
              <a:buFontTx/>
              <a:buChar char="•"/>
              <a:defRPr/>
            </a:pPr>
            <a:r>
              <a:rPr lang="en-US" altLang="en-US" sz="2600" kern="0" dirty="0" smtClean="0">
                <a:solidFill>
                  <a:srgbClr val="222222"/>
                </a:solidFill>
                <a:latin typeface="Arial"/>
              </a:rPr>
              <a:t>Keeping security at the forefront of employees’ minds helps minimize their mistakes and is an important part of information security awareness mission</a:t>
            </a:r>
          </a:p>
          <a:p>
            <a:pPr marL="342900" indent="-342900">
              <a:spcBef>
                <a:spcPct val="20000"/>
              </a:spcBef>
              <a:buFontTx/>
              <a:buChar char="•"/>
              <a:defRPr/>
            </a:pPr>
            <a:r>
              <a:rPr lang="en-US" altLang="en-US" sz="2600" kern="0" dirty="0" smtClean="0">
                <a:solidFill>
                  <a:srgbClr val="222222"/>
                </a:solidFill>
                <a:latin typeface="Arial"/>
              </a:rPr>
              <a:t>External and internal seminars should also be used to increase security awareness for all employees, particularly security employees</a:t>
            </a:r>
          </a:p>
          <a:p>
            <a:pPr eaLnBrk="1" hangingPunct="1">
              <a:defRPr/>
            </a:pPr>
            <a:endParaRPr lang="en-US" altLang="en-US" dirty="0" smtClean="0"/>
          </a:p>
        </p:txBody>
      </p:sp>
    </p:spTree>
    <p:extLst>
      <p:ext uri="{BB962C8B-B14F-4D97-AF65-F5344CB8AC3E}">
        <p14:creationId xmlns:p14="http://schemas.microsoft.com/office/powerpoint/2010/main" val="4026798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0CEAE03-B957-4393-88F4-8310F4D27D69}" type="slidenum">
              <a:rPr lang="en-US" altLang="en-US"/>
              <a:pPr/>
              <a:t>37</a:t>
            </a:fld>
            <a:endParaRPr lang="en-US" altLang="en-US"/>
          </a:p>
        </p:txBody>
      </p:sp>
      <p:sp>
        <p:nvSpPr>
          <p:cNvPr id="9421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p:txBody>
          <a:bodyPr>
            <a:normAutofit lnSpcReduction="10000"/>
          </a:bodyPr>
          <a:lstStyle/>
          <a:p>
            <a:pPr eaLnBrk="1" hangingPunct="1">
              <a:defRPr/>
            </a:pPr>
            <a:r>
              <a:rPr lang="en-US" altLang="en-US" b="1" dirty="0" smtClean="0"/>
              <a:t>Performance Evaluation</a:t>
            </a:r>
          </a:p>
          <a:p>
            <a:pPr marL="342900" indent="-342900">
              <a:spcBef>
                <a:spcPct val="20000"/>
              </a:spcBef>
              <a:buFontTx/>
              <a:buChar char="•"/>
              <a:defRPr/>
            </a:pPr>
            <a:r>
              <a:rPr lang="en-US" altLang="en-US" sz="2600" kern="0" dirty="0" smtClean="0">
                <a:solidFill>
                  <a:srgbClr val="222222"/>
                </a:solidFill>
                <a:latin typeface="Arial"/>
              </a:rPr>
              <a:t>Organizations should incorporate information security components into employee performance evaluations</a:t>
            </a:r>
          </a:p>
          <a:p>
            <a:pPr marL="342900" indent="-342900">
              <a:spcBef>
                <a:spcPct val="20000"/>
              </a:spcBef>
              <a:buFontTx/>
              <a:buChar char="•"/>
              <a:defRPr/>
            </a:pPr>
            <a:r>
              <a:rPr lang="en-US" altLang="en-US" sz="2600" kern="0" dirty="0" smtClean="0">
                <a:solidFill>
                  <a:srgbClr val="222222"/>
                </a:solidFill>
                <a:latin typeface="Arial"/>
              </a:rPr>
              <a:t>Employees pay close attention to job performance evaluations</a:t>
            </a:r>
          </a:p>
          <a:p>
            <a:pPr marL="742950" lvl="1" indent="-285750">
              <a:spcBef>
                <a:spcPct val="20000"/>
              </a:spcBef>
              <a:buFontTx/>
              <a:buChar char="–"/>
              <a:defRPr/>
            </a:pPr>
            <a:r>
              <a:rPr lang="en-US" altLang="en-US" sz="2400" kern="0" dirty="0" smtClean="0">
                <a:solidFill>
                  <a:srgbClr val="222222"/>
                </a:solidFill>
                <a:latin typeface="Arial"/>
              </a:rPr>
              <a:t>Are more likely to take information security seriously if violations documented in them</a:t>
            </a:r>
          </a:p>
        </p:txBody>
      </p:sp>
    </p:spTree>
    <p:extLst>
      <p:ext uri="{BB962C8B-B14F-4D97-AF65-F5344CB8AC3E}">
        <p14:creationId xmlns:p14="http://schemas.microsoft.com/office/powerpoint/2010/main" val="11455543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9ABE95AD-30DA-46E3-BB27-73C3C59E9CE9}" type="slidenum">
              <a:rPr lang="en-US" altLang="en-US"/>
              <a:pPr/>
              <a:t>38</a:t>
            </a:fld>
            <a:endParaRPr lang="en-US" altLang="en-US"/>
          </a:p>
        </p:txBody>
      </p:sp>
      <p:sp>
        <p:nvSpPr>
          <p:cNvPr id="9523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Termination</a:t>
            </a:r>
          </a:p>
          <a:p>
            <a:pPr marL="342900" indent="-342900">
              <a:spcBef>
                <a:spcPct val="20000"/>
              </a:spcBef>
              <a:buFontTx/>
              <a:buChar char="•"/>
              <a:defRPr/>
            </a:pPr>
            <a:r>
              <a:rPr lang="en-US" altLang="en-US" sz="2600" kern="0" dirty="0" smtClean="0">
                <a:solidFill>
                  <a:srgbClr val="222222"/>
                </a:solidFill>
                <a:latin typeface="Arial"/>
              </a:rPr>
              <a:t>When employee leaves organization, security-related issues arise</a:t>
            </a:r>
          </a:p>
          <a:p>
            <a:pPr marL="342900" indent="-342900">
              <a:spcBef>
                <a:spcPct val="20000"/>
              </a:spcBef>
              <a:buFontTx/>
              <a:buChar char="•"/>
              <a:defRPr/>
            </a:pPr>
            <a:r>
              <a:rPr lang="en-US" altLang="en-US" sz="2600" kern="0" dirty="0" smtClean="0">
                <a:solidFill>
                  <a:srgbClr val="222222"/>
                </a:solidFill>
                <a:latin typeface="Arial"/>
              </a:rPr>
              <a:t>Key issue is continuity of protection of all information to which employee had access</a:t>
            </a:r>
          </a:p>
          <a:p>
            <a:pPr marL="342900" indent="-342900">
              <a:spcBef>
                <a:spcPct val="20000"/>
              </a:spcBef>
              <a:buFontTx/>
              <a:buChar char="•"/>
              <a:defRPr/>
            </a:pPr>
            <a:r>
              <a:rPr lang="en-US" altLang="en-US" sz="2600" kern="0" dirty="0" smtClean="0">
                <a:solidFill>
                  <a:srgbClr val="222222"/>
                </a:solidFill>
                <a:latin typeface="Arial"/>
              </a:rPr>
              <a:t>After having delivered keys, keycards, and other business property, the former employee should be escorted from premises</a:t>
            </a:r>
          </a:p>
          <a:p>
            <a:pPr marL="342900" indent="-342900">
              <a:spcBef>
                <a:spcPct val="20000"/>
              </a:spcBef>
              <a:buFontTx/>
              <a:buChar char="•"/>
              <a:defRPr/>
            </a:pPr>
            <a:r>
              <a:rPr lang="en-US" altLang="en-US" sz="2600" kern="0" dirty="0" smtClean="0">
                <a:solidFill>
                  <a:srgbClr val="222222"/>
                </a:solidFill>
                <a:latin typeface="Arial"/>
              </a:rPr>
              <a:t>Many organizations use an exit interview to remind former employee of contractual obligations and to obtain feedback</a:t>
            </a:r>
          </a:p>
        </p:txBody>
      </p:sp>
    </p:spTree>
    <p:extLst>
      <p:ext uri="{BB962C8B-B14F-4D97-AF65-F5344CB8AC3E}">
        <p14:creationId xmlns:p14="http://schemas.microsoft.com/office/powerpoint/2010/main" val="10927559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9FB65EE-D2D4-4C8E-93F2-EE3FE1FDD5B2}" type="slidenum">
              <a:rPr lang="en-US" altLang="en-US"/>
              <a:pPr/>
              <a:t>39</a:t>
            </a:fld>
            <a:endParaRPr lang="en-US" altLang="en-US"/>
          </a:p>
        </p:txBody>
      </p:sp>
      <p:sp>
        <p:nvSpPr>
          <p:cNvPr id="9728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Friendly Departure</a:t>
            </a:r>
          </a:p>
          <a:p>
            <a:pPr marL="342900" indent="-342900">
              <a:spcBef>
                <a:spcPct val="20000"/>
              </a:spcBef>
              <a:buFontTx/>
              <a:buChar char="•"/>
              <a:defRPr/>
            </a:pPr>
            <a:r>
              <a:rPr lang="en-US" altLang="en-US" sz="2600" kern="0" dirty="0" smtClean="0">
                <a:solidFill>
                  <a:srgbClr val="222222"/>
                </a:solidFill>
                <a:latin typeface="Arial"/>
              </a:rPr>
              <a:t>Friendly departures include resignation, retirement, promotion, or relocation</a:t>
            </a:r>
          </a:p>
          <a:p>
            <a:pPr marL="742950" lvl="1" indent="-285750">
              <a:spcBef>
                <a:spcPct val="20000"/>
              </a:spcBef>
              <a:buFontTx/>
              <a:buChar char="–"/>
              <a:defRPr/>
            </a:pPr>
            <a:r>
              <a:rPr lang="en-US" altLang="en-US" sz="2400" kern="0" dirty="0" smtClean="0">
                <a:solidFill>
                  <a:srgbClr val="222222"/>
                </a:solidFill>
                <a:latin typeface="Arial"/>
              </a:rPr>
              <a:t>Employee may be notified well in advance of departure date</a:t>
            </a:r>
          </a:p>
          <a:p>
            <a:pPr marL="742950" lvl="1" indent="-285750">
              <a:spcBef>
                <a:spcPct val="20000"/>
              </a:spcBef>
              <a:buFontTx/>
              <a:buChar char="–"/>
              <a:defRPr/>
            </a:pPr>
            <a:r>
              <a:rPr lang="en-US" altLang="en-US" sz="2400" kern="0" dirty="0" smtClean="0">
                <a:solidFill>
                  <a:srgbClr val="222222"/>
                </a:solidFill>
                <a:latin typeface="Arial"/>
              </a:rPr>
              <a:t>More difficult for security to maintain positive control over employee’s access and information usage</a:t>
            </a:r>
          </a:p>
          <a:p>
            <a:pPr marL="742950" lvl="1" indent="-285750">
              <a:spcBef>
                <a:spcPct val="20000"/>
              </a:spcBef>
              <a:buFontTx/>
              <a:buChar char="–"/>
              <a:defRPr/>
            </a:pPr>
            <a:r>
              <a:rPr lang="en-US" altLang="en-US" sz="2400" kern="0" dirty="0" smtClean="0">
                <a:solidFill>
                  <a:srgbClr val="222222"/>
                </a:solidFill>
                <a:latin typeface="Arial"/>
              </a:rPr>
              <a:t>Employee accounts usually continue with new expiration date</a:t>
            </a:r>
          </a:p>
          <a:p>
            <a:pPr marL="742950" lvl="1" indent="-285750">
              <a:spcBef>
                <a:spcPct val="20000"/>
              </a:spcBef>
              <a:buFontTx/>
              <a:buChar char="–"/>
              <a:defRPr/>
            </a:pPr>
            <a:r>
              <a:rPr lang="en-US" altLang="en-US" sz="2400" kern="0" dirty="0" smtClean="0">
                <a:solidFill>
                  <a:srgbClr val="222222"/>
                </a:solidFill>
                <a:latin typeface="Arial"/>
              </a:rPr>
              <a:t>Employees come and go at will, collect their own belongings, and leave on their own</a:t>
            </a:r>
          </a:p>
          <a:p>
            <a:pPr eaLnBrk="1" hangingPunct="1">
              <a:defRPr/>
            </a:pPr>
            <a:endParaRPr lang="en-US" altLang="en-US" dirty="0" smtClean="0"/>
          </a:p>
        </p:txBody>
      </p:sp>
    </p:spTree>
    <p:extLst>
      <p:ext uri="{BB962C8B-B14F-4D97-AF65-F5344CB8AC3E}">
        <p14:creationId xmlns:p14="http://schemas.microsoft.com/office/powerpoint/2010/main" val="328161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9FB65EE-D2D4-4C8E-93F2-EE3FE1FDD5B2}" type="slidenum">
              <a:rPr lang="en-US" altLang="en-US"/>
              <a:pPr/>
              <a:t>40</a:t>
            </a:fld>
            <a:endParaRPr lang="en-US" altLang="en-US"/>
          </a:p>
        </p:txBody>
      </p:sp>
      <p:sp>
        <p:nvSpPr>
          <p:cNvPr id="9728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Friendly Departure</a:t>
            </a:r>
          </a:p>
          <a:p>
            <a:pPr marL="342900" indent="-342900">
              <a:spcBef>
                <a:spcPct val="20000"/>
              </a:spcBef>
              <a:buFontTx/>
              <a:buChar char="•"/>
              <a:defRPr/>
            </a:pPr>
            <a:r>
              <a:rPr lang="en-US" altLang="en-US" sz="2600" kern="0" dirty="0" smtClean="0">
                <a:solidFill>
                  <a:srgbClr val="222222"/>
                </a:solidFill>
                <a:latin typeface="Arial"/>
              </a:rPr>
              <a:t>Friendly departures include resignation, retirement, promotion, or relocation</a:t>
            </a:r>
          </a:p>
          <a:p>
            <a:pPr marL="742950" lvl="1" indent="-285750">
              <a:spcBef>
                <a:spcPct val="20000"/>
              </a:spcBef>
              <a:buFontTx/>
              <a:buChar char="–"/>
              <a:defRPr/>
            </a:pPr>
            <a:r>
              <a:rPr lang="en-US" altLang="en-US" sz="2400" kern="0" dirty="0" smtClean="0">
                <a:solidFill>
                  <a:srgbClr val="222222"/>
                </a:solidFill>
                <a:latin typeface="Arial"/>
              </a:rPr>
              <a:t>Employee may be notified well in advance of departure date</a:t>
            </a:r>
          </a:p>
          <a:p>
            <a:pPr marL="742950" lvl="1" indent="-285750">
              <a:spcBef>
                <a:spcPct val="20000"/>
              </a:spcBef>
              <a:buFontTx/>
              <a:buChar char="–"/>
              <a:defRPr/>
            </a:pPr>
            <a:r>
              <a:rPr lang="en-US" altLang="en-US" sz="2400" kern="0" dirty="0" smtClean="0">
                <a:solidFill>
                  <a:srgbClr val="222222"/>
                </a:solidFill>
                <a:latin typeface="Arial"/>
              </a:rPr>
              <a:t>More difficult for security to maintain positive control over employee’s access and information usage</a:t>
            </a:r>
          </a:p>
          <a:p>
            <a:pPr marL="742950" lvl="1" indent="-285750">
              <a:spcBef>
                <a:spcPct val="20000"/>
              </a:spcBef>
              <a:buFontTx/>
              <a:buChar char="–"/>
              <a:defRPr/>
            </a:pPr>
            <a:r>
              <a:rPr lang="en-US" altLang="en-US" sz="2400" kern="0" dirty="0" smtClean="0">
                <a:solidFill>
                  <a:srgbClr val="222222"/>
                </a:solidFill>
                <a:latin typeface="Arial"/>
              </a:rPr>
              <a:t>Employee accounts usually continue with new expiration date</a:t>
            </a:r>
          </a:p>
          <a:p>
            <a:pPr marL="742950" lvl="1" indent="-285750">
              <a:spcBef>
                <a:spcPct val="20000"/>
              </a:spcBef>
              <a:buFontTx/>
              <a:buChar char="–"/>
              <a:defRPr/>
            </a:pPr>
            <a:r>
              <a:rPr lang="en-US" altLang="en-US" sz="2400" kern="0" dirty="0" smtClean="0">
                <a:solidFill>
                  <a:srgbClr val="222222"/>
                </a:solidFill>
                <a:latin typeface="Arial"/>
              </a:rPr>
              <a:t>Employees come and go at will, collect their own belongings, and leave on their own</a:t>
            </a:r>
          </a:p>
          <a:p>
            <a:pPr eaLnBrk="1" hangingPunct="1">
              <a:defRPr/>
            </a:pPr>
            <a:endParaRPr lang="en-US" altLang="en-US" dirty="0" smtClean="0"/>
          </a:p>
        </p:txBody>
      </p:sp>
    </p:spTree>
    <p:extLst>
      <p:ext uri="{BB962C8B-B14F-4D97-AF65-F5344CB8AC3E}">
        <p14:creationId xmlns:p14="http://schemas.microsoft.com/office/powerpoint/2010/main" val="32816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34F1CCE-65F5-4DBD-9157-B3A9784788A9}" type="slidenum">
              <a:rPr lang="en-US" altLang="en-US"/>
              <a:pPr/>
              <a:t>41</a:t>
            </a:fld>
            <a:endParaRPr lang="en-US" altLang="en-US"/>
          </a:p>
        </p:txBody>
      </p:sp>
      <p:sp>
        <p:nvSpPr>
          <p:cNvPr id="9830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Termination</a:t>
            </a:r>
          </a:p>
          <a:p>
            <a:pPr marL="342900" indent="-342900">
              <a:spcBef>
                <a:spcPct val="20000"/>
              </a:spcBef>
              <a:buFontTx/>
              <a:buChar char="•"/>
              <a:defRPr/>
            </a:pPr>
            <a:r>
              <a:rPr lang="en-US" altLang="en-US" sz="2600" kern="0" dirty="0" smtClean="0">
                <a:solidFill>
                  <a:srgbClr val="222222"/>
                </a:solidFill>
                <a:latin typeface="Arial"/>
              </a:rPr>
              <a:t>Offices and information used by the employee must be inventoried; files stored or destroyed; and property returned to organizational stores </a:t>
            </a:r>
          </a:p>
          <a:p>
            <a:pPr marL="342900" indent="-342900">
              <a:spcBef>
                <a:spcPct val="20000"/>
              </a:spcBef>
              <a:buFontTx/>
              <a:buChar char="•"/>
              <a:defRPr/>
            </a:pPr>
            <a:r>
              <a:rPr lang="en-US" altLang="en-US" sz="2600" kern="0" dirty="0" smtClean="0">
                <a:solidFill>
                  <a:srgbClr val="222222"/>
                </a:solidFill>
                <a:latin typeface="Arial"/>
              </a:rPr>
              <a:t>Possible that employees foresee departure well in advance and begin collecting organizational information for their future employment</a:t>
            </a:r>
          </a:p>
          <a:p>
            <a:pPr marL="342900" indent="-342900">
              <a:spcBef>
                <a:spcPct val="20000"/>
              </a:spcBef>
              <a:buFontTx/>
              <a:buChar char="•"/>
              <a:defRPr/>
            </a:pPr>
            <a:r>
              <a:rPr lang="en-US" altLang="en-US" sz="2600" kern="0" dirty="0" smtClean="0">
                <a:solidFill>
                  <a:srgbClr val="222222"/>
                </a:solidFill>
                <a:latin typeface="Arial"/>
              </a:rPr>
              <a:t>Only by scrutinizing systems logs after employee has departed can organization determine if there has been a breach of policy or a loss of information</a:t>
            </a:r>
          </a:p>
          <a:p>
            <a:pPr marL="342900" indent="-342900">
              <a:spcBef>
                <a:spcPct val="20000"/>
              </a:spcBef>
              <a:buFontTx/>
              <a:buChar char="•"/>
              <a:defRPr/>
            </a:pPr>
            <a:r>
              <a:rPr lang="en-US" altLang="en-US" sz="2600" kern="0" dirty="0" smtClean="0">
                <a:solidFill>
                  <a:srgbClr val="222222"/>
                </a:solidFill>
                <a:latin typeface="Arial"/>
              </a:rPr>
              <a:t>If information has been illegally copied or stolen, report an incident and follow the appropriate policy</a:t>
            </a:r>
          </a:p>
        </p:txBody>
      </p:sp>
    </p:spTree>
    <p:extLst>
      <p:ext uri="{BB962C8B-B14F-4D97-AF65-F5344CB8AC3E}">
        <p14:creationId xmlns:p14="http://schemas.microsoft.com/office/powerpoint/2010/main" val="41805689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679FCE7-AC9F-45D9-BED1-544CC32EE55D}" type="slidenum">
              <a:rPr lang="en-US" altLang="en-US"/>
              <a:pPr/>
              <a:t>42</a:t>
            </a:fld>
            <a:endParaRPr lang="en-US" altLang="en-US"/>
          </a:p>
        </p:txBody>
      </p:sp>
      <p:sp>
        <p:nvSpPr>
          <p:cNvPr id="9933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Security Considerations for Temporary Employees, Consultants, and Other Workers</a:t>
            </a:r>
          </a:p>
          <a:p>
            <a:pPr marL="342900" indent="-342900">
              <a:spcBef>
                <a:spcPct val="20000"/>
              </a:spcBef>
              <a:buFontTx/>
              <a:buChar char="•"/>
              <a:defRPr/>
            </a:pPr>
            <a:r>
              <a:rPr lang="en-US" altLang="en-US" sz="2600" kern="0" dirty="0" smtClean="0">
                <a:solidFill>
                  <a:srgbClr val="222222"/>
                </a:solidFill>
                <a:latin typeface="Arial"/>
              </a:rPr>
              <a:t>Offices and information used by the employee must be inventoried; files stored or destroyed; and property returned to organizational stores </a:t>
            </a:r>
          </a:p>
          <a:p>
            <a:pPr marL="342900" indent="-342900">
              <a:spcBef>
                <a:spcPct val="20000"/>
              </a:spcBef>
              <a:buFontTx/>
              <a:buChar char="•"/>
              <a:defRPr/>
            </a:pPr>
            <a:r>
              <a:rPr lang="en-US" altLang="en-US" sz="2600" kern="0" dirty="0" smtClean="0">
                <a:solidFill>
                  <a:srgbClr val="222222"/>
                </a:solidFill>
                <a:latin typeface="Arial"/>
              </a:rPr>
              <a:t>Possible that employees foresee departure well in advance and begin collecting organizational information for their future employment</a:t>
            </a:r>
          </a:p>
          <a:p>
            <a:pPr marL="342900" indent="-342900">
              <a:spcBef>
                <a:spcPct val="20000"/>
              </a:spcBef>
              <a:buFontTx/>
              <a:buChar char="•"/>
              <a:defRPr/>
            </a:pPr>
            <a:r>
              <a:rPr lang="en-US" altLang="en-US" sz="2600" kern="0" dirty="0" smtClean="0">
                <a:solidFill>
                  <a:srgbClr val="222222"/>
                </a:solidFill>
                <a:latin typeface="Arial"/>
              </a:rPr>
              <a:t>Only by scrutinizing systems logs after employee has departed can organization determine if there has been a breach of policy or a loss of information</a:t>
            </a:r>
          </a:p>
          <a:p>
            <a:pPr marL="342900" indent="-342900">
              <a:spcBef>
                <a:spcPct val="20000"/>
              </a:spcBef>
              <a:buFontTx/>
              <a:buChar char="•"/>
              <a:defRPr/>
            </a:pPr>
            <a:r>
              <a:rPr lang="en-US" altLang="en-US" sz="2600" kern="0" dirty="0" smtClean="0">
                <a:solidFill>
                  <a:srgbClr val="222222"/>
                </a:solidFill>
                <a:latin typeface="Arial"/>
              </a:rPr>
              <a:t>If information has been illegally copied or stolen, report an incident and follow the appropriate policy</a:t>
            </a:r>
          </a:p>
        </p:txBody>
      </p:sp>
    </p:spTree>
    <p:extLst>
      <p:ext uri="{BB962C8B-B14F-4D97-AF65-F5344CB8AC3E}">
        <p14:creationId xmlns:p14="http://schemas.microsoft.com/office/powerpoint/2010/main" val="4382567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70E69D5-27A2-42C7-815E-C0A11C643A09}" type="slidenum">
              <a:rPr lang="en-US" altLang="en-US"/>
              <a:pPr/>
              <a:t>43</a:t>
            </a:fld>
            <a:endParaRPr lang="en-US" altLang="en-US"/>
          </a:p>
        </p:txBody>
      </p:sp>
      <p:sp>
        <p:nvSpPr>
          <p:cNvPr id="10035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Temporary Employees</a:t>
            </a:r>
          </a:p>
          <a:p>
            <a:pPr marL="342900" indent="-342900">
              <a:spcBef>
                <a:spcPct val="20000"/>
              </a:spcBef>
              <a:buFontTx/>
              <a:buChar char="•"/>
              <a:defRPr/>
            </a:pPr>
            <a:r>
              <a:rPr lang="en-US" altLang="en-US" sz="2600" kern="0" dirty="0" smtClean="0">
                <a:solidFill>
                  <a:srgbClr val="222222"/>
                </a:solidFill>
                <a:latin typeface="Arial"/>
              </a:rPr>
              <a:t>Hired by organization to serve in temporary position or to supplement existing workforce </a:t>
            </a:r>
          </a:p>
          <a:p>
            <a:pPr marL="342900" indent="-342900">
              <a:spcBef>
                <a:spcPct val="20000"/>
              </a:spcBef>
              <a:buFontTx/>
              <a:buChar char="•"/>
              <a:defRPr/>
            </a:pPr>
            <a:r>
              <a:rPr lang="en-US" altLang="en-US" sz="2600" kern="0" dirty="0" smtClean="0">
                <a:solidFill>
                  <a:srgbClr val="222222"/>
                </a:solidFill>
                <a:latin typeface="Arial"/>
              </a:rPr>
              <a:t>Often not subject to contractual obligations or general policies; if temporary employees violate a policy or cause a problem, possible actions are limited</a:t>
            </a:r>
          </a:p>
          <a:p>
            <a:pPr marL="342900" indent="-342900">
              <a:spcBef>
                <a:spcPct val="20000"/>
              </a:spcBef>
              <a:buFontTx/>
              <a:buChar char="•"/>
              <a:defRPr/>
            </a:pPr>
            <a:r>
              <a:rPr lang="en-US" altLang="en-US" sz="2600" kern="0" dirty="0" smtClean="0">
                <a:solidFill>
                  <a:srgbClr val="222222"/>
                </a:solidFill>
                <a:latin typeface="Arial"/>
              </a:rPr>
              <a:t>Access to information for temporary employees should be limited to that necessary to perform duties</a:t>
            </a:r>
          </a:p>
          <a:p>
            <a:pPr marL="342900" indent="-342900">
              <a:spcBef>
                <a:spcPct val="20000"/>
              </a:spcBef>
              <a:buFontTx/>
              <a:buChar char="•"/>
              <a:defRPr/>
            </a:pPr>
            <a:r>
              <a:rPr lang="en-US" altLang="en-US" sz="2600" kern="0" dirty="0" smtClean="0">
                <a:solidFill>
                  <a:srgbClr val="222222"/>
                </a:solidFill>
                <a:latin typeface="Arial"/>
              </a:rPr>
              <a:t>Temporary employee’s supervisor must restrict the information to which access is possible</a:t>
            </a:r>
          </a:p>
        </p:txBody>
      </p:sp>
    </p:spTree>
    <p:extLst>
      <p:ext uri="{BB962C8B-B14F-4D97-AF65-F5344CB8AC3E}">
        <p14:creationId xmlns:p14="http://schemas.microsoft.com/office/powerpoint/2010/main" val="40254054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0D4FB1F-73BA-4CEB-B41F-D24CC3A1D619}" type="slidenum">
              <a:rPr lang="en-US" altLang="en-US"/>
              <a:pPr/>
              <a:t>44</a:t>
            </a:fld>
            <a:endParaRPr lang="en-US" altLang="en-US"/>
          </a:p>
        </p:txBody>
      </p:sp>
      <p:sp>
        <p:nvSpPr>
          <p:cNvPr id="10137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Contract Employees </a:t>
            </a:r>
          </a:p>
          <a:p>
            <a:pPr marL="342900" indent="-342900">
              <a:spcBef>
                <a:spcPct val="20000"/>
              </a:spcBef>
              <a:buFontTx/>
              <a:buChar char="•"/>
              <a:defRPr/>
            </a:pPr>
            <a:r>
              <a:rPr lang="en-US" altLang="en-US" sz="2600" kern="0" dirty="0" smtClean="0">
                <a:solidFill>
                  <a:srgbClr val="222222"/>
                </a:solidFill>
                <a:latin typeface="Arial"/>
              </a:rPr>
              <a:t>Typically hired to perform specific services for organization</a:t>
            </a:r>
          </a:p>
          <a:p>
            <a:pPr marL="342900" indent="-342900">
              <a:spcBef>
                <a:spcPct val="20000"/>
              </a:spcBef>
              <a:buFontTx/>
              <a:buChar char="•"/>
              <a:defRPr/>
            </a:pPr>
            <a:r>
              <a:rPr lang="en-US" altLang="en-US" sz="2600" kern="0" dirty="0" smtClean="0">
                <a:solidFill>
                  <a:srgbClr val="222222"/>
                </a:solidFill>
                <a:latin typeface="Arial"/>
              </a:rPr>
              <a:t>Host company often makes contract with parent organization rather than with individual for a particular task</a:t>
            </a:r>
          </a:p>
          <a:p>
            <a:pPr marL="342900" indent="-342900">
              <a:spcBef>
                <a:spcPct val="20000"/>
              </a:spcBef>
              <a:buFontTx/>
              <a:buChar char="•"/>
              <a:defRPr/>
            </a:pPr>
            <a:r>
              <a:rPr lang="en-US" altLang="en-US" sz="2600" kern="0" dirty="0" smtClean="0">
                <a:solidFill>
                  <a:srgbClr val="222222"/>
                </a:solidFill>
                <a:latin typeface="Arial"/>
              </a:rPr>
              <a:t>In secure facility, all contract employees escorted from room to room, as well as into and out of facility</a:t>
            </a:r>
          </a:p>
          <a:p>
            <a:pPr marL="342900" indent="-342900">
              <a:spcBef>
                <a:spcPct val="20000"/>
              </a:spcBef>
              <a:buFontTx/>
              <a:buChar char="•"/>
              <a:defRPr/>
            </a:pPr>
            <a:r>
              <a:rPr lang="en-US" altLang="en-US" sz="2600" kern="0" dirty="0" smtClean="0">
                <a:solidFill>
                  <a:srgbClr val="222222"/>
                </a:solidFill>
                <a:latin typeface="Arial"/>
              </a:rPr>
              <a:t>There is need for restrictions or requirements to be negotiated into contract agreements when they are activated</a:t>
            </a:r>
          </a:p>
        </p:txBody>
      </p:sp>
    </p:spTree>
    <p:extLst>
      <p:ext uri="{BB962C8B-B14F-4D97-AF65-F5344CB8AC3E}">
        <p14:creationId xmlns:p14="http://schemas.microsoft.com/office/powerpoint/2010/main" val="23737708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BE3951C-37C8-4532-8F0E-0DBB775350C7}" type="slidenum">
              <a:rPr lang="en-US" altLang="en-US"/>
              <a:pPr/>
              <a:t>45</a:t>
            </a:fld>
            <a:endParaRPr lang="en-US" altLang="en-US"/>
          </a:p>
        </p:txBody>
      </p:sp>
      <p:sp>
        <p:nvSpPr>
          <p:cNvPr id="10240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Consultants</a:t>
            </a:r>
          </a:p>
          <a:p>
            <a:pPr marL="342900" indent="-342900">
              <a:spcBef>
                <a:spcPct val="20000"/>
              </a:spcBef>
              <a:buFontTx/>
              <a:buChar char="•"/>
              <a:defRPr/>
            </a:pPr>
            <a:r>
              <a:rPr lang="en-US" altLang="en-US" sz="2600" kern="0" dirty="0" smtClean="0">
                <a:solidFill>
                  <a:srgbClr val="222222"/>
                </a:solidFill>
                <a:latin typeface="Arial"/>
              </a:rPr>
              <a:t>Contracts for consultants should specify all requirements for information or facility access before allowed into workplace</a:t>
            </a:r>
          </a:p>
          <a:p>
            <a:pPr marL="342900" indent="-342900">
              <a:spcBef>
                <a:spcPct val="20000"/>
              </a:spcBef>
              <a:buFontTx/>
              <a:buChar char="•"/>
              <a:defRPr/>
            </a:pPr>
            <a:r>
              <a:rPr lang="en-US" altLang="en-US" sz="2600" kern="0" dirty="0" smtClean="0">
                <a:solidFill>
                  <a:srgbClr val="222222"/>
                </a:solidFill>
                <a:latin typeface="Arial"/>
              </a:rPr>
              <a:t>Security and technology consultants must be prescreened, escorted, and subjected to nondisclosure agreements to protect organization</a:t>
            </a:r>
          </a:p>
          <a:p>
            <a:pPr marL="342900" indent="-342900">
              <a:spcBef>
                <a:spcPct val="20000"/>
              </a:spcBef>
              <a:buFontTx/>
              <a:buChar char="•"/>
              <a:defRPr/>
            </a:pPr>
            <a:r>
              <a:rPr lang="en-US" sz="2600" kern="0" dirty="0" smtClean="0">
                <a:solidFill>
                  <a:srgbClr val="222222"/>
                </a:solidFill>
                <a:latin typeface="Arial"/>
              </a:rPr>
              <a:t>Just because organization is paying an information security consultant, the protection of their information doesn’t become the consultant’s top priority.</a:t>
            </a:r>
            <a:endParaRPr lang="en-US" altLang="en-US" sz="2600" kern="0" dirty="0" smtClean="0">
              <a:solidFill>
                <a:srgbClr val="222222"/>
              </a:solidFill>
              <a:latin typeface="Arial"/>
            </a:endParaRPr>
          </a:p>
        </p:txBody>
      </p:sp>
    </p:spTree>
    <p:extLst>
      <p:ext uri="{BB962C8B-B14F-4D97-AF65-F5344CB8AC3E}">
        <p14:creationId xmlns:p14="http://schemas.microsoft.com/office/powerpoint/2010/main" val="3621492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CCE4187-AA6D-41ED-8883-6E5E62C75EF9}" type="slidenum">
              <a:rPr lang="en-US" altLang="en-US"/>
              <a:pPr/>
              <a:t>46</a:t>
            </a:fld>
            <a:endParaRPr lang="en-US" altLang="en-US"/>
          </a:p>
        </p:txBody>
      </p:sp>
      <p:sp>
        <p:nvSpPr>
          <p:cNvPr id="10342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Business Partners</a:t>
            </a:r>
          </a:p>
          <a:p>
            <a:pPr marL="342900" indent="-342900">
              <a:spcBef>
                <a:spcPct val="20000"/>
              </a:spcBef>
              <a:buFontTx/>
              <a:buChar char="•"/>
              <a:defRPr/>
            </a:pPr>
            <a:r>
              <a:rPr lang="en-US" altLang="en-US" sz="2600" kern="0" dirty="0" smtClean="0">
                <a:solidFill>
                  <a:srgbClr val="222222"/>
                </a:solidFill>
                <a:latin typeface="Arial"/>
              </a:rPr>
              <a:t>Businesses create strategic alliances with other organizations, desiring to exchange information, integrate systems, or discuss operations</a:t>
            </a:r>
          </a:p>
          <a:p>
            <a:pPr marL="342900" indent="-342900">
              <a:spcBef>
                <a:spcPct val="20000"/>
              </a:spcBef>
              <a:buFontTx/>
              <a:buChar char="•"/>
              <a:defRPr/>
            </a:pPr>
            <a:r>
              <a:rPr lang="en-US" altLang="en-US" sz="2600" kern="0" dirty="0" smtClean="0">
                <a:solidFill>
                  <a:srgbClr val="222222"/>
                </a:solidFill>
                <a:latin typeface="Arial"/>
              </a:rPr>
              <a:t>There must be meticulous, deliberate determination of what information is to be exchanged, in what format, and to whom</a:t>
            </a:r>
          </a:p>
          <a:p>
            <a:pPr marL="342900" indent="-342900">
              <a:spcBef>
                <a:spcPct val="20000"/>
              </a:spcBef>
              <a:buFontTx/>
              <a:buChar char="•"/>
              <a:defRPr/>
            </a:pPr>
            <a:r>
              <a:rPr lang="en-US" altLang="en-US" sz="2600" kern="0" dirty="0" smtClean="0">
                <a:solidFill>
                  <a:srgbClr val="222222"/>
                </a:solidFill>
                <a:latin typeface="Arial"/>
              </a:rPr>
              <a:t>Nondisclosure agreements and the security levels of both systems must be examined before any physical integration takes place</a:t>
            </a:r>
          </a:p>
        </p:txBody>
      </p:sp>
    </p:spTree>
    <p:extLst>
      <p:ext uri="{BB962C8B-B14F-4D97-AF65-F5344CB8AC3E}">
        <p14:creationId xmlns:p14="http://schemas.microsoft.com/office/powerpoint/2010/main" val="6343555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AFD6F50-A403-4B1C-9548-45AE632E3714}" type="slidenum">
              <a:rPr lang="en-US" altLang="en-US"/>
              <a:pPr/>
              <a:t>47</a:t>
            </a:fld>
            <a:endParaRPr lang="en-US" altLang="en-US"/>
          </a:p>
        </p:txBody>
      </p:sp>
      <p:sp>
        <p:nvSpPr>
          <p:cNvPr id="10445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Internal Control Strategies</a:t>
            </a:r>
          </a:p>
          <a:p>
            <a:pPr marL="342900" indent="-342900">
              <a:spcBef>
                <a:spcPct val="20000"/>
              </a:spcBef>
              <a:buFontTx/>
              <a:buChar char="•"/>
              <a:defRPr/>
            </a:pPr>
            <a:r>
              <a:rPr lang="en-US" altLang="en-US" sz="2600" kern="0" dirty="0" smtClean="0">
                <a:solidFill>
                  <a:srgbClr val="222222"/>
                </a:solidFill>
                <a:latin typeface="Arial"/>
              </a:rPr>
              <a:t>Separation of duties is cornerstone in protection of information assets and prevention of financial loss</a:t>
            </a:r>
          </a:p>
          <a:p>
            <a:pPr marL="742950" lvl="1" indent="-285750">
              <a:spcBef>
                <a:spcPct val="20000"/>
              </a:spcBef>
              <a:buFontTx/>
              <a:buChar char="–"/>
              <a:defRPr/>
            </a:pPr>
            <a:r>
              <a:rPr lang="en-US" altLang="en-US" sz="2400" kern="0" dirty="0" smtClean="0">
                <a:solidFill>
                  <a:srgbClr val="222222"/>
                </a:solidFill>
                <a:latin typeface="Arial"/>
              </a:rPr>
              <a:t>Used to reduce chance that employee will violate information security; stipulates that completion of significant task requires at least two people</a:t>
            </a:r>
          </a:p>
          <a:p>
            <a:pPr marL="342900" indent="-342900">
              <a:spcBef>
                <a:spcPct val="20000"/>
              </a:spcBef>
              <a:buFontTx/>
              <a:buChar char="•"/>
              <a:defRPr/>
            </a:pPr>
            <a:r>
              <a:rPr lang="en-US" altLang="en-US" sz="2600" kern="0" dirty="0" smtClean="0">
                <a:solidFill>
                  <a:srgbClr val="222222"/>
                </a:solidFill>
                <a:latin typeface="Arial"/>
              </a:rPr>
              <a:t>Two-man control: two individuals review and approve each other’s work before the task is categorized as finished</a:t>
            </a:r>
          </a:p>
          <a:p>
            <a:pPr eaLnBrk="1" hangingPunct="1">
              <a:defRPr/>
            </a:pPr>
            <a:endParaRPr lang="en-US" altLang="en-US" dirty="0" smtClean="0"/>
          </a:p>
        </p:txBody>
      </p:sp>
    </p:spTree>
    <p:extLst>
      <p:ext uri="{BB962C8B-B14F-4D97-AF65-F5344CB8AC3E}">
        <p14:creationId xmlns:p14="http://schemas.microsoft.com/office/powerpoint/2010/main" val="37644240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Internal Control Strategies</a:t>
            </a:r>
          </a:p>
          <a:p>
            <a:pPr marL="342900" indent="-342900">
              <a:spcBef>
                <a:spcPct val="20000"/>
              </a:spcBef>
              <a:buFontTx/>
              <a:buChar char="•"/>
              <a:defRPr/>
            </a:pPr>
            <a:r>
              <a:rPr lang="en-US" altLang="en-US" sz="2600" kern="0" dirty="0" smtClean="0">
                <a:solidFill>
                  <a:srgbClr val="222222"/>
                </a:solidFill>
                <a:latin typeface="Arial"/>
              </a:rPr>
              <a:t>Job rotation: employees know each others’ job skills</a:t>
            </a:r>
          </a:p>
          <a:p>
            <a:pPr marL="742950" lvl="1" indent="-285750">
              <a:spcBef>
                <a:spcPct val="20000"/>
              </a:spcBef>
              <a:buFontTx/>
              <a:buChar char="–"/>
              <a:defRPr/>
            </a:pPr>
            <a:r>
              <a:rPr lang="en-US" altLang="en-US" sz="2400" kern="0" dirty="0" smtClean="0">
                <a:solidFill>
                  <a:srgbClr val="222222"/>
                </a:solidFill>
                <a:latin typeface="Arial"/>
              </a:rPr>
              <a:t>Ensures no one employee performs actions that cannot be physically audited by another employee</a:t>
            </a:r>
          </a:p>
          <a:p>
            <a:pPr marL="342900" indent="-342900">
              <a:spcBef>
                <a:spcPct val="20000"/>
              </a:spcBef>
              <a:buFontTx/>
              <a:buChar char="•"/>
              <a:defRPr/>
            </a:pPr>
            <a:r>
              <a:rPr lang="en-US" altLang="en-US" sz="2600" kern="0" dirty="0" smtClean="0">
                <a:solidFill>
                  <a:srgbClr val="222222"/>
                </a:solidFill>
                <a:latin typeface="Arial"/>
              </a:rPr>
              <a:t>Garden leave used by some companies to restrict flow of proprietary information when employee leaves to join competitor</a:t>
            </a:r>
          </a:p>
          <a:p>
            <a:pPr marL="342900" indent="-342900">
              <a:spcBef>
                <a:spcPct val="20000"/>
              </a:spcBef>
              <a:buFontTx/>
              <a:buChar char="•"/>
              <a:defRPr/>
            </a:pPr>
            <a:r>
              <a:rPr lang="en-US" altLang="en-US" sz="2600" kern="0" dirty="0" smtClean="0">
                <a:solidFill>
                  <a:srgbClr val="222222"/>
                </a:solidFill>
                <a:latin typeface="Arial"/>
              </a:rPr>
              <a:t>Least privilege: only employees with real business need to use systems information allowed to do so</a:t>
            </a:r>
          </a:p>
          <a:p>
            <a:pPr>
              <a:defRPr/>
            </a:pPr>
            <a:endParaRPr lang="en-US" b="1" dirty="0"/>
          </a:p>
        </p:txBody>
      </p:sp>
      <p:sp>
        <p:nvSpPr>
          <p:cNvPr id="10650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2857408-D8E9-4CCC-A8DB-76E2D8EC7F80}" type="slidenum">
              <a:rPr lang="en-US" altLang="en-US"/>
              <a:pPr/>
              <a:t>48</a:t>
            </a:fld>
            <a:endParaRPr lang="en-US" altLang="en-US"/>
          </a:p>
        </p:txBody>
      </p:sp>
    </p:spTree>
    <p:extLst>
      <p:ext uri="{BB962C8B-B14F-4D97-AF65-F5344CB8AC3E}">
        <p14:creationId xmlns:p14="http://schemas.microsoft.com/office/powerpoint/2010/main" val="33801342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Internal Control Strategies</a:t>
            </a:r>
          </a:p>
          <a:p>
            <a:pPr marL="342900" indent="-342900">
              <a:spcBef>
                <a:spcPct val="20000"/>
              </a:spcBef>
              <a:buFontTx/>
              <a:buChar char="•"/>
              <a:defRPr/>
            </a:pPr>
            <a:r>
              <a:rPr lang="en-US" altLang="en-US" sz="2600" kern="0" dirty="0" smtClean="0">
                <a:solidFill>
                  <a:srgbClr val="222222"/>
                </a:solidFill>
                <a:latin typeface="Arial"/>
              </a:rPr>
              <a:t>Job rotation: employees know each others’ job skills</a:t>
            </a:r>
          </a:p>
          <a:p>
            <a:pPr marL="742950" lvl="1" indent="-285750">
              <a:spcBef>
                <a:spcPct val="20000"/>
              </a:spcBef>
              <a:buFontTx/>
              <a:buChar char="–"/>
              <a:defRPr/>
            </a:pPr>
            <a:r>
              <a:rPr lang="en-US" altLang="en-US" sz="2400" kern="0" dirty="0" smtClean="0">
                <a:solidFill>
                  <a:srgbClr val="222222"/>
                </a:solidFill>
                <a:latin typeface="Arial"/>
              </a:rPr>
              <a:t>Ensures no one employee performs actions that cannot be physically audited by another employee</a:t>
            </a:r>
          </a:p>
          <a:p>
            <a:pPr marL="342900" indent="-342900">
              <a:spcBef>
                <a:spcPct val="20000"/>
              </a:spcBef>
              <a:buFontTx/>
              <a:buChar char="•"/>
              <a:defRPr/>
            </a:pPr>
            <a:r>
              <a:rPr lang="en-US" altLang="en-US" sz="2600" kern="0" dirty="0" smtClean="0">
                <a:solidFill>
                  <a:srgbClr val="222222"/>
                </a:solidFill>
                <a:latin typeface="Arial"/>
              </a:rPr>
              <a:t>Garden leave used by some companies to restrict flow of proprietary information when employee leaves to join competitor</a:t>
            </a:r>
          </a:p>
          <a:p>
            <a:pPr marL="342900" indent="-342900">
              <a:spcBef>
                <a:spcPct val="20000"/>
              </a:spcBef>
              <a:buFontTx/>
              <a:buChar char="•"/>
              <a:defRPr/>
            </a:pPr>
            <a:r>
              <a:rPr lang="en-US" altLang="en-US" sz="2600" kern="0" dirty="0" smtClean="0">
                <a:solidFill>
                  <a:srgbClr val="222222"/>
                </a:solidFill>
                <a:latin typeface="Arial"/>
              </a:rPr>
              <a:t>Least privilege: only employees with real business need to use systems information allowed to do so</a:t>
            </a:r>
          </a:p>
          <a:p>
            <a:pPr>
              <a:defRPr/>
            </a:pPr>
            <a:endParaRPr lang="en-US" b="1" dirty="0"/>
          </a:p>
        </p:txBody>
      </p:sp>
      <p:sp>
        <p:nvSpPr>
          <p:cNvPr id="10650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2857408-D8E9-4CCC-A8DB-76E2D8EC7F80}" type="slidenum">
              <a:rPr lang="en-US" altLang="en-US"/>
              <a:pPr/>
              <a:t>49</a:t>
            </a:fld>
            <a:endParaRPr lang="en-US" altLang="en-US"/>
          </a:p>
        </p:txBody>
      </p:sp>
    </p:spTree>
    <p:extLst>
      <p:ext uri="{BB962C8B-B14F-4D97-AF65-F5344CB8AC3E}">
        <p14:creationId xmlns:p14="http://schemas.microsoft.com/office/powerpoint/2010/main" val="33801342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p:txBody>
          <a:bodyPr/>
          <a:lstStyle/>
          <a:p>
            <a:endParaRPr lang="en-US" altLang="en-US" dirty="0" smtClean="0"/>
          </a:p>
        </p:txBody>
      </p:sp>
      <p:sp>
        <p:nvSpPr>
          <p:cNvPr id="10547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8BF0D39-8DA9-4DEA-944E-35E4D9552F53}" type="slidenum">
              <a:rPr lang="en-US" altLang="en-US"/>
              <a:pPr/>
              <a:t>50</a:t>
            </a:fld>
            <a:endParaRPr lang="en-US" altLang="en-US"/>
          </a:p>
        </p:txBody>
      </p:sp>
    </p:spTree>
    <p:extLst>
      <p:ext uri="{BB962C8B-B14F-4D97-AF65-F5344CB8AC3E}">
        <p14:creationId xmlns:p14="http://schemas.microsoft.com/office/powerpoint/2010/main" val="15621246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D260A39-1705-45BE-8667-F74F7093FAF3}" type="slidenum">
              <a:rPr lang="en-US" altLang="en-US"/>
              <a:pPr/>
              <a:t>51</a:t>
            </a:fld>
            <a:endParaRPr lang="en-US" altLang="en-US"/>
          </a:p>
        </p:txBody>
      </p:sp>
      <p:sp>
        <p:nvSpPr>
          <p:cNvPr id="107523"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Privacy and the Security of Personnel Data</a:t>
            </a:r>
          </a:p>
          <a:p>
            <a:pPr marL="342900" indent="-342900">
              <a:spcBef>
                <a:spcPct val="20000"/>
              </a:spcBef>
              <a:buFontTx/>
              <a:buChar char="•"/>
              <a:defRPr/>
            </a:pPr>
            <a:r>
              <a:rPr lang="en-US" altLang="en-US" sz="2600" kern="0" dirty="0" smtClean="0">
                <a:solidFill>
                  <a:srgbClr val="222222"/>
                </a:solidFill>
                <a:latin typeface="Arial"/>
              </a:rPr>
              <a:t>Organizations required by law to protect sensitive or personal employee information</a:t>
            </a:r>
          </a:p>
          <a:p>
            <a:pPr marL="342900" indent="-342900">
              <a:spcBef>
                <a:spcPct val="20000"/>
              </a:spcBef>
              <a:buFontTx/>
              <a:buChar char="•"/>
              <a:defRPr/>
            </a:pPr>
            <a:r>
              <a:rPr lang="en-US" altLang="en-US" sz="2600" kern="0" dirty="0" smtClean="0">
                <a:solidFill>
                  <a:srgbClr val="222222"/>
                </a:solidFill>
                <a:latin typeface="Arial"/>
              </a:rPr>
              <a:t>Includes employee addresses, phone numbers, Social Security numbers, medical conditions, and family names and addresses</a:t>
            </a:r>
          </a:p>
          <a:p>
            <a:pPr marL="342900" indent="-342900">
              <a:spcBef>
                <a:spcPct val="20000"/>
              </a:spcBef>
              <a:buFontTx/>
              <a:buChar char="•"/>
              <a:defRPr/>
            </a:pPr>
            <a:r>
              <a:rPr lang="en-US" altLang="en-US" sz="2600" kern="0" dirty="0" smtClean="0">
                <a:solidFill>
                  <a:srgbClr val="222222"/>
                </a:solidFill>
                <a:latin typeface="Arial"/>
              </a:rPr>
              <a:t>Information security groups should ensure this data receives at least same level of protection as other important organization data</a:t>
            </a:r>
          </a:p>
        </p:txBody>
      </p:sp>
    </p:spTree>
    <p:extLst>
      <p:ext uri="{BB962C8B-B14F-4D97-AF65-F5344CB8AC3E}">
        <p14:creationId xmlns:p14="http://schemas.microsoft.com/office/powerpoint/2010/main" val="24079999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p:txBody>
          <a:bodyPr/>
          <a:lstStyle/>
          <a:p>
            <a:endParaRPr lang="en-US" altLang="en-US" smtClean="0"/>
          </a:p>
        </p:txBody>
      </p:sp>
      <p:sp>
        <p:nvSpPr>
          <p:cNvPr id="10854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8ADDDC9-A548-436B-BEEB-74AD6AE80575}" type="slidenum">
              <a:rPr lang="en-US" altLang="en-US"/>
              <a:pPr/>
              <a:t>52</a:t>
            </a:fld>
            <a:endParaRPr lang="en-US" altLang="en-US"/>
          </a:p>
        </p:txBody>
      </p:sp>
    </p:spTree>
    <p:extLst>
      <p:ext uri="{BB962C8B-B14F-4D97-AF65-F5344CB8AC3E}">
        <p14:creationId xmlns:p14="http://schemas.microsoft.com/office/powerpoint/2010/main" val="1702913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Conten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Conten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236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67615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509557660"/>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796925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a:prstGeom prst="rect">
            <a:avLst/>
          </a:prstGeo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5881406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272951023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152400"/>
            <a:ext cx="8229600" cy="622828"/>
          </a:xfrm>
        </p:spPr>
        <p:txBody>
          <a:bodyPr/>
          <a:lstStyle/>
          <a:p>
            <a:pPr algn="l"/>
            <a:r>
              <a:rPr lang="en-US" altLang="en-US" dirty="0"/>
              <a:t>Principles of Information Security</a:t>
            </a:r>
            <a:endParaRPr lang="en-US" dirty="0"/>
          </a:p>
        </p:txBody>
      </p:sp>
      <p:sp>
        <p:nvSpPr>
          <p:cNvPr id="5" name="Content Placeholder 4"/>
          <p:cNvSpPr>
            <a:spLocks noGrp="1"/>
          </p:cNvSpPr>
          <p:nvPr>
            <p:ph type="body" sz="quarter" idx="13"/>
          </p:nvPr>
        </p:nvSpPr>
        <p:spPr>
          <a:xfrm>
            <a:off x="38100" y="740230"/>
            <a:ext cx="8229600" cy="478970"/>
          </a:xfrm>
        </p:spPr>
        <p:txBody>
          <a:bodyPr/>
          <a:lstStyle/>
          <a:p>
            <a:r>
              <a:rPr lang="en-US" dirty="0"/>
              <a:t>Sixth Edition</a:t>
            </a:r>
          </a:p>
        </p:txBody>
      </p:sp>
      <p:sp>
        <p:nvSpPr>
          <p:cNvPr id="6" name="Content Placeholder 5"/>
          <p:cNvSpPr>
            <a:spLocks noGrp="1"/>
          </p:cNvSpPr>
          <p:nvPr>
            <p:ph type="body" sz="quarter" idx="14"/>
          </p:nvPr>
        </p:nvSpPr>
        <p:spPr>
          <a:xfrm>
            <a:off x="4572000" y="2861594"/>
            <a:ext cx="4038600" cy="2015206"/>
          </a:xfrm>
        </p:spPr>
        <p:txBody>
          <a:bodyPr/>
          <a:lstStyle/>
          <a:p>
            <a:pPr algn="ctr"/>
            <a:r>
              <a:rPr lang="en-US" sz="4000" b="1" dirty="0" smtClean="0"/>
              <a:t>Chapter 11</a:t>
            </a:r>
          </a:p>
          <a:p>
            <a:pPr algn="ctr"/>
            <a:r>
              <a:rPr lang="en-US" sz="4000" dirty="0" smtClean="0"/>
              <a:t>Security and Personnel</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title="Cengage Loc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431104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0"/>
          <p:cNvSpPr>
            <a:spLocks noGrp="1" noChangeArrowheads="1"/>
          </p:cNvSpPr>
          <p:nvPr>
            <p:ph type="title"/>
          </p:nvPr>
        </p:nvSpPr>
        <p:spPr/>
        <p:txBody>
          <a:bodyPr anchor="ctr">
            <a:normAutofit/>
          </a:bodyPr>
          <a:lstStyle/>
          <a:p>
            <a:r>
              <a:rPr lang="en-US" altLang="en-US" dirty="0" smtClean="0"/>
              <a:t>Learning Objectives (1 of 2)</a:t>
            </a:r>
          </a:p>
        </p:txBody>
      </p:sp>
      <p:sp>
        <p:nvSpPr>
          <p:cNvPr id="9219" name="Content Placeholder 11"/>
          <p:cNvSpPr>
            <a:spLocks noGrp="1" noChangeArrowheads="1"/>
          </p:cNvSpPr>
          <p:nvPr>
            <p:ph idx="1"/>
          </p:nvPr>
        </p:nvSpPr>
        <p:spPr/>
        <p:txBody>
          <a:bodyPr>
            <a:normAutofit/>
          </a:bodyPr>
          <a:lstStyle/>
          <a:p>
            <a:pPr>
              <a:spcBef>
                <a:spcPts val="600"/>
              </a:spcBef>
            </a:pPr>
            <a:r>
              <a:rPr lang="en-US" altLang="en-US" dirty="0" smtClean="0"/>
              <a:t>Upon completion of this material, you should be able to:</a:t>
            </a:r>
          </a:p>
          <a:p>
            <a:pPr lvl="1">
              <a:spcBef>
                <a:spcPts val="600"/>
              </a:spcBef>
            </a:pPr>
            <a:r>
              <a:rPr lang="en-US" dirty="0" smtClean="0"/>
              <a:t>Describe where and how the information security function should be positioned within organizations</a:t>
            </a:r>
          </a:p>
          <a:p>
            <a:pPr lvl="1">
              <a:spcBef>
                <a:spcPts val="600"/>
              </a:spcBef>
            </a:pPr>
            <a:r>
              <a:rPr lang="en-US" dirty="0" smtClean="0"/>
              <a:t>Explain the issues and concerns related to staffing the information security function</a:t>
            </a:r>
          </a:p>
          <a:p>
            <a:pPr lvl="1">
              <a:spcBef>
                <a:spcPts val="600"/>
              </a:spcBef>
            </a:pPr>
            <a:r>
              <a:rPr lang="en-US" dirty="0" smtClean="0"/>
              <a:t>List and describe the credentials that information security professionals can earn to gain recognition in the field</a:t>
            </a:r>
          </a:p>
        </p:txBody>
      </p:sp>
    </p:spTree>
    <p:extLst>
      <p:ext uri="{BB962C8B-B14F-4D97-AF65-F5344CB8AC3E}">
        <p14:creationId xmlns:p14="http://schemas.microsoft.com/office/powerpoint/2010/main" val="42108716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0"/>
          <p:cNvSpPr>
            <a:spLocks noGrp="1" noChangeArrowheads="1"/>
          </p:cNvSpPr>
          <p:nvPr>
            <p:ph type="title"/>
          </p:nvPr>
        </p:nvSpPr>
        <p:spPr/>
        <p:txBody>
          <a:bodyPr anchor="ctr"/>
          <a:lstStyle/>
          <a:p>
            <a:r>
              <a:rPr lang="en-US" altLang="en-US" dirty="0" smtClean="0"/>
              <a:t>Learning Objectives (2 of 2)</a:t>
            </a:r>
          </a:p>
        </p:txBody>
      </p:sp>
      <p:sp>
        <p:nvSpPr>
          <p:cNvPr id="9219" name="Content Placeholder 11"/>
          <p:cNvSpPr>
            <a:spLocks noGrp="1" noChangeArrowheads="1"/>
          </p:cNvSpPr>
          <p:nvPr>
            <p:ph idx="1"/>
          </p:nvPr>
        </p:nvSpPr>
        <p:spPr>
          <a:xfrm>
            <a:off x="228600" y="1295401"/>
            <a:ext cx="8610600" cy="4572000"/>
          </a:xfrm>
        </p:spPr>
        <p:txBody>
          <a:bodyPr>
            <a:normAutofit/>
          </a:bodyPr>
          <a:lstStyle/>
          <a:p>
            <a:pPr lvl="1">
              <a:spcBef>
                <a:spcPts val="600"/>
              </a:spcBef>
            </a:pPr>
            <a:r>
              <a:rPr lang="en-US" dirty="0"/>
              <a:t>Discuss how an organization’s employment policies and practices can support the information security effort</a:t>
            </a:r>
          </a:p>
          <a:p>
            <a:pPr lvl="1">
              <a:spcBef>
                <a:spcPts val="600"/>
              </a:spcBef>
            </a:pPr>
            <a:r>
              <a:rPr lang="en-US" dirty="0" smtClean="0"/>
              <a:t>Identify the special security precautions that must be taken when using contract workers</a:t>
            </a:r>
          </a:p>
          <a:p>
            <a:pPr lvl="1">
              <a:spcBef>
                <a:spcPts val="600"/>
              </a:spcBef>
            </a:pPr>
            <a:r>
              <a:rPr lang="en-US" dirty="0" smtClean="0"/>
              <a:t>Explain the need for the separation of duties</a:t>
            </a:r>
          </a:p>
          <a:p>
            <a:pPr lvl="1">
              <a:spcBef>
                <a:spcPts val="600"/>
              </a:spcBef>
            </a:pPr>
            <a:r>
              <a:rPr lang="en-US" dirty="0" smtClean="0"/>
              <a:t>Describe the special requirements needed to ensure the privacy of personnel data</a:t>
            </a:r>
            <a:endParaRPr lang="en-US" altLang="en-US" dirty="0" smtClean="0"/>
          </a:p>
        </p:txBody>
      </p:sp>
    </p:spTree>
    <p:extLst>
      <p:ext uri="{BB962C8B-B14F-4D97-AF65-F5344CB8AC3E}">
        <p14:creationId xmlns:p14="http://schemas.microsoft.com/office/powerpoint/2010/main" val="2187607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noChangeArrowheads="1"/>
          </p:cNvSpPr>
          <p:nvPr>
            <p:ph type="title"/>
          </p:nvPr>
        </p:nvSpPr>
        <p:spPr/>
        <p:txBody>
          <a:bodyPr anchor="ctr"/>
          <a:lstStyle/>
          <a:p>
            <a:r>
              <a:rPr lang="en-US" altLang="en-US" dirty="0" smtClean="0"/>
              <a:t>Introduction </a:t>
            </a:r>
          </a:p>
        </p:txBody>
      </p:sp>
      <p:sp>
        <p:nvSpPr>
          <p:cNvPr id="11267" name="Content Placeholder 5"/>
          <p:cNvSpPr>
            <a:spLocks noGrp="1" noChangeArrowheads="1"/>
          </p:cNvSpPr>
          <p:nvPr>
            <p:ph idx="1"/>
          </p:nvPr>
        </p:nvSpPr>
        <p:spPr/>
        <p:txBody>
          <a:bodyPr>
            <a:normAutofit fontScale="85000" lnSpcReduction="10000"/>
          </a:bodyPr>
          <a:lstStyle/>
          <a:p>
            <a:pPr>
              <a:lnSpc>
                <a:spcPct val="110000"/>
              </a:lnSpc>
              <a:spcBef>
                <a:spcPts val="600"/>
              </a:spcBef>
            </a:pPr>
            <a:r>
              <a:rPr lang="en-US" altLang="en-US" sz="3000" dirty="0" smtClean="0"/>
              <a:t>When implementing information security, there are many human resource issues that must be addressed.</a:t>
            </a:r>
          </a:p>
          <a:p>
            <a:pPr lvl="1">
              <a:lnSpc>
                <a:spcPct val="110000"/>
              </a:lnSpc>
              <a:spcBef>
                <a:spcPts val="600"/>
              </a:spcBef>
            </a:pPr>
            <a:r>
              <a:rPr lang="en-US" altLang="en-US" sz="2800" dirty="0" smtClean="0"/>
              <a:t>Positioning and naming the security function</a:t>
            </a:r>
          </a:p>
          <a:p>
            <a:pPr lvl="1">
              <a:lnSpc>
                <a:spcPct val="110000"/>
              </a:lnSpc>
              <a:spcBef>
                <a:spcPts val="600"/>
              </a:spcBef>
            </a:pPr>
            <a:r>
              <a:rPr lang="en-US" altLang="en-US" sz="2800" dirty="0" smtClean="0"/>
              <a:t>Staffing for or adjustments to the staffing plan</a:t>
            </a:r>
          </a:p>
          <a:p>
            <a:pPr lvl="1">
              <a:lnSpc>
                <a:spcPct val="110000"/>
              </a:lnSpc>
              <a:spcBef>
                <a:spcPts val="600"/>
              </a:spcBef>
            </a:pPr>
            <a:r>
              <a:rPr lang="en-US" altLang="en-US" sz="2800" dirty="0" smtClean="0"/>
              <a:t>Assessing the impact of information security on every IT function </a:t>
            </a:r>
          </a:p>
          <a:p>
            <a:pPr lvl="1">
              <a:lnSpc>
                <a:spcPct val="110000"/>
              </a:lnSpc>
              <a:spcBef>
                <a:spcPts val="600"/>
              </a:spcBef>
            </a:pPr>
            <a:r>
              <a:rPr lang="en-US" altLang="en-US" sz="2800" dirty="0" smtClean="0"/>
              <a:t>Integrating solid information security concepts into personnel management practices </a:t>
            </a:r>
          </a:p>
          <a:p>
            <a:pPr>
              <a:lnSpc>
                <a:spcPct val="110000"/>
              </a:lnSpc>
              <a:spcBef>
                <a:spcPts val="600"/>
              </a:spcBef>
            </a:pPr>
            <a:r>
              <a:rPr lang="en-US" altLang="en-US" sz="3000" dirty="0" smtClean="0"/>
              <a:t>Employees often feel threatened when an information security program is being created or enhanced.</a:t>
            </a:r>
          </a:p>
        </p:txBody>
      </p:sp>
    </p:spTree>
    <p:extLst>
      <p:ext uri="{BB962C8B-B14F-4D97-AF65-F5344CB8AC3E}">
        <p14:creationId xmlns:p14="http://schemas.microsoft.com/office/powerpoint/2010/main" val="42005424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p:cNvSpPr>
            <a:spLocks noGrp="1" noChangeArrowheads="1"/>
          </p:cNvSpPr>
          <p:nvPr>
            <p:ph type="title"/>
          </p:nvPr>
        </p:nvSpPr>
        <p:spPr/>
        <p:txBody>
          <a:bodyPr anchor="ctr">
            <a:normAutofit fontScale="90000"/>
          </a:bodyPr>
          <a:lstStyle/>
          <a:p>
            <a:r>
              <a:rPr lang="en-US" altLang="en-US" dirty="0" smtClean="0"/>
              <a:t>Positioning and Staffing the Security Function</a:t>
            </a:r>
          </a:p>
        </p:txBody>
      </p:sp>
      <p:sp>
        <p:nvSpPr>
          <p:cNvPr id="12291" name="Content Placeholder 5"/>
          <p:cNvSpPr>
            <a:spLocks noGrp="1" noChangeArrowheads="1"/>
          </p:cNvSpPr>
          <p:nvPr>
            <p:ph idx="1"/>
          </p:nvPr>
        </p:nvSpPr>
        <p:spPr/>
        <p:txBody>
          <a:bodyPr/>
          <a:lstStyle/>
          <a:p>
            <a:pPr>
              <a:spcBef>
                <a:spcPts val="600"/>
              </a:spcBef>
            </a:pPr>
            <a:r>
              <a:rPr lang="en-US" altLang="en-US" dirty="0" smtClean="0"/>
              <a:t>The security function can be placed within:</a:t>
            </a:r>
          </a:p>
          <a:p>
            <a:pPr lvl="1">
              <a:spcBef>
                <a:spcPts val="600"/>
              </a:spcBef>
            </a:pPr>
            <a:r>
              <a:rPr lang="en-US" altLang="en-US" dirty="0" smtClean="0"/>
              <a:t>IT function </a:t>
            </a:r>
          </a:p>
          <a:p>
            <a:pPr lvl="1">
              <a:spcBef>
                <a:spcPts val="600"/>
              </a:spcBef>
            </a:pPr>
            <a:r>
              <a:rPr lang="en-US" altLang="en-US" dirty="0" smtClean="0"/>
              <a:t>Physical security function</a:t>
            </a:r>
          </a:p>
          <a:p>
            <a:pPr lvl="1">
              <a:spcBef>
                <a:spcPts val="600"/>
              </a:spcBef>
            </a:pPr>
            <a:r>
              <a:rPr lang="en-US" altLang="en-US" dirty="0" smtClean="0"/>
              <a:t>Administrative services function</a:t>
            </a:r>
          </a:p>
          <a:p>
            <a:pPr lvl="1">
              <a:spcBef>
                <a:spcPts val="600"/>
              </a:spcBef>
            </a:pPr>
            <a:r>
              <a:rPr lang="en-US" altLang="en-US" dirty="0" smtClean="0"/>
              <a:t>Insurance and risk management function</a:t>
            </a:r>
          </a:p>
          <a:p>
            <a:pPr lvl="1">
              <a:spcBef>
                <a:spcPts val="600"/>
              </a:spcBef>
            </a:pPr>
            <a:r>
              <a:rPr lang="en-US" altLang="en-US" dirty="0" smtClean="0"/>
              <a:t>Legal department</a:t>
            </a:r>
          </a:p>
          <a:p>
            <a:pPr>
              <a:spcBef>
                <a:spcPts val="600"/>
              </a:spcBef>
            </a:pPr>
            <a:r>
              <a:rPr lang="en-US" altLang="en-US" dirty="0" smtClean="0"/>
              <a:t>IS should balance duty to monitor compliance with needs for education, training, awareness, and customer service.</a:t>
            </a:r>
          </a:p>
        </p:txBody>
      </p:sp>
    </p:spTree>
    <p:extLst>
      <p:ext uri="{BB962C8B-B14F-4D97-AF65-F5344CB8AC3E}">
        <p14:creationId xmlns:p14="http://schemas.microsoft.com/office/powerpoint/2010/main" val="34562025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p:cNvSpPr>
            <a:spLocks noGrp="1" noChangeArrowheads="1"/>
          </p:cNvSpPr>
          <p:nvPr>
            <p:ph type="title"/>
          </p:nvPr>
        </p:nvSpPr>
        <p:spPr>
          <a:xfrm>
            <a:off x="381000" y="27709"/>
            <a:ext cx="7924800" cy="1039091"/>
          </a:xfrm>
        </p:spPr>
        <p:txBody>
          <a:bodyPr anchor="ctr">
            <a:noAutofit/>
          </a:bodyPr>
          <a:lstStyle/>
          <a:p>
            <a:r>
              <a:rPr lang="en-US" altLang="en-US" dirty="0" smtClean="0"/>
              <a:t>Staffing the Information Security Function (1 of </a:t>
            </a:r>
            <a:r>
              <a:rPr lang="en-US" altLang="en-US" dirty="0" smtClean="0"/>
              <a:t>6) </a:t>
            </a:r>
            <a:endParaRPr lang="en-US" altLang="en-US" dirty="0" smtClean="0"/>
          </a:p>
        </p:txBody>
      </p:sp>
      <p:sp>
        <p:nvSpPr>
          <p:cNvPr id="13315" name="Content Placeholder 5"/>
          <p:cNvSpPr>
            <a:spLocks noGrp="1" noChangeArrowheads="1"/>
          </p:cNvSpPr>
          <p:nvPr>
            <p:ph idx="1"/>
          </p:nvPr>
        </p:nvSpPr>
        <p:spPr/>
        <p:txBody>
          <a:bodyPr>
            <a:normAutofit/>
          </a:bodyPr>
          <a:lstStyle/>
          <a:p>
            <a:pPr>
              <a:spcBef>
                <a:spcPts val="600"/>
              </a:spcBef>
            </a:pPr>
            <a:r>
              <a:rPr lang="en-US" altLang="en-US" dirty="0" smtClean="0"/>
              <a:t>Selecting personnel is based on several criteria, including some not within the control of the organization (supply and demand). </a:t>
            </a:r>
          </a:p>
          <a:p>
            <a:pPr>
              <a:spcBef>
                <a:spcPts val="600"/>
              </a:spcBef>
            </a:pPr>
            <a:r>
              <a:rPr lang="en-US" altLang="en-US" dirty="0" smtClean="0"/>
              <a:t>Many professionals enter security market by gaining skills, experience, and credentials. </a:t>
            </a:r>
          </a:p>
          <a:p>
            <a:pPr>
              <a:spcBef>
                <a:spcPts val="600"/>
              </a:spcBef>
            </a:pPr>
            <a:r>
              <a:rPr lang="en-US" altLang="en-US" dirty="0" smtClean="0"/>
              <a:t>At present, the information security industry is in a period of high demand.</a:t>
            </a:r>
          </a:p>
        </p:txBody>
      </p:sp>
    </p:spTree>
    <p:extLst>
      <p:ext uri="{BB962C8B-B14F-4D97-AF65-F5344CB8AC3E}">
        <p14:creationId xmlns:p14="http://schemas.microsoft.com/office/powerpoint/2010/main" val="9141580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p:cNvSpPr>
            <a:spLocks noGrp="1" noChangeArrowheads="1"/>
          </p:cNvSpPr>
          <p:nvPr>
            <p:ph type="title"/>
          </p:nvPr>
        </p:nvSpPr>
        <p:spPr/>
        <p:txBody>
          <a:bodyPr anchor="ctr">
            <a:noAutofit/>
          </a:bodyPr>
          <a:lstStyle/>
          <a:p>
            <a:r>
              <a:rPr lang="en-US" altLang="en-US" dirty="0" smtClean="0"/>
              <a:t>Staffing the Information Security Function </a:t>
            </a:r>
            <a:r>
              <a:rPr lang="en-US" altLang="en-US" dirty="0" smtClean="0"/>
              <a:t>(2 </a:t>
            </a:r>
            <a:r>
              <a:rPr lang="en-US" altLang="en-US" dirty="0" smtClean="0"/>
              <a:t>of </a:t>
            </a:r>
            <a:r>
              <a:rPr lang="en-US" altLang="en-US" dirty="0" smtClean="0"/>
              <a:t>6)</a:t>
            </a:r>
            <a:endParaRPr lang="en-US" altLang="en-US" dirty="0" smtClean="0"/>
          </a:p>
        </p:txBody>
      </p:sp>
      <p:sp>
        <p:nvSpPr>
          <p:cNvPr id="16387" name="Content Placeholder 5"/>
          <p:cNvSpPr>
            <a:spLocks noGrp="1" noChangeArrowheads="1"/>
          </p:cNvSpPr>
          <p:nvPr>
            <p:ph idx="1"/>
          </p:nvPr>
        </p:nvSpPr>
        <p:spPr/>
        <p:txBody>
          <a:bodyPr>
            <a:noAutofit/>
          </a:bodyPr>
          <a:lstStyle/>
          <a:p>
            <a:pPr>
              <a:lnSpc>
                <a:spcPct val="120000"/>
              </a:lnSpc>
              <a:spcBef>
                <a:spcPts val="600"/>
              </a:spcBef>
            </a:pPr>
            <a:r>
              <a:rPr lang="en-US" altLang="en-US" dirty="0" smtClean="0"/>
              <a:t>Qualifications and requirements</a:t>
            </a:r>
          </a:p>
          <a:p>
            <a:pPr lvl="1">
              <a:lnSpc>
                <a:spcPct val="120000"/>
              </a:lnSpc>
              <a:spcBef>
                <a:spcPts val="600"/>
              </a:spcBef>
            </a:pPr>
            <a:r>
              <a:rPr lang="en-US" altLang="en-US" dirty="0" smtClean="0"/>
              <a:t>Establishing better hiring practices requires the following: </a:t>
            </a:r>
          </a:p>
          <a:p>
            <a:pPr lvl="2">
              <a:lnSpc>
                <a:spcPct val="120000"/>
              </a:lnSpc>
              <a:spcBef>
                <a:spcPts val="600"/>
              </a:spcBef>
            </a:pPr>
            <a:r>
              <a:rPr lang="en-US" altLang="en-US" dirty="0" smtClean="0"/>
              <a:t>General management should learn more about skills and qualifications for positions</a:t>
            </a:r>
          </a:p>
          <a:p>
            <a:pPr lvl="2">
              <a:lnSpc>
                <a:spcPct val="120000"/>
              </a:lnSpc>
              <a:spcBef>
                <a:spcPts val="600"/>
              </a:spcBef>
            </a:pPr>
            <a:r>
              <a:rPr lang="en-US" altLang="en-US" dirty="0" smtClean="0"/>
              <a:t>Upper management should learn about the budgetary needs of information security function.</a:t>
            </a:r>
          </a:p>
          <a:p>
            <a:pPr lvl="2">
              <a:lnSpc>
                <a:spcPct val="120000"/>
              </a:lnSpc>
              <a:spcBef>
                <a:spcPts val="600"/>
              </a:spcBef>
            </a:pPr>
            <a:r>
              <a:rPr lang="en-US" altLang="en-US" dirty="0" smtClean="0"/>
              <a:t>IT and general management should grant appropriate levels of influence and prestige to information security</a:t>
            </a:r>
          </a:p>
          <a:p>
            <a:pPr lvl="1">
              <a:lnSpc>
                <a:spcPct val="120000"/>
              </a:lnSpc>
              <a:spcBef>
                <a:spcPts val="600"/>
              </a:spcBef>
            </a:pPr>
            <a:r>
              <a:rPr lang="en-US" altLang="en-US" dirty="0" smtClean="0"/>
              <a:t>Organizations typically look for a technically qualified information security generalist</a:t>
            </a:r>
          </a:p>
        </p:txBody>
      </p:sp>
    </p:spTree>
    <p:extLst>
      <p:ext uri="{BB962C8B-B14F-4D97-AF65-F5344CB8AC3E}">
        <p14:creationId xmlns:p14="http://schemas.microsoft.com/office/powerpoint/2010/main" val="3477213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6"/>
          <p:cNvSpPr>
            <a:spLocks noGrp="1" noChangeArrowheads="1"/>
          </p:cNvSpPr>
          <p:nvPr>
            <p:ph type="title"/>
          </p:nvPr>
        </p:nvSpPr>
        <p:spPr>
          <a:xfrm>
            <a:off x="426720" y="27709"/>
            <a:ext cx="8183880" cy="1115291"/>
          </a:xfrm>
        </p:spPr>
        <p:txBody>
          <a:bodyPr anchor="ctr">
            <a:noAutofit/>
          </a:bodyPr>
          <a:lstStyle/>
          <a:p>
            <a:r>
              <a:rPr lang="en-US" altLang="en-US" dirty="0" smtClean="0"/>
              <a:t>Staffing the Information Security Function  </a:t>
            </a:r>
            <a:r>
              <a:rPr lang="en-US" altLang="en-US" dirty="0" smtClean="0"/>
              <a:t>(3 </a:t>
            </a:r>
            <a:r>
              <a:rPr lang="en-US" altLang="en-US" dirty="0" smtClean="0"/>
              <a:t>of </a:t>
            </a:r>
            <a:r>
              <a:rPr lang="en-US" altLang="en-US" dirty="0" smtClean="0"/>
              <a:t>6)</a:t>
            </a:r>
            <a:endParaRPr lang="en-US" altLang="en-US" dirty="0" smtClean="0"/>
          </a:p>
        </p:txBody>
      </p:sp>
      <p:sp>
        <p:nvSpPr>
          <p:cNvPr id="17411" name="Content Placeholder 7"/>
          <p:cNvSpPr>
            <a:spLocks noGrp="1" noChangeArrowheads="1"/>
          </p:cNvSpPr>
          <p:nvPr>
            <p:ph idx="1"/>
          </p:nvPr>
        </p:nvSpPr>
        <p:spPr/>
        <p:txBody>
          <a:bodyPr>
            <a:normAutofit/>
          </a:bodyPr>
          <a:lstStyle/>
          <a:p>
            <a:pPr>
              <a:spcBef>
                <a:spcPts val="600"/>
              </a:spcBef>
            </a:pPr>
            <a:r>
              <a:rPr lang="en-US" altLang="en-US" dirty="0" smtClean="0"/>
              <a:t>Qualifications and </a:t>
            </a:r>
            <a:r>
              <a:rPr lang="en-US" altLang="en-US" dirty="0" smtClean="0"/>
              <a:t>requirements</a:t>
            </a:r>
          </a:p>
          <a:p>
            <a:pPr lvl="1">
              <a:spcBef>
                <a:spcPts val="600"/>
              </a:spcBef>
            </a:pPr>
            <a:r>
              <a:rPr lang="en-US" altLang="en-US" dirty="0" smtClean="0"/>
              <a:t>Organizations look for candidates who understand:</a:t>
            </a:r>
          </a:p>
          <a:p>
            <a:pPr lvl="2">
              <a:spcBef>
                <a:spcPts val="600"/>
              </a:spcBef>
            </a:pPr>
            <a:r>
              <a:rPr lang="en-US" altLang="en-US" dirty="0" smtClean="0"/>
              <a:t>How </a:t>
            </a:r>
            <a:r>
              <a:rPr lang="en-US" altLang="en-US" dirty="0" smtClean="0"/>
              <a:t>an organization operates at all levels</a:t>
            </a:r>
          </a:p>
          <a:p>
            <a:pPr lvl="2">
              <a:spcBef>
                <a:spcPts val="600"/>
              </a:spcBef>
            </a:pPr>
            <a:r>
              <a:rPr lang="en-US" altLang="en-US" dirty="0" smtClean="0"/>
              <a:t>Information security is usually a management problem, not a technical problem</a:t>
            </a:r>
          </a:p>
          <a:p>
            <a:pPr lvl="2">
              <a:spcBef>
                <a:spcPts val="600"/>
              </a:spcBef>
            </a:pPr>
            <a:r>
              <a:rPr lang="en-US" altLang="en-US" dirty="0" smtClean="0"/>
              <a:t>Importance of strong communications and writing skills</a:t>
            </a:r>
          </a:p>
          <a:p>
            <a:pPr lvl="2">
              <a:spcBef>
                <a:spcPts val="600"/>
              </a:spcBef>
            </a:pPr>
            <a:r>
              <a:rPr lang="en-US" altLang="en-US" dirty="0" smtClean="0"/>
              <a:t>The role of policy in guiding security efforts</a:t>
            </a:r>
          </a:p>
          <a:p>
            <a:pPr lvl="2">
              <a:spcBef>
                <a:spcPts val="600"/>
              </a:spcBef>
            </a:pPr>
            <a:r>
              <a:rPr lang="en-US" altLang="en-US" dirty="0" smtClean="0"/>
              <a:t>Most mainstream IT technologies </a:t>
            </a:r>
          </a:p>
        </p:txBody>
      </p:sp>
    </p:spTree>
    <p:extLst>
      <p:ext uri="{BB962C8B-B14F-4D97-AF65-F5344CB8AC3E}">
        <p14:creationId xmlns:p14="http://schemas.microsoft.com/office/powerpoint/2010/main" val="27442317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6"/>
          <p:cNvSpPr>
            <a:spLocks noGrp="1" noChangeArrowheads="1"/>
          </p:cNvSpPr>
          <p:nvPr>
            <p:ph type="title"/>
          </p:nvPr>
        </p:nvSpPr>
        <p:spPr>
          <a:xfrm>
            <a:off x="579120" y="27709"/>
            <a:ext cx="7879080" cy="1115291"/>
          </a:xfrm>
        </p:spPr>
        <p:txBody>
          <a:bodyPr anchor="ctr">
            <a:noAutofit/>
          </a:bodyPr>
          <a:lstStyle/>
          <a:p>
            <a:r>
              <a:rPr lang="en-US" altLang="en-US" dirty="0" smtClean="0"/>
              <a:t>Staffing the Information Security Function </a:t>
            </a:r>
            <a:r>
              <a:rPr lang="en-US" altLang="en-US" dirty="0" smtClean="0"/>
              <a:t>(4 </a:t>
            </a:r>
            <a:r>
              <a:rPr lang="en-US" altLang="en-US" dirty="0" smtClean="0"/>
              <a:t>of </a:t>
            </a:r>
            <a:r>
              <a:rPr lang="en-US" altLang="en-US" dirty="0" smtClean="0"/>
              <a:t>6)</a:t>
            </a:r>
            <a:endParaRPr lang="en-US" altLang="en-US" dirty="0" smtClean="0"/>
          </a:p>
        </p:txBody>
      </p:sp>
      <p:sp>
        <p:nvSpPr>
          <p:cNvPr id="17411" name="Content Placeholder 7"/>
          <p:cNvSpPr>
            <a:spLocks noGrp="1" noChangeArrowheads="1"/>
          </p:cNvSpPr>
          <p:nvPr>
            <p:ph idx="1"/>
          </p:nvPr>
        </p:nvSpPr>
        <p:spPr>
          <a:xfrm>
            <a:off x="228600" y="1219200"/>
            <a:ext cx="8686800" cy="4876800"/>
          </a:xfrm>
        </p:spPr>
        <p:txBody>
          <a:bodyPr>
            <a:normAutofit/>
          </a:bodyPr>
          <a:lstStyle/>
          <a:p>
            <a:pPr lvl="2">
              <a:spcBef>
                <a:spcPts val="600"/>
              </a:spcBef>
            </a:pPr>
            <a:r>
              <a:rPr lang="en-US" altLang="en-US" dirty="0"/>
              <a:t>The terminology of IT and information security</a:t>
            </a:r>
          </a:p>
          <a:p>
            <a:pPr lvl="2">
              <a:spcBef>
                <a:spcPts val="600"/>
              </a:spcBef>
            </a:pPr>
            <a:r>
              <a:rPr lang="en-US" altLang="en-US" dirty="0" smtClean="0"/>
              <a:t>Threats </a:t>
            </a:r>
            <a:r>
              <a:rPr lang="en-US" altLang="en-US" dirty="0"/>
              <a:t>facing an organization and how they can become attacks</a:t>
            </a:r>
          </a:p>
          <a:p>
            <a:pPr lvl="2">
              <a:spcBef>
                <a:spcPts val="600"/>
              </a:spcBef>
            </a:pPr>
            <a:r>
              <a:rPr lang="en-US" altLang="en-US" dirty="0"/>
              <a:t>How to protect an organization’s assets from information security attacks</a:t>
            </a:r>
          </a:p>
          <a:p>
            <a:pPr lvl="2">
              <a:spcBef>
                <a:spcPts val="600"/>
              </a:spcBef>
            </a:pPr>
            <a:r>
              <a:rPr lang="en-US" altLang="en-US" dirty="0"/>
              <a:t>How business solutions can be applied to solve specific information security </a:t>
            </a:r>
            <a:r>
              <a:rPr lang="en-US" altLang="en-US" dirty="0" smtClean="0"/>
              <a:t>problems</a:t>
            </a:r>
          </a:p>
        </p:txBody>
      </p:sp>
    </p:spTree>
    <p:extLst>
      <p:ext uri="{BB962C8B-B14F-4D97-AF65-F5344CB8AC3E}">
        <p14:creationId xmlns:p14="http://schemas.microsoft.com/office/powerpoint/2010/main" val="28440959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p:cNvSpPr>
            <a:spLocks noGrp="1" noChangeArrowheads="1"/>
          </p:cNvSpPr>
          <p:nvPr>
            <p:ph type="title"/>
          </p:nvPr>
        </p:nvSpPr>
        <p:spPr>
          <a:xfrm>
            <a:off x="426720" y="76200"/>
            <a:ext cx="8031480" cy="1039091"/>
          </a:xfrm>
        </p:spPr>
        <p:txBody>
          <a:bodyPr anchor="ctr">
            <a:noAutofit/>
          </a:bodyPr>
          <a:lstStyle/>
          <a:p>
            <a:r>
              <a:rPr lang="en-US" altLang="en-US" dirty="0" smtClean="0"/>
              <a:t>Staffing the Information Security Function </a:t>
            </a:r>
            <a:r>
              <a:rPr lang="en-US" altLang="en-US" dirty="0" smtClean="0"/>
              <a:t>(5 </a:t>
            </a:r>
            <a:r>
              <a:rPr lang="en-US" altLang="en-US" dirty="0" smtClean="0"/>
              <a:t>of </a:t>
            </a:r>
            <a:r>
              <a:rPr lang="en-US" altLang="en-US" dirty="0" smtClean="0"/>
              <a:t>6)</a:t>
            </a:r>
            <a:endParaRPr lang="en-US" altLang="en-US" dirty="0" smtClean="0"/>
          </a:p>
        </p:txBody>
      </p:sp>
      <p:sp>
        <p:nvSpPr>
          <p:cNvPr id="19459" name="Content Placeholder 5"/>
          <p:cNvSpPr>
            <a:spLocks noGrp="1" noChangeArrowheads="1"/>
          </p:cNvSpPr>
          <p:nvPr>
            <p:ph idx="1"/>
          </p:nvPr>
        </p:nvSpPr>
        <p:spPr>
          <a:xfrm>
            <a:off x="228601" y="1295400"/>
            <a:ext cx="8763000" cy="4800600"/>
          </a:xfrm>
        </p:spPr>
        <p:txBody>
          <a:bodyPr>
            <a:normAutofit/>
          </a:bodyPr>
          <a:lstStyle/>
          <a:p>
            <a:pPr>
              <a:spcBef>
                <a:spcPts val="600"/>
              </a:spcBef>
            </a:pPr>
            <a:r>
              <a:rPr lang="en-US" altLang="en-US" dirty="0" smtClean="0"/>
              <a:t>Entry into the information security profession</a:t>
            </a:r>
          </a:p>
          <a:p>
            <a:pPr lvl="1">
              <a:spcBef>
                <a:spcPts val="600"/>
              </a:spcBef>
            </a:pPr>
            <a:r>
              <a:rPr lang="en-US" altLang="en-US" dirty="0" smtClean="0"/>
              <a:t>Traditionally, many information security professionals entered the field through one of two career paths: </a:t>
            </a:r>
          </a:p>
          <a:p>
            <a:pPr lvl="2">
              <a:spcBef>
                <a:spcPts val="600"/>
              </a:spcBef>
            </a:pPr>
            <a:r>
              <a:rPr lang="en-US" altLang="en-US" dirty="0" smtClean="0"/>
              <a:t>Law enforcement or military</a:t>
            </a:r>
          </a:p>
          <a:p>
            <a:pPr lvl="2">
              <a:spcBef>
                <a:spcPts val="600"/>
              </a:spcBef>
            </a:pPr>
            <a:r>
              <a:rPr lang="en-US" altLang="en-US" dirty="0" smtClean="0"/>
              <a:t>Technical IT professional, working on security applications and processes </a:t>
            </a:r>
          </a:p>
          <a:p>
            <a:pPr lvl="1">
              <a:spcBef>
                <a:spcPts val="600"/>
              </a:spcBef>
            </a:pPr>
            <a:r>
              <a:rPr lang="en-US" altLang="en-US" dirty="0" smtClean="0"/>
              <a:t>Today, students select and tailor degree programs to prepare for work in information security</a:t>
            </a:r>
          </a:p>
          <a:p>
            <a:pPr lvl="1">
              <a:spcBef>
                <a:spcPts val="600"/>
              </a:spcBef>
            </a:pPr>
            <a:r>
              <a:rPr lang="en-US" altLang="en-US" dirty="0" smtClean="0"/>
              <a:t>Organizations can foster greater professionalism by matching qualified candidates to clearly defined roles in information security</a:t>
            </a:r>
          </a:p>
        </p:txBody>
      </p:sp>
    </p:spTree>
    <p:extLst>
      <p:ext uri="{BB962C8B-B14F-4D97-AF65-F5344CB8AC3E}">
        <p14:creationId xmlns:p14="http://schemas.microsoft.com/office/powerpoint/2010/main" val="14239545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4"/>
          <p:cNvSpPr>
            <a:spLocks noGrp="1" noChangeArrowheads="1"/>
          </p:cNvSpPr>
          <p:nvPr>
            <p:ph type="title"/>
          </p:nvPr>
        </p:nvSpPr>
        <p:spPr>
          <a:xfrm>
            <a:off x="457200" y="27709"/>
            <a:ext cx="8229600" cy="1039091"/>
          </a:xfrm>
        </p:spPr>
        <p:txBody>
          <a:bodyPr anchor="ctr">
            <a:noAutofit/>
          </a:bodyPr>
          <a:lstStyle/>
          <a:p>
            <a:r>
              <a:rPr lang="en-US" altLang="en-US" dirty="0" smtClean="0"/>
              <a:t>Staffing the Information Security Function</a:t>
            </a:r>
            <a:r>
              <a:rPr lang="en-US" altLang="en-US" baseline="0" dirty="0" smtClean="0"/>
              <a:t> </a:t>
            </a:r>
            <a:r>
              <a:rPr lang="en-US" altLang="en-US" dirty="0" smtClean="0"/>
              <a:t>(6 </a:t>
            </a:r>
            <a:r>
              <a:rPr lang="en-US" altLang="en-US" dirty="0" smtClean="0"/>
              <a:t>of </a:t>
            </a:r>
            <a:r>
              <a:rPr lang="en-US" altLang="en-US" dirty="0" smtClean="0"/>
              <a:t>6)</a:t>
            </a:r>
            <a:endParaRPr lang="en-US" altLang="en-US" dirty="0" smtClean="0"/>
          </a:p>
        </p:txBody>
      </p:sp>
      <p:sp>
        <p:nvSpPr>
          <p:cNvPr id="21507" name="Content Placeholder 5"/>
          <p:cNvSpPr>
            <a:spLocks noGrp="1" noChangeArrowheads="1"/>
          </p:cNvSpPr>
          <p:nvPr>
            <p:ph idx="1"/>
          </p:nvPr>
        </p:nvSpPr>
        <p:spPr>
          <a:xfrm>
            <a:off x="365124" y="1295400"/>
            <a:ext cx="8550276" cy="4800600"/>
          </a:xfrm>
        </p:spPr>
        <p:txBody>
          <a:bodyPr>
            <a:normAutofit/>
          </a:bodyPr>
          <a:lstStyle/>
          <a:p>
            <a:pPr>
              <a:spcBef>
                <a:spcPts val="600"/>
              </a:spcBef>
            </a:pPr>
            <a:r>
              <a:rPr lang="en-US" altLang="en-US" dirty="0" smtClean="0"/>
              <a:t>Information security positions </a:t>
            </a:r>
          </a:p>
          <a:p>
            <a:pPr lvl="1">
              <a:spcBef>
                <a:spcPts val="600"/>
              </a:spcBef>
            </a:pPr>
            <a:r>
              <a:rPr lang="en-US" altLang="en-US" dirty="0" smtClean="0"/>
              <a:t>Use of standard job descriptions can increase the degree of professionalism and improve the consistency of roles and responsibilities between organizations</a:t>
            </a:r>
          </a:p>
          <a:p>
            <a:pPr lvl="1">
              <a:spcBef>
                <a:spcPts val="600"/>
              </a:spcBef>
            </a:pPr>
            <a:r>
              <a:rPr lang="en-US" altLang="en-US" dirty="0" smtClean="0"/>
              <a:t>Charles Cresson Wood’s book </a:t>
            </a:r>
            <a:r>
              <a:rPr lang="en-US" altLang="en-US" i="1" dirty="0" smtClean="0"/>
              <a:t>Information Security Roles and Responsibilities Made Easy</a:t>
            </a:r>
            <a:r>
              <a:rPr lang="en-US" altLang="en-US" dirty="0" smtClean="0"/>
              <a:t> offers a set of model job descriptions</a:t>
            </a:r>
          </a:p>
        </p:txBody>
      </p:sp>
    </p:spTree>
    <p:extLst>
      <p:ext uri="{BB962C8B-B14F-4D97-AF65-F5344CB8AC3E}">
        <p14:creationId xmlns:p14="http://schemas.microsoft.com/office/powerpoint/2010/main" val="1433240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7962" y="152400"/>
            <a:ext cx="8032638" cy="1104412"/>
          </a:xfrm>
        </p:spPr>
        <p:txBody>
          <a:bodyPr anchor="ctr">
            <a:noAutofit/>
          </a:bodyPr>
          <a:lstStyle/>
          <a:p>
            <a:r>
              <a:rPr lang="en-US" b="1" dirty="0"/>
              <a:t>Figure 11-1  </a:t>
            </a:r>
            <a:r>
              <a:rPr lang="en-US" dirty="0"/>
              <a:t>BLS job summary for information security </a:t>
            </a:r>
            <a:r>
              <a:rPr lang="en-US" dirty="0" smtClean="0"/>
              <a:t>analysts</a:t>
            </a:r>
            <a:endParaRPr lang="en-US" dirty="0"/>
          </a:p>
        </p:txBody>
      </p:sp>
      <p:pic>
        <p:nvPicPr>
          <p:cNvPr id="2" name="Picture 1" descr="A screenshot of “UNITED STATES DEARTMENT OF LABOR” is shown. Below this a heading reads as, “Bureau of Labor Statistics” with a star like symbol to the left of heading. Below this many tabs are shown and are labeled as, “Home, Subjects, Data Tools, Publications, Economic Releases, Students, Beta.” A drop down arrow is shown beside each tab. The “Publication” tab is highlighted. Below this a heading reads as, “OCCUPATIONAL OUTLOOK HANDBOOK.” A search bar labeled as, “Search Handbook” is shown to the right of the heading. Below this a heading reads as, “Information Security Analysts.” The text above this heading reads as, “Computer and information Technology.” Several tabs are shown below the heading “Information Security Analysts.” The tabs are labeled as, “Summary, What they do, Work Environment, How to Become one, Pay, Job outlook, State&amp; Area Data, Similar occupations, More info.” The Summary tab is highlighted. The information below Summary reads as, “Quick Facts: Information Security Analysts.” A table is shown below this. The left side of the table reads as, “2015 Median Pay with a question mark inside a circle, Typical Entry –level Education with a question mark inside a circle, Work Experience in a Related Occupation with a question mark inside a circle, On the job training with a question mark inside a circle, Number of Jobs, 2014 with a question mark inside a circle, Jo Outlook, 2014-24, Employment Change, 2014-24 with a question mark inside a circle.” The right side of the table reads as, “$ 90,120 per year, $43.33 per hour, Bachelor’s degree, Less than 5 years, None, 82,900, 18% (Much faster than average), 14,800.” The text below the table reads as, “What information Security Analysts Do Information Security Analysts plan and carry out security measures to protect an organization’s computer networks and systems. Their responsibilities are continually expanding as the number of cyber attacks increases.” A photo with a man in front of a computer and a man talking to him standing by his side is shown to the right of the table. The text below the photo reads as, “Information Security Analysts work to protect a company’s computer systems.”&#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3245" y="1584985"/>
            <a:ext cx="5863805" cy="3977615"/>
          </a:xfrm>
          <a:prstGeom prst="rect">
            <a:avLst/>
          </a:prstGeom>
        </p:spPr>
      </p:pic>
      <p:sp>
        <p:nvSpPr>
          <p:cNvPr id="4" name="Content Placeholder 3"/>
          <p:cNvSpPr>
            <a:spLocks noGrp="1"/>
          </p:cNvSpPr>
          <p:nvPr>
            <p:ph sz="quarter" idx="10"/>
          </p:nvPr>
        </p:nvSpPr>
        <p:spPr>
          <a:xfrm>
            <a:off x="491331" y="5701123"/>
            <a:ext cx="8271669" cy="471077"/>
          </a:xfrm>
        </p:spPr>
        <p:txBody>
          <a:bodyPr>
            <a:normAutofit/>
          </a:bodyPr>
          <a:lstStyle/>
          <a:p>
            <a:pPr marL="0" indent="0" eaLnBrk="0" fontAlgn="base" hangingPunct="0">
              <a:spcBef>
                <a:spcPct val="30000"/>
              </a:spcBef>
              <a:spcAft>
                <a:spcPct val="0"/>
              </a:spcAft>
              <a:buClrTx/>
              <a:buNone/>
              <a:defRPr/>
            </a:pPr>
            <a:r>
              <a:rPr lang="en-US" sz="2000" i="1" dirty="0"/>
              <a:t>Source: U.S. Bureau of Labor Statistics</a:t>
            </a:r>
            <a:r>
              <a:rPr lang="en-US" sz="2000" i="1" dirty="0" smtClean="0"/>
              <a:t>.</a:t>
            </a:r>
            <a:endParaRPr lang="en-US" sz="2000" dirty="0"/>
          </a:p>
        </p:txBody>
      </p:sp>
    </p:spTree>
    <p:extLst>
      <p:ext uri="{BB962C8B-B14F-4D97-AF65-F5344CB8AC3E}">
        <p14:creationId xmlns:p14="http://schemas.microsoft.com/office/powerpoint/2010/main" val="1697102021"/>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4866" y="152400"/>
            <a:ext cx="8732934" cy="1165391"/>
          </a:xfrm>
        </p:spPr>
        <p:txBody>
          <a:bodyPr anchor="ctr">
            <a:noAutofit/>
          </a:bodyPr>
          <a:lstStyle/>
          <a:p>
            <a:r>
              <a:rPr lang="en-US" b="1" dirty="0"/>
              <a:t>Figure 11-2  </a:t>
            </a:r>
            <a:r>
              <a:rPr lang="en-US" dirty="0"/>
              <a:t>BLS summaries for computer administrators and </a:t>
            </a:r>
            <a:r>
              <a:rPr lang="en-US" dirty="0" smtClean="0"/>
              <a:t>managers</a:t>
            </a:r>
            <a:endParaRPr lang="en-US" dirty="0"/>
          </a:p>
        </p:txBody>
      </p:sp>
      <p:pic>
        <p:nvPicPr>
          <p:cNvPr id="2" name="Picture 1" descr="A table is shown labeled as, “Summary.” The heading of the table reads as, “Quick Facts: Network and Computer systems Administrators.” The right side of the table reads as, “2015 Median Pay with a question mark inside a circle, Typical Entry –level Education with a question mark inside a circle, Work Experience in a Related Occupation with a question mark inside a circle, On the job training with a question mark inside a circle, Number of Jobs, 2014 with a question mark inside a circle, Jo Outlook, 2014-24, Employment Change, 2014-24 with a question mark inside a circle.” The right side of the table reads as, “$ 77,810 per year, $37.41 per hour, Bachelor’s degree, None, None, 382,600, 8% (As fast as average), 30,200.” Another table is shown below and is labeled as, “Summary.” The heading of the table reads as, “Quick Facts: Computer and Information Systems Managers.” The left side of the table reads as, “2015 Median Pay with a question mark inside a circle, Typical Entry –level Education with a question mark inside a circle, Work Experience in a Related Occupation with a question mark inside a circle, On the job training with a question mark inside a circle, Number of Jobs, 2014 with a question mark inside a circle, Jo Outlook, 2014-24, Employment Change, 2014-24 with a question mark inside a circle.” The right side of the table reads as, “$ 131,600 per year, $63.27 per hour, Bachelor’s degree, 5 years or more, None, 348,500, 15% (Much faster than average), 53,700.”&#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1685" y="1667951"/>
            <a:ext cx="4380630" cy="3818449"/>
          </a:xfrm>
          <a:prstGeom prst="rect">
            <a:avLst/>
          </a:prstGeom>
        </p:spPr>
      </p:pic>
      <p:sp>
        <p:nvSpPr>
          <p:cNvPr id="3" name="Content Placeholder 2"/>
          <p:cNvSpPr>
            <a:spLocks noGrp="1"/>
          </p:cNvSpPr>
          <p:nvPr>
            <p:ph sz="quarter" idx="10"/>
          </p:nvPr>
        </p:nvSpPr>
        <p:spPr>
          <a:xfrm>
            <a:off x="491331" y="5724294"/>
            <a:ext cx="8119270" cy="447906"/>
          </a:xfrm>
        </p:spPr>
        <p:txBody>
          <a:bodyPr>
            <a:normAutofit/>
          </a:bodyPr>
          <a:lstStyle/>
          <a:p>
            <a:pPr marL="0" indent="0">
              <a:buNone/>
            </a:pPr>
            <a:r>
              <a:rPr lang="en-US" sz="2000" i="1" dirty="0"/>
              <a:t>Source: www.bls.gov</a:t>
            </a:r>
            <a:r>
              <a:rPr lang="en-US" sz="2000" i="1" dirty="0" smtClean="0"/>
              <a:t>.</a:t>
            </a:r>
            <a:endParaRPr lang="en-US" sz="2000" dirty="0"/>
          </a:p>
        </p:txBody>
      </p:sp>
    </p:spTree>
    <p:extLst>
      <p:ext uri="{BB962C8B-B14F-4D97-AF65-F5344CB8AC3E}">
        <p14:creationId xmlns:p14="http://schemas.microsoft.com/office/powerpoint/2010/main" val="1326861699"/>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5698" y="152400"/>
            <a:ext cx="8835902" cy="1104412"/>
          </a:xfrm>
        </p:spPr>
        <p:txBody>
          <a:bodyPr anchor="ctr">
            <a:noAutofit/>
          </a:bodyPr>
          <a:lstStyle/>
          <a:p>
            <a:r>
              <a:rPr lang="en-US" b="1" dirty="0"/>
              <a:t>Figure 11-3  </a:t>
            </a:r>
            <a:r>
              <a:rPr lang="en-US" dirty="0"/>
              <a:t>Career paths to information security </a:t>
            </a:r>
            <a:r>
              <a:rPr lang="en-US" dirty="0" smtClean="0"/>
              <a:t>positions</a:t>
            </a:r>
            <a:endParaRPr lang="en-US" dirty="0"/>
          </a:p>
        </p:txBody>
      </p:sp>
      <p:pic>
        <p:nvPicPr>
          <p:cNvPr id="2" name="Picture 1" descr="An illustration shows five images with two images on the left and two images on the right. The first image on the top left shows a military person with a gun and another military person facing downwards and walking beside. The image is labeled as, “Military.” The image below Military shows a Law officer with cap on his head and a badge on his shirt. This image is labeled as, “Law Enforcement.” The first image on the top right shows a man standing with a laptop and searching for files from a rack. It is labeled as, “Information technology.” The image below the “Information technology” shows many graduate students with a cap on their head and a graduation gown with files on their hands. It is labeled as, “Information Security College graduates.” The images on the left and right side points to an image in the center labeled as, “Information Security.” The image in the center shows a man with a laptop.&#10;"/>
          <p:cNvPicPr>
            <a:picLocks noChangeAspect="1"/>
          </p:cNvPicPr>
          <p:nvPr/>
        </p:nvPicPr>
        <p:blipFill rotWithShape="1">
          <a:blip r:embed="rId3">
            <a:extLst>
              <a:ext uri="{28A0092B-C50C-407E-A947-70E740481C1C}">
                <a14:useLocalDpi xmlns:a14="http://schemas.microsoft.com/office/drawing/2010/main" val="0"/>
              </a:ext>
            </a:extLst>
          </a:blip>
          <a:srcRect b="7871"/>
          <a:stretch/>
        </p:blipFill>
        <p:spPr>
          <a:xfrm>
            <a:off x="2232122" y="1608506"/>
            <a:ext cx="4557425" cy="3170052"/>
          </a:xfrm>
          <a:prstGeom prst="rect">
            <a:avLst/>
          </a:prstGeom>
        </p:spPr>
      </p:pic>
      <p:sp>
        <p:nvSpPr>
          <p:cNvPr id="4" name="Content Placeholder 3"/>
          <p:cNvSpPr>
            <a:spLocks noGrp="1"/>
          </p:cNvSpPr>
          <p:nvPr>
            <p:ph sz="quarter" idx="10"/>
          </p:nvPr>
        </p:nvSpPr>
        <p:spPr>
          <a:xfrm>
            <a:off x="609600" y="4935618"/>
            <a:ext cx="8035636" cy="1312782"/>
          </a:xfrm>
        </p:spPr>
        <p:txBody>
          <a:bodyPr>
            <a:noAutofit/>
          </a:bodyPr>
          <a:lstStyle/>
          <a:p>
            <a:pPr marL="0" indent="0" eaLnBrk="0" fontAlgn="base" hangingPunct="0">
              <a:spcBef>
                <a:spcPct val="30000"/>
              </a:spcBef>
              <a:spcAft>
                <a:spcPct val="0"/>
              </a:spcAft>
              <a:buClrTx/>
              <a:buNone/>
              <a:defRPr/>
            </a:pPr>
            <a:r>
              <a:rPr lang="en-US" sz="2000" i="1" dirty="0"/>
              <a:t>Bottom left: © pio3/Shutterstock.com. Bottom right: © </a:t>
            </a:r>
            <a:r>
              <a:rPr lang="en-US" sz="2000" i="1" dirty="0" err="1"/>
              <a:t>michaeljung</a:t>
            </a:r>
            <a:r>
              <a:rPr lang="en-US" sz="2000" i="1" dirty="0"/>
              <a:t>/Shutterstock.com. </a:t>
            </a:r>
            <a:br>
              <a:rPr lang="en-US" sz="2000" i="1" dirty="0"/>
            </a:br>
            <a:r>
              <a:rPr lang="en-US" sz="2000" i="1" dirty="0"/>
              <a:t>Top right: © </a:t>
            </a:r>
            <a:r>
              <a:rPr lang="en-US" sz="2000" i="1" dirty="0" err="1"/>
              <a:t>dotshock</a:t>
            </a:r>
            <a:r>
              <a:rPr lang="en-US" sz="2000" i="1" dirty="0"/>
              <a:t>/Shutterstock.com. Center: © </a:t>
            </a:r>
            <a:r>
              <a:rPr lang="en-US" sz="2000" i="1" dirty="0" smtClean="0"/>
              <a:t>IM_photo/Shutterstock.com</a:t>
            </a:r>
            <a:endParaRPr lang="en-US" sz="2000" i="1" dirty="0"/>
          </a:p>
        </p:txBody>
      </p:sp>
    </p:spTree>
    <p:extLst>
      <p:ext uri="{BB962C8B-B14F-4D97-AF65-F5344CB8AC3E}">
        <p14:creationId xmlns:p14="http://schemas.microsoft.com/office/powerpoint/2010/main" val="3336113467"/>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8" y="228600"/>
            <a:ext cx="8243831" cy="1073730"/>
          </a:xfrm>
        </p:spPr>
        <p:txBody>
          <a:bodyPr>
            <a:noAutofit/>
          </a:bodyPr>
          <a:lstStyle/>
          <a:p>
            <a:r>
              <a:rPr lang="en-US" b="1" dirty="0"/>
              <a:t>Figure 11-4  </a:t>
            </a:r>
            <a:r>
              <a:rPr lang="en-US" dirty="0"/>
              <a:t>Positions in information </a:t>
            </a:r>
            <a:r>
              <a:rPr lang="en-US" dirty="0" smtClean="0"/>
              <a:t>security</a:t>
            </a:r>
            <a:endParaRPr lang="en-US" dirty="0"/>
          </a:p>
        </p:txBody>
      </p:sp>
      <p:pic>
        <p:nvPicPr>
          <p:cNvPr id="2" name="Picture 1" descr="An illustration shows a box labeled as, “Chief Security Officer” is divided into labeled as, “Information Security Manager, Physical Security Manager.” The “Information Security Manager” is divided into “Information Security Administrator” and “Information Security Analyst/ Engineer.” The “Physical Security Manager” points to “Physical Security Officer.” A dotted line from “Chief Security Officer” points to “Information Security Consultant.”&#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094" y="1888556"/>
            <a:ext cx="7725911" cy="3978844"/>
          </a:xfrm>
          <a:prstGeom prst="rect">
            <a:avLst/>
          </a:prstGeom>
        </p:spPr>
      </p:pic>
    </p:spTree>
    <p:extLst>
      <p:ext uri="{BB962C8B-B14F-4D97-AF65-F5344CB8AC3E}">
        <p14:creationId xmlns:p14="http://schemas.microsoft.com/office/powerpoint/2010/main" val="2753744398"/>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4"/>
          <p:cNvSpPr>
            <a:spLocks noGrp="1" noChangeArrowheads="1"/>
          </p:cNvSpPr>
          <p:nvPr>
            <p:ph type="title"/>
          </p:nvPr>
        </p:nvSpPr>
        <p:spPr/>
        <p:txBody>
          <a:bodyPr anchor="ctr"/>
          <a:lstStyle/>
          <a:p>
            <a:r>
              <a:rPr lang="en-US" altLang="en-US" dirty="0" smtClean="0"/>
              <a:t>Information Security Positions (1 of 4)</a:t>
            </a:r>
          </a:p>
        </p:txBody>
      </p:sp>
      <p:sp>
        <p:nvSpPr>
          <p:cNvPr id="23555" name="Content Placeholder 5"/>
          <p:cNvSpPr>
            <a:spLocks noGrp="1" noChangeArrowheads="1"/>
          </p:cNvSpPr>
          <p:nvPr>
            <p:ph idx="1"/>
          </p:nvPr>
        </p:nvSpPr>
        <p:spPr>
          <a:xfrm>
            <a:off x="365124" y="1295400"/>
            <a:ext cx="8550276" cy="4800600"/>
          </a:xfrm>
        </p:spPr>
        <p:txBody>
          <a:bodyPr>
            <a:normAutofit fontScale="92500" lnSpcReduction="20000"/>
          </a:bodyPr>
          <a:lstStyle/>
          <a:p>
            <a:pPr>
              <a:lnSpc>
                <a:spcPct val="110000"/>
              </a:lnSpc>
              <a:spcBef>
                <a:spcPts val="600"/>
              </a:spcBef>
            </a:pPr>
            <a:r>
              <a:rPr lang="en-US" altLang="en-US" sz="2800" dirty="0" smtClean="0"/>
              <a:t>Chief information security officer (CISO)</a:t>
            </a:r>
          </a:p>
          <a:p>
            <a:pPr lvl="1">
              <a:lnSpc>
                <a:spcPct val="110000"/>
              </a:lnSpc>
              <a:spcBef>
                <a:spcPts val="600"/>
              </a:spcBef>
            </a:pPr>
            <a:r>
              <a:rPr lang="en-US" altLang="en-US" sz="2600" dirty="0" smtClean="0"/>
              <a:t>Top information security officer; frequently reports to chief information officer (CIO)</a:t>
            </a:r>
          </a:p>
          <a:p>
            <a:pPr lvl="1">
              <a:lnSpc>
                <a:spcPct val="110000"/>
              </a:lnSpc>
              <a:spcBef>
                <a:spcPts val="600"/>
              </a:spcBef>
            </a:pPr>
            <a:r>
              <a:rPr lang="en-US" altLang="en-US" sz="2600" dirty="0" smtClean="0"/>
              <a:t>Manages the overall information security program</a:t>
            </a:r>
          </a:p>
          <a:p>
            <a:pPr lvl="1">
              <a:lnSpc>
                <a:spcPct val="110000"/>
              </a:lnSpc>
              <a:spcBef>
                <a:spcPts val="600"/>
              </a:spcBef>
            </a:pPr>
            <a:r>
              <a:rPr lang="en-US" altLang="en-US" sz="2600" dirty="0" smtClean="0"/>
              <a:t>Drafts or approves information security policies</a:t>
            </a:r>
          </a:p>
          <a:p>
            <a:pPr lvl="1">
              <a:lnSpc>
                <a:spcPct val="110000"/>
              </a:lnSpc>
              <a:spcBef>
                <a:spcPts val="600"/>
              </a:spcBef>
            </a:pPr>
            <a:r>
              <a:rPr lang="en-US" altLang="en-US" sz="2600" dirty="0" smtClean="0"/>
              <a:t>Works with the CIO on strategic plans</a:t>
            </a:r>
          </a:p>
          <a:p>
            <a:pPr lvl="1">
              <a:lnSpc>
                <a:spcPct val="110000"/>
              </a:lnSpc>
              <a:spcBef>
                <a:spcPts val="600"/>
              </a:spcBef>
            </a:pPr>
            <a:r>
              <a:rPr lang="en-US" altLang="en-US" sz="2600" dirty="0" smtClean="0"/>
              <a:t>Develops information security budgets</a:t>
            </a:r>
          </a:p>
          <a:p>
            <a:pPr lvl="1">
              <a:lnSpc>
                <a:spcPct val="110000"/>
              </a:lnSpc>
              <a:spcBef>
                <a:spcPts val="600"/>
              </a:spcBef>
            </a:pPr>
            <a:r>
              <a:rPr lang="en-US" altLang="en-US" sz="2600" dirty="0" smtClean="0"/>
              <a:t>Sets priorities for purchase/implementation of information security projects and technology</a:t>
            </a:r>
          </a:p>
          <a:p>
            <a:pPr lvl="1">
              <a:lnSpc>
                <a:spcPct val="110000"/>
              </a:lnSpc>
              <a:spcBef>
                <a:spcPts val="600"/>
              </a:spcBef>
            </a:pPr>
            <a:r>
              <a:rPr lang="en-US" altLang="en-US" sz="2600" dirty="0"/>
              <a:t>Makes recruiting, hiring and firing decisions or recommendations</a:t>
            </a:r>
          </a:p>
          <a:p>
            <a:pPr lvl="1">
              <a:lnSpc>
                <a:spcPct val="110000"/>
              </a:lnSpc>
              <a:spcBef>
                <a:spcPts val="600"/>
              </a:spcBef>
            </a:pPr>
            <a:r>
              <a:rPr lang="en-US" altLang="en-US" sz="2600" dirty="0"/>
              <a:t>Acts as spokesperson for information security team </a:t>
            </a:r>
          </a:p>
        </p:txBody>
      </p:sp>
    </p:spTree>
    <p:extLst>
      <p:ext uri="{BB962C8B-B14F-4D97-AF65-F5344CB8AC3E}">
        <p14:creationId xmlns:p14="http://schemas.microsoft.com/office/powerpoint/2010/main" val="34268479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p:cNvSpPr>
            <a:spLocks noGrp="1" noChangeArrowheads="1"/>
          </p:cNvSpPr>
          <p:nvPr>
            <p:ph type="title"/>
          </p:nvPr>
        </p:nvSpPr>
        <p:spPr/>
        <p:txBody>
          <a:bodyPr anchor="ctr"/>
          <a:lstStyle/>
          <a:p>
            <a:r>
              <a:rPr lang="en-US" altLang="en-US" dirty="0" smtClean="0"/>
              <a:t>Information Security Positions (2 of 4)</a:t>
            </a:r>
          </a:p>
        </p:txBody>
      </p:sp>
      <p:sp>
        <p:nvSpPr>
          <p:cNvPr id="24579" name="Content Placeholder 3"/>
          <p:cNvSpPr>
            <a:spLocks noGrp="1" noChangeArrowheads="1"/>
          </p:cNvSpPr>
          <p:nvPr>
            <p:ph idx="1"/>
          </p:nvPr>
        </p:nvSpPr>
        <p:spPr>
          <a:xfrm>
            <a:off x="228600" y="1219200"/>
            <a:ext cx="8610600" cy="4876800"/>
          </a:xfrm>
        </p:spPr>
        <p:txBody>
          <a:bodyPr>
            <a:normAutofit/>
          </a:bodyPr>
          <a:lstStyle/>
          <a:p>
            <a:pPr lvl="1">
              <a:lnSpc>
                <a:spcPct val="110000"/>
              </a:lnSpc>
              <a:spcBef>
                <a:spcPts val="600"/>
              </a:spcBef>
            </a:pPr>
            <a:r>
              <a:rPr lang="en-US" altLang="en-US" dirty="0" smtClean="0"/>
              <a:t>Typical </a:t>
            </a:r>
            <a:r>
              <a:rPr lang="en-US" altLang="en-US" dirty="0"/>
              <a:t>qualifications: accreditation, graduate degree, </a:t>
            </a:r>
            <a:r>
              <a:rPr lang="en-US" altLang="en-US" dirty="0" smtClean="0"/>
              <a:t>experience</a:t>
            </a:r>
          </a:p>
          <a:p>
            <a:pPr>
              <a:lnSpc>
                <a:spcPct val="110000"/>
              </a:lnSpc>
              <a:spcBef>
                <a:spcPts val="600"/>
              </a:spcBef>
            </a:pPr>
            <a:r>
              <a:rPr lang="en-US" altLang="en-US" dirty="0" smtClean="0"/>
              <a:t>Chief  security officer (CSO)</a:t>
            </a:r>
          </a:p>
          <a:p>
            <a:pPr lvl="1">
              <a:lnSpc>
                <a:spcPct val="110000"/>
              </a:lnSpc>
              <a:spcBef>
                <a:spcPts val="600"/>
              </a:spcBef>
            </a:pPr>
            <a:r>
              <a:rPr lang="en-US" altLang="en-US" dirty="0" smtClean="0"/>
              <a:t>CISO’s position may be combined with physical security responsibilities</a:t>
            </a:r>
          </a:p>
          <a:p>
            <a:pPr lvl="1">
              <a:lnSpc>
                <a:spcPct val="110000"/>
              </a:lnSpc>
              <a:spcBef>
                <a:spcPts val="600"/>
              </a:spcBef>
            </a:pPr>
            <a:r>
              <a:rPr lang="en-US" altLang="en-US" dirty="0" smtClean="0"/>
              <a:t>Knowledgeable in both IS requirements and “guards, gates, and guns” approach to security</a:t>
            </a:r>
          </a:p>
          <a:p>
            <a:pPr>
              <a:lnSpc>
                <a:spcPct val="110000"/>
              </a:lnSpc>
              <a:spcBef>
                <a:spcPts val="600"/>
              </a:spcBef>
            </a:pPr>
            <a:r>
              <a:rPr lang="en-US" altLang="en-US" dirty="0" smtClean="0"/>
              <a:t>Security </a:t>
            </a:r>
            <a:r>
              <a:rPr lang="en-US" altLang="en-US" dirty="0"/>
              <a:t>manager</a:t>
            </a:r>
          </a:p>
          <a:p>
            <a:pPr lvl="1">
              <a:lnSpc>
                <a:spcPct val="110000"/>
              </a:lnSpc>
              <a:spcBef>
                <a:spcPts val="600"/>
              </a:spcBef>
            </a:pPr>
            <a:r>
              <a:rPr lang="en-US" altLang="en-US" dirty="0"/>
              <a:t>Accountable for day-to-day operation of information security </a:t>
            </a:r>
            <a:r>
              <a:rPr lang="en-US" altLang="en-US" dirty="0" smtClean="0"/>
              <a:t>program</a:t>
            </a:r>
            <a:endParaRPr lang="en-US" altLang="en-US" dirty="0"/>
          </a:p>
        </p:txBody>
      </p:sp>
    </p:spTree>
    <p:extLst>
      <p:ext uri="{BB962C8B-B14F-4D97-AF65-F5344CB8AC3E}">
        <p14:creationId xmlns:p14="http://schemas.microsoft.com/office/powerpoint/2010/main" val="23295927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noChangeArrowheads="1"/>
          </p:cNvSpPr>
          <p:nvPr>
            <p:ph type="title"/>
          </p:nvPr>
        </p:nvSpPr>
        <p:spPr/>
        <p:txBody>
          <a:bodyPr anchor="ctr"/>
          <a:lstStyle/>
          <a:p>
            <a:r>
              <a:rPr lang="en-US" altLang="en-US" dirty="0" smtClean="0"/>
              <a:t>Information Security Positions (3 of 4)</a:t>
            </a:r>
          </a:p>
        </p:txBody>
      </p:sp>
      <p:sp>
        <p:nvSpPr>
          <p:cNvPr id="26627" name="Content Placeholder 5"/>
          <p:cNvSpPr>
            <a:spLocks noGrp="1" noChangeArrowheads="1"/>
          </p:cNvSpPr>
          <p:nvPr>
            <p:ph idx="1"/>
          </p:nvPr>
        </p:nvSpPr>
        <p:spPr>
          <a:xfrm>
            <a:off x="533400" y="1447800"/>
            <a:ext cx="8305800" cy="4495800"/>
          </a:xfrm>
        </p:spPr>
        <p:txBody>
          <a:bodyPr>
            <a:normAutofit fontScale="92500" lnSpcReduction="10000"/>
          </a:bodyPr>
          <a:lstStyle/>
          <a:p>
            <a:pPr lvl="1">
              <a:lnSpc>
                <a:spcPct val="120000"/>
              </a:lnSpc>
              <a:spcBef>
                <a:spcPts val="600"/>
              </a:spcBef>
            </a:pPr>
            <a:r>
              <a:rPr lang="en-US" altLang="en-US" sz="2600" dirty="0"/>
              <a:t>Accomplishes objectives as identified by CISO, resolves issues identified by technicians </a:t>
            </a:r>
            <a:endParaRPr lang="en-US" altLang="en-US" sz="2800" dirty="0" smtClean="0"/>
          </a:p>
          <a:p>
            <a:pPr lvl="1">
              <a:lnSpc>
                <a:spcPct val="120000"/>
              </a:lnSpc>
              <a:spcBef>
                <a:spcPts val="600"/>
              </a:spcBef>
            </a:pPr>
            <a:r>
              <a:rPr lang="en-US" altLang="en-US" sz="2600" dirty="0" smtClean="0"/>
              <a:t>Typical </a:t>
            </a:r>
            <a:r>
              <a:rPr lang="en-US" altLang="en-US" sz="2600" dirty="0"/>
              <a:t>qualifications: often have accreditation; ability to draft middle- and lower-level policies, standards, and guidelines; budgeting, project management, and hiring and firing; ability to manage </a:t>
            </a:r>
            <a:r>
              <a:rPr lang="en-US" altLang="en-US" sz="2600" dirty="0" smtClean="0"/>
              <a:t>technicians</a:t>
            </a:r>
          </a:p>
          <a:p>
            <a:pPr>
              <a:lnSpc>
                <a:spcPct val="120000"/>
              </a:lnSpc>
              <a:spcBef>
                <a:spcPts val="600"/>
              </a:spcBef>
            </a:pPr>
            <a:r>
              <a:rPr lang="en-US" altLang="en-US" sz="2800" dirty="0" smtClean="0"/>
              <a:t>Security technician</a:t>
            </a:r>
          </a:p>
          <a:p>
            <a:pPr lvl="1">
              <a:lnSpc>
                <a:spcPct val="120000"/>
              </a:lnSpc>
              <a:spcBef>
                <a:spcPts val="600"/>
              </a:spcBef>
            </a:pPr>
            <a:r>
              <a:rPr lang="en-US" altLang="en-US" sz="2600" dirty="0" smtClean="0"/>
              <a:t>Technically qualified employees tasked to configure security hardware and software </a:t>
            </a:r>
          </a:p>
          <a:p>
            <a:pPr lvl="1">
              <a:lnSpc>
                <a:spcPct val="120000"/>
              </a:lnSpc>
              <a:spcBef>
                <a:spcPts val="600"/>
              </a:spcBef>
            </a:pPr>
            <a:r>
              <a:rPr lang="en-US" altLang="en-US" sz="2600" dirty="0" smtClean="0"/>
              <a:t>Tend to be specialized</a:t>
            </a:r>
          </a:p>
        </p:txBody>
      </p:sp>
    </p:spTree>
    <p:extLst>
      <p:ext uri="{BB962C8B-B14F-4D97-AF65-F5344CB8AC3E}">
        <p14:creationId xmlns:p14="http://schemas.microsoft.com/office/powerpoint/2010/main" val="40671458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noChangeArrowheads="1"/>
          </p:cNvSpPr>
          <p:nvPr>
            <p:ph type="title"/>
          </p:nvPr>
        </p:nvSpPr>
        <p:spPr/>
        <p:txBody>
          <a:bodyPr anchor="ctr"/>
          <a:lstStyle/>
          <a:p>
            <a:r>
              <a:rPr lang="en-US" altLang="en-US" dirty="0" smtClean="0"/>
              <a:t>Information Security Positions (4 of 4)</a:t>
            </a:r>
          </a:p>
        </p:txBody>
      </p:sp>
      <p:sp>
        <p:nvSpPr>
          <p:cNvPr id="26627" name="Content Placeholder 5"/>
          <p:cNvSpPr>
            <a:spLocks noGrp="1" noChangeArrowheads="1"/>
          </p:cNvSpPr>
          <p:nvPr>
            <p:ph idx="1"/>
          </p:nvPr>
        </p:nvSpPr>
        <p:spPr/>
        <p:txBody>
          <a:bodyPr>
            <a:normAutofit/>
          </a:bodyPr>
          <a:lstStyle/>
          <a:p>
            <a:pPr lvl="1">
              <a:spcBef>
                <a:spcPts val="600"/>
              </a:spcBef>
            </a:pPr>
            <a:r>
              <a:rPr lang="en-US" altLang="en-US" dirty="0" smtClean="0"/>
              <a:t>Typical qualifications:</a:t>
            </a:r>
          </a:p>
          <a:p>
            <a:pPr lvl="2">
              <a:spcBef>
                <a:spcPts val="600"/>
              </a:spcBef>
            </a:pPr>
            <a:r>
              <a:rPr lang="en-US" altLang="en-US" dirty="0" smtClean="0"/>
              <a:t>Varied; organizations prefer expert, certified, proficient technician</a:t>
            </a:r>
          </a:p>
          <a:p>
            <a:pPr lvl="2">
              <a:spcBef>
                <a:spcPts val="600"/>
              </a:spcBef>
            </a:pPr>
            <a:r>
              <a:rPr lang="en-US" altLang="en-US" dirty="0" smtClean="0"/>
              <a:t>Some experience with a particular hardware and software package</a:t>
            </a:r>
          </a:p>
          <a:p>
            <a:pPr lvl="2">
              <a:spcBef>
                <a:spcPts val="600"/>
              </a:spcBef>
            </a:pPr>
            <a:r>
              <a:rPr lang="en-US" altLang="en-US" dirty="0" smtClean="0"/>
              <a:t>Actual experience in using a technology usually required</a:t>
            </a:r>
          </a:p>
        </p:txBody>
      </p:sp>
    </p:spTree>
    <p:extLst>
      <p:ext uri="{BB962C8B-B14F-4D97-AF65-F5344CB8AC3E}">
        <p14:creationId xmlns:p14="http://schemas.microsoft.com/office/powerpoint/2010/main" val="1388076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4"/>
          <p:cNvSpPr>
            <a:spLocks noGrp="1" noChangeArrowheads="1"/>
          </p:cNvSpPr>
          <p:nvPr>
            <p:ph type="title"/>
          </p:nvPr>
        </p:nvSpPr>
        <p:spPr/>
        <p:txBody>
          <a:bodyPr anchor="ctr">
            <a:noAutofit/>
          </a:bodyPr>
          <a:lstStyle/>
          <a:p>
            <a:r>
              <a:rPr lang="en-US" altLang="en-US" dirty="0" smtClean="0"/>
              <a:t>Credentials for Information Security Professionals</a:t>
            </a:r>
          </a:p>
        </p:txBody>
      </p:sp>
      <p:sp>
        <p:nvSpPr>
          <p:cNvPr id="27651" name="Content Placeholder 5"/>
          <p:cNvSpPr>
            <a:spLocks noGrp="1" noChangeArrowheads="1"/>
          </p:cNvSpPr>
          <p:nvPr>
            <p:ph idx="1"/>
          </p:nvPr>
        </p:nvSpPr>
        <p:spPr>
          <a:xfrm>
            <a:off x="304800" y="1447799"/>
            <a:ext cx="8534400" cy="4343401"/>
          </a:xfrm>
        </p:spPr>
        <p:txBody>
          <a:bodyPr>
            <a:normAutofit/>
          </a:bodyPr>
          <a:lstStyle/>
          <a:p>
            <a:pPr>
              <a:spcBef>
                <a:spcPts val="600"/>
              </a:spcBef>
            </a:pPr>
            <a:r>
              <a:rPr lang="en-US" altLang="en-US" dirty="0" smtClean="0"/>
              <a:t>Many organizations seek industry-recognized certifications. </a:t>
            </a:r>
          </a:p>
          <a:p>
            <a:pPr>
              <a:spcBef>
                <a:spcPts val="600"/>
              </a:spcBef>
            </a:pPr>
            <a:r>
              <a:rPr lang="en-US" altLang="en-US" dirty="0" smtClean="0"/>
              <a:t>Most existing certifications are relatively new and not fully understood by hiring organizations.</a:t>
            </a:r>
          </a:p>
        </p:txBody>
      </p:sp>
    </p:spTree>
    <p:extLst>
      <p:ext uri="{BB962C8B-B14F-4D97-AF65-F5344CB8AC3E}">
        <p14:creationId xmlns:p14="http://schemas.microsoft.com/office/powerpoint/2010/main" val="3945363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chor="ctr"/>
          <a:lstStyle/>
          <a:p>
            <a:r>
              <a:rPr lang="en-US" altLang="en-US" dirty="0" smtClean="0"/>
              <a:t>Certifications (1 of 4)</a:t>
            </a:r>
          </a:p>
        </p:txBody>
      </p:sp>
      <p:sp>
        <p:nvSpPr>
          <p:cNvPr id="26627" name="Content Placeholder 2"/>
          <p:cNvSpPr>
            <a:spLocks noGrp="1"/>
          </p:cNvSpPr>
          <p:nvPr>
            <p:ph idx="1"/>
          </p:nvPr>
        </p:nvSpPr>
        <p:spPr>
          <a:xfrm>
            <a:off x="381000" y="1295400"/>
            <a:ext cx="8474075" cy="4876800"/>
          </a:xfrm>
        </p:spPr>
        <p:txBody>
          <a:bodyPr>
            <a:normAutofit/>
          </a:bodyPr>
          <a:lstStyle/>
          <a:p>
            <a:pPr>
              <a:spcBef>
                <a:spcPts val="600"/>
              </a:spcBef>
            </a:pPr>
            <a:r>
              <a:rPr lang="en-US" altLang="en-US" dirty="0" smtClean="0"/>
              <a:t>(ISC)</a:t>
            </a:r>
            <a:r>
              <a:rPr lang="en-US" altLang="en-US" baseline="30000" dirty="0" smtClean="0"/>
              <a:t>2</a:t>
            </a:r>
            <a:r>
              <a:rPr lang="en-US" altLang="en-US" dirty="0" smtClean="0"/>
              <a:t> Certifications</a:t>
            </a:r>
          </a:p>
          <a:p>
            <a:pPr lvl="1">
              <a:spcBef>
                <a:spcPts val="600"/>
              </a:spcBef>
            </a:pPr>
            <a:r>
              <a:rPr lang="en-US" altLang="en-US" dirty="0" smtClean="0"/>
              <a:t>Certified Information Systems Security Professional (CISSP)</a:t>
            </a:r>
          </a:p>
          <a:p>
            <a:pPr lvl="2">
              <a:spcBef>
                <a:spcPts val="600"/>
              </a:spcBef>
            </a:pPr>
            <a:r>
              <a:rPr lang="en-US" altLang="en-US" dirty="0" smtClean="0"/>
              <a:t>Concentrations:</a:t>
            </a:r>
          </a:p>
          <a:p>
            <a:pPr lvl="3">
              <a:spcBef>
                <a:spcPts val="600"/>
              </a:spcBef>
            </a:pPr>
            <a:r>
              <a:rPr lang="en-US" altLang="en-US" dirty="0" smtClean="0"/>
              <a:t>Information </a:t>
            </a:r>
            <a:r>
              <a:rPr lang="en-US" altLang="en-US" dirty="0"/>
              <a:t>Systems Security Architecture </a:t>
            </a:r>
            <a:r>
              <a:rPr lang="en-US" altLang="en-US" dirty="0" smtClean="0"/>
              <a:t>Professional (ISSAP)</a:t>
            </a:r>
          </a:p>
          <a:p>
            <a:pPr lvl="3">
              <a:spcBef>
                <a:spcPts val="600"/>
              </a:spcBef>
            </a:pPr>
            <a:r>
              <a:rPr lang="en-US" dirty="0" smtClean="0"/>
              <a:t>Information </a:t>
            </a:r>
            <a:r>
              <a:rPr lang="en-US" dirty="0"/>
              <a:t>Systems Security Engineering </a:t>
            </a:r>
            <a:r>
              <a:rPr lang="en-US" dirty="0" smtClean="0"/>
              <a:t>Professional (ISSEP)</a:t>
            </a:r>
          </a:p>
          <a:p>
            <a:pPr lvl="3">
              <a:spcBef>
                <a:spcPts val="600"/>
              </a:spcBef>
            </a:pPr>
            <a:r>
              <a:rPr lang="en-US" dirty="0" smtClean="0"/>
              <a:t>Information </a:t>
            </a:r>
            <a:r>
              <a:rPr lang="en-US" dirty="0"/>
              <a:t>Systems Security Management </a:t>
            </a:r>
            <a:r>
              <a:rPr lang="en-US" dirty="0" smtClean="0"/>
              <a:t>Professional (ISSMP)</a:t>
            </a:r>
            <a:endParaRPr lang="en-US" altLang="en-US" dirty="0"/>
          </a:p>
        </p:txBody>
      </p:sp>
    </p:spTree>
    <p:extLst>
      <p:ext uri="{BB962C8B-B14F-4D97-AF65-F5344CB8AC3E}">
        <p14:creationId xmlns:p14="http://schemas.microsoft.com/office/powerpoint/2010/main" val="18752135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chor="ctr"/>
          <a:lstStyle/>
          <a:p>
            <a:r>
              <a:rPr lang="en-US" altLang="en-US" dirty="0" smtClean="0"/>
              <a:t>Certifications (2 of 4)</a:t>
            </a:r>
          </a:p>
        </p:txBody>
      </p:sp>
      <p:sp>
        <p:nvSpPr>
          <p:cNvPr id="26627" name="Content Placeholder 2"/>
          <p:cNvSpPr>
            <a:spLocks noGrp="1"/>
          </p:cNvSpPr>
          <p:nvPr>
            <p:ph idx="1"/>
          </p:nvPr>
        </p:nvSpPr>
        <p:spPr>
          <a:xfrm>
            <a:off x="365125" y="1295400"/>
            <a:ext cx="8474075" cy="4876800"/>
          </a:xfrm>
        </p:spPr>
        <p:txBody>
          <a:bodyPr>
            <a:normAutofit/>
          </a:bodyPr>
          <a:lstStyle/>
          <a:p>
            <a:pPr lvl="1">
              <a:spcBef>
                <a:spcPts val="600"/>
              </a:spcBef>
            </a:pPr>
            <a:r>
              <a:rPr lang="en-US" altLang="en-US" dirty="0" smtClean="0"/>
              <a:t>Systems Security Certified Practitioner (SSCP)</a:t>
            </a:r>
          </a:p>
          <a:p>
            <a:pPr lvl="1">
              <a:spcBef>
                <a:spcPts val="600"/>
              </a:spcBef>
            </a:pPr>
            <a:r>
              <a:rPr lang="en-US" altLang="en-US" dirty="0" smtClean="0"/>
              <a:t>Certified Secure Software Lifecycle Professional (CSSLP)</a:t>
            </a:r>
          </a:p>
          <a:p>
            <a:pPr lvl="1">
              <a:spcBef>
                <a:spcPts val="600"/>
              </a:spcBef>
            </a:pPr>
            <a:r>
              <a:rPr lang="en-US" altLang="en-US" dirty="0" smtClean="0"/>
              <a:t>Certified Cyber Forensics Professional (CCFP)</a:t>
            </a:r>
          </a:p>
          <a:p>
            <a:pPr lvl="1">
              <a:spcBef>
                <a:spcPts val="600"/>
              </a:spcBef>
            </a:pPr>
            <a:r>
              <a:rPr lang="en-US" altLang="en-US" dirty="0" smtClean="0"/>
              <a:t>HealthCare Information Security and Privacy Practitioner (HCISPP)</a:t>
            </a:r>
          </a:p>
          <a:p>
            <a:pPr lvl="1">
              <a:spcBef>
                <a:spcPts val="600"/>
              </a:spcBef>
            </a:pPr>
            <a:r>
              <a:rPr lang="en-US" altLang="en-US" dirty="0" smtClean="0"/>
              <a:t>Certified Cloud Security Professional (CCSP)</a:t>
            </a:r>
          </a:p>
          <a:p>
            <a:pPr lvl="1">
              <a:spcBef>
                <a:spcPts val="600"/>
              </a:spcBef>
            </a:pPr>
            <a:r>
              <a:rPr lang="en-US" altLang="en-US" dirty="0" smtClean="0"/>
              <a:t>Associate of (ISC)</a:t>
            </a:r>
            <a:r>
              <a:rPr lang="en-US" altLang="en-US" baseline="30000" dirty="0" smtClean="0"/>
              <a:t>2</a:t>
            </a:r>
          </a:p>
        </p:txBody>
      </p:sp>
    </p:spTree>
    <p:extLst>
      <p:ext uri="{BB962C8B-B14F-4D97-AF65-F5344CB8AC3E}">
        <p14:creationId xmlns:p14="http://schemas.microsoft.com/office/powerpoint/2010/main" val="37921795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chor="ctr"/>
          <a:lstStyle/>
          <a:p>
            <a:r>
              <a:rPr lang="en-US" altLang="en-US" dirty="0" smtClean="0"/>
              <a:t>Certifications (3 of 4)</a:t>
            </a:r>
          </a:p>
        </p:txBody>
      </p:sp>
      <p:sp>
        <p:nvSpPr>
          <p:cNvPr id="26627" name="Content Placeholder 2"/>
          <p:cNvSpPr>
            <a:spLocks noGrp="1"/>
          </p:cNvSpPr>
          <p:nvPr>
            <p:ph idx="1"/>
          </p:nvPr>
        </p:nvSpPr>
        <p:spPr>
          <a:xfrm>
            <a:off x="365124" y="1295400"/>
            <a:ext cx="8474076" cy="4800600"/>
          </a:xfrm>
        </p:spPr>
        <p:txBody>
          <a:bodyPr>
            <a:normAutofit/>
          </a:bodyPr>
          <a:lstStyle/>
          <a:p>
            <a:pPr>
              <a:spcBef>
                <a:spcPts val="600"/>
              </a:spcBef>
            </a:pPr>
            <a:r>
              <a:rPr lang="en-US" altLang="en-US" dirty="0" smtClean="0"/>
              <a:t>ISACA Certifications</a:t>
            </a:r>
            <a:r>
              <a:rPr lang="en-US" dirty="0"/>
              <a:t> </a:t>
            </a:r>
            <a:endParaRPr lang="en-US" dirty="0" smtClean="0"/>
          </a:p>
          <a:p>
            <a:pPr lvl="1">
              <a:spcBef>
                <a:spcPts val="600"/>
              </a:spcBef>
            </a:pPr>
            <a:r>
              <a:rPr lang="en-US" altLang="en-US" dirty="0" smtClean="0"/>
              <a:t>Certified Information Systems Manager(CISM)</a:t>
            </a:r>
          </a:p>
          <a:p>
            <a:pPr lvl="1">
              <a:spcBef>
                <a:spcPts val="600"/>
              </a:spcBef>
            </a:pPr>
            <a:r>
              <a:rPr lang="en-US" altLang="en-US" dirty="0" smtClean="0"/>
              <a:t>Certified Information Security Auditor (CISA)</a:t>
            </a:r>
          </a:p>
          <a:p>
            <a:pPr lvl="1">
              <a:spcBef>
                <a:spcPts val="600"/>
              </a:spcBef>
            </a:pPr>
            <a:r>
              <a:rPr lang="en-US" altLang="en-US" dirty="0" smtClean="0"/>
              <a:t>Certified in the Governance of Enterprise IT (CGEIT)</a:t>
            </a:r>
          </a:p>
          <a:p>
            <a:pPr lvl="1">
              <a:spcBef>
                <a:spcPts val="600"/>
              </a:spcBef>
            </a:pPr>
            <a:r>
              <a:rPr lang="en-US" altLang="en-US" dirty="0" smtClean="0"/>
              <a:t>Certified in Risk and Information Systems Control (CRISC)</a:t>
            </a:r>
          </a:p>
        </p:txBody>
      </p:sp>
    </p:spTree>
    <p:extLst>
      <p:ext uri="{BB962C8B-B14F-4D97-AF65-F5344CB8AC3E}">
        <p14:creationId xmlns:p14="http://schemas.microsoft.com/office/powerpoint/2010/main" val="23322866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chor="ctr"/>
          <a:lstStyle/>
          <a:p>
            <a:r>
              <a:rPr lang="en-US" altLang="en-US" dirty="0" smtClean="0"/>
              <a:t>Certifications (4 of 4)</a:t>
            </a:r>
          </a:p>
        </p:txBody>
      </p:sp>
      <p:sp>
        <p:nvSpPr>
          <p:cNvPr id="29699" name="Content Placeholder 2"/>
          <p:cNvSpPr>
            <a:spLocks noGrp="1"/>
          </p:cNvSpPr>
          <p:nvPr>
            <p:ph idx="1"/>
          </p:nvPr>
        </p:nvSpPr>
        <p:spPr/>
        <p:txBody>
          <a:bodyPr/>
          <a:lstStyle/>
          <a:p>
            <a:pPr>
              <a:spcBef>
                <a:spcPts val="600"/>
              </a:spcBef>
            </a:pPr>
            <a:r>
              <a:rPr lang="fr-FR" altLang="en-US" dirty="0" smtClean="0"/>
              <a:t>SANS Global Information Assurance Certification (GIAC)</a:t>
            </a:r>
          </a:p>
          <a:p>
            <a:pPr>
              <a:spcBef>
                <a:spcPts val="600"/>
              </a:spcBef>
            </a:pPr>
            <a:r>
              <a:rPr lang="en-US" altLang="en-US" dirty="0" smtClean="0"/>
              <a:t>EC Council Certified CISO (ClCISO)</a:t>
            </a:r>
          </a:p>
          <a:p>
            <a:pPr>
              <a:spcBef>
                <a:spcPts val="600"/>
              </a:spcBef>
            </a:pPr>
            <a:r>
              <a:rPr lang="en-US" altLang="en-US" dirty="0" smtClean="0"/>
              <a:t>CompTIA’s Security+</a:t>
            </a:r>
          </a:p>
          <a:p>
            <a:pPr>
              <a:spcBef>
                <a:spcPts val="600"/>
              </a:spcBef>
            </a:pPr>
            <a:r>
              <a:rPr lang="en-US" altLang="en-US" dirty="0" smtClean="0"/>
              <a:t>Certified Computer Examiner (CCE)</a:t>
            </a:r>
          </a:p>
        </p:txBody>
      </p:sp>
    </p:spTree>
    <p:extLst>
      <p:ext uri="{BB962C8B-B14F-4D97-AF65-F5344CB8AC3E}">
        <p14:creationId xmlns:p14="http://schemas.microsoft.com/office/powerpoint/2010/main" val="22782884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4"/>
          <p:cNvSpPr>
            <a:spLocks noGrp="1" noChangeArrowheads="1"/>
          </p:cNvSpPr>
          <p:nvPr>
            <p:ph type="title"/>
          </p:nvPr>
        </p:nvSpPr>
        <p:spPr/>
        <p:txBody>
          <a:bodyPr anchor="ctr"/>
          <a:lstStyle/>
          <a:p>
            <a:r>
              <a:rPr lang="en-US" altLang="en-US" dirty="0" smtClean="0"/>
              <a:t>Certification Costs</a:t>
            </a:r>
          </a:p>
        </p:txBody>
      </p:sp>
      <p:sp>
        <p:nvSpPr>
          <p:cNvPr id="30723" name="Content Placeholder 5"/>
          <p:cNvSpPr>
            <a:spLocks noGrp="1" noChangeArrowheads="1"/>
          </p:cNvSpPr>
          <p:nvPr>
            <p:ph idx="1"/>
          </p:nvPr>
        </p:nvSpPr>
        <p:spPr/>
        <p:txBody>
          <a:bodyPr>
            <a:normAutofit/>
          </a:bodyPr>
          <a:lstStyle/>
          <a:p>
            <a:pPr>
              <a:spcBef>
                <a:spcPts val="600"/>
              </a:spcBef>
            </a:pPr>
            <a:r>
              <a:rPr lang="en-US" altLang="en-US" dirty="0" smtClean="0"/>
              <a:t>More preferred certifications can be expensive.</a:t>
            </a:r>
          </a:p>
          <a:p>
            <a:pPr>
              <a:spcBef>
                <a:spcPts val="600"/>
              </a:spcBef>
            </a:pPr>
            <a:r>
              <a:rPr lang="en-US" altLang="en-US" dirty="0" smtClean="0"/>
              <a:t>Even experienced professionals find exams difficult without some review.</a:t>
            </a:r>
          </a:p>
          <a:p>
            <a:pPr>
              <a:spcBef>
                <a:spcPts val="600"/>
              </a:spcBef>
            </a:pPr>
            <a:r>
              <a:rPr lang="en-US" altLang="en-US" dirty="0" smtClean="0"/>
              <a:t>Many candidates engage in individual or group study sessions and purchase exam review books.</a:t>
            </a:r>
          </a:p>
          <a:p>
            <a:pPr>
              <a:spcBef>
                <a:spcPts val="600"/>
              </a:spcBef>
            </a:pPr>
            <a:r>
              <a:rPr lang="en-US" altLang="en-US" dirty="0" smtClean="0"/>
              <a:t>Before attempting a certification exam, do all homework and review exam criteria, its purpose, and requirements to ensure that the time and energy spent pursuing certification are worthwhile.</a:t>
            </a:r>
          </a:p>
        </p:txBody>
      </p:sp>
    </p:spTree>
    <p:extLst>
      <p:ext uri="{BB962C8B-B14F-4D97-AF65-F5344CB8AC3E}">
        <p14:creationId xmlns:p14="http://schemas.microsoft.com/office/powerpoint/2010/main" val="33627825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b="1" dirty="0"/>
              <a:t>Figure 11-5  </a:t>
            </a:r>
            <a:r>
              <a:rPr lang="en-US" dirty="0"/>
              <a:t>Preparing for security </a:t>
            </a:r>
            <a:r>
              <a:rPr lang="en-US" dirty="0" smtClean="0"/>
              <a:t>certification</a:t>
            </a:r>
            <a:endParaRPr lang="en-US" dirty="0"/>
          </a:p>
        </p:txBody>
      </p:sp>
      <p:pic>
        <p:nvPicPr>
          <p:cNvPr id="2" name="Picture 1" descr="An illustration shows many books arranged one above the other and is labeled as, “Self-study guides.” An arrow points from this image to the second image labeled as, “Certification.” The second image shows a certificate labeled as, “Certified professional in Information security.” The third image shows women in front of computer and a man discussing with one of the woman. The fourth image shows a man in front of computer and a man talking to him. Another man is shown opposite to them. A person is shown far sitting far away from them. It is labeled as, “Work experience.” The fifth image shows a bar graph and a computer in the background. It is labeled as, “Training media.” The sixth image shows many people sitting in front of computer. A person is shown with a tablet in hands in front of them. It is labeled as, “Formal Training programs.”&#10;"/>
          <p:cNvPicPr>
            <a:picLocks noChangeAspect="1"/>
          </p:cNvPicPr>
          <p:nvPr/>
        </p:nvPicPr>
        <p:blipFill rotWithShape="1">
          <a:blip r:embed="rId3">
            <a:extLst>
              <a:ext uri="{28A0092B-C50C-407E-A947-70E740481C1C}">
                <a14:useLocalDpi xmlns:a14="http://schemas.microsoft.com/office/drawing/2010/main" val="0"/>
              </a:ext>
            </a:extLst>
          </a:blip>
          <a:srcRect b="7841"/>
          <a:stretch/>
        </p:blipFill>
        <p:spPr>
          <a:xfrm>
            <a:off x="2588462" y="1676400"/>
            <a:ext cx="4332016" cy="3213824"/>
          </a:xfrm>
          <a:prstGeom prst="rect">
            <a:avLst/>
          </a:prstGeom>
        </p:spPr>
      </p:pic>
      <p:sp>
        <p:nvSpPr>
          <p:cNvPr id="4" name="Content Placeholder 3"/>
          <p:cNvSpPr>
            <a:spLocks noGrp="1"/>
          </p:cNvSpPr>
          <p:nvPr>
            <p:ph sz="quarter" idx="10"/>
          </p:nvPr>
        </p:nvSpPr>
        <p:spPr>
          <a:xfrm>
            <a:off x="491330" y="4953000"/>
            <a:ext cx="8195469" cy="1295400"/>
          </a:xfrm>
        </p:spPr>
        <p:txBody>
          <a:bodyPr>
            <a:noAutofit/>
          </a:bodyPr>
          <a:lstStyle/>
          <a:p>
            <a:pPr marL="0" indent="0" eaLnBrk="0" fontAlgn="base" hangingPunct="0">
              <a:spcBef>
                <a:spcPct val="30000"/>
              </a:spcBef>
              <a:spcAft>
                <a:spcPct val="0"/>
              </a:spcAft>
              <a:buClrTx/>
              <a:buNone/>
              <a:defRPr/>
            </a:pPr>
            <a:r>
              <a:rPr lang="en-US" sz="2000" i="1" dirty="0"/>
              <a:t>Top left: © Hong Vo/Shutterstock.com. Bottom left: © </a:t>
            </a:r>
            <a:r>
              <a:rPr lang="en-US" sz="2000" i="1" dirty="0" err="1"/>
              <a:t>Phovoir</a:t>
            </a:r>
            <a:r>
              <a:rPr lang="en-US" sz="2000" i="1" dirty="0"/>
              <a:t>/Shutterstock.com. Bottom center: © </a:t>
            </a:r>
            <a:r>
              <a:rPr lang="en-US" sz="2000" i="1" dirty="0" err="1"/>
              <a:t>Petinov</a:t>
            </a:r>
            <a:r>
              <a:rPr lang="en-US" sz="2000" i="1" dirty="0"/>
              <a:t> Sergey </a:t>
            </a:r>
            <a:r>
              <a:rPr lang="en-US" sz="2000" i="1" dirty="0" err="1"/>
              <a:t>Mihilovich</a:t>
            </a:r>
            <a:r>
              <a:rPr lang="en-US" sz="2000" i="1" dirty="0"/>
              <a:t> Shutterstock.com. Bottom right: © ESB Professional/Shutterstock.com. Top right: © </a:t>
            </a:r>
            <a:r>
              <a:rPr lang="en-US" sz="2000" i="1" dirty="0" err="1"/>
              <a:t>Goodluz</a:t>
            </a:r>
            <a:r>
              <a:rPr lang="en-US" sz="2000" i="1" dirty="0"/>
              <a:t>/Shutterstock.com</a:t>
            </a:r>
            <a:r>
              <a:rPr lang="en-US" sz="2000" i="1" dirty="0" smtClean="0"/>
              <a:t>.</a:t>
            </a:r>
            <a:endParaRPr lang="en-US" sz="2000" i="1" dirty="0"/>
          </a:p>
        </p:txBody>
      </p:sp>
    </p:spTree>
    <p:extLst>
      <p:ext uri="{BB962C8B-B14F-4D97-AF65-F5344CB8AC3E}">
        <p14:creationId xmlns:p14="http://schemas.microsoft.com/office/powerpoint/2010/main" val="2875827263"/>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4"/>
          <p:cNvSpPr>
            <a:spLocks noGrp="1" noChangeArrowheads="1"/>
          </p:cNvSpPr>
          <p:nvPr>
            <p:ph type="title"/>
          </p:nvPr>
        </p:nvSpPr>
        <p:spPr/>
        <p:txBody>
          <a:bodyPr anchor="ctr">
            <a:noAutofit/>
          </a:bodyPr>
          <a:lstStyle/>
          <a:p>
            <a:r>
              <a:rPr lang="en-US" altLang="en-US" dirty="0" smtClean="0"/>
              <a:t>Advice for Information Security Professionals</a:t>
            </a:r>
          </a:p>
        </p:txBody>
      </p:sp>
      <p:sp>
        <p:nvSpPr>
          <p:cNvPr id="32771" name="Content Placeholder 5"/>
          <p:cNvSpPr>
            <a:spLocks noGrp="1" noChangeArrowheads="1"/>
          </p:cNvSpPr>
          <p:nvPr>
            <p:ph idx="1"/>
          </p:nvPr>
        </p:nvSpPr>
        <p:spPr>
          <a:xfrm>
            <a:off x="441324" y="1295400"/>
            <a:ext cx="8474076" cy="4800600"/>
          </a:xfrm>
        </p:spPr>
        <p:txBody>
          <a:bodyPr>
            <a:normAutofit/>
          </a:bodyPr>
          <a:lstStyle/>
          <a:p>
            <a:pPr>
              <a:spcBef>
                <a:spcPts val="600"/>
              </a:spcBef>
            </a:pPr>
            <a:r>
              <a:rPr lang="en-US" altLang="en-US" dirty="0" smtClean="0"/>
              <a:t>Always remember: business before technology.</a:t>
            </a:r>
          </a:p>
          <a:p>
            <a:pPr>
              <a:spcBef>
                <a:spcPts val="600"/>
              </a:spcBef>
            </a:pPr>
            <a:r>
              <a:rPr lang="en-US" altLang="en-US" dirty="0" smtClean="0"/>
              <a:t>Technology provides elegant solutions for some problems, but only exacerbates others.</a:t>
            </a:r>
          </a:p>
          <a:p>
            <a:pPr>
              <a:spcBef>
                <a:spcPts val="600"/>
              </a:spcBef>
            </a:pPr>
            <a:r>
              <a:rPr lang="en-US" altLang="en-US" dirty="0" smtClean="0"/>
              <a:t>Never lose sight of goal: protection.</a:t>
            </a:r>
          </a:p>
          <a:p>
            <a:pPr>
              <a:spcBef>
                <a:spcPts val="600"/>
              </a:spcBef>
            </a:pPr>
            <a:r>
              <a:rPr lang="en-US" altLang="en-US" dirty="0" smtClean="0"/>
              <a:t>Be heard and not seen.</a:t>
            </a:r>
          </a:p>
          <a:p>
            <a:pPr>
              <a:spcBef>
                <a:spcPts val="600"/>
              </a:spcBef>
            </a:pPr>
            <a:r>
              <a:rPr lang="en-US" altLang="en-US" dirty="0" smtClean="0"/>
              <a:t>Know more than you say; be more skillful than you let on. </a:t>
            </a:r>
          </a:p>
          <a:p>
            <a:pPr>
              <a:spcBef>
                <a:spcPts val="600"/>
              </a:spcBef>
            </a:pPr>
            <a:r>
              <a:rPr lang="en-US" altLang="en-US" dirty="0" smtClean="0"/>
              <a:t>Speak to users, not at them.</a:t>
            </a:r>
          </a:p>
          <a:p>
            <a:pPr>
              <a:spcBef>
                <a:spcPts val="600"/>
              </a:spcBef>
            </a:pPr>
            <a:r>
              <a:rPr lang="en-US" altLang="en-US" dirty="0" smtClean="0"/>
              <a:t>Your education is never complete.</a:t>
            </a:r>
          </a:p>
        </p:txBody>
      </p:sp>
    </p:spTree>
    <p:extLst>
      <p:ext uri="{BB962C8B-B14F-4D97-AF65-F5344CB8AC3E}">
        <p14:creationId xmlns:p14="http://schemas.microsoft.com/office/powerpoint/2010/main" val="10715862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4"/>
          <p:cNvSpPr>
            <a:spLocks noGrp="1" noChangeArrowheads="1"/>
          </p:cNvSpPr>
          <p:nvPr>
            <p:ph type="title"/>
          </p:nvPr>
        </p:nvSpPr>
        <p:spPr/>
        <p:txBody>
          <a:bodyPr anchor="ctr"/>
          <a:lstStyle/>
          <a:p>
            <a:r>
              <a:rPr lang="en-US" altLang="en-US" dirty="0" smtClean="0"/>
              <a:t>Employment Policies and Practices</a:t>
            </a:r>
          </a:p>
        </p:txBody>
      </p:sp>
      <p:sp>
        <p:nvSpPr>
          <p:cNvPr id="33795" name="Content Placeholder 5"/>
          <p:cNvSpPr>
            <a:spLocks noGrp="1" noChangeArrowheads="1"/>
          </p:cNvSpPr>
          <p:nvPr>
            <p:ph idx="1"/>
          </p:nvPr>
        </p:nvSpPr>
        <p:spPr>
          <a:xfrm>
            <a:off x="152400" y="1190172"/>
            <a:ext cx="8839200" cy="5029200"/>
          </a:xfrm>
        </p:spPr>
        <p:txBody>
          <a:bodyPr>
            <a:noAutofit/>
          </a:bodyPr>
          <a:lstStyle/>
          <a:p>
            <a:pPr>
              <a:spcBef>
                <a:spcPts val="600"/>
              </a:spcBef>
            </a:pPr>
            <a:r>
              <a:rPr lang="en-US" altLang="en-US" dirty="0" smtClean="0"/>
              <a:t>An organization should make information security a documented part of every employee’s job description. </a:t>
            </a:r>
          </a:p>
          <a:p>
            <a:pPr>
              <a:spcBef>
                <a:spcPts val="600"/>
              </a:spcBef>
            </a:pPr>
            <a:r>
              <a:rPr lang="en-US" altLang="en-US" dirty="0" smtClean="0"/>
              <a:t>Management community of interest should integrate solid concepts for information security into the organization’s employment policies and practices.</a:t>
            </a:r>
          </a:p>
          <a:p>
            <a:pPr>
              <a:spcBef>
                <a:spcPts val="600"/>
              </a:spcBef>
            </a:pPr>
            <a:r>
              <a:rPr lang="en-US" altLang="en-US" dirty="0"/>
              <a:t>From information security perspective, hiring of employees is a responsibility laden with potential security pitfalls.</a:t>
            </a:r>
          </a:p>
          <a:p>
            <a:pPr>
              <a:spcBef>
                <a:spcPts val="600"/>
              </a:spcBef>
            </a:pPr>
            <a:r>
              <a:rPr lang="en-US" altLang="en-US" dirty="0" smtClean="0"/>
              <a:t>The CISO </a:t>
            </a:r>
            <a:r>
              <a:rPr lang="en-US" altLang="en-US" dirty="0"/>
              <a:t>and information security manager should work with Human Resources </a:t>
            </a:r>
            <a:r>
              <a:rPr lang="en-US" dirty="0" smtClean="0"/>
              <a:t>(HR) </a:t>
            </a:r>
            <a:r>
              <a:rPr lang="en-US" altLang="en-US" dirty="0" smtClean="0"/>
              <a:t>department </a:t>
            </a:r>
            <a:r>
              <a:rPr lang="en-US" altLang="en-US" dirty="0"/>
              <a:t>to incorporate information security into guidelines used for hiring all personnel</a:t>
            </a:r>
            <a:r>
              <a:rPr lang="en-US" altLang="en-US" dirty="0" smtClean="0"/>
              <a:t>.</a:t>
            </a:r>
            <a:endParaRPr lang="en-US" altLang="en-US" dirty="0"/>
          </a:p>
        </p:txBody>
      </p:sp>
    </p:spTree>
    <p:extLst>
      <p:ext uri="{BB962C8B-B14F-4D97-AF65-F5344CB8AC3E}">
        <p14:creationId xmlns:p14="http://schemas.microsoft.com/office/powerpoint/2010/main" val="28199293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4"/>
          <p:cNvSpPr>
            <a:spLocks noGrp="1" noChangeArrowheads="1"/>
          </p:cNvSpPr>
          <p:nvPr>
            <p:ph type="title"/>
          </p:nvPr>
        </p:nvSpPr>
        <p:spPr/>
        <p:txBody>
          <a:bodyPr anchor="ctr"/>
          <a:lstStyle/>
          <a:p>
            <a:r>
              <a:rPr lang="en-US" altLang="en-US" dirty="0" smtClean="0"/>
              <a:t>Job Descriptions</a:t>
            </a:r>
          </a:p>
        </p:txBody>
      </p:sp>
      <p:sp>
        <p:nvSpPr>
          <p:cNvPr id="35843" name="Content Placeholder 5"/>
          <p:cNvSpPr>
            <a:spLocks noGrp="1" noChangeArrowheads="1"/>
          </p:cNvSpPr>
          <p:nvPr>
            <p:ph idx="1"/>
          </p:nvPr>
        </p:nvSpPr>
        <p:spPr>
          <a:xfrm>
            <a:off x="228600" y="1295401"/>
            <a:ext cx="8610600" cy="4572000"/>
          </a:xfrm>
        </p:spPr>
        <p:txBody>
          <a:bodyPr>
            <a:normAutofit/>
          </a:bodyPr>
          <a:lstStyle/>
          <a:p>
            <a:pPr>
              <a:spcBef>
                <a:spcPts val="600"/>
              </a:spcBef>
            </a:pPr>
            <a:r>
              <a:rPr lang="en-US" altLang="en-US" dirty="0" smtClean="0"/>
              <a:t>Integrating information security perspectives into hiring process begins with reviewing and updating all job descriptions.</a:t>
            </a:r>
          </a:p>
          <a:p>
            <a:pPr>
              <a:spcBef>
                <a:spcPts val="600"/>
              </a:spcBef>
            </a:pPr>
            <a:r>
              <a:rPr lang="en-US" altLang="en-US" dirty="0" smtClean="0"/>
              <a:t>An organization should avoid revealing access privileges to prospective employees when advertising open positions.</a:t>
            </a:r>
          </a:p>
        </p:txBody>
      </p:sp>
    </p:spTree>
    <p:extLst>
      <p:ext uri="{BB962C8B-B14F-4D97-AF65-F5344CB8AC3E}">
        <p14:creationId xmlns:p14="http://schemas.microsoft.com/office/powerpoint/2010/main" val="14404702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4"/>
          <p:cNvSpPr>
            <a:spLocks noGrp="1" noChangeArrowheads="1"/>
          </p:cNvSpPr>
          <p:nvPr>
            <p:ph type="title"/>
          </p:nvPr>
        </p:nvSpPr>
        <p:spPr/>
        <p:txBody>
          <a:bodyPr anchor="ctr"/>
          <a:lstStyle/>
          <a:p>
            <a:r>
              <a:rPr lang="en-US" altLang="en-US" dirty="0" smtClean="0"/>
              <a:t>Interviews</a:t>
            </a:r>
          </a:p>
        </p:txBody>
      </p:sp>
      <p:sp>
        <p:nvSpPr>
          <p:cNvPr id="36867" name="Content Placeholder 5"/>
          <p:cNvSpPr>
            <a:spLocks noGrp="1" noChangeArrowheads="1"/>
          </p:cNvSpPr>
          <p:nvPr>
            <p:ph idx="1"/>
          </p:nvPr>
        </p:nvSpPr>
        <p:spPr/>
        <p:txBody>
          <a:bodyPr>
            <a:normAutofit/>
          </a:bodyPr>
          <a:lstStyle/>
          <a:p>
            <a:pPr>
              <a:spcBef>
                <a:spcPts val="600"/>
              </a:spcBef>
            </a:pPr>
            <a:r>
              <a:rPr lang="en-US" altLang="en-US" dirty="0" smtClean="0"/>
              <a:t>An opening within the information security department creates a unique opportunity for the security manager to educate HR on certifications, experience, and qualifications of a good candidate.</a:t>
            </a:r>
          </a:p>
          <a:p>
            <a:pPr>
              <a:spcBef>
                <a:spcPts val="600"/>
              </a:spcBef>
            </a:pPr>
            <a:r>
              <a:rPr lang="en-US" altLang="en-US" dirty="0" smtClean="0"/>
              <a:t>Information security should advise HR to limit information provided to the candidate on the responsibilities and access rights of the new hire.</a:t>
            </a:r>
          </a:p>
          <a:p>
            <a:pPr>
              <a:spcBef>
                <a:spcPts val="600"/>
              </a:spcBef>
            </a:pPr>
            <a:r>
              <a:rPr lang="en-US" altLang="en-US" dirty="0" smtClean="0"/>
              <a:t>For the organizations that include on-site visits as part of interviews, it’s important to exercise caution when showing candidate around facility.</a:t>
            </a:r>
          </a:p>
        </p:txBody>
      </p:sp>
    </p:spTree>
    <p:extLst>
      <p:ext uri="{BB962C8B-B14F-4D97-AF65-F5344CB8AC3E}">
        <p14:creationId xmlns:p14="http://schemas.microsoft.com/office/powerpoint/2010/main" val="4924620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7962" y="304800"/>
            <a:ext cx="8032638" cy="912737"/>
          </a:xfrm>
        </p:spPr>
        <p:txBody>
          <a:bodyPr>
            <a:normAutofit/>
          </a:bodyPr>
          <a:lstStyle/>
          <a:p>
            <a:pPr marL="0" indent="0">
              <a:lnSpc>
                <a:spcPct val="100000"/>
              </a:lnSpc>
              <a:spcBef>
                <a:spcPts val="0"/>
              </a:spcBef>
              <a:tabLst>
                <a:tab pos="4397375" algn="l"/>
              </a:tabLst>
            </a:pPr>
            <a:r>
              <a:rPr lang="en-US" b="1" dirty="0"/>
              <a:t>Figure 11-6  </a:t>
            </a:r>
            <a:r>
              <a:rPr lang="en-US" dirty="0"/>
              <a:t>Hiring </a:t>
            </a:r>
            <a:r>
              <a:rPr lang="en-US" dirty="0" smtClean="0"/>
              <a:t>issues</a:t>
            </a:r>
            <a:endParaRPr lang="en-US" dirty="0"/>
          </a:p>
        </p:txBody>
      </p:sp>
      <p:pic>
        <p:nvPicPr>
          <p:cNvPr id="2" name="Picture 1" descr="An illustration shows six images. The first image shows tab labeled as, “FBI- Criminal History Summary Checks.” Below it is the heading labeled as, “The FBI Federal Bureau of investigation.” There are many tabs below it. They are “Contact us, about us, most wanted, News and a logo.” A topic labeled as, “Criminal History summary checks” is shown below the tabs. Below this the heading labeled as, “Current processing time for a criminal History summary: 22 calendar days. Please allow additional time for mail delivery.” Below this a summary about Criminal history is given. This image is labeled as, “Background checks.” The second image shows a certificate which reads as, “Certified professional in Information security.” It is labeled as, “Certificates.” The third image shows the heading Hierarchical Access Limited. Below this the text reads as, “HAL Employment Policy.” The purpose and scope of it are given below. It is labeled as, “Policies.” The fourth image shows the Non-Disclosure Agreement which is a confidential agreement. A detailed description is given below it. It is labeled as, “Covenants and agreements.” The fifth image shows a woman smiling with a paper in her hand. The sixth image shows the heading Employment contract with the detailed information about it. It is labeled as, “Contracts.” &#10;"/>
          <p:cNvPicPr>
            <a:picLocks noChangeAspect="1"/>
          </p:cNvPicPr>
          <p:nvPr/>
        </p:nvPicPr>
        <p:blipFill rotWithShape="1">
          <a:blip r:embed="rId3">
            <a:extLst>
              <a:ext uri="{28A0092B-C50C-407E-A947-70E740481C1C}">
                <a14:useLocalDpi xmlns:a14="http://schemas.microsoft.com/office/drawing/2010/main" val="0"/>
              </a:ext>
            </a:extLst>
          </a:blip>
          <a:srcRect b="4749"/>
          <a:stretch/>
        </p:blipFill>
        <p:spPr>
          <a:xfrm>
            <a:off x="667571" y="1321942"/>
            <a:ext cx="7943029" cy="3883794"/>
          </a:xfrm>
          <a:prstGeom prst="rect">
            <a:avLst/>
          </a:prstGeom>
        </p:spPr>
      </p:pic>
      <p:sp>
        <p:nvSpPr>
          <p:cNvPr id="4" name="Content Placeholder 3"/>
          <p:cNvSpPr>
            <a:spLocks noGrp="1"/>
          </p:cNvSpPr>
          <p:nvPr>
            <p:ph sz="quarter" idx="10"/>
          </p:nvPr>
        </p:nvSpPr>
        <p:spPr>
          <a:xfrm>
            <a:off x="491331" y="5334000"/>
            <a:ext cx="8153400" cy="838200"/>
          </a:xfrm>
        </p:spPr>
        <p:txBody>
          <a:bodyPr>
            <a:normAutofit/>
          </a:bodyPr>
          <a:lstStyle/>
          <a:p>
            <a:pPr marL="0" indent="0">
              <a:buNone/>
            </a:pPr>
            <a:r>
              <a:rPr lang="en-US" sz="2000" i="1" dirty="0" smtClean="0"/>
              <a:t>Top left: The Federal Bureau of Investigation. Bottom center: © </a:t>
            </a:r>
            <a:r>
              <a:rPr lang="en-US" sz="2000" i="1" dirty="0" smtClean="0"/>
              <a:t>Andrey_Popov/Shutterstock.com</a:t>
            </a:r>
          </a:p>
        </p:txBody>
      </p:sp>
    </p:spTree>
    <p:extLst>
      <p:ext uri="{BB962C8B-B14F-4D97-AF65-F5344CB8AC3E}">
        <p14:creationId xmlns:p14="http://schemas.microsoft.com/office/powerpoint/2010/main" val="1382804838"/>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p:cNvSpPr>
            <a:spLocks noGrp="1" noChangeArrowheads="1"/>
          </p:cNvSpPr>
          <p:nvPr>
            <p:ph type="title"/>
          </p:nvPr>
        </p:nvSpPr>
        <p:spPr/>
        <p:txBody>
          <a:bodyPr anchor="ctr">
            <a:normAutofit/>
          </a:bodyPr>
          <a:lstStyle/>
          <a:p>
            <a:r>
              <a:rPr lang="en-US" altLang="en-US" dirty="0" smtClean="0"/>
              <a:t>Background Checks (1 of 2)</a:t>
            </a:r>
          </a:p>
        </p:txBody>
      </p:sp>
      <p:sp>
        <p:nvSpPr>
          <p:cNvPr id="38915" name="Content Placeholder 5"/>
          <p:cNvSpPr>
            <a:spLocks noGrp="1" noChangeArrowheads="1"/>
          </p:cNvSpPr>
          <p:nvPr>
            <p:ph idx="1"/>
          </p:nvPr>
        </p:nvSpPr>
        <p:spPr>
          <a:xfrm>
            <a:off x="228600" y="1219200"/>
            <a:ext cx="8839200" cy="4876800"/>
          </a:xfrm>
        </p:spPr>
        <p:txBody>
          <a:bodyPr>
            <a:noAutofit/>
          </a:bodyPr>
          <a:lstStyle/>
          <a:p>
            <a:pPr>
              <a:spcBef>
                <a:spcPts val="600"/>
              </a:spcBef>
            </a:pPr>
            <a:r>
              <a:rPr lang="en-US" altLang="en-US" dirty="0"/>
              <a:t>Investigation into a candidate’s </a:t>
            </a:r>
            <a:r>
              <a:rPr lang="en-US" altLang="en-US" dirty="0" smtClean="0"/>
              <a:t>past should be conducted before organization extends offer to a candidate.</a:t>
            </a:r>
          </a:p>
          <a:p>
            <a:pPr>
              <a:spcBef>
                <a:spcPts val="600"/>
              </a:spcBef>
            </a:pPr>
            <a:r>
              <a:rPr lang="en-US" altLang="en-US" dirty="0" smtClean="0"/>
              <a:t>Background checks differ in the level of detail and depth with which a candidate is examined.</a:t>
            </a:r>
          </a:p>
        </p:txBody>
      </p:sp>
    </p:spTree>
    <p:extLst>
      <p:ext uri="{BB962C8B-B14F-4D97-AF65-F5344CB8AC3E}">
        <p14:creationId xmlns:p14="http://schemas.microsoft.com/office/powerpoint/2010/main" val="461421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p:cNvSpPr>
            <a:spLocks noGrp="1" noChangeArrowheads="1"/>
          </p:cNvSpPr>
          <p:nvPr>
            <p:ph type="title"/>
          </p:nvPr>
        </p:nvSpPr>
        <p:spPr/>
        <p:txBody>
          <a:bodyPr anchor="ctr"/>
          <a:lstStyle/>
          <a:p>
            <a:r>
              <a:rPr lang="en-US" altLang="en-US" dirty="0" smtClean="0"/>
              <a:t>Background Checks (2 of 2)</a:t>
            </a:r>
          </a:p>
        </p:txBody>
      </p:sp>
      <p:sp>
        <p:nvSpPr>
          <p:cNvPr id="38915" name="Content Placeholder 5"/>
          <p:cNvSpPr>
            <a:spLocks noGrp="1" noChangeArrowheads="1"/>
          </p:cNvSpPr>
          <p:nvPr>
            <p:ph idx="1"/>
          </p:nvPr>
        </p:nvSpPr>
        <p:spPr>
          <a:xfrm>
            <a:off x="228600" y="1219200"/>
            <a:ext cx="8458200" cy="4953000"/>
          </a:xfrm>
        </p:spPr>
        <p:txBody>
          <a:bodyPr>
            <a:noAutofit/>
          </a:bodyPr>
          <a:lstStyle/>
          <a:p>
            <a:pPr>
              <a:spcBef>
                <a:spcPts val="600"/>
              </a:spcBef>
            </a:pPr>
            <a:r>
              <a:rPr lang="en-US" altLang="en-US" dirty="0" smtClean="0"/>
              <a:t>May include:</a:t>
            </a:r>
          </a:p>
          <a:p>
            <a:pPr lvl="1">
              <a:spcBef>
                <a:spcPts val="600"/>
              </a:spcBef>
            </a:pPr>
            <a:r>
              <a:rPr lang="en-US" altLang="en-US" dirty="0" smtClean="0"/>
              <a:t>identity check</a:t>
            </a:r>
          </a:p>
          <a:p>
            <a:pPr lvl="1">
              <a:spcBef>
                <a:spcPts val="600"/>
              </a:spcBef>
            </a:pPr>
            <a:r>
              <a:rPr lang="en-US" altLang="en-US" dirty="0" smtClean="0"/>
              <a:t>education and credential check</a:t>
            </a:r>
          </a:p>
          <a:p>
            <a:pPr lvl="1">
              <a:spcBef>
                <a:spcPts val="600"/>
              </a:spcBef>
            </a:pPr>
            <a:r>
              <a:rPr lang="en-US" altLang="en-US" dirty="0" smtClean="0"/>
              <a:t>previous employment verification</a:t>
            </a:r>
          </a:p>
          <a:p>
            <a:pPr lvl="1">
              <a:spcBef>
                <a:spcPts val="600"/>
              </a:spcBef>
            </a:pPr>
            <a:r>
              <a:rPr lang="en-US" altLang="en-US" dirty="0" smtClean="0"/>
              <a:t>references check</a:t>
            </a:r>
          </a:p>
          <a:p>
            <a:pPr lvl="1">
              <a:spcBef>
                <a:spcPts val="600"/>
              </a:spcBef>
            </a:pPr>
            <a:r>
              <a:rPr lang="en-US" altLang="en-US" dirty="0" smtClean="0"/>
              <a:t>worker’s compensation history</a:t>
            </a:r>
          </a:p>
          <a:p>
            <a:pPr lvl="1">
              <a:spcBef>
                <a:spcPts val="600"/>
              </a:spcBef>
            </a:pPr>
            <a:r>
              <a:rPr lang="en-US" altLang="en-US" dirty="0" smtClean="0"/>
              <a:t>motor vehicle records</a:t>
            </a:r>
          </a:p>
          <a:p>
            <a:pPr lvl="1">
              <a:spcBef>
                <a:spcPts val="600"/>
              </a:spcBef>
            </a:pPr>
            <a:r>
              <a:rPr lang="en-US" altLang="en-US" dirty="0" smtClean="0"/>
              <a:t> drug history </a:t>
            </a:r>
          </a:p>
          <a:p>
            <a:pPr lvl="1">
              <a:spcBef>
                <a:spcPts val="600"/>
              </a:spcBef>
            </a:pPr>
            <a:r>
              <a:rPr lang="en-US" altLang="en-US" dirty="0" smtClean="0"/>
              <a:t>credit history </a:t>
            </a:r>
            <a:r>
              <a:rPr lang="en-US" dirty="0" smtClean="0"/>
              <a:t>and more</a:t>
            </a:r>
            <a:endParaRPr lang="en-US" altLang="en-US" dirty="0" smtClean="0"/>
          </a:p>
        </p:txBody>
      </p:sp>
    </p:spTree>
    <p:extLst>
      <p:ext uri="{BB962C8B-B14F-4D97-AF65-F5344CB8AC3E}">
        <p14:creationId xmlns:p14="http://schemas.microsoft.com/office/powerpoint/2010/main" val="14634444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4"/>
          <p:cNvSpPr>
            <a:spLocks noGrp="1" noChangeArrowheads="1"/>
          </p:cNvSpPr>
          <p:nvPr>
            <p:ph type="title"/>
          </p:nvPr>
        </p:nvSpPr>
        <p:spPr/>
        <p:txBody>
          <a:bodyPr anchor="ctr"/>
          <a:lstStyle/>
          <a:p>
            <a:r>
              <a:rPr lang="en-US" altLang="en-US" dirty="0" smtClean="0"/>
              <a:t>Employment Contracts</a:t>
            </a:r>
          </a:p>
        </p:txBody>
      </p:sp>
      <p:sp>
        <p:nvSpPr>
          <p:cNvPr id="39939" name="Content Placeholder 5"/>
          <p:cNvSpPr>
            <a:spLocks noGrp="1" noChangeArrowheads="1"/>
          </p:cNvSpPr>
          <p:nvPr>
            <p:ph idx="1"/>
          </p:nvPr>
        </p:nvSpPr>
        <p:spPr/>
        <p:txBody>
          <a:bodyPr>
            <a:normAutofit/>
          </a:bodyPr>
          <a:lstStyle/>
          <a:p>
            <a:pPr>
              <a:spcBef>
                <a:spcPts val="600"/>
              </a:spcBef>
            </a:pPr>
            <a:r>
              <a:rPr lang="en-US" altLang="en-US" dirty="0" smtClean="0"/>
              <a:t>Once a candidate has accepted a job offer, employment contract becomes an important security instrument.</a:t>
            </a:r>
          </a:p>
          <a:p>
            <a:pPr>
              <a:spcBef>
                <a:spcPts val="600"/>
              </a:spcBef>
            </a:pPr>
            <a:r>
              <a:rPr lang="en-US" altLang="en-US" dirty="0" smtClean="0"/>
              <a:t>Many security policies require an employee to agree in writing to monitoring and nondisclosure agreements.</a:t>
            </a:r>
          </a:p>
          <a:p>
            <a:pPr>
              <a:spcBef>
                <a:spcPts val="600"/>
              </a:spcBef>
            </a:pPr>
            <a:r>
              <a:rPr lang="en-US" altLang="en-US" dirty="0" smtClean="0"/>
              <a:t>Policies governing employee behavior may be classified as “employment contingent upon agreement,” whereby employee must agree to conform with the policies before </a:t>
            </a:r>
          </a:p>
        </p:txBody>
      </p:sp>
    </p:spTree>
    <p:extLst>
      <p:ext uri="{BB962C8B-B14F-4D97-AF65-F5344CB8AC3E}">
        <p14:creationId xmlns:p14="http://schemas.microsoft.com/office/powerpoint/2010/main" val="25942705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
          <p:cNvSpPr>
            <a:spLocks noGrp="1" noChangeArrowheads="1"/>
          </p:cNvSpPr>
          <p:nvPr>
            <p:ph type="title"/>
          </p:nvPr>
        </p:nvSpPr>
        <p:spPr/>
        <p:txBody>
          <a:bodyPr anchor="ctr"/>
          <a:lstStyle/>
          <a:p>
            <a:r>
              <a:rPr lang="en-US" altLang="en-US" dirty="0" smtClean="0"/>
              <a:t>New Hire Orientation</a:t>
            </a:r>
          </a:p>
        </p:txBody>
      </p:sp>
      <p:sp>
        <p:nvSpPr>
          <p:cNvPr id="40963" name="Content Placeholder 5"/>
          <p:cNvSpPr>
            <a:spLocks noGrp="1" noChangeArrowheads="1"/>
          </p:cNvSpPr>
          <p:nvPr>
            <p:ph idx="1"/>
          </p:nvPr>
        </p:nvSpPr>
        <p:spPr/>
        <p:txBody>
          <a:bodyPr>
            <a:normAutofit/>
          </a:bodyPr>
          <a:lstStyle/>
          <a:p>
            <a:pPr>
              <a:spcBef>
                <a:spcPts val="600"/>
              </a:spcBef>
            </a:pPr>
            <a:r>
              <a:rPr lang="en-US" altLang="en-US" dirty="0" smtClean="0"/>
              <a:t>New employees should receive extensive information security briefing on policies, procedures, and requirements for information security.</a:t>
            </a:r>
          </a:p>
          <a:p>
            <a:pPr>
              <a:spcBef>
                <a:spcPts val="600"/>
              </a:spcBef>
            </a:pPr>
            <a:r>
              <a:rPr lang="en-US" altLang="en-US" dirty="0" smtClean="0"/>
              <a:t>Levels of authorized access should be outlined; training is provided on secure use of information systems.</a:t>
            </a:r>
          </a:p>
          <a:p>
            <a:pPr>
              <a:spcBef>
                <a:spcPts val="600"/>
              </a:spcBef>
            </a:pPr>
            <a:r>
              <a:rPr lang="en-US" altLang="en-US" dirty="0" smtClean="0"/>
              <a:t>By the time employees start, they should be thoroughly briefed on security components and their rights and responsibilities. </a:t>
            </a:r>
          </a:p>
        </p:txBody>
      </p:sp>
    </p:spTree>
    <p:extLst>
      <p:ext uri="{BB962C8B-B14F-4D97-AF65-F5344CB8AC3E}">
        <p14:creationId xmlns:p14="http://schemas.microsoft.com/office/powerpoint/2010/main" val="8777696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p:cNvSpPr>
            <a:spLocks noGrp="1" noChangeArrowheads="1"/>
          </p:cNvSpPr>
          <p:nvPr>
            <p:ph type="title"/>
          </p:nvPr>
        </p:nvSpPr>
        <p:spPr/>
        <p:txBody>
          <a:bodyPr anchor="ctr"/>
          <a:lstStyle/>
          <a:p>
            <a:r>
              <a:rPr lang="en-US" altLang="en-US" dirty="0" smtClean="0"/>
              <a:t>On-the-Job Security Training</a:t>
            </a:r>
          </a:p>
        </p:txBody>
      </p:sp>
      <p:sp>
        <p:nvSpPr>
          <p:cNvPr id="41987" name="Content Placeholder 5"/>
          <p:cNvSpPr>
            <a:spLocks noGrp="1" noChangeArrowheads="1"/>
          </p:cNvSpPr>
          <p:nvPr>
            <p:ph idx="1"/>
          </p:nvPr>
        </p:nvSpPr>
        <p:spPr/>
        <p:txBody>
          <a:bodyPr>
            <a:normAutofit/>
          </a:bodyPr>
          <a:lstStyle/>
          <a:p>
            <a:pPr>
              <a:spcBef>
                <a:spcPts val="600"/>
              </a:spcBef>
            </a:pPr>
            <a:r>
              <a:rPr lang="en-US" altLang="en-US" dirty="0" smtClean="0"/>
              <a:t>An organization should integrate security awareness education into job orientation and security training.</a:t>
            </a:r>
          </a:p>
          <a:p>
            <a:pPr>
              <a:spcBef>
                <a:spcPts val="600"/>
              </a:spcBef>
            </a:pPr>
            <a:r>
              <a:rPr lang="en-US" altLang="en-US" dirty="0" smtClean="0"/>
              <a:t>Keeping security at the forefront of employees’ minds helps minimize their mistakes and is an important part of information security awareness mission.</a:t>
            </a:r>
          </a:p>
          <a:p>
            <a:pPr>
              <a:spcBef>
                <a:spcPts val="600"/>
              </a:spcBef>
            </a:pPr>
            <a:r>
              <a:rPr lang="en-US" altLang="en-US" dirty="0" smtClean="0"/>
              <a:t>External and internal seminars should also be used to increase security awareness for all employees, particularly security employees.</a:t>
            </a:r>
          </a:p>
        </p:txBody>
      </p:sp>
    </p:spTree>
    <p:extLst>
      <p:ext uri="{BB962C8B-B14F-4D97-AF65-F5344CB8AC3E}">
        <p14:creationId xmlns:p14="http://schemas.microsoft.com/office/powerpoint/2010/main" val="10537379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4"/>
          <p:cNvSpPr>
            <a:spLocks noGrp="1" noChangeArrowheads="1"/>
          </p:cNvSpPr>
          <p:nvPr>
            <p:ph type="title"/>
          </p:nvPr>
        </p:nvSpPr>
        <p:spPr/>
        <p:txBody>
          <a:bodyPr anchor="ctr"/>
          <a:lstStyle/>
          <a:p>
            <a:r>
              <a:rPr lang="en-US" altLang="en-US" dirty="0" smtClean="0"/>
              <a:t>Evaluating Performance</a:t>
            </a:r>
          </a:p>
        </p:txBody>
      </p:sp>
      <p:sp>
        <p:nvSpPr>
          <p:cNvPr id="43011" name="Content Placeholder 5"/>
          <p:cNvSpPr>
            <a:spLocks noGrp="1" noChangeArrowheads="1"/>
          </p:cNvSpPr>
          <p:nvPr>
            <p:ph idx="1"/>
          </p:nvPr>
        </p:nvSpPr>
        <p:spPr/>
        <p:txBody>
          <a:bodyPr/>
          <a:lstStyle/>
          <a:p>
            <a:pPr>
              <a:spcBef>
                <a:spcPts val="600"/>
              </a:spcBef>
            </a:pPr>
            <a:r>
              <a:rPr lang="en-US" altLang="en-US" dirty="0" smtClean="0"/>
              <a:t>Organizations should incorporate information security components into employee performance evaluations.</a:t>
            </a:r>
          </a:p>
          <a:p>
            <a:pPr>
              <a:spcBef>
                <a:spcPts val="600"/>
              </a:spcBef>
            </a:pPr>
            <a:r>
              <a:rPr lang="en-US" altLang="en-US" dirty="0" smtClean="0"/>
              <a:t>Employees pay close attention to job performance evaluations.</a:t>
            </a:r>
          </a:p>
          <a:p>
            <a:pPr lvl="1">
              <a:spcBef>
                <a:spcPts val="600"/>
              </a:spcBef>
            </a:pPr>
            <a:r>
              <a:rPr lang="en-US" altLang="en-US" dirty="0" smtClean="0"/>
              <a:t>Are more likely to take information security seriously if violations are documented in them</a:t>
            </a:r>
          </a:p>
        </p:txBody>
      </p:sp>
    </p:spTree>
    <p:extLst>
      <p:ext uri="{BB962C8B-B14F-4D97-AF65-F5344CB8AC3E}">
        <p14:creationId xmlns:p14="http://schemas.microsoft.com/office/powerpoint/2010/main" val="3826610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p:cNvSpPr>
            <a:spLocks noGrp="1" noChangeArrowheads="1"/>
          </p:cNvSpPr>
          <p:nvPr>
            <p:ph type="title"/>
          </p:nvPr>
        </p:nvSpPr>
        <p:spPr/>
        <p:txBody>
          <a:bodyPr anchor="ctr"/>
          <a:lstStyle/>
          <a:p>
            <a:r>
              <a:rPr lang="en-US" altLang="en-US" dirty="0" smtClean="0"/>
              <a:t>Termination (1 of </a:t>
            </a:r>
            <a:r>
              <a:rPr lang="en-US" altLang="en-US" dirty="0" smtClean="0"/>
              <a:t>4)</a:t>
            </a:r>
            <a:endParaRPr lang="en-US" altLang="en-US" dirty="0" smtClean="0"/>
          </a:p>
        </p:txBody>
      </p:sp>
      <p:sp>
        <p:nvSpPr>
          <p:cNvPr id="44035" name="Content Placeholder 5"/>
          <p:cNvSpPr>
            <a:spLocks noGrp="1" noChangeArrowheads="1"/>
          </p:cNvSpPr>
          <p:nvPr>
            <p:ph idx="1"/>
          </p:nvPr>
        </p:nvSpPr>
        <p:spPr/>
        <p:txBody>
          <a:bodyPr>
            <a:normAutofit/>
          </a:bodyPr>
          <a:lstStyle/>
          <a:p>
            <a:pPr>
              <a:spcBef>
                <a:spcPts val="600"/>
              </a:spcBef>
            </a:pPr>
            <a:r>
              <a:rPr lang="en-US" altLang="en-US" dirty="0" smtClean="0"/>
              <a:t>When employee leaves an organization, security-related issues arise.</a:t>
            </a:r>
          </a:p>
          <a:p>
            <a:pPr>
              <a:spcBef>
                <a:spcPts val="600"/>
              </a:spcBef>
            </a:pPr>
            <a:r>
              <a:rPr lang="en-US" altLang="en-US" dirty="0" smtClean="0"/>
              <a:t>Key issue is continuity of protection of all information to which the employee had access.</a:t>
            </a:r>
          </a:p>
          <a:p>
            <a:pPr>
              <a:spcBef>
                <a:spcPts val="600"/>
              </a:spcBef>
            </a:pPr>
            <a:r>
              <a:rPr lang="en-US" altLang="en-US" dirty="0" smtClean="0"/>
              <a:t>After having delivered keys, keycards, and other business property, the former employee should be escorted from the premises.</a:t>
            </a:r>
          </a:p>
          <a:p>
            <a:pPr>
              <a:spcBef>
                <a:spcPts val="600"/>
              </a:spcBef>
            </a:pPr>
            <a:r>
              <a:rPr lang="en-US" altLang="en-US" dirty="0" smtClean="0"/>
              <a:t>Many organizations use an exit interview to remind former employee of contractual obligations and to obtain feedback.</a:t>
            </a:r>
          </a:p>
        </p:txBody>
      </p:sp>
    </p:spTree>
    <p:extLst>
      <p:ext uri="{BB962C8B-B14F-4D97-AF65-F5344CB8AC3E}">
        <p14:creationId xmlns:p14="http://schemas.microsoft.com/office/powerpoint/2010/main" val="10589266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
          <p:cNvSpPr>
            <a:spLocks noGrp="1" noChangeArrowheads="1"/>
          </p:cNvSpPr>
          <p:nvPr>
            <p:ph type="title"/>
          </p:nvPr>
        </p:nvSpPr>
        <p:spPr/>
        <p:txBody>
          <a:bodyPr anchor="ctr"/>
          <a:lstStyle/>
          <a:p>
            <a:r>
              <a:rPr lang="en-US" altLang="en-US" dirty="0" smtClean="0"/>
              <a:t>Termination (2 of </a:t>
            </a:r>
            <a:r>
              <a:rPr lang="en-US" altLang="en-US" dirty="0" smtClean="0"/>
              <a:t>4)</a:t>
            </a:r>
            <a:endParaRPr lang="en-US" altLang="en-US" dirty="0" smtClean="0"/>
          </a:p>
        </p:txBody>
      </p:sp>
      <p:sp>
        <p:nvSpPr>
          <p:cNvPr id="47107" name="Content Placeholder 5"/>
          <p:cNvSpPr>
            <a:spLocks noGrp="1" noChangeArrowheads="1"/>
          </p:cNvSpPr>
          <p:nvPr>
            <p:ph idx="1"/>
          </p:nvPr>
        </p:nvSpPr>
        <p:spPr/>
        <p:txBody>
          <a:bodyPr>
            <a:normAutofit/>
          </a:bodyPr>
          <a:lstStyle/>
          <a:p>
            <a:pPr>
              <a:spcBef>
                <a:spcPts val="600"/>
              </a:spcBef>
            </a:pPr>
            <a:r>
              <a:rPr lang="en-US" altLang="en-US" dirty="0"/>
              <a:t>Hostile departures include termination for cause, permanent downsizing, temporary layoffs, or some instances of quitting</a:t>
            </a:r>
            <a:r>
              <a:rPr lang="en-US" altLang="en-US" dirty="0" smtClean="0"/>
              <a:t>.</a:t>
            </a:r>
            <a:endParaRPr lang="en-US" altLang="en-US" dirty="0"/>
          </a:p>
          <a:p>
            <a:pPr lvl="1">
              <a:spcBef>
                <a:spcPts val="600"/>
              </a:spcBef>
            </a:pPr>
            <a:r>
              <a:rPr lang="en-US" altLang="en-US" dirty="0"/>
              <a:t>Before the employee is aware, all logical and keycard access is </a:t>
            </a:r>
            <a:r>
              <a:rPr lang="en-US" altLang="en-US" dirty="0" smtClean="0"/>
              <a:t>terminated</a:t>
            </a:r>
            <a:endParaRPr lang="en-US" altLang="en-US" dirty="0"/>
          </a:p>
          <a:p>
            <a:pPr lvl="1">
              <a:spcBef>
                <a:spcPts val="600"/>
              </a:spcBef>
            </a:pPr>
            <a:r>
              <a:rPr lang="en-US" altLang="en-US" dirty="0"/>
              <a:t>Employee collects all belongings and surrenders all keys, keycards, and other company </a:t>
            </a:r>
            <a:r>
              <a:rPr lang="en-US" altLang="en-US" dirty="0" smtClean="0"/>
              <a:t>property</a:t>
            </a:r>
            <a:endParaRPr lang="en-US" altLang="en-US" dirty="0"/>
          </a:p>
          <a:p>
            <a:pPr lvl="1">
              <a:spcBef>
                <a:spcPts val="600"/>
              </a:spcBef>
            </a:pPr>
            <a:r>
              <a:rPr lang="en-US" altLang="en-US" dirty="0"/>
              <a:t>Employee is then escorted out of the </a:t>
            </a:r>
            <a:r>
              <a:rPr lang="en-US" altLang="en-US" dirty="0" smtClean="0"/>
              <a:t>building</a:t>
            </a:r>
            <a:endParaRPr lang="en-US" altLang="en-US" dirty="0"/>
          </a:p>
        </p:txBody>
      </p:sp>
    </p:spTree>
    <p:extLst>
      <p:ext uri="{BB962C8B-B14F-4D97-AF65-F5344CB8AC3E}">
        <p14:creationId xmlns:p14="http://schemas.microsoft.com/office/powerpoint/2010/main" val="2825615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
          <p:cNvSpPr>
            <a:spLocks noGrp="1" noChangeArrowheads="1"/>
          </p:cNvSpPr>
          <p:nvPr>
            <p:ph type="title"/>
          </p:nvPr>
        </p:nvSpPr>
        <p:spPr/>
        <p:txBody>
          <a:bodyPr anchor="ctr"/>
          <a:lstStyle/>
          <a:p>
            <a:r>
              <a:rPr lang="en-US" altLang="en-US" dirty="0" smtClean="0"/>
              <a:t>Termination (3 of </a:t>
            </a:r>
            <a:r>
              <a:rPr lang="en-US" altLang="en-US" dirty="0" smtClean="0"/>
              <a:t>4)</a:t>
            </a:r>
            <a:endParaRPr lang="en-US" altLang="en-US" dirty="0" smtClean="0"/>
          </a:p>
        </p:txBody>
      </p:sp>
      <p:sp>
        <p:nvSpPr>
          <p:cNvPr id="47107" name="Content Placeholder 5"/>
          <p:cNvSpPr>
            <a:spLocks noGrp="1" noChangeArrowheads="1"/>
          </p:cNvSpPr>
          <p:nvPr>
            <p:ph idx="1"/>
          </p:nvPr>
        </p:nvSpPr>
        <p:spPr/>
        <p:txBody>
          <a:bodyPr>
            <a:normAutofit/>
          </a:bodyPr>
          <a:lstStyle/>
          <a:p>
            <a:pPr>
              <a:spcBef>
                <a:spcPts val="600"/>
              </a:spcBef>
            </a:pPr>
            <a:r>
              <a:rPr lang="en-US" altLang="en-US" dirty="0" smtClean="0"/>
              <a:t>Friendly departures include resignation, retirement, promotion, or relocation.</a:t>
            </a:r>
          </a:p>
          <a:p>
            <a:pPr lvl="1">
              <a:spcBef>
                <a:spcPts val="600"/>
              </a:spcBef>
            </a:pPr>
            <a:r>
              <a:rPr lang="en-US" altLang="en-US" dirty="0" smtClean="0"/>
              <a:t>Employee may be notified well in advance of departure date</a:t>
            </a:r>
          </a:p>
          <a:p>
            <a:pPr lvl="1">
              <a:spcBef>
                <a:spcPts val="600"/>
              </a:spcBef>
            </a:pPr>
            <a:r>
              <a:rPr lang="en-US" altLang="en-US" dirty="0" smtClean="0"/>
              <a:t>More difficult for the security to maintain positive control over the employee’s access and information usage</a:t>
            </a:r>
          </a:p>
          <a:p>
            <a:pPr lvl="1">
              <a:spcBef>
                <a:spcPts val="600"/>
              </a:spcBef>
            </a:pPr>
            <a:r>
              <a:rPr lang="en-US" altLang="en-US" dirty="0" smtClean="0"/>
              <a:t>Employee accounts usually continue with new expiration date</a:t>
            </a:r>
          </a:p>
          <a:p>
            <a:pPr lvl="1">
              <a:spcBef>
                <a:spcPts val="600"/>
              </a:spcBef>
            </a:pPr>
            <a:r>
              <a:rPr lang="en-US" altLang="en-US" dirty="0" smtClean="0"/>
              <a:t>Employees come and go at will, collect their own belongings, and leave on their own</a:t>
            </a:r>
          </a:p>
        </p:txBody>
      </p:sp>
    </p:spTree>
    <p:extLst>
      <p:ext uri="{BB962C8B-B14F-4D97-AF65-F5344CB8AC3E}">
        <p14:creationId xmlns:p14="http://schemas.microsoft.com/office/powerpoint/2010/main" val="31826049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4"/>
          <p:cNvSpPr>
            <a:spLocks noGrp="1" noChangeArrowheads="1"/>
          </p:cNvSpPr>
          <p:nvPr>
            <p:ph type="title"/>
          </p:nvPr>
        </p:nvSpPr>
        <p:spPr/>
        <p:txBody>
          <a:bodyPr anchor="ctr"/>
          <a:lstStyle/>
          <a:p>
            <a:r>
              <a:rPr lang="en-US" altLang="en-US" dirty="0" smtClean="0"/>
              <a:t>Termination (4 of </a:t>
            </a:r>
            <a:r>
              <a:rPr lang="en-US" altLang="en-US" dirty="0" smtClean="0"/>
              <a:t>4)</a:t>
            </a:r>
            <a:endParaRPr lang="en-US" altLang="en-US" dirty="0" smtClean="0"/>
          </a:p>
        </p:txBody>
      </p:sp>
      <p:sp>
        <p:nvSpPr>
          <p:cNvPr id="48131" name="Content Placeholder 5"/>
          <p:cNvSpPr>
            <a:spLocks noGrp="1" noChangeArrowheads="1"/>
          </p:cNvSpPr>
          <p:nvPr>
            <p:ph idx="1"/>
          </p:nvPr>
        </p:nvSpPr>
        <p:spPr/>
        <p:txBody>
          <a:bodyPr>
            <a:noAutofit/>
          </a:bodyPr>
          <a:lstStyle/>
          <a:p>
            <a:pPr>
              <a:spcBef>
                <a:spcPts val="600"/>
              </a:spcBef>
            </a:pPr>
            <a:r>
              <a:rPr lang="en-US" altLang="en-US" dirty="0" smtClean="0"/>
              <a:t>Offices and information used by the employee must be inventoried; files stored or destroyed; and property returned to organizational stores. </a:t>
            </a:r>
          </a:p>
          <a:p>
            <a:pPr>
              <a:spcBef>
                <a:spcPts val="600"/>
              </a:spcBef>
            </a:pPr>
            <a:r>
              <a:rPr lang="en-US" altLang="en-US" dirty="0" smtClean="0"/>
              <a:t>Possible that employees foresee departure well in advance and begin collecting organizational information for their future employment</a:t>
            </a:r>
            <a:r>
              <a:rPr lang="en-US" altLang="en-US" dirty="0" smtClean="0"/>
              <a:t>.</a:t>
            </a:r>
          </a:p>
          <a:p>
            <a:pPr>
              <a:spcBef>
                <a:spcPts val="600"/>
              </a:spcBef>
            </a:pPr>
            <a:r>
              <a:rPr lang="en-US" altLang="en-US" dirty="0"/>
              <a:t>Only by scrutinizing systems logs after the employee has departed can the organization determine if there has been a breach of policy or a loss of information.</a:t>
            </a:r>
          </a:p>
          <a:p>
            <a:pPr>
              <a:spcBef>
                <a:spcPts val="600"/>
              </a:spcBef>
            </a:pPr>
            <a:r>
              <a:rPr lang="en-US" altLang="en-US" dirty="0"/>
              <a:t>If information has been illegally copied or stolen, report an incident and follow the appropriate policy</a:t>
            </a:r>
            <a:r>
              <a:rPr lang="en-US" altLang="en-US" dirty="0" smtClean="0"/>
              <a:t>.</a:t>
            </a:r>
            <a:endParaRPr lang="en-US" altLang="en-US" dirty="0"/>
          </a:p>
        </p:txBody>
      </p:sp>
    </p:spTree>
    <p:extLst>
      <p:ext uri="{BB962C8B-B14F-4D97-AF65-F5344CB8AC3E}">
        <p14:creationId xmlns:p14="http://schemas.microsoft.com/office/powerpoint/2010/main" val="13575422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p:cNvSpPr>
            <a:spLocks noGrp="1" noChangeArrowheads="1"/>
          </p:cNvSpPr>
          <p:nvPr>
            <p:ph type="title"/>
          </p:nvPr>
        </p:nvSpPr>
        <p:spPr>
          <a:xfrm>
            <a:off x="-406908" y="27709"/>
            <a:ext cx="9957816" cy="1039091"/>
          </a:xfrm>
        </p:spPr>
        <p:txBody>
          <a:bodyPr anchor="ctr">
            <a:noAutofit/>
          </a:bodyPr>
          <a:lstStyle/>
          <a:p>
            <a:r>
              <a:rPr lang="en-US" altLang="en-US" dirty="0" smtClean="0"/>
              <a:t>Security Considerations for Temporary Employees, Consultants, and Other Workers</a:t>
            </a:r>
          </a:p>
        </p:txBody>
      </p:sp>
      <p:sp>
        <p:nvSpPr>
          <p:cNvPr id="49155" name="Content Placeholder 5"/>
          <p:cNvSpPr>
            <a:spLocks noGrp="1" noChangeArrowheads="1"/>
          </p:cNvSpPr>
          <p:nvPr>
            <p:ph idx="1"/>
          </p:nvPr>
        </p:nvSpPr>
        <p:spPr/>
        <p:txBody>
          <a:bodyPr>
            <a:noAutofit/>
          </a:bodyPr>
          <a:lstStyle/>
          <a:p>
            <a:pPr>
              <a:spcBef>
                <a:spcPts val="600"/>
              </a:spcBef>
            </a:pPr>
            <a:r>
              <a:rPr lang="en-US" altLang="en-US" dirty="0" smtClean="0"/>
              <a:t>Individuals not subject to screening, contractual obligations, and eventual secured termination often have access to sensitive organizational information.</a:t>
            </a:r>
          </a:p>
          <a:p>
            <a:pPr>
              <a:spcBef>
                <a:spcPts val="600"/>
              </a:spcBef>
            </a:pPr>
            <a:r>
              <a:rPr lang="en-US" altLang="en-US" dirty="0" smtClean="0"/>
              <a:t>Relationships with these individuals should be carefully managed to prevent possible information leak or theft.</a:t>
            </a:r>
          </a:p>
        </p:txBody>
      </p:sp>
    </p:spTree>
    <p:extLst>
      <p:ext uri="{BB962C8B-B14F-4D97-AF65-F5344CB8AC3E}">
        <p14:creationId xmlns:p14="http://schemas.microsoft.com/office/powerpoint/2010/main" val="14369768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4"/>
          <p:cNvSpPr>
            <a:spLocks noGrp="1" noChangeArrowheads="1"/>
          </p:cNvSpPr>
          <p:nvPr>
            <p:ph type="title"/>
          </p:nvPr>
        </p:nvSpPr>
        <p:spPr/>
        <p:txBody>
          <a:bodyPr anchor="ctr"/>
          <a:lstStyle/>
          <a:p>
            <a:r>
              <a:rPr lang="en-US" altLang="en-US" dirty="0" smtClean="0"/>
              <a:t>Temporary Employees</a:t>
            </a:r>
          </a:p>
        </p:txBody>
      </p:sp>
      <p:sp>
        <p:nvSpPr>
          <p:cNvPr id="50179" name="Content Placeholder  5"/>
          <p:cNvSpPr>
            <a:spLocks noGrp="1" noChangeArrowheads="1"/>
          </p:cNvSpPr>
          <p:nvPr>
            <p:ph idx="1"/>
          </p:nvPr>
        </p:nvSpPr>
        <p:spPr/>
        <p:txBody>
          <a:bodyPr>
            <a:noAutofit/>
          </a:bodyPr>
          <a:lstStyle/>
          <a:p>
            <a:pPr>
              <a:spcBef>
                <a:spcPts val="600"/>
              </a:spcBef>
            </a:pPr>
            <a:r>
              <a:rPr lang="en-US" altLang="en-US" dirty="0" smtClean="0"/>
              <a:t>Hired by the organization to serve in temporary position or to supplement existing workforce. </a:t>
            </a:r>
          </a:p>
          <a:p>
            <a:pPr>
              <a:spcBef>
                <a:spcPts val="600"/>
              </a:spcBef>
            </a:pPr>
            <a:r>
              <a:rPr lang="en-US" altLang="en-US" dirty="0" smtClean="0"/>
              <a:t>Often not subject to contractual obligations or general policies; if temporary employees violate a policy or cause a problem, possible actions are limited.</a:t>
            </a:r>
          </a:p>
          <a:p>
            <a:pPr>
              <a:spcBef>
                <a:spcPts val="600"/>
              </a:spcBef>
            </a:pPr>
            <a:r>
              <a:rPr lang="en-US" altLang="en-US" dirty="0" smtClean="0"/>
              <a:t>Access to information for temporary employees should be limited to that necessary to perform duties.</a:t>
            </a:r>
          </a:p>
          <a:p>
            <a:pPr>
              <a:spcBef>
                <a:spcPts val="600"/>
              </a:spcBef>
            </a:pPr>
            <a:r>
              <a:rPr lang="en-US" altLang="en-US" dirty="0" smtClean="0"/>
              <a:t>Temporary employee’s supervisor must restrict the information to which access is possible.</a:t>
            </a:r>
          </a:p>
        </p:txBody>
      </p:sp>
    </p:spTree>
    <p:extLst>
      <p:ext uri="{BB962C8B-B14F-4D97-AF65-F5344CB8AC3E}">
        <p14:creationId xmlns:p14="http://schemas.microsoft.com/office/powerpoint/2010/main" val="30362237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4"/>
          <p:cNvSpPr>
            <a:spLocks noGrp="1" noChangeArrowheads="1"/>
          </p:cNvSpPr>
          <p:nvPr>
            <p:ph type="title"/>
          </p:nvPr>
        </p:nvSpPr>
        <p:spPr/>
        <p:txBody>
          <a:bodyPr anchor="ctr"/>
          <a:lstStyle/>
          <a:p>
            <a:r>
              <a:rPr lang="en-US" altLang="en-US" dirty="0" smtClean="0"/>
              <a:t>Contract Employees </a:t>
            </a:r>
          </a:p>
        </p:txBody>
      </p:sp>
      <p:sp>
        <p:nvSpPr>
          <p:cNvPr id="51203" name="Content Placeholder 5"/>
          <p:cNvSpPr>
            <a:spLocks noGrp="1" noChangeArrowheads="1"/>
          </p:cNvSpPr>
          <p:nvPr>
            <p:ph idx="1"/>
          </p:nvPr>
        </p:nvSpPr>
        <p:spPr/>
        <p:txBody>
          <a:bodyPr>
            <a:normAutofit/>
          </a:bodyPr>
          <a:lstStyle/>
          <a:p>
            <a:pPr>
              <a:spcBef>
                <a:spcPts val="600"/>
              </a:spcBef>
            </a:pPr>
            <a:r>
              <a:rPr lang="en-US" altLang="en-US" dirty="0" smtClean="0"/>
              <a:t>Typically hired to perform specific services for organization.</a:t>
            </a:r>
          </a:p>
          <a:p>
            <a:pPr>
              <a:spcBef>
                <a:spcPts val="600"/>
              </a:spcBef>
            </a:pPr>
            <a:r>
              <a:rPr lang="en-US" altLang="en-US" dirty="0" smtClean="0"/>
              <a:t>Host company often makes contract with a parent organization rather than with an individual for a particular task.</a:t>
            </a:r>
          </a:p>
          <a:p>
            <a:pPr>
              <a:spcBef>
                <a:spcPts val="600"/>
              </a:spcBef>
            </a:pPr>
            <a:r>
              <a:rPr lang="en-US" altLang="en-US" dirty="0" smtClean="0"/>
              <a:t>In a secure facility, all contract employees are escorted from room to room, as well as into and out of facility.</a:t>
            </a:r>
          </a:p>
          <a:p>
            <a:pPr>
              <a:spcBef>
                <a:spcPts val="600"/>
              </a:spcBef>
            </a:pPr>
            <a:r>
              <a:rPr lang="en-US" altLang="en-US" dirty="0" smtClean="0"/>
              <a:t>There is need for restrictions or requirements to be negotiated into contract agreements when they are activated.</a:t>
            </a:r>
          </a:p>
        </p:txBody>
      </p:sp>
    </p:spTree>
    <p:extLst>
      <p:ext uri="{BB962C8B-B14F-4D97-AF65-F5344CB8AC3E}">
        <p14:creationId xmlns:p14="http://schemas.microsoft.com/office/powerpoint/2010/main" val="18722544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4"/>
          <p:cNvSpPr>
            <a:spLocks noGrp="1" noChangeArrowheads="1"/>
          </p:cNvSpPr>
          <p:nvPr>
            <p:ph type="title"/>
          </p:nvPr>
        </p:nvSpPr>
        <p:spPr/>
        <p:txBody>
          <a:bodyPr anchor="ctr"/>
          <a:lstStyle/>
          <a:p>
            <a:r>
              <a:rPr lang="en-US" altLang="en-US" dirty="0" smtClean="0"/>
              <a:t>Consultants</a:t>
            </a:r>
          </a:p>
        </p:txBody>
      </p:sp>
      <p:sp>
        <p:nvSpPr>
          <p:cNvPr id="52227" name="Content Placeholder 5"/>
          <p:cNvSpPr>
            <a:spLocks noGrp="1" noChangeArrowheads="1"/>
          </p:cNvSpPr>
          <p:nvPr>
            <p:ph idx="1"/>
          </p:nvPr>
        </p:nvSpPr>
        <p:spPr/>
        <p:txBody>
          <a:bodyPr>
            <a:noAutofit/>
          </a:bodyPr>
          <a:lstStyle/>
          <a:p>
            <a:pPr>
              <a:spcBef>
                <a:spcPts val="600"/>
              </a:spcBef>
            </a:pPr>
            <a:r>
              <a:rPr lang="en-US" altLang="en-US" dirty="0" smtClean="0"/>
              <a:t>Contracts for consultants should specify all requirements for information or facility access before being allowed into workplace.</a:t>
            </a:r>
          </a:p>
          <a:p>
            <a:pPr>
              <a:spcBef>
                <a:spcPts val="600"/>
              </a:spcBef>
            </a:pPr>
            <a:r>
              <a:rPr lang="en-US" altLang="en-US" dirty="0" smtClean="0"/>
              <a:t>Security and technology consultants must be prescreened, escorted, and subjected to nondisclosure agreements to protect the organization.</a:t>
            </a:r>
          </a:p>
          <a:p>
            <a:pPr>
              <a:spcBef>
                <a:spcPts val="600"/>
              </a:spcBef>
            </a:pPr>
            <a:r>
              <a:rPr lang="en-US" altLang="en-US" dirty="0" smtClean="0"/>
              <a:t>Just because the organization is paying an information security consultant, the protection of their information doesn’t become the consultant’s top priority.</a:t>
            </a:r>
          </a:p>
        </p:txBody>
      </p:sp>
    </p:spTree>
    <p:extLst>
      <p:ext uri="{BB962C8B-B14F-4D97-AF65-F5344CB8AC3E}">
        <p14:creationId xmlns:p14="http://schemas.microsoft.com/office/powerpoint/2010/main" val="6008506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4"/>
          <p:cNvSpPr>
            <a:spLocks noGrp="1" noChangeArrowheads="1"/>
          </p:cNvSpPr>
          <p:nvPr>
            <p:ph type="title"/>
          </p:nvPr>
        </p:nvSpPr>
        <p:spPr/>
        <p:txBody>
          <a:bodyPr anchor="ctr"/>
          <a:lstStyle/>
          <a:p>
            <a:r>
              <a:rPr lang="en-US" altLang="en-US" dirty="0" smtClean="0"/>
              <a:t>Business Partners</a:t>
            </a:r>
          </a:p>
        </p:txBody>
      </p:sp>
      <p:sp>
        <p:nvSpPr>
          <p:cNvPr id="53251" name="Content Placeholder 5"/>
          <p:cNvSpPr>
            <a:spLocks noGrp="1" noChangeArrowheads="1"/>
          </p:cNvSpPr>
          <p:nvPr>
            <p:ph idx="1"/>
          </p:nvPr>
        </p:nvSpPr>
        <p:spPr/>
        <p:txBody>
          <a:bodyPr>
            <a:normAutofit/>
          </a:bodyPr>
          <a:lstStyle/>
          <a:p>
            <a:pPr>
              <a:spcBef>
                <a:spcPts val="600"/>
              </a:spcBef>
            </a:pPr>
            <a:r>
              <a:rPr lang="en-US" altLang="en-US" dirty="0" smtClean="0"/>
              <a:t>Businesses create strategic alliances with other organizations, desiring to exchange information, integrate systems, or discuss operations.</a:t>
            </a:r>
          </a:p>
          <a:p>
            <a:pPr>
              <a:spcBef>
                <a:spcPts val="600"/>
              </a:spcBef>
            </a:pPr>
            <a:r>
              <a:rPr lang="en-US" altLang="en-US" dirty="0" smtClean="0"/>
              <a:t>There must be meticulous, deliberate determination of what information is to be exchanged, in what format, and to whom.</a:t>
            </a:r>
          </a:p>
          <a:p>
            <a:pPr>
              <a:spcBef>
                <a:spcPts val="600"/>
              </a:spcBef>
            </a:pPr>
            <a:r>
              <a:rPr lang="en-US" altLang="en-US" dirty="0" smtClean="0"/>
              <a:t>Nondisclosure agreements and the security levels of both systems must be examined before any physical integration takes place.</a:t>
            </a:r>
          </a:p>
        </p:txBody>
      </p:sp>
    </p:spTree>
    <p:extLst>
      <p:ext uri="{BB962C8B-B14F-4D97-AF65-F5344CB8AC3E}">
        <p14:creationId xmlns:p14="http://schemas.microsoft.com/office/powerpoint/2010/main" val="6493272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4"/>
          <p:cNvSpPr>
            <a:spLocks noGrp="1" noChangeArrowheads="1"/>
          </p:cNvSpPr>
          <p:nvPr>
            <p:ph type="title"/>
          </p:nvPr>
        </p:nvSpPr>
        <p:spPr/>
        <p:txBody>
          <a:bodyPr anchor="ctr"/>
          <a:lstStyle/>
          <a:p>
            <a:r>
              <a:rPr lang="en-US" altLang="en-US" dirty="0" smtClean="0"/>
              <a:t>Internal Control Strategies (1 of 4)</a:t>
            </a:r>
          </a:p>
        </p:txBody>
      </p:sp>
      <p:sp>
        <p:nvSpPr>
          <p:cNvPr id="54275" name="Content Placeholder 5"/>
          <p:cNvSpPr>
            <a:spLocks noGrp="1" noChangeArrowheads="1"/>
          </p:cNvSpPr>
          <p:nvPr>
            <p:ph idx="1"/>
          </p:nvPr>
        </p:nvSpPr>
        <p:spPr/>
        <p:txBody>
          <a:bodyPr>
            <a:normAutofit/>
          </a:bodyPr>
          <a:lstStyle/>
          <a:p>
            <a:pPr>
              <a:spcBef>
                <a:spcPts val="600"/>
              </a:spcBef>
            </a:pPr>
            <a:r>
              <a:rPr lang="en-US" altLang="en-US" dirty="0" smtClean="0"/>
              <a:t>Separation of duties is a cornerstone in the protection of information assets and the prevention of financial loss.</a:t>
            </a:r>
          </a:p>
          <a:p>
            <a:pPr lvl="1">
              <a:spcBef>
                <a:spcPts val="600"/>
              </a:spcBef>
            </a:pPr>
            <a:r>
              <a:rPr lang="en-US" altLang="en-US" dirty="0" smtClean="0"/>
              <a:t>Used to reduce chance that an employee will violate information security; stipulates that completion of significant task requires at least two people</a:t>
            </a:r>
          </a:p>
          <a:p>
            <a:pPr>
              <a:spcBef>
                <a:spcPts val="600"/>
              </a:spcBef>
            </a:pPr>
            <a:r>
              <a:rPr lang="en-US" altLang="en-US" dirty="0" smtClean="0"/>
              <a:t>Two-man control: two individuals review and approve each other’s work before the task is categorized as finished.</a:t>
            </a:r>
          </a:p>
        </p:txBody>
      </p:sp>
    </p:spTree>
    <p:extLst>
      <p:ext uri="{BB962C8B-B14F-4D97-AF65-F5344CB8AC3E}">
        <p14:creationId xmlns:p14="http://schemas.microsoft.com/office/powerpoint/2010/main" val="17098820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nchor="ctr"/>
          <a:lstStyle/>
          <a:p>
            <a:r>
              <a:rPr lang="en-US" altLang="en-US" dirty="0" smtClean="0"/>
              <a:t>Internal Control Strategies </a:t>
            </a:r>
            <a:r>
              <a:rPr lang="en-US" altLang="en-US" dirty="0" smtClean="0"/>
              <a:t>(2 </a:t>
            </a:r>
            <a:r>
              <a:rPr lang="en-US" altLang="en-US" dirty="0" smtClean="0"/>
              <a:t>of 4)</a:t>
            </a:r>
          </a:p>
        </p:txBody>
      </p:sp>
      <p:sp>
        <p:nvSpPr>
          <p:cNvPr id="56323" name="Content Placeholder 2"/>
          <p:cNvSpPr>
            <a:spLocks noGrp="1"/>
          </p:cNvSpPr>
          <p:nvPr>
            <p:ph idx="1"/>
          </p:nvPr>
        </p:nvSpPr>
        <p:spPr/>
        <p:txBody>
          <a:bodyPr>
            <a:normAutofit/>
          </a:bodyPr>
          <a:lstStyle/>
          <a:p>
            <a:pPr>
              <a:spcBef>
                <a:spcPts val="600"/>
              </a:spcBef>
            </a:pPr>
            <a:r>
              <a:rPr lang="en-US" altLang="en-US" dirty="0" smtClean="0"/>
              <a:t>Job rotation: Employees know each others’ job skills.</a:t>
            </a:r>
          </a:p>
          <a:p>
            <a:pPr lvl="1">
              <a:spcBef>
                <a:spcPts val="600"/>
              </a:spcBef>
            </a:pPr>
            <a:r>
              <a:rPr lang="en-US" altLang="en-US" dirty="0" smtClean="0"/>
              <a:t>Ensures no one employee performs actions that cannot be physically audited by another employee</a:t>
            </a:r>
          </a:p>
          <a:p>
            <a:pPr>
              <a:spcBef>
                <a:spcPts val="600"/>
              </a:spcBef>
            </a:pPr>
            <a:r>
              <a:rPr lang="en-US" altLang="en-US" dirty="0" smtClean="0"/>
              <a:t>Garden leave used by some companies to restrict the flow of proprietary information when an employee leaves to join a competitor.</a:t>
            </a:r>
          </a:p>
        </p:txBody>
      </p:sp>
    </p:spTree>
    <p:extLst>
      <p:ext uri="{BB962C8B-B14F-4D97-AF65-F5344CB8AC3E}">
        <p14:creationId xmlns:p14="http://schemas.microsoft.com/office/powerpoint/2010/main" val="34307842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nchor="ctr"/>
          <a:lstStyle/>
          <a:p>
            <a:r>
              <a:rPr lang="en-US" altLang="en-US" dirty="0" smtClean="0"/>
              <a:t>Internal Control Strategies </a:t>
            </a:r>
            <a:r>
              <a:rPr lang="en-US" altLang="en-US" dirty="0" smtClean="0"/>
              <a:t>(3 </a:t>
            </a:r>
            <a:r>
              <a:rPr lang="en-US" altLang="en-US" dirty="0" smtClean="0"/>
              <a:t>of 4)</a:t>
            </a:r>
          </a:p>
        </p:txBody>
      </p:sp>
      <p:sp>
        <p:nvSpPr>
          <p:cNvPr id="56323" name="Content Placeholder 2"/>
          <p:cNvSpPr>
            <a:spLocks noGrp="1"/>
          </p:cNvSpPr>
          <p:nvPr>
            <p:ph idx="1"/>
          </p:nvPr>
        </p:nvSpPr>
        <p:spPr/>
        <p:txBody>
          <a:bodyPr>
            <a:normAutofit/>
          </a:bodyPr>
          <a:lstStyle/>
          <a:p>
            <a:pPr>
              <a:spcBef>
                <a:spcPts val="600"/>
              </a:spcBef>
            </a:pPr>
            <a:r>
              <a:rPr lang="en-US" dirty="0" smtClean="0"/>
              <a:t>In </a:t>
            </a:r>
            <a:r>
              <a:rPr lang="en-US" dirty="0"/>
              <a:t>some organizations, employees are required to sign a covenant not to </a:t>
            </a:r>
            <a:r>
              <a:rPr lang="en-US" dirty="0" smtClean="0"/>
              <a:t>compete (CNC</a:t>
            </a:r>
            <a:r>
              <a:rPr lang="en-US" dirty="0"/>
              <a:t>) or non-compete clause (NCC), which prevents them from working for a direct </a:t>
            </a:r>
            <a:r>
              <a:rPr lang="en-US" dirty="0" smtClean="0"/>
              <a:t>competitor within </a:t>
            </a:r>
            <a:r>
              <a:rPr lang="en-US" dirty="0"/>
              <a:t>a specified time </a:t>
            </a:r>
            <a:r>
              <a:rPr lang="en-US" dirty="0" smtClean="0"/>
              <a:t>frame.</a:t>
            </a:r>
            <a:endParaRPr lang="en-US" altLang="en-US" dirty="0" smtClean="0"/>
          </a:p>
          <a:p>
            <a:pPr>
              <a:spcBef>
                <a:spcPts val="600"/>
              </a:spcBef>
            </a:pPr>
            <a:r>
              <a:rPr lang="en-US" altLang="en-US" dirty="0" smtClean="0"/>
              <a:t>Need-to-know: Only employees with real business need to use systems information are allowed to do so.</a:t>
            </a:r>
          </a:p>
          <a:p>
            <a:pPr>
              <a:spcBef>
                <a:spcPts val="600"/>
              </a:spcBef>
            </a:pPr>
            <a:r>
              <a:rPr lang="en-US" altLang="en-US" dirty="0" smtClean="0"/>
              <a:t>Least privilege: Employees are restricted in their access and use of information provided through need-to-know.</a:t>
            </a:r>
          </a:p>
        </p:txBody>
      </p:sp>
    </p:spTree>
    <p:extLst>
      <p:ext uri="{BB962C8B-B14F-4D97-AF65-F5344CB8AC3E}">
        <p14:creationId xmlns:p14="http://schemas.microsoft.com/office/powerpoint/2010/main" val="35989056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67188"/>
            <a:ext cx="8032638" cy="1104412"/>
          </a:xfrm>
        </p:spPr>
        <p:txBody>
          <a:bodyPr anchor="ctr">
            <a:noAutofit/>
          </a:bodyPr>
          <a:lstStyle/>
          <a:p>
            <a:r>
              <a:rPr lang="en-US" b="1" dirty="0"/>
              <a:t>Figure 11-7  </a:t>
            </a:r>
            <a:r>
              <a:rPr lang="en-US" dirty="0"/>
              <a:t>Internal control </a:t>
            </a:r>
            <a:r>
              <a:rPr lang="en-US" dirty="0" smtClean="0"/>
              <a:t>strategies </a:t>
            </a:r>
            <a:r>
              <a:rPr lang="en-US" dirty="0" smtClean="0"/>
              <a:t>(4 </a:t>
            </a:r>
            <a:r>
              <a:rPr lang="en-US" dirty="0" smtClean="0"/>
              <a:t>of 4)</a:t>
            </a:r>
            <a:endParaRPr lang="en-US" dirty="0"/>
          </a:p>
        </p:txBody>
      </p:sp>
      <p:pic>
        <p:nvPicPr>
          <p:cNvPr id="2" name="Picture 1" descr="An illustration shows two images on the top. The image on the left shows a woman in front of computer and a person in front of computer at the background. The image on the right shows a smiling with phone on his ears in front of computer. An arrow pointing both sides is shown in between two images and is labeled as, “Team members review each other’s work.” These two images are labeled as, “Two- person control.” Two images are shown below it. The image on the left shows two women smiling in front of computer. The image on the right shows a woman in front of a computer. An arrow is shown between two images and is labeled as, “Work is divided up. Each team member performs only his or her portion of the task sequence.” These two images are labeled as, “Separation of duties.”&#10;"/>
          <p:cNvPicPr>
            <a:picLocks noChangeAspect="1"/>
          </p:cNvPicPr>
          <p:nvPr/>
        </p:nvPicPr>
        <p:blipFill rotWithShape="1">
          <a:blip r:embed="rId3">
            <a:extLst>
              <a:ext uri="{28A0092B-C50C-407E-A947-70E740481C1C}">
                <a14:useLocalDpi xmlns:a14="http://schemas.microsoft.com/office/drawing/2010/main" val="0"/>
              </a:ext>
            </a:extLst>
          </a:blip>
          <a:srcRect b="8197"/>
          <a:stretch/>
        </p:blipFill>
        <p:spPr>
          <a:xfrm>
            <a:off x="1618494" y="1556289"/>
            <a:ext cx="6096042" cy="3320511"/>
          </a:xfrm>
          <a:prstGeom prst="rect">
            <a:avLst/>
          </a:prstGeom>
        </p:spPr>
      </p:pic>
      <p:sp>
        <p:nvSpPr>
          <p:cNvPr id="4" name="Content Placeholder 3"/>
          <p:cNvSpPr>
            <a:spLocks noGrp="1"/>
          </p:cNvSpPr>
          <p:nvPr>
            <p:ph sz="quarter" idx="10"/>
          </p:nvPr>
        </p:nvSpPr>
        <p:spPr>
          <a:xfrm>
            <a:off x="228600" y="4953000"/>
            <a:ext cx="8763000" cy="1295400"/>
          </a:xfrm>
        </p:spPr>
        <p:txBody>
          <a:bodyPr>
            <a:noAutofit/>
          </a:bodyPr>
          <a:lstStyle/>
          <a:p>
            <a:pPr marL="0" indent="0" eaLnBrk="0" fontAlgn="base" hangingPunct="0">
              <a:spcBef>
                <a:spcPct val="30000"/>
              </a:spcBef>
              <a:spcAft>
                <a:spcPct val="0"/>
              </a:spcAft>
              <a:buClrTx/>
              <a:buNone/>
              <a:defRPr/>
            </a:pPr>
            <a:r>
              <a:rPr lang="en-US" sz="2000" i="1" dirty="0"/>
              <a:t>Source: Top left: © Rawpixel.com/Shutterstock.com. Bottom left: © </a:t>
            </a:r>
            <a:r>
              <a:rPr lang="en-US" sz="2000" i="1" dirty="0" err="1"/>
              <a:t>Goodluz</a:t>
            </a:r>
            <a:r>
              <a:rPr lang="en-US" sz="2000" i="1" dirty="0"/>
              <a:t>/Shutterstock.com. </a:t>
            </a:r>
            <a:br>
              <a:rPr lang="en-US" sz="2000" i="1" dirty="0"/>
            </a:br>
            <a:r>
              <a:rPr lang="en-US" sz="2000" i="1" dirty="0"/>
              <a:t>Top right: © </a:t>
            </a:r>
            <a:r>
              <a:rPr lang="en-US" sz="2000" i="1" dirty="0" err="1"/>
              <a:t>imtmphoto</a:t>
            </a:r>
            <a:r>
              <a:rPr lang="en-US" sz="2000" i="1" dirty="0"/>
              <a:t>/Shutterstock.com. Bottom right: © </a:t>
            </a:r>
            <a:r>
              <a:rPr lang="en-US" sz="2000" i="1" dirty="0" err="1"/>
              <a:t>EdBockStock</a:t>
            </a:r>
            <a:r>
              <a:rPr lang="en-US" sz="2000" i="1" dirty="0"/>
              <a:t>/Shutterstock.com</a:t>
            </a:r>
            <a:r>
              <a:rPr lang="en-US" sz="2000" i="1" dirty="0" smtClean="0"/>
              <a:t>.</a:t>
            </a:r>
            <a:endParaRPr lang="en-US" altLang="en-US" sz="2000" dirty="0"/>
          </a:p>
        </p:txBody>
      </p:sp>
    </p:spTree>
    <p:extLst>
      <p:ext uri="{BB962C8B-B14F-4D97-AF65-F5344CB8AC3E}">
        <p14:creationId xmlns:p14="http://schemas.microsoft.com/office/powerpoint/2010/main" val="1427958150"/>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4"/>
          <p:cNvSpPr>
            <a:spLocks noGrp="1" noChangeArrowheads="1"/>
          </p:cNvSpPr>
          <p:nvPr>
            <p:ph type="title"/>
          </p:nvPr>
        </p:nvSpPr>
        <p:spPr/>
        <p:txBody>
          <a:bodyPr anchor="ctr"/>
          <a:lstStyle/>
          <a:p>
            <a:r>
              <a:rPr lang="en-US" altLang="en-US" dirty="0" smtClean="0"/>
              <a:t>Privacy and the Security of Personnel Data</a:t>
            </a:r>
          </a:p>
        </p:txBody>
      </p:sp>
      <p:sp>
        <p:nvSpPr>
          <p:cNvPr id="57347" name="Content Placeholder 5"/>
          <p:cNvSpPr>
            <a:spLocks noGrp="1" noChangeArrowheads="1"/>
          </p:cNvSpPr>
          <p:nvPr>
            <p:ph idx="1"/>
          </p:nvPr>
        </p:nvSpPr>
        <p:spPr/>
        <p:txBody>
          <a:bodyPr>
            <a:normAutofit/>
          </a:bodyPr>
          <a:lstStyle/>
          <a:p>
            <a:pPr>
              <a:spcBef>
                <a:spcPts val="600"/>
              </a:spcBef>
            </a:pPr>
            <a:r>
              <a:rPr lang="en-US" altLang="en-US" dirty="0" smtClean="0"/>
              <a:t>Organizations required by law to protect sensitive or personal employee information.</a:t>
            </a:r>
          </a:p>
          <a:p>
            <a:pPr>
              <a:spcBef>
                <a:spcPts val="600"/>
              </a:spcBef>
            </a:pPr>
            <a:r>
              <a:rPr lang="en-US" altLang="en-US" dirty="0" smtClean="0"/>
              <a:t>Includes employee addresses, phone numbers, Social Security numbers, medical conditions, and family names and addresses.</a:t>
            </a:r>
          </a:p>
          <a:p>
            <a:pPr>
              <a:spcBef>
                <a:spcPts val="600"/>
              </a:spcBef>
            </a:pPr>
            <a:r>
              <a:rPr lang="en-US" altLang="en-US" dirty="0" smtClean="0"/>
              <a:t>Information security groups should ensure these data receive at least the same level of protection as other important organization data.</a:t>
            </a:r>
          </a:p>
        </p:txBody>
      </p:sp>
    </p:spTree>
    <p:extLst>
      <p:ext uri="{BB962C8B-B14F-4D97-AF65-F5344CB8AC3E}">
        <p14:creationId xmlns:p14="http://schemas.microsoft.com/office/powerpoint/2010/main" val="35744368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2"/>
          <p:cNvSpPr>
            <a:spLocks noGrp="1" noChangeArrowheads="1"/>
          </p:cNvSpPr>
          <p:nvPr>
            <p:ph type="title"/>
          </p:nvPr>
        </p:nvSpPr>
        <p:spPr/>
        <p:txBody>
          <a:bodyPr anchor="ctr"/>
          <a:lstStyle/>
          <a:p>
            <a:r>
              <a:rPr lang="en-US" altLang="en-US" dirty="0" smtClean="0"/>
              <a:t>Summary</a:t>
            </a:r>
          </a:p>
        </p:txBody>
      </p:sp>
      <p:sp>
        <p:nvSpPr>
          <p:cNvPr id="58371" name="Content Placeholder 3"/>
          <p:cNvSpPr>
            <a:spLocks noGrp="1" noChangeArrowheads="1"/>
          </p:cNvSpPr>
          <p:nvPr>
            <p:ph idx="1"/>
          </p:nvPr>
        </p:nvSpPr>
        <p:spPr/>
        <p:txBody>
          <a:bodyPr>
            <a:normAutofit fontScale="92500" lnSpcReduction="10000"/>
          </a:bodyPr>
          <a:lstStyle/>
          <a:p>
            <a:pPr>
              <a:spcBef>
                <a:spcPts val="600"/>
              </a:spcBef>
            </a:pPr>
            <a:r>
              <a:rPr lang="en-US" altLang="en-US" sz="2800" dirty="0" smtClean="0"/>
              <a:t>Positioning the information security function within organizations</a:t>
            </a:r>
          </a:p>
          <a:p>
            <a:pPr>
              <a:spcBef>
                <a:spcPts val="600"/>
              </a:spcBef>
            </a:pPr>
            <a:r>
              <a:rPr lang="en-US" altLang="en-US" sz="2800" dirty="0" smtClean="0"/>
              <a:t>Issues and concerns about staffing information security </a:t>
            </a:r>
          </a:p>
          <a:p>
            <a:pPr>
              <a:spcBef>
                <a:spcPts val="600"/>
              </a:spcBef>
            </a:pPr>
            <a:r>
              <a:rPr lang="en-US" altLang="en-US" sz="2800" dirty="0" smtClean="0"/>
              <a:t>Professional credentials of information security professionals</a:t>
            </a:r>
          </a:p>
          <a:p>
            <a:pPr>
              <a:spcBef>
                <a:spcPts val="600"/>
              </a:spcBef>
            </a:pPr>
            <a:r>
              <a:rPr lang="en-US" altLang="en-US" sz="2800" dirty="0" smtClean="0"/>
              <a:t>Organizational employment policies and practices related to successful information security</a:t>
            </a:r>
          </a:p>
          <a:p>
            <a:pPr>
              <a:spcBef>
                <a:spcPts val="600"/>
              </a:spcBef>
            </a:pPr>
            <a:r>
              <a:rPr lang="en-US" altLang="en-US" sz="2800" dirty="0"/>
              <a:t>Special security precautions for nonemployees</a:t>
            </a:r>
          </a:p>
          <a:p>
            <a:pPr>
              <a:spcBef>
                <a:spcPts val="600"/>
              </a:spcBef>
            </a:pPr>
            <a:r>
              <a:rPr lang="en-US" altLang="en-US" sz="2800" dirty="0"/>
              <a:t>Separation of duties</a:t>
            </a:r>
          </a:p>
          <a:p>
            <a:pPr>
              <a:spcBef>
                <a:spcPts val="600"/>
              </a:spcBef>
            </a:pPr>
            <a:r>
              <a:rPr lang="en-US" altLang="en-US" sz="2800" dirty="0"/>
              <a:t>Special requirements needed for the privacy of personnel </a:t>
            </a:r>
            <a:r>
              <a:rPr lang="en-US" altLang="en-US" sz="2800" dirty="0" smtClean="0"/>
              <a:t>data</a:t>
            </a:r>
            <a:endParaRPr lang="en-US" altLang="en-US" sz="2800" dirty="0"/>
          </a:p>
        </p:txBody>
      </p:sp>
    </p:spTree>
    <p:extLst>
      <p:ext uri="{BB962C8B-B14F-4D97-AF65-F5344CB8AC3E}">
        <p14:creationId xmlns:p14="http://schemas.microsoft.com/office/powerpoint/2010/main" val="1885566770"/>
      </p:ext>
    </p:extLst>
  </p:cSld>
  <p:clrMapOvr>
    <a:masterClrMapping/>
  </p:clrMapOvr>
  <p:timing>
    <p:tnLst>
      <p:par>
        <p:cTn id="1" dur="indefinite" restart="never" nodeType="tmRoot"/>
      </p:par>
    </p:tnLst>
  </p:timing>
</p:sld>
</file>

<file path=ppt/theme/theme1.xml><?xml version="1.0" encoding="utf-8"?>
<a:theme xmlns:a="http://schemas.openxmlformats.org/drawingml/2006/main" name="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5500</TotalTime>
  <Words>5404</Words>
  <Application>Microsoft Office PowerPoint</Application>
  <PresentationFormat>On-screen Show (4:3)</PresentationFormat>
  <Paragraphs>552</Paragraphs>
  <Slides>52</Slides>
  <Notes>51</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Sample</vt:lpstr>
      <vt:lpstr>Principles of Information Security</vt:lpstr>
      <vt:lpstr>Learning Objectives (1 of 2)</vt:lpstr>
      <vt:lpstr>Learning Objectives (2 of 2)</vt:lpstr>
      <vt:lpstr>Introduction </vt:lpstr>
      <vt:lpstr>Positioning and Staffing the Security Function</vt:lpstr>
      <vt:lpstr>Staffing the Information Security Function (1 of 6) </vt:lpstr>
      <vt:lpstr>Staffing the Information Security Function (2 of 6)</vt:lpstr>
      <vt:lpstr>Staffing the Information Security Function  (3 of 6)</vt:lpstr>
      <vt:lpstr>Staffing the Information Security Function (4 of 6)</vt:lpstr>
      <vt:lpstr>Staffing the Information Security Function (5 of 6)</vt:lpstr>
      <vt:lpstr>Staffing the Information Security Function (6 of 6)</vt:lpstr>
      <vt:lpstr>Figure 11-1  BLS job summary for information security analysts</vt:lpstr>
      <vt:lpstr>Figure 11-2  BLS summaries for computer administrators and managers</vt:lpstr>
      <vt:lpstr>Figure 11-3  Career paths to information security positions</vt:lpstr>
      <vt:lpstr>Figure 11-4  Positions in information security</vt:lpstr>
      <vt:lpstr>Information Security Positions (1 of 4)</vt:lpstr>
      <vt:lpstr>Information Security Positions (2 of 4)</vt:lpstr>
      <vt:lpstr>Information Security Positions (3 of 4)</vt:lpstr>
      <vt:lpstr>Information Security Positions (4 of 4)</vt:lpstr>
      <vt:lpstr>Credentials for Information Security Professionals</vt:lpstr>
      <vt:lpstr>Certifications (1 of 4)</vt:lpstr>
      <vt:lpstr>Certifications (2 of 4)</vt:lpstr>
      <vt:lpstr>Certifications (3 of 4)</vt:lpstr>
      <vt:lpstr>Certifications (4 of 4)</vt:lpstr>
      <vt:lpstr>Certification Costs</vt:lpstr>
      <vt:lpstr>Figure 11-5  Preparing for security certification</vt:lpstr>
      <vt:lpstr>Advice for Information Security Professionals</vt:lpstr>
      <vt:lpstr>Employment Policies and Practices</vt:lpstr>
      <vt:lpstr>Job Descriptions</vt:lpstr>
      <vt:lpstr>Interviews</vt:lpstr>
      <vt:lpstr>Figure 11-6  Hiring issues</vt:lpstr>
      <vt:lpstr>Background Checks (1 of 2)</vt:lpstr>
      <vt:lpstr>Background Checks (2 of 2)</vt:lpstr>
      <vt:lpstr>Employment Contracts</vt:lpstr>
      <vt:lpstr>New Hire Orientation</vt:lpstr>
      <vt:lpstr>On-the-Job Security Training</vt:lpstr>
      <vt:lpstr>Evaluating Performance</vt:lpstr>
      <vt:lpstr>Termination (1 of 4)</vt:lpstr>
      <vt:lpstr>Termination (2 of 4)</vt:lpstr>
      <vt:lpstr>Termination (3 of 4)</vt:lpstr>
      <vt:lpstr>Termination (4 of 4)</vt:lpstr>
      <vt:lpstr>Security Considerations for Temporary Employees, Consultants, and Other Workers</vt:lpstr>
      <vt:lpstr>Temporary Employees</vt:lpstr>
      <vt:lpstr>Contract Employees </vt:lpstr>
      <vt:lpstr>Consultants</vt:lpstr>
      <vt:lpstr>Business Partners</vt:lpstr>
      <vt:lpstr>Internal Control Strategies (1 of 4)</vt:lpstr>
      <vt:lpstr>Internal Control Strategies (2 of 4)</vt:lpstr>
      <vt:lpstr>Internal Control Strategies (3 of 4)</vt:lpstr>
      <vt:lpstr>Figure 11-7  Internal control strategies (4 of 4)</vt:lpstr>
      <vt:lpstr>Privacy and the Security of Personnel Data</vt:lpstr>
      <vt:lpstr>Summary</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Security and Personnel</dc:title>
  <dc:creator>Whitman</dc:creator>
  <cp:lastModifiedBy>CD</cp:lastModifiedBy>
  <cp:revision>313</cp:revision>
  <cp:lastPrinted>2010-11-12T17:54:40Z</cp:lastPrinted>
  <dcterms:created xsi:type="dcterms:W3CDTF">2007-02-15T20:50:52Z</dcterms:created>
  <dcterms:modified xsi:type="dcterms:W3CDTF">2017-03-20T13:21:30Z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