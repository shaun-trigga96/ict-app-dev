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09" r:id="rId2"/>
    <p:sldMasterId id="2147483722" r:id="rId3"/>
    <p:sldMasterId id="2147483751" r:id="rId4"/>
  </p:sldMasterIdLst>
  <p:notesMasterIdLst>
    <p:notesMasterId r:id="rId34"/>
  </p:notesMasterIdLst>
  <p:handoutMasterIdLst>
    <p:handoutMasterId r:id="rId35"/>
  </p:handoutMasterIdLst>
  <p:sldIdLst>
    <p:sldId id="368" r:id="rId5"/>
    <p:sldId id="375" r:id="rId6"/>
    <p:sldId id="376" r:id="rId7"/>
    <p:sldId id="377" r:id="rId8"/>
    <p:sldId id="374" r:id="rId9"/>
    <p:sldId id="312" r:id="rId10"/>
    <p:sldId id="322" r:id="rId11"/>
    <p:sldId id="323" r:id="rId12"/>
    <p:sldId id="324" r:id="rId13"/>
    <p:sldId id="319" r:id="rId14"/>
    <p:sldId id="325" r:id="rId15"/>
    <p:sldId id="326" r:id="rId16"/>
    <p:sldId id="327" r:id="rId17"/>
    <p:sldId id="328" r:id="rId18"/>
    <p:sldId id="329" r:id="rId19"/>
    <p:sldId id="330" r:id="rId20"/>
    <p:sldId id="369" r:id="rId21"/>
    <p:sldId id="331" r:id="rId22"/>
    <p:sldId id="332" r:id="rId23"/>
    <p:sldId id="333" r:id="rId24"/>
    <p:sldId id="334" r:id="rId25"/>
    <p:sldId id="335" r:id="rId26"/>
    <p:sldId id="336" r:id="rId27"/>
    <p:sldId id="337" r:id="rId28"/>
    <p:sldId id="338" r:id="rId29"/>
    <p:sldId id="339" r:id="rId30"/>
    <p:sldId id="340" r:id="rId31"/>
    <p:sldId id="341" r:id="rId32"/>
    <p:sldId id="342" r:id="rId3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000"/>
    <a:srgbClr val="003399"/>
    <a:srgbClr val="FFFFFF"/>
    <a:srgbClr val="DDDDDD"/>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29" autoAdjust="0"/>
    <p:restoredTop sz="84152" autoAdjust="0"/>
  </p:normalViewPr>
  <p:slideViewPr>
    <p:cSldViewPr>
      <p:cViewPr varScale="1">
        <p:scale>
          <a:sx n="65" d="100"/>
          <a:sy n="65" d="100"/>
        </p:scale>
        <p:origin x="8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22F73B2-7CF1-4832-BF09-2E3D082F4856}" type="datetimeFigureOut">
              <a:rPr lang="en-US" smtClean="0"/>
              <a:pPr/>
              <a:t>3/12/2021</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702B329-9B4F-43B9-920A-39268306AFA7}" type="slidenum">
              <a:rPr lang="en-US" smtClean="0"/>
              <a:pPr/>
              <a:t>‹#›</a:t>
            </a:fld>
            <a:endParaRPr lang="en-US" dirty="0"/>
          </a:p>
        </p:txBody>
      </p:sp>
    </p:spTree>
    <p:extLst>
      <p:ext uri="{BB962C8B-B14F-4D97-AF65-F5344CB8AC3E}">
        <p14:creationId xmlns:p14="http://schemas.microsoft.com/office/powerpoint/2010/main" val="1714263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GB"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AEDA5C1-9818-47C9-A79E-B4D4158DD3E3}" type="datetimeFigureOut">
              <a:rPr lang="en-GB" smtClean="0"/>
              <a:pPr/>
              <a:t>12/Mar/21</a:t>
            </a:fld>
            <a:endParaRPr lang="en-GB"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GB"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D498802-2017-4E9A-A8AF-781802F703C5}" type="slidenum">
              <a:rPr lang="en-GB" smtClean="0"/>
              <a:pPr/>
              <a:t>‹#›</a:t>
            </a:fld>
            <a:endParaRPr lang="en-GB" dirty="0"/>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6" Type="http://schemas.openxmlformats.org/officeDocument/2006/relationships/hyperlink" Target="https://en.wikipedia.org/wiki/Alan_Turing#cite_note-11" TargetMode="External"/><Relationship Id="rId21" Type="http://schemas.openxmlformats.org/officeDocument/2006/relationships/hyperlink" Target="https://en.wikipedia.org/wiki/General-purpose_computer" TargetMode="External"/><Relationship Id="rId34" Type="http://schemas.openxmlformats.org/officeDocument/2006/relationships/hyperlink" Target="https://en.wikipedia.org/wiki/Ferranti_Mark_1" TargetMode="External"/><Relationship Id="rId42" Type="http://schemas.openxmlformats.org/officeDocument/2006/relationships/hyperlink" Target="https://en.wikipedia.org/w/index.php?title=History_of_artificial_intelligence&amp;action=edit&amp;section=10" TargetMode="External"/><Relationship Id="rId47" Type="http://schemas.openxmlformats.org/officeDocument/2006/relationships/hyperlink" Target="https://en.wikipedia.org/wiki/Logic_Theorist" TargetMode="External"/><Relationship Id="rId50" Type="http://schemas.openxmlformats.org/officeDocument/2006/relationships/hyperlink" Target="https://en.wikipedia.org/wiki/Alfred_North_Whitehead" TargetMode="External"/><Relationship Id="rId55" Type="http://schemas.openxmlformats.org/officeDocument/2006/relationships/hyperlink" Target="https://en.wikipedia.org/wiki/John_Searle" TargetMode="External"/><Relationship Id="rId63" Type="http://schemas.openxmlformats.org/officeDocument/2006/relationships/hyperlink" Target="https://en.wikipedia.org/wiki/Claude_Shannon" TargetMode="External"/><Relationship Id="rId7" Type="http://schemas.openxmlformats.org/officeDocument/2006/relationships/hyperlink" Target="https://en.wikipedia.org/wiki/Fellow_of_the_Royal_Society" TargetMode="External"/><Relationship Id="rId2" Type="http://schemas.openxmlformats.org/officeDocument/2006/relationships/slide" Target="../slides/slide7.xml"/><Relationship Id="rId16" Type="http://schemas.openxmlformats.org/officeDocument/2006/relationships/hyperlink" Target="https://en.wikipedia.org/wiki/Alan_Turing#cite_note-whoswho-7" TargetMode="External"/><Relationship Id="rId29" Type="http://schemas.openxmlformats.org/officeDocument/2006/relationships/hyperlink" Target="https://en.wikipedia.org/wiki/Turing_Test" TargetMode="External"/><Relationship Id="rId11" Type="http://schemas.openxmlformats.org/officeDocument/2006/relationships/hyperlink" Target="https://en.wikipedia.org/wiki/Computer_scientist" TargetMode="External"/><Relationship Id="rId24" Type="http://schemas.openxmlformats.org/officeDocument/2006/relationships/hyperlink" Target="https://en.wikipedia.org/wiki/Alan_Turing#cite_note-10" TargetMode="External"/><Relationship Id="rId32" Type="http://schemas.openxmlformats.org/officeDocument/2006/relationships/hyperlink" Target="https://en.wikipedia.org/wiki/Philosophy_of_artificial_intelligence" TargetMode="External"/><Relationship Id="rId37" Type="http://schemas.openxmlformats.org/officeDocument/2006/relationships/hyperlink" Target="https://en.wikipedia.org/wiki/Dietrich_Prinz" TargetMode="External"/><Relationship Id="rId40" Type="http://schemas.openxmlformats.org/officeDocument/2006/relationships/hyperlink" Target="https://en.wikipedia.org/wiki/History_of_artificial_intelligence#cite_note-32" TargetMode="External"/><Relationship Id="rId45" Type="http://schemas.openxmlformats.org/officeDocument/2006/relationships/hyperlink" Target="https://en.wikipedia.org/wiki/Allen_Newell" TargetMode="External"/><Relationship Id="rId53" Type="http://schemas.openxmlformats.org/officeDocument/2006/relationships/hyperlink" Target="https://en.wikipedia.org/wiki/Mind/body_problem" TargetMode="External"/><Relationship Id="rId58" Type="http://schemas.openxmlformats.org/officeDocument/2006/relationships/hyperlink" Target="https://en.wikipedia.org/w/index.php?title=History_of_artificial_intelligence&amp;action=edit&amp;section=11" TargetMode="External"/><Relationship Id="rId5" Type="http://schemas.openxmlformats.org/officeDocument/2006/relationships/hyperlink" Target="https://en.wikipedia.org/wiki/History_of_artificial_intelligence#cite_note-29" TargetMode="External"/><Relationship Id="rId61" Type="http://schemas.openxmlformats.org/officeDocument/2006/relationships/hyperlink" Target="https://en.wikipedia.org/wiki/Marvin_Minsky" TargetMode="External"/><Relationship Id="rId19" Type="http://schemas.openxmlformats.org/officeDocument/2006/relationships/hyperlink" Target="https://en.wikipedia.org/wiki/Computation" TargetMode="External"/><Relationship Id="rId14" Type="http://schemas.openxmlformats.org/officeDocument/2006/relationships/hyperlink" Target="https://en.wikipedia.org/wiki/Philosopher" TargetMode="External"/><Relationship Id="rId22" Type="http://schemas.openxmlformats.org/officeDocument/2006/relationships/hyperlink" Target="https://en.wikipedia.org/wiki/Alan_Turing#cite_note-frs-8" TargetMode="External"/><Relationship Id="rId27" Type="http://schemas.openxmlformats.org/officeDocument/2006/relationships/hyperlink" Target="https://en.wikipedia.org/wiki/Homosexuality" TargetMode="External"/><Relationship Id="rId30" Type="http://schemas.openxmlformats.org/officeDocument/2006/relationships/hyperlink" Target="https://en.wikipedia.org/wiki/Teleprinter" TargetMode="External"/><Relationship Id="rId35" Type="http://schemas.openxmlformats.org/officeDocument/2006/relationships/hyperlink" Target="https://en.wikipedia.org/wiki/University_of_Manchester" TargetMode="External"/><Relationship Id="rId43" Type="http://schemas.openxmlformats.org/officeDocument/2006/relationships/hyperlink" Target="https://en.wikipedia.org/wiki/Digital_computer" TargetMode="External"/><Relationship Id="rId48" Type="http://schemas.openxmlformats.org/officeDocument/2006/relationships/hyperlink" Target="https://en.wikipedia.org/wiki/Cliff_Shaw" TargetMode="External"/><Relationship Id="rId56" Type="http://schemas.openxmlformats.org/officeDocument/2006/relationships/hyperlink" Target="https://en.wikipedia.org/wiki/Strong_AI_thesis" TargetMode="External"/><Relationship Id="rId64" Type="http://schemas.openxmlformats.org/officeDocument/2006/relationships/hyperlink" Target="https://en.wikipedia.org/wiki/Nathaniel_Rochester_(computer_scientist)" TargetMode="External"/><Relationship Id="rId8" Type="http://schemas.openxmlformats.org/officeDocument/2006/relationships/hyperlink" Target="https://en.wikipedia.org/wiki/Help:IPA/English" TargetMode="External"/><Relationship Id="rId51" Type="http://schemas.openxmlformats.org/officeDocument/2006/relationships/hyperlink" Target="https://en.wikipedia.org/wiki/Principia_Mathematica" TargetMode="External"/><Relationship Id="rId3" Type="http://schemas.openxmlformats.org/officeDocument/2006/relationships/hyperlink" Target="https://en.wikipedia.org/wiki/Alan_Turing" TargetMode="External"/><Relationship Id="rId12" Type="http://schemas.openxmlformats.org/officeDocument/2006/relationships/hyperlink" Target="https://en.wikipedia.org/wiki/Logic" TargetMode="External"/><Relationship Id="rId17" Type="http://schemas.openxmlformats.org/officeDocument/2006/relationships/hyperlink" Target="https://en.wikipedia.org/wiki/Theoretical_computer_science" TargetMode="External"/><Relationship Id="rId25" Type="http://schemas.openxmlformats.org/officeDocument/2006/relationships/hyperlink" Target="https://en.wikipedia.org/wiki/Artificial_intelligence" TargetMode="External"/><Relationship Id="rId33" Type="http://schemas.openxmlformats.org/officeDocument/2006/relationships/hyperlink" Target="https://en.wikipedia.org/w/index.php?title=History_of_artificial_intelligence&amp;action=edit&amp;section=9" TargetMode="External"/><Relationship Id="rId38" Type="http://schemas.openxmlformats.org/officeDocument/2006/relationships/hyperlink" Target="https://en.wikipedia.org/wiki/History_of_artificial_intelligence#cite_note-31" TargetMode="External"/><Relationship Id="rId46" Type="http://schemas.openxmlformats.org/officeDocument/2006/relationships/hyperlink" Target="https://en.wikipedia.org/wiki/Herbert_A._Simon" TargetMode="External"/><Relationship Id="rId59" Type="http://schemas.openxmlformats.org/officeDocument/2006/relationships/hyperlink" Target="https://en.wikipedia.org/wiki/Dartmouth_Workshop" TargetMode="External"/><Relationship Id="rId20" Type="http://schemas.openxmlformats.org/officeDocument/2006/relationships/hyperlink" Target="https://en.wikipedia.org/wiki/Turing_machine" TargetMode="External"/><Relationship Id="rId41" Type="http://schemas.openxmlformats.org/officeDocument/2006/relationships/hyperlink" Target="https://en.wikipedia.org/wiki/Game_AI" TargetMode="External"/><Relationship Id="rId54" Type="http://schemas.openxmlformats.org/officeDocument/2006/relationships/hyperlink" Target="https://en.wikipedia.org/wiki/History_of_artificial_intelligence#cite_note-35" TargetMode="External"/><Relationship Id="rId62" Type="http://schemas.openxmlformats.org/officeDocument/2006/relationships/hyperlink" Target="https://en.wikipedia.org/wiki/John_McCarthy_(computer_scientist)" TargetMode="External"/><Relationship Id="rId1" Type="http://schemas.openxmlformats.org/officeDocument/2006/relationships/notesMaster" Target="../notesMasters/notesMaster1.xml"/><Relationship Id="rId6" Type="http://schemas.openxmlformats.org/officeDocument/2006/relationships/hyperlink" Target="https://en.wikipedia.org/wiki/Officer_of_the_Order_of_the_British_Empire" TargetMode="External"/><Relationship Id="rId15" Type="http://schemas.openxmlformats.org/officeDocument/2006/relationships/hyperlink" Target="https://en.wikipedia.org/wiki/Mathematical_and_theoretical_biology" TargetMode="External"/><Relationship Id="rId23" Type="http://schemas.openxmlformats.org/officeDocument/2006/relationships/hyperlink" Target="https://en.wikipedia.org/wiki/Alan_Turing#cite_note-AFP-9" TargetMode="External"/><Relationship Id="rId28" Type="http://schemas.openxmlformats.org/officeDocument/2006/relationships/hyperlink" Target="https://en.wikipedia.org/wiki/Official_Secrets_Act" TargetMode="External"/><Relationship Id="rId36" Type="http://schemas.openxmlformats.org/officeDocument/2006/relationships/hyperlink" Target="https://en.wikipedia.org/wiki/Christopher_Strachey" TargetMode="External"/><Relationship Id="rId49" Type="http://schemas.openxmlformats.org/officeDocument/2006/relationships/hyperlink" Target="https://en.wikipedia.org/wiki/Bertrand_Russell" TargetMode="External"/><Relationship Id="rId57" Type="http://schemas.openxmlformats.org/officeDocument/2006/relationships/hyperlink" Target="https://en.wikipedia.org/wiki/History_of_artificial_intelligence#cite_note-36" TargetMode="External"/><Relationship Id="rId10" Type="http://schemas.openxmlformats.org/officeDocument/2006/relationships/hyperlink" Target="https://en.wikipedia.org/wiki/Mathematician" TargetMode="External"/><Relationship Id="rId31" Type="http://schemas.openxmlformats.org/officeDocument/2006/relationships/hyperlink" Target="https://en.wikipedia.org/wiki/History_of_artificial_intelligence#cite_note-30" TargetMode="External"/><Relationship Id="rId44" Type="http://schemas.openxmlformats.org/officeDocument/2006/relationships/hyperlink" Target="https://en.wikipedia.org/wiki/History_of_artificial_intelligence#cite_note-33" TargetMode="External"/><Relationship Id="rId52" Type="http://schemas.openxmlformats.org/officeDocument/2006/relationships/hyperlink" Target="https://en.wikipedia.org/wiki/History_of_artificial_intelligence#cite_note-34" TargetMode="External"/><Relationship Id="rId60" Type="http://schemas.openxmlformats.org/officeDocument/2006/relationships/hyperlink" Target="https://en.wikipedia.org/wiki/History_of_artificial_intelligence#cite_note-37" TargetMode="External"/><Relationship Id="rId65" Type="http://schemas.openxmlformats.org/officeDocument/2006/relationships/hyperlink" Target="https://en.wikipedia.org/wiki/IBM" TargetMode="External"/><Relationship Id="rId4" Type="http://schemas.openxmlformats.org/officeDocument/2006/relationships/hyperlink" Target="https://en.wikipedia.org/wiki/Computing_machinery_and_intelligence" TargetMode="External"/><Relationship Id="rId9" Type="http://schemas.openxmlformats.org/officeDocument/2006/relationships/hyperlink" Target="https://en.wikipedia.org/wiki/Alan_Turing#cite_note-6" TargetMode="External"/><Relationship Id="rId13" Type="http://schemas.openxmlformats.org/officeDocument/2006/relationships/hyperlink" Target="https://en.wikipedia.org/wiki/Cryptanalysis" TargetMode="External"/><Relationship Id="rId18" Type="http://schemas.openxmlformats.org/officeDocument/2006/relationships/hyperlink" Target="https://en.wikipedia.org/wiki/Algorithm" TargetMode="External"/><Relationship Id="rId39" Type="http://schemas.openxmlformats.org/officeDocument/2006/relationships/hyperlink" Target="https://en.wikipedia.org/wiki/Arthur_Samuel"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gati.com/w"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engati.com/x" TargetMode="External"/></Relationships>
</file>

<file path=ppt/notesSlides/_rels/notesSlide7.xml.rels><?xml version="1.0" encoding="UTF-8" standalone="yes"?>
<Relationships xmlns="http://schemas.openxmlformats.org/package/2006/relationships"><Relationship Id="rId8" Type="http://schemas.openxmlformats.org/officeDocument/2006/relationships/hyperlink" Target="https://en.wikipedia.org/wiki/Physical_symbol_system#cite_note-NS-1" TargetMode="External"/><Relationship Id="rId13" Type="http://schemas.openxmlformats.org/officeDocument/2006/relationships/hyperlink" Target="https://en.wikipedia.org/wiki/Immanuel_Kant" TargetMode="External"/><Relationship Id="rId18" Type="http://schemas.openxmlformats.org/officeDocument/2006/relationships/hyperlink" Target="https://en.wikipedia.org/wiki/Physical_symbol_system#cite_note-4" TargetMode="External"/><Relationship Id="rId3" Type="http://schemas.openxmlformats.org/officeDocument/2006/relationships/hyperlink" Target="https://en.wikipedia.org/wiki/Formal_system" TargetMode="External"/><Relationship Id="rId7" Type="http://schemas.openxmlformats.org/officeDocument/2006/relationships/hyperlink" Target="https://en.wikipedia.org/wiki/Sufficient" TargetMode="External"/><Relationship Id="rId12" Type="http://schemas.openxmlformats.org/officeDocument/2006/relationships/hyperlink" Target="https://en.wikipedia.org/wiki/David_Hume" TargetMode="External"/><Relationship Id="rId17" Type="http://schemas.openxmlformats.org/officeDocument/2006/relationships/hyperlink" Target="https://en.wikipedia.org/wiki/Jerry_Fodor" TargetMode="External"/><Relationship Id="rId2" Type="http://schemas.openxmlformats.org/officeDocument/2006/relationships/slide" Target="../slides/slide19.xml"/><Relationship Id="rId16" Type="http://schemas.openxmlformats.org/officeDocument/2006/relationships/hyperlink" Target="https://en.wikipedia.org/wiki/Hilary_Putnam" TargetMode="External"/><Relationship Id="rId1" Type="http://schemas.openxmlformats.org/officeDocument/2006/relationships/notesMaster" Target="../notesMasters/notesMaster1.xml"/><Relationship Id="rId6" Type="http://schemas.openxmlformats.org/officeDocument/2006/relationships/hyperlink" Target="https://en.wikipedia.org/wiki/Herbert_A._Simon" TargetMode="External"/><Relationship Id="rId11" Type="http://schemas.openxmlformats.org/officeDocument/2006/relationships/hyperlink" Target="https://en.wikipedia.org/wiki/Gottfried_Wilhelm_Leibniz" TargetMode="External"/><Relationship Id="rId5" Type="http://schemas.openxmlformats.org/officeDocument/2006/relationships/hyperlink" Target="https://en.wikipedia.org/wiki/Allen_Newell" TargetMode="External"/><Relationship Id="rId15" Type="http://schemas.openxmlformats.org/officeDocument/2006/relationships/hyperlink" Target="https://en.wikipedia.org/wiki/Computational_theory_of_mind" TargetMode="External"/><Relationship Id="rId10" Type="http://schemas.openxmlformats.org/officeDocument/2006/relationships/hyperlink" Target="https://en.wikipedia.org/wiki/Hobbes" TargetMode="External"/><Relationship Id="rId19" Type="http://schemas.openxmlformats.org/officeDocument/2006/relationships/hyperlink" Target="https://en.wikipedia.org/wiki/Neural_network" TargetMode="External"/><Relationship Id="rId4" Type="http://schemas.openxmlformats.org/officeDocument/2006/relationships/hyperlink" Target="https://en.wikipedia.org/wiki/Philosophy_of_artificial_intelligence" TargetMode="External"/><Relationship Id="rId9" Type="http://schemas.openxmlformats.org/officeDocument/2006/relationships/hyperlink" Target="https://en.wikipedia.org/wiki/Physical_symbol_system#cite_note-Nilsson_2007_p=1-2" TargetMode="External"/><Relationship Id="rId14" Type="http://schemas.openxmlformats.org/officeDocument/2006/relationships/hyperlink" Target="https://en.wikipedia.org/wiki/Physical_symbol_system#cite_note-3"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Formal_system"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en.wikipedia.org/wiki/Robotics" TargetMode="External"/><Relationship Id="rId13" Type="http://schemas.openxmlformats.org/officeDocument/2006/relationships/hyperlink" Target="https://en.wikipedia.org/wiki/Expert_systems" TargetMode="External"/><Relationship Id="rId18" Type="http://schemas.openxmlformats.org/officeDocument/2006/relationships/hyperlink" Target="https://en.wikipedia.org/wiki/Neural_network" TargetMode="External"/><Relationship Id="rId3" Type="http://schemas.openxmlformats.org/officeDocument/2006/relationships/hyperlink" Target="https://en.wikipedia.org/wiki/Artificial_intelligence" TargetMode="External"/><Relationship Id="rId21" Type="http://schemas.openxmlformats.org/officeDocument/2006/relationships/hyperlink" Target="https://en.wikipedia.org/wiki/Artificial_general_intelligence" TargetMode="External"/><Relationship Id="rId7" Type="http://schemas.openxmlformats.org/officeDocument/2006/relationships/hyperlink" Target="https://en.wikipedia.org/wiki/John_Haugeland" TargetMode="External"/><Relationship Id="rId12" Type="http://schemas.openxmlformats.org/officeDocument/2006/relationships/hyperlink" Target="https://en.wikipedia.org/wiki/Herbert_A._Simon" TargetMode="External"/><Relationship Id="rId17" Type="http://schemas.openxmlformats.org/officeDocument/2006/relationships/hyperlink" Target="https://en.wikipedia.org/wiki/Computational_intelligence" TargetMode="External"/><Relationship Id="rId2" Type="http://schemas.openxmlformats.org/officeDocument/2006/relationships/slide" Target="../slides/slide22.xml"/><Relationship Id="rId16" Type="http://schemas.openxmlformats.org/officeDocument/2006/relationships/hyperlink" Target="https://en.wikipedia.org/wiki/Rodney_Brooks" TargetMode="External"/><Relationship Id="rId20" Type="http://schemas.openxmlformats.org/officeDocument/2006/relationships/hyperlink" Target="https://en.wikipedia.org/wiki/Control_engineering" TargetMode="External"/><Relationship Id="rId1" Type="http://schemas.openxmlformats.org/officeDocument/2006/relationships/notesMaster" Target="../notesMasters/notesMaster1.xml"/><Relationship Id="rId6" Type="http://schemas.openxmlformats.org/officeDocument/2006/relationships/hyperlink" Target="https://en.wikipedia.org/wiki/Paradigm" TargetMode="External"/><Relationship Id="rId11" Type="http://schemas.openxmlformats.org/officeDocument/2006/relationships/hyperlink" Target="https://en.wikipedia.org/wiki/Allen_Newell" TargetMode="External"/><Relationship Id="rId5" Type="http://schemas.openxmlformats.org/officeDocument/2006/relationships/hyperlink" Target="https://en.wikipedia.org/wiki/Search_algorithm" TargetMode="External"/><Relationship Id="rId15" Type="http://schemas.openxmlformats.org/officeDocument/2006/relationships/hyperlink" Target="https://en.wikipedia.org/wiki/Roboticist" TargetMode="External"/><Relationship Id="rId10" Type="http://schemas.openxmlformats.org/officeDocument/2006/relationships/hyperlink" Target="https://en.wikipedia.org/wiki/Physical_symbol_systems_hypothesis" TargetMode="External"/><Relationship Id="rId19" Type="http://schemas.openxmlformats.org/officeDocument/2006/relationships/hyperlink" Target="https://en.wikipedia.org/wiki/Machine_learning" TargetMode="External"/><Relationship Id="rId4" Type="http://schemas.openxmlformats.org/officeDocument/2006/relationships/hyperlink" Target="https://en.wikipedia.org/wiki/Formal_logic" TargetMode="External"/><Relationship Id="rId9" Type="http://schemas.openxmlformats.org/officeDocument/2006/relationships/hyperlink" Target="https://en.wikipedia.org/wiki/Physical_symbol_system" TargetMode="External"/><Relationship Id="rId14" Type="http://schemas.openxmlformats.org/officeDocument/2006/relationships/hyperlink" Target="https://en.wikipedia.org/wiki/Production_system_(computer_science)" TargetMode="External"/><Relationship Id="rId22" Type="http://schemas.openxmlformats.org/officeDocument/2006/relationships/hyperlink" Target="https://www.cs.swarthmore.edu/~eroberts/cs91/projects/ethics-of-ai/index.html"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en.wikipedia.org/wiki/Biochemistry" TargetMode="External"/><Relationship Id="rId13" Type="http://schemas.openxmlformats.org/officeDocument/2006/relationships/hyperlink" Target="https://en.wikipedia.org/wiki/Artificial_life#cite_note-3" TargetMode="External"/><Relationship Id="rId18" Type="http://schemas.openxmlformats.org/officeDocument/2006/relationships/hyperlink" Target="https://en.wikipedia.org/wiki/Computer_hardware" TargetMode="External"/><Relationship Id="rId3" Type="http://schemas.openxmlformats.org/officeDocument/2006/relationships/hyperlink" Target="https://en.wikipedia.org/wiki/System" TargetMode="External"/><Relationship Id="rId21" Type="http://schemas.openxmlformats.org/officeDocument/2006/relationships/hyperlink" Target="https://en.wikipedia.org/wiki/Artificial_life#cite_note-7" TargetMode="External"/><Relationship Id="rId7" Type="http://schemas.openxmlformats.org/officeDocument/2006/relationships/hyperlink" Target="https://en.wikipedia.org/wiki/Robotics" TargetMode="External"/><Relationship Id="rId12" Type="http://schemas.openxmlformats.org/officeDocument/2006/relationships/hyperlink" Target="https://en.wikipedia.org/wiki/Los_Alamos,_New_Mexico" TargetMode="External"/><Relationship Id="rId17" Type="http://schemas.openxmlformats.org/officeDocument/2006/relationships/hyperlink" Target="https://en.wikipedia.org/wiki/Artificial_life#cite_note-6" TargetMode="External"/><Relationship Id="rId2" Type="http://schemas.openxmlformats.org/officeDocument/2006/relationships/slide" Target="../slides/slide28.xml"/><Relationship Id="rId16" Type="http://schemas.openxmlformats.org/officeDocument/2006/relationships/hyperlink" Target="https://en.wikipedia.org/wiki/Software" TargetMode="External"/><Relationship Id="rId20" Type="http://schemas.openxmlformats.org/officeDocument/2006/relationships/hyperlink" Target="https://en.wikipedia.org/wiki/Biology" TargetMode="External"/><Relationship Id="rId1" Type="http://schemas.openxmlformats.org/officeDocument/2006/relationships/notesMaster" Target="../notesMasters/notesMaster1.xml"/><Relationship Id="rId6" Type="http://schemas.openxmlformats.org/officeDocument/2006/relationships/hyperlink" Target="https://en.wikipedia.org/wiki/Computer_models" TargetMode="External"/><Relationship Id="rId11" Type="http://schemas.openxmlformats.org/officeDocument/2006/relationships/hyperlink" Target="https://en.wikipedia.org/wiki/Artificial_life#cite_note-2" TargetMode="External"/><Relationship Id="rId5" Type="http://schemas.openxmlformats.org/officeDocument/2006/relationships/hyperlink" Target="https://en.wikipedia.org/wiki/Simulation" TargetMode="External"/><Relationship Id="rId15" Type="http://schemas.openxmlformats.org/officeDocument/2006/relationships/hyperlink" Target="https://en.wikipedia.org/wiki/Artificial_life#cite_note-5" TargetMode="External"/><Relationship Id="rId10" Type="http://schemas.openxmlformats.org/officeDocument/2006/relationships/hyperlink" Target="https://en.wikipedia.org/wiki/Christopher_Langton" TargetMode="External"/><Relationship Id="rId19" Type="http://schemas.openxmlformats.org/officeDocument/2006/relationships/hyperlink" Target="https://en.wikipedia.org/wiki/Wet_artificial_life" TargetMode="External"/><Relationship Id="rId4" Type="http://schemas.openxmlformats.org/officeDocument/2006/relationships/hyperlink" Target="https://en.wikipedia.org/wiki/Life" TargetMode="External"/><Relationship Id="rId9" Type="http://schemas.openxmlformats.org/officeDocument/2006/relationships/hyperlink" Target="https://en.wikipedia.org/wiki/Artificial_life#cite_note-1" TargetMode="External"/><Relationship Id="rId14" Type="http://schemas.openxmlformats.org/officeDocument/2006/relationships/hyperlink" Target="https://en.wikipedia.org/wiki/Artificial_life#cite_note-4" TargetMode="External"/><Relationship Id="rId22" Type="http://schemas.openxmlformats.org/officeDocument/2006/relationships/hyperlink" Target="https://en.wikipedia.org/wiki/Artificial_life#cite_note-8"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55000" lnSpcReduction="20000"/>
          </a:bodyPr>
          <a:lstStyle/>
          <a:p>
            <a:r>
              <a:rPr lang="en-US" sz="1200" b="1" i="0" kern="1200" dirty="0" smtClean="0">
                <a:solidFill>
                  <a:schemeClr val="tx1"/>
                </a:solidFill>
                <a:effectLst/>
                <a:latin typeface="+mn-lt"/>
                <a:ea typeface="+mn-ea"/>
                <a:cs typeface="+mn-cs"/>
              </a:rPr>
              <a:t>	1943 – 1955 	Warren McCulloch</a:t>
            </a:r>
            <a:r>
              <a:rPr lang="en-US" sz="1200" b="1" i="0" kern="1200" baseline="0" dirty="0" smtClean="0">
                <a:solidFill>
                  <a:schemeClr val="tx1"/>
                </a:solidFill>
                <a:effectLst/>
                <a:latin typeface="+mn-lt"/>
                <a:ea typeface="+mn-ea"/>
                <a:cs typeface="+mn-cs"/>
              </a:rPr>
              <a:t> and Walter Pitts</a:t>
            </a:r>
          </a:p>
          <a:p>
            <a:r>
              <a:rPr lang="en-US" sz="1200" b="0" i="0" kern="1200" baseline="0" dirty="0" smtClean="0">
                <a:solidFill>
                  <a:schemeClr val="tx1"/>
                </a:solidFill>
                <a:effectLst/>
                <a:latin typeface="+mn-lt"/>
                <a:ea typeface="+mn-ea"/>
                <a:cs typeface="+mn-cs"/>
              </a:rPr>
              <a:t>The first work that is now generally recognized as AI was done by Warren McCulloch and Walter Pitts (1943). </a:t>
            </a:r>
          </a:p>
          <a:p>
            <a:r>
              <a:rPr lang="en-US" sz="1200" b="0" i="0" kern="1200" baseline="0" dirty="0" smtClean="0">
                <a:solidFill>
                  <a:schemeClr val="tx1"/>
                </a:solidFill>
                <a:effectLst/>
                <a:latin typeface="+mn-lt"/>
                <a:ea typeface="+mn-ea"/>
                <a:cs typeface="+mn-cs"/>
              </a:rPr>
              <a:t>They drew on three sources: 1. </a:t>
            </a:r>
            <a:r>
              <a:rPr lang="en-US" sz="1200" b="1" i="0" kern="1200" baseline="0" dirty="0" smtClean="0">
                <a:solidFill>
                  <a:schemeClr val="tx1"/>
                </a:solidFill>
                <a:effectLst/>
                <a:latin typeface="+mn-lt"/>
                <a:ea typeface="+mn-ea"/>
                <a:cs typeface="+mn-cs"/>
              </a:rPr>
              <a:t>knowledge of the basic physiology and function of neurons in the brain</a:t>
            </a:r>
            <a:r>
              <a:rPr lang="en-US" sz="1200" b="0" i="0" kern="1200" baseline="0" dirty="0" smtClean="0">
                <a:solidFill>
                  <a:schemeClr val="tx1"/>
                </a:solidFill>
                <a:effectLst/>
                <a:latin typeface="+mn-lt"/>
                <a:ea typeface="+mn-ea"/>
                <a:cs typeface="+mn-cs"/>
              </a:rPr>
              <a:t>; </a:t>
            </a:r>
          </a:p>
          <a:p>
            <a:r>
              <a:rPr lang="en-US" sz="1200" b="0" i="0" kern="1200" baseline="0" dirty="0" smtClean="0">
                <a:solidFill>
                  <a:schemeClr val="tx1"/>
                </a:solidFill>
                <a:effectLst/>
                <a:latin typeface="+mn-lt"/>
                <a:ea typeface="+mn-ea"/>
                <a:cs typeface="+mn-cs"/>
              </a:rPr>
              <a:t>2. </a:t>
            </a:r>
            <a:r>
              <a:rPr lang="en-US" sz="1200" b="1" i="0" kern="1200" baseline="0" dirty="0" smtClean="0">
                <a:solidFill>
                  <a:schemeClr val="tx1"/>
                </a:solidFill>
                <a:effectLst/>
                <a:latin typeface="+mn-lt"/>
                <a:ea typeface="+mn-ea"/>
                <a:cs typeface="+mn-cs"/>
              </a:rPr>
              <a:t>a formal analysis of propositional logic due to Russell and Whitehead; </a:t>
            </a:r>
            <a:r>
              <a:rPr lang="en-US" sz="1200" b="0" i="0" kern="1200" baseline="0" dirty="0" smtClean="0">
                <a:solidFill>
                  <a:schemeClr val="tx1"/>
                </a:solidFill>
                <a:effectLst/>
                <a:latin typeface="+mn-lt"/>
                <a:ea typeface="+mn-ea"/>
                <a:cs typeface="+mn-cs"/>
              </a:rPr>
              <a:t>and </a:t>
            </a:r>
          </a:p>
          <a:p>
            <a:r>
              <a:rPr lang="en-US" sz="1200" b="0" i="0" kern="1200" baseline="0" dirty="0" smtClean="0">
                <a:solidFill>
                  <a:schemeClr val="tx1"/>
                </a:solidFill>
                <a:effectLst/>
                <a:latin typeface="+mn-lt"/>
                <a:ea typeface="+mn-ea"/>
                <a:cs typeface="+mn-cs"/>
              </a:rPr>
              <a:t>3. </a:t>
            </a:r>
            <a:r>
              <a:rPr lang="en-US" sz="1200" b="1" i="0" kern="1200" baseline="0" dirty="0" smtClean="0">
                <a:solidFill>
                  <a:schemeClr val="tx1"/>
                </a:solidFill>
                <a:effectLst/>
                <a:latin typeface="+mn-lt"/>
                <a:ea typeface="+mn-ea"/>
                <a:cs typeface="+mn-cs"/>
              </a:rPr>
              <a:t>Turing’s theory of computation</a:t>
            </a:r>
            <a:r>
              <a:rPr lang="en-US" sz="1200" b="0" i="0" kern="1200" baseline="0" dirty="0" smtClean="0">
                <a:solidFill>
                  <a:schemeClr val="tx1"/>
                </a:solidFill>
                <a:effectLst/>
                <a:latin typeface="+mn-lt"/>
                <a:ea typeface="+mn-ea"/>
                <a:cs typeface="+mn-cs"/>
              </a:rPr>
              <a:t>. </a:t>
            </a:r>
          </a:p>
          <a:p>
            <a:r>
              <a:rPr lang="en-US" sz="1200" b="0" i="0" kern="1200" baseline="0" dirty="0" smtClean="0">
                <a:solidFill>
                  <a:schemeClr val="tx1"/>
                </a:solidFill>
                <a:effectLst/>
                <a:latin typeface="+mn-lt"/>
                <a:ea typeface="+mn-ea"/>
                <a:cs typeface="+mn-cs"/>
              </a:rPr>
              <a:t>They proposed </a:t>
            </a:r>
            <a:r>
              <a:rPr lang="en-US" sz="1200" b="1" i="0" kern="1200" baseline="0" dirty="0" smtClean="0">
                <a:solidFill>
                  <a:schemeClr val="tx1"/>
                </a:solidFill>
                <a:effectLst/>
                <a:latin typeface="+mn-lt"/>
                <a:ea typeface="+mn-ea"/>
                <a:cs typeface="+mn-cs"/>
              </a:rPr>
              <a:t>a model of artificial neurons </a:t>
            </a:r>
            <a:r>
              <a:rPr lang="en-US" sz="1200" b="0" i="0" kern="1200" baseline="0" dirty="0" smtClean="0">
                <a:solidFill>
                  <a:schemeClr val="tx1"/>
                </a:solidFill>
                <a:effectLst/>
                <a:latin typeface="+mn-lt"/>
                <a:ea typeface="+mn-ea"/>
                <a:cs typeface="+mn-cs"/>
              </a:rPr>
              <a:t>in which each </a:t>
            </a:r>
            <a:r>
              <a:rPr lang="en-US" sz="1200" b="1" i="0" kern="1200" baseline="0" dirty="0" smtClean="0">
                <a:solidFill>
                  <a:schemeClr val="tx1"/>
                </a:solidFill>
                <a:effectLst/>
                <a:latin typeface="+mn-lt"/>
                <a:ea typeface="+mn-ea"/>
                <a:cs typeface="+mn-cs"/>
              </a:rPr>
              <a:t>neuron is characterized as being “on” or “off,” </a:t>
            </a:r>
            <a:r>
              <a:rPr lang="en-US" sz="1200" b="0" i="0" kern="1200" baseline="0" dirty="0" smtClean="0">
                <a:solidFill>
                  <a:schemeClr val="tx1"/>
                </a:solidFill>
                <a:effectLst/>
                <a:latin typeface="+mn-lt"/>
                <a:ea typeface="+mn-ea"/>
                <a:cs typeface="+mn-cs"/>
              </a:rPr>
              <a:t>with a switch to “on” occurring in response to stimulation by a sufficient number of neighboring neurons.  </a:t>
            </a:r>
          </a:p>
          <a:p>
            <a:r>
              <a:rPr lang="en-US" sz="1200" b="0" i="0" kern="1200" baseline="0" dirty="0" smtClean="0">
                <a:solidFill>
                  <a:schemeClr val="tx1"/>
                </a:solidFill>
                <a:effectLst/>
                <a:latin typeface="+mn-lt"/>
                <a:ea typeface="+mn-ea"/>
                <a:cs typeface="+mn-cs"/>
              </a:rPr>
              <a:t>The state of a neuron was conceived of </a:t>
            </a:r>
            <a:r>
              <a:rPr lang="en-US" sz="1200" b="1" i="0" kern="1200" baseline="0" dirty="0" smtClean="0">
                <a:solidFill>
                  <a:schemeClr val="tx1"/>
                </a:solidFill>
                <a:effectLst/>
                <a:latin typeface="+mn-lt"/>
                <a:ea typeface="+mn-ea"/>
                <a:cs typeface="+mn-cs"/>
              </a:rPr>
              <a:t>as “factually equivalent to a proposition which proposed its adequate stimulus.” </a:t>
            </a:r>
            <a:r>
              <a:rPr lang="en-US" sz="1200" b="0" i="0" kern="1200" baseline="0" dirty="0" smtClean="0">
                <a:solidFill>
                  <a:schemeClr val="tx1"/>
                </a:solidFill>
                <a:effectLst/>
                <a:latin typeface="+mn-lt"/>
                <a:ea typeface="+mn-ea"/>
                <a:cs typeface="+mn-cs"/>
              </a:rPr>
              <a:t>They showed, for example, </a:t>
            </a:r>
            <a:r>
              <a:rPr lang="en-US" sz="1200" b="1" i="0" kern="1200" baseline="0" dirty="0" smtClean="0">
                <a:solidFill>
                  <a:schemeClr val="tx1"/>
                </a:solidFill>
                <a:effectLst/>
                <a:latin typeface="+mn-lt"/>
                <a:ea typeface="+mn-ea"/>
                <a:cs typeface="+mn-cs"/>
              </a:rPr>
              <a:t>that any computable function could be computed by some network of connected neurons, and that all the logical connectives (and, or, not, etc.) could be implemented by simple net structures. </a:t>
            </a:r>
            <a:r>
              <a:rPr lang="en-US" sz="1200" b="0" i="0" kern="1200" baseline="0" dirty="0" smtClean="0">
                <a:solidFill>
                  <a:schemeClr val="tx1"/>
                </a:solidFill>
                <a:effectLst/>
                <a:latin typeface="+mn-lt"/>
                <a:ea typeface="+mn-ea"/>
                <a:cs typeface="+mn-cs"/>
              </a:rPr>
              <a:t>McCulloch and Pitts also suggested that </a:t>
            </a:r>
            <a:r>
              <a:rPr lang="en-US" sz="1200" b="1" i="0" kern="1200" baseline="0" dirty="0" smtClean="0">
                <a:solidFill>
                  <a:schemeClr val="tx1"/>
                </a:solidFill>
                <a:effectLst/>
                <a:latin typeface="+mn-lt"/>
                <a:ea typeface="+mn-ea"/>
                <a:cs typeface="+mn-cs"/>
              </a:rPr>
              <a:t>suitably defined networks could learn. </a:t>
            </a:r>
            <a:r>
              <a:rPr lang="en-US" sz="1200" b="0" i="0" kern="1200" baseline="0" dirty="0" smtClean="0">
                <a:solidFill>
                  <a:schemeClr val="tx1"/>
                </a:solidFill>
                <a:effectLst/>
                <a:latin typeface="+mn-lt"/>
                <a:ea typeface="+mn-ea"/>
                <a:cs typeface="+mn-cs"/>
              </a:rPr>
              <a:t>Donald Hebb (1949) </a:t>
            </a:r>
            <a:r>
              <a:rPr lang="en-US" sz="1200" b="1" i="0" kern="1200" baseline="0" dirty="0" smtClean="0">
                <a:solidFill>
                  <a:schemeClr val="tx1"/>
                </a:solidFill>
                <a:effectLst/>
                <a:latin typeface="+mn-lt"/>
                <a:ea typeface="+mn-ea"/>
                <a:cs typeface="+mn-cs"/>
              </a:rPr>
              <a:t>demonstrated a simple updating rule for modifying the connection strengths between neurons</a:t>
            </a:r>
            <a:r>
              <a:rPr lang="en-US" sz="1200" b="0" i="0" kern="1200" baseline="0" dirty="0" smtClean="0">
                <a:solidFill>
                  <a:schemeClr val="tx1"/>
                </a:solidFill>
                <a:effectLst/>
                <a:latin typeface="+mn-lt"/>
                <a:ea typeface="+mn-ea"/>
                <a:cs typeface="+mn-cs"/>
              </a:rPr>
              <a:t>. His rule, now called </a:t>
            </a:r>
            <a:r>
              <a:rPr lang="en-US" sz="1200" b="0" i="0" kern="1200" baseline="0" dirty="0" err="1" smtClean="0">
                <a:solidFill>
                  <a:schemeClr val="tx1"/>
                </a:solidFill>
                <a:effectLst/>
                <a:latin typeface="+mn-lt"/>
                <a:ea typeface="+mn-ea"/>
                <a:cs typeface="+mn-cs"/>
              </a:rPr>
              <a:t>Hebbian</a:t>
            </a:r>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HEBBIAN LEARNING </a:t>
            </a:r>
            <a:r>
              <a:rPr lang="en-US" sz="1200" b="0" i="0" kern="1200" baseline="0" dirty="0" err="1" smtClean="0">
                <a:solidFill>
                  <a:schemeClr val="tx1"/>
                </a:solidFill>
                <a:effectLst/>
                <a:latin typeface="+mn-lt"/>
                <a:ea typeface="+mn-ea"/>
                <a:cs typeface="+mn-cs"/>
              </a:rPr>
              <a:t>learning</a:t>
            </a:r>
            <a:r>
              <a:rPr lang="en-US" sz="1200" b="0" i="0" kern="1200" baseline="0" dirty="0" smtClean="0">
                <a:solidFill>
                  <a:schemeClr val="tx1"/>
                </a:solidFill>
                <a:effectLst/>
                <a:latin typeface="+mn-lt"/>
                <a:ea typeface="+mn-ea"/>
                <a:cs typeface="+mn-cs"/>
              </a:rPr>
              <a:t>, remains an influential model to this day.</a:t>
            </a:r>
          </a:p>
          <a:p>
            <a:endParaRPr lang="en-US" sz="1200" b="1"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Turing's test</a:t>
            </a:r>
          </a:p>
          <a:p>
            <a:r>
              <a:rPr lang="en-US" sz="1200" b="0" i="1" kern="1200" dirty="0" smtClean="0">
                <a:solidFill>
                  <a:schemeClr val="tx1"/>
                </a:solidFill>
                <a:effectLst/>
                <a:latin typeface="+mn-lt"/>
                <a:ea typeface="+mn-ea"/>
                <a:cs typeface="+mn-cs"/>
              </a:rPr>
              <a:t>In 1950 </a:t>
            </a:r>
            <a:r>
              <a:rPr lang="en-US" sz="1200" b="0" i="1" u="none" strike="noStrike" kern="1200" dirty="0" smtClean="0">
                <a:solidFill>
                  <a:schemeClr val="tx1"/>
                </a:solidFill>
                <a:effectLst/>
                <a:latin typeface="+mn-lt"/>
                <a:ea typeface="+mn-ea"/>
                <a:cs typeface="+mn-cs"/>
                <a:hlinkClick r:id="rId3" tooltip="Alan Turing"/>
              </a:rPr>
              <a:t>Alan Turing</a:t>
            </a:r>
            <a:r>
              <a:rPr lang="en-US" sz="1200" b="0" i="1" kern="1200" dirty="0" smtClean="0">
                <a:solidFill>
                  <a:schemeClr val="tx1"/>
                </a:solidFill>
                <a:effectLst/>
                <a:latin typeface="+mn-lt"/>
                <a:ea typeface="+mn-ea"/>
                <a:cs typeface="+mn-cs"/>
              </a:rPr>
              <a:t> published a </a:t>
            </a:r>
            <a:r>
              <a:rPr lang="en-US" sz="1200" b="0" i="1" u="none" strike="noStrike" kern="1200" dirty="0" smtClean="0">
                <a:solidFill>
                  <a:schemeClr val="tx1"/>
                </a:solidFill>
                <a:effectLst/>
                <a:latin typeface="+mn-lt"/>
                <a:ea typeface="+mn-ea"/>
                <a:cs typeface="+mn-cs"/>
                <a:hlinkClick r:id="rId4" tooltip="Computing machinery and intelligence"/>
              </a:rPr>
              <a:t>landmark paper</a:t>
            </a:r>
            <a:r>
              <a:rPr lang="en-US" sz="1200" b="0" i="1" kern="1200" dirty="0" smtClean="0">
                <a:solidFill>
                  <a:schemeClr val="tx1"/>
                </a:solidFill>
                <a:effectLst/>
                <a:latin typeface="+mn-lt"/>
                <a:ea typeface="+mn-ea"/>
                <a:cs typeface="+mn-cs"/>
              </a:rPr>
              <a:t> in which he speculated about the possibility of creating machines that think</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5"/>
              </a:rPr>
              <a:t>[29]</a:t>
            </a:r>
            <a:r>
              <a:rPr lang="en-US" sz="1200" b="0" i="0" kern="1200" dirty="0" smtClean="0">
                <a:solidFill>
                  <a:schemeClr val="tx1"/>
                </a:solidFill>
                <a:effectLst/>
                <a:latin typeface="+mn-lt"/>
                <a:ea typeface="+mn-ea"/>
                <a:cs typeface="+mn-cs"/>
              </a:rPr>
              <a:t> </a:t>
            </a:r>
            <a:r>
              <a:rPr lang="en-US" sz="1200" b="1" i="1" kern="1200" dirty="0" smtClean="0">
                <a:solidFill>
                  <a:srgbClr val="FF0000"/>
                </a:solidFill>
                <a:effectLst/>
                <a:latin typeface="+mn-lt"/>
                <a:ea typeface="+mn-ea"/>
                <a:cs typeface="+mn-cs"/>
              </a:rPr>
              <a:t>Alan </a:t>
            </a:r>
            <a:r>
              <a:rPr lang="en-US" sz="1200" b="1" i="1" kern="1200" dirty="0" err="1" smtClean="0">
                <a:solidFill>
                  <a:srgbClr val="FF0000"/>
                </a:solidFill>
                <a:effectLst/>
                <a:latin typeface="+mn-lt"/>
                <a:ea typeface="+mn-ea"/>
                <a:cs typeface="+mn-cs"/>
              </a:rPr>
              <a:t>Mathison</a:t>
            </a:r>
            <a:r>
              <a:rPr lang="en-US" sz="1200" b="1" i="1" kern="1200" dirty="0" smtClean="0">
                <a:solidFill>
                  <a:srgbClr val="FF0000"/>
                </a:solidFill>
                <a:effectLst/>
                <a:latin typeface="+mn-lt"/>
                <a:ea typeface="+mn-ea"/>
                <a:cs typeface="+mn-cs"/>
              </a:rPr>
              <a:t> Turing</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6" tooltip="Officer of the Order of the British Empire"/>
              </a:rPr>
              <a:t>OBE</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7" tooltip="Fellow of the Royal Society"/>
              </a:rPr>
              <a:t>FRS</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8" tooltip="Help:IPA/English"/>
              </a:rPr>
              <a:t>/ˈ</a:t>
            </a:r>
            <a:r>
              <a:rPr lang="en-US" sz="1200" b="0" i="1" u="none" strike="noStrike" kern="1200" dirty="0" err="1" smtClean="0">
                <a:solidFill>
                  <a:srgbClr val="FF0000"/>
                </a:solidFill>
                <a:effectLst/>
                <a:latin typeface="+mn-lt"/>
                <a:ea typeface="+mn-ea"/>
                <a:cs typeface="+mn-cs"/>
                <a:hlinkClick r:id="rId8" tooltip="Help:IPA/English"/>
              </a:rPr>
              <a:t>tjʊərɪŋ</a:t>
            </a:r>
            <a:r>
              <a:rPr lang="en-US" sz="1200" b="0" i="1" u="none" strike="noStrike" kern="1200" dirty="0" smtClean="0">
                <a:solidFill>
                  <a:srgbClr val="FF0000"/>
                </a:solidFill>
                <a:effectLst/>
                <a:latin typeface="+mn-lt"/>
                <a:ea typeface="+mn-ea"/>
                <a:cs typeface="+mn-cs"/>
                <a:hlinkClick r:id="rId8" tooltip="Help:IPA/English"/>
              </a:rPr>
              <a:t>/</a:t>
            </a:r>
            <a:r>
              <a:rPr lang="en-US" sz="1200" b="0" i="1" kern="1200" dirty="0" smtClean="0">
                <a:solidFill>
                  <a:srgbClr val="FF0000"/>
                </a:solidFill>
                <a:effectLst/>
                <a:latin typeface="+mn-lt"/>
                <a:ea typeface="+mn-ea"/>
                <a:cs typeface="+mn-cs"/>
              </a:rPr>
              <a:t>; 23 June 1912 – 7 June 1954) was an English</a:t>
            </a:r>
            <a:r>
              <a:rPr lang="en-US" sz="1200" b="0" i="1" u="none" strike="noStrike" kern="1200" baseline="30000" dirty="0" smtClean="0">
                <a:solidFill>
                  <a:srgbClr val="FF0000"/>
                </a:solidFill>
                <a:effectLst/>
                <a:latin typeface="+mn-lt"/>
                <a:ea typeface="+mn-ea"/>
                <a:cs typeface="+mn-cs"/>
                <a:hlinkClick r:id="rId9"/>
              </a:rPr>
              <a:t>[6]</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10" tooltip="Mathematician"/>
              </a:rPr>
              <a:t>mathematician</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11" tooltip="Computer scientist"/>
              </a:rPr>
              <a:t>computer scientist</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12" tooltip="Logic"/>
              </a:rPr>
              <a:t>logician</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13" tooltip="Cryptanalysis"/>
              </a:rPr>
              <a:t>cryptanalyst</a:t>
            </a:r>
            <a:r>
              <a:rPr lang="en-US" sz="1200" b="0" i="1" kern="1200" dirty="0" smtClean="0">
                <a:solidFill>
                  <a:srgbClr val="FF0000"/>
                </a:solidFill>
                <a:effectLst/>
                <a:latin typeface="+mn-lt"/>
                <a:ea typeface="+mn-ea"/>
                <a:cs typeface="+mn-cs"/>
              </a:rPr>
              <a:t>, </a:t>
            </a:r>
            <a:r>
              <a:rPr lang="en-US" sz="1200" b="0" i="1" u="none" strike="noStrike" kern="1200" dirty="0" smtClean="0">
                <a:solidFill>
                  <a:srgbClr val="FF0000"/>
                </a:solidFill>
                <a:effectLst/>
                <a:latin typeface="+mn-lt"/>
                <a:ea typeface="+mn-ea"/>
                <a:cs typeface="+mn-cs"/>
                <a:hlinkClick r:id="rId14" tooltip="Philosopher"/>
              </a:rPr>
              <a:t>philosopher</a:t>
            </a:r>
            <a:r>
              <a:rPr lang="en-US" sz="1200" b="0" i="1" kern="1200" dirty="0" smtClean="0">
                <a:solidFill>
                  <a:srgbClr val="FF0000"/>
                </a:solidFill>
                <a:effectLst/>
                <a:latin typeface="+mn-lt"/>
                <a:ea typeface="+mn-ea"/>
                <a:cs typeface="+mn-cs"/>
              </a:rPr>
              <a:t>, and </a:t>
            </a:r>
            <a:r>
              <a:rPr lang="en-US" sz="1200" b="0" i="1" u="none" strike="noStrike" kern="1200" dirty="0" smtClean="0">
                <a:solidFill>
                  <a:srgbClr val="FF0000"/>
                </a:solidFill>
                <a:effectLst/>
                <a:latin typeface="+mn-lt"/>
                <a:ea typeface="+mn-ea"/>
                <a:cs typeface="+mn-cs"/>
                <a:hlinkClick r:id="rId15" tooltip="Mathematical and theoretical biology"/>
              </a:rPr>
              <a:t>theoretical biologist</a:t>
            </a:r>
            <a:r>
              <a:rPr lang="en-US" sz="1200" b="0" i="1" kern="1200" dirty="0" smtClean="0">
                <a:solidFill>
                  <a:srgbClr val="FF0000"/>
                </a:solidFill>
                <a:effectLst/>
                <a:latin typeface="+mn-lt"/>
                <a:ea typeface="+mn-ea"/>
                <a:cs typeface="+mn-cs"/>
              </a:rPr>
              <a:t>.</a:t>
            </a:r>
            <a:r>
              <a:rPr lang="en-US" sz="1200" b="0" i="1" u="none" strike="noStrike" kern="1200" baseline="30000" dirty="0" smtClean="0">
                <a:solidFill>
                  <a:srgbClr val="FF0000"/>
                </a:solidFill>
                <a:effectLst/>
                <a:latin typeface="+mn-lt"/>
                <a:ea typeface="+mn-ea"/>
                <a:cs typeface="+mn-cs"/>
                <a:hlinkClick r:id="rId16"/>
              </a:rPr>
              <a:t>[7]</a:t>
            </a:r>
            <a:r>
              <a:rPr lang="en-US" sz="1200" b="0" i="1" kern="1200" dirty="0" smtClean="0">
                <a:solidFill>
                  <a:srgbClr val="FF0000"/>
                </a:solidFill>
                <a:effectLst/>
                <a:latin typeface="+mn-lt"/>
                <a:ea typeface="+mn-ea"/>
                <a:cs typeface="+mn-cs"/>
              </a:rPr>
              <a:t> Turing was highly influential in the development of </a:t>
            </a:r>
            <a:r>
              <a:rPr lang="en-US" sz="1200" b="0" i="1" u="none" strike="noStrike" kern="1200" dirty="0" smtClean="0">
                <a:solidFill>
                  <a:srgbClr val="FF0000"/>
                </a:solidFill>
                <a:effectLst/>
                <a:latin typeface="+mn-lt"/>
                <a:ea typeface="+mn-ea"/>
                <a:cs typeface="+mn-cs"/>
                <a:hlinkClick r:id="rId17" tooltip="Theoretical computer science"/>
              </a:rPr>
              <a:t>theoretical computer science</a:t>
            </a:r>
            <a:r>
              <a:rPr lang="en-US" sz="1200" b="0" i="1" kern="1200" dirty="0" smtClean="0">
                <a:solidFill>
                  <a:srgbClr val="FF0000"/>
                </a:solidFill>
                <a:effectLst/>
                <a:latin typeface="+mn-lt"/>
                <a:ea typeface="+mn-ea"/>
                <a:cs typeface="+mn-cs"/>
              </a:rPr>
              <a:t>, providing a </a:t>
            </a:r>
            <a:r>
              <a:rPr lang="en-US" sz="1200" b="0" i="1" kern="1200" dirty="0" err="1" smtClean="0">
                <a:solidFill>
                  <a:srgbClr val="FF0000"/>
                </a:solidFill>
                <a:effectLst/>
                <a:latin typeface="+mn-lt"/>
                <a:ea typeface="+mn-ea"/>
                <a:cs typeface="+mn-cs"/>
              </a:rPr>
              <a:t>formalisation</a:t>
            </a:r>
            <a:r>
              <a:rPr lang="en-US" sz="1200" b="0" i="1" kern="1200" dirty="0" smtClean="0">
                <a:solidFill>
                  <a:srgbClr val="FF0000"/>
                </a:solidFill>
                <a:effectLst/>
                <a:latin typeface="+mn-lt"/>
                <a:ea typeface="+mn-ea"/>
                <a:cs typeface="+mn-cs"/>
              </a:rPr>
              <a:t> of the concepts of </a:t>
            </a:r>
            <a:r>
              <a:rPr lang="en-US" sz="1200" b="0" i="1" u="none" strike="noStrike" kern="1200" dirty="0" smtClean="0">
                <a:solidFill>
                  <a:srgbClr val="FF0000"/>
                </a:solidFill>
                <a:effectLst/>
                <a:latin typeface="+mn-lt"/>
                <a:ea typeface="+mn-ea"/>
                <a:cs typeface="+mn-cs"/>
                <a:hlinkClick r:id="rId18" tooltip="Algorithm"/>
              </a:rPr>
              <a:t>algorithm</a:t>
            </a:r>
            <a:r>
              <a:rPr lang="en-US" sz="1200" b="0" i="1" kern="1200" dirty="0" smtClean="0">
                <a:solidFill>
                  <a:srgbClr val="FF0000"/>
                </a:solidFill>
                <a:effectLst/>
                <a:latin typeface="+mn-lt"/>
                <a:ea typeface="+mn-ea"/>
                <a:cs typeface="+mn-cs"/>
              </a:rPr>
              <a:t> and </a:t>
            </a:r>
            <a:r>
              <a:rPr lang="en-US" sz="1200" b="0" i="1" u="none" strike="noStrike" kern="1200" dirty="0" smtClean="0">
                <a:solidFill>
                  <a:srgbClr val="FF0000"/>
                </a:solidFill>
                <a:effectLst/>
                <a:latin typeface="+mn-lt"/>
                <a:ea typeface="+mn-ea"/>
                <a:cs typeface="+mn-cs"/>
                <a:hlinkClick r:id="rId19" tooltip="Computation"/>
              </a:rPr>
              <a:t>computation</a:t>
            </a:r>
            <a:r>
              <a:rPr lang="en-US" sz="1200" b="0" i="1" kern="1200" dirty="0" smtClean="0">
                <a:solidFill>
                  <a:srgbClr val="FF0000"/>
                </a:solidFill>
                <a:effectLst/>
                <a:latin typeface="+mn-lt"/>
                <a:ea typeface="+mn-ea"/>
                <a:cs typeface="+mn-cs"/>
              </a:rPr>
              <a:t> with the </a:t>
            </a:r>
            <a:r>
              <a:rPr lang="en-US" sz="1200" b="0" i="1" u="none" strike="noStrike" kern="1200" dirty="0" smtClean="0">
                <a:solidFill>
                  <a:srgbClr val="FF0000"/>
                </a:solidFill>
                <a:effectLst/>
                <a:latin typeface="+mn-lt"/>
                <a:ea typeface="+mn-ea"/>
                <a:cs typeface="+mn-cs"/>
                <a:hlinkClick r:id="rId20" tooltip="Turing machine"/>
              </a:rPr>
              <a:t>Turing machine</a:t>
            </a:r>
            <a:r>
              <a:rPr lang="en-US" sz="1200" b="0" i="1" kern="1200" dirty="0" smtClean="0">
                <a:solidFill>
                  <a:srgbClr val="FF0000"/>
                </a:solidFill>
                <a:effectLst/>
                <a:latin typeface="+mn-lt"/>
                <a:ea typeface="+mn-ea"/>
                <a:cs typeface="+mn-cs"/>
              </a:rPr>
              <a:t>, which can be considered a model of a </a:t>
            </a:r>
            <a:r>
              <a:rPr lang="en-US" sz="1200" b="0" i="1" u="none" strike="noStrike" kern="1200" dirty="0" smtClean="0">
                <a:solidFill>
                  <a:srgbClr val="FF0000"/>
                </a:solidFill>
                <a:effectLst/>
                <a:latin typeface="+mn-lt"/>
                <a:ea typeface="+mn-ea"/>
                <a:cs typeface="+mn-cs"/>
                <a:hlinkClick r:id="rId21" tooltip="General-purpose computer"/>
              </a:rPr>
              <a:t>general-purpose computer</a:t>
            </a:r>
            <a:r>
              <a:rPr lang="en-US" sz="1200" b="0" i="1" kern="1200" dirty="0" smtClean="0">
                <a:solidFill>
                  <a:srgbClr val="FF0000"/>
                </a:solidFill>
                <a:effectLst/>
                <a:latin typeface="+mn-lt"/>
                <a:ea typeface="+mn-ea"/>
                <a:cs typeface="+mn-cs"/>
              </a:rPr>
              <a:t>.</a:t>
            </a:r>
            <a:r>
              <a:rPr lang="en-US" sz="1200" b="0" i="1" u="none" strike="noStrike" kern="1200" baseline="30000" dirty="0" smtClean="0">
                <a:solidFill>
                  <a:srgbClr val="FF0000"/>
                </a:solidFill>
                <a:effectLst/>
                <a:latin typeface="+mn-lt"/>
                <a:ea typeface="+mn-ea"/>
                <a:cs typeface="+mn-cs"/>
                <a:hlinkClick r:id="rId22"/>
              </a:rPr>
              <a:t>[8]</a:t>
            </a:r>
            <a:r>
              <a:rPr lang="en-US" sz="1200" b="0" i="1" u="none" strike="noStrike" kern="1200" baseline="30000" dirty="0" smtClean="0">
                <a:solidFill>
                  <a:srgbClr val="FF0000"/>
                </a:solidFill>
                <a:effectLst/>
                <a:latin typeface="+mn-lt"/>
                <a:ea typeface="+mn-ea"/>
                <a:cs typeface="+mn-cs"/>
                <a:hlinkClick r:id="rId23"/>
              </a:rPr>
              <a:t>[9]</a:t>
            </a:r>
            <a:r>
              <a:rPr lang="en-US" sz="1200" b="0" i="1" u="none" strike="noStrike" kern="1200" baseline="30000" dirty="0" smtClean="0">
                <a:solidFill>
                  <a:srgbClr val="FF0000"/>
                </a:solidFill>
                <a:effectLst/>
                <a:latin typeface="+mn-lt"/>
                <a:ea typeface="+mn-ea"/>
                <a:cs typeface="+mn-cs"/>
                <a:hlinkClick r:id="rId24"/>
              </a:rPr>
              <a:t>[10]</a:t>
            </a:r>
            <a:r>
              <a:rPr lang="en-US" sz="1200" b="0" i="1" kern="1200" dirty="0" smtClean="0">
                <a:solidFill>
                  <a:srgbClr val="FF0000"/>
                </a:solidFill>
                <a:effectLst/>
                <a:latin typeface="+mn-lt"/>
                <a:ea typeface="+mn-ea"/>
                <a:cs typeface="+mn-cs"/>
              </a:rPr>
              <a:t> Turing is widely considered to be the father of theoretical computer science and </a:t>
            </a:r>
            <a:r>
              <a:rPr lang="en-US" sz="1200" b="0" i="1" u="none" strike="noStrike" kern="1200" dirty="0" smtClean="0">
                <a:solidFill>
                  <a:srgbClr val="FF0000"/>
                </a:solidFill>
                <a:effectLst/>
                <a:latin typeface="+mn-lt"/>
                <a:ea typeface="+mn-ea"/>
                <a:cs typeface="+mn-cs"/>
                <a:hlinkClick r:id="rId25" tooltip="Artificial intelligence"/>
              </a:rPr>
              <a:t>artificial intelligence</a:t>
            </a:r>
            <a:r>
              <a:rPr lang="en-US" sz="1200" b="0" i="1" kern="1200" dirty="0" smtClean="0">
                <a:solidFill>
                  <a:srgbClr val="FF0000"/>
                </a:solidFill>
                <a:effectLst/>
                <a:latin typeface="+mn-lt"/>
                <a:ea typeface="+mn-ea"/>
                <a:cs typeface="+mn-cs"/>
              </a:rPr>
              <a:t>.</a:t>
            </a:r>
            <a:r>
              <a:rPr lang="en-US" sz="1200" b="0" i="1" u="none" strike="noStrike" kern="1200" baseline="30000" dirty="0" smtClean="0">
                <a:solidFill>
                  <a:srgbClr val="FF0000"/>
                </a:solidFill>
                <a:effectLst/>
                <a:latin typeface="+mn-lt"/>
                <a:ea typeface="+mn-ea"/>
                <a:cs typeface="+mn-cs"/>
                <a:hlinkClick r:id="rId26"/>
              </a:rPr>
              <a:t>[11]</a:t>
            </a:r>
            <a:r>
              <a:rPr lang="en-US" sz="1200" b="0" i="1" kern="1200" dirty="0" smtClean="0">
                <a:solidFill>
                  <a:srgbClr val="FF0000"/>
                </a:solidFill>
                <a:effectLst/>
                <a:latin typeface="+mn-lt"/>
                <a:ea typeface="+mn-ea"/>
                <a:cs typeface="+mn-cs"/>
              </a:rPr>
              <a:t> Despite these accomplishments, he was not fully </a:t>
            </a:r>
            <a:r>
              <a:rPr lang="en-US" sz="1200" b="0" i="1" kern="1200" dirty="0" err="1" smtClean="0">
                <a:solidFill>
                  <a:srgbClr val="FF0000"/>
                </a:solidFill>
                <a:effectLst/>
                <a:latin typeface="+mn-lt"/>
                <a:ea typeface="+mn-ea"/>
                <a:cs typeface="+mn-cs"/>
              </a:rPr>
              <a:t>recognised</a:t>
            </a:r>
            <a:r>
              <a:rPr lang="en-US" sz="1200" b="0" i="1" kern="1200" dirty="0" smtClean="0">
                <a:solidFill>
                  <a:srgbClr val="FF0000"/>
                </a:solidFill>
                <a:effectLst/>
                <a:latin typeface="+mn-lt"/>
                <a:ea typeface="+mn-ea"/>
                <a:cs typeface="+mn-cs"/>
              </a:rPr>
              <a:t> in his home country during his lifetime, due to his </a:t>
            </a:r>
            <a:r>
              <a:rPr lang="en-US" sz="1200" b="0" i="1" u="none" strike="noStrike" kern="1200" dirty="0" smtClean="0">
                <a:solidFill>
                  <a:srgbClr val="FF0000"/>
                </a:solidFill>
                <a:effectLst/>
                <a:latin typeface="+mn-lt"/>
                <a:ea typeface="+mn-ea"/>
                <a:cs typeface="+mn-cs"/>
                <a:hlinkClick r:id="rId27" tooltip="Homosexuality"/>
              </a:rPr>
              <a:t>homosexuality</a:t>
            </a:r>
            <a:r>
              <a:rPr lang="en-US" sz="1200" b="0" i="1" kern="1200" dirty="0" smtClean="0">
                <a:solidFill>
                  <a:srgbClr val="FF0000"/>
                </a:solidFill>
                <a:effectLst/>
                <a:latin typeface="+mn-lt"/>
                <a:ea typeface="+mn-ea"/>
                <a:cs typeface="+mn-cs"/>
              </a:rPr>
              <a:t>, and because much of his work was covered by the </a:t>
            </a:r>
            <a:r>
              <a:rPr lang="en-US" sz="1200" b="0" i="1" u="none" strike="noStrike" kern="1200" dirty="0" smtClean="0">
                <a:solidFill>
                  <a:srgbClr val="FF0000"/>
                </a:solidFill>
                <a:effectLst/>
                <a:latin typeface="+mn-lt"/>
                <a:ea typeface="+mn-ea"/>
                <a:cs typeface="+mn-cs"/>
                <a:hlinkClick r:id="rId28" tooltip="Official Secrets Act"/>
              </a:rPr>
              <a:t>Official Secrets Act</a:t>
            </a:r>
            <a:r>
              <a:rPr lang="en-US" sz="1200" b="0" i="1" kern="1200" dirty="0" smtClean="0">
                <a:solidFill>
                  <a:srgbClr val="FF0000"/>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He noted that "thinking" is difficult to define and devised his famous </a:t>
            </a:r>
            <a:r>
              <a:rPr lang="en-US" sz="1200" b="0" i="0" u="none" strike="noStrike" kern="1200" dirty="0" smtClean="0">
                <a:solidFill>
                  <a:schemeClr val="tx1"/>
                </a:solidFill>
                <a:effectLst/>
                <a:latin typeface="+mn-lt"/>
                <a:ea typeface="+mn-ea"/>
                <a:cs typeface="+mn-cs"/>
                <a:hlinkClick r:id="rId29" tooltip="Turing Test"/>
              </a:rPr>
              <a:t>Turing Test</a:t>
            </a:r>
            <a:r>
              <a:rPr lang="en-US" sz="1200" b="0" i="0" kern="1200" dirty="0" smtClean="0">
                <a:solidFill>
                  <a:schemeClr val="tx1"/>
                </a:solidFill>
                <a:effectLst/>
                <a:latin typeface="+mn-lt"/>
                <a:ea typeface="+mn-ea"/>
                <a:cs typeface="+mn-cs"/>
              </a:rPr>
              <a:t>. If a machine could carry on a conversation (over a </a:t>
            </a:r>
            <a:r>
              <a:rPr lang="en-US" sz="1200" b="0" i="0" u="none" strike="noStrike" kern="1200" dirty="0" err="1" smtClean="0">
                <a:solidFill>
                  <a:schemeClr val="tx1"/>
                </a:solidFill>
                <a:effectLst/>
                <a:latin typeface="+mn-lt"/>
                <a:ea typeface="+mn-ea"/>
                <a:cs typeface="+mn-cs"/>
                <a:hlinkClick r:id="rId30" tooltip="Teleprinter"/>
              </a:rPr>
              <a:t>teleprinter</a:t>
            </a:r>
            <a:r>
              <a:rPr lang="en-US" sz="1200" b="0" i="0" kern="1200" dirty="0" smtClean="0">
                <a:solidFill>
                  <a:schemeClr val="tx1"/>
                </a:solidFill>
                <a:effectLst/>
                <a:latin typeface="+mn-lt"/>
                <a:ea typeface="+mn-ea"/>
                <a:cs typeface="+mn-cs"/>
              </a:rPr>
              <a:t>) that was indistinguishable from a conversation with a human being, then it was reasonable to say that the machine was "thinking". This simplified version of the problem allowed Turing to argue convincingly that a "thinking machine" was at least </a:t>
            </a:r>
            <a:r>
              <a:rPr lang="en-US" sz="1200" b="0" i="1" kern="1200" dirty="0" smtClean="0">
                <a:solidFill>
                  <a:schemeClr val="tx1"/>
                </a:solidFill>
                <a:effectLst/>
                <a:latin typeface="+mn-lt"/>
                <a:ea typeface="+mn-ea"/>
                <a:cs typeface="+mn-cs"/>
              </a:rPr>
              <a:t>plausible</a:t>
            </a:r>
            <a:r>
              <a:rPr lang="en-US" sz="1200" b="0" i="0" kern="1200" dirty="0" smtClean="0">
                <a:solidFill>
                  <a:schemeClr val="tx1"/>
                </a:solidFill>
                <a:effectLst/>
                <a:latin typeface="+mn-lt"/>
                <a:ea typeface="+mn-ea"/>
                <a:cs typeface="+mn-cs"/>
              </a:rPr>
              <a:t> and the paper answered all the most common objections to the proposition.</a:t>
            </a:r>
            <a:r>
              <a:rPr lang="en-US" sz="1200" b="0" i="0" u="none" strike="noStrike" kern="1200" baseline="30000" dirty="0" smtClean="0">
                <a:solidFill>
                  <a:schemeClr val="tx1"/>
                </a:solidFill>
                <a:effectLst/>
                <a:latin typeface="+mn-lt"/>
                <a:ea typeface="+mn-ea"/>
                <a:cs typeface="+mn-cs"/>
                <a:hlinkClick r:id="rId31"/>
              </a:rPr>
              <a:t>[30]</a:t>
            </a:r>
            <a:r>
              <a:rPr lang="en-US" sz="1200" b="0" i="0" kern="1200" dirty="0" smtClean="0">
                <a:solidFill>
                  <a:schemeClr val="tx1"/>
                </a:solidFill>
                <a:effectLst/>
                <a:latin typeface="+mn-lt"/>
                <a:ea typeface="+mn-ea"/>
                <a:cs typeface="+mn-cs"/>
              </a:rPr>
              <a:t> The </a:t>
            </a:r>
            <a:r>
              <a:rPr lang="en-US" sz="1200" b="0" i="0" u="none" strike="noStrike" kern="1200" dirty="0" smtClean="0">
                <a:solidFill>
                  <a:schemeClr val="tx1"/>
                </a:solidFill>
                <a:effectLst/>
                <a:latin typeface="+mn-lt"/>
                <a:ea typeface="+mn-ea"/>
                <a:cs typeface="+mn-cs"/>
                <a:hlinkClick r:id="rId29" tooltip="Turing Test"/>
              </a:rPr>
              <a:t>Turing Test</a:t>
            </a:r>
            <a:r>
              <a:rPr lang="en-US" sz="1200" b="0" i="0" kern="1200" dirty="0" smtClean="0">
                <a:solidFill>
                  <a:schemeClr val="tx1"/>
                </a:solidFill>
                <a:effectLst/>
                <a:latin typeface="+mn-lt"/>
                <a:ea typeface="+mn-ea"/>
                <a:cs typeface="+mn-cs"/>
              </a:rPr>
              <a:t> was the first serious proposal in the </a:t>
            </a:r>
            <a:r>
              <a:rPr lang="en-US" sz="1200" b="0" i="0" u="none" strike="noStrike" kern="1200" dirty="0" smtClean="0">
                <a:solidFill>
                  <a:schemeClr val="tx1"/>
                </a:solidFill>
                <a:effectLst/>
                <a:latin typeface="+mn-lt"/>
                <a:ea typeface="+mn-ea"/>
                <a:cs typeface="+mn-cs"/>
                <a:hlinkClick r:id="rId32" tooltip="Philosophy of artificial intelligence"/>
              </a:rPr>
              <a:t>philosophy of artificial intelligence</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Game AI</a:t>
            </a:r>
            <a:r>
              <a:rPr lang="en-US" sz="1200" b="0" i="0" kern="1200" dirty="0" smtClean="0">
                <a:solidFill>
                  <a:schemeClr val="tx1"/>
                </a:solidFill>
                <a:effectLst/>
                <a:latin typeface="+mn-lt"/>
                <a:ea typeface="+mn-ea"/>
                <a:cs typeface="+mn-cs"/>
              </a:rPr>
              <a:t>[</a:t>
            </a:r>
            <a:r>
              <a:rPr lang="en-US" sz="1200" b="0" i="0" u="none" strike="noStrike" kern="1200" dirty="0" smtClean="0">
                <a:solidFill>
                  <a:schemeClr val="tx1"/>
                </a:solidFill>
                <a:effectLst/>
                <a:latin typeface="+mn-lt"/>
                <a:ea typeface="+mn-ea"/>
                <a:cs typeface="+mn-cs"/>
                <a:hlinkClick r:id="rId33" tooltip="Edit section: Game AI"/>
              </a:rPr>
              <a:t>edit</a:t>
            </a:r>
            <a:r>
              <a:rPr lang="en-US" sz="1200" b="0" i="0" kern="1200" dirty="0" smtClean="0">
                <a:solidFill>
                  <a:schemeClr val="tx1"/>
                </a:solidFill>
                <a:effectLst/>
                <a:latin typeface="+mn-lt"/>
                <a:ea typeface="+mn-ea"/>
                <a:cs typeface="+mn-cs"/>
              </a:rPr>
              <a: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 1951, using the </a:t>
            </a:r>
            <a:r>
              <a:rPr lang="en-US" sz="1200" b="0" i="0" u="none" strike="noStrike" kern="1200" dirty="0" smtClean="0">
                <a:solidFill>
                  <a:schemeClr val="tx1"/>
                </a:solidFill>
                <a:effectLst/>
                <a:latin typeface="+mn-lt"/>
                <a:ea typeface="+mn-ea"/>
                <a:cs typeface="+mn-cs"/>
                <a:hlinkClick r:id="rId34" tooltip="Ferranti Mark 1"/>
              </a:rPr>
              <a:t>Ferranti Mark 1</a:t>
            </a:r>
            <a:r>
              <a:rPr lang="en-US" sz="1200" b="0" i="0" kern="1200" dirty="0" smtClean="0">
                <a:solidFill>
                  <a:schemeClr val="tx1"/>
                </a:solidFill>
                <a:effectLst/>
                <a:latin typeface="+mn-lt"/>
                <a:ea typeface="+mn-ea"/>
                <a:cs typeface="+mn-cs"/>
              </a:rPr>
              <a:t> machine of the </a:t>
            </a:r>
            <a:r>
              <a:rPr lang="en-US" sz="1200" b="0" i="0" u="none" strike="noStrike" kern="1200" dirty="0" smtClean="0">
                <a:solidFill>
                  <a:schemeClr val="tx1"/>
                </a:solidFill>
                <a:effectLst/>
                <a:latin typeface="+mn-lt"/>
                <a:ea typeface="+mn-ea"/>
                <a:cs typeface="+mn-cs"/>
                <a:hlinkClick r:id="rId35" tooltip="University of Manchester"/>
              </a:rPr>
              <a:t>University of Manchester</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36" tooltip="Christopher Strachey"/>
              </a:rPr>
              <a:t>Christopher Strachey</a:t>
            </a:r>
            <a:r>
              <a:rPr lang="en-US" sz="1200" b="0" i="0" kern="1200" dirty="0" smtClean="0">
                <a:solidFill>
                  <a:schemeClr val="tx1"/>
                </a:solidFill>
                <a:effectLst/>
                <a:latin typeface="+mn-lt"/>
                <a:ea typeface="+mn-ea"/>
                <a:cs typeface="+mn-cs"/>
              </a:rPr>
              <a:t> wrote a checkers program and </a:t>
            </a:r>
            <a:r>
              <a:rPr lang="en-US" sz="1200" b="0" i="0" u="none" strike="noStrike" kern="1200" dirty="0" smtClean="0">
                <a:solidFill>
                  <a:schemeClr val="tx1"/>
                </a:solidFill>
                <a:effectLst/>
                <a:latin typeface="+mn-lt"/>
                <a:ea typeface="+mn-ea"/>
                <a:cs typeface="+mn-cs"/>
                <a:hlinkClick r:id="rId37" tooltip="Dietrich Prinz"/>
              </a:rPr>
              <a:t>Dietrich </a:t>
            </a:r>
            <a:r>
              <a:rPr lang="en-US" sz="1200" b="0" i="0" u="none" strike="noStrike" kern="1200" dirty="0" err="1" smtClean="0">
                <a:solidFill>
                  <a:schemeClr val="tx1"/>
                </a:solidFill>
                <a:effectLst/>
                <a:latin typeface="+mn-lt"/>
                <a:ea typeface="+mn-ea"/>
                <a:cs typeface="+mn-cs"/>
                <a:hlinkClick r:id="rId37" tooltip="Dietrich Prinz"/>
              </a:rPr>
              <a:t>Prinz</a:t>
            </a:r>
            <a:r>
              <a:rPr lang="en-US" sz="1200" b="0" i="0" kern="1200" dirty="0" smtClean="0">
                <a:solidFill>
                  <a:schemeClr val="tx1"/>
                </a:solidFill>
                <a:effectLst/>
                <a:latin typeface="+mn-lt"/>
                <a:ea typeface="+mn-ea"/>
                <a:cs typeface="+mn-cs"/>
              </a:rPr>
              <a:t> wrote one for chess.</a:t>
            </a:r>
            <a:r>
              <a:rPr lang="en-US" sz="1200" b="0" i="0" u="none" strike="noStrike" kern="1200" baseline="30000" dirty="0" smtClean="0">
                <a:solidFill>
                  <a:schemeClr val="tx1"/>
                </a:solidFill>
                <a:effectLst/>
                <a:latin typeface="+mn-lt"/>
                <a:ea typeface="+mn-ea"/>
                <a:cs typeface="+mn-cs"/>
                <a:hlinkClick r:id="rId38"/>
              </a:rPr>
              <a:t>[31]</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39" tooltip="Arthur Samuel"/>
              </a:rPr>
              <a:t>Arthur Samuel</a:t>
            </a:r>
            <a:r>
              <a:rPr lang="en-US" sz="1200" b="0" i="0" kern="1200" dirty="0" smtClean="0">
                <a:solidFill>
                  <a:schemeClr val="tx1"/>
                </a:solidFill>
                <a:effectLst/>
                <a:latin typeface="+mn-lt"/>
                <a:ea typeface="+mn-ea"/>
                <a:cs typeface="+mn-cs"/>
              </a:rPr>
              <a:t>'s checkers program, developed in the middle 50s and early 60s, eventually achieved sufficient skill to challenge a respectable amateur.</a:t>
            </a:r>
            <a:r>
              <a:rPr lang="en-US" sz="1200" b="0" i="0" u="none" strike="noStrike" kern="1200" baseline="30000" dirty="0" smtClean="0">
                <a:solidFill>
                  <a:schemeClr val="tx1"/>
                </a:solidFill>
                <a:effectLst/>
                <a:latin typeface="+mn-lt"/>
                <a:ea typeface="+mn-ea"/>
                <a:cs typeface="+mn-cs"/>
                <a:hlinkClick r:id="rId40"/>
              </a:rPr>
              <a:t>[32]</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41" tooltip="Game AI"/>
              </a:rPr>
              <a:t>Game AI</a:t>
            </a:r>
            <a:r>
              <a:rPr lang="en-US" sz="1200" b="0" i="0" kern="1200" dirty="0" smtClean="0">
                <a:solidFill>
                  <a:schemeClr val="tx1"/>
                </a:solidFill>
                <a:effectLst/>
                <a:latin typeface="+mn-lt"/>
                <a:ea typeface="+mn-ea"/>
                <a:cs typeface="+mn-cs"/>
              </a:rPr>
              <a:t> would continue to be used as a measure of progress in AI throughout its history.</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Symbolic reasoning and the Logic Theorist</a:t>
            </a:r>
            <a:r>
              <a:rPr lang="en-US" sz="1200" b="0" i="0" kern="1200" dirty="0" smtClean="0">
                <a:solidFill>
                  <a:schemeClr val="tx1"/>
                </a:solidFill>
                <a:effectLst/>
                <a:latin typeface="+mn-lt"/>
                <a:ea typeface="+mn-ea"/>
                <a:cs typeface="+mn-cs"/>
              </a:rPr>
              <a:t>[</a:t>
            </a:r>
            <a:r>
              <a:rPr lang="en-US" sz="1200" b="0" i="0" u="none" strike="noStrike" kern="1200" dirty="0" smtClean="0">
                <a:solidFill>
                  <a:schemeClr val="tx1"/>
                </a:solidFill>
                <a:effectLst/>
                <a:latin typeface="+mn-lt"/>
                <a:ea typeface="+mn-ea"/>
                <a:cs typeface="+mn-cs"/>
                <a:hlinkClick r:id="rId42" tooltip="Edit section: Symbolic reasoning and the Logic Theorist"/>
              </a:rPr>
              <a:t>edit</a:t>
            </a:r>
            <a:r>
              <a:rPr lang="en-US" sz="1200" b="0" i="0" kern="1200" dirty="0" smtClean="0">
                <a:solidFill>
                  <a:schemeClr val="tx1"/>
                </a:solidFill>
                <a:effectLst/>
                <a:latin typeface="+mn-lt"/>
                <a:ea typeface="+mn-ea"/>
                <a:cs typeface="+mn-cs"/>
              </a:rPr>
              <a: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When access to </a:t>
            </a:r>
            <a:r>
              <a:rPr lang="en-US" sz="1200" b="0" i="0" u="none" strike="noStrike" kern="1200" dirty="0" smtClean="0">
                <a:solidFill>
                  <a:schemeClr val="tx1"/>
                </a:solidFill>
                <a:effectLst/>
                <a:latin typeface="+mn-lt"/>
                <a:ea typeface="+mn-ea"/>
                <a:cs typeface="+mn-cs"/>
                <a:hlinkClick r:id="rId43" tooltip="Digital computer"/>
              </a:rPr>
              <a:t>digital computers</a:t>
            </a:r>
            <a:r>
              <a:rPr lang="en-US" sz="1200" b="0" i="0" kern="1200" dirty="0" smtClean="0">
                <a:solidFill>
                  <a:schemeClr val="tx1"/>
                </a:solidFill>
                <a:effectLst/>
                <a:latin typeface="+mn-lt"/>
                <a:ea typeface="+mn-ea"/>
                <a:cs typeface="+mn-cs"/>
              </a:rPr>
              <a:t> became possible in the middle fifties, a few scientists instinctively recognized that a machine that could manipulate numbers could also manipulate symbols and that the manipulation of symbols could well be the essence of human thought. This was a new approach to creating thinking machines.</a:t>
            </a:r>
            <a:r>
              <a:rPr lang="en-US" sz="1200" b="0" i="0" u="none" strike="noStrike" kern="1200" baseline="30000" dirty="0" smtClean="0">
                <a:solidFill>
                  <a:schemeClr val="tx1"/>
                </a:solidFill>
                <a:effectLst/>
                <a:latin typeface="+mn-lt"/>
                <a:ea typeface="+mn-ea"/>
                <a:cs typeface="+mn-cs"/>
                <a:hlinkClick r:id="rId44"/>
              </a:rPr>
              <a:t>[33]</a:t>
            </a:r>
            <a:endParaRPr lang="en-US" sz="1200" b="0" i="0" u="none" strike="noStrike" kern="1200" baseline="300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In 1955, </a:t>
            </a:r>
            <a:r>
              <a:rPr lang="en-US" sz="1200" b="0" i="0" u="none" strike="noStrike" kern="1200" dirty="0" smtClean="0">
                <a:solidFill>
                  <a:schemeClr val="tx1"/>
                </a:solidFill>
                <a:effectLst/>
                <a:latin typeface="+mn-lt"/>
                <a:ea typeface="+mn-ea"/>
                <a:cs typeface="+mn-cs"/>
                <a:hlinkClick r:id="rId45" tooltip="Allen Newell"/>
              </a:rPr>
              <a:t>Allen Newell</a:t>
            </a:r>
            <a:r>
              <a:rPr lang="en-US" sz="1200" b="0" i="0" kern="1200" dirty="0" smtClean="0">
                <a:solidFill>
                  <a:schemeClr val="tx1"/>
                </a:solidFill>
                <a:effectLst/>
                <a:latin typeface="+mn-lt"/>
                <a:ea typeface="+mn-ea"/>
                <a:cs typeface="+mn-cs"/>
              </a:rPr>
              <a:t> and (future Nobel Laureate) </a:t>
            </a:r>
            <a:r>
              <a:rPr lang="en-US" sz="1200" b="0" i="0" u="none" strike="noStrike" kern="1200" dirty="0" smtClean="0">
                <a:solidFill>
                  <a:schemeClr val="tx1"/>
                </a:solidFill>
                <a:effectLst/>
                <a:latin typeface="+mn-lt"/>
                <a:ea typeface="+mn-ea"/>
                <a:cs typeface="+mn-cs"/>
                <a:hlinkClick r:id="rId46" tooltip="Herbert A. Simon"/>
              </a:rPr>
              <a:t>Herbert A. Simon</a:t>
            </a:r>
            <a:r>
              <a:rPr lang="en-US" sz="1200" b="0" i="0" kern="1200" dirty="0" smtClean="0">
                <a:solidFill>
                  <a:schemeClr val="tx1"/>
                </a:solidFill>
                <a:effectLst/>
                <a:latin typeface="+mn-lt"/>
                <a:ea typeface="+mn-ea"/>
                <a:cs typeface="+mn-cs"/>
              </a:rPr>
              <a:t> created the "</a:t>
            </a:r>
            <a:r>
              <a:rPr lang="en-US" sz="1200" b="0" i="0" u="none" strike="noStrike" kern="1200" dirty="0" smtClean="0">
                <a:solidFill>
                  <a:schemeClr val="tx1"/>
                </a:solidFill>
                <a:effectLst/>
                <a:latin typeface="+mn-lt"/>
                <a:ea typeface="+mn-ea"/>
                <a:cs typeface="+mn-cs"/>
                <a:hlinkClick r:id="rId47" tooltip="Logic Theorist"/>
              </a:rPr>
              <a:t>Logic Theorist</a:t>
            </a:r>
            <a:r>
              <a:rPr lang="en-US" sz="1200" b="0" i="0" kern="1200" dirty="0" smtClean="0">
                <a:solidFill>
                  <a:schemeClr val="tx1"/>
                </a:solidFill>
                <a:effectLst/>
                <a:latin typeface="+mn-lt"/>
                <a:ea typeface="+mn-ea"/>
                <a:cs typeface="+mn-cs"/>
              </a:rPr>
              <a:t>" (with help from </a:t>
            </a:r>
            <a:r>
              <a:rPr lang="en-US" sz="1200" b="0" i="0" u="none" strike="noStrike" kern="1200" dirty="0" smtClean="0">
                <a:solidFill>
                  <a:schemeClr val="tx1"/>
                </a:solidFill>
                <a:effectLst/>
                <a:latin typeface="+mn-lt"/>
                <a:ea typeface="+mn-ea"/>
                <a:cs typeface="+mn-cs"/>
                <a:hlinkClick r:id="rId48" tooltip="Cliff Shaw"/>
              </a:rPr>
              <a:t>J. C. Shaw</a:t>
            </a:r>
            <a:r>
              <a:rPr lang="en-US" sz="1200" b="0" i="0" kern="1200" dirty="0" smtClean="0">
                <a:solidFill>
                  <a:schemeClr val="tx1"/>
                </a:solidFill>
                <a:effectLst/>
                <a:latin typeface="+mn-lt"/>
                <a:ea typeface="+mn-ea"/>
                <a:cs typeface="+mn-cs"/>
              </a:rPr>
              <a:t>). The program would eventually prove 38 of the first 52 theorems in </a:t>
            </a:r>
            <a:r>
              <a:rPr lang="en-US" sz="1200" b="0" i="0" u="none" strike="noStrike" kern="1200" dirty="0" smtClean="0">
                <a:solidFill>
                  <a:schemeClr val="tx1"/>
                </a:solidFill>
                <a:effectLst/>
                <a:latin typeface="+mn-lt"/>
                <a:ea typeface="+mn-ea"/>
                <a:cs typeface="+mn-cs"/>
                <a:hlinkClick r:id="rId49" tooltip="Bertrand Russell"/>
              </a:rPr>
              <a:t>Russell</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50" tooltip="Alfred North Whitehead"/>
              </a:rPr>
              <a:t>Whitehead's</a:t>
            </a:r>
            <a:r>
              <a:rPr lang="en-US" sz="1200" b="0" i="0" kern="1200" dirty="0" smtClean="0">
                <a:solidFill>
                  <a:schemeClr val="tx1"/>
                </a:solidFill>
                <a:effectLst/>
                <a:latin typeface="+mn-lt"/>
                <a:ea typeface="+mn-ea"/>
                <a:cs typeface="+mn-cs"/>
              </a:rPr>
              <a:t> </a:t>
            </a:r>
            <a:r>
              <a:rPr lang="en-US" sz="1200" b="0" i="1" u="none" strike="noStrike" kern="1200" dirty="0" smtClean="0">
                <a:solidFill>
                  <a:schemeClr val="tx1"/>
                </a:solidFill>
                <a:effectLst/>
                <a:latin typeface="+mn-lt"/>
                <a:ea typeface="+mn-ea"/>
                <a:cs typeface="+mn-cs"/>
                <a:hlinkClick r:id="rId51" tooltip="Principia Mathematica"/>
              </a:rPr>
              <a:t>Principia Mathematica</a:t>
            </a:r>
            <a:r>
              <a:rPr lang="en-US" sz="1200" b="0" i="0" kern="1200" dirty="0" smtClean="0">
                <a:solidFill>
                  <a:schemeClr val="tx1"/>
                </a:solidFill>
                <a:effectLst/>
                <a:latin typeface="+mn-lt"/>
                <a:ea typeface="+mn-ea"/>
                <a:cs typeface="+mn-cs"/>
              </a:rPr>
              <a:t>, and find new and more elegant proofs for some.</a:t>
            </a:r>
            <a:r>
              <a:rPr lang="en-US" sz="1200" b="0" i="0" u="none" strike="noStrike" kern="1200" baseline="30000" dirty="0" smtClean="0">
                <a:solidFill>
                  <a:schemeClr val="tx1"/>
                </a:solidFill>
                <a:effectLst/>
                <a:latin typeface="+mn-lt"/>
                <a:ea typeface="+mn-ea"/>
                <a:cs typeface="+mn-cs"/>
                <a:hlinkClick r:id="rId52"/>
              </a:rPr>
              <a:t>[34]</a:t>
            </a:r>
            <a:r>
              <a:rPr lang="en-US" sz="1200" b="0" i="0" kern="1200" dirty="0" smtClean="0">
                <a:solidFill>
                  <a:schemeClr val="tx1"/>
                </a:solidFill>
                <a:effectLst/>
                <a:latin typeface="+mn-lt"/>
                <a:ea typeface="+mn-ea"/>
                <a:cs typeface="+mn-cs"/>
              </a:rPr>
              <a:t> Simon said that they had "solved the venerable </a:t>
            </a:r>
            <a:r>
              <a:rPr lang="en-US" sz="1200" b="0" i="0" u="none" strike="noStrike" kern="1200" dirty="0" smtClean="0">
                <a:solidFill>
                  <a:schemeClr val="tx1"/>
                </a:solidFill>
                <a:effectLst/>
                <a:latin typeface="+mn-lt"/>
                <a:ea typeface="+mn-ea"/>
                <a:cs typeface="+mn-cs"/>
                <a:hlinkClick r:id="rId53" tooltip="Mind/body problem"/>
              </a:rPr>
              <a:t>mind/body problem</a:t>
            </a:r>
            <a:r>
              <a:rPr lang="en-US" sz="1200" b="0" i="0" kern="1200" dirty="0" smtClean="0">
                <a:solidFill>
                  <a:schemeClr val="tx1"/>
                </a:solidFill>
                <a:effectLst/>
                <a:latin typeface="+mn-lt"/>
                <a:ea typeface="+mn-ea"/>
                <a:cs typeface="+mn-cs"/>
              </a:rPr>
              <a:t>, explaining how a system composed of matter can have the properties of mind."</a:t>
            </a:r>
            <a:r>
              <a:rPr lang="en-US" sz="1200" b="0" i="0" u="none" strike="noStrike" kern="1200" baseline="30000" dirty="0" smtClean="0">
                <a:solidFill>
                  <a:schemeClr val="tx1"/>
                </a:solidFill>
                <a:effectLst/>
                <a:latin typeface="+mn-lt"/>
                <a:ea typeface="+mn-ea"/>
                <a:cs typeface="+mn-cs"/>
                <a:hlinkClick r:id="rId54"/>
              </a:rPr>
              <a:t>[35]</a:t>
            </a:r>
            <a:r>
              <a:rPr lang="en-US" sz="1200" b="0" i="0" kern="1200" dirty="0" smtClean="0">
                <a:solidFill>
                  <a:schemeClr val="tx1"/>
                </a:solidFill>
                <a:effectLst/>
                <a:latin typeface="+mn-lt"/>
                <a:ea typeface="+mn-ea"/>
                <a:cs typeface="+mn-cs"/>
              </a:rPr>
              <a:t> (This was an early statement of the philosophical position </a:t>
            </a:r>
            <a:r>
              <a:rPr lang="en-US" sz="1200" b="0" i="0" u="none" strike="noStrike" kern="1200" dirty="0" smtClean="0">
                <a:solidFill>
                  <a:schemeClr val="tx1"/>
                </a:solidFill>
                <a:effectLst/>
                <a:latin typeface="+mn-lt"/>
                <a:ea typeface="+mn-ea"/>
                <a:cs typeface="+mn-cs"/>
                <a:hlinkClick r:id="rId55" tooltip="John Searle"/>
              </a:rPr>
              <a:t>John Searle</a:t>
            </a:r>
            <a:r>
              <a:rPr lang="en-US" sz="1200" b="0" i="0" kern="1200" dirty="0" smtClean="0">
                <a:solidFill>
                  <a:schemeClr val="tx1"/>
                </a:solidFill>
                <a:effectLst/>
                <a:latin typeface="+mn-lt"/>
                <a:ea typeface="+mn-ea"/>
                <a:cs typeface="+mn-cs"/>
              </a:rPr>
              <a:t> would later call "</a:t>
            </a:r>
            <a:r>
              <a:rPr lang="en-US" sz="1200" b="0" i="0" u="none" strike="noStrike" kern="1200" dirty="0" smtClean="0">
                <a:solidFill>
                  <a:schemeClr val="tx1"/>
                </a:solidFill>
                <a:effectLst/>
                <a:latin typeface="+mn-lt"/>
                <a:ea typeface="+mn-ea"/>
                <a:cs typeface="+mn-cs"/>
                <a:hlinkClick r:id="rId56" tooltip="Strong AI thesis"/>
              </a:rPr>
              <a:t>Strong AI</a:t>
            </a:r>
            <a:r>
              <a:rPr lang="en-US" sz="1200" b="0" i="0" kern="1200" dirty="0" smtClean="0">
                <a:solidFill>
                  <a:schemeClr val="tx1"/>
                </a:solidFill>
                <a:effectLst/>
                <a:latin typeface="+mn-lt"/>
                <a:ea typeface="+mn-ea"/>
                <a:cs typeface="+mn-cs"/>
              </a:rPr>
              <a:t>": that machines can contain minds just as human bodies do.)</a:t>
            </a:r>
            <a:r>
              <a:rPr lang="en-US" sz="1200" b="0" i="0" u="none" strike="noStrike" kern="1200" baseline="30000" dirty="0" smtClean="0">
                <a:solidFill>
                  <a:schemeClr val="tx1"/>
                </a:solidFill>
                <a:effectLst/>
                <a:latin typeface="+mn-lt"/>
                <a:ea typeface="+mn-ea"/>
                <a:cs typeface="+mn-cs"/>
                <a:hlinkClick r:id="rId57"/>
              </a:rPr>
              <a:t>[36]</a:t>
            </a:r>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Dartmouth Conference 1956: the birth of AI</a:t>
            </a:r>
            <a:r>
              <a:rPr lang="en-US" sz="1200" b="0" i="0" kern="1200" dirty="0" smtClean="0">
                <a:solidFill>
                  <a:schemeClr val="tx1"/>
                </a:solidFill>
                <a:effectLst/>
                <a:latin typeface="+mn-lt"/>
                <a:ea typeface="+mn-ea"/>
                <a:cs typeface="+mn-cs"/>
              </a:rPr>
              <a:t>[</a:t>
            </a:r>
            <a:r>
              <a:rPr lang="en-US" sz="1200" b="0" i="0" u="none" strike="noStrike" kern="1200" dirty="0" smtClean="0">
                <a:solidFill>
                  <a:schemeClr val="tx1"/>
                </a:solidFill>
                <a:effectLst/>
                <a:latin typeface="+mn-lt"/>
                <a:ea typeface="+mn-ea"/>
                <a:cs typeface="+mn-cs"/>
                <a:hlinkClick r:id="rId58" tooltip="Edit section: Dartmouth Conference 1956: the birth of AI"/>
              </a:rPr>
              <a:t>edit</a:t>
            </a:r>
            <a:r>
              <a:rPr lang="en-US" sz="1200" b="0" i="0" kern="1200" dirty="0" smtClean="0">
                <a:solidFill>
                  <a:schemeClr val="tx1"/>
                </a:solidFill>
                <a:effectLst/>
                <a:latin typeface="+mn-lt"/>
                <a:ea typeface="+mn-ea"/>
                <a:cs typeface="+mn-cs"/>
              </a:rPr>
              <a:t>]</a:t>
            </a:r>
            <a:endParaRPr lang="en-US" sz="1200" b="1"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t>
            </a:r>
            <a:r>
              <a:rPr lang="en-US" sz="1200" b="0" i="0" u="none" strike="noStrike" kern="1200" dirty="0" smtClean="0">
                <a:solidFill>
                  <a:schemeClr val="tx1"/>
                </a:solidFill>
                <a:effectLst/>
                <a:latin typeface="+mn-lt"/>
                <a:ea typeface="+mn-ea"/>
                <a:cs typeface="+mn-cs"/>
                <a:hlinkClick r:id="rId59" tooltip="Dartmouth Workshop"/>
              </a:rPr>
              <a:t>Dartmouth Conference</a:t>
            </a:r>
            <a:r>
              <a:rPr lang="en-US" sz="1200" b="0" i="0" kern="1200" dirty="0" smtClean="0">
                <a:solidFill>
                  <a:schemeClr val="tx1"/>
                </a:solidFill>
                <a:effectLst/>
                <a:latin typeface="+mn-lt"/>
                <a:ea typeface="+mn-ea"/>
                <a:cs typeface="+mn-cs"/>
              </a:rPr>
              <a:t> of 1956</a:t>
            </a:r>
            <a:r>
              <a:rPr lang="en-US" sz="1200" b="0" i="0" u="none" strike="noStrike" kern="1200" baseline="30000" dirty="0" smtClean="0">
                <a:solidFill>
                  <a:schemeClr val="tx1"/>
                </a:solidFill>
                <a:effectLst/>
                <a:latin typeface="+mn-lt"/>
                <a:ea typeface="+mn-ea"/>
                <a:cs typeface="+mn-cs"/>
                <a:hlinkClick r:id="rId60"/>
              </a:rPr>
              <a:t>[37]</a:t>
            </a:r>
            <a:r>
              <a:rPr lang="en-US" sz="1200" b="0" i="0" kern="1200" dirty="0" smtClean="0">
                <a:solidFill>
                  <a:schemeClr val="tx1"/>
                </a:solidFill>
                <a:effectLst/>
                <a:latin typeface="+mn-lt"/>
                <a:ea typeface="+mn-ea"/>
                <a:cs typeface="+mn-cs"/>
              </a:rPr>
              <a:t> was organized by </a:t>
            </a:r>
            <a:r>
              <a:rPr lang="en-US" sz="1200" b="0" i="0" u="none" strike="noStrike" kern="1200" dirty="0" smtClean="0">
                <a:solidFill>
                  <a:schemeClr val="tx1"/>
                </a:solidFill>
                <a:effectLst/>
                <a:latin typeface="+mn-lt"/>
                <a:ea typeface="+mn-ea"/>
                <a:cs typeface="+mn-cs"/>
                <a:hlinkClick r:id="rId61" tooltip="Marvin Minsky"/>
              </a:rPr>
              <a:t>Marvin Minsky</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62" tooltip="John McCarthy (computer scientist)"/>
              </a:rPr>
              <a:t>John McCarthy</a:t>
            </a:r>
            <a:r>
              <a:rPr lang="en-US" sz="1200" b="0" i="0" kern="1200" dirty="0" smtClean="0">
                <a:solidFill>
                  <a:schemeClr val="tx1"/>
                </a:solidFill>
                <a:effectLst/>
                <a:latin typeface="+mn-lt"/>
                <a:ea typeface="+mn-ea"/>
                <a:cs typeface="+mn-cs"/>
              </a:rPr>
              <a:t> and two senior scientists: </a:t>
            </a:r>
            <a:r>
              <a:rPr lang="en-US" sz="1200" b="0" i="0" u="none" strike="noStrike" kern="1200" dirty="0" smtClean="0">
                <a:solidFill>
                  <a:schemeClr val="tx1"/>
                </a:solidFill>
                <a:effectLst/>
                <a:latin typeface="+mn-lt"/>
                <a:ea typeface="+mn-ea"/>
                <a:cs typeface="+mn-cs"/>
                <a:hlinkClick r:id="rId63" tooltip="Claude Shannon"/>
              </a:rPr>
              <a:t>Claude Shannon</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64" tooltip="Nathaniel Rochester (computer scientist)"/>
              </a:rPr>
              <a:t>Nathan Rochester</a:t>
            </a:r>
            <a:r>
              <a:rPr lang="en-US" sz="1200" b="0" i="0" kern="1200" dirty="0" smtClean="0">
                <a:solidFill>
                  <a:schemeClr val="tx1"/>
                </a:solidFill>
                <a:effectLst/>
                <a:latin typeface="+mn-lt"/>
                <a:ea typeface="+mn-ea"/>
                <a:cs typeface="+mn-cs"/>
              </a:rPr>
              <a:t> of </a:t>
            </a:r>
            <a:r>
              <a:rPr lang="en-US" sz="1200" b="0" i="0" u="none" strike="noStrike" kern="1200" dirty="0" smtClean="0">
                <a:solidFill>
                  <a:schemeClr val="tx1"/>
                </a:solidFill>
                <a:effectLst/>
                <a:latin typeface="+mn-lt"/>
                <a:ea typeface="+mn-ea"/>
                <a:cs typeface="+mn-cs"/>
                <a:hlinkClick r:id="rId65" tooltip="IBM"/>
              </a:rPr>
              <a:t>IBM</a:t>
            </a:r>
            <a:r>
              <a:rPr lang="en-US" sz="1200" b="0" i="0" kern="1200" dirty="0" smtClean="0">
                <a:solidFill>
                  <a:schemeClr val="tx1"/>
                </a:solidFill>
                <a:effectLst/>
                <a:latin typeface="+mn-lt"/>
                <a:ea typeface="+mn-ea"/>
                <a:cs typeface="+mn-cs"/>
              </a:rPr>
              <a:t>. The proposal for the conference included this assertion: "every aspect of learning or any other feature of intelligence can be so precisely described that a machine can be made to simulate it".</a:t>
            </a:r>
          </a:p>
          <a:p>
            <a:endParaRPr lang="en-US"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7</a:t>
            </a:fld>
            <a:endParaRPr lang="en-GB" dirty="0"/>
          </a:p>
        </p:txBody>
      </p:sp>
    </p:spTree>
    <p:extLst>
      <p:ext uri="{BB962C8B-B14F-4D97-AF65-F5344CB8AC3E}">
        <p14:creationId xmlns:p14="http://schemas.microsoft.com/office/powerpoint/2010/main" val="797689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77500" lnSpcReduction="20000"/>
          </a:bodyPr>
          <a:lstStyle/>
          <a:p>
            <a:r>
              <a:rPr lang="en-US" sz="1200" b="0" i="0" u="none" strike="noStrike" kern="1200" baseline="0" dirty="0" smtClean="0">
                <a:solidFill>
                  <a:schemeClr val="tx1"/>
                </a:solidFill>
                <a:latin typeface="+mn-lt"/>
                <a:ea typeface="+mn-ea"/>
                <a:cs typeface="+mn-cs"/>
              </a:rPr>
              <a:t>From the beginning, AI researchers were not shy about making predictions of their coming successes. The following statement by Herbert Simon in 1957 is often quoted:</a:t>
            </a:r>
          </a:p>
          <a:p>
            <a:r>
              <a:rPr lang="en-US" sz="1200" b="0" i="1" u="none" strike="noStrike" kern="1200" baseline="0" dirty="0" smtClean="0">
                <a:solidFill>
                  <a:schemeClr val="tx1"/>
                </a:solidFill>
                <a:latin typeface="+mn-lt"/>
                <a:ea typeface="+mn-ea"/>
                <a:cs typeface="+mn-cs"/>
              </a:rPr>
              <a:t>“It is not my aim to surprise or shock you—but the simplest way I can summarize is to say</a:t>
            </a:r>
          </a:p>
          <a:p>
            <a:r>
              <a:rPr lang="en-US" sz="1200" b="0" i="1" u="none" strike="noStrike" kern="1200" baseline="0" dirty="0" smtClean="0">
                <a:solidFill>
                  <a:schemeClr val="tx1"/>
                </a:solidFill>
                <a:latin typeface="+mn-lt"/>
                <a:ea typeface="+mn-ea"/>
                <a:cs typeface="+mn-cs"/>
              </a:rPr>
              <a:t>that there are now in the world machines that think, that learn and that create. Moreover, their ability to do these things is going to increase rapidly until—in a visible future—the</a:t>
            </a:r>
          </a:p>
          <a:p>
            <a:r>
              <a:rPr lang="en-US" sz="1200" b="0" i="1" u="none" strike="noStrike" kern="1200" baseline="0" dirty="0" smtClean="0">
                <a:solidFill>
                  <a:schemeClr val="tx1"/>
                </a:solidFill>
                <a:latin typeface="+mn-lt"/>
                <a:ea typeface="+mn-ea"/>
                <a:cs typeface="+mn-cs"/>
              </a:rPr>
              <a:t>range of problems they can </a:t>
            </a:r>
            <a:r>
              <a:rPr lang="en-US" sz="1200" b="0" i="1" u="none" strike="noStrike" kern="1200" baseline="0" dirty="0" err="1" smtClean="0">
                <a:solidFill>
                  <a:schemeClr val="tx1"/>
                </a:solidFill>
                <a:latin typeface="+mn-lt"/>
                <a:ea typeface="+mn-ea"/>
                <a:cs typeface="+mn-cs"/>
              </a:rPr>
              <a:t>andle</a:t>
            </a:r>
            <a:r>
              <a:rPr lang="en-US" sz="1200" b="0" i="1" u="none" strike="noStrike" kern="1200" baseline="0" dirty="0" smtClean="0">
                <a:solidFill>
                  <a:schemeClr val="tx1"/>
                </a:solidFill>
                <a:latin typeface="+mn-lt"/>
                <a:ea typeface="+mn-ea"/>
                <a:cs typeface="+mn-cs"/>
              </a:rPr>
              <a:t> will be coextensive with the range to which the human</a:t>
            </a:r>
          </a:p>
          <a:p>
            <a:r>
              <a:rPr lang="en-GB" sz="1200" b="0" i="1" u="none" strike="noStrike" kern="1200" baseline="0" dirty="0" smtClean="0">
                <a:solidFill>
                  <a:schemeClr val="tx1"/>
                </a:solidFill>
                <a:latin typeface="+mn-lt"/>
                <a:ea typeface="+mn-ea"/>
                <a:cs typeface="+mn-cs"/>
              </a:rPr>
              <a:t>mind has been applied.</a:t>
            </a:r>
            <a:r>
              <a:rPr lang="en-US" sz="1200" b="0" i="1" u="none" strike="noStrike" kern="1200" baseline="0" dirty="0" smtClean="0">
                <a:solidFill>
                  <a:schemeClr val="tx1"/>
                </a:solidFill>
                <a:latin typeface="+mn-lt"/>
                <a:ea typeface="+mn-ea"/>
                <a:cs typeface="+mn-cs"/>
              </a:rPr>
              <a:t>”</a:t>
            </a:r>
          </a:p>
          <a:p>
            <a:endParaRPr lang="en-US" sz="1200" b="0" i="1" u="none" strike="noStrike" kern="1200" baseline="0" dirty="0" smtClean="0">
              <a:solidFill>
                <a:schemeClr val="tx1"/>
              </a:solidFill>
              <a:latin typeface="+mn-lt"/>
              <a:ea typeface="+mn-ea"/>
              <a:cs typeface="+mn-cs"/>
            </a:endParaRPr>
          </a:p>
          <a:p>
            <a:r>
              <a:rPr lang="en-US" sz="1200" dirty="0" smtClean="0">
                <a:ea typeface="Verdana" pitchFamily="34" charset="0"/>
                <a:cs typeface="Verdana" pitchFamily="34" charset="0"/>
              </a:rPr>
              <a:t>AI problems are intractable i.e. </a:t>
            </a:r>
            <a:r>
              <a:rPr lang="en-US" sz="1200" b="0" i="0" kern="1200" dirty="0" smtClean="0">
                <a:solidFill>
                  <a:schemeClr val="tx1"/>
                </a:solidFill>
                <a:effectLst/>
                <a:latin typeface="+mn-lt"/>
                <a:ea typeface="+mn-ea"/>
                <a:cs typeface="+mn-cs"/>
              </a:rPr>
              <a:t>hard to control or deal with.</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1" dirty="0" smtClean="0">
              <a:ea typeface="Verdana" pitchFamily="34" charset="0"/>
              <a:cs typeface="Verdan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ea typeface="Verdana" pitchFamily="34" charset="0"/>
                <a:cs typeface="Verdana" pitchFamily="34" charset="0"/>
              </a:rPr>
              <a:t>1969—85: Adding domain knowledge</a:t>
            </a:r>
          </a:p>
          <a:p>
            <a:endParaRPr lang="en-GB" sz="1200" b="0" i="0" kern="1200" dirty="0" smtClean="0">
              <a:solidFill>
                <a:schemeClr val="tx1"/>
              </a:solidFill>
              <a:effectLst/>
              <a:latin typeface="+mn-lt"/>
              <a:ea typeface="+mn-ea"/>
              <a:cs typeface="+mn-cs"/>
            </a:endParaRPr>
          </a:p>
          <a:p>
            <a:r>
              <a:rPr lang="en-US" sz="1200" b="0" i="0" u="none" strike="noStrike" kern="1200" baseline="0" dirty="0" smtClean="0">
                <a:solidFill>
                  <a:schemeClr val="tx1"/>
                </a:solidFill>
                <a:latin typeface="+mn-lt"/>
                <a:ea typeface="+mn-ea"/>
                <a:cs typeface="+mn-cs"/>
              </a:rPr>
              <a:t>The picture of problem solving that had arisen during the first decade of AI research was of a general-purpose search mechanism trying to string together elementary reasoning steps to</a:t>
            </a:r>
          </a:p>
          <a:p>
            <a:r>
              <a:rPr lang="en-US" sz="1200" b="0" i="0" u="none" strike="noStrike" kern="1200" baseline="0" dirty="0" smtClean="0">
                <a:solidFill>
                  <a:schemeClr val="tx1"/>
                </a:solidFill>
                <a:latin typeface="+mn-lt"/>
                <a:ea typeface="+mn-ea"/>
                <a:cs typeface="+mn-cs"/>
              </a:rPr>
              <a:t>find complete solutions. WEAK METHOD Such approaches have been called </a:t>
            </a:r>
            <a:r>
              <a:rPr lang="en-US" sz="1200" b="1" i="0" u="none" strike="noStrike" kern="1200" baseline="0" dirty="0" smtClean="0">
                <a:solidFill>
                  <a:schemeClr val="tx1"/>
                </a:solidFill>
                <a:latin typeface="+mn-lt"/>
                <a:ea typeface="+mn-ea"/>
                <a:cs typeface="+mn-cs"/>
              </a:rPr>
              <a:t>weak methods </a:t>
            </a:r>
            <a:r>
              <a:rPr lang="en-US" sz="1200" b="0" i="0" u="none" strike="noStrike" kern="1200" baseline="0" dirty="0" smtClean="0">
                <a:solidFill>
                  <a:schemeClr val="tx1"/>
                </a:solidFill>
                <a:latin typeface="+mn-lt"/>
                <a:ea typeface="+mn-ea"/>
                <a:cs typeface="+mn-cs"/>
              </a:rPr>
              <a:t>because, although general, they do not scale up to large or difficult problem instances. The alternative to weak methods is to use more powerful, domain-specific knowledge that allows larger reasoning steps and can more easily handle typically occurring cases in narrow areas of expertise. One</a:t>
            </a:r>
          </a:p>
          <a:p>
            <a:r>
              <a:rPr lang="en-US" sz="1200" b="0" i="0" u="none" strike="noStrike" kern="1200" baseline="0" dirty="0" smtClean="0">
                <a:solidFill>
                  <a:schemeClr val="tx1"/>
                </a:solidFill>
                <a:latin typeface="+mn-lt"/>
                <a:ea typeface="+mn-ea"/>
                <a:cs typeface="+mn-cs"/>
              </a:rPr>
              <a:t>might say that to solve a hard problem, you have to almost know the answer already.</a:t>
            </a:r>
          </a:p>
          <a:p>
            <a:r>
              <a:rPr lang="en-US" sz="1200" b="0" i="0" u="none" strike="noStrike" kern="1200" baseline="0" dirty="0" smtClean="0">
                <a:solidFill>
                  <a:schemeClr val="tx1"/>
                </a:solidFill>
                <a:latin typeface="+mn-lt"/>
                <a:ea typeface="+mn-ea"/>
                <a:cs typeface="+mn-cs"/>
              </a:rPr>
              <a:t>The </a:t>
            </a:r>
            <a:r>
              <a:rPr lang="en-US" sz="1200" b="1" i="0" u="none" strike="noStrike" kern="1200" baseline="0" dirty="0" smtClean="0">
                <a:solidFill>
                  <a:schemeClr val="tx1"/>
                </a:solidFill>
                <a:latin typeface="+mn-lt"/>
                <a:ea typeface="+mn-ea"/>
                <a:cs typeface="+mn-cs"/>
              </a:rPr>
              <a:t>DENDRAL program </a:t>
            </a:r>
            <a:r>
              <a:rPr lang="en-US" sz="1200" b="0" i="0" u="none" strike="noStrike" kern="1200" baseline="0" dirty="0" smtClean="0">
                <a:solidFill>
                  <a:schemeClr val="tx1"/>
                </a:solidFill>
                <a:latin typeface="+mn-lt"/>
                <a:ea typeface="+mn-ea"/>
                <a:cs typeface="+mn-cs"/>
              </a:rPr>
              <a:t>was an early example of this approach. </a:t>
            </a:r>
            <a:r>
              <a:rPr lang="en-US" sz="1200" b="1" i="0" u="none" strike="noStrike" kern="1200" baseline="0" dirty="0" smtClean="0">
                <a:solidFill>
                  <a:schemeClr val="tx1"/>
                </a:solidFill>
                <a:latin typeface="+mn-lt"/>
                <a:ea typeface="+mn-ea"/>
                <a:cs typeface="+mn-cs"/>
              </a:rPr>
              <a:t>It was developed at Stanford, where Ed </a:t>
            </a:r>
            <a:r>
              <a:rPr lang="en-US" sz="1200" b="1" i="0" u="none" strike="noStrike" kern="1200" baseline="0" dirty="0" err="1" smtClean="0">
                <a:solidFill>
                  <a:schemeClr val="tx1"/>
                </a:solidFill>
                <a:latin typeface="+mn-lt"/>
                <a:ea typeface="+mn-ea"/>
                <a:cs typeface="+mn-cs"/>
              </a:rPr>
              <a:t>Feigenbaum</a:t>
            </a:r>
            <a:r>
              <a:rPr lang="en-US" sz="1200" b="1" i="0" u="none" strike="noStrike" kern="1200" baseline="0" dirty="0" smtClean="0">
                <a:solidFill>
                  <a:schemeClr val="tx1"/>
                </a:solidFill>
                <a:latin typeface="+mn-lt"/>
                <a:ea typeface="+mn-ea"/>
                <a:cs typeface="+mn-cs"/>
              </a:rPr>
              <a:t> </a:t>
            </a:r>
            <a:r>
              <a:rPr lang="en-US" sz="1200" b="0" i="0" u="none" strike="noStrike" kern="1200" baseline="0" dirty="0" smtClean="0">
                <a:solidFill>
                  <a:schemeClr val="tx1"/>
                </a:solidFill>
                <a:latin typeface="+mn-lt"/>
                <a:ea typeface="+mn-ea"/>
                <a:cs typeface="+mn-cs"/>
              </a:rPr>
              <a:t>(a former student of Herbert Simon),</a:t>
            </a:r>
          </a:p>
          <a:p>
            <a:r>
              <a:rPr lang="en-US" sz="1200" b="1" i="0" u="none" strike="noStrike" kern="1200" baseline="0" dirty="0" smtClean="0">
                <a:solidFill>
                  <a:schemeClr val="tx1"/>
                </a:solidFill>
                <a:latin typeface="+mn-lt"/>
                <a:ea typeface="+mn-ea"/>
                <a:cs typeface="+mn-cs"/>
              </a:rPr>
              <a:t>Bruce Buchanan (</a:t>
            </a:r>
            <a:r>
              <a:rPr lang="en-US" sz="1200" b="0" i="0" u="none" strike="noStrike" kern="1200" baseline="0" dirty="0" smtClean="0">
                <a:solidFill>
                  <a:schemeClr val="tx1"/>
                </a:solidFill>
                <a:latin typeface="+mn-lt"/>
                <a:ea typeface="+mn-ea"/>
                <a:cs typeface="+mn-cs"/>
              </a:rPr>
              <a:t>a philosopher turned computer scientist), and </a:t>
            </a:r>
            <a:r>
              <a:rPr lang="en-US" sz="1200" b="1" i="0" u="none" strike="noStrike" kern="1200" baseline="0" dirty="0" smtClean="0">
                <a:solidFill>
                  <a:schemeClr val="tx1"/>
                </a:solidFill>
                <a:latin typeface="+mn-lt"/>
                <a:ea typeface="+mn-ea"/>
                <a:cs typeface="+mn-cs"/>
              </a:rPr>
              <a:t>Joshua Lederberg </a:t>
            </a:r>
            <a:r>
              <a:rPr lang="en-US" sz="1200" b="0" i="0" u="none" strike="noStrike" kern="1200" baseline="0" dirty="0" smtClean="0">
                <a:solidFill>
                  <a:schemeClr val="tx1"/>
                </a:solidFill>
                <a:latin typeface="+mn-lt"/>
                <a:ea typeface="+mn-ea"/>
                <a:cs typeface="+mn-cs"/>
              </a:rPr>
              <a:t>(a Nobel laureate geneticist) </a:t>
            </a:r>
            <a:r>
              <a:rPr lang="en-US" sz="1200" b="1" i="0" u="none" strike="noStrike" kern="1200" baseline="0" dirty="0" smtClean="0">
                <a:solidFill>
                  <a:schemeClr val="tx1"/>
                </a:solidFill>
                <a:latin typeface="+mn-lt"/>
                <a:ea typeface="+mn-ea"/>
                <a:cs typeface="+mn-cs"/>
              </a:rPr>
              <a:t>teamed up to solve the problem of inferring molecular structure from the</a:t>
            </a:r>
          </a:p>
          <a:p>
            <a:r>
              <a:rPr lang="en-US" sz="1200" b="1" i="0" u="none" strike="noStrike" kern="1200" baseline="0" dirty="0" smtClean="0">
                <a:solidFill>
                  <a:schemeClr val="tx1"/>
                </a:solidFill>
                <a:latin typeface="+mn-lt"/>
                <a:ea typeface="+mn-ea"/>
                <a:cs typeface="+mn-cs"/>
              </a:rPr>
              <a:t>information provided by a mass spectrometer.</a:t>
            </a:r>
          </a:p>
          <a:p>
            <a:endParaRPr lang="en-US" sz="1200" b="1" i="0" u="none" strike="noStrike" kern="1200" baseline="0" dirty="0" smtClean="0">
              <a:solidFill>
                <a:schemeClr val="tx1"/>
              </a:solidFill>
              <a:latin typeface="+mn-lt"/>
              <a:ea typeface="+mn-ea"/>
              <a:cs typeface="+mn-cs"/>
            </a:endParaRPr>
          </a:p>
          <a:p>
            <a:r>
              <a:rPr lang="en-US" sz="1200" b="1" i="0" u="none" strike="noStrike" kern="1200" baseline="0" dirty="0" smtClean="0">
                <a:solidFill>
                  <a:schemeClr val="tx1"/>
                </a:solidFill>
                <a:latin typeface="+mn-lt"/>
                <a:ea typeface="+mn-ea"/>
                <a:cs typeface="+mn-cs"/>
              </a:rPr>
              <a:t>AI becomes an industry (1980–present)</a:t>
            </a:r>
          </a:p>
          <a:p>
            <a:r>
              <a:rPr lang="en-US" sz="1200" b="0" i="0" u="none" strike="noStrike" kern="1200" baseline="0" dirty="0" smtClean="0">
                <a:solidFill>
                  <a:schemeClr val="tx1"/>
                </a:solidFill>
                <a:latin typeface="+mn-lt"/>
                <a:ea typeface="+mn-ea"/>
                <a:cs typeface="+mn-cs"/>
              </a:rPr>
              <a:t>The first successful commercial expert system, R1, began operation at the Digital Equipment</a:t>
            </a:r>
          </a:p>
          <a:p>
            <a:r>
              <a:rPr lang="en-US" sz="1200" b="0" i="0" u="none" strike="noStrike" kern="1200" baseline="0" dirty="0" smtClean="0">
                <a:solidFill>
                  <a:schemeClr val="tx1"/>
                </a:solidFill>
                <a:latin typeface="+mn-lt"/>
                <a:ea typeface="+mn-ea"/>
                <a:cs typeface="+mn-cs"/>
              </a:rPr>
              <a:t>Corporation (McDermott, 1982). The program helped configure orders for new computer</a:t>
            </a:r>
          </a:p>
          <a:p>
            <a:r>
              <a:rPr lang="en-US" sz="1200" b="0" i="0" u="none" strike="noStrike" kern="1200" baseline="0" dirty="0" smtClean="0">
                <a:solidFill>
                  <a:schemeClr val="tx1"/>
                </a:solidFill>
                <a:latin typeface="+mn-lt"/>
                <a:ea typeface="+mn-ea"/>
                <a:cs typeface="+mn-cs"/>
              </a:rPr>
              <a:t>systems; by 1986, it was saving the company an estimated $40 million a year. By 1988,</a:t>
            </a:r>
          </a:p>
          <a:p>
            <a:r>
              <a:rPr lang="en-US" sz="1200" b="0" i="0" u="none" strike="noStrike" kern="1200" baseline="0" dirty="0" smtClean="0">
                <a:solidFill>
                  <a:schemeClr val="tx1"/>
                </a:solidFill>
                <a:latin typeface="+mn-lt"/>
                <a:ea typeface="+mn-ea"/>
                <a:cs typeface="+mn-cs"/>
              </a:rPr>
              <a:t>DEC’s AI group had 40 expert systems deployed, with more on the way. DuPont had 100 in</a:t>
            </a:r>
          </a:p>
          <a:p>
            <a:r>
              <a:rPr lang="en-US" sz="1200" b="0" i="0" u="none" strike="noStrike" kern="1200" baseline="0" dirty="0" smtClean="0">
                <a:solidFill>
                  <a:schemeClr val="tx1"/>
                </a:solidFill>
                <a:latin typeface="+mn-lt"/>
                <a:ea typeface="+mn-ea"/>
                <a:cs typeface="+mn-cs"/>
              </a:rPr>
              <a:t>use and 500 in development, saving an estimated $10 million a year. Nearly every major U.S.</a:t>
            </a:r>
          </a:p>
          <a:p>
            <a:r>
              <a:rPr lang="en-US" sz="1200" b="0" i="0" u="none" strike="noStrike" kern="1200" baseline="0" dirty="0" smtClean="0">
                <a:solidFill>
                  <a:schemeClr val="tx1"/>
                </a:solidFill>
                <a:latin typeface="+mn-lt"/>
                <a:ea typeface="+mn-ea"/>
                <a:cs typeface="+mn-cs"/>
              </a:rPr>
              <a:t>corporation had its own AI group and was either using or investigating expert systems.</a:t>
            </a:r>
          </a:p>
          <a:p>
            <a:r>
              <a:rPr lang="en-US" sz="1200" b="0" i="0" u="none" strike="noStrike" kern="1200" baseline="0" dirty="0" smtClean="0">
                <a:solidFill>
                  <a:schemeClr val="tx1"/>
                </a:solidFill>
                <a:latin typeface="+mn-lt"/>
                <a:ea typeface="+mn-ea"/>
                <a:cs typeface="+mn-cs"/>
              </a:rPr>
              <a:t>In 1981, the Japanese announced the “Fifth Generation” project, a 10-year plan to build</a:t>
            </a:r>
          </a:p>
          <a:p>
            <a:r>
              <a:rPr lang="en-GB" sz="1200" b="0" i="0" u="none" strike="noStrike" kern="1200" baseline="0" dirty="0" smtClean="0">
                <a:solidFill>
                  <a:schemeClr val="tx1"/>
                </a:solidFill>
                <a:latin typeface="+mn-lt"/>
                <a:ea typeface="+mn-ea"/>
                <a:cs typeface="+mn-cs"/>
              </a:rPr>
              <a:t>intelligent computers running </a:t>
            </a:r>
            <a:r>
              <a:rPr lang="en-GB" sz="1200" b="0" i="0" u="none" strike="noStrike" kern="1200" baseline="0" dirty="0" err="1" smtClean="0">
                <a:solidFill>
                  <a:schemeClr val="tx1"/>
                </a:solidFill>
                <a:latin typeface="+mn-lt"/>
                <a:ea typeface="+mn-ea"/>
                <a:cs typeface="+mn-cs"/>
              </a:rPr>
              <a:t>Prolog</a:t>
            </a:r>
            <a:r>
              <a:rPr lang="en-GB" sz="1200" b="0" i="0" u="none" strike="noStrike" kern="1200" baseline="0" dirty="0" smtClean="0">
                <a:solidFill>
                  <a:schemeClr val="tx1"/>
                </a:solidFill>
                <a:latin typeface="+mn-lt"/>
                <a:ea typeface="+mn-ea"/>
                <a:cs typeface="+mn-cs"/>
              </a:rPr>
              <a:t>.</a:t>
            </a:r>
            <a:endParaRPr lang="en-GB" b="1" i="1"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8</a:t>
            </a:fld>
            <a:endParaRPr lang="en-GB" dirty="0"/>
          </a:p>
        </p:txBody>
      </p:sp>
    </p:spTree>
    <p:extLst>
      <p:ext uri="{BB962C8B-B14F-4D97-AF65-F5344CB8AC3E}">
        <p14:creationId xmlns:p14="http://schemas.microsoft.com/office/powerpoint/2010/main" val="646893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smtClean="0">
                <a:ea typeface="Verdana" pitchFamily="34" charset="0"/>
                <a:cs typeface="Verdana" pitchFamily="34" charset="0"/>
              </a:rPr>
              <a:t>1986--  Rise of machine learning</a:t>
            </a:r>
          </a:p>
          <a:p>
            <a:r>
              <a:rPr lang="en-US" sz="1200" b="0" i="0" u="none" strike="noStrike" kern="1200" baseline="0" dirty="0" smtClean="0">
                <a:solidFill>
                  <a:schemeClr val="tx1"/>
                </a:solidFill>
                <a:latin typeface="+mn-lt"/>
                <a:ea typeface="+mn-ea"/>
                <a:cs typeface="+mn-cs"/>
              </a:rPr>
              <a:t>In the mid-1980s at least four different groups reinvented the </a:t>
            </a:r>
            <a:r>
              <a:rPr lang="en-US" sz="1200" b="1" i="0" u="none" strike="noStrike" kern="1200" baseline="0" dirty="0" smtClean="0">
                <a:solidFill>
                  <a:schemeClr val="tx1"/>
                </a:solidFill>
                <a:latin typeface="+mn-lt"/>
                <a:ea typeface="+mn-ea"/>
                <a:cs typeface="+mn-cs"/>
              </a:rPr>
              <a:t>back-propagation </a:t>
            </a:r>
            <a:r>
              <a:rPr lang="en-US" sz="1200" b="0" i="0" u="none" strike="noStrike" kern="1200" baseline="0" dirty="0" smtClean="0">
                <a:solidFill>
                  <a:schemeClr val="tx1"/>
                </a:solidFill>
                <a:latin typeface="+mn-lt"/>
                <a:ea typeface="+mn-ea"/>
                <a:cs typeface="+mn-cs"/>
              </a:rPr>
              <a:t>learning algorithm(</a:t>
            </a:r>
            <a:r>
              <a:rPr lang="en-US" sz="1200" b="0" i="0" kern="1200" dirty="0" smtClean="0">
                <a:solidFill>
                  <a:schemeClr val="tx1"/>
                </a:solidFill>
                <a:effectLst/>
                <a:latin typeface="+mn-lt"/>
                <a:ea typeface="+mn-ea"/>
                <a:cs typeface="+mn-cs"/>
              </a:rPr>
              <a:t>a process or set of rules to be followed in calculations or other problem-solving operations, especially by a computer.</a:t>
            </a:r>
            <a:r>
              <a:rPr lang="en-US" sz="1200" b="0" i="0" u="none" strike="noStrike" kern="1200" baseline="0" dirty="0" smtClean="0">
                <a:solidFill>
                  <a:schemeClr val="tx1"/>
                </a:solidFill>
                <a:latin typeface="+mn-lt"/>
                <a:ea typeface="+mn-ea"/>
                <a:cs typeface="+mn-cs"/>
              </a:rPr>
              <a:t>) first found in 1969 by Bryson and Ho. The algorithm was applied to many learning problems in computer science and psychology, and the widespread dissemination of the results in the collection </a:t>
            </a:r>
            <a:r>
              <a:rPr lang="en-US" sz="1200" b="0" i="1" u="none" strike="noStrike" kern="1200" baseline="0" dirty="0" smtClean="0">
                <a:solidFill>
                  <a:schemeClr val="tx1"/>
                </a:solidFill>
                <a:latin typeface="+mn-lt"/>
                <a:ea typeface="+mn-ea"/>
                <a:cs typeface="+mn-cs"/>
              </a:rPr>
              <a:t>Parallel Distributed Processing </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Rumelhart</a:t>
            </a:r>
            <a:r>
              <a:rPr lang="en-US" sz="1200" b="0" i="0" u="none" strike="noStrike" kern="1200" baseline="0" dirty="0" smtClean="0">
                <a:solidFill>
                  <a:schemeClr val="tx1"/>
                </a:solidFill>
                <a:latin typeface="+mn-lt"/>
                <a:ea typeface="+mn-ea"/>
                <a:cs typeface="+mn-cs"/>
              </a:rPr>
              <a:t> and McClelland, 1986)</a:t>
            </a:r>
          </a:p>
          <a:p>
            <a:r>
              <a:rPr lang="en-GB" sz="1200" b="0" i="0" u="none" strike="noStrike" kern="1200" baseline="0" dirty="0" smtClean="0">
                <a:solidFill>
                  <a:schemeClr val="tx1"/>
                </a:solidFill>
                <a:latin typeface="+mn-lt"/>
                <a:ea typeface="+mn-ea"/>
                <a:cs typeface="+mn-cs"/>
              </a:rPr>
              <a:t>caused great excitement. </a:t>
            </a:r>
            <a:r>
              <a:rPr lang="en-US" sz="1200" b="0" i="0" u="none" strike="noStrike" kern="1200" baseline="0" dirty="0" smtClean="0">
                <a:solidFill>
                  <a:schemeClr val="tx1"/>
                </a:solidFill>
                <a:latin typeface="+mn-lt"/>
                <a:ea typeface="+mn-ea"/>
                <a:cs typeface="+mn-cs"/>
              </a:rPr>
              <a:t>CONNECTIONIST These so-called </a:t>
            </a:r>
            <a:r>
              <a:rPr lang="en-US" sz="1200" b="1" i="0" u="none" strike="noStrike" kern="1200" baseline="0" dirty="0" smtClean="0">
                <a:solidFill>
                  <a:schemeClr val="tx1"/>
                </a:solidFill>
                <a:latin typeface="+mn-lt"/>
                <a:ea typeface="+mn-ea"/>
                <a:cs typeface="+mn-cs"/>
              </a:rPr>
              <a:t>connectionist </a:t>
            </a:r>
            <a:r>
              <a:rPr lang="en-US" sz="1200" b="0" i="0" u="none" strike="noStrike" kern="1200" baseline="0" dirty="0" smtClean="0">
                <a:solidFill>
                  <a:schemeClr val="tx1"/>
                </a:solidFill>
                <a:latin typeface="+mn-lt"/>
                <a:ea typeface="+mn-ea"/>
                <a:cs typeface="+mn-cs"/>
              </a:rPr>
              <a:t>models of intelligent systems were seen by some as direct</a:t>
            </a:r>
          </a:p>
          <a:p>
            <a:r>
              <a:rPr lang="en-US" sz="1200" b="0" i="0" u="none" strike="noStrike" kern="1200" baseline="0" dirty="0" smtClean="0">
                <a:solidFill>
                  <a:schemeClr val="tx1"/>
                </a:solidFill>
                <a:latin typeface="+mn-lt"/>
                <a:ea typeface="+mn-ea"/>
                <a:cs typeface="+mn-cs"/>
              </a:rPr>
              <a:t>competitors both to the symbolic models promoted by Newell and Simon and to the</a:t>
            </a:r>
          </a:p>
          <a:p>
            <a:r>
              <a:rPr lang="en-US" sz="1200" b="0" i="0" u="none" strike="noStrike" kern="1200" baseline="0" dirty="0" err="1" smtClean="0">
                <a:solidFill>
                  <a:schemeClr val="tx1"/>
                </a:solidFill>
                <a:latin typeface="+mn-lt"/>
                <a:ea typeface="+mn-ea"/>
                <a:cs typeface="+mn-cs"/>
              </a:rPr>
              <a:t>logicist</a:t>
            </a:r>
            <a:r>
              <a:rPr lang="en-US" sz="1200" b="0" i="0" u="none" strike="noStrike" kern="1200" baseline="0" dirty="0" smtClean="0">
                <a:solidFill>
                  <a:schemeClr val="tx1"/>
                </a:solidFill>
                <a:latin typeface="+mn-lt"/>
                <a:ea typeface="+mn-ea"/>
                <a:cs typeface="+mn-cs"/>
              </a:rPr>
              <a:t> approach of McCarthy and others (</a:t>
            </a:r>
            <a:r>
              <a:rPr lang="en-US" sz="1200" b="0" i="0" u="none" strike="noStrike" kern="1200" baseline="0" dirty="0" err="1" smtClean="0">
                <a:solidFill>
                  <a:schemeClr val="tx1"/>
                </a:solidFill>
                <a:latin typeface="+mn-lt"/>
                <a:ea typeface="+mn-ea"/>
                <a:cs typeface="+mn-cs"/>
              </a:rPr>
              <a:t>Smolensky</a:t>
            </a:r>
            <a:r>
              <a:rPr lang="en-US" sz="1200" b="0" i="0" u="none" strike="noStrike" kern="1200" baseline="0" dirty="0" smtClean="0">
                <a:solidFill>
                  <a:schemeClr val="tx1"/>
                </a:solidFill>
                <a:latin typeface="+mn-lt"/>
                <a:ea typeface="+mn-ea"/>
                <a:cs typeface="+mn-cs"/>
              </a:rPr>
              <a:t>, 1988). </a:t>
            </a:r>
            <a:endParaRPr lang="en-US" sz="1200" b="0" i="1" u="none" strike="noStrike" kern="1200" baseline="0" dirty="0" smtClean="0">
              <a:solidFill>
                <a:schemeClr val="tx1"/>
              </a:solidFill>
              <a:latin typeface="+mn-lt"/>
              <a:ea typeface="+mn-ea"/>
              <a:cs typeface="+mn-cs"/>
            </a:endParaRPr>
          </a:p>
          <a:p>
            <a:endParaRPr lang="en-US" sz="1200" b="0" i="1"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Judea Pearl’s (1988) </a:t>
            </a:r>
            <a:r>
              <a:rPr lang="en-US" sz="1200" b="0" i="1" u="none" strike="noStrike" kern="1200" baseline="0" dirty="0" smtClean="0">
                <a:solidFill>
                  <a:schemeClr val="tx1"/>
                </a:solidFill>
                <a:latin typeface="+mn-lt"/>
                <a:ea typeface="+mn-ea"/>
                <a:cs typeface="+mn-cs"/>
              </a:rPr>
              <a:t>Probabilistic Reasoning in Intelligent Systems </a:t>
            </a:r>
            <a:r>
              <a:rPr lang="en-US" sz="1200" b="0" i="0" u="none" strike="noStrike" kern="1200" baseline="0" dirty="0" smtClean="0">
                <a:solidFill>
                  <a:schemeClr val="tx1"/>
                </a:solidFill>
                <a:latin typeface="+mn-lt"/>
                <a:ea typeface="+mn-ea"/>
                <a:cs typeface="+mn-cs"/>
              </a:rPr>
              <a:t>led to a new acceptance of probability and decision theory in AI, following a resurgence of interest epitomized</a:t>
            </a:r>
          </a:p>
          <a:p>
            <a:r>
              <a:rPr lang="en-US" sz="1200" b="0" i="0" u="none" strike="noStrike" kern="1200" baseline="0" dirty="0" smtClean="0">
                <a:solidFill>
                  <a:schemeClr val="tx1"/>
                </a:solidFill>
                <a:latin typeface="+mn-lt"/>
                <a:ea typeface="+mn-ea"/>
                <a:cs typeface="+mn-cs"/>
              </a:rPr>
              <a:t>BAYESIAN NETWORK by Peter </a:t>
            </a:r>
            <a:r>
              <a:rPr lang="en-US" sz="1200" b="0" i="0" u="none" strike="noStrike" kern="1200" baseline="0" dirty="0" err="1" smtClean="0">
                <a:solidFill>
                  <a:schemeClr val="tx1"/>
                </a:solidFill>
                <a:latin typeface="+mn-lt"/>
                <a:ea typeface="+mn-ea"/>
                <a:cs typeface="+mn-cs"/>
              </a:rPr>
              <a:t>Cheeseman’s</a:t>
            </a:r>
            <a:r>
              <a:rPr lang="en-US" sz="1200" b="0" i="0" u="none" strike="noStrike" kern="1200" baseline="0" dirty="0" smtClean="0">
                <a:solidFill>
                  <a:schemeClr val="tx1"/>
                </a:solidFill>
                <a:latin typeface="+mn-lt"/>
                <a:ea typeface="+mn-ea"/>
                <a:cs typeface="+mn-cs"/>
              </a:rPr>
              <a:t> (1985) article “ </a:t>
            </a:r>
          </a:p>
          <a:p>
            <a:r>
              <a:rPr lang="en-US" sz="1200" b="0" i="0" u="none" strike="noStrike" kern="1200" baseline="0" dirty="0" smtClean="0">
                <a:solidFill>
                  <a:schemeClr val="tx1"/>
                </a:solidFill>
                <a:latin typeface="+mn-lt"/>
                <a:ea typeface="+mn-ea"/>
                <a:cs typeface="+mn-cs"/>
              </a:rPr>
              <a:t>In Defense of Probability.” The </a:t>
            </a:r>
            <a:r>
              <a:rPr lang="en-US" sz="1200" b="1" i="0" u="none" strike="noStrike" kern="1200" baseline="0" dirty="0" smtClean="0">
                <a:solidFill>
                  <a:schemeClr val="tx1"/>
                </a:solidFill>
                <a:latin typeface="+mn-lt"/>
                <a:ea typeface="+mn-ea"/>
                <a:cs typeface="+mn-cs"/>
              </a:rPr>
              <a:t>Bayesian network </a:t>
            </a:r>
            <a:r>
              <a:rPr lang="en-US" sz="1200" b="0" i="0" u="none" strike="noStrike" kern="1200" baseline="0" dirty="0" smtClean="0">
                <a:solidFill>
                  <a:schemeClr val="tx1"/>
                </a:solidFill>
                <a:latin typeface="+mn-lt"/>
                <a:ea typeface="+mn-ea"/>
                <a:cs typeface="+mn-cs"/>
              </a:rPr>
              <a:t>formalism was invented to allow efficient representation of, and rigorous reasoning with, uncertain knowledge. This approach largely overcomes many problems of the probabilistic</a:t>
            </a:r>
          </a:p>
          <a:p>
            <a:r>
              <a:rPr lang="en-US" sz="1200" b="0" i="0" u="none" strike="noStrike" kern="1200" baseline="0" dirty="0" smtClean="0">
                <a:solidFill>
                  <a:schemeClr val="tx1"/>
                </a:solidFill>
                <a:latin typeface="+mn-lt"/>
                <a:ea typeface="+mn-ea"/>
                <a:cs typeface="+mn-cs"/>
              </a:rPr>
              <a:t>reasoning systems of the 1960s and 1970s; it now dominates AI research on uncertain reasoning and expert systems. The approach allows for learning from experience, and it combines</a:t>
            </a:r>
          </a:p>
          <a:p>
            <a:r>
              <a:rPr lang="en-US" sz="1200" b="0" i="0" u="none" strike="noStrike" kern="1200" baseline="0" dirty="0" smtClean="0">
                <a:solidFill>
                  <a:schemeClr val="tx1"/>
                </a:solidFill>
                <a:latin typeface="+mn-lt"/>
                <a:ea typeface="+mn-ea"/>
                <a:cs typeface="+mn-cs"/>
              </a:rPr>
              <a:t>the best of classical AI and neural nets.</a:t>
            </a:r>
          </a:p>
          <a:p>
            <a:endParaRPr lang="en-US" sz="1200" b="0" i="1" u="none" strike="noStrike" kern="1200" baseline="0" dirty="0" smtClean="0">
              <a:solidFill>
                <a:schemeClr val="tx1"/>
              </a:solidFill>
              <a:latin typeface="+mn-lt"/>
              <a:ea typeface="+mn-ea"/>
              <a:cs typeface="+mn-cs"/>
            </a:endParaRPr>
          </a:p>
          <a:p>
            <a:r>
              <a:rPr lang="en-US" sz="1200" b="1" i="0" kern="1200" dirty="0" smtClean="0">
                <a:solidFill>
                  <a:schemeClr val="tx1"/>
                </a:solidFill>
                <a:effectLst/>
                <a:latin typeface="+mn-lt"/>
                <a:ea typeface="+mn-ea"/>
                <a:cs typeface="+mn-cs"/>
              </a:rPr>
              <a:t>Bayesian networks</a:t>
            </a:r>
            <a:r>
              <a:rPr lang="en-US" sz="1200" b="0" i="0" kern="1200" dirty="0" smtClean="0">
                <a:solidFill>
                  <a:schemeClr val="tx1"/>
                </a:solidFill>
                <a:effectLst/>
                <a:latin typeface="+mn-lt"/>
                <a:ea typeface="+mn-ea"/>
                <a:cs typeface="+mn-cs"/>
              </a:rPr>
              <a:t> are a type of probabilistic graphical model that uses </a:t>
            </a:r>
            <a:r>
              <a:rPr lang="en-US" sz="1200" b="1" i="0" kern="1200" dirty="0" smtClean="0">
                <a:solidFill>
                  <a:schemeClr val="tx1"/>
                </a:solidFill>
                <a:effectLst/>
                <a:latin typeface="+mn-lt"/>
                <a:ea typeface="+mn-ea"/>
                <a:cs typeface="+mn-cs"/>
              </a:rPr>
              <a:t>Bayesian</a:t>
            </a:r>
            <a:r>
              <a:rPr lang="en-US" sz="1200" b="0" i="0" kern="1200" dirty="0" smtClean="0">
                <a:solidFill>
                  <a:schemeClr val="tx1"/>
                </a:solidFill>
                <a:effectLst/>
                <a:latin typeface="+mn-lt"/>
                <a:ea typeface="+mn-ea"/>
                <a:cs typeface="+mn-cs"/>
              </a:rPr>
              <a:t> inference for probability computations. </a:t>
            </a:r>
            <a:r>
              <a:rPr lang="en-US" sz="1200" b="1" i="0" kern="1200" dirty="0" smtClean="0">
                <a:solidFill>
                  <a:schemeClr val="tx1"/>
                </a:solidFill>
                <a:effectLst/>
                <a:latin typeface="+mn-lt"/>
                <a:ea typeface="+mn-ea"/>
                <a:cs typeface="+mn-cs"/>
              </a:rPr>
              <a:t>Bayesian networks</a:t>
            </a:r>
            <a:r>
              <a:rPr lang="en-US" sz="1200" b="0" i="0" kern="1200" dirty="0" smtClean="0">
                <a:solidFill>
                  <a:schemeClr val="tx1"/>
                </a:solidFill>
                <a:effectLst/>
                <a:latin typeface="+mn-lt"/>
                <a:ea typeface="+mn-ea"/>
                <a:cs typeface="+mn-cs"/>
              </a:rPr>
              <a:t> aim to model conditional dependence, and therefore causation, by representing conditional dependence by edges in a directed graph.</a:t>
            </a:r>
          </a:p>
          <a:p>
            <a:endParaRPr lang="en-US" sz="1200" b="0" i="0" kern="1200" dirty="0" smtClean="0">
              <a:solidFill>
                <a:schemeClr val="tx1"/>
              </a:solidFill>
              <a:effectLst/>
              <a:latin typeface="+mn-lt"/>
              <a:ea typeface="+mn-ea"/>
              <a:cs typeface="+mn-cs"/>
            </a:endParaRPr>
          </a:p>
          <a:p>
            <a:r>
              <a:rPr lang="en-US" sz="1200" b="1" i="0" u="none" strike="noStrike" kern="1200" baseline="0" dirty="0" smtClean="0">
                <a:solidFill>
                  <a:schemeClr val="tx1"/>
                </a:solidFill>
                <a:latin typeface="+mn-lt"/>
                <a:ea typeface="+mn-ea"/>
                <a:cs typeface="+mn-cs"/>
              </a:rPr>
              <a:t>The emergence of intelligent agents (1995–present)</a:t>
            </a:r>
          </a:p>
          <a:p>
            <a:r>
              <a:rPr lang="en-US" sz="1200" b="0" i="0" u="none" strike="noStrike" kern="1200" baseline="0" dirty="0" smtClean="0">
                <a:solidFill>
                  <a:schemeClr val="tx1"/>
                </a:solidFill>
                <a:latin typeface="+mn-lt"/>
                <a:ea typeface="+mn-ea"/>
                <a:cs typeface="+mn-cs"/>
              </a:rPr>
              <a:t>Perhaps encouraged by the progress in solving the </a:t>
            </a:r>
            <a:r>
              <a:rPr lang="en-US" sz="1200" b="0" i="0" u="none" strike="noStrike" kern="1200" baseline="0" dirty="0" err="1" smtClean="0">
                <a:solidFill>
                  <a:schemeClr val="tx1"/>
                </a:solidFill>
                <a:latin typeface="+mn-lt"/>
                <a:ea typeface="+mn-ea"/>
                <a:cs typeface="+mn-cs"/>
              </a:rPr>
              <a:t>subproblems</a:t>
            </a:r>
            <a:r>
              <a:rPr lang="en-US" sz="1200" b="0" i="0" u="none" strike="noStrike" kern="1200" baseline="0" dirty="0" smtClean="0">
                <a:solidFill>
                  <a:schemeClr val="tx1"/>
                </a:solidFill>
                <a:latin typeface="+mn-lt"/>
                <a:ea typeface="+mn-ea"/>
                <a:cs typeface="+mn-cs"/>
              </a:rPr>
              <a:t> of AI, researchers have also</a:t>
            </a:r>
          </a:p>
          <a:p>
            <a:r>
              <a:rPr lang="en-US" sz="1200" b="0" i="0" u="none" strike="noStrike" kern="1200" baseline="0" dirty="0" smtClean="0">
                <a:solidFill>
                  <a:schemeClr val="tx1"/>
                </a:solidFill>
                <a:latin typeface="+mn-lt"/>
                <a:ea typeface="+mn-ea"/>
                <a:cs typeface="+mn-cs"/>
              </a:rPr>
              <a:t>started to look at the “whole agent” problem again.</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9</a:t>
            </a:fld>
            <a:endParaRPr lang="en-GB" dirty="0"/>
          </a:p>
        </p:txBody>
      </p:sp>
    </p:spTree>
    <p:extLst>
      <p:ext uri="{BB962C8B-B14F-4D97-AF65-F5344CB8AC3E}">
        <p14:creationId xmlns:p14="http://schemas.microsoft.com/office/powerpoint/2010/main" val="751328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dirty="0" smtClean="0"/>
              <a:t>Artificial Intelligence (continued)</a:t>
            </a:r>
          </a:p>
          <a:p>
            <a:pPr lvl="1"/>
            <a:r>
              <a:rPr lang="en-US" dirty="0" smtClean="0"/>
              <a:t>Learning systems</a:t>
            </a:r>
          </a:p>
          <a:p>
            <a:pPr lvl="2"/>
            <a:r>
              <a:rPr lang="en-US" dirty="0" smtClean="0"/>
              <a:t>Allow computers to learn from past mistakes or experiences</a:t>
            </a:r>
          </a:p>
          <a:p>
            <a:pPr lvl="1"/>
            <a:r>
              <a:rPr lang="en-US" dirty="0" smtClean="0"/>
              <a:t>Neural networks</a:t>
            </a:r>
          </a:p>
          <a:p>
            <a:pPr lvl="2"/>
            <a:r>
              <a:rPr lang="en-US" dirty="0" smtClean="0"/>
              <a:t>Allow computers to recognize and act on patterns or trends</a:t>
            </a:r>
          </a:p>
          <a:p>
            <a:endParaRPr lang="en-US" dirty="0" smtClean="0"/>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12</a:t>
            </a:fld>
            <a:endParaRPr lang="en-GB" dirty="0"/>
          </a:p>
        </p:txBody>
      </p:sp>
    </p:spTree>
    <p:extLst>
      <p:ext uri="{BB962C8B-B14F-4D97-AF65-F5344CB8AC3E}">
        <p14:creationId xmlns:p14="http://schemas.microsoft.com/office/powerpoint/2010/main" val="82636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dirty="0" smtClean="0"/>
              <a:t>Artificial Intelligence (continued)</a:t>
            </a:r>
          </a:p>
          <a:p>
            <a:pPr lvl="1"/>
            <a:r>
              <a:rPr lang="en-US" dirty="0" smtClean="0"/>
              <a:t>Learning systems</a:t>
            </a:r>
          </a:p>
          <a:p>
            <a:pPr lvl="2"/>
            <a:r>
              <a:rPr lang="en-US" dirty="0" smtClean="0"/>
              <a:t>Allow computers to learn from past mistakes or experiences</a:t>
            </a:r>
          </a:p>
          <a:p>
            <a:pPr lvl="1"/>
            <a:r>
              <a:rPr lang="en-US" dirty="0" smtClean="0"/>
              <a:t>Neural networks</a:t>
            </a:r>
          </a:p>
          <a:p>
            <a:pPr lvl="2"/>
            <a:r>
              <a:rPr lang="en-US" dirty="0" smtClean="0"/>
              <a:t>Allow computers to recognize and act on patterns or trends</a:t>
            </a:r>
          </a:p>
          <a:p>
            <a:endParaRPr lang="en-US" dirty="0" smtClean="0"/>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14</a:t>
            </a:fld>
            <a:endParaRPr lang="en-GB" dirty="0"/>
          </a:p>
        </p:txBody>
      </p:sp>
    </p:spTree>
    <p:extLst>
      <p:ext uri="{BB962C8B-B14F-4D97-AF65-F5344CB8AC3E}">
        <p14:creationId xmlns:p14="http://schemas.microsoft.com/office/powerpoint/2010/main" val="3452742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40000" lnSpcReduction="20000"/>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sz="2600" b="1" dirty="0" smtClean="0">
                <a:latin typeface="Rockwell" pitchFamily="18" charset="0"/>
              </a:rPr>
              <a:t>a. What are our underlying assumptions about intelligence?</a:t>
            </a:r>
          </a:p>
          <a:p>
            <a:pPr rtl="0"/>
            <a:endParaRPr lang="en-US" sz="2600" b="1" i="0" kern="1200" dirty="0" smtClean="0">
              <a:solidFill>
                <a:schemeClr val="tx1"/>
              </a:solidFill>
              <a:effectLst/>
              <a:latin typeface="Rockwell" pitchFamily="18" charset="0"/>
              <a:ea typeface="+mn-ea"/>
              <a:cs typeface="+mn-cs"/>
            </a:endParaRPr>
          </a:p>
          <a:p>
            <a:pPr rtl="0"/>
            <a:r>
              <a:rPr lang="en-US" sz="2600" b="1" i="0" kern="1200" dirty="0" smtClean="0">
                <a:solidFill>
                  <a:schemeClr val="tx1"/>
                </a:solidFill>
                <a:effectLst/>
                <a:latin typeface="Rockwell" pitchFamily="18" charset="0"/>
                <a:ea typeface="+mn-ea"/>
                <a:cs typeface="+mn-cs"/>
              </a:rPr>
              <a:t>t</a:t>
            </a:r>
            <a:r>
              <a:rPr lang="en-US" sz="1200" b="0" i="0" kern="1200" dirty="0" smtClean="0">
                <a:solidFill>
                  <a:schemeClr val="tx1"/>
                </a:solidFill>
                <a:effectLst/>
                <a:latin typeface="+mn-lt"/>
                <a:ea typeface="+mn-ea"/>
                <a:cs typeface="+mn-cs"/>
              </a:rPr>
              <a:t>here are infinite underlying assumptions of Artificial Intelligence, where research is going on those assumptions.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Automation in every aspect of human life.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Deploying AI in every field of science , so that machines save our time and labor.</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Deploying AI machines in every company to do work faster and thus saving the capital , investment and making huge profits.</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Many more infinite Underlying assumptions are there.</a:t>
            </a:r>
          </a:p>
          <a:p>
            <a:pPr marL="0" indent="0">
              <a:buFont typeface="Arial" panose="020B0604020202020204" pitchFamily="34" charset="0"/>
              <a:buNone/>
            </a:pPr>
            <a:endParaRPr lang="en-US" sz="1200" b="0" i="0" kern="1200" dirty="0" smtClean="0">
              <a:solidFill>
                <a:schemeClr val="tx1"/>
              </a:solidFill>
              <a:effectLst/>
              <a:latin typeface="+mn-lt"/>
              <a:ea typeface="+mn-ea"/>
              <a:cs typeface="+mn-cs"/>
            </a:endParaRPr>
          </a:p>
          <a:p>
            <a:pPr rtl="0"/>
            <a:r>
              <a:rPr lang="en-US" sz="1200" b="1" i="0" kern="1200" dirty="0" smtClean="0">
                <a:solidFill>
                  <a:schemeClr val="tx1"/>
                </a:solidFill>
                <a:effectLst/>
                <a:latin typeface="+mn-lt"/>
                <a:ea typeface="+mn-ea"/>
                <a:cs typeface="+mn-cs"/>
              </a:rPr>
              <a:t>Artificial Intelligence</a:t>
            </a:r>
            <a:r>
              <a:rPr lang="en-US" sz="1200" b="0" i="0" kern="1200" dirty="0" smtClean="0">
                <a:solidFill>
                  <a:schemeClr val="tx1"/>
                </a:solidFill>
                <a:effectLst/>
                <a:latin typeface="+mn-lt"/>
                <a:ea typeface="+mn-ea"/>
                <a:cs typeface="+mn-cs"/>
              </a:rPr>
              <a:t> has aroused the feeling of innovation and unique strategies in millions of people. Everyone is talking about AI and it’s applications, people are not that much aware about the threats that we are facing along all with the benefits.</a:t>
            </a:r>
          </a:p>
          <a:p>
            <a:pPr rtl="0"/>
            <a:r>
              <a:rPr lang="en-US" sz="1200" b="1" i="0" kern="1200" dirty="0" smtClean="0">
                <a:solidFill>
                  <a:schemeClr val="tx1"/>
                </a:solidFill>
                <a:effectLst/>
                <a:latin typeface="+mn-lt"/>
                <a:ea typeface="+mn-ea"/>
                <a:cs typeface="+mn-cs"/>
              </a:rPr>
              <a:t>Few Artificial Intelligence(AI) assumptions are</a:t>
            </a:r>
            <a:r>
              <a:rPr lang="en-US" sz="1200" b="0" i="0" kern="1200" dirty="0" smtClean="0">
                <a:solidFill>
                  <a:schemeClr val="tx1"/>
                </a:solidFill>
                <a:effectLst/>
                <a:latin typeface="+mn-lt"/>
                <a:ea typeface="+mn-ea"/>
                <a:cs typeface="+mn-cs"/>
              </a:rPr>
              <a:t>:</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The same AI strategy will not fit for every use case.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Artificial Intelligence and Machine Learning are not interchangeable.</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In AI, Algorithms are not important than data.</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AI lacks an important human trait i.e. Empathy.</a:t>
            </a:r>
          </a:p>
          <a:p>
            <a:pPr marL="171450" indent="-171450">
              <a:buFont typeface="Arial" panose="020B0604020202020204" pitchFamily="34" charset="0"/>
              <a:buChar char="•"/>
            </a:pPr>
            <a:r>
              <a:rPr lang="en-US" sz="1200" b="0" i="0" kern="1200" dirty="0" smtClean="0">
                <a:solidFill>
                  <a:schemeClr val="tx1"/>
                </a:solidFill>
                <a:effectLst/>
                <a:latin typeface="+mn-lt"/>
                <a:ea typeface="+mn-ea"/>
                <a:cs typeface="+mn-cs"/>
              </a:rPr>
              <a:t>AI results in cultural and skills shift.</a:t>
            </a:r>
          </a:p>
          <a:p>
            <a:pPr marL="0" indent="0">
              <a:buFont typeface="Arial" panose="020B0604020202020204" pitchFamily="34" charset="0"/>
              <a:buNone/>
            </a:pPr>
            <a:endParaRPr lang="en-US" sz="1200" b="0" i="0" kern="1200" dirty="0" smtClean="0">
              <a:solidFill>
                <a:schemeClr val="tx1"/>
              </a:solidFill>
              <a:effectLst/>
              <a:latin typeface="+mn-lt"/>
              <a:ea typeface="+mn-ea"/>
              <a:cs typeface="+mn-cs"/>
            </a:endParaRPr>
          </a:p>
          <a:p>
            <a:pPr marL="0" indent="0">
              <a:buFont typeface="Arial" panose="020B0604020202020204" pitchFamily="34" charset="0"/>
              <a:buNone/>
            </a:pPr>
            <a:endParaRPr lang="en-US" sz="1200" b="0" i="0" kern="1200" dirty="0" smtClean="0">
              <a:solidFill>
                <a:schemeClr val="tx1"/>
              </a:solidFill>
              <a:effectLst/>
              <a:latin typeface="+mn-lt"/>
              <a:ea typeface="+mn-ea"/>
              <a:cs typeface="+mn-cs"/>
            </a:endParaRPr>
          </a:p>
          <a:p>
            <a:pPr rtl="0"/>
            <a:r>
              <a:rPr lang="en-US" sz="1200" b="0" i="0" kern="1200" dirty="0" smtClean="0">
                <a:solidFill>
                  <a:schemeClr val="tx1"/>
                </a:solidFill>
                <a:effectLst/>
                <a:latin typeface="+mn-lt"/>
                <a:ea typeface="+mn-ea"/>
                <a:cs typeface="+mn-cs"/>
              </a:rPr>
              <a:t>Artificial intelligence has ignited our imaginations over the future of work since John McCarthy first coined the term in 1955. While Hollywood often depicts AI as an ominous tool – take War Games and Terminator, and even HAL in 2001: Space Odyssey – in reality, AI has become a real and growing part of our lives, and not just in video games. Within organizations, there are real-life AI applications being deployed that automate business processes to improve customer experience. But we are also hearing progressively more myths when it comes to business applications. The following are common myths, assumptions, and truths to know as you consider your AI strategy in 2018.</a:t>
            </a:r>
          </a:p>
          <a:p>
            <a:pPr rtl="0"/>
            <a:r>
              <a:rPr lang="en-US" sz="1200" b="1" i="0" kern="1200" dirty="0" smtClean="0">
                <a:solidFill>
                  <a:schemeClr val="tx1"/>
                </a:solidFill>
                <a:effectLst/>
                <a:latin typeface="+mn-lt"/>
                <a:ea typeface="+mn-ea"/>
                <a:cs typeface="+mn-cs"/>
              </a:rPr>
              <a:t>1. An AI strategy is not one size fits all</a:t>
            </a:r>
            <a:endParaRPr lang="en-US" sz="1200" b="0" i="0" kern="1200" dirty="0" smtClean="0">
              <a:solidFill>
                <a:schemeClr val="tx1"/>
              </a:solidFill>
              <a:effectLst/>
              <a:latin typeface="+mn-lt"/>
              <a:ea typeface="+mn-ea"/>
              <a:cs typeface="+mn-cs"/>
            </a:endParaRPr>
          </a:p>
          <a:p>
            <a:pPr rtl="0"/>
            <a:r>
              <a:rPr lang="en-US" sz="1200" b="0" i="0" kern="1200" dirty="0" smtClean="0">
                <a:solidFill>
                  <a:schemeClr val="tx1"/>
                </a:solidFill>
                <a:effectLst/>
                <a:latin typeface="+mn-lt"/>
                <a:ea typeface="+mn-ea"/>
                <a:cs typeface="+mn-cs"/>
              </a:rPr>
              <a:t>I can’t tell you how many times I’ve met a CIO or CTO who wanted to know what our AI strategy was. I usually try to qualify their interest with a question of my own, “What does AI mean to you?”</a:t>
            </a:r>
          </a:p>
          <a:p>
            <a:pPr rtl="0"/>
            <a:r>
              <a:rPr lang="en-US" sz="1200" b="0" i="0" kern="1200" dirty="0" smtClean="0">
                <a:solidFill>
                  <a:schemeClr val="tx1"/>
                </a:solidFill>
                <a:effectLst/>
                <a:latin typeface="+mn-lt"/>
                <a:ea typeface="+mn-ea"/>
                <a:cs typeface="+mn-cs"/>
              </a:rPr>
              <a:t>That question is typically followed by dead silence. The issue is that CTOs expect the same AI strategy to fit every use case. The real question that should be asked is, “What are customers actually trying to do?”</a:t>
            </a:r>
          </a:p>
          <a:p>
            <a:pPr rtl="0"/>
            <a:r>
              <a:rPr lang="en-US" sz="1200" b="0" i="0" kern="1200" dirty="0" smtClean="0">
                <a:solidFill>
                  <a:schemeClr val="tx1"/>
                </a:solidFill>
                <a:effectLst/>
                <a:latin typeface="+mn-lt"/>
                <a:ea typeface="+mn-ea"/>
                <a:cs typeface="+mn-cs"/>
              </a:rPr>
              <a:t>Usually, the use cases come down to basic machine learning. Customers want a system to watch and learn what their knowledge workers are doing as part of their daily routines – especially routines they are considering automating with robotic process automation (RPA). They want a system that can then start recommending various courses of action based on learned behavior. Finally, they want the knowledge worker to be able to direct the system to automate the learned behavior after getting comfortable with past recommendations.</a:t>
            </a:r>
          </a:p>
          <a:p>
            <a:pPr rtl="0"/>
            <a:r>
              <a:rPr lang="en-US" sz="1200" b="1" i="0" kern="1200" dirty="0" smtClean="0">
                <a:solidFill>
                  <a:schemeClr val="tx1"/>
                </a:solidFill>
                <a:effectLst/>
                <a:latin typeface="+mn-lt"/>
                <a:ea typeface="+mn-ea"/>
                <a:cs typeface="+mn-cs"/>
              </a:rPr>
              <a:t>2. AI and machine learning are not interchangeable</a:t>
            </a:r>
            <a:endParaRPr lang="en-US" sz="1200" b="0" i="0" kern="1200" dirty="0" smtClean="0">
              <a:solidFill>
                <a:schemeClr val="tx1"/>
              </a:solidFill>
              <a:effectLst/>
              <a:latin typeface="+mn-lt"/>
              <a:ea typeface="+mn-ea"/>
              <a:cs typeface="+mn-cs"/>
            </a:endParaRPr>
          </a:p>
          <a:p>
            <a:pPr rtl="0"/>
            <a:r>
              <a:rPr lang="en-US" sz="1200" b="0" i="0" kern="1200" dirty="0" smtClean="0">
                <a:solidFill>
                  <a:schemeClr val="tx1"/>
                </a:solidFill>
                <a:effectLst/>
                <a:latin typeface="+mn-lt"/>
                <a:ea typeface="+mn-ea"/>
                <a:cs typeface="+mn-cs"/>
              </a:rPr>
              <a:t>Machine learning is often misinterpreted for AI, as are cognitive processing, natural language processing, and deep learning. Machine learning is an application of AI whereas it gives machines access to data and lets them learn for themselves, thus enabling AI.</a:t>
            </a:r>
          </a:p>
          <a:p>
            <a:pPr rtl="0"/>
            <a:r>
              <a:rPr lang="en-US" sz="1200" b="0" i="0" kern="1200" dirty="0" smtClean="0">
                <a:solidFill>
                  <a:schemeClr val="tx1"/>
                </a:solidFill>
                <a:effectLst/>
                <a:latin typeface="+mn-lt"/>
                <a:ea typeface="+mn-ea"/>
                <a:cs typeface="+mn-cs"/>
              </a:rPr>
              <a:t>It’s the combination of RPA and machine learning that organizations interpret as AI. Once organizations have automated various tasks by adding a level of learned intelligence, they’ll be able to monitor and understand the impact those efforts are having on their organization via real-time process discovery and process intelligence.</a:t>
            </a:r>
          </a:p>
          <a:p>
            <a:pPr rtl="0"/>
            <a:r>
              <a:rPr lang="en-US" sz="1200" b="1" i="0" kern="1200" dirty="0" smtClean="0">
                <a:solidFill>
                  <a:schemeClr val="tx1"/>
                </a:solidFill>
                <a:effectLst/>
                <a:latin typeface="+mn-lt"/>
                <a:ea typeface="+mn-ea"/>
                <a:cs typeface="+mn-cs"/>
              </a:rPr>
              <a:t>3. Algorithms are not more important than data</a:t>
            </a:r>
            <a:endParaRPr lang="en-US" sz="1200" b="0" i="0" kern="1200" dirty="0" smtClean="0">
              <a:solidFill>
                <a:schemeClr val="tx1"/>
              </a:solidFill>
              <a:effectLst/>
              <a:latin typeface="+mn-lt"/>
              <a:ea typeface="+mn-ea"/>
              <a:cs typeface="+mn-cs"/>
            </a:endParaRPr>
          </a:p>
          <a:p>
            <a:pPr rtl="0"/>
            <a:r>
              <a:rPr lang="en-US" sz="1200" b="0" i="0" kern="1200" dirty="0" smtClean="0">
                <a:solidFill>
                  <a:schemeClr val="tx1"/>
                </a:solidFill>
                <a:effectLst/>
                <a:latin typeface="+mn-lt"/>
                <a:ea typeface="+mn-ea"/>
                <a:cs typeface="+mn-cs"/>
              </a:rPr>
              <a:t>This is akin to the chicken-or-the-egg conundrum. Algorithms need data to work, yet algorithms enable you to do whatever you want with data. However, the design of an algorithm is guided by the data structure they are supposed to work with, so in reality, data is more important than the algorithm.</a:t>
            </a:r>
          </a:p>
          <a:p>
            <a:pPr rtl="0"/>
            <a:r>
              <a:rPr lang="en-US" sz="1200" b="1" i="0" kern="1200" dirty="0" smtClean="0">
                <a:solidFill>
                  <a:schemeClr val="tx1"/>
                </a:solidFill>
                <a:effectLst/>
                <a:latin typeface="+mn-lt"/>
                <a:ea typeface="+mn-ea"/>
                <a:cs typeface="+mn-cs"/>
              </a:rPr>
              <a:t>4. AI lacks an important human trait: Empathy</a:t>
            </a:r>
            <a:endParaRPr lang="en-US" sz="1200" b="0" i="0" kern="1200" dirty="0" smtClean="0">
              <a:solidFill>
                <a:schemeClr val="tx1"/>
              </a:solidFill>
              <a:effectLst/>
              <a:latin typeface="+mn-lt"/>
              <a:ea typeface="+mn-ea"/>
              <a:cs typeface="+mn-cs"/>
            </a:endParaRPr>
          </a:p>
          <a:p>
            <a:pPr rtl="0"/>
            <a:r>
              <a:rPr lang="en-US" sz="1200" b="0" i="0" kern="1200" dirty="0" smtClean="0">
                <a:solidFill>
                  <a:schemeClr val="tx1"/>
                </a:solidFill>
                <a:effectLst/>
                <a:latin typeface="+mn-lt"/>
                <a:ea typeface="+mn-ea"/>
                <a:cs typeface="+mn-cs"/>
              </a:rPr>
              <a:t>In reality, AI replaces mundane, repetitive and error-prone tasks so humans can focus on value-added processes that require creativity, problem solving and flexibility. However, workers carry unique characteristics like empathy and judgment that robots lack. Although, when this comes to having quick support or customer experience, </a:t>
            </a:r>
            <a:r>
              <a:rPr lang="en-US" sz="1200" b="1" i="0" u="none" strike="noStrike" kern="1200" dirty="0" err="1" smtClean="0">
                <a:solidFill>
                  <a:schemeClr val="tx1"/>
                </a:solidFill>
                <a:effectLst/>
                <a:latin typeface="+mn-lt"/>
                <a:ea typeface="+mn-ea"/>
                <a:cs typeface="+mn-cs"/>
                <a:hlinkClick r:id="rId3"/>
              </a:rPr>
              <a:t>chatbots</a:t>
            </a:r>
            <a:r>
              <a:rPr lang="en-US" sz="1200" b="0" i="0" kern="1200" dirty="0" smtClean="0">
                <a:solidFill>
                  <a:schemeClr val="tx1"/>
                </a:solidFill>
                <a:effectLst/>
                <a:latin typeface="+mn-lt"/>
                <a:ea typeface="+mn-ea"/>
                <a:cs typeface="+mn-cs"/>
              </a:rPr>
              <a:t> have taken the game ahead pretty well and quick. You can find interesting content to read by clicking </a:t>
            </a:r>
            <a:r>
              <a:rPr lang="en-US" sz="1200" b="0" i="0" u="none" strike="noStrike" kern="1200" dirty="0" smtClean="0">
                <a:solidFill>
                  <a:schemeClr val="tx1"/>
                </a:solidFill>
                <a:effectLst/>
                <a:latin typeface="+mn-lt"/>
                <a:ea typeface="+mn-ea"/>
                <a:cs typeface="+mn-cs"/>
                <a:hlinkClick r:id="rId4"/>
              </a:rPr>
              <a:t>here</a:t>
            </a:r>
            <a:r>
              <a:rPr lang="en-US" sz="1200" b="0" i="0" kern="1200" dirty="0" smtClean="0">
                <a:solidFill>
                  <a:schemeClr val="tx1"/>
                </a:solidFill>
                <a:effectLst/>
                <a:latin typeface="+mn-lt"/>
                <a:ea typeface="+mn-ea"/>
                <a:cs typeface="+mn-cs"/>
              </a:rPr>
              <a:t>.</a:t>
            </a:r>
          </a:p>
          <a:p>
            <a:pPr rtl="0"/>
            <a:r>
              <a:rPr lang="en-US" sz="1200" b="1" i="0" kern="1200" dirty="0" smtClean="0">
                <a:solidFill>
                  <a:schemeClr val="tx1"/>
                </a:solidFill>
                <a:effectLst/>
                <a:latin typeface="+mn-lt"/>
                <a:ea typeface="+mn-ea"/>
                <a:cs typeface="+mn-cs"/>
              </a:rPr>
              <a:t>5. Expect a cultural and skills shift</a:t>
            </a:r>
            <a:endParaRPr lang="en-US" sz="1200" b="0" i="0" kern="1200" dirty="0" smtClean="0">
              <a:solidFill>
                <a:schemeClr val="tx1"/>
              </a:solidFill>
              <a:effectLst/>
              <a:latin typeface="+mn-lt"/>
              <a:ea typeface="+mn-ea"/>
              <a:cs typeface="+mn-cs"/>
            </a:endParaRPr>
          </a:p>
          <a:p>
            <a:pPr rtl="0"/>
            <a:r>
              <a:rPr lang="en-US" sz="1200" b="0" i="0" kern="1200" dirty="0" smtClean="0">
                <a:solidFill>
                  <a:schemeClr val="tx1"/>
                </a:solidFill>
                <a:effectLst/>
                <a:latin typeface="+mn-lt"/>
                <a:ea typeface="+mn-ea"/>
                <a:cs typeface="+mn-cs"/>
              </a:rPr>
              <a:t>Organizations can count on seeing a dramatic change within the company culture and employee skillset within the next three to five years. However, embracing AI needs to lead from the CEO and spread throughout the workforce in order to be successful due to the human nature’s reluctance to accept change. Having management spearhead the cultural shift will foster acceptance quicker.</a:t>
            </a:r>
          </a:p>
          <a:p>
            <a:pPr rtl="0"/>
            <a:r>
              <a:rPr lang="en-US" sz="1200" b="0" i="0" kern="1200" dirty="0" smtClean="0">
                <a:solidFill>
                  <a:schemeClr val="tx1"/>
                </a:solidFill>
                <a:effectLst/>
                <a:latin typeface="+mn-lt"/>
                <a:ea typeface="+mn-ea"/>
                <a:cs typeface="+mn-cs"/>
              </a:rPr>
              <a:t>From a skills perspective, the introduction of AI into the general workplace will result in more tasks being addressed by the system of record applications. For example, in the mortgage lending market, the dependency on a loan origination officer to drive the loan process will lessen due to the loan origination system being able to make intelligent decisions based on past funding behavior. This will leave only rules-based exceptions to require a loan processor’s attention. As a result, this will lighten the overall workload for loan officers, allowing them to be more responsive when an exception rises and should allow mortgage lenders to increase the productivity of their operations.</a:t>
            </a:r>
          </a:p>
          <a:p>
            <a:endParaRPr lang="en-US" sz="1200" b="0" i="0" kern="1200" dirty="0" smtClean="0">
              <a:solidFill>
                <a:schemeClr val="tx1"/>
              </a:solidFill>
              <a:effectLst/>
              <a:latin typeface="+mn-lt"/>
              <a:ea typeface="+mn-ea"/>
              <a:cs typeface="+mn-cs"/>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sz="1200" b="1" i="0" kern="1200" dirty="0" smtClean="0">
                <a:solidFill>
                  <a:schemeClr val="tx1"/>
                </a:solidFill>
                <a:effectLst/>
                <a:latin typeface="+mn-lt"/>
                <a:ea typeface="+mn-ea"/>
                <a:cs typeface="+mn-cs"/>
              </a:rPr>
              <a:t>b. </a:t>
            </a:r>
            <a:r>
              <a:rPr lang="en-US" sz="2600" b="1" dirty="0" smtClean="0">
                <a:latin typeface="Rockwell" pitchFamily="18" charset="0"/>
              </a:rPr>
              <a:t>What kinds of technique will be useful for solving AI problems?</a:t>
            </a:r>
          </a:p>
          <a:p>
            <a:r>
              <a:rPr lang="en-US" sz="1200" b="1" i="0" kern="1200" dirty="0" smtClean="0">
                <a:solidFill>
                  <a:schemeClr val="tx1"/>
                </a:solidFill>
                <a:effectLst/>
                <a:latin typeface="+mn-lt"/>
                <a:ea typeface="+mn-ea"/>
                <a:cs typeface="+mn-cs"/>
              </a:rPr>
              <a:t/>
            </a:r>
            <a:br>
              <a:rPr lang="en-US" sz="1200" b="1" i="0" kern="1200" dirty="0" smtClean="0">
                <a:solidFill>
                  <a:schemeClr val="tx1"/>
                </a:solidFill>
                <a:effectLst/>
                <a:latin typeface="+mn-lt"/>
                <a:ea typeface="+mn-ea"/>
                <a:cs typeface="+mn-cs"/>
              </a:rPr>
            </a:br>
            <a:endParaRPr lang="en-US" dirty="0" smtClean="0"/>
          </a:p>
          <a:p>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reflex agents </a:t>
            </a:r>
            <a:r>
              <a:rPr lang="en-US" sz="1200" b="0" i="0" kern="1200" dirty="0" smtClean="0">
                <a:solidFill>
                  <a:schemeClr val="tx1"/>
                </a:solidFill>
                <a:effectLst/>
                <a:latin typeface="+mn-lt"/>
                <a:ea typeface="+mn-ea"/>
                <a:cs typeface="+mn-cs"/>
              </a:rPr>
              <a:t>are known as the simplest agents because they directly map states into actions. Unfortunately, these agents fail to operate in an environment where the mapping is too large to store and learn. </a:t>
            </a:r>
            <a:r>
              <a:rPr lang="en-US" sz="1200" b="1" i="0" kern="1200" dirty="0" smtClean="0">
                <a:solidFill>
                  <a:schemeClr val="tx1"/>
                </a:solidFill>
                <a:effectLst/>
                <a:latin typeface="+mn-lt"/>
                <a:ea typeface="+mn-ea"/>
                <a:cs typeface="+mn-cs"/>
              </a:rPr>
              <a:t>Goal-based agent, </a:t>
            </a:r>
            <a:r>
              <a:rPr lang="en-US" sz="1200" b="0" i="0" kern="1200" dirty="0" smtClean="0">
                <a:solidFill>
                  <a:schemeClr val="tx1"/>
                </a:solidFill>
                <a:effectLst/>
                <a:latin typeface="+mn-lt"/>
                <a:ea typeface="+mn-ea"/>
                <a:cs typeface="+mn-cs"/>
              </a:rPr>
              <a:t>on the other hand, considers future actions and the desired outcomes.</a:t>
            </a:r>
          </a:p>
          <a:p>
            <a:r>
              <a:rPr lang="en-US" sz="1200" b="0" i="0" kern="1200" dirty="0" smtClean="0">
                <a:solidFill>
                  <a:schemeClr val="tx1"/>
                </a:solidFill>
                <a:effectLst/>
                <a:latin typeface="+mn-lt"/>
                <a:ea typeface="+mn-ea"/>
                <a:cs typeface="+mn-cs"/>
              </a:rPr>
              <a:t>Here, we will discuss one type of goal-based agent known as a </a:t>
            </a:r>
            <a:r>
              <a:rPr lang="en-US" sz="1200" b="1" i="0" kern="1200" dirty="0" smtClean="0">
                <a:solidFill>
                  <a:schemeClr val="tx1"/>
                </a:solidFill>
                <a:effectLst/>
                <a:latin typeface="+mn-lt"/>
                <a:ea typeface="+mn-ea"/>
                <a:cs typeface="+mn-cs"/>
              </a:rPr>
              <a:t>problem-solving agent</a:t>
            </a:r>
            <a:r>
              <a:rPr lang="en-US" sz="1200" b="0" i="0" kern="1200" dirty="0" smtClean="0">
                <a:solidFill>
                  <a:schemeClr val="tx1"/>
                </a:solidFill>
                <a:effectLst/>
                <a:latin typeface="+mn-lt"/>
                <a:ea typeface="+mn-ea"/>
                <a:cs typeface="+mn-cs"/>
              </a:rPr>
              <a:t>, which uses atomic representation with no internal states visible to the problem-solving algorithms.</a:t>
            </a:r>
          </a:p>
          <a:p>
            <a:r>
              <a:rPr lang="en-US" sz="1200" b="0" i="0" kern="1200" dirty="0" smtClean="0">
                <a:solidFill>
                  <a:schemeClr val="tx1"/>
                </a:solidFill>
                <a:effectLst/>
                <a:latin typeface="+mn-lt"/>
                <a:ea typeface="+mn-ea"/>
                <a:cs typeface="+mn-cs"/>
              </a:rPr>
              <a:t>What steps are involved in developing a problem solving agent?</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Before an </a:t>
            </a:r>
            <a:r>
              <a:rPr lang="en-US" sz="1200" b="1" i="0" kern="1200" dirty="0" smtClean="0">
                <a:solidFill>
                  <a:schemeClr val="tx1"/>
                </a:solidFill>
                <a:effectLst/>
                <a:latin typeface="+mn-lt"/>
                <a:ea typeface="+mn-ea"/>
                <a:cs typeface="+mn-cs"/>
              </a:rPr>
              <a:t>agent</a:t>
            </a:r>
            <a:r>
              <a:rPr lang="en-US" sz="1200" b="0" i="0" kern="1200" dirty="0" smtClean="0">
                <a:solidFill>
                  <a:schemeClr val="tx1"/>
                </a:solidFill>
                <a:effectLst/>
                <a:latin typeface="+mn-lt"/>
                <a:ea typeface="+mn-ea"/>
                <a:cs typeface="+mn-cs"/>
              </a:rPr>
              <a:t> can start searching for solutions, it must formulate a goal and then use that goal to formulate a </a:t>
            </a:r>
            <a:r>
              <a:rPr lang="en-US" sz="1200" b="1" i="0" kern="1200" dirty="0" smtClean="0">
                <a:solidFill>
                  <a:schemeClr val="tx1"/>
                </a:solidFill>
                <a:effectLst/>
                <a:latin typeface="+mn-lt"/>
                <a:ea typeface="+mn-ea"/>
                <a:cs typeface="+mn-cs"/>
              </a:rPr>
              <a:t>problem</a:t>
            </a:r>
            <a:r>
              <a:rPr lang="en-US" sz="1200" b="0" i="0" kern="1200" dirty="0" smtClean="0">
                <a:solidFill>
                  <a:schemeClr val="tx1"/>
                </a:solidFill>
                <a:effectLst/>
                <a:latin typeface="+mn-lt"/>
                <a:ea typeface="+mn-ea"/>
                <a:cs typeface="+mn-cs"/>
              </a:rPr>
              <a:t>. A </a:t>
            </a:r>
            <a:r>
              <a:rPr lang="en-US" sz="1200" b="1" i="0" kern="1200" dirty="0" smtClean="0">
                <a:solidFill>
                  <a:schemeClr val="tx1"/>
                </a:solidFill>
                <a:effectLst/>
                <a:latin typeface="+mn-lt"/>
                <a:ea typeface="+mn-ea"/>
                <a:cs typeface="+mn-cs"/>
              </a:rPr>
              <a:t>problem</a:t>
            </a:r>
            <a:r>
              <a:rPr lang="en-US" sz="1200" b="0" i="0" kern="1200" dirty="0" smtClean="0">
                <a:solidFill>
                  <a:schemeClr val="tx1"/>
                </a:solidFill>
                <a:effectLst/>
                <a:latin typeface="+mn-lt"/>
                <a:ea typeface="+mn-ea"/>
                <a:cs typeface="+mn-cs"/>
              </a:rPr>
              <a:t> consists of five parts: The state space, an initial situation, actions, a goal test, and path costs. A path from an initial state to a goal state is a </a:t>
            </a:r>
            <a:r>
              <a:rPr lang="en-US" sz="1200" b="1" i="0" kern="1200" dirty="0" smtClean="0">
                <a:solidFill>
                  <a:schemeClr val="tx1"/>
                </a:solidFill>
                <a:effectLst/>
                <a:latin typeface="+mn-lt"/>
                <a:ea typeface="+mn-ea"/>
                <a:cs typeface="+mn-cs"/>
              </a:rPr>
              <a:t>solution</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18</a:t>
            </a:fld>
            <a:endParaRPr lang="en-GB" dirty="0"/>
          </a:p>
        </p:txBody>
      </p:sp>
    </p:spTree>
    <p:extLst>
      <p:ext uri="{BB962C8B-B14F-4D97-AF65-F5344CB8AC3E}">
        <p14:creationId xmlns:p14="http://schemas.microsoft.com/office/powerpoint/2010/main" val="1949462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77500" lnSpcReduction="20000"/>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physical symbol system</a:t>
            </a:r>
            <a:r>
              <a:rPr lang="en-US" sz="1200" b="0" i="0" kern="1200" dirty="0" smtClean="0">
                <a:solidFill>
                  <a:schemeClr val="tx1"/>
                </a:solidFill>
                <a:effectLst/>
                <a:latin typeface="+mn-lt"/>
                <a:ea typeface="+mn-ea"/>
                <a:cs typeface="+mn-cs"/>
              </a:rPr>
              <a:t> (also called a </a:t>
            </a:r>
            <a:r>
              <a:rPr lang="en-US" sz="1200" b="0" i="0" u="none" strike="noStrike" kern="1200" dirty="0" smtClean="0">
                <a:solidFill>
                  <a:schemeClr val="tx1"/>
                </a:solidFill>
                <a:effectLst/>
                <a:latin typeface="+mn-lt"/>
                <a:ea typeface="+mn-ea"/>
                <a:cs typeface="+mn-cs"/>
                <a:hlinkClick r:id="rId3" tooltip="Formal system"/>
              </a:rPr>
              <a:t>formal system</a:t>
            </a:r>
            <a:r>
              <a:rPr lang="en-US" sz="1200" b="0" i="0" kern="1200" dirty="0" smtClean="0">
                <a:solidFill>
                  <a:schemeClr val="tx1"/>
                </a:solidFill>
                <a:effectLst/>
                <a:latin typeface="+mn-lt"/>
                <a:ea typeface="+mn-ea"/>
                <a:cs typeface="+mn-cs"/>
              </a:rPr>
              <a:t>) takes physical patterns (symbols), combining them into structures (expressions) and manipulating them (using processes) to produce new expressions.</a:t>
            </a:r>
          </a:p>
          <a:p>
            <a:r>
              <a:rPr lang="en-US" dirty="0" smtClean="0"/>
              <a:t> </a:t>
            </a:r>
          </a:p>
          <a:p>
            <a:pPr fontAlgn="t"/>
            <a:r>
              <a:rPr lang="en-US" sz="1200" b="0" i="0" kern="1200" dirty="0" smtClean="0">
                <a:solidFill>
                  <a:schemeClr val="tx1"/>
                </a:solidFill>
                <a:effectLst/>
                <a:latin typeface="+mn-lt"/>
                <a:ea typeface="+mn-ea"/>
                <a:cs typeface="+mn-cs"/>
              </a:rPr>
              <a:t>Hypothesis</a:t>
            </a:r>
            <a:r>
              <a:rPr lang="en-US" sz="1200" b="0" i="0" kern="1200" baseline="0" dirty="0" smtClean="0">
                <a:solidFill>
                  <a:schemeClr val="tx1"/>
                </a:solidFill>
                <a:effectLst/>
                <a:latin typeface="+mn-lt"/>
                <a:ea typeface="+mn-ea"/>
                <a:cs typeface="+mn-cs"/>
              </a:rPr>
              <a:t> - </a:t>
            </a:r>
            <a:r>
              <a:rPr lang="en-US" sz="1200" b="0" i="0" kern="1200" dirty="0" smtClean="0">
                <a:solidFill>
                  <a:schemeClr val="tx1"/>
                </a:solidFill>
                <a:effectLst/>
                <a:latin typeface="+mn-lt"/>
                <a:ea typeface="+mn-ea"/>
                <a:cs typeface="+mn-cs"/>
              </a:rPr>
              <a:t>a supposition or proposed explanation made on the basis of limited evidence as a starting point for further investigation.</a:t>
            </a:r>
          </a:p>
          <a:p>
            <a:endParaRPr lang="en-US" dirty="0" smtClean="0"/>
          </a:p>
          <a:p>
            <a:r>
              <a:rPr lang="en-US" dirty="0" smtClean="0"/>
              <a:t>The physical symbol system hypothesis (PSSH), first formulated by Newell and Simon in their Turing Award paper,1 states that </a:t>
            </a:r>
            <a:r>
              <a:rPr lang="en-US" b="1" dirty="0" smtClean="0"/>
              <a:t>“a physical symbol system [such as a digital computer, for example] has the necessary and sufficient means for intelligent action.” </a:t>
            </a:r>
            <a:r>
              <a:rPr lang="en-US" dirty="0" smtClean="0"/>
              <a:t>The hypothesis implies that computers, when we provide them with the appropriate symbol-processing programs, will be capable of intelligent action. It also implies, as Newell and Simon wrote, that </a:t>
            </a:r>
            <a:r>
              <a:rPr lang="en-US" b="1" dirty="0" smtClean="0"/>
              <a:t>“the symbolic behavior of man arises because he has the characteristics of a physical symbol system.” </a:t>
            </a:r>
            <a:r>
              <a:rPr lang="en-US" dirty="0" smtClean="0"/>
              <a:t>Newell and Simon admitted that </a:t>
            </a:r>
          </a:p>
          <a:p>
            <a:pPr lvl="1"/>
            <a:r>
              <a:rPr lang="en-US" b="1" i="1" dirty="0" smtClean="0"/>
              <a:t>“The hypothesis could indeed be false. Intelligent behavior is not so easy to produce that any system will exhibit it willy-nilly. Indeed, there are people whose analyses lead them to conclude either on philosophical or on scientific grounds that the hypothesis is false. Scientifically, one can attack or defend it only by bringing forth empirical evidence about the natural world.”</a:t>
            </a:r>
          </a:p>
          <a:p>
            <a:pPr lvl="1"/>
            <a:endParaRPr lang="en-US" b="1" i="1" dirty="0" smtClean="0"/>
          </a:p>
          <a:p>
            <a:r>
              <a:rPr lang="en-US" sz="1200" b="0" i="0" kern="1200" dirty="0" smtClean="0">
                <a:solidFill>
                  <a:schemeClr val="tx1"/>
                </a:solidFill>
                <a:effectLst/>
                <a:latin typeface="+mn-lt"/>
                <a:ea typeface="+mn-ea"/>
                <a:cs typeface="+mn-cs"/>
              </a:rPr>
              <a:t>The </a:t>
            </a:r>
            <a:r>
              <a:rPr lang="en-US" sz="1200" b="1" i="0" kern="1200" dirty="0" smtClean="0">
                <a:solidFill>
                  <a:schemeClr val="tx1"/>
                </a:solidFill>
                <a:effectLst/>
                <a:latin typeface="+mn-lt"/>
                <a:ea typeface="+mn-ea"/>
                <a:cs typeface="+mn-cs"/>
              </a:rPr>
              <a:t>physical symbol system hypothesis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PSSH</a:t>
            </a:r>
            <a:r>
              <a:rPr lang="en-US" sz="1200" b="0" i="0" kern="1200" dirty="0" smtClean="0">
                <a:solidFill>
                  <a:schemeClr val="tx1"/>
                </a:solidFill>
                <a:effectLst/>
                <a:latin typeface="+mn-lt"/>
                <a:ea typeface="+mn-ea"/>
                <a:cs typeface="+mn-cs"/>
              </a:rPr>
              <a:t>) is a position in the </a:t>
            </a:r>
            <a:r>
              <a:rPr lang="en-US" sz="1200" b="0" i="0" u="none" strike="noStrike" kern="1200" dirty="0" smtClean="0">
                <a:solidFill>
                  <a:schemeClr val="tx1"/>
                </a:solidFill>
                <a:effectLst/>
                <a:latin typeface="+mn-lt"/>
                <a:ea typeface="+mn-ea"/>
                <a:cs typeface="+mn-cs"/>
                <a:hlinkClick r:id="rId4" tooltip="Philosophy of artificial intelligence"/>
              </a:rPr>
              <a:t>philosophy of artificial intelligence</a:t>
            </a:r>
            <a:r>
              <a:rPr lang="en-US" sz="1200" b="0" i="0" kern="1200" dirty="0" smtClean="0">
                <a:solidFill>
                  <a:schemeClr val="tx1"/>
                </a:solidFill>
                <a:effectLst/>
                <a:latin typeface="+mn-lt"/>
                <a:ea typeface="+mn-ea"/>
                <a:cs typeface="+mn-cs"/>
              </a:rPr>
              <a:t> formulated by </a:t>
            </a:r>
            <a:r>
              <a:rPr lang="en-US" sz="1200" b="0" i="0" u="none" strike="noStrike" kern="1200" dirty="0" smtClean="0">
                <a:solidFill>
                  <a:schemeClr val="tx1"/>
                </a:solidFill>
                <a:effectLst/>
                <a:latin typeface="+mn-lt"/>
                <a:ea typeface="+mn-ea"/>
                <a:cs typeface="+mn-cs"/>
                <a:hlinkClick r:id="rId5" tooltip="Allen Newell"/>
              </a:rPr>
              <a:t>Allen Newell</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6" tooltip="Herbert A. Simon"/>
              </a:rPr>
              <a:t>Herbert A. Simon</a:t>
            </a:r>
            <a:r>
              <a:rPr lang="en-US" sz="1200" b="0" i="0" kern="1200" dirty="0" smtClean="0">
                <a:solidFill>
                  <a:schemeClr val="tx1"/>
                </a:solidFill>
                <a:effectLst/>
                <a:latin typeface="+mn-lt"/>
                <a:ea typeface="+mn-ea"/>
                <a:cs typeface="+mn-cs"/>
              </a:rPr>
              <a:t>. They wrote:</a:t>
            </a:r>
          </a:p>
          <a:p>
            <a:r>
              <a:rPr lang="en-US" dirty="0" smtClean="0">
                <a:effectLst/>
              </a:rPr>
              <a:t>"A physical symbol system has the </a:t>
            </a:r>
            <a:r>
              <a:rPr lang="en-US" sz="1200" u="none" strike="noStrike" kern="1200" dirty="0" smtClean="0">
                <a:solidFill>
                  <a:schemeClr val="tx1"/>
                </a:solidFill>
                <a:effectLst/>
                <a:latin typeface="+mn-lt"/>
                <a:ea typeface="+mn-ea"/>
                <a:cs typeface="+mn-cs"/>
                <a:hlinkClick r:id="rId7" tooltip="Sufficient"/>
              </a:rPr>
              <a:t>necessary and sufficient means</a:t>
            </a:r>
            <a:r>
              <a:rPr lang="en-US" dirty="0" smtClean="0">
                <a:effectLst/>
              </a:rPr>
              <a:t> for general intelligent action."</a:t>
            </a:r>
            <a:r>
              <a:rPr lang="en-US" sz="1200" b="0" i="0" u="none" strike="noStrike" kern="1200" baseline="30000" dirty="0" smtClean="0">
                <a:solidFill>
                  <a:schemeClr val="tx1"/>
                </a:solidFill>
                <a:effectLst/>
                <a:latin typeface="+mn-lt"/>
                <a:ea typeface="+mn-ea"/>
                <a:cs typeface="+mn-cs"/>
                <a:hlinkClick r:id="rId8"/>
              </a:rPr>
              <a:t>[1]</a:t>
            </a:r>
            <a:endParaRPr lang="en-US" dirty="0" smtClean="0">
              <a:effectLst/>
            </a:endParaRPr>
          </a:p>
          <a:p>
            <a:r>
              <a:rPr lang="en-US" dirty="0" smtClean="0">
                <a:effectLst/>
              </a:rPr>
              <a:t>— </a:t>
            </a:r>
            <a:r>
              <a:rPr lang="en-US" sz="1200" i="1" u="none" strike="noStrike" kern="1200" dirty="0" smtClean="0">
                <a:solidFill>
                  <a:schemeClr val="tx1"/>
                </a:solidFill>
                <a:effectLst/>
                <a:latin typeface="+mn-lt"/>
                <a:ea typeface="+mn-ea"/>
                <a:cs typeface="+mn-cs"/>
                <a:hlinkClick r:id="rId5" tooltip="Allen Newell"/>
              </a:rPr>
              <a:t>Allen Newell</a:t>
            </a:r>
            <a:r>
              <a:rPr lang="en-US" i="1" dirty="0" smtClean="0">
                <a:effectLst/>
              </a:rPr>
              <a:t> and </a:t>
            </a:r>
            <a:r>
              <a:rPr lang="en-US" sz="1200" i="1" u="none" strike="noStrike" kern="1200" dirty="0" smtClean="0">
                <a:solidFill>
                  <a:schemeClr val="tx1"/>
                </a:solidFill>
                <a:effectLst/>
                <a:latin typeface="+mn-lt"/>
                <a:ea typeface="+mn-ea"/>
                <a:cs typeface="+mn-cs"/>
                <a:hlinkClick r:id="rId6" tooltip="Herbert A. Simon"/>
              </a:rPr>
              <a:t>Herbert A. Simon</a:t>
            </a:r>
            <a:endParaRPr lang="en-US" dirty="0" smtClean="0">
              <a:effectLst/>
            </a:endParaRPr>
          </a:p>
          <a:p>
            <a:r>
              <a:rPr lang="en-US" sz="1200" b="0" i="0" kern="1200" dirty="0" smtClean="0">
                <a:solidFill>
                  <a:schemeClr val="tx1"/>
                </a:solidFill>
                <a:effectLst/>
                <a:latin typeface="+mn-lt"/>
                <a:ea typeface="+mn-ea"/>
                <a:cs typeface="+mn-cs"/>
              </a:rPr>
              <a:t>This claim implies both that human thinking is a kind of symbol manipulation (because a symbol system is necessary for intelligence) and that machines can be intelligent (because a symbol system is </a:t>
            </a:r>
            <a:r>
              <a:rPr lang="en-US" sz="1200" b="0" i="0" u="none" strike="noStrike" kern="1200" dirty="0" smtClean="0">
                <a:solidFill>
                  <a:schemeClr val="tx1"/>
                </a:solidFill>
                <a:effectLst/>
                <a:latin typeface="+mn-lt"/>
                <a:ea typeface="+mn-ea"/>
                <a:cs typeface="+mn-cs"/>
                <a:hlinkClick r:id="rId7" tooltip="Sufficient"/>
              </a:rPr>
              <a:t>sufficient</a:t>
            </a:r>
            <a:r>
              <a:rPr lang="en-US" sz="1200" b="0" i="0" kern="1200" dirty="0" smtClean="0">
                <a:solidFill>
                  <a:schemeClr val="tx1"/>
                </a:solidFill>
                <a:effectLst/>
                <a:latin typeface="+mn-lt"/>
                <a:ea typeface="+mn-ea"/>
                <a:cs typeface="+mn-cs"/>
              </a:rPr>
              <a:t> for intelligence).</a:t>
            </a:r>
            <a:r>
              <a:rPr lang="en-US" sz="1200" b="0" i="0" u="none" strike="noStrike" kern="1200" baseline="30000" dirty="0" smtClean="0">
                <a:solidFill>
                  <a:schemeClr val="tx1"/>
                </a:solidFill>
                <a:effectLst/>
                <a:latin typeface="+mn-lt"/>
                <a:ea typeface="+mn-ea"/>
                <a:cs typeface="+mn-cs"/>
                <a:hlinkClick r:id="rId9"/>
              </a:rPr>
              <a:t>[2]</a:t>
            </a:r>
            <a:endParaRPr lang="en-US" sz="1200" b="0" i="0" kern="1200" dirty="0" smtClean="0">
              <a:solidFill>
                <a:schemeClr val="tx1"/>
              </a:solidFill>
              <a:effectLst/>
              <a:latin typeface="+mn-lt"/>
              <a:ea typeface="+mn-ea"/>
              <a:cs typeface="+mn-cs"/>
            </a:endParaRPr>
          </a:p>
          <a:p>
            <a:r>
              <a:rPr lang="en-US" sz="1200" b="0" i="0" strike="sngStrike" kern="1200" dirty="0" smtClean="0">
                <a:solidFill>
                  <a:schemeClr val="tx1"/>
                </a:solidFill>
                <a:effectLst/>
                <a:latin typeface="+mn-lt"/>
                <a:ea typeface="+mn-ea"/>
                <a:cs typeface="+mn-cs"/>
              </a:rPr>
              <a:t>The idea has philosophical roots in </a:t>
            </a:r>
            <a:r>
              <a:rPr lang="en-US" sz="1200" b="0" i="0" u="none" strike="sngStrike" kern="1200" dirty="0" smtClean="0">
                <a:solidFill>
                  <a:schemeClr val="tx1"/>
                </a:solidFill>
                <a:effectLst/>
                <a:latin typeface="+mn-lt"/>
                <a:ea typeface="+mn-ea"/>
                <a:cs typeface="+mn-cs"/>
                <a:hlinkClick r:id="rId10" tooltip="Hobbes"/>
              </a:rPr>
              <a:t>Hobbes</a:t>
            </a:r>
            <a:r>
              <a:rPr lang="en-US" sz="1200" b="0" i="0" strike="sngStrike" kern="1200" dirty="0" smtClean="0">
                <a:solidFill>
                  <a:schemeClr val="tx1"/>
                </a:solidFill>
                <a:effectLst/>
                <a:latin typeface="+mn-lt"/>
                <a:ea typeface="+mn-ea"/>
                <a:cs typeface="+mn-cs"/>
              </a:rPr>
              <a:t> (who claimed reasoning was "nothing more than reckoning"), </a:t>
            </a:r>
            <a:r>
              <a:rPr lang="en-US" sz="1200" b="0" i="0" u="none" strike="sngStrike" kern="1200" dirty="0" smtClean="0">
                <a:solidFill>
                  <a:schemeClr val="tx1"/>
                </a:solidFill>
                <a:effectLst/>
                <a:latin typeface="+mn-lt"/>
                <a:ea typeface="+mn-ea"/>
                <a:cs typeface="+mn-cs"/>
                <a:hlinkClick r:id="rId11" tooltip="Gottfried Wilhelm Leibniz"/>
              </a:rPr>
              <a:t>Leibniz</a:t>
            </a:r>
            <a:r>
              <a:rPr lang="en-US" sz="1200" b="0" i="0" strike="sngStrike" kern="1200" dirty="0" smtClean="0">
                <a:solidFill>
                  <a:schemeClr val="tx1"/>
                </a:solidFill>
                <a:effectLst/>
                <a:latin typeface="+mn-lt"/>
                <a:ea typeface="+mn-ea"/>
                <a:cs typeface="+mn-cs"/>
              </a:rPr>
              <a:t> (who attempted to create a logical calculus of all human ideas), </a:t>
            </a:r>
            <a:r>
              <a:rPr lang="en-US" sz="1200" b="0" i="0" u="none" strike="sngStrike" kern="1200" dirty="0" smtClean="0">
                <a:solidFill>
                  <a:schemeClr val="tx1"/>
                </a:solidFill>
                <a:effectLst/>
                <a:latin typeface="+mn-lt"/>
                <a:ea typeface="+mn-ea"/>
                <a:cs typeface="+mn-cs"/>
                <a:hlinkClick r:id="rId12" tooltip="David Hume"/>
              </a:rPr>
              <a:t>Hume</a:t>
            </a:r>
            <a:r>
              <a:rPr lang="en-US" sz="1200" b="0" i="0" strike="sngStrike" kern="1200" dirty="0" smtClean="0">
                <a:solidFill>
                  <a:schemeClr val="tx1"/>
                </a:solidFill>
                <a:effectLst/>
                <a:latin typeface="+mn-lt"/>
                <a:ea typeface="+mn-ea"/>
                <a:cs typeface="+mn-cs"/>
              </a:rPr>
              <a:t> (who thought perception could be reduced to "atomic impressions") and even </a:t>
            </a:r>
            <a:r>
              <a:rPr lang="en-US" sz="1200" b="0" i="0" u="none" strike="sngStrike" kern="1200" dirty="0" smtClean="0">
                <a:solidFill>
                  <a:schemeClr val="tx1"/>
                </a:solidFill>
                <a:effectLst/>
                <a:latin typeface="+mn-lt"/>
                <a:ea typeface="+mn-ea"/>
                <a:cs typeface="+mn-cs"/>
                <a:hlinkClick r:id="rId13" tooltip="Immanuel Kant"/>
              </a:rPr>
              <a:t>Kant</a:t>
            </a:r>
            <a:r>
              <a:rPr lang="en-US" sz="1200" b="0" i="0" strike="sngStrike" kern="1200" dirty="0" smtClean="0">
                <a:solidFill>
                  <a:schemeClr val="tx1"/>
                </a:solidFill>
                <a:effectLst/>
                <a:latin typeface="+mn-lt"/>
                <a:ea typeface="+mn-ea"/>
                <a:cs typeface="+mn-cs"/>
              </a:rPr>
              <a:t> (who analyzed all experience as controlled by formal rules).</a:t>
            </a:r>
            <a:r>
              <a:rPr lang="en-US" sz="1200" b="0" i="0" u="none" strike="sngStrike" kern="1200" baseline="30000" dirty="0" smtClean="0">
                <a:solidFill>
                  <a:schemeClr val="tx1"/>
                </a:solidFill>
                <a:effectLst/>
                <a:latin typeface="+mn-lt"/>
                <a:ea typeface="+mn-ea"/>
                <a:cs typeface="+mn-cs"/>
                <a:hlinkClick r:id="rId14"/>
              </a:rPr>
              <a:t>[3]</a:t>
            </a:r>
            <a:r>
              <a:rPr lang="en-US" sz="1200" b="0" i="0" strike="sngStrike" kern="1200" dirty="0" smtClean="0">
                <a:solidFill>
                  <a:schemeClr val="tx1"/>
                </a:solidFill>
                <a:effectLst/>
                <a:latin typeface="+mn-lt"/>
                <a:ea typeface="+mn-ea"/>
                <a:cs typeface="+mn-cs"/>
              </a:rPr>
              <a:t> The latest version is called the </a:t>
            </a:r>
            <a:r>
              <a:rPr lang="en-US" sz="1200" b="0" i="0" u="none" strike="sngStrike" kern="1200" dirty="0" smtClean="0">
                <a:solidFill>
                  <a:schemeClr val="tx1"/>
                </a:solidFill>
                <a:effectLst/>
                <a:latin typeface="+mn-lt"/>
                <a:ea typeface="+mn-ea"/>
                <a:cs typeface="+mn-cs"/>
                <a:hlinkClick r:id="rId15" tooltip="Computational theory of mind"/>
              </a:rPr>
              <a:t>computational theory of mind</a:t>
            </a:r>
            <a:r>
              <a:rPr lang="en-US" sz="1200" b="0" i="0" strike="sngStrike" kern="1200" dirty="0" smtClean="0">
                <a:solidFill>
                  <a:schemeClr val="tx1"/>
                </a:solidFill>
                <a:effectLst/>
                <a:latin typeface="+mn-lt"/>
                <a:ea typeface="+mn-ea"/>
                <a:cs typeface="+mn-cs"/>
              </a:rPr>
              <a:t>, associated with philosophers </a:t>
            </a:r>
            <a:r>
              <a:rPr lang="en-US" sz="1200" b="0" i="0" u="none" strike="sngStrike" kern="1200" dirty="0" smtClean="0">
                <a:solidFill>
                  <a:schemeClr val="tx1"/>
                </a:solidFill>
                <a:effectLst/>
                <a:latin typeface="+mn-lt"/>
                <a:ea typeface="+mn-ea"/>
                <a:cs typeface="+mn-cs"/>
                <a:hlinkClick r:id="rId16" tooltip="Hilary Putnam"/>
              </a:rPr>
              <a:t>Hilary Putnam</a:t>
            </a:r>
            <a:r>
              <a:rPr lang="en-US" sz="1200" b="0" i="0" strike="sngStrike" kern="1200" dirty="0" smtClean="0">
                <a:solidFill>
                  <a:schemeClr val="tx1"/>
                </a:solidFill>
                <a:effectLst/>
                <a:latin typeface="+mn-lt"/>
                <a:ea typeface="+mn-ea"/>
                <a:cs typeface="+mn-cs"/>
              </a:rPr>
              <a:t> and </a:t>
            </a:r>
            <a:r>
              <a:rPr lang="en-US" sz="1200" b="0" i="0" u="none" strike="sngStrike" kern="1200" dirty="0" smtClean="0">
                <a:solidFill>
                  <a:schemeClr val="tx1"/>
                </a:solidFill>
                <a:effectLst/>
                <a:latin typeface="+mn-lt"/>
                <a:ea typeface="+mn-ea"/>
                <a:cs typeface="+mn-cs"/>
                <a:hlinkClick r:id="rId17" tooltip="Jerry Fodor"/>
              </a:rPr>
              <a:t>Jerry Fodor</a:t>
            </a:r>
            <a:r>
              <a:rPr lang="en-US" sz="1200" b="0" i="0" strike="sngStrike" kern="1200" dirty="0" smtClean="0">
                <a:solidFill>
                  <a:schemeClr val="tx1"/>
                </a:solidFill>
                <a:effectLst/>
                <a:latin typeface="+mn-lt"/>
                <a:ea typeface="+mn-ea"/>
                <a:cs typeface="+mn-cs"/>
              </a:rPr>
              <a:t>.</a:t>
            </a:r>
            <a:r>
              <a:rPr lang="en-US" sz="1200" b="0" i="0" u="none" strike="sngStrike" kern="1200" baseline="30000" dirty="0" smtClean="0">
                <a:solidFill>
                  <a:schemeClr val="tx1"/>
                </a:solidFill>
                <a:effectLst/>
                <a:latin typeface="+mn-lt"/>
                <a:ea typeface="+mn-ea"/>
                <a:cs typeface="+mn-cs"/>
                <a:hlinkClick r:id="rId18"/>
              </a:rPr>
              <a:t>[4]</a:t>
            </a:r>
            <a:endParaRPr lang="en-US" sz="1200" b="0" i="0" strike="sngStrike"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hypothesis has been criticized strongly by various parties, but is a core part of AI research. A common critical view is that the hypothesis seems appropriate for higher-level intelligence such as playing chess, but less appropriate for commonplace intelligence such as vision. A distinction is usually made between the kind of high level symbols that directly correspond with objects in the world, such as &lt;dog&gt; and &lt;tail&gt; and the more complex "symbols" that are present in a machine like a </a:t>
            </a:r>
            <a:r>
              <a:rPr lang="en-US" sz="1200" b="0" i="0" u="none" strike="noStrike" kern="1200" dirty="0" smtClean="0">
                <a:solidFill>
                  <a:schemeClr val="tx1"/>
                </a:solidFill>
                <a:effectLst/>
                <a:latin typeface="+mn-lt"/>
                <a:ea typeface="+mn-ea"/>
                <a:cs typeface="+mn-cs"/>
                <a:hlinkClick r:id="rId19" tooltip="Neural network"/>
              </a:rPr>
              <a:t>neural network</a:t>
            </a:r>
            <a:r>
              <a:rPr lang="en-US" sz="1200" b="0" i="0" kern="1200" dirty="0" smtClean="0">
                <a:solidFill>
                  <a:schemeClr val="tx1"/>
                </a:solidFill>
                <a:effectLst/>
                <a:latin typeface="+mn-lt"/>
                <a:ea typeface="+mn-ea"/>
                <a:cs typeface="+mn-cs"/>
              </a:rPr>
              <a:t>.</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smtClean="0"/>
              <a:t>AI-inspired cognitive science - </a:t>
            </a:r>
            <a:r>
              <a:rPr lang="en-US" sz="1200" b="1" i="0" kern="1200" dirty="0" smtClean="0">
                <a:solidFill>
                  <a:schemeClr val="tx1"/>
                </a:solidFill>
                <a:effectLst/>
                <a:latin typeface="+mn-lt"/>
                <a:ea typeface="+mn-ea"/>
                <a:cs typeface="+mn-cs"/>
              </a:rPr>
              <a:t>scientific</a:t>
            </a:r>
            <a:r>
              <a:rPr lang="en-US" sz="1200" b="0" i="0" kern="1200" dirty="0" smtClean="0">
                <a:solidFill>
                  <a:schemeClr val="tx1"/>
                </a:solidFill>
                <a:effectLst/>
                <a:latin typeface="+mn-lt"/>
                <a:ea typeface="+mn-ea"/>
                <a:cs typeface="+mn-cs"/>
              </a:rPr>
              <a:t> study of the human reasoning, emotions, language, perception, attention, and memory. </a:t>
            </a:r>
          </a:p>
        </p:txBody>
      </p:sp>
      <p:sp>
        <p:nvSpPr>
          <p:cNvPr id="4" name="Slide Number Placeholder 3"/>
          <p:cNvSpPr>
            <a:spLocks noGrp="1"/>
          </p:cNvSpPr>
          <p:nvPr>
            <p:ph type="sldNum" sz="quarter" idx="10"/>
          </p:nvPr>
        </p:nvSpPr>
        <p:spPr/>
        <p:txBody>
          <a:bodyPr/>
          <a:lstStyle/>
          <a:p>
            <a:fld id="{9D498802-2017-4E9A-A8AF-781802F703C5}" type="slidenum">
              <a:rPr lang="en-GB" smtClean="0"/>
              <a:pPr/>
              <a:t>19</a:t>
            </a:fld>
            <a:endParaRPr lang="en-GB" dirty="0"/>
          </a:p>
        </p:txBody>
      </p:sp>
    </p:spTree>
    <p:extLst>
      <p:ext uri="{BB962C8B-B14F-4D97-AF65-F5344CB8AC3E}">
        <p14:creationId xmlns:p14="http://schemas.microsoft.com/office/powerpoint/2010/main" val="1948144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physical symbol system</a:t>
            </a:r>
            <a:r>
              <a:rPr lang="en-US" sz="1200" b="0" i="0" kern="1200" dirty="0" smtClean="0">
                <a:solidFill>
                  <a:schemeClr val="tx1"/>
                </a:solidFill>
                <a:effectLst/>
                <a:latin typeface="+mn-lt"/>
                <a:ea typeface="+mn-ea"/>
                <a:cs typeface="+mn-cs"/>
              </a:rPr>
              <a:t> (also called a </a:t>
            </a:r>
            <a:r>
              <a:rPr lang="en-US" sz="1200" b="0" i="0" u="none" strike="noStrike" kern="1200" dirty="0" smtClean="0">
                <a:solidFill>
                  <a:schemeClr val="tx1"/>
                </a:solidFill>
                <a:effectLst/>
                <a:latin typeface="+mn-lt"/>
                <a:ea typeface="+mn-ea"/>
                <a:cs typeface="+mn-cs"/>
                <a:hlinkClick r:id="rId3" tooltip="Formal system"/>
              </a:rPr>
              <a:t>formal system</a:t>
            </a:r>
            <a:r>
              <a:rPr lang="en-US" sz="1200" b="0" i="0" kern="1200" dirty="0" smtClean="0">
                <a:solidFill>
                  <a:schemeClr val="tx1"/>
                </a:solidFill>
                <a:effectLst/>
                <a:latin typeface="+mn-lt"/>
                <a:ea typeface="+mn-ea"/>
                <a:cs typeface="+mn-cs"/>
              </a:rPr>
              <a:t>) takes physical patterns (symbols), combining them into structures (expressions) and manipulating them (using processes) to produce new expressions.</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20</a:t>
            </a:fld>
            <a:endParaRPr lang="en-GB" dirty="0"/>
          </a:p>
        </p:txBody>
      </p:sp>
    </p:spTree>
    <p:extLst>
      <p:ext uri="{BB962C8B-B14F-4D97-AF65-F5344CB8AC3E}">
        <p14:creationId xmlns:p14="http://schemas.microsoft.com/office/powerpoint/2010/main" val="32583505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pPr algn="just">
              <a:buNone/>
            </a:pPr>
            <a:r>
              <a:rPr lang="en-GB" sz="1200" dirty="0" smtClean="0"/>
              <a:t>The importance of the physical symbols system hypothesis is two fold:</a:t>
            </a:r>
          </a:p>
          <a:p>
            <a:endParaRPr lang="en-GB" sz="1200" dirty="0" smtClean="0"/>
          </a:p>
          <a:p>
            <a:pPr algn="just">
              <a:buFont typeface="Wingdings" pitchFamily="2" charset="2"/>
              <a:buChar char="Ø"/>
            </a:pPr>
            <a:r>
              <a:rPr lang="en-GB" sz="1200" dirty="0" smtClean="0"/>
              <a:t>It is a significant theory of the nature of human intelligence and so is of great interest to psychologists.</a:t>
            </a:r>
          </a:p>
          <a:p>
            <a:pPr algn="just"/>
            <a:endParaRPr lang="en-GB" sz="1200" dirty="0" smtClean="0"/>
          </a:p>
          <a:p>
            <a:pPr algn="just">
              <a:buFont typeface="Wingdings" pitchFamily="2" charset="2"/>
              <a:buChar char="Ø"/>
            </a:pPr>
            <a:r>
              <a:rPr lang="en-GB" sz="1200" dirty="0" smtClean="0"/>
              <a:t>It also forms the basis of the belief that it is possible to build programs that can perform intelligent tasks now performed by people.</a:t>
            </a: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21</a:t>
            </a:fld>
            <a:endParaRPr lang="en-GB" dirty="0"/>
          </a:p>
        </p:txBody>
      </p:sp>
    </p:spTree>
    <p:extLst>
      <p:ext uri="{BB962C8B-B14F-4D97-AF65-F5344CB8AC3E}">
        <p14:creationId xmlns:p14="http://schemas.microsoft.com/office/powerpoint/2010/main" val="639510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fontScale="47500" lnSpcReduction="20000"/>
          </a:bodyPr>
          <a:lstStyle/>
          <a:p>
            <a:r>
              <a:rPr lang="en-US" sz="1200" b="1" i="0" kern="1200" dirty="0" smtClean="0">
                <a:solidFill>
                  <a:schemeClr val="tx1"/>
                </a:solidFill>
                <a:effectLst/>
                <a:latin typeface="+mn-lt"/>
                <a:ea typeface="+mn-ea"/>
                <a:cs typeface="+mn-cs"/>
              </a:rPr>
              <a:t>Symbolic artificial intelligence</a:t>
            </a:r>
            <a:r>
              <a:rPr lang="en-US" sz="1200" b="0" i="0" kern="1200" dirty="0" smtClean="0">
                <a:solidFill>
                  <a:schemeClr val="tx1"/>
                </a:solidFill>
                <a:effectLst/>
                <a:latin typeface="+mn-lt"/>
                <a:ea typeface="+mn-ea"/>
                <a:cs typeface="+mn-cs"/>
              </a:rPr>
              <a:t> is the term for the collection of all methods in </a:t>
            </a:r>
            <a:r>
              <a:rPr lang="en-US" sz="1200" b="0" i="0" u="none" strike="noStrike" kern="1200" dirty="0" smtClean="0">
                <a:solidFill>
                  <a:schemeClr val="tx1"/>
                </a:solidFill>
                <a:effectLst/>
                <a:latin typeface="+mn-lt"/>
                <a:ea typeface="+mn-ea"/>
                <a:cs typeface="+mn-cs"/>
                <a:hlinkClick r:id="rId3" tooltip="Artificial intelligence"/>
              </a:rPr>
              <a:t>artificial intelligence</a:t>
            </a:r>
            <a:r>
              <a:rPr lang="en-US" sz="1200" b="0" i="0" kern="1200" dirty="0" smtClean="0">
                <a:solidFill>
                  <a:schemeClr val="tx1"/>
                </a:solidFill>
                <a:effectLst/>
                <a:latin typeface="+mn-lt"/>
                <a:ea typeface="+mn-ea"/>
                <a:cs typeface="+mn-cs"/>
              </a:rPr>
              <a:t> research that are based on high-level "symbolic" (human-readable) representations of problems, </a:t>
            </a:r>
            <a:r>
              <a:rPr lang="en-US" sz="1200" b="0" i="0" u="none" strike="noStrike" kern="1200" dirty="0" smtClean="0">
                <a:solidFill>
                  <a:schemeClr val="tx1"/>
                </a:solidFill>
                <a:effectLst/>
                <a:latin typeface="+mn-lt"/>
                <a:ea typeface="+mn-ea"/>
                <a:cs typeface="+mn-cs"/>
                <a:hlinkClick r:id="rId4" tooltip="Formal logic"/>
              </a:rPr>
              <a:t>logic</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5" tooltip="Search algorithm"/>
              </a:rPr>
              <a:t>search</a:t>
            </a:r>
            <a:r>
              <a:rPr lang="en-US" sz="1200" b="0" i="0" kern="1200" dirty="0" smtClean="0">
                <a:solidFill>
                  <a:schemeClr val="tx1"/>
                </a:solidFill>
                <a:effectLst/>
                <a:latin typeface="+mn-lt"/>
                <a:ea typeface="+mn-ea"/>
                <a:cs typeface="+mn-cs"/>
              </a:rPr>
              <a:t>. Symbolic AI was the dominant </a:t>
            </a:r>
            <a:r>
              <a:rPr lang="en-US" sz="1200" b="0" i="0" u="none" strike="noStrike" kern="1200" dirty="0" smtClean="0">
                <a:solidFill>
                  <a:schemeClr val="tx1"/>
                </a:solidFill>
                <a:effectLst/>
                <a:latin typeface="+mn-lt"/>
                <a:ea typeface="+mn-ea"/>
                <a:cs typeface="+mn-cs"/>
                <a:hlinkClick r:id="rId6" tooltip="Paradigm"/>
              </a:rPr>
              <a:t>paradigm</a:t>
            </a:r>
            <a:r>
              <a:rPr lang="en-US" sz="1200" b="0" i="0" kern="1200" dirty="0" smtClean="0">
                <a:solidFill>
                  <a:schemeClr val="tx1"/>
                </a:solidFill>
                <a:effectLst/>
                <a:latin typeface="+mn-lt"/>
                <a:ea typeface="+mn-ea"/>
                <a:cs typeface="+mn-cs"/>
              </a:rPr>
              <a:t> of AI research from the mid-1950s until the late 1980s</a:t>
            </a:r>
          </a:p>
          <a:p>
            <a:endParaRPr lang="en-US" sz="1200" b="0" i="0" u="none" strike="noStrike" kern="1200" dirty="0" smtClean="0">
              <a:solidFill>
                <a:schemeClr val="tx1"/>
              </a:solidFill>
              <a:effectLst/>
              <a:latin typeface="+mn-lt"/>
              <a:ea typeface="+mn-ea"/>
              <a:cs typeface="+mn-cs"/>
              <a:hlinkClick r:id="rId7" tooltip="John Haugeland"/>
            </a:endParaRPr>
          </a:p>
          <a:p>
            <a:r>
              <a:rPr lang="en-US" sz="1200" b="0" i="0" u="none" strike="noStrike" kern="1200" dirty="0" smtClean="0">
                <a:solidFill>
                  <a:schemeClr val="tx1"/>
                </a:solidFill>
                <a:effectLst/>
                <a:latin typeface="+mn-lt"/>
                <a:ea typeface="+mn-ea"/>
                <a:cs typeface="+mn-cs"/>
                <a:hlinkClick r:id="rId7" tooltip="John Haugeland"/>
              </a:rPr>
              <a:t>John </a:t>
            </a:r>
            <a:r>
              <a:rPr lang="en-US" sz="1200" b="0" i="0" u="none" strike="noStrike" kern="1200" dirty="0" err="1" smtClean="0">
                <a:solidFill>
                  <a:schemeClr val="tx1"/>
                </a:solidFill>
                <a:effectLst/>
                <a:latin typeface="+mn-lt"/>
                <a:ea typeface="+mn-ea"/>
                <a:cs typeface="+mn-cs"/>
                <a:hlinkClick r:id="rId7" tooltip="John Haugeland"/>
              </a:rPr>
              <a:t>Haugeland</a:t>
            </a:r>
            <a:r>
              <a:rPr lang="en-US" sz="1200" b="0" i="0" kern="1200" dirty="0" smtClean="0">
                <a:solidFill>
                  <a:schemeClr val="tx1"/>
                </a:solidFill>
                <a:effectLst/>
                <a:latin typeface="+mn-lt"/>
                <a:ea typeface="+mn-ea"/>
                <a:cs typeface="+mn-cs"/>
              </a:rPr>
              <a:t> gave the name </a:t>
            </a:r>
            <a:r>
              <a:rPr lang="en-US" sz="1200" b="1" i="0" kern="1200" dirty="0" smtClean="0">
                <a:solidFill>
                  <a:schemeClr val="tx1"/>
                </a:solidFill>
                <a:effectLst/>
                <a:latin typeface="+mn-lt"/>
                <a:ea typeface="+mn-ea"/>
                <a:cs typeface="+mn-cs"/>
              </a:rPr>
              <a:t>GOFAI</a:t>
            </a:r>
            <a:r>
              <a:rPr lang="en-US" sz="1200" b="0" i="0" kern="1200" dirty="0" smtClean="0">
                <a:solidFill>
                  <a:schemeClr val="tx1"/>
                </a:solidFill>
                <a:effectLst/>
                <a:latin typeface="+mn-lt"/>
                <a:ea typeface="+mn-ea"/>
                <a:cs typeface="+mn-cs"/>
              </a:rPr>
              <a:t> ("Good Old-Fashioned Artificial Intelligence") to symbolic AI in his 1985 book </a:t>
            </a:r>
            <a:r>
              <a:rPr lang="en-US" sz="1200" b="0" i="1" kern="1200" dirty="0" smtClean="0">
                <a:solidFill>
                  <a:schemeClr val="tx1"/>
                </a:solidFill>
                <a:effectLst/>
                <a:latin typeface="+mn-lt"/>
                <a:ea typeface="+mn-ea"/>
                <a:cs typeface="+mn-cs"/>
              </a:rPr>
              <a:t>Artificial Intelligence: The Very Idea</a:t>
            </a:r>
            <a:r>
              <a:rPr lang="en-US" sz="1200" b="0" i="0" kern="1200" dirty="0" smtClean="0">
                <a:solidFill>
                  <a:schemeClr val="tx1"/>
                </a:solidFill>
                <a:effectLst/>
                <a:latin typeface="+mn-lt"/>
                <a:ea typeface="+mn-ea"/>
                <a:cs typeface="+mn-cs"/>
              </a:rPr>
              <a:t>, which explored the philosophical implications of artificial intelligence research. In </a:t>
            </a:r>
            <a:r>
              <a:rPr lang="en-US" sz="1200" b="0" i="0" u="none" strike="noStrike" kern="1200" dirty="0" smtClean="0">
                <a:solidFill>
                  <a:schemeClr val="tx1"/>
                </a:solidFill>
                <a:effectLst/>
                <a:latin typeface="+mn-lt"/>
                <a:ea typeface="+mn-ea"/>
                <a:cs typeface="+mn-cs"/>
                <a:hlinkClick r:id="rId8" tooltip="Robotics"/>
              </a:rPr>
              <a:t>robotics</a:t>
            </a:r>
            <a:r>
              <a:rPr lang="en-US" sz="1200" b="0" i="0" kern="1200" dirty="0" smtClean="0">
                <a:solidFill>
                  <a:schemeClr val="tx1"/>
                </a:solidFill>
                <a:effectLst/>
                <a:latin typeface="+mn-lt"/>
                <a:ea typeface="+mn-ea"/>
                <a:cs typeface="+mn-cs"/>
              </a:rPr>
              <a:t> the analogous term is </a:t>
            </a:r>
            <a:r>
              <a:rPr lang="en-US" sz="1200" b="1" i="0" kern="1200" dirty="0" smtClean="0">
                <a:solidFill>
                  <a:schemeClr val="tx1"/>
                </a:solidFill>
                <a:effectLst/>
                <a:latin typeface="+mn-lt"/>
                <a:ea typeface="+mn-ea"/>
                <a:cs typeface="+mn-cs"/>
              </a:rPr>
              <a:t>GOFR</a:t>
            </a:r>
            <a:r>
              <a:rPr lang="en-US" sz="1200" b="0" i="0" kern="1200" dirty="0" smtClean="0">
                <a:solidFill>
                  <a:schemeClr val="tx1"/>
                </a:solidFill>
                <a:effectLst/>
                <a:latin typeface="+mn-lt"/>
                <a:ea typeface="+mn-ea"/>
                <a:cs typeface="+mn-cs"/>
              </a:rPr>
              <a:t> ("Good Old-Fashioned Robotics").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The approach is based on the assumption that many aspects of intelligence can be achieved by the manipulation of </a:t>
            </a:r>
            <a:r>
              <a:rPr lang="en-US" sz="1200" b="0" i="0" u="none" strike="noStrike" kern="1200" dirty="0" smtClean="0">
                <a:solidFill>
                  <a:schemeClr val="tx1"/>
                </a:solidFill>
                <a:effectLst/>
                <a:latin typeface="+mn-lt"/>
                <a:ea typeface="+mn-ea"/>
                <a:cs typeface="+mn-cs"/>
                <a:hlinkClick r:id="rId9" tooltip="Physical symbol system"/>
              </a:rPr>
              <a:t>symbols</a:t>
            </a:r>
            <a:r>
              <a:rPr lang="en-US" sz="1200" b="0" i="0" kern="1200" dirty="0" smtClean="0">
                <a:solidFill>
                  <a:schemeClr val="tx1"/>
                </a:solidFill>
                <a:effectLst/>
                <a:latin typeface="+mn-lt"/>
                <a:ea typeface="+mn-ea"/>
                <a:cs typeface="+mn-cs"/>
              </a:rPr>
              <a:t>, an assumption defined as the "</a:t>
            </a:r>
            <a:r>
              <a:rPr lang="en-US" sz="1200" b="0" i="0" u="none" strike="noStrike" kern="1200" dirty="0" smtClean="0">
                <a:solidFill>
                  <a:schemeClr val="tx1"/>
                </a:solidFill>
                <a:effectLst/>
                <a:latin typeface="+mn-lt"/>
                <a:ea typeface="+mn-ea"/>
                <a:cs typeface="+mn-cs"/>
                <a:hlinkClick r:id="rId10" tooltip="Physical symbol systems hypothesis"/>
              </a:rPr>
              <a:t>physical symbol systems hypothesis</a:t>
            </a:r>
            <a:r>
              <a:rPr lang="en-US" sz="1200" b="0" i="0" kern="1200" dirty="0" smtClean="0">
                <a:solidFill>
                  <a:schemeClr val="tx1"/>
                </a:solidFill>
                <a:effectLst/>
                <a:latin typeface="+mn-lt"/>
                <a:ea typeface="+mn-ea"/>
                <a:cs typeface="+mn-cs"/>
              </a:rPr>
              <a:t>" by </a:t>
            </a:r>
            <a:r>
              <a:rPr lang="en-US" sz="1200" b="0" i="0" u="none" strike="noStrike" kern="1200" dirty="0" smtClean="0">
                <a:solidFill>
                  <a:schemeClr val="tx1"/>
                </a:solidFill>
                <a:effectLst/>
                <a:latin typeface="+mn-lt"/>
                <a:ea typeface="+mn-ea"/>
                <a:cs typeface="+mn-cs"/>
                <a:hlinkClick r:id="rId11" tooltip="Allen Newell"/>
              </a:rPr>
              <a:t>Allen Newell</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12" tooltip="Herbert A. Simon"/>
              </a:rPr>
              <a:t>Herbert A. Simon</a:t>
            </a:r>
            <a:r>
              <a:rPr lang="en-US" sz="1200" b="0" i="0" kern="1200" dirty="0" smtClean="0">
                <a:solidFill>
                  <a:schemeClr val="tx1"/>
                </a:solidFill>
                <a:effectLst/>
                <a:latin typeface="+mn-lt"/>
                <a:ea typeface="+mn-ea"/>
                <a:cs typeface="+mn-cs"/>
              </a:rPr>
              <a:t> in the middle 1960s.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One popular form of symbolic AI is </a:t>
            </a:r>
            <a:r>
              <a:rPr lang="en-US" sz="1200" b="0" i="0" u="none" strike="noStrike" kern="1200" dirty="0" smtClean="0">
                <a:solidFill>
                  <a:schemeClr val="tx1"/>
                </a:solidFill>
                <a:effectLst/>
                <a:latin typeface="+mn-lt"/>
                <a:ea typeface="+mn-ea"/>
                <a:cs typeface="+mn-cs"/>
                <a:hlinkClick r:id="rId13" tooltip="Expert systems"/>
              </a:rPr>
              <a:t>expert systems</a:t>
            </a:r>
            <a:r>
              <a:rPr lang="en-US" sz="1200" b="0" i="0" kern="1200" dirty="0" smtClean="0">
                <a:solidFill>
                  <a:schemeClr val="tx1"/>
                </a:solidFill>
                <a:effectLst/>
                <a:latin typeface="+mn-lt"/>
                <a:ea typeface="+mn-ea"/>
                <a:cs typeface="+mn-cs"/>
              </a:rPr>
              <a:t>, which uses a network of </a:t>
            </a:r>
            <a:r>
              <a:rPr lang="en-US" sz="1200" b="0" i="0" u="none" strike="noStrike" kern="1200" dirty="0" smtClean="0">
                <a:solidFill>
                  <a:schemeClr val="tx1"/>
                </a:solidFill>
                <a:effectLst/>
                <a:latin typeface="+mn-lt"/>
                <a:ea typeface="+mn-ea"/>
                <a:cs typeface="+mn-cs"/>
                <a:hlinkClick r:id="rId14" tooltip="Production system (computer science)"/>
              </a:rPr>
              <a:t>production rules</a:t>
            </a:r>
            <a:r>
              <a:rPr lang="en-US" sz="1200" b="0" i="0" kern="1200" dirty="0" smtClean="0">
                <a:solidFill>
                  <a:schemeClr val="tx1"/>
                </a:solidFill>
                <a:effectLst/>
                <a:latin typeface="+mn-lt"/>
                <a:ea typeface="+mn-ea"/>
                <a:cs typeface="+mn-cs"/>
              </a:rPr>
              <a:t>. Production rules connect symbols in a relationship similar to an If-Then statement. The expert system processes the rules to make deductions and to determine what additional information it needs, i.e. what questions to ask, using human-readable symbols.</a:t>
            </a:r>
          </a:p>
          <a:p>
            <a:r>
              <a:rPr lang="en-US" sz="1200" b="0" i="0" strike="sngStrike" kern="1200" dirty="0" smtClean="0">
                <a:solidFill>
                  <a:schemeClr val="tx1"/>
                </a:solidFill>
                <a:effectLst/>
                <a:latin typeface="+mn-lt"/>
                <a:ea typeface="+mn-ea"/>
                <a:cs typeface="+mn-cs"/>
              </a:rPr>
              <a:t>Opponents of the symbolic approach include </a:t>
            </a:r>
            <a:r>
              <a:rPr lang="en-US" sz="1200" b="0" i="0" u="none" strike="sngStrike" kern="1200" dirty="0" smtClean="0">
                <a:solidFill>
                  <a:schemeClr val="tx1"/>
                </a:solidFill>
                <a:effectLst/>
                <a:latin typeface="+mn-lt"/>
                <a:ea typeface="+mn-ea"/>
                <a:cs typeface="+mn-cs"/>
                <a:hlinkClick r:id="rId15" tooltip="Roboticist"/>
              </a:rPr>
              <a:t>roboticists</a:t>
            </a:r>
            <a:r>
              <a:rPr lang="en-US" sz="1200" b="0" i="0" strike="sngStrike" kern="1200" dirty="0" smtClean="0">
                <a:solidFill>
                  <a:schemeClr val="tx1"/>
                </a:solidFill>
                <a:effectLst/>
                <a:latin typeface="+mn-lt"/>
                <a:ea typeface="+mn-ea"/>
                <a:cs typeface="+mn-cs"/>
              </a:rPr>
              <a:t> such as </a:t>
            </a:r>
            <a:r>
              <a:rPr lang="en-US" sz="1200" b="0" i="0" u="none" strike="sngStrike" kern="1200" dirty="0" smtClean="0">
                <a:solidFill>
                  <a:schemeClr val="tx1"/>
                </a:solidFill>
                <a:effectLst/>
                <a:latin typeface="+mn-lt"/>
                <a:ea typeface="+mn-ea"/>
                <a:cs typeface="+mn-cs"/>
                <a:hlinkClick r:id="rId16" tooltip="Rodney Brooks"/>
              </a:rPr>
              <a:t>Rodney Brooks</a:t>
            </a:r>
            <a:r>
              <a:rPr lang="en-US" sz="1200" b="0" i="0" strike="sngStrike" kern="1200" dirty="0" smtClean="0">
                <a:solidFill>
                  <a:schemeClr val="tx1"/>
                </a:solidFill>
                <a:effectLst/>
                <a:latin typeface="+mn-lt"/>
                <a:ea typeface="+mn-ea"/>
                <a:cs typeface="+mn-cs"/>
              </a:rPr>
              <a:t>, who aims to produce autonomous robots without symbolic representation (or with only minimal representation) and </a:t>
            </a:r>
            <a:r>
              <a:rPr lang="en-US" sz="1200" b="0" i="0" u="none" strike="sngStrike" kern="1200" dirty="0" smtClean="0">
                <a:solidFill>
                  <a:schemeClr val="tx1"/>
                </a:solidFill>
                <a:effectLst/>
                <a:latin typeface="+mn-lt"/>
                <a:ea typeface="+mn-ea"/>
                <a:cs typeface="+mn-cs"/>
                <a:hlinkClick r:id="rId17" tooltip="Computational intelligence"/>
              </a:rPr>
              <a:t>computational intelligence</a:t>
            </a:r>
            <a:r>
              <a:rPr lang="en-US" sz="1200" b="0" i="0" strike="sngStrike" kern="1200" dirty="0" smtClean="0">
                <a:solidFill>
                  <a:schemeClr val="tx1"/>
                </a:solidFill>
                <a:effectLst/>
                <a:latin typeface="+mn-lt"/>
                <a:ea typeface="+mn-ea"/>
                <a:cs typeface="+mn-cs"/>
              </a:rPr>
              <a:t> researchers, who apply techniques such as </a:t>
            </a:r>
            <a:r>
              <a:rPr lang="en-US" sz="1200" b="0" i="0" u="none" strike="sngStrike" kern="1200" dirty="0" smtClean="0">
                <a:solidFill>
                  <a:schemeClr val="tx1"/>
                </a:solidFill>
                <a:effectLst/>
                <a:latin typeface="+mn-lt"/>
                <a:ea typeface="+mn-ea"/>
                <a:cs typeface="+mn-cs"/>
                <a:hlinkClick r:id="rId18" tooltip="Neural network"/>
              </a:rPr>
              <a:t>neural networks</a:t>
            </a:r>
            <a:r>
              <a:rPr lang="en-US" sz="1200" b="0" i="0" strike="sngStrike" kern="1200" dirty="0" smtClean="0">
                <a:solidFill>
                  <a:schemeClr val="tx1"/>
                </a:solidFill>
                <a:effectLst/>
                <a:latin typeface="+mn-lt"/>
                <a:ea typeface="+mn-ea"/>
                <a:cs typeface="+mn-cs"/>
              </a:rPr>
              <a:t> and optimization to solve problems in </a:t>
            </a:r>
            <a:r>
              <a:rPr lang="en-US" sz="1200" b="0" i="0" u="none" strike="sngStrike" kern="1200" dirty="0" smtClean="0">
                <a:solidFill>
                  <a:schemeClr val="tx1"/>
                </a:solidFill>
                <a:effectLst/>
                <a:latin typeface="+mn-lt"/>
                <a:ea typeface="+mn-ea"/>
                <a:cs typeface="+mn-cs"/>
                <a:hlinkClick r:id="rId19" tooltip="Machine learning"/>
              </a:rPr>
              <a:t>machine learning</a:t>
            </a:r>
            <a:r>
              <a:rPr lang="en-US" sz="1200" b="0" i="0" strike="sngStrike" kern="1200" dirty="0" smtClean="0">
                <a:solidFill>
                  <a:schemeClr val="tx1"/>
                </a:solidFill>
                <a:effectLst/>
                <a:latin typeface="+mn-lt"/>
                <a:ea typeface="+mn-ea"/>
                <a:cs typeface="+mn-cs"/>
              </a:rPr>
              <a:t> and </a:t>
            </a:r>
            <a:r>
              <a:rPr lang="en-US" sz="1200" b="0" i="0" u="none" strike="sngStrike" kern="1200" dirty="0" smtClean="0">
                <a:solidFill>
                  <a:schemeClr val="tx1"/>
                </a:solidFill>
                <a:effectLst/>
                <a:latin typeface="+mn-lt"/>
                <a:ea typeface="+mn-ea"/>
                <a:cs typeface="+mn-cs"/>
                <a:hlinkClick r:id="rId20" tooltip="Control engineering"/>
              </a:rPr>
              <a:t>control engineering</a:t>
            </a:r>
            <a:r>
              <a:rPr lang="en-US" sz="1200" b="0" i="0" strike="sngStrike" kern="1200" dirty="0" smtClean="0">
                <a:solidFill>
                  <a:schemeClr val="tx1"/>
                </a:solidFill>
                <a:effectLst/>
                <a:latin typeface="+mn-lt"/>
                <a:ea typeface="+mn-ea"/>
                <a:cs typeface="+mn-cs"/>
              </a:rPr>
              <a:t>.</a:t>
            </a:r>
          </a:p>
          <a:p>
            <a:r>
              <a:rPr lang="en-US" sz="1200" b="0" i="0" strike="sngStrike" kern="1200" dirty="0" smtClean="0">
                <a:solidFill>
                  <a:schemeClr val="tx1"/>
                </a:solidFill>
                <a:effectLst/>
                <a:latin typeface="+mn-lt"/>
                <a:ea typeface="+mn-ea"/>
                <a:cs typeface="+mn-cs"/>
              </a:rPr>
              <a:t>Symbolic AI was intended to produce general, human-like intelligence in a machine, whereas most modern research is directed at specific sub-problems. Research into general intelligence is now studied in the sub-field of </a:t>
            </a:r>
            <a:r>
              <a:rPr lang="en-US" sz="1200" b="0" i="0" u="none" strike="sngStrike" kern="1200" dirty="0" smtClean="0">
                <a:solidFill>
                  <a:schemeClr val="tx1"/>
                </a:solidFill>
                <a:effectLst/>
                <a:latin typeface="+mn-lt"/>
                <a:ea typeface="+mn-ea"/>
                <a:cs typeface="+mn-cs"/>
                <a:hlinkClick r:id="rId21" tooltip="Artificial general intelligence"/>
              </a:rPr>
              <a:t>artificial general intelligence</a:t>
            </a:r>
            <a:r>
              <a:rPr lang="en-US" sz="1200" b="0" i="0" strike="sngStrike"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hlinkClick r:id="rId22"/>
              </a:rPr>
              <a:t/>
            </a:r>
            <a:br>
              <a:rPr lang="en-US" sz="1200" b="0" i="0" kern="1200" dirty="0" smtClean="0">
                <a:solidFill>
                  <a:schemeClr val="tx1"/>
                </a:solidFill>
                <a:effectLst/>
                <a:latin typeface="+mn-lt"/>
                <a:ea typeface="+mn-ea"/>
                <a:cs typeface="+mn-cs"/>
                <a:hlinkClick r:id="rId22"/>
              </a:rPr>
            </a:br>
            <a:endParaRPr lang="en-US" sz="1200" b="0" i="0" kern="1200" dirty="0" smtClean="0">
              <a:solidFill>
                <a:schemeClr val="tx1"/>
              </a:solidFill>
              <a:effectLst/>
              <a:latin typeface="+mn-lt"/>
              <a:ea typeface="+mn-ea"/>
              <a:cs typeface="+mn-cs"/>
              <a:hlinkClick r:id="rId22"/>
            </a:endParaRPr>
          </a:p>
          <a:p>
            <a:r>
              <a:rPr lang="en-US" sz="1200" b="0" i="0" kern="1200" dirty="0" smtClean="0">
                <a:solidFill>
                  <a:schemeClr val="tx1"/>
                </a:solidFill>
                <a:effectLst/>
                <a:latin typeface="+mn-lt"/>
                <a:ea typeface="+mn-ea"/>
                <a:cs typeface="+mn-cs"/>
                <a:hlinkClick r:id="rId22"/>
              </a:rPr>
              <a:t>  </a:t>
            </a:r>
          </a:p>
          <a:p>
            <a:r>
              <a:rPr lang="en-US" sz="1200" b="0" i="0" u="sng" kern="1200" dirty="0" smtClean="0">
                <a:solidFill>
                  <a:schemeClr val="tx1"/>
                </a:solidFill>
                <a:effectLst/>
                <a:latin typeface="+mn-lt"/>
                <a:ea typeface="+mn-ea"/>
                <a:cs typeface="+mn-cs"/>
                <a:hlinkClick r:id="rId22"/>
              </a:rPr>
              <a:t>GOFAI</a:t>
            </a:r>
          </a:p>
          <a:p>
            <a:r>
              <a:rPr lang="en-US" sz="1200" b="0" i="0" u="sng" kern="1200" dirty="0" smtClean="0">
                <a:solidFill>
                  <a:schemeClr val="tx1"/>
                </a:solidFill>
                <a:effectLst/>
                <a:latin typeface="+mn-lt"/>
                <a:ea typeface="+mn-ea"/>
                <a:cs typeface="+mn-cs"/>
                <a:hlinkClick r:id="rId22"/>
              </a:rPr>
              <a:t>==</a:t>
            </a:r>
          </a:p>
          <a:p>
            <a:r>
              <a:rPr lang="en-US" sz="1200" b="1" i="0" u="sng" kern="1200" dirty="0" smtClean="0">
                <a:solidFill>
                  <a:schemeClr val="tx1">
                    <a:lumMod val="85000"/>
                    <a:lumOff val="15000"/>
                  </a:schemeClr>
                </a:solidFill>
                <a:effectLst/>
                <a:latin typeface="+mn-lt"/>
                <a:ea typeface="+mn-ea"/>
                <a:cs typeface="+mn-cs"/>
                <a:hlinkClick r:id="rId22"/>
              </a:rPr>
              <a:t>GOFAI is also known as "</a:t>
            </a:r>
            <a:r>
              <a:rPr lang="en-US" sz="1200" b="1" i="0" u="sng" kern="1200" dirty="0" err="1" smtClean="0">
                <a:solidFill>
                  <a:schemeClr val="tx1">
                    <a:lumMod val="85000"/>
                    <a:lumOff val="15000"/>
                  </a:schemeClr>
                </a:solidFill>
                <a:effectLst/>
                <a:latin typeface="+mn-lt"/>
                <a:ea typeface="+mn-ea"/>
                <a:cs typeface="+mn-cs"/>
                <a:hlinkClick r:id="rId22"/>
              </a:rPr>
              <a:t>symbolicism</a:t>
            </a:r>
            <a:r>
              <a:rPr lang="en-US" sz="1200" b="1" i="0" u="sng" kern="1200" dirty="0" smtClean="0">
                <a:solidFill>
                  <a:schemeClr val="tx1">
                    <a:lumMod val="85000"/>
                    <a:lumOff val="15000"/>
                  </a:schemeClr>
                </a:solidFill>
                <a:effectLst/>
                <a:latin typeface="+mn-lt"/>
                <a:ea typeface="+mn-ea"/>
                <a:cs typeface="+mn-cs"/>
                <a:hlinkClick r:id="rId22"/>
              </a:rPr>
              <a:t>," for its attempt to describe intelligence in symbolic terms. Its basis is what has been termed the "symbol system hypothesis," which states that it is possible to construct a universal symbol system that is intelligent. Since a computer is nothing more than a universal symbol system, this is the claim that computers are the right kind of machines to think.</a:t>
            </a:r>
          </a:p>
          <a:p>
            <a:r>
              <a:rPr lang="en-US" sz="1200" b="0" i="0" u="sng" kern="1200" dirty="0" smtClean="0">
                <a:solidFill>
                  <a:schemeClr val="tx1"/>
                </a:solidFill>
                <a:effectLst/>
                <a:latin typeface="+mn-lt"/>
                <a:ea typeface="+mn-ea"/>
                <a:cs typeface="+mn-cs"/>
                <a:hlinkClick r:id="rId22"/>
              </a:rPr>
              <a:t>To explain: for all computers can do, they are in essence just manipulators of symbols, where the symbols are collections of 1's and 0's and are organized in words and lines and pages. A computer can copy symbols, move them, delete, write a sequence of symbols in a specific place, compare symbols in two different places, and search for symbols that match certain patterns. All the more complicated behavior exhibited by computers is simply the result of combinations these basic manipulations. The revolutionary move made by Turing was the creation of the universal symbol manipulator, on which one can represent any other symbol manipulator. This is how computers can run programs that do anything, and how computers can be made to act like other computers.</a:t>
            </a:r>
          </a:p>
          <a:p>
            <a:r>
              <a:rPr lang="en-US" sz="1200" b="0" i="0" u="sng" kern="1200" dirty="0" smtClean="0">
                <a:solidFill>
                  <a:schemeClr val="tx1"/>
                </a:solidFill>
                <a:effectLst/>
                <a:latin typeface="+mn-lt"/>
                <a:ea typeface="+mn-ea"/>
                <a:cs typeface="+mn-cs"/>
                <a:hlinkClick r:id="rId22"/>
              </a:rPr>
              <a:t>The recipe for building an intelligent machine out of a computer is:</a:t>
            </a:r>
          </a:p>
          <a:p>
            <a:r>
              <a:rPr lang="en-US" sz="1200" b="0" i="0" u="sng" kern="1200" dirty="0" smtClean="0">
                <a:solidFill>
                  <a:schemeClr val="tx1"/>
                </a:solidFill>
                <a:effectLst/>
                <a:latin typeface="+mn-lt"/>
                <a:ea typeface="+mn-ea"/>
                <a:cs typeface="+mn-cs"/>
                <a:hlinkClick r:id="rId22"/>
              </a:rPr>
              <a:t>Use a sufficiently complex code to represent real-world objects, events, relationships, etc.</a:t>
            </a:r>
          </a:p>
          <a:p>
            <a:r>
              <a:rPr lang="en-US" sz="1200" b="0" i="0" u="sng" kern="1200" dirty="0" smtClean="0">
                <a:solidFill>
                  <a:schemeClr val="tx1"/>
                </a:solidFill>
                <a:effectLst/>
                <a:latin typeface="+mn-lt"/>
                <a:ea typeface="+mn-ea"/>
                <a:cs typeface="+mn-cs"/>
                <a:hlinkClick r:id="rId22"/>
              </a:rPr>
              <a:t>Create a "knowledge base," a vastly interconnected system of symbols inside a universal symbol system, e.g. a digital computer.</a:t>
            </a:r>
          </a:p>
          <a:p>
            <a:r>
              <a:rPr lang="en-US" sz="1200" b="0" i="0" u="sng" kern="1200" dirty="0" smtClean="0">
                <a:solidFill>
                  <a:schemeClr val="tx1"/>
                </a:solidFill>
                <a:effectLst/>
                <a:latin typeface="+mn-lt"/>
                <a:ea typeface="+mn-ea"/>
                <a:cs typeface="+mn-cs"/>
                <a:hlinkClick r:id="rId22"/>
              </a:rPr>
              <a:t>Use input devices to create symbolic representations of changing stimuli in the machine's proximity.</a:t>
            </a:r>
          </a:p>
          <a:p>
            <a:r>
              <a:rPr lang="en-US" sz="1200" b="0" i="0" u="sng" kern="1200" dirty="0" smtClean="0">
                <a:solidFill>
                  <a:schemeClr val="tx1"/>
                </a:solidFill>
                <a:effectLst/>
                <a:latin typeface="+mn-lt"/>
                <a:ea typeface="+mn-ea"/>
                <a:cs typeface="+mn-cs"/>
                <a:hlinkClick r:id="rId22"/>
              </a:rPr>
              <a:t>Have complex sequences of the symbol system's manipulations applied to the symbol structures such that new symbol structures result, which are designated as output.</a:t>
            </a:r>
          </a:p>
          <a:p>
            <a:r>
              <a:rPr lang="en-US" sz="1200" b="0" i="0" u="sng" kern="1200" dirty="0" smtClean="0">
                <a:solidFill>
                  <a:schemeClr val="tx1"/>
                </a:solidFill>
                <a:effectLst/>
                <a:latin typeface="+mn-lt"/>
                <a:ea typeface="+mn-ea"/>
                <a:cs typeface="+mn-cs"/>
                <a:hlinkClick r:id="rId22"/>
              </a:rPr>
              <a:t>Interpret the symbolic output into appropriate behavioral responses.</a:t>
            </a:r>
          </a:p>
          <a:p>
            <a:r>
              <a:rPr lang="en-US" sz="1200" b="0" i="0" u="sng" kern="1200" dirty="0" smtClean="0">
                <a:solidFill>
                  <a:schemeClr val="tx1"/>
                </a:solidFill>
                <a:effectLst/>
                <a:latin typeface="+mn-lt"/>
                <a:ea typeface="+mn-ea"/>
                <a:cs typeface="+mn-cs"/>
                <a:hlinkClick r:id="rId22"/>
              </a:rPr>
              <a:t>The hypothesis of GOFAI is simply that this is the correct recipe and that therefore this is how one should proceed to create intelligent agents. There is also a "strong symbol system hypothesis" which states that only universal symbol systems are capable of thinking, and this is how the idea of modelling human intelligence is applied to GOFAI: human beings, and in fact all living things which show intelligent behavior, are, at close inspection, computers made out of different materials. Newell and Simon agree with this hypothesis when they claim that "[s]</a:t>
            </a:r>
            <a:r>
              <a:rPr lang="en-US" sz="1200" b="0" i="0" u="sng" kern="1200" dirty="0" err="1" smtClean="0">
                <a:solidFill>
                  <a:schemeClr val="tx1"/>
                </a:solidFill>
                <a:effectLst/>
                <a:latin typeface="+mn-lt"/>
                <a:ea typeface="+mn-ea"/>
                <a:cs typeface="+mn-cs"/>
                <a:hlinkClick r:id="rId22"/>
              </a:rPr>
              <a:t>ymbols</a:t>
            </a:r>
            <a:r>
              <a:rPr lang="en-US" sz="1200" b="0" i="0" u="sng" kern="1200" dirty="0" smtClean="0">
                <a:solidFill>
                  <a:schemeClr val="tx1"/>
                </a:solidFill>
                <a:effectLst/>
                <a:latin typeface="+mn-lt"/>
                <a:ea typeface="+mn-ea"/>
                <a:cs typeface="+mn-cs"/>
                <a:hlinkClick r:id="rId22"/>
              </a:rPr>
              <a:t> lie at the root of intelligent action," and the thesis that the brain is primarily a manipulator of symbols has become a popular one among many AI researchers and philosophers. The hypothesis has been argued against vehemently by two camps. Such researchers as John Searle and Karl </a:t>
            </a:r>
            <a:r>
              <a:rPr lang="en-US" sz="1200" b="0" i="0" u="sng" kern="1200" dirty="0" err="1" smtClean="0">
                <a:solidFill>
                  <a:schemeClr val="tx1"/>
                </a:solidFill>
                <a:effectLst/>
                <a:latin typeface="+mn-lt"/>
                <a:ea typeface="+mn-ea"/>
                <a:cs typeface="+mn-cs"/>
                <a:hlinkClick r:id="rId22"/>
              </a:rPr>
              <a:t>Lashley</a:t>
            </a:r>
            <a:r>
              <a:rPr lang="en-US" sz="1200" b="0" i="0" u="sng" kern="1200" dirty="0" smtClean="0">
                <a:solidFill>
                  <a:schemeClr val="tx1"/>
                </a:solidFill>
                <a:effectLst/>
                <a:latin typeface="+mn-lt"/>
                <a:ea typeface="+mn-ea"/>
                <a:cs typeface="+mn-cs"/>
                <a:hlinkClick r:id="rId22"/>
              </a:rPr>
              <a:t> have pointed out that scientists have always modelled the brain on the most fashionable technology of the day; Descartes developed a theory comparing the brain to a water clock, and Leibniz claimed that the brain could be likened to a factory. The response to this is typical of AI's future-looking premise: just because the brain has been shown not to be a factory or a telephone switchboard does not mean that the brain is not a computer. This is a perfectly reasonable response, since the symbol hypothesis is an empirical theory, although the lack of definitive empirical evidence after fifty years might make some researchers think twice about </a:t>
            </a:r>
            <a:r>
              <a:rPr lang="en-US" sz="1200" b="0" i="0" u="sng" kern="1200" dirty="0" err="1" smtClean="0">
                <a:solidFill>
                  <a:schemeClr val="tx1"/>
                </a:solidFill>
                <a:effectLst/>
                <a:latin typeface="+mn-lt"/>
                <a:ea typeface="+mn-ea"/>
                <a:cs typeface="+mn-cs"/>
                <a:hlinkClick r:id="rId22"/>
              </a:rPr>
              <a:t>it.The</a:t>
            </a:r>
            <a:r>
              <a:rPr lang="en-US" sz="1200" b="0" i="0" u="sng" kern="1200" dirty="0" smtClean="0">
                <a:solidFill>
                  <a:schemeClr val="tx1"/>
                </a:solidFill>
                <a:effectLst/>
                <a:latin typeface="+mn-lt"/>
                <a:ea typeface="+mn-ea"/>
                <a:cs typeface="+mn-cs"/>
                <a:hlinkClick r:id="rId22"/>
              </a:rPr>
              <a:t> other criticism of GOFAI in relation to human intelligence is that there is no evidence in the physiology of the brain that the symbol is the atomic unit of cognition in the same way it is in a computer. Generally such critics argue that connectionism offers a much closer model of human intelligence by using the artificial neuron as its atomic unit.</a:t>
            </a:r>
          </a:p>
          <a:p>
            <a:r>
              <a:rPr lang="en-US" sz="1200" b="0" i="0" u="sng" kern="1200" dirty="0" smtClean="0">
                <a:solidFill>
                  <a:schemeClr val="tx1"/>
                </a:solidFill>
                <a:effectLst/>
                <a:latin typeface="+mn-lt"/>
                <a:ea typeface="+mn-ea"/>
                <a:cs typeface="+mn-cs"/>
                <a:hlinkClick r:id="rId22"/>
              </a:rPr>
              <a:t>back</a:t>
            </a:r>
          </a:p>
          <a:p>
            <a:endParaRPr lang="en-GB" u="sng"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22</a:t>
            </a:fld>
            <a:endParaRPr lang="en-GB" dirty="0"/>
          </a:p>
        </p:txBody>
      </p:sp>
    </p:spTree>
    <p:extLst>
      <p:ext uri="{BB962C8B-B14F-4D97-AF65-F5344CB8AC3E}">
        <p14:creationId xmlns:p14="http://schemas.microsoft.com/office/powerpoint/2010/main" val="38593481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Knowledge representation deals primarily with the representational and reasoning challenges of this separate component. </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23</a:t>
            </a:fld>
            <a:endParaRPr lang="en-GB" dirty="0"/>
          </a:p>
        </p:txBody>
      </p:sp>
    </p:spTree>
    <p:extLst>
      <p:ext uri="{BB962C8B-B14F-4D97-AF65-F5344CB8AC3E}">
        <p14:creationId xmlns:p14="http://schemas.microsoft.com/office/powerpoint/2010/main" val="1108522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Situated and embodied artificial intelligence (SEAI) </a:t>
            </a:r>
            <a:r>
              <a:rPr lang="en-US" sz="1200" b="0" i="0" kern="1200" dirty="0" smtClean="0">
                <a:solidFill>
                  <a:schemeClr val="tx1"/>
                </a:solidFill>
                <a:effectLst/>
                <a:latin typeface="+mn-lt"/>
                <a:ea typeface="+mn-ea"/>
                <a:cs typeface="+mn-cs"/>
              </a:rPr>
              <a:t>aims to build </a:t>
            </a:r>
            <a:r>
              <a:rPr lang="en-US" sz="1200" b="0" i="0" kern="1200" dirty="0" err="1" smtClean="0">
                <a:solidFill>
                  <a:schemeClr val="tx1"/>
                </a:solidFill>
                <a:effectLst/>
                <a:latin typeface="+mn-lt"/>
                <a:ea typeface="+mn-ea"/>
                <a:cs typeface="+mn-cs"/>
              </a:rPr>
              <a:t>animats</a:t>
            </a:r>
            <a:r>
              <a:rPr lang="en-US" sz="1200" b="0" i="0" kern="1200" dirty="0" smtClean="0">
                <a:solidFill>
                  <a:schemeClr val="tx1"/>
                </a:solidFill>
                <a:effectLst/>
                <a:latin typeface="+mn-lt"/>
                <a:ea typeface="+mn-ea"/>
                <a:cs typeface="+mn-cs"/>
              </a:rPr>
              <a:t> that acquire a common-sense understanding of the world via interactions between simulated brains, bodies and environment.44</a:t>
            </a:r>
          </a:p>
          <a:p>
            <a:endParaRPr lang="en-US" sz="1200" b="0" i="0" kern="1200" dirty="0" smtClean="0">
              <a:solidFill>
                <a:schemeClr val="tx1"/>
              </a:solidFill>
              <a:effectLst/>
              <a:latin typeface="+mn-lt"/>
              <a:ea typeface="+mn-ea"/>
              <a:cs typeface="+mn-cs"/>
            </a:endParaRPr>
          </a:p>
          <a:p>
            <a:r>
              <a:rPr lang="en-US" sz="1200" b="1" i="0" kern="1200" dirty="0" smtClean="0">
                <a:solidFill>
                  <a:schemeClr val="tx1"/>
                </a:solidFill>
                <a:effectLst/>
                <a:latin typeface="+mn-lt"/>
                <a:ea typeface="+mn-ea"/>
                <a:cs typeface="+mn-cs"/>
              </a:rPr>
              <a:t>An </a:t>
            </a:r>
            <a:r>
              <a:rPr lang="en-US" sz="1200" b="1" i="0" kern="1200" dirty="0" err="1" smtClean="0">
                <a:solidFill>
                  <a:schemeClr val="tx1"/>
                </a:solidFill>
                <a:effectLst/>
                <a:latin typeface="+mn-lt"/>
                <a:ea typeface="+mn-ea"/>
                <a:cs typeface="+mn-cs"/>
              </a:rPr>
              <a:t>animat</a:t>
            </a:r>
            <a:r>
              <a:rPr lang="en-US" sz="1200" b="1" i="0" kern="1200" dirty="0" smtClean="0">
                <a:solidFill>
                  <a:schemeClr val="tx1"/>
                </a:solidFill>
                <a:effectLst/>
                <a:latin typeface="+mn-lt"/>
                <a:ea typeface="+mn-ea"/>
                <a:cs typeface="+mn-cs"/>
              </a:rPr>
              <a:t> is a simulated animal or a robot whose structure and functionalities are as much inspired from current biological knowledge as possible, in the hope that it will exhibit at least some of the survival capacities of real animals</a:t>
            </a:r>
            <a:r>
              <a:rPr lang="en-US" sz="1200" b="0" i="0" kern="1200" dirty="0" smtClean="0">
                <a:solidFill>
                  <a:schemeClr val="tx1"/>
                </a:solidFill>
                <a:effectLst/>
                <a:latin typeface="+mn-lt"/>
                <a:ea typeface="+mn-ea"/>
                <a:cs typeface="+mn-cs"/>
              </a:rPr>
              <a:t>. The term "</a:t>
            </a:r>
            <a:r>
              <a:rPr lang="en-US" sz="1200" b="0" i="0" kern="1200" dirty="0" err="1" smtClean="0">
                <a:solidFill>
                  <a:schemeClr val="tx1"/>
                </a:solidFill>
                <a:effectLst/>
                <a:latin typeface="+mn-lt"/>
                <a:ea typeface="+mn-ea"/>
                <a:cs typeface="+mn-cs"/>
              </a:rPr>
              <a:t>animat</a:t>
            </a:r>
            <a:r>
              <a:rPr lang="en-US" sz="1200" b="0" i="0" kern="1200" dirty="0" smtClean="0">
                <a:solidFill>
                  <a:schemeClr val="tx1"/>
                </a:solidFill>
                <a:effectLst/>
                <a:latin typeface="+mn-lt"/>
                <a:ea typeface="+mn-ea"/>
                <a:cs typeface="+mn-cs"/>
              </a:rPr>
              <a:t>" was introduced in Wilson (1985).</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25</a:t>
            </a:fld>
            <a:endParaRPr lang="en-GB" dirty="0"/>
          </a:p>
        </p:txBody>
      </p:sp>
    </p:spTree>
    <p:extLst>
      <p:ext uri="{BB962C8B-B14F-4D97-AF65-F5344CB8AC3E}">
        <p14:creationId xmlns:p14="http://schemas.microsoft.com/office/powerpoint/2010/main" val="815065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pPr fontAlgn="t"/>
            <a:r>
              <a:rPr lang="en-US" sz="1200" b="0" i="0" kern="1200" dirty="0" smtClean="0">
                <a:solidFill>
                  <a:schemeClr val="tx1"/>
                </a:solidFill>
                <a:effectLst/>
                <a:latin typeface="+mn-lt"/>
                <a:ea typeface="+mn-ea"/>
                <a:cs typeface="+mn-cs"/>
              </a:rPr>
              <a:t>Incrementalism –belief in or advocacy of change by degrees; gradualism.</a:t>
            </a:r>
          </a:p>
          <a:p>
            <a:r>
              <a:rPr lang="nn-NO" sz="1200" dirty="0" smtClean="0"/>
              <a:t>Cognitive - </a:t>
            </a:r>
            <a:r>
              <a:rPr lang="en-US" sz="1200" b="0" i="0" kern="1200" dirty="0" smtClean="0">
                <a:solidFill>
                  <a:schemeClr val="tx1"/>
                </a:solidFill>
                <a:effectLst/>
                <a:latin typeface="+mn-lt"/>
                <a:ea typeface="+mn-ea"/>
                <a:cs typeface="+mn-cs"/>
              </a:rPr>
              <a:t>relating to, being, or involving conscious intellectual activity (such as thinking, reasoning, or remembering)</a:t>
            </a:r>
          </a:p>
          <a:p>
            <a:r>
              <a:rPr lang="nn-NO" sz="1200" dirty="0" smtClean="0"/>
              <a:t>Cognition</a:t>
            </a:r>
            <a:r>
              <a:rPr lang="nn-NO" sz="1200" baseline="0" dirty="0" smtClean="0"/>
              <a:t> - </a:t>
            </a:r>
            <a:r>
              <a:rPr lang="en-US" sz="1200" b="0" i="0" kern="1200" dirty="0" smtClean="0">
                <a:solidFill>
                  <a:schemeClr val="tx1"/>
                </a:solidFill>
                <a:effectLst/>
                <a:latin typeface="+mn-lt"/>
                <a:ea typeface="+mn-ea"/>
                <a:cs typeface="+mn-cs"/>
              </a:rPr>
              <a:t>the mental action or process of acquiring knowledge and understanding through thought, experience, and the senses.</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26</a:t>
            </a:fld>
            <a:endParaRPr lang="en-GB" dirty="0"/>
          </a:p>
        </p:txBody>
      </p:sp>
    </p:spTree>
    <p:extLst>
      <p:ext uri="{BB962C8B-B14F-4D97-AF65-F5344CB8AC3E}">
        <p14:creationId xmlns:p14="http://schemas.microsoft.com/office/powerpoint/2010/main" val="383371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Human beings create machines to do things more quickly and more efficiently, but some are beginning to believe that our own inventions may one day become our own children. Are machines capable of being recognized as living beings? One of the earliest experiments at simulating life in technology was a simple mathematical game created by John H. Conway, first published and popularized during the early 1970's in issues of </a:t>
            </a:r>
            <a:r>
              <a:rPr lang="en-US" sz="1200" b="0" i="1" kern="1200" dirty="0" smtClean="0">
                <a:solidFill>
                  <a:schemeClr val="tx1"/>
                </a:solidFill>
                <a:effectLst/>
                <a:latin typeface="+mn-lt"/>
                <a:ea typeface="+mn-ea"/>
                <a:cs typeface="+mn-cs"/>
              </a:rPr>
              <a:t>Scientific American</a:t>
            </a:r>
            <a:r>
              <a:rPr lang="en-US" sz="1200" b="0" i="0" kern="1200" dirty="0" smtClean="0">
                <a:solidFill>
                  <a:schemeClr val="tx1"/>
                </a:solidFill>
                <a:effectLst/>
                <a:latin typeface="+mn-lt"/>
                <a:ea typeface="+mn-ea"/>
                <a:cs typeface="+mn-cs"/>
              </a:rPr>
              <a:t>. He called it "The Game of Life.</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i="0" kern="1200" dirty="0" err="1" smtClean="0">
                <a:solidFill>
                  <a:schemeClr val="tx1"/>
                </a:solidFill>
                <a:effectLst/>
                <a:latin typeface="+mn-lt"/>
                <a:ea typeface="+mn-ea"/>
                <a:cs typeface="+mn-cs"/>
              </a:rPr>
              <a:t>rtificial</a:t>
            </a:r>
            <a:r>
              <a:rPr lang="en-US" sz="1200" b="1" i="0" kern="1200" dirty="0" smtClean="0">
                <a:solidFill>
                  <a:schemeClr val="tx1"/>
                </a:solidFill>
                <a:effectLst/>
                <a:latin typeface="+mn-lt"/>
                <a:ea typeface="+mn-ea"/>
                <a:cs typeface="+mn-cs"/>
              </a:rPr>
              <a:t> life</a:t>
            </a:r>
            <a:r>
              <a:rPr lang="en-US" sz="1200" b="0" i="0" kern="1200" dirty="0" smtClean="0">
                <a:solidFill>
                  <a:schemeClr val="tx1"/>
                </a:solidFill>
                <a:effectLst/>
                <a:latin typeface="+mn-lt"/>
                <a:ea typeface="+mn-ea"/>
                <a:cs typeface="+mn-cs"/>
              </a:rPr>
              <a:t> (often abbreviated </a:t>
            </a:r>
            <a:r>
              <a:rPr lang="en-US" sz="1200" b="1" i="0" kern="1200" dirty="0" err="1" smtClean="0">
                <a:solidFill>
                  <a:schemeClr val="tx1"/>
                </a:solidFill>
                <a:effectLst/>
                <a:latin typeface="+mn-lt"/>
                <a:ea typeface="+mn-ea"/>
                <a:cs typeface="+mn-cs"/>
              </a:rPr>
              <a:t>ALife</a:t>
            </a:r>
            <a:r>
              <a:rPr lang="en-US" sz="1200" b="0" i="0" kern="1200" dirty="0" smtClean="0">
                <a:solidFill>
                  <a:schemeClr val="tx1"/>
                </a:solidFill>
                <a:effectLst/>
                <a:latin typeface="+mn-lt"/>
                <a:ea typeface="+mn-ea"/>
                <a:cs typeface="+mn-cs"/>
              </a:rPr>
              <a:t> or </a:t>
            </a:r>
            <a:r>
              <a:rPr lang="en-US" sz="1200" b="1" i="0" kern="1200" dirty="0" smtClean="0">
                <a:solidFill>
                  <a:schemeClr val="tx1"/>
                </a:solidFill>
                <a:effectLst/>
                <a:latin typeface="+mn-lt"/>
                <a:ea typeface="+mn-ea"/>
                <a:cs typeface="+mn-cs"/>
              </a:rPr>
              <a:t>A-Life</a:t>
            </a:r>
            <a:r>
              <a:rPr lang="en-US" sz="1200" b="0" i="0" kern="1200" dirty="0" smtClean="0">
                <a:solidFill>
                  <a:schemeClr val="tx1"/>
                </a:solidFill>
                <a:effectLst/>
                <a:latin typeface="+mn-lt"/>
                <a:ea typeface="+mn-ea"/>
                <a:cs typeface="+mn-cs"/>
              </a:rPr>
              <a:t>) is a field of study wherein researchers examine </a:t>
            </a:r>
            <a:r>
              <a:rPr lang="en-US" sz="1200" b="0" i="0" u="none" strike="noStrike" kern="1200" dirty="0" smtClean="0">
                <a:solidFill>
                  <a:schemeClr val="tx1"/>
                </a:solidFill>
                <a:effectLst/>
                <a:latin typeface="+mn-lt"/>
                <a:ea typeface="+mn-ea"/>
                <a:cs typeface="+mn-cs"/>
                <a:hlinkClick r:id="rId3" tooltip="System"/>
              </a:rPr>
              <a:t>systems</a:t>
            </a:r>
            <a:r>
              <a:rPr lang="en-US" sz="1200" b="0" i="0" kern="1200" dirty="0" smtClean="0">
                <a:solidFill>
                  <a:schemeClr val="tx1"/>
                </a:solidFill>
                <a:effectLst/>
                <a:latin typeface="+mn-lt"/>
                <a:ea typeface="+mn-ea"/>
                <a:cs typeface="+mn-cs"/>
              </a:rPr>
              <a:t> related to natural </a:t>
            </a:r>
            <a:r>
              <a:rPr lang="en-US" sz="1200" b="0" i="0" u="none" strike="noStrike" kern="1200" dirty="0" smtClean="0">
                <a:solidFill>
                  <a:schemeClr val="tx1"/>
                </a:solidFill>
                <a:effectLst/>
                <a:latin typeface="+mn-lt"/>
                <a:ea typeface="+mn-ea"/>
                <a:cs typeface="+mn-cs"/>
                <a:hlinkClick r:id="rId4" tooltip="Life"/>
              </a:rPr>
              <a:t>life</a:t>
            </a:r>
            <a:r>
              <a:rPr lang="en-US" sz="1200" b="0" i="0" kern="1200" dirty="0" smtClean="0">
                <a:solidFill>
                  <a:schemeClr val="tx1"/>
                </a:solidFill>
                <a:effectLst/>
                <a:latin typeface="+mn-lt"/>
                <a:ea typeface="+mn-ea"/>
                <a:cs typeface="+mn-cs"/>
              </a:rPr>
              <a:t>, its processes, and its evolution, through the use of </a:t>
            </a:r>
            <a:r>
              <a:rPr lang="en-US" sz="1200" b="0" i="0" u="none" strike="noStrike" kern="1200" dirty="0" smtClean="0">
                <a:solidFill>
                  <a:schemeClr val="tx1"/>
                </a:solidFill>
                <a:effectLst/>
                <a:latin typeface="+mn-lt"/>
                <a:ea typeface="+mn-ea"/>
                <a:cs typeface="+mn-cs"/>
                <a:hlinkClick r:id="rId5" tooltip="Simulation"/>
              </a:rPr>
              <a:t>simulations</a:t>
            </a:r>
            <a:r>
              <a:rPr lang="en-US" sz="1200" b="0" i="0" kern="1200" dirty="0" smtClean="0">
                <a:solidFill>
                  <a:schemeClr val="tx1"/>
                </a:solidFill>
                <a:effectLst/>
                <a:latin typeface="+mn-lt"/>
                <a:ea typeface="+mn-ea"/>
                <a:cs typeface="+mn-cs"/>
              </a:rPr>
              <a:t> with </a:t>
            </a:r>
            <a:r>
              <a:rPr lang="en-US" sz="1200" b="0" i="0" u="none" strike="noStrike" kern="1200" dirty="0" smtClean="0">
                <a:solidFill>
                  <a:schemeClr val="tx1"/>
                </a:solidFill>
                <a:effectLst/>
                <a:latin typeface="+mn-lt"/>
                <a:ea typeface="+mn-ea"/>
                <a:cs typeface="+mn-cs"/>
                <a:hlinkClick r:id="rId6" tooltip="Computer models"/>
              </a:rPr>
              <a:t>computer models</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7" tooltip="Robotics"/>
              </a:rPr>
              <a:t>robotics</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8" tooltip="Biochemistry"/>
              </a:rPr>
              <a:t>biochemistry</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9"/>
              </a:rPr>
              <a:t>[1]</a:t>
            </a:r>
            <a:r>
              <a:rPr lang="en-US" sz="1200" b="0" i="0" kern="1200" dirty="0" smtClean="0">
                <a:solidFill>
                  <a:schemeClr val="tx1"/>
                </a:solidFill>
                <a:effectLst/>
                <a:latin typeface="+mn-lt"/>
                <a:ea typeface="+mn-ea"/>
                <a:cs typeface="+mn-cs"/>
              </a:rPr>
              <a:t> The discipline was named by </a:t>
            </a:r>
            <a:r>
              <a:rPr lang="en-US" sz="1200" b="0" i="0" u="none" strike="noStrike" kern="1200" dirty="0" smtClean="0">
                <a:solidFill>
                  <a:schemeClr val="tx1"/>
                </a:solidFill>
                <a:effectLst/>
                <a:latin typeface="+mn-lt"/>
                <a:ea typeface="+mn-ea"/>
                <a:cs typeface="+mn-cs"/>
                <a:hlinkClick r:id="rId10" tooltip="Christopher Langton"/>
              </a:rPr>
              <a:t>Christopher Langton</a:t>
            </a:r>
            <a:r>
              <a:rPr lang="en-US" sz="1200" b="0" i="0" kern="1200" dirty="0" smtClean="0">
                <a:solidFill>
                  <a:schemeClr val="tx1"/>
                </a:solidFill>
                <a:effectLst/>
                <a:latin typeface="+mn-lt"/>
                <a:ea typeface="+mn-ea"/>
                <a:cs typeface="+mn-cs"/>
              </a:rPr>
              <a:t>, an American theoretical biologist, in 1986.</a:t>
            </a:r>
            <a:r>
              <a:rPr lang="en-US" sz="1200" b="0" i="0" u="none" strike="noStrike" kern="1200" baseline="30000" dirty="0" smtClean="0">
                <a:solidFill>
                  <a:schemeClr val="tx1"/>
                </a:solidFill>
                <a:effectLst/>
                <a:latin typeface="+mn-lt"/>
                <a:ea typeface="+mn-ea"/>
                <a:cs typeface="+mn-cs"/>
                <a:hlinkClick r:id="rId11"/>
              </a:rPr>
              <a:t>[2]</a:t>
            </a:r>
            <a:r>
              <a:rPr lang="en-US" sz="1200" b="0" i="0" kern="1200" dirty="0" smtClean="0">
                <a:solidFill>
                  <a:schemeClr val="tx1"/>
                </a:solidFill>
                <a:effectLst/>
                <a:latin typeface="+mn-lt"/>
                <a:ea typeface="+mn-ea"/>
                <a:cs typeface="+mn-cs"/>
              </a:rPr>
              <a:t> In 1987 Langton organized the first conference on the field, in </a:t>
            </a:r>
            <a:r>
              <a:rPr lang="en-US" sz="1200" b="0" i="0" u="none" strike="noStrike" kern="1200" dirty="0" smtClean="0">
                <a:solidFill>
                  <a:schemeClr val="tx1"/>
                </a:solidFill>
                <a:effectLst/>
                <a:latin typeface="+mn-lt"/>
                <a:ea typeface="+mn-ea"/>
                <a:cs typeface="+mn-cs"/>
                <a:hlinkClick r:id="rId12" tooltip="Los Alamos, New Mexico"/>
              </a:rPr>
              <a:t>Los Alamos, New Mexico</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13"/>
              </a:rPr>
              <a:t>[3]</a:t>
            </a:r>
            <a:r>
              <a:rPr lang="en-US" sz="1200" b="0" i="0" kern="1200" dirty="0" smtClean="0">
                <a:solidFill>
                  <a:schemeClr val="tx1"/>
                </a:solidFill>
                <a:effectLst/>
                <a:latin typeface="+mn-lt"/>
                <a:ea typeface="+mn-ea"/>
                <a:cs typeface="+mn-cs"/>
              </a:rPr>
              <a:t> There are three main kinds of </a:t>
            </a:r>
            <a:r>
              <a:rPr lang="en-US" sz="1200" b="0" i="0" kern="1200" dirty="0" err="1" smtClean="0">
                <a:solidFill>
                  <a:schemeClr val="tx1"/>
                </a:solidFill>
                <a:effectLst/>
                <a:latin typeface="+mn-lt"/>
                <a:ea typeface="+mn-ea"/>
                <a:cs typeface="+mn-cs"/>
              </a:rPr>
              <a:t>alife</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14"/>
              </a:rPr>
              <a:t>[4]</a:t>
            </a:r>
            <a:r>
              <a:rPr lang="en-US" sz="1200" b="0" i="0" kern="1200" dirty="0" smtClean="0">
                <a:solidFill>
                  <a:schemeClr val="tx1"/>
                </a:solidFill>
                <a:effectLst/>
                <a:latin typeface="+mn-lt"/>
                <a:ea typeface="+mn-ea"/>
                <a:cs typeface="+mn-cs"/>
              </a:rPr>
              <a:t> named for their approaches: </a:t>
            </a:r>
            <a:r>
              <a:rPr lang="en-US" sz="1200" b="0" i="1" kern="1200" dirty="0" smtClean="0">
                <a:solidFill>
                  <a:schemeClr val="tx1"/>
                </a:solidFill>
                <a:effectLst/>
                <a:latin typeface="+mn-lt"/>
                <a:ea typeface="+mn-ea"/>
                <a:cs typeface="+mn-cs"/>
              </a:rPr>
              <a:t>soft</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15"/>
              </a:rPr>
              <a:t>[5]</a:t>
            </a:r>
            <a:r>
              <a:rPr lang="en-US" sz="1200" b="0" i="0" kern="1200" dirty="0" smtClean="0">
                <a:solidFill>
                  <a:schemeClr val="tx1"/>
                </a:solidFill>
                <a:effectLst/>
                <a:latin typeface="+mn-lt"/>
                <a:ea typeface="+mn-ea"/>
                <a:cs typeface="+mn-cs"/>
              </a:rPr>
              <a:t> from </a:t>
            </a:r>
            <a:r>
              <a:rPr lang="en-US" sz="1200" b="0" i="0" u="none" strike="noStrike" kern="1200" dirty="0" smtClean="0">
                <a:solidFill>
                  <a:schemeClr val="tx1"/>
                </a:solidFill>
                <a:effectLst/>
                <a:latin typeface="+mn-lt"/>
                <a:ea typeface="+mn-ea"/>
                <a:cs typeface="+mn-cs"/>
                <a:hlinkClick r:id="rId16" tooltip="Software"/>
              </a:rPr>
              <a:t>software</a:t>
            </a:r>
            <a:r>
              <a:rPr lang="en-US" sz="1200" b="0" i="0" kern="1200" dirty="0" smtClean="0">
                <a:solidFill>
                  <a:schemeClr val="tx1"/>
                </a:solidFill>
                <a:effectLst/>
                <a:latin typeface="+mn-lt"/>
                <a:ea typeface="+mn-ea"/>
                <a:cs typeface="+mn-cs"/>
              </a:rPr>
              <a:t>; </a:t>
            </a:r>
            <a:r>
              <a:rPr lang="en-US" sz="1200" b="0" i="1" kern="1200" dirty="0" smtClean="0">
                <a:solidFill>
                  <a:schemeClr val="tx1"/>
                </a:solidFill>
                <a:effectLst/>
                <a:latin typeface="+mn-lt"/>
                <a:ea typeface="+mn-ea"/>
                <a:cs typeface="+mn-cs"/>
              </a:rPr>
              <a:t>hard</a:t>
            </a:r>
            <a:r>
              <a:rPr lang="en-US" sz="1200" b="0" i="0" kern="1200" dirty="0" smtClean="0">
                <a:solidFill>
                  <a:schemeClr val="tx1"/>
                </a:solidFill>
                <a:effectLst/>
                <a:latin typeface="+mn-lt"/>
                <a:ea typeface="+mn-ea"/>
                <a:cs typeface="+mn-cs"/>
              </a:rPr>
              <a:t>,</a:t>
            </a:r>
            <a:r>
              <a:rPr lang="en-US" sz="1200" b="0" i="0" u="none" strike="noStrike" kern="1200" baseline="30000" dirty="0" smtClean="0">
                <a:solidFill>
                  <a:schemeClr val="tx1"/>
                </a:solidFill>
                <a:effectLst/>
                <a:latin typeface="+mn-lt"/>
                <a:ea typeface="+mn-ea"/>
                <a:cs typeface="+mn-cs"/>
                <a:hlinkClick r:id="rId17"/>
              </a:rPr>
              <a:t>[6]</a:t>
            </a:r>
            <a:r>
              <a:rPr lang="en-US" sz="1200" b="0" i="0" kern="1200" dirty="0" smtClean="0">
                <a:solidFill>
                  <a:schemeClr val="tx1"/>
                </a:solidFill>
                <a:effectLst/>
                <a:latin typeface="+mn-lt"/>
                <a:ea typeface="+mn-ea"/>
                <a:cs typeface="+mn-cs"/>
              </a:rPr>
              <a:t> from </a:t>
            </a:r>
            <a:r>
              <a:rPr lang="en-US" sz="1200" b="0" i="0" u="none" strike="noStrike" kern="1200" dirty="0" smtClean="0">
                <a:solidFill>
                  <a:schemeClr val="tx1"/>
                </a:solidFill>
                <a:effectLst/>
                <a:latin typeface="+mn-lt"/>
                <a:ea typeface="+mn-ea"/>
                <a:cs typeface="+mn-cs"/>
                <a:hlinkClick r:id="rId18" tooltip="Computer hardware"/>
              </a:rPr>
              <a:t>hardware</a:t>
            </a:r>
            <a:r>
              <a:rPr lang="en-US" sz="1200" b="0" i="0" kern="1200" dirty="0" smtClean="0">
                <a:solidFill>
                  <a:schemeClr val="tx1"/>
                </a:solidFill>
                <a:effectLst/>
                <a:latin typeface="+mn-lt"/>
                <a:ea typeface="+mn-ea"/>
                <a:cs typeface="+mn-cs"/>
              </a:rPr>
              <a:t>; and </a:t>
            </a:r>
            <a:r>
              <a:rPr lang="en-US" sz="1200" b="0" i="1" u="none" strike="noStrike" kern="1200" dirty="0" smtClean="0">
                <a:solidFill>
                  <a:schemeClr val="tx1"/>
                </a:solidFill>
                <a:effectLst/>
                <a:latin typeface="+mn-lt"/>
                <a:ea typeface="+mn-ea"/>
                <a:cs typeface="+mn-cs"/>
                <a:hlinkClick r:id="rId19" tooltip="Wet artificial life"/>
              </a:rPr>
              <a:t>wet</a:t>
            </a:r>
            <a:r>
              <a:rPr lang="en-US" sz="1200" b="0" i="0" kern="1200" dirty="0" smtClean="0">
                <a:solidFill>
                  <a:schemeClr val="tx1"/>
                </a:solidFill>
                <a:effectLst/>
                <a:latin typeface="+mn-lt"/>
                <a:ea typeface="+mn-ea"/>
                <a:cs typeface="+mn-cs"/>
              </a:rPr>
              <a:t>, from biochemistry. Artificial life researchers study traditional </a:t>
            </a:r>
            <a:r>
              <a:rPr lang="en-US" sz="1200" b="0" i="0" u="none" strike="noStrike" kern="1200" dirty="0" smtClean="0">
                <a:solidFill>
                  <a:schemeClr val="tx1"/>
                </a:solidFill>
                <a:effectLst/>
                <a:latin typeface="+mn-lt"/>
                <a:ea typeface="+mn-ea"/>
                <a:cs typeface="+mn-cs"/>
                <a:hlinkClick r:id="rId20" tooltip="Biology"/>
              </a:rPr>
              <a:t>biology</a:t>
            </a:r>
            <a:r>
              <a:rPr lang="en-US" sz="1200" b="0" i="0" kern="1200" dirty="0" smtClean="0">
                <a:solidFill>
                  <a:schemeClr val="tx1"/>
                </a:solidFill>
                <a:effectLst/>
                <a:latin typeface="+mn-lt"/>
                <a:ea typeface="+mn-ea"/>
                <a:cs typeface="+mn-cs"/>
              </a:rPr>
              <a:t> by trying to recreate aspects of biological phenomena.</a:t>
            </a:r>
            <a:r>
              <a:rPr lang="en-US" sz="1200" b="0" i="0" u="none" strike="noStrike" kern="1200" baseline="30000" dirty="0" smtClean="0">
                <a:solidFill>
                  <a:schemeClr val="tx1"/>
                </a:solidFill>
                <a:effectLst/>
                <a:latin typeface="+mn-lt"/>
                <a:ea typeface="+mn-ea"/>
                <a:cs typeface="+mn-cs"/>
                <a:hlinkClick r:id="rId21"/>
              </a:rPr>
              <a:t>[7]</a:t>
            </a:r>
            <a:r>
              <a:rPr lang="en-US" sz="1200" b="0" i="0" u="none" strike="noStrike" kern="1200" baseline="30000" dirty="0" smtClean="0">
                <a:solidFill>
                  <a:schemeClr val="tx1"/>
                </a:solidFill>
                <a:effectLst/>
                <a:latin typeface="+mn-lt"/>
                <a:ea typeface="+mn-ea"/>
                <a:cs typeface="+mn-cs"/>
                <a:hlinkClick r:id="rId22"/>
              </a:rPr>
              <a:t>[8]</a:t>
            </a:r>
            <a:endParaRPr lang="en-US"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28</a:t>
            </a:fld>
            <a:endParaRPr lang="en-GB" dirty="0"/>
          </a:p>
        </p:txBody>
      </p:sp>
    </p:spTree>
    <p:extLst>
      <p:ext uri="{BB962C8B-B14F-4D97-AF65-F5344CB8AC3E}">
        <p14:creationId xmlns:p14="http://schemas.microsoft.com/office/powerpoint/2010/main" val="413847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A comprehensive introduction to new approaches in artificial intelligence and robotics that are inspired by self-organizing biological processes and structures.</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New approaches to artificial intelligence spring from the idea that intelligence emerges as much from cells, bodies, and societies as it does from evolution, development, and learning. Traditionally, artificial intelligence has been concerned with reproducing the abilities of human brains; newer approaches take inspiration from a wider range of biological structures that that are capable of autonomous self-organization</a:t>
            </a: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29</a:t>
            </a:fld>
            <a:endParaRPr lang="en-GB" dirty="0"/>
          </a:p>
        </p:txBody>
      </p:sp>
    </p:spTree>
    <p:extLst>
      <p:ext uri="{BB962C8B-B14F-4D97-AF65-F5344CB8AC3E}">
        <p14:creationId xmlns:p14="http://schemas.microsoft.com/office/powerpoint/2010/main" val="90747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33" y="2130448"/>
            <a:ext cx="7772757"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243" y="3886200"/>
            <a:ext cx="6401514" cy="1752600"/>
          </a:xfrm>
        </p:spPr>
        <p:txBody>
          <a:bodyPr/>
          <a:lstStyle>
            <a:lvl1pPr marL="0" indent="0" algn="ctr">
              <a:buNone/>
              <a:defRPr>
                <a:solidFill>
                  <a:schemeClr val="tx1">
                    <a:tint val="75000"/>
                  </a:schemeClr>
                </a:solidFill>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8496639-427B-48D8-B1B6-4600A0D48514}"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F17BBC-099E-4DA5-928E-72497370B573}"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33" y="4406923"/>
            <a:ext cx="7772757"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533" y="2906713"/>
            <a:ext cx="7772757"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B84EB2-448C-483F-B935-2C4BF558EDC8}"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081"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36"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91AF9FA-5948-4998-B138-D15B2AC4CC0C}"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092" y="1535113"/>
            <a:ext cx="4039929"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092" y="2174875"/>
            <a:ext cx="403992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4609" y="1535113"/>
            <a:ext cx="4042310"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609" y="2174875"/>
            <a:ext cx="4042310"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0218A08-4E29-4651-895B-67FA08C18B77}" type="datetime1">
              <a:rPr lang="en-GB" smtClean="0"/>
              <a:t>12/Mar/21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8F68E15-C551-4601-8CB1-3BD987815BA6}" type="datetime1">
              <a:rPr lang="en-GB" smtClean="0"/>
              <a:t>12/Mar/21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2221B8-DC0D-406D-8EE4-D92B31FE330F}" type="datetime1">
              <a:rPr lang="en-GB" smtClean="0"/>
              <a:t>12/Mar/21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082" y="273050"/>
            <a:ext cx="3007926"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4516" y="273073"/>
            <a:ext cx="5112403"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082" y="1435103"/>
            <a:ext cx="3007926"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B34AA68-FCD0-4ACB-A8F8-6A35CB109A76}"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15" y="4800600"/>
            <a:ext cx="5486162"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615" y="612775"/>
            <a:ext cx="5486162"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endParaRPr lang="en-GB" dirty="0"/>
          </a:p>
        </p:txBody>
      </p:sp>
      <p:sp>
        <p:nvSpPr>
          <p:cNvPr id="4" name="Text Placeholder 3"/>
          <p:cNvSpPr>
            <a:spLocks noGrp="1"/>
          </p:cNvSpPr>
          <p:nvPr>
            <p:ph type="body" sz="half" idx="2"/>
          </p:nvPr>
        </p:nvSpPr>
        <p:spPr>
          <a:xfrm>
            <a:off x="1792615" y="5367338"/>
            <a:ext cx="5486162"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51BAEFA-94AD-42BA-9190-CD47DC68DDB9}"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D9084A-FFFA-4832-9626-AE228F010CBE}"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55" y="274661"/>
            <a:ext cx="205686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082" y="274661"/>
            <a:ext cx="605870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6F314C0-5BF7-465F-BA47-299D16E1432D}"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7"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630588" y="570166"/>
            <a:ext cx="557444" cy="792088"/>
          </a:xfrm>
          <a:prstGeom prst="rect">
            <a:avLst/>
          </a:prstGeom>
          <a:noFill/>
        </p:spPr>
      </p:pic>
      <p:sp>
        <p:nvSpPr>
          <p:cNvPr id="9" name="TextBox 8"/>
          <p:cNvSpPr txBox="1"/>
          <p:nvPr/>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10" name="Picture 2" descr="C:\Users\Ours\Desktop\Picture3.png"/>
          <p:cNvPicPr>
            <a:picLocks noChangeAspect="1" noChangeArrowheads="1"/>
          </p:cNvPicPr>
          <p:nvPr/>
        </p:nvPicPr>
        <p:blipFill>
          <a:blip r:embed="rId4" cstate="print"/>
          <a:srcRect/>
          <a:stretch>
            <a:fillRect/>
          </a:stretch>
        </p:blipFill>
        <p:spPr bwMode="auto">
          <a:xfrm>
            <a:off x="1008532" y="570169"/>
            <a:ext cx="3455484" cy="743775"/>
          </a:xfrm>
          <a:prstGeom prst="rect">
            <a:avLst/>
          </a:prstGeom>
          <a:noFill/>
        </p:spPr>
      </p:pic>
      <p:sp>
        <p:nvSpPr>
          <p:cNvPr id="2" name="Title 1"/>
          <p:cNvSpPr>
            <a:spLocks noGrp="1"/>
          </p:cNvSpPr>
          <p:nvPr>
            <p:ph type="ctrTitle"/>
          </p:nvPr>
        </p:nvSpPr>
        <p:spPr>
          <a:xfrm>
            <a:off x="685632" y="1844845"/>
            <a:ext cx="7772757" cy="2448271"/>
          </a:xfrm>
          <a:solidFill>
            <a:srgbClr val="660033">
              <a:alpha val="61961"/>
            </a:srgbClr>
          </a:solidFill>
        </p:spPr>
        <p:txBody>
          <a:bodyPr>
            <a:noAutofit/>
          </a:bodyPr>
          <a:lstStyle>
            <a:lvl1pPr>
              <a:defRPr sz="4049" b="0">
                <a:solidFill>
                  <a:schemeClr val="bg1"/>
                </a:solidFill>
                <a:latin typeface="Rockwell" pitchFamily="18" charset="0"/>
              </a:defRPr>
            </a:lvl1pPr>
          </a:lstStyle>
          <a:p>
            <a:r>
              <a:rPr lang="en-US"/>
              <a:t>Click to edit Master title style</a:t>
            </a:r>
            <a:endParaRPr lang="en-GB" dirty="0"/>
          </a:p>
        </p:txBody>
      </p:sp>
      <p:sp>
        <p:nvSpPr>
          <p:cNvPr id="3" name="Subtitle 2"/>
          <p:cNvSpPr>
            <a:spLocks noGrp="1"/>
          </p:cNvSpPr>
          <p:nvPr>
            <p:ph type="subTitle" idx="1"/>
          </p:nvPr>
        </p:nvSpPr>
        <p:spPr>
          <a:xfrm>
            <a:off x="1371243" y="4509120"/>
            <a:ext cx="6401514" cy="1752600"/>
          </a:xfrm>
          <a:solidFill>
            <a:srgbClr val="FFFFFF">
              <a:alpha val="74118"/>
            </a:srgbClr>
          </a:solidFill>
        </p:spPr>
        <p:txBody>
          <a:bodyPr>
            <a:normAutofit/>
          </a:bodyPr>
          <a:lstStyle>
            <a:lvl1pPr marL="0" indent="0" algn="ctr">
              <a:buNone/>
              <a:defRPr sz="2699">
                <a:solidFill>
                  <a:schemeClr val="tx1"/>
                </a:solidFill>
                <a:latin typeface="Rockwell" pitchFamily="18" charset="0"/>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dirty="0"/>
          </a:p>
        </p:txBody>
      </p:sp>
      <p:sp>
        <p:nvSpPr>
          <p:cNvPr id="11" name="TextBox 10"/>
          <p:cNvSpPr txBox="1"/>
          <p:nvPr/>
        </p:nvSpPr>
        <p:spPr>
          <a:xfrm>
            <a:off x="1224501" y="1074223"/>
            <a:ext cx="2456185" cy="276999"/>
          </a:xfrm>
          <a:prstGeom prst="rect">
            <a:avLst/>
          </a:prstGeom>
          <a:noFill/>
        </p:spPr>
        <p:txBody>
          <a:bodyPr wrap="none" rtlCol="0">
            <a:spAutoFit/>
          </a:bodyPr>
          <a:lstStyle/>
          <a:p>
            <a:r>
              <a:rPr lang="en-US" sz="1200" dirty="0">
                <a:solidFill>
                  <a:srgbClr val="662C5B"/>
                </a:solidFill>
              </a:rPr>
              <a:t>Raising a new Generation of Leaders</a:t>
            </a:r>
            <a:endParaRPr lang="en-GB" sz="1200" dirty="0">
              <a:solidFill>
                <a:srgbClr val="662C5B"/>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198654" y="548680"/>
            <a:ext cx="912180" cy="1296144"/>
          </a:xfrm>
          <a:prstGeom prst="rect">
            <a:avLst/>
          </a:prstGeom>
          <a:noFill/>
        </p:spPr>
      </p:pic>
      <p:sp>
        <p:nvSpPr>
          <p:cNvPr id="10" name="Title 1"/>
          <p:cNvSpPr>
            <a:spLocks noGrp="1"/>
          </p:cNvSpPr>
          <p:nvPr>
            <p:ph type="ctrTitle"/>
          </p:nvPr>
        </p:nvSpPr>
        <p:spPr>
          <a:xfrm>
            <a:off x="685800" y="2204865"/>
            <a:ext cx="7772400" cy="2520280"/>
          </a:xfrm>
          <a:solidFill>
            <a:srgbClr val="CC3399">
              <a:alpha val="83137"/>
            </a:srgbClr>
          </a:solidFill>
        </p:spPr>
        <p:txBody>
          <a:bodyPr>
            <a:normAutofit/>
          </a:bodyPr>
          <a:lstStyle/>
          <a:p>
            <a:r>
              <a:rPr lang="en-US" sz="4949" b="1">
                <a:solidFill>
                  <a:schemeClr val="bg1"/>
                </a:solidFill>
                <a:latin typeface="Rockwell" pitchFamily="18" charset="0"/>
              </a:rPr>
              <a:t>Click to edit Master title style</a:t>
            </a:r>
            <a:endParaRPr lang="en-GB" sz="4949" b="1" dirty="0">
              <a:solidFill>
                <a:schemeClr val="bg1"/>
              </a:solidFill>
              <a:latin typeface="Rockwell" pitchFamily="18" charset="0"/>
            </a:endParaRPr>
          </a:p>
        </p:txBody>
      </p:sp>
      <p:sp>
        <p:nvSpPr>
          <p:cNvPr id="11" name="Subtitle 2"/>
          <p:cNvSpPr>
            <a:spLocks noGrp="1"/>
          </p:cNvSpPr>
          <p:nvPr>
            <p:ph type="subTitle" idx="1"/>
          </p:nvPr>
        </p:nvSpPr>
        <p:spPr>
          <a:xfrm>
            <a:off x="1278493" y="4869160"/>
            <a:ext cx="6400800" cy="1752600"/>
          </a:xfrm>
          <a:solidFill>
            <a:srgbClr val="FFFFFF">
              <a:alpha val="63137"/>
            </a:srgbClr>
          </a:solidFill>
        </p:spPr>
        <p:txBody>
          <a:bodyPr>
            <a:normAutofit/>
          </a:bodyPr>
          <a:lstStyle>
            <a:lvl1pPr algn="ctr">
              <a:buNone/>
              <a:defRPr sz="2999">
                <a:ln>
                  <a:noFill/>
                </a:ln>
                <a:solidFill>
                  <a:srgbClr val="002060"/>
                </a:solidFill>
              </a:defRPr>
            </a:lvl1pPr>
          </a:lstStyle>
          <a:p>
            <a:r>
              <a:rPr lang="en-US">
                <a:solidFill>
                  <a:schemeClr val="bg1"/>
                </a:solidFill>
                <a:latin typeface="Rockwell" pitchFamily="18" charset="0"/>
              </a:rPr>
              <a:t>Click to edit Master subtitle style</a:t>
            </a:r>
            <a:endParaRPr lang="en-GB" dirty="0">
              <a:solidFill>
                <a:schemeClr val="bg1"/>
              </a:solidFill>
              <a:latin typeface="Rockwell" pitchFamily="18" charset="0"/>
            </a:endParaRPr>
          </a:p>
        </p:txBody>
      </p:sp>
      <p:sp>
        <p:nvSpPr>
          <p:cNvPr id="13" name="TextBox 12"/>
          <p:cNvSpPr txBox="1"/>
          <p:nvPr/>
        </p:nvSpPr>
        <p:spPr>
          <a:xfrm>
            <a:off x="1008540" y="1268761"/>
            <a:ext cx="3021596" cy="323165"/>
          </a:xfrm>
          <a:prstGeom prst="rect">
            <a:avLst/>
          </a:prstGeom>
          <a:noFill/>
        </p:spPr>
        <p:txBody>
          <a:bodyPr wrap="none" rtlCol="0">
            <a:spAutoFit/>
          </a:bodyPr>
          <a:lstStyle/>
          <a:p>
            <a:r>
              <a:rPr lang="en-US" sz="1500" dirty="0">
                <a:solidFill>
                  <a:srgbClr val="662C5B"/>
                </a:solidFill>
              </a:rPr>
              <a:t>Raising a new Generation of Leaders</a:t>
            </a:r>
            <a:endParaRPr lang="en-GB" sz="1500" dirty="0">
              <a:solidFill>
                <a:srgbClr val="662C5B"/>
              </a:solidFill>
            </a:endParaRPr>
          </a:p>
        </p:txBody>
      </p:sp>
      <p:sp>
        <p:nvSpPr>
          <p:cNvPr id="14" name="TextBox 13"/>
          <p:cNvSpPr txBox="1"/>
          <p:nvPr/>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3074" name="Picture 2" descr="C:\Users\Ours\Desktop\Picture3.png"/>
          <p:cNvPicPr>
            <a:picLocks noChangeAspect="1" noChangeArrowheads="1"/>
          </p:cNvPicPr>
          <p:nvPr/>
        </p:nvPicPr>
        <p:blipFill>
          <a:blip r:embed="rId4" cstate="print"/>
          <a:srcRect/>
          <a:stretch>
            <a:fillRect/>
          </a:stretch>
        </p:blipFill>
        <p:spPr bwMode="auto">
          <a:xfrm>
            <a:off x="846556" y="692717"/>
            <a:ext cx="3798296" cy="817563"/>
          </a:xfrm>
          <a:prstGeom prst="rect">
            <a:avLst/>
          </a:prstGeom>
          <a:noFill/>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0628" y="153144"/>
            <a:ext cx="8783372" cy="1115616"/>
          </a:xfrm>
          <a:solidFill>
            <a:schemeClr val="bg1"/>
          </a:solidFill>
          <a:ln w="57150">
            <a:noFill/>
          </a:ln>
        </p:spPr>
        <p:txBody>
          <a:bodyPr>
            <a:normAutofit/>
          </a:bodyPr>
          <a:lstStyle>
            <a:lvl1pPr algn="l">
              <a:defRPr sz="4049" b="1">
                <a:solidFill>
                  <a:schemeClr val="tx1">
                    <a:lumMod val="95000"/>
                    <a:lumOff val="5000"/>
                  </a:schemeClr>
                </a:solidFill>
                <a:latin typeface="Rockwell Condensed" pitchFamily="18" charset="0"/>
                <a:cs typeface="Times New Roman" pitchFamily="18" charset="0"/>
              </a:defRPr>
            </a:lvl1pPr>
          </a:lstStyle>
          <a:p>
            <a:r>
              <a:rPr lang="en-US" dirty="0"/>
              <a:t>Click to edit master title style</a:t>
            </a:r>
            <a:endParaRPr lang="en-GB" dirty="0"/>
          </a:p>
        </p:txBody>
      </p:sp>
      <p:sp>
        <p:nvSpPr>
          <p:cNvPr id="4" name="Date Placeholder 3"/>
          <p:cNvSpPr>
            <a:spLocks noGrp="1"/>
          </p:cNvSpPr>
          <p:nvPr>
            <p:ph type="dt" sz="half" idx="10"/>
          </p:nvPr>
        </p:nvSpPr>
        <p:spPr/>
        <p:txBody>
          <a:bodyPr/>
          <a:lstStyle/>
          <a:p>
            <a:fld id="{F18F80AA-F940-4969-8773-6E06463B2A7A}"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pic>
        <p:nvPicPr>
          <p:cNvPr id="7"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8" name="Slide Number Placeholder 5"/>
          <p:cNvSpPr txBox="1">
            <a:spLocks/>
          </p:cNvSpPr>
          <p:nvPr/>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107984" y="6363534"/>
            <a:ext cx="468612" cy="665866"/>
          </a:xfrm>
          <a:prstGeom prst="rect">
            <a:avLst/>
          </a:prstGeom>
          <a:noFill/>
        </p:spPr>
      </p:pic>
      <p:sp>
        <p:nvSpPr>
          <p:cNvPr id="3" name="Content Placeholder 2"/>
          <p:cNvSpPr>
            <a:spLocks noGrp="1"/>
          </p:cNvSpPr>
          <p:nvPr>
            <p:ph idx="1"/>
          </p:nvPr>
        </p:nvSpPr>
        <p:spPr>
          <a:xfrm>
            <a:off x="179512" y="1412776"/>
            <a:ext cx="8784976" cy="4824536"/>
          </a:xfrm>
          <a:solidFill>
            <a:schemeClr val="bg1"/>
          </a:solidFill>
          <a:ln>
            <a:noFill/>
          </a:ln>
        </p:spPr>
        <p:txBody>
          <a:bodyPr>
            <a:normAutofit/>
          </a:bodyPr>
          <a:lstStyle>
            <a:lvl1pPr>
              <a:lnSpc>
                <a:spcPct val="100000"/>
              </a:lnSpc>
              <a:spcBef>
                <a:spcPts val="375"/>
              </a:spcBef>
              <a:spcAft>
                <a:spcPts val="375"/>
              </a:spcAft>
              <a:defRPr sz="2999">
                <a:latin typeface="Rockwell" pitchFamily="18" charset="0"/>
              </a:defRPr>
            </a:lvl1pPr>
            <a:lvl2pPr>
              <a:lnSpc>
                <a:spcPct val="100000"/>
              </a:lnSpc>
              <a:spcBef>
                <a:spcPts val="375"/>
              </a:spcBef>
              <a:spcAft>
                <a:spcPts val="375"/>
              </a:spcAft>
              <a:buFont typeface="Wingdings" pitchFamily="2" charset="2"/>
              <a:buChar char="§"/>
              <a:defRPr sz="2699">
                <a:solidFill>
                  <a:srgbClr val="7A0000"/>
                </a:solidFill>
                <a:latin typeface="Rockwell" pitchFamily="18" charset="0"/>
              </a:defRPr>
            </a:lvl2pPr>
            <a:lvl3pPr>
              <a:lnSpc>
                <a:spcPct val="100000"/>
              </a:lnSpc>
              <a:spcBef>
                <a:spcPts val="375"/>
              </a:spcBef>
              <a:spcAft>
                <a:spcPts val="375"/>
              </a:spcAft>
              <a:buFont typeface="Calibri" pitchFamily="34" charset="0"/>
              <a:buChar char="‒"/>
              <a:defRPr sz="2399">
                <a:solidFill>
                  <a:schemeClr val="accent4">
                    <a:lumMod val="50000"/>
                  </a:schemeClr>
                </a:solidFill>
                <a:latin typeface="Rockwell" pitchFamily="18" charset="0"/>
              </a:defRPr>
            </a:lvl3pPr>
            <a:lvl4pPr>
              <a:lnSpc>
                <a:spcPct val="100000"/>
              </a:lnSpc>
              <a:spcBef>
                <a:spcPts val="375"/>
              </a:spcBef>
              <a:spcAft>
                <a:spcPts val="375"/>
              </a:spcAft>
              <a:buFont typeface="Arial" pitchFamily="34" charset="0"/>
              <a:buChar char="•"/>
              <a:defRPr sz="2099">
                <a:latin typeface="Rockwell" pitchFamily="18" charset="0"/>
              </a:defRPr>
            </a:lvl4pPr>
            <a:lvl5pPr>
              <a:lnSpc>
                <a:spcPct val="100000"/>
              </a:lnSpc>
              <a:spcBef>
                <a:spcPts val="375"/>
              </a:spcBef>
              <a:spcAft>
                <a:spcPts val="375"/>
              </a:spcAft>
              <a:defRPr sz="2099">
                <a:latin typeface="Rockwell"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C:\Users\Ours\Desktop\Picture1.png"/>
          <p:cNvPicPr>
            <a:picLocks noChangeAspect="1" noChangeArrowheads="1"/>
          </p:cNvPicPr>
          <p:nvPr/>
        </p:nvPicPr>
        <p:blipFill>
          <a:blip r:embed="rId4" cstate="print"/>
          <a:srcRect/>
          <a:stretch>
            <a:fillRect/>
          </a:stretch>
        </p:blipFill>
        <p:spPr bwMode="auto">
          <a:xfrm>
            <a:off x="414621" y="6317328"/>
            <a:ext cx="4481332" cy="640064"/>
          </a:xfrm>
          <a:prstGeom prst="rect">
            <a:avLst/>
          </a:prstGeom>
          <a:noFill/>
        </p:spPr>
      </p:pic>
      <p:sp>
        <p:nvSpPr>
          <p:cNvPr id="13" name="TextBox 12"/>
          <p:cNvSpPr txBox="1"/>
          <p:nvPr/>
        </p:nvSpPr>
        <p:spPr>
          <a:xfrm>
            <a:off x="542878" y="6707451"/>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19" name="Straight Connector 18"/>
          <p:cNvCxnSpPr/>
          <p:nvPr/>
        </p:nvCxnSpPr>
        <p:spPr>
          <a:xfrm flipV="1">
            <a:off x="6515719"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flipV="1">
            <a:off x="7892499"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V="1">
            <a:off x="8459489"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14"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15" name="Slide Number Placeholder 5"/>
          <p:cNvSpPr txBox="1">
            <a:spLocks/>
          </p:cNvSpPr>
          <p:nvPr userDrawn="1"/>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6"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07984" y="6363534"/>
            <a:ext cx="468612" cy="665866"/>
          </a:xfrm>
          <a:prstGeom prst="rect">
            <a:avLst/>
          </a:prstGeom>
          <a:noFill/>
        </p:spPr>
      </p:pic>
      <p:pic>
        <p:nvPicPr>
          <p:cNvPr id="17" name="Picture 2" descr="C:\Users\Ours\Desktop\Picture1.png"/>
          <p:cNvPicPr>
            <a:picLocks noChangeAspect="1" noChangeArrowheads="1"/>
          </p:cNvPicPr>
          <p:nvPr userDrawn="1"/>
        </p:nvPicPr>
        <p:blipFill>
          <a:blip r:embed="rId4" cstate="print"/>
          <a:srcRect/>
          <a:stretch>
            <a:fillRect/>
          </a:stretch>
        </p:blipFill>
        <p:spPr bwMode="auto">
          <a:xfrm>
            <a:off x="414621" y="6317328"/>
            <a:ext cx="4481332" cy="640064"/>
          </a:xfrm>
          <a:prstGeom prst="rect">
            <a:avLst/>
          </a:prstGeom>
          <a:noFill/>
        </p:spPr>
      </p:pic>
      <p:sp>
        <p:nvSpPr>
          <p:cNvPr id="18" name="TextBox 17"/>
          <p:cNvSpPr txBox="1"/>
          <p:nvPr userDrawn="1"/>
        </p:nvSpPr>
        <p:spPr>
          <a:xfrm>
            <a:off x="542878" y="6707453"/>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20" name="Straight Connector 19"/>
          <p:cNvCxnSpPr/>
          <p:nvPr userDrawn="1"/>
        </p:nvCxnSpPr>
        <p:spPr>
          <a:xfrm flipV="1">
            <a:off x="6515720"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3" name="Straight Connector 22"/>
          <p:cNvCxnSpPr/>
          <p:nvPr userDrawn="1"/>
        </p:nvCxnSpPr>
        <p:spPr>
          <a:xfrm flipV="1">
            <a:off x="7892500"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p:nvPr userDrawn="1"/>
        </p:nvCxnSpPr>
        <p:spPr>
          <a:xfrm flipV="1">
            <a:off x="8459490"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22"/>
            <a:ext cx="7772400"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314" y="2906713"/>
            <a:ext cx="7772400"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C4DCE7-BD50-433F-BB05-C60A4C27116D}"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6"/>
            <a:ext cx="4038600"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6"/>
            <a:ext cx="4038600"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AA6DC4C-467C-44EC-9BD1-0789C1B2A09B}"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6" y="1535113"/>
            <a:ext cx="4041775"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03832FD-BCB0-454E-8C2A-214B5CA220D2}" type="datetime1">
              <a:rPr lang="en-GB" smtClean="0"/>
              <a:t>12/Mar/21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93E47F2-CC24-4D52-A90E-4D7CBD06ABAD}" type="datetime1">
              <a:rPr lang="en-GB" smtClean="0"/>
              <a:t>12/Mar/21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C61270-0141-4616-BD26-AFC39E35E8D4}" type="datetime1">
              <a:rPr lang="en-GB" smtClean="0"/>
              <a:t>12/Mar/21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72"/>
            <a:ext cx="5111750"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1" y="1435103"/>
            <a:ext cx="3008313"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9A6BF82-D52B-4265-9C49-B49C2DDF5ADD}"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9" y="612775"/>
            <a:ext cx="5486400"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1792289" y="5367338"/>
            <a:ext cx="5486400"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502A99E-579E-45D2-A686-5B970B311C4E}"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6A2CF07-F3B0-427F-A675-E847322B7BBC}"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60"/>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6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0C9BCC-119C-499F-88DC-5EFC653126EE}"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98654" y="548680"/>
            <a:ext cx="912180" cy="1296144"/>
          </a:xfrm>
          <a:prstGeom prst="rect">
            <a:avLst/>
          </a:prstGeom>
          <a:noFill/>
        </p:spPr>
      </p:pic>
      <p:sp>
        <p:nvSpPr>
          <p:cNvPr id="10" name="Title 1"/>
          <p:cNvSpPr>
            <a:spLocks noGrp="1"/>
          </p:cNvSpPr>
          <p:nvPr userDrawn="1">
            <p:ph type="ctrTitle"/>
          </p:nvPr>
        </p:nvSpPr>
        <p:spPr>
          <a:xfrm>
            <a:off x="685800" y="2204865"/>
            <a:ext cx="7772400" cy="2520280"/>
          </a:xfrm>
          <a:solidFill>
            <a:srgbClr val="CC3399">
              <a:alpha val="83137"/>
            </a:srgbClr>
          </a:solidFill>
        </p:spPr>
        <p:txBody>
          <a:bodyPr>
            <a:normAutofit/>
          </a:bodyPr>
          <a:lstStyle/>
          <a:p>
            <a:endParaRPr lang="en-GB" sz="4949" b="1" dirty="0">
              <a:solidFill>
                <a:schemeClr val="bg1"/>
              </a:solidFill>
              <a:latin typeface="Rockwell" pitchFamily="18" charset="0"/>
            </a:endParaRPr>
          </a:p>
        </p:txBody>
      </p:sp>
      <p:sp>
        <p:nvSpPr>
          <p:cNvPr id="11" name="Subtitle 2"/>
          <p:cNvSpPr>
            <a:spLocks noGrp="1"/>
          </p:cNvSpPr>
          <p:nvPr userDrawn="1">
            <p:ph type="subTitle" idx="1"/>
          </p:nvPr>
        </p:nvSpPr>
        <p:spPr>
          <a:xfrm>
            <a:off x="1278493" y="4869160"/>
            <a:ext cx="6400800" cy="1752600"/>
          </a:xfrm>
          <a:solidFill>
            <a:srgbClr val="FFFFFF">
              <a:alpha val="63137"/>
            </a:srgbClr>
          </a:solidFill>
        </p:spPr>
        <p:txBody>
          <a:bodyPr>
            <a:normAutofit/>
          </a:bodyPr>
          <a:lstStyle>
            <a:lvl1pPr algn="ctr">
              <a:buNone/>
              <a:defRPr sz="2999">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008540" y="1268761"/>
            <a:ext cx="3021596" cy="323165"/>
          </a:xfrm>
          <a:prstGeom prst="rect">
            <a:avLst/>
          </a:prstGeom>
          <a:noFill/>
        </p:spPr>
        <p:txBody>
          <a:bodyPr wrap="none" rtlCol="0">
            <a:spAutoFit/>
          </a:bodyPr>
          <a:lstStyle/>
          <a:p>
            <a:r>
              <a:rPr lang="en-US" sz="1500" dirty="0">
                <a:solidFill>
                  <a:srgbClr val="662C5B"/>
                </a:solidFill>
              </a:rPr>
              <a:t>Raising a new Generation of Leaders</a:t>
            </a:r>
            <a:endParaRPr lang="en-GB" sz="1500" dirty="0">
              <a:solidFill>
                <a:srgbClr val="662C5B"/>
              </a:solidFill>
            </a:endParaRPr>
          </a:p>
        </p:txBody>
      </p:sp>
      <p:sp>
        <p:nvSpPr>
          <p:cNvPr id="14" name="TextBox 13"/>
          <p:cNvSpPr txBox="1"/>
          <p:nvPr userDrawn="1"/>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846556" y="692719"/>
            <a:ext cx="3798296" cy="817563"/>
          </a:xfrm>
          <a:prstGeom prst="rect">
            <a:avLst/>
          </a:prstGeom>
          <a:noFill/>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32" y="2130446"/>
            <a:ext cx="7772757"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243" y="3886200"/>
            <a:ext cx="6401514" cy="1752600"/>
          </a:xfrm>
        </p:spPr>
        <p:txBody>
          <a:bodyPr/>
          <a:lstStyle>
            <a:lvl1pPr marL="0" indent="0" algn="ctr">
              <a:buNone/>
              <a:defRPr>
                <a:solidFill>
                  <a:schemeClr val="tx1">
                    <a:tint val="75000"/>
                  </a:schemeClr>
                </a:solidFill>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3DD9A54-D442-4068-9637-4E4E55BD25DE}"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AFD7524-8F44-4E5B-8CF0-2B59C21FCAB6}"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32" y="4406921"/>
            <a:ext cx="7772757"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532" y="2906713"/>
            <a:ext cx="7772757"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45FC33-D7A0-4B33-AEE3-492F7F7F3E77}"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081"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36"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323C235-181C-4E79-BB6D-204547F80B9D}"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091" y="1535113"/>
            <a:ext cx="4039929"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091" y="2174875"/>
            <a:ext cx="403992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4609" y="1535113"/>
            <a:ext cx="4042310"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609" y="2174875"/>
            <a:ext cx="4042310"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C7C6C31-8FFE-43A5-A172-305048BE03A4}" type="datetime1">
              <a:rPr lang="en-GB" smtClean="0"/>
              <a:t>12/Mar/21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D90AF1F-A072-4E1C-854B-EE84B2E6AE39}" type="datetime1">
              <a:rPr lang="en-GB" smtClean="0"/>
              <a:t>12/Mar/21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C1F027-71D3-4FE8-B83C-858897D1D794}" type="datetime1">
              <a:rPr lang="en-GB" smtClean="0"/>
              <a:t>12/Mar/21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082" y="273050"/>
            <a:ext cx="3007926"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4516" y="273071"/>
            <a:ext cx="5112403"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082" y="1435103"/>
            <a:ext cx="3007926"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B3373FD-1E9B-4621-8928-BDB34F42C2B9}"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15" y="4800600"/>
            <a:ext cx="5486162"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615" y="612775"/>
            <a:ext cx="5486162"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1792615" y="5367338"/>
            <a:ext cx="5486162"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4327462-42BE-404B-98E7-A34241747DED}"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F479546-0940-4BFB-B0BE-FB09608564BA}"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55" y="274659"/>
            <a:ext cx="205686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082" y="274659"/>
            <a:ext cx="605870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3D9E554-A481-4811-955B-4B1DC1389849}"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768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F18F80AA-F940-4969-8773-6E06463B2A7A}"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7333891-D5E7-4C7B-BF1D-E855E53CB5A8}" type="slidenum">
              <a:rPr lang="en-US" smtClean="0"/>
              <a:t>‹#›</a:t>
            </a:fld>
            <a:endParaRPr lang="en-US" dirty="0"/>
          </a:p>
        </p:txBody>
      </p:sp>
      <p:pic>
        <p:nvPicPr>
          <p:cNvPr id="8"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9" name="Slide Number Placeholder 5"/>
          <p:cNvSpPr txBox="1">
            <a:spLocks/>
          </p:cNvSpPr>
          <p:nvPr userDrawn="1"/>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07984" y="6363534"/>
            <a:ext cx="468612" cy="665866"/>
          </a:xfrm>
          <a:prstGeom prst="rect">
            <a:avLst/>
          </a:prstGeom>
          <a:noFill/>
        </p:spPr>
      </p:pic>
      <p:pic>
        <p:nvPicPr>
          <p:cNvPr id="11" name="Picture 2" descr="C:\Users\Ours\Desktop\Picture1.png"/>
          <p:cNvPicPr>
            <a:picLocks noChangeAspect="1" noChangeArrowheads="1"/>
          </p:cNvPicPr>
          <p:nvPr userDrawn="1"/>
        </p:nvPicPr>
        <p:blipFill>
          <a:blip r:embed="rId4" cstate="print"/>
          <a:srcRect/>
          <a:stretch>
            <a:fillRect/>
          </a:stretch>
        </p:blipFill>
        <p:spPr bwMode="auto">
          <a:xfrm>
            <a:off x="414621" y="6317328"/>
            <a:ext cx="4481332" cy="640064"/>
          </a:xfrm>
          <a:prstGeom prst="rect">
            <a:avLst/>
          </a:prstGeom>
          <a:noFill/>
        </p:spPr>
      </p:pic>
      <p:sp>
        <p:nvSpPr>
          <p:cNvPr id="12" name="TextBox 11"/>
          <p:cNvSpPr txBox="1"/>
          <p:nvPr userDrawn="1"/>
        </p:nvSpPr>
        <p:spPr>
          <a:xfrm>
            <a:off x="542878" y="6707453"/>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13" name="Straight Connector 12"/>
          <p:cNvCxnSpPr/>
          <p:nvPr userDrawn="1"/>
        </p:nvCxnSpPr>
        <p:spPr>
          <a:xfrm flipV="1">
            <a:off x="6515720"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14" name="Straight Connector 13"/>
          <p:cNvCxnSpPr/>
          <p:nvPr userDrawn="1"/>
        </p:nvCxnSpPr>
        <p:spPr>
          <a:xfrm flipV="1">
            <a:off x="7892500"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userDrawn="1"/>
        </p:nvCxnSpPr>
        <p:spPr>
          <a:xfrm flipV="1">
            <a:off x="8459490"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773827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EC4DCE7-BD50-433F-BB05-C60A4C27116D}"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32926676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AA6DC4C-467C-44EC-9BD1-0789C1B2A09B}"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4641437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03832FD-BCB0-454E-8C2A-214B5CA220D2}" type="datetime1">
              <a:rPr lang="en-GB" smtClean="0"/>
              <a:t>12/Mar/21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5021500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D93E47F2-CC24-4D52-A90E-4D7CBD06ABAD}" type="datetime1">
              <a:rPr lang="en-GB" smtClean="0"/>
              <a:t>12/Mar/21</a:t>
            </a:fld>
            <a:endParaRPr lang="en-GB" dirty="0"/>
          </a:p>
        </p:txBody>
      </p:sp>
      <p:sp>
        <p:nvSpPr>
          <p:cNvPr id="5" name="Footer Placeholder 3"/>
          <p:cNvSpPr>
            <a:spLocks noGrp="1"/>
          </p:cNvSpPr>
          <p:nvPr>
            <p:ph type="ftr" sz="quarter" idx="11"/>
          </p:nvPr>
        </p:nvSpPr>
        <p:spPr/>
        <p:txBody>
          <a:bodyPr/>
          <a:lstStyle/>
          <a:p>
            <a:endParaRPr lang="en-GB" dirty="0"/>
          </a:p>
        </p:txBody>
      </p:sp>
      <p:sp>
        <p:nvSpPr>
          <p:cNvPr id="6" name="Slide Number Placeholder 4"/>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4094118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BC61270-0141-4616-BD26-AFC39E35E8D4}" type="datetime1">
              <a:rPr lang="en-GB" smtClean="0"/>
              <a:t>12/Mar/21</a:t>
            </a:fld>
            <a:endParaRPr lang="en-GB" dirty="0"/>
          </a:p>
        </p:txBody>
      </p:sp>
      <p:sp>
        <p:nvSpPr>
          <p:cNvPr id="5" name="Footer Placeholder 2"/>
          <p:cNvSpPr>
            <a:spLocks noGrp="1"/>
          </p:cNvSpPr>
          <p:nvPr>
            <p:ph type="ftr" sz="quarter" idx="11"/>
          </p:nvPr>
        </p:nvSpPr>
        <p:spPr/>
        <p:txBody>
          <a:bodyPr/>
          <a:lstStyle/>
          <a:p>
            <a:endParaRPr lang="en-GB" dirty="0"/>
          </a:p>
        </p:txBody>
      </p:sp>
      <p:sp>
        <p:nvSpPr>
          <p:cNvPr id="6" name="Slide Number Placeholder 3"/>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3868370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79A6BF82-D52B-4265-9C49-B49C2DDF5ADD}" type="datetime1">
              <a:rPr lang="en-GB" smtClean="0"/>
              <a:t>12/Mar/21</a:t>
            </a:fld>
            <a:endParaRPr lang="en-GB" dirty="0"/>
          </a:p>
        </p:txBody>
      </p:sp>
      <p:sp>
        <p:nvSpPr>
          <p:cNvPr id="5" name="Footer Placeholder 5"/>
          <p:cNvSpPr>
            <a:spLocks noGrp="1"/>
          </p:cNvSpPr>
          <p:nvPr>
            <p:ph type="ftr" sz="quarter" idx="11"/>
          </p:nvPr>
        </p:nvSpPr>
        <p:spPr/>
        <p:txBody>
          <a:bodyPr/>
          <a:lstStyle/>
          <a:p>
            <a:endParaRPr lang="en-GB" dirty="0"/>
          </a:p>
        </p:txBody>
      </p:sp>
      <p:sp>
        <p:nvSpPr>
          <p:cNvPr id="6"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066999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502A99E-579E-45D2-A686-5B970B311C4E}"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13771530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6CF9CC-6460-4737-9010-75748FDEE016}" type="datetime1">
              <a:rPr lang="en-GB" smtClean="0"/>
              <a:t>12/Mar/21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2348678285"/>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86CF9CC-6460-4737-9010-75748FDEE016}"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96946453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86CF9CC-6460-4737-9010-75748FDEE016}"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45020051"/>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BBA224-7E6E-4CA4-908A-652A35972B43}"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2324571694"/>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6CF9CC-6460-4737-9010-75748FDEE016}" type="datetime1">
              <a:rPr lang="en-GB" smtClean="0"/>
              <a:t>12/Mar/21</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1504941097"/>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6CF9CC-6460-4737-9010-75748FDEE016}" type="datetime1">
              <a:rPr lang="en-GB" smtClean="0"/>
              <a:t>12/Mar/21</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3642158746"/>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A2CF07-F3B0-427F-A675-E847322B7BBC}"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3351758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0C9BCC-119C-499F-88DC-5EFC653126EE}" type="datetime1">
              <a:rPr lang="en-GB" smtClean="0"/>
              <a:t>12/Mar/21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335973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081" y="274638"/>
            <a:ext cx="822983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081" y="1600206"/>
            <a:ext cx="822983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083" y="6356373"/>
            <a:ext cx="213423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86CF9CC-6460-4737-9010-75748FDEE016}" type="datetime1">
              <a:rPr lang="en-GB" smtClean="0"/>
              <a:t>12/Mar/21</a:t>
            </a:fld>
            <a:endParaRPr lang="en-GB" dirty="0"/>
          </a:p>
        </p:txBody>
      </p:sp>
      <p:sp>
        <p:nvSpPr>
          <p:cNvPr id="5" name="Footer Placeholder 4"/>
          <p:cNvSpPr>
            <a:spLocks noGrp="1"/>
          </p:cNvSpPr>
          <p:nvPr>
            <p:ph type="ftr" sz="quarter" idx="3"/>
          </p:nvPr>
        </p:nvSpPr>
        <p:spPr>
          <a:xfrm>
            <a:off x="3124577" y="6356373"/>
            <a:ext cx="289484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2685" y="6356373"/>
            <a:ext cx="213423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1" y="635637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8BBA224-7E6E-4CA4-908A-652A35972B43}" type="datetime1">
              <a:rPr lang="en-GB" smtClean="0"/>
              <a:t>12/Mar/21</a:t>
            </a:fld>
            <a:endParaRPr lang="en-GB" dirty="0"/>
          </a:p>
        </p:txBody>
      </p:sp>
      <p:sp>
        <p:nvSpPr>
          <p:cNvPr id="5" name="Footer Placeholder 4"/>
          <p:cNvSpPr>
            <a:spLocks noGrp="1"/>
          </p:cNvSpPr>
          <p:nvPr>
            <p:ph type="ftr" sz="quarter" idx="3"/>
          </p:nvPr>
        </p:nvSpPr>
        <p:spPr>
          <a:xfrm>
            <a:off x="3124200" y="635637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7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649" r:id="rId13"/>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081" y="274638"/>
            <a:ext cx="822983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081" y="1600206"/>
            <a:ext cx="822983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083" y="6356371"/>
            <a:ext cx="213423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46A67F6-31F8-44C1-A95B-DAC7719485ED}" type="datetime1">
              <a:rPr lang="en-GB" smtClean="0"/>
              <a:t>12/Mar/21</a:t>
            </a:fld>
            <a:endParaRPr lang="en-GB" dirty="0"/>
          </a:p>
        </p:txBody>
      </p:sp>
      <p:sp>
        <p:nvSpPr>
          <p:cNvPr id="5" name="Footer Placeholder 4"/>
          <p:cNvSpPr>
            <a:spLocks noGrp="1"/>
          </p:cNvSpPr>
          <p:nvPr>
            <p:ph type="ftr" sz="quarter" idx="3"/>
          </p:nvPr>
        </p:nvSpPr>
        <p:spPr>
          <a:xfrm>
            <a:off x="3124577" y="6356371"/>
            <a:ext cx="289484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2685" y="6356371"/>
            <a:ext cx="213423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86CF9CC-6460-4737-9010-75748FDEE016}" type="datetime1">
              <a:rPr lang="en-GB" smtClean="0"/>
              <a:t>12/Mar/21</a:t>
            </a:fld>
            <a:endParaRPr lang="en-GB"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1856808390"/>
      </p:ext>
    </p:extLst>
  </p:cSld>
  <p:clrMap bg1="dk1" tx1="lt1" bg2="dk2" tx2="lt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Lst>
  <p:hf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hyperlink" Target="https://www.plagiarism.org/" TargetMode="Externa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oleObject" Target="../embeddings/oleObject3.bin"/><Relationship Id="rId2" Type="http://schemas.openxmlformats.org/officeDocument/2006/relationships/slideLayout" Target="../slideLayouts/slideLayout4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1.wmf"/><Relationship Id="rId4"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p:cNvSpPr txBox="1">
            <a:spLocks noChangeArrowheads="1"/>
          </p:cNvSpPr>
          <p:nvPr/>
        </p:nvSpPr>
        <p:spPr bwMode="auto">
          <a:xfrm>
            <a:off x="457200" y="2229162"/>
            <a:ext cx="7010400" cy="1800493"/>
          </a:xfrm>
          <a:prstGeom prst="rect">
            <a:avLst/>
          </a:prstGeom>
          <a:noFill/>
          <a:ln w="9525">
            <a:noFill/>
            <a:miter lim="800000"/>
            <a:headEnd/>
            <a:tailEnd/>
          </a:ln>
        </p:spPr>
        <p:txBody>
          <a:bodyPr wrap="square">
            <a:spAutoFit/>
          </a:bodyPr>
          <a:lstStyle/>
          <a:p>
            <a:pPr algn="ctr"/>
            <a:r>
              <a:rPr lang="en-ZA" sz="3200" dirty="0">
                <a:solidFill>
                  <a:srgbClr val="00A1DA"/>
                </a:solidFill>
              </a:rPr>
              <a:t>Introduction to Artificial </a:t>
            </a:r>
            <a:r>
              <a:rPr lang="en-ZA" sz="3200" dirty="0" smtClean="0">
                <a:solidFill>
                  <a:srgbClr val="00A1DA"/>
                </a:solidFill>
              </a:rPr>
              <a:t>Intelligence  </a:t>
            </a:r>
            <a:endParaRPr lang="en-ZA" sz="3200" dirty="0">
              <a:solidFill>
                <a:srgbClr val="00A1DA"/>
              </a:solidFill>
            </a:endParaRPr>
          </a:p>
          <a:p>
            <a:pPr algn="ctr"/>
            <a:r>
              <a:rPr lang="en-ZA" sz="3200" dirty="0" smtClean="0">
                <a:solidFill>
                  <a:srgbClr val="00A1DA"/>
                </a:solidFill>
              </a:rPr>
              <a:t>(Symbolic AI)</a:t>
            </a:r>
            <a:endParaRPr lang="en-ZA" sz="3200" dirty="0">
              <a:solidFill>
                <a:srgbClr val="00A1DA"/>
              </a:solidFill>
            </a:endParaRPr>
          </a:p>
          <a:p>
            <a:pPr algn="ctr"/>
            <a:endParaRPr lang="en-ZA" sz="2000" dirty="0">
              <a:solidFill>
                <a:srgbClr val="00A1DA"/>
              </a:solidFill>
            </a:endParaRPr>
          </a:p>
          <a:p>
            <a:pPr algn="ctr"/>
            <a:r>
              <a:rPr lang="en-ZA" sz="1400" dirty="0"/>
              <a:t>Siphokazi Tswane</a:t>
            </a:r>
          </a:p>
          <a:p>
            <a:pPr algn="ctr"/>
            <a:endParaRPr lang="en-ZA" sz="1350" dirty="0"/>
          </a:p>
        </p:txBody>
      </p:sp>
      <p:sp>
        <p:nvSpPr>
          <p:cNvPr id="4" name="Slide Number Placeholder 3"/>
          <p:cNvSpPr>
            <a:spLocks noGrp="1"/>
          </p:cNvSpPr>
          <p:nvPr>
            <p:ph type="sldNum" sz="quarter" idx="12"/>
          </p:nvPr>
        </p:nvSpPr>
        <p:spPr/>
        <p:txBody>
          <a:bodyPr/>
          <a:lstStyle/>
          <a:p>
            <a:fld id="{C5DFEC63-AC9E-491C-B008-E83D881192CD}" type="slidenum">
              <a:rPr lang="en-GB" smtClean="0"/>
              <a:pPr/>
              <a:t>1</a:t>
            </a:fld>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2</a:t>
            </a:fld>
            <a:endParaRPr lang="en-GB" dirty="0"/>
          </a:p>
        </p:txBody>
      </p:sp>
      <p:sp>
        <p:nvSpPr>
          <p:cNvPr id="3" name="Content Placeholder 4"/>
          <p:cNvSpPr txBox="1">
            <a:spLocks/>
          </p:cNvSpPr>
          <p:nvPr/>
        </p:nvSpPr>
        <p:spPr>
          <a:xfrm>
            <a:off x="762000" y="1828800"/>
            <a:ext cx="8113712" cy="3600450"/>
          </a:xfrm>
          <a:prstGeom prst="rect">
            <a:avLst/>
          </a:prstGeom>
        </p:spPr>
        <p:txBody>
          <a:bodyPr vert="horz" lIns="91440" tIns="45720" rIns="91440" bIns="45720" rtlCol="0">
            <a:norm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buFont typeface="Wingdings" panose="05000000000000000000" pitchFamily="2" charset="2"/>
              <a:buChar char="q"/>
            </a:pPr>
            <a:r>
              <a:rPr lang="en-US" sz="2099" dirty="0" smtClean="0"/>
              <a:t>Term Dates</a:t>
            </a:r>
          </a:p>
          <a:p>
            <a:pPr>
              <a:buFont typeface="Wingdings" panose="05000000000000000000" pitchFamily="2" charset="2"/>
              <a:buChar char="q"/>
            </a:pPr>
            <a:r>
              <a:rPr lang="en-US" sz="2099" dirty="0" smtClean="0"/>
              <a:t>Assessments</a:t>
            </a:r>
          </a:p>
          <a:p>
            <a:pPr lvl="1">
              <a:buFont typeface="Wingdings" panose="05000000000000000000" pitchFamily="2" charset="2"/>
              <a:buChar char="q"/>
            </a:pPr>
            <a:r>
              <a:rPr lang="en-US" sz="1899" dirty="0" smtClean="0"/>
              <a:t>Term 1 – Individual Assignment (20%)</a:t>
            </a:r>
          </a:p>
          <a:p>
            <a:pPr lvl="1">
              <a:buFont typeface="Wingdings" panose="05000000000000000000" pitchFamily="2" charset="2"/>
              <a:buChar char="q"/>
            </a:pPr>
            <a:r>
              <a:rPr lang="en-US" sz="1899" dirty="0" smtClean="0"/>
              <a:t>Term 2 - </a:t>
            </a:r>
            <a:r>
              <a:rPr lang="en-US" sz="1899" dirty="0"/>
              <a:t>Individual </a:t>
            </a:r>
            <a:r>
              <a:rPr lang="en-US" sz="1899" dirty="0" smtClean="0"/>
              <a:t>Assignment (10%) , Test (20%)</a:t>
            </a:r>
          </a:p>
          <a:p>
            <a:pPr lvl="1">
              <a:buFont typeface="Wingdings" panose="05000000000000000000" pitchFamily="2" charset="2"/>
              <a:buChar char="q"/>
            </a:pPr>
            <a:r>
              <a:rPr lang="en-US" sz="1899" dirty="0" smtClean="0"/>
              <a:t>Term 3 – Group Project (10%), Test (10%)</a:t>
            </a:r>
          </a:p>
          <a:p>
            <a:pPr lvl="1">
              <a:buFont typeface="Wingdings" panose="05000000000000000000" pitchFamily="2" charset="2"/>
              <a:buChar char="q"/>
            </a:pPr>
            <a:r>
              <a:rPr lang="en-US" sz="1899" dirty="0" smtClean="0"/>
              <a:t>Term 4 – Final Test 30%</a:t>
            </a:r>
            <a:endParaRPr lang="en-GB" sz="1899" dirty="0" smtClean="0"/>
          </a:p>
        </p:txBody>
      </p:sp>
      <p:sp>
        <p:nvSpPr>
          <p:cNvPr id="4" name="Rectangle 3"/>
          <p:cNvSpPr/>
          <p:nvPr/>
        </p:nvSpPr>
        <p:spPr>
          <a:xfrm>
            <a:off x="2209800" y="540203"/>
            <a:ext cx="4800600" cy="523220"/>
          </a:xfrm>
          <a:prstGeom prst="rect">
            <a:avLst/>
          </a:prstGeom>
        </p:spPr>
        <p:txBody>
          <a:bodyPr wrap="square">
            <a:spAutoFit/>
          </a:bodyPr>
          <a:lstStyle/>
          <a:p>
            <a:r>
              <a:rPr lang="en-US" sz="2800" dirty="0"/>
              <a:t>Subject Guide</a:t>
            </a:r>
            <a:endParaRPr lang="en-GB" sz="2800" dirty="0"/>
          </a:p>
        </p:txBody>
      </p:sp>
    </p:spTree>
    <p:extLst>
      <p:ext uri="{BB962C8B-B14F-4D97-AF65-F5344CB8AC3E}">
        <p14:creationId xmlns:p14="http://schemas.microsoft.com/office/powerpoint/2010/main" val="1942376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3</a:t>
            </a:fld>
            <a:endParaRPr lang="en-GB" dirty="0"/>
          </a:p>
        </p:txBody>
      </p:sp>
      <p:sp>
        <p:nvSpPr>
          <p:cNvPr id="3" name="Slide Number Placeholder 1"/>
          <p:cNvSpPr txBox="1">
            <a:spLocks/>
          </p:cNvSpPr>
          <p:nvPr/>
        </p:nvSpPr>
        <p:spPr bwMode="gray">
          <a:xfrm>
            <a:off x="7766431" y="295736"/>
            <a:ext cx="628813" cy="767687"/>
          </a:xfrm>
          <a:prstGeom prst="rect">
            <a:avLst/>
          </a:prstGeom>
        </p:spPr>
        <p:txBody>
          <a:bodyPr vert="horz" lIns="91440" tIns="45720" rIns="91440" bIns="45720" rtlCol="0" anchor="b"/>
          <a:lstStyle>
            <a:defPPr>
              <a:defRPr lang="en-US"/>
            </a:defPPr>
            <a:lvl1pPr marL="0" algn="ctr" defTabSz="914400" rtl="0" eaLnBrk="1" latinLnBrk="0" hangingPunct="1">
              <a:defRPr sz="2801" b="0" i="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DFEC63-AC9E-491C-B008-E83D881192CD}" type="slidenum">
              <a:rPr lang="en-GB" smtClean="0"/>
              <a:pPr/>
              <a:t>3</a:t>
            </a:fld>
            <a:endParaRPr lang="en-GB" dirty="0"/>
          </a:p>
        </p:txBody>
      </p:sp>
      <p:sp>
        <p:nvSpPr>
          <p:cNvPr id="4" name="Content Placeholder 4"/>
          <p:cNvSpPr txBox="1">
            <a:spLocks/>
          </p:cNvSpPr>
          <p:nvPr/>
        </p:nvSpPr>
        <p:spPr>
          <a:xfrm>
            <a:off x="1030288" y="1943100"/>
            <a:ext cx="7656512" cy="4686300"/>
          </a:xfrm>
          <a:prstGeom prst="rect">
            <a:avLst/>
          </a:prstGeom>
        </p:spPr>
        <p:txBody>
          <a:bodyPr vert="horz" lIns="91440" tIns="45720" rIns="91440" bIns="45720" rtlCol="0">
            <a:normAutofit fontScale="85000" lnSpcReduction="20000"/>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dirty="0"/>
              <a:t>This is an individual assignment.</a:t>
            </a:r>
            <a:endParaRPr lang="en-GB" dirty="0"/>
          </a:p>
          <a:p>
            <a:pPr lvl="0"/>
            <a:endParaRPr lang="en-US" dirty="0" smtClean="0"/>
          </a:p>
          <a:p>
            <a:pPr lvl="0"/>
            <a:r>
              <a:rPr lang="en-US" dirty="0" smtClean="0"/>
              <a:t>Conduct </a:t>
            </a:r>
            <a:r>
              <a:rPr lang="en-US" dirty="0"/>
              <a:t>research and provide a brief report on the </a:t>
            </a:r>
            <a:r>
              <a:rPr lang="en-US" b="1" dirty="0"/>
              <a:t>modern day Applications of Artificial Intelligence</a:t>
            </a:r>
            <a:r>
              <a:rPr lang="en-US" dirty="0"/>
              <a:t>.</a:t>
            </a:r>
            <a:endParaRPr lang="en-GB" dirty="0"/>
          </a:p>
          <a:p>
            <a:pPr lvl="0"/>
            <a:r>
              <a:rPr lang="en-US" dirty="0"/>
              <a:t>Consult available resources on the internet. This should include journal articles, conference papers, white papers, blogs etc.  </a:t>
            </a:r>
            <a:r>
              <a:rPr lang="en-US" i="1" dirty="0"/>
              <a:t>Do not use Wikipedia</a:t>
            </a:r>
            <a:r>
              <a:rPr lang="en-US" dirty="0"/>
              <a:t> All referenced sources of information must be duly cited.</a:t>
            </a:r>
            <a:r>
              <a:rPr lang="en-US" i="1" dirty="0"/>
              <a:t> </a:t>
            </a:r>
            <a:r>
              <a:rPr lang="en-US" dirty="0"/>
              <a:t>Please include the signed plagiarism declaration. The university takes plagiarism seriously. No </a:t>
            </a:r>
            <a:r>
              <a:rPr lang="en-US" dirty="0" err="1"/>
              <a:t>plagiarised</a:t>
            </a:r>
            <a:r>
              <a:rPr lang="en-US" dirty="0"/>
              <a:t> work will be marked. Include a signed plagiarism with your submission. For more information read </a:t>
            </a:r>
            <a:r>
              <a:rPr lang="en-US" u="sng" dirty="0">
                <a:hlinkClick r:id="rId2"/>
              </a:rPr>
              <a:t>https://www.plagiarism.org/</a:t>
            </a:r>
            <a:r>
              <a:rPr lang="en-US" dirty="0"/>
              <a:t>. The text similarity index between your write-up and the content of your sources should not exceed 20%.</a:t>
            </a:r>
            <a:endParaRPr lang="en-GB" dirty="0"/>
          </a:p>
          <a:p>
            <a:pPr lvl="0"/>
            <a:r>
              <a:rPr lang="en-US" i="1" dirty="0"/>
              <a:t>An abstract </a:t>
            </a:r>
            <a:r>
              <a:rPr lang="en-US" dirty="0"/>
              <a:t>is expected from each student</a:t>
            </a:r>
            <a:endParaRPr lang="en-GB" dirty="0"/>
          </a:p>
          <a:p>
            <a:pPr lvl="0"/>
            <a:r>
              <a:rPr lang="en-US" dirty="0"/>
              <a:t>Your report must be written in Microsoft Word using Times New Roman, font size 12, 1.5 spacing. Your report including an Abstract should not exceed 7 (A4) pages. </a:t>
            </a:r>
            <a:endParaRPr lang="en-GB" dirty="0"/>
          </a:p>
          <a:p>
            <a:pPr lvl="0"/>
            <a:r>
              <a:rPr lang="en-US" dirty="0"/>
              <a:t>The report needs to be submitted on </a:t>
            </a:r>
            <a:r>
              <a:rPr lang="en-US" b="1" dirty="0"/>
              <a:t>Blackboard</a:t>
            </a:r>
            <a:r>
              <a:rPr lang="en-US" dirty="0"/>
              <a:t> under Assignment 1. Use Harvard Referencing to indicate your sources. </a:t>
            </a:r>
            <a:endParaRPr lang="en-GB" dirty="0"/>
          </a:p>
          <a:p>
            <a:endParaRPr lang="en-GB" dirty="0"/>
          </a:p>
        </p:txBody>
      </p:sp>
      <p:sp>
        <p:nvSpPr>
          <p:cNvPr id="5" name="Title 3"/>
          <p:cNvSpPr txBox="1">
            <a:spLocks/>
          </p:cNvSpPr>
          <p:nvPr/>
        </p:nvSpPr>
        <p:spPr>
          <a:xfrm>
            <a:off x="1030288" y="1063625"/>
            <a:ext cx="7199312" cy="857250"/>
          </a:xfrm>
          <a:prstGeom prst="rect">
            <a:avLst/>
          </a:prstGeom>
        </p:spPr>
        <p:txBody>
          <a:bodyPr vert="horz" lIns="91440" tIns="45720" rIns="91440" bIns="45720" rtlCol="0" anchor="t">
            <a:normAutofit/>
          </a:bodyPr>
          <a:lst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dirty="0"/>
              <a:t>Assignment 1	</a:t>
            </a:r>
            <a:r>
              <a:rPr lang="en-US" sz="2000" dirty="0" smtClean="0"/>
              <a:t>Weight</a:t>
            </a:r>
            <a:r>
              <a:rPr lang="en-US" sz="2000" dirty="0"/>
              <a:t>: 20%	</a:t>
            </a:r>
            <a:r>
              <a:rPr lang="en-US" sz="2000" dirty="0" smtClean="0"/>
              <a:t>Due </a:t>
            </a:r>
            <a:r>
              <a:rPr lang="en-US" sz="2000" dirty="0"/>
              <a:t>Date: 23:59, 12 April 2021</a:t>
            </a:r>
          </a:p>
        </p:txBody>
      </p:sp>
    </p:spTree>
    <p:extLst>
      <p:ext uri="{BB962C8B-B14F-4D97-AF65-F5344CB8AC3E}">
        <p14:creationId xmlns:p14="http://schemas.microsoft.com/office/powerpoint/2010/main" val="240912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4</a:t>
            </a:fld>
            <a:endParaRPr lang="en-GB" dirty="0"/>
          </a:p>
        </p:txBody>
      </p:sp>
      <p:sp>
        <p:nvSpPr>
          <p:cNvPr id="3" name="Slide Number Placeholder 1"/>
          <p:cNvSpPr txBox="1">
            <a:spLocks/>
          </p:cNvSpPr>
          <p:nvPr/>
        </p:nvSpPr>
        <p:spPr bwMode="gray">
          <a:xfrm>
            <a:off x="7766431" y="295736"/>
            <a:ext cx="628813" cy="767687"/>
          </a:xfrm>
          <a:prstGeom prst="rect">
            <a:avLst/>
          </a:prstGeom>
        </p:spPr>
        <p:txBody>
          <a:bodyPr vert="horz" lIns="91440" tIns="45720" rIns="91440" bIns="45720" rtlCol="0" anchor="b"/>
          <a:lstStyle>
            <a:defPPr>
              <a:defRPr lang="en-US"/>
            </a:defPPr>
            <a:lvl1pPr marL="0" algn="ctr" defTabSz="914400" rtl="0" eaLnBrk="1" latinLnBrk="0" hangingPunct="1">
              <a:defRPr sz="2801" b="0" i="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5DFEC63-AC9E-491C-B008-E83D881192CD}" type="slidenum">
              <a:rPr lang="en-GB" smtClean="0"/>
              <a:pPr/>
              <a:t>4</a:t>
            </a:fld>
            <a:endParaRPr lang="en-GB" dirty="0"/>
          </a:p>
        </p:txBody>
      </p:sp>
      <p:sp>
        <p:nvSpPr>
          <p:cNvPr id="4" name="Content Placeholder 4"/>
          <p:cNvSpPr txBox="1">
            <a:spLocks/>
          </p:cNvSpPr>
          <p:nvPr/>
        </p:nvSpPr>
        <p:spPr>
          <a:xfrm>
            <a:off x="762000" y="1828800"/>
            <a:ext cx="8113712" cy="3600450"/>
          </a:xfrm>
          <a:prstGeom prst="rect">
            <a:avLst/>
          </a:prstGeom>
        </p:spPr>
        <p:txBody>
          <a:bodyPr vert="horz" lIns="91440" tIns="45720" rIns="91440" bIns="45720" rtlCol="0">
            <a:normAutofit/>
          </a:bodyPr>
          <a:lst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457207" lvl="1" indent="0">
              <a:buNone/>
            </a:pPr>
            <a:endParaRPr lang="en-GB" sz="1899" dirty="0" smtClean="0"/>
          </a:p>
        </p:txBody>
      </p:sp>
      <p:sp>
        <p:nvSpPr>
          <p:cNvPr id="5" name="Rectangle 4"/>
          <p:cNvSpPr/>
          <p:nvPr/>
        </p:nvSpPr>
        <p:spPr>
          <a:xfrm>
            <a:off x="2209800" y="540203"/>
            <a:ext cx="4800600" cy="523220"/>
          </a:xfrm>
          <a:prstGeom prst="rect">
            <a:avLst/>
          </a:prstGeom>
        </p:spPr>
        <p:txBody>
          <a:bodyPr wrap="square">
            <a:spAutoFit/>
          </a:bodyPr>
          <a:lstStyle/>
          <a:p>
            <a:r>
              <a:rPr lang="en-US" sz="2800" dirty="0" smtClean="0"/>
              <a:t>Marking Rubrics</a:t>
            </a:r>
            <a:endParaRPr lang="en-GB" sz="2800" dirty="0"/>
          </a:p>
        </p:txBody>
      </p:sp>
      <p:graphicFrame>
        <p:nvGraphicFramePr>
          <p:cNvPr id="6" name="Table 5"/>
          <p:cNvGraphicFramePr>
            <a:graphicFrameLocks noGrp="1"/>
          </p:cNvGraphicFramePr>
          <p:nvPr>
            <p:extLst>
              <p:ext uri="{D42A27DB-BD31-4B8C-83A1-F6EECF244321}">
                <p14:modId xmlns:p14="http://schemas.microsoft.com/office/powerpoint/2010/main" val="1398975808"/>
              </p:ext>
            </p:extLst>
          </p:nvPr>
        </p:nvGraphicFramePr>
        <p:xfrm>
          <a:off x="1080135" y="1524002"/>
          <a:ext cx="7530465" cy="4267197"/>
        </p:xfrm>
        <a:graphic>
          <a:graphicData uri="http://schemas.openxmlformats.org/drawingml/2006/table">
            <a:tbl>
              <a:tblPr firstRow="1" firstCol="1" lastRow="1" lastCol="1" bandRow="1" bandCol="1">
                <a:tableStyleId>{1E171933-4619-4E11-9A3F-F7608DF75F80}</a:tableStyleId>
              </a:tblPr>
              <a:tblGrid>
                <a:gridCol w="6418579">
                  <a:extLst>
                    <a:ext uri="{9D8B030D-6E8A-4147-A177-3AD203B41FA5}">
                      <a16:colId xmlns:a16="http://schemas.microsoft.com/office/drawing/2014/main" val="1372455439"/>
                    </a:ext>
                  </a:extLst>
                </a:gridCol>
                <a:gridCol w="1111886">
                  <a:extLst>
                    <a:ext uri="{9D8B030D-6E8A-4147-A177-3AD203B41FA5}">
                      <a16:colId xmlns:a16="http://schemas.microsoft.com/office/drawing/2014/main" val="244526216"/>
                    </a:ext>
                  </a:extLst>
                </a:gridCol>
              </a:tblGrid>
              <a:tr h="461073">
                <a:tc gridSpan="2">
                  <a:txBody>
                    <a:bodyPr/>
                    <a:lstStyle/>
                    <a:p>
                      <a:pPr algn="just">
                        <a:lnSpc>
                          <a:spcPct val="115000"/>
                        </a:lnSpc>
                        <a:spcAft>
                          <a:spcPts val="0"/>
                        </a:spcAft>
                      </a:pPr>
                      <a:r>
                        <a:rPr lang="en-US" sz="1400">
                          <a:effectLst/>
                        </a:rPr>
                        <a:t>Marking Rubric</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GB"/>
                    </a:p>
                  </a:txBody>
                  <a:tcPr/>
                </a:tc>
                <a:extLst>
                  <a:ext uri="{0D108BD9-81ED-4DB2-BD59-A6C34878D82A}">
                    <a16:rowId xmlns:a16="http://schemas.microsoft.com/office/drawing/2014/main" val="3833336752"/>
                  </a:ext>
                </a:extLst>
              </a:tr>
              <a:tr h="807635">
                <a:tc>
                  <a:txBody>
                    <a:bodyPr/>
                    <a:lstStyle/>
                    <a:p>
                      <a:pPr algn="just">
                        <a:lnSpc>
                          <a:spcPct val="115000"/>
                        </a:lnSpc>
                        <a:spcAft>
                          <a:spcPts val="0"/>
                        </a:spcAft>
                      </a:pPr>
                      <a:r>
                        <a:rPr lang="en-US" sz="1200" dirty="0">
                          <a:effectLst/>
                        </a:rPr>
                        <a:t>Appearance</a:t>
                      </a:r>
                      <a:endParaRPr lang="en-GB" sz="1100" dirty="0">
                        <a:effectLst/>
                      </a:endParaRPr>
                    </a:p>
                    <a:p>
                      <a:pPr algn="just">
                        <a:lnSpc>
                          <a:spcPct val="115000"/>
                        </a:lnSpc>
                        <a:spcAft>
                          <a:spcPts val="0"/>
                        </a:spcAft>
                      </a:pPr>
                      <a:r>
                        <a:rPr lang="en-US" sz="1200" dirty="0">
                          <a:effectLst/>
                        </a:rPr>
                        <a:t>Front page, back page, headings, page numbers etc.	</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200">
                          <a:effectLst/>
                        </a:rPr>
                        <a:t>10%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82683336"/>
                  </a:ext>
                </a:extLst>
              </a:tr>
              <a:tr h="807635">
                <a:tc>
                  <a:txBody>
                    <a:bodyPr/>
                    <a:lstStyle/>
                    <a:p>
                      <a:pPr algn="just">
                        <a:lnSpc>
                          <a:spcPct val="115000"/>
                        </a:lnSpc>
                        <a:spcAft>
                          <a:spcPts val="0"/>
                        </a:spcAft>
                      </a:pPr>
                      <a:r>
                        <a:rPr lang="en-US" sz="1200">
                          <a:effectLst/>
                        </a:rPr>
                        <a:t>Introduction and Conclusion</a:t>
                      </a:r>
                      <a:endParaRPr lang="en-GB" sz="1100">
                        <a:effectLst/>
                      </a:endParaRPr>
                    </a:p>
                    <a:p>
                      <a:pPr algn="just">
                        <a:lnSpc>
                          <a:spcPct val="115000"/>
                        </a:lnSpc>
                        <a:spcAft>
                          <a:spcPts val="0"/>
                        </a:spcAft>
                      </a:pPr>
                      <a:r>
                        <a:rPr lang="en-US" sz="1200">
                          <a:effectLst/>
                        </a:rPr>
                        <a:t>What does this report do?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200">
                          <a:effectLst/>
                        </a:rPr>
                        <a:t>10%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554186"/>
                  </a:ext>
                </a:extLst>
              </a:tr>
              <a:tr h="807635">
                <a:tc>
                  <a:txBody>
                    <a:bodyPr/>
                    <a:lstStyle/>
                    <a:p>
                      <a:pPr algn="just">
                        <a:lnSpc>
                          <a:spcPct val="115000"/>
                        </a:lnSpc>
                        <a:spcAft>
                          <a:spcPts val="0"/>
                        </a:spcAft>
                      </a:pPr>
                      <a:r>
                        <a:rPr lang="en-ZA" sz="1200">
                          <a:effectLst/>
                        </a:rPr>
                        <a:t>Research &amp; Referencing </a:t>
                      </a:r>
                      <a:endParaRPr lang="en-GB" sz="1100">
                        <a:effectLst/>
                      </a:endParaRPr>
                    </a:p>
                    <a:p>
                      <a:pPr algn="just">
                        <a:lnSpc>
                          <a:spcPct val="115000"/>
                        </a:lnSpc>
                        <a:spcAft>
                          <a:spcPts val="0"/>
                        </a:spcAft>
                      </a:pPr>
                      <a:r>
                        <a:rPr lang="en-US"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200">
                          <a:effectLst/>
                        </a:rPr>
                        <a:t>10%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4358810"/>
                  </a:ext>
                </a:extLst>
              </a:tr>
              <a:tr h="461073">
                <a:tc>
                  <a:txBody>
                    <a:bodyPr/>
                    <a:lstStyle/>
                    <a:p>
                      <a:pPr algn="just">
                        <a:lnSpc>
                          <a:spcPct val="115000"/>
                        </a:lnSpc>
                        <a:spcAft>
                          <a:spcPts val="0"/>
                        </a:spcAft>
                      </a:pPr>
                      <a:r>
                        <a:rPr lang="en-US" sz="1200">
                          <a:effectLst/>
                        </a:rPr>
                        <a:t>Body</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200">
                          <a:effectLst/>
                        </a:rPr>
                        <a:t>70%</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8073256"/>
                  </a:ext>
                </a:extLst>
              </a:tr>
              <a:tr h="461073">
                <a:tc>
                  <a:txBody>
                    <a:bodyPr/>
                    <a:lstStyle/>
                    <a:p>
                      <a:pPr algn="just">
                        <a:lnSpc>
                          <a:spcPct val="115000"/>
                        </a:lnSpc>
                        <a:spcAft>
                          <a:spcPts val="0"/>
                        </a:spcAft>
                      </a:pPr>
                      <a:r>
                        <a:rPr lang="en-US"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200">
                          <a:effectLst/>
                        </a:rPr>
                        <a:t> </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0890220"/>
                  </a:ext>
                </a:extLst>
              </a:tr>
              <a:tr h="461073">
                <a:tc>
                  <a:txBody>
                    <a:bodyPr/>
                    <a:lstStyle/>
                    <a:p>
                      <a:pPr algn="just">
                        <a:lnSpc>
                          <a:spcPct val="115000"/>
                        </a:lnSpc>
                        <a:spcAft>
                          <a:spcPts val="0"/>
                        </a:spcAft>
                      </a:pPr>
                      <a:r>
                        <a:rPr lang="en-US" sz="1200" dirty="0">
                          <a:effectLst/>
                        </a:rPr>
                        <a:t>Total Mark</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0"/>
                        </a:spcAft>
                      </a:pPr>
                      <a:r>
                        <a:rPr lang="en-US" sz="1200" dirty="0">
                          <a:effectLst/>
                        </a:rPr>
                        <a:t>100 marks</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1256452"/>
                  </a:ext>
                </a:extLst>
              </a:tr>
            </a:tbl>
          </a:graphicData>
        </a:graphic>
      </p:graphicFrame>
    </p:spTree>
    <p:extLst>
      <p:ext uri="{BB962C8B-B14F-4D97-AF65-F5344CB8AC3E}">
        <p14:creationId xmlns:p14="http://schemas.microsoft.com/office/powerpoint/2010/main" val="76062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5</a:t>
            </a:fld>
            <a:endParaRPr lang="en-GB" dirty="0"/>
          </a:p>
        </p:txBody>
      </p:sp>
      <p:sp>
        <p:nvSpPr>
          <p:cNvPr id="3" name="Text Box 6"/>
          <p:cNvSpPr txBox="1">
            <a:spLocks noChangeArrowheads="1"/>
          </p:cNvSpPr>
          <p:nvPr/>
        </p:nvSpPr>
        <p:spPr bwMode="auto">
          <a:xfrm>
            <a:off x="457200" y="2229162"/>
            <a:ext cx="7010400" cy="1592744"/>
          </a:xfrm>
          <a:prstGeom prst="rect">
            <a:avLst/>
          </a:prstGeom>
          <a:noFill/>
          <a:ln w="9525">
            <a:noFill/>
            <a:miter lim="800000"/>
            <a:headEnd/>
            <a:tailEnd/>
          </a:ln>
        </p:spPr>
        <p:txBody>
          <a:bodyPr wrap="square">
            <a:spAutoFit/>
          </a:bodyPr>
          <a:lstStyle/>
          <a:p>
            <a:pPr algn="ctr"/>
            <a:r>
              <a:rPr lang="en-ZA" sz="3200" dirty="0">
                <a:solidFill>
                  <a:srgbClr val="00A1DA"/>
                </a:solidFill>
              </a:rPr>
              <a:t>Introduction to Artificial </a:t>
            </a:r>
            <a:r>
              <a:rPr lang="en-ZA" sz="3200" dirty="0" smtClean="0">
                <a:solidFill>
                  <a:srgbClr val="00A1DA"/>
                </a:solidFill>
              </a:rPr>
              <a:t>Intelligence  </a:t>
            </a:r>
            <a:endParaRPr lang="en-ZA" sz="3200" dirty="0">
              <a:solidFill>
                <a:srgbClr val="00A1DA"/>
              </a:solidFill>
            </a:endParaRPr>
          </a:p>
          <a:p>
            <a:pPr algn="ctr"/>
            <a:r>
              <a:rPr lang="en-ZA" sz="3200" dirty="0" smtClean="0">
                <a:solidFill>
                  <a:srgbClr val="00A1DA"/>
                </a:solidFill>
              </a:rPr>
              <a:t>Lecture 1</a:t>
            </a:r>
          </a:p>
          <a:p>
            <a:pPr algn="ctr"/>
            <a:endParaRPr lang="en-ZA" sz="2000" dirty="0">
              <a:solidFill>
                <a:srgbClr val="00A1DA"/>
              </a:solidFill>
            </a:endParaRPr>
          </a:p>
          <a:p>
            <a:pPr algn="ctr"/>
            <a:endParaRPr lang="en-ZA" sz="1350" dirty="0"/>
          </a:p>
        </p:txBody>
      </p:sp>
    </p:spTree>
    <p:extLst>
      <p:ext uri="{BB962C8B-B14F-4D97-AF65-F5344CB8AC3E}">
        <p14:creationId xmlns:p14="http://schemas.microsoft.com/office/powerpoint/2010/main" val="511477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6</a:t>
            </a:fld>
            <a:endParaRPr lang="en-GB" dirty="0"/>
          </a:p>
        </p:txBody>
      </p:sp>
      <p:sp>
        <p:nvSpPr>
          <p:cNvPr id="5" name="Content Placeholder 4"/>
          <p:cNvSpPr>
            <a:spLocks noGrp="1"/>
          </p:cNvSpPr>
          <p:nvPr>
            <p:ph idx="4294967295"/>
          </p:nvPr>
        </p:nvSpPr>
        <p:spPr>
          <a:xfrm>
            <a:off x="1030288" y="1943100"/>
            <a:ext cx="8113712" cy="3600450"/>
          </a:xfrm>
        </p:spPr>
        <p:txBody>
          <a:bodyPr>
            <a:normAutofit/>
          </a:bodyPr>
          <a:lstStyle/>
          <a:p>
            <a:pPr>
              <a:buFont typeface="Wingdings" panose="05000000000000000000" pitchFamily="2" charset="2"/>
              <a:buChar char="q"/>
            </a:pPr>
            <a:r>
              <a:rPr lang="en-GB" sz="2099" dirty="0" smtClean="0">
                <a:solidFill>
                  <a:schemeClr val="accent1">
                    <a:lumMod val="60000"/>
                    <a:lumOff val="40000"/>
                  </a:schemeClr>
                </a:solidFill>
              </a:rPr>
              <a:t>AI Definition</a:t>
            </a:r>
          </a:p>
          <a:p>
            <a:pPr>
              <a:buFont typeface="Wingdings" panose="05000000000000000000" pitchFamily="2" charset="2"/>
              <a:buChar char="q"/>
            </a:pPr>
            <a:r>
              <a:rPr lang="en-US" sz="2099" dirty="0" smtClean="0">
                <a:solidFill>
                  <a:schemeClr val="accent1">
                    <a:lumMod val="60000"/>
                    <a:lumOff val="40000"/>
                  </a:schemeClr>
                </a:solidFill>
              </a:rPr>
              <a:t>Related Fields</a:t>
            </a:r>
            <a:endParaRPr lang="en-GB" sz="2099" dirty="0" smtClean="0">
              <a:solidFill>
                <a:schemeClr val="accent1">
                  <a:lumMod val="60000"/>
                  <a:lumOff val="40000"/>
                </a:schemeClr>
              </a:solidFill>
            </a:endParaRPr>
          </a:p>
          <a:p>
            <a:pPr>
              <a:buFont typeface="Wingdings" panose="05000000000000000000" pitchFamily="2" charset="2"/>
              <a:buChar char="q"/>
            </a:pPr>
            <a:r>
              <a:rPr lang="en-US" sz="2099" dirty="0" smtClean="0"/>
              <a:t>History of AI </a:t>
            </a:r>
          </a:p>
          <a:p>
            <a:pPr>
              <a:buFont typeface="Wingdings" panose="05000000000000000000" pitchFamily="2" charset="2"/>
              <a:buChar char="q"/>
            </a:pPr>
            <a:r>
              <a:rPr lang="en-US" sz="2099" dirty="0" smtClean="0"/>
              <a:t>AI </a:t>
            </a:r>
            <a:r>
              <a:rPr lang="en-US" sz="2099" dirty="0"/>
              <a:t>Philosophy</a:t>
            </a:r>
          </a:p>
          <a:p>
            <a:pPr>
              <a:buFont typeface="Wingdings" panose="05000000000000000000" pitchFamily="2" charset="2"/>
              <a:buChar char="q"/>
            </a:pPr>
            <a:r>
              <a:rPr lang="en-GB" sz="2099" dirty="0" smtClean="0"/>
              <a:t>Applications </a:t>
            </a:r>
            <a:r>
              <a:rPr lang="en-GB" sz="2099" dirty="0"/>
              <a:t>of </a:t>
            </a:r>
            <a:r>
              <a:rPr lang="en-GB" sz="2099" dirty="0" smtClean="0"/>
              <a:t>AI (</a:t>
            </a:r>
            <a:r>
              <a:rPr lang="en-GB" sz="2099" dirty="0"/>
              <a:t>Planning, understanding, natural language processing, parallel and distributed AI, learning, connectionist model, robotics, expert systems, fuzzy logic, artificial neural networks)</a:t>
            </a:r>
            <a:endParaRPr lang="en-US" sz="2099" dirty="0"/>
          </a:p>
        </p:txBody>
      </p:sp>
      <p:sp>
        <p:nvSpPr>
          <p:cNvPr id="4" name="Title 3"/>
          <p:cNvSpPr>
            <a:spLocks noGrp="1"/>
          </p:cNvSpPr>
          <p:nvPr>
            <p:ph type="title" idx="4294967295"/>
          </p:nvPr>
        </p:nvSpPr>
        <p:spPr>
          <a:xfrm>
            <a:off x="1030288" y="1063625"/>
            <a:ext cx="7199312" cy="857250"/>
          </a:xfrm>
        </p:spPr>
        <p:txBody>
          <a:bodyPr>
            <a:normAutofit/>
          </a:bodyPr>
          <a:lstStyle/>
          <a:p>
            <a:r>
              <a:rPr lang="en-US" sz="2800" dirty="0" smtClean="0"/>
              <a:t>Introduction </a:t>
            </a:r>
            <a:r>
              <a:rPr lang="en-US" sz="2800" dirty="0"/>
              <a:t>to AI</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7</a:t>
            </a:fld>
            <a:endParaRPr lang="en-GB" dirty="0"/>
          </a:p>
        </p:txBody>
      </p:sp>
      <p:sp>
        <p:nvSpPr>
          <p:cNvPr id="2" name="Title 1"/>
          <p:cNvSpPr>
            <a:spLocks noGrp="1"/>
          </p:cNvSpPr>
          <p:nvPr>
            <p:ph type="title" idx="4294967295"/>
          </p:nvPr>
        </p:nvSpPr>
        <p:spPr>
          <a:xfrm>
            <a:off x="533400" y="533400"/>
            <a:ext cx="8783638" cy="836612"/>
          </a:xfrm>
        </p:spPr>
        <p:txBody>
          <a:bodyPr/>
          <a:lstStyle/>
          <a:p>
            <a:r>
              <a:rPr lang="nn-NO" sz="2800" dirty="0"/>
              <a:t>History of AI</a:t>
            </a:r>
            <a:endParaRPr lang="en-GB" sz="2800" dirty="0"/>
          </a:p>
        </p:txBody>
      </p:sp>
      <p:sp>
        <p:nvSpPr>
          <p:cNvPr id="3" name="Content Placeholder 2"/>
          <p:cNvSpPr>
            <a:spLocks noGrp="1"/>
          </p:cNvSpPr>
          <p:nvPr>
            <p:ph idx="4294967295"/>
          </p:nvPr>
        </p:nvSpPr>
        <p:spPr>
          <a:xfrm>
            <a:off x="228600" y="1408112"/>
            <a:ext cx="8856662" cy="5068888"/>
          </a:xfrm>
        </p:spPr>
        <p:txBody>
          <a:bodyPr>
            <a:noAutofit/>
          </a:bodyPr>
          <a:lstStyle/>
          <a:p>
            <a:pPr>
              <a:lnSpc>
                <a:spcPct val="80000"/>
              </a:lnSpc>
              <a:buFont typeface="Wingdings" panose="05000000000000000000" pitchFamily="2" charset="2"/>
              <a:buChar char="q"/>
            </a:pPr>
            <a:r>
              <a:rPr lang="en-US" b="1" dirty="0">
                <a:ea typeface="Verdana" pitchFamily="34" charset="0"/>
                <a:cs typeface="Verdana" pitchFamily="34" charset="0"/>
              </a:rPr>
              <a:t>1943: early beginnings</a:t>
            </a:r>
          </a:p>
          <a:p>
            <a:pPr lvl="1">
              <a:lnSpc>
                <a:spcPct val="80000"/>
              </a:lnSpc>
              <a:buFont typeface="Wingdings" panose="05000000000000000000" pitchFamily="2" charset="2"/>
              <a:buChar char="v"/>
            </a:pPr>
            <a:r>
              <a:rPr lang="en-US" dirty="0">
                <a:ea typeface="Verdana" pitchFamily="34" charset="0"/>
                <a:cs typeface="Verdana" pitchFamily="34" charset="0"/>
              </a:rPr>
              <a:t>McCulloch &amp; Pitts: Boolean circuit model of brain</a:t>
            </a:r>
          </a:p>
          <a:p>
            <a:pPr>
              <a:lnSpc>
                <a:spcPct val="80000"/>
              </a:lnSpc>
            </a:pPr>
            <a:endParaRPr lang="en-US" sz="1800" dirty="0">
              <a:latin typeface="Verdana" pitchFamily="34" charset="0"/>
              <a:ea typeface="Verdana" pitchFamily="34" charset="0"/>
              <a:cs typeface="Verdana" pitchFamily="34" charset="0"/>
            </a:endParaRPr>
          </a:p>
          <a:p>
            <a:pPr>
              <a:lnSpc>
                <a:spcPct val="80000"/>
              </a:lnSpc>
              <a:buFont typeface="Wingdings" panose="05000000000000000000" pitchFamily="2" charset="2"/>
              <a:buChar char="q"/>
            </a:pPr>
            <a:r>
              <a:rPr lang="en-US" b="1" dirty="0">
                <a:ea typeface="Verdana" pitchFamily="34" charset="0"/>
                <a:cs typeface="Verdana" pitchFamily="34" charset="0"/>
              </a:rPr>
              <a:t>1950: Turing </a:t>
            </a:r>
          </a:p>
          <a:p>
            <a:pPr lvl="1">
              <a:lnSpc>
                <a:spcPct val="80000"/>
              </a:lnSpc>
              <a:buFont typeface="Wingdings" panose="05000000000000000000" pitchFamily="2" charset="2"/>
              <a:buChar char="v"/>
            </a:pPr>
            <a:r>
              <a:rPr lang="en-US" dirty="0">
                <a:ea typeface="Verdana" pitchFamily="34" charset="0"/>
                <a:cs typeface="Verdana" pitchFamily="34" charset="0"/>
              </a:rPr>
              <a:t>Turing's "Computing Machinery and Intelligence“</a:t>
            </a:r>
          </a:p>
          <a:p>
            <a:pPr>
              <a:lnSpc>
                <a:spcPct val="80000"/>
              </a:lnSpc>
            </a:pPr>
            <a:endParaRPr lang="en-US" sz="1800" dirty="0">
              <a:latin typeface="Verdana" pitchFamily="34" charset="0"/>
              <a:ea typeface="Verdana" pitchFamily="34" charset="0"/>
              <a:cs typeface="Verdana" pitchFamily="34" charset="0"/>
            </a:endParaRPr>
          </a:p>
          <a:p>
            <a:pPr>
              <a:lnSpc>
                <a:spcPct val="80000"/>
              </a:lnSpc>
              <a:buFont typeface="Wingdings" panose="05000000000000000000" pitchFamily="2" charset="2"/>
              <a:buChar char="q"/>
            </a:pPr>
            <a:r>
              <a:rPr lang="en-US" b="1" dirty="0">
                <a:ea typeface="Verdana" pitchFamily="34" charset="0"/>
                <a:cs typeface="Verdana" pitchFamily="34" charset="0"/>
              </a:rPr>
              <a:t>1951: Initial promise of AI</a:t>
            </a:r>
          </a:p>
          <a:p>
            <a:pPr lvl="1">
              <a:lnSpc>
                <a:spcPct val="80000"/>
              </a:lnSpc>
              <a:buFont typeface="Wingdings" panose="05000000000000000000" pitchFamily="2" charset="2"/>
              <a:buChar char="v"/>
            </a:pPr>
            <a:r>
              <a:rPr lang="en-US" dirty="0">
                <a:ea typeface="Verdana" pitchFamily="34" charset="0"/>
                <a:cs typeface="Verdana" pitchFamily="34" charset="0"/>
              </a:rPr>
              <a:t>Early AI programs, including </a:t>
            </a:r>
          </a:p>
          <a:p>
            <a:pPr lvl="1">
              <a:lnSpc>
                <a:spcPct val="80000"/>
              </a:lnSpc>
              <a:buFont typeface="Wingdings" panose="05000000000000000000" pitchFamily="2" charset="2"/>
              <a:buChar char="v"/>
            </a:pPr>
            <a:r>
              <a:rPr lang="en-US" dirty="0">
                <a:ea typeface="Verdana" pitchFamily="34" charset="0"/>
                <a:cs typeface="Verdana" pitchFamily="34" charset="0"/>
              </a:rPr>
              <a:t>Samuel's checkers program  </a:t>
            </a:r>
          </a:p>
          <a:p>
            <a:pPr lvl="1">
              <a:lnSpc>
                <a:spcPct val="80000"/>
              </a:lnSpc>
              <a:buFont typeface="Wingdings" panose="05000000000000000000" pitchFamily="2" charset="2"/>
              <a:buChar char="v"/>
            </a:pPr>
            <a:r>
              <a:rPr lang="en-US" dirty="0">
                <a:ea typeface="Verdana" pitchFamily="34" charset="0"/>
                <a:cs typeface="Verdana" pitchFamily="34" charset="0"/>
              </a:rPr>
              <a:t>Newell &amp; Simon's Logic Theorist</a:t>
            </a:r>
          </a:p>
          <a:p>
            <a:pPr lvl="1">
              <a:lnSpc>
                <a:spcPct val="80000"/>
              </a:lnSpc>
              <a:buFontTx/>
              <a:buNone/>
            </a:pPr>
            <a:r>
              <a:rPr lang="en-US" dirty="0">
                <a:latin typeface="Verdana" pitchFamily="34" charset="0"/>
                <a:ea typeface="Verdana" pitchFamily="34" charset="0"/>
                <a:cs typeface="Verdana" pitchFamily="34" charset="0"/>
              </a:rPr>
              <a:t>    </a:t>
            </a:r>
          </a:p>
          <a:p>
            <a:pPr>
              <a:lnSpc>
                <a:spcPct val="80000"/>
              </a:lnSpc>
              <a:buFont typeface="Wingdings" panose="05000000000000000000" pitchFamily="2" charset="2"/>
              <a:buChar char="q"/>
            </a:pPr>
            <a:r>
              <a:rPr lang="en-US" b="1" dirty="0">
                <a:ea typeface="Verdana" pitchFamily="34" charset="0"/>
                <a:cs typeface="Verdana" pitchFamily="34" charset="0"/>
              </a:rPr>
              <a:t>1956: birth of AI</a:t>
            </a:r>
          </a:p>
          <a:p>
            <a:pPr lvl="1">
              <a:lnSpc>
                <a:spcPct val="80000"/>
              </a:lnSpc>
              <a:buFont typeface="Wingdings" panose="05000000000000000000" pitchFamily="2" charset="2"/>
              <a:buChar char="v"/>
            </a:pPr>
            <a:r>
              <a:rPr lang="en-US" dirty="0">
                <a:ea typeface="Verdana" pitchFamily="34" charset="0"/>
                <a:cs typeface="Verdana" pitchFamily="34" charset="0"/>
              </a:rPr>
              <a:t>Dartmouth meeting: "Artificial Intelligence“  the name adopted</a:t>
            </a:r>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8</a:t>
            </a:fld>
            <a:endParaRPr lang="en-GB" dirty="0"/>
          </a:p>
        </p:txBody>
      </p:sp>
      <p:sp>
        <p:nvSpPr>
          <p:cNvPr id="2" name="Title 1"/>
          <p:cNvSpPr>
            <a:spLocks noGrp="1"/>
          </p:cNvSpPr>
          <p:nvPr>
            <p:ph type="title" idx="4294967295"/>
          </p:nvPr>
        </p:nvSpPr>
        <p:spPr>
          <a:xfrm>
            <a:off x="838200" y="645117"/>
            <a:ext cx="8783637" cy="836612"/>
          </a:xfrm>
        </p:spPr>
        <p:txBody>
          <a:bodyPr/>
          <a:lstStyle/>
          <a:p>
            <a:r>
              <a:rPr lang="nn-NO" sz="2800" dirty="0"/>
              <a:t>History of AI – Cont’d</a:t>
            </a:r>
            <a:endParaRPr lang="en-GB" sz="2800" dirty="0"/>
          </a:p>
        </p:txBody>
      </p:sp>
      <p:sp>
        <p:nvSpPr>
          <p:cNvPr id="3" name="Content Placeholder 2"/>
          <p:cNvSpPr>
            <a:spLocks noGrp="1"/>
          </p:cNvSpPr>
          <p:nvPr>
            <p:ph idx="4294967295"/>
          </p:nvPr>
        </p:nvSpPr>
        <p:spPr>
          <a:xfrm>
            <a:off x="358775" y="1676400"/>
            <a:ext cx="8785225" cy="3849268"/>
          </a:xfrm>
        </p:spPr>
        <p:txBody>
          <a:bodyPr>
            <a:noAutofit/>
          </a:bodyPr>
          <a:lstStyle/>
          <a:p>
            <a:pPr>
              <a:lnSpc>
                <a:spcPct val="80000"/>
              </a:lnSpc>
              <a:buFont typeface="Wingdings" panose="05000000000000000000" pitchFamily="2" charset="2"/>
              <a:buChar char="q"/>
            </a:pPr>
            <a:r>
              <a:rPr lang="en-US" b="1" dirty="0">
                <a:ea typeface="Verdana" pitchFamily="34" charset="0"/>
                <a:cs typeface="Verdana" pitchFamily="34" charset="0"/>
              </a:rPr>
              <a:t>1966—73: Reality dawns</a:t>
            </a:r>
            <a:r>
              <a:rPr lang="en-US" sz="1650" b="1" dirty="0">
                <a:ea typeface="Verdana" pitchFamily="34" charset="0"/>
                <a:cs typeface="Verdana" pitchFamily="34" charset="0"/>
              </a:rPr>
              <a:t>	</a:t>
            </a:r>
          </a:p>
          <a:p>
            <a:pPr lvl="1">
              <a:lnSpc>
                <a:spcPct val="80000"/>
              </a:lnSpc>
              <a:buFont typeface="Wingdings" panose="05000000000000000000" pitchFamily="2" charset="2"/>
              <a:buChar char="v"/>
            </a:pPr>
            <a:r>
              <a:rPr lang="en-US" dirty="0">
                <a:ea typeface="Verdana" pitchFamily="34" charset="0"/>
                <a:cs typeface="Verdana" pitchFamily="34" charset="0"/>
              </a:rPr>
              <a:t>Realization that many AI problems are intractable</a:t>
            </a:r>
          </a:p>
          <a:p>
            <a:pPr lvl="1">
              <a:lnSpc>
                <a:spcPct val="80000"/>
              </a:lnSpc>
              <a:buFont typeface="Wingdings" panose="05000000000000000000" pitchFamily="2" charset="2"/>
              <a:buChar char="v"/>
            </a:pPr>
            <a:r>
              <a:rPr lang="en-US" dirty="0">
                <a:ea typeface="Verdana" pitchFamily="34" charset="0"/>
                <a:cs typeface="Verdana" pitchFamily="34" charset="0"/>
              </a:rPr>
              <a:t>Limitations of existing neural network methods identified</a:t>
            </a:r>
          </a:p>
          <a:p>
            <a:pPr lvl="2">
              <a:lnSpc>
                <a:spcPct val="80000"/>
              </a:lnSpc>
              <a:buFont typeface="Courier New" panose="02070309020205020404" pitchFamily="49" charset="0"/>
              <a:buChar char="o"/>
            </a:pPr>
            <a:r>
              <a:rPr lang="en-US" dirty="0">
                <a:ea typeface="Verdana" pitchFamily="34" charset="0"/>
                <a:cs typeface="Verdana" pitchFamily="34" charset="0"/>
              </a:rPr>
              <a:t>Neural network research almost </a:t>
            </a:r>
            <a:r>
              <a:rPr lang="en-US" dirty="0" smtClean="0">
                <a:ea typeface="Verdana" pitchFamily="34" charset="0"/>
                <a:cs typeface="Verdana" pitchFamily="34" charset="0"/>
              </a:rPr>
              <a:t>disappears</a:t>
            </a:r>
          </a:p>
          <a:p>
            <a:pPr lvl="2">
              <a:lnSpc>
                <a:spcPct val="80000"/>
              </a:lnSpc>
              <a:buFont typeface="Courier New" panose="02070309020205020404" pitchFamily="49" charset="0"/>
              <a:buChar char="o"/>
            </a:pPr>
            <a:endParaRPr lang="en-US" dirty="0" smtClean="0">
              <a:ea typeface="Verdana" pitchFamily="34" charset="0"/>
              <a:cs typeface="Verdana" pitchFamily="34" charset="0"/>
            </a:endParaRPr>
          </a:p>
          <a:p>
            <a:pPr>
              <a:lnSpc>
                <a:spcPct val="80000"/>
              </a:lnSpc>
              <a:buFont typeface="Wingdings" panose="05000000000000000000" pitchFamily="2" charset="2"/>
              <a:buChar char="q"/>
            </a:pPr>
            <a:r>
              <a:rPr lang="en-US" b="1" dirty="0" smtClean="0">
                <a:ea typeface="Verdana" pitchFamily="34" charset="0"/>
                <a:cs typeface="Verdana" pitchFamily="34" charset="0"/>
              </a:rPr>
              <a:t>1969—85</a:t>
            </a:r>
            <a:r>
              <a:rPr lang="en-US" b="1" dirty="0">
                <a:ea typeface="Verdana" pitchFamily="34" charset="0"/>
                <a:cs typeface="Verdana" pitchFamily="34" charset="0"/>
              </a:rPr>
              <a:t>: Adding domain knowledge</a:t>
            </a:r>
          </a:p>
          <a:p>
            <a:pPr lvl="1">
              <a:lnSpc>
                <a:spcPct val="80000"/>
              </a:lnSpc>
              <a:buFont typeface="Wingdings" panose="05000000000000000000" pitchFamily="2" charset="2"/>
              <a:buChar char="v"/>
            </a:pPr>
            <a:r>
              <a:rPr lang="en-US" dirty="0">
                <a:ea typeface="Verdana" pitchFamily="34" charset="0"/>
                <a:cs typeface="Verdana" pitchFamily="34" charset="0"/>
              </a:rPr>
              <a:t>	Development of knowledge-based systems</a:t>
            </a:r>
          </a:p>
          <a:p>
            <a:pPr lvl="1">
              <a:lnSpc>
                <a:spcPct val="80000"/>
              </a:lnSpc>
              <a:buFont typeface="Wingdings" panose="05000000000000000000" pitchFamily="2" charset="2"/>
              <a:buChar char="v"/>
            </a:pPr>
            <a:r>
              <a:rPr lang="en-US" dirty="0">
                <a:ea typeface="Verdana" pitchFamily="34" charset="0"/>
                <a:cs typeface="Verdana" pitchFamily="34" charset="0"/>
              </a:rPr>
              <a:t>  Success of rule-based expert systems,</a:t>
            </a:r>
          </a:p>
          <a:p>
            <a:pPr lvl="2">
              <a:lnSpc>
                <a:spcPct val="80000"/>
              </a:lnSpc>
              <a:buFont typeface="Courier New" panose="02070309020205020404" pitchFamily="49" charset="0"/>
              <a:buChar char="o"/>
            </a:pPr>
            <a:r>
              <a:rPr lang="en-US" dirty="0">
                <a:ea typeface="Verdana" pitchFamily="34" charset="0"/>
                <a:cs typeface="Verdana" pitchFamily="34" charset="0"/>
              </a:rPr>
              <a:t>E.g., DENDRAL, MYCIN</a:t>
            </a:r>
          </a:p>
          <a:p>
            <a:pPr lvl="2">
              <a:lnSpc>
                <a:spcPct val="80000"/>
              </a:lnSpc>
              <a:buFont typeface="Courier New" panose="02070309020205020404" pitchFamily="49" charset="0"/>
              <a:buChar char="o"/>
            </a:pPr>
            <a:r>
              <a:rPr lang="en-US" dirty="0">
                <a:ea typeface="Verdana" pitchFamily="34" charset="0"/>
                <a:cs typeface="Verdana" pitchFamily="34" charset="0"/>
              </a:rPr>
              <a:t>But were brittle and did not scale well in </a:t>
            </a:r>
            <a:r>
              <a:rPr lang="en-US" dirty="0" smtClean="0">
                <a:ea typeface="Verdana" pitchFamily="34" charset="0"/>
                <a:cs typeface="Verdana" pitchFamily="34" charset="0"/>
              </a:rPr>
              <a:t>practice</a:t>
            </a:r>
          </a:p>
          <a:p>
            <a:pPr marL="914416" lvl="2" indent="0">
              <a:lnSpc>
                <a:spcPct val="80000"/>
              </a:lnSpc>
              <a:buNone/>
            </a:pPr>
            <a:endParaRPr lang="en-US" dirty="0">
              <a:ea typeface="Verdana" pitchFamily="34" charset="0"/>
              <a:cs typeface="Verdana" pitchFamily="34" charset="0"/>
            </a:endParaRPr>
          </a:p>
          <a:p>
            <a:pPr lvl="2">
              <a:lnSpc>
                <a:spcPct val="80000"/>
              </a:lnSpc>
              <a:buNone/>
            </a:pPr>
            <a:endParaRPr lang="en-US" sz="1350" dirty="0">
              <a:ea typeface="Verdana" pitchFamily="34" charset="0"/>
              <a:cs typeface="Verdana"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9</a:t>
            </a:fld>
            <a:endParaRPr lang="en-GB" dirty="0"/>
          </a:p>
        </p:txBody>
      </p:sp>
      <p:sp>
        <p:nvSpPr>
          <p:cNvPr id="4" name="Title 1"/>
          <p:cNvSpPr>
            <a:spLocks noGrp="1"/>
          </p:cNvSpPr>
          <p:nvPr>
            <p:ph type="title" idx="4294967295"/>
          </p:nvPr>
        </p:nvSpPr>
        <p:spPr>
          <a:xfrm>
            <a:off x="1066800" y="634798"/>
            <a:ext cx="8229600" cy="857250"/>
          </a:xfrm>
        </p:spPr>
        <p:txBody>
          <a:bodyPr/>
          <a:lstStyle/>
          <a:p>
            <a:r>
              <a:rPr lang="nn-NO" sz="2800" dirty="0"/>
              <a:t>History of AI – Cont’d</a:t>
            </a:r>
            <a:endParaRPr lang="en-GB" sz="2800" dirty="0"/>
          </a:p>
        </p:txBody>
      </p:sp>
      <p:sp>
        <p:nvSpPr>
          <p:cNvPr id="3" name="Content Placeholder 2"/>
          <p:cNvSpPr>
            <a:spLocks noGrp="1"/>
          </p:cNvSpPr>
          <p:nvPr>
            <p:ph idx="4294967295"/>
          </p:nvPr>
        </p:nvSpPr>
        <p:spPr>
          <a:xfrm>
            <a:off x="533400" y="1981200"/>
            <a:ext cx="8229600" cy="3394075"/>
          </a:xfrm>
        </p:spPr>
        <p:txBody>
          <a:bodyPr/>
          <a:lstStyle/>
          <a:p>
            <a:pPr>
              <a:lnSpc>
                <a:spcPct val="80000"/>
              </a:lnSpc>
              <a:buFont typeface="Wingdings" panose="05000000000000000000" pitchFamily="2" charset="2"/>
              <a:buChar char="q"/>
            </a:pPr>
            <a:r>
              <a:rPr lang="en-US" b="1" dirty="0">
                <a:ea typeface="Verdana" pitchFamily="34" charset="0"/>
                <a:cs typeface="Verdana" pitchFamily="34" charset="0"/>
              </a:rPr>
              <a:t>1986--  Rise of machine learning</a:t>
            </a:r>
          </a:p>
          <a:p>
            <a:pPr lvl="1">
              <a:lnSpc>
                <a:spcPct val="80000"/>
              </a:lnSpc>
              <a:buFont typeface="Wingdings" panose="05000000000000000000" pitchFamily="2" charset="2"/>
              <a:buChar char="v"/>
            </a:pPr>
            <a:r>
              <a:rPr lang="en-US" sz="1500" dirty="0">
                <a:ea typeface="Verdana" pitchFamily="34" charset="0"/>
                <a:cs typeface="Verdana" pitchFamily="34" charset="0"/>
              </a:rPr>
              <a:t> </a:t>
            </a:r>
            <a:r>
              <a:rPr lang="en-US" dirty="0">
                <a:ea typeface="Verdana" pitchFamily="34" charset="0"/>
                <a:cs typeface="Verdana" pitchFamily="34" charset="0"/>
              </a:rPr>
              <a:t>Neural networks return to popularity</a:t>
            </a:r>
          </a:p>
          <a:p>
            <a:pPr lvl="1">
              <a:lnSpc>
                <a:spcPct val="80000"/>
              </a:lnSpc>
              <a:buFont typeface="Wingdings" panose="05000000000000000000" pitchFamily="2" charset="2"/>
              <a:buChar char="v"/>
            </a:pPr>
            <a:r>
              <a:rPr lang="en-US" dirty="0">
                <a:ea typeface="Verdana" pitchFamily="34" charset="0"/>
                <a:cs typeface="Verdana" pitchFamily="34" charset="0"/>
              </a:rPr>
              <a:t>Major advances in machine learning algorithms and </a:t>
            </a:r>
            <a:r>
              <a:rPr lang="en-US" dirty="0" smtClean="0">
                <a:ea typeface="Verdana" pitchFamily="34" charset="0"/>
                <a:cs typeface="Verdana" pitchFamily="34" charset="0"/>
              </a:rPr>
              <a:t>applications</a:t>
            </a:r>
          </a:p>
          <a:p>
            <a:pPr lvl="1">
              <a:lnSpc>
                <a:spcPct val="80000"/>
              </a:lnSpc>
              <a:buFont typeface="Wingdings" panose="05000000000000000000" pitchFamily="2" charset="2"/>
              <a:buChar char="v"/>
            </a:pPr>
            <a:endParaRPr lang="en-US" dirty="0">
              <a:ea typeface="Verdana" pitchFamily="34" charset="0"/>
              <a:cs typeface="Verdana" pitchFamily="34" charset="0"/>
            </a:endParaRPr>
          </a:p>
          <a:p>
            <a:pPr>
              <a:lnSpc>
                <a:spcPct val="80000"/>
              </a:lnSpc>
              <a:buFont typeface="Wingdings" panose="05000000000000000000" pitchFamily="2" charset="2"/>
              <a:buChar char="q"/>
            </a:pPr>
            <a:r>
              <a:rPr lang="en-US" b="1" dirty="0">
                <a:ea typeface="Verdana" pitchFamily="34" charset="0"/>
                <a:cs typeface="Verdana" pitchFamily="34" charset="0"/>
              </a:rPr>
              <a:t>1990--  Role of uncertainty</a:t>
            </a:r>
          </a:p>
          <a:p>
            <a:pPr lvl="1">
              <a:lnSpc>
                <a:spcPct val="80000"/>
              </a:lnSpc>
              <a:buFont typeface="Wingdings" panose="05000000000000000000" pitchFamily="2" charset="2"/>
              <a:buChar char="v"/>
            </a:pPr>
            <a:r>
              <a:rPr lang="en-US" dirty="0">
                <a:ea typeface="Verdana" pitchFamily="34" charset="0"/>
                <a:cs typeface="Verdana" pitchFamily="34" charset="0"/>
              </a:rPr>
              <a:t>Bayesian networks as a knowledge representation framework</a:t>
            </a:r>
            <a:endParaRPr lang="en-GB" dirty="0"/>
          </a:p>
          <a:p>
            <a:pPr marL="0" indent="0">
              <a:buNone/>
            </a:pPr>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286867" y="1371601"/>
            <a:ext cx="8684538" cy="4228534"/>
          </a:xfrm>
          <a:prstGeom prst="rect">
            <a:avLst/>
          </a:prstGeom>
          <a:noFill/>
          <a:ln w="9525">
            <a:noFill/>
            <a:miter lim="800000"/>
            <a:headEnd/>
            <a:tailEnd/>
          </a:ln>
        </p:spPr>
      </p:pic>
      <p:sp>
        <p:nvSpPr>
          <p:cNvPr id="3" name="TextBox 2"/>
          <p:cNvSpPr txBox="1"/>
          <p:nvPr/>
        </p:nvSpPr>
        <p:spPr>
          <a:xfrm>
            <a:off x="172596" y="5666018"/>
            <a:ext cx="5827782" cy="300082"/>
          </a:xfrm>
          <a:prstGeom prst="rect">
            <a:avLst/>
          </a:prstGeom>
          <a:noFill/>
        </p:spPr>
        <p:txBody>
          <a:bodyPr wrap="square" rtlCol="0">
            <a:spAutoFit/>
          </a:bodyPr>
          <a:lstStyle/>
          <a:p>
            <a:r>
              <a:rPr lang="nn-NO" sz="1350" b="1" dirty="0"/>
              <a:t>Slide credit: Lester Solbakken, Introduction to AI, NTNU</a:t>
            </a:r>
            <a:endParaRPr lang="en-GB" sz="1350" b="1" dirty="0"/>
          </a:p>
        </p:txBody>
      </p:sp>
      <p:sp>
        <p:nvSpPr>
          <p:cNvPr id="2" name="Slide Number Placeholder 1"/>
          <p:cNvSpPr>
            <a:spLocks noGrp="1"/>
          </p:cNvSpPr>
          <p:nvPr>
            <p:ph type="sldNum" sz="quarter" idx="12"/>
          </p:nvPr>
        </p:nvSpPr>
        <p:spPr/>
        <p:txBody>
          <a:bodyPr/>
          <a:lstStyle/>
          <a:p>
            <a:fld id="{C5DFEC63-AC9E-491C-B008-E83D881192CD}" type="slidenum">
              <a:rPr lang="en-GB" smtClean="0"/>
              <a:pPr/>
              <a:t>10</a:t>
            </a:fld>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
          <p:cNvSpPr txBox="1">
            <a:spLocks noChangeArrowheads="1"/>
          </p:cNvSpPr>
          <p:nvPr/>
        </p:nvSpPr>
        <p:spPr bwMode="auto">
          <a:xfrm>
            <a:off x="1600200" y="440091"/>
            <a:ext cx="4954565" cy="523220"/>
          </a:xfrm>
          <a:prstGeom prst="rect">
            <a:avLst/>
          </a:prstGeom>
          <a:noFill/>
          <a:ln w="9525">
            <a:noFill/>
            <a:miter lim="800000"/>
            <a:headEnd/>
            <a:tailEnd/>
          </a:ln>
        </p:spPr>
        <p:txBody>
          <a:bodyPr wrap="square">
            <a:spAutoFit/>
          </a:bodyPr>
          <a:lstStyle/>
          <a:p>
            <a:r>
              <a:rPr lang="en-US" sz="2800" b="1" dirty="0">
                <a:latin typeface="Arial Rounded MT Bold" pitchFamily="34" charset="0"/>
              </a:rPr>
              <a:t>Some task Domain in A.I.</a:t>
            </a:r>
            <a:endParaRPr lang="en-GB" sz="2800" dirty="0">
              <a:latin typeface="Arial Rounded MT Bold" pitchFamily="34" charset="0"/>
            </a:endParaRPr>
          </a:p>
        </p:txBody>
      </p:sp>
      <p:grpSp>
        <p:nvGrpSpPr>
          <p:cNvPr id="6" name="Group 10"/>
          <p:cNvGrpSpPr>
            <a:grpSpLocks/>
          </p:cNvGrpSpPr>
          <p:nvPr/>
        </p:nvGrpSpPr>
        <p:grpSpPr bwMode="auto">
          <a:xfrm>
            <a:off x="1918433" y="1371600"/>
            <a:ext cx="6101555" cy="1620019"/>
            <a:chOff x="251520" y="620688"/>
            <a:chExt cx="8137590" cy="2160240"/>
          </a:xfrm>
          <a:solidFill>
            <a:schemeClr val="accent2">
              <a:lumMod val="20000"/>
              <a:lumOff val="80000"/>
            </a:schemeClr>
          </a:solidFill>
        </p:grpSpPr>
        <p:sp>
          <p:nvSpPr>
            <p:cNvPr id="7" name="Rounded Rectangle 6"/>
            <p:cNvSpPr/>
            <p:nvPr/>
          </p:nvSpPr>
          <p:spPr>
            <a:xfrm>
              <a:off x="251520" y="620688"/>
              <a:ext cx="8137590" cy="216024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GB" sz="1350"/>
            </a:p>
          </p:txBody>
        </p:sp>
        <p:sp>
          <p:nvSpPr>
            <p:cNvPr id="8" name="TextBox 5"/>
            <p:cNvSpPr txBox="1">
              <a:spLocks noChangeArrowheads="1"/>
            </p:cNvSpPr>
            <p:nvPr/>
          </p:nvSpPr>
          <p:spPr bwMode="auto">
            <a:xfrm>
              <a:off x="439410" y="692631"/>
              <a:ext cx="7792535" cy="2031527"/>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r>
                <a:rPr lang="en-US" dirty="0">
                  <a:solidFill>
                    <a:srgbClr val="FF0000"/>
                  </a:solidFill>
                  <a:latin typeface="Arial Rounded MT Bold" pitchFamily="34" charset="0"/>
                </a:rPr>
                <a:t>Mundane Tasks</a:t>
              </a:r>
              <a:endParaRPr lang="en-GB" dirty="0">
                <a:solidFill>
                  <a:srgbClr val="FF0000"/>
                </a:solidFill>
                <a:latin typeface="Arial Rounded MT Bold" pitchFamily="34" charset="0"/>
              </a:endParaRPr>
            </a:p>
            <a:p>
              <a:pPr lvl="1"/>
              <a:r>
                <a:rPr lang="en-US" sz="1500" dirty="0">
                  <a:latin typeface="Arial Rounded MT Bold" pitchFamily="34" charset="0"/>
                </a:rPr>
                <a:t>perception (vision, speech) </a:t>
              </a:r>
              <a:endParaRPr lang="en-GB" sz="1500" dirty="0">
                <a:latin typeface="Arial Rounded MT Bold" pitchFamily="34" charset="0"/>
              </a:endParaRPr>
            </a:p>
            <a:p>
              <a:pPr lvl="1"/>
              <a:r>
                <a:rPr lang="en-US" sz="1500" dirty="0">
                  <a:latin typeface="Arial Rounded MT Bold" pitchFamily="34" charset="0"/>
                </a:rPr>
                <a:t>Natural Language processing (understanding, generation, translation)</a:t>
              </a:r>
              <a:endParaRPr lang="en-GB" sz="1500" dirty="0">
                <a:latin typeface="Arial Rounded MT Bold" pitchFamily="34" charset="0"/>
              </a:endParaRPr>
            </a:p>
            <a:p>
              <a:pPr lvl="1"/>
              <a:r>
                <a:rPr lang="en-US" sz="1500" dirty="0">
                  <a:latin typeface="Arial Rounded MT Bold" pitchFamily="34" charset="0"/>
                </a:rPr>
                <a:t>Commonsense reasoning</a:t>
              </a:r>
              <a:endParaRPr lang="en-GB" sz="1500" dirty="0">
                <a:latin typeface="Arial Rounded MT Bold" pitchFamily="34" charset="0"/>
              </a:endParaRPr>
            </a:p>
            <a:p>
              <a:pPr lvl="1"/>
              <a:r>
                <a:rPr lang="en-US" sz="1500" dirty="0">
                  <a:latin typeface="Arial Rounded MT Bold" pitchFamily="34" charset="0"/>
                </a:rPr>
                <a:t>Robot control</a:t>
              </a:r>
              <a:endParaRPr lang="en-GB" sz="1350" dirty="0">
                <a:latin typeface="Calibri" pitchFamily="34" charset="0"/>
              </a:endParaRPr>
            </a:p>
          </p:txBody>
        </p:sp>
      </p:grpSp>
      <p:grpSp>
        <p:nvGrpSpPr>
          <p:cNvPr id="9" name="Group 9"/>
          <p:cNvGrpSpPr>
            <a:grpSpLocks/>
          </p:cNvGrpSpPr>
          <p:nvPr/>
        </p:nvGrpSpPr>
        <p:grpSpPr bwMode="auto">
          <a:xfrm>
            <a:off x="1969981" y="3252873"/>
            <a:ext cx="6101555" cy="1277793"/>
            <a:chOff x="251520" y="2837262"/>
            <a:chExt cx="8136904" cy="1938315"/>
          </a:xfrm>
          <a:solidFill>
            <a:schemeClr val="accent2">
              <a:lumMod val="20000"/>
              <a:lumOff val="80000"/>
            </a:schemeClr>
          </a:solidFill>
        </p:grpSpPr>
        <p:sp>
          <p:nvSpPr>
            <p:cNvPr id="10" name="Rounded Rectangle 9"/>
            <p:cNvSpPr/>
            <p:nvPr/>
          </p:nvSpPr>
          <p:spPr>
            <a:xfrm>
              <a:off x="251520" y="2837262"/>
              <a:ext cx="8136904" cy="18002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GB" sz="1350"/>
            </a:p>
          </p:txBody>
        </p:sp>
        <p:sp>
          <p:nvSpPr>
            <p:cNvPr id="11" name="TextBox 8"/>
            <p:cNvSpPr txBox="1">
              <a:spLocks noChangeArrowheads="1"/>
            </p:cNvSpPr>
            <p:nvPr/>
          </p:nvSpPr>
          <p:spPr bwMode="auto">
            <a:xfrm>
              <a:off x="467544" y="2849724"/>
              <a:ext cx="7776864" cy="192585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r>
                <a:rPr lang="en-US">
                  <a:solidFill>
                    <a:srgbClr val="FF0000"/>
                  </a:solidFill>
                  <a:latin typeface="Arial Rounded MT Bold" pitchFamily="34" charset="0"/>
                </a:rPr>
                <a:t>Formal tasks</a:t>
              </a:r>
              <a:endParaRPr lang="en-GB">
                <a:solidFill>
                  <a:srgbClr val="FF0000"/>
                </a:solidFill>
                <a:latin typeface="Arial Rounded MT Bold" pitchFamily="34" charset="0"/>
              </a:endParaRPr>
            </a:p>
            <a:p>
              <a:pPr lvl="1"/>
              <a:r>
                <a:rPr lang="en-US" sz="1500">
                  <a:latin typeface="Arial Rounded MT Bold" pitchFamily="34" charset="0"/>
                </a:rPr>
                <a:t>Games (Checkers, Chess, Ayo etc.)</a:t>
              </a:r>
              <a:endParaRPr lang="en-GB" sz="1500">
                <a:latin typeface="Arial Rounded MT Bold" pitchFamily="34" charset="0"/>
              </a:endParaRPr>
            </a:p>
            <a:p>
              <a:pPr lvl="1"/>
              <a:r>
                <a:rPr lang="en-US" sz="1500">
                  <a:latin typeface="Arial Rounded MT Bold" pitchFamily="34" charset="0"/>
                </a:rPr>
                <a:t>Mathematics (Geometry, Logic, Calculus, Proving properties of Program)</a:t>
              </a:r>
              <a:endParaRPr lang="en-GB" sz="1500">
                <a:latin typeface="Arial Rounded MT Bold" pitchFamily="34" charset="0"/>
              </a:endParaRPr>
            </a:p>
            <a:p>
              <a:endParaRPr lang="en-GB" sz="1350">
                <a:latin typeface="Calibri" pitchFamily="34" charset="0"/>
              </a:endParaRPr>
            </a:p>
          </p:txBody>
        </p:sp>
      </p:grpSp>
      <p:grpSp>
        <p:nvGrpSpPr>
          <p:cNvPr id="12" name="Group 14"/>
          <p:cNvGrpSpPr>
            <a:grpSpLocks/>
          </p:cNvGrpSpPr>
          <p:nvPr/>
        </p:nvGrpSpPr>
        <p:grpSpPr bwMode="auto">
          <a:xfrm>
            <a:off x="1969981" y="4782371"/>
            <a:ext cx="6101555" cy="1618429"/>
            <a:chOff x="395536" y="4819806"/>
            <a:chExt cx="8136904" cy="2056813"/>
          </a:xfrm>
          <a:solidFill>
            <a:schemeClr val="accent2">
              <a:lumMod val="20000"/>
              <a:lumOff val="80000"/>
            </a:schemeClr>
          </a:solidFill>
        </p:grpSpPr>
        <p:sp>
          <p:nvSpPr>
            <p:cNvPr id="13" name="Rounded Rectangle 12"/>
            <p:cNvSpPr/>
            <p:nvPr/>
          </p:nvSpPr>
          <p:spPr>
            <a:xfrm>
              <a:off x="395536" y="4819806"/>
              <a:ext cx="8136904" cy="18002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en-GB" sz="1350"/>
            </a:p>
          </p:txBody>
        </p:sp>
        <p:sp>
          <p:nvSpPr>
            <p:cNvPr id="14" name="TextBox 13"/>
            <p:cNvSpPr txBox="1">
              <a:spLocks noChangeArrowheads="1"/>
            </p:cNvSpPr>
            <p:nvPr/>
          </p:nvSpPr>
          <p:spPr bwMode="auto">
            <a:xfrm>
              <a:off x="611560" y="4844793"/>
              <a:ext cx="7776864" cy="2031826"/>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spAutoFit/>
            </a:bodyPr>
            <a:lstStyle/>
            <a:p>
              <a:pPr lvl="1" indent="-342809"/>
              <a:r>
                <a:rPr lang="en-US" dirty="0">
                  <a:solidFill>
                    <a:srgbClr val="FF0000"/>
                  </a:solidFill>
                  <a:latin typeface="Arial Rounded MT Bold" pitchFamily="34" charset="0"/>
                </a:rPr>
                <a:t>Expert Tasks</a:t>
              </a:r>
              <a:endParaRPr lang="en-GB" dirty="0">
                <a:solidFill>
                  <a:srgbClr val="FF0000"/>
                </a:solidFill>
                <a:latin typeface="Arial Rounded MT Bold" pitchFamily="34" charset="0"/>
              </a:endParaRPr>
            </a:p>
            <a:p>
              <a:r>
                <a:rPr lang="en-US" sz="1500" dirty="0">
                  <a:latin typeface="Arial Rounded MT Bold" pitchFamily="34" charset="0"/>
                </a:rPr>
                <a:t>     Engineering (Design, fault finding, manufacturing planning)</a:t>
              </a:r>
              <a:endParaRPr lang="en-GB" sz="1500" dirty="0">
                <a:latin typeface="Arial Rounded MT Bold" pitchFamily="34" charset="0"/>
              </a:endParaRPr>
            </a:p>
            <a:p>
              <a:r>
                <a:rPr lang="en-US" sz="1500" dirty="0">
                  <a:latin typeface="Arial Rounded MT Bold" pitchFamily="34" charset="0"/>
                </a:rPr>
                <a:t>     Scientific analysis</a:t>
              </a:r>
              <a:endParaRPr lang="en-GB" sz="1500" dirty="0">
                <a:latin typeface="Arial Rounded MT Bold" pitchFamily="34" charset="0"/>
              </a:endParaRPr>
            </a:p>
            <a:p>
              <a:r>
                <a:rPr lang="en-US" sz="1500" dirty="0">
                  <a:latin typeface="Arial Rounded MT Bold" pitchFamily="34" charset="0"/>
                </a:rPr>
                <a:t>     Medical analysis</a:t>
              </a:r>
              <a:endParaRPr lang="en-GB" sz="1500" dirty="0">
                <a:latin typeface="Arial Rounded MT Bold" pitchFamily="34" charset="0"/>
              </a:endParaRPr>
            </a:p>
            <a:p>
              <a:r>
                <a:rPr lang="en-US" sz="1500" dirty="0">
                  <a:latin typeface="Arial Rounded MT Bold" pitchFamily="34" charset="0"/>
                </a:rPr>
                <a:t>     Financial analysis</a:t>
              </a:r>
              <a:endParaRPr lang="en-GB" sz="1350" dirty="0">
                <a:latin typeface="Calibri" pitchFamily="34" charset="0"/>
              </a:endParaRPr>
            </a:p>
          </p:txBody>
        </p:sp>
      </p:grpSp>
      <p:sp>
        <p:nvSpPr>
          <p:cNvPr id="2" name="Slide Number Placeholder 1"/>
          <p:cNvSpPr>
            <a:spLocks noGrp="1"/>
          </p:cNvSpPr>
          <p:nvPr>
            <p:ph type="sldNum" sz="quarter" idx="12"/>
          </p:nvPr>
        </p:nvSpPr>
        <p:spPr/>
        <p:txBody>
          <a:bodyPr/>
          <a:lstStyle/>
          <a:p>
            <a:fld id="{C5DFEC63-AC9E-491C-B008-E83D881192CD}" type="slidenum">
              <a:rPr lang="en-GB" smtClean="0"/>
              <a:pPr/>
              <a:t>11</a:t>
            </a:fld>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12</a:t>
            </a:fld>
            <a:endParaRPr lang="en-GB" dirty="0"/>
          </a:p>
        </p:txBody>
      </p:sp>
      <p:sp>
        <p:nvSpPr>
          <p:cNvPr id="2" name="Title 1"/>
          <p:cNvSpPr>
            <a:spLocks noGrp="1"/>
          </p:cNvSpPr>
          <p:nvPr>
            <p:ph type="title" idx="4294967295"/>
          </p:nvPr>
        </p:nvSpPr>
        <p:spPr>
          <a:xfrm>
            <a:off x="838200" y="469972"/>
            <a:ext cx="7772400" cy="608012"/>
          </a:xfrm>
        </p:spPr>
        <p:txBody>
          <a:bodyPr>
            <a:normAutofit/>
          </a:bodyPr>
          <a:lstStyle/>
          <a:p>
            <a:r>
              <a:rPr lang="en-US" sz="2800" dirty="0">
                <a:latin typeface="Rockwell" pitchFamily="18" charset="0"/>
              </a:rPr>
              <a:t>Developments in AI</a:t>
            </a:r>
            <a:endParaRPr lang="en-GB" sz="2800" dirty="0">
              <a:latin typeface="Rockwell" pitchFamily="18" charset="0"/>
            </a:endParaRPr>
          </a:p>
        </p:txBody>
      </p:sp>
      <p:sp>
        <p:nvSpPr>
          <p:cNvPr id="4" name="TextBox 2"/>
          <p:cNvSpPr txBox="1">
            <a:spLocks noGrp="1" noChangeArrowheads="1"/>
          </p:cNvSpPr>
          <p:nvPr>
            <p:ph idx="4294967295"/>
          </p:nvPr>
        </p:nvSpPr>
        <p:spPr bwMode="auto">
          <a:xfrm>
            <a:off x="0" y="1646238"/>
            <a:ext cx="8913813" cy="4263988"/>
          </a:xfrm>
          <a:prstGeom prst="rect">
            <a:avLst/>
          </a:prstGeom>
          <a:noFill/>
          <a:ln w="9525">
            <a:noFill/>
            <a:miter lim="800000"/>
            <a:headEnd/>
            <a:tailEnd/>
          </a:ln>
        </p:spPr>
        <p:txBody>
          <a:bodyPr wrap="square">
            <a:spAutoFit/>
          </a:bodyPr>
          <a:lstStyle/>
          <a:p>
            <a:pPr algn="just">
              <a:buNone/>
            </a:pPr>
            <a:r>
              <a:rPr lang="en-US" b="1" dirty="0"/>
              <a:t>1. </a:t>
            </a:r>
            <a:r>
              <a:rPr lang="en-US" i="1" dirty="0">
                <a:solidFill>
                  <a:srgbClr val="FF0000"/>
                </a:solidFill>
              </a:rPr>
              <a:t>Problem Solving and Planning</a:t>
            </a:r>
            <a:r>
              <a:rPr lang="en-US" dirty="0"/>
              <a:t>: This deals with systematic refinement of goal hierarchy, plan revision mechanisms and a focused search of important goals.</a:t>
            </a:r>
          </a:p>
          <a:p>
            <a:pPr algn="just">
              <a:buNone/>
            </a:pPr>
            <a:endParaRPr lang="en-US" dirty="0"/>
          </a:p>
          <a:p>
            <a:pPr algn="just">
              <a:buNone/>
            </a:pPr>
            <a:r>
              <a:rPr lang="en-US" b="1" dirty="0"/>
              <a:t>2. </a:t>
            </a:r>
            <a:r>
              <a:rPr lang="en-US" i="1" dirty="0">
                <a:solidFill>
                  <a:srgbClr val="FF0000"/>
                </a:solidFill>
              </a:rPr>
              <a:t>Expert Systems</a:t>
            </a:r>
            <a:r>
              <a:rPr lang="en-US" dirty="0"/>
              <a:t>: This deals with knowledge processing and complex decision-making problems.</a:t>
            </a:r>
          </a:p>
          <a:p>
            <a:pPr algn="just">
              <a:buNone/>
            </a:pPr>
            <a:endParaRPr lang="en-US" dirty="0"/>
          </a:p>
          <a:p>
            <a:pPr algn="just">
              <a:buNone/>
            </a:pPr>
            <a:r>
              <a:rPr lang="en-US" b="1" dirty="0"/>
              <a:t>3. </a:t>
            </a:r>
            <a:r>
              <a:rPr lang="en-US" i="1" dirty="0">
                <a:solidFill>
                  <a:srgbClr val="FF0000"/>
                </a:solidFill>
              </a:rPr>
              <a:t>Natural Language Processing</a:t>
            </a:r>
            <a:r>
              <a:rPr lang="en-US" dirty="0">
                <a:solidFill>
                  <a:srgbClr val="FF0000"/>
                </a:solidFill>
              </a:rPr>
              <a:t>:</a:t>
            </a:r>
            <a:r>
              <a:rPr lang="en-US" dirty="0"/>
              <a:t> Areas such as automatic text generation, text processing, machine translation, speech synthesis and analysis, grammar and style analysis of text etc. come under this category. </a:t>
            </a:r>
          </a:p>
          <a:p>
            <a:pPr algn="just"/>
            <a:endParaRPr lang="en-GB" dirty="0">
              <a:latin typeface="Arial Rounded MT Bold"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13</a:t>
            </a:fld>
            <a:endParaRPr lang="en-GB" dirty="0"/>
          </a:p>
        </p:txBody>
      </p:sp>
      <p:sp>
        <p:nvSpPr>
          <p:cNvPr id="2" name="Title 1"/>
          <p:cNvSpPr>
            <a:spLocks noGrp="1"/>
          </p:cNvSpPr>
          <p:nvPr>
            <p:ph type="title" idx="4294967295"/>
          </p:nvPr>
        </p:nvSpPr>
        <p:spPr>
          <a:xfrm>
            <a:off x="358775" y="457200"/>
            <a:ext cx="8553450" cy="838200"/>
          </a:xfrm>
        </p:spPr>
        <p:txBody>
          <a:bodyPr>
            <a:normAutofit/>
          </a:bodyPr>
          <a:lstStyle/>
          <a:p>
            <a:r>
              <a:rPr lang="en-US" sz="2800" dirty="0" smtClean="0">
                <a:latin typeface="Rockwell" pitchFamily="18" charset="0"/>
              </a:rPr>
              <a:t>Developments in AI – Cont’d</a:t>
            </a:r>
            <a:endParaRPr lang="en-GB" sz="2800" dirty="0"/>
          </a:p>
        </p:txBody>
      </p:sp>
      <p:sp>
        <p:nvSpPr>
          <p:cNvPr id="3" name="Content Placeholder 2"/>
          <p:cNvSpPr>
            <a:spLocks noGrp="1"/>
          </p:cNvSpPr>
          <p:nvPr>
            <p:ph idx="4294967295"/>
          </p:nvPr>
        </p:nvSpPr>
        <p:spPr>
          <a:xfrm>
            <a:off x="358775" y="1754188"/>
            <a:ext cx="8328025" cy="3617912"/>
          </a:xfrm>
        </p:spPr>
        <p:txBody>
          <a:bodyPr>
            <a:normAutofit/>
          </a:bodyPr>
          <a:lstStyle/>
          <a:p>
            <a:pPr algn="just">
              <a:buNone/>
            </a:pPr>
            <a:r>
              <a:rPr lang="en-US" b="1" dirty="0"/>
              <a:t>4. </a:t>
            </a:r>
            <a:r>
              <a:rPr lang="en-US" i="1" dirty="0">
                <a:solidFill>
                  <a:srgbClr val="FF0000"/>
                </a:solidFill>
              </a:rPr>
              <a:t>Robotics</a:t>
            </a:r>
            <a:r>
              <a:rPr lang="en-US" dirty="0"/>
              <a:t>: This deals with the controlling of robots to manipulate or grasp objects and using information from sensors to guide actions etc. </a:t>
            </a:r>
          </a:p>
          <a:p>
            <a:pPr algn="just">
              <a:buNone/>
            </a:pPr>
            <a:endParaRPr lang="en-US" dirty="0"/>
          </a:p>
          <a:p>
            <a:pPr algn="just">
              <a:buNone/>
            </a:pPr>
            <a:r>
              <a:rPr lang="en-US" b="1" dirty="0"/>
              <a:t>5. </a:t>
            </a:r>
            <a:r>
              <a:rPr lang="en-US" i="1" dirty="0">
                <a:solidFill>
                  <a:srgbClr val="FF0000"/>
                </a:solidFill>
              </a:rPr>
              <a:t>Computer Vision</a:t>
            </a:r>
            <a:r>
              <a:rPr lang="en-US" dirty="0"/>
              <a:t>: This topic deals with intelligent visualization, scene analysis, image understanding and processing and motion derivation.</a:t>
            </a:r>
          </a:p>
          <a:p>
            <a:pPr algn="just">
              <a:buNone/>
            </a:pPr>
            <a:endParaRPr lang="en-US" dirty="0"/>
          </a:p>
          <a:p>
            <a:pPr algn="just">
              <a:buNone/>
            </a:pPr>
            <a:r>
              <a:rPr lang="en-US" b="1" dirty="0"/>
              <a:t>6. </a:t>
            </a:r>
            <a:r>
              <a:rPr lang="en-US" i="1" dirty="0">
                <a:solidFill>
                  <a:srgbClr val="FF0000"/>
                </a:solidFill>
              </a:rPr>
              <a:t>Learning</a:t>
            </a:r>
            <a:r>
              <a:rPr lang="en-US" dirty="0"/>
              <a:t>: This topic deals with research and development in different forms of machine learning.</a:t>
            </a:r>
            <a:endParaRPr lang="en-GB" dirty="0"/>
          </a:p>
          <a:p>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14</a:t>
            </a:fld>
            <a:endParaRPr lang="en-GB" dirty="0"/>
          </a:p>
        </p:txBody>
      </p:sp>
      <p:sp>
        <p:nvSpPr>
          <p:cNvPr id="2" name="Title 1"/>
          <p:cNvSpPr>
            <a:spLocks noGrp="1"/>
          </p:cNvSpPr>
          <p:nvPr>
            <p:ph type="title" idx="4294967295"/>
          </p:nvPr>
        </p:nvSpPr>
        <p:spPr>
          <a:xfrm>
            <a:off x="609600" y="495200"/>
            <a:ext cx="8783637" cy="836612"/>
          </a:xfrm>
        </p:spPr>
        <p:txBody>
          <a:bodyPr>
            <a:normAutofit/>
          </a:bodyPr>
          <a:lstStyle/>
          <a:p>
            <a:r>
              <a:rPr lang="en-ZA" sz="2800" dirty="0" smtClean="0">
                <a:latin typeface="Rockwell" pitchFamily="18" charset="0"/>
              </a:rPr>
              <a:t>Developments in AI – Cont’d</a:t>
            </a:r>
            <a:endParaRPr lang="en-ZA" sz="2800" dirty="0"/>
          </a:p>
        </p:txBody>
      </p:sp>
      <p:sp>
        <p:nvSpPr>
          <p:cNvPr id="3" name="Content Placeholder 2"/>
          <p:cNvSpPr>
            <a:spLocks noGrp="1"/>
          </p:cNvSpPr>
          <p:nvPr>
            <p:ph idx="4294967295"/>
          </p:nvPr>
        </p:nvSpPr>
        <p:spPr>
          <a:xfrm>
            <a:off x="381000" y="1600200"/>
            <a:ext cx="8556625" cy="3981450"/>
          </a:xfrm>
        </p:spPr>
        <p:txBody>
          <a:bodyPr>
            <a:normAutofit fontScale="55000" lnSpcReduction="20000"/>
          </a:bodyPr>
          <a:lstStyle/>
          <a:p>
            <a:pPr algn="just">
              <a:buNone/>
            </a:pPr>
            <a:r>
              <a:rPr lang="en-US" sz="3600" dirty="0"/>
              <a:t>7.</a:t>
            </a:r>
            <a:r>
              <a:rPr lang="en-US" sz="3600" i="1" dirty="0">
                <a:solidFill>
                  <a:srgbClr val="FF0000"/>
                </a:solidFill>
              </a:rPr>
              <a:t>Genetic Algorithms</a:t>
            </a:r>
            <a:r>
              <a:rPr lang="en-US" sz="3600" dirty="0">
                <a:solidFill>
                  <a:srgbClr val="FF0000"/>
                </a:solidFill>
              </a:rPr>
              <a:t>:</a:t>
            </a:r>
            <a:r>
              <a:rPr lang="en-US" sz="3600" dirty="0"/>
              <a:t> These are adaptive algorithms which have inherent learning capability. They are used in search, machine learning and optimization.</a:t>
            </a:r>
          </a:p>
          <a:p>
            <a:pPr algn="just">
              <a:buNone/>
            </a:pPr>
            <a:endParaRPr lang="en-GB" sz="3600" dirty="0"/>
          </a:p>
          <a:p>
            <a:pPr algn="just">
              <a:buNone/>
            </a:pPr>
            <a:r>
              <a:rPr lang="en-US" sz="3600" b="1" dirty="0"/>
              <a:t>8. </a:t>
            </a:r>
            <a:r>
              <a:rPr lang="en-US" sz="3600" i="1" dirty="0">
                <a:solidFill>
                  <a:srgbClr val="FF0000"/>
                </a:solidFill>
              </a:rPr>
              <a:t>Neural Networks</a:t>
            </a:r>
            <a:r>
              <a:rPr lang="en-US" sz="3600" dirty="0"/>
              <a:t>: This topic deals with simulation of learning in the human brain by combining pattern recognition tasks, deductive reasoning and numerical computations.</a:t>
            </a:r>
            <a:endParaRPr lang="en-GB" sz="3600" dirty="0"/>
          </a:p>
          <a:p>
            <a:pPr algn="just">
              <a:buNone/>
            </a:pPr>
            <a:r>
              <a:rPr lang="en-US" sz="3600" b="1" dirty="0"/>
              <a:t> </a:t>
            </a:r>
            <a:endParaRPr lang="en-GB" sz="3600" dirty="0"/>
          </a:p>
          <a:p>
            <a:pPr algn="just">
              <a:buNone/>
            </a:pPr>
            <a:r>
              <a:rPr lang="en-US" sz="3600" b="1" dirty="0">
                <a:solidFill>
                  <a:srgbClr val="FF0000"/>
                </a:solidFill>
              </a:rPr>
              <a:t>Application Areas of AI</a:t>
            </a:r>
            <a:endParaRPr lang="en-GB" sz="3600" b="1" dirty="0">
              <a:solidFill>
                <a:srgbClr val="FF0000"/>
              </a:solidFill>
            </a:endParaRPr>
          </a:p>
          <a:p>
            <a:pPr algn="just"/>
            <a:r>
              <a:rPr lang="en-US" sz="3600" dirty="0"/>
              <a:t>Autonomous Planning and Scheduling, Game Playing, Autonomous Control, Diagnosis, Logistics Planning, Robotics, Language Understanding and Problem Solving</a:t>
            </a:r>
            <a:endParaRPr lang="en-GB" sz="3600" dirty="0"/>
          </a:p>
          <a:p>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458272" y="1600676"/>
            <a:ext cx="7827512" cy="4170864"/>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C5DFEC63-AC9E-491C-B008-E83D881192CD}" type="slidenum">
              <a:rPr lang="en-GB" smtClean="0"/>
              <a:pPr/>
              <a:t>15</a:t>
            </a:fld>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686813" y="1600676"/>
            <a:ext cx="7313295" cy="4285134"/>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fld id="{C5DFEC63-AC9E-491C-B008-E83D881192CD}" type="slidenum">
              <a:rPr lang="en-GB" smtClean="0"/>
              <a:pPr/>
              <a:t>16</a:t>
            </a:fld>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66" y="1657811"/>
            <a:ext cx="8570268" cy="4113729"/>
          </a:xfrm>
          <a:prstGeom prst="rect">
            <a:avLst/>
          </a:prstGeom>
        </p:spPr>
      </p:pic>
      <p:sp>
        <p:nvSpPr>
          <p:cNvPr id="3" name="Slide Number Placeholder 2"/>
          <p:cNvSpPr>
            <a:spLocks noGrp="1"/>
          </p:cNvSpPr>
          <p:nvPr>
            <p:ph type="sldNum" sz="quarter" idx="12"/>
          </p:nvPr>
        </p:nvSpPr>
        <p:spPr/>
        <p:txBody>
          <a:bodyPr/>
          <a:lstStyle/>
          <a:p>
            <a:fld id="{C5DFEC63-AC9E-491C-B008-E83D881192CD}" type="slidenum">
              <a:rPr lang="en-GB" smtClean="0"/>
              <a:pPr/>
              <a:t>17</a:t>
            </a:fld>
            <a:endParaRPr lang="en-GB" dirty="0"/>
          </a:p>
        </p:txBody>
      </p:sp>
    </p:spTree>
    <p:extLst>
      <p:ext uri="{BB962C8B-B14F-4D97-AF65-F5344CB8AC3E}">
        <p14:creationId xmlns:p14="http://schemas.microsoft.com/office/powerpoint/2010/main" val="27432804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344001" y="1880415"/>
            <a:ext cx="8342799" cy="3070071"/>
          </a:xfrm>
          <a:prstGeom prst="rect">
            <a:avLst/>
          </a:prstGeom>
          <a:noFill/>
          <a:ln w="9525">
            <a:noFill/>
            <a:miter lim="800000"/>
            <a:headEnd/>
            <a:tailEnd/>
          </a:ln>
        </p:spPr>
        <p:txBody>
          <a:bodyPr wrap="square">
            <a:spAutoFit/>
          </a:bodyPr>
          <a:lstStyle/>
          <a:p>
            <a:pPr marL="342900" lvl="2" indent="-342900" algn="just">
              <a:buFont typeface="Wingdings" panose="05000000000000000000" pitchFamily="2" charset="2"/>
              <a:buChar char="q"/>
            </a:pPr>
            <a:r>
              <a:rPr lang="en-US" sz="2000" dirty="0">
                <a:latin typeface="Rockwell" pitchFamily="18" charset="0"/>
              </a:rPr>
              <a:t>What are our underlying assumptions about intelligence?</a:t>
            </a:r>
          </a:p>
          <a:p>
            <a:pPr marL="342900" lvl="2" indent="-342900" algn="just">
              <a:buFont typeface="Wingdings" panose="05000000000000000000" pitchFamily="2" charset="2"/>
              <a:buChar char="q"/>
            </a:pPr>
            <a:endParaRPr lang="en-US" sz="2000" dirty="0">
              <a:latin typeface="Rockwell" pitchFamily="18" charset="0"/>
            </a:endParaRPr>
          </a:p>
          <a:p>
            <a:pPr marL="342900" lvl="2" indent="-342900" algn="just">
              <a:buFont typeface="Wingdings" panose="05000000000000000000" pitchFamily="2" charset="2"/>
              <a:buChar char="q"/>
            </a:pPr>
            <a:r>
              <a:rPr lang="en-US" sz="2000" dirty="0">
                <a:latin typeface="Rockwell" pitchFamily="18" charset="0"/>
              </a:rPr>
              <a:t>What kinds of technique will be useful for solving AI problems?</a:t>
            </a:r>
          </a:p>
          <a:p>
            <a:pPr marL="342900" lvl="2" indent="-342900" algn="just">
              <a:buFont typeface="Wingdings" panose="05000000000000000000" pitchFamily="2" charset="2"/>
              <a:buChar char="q"/>
            </a:pPr>
            <a:endParaRPr lang="en-GB" sz="2000" dirty="0">
              <a:latin typeface="Rockwell" pitchFamily="18" charset="0"/>
            </a:endParaRPr>
          </a:p>
          <a:p>
            <a:pPr marL="342900" lvl="2" indent="-342900" algn="just">
              <a:buFont typeface="Wingdings" panose="05000000000000000000" pitchFamily="2" charset="2"/>
              <a:buChar char="q"/>
            </a:pPr>
            <a:r>
              <a:rPr lang="en-US" sz="2000" dirty="0">
                <a:latin typeface="Rockwell" pitchFamily="18" charset="0"/>
              </a:rPr>
              <a:t>At what level of detail, if at all, are we trying to model human intelligence?</a:t>
            </a:r>
          </a:p>
          <a:p>
            <a:pPr marL="342900" lvl="2" indent="-342900" algn="just">
              <a:buFont typeface="Wingdings" panose="05000000000000000000" pitchFamily="2" charset="2"/>
              <a:buChar char="q"/>
            </a:pPr>
            <a:endParaRPr lang="en-GB" sz="2000" dirty="0">
              <a:latin typeface="Rockwell" pitchFamily="18" charset="0"/>
            </a:endParaRPr>
          </a:p>
          <a:p>
            <a:pPr marL="342900" lvl="2" indent="-342900" algn="just">
              <a:buFont typeface="Wingdings" panose="05000000000000000000" pitchFamily="2" charset="2"/>
              <a:buChar char="q"/>
            </a:pPr>
            <a:r>
              <a:rPr lang="en-US" sz="2000" dirty="0">
                <a:latin typeface="Rockwell" pitchFamily="18" charset="0"/>
              </a:rPr>
              <a:t>How will we know when we have succeeded in building an intelligent program?</a:t>
            </a:r>
            <a:endParaRPr lang="en-GB" sz="2000" dirty="0">
              <a:latin typeface="Rockwell" pitchFamily="18" charset="0"/>
            </a:endParaRPr>
          </a:p>
          <a:p>
            <a:endParaRPr lang="en-GB" sz="1350" dirty="0">
              <a:latin typeface="Calibri" pitchFamily="34" charset="0"/>
            </a:endParaRPr>
          </a:p>
        </p:txBody>
      </p:sp>
      <p:sp>
        <p:nvSpPr>
          <p:cNvPr id="5" name="TextBox 3"/>
          <p:cNvSpPr txBox="1">
            <a:spLocks noChangeArrowheads="1"/>
          </p:cNvSpPr>
          <p:nvPr/>
        </p:nvSpPr>
        <p:spPr bwMode="auto">
          <a:xfrm>
            <a:off x="1143000" y="540203"/>
            <a:ext cx="6171665" cy="523220"/>
          </a:xfrm>
          <a:prstGeom prst="rect">
            <a:avLst/>
          </a:prstGeom>
          <a:noFill/>
          <a:ln w="9525">
            <a:noFill/>
            <a:miter lim="800000"/>
            <a:headEnd/>
            <a:tailEnd/>
          </a:ln>
        </p:spPr>
        <p:txBody>
          <a:bodyPr wrap="square">
            <a:spAutoFit/>
          </a:bodyPr>
          <a:lstStyle/>
          <a:p>
            <a:pPr marL="0" lvl="2"/>
            <a:r>
              <a:rPr lang="en-US" sz="2800" b="1" dirty="0">
                <a:latin typeface="Rockwell" pitchFamily="18" charset="0"/>
              </a:rPr>
              <a:t>Some Pertinent Questions in A.I.</a:t>
            </a:r>
            <a:endParaRPr lang="en-GB" sz="2800" dirty="0">
              <a:latin typeface="Rockwell" pitchFamily="18" charset="0"/>
            </a:endParaRPr>
          </a:p>
        </p:txBody>
      </p:sp>
      <p:sp>
        <p:nvSpPr>
          <p:cNvPr id="2" name="Slide Number Placeholder 1"/>
          <p:cNvSpPr>
            <a:spLocks noGrp="1"/>
          </p:cNvSpPr>
          <p:nvPr>
            <p:ph type="sldNum" sz="quarter" idx="12"/>
          </p:nvPr>
        </p:nvSpPr>
        <p:spPr/>
        <p:txBody>
          <a:bodyPr/>
          <a:lstStyle/>
          <a:p>
            <a:fld id="{C5DFEC63-AC9E-491C-B008-E83D881192CD}" type="slidenum">
              <a:rPr lang="en-GB" smtClean="0"/>
              <a:pPr/>
              <a:t>18</a:t>
            </a:fld>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19</a:t>
            </a:fld>
            <a:endParaRPr lang="en-GB" dirty="0"/>
          </a:p>
        </p:txBody>
      </p:sp>
      <p:sp>
        <p:nvSpPr>
          <p:cNvPr id="2" name="Title 1"/>
          <p:cNvSpPr>
            <a:spLocks noGrp="1"/>
          </p:cNvSpPr>
          <p:nvPr>
            <p:ph type="title" idx="4294967295"/>
          </p:nvPr>
        </p:nvSpPr>
        <p:spPr>
          <a:xfrm>
            <a:off x="762000" y="404148"/>
            <a:ext cx="6781800" cy="550862"/>
          </a:xfrm>
        </p:spPr>
        <p:txBody>
          <a:bodyPr>
            <a:noAutofit/>
          </a:bodyPr>
          <a:lstStyle/>
          <a:p>
            <a:r>
              <a:rPr lang="nn-NO" sz="2800" dirty="0">
                <a:latin typeface="Rockwell" pitchFamily="18" charset="0"/>
              </a:rPr>
              <a:t>The Physical Symbol System Hypothesis</a:t>
            </a:r>
            <a:endParaRPr lang="en-GB" sz="2800" dirty="0"/>
          </a:p>
        </p:txBody>
      </p:sp>
      <p:sp>
        <p:nvSpPr>
          <p:cNvPr id="3" name="Content Placeholder 2"/>
          <p:cNvSpPr>
            <a:spLocks noGrp="1"/>
          </p:cNvSpPr>
          <p:nvPr>
            <p:ph idx="4294967295"/>
          </p:nvPr>
        </p:nvSpPr>
        <p:spPr>
          <a:xfrm>
            <a:off x="381000" y="1754188"/>
            <a:ext cx="8532813" cy="3617912"/>
          </a:xfrm>
        </p:spPr>
        <p:txBody>
          <a:bodyPr>
            <a:normAutofit/>
          </a:bodyPr>
          <a:lstStyle/>
          <a:p>
            <a:pPr>
              <a:buFont typeface="Wingdings" panose="05000000000000000000" pitchFamily="2" charset="2"/>
              <a:buChar char="q"/>
            </a:pPr>
            <a:r>
              <a:rPr lang="en-GB" sz="1800" dirty="0"/>
              <a:t>The </a:t>
            </a:r>
            <a:r>
              <a:rPr lang="en-GB" sz="1800" b="1" dirty="0"/>
              <a:t>Physical Symbol System </a:t>
            </a:r>
            <a:r>
              <a:rPr lang="en-GB" sz="1800" dirty="0"/>
              <a:t>is a machine that produces a series of symbols and structures over time</a:t>
            </a:r>
          </a:p>
          <a:p>
            <a:pPr>
              <a:buFont typeface="Wingdings" panose="05000000000000000000" pitchFamily="2" charset="2"/>
              <a:buChar char="q"/>
            </a:pPr>
            <a:r>
              <a:rPr lang="en-GB" sz="1800" dirty="0"/>
              <a:t>A PSS has the necessary and sufficient means for general intelligent action</a:t>
            </a:r>
          </a:p>
          <a:p>
            <a:pPr>
              <a:buFont typeface="Wingdings" panose="05000000000000000000" pitchFamily="2" charset="2"/>
              <a:buChar char="q"/>
            </a:pPr>
            <a:r>
              <a:rPr lang="en-GB" sz="1800" b="1" dirty="0"/>
              <a:t>Results of PSS Research</a:t>
            </a:r>
            <a:endParaRPr lang="en-GB" sz="1800" dirty="0"/>
          </a:p>
          <a:p>
            <a:pPr>
              <a:buFont typeface="Wingdings" panose="05000000000000000000" pitchFamily="2" charset="2"/>
              <a:buChar char="q"/>
            </a:pPr>
            <a:r>
              <a:rPr lang="en-GB" sz="1800" dirty="0"/>
              <a:t>Lots of impressive AI systems with more to come</a:t>
            </a:r>
          </a:p>
          <a:p>
            <a:pPr>
              <a:buFont typeface="Wingdings" panose="05000000000000000000" pitchFamily="2" charset="2"/>
              <a:buChar char="q"/>
            </a:pPr>
            <a:r>
              <a:rPr lang="en-GB" sz="1800" dirty="0"/>
              <a:t>Erroneous view of the human mind as a PSS running  on a computer-like hardware</a:t>
            </a:r>
          </a:p>
          <a:p>
            <a:pPr>
              <a:buFont typeface="Wingdings" panose="05000000000000000000" pitchFamily="2" charset="2"/>
              <a:buChar char="q"/>
            </a:pPr>
            <a:r>
              <a:rPr lang="en-GB" sz="1800" dirty="0"/>
              <a:t>PSS Hypothesis is still important for development of AI systems but less important for AI-inspired cognitive science</a:t>
            </a:r>
          </a:p>
          <a:p>
            <a:endParaRPr lang="en-GB" sz="2099"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20</a:t>
            </a:fld>
            <a:endParaRPr lang="en-GB" dirty="0"/>
          </a:p>
        </p:txBody>
      </p:sp>
      <p:sp>
        <p:nvSpPr>
          <p:cNvPr id="2" name="Title 1"/>
          <p:cNvSpPr>
            <a:spLocks noGrp="1"/>
          </p:cNvSpPr>
          <p:nvPr>
            <p:ph type="title" idx="4294967295"/>
          </p:nvPr>
        </p:nvSpPr>
        <p:spPr>
          <a:xfrm>
            <a:off x="879937" y="581978"/>
            <a:ext cx="7200900" cy="457200"/>
          </a:xfrm>
        </p:spPr>
        <p:txBody>
          <a:bodyPr>
            <a:noAutofit/>
          </a:bodyPr>
          <a:lstStyle/>
          <a:p>
            <a:r>
              <a:rPr lang="en-GB" sz="2800" dirty="0">
                <a:latin typeface="Rockwell" pitchFamily="18" charset="0"/>
              </a:rPr>
              <a:t>Underlying Assumption</a:t>
            </a:r>
          </a:p>
        </p:txBody>
      </p:sp>
      <p:sp>
        <p:nvSpPr>
          <p:cNvPr id="3" name="Content Placeholder 2"/>
          <p:cNvSpPr>
            <a:spLocks noGrp="1"/>
          </p:cNvSpPr>
          <p:nvPr>
            <p:ph idx="4294967295"/>
          </p:nvPr>
        </p:nvSpPr>
        <p:spPr>
          <a:xfrm>
            <a:off x="458788" y="1657350"/>
            <a:ext cx="8685212" cy="4000500"/>
          </a:xfrm>
        </p:spPr>
        <p:txBody>
          <a:bodyPr>
            <a:noAutofit/>
          </a:bodyPr>
          <a:lstStyle/>
          <a:p>
            <a:pPr algn="just">
              <a:buNone/>
            </a:pPr>
            <a:r>
              <a:rPr lang="en-GB" dirty="0"/>
              <a:t>A Physical symbol system (PSS) consist of:</a:t>
            </a:r>
          </a:p>
          <a:p>
            <a:pPr algn="just">
              <a:buFont typeface="Wingdings" panose="05000000000000000000" pitchFamily="2" charset="2"/>
              <a:buChar char="q"/>
            </a:pPr>
            <a:r>
              <a:rPr lang="en-GB" sz="1800" dirty="0"/>
              <a:t>Symbols which are physical patterns which occur as components of another entity  called expression or symbol structure.</a:t>
            </a:r>
          </a:p>
          <a:p>
            <a:pPr algn="just">
              <a:buFont typeface="Wingdings" panose="05000000000000000000" pitchFamily="2" charset="2"/>
              <a:buChar char="q"/>
            </a:pPr>
            <a:r>
              <a:rPr lang="en-GB" sz="1800" dirty="0"/>
              <a:t>It contains a collection of processes that operate on expressions to produce  other expressions. This includes processes of creation, modification, reproduction and destruction.</a:t>
            </a:r>
          </a:p>
          <a:p>
            <a:pPr algn="just">
              <a:buFont typeface="Wingdings" panose="05000000000000000000" pitchFamily="2" charset="2"/>
              <a:buChar char="q"/>
            </a:pPr>
            <a:r>
              <a:rPr lang="en-GB" sz="1800" dirty="0"/>
              <a:t>A PSS is a machine that produces through time an existing set of symbol structures. </a:t>
            </a:r>
          </a:p>
          <a:p>
            <a:pPr algn="just">
              <a:buFont typeface="Wingdings" panose="05000000000000000000" pitchFamily="2" charset="2"/>
              <a:buChar char="q"/>
            </a:pPr>
            <a:r>
              <a:rPr lang="en-GB" sz="1800" dirty="0"/>
              <a:t>Using the computer as a medium for this experimentation has been found to be true</a:t>
            </a:r>
          </a:p>
          <a:p>
            <a:pPr algn="just">
              <a:buFont typeface="Wingdings" pitchFamily="2" charset="2"/>
              <a:buChar char="Ø"/>
            </a:pPr>
            <a:endParaRPr lang="en-GB" sz="2099" dirty="0"/>
          </a:p>
          <a:p>
            <a:pPr algn="just">
              <a:buFont typeface="Wingdings" pitchFamily="2" charset="2"/>
              <a:buChar char="Ø"/>
            </a:pPr>
            <a:endParaRPr lang="en-GB" sz="2099" dirty="0"/>
          </a:p>
          <a:p>
            <a:pPr algn="just">
              <a:buFont typeface="Wingdings" pitchFamily="2" charset="2"/>
              <a:buChar char="Ø"/>
            </a:pPr>
            <a:endParaRPr lang="en-GB" sz="1875" dirty="0"/>
          </a:p>
          <a:p>
            <a:endParaRPr lang="en-GB" sz="1875"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21</a:t>
            </a:fld>
            <a:endParaRPr lang="en-GB" dirty="0"/>
          </a:p>
        </p:txBody>
      </p:sp>
      <p:sp>
        <p:nvSpPr>
          <p:cNvPr id="4" name="Title 3"/>
          <p:cNvSpPr>
            <a:spLocks noGrp="1"/>
          </p:cNvSpPr>
          <p:nvPr>
            <p:ph type="title" idx="4294967295"/>
          </p:nvPr>
        </p:nvSpPr>
        <p:spPr>
          <a:xfrm>
            <a:off x="1143000" y="568123"/>
            <a:ext cx="6283325" cy="495300"/>
          </a:xfrm>
        </p:spPr>
        <p:txBody>
          <a:bodyPr>
            <a:noAutofit/>
          </a:bodyPr>
          <a:lstStyle/>
          <a:p>
            <a:r>
              <a:rPr lang="nn-NO" sz="2800" dirty="0"/>
              <a:t>Importance of the PSS Hypothesis</a:t>
            </a:r>
            <a:endParaRPr lang="en-GB" sz="2800" dirty="0"/>
          </a:p>
        </p:txBody>
      </p:sp>
      <p:sp>
        <p:nvSpPr>
          <p:cNvPr id="3" name="Content Placeholder 2"/>
          <p:cNvSpPr>
            <a:spLocks noGrp="1"/>
          </p:cNvSpPr>
          <p:nvPr>
            <p:ph idx="4294967295"/>
          </p:nvPr>
        </p:nvSpPr>
        <p:spPr>
          <a:xfrm>
            <a:off x="533400" y="1697038"/>
            <a:ext cx="8251825" cy="3617912"/>
          </a:xfrm>
        </p:spPr>
        <p:txBody>
          <a:bodyPr>
            <a:normAutofit/>
          </a:bodyPr>
          <a:lstStyle/>
          <a:p>
            <a:pPr algn="just">
              <a:buNone/>
            </a:pPr>
            <a:r>
              <a:rPr lang="en-GB" sz="2099" dirty="0"/>
              <a:t>The importance of the physical symbols system hypothesis is two fold:</a:t>
            </a:r>
          </a:p>
          <a:p>
            <a:endParaRPr lang="en-GB" sz="2099" dirty="0"/>
          </a:p>
          <a:p>
            <a:pPr algn="just">
              <a:buFont typeface="Wingdings" pitchFamily="2" charset="2"/>
              <a:buChar char="Ø"/>
            </a:pPr>
            <a:r>
              <a:rPr lang="en-GB" sz="2099" dirty="0"/>
              <a:t>It is a significant theory of the nature of human intelligence and so is of great interest to psychologists.</a:t>
            </a:r>
          </a:p>
          <a:p>
            <a:pPr algn="just"/>
            <a:endParaRPr lang="en-GB" sz="2099" dirty="0"/>
          </a:p>
          <a:p>
            <a:pPr algn="just">
              <a:buFont typeface="Wingdings" pitchFamily="2" charset="2"/>
              <a:buChar char="Ø"/>
            </a:pPr>
            <a:r>
              <a:rPr lang="en-GB" sz="2099" dirty="0"/>
              <a:t>It also forms the basis of the belief that it is possible to build programs that can perform intelligent tasks now performed by people.</a:t>
            </a:r>
          </a:p>
          <a:p>
            <a:pPr algn="just">
              <a:buFont typeface="Wingdings" pitchFamily="2" charset="2"/>
              <a:buChar char="Ø"/>
            </a:pPr>
            <a:endParaRPr lang="en-GB" sz="2099" dirty="0"/>
          </a:p>
          <a:p>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22</a:t>
            </a:fld>
            <a:endParaRPr lang="en-GB" dirty="0"/>
          </a:p>
        </p:txBody>
      </p:sp>
      <p:sp>
        <p:nvSpPr>
          <p:cNvPr id="2" name="Title 1"/>
          <p:cNvSpPr>
            <a:spLocks noGrp="1"/>
          </p:cNvSpPr>
          <p:nvPr>
            <p:ph type="title" idx="4294967295"/>
          </p:nvPr>
        </p:nvSpPr>
        <p:spPr>
          <a:xfrm>
            <a:off x="2133600" y="971550"/>
            <a:ext cx="7010400" cy="514350"/>
          </a:xfrm>
        </p:spPr>
        <p:txBody>
          <a:bodyPr>
            <a:noAutofit/>
          </a:bodyPr>
          <a:lstStyle/>
          <a:p>
            <a:pPr lvl="1"/>
            <a:r>
              <a:rPr lang="nn-NO" sz="2624" b="1" dirty="0">
                <a:latin typeface="Rockwell" pitchFamily="18" charset="0"/>
              </a:rPr>
              <a:t>Good Old Fashioned Artificial Intelligence (GOFAI)</a:t>
            </a:r>
          </a:p>
        </p:txBody>
      </p:sp>
      <p:sp>
        <p:nvSpPr>
          <p:cNvPr id="3" name="Content Placeholder 2"/>
          <p:cNvSpPr>
            <a:spLocks noGrp="1"/>
          </p:cNvSpPr>
          <p:nvPr>
            <p:ph idx="4294967295"/>
          </p:nvPr>
        </p:nvSpPr>
        <p:spPr>
          <a:xfrm>
            <a:off x="244475" y="1697038"/>
            <a:ext cx="8899525" cy="3617912"/>
          </a:xfrm>
        </p:spPr>
        <p:txBody>
          <a:bodyPr>
            <a:normAutofit/>
          </a:bodyPr>
          <a:lstStyle/>
          <a:p>
            <a:pPr algn="just"/>
            <a:r>
              <a:rPr lang="en-GB" sz="2099" dirty="0"/>
              <a:t>In GOFAI, Knowledge is represented  using symbols</a:t>
            </a:r>
          </a:p>
          <a:p>
            <a:pPr algn="just"/>
            <a:r>
              <a:rPr lang="en-GB" sz="2099" dirty="0"/>
              <a:t>Reasoning is done by using symbolic knowledge.</a:t>
            </a:r>
          </a:p>
          <a:p>
            <a:pPr algn="just"/>
            <a:r>
              <a:rPr lang="en-GB" sz="2099" dirty="0"/>
              <a:t>For example, a variety of different formal logics have been used in GOFAI.</a:t>
            </a:r>
          </a:p>
          <a:p>
            <a:pPr algn="just"/>
            <a:r>
              <a:rPr lang="en-GB" sz="2099" dirty="0"/>
              <a:t>Logic is a formal way of representing the state of the world and reasoning about it.</a:t>
            </a:r>
          </a:p>
          <a:p>
            <a:pPr algn="just"/>
            <a:r>
              <a:rPr lang="en-GB" sz="2099" dirty="0"/>
              <a:t>Logic programming systems, such as Prolog, compute the consequences of the axioms and rules in order to answer a query.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23</a:t>
            </a:fld>
            <a:endParaRPr lang="en-GB" dirty="0"/>
          </a:p>
        </p:txBody>
      </p:sp>
      <p:sp>
        <p:nvSpPr>
          <p:cNvPr id="2" name="Title 1"/>
          <p:cNvSpPr>
            <a:spLocks noGrp="1"/>
          </p:cNvSpPr>
          <p:nvPr>
            <p:ph type="title" idx="4294967295"/>
          </p:nvPr>
        </p:nvSpPr>
        <p:spPr>
          <a:xfrm>
            <a:off x="914400" y="1063625"/>
            <a:ext cx="8229600" cy="857250"/>
          </a:xfrm>
        </p:spPr>
        <p:txBody>
          <a:bodyPr>
            <a:normAutofit/>
          </a:bodyPr>
          <a:lstStyle/>
          <a:p>
            <a:r>
              <a:rPr lang="nn-NO" sz="2624" dirty="0"/>
              <a:t>Example of Logic Representation</a:t>
            </a:r>
            <a:endParaRPr lang="en-GB" sz="2624" dirty="0"/>
          </a:p>
        </p:txBody>
      </p:sp>
      <p:sp>
        <p:nvSpPr>
          <p:cNvPr id="3" name="Content Placeholder 2"/>
          <p:cNvSpPr>
            <a:spLocks noGrp="1"/>
          </p:cNvSpPr>
          <p:nvPr>
            <p:ph idx="4294967295"/>
          </p:nvPr>
        </p:nvSpPr>
        <p:spPr>
          <a:xfrm>
            <a:off x="0" y="1917700"/>
            <a:ext cx="8785225" cy="1625600"/>
          </a:xfrm>
        </p:spPr>
        <p:txBody>
          <a:bodyPr>
            <a:normAutofit/>
          </a:bodyPr>
          <a:lstStyle/>
          <a:p>
            <a:r>
              <a:rPr lang="nn-NO" sz="1875" i="1" dirty="0"/>
              <a:t>A </a:t>
            </a:r>
            <a:r>
              <a:rPr lang="nn-NO" sz="1875" i="1" u="sng" dirty="0"/>
              <a:t>South </a:t>
            </a:r>
            <a:r>
              <a:rPr lang="nn-NO" sz="1875" i="1" u="sng" dirty="0" err="1"/>
              <a:t>Africa</a:t>
            </a:r>
            <a:r>
              <a:rPr lang="nn-NO" sz="1875" i="1" dirty="0" err="1"/>
              <a:t>n</a:t>
            </a:r>
            <a:r>
              <a:rPr lang="nn-NO" sz="1875" i="1" dirty="0"/>
              <a:t> and </a:t>
            </a:r>
            <a:r>
              <a:rPr lang="nn-NO" sz="1875" i="1" u="sng" dirty="0"/>
              <a:t>CPUT Professor </a:t>
            </a:r>
            <a:r>
              <a:rPr lang="nn-NO" sz="1875" i="1" dirty="0"/>
              <a:t>has just receieved a national </a:t>
            </a:r>
            <a:r>
              <a:rPr lang="nn-NO" sz="1875" i="1" u="sng" dirty="0"/>
              <a:t>award</a:t>
            </a:r>
            <a:endParaRPr lang="en-GB" sz="1875" i="1" u="sng" dirty="0"/>
          </a:p>
          <a:p>
            <a:pPr>
              <a:buNone/>
            </a:pPr>
            <a:r>
              <a:rPr lang="es-ES" sz="1875" dirty="0"/>
              <a:t>   (    </a:t>
            </a:r>
            <a:r>
              <a:rPr lang="es-ES" sz="1875" i="1" dirty="0"/>
              <a:t>x)(   y)(    z)(</a:t>
            </a:r>
            <a:r>
              <a:rPr lang="es-ES" sz="1875" i="1" dirty="0" err="1"/>
              <a:t>isSouthAfrican</a:t>
            </a:r>
            <a:r>
              <a:rPr lang="es-ES" sz="1875" i="1" dirty="0"/>
              <a:t>(x) </a:t>
            </a:r>
            <a:r>
              <a:rPr lang="en-GB" sz="1875"/>
              <a:t>Ʌ isProfessor</a:t>
            </a:r>
            <a:r>
              <a:rPr lang="en-GB" sz="1875" dirty="0"/>
              <a:t>(</a:t>
            </a:r>
            <a:r>
              <a:rPr lang="en-GB" sz="1875" dirty="0" err="1"/>
              <a:t>x,</a:t>
            </a:r>
            <a:r>
              <a:rPr lang="en-GB" sz="1875" i="1" dirty="0" err="1"/>
              <a:t>y</a:t>
            </a:r>
            <a:r>
              <a:rPr lang="en-GB" sz="1875" i="1" dirty="0"/>
              <a:t>) </a:t>
            </a:r>
            <a:r>
              <a:rPr lang="en-GB" sz="1875" dirty="0"/>
              <a:t>Ʌ</a:t>
            </a:r>
            <a:r>
              <a:rPr lang="en-GB" sz="1875" i="1" dirty="0"/>
              <a:t> Received-</a:t>
            </a:r>
            <a:r>
              <a:rPr lang="en-GB" sz="1875" i="1" dirty="0" err="1"/>
              <a:t>National_Award</a:t>
            </a:r>
            <a:r>
              <a:rPr lang="en-GB" sz="1875" i="1" dirty="0"/>
              <a:t>(</a:t>
            </a:r>
            <a:r>
              <a:rPr lang="en-GB" sz="1875" i="1" dirty="0" err="1"/>
              <a:t>x,z</a:t>
            </a:r>
            <a:r>
              <a:rPr lang="en-GB" sz="1875" i="1" dirty="0"/>
              <a:t>)). </a:t>
            </a:r>
          </a:p>
          <a:p>
            <a:pPr>
              <a:buNone/>
            </a:pPr>
            <a:endParaRPr lang="nn-NO" sz="1875" i="1" dirty="0"/>
          </a:p>
          <a:p>
            <a:pPr>
              <a:buNone/>
            </a:pPr>
            <a:endParaRPr lang="en-GB" sz="1875" dirty="0"/>
          </a:p>
        </p:txBody>
      </p:sp>
      <p:graphicFrame>
        <p:nvGraphicFramePr>
          <p:cNvPr id="1031" name="Object 3"/>
          <p:cNvGraphicFramePr>
            <a:graphicFrameLocks noChangeAspect="1"/>
          </p:cNvGraphicFramePr>
          <p:nvPr/>
        </p:nvGraphicFramePr>
        <p:xfrm>
          <a:off x="363047" y="2324388"/>
          <a:ext cx="323766" cy="263060"/>
        </p:xfrm>
        <a:graphic>
          <a:graphicData uri="http://schemas.openxmlformats.org/presentationml/2006/ole">
            <mc:AlternateContent xmlns:mc="http://schemas.openxmlformats.org/markup-compatibility/2006">
              <mc:Choice xmlns:v="urn:schemas-microsoft-com:vml" Requires="v">
                <p:oleObj spid="_x0000_s1232" name="Equation" r:id="rId4" imgW="101520" imgH="126720" progId="Equation.DSMT4">
                  <p:embed/>
                </p:oleObj>
              </mc:Choice>
              <mc:Fallback>
                <p:oleObj name="Equation" r:id="rId4" imgW="101520" imgH="12672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047" y="2324388"/>
                        <a:ext cx="323766" cy="26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2" name="Object 3"/>
          <p:cNvGraphicFramePr>
            <a:graphicFrameLocks noChangeAspect="1"/>
          </p:cNvGraphicFramePr>
          <p:nvPr/>
        </p:nvGraphicFramePr>
        <p:xfrm>
          <a:off x="858218" y="2333910"/>
          <a:ext cx="323766" cy="263060"/>
        </p:xfrm>
        <a:graphic>
          <a:graphicData uri="http://schemas.openxmlformats.org/presentationml/2006/ole">
            <mc:AlternateContent xmlns:mc="http://schemas.openxmlformats.org/markup-compatibility/2006">
              <mc:Choice xmlns:v="urn:schemas-microsoft-com:vml" Requires="v">
                <p:oleObj spid="_x0000_s1233" name="Equation" r:id="rId6" imgW="101520" imgH="126720" progId="Equation.DSMT4">
                  <p:embed/>
                </p:oleObj>
              </mc:Choice>
              <mc:Fallback>
                <p:oleObj name="Equation" r:id="rId6" imgW="101520" imgH="126720" progId="Equation.DSMT4">
                  <p:embed/>
                  <p:pic>
                    <p:nvPicPr>
                      <p:cNvPr id="0"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218" y="2333910"/>
                        <a:ext cx="323766" cy="26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33" name="Object 3"/>
          <p:cNvGraphicFramePr>
            <a:graphicFrameLocks noChangeAspect="1"/>
          </p:cNvGraphicFramePr>
          <p:nvPr/>
        </p:nvGraphicFramePr>
        <p:xfrm>
          <a:off x="1401001" y="2333910"/>
          <a:ext cx="323766" cy="263060"/>
        </p:xfrm>
        <a:graphic>
          <a:graphicData uri="http://schemas.openxmlformats.org/presentationml/2006/ole">
            <mc:AlternateContent xmlns:mc="http://schemas.openxmlformats.org/markup-compatibility/2006">
              <mc:Choice xmlns:v="urn:schemas-microsoft-com:vml" Requires="v">
                <p:oleObj spid="_x0000_s1234" name="Equation" r:id="rId7" imgW="101520" imgH="126720" progId="Equation.DSMT4">
                  <p:embed/>
                </p:oleObj>
              </mc:Choice>
              <mc:Fallback>
                <p:oleObj name="Equation" r:id="rId7" imgW="101520" imgH="12672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1001" y="2333910"/>
                        <a:ext cx="323766" cy="263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24</a:t>
            </a:fld>
            <a:endParaRPr lang="en-GB" dirty="0"/>
          </a:p>
        </p:txBody>
      </p:sp>
      <p:sp>
        <p:nvSpPr>
          <p:cNvPr id="2" name="Title 1"/>
          <p:cNvSpPr>
            <a:spLocks noGrp="1"/>
          </p:cNvSpPr>
          <p:nvPr>
            <p:ph type="title" idx="4294967295"/>
          </p:nvPr>
        </p:nvSpPr>
        <p:spPr>
          <a:xfrm>
            <a:off x="0" y="957263"/>
            <a:ext cx="8382000" cy="514350"/>
          </a:xfrm>
        </p:spPr>
        <p:txBody>
          <a:bodyPr>
            <a:normAutofit/>
          </a:bodyPr>
          <a:lstStyle/>
          <a:p>
            <a:r>
              <a:rPr lang="nn-NO" sz="2624" dirty="0"/>
              <a:t>Problem with Logic</a:t>
            </a:r>
            <a:endParaRPr lang="en-GB" sz="2624" dirty="0"/>
          </a:p>
        </p:txBody>
      </p:sp>
      <p:sp>
        <p:nvSpPr>
          <p:cNvPr id="3" name="Content Placeholder 2"/>
          <p:cNvSpPr>
            <a:spLocks noGrp="1"/>
          </p:cNvSpPr>
          <p:nvPr>
            <p:ph idx="4294967295"/>
          </p:nvPr>
        </p:nvSpPr>
        <p:spPr>
          <a:xfrm>
            <a:off x="358775" y="1697038"/>
            <a:ext cx="8785225" cy="3617912"/>
          </a:xfrm>
        </p:spPr>
        <p:txBody>
          <a:bodyPr>
            <a:normAutofit/>
          </a:bodyPr>
          <a:lstStyle/>
          <a:p>
            <a:r>
              <a:rPr lang="en-GB" sz="2174" dirty="0"/>
              <a:t>Problems were soon encountered about the lack of common sense in logic-based systems.</a:t>
            </a:r>
          </a:p>
          <a:p>
            <a:r>
              <a:rPr lang="en-GB" sz="2174" dirty="0" err="1"/>
              <a:t>Lenat’s</a:t>
            </a:r>
            <a:r>
              <a:rPr lang="en-GB" sz="2174" dirty="0"/>
              <a:t> Cyc attempted to store common sense, but  it is now considered a failure.</a:t>
            </a:r>
          </a:p>
          <a:p>
            <a:r>
              <a:rPr lang="en-GB" sz="2174" dirty="0"/>
              <a:t>GOFAI approaches are mainly logic based and have been found to be deficient in solving many times of real-world problems.</a:t>
            </a:r>
          </a:p>
          <a:p>
            <a:r>
              <a:rPr lang="en-GB" sz="2174" dirty="0"/>
              <a:t>Connectionist approach, which is based on the functioning of the biological human brain is now preferred .</a:t>
            </a:r>
          </a:p>
          <a:p>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25</a:t>
            </a:fld>
            <a:endParaRPr lang="en-GB" dirty="0"/>
          </a:p>
        </p:txBody>
      </p:sp>
      <p:sp>
        <p:nvSpPr>
          <p:cNvPr id="2" name="Title 1"/>
          <p:cNvSpPr>
            <a:spLocks noGrp="1"/>
          </p:cNvSpPr>
          <p:nvPr>
            <p:ph type="title" idx="4294967295"/>
          </p:nvPr>
        </p:nvSpPr>
        <p:spPr>
          <a:xfrm>
            <a:off x="2076450" y="1314450"/>
            <a:ext cx="7067550" cy="457200"/>
          </a:xfrm>
        </p:spPr>
        <p:txBody>
          <a:bodyPr>
            <a:normAutofit fontScale="90000"/>
          </a:bodyPr>
          <a:lstStyle/>
          <a:p>
            <a:r>
              <a:rPr lang="nn-NO" sz="2924" dirty="0">
                <a:latin typeface="Rockwell" pitchFamily="18" charset="0"/>
              </a:rPr>
              <a:t>The new AI:   Situated and Embodied Artficifial Intelligence (SEAI)</a:t>
            </a:r>
            <a:r>
              <a:rPr lang="en-GB" dirty="0">
                <a:latin typeface="Arial Rounded MT Bold" pitchFamily="34" charset="0"/>
              </a:rPr>
              <a:t/>
            </a:r>
            <a:br>
              <a:rPr lang="en-GB" dirty="0">
                <a:latin typeface="Arial Rounded MT Bold" pitchFamily="34" charset="0"/>
              </a:rPr>
            </a:br>
            <a:endParaRPr lang="en-GB" dirty="0"/>
          </a:p>
        </p:txBody>
      </p:sp>
      <p:pic>
        <p:nvPicPr>
          <p:cNvPr id="4" name="Picture 2"/>
          <p:cNvPicPr>
            <a:picLocks noChangeAspect="1" noChangeArrowheads="1"/>
          </p:cNvPicPr>
          <p:nvPr/>
        </p:nvPicPr>
        <p:blipFill>
          <a:blip r:embed="rId3" cstate="print"/>
          <a:srcRect/>
          <a:stretch>
            <a:fillRect/>
          </a:stretch>
        </p:blipFill>
        <p:spPr bwMode="auto">
          <a:xfrm>
            <a:off x="286865" y="1772082"/>
            <a:ext cx="7941782" cy="3400730"/>
          </a:xfrm>
          <a:prstGeom prst="rect">
            <a:avLst/>
          </a:prstGeom>
          <a:noFill/>
          <a:ln w="9525">
            <a:noFill/>
            <a:miter lim="800000"/>
            <a:headEnd/>
            <a:tailEnd/>
          </a:ln>
        </p:spPr>
      </p:pic>
      <p:sp>
        <p:nvSpPr>
          <p:cNvPr id="5" name="TextBox 4"/>
          <p:cNvSpPr txBox="1"/>
          <p:nvPr/>
        </p:nvSpPr>
        <p:spPr>
          <a:xfrm>
            <a:off x="458271" y="5257331"/>
            <a:ext cx="5827782" cy="300082"/>
          </a:xfrm>
          <a:prstGeom prst="rect">
            <a:avLst/>
          </a:prstGeom>
          <a:noFill/>
        </p:spPr>
        <p:txBody>
          <a:bodyPr wrap="square" rtlCol="0">
            <a:spAutoFit/>
          </a:bodyPr>
          <a:lstStyle/>
          <a:p>
            <a:r>
              <a:rPr lang="nn-NO" sz="1350" b="1" dirty="0"/>
              <a:t>Slide credit: Keith Downing, Evolving Artificial Intelligence, NTNU</a:t>
            </a:r>
            <a:endParaRPr lang="en-GB" sz="1350" b="1"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26</a:t>
            </a:fld>
            <a:endParaRPr lang="en-GB" dirty="0"/>
          </a:p>
        </p:txBody>
      </p:sp>
      <p:sp>
        <p:nvSpPr>
          <p:cNvPr id="2" name="Title 1"/>
          <p:cNvSpPr>
            <a:spLocks noGrp="1"/>
          </p:cNvSpPr>
          <p:nvPr>
            <p:ph type="title" idx="4294967295"/>
          </p:nvPr>
        </p:nvSpPr>
        <p:spPr>
          <a:xfrm>
            <a:off x="3487738" y="971550"/>
            <a:ext cx="5656262" cy="571500"/>
          </a:xfrm>
        </p:spPr>
        <p:txBody>
          <a:bodyPr>
            <a:normAutofit/>
          </a:bodyPr>
          <a:lstStyle/>
          <a:p>
            <a:r>
              <a:rPr lang="nn-NO" sz="2624" dirty="0"/>
              <a:t>Cognitive Incrementalism</a:t>
            </a:r>
            <a:endParaRPr lang="en-GB" sz="2624" dirty="0"/>
          </a:p>
        </p:txBody>
      </p:sp>
      <p:pic>
        <p:nvPicPr>
          <p:cNvPr id="4" name="Picture 2"/>
          <p:cNvPicPr>
            <a:picLocks noChangeAspect="1" noChangeArrowheads="1"/>
          </p:cNvPicPr>
          <p:nvPr/>
        </p:nvPicPr>
        <p:blipFill>
          <a:blip r:embed="rId3" cstate="print"/>
          <a:srcRect/>
          <a:stretch>
            <a:fillRect/>
          </a:stretch>
        </p:blipFill>
        <p:spPr bwMode="auto">
          <a:xfrm>
            <a:off x="115461" y="1600676"/>
            <a:ext cx="8455998" cy="3256702"/>
          </a:xfrm>
          <a:prstGeom prst="rect">
            <a:avLst/>
          </a:prstGeom>
          <a:noFill/>
          <a:ln w="9525">
            <a:noFill/>
            <a:miter lim="800000"/>
            <a:headEnd/>
            <a:tailEnd/>
          </a:ln>
        </p:spPr>
      </p:pic>
      <p:sp>
        <p:nvSpPr>
          <p:cNvPr id="5" name="TextBox 4"/>
          <p:cNvSpPr txBox="1"/>
          <p:nvPr/>
        </p:nvSpPr>
        <p:spPr>
          <a:xfrm>
            <a:off x="458271" y="5094674"/>
            <a:ext cx="5827782" cy="300082"/>
          </a:xfrm>
          <a:prstGeom prst="rect">
            <a:avLst/>
          </a:prstGeom>
          <a:noFill/>
        </p:spPr>
        <p:txBody>
          <a:bodyPr wrap="square" rtlCol="0">
            <a:spAutoFit/>
          </a:bodyPr>
          <a:lstStyle/>
          <a:p>
            <a:r>
              <a:rPr lang="nn-NO" sz="1350" b="1" dirty="0"/>
              <a:t>Slide credit: Keith Downing, Evolving Artificial Intelligence, NTNU</a:t>
            </a:r>
            <a:endParaRPr lang="en-GB" sz="1350" b="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27</a:t>
            </a:fld>
            <a:endParaRPr lang="en-GB" dirty="0"/>
          </a:p>
        </p:txBody>
      </p:sp>
      <p:sp>
        <p:nvSpPr>
          <p:cNvPr id="2" name="Title 1"/>
          <p:cNvSpPr>
            <a:spLocks noGrp="1"/>
          </p:cNvSpPr>
          <p:nvPr>
            <p:ph type="title" idx="4294967295"/>
          </p:nvPr>
        </p:nvSpPr>
        <p:spPr>
          <a:xfrm>
            <a:off x="3276600" y="971550"/>
            <a:ext cx="5867400" cy="838200"/>
          </a:xfrm>
        </p:spPr>
        <p:txBody>
          <a:bodyPr>
            <a:normAutofit/>
          </a:bodyPr>
          <a:lstStyle/>
          <a:p>
            <a:r>
              <a:rPr lang="nn-NO" sz="2624" dirty="0">
                <a:latin typeface="Rockwell" pitchFamily="18" charset="0"/>
              </a:rPr>
              <a:t>Mistaken Genius</a:t>
            </a:r>
            <a:endParaRPr lang="en-GB" sz="2624" dirty="0">
              <a:latin typeface="Rockwell" pitchFamily="18" charset="0"/>
            </a:endParaRPr>
          </a:p>
        </p:txBody>
      </p:sp>
      <p:pic>
        <p:nvPicPr>
          <p:cNvPr id="4" name="Picture 2"/>
          <p:cNvPicPr>
            <a:picLocks noChangeAspect="1" noChangeArrowheads="1"/>
          </p:cNvPicPr>
          <p:nvPr/>
        </p:nvPicPr>
        <p:blipFill>
          <a:blip r:embed="rId2" cstate="print"/>
          <a:srcRect/>
          <a:stretch>
            <a:fillRect/>
          </a:stretch>
        </p:blipFill>
        <p:spPr bwMode="auto">
          <a:xfrm>
            <a:off x="286865" y="1772082"/>
            <a:ext cx="8341728" cy="3313837"/>
          </a:xfrm>
          <a:prstGeom prst="rect">
            <a:avLst/>
          </a:prstGeom>
          <a:noFill/>
          <a:ln w="9525">
            <a:noFill/>
            <a:miter lim="800000"/>
            <a:headEnd/>
            <a:tailEnd/>
          </a:ln>
        </p:spPr>
      </p:pic>
      <p:sp>
        <p:nvSpPr>
          <p:cNvPr id="5" name="TextBox 4"/>
          <p:cNvSpPr txBox="1"/>
          <p:nvPr/>
        </p:nvSpPr>
        <p:spPr>
          <a:xfrm>
            <a:off x="801083" y="5200195"/>
            <a:ext cx="7027620" cy="300082"/>
          </a:xfrm>
          <a:prstGeom prst="rect">
            <a:avLst/>
          </a:prstGeom>
          <a:noFill/>
        </p:spPr>
        <p:txBody>
          <a:bodyPr wrap="square" rtlCol="0">
            <a:spAutoFit/>
          </a:bodyPr>
          <a:lstStyle/>
          <a:p>
            <a:r>
              <a:rPr lang="nn-NO" sz="1350" b="1" dirty="0"/>
              <a:t>Slide credit: Keith Downing, </a:t>
            </a:r>
            <a:r>
              <a:rPr lang="en-GB" sz="1350" b="1" dirty="0"/>
              <a:t>Important Tools and Perspectives for the Future of AI</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28</a:t>
            </a:fld>
            <a:endParaRPr lang="en-GB" dirty="0"/>
          </a:p>
        </p:txBody>
      </p:sp>
      <p:sp>
        <p:nvSpPr>
          <p:cNvPr id="2" name="Title 1"/>
          <p:cNvSpPr>
            <a:spLocks noGrp="1"/>
          </p:cNvSpPr>
          <p:nvPr>
            <p:ph type="title" idx="4294967295"/>
          </p:nvPr>
        </p:nvSpPr>
        <p:spPr>
          <a:xfrm>
            <a:off x="2971800" y="1063625"/>
            <a:ext cx="6172200" cy="857250"/>
          </a:xfrm>
        </p:spPr>
        <p:txBody>
          <a:bodyPr/>
          <a:lstStyle/>
          <a:p>
            <a:r>
              <a:rPr lang="nn-NO" dirty="0"/>
              <a:t>Artificial Life Systems</a:t>
            </a:r>
            <a:endParaRPr lang="en-GB" dirty="0"/>
          </a:p>
        </p:txBody>
      </p:sp>
      <p:pic>
        <p:nvPicPr>
          <p:cNvPr id="4" name="Picture 2"/>
          <p:cNvPicPr>
            <a:picLocks noChangeAspect="1" noChangeArrowheads="1"/>
          </p:cNvPicPr>
          <p:nvPr/>
        </p:nvPicPr>
        <p:blipFill>
          <a:blip r:embed="rId3" cstate="print"/>
          <a:srcRect/>
          <a:stretch>
            <a:fillRect/>
          </a:stretch>
        </p:blipFill>
        <p:spPr bwMode="auto">
          <a:xfrm>
            <a:off x="801082" y="1829217"/>
            <a:ext cx="7884647" cy="3313837"/>
          </a:xfrm>
          <a:prstGeom prst="rect">
            <a:avLst/>
          </a:prstGeom>
          <a:noFill/>
          <a:ln w="9525">
            <a:noFill/>
            <a:miter lim="800000"/>
            <a:headEnd/>
            <a:tailEnd/>
          </a:ln>
        </p:spPr>
      </p:pic>
      <p:sp>
        <p:nvSpPr>
          <p:cNvPr id="5" name="TextBox 4"/>
          <p:cNvSpPr txBox="1"/>
          <p:nvPr/>
        </p:nvSpPr>
        <p:spPr>
          <a:xfrm>
            <a:off x="458271" y="5257331"/>
            <a:ext cx="5827782" cy="300082"/>
          </a:xfrm>
          <a:prstGeom prst="rect">
            <a:avLst/>
          </a:prstGeom>
          <a:noFill/>
        </p:spPr>
        <p:txBody>
          <a:bodyPr wrap="square" rtlCol="0">
            <a:spAutoFit/>
          </a:bodyPr>
          <a:lstStyle/>
          <a:p>
            <a:r>
              <a:rPr lang="nn-NO" sz="1350" b="1" dirty="0"/>
              <a:t>Slide credit: Keith Downing, Evolving Artificial Intelligence, NTNU</a:t>
            </a:r>
            <a:endParaRPr lang="en-GB" sz="1350"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29</a:t>
            </a:fld>
            <a:endParaRPr lang="en-GB" dirty="0"/>
          </a:p>
        </p:txBody>
      </p:sp>
      <p:sp>
        <p:nvSpPr>
          <p:cNvPr id="2" name="Title 1"/>
          <p:cNvSpPr>
            <a:spLocks noGrp="1"/>
          </p:cNvSpPr>
          <p:nvPr>
            <p:ph type="title" idx="4294967295"/>
          </p:nvPr>
        </p:nvSpPr>
        <p:spPr>
          <a:xfrm>
            <a:off x="2857500" y="1063625"/>
            <a:ext cx="6286500" cy="857250"/>
          </a:xfrm>
        </p:spPr>
        <p:txBody>
          <a:bodyPr/>
          <a:lstStyle/>
          <a:p>
            <a:r>
              <a:rPr lang="nn-NO" dirty="0"/>
              <a:t>Biologically Inspired AI</a:t>
            </a:r>
            <a:endParaRPr lang="en-GB" dirty="0"/>
          </a:p>
        </p:txBody>
      </p:sp>
      <p:grpSp>
        <p:nvGrpSpPr>
          <p:cNvPr id="4" name="Group 4"/>
          <p:cNvGrpSpPr>
            <a:grpSpLocks/>
          </p:cNvGrpSpPr>
          <p:nvPr/>
        </p:nvGrpSpPr>
        <p:grpSpPr bwMode="auto">
          <a:xfrm>
            <a:off x="572542" y="2057757"/>
            <a:ext cx="8284593" cy="3085297"/>
            <a:chOff x="284251" y="692696"/>
            <a:chExt cx="8248189" cy="3384376"/>
          </a:xfrm>
        </p:grpSpPr>
        <p:pic>
          <p:nvPicPr>
            <p:cNvPr id="5" name="Picture 2"/>
            <p:cNvPicPr>
              <a:picLocks noChangeAspect="1" noChangeArrowheads="1"/>
            </p:cNvPicPr>
            <p:nvPr/>
          </p:nvPicPr>
          <p:blipFill>
            <a:blip r:embed="rId3" cstate="print"/>
            <a:srcRect/>
            <a:stretch>
              <a:fillRect/>
            </a:stretch>
          </p:blipFill>
          <p:spPr bwMode="auto">
            <a:xfrm>
              <a:off x="284251" y="692696"/>
              <a:ext cx="8248189" cy="3384376"/>
            </a:xfrm>
            <a:prstGeom prst="rect">
              <a:avLst/>
            </a:prstGeom>
            <a:noFill/>
            <a:ln w="9525">
              <a:noFill/>
              <a:miter lim="800000"/>
              <a:headEnd/>
              <a:tailEnd/>
            </a:ln>
          </p:spPr>
        </p:pic>
        <p:sp>
          <p:nvSpPr>
            <p:cNvPr id="6" name="TextBox 3"/>
            <p:cNvSpPr txBox="1">
              <a:spLocks noChangeArrowheads="1"/>
            </p:cNvSpPr>
            <p:nvPr/>
          </p:nvSpPr>
          <p:spPr bwMode="auto">
            <a:xfrm>
              <a:off x="2699792" y="833564"/>
              <a:ext cx="4464496" cy="405134"/>
            </a:xfrm>
            <a:prstGeom prst="rect">
              <a:avLst/>
            </a:prstGeom>
            <a:noFill/>
            <a:ln w="9525">
              <a:noFill/>
              <a:miter lim="800000"/>
              <a:headEnd/>
              <a:tailEnd/>
            </a:ln>
          </p:spPr>
          <p:txBody>
            <a:bodyPr>
              <a:spAutoFit/>
            </a:bodyPr>
            <a:lstStyle/>
            <a:p>
              <a:r>
                <a:rPr lang="nn-NO">
                  <a:solidFill>
                    <a:schemeClr val="bg1"/>
                  </a:solidFill>
                  <a:latin typeface="Arial Rounded MT Bold" pitchFamily="34" charset="0"/>
                </a:rPr>
                <a:t>:   Evolutionary Systems</a:t>
              </a:r>
              <a:endParaRPr lang="en-GB">
                <a:solidFill>
                  <a:schemeClr val="bg1"/>
                </a:solidFill>
                <a:latin typeface="Arial Rounded MT Bold" pitchFamily="34" charset="0"/>
              </a:endParaRPr>
            </a:p>
          </p:txBody>
        </p:sp>
      </p:grpSp>
      <p:sp>
        <p:nvSpPr>
          <p:cNvPr id="7" name="TextBox 6"/>
          <p:cNvSpPr txBox="1"/>
          <p:nvPr/>
        </p:nvSpPr>
        <p:spPr>
          <a:xfrm>
            <a:off x="458271" y="5143060"/>
            <a:ext cx="5827782" cy="300082"/>
          </a:xfrm>
          <a:prstGeom prst="rect">
            <a:avLst/>
          </a:prstGeom>
          <a:noFill/>
        </p:spPr>
        <p:txBody>
          <a:bodyPr wrap="square" rtlCol="0">
            <a:spAutoFit/>
          </a:bodyPr>
          <a:lstStyle/>
          <a:p>
            <a:r>
              <a:rPr lang="nn-NO" sz="1350" b="1" dirty="0"/>
              <a:t>Slide credit: Keith Downing, Evolving Artificial Intelligence, NTNU</a:t>
            </a:r>
            <a:endParaRPr lang="en-GB" sz="1350" b="1" dirty="0"/>
          </a:p>
        </p:txBody>
      </p:sp>
    </p:spTree>
  </p:cSld>
  <p:clrMapOvr>
    <a:masterClrMapping/>
  </p:clrMapOvr>
  <p:timing>
    <p:tnLst>
      <p:par>
        <p:cTn id="1" dur="indefinite" restart="never" nodeType="tmRoot"/>
      </p:par>
    </p:tnLst>
  </p:timing>
</p:sld>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_Theme_pag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1888649</TotalTime>
  <Words>6400</Words>
  <Application>Microsoft Office PowerPoint</Application>
  <PresentationFormat>On-screen Show (4:3)</PresentationFormat>
  <Paragraphs>384</Paragraphs>
  <Slides>29</Slides>
  <Notes>15</Notes>
  <HiddenSlides>0</HiddenSlides>
  <MMClips>0</MMClips>
  <ScaleCrop>false</ScaleCrop>
  <HeadingPairs>
    <vt:vector size="8" baseType="variant">
      <vt:variant>
        <vt:lpstr>Fonts Used</vt:lpstr>
      </vt:variant>
      <vt:variant>
        <vt:i4>11</vt:i4>
      </vt:variant>
      <vt:variant>
        <vt:lpstr>Theme</vt:lpstr>
      </vt:variant>
      <vt:variant>
        <vt:i4>4</vt:i4>
      </vt:variant>
      <vt:variant>
        <vt:lpstr>Embedded OLE Servers</vt:lpstr>
      </vt:variant>
      <vt:variant>
        <vt:i4>1</vt:i4>
      </vt:variant>
      <vt:variant>
        <vt:lpstr>Slide Titles</vt:lpstr>
      </vt:variant>
      <vt:variant>
        <vt:i4>29</vt:i4>
      </vt:variant>
    </vt:vector>
  </HeadingPairs>
  <TitlesOfParts>
    <vt:vector size="45" baseType="lpstr">
      <vt:lpstr>Arial</vt:lpstr>
      <vt:lpstr>Arial Rounded MT Bold</vt:lpstr>
      <vt:lpstr>Calibri</vt:lpstr>
      <vt:lpstr>Courier New</vt:lpstr>
      <vt:lpstr>Georgia</vt:lpstr>
      <vt:lpstr>Rockwell</vt:lpstr>
      <vt:lpstr>Rockwell Condensed</vt:lpstr>
      <vt:lpstr>Times New Roman</vt:lpstr>
      <vt:lpstr>Verdana</vt:lpstr>
      <vt:lpstr>Wingdings</vt:lpstr>
      <vt:lpstr>Wingdings 3</vt:lpstr>
      <vt:lpstr>Custom Design</vt:lpstr>
      <vt:lpstr>CU_Theme_page</vt:lpstr>
      <vt:lpstr>1_Custom Design</vt:lpstr>
      <vt:lpstr>Ion</vt:lpstr>
      <vt:lpstr>Equation</vt:lpstr>
      <vt:lpstr>PowerPoint Presentation</vt:lpstr>
      <vt:lpstr>PowerPoint Presentation</vt:lpstr>
      <vt:lpstr>PowerPoint Presentation</vt:lpstr>
      <vt:lpstr>PowerPoint Presentation</vt:lpstr>
      <vt:lpstr>PowerPoint Presentation</vt:lpstr>
      <vt:lpstr>Introduction to AI</vt:lpstr>
      <vt:lpstr>History of AI</vt:lpstr>
      <vt:lpstr>History of AI – Cont’d</vt:lpstr>
      <vt:lpstr>History of AI – Cont’d</vt:lpstr>
      <vt:lpstr>PowerPoint Presentation</vt:lpstr>
      <vt:lpstr>PowerPoint Presentation</vt:lpstr>
      <vt:lpstr>Developments in AI</vt:lpstr>
      <vt:lpstr>Developments in AI – Cont’d</vt:lpstr>
      <vt:lpstr>Developments in AI – Cont’d</vt:lpstr>
      <vt:lpstr>PowerPoint Presentation</vt:lpstr>
      <vt:lpstr>PowerPoint Presentation</vt:lpstr>
      <vt:lpstr>PowerPoint Presentation</vt:lpstr>
      <vt:lpstr>PowerPoint Presentation</vt:lpstr>
      <vt:lpstr>The Physical Symbol System Hypothesis</vt:lpstr>
      <vt:lpstr>Underlying Assumption</vt:lpstr>
      <vt:lpstr>Importance of the PSS Hypothesis</vt:lpstr>
      <vt:lpstr>Good Old Fashioned Artificial Intelligence (GOFAI)</vt:lpstr>
      <vt:lpstr>Example of Logic Representation</vt:lpstr>
      <vt:lpstr>Problem with Logic</vt:lpstr>
      <vt:lpstr>The new AI:   Situated and Embodied Artficifial Intelligence (SEAI) </vt:lpstr>
      <vt:lpstr>Cognitive Incrementalism</vt:lpstr>
      <vt:lpstr>Mistaken Genius</vt:lpstr>
      <vt:lpstr>Artificial Life Systems</vt:lpstr>
      <vt:lpstr>Biologically Inspired AI</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Siphokazi Tswane</cp:lastModifiedBy>
  <cp:revision>244</cp:revision>
  <cp:lastPrinted>2015-08-03T07:22:59Z</cp:lastPrinted>
  <dcterms:created xsi:type="dcterms:W3CDTF">2014-01-31T21:42:27Z</dcterms:created>
  <dcterms:modified xsi:type="dcterms:W3CDTF">2021-03-12T08:14:16Z</dcterms:modified>
</cp:coreProperties>
</file>