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09" r:id="rId5"/>
    <p:sldMasterId id="2147483722" r:id="rId6"/>
    <p:sldMasterId id="2147483751" r:id="rId7"/>
  </p:sldMasterIdLst>
  <p:notesMasterIdLst>
    <p:notesMasterId r:id="rId33"/>
  </p:notesMasterIdLst>
  <p:handoutMasterIdLst>
    <p:handoutMasterId r:id="rId34"/>
  </p:handoutMasterIdLst>
  <p:sldIdLst>
    <p:sldId id="368" r:id="rId8"/>
    <p:sldId id="312" r:id="rId9"/>
    <p:sldId id="344" r:id="rId10"/>
    <p:sldId id="343" r:id="rId11"/>
    <p:sldId id="347" r:id="rId12"/>
    <p:sldId id="345" r:id="rId13"/>
    <p:sldId id="348" r:id="rId14"/>
    <p:sldId id="349" r:id="rId15"/>
    <p:sldId id="350" r:id="rId16"/>
    <p:sldId id="351" r:id="rId17"/>
    <p:sldId id="352" r:id="rId18"/>
    <p:sldId id="353" r:id="rId19"/>
    <p:sldId id="346" r:id="rId20"/>
    <p:sldId id="354" r:id="rId21"/>
    <p:sldId id="355" r:id="rId22"/>
    <p:sldId id="356" r:id="rId23"/>
    <p:sldId id="357" r:id="rId24"/>
    <p:sldId id="358" r:id="rId25"/>
    <p:sldId id="379" r:id="rId26"/>
    <p:sldId id="360" r:id="rId27"/>
    <p:sldId id="361" r:id="rId28"/>
    <p:sldId id="362" r:id="rId29"/>
    <p:sldId id="363" r:id="rId30"/>
    <p:sldId id="364" r:id="rId31"/>
    <p:sldId id="366" r:id="rId32"/>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0000"/>
    <a:srgbClr val="003399"/>
    <a:srgbClr val="FFFFFF"/>
    <a:srgbClr val="DDDDDD"/>
    <a:srgbClr val="662C5B"/>
    <a:srgbClr val="000000"/>
    <a:srgbClr val="660033"/>
    <a:srgbClr val="CC0066"/>
    <a:srgbClr val="CC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98" autoAdjust="0"/>
    <p:restoredTop sz="66339" autoAdjust="0"/>
  </p:normalViewPr>
  <p:slideViewPr>
    <p:cSldViewPr>
      <p:cViewPr varScale="1">
        <p:scale>
          <a:sx n="53" d="100"/>
          <a:sy n="53" d="100"/>
        </p:scale>
        <p:origin x="456" y="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handoutMaster" Target="handoutMasters/handoutMaster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viewProps" Target="viewProp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presProps" Target="presProps.xml"/><Relationship Id="rId8" Type="http://schemas.openxmlformats.org/officeDocument/2006/relationships/slide" Target="slides/slide1.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722F73B2-7CF1-4832-BF09-2E3D082F4856}" type="datetimeFigureOut">
              <a:rPr lang="en-US" smtClean="0"/>
              <a:pPr/>
              <a:t>3/19/2021</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4702B329-9B4F-43B9-920A-39268306AFA7}" type="slidenum">
              <a:rPr lang="en-US" smtClean="0"/>
              <a:pPr/>
              <a:t>‹#›</a:t>
            </a:fld>
            <a:endParaRPr lang="en-US" dirty="0"/>
          </a:p>
        </p:txBody>
      </p:sp>
    </p:spTree>
    <p:extLst>
      <p:ext uri="{BB962C8B-B14F-4D97-AF65-F5344CB8AC3E}">
        <p14:creationId xmlns:p14="http://schemas.microsoft.com/office/powerpoint/2010/main" val="1714263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GB" dirty="0"/>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FAEDA5C1-9818-47C9-A79E-B4D4158DD3E3}" type="datetimeFigureOut">
              <a:rPr lang="en-GB" smtClean="0"/>
              <a:pPr/>
              <a:t>19/Mar/21</a:t>
            </a:fld>
            <a:endParaRPr lang="en-GB" dirty="0"/>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GB"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GB"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9D498802-2017-4E9A-A8AF-781802F703C5}" type="slidenum">
              <a:rPr lang="en-GB" smtClean="0"/>
              <a:pPr/>
              <a:t>‹#›</a:t>
            </a:fld>
            <a:endParaRPr lang="en-GB" dirty="0"/>
          </a:p>
        </p:txBody>
      </p:sp>
    </p:spTree>
    <p:extLst>
      <p:ext uri="{BB962C8B-B14F-4D97-AF65-F5344CB8AC3E}">
        <p14:creationId xmlns:p14="http://schemas.microsoft.com/office/powerpoint/2010/main" val="3063224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sciencedirect.com/topics/mathematics/synaptic-connection"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sciencedirect.com/topics/mathematics/synaptic-connection"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s://en.wikipedia.org/wiki/Artificial_immune_system#cite_note-1" TargetMode="External"/><Relationship Id="rId3" Type="http://schemas.openxmlformats.org/officeDocument/2006/relationships/hyperlink" Target="https://en.wikipedia.org/wiki/Immune_system" TargetMode="External"/><Relationship Id="rId7" Type="http://schemas.openxmlformats.org/officeDocument/2006/relationships/hyperlink" Target="https://en.wikipedia.org/wiki/Artificial_Intelligence" TargetMode="External"/><Relationship Id="rId2" Type="http://schemas.openxmlformats.org/officeDocument/2006/relationships/slide" Target="../slides/slide13.xml"/><Relationship Id="rId1" Type="http://schemas.openxmlformats.org/officeDocument/2006/relationships/notesMaster" Target="../notesMasters/notesMaster1.xml"/><Relationship Id="rId6" Type="http://schemas.openxmlformats.org/officeDocument/2006/relationships/hyperlink" Target="https://en.wikipedia.org/wiki/Machine_Learning" TargetMode="External"/><Relationship Id="rId11" Type="http://schemas.openxmlformats.org/officeDocument/2006/relationships/hyperlink" Target="https://en.wikipedia.org/wiki/DNA_computing" TargetMode="External"/><Relationship Id="rId5" Type="http://schemas.openxmlformats.org/officeDocument/2006/relationships/hyperlink" Target="https://en.wikipedia.org/wiki/Natural_computation" TargetMode="External"/><Relationship Id="rId10" Type="http://schemas.openxmlformats.org/officeDocument/2006/relationships/hyperlink" Target="https://en.wikipedia.org/wiki/Theoretical_biology" TargetMode="External"/><Relationship Id="rId4" Type="http://schemas.openxmlformats.org/officeDocument/2006/relationships/hyperlink" Target="https://en.wikipedia.org/wiki/Biologically-inspired_computing" TargetMode="External"/><Relationship Id="rId9" Type="http://schemas.openxmlformats.org/officeDocument/2006/relationships/hyperlink" Target="https://en.wikipedia.org/wiki/Computational_immunology" TargetMode="External"/></Relationships>
</file>

<file path=ppt/notesSlides/_rels/notesSlide10.xml.rels><?xml version="1.0" encoding="UTF-8" standalone="yes"?>
<Relationships xmlns="http://schemas.openxmlformats.org/package/2006/relationships"><Relationship Id="rId8" Type="http://schemas.openxmlformats.org/officeDocument/2006/relationships/hyperlink" Target="https://en.wikipedia.org/wiki/Swarm_intelligence#cite_note-1" TargetMode="External"/><Relationship Id="rId13" Type="http://schemas.openxmlformats.org/officeDocument/2006/relationships/hyperlink" Target="https://en.wikipedia.org/wiki/Flocking_(behavior)" TargetMode="External"/><Relationship Id="rId18" Type="http://schemas.openxmlformats.org/officeDocument/2006/relationships/hyperlink" Target="https://en.wikipedia.org/wiki/Microbial_intelligence" TargetMode="External"/><Relationship Id="rId3" Type="http://schemas.openxmlformats.org/officeDocument/2006/relationships/hyperlink" Target="https://en.wikipedia.org/wiki/Collective_behavior" TargetMode="External"/><Relationship Id="rId21" Type="http://schemas.openxmlformats.org/officeDocument/2006/relationships/hyperlink" Target="https://en.wikipedia.org/wiki/Genetically_modified_organisms" TargetMode="External"/><Relationship Id="rId7" Type="http://schemas.openxmlformats.org/officeDocument/2006/relationships/hyperlink" Target="https://en.wikipedia.org/wiki/Gerardo_Beni" TargetMode="External"/><Relationship Id="rId12" Type="http://schemas.openxmlformats.org/officeDocument/2006/relationships/hyperlink" Target="https://en.wikipedia.org/wiki/Ant_colony" TargetMode="External"/><Relationship Id="rId17" Type="http://schemas.openxmlformats.org/officeDocument/2006/relationships/hyperlink" Target="https://en.wikipedia.org/wiki/Shoaling_and_schooling" TargetMode="External"/><Relationship Id="rId2" Type="http://schemas.openxmlformats.org/officeDocument/2006/relationships/slide" Target="../slides/slide15.xml"/><Relationship Id="rId16" Type="http://schemas.openxmlformats.org/officeDocument/2006/relationships/hyperlink" Target="https://en.wikipedia.org/wiki/Bacteria#Growth_and_reproduction" TargetMode="External"/><Relationship Id="rId20" Type="http://schemas.openxmlformats.org/officeDocument/2006/relationships/hyperlink" Target="https://en.wikipedia.org/wiki/Swarm_robotics" TargetMode="External"/><Relationship Id="rId1" Type="http://schemas.openxmlformats.org/officeDocument/2006/relationships/notesMaster" Target="../notesMasters/notesMaster1.xml"/><Relationship Id="rId6" Type="http://schemas.openxmlformats.org/officeDocument/2006/relationships/hyperlink" Target="https://en.wikipedia.org/wiki/Artificial_intelligence" TargetMode="External"/><Relationship Id="rId11" Type="http://schemas.openxmlformats.org/officeDocument/2006/relationships/hyperlink" Target="https://en.wikipedia.org/wiki/Emergence" TargetMode="External"/><Relationship Id="rId5" Type="http://schemas.openxmlformats.org/officeDocument/2006/relationships/hyperlink" Target="https://en.wikipedia.org/wiki/Self-organization" TargetMode="External"/><Relationship Id="rId15" Type="http://schemas.openxmlformats.org/officeDocument/2006/relationships/hyperlink" Target="https://en.wikipedia.org/wiki/Herding" TargetMode="External"/><Relationship Id="rId10" Type="http://schemas.openxmlformats.org/officeDocument/2006/relationships/hyperlink" Target="https://en.wikipedia.org/wiki/Boids" TargetMode="External"/><Relationship Id="rId19" Type="http://schemas.openxmlformats.org/officeDocument/2006/relationships/hyperlink" Target="https://en.wikipedia.org/wiki/Robot" TargetMode="External"/><Relationship Id="rId4" Type="http://schemas.openxmlformats.org/officeDocument/2006/relationships/hyperlink" Target="https://en.wikipedia.org/wiki/Decentralization" TargetMode="External"/><Relationship Id="rId9" Type="http://schemas.openxmlformats.org/officeDocument/2006/relationships/hyperlink" Target="https://en.wikipedia.org/wiki/Intelligent_agent" TargetMode="External"/><Relationship Id="rId14" Type="http://schemas.openxmlformats.org/officeDocument/2006/relationships/hyperlink" Target="https://en.wikipedia.org/wiki/Hunting" TargetMode="External"/><Relationship Id="rId22" Type="http://schemas.openxmlformats.org/officeDocument/2006/relationships/hyperlink" Target="https://en.wikipedia.org/wiki/Swarm_intelligence#cite_note-2" TargetMode="External"/></Relationships>
</file>

<file path=ppt/notesSlides/_rels/notesSlide11.xml.rels><?xml version="1.0" encoding="UTF-8" standalone="yes"?>
<Relationships xmlns="http://schemas.openxmlformats.org/package/2006/relationships"><Relationship Id="rId8" Type="http://schemas.openxmlformats.org/officeDocument/2006/relationships/hyperlink" Target="https://en.wikipedia.org/wiki/Multi-agent" TargetMode="External"/><Relationship Id="rId13" Type="http://schemas.openxmlformats.org/officeDocument/2006/relationships/hyperlink" Target="https://en.wikipedia.org/wiki/Routing" TargetMode="External"/><Relationship Id="rId3" Type="http://schemas.openxmlformats.org/officeDocument/2006/relationships/hyperlink" Target="https://en.wikipedia.org/wiki/Computer_science" TargetMode="External"/><Relationship Id="rId7" Type="http://schemas.openxmlformats.org/officeDocument/2006/relationships/hyperlink" Target="https://en.wikipedia.org/wiki/Graph_(discrete_mathematics)" TargetMode="External"/><Relationship Id="rId12" Type="http://schemas.openxmlformats.org/officeDocument/2006/relationships/hyperlink" Target="https://en.wikipedia.org/wiki/Vehicle_routing_problem" TargetMode="External"/><Relationship Id="rId2" Type="http://schemas.openxmlformats.org/officeDocument/2006/relationships/slide" Target="../slides/slide16.xml"/><Relationship Id="rId1" Type="http://schemas.openxmlformats.org/officeDocument/2006/relationships/notesMaster" Target="../notesMasters/notesMaster1.xml"/><Relationship Id="rId6" Type="http://schemas.openxmlformats.org/officeDocument/2006/relationships/hyperlink" Target="https://en.wikipedia.org/wiki/Probability" TargetMode="External"/><Relationship Id="rId11" Type="http://schemas.openxmlformats.org/officeDocument/2006/relationships/hyperlink" Target="https://en.wikipedia.org/wiki/Local_search_(optimization)" TargetMode="External"/><Relationship Id="rId5" Type="http://schemas.openxmlformats.org/officeDocument/2006/relationships/hyperlink" Target="https://en.wikipedia.org/wiki/Algorithm" TargetMode="External"/><Relationship Id="rId10" Type="http://schemas.openxmlformats.org/officeDocument/2006/relationships/hyperlink" Target="https://en.wikipedia.org/wiki/Ant_colony_optimization_algorithms#cite_note-2" TargetMode="External"/><Relationship Id="rId4" Type="http://schemas.openxmlformats.org/officeDocument/2006/relationships/hyperlink" Target="https://en.wikipedia.org/wiki/Operations_research" TargetMode="External"/><Relationship Id="rId9" Type="http://schemas.openxmlformats.org/officeDocument/2006/relationships/hyperlink" Target="https://en.wikipedia.org/wiki/Ant"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a:t>
            </a:fld>
            <a:endParaRPr lang="en-GB" dirty="0"/>
          </a:p>
        </p:txBody>
      </p:sp>
    </p:spTree>
    <p:extLst>
      <p:ext uri="{BB962C8B-B14F-4D97-AF65-F5344CB8AC3E}">
        <p14:creationId xmlns:p14="http://schemas.microsoft.com/office/powerpoint/2010/main" val="1004007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r>
              <a:rPr lang="en-US" b="1" dirty="0" smtClean="0"/>
              <a:t>A genetic algorithm is a heuristic search method used in artificial intelligence and computing.</a:t>
            </a:r>
          </a:p>
          <a:p>
            <a:endParaRPr lang="en-US" dirty="0" smtClean="0"/>
          </a:p>
          <a:p>
            <a:r>
              <a:rPr lang="en-US" sz="1200" b="0" i="0" kern="1200" dirty="0" smtClean="0">
                <a:solidFill>
                  <a:schemeClr val="tx1"/>
                </a:solidFill>
                <a:effectLst/>
                <a:latin typeface="+mn-lt"/>
                <a:ea typeface="+mn-ea"/>
                <a:cs typeface="+mn-cs"/>
              </a:rPr>
              <a:t>A </a:t>
            </a:r>
            <a:r>
              <a:rPr lang="en-US" sz="1200" b="1" i="0" kern="1200" dirty="0" smtClean="0">
                <a:solidFill>
                  <a:schemeClr val="tx1"/>
                </a:solidFill>
                <a:effectLst/>
                <a:latin typeface="+mn-lt"/>
                <a:ea typeface="+mn-ea"/>
                <a:cs typeface="+mn-cs"/>
              </a:rPr>
              <a:t>heuristic</a:t>
            </a:r>
            <a:r>
              <a:rPr lang="en-US" sz="1200" b="0" i="0" kern="1200" dirty="0" smtClean="0">
                <a:solidFill>
                  <a:schemeClr val="tx1"/>
                </a:solidFill>
                <a:effectLst/>
                <a:latin typeface="+mn-lt"/>
                <a:ea typeface="+mn-ea"/>
                <a:cs typeface="+mn-cs"/>
              </a:rPr>
              <a:t> is a mental shortcut that allows people to solve problems and make judgments quickly and efficiently. These rule-of-thumb strategies shorten decision-making time and allow people to function without constantly stopping to think about their next course of action.</a:t>
            </a:r>
          </a:p>
          <a:p>
            <a:endParaRPr lang="en-US" sz="1200" b="0" i="0" kern="1200" dirty="0" smtClean="0">
              <a:solidFill>
                <a:schemeClr val="tx1"/>
              </a:solidFill>
              <a:effectLst/>
              <a:latin typeface="+mn-lt"/>
              <a:ea typeface="+mn-ea"/>
              <a:cs typeface="+mn-cs"/>
            </a:endParaRPr>
          </a:p>
          <a:p>
            <a:r>
              <a:rPr lang="en-US" dirty="0" smtClean="0"/>
              <a:t>A genetic algorithm </a:t>
            </a:r>
            <a:r>
              <a:rPr lang="en-US" b="1" dirty="0" smtClean="0"/>
              <a:t>is used for finding optimized solutions to search problems based on the theory of natural selection and evolutionary biology. </a:t>
            </a:r>
            <a:r>
              <a:rPr lang="en-US" dirty="0" smtClean="0"/>
              <a:t>Genetic algorithms</a:t>
            </a:r>
            <a:r>
              <a:rPr lang="en-US" b="1" dirty="0" smtClean="0"/>
              <a:t> are excellent for searching through large and complex data sets. </a:t>
            </a:r>
            <a:endParaRPr lang="en-GB" b="1"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3</a:t>
            </a:fld>
            <a:endParaRPr lang="en-GB" dirty="0"/>
          </a:p>
        </p:txBody>
      </p:sp>
    </p:spTree>
    <p:extLst>
      <p:ext uri="{BB962C8B-B14F-4D97-AF65-F5344CB8AC3E}">
        <p14:creationId xmlns:p14="http://schemas.microsoft.com/office/powerpoint/2010/main" val="1444624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Bio informatics</a:t>
            </a:r>
            <a:r>
              <a:rPr lang="en-US" sz="1200" b="0" i="0" kern="1200" dirty="0" smtClean="0">
                <a:solidFill>
                  <a:schemeClr val="tx1"/>
                </a:solidFill>
                <a:effectLst/>
                <a:latin typeface="+mn-lt"/>
                <a:ea typeface="+mn-ea"/>
                <a:cs typeface="+mn-cs"/>
              </a:rPr>
              <a:t> is a science field that is similar to but distinct from biological computation, while it is often considered synonymous to computational biology. Biological computation uses bioengineering and biology to build biological computers, whereas </a:t>
            </a:r>
            <a:r>
              <a:rPr lang="en-US" sz="1200" b="1" i="0" kern="1200" dirty="0" smtClean="0">
                <a:solidFill>
                  <a:schemeClr val="tx1"/>
                </a:solidFill>
                <a:effectLst/>
                <a:latin typeface="+mn-lt"/>
                <a:ea typeface="+mn-ea"/>
                <a:cs typeface="+mn-cs"/>
              </a:rPr>
              <a:t>bioinformatics</a:t>
            </a:r>
            <a:r>
              <a:rPr lang="en-US" sz="1200" b="0" i="0" kern="1200" dirty="0" smtClean="0">
                <a:solidFill>
                  <a:schemeClr val="tx1"/>
                </a:solidFill>
                <a:effectLst/>
                <a:latin typeface="+mn-lt"/>
                <a:ea typeface="+mn-ea"/>
                <a:cs typeface="+mn-cs"/>
              </a:rPr>
              <a:t> uses computation to better understand biology</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6</a:t>
            </a:fld>
            <a:endParaRPr lang="en-GB" dirty="0"/>
          </a:p>
        </p:txBody>
      </p:sp>
    </p:spTree>
    <p:extLst>
      <p:ext uri="{BB962C8B-B14F-4D97-AF65-F5344CB8AC3E}">
        <p14:creationId xmlns:p14="http://schemas.microsoft.com/office/powerpoint/2010/main" val="42297363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An </a:t>
            </a:r>
            <a:r>
              <a:rPr lang="en-US" sz="1200" b="1" i="0" kern="1200" dirty="0" smtClean="0">
                <a:solidFill>
                  <a:schemeClr val="tx1"/>
                </a:solidFill>
                <a:effectLst/>
                <a:latin typeface="+mn-lt"/>
                <a:ea typeface="+mn-ea"/>
                <a:cs typeface="+mn-cs"/>
              </a:rPr>
              <a:t>artificial neural network</a:t>
            </a:r>
            <a:r>
              <a:rPr lang="en-US" sz="1200" b="0" i="0" kern="1200" dirty="0" smtClean="0">
                <a:solidFill>
                  <a:schemeClr val="tx1"/>
                </a:solidFill>
                <a:effectLst/>
                <a:latin typeface="+mn-lt"/>
                <a:ea typeface="+mn-ea"/>
                <a:cs typeface="+mn-cs"/>
              </a:rPr>
              <a:t> (ANN) is the piece of </a:t>
            </a:r>
            <a:r>
              <a:rPr lang="en-US" sz="1200" b="1" i="0" kern="1200" dirty="0" smtClean="0">
                <a:solidFill>
                  <a:schemeClr val="tx1"/>
                </a:solidFill>
                <a:effectLst/>
                <a:latin typeface="+mn-lt"/>
                <a:ea typeface="+mn-ea"/>
                <a:cs typeface="+mn-cs"/>
              </a:rPr>
              <a:t>a</a:t>
            </a:r>
            <a:r>
              <a:rPr lang="en-US" sz="1200" b="0" i="0" kern="1200" dirty="0" smtClean="0">
                <a:solidFill>
                  <a:schemeClr val="tx1"/>
                </a:solidFill>
                <a:effectLst/>
                <a:latin typeface="+mn-lt"/>
                <a:ea typeface="+mn-ea"/>
                <a:cs typeface="+mn-cs"/>
              </a:rPr>
              <a:t> computing system information processing model that is inspired by the way biological nervous systems, such as the brain</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designed to simulate the way the human brain analyzes and processes information.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An </a:t>
            </a:r>
            <a:r>
              <a:rPr lang="en-US" sz="1200" b="1" i="0" kern="1200" dirty="0" smtClean="0">
                <a:solidFill>
                  <a:schemeClr val="tx1"/>
                </a:solidFill>
                <a:effectLst/>
                <a:latin typeface="+mn-lt"/>
                <a:ea typeface="+mn-ea"/>
                <a:cs typeface="+mn-cs"/>
              </a:rPr>
              <a:t>artificial neural network</a:t>
            </a:r>
            <a:r>
              <a:rPr lang="en-US" sz="1200" b="0" i="0" kern="1200" dirty="0" smtClean="0">
                <a:solidFill>
                  <a:schemeClr val="tx1"/>
                </a:solidFill>
                <a:effectLst/>
                <a:latin typeface="+mn-lt"/>
                <a:ea typeface="+mn-ea"/>
                <a:cs typeface="+mn-cs"/>
              </a:rPr>
              <a:t> uses</a:t>
            </a:r>
            <a:r>
              <a:rPr lang="en-US" sz="1200" b="0" i="0" kern="1200" baseline="0" dirty="0" smtClean="0">
                <a:solidFill>
                  <a:schemeClr val="tx1"/>
                </a:solidFill>
                <a:effectLst/>
                <a:latin typeface="+mn-lt"/>
                <a:ea typeface="+mn-ea"/>
                <a:cs typeface="+mn-cs"/>
              </a:rPr>
              <a:t> </a:t>
            </a:r>
            <a:r>
              <a:rPr lang="en-US" sz="1200" b="0" i="0" kern="1200" dirty="0" smtClean="0">
                <a:solidFill>
                  <a:schemeClr val="tx1"/>
                </a:solidFill>
                <a:effectLst/>
                <a:latin typeface="+mn-lt"/>
                <a:ea typeface="+mn-ea"/>
                <a:cs typeface="+mn-cs"/>
              </a:rPr>
              <a:t>COMPUTATIONAL</a:t>
            </a:r>
            <a:r>
              <a:rPr lang="en-US" sz="1200" b="0" i="0" kern="1200" baseline="0" dirty="0" smtClean="0">
                <a:solidFill>
                  <a:schemeClr val="tx1"/>
                </a:solidFill>
                <a:effectLst/>
                <a:latin typeface="+mn-lt"/>
                <a:ea typeface="+mn-ea"/>
                <a:cs typeface="+mn-cs"/>
              </a:rPr>
              <a:t> NODES in an</a:t>
            </a:r>
            <a:r>
              <a:rPr lang="en-US" sz="1200" b="0" i="0" kern="1200" dirty="0" smtClean="0">
                <a:solidFill>
                  <a:schemeClr val="tx1"/>
                </a:solidFill>
                <a:effectLst/>
                <a:latin typeface="+mn-lt"/>
                <a:ea typeface="+mn-ea"/>
                <a:cs typeface="+mn-cs"/>
              </a:rPr>
              <a:t> attempt to simulate the </a:t>
            </a:r>
            <a:r>
              <a:rPr lang="en-US" sz="1200" b="1" i="0" kern="1200" dirty="0" smtClean="0">
                <a:solidFill>
                  <a:schemeClr val="tx1"/>
                </a:solidFill>
                <a:effectLst/>
                <a:latin typeface="+mn-lt"/>
                <a:ea typeface="+mn-ea"/>
                <a:cs typeface="+mn-cs"/>
              </a:rPr>
              <a:t>network</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neurons </a:t>
            </a:r>
            <a:r>
              <a:rPr lang="en-US" sz="1200" b="0" i="0" kern="1200" dirty="0" smtClean="0">
                <a:solidFill>
                  <a:schemeClr val="tx1"/>
                </a:solidFill>
                <a:effectLst/>
                <a:latin typeface="+mn-lt"/>
                <a:ea typeface="+mn-ea"/>
                <a:cs typeface="+mn-cs"/>
              </a:rPr>
              <a:t>that make up a human brain so that the computer will be able to learn things and make decisions in a humanlike manner. ANNs are created by programming regular computers to behave as though they are interconnected brain cells.</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ANN is the foundation of </a:t>
            </a:r>
            <a:r>
              <a:rPr lang="en-US" sz="1200" b="1" i="0" kern="1200" dirty="0" smtClean="0">
                <a:solidFill>
                  <a:schemeClr val="tx1"/>
                </a:solidFill>
                <a:effectLst/>
                <a:latin typeface="+mn-lt"/>
                <a:ea typeface="+mn-ea"/>
                <a:cs typeface="+mn-cs"/>
              </a:rPr>
              <a:t>artificial</a:t>
            </a:r>
            <a:r>
              <a:rPr lang="en-US" sz="1200" b="0" i="0" kern="1200" dirty="0" smtClean="0">
                <a:solidFill>
                  <a:schemeClr val="tx1"/>
                </a:solidFill>
                <a:effectLst/>
                <a:latin typeface="+mn-lt"/>
                <a:ea typeface="+mn-ea"/>
                <a:cs typeface="+mn-cs"/>
              </a:rPr>
              <a:t> intelligence (AI) and solves problems that would prove impossible or difficult by human or statistical standards. </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It helps you to build predictive models from large databases. This model builds upon the human nervous system. It helps you to conduct image understanding, human learning, computer speech, etc.</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7</a:t>
            </a:fld>
            <a:endParaRPr lang="en-GB" dirty="0"/>
          </a:p>
        </p:txBody>
      </p:sp>
    </p:spTree>
    <p:extLst>
      <p:ext uri="{BB962C8B-B14F-4D97-AF65-F5344CB8AC3E}">
        <p14:creationId xmlns:p14="http://schemas.microsoft.com/office/powerpoint/2010/main" val="3187969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Processing elements (also known as either a </a:t>
            </a:r>
            <a:r>
              <a:rPr lang="en-US" sz="1200" b="0" i="0" kern="1200" dirty="0" err="1" smtClean="0">
                <a:solidFill>
                  <a:schemeClr val="tx1"/>
                </a:solidFill>
                <a:effectLst/>
                <a:latin typeface="+mn-lt"/>
                <a:ea typeface="+mn-ea"/>
                <a:cs typeface="+mn-cs"/>
              </a:rPr>
              <a:t>neurode</a:t>
            </a:r>
            <a:r>
              <a:rPr lang="en-US" sz="1200" b="0" i="0" kern="1200" dirty="0" smtClean="0">
                <a:solidFill>
                  <a:schemeClr val="tx1"/>
                </a:solidFill>
                <a:effectLst/>
                <a:latin typeface="+mn-lt"/>
                <a:ea typeface="+mn-ea"/>
                <a:cs typeface="+mn-cs"/>
              </a:rPr>
              <a:t> or perceptron) are connected to other processing elements. Typically the </a:t>
            </a:r>
            <a:r>
              <a:rPr lang="en-US" sz="1200" b="0" i="0" kern="1200" dirty="0" err="1" smtClean="0">
                <a:solidFill>
                  <a:schemeClr val="tx1"/>
                </a:solidFill>
                <a:effectLst/>
                <a:latin typeface="+mn-lt"/>
                <a:ea typeface="+mn-ea"/>
                <a:cs typeface="+mn-cs"/>
              </a:rPr>
              <a:t>neurodes</a:t>
            </a:r>
            <a:r>
              <a:rPr lang="en-US" sz="1200" b="0" i="0" kern="1200" dirty="0" smtClean="0">
                <a:solidFill>
                  <a:schemeClr val="tx1"/>
                </a:solidFill>
                <a:effectLst/>
                <a:latin typeface="+mn-lt"/>
                <a:ea typeface="+mn-ea"/>
                <a:cs typeface="+mn-cs"/>
              </a:rPr>
              <a:t> are arranged in a layer or vector, with the output of one layer serving as the input to the next layer and possibly other layers. A </a:t>
            </a:r>
            <a:r>
              <a:rPr lang="en-US" sz="1200" b="0" i="0" kern="1200" dirty="0" err="1" smtClean="0">
                <a:solidFill>
                  <a:schemeClr val="tx1"/>
                </a:solidFill>
                <a:effectLst/>
                <a:latin typeface="+mn-lt"/>
                <a:ea typeface="+mn-ea"/>
                <a:cs typeface="+mn-cs"/>
              </a:rPr>
              <a:t>neurode</a:t>
            </a:r>
            <a:r>
              <a:rPr lang="en-US" sz="1200" b="0" i="0" kern="1200" dirty="0" smtClean="0">
                <a:solidFill>
                  <a:schemeClr val="tx1"/>
                </a:solidFill>
                <a:effectLst/>
                <a:latin typeface="+mn-lt"/>
                <a:ea typeface="+mn-ea"/>
                <a:cs typeface="+mn-cs"/>
              </a:rPr>
              <a:t> may be connected to all or a subset of the </a:t>
            </a:r>
            <a:r>
              <a:rPr lang="en-US" sz="1200" b="0" i="0" kern="1200" dirty="0" err="1" smtClean="0">
                <a:solidFill>
                  <a:schemeClr val="tx1"/>
                </a:solidFill>
                <a:effectLst/>
                <a:latin typeface="+mn-lt"/>
                <a:ea typeface="+mn-ea"/>
                <a:cs typeface="+mn-cs"/>
              </a:rPr>
              <a:t>neurodes</a:t>
            </a:r>
            <a:r>
              <a:rPr lang="en-US" sz="1200" b="0" i="0" kern="1200" dirty="0" smtClean="0">
                <a:solidFill>
                  <a:schemeClr val="tx1"/>
                </a:solidFill>
                <a:effectLst/>
                <a:latin typeface="+mn-lt"/>
                <a:ea typeface="+mn-ea"/>
                <a:cs typeface="+mn-cs"/>
              </a:rPr>
              <a:t> in the subsequent layer, with these connections simulating the </a:t>
            </a:r>
            <a:r>
              <a:rPr lang="en-US" sz="1200" b="0" i="0" u="none" strike="noStrike" kern="1200" dirty="0" smtClean="0">
                <a:solidFill>
                  <a:schemeClr val="tx1"/>
                </a:solidFill>
                <a:effectLst/>
                <a:latin typeface="+mn-lt"/>
                <a:ea typeface="+mn-ea"/>
                <a:cs typeface="+mn-cs"/>
                <a:hlinkClick r:id="rId3" tooltip="Learn more about Synaptic Connection from ScienceDirect's AI-generated Topic Pages"/>
              </a:rPr>
              <a:t>synaptic connections</a:t>
            </a:r>
            <a:r>
              <a:rPr lang="en-US" sz="1200" b="0" i="0" kern="1200" dirty="0" smtClean="0">
                <a:solidFill>
                  <a:schemeClr val="tx1"/>
                </a:solidFill>
                <a:effectLst/>
                <a:latin typeface="+mn-lt"/>
                <a:ea typeface="+mn-ea"/>
                <a:cs typeface="+mn-cs"/>
              </a:rPr>
              <a:t> of the brain. Weighted data signals entering a </a:t>
            </a:r>
            <a:r>
              <a:rPr lang="en-US" sz="1200" b="0" i="0" kern="1200" dirty="0" err="1" smtClean="0">
                <a:solidFill>
                  <a:schemeClr val="tx1"/>
                </a:solidFill>
                <a:effectLst/>
                <a:latin typeface="+mn-lt"/>
                <a:ea typeface="+mn-ea"/>
                <a:cs typeface="+mn-cs"/>
              </a:rPr>
              <a:t>neurode</a:t>
            </a:r>
            <a:r>
              <a:rPr lang="en-US" sz="1200" b="0" i="0" kern="1200" dirty="0" smtClean="0">
                <a:solidFill>
                  <a:schemeClr val="tx1"/>
                </a:solidFill>
                <a:effectLst/>
                <a:latin typeface="+mn-lt"/>
                <a:ea typeface="+mn-ea"/>
                <a:cs typeface="+mn-cs"/>
              </a:rPr>
              <a:t> simulate the electrical excitation of a nerve cell and consequently the transference of information within the network or brain. The input values to a processing element, </a:t>
            </a:r>
            <a:r>
              <a:rPr lang="en-US" sz="1200" b="0" i="1" kern="1200" dirty="0" smtClean="0">
                <a:solidFill>
                  <a:schemeClr val="tx1"/>
                </a:solidFill>
                <a:effectLst/>
                <a:latin typeface="+mn-lt"/>
                <a:ea typeface="+mn-ea"/>
                <a:cs typeface="+mn-cs"/>
              </a:rPr>
              <a:t>i</a:t>
            </a:r>
            <a:r>
              <a:rPr lang="en-US" sz="1200" b="0" i="1" kern="1200" baseline="-25000" dirty="0" smtClean="0">
                <a:solidFill>
                  <a:schemeClr val="tx1"/>
                </a:solidFill>
                <a:effectLst/>
                <a:latin typeface="+mn-lt"/>
                <a:ea typeface="+mn-ea"/>
                <a:cs typeface="+mn-cs"/>
              </a:rPr>
              <a:t>n</a:t>
            </a:r>
            <a:r>
              <a:rPr lang="en-US" sz="1200" b="0" i="0" kern="1200" dirty="0" smtClean="0">
                <a:solidFill>
                  <a:schemeClr val="tx1"/>
                </a:solidFill>
                <a:effectLst/>
                <a:latin typeface="+mn-lt"/>
                <a:ea typeface="+mn-ea"/>
                <a:cs typeface="+mn-cs"/>
              </a:rPr>
              <a:t>, are multiplied by a connection weight, </a:t>
            </a:r>
            <a:r>
              <a:rPr lang="en-US" sz="1200" b="0" i="1" kern="1200" dirty="0" err="1" smtClean="0">
                <a:solidFill>
                  <a:schemeClr val="tx1"/>
                </a:solidFill>
                <a:effectLst/>
                <a:latin typeface="+mn-lt"/>
                <a:ea typeface="+mn-ea"/>
                <a:cs typeface="+mn-cs"/>
              </a:rPr>
              <a:t>w</a:t>
            </a:r>
            <a:r>
              <a:rPr lang="en-US" sz="1200" b="0" i="1" kern="1200" baseline="-25000" dirty="0" err="1" smtClean="0">
                <a:solidFill>
                  <a:schemeClr val="tx1"/>
                </a:solidFill>
                <a:effectLst/>
                <a:latin typeface="+mn-lt"/>
                <a:ea typeface="+mn-ea"/>
                <a:cs typeface="+mn-cs"/>
              </a:rPr>
              <a:t>n,m</a:t>
            </a:r>
            <a:r>
              <a:rPr lang="en-US" sz="1200" b="0" i="0" kern="1200" dirty="0" smtClean="0">
                <a:solidFill>
                  <a:schemeClr val="tx1"/>
                </a:solidFill>
                <a:effectLst/>
                <a:latin typeface="+mn-lt"/>
                <a:ea typeface="+mn-ea"/>
                <a:cs typeface="+mn-cs"/>
              </a:rPr>
              <a:t>, that simulates the strengthening of neural pathways in the brain. It is through the adjustment of the connection strengths or weights that learning is emulated in ANNs.</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9</a:t>
            </a:fld>
            <a:endParaRPr lang="en-GB" dirty="0"/>
          </a:p>
        </p:txBody>
      </p:sp>
    </p:spTree>
    <p:extLst>
      <p:ext uri="{BB962C8B-B14F-4D97-AF65-F5344CB8AC3E}">
        <p14:creationId xmlns:p14="http://schemas.microsoft.com/office/powerpoint/2010/main" val="554416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ANN has processing elements (also known as either a </a:t>
            </a:r>
            <a:r>
              <a:rPr lang="en-US" sz="1200" b="0" i="0" kern="1200" dirty="0" err="1" smtClean="0">
                <a:solidFill>
                  <a:schemeClr val="tx1"/>
                </a:solidFill>
                <a:effectLst/>
                <a:latin typeface="+mn-lt"/>
                <a:ea typeface="+mn-ea"/>
                <a:cs typeface="+mn-cs"/>
              </a:rPr>
              <a:t>neurode</a:t>
            </a:r>
            <a:r>
              <a:rPr lang="en-US" sz="1200" b="0" i="0" kern="1200" dirty="0" smtClean="0">
                <a:solidFill>
                  <a:schemeClr val="tx1"/>
                </a:solidFill>
                <a:effectLst/>
                <a:latin typeface="+mn-lt"/>
                <a:ea typeface="+mn-ea"/>
                <a:cs typeface="+mn-cs"/>
              </a:rPr>
              <a:t> or perceptron) are connected to other processing elements. </a:t>
            </a:r>
            <a:r>
              <a:rPr lang="en-US" sz="1200" b="1" i="0" kern="1200" dirty="0" smtClean="0">
                <a:solidFill>
                  <a:schemeClr val="tx1"/>
                </a:solidFill>
                <a:effectLst/>
                <a:latin typeface="+mn-lt"/>
                <a:ea typeface="+mn-ea"/>
                <a:cs typeface="+mn-cs"/>
              </a:rPr>
              <a:t>Typically the </a:t>
            </a:r>
            <a:r>
              <a:rPr lang="en-US" sz="1200" b="1" i="0" kern="1200" dirty="0" err="1" smtClean="0">
                <a:solidFill>
                  <a:schemeClr val="tx1"/>
                </a:solidFill>
                <a:effectLst/>
                <a:latin typeface="+mn-lt"/>
                <a:ea typeface="+mn-ea"/>
                <a:cs typeface="+mn-cs"/>
              </a:rPr>
              <a:t>neurodes</a:t>
            </a:r>
            <a:r>
              <a:rPr lang="en-US" sz="1200" b="1" i="0" kern="1200" dirty="0" smtClean="0">
                <a:solidFill>
                  <a:schemeClr val="tx1"/>
                </a:solidFill>
                <a:effectLst/>
                <a:latin typeface="+mn-lt"/>
                <a:ea typeface="+mn-ea"/>
                <a:cs typeface="+mn-cs"/>
              </a:rPr>
              <a:t> are arranged in a layer or vector, with the output of one layer serving as the input to the next layer and possibly other layers. A </a:t>
            </a:r>
            <a:r>
              <a:rPr lang="en-US" sz="1200" b="1" i="0" kern="1200" dirty="0" err="1" smtClean="0">
                <a:solidFill>
                  <a:schemeClr val="tx1"/>
                </a:solidFill>
                <a:effectLst/>
                <a:latin typeface="+mn-lt"/>
                <a:ea typeface="+mn-ea"/>
                <a:cs typeface="+mn-cs"/>
              </a:rPr>
              <a:t>neurode</a:t>
            </a:r>
            <a:r>
              <a:rPr lang="en-US" sz="1200" b="1" i="0" kern="1200" dirty="0" smtClean="0">
                <a:solidFill>
                  <a:schemeClr val="tx1"/>
                </a:solidFill>
                <a:effectLst/>
                <a:latin typeface="+mn-lt"/>
                <a:ea typeface="+mn-ea"/>
                <a:cs typeface="+mn-cs"/>
              </a:rPr>
              <a:t> may be connected to all or a subset of the </a:t>
            </a:r>
            <a:r>
              <a:rPr lang="en-US" sz="1200" b="1" i="0" kern="1200" dirty="0" err="1" smtClean="0">
                <a:solidFill>
                  <a:schemeClr val="tx1"/>
                </a:solidFill>
                <a:effectLst/>
                <a:latin typeface="+mn-lt"/>
                <a:ea typeface="+mn-ea"/>
                <a:cs typeface="+mn-cs"/>
              </a:rPr>
              <a:t>neurodes</a:t>
            </a:r>
            <a:r>
              <a:rPr lang="en-US" sz="1200" b="1" i="0" kern="1200" dirty="0" smtClean="0">
                <a:solidFill>
                  <a:schemeClr val="tx1"/>
                </a:solidFill>
                <a:effectLst/>
                <a:latin typeface="+mn-lt"/>
                <a:ea typeface="+mn-ea"/>
                <a:cs typeface="+mn-cs"/>
              </a:rPr>
              <a:t> in the subsequent layer, with these connections simulating the </a:t>
            </a:r>
            <a:r>
              <a:rPr lang="en-US" sz="1200" b="1" i="0" u="none" strike="noStrike" kern="1200" dirty="0" smtClean="0">
                <a:solidFill>
                  <a:schemeClr val="tx1"/>
                </a:solidFill>
                <a:effectLst/>
                <a:latin typeface="+mn-lt"/>
                <a:ea typeface="+mn-ea"/>
                <a:cs typeface="+mn-cs"/>
                <a:hlinkClick r:id="rId3" tooltip="Learn more about Synaptic Connection from ScienceDirect's AI-generated Topic Pages"/>
              </a:rPr>
              <a:t>synaptic connections</a:t>
            </a:r>
            <a:r>
              <a:rPr lang="en-US" sz="1200" b="1" i="0" kern="1200" dirty="0" smtClean="0">
                <a:solidFill>
                  <a:schemeClr val="tx1"/>
                </a:solidFill>
                <a:effectLst/>
                <a:latin typeface="+mn-lt"/>
                <a:ea typeface="+mn-ea"/>
                <a:cs typeface="+mn-cs"/>
              </a:rPr>
              <a:t> of the brain. </a:t>
            </a:r>
            <a:r>
              <a:rPr lang="en-US" sz="1200" b="0" i="0" kern="1200" dirty="0" smtClean="0">
                <a:solidFill>
                  <a:schemeClr val="tx1"/>
                </a:solidFill>
                <a:effectLst/>
                <a:latin typeface="+mn-lt"/>
                <a:ea typeface="+mn-ea"/>
                <a:cs typeface="+mn-cs"/>
              </a:rPr>
              <a:t>Weighted data signals entering a </a:t>
            </a:r>
            <a:r>
              <a:rPr lang="en-US" sz="1200" b="0" i="0" kern="1200" dirty="0" err="1" smtClean="0">
                <a:solidFill>
                  <a:schemeClr val="tx1"/>
                </a:solidFill>
                <a:effectLst/>
                <a:latin typeface="+mn-lt"/>
                <a:ea typeface="+mn-ea"/>
                <a:cs typeface="+mn-cs"/>
              </a:rPr>
              <a:t>neurode</a:t>
            </a:r>
            <a:r>
              <a:rPr lang="en-US" sz="1200" b="0" i="0" kern="1200" dirty="0" smtClean="0">
                <a:solidFill>
                  <a:schemeClr val="tx1"/>
                </a:solidFill>
                <a:effectLst/>
                <a:latin typeface="+mn-lt"/>
                <a:ea typeface="+mn-ea"/>
                <a:cs typeface="+mn-cs"/>
              </a:rPr>
              <a:t> simulate the electrical excitation of a nerve cell and consequently the transference of information within the network or brain. The input values to a processing element, </a:t>
            </a:r>
            <a:r>
              <a:rPr lang="en-US" sz="1200" b="0" i="1" kern="1200" dirty="0" smtClean="0">
                <a:solidFill>
                  <a:schemeClr val="tx1"/>
                </a:solidFill>
                <a:effectLst/>
                <a:latin typeface="+mn-lt"/>
                <a:ea typeface="+mn-ea"/>
                <a:cs typeface="+mn-cs"/>
              </a:rPr>
              <a:t>i</a:t>
            </a:r>
            <a:r>
              <a:rPr lang="en-US" sz="1200" b="0" i="1" kern="1200" baseline="-25000" dirty="0" smtClean="0">
                <a:solidFill>
                  <a:schemeClr val="tx1"/>
                </a:solidFill>
                <a:effectLst/>
                <a:latin typeface="+mn-lt"/>
                <a:ea typeface="+mn-ea"/>
                <a:cs typeface="+mn-cs"/>
              </a:rPr>
              <a:t>n</a:t>
            </a:r>
            <a:r>
              <a:rPr lang="en-US" sz="1200" b="0" i="0" kern="1200" dirty="0" smtClean="0">
                <a:solidFill>
                  <a:schemeClr val="tx1"/>
                </a:solidFill>
                <a:effectLst/>
                <a:latin typeface="+mn-lt"/>
                <a:ea typeface="+mn-ea"/>
                <a:cs typeface="+mn-cs"/>
              </a:rPr>
              <a:t>, are multiplied by a connection weight, </a:t>
            </a:r>
            <a:r>
              <a:rPr lang="en-US" sz="1200" b="0" i="1" kern="1200" dirty="0" err="1" smtClean="0">
                <a:solidFill>
                  <a:schemeClr val="tx1"/>
                </a:solidFill>
                <a:effectLst/>
                <a:latin typeface="+mn-lt"/>
                <a:ea typeface="+mn-ea"/>
                <a:cs typeface="+mn-cs"/>
              </a:rPr>
              <a:t>w</a:t>
            </a:r>
            <a:r>
              <a:rPr lang="en-US" sz="1200" b="0" i="1" kern="1200" baseline="-25000" dirty="0" err="1" smtClean="0">
                <a:solidFill>
                  <a:schemeClr val="tx1"/>
                </a:solidFill>
                <a:effectLst/>
                <a:latin typeface="+mn-lt"/>
                <a:ea typeface="+mn-ea"/>
                <a:cs typeface="+mn-cs"/>
              </a:rPr>
              <a:t>n,m</a:t>
            </a:r>
            <a:r>
              <a:rPr lang="en-US" sz="1200" b="0" i="0" kern="1200" dirty="0" smtClean="0">
                <a:solidFill>
                  <a:schemeClr val="tx1"/>
                </a:solidFill>
                <a:effectLst/>
                <a:latin typeface="+mn-lt"/>
                <a:ea typeface="+mn-ea"/>
                <a:cs typeface="+mn-cs"/>
              </a:rPr>
              <a:t>, that simulates the strengthening of neural pathways in the brain. It is through the adjustment of the connection strengths or weights that learning is emulated in ANNs.</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10</a:t>
            </a:fld>
            <a:endParaRPr lang="en-GB" dirty="0"/>
          </a:p>
        </p:txBody>
      </p:sp>
    </p:spTree>
    <p:extLst>
      <p:ext uri="{BB962C8B-B14F-4D97-AF65-F5344CB8AC3E}">
        <p14:creationId xmlns:p14="http://schemas.microsoft.com/office/powerpoint/2010/main" val="2271194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A neural network is a group of connected I/O units where each connection has a weight associated with its computer programs. </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11</a:t>
            </a:fld>
            <a:endParaRPr lang="en-GB" dirty="0"/>
          </a:p>
        </p:txBody>
      </p:sp>
    </p:spTree>
    <p:extLst>
      <p:ext uri="{BB962C8B-B14F-4D97-AF65-F5344CB8AC3E}">
        <p14:creationId xmlns:p14="http://schemas.microsoft.com/office/powerpoint/2010/main" val="909176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Back-propagation is the essence of neural net training. It is the method of fine-tuning the weights of a neural net based on the error rate obtained in the previous epoch (i.e., iteration). Proper tuning of the weights allows you to reduce error rates and to make the model reliable by increasing .</a:t>
            </a: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Backpropagation is a short form for "backward propagation of errors." It is a standard method of training artificial neural networks. This method helps to calculate the gradient of a loss function with respects to all the weights in the network. generalization</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12</a:t>
            </a:fld>
            <a:endParaRPr lang="en-GB" dirty="0"/>
          </a:p>
        </p:txBody>
      </p:sp>
    </p:spTree>
    <p:extLst>
      <p:ext uri="{BB962C8B-B14F-4D97-AF65-F5344CB8AC3E}">
        <p14:creationId xmlns:p14="http://schemas.microsoft.com/office/powerpoint/2010/main" val="41346436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field of Artificial Immune Systems (AIS) is concerned with abstracting the structure and function of the </a:t>
            </a:r>
            <a:r>
              <a:rPr lang="en-US" sz="1200" b="0" i="0" u="none" strike="noStrike" kern="1200" dirty="0" smtClean="0">
                <a:solidFill>
                  <a:schemeClr val="tx1"/>
                </a:solidFill>
                <a:effectLst/>
                <a:latin typeface="+mn-lt"/>
                <a:ea typeface="+mn-ea"/>
                <a:cs typeface="+mn-cs"/>
                <a:hlinkClick r:id="rId3" tooltip="Immune system"/>
              </a:rPr>
              <a:t>immune system</a:t>
            </a:r>
            <a:r>
              <a:rPr lang="en-US" sz="1200" b="0" i="0" kern="1200" dirty="0" smtClean="0">
                <a:solidFill>
                  <a:schemeClr val="tx1"/>
                </a:solidFill>
                <a:effectLst/>
                <a:latin typeface="+mn-lt"/>
                <a:ea typeface="+mn-ea"/>
                <a:cs typeface="+mn-cs"/>
              </a:rPr>
              <a:t> to computational systems, and investigating the application of these systems towards solving computational problems from mathematics, engineering, and information technology. AIS is a sub-field of </a:t>
            </a:r>
            <a:r>
              <a:rPr lang="en-US" sz="1200" b="0" i="0" u="none" strike="noStrike" kern="1200" dirty="0" smtClean="0">
                <a:solidFill>
                  <a:schemeClr val="tx1"/>
                </a:solidFill>
                <a:effectLst/>
                <a:latin typeface="+mn-lt"/>
                <a:ea typeface="+mn-ea"/>
                <a:cs typeface="+mn-cs"/>
                <a:hlinkClick r:id="rId4" tooltip="Biologically-inspired computing"/>
              </a:rPr>
              <a:t>Biologically-inspired computing</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5" tooltip="Natural computation"/>
              </a:rPr>
              <a:t>Natural computation</a:t>
            </a:r>
            <a:r>
              <a:rPr lang="en-US" sz="1200" b="0" i="0" kern="1200" dirty="0" smtClean="0">
                <a:solidFill>
                  <a:schemeClr val="tx1"/>
                </a:solidFill>
                <a:effectLst/>
                <a:latin typeface="+mn-lt"/>
                <a:ea typeface="+mn-ea"/>
                <a:cs typeface="+mn-cs"/>
              </a:rPr>
              <a:t>, with interests in </a:t>
            </a:r>
            <a:r>
              <a:rPr lang="en-US" sz="1200" b="0" i="0" u="none" strike="noStrike" kern="1200" dirty="0" smtClean="0">
                <a:solidFill>
                  <a:schemeClr val="tx1"/>
                </a:solidFill>
                <a:effectLst/>
                <a:latin typeface="+mn-lt"/>
                <a:ea typeface="+mn-ea"/>
                <a:cs typeface="+mn-cs"/>
                <a:hlinkClick r:id="rId6" tooltip="Machine Learning"/>
              </a:rPr>
              <a:t>Machine Learning</a:t>
            </a:r>
            <a:r>
              <a:rPr lang="en-US" sz="1200" b="0" i="0" kern="1200" dirty="0" smtClean="0">
                <a:solidFill>
                  <a:schemeClr val="tx1"/>
                </a:solidFill>
                <a:effectLst/>
                <a:latin typeface="+mn-lt"/>
                <a:ea typeface="+mn-ea"/>
                <a:cs typeface="+mn-cs"/>
              </a:rPr>
              <a:t> and belonging to the broader field of </a:t>
            </a:r>
            <a:r>
              <a:rPr lang="en-US" sz="1200" b="0" i="0" u="none" strike="noStrike" kern="1200" dirty="0" smtClean="0">
                <a:solidFill>
                  <a:schemeClr val="tx1"/>
                </a:solidFill>
                <a:effectLst/>
                <a:latin typeface="+mn-lt"/>
                <a:ea typeface="+mn-ea"/>
                <a:cs typeface="+mn-cs"/>
                <a:hlinkClick r:id="rId7" tooltip="Artificial Intelligence"/>
              </a:rPr>
              <a:t>Artificial Intelligence</a:t>
            </a:r>
            <a:r>
              <a:rPr lang="en-US" sz="1200" b="0" i="0" kern="1200" dirty="0" smtClean="0">
                <a:solidFill>
                  <a:schemeClr val="tx1"/>
                </a:solidFill>
                <a:effectLst/>
                <a:latin typeface="+mn-lt"/>
                <a:ea typeface="+mn-ea"/>
                <a:cs typeface="+mn-cs"/>
              </a:rPr>
              <a:t>.</a:t>
            </a:r>
          </a:p>
          <a:p>
            <a:r>
              <a:rPr lang="en-US" dirty="0" smtClean="0">
                <a:effectLst/>
              </a:rPr>
              <a:t>Artificial Immune Systems (AIS) are adaptive systems, inspired by theoretical immunology and observed immune functions, principles and models, which are applied to problem solving.</a:t>
            </a:r>
            <a:r>
              <a:rPr lang="en-US" sz="1200" b="0" i="0" u="none" strike="noStrike" kern="1200" baseline="30000" dirty="0" smtClean="0">
                <a:solidFill>
                  <a:schemeClr val="tx1"/>
                </a:solidFill>
                <a:effectLst/>
                <a:latin typeface="+mn-lt"/>
                <a:ea typeface="+mn-ea"/>
                <a:cs typeface="+mn-cs"/>
                <a:hlinkClick r:id="rId8"/>
              </a:rPr>
              <a:t>[1]</a:t>
            </a:r>
            <a:endParaRPr lang="en-US" dirty="0" smtClean="0">
              <a:effectLst/>
            </a:endParaRPr>
          </a:p>
          <a:p>
            <a:r>
              <a:rPr lang="en-US" sz="1200" b="0" i="0" kern="1200" dirty="0" smtClean="0">
                <a:solidFill>
                  <a:schemeClr val="tx1"/>
                </a:solidFill>
                <a:effectLst/>
                <a:latin typeface="+mn-lt"/>
                <a:ea typeface="+mn-ea"/>
                <a:cs typeface="+mn-cs"/>
              </a:rPr>
              <a:t>AIS is distinct from </a:t>
            </a:r>
            <a:r>
              <a:rPr lang="en-US" sz="1200" b="0" i="0" u="none" strike="noStrike" kern="1200" dirty="0" smtClean="0">
                <a:solidFill>
                  <a:schemeClr val="tx1"/>
                </a:solidFill>
                <a:effectLst/>
                <a:latin typeface="+mn-lt"/>
                <a:ea typeface="+mn-ea"/>
                <a:cs typeface="+mn-cs"/>
                <a:hlinkClick r:id="rId9" tooltip="Computational immunology"/>
              </a:rPr>
              <a:t>computational immunology</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10" tooltip="Theoretical biology"/>
              </a:rPr>
              <a:t>theoretical biology</a:t>
            </a:r>
            <a:r>
              <a:rPr lang="en-US" sz="1200" b="0" i="0" kern="1200" dirty="0" smtClean="0">
                <a:solidFill>
                  <a:schemeClr val="tx1"/>
                </a:solidFill>
                <a:effectLst/>
                <a:latin typeface="+mn-lt"/>
                <a:ea typeface="+mn-ea"/>
                <a:cs typeface="+mn-cs"/>
              </a:rPr>
              <a:t> that are concerned with simulating immunology using computational and mathematical models towards better understanding the immune system, although such models initiated the field of AIS and continue to provide a fertile ground for inspiration. Finally, the field of AIS is not concerned with the investigation of the immune system as a substrate for computation, unlike other fields such as </a:t>
            </a:r>
            <a:r>
              <a:rPr lang="en-US" sz="1200" b="0" i="0" u="none" strike="noStrike" kern="1200" dirty="0" smtClean="0">
                <a:solidFill>
                  <a:schemeClr val="tx1"/>
                </a:solidFill>
                <a:effectLst/>
                <a:latin typeface="+mn-lt"/>
                <a:ea typeface="+mn-ea"/>
                <a:cs typeface="+mn-cs"/>
                <a:hlinkClick r:id="rId11" tooltip="DNA computing"/>
              </a:rPr>
              <a:t>DNA computing</a:t>
            </a:r>
            <a:r>
              <a:rPr lang="en-US" sz="1200" b="0" i="0" kern="1200" dirty="0" smtClean="0">
                <a:solidFill>
                  <a:schemeClr val="tx1"/>
                </a:solidFill>
                <a:effectLst/>
                <a:latin typeface="+mn-lt"/>
                <a:ea typeface="+mn-ea"/>
                <a:cs typeface="+mn-cs"/>
              </a:rPr>
              <a:t>.</a:t>
            </a:r>
          </a:p>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13</a:t>
            </a:fld>
            <a:endParaRPr lang="en-GB" dirty="0"/>
          </a:p>
        </p:txBody>
      </p:sp>
    </p:spTree>
    <p:extLst>
      <p:ext uri="{BB962C8B-B14F-4D97-AF65-F5344CB8AC3E}">
        <p14:creationId xmlns:p14="http://schemas.microsoft.com/office/powerpoint/2010/main" val="21848805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mn-ea"/>
                <a:cs typeface="+mn-cs"/>
              </a:rPr>
              <a:t>Swarm intelligence</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SI</a:t>
            </a:r>
            <a:r>
              <a:rPr lang="en-US" sz="1200" b="0" i="0" kern="1200" dirty="0" smtClean="0">
                <a:solidFill>
                  <a:schemeClr val="tx1"/>
                </a:solidFill>
                <a:effectLst/>
                <a:latin typeface="+mn-lt"/>
                <a:ea typeface="+mn-ea"/>
                <a:cs typeface="+mn-cs"/>
              </a:rPr>
              <a:t>) is the </a:t>
            </a:r>
            <a:r>
              <a:rPr lang="en-US" sz="1200" b="0" i="0" u="none" strike="noStrike" kern="1200" dirty="0" smtClean="0">
                <a:solidFill>
                  <a:schemeClr val="tx1"/>
                </a:solidFill>
                <a:effectLst/>
                <a:latin typeface="+mn-lt"/>
                <a:ea typeface="+mn-ea"/>
                <a:cs typeface="+mn-cs"/>
                <a:hlinkClick r:id="rId3" tooltip="Collective behavior"/>
              </a:rPr>
              <a:t>collective behavior</a:t>
            </a:r>
            <a:r>
              <a:rPr lang="en-US" sz="1200" b="0" i="0" kern="1200" dirty="0" smtClean="0">
                <a:solidFill>
                  <a:schemeClr val="tx1"/>
                </a:solidFill>
                <a:effectLst/>
                <a:latin typeface="+mn-lt"/>
                <a:ea typeface="+mn-ea"/>
                <a:cs typeface="+mn-cs"/>
              </a:rPr>
              <a:t> of </a:t>
            </a:r>
            <a:r>
              <a:rPr lang="en-US" sz="1200" b="0" i="0" u="none" strike="noStrike" kern="1200" dirty="0" smtClean="0">
                <a:solidFill>
                  <a:schemeClr val="tx1"/>
                </a:solidFill>
                <a:effectLst/>
                <a:latin typeface="+mn-lt"/>
                <a:ea typeface="+mn-ea"/>
                <a:cs typeface="+mn-cs"/>
                <a:hlinkClick r:id="rId4" tooltip="Decentralization"/>
              </a:rPr>
              <a:t>decentralized</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5" tooltip="Self-organization"/>
              </a:rPr>
              <a:t>self-organized</a:t>
            </a:r>
            <a:r>
              <a:rPr lang="en-US" sz="1200" b="0" i="0" kern="1200" dirty="0" smtClean="0">
                <a:solidFill>
                  <a:schemeClr val="tx1"/>
                </a:solidFill>
                <a:effectLst/>
                <a:latin typeface="+mn-lt"/>
                <a:ea typeface="+mn-ea"/>
                <a:cs typeface="+mn-cs"/>
              </a:rPr>
              <a:t> systems, natural or artificial. The concept is employed in work on </a:t>
            </a:r>
            <a:r>
              <a:rPr lang="en-US" sz="1200" b="0" i="0" u="none" strike="noStrike" kern="1200" dirty="0" smtClean="0">
                <a:solidFill>
                  <a:schemeClr val="tx1"/>
                </a:solidFill>
                <a:effectLst/>
                <a:latin typeface="+mn-lt"/>
                <a:ea typeface="+mn-ea"/>
                <a:cs typeface="+mn-cs"/>
                <a:hlinkClick r:id="rId6" tooltip="Artificial intelligence"/>
              </a:rPr>
              <a:t>artificial intelligence</a:t>
            </a:r>
            <a:r>
              <a:rPr lang="en-US" sz="1200" b="0" i="0" kern="1200" dirty="0" smtClean="0">
                <a:solidFill>
                  <a:schemeClr val="tx1"/>
                </a:solidFill>
                <a:effectLst/>
                <a:latin typeface="+mn-lt"/>
                <a:ea typeface="+mn-ea"/>
                <a:cs typeface="+mn-cs"/>
              </a:rPr>
              <a:t>. The expression was introduced by </a:t>
            </a:r>
            <a:r>
              <a:rPr lang="en-US" sz="1200" b="0" i="0" u="none" strike="noStrike" kern="1200" dirty="0" smtClean="0">
                <a:solidFill>
                  <a:schemeClr val="tx1"/>
                </a:solidFill>
                <a:effectLst/>
                <a:latin typeface="+mn-lt"/>
                <a:ea typeface="+mn-ea"/>
                <a:cs typeface="+mn-cs"/>
                <a:hlinkClick r:id="rId7" tooltip="Gerardo Beni"/>
              </a:rPr>
              <a:t>Gerardo </a:t>
            </a:r>
            <a:r>
              <a:rPr lang="en-US" sz="1200" b="0" i="0" u="none" strike="noStrike" kern="1200" dirty="0" err="1" smtClean="0">
                <a:solidFill>
                  <a:schemeClr val="tx1"/>
                </a:solidFill>
                <a:effectLst/>
                <a:latin typeface="+mn-lt"/>
                <a:ea typeface="+mn-ea"/>
                <a:cs typeface="+mn-cs"/>
                <a:hlinkClick r:id="rId7" tooltip="Gerardo Beni"/>
              </a:rPr>
              <a:t>Beni</a:t>
            </a:r>
            <a:r>
              <a:rPr lang="en-US" sz="1200" b="0" i="0" kern="1200" dirty="0" smtClean="0">
                <a:solidFill>
                  <a:schemeClr val="tx1"/>
                </a:solidFill>
                <a:effectLst/>
                <a:latin typeface="+mn-lt"/>
                <a:ea typeface="+mn-ea"/>
                <a:cs typeface="+mn-cs"/>
              </a:rPr>
              <a:t> and Jing Wang in 1989, in the context of cellular robotic systems.</a:t>
            </a:r>
            <a:r>
              <a:rPr lang="en-US" sz="1200" b="0" i="0" u="none" strike="noStrike" kern="1200" baseline="30000" dirty="0" smtClean="0">
                <a:solidFill>
                  <a:schemeClr val="tx1"/>
                </a:solidFill>
                <a:effectLst/>
                <a:latin typeface="+mn-lt"/>
                <a:ea typeface="+mn-ea"/>
                <a:cs typeface="+mn-cs"/>
                <a:hlinkClick r:id="rId8"/>
              </a:rPr>
              <a:t>[1]</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SI systems consist typically of a population of simple </a:t>
            </a:r>
            <a:r>
              <a:rPr lang="en-US" sz="1200" b="0" i="0" u="none" strike="noStrike" kern="1200" dirty="0" smtClean="0">
                <a:solidFill>
                  <a:schemeClr val="tx1"/>
                </a:solidFill>
                <a:effectLst/>
                <a:latin typeface="+mn-lt"/>
                <a:ea typeface="+mn-ea"/>
                <a:cs typeface="+mn-cs"/>
                <a:hlinkClick r:id="rId9" tooltip="Intelligent agent"/>
              </a:rPr>
              <a:t>agents</a:t>
            </a:r>
            <a:r>
              <a:rPr lang="en-US" sz="1200" b="0" i="0" kern="1200" dirty="0" smtClean="0">
                <a:solidFill>
                  <a:schemeClr val="tx1"/>
                </a:solidFill>
                <a:effectLst/>
                <a:latin typeface="+mn-lt"/>
                <a:ea typeface="+mn-ea"/>
                <a:cs typeface="+mn-cs"/>
              </a:rPr>
              <a:t> or </a:t>
            </a:r>
            <a:r>
              <a:rPr lang="en-US" sz="1200" b="0" i="0" u="none" strike="noStrike" kern="1200" dirty="0" err="1" smtClean="0">
                <a:solidFill>
                  <a:schemeClr val="tx1"/>
                </a:solidFill>
                <a:effectLst/>
                <a:latin typeface="+mn-lt"/>
                <a:ea typeface="+mn-ea"/>
                <a:cs typeface="+mn-cs"/>
                <a:hlinkClick r:id="rId10" tooltip="Boids"/>
              </a:rPr>
              <a:t>boids</a:t>
            </a:r>
            <a:r>
              <a:rPr lang="en-US" sz="1200" b="0" i="0" kern="1200" dirty="0" smtClean="0">
                <a:solidFill>
                  <a:schemeClr val="tx1"/>
                </a:solidFill>
                <a:effectLst/>
                <a:latin typeface="+mn-lt"/>
                <a:ea typeface="+mn-ea"/>
                <a:cs typeface="+mn-cs"/>
              </a:rPr>
              <a:t> interacting locally with one another and with their environment. The inspiration often comes from nature, especially biological systems. The agents follow very simple rules, and although there is no centralized control structure dictating how individual agents should behave, local, and to a certain degree random, interactions between such agents lead to the </a:t>
            </a:r>
            <a:r>
              <a:rPr lang="en-US" sz="1200" b="0" i="0" u="none" strike="noStrike" kern="1200" dirty="0" smtClean="0">
                <a:solidFill>
                  <a:schemeClr val="tx1"/>
                </a:solidFill>
                <a:effectLst/>
                <a:latin typeface="+mn-lt"/>
                <a:ea typeface="+mn-ea"/>
                <a:cs typeface="+mn-cs"/>
                <a:hlinkClick r:id="rId11" tooltip="Emergence"/>
              </a:rPr>
              <a:t>emergence</a:t>
            </a:r>
            <a:r>
              <a:rPr lang="en-US" sz="1200" b="0" i="0" kern="1200" dirty="0" smtClean="0">
                <a:solidFill>
                  <a:schemeClr val="tx1"/>
                </a:solidFill>
                <a:effectLst/>
                <a:latin typeface="+mn-lt"/>
                <a:ea typeface="+mn-ea"/>
                <a:cs typeface="+mn-cs"/>
              </a:rPr>
              <a:t> of "intelligent" global behavior, unknown to the individual agents. Examples of swarm intelligence in natural systems include </a:t>
            </a:r>
            <a:r>
              <a:rPr lang="en-US" sz="1200" b="0" i="0" u="none" strike="noStrike" kern="1200" dirty="0" smtClean="0">
                <a:solidFill>
                  <a:schemeClr val="tx1"/>
                </a:solidFill>
                <a:effectLst/>
                <a:latin typeface="+mn-lt"/>
                <a:ea typeface="+mn-ea"/>
                <a:cs typeface="+mn-cs"/>
                <a:hlinkClick r:id="rId12" tooltip="Ant colony"/>
              </a:rPr>
              <a:t>ant colonies</a:t>
            </a:r>
            <a:r>
              <a:rPr lang="en-US" sz="1200" b="0" i="0" kern="1200" dirty="0" smtClean="0">
                <a:solidFill>
                  <a:schemeClr val="tx1"/>
                </a:solidFill>
                <a:effectLst/>
                <a:latin typeface="+mn-lt"/>
                <a:ea typeface="+mn-ea"/>
                <a:cs typeface="+mn-cs"/>
              </a:rPr>
              <a:t>, bird </a:t>
            </a:r>
            <a:r>
              <a:rPr lang="en-US" sz="1200" b="0" i="0" u="none" strike="noStrike" kern="1200" dirty="0" smtClean="0">
                <a:solidFill>
                  <a:schemeClr val="tx1"/>
                </a:solidFill>
                <a:effectLst/>
                <a:latin typeface="+mn-lt"/>
                <a:ea typeface="+mn-ea"/>
                <a:cs typeface="+mn-cs"/>
                <a:hlinkClick r:id="rId13" tooltip="Flocking (behavior)"/>
              </a:rPr>
              <a:t>flocking</a:t>
            </a:r>
            <a:r>
              <a:rPr lang="en-US" sz="1200" b="0" i="0" kern="1200" dirty="0" smtClean="0">
                <a:solidFill>
                  <a:schemeClr val="tx1"/>
                </a:solidFill>
                <a:effectLst/>
                <a:latin typeface="+mn-lt"/>
                <a:ea typeface="+mn-ea"/>
                <a:cs typeface="+mn-cs"/>
              </a:rPr>
              <a:t>, hawks </a:t>
            </a:r>
            <a:r>
              <a:rPr lang="en-US" sz="1200" b="0" i="0" u="none" strike="noStrike" kern="1200" dirty="0" smtClean="0">
                <a:solidFill>
                  <a:schemeClr val="tx1"/>
                </a:solidFill>
                <a:effectLst/>
                <a:latin typeface="+mn-lt"/>
                <a:ea typeface="+mn-ea"/>
                <a:cs typeface="+mn-cs"/>
                <a:hlinkClick r:id="rId14" tooltip="Hunting"/>
              </a:rPr>
              <a:t>hunting</a:t>
            </a:r>
            <a:r>
              <a:rPr lang="en-US" sz="1200" b="0" i="0" kern="1200" dirty="0" smtClean="0">
                <a:solidFill>
                  <a:schemeClr val="tx1"/>
                </a:solidFill>
                <a:effectLst/>
                <a:latin typeface="+mn-lt"/>
                <a:ea typeface="+mn-ea"/>
                <a:cs typeface="+mn-cs"/>
              </a:rPr>
              <a:t>, animal </a:t>
            </a:r>
            <a:r>
              <a:rPr lang="en-US" sz="1200" b="0" i="0" u="none" strike="noStrike" kern="1200" dirty="0" smtClean="0">
                <a:solidFill>
                  <a:schemeClr val="tx1"/>
                </a:solidFill>
                <a:effectLst/>
                <a:latin typeface="+mn-lt"/>
                <a:ea typeface="+mn-ea"/>
                <a:cs typeface="+mn-cs"/>
                <a:hlinkClick r:id="rId15" tooltip="Herding"/>
              </a:rPr>
              <a:t>herding</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16" tooltip="Bacteria"/>
              </a:rPr>
              <a:t>bacterial growth</a:t>
            </a:r>
            <a:r>
              <a:rPr lang="en-US" sz="1200" b="0" i="0" kern="1200" dirty="0" smtClean="0">
                <a:solidFill>
                  <a:schemeClr val="tx1"/>
                </a:solidFill>
                <a:effectLst/>
                <a:latin typeface="+mn-lt"/>
                <a:ea typeface="+mn-ea"/>
                <a:cs typeface="+mn-cs"/>
              </a:rPr>
              <a:t>, fish </a:t>
            </a:r>
            <a:r>
              <a:rPr lang="en-US" sz="1200" b="0" i="0" u="none" strike="noStrike" kern="1200" dirty="0" smtClean="0">
                <a:solidFill>
                  <a:schemeClr val="tx1"/>
                </a:solidFill>
                <a:effectLst/>
                <a:latin typeface="+mn-lt"/>
                <a:ea typeface="+mn-ea"/>
                <a:cs typeface="+mn-cs"/>
                <a:hlinkClick r:id="rId17" tooltip="Shoaling and schooling"/>
              </a:rPr>
              <a:t>schooling</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18" tooltip="Microbial intelligence"/>
              </a:rPr>
              <a:t>microbial intelligence</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The application of swarm principles to </a:t>
            </a:r>
            <a:r>
              <a:rPr lang="en-US" sz="1200" b="0" i="0" u="none" strike="noStrike" kern="1200" dirty="0" smtClean="0">
                <a:solidFill>
                  <a:schemeClr val="tx1"/>
                </a:solidFill>
                <a:effectLst/>
                <a:latin typeface="+mn-lt"/>
                <a:ea typeface="+mn-ea"/>
                <a:cs typeface="+mn-cs"/>
                <a:hlinkClick r:id="rId19" tooltip="Robot"/>
              </a:rPr>
              <a:t>robots</a:t>
            </a:r>
            <a:r>
              <a:rPr lang="en-US" sz="1200" b="0" i="0" kern="1200" dirty="0" smtClean="0">
                <a:solidFill>
                  <a:schemeClr val="tx1"/>
                </a:solidFill>
                <a:effectLst/>
                <a:latin typeface="+mn-lt"/>
                <a:ea typeface="+mn-ea"/>
                <a:cs typeface="+mn-cs"/>
              </a:rPr>
              <a:t> is called </a:t>
            </a:r>
            <a:r>
              <a:rPr lang="en-US" sz="1200" b="0" i="0" u="none" strike="noStrike" kern="1200" dirty="0" smtClean="0">
                <a:solidFill>
                  <a:schemeClr val="tx1"/>
                </a:solidFill>
                <a:effectLst/>
                <a:latin typeface="+mn-lt"/>
                <a:ea typeface="+mn-ea"/>
                <a:cs typeface="+mn-cs"/>
                <a:hlinkClick r:id="rId20" tooltip="Swarm robotics"/>
              </a:rPr>
              <a:t>swarm robotics</a:t>
            </a:r>
            <a:r>
              <a:rPr lang="en-US" sz="1200" b="0" i="0" kern="1200" dirty="0" smtClean="0">
                <a:solidFill>
                  <a:schemeClr val="tx1"/>
                </a:solidFill>
                <a:effectLst/>
                <a:latin typeface="+mn-lt"/>
                <a:ea typeface="+mn-ea"/>
                <a:cs typeface="+mn-cs"/>
              </a:rPr>
              <a:t>, while 'swarm intelligence' refers to the more general set of algorithms. 'Swarm prediction' has been used in the context of forecasting problems. Similar approaches to those proposed for </a:t>
            </a:r>
            <a:r>
              <a:rPr lang="en-US" sz="1200" b="0" i="0" u="none" strike="noStrike" kern="1200" dirty="0" smtClean="0">
                <a:solidFill>
                  <a:schemeClr val="tx1"/>
                </a:solidFill>
                <a:effectLst/>
                <a:latin typeface="+mn-lt"/>
                <a:ea typeface="+mn-ea"/>
                <a:cs typeface="+mn-cs"/>
                <a:hlinkClick r:id="rId20" tooltip="Swarm robotics"/>
              </a:rPr>
              <a:t>swarm robotics</a:t>
            </a:r>
            <a:r>
              <a:rPr lang="en-US" sz="1200" b="0" i="0" kern="1200" dirty="0" smtClean="0">
                <a:solidFill>
                  <a:schemeClr val="tx1"/>
                </a:solidFill>
                <a:effectLst/>
                <a:latin typeface="+mn-lt"/>
                <a:ea typeface="+mn-ea"/>
                <a:cs typeface="+mn-cs"/>
              </a:rPr>
              <a:t> are considered for </a:t>
            </a:r>
            <a:r>
              <a:rPr lang="en-US" sz="1200" b="0" i="0" u="none" strike="noStrike" kern="1200" dirty="0" smtClean="0">
                <a:solidFill>
                  <a:schemeClr val="tx1"/>
                </a:solidFill>
                <a:effectLst/>
                <a:latin typeface="+mn-lt"/>
                <a:ea typeface="+mn-ea"/>
                <a:cs typeface="+mn-cs"/>
                <a:hlinkClick r:id="rId21" tooltip="Genetically modified organisms"/>
              </a:rPr>
              <a:t>genetically modified organisms</a:t>
            </a:r>
            <a:r>
              <a:rPr lang="en-US" sz="1200" b="0" i="0" kern="1200" dirty="0" smtClean="0">
                <a:solidFill>
                  <a:schemeClr val="tx1"/>
                </a:solidFill>
                <a:effectLst/>
                <a:latin typeface="+mn-lt"/>
                <a:ea typeface="+mn-ea"/>
                <a:cs typeface="+mn-cs"/>
              </a:rPr>
              <a:t> in synthetic collective intelligence. </a:t>
            </a:r>
            <a:r>
              <a:rPr lang="en-US" sz="1200" b="0" i="0" u="none" strike="noStrike" kern="1200" baseline="30000" dirty="0" smtClean="0">
                <a:solidFill>
                  <a:schemeClr val="tx1"/>
                </a:solidFill>
                <a:effectLst/>
                <a:latin typeface="+mn-lt"/>
                <a:ea typeface="+mn-ea"/>
                <a:cs typeface="+mn-cs"/>
                <a:hlinkClick r:id="rId22"/>
              </a:rPr>
              <a:t>[2]</a:t>
            </a:r>
            <a:endParaRPr lang="en-US" sz="1200" b="0" i="0" kern="1200" dirty="0" smtClean="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15</a:t>
            </a:fld>
            <a:endParaRPr lang="en-GB" dirty="0"/>
          </a:p>
        </p:txBody>
      </p:sp>
    </p:spTree>
    <p:extLst>
      <p:ext uri="{BB962C8B-B14F-4D97-AF65-F5344CB8AC3E}">
        <p14:creationId xmlns:p14="http://schemas.microsoft.com/office/powerpoint/2010/main" val="3454919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81100" y="696913"/>
            <a:ext cx="4648200" cy="3486150"/>
          </a:xfrm>
        </p:spPr>
      </p:sp>
      <p:sp>
        <p:nvSpPr>
          <p:cNvPr id="3" name="Notes Placeholder 2"/>
          <p:cNvSpPr>
            <a:spLocks noGrp="1"/>
          </p:cNvSpPr>
          <p:nvPr>
            <p:ph type="body" idx="1"/>
          </p:nvPr>
        </p:nvSpPr>
        <p:spPr/>
        <p:txBody>
          <a:bodyPr>
            <a:normAutofit/>
          </a:bodyPr>
          <a:lstStyle/>
          <a:p>
            <a:endParaRPr lang="en-US" dirty="0" smtClean="0"/>
          </a:p>
          <a:p>
            <a:r>
              <a:rPr lang="en-US" sz="1200" b="0" i="0" kern="1200" dirty="0" smtClean="0">
                <a:solidFill>
                  <a:schemeClr val="tx1"/>
                </a:solidFill>
                <a:effectLst/>
                <a:latin typeface="+mn-lt"/>
                <a:ea typeface="+mn-ea"/>
                <a:cs typeface="+mn-cs"/>
              </a:rPr>
              <a:t>In </a:t>
            </a:r>
            <a:r>
              <a:rPr lang="en-US" sz="1200" b="0" i="0" u="none" strike="noStrike" kern="1200" dirty="0" smtClean="0">
                <a:solidFill>
                  <a:schemeClr val="tx1"/>
                </a:solidFill>
                <a:effectLst/>
                <a:latin typeface="+mn-lt"/>
                <a:ea typeface="+mn-ea"/>
                <a:cs typeface="+mn-cs"/>
                <a:hlinkClick r:id="rId3" tooltip="Computer science"/>
              </a:rPr>
              <a:t>computer science</a:t>
            </a:r>
            <a:r>
              <a:rPr lang="en-US" sz="1200" b="0" i="0" kern="1200" dirty="0" smtClean="0">
                <a:solidFill>
                  <a:schemeClr val="tx1"/>
                </a:solidFill>
                <a:effectLst/>
                <a:latin typeface="+mn-lt"/>
                <a:ea typeface="+mn-ea"/>
                <a:cs typeface="+mn-cs"/>
              </a:rPr>
              <a:t> and </a:t>
            </a:r>
            <a:r>
              <a:rPr lang="en-US" sz="1200" b="0" i="0" u="none" strike="noStrike" kern="1200" dirty="0" smtClean="0">
                <a:solidFill>
                  <a:schemeClr val="tx1"/>
                </a:solidFill>
                <a:effectLst/>
                <a:latin typeface="+mn-lt"/>
                <a:ea typeface="+mn-ea"/>
                <a:cs typeface="+mn-cs"/>
                <a:hlinkClick r:id="rId4" tooltip="Operations research"/>
              </a:rPr>
              <a:t>operations research</a:t>
            </a:r>
            <a:r>
              <a:rPr lang="en-US" sz="1200" b="0" i="0" kern="1200" dirty="0" smtClean="0">
                <a:solidFill>
                  <a:schemeClr val="tx1"/>
                </a:solidFill>
                <a:effectLst/>
                <a:latin typeface="+mn-lt"/>
                <a:ea typeface="+mn-ea"/>
                <a:cs typeface="+mn-cs"/>
              </a:rPr>
              <a:t>, the </a:t>
            </a:r>
            <a:r>
              <a:rPr lang="en-US" sz="1200" b="1" i="0" kern="1200" dirty="0" smtClean="0">
                <a:solidFill>
                  <a:schemeClr val="tx1"/>
                </a:solidFill>
                <a:effectLst/>
                <a:latin typeface="+mn-lt"/>
                <a:ea typeface="+mn-ea"/>
                <a:cs typeface="+mn-cs"/>
              </a:rPr>
              <a:t>ant colony optimization</a:t>
            </a:r>
            <a:r>
              <a:rPr lang="en-US" sz="1200" b="0" i="0" kern="1200" dirty="0" smtClean="0">
                <a:solidFill>
                  <a:schemeClr val="tx1"/>
                </a:solidFill>
                <a:effectLst/>
                <a:latin typeface="+mn-lt"/>
                <a:ea typeface="+mn-ea"/>
                <a:cs typeface="+mn-cs"/>
              </a:rPr>
              <a:t> </a:t>
            </a:r>
            <a:r>
              <a:rPr lang="en-US" sz="1200" b="0" i="0" u="none" strike="noStrike" kern="1200" dirty="0" smtClean="0">
                <a:solidFill>
                  <a:schemeClr val="tx1"/>
                </a:solidFill>
                <a:effectLst/>
                <a:latin typeface="+mn-lt"/>
                <a:ea typeface="+mn-ea"/>
                <a:cs typeface="+mn-cs"/>
                <a:hlinkClick r:id="rId5" tooltip="Algorithm"/>
              </a:rPr>
              <a:t>algorithm</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ACO</a:t>
            </a:r>
            <a:r>
              <a:rPr lang="en-US" sz="1200" b="0" i="0" kern="1200" dirty="0" smtClean="0">
                <a:solidFill>
                  <a:schemeClr val="tx1"/>
                </a:solidFill>
                <a:effectLst/>
                <a:latin typeface="+mn-lt"/>
                <a:ea typeface="+mn-ea"/>
                <a:cs typeface="+mn-cs"/>
              </a:rPr>
              <a:t>) is a </a:t>
            </a:r>
            <a:r>
              <a:rPr lang="en-US" sz="1200" b="0" i="0" u="none" strike="noStrike" kern="1200" dirty="0" smtClean="0">
                <a:solidFill>
                  <a:schemeClr val="tx1"/>
                </a:solidFill>
                <a:effectLst/>
                <a:latin typeface="+mn-lt"/>
                <a:ea typeface="+mn-ea"/>
                <a:cs typeface="+mn-cs"/>
                <a:hlinkClick r:id="rId6" tooltip="Probability"/>
              </a:rPr>
              <a:t>probabilistic</a:t>
            </a:r>
            <a:r>
              <a:rPr lang="en-US" sz="1200" b="0" i="0" kern="1200" dirty="0" smtClean="0">
                <a:solidFill>
                  <a:schemeClr val="tx1"/>
                </a:solidFill>
                <a:effectLst/>
                <a:latin typeface="+mn-lt"/>
                <a:ea typeface="+mn-ea"/>
                <a:cs typeface="+mn-cs"/>
              </a:rPr>
              <a:t> technique for solving computational problems which can be reduced to finding good paths through </a:t>
            </a:r>
            <a:r>
              <a:rPr lang="en-US" sz="1200" b="0" i="0" u="none" strike="noStrike" kern="1200" dirty="0" smtClean="0">
                <a:solidFill>
                  <a:schemeClr val="tx1"/>
                </a:solidFill>
                <a:effectLst/>
                <a:latin typeface="+mn-lt"/>
                <a:ea typeface="+mn-ea"/>
                <a:cs typeface="+mn-cs"/>
                <a:hlinkClick r:id="rId7" tooltip="Graph (discrete mathematics)"/>
              </a:rPr>
              <a:t>graphs</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Artificial Ants</a:t>
            </a:r>
            <a:r>
              <a:rPr lang="en-US" sz="1200" b="0" i="0" kern="1200" dirty="0" smtClean="0">
                <a:solidFill>
                  <a:schemeClr val="tx1"/>
                </a:solidFill>
                <a:effectLst/>
                <a:latin typeface="+mn-lt"/>
                <a:ea typeface="+mn-ea"/>
                <a:cs typeface="+mn-cs"/>
              </a:rPr>
              <a:t> stand for </a:t>
            </a:r>
            <a:r>
              <a:rPr lang="en-US" sz="1200" b="0" i="0" u="none" strike="noStrike" kern="1200" dirty="0" smtClean="0">
                <a:solidFill>
                  <a:schemeClr val="tx1"/>
                </a:solidFill>
                <a:effectLst/>
                <a:latin typeface="+mn-lt"/>
                <a:ea typeface="+mn-ea"/>
                <a:cs typeface="+mn-cs"/>
                <a:hlinkClick r:id="rId8" tooltip="Multi-agent"/>
              </a:rPr>
              <a:t>multi-agent</a:t>
            </a:r>
            <a:r>
              <a:rPr lang="en-US" sz="1200" b="0" i="0" kern="1200" dirty="0" smtClean="0">
                <a:solidFill>
                  <a:schemeClr val="tx1"/>
                </a:solidFill>
                <a:effectLst/>
                <a:latin typeface="+mn-lt"/>
                <a:ea typeface="+mn-ea"/>
                <a:cs typeface="+mn-cs"/>
              </a:rPr>
              <a:t> methods inspired by the behavior of real ants. The pheromone-based communication of biological </a:t>
            </a:r>
            <a:r>
              <a:rPr lang="en-US" sz="1200" b="0" i="0" u="none" strike="noStrike" kern="1200" dirty="0" smtClean="0">
                <a:solidFill>
                  <a:schemeClr val="tx1"/>
                </a:solidFill>
                <a:effectLst/>
                <a:latin typeface="+mn-lt"/>
                <a:ea typeface="+mn-ea"/>
                <a:cs typeface="+mn-cs"/>
                <a:hlinkClick r:id="rId9" tooltip="Ant"/>
              </a:rPr>
              <a:t>ants</a:t>
            </a:r>
            <a:r>
              <a:rPr lang="en-US" sz="1200" b="0" i="0" kern="1200" dirty="0" smtClean="0">
                <a:solidFill>
                  <a:schemeClr val="tx1"/>
                </a:solidFill>
                <a:effectLst/>
                <a:latin typeface="+mn-lt"/>
                <a:ea typeface="+mn-ea"/>
                <a:cs typeface="+mn-cs"/>
              </a:rPr>
              <a:t> is often the predominant paradigm used.</a:t>
            </a:r>
            <a:r>
              <a:rPr lang="en-US" sz="1200" b="0" i="0" u="none" strike="noStrike" kern="1200" baseline="30000" dirty="0" smtClean="0">
                <a:solidFill>
                  <a:schemeClr val="tx1"/>
                </a:solidFill>
                <a:effectLst/>
                <a:latin typeface="+mn-lt"/>
                <a:ea typeface="+mn-ea"/>
                <a:cs typeface="+mn-cs"/>
                <a:hlinkClick r:id="rId10"/>
              </a:rPr>
              <a:t>[2]</a:t>
            </a:r>
            <a:r>
              <a:rPr lang="en-US" sz="1200" b="0" i="0" kern="1200" dirty="0" smtClean="0">
                <a:solidFill>
                  <a:schemeClr val="tx1"/>
                </a:solidFill>
                <a:effectLst/>
                <a:latin typeface="+mn-lt"/>
                <a:ea typeface="+mn-ea"/>
                <a:cs typeface="+mn-cs"/>
              </a:rPr>
              <a:t> Combinations of Artificial Ants and </a:t>
            </a:r>
            <a:r>
              <a:rPr lang="en-US" sz="1200" b="0" i="0" u="none" strike="noStrike" kern="1200" dirty="0" smtClean="0">
                <a:solidFill>
                  <a:schemeClr val="tx1"/>
                </a:solidFill>
                <a:effectLst/>
                <a:latin typeface="+mn-lt"/>
                <a:ea typeface="+mn-ea"/>
                <a:cs typeface="+mn-cs"/>
                <a:hlinkClick r:id="rId11" tooltip="Local search (optimization)"/>
              </a:rPr>
              <a:t>local search</a:t>
            </a:r>
            <a:r>
              <a:rPr lang="en-US" sz="1200" b="0" i="0" kern="1200" dirty="0" smtClean="0">
                <a:solidFill>
                  <a:schemeClr val="tx1"/>
                </a:solidFill>
                <a:effectLst/>
                <a:latin typeface="+mn-lt"/>
                <a:ea typeface="+mn-ea"/>
                <a:cs typeface="+mn-cs"/>
              </a:rPr>
              <a:t> algorithms have become a method of choice for numerous optimization tasks involving some sort of </a:t>
            </a:r>
            <a:r>
              <a:rPr lang="en-US" sz="1200" b="0" i="0" u="none" strike="noStrike" kern="1200" dirty="0" smtClean="0">
                <a:solidFill>
                  <a:schemeClr val="tx1"/>
                </a:solidFill>
                <a:effectLst/>
                <a:latin typeface="+mn-lt"/>
                <a:ea typeface="+mn-ea"/>
                <a:cs typeface="+mn-cs"/>
                <a:hlinkClick r:id="rId7" tooltip="Graph (discrete mathematics)"/>
              </a:rPr>
              <a:t>graph</a:t>
            </a:r>
            <a:r>
              <a:rPr lang="en-US" sz="1200" b="0" i="0" kern="1200" dirty="0" smtClean="0">
                <a:solidFill>
                  <a:schemeClr val="tx1"/>
                </a:solidFill>
                <a:effectLst/>
                <a:latin typeface="+mn-lt"/>
                <a:ea typeface="+mn-ea"/>
                <a:cs typeface="+mn-cs"/>
              </a:rPr>
              <a:t>, e.g., </a:t>
            </a:r>
            <a:r>
              <a:rPr lang="en-US" sz="1200" b="0" i="0" u="none" strike="noStrike" kern="1200" dirty="0" smtClean="0">
                <a:solidFill>
                  <a:schemeClr val="tx1"/>
                </a:solidFill>
                <a:effectLst/>
                <a:latin typeface="+mn-lt"/>
                <a:ea typeface="+mn-ea"/>
                <a:cs typeface="+mn-cs"/>
                <a:hlinkClick r:id="rId12" tooltip="Vehicle routing problem"/>
              </a:rPr>
              <a:t>vehicle routing</a:t>
            </a:r>
            <a:r>
              <a:rPr lang="en-US" sz="1200" b="0" i="0" kern="1200" dirty="0" smtClean="0">
                <a:solidFill>
                  <a:schemeClr val="tx1"/>
                </a:solidFill>
                <a:effectLst/>
                <a:latin typeface="+mn-lt"/>
                <a:ea typeface="+mn-ea"/>
                <a:cs typeface="+mn-cs"/>
              </a:rPr>
              <a:t> and internet </a:t>
            </a:r>
            <a:r>
              <a:rPr lang="en-US" sz="1200" b="0" i="0" u="none" strike="noStrike" kern="1200" dirty="0" smtClean="0">
                <a:solidFill>
                  <a:schemeClr val="tx1"/>
                </a:solidFill>
                <a:effectLst/>
                <a:latin typeface="+mn-lt"/>
                <a:ea typeface="+mn-ea"/>
                <a:cs typeface="+mn-cs"/>
                <a:hlinkClick r:id="rId13" tooltip="Routing"/>
              </a:rPr>
              <a:t>routing</a:t>
            </a:r>
            <a:r>
              <a:rPr lang="en-US" sz="1200" b="0" i="0" kern="1200" dirty="0" smtClean="0">
                <a:solidFill>
                  <a:schemeClr val="tx1"/>
                </a:solidFill>
                <a:effectLst/>
                <a:latin typeface="+mn-lt"/>
                <a:ea typeface="+mn-ea"/>
                <a:cs typeface="+mn-cs"/>
              </a:rPr>
              <a:t>. </a:t>
            </a:r>
            <a:endParaRPr lang="en-US" dirty="0" smtClean="0"/>
          </a:p>
          <a:p>
            <a:endParaRPr lang="en-US" dirty="0" smtClean="0"/>
          </a:p>
          <a:p>
            <a:r>
              <a:rPr lang="en-US" sz="1200" b="0" i="0" kern="1200" dirty="0" smtClean="0">
                <a:solidFill>
                  <a:schemeClr val="tx1"/>
                </a:solidFill>
                <a:effectLst/>
                <a:latin typeface="+mn-lt"/>
                <a:ea typeface="+mn-ea"/>
                <a:cs typeface="+mn-cs"/>
              </a:rPr>
              <a:t>An </a:t>
            </a:r>
            <a:r>
              <a:rPr lang="en-US" sz="1200" b="1" i="0" kern="1200" dirty="0" smtClean="0">
                <a:solidFill>
                  <a:schemeClr val="tx1"/>
                </a:solidFill>
                <a:effectLst/>
                <a:latin typeface="+mn-lt"/>
                <a:ea typeface="+mn-ea"/>
                <a:cs typeface="+mn-cs"/>
              </a:rPr>
              <a:t>ant colony</a:t>
            </a:r>
            <a:r>
              <a:rPr lang="en-US" sz="1200" b="0" i="0" kern="1200" dirty="0" smtClean="0">
                <a:solidFill>
                  <a:schemeClr val="tx1"/>
                </a:solidFill>
                <a:effectLst/>
                <a:latin typeface="+mn-lt"/>
                <a:ea typeface="+mn-ea"/>
                <a:cs typeface="+mn-cs"/>
              </a:rPr>
              <a:t> is like a factory. </a:t>
            </a:r>
            <a:r>
              <a:rPr lang="en-US" sz="1200" b="0" i="0" kern="1200" dirty="0" err="1" smtClean="0">
                <a:solidFill>
                  <a:schemeClr val="tx1"/>
                </a:solidFill>
                <a:effectLst/>
                <a:latin typeface="+mn-lt"/>
                <a:ea typeface="+mn-ea"/>
                <a:cs typeface="+mn-cs"/>
              </a:rPr>
              <a:t>Nestmates</a:t>
            </a:r>
            <a:r>
              <a:rPr lang="en-US" sz="1200" b="0" i="0" kern="1200" dirty="0" smtClean="0">
                <a:solidFill>
                  <a:schemeClr val="tx1"/>
                </a:solidFill>
                <a:effectLst/>
                <a:latin typeface="+mn-lt"/>
                <a:ea typeface="+mn-ea"/>
                <a:cs typeface="+mn-cs"/>
              </a:rPr>
              <a:t> </a:t>
            </a:r>
            <a:r>
              <a:rPr lang="en-US" sz="1200" b="1" i="0" kern="1200" dirty="0" smtClean="0">
                <a:solidFill>
                  <a:schemeClr val="tx1"/>
                </a:solidFill>
                <a:effectLst/>
                <a:latin typeface="+mn-lt"/>
                <a:ea typeface="+mn-ea"/>
                <a:cs typeface="+mn-cs"/>
              </a:rPr>
              <a:t>work</a:t>
            </a:r>
            <a:r>
              <a:rPr lang="en-US" sz="1200" b="0" i="0" kern="1200" dirty="0" smtClean="0">
                <a:solidFill>
                  <a:schemeClr val="tx1"/>
                </a:solidFill>
                <a:effectLst/>
                <a:latin typeface="+mn-lt"/>
                <a:ea typeface="+mn-ea"/>
                <a:cs typeface="+mn-cs"/>
              </a:rPr>
              <a:t> together to convert resources (food) into products (more </a:t>
            </a:r>
            <a:r>
              <a:rPr lang="en-US" sz="1200" b="1" i="0" kern="1200" dirty="0" smtClean="0">
                <a:solidFill>
                  <a:schemeClr val="tx1"/>
                </a:solidFill>
                <a:effectLst/>
                <a:latin typeface="+mn-lt"/>
                <a:ea typeface="+mn-ea"/>
                <a:cs typeface="+mn-cs"/>
              </a:rPr>
              <a:t>ants</a:t>
            </a:r>
            <a:r>
              <a:rPr lang="en-US" sz="1200" b="0" i="0" kern="1200" dirty="0" smtClean="0">
                <a:solidFill>
                  <a:schemeClr val="tx1"/>
                </a:solidFill>
                <a:effectLst/>
                <a:latin typeface="+mn-lt"/>
                <a:ea typeface="+mn-ea"/>
                <a:cs typeface="+mn-cs"/>
              </a:rPr>
              <a:t>). ... Younger </a:t>
            </a:r>
            <a:r>
              <a:rPr lang="en-US" sz="1200" b="1" i="0" kern="1200" dirty="0" smtClean="0">
                <a:solidFill>
                  <a:schemeClr val="tx1"/>
                </a:solidFill>
                <a:effectLst/>
                <a:latin typeface="+mn-lt"/>
                <a:ea typeface="+mn-ea"/>
                <a:cs typeface="+mn-cs"/>
              </a:rPr>
              <a:t>ants work</a:t>
            </a:r>
            <a:r>
              <a:rPr lang="en-US" sz="1200" b="0" i="0" kern="1200" dirty="0" smtClean="0">
                <a:solidFill>
                  <a:schemeClr val="tx1"/>
                </a:solidFill>
                <a:effectLst/>
                <a:latin typeface="+mn-lt"/>
                <a:ea typeface="+mn-ea"/>
                <a:cs typeface="+mn-cs"/>
              </a:rPr>
              <a:t> inside the nest, taking care of the queen and her brood. Older workers go outside to gather food and defend the nest against enemies</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16</a:t>
            </a:fld>
            <a:endParaRPr lang="en-GB" dirty="0"/>
          </a:p>
        </p:txBody>
      </p:sp>
    </p:spTree>
    <p:extLst>
      <p:ext uri="{BB962C8B-B14F-4D97-AF65-F5344CB8AC3E}">
        <p14:creationId xmlns:p14="http://schemas.microsoft.com/office/powerpoint/2010/main" val="30534779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Machine learning is an application of artificial intelligence (AI) that provides systems the ability to automatically learn and improve from experience without being explicitly programmed. </a:t>
            </a:r>
            <a:r>
              <a:rPr lang="en-US" sz="1200" b="1" i="0" kern="1200" dirty="0" smtClean="0">
                <a:solidFill>
                  <a:schemeClr val="tx1"/>
                </a:solidFill>
                <a:effectLst/>
                <a:latin typeface="+mn-lt"/>
                <a:ea typeface="+mn-ea"/>
                <a:cs typeface="+mn-cs"/>
              </a:rPr>
              <a:t>Machine learning focuses on the development of computer programs</a:t>
            </a:r>
            <a:r>
              <a:rPr lang="en-US" sz="1200" b="0" i="0" kern="1200" dirty="0" smtClean="0">
                <a:solidFill>
                  <a:schemeClr val="tx1"/>
                </a:solidFill>
                <a:effectLst/>
                <a:latin typeface="+mn-lt"/>
                <a:ea typeface="+mn-ea"/>
                <a:cs typeface="+mn-cs"/>
              </a:rPr>
              <a:t> that can access data and use it to learn for themselves.</a:t>
            </a:r>
          </a:p>
          <a:p>
            <a:r>
              <a:rPr lang="en-US" sz="1200" b="0" i="0" kern="1200" dirty="0" smtClean="0">
                <a:solidFill>
                  <a:schemeClr val="tx1"/>
                </a:solidFill>
                <a:effectLst/>
                <a:latin typeface="+mn-lt"/>
                <a:ea typeface="+mn-ea"/>
                <a:cs typeface="+mn-cs"/>
              </a:rPr>
              <a:t>The process of learning begins with observations or data, such as examples, direct experience, or instruction, in order to look for patterns in data and make better decisions in the future based on the examples that we provide. </a:t>
            </a:r>
            <a:r>
              <a:rPr lang="en-US" sz="1200" b="1" i="0" kern="1200" dirty="0" smtClean="0">
                <a:solidFill>
                  <a:schemeClr val="tx1"/>
                </a:solidFill>
                <a:effectLst/>
                <a:latin typeface="+mn-lt"/>
                <a:ea typeface="+mn-ea"/>
                <a:cs typeface="+mn-cs"/>
              </a:rPr>
              <a:t>The primary aim is to allow the computers learn automatically</a:t>
            </a:r>
            <a:r>
              <a:rPr lang="en-US" sz="1200" b="0" i="0" kern="1200" dirty="0" smtClean="0">
                <a:solidFill>
                  <a:schemeClr val="tx1"/>
                </a:solidFill>
                <a:effectLst/>
                <a:latin typeface="+mn-lt"/>
                <a:ea typeface="+mn-ea"/>
                <a:cs typeface="+mn-cs"/>
              </a:rPr>
              <a:t> without human intervention or assistance and adjust actions accordingly.</a:t>
            </a:r>
          </a:p>
          <a:p>
            <a:r>
              <a:rPr lang="en-US" sz="1200" b="0" i="0" kern="1200" dirty="0" smtClean="0">
                <a:solidFill>
                  <a:schemeClr val="tx1"/>
                </a:solidFill>
                <a:effectLst/>
                <a:latin typeface="+mn-lt"/>
                <a:ea typeface="+mn-ea"/>
                <a:cs typeface="+mn-cs"/>
              </a:rPr>
              <a:t>But, using the classic algorithms of machine learning, text is considered as a sequence of keywords; instead, </a:t>
            </a:r>
            <a:r>
              <a:rPr lang="en-US" sz="1200" b="1" i="0" kern="1200" dirty="0" smtClean="0">
                <a:solidFill>
                  <a:schemeClr val="tx1"/>
                </a:solidFill>
                <a:effectLst/>
                <a:latin typeface="+mn-lt"/>
                <a:ea typeface="+mn-ea"/>
                <a:cs typeface="+mn-cs"/>
              </a:rPr>
              <a:t>an approach based on semantic analysis mimics the human ability to understand the meaning of a text.</a:t>
            </a:r>
            <a:endParaRPr lang="en-US" sz="1200" b="0" i="0" kern="1200" dirty="0" smtClean="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20</a:t>
            </a:fld>
            <a:endParaRPr lang="en-GB" dirty="0"/>
          </a:p>
        </p:txBody>
      </p:sp>
    </p:spTree>
    <p:extLst>
      <p:ext uri="{BB962C8B-B14F-4D97-AF65-F5344CB8AC3E}">
        <p14:creationId xmlns:p14="http://schemas.microsoft.com/office/powerpoint/2010/main" val="13092517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21</a:t>
            </a:fld>
            <a:endParaRPr lang="en-GB" dirty="0"/>
          </a:p>
        </p:txBody>
      </p:sp>
    </p:spTree>
    <p:extLst>
      <p:ext uri="{BB962C8B-B14F-4D97-AF65-F5344CB8AC3E}">
        <p14:creationId xmlns:p14="http://schemas.microsoft.com/office/powerpoint/2010/main" val="601550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In the </a:t>
            </a:r>
            <a:r>
              <a:rPr lang="en-US" sz="1200" b="1" i="0" kern="1200" dirty="0" smtClean="0">
                <a:solidFill>
                  <a:schemeClr val="tx1"/>
                </a:solidFill>
                <a:effectLst/>
                <a:latin typeface="+mn-lt"/>
                <a:ea typeface="+mn-ea"/>
                <a:cs typeface="+mn-cs"/>
              </a:rPr>
              <a:t>Turing test</a:t>
            </a:r>
            <a:r>
              <a:rPr lang="en-US" sz="1200" b="0" i="0" kern="1200" dirty="0" smtClean="0">
                <a:solidFill>
                  <a:schemeClr val="tx1"/>
                </a:solidFill>
                <a:effectLst/>
                <a:latin typeface="+mn-lt"/>
                <a:ea typeface="+mn-ea"/>
                <a:cs typeface="+mn-cs"/>
              </a:rPr>
              <a:t>, an examiner sits behind a divider, and types questions </a:t>
            </a:r>
            <a:r>
              <a:rPr lang="en-US" sz="1200" b="1" i="0" kern="1200" dirty="0" smtClean="0">
                <a:solidFill>
                  <a:schemeClr val="tx1"/>
                </a:solidFill>
                <a:effectLst/>
                <a:latin typeface="+mn-lt"/>
                <a:ea typeface="+mn-ea"/>
                <a:cs typeface="+mn-cs"/>
              </a:rPr>
              <a:t>to</a:t>
            </a:r>
            <a:r>
              <a:rPr lang="en-US" sz="1200" b="0" i="0" kern="1200" dirty="0" smtClean="0">
                <a:solidFill>
                  <a:schemeClr val="tx1"/>
                </a:solidFill>
                <a:effectLst/>
                <a:latin typeface="+mn-lt"/>
                <a:ea typeface="+mn-ea"/>
                <a:cs typeface="+mn-cs"/>
              </a:rPr>
              <a:t> an unobserved entity. The entity (either a </a:t>
            </a:r>
            <a:r>
              <a:rPr lang="en-US" sz="1200" b="1" i="0" kern="1200" dirty="0" smtClean="0">
                <a:solidFill>
                  <a:schemeClr val="tx1"/>
                </a:solidFill>
                <a:effectLst/>
                <a:latin typeface="+mn-lt"/>
                <a:ea typeface="+mn-ea"/>
                <a:cs typeface="+mn-cs"/>
              </a:rPr>
              <a:t>computer</a:t>
            </a:r>
            <a:r>
              <a:rPr lang="en-US" sz="1200" b="0" i="0" kern="1200" dirty="0" smtClean="0">
                <a:solidFill>
                  <a:schemeClr val="tx1"/>
                </a:solidFill>
                <a:effectLst/>
                <a:latin typeface="+mn-lt"/>
                <a:ea typeface="+mn-ea"/>
                <a:cs typeface="+mn-cs"/>
              </a:rPr>
              <a:t> or a human) responds in text as if it was a human. If the examiner cannot distinguish a human response from a </a:t>
            </a:r>
            <a:r>
              <a:rPr lang="en-US" sz="1200" b="1" i="0" kern="1200" dirty="0" smtClean="0">
                <a:solidFill>
                  <a:schemeClr val="tx1"/>
                </a:solidFill>
                <a:effectLst/>
                <a:latin typeface="+mn-lt"/>
                <a:ea typeface="+mn-ea"/>
                <a:cs typeface="+mn-cs"/>
              </a:rPr>
              <a:t>computer</a:t>
            </a:r>
            <a:r>
              <a:rPr lang="en-US" sz="1200" b="0" i="0" kern="1200" dirty="0" smtClean="0">
                <a:solidFill>
                  <a:schemeClr val="tx1"/>
                </a:solidFill>
                <a:effectLst/>
                <a:latin typeface="+mn-lt"/>
                <a:ea typeface="+mn-ea"/>
                <a:cs typeface="+mn-cs"/>
              </a:rPr>
              <a:t> responding like a human, the </a:t>
            </a:r>
            <a:r>
              <a:rPr lang="en-US" sz="1200" b="1" i="0" kern="1200" dirty="0" smtClean="0">
                <a:solidFill>
                  <a:schemeClr val="tx1"/>
                </a:solidFill>
                <a:effectLst/>
                <a:latin typeface="+mn-lt"/>
                <a:ea typeface="+mn-ea"/>
                <a:cs typeface="+mn-cs"/>
              </a:rPr>
              <a:t>computer passes the Turing test</a:t>
            </a:r>
            <a:r>
              <a:rPr lang="en-US" sz="1200" b="0" i="0" kern="1200" dirty="0" smtClean="0">
                <a:solidFill>
                  <a:schemeClr val="tx1"/>
                </a:solidFill>
                <a:effectLst/>
                <a:latin typeface="+mn-lt"/>
                <a:ea typeface="+mn-ea"/>
                <a:cs typeface="+mn-cs"/>
              </a:rPr>
              <a:t>.</a:t>
            </a:r>
            <a:endParaRPr lang="en-GB" dirty="0"/>
          </a:p>
        </p:txBody>
      </p:sp>
      <p:sp>
        <p:nvSpPr>
          <p:cNvPr id="4" name="Slide Number Placeholder 3"/>
          <p:cNvSpPr>
            <a:spLocks noGrp="1"/>
          </p:cNvSpPr>
          <p:nvPr>
            <p:ph type="sldNum" sz="quarter" idx="10"/>
          </p:nvPr>
        </p:nvSpPr>
        <p:spPr/>
        <p:txBody>
          <a:bodyPr/>
          <a:lstStyle/>
          <a:p>
            <a:fld id="{9D498802-2017-4E9A-A8AF-781802F703C5}" type="slidenum">
              <a:rPr lang="en-GB" smtClean="0"/>
              <a:pPr/>
              <a:t>24</a:t>
            </a:fld>
            <a:endParaRPr lang="en-GB" dirty="0"/>
          </a:p>
        </p:txBody>
      </p:sp>
    </p:spTree>
    <p:extLst>
      <p:ext uri="{BB962C8B-B14F-4D97-AF65-F5344CB8AC3E}">
        <p14:creationId xmlns:p14="http://schemas.microsoft.com/office/powerpoint/2010/main" val="2507723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4.xml"/><Relationship Id="rId4" Type="http://schemas.openxmlformats.org/officeDocument/2006/relationships/image" Target="../media/image5.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633" y="2130448"/>
            <a:ext cx="7772757"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243" y="3886200"/>
            <a:ext cx="6401514" cy="1752600"/>
          </a:xfrm>
        </p:spPr>
        <p:txBody>
          <a:bodyPr/>
          <a:lstStyle>
            <a:lvl1pPr marL="0" indent="0" algn="ctr">
              <a:buNone/>
              <a:defRPr>
                <a:solidFill>
                  <a:schemeClr val="tx1">
                    <a:tint val="75000"/>
                  </a:schemeClr>
                </a:solidFill>
              </a:defRPr>
            </a:lvl1pPr>
            <a:lvl2pPr marL="342809" indent="0" algn="ctr">
              <a:buNone/>
              <a:defRPr>
                <a:solidFill>
                  <a:schemeClr val="tx1">
                    <a:tint val="75000"/>
                  </a:schemeClr>
                </a:solidFill>
              </a:defRPr>
            </a:lvl2pPr>
            <a:lvl3pPr marL="685617" indent="0" algn="ctr">
              <a:buNone/>
              <a:defRPr>
                <a:solidFill>
                  <a:schemeClr val="tx1">
                    <a:tint val="75000"/>
                  </a:schemeClr>
                </a:solidFill>
              </a:defRPr>
            </a:lvl3pPr>
            <a:lvl4pPr marL="1028426" indent="0" algn="ctr">
              <a:buNone/>
              <a:defRPr>
                <a:solidFill>
                  <a:schemeClr val="tx1">
                    <a:tint val="75000"/>
                  </a:schemeClr>
                </a:solidFill>
              </a:defRPr>
            </a:lvl4pPr>
            <a:lvl5pPr marL="1371234" indent="0" algn="ctr">
              <a:buNone/>
              <a:defRPr>
                <a:solidFill>
                  <a:schemeClr val="tx1">
                    <a:tint val="75000"/>
                  </a:schemeClr>
                </a:solidFill>
              </a:defRPr>
            </a:lvl5pPr>
            <a:lvl6pPr marL="1714043" indent="0" algn="ctr">
              <a:buNone/>
              <a:defRPr>
                <a:solidFill>
                  <a:schemeClr val="tx1">
                    <a:tint val="75000"/>
                  </a:schemeClr>
                </a:solidFill>
              </a:defRPr>
            </a:lvl6pPr>
            <a:lvl7pPr marL="2056851" indent="0" algn="ctr">
              <a:buNone/>
              <a:defRPr>
                <a:solidFill>
                  <a:schemeClr val="tx1">
                    <a:tint val="75000"/>
                  </a:schemeClr>
                </a:solidFill>
              </a:defRPr>
            </a:lvl7pPr>
            <a:lvl8pPr marL="2399660" indent="0" algn="ctr">
              <a:buNone/>
              <a:defRPr>
                <a:solidFill>
                  <a:schemeClr val="tx1">
                    <a:tint val="75000"/>
                  </a:schemeClr>
                </a:solidFill>
              </a:defRPr>
            </a:lvl8pPr>
            <a:lvl9pPr marL="2742468"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28496639-427B-48D8-B1B6-4600A0D48514}"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5F17BBC-099E-4DA5-928E-72497370B573}"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533" y="4406923"/>
            <a:ext cx="7772757" cy="1362075"/>
          </a:xfrm>
        </p:spPr>
        <p:txBody>
          <a:bodyPr anchor="t"/>
          <a:lstStyle>
            <a:lvl1pPr algn="l">
              <a:defRPr sz="2999" b="1" cap="all"/>
            </a:lvl1pPr>
          </a:lstStyle>
          <a:p>
            <a:r>
              <a:rPr lang="en-US"/>
              <a:t>Click to edit Master title style</a:t>
            </a:r>
            <a:endParaRPr lang="en-GB"/>
          </a:p>
        </p:txBody>
      </p:sp>
      <p:sp>
        <p:nvSpPr>
          <p:cNvPr id="3" name="Text Placeholder 2"/>
          <p:cNvSpPr>
            <a:spLocks noGrp="1"/>
          </p:cNvSpPr>
          <p:nvPr>
            <p:ph type="body" idx="1"/>
          </p:nvPr>
        </p:nvSpPr>
        <p:spPr>
          <a:xfrm>
            <a:off x="722533" y="2906713"/>
            <a:ext cx="7772757" cy="1500187"/>
          </a:xfrm>
        </p:spPr>
        <p:txBody>
          <a:bodyPr anchor="b"/>
          <a:lstStyle>
            <a:lvl1pPr marL="0" indent="0">
              <a:buNone/>
              <a:defRPr sz="1500">
                <a:solidFill>
                  <a:schemeClr val="tx1">
                    <a:tint val="75000"/>
                  </a:schemeClr>
                </a:solidFill>
              </a:defRPr>
            </a:lvl1pPr>
            <a:lvl2pPr marL="342809" indent="0">
              <a:buNone/>
              <a:defRPr sz="1350">
                <a:solidFill>
                  <a:schemeClr val="tx1">
                    <a:tint val="75000"/>
                  </a:schemeClr>
                </a:solidFill>
              </a:defRPr>
            </a:lvl2pPr>
            <a:lvl3pPr marL="685617" indent="0">
              <a:buNone/>
              <a:defRPr sz="1200">
                <a:solidFill>
                  <a:schemeClr val="tx1">
                    <a:tint val="75000"/>
                  </a:schemeClr>
                </a:solidFill>
              </a:defRPr>
            </a:lvl3pPr>
            <a:lvl4pPr marL="1028426" indent="0">
              <a:buNone/>
              <a:defRPr sz="1050">
                <a:solidFill>
                  <a:schemeClr val="tx1">
                    <a:tint val="75000"/>
                  </a:schemeClr>
                </a:solidFill>
              </a:defRPr>
            </a:lvl4pPr>
            <a:lvl5pPr marL="1371234" indent="0">
              <a:buNone/>
              <a:defRPr sz="1050">
                <a:solidFill>
                  <a:schemeClr val="tx1">
                    <a:tint val="75000"/>
                  </a:schemeClr>
                </a:solidFill>
              </a:defRPr>
            </a:lvl5pPr>
            <a:lvl6pPr marL="1714043" indent="0">
              <a:buNone/>
              <a:defRPr sz="1050">
                <a:solidFill>
                  <a:schemeClr val="tx1">
                    <a:tint val="75000"/>
                  </a:schemeClr>
                </a:solidFill>
              </a:defRPr>
            </a:lvl6pPr>
            <a:lvl7pPr marL="2056851" indent="0">
              <a:buNone/>
              <a:defRPr sz="1050">
                <a:solidFill>
                  <a:schemeClr val="tx1">
                    <a:tint val="75000"/>
                  </a:schemeClr>
                </a:solidFill>
              </a:defRPr>
            </a:lvl7pPr>
            <a:lvl8pPr marL="2399660" indent="0">
              <a:buNone/>
              <a:defRPr sz="1050">
                <a:solidFill>
                  <a:schemeClr val="tx1">
                    <a:tint val="75000"/>
                  </a:schemeClr>
                </a:solidFill>
              </a:defRPr>
            </a:lvl8pPr>
            <a:lvl9pPr marL="2742468"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B84EB2-448C-483F-B935-2C4BF558EDC8}"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081" y="1600206"/>
            <a:ext cx="4057784"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29136" y="1600206"/>
            <a:ext cx="4057784"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891AF9FA-5948-4998-B138-D15B2AC4CC0C}" type="datetime1">
              <a:rPr lang="en-GB" smtClean="0"/>
              <a:t>19/Mar/21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092" y="1535113"/>
            <a:ext cx="4039929"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4" name="Content Placeholder 3"/>
          <p:cNvSpPr>
            <a:spLocks noGrp="1"/>
          </p:cNvSpPr>
          <p:nvPr>
            <p:ph sz="half" idx="2"/>
          </p:nvPr>
        </p:nvSpPr>
        <p:spPr>
          <a:xfrm>
            <a:off x="457092" y="2174875"/>
            <a:ext cx="4039929"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4609" y="1535113"/>
            <a:ext cx="4042310"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4609" y="2174875"/>
            <a:ext cx="4042310"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50218A08-4E29-4651-895B-67FA08C18B77}" type="datetime1">
              <a:rPr lang="en-GB" smtClean="0"/>
              <a:t>19/Mar/21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8F68E15-C551-4601-8CB1-3BD987815BA6}" type="datetime1">
              <a:rPr lang="en-GB" smtClean="0"/>
              <a:t>19/Mar/21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E2221B8-DC0D-406D-8EE4-D92B31FE330F}" type="datetime1">
              <a:rPr lang="en-GB" smtClean="0"/>
              <a:t>19/Mar/21</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082" y="273050"/>
            <a:ext cx="3007926"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4516" y="273073"/>
            <a:ext cx="5112403" cy="5853113"/>
          </a:xfrm>
        </p:spPr>
        <p:txBody>
          <a:bodyPr/>
          <a:lstStyle>
            <a:lvl1pPr>
              <a:defRPr sz="2399"/>
            </a:lvl1pPr>
            <a:lvl2pPr>
              <a:defRPr sz="2099"/>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082" y="1435103"/>
            <a:ext cx="3007926" cy="4691063"/>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DB34AA68-FCD0-4ACB-A8F8-6A35CB109A76}" type="datetime1">
              <a:rPr lang="en-GB" smtClean="0"/>
              <a:t>19/Mar/21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615" y="4800600"/>
            <a:ext cx="5486162"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615" y="612775"/>
            <a:ext cx="5486162" cy="4114800"/>
          </a:xfrm>
        </p:spPr>
        <p:txBody>
          <a:bodyPr/>
          <a:lstStyle>
            <a:lvl1pPr marL="0" indent="0">
              <a:buNone/>
              <a:defRPr sz="2399"/>
            </a:lvl1pPr>
            <a:lvl2pPr marL="342809" indent="0">
              <a:buNone/>
              <a:defRPr sz="2099"/>
            </a:lvl2pPr>
            <a:lvl3pPr marL="685617" indent="0">
              <a:buNone/>
              <a:defRPr sz="1800"/>
            </a:lvl3pPr>
            <a:lvl4pPr marL="1028426" indent="0">
              <a:buNone/>
              <a:defRPr sz="1500"/>
            </a:lvl4pPr>
            <a:lvl5pPr marL="1371234" indent="0">
              <a:buNone/>
              <a:defRPr sz="1500"/>
            </a:lvl5pPr>
            <a:lvl6pPr marL="1714043" indent="0">
              <a:buNone/>
              <a:defRPr sz="1500"/>
            </a:lvl6pPr>
            <a:lvl7pPr marL="2056851" indent="0">
              <a:buNone/>
              <a:defRPr sz="1500"/>
            </a:lvl7pPr>
            <a:lvl8pPr marL="2399660" indent="0">
              <a:buNone/>
              <a:defRPr sz="1500"/>
            </a:lvl8pPr>
            <a:lvl9pPr marL="2742468" indent="0">
              <a:buNone/>
              <a:defRPr sz="1500"/>
            </a:lvl9pPr>
          </a:lstStyle>
          <a:p>
            <a:endParaRPr lang="en-GB" dirty="0"/>
          </a:p>
        </p:txBody>
      </p:sp>
      <p:sp>
        <p:nvSpPr>
          <p:cNvPr id="4" name="Text Placeholder 3"/>
          <p:cNvSpPr>
            <a:spLocks noGrp="1"/>
          </p:cNvSpPr>
          <p:nvPr>
            <p:ph type="body" sz="half" idx="2"/>
          </p:nvPr>
        </p:nvSpPr>
        <p:spPr>
          <a:xfrm>
            <a:off x="1792615" y="5367338"/>
            <a:ext cx="5486162" cy="804862"/>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A51BAEFA-94AD-42BA-9190-CD47DC68DDB9}" type="datetime1">
              <a:rPr lang="en-GB" smtClean="0"/>
              <a:t>19/Mar/21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2D9084A-FFFA-4832-9626-AE228F010CBE}"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055" y="274661"/>
            <a:ext cx="2056864"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082" y="274661"/>
            <a:ext cx="605870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6F314C0-5BF7-465F-BA47-299D16E1432D}"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7" name="Picture 2" descr="C:\Users\Ours\Desktop\flash\c.u..jpg"/>
          <p:cNvPicPr>
            <a:picLocks noChangeAspect="1" noChangeArrowheads="1"/>
          </p:cNvPicPr>
          <p:nvPr/>
        </p:nvPicPr>
        <p:blipFill>
          <a:blip r:embed="rId2" cstate="print">
            <a:duotone>
              <a:prstClr val="black"/>
              <a:srgbClr val="800080">
                <a:alpha val="78824"/>
                <a:tint val="45000"/>
                <a:satMod val="400000"/>
              </a:srgbClr>
            </a:duotone>
          </a:blip>
          <a:srcRect t="-169" b="15477"/>
          <a:stretch>
            <a:fillRect/>
          </a:stretch>
        </p:blipFill>
        <p:spPr bwMode="auto">
          <a:xfrm>
            <a:off x="1" y="-54768"/>
            <a:ext cx="9209063" cy="6912768"/>
          </a:xfrm>
          <a:prstGeom prst="rect">
            <a:avLst/>
          </a:prstGeom>
          <a:noFill/>
        </p:spPr>
      </p:pic>
      <p:pic>
        <p:nvPicPr>
          <p:cNvPr id="8" name="Picture 2" descr="C:\Users\Ours\Desktop\my stuffs\1 NTFS_000\LostFiles2\INSPIRATION\PROJECTS\MIND PROJECTS\cu_logo.png"/>
          <p:cNvPicPr>
            <a:picLocks noChangeAspect="1" noChangeArrowheads="1"/>
          </p:cNvPicPr>
          <p:nvPr/>
        </p:nvPicPr>
        <p:blipFill>
          <a:blip r:embed="rId3" cstate="print"/>
          <a:srcRect/>
          <a:stretch>
            <a:fillRect/>
          </a:stretch>
        </p:blipFill>
        <p:spPr bwMode="auto">
          <a:xfrm>
            <a:off x="630588" y="570166"/>
            <a:ext cx="557444" cy="792088"/>
          </a:xfrm>
          <a:prstGeom prst="rect">
            <a:avLst/>
          </a:prstGeom>
          <a:noFill/>
        </p:spPr>
      </p:pic>
      <p:sp>
        <p:nvSpPr>
          <p:cNvPr id="9" name="TextBox 8"/>
          <p:cNvSpPr txBox="1"/>
          <p:nvPr/>
        </p:nvSpPr>
        <p:spPr>
          <a:xfrm>
            <a:off x="6750699" y="0"/>
            <a:ext cx="2442592" cy="300082"/>
          </a:xfrm>
          <a:prstGeom prst="rect">
            <a:avLst/>
          </a:prstGeom>
          <a:noFill/>
        </p:spPr>
        <p:txBody>
          <a:bodyPr wrap="none" rtlCol="0">
            <a:spAutoFit/>
          </a:bodyPr>
          <a:lstStyle/>
          <a:p>
            <a:r>
              <a:rPr lang="en-US" sz="1350" dirty="0"/>
              <a:t>www.covenantuniversity.edu.ng</a:t>
            </a:r>
            <a:endParaRPr lang="en-GB" sz="1350" dirty="0"/>
          </a:p>
        </p:txBody>
      </p:sp>
      <p:pic>
        <p:nvPicPr>
          <p:cNvPr id="10" name="Picture 2" descr="C:\Users\Ours\Desktop\Picture3.png"/>
          <p:cNvPicPr>
            <a:picLocks noChangeAspect="1" noChangeArrowheads="1"/>
          </p:cNvPicPr>
          <p:nvPr/>
        </p:nvPicPr>
        <p:blipFill>
          <a:blip r:embed="rId4" cstate="print"/>
          <a:srcRect/>
          <a:stretch>
            <a:fillRect/>
          </a:stretch>
        </p:blipFill>
        <p:spPr bwMode="auto">
          <a:xfrm>
            <a:off x="1008532" y="570169"/>
            <a:ext cx="3455484" cy="743775"/>
          </a:xfrm>
          <a:prstGeom prst="rect">
            <a:avLst/>
          </a:prstGeom>
          <a:noFill/>
        </p:spPr>
      </p:pic>
      <p:sp>
        <p:nvSpPr>
          <p:cNvPr id="2" name="Title 1"/>
          <p:cNvSpPr>
            <a:spLocks noGrp="1"/>
          </p:cNvSpPr>
          <p:nvPr>
            <p:ph type="ctrTitle"/>
          </p:nvPr>
        </p:nvSpPr>
        <p:spPr>
          <a:xfrm>
            <a:off x="685632" y="1844845"/>
            <a:ext cx="7772757" cy="2448271"/>
          </a:xfrm>
          <a:solidFill>
            <a:srgbClr val="660033">
              <a:alpha val="61961"/>
            </a:srgbClr>
          </a:solidFill>
        </p:spPr>
        <p:txBody>
          <a:bodyPr>
            <a:noAutofit/>
          </a:bodyPr>
          <a:lstStyle>
            <a:lvl1pPr>
              <a:defRPr sz="4049" b="0">
                <a:solidFill>
                  <a:schemeClr val="bg1"/>
                </a:solidFill>
                <a:latin typeface="Rockwell" pitchFamily="18" charset="0"/>
              </a:defRPr>
            </a:lvl1pPr>
          </a:lstStyle>
          <a:p>
            <a:r>
              <a:rPr lang="en-US"/>
              <a:t>Click to edit Master title style</a:t>
            </a:r>
            <a:endParaRPr lang="en-GB" dirty="0"/>
          </a:p>
        </p:txBody>
      </p:sp>
      <p:sp>
        <p:nvSpPr>
          <p:cNvPr id="3" name="Subtitle 2"/>
          <p:cNvSpPr>
            <a:spLocks noGrp="1"/>
          </p:cNvSpPr>
          <p:nvPr>
            <p:ph type="subTitle" idx="1"/>
          </p:nvPr>
        </p:nvSpPr>
        <p:spPr>
          <a:xfrm>
            <a:off x="1371243" y="4509120"/>
            <a:ext cx="6401514" cy="1752600"/>
          </a:xfrm>
          <a:solidFill>
            <a:srgbClr val="FFFFFF">
              <a:alpha val="74118"/>
            </a:srgbClr>
          </a:solidFill>
        </p:spPr>
        <p:txBody>
          <a:bodyPr>
            <a:normAutofit/>
          </a:bodyPr>
          <a:lstStyle>
            <a:lvl1pPr marL="0" indent="0" algn="ctr">
              <a:buNone/>
              <a:defRPr sz="2699">
                <a:solidFill>
                  <a:schemeClr val="tx1"/>
                </a:solidFill>
                <a:latin typeface="Rockwell" pitchFamily="18" charset="0"/>
              </a:defRPr>
            </a:lvl1pPr>
            <a:lvl2pPr marL="342809" indent="0" algn="ctr">
              <a:buNone/>
              <a:defRPr>
                <a:solidFill>
                  <a:schemeClr val="tx1">
                    <a:tint val="75000"/>
                  </a:schemeClr>
                </a:solidFill>
              </a:defRPr>
            </a:lvl2pPr>
            <a:lvl3pPr marL="685617" indent="0" algn="ctr">
              <a:buNone/>
              <a:defRPr>
                <a:solidFill>
                  <a:schemeClr val="tx1">
                    <a:tint val="75000"/>
                  </a:schemeClr>
                </a:solidFill>
              </a:defRPr>
            </a:lvl3pPr>
            <a:lvl4pPr marL="1028426" indent="0" algn="ctr">
              <a:buNone/>
              <a:defRPr>
                <a:solidFill>
                  <a:schemeClr val="tx1">
                    <a:tint val="75000"/>
                  </a:schemeClr>
                </a:solidFill>
              </a:defRPr>
            </a:lvl4pPr>
            <a:lvl5pPr marL="1371234" indent="0" algn="ctr">
              <a:buNone/>
              <a:defRPr>
                <a:solidFill>
                  <a:schemeClr val="tx1">
                    <a:tint val="75000"/>
                  </a:schemeClr>
                </a:solidFill>
              </a:defRPr>
            </a:lvl5pPr>
            <a:lvl6pPr marL="1714043" indent="0" algn="ctr">
              <a:buNone/>
              <a:defRPr>
                <a:solidFill>
                  <a:schemeClr val="tx1">
                    <a:tint val="75000"/>
                  </a:schemeClr>
                </a:solidFill>
              </a:defRPr>
            </a:lvl6pPr>
            <a:lvl7pPr marL="2056851" indent="0" algn="ctr">
              <a:buNone/>
              <a:defRPr>
                <a:solidFill>
                  <a:schemeClr val="tx1">
                    <a:tint val="75000"/>
                  </a:schemeClr>
                </a:solidFill>
              </a:defRPr>
            </a:lvl7pPr>
            <a:lvl8pPr marL="2399660" indent="0" algn="ctr">
              <a:buNone/>
              <a:defRPr>
                <a:solidFill>
                  <a:schemeClr val="tx1">
                    <a:tint val="75000"/>
                  </a:schemeClr>
                </a:solidFill>
              </a:defRPr>
            </a:lvl8pPr>
            <a:lvl9pPr marL="2742468" indent="0" algn="ctr">
              <a:buNone/>
              <a:defRPr>
                <a:solidFill>
                  <a:schemeClr val="tx1">
                    <a:tint val="75000"/>
                  </a:schemeClr>
                </a:solidFill>
              </a:defRPr>
            </a:lvl9pPr>
          </a:lstStyle>
          <a:p>
            <a:r>
              <a:rPr lang="en-US"/>
              <a:t>Click to edit Master subtitle style</a:t>
            </a:r>
            <a:endParaRPr lang="en-GB" dirty="0"/>
          </a:p>
        </p:txBody>
      </p:sp>
      <p:sp>
        <p:nvSpPr>
          <p:cNvPr id="11" name="TextBox 10"/>
          <p:cNvSpPr txBox="1"/>
          <p:nvPr/>
        </p:nvSpPr>
        <p:spPr>
          <a:xfrm>
            <a:off x="1224501" y="1074223"/>
            <a:ext cx="2456185" cy="276999"/>
          </a:xfrm>
          <a:prstGeom prst="rect">
            <a:avLst/>
          </a:prstGeom>
          <a:noFill/>
        </p:spPr>
        <p:txBody>
          <a:bodyPr wrap="none" rtlCol="0">
            <a:spAutoFit/>
          </a:bodyPr>
          <a:lstStyle/>
          <a:p>
            <a:r>
              <a:rPr lang="en-US" sz="1200" dirty="0">
                <a:solidFill>
                  <a:srgbClr val="662C5B"/>
                </a:solidFill>
              </a:rPr>
              <a:t>Raising a new Generation of Leaders</a:t>
            </a:r>
            <a:endParaRPr lang="en-GB" sz="1200" dirty="0">
              <a:solidFill>
                <a:srgbClr val="662C5B"/>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2" name="Picture 2" descr="C:\Users\Ours\Desktop\flash\c.u..jpg"/>
          <p:cNvPicPr>
            <a:picLocks noChangeAspect="1" noChangeArrowheads="1"/>
          </p:cNvPicPr>
          <p:nvPr/>
        </p:nvPicPr>
        <p:blipFill>
          <a:blip r:embed="rId2" cstate="print">
            <a:duotone>
              <a:prstClr val="black"/>
              <a:srgbClr val="800080">
                <a:alpha val="78824"/>
                <a:tint val="45000"/>
                <a:satMod val="400000"/>
              </a:srgbClr>
            </a:duotone>
          </a:blip>
          <a:srcRect t="-169" b="15477"/>
          <a:stretch>
            <a:fillRect/>
          </a:stretch>
        </p:blipFill>
        <p:spPr bwMode="auto">
          <a:xfrm>
            <a:off x="1" y="-54768"/>
            <a:ext cx="9209063" cy="6912768"/>
          </a:xfrm>
          <a:prstGeom prst="rect">
            <a:avLst/>
          </a:prstGeom>
          <a:noFill/>
        </p:spPr>
      </p:pic>
      <p:pic>
        <p:nvPicPr>
          <p:cNvPr id="8" name="Picture 2" descr="C:\Users\Ours\Desktop\my stuffs\1 NTFS_000\LostFiles2\INSPIRATION\PROJECTS\MIND PROJECTS\cu_logo.png"/>
          <p:cNvPicPr>
            <a:picLocks noChangeAspect="1" noChangeArrowheads="1"/>
          </p:cNvPicPr>
          <p:nvPr/>
        </p:nvPicPr>
        <p:blipFill>
          <a:blip r:embed="rId3" cstate="print"/>
          <a:srcRect/>
          <a:stretch>
            <a:fillRect/>
          </a:stretch>
        </p:blipFill>
        <p:spPr bwMode="auto">
          <a:xfrm>
            <a:off x="198654" y="548680"/>
            <a:ext cx="912180" cy="1296144"/>
          </a:xfrm>
          <a:prstGeom prst="rect">
            <a:avLst/>
          </a:prstGeom>
          <a:noFill/>
        </p:spPr>
      </p:pic>
      <p:sp>
        <p:nvSpPr>
          <p:cNvPr id="10" name="Title 1"/>
          <p:cNvSpPr>
            <a:spLocks noGrp="1"/>
          </p:cNvSpPr>
          <p:nvPr>
            <p:ph type="ctrTitle"/>
          </p:nvPr>
        </p:nvSpPr>
        <p:spPr>
          <a:xfrm>
            <a:off x="685800" y="2204865"/>
            <a:ext cx="7772400" cy="2520280"/>
          </a:xfrm>
          <a:solidFill>
            <a:srgbClr val="CC3399">
              <a:alpha val="83137"/>
            </a:srgbClr>
          </a:solidFill>
        </p:spPr>
        <p:txBody>
          <a:bodyPr>
            <a:normAutofit/>
          </a:bodyPr>
          <a:lstStyle/>
          <a:p>
            <a:r>
              <a:rPr lang="en-US" sz="4949" b="1">
                <a:solidFill>
                  <a:schemeClr val="bg1"/>
                </a:solidFill>
                <a:latin typeface="Rockwell" pitchFamily="18" charset="0"/>
              </a:rPr>
              <a:t>Click to edit Master title style</a:t>
            </a:r>
            <a:endParaRPr lang="en-GB" sz="4949" b="1" dirty="0">
              <a:solidFill>
                <a:schemeClr val="bg1"/>
              </a:solidFill>
              <a:latin typeface="Rockwell" pitchFamily="18" charset="0"/>
            </a:endParaRPr>
          </a:p>
        </p:txBody>
      </p:sp>
      <p:sp>
        <p:nvSpPr>
          <p:cNvPr id="11" name="Subtitle 2"/>
          <p:cNvSpPr>
            <a:spLocks noGrp="1"/>
          </p:cNvSpPr>
          <p:nvPr>
            <p:ph type="subTitle" idx="1"/>
          </p:nvPr>
        </p:nvSpPr>
        <p:spPr>
          <a:xfrm>
            <a:off x="1278493" y="4869160"/>
            <a:ext cx="6400800" cy="1752600"/>
          </a:xfrm>
          <a:solidFill>
            <a:srgbClr val="FFFFFF">
              <a:alpha val="63137"/>
            </a:srgbClr>
          </a:solidFill>
        </p:spPr>
        <p:txBody>
          <a:bodyPr>
            <a:normAutofit/>
          </a:bodyPr>
          <a:lstStyle>
            <a:lvl1pPr algn="ctr">
              <a:buNone/>
              <a:defRPr sz="2999">
                <a:ln>
                  <a:noFill/>
                </a:ln>
                <a:solidFill>
                  <a:srgbClr val="002060"/>
                </a:solidFill>
              </a:defRPr>
            </a:lvl1pPr>
          </a:lstStyle>
          <a:p>
            <a:r>
              <a:rPr lang="en-US">
                <a:solidFill>
                  <a:schemeClr val="bg1"/>
                </a:solidFill>
                <a:latin typeface="Rockwell" pitchFamily="18" charset="0"/>
              </a:rPr>
              <a:t>Click to edit Master subtitle style</a:t>
            </a:r>
            <a:endParaRPr lang="en-GB" dirty="0">
              <a:solidFill>
                <a:schemeClr val="bg1"/>
              </a:solidFill>
              <a:latin typeface="Rockwell" pitchFamily="18" charset="0"/>
            </a:endParaRPr>
          </a:p>
        </p:txBody>
      </p:sp>
      <p:sp>
        <p:nvSpPr>
          <p:cNvPr id="13" name="TextBox 12"/>
          <p:cNvSpPr txBox="1"/>
          <p:nvPr/>
        </p:nvSpPr>
        <p:spPr>
          <a:xfrm>
            <a:off x="1008540" y="1268761"/>
            <a:ext cx="3021596" cy="323165"/>
          </a:xfrm>
          <a:prstGeom prst="rect">
            <a:avLst/>
          </a:prstGeom>
          <a:noFill/>
        </p:spPr>
        <p:txBody>
          <a:bodyPr wrap="none" rtlCol="0">
            <a:spAutoFit/>
          </a:bodyPr>
          <a:lstStyle/>
          <a:p>
            <a:r>
              <a:rPr lang="en-US" sz="1500" dirty="0">
                <a:solidFill>
                  <a:srgbClr val="662C5B"/>
                </a:solidFill>
              </a:rPr>
              <a:t>Raising a new Generation of Leaders</a:t>
            </a:r>
            <a:endParaRPr lang="en-GB" sz="1500" dirty="0">
              <a:solidFill>
                <a:srgbClr val="662C5B"/>
              </a:solidFill>
            </a:endParaRPr>
          </a:p>
        </p:txBody>
      </p:sp>
      <p:sp>
        <p:nvSpPr>
          <p:cNvPr id="14" name="TextBox 13"/>
          <p:cNvSpPr txBox="1"/>
          <p:nvPr/>
        </p:nvSpPr>
        <p:spPr>
          <a:xfrm>
            <a:off x="6750699" y="0"/>
            <a:ext cx="2442592" cy="300082"/>
          </a:xfrm>
          <a:prstGeom prst="rect">
            <a:avLst/>
          </a:prstGeom>
          <a:noFill/>
        </p:spPr>
        <p:txBody>
          <a:bodyPr wrap="none" rtlCol="0">
            <a:spAutoFit/>
          </a:bodyPr>
          <a:lstStyle/>
          <a:p>
            <a:r>
              <a:rPr lang="en-US" sz="1350" dirty="0"/>
              <a:t>www.covenantuniversity.edu.ng</a:t>
            </a:r>
            <a:endParaRPr lang="en-GB" sz="1350" dirty="0"/>
          </a:p>
        </p:txBody>
      </p:sp>
      <p:pic>
        <p:nvPicPr>
          <p:cNvPr id="3074" name="Picture 2" descr="C:\Users\Ours\Desktop\Picture3.png"/>
          <p:cNvPicPr>
            <a:picLocks noChangeAspect="1" noChangeArrowheads="1"/>
          </p:cNvPicPr>
          <p:nvPr/>
        </p:nvPicPr>
        <p:blipFill>
          <a:blip r:embed="rId4" cstate="print"/>
          <a:srcRect/>
          <a:stretch>
            <a:fillRect/>
          </a:stretch>
        </p:blipFill>
        <p:spPr bwMode="auto">
          <a:xfrm>
            <a:off x="846556" y="692717"/>
            <a:ext cx="3798296" cy="817563"/>
          </a:xfrm>
          <a:prstGeom prst="rect">
            <a:avLst/>
          </a:prstGeom>
          <a:noFill/>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0628" y="153144"/>
            <a:ext cx="8783372" cy="1115616"/>
          </a:xfrm>
          <a:solidFill>
            <a:schemeClr val="bg1"/>
          </a:solidFill>
          <a:ln w="57150">
            <a:noFill/>
          </a:ln>
        </p:spPr>
        <p:txBody>
          <a:bodyPr>
            <a:normAutofit/>
          </a:bodyPr>
          <a:lstStyle>
            <a:lvl1pPr algn="l">
              <a:defRPr sz="4049" b="1">
                <a:solidFill>
                  <a:schemeClr val="tx1">
                    <a:lumMod val="95000"/>
                    <a:lumOff val="5000"/>
                  </a:schemeClr>
                </a:solidFill>
                <a:latin typeface="Rockwell Condensed" pitchFamily="18" charset="0"/>
                <a:cs typeface="Times New Roman" pitchFamily="18" charset="0"/>
              </a:defRPr>
            </a:lvl1pPr>
          </a:lstStyle>
          <a:p>
            <a:r>
              <a:rPr lang="en-US" dirty="0"/>
              <a:t>Click to edit master title style</a:t>
            </a:r>
            <a:endParaRPr lang="en-GB" dirty="0"/>
          </a:p>
        </p:txBody>
      </p:sp>
      <p:sp>
        <p:nvSpPr>
          <p:cNvPr id="4" name="Date Placeholder 3"/>
          <p:cNvSpPr>
            <a:spLocks noGrp="1"/>
          </p:cNvSpPr>
          <p:nvPr>
            <p:ph type="dt" sz="half" idx="10"/>
          </p:nvPr>
        </p:nvSpPr>
        <p:spPr/>
        <p:txBody>
          <a:bodyPr/>
          <a:lstStyle/>
          <a:p>
            <a:fld id="{F18F80AA-F940-4969-8773-6E06463B2A7A}"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pic>
        <p:nvPicPr>
          <p:cNvPr id="7" name="Picture 2" descr="C:\Users\Ours\Desktop\flash\c.u..jpg"/>
          <p:cNvPicPr>
            <a:picLocks noChangeAspect="1" noChangeArrowheads="1"/>
          </p:cNvPicPr>
          <p:nvPr/>
        </p:nvPicPr>
        <p:blipFill>
          <a:blip r:embed="rId2" cstate="print">
            <a:duotone>
              <a:prstClr val="black"/>
              <a:srgbClr val="800080">
                <a:alpha val="78824"/>
                <a:tint val="45000"/>
                <a:satMod val="400000"/>
              </a:srgbClr>
            </a:duotone>
          </a:blip>
          <a:srcRect t="41294" b="49226"/>
          <a:stretch>
            <a:fillRect/>
          </a:stretch>
        </p:blipFill>
        <p:spPr bwMode="auto">
          <a:xfrm>
            <a:off x="1" y="6309320"/>
            <a:ext cx="9209063" cy="773752"/>
          </a:xfrm>
          <a:prstGeom prst="rect">
            <a:avLst/>
          </a:prstGeom>
          <a:noFill/>
        </p:spPr>
      </p:pic>
      <p:sp>
        <p:nvSpPr>
          <p:cNvPr id="8" name="Slide Number Placeholder 5"/>
          <p:cNvSpPr txBox="1">
            <a:spLocks/>
          </p:cNvSpPr>
          <p:nvPr/>
        </p:nvSpPr>
        <p:spPr>
          <a:xfrm>
            <a:off x="8081477" y="6336704"/>
            <a:ext cx="783808" cy="548680"/>
          </a:xfrm>
          <a:prstGeom prst="rect">
            <a:avLst/>
          </a:prstGeom>
          <a:solidFill>
            <a:srgbClr val="F7F7F7">
              <a:alpha val="45098"/>
            </a:srgbClr>
          </a:solidFill>
        </p:spPr>
        <p:txBody>
          <a:bodyPr vert="horz" lIns="68562" tIns="34281" rIns="68562" bIns="34281" rtlCol="0" anchor="ctr"/>
          <a:lstStyle>
            <a:lvl1pPr>
              <a:defRPr sz="1400" b="1">
                <a:solidFill>
                  <a:schemeClr val="tx1">
                    <a:lumMod val="95000"/>
                    <a:lumOff val="5000"/>
                  </a:schemeClr>
                </a:solidFill>
                <a:latin typeface="Georgia" pitchFamily="18" charset="0"/>
              </a:defRPr>
            </a:lvl1pPr>
          </a:lstStyle>
          <a:p>
            <a:pPr marL="0" marR="0" lvl="0" indent="0" algn="r" defTabSz="685617" rtl="0" eaLnBrk="1" fontAlgn="auto" latinLnBrk="0" hangingPunct="1">
              <a:lnSpc>
                <a:spcPct val="100000"/>
              </a:lnSpc>
              <a:spcBef>
                <a:spcPts val="0"/>
              </a:spcBef>
              <a:spcAft>
                <a:spcPts val="0"/>
              </a:spcAft>
              <a:buClrTx/>
              <a:buSzTx/>
              <a:buFontTx/>
              <a:buNone/>
              <a:tabLst/>
              <a:defRPr/>
            </a:pPr>
            <a:fld id="{5FE708FE-ED12-4ACB-81C9-F40A112777FF}" type="slidenum">
              <a:rPr kumimoji="0" lang="en-GB" sz="2099" b="1" i="0" u="none" strike="noStrike" kern="1200" cap="none" spc="0" normalizeH="0" baseline="0" noProof="0" smtClean="0">
                <a:ln>
                  <a:noFill/>
                </a:ln>
                <a:solidFill>
                  <a:schemeClr val="bg1"/>
                </a:solidFill>
                <a:effectLst/>
                <a:uLnTx/>
                <a:uFillTx/>
                <a:latin typeface="Georgia" pitchFamily="18" charset="0"/>
                <a:ea typeface="+mn-ea"/>
                <a:cs typeface="+mn-cs"/>
              </a:rPr>
              <a:pPr marL="0" marR="0" lvl="0" indent="0" algn="r" defTabSz="685617" rtl="0" eaLnBrk="1" fontAlgn="auto" latinLnBrk="0" hangingPunct="1">
                <a:lnSpc>
                  <a:spcPct val="100000"/>
                </a:lnSpc>
                <a:spcBef>
                  <a:spcPts val="0"/>
                </a:spcBef>
                <a:spcAft>
                  <a:spcPts val="0"/>
                </a:spcAft>
                <a:buClrTx/>
                <a:buSzTx/>
                <a:buFontTx/>
                <a:buNone/>
                <a:tabLst/>
                <a:defRPr/>
              </a:pPr>
              <a:t>‹#›</a:t>
            </a:fld>
            <a:endParaRPr kumimoji="0" lang="en-GB" sz="2099" b="1" i="0" u="none" strike="noStrike" kern="1200" cap="none" spc="0" normalizeH="0" baseline="0" noProof="0" dirty="0">
              <a:ln>
                <a:noFill/>
              </a:ln>
              <a:solidFill>
                <a:schemeClr val="bg1"/>
              </a:solidFill>
              <a:effectLst/>
              <a:uLnTx/>
              <a:uFillTx/>
              <a:latin typeface="Georgia" pitchFamily="18" charset="0"/>
              <a:ea typeface="+mn-ea"/>
              <a:cs typeface="+mn-cs"/>
            </a:endParaRPr>
          </a:p>
        </p:txBody>
      </p:sp>
      <p:pic>
        <p:nvPicPr>
          <p:cNvPr id="10" name="Picture 2" descr="C:\Users\Ours\Desktop\my stuffs\1 NTFS_000\LostFiles2\INSPIRATION\PROJECTS\MIND PROJECTS\cu_logo.png"/>
          <p:cNvPicPr>
            <a:picLocks noChangeAspect="1" noChangeArrowheads="1"/>
          </p:cNvPicPr>
          <p:nvPr/>
        </p:nvPicPr>
        <p:blipFill>
          <a:blip r:embed="rId3" cstate="print"/>
          <a:srcRect/>
          <a:stretch>
            <a:fillRect/>
          </a:stretch>
        </p:blipFill>
        <p:spPr bwMode="auto">
          <a:xfrm>
            <a:off x="107984" y="6363534"/>
            <a:ext cx="468612" cy="665866"/>
          </a:xfrm>
          <a:prstGeom prst="rect">
            <a:avLst/>
          </a:prstGeom>
          <a:noFill/>
        </p:spPr>
      </p:pic>
      <p:sp>
        <p:nvSpPr>
          <p:cNvPr id="3" name="Content Placeholder 2"/>
          <p:cNvSpPr>
            <a:spLocks noGrp="1"/>
          </p:cNvSpPr>
          <p:nvPr>
            <p:ph idx="1"/>
          </p:nvPr>
        </p:nvSpPr>
        <p:spPr>
          <a:xfrm>
            <a:off x="179512" y="1412776"/>
            <a:ext cx="8784976" cy="4824536"/>
          </a:xfrm>
          <a:solidFill>
            <a:schemeClr val="bg1"/>
          </a:solidFill>
          <a:ln>
            <a:noFill/>
          </a:ln>
        </p:spPr>
        <p:txBody>
          <a:bodyPr>
            <a:normAutofit/>
          </a:bodyPr>
          <a:lstStyle>
            <a:lvl1pPr>
              <a:lnSpc>
                <a:spcPct val="100000"/>
              </a:lnSpc>
              <a:spcBef>
                <a:spcPts val="375"/>
              </a:spcBef>
              <a:spcAft>
                <a:spcPts val="375"/>
              </a:spcAft>
              <a:defRPr sz="2999">
                <a:latin typeface="Rockwell" pitchFamily="18" charset="0"/>
              </a:defRPr>
            </a:lvl1pPr>
            <a:lvl2pPr>
              <a:lnSpc>
                <a:spcPct val="100000"/>
              </a:lnSpc>
              <a:spcBef>
                <a:spcPts val="375"/>
              </a:spcBef>
              <a:spcAft>
                <a:spcPts val="375"/>
              </a:spcAft>
              <a:buFont typeface="Wingdings" pitchFamily="2" charset="2"/>
              <a:buChar char="§"/>
              <a:defRPr sz="2699">
                <a:solidFill>
                  <a:srgbClr val="7A0000"/>
                </a:solidFill>
                <a:latin typeface="Rockwell" pitchFamily="18" charset="0"/>
              </a:defRPr>
            </a:lvl2pPr>
            <a:lvl3pPr>
              <a:lnSpc>
                <a:spcPct val="100000"/>
              </a:lnSpc>
              <a:spcBef>
                <a:spcPts val="375"/>
              </a:spcBef>
              <a:spcAft>
                <a:spcPts val="375"/>
              </a:spcAft>
              <a:buFont typeface="Calibri" pitchFamily="34" charset="0"/>
              <a:buChar char="‒"/>
              <a:defRPr sz="2399">
                <a:solidFill>
                  <a:schemeClr val="accent4">
                    <a:lumMod val="50000"/>
                  </a:schemeClr>
                </a:solidFill>
                <a:latin typeface="Rockwell" pitchFamily="18" charset="0"/>
              </a:defRPr>
            </a:lvl3pPr>
            <a:lvl4pPr>
              <a:lnSpc>
                <a:spcPct val="100000"/>
              </a:lnSpc>
              <a:spcBef>
                <a:spcPts val="375"/>
              </a:spcBef>
              <a:spcAft>
                <a:spcPts val="375"/>
              </a:spcAft>
              <a:buFont typeface="Arial" pitchFamily="34" charset="0"/>
              <a:buChar char="•"/>
              <a:defRPr sz="2099">
                <a:latin typeface="Rockwell" pitchFamily="18" charset="0"/>
              </a:defRPr>
            </a:lvl4pPr>
            <a:lvl5pPr>
              <a:lnSpc>
                <a:spcPct val="100000"/>
              </a:lnSpc>
              <a:spcBef>
                <a:spcPts val="375"/>
              </a:spcBef>
              <a:spcAft>
                <a:spcPts val="375"/>
              </a:spcAft>
              <a:defRPr sz="2099">
                <a:latin typeface="Rockwell"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026" name="Picture 2" descr="C:\Users\Ours\Desktop\Picture1.png"/>
          <p:cNvPicPr>
            <a:picLocks noChangeAspect="1" noChangeArrowheads="1"/>
          </p:cNvPicPr>
          <p:nvPr/>
        </p:nvPicPr>
        <p:blipFill>
          <a:blip r:embed="rId4" cstate="print"/>
          <a:srcRect/>
          <a:stretch>
            <a:fillRect/>
          </a:stretch>
        </p:blipFill>
        <p:spPr bwMode="auto">
          <a:xfrm>
            <a:off x="414621" y="6317328"/>
            <a:ext cx="4481332" cy="640064"/>
          </a:xfrm>
          <a:prstGeom prst="rect">
            <a:avLst/>
          </a:prstGeom>
          <a:noFill/>
        </p:spPr>
      </p:pic>
      <p:sp>
        <p:nvSpPr>
          <p:cNvPr id="13" name="TextBox 12"/>
          <p:cNvSpPr txBox="1"/>
          <p:nvPr/>
        </p:nvSpPr>
        <p:spPr>
          <a:xfrm>
            <a:off x="542878" y="6707451"/>
            <a:ext cx="1709122" cy="230832"/>
          </a:xfrm>
          <a:prstGeom prst="rect">
            <a:avLst/>
          </a:prstGeom>
          <a:noFill/>
        </p:spPr>
        <p:txBody>
          <a:bodyPr wrap="none" rtlCol="0">
            <a:spAutoFit/>
          </a:bodyPr>
          <a:lstStyle/>
          <a:p>
            <a:r>
              <a:rPr lang="en-US" sz="900" dirty="0"/>
              <a:t>www.covenantuniversity.edu.ng</a:t>
            </a:r>
            <a:endParaRPr lang="en-GB" sz="900" dirty="0"/>
          </a:p>
        </p:txBody>
      </p:sp>
      <p:cxnSp>
        <p:nvCxnSpPr>
          <p:cNvPr id="19" name="Straight Connector 18"/>
          <p:cNvCxnSpPr/>
          <p:nvPr/>
        </p:nvCxnSpPr>
        <p:spPr>
          <a:xfrm flipV="1">
            <a:off x="6515719" y="1340768"/>
            <a:ext cx="1349649" cy="0"/>
          </a:xfrm>
          <a:prstGeom prst="line">
            <a:avLst/>
          </a:prstGeom>
          <a:ln w="28575">
            <a:solidFill>
              <a:srgbClr val="662C5B"/>
            </a:solidFill>
          </a:ln>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flipV="1">
            <a:off x="7892499" y="1340768"/>
            <a:ext cx="53985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22" name="Straight Connector 21"/>
          <p:cNvCxnSpPr/>
          <p:nvPr/>
        </p:nvCxnSpPr>
        <p:spPr>
          <a:xfrm flipV="1">
            <a:off x="8459489" y="1340768"/>
            <a:ext cx="539859"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pic>
        <p:nvPicPr>
          <p:cNvPr id="14"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41294" b="49226"/>
          <a:stretch>
            <a:fillRect/>
          </a:stretch>
        </p:blipFill>
        <p:spPr bwMode="auto">
          <a:xfrm>
            <a:off x="1" y="6309320"/>
            <a:ext cx="9209063" cy="773752"/>
          </a:xfrm>
          <a:prstGeom prst="rect">
            <a:avLst/>
          </a:prstGeom>
          <a:noFill/>
        </p:spPr>
      </p:pic>
      <p:sp>
        <p:nvSpPr>
          <p:cNvPr id="15" name="Slide Number Placeholder 5"/>
          <p:cNvSpPr txBox="1">
            <a:spLocks/>
          </p:cNvSpPr>
          <p:nvPr userDrawn="1"/>
        </p:nvSpPr>
        <p:spPr>
          <a:xfrm>
            <a:off x="8081477" y="6336704"/>
            <a:ext cx="783808" cy="548680"/>
          </a:xfrm>
          <a:prstGeom prst="rect">
            <a:avLst/>
          </a:prstGeom>
          <a:solidFill>
            <a:srgbClr val="F7F7F7">
              <a:alpha val="45098"/>
            </a:srgbClr>
          </a:solidFill>
        </p:spPr>
        <p:txBody>
          <a:bodyPr vert="horz" lIns="68562" tIns="34281" rIns="68562" bIns="34281" rtlCol="0" anchor="ctr"/>
          <a:lstStyle>
            <a:lvl1pPr>
              <a:defRPr sz="1400" b="1">
                <a:solidFill>
                  <a:schemeClr val="tx1">
                    <a:lumMod val="95000"/>
                    <a:lumOff val="5000"/>
                  </a:schemeClr>
                </a:solidFill>
                <a:latin typeface="Georgia" pitchFamily="18" charset="0"/>
              </a:defRPr>
            </a:lvl1pPr>
          </a:lstStyle>
          <a:p>
            <a:pPr marL="0" marR="0" lvl="0" indent="0" algn="r" defTabSz="685617" rtl="0" eaLnBrk="1" fontAlgn="auto" latinLnBrk="0" hangingPunct="1">
              <a:lnSpc>
                <a:spcPct val="100000"/>
              </a:lnSpc>
              <a:spcBef>
                <a:spcPts val="0"/>
              </a:spcBef>
              <a:spcAft>
                <a:spcPts val="0"/>
              </a:spcAft>
              <a:buClrTx/>
              <a:buSzTx/>
              <a:buFontTx/>
              <a:buNone/>
              <a:tabLst/>
              <a:defRPr/>
            </a:pPr>
            <a:fld id="{5FE708FE-ED12-4ACB-81C9-F40A112777FF}" type="slidenum">
              <a:rPr kumimoji="0" lang="en-GB" sz="2099" b="1" i="0" u="none" strike="noStrike" kern="1200" cap="none" spc="0" normalizeH="0" baseline="0" noProof="0" smtClean="0">
                <a:ln>
                  <a:noFill/>
                </a:ln>
                <a:solidFill>
                  <a:schemeClr val="bg1"/>
                </a:solidFill>
                <a:effectLst/>
                <a:uLnTx/>
                <a:uFillTx/>
                <a:latin typeface="Georgia" pitchFamily="18" charset="0"/>
                <a:ea typeface="+mn-ea"/>
                <a:cs typeface="+mn-cs"/>
              </a:rPr>
              <a:pPr marL="0" marR="0" lvl="0" indent="0" algn="r" defTabSz="685617" rtl="0" eaLnBrk="1" fontAlgn="auto" latinLnBrk="0" hangingPunct="1">
                <a:lnSpc>
                  <a:spcPct val="100000"/>
                </a:lnSpc>
                <a:spcBef>
                  <a:spcPts val="0"/>
                </a:spcBef>
                <a:spcAft>
                  <a:spcPts val="0"/>
                </a:spcAft>
                <a:buClrTx/>
                <a:buSzTx/>
                <a:buFontTx/>
                <a:buNone/>
                <a:tabLst/>
                <a:defRPr/>
              </a:pPr>
              <a:t>‹#›</a:t>
            </a:fld>
            <a:endParaRPr kumimoji="0" lang="en-GB" sz="2099" b="1" i="0" u="none" strike="noStrike" kern="1200" cap="none" spc="0" normalizeH="0" baseline="0" noProof="0" dirty="0">
              <a:ln>
                <a:noFill/>
              </a:ln>
              <a:solidFill>
                <a:schemeClr val="bg1"/>
              </a:solidFill>
              <a:effectLst/>
              <a:uLnTx/>
              <a:uFillTx/>
              <a:latin typeface="Georgia" pitchFamily="18" charset="0"/>
              <a:ea typeface="+mn-ea"/>
              <a:cs typeface="+mn-cs"/>
            </a:endParaRPr>
          </a:p>
        </p:txBody>
      </p:sp>
      <p:pic>
        <p:nvPicPr>
          <p:cNvPr id="16"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107984" y="6363534"/>
            <a:ext cx="468612" cy="665866"/>
          </a:xfrm>
          <a:prstGeom prst="rect">
            <a:avLst/>
          </a:prstGeom>
          <a:noFill/>
        </p:spPr>
      </p:pic>
      <p:pic>
        <p:nvPicPr>
          <p:cNvPr id="17" name="Picture 2" descr="C:\Users\Ours\Desktop\Picture1.png"/>
          <p:cNvPicPr>
            <a:picLocks noChangeAspect="1" noChangeArrowheads="1"/>
          </p:cNvPicPr>
          <p:nvPr userDrawn="1"/>
        </p:nvPicPr>
        <p:blipFill>
          <a:blip r:embed="rId4" cstate="print"/>
          <a:srcRect/>
          <a:stretch>
            <a:fillRect/>
          </a:stretch>
        </p:blipFill>
        <p:spPr bwMode="auto">
          <a:xfrm>
            <a:off x="414621" y="6317328"/>
            <a:ext cx="4481332" cy="640064"/>
          </a:xfrm>
          <a:prstGeom prst="rect">
            <a:avLst/>
          </a:prstGeom>
          <a:noFill/>
        </p:spPr>
      </p:pic>
      <p:sp>
        <p:nvSpPr>
          <p:cNvPr id="18" name="TextBox 17"/>
          <p:cNvSpPr txBox="1"/>
          <p:nvPr userDrawn="1"/>
        </p:nvSpPr>
        <p:spPr>
          <a:xfrm>
            <a:off x="542878" y="6707453"/>
            <a:ext cx="1709122" cy="230832"/>
          </a:xfrm>
          <a:prstGeom prst="rect">
            <a:avLst/>
          </a:prstGeom>
          <a:noFill/>
        </p:spPr>
        <p:txBody>
          <a:bodyPr wrap="none" rtlCol="0">
            <a:spAutoFit/>
          </a:bodyPr>
          <a:lstStyle/>
          <a:p>
            <a:r>
              <a:rPr lang="en-US" sz="900" dirty="0"/>
              <a:t>www.covenantuniversity.edu.ng</a:t>
            </a:r>
            <a:endParaRPr lang="en-GB" sz="900" dirty="0"/>
          </a:p>
        </p:txBody>
      </p:sp>
      <p:cxnSp>
        <p:nvCxnSpPr>
          <p:cNvPr id="20" name="Straight Connector 19"/>
          <p:cNvCxnSpPr/>
          <p:nvPr userDrawn="1"/>
        </p:nvCxnSpPr>
        <p:spPr>
          <a:xfrm flipV="1">
            <a:off x="6515720" y="1340768"/>
            <a:ext cx="1349649" cy="0"/>
          </a:xfrm>
          <a:prstGeom prst="line">
            <a:avLst/>
          </a:prstGeom>
          <a:ln w="28575">
            <a:solidFill>
              <a:srgbClr val="662C5B"/>
            </a:solidFill>
          </a:ln>
        </p:spPr>
        <p:style>
          <a:lnRef idx="1">
            <a:schemeClr val="dk1"/>
          </a:lnRef>
          <a:fillRef idx="0">
            <a:schemeClr val="dk1"/>
          </a:fillRef>
          <a:effectRef idx="0">
            <a:schemeClr val="dk1"/>
          </a:effectRef>
          <a:fontRef idx="minor">
            <a:schemeClr val="tx1"/>
          </a:fontRef>
        </p:style>
      </p:cxnSp>
      <p:cxnSp>
        <p:nvCxnSpPr>
          <p:cNvPr id="23" name="Straight Connector 22"/>
          <p:cNvCxnSpPr/>
          <p:nvPr userDrawn="1"/>
        </p:nvCxnSpPr>
        <p:spPr>
          <a:xfrm flipV="1">
            <a:off x="7892500" y="1340768"/>
            <a:ext cx="53985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24" name="Straight Connector 23"/>
          <p:cNvCxnSpPr/>
          <p:nvPr userDrawn="1"/>
        </p:nvCxnSpPr>
        <p:spPr>
          <a:xfrm flipV="1">
            <a:off x="8459490" y="1340768"/>
            <a:ext cx="539859"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4" y="4406922"/>
            <a:ext cx="7772400" cy="1362075"/>
          </a:xfrm>
        </p:spPr>
        <p:txBody>
          <a:bodyPr anchor="t"/>
          <a:lstStyle>
            <a:lvl1pPr algn="l">
              <a:defRPr sz="2999" b="1" cap="all"/>
            </a:lvl1pPr>
          </a:lstStyle>
          <a:p>
            <a:r>
              <a:rPr lang="en-US"/>
              <a:t>Click to edit Master title style</a:t>
            </a:r>
            <a:endParaRPr lang="en-GB"/>
          </a:p>
        </p:txBody>
      </p:sp>
      <p:sp>
        <p:nvSpPr>
          <p:cNvPr id="3" name="Text Placeholder 2"/>
          <p:cNvSpPr>
            <a:spLocks noGrp="1"/>
          </p:cNvSpPr>
          <p:nvPr>
            <p:ph type="body" idx="1"/>
          </p:nvPr>
        </p:nvSpPr>
        <p:spPr>
          <a:xfrm>
            <a:off x="722314" y="2906713"/>
            <a:ext cx="7772400" cy="1500187"/>
          </a:xfrm>
        </p:spPr>
        <p:txBody>
          <a:bodyPr anchor="b"/>
          <a:lstStyle>
            <a:lvl1pPr marL="0" indent="0">
              <a:buNone/>
              <a:defRPr sz="1500">
                <a:solidFill>
                  <a:schemeClr val="tx1">
                    <a:tint val="75000"/>
                  </a:schemeClr>
                </a:solidFill>
              </a:defRPr>
            </a:lvl1pPr>
            <a:lvl2pPr marL="342809" indent="0">
              <a:buNone/>
              <a:defRPr sz="1350">
                <a:solidFill>
                  <a:schemeClr val="tx1">
                    <a:tint val="75000"/>
                  </a:schemeClr>
                </a:solidFill>
              </a:defRPr>
            </a:lvl2pPr>
            <a:lvl3pPr marL="685617" indent="0">
              <a:buNone/>
              <a:defRPr sz="1200">
                <a:solidFill>
                  <a:schemeClr val="tx1">
                    <a:tint val="75000"/>
                  </a:schemeClr>
                </a:solidFill>
              </a:defRPr>
            </a:lvl3pPr>
            <a:lvl4pPr marL="1028426" indent="0">
              <a:buNone/>
              <a:defRPr sz="1050">
                <a:solidFill>
                  <a:schemeClr val="tx1">
                    <a:tint val="75000"/>
                  </a:schemeClr>
                </a:solidFill>
              </a:defRPr>
            </a:lvl4pPr>
            <a:lvl5pPr marL="1371234" indent="0">
              <a:buNone/>
              <a:defRPr sz="1050">
                <a:solidFill>
                  <a:schemeClr val="tx1">
                    <a:tint val="75000"/>
                  </a:schemeClr>
                </a:solidFill>
              </a:defRPr>
            </a:lvl5pPr>
            <a:lvl6pPr marL="1714043" indent="0">
              <a:buNone/>
              <a:defRPr sz="1050">
                <a:solidFill>
                  <a:schemeClr val="tx1">
                    <a:tint val="75000"/>
                  </a:schemeClr>
                </a:solidFill>
              </a:defRPr>
            </a:lvl6pPr>
            <a:lvl7pPr marL="2056851" indent="0">
              <a:buNone/>
              <a:defRPr sz="1050">
                <a:solidFill>
                  <a:schemeClr val="tx1">
                    <a:tint val="75000"/>
                  </a:schemeClr>
                </a:solidFill>
              </a:defRPr>
            </a:lvl7pPr>
            <a:lvl8pPr marL="2399660" indent="0">
              <a:buNone/>
              <a:defRPr sz="1050">
                <a:solidFill>
                  <a:schemeClr val="tx1">
                    <a:tint val="75000"/>
                  </a:schemeClr>
                </a:solidFill>
              </a:defRPr>
            </a:lvl8pPr>
            <a:lvl9pPr marL="2742468"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C4DCE7-BD50-433F-BB05-C60A4C27116D}"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6"/>
            <a:ext cx="4038600"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6"/>
            <a:ext cx="4038600"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4AA6DC4C-467C-44EC-9BD1-0789C1B2A09B}" type="datetime1">
              <a:rPr lang="en-GB" smtClean="0"/>
              <a:t>19/Mar/21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36" y="1535113"/>
            <a:ext cx="4041775"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3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103832FD-BCB0-454E-8C2A-214B5CA220D2}" type="datetime1">
              <a:rPr lang="en-GB" smtClean="0"/>
              <a:t>19/Mar/21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D93E47F2-CC24-4D52-A90E-4D7CBD06ABAD}" type="datetime1">
              <a:rPr lang="en-GB" smtClean="0"/>
              <a:t>19/Mar/21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C61270-0141-4616-BD26-AFC39E35E8D4}" type="datetime1">
              <a:rPr lang="en-GB" smtClean="0"/>
              <a:t>19/Mar/21</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1" y="273050"/>
            <a:ext cx="3008313"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5050" y="273072"/>
            <a:ext cx="5111750" cy="5853113"/>
          </a:xfrm>
        </p:spPr>
        <p:txBody>
          <a:bodyPr/>
          <a:lstStyle>
            <a:lvl1pPr>
              <a:defRPr sz="2399"/>
            </a:lvl1pPr>
            <a:lvl2pPr>
              <a:defRPr sz="2099"/>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11" y="1435103"/>
            <a:ext cx="3008313" cy="4691063"/>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79A6BF82-D52B-4265-9C49-B49C2DDF5ADD}" type="datetime1">
              <a:rPr lang="en-GB" smtClean="0"/>
              <a:t>19/Mar/21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9" y="4800600"/>
            <a:ext cx="5486400"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289" y="612775"/>
            <a:ext cx="5486400" cy="4114800"/>
          </a:xfrm>
        </p:spPr>
        <p:txBody>
          <a:bodyPr/>
          <a:lstStyle>
            <a:lvl1pPr marL="0" indent="0">
              <a:buNone/>
              <a:defRPr sz="2399"/>
            </a:lvl1pPr>
            <a:lvl2pPr marL="342809" indent="0">
              <a:buNone/>
              <a:defRPr sz="2099"/>
            </a:lvl2pPr>
            <a:lvl3pPr marL="685617" indent="0">
              <a:buNone/>
              <a:defRPr sz="1800"/>
            </a:lvl3pPr>
            <a:lvl4pPr marL="1028426" indent="0">
              <a:buNone/>
              <a:defRPr sz="1500"/>
            </a:lvl4pPr>
            <a:lvl5pPr marL="1371234" indent="0">
              <a:buNone/>
              <a:defRPr sz="1500"/>
            </a:lvl5pPr>
            <a:lvl6pPr marL="1714043" indent="0">
              <a:buNone/>
              <a:defRPr sz="1500"/>
            </a:lvl6pPr>
            <a:lvl7pPr marL="2056851" indent="0">
              <a:buNone/>
              <a:defRPr sz="1500"/>
            </a:lvl7pPr>
            <a:lvl8pPr marL="2399660" indent="0">
              <a:buNone/>
              <a:defRPr sz="1500"/>
            </a:lvl8pPr>
            <a:lvl9pPr marL="2742468"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1792289" y="5367338"/>
            <a:ext cx="5486400" cy="804862"/>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E502A99E-579E-45D2-A686-5B970B311C4E}" type="datetime1">
              <a:rPr lang="en-GB" smtClean="0"/>
              <a:t>19/Mar/21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6A2CF07-F3B0-427F-A675-E847322B7BBC}"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60"/>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6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50C9BCC-119C-499F-88DC-5EFC653126EE}"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12"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169" b="15477"/>
          <a:stretch>
            <a:fillRect/>
          </a:stretch>
        </p:blipFill>
        <p:spPr bwMode="auto">
          <a:xfrm>
            <a:off x="1" y="-54768"/>
            <a:ext cx="9209063" cy="6912768"/>
          </a:xfrm>
          <a:prstGeom prst="rect">
            <a:avLst/>
          </a:prstGeom>
          <a:noFill/>
        </p:spPr>
      </p:pic>
      <p:pic>
        <p:nvPicPr>
          <p:cNvPr id="8"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198654" y="548680"/>
            <a:ext cx="912180" cy="1296144"/>
          </a:xfrm>
          <a:prstGeom prst="rect">
            <a:avLst/>
          </a:prstGeom>
          <a:noFill/>
        </p:spPr>
      </p:pic>
      <p:sp>
        <p:nvSpPr>
          <p:cNvPr id="10" name="Title 1"/>
          <p:cNvSpPr>
            <a:spLocks noGrp="1"/>
          </p:cNvSpPr>
          <p:nvPr userDrawn="1">
            <p:ph type="ctrTitle"/>
          </p:nvPr>
        </p:nvSpPr>
        <p:spPr>
          <a:xfrm>
            <a:off x="685800" y="2204865"/>
            <a:ext cx="7772400" cy="2520280"/>
          </a:xfrm>
          <a:solidFill>
            <a:srgbClr val="CC3399">
              <a:alpha val="83137"/>
            </a:srgbClr>
          </a:solidFill>
        </p:spPr>
        <p:txBody>
          <a:bodyPr>
            <a:normAutofit/>
          </a:bodyPr>
          <a:lstStyle/>
          <a:p>
            <a:endParaRPr lang="en-GB" sz="4949" b="1" dirty="0">
              <a:solidFill>
                <a:schemeClr val="bg1"/>
              </a:solidFill>
              <a:latin typeface="Rockwell" pitchFamily="18" charset="0"/>
            </a:endParaRPr>
          </a:p>
        </p:txBody>
      </p:sp>
      <p:sp>
        <p:nvSpPr>
          <p:cNvPr id="11" name="Subtitle 2"/>
          <p:cNvSpPr>
            <a:spLocks noGrp="1"/>
          </p:cNvSpPr>
          <p:nvPr userDrawn="1">
            <p:ph type="subTitle" idx="1"/>
          </p:nvPr>
        </p:nvSpPr>
        <p:spPr>
          <a:xfrm>
            <a:off x="1278493" y="4869160"/>
            <a:ext cx="6400800" cy="1752600"/>
          </a:xfrm>
          <a:solidFill>
            <a:srgbClr val="FFFFFF">
              <a:alpha val="63137"/>
            </a:srgbClr>
          </a:solidFill>
        </p:spPr>
        <p:txBody>
          <a:bodyPr>
            <a:normAutofit/>
          </a:bodyPr>
          <a:lstStyle>
            <a:lvl1pPr algn="ctr">
              <a:buNone/>
              <a:defRPr sz="2999">
                <a:ln>
                  <a:noFill/>
                </a:ln>
                <a:solidFill>
                  <a:srgbClr val="002060"/>
                </a:solidFill>
              </a:defRPr>
            </a:lvl1pPr>
          </a:lstStyle>
          <a:p>
            <a:endParaRPr lang="en-GB" dirty="0">
              <a:solidFill>
                <a:schemeClr val="bg1"/>
              </a:solidFill>
              <a:latin typeface="Rockwell" pitchFamily="18" charset="0"/>
            </a:endParaRPr>
          </a:p>
        </p:txBody>
      </p:sp>
      <p:sp>
        <p:nvSpPr>
          <p:cNvPr id="13" name="TextBox 12"/>
          <p:cNvSpPr txBox="1"/>
          <p:nvPr userDrawn="1"/>
        </p:nvSpPr>
        <p:spPr>
          <a:xfrm>
            <a:off x="1008540" y="1268761"/>
            <a:ext cx="3021596" cy="323165"/>
          </a:xfrm>
          <a:prstGeom prst="rect">
            <a:avLst/>
          </a:prstGeom>
          <a:noFill/>
        </p:spPr>
        <p:txBody>
          <a:bodyPr wrap="none" rtlCol="0">
            <a:spAutoFit/>
          </a:bodyPr>
          <a:lstStyle/>
          <a:p>
            <a:r>
              <a:rPr lang="en-US" sz="1500" dirty="0">
                <a:solidFill>
                  <a:srgbClr val="662C5B"/>
                </a:solidFill>
              </a:rPr>
              <a:t>Raising a new Generation of Leaders</a:t>
            </a:r>
            <a:endParaRPr lang="en-GB" sz="1500" dirty="0">
              <a:solidFill>
                <a:srgbClr val="662C5B"/>
              </a:solidFill>
            </a:endParaRPr>
          </a:p>
        </p:txBody>
      </p:sp>
      <p:sp>
        <p:nvSpPr>
          <p:cNvPr id="14" name="TextBox 13"/>
          <p:cNvSpPr txBox="1"/>
          <p:nvPr userDrawn="1"/>
        </p:nvSpPr>
        <p:spPr>
          <a:xfrm>
            <a:off x="6750699" y="0"/>
            <a:ext cx="2442592" cy="300082"/>
          </a:xfrm>
          <a:prstGeom prst="rect">
            <a:avLst/>
          </a:prstGeom>
          <a:noFill/>
        </p:spPr>
        <p:txBody>
          <a:bodyPr wrap="none" rtlCol="0">
            <a:spAutoFit/>
          </a:bodyPr>
          <a:lstStyle/>
          <a:p>
            <a:r>
              <a:rPr lang="en-US" sz="1350" dirty="0"/>
              <a:t>www.covenantuniversity.edu.ng</a:t>
            </a:r>
            <a:endParaRPr lang="en-GB" sz="1350" dirty="0"/>
          </a:p>
        </p:txBody>
      </p:sp>
      <p:pic>
        <p:nvPicPr>
          <p:cNvPr id="3074" name="Picture 2" descr="C:\Users\Ours\Desktop\Picture3.png"/>
          <p:cNvPicPr>
            <a:picLocks noChangeAspect="1" noChangeArrowheads="1"/>
          </p:cNvPicPr>
          <p:nvPr userDrawn="1"/>
        </p:nvPicPr>
        <p:blipFill>
          <a:blip r:embed="rId4" cstate="print"/>
          <a:srcRect/>
          <a:stretch>
            <a:fillRect/>
          </a:stretch>
        </p:blipFill>
        <p:spPr bwMode="auto">
          <a:xfrm>
            <a:off x="846556" y="692719"/>
            <a:ext cx="3798296" cy="817563"/>
          </a:xfrm>
          <a:prstGeom prst="rect">
            <a:avLst/>
          </a:prstGeom>
          <a:noFill/>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632" y="2130446"/>
            <a:ext cx="7772757"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243" y="3886200"/>
            <a:ext cx="6401514" cy="1752600"/>
          </a:xfrm>
        </p:spPr>
        <p:txBody>
          <a:bodyPr/>
          <a:lstStyle>
            <a:lvl1pPr marL="0" indent="0" algn="ctr">
              <a:buNone/>
              <a:defRPr>
                <a:solidFill>
                  <a:schemeClr val="tx1">
                    <a:tint val="75000"/>
                  </a:schemeClr>
                </a:solidFill>
              </a:defRPr>
            </a:lvl1pPr>
            <a:lvl2pPr marL="342809" indent="0" algn="ctr">
              <a:buNone/>
              <a:defRPr>
                <a:solidFill>
                  <a:schemeClr val="tx1">
                    <a:tint val="75000"/>
                  </a:schemeClr>
                </a:solidFill>
              </a:defRPr>
            </a:lvl2pPr>
            <a:lvl3pPr marL="685617" indent="0" algn="ctr">
              <a:buNone/>
              <a:defRPr>
                <a:solidFill>
                  <a:schemeClr val="tx1">
                    <a:tint val="75000"/>
                  </a:schemeClr>
                </a:solidFill>
              </a:defRPr>
            </a:lvl3pPr>
            <a:lvl4pPr marL="1028426" indent="0" algn="ctr">
              <a:buNone/>
              <a:defRPr>
                <a:solidFill>
                  <a:schemeClr val="tx1">
                    <a:tint val="75000"/>
                  </a:schemeClr>
                </a:solidFill>
              </a:defRPr>
            </a:lvl4pPr>
            <a:lvl5pPr marL="1371234" indent="0" algn="ctr">
              <a:buNone/>
              <a:defRPr>
                <a:solidFill>
                  <a:schemeClr val="tx1">
                    <a:tint val="75000"/>
                  </a:schemeClr>
                </a:solidFill>
              </a:defRPr>
            </a:lvl5pPr>
            <a:lvl6pPr marL="1714043" indent="0" algn="ctr">
              <a:buNone/>
              <a:defRPr>
                <a:solidFill>
                  <a:schemeClr val="tx1">
                    <a:tint val="75000"/>
                  </a:schemeClr>
                </a:solidFill>
              </a:defRPr>
            </a:lvl6pPr>
            <a:lvl7pPr marL="2056851" indent="0" algn="ctr">
              <a:buNone/>
              <a:defRPr>
                <a:solidFill>
                  <a:schemeClr val="tx1">
                    <a:tint val="75000"/>
                  </a:schemeClr>
                </a:solidFill>
              </a:defRPr>
            </a:lvl7pPr>
            <a:lvl8pPr marL="2399660" indent="0" algn="ctr">
              <a:buNone/>
              <a:defRPr>
                <a:solidFill>
                  <a:schemeClr val="tx1">
                    <a:tint val="75000"/>
                  </a:schemeClr>
                </a:solidFill>
              </a:defRPr>
            </a:lvl8pPr>
            <a:lvl9pPr marL="2742468"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33DD9A54-D442-4068-9637-4E4E55BD25DE}"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8AFD7524-8F44-4E5B-8CF0-2B59C21FCAB6}"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532" y="4406921"/>
            <a:ext cx="7772757" cy="1362075"/>
          </a:xfrm>
        </p:spPr>
        <p:txBody>
          <a:bodyPr anchor="t"/>
          <a:lstStyle>
            <a:lvl1pPr algn="l">
              <a:defRPr sz="2999" b="1" cap="all"/>
            </a:lvl1pPr>
          </a:lstStyle>
          <a:p>
            <a:r>
              <a:rPr lang="en-US"/>
              <a:t>Click to edit Master title style</a:t>
            </a:r>
            <a:endParaRPr lang="en-GB"/>
          </a:p>
        </p:txBody>
      </p:sp>
      <p:sp>
        <p:nvSpPr>
          <p:cNvPr id="3" name="Text Placeholder 2"/>
          <p:cNvSpPr>
            <a:spLocks noGrp="1"/>
          </p:cNvSpPr>
          <p:nvPr>
            <p:ph type="body" idx="1"/>
          </p:nvPr>
        </p:nvSpPr>
        <p:spPr>
          <a:xfrm>
            <a:off x="722532" y="2906713"/>
            <a:ext cx="7772757" cy="1500187"/>
          </a:xfrm>
        </p:spPr>
        <p:txBody>
          <a:bodyPr anchor="b"/>
          <a:lstStyle>
            <a:lvl1pPr marL="0" indent="0">
              <a:buNone/>
              <a:defRPr sz="1500">
                <a:solidFill>
                  <a:schemeClr val="tx1">
                    <a:tint val="75000"/>
                  </a:schemeClr>
                </a:solidFill>
              </a:defRPr>
            </a:lvl1pPr>
            <a:lvl2pPr marL="342809" indent="0">
              <a:buNone/>
              <a:defRPr sz="1350">
                <a:solidFill>
                  <a:schemeClr val="tx1">
                    <a:tint val="75000"/>
                  </a:schemeClr>
                </a:solidFill>
              </a:defRPr>
            </a:lvl2pPr>
            <a:lvl3pPr marL="685617" indent="0">
              <a:buNone/>
              <a:defRPr sz="1200">
                <a:solidFill>
                  <a:schemeClr val="tx1">
                    <a:tint val="75000"/>
                  </a:schemeClr>
                </a:solidFill>
              </a:defRPr>
            </a:lvl3pPr>
            <a:lvl4pPr marL="1028426" indent="0">
              <a:buNone/>
              <a:defRPr sz="1050">
                <a:solidFill>
                  <a:schemeClr val="tx1">
                    <a:tint val="75000"/>
                  </a:schemeClr>
                </a:solidFill>
              </a:defRPr>
            </a:lvl4pPr>
            <a:lvl5pPr marL="1371234" indent="0">
              <a:buNone/>
              <a:defRPr sz="1050">
                <a:solidFill>
                  <a:schemeClr val="tx1">
                    <a:tint val="75000"/>
                  </a:schemeClr>
                </a:solidFill>
              </a:defRPr>
            </a:lvl5pPr>
            <a:lvl6pPr marL="1714043" indent="0">
              <a:buNone/>
              <a:defRPr sz="1050">
                <a:solidFill>
                  <a:schemeClr val="tx1">
                    <a:tint val="75000"/>
                  </a:schemeClr>
                </a:solidFill>
              </a:defRPr>
            </a:lvl6pPr>
            <a:lvl7pPr marL="2056851" indent="0">
              <a:buNone/>
              <a:defRPr sz="1050">
                <a:solidFill>
                  <a:schemeClr val="tx1">
                    <a:tint val="75000"/>
                  </a:schemeClr>
                </a:solidFill>
              </a:defRPr>
            </a:lvl7pPr>
            <a:lvl8pPr marL="2399660" indent="0">
              <a:buNone/>
              <a:defRPr sz="1050">
                <a:solidFill>
                  <a:schemeClr val="tx1">
                    <a:tint val="75000"/>
                  </a:schemeClr>
                </a:solidFill>
              </a:defRPr>
            </a:lvl8pPr>
            <a:lvl9pPr marL="2742468"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45FC33-D7A0-4B33-AEE3-492F7F7F3E77}"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081" y="1600206"/>
            <a:ext cx="4057784"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29136" y="1600206"/>
            <a:ext cx="4057784" cy="4525963"/>
          </a:xfrm>
        </p:spPr>
        <p:txBody>
          <a:bodyPr/>
          <a:lstStyle>
            <a:lvl1pPr>
              <a:defRPr sz="2099"/>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0323C235-181C-4E79-BB6D-204547F80B9D}" type="datetime1">
              <a:rPr lang="en-GB" smtClean="0"/>
              <a:t>19/Mar/21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091" y="1535113"/>
            <a:ext cx="4039929"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4" name="Content Placeholder 3"/>
          <p:cNvSpPr>
            <a:spLocks noGrp="1"/>
          </p:cNvSpPr>
          <p:nvPr>
            <p:ph sz="half" idx="2"/>
          </p:nvPr>
        </p:nvSpPr>
        <p:spPr>
          <a:xfrm>
            <a:off x="457091" y="2174875"/>
            <a:ext cx="4039929"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4609" y="1535113"/>
            <a:ext cx="4042310" cy="639762"/>
          </a:xfrm>
        </p:spPr>
        <p:txBody>
          <a:bodyPr anchor="b"/>
          <a:lstStyle>
            <a:lvl1pPr marL="0" indent="0">
              <a:buNone/>
              <a:defRPr sz="1800" b="1"/>
            </a:lvl1pPr>
            <a:lvl2pPr marL="342809" indent="0">
              <a:buNone/>
              <a:defRPr sz="1500" b="1"/>
            </a:lvl2pPr>
            <a:lvl3pPr marL="685617" indent="0">
              <a:buNone/>
              <a:defRPr sz="1350" b="1"/>
            </a:lvl3pPr>
            <a:lvl4pPr marL="1028426" indent="0">
              <a:buNone/>
              <a:defRPr sz="1200" b="1"/>
            </a:lvl4pPr>
            <a:lvl5pPr marL="1371234" indent="0">
              <a:buNone/>
              <a:defRPr sz="1200" b="1"/>
            </a:lvl5pPr>
            <a:lvl6pPr marL="1714043" indent="0">
              <a:buNone/>
              <a:defRPr sz="1200" b="1"/>
            </a:lvl6pPr>
            <a:lvl7pPr marL="2056851" indent="0">
              <a:buNone/>
              <a:defRPr sz="1200" b="1"/>
            </a:lvl7pPr>
            <a:lvl8pPr marL="2399660" indent="0">
              <a:buNone/>
              <a:defRPr sz="1200" b="1"/>
            </a:lvl8pPr>
            <a:lvl9pPr marL="2742468"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4609" y="2174875"/>
            <a:ext cx="4042310"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3C7C6C31-8FFE-43A5-A172-305048BE03A4}" type="datetime1">
              <a:rPr lang="en-GB" smtClean="0"/>
              <a:t>19/Mar/21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CD90AF1F-A072-4E1C-854B-EE84B2E6AE39}" type="datetime1">
              <a:rPr lang="en-GB" smtClean="0"/>
              <a:t>19/Mar/21</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C1F027-71D3-4FE8-B83C-858897D1D794}" type="datetime1">
              <a:rPr lang="en-GB" smtClean="0"/>
              <a:t>19/Mar/21</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082" y="273050"/>
            <a:ext cx="3007926" cy="1162050"/>
          </a:xfrm>
        </p:spPr>
        <p:txBody>
          <a:bodyPr anchor="b"/>
          <a:lstStyle>
            <a:lvl1pPr algn="l">
              <a:defRPr sz="1500" b="1"/>
            </a:lvl1pPr>
          </a:lstStyle>
          <a:p>
            <a:r>
              <a:rPr lang="en-US"/>
              <a:t>Click to edit Master title style</a:t>
            </a:r>
            <a:endParaRPr lang="en-GB"/>
          </a:p>
        </p:txBody>
      </p:sp>
      <p:sp>
        <p:nvSpPr>
          <p:cNvPr id="3" name="Content Placeholder 2"/>
          <p:cNvSpPr>
            <a:spLocks noGrp="1"/>
          </p:cNvSpPr>
          <p:nvPr>
            <p:ph idx="1"/>
          </p:nvPr>
        </p:nvSpPr>
        <p:spPr>
          <a:xfrm>
            <a:off x="3574516" y="273071"/>
            <a:ext cx="5112403" cy="5853113"/>
          </a:xfrm>
        </p:spPr>
        <p:txBody>
          <a:bodyPr/>
          <a:lstStyle>
            <a:lvl1pPr>
              <a:defRPr sz="2399"/>
            </a:lvl1pPr>
            <a:lvl2pPr>
              <a:defRPr sz="2099"/>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082" y="1435103"/>
            <a:ext cx="3007926" cy="4691063"/>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3B3373FD-1E9B-4621-8928-BDB34F42C2B9}" type="datetime1">
              <a:rPr lang="en-GB" smtClean="0"/>
              <a:t>19/Mar/21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615" y="4800600"/>
            <a:ext cx="5486162" cy="566738"/>
          </a:xfrm>
        </p:spPr>
        <p:txBody>
          <a:bodyPr anchor="b"/>
          <a:lstStyle>
            <a:lvl1pPr algn="l">
              <a:defRPr sz="1500" b="1"/>
            </a:lvl1pPr>
          </a:lstStyle>
          <a:p>
            <a:r>
              <a:rPr lang="en-US"/>
              <a:t>Click to edit Master title style</a:t>
            </a:r>
            <a:endParaRPr lang="en-GB"/>
          </a:p>
        </p:txBody>
      </p:sp>
      <p:sp>
        <p:nvSpPr>
          <p:cNvPr id="3" name="Picture Placeholder 2"/>
          <p:cNvSpPr>
            <a:spLocks noGrp="1"/>
          </p:cNvSpPr>
          <p:nvPr>
            <p:ph type="pic" idx="1"/>
          </p:nvPr>
        </p:nvSpPr>
        <p:spPr>
          <a:xfrm>
            <a:off x="1792615" y="612775"/>
            <a:ext cx="5486162" cy="4114800"/>
          </a:xfrm>
        </p:spPr>
        <p:txBody>
          <a:bodyPr/>
          <a:lstStyle>
            <a:lvl1pPr marL="0" indent="0">
              <a:buNone/>
              <a:defRPr sz="2399"/>
            </a:lvl1pPr>
            <a:lvl2pPr marL="342809" indent="0">
              <a:buNone/>
              <a:defRPr sz="2099"/>
            </a:lvl2pPr>
            <a:lvl3pPr marL="685617" indent="0">
              <a:buNone/>
              <a:defRPr sz="1800"/>
            </a:lvl3pPr>
            <a:lvl4pPr marL="1028426" indent="0">
              <a:buNone/>
              <a:defRPr sz="1500"/>
            </a:lvl4pPr>
            <a:lvl5pPr marL="1371234" indent="0">
              <a:buNone/>
              <a:defRPr sz="1500"/>
            </a:lvl5pPr>
            <a:lvl6pPr marL="1714043" indent="0">
              <a:buNone/>
              <a:defRPr sz="1500"/>
            </a:lvl6pPr>
            <a:lvl7pPr marL="2056851" indent="0">
              <a:buNone/>
              <a:defRPr sz="1500"/>
            </a:lvl7pPr>
            <a:lvl8pPr marL="2399660" indent="0">
              <a:buNone/>
              <a:defRPr sz="1500"/>
            </a:lvl8pPr>
            <a:lvl9pPr marL="2742468" indent="0">
              <a:buNone/>
              <a:defRPr sz="1500"/>
            </a:lvl9pPr>
          </a:lstStyle>
          <a:p>
            <a:r>
              <a:rPr lang="en-US"/>
              <a:t>Click icon to add picture</a:t>
            </a:r>
            <a:endParaRPr lang="en-GB" dirty="0"/>
          </a:p>
        </p:txBody>
      </p:sp>
      <p:sp>
        <p:nvSpPr>
          <p:cNvPr id="4" name="Text Placeholder 3"/>
          <p:cNvSpPr>
            <a:spLocks noGrp="1"/>
          </p:cNvSpPr>
          <p:nvPr>
            <p:ph type="body" sz="half" idx="2"/>
          </p:nvPr>
        </p:nvSpPr>
        <p:spPr>
          <a:xfrm>
            <a:off x="1792615" y="5367338"/>
            <a:ext cx="5486162" cy="804862"/>
          </a:xfrm>
        </p:spPr>
        <p:txBody>
          <a:bodyPr/>
          <a:lstStyle>
            <a:lvl1pPr marL="0" indent="0">
              <a:buNone/>
              <a:defRPr sz="1050"/>
            </a:lvl1pPr>
            <a:lvl2pPr marL="342809" indent="0">
              <a:buNone/>
              <a:defRPr sz="900"/>
            </a:lvl2pPr>
            <a:lvl3pPr marL="685617" indent="0">
              <a:buNone/>
              <a:defRPr sz="750"/>
            </a:lvl3pPr>
            <a:lvl4pPr marL="1028426" indent="0">
              <a:buNone/>
              <a:defRPr sz="675"/>
            </a:lvl4pPr>
            <a:lvl5pPr marL="1371234" indent="0">
              <a:buNone/>
              <a:defRPr sz="675"/>
            </a:lvl5pPr>
            <a:lvl6pPr marL="1714043" indent="0">
              <a:buNone/>
              <a:defRPr sz="675"/>
            </a:lvl6pPr>
            <a:lvl7pPr marL="2056851" indent="0">
              <a:buNone/>
              <a:defRPr sz="675"/>
            </a:lvl7pPr>
            <a:lvl8pPr marL="2399660" indent="0">
              <a:buNone/>
              <a:defRPr sz="675"/>
            </a:lvl8pPr>
            <a:lvl9pPr marL="2742468"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94327462-42BE-404B-98E7-A34241747DED}" type="datetime1">
              <a:rPr lang="en-GB" smtClean="0"/>
              <a:t>19/Mar/21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1F479546-0940-4BFB-B0BE-FB09608564BA}"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055" y="274659"/>
            <a:ext cx="2056864"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082" y="274659"/>
            <a:ext cx="6058703"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3D9E554-A481-4811-955B-4B1DC1389849}"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3/19/2021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11768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F18F80AA-F940-4969-8773-6E06463B2A7A}"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7333891-D5E7-4C7B-BF1D-E855E53CB5A8}" type="slidenum">
              <a:rPr lang="en-US" smtClean="0"/>
              <a:t>‹#›</a:t>
            </a:fld>
            <a:endParaRPr lang="en-US" dirty="0"/>
          </a:p>
        </p:txBody>
      </p:sp>
      <p:pic>
        <p:nvPicPr>
          <p:cNvPr id="8" name="Picture 2" descr="C:\Users\Ours\Desktop\flash\c.u..jpg"/>
          <p:cNvPicPr>
            <a:picLocks noChangeAspect="1" noChangeArrowheads="1"/>
          </p:cNvPicPr>
          <p:nvPr userDrawn="1"/>
        </p:nvPicPr>
        <p:blipFill>
          <a:blip r:embed="rId2" cstate="print">
            <a:duotone>
              <a:prstClr val="black"/>
              <a:srgbClr val="800080">
                <a:alpha val="78824"/>
                <a:tint val="45000"/>
                <a:satMod val="400000"/>
              </a:srgbClr>
            </a:duotone>
          </a:blip>
          <a:srcRect t="41294" b="49226"/>
          <a:stretch>
            <a:fillRect/>
          </a:stretch>
        </p:blipFill>
        <p:spPr bwMode="auto">
          <a:xfrm>
            <a:off x="1" y="6309320"/>
            <a:ext cx="9209063" cy="773752"/>
          </a:xfrm>
          <a:prstGeom prst="rect">
            <a:avLst/>
          </a:prstGeom>
          <a:noFill/>
        </p:spPr>
      </p:pic>
      <p:sp>
        <p:nvSpPr>
          <p:cNvPr id="9" name="Slide Number Placeholder 5"/>
          <p:cNvSpPr txBox="1">
            <a:spLocks/>
          </p:cNvSpPr>
          <p:nvPr userDrawn="1"/>
        </p:nvSpPr>
        <p:spPr>
          <a:xfrm>
            <a:off x="8081477" y="6336704"/>
            <a:ext cx="783808" cy="548680"/>
          </a:xfrm>
          <a:prstGeom prst="rect">
            <a:avLst/>
          </a:prstGeom>
          <a:solidFill>
            <a:srgbClr val="F7F7F7">
              <a:alpha val="45098"/>
            </a:srgbClr>
          </a:solidFill>
        </p:spPr>
        <p:txBody>
          <a:bodyPr vert="horz" lIns="68562" tIns="34281" rIns="68562" bIns="34281" rtlCol="0" anchor="ctr"/>
          <a:lstStyle>
            <a:lvl1pPr>
              <a:defRPr sz="1400" b="1">
                <a:solidFill>
                  <a:schemeClr val="tx1">
                    <a:lumMod val="95000"/>
                    <a:lumOff val="5000"/>
                  </a:schemeClr>
                </a:solidFill>
                <a:latin typeface="Georgia" pitchFamily="18" charset="0"/>
              </a:defRPr>
            </a:lvl1pPr>
          </a:lstStyle>
          <a:p>
            <a:pPr marL="0" marR="0" lvl="0" indent="0" algn="r" defTabSz="685617" rtl="0" eaLnBrk="1" fontAlgn="auto" latinLnBrk="0" hangingPunct="1">
              <a:lnSpc>
                <a:spcPct val="100000"/>
              </a:lnSpc>
              <a:spcBef>
                <a:spcPts val="0"/>
              </a:spcBef>
              <a:spcAft>
                <a:spcPts val="0"/>
              </a:spcAft>
              <a:buClrTx/>
              <a:buSzTx/>
              <a:buFontTx/>
              <a:buNone/>
              <a:tabLst/>
              <a:defRPr/>
            </a:pPr>
            <a:fld id="{5FE708FE-ED12-4ACB-81C9-F40A112777FF}" type="slidenum">
              <a:rPr kumimoji="0" lang="en-GB" sz="2099" b="1" i="0" u="none" strike="noStrike" kern="1200" cap="none" spc="0" normalizeH="0" baseline="0" noProof="0" smtClean="0">
                <a:ln>
                  <a:noFill/>
                </a:ln>
                <a:solidFill>
                  <a:schemeClr val="bg1"/>
                </a:solidFill>
                <a:effectLst/>
                <a:uLnTx/>
                <a:uFillTx/>
                <a:latin typeface="Georgia" pitchFamily="18" charset="0"/>
                <a:ea typeface="+mn-ea"/>
                <a:cs typeface="+mn-cs"/>
              </a:rPr>
              <a:pPr marL="0" marR="0" lvl="0" indent="0" algn="r" defTabSz="685617" rtl="0" eaLnBrk="1" fontAlgn="auto" latinLnBrk="0" hangingPunct="1">
                <a:lnSpc>
                  <a:spcPct val="100000"/>
                </a:lnSpc>
                <a:spcBef>
                  <a:spcPts val="0"/>
                </a:spcBef>
                <a:spcAft>
                  <a:spcPts val="0"/>
                </a:spcAft>
                <a:buClrTx/>
                <a:buSzTx/>
                <a:buFontTx/>
                <a:buNone/>
                <a:tabLst/>
                <a:defRPr/>
              </a:pPr>
              <a:t>‹#›</a:t>
            </a:fld>
            <a:endParaRPr kumimoji="0" lang="en-GB" sz="2099" b="1" i="0" u="none" strike="noStrike" kern="1200" cap="none" spc="0" normalizeH="0" baseline="0" noProof="0" dirty="0">
              <a:ln>
                <a:noFill/>
              </a:ln>
              <a:solidFill>
                <a:schemeClr val="bg1"/>
              </a:solidFill>
              <a:effectLst/>
              <a:uLnTx/>
              <a:uFillTx/>
              <a:latin typeface="Georgia" pitchFamily="18" charset="0"/>
              <a:ea typeface="+mn-ea"/>
              <a:cs typeface="+mn-cs"/>
            </a:endParaRPr>
          </a:p>
        </p:txBody>
      </p:sp>
      <p:pic>
        <p:nvPicPr>
          <p:cNvPr id="10" name="Picture 2" descr="C:\Users\Ours\Desktop\my stuffs\1 NTFS_000\LostFiles2\INSPIRATION\PROJECTS\MIND PROJECTS\cu_logo.png"/>
          <p:cNvPicPr>
            <a:picLocks noChangeAspect="1" noChangeArrowheads="1"/>
          </p:cNvPicPr>
          <p:nvPr userDrawn="1"/>
        </p:nvPicPr>
        <p:blipFill>
          <a:blip r:embed="rId3" cstate="print"/>
          <a:srcRect/>
          <a:stretch>
            <a:fillRect/>
          </a:stretch>
        </p:blipFill>
        <p:spPr bwMode="auto">
          <a:xfrm>
            <a:off x="107984" y="6363534"/>
            <a:ext cx="468612" cy="665866"/>
          </a:xfrm>
          <a:prstGeom prst="rect">
            <a:avLst/>
          </a:prstGeom>
          <a:noFill/>
        </p:spPr>
      </p:pic>
      <p:pic>
        <p:nvPicPr>
          <p:cNvPr id="11" name="Picture 2" descr="C:\Users\Ours\Desktop\Picture1.png"/>
          <p:cNvPicPr>
            <a:picLocks noChangeAspect="1" noChangeArrowheads="1"/>
          </p:cNvPicPr>
          <p:nvPr userDrawn="1"/>
        </p:nvPicPr>
        <p:blipFill>
          <a:blip r:embed="rId4" cstate="print"/>
          <a:srcRect/>
          <a:stretch>
            <a:fillRect/>
          </a:stretch>
        </p:blipFill>
        <p:spPr bwMode="auto">
          <a:xfrm>
            <a:off x="414621" y="6317328"/>
            <a:ext cx="4481332" cy="640064"/>
          </a:xfrm>
          <a:prstGeom prst="rect">
            <a:avLst/>
          </a:prstGeom>
          <a:noFill/>
        </p:spPr>
      </p:pic>
      <p:sp>
        <p:nvSpPr>
          <p:cNvPr id="12" name="TextBox 11"/>
          <p:cNvSpPr txBox="1"/>
          <p:nvPr userDrawn="1"/>
        </p:nvSpPr>
        <p:spPr>
          <a:xfrm>
            <a:off x="542878" y="6707453"/>
            <a:ext cx="1709122" cy="230832"/>
          </a:xfrm>
          <a:prstGeom prst="rect">
            <a:avLst/>
          </a:prstGeom>
          <a:noFill/>
        </p:spPr>
        <p:txBody>
          <a:bodyPr wrap="none" rtlCol="0">
            <a:spAutoFit/>
          </a:bodyPr>
          <a:lstStyle/>
          <a:p>
            <a:r>
              <a:rPr lang="en-US" sz="900" dirty="0"/>
              <a:t>www.covenantuniversity.edu.ng</a:t>
            </a:r>
            <a:endParaRPr lang="en-GB" sz="900" dirty="0"/>
          </a:p>
        </p:txBody>
      </p:sp>
      <p:cxnSp>
        <p:nvCxnSpPr>
          <p:cNvPr id="13" name="Straight Connector 12"/>
          <p:cNvCxnSpPr/>
          <p:nvPr userDrawn="1"/>
        </p:nvCxnSpPr>
        <p:spPr>
          <a:xfrm flipV="1">
            <a:off x="6515720" y="1340768"/>
            <a:ext cx="1349649" cy="0"/>
          </a:xfrm>
          <a:prstGeom prst="line">
            <a:avLst/>
          </a:prstGeom>
          <a:ln w="28575">
            <a:solidFill>
              <a:srgbClr val="662C5B"/>
            </a:solidFill>
          </a:ln>
        </p:spPr>
        <p:style>
          <a:lnRef idx="1">
            <a:schemeClr val="dk1"/>
          </a:lnRef>
          <a:fillRef idx="0">
            <a:schemeClr val="dk1"/>
          </a:fillRef>
          <a:effectRef idx="0">
            <a:schemeClr val="dk1"/>
          </a:effectRef>
          <a:fontRef idx="minor">
            <a:schemeClr val="tx1"/>
          </a:fontRef>
        </p:style>
      </p:cxnSp>
      <p:cxnSp>
        <p:nvCxnSpPr>
          <p:cNvPr id="14" name="Straight Connector 13"/>
          <p:cNvCxnSpPr/>
          <p:nvPr userDrawn="1"/>
        </p:nvCxnSpPr>
        <p:spPr>
          <a:xfrm flipV="1">
            <a:off x="7892500" y="1340768"/>
            <a:ext cx="53985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5" name="Straight Connector 14"/>
          <p:cNvCxnSpPr/>
          <p:nvPr userDrawn="1"/>
        </p:nvCxnSpPr>
        <p:spPr>
          <a:xfrm flipV="1">
            <a:off x="8459490" y="1340768"/>
            <a:ext cx="539859" cy="0"/>
          </a:xfrm>
          <a:prstGeom prst="line">
            <a:avLst/>
          </a:prstGeom>
          <a:ln w="28575">
            <a:solidFill>
              <a:srgbClr val="C00000"/>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773827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EC4DCE7-BD50-433F-BB05-C60A4C27116D}"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32926676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AA6DC4C-467C-44EC-9BD1-0789C1B2A09B}" type="datetime1">
              <a:rPr lang="en-GB" smtClean="0"/>
              <a:t>19/Mar/21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4641437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03832FD-BCB0-454E-8C2A-214B5CA220D2}" type="datetime1">
              <a:rPr lang="en-GB" smtClean="0"/>
              <a:t>19/Mar/21</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25021500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D93E47F2-CC24-4D52-A90E-4D7CBD06ABAD}" type="datetime1">
              <a:rPr lang="en-GB" smtClean="0"/>
              <a:t>19/Mar/21</a:t>
            </a:fld>
            <a:endParaRPr lang="en-GB" dirty="0"/>
          </a:p>
        </p:txBody>
      </p:sp>
      <p:sp>
        <p:nvSpPr>
          <p:cNvPr id="5" name="Footer Placeholder 3"/>
          <p:cNvSpPr>
            <a:spLocks noGrp="1"/>
          </p:cNvSpPr>
          <p:nvPr>
            <p:ph type="ftr" sz="quarter" idx="11"/>
          </p:nvPr>
        </p:nvSpPr>
        <p:spPr/>
        <p:txBody>
          <a:bodyPr/>
          <a:lstStyle/>
          <a:p>
            <a:endParaRPr lang="en-GB" dirty="0"/>
          </a:p>
        </p:txBody>
      </p:sp>
      <p:sp>
        <p:nvSpPr>
          <p:cNvPr id="6" name="Slide Number Placeholder 4"/>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4094118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BC61270-0141-4616-BD26-AFC39E35E8D4}" type="datetime1">
              <a:rPr lang="en-GB" smtClean="0"/>
              <a:t>19/Mar/21</a:t>
            </a:fld>
            <a:endParaRPr lang="en-GB" dirty="0"/>
          </a:p>
        </p:txBody>
      </p:sp>
      <p:sp>
        <p:nvSpPr>
          <p:cNvPr id="5" name="Footer Placeholder 2"/>
          <p:cNvSpPr>
            <a:spLocks noGrp="1"/>
          </p:cNvSpPr>
          <p:nvPr>
            <p:ph type="ftr" sz="quarter" idx="11"/>
          </p:nvPr>
        </p:nvSpPr>
        <p:spPr/>
        <p:txBody>
          <a:bodyPr/>
          <a:lstStyle/>
          <a:p>
            <a:endParaRPr lang="en-GB" dirty="0"/>
          </a:p>
        </p:txBody>
      </p:sp>
      <p:sp>
        <p:nvSpPr>
          <p:cNvPr id="6" name="Slide Number Placeholder 3"/>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38683708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79A6BF82-D52B-4265-9C49-B49C2DDF5ADD}" type="datetime1">
              <a:rPr lang="en-GB" smtClean="0"/>
              <a:t>19/Mar/21</a:t>
            </a:fld>
            <a:endParaRPr lang="en-GB" dirty="0"/>
          </a:p>
        </p:txBody>
      </p:sp>
      <p:sp>
        <p:nvSpPr>
          <p:cNvPr id="5" name="Footer Placeholder 5"/>
          <p:cNvSpPr>
            <a:spLocks noGrp="1"/>
          </p:cNvSpPr>
          <p:nvPr>
            <p:ph type="ftr" sz="quarter" idx="11"/>
          </p:nvPr>
        </p:nvSpPr>
        <p:spPr/>
        <p:txBody>
          <a:bodyPr/>
          <a:lstStyle/>
          <a:p>
            <a:endParaRPr lang="en-GB" dirty="0"/>
          </a:p>
        </p:txBody>
      </p:sp>
      <p:sp>
        <p:nvSpPr>
          <p:cNvPr id="6"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20669993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502A99E-579E-45D2-A686-5B970B311C4E}" type="datetime1">
              <a:rPr lang="en-GB" smtClean="0"/>
              <a:t>19/Mar/21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13771530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A86CF9CC-6460-4737-9010-75748FDEE016}" type="datetime1">
              <a:rPr lang="en-GB" smtClean="0"/>
              <a:t>19/Mar/21</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2348678285"/>
      </p:ext>
    </p:extLst>
  </p:cSld>
  <p:clrMapOvr>
    <a:masterClrMapping/>
  </p:clrMapOvr>
  <p:hf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86CF9CC-6460-4737-9010-75748FDEE016}"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969464532"/>
      </p:ext>
    </p:extLst>
  </p:cSld>
  <p:clrMapOvr>
    <a:masterClrMapping/>
  </p:clrMapOvr>
  <p:hf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A86CF9CC-6460-4737-9010-75748FDEE016}"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45020051"/>
      </p:ext>
    </p:extLst>
  </p:cSld>
  <p:clrMapOvr>
    <a:masterClrMapping/>
  </p:clrMapOvr>
  <p:hf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8BBA224-7E6E-4CA4-908A-652A35972B43}"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2324571694"/>
      </p:ext>
    </p:extLst>
  </p:cSld>
  <p:clrMapOvr>
    <a:masterClrMapping/>
  </p:clrMapOvr>
  <p:hf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86CF9CC-6460-4737-9010-75748FDEE016}" type="datetime1">
              <a:rPr lang="en-GB" smtClean="0"/>
              <a:t>19/Mar/21</a:t>
            </a:fld>
            <a:endParaRPr lang="en-GB" dirty="0"/>
          </a:p>
        </p:txBody>
      </p:sp>
      <p:sp>
        <p:nvSpPr>
          <p:cNvPr id="4"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1504941097"/>
      </p:ext>
    </p:extLst>
  </p:cSld>
  <p:clrMapOvr>
    <a:masterClrMapping/>
  </p:clrMapOvr>
  <p:hf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86CF9CC-6460-4737-9010-75748FDEE016}" type="datetime1">
              <a:rPr lang="en-GB" smtClean="0"/>
              <a:t>19/Mar/21</a:t>
            </a:fld>
            <a:endParaRPr lang="en-GB" dirty="0"/>
          </a:p>
        </p:txBody>
      </p:sp>
      <p:sp>
        <p:nvSpPr>
          <p:cNvPr id="4"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3642158746"/>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6A2CF07-F3B0-427F-A675-E847322B7BBC}"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233517586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50C9BCC-119C-499F-88DC-5EFC653126EE}" type="datetime1">
              <a:rPr lang="en-GB" smtClean="0"/>
              <a:t>19/Mar/21</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C5DFEC63-AC9E-491C-B008-E83D881192CD}" type="slidenum">
              <a:rPr lang="en-GB" smtClean="0"/>
              <a:pPr/>
              <a:t>‹#›</a:t>
            </a:fld>
            <a:endParaRPr lang="en-GB" dirty="0"/>
          </a:p>
        </p:txBody>
      </p:sp>
    </p:spTree>
    <p:extLst>
      <p:ext uri="{BB962C8B-B14F-4D97-AF65-F5344CB8AC3E}">
        <p14:creationId xmlns:p14="http://schemas.microsoft.com/office/powerpoint/2010/main" val="2335973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081" y="274638"/>
            <a:ext cx="8229838"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081" y="1600206"/>
            <a:ext cx="8229838"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083" y="6356373"/>
            <a:ext cx="2134235"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A86CF9CC-6460-4737-9010-75748FDEE016}" type="datetime1">
              <a:rPr lang="en-GB" smtClean="0"/>
              <a:t>19/Mar/21</a:t>
            </a:fld>
            <a:endParaRPr lang="en-GB" dirty="0"/>
          </a:p>
        </p:txBody>
      </p:sp>
      <p:sp>
        <p:nvSpPr>
          <p:cNvPr id="5" name="Footer Placeholder 4"/>
          <p:cNvSpPr>
            <a:spLocks noGrp="1"/>
          </p:cNvSpPr>
          <p:nvPr>
            <p:ph type="ftr" sz="quarter" idx="3"/>
          </p:nvPr>
        </p:nvSpPr>
        <p:spPr>
          <a:xfrm>
            <a:off x="3124577" y="6356373"/>
            <a:ext cx="2894846"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2685" y="6356373"/>
            <a:ext cx="2134234"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BBD965-F460-422A-A842-9BE9972FC43E}"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685617" rtl="0" eaLnBrk="1" latinLnBrk="0" hangingPunct="1">
        <a:spcBef>
          <a:spcPct val="0"/>
        </a:spcBef>
        <a:buNone/>
        <a:defRPr sz="3299" kern="1200">
          <a:solidFill>
            <a:schemeClr val="tx1"/>
          </a:solidFill>
          <a:latin typeface="+mj-lt"/>
          <a:ea typeface="+mj-ea"/>
          <a:cs typeface="+mj-cs"/>
        </a:defRPr>
      </a:lvl1pPr>
    </p:titleStyle>
    <p:bodyStyle>
      <a:lvl1pPr marL="257106" indent="-257106" algn="l" defTabSz="685617" rtl="0" eaLnBrk="1" latinLnBrk="0" hangingPunct="1">
        <a:spcBef>
          <a:spcPct val="20000"/>
        </a:spcBef>
        <a:buFont typeface="Arial" pitchFamily="34" charset="0"/>
        <a:buChar char="•"/>
        <a:defRPr sz="2399" kern="1200">
          <a:solidFill>
            <a:schemeClr val="tx1"/>
          </a:solidFill>
          <a:latin typeface="+mn-lt"/>
          <a:ea typeface="+mn-ea"/>
          <a:cs typeface="+mn-cs"/>
        </a:defRPr>
      </a:lvl1pPr>
      <a:lvl2pPr marL="557064" indent="-214255" algn="l" defTabSz="685617" rtl="0" eaLnBrk="1" latinLnBrk="0" hangingPunct="1">
        <a:spcBef>
          <a:spcPct val="20000"/>
        </a:spcBef>
        <a:buFont typeface="Arial" pitchFamily="34" charset="0"/>
        <a:buChar char="–"/>
        <a:defRPr sz="2099" kern="1200">
          <a:solidFill>
            <a:schemeClr val="tx1"/>
          </a:solidFill>
          <a:latin typeface="+mn-lt"/>
          <a:ea typeface="+mn-ea"/>
          <a:cs typeface="+mn-cs"/>
        </a:defRPr>
      </a:lvl2pPr>
      <a:lvl3pPr marL="857021" indent="-171404" algn="l" defTabSz="68561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199830"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2639"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447"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256"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064"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3873"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617" rtl="0" eaLnBrk="1" latinLnBrk="0" hangingPunct="1">
        <a:defRPr sz="1350" kern="1200">
          <a:solidFill>
            <a:schemeClr val="tx1"/>
          </a:solidFill>
          <a:latin typeface="+mn-lt"/>
          <a:ea typeface="+mn-ea"/>
          <a:cs typeface="+mn-cs"/>
        </a:defRPr>
      </a:lvl1pPr>
      <a:lvl2pPr marL="342809" algn="l" defTabSz="685617" rtl="0" eaLnBrk="1" latinLnBrk="0" hangingPunct="1">
        <a:defRPr sz="1350" kern="1200">
          <a:solidFill>
            <a:schemeClr val="tx1"/>
          </a:solidFill>
          <a:latin typeface="+mn-lt"/>
          <a:ea typeface="+mn-ea"/>
          <a:cs typeface="+mn-cs"/>
        </a:defRPr>
      </a:lvl2pPr>
      <a:lvl3pPr marL="685617" algn="l" defTabSz="685617" rtl="0" eaLnBrk="1" latinLnBrk="0" hangingPunct="1">
        <a:defRPr sz="1350" kern="1200">
          <a:solidFill>
            <a:schemeClr val="tx1"/>
          </a:solidFill>
          <a:latin typeface="+mn-lt"/>
          <a:ea typeface="+mn-ea"/>
          <a:cs typeface="+mn-cs"/>
        </a:defRPr>
      </a:lvl3pPr>
      <a:lvl4pPr marL="1028426" algn="l" defTabSz="685617" rtl="0" eaLnBrk="1" latinLnBrk="0" hangingPunct="1">
        <a:defRPr sz="1350" kern="1200">
          <a:solidFill>
            <a:schemeClr val="tx1"/>
          </a:solidFill>
          <a:latin typeface="+mn-lt"/>
          <a:ea typeface="+mn-ea"/>
          <a:cs typeface="+mn-cs"/>
        </a:defRPr>
      </a:lvl4pPr>
      <a:lvl5pPr marL="1371234" algn="l" defTabSz="685617" rtl="0" eaLnBrk="1" latinLnBrk="0" hangingPunct="1">
        <a:defRPr sz="1350" kern="1200">
          <a:solidFill>
            <a:schemeClr val="tx1"/>
          </a:solidFill>
          <a:latin typeface="+mn-lt"/>
          <a:ea typeface="+mn-ea"/>
          <a:cs typeface="+mn-cs"/>
        </a:defRPr>
      </a:lvl5pPr>
      <a:lvl6pPr marL="1714043" algn="l" defTabSz="685617" rtl="0" eaLnBrk="1" latinLnBrk="0" hangingPunct="1">
        <a:defRPr sz="1350" kern="1200">
          <a:solidFill>
            <a:schemeClr val="tx1"/>
          </a:solidFill>
          <a:latin typeface="+mn-lt"/>
          <a:ea typeface="+mn-ea"/>
          <a:cs typeface="+mn-cs"/>
        </a:defRPr>
      </a:lvl6pPr>
      <a:lvl7pPr marL="2056851" algn="l" defTabSz="685617" rtl="0" eaLnBrk="1" latinLnBrk="0" hangingPunct="1">
        <a:defRPr sz="1350" kern="1200">
          <a:solidFill>
            <a:schemeClr val="tx1"/>
          </a:solidFill>
          <a:latin typeface="+mn-lt"/>
          <a:ea typeface="+mn-ea"/>
          <a:cs typeface="+mn-cs"/>
        </a:defRPr>
      </a:lvl7pPr>
      <a:lvl8pPr marL="2399660" algn="l" defTabSz="685617" rtl="0" eaLnBrk="1" latinLnBrk="0" hangingPunct="1">
        <a:defRPr sz="1350" kern="1200">
          <a:solidFill>
            <a:schemeClr val="tx1"/>
          </a:solidFill>
          <a:latin typeface="+mn-lt"/>
          <a:ea typeface="+mn-ea"/>
          <a:cs typeface="+mn-cs"/>
        </a:defRPr>
      </a:lvl8pPr>
      <a:lvl9pPr marL="2742468" algn="l" defTabSz="685617"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1" y="635637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8BBA224-7E6E-4CA4-908A-652A35972B43}" type="datetime1">
              <a:rPr lang="en-GB" smtClean="0"/>
              <a:t>19/Mar/21</a:t>
            </a:fld>
            <a:endParaRPr lang="en-GB" dirty="0"/>
          </a:p>
        </p:txBody>
      </p:sp>
      <p:sp>
        <p:nvSpPr>
          <p:cNvPr id="5" name="Footer Placeholder 4"/>
          <p:cNvSpPr>
            <a:spLocks noGrp="1"/>
          </p:cNvSpPr>
          <p:nvPr>
            <p:ph type="ftr" sz="quarter" idx="3"/>
          </p:nvPr>
        </p:nvSpPr>
        <p:spPr>
          <a:xfrm>
            <a:off x="3124200" y="635637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7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BBD965-F460-422A-A842-9BE9972FC43E}"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649" r:id="rId13"/>
  </p:sldLayoutIdLst>
  <p:hf hdr="0" ftr="0" dt="0"/>
  <p:txStyles>
    <p:titleStyle>
      <a:lvl1pPr algn="ctr" defTabSz="685617" rtl="0" eaLnBrk="1" latinLnBrk="0" hangingPunct="1">
        <a:spcBef>
          <a:spcPct val="0"/>
        </a:spcBef>
        <a:buNone/>
        <a:defRPr sz="3299" kern="1200">
          <a:solidFill>
            <a:schemeClr val="tx1"/>
          </a:solidFill>
          <a:latin typeface="+mj-lt"/>
          <a:ea typeface="+mj-ea"/>
          <a:cs typeface="+mj-cs"/>
        </a:defRPr>
      </a:lvl1pPr>
    </p:titleStyle>
    <p:bodyStyle>
      <a:lvl1pPr marL="257106" indent="-257106" algn="l" defTabSz="685617" rtl="0" eaLnBrk="1" latinLnBrk="0" hangingPunct="1">
        <a:spcBef>
          <a:spcPct val="20000"/>
        </a:spcBef>
        <a:buFont typeface="Arial" pitchFamily="34" charset="0"/>
        <a:buChar char="•"/>
        <a:defRPr sz="2399" kern="1200">
          <a:solidFill>
            <a:schemeClr val="tx1"/>
          </a:solidFill>
          <a:latin typeface="+mn-lt"/>
          <a:ea typeface="+mn-ea"/>
          <a:cs typeface="+mn-cs"/>
        </a:defRPr>
      </a:lvl1pPr>
      <a:lvl2pPr marL="557064" indent="-214255" algn="l" defTabSz="685617" rtl="0" eaLnBrk="1" latinLnBrk="0" hangingPunct="1">
        <a:spcBef>
          <a:spcPct val="20000"/>
        </a:spcBef>
        <a:buFont typeface="Arial" pitchFamily="34" charset="0"/>
        <a:buChar char="–"/>
        <a:defRPr sz="2099" kern="1200">
          <a:solidFill>
            <a:schemeClr val="tx1"/>
          </a:solidFill>
          <a:latin typeface="+mn-lt"/>
          <a:ea typeface="+mn-ea"/>
          <a:cs typeface="+mn-cs"/>
        </a:defRPr>
      </a:lvl2pPr>
      <a:lvl3pPr marL="857021" indent="-171404" algn="l" defTabSz="68561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199830"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2639"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447"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256"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064"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3873"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617" rtl="0" eaLnBrk="1" latinLnBrk="0" hangingPunct="1">
        <a:defRPr sz="1350" kern="1200">
          <a:solidFill>
            <a:schemeClr val="tx1"/>
          </a:solidFill>
          <a:latin typeface="+mn-lt"/>
          <a:ea typeface="+mn-ea"/>
          <a:cs typeface="+mn-cs"/>
        </a:defRPr>
      </a:lvl1pPr>
      <a:lvl2pPr marL="342809" algn="l" defTabSz="685617" rtl="0" eaLnBrk="1" latinLnBrk="0" hangingPunct="1">
        <a:defRPr sz="1350" kern="1200">
          <a:solidFill>
            <a:schemeClr val="tx1"/>
          </a:solidFill>
          <a:latin typeface="+mn-lt"/>
          <a:ea typeface="+mn-ea"/>
          <a:cs typeface="+mn-cs"/>
        </a:defRPr>
      </a:lvl2pPr>
      <a:lvl3pPr marL="685617" algn="l" defTabSz="685617" rtl="0" eaLnBrk="1" latinLnBrk="0" hangingPunct="1">
        <a:defRPr sz="1350" kern="1200">
          <a:solidFill>
            <a:schemeClr val="tx1"/>
          </a:solidFill>
          <a:latin typeface="+mn-lt"/>
          <a:ea typeface="+mn-ea"/>
          <a:cs typeface="+mn-cs"/>
        </a:defRPr>
      </a:lvl3pPr>
      <a:lvl4pPr marL="1028426" algn="l" defTabSz="685617" rtl="0" eaLnBrk="1" latinLnBrk="0" hangingPunct="1">
        <a:defRPr sz="1350" kern="1200">
          <a:solidFill>
            <a:schemeClr val="tx1"/>
          </a:solidFill>
          <a:latin typeface="+mn-lt"/>
          <a:ea typeface="+mn-ea"/>
          <a:cs typeface="+mn-cs"/>
        </a:defRPr>
      </a:lvl4pPr>
      <a:lvl5pPr marL="1371234" algn="l" defTabSz="685617" rtl="0" eaLnBrk="1" latinLnBrk="0" hangingPunct="1">
        <a:defRPr sz="1350" kern="1200">
          <a:solidFill>
            <a:schemeClr val="tx1"/>
          </a:solidFill>
          <a:latin typeface="+mn-lt"/>
          <a:ea typeface="+mn-ea"/>
          <a:cs typeface="+mn-cs"/>
        </a:defRPr>
      </a:lvl5pPr>
      <a:lvl6pPr marL="1714043" algn="l" defTabSz="685617" rtl="0" eaLnBrk="1" latinLnBrk="0" hangingPunct="1">
        <a:defRPr sz="1350" kern="1200">
          <a:solidFill>
            <a:schemeClr val="tx1"/>
          </a:solidFill>
          <a:latin typeface="+mn-lt"/>
          <a:ea typeface="+mn-ea"/>
          <a:cs typeface="+mn-cs"/>
        </a:defRPr>
      </a:lvl6pPr>
      <a:lvl7pPr marL="2056851" algn="l" defTabSz="685617" rtl="0" eaLnBrk="1" latinLnBrk="0" hangingPunct="1">
        <a:defRPr sz="1350" kern="1200">
          <a:solidFill>
            <a:schemeClr val="tx1"/>
          </a:solidFill>
          <a:latin typeface="+mn-lt"/>
          <a:ea typeface="+mn-ea"/>
          <a:cs typeface="+mn-cs"/>
        </a:defRPr>
      </a:lvl7pPr>
      <a:lvl8pPr marL="2399660" algn="l" defTabSz="685617" rtl="0" eaLnBrk="1" latinLnBrk="0" hangingPunct="1">
        <a:defRPr sz="1350" kern="1200">
          <a:solidFill>
            <a:schemeClr val="tx1"/>
          </a:solidFill>
          <a:latin typeface="+mn-lt"/>
          <a:ea typeface="+mn-ea"/>
          <a:cs typeface="+mn-cs"/>
        </a:defRPr>
      </a:lvl8pPr>
      <a:lvl9pPr marL="2742468" algn="l" defTabSz="685617"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081" y="274638"/>
            <a:ext cx="8229838"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081" y="1600206"/>
            <a:ext cx="8229838"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083" y="6356371"/>
            <a:ext cx="2134235"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46A67F6-31F8-44C1-A95B-DAC7719485ED}" type="datetime1">
              <a:rPr lang="en-GB" smtClean="0"/>
              <a:t>19/Mar/21</a:t>
            </a:fld>
            <a:endParaRPr lang="en-GB" dirty="0"/>
          </a:p>
        </p:txBody>
      </p:sp>
      <p:sp>
        <p:nvSpPr>
          <p:cNvPr id="5" name="Footer Placeholder 4"/>
          <p:cNvSpPr>
            <a:spLocks noGrp="1"/>
          </p:cNvSpPr>
          <p:nvPr>
            <p:ph type="ftr" sz="quarter" idx="3"/>
          </p:nvPr>
        </p:nvSpPr>
        <p:spPr>
          <a:xfrm>
            <a:off x="3124577" y="6356371"/>
            <a:ext cx="2894846"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2685" y="6356371"/>
            <a:ext cx="2134234"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BBD965-F460-422A-A842-9BE9972FC43E}" type="slidenum">
              <a:rPr lang="en-GB" smtClean="0"/>
              <a:pPr/>
              <a:t>‹#›</a:t>
            </a:fld>
            <a:endParaRPr lang="en-GB" dirty="0"/>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hdr="0" ftr="0" dt="0"/>
  <p:txStyles>
    <p:titleStyle>
      <a:lvl1pPr algn="ctr" defTabSz="685617" rtl="0" eaLnBrk="1" latinLnBrk="0" hangingPunct="1">
        <a:spcBef>
          <a:spcPct val="0"/>
        </a:spcBef>
        <a:buNone/>
        <a:defRPr sz="3299" kern="1200">
          <a:solidFill>
            <a:schemeClr val="tx1"/>
          </a:solidFill>
          <a:latin typeface="+mj-lt"/>
          <a:ea typeface="+mj-ea"/>
          <a:cs typeface="+mj-cs"/>
        </a:defRPr>
      </a:lvl1pPr>
    </p:titleStyle>
    <p:bodyStyle>
      <a:lvl1pPr marL="257106" indent="-257106" algn="l" defTabSz="685617" rtl="0" eaLnBrk="1" latinLnBrk="0" hangingPunct="1">
        <a:spcBef>
          <a:spcPct val="20000"/>
        </a:spcBef>
        <a:buFont typeface="Arial" pitchFamily="34" charset="0"/>
        <a:buChar char="•"/>
        <a:defRPr sz="2399" kern="1200">
          <a:solidFill>
            <a:schemeClr val="tx1"/>
          </a:solidFill>
          <a:latin typeface="+mn-lt"/>
          <a:ea typeface="+mn-ea"/>
          <a:cs typeface="+mn-cs"/>
        </a:defRPr>
      </a:lvl1pPr>
      <a:lvl2pPr marL="557064" indent="-214255" algn="l" defTabSz="685617" rtl="0" eaLnBrk="1" latinLnBrk="0" hangingPunct="1">
        <a:spcBef>
          <a:spcPct val="20000"/>
        </a:spcBef>
        <a:buFont typeface="Arial" pitchFamily="34" charset="0"/>
        <a:buChar char="–"/>
        <a:defRPr sz="2099" kern="1200">
          <a:solidFill>
            <a:schemeClr val="tx1"/>
          </a:solidFill>
          <a:latin typeface="+mn-lt"/>
          <a:ea typeface="+mn-ea"/>
          <a:cs typeface="+mn-cs"/>
        </a:defRPr>
      </a:lvl2pPr>
      <a:lvl3pPr marL="857021" indent="-171404" algn="l" defTabSz="685617"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199830"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2639"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447"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256"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064"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3873" indent="-171404" algn="l" defTabSz="68561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617" rtl="0" eaLnBrk="1" latinLnBrk="0" hangingPunct="1">
        <a:defRPr sz="1350" kern="1200">
          <a:solidFill>
            <a:schemeClr val="tx1"/>
          </a:solidFill>
          <a:latin typeface="+mn-lt"/>
          <a:ea typeface="+mn-ea"/>
          <a:cs typeface="+mn-cs"/>
        </a:defRPr>
      </a:lvl1pPr>
      <a:lvl2pPr marL="342809" algn="l" defTabSz="685617" rtl="0" eaLnBrk="1" latinLnBrk="0" hangingPunct="1">
        <a:defRPr sz="1350" kern="1200">
          <a:solidFill>
            <a:schemeClr val="tx1"/>
          </a:solidFill>
          <a:latin typeface="+mn-lt"/>
          <a:ea typeface="+mn-ea"/>
          <a:cs typeface="+mn-cs"/>
        </a:defRPr>
      </a:lvl2pPr>
      <a:lvl3pPr marL="685617" algn="l" defTabSz="685617" rtl="0" eaLnBrk="1" latinLnBrk="0" hangingPunct="1">
        <a:defRPr sz="1350" kern="1200">
          <a:solidFill>
            <a:schemeClr val="tx1"/>
          </a:solidFill>
          <a:latin typeface="+mn-lt"/>
          <a:ea typeface="+mn-ea"/>
          <a:cs typeface="+mn-cs"/>
        </a:defRPr>
      </a:lvl3pPr>
      <a:lvl4pPr marL="1028426" algn="l" defTabSz="685617" rtl="0" eaLnBrk="1" latinLnBrk="0" hangingPunct="1">
        <a:defRPr sz="1350" kern="1200">
          <a:solidFill>
            <a:schemeClr val="tx1"/>
          </a:solidFill>
          <a:latin typeface="+mn-lt"/>
          <a:ea typeface="+mn-ea"/>
          <a:cs typeface="+mn-cs"/>
        </a:defRPr>
      </a:lvl4pPr>
      <a:lvl5pPr marL="1371234" algn="l" defTabSz="685617" rtl="0" eaLnBrk="1" latinLnBrk="0" hangingPunct="1">
        <a:defRPr sz="1350" kern="1200">
          <a:solidFill>
            <a:schemeClr val="tx1"/>
          </a:solidFill>
          <a:latin typeface="+mn-lt"/>
          <a:ea typeface="+mn-ea"/>
          <a:cs typeface="+mn-cs"/>
        </a:defRPr>
      </a:lvl5pPr>
      <a:lvl6pPr marL="1714043" algn="l" defTabSz="685617" rtl="0" eaLnBrk="1" latinLnBrk="0" hangingPunct="1">
        <a:defRPr sz="1350" kern="1200">
          <a:solidFill>
            <a:schemeClr val="tx1"/>
          </a:solidFill>
          <a:latin typeface="+mn-lt"/>
          <a:ea typeface="+mn-ea"/>
          <a:cs typeface="+mn-cs"/>
        </a:defRPr>
      </a:lvl6pPr>
      <a:lvl7pPr marL="2056851" algn="l" defTabSz="685617" rtl="0" eaLnBrk="1" latinLnBrk="0" hangingPunct="1">
        <a:defRPr sz="1350" kern="1200">
          <a:solidFill>
            <a:schemeClr val="tx1"/>
          </a:solidFill>
          <a:latin typeface="+mn-lt"/>
          <a:ea typeface="+mn-ea"/>
          <a:cs typeface="+mn-cs"/>
        </a:defRPr>
      </a:lvl7pPr>
      <a:lvl8pPr marL="2399660" algn="l" defTabSz="685617" rtl="0" eaLnBrk="1" latinLnBrk="0" hangingPunct="1">
        <a:defRPr sz="1350" kern="1200">
          <a:solidFill>
            <a:schemeClr val="tx1"/>
          </a:solidFill>
          <a:latin typeface="+mn-lt"/>
          <a:ea typeface="+mn-ea"/>
          <a:cs typeface="+mn-cs"/>
        </a:defRPr>
      </a:lvl8pPr>
      <a:lvl9pPr marL="2742468" algn="l" defTabSz="685617"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86CF9CC-6460-4737-9010-75748FDEE016}" type="datetime1">
              <a:rPr lang="en-GB" smtClean="0"/>
              <a:t>19/Mar/21</a:t>
            </a:fld>
            <a:endParaRPr lang="en-GB" dirty="0"/>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dirty="0"/>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E9BBD965-F460-422A-A842-9BE9972FC43E}" type="slidenum">
              <a:rPr lang="en-GB" smtClean="0"/>
              <a:pPr/>
              <a:t>‹#›</a:t>
            </a:fld>
            <a:endParaRPr lang="en-GB" dirty="0"/>
          </a:p>
        </p:txBody>
      </p:sp>
    </p:spTree>
    <p:extLst>
      <p:ext uri="{BB962C8B-B14F-4D97-AF65-F5344CB8AC3E}">
        <p14:creationId xmlns:p14="http://schemas.microsoft.com/office/powerpoint/2010/main" val="1856808390"/>
      </p:ext>
    </p:extLst>
  </p:cSld>
  <p:clrMap bg1="dk1" tx1="lt1" bg2="dk2" tx2="lt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Lst>
  <p:hf hdr="0" ftr="0" dt="0"/>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3" Type="http://schemas.openxmlformats.org/officeDocument/2006/relationships/hyperlink" Target="http://brainz.org/15-real-world-applications-genetic-algorithms/" TargetMode="External"/><Relationship Id="rId2" Type="http://schemas.openxmlformats.org/officeDocument/2006/relationships/notesSlide" Target="../notesSlides/notesSlide3.xml"/><Relationship Id="rId1" Type="http://schemas.openxmlformats.org/officeDocument/2006/relationships/slideLayout" Target="../slideLayouts/slideLayout42.xml"/><Relationship Id="rId4" Type="http://schemas.openxmlformats.org/officeDocument/2006/relationships/hyperlink" Target="https://en.wikipedia.org/wiki/List_of_genetic_algorithm_applications"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notesSlide" Target="../notesSlides/notesSlide7.xml"/><Relationship Id="rId1" Type="http://schemas.openxmlformats.org/officeDocument/2006/relationships/slideLayout" Target="../slideLayouts/slideLayout4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2" Type="http://schemas.openxmlformats.org/officeDocument/2006/relationships/hyperlink" Target="http://iua.davidgamez.eu/documents/IUA_AWk7_ArtificialIntelligence.pdf" TargetMode="External"/><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6"/>
          <p:cNvSpPr txBox="1">
            <a:spLocks noChangeArrowheads="1"/>
          </p:cNvSpPr>
          <p:nvPr/>
        </p:nvSpPr>
        <p:spPr bwMode="auto">
          <a:xfrm>
            <a:off x="457200" y="2229162"/>
            <a:ext cx="7010400" cy="1800493"/>
          </a:xfrm>
          <a:prstGeom prst="rect">
            <a:avLst/>
          </a:prstGeom>
          <a:noFill/>
          <a:ln w="9525">
            <a:noFill/>
            <a:miter lim="800000"/>
            <a:headEnd/>
            <a:tailEnd/>
          </a:ln>
        </p:spPr>
        <p:txBody>
          <a:bodyPr wrap="square">
            <a:spAutoFit/>
          </a:bodyPr>
          <a:lstStyle/>
          <a:p>
            <a:pPr algn="ctr"/>
            <a:r>
              <a:rPr lang="en-ZA" sz="3200" dirty="0">
                <a:solidFill>
                  <a:srgbClr val="00A1DA"/>
                </a:solidFill>
              </a:rPr>
              <a:t>Introduction to Artificial </a:t>
            </a:r>
            <a:r>
              <a:rPr lang="en-ZA" sz="3200" dirty="0" smtClean="0">
                <a:solidFill>
                  <a:srgbClr val="00A1DA"/>
                </a:solidFill>
              </a:rPr>
              <a:t>Intelligence  </a:t>
            </a:r>
            <a:endParaRPr lang="en-ZA" sz="3200" dirty="0">
              <a:solidFill>
                <a:srgbClr val="00A1DA"/>
              </a:solidFill>
            </a:endParaRPr>
          </a:p>
          <a:p>
            <a:pPr algn="ctr"/>
            <a:r>
              <a:rPr lang="en-ZA" sz="3200" dirty="0" smtClean="0">
                <a:solidFill>
                  <a:srgbClr val="00A1DA"/>
                </a:solidFill>
              </a:rPr>
              <a:t>(Symbolic AI)</a:t>
            </a:r>
            <a:endParaRPr lang="en-ZA" sz="3200" dirty="0">
              <a:solidFill>
                <a:srgbClr val="00A1DA"/>
              </a:solidFill>
            </a:endParaRPr>
          </a:p>
          <a:p>
            <a:pPr algn="ctr"/>
            <a:endParaRPr lang="en-ZA" sz="2000" dirty="0">
              <a:solidFill>
                <a:srgbClr val="00A1DA"/>
              </a:solidFill>
            </a:endParaRPr>
          </a:p>
          <a:p>
            <a:pPr algn="ctr"/>
            <a:r>
              <a:rPr lang="en-ZA" sz="1400" dirty="0"/>
              <a:t>Siphokazi Tswane</a:t>
            </a:r>
          </a:p>
          <a:p>
            <a:pPr algn="ctr"/>
            <a:endParaRPr lang="en-ZA" sz="1350" dirty="0"/>
          </a:p>
        </p:txBody>
      </p:sp>
      <p:sp>
        <p:nvSpPr>
          <p:cNvPr id="4" name="Slide Number Placeholder 3"/>
          <p:cNvSpPr>
            <a:spLocks noGrp="1"/>
          </p:cNvSpPr>
          <p:nvPr>
            <p:ph type="sldNum" sz="quarter" idx="12"/>
          </p:nvPr>
        </p:nvSpPr>
        <p:spPr/>
        <p:txBody>
          <a:bodyPr/>
          <a:lstStyle/>
          <a:p>
            <a:fld id="{C5DFEC63-AC9E-491C-B008-E83D881192CD}" type="slidenum">
              <a:rPr lang="en-GB" smtClean="0"/>
              <a:pPr/>
              <a:t>1</a:t>
            </a:fld>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DFEC63-AC9E-491C-B008-E83D881192CD}" type="slidenum">
              <a:rPr lang="en-GB" smtClean="0"/>
              <a:pPr/>
              <a:t>2</a:t>
            </a:fld>
            <a:endParaRPr lang="en-GB" dirty="0"/>
          </a:p>
        </p:txBody>
      </p:sp>
      <p:sp>
        <p:nvSpPr>
          <p:cNvPr id="5" name="Content Placeholder 4"/>
          <p:cNvSpPr>
            <a:spLocks noGrp="1"/>
          </p:cNvSpPr>
          <p:nvPr>
            <p:ph idx="4294967295"/>
          </p:nvPr>
        </p:nvSpPr>
        <p:spPr>
          <a:xfrm>
            <a:off x="1030288" y="1943100"/>
            <a:ext cx="8113712" cy="3600450"/>
          </a:xfrm>
        </p:spPr>
        <p:txBody>
          <a:bodyPr>
            <a:normAutofit/>
          </a:bodyPr>
          <a:lstStyle/>
          <a:p>
            <a:pPr>
              <a:buFont typeface="Wingdings" panose="05000000000000000000" pitchFamily="2" charset="2"/>
              <a:buChar char="q"/>
            </a:pPr>
            <a:r>
              <a:rPr lang="en-GB" sz="2099" dirty="0" smtClean="0">
                <a:solidFill>
                  <a:srgbClr val="FF0000"/>
                </a:solidFill>
              </a:rPr>
              <a:t>AI Definition</a:t>
            </a:r>
          </a:p>
          <a:p>
            <a:pPr>
              <a:buFont typeface="Wingdings" panose="05000000000000000000" pitchFamily="2" charset="2"/>
              <a:buChar char="q"/>
            </a:pPr>
            <a:r>
              <a:rPr lang="en-US" sz="2099" dirty="0" smtClean="0">
                <a:solidFill>
                  <a:srgbClr val="FF0000"/>
                </a:solidFill>
              </a:rPr>
              <a:t>Related Fields</a:t>
            </a:r>
            <a:endParaRPr lang="en-GB" sz="2099" dirty="0" smtClean="0">
              <a:solidFill>
                <a:srgbClr val="FF0000"/>
              </a:solidFill>
            </a:endParaRPr>
          </a:p>
          <a:p>
            <a:pPr>
              <a:buFont typeface="Wingdings" panose="05000000000000000000" pitchFamily="2" charset="2"/>
              <a:buChar char="q"/>
            </a:pPr>
            <a:r>
              <a:rPr lang="en-US" sz="2099" dirty="0" smtClean="0">
                <a:solidFill>
                  <a:srgbClr val="FF0000"/>
                </a:solidFill>
              </a:rPr>
              <a:t>History of AI </a:t>
            </a:r>
          </a:p>
          <a:p>
            <a:pPr>
              <a:buFont typeface="Wingdings" panose="05000000000000000000" pitchFamily="2" charset="2"/>
              <a:buChar char="q"/>
            </a:pPr>
            <a:r>
              <a:rPr lang="en-US" sz="2099" dirty="0" smtClean="0">
                <a:solidFill>
                  <a:srgbClr val="FF0000"/>
                </a:solidFill>
              </a:rPr>
              <a:t>AI </a:t>
            </a:r>
            <a:r>
              <a:rPr lang="en-US" sz="2099" dirty="0">
                <a:solidFill>
                  <a:srgbClr val="FF0000"/>
                </a:solidFill>
              </a:rPr>
              <a:t>Philosophy</a:t>
            </a:r>
          </a:p>
          <a:p>
            <a:pPr>
              <a:buFont typeface="Wingdings" panose="05000000000000000000" pitchFamily="2" charset="2"/>
              <a:buChar char="q"/>
            </a:pPr>
            <a:r>
              <a:rPr lang="en-GB" sz="2099" dirty="0" smtClean="0"/>
              <a:t>Applications </a:t>
            </a:r>
            <a:r>
              <a:rPr lang="en-GB" sz="2099" dirty="0"/>
              <a:t>of </a:t>
            </a:r>
            <a:r>
              <a:rPr lang="en-GB" sz="2099" dirty="0" smtClean="0"/>
              <a:t>AI (</a:t>
            </a:r>
            <a:r>
              <a:rPr lang="en-GB" sz="2099" dirty="0"/>
              <a:t>Planning, understanding, natural language processing, parallel and distributed AI, learning, connectionist model, robotics, expert systems, fuzzy logic, artificial neural networks)</a:t>
            </a:r>
            <a:endParaRPr lang="en-US" sz="2099" dirty="0"/>
          </a:p>
        </p:txBody>
      </p:sp>
      <p:sp>
        <p:nvSpPr>
          <p:cNvPr id="4" name="Title 3"/>
          <p:cNvSpPr>
            <a:spLocks noGrp="1"/>
          </p:cNvSpPr>
          <p:nvPr>
            <p:ph type="title" idx="4294967295"/>
          </p:nvPr>
        </p:nvSpPr>
        <p:spPr>
          <a:xfrm>
            <a:off x="1030288" y="1063625"/>
            <a:ext cx="7199312" cy="857250"/>
          </a:xfrm>
        </p:spPr>
        <p:txBody>
          <a:bodyPr>
            <a:normAutofit/>
          </a:bodyPr>
          <a:lstStyle/>
          <a:p>
            <a:r>
              <a:rPr lang="en-US" sz="2800" dirty="0" smtClean="0"/>
              <a:t>Introduction </a:t>
            </a:r>
            <a:r>
              <a:rPr lang="en-US" sz="2800" dirty="0"/>
              <a:t>to AI</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3</a:t>
            </a:fld>
            <a:endParaRPr lang="en-GB" dirty="0"/>
          </a:p>
        </p:txBody>
      </p:sp>
      <p:sp>
        <p:nvSpPr>
          <p:cNvPr id="2" name="Title 1"/>
          <p:cNvSpPr>
            <a:spLocks noGrp="1"/>
          </p:cNvSpPr>
          <p:nvPr>
            <p:ph type="title" idx="4294967295"/>
          </p:nvPr>
        </p:nvSpPr>
        <p:spPr>
          <a:xfrm>
            <a:off x="1219200" y="388272"/>
            <a:ext cx="7391400" cy="857250"/>
          </a:xfrm>
        </p:spPr>
        <p:txBody>
          <a:bodyPr>
            <a:noAutofit/>
          </a:bodyPr>
          <a:lstStyle/>
          <a:p>
            <a:r>
              <a:rPr lang="nn-NO" dirty="0">
                <a:latin typeface="Rockwell" pitchFamily="18" charset="0"/>
              </a:rPr>
              <a:t>Genetic </a:t>
            </a:r>
            <a:r>
              <a:rPr lang="nn-NO" dirty="0" smtClean="0">
                <a:latin typeface="Rockwell" pitchFamily="18" charset="0"/>
              </a:rPr>
              <a:t>Algorithms (GA) </a:t>
            </a:r>
            <a:endParaRPr lang="en-GB" dirty="0">
              <a:latin typeface="Rockwell" pitchFamily="18" charset="0"/>
            </a:endParaRPr>
          </a:p>
        </p:txBody>
      </p:sp>
      <p:sp>
        <p:nvSpPr>
          <p:cNvPr id="3" name="Content Placeholder 2"/>
          <p:cNvSpPr>
            <a:spLocks noGrp="1"/>
          </p:cNvSpPr>
          <p:nvPr>
            <p:ph idx="4294967295"/>
          </p:nvPr>
        </p:nvSpPr>
        <p:spPr>
          <a:xfrm>
            <a:off x="470444" y="1600200"/>
            <a:ext cx="7924800" cy="4229100"/>
          </a:xfrm>
        </p:spPr>
        <p:txBody>
          <a:bodyPr>
            <a:noAutofit/>
          </a:bodyPr>
          <a:lstStyle/>
          <a:p>
            <a:pPr>
              <a:spcBef>
                <a:spcPts val="225"/>
              </a:spcBef>
              <a:spcAft>
                <a:spcPts val="225"/>
              </a:spcAft>
              <a:buFont typeface="Wingdings" panose="05000000000000000000" pitchFamily="2" charset="2"/>
              <a:buChar char="q"/>
            </a:pPr>
            <a:r>
              <a:rPr lang="en-GB" sz="2200" dirty="0"/>
              <a:t>Living systems solve problems by evolving new creatures.</a:t>
            </a:r>
          </a:p>
          <a:p>
            <a:pPr>
              <a:spcBef>
                <a:spcPts val="225"/>
              </a:spcBef>
              <a:spcAft>
                <a:spcPts val="225"/>
              </a:spcAft>
              <a:buFont typeface="Wingdings" panose="05000000000000000000" pitchFamily="2" charset="2"/>
              <a:buChar char="q"/>
            </a:pPr>
            <a:r>
              <a:rPr lang="en-GB" sz="2200" dirty="0"/>
              <a:t>Mating produces millions of variations.</a:t>
            </a:r>
          </a:p>
          <a:p>
            <a:pPr>
              <a:spcBef>
                <a:spcPts val="225"/>
              </a:spcBef>
              <a:spcAft>
                <a:spcPts val="225"/>
              </a:spcAft>
              <a:buFont typeface="Wingdings" panose="05000000000000000000" pitchFamily="2" charset="2"/>
              <a:buChar char="q"/>
            </a:pPr>
            <a:r>
              <a:rPr lang="en-GB" sz="2200" dirty="0"/>
              <a:t> The variations that are most successful survive to become the parents of the next generation.</a:t>
            </a:r>
          </a:p>
          <a:p>
            <a:pPr>
              <a:spcBef>
                <a:spcPts val="225"/>
              </a:spcBef>
              <a:spcAft>
                <a:spcPts val="225"/>
              </a:spcAft>
              <a:buFont typeface="Wingdings" panose="05000000000000000000" pitchFamily="2" charset="2"/>
              <a:buChar char="q"/>
            </a:pPr>
            <a:r>
              <a:rPr lang="en-GB" sz="2200" dirty="0"/>
              <a:t>Work in a similar way to natural evolution.</a:t>
            </a:r>
          </a:p>
          <a:p>
            <a:pPr>
              <a:spcBef>
                <a:spcPts val="225"/>
              </a:spcBef>
              <a:spcAft>
                <a:spcPts val="225"/>
              </a:spcAft>
              <a:buFont typeface="Wingdings" panose="05000000000000000000" pitchFamily="2" charset="2"/>
              <a:buChar char="q"/>
            </a:pPr>
            <a:r>
              <a:rPr lang="en-GB" sz="2200" dirty="0"/>
              <a:t>The thing that you want to evolve is encoded as a gene.</a:t>
            </a:r>
          </a:p>
          <a:p>
            <a:pPr>
              <a:spcBef>
                <a:spcPts val="225"/>
              </a:spcBef>
              <a:spcAft>
                <a:spcPts val="225"/>
              </a:spcAft>
              <a:buFont typeface="Wingdings" panose="05000000000000000000" pitchFamily="2" charset="2"/>
              <a:buChar char="q"/>
            </a:pPr>
            <a:r>
              <a:rPr lang="en-GB" sz="2200" dirty="0"/>
              <a:t>The gene is used to produce ‘organisms’.</a:t>
            </a:r>
          </a:p>
          <a:p>
            <a:pPr>
              <a:spcBef>
                <a:spcPts val="225"/>
              </a:spcBef>
              <a:spcAft>
                <a:spcPts val="225"/>
              </a:spcAft>
              <a:buFont typeface="Wingdings" panose="05000000000000000000" pitchFamily="2" charset="2"/>
              <a:buChar char="q"/>
            </a:pPr>
            <a:r>
              <a:rPr lang="en-GB" sz="2200" dirty="0"/>
              <a:t>The fitness of the organisms is evaluated on the specified task.</a:t>
            </a:r>
          </a:p>
          <a:p>
            <a:pPr>
              <a:spcBef>
                <a:spcPts val="225"/>
              </a:spcBef>
              <a:spcAft>
                <a:spcPts val="225"/>
              </a:spcAft>
              <a:buFont typeface="Wingdings" panose="05000000000000000000" pitchFamily="2" charset="2"/>
              <a:buChar char="q"/>
            </a:pPr>
            <a:r>
              <a:rPr lang="en-GB" sz="2200" dirty="0"/>
              <a:t>The best organisms are ‘mated’ by randomly combining their genes to produce new organisms.</a:t>
            </a:r>
          </a:p>
          <a:p>
            <a:pPr>
              <a:spcBef>
                <a:spcPts val="225"/>
              </a:spcBef>
              <a:spcAft>
                <a:spcPts val="225"/>
              </a:spcAft>
              <a:buFont typeface="Wingdings" panose="05000000000000000000" pitchFamily="2" charset="2"/>
              <a:buChar char="q"/>
            </a:pPr>
            <a:r>
              <a:rPr lang="en-GB" sz="2200" dirty="0"/>
              <a:t>The process is repeated until the problem is solved.</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4</a:t>
            </a:fld>
            <a:endParaRPr lang="en-GB" dirty="0"/>
          </a:p>
        </p:txBody>
      </p:sp>
      <p:sp>
        <p:nvSpPr>
          <p:cNvPr id="2" name="Title 1"/>
          <p:cNvSpPr>
            <a:spLocks noGrp="1"/>
          </p:cNvSpPr>
          <p:nvPr>
            <p:ph type="title" idx="4294967295"/>
          </p:nvPr>
        </p:nvSpPr>
        <p:spPr>
          <a:xfrm>
            <a:off x="2057400" y="528958"/>
            <a:ext cx="4592637" cy="918841"/>
          </a:xfrm>
        </p:spPr>
        <p:txBody>
          <a:bodyPr>
            <a:normAutofit/>
          </a:bodyPr>
          <a:lstStyle/>
          <a:p>
            <a:r>
              <a:rPr lang="nn-NO" dirty="0"/>
              <a:t>The GA Process</a:t>
            </a:r>
            <a:endParaRPr lang="en-GB" dirty="0"/>
          </a:p>
        </p:txBody>
      </p:sp>
      <p:pic>
        <p:nvPicPr>
          <p:cNvPr id="6" name="Picture 2"/>
          <p:cNvPicPr>
            <a:picLocks noChangeAspect="1" noChangeArrowheads="1"/>
          </p:cNvPicPr>
          <p:nvPr/>
        </p:nvPicPr>
        <p:blipFill>
          <a:blip r:embed="rId2" cstate="print"/>
          <a:srcRect/>
          <a:stretch>
            <a:fillRect/>
          </a:stretch>
        </p:blipFill>
        <p:spPr bwMode="auto">
          <a:xfrm>
            <a:off x="685800" y="1639906"/>
            <a:ext cx="7884647" cy="4608494"/>
          </a:xfrm>
          <a:prstGeom prst="rect">
            <a:avLst/>
          </a:prstGeom>
          <a:noFill/>
          <a:ln w="9525">
            <a:noFill/>
            <a:miter lim="800000"/>
            <a:headEnd/>
            <a:tailEnd/>
          </a:ln>
        </p:spPr>
      </p:pic>
      <p:sp>
        <p:nvSpPr>
          <p:cNvPr id="4" name="TextBox 3"/>
          <p:cNvSpPr txBox="1"/>
          <p:nvPr/>
        </p:nvSpPr>
        <p:spPr>
          <a:xfrm>
            <a:off x="458271" y="6477000"/>
            <a:ext cx="5827782" cy="300082"/>
          </a:xfrm>
          <a:prstGeom prst="rect">
            <a:avLst/>
          </a:prstGeom>
          <a:noFill/>
        </p:spPr>
        <p:txBody>
          <a:bodyPr wrap="square" rtlCol="0">
            <a:spAutoFit/>
          </a:bodyPr>
          <a:lstStyle/>
          <a:p>
            <a:r>
              <a:rPr lang="nn-NO" sz="1350" b="1" dirty="0"/>
              <a:t>Slide credit: Keith Downing, Evolving Artificial Intelligence, NTNU</a:t>
            </a:r>
            <a:endParaRPr lang="en-GB" sz="135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5</a:t>
            </a:fld>
            <a:endParaRPr lang="en-GB" dirty="0"/>
          </a:p>
        </p:txBody>
      </p:sp>
      <p:sp>
        <p:nvSpPr>
          <p:cNvPr id="2" name="Title 1"/>
          <p:cNvSpPr>
            <a:spLocks noGrp="1"/>
          </p:cNvSpPr>
          <p:nvPr>
            <p:ph type="title" idx="4294967295"/>
          </p:nvPr>
        </p:nvSpPr>
        <p:spPr>
          <a:xfrm>
            <a:off x="1956181" y="446202"/>
            <a:ext cx="5810250" cy="971550"/>
          </a:xfrm>
        </p:spPr>
        <p:txBody>
          <a:bodyPr>
            <a:normAutofit/>
          </a:bodyPr>
          <a:lstStyle/>
          <a:p>
            <a:r>
              <a:rPr lang="nn-NO" dirty="0"/>
              <a:t>Artificial Development</a:t>
            </a:r>
            <a:endParaRPr lang="en-GB" dirty="0"/>
          </a:p>
        </p:txBody>
      </p:sp>
      <p:pic>
        <p:nvPicPr>
          <p:cNvPr id="4" name="Picture 2"/>
          <p:cNvPicPr>
            <a:picLocks noChangeAspect="1" noChangeArrowheads="1"/>
          </p:cNvPicPr>
          <p:nvPr/>
        </p:nvPicPr>
        <p:blipFill>
          <a:blip r:embed="rId2" cstate="print"/>
          <a:srcRect/>
          <a:stretch>
            <a:fillRect/>
          </a:stretch>
        </p:blipFill>
        <p:spPr bwMode="auto">
          <a:xfrm>
            <a:off x="458271" y="1772080"/>
            <a:ext cx="8056053" cy="485731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6</a:t>
            </a:fld>
            <a:endParaRPr lang="en-GB" dirty="0"/>
          </a:p>
        </p:txBody>
      </p:sp>
      <p:sp>
        <p:nvSpPr>
          <p:cNvPr id="2" name="Title 1"/>
          <p:cNvSpPr>
            <a:spLocks noGrp="1"/>
          </p:cNvSpPr>
          <p:nvPr>
            <p:ph type="title" idx="4294967295"/>
          </p:nvPr>
        </p:nvSpPr>
        <p:spPr>
          <a:xfrm>
            <a:off x="533400" y="971550"/>
            <a:ext cx="8610600" cy="1085850"/>
          </a:xfrm>
        </p:spPr>
        <p:txBody>
          <a:bodyPr>
            <a:noAutofit/>
          </a:bodyPr>
          <a:lstStyle/>
          <a:p>
            <a:r>
              <a:rPr lang="nn-NO" dirty="0"/>
              <a:t>Applications of Genetic Algorithms</a:t>
            </a:r>
            <a:endParaRPr lang="en-GB" dirty="0"/>
          </a:p>
        </p:txBody>
      </p:sp>
      <p:sp>
        <p:nvSpPr>
          <p:cNvPr id="3" name="Content Placeholder 2"/>
          <p:cNvSpPr>
            <a:spLocks noGrp="1"/>
          </p:cNvSpPr>
          <p:nvPr>
            <p:ph idx="4294967295"/>
          </p:nvPr>
        </p:nvSpPr>
        <p:spPr>
          <a:xfrm>
            <a:off x="358775" y="1925638"/>
            <a:ext cx="8785225" cy="4627562"/>
          </a:xfrm>
        </p:spPr>
        <p:txBody>
          <a:bodyPr>
            <a:normAutofit/>
          </a:bodyPr>
          <a:lstStyle/>
          <a:p>
            <a:pPr>
              <a:buFont typeface="Wingdings" panose="05000000000000000000" pitchFamily="2" charset="2"/>
              <a:buChar char="q"/>
            </a:pPr>
            <a:r>
              <a:rPr lang="en-GB" dirty="0"/>
              <a:t>Evolving controllers.</a:t>
            </a:r>
          </a:p>
          <a:p>
            <a:pPr>
              <a:buFont typeface="Wingdings" panose="05000000000000000000" pitchFamily="2" charset="2"/>
              <a:buChar char="q"/>
            </a:pPr>
            <a:r>
              <a:rPr lang="en-GB" dirty="0"/>
              <a:t>Optimizing algorithms, </a:t>
            </a:r>
            <a:r>
              <a:rPr lang="en-GB" dirty="0" smtClean="0"/>
              <a:t>production processes</a:t>
            </a:r>
            <a:r>
              <a:rPr lang="en-GB" dirty="0"/>
              <a:t>, etc. where you have a </a:t>
            </a:r>
            <a:r>
              <a:rPr lang="en-GB" dirty="0" smtClean="0"/>
              <a:t>large number </a:t>
            </a:r>
            <a:r>
              <a:rPr lang="en-GB" dirty="0"/>
              <a:t>of parameters.</a:t>
            </a:r>
          </a:p>
          <a:p>
            <a:pPr>
              <a:buFont typeface="Wingdings" panose="05000000000000000000" pitchFamily="2" charset="2"/>
              <a:buChar char="q"/>
            </a:pPr>
            <a:r>
              <a:rPr lang="en-GB" dirty="0"/>
              <a:t>Can be used to design products, such as semiconductors and turbines.</a:t>
            </a:r>
          </a:p>
          <a:p>
            <a:pPr>
              <a:buFont typeface="Wingdings" panose="05000000000000000000" pitchFamily="2" charset="2"/>
              <a:buChar char="q"/>
            </a:pPr>
            <a:r>
              <a:rPr lang="en-GB" dirty="0"/>
              <a:t>Used in genetic programming where a program is evolved for a particular function.</a:t>
            </a:r>
          </a:p>
          <a:p>
            <a:pPr>
              <a:buFont typeface="Wingdings" panose="05000000000000000000" pitchFamily="2" charset="2"/>
              <a:buChar char="q"/>
            </a:pPr>
            <a:r>
              <a:rPr lang="nn-NO" dirty="0"/>
              <a:t>Bioninformatics</a:t>
            </a:r>
            <a:endParaRPr lang="en-GB" dirty="0"/>
          </a:p>
          <a:p>
            <a:pPr>
              <a:buFont typeface="Wingdings" panose="05000000000000000000" pitchFamily="2" charset="2"/>
              <a:buChar char="q"/>
            </a:pPr>
            <a:r>
              <a:rPr lang="nn-NO" dirty="0"/>
              <a:t>Task/job scheduling</a:t>
            </a:r>
          </a:p>
          <a:p>
            <a:pPr lvl="1">
              <a:buFont typeface="Wingdings" panose="05000000000000000000" pitchFamily="2" charset="2"/>
              <a:buChar char="q"/>
            </a:pPr>
            <a:r>
              <a:rPr lang="nn-NO" dirty="0"/>
              <a:t>More: </a:t>
            </a:r>
            <a:r>
              <a:rPr lang="nn-NO" dirty="0">
                <a:hlinkClick r:id="rId3"/>
              </a:rPr>
              <a:t>http://brainz.org/15-real-world-applications-genetic-algorithms/</a:t>
            </a:r>
            <a:endParaRPr lang="nn-NO" dirty="0"/>
          </a:p>
          <a:p>
            <a:pPr lvl="1">
              <a:buFont typeface="Wingdings" panose="05000000000000000000" pitchFamily="2" charset="2"/>
              <a:buChar char="q"/>
            </a:pPr>
            <a:r>
              <a:rPr lang="en-GB" dirty="0">
                <a:hlinkClick r:id="rId4"/>
              </a:rPr>
              <a:t>https://en.wikipedia.org/wiki/List_of_genetic_algorithm_applications</a:t>
            </a:r>
            <a:endParaRPr lang="en-GB" dirty="0"/>
          </a:p>
          <a:p>
            <a:pPr>
              <a:buFont typeface="Wingdings" panose="05000000000000000000" pitchFamily="2" charset="2"/>
              <a:buChar char="q"/>
            </a:pPr>
            <a:endParaRPr lang="en-GB"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7</a:t>
            </a:fld>
            <a:endParaRPr lang="en-GB" dirty="0"/>
          </a:p>
        </p:txBody>
      </p:sp>
      <p:sp>
        <p:nvSpPr>
          <p:cNvPr id="2" name="Title 1"/>
          <p:cNvSpPr>
            <a:spLocks noGrp="1"/>
          </p:cNvSpPr>
          <p:nvPr>
            <p:ph type="title" idx="4294967295"/>
          </p:nvPr>
        </p:nvSpPr>
        <p:spPr>
          <a:xfrm>
            <a:off x="762000" y="531712"/>
            <a:ext cx="7622358" cy="914400"/>
          </a:xfrm>
        </p:spPr>
        <p:txBody>
          <a:bodyPr>
            <a:noAutofit/>
          </a:bodyPr>
          <a:lstStyle/>
          <a:p>
            <a:r>
              <a:rPr lang="nn-NO" dirty="0">
                <a:latin typeface="Rockwell" pitchFamily="18" charset="0"/>
              </a:rPr>
              <a:t>Artificial Neural Networks (ANN)</a:t>
            </a:r>
            <a:r>
              <a:rPr lang="en-GB" dirty="0">
                <a:latin typeface="Rockwell" pitchFamily="18" charset="0"/>
              </a:rPr>
              <a:t/>
            </a:r>
            <a:br>
              <a:rPr lang="en-GB" dirty="0">
                <a:latin typeface="Rockwell" pitchFamily="18" charset="0"/>
              </a:rPr>
            </a:br>
            <a:endParaRPr lang="en-GB" dirty="0">
              <a:latin typeface="Rockwell" pitchFamily="18" charset="0"/>
            </a:endParaRPr>
          </a:p>
        </p:txBody>
      </p:sp>
      <p:sp>
        <p:nvSpPr>
          <p:cNvPr id="3" name="Content Placeholder 2"/>
          <p:cNvSpPr>
            <a:spLocks noGrp="1"/>
          </p:cNvSpPr>
          <p:nvPr>
            <p:ph idx="4294967295"/>
          </p:nvPr>
        </p:nvSpPr>
        <p:spPr>
          <a:xfrm>
            <a:off x="358775" y="2438400"/>
            <a:ext cx="8785225" cy="4038600"/>
          </a:xfrm>
        </p:spPr>
        <p:txBody>
          <a:bodyPr>
            <a:normAutofit/>
          </a:bodyPr>
          <a:lstStyle/>
          <a:p>
            <a:pPr>
              <a:buFont typeface="Wingdings" panose="05000000000000000000" pitchFamily="2" charset="2"/>
              <a:buChar char="q"/>
            </a:pPr>
            <a:r>
              <a:rPr lang="en-GB" sz="2200" dirty="0"/>
              <a:t>Loosely inspired by the brain.</a:t>
            </a:r>
          </a:p>
          <a:p>
            <a:pPr>
              <a:buFont typeface="Wingdings" panose="05000000000000000000" pitchFamily="2" charset="2"/>
              <a:buChar char="q"/>
            </a:pPr>
            <a:r>
              <a:rPr lang="en-GB" sz="2200" dirty="0"/>
              <a:t>Number of neurons connected to each other.</a:t>
            </a:r>
          </a:p>
          <a:p>
            <a:pPr>
              <a:buFont typeface="Wingdings" panose="05000000000000000000" pitchFamily="2" charset="2"/>
              <a:buChar char="q"/>
            </a:pPr>
            <a:r>
              <a:rPr lang="en-GB" sz="2200" dirty="0"/>
              <a:t>Each connection has a particular weight.</a:t>
            </a:r>
          </a:p>
          <a:p>
            <a:pPr>
              <a:buFont typeface="Wingdings" panose="05000000000000000000" pitchFamily="2" charset="2"/>
              <a:buChar char="q"/>
            </a:pPr>
            <a:r>
              <a:rPr lang="en-GB" sz="2200" dirty="0"/>
              <a:t>Activity in one neuron is passed to the connected neurons.</a:t>
            </a:r>
          </a:p>
          <a:p>
            <a:pPr>
              <a:buFont typeface="Wingdings" panose="05000000000000000000" pitchFamily="2" charset="2"/>
              <a:buChar char="q"/>
            </a:pPr>
            <a:r>
              <a:rPr lang="en-GB" sz="2200" dirty="0"/>
              <a:t>Variety of types and network architectures.</a:t>
            </a:r>
          </a:p>
          <a:p>
            <a:pPr>
              <a:buFont typeface="Wingdings" panose="05000000000000000000" pitchFamily="2" charset="2"/>
              <a:buChar char="q"/>
            </a:pPr>
            <a:endParaRPr lang="en-GB" sz="2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8</a:t>
            </a:fld>
            <a:endParaRPr lang="en-GB" dirty="0"/>
          </a:p>
        </p:txBody>
      </p:sp>
      <p:sp>
        <p:nvSpPr>
          <p:cNvPr id="2" name="Title 1"/>
          <p:cNvSpPr>
            <a:spLocks noGrp="1"/>
          </p:cNvSpPr>
          <p:nvPr>
            <p:ph type="title" idx="4294967295"/>
          </p:nvPr>
        </p:nvSpPr>
        <p:spPr>
          <a:xfrm>
            <a:off x="1447800" y="533400"/>
            <a:ext cx="6819900" cy="685800"/>
          </a:xfrm>
        </p:spPr>
        <p:txBody>
          <a:bodyPr>
            <a:noAutofit/>
          </a:bodyPr>
          <a:lstStyle/>
          <a:p>
            <a:r>
              <a:rPr lang="nn-NO" dirty="0" smtClean="0">
                <a:latin typeface="Rockwell" pitchFamily="18" charset="0"/>
              </a:rPr>
              <a:t>ANN</a:t>
            </a:r>
            <a:r>
              <a:rPr lang="nn-NO" dirty="0">
                <a:latin typeface="Rockwell" pitchFamily="18" charset="0"/>
              </a:rPr>
              <a:t> </a:t>
            </a:r>
            <a:r>
              <a:rPr lang="nn-NO" dirty="0" smtClean="0">
                <a:latin typeface="Rockwell" pitchFamily="18" charset="0"/>
              </a:rPr>
              <a:t>(cont.)</a:t>
            </a:r>
            <a:endParaRPr lang="en-GB" dirty="0"/>
          </a:p>
        </p:txBody>
      </p:sp>
      <p:pic>
        <p:nvPicPr>
          <p:cNvPr id="4" name="Picture 2"/>
          <p:cNvPicPr>
            <a:picLocks noChangeAspect="1" noChangeArrowheads="1"/>
          </p:cNvPicPr>
          <p:nvPr/>
        </p:nvPicPr>
        <p:blipFill>
          <a:blip r:embed="rId2" cstate="print"/>
          <a:srcRect/>
          <a:stretch>
            <a:fillRect/>
          </a:stretch>
        </p:blipFill>
        <p:spPr bwMode="auto">
          <a:xfrm>
            <a:off x="229731" y="1600676"/>
            <a:ext cx="8513133" cy="4190524"/>
          </a:xfrm>
          <a:prstGeom prst="rect">
            <a:avLst/>
          </a:prstGeom>
          <a:noFill/>
          <a:ln w="9525">
            <a:noFill/>
            <a:miter lim="800000"/>
            <a:headEnd/>
            <a:tailEnd/>
          </a:ln>
        </p:spPr>
      </p:pic>
      <p:sp>
        <p:nvSpPr>
          <p:cNvPr id="6" name="TextBox 5"/>
          <p:cNvSpPr txBox="1"/>
          <p:nvPr/>
        </p:nvSpPr>
        <p:spPr>
          <a:xfrm>
            <a:off x="458271" y="5791200"/>
            <a:ext cx="8056052" cy="300082"/>
          </a:xfrm>
          <a:prstGeom prst="rect">
            <a:avLst/>
          </a:prstGeom>
          <a:noFill/>
        </p:spPr>
        <p:txBody>
          <a:bodyPr wrap="square" rtlCol="0">
            <a:spAutoFit/>
          </a:bodyPr>
          <a:lstStyle/>
          <a:p>
            <a:r>
              <a:rPr lang="nn-NO" sz="1350" b="1" dirty="0"/>
              <a:t>Slide credit: Keith Downing, </a:t>
            </a:r>
            <a:r>
              <a:rPr lang="en-GB" sz="1350" b="1" dirty="0"/>
              <a:t>Darwin in the Machine: Evolving Neural Networks for Artificial Intelligence</a:t>
            </a:r>
            <a:r>
              <a:rPr lang="nn-NO" sz="1350" b="1" dirty="0"/>
              <a:t>, NTNU</a:t>
            </a:r>
            <a:endParaRPr lang="en-GB" sz="1350" b="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9</a:t>
            </a:fld>
            <a:endParaRPr lang="en-GB" dirty="0"/>
          </a:p>
        </p:txBody>
      </p:sp>
      <p:sp>
        <p:nvSpPr>
          <p:cNvPr id="2" name="Title 1"/>
          <p:cNvSpPr>
            <a:spLocks noGrp="1"/>
          </p:cNvSpPr>
          <p:nvPr>
            <p:ph type="title" idx="4294967295"/>
          </p:nvPr>
        </p:nvSpPr>
        <p:spPr>
          <a:xfrm>
            <a:off x="1466827" y="453879"/>
            <a:ext cx="6381750" cy="1133014"/>
          </a:xfrm>
        </p:spPr>
        <p:txBody>
          <a:bodyPr>
            <a:normAutofit/>
          </a:bodyPr>
          <a:lstStyle/>
          <a:p>
            <a:r>
              <a:rPr lang="nn-NO" dirty="0"/>
              <a:t>ANN</a:t>
            </a:r>
            <a:r>
              <a:rPr lang="nn-NO" sz="2624" dirty="0"/>
              <a:t> </a:t>
            </a:r>
            <a:r>
              <a:rPr lang="nn-NO" dirty="0"/>
              <a:t>ABSTRACTION</a:t>
            </a:r>
            <a:endParaRPr lang="en-GB" dirty="0"/>
          </a:p>
        </p:txBody>
      </p:sp>
      <p:pic>
        <p:nvPicPr>
          <p:cNvPr id="4" name="Picture 2"/>
          <p:cNvPicPr>
            <a:picLocks noChangeAspect="1" noChangeArrowheads="1"/>
          </p:cNvPicPr>
          <p:nvPr/>
        </p:nvPicPr>
        <p:blipFill>
          <a:blip r:embed="rId3" cstate="print"/>
          <a:srcRect/>
          <a:stretch>
            <a:fillRect/>
          </a:stretch>
        </p:blipFill>
        <p:spPr bwMode="auto">
          <a:xfrm>
            <a:off x="401136" y="1714946"/>
            <a:ext cx="8513133" cy="3599513"/>
          </a:xfrm>
          <a:prstGeom prst="rect">
            <a:avLst/>
          </a:prstGeom>
          <a:noFill/>
          <a:ln w="9525">
            <a:noFill/>
            <a:miter lim="800000"/>
            <a:headEnd/>
            <a:tailEnd/>
          </a:ln>
        </p:spPr>
      </p:pic>
      <p:sp>
        <p:nvSpPr>
          <p:cNvPr id="6" name="TextBox 5"/>
          <p:cNvSpPr txBox="1"/>
          <p:nvPr/>
        </p:nvSpPr>
        <p:spPr>
          <a:xfrm>
            <a:off x="458271" y="5442512"/>
            <a:ext cx="8056052" cy="300082"/>
          </a:xfrm>
          <a:prstGeom prst="rect">
            <a:avLst/>
          </a:prstGeom>
          <a:noFill/>
        </p:spPr>
        <p:txBody>
          <a:bodyPr wrap="square" rtlCol="0">
            <a:spAutoFit/>
          </a:bodyPr>
          <a:lstStyle/>
          <a:p>
            <a:r>
              <a:rPr lang="nn-NO" sz="1350" b="1" dirty="0"/>
              <a:t>Slide credit: Keith Downing, </a:t>
            </a:r>
            <a:r>
              <a:rPr lang="en-GB" sz="1350" b="1" dirty="0"/>
              <a:t>Darwin in the Machine: Evolving Neural Networks for Artificial Intelligence</a:t>
            </a:r>
            <a:r>
              <a:rPr lang="nn-NO" sz="1350" b="1" dirty="0"/>
              <a:t>, NTNU</a:t>
            </a:r>
            <a:endParaRPr lang="en-GB" sz="1350" b="1"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10</a:t>
            </a:fld>
            <a:endParaRPr lang="en-GB" dirty="0"/>
          </a:p>
        </p:txBody>
      </p:sp>
      <p:sp>
        <p:nvSpPr>
          <p:cNvPr id="2" name="Title 1"/>
          <p:cNvSpPr>
            <a:spLocks noGrp="1"/>
          </p:cNvSpPr>
          <p:nvPr>
            <p:ph type="title" idx="4294967295"/>
          </p:nvPr>
        </p:nvSpPr>
        <p:spPr>
          <a:xfrm>
            <a:off x="743947" y="457200"/>
            <a:ext cx="6781800" cy="844421"/>
          </a:xfrm>
        </p:spPr>
        <p:txBody>
          <a:bodyPr>
            <a:normAutofit/>
          </a:bodyPr>
          <a:lstStyle/>
          <a:p>
            <a:r>
              <a:rPr lang="nn-NO" dirty="0"/>
              <a:t>ANN Structural Abstraction</a:t>
            </a:r>
            <a:endParaRPr lang="en-GB" dirty="0"/>
          </a:p>
        </p:txBody>
      </p:sp>
      <p:pic>
        <p:nvPicPr>
          <p:cNvPr id="4" name="Picture 2"/>
          <p:cNvPicPr>
            <a:picLocks noChangeAspect="1" noChangeArrowheads="1"/>
          </p:cNvPicPr>
          <p:nvPr/>
        </p:nvPicPr>
        <p:blipFill>
          <a:blip r:embed="rId3" cstate="print"/>
          <a:srcRect/>
          <a:stretch>
            <a:fillRect/>
          </a:stretch>
        </p:blipFill>
        <p:spPr bwMode="auto">
          <a:xfrm>
            <a:off x="914400" y="1600200"/>
            <a:ext cx="7620000" cy="4310502"/>
          </a:xfrm>
          <a:prstGeom prst="rect">
            <a:avLst/>
          </a:prstGeom>
          <a:noFill/>
          <a:ln w="9525">
            <a:noFill/>
            <a:miter lim="800000"/>
            <a:headEnd/>
            <a:tailEnd/>
          </a:ln>
        </p:spPr>
      </p:pic>
      <p:sp>
        <p:nvSpPr>
          <p:cNvPr id="5" name="TextBox 4"/>
          <p:cNvSpPr txBox="1"/>
          <p:nvPr/>
        </p:nvSpPr>
        <p:spPr>
          <a:xfrm>
            <a:off x="743947" y="6024518"/>
            <a:ext cx="8056052" cy="300082"/>
          </a:xfrm>
          <a:prstGeom prst="rect">
            <a:avLst/>
          </a:prstGeom>
          <a:noFill/>
        </p:spPr>
        <p:txBody>
          <a:bodyPr wrap="square" rtlCol="0">
            <a:spAutoFit/>
          </a:bodyPr>
          <a:lstStyle/>
          <a:p>
            <a:r>
              <a:rPr lang="nn-NO" sz="1350" b="1" dirty="0"/>
              <a:t>Slide credit: Keith Downing, </a:t>
            </a:r>
            <a:r>
              <a:rPr lang="en-GB" sz="1350" b="1" dirty="0"/>
              <a:t>Darwin in the Machine: Evolving Neural Networks for Artificial Intelligence</a:t>
            </a:r>
            <a:r>
              <a:rPr lang="nn-NO" sz="1350" b="1" dirty="0"/>
              <a:t>, NTNU</a:t>
            </a:r>
            <a:endParaRPr lang="en-GB" sz="1350" b="1"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https://ars.els-cdn.com/content/image/3-s2.0-B0122274105008371-gr1.gif?_"/>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2699" y="1143000"/>
            <a:ext cx="4340225" cy="375285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p:txBody>
          <a:bodyPr/>
          <a:lstStyle/>
          <a:p>
            <a:fld id="{C5DFEC63-AC9E-491C-B008-E83D881192CD}" type="slidenum">
              <a:rPr lang="en-GB" smtClean="0"/>
              <a:pPr/>
              <a:t>11</a:t>
            </a:fld>
            <a:endParaRPr lang="en-GB" dirty="0"/>
          </a:p>
        </p:txBody>
      </p:sp>
      <p:sp>
        <p:nvSpPr>
          <p:cNvPr id="2" name="Title 1"/>
          <p:cNvSpPr>
            <a:spLocks noGrp="1"/>
          </p:cNvSpPr>
          <p:nvPr>
            <p:ph type="title" idx="4294967295"/>
          </p:nvPr>
        </p:nvSpPr>
        <p:spPr>
          <a:xfrm>
            <a:off x="2939256" y="514828"/>
            <a:ext cx="5084762" cy="514350"/>
          </a:xfrm>
        </p:spPr>
        <p:txBody>
          <a:bodyPr>
            <a:noAutofit/>
          </a:bodyPr>
          <a:lstStyle/>
          <a:p>
            <a:r>
              <a:rPr lang="nn-NO" dirty="0"/>
              <a:t>ANN Training</a:t>
            </a:r>
            <a:endParaRPr lang="en-GB" dirty="0"/>
          </a:p>
        </p:txBody>
      </p:sp>
      <p:sp>
        <p:nvSpPr>
          <p:cNvPr id="3" name="Content Placeholder 2"/>
          <p:cNvSpPr>
            <a:spLocks noGrp="1"/>
          </p:cNvSpPr>
          <p:nvPr>
            <p:ph idx="4294967295"/>
          </p:nvPr>
        </p:nvSpPr>
        <p:spPr>
          <a:xfrm>
            <a:off x="0" y="1828800"/>
            <a:ext cx="3962399" cy="3543300"/>
          </a:xfrm>
        </p:spPr>
        <p:txBody>
          <a:bodyPr>
            <a:normAutofit lnSpcReduction="10000"/>
          </a:bodyPr>
          <a:lstStyle/>
          <a:p>
            <a:pPr>
              <a:buFont typeface="Wingdings" panose="05000000000000000000" pitchFamily="2" charset="2"/>
              <a:buChar char="q"/>
            </a:pPr>
            <a:r>
              <a:rPr lang="en-GB" sz="2099" dirty="0"/>
              <a:t>A network is trained by exposing it to the training data and adjusting the weights so that its output is correct.</a:t>
            </a:r>
          </a:p>
          <a:p>
            <a:pPr>
              <a:buFont typeface="Wingdings" panose="05000000000000000000" pitchFamily="2" charset="2"/>
              <a:buChar char="q"/>
            </a:pPr>
            <a:r>
              <a:rPr lang="en-GB" sz="2099" dirty="0"/>
              <a:t>After enough examples, the network can be used to classify new data.</a:t>
            </a:r>
          </a:p>
          <a:p>
            <a:pPr>
              <a:buFont typeface="Wingdings" panose="05000000000000000000" pitchFamily="2" charset="2"/>
              <a:buChar char="q"/>
            </a:pPr>
            <a:r>
              <a:rPr lang="en-GB" sz="2099" dirty="0"/>
              <a:t>Good way of learning complex nonlinear functions.</a:t>
            </a:r>
          </a:p>
        </p:txBody>
      </p:sp>
      <p:pic>
        <p:nvPicPr>
          <p:cNvPr id="4098" name="Picture 2"/>
          <p:cNvPicPr>
            <a:picLocks noChangeAspect="1" noChangeArrowheads="1"/>
          </p:cNvPicPr>
          <p:nvPr/>
        </p:nvPicPr>
        <p:blipFill>
          <a:blip r:embed="rId4" cstate="print"/>
          <a:srcRect/>
          <a:stretch>
            <a:fillRect/>
          </a:stretch>
        </p:blipFill>
        <p:spPr bwMode="auto">
          <a:xfrm>
            <a:off x="3865493" y="4057495"/>
            <a:ext cx="2473903" cy="2428495"/>
          </a:xfrm>
          <a:prstGeom prst="rect">
            <a:avLst/>
          </a:prstGeom>
          <a:noFill/>
          <a:ln w="9525">
            <a:noFill/>
            <a:miter lim="800000"/>
            <a:headEnd/>
            <a:tailEnd/>
          </a:ln>
        </p:spPr>
      </p:pic>
      <p:sp>
        <p:nvSpPr>
          <p:cNvPr id="5" name="TextBox 4"/>
          <p:cNvSpPr txBox="1"/>
          <p:nvPr/>
        </p:nvSpPr>
        <p:spPr>
          <a:xfrm>
            <a:off x="6019800" y="5943600"/>
            <a:ext cx="3476929" cy="507831"/>
          </a:xfrm>
          <a:prstGeom prst="rect">
            <a:avLst/>
          </a:prstGeom>
          <a:noFill/>
        </p:spPr>
        <p:txBody>
          <a:bodyPr wrap="square" rtlCol="0">
            <a:spAutoFit/>
          </a:bodyPr>
          <a:lstStyle/>
          <a:p>
            <a:r>
              <a:rPr lang="nn-NO" sz="1350" b="1" dirty="0"/>
              <a:t>Slide credit: </a:t>
            </a:r>
            <a:r>
              <a:rPr lang="en-GB" sz="1350" b="1" dirty="0"/>
              <a:t>David  </a:t>
            </a:r>
            <a:r>
              <a:rPr lang="en-GB" sz="1350" b="1" dirty="0" err="1"/>
              <a:t>Garmez</a:t>
            </a:r>
            <a:r>
              <a:rPr lang="en-GB" sz="1350" b="1" dirty="0"/>
              <a:t>, Artificial Intelligence Opening Lecture </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12</a:t>
            </a:fld>
            <a:endParaRPr lang="en-GB" dirty="0"/>
          </a:p>
        </p:txBody>
      </p:sp>
      <p:sp>
        <p:nvSpPr>
          <p:cNvPr id="2" name="Title 1"/>
          <p:cNvSpPr>
            <a:spLocks noGrp="1"/>
          </p:cNvSpPr>
          <p:nvPr>
            <p:ph type="title" idx="4294967295"/>
          </p:nvPr>
        </p:nvSpPr>
        <p:spPr>
          <a:xfrm>
            <a:off x="1453025" y="583956"/>
            <a:ext cx="6627812" cy="650875"/>
          </a:xfrm>
        </p:spPr>
        <p:txBody>
          <a:bodyPr/>
          <a:lstStyle/>
          <a:p>
            <a:r>
              <a:rPr lang="nn-NO" sz="2999" dirty="0"/>
              <a:t>ANN Traning with Backpropagation</a:t>
            </a:r>
            <a:endParaRPr lang="en-GB" sz="2999" dirty="0"/>
          </a:p>
        </p:txBody>
      </p:sp>
      <p:pic>
        <p:nvPicPr>
          <p:cNvPr id="3074" name="Picture 2"/>
          <p:cNvPicPr>
            <a:picLocks noChangeAspect="1" noChangeArrowheads="1"/>
          </p:cNvPicPr>
          <p:nvPr/>
        </p:nvPicPr>
        <p:blipFill>
          <a:blip r:embed="rId3" cstate="print"/>
          <a:srcRect/>
          <a:stretch>
            <a:fillRect/>
          </a:stretch>
        </p:blipFill>
        <p:spPr bwMode="auto">
          <a:xfrm>
            <a:off x="286866" y="1943487"/>
            <a:ext cx="8056052" cy="3199567"/>
          </a:xfrm>
          <a:prstGeom prst="rect">
            <a:avLst/>
          </a:prstGeom>
          <a:noFill/>
          <a:ln w="9525">
            <a:noFill/>
            <a:miter lim="800000"/>
            <a:headEnd/>
            <a:tailEnd/>
          </a:ln>
        </p:spPr>
      </p:pic>
      <p:sp>
        <p:nvSpPr>
          <p:cNvPr id="4" name="Rectangle 3"/>
          <p:cNvSpPr/>
          <p:nvPr/>
        </p:nvSpPr>
        <p:spPr>
          <a:xfrm>
            <a:off x="302340" y="5485871"/>
            <a:ext cx="5770647" cy="300082"/>
          </a:xfrm>
          <a:prstGeom prst="rect">
            <a:avLst/>
          </a:prstGeom>
        </p:spPr>
        <p:txBody>
          <a:bodyPr wrap="square">
            <a:spAutoFit/>
          </a:bodyPr>
          <a:lstStyle/>
          <a:p>
            <a:r>
              <a:rPr lang="nn-NO" sz="1350" b="1" dirty="0"/>
              <a:t>Slide credit: </a:t>
            </a:r>
            <a:r>
              <a:rPr lang="en-GB" sz="1350" b="1" dirty="0"/>
              <a:t>David  </a:t>
            </a:r>
            <a:r>
              <a:rPr lang="en-GB" sz="1350" b="1" dirty="0" err="1"/>
              <a:t>Garmez</a:t>
            </a:r>
            <a:r>
              <a:rPr lang="en-GB" sz="1350" b="1" dirty="0"/>
              <a:t>, Artificial Intelligence Opening Lecture </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DFEC63-AC9E-491C-B008-E83D881192CD}" type="slidenum">
              <a:rPr lang="en-GB" smtClean="0"/>
              <a:pPr/>
              <a:t>13</a:t>
            </a:fld>
            <a:endParaRPr lang="en-GB" dirty="0"/>
          </a:p>
        </p:txBody>
      </p:sp>
      <p:sp>
        <p:nvSpPr>
          <p:cNvPr id="2" name="Title 1"/>
          <p:cNvSpPr>
            <a:spLocks noGrp="1"/>
          </p:cNvSpPr>
          <p:nvPr>
            <p:ph type="title" idx="4294967295"/>
          </p:nvPr>
        </p:nvSpPr>
        <p:spPr>
          <a:xfrm>
            <a:off x="-533400" y="381000"/>
            <a:ext cx="8685669" cy="939598"/>
          </a:xfrm>
        </p:spPr>
        <p:txBody>
          <a:bodyPr>
            <a:noAutofit/>
          </a:bodyPr>
          <a:lstStyle/>
          <a:p>
            <a:pPr algn="ctr"/>
            <a:r>
              <a:rPr lang="nn-NO" dirty="0"/>
              <a:t>Artificial Immune Systems (AIS)</a:t>
            </a:r>
            <a:endParaRPr lang="en-GB" dirty="0"/>
          </a:p>
        </p:txBody>
      </p:sp>
      <p:sp>
        <p:nvSpPr>
          <p:cNvPr id="3" name="Content Placeholder 2"/>
          <p:cNvSpPr>
            <a:spLocks noGrp="1"/>
          </p:cNvSpPr>
          <p:nvPr>
            <p:ph idx="4294967295"/>
          </p:nvPr>
        </p:nvSpPr>
        <p:spPr>
          <a:xfrm>
            <a:off x="0" y="1811338"/>
            <a:ext cx="4914900" cy="3617912"/>
          </a:xfrm>
        </p:spPr>
        <p:txBody>
          <a:bodyPr/>
          <a:lstStyle/>
          <a:p>
            <a:pPr algn="just">
              <a:buFont typeface="Wingdings" panose="05000000000000000000" pitchFamily="2" charset="2"/>
              <a:buChar char="q"/>
            </a:pPr>
            <a:r>
              <a:rPr lang="en-GB" sz="2200" dirty="0"/>
              <a:t>AIS are a class of computationally intelligent systems inspired by the principles and processes of the vertebrate immune system. </a:t>
            </a:r>
          </a:p>
          <a:p>
            <a:pPr algn="just">
              <a:buFont typeface="Wingdings" panose="05000000000000000000" pitchFamily="2" charset="2"/>
              <a:buChar char="q"/>
            </a:pPr>
            <a:r>
              <a:rPr lang="en-GB" sz="2200" dirty="0"/>
              <a:t>The algorithms typically exploit the immune system's characteristics of learning and memory to solve a problem.</a:t>
            </a:r>
          </a:p>
          <a:p>
            <a:endParaRPr lang="en-GB" dirty="0"/>
          </a:p>
        </p:txBody>
      </p:sp>
      <p:pic>
        <p:nvPicPr>
          <p:cNvPr id="4" name="Picture 2"/>
          <p:cNvPicPr>
            <a:picLocks noChangeAspect="1" noChangeArrowheads="1"/>
          </p:cNvPicPr>
          <p:nvPr/>
        </p:nvPicPr>
        <p:blipFill>
          <a:blip r:embed="rId3" cstate="print"/>
          <a:srcRect/>
          <a:stretch>
            <a:fillRect/>
          </a:stretch>
        </p:blipFill>
        <p:spPr bwMode="auto">
          <a:xfrm>
            <a:off x="5029081" y="2172027"/>
            <a:ext cx="3885188" cy="279962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DFEC63-AC9E-491C-B008-E83D881192CD}" type="slidenum">
              <a:rPr lang="en-GB" smtClean="0"/>
              <a:pPr/>
              <a:t>14</a:t>
            </a:fld>
            <a:endParaRPr lang="en-GB" dirty="0"/>
          </a:p>
        </p:txBody>
      </p:sp>
      <p:sp>
        <p:nvSpPr>
          <p:cNvPr id="2" name="Title 1"/>
          <p:cNvSpPr>
            <a:spLocks noGrp="1"/>
          </p:cNvSpPr>
          <p:nvPr>
            <p:ph type="title" idx="4294967295"/>
          </p:nvPr>
        </p:nvSpPr>
        <p:spPr>
          <a:xfrm>
            <a:off x="2857500" y="914400"/>
            <a:ext cx="6286500" cy="857250"/>
          </a:xfrm>
        </p:spPr>
        <p:txBody>
          <a:bodyPr/>
          <a:lstStyle/>
          <a:p>
            <a:r>
              <a:rPr lang="nn-NO" dirty="0"/>
              <a:t>Application of AIS</a:t>
            </a:r>
            <a:endParaRPr lang="en-GB" dirty="0"/>
          </a:p>
        </p:txBody>
      </p:sp>
      <p:sp>
        <p:nvSpPr>
          <p:cNvPr id="3" name="Content Placeholder 2"/>
          <p:cNvSpPr>
            <a:spLocks noGrp="1"/>
          </p:cNvSpPr>
          <p:nvPr>
            <p:ph idx="4294967295"/>
          </p:nvPr>
        </p:nvSpPr>
        <p:spPr>
          <a:xfrm>
            <a:off x="0" y="1917700"/>
            <a:ext cx="3649663" cy="3054350"/>
          </a:xfrm>
        </p:spPr>
        <p:txBody>
          <a:bodyPr>
            <a:noAutofit/>
          </a:bodyPr>
          <a:lstStyle/>
          <a:p>
            <a:pPr>
              <a:buFont typeface="Wingdings" pitchFamily="2" charset="2"/>
              <a:buChar char="Ø"/>
            </a:pPr>
            <a:r>
              <a:rPr lang="en-GB" sz="2200" dirty="0"/>
              <a:t>Pattern recognition; </a:t>
            </a:r>
          </a:p>
          <a:p>
            <a:pPr>
              <a:buFont typeface="Wingdings" pitchFamily="2" charset="2"/>
              <a:buChar char="Ø"/>
            </a:pPr>
            <a:r>
              <a:rPr lang="en-GB" sz="2200" dirty="0"/>
              <a:t>Fault and anomaly detection;</a:t>
            </a:r>
          </a:p>
          <a:p>
            <a:pPr>
              <a:buFont typeface="Wingdings" pitchFamily="2" charset="2"/>
              <a:buChar char="Ø"/>
            </a:pPr>
            <a:r>
              <a:rPr lang="en-GB" sz="2200" dirty="0"/>
              <a:t>Data analysis; </a:t>
            </a:r>
          </a:p>
          <a:p>
            <a:pPr>
              <a:buFont typeface="Wingdings" pitchFamily="2" charset="2"/>
              <a:buChar char="Ø"/>
            </a:pPr>
            <a:r>
              <a:rPr lang="en-GB" sz="2200" dirty="0"/>
              <a:t>Data mining (classification/clustering) </a:t>
            </a:r>
          </a:p>
          <a:p>
            <a:pPr>
              <a:buFont typeface="Wingdings" pitchFamily="2" charset="2"/>
              <a:buChar char="Ø"/>
            </a:pPr>
            <a:r>
              <a:rPr lang="en-GB" sz="2200" dirty="0"/>
              <a:t>Agent-based systems; </a:t>
            </a:r>
          </a:p>
          <a:p>
            <a:pPr>
              <a:buFont typeface="Wingdings" pitchFamily="2" charset="2"/>
              <a:buChar char="Ø"/>
            </a:pPr>
            <a:r>
              <a:rPr lang="en-GB" sz="2200" dirty="0"/>
              <a:t>Scheduling; </a:t>
            </a:r>
          </a:p>
          <a:p>
            <a:pPr>
              <a:buFont typeface="Wingdings" pitchFamily="2" charset="2"/>
              <a:buChar char="Ø"/>
            </a:pPr>
            <a:r>
              <a:rPr lang="en-GB" sz="2200" dirty="0"/>
              <a:t>Machine-learning; </a:t>
            </a:r>
          </a:p>
        </p:txBody>
      </p:sp>
      <p:sp>
        <p:nvSpPr>
          <p:cNvPr id="4" name="Content Placeholder 2"/>
          <p:cNvSpPr txBox="1">
            <a:spLocks/>
          </p:cNvSpPr>
          <p:nvPr/>
        </p:nvSpPr>
        <p:spPr>
          <a:xfrm>
            <a:off x="4229198" y="1917700"/>
            <a:ext cx="4392487" cy="3949700"/>
          </a:xfrm>
          <a:prstGeom prst="rect">
            <a:avLst/>
          </a:prstGeom>
          <a:solidFill>
            <a:schemeClr val="bg1"/>
          </a:solidFill>
          <a:ln>
            <a:noFill/>
          </a:ln>
        </p:spPr>
        <p:txBody>
          <a:bodyPr vert="horz" lIns="68562" tIns="34281" rIns="68562" bIns="34281" rtlCol="0">
            <a:normAutofit/>
          </a:bodyPr>
          <a:lstStyle/>
          <a:p>
            <a:pPr marL="257106" indent="-257106" defTabSz="685617">
              <a:spcBef>
                <a:spcPts val="375"/>
              </a:spcBef>
              <a:spcAft>
                <a:spcPts val="375"/>
              </a:spcAft>
              <a:buFont typeface="Wingdings" pitchFamily="2" charset="2"/>
              <a:buChar char="Ø"/>
              <a:defRPr/>
            </a:pPr>
            <a:r>
              <a:rPr lang="en-GB" sz="1875" dirty="0">
                <a:latin typeface="Rockwell" pitchFamily="18" charset="0"/>
              </a:rPr>
              <a:t>Autonomous navigation and control; </a:t>
            </a:r>
          </a:p>
          <a:p>
            <a:pPr marL="257106" indent="-257106" defTabSz="685617">
              <a:spcBef>
                <a:spcPts val="375"/>
              </a:spcBef>
              <a:spcAft>
                <a:spcPts val="375"/>
              </a:spcAft>
              <a:buFont typeface="Wingdings" pitchFamily="2" charset="2"/>
              <a:buChar char="Ø"/>
              <a:defRPr/>
            </a:pPr>
            <a:r>
              <a:rPr lang="en-GB" sz="1875" dirty="0">
                <a:latin typeface="Rockwell" pitchFamily="18" charset="0"/>
              </a:rPr>
              <a:t>Search and optimization methods; </a:t>
            </a:r>
          </a:p>
          <a:p>
            <a:pPr marL="257106" indent="-257106" defTabSz="685617">
              <a:spcBef>
                <a:spcPts val="375"/>
              </a:spcBef>
              <a:spcAft>
                <a:spcPts val="375"/>
              </a:spcAft>
              <a:buFont typeface="Wingdings" pitchFamily="2" charset="2"/>
              <a:buChar char="Ø"/>
              <a:defRPr/>
            </a:pPr>
            <a:r>
              <a:rPr lang="en-GB" sz="1875" dirty="0">
                <a:latin typeface="Rockwell" pitchFamily="18" charset="0"/>
              </a:rPr>
              <a:t>Artificial life; </a:t>
            </a:r>
          </a:p>
          <a:p>
            <a:pPr marL="257106" indent="-257106" defTabSz="685617">
              <a:spcBef>
                <a:spcPts val="375"/>
              </a:spcBef>
              <a:spcAft>
                <a:spcPts val="375"/>
              </a:spcAft>
              <a:buFont typeface="Wingdings" pitchFamily="2" charset="2"/>
              <a:buChar char="Ø"/>
              <a:defRPr/>
            </a:pPr>
            <a:r>
              <a:rPr lang="en-GB" sz="1875" dirty="0">
                <a:latin typeface="Rockwell" pitchFamily="18" charset="0"/>
              </a:rPr>
              <a:t>Security of information systems; </a:t>
            </a:r>
          </a:p>
          <a:p>
            <a:pPr marL="257106" indent="-257106" defTabSz="685617">
              <a:spcBef>
                <a:spcPts val="375"/>
              </a:spcBef>
              <a:spcAft>
                <a:spcPts val="375"/>
              </a:spcAft>
              <a:buFont typeface="Wingdings" pitchFamily="2" charset="2"/>
              <a:buChar char="Ø"/>
              <a:defRPr/>
            </a:pPr>
            <a:r>
              <a:rPr lang="en-GB" sz="1875" dirty="0">
                <a:latin typeface="Rockwell" pitchFamily="18" charset="0"/>
              </a:rPr>
              <a:t>Optimization; </a:t>
            </a:r>
          </a:p>
          <a:p>
            <a:pPr marL="257106" indent="-257106" defTabSz="685617">
              <a:spcBef>
                <a:spcPts val="375"/>
              </a:spcBef>
              <a:spcAft>
                <a:spcPts val="375"/>
              </a:spcAft>
              <a:buFont typeface="Wingdings" pitchFamily="2" charset="2"/>
              <a:buChar char="Ø"/>
              <a:defRPr/>
            </a:pPr>
            <a:r>
              <a:rPr lang="en-GB" sz="1875" dirty="0">
                <a:latin typeface="Rockwell" pitchFamily="18" charset="0"/>
              </a:rPr>
              <a:t>Just to name a few</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DFEC63-AC9E-491C-B008-E83D881192CD}" type="slidenum">
              <a:rPr lang="en-GB" smtClean="0"/>
              <a:pPr/>
              <a:t>15</a:t>
            </a:fld>
            <a:endParaRPr lang="en-GB" dirty="0"/>
          </a:p>
        </p:txBody>
      </p:sp>
      <p:sp>
        <p:nvSpPr>
          <p:cNvPr id="2" name="Title 1"/>
          <p:cNvSpPr>
            <a:spLocks noGrp="1"/>
          </p:cNvSpPr>
          <p:nvPr>
            <p:ph type="title" idx="4294967295"/>
          </p:nvPr>
        </p:nvSpPr>
        <p:spPr>
          <a:xfrm>
            <a:off x="914400" y="457200"/>
            <a:ext cx="8229600" cy="971550"/>
          </a:xfrm>
        </p:spPr>
        <p:txBody>
          <a:bodyPr>
            <a:normAutofit/>
          </a:bodyPr>
          <a:lstStyle/>
          <a:p>
            <a:r>
              <a:rPr lang="en-GB" dirty="0"/>
              <a:t>Swarm intelligence (SI)</a:t>
            </a:r>
          </a:p>
        </p:txBody>
      </p:sp>
      <p:sp>
        <p:nvSpPr>
          <p:cNvPr id="3" name="Content Placeholder 2"/>
          <p:cNvSpPr>
            <a:spLocks noGrp="1"/>
          </p:cNvSpPr>
          <p:nvPr>
            <p:ph idx="4294967295"/>
          </p:nvPr>
        </p:nvSpPr>
        <p:spPr>
          <a:xfrm>
            <a:off x="609600" y="1666875"/>
            <a:ext cx="8124825" cy="4105275"/>
          </a:xfrm>
        </p:spPr>
        <p:txBody>
          <a:bodyPr>
            <a:normAutofit/>
          </a:bodyPr>
          <a:lstStyle/>
          <a:p>
            <a:pPr marL="0" indent="0" algn="just">
              <a:buNone/>
            </a:pPr>
            <a:r>
              <a:rPr lang="en-GB" sz="1875" b="1" dirty="0"/>
              <a:t>Swarm intelligence (SI)</a:t>
            </a:r>
            <a:r>
              <a:rPr lang="en-GB" sz="1875" dirty="0"/>
              <a:t> is the collective behaviour of decentralized, self-organized systems, natural or artificial. It an attempt to emulate the collective intelligent behaviour of some known biological ecosystems. Natural examples of SI include </a:t>
            </a:r>
            <a:r>
              <a:rPr lang="en-GB" sz="1875" i="1" dirty="0">
                <a:solidFill>
                  <a:srgbClr val="FF0000"/>
                </a:solidFill>
              </a:rPr>
              <a:t>ant colonies</a:t>
            </a:r>
            <a:r>
              <a:rPr lang="en-GB" sz="1875" dirty="0"/>
              <a:t>, </a:t>
            </a:r>
            <a:r>
              <a:rPr lang="en-GB" sz="1875" i="1" dirty="0">
                <a:solidFill>
                  <a:srgbClr val="FF0000"/>
                </a:solidFill>
              </a:rPr>
              <a:t>bird flocking</a:t>
            </a:r>
            <a:r>
              <a:rPr lang="en-GB" sz="1875" dirty="0">
                <a:solidFill>
                  <a:srgbClr val="FF0000"/>
                </a:solidFill>
              </a:rPr>
              <a:t>, </a:t>
            </a:r>
            <a:r>
              <a:rPr lang="en-GB" sz="1875" i="1" dirty="0">
                <a:solidFill>
                  <a:srgbClr val="FF0000"/>
                </a:solidFill>
              </a:rPr>
              <a:t>animal herding</a:t>
            </a:r>
            <a:r>
              <a:rPr lang="en-GB" sz="1875" dirty="0">
                <a:solidFill>
                  <a:srgbClr val="FF0000"/>
                </a:solidFill>
              </a:rPr>
              <a:t>, </a:t>
            </a:r>
            <a:r>
              <a:rPr lang="en-GB" sz="1875" i="1" dirty="0">
                <a:solidFill>
                  <a:srgbClr val="FF0000"/>
                </a:solidFill>
              </a:rPr>
              <a:t>bacterial growth</a:t>
            </a:r>
            <a:r>
              <a:rPr lang="en-GB" sz="1875" dirty="0">
                <a:solidFill>
                  <a:srgbClr val="FF0000"/>
                </a:solidFill>
              </a:rPr>
              <a:t>, </a:t>
            </a:r>
            <a:r>
              <a:rPr lang="en-GB" sz="1875" dirty="0"/>
              <a:t>and</a:t>
            </a:r>
            <a:r>
              <a:rPr lang="en-GB" sz="1875" dirty="0">
                <a:solidFill>
                  <a:srgbClr val="FF0000"/>
                </a:solidFill>
              </a:rPr>
              <a:t> </a:t>
            </a:r>
            <a:r>
              <a:rPr lang="en-GB" sz="1875" i="1" dirty="0">
                <a:solidFill>
                  <a:srgbClr val="FF0000"/>
                </a:solidFill>
              </a:rPr>
              <a:t>fish schooling</a:t>
            </a:r>
            <a:r>
              <a:rPr lang="en-GB" sz="1875" dirty="0">
                <a:latin typeface="Arial Rounded MT Bold" pitchFamily="34" charset="0"/>
              </a:rPr>
              <a:t>.</a:t>
            </a:r>
          </a:p>
          <a:p>
            <a:endParaRPr lang="en-GB" sz="1875" dirty="0"/>
          </a:p>
        </p:txBody>
      </p:sp>
      <p:pic>
        <p:nvPicPr>
          <p:cNvPr id="4" name="Picture 2"/>
          <p:cNvPicPr>
            <a:picLocks noChangeAspect="1" noChangeArrowheads="1"/>
          </p:cNvPicPr>
          <p:nvPr/>
        </p:nvPicPr>
        <p:blipFill>
          <a:blip r:embed="rId3" cstate="print"/>
          <a:srcRect/>
          <a:stretch>
            <a:fillRect/>
          </a:stretch>
        </p:blipFill>
        <p:spPr bwMode="auto">
          <a:xfrm>
            <a:off x="515407" y="3257594"/>
            <a:ext cx="7770376" cy="344800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16</a:t>
            </a:fld>
            <a:endParaRPr lang="en-GB" dirty="0"/>
          </a:p>
        </p:txBody>
      </p:sp>
      <p:sp>
        <p:nvSpPr>
          <p:cNvPr id="2" name="Title 1"/>
          <p:cNvSpPr>
            <a:spLocks noGrp="1"/>
          </p:cNvSpPr>
          <p:nvPr>
            <p:ph type="title" idx="4294967295"/>
          </p:nvPr>
        </p:nvSpPr>
        <p:spPr>
          <a:xfrm>
            <a:off x="2247900" y="914400"/>
            <a:ext cx="6896100" cy="514350"/>
          </a:xfrm>
        </p:spPr>
        <p:txBody>
          <a:bodyPr>
            <a:noAutofit/>
          </a:bodyPr>
          <a:lstStyle/>
          <a:p>
            <a:r>
              <a:rPr lang="nn-NO" dirty="0"/>
              <a:t>Ants Colony Algorithm</a:t>
            </a:r>
            <a:endParaRPr lang="en-GB" dirty="0"/>
          </a:p>
        </p:txBody>
      </p:sp>
      <p:sp>
        <p:nvSpPr>
          <p:cNvPr id="3" name="Content Placeholder 2"/>
          <p:cNvSpPr>
            <a:spLocks noGrp="1"/>
          </p:cNvSpPr>
          <p:nvPr>
            <p:ph idx="4294967295"/>
          </p:nvPr>
        </p:nvSpPr>
        <p:spPr>
          <a:xfrm>
            <a:off x="381000" y="1868488"/>
            <a:ext cx="8229600" cy="4837112"/>
          </a:xfrm>
        </p:spPr>
        <p:txBody>
          <a:bodyPr>
            <a:normAutofit/>
          </a:bodyPr>
          <a:lstStyle/>
          <a:p>
            <a:pPr algn="just">
              <a:buFont typeface="Wingdings" panose="05000000000000000000" pitchFamily="2" charset="2"/>
              <a:buChar char="q"/>
            </a:pPr>
            <a:r>
              <a:rPr lang="en-GB" sz="1875" dirty="0"/>
              <a:t>Real ants wander randomly. When they find food they return to their colony while laying down pheromone trails.</a:t>
            </a:r>
          </a:p>
          <a:p>
            <a:pPr algn="just">
              <a:buFont typeface="Wingdings" panose="05000000000000000000" pitchFamily="2" charset="2"/>
              <a:buChar char="q"/>
            </a:pPr>
            <a:r>
              <a:rPr lang="en-GB" sz="1875" dirty="0"/>
              <a:t>If other ants find such a path, they are likely to follow the trail, returning and reinforcing it if they find food.</a:t>
            </a:r>
          </a:p>
          <a:p>
            <a:pPr algn="just">
              <a:buFont typeface="Wingdings" panose="05000000000000000000" pitchFamily="2" charset="2"/>
              <a:buChar char="q"/>
            </a:pPr>
            <a:r>
              <a:rPr lang="en-GB" sz="1875" dirty="0"/>
              <a:t>Over time the pheromone trail starts to evaporate, thus reducing its attractive strength.</a:t>
            </a:r>
          </a:p>
          <a:p>
            <a:pPr algn="just">
              <a:buFont typeface="Wingdings" panose="05000000000000000000" pitchFamily="2" charset="2"/>
              <a:buChar char="q"/>
            </a:pPr>
            <a:r>
              <a:rPr lang="en-GB" sz="1875" dirty="0"/>
              <a:t>The more time it takes for an ant to travel down the path and back again, the more time the pheromones have to evaporate.</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17</a:t>
            </a:fld>
            <a:endParaRPr lang="en-GB" dirty="0"/>
          </a:p>
        </p:txBody>
      </p:sp>
      <p:sp>
        <p:nvSpPr>
          <p:cNvPr id="2" name="Title 1"/>
          <p:cNvSpPr>
            <a:spLocks noGrp="1"/>
          </p:cNvSpPr>
          <p:nvPr>
            <p:ph type="title" idx="4294967295"/>
          </p:nvPr>
        </p:nvSpPr>
        <p:spPr>
          <a:xfrm>
            <a:off x="0" y="971550"/>
            <a:ext cx="3754438" cy="342900"/>
          </a:xfrm>
        </p:spPr>
        <p:txBody>
          <a:bodyPr>
            <a:normAutofit fontScale="90000"/>
          </a:bodyPr>
          <a:lstStyle/>
          <a:p>
            <a:r>
              <a:rPr lang="nn-NO" sz="2624" dirty="0"/>
              <a:t>Ant Colony – cont’d</a:t>
            </a:r>
            <a:endParaRPr lang="en-GB" sz="2624" dirty="0"/>
          </a:p>
        </p:txBody>
      </p:sp>
      <p:sp>
        <p:nvSpPr>
          <p:cNvPr id="3" name="Content Placeholder 2"/>
          <p:cNvSpPr>
            <a:spLocks noGrp="1"/>
          </p:cNvSpPr>
          <p:nvPr>
            <p:ph idx="4294967295"/>
          </p:nvPr>
        </p:nvSpPr>
        <p:spPr>
          <a:xfrm>
            <a:off x="0" y="1657350"/>
            <a:ext cx="4964113" cy="3886200"/>
          </a:xfrm>
        </p:spPr>
        <p:txBody>
          <a:bodyPr>
            <a:normAutofit fontScale="92500"/>
          </a:bodyPr>
          <a:lstStyle/>
          <a:p>
            <a:pPr algn="just">
              <a:buFont typeface="Wingdings" pitchFamily="2" charset="2"/>
              <a:buChar char="Ø"/>
            </a:pPr>
            <a:r>
              <a:rPr lang="en-GB" sz="1875" dirty="0"/>
              <a:t>A short path gets marched over faster, and thus the pheromone density remains high as it is laid on the path as fast as it can evaporate.</a:t>
            </a:r>
          </a:p>
          <a:p>
            <a:pPr algn="just">
              <a:buFont typeface="Wingdings" pitchFamily="2" charset="2"/>
              <a:buChar char="Ø"/>
            </a:pPr>
            <a:r>
              <a:rPr lang="en-GB" sz="1875" dirty="0"/>
              <a:t>Thus, when one ant finds a good (i.e. short) path from the colony to a food source, other ants are more likely to follow that path, and positive feedback eventually leads to all the ants following a single path.</a:t>
            </a:r>
          </a:p>
          <a:p>
            <a:pPr algn="just">
              <a:buFont typeface="Wingdings" pitchFamily="2" charset="2"/>
              <a:buChar char="Ø"/>
            </a:pPr>
            <a:r>
              <a:rPr lang="en-GB" sz="1875" dirty="0"/>
              <a:t>The idea of the ant colony algorithm is to mimic this behaviour with "simulated ants" walking around a model of the problem to be solved.</a:t>
            </a:r>
          </a:p>
        </p:txBody>
      </p:sp>
      <p:sp>
        <p:nvSpPr>
          <p:cNvPr id="5" name="Rectangle 4"/>
          <p:cNvSpPr/>
          <p:nvPr/>
        </p:nvSpPr>
        <p:spPr>
          <a:xfrm>
            <a:off x="5600432" y="4743115"/>
            <a:ext cx="3370972" cy="507831"/>
          </a:xfrm>
          <a:prstGeom prst="rect">
            <a:avLst/>
          </a:prstGeom>
        </p:spPr>
        <p:txBody>
          <a:bodyPr wrap="square">
            <a:spAutoFit/>
          </a:bodyPr>
          <a:lstStyle/>
          <a:p>
            <a:r>
              <a:rPr lang="nn-NO" sz="1350" b="1" dirty="0"/>
              <a:t>Slide credit: </a:t>
            </a:r>
            <a:r>
              <a:rPr lang="en-GB" sz="1350" b="1" dirty="0"/>
              <a:t>David  </a:t>
            </a:r>
            <a:r>
              <a:rPr lang="en-GB" sz="1350" b="1" dirty="0" err="1"/>
              <a:t>Garmez</a:t>
            </a:r>
            <a:r>
              <a:rPr lang="en-GB" sz="1350" b="1" dirty="0"/>
              <a:t>, Artificial Intelligence Opening Lecture </a:t>
            </a:r>
          </a:p>
        </p:txBody>
      </p:sp>
      <p:pic>
        <p:nvPicPr>
          <p:cNvPr id="6" name="Picture 5" descr="Ants.png"/>
          <p:cNvPicPr>
            <a:picLocks noChangeAspect="1"/>
          </p:cNvPicPr>
          <p:nvPr/>
        </p:nvPicPr>
        <p:blipFill>
          <a:blip r:embed="rId2" cstate="print"/>
          <a:stretch>
            <a:fillRect/>
          </a:stretch>
        </p:blipFill>
        <p:spPr>
          <a:xfrm>
            <a:off x="5543297" y="2000622"/>
            <a:ext cx="3370972" cy="268535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18</a:t>
            </a:fld>
            <a:endParaRPr lang="en-GB" dirty="0"/>
          </a:p>
        </p:txBody>
      </p:sp>
      <p:sp>
        <p:nvSpPr>
          <p:cNvPr id="2" name="Title 1"/>
          <p:cNvSpPr>
            <a:spLocks noGrp="1"/>
          </p:cNvSpPr>
          <p:nvPr>
            <p:ph type="title" idx="4294967295"/>
          </p:nvPr>
        </p:nvSpPr>
        <p:spPr>
          <a:xfrm>
            <a:off x="2590800" y="914400"/>
            <a:ext cx="6553200" cy="571500"/>
          </a:xfrm>
        </p:spPr>
        <p:txBody>
          <a:bodyPr>
            <a:normAutofit/>
          </a:bodyPr>
          <a:lstStyle/>
          <a:p>
            <a:r>
              <a:rPr lang="nn-NO" sz="2624" dirty="0">
                <a:latin typeface="Rockwell" pitchFamily="18" charset="0"/>
              </a:rPr>
              <a:t>Applications of Ant Colony Algorithm</a:t>
            </a:r>
            <a:endParaRPr lang="en-GB" sz="2624" dirty="0">
              <a:latin typeface="Rockwell" pitchFamily="18" charset="0"/>
            </a:endParaRPr>
          </a:p>
        </p:txBody>
      </p:sp>
      <p:sp>
        <p:nvSpPr>
          <p:cNvPr id="3" name="Content Placeholder 2"/>
          <p:cNvSpPr>
            <a:spLocks noGrp="1"/>
          </p:cNvSpPr>
          <p:nvPr>
            <p:ph idx="4294967295"/>
          </p:nvPr>
        </p:nvSpPr>
        <p:spPr>
          <a:xfrm>
            <a:off x="358775" y="2097088"/>
            <a:ext cx="8785225" cy="3617912"/>
          </a:xfrm>
        </p:spPr>
        <p:txBody>
          <a:bodyPr>
            <a:normAutofit/>
          </a:bodyPr>
          <a:lstStyle/>
          <a:p>
            <a:pPr>
              <a:buFont typeface="Wingdings" pitchFamily="2" charset="2"/>
              <a:buChar char="Ø"/>
            </a:pPr>
            <a:r>
              <a:rPr lang="en-GB" sz="2249" dirty="0"/>
              <a:t>Finding the shortest path through a network.</a:t>
            </a:r>
          </a:p>
          <a:p>
            <a:pPr>
              <a:buFont typeface="Wingdings" pitchFamily="2" charset="2"/>
              <a:buChar char="Ø"/>
            </a:pPr>
            <a:r>
              <a:rPr lang="en-GB" sz="2249" dirty="0"/>
              <a:t>Gene analysis.</a:t>
            </a:r>
          </a:p>
          <a:p>
            <a:pPr>
              <a:buFont typeface="Wingdings" pitchFamily="2" charset="2"/>
              <a:buChar char="Ø"/>
            </a:pPr>
            <a:r>
              <a:rPr lang="en-GB" sz="2249" dirty="0"/>
              <a:t>Data clustering</a:t>
            </a:r>
          </a:p>
          <a:p>
            <a:pPr lvl="1"/>
            <a:r>
              <a:rPr lang="en-GB" sz="2024" dirty="0"/>
              <a:t>Extend the model by having ants carry pieces of data.</a:t>
            </a:r>
          </a:p>
          <a:p>
            <a:pPr lvl="1"/>
            <a:r>
              <a:rPr lang="en-GB" sz="2024" dirty="0"/>
              <a:t>Ant is programmed with a rule that makes it likely to drop data by similar pieces of data.</a:t>
            </a:r>
          </a:p>
          <a:p>
            <a:pPr lvl="1"/>
            <a:r>
              <a:rPr lang="en-GB" sz="2024" dirty="0"/>
              <a:t>Clusters are built up by the random movements of the ants.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19</a:t>
            </a:fld>
            <a:endParaRPr lang="en-GB" dirty="0"/>
          </a:p>
        </p:txBody>
      </p:sp>
      <p:sp>
        <p:nvSpPr>
          <p:cNvPr id="2" name="Title 1"/>
          <p:cNvSpPr>
            <a:spLocks noGrp="1"/>
          </p:cNvSpPr>
          <p:nvPr>
            <p:ph type="title" idx="4294967295"/>
          </p:nvPr>
        </p:nvSpPr>
        <p:spPr>
          <a:xfrm>
            <a:off x="3124200" y="762000"/>
            <a:ext cx="3484562" cy="342900"/>
          </a:xfrm>
        </p:spPr>
        <p:txBody>
          <a:bodyPr>
            <a:noAutofit/>
          </a:bodyPr>
          <a:lstStyle/>
          <a:p>
            <a:r>
              <a:rPr lang="nn-NO" dirty="0" smtClean="0"/>
              <a:t>Homework</a:t>
            </a:r>
            <a:endParaRPr lang="en-GB" dirty="0"/>
          </a:p>
        </p:txBody>
      </p:sp>
      <p:grpSp>
        <p:nvGrpSpPr>
          <p:cNvPr id="4" name="Group 9"/>
          <p:cNvGrpSpPr>
            <a:grpSpLocks/>
          </p:cNvGrpSpPr>
          <p:nvPr/>
        </p:nvGrpSpPr>
        <p:grpSpPr bwMode="auto">
          <a:xfrm>
            <a:off x="2000920" y="2023912"/>
            <a:ext cx="5183822" cy="3995888"/>
            <a:chOff x="823401" y="3573016"/>
            <a:chExt cx="6912768" cy="5328592"/>
          </a:xfrm>
          <a:solidFill>
            <a:schemeClr val="accent2">
              <a:lumMod val="60000"/>
              <a:lumOff val="40000"/>
            </a:schemeClr>
          </a:solidFill>
        </p:grpSpPr>
        <p:sp>
          <p:nvSpPr>
            <p:cNvPr id="5" name="Oval 4"/>
            <p:cNvSpPr/>
            <p:nvPr/>
          </p:nvSpPr>
          <p:spPr>
            <a:xfrm>
              <a:off x="823401" y="3573016"/>
              <a:ext cx="6912768" cy="5328592"/>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GB" sz="1350"/>
            </a:p>
          </p:txBody>
        </p:sp>
        <p:sp>
          <p:nvSpPr>
            <p:cNvPr id="6" name="TextBox 5"/>
            <p:cNvSpPr txBox="1"/>
            <p:nvPr/>
          </p:nvSpPr>
          <p:spPr>
            <a:xfrm>
              <a:off x="1890077" y="4868259"/>
              <a:ext cx="4825446" cy="2123270"/>
            </a:xfrm>
            <a:prstGeom prst="rect">
              <a:avLst/>
            </a:prstGeom>
            <a:grpFill/>
          </p:spPr>
          <p:txBody>
            <a:bodyPr>
              <a:spAutoFit/>
            </a:bodyPr>
            <a:lstStyle/>
            <a:p>
              <a:pPr algn="ctr">
                <a:defRPr/>
              </a:pPr>
              <a:r>
                <a:rPr lang="en-GB" sz="2099" b="1" dirty="0">
                  <a:solidFill>
                    <a:schemeClr val="bg1"/>
                  </a:solidFill>
                  <a:latin typeface="Rockwell" pitchFamily="18" charset="0"/>
                </a:rPr>
                <a:t>What are the differences between Artificial Intelligent systems and Artificial Life systems ? </a:t>
              </a:r>
            </a:p>
            <a:p>
              <a:pPr>
                <a:defRPr/>
              </a:pPr>
              <a:endParaRPr lang="en-GB" sz="1350" dirty="0"/>
            </a:p>
          </p:txBody>
        </p:sp>
      </p:grpSp>
    </p:spTree>
    <p:extLst>
      <p:ext uri="{BB962C8B-B14F-4D97-AF65-F5344CB8AC3E}">
        <p14:creationId xmlns:p14="http://schemas.microsoft.com/office/powerpoint/2010/main" val="3750748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5DFEC63-AC9E-491C-B008-E83D881192CD}" type="slidenum">
              <a:rPr lang="en-GB" smtClean="0"/>
              <a:pPr/>
              <a:t>20</a:t>
            </a:fld>
            <a:endParaRPr lang="en-GB" dirty="0"/>
          </a:p>
        </p:txBody>
      </p:sp>
      <p:sp>
        <p:nvSpPr>
          <p:cNvPr id="2" name="Title 1"/>
          <p:cNvSpPr>
            <a:spLocks noGrp="1"/>
          </p:cNvSpPr>
          <p:nvPr>
            <p:ph type="title" idx="4294967295"/>
          </p:nvPr>
        </p:nvSpPr>
        <p:spPr>
          <a:xfrm>
            <a:off x="1604598" y="650550"/>
            <a:ext cx="6496050" cy="514350"/>
          </a:xfrm>
        </p:spPr>
        <p:txBody>
          <a:bodyPr>
            <a:noAutofit/>
          </a:bodyPr>
          <a:lstStyle/>
          <a:p>
            <a:r>
              <a:rPr lang="nn-NO" dirty="0"/>
              <a:t>Machine Learning (ML)</a:t>
            </a:r>
            <a:endParaRPr lang="en-GB" dirty="0"/>
          </a:p>
        </p:txBody>
      </p:sp>
      <p:sp>
        <p:nvSpPr>
          <p:cNvPr id="3" name="Content Placeholder 2"/>
          <p:cNvSpPr>
            <a:spLocks noGrp="1"/>
          </p:cNvSpPr>
          <p:nvPr>
            <p:ph idx="4294967295"/>
          </p:nvPr>
        </p:nvSpPr>
        <p:spPr>
          <a:xfrm>
            <a:off x="0" y="1697038"/>
            <a:ext cx="4741863" cy="3617912"/>
          </a:xfrm>
        </p:spPr>
        <p:txBody>
          <a:bodyPr>
            <a:normAutofit/>
          </a:bodyPr>
          <a:lstStyle/>
          <a:p>
            <a:pPr algn="just">
              <a:buFont typeface="Wingdings" pitchFamily="2" charset="2"/>
              <a:buChar char="Ø"/>
            </a:pPr>
            <a:r>
              <a:rPr lang="en-GB" sz="2099" dirty="0"/>
              <a:t>Application of AI techniques to identify patterns and classify data.</a:t>
            </a:r>
          </a:p>
          <a:p>
            <a:pPr algn="just">
              <a:buFont typeface="Wingdings" pitchFamily="2" charset="2"/>
              <a:buChar char="Ø"/>
            </a:pPr>
            <a:r>
              <a:rPr lang="en-GB" sz="2099" dirty="0"/>
              <a:t>Learning is applied in a very restricted way to solve one particular problem – no aspiration towards human-level intelligence.</a:t>
            </a:r>
          </a:p>
          <a:p>
            <a:pPr algn="just">
              <a:buFont typeface="Wingdings" pitchFamily="2" charset="2"/>
              <a:buChar char="Ø"/>
            </a:pPr>
            <a:r>
              <a:rPr lang="en-GB" sz="2099" dirty="0"/>
              <a:t>Uses a variety of AI techniques, such as neural networks, genetic algorithms, etc.</a:t>
            </a:r>
          </a:p>
        </p:txBody>
      </p:sp>
      <p:sp>
        <p:nvSpPr>
          <p:cNvPr id="4" name="TextBox 3"/>
          <p:cNvSpPr txBox="1"/>
          <p:nvPr/>
        </p:nvSpPr>
        <p:spPr>
          <a:xfrm>
            <a:off x="5201677" y="1840764"/>
            <a:ext cx="3942323" cy="3172920"/>
          </a:xfrm>
          <a:prstGeom prst="rect">
            <a:avLst/>
          </a:prstGeom>
          <a:noFill/>
        </p:spPr>
        <p:txBody>
          <a:bodyPr wrap="square" rtlCol="0">
            <a:spAutoFit/>
          </a:bodyPr>
          <a:lstStyle/>
          <a:p>
            <a:r>
              <a:rPr lang="nn-NO" sz="1875" b="1" dirty="0">
                <a:latin typeface="Rockwell" pitchFamily="18" charset="0"/>
              </a:rPr>
              <a:t>ML Applications</a:t>
            </a:r>
            <a:endParaRPr lang="en-GB" sz="1875" b="1" dirty="0">
              <a:latin typeface="Rockwell" pitchFamily="18" charset="0"/>
            </a:endParaRPr>
          </a:p>
          <a:p>
            <a:pPr marL="342900" indent="-342900">
              <a:buFont typeface="Wingdings" panose="05000000000000000000" pitchFamily="2" charset="2"/>
              <a:buChar char="q"/>
            </a:pPr>
            <a:r>
              <a:rPr lang="en-GB" sz="2099" dirty="0">
                <a:solidFill>
                  <a:srgbClr val="FF0000"/>
                </a:solidFill>
                <a:latin typeface="Rockwell" pitchFamily="18" charset="0"/>
              </a:rPr>
              <a:t>Identification of anomalous patterns of behaviour in security cameras.</a:t>
            </a:r>
          </a:p>
          <a:p>
            <a:pPr marL="342900" indent="-342900">
              <a:buFont typeface="Wingdings" panose="05000000000000000000" pitchFamily="2" charset="2"/>
              <a:buChar char="q"/>
            </a:pPr>
            <a:r>
              <a:rPr lang="en-GB" sz="2099" dirty="0">
                <a:solidFill>
                  <a:srgbClr val="FF0000"/>
                </a:solidFill>
                <a:latin typeface="Rockwell" pitchFamily="18" charset="0"/>
              </a:rPr>
              <a:t>Data mining.</a:t>
            </a:r>
          </a:p>
          <a:p>
            <a:pPr marL="342900" indent="-342900">
              <a:buFont typeface="Wingdings" panose="05000000000000000000" pitchFamily="2" charset="2"/>
              <a:buChar char="q"/>
            </a:pPr>
            <a:r>
              <a:rPr lang="en-GB" sz="2099" dirty="0">
                <a:solidFill>
                  <a:srgbClr val="FF0000"/>
                </a:solidFill>
                <a:latin typeface="Rockwell" pitchFamily="18" charset="0"/>
              </a:rPr>
              <a:t>Medical diagnosis.</a:t>
            </a:r>
          </a:p>
          <a:p>
            <a:pPr marL="342900" indent="-342900">
              <a:buFont typeface="Wingdings" panose="05000000000000000000" pitchFamily="2" charset="2"/>
              <a:buChar char="q"/>
            </a:pPr>
            <a:r>
              <a:rPr lang="en-GB" sz="2099" dirty="0">
                <a:solidFill>
                  <a:srgbClr val="FF0000"/>
                </a:solidFill>
                <a:latin typeface="Rockwell" pitchFamily="18" charset="0"/>
              </a:rPr>
              <a:t> Face recognition</a:t>
            </a:r>
          </a:p>
          <a:p>
            <a:pPr marL="342900" indent="-342900">
              <a:buFont typeface="Wingdings" panose="05000000000000000000" pitchFamily="2" charset="2"/>
              <a:buChar char="q"/>
            </a:pPr>
            <a:r>
              <a:rPr lang="en-GB" sz="2099" dirty="0">
                <a:solidFill>
                  <a:srgbClr val="FF0000"/>
                </a:solidFill>
                <a:latin typeface="Rockwell" pitchFamily="18" charset="0"/>
              </a:rPr>
              <a:t>Natural language processing</a:t>
            </a:r>
            <a:r>
              <a:rPr lang="en-GB" sz="2099" dirty="0" smtClean="0">
                <a:solidFill>
                  <a:srgbClr val="FF0000"/>
                </a:solidFill>
                <a:latin typeface="Rockwell" pitchFamily="18" charset="0"/>
              </a:rPr>
              <a:t>. </a:t>
            </a:r>
            <a:r>
              <a:rPr lang="nn-NO" sz="2099" dirty="0" smtClean="0">
                <a:solidFill>
                  <a:srgbClr val="FF0000"/>
                </a:solidFill>
                <a:latin typeface="Rockwell" pitchFamily="18" charset="0"/>
              </a:rPr>
              <a:t>etc</a:t>
            </a:r>
            <a:r>
              <a:rPr lang="nn-NO" sz="2099" dirty="0">
                <a:solidFill>
                  <a:srgbClr val="FF0000"/>
                </a:solidFill>
                <a:latin typeface="Rockwell" pitchFamily="18" charset="0"/>
              </a:rPr>
              <a:t>.</a:t>
            </a:r>
            <a:endParaRPr lang="en-GB" sz="2099" dirty="0">
              <a:solidFill>
                <a:srgbClr val="FF0000"/>
              </a:solidFill>
              <a:latin typeface="Rockwell" pitchFamily="18" charset="0"/>
            </a:endParaRPr>
          </a:p>
          <a:p>
            <a:endParaRPr lang="en-GB" sz="135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21</a:t>
            </a:fld>
            <a:endParaRPr lang="en-GB" dirty="0"/>
          </a:p>
        </p:txBody>
      </p:sp>
      <p:sp>
        <p:nvSpPr>
          <p:cNvPr id="2" name="Title 1"/>
          <p:cNvSpPr>
            <a:spLocks noGrp="1"/>
          </p:cNvSpPr>
          <p:nvPr>
            <p:ph type="title" idx="4294967295"/>
          </p:nvPr>
        </p:nvSpPr>
        <p:spPr>
          <a:xfrm>
            <a:off x="685800" y="494406"/>
            <a:ext cx="4954588" cy="914400"/>
          </a:xfrm>
        </p:spPr>
        <p:txBody>
          <a:bodyPr>
            <a:normAutofit/>
          </a:bodyPr>
          <a:lstStyle/>
          <a:p>
            <a:r>
              <a:rPr lang="nn-NO" sz="4700" dirty="0"/>
              <a:t>AI</a:t>
            </a:r>
            <a:r>
              <a:rPr lang="nn-NO" sz="2624" dirty="0"/>
              <a:t> </a:t>
            </a:r>
            <a:r>
              <a:rPr lang="nn-NO" sz="4700" dirty="0"/>
              <a:t>Techniques</a:t>
            </a:r>
            <a:endParaRPr lang="en-GB" sz="4700" dirty="0"/>
          </a:p>
        </p:txBody>
      </p:sp>
      <p:sp>
        <p:nvSpPr>
          <p:cNvPr id="3" name="Content Placeholder 2"/>
          <p:cNvSpPr>
            <a:spLocks noGrp="1"/>
          </p:cNvSpPr>
          <p:nvPr>
            <p:ph idx="4294967295"/>
          </p:nvPr>
        </p:nvSpPr>
        <p:spPr>
          <a:xfrm>
            <a:off x="1219200" y="1754188"/>
            <a:ext cx="7315200" cy="4570412"/>
          </a:xfrm>
        </p:spPr>
        <p:txBody>
          <a:bodyPr>
            <a:normAutofit fontScale="25000" lnSpcReduction="20000"/>
          </a:bodyPr>
          <a:lstStyle/>
          <a:p>
            <a:pPr marL="0" indent="0">
              <a:buNone/>
            </a:pPr>
            <a:r>
              <a:rPr lang="en-US" sz="8398" dirty="0"/>
              <a:t>An AI technique is a method that exploits knowledge in solving a problem.</a:t>
            </a:r>
          </a:p>
          <a:p>
            <a:pPr>
              <a:buFont typeface="Wingdings" panose="05000000000000000000" pitchFamily="2" charset="2"/>
              <a:buChar char="q"/>
            </a:pPr>
            <a:r>
              <a:rPr lang="en-US" sz="8398" b="1" dirty="0"/>
              <a:t>Nature of Knowledge</a:t>
            </a:r>
            <a:endParaRPr lang="en-GB" sz="8398" dirty="0"/>
          </a:p>
          <a:p>
            <a:pPr lvl="1">
              <a:buFont typeface="Wingdings" pitchFamily="2" charset="2"/>
              <a:buChar char="Ø"/>
            </a:pPr>
            <a:r>
              <a:rPr lang="en-US" sz="7498" dirty="0"/>
              <a:t>It is voluminous</a:t>
            </a:r>
            <a:endParaRPr lang="en-GB" sz="7498" dirty="0"/>
          </a:p>
          <a:p>
            <a:pPr lvl="1">
              <a:buFont typeface="Wingdings" pitchFamily="2" charset="2"/>
              <a:buChar char="Ø"/>
            </a:pPr>
            <a:r>
              <a:rPr lang="en-US" sz="7498" dirty="0"/>
              <a:t>It is hard to characterize accurately</a:t>
            </a:r>
            <a:endParaRPr lang="en-GB" sz="7498" dirty="0"/>
          </a:p>
          <a:p>
            <a:pPr lvl="1">
              <a:buFont typeface="Wingdings" pitchFamily="2" charset="2"/>
              <a:buChar char="Ø"/>
            </a:pPr>
            <a:r>
              <a:rPr lang="en-US" sz="7498" dirty="0"/>
              <a:t>It is constantly changing</a:t>
            </a:r>
            <a:endParaRPr lang="en-GB" sz="7498" dirty="0"/>
          </a:p>
          <a:p>
            <a:pPr lvl="1">
              <a:buFont typeface="Wingdings" pitchFamily="2" charset="2"/>
              <a:buChar char="Ø"/>
            </a:pPr>
            <a:r>
              <a:rPr lang="en-US" sz="7498" dirty="0"/>
              <a:t>It differs from data by being organized in a way that corresponds to the way it will be used.</a:t>
            </a:r>
          </a:p>
          <a:p>
            <a:pPr lvl="1"/>
            <a:endParaRPr lang="en-GB" sz="8398" dirty="0"/>
          </a:p>
          <a:p>
            <a:pPr>
              <a:buFont typeface="Wingdings" panose="05000000000000000000" pitchFamily="2" charset="2"/>
              <a:buChar char="q"/>
            </a:pPr>
            <a:r>
              <a:rPr lang="en-US" sz="8398" b="1" dirty="0"/>
              <a:t>Questions</a:t>
            </a:r>
            <a:endParaRPr lang="en-GB" sz="8398" dirty="0"/>
          </a:p>
          <a:p>
            <a:pPr lvl="1"/>
            <a:r>
              <a:rPr lang="en-US" sz="7498" dirty="0"/>
              <a:t>Are there techniques that are appropriate for the solution of a variety of AI problems? </a:t>
            </a:r>
            <a:endParaRPr lang="en-GB" sz="7498" dirty="0"/>
          </a:p>
          <a:p>
            <a:pPr lvl="1"/>
            <a:r>
              <a:rPr lang="en-US" sz="7498" dirty="0"/>
              <a:t>Can these techniques be useful in solving other problems?</a:t>
            </a:r>
            <a:endParaRPr lang="en-GB" sz="7498" dirty="0"/>
          </a:p>
          <a:p>
            <a:endParaRPr lang="en-GB"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5DFEC63-AC9E-491C-B008-E83D881192CD}" type="slidenum">
              <a:rPr lang="en-GB" smtClean="0"/>
              <a:pPr/>
              <a:t>22</a:t>
            </a:fld>
            <a:endParaRPr lang="en-GB" dirty="0"/>
          </a:p>
        </p:txBody>
      </p:sp>
      <p:sp>
        <p:nvSpPr>
          <p:cNvPr id="2" name="Title 1"/>
          <p:cNvSpPr>
            <a:spLocks noGrp="1"/>
          </p:cNvSpPr>
          <p:nvPr>
            <p:ph type="title" idx="4294967295"/>
          </p:nvPr>
        </p:nvSpPr>
        <p:spPr>
          <a:xfrm>
            <a:off x="620123" y="272158"/>
            <a:ext cx="7753350" cy="1018714"/>
          </a:xfrm>
        </p:spPr>
        <p:txBody>
          <a:bodyPr>
            <a:normAutofit/>
          </a:bodyPr>
          <a:lstStyle/>
          <a:p>
            <a:r>
              <a:rPr lang="nn-NO" dirty="0"/>
              <a:t>AI Techniques –Cont’d</a:t>
            </a:r>
            <a:endParaRPr lang="en-GB" dirty="0"/>
          </a:p>
        </p:txBody>
      </p:sp>
      <p:sp>
        <p:nvSpPr>
          <p:cNvPr id="4" name="TextBox 2"/>
          <p:cNvSpPr txBox="1">
            <a:spLocks noGrp="1" noChangeArrowheads="1"/>
          </p:cNvSpPr>
          <p:nvPr>
            <p:ph idx="4294967295"/>
          </p:nvPr>
        </p:nvSpPr>
        <p:spPr bwMode="auto">
          <a:xfrm>
            <a:off x="230188" y="1681163"/>
            <a:ext cx="8913812" cy="4760278"/>
          </a:xfrm>
          <a:prstGeom prst="rect">
            <a:avLst/>
          </a:prstGeom>
          <a:noFill/>
          <a:ln w="9525">
            <a:noFill/>
            <a:miter lim="800000"/>
            <a:headEnd/>
            <a:tailEnd/>
          </a:ln>
        </p:spPr>
        <p:txBody>
          <a:bodyPr wrap="square">
            <a:spAutoFit/>
          </a:bodyPr>
          <a:lstStyle/>
          <a:p>
            <a:pPr>
              <a:buNone/>
            </a:pPr>
            <a:r>
              <a:rPr lang="en-US" sz="1875" dirty="0"/>
              <a:t>An AI technique must exploit knowledge in such a way that: </a:t>
            </a:r>
          </a:p>
          <a:p>
            <a:pPr>
              <a:buFont typeface="Wingdings" panose="05000000000000000000" pitchFamily="2" charset="2"/>
              <a:buChar char="q"/>
            </a:pPr>
            <a:r>
              <a:rPr lang="en-US" sz="1875" dirty="0"/>
              <a:t>The knowledge captures generalization</a:t>
            </a:r>
          </a:p>
          <a:p>
            <a:pPr>
              <a:buFont typeface="Wingdings" panose="05000000000000000000" pitchFamily="2" charset="2"/>
              <a:buChar char="q"/>
            </a:pPr>
            <a:r>
              <a:rPr lang="en-US" sz="1875" dirty="0"/>
              <a:t>It can be understood by people who must provide it</a:t>
            </a:r>
          </a:p>
          <a:p>
            <a:pPr>
              <a:buFont typeface="Wingdings" panose="05000000000000000000" pitchFamily="2" charset="2"/>
              <a:buChar char="q"/>
            </a:pPr>
            <a:r>
              <a:rPr lang="en-US" sz="1875" dirty="0"/>
              <a:t>It can easily be modified to correct errors and reflect changes in the world and in our world view</a:t>
            </a:r>
          </a:p>
          <a:p>
            <a:pPr>
              <a:buFont typeface="Wingdings" panose="05000000000000000000" pitchFamily="2" charset="2"/>
              <a:buChar char="q"/>
            </a:pPr>
            <a:r>
              <a:rPr lang="en-US" sz="1875" dirty="0"/>
              <a:t>It can be used in a great many situations even it is not totally accurate or complete</a:t>
            </a:r>
          </a:p>
          <a:p>
            <a:pPr>
              <a:buFont typeface="Wingdings" panose="05000000000000000000" pitchFamily="2" charset="2"/>
              <a:buChar char="q"/>
            </a:pPr>
            <a:r>
              <a:rPr lang="en-US" sz="1875" dirty="0"/>
              <a:t>It can be used to help overcome its own sheer bulk by helping to narrow the range of possibilities that must be considered.</a:t>
            </a:r>
          </a:p>
          <a:p>
            <a:pPr algn="just">
              <a:buFont typeface="Wingdings" panose="05000000000000000000" pitchFamily="2" charset="2"/>
              <a:buChar char="q"/>
            </a:pPr>
            <a:r>
              <a:rPr lang="en-US" sz="1875" b="1" dirty="0">
                <a:solidFill>
                  <a:srgbClr val="FF0000"/>
                </a:solidFill>
              </a:rPr>
              <a:t>Note</a:t>
            </a:r>
            <a:r>
              <a:rPr lang="en-US" sz="1875" dirty="0"/>
              <a:t>: that it is possible to solve AI problems using non-AI techniques (although the solution are not likely to be very good). It is also possible to apply AI techniques to the solution of non-AI problems</a:t>
            </a:r>
            <a:endParaRPr lang="en-GB" sz="1875" dirty="0"/>
          </a:p>
          <a:p>
            <a:endParaRPr lang="en-GB" dirty="0">
              <a:latin typeface="Calibri"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23</a:t>
            </a:fld>
            <a:endParaRPr lang="en-GB" dirty="0"/>
          </a:p>
        </p:txBody>
      </p:sp>
      <p:sp>
        <p:nvSpPr>
          <p:cNvPr id="2" name="Title 1"/>
          <p:cNvSpPr>
            <a:spLocks noGrp="1"/>
          </p:cNvSpPr>
          <p:nvPr>
            <p:ph type="title" idx="4294967295"/>
          </p:nvPr>
        </p:nvSpPr>
        <p:spPr>
          <a:xfrm>
            <a:off x="304800" y="457200"/>
            <a:ext cx="8153400" cy="839788"/>
          </a:xfrm>
        </p:spPr>
        <p:txBody>
          <a:bodyPr>
            <a:noAutofit/>
          </a:bodyPr>
          <a:lstStyle/>
          <a:p>
            <a:r>
              <a:rPr lang="en-US" sz="3800" dirty="0">
                <a:latin typeface="Rockwell" pitchFamily="18" charset="0"/>
              </a:rPr>
              <a:t>Characteristics of AI Techniques</a:t>
            </a:r>
            <a:endParaRPr lang="en-GB" sz="3800" dirty="0">
              <a:latin typeface="Rockwell" pitchFamily="18" charset="0"/>
            </a:endParaRPr>
          </a:p>
        </p:txBody>
      </p:sp>
      <p:sp>
        <p:nvSpPr>
          <p:cNvPr id="3" name="Content Placeholder 2"/>
          <p:cNvSpPr>
            <a:spLocks noGrp="1"/>
          </p:cNvSpPr>
          <p:nvPr>
            <p:ph idx="4294967295"/>
          </p:nvPr>
        </p:nvSpPr>
        <p:spPr>
          <a:xfrm>
            <a:off x="609599" y="1811338"/>
            <a:ext cx="7785645" cy="4818062"/>
          </a:xfrm>
        </p:spPr>
        <p:txBody>
          <a:bodyPr>
            <a:normAutofit/>
          </a:bodyPr>
          <a:lstStyle/>
          <a:p>
            <a:pPr algn="just">
              <a:buFont typeface="Wingdings" panose="05000000000000000000" pitchFamily="2" charset="2"/>
              <a:buChar char="q"/>
            </a:pPr>
            <a:r>
              <a:rPr lang="en-US" dirty="0">
                <a:solidFill>
                  <a:srgbClr val="FF0000"/>
                </a:solidFill>
              </a:rPr>
              <a:t>Search</a:t>
            </a:r>
            <a:r>
              <a:rPr lang="en-US" dirty="0"/>
              <a:t> – provides a way of solving important problems for which no more direct approach is available as well as a framework into which any direct techniques that are available can be embedded</a:t>
            </a:r>
          </a:p>
          <a:p>
            <a:pPr algn="just">
              <a:buFont typeface="Wingdings" panose="05000000000000000000" pitchFamily="2" charset="2"/>
              <a:buChar char="q"/>
            </a:pPr>
            <a:endParaRPr lang="en-GB" dirty="0"/>
          </a:p>
          <a:p>
            <a:pPr algn="just">
              <a:buFont typeface="Wingdings" panose="05000000000000000000" pitchFamily="2" charset="2"/>
              <a:buChar char="q"/>
            </a:pPr>
            <a:r>
              <a:rPr lang="en-US" dirty="0">
                <a:solidFill>
                  <a:srgbClr val="FF0000"/>
                </a:solidFill>
              </a:rPr>
              <a:t>Use of Knowledge</a:t>
            </a:r>
            <a:r>
              <a:rPr lang="en-US" dirty="0"/>
              <a:t> – Provides a way of solving complex problems by exploiting the structures of the objects that are involved.</a:t>
            </a:r>
          </a:p>
          <a:p>
            <a:pPr algn="just">
              <a:buFont typeface="Wingdings" panose="05000000000000000000" pitchFamily="2" charset="2"/>
              <a:buChar char="q"/>
            </a:pPr>
            <a:endParaRPr lang="en-GB" dirty="0"/>
          </a:p>
          <a:p>
            <a:pPr algn="just">
              <a:buFont typeface="Wingdings" panose="05000000000000000000" pitchFamily="2" charset="2"/>
              <a:buChar char="q"/>
            </a:pPr>
            <a:r>
              <a:rPr lang="en-US" dirty="0">
                <a:solidFill>
                  <a:srgbClr val="FF0000"/>
                </a:solidFill>
              </a:rPr>
              <a:t>Abstraction</a:t>
            </a:r>
            <a:r>
              <a:rPr lang="en-US" dirty="0"/>
              <a:t> – Provides a way of separating important features and variations from the many unimportant ones that would otherwise overwhelm any process.</a:t>
            </a:r>
            <a:endParaRPr lang="en-GB" dirty="0"/>
          </a:p>
          <a:p>
            <a:endParaRPr lang="en-GB"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24</a:t>
            </a:fld>
            <a:endParaRPr lang="en-GB" dirty="0"/>
          </a:p>
        </p:txBody>
      </p:sp>
      <p:sp>
        <p:nvSpPr>
          <p:cNvPr id="2" name="Title 1"/>
          <p:cNvSpPr>
            <a:spLocks noGrp="1"/>
          </p:cNvSpPr>
          <p:nvPr>
            <p:ph type="title" idx="4294967295"/>
          </p:nvPr>
        </p:nvSpPr>
        <p:spPr>
          <a:xfrm>
            <a:off x="681582" y="304800"/>
            <a:ext cx="7713662" cy="876300"/>
          </a:xfrm>
        </p:spPr>
        <p:txBody>
          <a:bodyPr>
            <a:noAutofit/>
          </a:bodyPr>
          <a:lstStyle/>
          <a:p>
            <a:r>
              <a:rPr lang="en-US" sz="4000" dirty="0">
                <a:latin typeface="Rockwell" pitchFamily="18" charset="0"/>
              </a:rPr>
              <a:t>How do we measure system’s Intelligence?</a:t>
            </a:r>
            <a:r>
              <a:rPr lang="en-US" sz="4000" dirty="0">
                <a:latin typeface="Arial Rounded MT Bold" pitchFamily="34" charset="0"/>
              </a:rPr>
              <a:t/>
            </a:r>
            <a:br>
              <a:rPr lang="en-US" sz="4000" dirty="0">
                <a:latin typeface="Arial Rounded MT Bold" pitchFamily="34" charset="0"/>
              </a:rPr>
            </a:br>
            <a:endParaRPr lang="en-GB" sz="4000" dirty="0"/>
          </a:p>
        </p:txBody>
      </p:sp>
      <p:sp>
        <p:nvSpPr>
          <p:cNvPr id="3" name="Content Placeholder 2"/>
          <p:cNvSpPr>
            <a:spLocks noGrp="1"/>
          </p:cNvSpPr>
          <p:nvPr>
            <p:ph idx="4294967295"/>
          </p:nvPr>
        </p:nvSpPr>
        <p:spPr>
          <a:xfrm>
            <a:off x="685800" y="2039938"/>
            <a:ext cx="8048625" cy="4513262"/>
          </a:xfrm>
        </p:spPr>
        <p:txBody>
          <a:bodyPr>
            <a:normAutofit fontScale="32500" lnSpcReduction="20000"/>
          </a:bodyPr>
          <a:lstStyle/>
          <a:p>
            <a:pPr>
              <a:buFont typeface="Wingdings" panose="05000000000000000000" pitchFamily="2" charset="2"/>
              <a:buChar char="q"/>
            </a:pPr>
            <a:r>
              <a:rPr lang="en-US" sz="7498" b="1" dirty="0"/>
              <a:t>Turing Test </a:t>
            </a:r>
            <a:r>
              <a:rPr lang="en-US" sz="7498" b="1" dirty="0">
                <a:solidFill>
                  <a:srgbClr val="FF0000"/>
                </a:solidFill>
              </a:rPr>
              <a:t>(Alan Turing, 1950)</a:t>
            </a:r>
            <a:endParaRPr lang="nn-NO" sz="7498" b="1" dirty="0"/>
          </a:p>
          <a:p>
            <a:pPr>
              <a:buFont typeface="Wingdings" panose="05000000000000000000" pitchFamily="2" charset="2"/>
              <a:buChar char="q"/>
            </a:pPr>
            <a:r>
              <a:rPr lang="en-US" sz="7498" dirty="0"/>
              <a:t>A method to determine whether a system can think</a:t>
            </a:r>
          </a:p>
          <a:p>
            <a:pPr>
              <a:buFont typeface="Wingdings" panose="05000000000000000000" pitchFamily="2" charset="2"/>
              <a:buChar char="q"/>
            </a:pPr>
            <a:endParaRPr lang="en-US" sz="7498" dirty="0"/>
          </a:p>
          <a:p>
            <a:pPr>
              <a:buFont typeface="Wingdings" panose="05000000000000000000" pitchFamily="2" charset="2"/>
              <a:buChar char="q"/>
            </a:pPr>
            <a:r>
              <a:rPr lang="en-US" sz="7498" dirty="0"/>
              <a:t>Used as criteria for evaluating success of AI system</a:t>
            </a:r>
          </a:p>
          <a:p>
            <a:pPr>
              <a:buFont typeface="Wingdings" panose="05000000000000000000" pitchFamily="2" charset="2"/>
              <a:buChar char="q"/>
            </a:pPr>
            <a:endParaRPr lang="en-US" sz="7498" dirty="0"/>
          </a:p>
          <a:p>
            <a:pPr>
              <a:buFont typeface="Wingdings" panose="05000000000000000000" pitchFamily="2" charset="2"/>
              <a:buChar char="q"/>
            </a:pPr>
            <a:r>
              <a:rPr lang="en-US" sz="7498" dirty="0"/>
              <a:t>Inquisitor, AI System, Human Inquisitor connected to AI System and Human by “wire” and free to ask either any question</a:t>
            </a:r>
          </a:p>
          <a:p>
            <a:pPr>
              <a:buFont typeface="Wingdings" panose="05000000000000000000" pitchFamily="2" charset="2"/>
              <a:buChar char="q"/>
            </a:pPr>
            <a:endParaRPr lang="en-US" sz="7498" dirty="0"/>
          </a:p>
          <a:p>
            <a:pPr>
              <a:buFont typeface="Wingdings" panose="05000000000000000000" pitchFamily="2" charset="2"/>
              <a:buChar char="q"/>
            </a:pPr>
            <a:r>
              <a:rPr lang="en-US" sz="7498" dirty="0"/>
              <a:t>If Inquisitor can not determine which is the Human without guessing then AI System is successful</a:t>
            </a:r>
          </a:p>
          <a:p>
            <a:endParaRPr lang="en-GB"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5DFEC63-AC9E-491C-B008-E83D881192CD}" type="slidenum">
              <a:rPr lang="en-GB" smtClean="0"/>
              <a:pPr/>
              <a:t>25</a:t>
            </a:fld>
            <a:endParaRPr lang="en-GB" dirty="0"/>
          </a:p>
        </p:txBody>
      </p:sp>
      <p:sp>
        <p:nvSpPr>
          <p:cNvPr id="2" name="Title 1"/>
          <p:cNvSpPr>
            <a:spLocks noGrp="1"/>
          </p:cNvSpPr>
          <p:nvPr>
            <p:ph type="title" idx="4294967295"/>
          </p:nvPr>
        </p:nvSpPr>
        <p:spPr>
          <a:xfrm>
            <a:off x="0" y="971550"/>
            <a:ext cx="8039100" cy="838200"/>
          </a:xfrm>
        </p:spPr>
        <p:txBody>
          <a:bodyPr/>
          <a:lstStyle/>
          <a:p>
            <a:r>
              <a:rPr lang="nn-NO" dirty="0"/>
              <a:t>References</a:t>
            </a:r>
            <a:endParaRPr lang="en-GB" dirty="0"/>
          </a:p>
        </p:txBody>
      </p:sp>
      <p:sp>
        <p:nvSpPr>
          <p:cNvPr id="3" name="Content Placeholder 2"/>
          <p:cNvSpPr>
            <a:spLocks noGrp="1"/>
          </p:cNvSpPr>
          <p:nvPr>
            <p:ph idx="4294967295"/>
          </p:nvPr>
        </p:nvSpPr>
        <p:spPr>
          <a:xfrm>
            <a:off x="762000" y="1771650"/>
            <a:ext cx="7467600" cy="3394075"/>
          </a:xfrm>
        </p:spPr>
        <p:txBody>
          <a:bodyPr>
            <a:normAutofit fontScale="85000" lnSpcReduction="10000"/>
          </a:bodyPr>
          <a:lstStyle/>
          <a:p>
            <a:pPr algn="just">
              <a:buNone/>
            </a:pPr>
            <a:r>
              <a:rPr lang="en-GB" sz="1500" dirty="0"/>
              <a:t>1. J. Russell and Peter </a:t>
            </a:r>
            <a:r>
              <a:rPr lang="en-GB" sz="1500" dirty="0" err="1"/>
              <a:t>Norvig</a:t>
            </a:r>
            <a:r>
              <a:rPr lang="en-GB" sz="1500" dirty="0"/>
              <a:t> (2003): Artificial Intelligence – A Modern Approach, Stuart, Prentice Hall. </a:t>
            </a:r>
          </a:p>
          <a:p>
            <a:pPr algn="just">
              <a:buNone/>
            </a:pPr>
            <a:r>
              <a:rPr lang="en-GB" sz="1500" dirty="0"/>
              <a:t>2.Elaine Rich and Kevin Knight, Artificial Intelligence (1991),  McGraw-Hill Inc. (Second Edition) </a:t>
            </a:r>
          </a:p>
          <a:p>
            <a:pPr algn="just">
              <a:buNone/>
            </a:pPr>
            <a:r>
              <a:rPr lang="en-GB" sz="1500" dirty="0"/>
              <a:t>3. Artificial Intelligence and Expert Systems for Engineers; C</a:t>
            </a:r>
            <a:r>
              <a:rPr lang="en-GB" sz="1500" i="1" dirty="0"/>
              <a:t>.S. </a:t>
            </a:r>
            <a:r>
              <a:rPr lang="en-GB" sz="1500" i="1" dirty="0" err="1"/>
              <a:t>Krishnamoorthy</a:t>
            </a:r>
            <a:r>
              <a:rPr lang="en-GB" sz="1500" i="1" dirty="0"/>
              <a:t>; S. Rajeev; CRC Press, CRC Press LLC </a:t>
            </a:r>
          </a:p>
          <a:p>
            <a:pPr algn="just">
              <a:buNone/>
            </a:pPr>
            <a:r>
              <a:rPr lang="en-GB" sz="1500" i="1" dirty="0"/>
              <a:t>4. David  </a:t>
            </a:r>
            <a:r>
              <a:rPr lang="en-GB" sz="1500" i="1" dirty="0" err="1"/>
              <a:t>Garmez</a:t>
            </a:r>
            <a:r>
              <a:rPr lang="en-GB" sz="1500" i="1" dirty="0"/>
              <a:t> (2007): </a:t>
            </a:r>
            <a:r>
              <a:rPr lang="en-GB" sz="1500" i="1" dirty="0">
                <a:hlinkClick r:id="rId2"/>
              </a:rPr>
              <a:t>http://iua.davidgamez.eu/documents/IUA_AWk7_ArtificialIntelligence.pdf</a:t>
            </a:r>
            <a:endParaRPr lang="en-GB" sz="1500" i="1" dirty="0"/>
          </a:p>
          <a:p>
            <a:pPr algn="just">
              <a:buNone/>
            </a:pPr>
            <a:r>
              <a:rPr lang="nn-NO" sz="1500" i="1" dirty="0"/>
              <a:t>5.</a:t>
            </a:r>
            <a:r>
              <a:rPr lang="en-GB" sz="1500" i="1" dirty="0"/>
              <a:t> </a:t>
            </a:r>
            <a:r>
              <a:rPr lang="en-GB" sz="1500" dirty="0"/>
              <a:t>Keith L. Downing (2010) , A Brief Introduction to Situated and Embodied Artificial Intelligence, The Norwegian University of Science and Technology  (NTNU)</a:t>
            </a:r>
          </a:p>
          <a:p>
            <a:pPr algn="just">
              <a:buNone/>
            </a:pPr>
            <a:r>
              <a:rPr lang="nn-NO" sz="1500" dirty="0"/>
              <a:t>6. </a:t>
            </a:r>
            <a:r>
              <a:rPr lang="en-GB" sz="1500" dirty="0"/>
              <a:t>Keith L. Downing (2011): Evolving Artificial Intelligence, The Norwegian University of Science and Technology  (NTNU)</a:t>
            </a:r>
          </a:p>
          <a:p>
            <a:pPr algn="just">
              <a:buNone/>
            </a:pPr>
            <a:r>
              <a:rPr lang="nn-NO" sz="1500" dirty="0"/>
              <a:t>7. Keith Downing (2011): </a:t>
            </a:r>
            <a:r>
              <a:rPr lang="en-GB" sz="1500" dirty="0"/>
              <a:t>Important Tools and Perspectives for the Future of AI, NTNU</a:t>
            </a:r>
          </a:p>
          <a:p>
            <a:pPr algn="just">
              <a:buNone/>
            </a:pPr>
            <a:r>
              <a:rPr lang="nn-NO" sz="1500" dirty="0"/>
              <a:t>8. Lester Solbakken, Introduction to AI, </a:t>
            </a:r>
            <a:r>
              <a:rPr lang="en-GB" sz="1500" dirty="0"/>
              <a:t>The Norwegian University of Science and Technology (NTNU)</a:t>
            </a:r>
          </a:p>
          <a:p>
            <a:pPr>
              <a:buNone/>
            </a:pPr>
            <a:endParaRPr lang="en-GB" sz="1500" i="1" dirty="0"/>
          </a:p>
          <a:p>
            <a:endParaRPr lang="en-GB" dirty="0"/>
          </a:p>
        </p:txBody>
      </p:sp>
    </p:spTree>
  </p:cSld>
  <p:clrMapOvr>
    <a:masterClrMapping/>
  </p:clrMapOvr>
  <p:timing>
    <p:tnLst>
      <p:par>
        <p:cTn id="1" dur="indefinite" restart="never" nodeType="tmRoot"/>
      </p:par>
    </p:tnLst>
  </p:timing>
</p:sld>
</file>

<file path=ppt/theme/_rels/theme4.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_Theme_page">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55EA94E4046E47A47B067566292199" ma:contentTypeVersion="13" ma:contentTypeDescription="Create a new document." ma:contentTypeScope="" ma:versionID="602edb6acf7b84ec00aea961050211d4">
  <xsd:schema xmlns:xsd="http://www.w3.org/2001/XMLSchema" xmlns:xs="http://www.w3.org/2001/XMLSchema" xmlns:p="http://schemas.microsoft.com/office/2006/metadata/properties" xmlns:ns3="30ad1be0-ffa7-4f03-b101-b062beb68c87" xmlns:ns4="a06245fd-dbba-4df9-b84b-a9faff5c659d" targetNamespace="http://schemas.microsoft.com/office/2006/metadata/properties" ma:root="true" ma:fieldsID="fb45891f9f2974d2c496f732046e8484" ns3:_="" ns4:_="">
    <xsd:import namespace="30ad1be0-ffa7-4f03-b101-b062beb68c87"/>
    <xsd:import namespace="a06245fd-dbba-4df9-b84b-a9faff5c659d"/>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ad1be0-ffa7-4f03-b101-b062beb68c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06245fd-dbba-4df9-b84b-a9faff5c659d"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369649A-EC11-4AFB-B520-0630CA0F87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ad1be0-ffa7-4f03-b101-b062beb68c87"/>
    <ds:schemaRef ds:uri="a06245fd-dbba-4df9-b84b-a9faff5c659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01559CA-F41E-4BEA-80D7-412172631379}">
  <ds:schemaRefs>
    <ds:schemaRef ds:uri="http://schemas.microsoft.com/sharepoint/v3/contenttype/forms"/>
  </ds:schemaRefs>
</ds:datastoreItem>
</file>

<file path=customXml/itemProps3.xml><?xml version="1.0" encoding="utf-8"?>
<ds:datastoreItem xmlns:ds="http://schemas.openxmlformats.org/officeDocument/2006/customXml" ds:itemID="{3A8B036E-4149-4F00-B7AE-8984AB464A93}">
  <ds:schemaRefs>
    <ds:schemaRef ds:uri="http://schemas.microsoft.com/office/2006/documentManagement/types"/>
    <ds:schemaRef ds:uri="http://www.w3.org/XML/1998/namespace"/>
    <ds:schemaRef ds:uri="a06245fd-dbba-4df9-b84b-a9faff5c659d"/>
    <ds:schemaRef ds:uri="http://purl.org/dc/elements/1.1/"/>
    <ds:schemaRef ds:uri="http://purl.org/dc/terms/"/>
    <ds:schemaRef ds:uri="http://schemas.microsoft.com/office/infopath/2007/PartnerControls"/>
    <ds:schemaRef ds:uri="http://purl.org/dc/dcmitype/"/>
    <ds:schemaRef ds:uri="http://schemas.openxmlformats.org/package/2006/metadata/core-properties"/>
    <ds:schemaRef ds:uri="30ad1be0-ffa7-4f03-b101-b062beb68c87"/>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1889055</TotalTime>
  <Words>3111</Words>
  <Application>Microsoft Office PowerPoint</Application>
  <PresentationFormat>On-screen Show (4:3)</PresentationFormat>
  <Paragraphs>213</Paragraphs>
  <Slides>25</Slides>
  <Notes>14</Notes>
  <HiddenSlides>2</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25</vt:i4>
      </vt:variant>
    </vt:vector>
  </HeadingPairs>
  <TitlesOfParts>
    <vt:vector size="38" baseType="lpstr">
      <vt:lpstr>Arial</vt:lpstr>
      <vt:lpstr>Arial Rounded MT Bold</vt:lpstr>
      <vt:lpstr>Calibri</vt:lpstr>
      <vt:lpstr>Georgia</vt:lpstr>
      <vt:lpstr>Rockwell</vt:lpstr>
      <vt:lpstr>Rockwell Condensed</vt:lpstr>
      <vt:lpstr>Times New Roman</vt:lpstr>
      <vt:lpstr>Wingdings</vt:lpstr>
      <vt:lpstr>Wingdings 3</vt:lpstr>
      <vt:lpstr>Custom Design</vt:lpstr>
      <vt:lpstr>CU_Theme_page</vt:lpstr>
      <vt:lpstr>1_Custom Design</vt:lpstr>
      <vt:lpstr>Ion</vt:lpstr>
      <vt:lpstr>PowerPoint Presentation</vt:lpstr>
      <vt:lpstr>Introduction to AI</vt:lpstr>
      <vt:lpstr>Genetic Algorithms (GA) </vt:lpstr>
      <vt:lpstr>The GA Process</vt:lpstr>
      <vt:lpstr>Artificial Development</vt:lpstr>
      <vt:lpstr>Applications of Genetic Algorithms</vt:lpstr>
      <vt:lpstr>Artificial Neural Networks (ANN) </vt:lpstr>
      <vt:lpstr>ANN (cont.)</vt:lpstr>
      <vt:lpstr>ANN ABSTRACTION</vt:lpstr>
      <vt:lpstr>ANN Structural Abstraction</vt:lpstr>
      <vt:lpstr>ANN Training</vt:lpstr>
      <vt:lpstr>ANN Traning with Backpropagation</vt:lpstr>
      <vt:lpstr>Artificial Immune Systems (AIS)</vt:lpstr>
      <vt:lpstr>Application of AIS</vt:lpstr>
      <vt:lpstr>Swarm intelligence (SI)</vt:lpstr>
      <vt:lpstr>Ants Colony Algorithm</vt:lpstr>
      <vt:lpstr>Ant Colony – cont’d</vt:lpstr>
      <vt:lpstr>Applications of Ant Colony Algorithm</vt:lpstr>
      <vt:lpstr>Homework</vt:lpstr>
      <vt:lpstr>Machine Learning (ML)</vt:lpstr>
      <vt:lpstr>AI Techniques</vt:lpstr>
      <vt:lpstr>AI Techniques –Cont’d</vt:lpstr>
      <vt:lpstr>Characteristics of AI Techniques</vt:lpstr>
      <vt:lpstr>How do we measure system’s Intelligence? </vt:lpstr>
      <vt:lpstr>References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Driving Administrative Quality For Vision 10: 2022</dc:title>
  <dc:creator>HP</dc:creator>
  <cp:lastModifiedBy>Siphokazi Tswane</cp:lastModifiedBy>
  <cp:revision>259</cp:revision>
  <cp:lastPrinted>2015-08-03T07:22:59Z</cp:lastPrinted>
  <dcterms:created xsi:type="dcterms:W3CDTF">2014-01-31T21:42:27Z</dcterms:created>
  <dcterms:modified xsi:type="dcterms:W3CDTF">2021-03-19T07:02:56Z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0x010100CF55EA94E4046E47A47B067566292199</vt:lpwstr>
  </property>
</Properties>
</file>